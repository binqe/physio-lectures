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FEV1</c:v>
                </c:pt>
                <c:pt idx="1">
                  <c:v>FVC</c:v>
                </c:pt>
                <c:pt idx="2">
                  <c:v>FEV1/FVC</c:v>
                </c:pt>
                <c:pt idx="3">
                  <c:v>TLC</c:v>
                </c:pt>
                <c:pt idx="4">
                  <c:v>DLCO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47-E048-A0EA-438BB569B5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Restrictive (parenchymal)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FEV1</c:v>
                </c:pt>
                <c:pt idx="1">
                  <c:v>FVC</c:v>
                </c:pt>
                <c:pt idx="2">
                  <c:v>FEV1/FVC</c:v>
                </c:pt>
                <c:pt idx="3">
                  <c:v>TLC</c:v>
                </c:pt>
                <c:pt idx="4">
                  <c:v>DLCO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70</c:v>
                </c:pt>
                <c:pt idx="2">
                  <c:v>105</c:v>
                </c:pt>
                <c:pt idx="3">
                  <c:v>65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47-E048-A0EA-438BB569B5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Obstructive (for contrast)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FEV1</c:v>
                </c:pt>
                <c:pt idx="1">
                  <c:v>FVC</c:v>
                </c:pt>
                <c:pt idx="2">
                  <c:v>FEV1/FVC</c:v>
                </c:pt>
                <c:pt idx="3">
                  <c:v>TLC</c:v>
                </c:pt>
                <c:pt idx="4">
                  <c:v>DLCO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80</c:v>
                </c:pt>
                <c:pt idx="2">
                  <c:v>70</c:v>
                </c:pt>
                <c:pt idx="3">
                  <c:v>115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47-E048-A0EA-438BB569B5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82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London Metropolitan University brand colour palette (black #231f20) and logo rules: https://www.londonmet.ac.uk/brand/guidelines/colour/
- London Metropolitan University logo rules: https://www.londonmet.ac.uk/brand/guidelines/logos/
- Logo image (PNG derived from SVG): https://upload.wikimedia.org/wikipedia/de/thumb/8/88/London_Metropolitan_University_logo.svg/1280px-London_Metropolitan_University_logo.svg.png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Restrictive lung disease overview and physiological consequences: https://www.ncbi.nlm.nih.gov/books/NBK560880/
- ERS/ATS interpretive strategies for routine lung function tests (restriction concept): https://publications.ersnet.org/content/erj/60/1/2101499
- WHO TB consolidated guidelines (treatment &amp; care module landing page): https://www.who.int/publications/i/item/9789240107243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Restriction and PFT evaluation (TLC/FEV1/FVC): https://www.ncbi.nlm.nih.gov/books/NBK560880/
- ERS/ATS interpretive strategies (lung volumes + DLCO concepts): https://vvlr-afp.be/wp-content/uploads/2025/03/ERS-ATS-technical-standard-on-interpretive-strategies-for-routine-lung-function-tests_ERJ_2021.pdf
- BTS bronchiectasis guideline (infective exacerbations + airway clearance section): https://thorax.bmj.com/content/thoraxjnl/74/suppl_1/1.full.pdf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Restrictive lung disease evaluation and typical PFT features: https://www.ncbi.nlm.nih.gov/books/NBK560880/
- BTS/ACPRC respiratory physiotherapy guideline (restrictive lung conditions section): https://www.brit-thoracic.org.uk/document-library/guidelines/physiotherapy/btsacprc-guidelines-for-physiotherapy-management-of-the-adult-medical-spontaneously-breathing-patient/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pneumonia guideline overview (assessment/treatment context): https://www.nice.org.uk/guidance/ng250
- BTS pneumonia guideline hub (background): https://www.brit-thoracic.org.uk/quality-improvement/guidelines/pneumonia-adults/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Restrictive pattern confirmation with TLC and preserved ratio: https://www.ncbi.nlm.nih.gov/books/NBK560880/
- ERS/ATS interpretive strategies for routine lung function tests (volumes/DLCO interpretation): https://publications.ersnet.org/content/erj/60/1/2101499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Restrictive lung disease clinical overview: https://www.ncbi.nlm.nih.gov/books/NBK560880/
- NICE pneumonia guideline (diagnosis and imaging emphasis): https://www.nice.org.uk/guidance/ng250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Restrictive Lung Disease (NCBI Bookshelf): https://www.ncbi.nlm.nih.gov/books/NBK560880/
- ERS/ATS interpretive strategies (ERJ): https://publications.ersnet.org/content/erj/60/1/2101499
- NICE NG250: https://www.nice.org.uk/guidance/ng250
- BTS bronchiectasis guideline PDF: https://thorax.bmj.com/content/thoraxjnl/74/suppl_1/1.full.pdf
- WHO TB module 4 landing page: https://www.who.int/publications/i/item/9789240107243
- John B. West video lectures: https://pulmonary.ucsd.edu/research/labs-centers/west/video-lectures.html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Restrictive Lung Disease (NCBI Bookshelf): https://www.ncbi.nlm.nih.gov/books/NBK560880/
- ERS/ATS interpretive strategies (ERJ): https://publications.ersnet.org/content/erj/60/1/2101499
- NICE NG250: https://www.nice.org.uk/guidance/ng250
- BTS bronchiectasis guideline PDF: https://thorax.bmj.com/content/thoraxjnl/74/suppl_1/1.full.pdf
- WHO TB module 4 landing page: https://www.who.int/publications/i/item/9789240107243
- John B. West video lectures: https://pulmonary.ucsd.edu/research/labs-centers/west/video-lectures.html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jamanetwork.com/journals/jama/fullarticle/2817849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164592" cy="6858000"/>
          </a:xfrm>
          <a:prstGeom prst="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pic>
        <p:nvPicPr>
          <p:cNvPr id="5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5" y="502920"/>
            <a:ext cx="187133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51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Metropolitan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3533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PT5000 · Cardiorespiratory Practice 3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764792"/>
            <a:ext cx="7178040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011680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Pathophysiology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Presentation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709160" y="3108960"/>
            <a:ext cx="7178040" cy="1474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 &amp; infective lung disease</a:t>
            </a:r>
          </a:p>
          <a:p>
            <a:pPr marL="0" indent="0">
              <a:buNone/>
            </a:pPr>
            <a:endParaRPr lang="en-US" sz="16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Kola </a:t>
            </a:r>
            <a:r>
              <a:rPr lang="en-US" sz="16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Akinlabi,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BSc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(Hons), MSc Adv.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cardiorespi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(UCL),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Pgcet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NMP, MPhil, PhD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Clinical Lead Respiratory,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Pulm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Rehab and Long COVID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CLCH NHS Trust </a:t>
            </a:r>
          </a:p>
        </p:txBody>
      </p:sp>
      <p:sp>
        <p:nvSpPr>
          <p:cNvPr id="11" name="Text 8"/>
          <p:cNvSpPr/>
          <p:nvPr/>
        </p:nvSpPr>
        <p:spPr>
          <a:xfrm>
            <a:off x="4692243" y="4675293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5212080"/>
            <a:ext cx="3063240" cy="1051560"/>
          </a:xfrm>
          <a:prstGeom prst="round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3218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BSc Year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Pack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051560"/>
            <a:ext cx="11091672" cy="5120640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session, you should be able to: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major causes of restrictive lung disease (parenchymal vs extra-pulmonary).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key pathophysiology: ↓compliance, ↓lung volumes, V/Q mismatch and diffusion limitation.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Summarise pathophysiology of common infective lung conditions (e.g., pneumonia, bronchiectasis exacerbation, TB).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Recognise common clinical presentations and “red flags” indicating clinical deterioration.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we mean by “restrictive” vs “infective”?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376172" y="1488187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Restrictive patterns (mechanics)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5158" y="2101776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total lung capacity (TLC) → reduced vital capacity (VC) and smaller operating volumes.</a:t>
            </a:r>
          </a:p>
          <a:p>
            <a:pPr>
              <a:buSzPct val="100000"/>
            </a:pP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preserved or ↑ FEV1/FVC ratio; confirm restriction with lung volumes.</a:t>
            </a:r>
          </a:p>
          <a:p>
            <a:pPr>
              <a:buSzPct val="100000"/>
            </a:pP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Causes may be parenchymal (ILD/fibrosis) or extra-pulmonary (chest wall, obesity, neuromuscular, pleural).</a:t>
            </a:r>
          </a:p>
          <a:p>
            <a:pPr>
              <a:buSzPct val="100000"/>
            </a:pP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consequences and physio impact:  ↑ work of breathing, exertional desaturation, exercise intolerance.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44910" y="1545336"/>
            <a:ext cx="4281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Infective lung disease (gas exchange + inflammation)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32220" y="2093976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Alveolar/airway inflammation + exudate → impaired ventilation, diffusion and V/Q matching.</a:t>
            </a:r>
          </a:p>
          <a:p>
            <a:pPr>
              <a:buSzPct val="100000"/>
            </a:pP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community-acquired pneumonia, aspiration pneumonia, bronchiectasis exacerbation, tuberculosis.</a:t>
            </a:r>
          </a:p>
          <a:p>
            <a:pPr>
              <a:buSzPct val="100000"/>
            </a:pP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Systemic response: fever, tachycardia, raised inflammatory markers; severe cases may progress to sepsis/respiratory failure.</a:t>
            </a:r>
          </a:p>
          <a:p>
            <a:pPr>
              <a:buSzPct val="100000"/>
            </a:pP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consequences and Physio impact: mobilisation tolerance, secretion load, oxygen needs, fatigue.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Restriction: from pathology to symptoms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map (simplified)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2011680"/>
            <a:ext cx="0" cy="3108960"/>
          </a:xfrm>
          <a:prstGeom prst="line">
            <a:avLst/>
          </a:prstGeom>
          <a:noFill/>
          <a:ln w="25400">
            <a:solidFill>
              <a:srgbClr val="B8B8B9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080760" y="2011680"/>
            <a:ext cx="1828800" cy="0"/>
          </a:xfrm>
          <a:prstGeom prst="line">
            <a:avLst/>
          </a:prstGeom>
          <a:noFill/>
          <a:ln w="25400">
            <a:solidFill>
              <a:srgbClr val="B8B8B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5120640"/>
            <a:ext cx="1828800" cy="0"/>
          </a:xfrm>
          <a:prstGeom prst="line">
            <a:avLst/>
          </a:prstGeom>
          <a:noFill/>
          <a:ln w="25400">
            <a:solidFill>
              <a:srgbClr val="B8B8B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417320"/>
            <a:ext cx="4937760" cy="1600200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5156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Aetiology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19659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ILD / fibrosis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Pleural disease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Chest wall (kyphoscoliosis)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Neuromuscular weakness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Obesity hypoventilation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3154680"/>
            <a:ext cx="4937760" cy="17830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51560" y="33192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physiological change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37033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compliance / ↓ expansion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TLC &amp; VC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RR to maintain ventilation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↓ DLCO (parenchymal)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1417320"/>
            <a:ext cx="4297680" cy="1783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54380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presentation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43800" y="19659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Dyspnoea (esp. exertional)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 cough (ILD)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 inspiratory crackles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Exertional desaturation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Fatigue / reduced exercise capacity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0" y="3429000"/>
            <a:ext cx="4297680" cy="150876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43800" y="3593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Complications / red flags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43800" y="3977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Acute hypoxaemic RF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Rapidly ↑ O2 requirement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Haemodynamic instability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confusion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Severe work of breathing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A54C3-1A04-6344-B97D-B7C29359BF4E}"/>
              </a:ext>
            </a:extLst>
          </p:cNvPr>
          <p:cNvSpPr txBox="1"/>
          <p:nvPr/>
        </p:nvSpPr>
        <p:spPr>
          <a:xfrm>
            <a:off x="76274" y="0"/>
            <a:ext cx="1203945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A0A0A"/>
                </a:solidFill>
                <a:latin typeface="Google Sans"/>
              </a:rPr>
              <a:t>                             Interstitial lung disease (ILD) </a:t>
            </a:r>
          </a:p>
          <a:p>
            <a:r>
              <a:rPr lang="en-GB" sz="2000" dirty="0">
                <a:solidFill>
                  <a:srgbClr val="0A0A0A"/>
                </a:solidFill>
                <a:latin typeface="Google Sans"/>
              </a:rPr>
              <a:t>r</a:t>
            </a:r>
            <a:r>
              <a:rPr lang="en-GB" sz="1600" dirty="0">
                <a:solidFill>
                  <a:srgbClr val="0A0A0A"/>
                </a:solidFill>
                <a:latin typeface="Google Sans"/>
              </a:rPr>
              <a:t>efers 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to a group of over 100 chronic lung disorders characterized by inflammation and irreversible scarring (fibrosis) of the lung tissue, specifically the alveoli, which impairs oxygen transfer to the bloodstream. </a:t>
            </a:r>
          </a:p>
          <a:p>
            <a:endParaRPr lang="en-GB" sz="1600" dirty="0">
              <a:solidFill>
                <a:srgbClr val="0A0A0A"/>
              </a:solidFill>
              <a:latin typeface="Google Sans"/>
            </a:endParaRPr>
          </a:p>
          <a:p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Common types include idiopathic pulmonary fibrosis (IPF), sarcoidosis, and hypersensitivity pneumonitis. Key symptoms include progressive, exertional shortness of breath, a dry, non-productive cough, and severe fatigue.</a:t>
            </a:r>
          </a:p>
          <a:p>
            <a:pPr algn="l"/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</a:p>
          <a:p>
            <a:pPr algn="l"/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Causes and Risk Factors</a:t>
            </a:r>
            <a:endParaRPr lang="en-GB" sz="16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Environmental/Occupational Exposure: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Long-term exposure to silica, asbestos, coal dust, or </a:t>
            </a:r>
            <a:r>
              <a:rPr lang="en-GB" sz="1600" b="0" i="0" dirty="0" err="1">
                <a:solidFill>
                  <a:srgbClr val="0A0A0A"/>
                </a:solidFill>
                <a:effectLst/>
                <a:latin typeface="Google Sans"/>
              </a:rPr>
              <a:t>mold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 can lead to ILD.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Autoimmune Diseases: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Conditions like rheumatoid arthritis, scleroderma, and lupus.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Medications and Radiation: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Certain drugs (e.g., chemotherapy, heart medications) and chest radiation.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Idiopathic: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Often, no clear cause is identified (e.g., in IPF).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Risk Factors: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Primarily affects adults, with risk increasing with age. </a:t>
            </a:r>
          </a:p>
          <a:p>
            <a:pPr algn="l"/>
            <a:endParaRPr lang="en-GB" sz="16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/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Symptoms and Diagnosis</a:t>
            </a:r>
            <a:endParaRPr lang="en-GB" sz="16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Symptoms: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Shortness of breath (especially with activity), a dry, hacking cough, unexplained weight loss, fatigue, and sometimes clubbing (widening) of fingers or toes.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A0A0A"/>
              </a:solidFill>
              <a:latin typeface="Google Sans"/>
            </a:endParaRPr>
          </a:p>
          <a:p>
            <a:pPr algn="l"/>
            <a:endParaRPr lang="en-GB" sz="16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A0A0A"/>
                </a:solidFill>
                <a:effectLst/>
                <a:latin typeface="Google Sans"/>
              </a:rPr>
              <a:t>Diagnosis:</a:t>
            </a: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 Often involves high-resolution CT scans (HRCT),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lung function tests (spirometry)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A0A0A"/>
                </a:solidFill>
                <a:effectLst/>
                <a:latin typeface="Google Sans"/>
              </a:rPr>
              <a:t> blood tests to rule out autoimmune causes, and occasionally a lung biopsy.  </a:t>
            </a:r>
          </a:p>
        </p:txBody>
      </p:sp>
      <p:pic>
        <p:nvPicPr>
          <p:cNvPr id="1026" name="Picture 2" descr="Interstitial lung disease (ILD) - Guys and St Thomas ...">
            <a:extLst>
              <a:ext uri="{FF2B5EF4-FFF2-40B4-BE49-F238E27FC236}">
                <a16:creationId xmlns:a16="http://schemas.microsoft.com/office/drawing/2014/main" id="{E30256E0-D8CF-5246-9BFD-D75394E35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533" y="4309670"/>
            <a:ext cx="4173993" cy="234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11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9B4FC9-F2FA-AA48-AEAB-665A14850195}"/>
              </a:ext>
            </a:extLst>
          </p:cNvPr>
          <p:cNvSpPr txBox="1"/>
          <p:nvPr/>
        </p:nvSpPr>
        <p:spPr>
          <a:xfrm>
            <a:off x="207434" y="621944"/>
            <a:ext cx="1015252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0A0A0A"/>
                </a:solidFill>
                <a:effectLst/>
                <a:latin typeface="Google Sans"/>
              </a:rPr>
              <a:t>Stages and Prognosis</a:t>
            </a:r>
            <a:endParaRPr lang="en-GB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ILD is not typically staged in a simple, linear manner, but rather categorized by its progression, which can be rapid or gradual.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Some forms are progressive and lead to respiratory failure, with IPF having a median survival of 2.5 to 3.5 years if left untreated, according to a report in </a:t>
            </a: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  <a:hlinkClick r:id="rId2"/>
              </a:rPr>
              <a:t>JAMA</a:t>
            </a: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. </a:t>
            </a:r>
          </a:p>
          <a:p>
            <a:pPr algn="l"/>
            <a:endParaRPr lang="en-GB" sz="2000" dirty="0">
              <a:solidFill>
                <a:srgbClr val="0A0A0A"/>
              </a:solidFill>
              <a:latin typeface="Google Sans"/>
            </a:endParaRPr>
          </a:p>
          <a:p>
            <a:pPr algn="l"/>
            <a:endParaRPr lang="en-GB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/>
            <a:r>
              <a:rPr lang="en-GB" sz="2000" b="1" i="0" dirty="0">
                <a:solidFill>
                  <a:srgbClr val="0A0A0A"/>
                </a:solidFill>
                <a:effectLst/>
                <a:latin typeface="Google Sans"/>
              </a:rPr>
              <a:t>Treatment and Management</a:t>
            </a:r>
            <a:b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</a:b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While most damage is irreversible, treatment focuses on reducing inflammation, slowing progression, and managing symptoms. </a:t>
            </a:r>
          </a:p>
          <a:p>
            <a:pPr algn="l"/>
            <a:endParaRPr lang="en-GB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0A0A0A"/>
                </a:solidFill>
                <a:effectLst/>
                <a:latin typeface="Google Sans"/>
              </a:rPr>
              <a:t>Medication:</a:t>
            </a:r>
          </a:p>
          <a:p>
            <a:pPr algn="l"/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 Immunosuppressants</a:t>
            </a:r>
          </a:p>
          <a:p>
            <a:pPr algn="l"/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 anti-inflammatory agents</a:t>
            </a:r>
          </a:p>
          <a:p>
            <a:pPr algn="l"/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 and antifibrotic medications (specifically for IPF).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0A0A0A"/>
                </a:solidFill>
                <a:effectLst/>
                <a:latin typeface="Google Sans"/>
              </a:rPr>
              <a:t>Supportive Therapy ( mostly Physio):</a:t>
            </a: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 Supplemental oxygen, pulmonary rehabilitation, and smoking cessation.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0A0A0A"/>
                </a:solidFill>
                <a:effectLst/>
                <a:latin typeface="Google Sans"/>
              </a:rPr>
              <a:t>Advanced Cases:</a:t>
            </a:r>
            <a:r>
              <a:rPr lang="en-GB" sz="2000" b="0" i="0" dirty="0">
                <a:solidFill>
                  <a:srgbClr val="0A0A0A"/>
                </a:solidFill>
                <a:effectLst/>
                <a:latin typeface="Google Sans"/>
              </a:rPr>
              <a:t> In severe, progressive cases, a lung transplant may be considered. </a:t>
            </a:r>
          </a:p>
        </p:txBody>
      </p:sp>
      <p:pic>
        <p:nvPicPr>
          <p:cNvPr id="2050" name="Picture 2" descr="Interstitial Lung Disease: Link Between Asbestos &amp; ILD">
            <a:extLst>
              <a:ext uri="{FF2B5EF4-FFF2-40B4-BE49-F238E27FC236}">
                <a16:creationId xmlns:a16="http://schemas.microsoft.com/office/drawing/2014/main" id="{4BC324BD-1B29-9546-98F9-1BC525BAF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333" y="2224388"/>
            <a:ext cx="4279900" cy="324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32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Infection: from pathogen to consolidation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map (simplified)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2011680"/>
            <a:ext cx="0" cy="3108960"/>
          </a:xfrm>
          <a:prstGeom prst="line">
            <a:avLst/>
          </a:prstGeom>
          <a:noFill/>
          <a:ln w="25400">
            <a:solidFill>
              <a:srgbClr val="B8B8B9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080760" y="2011680"/>
            <a:ext cx="1828800" cy="0"/>
          </a:xfrm>
          <a:prstGeom prst="line">
            <a:avLst/>
          </a:prstGeom>
          <a:noFill/>
          <a:ln w="25400">
            <a:solidFill>
              <a:srgbClr val="B8B8B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5120640"/>
            <a:ext cx="1828800" cy="0"/>
          </a:xfrm>
          <a:prstGeom prst="line">
            <a:avLst/>
          </a:prstGeom>
          <a:noFill/>
          <a:ln w="25400">
            <a:solidFill>
              <a:srgbClr val="B8B8B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417320"/>
            <a:ext cx="4937760" cy="1325880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5156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19659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Pathogen (viral/bacterial)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Aspiration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Impaired clearance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Underlying lung disease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2880360"/>
            <a:ext cx="4937760" cy="13258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51560" y="30449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response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34290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Inflammation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Mucus/exudate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Alveolar filling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Airway narrowing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343400"/>
            <a:ext cx="4937760" cy="1325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51560" y="45079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Gas exchange impact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1560" y="4892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V/Q mismatch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Shunt physiology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work of breathing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Hypoxaemia ± hypercapnia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0" y="1417320"/>
            <a:ext cx="4297680" cy="1874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4380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presentation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43800" y="19659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Fever, cough ± sputum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Pleuritic pain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Crackles / bronchial breathing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Tachypnoea, hypoxia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decline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0" y="3429000"/>
            <a:ext cx="4297680" cy="224028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43800" y="3593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flags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3800" y="39776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Sepsis features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SpO2 falling on O2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Rising RR/HR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confusion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Escalating fatigue / inability to mobilise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Pulmonary function patterns (overview)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Indicative patterns (interpret in context; confirm restriction with lung volumes).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10881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0" name="Chart 0"/>
          <p:cNvGraphicFramePr/>
          <p:nvPr/>
        </p:nvGraphicFramePr>
        <p:xfrm>
          <a:off x="960120" y="1572768"/>
          <a:ext cx="104241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960120" y="57150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Notes: (1) Restriction = ↓TLC with preserved ratio; (2) DLCO tends to fall in parenchymal ILD, but may be normal in extra-pulmonary restriction.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clues: restrictive vs infective (at the bedside)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298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contrasts (high-yield)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05840" y="1737360"/>
            <a:ext cx="10332720" cy="512064"/>
          </a:xfrm>
          <a:prstGeom prst="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1847088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features / examples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05840" y="2249424"/>
            <a:ext cx="10332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234086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89120" y="2340864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Restrictive: often gradual (ILD) or chronic; Infective: acute–subacute (days) or exacerbation pattern.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2761488"/>
            <a:ext cx="1033272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2852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Cough/sputum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89120" y="2852928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 ILD: usually dry; Infective: productive sputum common (but not universal).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5840" y="3273552"/>
            <a:ext cx="10332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3364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Auscultation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389120" y="3364992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 ILD: fine end-inspiratory crackles; Infective: coarse crackles, bronchial breathing, wheeze if airway involvement.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05840" y="3785616"/>
            <a:ext cx="1033272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" y="3877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Systemic features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3877056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Restrictive: weight loss/fatigue possible; Infective: fever/rigors, raised CRP/WCC.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05840" y="4297680"/>
            <a:ext cx="10332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Oxygenation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389120" y="438912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may desaturate; infective disease may show rapidly changing O2 requirement.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05840" y="4809744"/>
            <a:ext cx="1033272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490118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389120" y="4901184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Restrictive: reticulation/ground-glass on HRCT; Infective: consolidation on CXR/CT.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Wrap-up: what should you remember?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Mechanisms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Restriction = volume problem (↓TLC) often driven by ↓ compliance or reduced chest expansion.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Infection = gas exchange and systemic inflammation problem; can coexist with chronic disease.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pattern recognition is useful, but objective tests and imaging confirm diagnosis.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priorities for physiotherapists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red flags and escalate early (deteriorating oxygenation, RR/HR, confusion).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 oxygenation and mobilisation tolerance; manage secretions when present.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structured assessment and document response to interventions.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(selected)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71600"/>
            <a:ext cx="104241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Martinez-Pitre PJ, et al. Restrictive Lung Disease. StatPearls (updated 2023). (NCBI Bookshelf).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Stanojevic S, et al. ERS/ATS technical standard on interpretive strategies for routine lung function tests. Eur Respir J. 2022;60:2101499.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NICE. Pneumonia: diagnosis and management. NG250 (updated 2025).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AT, et al. BTS guideline for bronchiectasis in adults. Thorax. 2019;74(Suppl 1):1–69.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WHO. Consolidated TB guidelines: module 4 (treatment and care). 2025.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 JB, Luks AM. West's Respiratory Physiology: The Essentials. 11th ed. Wolters Kluwer; 2021.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Broaddus VC, et al. Murray &amp; Nadel's Textbook of Respiratory Medicine. 7th ed. Elsevier; 2022.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Pryor JA, Prasad SA. Cardiorespiratory Physiotherapy: Adults and Paediatrics. 5th ed. Elsevier; 2016.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Hillegass E. Essentials of Cardiopulmonary Physical Therapy. 5th ed. Elsevier; 2022.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resources &amp; practice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10:00–11:00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25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self-study (60–90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10424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Read: ERS/ATS (2022) “Interpretive strategies” – skim sections on restriction and DLCO.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Practice: interpret 5 anonymised spirometry reports (identify likely pattern + next test).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John B. West respiratory physiology video lectures (UCSD).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Review: NICE NG250 visual summary for CAP severity assessment.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2541</Words>
  <Application>Microsoft Macintosh PowerPoint</Application>
  <PresentationFormat>Widescreen</PresentationFormat>
  <Paragraphs>203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CRP 3: Pathophysiology &amp; Clinical Presentation</dc:title>
  <dc:subject>PT5000 CRP3 Lecture 1</dc:subject>
  <dc:creator>London Metropolitan University (generated)</dc:creator>
  <cp:lastModifiedBy>Kola akinlabi</cp:lastModifiedBy>
  <cp:revision>2</cp:revision>
  <dcterms:created xsi:type="dcterms:W3CDTF">2026-01-26T00:51:17Z</dcterms:created>
  <dcterms:modified xsi:type="dcterms:W3CDTF">2026-01-27T14:40:10Z</dcterms:modified>
</cp:coreProperties>
</file>