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43"/>
  </p:notesMasterIdLst>
  <p:sldIdLst>
    <p:sldId id="256" r:id="rId3"/>
    <p:sldId id="297" r:id="rId4"/>
    <p:sldId id="298" r:id="rId5"/>
    <p:sldId id="296" r:id="rId6"/>
    <p:sldId id="300" r:id="rId7"/>
    <p:sldId id="266" r:id="rId8"/>
    <p:sldId id="270" r:id="rId9"/>
    <p:sldId id="278" r:id="rId10"/>
    <p:sldId id="261" r:id="rId11"/>
    <p:sldId id="287" r:id="rId12"/>
    <p:sldId id="288" r:id="rId13"/>
    <p:sldId id="268" r:id="rId14"/>
    <p:sldId id="331" r:id="rId15"/>
    <p:sldId id="294" r:id="rId16"/>
    <p:sldId id="265" r:id="rId17"/>
    <p:sldId id="258" r:id="rId18"/>
    <p:sldId id="332" r:id="rId19"/>
    <p:sldId id="303" r:id="rId20"/>
    <p:sldId id="310" r:id="rId21"/>
    <p:sldId id="318" r:id="rId22"/>
    <p:sldId id="333" r:id="rId23"/>
    <p:sldId id="301" r:id="rId24"/>
    <p:sldId id="319" r:id="rId25"/>
    <p:sldId id="316" r:id="rId26"/>
    <p:sldId id="317" r:id="rId27"/>
    <p:sldId id="321" r:id="rId28"/>
    <p:sldId id="322" r:id="rId29"/>
    <p:sldId id="323" r:id="rId30"/>
    <p:sldId id="334" r:id="rId31"/>
    <p:sldId id="324" r:id="rId32"/>
    <p:sldId id="325" r:id="rId33"/>
    <p:sldId id="335" r:id="rId34"/>
    <p:sldId id="295" r:id="rId35"/>
    <p:sldId id="326" r:id="rId36"/>
    <p:sldId id="330" r:id="rId37"/>
    <p:sldId id="327" r:id="rId38"/>
    <p:sldId id="328" r:id="rId39"/>
    <p:sldId id="329" r:id="rId40"/>
    <p:sldId id="277" r:id="rId41"/>
    <p:sldId id="289" r:id="rId42"/>
  </p:sldIdLst>
  <p:sldSz cx="12192000" cy="6858000"/>
  <p:notesSz cx="7105650" cy="10236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E167D26-A874-5645-C281-FBB8D7E2D97B}" name="Laura Perry" initials="LP" userId="S::perryl2@staff.londonmet.ac.uk::c97aa09d-86c0-4043-b3ef-c0cd62ed5e25"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E2C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144" autoAdjust="0"/>
    <p:restoredTop sz="54224" autoAdjust="0"/>
  </p:normalViewPr>
  <p:slideViewPr>
    <p:cSldViewPr snapToGrid="0">
      <p:cViewPr varScale="1">
        <p:scale>
          <a:sx n="61" d="100"/>
          <a:sy n="61" d="100"/>
        </p:scale>
        <p:origin x="189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microsoft.com/office/2018/10/relationships/authors" Targe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notesMaster" Target="notesMasters/notesMaster1.xml"/><Relationship Id="rId48" Type="http://schemas.microsoft.com/office/2016/11/relationships/changesInfo" Target="changesInfos/changesInfo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ura Perry" userId="c97aa09d-86c0-4043-b3ef-c0cd62ed5e25" providerId="ADAL" clId="{200EE660-0D22-46EE-B4A0-EDF1A2B9A0B0}"/>
    <pc:docChg chg="modSld">
      <pc:chgData name="Laura Perry" userId="c97aa09d-86c0-4043-b3ef-c0cd62ed5e25" providerId="ADAL" clId="{200EE660-0D22-46EE-B4A0-EDF1A2B9A0B0}" dt="2024-09-20T14:43:06.564" v="23" actId="20577"/>
      <pc:docMkLst>
        <pc:docMk/>
      </pc:docMkLst>
      <pc:sldChg chg="modNotesTx">
        <pc:chgData name="Laura Perry" userId="c97aa09d-86c0-4043-b3ef-c0cd62ed5e25" providerId="ADAL" clId="{200EE660-0D22-46EE-B4A0-EDF1A2B9A0B0}" dt="2024-09-20T14:41:53.431" v="7" actId="20577"/>
        <pc:sldMkLst>
          <pc:docMk/>
          <pc:sldMk cId="3183300554" sldId="258"/>
        </pc:sldMkLst>
      </pc:sldChg>
      <pc:sldChg chg="modNotesTx">
        <pc:chgData name="Laura Perry" userId="c97aa09d-86c0-4043-b3ef-c0cd62ed5e25" providerId="ADAL" clId="{200EE660-0D22-46EE-B4A0-EDF1A2B9A0B0}" dt="2024-09-20T14:41:48.838" v="6" actId="20577"/>
        <pc:sldMkLst>
          <pc:docMk/>
          <pc:sldMk cId="1989953695" sldId="265"/>
        </pc:sldMkLst>
      </pc:sldChg>
      <pc:sldChg chg="modNotesTx">
        <pc:chgData name="Laura Perry" userId="c97aa09d-86c0-4043-b3ef-c0cd62ed5e25" providerId="ADAL" clId="{200EE660-0D22-46EE-B4A0-EDF1A2B9A0B0}" dt="2024-09-20T14:41:09.730" v="2" actId="20577"/>
        <pc:sldMkLst>
          <pc:docMk/>
          <pc:sldMk cId="447126492" sldId="296"/>
        </pc:sldMkLst>
      </pc:sldChg>
      <pc:sldChg chg="modNotesTx">
        <pc:chgData name="Laura Perry" userId="c97aa09d-86c0-4043-b3ef-c0cd62ed5e25" providerId="ADAL" clId="{200EE660-0D22-46EE-B4A0-EDF1A2B9A0B0}" dt="2024-09-20T14:41:01.834" v="0" actId="20577"/>
        <pc:sldMkLst>
          <pc:docMk/>
          <pc:sldMk cId="388469731" sldId="297"/>
        </pc:sldMkLst>
      </pc:sldChg>
      <pc:sldChg chg="modNotesTx">
        <pc:chgData name="Laura Perry" userId="c97aa09d-86c0-4043-b3ef-c0cd62ed5e25" providerId="ADAL" clId="{200EE660-0D22-46EE-B4A0-EDF1A2B9A0B0}" dt="2024-09-20T14:41:05.412" v="1" actId="20577"/>
        <pc:sldMkLst>
          <pc:docMk/>
          <pc:sldMk cId="3779893706" sldId="298"/>
        </pc:sldMkLst>
      </pc:sldChg>
      <pc:sldChg chg="modNotesTx">
        <pc:chgData name="Laura Perry" userId="c97aa09d-86c0-4043-b3ef-c0cd62ed5e25" providerId="ADAL" clId="{200EE660-0D22-46EE-B4A0-EDF1A2B9A0B0}" dt="2024-09-20T14:41:58.665" v="8" actId="20577"/>
        <pc:sldMkLst>
          <pc:docMk/>
          <pc:sldMk cId="176175562" sldId="303"/>
        </pc:sldMkLst>
      </pc:sldChg>
      <pc:sldChg chg="modNotesTx">
        <pc:chgData name="Laura Perry" userId="c97aa09d-86c0-4043-b3ef-c0cd62ed5e25" providerId="ADAL" clId="{200EE660-0D22-46EE-B4A0-EDF1A2B9A0B0}" dt="2024-09-20T14:42:02.202" v="9" actId="20577"/>
        <pc:sldMkLst>
          <pc:docMk/>
          <pc:sldMk cId="2833607711" sldId="310"/>
        </pc:sldMkLst>
      </pc:sldChg>
      <pc:sldChg chg="modNotesTx">
        <pc:chgData name="Laura Perry" userId="c97aa09d-86c0-4043-b3ef-c0cd62ed5e25" providerId="ADAL" clId="{200EE660-0D22-46EE-B4A0-EDF1A2B9A0B0}" dt="2024-09-20T14:42:20.779" v="13" actId="20577"/>
        <pc:sldMkLst>
          <pc:docMk/>
          <pc:sldMk cId="3935537928" sldId="317"/>
        </pc:sldMkLst>
      </pc:sldChg>
      <pc:sldChg chg="modNotesTx">
        <pc:chgData name="Laura Perry" userId="c97aa09d-86c0-4043-b3ef-c0cd62ed5e25" providerId="ADAL" clId="{200EE660-0D22-46EE-B4A0-EDF1A2B9A0B0}" dt="2024-09-20T14:42:05.840" v="10" actId="20577"/>
        <pc:sldMkLst>
          <pc:docMk/>
          <pc:sldMk cId="2207116841" sldId="318"/>
        </pc:sldMkLst>
      </pc:sldChg>
      <pc:sldChg chg="modNotesTx">
        <pc:chgData name="Laura Perry" userId="c97aa09d-86c0-4043-b3ef-c0cd62ed5e25" providerId="ADAL" clId="{200EE660-0D22-46EE-B4A0-EDF1A2B9A0B0}" dt="2024-09-20T14:42:15.361" v="12" actId="20577"/>
        <pc:sldMkLst>
          <pc:docMk/>
          <pc:sldMk cId="2149702045" sldId="319"/>
        </pc:sldMkLst>
      </pc:sldChg>
      <pc:sldChg chg="modNotesTx">
        <pc:chgData name="Laura Perry" userId="c97aa09d-86c0-4043-b3ef-c0cd62ed5e25" providerId="ADAL" clId="{200EE660-0D22-46EE-B4A0-EDF1A2B9A0B0}" dt="2024-09-20T14:42:23.978" v="14" actId="20577"/>
        <pc:sldMkLst>
          <pc:docMk/>
          <pc:sldMk cId="76780119" sldId="321"/>
        </pc:sldMkLst>
      </pc:sldChg>
      <pc:sldChg chg="modNotesTx">
        <pc:chgData name="Laura Perry" userId="c97aa09d-86c0-4043-b3ef-c0cd62ed5e25" providerId="ADAL" clId="{200EE660-0D22-46EE-B4A0-EDF1A2B9A0B0}" dt="2024-09-20T14:42:28.350" v="15" actId="20577"/>
        <pc:sldMkLst>
          <pc:docMk/>
          <pc:sldMk cId="3630755173" sldId="322"/>
        </pc:sldMkLst>
      </pc:sldChg>
      <pc:sldChg chg="modNotesTx">
        <pc:chgData name="Laura Perry" userId="c97aa09d-86c0-4043-b3ef-c0cd62ed5e25" providerId="ADAL" clId="{200EE660-0D22-46EE-B4A0-EDF1A2B9A0B0}" dt="2024-09-20T14:42:31.945" v="16" actId="20577"/>
        <pc:sldMkLst>
          <pc:docMk/>
          <pc:sldMk cId="2966815736" sldId="323"/>
        </pc:sldMkLst>
      </pc:sldChg>
      <pc:sldChg chg="modNotesTx">
        <pc:chgData name="Laura Perry" userId="c97aa09d-86c0-4043-b3ef-c0cd62ed5e25" providerId="ADAL" clId="{200EE660-0D22-46EE-B4A0-EDF1A2B9A0B0}" dt="2024-09-20T14:42:39.435" v="18" actId="20577"/>
        <pc:sldMkLst>
          <pc:docMk/>
          <pc:sldMk cId="1457174919" sldId="324"/>
        </pc:sldMkLst>
      </pc:sldChg>
      <pc:sldChg chg="modNotesTx">
        <pc:chgData name="Laura Perry" userId="c97aa09d-86c0-4043-b3ef-c0cd62ed5e25" providerId="ADAL" clId="{200EE660-0D22-46EE-B4A0-EDF1A2B9A0B0}" dt="2024-09-20T14:42:43.800" v="19" actId="20577"/>
        <pc:sldMkLst>
          <pc:docMk/>
          <pc:sldMk cId="3886343156" sldId="325"/>
        </pc:sldMkLst>
      </pc:sldChg>
      <pc:sldChg chg="modNotesTx">
        <pc:chgData name="Laura Perry" userId="c97aa09d-86c0-4043-b3ef-c0cd62ed5e25" providerId="ADAL" clId="{200EE660-0D22-46EE-B4A0-EDF1A2B9A0B0}" dt="2024-09-20T14:42:53.954" v="21" actId="20577"/>
        <pc:sldMkLst>
          <pc:docMk/>
          <pc:sldMk cId="3429662049" sldId="326"/>
        </pc:sldMkLst>
      </pc:sldChg>
      <pc:sldChg chg="modNotesTx">
        <pc:chgData name="Laura Perry" userId="c97aa09d-86c0-4043-b3ef-c0cd62ed5e25" providerId="ADAL" clId="{200EE660-0D22-46EE-B4A0-EDF1A2B9A0B0}" dt="2024-09-20T14:43:06.564" v="23" actId="20577"/>
        <pc:sldMkLst>
          <pc:docMk/>
          <pc:sldMk cId="2528589666" sldId="328"/>
        </pc:sldMkLst>
      </pc:sldChg>
      <pc:sldChg chg="modNotesTx">
        <pc:chgData name="Laura Perry" userId="c97aa09d-86c0-4043-b3ef-c0cd62ed5e25" providerId="ADAL" clId="{200EE660-0D22-46EE-B4A0-EDF1A2B9A0B0}" dt="2024-09-20T14:42:58.353" v="22" actId="20577"/>
        <pc:sldMkLst>
          <pc:docMk/>
          <pc:sldMk cId="2617289720" sldId="330"/>
        </pc:sldMkLst>
      </pc:sldChg>
      <pc:sldChg chg="modSp mod modNotesTx">
        <pc:chgData name="Laura Perry" userId="c97aa09d-86c0-4043-b3ef-c0cd62ed5e25" providerId="ADAL" clId="{200EE660-0D22-46EE-B4A0-EDF1A2B9A0B0}" dt="2024-09-20T14:41:44.167" v="5" actId="20577"/>
        <pc:sldMkLst>
          <pc:docMk/>
          <pc:sldMk cId="1268177637" sldId="331"/>
        </pc:sldMkLst>
        <pc:spChg chg="mod">
          <ac:chgData name="Laura Perry" userId="c97aa09d-86c0-4043-b3ef-c0cd62ed5e25" providerId="ADAL" clId="{200EE660-0D22-46EE-B4A0-EDF1A2B9A0B0}" dt="2024-09-20T14:41:37.748" v="4" actId="20577"/>
          <ac:spMkLst>
            <pc:docMk/>
            <pc:sldMk cId="1268177637" sldId="331"/>
            <ac:spMk id="3" creationId="{B5F58474-6AB7-A1B0-69FF-7646F38E26ED}"/>
          </ac:spMkLst>
        </pc:spChg>
      </pc:sldChg>
      <pc:sldChg chg="modNotesTx">
        <pc:chgData name="Laura Perry" userId="c97aa09d-86c0-4043-b3ef-c0cd62ed5e25" providerId="ADAL" clId="{200EE660-0D22-46EE-B4A0-EDF1A2B9A0B0}" dt="2024-09-20T14:42:09.939" v="11" actId="20577"/>
        <pc:sldMkLst>
          <pc:docMk/>
          <pc:sldMk cId="3709566382" sldId="333"/>
        </pc:sldMkLst>
      </pc:sldChg>
      <pc:sldChg chg="modNotesTx">
        <pc:chgData name="Laura Perry" userId="c97aa09d-86c0-4043-b3ef-c0cd62ed5e25" providerId="ADAL" clId="{200EE660-0D22-46EE-B4A0-EDF1A2B9A0B0}" dt="2024-09-20T14:42:35.346" v="17" actId="20577"/>
        <pc:sldMkLst>
          <pc:docMk/>
          <pc:sldMk cId="3059198979" sldId="334"/>
        </pc:sldMkLst>
      </pc:sldChg>
      <pc:sldChg chg="modNotesTx">
        <pc:chgData name="Laura Perry" userId="c97aa09d-86c0-4043-b3ef-c0cd62ed5e25" providerId="ADAL" clId="{200EE660-0D22-46EE-B4A0-EDF1A2B9A0B0}" dt="2024-09-20T14:42:48.126" v="20" actId="20577"/>
        <pc:sldMkLst>
          <pc:docMk/>
          <pc:sldMk cId="2638612087" sldId="335"/>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ata2.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sv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39.sv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svg"/><Relationship Id="rId2" Type="http://schemas.openxmlformats.org/officeDocument/2006/relationships/image" Target="../media/image33.svg"/><Relationship Id="rId1" Type="http://schemas.openxmlformats.org/officeDocument/2006/relationships/image" Target="../media/image32.png"/><Relationship Id="rId6" Type="http://schemas.openxmlformats.org/officeDocument/2006/relationships/image" Target="../media/image37.sv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svg"/><Relationship Id="rId4" Type="http://schemas.openxmlformats.org/officeDocument/2006/relationships/image" Target="../media/image35.svg"/><Relationship Id="rId9" Type="http://schemas.openxmlformats.org/officeDocument/2006/relationships/image" Target="../media/image40.pn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C79D419-BB10-4111-B5DA-B2FF7ABDC073}"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E213195F-A702-4B83-84A1-4D5EF9CDA124}">
      <dgm:prSet/>
      <dgm:spPr/>
      <dgm:t>
        <a:bodyPr/>
        <a:lstStyle/>
        <a:p>
          <a:r>
            <a:rPr lang="en-GB"/>
            <a:t>Understand Learning, learning types and how to engage deep learning</a:t>
          </a:r>
          <a:endParaRPr lang="en-US"/>
        </a:p>
      </dgm:t>
    </dgm:pt>
    <dgm:pt modelId="{763DAE84-B965-463C-BEDF-E55A0DD40653}" type="parTrans" cxnId="{1F994502-4BB7-4B9E-8234-63E551B4064F}">
      <dgm:prSet/>
      <dgm:spPr/>
      <dgm:t>
        <a:bodyPr/>
        <a:lstStyle/>
        <a:p>
          <a:endParaRPr lang="en-US"/>
        </a:p>
      </dgm:t>
    </dgm:pt>
    <dgm:pt modelId="{5036BBF4-CC68-417B-801B-1474B591543A}" type="sibTrans" cxnId="{1F994502-4BB7-4B9E-8234-63E551B4064F}">
      <dgm:prSet/>
      <dgm:spPr/>
      <dgm:t>
        <a:bodyPr/>
        <a:lstStyle/>
        <a:p>
          <a:endParaRPr lang="en-US"/>
        </a:p>
      </dgm:t>
    </dgm:pt>
    <dgm:pt modelId="{E7B5A1A7-F5B3-4132-8B90-5947B46166FA}">
      <dgm:prSet/>
      <dgm:spPr/>
      <dgm:t>
        <a:bodyPr/>
        <a:lstStyle/>
        <a:p>
          <a:r>
            <a:rPr lang="en-GB"/>
            <a:t>Identify the principles of effective learning</a:t>
          </a:r>
          <a:endParaRPr lang="en-US"/>
        </a:p>
      </dgm:t>
    </dgm:pt>
    <dgm:pt modelId="{5F7D7A88-B4E4-4B77-991D-A499B64D305A}" type="parTrans" cxnId="{DB59401D-D540-41C8-B012-8FDAC4E26C78}">
      <dgm:prSet/>
      <dgm:spPr/>
      <dgm:t>
        <a:bodyPr/>
        <a:lstStyle/>
        <a:p>
          <a:endParaRPr lang="en-US"/>
        </a:p>
      </dgm:t>
    </dgm:pt>
    <dgm:pt modelId="{E4A0A33F-7ED9-4EF4-8098-292DDF81111A}" type="sibTrans" cxnId="{DB59401D-D540-41C8-B012-8FDAC4E26C78}">
      <dgm:prSet/>
      <dgm:spPr/>
      <dgm:t>
        <a:bodyPr/>
        <a:lstStyle/>
        <a:p>
          <a:endParaRPr lang="en-US"/>
        </a:p>
      </dgm:t>
    </dgm:pt>
    <dgm:pt modelId="{6002DE6F-D598-4AD1-B459-342E5F000750}">
      <dgm:prSet/>
      <dgm:spPr/>
      <dgm:t>
        <a:bodyPr/>
        <a:lstStyle/>
        <a:p>
          <a:r>
            <a:rPr lang="en-GB"/>
            <a:t>Learn the Various methods teachers use with students to probe learning</a:t>
          </a:r>
          <a:endParaRPr lang="en-US"/>
        </a:p>
      </dgm:t>
    </dgm:pt>
    <dgm:pt modelId="{6FF420ED-11D7-43C3-B68F-95D745344205}" type="parTrans" cxnId="{9C085389-0DFA-4102-B835-D077FA1B6BFB}">
      <dgm:prSet/>
      <dgm:spPr/>
      <dgm:t>
        <a:bodyPr/>
        <a:lstStyle/>
        <a:p>
          <a:endParaRPr lang="en-US"/>
        </a:p>
      </dgm:t>
    </dgm:pt>
    <dgm:pt modelId="{9B902056-C1AE-43D3-8EAE-F0F06F4A4E04}" type="sibTrans" cxnId="{9C085389-0DFA-4102-B835-D077FA1B6BFB}">
      <dgm:prSet/>
      <dgm:spPr/>
      <dgm:t>
        <a:bodyPr/>
        <a:lstStyle/>
        <a:p>
          <a:endParaRPr lang="en-US"/>
        </a:p>
      </dgm:t>
    </dgm:pt>
    <dgm:pt modelId="{9D1840C2-EEEB-4478-BA47-A544515D5C76}">
      <dgm:prSet/>
      <dgm:spPr/>
      <dgm:t>
        <a:bodyPr/>
        <a:lstStyle/>
        <a:p>
          <a:r>
            <a:rPr lang="en-GB"/>
            <a:t>Understanding learning styles, and study skills and how to develop an effective learning strategy</a:t>
          </a:r>
          <a:endParaRPr lang="en-US"/>
        </a:p>
      </dgm:t>
    </dgm:pt>
    <dgm:pt modelId="{EF940DDF-2709-4913-95F7-4D73E0BC26F0}" type="parTrans" cxnId="{55EA97E3-BBD6-4E12-8229-FA8C9C437FB1}">
      <dgm:prSet/>
      <dgm:spPr/>
      <dgm:t>
        <a:bodyPr/>
        <a:lstStyle/>
        <a:p>
          <a:endParaRPr lang="en-US"/>
        </a:p>
      </dgm:t>
    </dgm:pt>
    <dgm:pt modelId="{8EC999D9-5A44-4DDE-9D3C-18FD3E2788CC}" type="sibTrans" cxnId="{55EA97E3-BBD6-4E12-8229-FA8C9C437FB1}">
      <dgm:prSet/>
      <dgm:spPr/>
      <dgm:t>
        <a:bodyPr/>
        <a:lstStyle/>
        <a:p>
          <a:endParaRPr lang="en-US"/>
        </a:p>
      </dgm:t>
    </dgm:pt>
    <dgm:pt modelId="{2AC37C9D-4708-432A-AE0D-9872CB1F1A81}">
      <dgm:prSet/>
      <dgm:spPr/>
      <dgm:t>
        <a:bodyPr/>
        <a:lstStyle/>
        <a:p>
          <a:r>
            <a:rPr lang="en-GB"/>
            <a:t>Value of reflective learning, critical thinking and meta-Learning.</a:t>
          </a:r>
          <a:endParaRPr lang="en-US"/>
        </a:p>
      </dgm:t>
    </dgm:pt>
    <dgm:pt modelId="{CDDFB6B8-58A7-4755-9B50-32418EB101D4}" type="parTrans" cxnId="{DB2722BF-D8D2-43D2-9233-DF201D5F4873}">
      <dgm:prSet/>
      <dgm:spPr/>
      <dgm:t>
        <a:bodyPr/>
        <a:lstStyle/>
        <a:p>
          <a:endParaRPr lang="en-US"/>
        </a:p>
      </dgm:t>
    </dgm:pt>
    <dgm:pt modelId="{2875542A-FB53-43E2-A935-B269B5ED409F}" type="sibTrans" cxnId="{DB2722BF-D8D2-43D2-9233-DF201D5F4873}">
      <dgm:prSet/>
      <dgm:spPr/>
      <dgm:t>
        <a:bodyPr/>
        <a:lstStyle/>
        <a:p>
          <a:endParaRPr lang="en-US"/>
        </a:p>
      </dgm:t>
    </dgm:pt>
    <dgm:pt modelId="{CC082940-315E-47A1-9BC4-EE4CE88A836C}" type="pres">
      <dgm:prSet presAssocID="{4C79D419-BB10-4111-B5DA-B2FF7ABDC073}" presName="root" presStyleCnt="0">
        <dgm:presLayoutVars>
          <dgm:dir/>
          <dgm:resizeHandles val="exact"/>
        </dgm:presLayoutVars>
      </dgm:prSet>
      <dgm:spPr/>
    </dgm:pt>
    <dgm:pt modelId="{6B2E2B8D-4192-48BF-8466-6606449D4DC9}" type="pres">
      <dgm:prSet presAssocID="{E213195F-A702-4B83-84A1-4D5EF9CDA124}" presName="compNode" presStyleCnt="0"/>
      <dgm:spPr/>
    </dgm:pt>
    <dgm:pt modelId="{05F3C0D3-CAC3-4DB7-94E8-EEA77844523E}" type="pres">
      <dgm:prSet presAssocID="{E213195F-A702-4B83-84A1-4D5EF9CDA124}" presName="bgRect" presStyleLbl="bgShp" presStyleIdx="0" presStyleCnt="5"/>
      <dgm:spPr/>
    </dgm:pt>
    <dgm:pt modelId="{299C03C8-77EA-43E0-8D9A-0C4DA6C6BB43}" type="pres">
      <dgm:prSet presAssocID="{E213195F-A702-4B83-84A1-4D5EF9CDA124}"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ooks"/>
        </a:ext>
      </dgm:extLst>
    </dgm:pt>
    <dgm:pt modelId="{6E787474-3368-4176-A847-523660DE165A}" type="pres">
      <dgm:prSet presAssocID="{E213195F-A702-4B83-84A1-4D5EF9CDA124}" presName="spaceRect" presStyleCnt="0"/>
      <dgm:spPr/>
    </dgm:pt>
    <dgm:pt modelId="{FBDAFC88-3459-474E-81D8-05D27569ABF2}" type="pres">
      <dgm:prSet presAssocID="{E213195F-A702-4B83-84A1-4D5EF9CDA124}" presName="parTx" presStyleLbl="revTx" presStyleIdx="0" presStyleCnt="5">
        <dgm:presLayoutVars>
          <dgm:chMax val="0"/>
          <dgm:chPref val="0"/>
        </dgm:presLayoutVars>
      </dgm:prSet>
      <dgm:spPr/>
    </dgm:pt>
    <dgm:pt modelId="{57585566-75BC-4A0C-9AD9-91EEFF6B5E4C}" type="pres">
      <dgm:prSet presAssocID="{5036BBF4-CC68-417B-801B-1474B591543A}" presName="sibTrans" presStyleCnt="0"/>
      <dgm:spPr/>
    </dgm:pt>
    <dgm:pt modelId="{66CC7EC4-8F1E-4DC4-91BB-E533FFAB9534}" type="pres">
      <dgm:prSet presAssocID="{E7B5A1A7-F5B3-4132-8B90-5947B46166FA}" presName="compNode" presStyleCnt="0"/>
      <dgm:spPr/>
    </dgm:pt>
    <dgm:pt modelId="{94A25F5D-741B-408F-A0FF-0C734F2A15C6}" type="pres">
      <dgm:prSet presAssocID="{E7B5A1A7-F5B3-4132-8B90-5947B46166FA}" presName="bgRect" presStyleLbl="bgShp" presStyleIdx="1" presStyleCnt="5"/>
      <dgm:spPr/>
    </dgm:pt>
    <dgm:pt modelId="{679A6ACF-B9F6-4AFE-96E4-390A982183A6}" type="pres">
      <dgm:prSet presAssocID="{E7B5A1A7-F5B3-4132-8B90-5947B46166FA}"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A716BCBE-2490-4B7F-839D-96EE20F41B54}" type="pres">
      <dgm:prSet presAssocID="{E7B5A1A7-F5B3-4132-8B90-5947B46166FA}" presName="spaceRect" presStyleCnt="0"/>
      <dgm:spPr/>
    </dgm:pt>
    <dgm:pt modelId="{CDAFFE3A-0FD5-4F3B-9ABD-DEDE9B36071F}" type="pres">
      <dgm:prSet presAssocID="{E7B5A1A7-F5B3-4132-8B90-5947B46166FA}" presName="parTx" presStyleLbl="revTx" presStyleIdx="1" presStyleCnt="5">
        <dgm:presLayoutVars>
          <dgm:chMax val="0"/>
          <dgm:chPref val="0"/>
        </dgm:presLayoutVars>
      </dgm:prSet>
      <dgm:spPr/>
    </dgm:pt>
    <dgm:pt modelId="{F45D501F-AEDC-436B-ACE3-88D0D72AF8C2}" type="pres">
      <dgm:prSet presAssocID="{E4A0A33F-7ED9-4EF4-8098-292DDF81111A}" presName="sibTrans" presStyleCnt="0"/>
      <dgm:spPr/>
    </dgm:pt>
    <dgm:pt modelId="{0BB9B387-291F-472E-96C7-B336CDB2A0F4}" type="pres">
      <dgm:prSet presAssocID="{6002DE6F-D598-4AD1-B459-342E5F000750}" presName="compNode" presStyleCnt="0"/>
      <dgm:spPr/>
    </dgm:pt>
    <dgm:pt modelId="{1E32C8C6-15A8-4ACF-BF6C-65AA41D1A9AC}" type="pres">
      <dgm:prSet presAssocID="{6002DE6F-D598-4AD1-B459-342E5F000750}" presName="bgRect" presStyleLbl="bgShp" presStyleIdx="2" presStyleCnt="5"/>
      <dgm:spPr/>
    </dgm:pt>
    <dgm:pt modelId="{2CFA9F38-3490-4C15-A4DA-0F8020405475}" type="pres">
      <dgm:prSet presAssocID="{6002DE6F-D598-4AD1-B459-342E5F000750}"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eacher"/>
        </a:ext>
      </dgm:extLst>
    </dgm:pt>
    <dgm:pt modelId="{410121B3-53F0-459D-A949-069F0B980472}" type="pres">
      <dgm:prSet presAssocID="{6002DE6F-D598-4AD1-B459-342E5F000750}" presName="spaceRect" presStyleCnt="0"/>
      <dgm:spPr/>
    </dgm:pt>
    <dgm:pt modelId="{FF69503A-9E75-4DDE-BE5E-CC440D314D80}" type="pres">
      <dgm:prSet presAssocID="{6002DE6F-D598-4AD1-B459-342E5F000750}" presName="parTx" presStyleLbl="revTx" presStyleIdx="2" presStyleCnt="5">
        <dgm:presLayoutVars>
          <dgm:chMax val="0"/>
          <dgm:chPref val="0"/>
        </dgm:presLayoutVars>
      </dgm:prSet>
      <dgm:spPr/>
    </dgm:pt>
    <dgm:pt modelId="{88C36C10-2183-40DA-8397-9F2A7A609350}" type="pres">
      <dgm:prSet presAssocID="{9B902056-C1AE-43D3-8EAE-F0F06F4A4E04}" presName="sibTrans" presStyleCnt="0"/>
      <dgm:spPr/>
    </dgm:pt>
    <dgm:pt modelId="{4C0D8298-C615-42B9-B64D-D1347021CE39}" type="pres">
      <dgm:prSet presAssocID="{9D1840C2-EEEB-4478-BA47-A544515D5C76}" presName="compNode" presStyleCnt="0"/>
      <dgm:spPr/>
    </dgm:pt>
    <dgm:pt modelId="{E1E89DFC-BAFD-425E-9BD1-9EFE0F9DADC2}" type="pres">
      <dgm:prSet presAssocID="{9D1840C2-EEEB-4478-BA47-A544515D5C76}" presName="bgRect" presStyleLbl="bgShp" presStyleIdx="3" presStyleCnt="5"/>
      <dgm:spPr/>
    </dgm:pt>
    <dgm:pt modelId="{40A5D5EA-75A6-4409-95A3-30342FE33869}" type="pres">
      <dgm:prSet presAssocID="{9D1840C2-EEEB-4478-BA47-A544515D5C76}"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Classroom"/>
        </a:ext>
      </dgm:extLst>
    </dgm:pt>
    <dgm:pt modelId="{41FBA20D-5F4D-4E9E-B39F-22C987DCBC7B}" type="pres">
      <dgm:prSet presAssocID="{9D1840C2-EEEB-4478-BA47-A544515D5C76}" presName="spaceRect" presStyleCnt="0"/>
      <dgm:spPr/>
    </dgm:pt>
    <dgm:pt modelId="{F8EAF73C-D054-46A7-A2A4-266491A9C3DB}" type="pres">
      <dgm:prSet presAssocID="{9D1840C2-EEEB-4478-BA47-A544515D5C76}" presName="parTx" presStyleLbl="revTx" presStyleIdx="3" presStyleCnt="5">
        <dgm:presLayoutVars>
          <dgm:chMax val="0"/>
          <dgm:chPref val="0"/>
        </dgm:presLayoutVars>
      </dgm:prSet>
      <dgm:spPr/>
    </dgm:pt>
    <dgm:pt modelId="{864FC88A-2C3D-4599-93E8-E04EE5FDCEE5}" type="pres">
      <dgm:prSet presAssocID="{8EC999D9-5A44-4DDE-9D3C-18FD3E2788CC}" presName="sibTrans" presStyleCnt="0"/>
      <dgm:spPr/>
    </dgm:pt>
    <dgm:pt modelId="{A2A43BD9-3900-4107-AE74-4EAACD808DFD}" type="pres">
      <dgm:prSet presAssocID="{2AC37C9D-4708-432A-AE0D-9872CB1F1A81}" presName="compNode" presStyleCnt="0"/>
      <dgm:spPr/>
    </dgm:pt>
    <dgm:pt modelId="{5CC9D9B1-EAC4-493E-BADA-F83C26FFBDE5}" type="pres">
      <dgm:prSet presAssocID="{2AC37C9D-4708-432A-AE0D-9872CB1F1A81}" presName="bgRect" presStyleLbl="bgShp" presStyleIdx="4" presStyleCnt="5"/>
      <dgm:spPr/>
    </dgm:pt>
    <dgm:pt modelId="{F52B5B33-877F-41D3-9763-812BC5AA59A7}" type="pres">
      <dgm:prSet presAssocID="{2AC37C9D-4708-432A-AE0D-9872CB1F1A81}"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Person with Idea"/>
        </a:ext>
      </dgm:extLst>
    </dgm:pt>
    <dgm:pt modelId="{7A68A8F0-6EE0-4F96-A99D-8520D3D9B2E4}" type="pres">
      <dgm:prSet presAssocID="{2AC37C9D-4708-432A-AE0D-9872CB1F1A81}" presName="spaceRect" presStyleCnt="0"/>
      <dgm:spPr/>
    </dgm:pt>
    <dgm:pt modelId="{1F89FFEF-B270-4219-8B85-0D8BB0561EF4}" type="pres">
      <dgm:prSet presAssocID="{2AC37C9D-4708-432A-AE0D-9872CB1F1A81}" presName="parTx" presStyleLbl="revTx" presStyleIdx="4" presStyleCnt="5">
        <dgm:presLayoutVars>
          <dgm:chMax val="0"/>
          <dgm:chPref val="0"/>
        </dgm:presLayoutVars>
      </dgm:prSet>
      <dgm:spPr/>
    </dgm:pt>
  </dgm:ptLst>
  <dgm:cxnLst>
    <dgm:cxn modelId="{1F994502-4BB7-4B9E-8234-63E551B4064F}" srcId="{4C79D419-BB10-4111-B5DA-B2FF7ABDC073}" destId="{E213195F-A702-4B83-84A1-4D5EF9CDA124}" srcOrd="0" destOrd="0" parTransId="{763DAE84-B965-463C-BEDF-E55A0DD40653}" sibTransId="{5036BBF4-CC68-417B-801B-1474B591543A}"/>
    <dgm:cxn modelId="{639E1E18-F3CD-4101-BBB4-F55973213E81}" type="presOf" srcId="{2AC37C9D-4708-432A-AE0D-9872CB1F1A81}" destId="{1F89FFEF-B270-4219-8B85-0D8BB0561EF4}" srcOrd="0" destOrd="0" presId="urn:microsoft.com/office/officeart/2018/2/layout/IconVerticalSolidList"/>
    <dgm:cxn modelId="{DB59401D-D540-41C8-B012-8FDAC4E26C78}" srcId="{4C79D419-BB10-4111-B5DA-B2FF7ABDC073}" destId="{E7B5A1A7-F5B3-4132-8B90-5947B46166FA}" srcOrd="1" destOrd="0" parTransId="{5F7D7A88-B4E4-4B77-991D-A499B64D305A}" sibTransId="{E4A0A33F-7ED9-4EF4-8098-292DDF81111A}"/>
    <dgm:cxn modelId="{53E0B237-7D42-4868-8128-D0B5A5E0674E}" type="presOf" srcId="{E7B5A1A7-F5B3-4132-8B90-5947B46166FA}" destId="{CDAFFE3A-0FD5-4F3B-9ABD-DEDE9B36071F}" srcOrd="0" destOrd="0" presId="urn:microsoft.com/office/officeart/2018/2/layout/IconVerticalSolidList"/>
    <dgm:cxn modelId="{F4CE4A44-B0C6-4ADB-B9F5-0EF3D6E4EDB2}" type="presOf" srcId="{6002DE6F-D598-4AD1-B459-342E5F000750}" destId="{FF69503A-9E75-4DDE-BE5E-CC440D314D80}" srcOrd="0" destOrd="0" presId="urn:microsoft.com/office/officeart/2018/2/layout/IconVerticalSolidList"/>
    <dgm:cxn modelId="{DD93C964-85B1-4285-824A-7656D4E922AC}" type="presOf" srcId="{4C79D419-BB10-4111-B5DA-B2FF7ABDC073}" destId="{CC082940-315E-47A1-9BC4-EE4CE88A836C}" srcOrd="0" destOrd="0" presId="urn:microsoft.com/office/officeart/2018/2/layout/IconVerticalSolidList"/>
    <dgm:cxn modelId="{9C085389-0DFA-4102-B835-D077FA1B6BFB}" srcId="{4C79D419-BB10-4111-B5DA-B2FF7ABDC073}" destId="{6002DE6F-D598-4AD1-B459-342E5F000750}" srcOrd="2" destOrd="0" parTransId="{6FF420ED-11D7-43C3-B68F-95D745344205}" sibTransId="{9B902056-C1AE-43D3-8EAE-F0F06F4A4E04}"/>
    <dgm:cxn modelId="{DB2722BF-D8D2-43D2-9233-DF201D5F4873}" srcId="{4C79D419-BB10-4111-B5DA-B2FF7ABDC073}" destId="{2AC37C9D-4708-432A-AE0D-9872CB1F1A81}" srcOrd="4" destOrd="0" parTransId="{CDDFB6B8-58A7-4755-9B50-32418EB101D4}" sibTransId="{2875542A-FB53-43E2-A935-B269B5ED409F}"/>
    <dgm:cxn modelId="{31DCD1D4-9FB1-454F-891B-5BA0D0667330}" type="presOf" srcId="{9D1840C2-EEEB-4478-BA47-A544515D5C76}" destId="{F8EAF73C-D054-46A7-A2A4-266491A9C3DB}" srcOrd="0" destOrd="0" presId="urn:microsoft.com/office/officeart/2018/2/layout/IconVerticalSolidList"/>
    <dgm:cxn modelId="{99F3E3D6-AC0A-4DEE-AB9C-02B4098881B1}" type="presOf" srcId="{E213195F-A702-4B83-84A1-4D5EF9CDA124}" destId="{FBDAFC88-3459-474E-81D8-05D27569ABF2}" srcOrd="0" destOrd="0" presId="urn:microsoft.com/office/officeart/2018/2/layout/IconVerticalSolidList"/>
    <dgm:cxn modelId="{55EA97E3-BBD6-4E12-8229-FA8C9C437FB1}" srcId="{4C79D419-BB10-4111-B5DA-B2FF7ABDC073}" destId="{9D1840C2-EEEB-4478-BA47-A544515D5C76}" srcOrd="3" destOrd="0" parTransId="{EF940DDF-2709-4913-95F7-4D73E0BC26F0}" sibTransId="{8EC999D9-5A44-4DDE-9D3C-18FD3E2788CC}"/>
    <dgm:cxn modelId="{470B0A47-1DA8-4FA8-B2EE-07F5836DF76B}" type="presParOf" srcId="{CC082940-315E-47A1-9BC4-EE4CE88A836C}" destId="{6B2E2B8D-4192-48BF-8466-6606449D4DC9}" srcOrd="0" destOrd="0" presId="urn:microsoft.com/office/officeart/2018/2/layout/IconVerticalSolidList"/>
    <dgm:cxn modelId="{D9DCC9F8-5D31-446B-AD10-895309F4E3E7}" type="presParOf" srcId="{6B2E2B8D-4192-48BF-8466-6606449D4DC9}" destId="{05F3C0D3-CAC3-4DB7-94E8-EEA77844523E}" srcOrd="0" destOrd="0" presId="urn:microsoft.com/office/officeart/2018/2/layout/IconVerticalSolidList"/>
    <dgm:cxn modelId="{859E4BF2-A923-410C-84BF-A47B6FF4F0B3}" type="presParOf" srcId="{6B2E2B8D-4192-48BF-8466-6606449D4DC9}" destId="{299C03C8-77EA-43E0-8D9A-0C4DA6C6BB43}" srcOrd="1" destOrd="0" presId="urn:microsoft.com/office/officeart/2018/2/layout/IconVerticalSolidList"/>
    <dgm:cxn modelId="{1FF62F3C-CC81-453D-92FA-0B3516A149C2}" type="presParOf" srcId="{6B2E2B8D-4192-48BF-8466-6606449D4DC9}" destId="{6E787474-3368-4176-A847-523660DE165A}" srcOrd="2" destOrd="0" presId="urn:microsoft.com/office/officeart/2018/2/layout/IconVerticalSolidList"/>
    <dgm:cxn modelId="{74A65FC8-F98A-4EA9-A66A-E4213589BCEE}" type="presParOf" srcId="{6B2E2B8D-4192-48BF-8466-6606449D4DC9}" destId="{FBDAFC88-3459-474E-81D8-05D27569ABF2}" srcOrd="3" destOrd="0" presId="urn:microsoft.com/office/officeart/2018/2/layout/IconVerticalSolidList"/>
    <dgm:cxn modelId="{29FE4B8F-EBA8-4F4C-9E01-0A7BEA056E4D}" type="presParOf" srcId="{CC082940-315E-47A1-9BC4-EE4CE88A836C}" destId="{57585566-75BC-4A0C-9AD9-91EEFF6B5E4C}" srcOrd="1" destOrd="0" presId="urn:microsoft.com/office/officeart/2018/2/layout/IconVerticalSolidList"/>
    <dgm:cxn modelId="{F580CF98-CCF4-4137-A0C9-2F88025A4175}" type="presParOf" srcId="{CC082940-315E-47A1-9BC4-EE4CE88A836C}" destId="{66CC7EC4-8F1E-4DC4-91BB-E533FFAB9534}" srcOrd="2" destOrd="0" presId="urn:microsoft.com/office/officeart/2018/2/layout/IconVerticalSolidList"/>
    <dgm:cxn modelId="{02091F84-73FD-41F3-BF72-253667B26674}" type="presParOf" srcId="{66CC7EC4-8F1E-4DC4-91BB-E533FFAB9534}" destId="{94A25F5D-741B-408F-A0FF-0C734F2A15C6}" srcOrd="0" destOrd="0" presId="urn:microsoft.com/office/officeart/2018/2/layout/IconVerticalSolidList"/>
    <dgm:cxn modelId="{7F689D7D-DB4F-4E48-8DEF-27A3EB23EFA5}" type="presParOf" srcId="{66CC7EC4-8F1E-4DC4-91BB-E533FFAB9534}" destId="{679A6ACF-B9F6-4AFE-96E4-390A982183A6}" srcOrd="1" destOrd="0" presId="urn:microsoft.com/office/officeart/2018/2/layout/IconVerticalSolidList"/>
    <dgm:cxn modelId="{6072F729-C434-4116-9C8E-092E52D1CF43}" type="presParOf" srcId="{66CC7EC4-8F1E-4DC4-91BB-E533FFAB9534}" destId="{A716BCBE-2490-4B7F-839D-96EE20F41B54}" srcOrd="2" destOrd="0" presId="urn:microsoft.com/office/officeart/2018/2/layout/IconVerticalSolidList"/>
    <dgm:cxn modelId="{3F461A48-53F9-4135-8509-64D78554A6AF}" type="presParOf" srcId="{66CC7EC4-8F1E-4DC4-91BB-E533FFAB9534}" destId="{CDAFFE3A-0FD5-4F3B-9ABD-DEDE9B36071F}" srcOrd="3" destOrd="0" presId="urn:microsoft.com/office/officeart/2018/2/layout/IconVerticalSolidList"/>
    <dgm:cxn modelId="{FFF79FA5-16A7-4232-B2B9-646D6577E431}" type="presParOf" srcId="{CC082940-315E-47A1-9BC4-EE4CE88A836C}" destId="{F45D501F-AEDC-436B-ACE3-88D0D72AF8C2}" srcOrd="3" destOrd="0" presId="urn:microsoft.com/office/officeart/2018/2/layout/IconVerticalSolidList"/>
    <dgm:cxn modelId="{177E3F7A-C866-4C4B-BAE9-AF8F30722F9F}" type="presParOf" srcId="{CC082940-315E-47A1-9BC4-EE4CE88A836C}" destId="{0BB9B387-291F-472E-96C7-B336CDB2A0F4}" srcOrd="4" destOrd="0" presId="urn:microsoft.com/office/officeart/2018/2/layout/IconVerticalSolidList"/>
    <dgm:cxn modelId="{D5AD3B34-E405-4152-9218-FA0863323071}" type="presParOf" srcId="{0BB9B387-291F-472E-96C7-B336CDB2A0F4}" destId="{1E32C8C6-15A8-4ACF-BF6C-65AA41D1A9AC}" srcOrd="0" destOrd="0" presId="urn:microsoft.com/office/officeart/2018/2/layout/IconVerticalSolidList"/>
    <dgm:cxn modelId="{87918BDD-3770-4172-9F3A-A32D761E5985}" type="presParOf" srcId="{0BB9B387-291F-472E-96C7-B336CDB2A0F4}" destId="{2CFA9F38-3490-4C15-A4DA-0F8020405475}" srcOrd="1" destOrd="0" presId="urn:microsoft.com/office/officeart/2018/2/layout/IconVerticalSolidList"/>
    <dgm:cxn modelId="{DE362647-0A08-4F42-8100-3244181A063F}" type="presParOf" srcId="{0BB9B387-291F-472E-96C7-B336CDB2A0F4}" destId="{410121B3-53F0-459D-A949-069F0B980472}" srcOrd="2" destOrd="0" presId="urn:microsoft.com/office/officeart/2018/2/layout/IconVerticalSolidList"/>
    <dgm:cxn modelId="{31356C49-E6BE-475F-AC19-07583D686AA7}" type="presParOf" srcId="{0BB9B387-291F-472E-96C7-B336CDB2A0F4}" destId="{FF69503A-9E75-4DDE-BE5E-CC440D314D80}" srcOrd="3" destOrd="0" presId="urn:microsoft.com/office/officeart/2018/2/layout/IconVerticalSolidList"/>
    <dgm:cxn modelId="{1590B642-A256-4F62-9A80-C101870C8DC9}" type="presParOf" srcId="{CC082940-315E-47A1-9BC4-EE4CE88A836C}" destId="{88C36C10-2183-40DA-8397-9F2A7A609350}" srcOrd="5" destOrd="0" presId="urn:microsoft.com/office/officeart/2018/2/layout/IconVerticalSolidList"/>
    <dgm:cxn modelId="{C7F7209C-BC01-421A-8057-0B488EF5A0C9}" type="presParOf" srcId="{CC082940-315E-47A1-9BC4-EE4CE88A836C}" destId="{4C0D8298-C615-42B9-B64D-D1347021CE39}" srcOrd="6" destOrd="0" presId="urn:microsoft.com/office/officeart/2018/2/layout/IconVerticalSolidList"/>
    <dgm:cxn modelId="{BF3E3E35-BE08-46F1-954B-1CF487CECF66}" type="presParOf" srcId="{4C0D8298-C615-42B9-B64D-D1347021CE39}" destId="{E1E89DFC-BAFD-425E-9BD1-9EFE0F9DADC2}" srcOrd="0" destOrd="0" presId="urn:microsoft.com/office/officeart/2018/2/layout/IconVerticalSolidList"/>
    <dgm:cxn modelId="{5C0F5148-21A3-4163-B5E6-4EE98E91659B}" type="presParOf" srcId="{4C0D8298-C615-42B9-B64D-D1347021CE39}" destId="{40A5D5EA-75A6-4409-95A3-30342FE33869}" srcOrd="1" destOrd="0" presId="urn:microsoft.com/office/officeart/2018/2/layout/IconVerticalSolidList"/>
    <dgm:cxn modelId="{0FC54EB3-5EBC-4DA6-ACE3-C2131D477218}" type="presParOf" srcId="{4C0D8298-C615-42B9-B64D-D1347021CE39}" destId="{41FBA20D-5F4D-4E9E-B39F-22C987DCBC7B}" srcOrd="2" destOrd="0" presId="urn:microsoft.com/office/officeart/2018/2/layout/IconVerticalSolidList"/>
    <dgm:cxn modelId="{834B2D23-6032-4698-A628-93C47A77FAF0}" type="presParOf" srcId="{4C0D8298-C615-42B9-B64D-D1347021CE39}" destId="{F8EAF73C-D054-46A7-A2A4-266491A9C3DB}" srcOrd="3" destOrd="0" presId="urn:microsoft.com/office/officeart/2018/2/layout/IconVerticalSolidList"/>
    <dgm:cxn modelId="{EBA81246-DABB-40C4-A95F-B23C56EC285D}" type="presParOf" srcId="{CC082940-315E-47A1-9BC4-EE4CE88A836C}" destId="{864FC88A-2C3D-4599-93E8-E04EE5FDCEE5}" srcOrd="7" destOrd="0" presId="urn:microsoft.com/office/officeart/2018/2/layout/IconVerticalSolidList"/>
    <dgm:cxn modelId="{A1B42AA2-B061-4B6A-A6A9-B1318E7259EE}" type="presParOf" srcId="{CC082940-315E-47A1-9BC4-EE4CE88A836C}" destId="{A2A43BD9-3900-4107-AE74-4EAACD808DFD}" srcOrd="8" destOrd="0" presId="urn:microsoft.com/office/officeart/2018/2/layout/IconVerticalSolidList"/>
    <dgm:cxn modelId="{1E046398-39A7-477A-9859-8FE35B8FDEC1}" type="presParOf" srcId="{A2A43BD9-3900-4107-AE74-4EAACD808DFD}" destId="{5CC9D9B1-EAC4-493E-BADA-F83C26FFBDE5}" srcOrd="0" destOrd="0" presId="urn:microsoft.com/office/officeart/2018/2/layout/IconVerticalSolidList"/>
    <dgm:cxn modelId="{823ACBA7-4371-48D0-BF39-FE561E020BA5}" type="presParOf" srcId="{A2A43BD9-3900-4107-AE74-4EAACD808DFD}" destId="{F52B5B33-877F-41D3-9763-812BC5AA59A7}" srcOrd="1" destOrd="0" presId="urn:microsoft.com/office/officeart/2018/2/layout/IconVerticalSolidList"/>
    <dgm:cxn modelId="{A8347D90-CC5C-4853-88E0-D34FCF01CE77}" type="presParOf" srcId="{A2A43BD9-3900-4107-AE74-4EAACD808DFD}" destId="{7A68A8F0-6EE0-4F96-A99D-8520D3D9B2E4}" srcOrd="2" destOrd="0" presId="urn:microsoft.com/office/officeart/2018/2/layout/IconVerticalSolidList"/>
    <dgm:cxn modelId="{CD6A58B3-3BBC-4B7D-9BA9-F304D33D1979}" type="presParOf" srcId="{A2A43BD9-3900-4107-AE74-4EAACD808DFD}" destId="{1F89FFEF-B270-4219-8B85-0D8BB0561EF4}"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ED87F03-99C8-4EDB-807F-6C32F818510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53E849D7-DA2C-466B-BB8D-461047B3BB0C}">
      <dgm:prSet custT="1"/>
      <dgm:spPr/>
      <dgm:t>
        <a:bodyPr/>
        <a:lstStyle/>
        <a:p>
          <a:pPr>
            <a:lnSpc>
              <a:spcPct val="100000"/>
            </a:lnSpc>
          </a:pPr>
          <a:r>
            <a:rPr lang="en-GB" sz="2000"/>
            <a:t>“cramming,” should be avoided.</a:t>
          </a:r>
          <a:endParaRPr lang="en-US" sz="2000"/>
        </a:p>
      </dgm:t>
    </dgm:pt>
    <dgm:pt modelId="{6C75F6B9-124E-4513-B2B5-3E175A1C5EF8}" type="parTrans" cxnId="{E8B9A588-E15F-46D7-AA9E-10CE70882C24}">
      <dgm:prSet/>
      <dgm:spPr/>
      <dgm:t>
        <a:bodyPr/>
        <a:lstStyle/>
        <a:p>
          <a:endParaRPr lang="en-US" sz="2000"/>
        </a:p>
      </dgm:t>
    </dgm:pt>
    <dgm:pt modelId="{C27E38FF-06F1-4F94-907B-4F861BFF9E5D}" type="sibTrans" cxnId="{E8B9A588-E15F-46D7-AA9E-10CE70882C24}">
      <dgm:prSet/>
      <dgm:spPr/>
      <dgm:t>
        <a:bodyPr/>
        <a:lstStyle/>
        <a:p>
          <a:pPr>
            <a:lnSpc>
              <a:spcPct val="100000"/>
            </a:lnSpc>
          </a:pPr>
          <a:endParaRPr lang="en-US" sz="2000"/>
        </a:p>
      </dgm:t>
    </dgm:pt>
    <dgm:pt modelId="{2D47F5D6-2A53-43DA-A034-287DA7A8ED9B}">
      <dgm:prSet custT="1"/>
      <dgm:spPr/>
      <dgm:t>
        <a:bodyPr/>
        <a:lstStyle/>
        <a:p>
          <a:pPr>
            <a:lnSpc>
              <a:spcPct val="100000"/>
            </a:lnSpc>
          </a:pPr>
          <a:r>
            <a:rPr lang="en-GB" sz="2000"/>
            <a:t>Focus on brain health (diet, exercise, stress, social support)</a:t>
          </a:r>
          <a:endParaRPr lang="en-US" sz="2000"/>
        </a:p>
      </dgm:t>
    </dgm:pt>
    <dgm:pt modelId="{0F467505-E6F7-45DE-AB3D-B613E56C931B}" type="parTrans" cxnId="{81D01E73-0D27-46D1-898B-B0F1510CDC84}">
      <dgm:prSet/>
      <dgm:spPr/>
      <dgm:t>
        <a:bodyPr/>
        <a:lstStyle/>
        <a:p>
          <a:endParaRPr lang="en-US" sz="2000"/>
        </a:p>
      </dgm:t>
    </dgm:pt>
    <dgm:pt modelId="{5B5173DF-ABF2-474E-8E04-F6B4EDA8B575}" type="sibTrans" cxnId="{81D01E73-0D27-46D1-898B-B0F1510CDC84}">
      <dgm:prSet/>
      <dgm:spPr/>
      <dgm:t>
        <a:bodyPr/>
        <a:lstStyle/>
        <a:p>
          <a:pPr>
            <a:lnSpc>
              <a:spcPct val="100000"/>
            </a:lnSpc>
          </a:pPr>
          <a:endParaRPr lang="en-US" sz="2000"/>
        </a:p>
      </dgm:t>
    </dgm:pt>
    <dgm:pt modelId="{5517EFDD-01C4-47FB-B8CA-593C0666AB54}">
      <dgm:prSet custT="1"/>
      <dgm:spPr/>
      <dgm:t>
        <a:bodyPr/>
        <a:lstStyle/>
        <a:p>
          <a:pPr>
            <a:lnSpc>
              <a:spcPct val="100000"/>
            </a:lnSpc>
          </a:pPr>
          <a:r>
            <a:rPr lang="en-GB" sz="2000"/>
            <a:t>Practice elaborative rehearsal (5Ws; linking to prior learning)</a:t>
          </a:r>
          <a:endParaRPr lang="en-US" sz="2000"/>
        </a:p>
      </dgm:t>
    </dgm:pt>
    <dgm:pt modelId="{4E97D723-9681-4A92-AC2B-B9D042D92F97}" type="parTrans" cxnId="{5191B231-E67A-4015-B453-19EB79C4B69A}">
      <dgm:prSet/>
      <dgm:spPr/>
      <dgm:t>
        <a:bodyPr/>
        <a:lstStyle/>
        <a:p>
          <a:endParaRPr lang="en-US" sz="2000"/>
        </a:p>
      </dgm:t>
    </dgm:pt>
    <dgm:pt modelId="{2E204817-ECC0-4ABE-8D8D-6B8932AA2918}" type="sibTrans" cxnId="{5191B231-E67A-4015-B453-19EB79C4B69A}">
      <dgm:prSet/>
      <dgm:spPr/>
      <dgm:t>
        <a:bodyPr/>
        <a:lstStyle/>
        <a:p>
          <a:pPr>
            <a:lnSpc>
              <a:spcPct val="100000"/>
            </a:lnSpc>
          </a:pPr>
          <a:endParaRPr lang="en-US" sz="2000"/>
        </a:p>
      </dgm:t>
    </dgm:pt>
    <dgm:pt modelId="{2580B2D4-9DEF-4620-897E-4CDCB7CAFA6C}">
      <dgm:prSet custT="1"/>
      <dgm:spPr/>
      <dgm:t>
        <a:bodyPr/>
        <a:lstStyle/>
        <a:p>
          <a:pPr>
            <a:lnSpc>
              <a:spcPct val="100000"/>
            </a:lnSpc>
          </a:pPr>
          <a:r>
            <a:rPr lang="en-GB" sz="2000"/>
            <a:t>Take advantage of the testing effect (e.g. practice papers)</a:t>
          </a:r>
          <a:endParaRPr lang="en-US" sz="2000"/>
        </a:p>
      </dgm:t>
    </dgm:pt>
    <dgm:pt modelId="{9DBD1E10-80CA-4CED-B008-87C9D1252A9B}" type="parTrans" cxnId="{EDB64022-A8A8-4242-9512-F6CDB4FA9754}">
      <dgm:prSet/>
      <dgm:spPr/>
      <dgm:t>
        <a:bodyPr/>
        <a:lstStyle/>
        <a:p>
          <a:endParaRPr lang="en-US" sz="2000"/>
        </a:p>
      </dgm:t>
    </dgm:pt>
    <dgm:pt modelId="{5412B682-491F-4BC4-A7D0-DA269D72D1FA}" type="sibTrans" cxnId="{EDB64022-A8A8-4242-9512-F6CDB4FA9754}">
      <dgm:prSet/>
      <dgm:spPr/>
      <dgm:t>
        <a:bodyPr/>
        <a:lstStyle/>
        <a:p>
          <a:pPr>
            <a:lnSpc>
              <a:spcPct val="100000"/>
            </a:lnSpc>
          </a:pPr>
          <a:endParaRPr lang="en-US" sz="2000"/>
        </a:p>
      </dgm:t>
    </dgm:pt>
    <dgm:pt modelId="{F818B645-646B-453D-8A68-DA6C1300F079}">
      <dgm:prSet custT="1"/>
      <dgm:spPr/>
      <dgm:t>
        <a:bodyPr/>
        <a:lstStyle/>
        <a:p>
          <a:pPr>
            <a:lnSpc>
              <a:spcPct val="100000"/>
            </a:lnSpc>
          </a:pPr>
          <a:r>
            <a:rPr lang="en-GB" sz="2000"/>
            <a:t>Space your learning/training sessions (recap lecture notes regularly)</a:t>
          </a:r>
          <a:endParaRPr lang="en-US" sz="2000"/>
        </a:p>
      </dgm:t>
    </dgm:pt>
    <dgm:pt modelId="{C6C215B5-6287-4B45-9221-1D33752EA3A3}" type="parTrans" cxnId="{FFA46BEA-C6C2-4857-89B6-4C099A6463E6}">
      <dgm:prSet/>
      <dgm:spPr/>
      <dgm:t>
        <a:bodyPr/>
        <a:lstStyle/>
        <a:p>
          <a:endParaRPr lang="en-US" sz="2000"/>
        </a:p>
      </dgm:t>
    </dgm:pt>
    <dgm:pt modelId="{65A94CF6-D53B-4147-9EE7-3EB303D4D9A0}" type="sibTrans" cxnId="{FFA46BEA-C6C2-4857-89B6-4C099A6463E6}">
      <dgm:prSet/>
      <dgm:spPr/>
      <dgm:t>
        <a:bodyPr/>
        <a:lstStyle/>
        <a:p>
          <a:pPr>
            <a:lnSpc>
              <a:spcPct val="100000"/>
            </a:lnSpc>
          </a:pPr>
          <a:endParaRPr lang="en-US" sz="2000"/>
        </a:p>
      </dgm:t>
    </dgm:pt>
    <dgm:pt modelId="{70992236-A1BC-4AEB-922C-E42D2945434B}">
      <dgm:prSet custT="1"/>
      <dgm:spPr/>
      <dgm:t>
        <a:bodyPr/>
        <a:lstStyle/>
        <a:p>
          <a:pPr>
            <a:lnSpc>
              <a:spcPct val="100000"/>
            </a:lnSpc>
          </a:pPr>
          <a:r>
            <a:rPr lang="en-GB" sz="2000"/>
            <a:t>Develop focused attention; it is a foundation of learning</a:t>
          </a:r>
          <a:endParaRPr lang="en-US" sz="2000"/>
        </a:p>
      </dgm:t>
    </dgm:pt>
    <dgm:pt modelId="{8B8A5E79-EC45-44BE-983F-A3EC9F10C038}" type="parTrans" cxnId="{3953F7BF-98B8-4C9F-8E69-73082FC3AF29}">
      <dgm:prSet/>
      <dgm:spPr/>
      <dgm:t>
        <a:bodyPr/>
        <a:lstStyle/>
        <a:p>
          <a:endParaRPr lang="en-US" sz="2000"/>
        </a:p>
      </dgm:t>
    </dgm:pt>
    <dgm:pt modelId="{240DA419-AE90-4EA5-99D8-00C458A5476F}" type="sibTrans" cxnId="{3953F7BF-98B8-4C9F-8E69-73082FC3AF29}">
      <dgm:prSet/>
      <dgm:spPr/>
      <dgm:t>
        <a:bodyPr/>
        <a:lstStyle/>
        <a:p>
          <a:endParaRPr lang="en-US" sz="2000"/>
        </a:p>
      </dgm:t>
    </dgm:pt>
    <dgm:pt modelId="{1FE575E6-082B-4371-9168-249BDD13EC95}" type="pres">
      <dgm:prSet presAssocID="{3ED87F03-99C8-4EDB-807F-6C32F8185103}" presName="root" presStyleCnt="0">
        <dgm:presLayoutVars>
          <dgm:dir/>
          <dgm:resizeHandles val="exact"/>
        </dgm:presLayoutVars>
      </dgm:prSet>
      <dgm:spPr/>
    </dgm:pt>
    <dgm:pt modelId="{82FE8DDA-965E-4264-9796-C39800F68658}" type="pres">
      <dgm:prSet presAssocID="{3ED87F03-99C8-4EDB-807F-6C32F8185103}" presName="container" presStyleCnt="0">
        <dgm:presLayoutVars>
          <dgm:dir/>
          <dgm:resizeHandles val="exact"/>
        </dgm:presLayoutVars>
      </dgm:prSet>
      <dgm:spPr/>
    </dgm:pt>
    <dgm:pt modelId="{B386E4A1-ABE1-412D-A700-BF2873560D17}" type="pres">
      <dgm:prSet presAssocID="{53E849D7-DA2C-466B-BB8D-461047B3BB0C}" presName="compNode" presStyleCnt="0"/>
      <dgm:spPr/>
    </dgm:pt>
    <dgm:pt modelId="{FA87A3D4-8290-44C2-BE64-88049D33AACC}" type="pres">
      <dgm:prSet presAssocID="{53E849D7-DA2C-466B-BB8D-461047B3BB0C}" presName="iconBgRect" presStyleLbl="bgShp" presStyleIdx="0" presStyleCnt="6"/>
      <dgm:spPr/>
    </dgm:pt>
    <dgm:pt modelId="{25E3BED0-7E5B-4C3F-8430-FADE253F6BA0}" type="pres">
      <dgm:prSet presAssocID="{53E849D7-DA2C-466B-BB8D-461047B3BB0C}" presName="iconRect" presStyleLbl="node1" presStyleIdx="0" presStyleCnt="6"/>
      <dgm:spPr>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dgm:spPr>
      <dgm:extLst>
        <a:ext uri="{E40237B7-FDA0-4F09-8148-C483321AD2D9}">
          <dgm14:cNvPr xmlns:dgm14="http://schemas.microsoft.com/office/drawing/2010/diagram" id="0" name="" descr="Books with solid fill"/>
        </a:ext>
      </dgm:extLst>
    </dgm:pt>
    <dgm:pt modelId="{81D4D5B9-10E5-440D-B657-B845B82AD01F}" type="pres">
      <dgm:prSet presAssocID="{53E849D7-DA2C-466B-BB8D-461047B3BB0C}" presName="spaceRect" presStyleCnt="0"/>
      <dgm:spPr/>
    </dgm:pt>
    <dgm:pt modelId="{EF6FFA7D-427B-400E-90DE-41C87DAA0145}" type="pres">
      <dgm:prSet presAssocID="{53E849D7-DA2C-466B-BB8D-461047B3BB0C}" presName="textRect" presStyleLbl="revTx" presStyleIdx="0" presStyleCnt="6">
        <dgm:presLayoutVars>
          <dgm:chMax val="1"/>
          <dgm:chPref val="1"/>
        </dgm:presLayoutVars>
      </dgm:prSet>
      <dgm:spPr/>
    </dgm:pt>
    <dgm:pt modelId="{D380F0A4-777C-4578-88F9-F0E2F36F66C8}" type="pres">
      <dgm:prSet presAssocID="{C27E38FF-06F1-4F94-907B-4F861BFF9E5D}" presName="sibTrans" presStyleLbl="sibTrans2D1" presStyleIdx="0" presStyleCnt="0"/>
      <dgm:spPr/>
    </dgm:pt>
    <dgm:pt modelId="{BA47473E-3B1A-4445-B9C7-363951CCE4E7}" type="pres">
      <dgm:prSet presAssocID="{2D47F5D6-2A53-43DA-A034-287DA7A8ED9B}" presName="compNode" presStyleCnt="0"/>
      <dgm:spPr/>
    </dgm:pt>
    <dgm:pt modelId="{C8620EE0-3457-4EBD-8A1A-15EE4501E66D}" type="pres">
      <dgm:prSet presAssocID="{2D47F5D6-2A53-43DA-A034-287DA7A8ED9B}" presName="iconBgRect" presStyleLbl="bgShp" presStyleIdx="1" presStyleCnt="6"/>
      <dgm:spPr/>
    </dgm:pt>
    <dgm:pt modelId="{2C9B2C68-56CB-4752-B177-1C4245D1D1C4}" type="pres">
      <dgm:prSet presAssocID="{2D47F5D6-2A53-43DA-A034-287DA7A8ED9B}"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Brain in head"/>
        </a:ext>
      </dgm:extLst>
    </dgm:pt>
    <dgm:pt modelId="{A1BE61E4-4F1E-4BED-A0A7-FC009449F7EB}" type="pres">
      <dgm:prSet presAssocID="{2D47F5D6-2A53-43DA-A034-287DA7A8ED9B}" presName="spaceRect" presStyleCnt="0"/>
      <dgm:spPr/>
    </dgm:pt>
    <dgm:pt modelId="{A95AA632-AC6C-4DA1-B772-755C6CEFDC5F}" type="pres">
      <dgm:prSet presAssocID="{2D47F5D6-2A53-43DA-A034-287DA7A8ED9B}" presName="textRect" presStyleLbl="revTx" presStyleIdx="1" presStyleCnt="6">
        <dgm:presLayoutVars>
          <dgm:chMax val="1"/>
          <dgm:chPref val="1"/>
        </dgm:presLayoutVars>
      </dgm:prSet>
      <dgm:spPr/>
    </dgm:pt>
    <dgm:pt modelId="{3DAC6484-0ECD-4526-B7BB-F8107A063125}" type="pres">
      <dgm:prSet presAssocID="{5B5173DF-ABF2-474E-8E04-F6B4EDA8B575}" presName="sibTrans" presStyleLbl="sibTrans2D1" presStyleIdx="0" presStyleCnt="0"/>
      <dgm:spPr/>
    </dgm:pt>
    <dgm:pt modelId="{B3A6866A-A697-4EC3-A378-33D7760F1C40}" type="pres">
      <dgm:prSet presAssocID="{5517EFDD-01C4-47FB-B8CA-593C0666AB54}" presName="compNode" presStyleCnt="0"/>
      <dgm:spPr/>
    </dgm:pt>
    <dgm:pt modelId="{FEA30291-D6DD-4549-BC76-BF5323B13B57}" type="pres">
      <dgm:prSet presAssocID="{5517EFDD-01C4-47FB-B8CA-593C0666AB54}" presName="iconBgRect" presStyleLbl="bgShp" presStyleIdx="2" presStyleCnt="6"/>
      <dgm:spPr/>
    </dgm:pt>
    <dgm:pt modelId="{9375B698-C3EA-4C79-A081-7A40E920B9AE}" type="pres">
      <dgm:prSet presAssocID="{5517EFDD-01C4-47FB-B8CA-593C0666AB54}"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Drama"/>
        </a:ext>
      </dgm:extLst>
    </dgm:pt>
    <dgm:pt modelId="{EC869244-36A2-426F-9A9A-0CB199AB5E03}" type="pres">
      <dgm:prSet presAssocID="{5517EFDD-01C4-47FB-B8CA-593C0666AB54}" presName="spaceRect" presStyleCnt="0"/>
      <dgm:spPr/>
    </dgm:pt>
    <dgm:pt modelId="{B642C428-02E6-40BC-8C3A-C5CF8CD27A5C}" type="pres">
      <dgm:prSet presAssocID="{5517EFDD-01C4-47FB-B8CA-593C0666AB54}" presName="textRect" presStyleLbl="revTx" presStyleIdx="2" presStyleCnt="6">
        <dgm:presLayoutVars>
          <dgm:chMax val="1"/>
          <dgm:chPref val="1"/>
        </dgm:presLayoutVars>
      </dgm:prSet>
      <dgm:spPr/>
    </dgm:pt>
    <dgm:pt modelId="{404BFE63-CC83-488A-9D29-BF36D490902E}" type="pres">
      <dgm:prSet presAssocID="{2E204817-ECC0-4ABE-8D8D-6B8932AA2918}" presName="sibTrans" presStyleLbl="sibTrans2D1" presStyleIdx="0" presStyleCnt="0"/>
      <dgm:spPr/>
    </dgm:pt>
    <dgm:pt modelId="{9F08A64C-BCED-4B57-A529-B6CE660DEDA1}" type="pres">
      <dgm:prSet presAssocID="{2580B2D4-9DEF-4620-897E-4CDCB7CAFA6C}" presName="compNode" presStyleCnt="0"/>
      <dgm:spPr/>
    </dgm:pt>
    <dgm:pt modelId="{E7463D2A-E4B9-497F-817E-C16A286F03B1}" type="pres">
      <dgm:prSet presAssocID="{2580B2D4-9DEF-4620-897E-4CDCB7CAFA6C}" presName="iconBgRect" presStyleLbl="bgShp" presStyleIdx="3" presStyleCnt="6"/>
      <dgm:spPr/>
    </dgm:pt>
    <dgm:pt modelId="{88CB36FB-0541-46FB-99ED-1BEE2DBABEF8}" type="pres">
      <dgm:prSet presAssocID="{2580B2D4-9DEF-4620-897E-4CDCB7CAFA6C}"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Test tubes"/>
        </a:ext>
      </dgm:extLst>
    </dgm:pt>
    <dgm:pt modelId="{F1E2B8F9-029F-4F23-87A2-5B4CD47558DE}" type="pres">
      <dgm:prSet presAssocID="{2580B2D4-9DEF-4620-897E-4CDCB7CAFA6C}" presName="spaceRect" presStyleCnt="0"/>
      <dgm:spPr/>
    </dgm:pt>
    <dgm:pt modelId="{D29C1AB5-ABD8-441B-B385-AC69B8C57AD6}" type="pres">
      <dgm:prSet presAssocID="{2580B2D4-9DEF-4620-897E-4CDCB7CAFA6C}" presName="textRect" presStyleLbl="revTx" presStyleIdx="3" presStyleCnt="6">
        <dgm:presLayoutVars>
          <dgm:chMax val="1"/>
          <dgm:chPref val="1"/>
        </dgm:presLayoutVars>
      </dgm:prSet>
      <dgm:spPr/>
    </dgm:pt>
    <dgm:pt modelId="{87009931-67D1-4B17-88A5-6D4A93E03A4B}" type="pres">
      <dgm:prSet presAssocID="{5412B682-491F-4BC4-A7D0-DA269D72D1FA}" presName="sibTrans" presStyleLbl="sibTrans2D1" presStyleIdx="0" presStyleCnt="0"/>
      <dgm:spPr/>
    </dgm:pt>
    <dgm:pt modelId="{3363B335-182B-425B-ADD4-6527F5706EA2}" type="pres">
      <dgm:prSet presAssocID="{F818B645-646B-453D-8A68-DA6C1300F079}" presName="compNode" presStyleCnt="0"/>
      <dgm:spPr/>
    </dgm:pt>
    <dgm:pt modelId="{4CC8B46C-288F-4642-9E12-3B4C3C2F7367}" type="pres">
      <dgm:prSet presAssocID="{F818B645-646B-453D-8A68-DA6C1300F079}" presName="iconBgRect" presStyleLbl="bgShp" presStyleIdx="4" presStyleCnt="6"/>
      <dgm:spPr/>
    </dgm:pt>
    <dgm:pt modelId="{B44A18E1-87D2-4321-ACC8-0B5F222A750A}" type="pres">
      <dgm:prSet presAssocID="{F818B645-646B-453D-8A68-DA6C1300F079}"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Classroom"/>
        </a:ext>
      </dgm:extLst>
    </dgm:pt>
    <dgm:pt modelId="{440AC2BA-66A5-48AE-B288-82E5F06AEB37}" type="pres">
      <dgm:prSet presAssocID="{F818B645-646B-453D-8A68-DA6C1300F079}" presName="spaceRect" presStyleCnt="0"/>
      <dgm:spPr/>
    </dgm:pt>
    <dgm:pt modelId="{EE1046C2-4E00-48A2-84EA-CF38D36F3D28}" type="pres">
      <dgm:prSet presAssocID="{F818B645-646B-453D-8A68-DA6C1300F079}" presName="textRect" presStyleLbl="revTx" presStyleIdx="4" presStyleCnt="6">
        <dgm:presLayoutVars>
          <dgm:chMax val="1"/>
          <dgm:chPref val="1"/>
        </dgm:presLayoutVars>
      </dgm:prSet>
      <dgm:spPr/>
    </dgm:pt>
    <dgm:pt modelId="{9E264ABB-8BF5-4E0C-A6F5-551609D08AA3}" type="pres">
      <dgm:prSet presAssocID="{65A94CF6-D53B-4147-9EE7-3EB303D4D9A0}" presName="sibTrans" presStyleLbl="sibTrans2D1" presStyleIdx="0" presStyleCnt="0"/>
      <dgm:spPr/>
    </dgm:pt>
    <dgm:pt modelId="{48A2A0BF-35FC-4219-AB80-B53088B23288}" type="pres">
      <dgm:prSet presAssocID="{70992236-A1BC-4AEB-922C-E42D2945434B}" presName="compNode" presStyleCnt="0"/>
      <dgm:spPr/>
    </dgm:pt>
    <dgm:pt modelId="{55FADAA2-A8C2-4B4E-ADEE-00E187648E94}" type="pres">
      <dgm:prSet presAssocID="{70992236-A1BC-4AEB-922C-E42D2945434B}" presName="iconBgRect" presStyleLbl="bgShp" presStyleIdx="5" presStyleCnt="6"/>
      <dgm:spPr/>
    </dgm:pt>
    <dgm:pt modelId="{C64E8849-7E67-4BDC-8A81-7AC43F821911}" type="pres">
      <dgm:prSet presAssocID="{70992236-A1BC-4AEB-922C-E42D2945434B}" presName="iconRect" presStyleLbl="node1" presStyleIdx="5" presStyleCnt="6"/>
      <dgm:spPr>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dgm:spPr>
      <dgm:extLst>
        <a:ext uri="{E40237B7-FDA0-4F09-8148-C483321AD2D9}">
          <dgm14:cNvPr xmlns:dgm14="http://schemas.microsoft.com/office/drawing/2010/diagram" id="0" name="" descr="No Phones with solid fill"/>
        </a:ext>
      </dgm:extLst>
    </dgm:pt>
    <dgm:pt modelId="{83816C08-5C7C-4A0E-9F4A-3BD674E316AA}" type="pres">
      <dgm:prSet presAssocID="{70992236-A1BC-4AEB-922C-E42D2945434B}" presName="spaceRect" presStyleCnt="0"/>
      <dgm:spPr/>
    </dgm:pt>
    <dgm:pt modelId="{C5840B48-0541-411D-A932-820953C01592}" type="pres">
      <dgm:prSet presAssocID="{70992236-A1BC-4AEB-922C-E42D2945434B}" presName="textRect" presStyleLbl="revTx" presStyleIdx="5" presStyleCnt="6">
        <dgm:presLayoutVars>
          <dgm:chMax val="1"/>
          <dgm:chPref val="1"/>
        </dgm:presLayoutVars>
      </dgm:prSet>
      <dgm:spPr/>
    </dgm:pt>
  </dgm:ptLst>
  <dgm:cxnLst>
    <dgm:cxn modelId="{F2E80414-9640-45D1-B9D2-3EA9966E7100}" type="presOf" srcId="{C27E38FF-06F1-4F94-907B-4F861BFF9E5D}" destId="{D380F0A4-777C-4578-88F9-F0E2F36F66C8}" srcOrd="0" destOrd="0" presId="urn:microsoft.com/office/officeart/2018/2/layout/IconCircleList"/>
    <dgm:cxn modelId="{839E3214-1285-4D89-B86F-0A3633539C09}" type="presOf" srcId="{5412B682-491F-4BC4-A7D0-DA269D72D1FA}" destId="{87009931-67D1-4B17-88A5-6D4A93E03A4B}" srcOrd="0" destOrd="0" presId="urn:microsoft.com/office/officeart/2018/2/layout/IconCircleList"/>
    <dgm:cxn modelId="{F144941B-40D4-462C-A43C-125D68B16067}" type="presOf" srcId="{53E849D7-DA2C-466B-BB8D-461047B3BB0C}" destId="{EF6FFA7D-427B-400E-90DE-41C87DAA0145}" srcOrd="0" destOrd="0" presId="urn:microsoft.com/office/officeart/2018/2/layout/IconCircleList"/>
    <dgm:cxn modelId="{EDB64022-A8A8-4242-9512-F6CDB4FA9754}" srcId="{3ED87F03-99C8-4EDB-807F-6C32F8185103}" destId="{2580B2D4-9DEF-4620-897E-4CDCB7CAFA6C}" srcOrd="3" destOrd="0" parTransId="{9DBD1E10-80CA-4CED-B008-87C9D1252A9B}" sibTransId="{5412B682-491F-4BC4-A7D0-DA269D72D1FA}"/>
    <dgm:cxn modelId="{5191B231-E67A-4015-B453-19EB79C4B69A}" srcId="{3ED87F03-99C8-4EDB-807F-6C32F8185103}" destId="{5517EFDD-01C4-47FB-B8CA-593C0666AB54}" srcOrd="2" destOrd="0" parTransId="{4E97D723-9681-4A92-AC2B-B9D042D92F97}" sibTransId="{2E204817-ECC0-4ABE-8D8D-6B8932AA2918}"/>
    <dgm:cxn modelId="{9B351835-B98A-4FD6-9EFD-063737FE55B1}" type="presOf" srcId="{2D47F5D6-2A53-43DA-A034-287DA7A8ED9B}" destId="{A95AA632-AC6C-4DA1-B772-755C6CEFDC5F}" srcOrd="0" destOrd="0" presId="urn:microsoft.com/office/officeart/2018/2/layout/IconCircleList"/>
    <dgm:cxn modelId="{FFD4556E-1181-4C60-B61A-6C1574ADCC81}" type="presOf" srcId="{5517EFDD-01C4-47FB-B8CA-593C0666AB54}" destId="{B642C428-02E6-40BC-8C3A-C5CF8CD27A5C}" srcOrd="0" destOrd="0" presId="urn:microsoft.com/office/officeart/2018/2/layout/IconCircleList"/>
    <dgm:cxn modelId="{81D01E73-0D27-46D1-898B-B0F1510CDC84}" srcId="{3ED87F03-99C8-4EDB-807F-6C32F8185103}" destId="{2D47F5D6-2A53-43DA-A034-287DA7A8ED9B}" srcOrd="1" destOrd="0" parTransId="{0F467505-E6F7-45DE-AB3D-B613E56C931B}" sibTransId="{5B5173DF-ABF2-474E-8E04-F6B4EDA8B575}"/>
    <dgm:cxn modelId="{E8B9A588-E15F-46D7-AA9E-10CE70882C24}" srcId="{3ED87F03-99C8-4EDB-807F-6C32F8185103}" destId="{53E849D7-DA2C-466B-BB8D-461047B3BB0C}" srcOrd="0" destOrd="0" parTransId="{6C75F6B9-124E-4513-B2B5-3E175A1C5EF8}" sibTransId="{C27E38FF-06F1-4F94-907B-4F861BFF9E5D}"/>
    <dgm:cxn modelId="{537A5894-04F6-4883-8105-BF926F6A4472}" type="presOf" srcId="{2E204817-ECC0-4ABE-8D8D-6B8932AA2918}" destId="{404BFE63-CC83-488A-9D29-BF36D490902E}" srcOrd="0" destOrd="0" presId="urn:microsoft.com/office/officeart/2018/2/layout/IconCircleList"/>
    <dgm:cxn modelId="{23310797-100B-4F92-88C0-AE3A559B5E7D}" type="presOf" srcId="{2580B2D4-9DEF-4620-897E-4CDCB7CAFA6C}" destId="{D29C1AB5-ABD8-441B-B385-AC69B8C57AD6}" srcOrd="0" destOrd="0" presId="urn:microsoft.com/office/officeart/2018/2/layout/IconCircleList"/>
    <dgm:cxn modelId="{1F6E8D9D-EAB2-4F88-B24B-F1C18F7C534F}" type="presOf" srcId="{70992236-A1BC-4AEB-922C-E42D2945434B}" destId="{C5840B48-0541-411D-A932-820953C01592}" srcOrd="0" destOrd="0" presId="urn:microsoft.com/office/officeart/2018/2/layout/IconCircleList"/>
    <dgm:cxn modelId="{63CBE1A0-A4E9-4ED0-A322-2381288EEF8F}" type="presOf" srcId="{5B5173DF-ABF2-474E-8E04-F6B4EDA8B575}" destId="{3DAC6484-0ECD-4526-B7BB-F8107A063125}" srcOrd="0" destOrd="0" presId="urn:microsoft.com/office/officeart/2018/2/layout/IconCircleList"/>
    <dgm:cxn modelId="{914E01A2-639A-43C9-B7EE-3E6CF2850BCF}" type="presOf" srcId="{65A94CF6-D53B-4147-9EE7-3EB303D4D9A0}" destId="{9E264ABB-8BF5-4E0C-A6F5-551609D08AA3}" srcOrd="0" destOrd="0" presId="urn:microsoft.com/office/officeart/2018/2/layout/IconCircleList"/>
    <dgm:cxn modelId="{F11F67B5-AC25-48A1-8BCB-B719CD9BBEAC}" type="presOf" srcId="{3ED87F03-99C8-4EDB-807F-6C32F8185103}" destId="{1FE575E6-082B-4371-9168-249BDD13EC95}" srcOrd="0" destOrd="0" presId="urn:microsoft.com/office/officeart/2018/2/layout/IconCircleList"/>
    <dgm:cxn modelId="{91B938B6-8A9F-4C01-BCC5-9967C7EEA582}" type="presOf" srcId="{F818B645-646B-453D-8A68-DA6C1300F079}" destId="{EE1046C2-4E00-48A2-84EA-CF38D36F3D28}" srcOrd="0" destOrd="0" presId="urn:microsoft.com/office/officeart/2018/2/layout/IconCircleList"/>
    <dgm:cxn modelId="{3953F7BF-98B8-4C9F-8E69-73082FC3AF29}" srcId="{3ED87F03-99C8-4EDB-807F-6C32F8185103}" destId="{70992236-A1BC-4AEB-922C-E42D2945434B}" srcOrd="5" destOrd="0" parTransId="{8B8A5E79-EC45-44BE-983F-A3EC9F10C038}" sibTransId="{240DA419-AE90-4EA5-99D8-00C458A5476F}"/>
    <dgm:cxn modelId="{FFA46BEA-C6C2-4857-89B6-4C099A6463E6}" srcId="{3ED87F03-99C8-4EDB-807F-6C32F8185103}" destId="{F818B645-646B-453D-8A68-DA6C1300F079}" srcOrd="4" destOrd="0" parTransId="{C6C215B5-6287-4B45-9221-1D33752EA3A3}" sibTransId="{65A94CF6-D53B-4147-9EE7-3EB303D4D9A0}"/>
    <dgm:cxn modelId="{91BA0CEC-EBB5-4AAE-AC6C-BA357A6346F2}" type="presParOf" srcId="{1FE575E6-082B-4371-9168-249BDD13EC95}" destId="{82FE8DDA-965E-4264-9796-C39800F68658}" srcOrd="0" destOrd="0" presId="urn:microsoft.com/office/officeart/2018/2/layout/IconCircleList"/>
    <dgm:cxn modelId="{39127186-0DCE-4E69-ABC8-56A845A83DE7}" type="presParOf" srcId="{82FE8DDA-965E-4264-9796-C39800F68658}" destId="{B386E4A1-ABE1-412D-A700-BF2873560D17}" srcOrd="0" destOrd="0" presId="urn:microsoft.com/office/officeart/2018/2/layout/IconCircleList"/>
    <dgm:cxn modelId="{5CCB0C1B-4A3D-417C-A2B1-9D041511F481}" type="presParOf" srcId="{B386E4A1-ABE1-412D-A700-BF2873560D17}" destId="{FA87A3D4-8290-44C2-BE64-88049D33AACC}" srcOrd="0" destOrd="0" presId="urn:microsoft.com/office/officeart/2018/2/layout/IconCircleList"/>
    <dgm:cxn modelId="{2139CB61-08DA-483A-A5C9-AE12A00E89CF}" type="presParOf" srcId="{B386E4A1-ABE1-412D-A700-BF2873560D17}" destId="{25E3BED0-7E5B-4C3F-8430-FADE253F6BA0}" srcOrd="1" destOrd="0" presId="urn:microsoft.com/office/officeart/2018/2/layout/IconCircleList"/>
    <dgm:cxn modelId="{8A0FAD69-65FB-44A4-BA64-C2E56F6663C8}" type="presParOf" srcId="{B386E4A1-ABE1-412D-A700-BF2873560D17}" destId="{81D4D5B9-10E5-440D-B657-B845B82AD01F}" srcOrd="2" destOrd="0" presId="urn:microsoft.com/office/officeart/2018/2/layout/IconCircleList"/>
    <dgm:cxn modelId="{DC696B58-895E-4D8B-8F38-3BEC9BAA1974}" type="presParOf" srcId="{B386E4A1-ABE1-412D-A700-BF2873560D17}" destId="{EF6FFA7D-427B-400E-90DE-41C87DAA0145}" srcOrd="3" destOrd="0" presId="urn:microsoft.com/office/officeart/2018/2/layout/IconCircleList"/>
    <dgm:cxn modelId="{92C0DB20-5C4E-423A-877A-44D263F8824F}" type="presParOf" srcId="{82FE8DDA-965E-4264-9796-C39800F68658}" destId="{D380F0A4-777C-4578-88F9-F0E2F36F66C8}" srcOrd="1" destOrd="0" presId="urn:microsoft.com/office/officeart/2018/2/layout/IconCircleList"/>
    <dgm:cxn modelId="{45290291-DE3A-4A84-9623-6CD63F318B32}" type="presParOf" srcId="{82FE8DDA-965E-4264-9796-C39800F68658}" destId="{BA47473E-3B1A-4445-B9C7-363951CCE4E7}" srcOrd="2" destOrd="0" presId="urn:microsoft.com/office/officeart/2018/2/layout/IconCircleList"/>
    <dgm:cxn modelId="{E1392420-B56F-4DCD-97FC-27325D416740}" type="presParOf" srcId="{BA47473E-3B1A-4445-B9C7-363951CCE4E7}" destId="{C8620EE0-3457-4EBD-8A1A-15EE4501E66D}" srcOrd="0" destOrd="0" presId="urn:microsoft.com/office/officeart/2018/2/layout/IconCircleList"/>
    <dgm:cxn modelId="{898B61D0-CF78-478B-85A8-FCCA53C2BF0C}" type="presParOf" srcId="{BA47473E-3B1A-4445-B9C7-363951CCE4E7}" destId="{2C9B2C68-56CB-4752-B177-1C4245D1D1C4}" srcOrd="1" destOrd="0" presId="urn:microsoft.com/office/officeart/2018/2/layout/IconCircleList"/>
    <dgm:cxn modelId="{78C1B08B-7C91-423F-A57C-68AFE7A75E5E}" type="presParOf" srcId="{BA47473E-3B1A-4445-B9C7-363951CCE4E7}" destId="{A1BE61E4-4F1E-4BED-A0A7-FC009449F7EB}" srcOrd="2" destOrd="0" presId="urn:microsoft.com/office/officeart/2018/2/layout/IconCircleList"/>
    <dgm:cxn modelId="{539C78A6-BC29-47A2-B935-DDE6502862AE}" type="presParOf" srcId="{BA47473E-3B1A-4445-B9C7-363951CCE4E7}" destId="{A95AA632-AC6C-4DA1-B772-755C6CEFDC5F}" srcOrd="3" destOrd="0" presId="urn:microsoft.com/office/officeart/2018/2/layout/IconCircleList"/>
    <dgm:cxn modelId="{199C1EA4-8C06-4FEC-A759-57CEE448A307}" type="presParOf" srcId="{82FE8DDA-965E-4264-9796-C39800F68658}" destId="{3DAC6484-0ECD-4526-B7BB-F8107A063125}" srcOrd="3" destOrd="0" presId="urn:microsoft.com/office/officeart/2018/2/layout/IconCircleList"/>
    <dgm:cxn modelId="{1AE8572B-6B91-4385-9AB5-226014EBB62F}" type="presParOf" srcId="{82FE8DDA-965E-4264-9796-C39800F68658}" destId="{B3A6866A-A697-4EC3-A378-33D7760F1C40}" srcOrd="4" destOrd="0" presId="urn:microsoft.com/office/officeart/2018/2/layout/IconCircleList"/>
    <dgm:cxn modelId="{B3CE755D-0395-4FD4-914E-A469D4F5A0E8}" type="presParOf" srcId="{B3A6866A-A697-4EC3-A378-33D7760F1C40}" destId="{FEA30291-D6DD-4549-BC76-BF5323B13B57}" srcOrd="0" destOrd="0" presId="urn:microsoft.com/office/officeart/2018/2/layout/IconCircleList"/>
    <dgm:cxn modelId="{9F24C744-4300-484E-AE7D-ED3D431A6256}" type="presParOf" srcId="{B3A6866A-A697-4EC3-A378-33D7760F1C40}" destId="{9375B698-C3EA-4C79-A081-7A40E920B9AE}" srcOrd="1" destOrd="0" presId="urn:microsoft.com/office/officeart/2018/2/layout/IconCircleList"/>
    <dgm:cxn modelId="{894A1150-D757-4D14-96EB-332ADE7B22D9}" type="presParOf" srcId="{B3A6866A-A697-4EC3-A378-33D7760F1C40}" destId="{EC869244-36A2-426F-9A9A-0CB199AB5E03}" srcOrd="2" destOrd="0" presId="urn:microsoft.com/office/officeart/2018/2/layout/IconCircleList"/>
    <dgm:cxn modelId="{FD322D06-EF7A-45FB-A639-C44EC3A9A634}" type="presParOf" srcId="{B3A6866A-A697-4EC3-A378-33D7760F1C40}" destId="{B642C428-02E6-40BC-8C3A-C5CF8CD27A5C}" srcOrd="3" destOrd="0" presId="urn:microsoft.com/office/officeart/2018/2/layout/IconCircleList"/>
    <dgm:cxn modelId="{3F2ED032-CEF6-4883-A8FC-D19A2662A66E}" type="presParOf" srcId="{82FE8DDA-965E-4264-9796-C39800F68658}" destId="{404BFE63-CC83-488A-9D29-BF36D490902E}" srcOrd="5" destOrd="0" presId="urn:microsoft.com/office/officeart/2018/2/layout/IconCircleList"/>
    <dgm:cxn modelId="{7B89EC5D-0193-4A8E-B3E0-799F4F8822F0}" type="presParOf" srcId="{82FE8DDA-965E-4264-9796-C39800F68658}" destId="{9F08A64C-BCED-4B57-A529-B6CE660DEDA1}" srcOrd="6" destOrd="0" presId="urn:microsoft.com/office/officeart/2018/2/layout/IconCircleList"/>
    <dgm:cxn modelId="{DD7E3B21-0491-4766-85E3-B55200483D89}" type="presParOf" srcId="{9F08A64C-BCED-4B57-A529-B6CE660DEDA1}" destId="{E7463D2A-E4B9-497F-817E-C16A286F03B1}" srcOrd="0" destOrd="0" presId="urn:microsoft.com/office/officeart/2018/2/layout/IconCircleList"/>
    <dgm:cxn modelId="{96537288-D58F-4657-99B4-2FF8D6F7C628}" type="presParOf" srcId="{9F08A64C-BCED-4B57-A529-B6CE660DEDA1}" destId="{88CB36FB-0541-46FB-99ED-1BEE2DBABEF8}" srcOrd="1" destOrd="0" presId="urn:microsoft.com/office/officeart/2018/2/layout/IconCircleList"/>
    <dgm:cxn modelId="{102EDD10-AA37-431C-8E81-25FD5F5C52CB}" type="presParOf" srcId="{9F08A64C-BCED-4B57-A529-B6CE660DEDA1}" destId="{F1E2B8F9-029F-4F23-87A2-5B4CD47558DE}" srcOrd="2" destOrd="0" presId="urn:microsoft.com/office/officeart/2018/2/layout/IconCircleList"/>
    <dgm:cxn modelId="{4FC22DC0-67C6-4378-A802-B8C29E3D0004}" type="presParOf" srcId="{9F08A64C-BCED-4B57-A529-B6CE660DEDA1}" destId="{D29C1AB5-ABD8-441B-B385-AC69B8C57AD6}" srcOrd="3" destOrd="0" presId="urn:microsoft.com/office/officeart/2018/2/layout/IconCircleList"/>
    <dgm:cxn modelId="{E7C72167-C617-45F7-B2C2-52C1FA4FD588}" type="presParOf" srcId="{82FE8DDA-965E-4264-9796-C39800F68658}" destId="{87009931-67D1-4B17-88A5-6D4A93E03A4B}" srcOrd="7" destOrd="0" presId="urn:microsoft.com/office/officeart/2018/2/layout/IconCircleList"/>
    <dgm:cxn modelId="{46DBC533-3862-4897-9BE6-952EEB08D9FD}" type="presParOf" srcId="{82FE8DDA-965E-4264-9796-C39800F68658}" destId="{3363B335-182B-425B-ADD4-6527F5706EA2}" srcOrd="8" destOrd="0" presId="urn:microsoft.com/office/officeart/2018/2/layout/IconCircleList"/>
    <dgm:cxn modelId="{77E32628-7283-402C-80D3-7090A56840C4}" type="presParOf" srcId="{3363B335-182B-425B-ADD4-6527F5706EA2}" destId="{4CC8B46C-288F-4642-9E12-3B4C3C2F7367}" srcOrd="0" destOrd="0" presId="urn:microsoft.com/office/officeart/2018/2/layout/IconCircleList"/>
    <dgm:cxn modelId="{397966E4-C8BF-47C4-A903-5E63E865BA6A}" type="presParOf" srcId="{3363B335-182B-425B-ADD4-6527F5706EA2}" destId="{B44A18E1-87D2-4321-ACC8-0B5F222A750A}" srcOrd="1" destOrd="0" presId="urn:microsoft.com/office/officeart/2018/2/layout/IconCircleList"/>
    <dgm:cxn modelId="{5018881B-8243-48C7-B351-DDC6DC07805A}" type="presParOf" srcId="{3363B335-182B-425B-ADD4-6527F5706EA2}" destId="{440AC2BA-66A5-48AE-B288-82E5F06AEB37}" srcOrd="2" destOrd="0" presId="urn:microsoft.com/office/officeart/2018/2/layout/IconCircleList"/>
    <dgm:cxn modelId="{FE879BD9-2595-45FB-8D7B-EE24698867E7}" type="presParOf" srcId="{3363B335-182B-425B-ADD4-6527F5706EA2}" destId="{EE1046C2-4E00-48A2-84EA-CF38D36F3D28}" srcOrd="3" destOrd="0" presId="urn:microsoft.com/office/officeart/2018/2/layout/IconCircleList"/>
    <dgm:cxn modelId="{870F96FB-23E7-49CB-A15D-5E2C5600BCF6}" type="presParOf" srcId="{82FE8DDA-965E-4264-9796-C39800F68658}" destId="{9E264ABB-8BF5-4E0C-A6F5-551609D08AA3}" srcOrd="9" destOrd="0" presId="urn:microsoft.com/office/officeart/2018/2/layout/IconCircleList"/>
    <dgm:cxn modelId="{36EE9ED3-2D7D-4427-B563-73DACFB14F84}" type="presParOf" srcId="{82FE8DDA-965E-4264-9796-C39800F68658}" destId="{48A2A0BF-35FC-4219-AB80-B53088B23288}" srcOrd="10" destOrd="0" presId="urn:microsoft.com/office/officeart/2018/2/layout/IconCircleList"/>
    <dgm:cxn modelId="{1E403615-CF16-4997-AF00-6254992F7219}" type="presParOf" srcId="{48A2A0BF-35FC-4219-AB80-B53088B23288}" destId="{55FADAA2-A8C2-4B4E-ADEE-00E187648E94}" srcOrd="0" destOrd="0" presId="urn:microsoft.com/office/officeart/2018/2/layout/IconCircleList"/>
    <dgm:cxn modelId="{D15B24DB-1791-4559-B508-E35510868C8F}" type="presParOf" srcId="{48A2A0BF-35FC-4219-AB80-B53088B23288}" destId="{C64E8849-7E67-4BDC-8A81-7AC43F821911}" srcOrd="1" destOrd="0" presId="urn:microsoft.com/office/officeart/2018/2/layout/IconCircleList"/>
    <dgm:cxn modelId="{44343735-2B82-4AA6-A2DD-11A415B1126A}" type="presParOf" srcId="{48A2A0BF-35FC-4219-AB80-B53088B23288}" destId="{83816C08-5C7C-4A0E-9F4A-3BD674E316AA}" srcOrd="2" destOrd="0" presId="urn:microsoft.com/office/officeart/2018/2/layout/IconCircleList"/>
    <dgm:cxn modelId="{0F1A4A38-D180-4101-B785-8CFCF58709F0}" type="presParOf" srcId="{48A2A0BF-35FC-4219-AB80-B53088B23288}" destId="{C5840B48-0541-411D-A932-820953C01592}"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F3C0D3-CAC3-4DB7-94E8-EEA77844523E}">
      <dsp:nvSpPr>
        <dsp:cNvPr id="0" name=""/>
        <dsp:cNvSpPr/>
      </dsp:nvSpPr>
      <dsp:spPr>
        <a:xfrm>
          <a:off x="0" y="4307"/>
          <a:ext cx="6364224" cy="917536"/>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99C03C8-77EA-43E0-8D9A-0C4DA6C6BB43}">
      <dsp:nvSpPr>
        <dsp:cNvPr id="0" name=""/>
        <dsp:cNvSpPr/>
      </dsp:nvSpPr>
      <dsp:spPr>
        <a:xfrm>
          <a:off x="277554" y="210753"/>
          <a:ext cx="504644" cy="50464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BDAFC88-3459-474E-81D8-05D27569ABF2}">
      <dsp:nvSpPr>
        <dsp:cNvPr id="0" name=""/>
        <dsp:cNvSpPr/>
      </dsp:nvSpPr>
      <dsp:spPr>
        <a:xfrm>
          <a:off x="1059754" y="430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GB" sz="1900" kern="1200"/>
            <a:t>Understand Learning, learning types and how to engage deep learning</a:t>
          </a:r>
          <a:endParaRPr lang="en-US" sz="1900" kern="1200"/>
        </a:p>
      </dsp:txBody>
      <dsp:txXfrm>
        <a:off x="1059754" y="4307"/>
        <a:ext cx="5304469" cy="917536"/>
      </dsp:txXfrm>
    </dsp:sp>
    <dsp:sp modelId="{94A25F5D-741B-408F-A0FF-0C734F2A15C6}">
      <dsp:nvSpPr>
        <dsp:cNvPr id="0" name=""/>
        <dsp:cNvSpPr/>
      </dsp:nvSpPr>
      <dsp:spPr>
        <a:xfrm>
          <a:off x="0" y="1151227"/>
          <a:ext cx="6364224" cy="917536"/>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79A6ACF-B9F6-4AFE-96E4-390A982183A6}">
      <dsp:nvSpPr>
        <dsp:cNvPr id="0" name=""/>
        <dsp:cNvSpPr/>
      </dsp:nvSpPr>
      <dsp:spPr>
        <a:xfrm>
          <a:off x="277554" y="1357673"/>
          <a:ext cx="504644" cy="50464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AFFE3A-0FD5-4F3B-9ABD-DEDE9B36071F}">
      <dsp:nvSpPr>
        <dsp:cNvPr id="0" name=""/>
        <dsp:cNvSpPr/>
      </dsp:nvSpPr>
      <dsp:spPr>
        <a:xfrm>
          <a:off x="1059754" y="115122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GB" sz="1900" kern="1200"/>
            <a:t>Identify the principles of effective learning</a:t>
          </a:r>
          <a:endParaRPr lang="en-US" sz="1900" kern="1200"/>
        </a:p>
      </dsp:txBody>
      <dsp:txXfrm>
        <a:off x="1059754" y="1151227"/>
        <a:ext cx="5304469" cy="917536"/>
      </dsp:txXfrm>
    </dsp:sp>
    <dsp:sp modelId="{1E32C8C6-15A8-4ACF-BF6C-65AA41D1A9AC}">
      <dsp:nvSpPr>
        <dsp:cNvPr id="0" name=""/>
        <dsp:cNvSpPr/>
      </dsp:nvSpPr>
      <dsp:spPr>
        <a:xfrm>
          <a:off x="0" y="2298147"/>
          <a:ext cx="6364224" cy="917536"/>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FA9F38-3490-4C15-A4DA-0F8020405475}">
      <dsp:nvSpPr>
        <dsp:cNvPr id="0" name=""/>
        <dsp:cNvSpPr/>
      </dsp:nvSpPr>
      <dsp:spPr>
        <a:xfrm>
          <a:off x="277554" y="2504593"/>
          <a:ext cx="504644" cy="50464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69503A-9E75-4DDE-BE5E-CC440D314D80}">
      <dsp:nvSpPr>
        <dsp:cNvPr id="0" name=""/>
        <dsp:cNvSpPr/>
      </dsp:nvSpPr>
      <dsp:spPr>
        <a:xfrm>
          <a:off x="1059754" y="2298147"/>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GB" sz="1900" kern="1200"/>
            <a:t>Learn the Various methods teachers use with students to probe learning</a:t>
          </a:r>
          <a:endParaRPr lang="en-US" sz="1900" kern="1200"/>
        </a:p>
      </dsp:txBody>
      <dsp:txXfrm>
        <a:off x="1059754" y="2298147"/>
        <a:ext cx="5304469" cy="917536"/>
      </dsp:txXfrm>
    </dsp:sp>
    <dsp:sp modelId="{E1E89DFC-BAFD-425E-9BD1-9EFE0F9DADC2}">
      <dsp:nvSpPr>
        <dsp:cNvPr id="0" name=""/>
        <dsp:cNvSpPr/>
      </dsp:nvSpPr>
      <dsp:spPr>
        <a:xfrm>
          <a:off x="0" y="3445068"/>
          <a:ext cx="6364224" cy="917536"/>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A5D5EA-75A6-4409-95A3-30342FE33869}">
      <dsp:nvSpPr>
        <dsp:cNvPr id="0" name=""/>
        <dsp:cNvSpPr/>
      </dsp:nvSpPr>
      <dsp:spPr>
        <a:xfrm>
          <a:off x="277554" y="3651513"/>
          <a:ext cx="504644" cy="504644"/>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EAF73C-D054-46A7-A2A4-266491A9C3DB}">
      <dsp:nvSpPr>
        <dsp:cNvPr id="0" name=""/>
        <dsp:cNvSpPr/>
      </dsp:nvSpPr>
      <dsp:spPr>
        <a:xfrm>
          <a:off x="1059754" y="344506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GB" sz="1900" kern="1200"/>
            <a:t>Understanding learning styles, and study skills and how to develop an effective learning strategy</a:t>
          </a:r>
          <a:endParaRPr lang="en-US" sz="1900" kern="1200"/>
        </a:p>
      </dsp:txBody>
      <dsp:txXfrm>
        <a:off x="1059754" y="3445068"/>
        <a:ext cx="5304469" cy="917536"/>
      </dsp:txXfrm>
    </dsp:sp>
    <dsp:sp modelId="{5CC9D9B1-EAC4-493E-BADA-F83C26FFBDE5}">
      <dsp:nvSpPr>
        <dsp:cNvPr id="0" name=""/>
        <dsp:cNvSpPr/>
      </dsp:nvSpPr>
      <dsp:spPr>
        <a:xfrm>
          <a:off x="0" y="4591988"/>
          <a:ext cx="6364224" cy="917536"/>
        </a:xfrm>
        <a:prstGeom prst="roundRect">
          <a:avLst>
            <a:gd name="adj" fmla="val 1000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2B5B33-877F-41D3-9763-812BC5AA59A7}">
      <dsp:nvSpPr>
        <dsp:cNvPr id="0" name=""/>
        <dsp:cNvSpPr/>
      </dsp:nvSpPr>
      <dsp:spPr>
        <a:xfrm>
          <a:off x="277554" y="4798433"/>
          <a:ext cx="504644" cy="504644"/>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F89FFEF-B270-4219-8B85-0D8BB0561EF4}">
      <dsp:nvSpPr>
        <dsp:cNvPr id="0" name=""/>
        <dsp:cNvSpPr/>
      </dsp:nvSpPr>
      <dsp:spPr>
        <a:xfrm>
          <a:off x="1059754" y="4591988"/>
          <a:ext cx="5304469" cy="91753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106" tIns="97106" rIns="97106" bIns="97106" numCol="1" spcCol="1270" anchor="ctr" anchorCtr="0">
          <a:noAutofit/>
        </a:bodyPr>
        <a:lstStyle/>
        <a:p>
          <a:pPr marL="0" lvl="0" indent="0" algn="l" defTabSz="844550">
            <a:lnSpc>
              <a:spcPct val="90000"/>
            </a:lnSpc>
            <a:spcBef>
              <a:spcPct val="0"/>
            </a:spcBef>
            <a:spcAft>
              <a:spcPct val="35000"/>
            </a:spcAft>
            <a:buNone/>
          </a:pPr>
          <a:r>
            <a:rPr lang="en-GB" sz="1900" kern="1200"/>
            <a:t>Value of reflective learning, critical thinking and meta-Learning.</a:t>
          </a:r>
          <a:endParaRPr lang="en-US" sz="1900" kern="1200"/>
        </a:p>
      </dsp:txBody>
      <dsp:txXfrm>
        <a:off x="1059754" y="4591988"/>
        <a:ext cx="5304469" cy="91753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87A3D4-8290-44C2-BE64-88049D33AACC}">
      <dsp:nvSpPr>
        <dsp:cNvPr id="0" name=""/>
        <dsp:cNvSpPr/>
      </dsp:nvSpPr>
      <dsp:spPr>
        <a:xfrm>
          <a:off x="82613"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E3BED0-7E5B-4C3F-8430-FADE253F6BA0}">
      <dsp:nvSpPr>
        <dsp:cNvPr id="0" name=""/>
        <dsp:cNvSpPr/>
      </dsp:nvSpPr>
      <dsp:spPr>
        <a:xfrm>
          <a:off x="271034" y="1096980"/>
          <a:ext cx="520402" cy="520402"/>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F6FFA7D-427B-400E-90DE-41C87DAA0145}">
      <dsp:nvSpPr>
        <dsp:cNvPr id="0" name=""/>
        <dsp:cNvSpPr/>
      </dsp:nvSpPr>
      <dsp:spPr>
        <a:xfrm>
          <a:off x="1172126"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GB" sz="2000" kern="1200"/>
            <a:t>“cramming,” should be avoided.</a:t>
          </a:r>
          <a:endParaRPr lang="en-US" sz="2000" kern="1200"/>
        </a:p>
      </dsp:txBody>
      <dsp:txXfrm>
        <a:off x="1172126" y="908559"/>
        <a:ext cx="2114937" cy="897246"/>
      </dsp:txXfrm>
    </dsp:sp>
    <dsp:sp modelId="{C8620EE0-3457-4EBD-8A1A-15EE4501E66D}">
      <dsp:nvSpPr>
        <dsp:cNvPr id="0" name=""/>
        <dsp:cNvSpPr/>
      </dsp:nvSpPr>
      <dsp:spPr>
        <a:xfrm>
          <a:off x="3655575"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9B2C68-56CB-4752-B177-1C4245D1D1C4}">
      <dsp:nvSpPr>
        <dsp:cNvPr id="0" name=""/>
        <dsp:cNvSpPr/>
      </dsp:nvSpPr>
      <dsp:spPr>
        <a:xfrm>
          <a:off x="3843996" y="1096980"/>
          <a:ext cx="520402" cy="52040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5AA632-AC6C-4DA1-B772-755C6CEFDC5F}">
      <dsp:nvSpPr>
        <dsp:cNvPr id="0" name=""/>
        <dsp:cNvSpPr/>
      </dsp:nvSpPr>
      <dsp:spPr>
        <a:xfrm>
          <a:off x="4745088"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GB" sz="2000" kern="1200"/>
            <a:t>Focus on brain health (diet, exercise, stress, social support)</a:t>
          </a:r>
          <a:endParaRPr lang="en-US" sz="2000" kern="1200"/>
        </a:p>
      </dsp:txBody>
      <dsp:txXfrm>
        <a:off x="4745088" y="908559"/>
        <a:ext cx="2114937" cy="897246"/>
      </dsp:txXfrm>
    </dsp:sp>
    <dsp:sp modelId="{FEA30291-D6DD-4549-BC76-BF5323B13B57}">
      <dsp:nvSpPr>
        <dsp:cNvPr id="0" name=""/>
        <dsp:cNvSpPr/>
      </dsp:nvSpPr>
      <dsp:spPr>
        <a:xfrm>
          <a:off x="7228536" y="908559"/>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75B698-C3EA-4C79-A081-7A40E920B9AE}">
      <dsp:nvSpPr>
        <dsp:cNvPr id="0" name=""/>
        <dsp:cNvSpPr/>
      </dsp:nvSpPr>
      <dsp:spPr>
        <a:xfrm>
          <a:off x="7416958" y="1096980"/>
          <a:ext cx="520402" cy="52040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642C428-02E6-40BC-8C3A-C5CF8CD27A5C}">
      <dsp:nvSpPr>
        <dsp:cNvPr id="0" name=""/>
        <dsp:cNvSpPr/>
      </dsp:nvSpPr>
      <dsp:spPr>
        <a:xfrm>
          <a:off x="8318049" y="908559"/>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GB" sz="2000" kern="1200"/>
            <a:t>Practice elaborative rehearsal (5Ws; linking to prior learning)</a:t>
          </a:r>
          <a:endParaRPr lang="en-US" sz="2000" kern="1200"/>
        </a:p>
      </dsp:txBody>
      <dsp:txXfrm>
        <a:off x="8318049" y="908559"/>
        <a:ext cx="2114937" cy="897246"/>
      </dsp:txXfrm>
    </dsp:sp>
    <dsp:sp modelId="{E7463D2A-E4B9-497F-817E-C16A286F03B1}">
      <dsp:nvSpPr>
        <dsp:cNvPr id="0" name=""/>
        <dsp:cNvSpPr/>
      </dsp:nvSpPr>
      <dsp:spPr>
        <a:xfrm>
          <a:off x="82613"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8CB36FB-0541-46FB-99ED-1BEE2DBABEF8}">
      <dsp:nvSpPr>
        <dsp:cNvPr id="0" name=""/>
        <dsp:cNvSpPr/>
      </dsp:nvSpPr>
      <dsp:spPr>
        <a:xfrm>
          <a:off x="271034" y="2733954"/>
          <a:ext cx="520402" cy="52040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29C1AB5-ABD8-441B-B385-AC69B8C57AD6}">
      <dsp:nvSpPr>
        <dsp:cNvPr id="0" name=""/>
        <dsp:cNvSpPr/>
      </dsp:nvSpPr>
      <dsp:spPr>
        <a:xfrm>
          <a:off x="1172126"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GB" sz="2000" kern="1200"/>
            <a:t>Take advantage of the testing effect (e.g. practice papers)</a:t>
          </a:r>
          <a:endParaRPr lang="en-US" sz="2000" kern="1200"/>
        </a:p>
      </dsp:txBody>
      <dsp:txXfrm>
        <a:off x="1172126" y="2545532"/>
        <a:ext cx="2114937" cy="897246"/>
      </dsp:txXfrm>
    </dsp:sp>
    <dsp:sp modelId="{4CC8B46C-288F-4642-9E12-3B4C3C2F7367}">
      <dsp:nvSpPr>
        <dsp:cNvPr id="0" name=""/>
        <dsp:cNvSpPr/>
      </dsp:nvSpPr>
      <dsp:spPr>
        <a:xfrm>
          <a:off x="3655575"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44A18E1-87D2-4321-ACC8-0B5F222A750A}">
      <dsp:nvSpPr>
        <dsp:cNvPr id="0" name=""/>
        <dsp:cNvSpPr/>
      </dsp:nvSpPr>
      <dsp:spPr>
        <a:xfrm>
          <a:off x="3843996" y="2733954"/>
          <a:ext cx="520402" cy="520402"/>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E1046C2-4E00-48A2-84EA-CF38D36F3D28}">
      <dsp:nvSpPr>
        <dsp:cNvPr id="0" name=""/>
        <dsp:cNvSpPr/>
      </dsp:nvSpPr>
      <dsp:spPr>
        <a:xfrm>
          <a:off x="4745088"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GB" sz="2000" kern="1200"/>
            <a:t>Space your learning/training sessions (recap lecture notes regularly)</a:t>
          </a:r>
          <a:endParaRPr lang="en-US" sz="2000" kern="1200"/>
        </a:p>
      </dsp:txBody>
      <dsp:txXfrm>
        <a:off x="4745088" y="2545532"/>
        <a:ext cx="2114937" cy="897246"/>
      </dsp:txXfrm>
    </dsp:sp>
    <dsp:sp modelId="{55FADAA2-A8C2-4B4E-ADEE-00E187648E94}">
      <dsp:nvSpPr>
        <dsp:cNvPr id="0" name=""/>
        <dsp:cNvSpPr/>
      </dsp:nvSpPr>
      <dsp:spPr>
        <a:xfrm>
          <a:off x="7228536" y="2545532"/>
          <a:ext cx="897246" cy="897246"/>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4E8849-7E67-4BDC-8A81-7AC43F821911}">
      <dsp:nvSpPr>
        <dsp:cNvPr id="0" name=""/>
        <dsp:cNvSpPr/>
      </dsp:nvSpPr>
      <dsp:spPr>
        <a:xfrm>
          <a:off x="7416958" y="2733954"/>
          <a:ext cx="520402" cy="520402"/>
        </a:xfrm>
        <a:prstGeom prst="rect">
          <a:avLst/>
        </a:prstGeom>
        <a:blipFill>
          <a:blip xmlns:r="http://schemas.openxmlformats.org/officeDocument/2006/relationships" r:embed="rId11">
            <a:extLst>
              <a:ext uri="{96DAC541-7B7A-43D3-8B79-37D633B846F1}">
                <asvg:svgBlip xmlns:asvg="http://schemas.microsoft.com/office/drawing/2016/SVG/main" r:embed="rId12"/>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840B48-0541-411D-A932-820953C01592}">
      <dsp:nvSpPr>
        <dsp:cNvPr id="0" name=""/>
        <dsp:cNvSpPr/>
      </dsp:nvSpPr>
      <dsp:spPr>
        <a:xfrm>
          <a:off x="8318049" y="2545532"/>
          <a:ext cx="2114937" cy="8972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100000"/>
            </a:lnSpc>
            <a:spcBef>
              <a:spcPct val="0"/>
            </a:spcBef>
            <a:spcAft>
              <a:spcPct val="35000"/>
            </a:spcAft>
            <a:buNone/>
          </a:pPr>
          <a:r>
            <a:rPr lang="en-GB" sz="2000" kern="1200"/>
            <a:t>Develop focused attention; it is a foundation of learning</a:t>
          </a:r>
          <a:endParaRPr lang="en-US" sz="2000" kern="1200"/>
        </a:p>
      </dsp:txBody>
      <dsp:txXfrm>
        <a:off x="8318049" y="2545532"/>
        <a:ext cx="2114937" cy="897246"/>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9115" cy="513588"/>
          </a:xfrm>
          <a:prstGeom prst="rect">
            <a:avLst/>
          </a:prstGeom>
        </p:spPr>
        <p:txBody>
          <a:bodyPr vert="horz" lIns="99094" tIns="49547" rIns="99094" bIns="49547" rtlCol="0"/>
          <a:lstStyle>
            <a:lvl1pPr algn="l">
              <a:defRPr sz="1300"/>
            </a:lvl1pPr>
          </a:lstStyle>
          <a:p>
            <a:endParaRPr lang="en-GB"/>
          </a:p>
        </p:txBody>
      </p:sp>
      <p:sp>
        <p:nvSpPr>
          <p:cNvPr id="3" name="Date Placeholder 2"/>
          <p:cNvSpPr>
            <a:spLocks noGrp="1"/>
          </p:cNvSpPr>
          <p:nvPr>
            <p:ph type="dt" idx="1"/>
          </p:nvPr>
        </p:nvSpPr>
        <p:spPr>
          <a:xfrm>
            <a:off x="4024891" y="0"/>
            <a:ext cx="3079115" cy="513588"/>
          </a:xfrm>
          <a:prstGeom prst="rect">
            <a:avLst/>
          </a:prstGeom>
        </p:spPr>
        <p:txBody>
          <a:bodyPr vert="horz" lIns="99094" tIns="49547" rIns="99094" bIns="49547" rtlCol="0"/>
          <a:lstStyle>
            <a:lvl1pPr algn="r">
              <a:defRPr sz="1300"/>
            </a:lvl1pPr>
          </a:lstStyle>
          <a:p>
            <a:fld id="{65FC9C58-746A-4E2B-BB8B-50D4A8294D8A}" type="datetimeFigureOut">
              <a:rPr lang="en-GB" smtClean="0"/>
              <a:t>20/09/2024</a:t>
            </a:fld>
            <a:endParaRPr lang="en-GB"/>
          </a:p>
        </p:txBody>
      </p:sp>
      <p:sp>
        <p:nvSpPr>
          <p:cNvPr id="4" name="Slide Image Placeholder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94" tIns="49547" rIns="99094" bIns="49547" rtlCol="0" anchor="ctr"/>
          <a:lstStyle/>
          <a:p>
            <a:endParaRPr lang="en-GB"/>
          </a:p>
        </p:txBody>
      </p:sp>
      <p:sp>
        <p:nvSpPr>
          <p:cNvPr id="5" name="Notes Placeholder 4"/>
          <p:cNvSpPr>
            <a:spLocks noGrp="1"/>
          </p:cNvSpPr>
          <p:nvPr>
            <p:ph type="body" sz="quarter" idx="3"/>
          </p:nvPr>
        </p:nvSpPr>
        <p:spPr>
          <a:xfrm>
            <a:off x="710565" y="4926171"/>
            <a:ext cx="5684520" cy="4030504"/>
          </a:xfrm>
          <a:prstGeom prst="rect">
            <a:avLst/>
          </a:prstGeom>
        </p:spPr>
        <p:txBody>
          <a:bodyPr vert="horz" lIns="99094" tIns="49547" rIns="99094" bIns="49547"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722614"/>
            <a:ext cx="3079115" cy="513587"/>
          </a:xfrm>
          <a:prstGeom prst="rect">
            <a:avLst/>
          </a:prstGeom>
        </p:spPr>
        <p:txBody>
          <a:bodyPr vert="horz" lIns="99094" tIns="49547" rIns="99094" bIns="49547" rtlCol="0" anchor="b"/>
          <a:lstStyle>
            <a:lvl1pPr algn="l">
              <a:defRPr sz="1300"/>
            </a:lvl1pPr>
          </a:lstStyle>
          <a:p>
            <a:endParaRPr lang="en-GB"/>
          </a:p>
        </p:txBody>
      </p:sp>
      <p:sp>
        <p:nvSpPr>
          <p:cNvPr id="7" name="Slide Number Placeholder 6"/>
          <p:cNvSpPr>
            <a:spLocks noGrp="1"/>
          </p:cNvSpPr>
          <p:nvPr>
            <p:ph type="sldNum" sz="quarter" idx="5"/>
          </p:nvPr>
        </p:nvSpPr>
        <p:spPr>
          <a:xfrm>
            <a:off x="4024891" y="9722614"/>
            <a:ext cx="3079115" cy="513587"/>
          </a:xfrm>
          <a:prstGeom prst="rect">
            <a:avLst/>
          </a:prstGeom>
        </p:spPr>
        <p:txBody>
          <a:bodyPr vert="horz" lIns="99094" tIns="49547" rIns="99094" bIns="49547" rtlCol="0" anchor="b"/>
          <a:lstStyle>
            <a:lvl1pPr algn="r">
              <a:defRPr sz="1300"/>
            </a:lvl1pPr>
          </a:lstStyle>
          <a:p>
            <a:fld id="{7B6C81E6-C28F-4C98-A2BD-948C3C66D8F6}" type="slidenum">
              <a:rPr lang="en-GB" smtClean="0"/>
              <a:t>‹#›</a:t>
            </a:fld>
            <a:endParaRPr lang="en-GB"/>
          </a:p>
        </p:txBody>
      </p:sp>
    </p:spTree>
    <p:extLst>
      <p:ext uri="{BB962C8B-B14F-4D97-AF65-F5344CB8AC3E}">
        <p14:creationId xmlns:p14="http://schemas.microsoft.com/office/powerpoint/2010/main" val="4248376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6C81E6-C28F-4C98-A2BD-948C3C66D8F6}" type="slidenum">
              <a:rPr lang="en-GB" smtClean="0"/>
              <a:t>1</a:t>
            </a:fld>
            <a:endParaRPr lang="en-GB"/>
          </a:p>
        </p:txBody>
      </p:sp>
    </p:spTree>
    <p:extLst>
      <p:ext uri="{BB962C8B-B14F-4D97-AF65-F5344CB8AC3E}">
        <p14:creationId xmlns:p14="http://schemas.microsoft.com/office/powerpoint/2010/main" val="39729188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2</a:t>
            </a:fld>
            <a:endParaRPr lang="en-GB"/>
          </a:p>
        </p:txBody>
      </p:sp>
    </p:spTree>
    <p:extLst>
      <p:ext uri="{BB962C8B-B14F-4D97-AF65-F5344CB8AC3E}">
        <p14:creationId xmlns:p14="http://schemas.microsoft.com/office/powerpoint/2010/main" val="20807590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3</a:t>
            </a:fld>
            <a:endParaRPr lang="en-GB"/>
          </a:p>
        </p:txBody>
      </p:sp>
    </p:spTree>
    <p:extLst>
      <p:ext uri="{BB962C8B-B14F-4D97-AF65-F5344CB8AC3E}">
        <p14:creationId xmlns:p14="http://schemas.microsoft.com/office/powerpoint/2010/main" val="19401640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4</a:t>
            </a:fld>
            <a:endParaRPr lang="en-GB"/>
          </a:p>
        </p:txBody>
      </p:sp>
    </p:spTree>
    <p:extLst>
      <p:ext uri="{BB962C8B-B14F-4D97-AF65-F5344CB8AC3E}">
        <p14:creationId xmlns:p14="http://schemas.microsoft.com/office/powerpoint/2010/main" val="96659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6C81E6-C28F-4C98-A2BD-948C3C66D8F6}" type="slidenum">
              <a:rPr lang="en-GB" smtClean="0"/>
              <a:t>5</a:t>
            </a:fld>
            <a:endParaRPr lang="en-GB"/>
          </a:p>
        </p:txBody>
      </p:sp>
    </p:spTree>
    <p:extLst>
      <p:ext uri="{BB962C8B-B14F-4D97-AF65-F5344CB8AC3E}">
        <p14:creationId xmlns:p14="http://schemas.microsoft.com/office/powerpoint/2010/main" val="1245281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6C81E6-C28F-4C98-A2BD-948C3C66D8F6}" type="slidenum">
              <a:rPr lang="en-GB" smtClean="0"/>
              <a:t>6</a:t>
            </a:fld>
            <a:endParaRPr lang="en-GB"/>
          </a:p>
        </p:txBody>
      </p:sp>
    </p:spTree>
    <p:extLst>
      <p:ext uri="{BB962C8B-B14F-4D97-AF65-F5344CB8AC3E}">
        <p14:creationId xmlns:p14="http://schemas.microsoft.com/office/powerpoint/2010/main" val="16074608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6C81E6-C28F-4C98-A2BD-948C3C66D8F6}" type="slidenum">
              <a:rPr lang="en-GB" smtClean="0"/>
              <a:t>7</a:t>
            </a:fld>
            <a:endParaRPr lang="en-GB"/>
          </a:p>
        </p:txBody>
      </p:sp>
    </p:spTree>
    <p:extLst>
      <p:ext uri="{BB962C8B-B14F-4D97-AF65-F5344CB8AC3E}">
        <p14:creationId xmlns:p14="http://schemas.microsoft.com/office/powerpoint/2010/main" val="28544692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SoP</a:t>
            </a:r>
            <a:r>
              <a:rPr lang="en-GB" dirty="0"/>
              <a:t> = Standards of Proficiency  </a:t>
            </a:r>
          </a:p>
        </p:txBody>
      </p:sp>
      <p:sp>
        <p:nvSpPr>
          <p:cNvPr id="4" name="Slide Number Placeholder 3"/>
          <p:cNvSpPr>
            <a:spLocks noGrp="1"/>
          </p:cNvSpPr>
          <p:nvPr>
            <p:ph type="sldNum" sz="quarter" idx="5"/>
          </p:nvPr>
        </p:nvSpPr>
        <p:spPr/>
        <p:txBody>
          <a:bodyPr/>
          <a:lstStyle/>
          <a:p>
            <a:fld id="{7B6C81E6-C28F-4C98-A2BD-948C3C66D8F6}" type="slidenum">
              <a:rPr lang="en-GB" smtClean="0"/>
              <a:t>8</a:t>
            </a:fld>
            <a:endParaRPr lang="en-GB"/>
          </a:p>
        </p:txBody>
      </p:sp>
    </p:spTree>
    <p:extLst>
      <p:ext uri="{BB962C8B-B14F-4D97-AF65-F5344CB8AC3E}">
        <p14:creationId xmlns:p14="http://schemas.microsoft.com/office/powerpoint/2010/main" val="3049864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040C28"/>
                </a:solidFill>
                <a:effectLst/>
                <a:latin typeface="Google Sans"/>
              </a:rPr>
              <a:t>Problem-based learning -a student-</a:t>
            </a:r>
            <a:r>
              <a:rPr lang="en-GB" b="0" i="0" dirty="0" err="1">
                <a:solidFill>
                  <a:srgbClr val="040C28"/>
                </a:solidFill>
                <a:effectLst/>
                <a:latin typeface="Google Sans"/>
              </a:rPr>
              <a:t>centered</a:t>
            </a:r>
            <a:r>
              <a:rPr lang="en-GB" b="0" i="0" dirty="0">
                <a:solidFill>
                  <a:srgbClr val="040C28"/>
                </a:solidFill>
                <a:effectLst/>
                <a:latin typeface="Google Sans"/>
              </a:rPr>
              <a:t> approach in which students learn about a subject by working in groups to solve an open-ended problem</a:t>
            </a:r>
            <a:r>
              <a:rPr lang="en-GB" b="0" i="0" dirty="0">
                <a:solidFill>
                  <a:srgbClr val="202124"/>
                </a:solidFill>
                <a:effectLst/>
                <a:latin typeface="Google Sans"/>
              </a:rPr>
              <a:t>. </a:t>
            </a:r>
          </a:p>
          <a:p>
            <a:r>
              <a:rPr lang="en-GB" b="0" i="0" dirty="0">
                <a:solidFill>
                  <a:srgbClr val="202124"/>
                </a:solidFill>
                <a:effectLst/>
                <a:latin typeface="Google Sans"/>
              </a:rPr>
              <a:t>Project-based learning (PBL) - </a:t>
            </a:r>
            <a:r>
              <a:rPr lang="en-GB" b="0" i="0" dirty="0">
                <a:solidFill>
                  <a:srgbClr val="040C28"/>
                </a:solidFill>
                <a:effectLst/>
                <a:latin typeface="Google Sans"/>
              </a:rPr>
              <a:t>involves students designing, developing, and constructing hands-on solutions to a problem</a:t>
            </a:r>
          </a:p>
          <a:p>
            <a:r>
              <a:rPr lang="en-GB" b="0" i="0" dirty="0">
                <a:solidFill>
                  <a:srgbClr val="202124"/>
                </a:solidFill>
                <a:effectLst/>
                <a:latin typeface="Google Sans"/>
              </a:rPr>
              <a:t>Enquiry and Research-Based Learning (EBL and RBL)  - are terms used to describe </a:t>
            </a:r>
            <a:r>
              <a:rPr lang="en-GB" b="0" i="0" dirty="0">
                <a:solidFill>
                  <a:srgbClr val="040C28"/>
                </a:solidFill>
                <a:effectLst/>
                <a:latin typeface="Google Sans"/>
              </a:rPr>
              <a:t>a method of teaching and learning based on self-directed enquiry or research by the student</a:t>
            </a:r>
            <a:r>
              <a:rPr lang="en-GB" b="0" i="0" dirty="0">
                <a:solidFill>
                  <a:srgbClr val="202124"/>
                </a:solidFill>
                <a:effectLst/>
                <a:latin typeface="Google Sans"/>
              </a:rPr>
              <a:t>. </a:t>
            </a:r>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9</a:t>
            </a:fld>
            <a:endParaRPr lang="en-GB"/>
          </a:p>
        </p:txBody>
      </p:sp>
    </p:spTree>
    <p:extLst>
      <p:ext uri="{BB962C8B-B14F-4D97-AF65-F5344CB8AC3E}">
        <p14:creationId xmlns:p14="http://schemas.microsoft.com/office/powerpoint/2010/main" val="346293248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10</a:t>
            </a:fld>
            <a:endParaRPr lang="en-GB"/>
          </a:p>
        </p:txBody>
      </p:sp>
    </p:spTree>
    <p:extLst>
      <p:ext uri="{BB962C8B-B14F-4D97-AF65-F5344CB8AC3E}">
        <p14:creationId xmlns:p14="http://schemas.microsoft.com/office/powerpoint/2010/main" val="39359687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11</a:t>
            </a:fld>
            <a:endParaRPr lang="en-GB"/>
          </a:p>
        </p:txBody>
      </p:sp>
    </p:spTree>
    <p:extLst>
      <p:ext uri="{BB962C8B-B14F-4D97-AF65-F5344CB8AC3E}">
        <p14:creationId xmlns:p14="http://schemas.microsoft.com/office/powerpoint/2010/main" val="38343106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12</a:t>
            </a:fld>
            <a:endParaRPr lang="en-GB"/>
          </a:p>
        </p:txBody>
      </p:sp>
    </p:spTree>
    <p:extLst>
      <p:ext uri="{BB962C8B-B14F-4D97-AF65-F5344CB8AC3E}">
        <p14:creationId xmlns:p14="http://schemas.microsoft.com/office/powerpoint/2010/main" val="19411003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5800" indent="-185800">
              <a:buFont typeface="Arial" panose="020B0604020202020204" pitchFamily="34" charset="0"/>
              <a:buChar char="•"/>
            </a:pPr>
            <a:endParaRPr lang="en-GB" dirty="0"/>
          </a:p>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13</a:t>
            </a:fld>
            <a:endParaRPr lang="en-GB"/>
          </a:p>
        </p:txBody>
      </p:sp>
    </p:spTree>
    <p:extLst>
      <p:ext uri="{BB962C8B-B14F-4D97-AF65-F5344CB8AC3E}">
        <p14:creationId xmlns:p14="http://schemas.microsoft.com/office/powerpoint/2010/main" val="18804869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6C81E6-C28F-4C98-A2BD-948C3C66D8F6}" type="slidenum">
              <a:rPr lang="en-GB" smtClean="0"/>
              <a:t>14</a:t>
            </a:fld>
            <a:endParaRPr lang="en-GB"/>
          </a:p>
        </p:txBody>
      </p:sp>
    </p:spTree>
    <p:extLst>
      <p:ext uri="{BB962C8B-B14F-4D97-AF65-F5344CB8AC3E}">
        <p14:creationId xmlns:p14="http://schemas.microsoft.com/office/powerpoint/2010/main" val="2932039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15</a:t>
            </a:fld>
            <a:endParaRPr lang="en-GB"/>
          </a:p>
        </p:txBody>
      </p:sp>
    </p:spTree>
    <p:extLst>
      <p:ext uri="{BB962C8B-B14F-4D97-AF65-F5344CB8AC3E}">
        <p14:creationId xmlns:p14="http://schemas.microsoft.com/office/powerpoint/2010/main" val="6306522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16</a:t>
            </a:fld>
            <a:endParaRPr lang="en-GB"/>
          </a:p>
        </p:txBody>
      </p:sp>
    </p:spTree>
    <p:extLst>
      <p:ext uri="{BB962C8B-B14F-4D97-AF65-F5344CB8AC3E}">
        <p14:creationId xmlns:p14="http://schemas.microsoft.com/office/powerpoint/2010/main" val="11525935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17</a:t>
            </a:fld>
            <a:endParaRPr lang="en-GB"/>
          </a:p>
        </p:txBody>
      </p:sp>
    </p:spTree>
    <p:extLst>
      <p:ext uri="{BB962C8B-B14F-4D97-AF65-F5344CB8AC3E}">
        <p14:creationId xmlns:p14="http://schemas.microsoft.com/office/powerpoint/2010/main" val="18207198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a:p>
            <a:endParaRPr lang="en-GB" dirty="0"/>
          </a:p>
          <a:p>
            <a:r>
              <a:rPr lang="en-GB" dirty="0"/>
              <a:t>.</a:t>
            </a:r>
          </a:p>
        </p:txBody>
      </p:sp>
      <p:sp>
        <p:nvSpPr>
          <p:cNvPr id="4" name="Slide Number Placeholder 3"/>
          <p:cNvSpPr>
            <a:spLocks noGrp="1"/>
          </p:cNvSpPr>
          <p:nvPr>
            <p:ph type="sldNum" sz="quarter" idx="5"/>
          </p:nvPr>
        </p:nvSpPr>
        <p:spPr/>
        <p:txBody>
          <a:bodyPr/>
          <a:lstStyle/>
          <a:p>
            <a:fld id="{7B6C81E6-C28F-4C98-A2BD-948C3C66D8F6}" type="slidenum">
              <a:rPr lang="en-GB" smtClean="0"/>
              <a:t>18</a:t>
            </a:fld>
            <a:endParaRPr lang="en-GB"/>
          </a:p>
        </p:txBody>
      </p:sp>
    </p:spTree>
    <p:extLst>
      <p:ext uri="{BB962C8B-B14F-4D97-AF65-F5344CB8AC3E}">
        <p14:creationId xmlns:p14="http://schemas.microsoft.com/office/powerpoint/2010/main" val="25594546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F6716EC6-A8DF-431C-BFC7-BE415A6903CF}" type="slidenum">
              <a:rPr lang="en-GB" smtClean="0"/>
              <a:t>19</a:t>
            </a:fld>
            <a:endParaRPr lang="en-GB"/>
          </a:p>
        </p:txBody>
      </p:sp>
    </p:spTree>
    <p:extLst>
      <p:ext uri="{BB962C8B-B14F-4D97-AF65-F5344CB8AC3E}">
        <p14:creationId xmlns:p14="http://schemas.microsoft.com/office/powerpoint/2010/main" val="5937882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dirty="0"/>
          </a:p>
        </p:txBody>
      </p:sp>
      <p:sp>
        <p:nvSpPr>
          <p:cNvPr id="4" name="Slide Number Placeholder 3"/>
          <p:cNvSpPr>
            <a:spLocks noGrp="1"/>
          </p:cNvSpPr>
          <p:nvPr>
            <p:ph type="sldNum" sz="quarter" idx="5"/>
          </p:nvPr>
        </p:nvSpPr>
        <p:spPr/>
        <p:txBody>
          <a:bodyPr/>
          <a:lstStyle/>
          <a:p>
            <a:fld id="{7B6C81E6-C28F-4C98-A2BD-948C3C66D8F6}" type="slidenum">
              <a:rPr lang="en-GB" smtClean="0"/>
              <a:t>20</a:t>
            </a:fld>
            <a:endParaRPr lang="en-GB"/>
          </a:p>
        </p:txBody>
      </p:sp>
    </p:spTree>
    <p:extLst>
      <p:ext uri="{BB962C8B-B14F-4D97-AF65-F5344CB8AC3E}">
        <p14:creationId xmlns:p14="http://schemas.microsoft.com/office/powerpoint/2010/main" val="10648638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1" dirty="0"/>
          </a:p>
        </p:txBody>
      </p:sp>
      <p:sp>
        <p:nvSpPr>
          <p:cNvPr id="4" name="Slide Number Placeholder 3"/>
          <p:cNvSpPr>
            <a:spLocks noGrp="1"/>
          </p:cNvSpPr>
          <p:nvPr>
            <p:ph type="sldNum" sz="quarter" idx="5"/>
          </p:nvPr>
        </p:nvSpPr>
        <p:spPr/>
        <p:txBody>
          <a:bodyPr/>
          <a:lstStyle/>
          <a:p>
            <a:fld id="{7B6C81E6-C28F-4C98-A2BD-948C3C66D8F6}" type="slidenum">
              <a:rPr lang="en-GB" smtClean="0"/>
              <a:t>21</a:t>
            </a:fld>
            <a:endParaRPr lang="en-GB"/>
          </a:p>
        </p:txBody>
      </p:sp>
    </p:spTree>
    <p:extLst>
      <p:ext uri="{BB962C8B-B14F-4D97-AF65-F5344CB8AC3E}">
        <p14:creationId xmlns:p14="http://schemas.microsoft.com/office/powerpoint/2010/main" val="148244741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6C81E6-C28F-4C98-A2BD-948C3C66D8F6}" type="slidenum">
              <a:rPr lang="en-GB" smtClean="0"/>
              <a:t>22</a:t>
            </a:fld>
            <a:endParaRPr lang="en-GB"/>
          </a:p>
        </p:txBody>
      </p:sp>
    </p:spTree>
    <p:extLst>
      <p:ext uri="{BB962C8B-B14F-4D97-AF65-F5344CB8AC3E}">
        <p14:creationId xmlns:p14="http://schemas.microsoft.com/office/powerpoint/2010/main" val="4114697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23</a:t>
            </a:fld>
            <a:endParaRPr lang="en-GB"/>
          </a:p>
        </p:txBody>
      </p:sp>
    </p:spTree>
    <p:extLst>
      <p:ext uri="{BB962C8B-B14F-4D97-AF65-F5344CB8AC3E}">
        <p14:creationId xmlns:p14="http://schemas.microsoft.com/office/powerpoint/2010/main" val="463125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24</a:t>
            </a:fld>
            <a:endParaRPr lang="en-GB"/>
          </a:p>
        </p:txBody>
      </p:sp>
    </p:spTree>
    <p:extLst>
      <p:ext uri="{BB962C8B-B14F-4D97-AF65-F5344CB8AC3E}">
        <p14:creationId xmlns:p14="http://schemas.microsoft.com/office/powerpoint/2010/main" val="201043696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p>
          <a:p>
            <a:r>
              <a:rPr lang="en-GB" dirty="0"/>
              <a:t> </a:t>
            </a:r>
          </a:p>
        </p:txBody>
      </p:sp>
      <p:sp>
        <p:nvSpPr>
          <p:cNvPr id="4" name="Slide Number Placeholder 3"/>
          <p:cNvSpPr>
            <a:spLocks noGrp="1"/>
          </p:cNvSpPr>
          <p:nvPr>
            <p:ph type="sldNum" sz="quarter" idx="5"/>
          </p:nvPr>
        </p:nvSpPr>
        <p:spPr/>
        <p:txBody>
          <a:bodyPr/>
          <a:lstStyle/>
          <a:p>
            <a:fld id="{7B6C81E6-C28F-4C98-A2BD-948C3C66D8F6}" type="slidenum">
              <a:rPr lang="en-GB" smtClean="0"/>
              <a:t>25</a:t>
            </a:fld>
            <a:endParaRPr lang="en-GB"/>
          </a:p>
        </p:txBody>
      </p:sp>
    </p:spTree>
    <p:extLst>
      <p:ext uri="{BB962C8B-B14F-4D97-AF65-F5344CB8AC3E}">
        <p14:creationId xmlns:p14="http://schemas.microsoft.com/office/powerpoint/2010/main" val="30243007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26</a:t>
            </a:fld>
            <a:endParaRPr lang="en-GB"/>
          </a:p>
        </p:txBody>
      </p:sp>
    </p:spTree>
    <p:extLst>
      <p:ext uri="{BB962C8B-B14F-4D97-AF65-F5344CB8AC3E}">
        <p14:creationId xmlns:p14="http://schemas.microsoft.com/office/powerpoint/2010/main" val="38449370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27</a:t>
            </a:fld>
            <a:endParaRPr lang="en-GB"/>
          </a:p>
        </p:txBody>
      </p:sp>
    </p:spTree>
    <p:extLst>
      <p:ext uri="{BB962C8B-B14F-4D97-AF65-F5344CB8AC3E}">
        <p14:creationId xmlns:p14="http://schemas.microsoft.com/office/powerpoint/2010/main" val="277846979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28</a:t>
            </a:fld>
            <a:endParaRPr lang="en-GB"/>
          </a:p>
        </p:txBody>
      </p:sp>
    </p:spTree>
    <p:extLst>
      <p:ext uri="{BB962C8B-B14F-4D97-AF65-F5344CB8AC3E}">
        <p14:creationId xmlns:p14="http://schemas.microsoft.com/office/powerpoint/2010/main" val="180890016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29</a:t>
            </a:fld>
            <a:endParaRPr lang="en-GB"/>
          </a:p>
        </p:txBody>
      </p:sp>
    </p:spTree>
    <p:extLst>
      <p:ext uri="{BB962C8B-B14F-4D97-AF65-F5344CB8AC3E}">
        <p14:creationId xmlns:p14="http://schemas.microsoft.com/office/powerpoint/2010/main" val="2850276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p>
        </p:txBody>
      </p:sp>
      <p:sp>
        <p:nvSpPr>
          <p:cNvPr id="4" name="Slide Number Placeholder 3"/>
          <p:cNvSpPr>
            <a:spLocks noGrp="1"/>
          </p:cNvSpPr>
          <p:nvPr>
            <p:ph type="sldNum" sz="quarter" idx="5"/>
          </p:nvPr>
        </p:nvSpPr>
        <p:spPr/>
        <p:txBody>
          <a:bodyPr/>
          <a:lstStyle/>
          <a:p>
            <a:fld id="{7B6C81E6-C28F-4C98-A2BD-948C3C66D8F6}" type="slidenum">
              <a:rPr lang="en-GB" smtClean="0"/>
              <a:t>30</a:t>
            </a:fld>
            <a:endParaRPr lang="en-GB"/>
          </a:p>
        </p:txBody>
      </p:sp>
    </p:spTree>
    <p:extLst>
      <p:ext uri="{BB962C8B-B14F-4D97-AF65-F5344CB8AC3E}">
        <p14:creationId xmlns:p14="http://schemas.microsoft.com/office/powerpoint/2010/main" val="331750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85800" indent="-18580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31</a:t>
            </a:fld>
            <a:endParaRPr lang="en-GB"/>
          </a:p>
        </p:txBody>
      </p:sp>
    </p:spTree>
    <p:extLst>
      <p:ext uri="{BB962C8B-B14F-4D97-AF65-F5344CB8AC3E}">
        <p14:creationId xmlns:p14="http://schemas.microsoft.com/office/powerpoint/2010/main" val="3381249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b="0" dirty="0"/>
          </a:p>
        </p:txBody>
      </p:sp>
      <p:sp>
        <p:nvSpPr>
          <p:cNvPr id="4" name="Slide Number Placeholder 3"/>
          <p:cNvSpPr>
            <a:spLocks noGrp="1"/>
          </p:cNvSpPr>
          <p:nvPr>
            <p:ph type="sldNum" sz="quarter" idx="5"/>
          </p:nvPr>
        </p:nvSpPr>
        <p:spPr/>
        <p:txBody>
          <a:bodyPr/>
          <a:lstStyle/>
          <a:p>
            <a:fld id="{7B6C81E6-C28F-4C98-A2BD-948C3C66D8F6}" type="slidenum">
              <a:rPr lang="en-GB" smtClean="0"/>
              <a:t>32</a:t>
            </a:fld>
            <a:endParaRPr lang="en-GB"/>
          </a:p>
        </p:txBody>
      </p:sp>
    </p:spTree>
    <p:extLst>
      <p:ext uri="{BB962C8B-B14F-4D97-AF65-F5344CB8AC3E}">
        <p14:creationId xmlns:p14="http://schemas.microsoft.com/office/powerpoint/2010/main" val="6996327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33</a:t>
            </a:fld>
            <a:endParaRPr lang="en-GB"/>
          </a:p>
        </p:txBody>
      </p:sp>
    </p:spTree>
    <p:extLst>
      <p:ext uri="{BB962C8B-B14F-4D97-AF65-F5344CB8AC3E}">
        <p14:creationId xmlns:p14="http://schemas.microsoft.com/office/powerpoint/2010/main" val="19706485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34</a:t>
            </a:fld>
            <a:endParaRPr lang="en-GB"/>
          </a:p>
        </p:txBody>
      </p:sp>
    </p:spTree>
    <p:extLst>
      <p:ext uri="{BB962C8B-B14F-4D97-AF65-F5344CB8AC3E}">
        <p14:creationId xmlns:p14="http://schemas.microsoft.com/office/powerpoint/2010/main" val="304994929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35</a:t>
            </a:fld>
            <a:endParaRPr lang="en-GB"/>
          </a:p>
        </p:txBody>
      </p:sp>
    </p:spTree>
    <p:extLst>
      <p:ext uri="{BB962C8B-B14F-4D97-AF65-F5344CB8AC3E}">
        <p14:creationId xmlns:p14="http://schemas.microsoft.com/office/powerpoint/2010/main" val="7432168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6C81E6-C28F-4C98-A2BD-948C3C66D8F6}" type="slidenum">
              <a:rPr lang="en-GB" smtClean="0"/>
              <a:t>36</a:t>
            </a:fld>
            <a:endParaRPr lang="en-GB"/>
          </a:p>
        </p:txBody>
      </p:sp>
    </p:spTree>
    <p:extLst>
      <p:ext uri="{BB962C8B-B14F-4D97-AF65-F5344CB8AC3E}">
        <p14:creationId xmlns:p14="http://schemas.microsoft.com/office/powerpoint/2010/main" val="20179583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B6C81E6-C28F-4C98-A2BD-948C3C66D8F6}" type="slidenum">
              <a:rPr lang="en-GB" smtClean="0"/>
              <a:t>37</a:t>
            </a:fld>
            <a:endParaRPr lang="en-GB"/>
          </a:p>
        </p:txBody>
      </p:sp>
    </p:spTree>
    <p:extLst>
      <p:ext uri="{BB962C8B-B14F-4D97-AF65-F5344CB8AC3E}">
        <p14:creationId xmlns:p14="http://schemas.microsoft.com/office/powerpoint/2010/main" val="146105943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6C81E6-C28F-4C98-A2BD-948C3C66D8F6}" type="slidenum">
              <a:rPr lang="en-GB" smtClean="0"/>
              <a:t>38</a:t>
            </a:fld>
            <a:endParaRPr lang="en-GB"/>
          </a:p>
        </p:txBody>
      </p:sp>
    </p:spTree>
    <p:extLst>
      <p:ext uri="{BB962C8B-B14F-4D97-AF65-F5344CB8AC3E}">
        <p14:creationId xmlns:p14="http://schemas.microsoft.com/office/powerpoint/2010/main" val="21723711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6C81E6-C28F-4C98-A2BD-948C3C66D8F6}" type="slidenum">
              <a:rPr lang="en-GB" smtClean="0"/>
              <a:t>39</a:t>
            </a:fld>
            <a:endParaRPr lang="en-GB"/>
          </a:p>
        </p:txBody>
      </p:sp>
    </p:spTree>
    <p:extLst>
      <p:ext uri="{BB962C8B-B14F-4D97-AF65-F5344CB8AC3E}">
        <p14:creationId xmlns:p14="http://schemas.microsoft.com/office/powerpoint/2010/main" val="12749339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7B6C81E6-C28F-4C98-A2BD-948C3C66D8F6}" type="slidenum">
              <a:rPr lang="en-GB" smtClean="0"/>
              <a:t>40</a:t>
            </a:fld>
            <a:endParaRPr lang="en-GB"/>
          </a:p>
        </p:txBody>
      </p:sp>
    </p:spTree>
    <p:extLst>
      <p:ext uri="{BB962C8B-B14F-4D97-AF65-F5344CB8AC3E}">
        <p14:creationId xmlns:p14="http://schemas.microsoft.com/office/powerpoint/2010/main" val="19778810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56F34-46A4-E559-AB7C-2EC1A42443A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0359BAF-E5DA-6F61-C12A-1B6DA8F85C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2D886C2-9E65-378F-F68C-A251B1E98BA5}"/>
              </a:ext>
            </a:extLst>
          </p:cNvPr>
          <p:cNvSpPr>
            <a:spLocks noGrp="1"/>
          </p:cNvSpPr>
          <p:nvPr>
            <p:ph type="dt" sz="half" idx="10"/>
          </p:nvPr>
        </p:nvSpPr>
        <p:spPr/>
        <p:txBody>
          <a:bodyPr/>
          <a:lstStyle/>
          <a:p>
            <a:fld id="{E9B8BE9A-697D-492F-9702-43541375A36D}" type="datetimeFigureOut">
              <a:rPr lang="en-GB" smtClean="0"/>
              <a:t>20/09/2024</a:t>
            </a:fld>
            <a:endParaRPr lang="en-GB"/>
          </a:p>
        </p:txBody>
      </p:sp>
      <p:sp>
        <p:nvSpPr>
          <p:cNvPr id="5" name="Footer Placeholder 4">
            <a:extLst>
              <a:ext uri="{FF2B5EF4-FFF2-40B4-BE49-F238E27FC236}">
                <a16:creationId xmlns:a16="http://schemas.microsoft.com/office/drawing/2014/main" id="{7C6D434B-FB53-16B5-813A-B1809B4FDA7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1C9037B-306B-B8A8-F755-9DF4F27BC5A9}"/>
              </a:ext>
            </a:extLst>
          </p:cNvPr>
          <p:cNvSpPr>
            <a:spLocks noGrp="1"/>
          </p:cNvSpPr>
          <p:nvPr>
            <p:ph type="sldNum" sz="quarter" idx="12"/>
          </p:nvPr>
        </p:nvSpPr>
        <p:spPr/>
        <p:txBody>
          <a:bodyPr/>
          <a:lstStyle/>
          <a:p>
            <a:fld id="{A35587AD-11F6-4515-8496-8B3386E5CFA7}" type="slidenum">
              <a:rPr lang="en-GB" smtClean="0"/>
              <a:t>‹#›</a:t>
            </a:fld>
            <a:endParaRPr lang="en-GB"/>
          </a:p>
        </p:txBody>
      </p:sp>
    </p:spTree>
    <p:extLst>
      <p:ext uri="{BB962C8B-B14F-4D97-AF65-F5344CB8AC3E}">
        <p14:creationId xmlns:p14="http://schemas.microsoft.com/office/powerpoint/2010/main" val="38290265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CBD73C-E266-E296-880A-A7AAF278C87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D9B6D925-BED9-4422-C4D6-8D2EB312EE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A7ABBB7-8328-23B8-0FD6-47F39B31496B}"/>
              </a:ext>
            </a:extLst>
          </p:cNvPr>
          <p:cNvSpPr>
            <a:spLocks noGrp="1"/>
          </p:cNvSpPr>
          <p:nvPr>
            <p:ph type="dt" sz="half" idx="10"/>
          </p:nvPr>
        </p:nvSpPr>
        <p:spPr/>
        <p:txBody>
          <a:bodyPr/>
          <a:lstStyle/>
          <a:p>
            <a:fld id="{E9B8BE9A-697D-492F-9702-43541375A36D}" type="datetimeFigureOut">
              <a:rPr lang="en-GB" smtClean="0"/>
              <a:t>20/09/2024</a:t>
            </a:fld>
            <a:endParaRPr lang="en-GB"/>
          </a:p>
        </p:txBody>
      </p:sp>
      <p:sp>
        <p:nvSpPr>
          <p:cNvPr id="5" name="Footer Placeholder 4">
            <a:extLst>
              <a:ext uri="{FF2B5EF4-FFF2-40B4-BE49-F238E27FC236}">
                <a16:creationId xmlns:a16="http://schemas.microsoft.com/office/drawing/2014/main" id="{D62878E7-3990-FCFF-5E65-1FDF04535F3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ABFE1D6-E32F-8BD2-96AC-585C5B3E990A}"/>
              </a:ext>
            </a:extLst>
          </p:cNvPr>
          <p:cNvSpPr>
            <a:spLocks noGrp="1"/>
          </p:cNvSpPr>
          <p:nvPr>
            <p:ph type="sldNum" sz="quarter" idx="12"/>
          </p:nvPr>
        </p:nvSpPr>
        <p:spPr/>
        <p:txBody>
          <a:bodyPr/>
          <a:lstStyle/>
          <a:p>
            <a:fld id="{A35587AD-11F6-4515-8496-8B3386E5CFA7}" type="slidenum">
              <a:rPr lang="en-GB" smtClean="0"/>
              <a:t>‹#›</a:t>
            </a:fld>
            <a:endParaRPr lang="en-GB"/>
          </a:p>
        </p:txBody>
      </p:sp>
    </p:spTree>
    <p:extLst>
      <p:ext uri="{BB962C8B-B14F-4D97-AF65-F5344CB8AC3E}">
        <p14:creationId xmlns:p14="http://schemas.microsoft.com/office/powerpoint/2010/main" val="210632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E38D7-F179-4B60-0E9B-09D4519105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E3927CA-08E4-091A-4C88-69F7E6F310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4E4EC50-A41B-A294-9E4B-7E99B037534B}"/>
              </a:ext>
            </a:extLst>
          </p:cNvPr>
          <p:cNvSpPr>
            <a:spLocks noGrp="1"/>
          </p:cNvSpPr>
          <p:nvPr>
            <p:ph type="dt" sz="half" idx="10"/>
          </p:nvPr>
        </p:nvSpPr>
        <p:spPr/>
        <p:txBody>
          <a:bodyPr/>
          <a:lstStyle/>
          <a:p>
            <a:fld id="{E9B8BE9A-697D-492F-9702-43541375A36D}" type="datetimeFigureOut">
              <a:rPr lang="en-GB" smtClean="0"/>
              <a:t>20/09/2024</a:t>
            </a:fld>
            <a:endParaRPr lang="en-GB"/>
          </a:p>
        </p:txBody>
      </p:sp>
      <p:sp>
        <p:nvSpPr>
          <p:cNvPr id="5" name="Footer Placeholder 4">
            <a:extLst>
              <a:ext uri="{FF2B5EF4-FFF2-40B4-BE49-F238E27FC236}">
                <a16:creationId xmlns:a16="http://schemas.microsoft.com/office/drawing/2014/main" id="{AFE0A8D2-3708-955D-D075-209BEC1810C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D5E6D08B-3AA7-8041-EC50-B1F22581791D}"/>
              </a:ext>
            </a:extLst>
          </p:cNvPr>
          <p:cNvSpPr>
            <a:spLocks noGrp="1"/>
          </p:cNvSpPr>
          <p:nvPr>
            <p:ph type="sldNum" sz="quarter" idx="12"/>
          </p:nvPr>
        </p:nvSpPr>
        <p:spPr/>
        <p:txBody>
          <a:bodyPr/>
          <a:lstStyle/>
          <a:p>
            <a:fld id="{A35587AD-11F6-4515-8496-8B3386E5CFA7}" type="slidenum">
              <a:rPr lang="en-GB" smtClean="0"/>
              <a:t>‹#›</a:t>
            </a:fld>
            <a:endParaRPr lang="en-GB"/>
          </a:p>
        </p:txBody>
      </p:sp>
    </p:spTree>
    <p:extLst>
      <p:ext uri="{BB962C8B-B14F-4D97-AF65-F5344CB8AC3E}">
        <p14:creationId xmlns:p14="http://schemas.microsoft.com/office/powerpoint/2010/main" val="16569348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105ED-A4E2-10D1-EB28-A9E005D13A5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4FA6DCE-5B37-9FB9-AD23-163809F5540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4B476E0-28E0-22F0-EA3C-39561B8F4D4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269F9EE7-7445-C00C-EDD6-AE7148C6CF7F}"/>
              </a:ext>
            </a:extLst>
          </p:cNvPr>
          <p:cNvSpPr>
            <a:spLocks noGrp="1"/>
          </p:cNvSpPr>
          <p:nvPr>
            <p:ph type="dt" sz="half" idx="10"/>
          </p:nvPr>
        </p:nvSpPr>
        <p:spPr/>
        <p:txBody>
          <a:bodyPr/>
          <a:lstStyle/>
          <a:p>
            <a:fld id="{E9B8BE9A-697D-492F-9702-43541375A36D}" type="datetimeFigureOut">
              <a:rPr lang="en-GB" smtClean="0"/>
              <a:t>20/09/2024</a:t>
            </a:fld>
            <a:endParaRPr lang="en-GB"/>
          </a:p>
        </p:txBody>
      </p:sp>
      <p:sp>
        <p:nvSpPr>
          <p:cNvPr id="6" name="Footer Placeholder 5">
            <a:extLst>
              <a:ext uri="{FF2B5EF4-FFF2-40B4-BE49-F238E27FC236}">
                <a16:creationId xmlns:a16="http://schemas.microsoft.com/office/drawing/2014/main" id="{B96BCEBD-96DA-0F7B-28DB-9FF0A97D519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8344770-0FD5-636E-3D6F-D0244096C826}"/>
              </a:ext>
            </a:extLst>
          </p:cNvPr>
          <p:cNvSpPr>
            <a:spLocks noGrp="1"/>
          </p:cNvSpPr>
          <p:nvPr>
            <p:ph type="sldNum" sz="quarter" idx="12"/>
          </p:nvPr>
        </p:nvSpPr>
        <p:spPr/>
        <p:txBody>
          <a:bodyPr/>
          <a:lstStyle/>
          <a:p>
            <a:fld id="{A35587AD-11F6-4515-8496-8B3386E5CFA7}" type="slidenum">
              <a:rPr lang="en-GB" smtClean="0"/>
              <a:t>‹#›</a:t>
            </a:fld>
            <a:endParaRPr lang="en-GB"/>
          </a:p>
        </p:txBody>
      </p:sp>
    </p:spTree>
    <p:extLst>
      <p:ext uri="{BB962C8B-B14F-4D97-AF65-F5344CB8AC3E}">
        <p14:creationId xmlns:p14="http://schemas.microsoft.com/office/powerpoint/2010/main" val="19291152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DDDEF6-C405-EBED-3CA8-C6E3D27DC105}"/>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03A29BE8-CD31-D3E5-D6A5-64F1274CFE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920E19-533B-A3E9-F9B3-4011105B377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41D54D4-0D63-0079-45E9-6BF6E71E1C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BD1B31-99C0-0A2C-AFB6-901DF9018A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E3CCDFF4-AEAF-90D9-1BC3-84E16BFB1C3A}"/>
              </a:ext>
            </a:extLst>
          </p:cNvPr>
          <p:cNvSpPr>
            <a:spLocks noGrp="1"/>
          </p:cNvSpPr>
          <p:nvPr>
            <p:ph type="dt" sz="half" idx="10"/>
          </p:nvPr>
        </p:nvSpPr>
        <p:spPr/>
        <p:txBody>
          <a:bodyPr/>
          <a:lstStyle/>
          <a:p>
            <a:fld id="{E9B8BE9A-697D-492F-9702-43541375A36D}" type="datetimeFigureOut">
              <a:rPr lang="en-GB" smtClean="0"/>
              <a:t>20/09/2024</a:t>
            </a:fld>
            <a:endParaRPr lang="en-GB"/>
          </a:p>
        </p:txBody>
      </p:sp>
      <p:sp>
        <p:nvSpPr>
          <p:cNvPr id="8" name="Footer Placeholder 7">
            <a:extLst>
              <a:ext uri="{FF2B5EF4-FFF2-40B4-BE49-F238E27FC236}">
                <a16:creationId xmlns:a16="http://schemas.microsoft.com/office/drawing/2014/main" id="{8274AD6A-37A0-66A1-BFDB-FD7F901806F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210ECC8E-6091-D610-B79E-061336B21AB1}"/>
              </a:ext>
            </a:extLst>
          </p:cNvPr>
          <p:cNvSpPr>
            <a:spLocks noGrp="1"/>
          </p:cNvSpPr>
          <p:nvPr>
            <p:ph type="sldNum" sz="quarter" idx="12"/>
          </p:nvPr>
        </p:nvSpPr>
        <p:spPr/>
        <p:txBody>
          <a:bodyPr/>
          <a:lstStyle/>
          <a:p>
            <a:fld id="{A35587AD-11F6-4515-8496-8B3386E5CFA7}" type="slidenum">
              <a:rPr lang="en-GB" smtClean="0"/>
              <a:t>‹#›</a:t>
            </a:fld>
            <a:endParaRPr lang="en-GB"/>
          </a:p>
        </p:txBody>
      </p:sp>
    </p:spTree>
    <p:extLst>
      <p:ext uri="{BB962C8B-B14F-4D97-AF65-F5344CB8AC3E}">
        <p14:creationId xmlns:p14="http://schemas.microsoft.com/office/powerpoint/2010/main" val="899937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09003-2881-8363-7B30-C742D1EBE9F2}"/>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F8D58995-81E3-E993-AF93-F12BB1CFA485}"/>
              </a:ext>
            </a:extLst>
          </p:cNvPr>
          <p:cNvSpPr>
            <a:spLocks noGrp="1"/>
          </p:cNvSpPr>
          <p:nvPr>
            <p:ph type="dt" sz="half" idx="10"/>
          </p:nvPr>
        </p:nvSpPr>
        <p:spPr/>
        <p:txBody>
          <a:bodyPr/>
          <a:lstStyle/>
          <a:p>
            <a:fld id="{E9B8BE9A-697D-492F-9702-43541375A36D}" type="datetimeFigureOut">
              <a:rPr lang="en-GB" smtClean="0"/>
              <a:t>20/09/2024</a:t>
            </a:fld>
            <a:endParaRPr lang="en-GB"/>
          </a:p>
        </p:txBody>
      </p:sp>
      <p:sp>
        <p:nvSpPr>
          <p:cNvPr id="4" name="Footer Placeholder 3">
            <a:extLst>
              <a:ext uri="{FF2B5EF4-FFF2-40B4-BE49-F238E27FC236}">
                <a16:creationId xmlns:a16="http://schemas.microsoft.com/office/drawing/2014/main" id="{A934F791-A39A-CB68-3075-C69823298361}"/>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314453A8-8978-85FC-FE8C-3CDE529179E2}"/>
              </a:ext>
            </a:extLst>
          </p:cNvPr>
          <p:cNvSpPr>
            <a:spLocks noGrp="1"/>
          </p:cNvSpPr>
          <p:nvPr>
            <p:ph type="sldNum" sz="quarter" idx="12"/>
          </p:nvPr>
        </p:nvSpPr>
        <p:spPr/>
        <p:txBody>
          <a:bodyPr/>
          <a:lstStyle/>
          <a:p>
            <a:fld id="{A35587AD-11F6-4515-8496-8B3386E5CFA7}" type="slidenum">
              <a:rPr lang="en-GB" smtClean="0"/>
              <a:t>‹#›</a:t>
            </a:fld>
            <a:endParaRPr lang="en-GB"/>
          </a:p>
        </p:txBody>
      </p:sp>
    </p:spTree>
    <p:extLst>
      <p:ext uri="{BB962C8B-B14F-4D97-AF65-F5344CB8AC3E}">
        <p14:creationId xmlns:p14="http://schemas.microsoft.com/office/powerpoint/2010/main" val="9291066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7BEB0C4-B48C-D066-83BA-4A7445A9FD08}"/>
              </a:ext>
            </a:extLst>
          </p:cNvPr>
          <p:cNvSpPr>
            <a:spLocks noGrp="1"/>
          </p:cNvSpPr>
          <p:nvPr>
            <p:ph type="dt" sz="half" idx="10"/>
          </p:nvPr>
        </p:nvSpPr>
        <p:spPr/>
        <p:txBody>
          <a:bodyPr/>
          <a:lstStyle/>
          <a:p>
            <a:fld id="{E9B8BE9A-697D-492F-9702-43541375A36D}" type="datetimeFigureOut">
              <a:rPr lang="en-GB" smtClean="0"/>
              <a:t>20/09/2024</a:t>
            </a:fld>
            <a:endParaRPr lang="en-GB"/>
          </a:p>
        </p:txBody>
      </p:sp>
      <p:sp>
        <p:nvSpPr>
          <p:cNvPr id="3" name="Footer Placeholder 2">
            <a:extLst>
              <a:ext uri="{FF2B5EF4-FFF2-40B4-BE49-F238E27FC236}">
                <a16:creationId xmlns:a16="http://schemas.microsoft.com/office/drawing/2014/main" id="{33927F85-9B50-A34D-37F0-5A3623FB88E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3BAFCB4-B4D1-21A4-4123-E59A22732694}"/>
              </a:ext>
            </a:extLst>
          </p:cNvPr>
          <p:cNvSpPr>
            <a:spLocks noGrp="1"/>
          </p:cNvSpPr>
          <p:nvPr>
            <p:ph type="sldNum" sz="quarter" idx="12"/>
          </p:nvPr>
        </p:nvSpPr>
        <p:spPr/>
        <p:txBody>
          <a:bodyPr/>
          <a:lstStyle/>
          <a:p>
            <a:fld id="{A35587AD-11F6-4515-8496-8B3386E5CFA7}" type="slidenum">
              <a:rPr lang="en-GB" smtClean="0"/>
              <a:t>‹#›</a:t>
            </a:fld>
            <a:endParaRPr lang="en-GB"/>
          </a:p>
        </p:txBody>
      </p:sp>
    </p:spTree>
    <p:extLst>
      <p:ext uri="{BB962C8B-B14F-4D97-AF65-F5344CB8AC3E}">
        <p14:creationId xmlns:p14="http://schemas.microsoft.com/office/powerpoint/2010/main" val="1604897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D2D56-9B41-E9A2-0931-CAEB8B22FE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2A7BF0B9-14F1-2F3C-2862-1FEC285A4C6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6973789-F9EA-7DBC-44A6-BEA6750E4D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7444B1-DA4B-DE88-4917-540C92AD6FE5}"/>
              </a:ext>
            </a:extLst>
          </p:cNvPr>
          <p:cNvSpPr>
            <a:spLocks noGrp="1"/>
          </p:cNvSpPr>
          <p:nvPr>
            <p:ph type="dt" sz="half" idx="10"/>
          </p:nvPr>
        </p:nvSpPr>
        <p:spPr/>
        <p:txBody>
          <a:bodyPr/>
          <a:lstStyle/>
          <a:p>
            <a:fld id="{E9B8BE9A-697D-492F-9702-43541375A36D}" type="datetimeFigureOut">
              <a:rPr lang="en-GB" smtClean="0"/>
              <a:t>20/09/2024</a:t>
            </a:fld>
            <a:endParaRPr lang="en-GB"/>
          </a:p>
        </p:txBody>
      </p:sp>
      <p:sp>
        <p:nvSpPr>
          <p:cNvPr id="6" name="Footer Placeholder 5">
            <a:extLst>
              <a:ext uri="{FF2B5EF4-FFF2-40B4-BE49-F238E27FC236}">
                <a16:creationId xmlns:a16="http://schemas.microsoft.com/office/drawing/2014/main" id="{09EA1332-3387-436F-59CF-1E8CEBD047B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2177570-DD8B-39FA-3A1B-4856FFCD3468}"/>
              </a:ext>
            </a:extLst>
          </p:cNvPr>
          <p:cNvSpPr>
            <a:spLocks noGrp="1"/>
          </p:cNvSpPr>
          <p:nvPr>
            <p:ph type="sldNum" sz="quarter" idx="12"/>
          </p:nvPr>
        </p:nvSpPr>
        <p:spPr/>
        <p:txBody>
          <a:bodyPr/>
          <a:lstStyle/>
          <a:p>
            <a:fld id="{A35587AD-11F6-4515-8496-8B3386E5CFA7}" type="slidenum">
              <a:rPr lang="en-GB" smtClean="0"/>
              <a:t>‹#›</a:t>
            </a:fld>
            <a:endParaRPr lang="en-GB"/>
          </a:p>
        </p:txBody>
      </p:sp>
    </p:spTree>
    <p:extLst>
      <p:ext uri="{BB962C8B-B14F-4D97-AF65-F5344CB8AC3E}">
        <p14:creationId xmlns:p14="http://schemas.microsoft.com/office/powerpoint/2010/main" val="924237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A865F-492E-84B4-C3F5-9DD7D48C0B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96E4126-3A1A-5F2A-8BC6-8940E8D6E8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C5240D5-BC9E-94C7-06A8-99458B529D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3B0B52-762C-2153-D065-543ABACC6A38}"/>
              </a:ext>
            </a:extLst>
          </p:cNvPr>
          <p:cNvSpPr>
            <a:spLocks noGrp="1"/>
          </p:cNvSpPr>
          <p:nvPr>
            <p:ph type="dt" sz="half" idx="10"/>
          </p:nvPr>
        </p:nvSpPr>
        <p:spPr/>
        <p:txBody>
          <a:bodyPr/>
          <a:lstStyle/>
          <a:p>
            <a:fld id="{E9B8BE9A-697D-492F-9702-43541375A36D}" type="datetimeFigureOut">
              <a:rPr lang="en-GB" smtClean="0"/>
              <a:t>20/09/2024</a:t>
            </a:fld>
            <a:endParaRPr lang="en-GB"/>
          </a:p>
        </p:txBody>
      </p:sp>
      <p:sp>
        <p:nvSpPr>
          <p:cNvPr id="6" name="Footer Placeholder 5">
            <a:extLst>
              <a:ext uri="{FF2B5EF4-FFF2-40B4-BE49-F238E27FC236}">
                <a16:creationId xmlns:a16="http://schemas.microsoft.com/office/drawing/2014/main" id="{6717CD39-EEB9-51A2-3EC8-771CF1AF21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74BBCD3-5534-83B5-F47A-E7A9501E64FF}"/>
              </a:ext>
            </a:extLst>
          </p:cNvPr>
          <p:cNvSpPr>
            <a:spLocks noGrp="1"/>
          </p:cNvSpPr>
          <p:nvPr>
            <p:ph type="sldNum" sz="quarter" idx="12"/>
          </p:nvPr>
        </p:nvSpPr>
        <p:spPr/>
        <p:txBody>
          <a:bodyPr/>
          <a:lstStyle/>
          <a:p>
            <a:fld id="{A35587AD-11F6-4515-8496-8B3386E5CFA7}" type="slidenum">
              <a:rPr lang="en-GB" smtClean="0"/>
              <a:t>‹#›</a:t>
            </a:fld>
            <a:endParaRPr lang="en-GB"/>
          </a:p>
        </p:txBody>
      </p:sp>
    </p:spTree>
    <p:extLst>
      <p:ext uri="{BB962C8B-B14F-4D97-AF65-F5344CB8AC3E}">
        <p14:creationId xmlns:p14="http://schemas.microsoft.com/office/powerpoint/2010/main" val="29810330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82CB0-B291-0848-6668-C572C689A99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4BE4898-B0E9-29DF-AF1C-182DA12ADE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89561C-50D9-963C-0ADD-400EEF7BC350}"/>
              </a:ext>
            </a:extLst>
          </p:cNvPr>
          <p:cNvSpPr>
            <a:spLocks noGrp="1"/>
          </p:cNvSpPr>
          <p:nvPr>
            <p:ph type="dt" sz="half" idx="10"/>
          </p:nvPr>
        </p:nvSpPr>
        <p:spPr/>
        <p:txBody>
          <a:bodyPr/>
          <a:lstStyle/>
          <a:p>
            <a:fld id="{E9B8BE9A-697D-492F-9702-43541375A36D}" type="datetimeFigureOut">
              <a:rPr lang="en-GB" smtClean="0"/>
              <a:t>20/09/2024</a:t>
            </a:fld>
            <a:endParaRPr lang="en-GB"/>
          </a:p>
        </p:txBody>
      </p:sp>
      <p:sp>
        <p:nvSpPr>
          <p:cNvPr id="5" name="Footer Placeholder 4">
            <a:extLst>
              <a:ext uri="{FF2B5EF4-FFF2-40B4-BE49-F238E27FC236}">
                <a16:creationId xmlns:a16="http://schemas.microsoft.com/office/drawing/2014/main" id="{D980B7C3-B9BA-5483-12B5-113131F2FFB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99C7B3E-9B6D-C16D-A0DB-DDD728ACC642}"/>
              </a:ext>
            </a:extLst>
          </p:cNvPr>
          <p:cNvSpPr>
            <a:spLocks noGrp="1"/>
          </p:cNvSpPr>
          <p:nvPr>
            <p:ph type="sldNum" sz="quarter" idx="12"/>
          </p:nvPr>
        </p:nvSpPr>
        <p:spPr/>
        <p:txBody>
          <a:bodyPr/>
          <a:lstStyle/>
          <a:p>
            <a:fld id="{A35587AD-11F6-4515-8496-8B3386E5CFA7}" type="slidenum">
              <a:rPr lang="en-GB" smtClean="0"/>
              <a:t>‹#›</a:t>
            </a:fld>
            <a:endParaRPr lang="en-GB"/>
          </a:p>
        </p:txBody>
      </p:sp>
    </p:spTree>
    <p:extLst>
      <p:ext uri="{BB962C8B-B14F-4D97-AF65-F5344CB8AC3E}">
        <p14:creationId xmlns:p14="http://schemas.microsoft.com/office/powerpoint/2010/main" val="2180821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DB937AA-CC3E-F448-AB00-A30CAC3DBEB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8AD8B33-7085-6386-5C68-3D0E7B9811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12D1111-15FE-74E2-2A3D-8F1E821F0D23}"/>
              </a:ext>
            </a:extLst>
          </p:cNvPr>
          <p:cNvSpPr>
            <a:spLocks noGrp="1"/>
          </p:cNvSpPr>
          <p:nvPr>
            <p:ph type="dt" sz="half" idx="10"/>
          </p:nvPr>
        </p:nvSpPr>
        <p:spPr/>
        <p:txBody>
          <a:bodyPr/>
          <a:lstStyle/>
          <a:p>
            <a:fld id="{E9B8BE9A-697D-492F-9702-43541375A36D}" type="datetimeFigureOut">
              <a:rPr lang="en-GB" smtClean="0"/>
              <a:t>20/09/2024</a:t>
            </a:fld>
            <a:endParaRPr lang="en-GB"/>
          </a:p>
        </p:txBody>
      </p:sp>
      <p:sp>
        <p:nvSpPr>
          <p:cNvPr id="5" name="Footer Placeholder 4">
            <a:extLst>
              <a:ext uri="{FF2B5EF4-FFF2-40B4-BE49-F238E27FC236}">
                <a16:creationId xmlns:a16="http://schemas.microsoft.com/office/drawing/2014/main" id="{271A5F62-6DD3-1AED-1DA7-2DB16518CA7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F3C1E5B-FAD6-8A5D-836A-DB77F8186715}"/>
              </a:ext>
            </a:extLst>
          </p:cNvPr>
          <p:cNvSpPr>
            <a:spLocks noGrp="1"/>
          </p:cNvSpPr>
          <p:nvPr>
            <p:ph type="sldNum" sz="quarter" idx="12"/>
          </p:nvPr>
        </p:nvSpPr>
        <p:spPr/>
        <p:txBody>
          <a:bodyPr/>
          <a:lstStyle/>
          <a:p>
            <a:fld id="{A35587AD-11F6-4515-8496-8B3386E5CFA7}" type="slidenum">
              <a:rPr lang="en-GB" smtClean="0"/>
              <a:t>‹#›</a:t>
            </a:fld>
            <a:endParaRPr lang="en-GB"/>
          </a:p>
        </p:txBody>
      </p:sp>
    </p:spTree>
    <p:extLst>
      <p:ext uri="{BB962C8B-B14F-4D97-AF65-F5344CB8AC3E}">
        <p14:creationId xmlns:p14="http://schemas.microsoft.com/office/powerpoint/2010/main" val="15306568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6_Content basic white">
    <p:bg>
      <p:bgPr>
        <a:solidFill>
          <a:srgbClr val="B6D3F0"/>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35E4B13-61E0-6240-A456-1476E3920D42}"/>
              </a:ext>
            </a:extLst>
          </p:cNvPr>
          <p:cNvSpPr>
            <a:spLocks noGrp="1"/>
          </p:cNvSpPr>
          <p:nvPr>
            <p:ph type="ctrTitle" hasCustomPrompt="1"/>
          </p:nvPr>
        </p:nvSpPr>
        <p:spPr>
          <a:xfrm>
            <a:off x="686400" y="686294"/>
            <a:ext cx="10873500" cy="378069"/>
          </a:xfrm>
        </p:spPr>
        <p:txBody>
          <a:bodyPr anchor="b">
            <a:normAutofit/>
          </a:bodyPr>
          <a:lstStyle>
            <a:lvl1pPr algn="l">
              <a:defRPr sz="2000" b="1" i="0" baseline="0">
                <a:latin typeface="Arial" panose="020B0604020202020204" pitchFamily="34" charset="0"/>
              </a:defRPr>
            </a:lvl1pPr>
          </a:lstStyle>
          <a:p>
            <a:r>
              <a:rPr lang="en-GB" dirty="0"/>
              <a:t>Slide title – Please use Arial, size 30</a:t>
            </a:r>
          </a:p>
        </p:txBody>
      </p:sp>
      <p:sp>
        <p:nvSpPr>
          <p:cNvPr id="7" name="Subtitle 2">
            <a:extLst>
              <a:ext uri="{FF2B5EF4-FFF2-40B4-BE49-F238E27FC236}">
                <a16:creationId xmlns:a16="http://schemas.microsoft.com/office/drawing/2014/main" id="{484E7E6F-09F3-114B-ADBA-C4230F9F7CE1}"/>
              </a:ext>
            </a:extLst>
          </p:cNvPr>
          <p:cNvSpPr>
            <a:spLocks noGrp="1"/>
          </p:cNvSpPr>
          <p:nvPr>
            <p:ph type="subTitle" idx="1" hasCustomPrompt="1"/>
          </p:nvPr>
        </p:nvSpPr>
        <p:spPr>
          <a:xfrm>
            <a:off x="686400" y="1439778"/>
            <a:ext cx="10873500" cy="4341474"/>
          </a:xfrm>
        </p:spPr>
        <p:txBody>
          <a:bodyPr>
            <a:normAutofit/>
          </a:bodyPr>
          <a:lstStyle>
            <a:lvl1pPr marL="0" marR="0" indent="0" algn="l" rtl="0">
              <a:lnSpc>
                <a:spcPct val="100000"/>
              </a:lnSpc>
              <a:spcBef>
                <a:spcPts val="0"/>
              </a:spcBef>
              <a:buClr>
                <a:srgbClr val="272727"/>
              </a:buClr>
              <a:buSzPct val="100000"/>
              <a:buFont typeface="Arial" panose="020B0604020202020204" pitchFamily="34" charset="0"/>
              <a:buNone/>
              <a:defRPr sz="2000" baseline="0">
                <a:solidFill>
                  <a:schemeClr val="tx1"/>
                </a:solidFill>
                <a:latin typeface="Arial" panose="020B0604020202020204" pitchFamily="34" charset="0"/>
              </a:defRPr>
            </a:lvl1pPr>
            <a:lvl2pPr marL="457226" indent="0" algn="ctr">
              <a:buNone/>
              <a:defRPr sz="2000"/>
            </a:lvl2pPr>
            <a:lvl3pPr marL="914453" indent="0" algn="ctr">
              <a:buNone/>
              <a:defRPr sz="1800"/>
            </a:lvl3pPr>
            <a:lvl4pPr marL="1371678" indent="0" algn="ctr">
              <a:buNone/>
              <a:defRPr sz="1600"/>
            </a:lvl4pPr>
            <a:lvl5pPr marL="1828904" indent="0" algn="ctr">
              <a:buNone/>
              <a:defRPr sz="1600"/>
            </a:lvl5pPr>
            <a:lvl6pPr marL="2286131" indent="0" algn="ctr">
              <a:buNone/>
              <a:defRPr sz="1600"/>
            </a:lvl6pPr>
            <a:lvl7pPr marL="2743356" indent="0" algn="ctr">
              <a:buNone/>
              <a:defRPr sz="1600"/>
            </a:lvl7pPr>
            <a:lvl8pPr marL="3200583" indent="0" algn="ctr">
              <a:buNone/>
              <a:defRPr sz="1600"/>
            </a:lvl8pPr>
            <a:lvl9pPr marL="3657809" indent="0" algn="ctr">
              <a:buNone/>
              <a:defRPr sz="1600"/>
            </a:lvl9pPr>
          </a:lstStyle>
          <a:p>
            <a:r>
              <a:rPr lang="en-GB" dirty="0"/>
              <a:t>Please do not change the formatting of this slide. </a:t>
            </a:r>
          </a:p>
          <a:p>
            <a:endParaRPr lang="en-GB" dirty="0"/>
          </a:p>
          <a:p>
            <a:r>
              <a:rPr lang="en-GB" dirty="0"/>
              <a:t>Remember to keep your slides brief. Only include key points of prompts on the screen.</a:t>
            </a:r>
          </a:p>
          <a:p>
            <a:endParaRPr lang="en-GB" dirty="0"/>
          </a:p>
          <a:p>
            <a:r>
              <a:rPr lang="en-GB" dirty="0"/>
              <a:t>Retain the formatting set out here. Elements of the slide are aligned as per the brand guidelines.</a:t>
            </a:r>
          </a:p>
          <a:p>
            <a:endParaRPr lang="en-GB" dirty="0"/>
          </a:p>
          <a:p>
            <a:r>
              <a:rPr lang="en-GB" dirty="0"/>
              <a:t>If emphasis of one or two words is called for then bold text is permitted, though use this sparingly.</a:t>
            </a:r>
          </a:p>
          <a:p>
            <a:endParaRPr lang="en-GB" dirty="0"/>
          </a:p>
          <a:p>
            <a:r>
              <a:rPr lang="en-GB" dirty="0"/>
              <a:t>For more information about our editorial style and to download the latest templates, visit: londonmet.ac.uk/brand.</a:t>
            </a:r>
          </a:p>
          <a:p>
            <a:endParaRPr lang="en-GB" dirty="0"/>
          </a:p>
          <a:p>
            <a:r>
              <a:rPr lang="en-GB" dirty="0"/>
              <a:t> </a:t>
            </a:r>
          </a:p>
        </p:txBody>
      </p:sp>
      <p:sp>
        <p:nvSpPr>
          <p:cNvPr id="8" name="Text Placeholder 19">
            <a:extLst>
              <a:ext uri="{FF2B5EF4-FFF2-40B4-BE49-F238E27FC236}">
                <a16:creationId xmlns:a16="http://schemas.microsoft.com/office/drawing/2014/main" id="{48BC4001-3417-BF4F-B60B-111A81D16807}"/>
              </a:ext>
            </a:extLst>
          </p:cNvPr>
          <p:cNvSpPr>
            <a:spLocks noGrp="1"/>
          </p:cNvSpPr>
          <p:nvPr>
            <p:ph type="body" sz="quarter" idx="11" hasCustomPrompt="1"/>
          </p:nvPr>
        </p:nvSpPr>
        <p:spPr>
          <a:xfrm>
            <a:off x="686400" y="6066264"/>
            <a:ext cx="4538133" cy="262078"/>
          </a:xfrm>
          <a:prstGeom prst="rect">
            <a:avLst/>
          </a:prstGeom>
        </p:spPr>
        <p:txBody>
          <a:bodyPr/>
          <a:lstStyle>
            <a:lvl1pPr marL="0" indent="0">
              <a:buNone/>
              <a:defRPr sz="1200">
                <a:latin typeface="Arial" panose="020B0604020202020204" pitchFamily="34" charset="0"/>
                <a:cs typeface="Arial" panose="020B0604020202020204" pitchFamily="34" charset="0"/>
              </a:defRPr>
            </a:lvl1pPr>
          </a:lstStyle>
          <a:p>
            <a:pPr lvl="0"/>
            <a:r>
              <a:rPr lang="en-GB" dirty="0"/>
              <a:t>Insert footer or references if needed</a:t>
            </a:r>
          </a:p>
        </p:txBody>
      </p:sp>
    </p:spTree>
    <p:extLst>
      <p:ext uri="{BB962C8B-B14F-4D97-AF65-F5344CB8AC3E}">
        <p14:creationId xmlns:p14="http://schemas.microsoft.com/office/powerpoint/2010/main" val="1200077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ntent basic white">
    <p:bg>
      <p:bgPr>
        <a:solidFill>
          <a:srgbClr val="FFE2C3"/>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D4F382B-AD57-014F-9276-B43AA968FC78}"/>
              </a:ext>
            </a:extLst>
          </p:cNvPr>
          <p:cNvSpPr>
            <a:spLocks noGrp="1"/>
          </p:cNvSpPr>
          <p:nvPr>
            <p:ph type="ctrTitle" hasCustomPrompt="1"/>
          </p:nvPr>
        </p:nvSpPr>
        <p:spPr>
          <a:xfrm>
            <a:off x="686400" y="686294"/>
            <a:ext cx="10873500" cy="378069"/>
          </a:xfrm>
        </p:spPr>
        <p:txBody>
          <a:bodyPr anchor="b">
            <a:normAutofit/>
          </a:bodyPr>
          <a:lstStyle>
            <a:lvl1pPr algn="l">
              <a:defRPr sz="2000" b="1" i="0" baseline="0">
                <a:latin typeface="Arial" panose="020B0604020202020204" pitchFamily="34" charset="0"/>
              </a:defRPr>
            </a:lvl1pPr>
          </a:lstStyle>
          <a:p>
            <a:r>
              <a:rPr lang="en-GB" dirty="0"/>
              <a:t>Slide title – Please use Arial, size 30</a:t>
            </a:r>
          </a:p>
        </p:txBody>
      </p:sp>
      <p:sp>
        <p:nvSpPr>
          <p:cNvPr id="7" name="Subtitle 2">
            <a:extLst>
              <a:ext uri="{FF2B5EF4-FFF2-40B4-BE49-F238E27FC236}">
                <a16:creationId xmlns:a16="http://schemas.microsoft.com/office/drawing/2014/main" id="{2A58A597-313D-E541-83E8-4A278668766C}"/>
              </a:ext>
            </a:extLst>
          </p:cNvPr>
          <p:cNvSpPr>
            <a:spLocks noGrp="1"/>
          </p:cNvSpPr>
          <p:nvPr>
            <p:ph type="subTitle" idx="1" hasCustomPrompt="1"/>
          </p:nvPr>
        </p:nvSpPr>
        <p:spPr>
          <a:xfrm>
            <a:off x="686400" y="1439778"/>
            <a:ext cx="10873500" cy="4341474"/>
          </a:xfrm>
        </p:spPr>
        <p:txBody>
          <a:bodyPr>
            <a:normAutofit/>
          </a:bodyPr>
          <a:lstStyle>
            <a:lvl1pPr marL="0" marR="0" indent="0" algn="l" rtl="0">
              <a:lnSpc>
                <a:spcPct val="100000"/>
              </a:lnSpc>
              <a:spcBef>
                <a:spcPts val="0"/>
              </a:spcBef>
              <a:buClr>
                <a:srgbClr val="272727"/>
              </a:buClr>
              <a:buSzPct val="100000"/>
              <a:buFont typeface="Arial" panose="020B0604020202020204" pitchFamily="34" charset="0"/>
              <a:buNone/>
              <a:defRPr sz="2000" baseline="0">
                <a:solidFill>
                  <a:schemeClr val="tx1"/>
                </a:solidFill>
                <a:latin typeface="Arial" panose="020B0604020202020204" pitchFamily="34" charset="0"/>
              </a:defRPr>
            </a:lvl1pPr>
            <a:lvl2pPr marL="457226" indent="0" algn="ctr">
              <a:buNone/>
              <a:defRPr sz="2000"/>
            </a:lvl2pPr>
            <a:lvl3pPr marL="914453" indent="0" algn="ctr">
              <a:buNone/>
              <a:defRPr sz="1800"/>
            </a:lvl3pPr>
            <a:lvl4pPr marL="1371678" indent="0" algn="ctr">
              <a:buNone/>
              <a:defRPr sz="1600"/>
            </a:lvl4pPr>
            <a:lvl5pPr marL="1828904" indent="0" algn="ctr">
              <a:buNone/>
              <a:defRPr sz="1600"/>
            </a:lvl5pPr>
            <a:lvl6pPr marL="2286131" indent="0" algn="ctr">
              <a:buNone/>
              <a:defRPr sz="1600"/>
            </a:lvl6pPr>
            <a:lvl7pPr marL="2743356" indent="0" algn="ctr">
              <a:buNone/>
              <a:defRPr sz="1600"/>
            </a:lvl7pPr>
            <a:lvl8pPr marL="3200583" indent="0" algn="ctr">
              <a:buNone/>
              <a:defRPr sz="1600"/>
            </a:lvl8pPr>
            <a:lvl9pPr marL="3657809" indent="0" algn="ctr">
              <a:buNone/>
              <a:defRPr sz="1600"/>
            </a:lvl9pPr>
          </a:lstStyle>
          <a:p>
            <a:r>
              <a:rPr lang="en-GB" dirty="0"/>
              <a:t>Please do not change the formatting of this slide. </a:t>
            </a:r>
          </a:p>
          <a:p>
            <a:endParaRPr lang="en-GB" dirty="0"/>
          </a:p>
          <a:p>
            <a:r>
              <a:rPr lang="en-GB" dirty="0"/>
              <a:t>Remember to keep your slides brief. Only include key points of prompts on the screen.</a:t>
            </a:r>
          </a:p>
          <a:p>
            <a:endParaRPr lang="en-GB" dirty="0"/>
          </a:p>
          <a:p>
            <a:r>
              <a:rPr lang="en-GB" dirty="0"/>
              <a:t>Retain the formatting set out here. Elements of the slide are aligned as per the brand guidelines.</a:t>
            </a:r>
          </a:p>
          <a:p>
            <a:endParaRPr lang="en-GB" dirty="0"/>
          </a:p>
          <a:p>
            <a:r>
              <a:rPr lang="en-GB" dirty="0"/>
              <a:t>If emphasis of one or two words is called for then bold text is permitted, though use this sparingly.</a:t>
            </a:r>
          </a:p>
          <a:p>
            <a:endParaRPr lang="en-GB" dirty="0"/>
          </a:p>
          <a:p>
            <a:r>
              <a:rPr lang="en-GB" dirty="0"/>
              <a:t>For more information about our editorial style and to download the latest templates, visit: londonmet.ac.uk/brand.</a:t>
            </a:r>
          </a:p>
          <a:p>
            <a:endParaRPr lang="en-GB" dirty="0"/>
          </a:p>
          <a:p>
            <a:r>
              <a:rPr lang="en-GB" dirty="0"/>
              <a:t> </a:t>
            </a:r>
          </a:p>
        </p:txBody>
      </p:sp>
      <p:sp>
        <p:nvSpPr>
          <p:cNvPr id="8" name="Text Placeholder 19">
            <a:extLst>
              <a:ext uri="{FF2B5EF4-FFF2-40B4-BE49-F238E27FC236}">
                <a16:creationId xmlns:a16="http://schemas.microsoft.com/office/drawing/2014/main" id="{6FF83422-BCB9-1845-B2A5-64B504EE138A}"/>
              </a:ext>
            </a:extLst>
          </p:cNvPr>
          <p:cNvSpPr>
            <a:spLocks noGrp="1"/>
          </p:cNvSpPr>
          <p:nvPr>
            <p:ph type="body" sz="quarter" idx="11" hasCustomPrompt="1"/>
          </p:nvPr>
        </p:nvSpPr>
        <p:spPr>
          <a:xfrm>
            <a:off x="686400" y="6066264"/>
            <a:ext cx="4538133" cy="262078"/>
          </a:xfrm>
          <a:prstGeom prst="rect">
            <a:avLst/>
          </a:prstGeom>
        </p:spPr>
        <p:txBody>
          <a:bodyPr/>
          <a:lstStyle>
            <a:lvl1pPr marL="0" indent="0">
              <a:buNone/>
              <a:defRPr sz="1200">
                <a:latin typeface="Arial" panose="020B0604020202020204" pitchFamily="34" charset="0"/>
                <a:cs typeface="Arial" panose="020B0604020202020204" pitchFamily="34" charset="0"/>
              </a:defRPr>
            </a:lvl1pPr>
          </a:lstStyle>
          <a:p>
            <a:pPr lvl="0"/>
            <a:r>
              <a:rPr lang="en-GB" dirty="0"/>
              <a:t>Insert footer or references if needed</a:t>
            </a:r>
          </a:p>
        </p:txBody>
      </p:sp>
    </p:spTree>
    <p:extLst>
      <p:ext uri="{BB962C8B-B14F-4D97-AF65-F5344CB8AC3E}">
        <p14:creationId xmlns:p14="http://schemas.microsoft.com/office/powerpoint/2010/main" val="14272019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ontent basic white">
    <p:bg>
      <p:bgPr>
        <a:solidFill>
          <a:srgbClr val="FEF2BE"/>
        </a:solidFill>
        <a:effectLst/>
      </p:bgPr>
    </p:bg>
    <p:spTree>
      <p:nvGrpSpPr>
        <p:cNvPr id="1" name=""/>
        <p:cNvGrpSpPr/>
        <p:nvPr/>
      </p:nvGrpSpPr>
      <p:grpSpPr>
        <a:xfrm>
          <a:off x="0" y="0"/>
          <a:ext cx="0" cy="0"/>
          <a:chOff x="0" y="0"/>
          <a:chExt cx="0" cy="0"/>
        </a:xfrm>
      </p:grpSpPr>
      <p:sp>
        <p:nvSpPr>
          <p:cNvPr id="3" name="Title 1"/>
          <p:cNvSpPr>
            <a:spLocks noGrp="1"/>
          </p:cNvSpPr>
          <p:nvPr>
            <p:ph type="ctrTitle" hasCustomPrompt="1"/>
          </p:nvPr>
        </p:nvSpPr>
        <p:spPr>
          <a:xfrm>
            <a:off x="686400" y="686294"/>
            <a:ext cx="10873500" cy="378069"/>
          </a:xfrm>
        </p:spPr>
        <p:txBody>
          <a:bodyPr anchor="b">
            <a:normAutofit/>
          </a:bodyPr>
          <a:lstStyle>
            <a:lvl1pPr algn="l">
              <a:defRPr sz="2000" b="1" i="0" baseline="0">
                <a:latin typeface="Arial" panose="020B0604020202020204" pitchFamily="34" charset="0"/>
              </a:defRPr>
            </a:lvl1pPr>
          </a:lstStyle>
          <a:p>
            <a:r>
              <a:rPr lang="en-GB" dirty="0"/>
              <a:t>Slide title – Please use Arial, size 30</a:t>
            </a:r>
          </a:p>
        </p:txBody>
      </p:sp>
      <p:sp>
        <p:nvSpPr>
          <p:cNvPr id="4" name="Subtitle 2"/>
          <p:cNvSpPr>
            <a:spLocks noGrp="1"/>
          </p:cNvSpPr>
          <p:nvPr>
            <p:ph type="subTitle" idx="1" hasCustomPrompt="1"/>
          </p:nvPr>
        </p:nvSpPr>
        <p:spPr>
          <a:xfrm>
            <a:off x="686400" y="1439778"/>
            <a:ext cx="10873500" cy="4341474"/>
          </a:xfrm>
        </p:spPr>
        <p:txBody>
          <a:bodyPr>
            <a:normAutofit/>
          </a:bodyPr>
          <a:lstStyle>
            <a:lvl1pPr marL="0" marR="0" indent="0" algn="l" rtl="0">
              <a:lnSpc>
                <a:spcPct val="100000"/>
              </a:lnSpc>
              <a:spcBef>
                <a:spcPts val="0"/>
              </a:spcBef>
              <a:buClr>
                <a:srgbClr val="272727"/>
              </a:buClr>
              <a:buSzPct val="100000"/>
              <a:buFont typeface="Arial" panose="020B0604020202020204" pitchFamily="34" charset="0"/>
              <a:buNone/>
              <a:defRPr sz="2000" baseline="0">
                <a:solidFill>
                  <a:schemeClr val="tx1"/>
                </a:solidFill>
                <a:latin typeface="Arial" panose="020B0604020202020204" pitchFamily="34" charset="0"/>
              </a:defRPr>
            </a:lvl1pPr>
            <a:lvl2pPr marL="457226" indent="0" algn="ctr">
              <a:buNone/>
              <a:defRPr sz="2000"/>
            </a:lvl2pPr>
            <a:lvl3pPr marL="914453" indent="0" algn="ctr">
              <a:buNone/>
              <a:defRPr sz="1800"/>
            </a:lvl3pPr>
            <a:lvl4pPr marL="1371678" indent="0" algn="ctr">
              <a:buNone/>
              <a:defRPr sz="1600"/>
            </a:lvl4pPr>
            <a:lvl5pPr marL="1828904" indent="0" algn="ctr">
              <a:buNone/>
              <a:defRPr sz="1600"/>
            </a:lvl5pPr>
            <a:lvl6pPr marL="2286131" indent="0" algn="ctr">
              <a:buNone/>
              <a:defRPr sz="1600"/>
            </a:lvl6pPr>
            <a:lvl7pPr marL="2743356" indent="0" algn="ctr">
              <a:buNone/>
              <a:defRPr sz="1600"/>
            </a:lvl7pPr>
            <a:lvl8pPr marL="3200583" indent="0" algn="ctr">
              <a:buNone/>
              <a:defRPr sz="1600"/>
            </a:lvl8pPr>
            <a:lvl9pPr marL="3657809" indent="0" algn="ctr">
              <a:buNone/>
              <a:defRPr sz="1600"/>
            </a:lvl9pPr>
          </a:lstStyle>
          <a:p>
            <a:r>
              <a:rPr lang="en-GB" dirty="0"/>
              <a:t>Please do not change the formatting of this slide. </a:t>
            </a:r>
          </a:p>
          <a:p>
            <a:endParaRPr lang="en-GB" dirty="0"/>
          </a:p>
          <a:p>
            <a:r>
              <a:rPr lang="en-GB" dirty="0"/>
              <a:t>Remember to keep your slides brief. Only include key points of prompts on the screen.</a:t>
            </a:r>
          </a:p>
          <a:p>
            <a:endParaRPr lang="en-GB" dirty="0"/>
          </a:p>
          <a:p>
            <a:r>
              <a:rPr lang="en-GB" dirty="0"/>
              <a:t>Retain the formatting set out here. Elements of the slide are aligned as per the brand guidelines.</a:t>
            </a:r>
          </a:p>
          <a:p>
            <a:endParaRPr lang="en-GB" dirty="0"/>
          </a:p>
          <a:p>
            <a:r>
              <a:rPr lang="en-GB" dirty="0"/>
              <a:t>If emphasis of one or two words is called for then bold text is permitted, though use this sparingly.</a:t>
            </a:r>
          </a:p>
          <a:p>
            <a:endParaRPr lang="en-GB" dirty="0"/>
          </a:p>
          <a:p>
            <a:r>
              <a:rPr lang="en-GB" dirty="0"/>
              <a:t>For more information about our editorial style and to download the latest templates, visit: londonmet.ac.uk/brand.</a:t>
            </a:r>
          </a:p>
          <a:p>
            <a:endParaRPr lang="en-GB" dirty="0"/>
          </a:p>
          <a:p>
            <a:r>
              <a:rPr lang="en-GB" dirty="0"/>
              <a:t> </a:t>
            </a:r>
          </a:p>
        </p:txBody>
      </p:sp>
      <p:sp>
        <p:nvSpPr>
          <p:cNvPr id="5" name="Text Placeholder 19">
            <a:extLst>
              <a:ext uri="{FF2B5EF4-FFF2-40B4-BE49-F238E27FC236}">
                <a16:creationId xmlns:a16="http://schemas.microsoft.com/office/drawing/2014/main" id="{B37F5458-2C23-E140-904D-A2D191910E2F}"/>
              </a:ext>
            </a:extLst>
          </p:cNvPr>
          <p:cNvSpPr>
            <a:spLocks noGrp="1"/>
          </p:cNvSpPr>
          <p:nvPr>
            <p:ph type="body" sz="quarter" idx="11" hasCustomPrompt="1"/>
          </p:nvPr>
        </p:nvSpPr>
        <p:spPr>
          <a:xfrm>
            <a:off x="686400" y="6066264"/>
            <a:ext cx="4538133" cy="262078"/>
          </a:xfrm>
          <a:prstGeom prst="rect">
            <a:avLst/>
          </a:prstGeom>
        </p:spPr>
        <p:txBody>
          <a:bodyPr/>
          <a:lstStyle>
            <a:lvl1pPr marL="0" indent="0">
              <a:buNone/>
              <a:defRPr sz="1200">
                <a:latin typeface="Arial" panose="020B0604020202020204" pitchFamily="34" charset="0"/>
                <a:cs typeface="Arial" panose="020B0604020202020204" pitchFamily="34" charset="0"/>
              </a:defRPr>
            </a:lvl1pPr>
          </a:lstStyle>
          <a:p>
            <a:pPr lvl="0"/>
            <a:r>
              <a:rPr lang="en-GB" dirty="0"/>
              <a:t>Insert footer or references if needed</a:t>
            </a:r>
          </a:p>
        </p:txBody>
      </p:sp>
    </p:spTree>
    <p:extLst>
      <p:ext uri="{BB962C8B-B14F-4D97-AF65-F5344CB8AC3E}">
        <p14:creationId xmlns:p14="http://schemas.microsoft.com/office/powerpoint/2010/main" val="41337179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2_End white">
    <p:bg>
      <p:bgPr>
        <a:solidFill>
          <a:srgbClr val="FFE2C3"/>
        </a:solidFill>
        <a:effectLst/>
      </p:bgPr>
    </p:bg>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FD1DB831-A95E-AB44-95F4-B5083655B63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2000" y="431933"/>
            <a:ext cx="2533541" cy="651465"/>
          </a:xfrm>
          <a:prstGeom prst="rect">
            <a:avLst/>
          </a:prstGeom>
        </p:spPr>
      </p:pic>
      <p:sp>
        <p:nvSpPr>
          <p:cNvPr id="13" name="Title 1">
            <a:extLst>
              <a:ext uri="{FF2B5EF4-FFF2-40B4-BE49-F238E27FC236}">
                <a16:creationId xmlns:a16="http://schemas.microsoft.com/office/drawing/2014/main" id="{E896FE63-FC48-C44A-A1A6-DA6B7E05F9D8}"/>
              </a:ext>
            </a:extLst>
          </p:cNvPr>
          <p:cNvSpPr>
            <a:spLocks noGrp="1"/>
          </p:cNvSpPr>
          <p:nvPr>
            <p:ph type="title" hasCustomPrompt="1"/>
          </p:nvPr>
        </p:nvSpPr>
        <p:spPr>
          <a:xfrm>
            <a:off x="655200" y="3037630"/>
            <a:ext cx="10515600" cy="1325563"/>
          </a:xfrm>
          <a:prstGeom prst="rect">
            <a:avLst/>
          </a:prstGeom>
          <a:noFill/>
        </p:spPr>
        <p:txBody>
          <a:bodyPr>
            <a:normAutofit/>
          </a:bodyPr>
          <a:lstStyle>
            <a:lvl1pPr>
              <a:defRPr sz="4400" b="1" baseline="0">
                <a:solidFill>
                  <a:schemeClr val="tx1"/>
                </a:solidFill>
                <a:latin typeface="Arial" panose="020B0604020202020204" pitchFamily="34" charset="0"/>
                <a:cs typeface="Arial" panose="020B0604020202020204" pitchFamily="34" charset="0"/>
              </a:defRPr>
            </a:lvl1pPr>
          </a:lstStyle>
          <a:p>
            <a:r>
              <a:rPr lang="en-GB" dirty="0"/>
              <a:t>Thank you for listening...</a:t>
            </a:r>
          </a:p>
        </p:txBody>
      </p:sp>
      <p:sp>
        <p:nvSpPr>
          <p:cNvPr id="14" name="Text Placeholder 19">
            <a:extLst>
              <a:ext uri="{FF2B5EF4-FFF2-40B4-BE49-F238E27FC236}">
                <a16:creationId xmlns:a16="http://schemas.microsoft.com/office/drawing/2014/main" id="{887A45AE-849E-BA4E-B5FF-B76F9DC5D15A}"/>
              </a:ext>
            </a:extLst>
          </p:cNvPr>
          <p:cNvSpPr>
            <a:spLocks noGrp="1"/>
          </p:cNvSpPr>
          <p:nvPr>
            <p:ph type="body" sz="quarter" idx="11" hasCustomPrompt="1"/>
          </p:nvPr>
        </p:nvSpPr>
        <p:spPr>
          <a:xfrm>
            <a:off x="432000" y="6163989"/>
            <a:ext cx="4538133" cy="262078"/>
          </a:xfrm>
          <a:prstGeom prst="rect">
            <a:avLst/>
          </a:prstGeom>
        </p:spPr>
        <p:txBody>
          <a:bodyPr/>
          <a:lstStyle>
            <a:lvl1pPr marL="0" indent="0">
              <a:buNone/>
              <a:defRPr sz="1200">
                <a:latin typeface="Arial" panose="020B0604020202020204" pitchFamily="34" charset="0"/>
                <a:cs typeface="Arial" panose="020B0604020202020204" pitchFamily="34" charset="0"/>
              </a:defRPr>
            </a:lvl1pPr>
          </a:lstStyle>
          <a:p>
            <a:pPr lvl="0"/>
            <a:r>
              <a:rPr lang="en-GB" dirty="0" err="1"/>
              <a:t>emailaddress@londonmet.ac.uk</a:t>
            </a:r>
            <a:endParaRPr lang="en-GB" dirty="0"/>
          </a:p>
        </p:txBody>
      </p:sp>
    </p:spTree>
    <p:extLst>
      <p:ext uri="{BB962C8B-B14F-4D97-AF65-F5344CB8AC3E}">
        <p14:creationId xmlns:p14="http://schemas.microsoft.com/office/powerpoint/2010/main" val="776721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DCE730-ED01-F6A0-DD90-39B3339199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F535BF0-431D-3C3B-FA10-811FA3B4A3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B273376-E212-399A-C038-ED97DB5313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B8BE9A-697D-492F-9702-43541375A36D}" type="datetimeFigureOut">
              <a:rPr lang="en-GB" smtClean="0"/>
              <a:t>20/09/2024</a:t>
            </a:fld>
            <a:endParaRPr lang="en-GB"/>
          </a:p>
        </p:txBody>
      </p:sp>
      <p:sp>
        <p:nvSpPr>
          <p:cNvPr id="5" name="Footer Placeholder 4">
            <a:extLst>
              <a:ext uri="{FF2B5EF4-FFF2-40B4-BE49-F238E27FC236}">
                <a16:creationId xmlns:a16="http://schemas.microsoft.com/office/drawing/2014/main" id="{228C16AC-5816-1C1D-F171-5A2EC23E97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02419FA1-374E-4534-9148-09AC658C29E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35587AD-11F6-4515-8496-8B3386E5CFA7}" type="slidenum">
              <a:rPr lang="en-GB" smtClean="0"/>
              <a:t>‹#›</a:t>
            </a:fld>
            <a:endParaRPr lang="en-GB"/>
          </a:p>
        </p:txBody>
      </p:sp>
    </p:spTree>
    <p:extLst>
      <p:ext uri="{BB962C8B-B14F-4D97-AF65-F5344CB8AC3E}">
        <p14:creationId xmlns:p14="http://schemas.microsoft.com/office/powerpoint/2010/main" val="37493593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583045727"/>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Lst>
  <p:txStyles>
    <p:titleStyle>
      <a:lvl1pPr algn="l" defTabSz="914453"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3" indent="-228613" algn="l" defTabSz="914453" rtl="0" eaLnBrk="1" latinLnBrk="0" hangingPunct="1">
        <a:lnSpc>
          <a:spcPct val="90000"/>
        </a:lnSpc>
        <a:spcBef>
          <a:spcPts val="1001"/>
        </a:spcBef>
        <a:buFont typeface="Arial" panose="020B0604020202020204" pitchFamily="34" charset="0"/>
        <a:buChar char="•"/>
        <a:defRPr sz="2800" kern="1200">
          <a:solidFill>
            <a:schemeClr val="tx1"/>
          </a:solidFill>
          <a:latin typeface="+mn-lt"/>
          <a:ea typeface="+mn-ea"/>
          <a:cs typeface="+mn-cs"/>
        </a:defRPr>
      </a:lvl1pPr>
      <a:lvl2pPr marL="685839" indent="-228613" algn="l" defTabSz="914453"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66" indent="-228613" algn="l" defTabSz="914453"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91" indent="-228613" algn="l" defTabSz="91445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18" indent="-228613" algn="l" defTabSz="91445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44" indent="-228613" algn="l" defTabSz="91445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69" indent="-228613" algn="l" defTabSz="91445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96" indent="-228613" algn="l" defTabSz="91445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422" indent="-228613" algn="l" defTabSz="914453"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53" rtl="0" eaLnBrk="1" latinLnBrk="0" hangingPunct="1">
        <a:defRPr sz="1800" kern="1200">
          <a:solidFill>
            <a:schemeClr val="tx1"/>
          </a:solidFill>
          <a:latin typeface="+mn-lt"/>
          <a:ea typeface="+mn-ea"/>
          <a:cs typeface="+mn-cs"/>
        </a:defRPr>
      </a:lvl1pPr>
      <a:lvl2pPr marL="457226" algn="l" defTabSz="914453" rtl="0" eaLnBrk="1" latinLnBrk="0" hangingPunct="1">
        <a:defRPr sz="1800" kern="1200">
          <a:solidFill>
            <a:schemeClr val="tx1"/>
          </a:solidFill>
          <a:latin typeface="+mn-lt"/>
          <a:ea typeface="+mn-ea"/>
          <a:cs typeface="+mn-cs"/>
        </a:defRPr>
      </a:lvl2pPr>
      <a:lvl3pPr marL="914453" algn="l" defTabSz="914453" rtl="0" eaLnBrk="1" latinLnBrk="0" hangingPunct="1">
        <a:defRPr sz="1800" kern="1200">
          <a:solidFill>
            <a:schemeClr val="tx1"/>
          </a:solidFill>
          <a:latin typeface="+mn-lt"/>
          <a:ea typeface="+mn-ea"/>
          <a:cs typeface="+mn-cs"/>
        </a:defRPr>
      </a:lvl3pPr>
      <a:lvl4pPr marL="1371678" algn="l" defTabSz="914453" rtl="0" eaLnBrk="1" latinLnBrk="0" hangingPunct="1">
        <a:defRPr sz="1800" kern="1200">
          <a:solidFill>
            <a:schemeClr val="tx1"/>
          </a:solidFill>
          <a:latin typeface="+mn-lt"/>
          <a:ea typeface="+mn-ea"/>
          <a:cs typeface="+mn-cs"/>
        </a:defRPr>
      </a:lvl4pPr>
      <a:lvl5pPr marL="1828904" algn="l" defTabSz="914453" rtl="0" eaLnBrk="1" latinLnBrk="0" hangingPunct="1">
        <a:defRPr sz="1800" kern="1200">
          <a:solidFill>
            <a:schemeClr val="tx1"/>
          </a:solidFill>
          <a:latin typeface="+mn-lt"/>
          <a:ea typeface="+mn-ea"/>
          <a:cs typeface="+mn-cs"/>
        </a:defRPr>
      </a:lvl5pPr>
      <a:lvl6pPr marL="2286131" algn="l" defTabSz="914453" rtl="0" eaLnBrk="1" latinLnBrk="0" hangingPunct="1">
        <a:defRPr sz="1800" kern="1200">
          <a:solidFill>
            <a:schemeClr val="tx1"/>
          </a:solidFill>
          <a:latin typeface="+mn-lt"/>
          <a:ea typeface="+mn-ea"/>
          <a:cs typeface="+mn-cs"/>
        </a:defRPr>
      </a:lvl6pPr>
      <a:lvl7pPr marL="2743356" algn="l" defTabSz="914453" rtl="0" eaLnBrk="1" latinLnBrk="0" hangingPunct="1">
        <a:defRPr sz="1800" kern="1200">
          <a:solidFill>
            <a:schemeClr val="tx1"/>
          </a:solidFill>
          <a:latin typeface="+mn-lt"/>
          <a:ea typeface="+mn-ea"/>
          <a:cs typeface="+mn-cs"/>
        </a:defRPr>
      </a:lvl7pPr>
      <a:lvl8pPr marL="3200583" algn="l" defTabSz="914453" rtl="0" eaLnBrk="1" latinLnBrk="0" hangingPunct="1">
        <a:defRPr sz="1800" kern="1200">
          <a:solidFill>
            <a:schemeClr val="tx1"/>
          </a:solidFill>
          <a:latin typeface="+mn-lt"/>
          <a:ea typeface="+mn-ea"/>
          <a:cs typeface="+mn-cs"/>
        </a:defRPr>
      </a:lvl8pPr>
      <a:lvl9pPr marL="3657809" algn="l" defTabSz="914453"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2.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svg"/></Relationships>
</file>

<file path=ppt/slides/_rels/slide3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37.xml.rels><?xml version="1.0" encoding="UTF-8" standalone="yes"?>
<Relationships xmlns="http://schemas.openxmlformats.org/package/2006/relationships"><Relationship Id="rId8" Type="http://schemas.openxmlformats.org/officeDocument/2006/relationships/image" Target="../media/image49.svg"/><Relationship Id="rId3" Type="http://schemas.openxmlformats.org/officeDocument/2006/relationships/image" Target="../media/image44.png"/><Relationship Id="rId7" Type="http://schemas.openxmlformats.org/officeDocument/2006/relationships/image" Target="../media/image48.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47.svg"/><Relationship Id="rId5" Type="http://schemas.openxmlformats.org/officeDocument/2006/relationships/image" Target="../media/image46.png"/><Relationship Id="rId4" Type="http://schemas.openxmlformats.org/officeDocument/2006/relationships/image" Target="../media/image45.sv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hyperlink" Target="https://s3.eu-west-2.amazonaws.com/assets.creode.advancehe-document-manager/documents/advance-he/Adv_HE_Reflection_for_Learning_Guide_1580298564.pdf" TargetMode="External"/><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hyperlink" Target="https://www.psy.gla.ac.uk/~steve/courses/archive/CERE12-13-safari-archive/topic9/webarchive-index.html" TargetMode="External"/><Relationship Id="rId4" Type="http://schemas.openxmlformats.org/officeDocument/2006/relationships/hyperlink" Target="https://www.hcpc-uk.org/standards/standards-of-proficiency/physiotherapists/" TargetMode="External"/></Relationships>
</file>

<file path=ppt/slides/_rels/slide40.xml.rels><?xml version="1.0" encoding="UTF-8" standalone="yes"?>
<Relationships xmlns="http://schemas.openxmlformats.org/package/2006/relationships"><Relationship Id="rId3" Type="http://schemas.openxmlformats.org/officeDocument/2006/relationships/hyperlink" Target="https://core.ac.uk/download/pdf/322532474.pdf" TargetMode="External"/><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E2C3"/>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A3363022-C969-41E9-8EB2-E4C94908C1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20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D1AD6B3-BE88-4CEB-BA17-790657CC47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0B4F59-F2C6-19FB-945B-5297D7C2F375}"/>
              </a:ext>
            </a:extLst>
          </p:cNvPr>
          <p:cNvSpPr>
            <a:spLocks noGrp="1"/>
          </p:cNvSpPr>
          <p:nvPr>
            <p:ph type="ctrTitle"/>
          </p:nvPr>
        </p:nvSpPr>
        <p:spPr>
          <a:xfrm>
            <a:off x="6160863" y="2774465"/>
            <a:ext cx="6165115" cy="1297115"/>
          </a:xfrm>
        </p:spPr>
        <p:txBody>
          <a:bodyPr anchor="t">
            <a:normAutofit fontScale="90000"/>
          </a:bodyPr>
          <a:lstStyle/>
          <a:p>
            <a:pPr algn="l"/>
            <a:r>
              <a:rPr lang="en-GB" sz="4000" b="1" dirty="0">
                <a:solidFill>
                  <a:schemeClr val="tx2"/>
                </a:solidFill>
              </a:rPr>
              <a:t>Introduction to Academic Development: </a:t>
            </a:r>
            <a:r>
              <a:rPr lang="en-GB" sz="4000" dirty="0">
                <a:solidFill>
                  <a:schemeClr val="tx2"/>
                </a:solidFill>
              </a:rPr>
              <a:t>Higher Education Learning/Learning to Learn</a:t>
            </a:r>
            <a:br>
              <a:rPr lang="en-GB" sz="4000" dirty="0">
                <a:solidFill>
                  <a:schemeClr val="tx2"/>
                </a:solidFill>
              </a:rPr>
            </a:br>
            <a:br>
              <a:rPr lang="en-GB" sz="4000" dirty="0">
                <a:solidFill>
                  <a:schemeClr val="tx2"/>
                </a:solidFill>
              </a:rPr>
            </a:br>
            <a:r>
              <a:rPr lang="en-GB" sz="2700" dirty="0">
                <a:solidFill>
                  <a:schemeClr val="tx2"/>
                </a:solidFill>
              </a:rPr>
              <a:t>Laura Perry – l.perry2@londonmet.ac.uk</a:t>
            </a:r>
            <a:br>
              <a:rPr lang="en-GB" sz="2700" dirty="0">
                <a:solidFill>
                  <a:schemeClr val="tx2"/>
                </a:solidFill>
              </a:rPr>
            </a:br>
            <a:r>
              <a:rPr lang="en-GB" sz="2700" dirty="0">
                <a:solidFill>
                  <a:schemeClr val="tx2"/>
                </a:solidFill>
              </a:rPr>
              <a:t>Academic Mentor</a:t>
            </a:r>
          </a:p>
        </p:txBody>
      </p:sp>
      <p:pic>
        <p:nvPicPr>
          <p:cNvPr id="30" name="Graphic 29" descr="Books">
            <a:extLst>
              <a:ext uri="{FF2B5EF4-FFF2-40B4-BE49-F238E27FC236}">
                <a16:creationId xmlns:a16="http://schemas.microsoft.com/office/drawing/2014/main" id="{DAF89725-E16D-EA97-4D38-9E0DA9684F1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40470" y="1815320"/>
            <a:ext cx="4141760" cy="4141760"/>
          </a:xfrm>
          <a:custGeom>
            <a:avLst/>
            <a:gdLst/>
            <a:ahLst/>
            <a:cxnLst/>
            <a:rect l="l" t="t" r="r" b="b"/>
            <a:pathLst>
              <a:path w="4141760" h="4377846">
                <a:moveTo>
                  <a:pt x="0" y="0"/>
                </a:moveTo>
                <a:lnTo>
                  <a:pt x="4141760" y="0"/>
                </a:lnTo>
                <a:lnTo>
                  <a:pt x="4141760" y="4377846"/>
                </a:lnTo>
                <a:lnTo>
                  <a:pt x="0" y="4377846"/>
                </a:lnTo>
                <a:close/>
              </a:path>
            </a:pathLst>
          </a:custGeom>
        </p:spPr>
      </p:pic>
      <p:grpSp>
        <p:nvGrpSpPr>
          <p:cNvPr id="31" name="Group 30">
            <a:extLst>
              <a:ext uri="{FF2B5EF4-FFF2-40B4-BE49-F238E27FC236}">
                <a16:creationId xmlns:a16="http://schemas.microsoft.com/office/drawing/2014/main" id="{89D1390B-7E13-4B4F-9CB2-391063412E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253" y="-5977"/>
            <a:ext cx="6238675" cy="6863979"/>
            <a:chOff x="305" y="-5977"/>
            <a:chExt cx="6238675" cy="6863979"/>
          </a:xfrm>
        </p:grpSpPr>
        <p:sp>
          <p:nvSpPr>
            <p:cNvPr id="32" name="Freeform: Shape 31">
              <a:extLst>
                <a:ext uri="{FF2B5EF4-FFF2-40B4-BE49-F238E27FC236}">
                  <a16:creationId xmlns:a16="http://schemas.microsoft.com/office/drawing/2014/main" id="{9E720206-AA49-4786-A932-A2650DE091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34854"/>
              <a:ext cx="6028697" cy="6817170"/>
            </a:xfrm>
            <a:custGeom>
              <a:avLst/>
              <a:gdLst>
                <a:gd name="connsiteX0" fmla="*/ 6028697 w 6028697"/>
                <a:gd name="connsiteY0" fmla="*/ 6155323 h 6817170"/>
                <a:gd name="connsiteX1" fmla="*/ 6028697 w 6028697"/>
                <a:gd name="connsiteY1" fmla="*/ 6817170 h 6817170"/>
                <a:gd name="connsiteX2" fmla="*/ 5157862 w 6028697"/>
                <a:gd name="connsiteY2" fmla="*/ 6817170 h 6817170"/>
                <a:gd name="connsiteX3" fmla="*/ 5347156 w 6028697"/>
                <a:gd name="connsiteY3" fmla="*/ 6687553 h 6817170"/>
                <a:gd name="connsiteX4" fmla="*/ 5487470 w 6028697"/>
                <a:gd name="connsiteY4" fmla="*/ 6581714 h 6817170"/>
                <a:gd name="connsiteX5" fmla="*/ 5627642 w 6028697"/>
                <a:gd name="connsiteY5" fmla="*/ 6472328 h 6817170"/>
                <a:gd name="connsiteX6" fmla="*/ 5911392 w 6028697"/>
                <a:gd name="connsiteY6" fmla="*/ 6245328 h 6817170"/>
                <a:gd name="connsiteX7" fmla="*/ 4481066 w 6028697"/>
                <a:gd name="connsiteY7" fmla="*/ 478 h 6817170"/>
                <a:gd name="connsiteX8" fmla="*/ 4672258 w 6028697"/>
                <a:gd name="connsiteY8" fmla="*/ 7519 h 6817170"/>
                <a:gd name="connsiteX9" fmla="*/ 5429869 w 6028697"/>
                <a:gd name="connsiteY9" fmla="*/ 125134 h 6817170"/>
                <a:gd name="connsiteX10" fmla="*/ 5976319 w 6028697"/>
                <a:gd name="connsiteY10" fmla="*/ 314893 h 6817170"/>
                <a:gd name="connsiteX11" fmla="*/ 6028697 w 6028697"/>
                <a:gd name="connsiteY11" fmla="*/ 339901 h 6817170"/>
                <a:gd name="connsiteX12" fmla="*/ 6028697 w 6028697"/>
                <a:gd name="connsiteY12" fmla="*/ 732458 h 6817170"/>
                <a:gd name="connsiteX13" fmla="*/ 5990985 w 6028697"/>
                <a:gd name="connsiteY13" fmla="*/ 712211 h 6817170"/>
                <a:gd name="connsiteX14" fmla="*/ 5341339 w 6028697"/>
                <a:gd name="connsiteY14" fmla="*/ 475281 h 6817170"/>
                <a:gd name="connsiteX15" fmla="*/ 4651969 w 6028697"/>
                <a:gd name="connsiteY15" fmla="*/ 377104 h 6817170"/>
                <a:gd name="connsiteX16" fmla="*/ 3953093 w 6028697"/>
                <a:gd name="connsiteY16" fmla="*/ 402498 h 6817170"/>
                <a:gd name="connsiteX17" fmla="*/ 3267413 w 6028697"/>
                <a:gd name="connsiteY17" fmla="*/ 546643 h 6817170"/>
                <a:gd name="connsiteX18" fmla="*/ 1439498 w 6028697"/>
                <a:gd name="connsiteY18" fmla="*/ 1568141 h 6817170"/>
                <a:gd name="connsiteX19" fmla="*/ 960671 w 6028697"/>
                <a:gd name="connsiteY19" fmla="*/ 2082013 h 6817170"/>
                <a:gd name="connsiteX20" fmla="*/ 581866 w 6028697"/>
                <a:gd name="connsiteY20" fmla="*/ 2672638 h 6817170"/>
                <a:gd name="connsiteX21" fmla="*/ 324789 w 6028697"/>
                <a:gd name="connsiteY21" fmla="*/ 3325262 h 6817170"/>
                <a:gd name="connsiteX22" fmla="*/ 231151 w 6028697"/>
                <a:gd name="connsiteY22" fmla="*/ 4022292 h 6817170"/>
                <a:gd name="connsiteX23" fmla="*/ 270592 w 6028697"/>
                <a:gd name="connsiteY23" fmla="*/ 4362792 h 6817170"/>
                <a:gd name="connsiteX24" fmla="*/ 387213 w 6028697"/>
                <a:gd name="connsiteY24" fmla="*/ 4681585 h 6817170"/>
                <a:gd name="connsiteX25" fmla="*/ 468507 w 6028697"/>
                <a:gd name="connsiteY25" fmla="*/ 4831546 h 6817170"/>
                <a:gd name="connsiteX26" fmla="*/ 561862 w 6028697"/>
                <a:gd name="connsiteY26" fmla="*/ 4976826 h 6817170"/>
                <a:gd name="connsiteX27" fmla="*/ 777511 w 6028697"/>
                <a:gd name="connsiteY27" fmla="*/ 5257597 h 6817170"/>
                <a:gd name="connsiteX28" fmla="*/ 1010895 w 6028697"/>
                <a:gd name="connsiteY28" fmla="*/ 5540494 h 6817170"/>
                <a:gd name="connsiteX29" fmla="*/ 1126948 w 6028697"/>
                <a:gd name="connsiteY29" fmla="*/ 5688186 h 6817170"/>
                <a:gd name="connsiteX30" fmla="*/ 1182706 w 6028697"/>
                <a:gd name="connsiteY30" fmla="*/ 5760543 h 6817170"/>
                <a:gd name="connsiteX31" fmla="*/ 1237327 w 6028697"/>
                <a:gd name="connsiteY31" fmla="*/ 5830060 h 6817170"/>
                <a:gd name="connsiteX32" fmla="*/ 1706649 w 6028697"/>
                <a:gd name="connsiteY32" fmla="*/ 6342797 h 6817170"/>
                <a:gd name="connsiteX33" fmla="*/ 1956207 w 6028697"/>
                <a:gd name="connsiteY33" fmla="*/ 6573484 h 6817170"/>
                <a:gd name="connsiteX34" fmla="*/ 2217681 w 6028697"/>
                <a:gd name="connsiteY34" fmla="*/ 6786297 h 6817170"/>
                <a:gd name="connsiteX35" fmla="*/ 2260820 w 6028697"/>
                <a:gd name="connsiteY35" fmla="*/ 6817170 h 6817170"/>
                <a:gd name="connsiteX36" fmla="*/ 1429497 w 6028697"/>
                <a:gd name="connsiteY36" fmla="*/ 6817170 h 6817170"/>
                <a:gd name="connsiteX37" fmla="*/ 1327275 w 6028697"/>
                <a:gd name="connsiteY37" fmla="*/ 6713800 h 6817170"/>
                <a:gd name="connsiteX38" fmla="*/ 1080556 w 6028697"/>
                <a:gd name="connsiteY38" fmla="*/ 6414443 h 6817170"/>
                <a:gd name="connsiteX39" fmla="*/ 865189 w 6028697"/>
                <a:gd name="connsiteY39" fmla="*/ 6097496 h 6817170"/>
                <a:gd name="connsiteX40" fmla="*/ 814823 w 6028697"/>
                <a:gd name="connsiteY40" fmla="*/ 6016911 h 6817170"/>
                <a:gd name="connsiteX41" fmla="*/ 766729 w 6028697"/>
                <a:gd name="connsiteY41" fmla="*/ 5938453 h 6817170"/>
                <a:gd name="connsiteX42" fmla="*/ 671672 w 6028697"/>
                <a:gd name="connsiteY42" fmla="*/ 5786648 h 6817170"/>
                <a:gd name="connsiteX43" fmla="*/ 474608 w 6028697"/>
                <a:gd name="connsiteY43" fmla="*/ 5474664 h 6817170"/>
                <a:gd name="connsiteX44" fmla="*/ 282652 w 6028697"/>
                <a:gd name="connsiteY44" fmla="*/ 5146508 h 6817170"/>
                <a:gd name="connsiteX45" fmla="*/ 196108 w 6028697"/>
                <a:gd name="connsiteY45" fmla="*/ 4972712 h 6817170"/>
                <a:gd name="connsiteX46" fmla="*/ 122474 w 6028697"/>
                <a:gd name="connsiteY46" fmla="*/ 4791821 h 6817170"/>
                <a:gd name="connsiteX47" fmla="*/ 65724 w 6028697"/>
                <a:gd name="connsiteY47" fmla="*/ 4603129 h 6817170"/>
                <a:gd name="connsiteX48" fmla="*/ 44727 w 6028697"/>
                <a:gd name="connsiteY48" fmla="*/ 4506937 h 6817170"/>
                <a:gd name="connsiteX49" fmla="*/ 35505 w 6028697"/>
                <a:gd name="connsiteY49" fmla="*/ 4458699 h 6817170"/>
                <a:gd name="connsiteX50" fmla="*/ 27845 w 6028697"/>
                <a:gd name="connsiteY50" fmla="*/ 4410320 h 6817170"/>
                <a:gd name="connsiteX51" fmla="*/ 37 w 6028697"/>
                <a:gd name="connsiteY51" fmla="*/ 4022292 h 6817170"/>
                <a:gd name="connsiteX52" fmla="*/ 78777 w 6028697"/>
                <a:gd name="connsiteY52" fmla="*/ 3267236 h 6817170"/>
                <a:gd name="connsiteX53" fmla="*/ 315424 w 6028697"/>
                <a:gd name="connsiteY53" fmla="*/ 2543673 h 6817170"/>
                <a:gd name="connsiteX54" fmla="*/ 1202710 w 6028697"/>
                <a:gd name="connsiteY54" fmla="*/ 1314895 h 6817170"/>
                <a:gd name="connsiteX55" fmla="*/ 1791065 w 6028697"/>
                <a:gd name="connsiteY55" fmla="*/ 833514 h 6817170"/>
                <a:gd name="connsiteX56" fmla="*/ 3908404 w 6028697"/>
                <a:gd name="connsiteY56" fmla="*/ 29794 h 6817170"/>
                <a:gd name="connsiteX57" fmla="*/ 4481066 w 6028697"/>
                <a:gd name="connsiteY57" fmla="*/ 478 h 681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6028697" h="6817170">
                  <a:moveTo>
                    <a:pt x="6028697" y="6155323"/>
                  </a:moveTo>
                  <a:lnTo>
                    <a:pt x="6028697" y="6817170"/>
                  </a:lnTo>
                  <a:lnTo>
                    <a:pt x="5157862" y="6817170"/>
                  </a:lnTo>
                  <a:lnTo>
                    <a:pt x="5347156" y="6687553"/>
                  </a:lnTo>
                  <a:cubicBezTo>
                    <a:pt x="5394117" y="6653219"/>
                    <a:pt x="5440793" y="6617608"/>
                    <a:pt x="5487470" y="6581714"/>
                  </a:cubicBezTo>
                  <a:cubicBezTo>
                    <a:pt x="5534147" y="6545820"/>
                    <a:pt x="5580966" y="6509358"/>
                    <a:pt x="5627642" y="6472328"/>
                  </a:cubicBezTo>
                  <a:lnTo>
                    <a:pt x="5911392" y="6245328"/>
                  </a:lnTo>
                  <a:close/>
                  <a:moveTo>
                    <a:pt x="4481066" y="478"/>
                  </a:moveTo>
                  <a:cubicBezTo>
                    <a:pt x="4544817" y="1422"/>
                    <a:pt x="4608563" y="3769"/>
                    <a:pt x="4672258" y="7519"/>
                  </a:cubicBezTo>
                  <a:cubicBezTo>
                    <a:pt x="4927973" y="22364"/>
                    <a:pt x="5181687" y="61751"/>
                    <a:pt x="5429869" y="125134"/>
                  </a:cubicBezTo>
                  <a:cubicBezTo>
                    <a:pt x="5617090" y="173104"/>
                    <a:pt x="5799867" y="236595"/>
                    <a:pt x="5976319" y="314893"/>
                  </a:cubicBezTo>
                  <a:lnTo>
                    <a:pt x="6028697" y="339901"/>
                  </a:lnTo>
                  <a:lnTo>
                    <a:pt x="6028697" y="732458"/>
                  </a:lnTo>
                  <a:lnTo>
                    <a:pt x="5990985" y="712211"/>
                  </a:lnTo>
                  <a:cubicBezTo>
                    <a:pt x="5783917" y="609342"/>
                    <a:pt x="5566013" y="529876"/>
                    <a:pt x="5341339" y="475281"/>
                  </a:cubicBezTo>
                  <a:cubicBezTo>
                    <a:pt x="5115233" y="420503"/>
                    <a:pt x="4884375" y="387624"/>
                    <a:pt x="4651969" y="377104"/>
                  </a:cubicBezTo>
                  <a:cubicBezTo>
                    <a:pt x="4418713" y="365171"/>
                    <a:pt x="4184861" y="373670"/>
                    <a:pt x="3953093" y="402498"/>
                  </a:cubicBezTo>
                  <a:cubicBezTo>
                    <a:pt x="3721001" y="431832"/>
                    <a:pt x="3491675" y="480040"/>
                    <a:pt x="3267413" y="546643"/>
                  </a:cubicBezTo>
                  <a:cubicBezTo>
                    <a:pt x="2591323" y="750761"/>
                    <a:pt x="1967642" y="1099289"/>
                    <a:pt x="1439498" y="1568141"/>
                  </a:cubicBezTo>
                  <a:cubicBezTo>
                    <a:pt x="1265589" y="1725523"/>
                    <a:pt x="1105393" y="1897434"/>
                    <a:pt x="960671" y="2082013"/>
                  </a:cubicBezTo>
                  <a:cubicBezTo>
                    <a:pt x="815775" y="2266294"/>
                    <a:pt x="688923" y="2464081"/>
                    <a:pt x="581866" y="2672638"/>
                  </a:cubicBezTo>
                  <a:cubicBezTo>
                    <a:pt x="473765" y="2880669"/>
                    <a:pt x="387610" y="3099397"/>
                    <a:pt x="324789" y="3325262"/>
                  </a:cubicBezTo>
                  <a:cubicBezTo>
                    <a:pt x="262714" y="3552403"/>
                    <a:pt x="231223" y="3786822"/>
                    <a:pt x="231151" y="4022292"/>
                  </a:cubicBezTo>
                  <a:cubicBezTo>
                    <a:pt x="231413" y="4136912"/>
                    <a:pt x="244645" y="4251136"/>
                    <a:pt x="270592" y="4362792"/>
                  </a:cubicBezTo>
                  <a:cubicBezTo>
                    <a:pt x="297885" y="4472943"/>
                    <a:pt x="336983" y="4579833"/>
                    <a:pt x="387213" y="4681585"/>
                  </a:cubicBezTo>
                  <a:cubicBezTo>
                    <a:pt x="412042" y="4732517"/>
                    <a:pt x="439423" y="4782457"/>
                    <a:pt x="468507" y="4831546"/>
                  </a:cubicBezTo>
                  <a:cubicBezTo>
                    <a:pt x="497591" y="4880636"/>
                    <a:pt x="529230" y="4929015"/>
                    <a:pt x="561862" y="4976826"/>
                  </a:cubicBezTo>
                  <a:cubicBezTo>
                    <a:pt x="627975" y="5072166"/>
                    <a:pt x="701466" y="5164668"/>
                    <a:pt x="777511" y="5257597"/>
                  </a:cubicBezTo>
                  <a:cubicBezTo>
                    <a:pt x="853556" y="5350524"/>
                    <a:pt x="933574" y="5443594"/>
                    <a:pt x="1010895" y="5540494"/>
                  </a:cubicBezTo>
                  <a:cubicBezTo>
                    <a:pt x="1049957" y="5588732"/>
                    <a:pt x="1088642" y="5637963"/>
                    <a:pt x="1126948" y="5688186"/>
                  </a:cubicBezTo>
                  <a:lnTo>
                    <a:pt x="1182706" y="5760543"/>
                  </a:lnTo>
                  <a:cubicBezTo>
                    <a:pt x="1201007" y="5783669"/>
                    <a:pt x="1218458" y="5807503"/>
                    <a:pt x="1237327" y="5830060"/>
                  </a:cubicBezTo>
                  <a:cubicBezTo>
                    <a:pt x="1383714" y="6009916"/>
                    <a:pt x="1540413" y="6181116"/>
                    <a:pt x="1706649" y="6342797"/>
                  </a:cubicBezTo>
                  <a:cubicBezTo>
                    <a:pt x="1788084" y="6422531"/>
                    <a:pt x="1871265" y="6499427"/>
                    <a:pt x="1956207" y="6573484"/>
                  </a:cubicBezTo>
                  <a:cubicBezTo>
                    <a:pt x="2041332" y="6647402"/>
                    <a:pt x="2127733" y="6718907"/>
                    <a:pt x="2217681" y="6786297"/>
                  </a:cubicBezTo>
                  <a:lnTo>
                    <a:pt x="2260820" y="6817170"/>
                  </a:lnTo>
                  <a:lnTo>
                    <a:pt x="1429497" y="6817170"/>
                  </a:lnTo>
                  <a:lnTo>
                    <a:pt x="1327275" y="6713800"/>
                  </a:lnTo>
                  <a:cubicBezTo>
                    <a:pt x="1239186" y="6618984"/>
                    <a:pt x="1156797" y="6519019"/>
                    <a:pt x="1080556" y="6414443"/>
                  </a:cubicBezTo>
                  <a:cubicBezTo>
                    <a:pt x="1004653" y="6310734"/>
                    <a:pt x="932439" y="6205177"/>
                    <a:pt x="865189" y="6097496"/>
                  </a:cubicBezTo>
                  <a:cubicBezTo>
                    <a:pt x="847881" y="6070823"/>
                    <a:pt x="831565" y="6043725"/>
                    <a:pt x="814823" y="6016911"/>
                  </a:cubicBezTo>
                  <a:lnTo>
                    <a:pt x="766729" y="5938453"/>
                  </a:lnTo>
                  <a:cubicBezTo>
                    <a:pt x="735941" y="5887947"/>
                    <a:pt x="703878" y="5837581"/>
                    <a:pt x="671672" y="5786648"/>
                  </a:cubicBezTo>
                  <a:lnTo>
                    <a:pt x="474608" y="5474664"/>
                  </a:lnTo>
                  <a:cubicBezTo>
                    <a:pt x="408778" y="5368968"/>
                    <a:pt x="343516" y="5260008"/>
                    <a:pt x="282652" y="5146508"/>
                  </a:cubicBezTo>
                  <a:cubicBezTo>
                    <a:pt x="252290" y="5089759"/>
                    <a:pt x="223065" y="5032015"/>
                    <a:pt x="196108" y="4972712"/>
                  </a:cubicBezTo>
                  <a:cubicBezTo>
                    <a:pt x="169152" y="4913408"/>
                    <a:pt x="144607" y="4853111"/>
                    <a:pt x="122474" y="4791821"/>
                  </a:cubicBezTo>
                  <a:cubicBezTo>
                    <a:pt x="100342" y="4730532"/>
                    <a:pt x="81757" y="4666830"/>
                    <a:pt x="65724" y="4603129"/>
                  </a:cubicBezTo>
                  <a:cubicBezTo>
                    <a:pt x="58205" y="4571064"/>
                    <a:pt x="50828" y="4539143"/>
                    <a:pt x="44727" y="4506937"/>
                  </a:cubicBezTo>
                  <a:lnTo>
                    <a:pt x="35505" y="4458699"/>
                  </a:lnTo>
                  <a:lnTo>
                    <a:pt x="27845" y="4410320"/>
                  </a:lnTo>
                  <a:cubicBezTo>
                    <a:pt x="8635" y="4281881"/>
                    <a:pt x="-661" y="4152150"/>
                    <a:pt x="37" y="4022292"/>
                  </a:cubicBezTo>
                  <a:cubicBezTo>
                    <a:pt x="712" y="3768592"/>
                    <a:pt x="27094" y="3515615"/>
                    <a:pt x="78777" y="3267236"/>
                  </a:cubicBezTo>
                  <a:cubicBezTo>
                    <a:pt x="130048" y="3017876"/>
                    <a:pt x="209439" y="2775142"/>
                    <a:pt x="315424" y="2543673"/>
                  </a:cubicBezTo>
                  <a:cubicBezTo>
                    <a:pt x="528236" y="2081161"/>
                    <a:pt x="838234" y="1667312"/>
                    <a:pt x="1202710" y="1314895"/>
                  </a:cubicBezTo>
                  <a:cubicBezTo>
                    <a:pt x="1385514" y="1138814"/>
                    <a:pt x="1582282" y="977831"/>
                    <a:pt x="1791065" y="833514"/>
                  </a:cubicBezTo>
                  <a:cubicBezTo>
                    <a:pt x="2420037" y="395614"/>
                    <a:pt x="3147288" y="119557"/>
                    <a:pt x="3908404" y="29794"/>
                  </a:cubicBezTo>
                  <a:cubicBezTo>
                    <a:pt x="4098509" y="7429"/>
                    <a:pt x="4289811" y="-2355"/>
                    <a:pt x="4481066" y="478"/>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C72F6EE6-EDE9-45A5-8F6D-02B9B7CB2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1"/>
              <a:ext cx="6165116"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C093DC50-3BD7-46B1-A300-CD207E152FF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a:off x="305" y="-5977"/>
              <a:ext cx="6238675" cy="6858001"/>
            </a:xfrm>
            <a:custGeom>
              <a:avLst/>
              <a:gdLst>
                <a:gd name="connsiteX0" fmla="*/ 6264586 w 6264586"/>
                <a:gd name="connsiteY0" fmla="*/ 6646464 h 6858001"/>
                <a:gd name="connsiteX1" fmla="*/ 6264586 w 6264586"/>
                <a:gd name="connsiteY1" fmla="*/ 6858001 h 6858001"/>
                <a:gd name="connsiteX2" fmla="*/ 5997170 w 6264586"/>
                <a:gd name="connsiteY2" fmla="*/ 6858001 h 6858001"/>
                <a:gd name="connsiteX3" fmla="*/ 6121512 w 6264586"/>
                <a:gd name="connsiteY3" fmla="*/ 6761029 h 6858001"/>
                <a:gd name="connsiteX4" fmla="*/ 2693206 w 6264586"/>
                <a:gd name="connsiteY4" fmla="*/ 0 h 6858001"/>
                <a:gd name="connsiteX5" fmla="*/ 5872285 w 6264586"/>
                <a:gd name="connsiteY5" fmla="*/ 0 h 6858001"/>
                <a:gd name="connsiteX6" fmla="*/ 6024875 w 6264586"/>
                <a:gd name="connsiteY6" fmla="*/ 68385 h 6858001"/>
                <a:gd name="connsiteX7" fmla="*/ 6206432 w 6264586"/>
                <a:gd name="connsiteY7" fmla="*/ 162336 h 6858001"/>
                <a:gd name="connsiteX8" fmla="*/ 6264586 w 6264586"/>
                <a:gd name="connsiteY8" fmla="*/ 196704 h 6858001"/>
                <a:gd name="connsiteX9" fmla="*/ 6264586 w 6264586"/>
                <a:gd name="connsiteY9" fmla="*/ 537242 h 6858001"/>
                <a:gd name="connsiteX10" fmla="*/ 6230189 w 6264586"/>
                <a:gd name="connsiteY10" fmla="*/ 517260 h 6858001"/>
                <a:gd name="connsiteX11" fmla="*/ 5540536 w 6264586"/>
                <a:gd name="connsiteY11" fmla="*/ 249543 h 6858001"/>
                <a:gd name="connsiteX12" fmla="*/ 5178896 w 6264586"/>
                <a:gd name="connsiteY12" fmla="*/ 178606 h 6858001"/>
                <a:gd name="connsiteX13" fmla="*/ 4814279 w 6264586"/>
                <a:gd name="connsiteY13" fmla="*/ 146683 h 6858001"/>
                <a:gd name="connsiteX14" fmla="*/ 4655095 w 6264586"/>
                <a:gd name="connsiteY14" fmla="*/ 143421 h 6858001"/>
                <a:gd name="connsiteX15" fmla="*/ 4081069 w 6264586"/>
                <a:gd name="connsiteY15" fmla="*/ 185983 h 6858001"/>
                <a:gd name="connsiteX16" fmla="*/ 3720566 w 6264586"/>
                <a:gd name="connsiteY16" fmla="*/ 256921 h 6858001"/>
                <a:gd name="connsiteX17" fmla="*/ 3365879 w 6264586"/>
                <a:gd name="connsiteY17" fmla="*/ 357651 h 6858001"/>
                <a:gd name="connsiteX18" fmla="*/ 3020555 w 6264586"/>
                <a:gd name="connsiteY18" fmla="*/ 486190 h 6858001"/>
                <a:gd name="connsiteX19" fmla="*/ 2685163 w 6264586"/>
                <a:gd name="connsiteY19" fmla="*/ 641542 h 6858001"/>
                <a:gd name="connsiteX20" fmla="*/ 2047720 w 6264586"/>
                <a:gd name="connsiteY20" fmla="*/ 1025030 h 6858001"/>
                <a:gd name="connsiteX21" fmla="*/ 1897333 w 6264586"/>
                <a:gd name="connsiteY21" fmla="*/ 1134983 h 6858001"/>
                <a:gd name="connsiteX22" fmla="*/ 1835758 w 6264586"/>
                <a:gd name="connsiteY22" fmla="*/ 1182227 h 6858001"/>
                <a:gd name="connsiteX23" fmla="*/ 1823273 w 6264586"/>
                <a:gd name="connsiteY23" fmla="*/ 1192016 h 6858001"/>
                <a:gd name="connsiteX24" fmla="*/ 1750918 w 6264586"/>
                <a:gd name="connsiteY24" fmla="*/ 1249760 h 6858001"/>
                <a:gd name="connsiteX25" fmla="*/ 1469297 w 6264586"/>
                <a:gd name="connsiteY25" fmla="*/ 1496906 h 6858001"/>
                <a:gd name="connsiteX26" fmla="*/ 967769 w 6264586"/>
                <a:gd name="connsiteY26" fmla="*/ 2056602 h 6858001"/>
                <a:gd name="connsiteX27" fmla="*/ 754105 w 6264586"/>
                <a:gd name="connsiteY27" fmla="*/ 2368727 h 6858001"/>
                <a:gd name="connsiteX28" fmla="*/ 572364 w 6264586"/>
                <a:gd name="connsiteY28" fmla="*/ 2701140 h 6858001"/>
                <a:gd name="connsiteX29" fmla="*/ 532497 w 6264586"/>
                <a:gd name="connsiteY29" fmla="*/ 2786265 h 6858001"/>
                <a:gd name="connsiteX30" fmla="*/ 512918 w 6264586"/>
                <a:gd name="connsiteY30" fmla="*/ 2828827 h 6858001"/>
                <a:gd name="connsiteX31" fmla="*/ 494475 w 6264586"/>
                <a:gd name="connsiteY31" fmla="*/ 2872240 h 6858001"/>
                <a:gd name="connsiteX32" fmla="*/ 491637 w 6264586"/>
                <a:gd name="connsiteY32" fmla="*/ 2878908 h 6858001"/>
                <a:gd name="connsiteX33" fmla="*/ 459290 w 6264586"/>
                <a:gd name="connsiteY33" fmla="*/ 2959635 h 6858001"/>
                <a:gd name="connsiteX34" fmla="*/ 446805 w 6264586"/>
                <a:gd name="connsiteY34" fmla="*/ 2992408 h 6858001"/>
                <a:gd name="connsiteX35" fmla="*/ 426090 w 6264586"/>
                <a:gd name="connsiteY35" fmla="*/ 3049158 h 6858001"/>
                <a:gd name="connsiteX36" fmla="*/ 426090 w 6264586"/>
                <a:gd name="connsiteY36" fmla="*/ 3049867 h 6858001"/>
                <a:gd name="connsiteX37" fmla="*/ 318124 w 6264586"/>
                <a:gd name="connsiteY37" fmla="*/ 3414202 h 6858001"/>
                <a:gd name="connsiteX38" fmla="*/ 230729 w 6264586"/>
                <a:gd name="connsiteY38" fmla="*/ 4169260 h 6858001"/>
                <a:gd name="connsiteX39" fmla="*/ 268893 w 6264586"/>
                <a:gd name="connsiteY39" fmla="*/ 4544236 h 6858001"/>
                <a:gd name="connsiteX40" fmla="*/ 379840 w 6264586"/>
                <a:gd name="connsiteY40" fmla="*/ 4900056 h 6858001"/>
                <a:gd name="connsiteX41" fmla="*/ 406512 w 6264586"/>
                <a:gd name="connsiteY41" fmla="*/ 4960211 h 6858001"/>
                <a:gd name="connsiteX42" fmla="*/ 417862 w 6264586"/>
                <a:gd name="connsiteY42" fmla="*/ 4984613 h 6858001"/>
                <a:gd name="connsiteX43" fmla="*/ 428077 w 6264586"/>
                <a:gd name="connsiteY43" fmla="*/ 5005043 h 6858001"/>
                <a:gd name="connsiteX44" fmla="*/ 460140 w 6264586"/>
                <a:gd name="connsiteY44" fmla="*/ 5067327 h 6858001"/>
                <a:gd name="connsiteX45" fmla="*/ 555197 w 6264586"/>
                <a:gd name="connsiteY45" fmla="*/ 5229773 h 6858001"/>
                <a:gd name="connsiteX46" fmla="*/ 660611 w 6264586"/>
                <a:gd name="connsiteY46" fmla="*/ 5387396 h 6858001"/>
                <a:gd name="connsiteX47" fmla="*/ 774110 w 6264586"/>
                <a:gd name="connsiteY47" fmla="*/ 5542182 h 6858001"/>
                <a:gd name="connsiteX48" fmla="*/ 917829 w 6264586"/>
                <a:gd name="connsiteY48" fmla="*/ 5727896 h 6858001"/>
                <a:gd name="connsiteX49" fmla="*/ 1012885 w 6264586"/>
                <a:gd name="connsiteY49" fmla="*/ 5849767 h 6858001"/>
                <a:gd name="connsiteX50" fmla="*/ 1133053 w 6264586"/>
                <a:gd name="connsiteY50" fmla="*/ 6006822 h 6858001"/>
                <a:gd name="connsiteX51" fmla="*/ 1194343 w 6264586"/>
                <a:gd name="connsiteY51" fmla="*/ 6090245 h 6858001"/>
                <a:gd name="connsiteX52" fmla="*/ 1249390 w 6264586"/>
                <a:gd name="connsiteY52" fmla="*/ 6165155 h 6858001"/>
                <a:gd name="connsiteX53" fmla="*/ 1345724 w 6264586"/>
                <a:gd name="connsiteY53" fmla="*/ 6292132 h 6858001"/>
                <a:gd name="connsiteX54" fmla="*/ 1364310 w 6264586"/>
                <a:gd name="connsiteY54" fmla="*/ 6316251 h 6858001"/>
                <a:gd name="connsiteX55" fmla="*/ 1373673 w 6264586"/>
                <a:gd name="connsiteY55" fmla="*/ 6327885 h 6858001"/>
                <a:gd name="connsiteX56" fmla="*/ 1484619 w 6264586"/>
                <a:gd name="connsiteY56" fmla="*/ 6462240 h 6858001"/>
                <a:gd name="connsiteX57" fmla="*/ 1739000 w 6264586"/>
                <a:gd name="connsiteY57" fmla="*/ 6737335 h 6858001"/>
                <a:gd name="connsiteX58" fmla="*/ 1866801 w 6264586"/>
                <a:gd name="connsiteY58" fmla="*/ 6858001 h 6858001"/>
                <a:gd name="connsiteX59" fmla="*/ 1144149 w 6264586"/>
                <a:gd name="connsiteY59" fmla="*/ 6858001 h 6858001"/>
                <a:gd name="connsiteX60" fmla="*/ 1058349 w 6264586"/>
                <a:gd name="connsiteY60" fmla="*/ 6766452 h 6858001"/>
                <a:gd name="connsiteX61" fmla="*/ 580309 w 6264586"/>
                <a:gd name="connsiteY61" fmla="*/ 6105000 h 6858001"/>
                <a:gd name="connsiteX62" fmla="*/ 1 w 6264586"/>
                <a:gd name="connsiteY62" fmla="*/ 3960094 h 6858001"/>
                <a:gd name="connsiteX63" fmla="*/ 2599292 w 6264586"/>
                <a:gd name="connsiteY63" fmla="*/ 3705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6264586" h="6858001">
                  <a:moveTo>
                    <a:pt x="6264586" y="6646464"/>
                  </a:moveTo>
                  <a:lnTo>
                    <a:pt x="6264586" y="6858001"/>
                  </a:lnTo>
                  <a:lnTo>
                    <a:pt x="5997170" y="6858001"/>
                  </a:lnTo>
                  <a:lnTo>
                    <a:pt x="6121512" y="6761029"/>
                  </a:lnTo>
                  <a:close/>
                  <a:moveTo>
                    <a:pt x="2693206" y="0"/>
                  </a:moveTo>
                  <a:lnTo>
                    <a:pt x="5872285" y="0"/>
                  </a:lnTo>
                  <a:lnTo>
                    <a:pt x="6024875" y="68385"/>
                  </a:lnTo>
                  <a:cubicBezTo>
                    <a:pt x="6086250" y="97989"/>
                    <a:pt x="6146793" y="129318"/>
                    <a:pt x="6206432" y="162336"/>
                  </a:cubicBezTo>
                  <a:lnTo>
                    <a:pt x="6264586" y="196704"/>
                  </a:lnTo>
                  <a:lnTo>
                    <a:pt x="6264586" y="537242"/>
                  </a:lnTo>
                  <a:lnTo>
                    <a:pt x="6230189" y="517260"/>
                  </a:lnTo>
                  <a:cubicBezTo>
                    <a:pt x="6012226" y="399931"/>
                    <a:pt x="5780573" y="310008"/>
                    <a:pt x="5540536" y="249543"/>
                  </a:cubicBezTo>
                  <a:cubicBezTo>
                    <a:pt x="5421375" y="219324"/>
                    <a:pt x="5300641" y="195644"/>
                    <a:pt x="5178896" y="178606"/>
                  </a:cubicBezTo>
                  <a:cubicBezTo>
                    <a:pt x="5057977" y="161840"/>
                    <a:pt x="4936276" y="151186"/>
                    <a:pt x="4814279" y="146683"/>
                  </a:cubicBezTo>
                  <a:cubicBezTo>
                    <a:pt x="4761501" y="144556"/>
                    <a:pt x="4708015" y="143421"/>
                    <a:pt x="4655095" y="143421"/>
                  </a:cubicBezTo>
                  <a:cubicBezTo>
                    <a:pt x="4462968" y="143573"/>
                    <a:pt x="4271111" y="157799"/>
                    <a:pt x="4081069" y="185983"/>
                  </a:cubicBezTo>
                  <a:cubicBezTo>
                    <a:pt x="3956361" y="205703"/>
                    <a:pt x="3835058" y="229396"/>
                    <a:pt x="3720566" y="256921"/>
                  </a:cubicBezTo>
                  <a:cubicBezTo>
                    <a:pt x="3596708" y="286714"/>
                    <a:pt x="3477677" y="320905"/>
                    <a:pt x="3365879" y="357651"/>
                  </a:cubicBezTo>
                  <a:cubicBezTo>
                    <a:pt x="3249257" y="395958"/>
                    <a:pt x="3133487" y="438945"/>
                    <a:pt x="3020555" y="486190"/>
                  </a:cubicBezTo>
                  <a:cubicBezTo>
                    <a:pt x="2907623" y="533434"/>
                    <a:pt x="2794832" y="585786"/>
                    <a:pt x="2685163" y="641542"/>
                  </a:cubicBezTo>
                  <a:cubicBezTo>
                    <a:pt x="2463995" y="754348"/>
                    <a:pt x="2250998" y="882488"/>
                    <a:pt x="2047720" y="1025030"/>
                  </a:cubicBezTo>
                  <a:cubicBezTo>
                    <a:pt x="2006151" y="1054399"/>
                    <a:pt x="1951528" y="1093415"/>
                    <a:pt x="1897333" y="1134983"/>
                  </a:cubicBezTo>
                  <a:cubicBezTo>
                    <a:pt x="1876761" y="1150164"/>
                    <a:pt x="1855905" y="1166479"/>
                    <a:pt x="1835758" y="1182227"/>
                  </a:cubicBezTo>
                  <a:lnTo>
                    <a:pt x="1823273" y="1192016"/>
                  </a:lnTo>
                  <a:cubicBezTo>
                    <a:pt x="1797027" y="1211879"/>
                    <a:pt x="1772057" y="1232309"/>
                    <a:pt x="1750918" y="1249760"/>
                  </a:cubicBezTo>
                  <a:cubicBezTo>
                    <a:pt x="1645931" y="1335737"/>
                    <a:pt x="1554422" y="1416605"/>
                    <a:pt x="1469297" y="1496906"/>
                  </a:cubicBezTo>
                  <a:cubicBezTo>
                    <a:pt x="1286595" y="1668957"/>
                    <a:pt x="1118818" y="1856190"/>
                    <a:pt x="967769" y="2056602"/>
                  </a:cubicBezTo>
                  <a:cubicBezTo>
                    <a:pt x="890731" y="2159603"/>
                    <a:pt x="818800" y="2264590"/>
                    <a:pt x="754105" y="2368727"/>
                  </a:cubicBezTo>
                  <a:cubicBezTo>
                    <a:pt x="681749" y="2488328"/>
                    <a:pt x="622304" y="2596720"/>
                    <a:pt x="572364" y="2701140"/>
                  </a:cubicBezTo>
                  <a:cubicBezTo>
                    <a:pt x="557609" y="2730507"/>
                    <a:pt x="543989" y="2760443"/>
                    <a:pt x="532497" y="2786265"/>
                  </a:cubicBezTo>
                  <a:lnTo>
                    <a:pt x="512918" y="2828827"/>
                  </a:lnTo>
                  <a:lnTo>
                    <a:pt x="494475" y="2872240"/>
                  </a:lnTo>
                  <a:lnTo>
                    <a:pt x="491637" y="2878908"/>
                  </a:lnTo>
                  <a:cubicBezTo>
                    <a:pt x="480146" y="2906575"/>
                    <a:pt x="469220" y="2932821"/>
                    <a:pt x="459290" y="2959635"/>
                  </a:cubicBezTo>
                  <a:cubicBezTo>
                    <a:pt x="455176" y="2970559"/>
                    <a:pt x="451060" y="2981484"/>
                    <a:pt x="446805" y="2992408"/>
                  </a:cubicBezTo>
                  <a:cubicBezTo>
                    <a:pt x="439427" y="3012412"/>
                    <a:pt x="432333" y="3030572"/>
                    <a:pt x="426090" y="3049158"/>
                  </a:cubicBezTo>
                  <a:lnTo>
                    <a:pt x="426090" y="3049867"/>
                  </a:lnTo>
                  <a:cubicBezTo>
                    <a:pt x="383010" y="3169099"/>
                    <a:pt x="346959" y="3290756"/>
                    <a:pt x="318124" y="3414202"/>
                  </a:cubicBezTo>
                  <a:cubicBezTo>
                    <a:pt x="260107" y="3661703"/>
                    <a:pt x="230780" y="3915049"/>
                    <a:pt x="230729" y="4169260"/>
                  </a:cubicBezTo>
                  <a:cubicBezTo>
                    <a:pt x="231621" y="4295173"/>
                    <a:pt x="244398" y="4420719"/>
                    <a:pt x="268893" y="4544236"/>
                  </a:cubicBezTo>
                  <a:cubicBezTo>
                    <a:pt x="293708" y="4666304"/>
                    <a:pt x="330882" y="4785521"/>
                    <a:pt x="379840" y="4900056"/>
                  </a:cubicBezTo>
                  <a:cubicBezTo>
                    <a:pt x="387926" y="4919919"/>
                    <a:pt x="397006" y="4939498"/>
                    <a:pt x="406512" y="4960211"/>
                  </a:cubicBezTo>
                  <a:cubicBezTo>
                    <a:pt x="410343" y="4968299"/>
                    <a:pt x="414173" y="4976385"/>
                    <a:pt x="417862" y="4984613"/>
                  </a:cubicBezTo>
                  <a:lnTo>
                    <a:pt x="428077" y="5005043"/>
                  </a:lnTo>
                  <a:cubicBezTo>
                    <a:pt x="438860" y="5026751"/>
                    <a:pt x="449075" y="5047181"/>
                    <a:pt x="460140" y="5067327"/>
                  </a:cubicBezTo>
                  <a:cubicBezTo>
                    <a:pt x="485536" y="5116273"/>
                    <a:pt x="514763" y="5165789"/>
                    <a:pt x="555197" y="5229773"/>
                  </a:cubicBezTo>
                  <a:cubicBezTo>
                    <a:pt x="586836" y="5280282"/>
                    <a:pt x="620318" y="5329511"/>
                    <a:pt x="660611" y="5387396"/>
                  </a:cubicBezTo>
                  <a:cubicBezTo>
                    <a:pt x="698065" y="5440741"/>
                    <a:pt x="737223" y="5493094"/>
                    <a:pt x="774110" y="5542182"/>
                  </a:cubicBezTo>
                  <a:cubicBezTo>
                    <a:pt x="821070" y="5604324"/>
                    <a:pt x="870301" y="5667173"/>
                    <a:pt x="917829" y="5727896"/>
                  </a:cubicBezTo>
                  <a:cubicBezTo>
                    <a:pt x="949042" y="5767762"/>
                    <a:pt x="979828" y="5807063"/>
                    <a:pt x="1012885" y="5849767"/>
                  </a:cubicBezTo>
                  <a:cubicBezTo>
                    <a:pt x="1045942" y="5892471"/>
                    <a:pt x="1089497" y="5948796"/>
                    <a:pt x="1133053" y="6006822"/>
                  </a:cubicBezTo>
                  <a:cubicBezTo>
                    <a:pt x="1153624" y="6034345"/>
                    <a:pt x="1175332" y="6063998"/>
                    <a:pt x="1194343" y="6090245"/>
                  </a:cubicBezTo>
                  <a:cubicBezTo>
                    <a:pt x="1213355" y="6116491"/>
                    <a:pt x="1231372" y="6141178"/>
                    <a:pt x="1249390" y="6165155"/>
                  </a:cubicBezTo>
                  <a:cubicBezTo>
                    <a:pt x="1280461" y="6208000"/>
                    <a:pt x="1313659" y="6250847"/>
                    <a:pt x="1345724" y="6292132"/>
                  </a:cubicBezTo>
                  <a:lnTo>
                    <a:pt x="1364310" y="6316251"/>
                  </a:lnTo>
                  <a:lnTo>
                    <a:pt x="1373673" y="6327885"/>
                  </a:lnTo>
                  <a:cubicBezTo>
                    <a:pt x="1409566" y="6372433"/>
                    <a:pt x="1446738" y="6418542"/>
                    <a:pt x="1484619" y="6462240"/>
                  </a:cubicBezTo>
                  <a:cubicBezTo>
                    <a:pt x="1567899" y="6559850"/>
                    <a:pt x="1653876" y="6652211"/>
                    <a:pt x="1739000" y="6737335"/>
                  </a:cubicBezTo>
                  <a:lnTo>
                    <a:pt x="1866801" y="6858001"/>
                  </a:lnTo>
                  <a:lnTo>
                    <a:pt x="1144149" y="6858001"/>
                  </a:lnTo>
                  <a:lnTo>
                    <a:pt x="1058349" y="6766452"/>
                  </a:lnTo>
                  <a:cubicBezTo>
                    <a:pt x="878978" y="6562465"/>
                    <a:pt x="718756" y="6341104"/>
                    <a:pt x="580309" y="6105000"/>
                  </a:cubicBezTo>
                  <a:cubicBezTo>
                    <a:pt x="200401" y="5454007"/>
                    <a:pt x="146" y="4713831"/>
                    <a:pt x="1" y="3960094"/>
                  </a:cubicBezTo>
                  <a:cubicBezTo>
                    <a:pt x="-335" y="2196754"/>
                    <a:pt x="1071479" y="683605"/>
                    <a:pt x="2599292" y="37050"/>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1352957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7517A47C-B2E5-4B79-8061-D74B1311A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2" name="Freeform: Shape 31">
            <a:extLst>
              <a:ext uri="{FF2B5EF4-FFF2-40B4-BE49-F238E27FC236}">
                <a16:creationId xmlns:a16="http://schemas.microsoft.com/office/drawing/2014/main" id="{C505E780-2083-4CB5-A42A-5E0E2908EC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8889" cy="6858000"/>
          </a:xfrm>
          <a:custGeom>
            <a:avLst/>
            <a:gdLst>
              <a:gd name="connsiteX0" fmla="*/ 0 w 4818889"/>
              <a:gd name="connsiteY0" fmla="*/ 0 h 6858000"/>
              <a:gd name="connsiteX1" fmla="*/ 3605911 w 4818889"/>
              <a:gd name="connsiteY1" fmla="*/ 0 h 6858000"/>
              <a:gd name="connsiteX2" fmla="*/ 3668894 w 4818889"/>
              <a:gd name="connsiteY2" fmla="*/ 69271 h 6858000"/>
              <a:gd name="connsiteX3" fmla="*/ 4818889 w 4818889"/>
              <a:gd name="connsiteY3" fmla="*/ 3429000 h 6858000"/>
              <a:gd name="connsiteX4" fmla="*/ 3668894 w 4818889"/>
              <a:gd name="connsiteY4" fmla="*/ 6788730 h 6858000"/>
              <a:gd name="connsiteX5" fmla="*/ 3605911 w 4818889"/>
              <a:gd name="connsiteY5" fmla="*/ 6858000 h 6858000"/>
              <a:gd name="connsiteX6" fmla="*/ 0 w 481888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8889" h="6858000">
                <a:moveTo>
                  <a:pt x="0" y="0"/>
                </a:moveTo>
                <a:lnTo>
                  <a:pt x="3605911" y="0"/>
                </a:lnTo>
                <a:lnTo>
                  <a:pt x="3668894" y="69271"/>
                </a:lnTo>
                <a:cubicBezTo>
                  <a:pt x="4379420" y="929100"/>
                  <a:pt x="4818889" y="2116944"/>
                  <a:pt x="4818889" y="3429000"/>
                </a:cubicBezTo>
                <a:cubicBezTo>
                  <a:pt x="4818889" y="4741056"/>
                  <a:pt x="4379420" y="5928900"/>
                  <a:pt x="3668894" y="6788730"/>
                </a:cubicBezTo>
                <a:lnTo>
                  <a:pt x="3605911"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3" name="Freeform: Shape 32">
            <a:extLst>
              <a:ext uri="{FF2B5EF4-FFF2-40B4-BE49-F238E27FC236}">
                <a16:creationId xmlns:a16="http://schemas.microsoft.com/office/drawing/2014/main" id="{D2C0AE1C-0118-41AE-8A10-7CDCBF10E9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811477" cy="6858000"/>
          </a:xfrm>
          <a:custGeom>
            <a:avLst/>
            <a:gdLst>
              <a:gd name="connsiteX0" fmla="*/ 0 w 4811477"/>
              <a:gd name="connsiteY0" fmla="*/ 0 h 6858000"/>
              <a:gd name="connsiteX1" fmla="*/ 3598499 w 4811477"/>
              <a:gd name="connsiteY1" fmla="*/ 0 h 6858000"/>
              <a:gd name="connsiteX2" fmla="*/ 3661482 w 4811477"/>
              <a:gd name="connsiteY2" fmla="*/ 69271 h 6858000"/>
              <a:gd name="connsiteX3" fmla="*/ 4811477 w 4811477"/>
              <a:gd name="connsiteY3" fmla="*/ 3429000 h 6858000"/>
              <a:gd name="connsiteX4" fmla="*/ 3661482 w 4811477"/>
              <a:gd name="connsiteY4" fmla="*/ 6788730 h 6858000"/>
              <a:gd name="connsiteX5" fmla="*/ 3598499 w 4811477"/>
              <a:gd name="connsiteY5" fmla="*/ 6858000 h 6858000"/>
              <a:gd name="connsiteX6" fmla="*/ 0 w 481147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1477" h="6858000">
                <a:moveTo>
                  <a:pt x="0" y="0"/>
                </a:moveTo>
                <a:lnTo>
                  <a:pt x="3598499" y="0"/>
                </a:lnTo>
                <a:lnTo>
                  <a:pt x="3661482" y="69271"/>
                </a:lnTo>
                <a:cubicBezTo>
                  <a:pt x="4372008" y="929100"/>
                  <a:pt x="4811477" y="2116944"/>
                  <a:pt x="4811477" y="3429000"/>
                </a:cubicBezTo>
                <a:cubicBezTo>
                  <a:pt x="4811477" y="4741056"/>
                  <a:pt x="4372008" y="5928900"/>
                  <a:pt x="3661482" y="6788730"/>
                </a:cubicBezTo>
                <a:lnTo>
                  <a:pt x="3598499"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B2940B-FAE8-985E-4462-E679183CC52F}"/>
              </a:ext>
            </a:extLst>
          </p:cNvPr>
          <p:cNvSpPr>
            <a:spLocks noGrp="1"/>
          </p:cNvSpPr>
          <p:nvPr>
            <p:ph type="title"/>
          </p:nvPr>
        </p:nvSpPr>
        <p:spPr>
          <a:xfrm>
            <a:off x="621792" y="1161288"/>
            <a:ext cx="3602736" cy="4526280"/>
          </a:xfrm>
        </p:spPr>
        <p:txBody>
          <a:bodyPr>
            <a:normAutofit/>
          </a:bodyPr>
          <a:lstStyle/>
          <a:p>
            <a:r>
              <a:rPr lang="en-GB" sz="4000"/>
              <a:t>Learning Outcomes</a:t>
            </a:r>
          </a:p>
        </p:txBody>
      </p:sp>
      <p:sp>
        <p:nvSpPr>
          <p:cNvPr id="34" name="Rectangle 33">
            <a:extLst>
              <a:ext uri="{FF2B5EF4-FFF2-40B4-BE49-F238E27FC236}">
                <a16:creationId xmlns:a16="http://schemas.microsoft.com/office/drawing/2014/main" id="{463EEC44-1BA3-44ED-81FC-A644B04B2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081528"/>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35" name="Content Placeholder 2">
            <a:extLst>
              <a:ext uri="{FF2B5EF4-FFF2-40B4-BE49-F238E27FC236}">
                <a16:creationId xmlns:a16="http://schemas.microsoft.com/office/drawing/2014/main" id="{F43AD14F-C888-1921-B882-053121AC7553}"/>
              </a:ext>
            </a:extLst>
          </p:cNvPr>
          <p:cNvGraphicFramePr>
            <a:graphicFrameLocks noGrp="1"/>
          </p:cNvGraphicFramePr>
          <p:nvPr>
            <p:ph idx="1"/>
            <p:extLst>
              <p:ext uri="{D42A27DB-BD31-4B8C-83A1-F6EECF244321}">
                <p14:modId xmlns:p14="http://schemas.microsoft.com/office/powerpoint/2010/main" val="3692416327"/>
              </p:ext>
            </p:extLst>
          </p:nvPr>
        </p:nvGraphicFramePr>
        <p:xfrm>
          <a:off x="5303520" y="676656"/>
          <a:ext cx="6364224" cy="55138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84697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E3B39BF-FD09-756B-D4DC-EC28E23ED78E}"/>
              </a:ext>
            </a:extLst>
          </p:cNvPr>
          <p:cNvSpPr>
            <a:spLocks noGrp="1"/>
          </p:cNvSpPr>
          <p:nvPr>
            <p:ph type="title"/>
          </p:nvPr>
        </p:nvSpPr>
        <p:spPr>
          <a:xfrm>
            <a:off x="1075767" y="1188637"/>
            <a:ext cx="2988234" cy="4480726"/>
          </a:xfrm>
        </p:spPr>
        <p:txBody>
          <a:bodyPr>
            <a:normAutofit/>
          </a:bodyPr>
          <a:lstStyle/>
          <a:p>
            <a:pPr algn="r"/>
            <a:r>
              <a:rPr lang="en-GB" sz="4000" dirty="0"/>
              <a:t>Activity - Hands up</a:t>
            </a:r>
          </a:p>
        </p:txBody>
      </p:sp>
      <p:cxnSp>
        <p:nvCxnSpPr>
          <p:cNvPr id="7" name="Straight Connector 6">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A47551A-1D33-452D-5DC8-63FBDE18D46C}"/>
              </a:ext>
            </a:extLst>
          </p:cNvPr>
          <p:cNvSpPr>
            <a:spLocks noGrp="1"/>
          </p:cNvSpPr>
          <p:nvPr>
            <p:ph idx="1"/>
          </p:nvPr>
        </p:nvSpPr>
        <p:spPr>
          <a:xfrm>
            <a:off x="5255260" y="1648870"/>
            <a:ext cx="4702848" cy="3560260"/>
          </a:xfrm>
        </p:spPr>
        <p:txBody>
          <a:bodyPr anchor="ctr">
            <a:normAutofit/>
          </a:bodyPr>
          <a:lstStyle/>
          <a:p>
            <a:r>
              <a:rPr lang="en-GB" sz="2400" dirty="0"/>
              <a:t>Who is nervous about starting their degree course?</a:t>
            </a:r>
          </a:p>
          <a:p>
            <a:r>
              <a:rPr lang="en-GB" sz="2400" dirty="0"/>
              <a:t>Who is excited?</a:t>
            </a:r>
          </a:p>
          <a:p>
            <a:endParaRPr lang="en-GB" sz="2400" dirty="0"/>
          </a:p>
        </p:txBody>
      </p:sp>
    </p:spTree>
    <p:extLst>
      <p:ext uri="{BB962C8B-B14F-4D97-AF65-F5344CB8AC3E}">
        <p14:creationId xmlns:p14="http://schemas.microsoft.com/office/powerpoint/2010/main" val="3779893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ight Triangle 18">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9A21FE1-E527-BA51-1842-DE61957E5D9A}"/>
              </a:ext>
            </a:extLst>
          </p:cNvPr>
          <p:cNvSpPr>
            <a:spLocks noGrp="1"/>
          </p:cNvSpPr>
          <p:nvPr>
            <p:ph type="title"/>
          </p:nvPr>
        </p:nvSpPr>
        <p:spPr>
          <a:xfrm>
            <a:off x="1075767" y="1188637"/>
            <a:ext cx="2988234" cy="4480726"/>
          </a:xfrm>
        </p:spPr>
        <p:txBody>
          <a:bodyPr>
            <a:normAutofit/>
          </a:bodyPr>
          <a:lstStyle/>
          <a:p>
            <a:pPr algn="r"/>
            <a:r>
              <a:rPr lang="en-GB" sz="4000" dirty="0"/>
              <a:t>Activity – </a:t>
            </a:r>
            <a:r>
              <a:rPr lang="en-GB" sz="4000" dirty="0" err="1"/>
              <a:t>Mentimeter</a:t>
            </a:r>
            <a:r>
              <a:rPr lang="en-GB" sz="4000" dirty="0"/>
              <a:t> (3 mins)</a:t>
            </a:r>
          </a:p>
        </p:txBody>
      </p:sp>
      <p:cxnSp>
        <p:nvCxnSpPr>
          <p:cNvPr id="27" name="Straight Connector 26">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0697BB6-1F05-34BB-6EA8-5F709E809AD5}"/>
              </a:ext>
            </a:extLst>
          </p:cNvPr>
          <p:cNvSpPr>
            <a:spLocks noGrp="1"/>
          </p:cNvSpPr>
          <p:nvPr>
            <p:ph idx="1"/>
          </p:nvPr>
        </p:nvSpPr>
        <p:spPr>
          <a:xfrm>
            <a:off x="5244592" y="1327137"/>
            <a:ext cx="4702848" cy="1381887"/>
          </a:xfrm>
        </p:spPr>
        <p:txBody>
          <a:bodyPr anchor="ctr">
            <a:normAutofit/>
          </a:bodyPr>
          <a:lstStyle/>
          <a:p>
            <a:pPr marL="0" indent="0">
              <a:buNone/>
            </a:pPr>
            <a:r>
              <a:rPr lang="en-GB" sz="2400" dirty="0"/>
              <a:t>How would you define learning? </a:t>
            </a:r>
          </a:p>
        </p:txBody>
      </p:sp>
      <p:pic>
        <p:nvPicPr>
          <p:cNvPr id="5" name="Picture 4">
            <a:extLst>
              <a:ext uri="{FF2B5EF4-FFF2-40B4-BE49-F238E27FC236}">
                <a16:creationId xmlns:a16="http://schemas.microsoft.com/office/drawing/2014/main" id="{483C8E9F-801F-F8B1-4201-CA5E5B0B35EA}"/>
              </a:ext>
            </a:extLst>
          </p:cNvPr>
          <p:cNvPicPr>
            <a:picLocks noChangeAspect="1"/>
          </p:cNvPicPr>
          <p:nvPr/>
        </p:nvPicPr>
        <p:blipFill>
          <a:blip r:embed="rId3"/>
          <a:stretch>
            <a:fillRect/>
          </a:stretch>
        </p:blipFill>
        <p:spPr>
          <a:xfrm>
            <a:off x="5834888" y="2362347"/>
            <a:ext cx="2743200" cy="2733675"/>
          </a:xfrm>
          <a:prstGeom prst="rect">
            <a:avLst/>
          </a:prstGeom>
        </p:spPr>
      </p:pic>
      <p:pic>
        <p:nvPicPr>
          <p:cNvPr id="11" name="Picture 10">
            <a:extLst>
              <a:ext uri="{FF2B5EF4-FFF2-40B4-BE49-F238E27FC236}">
                <a16:creationId xmlns:a16="http://schemas.microsoft.com/office/drawing/2014/main" id="{B09B5873-3452-1CAF-B04A-D0BB3443A3BF}"/>
              </a:ext>
            </a:extLst>
          </p:cNvPr>
          <p:cNvPicPr>
            <a:picLocks noChangeAspect="1"/>
          </p:cNvPicPr>
          <p:nvPr/>
        </p:nvPicPr>
        <p:blipFill>
          <a:blip r:embed="rId4"/>
          <a:stretch>
            <a:fillRect/>
          </a:stretch>
        </p:blipFill>
        <p:spPr>
          <a:xfrm>
            <a:off x="5244592" y="5143596"/>
            <a:ext cx="4204208" cy="556040"/>
          </a:xfrm>
          <a:prstGeom prst="rect">
            <a:avLst/>
          </a:prstGeom>
        </p:spPr>
      </p:pic>
    </p:spTree>
    <p:extLst>
      <p:ext uri="{BB962C8B-B14F-4D97-AF65-F5344CB8AC3E}">
        <p14:creationId xmlns:p14="http://schemas.microsoft.com/office/powerpoint/2010/main" val="447126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1EC3E-9410-5C56-B52D-AA2680281706}"/>
              </a:ext>
            </a:extLst>
          </p:cNvPr>
          <p:cNvSpPr>
            <a:spLocks noGrp="1"/>
          </p:cNvSpPr>
          <p:nvPr>
            <p:ph type="title"/>
          </p:nvPr>
        </p:nvSpPr>
        <p:spPr/>
        <p:txBody>
          <a:bodyPr/>
          <a:lstStyle/>
          <a:p>
            <a:r>
              <a:rPr lang="en-GB"/>
              <a:t>Learning Definition</a:t>
            </a:r>
            <a:endParaRPr lang="en-GB" dirty="0"/>
          </a:p>
        </p:txBody>
      </p:sp>
      <p:sp>
        <p:nvSpPr>
          <p:cNvPr id="3" name="Content Placeholder 2">
            <a:extLst>
              <a:ext uri="{FF2B5EF4-FFF2-40B4-BE49-F238E27FC236}">
                <a16:creationId xmlns:a16="http://schemas.microsoft.com/office/drawing/2014/main" id="{C0477D7D-7011-BBCC-A327-C436C2EFAC71}"/>
              </a:ext>
            </a:extLst>
          </p:cNvPr>
          <p:cNvSpPr>
            <a:spLocks noGrp="1"/>
          </p:cNvSpPr>
          <p:nvPr>
            <p:ph idx="1"/>
          </p:nvPr>
        </p:nvSpPr>
        <p:spPr/>
        <p:txBody>
          <a:bodyPr/>
          <a:lstStyle/>
          <a:p>
            <a:pPr marL="171450" indent="-171450">
              <a:buFont typeface="Arial" panose="020B0604020202020204" pitchFamily="34" charset="0"/>
              <a:buChar char="•"/>
            </a:pPr>
            <a:r>
              <a:rPr lang="en-GB" dirty="0"/>
              <a:t>Learning represents a process of knowledge acquisition through a cognitive process of active engagement with the new learning material in order for it to make sense and to develop our understanding.</a:t>
            </a:r>
          </a:p>
          <a:p>
            <a:pPr marL="171450" indent="-171450">
              <a:buFont typeface="Arial" panose="020B0604020202020204" pitchFamily="34" charset="0"/>
              <a:buChar char="•"/>
            </a:pPr>
            <a:r>
              <a:rPr lang="en-GB" dirty="0"/>
              <a:t>Learning is a cumulative process that builds upon previous learning to enhance and develop our understanding. </a:t>
            </a:r>
          </a:p>
        </p:txBody>
      </p:sp>
      <p:sp>
        <p:nvSpPr>
          <p:cNvPr id="4" name="TextBox 3">
            <a:extLst>
              <a:ext uri="{FF2B5EF4-FFF2-40B4-BE49-F238E27FC236}">
                <a16:creationId xmlns:a16="http://schemas.microsoft.com/office/drawing/2014/main" id="{C7BA538C-BD05-92CD-CC5E-CBEF3A5DCACA}"/>
              </a:ext>
            </a:extLst>
          </p:cNvPr>
          <p:cNvSpPr txBox="1"/>
          <p:nvPr/>
        </p:nvSpPr>
        <p:spPr>
          <a:xfrm>
            <a:off x="8997043" y="6176963"/>
            <a:ext cx="2808514" cy="369332"/>
          </a:xfrm>
          <a:prstGeom prst="rect">
            <a:avLst/>
          </a:prstGeom>
          <a:noFill/>
        </p:spPr>
        <p:txBody>
          <a:bodyPr wrap="square" rtlCol="0">
            <a:spAutoFit/>
          </a:bodyPr>
          <a:lstStyle/>
          <a:p>
            <a:r>
              <a:rPr lang="en-GB"/>
              <a:t>(Oko and Reid, 2017)</a:t>
            </a:r>
            <a:endParaRPr lang="en-GB" dirty="0"/>
          </a:p>
        </p:txBody>
      </p:sp>
    </p:spTree>
    <p:extLst>
      <p:ext uri="{BB962C8B-B14F-4D97-AF65-F5344CB8AC3E}">
        <p14:creationId xmlns:p14="http://schemas.microsoft.com/office/powerpoint/2010/main" val="17930579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C8B9A-5FDD-D8A4-C0D1-D9D82B925576}"/>
              </a:ext>
            </a:extLst>
          </p:cNvPr>
          <p:cNvSpPr>
            <a:spLocks noGrp="1"/>
          </p:cNvSpPr>
          <p:nvPr>
            <p:ph type="title"/>
          </p:nvPr>
        </p:nvSpPr>
        <p:spPr/>
        <p:txBody>
          <a:bodyPr/>
          <a:lstStyle/>
          <a:p>
            <a:r>
              <a:rPr lang="en-GB"/>
              <a:t>‘Learning to Learn’ Definition</a:t>
            </a:r>
            <a:endParaRPr lang="en-GB" dirty="0"/>
          </a:p>
        </p:txBody>
      </p:sp>
      <p:sp>
        <p:nvSpPr>
          <p:cNvPr id="3" name="Content Placeholder 2">
            <a:extLst>
              <a:ext uri="{FF2B5EF4-FFF2-40B4-BE49-F238E27FC236}">
                <a16:creationId xmlns:a16="http://schemas.microsoft.com/office/drawing/2014/main" id="{BE076790-7FF5-6ED1-47B1-8BBCBB01265F}"/>
              </a:ext>
            </a:extLst>
          </p:cNvPr>
          <p:cNvSpPr>
            <a:spLocks noGrp="1"/>
          </p:cNvSpPr>
          <p:nvPr>
            <p:ph idx="1"/>
          </p:nvPr>
        </p:nvSpPr>
        <p:spPr/>
        <p:txBody>
          <a:bodyPr>
            <a:normAutofit/>
          </a:bodyPr>
          <a:lstStyle/>
          <a:p>
            <a:r>
              <a:rPr lang="en-GB" sz="2400" i="0" dirty="0">
                <a:effectLst/>
                <a:latin typeface="MuseoSans"/>
              </a:rPr>
              <a:t>‘‘Learning to learn’ is the ability to pursue and persist in learning, to organise one’s own learning, including through effective management of time and information, both individually and in groups. This competence includes awareness of one’s learning process and needs, identifying available opportunities, and the ability to overcome obstacles in order to learn successfully. This competence means gaining, processing and assimilating new knowledge and skill as well as seeking and making use of guidance. Learning to learn engages learners to build on prior learning and life experiences in order to use and apply knowledge and skills in a variety of contexts: at home, at work, in education and training. Motivation and confidence are crucial to an individual’s competence.’</a:t>
            </a:r>
            <a:r>
              <a:rPr lang="en-GB" sz="2400" dirty="0">
                <a:effectLst/>
                <a:latin typeface="MuseoSans"/>
              </a:rPr>
              <a:t> (James, 2023) </a:t>
            </a:r>
            <a:endParaRPr lang="en-GB" sz="2400" dirty="0">
              <a:latin typeface="MuseoSans"/>
            </a:endParaRPr>
          </a:p>
        </p:txBody>
      </p:sp>
    </p:spTree>
    <p:extLst>
      <p:ext uri="{BB962C8B-B14F-4D97-AF65-F5344CB8AC3E}">
        <p14:creationId xmlns:p14="http://schemas.microsoft.com/office/powerpoint/2010/main" val="863712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5C8B9A-5FDD-D8A4-C0D1-D9D82B925576}"/>
              </a:ext>
            </a:extLst>
          </p:cNvPr>
          <p:cNvSpPr>
            <a:spLocks noGrp="1"/>
          </p:cNvSpPr>
          <p:nvPr>
            <p:ph type="title"/>
          </p:nvPr>
        </p:nvSpPr>
        <p:spPr/>
        <p:txBody>
          <a:bodyPr/>
          <a:lstStyle/>
          <a:p>
            <a:r>
              <a:rPr lang="en-GB" dirty="0"/>
              <a:t>Definition (breakdown) </a:t>
            </a:r>
          </a:p>
        </p:txBody>
      </p:sp>
      <p:sp>
        <p:nvSpPr>
          <p:cNvPr id="3" name="Content Placeholder 2">
            <a:extLst>
              <a:ext uri="{FF2B5EF4-FFF2-40B4-BE49-F238E27FC236}">
                <a16:creationId xmlns:a16="http://schemas.microsoft.com/office/drawing/2014/main" id="{BE076790-7FF5-6ED1-47B1-8BBCBB01265F}"/>
              </a:ext>
            </a:extLst>
          </p:cNvPr>
          <p:cNvSpPr>
            <a:spLocks noGrp="1"/>
          </p:cNvSpPr>
          <p:nvPr>
            <p:ph idx="1"/>
          </p:nvPr>
        </p:nvSpPr>
        <p:spPr>
          <a:xfrm>
            <a:off x="838200" y="1427884"/>
            <a:ext cx="10515600" cy="4351338"/>
          </a:xfrm>
        </p:spPr>
        <p:txBody>
          <a:bodyPr>
            <a:normAutofit/>
          </a:bodyPr>
          <a:lstStyle/>
          <a:p>
            <a:pPr marL="0" indent="0">
              <a:buNone/>
            </a:pPr>
            <a:r>
              <a:rPr lang="en-GB" sz="2400" b="0" i="0" dirty="0">
                <a:solidFill>
                  <a:srgbClr val="1F1F1F"/>
                </a:solidFill>
                <a:effectLst/>
                <a:latin typeface="MuseoSans"/>
              </a:rPr>
              <a:t>‘Learning to learn’ is the ability to </a:t>
            </a:r>
            <a:r>
              <a:rPr lang="en-GB" sz="2400" b="1" i="0" u="sng" dirty="0">
                <a:solidFill>
                  <a:srgbClr val="7030A0"/>
                </a:solidFill>
                <a:effectLst/>
                <a:latin typeface="MuseoSans"/>
              </a:rPr>
              <a:t>pursue and persist</a:t>
            </a:r>
            <a:r>
              <a:rPr lang="en-GB" sz="2400" b="0" i="0" dirty="0">
                <a:solidFill>
                  <a:srgbClr val="7030A0"/>
                </a:solidFill>
                <a:effectLst/>
                <a:latin typeface="MuseoSans"/>
              </a:rPr>
              <a:t> </a:t>
            </a:r>
            <a:r>
              <a:rPr lang="en-GB" sz="2400" b="0" i="0" dirty="0">
                <a:solidFill>
                  <a:srgbClr val="1F1F1F"/>
                </a:solidFill>
                <a:effectLst/>
                <a:latin typeface="MuseoSans"/>
              </a:rPr>
              <a:t>in learning, to </a:t>
            </a:r>
            <a:r>
              <a:rPr lang="en-GB" sz="2400" b="1" i="0" u="sng" dirty="0">
                <a:solidFill>
                  <a:schemeClr val="accent1"/>
                </a:solidFill>
                <a:effectLst/>
                <a:latin typeface="MuseoSans"/>
              </a:rPr>
              <a:t>organise</a:t>
            </a:r>
            <a:r>
              <a:rPr lang="en-GB" sz="2400" b="0" i="0" dirty="0">
                <a:solidFill>
                  <a:srgbClr val="1F1F1F"/>
                </a:solidFill>
                <a:effectLst/>
                <a:latin typeface="MuseoSans"/>
              </a:rPr>
              <a:t> one’s own learning, including through </a:t>
            </a:r>
            <a:r>
              <a:rPr lang="en-GB" sz="2400" b="1" i="0" u="sng" dirty="0">
                <a:solidFill>
                  <a:schemeClr val="accent1"/>
                </a:solidFill>
                <a:effectLst/>
                <a:latin typeface="MuseoSans"/>
              </a:rPr>
              <a:t>effective management </a:t>
            </a:r>
            <a:r>
              <a:rPr lang="en-GB" sz="2400" b="0" i="0" dirty="0">
                <a:solidFill>
                  <a:srgbClr val="1F1F1F"/>
                </a:solidFill>
                <a:effectLst/>
                <a:latin typeface="MuseoSans"/>
              </a:rPr>
              <a:t>of time and information, both individually and in groups. This competence includes </a:t>
            </a:r>
            <a:r>
              <a:rPr lang="en-GB" sz="2400" b="1" i="0" u="sng" dirty="0">
                <a:solidFill>
                  <a:schemeClr val="accent6"/>
                </a:solidFill>
                <a:effectLst/>
                <a:latin typeface="MuseoSans"/>
              </a:rPr>
              <a:t>awareness of one’s learning process</a:t>
            </a:r>
            <a:r>
              <a:rPr lang="en-GB" sz="2400" b="0" i="0" dirty="0">
                <a:solidFill>
                  <a:schemeClr val="accent6"/>
                </a:solidFill>
                <a:effectLst/>
                <a:latin typeface="MuseoSans"/>
              </a:rPr>
              <a:t> </a:t>
            </a:r>
            <a:r>
              <a:rPr lang="en-GB" sz="2400" b="0" i="0" dirty="0">
                <a:solidFill>
                  <a:srgbClr val="1F1F1F"/>
                </a:solidFill>
                <a:effectLst/>
                <a:latin typeface="MuseoSans"/>
              </a:rPr>
              <a:t>and needs, identifying available opportunities, and the ability to overcome obstacles in order to learn successfully. This competence means </a:t>
            </a:r>
            <a:r>
              <a:rPr lang="en-GB" sz="2400" b="1" i="0" u="sng" dirty="0">
                <a:solidFill>
                  <a:schemeClr val="accent1"/>
                </a:solidFill>
                <a:effectLst/>
                <a:latin typeface="MuseoSans"/>
              </a:rPr>
              <a:t>gaining, processing and assimilating</a:t>
            </a:r>
            <a:r>
              <a:rPr lang="en-GB" sz="2400" b="0" i="0" dirty="0">
                <a:solidFill>
                  <a:srgbClr val="1F1F1F"/>
                </a:solidFill>
                <a:effectLst/>
                <a:latin typeface="MuseoSans"/>
              </a:rPr>
              <a:t> new knowledge and skill as well as </a:t>
            </a:r>
            <a:r>
              <a:rPr lang="en-GB" sz="2400" b="1" i="0" u="sng" dirty="0">
                <a:solidFill>
                  <a:schemeClr val="accent1"/>
                </a:solidFill>
                <a:effectLst/>
                <a:latin typeface="MuseoSans"/>
              </a:rPr>
              <a:t>seeking and making use </a:t>
            </a:r>
            <a:r>
              <a:rPr lang="en-GB" sz="2400" b="0" i="0" dirty="0">
                <a:solidFill>
                  <a:srgbClr val="1F1F1F"/>
                </a:solidFill>
                <a:effectLst/>
                <a:latin typeface="MuseoSans"/>
              </a:rPr>
              <a:t>of guidance. Learning to learn engages learners to </a:t>
            </a:r>
            <a:r>
              <a:rPr lang="en-GB" sz="2400" b="1" i="0" u="sng" dirty="0">
                <a:solidFill>
                  <a:srgbClr val="FF0000"/>
                </a:solidFill>
                <a:effectLst/>
                <a:latin typeface="MuseoSans"/>
              </a:rPr>
              <a:t>build on prior learning </a:t>
            </a:r>
            <a:r>
              <a:rPr lang="en-GB" sz="2400" b="0" i="0" dirty="0">
                <a:solidFill>
                  <a:srgbClr val="1F1F1F"/>
                </a:solidFill>
                <a:effectLst/>
                <a:latin typeface="MuseoSans"/>
              </a:rPr>
              <a:t>and life experiences in order to </a:t>
            </a:r>
            <a:r>
              <a:rPr lang="en-GB" sz="2400" b="1" i="0" u="sng" dirty="0">
                <a:solidFill>
                  <a:schemeClr val="accent1"/>
                </a:solidFill>
                <a:effectLst/>
                <a:latin typeface="MuseoSans"/>
              </a:rPr>
              <a:t>use and apply knowledge and skills </a:t>
            </a:r>
            <a:r>
              <a:rPr lang="en-GB" sz="2400" b="1" i="0" u="sng" dirty="0">
                <a:solidFill>
                  <a:schemeClr val="accent2"/>
                </a:solidFill>
                <a:effectLst/>
                <a:latin typeface="MuseoSans"/>
              </a:rPr>
              <a:t>in a variety of contexts</a:t>
            </a:r>
            <a:r>
              <a:rPr lang="en-GB" sz="2400" b="0" i="0" dirty="0">
                <a:solidFill>
                  <a:srgbClr val="1F1F1F"/>
                </a:solidFill>
                <a:effectLst/>
                <a:latin typeface="MuseoSans"/>
              </a:rPr>
              <a:t>: at home, at work, in education and training. </a:t>
            </a:r>
            <a:r>
              <a:rPr lang="en-GB" sz="2400" b="1" i="0" u="sng" dirty="0">
                <a:solidFill>
                  <a:srgbClr val="00B0F0"/>
                </a:solidFill>
                <a:effectLst/>
                <a:latin typeface="MuseoSans"/>
              </a:rPr>
              <a:t>Motivation</a:t>
            </a:r>
            <a:r>
              <a:rPr lang="en-GB" sz="2400" b="0" i="0" dirty="0">
                <a:solidFill>
                  <a:srgbClr val="1F1F1F"/>
                </a:solidFill>
                <a:effectLst/>
                <a:latin typeface="MuseoSans"/>
              </a:rPr>
              <a:t> and confidence are crucial to an individual’s competence </a:t>
            </a:r>
            <a:r>
              <a:rPr lang="en-GB" sz="2400" dirty="0">
                <a:effectLst/>
                <a:latin typeface="MuseoSans"/>
              </a:rPr>
              <a:t> (James, 2023).</a:t>
            </a:r>
            <a:endParaRPr lang="en-GB" sz="2400" dirty="0">
              <a:latin typeface="MuseoSans"/>
            </a:endParaRPr>
          </a:p>
        </p:txBody>
      </p:sp>
      <p:sp>
        <p:nvSpPr>
          <p:cNvPr id="4" name="TextBox 3">
            <a:extLst>
              <a:ext uri="{FF2B5EF4-FFF2-40B4-BE49-F238E27FC236}">
                <a16:creationId xmlns:a16="http://schemas.microsoft.com/office/drawing/2014/main" id="{6E3C911C-0E2E-380D-2791-F9DE03871C97}"/>
              </a:ext>
            </a:extLst>
          </p:cNvPr>
          <p:cNvSpPr txBox="1"/>
          <p:nvPr/>
        </p:nvSpPr>
        <p:spPr>
          <a:xfrm>
            <a:off x="838200" y="5179057"/>
            <a:ext cx="10647123" cy="1200329"/>
          </a:xfrm>
          <a:prstGeom prst="rect">
            <a:avLst/>
          </a:prstGeom>
          <a:noFill/>
        </p:spPr>
        <p:txBody>
          <a:bodyPr wrap="square" rtlCol="0">
            <a:spAutoFit/>
          </a:bodyPr>
          <a:lstStyle/>
          <a:p>
            <a:r>
              <a:rPr lang="en-GB" sz="2400" b="1" dirty="0">
                <a:solidFill>
                  <a:srgbClr val="7030A0"/>
                </a:solidFill>
              </a:rPr>
              <a:t>PURPLE</a:t>
            </a:r>
            <a:r>
              <a:rPr lang="en-GB" sz="2400" dirty="0"/>
              <a:t> = LEARNING REQUIRES RESILENCE; </a:t>
            </a:r>
            <a:r>
              <a:rPr lang="en-GB" sz="2400" b="1" dirty="0">
                <a:solidFill>
                  <a:schemeClr val="accent1"/>
                </a:solidFill>
              </a:rPr>
              <a:t>DARK</a:t>
            </a:r>
            <a:r>
              <a:rPr lang="en-GB" sz="2400" dirty="0"/>
              <a:t> </a:t>
            </a:r>
            <a:r>
              <a:rPr lang="en-GB" sz="2400" b="1" dirty="0">
                <a:solidFill>
                  <a:schemeClr val="accent1"/>
                </a:solidFill>
              </a:rPr>
              <a:t>BLUE </a:t>
            </a:r>
            <a:r>
              <a:rPr lang="en-GB" sz="2400" dirty="0"/>
              <a:t>= LEARNING IS ACTIVE; </a:t>
            </a:r>
            <a:r>
              <a:rPr lang="en-GB" sz="2400" b="1" dirty="0">
                <a:solidFill>
                  <a:schemeClr val="accent6"/>
                </a:solidFill>
              </a:rPr>
              <a:t>GREEN</a:t>
            </a:r>
            <a:r>
              <a:rPr lang="en-GB" sz="2400" dirty="0"/>
              <a:t> = LEARNING REQUIRES REFLECTION; </a:t>
            </a:r>
            <a:r>
              <a:rPr lang="en-GB" sz="2400" b="1" dirty="0">
                <a:solidFill>
                  <a:srgbClr val="FF0000"/>
                </a:solidFill>
              </a:rPr>
              <a:t>RED</a:t>
            </a:r>
            <a:r>
              <a:rPr lang="en-GB" sz="2400" dirty="0"/>
              <a:t> = LEARNING IS SPIRALLED; </a:t>
            </a:r>
            <a:r>
              <a:rPr lang="en-GB" sz="2400" b="1" dirty="0">
                <a:solidFill>
                  <a:schemeClr val="accent2"/>
                </a:solidFill>
              </a:rPr>
              <a:t>ORANGE</a:t>
            </a:r>
            <a:r>
              <a:rPr lang="en-GB" sz="2400" dirty="0"/>
              <a:t> = LEARNING IS HIGHER; </a:t>
            </a:r>
            <a:r>
              <a:rPr lang="en-GB" sz="2400" b="1" dirty="0">
                <a:solidFill>
                  <a:srgbClr val="00B0F0"/>
                </a:solidFill>
              </a:rPr>
              <a:t>LIGHT BLUE </a:t>
            </a:r>
            <a:r>
              <a:rPr lang="en-GB" sz="2400" dirty="0"/>
              <a:t>= LEARNING REQUIRES MOTIVATION</a:t>
            </a:r>
          </a:p>
        </p:txBody>
      </p:sp>
    </p:spTree>
    <p:extLst>
      <p:ext uri="{BB962C8B-B14F-4D97-AF65-F5344CB8AC3E}">
        <p14:creationId xmlns:p14="http://schemas.microsoft.com/office/powerpoint/2010/main" val="2068521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902C44-0695-936C-4AA4-54DAD4A7A85A}"/>
              </a:ext>
            </a:extLst>
          </p:cNvPr>
          <p:cNvSpPr>
            <a:spLocks noGrp="1"/>
          </p:cNvSpPr>
          <p:nvPr>
            <p:ph type="title"/>
          </p:nvPr>
        </p:nvSpPr>
        <p:spPr/>
        <p:txBody>
          <a:bodyPr/>
          <a:lstStyle/>
          <a:p>
            <a:r>
              <a:rPr lang="en-US" sz="4400" b="1">
                <a:solidFill>
                  <a:srgbClr val="7030A0"/>
                </a:solidFill>
              </a:rPr>
              <a:t>LEARNING REQUIRES RESILIENCE</a:t>
            </a:r>
            <a:endParaRPr lang="en-GB" dirty="0"/>
          </a:p>
        </p:txBody>
      </p:sp>
      <p:pic>
        <p:nvPicPr>
          <p:cNvPr id="4" name="Picture 6" descr="The Life of Riley Hypnotherapy - “The road to success is not straight.  There is a curve called Failure, a loop called Confusion, speed bumps  called Friends, red lights called Enemies, caution">
            <a:extLst>
              <a:ext uri="{FF2B5EF4-FFF2-40B4-BE49-F238E27FC236}">
                <a16:creationId xmlns:a16="http://schemas.microsoft.com/office/drawing/2014/main" id="{224859EF-60F8-C7F7-4840-C38330A5E98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212397" y="1781262"/>
            <a:ext cx="4321109" cy="329547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Success Isn't a Straight Line - The Modern Man">
            <a:extLst>
              <a:ext uri="{FF2B5EF4-FFF2-40B4-BE49-F238E27FC236}">
                <a16:creationId xmlns:a16="http://schemas.microsoft.com/office/drawing/2014/main" id="{DA40F173-E815-16FD-E617-7BE595C64800}"/>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480972" y="1769840"/>
            <a:ext cx="5189726" cy="329547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95EA339-FA8E-58B6-A2A8-498BB2B7C0E5}"/>
              </a:ext>
            </a:extLst>
          </p:cNvPr>
          <p:cNvSpPr txBox="1"/>
          <p:nvPr/>
        </p:nvSpPr>
        <p:spPr>
          <a:xfrm>
            <a:off x="1232889" y="5167312"/>
            <a:ext cx="9959015" cy="1938992"/>
          </a:xfrm>
          <a:prstGeom prst="rect">
            <a:avLst/>
          </a:prstGeom>
          <a:noFill/>
        </p:spPr>
        <p:txBody>
          <a:bodyPr wrap="square" rtlCol="0">
            <a:spAutoFit/>
          </a:bodyPr>
          <a:lstStyle/>
          <a:p>
            <a:pPr algn="ctr"/>
            <a:r>
              <a:rPr lang="en-GB" sz="2000" b="0" i="0" dirty="0">
                <a:solidFill>
                  <a:srgbClr val="282828"/>
                </a:solidFill>
                <a:effectLst/>
                <a:latin typeface="MuseoSans"/>
              </a:rPr>
              <a:t>A resilient learner develops the ability to cope better with errors and hardships rather than allow negative situations to hamper their performance (Wang, 2021)</a:t>
            </a:r>
          </a:p>
          <a:p>
            <a:pPr algn="ctr"/>
            <a:r>
              <a:rPr lang="en-GB" sz="2000" dirty="0">
                <a:solidFill>
                  <a:srgbClr val="282828"/>
                </a:solidFill>
                <a:latin typeface="MuseoSans"/>
              </a:rPr>
              <a:t>“Try and fail but do not fail to try” (John Quincy Adams)</a:t>
            </a:r>
            <a:r>
              <a:rPr lang="en-GB" sz="2000" b="1" dirty="0">
                <a:solidFill>
                  <a:srgbClr val="000000"/>
                </a:solidFill>
                <a:latin typeface="MuseoSans"/>
              </a:rPr>
              <a:t> </a:t>
            </a:r>
          </a:p>
          <a:p>
            <a:pPr algn="ctr"/>
            <a:r>
              <a:rPr lang="en-GB" sz="2000" dirty="0">
                <a:solidFill>
                  <a:srgbClr val="000000"/>
                </a:solidFill>
                <a:latin typeface="MuseoSans"/>
              </a:rPr>
              <a:t>Remember each student is on their individual journey</a:t>
            </a:r>
          </a:p>
          <a:p>
            <a:pPr algn="ctr"/>
            <a:r>
              <a:rPr lang="en-GB" sz="2000" dirty="0">
                <a:latin typeface="MuseoSans"/>
              </a:rPr>
              <a:t>HCPC (2023) </a:t>
            </a:r>
            <a:r>
              <a:rPr lang="en-GB" sz="2000" dirty="0" err="1">
                <a:latin typeface="MuseoSans"/>
              </a:rPr>
              <a:t>SoP</a:t>
            </a:r>
            <a:r>
              <a:rPr lang="en-GB" sz="2000" dirty="0">
                <a:latin typeface="MuseoSans"/>
              </a:rPr>
              <a:t> - Problem-solving skills</a:t>
            </a:r>
          </a:p>
          <a:p>
            <a:endParaRPr lang="en-GB" sz="2000" dirty="0">
              <a:latin typeface="MuseoSans"/>
            </a:endParaRPr>
          </a:p>
        </p:txBody>
      </p:sp>
    </p:spTree>
    <p:extLst>
      <p:ext uri="{BB962C8B-B14F-4D97-AF65-F5344CB8AC3E}">
        <p14:creationId xmlns:p14="http://schemas.microsoft.com/office/powerpoint/2010/main" val="34671317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45198-C959-48B4-58D1-C7B33D20B185}"/>
              </a:ext>
            </a:extLst>
          </p:cNvPr>
          <p:cNvSpPr>
            <a:spLocks noGrp="1"/>
          </p:cNvSpPr>
          <p:nvPr>
            <p:ph type="title"/>
          </p:nvPr>
        </p:nvSpPr>
        <p:spPr/>
        <p:txBody>
          <a:bodyPr/>
          <a:lstStyle/>
          <a:p>
            <a:r>
              <a:rPr lang="en-GB" b="1" dirty="0">
                <a:solidFill>
                  <a:schemeClr val="accent1"/>
                </a:solidFill>
              </a:rPr>
              <a:t>LEARNING IS AN ACTIVE PROCESS</a:t>
            </a:r>
          </a:p>
        </p:txBody>
      </p:sp>
      <p:sp>
        <p:nvSpPr>
          <p:cNvPr id="9" name="Content Placeholder 8">
            <a:extLst>
              <a:ext uri="{FF2B5EF4-FFF2-40B4-BE49-F238E27FC236}">
                <a16:creationId xmlns:a16="http://schemas.microsoft.com/office/drawing/2014/main" id="{A0C5023F-8B97-1FEC-1D82-FB3E0CC4913F}"/>
              </a:ext>
            </a:extLst>
          </p:cNvPr>
          <p:cNvSpPr>
            <a:spLocks noGrp="1"/>
          </p:cNvSpPr>
          <p:nvPr>
            <p:ph idx="1"/>
          </p:nvPr>
        </p:nvSpPr>
        <p:spPr/>
        <p:txBody>
          <a:bodyPr>
            <a:normAutofit/>
          </a:bodyPr>
          <a:lstStyle/>
          <a:p>
            <a:r>
              <a:rPr lang="en-GB" sz="2000" b="0" i="0" u="none" strike="noStrike" dirty="0">
                <a:solidFill>
                  <a:srgbClr val="000000"/>
                </a:solidFill>
                <a:effectLst/>
                <a:latin typeface="MuseoSans"/>
              </a:rPr>
              <a:t>Students learn more when they are actively engaged in making the learning happen</a:t>
            </a:r>
          </a:p>
          <a:p>
            <a:r>
              <a:rPr lang="en-GB" sz="2000" dirty="0">
                <a:latin typeface="MuseoSans"/>
              </a:rPr>
              <a:t>Active learning can take place through discussion, making active notes, asking questions… but it can also be via Problem- or Project-, Enquiry- and Question Based Learning (Burns and Sinfield, 2022)</a:t>
            </a:r>
          </a:p>
        </p:txBody>
      </p:sp>
      <p:pic>
        <p:nvPicPr>
          <p:cNvPr id="11" name="Picture 10" descr="Person using credit card">
            <a:extLst>
              <a:ext uri="{FF2B5EF4-FFF2-40B4-BE49-F238E27FC236}">
                <a16:creationId xmlns:a16="http://schemas.microsoft.com/office/drawing/2014/main" id="{1AF735D0-6180-6861-04EA-A578578D21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205" y="3181611"/>
            <a:ext cx="3722445" cy="2482856"/>
          </a:xfrm>
          <a:prstGeom prst="rect">
            <a:avLst/>
          </a:prstGeom>
        </p:spPr>
      </p:pic>
      <p:sp>
        <p:nvSpPr>
          <p:cNvPr id="14" name="TextBox 13">
            <a:extLst>
              <a:ext uri="{FF2B5EF4-FFF2-40B4-BE49-F238E27FC236}">
                <a16:creationId xmlns:a16="http://schemas.microsoft.com/office/drawing/2014/main" id="{0616EC4E-1DD4-DBE2-E9B0-BCFB9A50EAEE}"/>
              </a:ext>
            </a:extLst>
          </p:cNvPr>
          <p:cNvSpPr txBox="1"/>
          <p:nvPr/>
        </p:nvSpPr>
        <p:spPr>
          <a:xfrm>
            <a:off x="838200" y="5757614"/>
            <a:ext cx="4091122" cy="369332"/>
          </a:xfrm>
          <a:prstGeom prst="rect">
            <a:avLst/>
          </a:prstGeom>
          <a:noFill/>
        </p:spPr>
        <p:txBody>
          <a:bodyPr wrap="square" rtlCol="0">
            <a:spAutoFit/>
          </a:bodyPr>
          <a:lstStyle/>
          <a:p>
            <a:r>
              <a:rPr lang="en-GB" dirty="0"/>
              <a:t>Transactional (i.e. passive)</a:t>
            </a:r>
          </a:p>
        </p:txBody>
      </p:sp>
      <p:pic>
        <p:nvPicPr>
          <p:cNvPr id="16" name="Picture 15" descr="Flying dumbbells and yoga mat">
            <a:extLst>
              <a:ext uri="{FF2B5EF4-FFF2-40B4-BE49-F238E27FC236}">
                <a16:creationId xmlns:a16="http://schemas.microsoft.com/office/drawing/2014/main" id="{6F9A24F0-0D66-FA44-DD06-52637C6726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82480" y="3189431"/>
            <a:ext cx="3465467" cy="2475036"/>
          </a:xfrm>
          <a:prstGeom prst="rect">
            <a:avLst/>
          </a:prstGeom>
        </p:spPr>
      </p:pic>
      <p:sp>
        <p:nvSpPr>
          <p:cNvPr id="17" name="TextBox 16">
            <a:extLst>
              <a:ext uri="{FF2B5EF4-FFF2-40B4-BE49-F238E27FC236}">
                <a16:creationId xmlns:a16="http://schemas.microsoft.com/office/drawing/2014/main" id="{E6008E7F-D946-2C28-2B40-BA418125D918}"/>
              </a:ext>
            </a:extLst>
          </p:cNvPr>
          <p:cNvSpPr txBox="1"/>
          <p:nvPr/>
        </p:nvSpPr>
        <p:spPr>
          <a:xfrm>
            <a:off x="7078845" y="5704901"/>
            <a:ext cx="4091122" cy="369332"/>
          </a:xfrm>
          <a:prstGeom prst="rect">
            <a:avLst/>
          </a:prstGeom>
          <a:noFill/>
        </p:spPr>
        <p:txBody>
          <a:bodyPr wrap="square" rtlCol="0">
            <a:spAutoFit/>
          </a:bodyPr>
          <a:lstStyle/>
          <a:p>
            <a:r>
              <a:rPr lang="en-GB" dirty="0"/>
              <a:t>Active </a:t>
            </a:r>
          </a:p>
        </p:txBody>
      </p:sp>
      <p:sp>
        <p:nvSpPr>
          <p:cNvPr id="20" name="TextBox 19">
            <a:extLst>
              <a:ext uri="{FF2B5EF4-FFF2-40B4-BE49-F238E27FC236}">
                <a16:creationId xmlns:a16="http://schemas.microsoft.com/office/drawing/2014/main" id="{6C2FA74C-2588-873F-F4D0-D19DC813301D}"/>
              </a:ext>
            </a:extLst>
          </p:cNvPr>
          <p:cNvSpPr txBox="1"/>
          <p:nvPr/>
        </p:nvSpPr>
        <p:spPr>
          <a:xfrm>
            <a:off x="5433131" y="4097117"/>
            <a:ext cx="1187060" cy="923330"/>
          </a:xfrm>
          <a:prstGeom prst="rect">
            <a:avLst/>
          </a:prstGeom>
          <a:noFill/>
        </p:spPr>
        <p:txBody>
          <a:bodyPr wrap="square" rtlCol="0">
            <a:spAutoFit/>
          </a:bodyPr>
          <a:lstStyle/>
          <a:p>
            <a:r>
              <a:rPr lang="en-GB" sz="5400" dirty="0"/>
              <a:t>VS</a:t>
            </a:r>
          </a:p>
        </p:txBody>
      </p:sp>
      <p:sp>
        <p:nvSpPr>
          <p:cNvPr id="4" name="TextBox 3">
            <a:extLst>
              <a:ext uri="{FF2B5EF4-FFF2-40B4-BE49-F238E27FC236}">
                <a16:creationId xmlns:a16="http://schemas.microsoft.com/office/drawing/2014/main" id="{B8C2F164-9B38-BD17-8B54-200E33AE2D31}"/>
              </a:ext>
            </a:extLst>
          </p:cNvPr>
          <p:cNvSpPr txBox="1"/>
          <p:nvPr/>
        </p:nvSpPr>
        <p:spPr>
          <a:xfrm>
            <a:off x="2940064" y="6126946"/>
            <a:ext cx="7360254" cy="646331"/>
          </a:xfrm>
          <a:prstGeom prst="rect">
            <a:avLst/>
          </a:prstGeom>
          <a:noFill/>
        </p:spPr>
        <p:txBody>
          <a:bodyPr wrap="square">
            <a:spAutoFit/>
          </a:bodyPr>
          <a:lstStyle/>
          <a:p>
            <a:pPr marL="0" indent="0" algn="ctr">
              <a:buNone/>
            </a:pPr>
            <a:r>
              <a:rPr lang="en-GB" sz="1800" i="1" dirty="0"/>
              <a:t>What I hear, I forget; what I see, I remember; what I do, I understand.</a:t>
            </a:r>
          </a:p>
          <a:p>
            <a:pPr marL="0" indent="0" algn="ctr">
              <a:buNone/>
            </a:pPr>
            <a:r>
              <a:rPr lang="en-GB" sz="1800" i="1" dirty="0"/>
              <a:t>-Chinese proverb</a:t>
            </a:r>
          </a:p>
        </p:txBody>
      </p:sp>
    </p:spTree>
    <p:extLst>
      <p:ext uri="{BB962C8B-B14F-4D97-AF65-F5344CB8AC3E}">
        <p14:creationId xmlns:p14="http://schemas.microsoft.com/office/powerpoint/2010/main" val="178614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0C0A9-9AB2-D6BD-CC1E-0A06D0CB7C12}"/>
              </a:ext>
            </a:extLst>
          </p:cNvPr>
          <p:cNvSpPr>
            <a:spLocks noGrp="1"/>
          </p:cNvSpPr>
          <p:nvPr>
            <p:ph type="title"/>
          </p:nvPr>
        </p:nvSpPr>
        <p:spPr/>
        <p:txBody>
          <a:bodyPr/>
          <a:lstStyle/>
          <a:p>
            <a:r>
              <a:rPr lang="en-GB" b="1" dirty="0">
                <a:solidFill>
                  <a:schemeClr val="accent6"/>
                </a:solidFill>
              </a:rPr>
              <a:t>LEARNING REQUIRES MOTIVATION</a:t>
            </a:r>
            <a:endParaRPr lang="en-GB" dirty="0"/>
          </a:p>
        </p:txBody>
      </p:sp>
      <p:sp>
        <p:nvSpPr>
          <p:cNvPr id="3" name="Content Placeholder 2">
            <a:extLst>
              <a:ext uri="{FF2B5EF4-FFF2-40B4-BE49-F238E27FC236}">
                <a16:creationId xmlns:a16="http://schemas.microsoft.com/office/drawing/2014/main" id="{1C2D77EA-9E25-94BE-833E-D57A27B3ECAC}"/>
              </a:ext>
            </a:extLst>
          </p:cNvPr>
          <p:cNvSpPr>
            <a:spLocks noGrp="1"/>
          </p:cNvSpPr>
          <p:nvPr>
            <p:ph idx="1"/>
          </p:nvPr>
        </p:nvSpPr>
        <p:spPr/>
        <p:txBody>
          <a:bodyPr>
            <a:normAutofit/>
          </a:bodyPr>
          <a:lstStyle/>
          <a:p>
            <a:r>
              <a:rPr lang="en-GB" sz="2000" dirty="0">
                <a:latin typeface="MuseoSans"/>
              </a:rPr>
              <a:t>Brennen, (2006, cited in Vero and Puka, 2017, p. 58) believes motivation to be “… the level of effort an individual is willing to expend toward the achievement of a certain goal”</a:t>
            </a:r>
          </a:p>
          <a:p>
            <a:r>
              <a:rPr lang="en-GB" sz="2000" dirty="0">
                <a:latin typeface="MuseoSans"/>
              </a:rPr>
              <a:t>According to Williams (2011, cited in Vero and Puka, 2017, p. 58), the five key ingredients impacting student motivation are the:</a:t>
            </a:r>
          </a:p>
          <a:p>
            <a:pPr marL="971550" lvl="1" indent="-514350">
              <a:buFont typeface="+mj-lt"/>
              <a:buAutoNum type="arabicPeriod"/>
            </a:pPr>
            <a:r>
              <a:rPr lang="en-GB" sz="2000" b="1" dirty="0">
                <a:latin typeface="MuseoSans"/>
              </a:rPr>
              <a:t>Student </a:t>
            </a:r>
            <a:r>
              <a:rPr lang="en-GB" sz="2000" dirty="0">
                <a:latin typeface="MuseoSans"/>
              </a:rPr>
              <a:t>- Must have access, ability, interest, and value education. </a:t>
            </a:r>
          </a:p>
          <a:p>
            <a:pPr marL="971550" lvl="1" indent="-514350">
              <a:buFont typeface="+mj-lt"/>
              <a:buAutoNum type="arabicPeriod"/>
            </a:pPr>
            <a:r>
              <a:rPr lang="en-GB" sz="2000" b="1" dirty="0">
                <a:latin typeface="MuseoSans"/>
              </a:rPr>
              <a:t>Teacher</a:t>
            </a:r>
            <a:r>
              <a:rPr lang="en-GB" sz="2000" dirty="0">
                <a:latin typeface="MuseoSans"/>
              </a:rPr>
              <a:t> – Must be well trained, must focus and monitor the educational process, be dedicated and responsive to their students, and be inspirational. </a:t>
            </a:r>
          </a:p>
          <a:p>
            <a:pPr marL="971550" lvl="1" indent="-514350">
              <a:buFont typeface="+mj-lt"/>
              <a:buAutoNum type="arabicPeriod"/>
            </a:pPr>
            <a:r>
              <a:rPr lang="en-GB" sz="2000" b="1" dirty="0">
                <a:latin typeface="MuseoSans"/>
              </a:rPr>
              <a:t>Content </a:t>
            </a:r>
            <a:r>
              <a:rPr lang="en-GB" sz="2000" dirty="0">
                <a:latin typeface="MuseoSans"/>
              </a:rPr>
              <a:t>-</a:t>
            </a:r>
            <a:r>
              <a:rPr lang="en-GB" sz="2000" b="1" dirty="0">
                <a:latin typeface="MuseoSans"/>
              </a:rPr>
              <a:t> </a:t>
            </a:r>
            <a:r>
              <a:rPr lang="en-GB" sz="2000" dirty="0">
                <a:latin typeface="MuseoSans"/>
              </a:rPr>
              <a:t>Must be accurate, timely, stimulating, and pertinent to the student’s current and future needs.</a:t>
            </a:r>
          </a:p>
          <a:p>
            <a:pPr marL="971550" lvl="1" indent="-514350">
              <a:buFont typeface="+mj-lt"/>
              <a:buAutoNum type="arabicPeriod"/>
            </a:pPr>
            <a:r>
              <a:rPr lang="en-GB" sz="2000" b="1" dirty="0">
                <a:latin typeface="MuseoSans"/>
              </a:rPr>
              <a:t>Method/process </a:t>
            </a:r>
            <a:r>
              <a:rPr lang="en-GB" sz="2000" dirty="0">
                <a:latin typeface="MuseoSans"/>
              </a:rPr>
              <a:t>- Must be inventive, encouraging, interesting, beneficial, and provide tools that can be applied to the student’s real life. </a:t>
            </a:r>
          </a:p>
          <a:p>
            <a:pPr marL="971550" lvl="1" indent="-514350">
              <a:buFont typeface="+mj-lt"/>
              <a:buAutoNum type="arabicPeriod"/>
            </a:pPr>
            <a:r>
              <a:rPr lang="en-GB" sz="2000" b="1" dirty="0">
                <a:latin typeface="MuseoSans"/>
              </a:rPr>
              <a:t>Environment</a:t>
            </a:r>
            <a:r>
              <a:rPr lang="en-GB" sz="2000" dirty="0">
                <a:latin typeface="MuseoSans"/>
              </a:rPr>
              <a:t> - needs to be accessible, safe, positive, personalized as much as possible, and empowering</a:t>
            </a:r>
          </a:p>
        </p:txBody>
      </p:sp>
    </p:spTree>
    <p:extLst>
      <p:ext uri="{BB962C8B-B14F-4D97-AF65-F5344CB8AC3E}">
        <p14:creationId xmlns:p14="http://schemas.microsoft.com/office/powerpoint/2010/main" val="1114203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869538-567C-97F5-BB95-486880E90DDA}"/>
              </a:ext>
            </a:extLst>
          </p:cNvPr>
          <p:cNvSpPr>
            <a:spLocks noGrp="1"/>
          </p:cNvSpPr>
          <p:nvPr>
            <p:ph type="title"/>
          </p:nvPr>
        </p:nvSpPr>
        <p:spPr>
          <a:xfrm>
            <a:off x="1075767" y="1188637"/>
            <a:ext cx="2988234" cy="4480726"/>
          </a:xfrm>
        </p:spPr>
        <p:txBody>
          <a:bodyPr>
            <a:normAutofit/>
          </a:bodyPr>
          <a:lstStyle/>
          <a:p>
            <a:pPr algn="r"/>
            <a:r>
              <a:rPr lang="en-GB" sz="4600" b="1" dirty="0"/>
              <a:t>Activity – </a:t>
            </a:r>
            <a:r>
              <a:rPr lang="en-GB" sz="4600" b="1" dirty="0" err="1"/>
              <a:t>Mentimeter</a:t>
            </a:r>
            <a:r>
              <a:rPr lang="en-GB" sz="4600" b="1" dirty="0"/>
              <a:t> </a:t>
            </a:r>
            <a:r>
              <a:rPr lang="en-GB" b="1" dirty="0"/>
              <a:t>(</a:t>
            </a:r>
            <a:r>
              <a:rPr lang="en-GB" b="0" i="0" dirty="0">
                <a:effectLst/>
                <a:latin typeface="MuseoSans"/>
              </a:rPr>
              <a:t>5 mins)</a:t>
            </a:r>
            <a:endParaRPr lang="en-GB" b="1" dirty="0"/>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BCB92AD-5E7E-51F4-D596-E4038DCB7013}"/>
              </a:ext>
            </a:extLst>
          </p:cNvPr>
          <p:cNvSpPr>
            <a:spLocks noGrp="1"/>
          </p:cNvSpPr>
          <p:nvPr>
            <p:ph idx="1"/>
          </p:nvPr>
        </p:nvSpPr>
        <p:spPr>
          <a:xfrm>
            <a:off x="4754536" y="1082678"/>
            <a:ext cx="6792291" cy="1980348"/>
          </a:xfrm>
        </p:spPr>
        <p:txBody>
          <a:bodyPr anchor="ctr">
            <a:normAutofit/>
          </a:bodyPr>
          <a:lstStyle/>
          <a:p>
            <a:r>
              <a:rPr lang="en-GB" sz="2400" i="0" dirty="0">
                <a:effectLst/>
                <a:latin typeface="MuseoSans"/>
              </a:rPr>
              <a:t>What is your motivation for studying physiotherapy?</a:t>
            </a:r>
          </a:p>
          <a:p>
            <a:r>
              <a:rPr lang="en-GB" sz="2400" dirty="0">
                <a:latin typeface="MuseoSans"/>
              </a:rPr>
              <a:t>How can you maintain a good level of motivation in your studies? </a:t>
            </a:r>
          </a:p>
        </p:txBody>
      </p:sp>
      <p:pic>
        <p:nvPicPr>
          <p:cNvPr id="4" name="Picture 3">
            <a:extLst>
              <a:ext uri="{FF2B5EF4-FFF2-40B4-BE49-F238E27FC236}">
                <a16:creationId xmlns:a16="http://schemas.microsoft.com/office/drawing/2014/main" id="{EB0920D8-D432-EB95-8879-E42A953C8AB4}"/>
              </a:ext>
            </a:extLst>
          </p:cNvPr>
          <p:cNvPicPr>
            <a:picLocks noChangeAspect="1"/>
          </p:cNvPicPr>
          <p:nvPr/>
        </p:nvPicPr>
        <p:blipFill>
          <a:blip r:embed="rId3"/>
          <a:stretch>
            <a:fillRect/>
          </a:stretch>
        </p:blipFill>
        <p:spPr>
          <a:xfrm>
            <a:off x="5834888" y="2721528"/>
            <a:ext cx="2743200" cy="2733675"/>
          </a:xfrm>
          <a:prstGeom prst="rect">
            <a:avLst/>
          </a:prstGeom>
        </p:spPr>
      </p:pic>
      <p:pic>
        <p:nvPicPr>
          <p:cNvPr id="5" name="Picture 4">
            <a:extLst>
              <a:ext uri="{FF2B5EF4-FFF2-40B4-BE49-F238E27FC236}">
                <a16:creationId xmlns:a16="http://schemas.microsoft.com/office/drawing/2014/main" id="{DEBBE813-DCBE-3DCC-8DA6-3BED4F24E57A}"/>
              </a:ext>
            </a:extLst>
          </p:cNvPr>
          <p:cNvPicPr>
            <a:picLocks noChangeAspect="1"/>
          </p:cNvPicPr>
          <p:nvPr/>
        </p:nvPicPr>
        <p:blipFill>
          <a:blip r:embed="rId4"/>
          <a:stretch>
            <a:fillRect/>
          </a:stretch>
        </p:blipFill>
        <p:spPr>
          <a:xfrm>
            <a:off x="5244592" y="5502777"/>
            <a:ext cx="4204208" cy="556040"/>
          </a:xfrm>
          <a:prstGeom prst="rect">
            <a:avLst/>
          </a:prstGeom>
        </p:spPr>
      </p:pic>
    </p:spTree>
    <p:extLst>
      <p:ext uri="{BB962C8B-B14F-4D97-AF65-F5344CB8AC3E}">
        <p14:creationId xmlns:p14="http://schemas.microsoft.com/office/powerpoint/2010/main" val="2952500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48D12CC-2647-71FF-192D-749ACBDC4E60}"/>
              </a:ext>
            </a:extLst>
          </p:cNvPr>
          <p:cNvPicPr>
            <a:picLocks noChangeAspect="1"/>
          </p:cNvPicPr>
          <p:nvPr/>
        </p:nvPicPr>
        <p:blipFill>
          <a:blip r:embed="rId3"/>
          <a:stretch>
            <a:fillRect/>
          </a:stretch>
        </p:blipFill>
        <p:spPr>
          <a:xfrm>
            <a:off x="3394747" y="3234861"/>
            <a:ext cx="4663858" cy="3442680"/>
          </a:xfrm>
          <a:prstGeom prst="rect">
            <a:avLst/>
          </a:prstGeom>
        </p:spPr>
      </p:pic>
      <p:sp>
        <p:nvSpPr>
          <p:cNvPr id="2" name="Title 1">
            <a:extLst>
              <a:ext uri="{FF2B5EF4-FFF2-40B4-BE49-F238E27FC236}">
                <a16:creationId xmlns:a16="http://schemas.microsoft.com/office/drawing/2014/main" id="{A0D6FD9B-BAF7-22A1-2D6E-AB9D0BD723B2}"/>
              </a:ext>
            </a:extLst>
          </p:cNvPr>
          <p:cNvSpPr>
            <a:spLocks noGrp="1"/>
          </p:cNvSpPr>
          <p:nvPr>
            <p:ph type="title"/>
          </p:nvPr>
        </p:nvSpPr>
        <p:spPr/>
        <p:txBody>
          <a:bodyPr/>
          <a:lstStyle/>
          <a:p>
            <a:r>
              <a:rPr lang="en-GB" b="1">
                <a:solidFill>
                  <a:schemeClr val="accent6"/>
                </a:solidFill>
              </a:rPr>
              <a:t>LEARNING REQUIRES REFLECTION</a:t>
            </a:r>
            <a:endParaRPr lang="en-GB" b="1" dirty="0">
              <a:solidFill>
                <a:schemeClr val="accent6"/>
              </a:solidFill>
            </a:endParaRPr>
          </a:p>
        </p:txBody>
      </p:sp>
      <p:sp>
        <p:nvSpPr>
          <p:cNvPr id="3" name="Content Placeholder 2">
            <a:extLst>
              <a:ext uri="{FF2B5EF4-FFF2-40B4-BE49-F238E27FC236}">
                <a16:creationId xmlns:a16="http://schemas.microsoft.com/office/drawing/2014/main" id="{B5F58474-6AB7-A1B0-69FF-7646F38E26ED}"/>
              </a:ext>
            </a:extLst>
          </p:cNvPr>
          <p:cNvSpPr>
            <a:spLocks noGrp="1"/>
          </p:cNvSpPr>
          <p:nvPr>
            <p:ph idx="1"/>
          </p:nvPr>
        </p:nvSpPr>
        <p:spPr>
          <a:xfrm>
            <a:off x="866873" y="1481508"/>
            <a:ext cx="10515600" cy="4351338"/>
          </a:xfrm>
        </p:spPr>
        <p:txBody>
          <a:bodyPr>
            <a:noAutofit/>
          </a:bodyPr>
          <a:lstStyle/>
          <a:p>
            <a:pPr marL="0" indent="0" rtl="0">
              <a:spcBef>
                <a:spcPts val="0"/>
              </a:spcBef>
              <a:spcAft>
                <a:spcPts val="0"/>
              </a:spcAft>
              <a:buNone/>
            </a:pPr>
            <a:r>
              <a:rPr lang="en-GB" sz="2000" b="1" dirty="0">
                <a:solidFill>
                  <a:srgbClr val="000000"/>
                </a:solidFill>
                <a:latin typeface="MuseoSans"/>
              </a:rPr>
              <a:t>Reflection</a:t>
            </a:r>
            <a:r>
              <a:rPr lang="en-GB" sz="2000" dirty="0">
                <a:solidFill>
                  <a:srgbClr val="000000"/>
                </a:solidFill>
                <a:latin typeface="MuseoSans"/>
              </a:rPr>
              <a:t>: ‘</a:t>
            </a:r>
            <a:r>
              <a:rPr lang="en-GB" sz="2000" i="1" u="none" strike="noStrike" dirty="0">
                <a:solidFill>
                  <a:srgbClr val="000000"/>
                </a:solidFill>
                <a:effectLst/>
                <a:latin typeface="MuseoSans"/>
              </a:rPr>
              <a:t>a deliberate and conscientious process that employs a person’s cognitive, emotional, and somatic capacities to mindfully contemplate on past, present, or future (intended or planned) actions in order to learn, better understand and potentially improve future actions</a:t>
            </a:r>
            <a:r>
              <a:rPr lang="en-GB" sz="2000" i="0" u="none" strike="noStrike" dirty="0">
                <a:solidFill>
                  <a:srgbClr val="000000"/>
                </a:solidFill>
                <a:effectLst/>
                <a:latin typeface="MuseoSans"/>
              </a:rPr>
              <a:t>’ (Harvey, Coulson and </a:t>
            </a:r>
            <a:r>
              <a:rPr lang="en-GB" sz="2000" i="0" u="none" strike="noStrike" dirty="0" err="1">
                <a:solidFill>
                  <a:srgbClr val="000000"/>
                </a:solidFill>
                <a:effectLst/>
                <a:latin typeface="MuseoSans"/>
              </a:rPr>
              <a:t>McMaugh</a:t>
            </a:r>
            <a:r>
              <a:rPr lang="en-GB" sz="2000" i="0" u="none" strike="noStrike" dirty="0">
                <a:solidFill>
                  <a:srgbClr val="000000"/>
                </a:solidFill>
                <a:effectLst/>
                <a:latin typeface="MuseoSans"/>
              </a:rPr>
              <a:t>, 2016, p. 19)</a:t>
            </a:r>
          </a:p>
          <a:p>
            <a:pPr marL="0" indent="0" rtl="0">
              <a:spcBef>
                <a:spcPts val="0"/>
              </a:spcBef>
              <a:spcAft>
                <a:spcPts val="0"/>
              </a:spcAft>
              <a:buNone/>
            </a:pPr>
            <a:endParaRPr lang="en-GB" sz="1100" b="1" dirty="0">
              <a:solidFill>
                <a:srgbClr val="000000"/>
              </a:solidFill>
              <a:latin typeface="MuseoSans"/>
            </a:endParaRPr>
          </a:p>
          <a:p>
            <a:pPr marL="0" indent="0" rtl="0">
              <a:spcBef>
                <a:spcPts val="0"/>
              </a:spcBef>
              <a:spcAft>
                <a:spcPts val="0"/>
              </a:spcAft>
              <a:buNone/>
            </a:pPr>
            <a:r>
              <a:rPr lang="en-GB" sz="2000" b="1" i="0" u="none" strike="noStrike" dirty="0">
                <a:solidFill>
                  <a:srgbClr val="000000"/>
                </a:solidFill>
                <a:effectLst/>
                <a:latin typeface="MuseoSans"/>
              </a:rPr>
              <a:t>Without reflection there is no learning (hot stove example)</a:t>
            </a:r>
            <a:endParaRPr lang="en-GB" sz="2000" b="0" dirty="0">
              <a:effectLst/>
              <a:latin typeface="MuseoSans"/>
            </a:endParaRPr>
          </a:p>
          <a:p>
            <a:pPr marL="0" indent="0" rtl="0">
              <a:spcBef>
                <a:spcPts val="0"/>
              </a:spcBef>
              <a:spcAft>
                <a:spcPts val="0"/>
              </a:spcAft>
              <a:buNone/>
            </a:pPr>
            <a:r>
              <a:rPr lang="en-GB" sz="2000" b="0" i="0" u="none" strike="noStrike" dirty="0">
                <a:solidFill>
                  <a:srgbClr val="000000"/>
                </a:solidFill>
                <a:effectLst/>
                <a:latin typeface="MuseoSans"/>
              </a:rPr>
              <a:t>It is vitally important to make the learning content and the learning process conscious</a:t>
            </a:r>
          </a:p>
          <a:p>
            <a:pPr marL="0" indent="0" rtl="0">
              <a:spcBef>
                <a:spcPts val="0"/>
              </a:spcBef>
              <a:spcAft>
                <a:spcPts val="0"/>
              </a:spcAft>
              <a:buNone/>
            </a:pPr>
            <a:endParaRPr lang="en-GB" sz="1100" dirty="0">
              <a:solidFill>
                <a:srgbClr val="000000"/>
              </a:solidFill>
              <a:latin typeface="MuseoSans"/>
            </a:endParaRPr>
          </a:p>
          <a:p>
            <a:pPr marL="0" indent="0">
              <a:spcBef>
                <a:spcPts val="0"/>
              </a:spcBef>
              <a:buNone/>
            </a:pPr>
            <a:endParaRPr lang="en-GB" sz="2000" b="0" i="0" dirty="0">
              <a:solidFill>
                <a:srgbClr val="000000"/>
              </a:solidFill>
              <a:effectLst/>
              <a:latin typeface="MuseoSans"/>
            </a:endParaRPr>
          </a:p>
          <a:p>
            <a:pPr>
              <a:spcBef>
                <a:spcPts val="0"/>
              </a:spcBef>
            </a:pPr>
            <a:endParaRPr lang="en-GB" sz="2000" dirty="0">
              <a:latin typeface="MuseoSans"/>
            </a:endParaRPr>
          </a:p>
        </p:txBody>
      </p:sp>
      <p:sp>
        <p:nvSpPr>
          <p:cNvPr id="8" name="TextBox 7">
            <a:extLst>
              <a:ext uri="{FF2B5EF4-FFF2-40B4-BE49-F238E27FC236}">
                <a16:creationId xmlns:a16="http://schemas.microsoft.com/office/drawing/2014/main" id="{D0CC33C6-69EE-02B7-FB5E-D3B730C06420}"/>
              </a:ext>
            </a:extLst>
          </p:cNvPr>
          <p:cNvSpPr txBox="1"/>
          <p:nvPr/>
        </p:nvSpPr>
        <p:spPr>
          <a:xfrm>
            <a:off x="3394747" y="6308209"/>
            <a:ext cx="5459852" cy="369332"/>
          </a:xfrm>
          <a:prstGeom prst="rect">
            <a:avLst/>
          </a:prstGeom>
          <a:noFill/>
        </p:spPr>
        <p:txBody>
          <a:bodyPr wrap="square" rtlCol="0">
            <a:spAutoFit/>
          </a:bodyPr>
          <a:lstStyle/>
          <a:p>
            <a:r>
              <a:rPr lang="en-GB" dirty="0"/>
              <a:t>Figure 1: Gibbs’ reflective cycle (Harvey </a:t>
            </a:r>
            <a:r>
              <a:rPr lang="en-GB" i="1" dirty="0"/>
              <a:t>et al</a:t>
            </a:r>
            <a:r>
              <a:rPr lang="en-GB" dirty="0"/>
              <a:t>., 2020) </a:t>
            </a:r>
          </a:p>
        </p:txBody>
      </p:sp>
    </p:spTree>
    <p:extLst>
      <p:ext uri="{BB962C8B-B14F-4D97-AF65-F5344CB8AC3E}">
        <p14:creationId xmlns:p14="http://schemas.microsoft.com/office/powerpoint/2010/main" val="344364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D6FD9B-BAF7-22A1-2D6E-AB9D0BD723B2}"/>
              </a:ext>
            </a:extLst>
          </p:cNvPr>
          <p:cNvSpPr>
            <a:spLocks noGrp="1"/>
          </p:cNvSpPr>
          <p:nvPr>
            <p:ph type="title"/>
          </p:nvPr>
        </p:nvSpPr>
        <p:spPr/>
        <p:txBody>
          <a:bodyPr/>
          <a:lstStyle/>
          <a:p>
            <a:r>
              <a:rPr lang="en-GB" b="1" dirty="0">
                <a:solidFill>
                  <a:schemeClr val="accent6"/>
                </a:solidFill>
              </a:rPr>
              <a:t>LEARNING REQUIRES REFLECTION</a:t>
            </a:r>
          </a:p>
        </p:txBody>
      </p:sp>
      <p:sp>
        <p:nvSpPr>
          <p:cNvPr id="3" name="Content Placeholder 2">
            <a:extLst>
              <a:ext uri="{FF2B5EF4-FFF2-40B4-BE49-F238E27FC236}">
                <a16:creationId xmlns:a16="http://schemas.microsoft.com/office/drawing/2014/main" id="{B5F58474-6AB7-A1B0-69FF-7646F38E26ED}"/>
              </a:ext>
            </a:extLst>
          </p:cNvPr>
          <p:cNvSpPr>
            <a:spLocks noGrp="1"/>
          </p:cNvSpPr>
          <p:nvPr>
            <p:ph idx="1"/>
          </p:nvPr>
        </p:nvSpPr>
        <p:spPr>
          <a:xfrm>
            <a:off x="866873" y="1481508"/>
            <a:ext cx="10486927" cy="4351338"/>
          </a:xfrm>
        </p:spPr>
        <p:txBody>
          <a:bodyPr>
            <a:noAutofit/>
          </a:bodyPr>
          <a:lstStyle/>
          <a:p>
            <a:pPr marL="0" indent="0" rtl="0">
              <a:spcBef>
                <a:spcPts val="0"/>
              </a:spcBef>
              <a:spcAft>
                <a:spcPts val="0"/>
              </a:spcAft>
              <a:buNone/>
            </a:pPr>
            <a:endParaRPr lang="en-GB" sz="1100" dirty="0">
              <a:solidFill>
                <a:srgbClr val="000000"/>
              </a:solidFill>
              <a:latin typeface="MuseoSans"/>
            </a:endParaRPr>
          </a:p>
          <a:p>
            <a:pPr marL="0" indent="0" rtl="0">
              <a:spcBef>
                <a:spcPts val="0"/>
              </a:spcBef>
              <a:spcAft>
                <a:spcPts val="0"/>
              </a:spcAft>
              <a:buNone/>
            </a:pPr>
            <a:r>
              <a:rPr lang="en-GB" sz="2000" b="1" u="none" strike="noStrike" dirty="0">
                <a:solidFill>
                  <a:srgbClr val="000000"/>
                </a:solidFill>
                <a:latin typeface="MuseoSans"/>
              </a:rPr>
              <a:t>Reflection for action </a:t>
            </a:r>
            <a:r>
              <a:rPr lang="en-GB" sz="2000" u="none" strike="noStrike" dirty="0">
                <a:solidFill>
                  <a:srgbClr val="000000"/>
                </a:solidFill>
                <a:latin typeface="MuseoSans"/>
              </a:rPr>
              <a:t>- usually occurs before engaging in an activity.</a:t>
            </a:r>
          </a:p>
          <a:p>
            <a:pPr marL="0" indent="0" rtl="0">
              <a:spcBef>
                <a:spcPts val="0"/>
              </a:spcBef>
              <a:spcAft>
                <a:spcPts val="0"/>
              </a:spcAft>
              <a:buNone/>
            </a:pPr>
            <a:endParaRPr lang="en-GB" sz="2000" b="1" u="none" strike="noStrike" dirty="0">
              <a:solidFill>
                <a:srgbClr val="000000"/>
              </a:solidFill>
              <a:latin typeface="MuseoSans"/>
            </a:endParaRPr>
          </a:p>
          <a:p>
            <a:pPr marL="0" indent="0" rtl="0">
              <a:spcBef>
                <a:spcPts val="0"/>
              </a:spcBef>
              <a:spcAft>
                <a:spcPts val="0"/>
              </a:spcAft>
              <a:buNone/>
            </a:pPr>
            <a:r>
              <a:rPr lang="en-GB" sz="2000" b="1" u="none" strike="noStrike" dirty="0">
                <a:solidFill>
                  <a:srgbClr val="000000"/>
                </a:solidFill>
                <a:latin typeface="MuseoSans"/>
              </a:rPr>
              <a:t>Reflection in action </a:t>
            </a:r>
            <a:r>
              <a:rPr lang="en-GB" sz="2000" u="none" strike="noStrike" dirty="0">
                <a:solidFill>
                  <a:srgbClr val="000000"/>
                </a:solidFill>
                <a:latin typeface="MuseoSans"/>
              </a:rPr>
              <a:t>- occurs during the learning activity.</a:t>
            </a:r>
          </a:p>
          <a:p>
            <a:pPr marL="0" indent="0" rtl="0">
              <a:spcBef>
                <a:spcPts val="0"/>
              </a:spcBef>
              <a:spcAft>
                <a:spcPts val="0"/>
              </a:spcAft>
              <a:buNone/>
            </a:pPr>
            <a:endParaRPr lang="en-GB" sz="2000" b="1" u="none" strike="noStrike" dirty="0">
              <a:solidFill>
                <a:srgbClr val="000000"/>
              </a:solidFill>
              <a:latin typeface="MuseoSans"/>
            </a:endParaRPr>
          </a:p>
          <a:p>
            <a:pPr marL="0" indent="0" rtl="0">
              <a:spcBef>
                <a:spcPts val="0"/>
              </a:spcBef>
              <a:spcAft>
                <a:spcPts val="0"/>
              </a:spcAft>
              <a:buNone/>
            </a:pPr>
            <a:r>
              <a:rPr lang="en-GB" sz="2000" b="1" u="none" strike="noStrike" dirty="0">
                <a:solidFill>
                  <a:srgbClr val="000000"/>
                </a:solidFill>
                <a:latin typeface="MuseoSans"/>
              </a:rPr>
              <a:t>Reflection on action </a:t>
            </a:r>
            <a:r>
              <a:rPr lang="en-GB" sz="2000" i="1" u="none" strike="noStrike" dirty="0">
                <a:solidFill>
                  <a:srgbClr val="000000"/>
                </a:solidFill>
                <a:latin typeface="MuseoSans"/>
              </a:rPr>
              <a:t>(most valuable)</a:t>
            </a:r>
            <a:r>
              <a:rPr lang="en-GB" sz="2000" u="none" strike="noStrike" dirty="0">
                <a:solidFill>
                  <a:srgbClr val="000000"/>
                </a:solidFill>
                <a:latin typeface="MuseoSans"/>
              </a:rPr>
              <a:t> – occurs post the activity/experience and it involves reviewing and synthesising learning and considering any future application </a:t>
            </a:r>
            <a:r>
              <a:rPr lang="en-GB" sz="2000" dirty="0">
                <a:latin typeface="MuseoSans"/>
              </a:rPr>
              <a:t>(Harvey </a:t>
            </a:r>
            <a:r>
              <a:rPr lang="en-GB" sz="2000" i="1" dirty="0">
                <a:latin typeface="MuseoSans"/>
              </a:rPr>
              <a:t>et al</a:t>
            </a:r>
            <a:r>
              <a:rPr lang="en-GB" sz="2000" dirty="0">
                <a:latin typeface="MuseoSans"/>
              </a:rPr>
              <a:t>., 2020). </a:t>
            </a:r>
            <a:endParaRPr lang="en-GB" sz="2000" dirty="0">
              <a:solidFill>
                <a:srgbClr val="000000"/>
              </a:solidFill>
              <a:latin typeface="MuseoSans"/>
            </a:endParaRPr>
          </a:p>
          <a:p>
            <a:pPr marL="0" indent="0" rtl="0">
              <a:spcBef>
                <a:spcPts val="0"/>
              </a:spcBef>
              <a:spcAft>
                <a:spcPts val="0"/>
              </a:spcAft>
              <a:buNone/>
            </a:pPr>
            <a:endParaRPr lang="en-GB" sz="1100" dirty="0">
              <a:solidFill>
                <a:srgbClr val="000000"/>
              </a:solidFill>
              <a:latin typeface="MuseoSans"/>
            </a:endParaRPr>
          </a:p>
          <a:p>
            <a:pPr marL="0" indent="0" rtl="0">
              <a:spcBef>
                <a:spcPts val="0"/>
              </a:spcBef>
              <a:spcAft>
                <a:spcPts val="0"/>
              </a:spcAft>
              <a:buNone/>
            </a:pPr>
            <a:r>
              <a:rPr lang="en-GB" sz="2000" dirty="0">
                <a:solidFill>
                  <a:srgbClr val="000000"/>
                </a:solidFill>
                <a:latin typeface="MuseoSans"/>
              </a:rPr>
              <a:t>HCPC (2023) </a:t>
            </a:r>
            <a:r>
              <a:rPr lang="en-GB" sz="2000" dirty="0" err="1">
                <a:solidFill>
                  <a:srgbClr val="000000"/>
                </a:solidFill>
                <a:latin typeface="MuseoSans"/>
              </a:rPr>
              <a:t>SoP</a:t>
            </a:r>
            <a:r>
              <a:rPr lang="en-GB" sz="2000" dirty="0">
                <a:solidFill>
                  <a:srgbClr val="000000"/>
                </a:solidFill>
                <a:latin typeface="MuseoSans"/>
              </a:rPr>
              <a:t> -At the point of registration, physiotherapists must be able to:</a:t>
            </a:r>
          </a:p>
          <a:p>
            <a:pPr>
              <a:spcBef>
                <a:spcPts val="0"/>
              </a:spcBef>
            </a:pPr>
            <a:r>
              <a:rPr lang="en-GB" sz="2000" dirty="0">
                <a:latin typeface="MuseoSans"/>
              </a:rPr>
              <a:t>10. reflect on and review practice</a:t>
            </a:r>
          </a:p>
          <a:p>
            <a:pPr marL="0" indent="0">
              <a:spcBef>
                <a:spcPts val="0"/>
              </a:spcBef>
              <a:buNone/>
            </a:pPr>
            <a:endParaRPr lang="en-GB" sz="2000" b="0" i="0" dirty="0">
              <a:solidFill>
                <a:srgbClr val="000000"/>
              </a:solidFill>
              <a:effectLst/>
              <a:latin typeface="MuseoSans"/>
            </a:endParaRPr>
          </a:p>
          <a:p>
            <a:pPr>
              <a:spcBef>
                <a:spcPts val="0"/>
              </a:spcBef>
            </a:pPr>
            <a:endParaRPr lang="en-GB" sz="2000" dirty="0">
              <a:latin typeface="MuseoSans"/>
            </a:endParaRPr>
          </a:p>
        </p:txBody>
      </p:sp>
    </p:spTree>
    <p:extLst>
      <p:ext uri="{BB962C8B-B14F-4D97-AF65-F5344CB8AC3E}">
        <p14:creationId xmlns:p14="http://schemas.microsoft.com/office/powerpoint/2010/main" val="1268177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81EA652-8C6A-4E69-BEB9-1708094745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ight Triangle 9">
            <a:extLst>
              <a:ext uri="{FF2B5EF4-FFF2-40B4-BE49-F238E27FC236}">
                <a16:creationId xmlns:a16="http://schemas.microsoft.com/office/drawing/2014/main" id="{5298780A-33B9-4EA2-8F67-DE68AD6284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7F488E8B-4E1E-4402-8935-D4E6C0261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ABA6C-E871-9314-7BDD-B420BA2EFBC8}"/>
              </a:ext>
            </a:extLst>
          </p:cNvPr>
          <p:cNvSpPr>
            <a:spLocks noGrp="1"/>
          </p:cNvSpPr>
          <p:nvPr>
            <p:ph type="title"/>
          </p:nvPr>
        </p:nvSpPr>
        <p:spPr>
          <a:xfrm>
            <a:off x="1075767" y="1188637"/>
            <a:ext cx="2988234" cy="4480726"/>
          </a:xfrm>
        </p:spPr>
        <p:txBody>
          <a:bodyPr>
            <a:normAutofit/>
          </a:bodyPr>
          <a:lstStyle/>
          <a:p>
            <a:pPr algn="r"/>
            <a:r>
              <a:rPr lang="en-GB" sz="4600" b="1"/>
              <a:t>Activity – Mentimeter</a:t>
            </a:r>
            <a:endParaRPr lang="en-GB" sz="4600"/>
          </a:p>
        </p:txBody>
      </p:sp>
      <p:cxnSp>
        <p:nvCxnSpPr>
          <p:cNvPr id="14" name="Straight Connector 13">
            <a:extLst>
              <a:ext uri="{FF2B5EF4-FFF2-40B4-BE49-F238E27FC236}">
                <a16:creationId xmlns:a16="http://schemas.microsoft.com/office/drawing/2014/main" id="{23AAC9B5-8015-485C-ACF9-A750390E9A5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4296" y="1852863"/>
            <a:ext cx="0" cy="3236495"/>
          </a:xfrm>
          <a:prstGeom prst="line">
            <a:avLst/>
          </a:prstGeom>
          <a:ln w="19050" cap="sq">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D4E51CF-BE93-B2E9-8A5F-8DDC0554E557}"/>
              </a:ext>
            </a:extLst>
          </p:cNvPr>
          <p:cNvSpPr>
            <a:spLocks noGrp="1"/>
          </p:cNvSpPr>
          <p:nvPr>
            <p:ph idx="1"/>
          </p:nvPr>
        </p:nvSpPr>
        <p:spPr>
          <a:xfrm>
            <a:off x="4968159" y="1019734"/>
            <a:ext cx="6264806" cy="2407482"/>
          </a:xfrm>
        </p:spPr>
        <p:txBody>
          <a:bodyPr anchor="ctr">
            <a:normAutofit/>
          </a:bodyPr>
          <a:lstStyle/>
          <a:p>
            <a:r>
              <a:rPr lang="en-GB" sz="2400" dirty="0"/>
              <a:t>Think back to an effective learning experience in education and consider what made it effective? </a:t>
            </a:r>
          </a:p>
        </p:txBody>
      </p:sp>
      <p:pic>
        <p:nvPicPr>
          <p:cNvPr id="4" name="Picture 3">
            <a:extLst>
              <a:ext uri="{FF2B5EF4-FFF2-40B4-BE49-F238E27FC236}">
                <a16:creationId xmlns:a16="http://schemas.microsoft.com/office/drawing/2014/main" id="{1904A3AD-F43D-735F-A7CF-5FA971DE73DA}"/>
              </a:ext>
            </a:extLst>
          </p:cNvPr>
          <p:cNvPicPr>
            <a:picLocks noChangeAspect="1"/>
          </p:cNvPicPr>
          <p:nvPr/>
        </p:nvPicPr>
        <p:blipFill>
          <a:blip r:embed="rId3"/>
          <a:stretch>
            <a:fillRect/>
          </a:stretch>
        </p:blipFill>
        <p:spPr>
          <a:xfrm>
            <a:off x="5833520" y="2769102"/>
            <a:ext cx="2743200" cy="2733675"/>
          </a:xfrm>
          <a:prstGeom prst="rect">
            <a:avLst/>
          </a:prstGeom>
        </p:spPr>
      </p:pic>
      <p:pic>
        <p:nvPicPr>
          <p:cNvPr id="5" name="Picture 4">
            <a:extLst>
              <a:ext uri="{FF2B5EF4-FFF2-40B4-BE49-F238E27FC236}">
                <a16:creationId xmlns:a16="http://schemas.microsoft.com/office/drawing/2014/main" id="{D917B71F-8C97-577A-C25B-A9688801DEF0}"/>
              </a:ext>
            </a:extLst>
          </p:cNvPr>
          <p:cNvPicPr>
            <a:picLocks noChangeAspect="1"/>
          </p:cNvPicPr>
          <p:nvPr/>
        </p:nvPicPr>
        <p:blipFill>
          <a:blip r:embed="rId4"/>
          <a:stretch>
            <a:fillRect/>
          </a:stretch>
        </p:blipFill>
        <p:spPr>
          <a:xfrm>
            <a:off x="5244592" y="5502777"/>
            <a:ext cx="4204208" cy="556040"/>
          </a:xfrm>
          <a:prstGeom prst="rect">
            <a:avLst/>
          </a:prstGeom>
        </p:spPr>
      </p:pic>
    </p:spTree>
    <p:extLst>
      <p:ext uri="{BB962C8B-B14F-4D97-AF65-F5344CB8AC3E}">
        <p14:creationId xmlns:p14="http://schemas.microsoft.com/office/powerpoint/2010/main" val="9231598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A2BBA-1B16-AD12-8B90-B2AB41E00AF9}"/>
              </a:ext>
            </a:extLst>
          </p:cNvPr>
          <p:cNvSpPr>
            <a:spLocks noGrp="1"/>
          </p:cNvSpPr>
          <p:nvPr>
            <p:ph type="title"/>
          </p:nvPr>
        </p:nvSpPr>
        <p:spPr/>
        <p:txBody>
          <a:bodyPr/>
          <a:lstStyle/>
          <a:p>
            <a:r>
              <a:rPr lang="en-GB" b="1" dirty="0">
                <a:solidFill>
                  <a:srgbClr val="FF0000"/>
                </a:solidFill>
              </a:rPr>
              <a:t>LEARNING IS SPIRALLED</a:t>
            </a:r>
          </a:p>
        </p:txBody>
      </p:sp>
      <p:sp>
        <p:nvSpPr>
          <p:cNvPr id="3" name="Content Placeholder 2">
            <a:extLst>
              <a:ext uri="{FF2B5EF4-FFF2-40B4-BE49-F238E27FC236}">
                <a16:creationId xmlns:a16="http://schemas.microsoft.com/office/drawing/2014/main" id="{6499BC93-36E3-8E25-93CD-0D973B960771}"/>
              </a:ext>
            </a:extLst>
          </p:cNvPr>
          <p:cNvSpPr>
            <a:spLocks noGrp="1"/>
          </p:cNvSpPr>
          <p:nvPr>
            <p:ph idx="1"/>
          </p:nvPr>
        </p:nvSpPr>
        <p:spPr>
          <a:xfrm>
            <a:off x="838200" y="1825625"/>
            <a:ext cx="4124759" cy="4351338"/>
          </a:xfrm>
        </p:spPr>
        <p:txBody>
          <a:bodyPr>
            <a:normAutofit/>
          </a:bodyPr>
          <a:lstStyle/>
          <a:p>
            <a:r>
              <a:rPr lang="en-GB" sz="2000" dirty="0">
                <a:latin typeface="MuseoSans"/>
              </a:rPr>
              <a:t>Learning is visualised as a spiral upwards from basic to advanced concepts, with topics being revisited at increasing levels of complexity as the spiral loops round (Ireland and </a:t>
            </a:r>
            <a:r>
              <a:rPr lang="en-GB" sz="2000" dirty="0" err="1">
                <a:latin typeface="MuseoSans"/>
              </a:rPr>
              <a:t>Mouthaan</a:t>
            </a:r>
            <a:r>
              <a:rPr lang="en-GB" sz="2000" dirty="0">
                <a:latin typeface="MuseoSans"/>
              </a:rPr>
              <a:t>, 2020).</a:t>
            </a:r>
          </a:p>
          <a:p>
            <a:r>
              <a:rPr lang="en-GB" sz="2000" dirty="0">
                <a:latin typeface="MuseoSans"/>
              </a:rPr>
              <a:t>To be remembered, new information must be meaningfully connected to prior knowledge, and it must first be remembered in order to be learned (Angelo, 1993).</a:t>
            </a:r>
          </a:p>
        </p:txBody>
      </p:sp>
      <p:pic>
        <p:nvPicPr>
          <p:cNvPr id="5122" name="Picture 2" descr="St Peter's Church of England Primary School - The Spiral Curriculum">
            <a:extLst>
              <a:ext uri="{FF2B5EF4-FFF2-40B4-BE49-F238E27FC236}">
                <a16:creationId xmlns:a16="http://schemas.microsoft.com/office/drawing/2014/main" id="{D6C1F7D6-0C51-3349-812D-9BB34276CC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32664" y="1690688"/>
            <a:ext cx="4605620" cy="40882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B4CEB88-7720-594D-B751-747C1ADBA718}"/>
              </a:ext>
            </a:extLst>
          </p:cNvPr>
          <p:cNvSpPr txBox="1"/>
          <p:nvPr/>
        </p:nvSpPr>
        <p:spPr>
          <a:xfrm>
            <a:off x="6702015" y="5807631"/>
            <a:ext cx="4124759" cy="369332"/>
          </a:xfrm>
          <a:prstGeom prst="rect">
            <a:avLst/>
          </a:prstGeom>
          <a:noFill/>
        </p:spPr>
        <p:txBody>
          <a:bodyPr wrap="square" rtlCol="0">
            <a:spAutoFit/>
          </a:bodyPr>
          <a:lstStyle/>
          <a:p>
            <a:r>
              <a:rPr lang="en-GB" dirty="0"/>
              <a:t>Figure 2. Spiral Curriculum</a:t>
            </a:r>
          </a:p>
        </p:txBody>
      </p:sp>
    </p:spTree>
    <p:extLst>
      <p:ext uri="{BB962C8B-B14F-4D97-AF65-F5344CB8AC3E}">
        <p14:creationId xmlns:p14="http://schemas.microsoft.com/office/powerpoint/2010/main" val="19899536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49C0C-D9D4-056D-D1EC-73C0EABF7239}"/>
              </a:ext>
            </a:extLst>
          </p:cNvPr>
          <p:cNvSpPr>
            <a:spLocks noGrp="1"/>
          </p:cNvSpPr>
          <p:nvPr>
            <p:ph type="title"/>
          </p:nvPr>
        </p:nvSpPr>
        <p:spPr/>
        <p:txBody>
          <a:bodyPr/>
          <a:lstStyle/>
          <a:p>
            <a:r>
              <a:rPr lang="en-GB" b="1" dirty="0">
                <a:solidFill>
                  <a:schemeClr val="accent2"/>
                </a:solidFill>
              </a:rPr>
              <a:t>LEARNING IS HIGHER</a:t>
            </a:r>
            <a:endParaRPr lang="en-GB" dirty="0"/>
          </a:p>
        </p:txBody>
      </p:sp>
      <p:sp>
        <p:nvSpPr>
          <p:cNvPr id="3" name="Text Placeholder 2">
            <a:extLst>
              <a:ext uri="{FF2B5EF4-FFF2-40B4-BE49-F238E27FC236}">
                <a16:creationId xmlns:a16="http://schemas.microsoft.com/office/drawing/2014/main" id="{4BC433F8-EC97-351A-02E7-2EC59B43D8A8}"/>
              </a:ext>
            </a:extLst>
          </p:cNvPr>
          <p:cNvSpPr>
            <a:spLocks noGrp="1"/>
          </p:cNvSpPr>
          <p:nvPr>
            <p:ph type="body" idx="1"/>
          </p:nvPr>
        </p:nvSpPr>
        <p:spPr>
          <a:xfrm>
            <a:off x="1036640" y="1511035"/>
            <a:ext cx="5157787" cy="823912"/>
          </a:xfrm>
        </p:spPr>
        <p:txBody>
          <a:bodyPr>
            <a:normAutofit/>
          </a:bodyPr>
          <a:lstStyle/>
          <a:p>
            <a:r>
              <a:rPr lang="en-GB" sz="2000" dirty="0">
                <a:latin typeface="MuseoSans"/>
              </a:rPr>
              <a:t>Surface Learning	</a:t>
            </a:r>
          </a:p>
        </p:txBody>
      </p:sp>
      <p:sp>
        <p:nvSpPr>
          <p:cNvPr id="4" name="Content Placeholder 3">
            <a:extLst>
              <a:ext uri="{FF2B5EF4-FFF2-40B4-BE49-F238E27FC236}">
                <a16:creationId xmlns:a16="http://schemas.microsoft.com/office/drawing/2014/main" id="{1010BA96-EE9C-3BEB-4E4E-06095E88DDD8}"/>
              </a:ext>
            </a:extLst>
          </p:cNvPr>
          <p:cNvSpPr>
            <a:spLocks noGrp="1"/>
          </p:cNvSpPr>
          <p:nvPr>
            <p:ph sz="half" idx="2"/>
          </p:nvPr>
        </p:nvSpPr>
        <p:spPr>
          <a:xfrm>
            <a:off x="1058866" y="2254798"/>
            <a:ext cx="5157787" cy="3684588"/>
          </a:xfrm>
        </p:spPr>
        <p:txBody>
          <a:bodyPr>
            <a:normAutofit/>
          </a:bodyPr>
          <a:lstStyle/>
          <a:p>
            <a:r>
              <a:rPr lang="en-GB" sz="2000" dirty="0">
                <a:latin typeface="MuseoSans"/>
              </a:rPr>
              <a:t>Rote memorisation </a:t>
            </a:r>
          </a:p>
        </p:txBody>
      </p:sp>
      <p:sp>
        <p:nvSpPr>
          <p:cNvPr id="5" name="Text Placeholder 4">
            <a:extLst>
              <a:ext uri="{FF2B5EF4-FFF2-40B4-BE49-F238E27FC236}">
                <a16:creationId xmlns:a16="http://schemas.microsoft.com/office/drawing/2014/main" id="{48746E24-253E-FFFA-E6E4-AC9C32E2DC93}"/>
              </a:ext>
            </a:extLst>
          </p:cNvPr>
          <p:cNvSpPr>
            <a:spLocks noGrp="1"/>
          </p:cNvSpPr>
          <p:nvPr>
            <p:ph type="body" sz="quarter" idx="3"/>
          </p:nvPr>
        </p:nvSpPr>
        <p:spPr>
          <a:xfrm>
            <a:off x="1011239" y="2690884"/>
            <a:ext cx="5183188" cy="823912"/>
          </a:xfrm>
        </p:spPr>
        <p:txBody>
          <a:bodyPr>
            <a:normAutofit/>
          </a:bodyPr>
          <a:lstStyle/>
          <a:p>
            <a:r>
              <a:rPr lang="en-GB" sz="2000" dirty="0">
                <a:latin typeface="MuseoSans"/>
              </a:rPr>
              <a:t>Deep/Higher Learning</a:t>
            </a:r>
          </a:p>
        </p:txBody>
      </p:sp>
      <p:sp>
        <p:nvSpPr>
          <p:cNvPr id="6" name="Content Placeholder 5">
            <a:extLst>
              <a:ext uri="{FF2B5EF4-FFF2-40B4-BE49-F238E27FC236}">
                <a16:creationId xmlns:a16="http://schemas.microsoft.com/office/drawing/2014/main" id="{0127A32C-1A6E-BE81-9443-8BDB77F84CAC}"/>
              </a:ext>
            </a:extLst>
          </p:cNvPr>
          <p:cNvSpPr>
            <a:spLocks noGrp="1"/>
          </p:cNvSpPr>
          <p:nvPr>
            <p:ph sz="quarter" idx="4"/>
          </p:nvPr>
        </p:nvSpPr>
        <p:spPr>
          <a:xfrm>
            <a:off x="1036640" y="3469500"/>
            <a:ext cx="8969539" cy="3684588"/>
          </a:xfrm>
        </p:spPr>
        <p:txBody>
          <a:bodyPr>
            <a:normAutofit/>
          </a:bodyPr>
          <a:lstStyle/>
          <a:p>
            <a:r>
              <a:rPr lang="en-GB" sz="2000" dirty="0">
                <a:latin typeface="MuseoSans"/>
              </a:rPr>
              <a:t>Higher learning is as an active, interactive process that results in </a:t>
            </a:r>
            <a:r>
              <a:rPr lang="en-GB" sz="2000" b="1" u="sng" dirty="0">
                <a:latin typeface="MuseoSans"/>
              </a:rPr>
              <a:t>meaningful, long-lasting changes</a:t>
            </a:r>
            <a:r>
              <a:rPr lang="en-GB" sz="2000" dirty="0">
                <a:latin typeface="MuseoSans"/>
              </a:rPr>
              <a:t> in knowledge, understanding, behaviour, dispositions, appreciation, belief, etc. It goes beyond rote memorisation (Angelo, 1993).</a:t>
            </a:r>
          </a:p>
          <a:p>
            <a:endParaRPr lang="en-GB" sz="2000" dirty="0">
              <a:highlight>
                <a:srgbClr val="00FF00"/>
              </a:highlight>
              <a:latin typeface="MuseoSans"/>
            </a:endParaRPr>
          </a:p>
        </p:txBody>
      </p:sp>
    </p:spTree>
    <p:extLst>
      <p:ext uri="{BB962C8B-B14F-4D97-AF65-F5344CB8AC3E}">
        <p14:creationId xmlns:p14="http://schemas.microsoft.com/office/powerpoint/2010/main" val="31833005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49C0C-D9D4-056D-D1EC-73C0EABF7239}"/>
              </a:ext>
            </a:extLst>
          </p:cNvPr>
          <p:cNvSpPr>
            <a:spLocks noGrp="1"/>
          </p:cNvSpPr>
          <p:nvPr>
            <p:ph type="title"/>
          </p:nvPr>
        </p:nvSpPr>
        <p:spPr/>
        <p:txBody>
          <a:bodyPr/>
          <a:lstStyle/>
          <a:p>
            <a:r>
              <a:rPr lang="en-GB" b="1" dirty="0">
                <a:solidFill>
                  <a:schemeClr val="accent2"/>
                </a:solidFill>
              </a:rPr>
              <a:t>LEARNING IS HIGHER</a:t>
            </a:r>
            <a:endParaRPr lang="en-GB" dirty="0"/>
          </a:p>
        </p:txBody>
      </p:sp>
      <p:graphicFrame>
        <p:nvGraphicFramePr>
          <p:cNvPr id="7" name="Table 6">
            <a:extLst>
              <a:ext uri="{FF2B5EF4-FFF2-40B4-BE49-F238E27FC236}">
                <a16:creationId xmlns:a16="http://schemas.microsoft.com/office/drawing/2014/main" id="{80D238F5-F450-7C1C-F795-60C497FCDF30}"/>
              </a:ext>
            </a:extLst>
          </p:cNvPr>
          <p:cNvGraphicFramePr>
            <a:graphicFrameLocks noGrp="1"/>
          </p:cNvGraphicFramePr>
          <p:nvPr>
            <p:extLst>
              <p:ext uri="{D42A27DB-BD31-4B8C-83A1-F6EECF244321}">
                <p14:modId xmlns:p14="http://schemas.microsoft.com/office/powerpoint/2010/main" val="2972710316"/>
              </p:ext>
            </p:extLst>
          </p:nvPr>
        </p:nvGraphicFramePr>
        <p:xfrm>
          <a:off x="3784855" y="1819976"/>
          <a:ext cx="5136996" cy="4389120"/>
        </p:xfrm>
        <a:graphic>
          <a:graphicData uri="http://schemas.openxmlformats.org/drawingml/2006/table">
            <a:tbl>
              <a:tblPr/>
              <a:tblGrid>
                <a:gridCol w="2585845">
                  <a:extLst>
                    <a:ext uri="{9D8B030D-6E8A-4147-A177-3AD203B41FA5}">
                      <a16:colId xmlns:a16="http://schemas.microsoft.com/office/drawing/2014/main" val="3691033010"/>
                    </a:ext>
                  </a:extLst>
                </a:gridCol>
                <a:gridCol w="2551151">
                  <a:extLst>
                    <a:ext uri="{9D8B030D-6E8A-4147-A177-3AD203B41FA5}">
                      <a16:colId xmlns:a16="http://schemas.microsoft.com/office/drawing/2014/main" val="2816241777"/>
                    </a:ext>
                  </a:extLst>
                </a:gridCol>
              </a:tblGrid>
              <a:tr h="241741">
                <a:tc>
                  <a:txBody>
                    <a:bodyPr/>
                    <a:lstStyle/>
                    <a:p>
                      <a:pPr algn="ctr">
                        <a:spcAft>
                          <a:spcPts val="0"/>
                        </a:spcAft>
                      </a:pPr>
                      <a:r>
                        <a:rPr lang="en-GB" sz="1600" u="sng">
                          <a:effectLst/>
                        </a:rPr>
                        <a:t>Deep Learning</a:t>
                      </a:r>
                      <a:endParaRPr lang="en-GB" sz="1600">
                        <a:effectLst/>
                      </a:endParaRP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GB" sz="1600" u="sng">
                          <a:effectLst/>
                        </a:rPr>
                        <a:t>Surface Learning</a:t>
                      </a:r>
                      <a:endParaRPr lang="en-GB" sz="1600">
                        <a:effectLst/>
                      </a:endParaRP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extLst>
                  <a:ext uri="{0D108BD9-81ED-4DB2-BD59-A6C34878D82A}">
                    <a16:rowId xmlns:a16="http://schemas.microsoft.com/office/drawing/2014/main" val="2696269843"/>
                  </a:ext>
                </a:extLst>
              </a:tr>
              <a:tr h="725223">
                <a:tc>
                  <a:txBody>
                    <a:bodyPr/>
                    <a:lstStyle/>
                    <a:p>
                      <a:pPr algn="ctr">
                        <a:spcAft>
                          <a:spcPts val="0"/>
                        </a:spcAft>
                      </a:pPr>
                      <a:r>
                        <a:rPr lang="en-GB" sz="1600" dirty="0">
                          <a:effectLst/>
                        </a:rPr>
                        <a:t>Relates topic and ideas to past knowledge and experiences</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GB" sz="1600" dirty="0">
                          <a:effectLst/>
                        </a:rPr>
                        <a:t>Unreflective approach; facts not elaborated on.</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extLst>
                  <a:ext uri="{0D108BD9-81ED-4DB2-BD59-A6C34878D82A}">
                    <a16:rowId xmlns:a16="http://schemas.microsoft.com/office/drawing/2014/main" val="2629562763"/>
                  </a:ext>
                </a:extLst>
              </a:tr>
              <a:tr h="483482">
                <a:tc>
                  <a:txBody>
                    <a:bodyPr/>
                    <a:lstStyle/>
                    <a:p>
                      <a:pPr algn="ctr">
                        <a:spcAft>
                          <a:spcPts val="0"/>
                        </a:spcAft>
                      </a:pPr>
                      <a:r>
                        <a:rPr lang="en-GB" sz="1600">
                          <a:effectLst/>
                        </a:rPr>
                        <a:t>Thinks critically about newly learned material</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GB" sz="1600">
                          <a:effectLst/>
                        </a:rPr>
                        <a:t>No interaction with content or ideas</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extLst>
                  <a:ext uri="{0D108BD9-81ED-4DB2-BD59-A6C34878D82A}">
                    <a16:rowId xmlns:a16="http://schemas.microsoft.com/office/drawing/2014/main" val="3747150734"/>
                  </a:ext>
                </a:extLst>
              </a:tr>
              <a:tr h="483482">
                <a:tc>
                  <a:txBody>
                    <a:bodyPr/>
                    <a:lstStyle/>
                    <a:p>
                      <a:pPr algn="ctr">
                        <a:spcAft>
                          <a:spcPts val="0"/>
                        </a:spcAft>
                      </a:pPr>
                      <a:r>
                        <a:rPr lang="en-GB" sz="1600">
                          <a:effectLst/>
                        </a:rPr>
                        <a:t>Ties in information from other sources</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GB" sz="1600">
                          <a:effectLst/>
                        </a:rPr>
                        <a:t>Concentrates only on memorisation</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extLst>
                  <a:ext uri="{0D108BD9-81ED-4DB2-BD59-A6C34878D82A}">
                    <a16:rowId xmlns:a16="http://schemas.microsoft.com/office/drawing/2014/main" val="2890915595"/>
                  </a:ext>
                </a:extLst>
              </a:tr>
              <a:tr h="725223">
                <a:tc>
                  <a:txBody>
                    <a:bodyPr/>
                    <a:lstStyle/>
                    <a:p>
                      <a:pPr algn="ctr">
                        <a:spcAft>
                          <a:spcPts val="0"/>
                        </a:spcAft>
                      </a:pPr>
                      <a:r>
                        <a:rPr lang="en-GB" sz="1600" dirty="0">
                          <a:effectLst/>
                        </a:rPr>
                        <a:t>Creates new arguments and understands logic based on new information</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GB" sz="1600">
                          <a:effectLst/>
                        </a:rPr>
                        <a:t>Underlying argument not comprehended</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extLst>
                  <a:ext uri="{0D108BD9-81ED-4DB2-BD59-A6C34878D82A}">
                    <a16:rowId xmlns:a16="http://schemas.microsoft.com/office/drawing/2014/main" val="2192549489"/>
                  </a:ext>
                </a:extLst>
              </a:tr>
              <a:tr h="483482">
                <a:tc>
                  <a:txBody>
                    <a:bodyPr/>
                    <a:lstStyle/>
                    <a:p>
                      <a:pPr algn="ctr">
                        <a:spcAft>
                          <a:spcPts val="0"/>
                        </a:spcAft>
                      </a:pPr>
                      <a:r>
                        <a:rPr lang="en-GB" sz="1600">
                          <a:effectLst/>
                        </a:rPr>
                        <a:t>Recognises a structure in the content</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GB" sz="1600">
                          <a:effectLst/>
                        </a:rPr>
                        <a:t>Treats the task as like a monotonous chore</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extLst>
                  <a:ext uri="{0D108BD9-81ED-4DB2-BD59-A6C34878D82A}">
                    <a16:rowId xmlns:a16="http://schemas.microsoft.com/office/drawing/2014/main" val="102554242"/>
                  </a:ext>
                </a:extLst>
              </a:tr>
              <a:tr h="483482">
                <a:tc>
                  <a:txBody>
                    <a:bodyPr/>
                    <a:lstStyle/>
                    <a:p>
                      <a:pPr algn="ctr">
                        <a:spcAft>
                          <a:spcPts val="0"/>
                        </a:spcAft>
                      </a:pPr>
                      <a:r>
                        <a:rPr lang="en-GB" sz="1600">
                          <a:effectLst/>
                        </a:rPr>
                        <a:t>Motivation from within, wants to learn</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GB" sz="1600">
                          <a:effectLst/>
                        </a:rPr>
                        <a:t>External incentive, based on demands of a test</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extLst>
                  <a:ext uri="{0D108BD9-81ED-4DB2-BD59-A6C34878D82A}">
                    <a16:rowId xmlns:a16="http://schemas.microsoft.com/office/drawing/2014/main" val="2327060005"/>
                  </a:ext>
                </a:extLst>
              </a:tr>
              <a:tr h="725223">
                <a:tc>
                  <a:txBody>
                    <a:bodyPr/>
                    <a:lstStyle/>
                    <a:p>
                      <a:pPr algn="ctr">
                        <a:spcAft>
                          <a:spcPts val="0"/>
                        </a:spcAft>
                      </a:pPr>
                      <a:r>
                        <a:rPr lang="en-GB" sz="1600">
                          <a:effectLst/>
                        </a:rPr>
                        <a:t>Aims to understand the meaning behind the material</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tc>
                  <a:txBody>
                    <a:bodyPr/>
                    <a:lstStyle/>
                    <a:p>
                      <a:pPr algn="ctr">
                        <a:spcAft>
                          <a:spcPts val="0"/>
                        </a:spcAft>
                      </a:pPr>
                      <a:r>
                        <a:rPr lang="en-GB" sz="1600" dirty="0">
                          <a:effectLst/>
                        </a:rPr>
                        <a:t>Aims to recite and regurgitate material inactively</a:t>
                      </a:r>
                    </a:p>
                  </a:txBody>
                  <a:tcPr marL="60435" marR="6043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BE5F1"/>
                    </a:solidFill>
                  </a:tcPr>
                </a:tc>
                <a:extLst>
                  <a:ext uri="{0D108BD9-81ED-4DB2-BD59-A6C34878D82A}">
                    <a16:rowId xmlns:a16="http://schemas.microsoft.com/office/drawing/2014/main" val="3966774807"/>
                  </a:ext>
                </a:extLst>
              </a:tr>
            </a:tbl>
          </a:graphicData>
        </a:graphic>
      </p:graphicFrame>
      <p:sp>
        <p:nvSpPr>
          <p:cNvPr id="8" name="TextBox 7">
            <a:extLst>
              <a:ext uri="{FF2B5EF4-FFF2-40B4-BE49-F238E27FC236}">
                <a16:creationId xmlns:a16="http://schemas.microsoft.com/office/drawing/2014/main" id="{6840EA1C-DB1B-DDDF-E776-7DD0C0D774FC}"/>
              </a:ext>
            </a:extLst>
          </p:cNvPr>
          <p:cNvSpPr txBox="1"/>
          <p:nvPr/>
        </p:nvSpPr>
        <p:spPr>
          <a:xfrm>
            <a:off x="3784855" y="1428776"/>
            <a:ext cx="5384988" cy="369332"/>
          </a:xfrm>
          <a:prstGeom prst="rect">
            <a:avLst/>
          </a:prstGeom>
          <a:noFill/>
        </p:spPr>
        <p:txBody>
          <a:bodyPr wrap="square" rtlCol="0">
            <a:spAutoFit/>
          </a:bodyPr>
          <a:lstStyle/>
          <a:p>
            <a:r>
              <a:rPr lang="en-GB" dirty="0"/>
              <a:t>Table 1. Deep vs Surface Learning (</a:t>
            </a:r>
            <a:r>
              <a:rPr lang="en-GB" dirty="0" err="1"/>
              <a:t>Waldan</a:t>
            </a:r>
            <a:r>
              <a:rPr lang="en-GB" dirty="0"/>
              <a:t>, 2013)</a:t>
            </a:r>
          </a:p>
        </p:txBody>
      </p:sp>
    </p:spTree>
    <p:extLst>
      <p:ext uri="{BB962C8B-B14F-4D97-AF65-F5344CB8AC3E}">
        <p14:creationId xmlns:p14="http://schemas.microsoft.com/office/powerpoint/2010/main" val="20371208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49C0C-D9D4-056D-D1EC-73C0EABF7239}"/>
              </a:ext>
            </a:extLst>
          </p:cNvPr>
          <p:cNvSpPr>
            <a:spLocks noGrp="1"/>
          </p:cNvSpPr>
          <p:nvPr>
            <p:ph type="title"/>
          </p:nvPr>
        </p:nvSpPr>
        <p:spPr/>
        <p:txBody>
          <a:bodyPr/>
          <a:lstStyle/>
          <a:p>
            <a:r>
              <a:rPr lang="en-GB" b="1" dirty="0">
                <a:solidFill>
                  <a:schemeClr val="accent2"/>
                </a:solidFill>
              </a:rPr>
              <a:t>LEARNING IS HIGHER</a:t>
            </a:r>
            <a:endParaRPr lang="en-GB" dirty="0"/>
          </a:p>
        </p:txBody>
      </p:sp>
      <p:sp>
        <p:nvSpPr>
          <p:cNvPr id="4" name="Content Placeholder 3">
            <a:extLst>
              <a:ext uri="{FF2B5EF4-FFF2-40B4-BE49-F238E27FC236}">
                <a16:creationId xmlns:a16="http://schemas.microsoft.com/office/drawing/2014/main" id="{1010BA96-EE9C-3BEB-4E4E-06095E88DDD8}"/>
              </a:ext>
            </a:extLst>
          </p:cNvPr>
          <p:cNvSpPr>
            <a:spLocks noGrp="1"/>
          </p:cNvSpPr>
          <p:nvPr>
            <p:ph sz="half" idx="2"/>
          </p:nvPr>
        </p:nvSpPr>
        <p:spPr>
          <a:xfrm>
            <a:off x="839788" y="1690688"/>
            <a:ext cx="10512424" cy="3684588"/>
          </a:xfrm>
        </p:spPr>
        <p:txBody>
          <a:bodyPr>
            <a:normAutofit/>
          </a:bodyPr>
          <a:lstStyle/>
          <a:p>
            <a:r>
              <a:rPr lang="en-GB" sz="2000" dirty="0">
                <a:latin typeface="MuseoSans"/>
              </a:rPr>
              <a:t>Avoid being motivated by assessments = </a:t>
            </a:r>
            <a:r>
              <a:rPr lang="en-GB" sz="2000" dirty="0">
                <a:latin typeface="MuseoSans"/>
                <a:cs typeface="Arial" panose="020B0604020202020204" pitchFamily="34" charset="0"/>
              </a:rPr>
              <a:t>↑</a:t>
            </a:r>
            <a:r>
              <a:rPr lang="en-GB" sz="2000" dirty="0">
                <a:latin typeface="MuseoSans"/>
              </a:rPr>
              <a:t>risk of developing a surface approach</a:t>
            </a:r>
          </a:p>
          <a:p>
            <a:r>
              <a:rPr lang="en-GB" sz="2000" dirty="0">
                <a:latin typeface="MuseoSans"/>
              </a:rPr>
              <a:t>To support you in moving towards a deep learning approach, a variety of learning activities are used in class:</a:t>
            </a:r>
          </a:p>
          <a:p>
            <a:pPr lvl="1">
              <a:buFont typeface="Wingdings" panose="05000000000000000000" pitchFamily="2" charset="2"/>
              <a:buChar char="Ø"/>
            </a:pPr>
            <a:r>
              <a:rPr lang="en-GB" sz="2000" dirty="0">
                <a:latin typeface="MuseoSans"/>
              </a:rPr>
              <a:t>Group work </a:t>
            </a:r>
          </a:p>
          <a:p>
            <a:pPr lvl="1">
              <a:buFont typeface="Wingdings" panose="05000000000000000000" pitchFamily="2" charset="2"/>
              <a:buChar char="Ø"/>
            </a:pPr>
            <a:r>
              <a:rPr lang="en-GB" sz="2000" dirty="0">
                <a:latin typeface="MuseoSans"/>
              </a:rPr>
              <a:t>Case studies </a:t>
            </a:r>
          </a:p>
          <a:p>
            <a:pPr lvl="1">
              <a:buFont typeface="Wingdings" panose="05000000000000000000" pitchFamily="2" charset="2"/>
              <a:buChar char="Ø"/>
            </a:pPr>
            <a:r>
              <a:rPr lang="en-GB" sz="2000" dirty="0">
                <a:latin typeface="MuseoSans"/>
              </a:rPr>
              <a:t>Presentations</a:t>
            </a:r>
          </a:p>
          <a:p>
            <a:pPr lvl="1">
              <a:buFont typeface="Wingdings" panose="05000000000000000000" pitchFamily="2" charset="2"/>
              <a:buChar char="Ø"/>
            </a:pPr>
            <a:endParaRPr lang="en-GB" sz="2000" dirty="0">
              <a:latin typeface="MuseoSans"/>
            </a:endParaRPr>
          </a:p>
          <a:p>
            <a:r>
              <a:rPr lang="en-GB" sz="2000" b="1" u="sng" dirty="0">
                <a:latin typeface="MuseoSans"/>
              </a:rPr>
              <a:t>Important to engage in these activities </a:t>
            </a:r>
            <a:r>
              <a:rPr lang="en-GB" sz="2000" dirty="0">
                <a:latin typeface="MuseoSans"/>
              </a:rPr>
              <a:t>so that when it comes to your assessment you can be confident in your abilities to apply the knowledge you have learnt to different contexts and in different mediums. </a:t>
            </a:r>
          </a:p>
        </p:txBody>
      </p:sp>
      <p:sp>
        <p:nvSpPr>
          <p:cNvPr id="15" name="TextBox 14">
            <a:extLst>
              <a:ext uri="{FF2B5EF4-FFF2-40B4-BE49-F238E27FC236}">
                <a16:creationId xmlns:a16="http://schemas.microsoft.com/office/drawing/2014/main" id="{49EB87B5-ABD8-6AFC-13E0-661A9F1D6005}"/>
              </a:ext>
            </a:extLst>
          </p:cNvPr>
          <p:cNvSpPr txBox="1"/>
          <p:nvPr/>
        </p:nvSpPr>
        <p:spPr>
          <a:xfrm>
            <a:off x="8997043" y="6176963"/>
            <a:ext cx="2808514" cy="369332"/>
          </a:xfrm>
          <a:prstGeom prst="rect">
            <a:avLst/>
          </a:prstGeom>
          <a:noFill/>
        </p:spPr>
        <p:txBody>
          <a:bodyPr wrap="square" rtlCol="0">
            <a:spAutoFit/>
          </a:bodyPr>
          <a:lstStyle/>
          <a:p>
            <a:r>
              <a:rPr lang="en-GB" dirty="0"/>
              <a:t>(Oko and Reid, 2017)</a:t>
            </a:r>
          </a:p>
        </p:txBody>
      </p:sp>
    </p:spTree>
    <p:extLst>
      <p:ext uri="{BB962C8B-B14F-4D97-AF65-F5344CB8AC3E}">
        <p14:creationId xmlns:p14="http://schemas.microsoft.com/office/powerpoint/2010/main" val="1761755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3000" b="1" dirty="0">
                <a:latin typeface="Arial" panose="020B0604020202020204" pitchFamily="34" charset="0"/>
                <a:cs typeface="Arial" panose="020B0604020202020204" pitchFamily="34" charset="0"/>
              </a:rPr>
              <a:t>Learning happens outside your comfort zone  </a:t>
            </a:r>
          </a:p>
        </p:txBody>
      </p:sp>
      <p:pic>
        <p:nvPicPr>
          <p:cNvPr id="21" name="Picture 20">
            <a:extLst>
              <a:ext uri="{FF2B5EF4-FFF2-40B4-BE49-F238E27FC236}">
                <a16:creationId xmlns:a16="http://schemas.microsoft.com/office/drawing/2014/main" id="{F19F8FCC-CFCB-740B-2BAF-2749A71E954D}"/>
              </a:ext>
            </a:extLst>
          </p:cNvPr>
          <p:cNvPicPr>
            <a:picLocks noChangeAspect="1"/>
          </p:cNvPicPr>
          <p:nvPr/>
        </p:nvPicPr>
        <p:blipFill>
          <a:blip r:embed="rId3"/>
          <a:stretch>
            <a:fillRect/>
          </a:stretch>
        </p:blipFill>
        <p:spPr>
          <a:xfrm>
            <a:off x="838198" y="1484530"/>
            <a:ext cx="6439932" cy="4685463"/>
          </a:xfrm>
          <a:prstGeom prst="rect">
            <a:avLst/>
          </a:prstGeom>
        </p:spPr>
      </p:pic>
      <p:sp>
        <p:nvSpPr>
          <p:cNvPr id="4" name="TextBox 3">
            <a:extLst>
              <a:ext uri="{FF2B5EF4-FFF2-40B4-BE49-F238E27FC236}">
                <a16:creationId xmlns:a16="http://schemas.microsoft.com/office/drawing/2014/main" id="{F492E81D-BCBD-E70E-9D86-A289D29D9894}"/>
              </a:ext>
            </a:extLst>
          </p:cNvPr>
          <p:cNvSpPr txBox="1"/>
          <p:nvPr/>
        </p:nvSpPr>
        <p:spPr>
          <a:xfrm>
            <a:off x="751701" y="6169709"/>
            <a:ext cx="9447804" cy="646331"/>
          </a:xfrm>
          <a:prstGeom prst="rect">
            <a:avLst/>
          </a:prstGeom>
          <a:noFill/>
        </p:spPr>
        <p:txBody>
          <a:bodyPr wrap="square" rtlCol="0">
            <a:spAutoFit/>
          </a:bodyPr>
          <a:lstStyle/>
          <a:p>
            <a:r>
              <a:rPr lang="en-US" dirty="0">
                <a:solidFill>
                  <a:schemeClr val="tx1"/>
                </a:solidFill>
              </a:rPr>
              <a:t>Figure 1- Vygotsky’s (1978) idea of the zone of proximal development </a:t>
            </a:r>
          </a:p>
          <a:p>
            <a:endParaRPr lang="en-GB" dirty="0"/>
          </a:p>
        </p:txBody>
      </p:sp>
      <p:sp>
        <p:nvSpPr>
          <p:cNvPr id="3" name="TextBox 2">
            <a:extLst>
              <a:ext uri="{FF2B5EF4-FFF2-40B4-BE49-F238E27FC236}">
                <a16:creationId xmlns:a16="http://schemas.microsoft.com/office/drawing/2014/main" id="{95894138-E82A-5640-22DD-351FA4330B5A}"/>
              </a:ext>
            </a:extLst>
          </p:cNvPr>
          <p:cNvSpPr txBox="1"/>
          <p:nvPr/>
        </p:nvSpPr>
        <p:spPr>
          <a:xfrm>
            <a:off x="7791450" y="4055368"/>
            <a:ext cx="4332105" cy="1569660"/>
          </a:xfrm>
          <a:prstGeom prst="rect">
            <a:avLst/>
          </a:prstGeom>
          <a:noFill/>
        </p:spPr>
        <p:txBody>
          <a:bodyPr wrap="square" rtlCol="0">
            <a:spAutoFit/>
          </a:bodyPr>
          <a:lstStyle/>
          <a:p>
            <a:r>
              <a:rPr lang="en-GB" sz="2400" b="1" dirty="0"/>
              <a:t>Get comfortable being uncomfortable!</a:t>
            </a:r>
          </a:p>
          <a:p>
            <a:endParaRPr lang="en-GB" sz="2400" b="1" dirty="0"/>
          </a:p>
          <a:p>
            <a:r>
              <a:rPr lang="en-GB" sz="2400" b="1" dirty="0"/>
              <a:t>You get out what you put in</a:t>
            </a:r>
          </a:p>
        </p:txBody>
      </p:sp>
    </p:spTree>
    <p:extLst>
      <p:ext uri="{BB962C8B-B14F-4D97-AF65-F5344CB8AC3E}">
        <p14:creationId xmlns:p14="http://schemas.microsoft.com/office/powerpoint/2010/main" val="2833607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C0842-78AD-A285-BC74-0FD557E08B0E}"/>
              </a:ext>
            </a:extLst>
          </p:cNvPr>
          <p:cNvSpPr>
            <a:spLocks noGrp="1"/>
          </p:cNvSpPr>
          <p:nvPr>
            <p:ph type="title"/>
          </p:nvPr>
        </p:nvSpPr>
        <p:spPr/>
        <p:txBody>
          <a:bodyPr/>
          <a:lstStyle/>
          <a:p>
            <a:r>
              <a:rPr lang="en-GB" dirty="0"/>
              <a:t>Principles of Effective Learning</a:t>
            </a:r>
          </a:p>
        </p:txBody>
      </p:sp>
      <p:sp>
        <p:nvSpPr>
          <p:cNvPr id="3" name="Content Placeholder 2">
            <a:extLst>
              <a:ext uri="{FF2B5EF4-FFF2-40B4-BE49-F238E27FC236}">
                <a16:creationId xmlns:a16="http://schemas.microsoft.com/office/drawing/2014/main" id="{C84655B7-10AF-193E-932E-E0CDCCA9F08A}"/>
              </a:ext>
            </a:extLst>
          </p:cNvPr>
          <p:cNvSpPr>
            <a:spLocks noGrp="1"/>
          </p:cNvSpPr>
          <p:nvPr>
            <p:ph idx="1"/>
          </p:nvPr>
        </p:nvSpPr>
        <p:spPr/>
        <p:txBody>
          <a:bodyPr>
            <a:normAutofit/>
          </a:bodyPr>
          <a:lstStyle/>
          <a:p>
            <a:pPr marL="0" indent="0">
              <a:buNone/>
            </a:pPr>
            <a:r>
              <a:rPr lang="en-GB" sz="2000" b="1" dirty="0"/>
              <a:t>Learning is most effective when the following conditions are met:</a:t>
            </a:r>
          </a:p>
          <a:p>
            <a:pPr marL="0" indent="0">
              <a:buNone/>
            </a:pPr>
            <a:endParaRPr lang="en-GB" sz="2000" b="1" dirty="0"/>
          </a:p>
          <a:p>
            <a:pPr marL="0" indent="0">
              <a:buNone/>
            </a:pPr>
            <a:r>
              <a:rPr lang="en-GB" sz="2000" dirty="0"/>
              <a:t>1. A clear structure, framework, scaffolding surrounds, supports and informs learning;</a:t>
            </a:r>
          </a:p>
          <a:p>
            <a:pPr marL="0" indent="0">
              <a:buNone/>
            </a:pPr>
            <a:endParaRPr lang="en-GB" sz="2000" dirty="0"/>
          </a:p>
          <a:p>
            <a:pPr marL="0" indent="0">
              <a:buNone/>
            </a:pPr>
            <a:r>
              <a:rPr lang="en-GB" sz="2000" dirty="0"/>
              <a:t>2. High standards are expected of learners, and are made explicit;</a:t>
            </a:r>
          </a:p>
          <a:p>
            <a:pPr marL="0" indent="0">
              <a:buNone/>
            </a:pPr>
            <a:endParaRPr lang="en-GB" sz="2000" dirty="0"/>
          </a:p>
          <a:p>
            <a:pPr marL="0" indent="0">
              <a:buNone/>
            </a:pPr>
            <a:r>
              <a:rPr lang="en-GB" sz="2000" dirty="0"/>
              <a:t>3. Learners acknowledge and use their prior learning and their particular approaches to learning;</a:t>
            </a:r>
          </a:p>
          <a:p>
            <a:pPr marL="0" indent="0">
              <a:buNone/>
            </a:pPr>
            <a:endParaRPr lang="en-GB" sz="2000" dirty="0"/>
          </a:p>
        </p:txBody>
      </p:sp>
      <p:sp>
        <p:nvSpPr>
          <p:cNvPr id="5" name="TextBox 4">
            <a:extLst>
              <a:ext uri="{FF2B5EF4-FFF2-40B4-BE49-F238E27FC236}">
                <a16:creationId xmlns:a16="http://schemas.microsoft.com/office/drawing/2014/main" id="{7618EA2E-D089-4EC7-11CE-369B67D3D397}"/>
              </a:ext>
            </a:extLst>
          </p:cNvPr>
          <p:cNvSpPr txBox="1"/>
          <p:nvPr/>
        </p:nvSpPr>
        <p:spPr>
          <a:xfrm>
            <a:off x="9410700" y="6308209"/>
            <a:ext cx="6096000" cy="369332"/>
          </a:xfrm>
          <a:prstGeom prst="rect">
            <a:avLst/>
          </a:prstGeom>
          <a:noFill/>
        </p:spPr>
        <p:txBody>
          <a:bodyPr wrap="square">
            <a:spAutoFit/>
          </a:bodyPr>
          <a:lstStyle/>
          <a:p>
            <a:r>
              <a:rPr lang="en-GB" dirty="0"/>
              <a:t>Baume and Scanlon, 2018 </a:t>
            </a:r>
          </a:p>
        </p:txBody>
      </p:sp>
    </p:spTree>
    <p:extLst>
      <p:ext uri="{BB962C8B-B14F-4D97-AF65-F5344CB8AC3E}">
        <p14:creationId xmlns:p14="http://schemas.microsoft.com/office/powerpoint/2010/main" val="22071168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C0842-78AD-A285-BC74-0FD557E08B0E}"/>
              </a:ext>
            </a:extLst>
          </p:cNvPr>
          <p:cNvSpPr>
            <a:spLocks noGrp="1"/>
          </p:cNvSpPr>
          <p:nvPr>
            <p:ph type="title"/>
          </p:nvPr>
        </p:nvSpPr>
        <p:spPr/>
        <p:txBody>
          <a:bodyPr/>
          <a:lstStyle/>
          <a:p>
            <a:r>
              <a:rPr lang="en-GB" dirty="0"/>
              <a:t>Principles of Effective Learning</a:t>
            </a:r>
          </a:p>
        </p:txBody>
      </p:sp>
      <p:sp>
        <p:nvSpPr>
          <p:cNvPr id="3" name="Content Placeholder 2">
            <a:extLst>
              <a:ext uri="{FF2B5EF4-FFF2-40B4-BE49-F238E27FC236}">
                <a16:creationId xmlns:a16="http://schemas.microsoft.com/office/drawing/2014/main" id="{C84655B7-10AF-193E-932E-E0CDCCA9F08A}"/>
              </a:ext>
            </a:extLst>
          </p:cNvPr>
          <p:cNvSpPr>
            <a:spLocks noGrp="1"/>
          </p:cNvSpPr>
          <p:nvPr>
            <p:ph idx="1"/>
          </p:nvPr>
        </p:nvSpPr>
        <p:spPr/>
        <p:txBody>
          <a:bodyPr>
            <a:normAutofit/>
          </a:bodyPr>
          <a:lstStyle/>
          <a:p>
            <a:pPr marL="0" indent="0">
              <a:buNone/>
            </a:pPr>
            <a:r>
              <a:rPr lang="en-GB" sz="2000" b="1" dirty="0"/>
              <a:t>Learning is most effective when the following conditions are met:</a:t>
            </a:r>
          </a:p>
          <a:p>
            <a:pPr marL="0" indent="0">
              <a:buNone/>
            </a:pPr>
            <a:endParaRPr lang="en-GB" sz="2000" b="1" dirty="0"/>
          </a:p>
          <a:p>
            <a:pPr marL="0" indent="0">
              <a:buNone/>
            </a:pPr>
            <a:r>
              <a:rPr lang="en-GB" sz="2000" dirty="0"/>
              <a:t>4. Learning is an active process;</a:t>
            </a:r>
          </a:p>
          <a:p>
            <a:pPr marL="0" indent="0">
              <a:buNone/>
            </a:pPr>
            <a:endParaRPr lang="en-GB" sz="2000" dirty="0"/>
          </a:p>
          <a:p>
            <a:pPr marL="0" indent="0">
              <a:buNone/>
            </a:pPr>
            <a:r>
              <a:rPr lang="en-GB" sz="2000" dirty="0"/>
              <a:t>5. Learners spend lots of time on task, that is, doing relevant things and practising;</a:t>
            </a:r>
          </a:p>
          <a:p>
            <a:pPr marL="0" indent="0">
              <a:buNone/>
            </a:pPr>
            <a:endParaRPr lang="en-GB" sz="2000" dirty="0"/>
          </a:p>
          <a:p>
            <a:pPr marL="0" indent="0">
              <a:buNone/>
            </a:pPr>
            <a:r>
              <a:rPr lang="en-GB" sz="2000" dirty="0"/>
              <a:t>6. Learning is undertaken at least in part as a collaborative activity, both among students and between students and staff; and</a:t>
            </a:r>
          </a:p>
          <a:p>
            <a:pPr marL="0" indent="0">
              <a:buNone/>
            </a:pPr>
            <a:endParaRPr lang="en-GB" sz="2000" dirty="0"/>
          </a:p>
          <a:p>
            <a:pPr marL="0" indent="0">
              <a:buNone/>
            </a:pPr>
            <a:r>
              <a:rPr lang="en-GB" sz="2000" dirty="0"/>
              <a:t>7. Learners receive and </a:t>
            </a:r>
            <a:r>
              <a:rPr lang="en-GB" sz="2000" b="1" u="sng" dirty="0"/>
              <a:t>use</a:t>
            </a:r>
            <a:r>
              <a:rPr lang="en-GB" sz="2000" dirty="0"/>
              <a:t> feedback on their work.</a:t>
            </a:r>
          </a:p>
        </p:txBody>
      </p:sp>
      <p:sp>
        <p:nvSpPr>
          <p:cNvPr id="5" name="TextBox 4">
            <a:extLst>
              <a:ext uri="{FF2B5EF4-FFF2-40B4-BE49-F238E27FC236}">
                <a16:creationId xmlns:a16="http://schemas.microsoft.com/office/drawing/2014/main" id="{7618EA2E-D089-4EC7-11CE-369B67D3D397}"/>
              </a:ext>
            </a:extLst>
          </p:cNvPr>
          <p:cNvSpPr txBox="1"/>
          <p:nvPr/>
        </p:nvSpPr>
        <p:spPr>
          <a:xfrm>
            <a:off x="9410700" y="6308209"/>
            <a:ext cx="6096000" cy="369332"/>
          </a:xfrm>
          <a:prstGeom prst="rect">
            <a:avLst/>
          </a:prstGeom>
          <a:noFill/>
        </p:spPr>
        <p:txBody>
          <a:bodyPr wrap="square">
            <a:spAutoFit/>
          </a:bodyPr>
          <a:lstStyle/>
          <a:p>
            <a:r>
              <a:rPr lang="en-GB" dirty="0"/>
              <a:t>Baume and Scanlon, 2018 </a:t>
            </a:r>
          </a:p>
        </p:txBody>
      </p:sp>
    </p:spTree>
    <p:extLst>
      <p:ext uri="{BB962C8B-B14F-4D97-AF65-F5344CB8AC3E}">
        <p14:creationId xmlns:p14="http://schemas.microsoft.com/office/powerpoint/2010/main" val="3709566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CE3AA-761C-595D-3AE6-B377D25F0039}"/>
              </a:ext>
            </a:extLst>
          </p:cNvPr>
          <p:cNvSpPr>
            <a:spLocks noGrp="1"/>
          </p:cNvSpPr>
          <p:nvPr>
            <p:ph type="title"/>
          </p:nvPr>
        </p:nvSpPr>
        <p:spPr/>
        <p:txBody>
          <a:bodyPr/>
          <a:lstStyle/>
          <a:p>
            <a:r>
              <a:rPr lang="en-GB" dirty="0"/>
              <a:t>Importance of Feedback</a:t>
            </a:r>
          </a:p>
        </p:txBody>
      </p:sp>
      <p:sp>
        <p:nvSpPr>
          <p:cNvPr id="3" name="Content Placeholder 2">
            <a:extLst>
              <a:ext uri="{FF2B5EF4-FFF2-40B4-BE49-F238E27FC236}">
                <a16:creationId xmlns:a16="http://schemas.microsoft.com/office/drawing/2014/main" id="{277B7F36-193D-5CC1-B46E-5AFECD61CC5A}"/>
              </a:ext>
            </a:extLst>
          </p:cNvPr>
          <p:cNvSpPr>
            <a:spLocks noGrp="1"/>
          </p:cNvSpPr>
          <p:nvPr>
            <p:ph idx="1"/>
          </p:nvPr>
        </p:nvSpPr>
        <p:spPr/>
        <p:txBody>
          <a:bodyPr>
            <a:normAutofit fontScale="85000" lnSpcReduction="10000"/>
          </a:bodyPr>
          <a:lstStyle/>
          <a:p>
            <a:r>
              <a:rPr lang="en-GB" dirty="0"/>
              <a:t>Feedback provides an opportunity for you to reflect on your approach to study, gauge your understanding, plan and take an active role in managing your learning. </a:t>
            </a:r>
          </a:p>
          <a:p>
            <a:r>
              <a:rPr lang="en-GB" dirty="0"/>
              <a:t>Feedback (peer, tutor, practice educator) is important as it should contribute towards developing your understanding</a:t>
            </a:r>
          </a:p>
          <a:p>
            <a:r>
              <a:rPr lang="en-GB" dirty="0"/>
              <a:t>Two types: </a:t>
            </a:r>
          </a:p>
          <a:p>
            <a:pPr lvl="1">
              <a:buFont typeface="Wingdings" panose="05000000000000000000" pitchFamily="2" charset="2"/>
              <a:buChar char="Ø"/>
            </a:pPr>
            <a:r>
              <a:rPr lang="en-GB" dirty="0"/>
              <a:t>Formative</a:t>
            </a:r>
          </a:p>
          <a:p>
            <a:pPr lvl="1">
              <a:buFont typeface="Wingdings" panose="05000000000000000000" pitchFamily="2" charset="2"/>
              <a:buChar char="Ø"/>
            </a:pPr>
            <a:r>
              <a:rPr lang="en-GB" dirty="0"/>
              <a:t>Summative </a:t>
            </a:r>
          </a:p>
          <a:p>
            <a:r>
              <a:rPr lang="en-GB" dirty="0"/>
              <a:t>No one is perfect, there is always something to improve </a:t>
            </a:r>
          </a:p>
          <a:p>
            <a:r>
              <a:rPr lang="en-GB" dirty="0"/>
              <a:t>Feedback requires </a:t>
            </a:r>
            <a:r>
              <a:rPr lang="en-GB" b="1" u="sng" dirty="0"/>
              <a:t>engagement</a:t>
            </a:r>
            <a:r>
              <a:rPr lang="en-GB" dirty="0"/>
              <a:t> to improve (read/listen, discuss, implement).</a:t>
            </a:r>
          </a:p>
          <a:p>
            <a:r>
              <a:rPr lang="en-GB" dirty="0"/>
              <a:t>Use feedback to think forward (i.e. if I did this again what could I do differently to improve it?)</a:t>
            </a:r>
          </a:p>
        </p:txBody>
      </p:sp>
      <p:sp>
        <p:nvSpPr>
          <p:cNvPr id="4" name="TextBox 3">
            <a:extLst>
              <a:ext uri="{FF2B5EF4-FFF2-40B4-BE49-F238E27FC236}">
                <a16:creationId xmlns:a16="http://schemas.microsoft.com/office/drawing/2014/main" id="{18A45EE4-543D-656C-8DB0-56AD1DAFA54F}"/>
              </a:ext>
            </a:extLst>
          </p:cNvPr>
          <p:cNvSpPr txBox="1"/>
          <p:nvPr/>
        </p:nvSpPr>
        <p:spPr>
          <a:xfrm>
            <a:off x="8997043" y="6176963"/>
            <a:ext cx="2808514" cy="369332"/>
          </a:xfrm>
          <a:prstGeom prst="rect">
            <a:avLst/>
          </a:prstGeom>
          <a:noFill/>
        </p:spPr>
        <p:txBody>
          <a:bodyPr wrap="square" rtlCol="0">
            <a:spAutoFit/>
          </a:bodyPr>
          <a:lstStyle/>
          <a:p>
            <a:r>
              <a:rPr lang="en-GB" dirty="0"/>
              <a:t>(Oko and Reid, 2017)</a:t>
            </a:r>
          </a:p>
        </p:txBody>
      </p:sp>
    </p:spTree>
    <p:extLst>
      <p:ext uri="{BB962C8B-B14F-4D97-AF65-F5344CB8AC3E}">
        <p14:creationId xmlns:p14="http://schemas.microsoft.com/office/powerpoint/2010/main" val="27791541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C4C1A-AF45-9192-D645-BECE5F76339E}"/>
              </a:ext>
            </a:extLst>
          </p:cNvPr>
          <p:cNvSpPr>
            <a:spLocks noGrp="1"/>
          </p:cNvSpPr>
          <p:nvPr>
            <p:ph type="title"/>
          </p:nvPr>
        </p:nvSpPr>
        <p:spPr/>
        <p:txBody>
          <a:bodyPr/>
          <a:lstStyle/>
          <a:p>
            <a:r>
              <a:rPr lang="en-GB" dirty="0"/>
              <a:t>Methods teachers use with students to probe learning</a:t>
            </a:r>
          </a:p>
        </p:txBody>
      </p:sp>
      <p:sp>
        <p:nvSpPr>
          <p:cNvPr id="3" name="Content Placeholder 2">
            <a:extLst>
              <a:ext uri="{FF2B5EF4-FFF2-40B4-BE49-F238E27FC236}">
                <a16:creationId xmlns:a16="http://schemas.microsoft.com/office/drawing/2014/main" id="{4E18B0D6-2505-F6AB-5D21-7C9A186B509C}"/>
              </a:ext>
            </a:extLst>
          </p:cNvPr>
          <p:cNvSpPr>
            <a:spLocks noGrp="1"/>
          </p:cNvSpPr>
          <p:nvPr>
            <p:ph idx="1"/>
          </p:nvPr>
        </p:nvSpPr>
        <p:spPr/>
        <p:txBody>
          <a:bodyPr/>
          <a:lstStyle/>
          <a:p>
            <a:r>
              <a:rPr lang="en-GB" dirty="0"/>
              <a:t>Questioning (follow ups, timed silence)</a:t>
            </a:r>
          </a:p>
          <a:p>
            <a:r>
              <a:rPr lang="en-GB" dirty="0"/>
              <a:t>Reflection i.e. one minute paper</a:t>
            </a:r>
          </a:p>
          <a:p>
            <a:r>
              <a:rPr lang="en-GB" dirty="0" err="1"/>
              <a:t>Mentimeter</a:t>
            </a:r>
            <a:r>
              <a:rPr lang="en-GB" dirty="0"/>
              <a:t> (i.e. mini quizzes)</a:t>
            </a:r>
          </a:p>
          <a:p>
            <a:r>
              <a:rPr lang="en-GB" dirty="0"/>
              <a:t>Think-pair-share</a:t>
            </a:r>
          </a:p>
          <a:p>
            <a:r>
              <a:rPr lang="en-GB" dirty="0"/>
              <a:t>Case studies </a:t>
            </a:r>
          </a:p>
          <a:p>
            <a:pPr marL="0" indent="0">
              <a:buNone/>
            </a:pPr>
            <a:endParaRPr lang="en-GB" dirty="0"/>
          </a:p>
          <a:p>
            <a:pPr marL="0" indent="0">
              <a:buNone/>
            </a:pPr>
            <a:endParaRPr lang="en-GB" dirty="0"/>
          </a:p>
        </p:txBody>
      </p:sp>
    </p:spTree>
    <p:extLst>
      <p:ext uri="{BB962C8B-B14F-4D97-AF65-F5344CB8AC3E}">
        <p14:creationId xmlns:p14="http://schemas.microsoft.com/office/powerpoint/2010/main" val="21497020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88B530-8505-C703-17ED-891CA7989426}"/>
              </a:ext>
            </a:extLst>
          </p:cNvPr>
          <p:cNvSpPr>
            <a:spLocks noGrp="1"/>
          </p:cNvSpPr>
          <p:nvPr>
            <p:ph type="title"/>
          </p:nvPr>
        </p:nvSpPr>
        <p:spPr/>
        <p:txBody>
          <a:bodyPr/>
          <a:lstStyle/>
          <a:p>
            <a:r>
              <a:rPr lang="en-GB"/>
              <a:t>Learning Styles</a:t>
            </a:r>
            <a:endParaRPr lang="en-GB" dirty="0"/>
          </a:p>
        </p:txBody>
      </p:sp>
      <p:sp>
        <p:nvSpPr>
          <p:cNvPr id="3" name="Content Placeholder 2">
            <a:extLst>
              <a:ext uri="{FF2B5EF4-FFF2-40B4-BE49-F238E27FC236}">
                <a16:creationId xmlns:a16="http://schemas.microsoft.com/office/drawing/2014/main" id="{CA19AFC5-521F-FDDB-C22E-DBF18FD10CFB}"/>
              </a:ext>
            </a:extLst>
          </p:cNvPr>
          <p:cNvSpPr>
            <a:spLocks noGrp="1"/>
          </p:cNvSpPr>
          <p:nvPr>
            <p:ph idx="1"/>
          </p:nvPr>
        </p:nvSpPr>
        <p:spPr/>
        <p:txBody>
          <a:bodyPr/>
          <a:lstStyle/>
          <a:p>
            <a:endParaRPr lang="en-GB" dirty="0"/>
          </a:p>
        </p:txBody>
      </p:sp>
      <p:pic>
        <p:nvPicPr>
          <p:cNvPr id="4" name="Picture 3">
            <a:extLst>
              <a:ext uri="{FF2B5EF4-FFF2-40B4-BE49-F238E27FC236}">
                <a16:creationId xmlns:a16="http://schemas.microsoft.com/office/drawing/2014/main" id="{E741E79D-3957-7F7D-7249-3956B13449B3}"/>
              </a:ext>
            </a:extLst>
          </p:cNvPr>
          <p:cNvPicPr>
            <a:picLocks noChangeAspect="1"/>
          </p:cNvPicPr>
          <p:nvPr/>
        </p:nvPicPr>
        <p:blipFill>
          <a:blip r:embed="rId3"/>
          <a:stretch>
            <a:fillRect/>
          </a:stretch>
        </p:blipFill>
        <p:spPr>
          <a:xfrm>
            <a:off x="2149475" y="1486328"/>
            <a:ext cx="7242175" cy="5006547"/>
          </a:xfrm>
          <a:prstGeom prst="rect">
            <a:avLst/>
          </a:prstGeom>
        </p:spPr>
      </p:pic>
    </p:spTree>
    <p:extLst>
      <p:ext uri="{BB962C8B-B14F-4D97-AF65-F5344CB8AC3E}">
        <p14:creationId xmlns:p14="http://schemas.microsoft.com/office/powerpoint/2010/main" val="24835288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43C91B-2E1C-A654-6D8A-B22FBC107534}"/>
              </a:ext>
            </a:extLst>
          </p:cNvPr>
          <p:cNvSpPr>
            <a:spLocks noGrp="1"/>
          </p:cNvSpPr>
          <p:nvPr>
            <p:ph type="title"/>
          </p:nvPr>
        </p:nvSpPr>
        <p:spPr/>
        <p:txBody>
          <a:bodyPr/>
          <a:lstStyle/>
          <a:p>
            <a:r>
              <a:rPr lang="en-GB" dirty="0"/>
              <a:t>LEARNING STYLES AND STRATEGIES</a:t>
            </a:r>
          </a:p>
        </p:txBody>
      </p:sp>
      <p:sp>
        <p:nvSpPr>
          <p:cNvPr id="3" name="Content Placeholder 2">
            <a:extLst>
              <a:ext uri="{FF2B5EF4-FFF2-40B4-BE49-F238E27FC236}">
                <a16:creationId xmlns:a16="http://schemas.microsoft.com/office/drawing/2014/main" id="{DA54F5D0-C44F-72A2-08FB-1ECF45D4113A}"/>
              </a:ext>
            </a:extLst>
          </p:cNvPr>
          <p:cNvSpPr>
            <a:spLocks noGrp="1"/>
          </p:cNvSpPr>
          <p:nvPr>
            <p:ph idx="1"/>
          </p:nvPr>
        </p:nvSpPr>
        <p:spPr/>
        <p:txBody>
          <a:bodyPr/>
          <a:lstStyle/>
          <a:p>
            <a:pPr marL="0" indent="0">
              <a:buNone/>
            </a:pPr>
            <a:r>
              <a:rPr lang="en-GB" dirty="0"/>
              <a:t>Index of Learning Styles (ILS):</a:t>
            </a:r>
          </a:p>
          <a:p>
            <a:pPr marL="514350" indent="-514350">
              <a:buFont typeface="+mj-lt"/>
              <a:buAutoNum type="arabicPeriod"/>
            </a:pPr>
            <a:r>
              <a:rPr lang="en-GB" dirty="0"/>
              <a:t>Active                                                         reflective learners</a:t>
            </a:r>
          </a:p>
          <a:p>
            <a:pPr marL="514350" indent="-514350">
              <a:buFont typeface="+mj-lt"/>
              <a:buAutoNum type="arabicPeriod"/>
            </a:pPr>
            <a:r>
              <a:rPr lang="en-GB" dirty="0"/>
              <a:t>Sensing                                                       intuitive learners</a:t>
            </a:r>
          </a:p>
          <a:p>
            <a:pPr marL="514350" indent="-514350">
              <a:buFont typeface="+mj-lt"/>
              <a:buAutoNum type="arabicPeriod"/>
            </a:pPr>
            <a:r>
              <a:rPr lang="en-GB" dirty="0"/>
              <a:t>Visual                                                          verbal learners</a:t>
            </a:r>
          </a:p>
          <a:p>
            <a:pPr marL="514350" indent="-514350">
              <a:buFont typeface="+mj-lt"/>
              <a:buAutoNum type="arabicPeriod"/>
            </a:pPr>
            <a:r>
              <a:rPr lang="en-GB" dirty="0"/>
              <a:t>Sequential                                                  global learners</a:t>
            </a:r>
          </a:p>
        </p:txBody>
      </p:sp>
      <p:cxnSp>
        <p:nvCxnSpPr>
          <p:cNvPr id="5" name="Straight Arrow Connector 4">
            <a:extLst>
              <a:ext uri="{FF2B5EF4-FFF2-40B4-BE49-F238E27FC236}">
                <a16:creationId xmlns:a16="http://schemas.microsoft.com/office/drawing/2014/main" id="{E1F46618-0039-219E-F8C7-914A9BA3F994}"/>
              </a:ext>
            </a:extLst>
          </p:cNvPr>
          <p:cNvCxnSpPr>
            <a:cxnSpLocks/>
          </p:cNvCxnSpPr>
          <p:nvPr/>
        </p:nvCxnSpPr>
        <p:spPr>
          <a:xfrm>
            <a:off x="2934594" y="2569029"/>
            <a:ext cx="3984171" cy="0"/>
          </a:xfrm>
          <a:prstGeom prst="straightConnector1">
            <a:avLst/>
          </a:prstGeom>
          <a:ln w="5715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a:extLst>
              <a:ext uri="{FF2B5EF4-FFF2-40B4-BE49-F238E27FC236}">
                <a16:creationId xmlns:a16="http://schemas.microsoft.com/office/drawing/2014/main" id="{E72F0765-AD5A-29B7-B55F-5C39B806BA8D}"/>
              </a:ext>
            </a:extLst>
          </p:cNvPr>
          <p:cNvCxnSpPr>
            <a:cxnSpLocks/>
          </p:cNvCxnSpPr>
          <p:nvPr/>
        </p:nvCxnSpPr>
        <p:spPr>
          <a:xfrm>
            <a:off x="2955854" y="3091543"/>
            <a:ext cx="3984171" cy="0"/>
          </a:xfrm>
          <a:prstGeom prst="straightConnector1">
            <a:avLst/>
          </a:prstGeom>
          <a:ln w="5715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80EC3B0E-B5A0-0FEC-5A17-082254023ABE}"/>
              </a:ext>
            </a:extLst>
          </p:cNvPr>
          <p:cNvCxnSpPr>
            <a:cxnSpLocks/>
          </p:cNvCxnSpPr>
          <p:nvPr/>
        </p:nvCxnSpPr>
        <p:spPr>
          <a:xfrm>
            <a:off x="2955860" y="3614058"/>
            <a:ext cx="3984171" cy="0"/>
          </a:xfrm>
          <a:prstGeom prst="straightConnector1">
            <a:avLst/>
          </a:prstGeom>
          <a:ln w="5715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cxnSp>
        <p:nvCxnSpPr>
          <p:cNvPr id="9" name="Straight Arrow Connector 8">
            <a:extLst>
              <a:ext uri="{FF2B5EF4-FFF2-40B4-BE49-F238E27FC236}">
                <a16:creationId xmlns:a16="http://schemas.microsoft.com/office/drawing/2014/main" id="{AD54D29B-E108-4CA7-5F89-431D4CC39607}"/>
              </a:ext>
            </a:extLst>
          </p:cNvPr>
          <p:cNvCxnSpPr>
            <a:cxnSpLocks/>
          </p:cNvCxnSpPr>
          <p:nvPr/>
        </p:nvCxnSpPr>
        <p:spPr>
          <a:xfrm>
            <a:off x="2980661" y="4103156"/>
            <a:ext cx="3984171" cy="0"/>
          </a:xfrm>
          <a:prstGeom prst="straightConnector1">
            <a:avLst/>
          </a:prstGeom>
          <a:ln w="57150">
            <a:solidFill>
              <a:schemeClr val="tx1"/>
            </a:solidFill>
            <a:headEnd type="triangle"/>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9355379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3A73B3-C855-098A-5298-D679993314A5}"/>
              </a:ext>
            </a:extLst>
          </p:cNvPr>
          <p:cNvSpPr>
            <a:spLocks noGrp="1"/>
          </p:cNvSpPr>
          <p:nvPr>
            <p:ph type="title"/>
          </p:nvPr>
        </p:nvSpPr>
        <p:spPr>
          <a:xfrm>
            <a:off x="890339" y="454224"/>
            <a:ext cx="3734014" cy="3136481"/>
          </a:xfrm>
        </p:spPr>
        <p:txBody>
          <a:bodyPr vert="horz" lIns="91440" tIns="45720" rIns="91440" bIns="45720" rtlCol="0" anchor="b">
            <a:normAutofit fontScale="90000"/>
          </a:bodyPr>
          <a:lstStyle/>
          <a:p>
            <a:r>
              <a:rPr lang="en-US" sz="5000" dirty="0"/>
              <a:t>Pre-session Activity – What is your learning style? (5 minutes)</a:t>
            </a:r>
          </a:p>
        </p:txBody>
      </p:sp>
      <p:sp>
        <p:nvSpPr>
          <p:cNvPr id="6" name="TextBox 5">
            <a:extLst>
              <a:ext uri="{FF2B5EF4-FFF2-40B4-BE49-F238E27FC236}">
                <a16:creationId xmlns:a16="http://schemas.microsoft.com/office/drawing/2014/main" id="{26447F3A-4372-52CA-717A-6B76DBBDE792}"/>
              </a:ext>
            </a:extLst>
          </p:cNvPr>
          <p:cNvSpPr txBox="1"/>
          <p:nvPr/>
        </p:nvSpPr>
        <p:spPr>
          <a:xfrm>
            <a:off x="890339" y="4636008"/>
            <a:ext cx="3734014" cy="1767768"/>
          </a:xfrm>
          <a:prstGeom prst="rect">
            <a:avLst/>
          </a:prstGeom>
        </p:spPr>
        <p:txBody>
          <a:bodyPr vert="horz" lIns="91440" tIns="45720" rIns="91440" bIns="45720" rtlCol="0">
            <a:normAutofit fontScale="92500" lnSpcReduction="20000"/>
          </a:bodyPr>
          <a:lstStyle/>
          <a:p>
            <a:pPr>
              <a:lnSpc>
                <a:spcPct val="90000"/>
              </a:lnSpc>
              <a:spcBef>
                <a:spcPts val="1000"/>
              </a:spcBef>
            </a:pPr>
            <a:r>
              <a:rPr lang="en-US" sz="2400" dirty="0"/>
              <a:t>Or google ‘index of learning styles questionnaire’ and it should be the first website.</a:t>
            </a:r>
          </a:p>
          <a:p>
            <a:pPr>
              <a:lnSpc>
                <a:spcPct val="90000"/>
              </a:lnSpc>
              <a:spcBef>
                <a:spcPts val="1000"/>
              </a:spcBef>
            </a:pPr>
            <a:r>
              <a:rPr lang="en-US" sz="2400" b="1" dirty="0"/>
              <a:t>Note. The questionnaire is just </a:t>
            </a:r>
            <a:r>
              <a:rPr lang="en-US" sz="2400" b="1" i="1" dirty="0"/>
              <a:t>indicative</a:t>
            </a:r>
            <a:r>
              <a:rPr lang="en-US" sz="2400" b="1" dirty="0"/>
              <a:t> of learning style not </a:t>
            </a:r>
            <a:r>
              <a:rPr lang="en-US" sz="2400" b="1" i="1" dirty="0"/>
              <a:t>definitive </a:t>
            </a:r>
          </a:p>
        </p:txBody>
      </p:sp>
      <p:sp>
        <p:nvSpPr>
          <p:cNvPr id="13"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onnsiteX0" fmla="*/ 0 w 3474720"/>
              <a:gd name="connsiteY0" fmla="*/ 0 h 18288"/>
              <a:gd name="connsiteX1" fmla="*/ 694944 w 3474720"/>
              <a:gd name="connsiteY1" fmla="*/ 0 h 18288"/>
              <a:gd name="connsiteX2" fmla="*/ 1355141 w 3474720"/>
              <a:gd name="connsiteY2" fmla="*/ 0 h 18288"/>
              <a:gd name="connsiteX3" fmla="*/ 2015338 w 3474720"/>
              <a:gd name="connsiteY3" fmla="*/ 0 h 18288"/>
              <a:gd name="connsiteX4" fmla="*/ 2779776 w 3474720"/>
              <a:gd name="connsiteY4" fmla="*/ 0 h 18288"/>
              <a:gd name="connsiteX5" fmla="*/ 3474720 w 3474720"/>
              <a:gd name="connsiteY5" fmla="*/ 0 h 18288"/>
              <a:gd name="connsiteX6" fmla="*/ 3474720 w 3474720"/>
              <a:gd name="connsiteY6" fmla="*/ 18288 h 18288"/>
              <a:gd name="connsiteX7" fmla="*/ 2779776 w 3474720"/>
              <a:gd name="connsiteY7" fmla="*/ 18288 h 18288"/>
              <a:gd name="connsiteX8" fmla="*/ 2189074 w 3474720"/>
              <a:gd name="connsiteY8" fmla="*/ 18288 h 18288"/>
              <a:gd name="connsiteX9" fmla="*/ 1528877 w 3474720"/>
              <a:gd name="connsiteY9" fmla="*/ 18288 h 18288"/>
              <a:gd name="connsiteX10" fmla="*/ 868680 w 3474720"/>
              <a:gd name="connsiteY10" fmla="*/ 18288 h 18288"/>
              <a:gd name="connsiteX11" fmla="*/ 0 w 3474720"/>
              <a:gd name="connsiteY11" fmla="*/ 18288 h 18288"/>
              <a:gd name="connsiteX12" fmla="*/ 0 w 347472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F975BA2D-59F0-43DD-DE01-0E40FB47BC00}"/>
              </a:ext>
            </a:extLst>
          </p:cNvPr>
          <p:cNvPicPr>
            <a:picLocks noChangeAspect="1"/>
          </p:cNvPicPr>
          <p:nvPr/>
        </p:nvPicPr>
        <p:blipFill>
          <a:blip r:embed="rId3"/>
          <a:srcRect b="303"/>
          <a:stretch/>
        </p:blipFill>
        <p:spPr>
          <a:xfrm>
            <a:off x="2972984" y="2385233"/>
            <a:ext cx="1899265" cy="1893526"/>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pic>
        <p:nvPicPr>
          <p:cNvPr id="3" name="Picture 2">
            <a:extLst>
              <a:ext uri="{FF2B5EF4-FFF2-40B4-BE49-F238E27FC236}">
                <a16:creationId xmlns:a16="http://schemas.microsoft.com/office/drawing/2014/main" id="{E065C88D-E0FF-4121-57DB-052C51CAB5B6}"/>
              </a:ext>
            </a:extLst>
          </p:cNvPr>
          <p:cNvPicPr>
            <a:picLocks noChangeAspect="1"/>
          </p:cNvPicPr>
          <p:nvPr/>
        </p:nvPicPr>
        <p:blipFill>
          <a:blip r:embed="rId4"/>
          <a:stretch>
            <a:fillRect/>
          </a:stretch>
        </p:blipFill>
        <p:spPr>
          <a:xfrm>
            <a:off x="6511430" y="1313163"/>
            <a:ext cx="4038341" cy="4024319"/>
          </a:xfrm>
          <a:prstGeom prst="rect">
            <a:avLst/>
          </a:prstGeom>
        </p:spPr>
      </p:pic>
      <p:pic>
        <p:nvPicPr>
          <p:cNvPr id="4" name="Picture 3">
            <a:extLst>
              <a:ext uri="{FF2B5EF4-FFF2-40B4-BE49-F238E27FC236}">
                <a16:creationId xmlns:a16="http://schemas.microsoft.com/office/drawing/2014/main" id="{35FF79CA-F41A-C2AD-BBF9-D7074D584AD4}"/>
              </a:ext>
            </a:extLst>
          </p:cNvPr>
          <p:cNvPicPr>
            <a:picLocks noChangeAspect="1"/>
          </p:cNvPicPr>
          <p:nvPr/>
        </p:nvPicPr>
        <p:blipFill>
          <a:blip r:embed="rId5"/>
          <a:stretch>
            <a:fillRect/>
          </a:stretch>
        </p:blipFill>
        <p:spPr>
          <a:xfrm>
            <a:off x="5514692" y="5337482"/>
            <a:ext cx="6189132" cy="818562"/>
          </a:xfrm>
          <a:prstGeom prst="rect">
            <a:avLst/>
          </a:prstGeom>
        </p:spPr>
      </p:pic>
      <p:sp>
        <p:nvSpPr>
          <p:cNvPr id="7" name="TextBox 6">
            <a:extLst>
              <a:ext uri="{FF2B5EF4-FFF2-40B4-BE49-F238E27FC236}">
                <a16:creationId xmlns:a16="http://schemas.microsoft.com/office/drawing/2014/main" id="{6040D090-BE34-2415-47CF-C75B172E4DAB}"/>
              </a:ext>
            </a:extLst>
          </p:cNvPr>
          <p:cNvSpPr txBox="1"/>
          <p:nvPr/>
        </p:nvSpPr>
        <p:spPr>
          <a:xfrm>
            <a:off x="6711880" y="701956"/>
            <a:ext cx="3734014" cy="1265822"/>
          </a:xfrm>
          <a:prstGeom prst="rect">
            <a:avLst/>
          </a:prstGeom>
        </p:spPr>
        <p:txBody>
          <a:bodyPr vert="horz" lIns="91440" tIns="45720" rIns="91440" bIns="45720" rtlCol="0">
            <a:normAutofit/>
          </a:bodyPr>
          <a:lstStyle/>
          <a:p>
            <a:pPr>
              <a:lnSpc>
                <a:spcPct val="90000"/>
              </a:lnSpc>
              <a:spcBef>
                <a:spcPts val="1000"/>
              </a:spcBef>
            </a:pPr>
            <a:r>
              <a:rPr lang="en-US" sz="2400" dirty="0"/>
              <a:t>Let us know your learning style preferences:</a:t>
            </a:r>
          </a:p>
        </p:txBody>
      </p:sp>
    </p:spTree>
    <p:extLst>
      <p:ext uri="{BB962C8B-B14F-4D97-AF65-F5344CB8AC3E}">
        <p14:creationId xmlns:p14="http://schemas.microsoft.com/office/powerpoint/2010/main" val="76780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Graphic 18" descr="Rectangle speech bubble">
            <a:extLst>
              <a:ext uri="{FF2B5EF4-FFF2-40B4-BE49-F238E27FC236}">
                <a16:creationId xmlns:a16="http://schemas.microsoft.com/office/drawing/2014/main" id="{08CCEF7C-B5D2-EC91-9EEB-5E0B9FCDC71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872150" y="1557554"/>
            <a:ext cx="2663382" cy="2384859"/>
          </a:xfrm>
          <a:prstGeom prst="rect">
            <a:avLst/>
          </a:prstGeom>
        </p:spPr>
      </p:pic>
      <p:sp>
        <p:nvSpPr>
          <p:cNvPr id="2" name="Title 1">
            <a:extLst>
              <a:ext uri="{FF2B5EF4-FFF2-40B4-BE49-F238E27FC236}">
                <a16:creationId xmlns:a16="http://schemas.microsoft.com/office/drawing/2014/main" id="{06B4DE6C-0C48-9FC9-43DF-5CC06DB809E4}"/>
              </a:ext>
            </a:extLst>
          </p:cNvPr>
          <p:cNvSpPr>
            <a:spLocks noGrp="1"/>
          </p:cNvSpPr>
          <p:nvPr>
            <p:ph type="title"/>
          </p:nvPr>
        </p:nvSpPr>
        <p:spPr/>
        <p:txBody>
          <a:bodyPr/>
          <a:lstStyle/>
          <a:p>
            <a:r>
              <a:rPr lang="en-GB" dirty="0"/>
              <a:t>Active vs reflective learners</a:t>
            </a:r>
          </a:p>
        </p:txBody>
      </p:sp>
      <p:sp>
        <p:nvSpPr>
          <p:cNvPr id="3" name="Content Placeholder 2">
            <a:extLst>
              <a:ext uri="{FF2B5EF4-FFF2-40B4-BE49-F238E27FC236}">
                <a16:creationId xmlns:a16="http://schemas.microsoft.com/office/drawing/2014/main" id="{F28F77A9-35D2-417D-08F3-E594A944B91A}"/>
              </a:ext>
            </a:extLst>
          </p:cNvPr>
          <p:cNvSpPr>
            <a:spLocks noGrp="1"/>
          </p:cNvSpPr>
          <p:nvPr>
            <p:ph idx="1"/>
          </p:nvPr>
        </p:nvSpPr>
        <p:spPr>
          <a:xfrm>
            <a:off x="838199" y="1825625"/>
            <a:ext cx="8033951" cy="4351338"/>
          </a:xfrm>
        </p:spPr>
        <p:txBody>
          <a:bodyPr>
            <a:normAutofit/>
          </a:bodyPr>
          <a:lstStyle/>
          <a:p>
            <a:pPr marL="0" indent="0">
              <a:buNone/>
            </a:pPr>
            <a:r>
              <a:rPr lang="en-GB" b="1" dirty="0"/>
              <a:t>Active learners:</a:t>
            </a:r>
          </a:p>
          <a:p>
            <a:r>
              <a:rPr lang="en-GB" dirty="0"/>
              <a:t>Retain and understand information best by doing something active with it—discussing or applying it or explaining it to others </a:t>
            </a:r>
          </a:p>
          <a:p>
            <a:r>
              <a:rPr lang="en-GB" dirty="0"/>
              <a:t>Tend to like working in groups</a:t>
            </a:r>
          </a:p>
          <a:p>
            <a:pPr marL="0" indent="0">
              <a:buFontTx/>
              <a:buNone/>
            </a:pPr>
            <a:endParaRPr lang="en-GB" b="1" dirty="0"/>
          </a:p>
          <a:p>
            <a:pPr marL="0" indent="0">
              <a:buFontTx/>
              <a:buNone/>
            </a:pPr>
            <a:r>
              <a:rPr lang="en-GB" b="1" dirty="0"/>
              <a:t>Reflective learners </a:t>
            </a:r>
          </a:p>
          <a:p>
            <a:r>
              <a:rPr lang="en-GB" dirty="0"/>
              <a:t>Prefer to think about it quietly first </a:t>
            </a:r>
          </a:p>
          <a:p>
            <a:r>
              <a:rPr lang="en-GB" dirty="0"/>
              <a:t>Tend to like working on their own</a:t>
            </a:r>
          </a:p>
          <a:p>
            <a:pPr marL="228600" indent="-228600">
              <a:buAutoNum type="arabicPeriod"/>
            </a:pPr>
            <a:endParaRPr lang="en-GB" dirty="0"/>
          </a:p>
          <a:p>
            <a:endParaRPr lang="en-GB" dirty="0"/>
          </a:p>
        </p:txBody>
      </p:sp>
      <p:sp>
        <p:nvSpPr>
          <p:cNvPr id="8" name="TextBox 7">
            <a:extLst>
              <a:ext uri="{FF2B5EF4-FFF2-40B4-BE49-F238E27FC236}">
                <a16:creationId xmlns:a16="http://schemas.microsoft.com/office/drawing/2014/main" id="{2E9B91A1-C0C3-13A8-2B03-D46DAC56E6A6}"/>
              </a:ext>
            </a:extLst>
          </p:cNvPr>
          <p:cNvSpPr txBox="1"/>
          <p:nvPr/>
        </p:nvSpPr>
        <p:spPr>
          <a:xfrm>
            <a:off x="9201108" y="1848063"/>
            <a:ext cx="2334424" cy="1200329"/>
          </a:xfrm>
          <a:prstGeom prst="rect">
            <a:avLst/>
          </a:prstGeom>
          <a:noFill/>
        </p:spPr>
        <p:txBody>
          <a:bodyPr wrap="square">
            <a:spAutoFit/>
          </a:bodyPr>
          <a:lstStyle/>
          <a:p>
            <a:r>
              <a:rPr lang="en-GB" sz="2400" dirty="0"/>
              <a:t>Let’s try it out and see how it works</a:t>
            </a:r>
          </a:p>
        </p:txBody>
      </p:sp>
      <p:pic>
        <p:nvPicPr>
          <p:cNvPr id="14" name="Graphic 13" descr="Rectangle speech bubble">
            <a:extLst>
              <a:ext uri="{FF2B5EF4-FFF2-40B4-BE49-F238E27FC236}">
                <a16:creationId xmlns:a16="http://schemas.microsoft.com/office/drawing/2014/main" id="{4097D071-7EE9-1077-D0B0-49BBED00027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36770" y="4266986"/>
            <a:ext cx="2663382" cy="2384859"/>
          </a:xfrm>
          <a:prstGeom prst="rect">
            <a:avLst/>
          </a:prstGeom>
        </p:spPr>
      </p:pic>
      <p:sp>
        <p:nvSpPr>
          <p:cNvPr id="17" name="TextBox 16">
            <a:extLst>
              <a:ext uri="{FF2B5EF4-FFF2-40B4-BE49-F238E27FC236}">
                <a16:creationId xmlns:a16="http://schemas.microsoft.com/office/drawing/2014/main" id="{EB7693B5-D028-D2F8-BC77-ED5A3C23D3C1}"/>
              </a:ext>
            </a:extLst>
          </p:cNvPr>
          <p:cNvSpPr txBox="1"/>
          <p:nvPr/>
        </p:nvSpPr>
        <p:spPr>
          <a:xfrm>
            <a:off x="7065728" y="4719343"/>
            <a:ext cx="2334424" cy="830997"/>
          </a:xfrm>
          <a:prstGeom prst="rect">
            <a:avLst/>
          </a:prstGeom>
          <a:noFill/>
        </p:spPr>
        <p:txBody>
          <a:bodyPr wrap="square">
            <a:spAutoFit/>
          </a:bodyPr>
          <a:lstStyle/>
          <a:p>
            <a:r>
              <a:rPr lang="en-GB" sz="2400" dirty="0"/>
              <a:t>Let’s think it through first</a:t>
            </a:r>
          </a:p>
        </p:txBody>
      </p:sp>
    </p:spTree>
    <p:extLst>
      <p:ext uri="{BB962C8B-B14F-4D97-AF65-F5344CB8AC3E}">
        <p14:creationId xmlns:p14="http://schemas.microsoft.com/office/powerpoint/2010/main" val="36307551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D097F-D92E-9900-D865-85A3F25C7092}"/>
              </a:ext>
            </a:extLst>
          </p:cNvPr>
          <p:cNvSpPr>
            <a:spLocks noGrp="1"/>
          </p:cNvSpPr>
          <p:nvPr>
            <p:ph type="title"/>
          </p:nvPr>
        </p:nvSpPr>
        <p:spPr/>
        <p:txBody>
          <a:bodyPr/>
          <a:lstStyle/>
          <a:p>
            <a:r>
              <a:rPr lang="en-GB" dirty="0"/>
              <a:t>Sensing vs intuitive learners</a:t>
            </a:r>
          </a:p>
        </p:txBody>
      </p:sp>
      <p:sp>
        <p:nvSpPr>
          <p:cNvPr id="3" name="Content Placeholder 2">
            <a:extLst>
              <a:ext uri="{FF2B5EF4-FFF2-40B4-BE49-F238E27FC236}">
                <a16:creationId xmlns:a16="http://schemas.microsoft.com/office/drawing/2014/main" id="{1B6BCD4C-E785-66FD-E344-F71DBDF0E479}"/>
              </a:ext>
            </a:extLst>
          </p:cNvPr>
          <p:cNvSpPr>
            <a:spLocks noGrp="1"/>
          </p:cNvSpPr>
          <p:nvPr>
            <p:ph idx="1"/>
          </p:nvPr>
        </p:nvSpPr>
        <p:spPr/>
        <p:txBody>
          <a:bodyPr>
            <a:normAutofit/>
          </a:bodyPr>
          <a:lstStyle/>
          <a:p>
            <a:pPr marL="0" indent="0">
              <a:buNone/>
            </a:pPr>
            <a:r>
              <a:rPr lang="en-GB" b="1" dirty="0"/>
              <a:t>Sensing learners:</a:t>
            </a:r>
          </a:p>
          <a:p>
            <a:r>
              <a:rPr lang="en-GB" dirty="0"/>
              <a:t>Tend to like learning facts</a:t>
            </a:r>
          </a:p>
          <a:p>
            <a:r>
              <a:rPr lang="en-GB" dirty="0"/>
              <a:t>Like solving problems by well-established methods and dislike complications and surprises</a:t>
            </a:r>
          </a:p>
          <a:p>
            <a:r>
              <a:rPr lang="en-GB" dirty="0"/>
              <a:t>Tend to be patient with details and good at memorizing facts and doing hands-on (laboratory) work</a:t>
            </a:r>
          </a:p>
          <a:p>
            <a:r>
              <a:rPr lang="en-GB" dirty="0"/>
              <a:t>Tend to be more practical and careful </a:t>
            </a:r>
          </a:p>
          <a:p>
            <a:r>
              <a:rPr lang="en-GB" dirty="0"/>
              <a:t>Don’t like courses that have no apparent connection to the real world</a:t>
            </a:r>
          </a:p>
        </p:txBody>
      </p:sp>
    </p:spTree>
    <p:extLst>
      <p:ext uri="{BB962C8B-B14F-4D97-AF65-F5344CB8AC3E}">
        <p14:creationId xmlns:p14="http://schemas.microsoft.com/office/powerpoint/2010/main" val="29668157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D097F-D92E-9900-D865-85A3F25C7092}"/>
              </a:ext>
            </a:extLst>
          </p:cNvPr>
          <p:cNvSpPr>
            <a:spLocks noGrp="1"/>
          </p:cNvSpPr>
          <p:nvPr>
            <p:ph type="title"/>
          </p:nvPr>
        </p:nvSpPr>
        <p:spPr/>
        <p:txBody>
          <a:bodyPr/>
          <a:lstStyle/>
          <a:p>
            <a:r>
              <a:rPr lang="en-GB" dirty="0"/>
              <a:t>Sensing vs intuitive learners</a:t>
            </a:r>
          </a:p>
        </p:txBody>
      </p:sp>
      <p:sp>
        <p:nvSpPr>
          <p:cNvPr id="3" name="Content Placeholder 2">
            <a:extLst>
              <a:ext uri="{FF2B5EF4-FFF2-40B4-BE49-F238E27FC236}">
                <a16:creationId xmlns:a16="http://schemas.microsoft.com/office/drawing/2014/main" id="{1B6BCD4C-E785-66FD-E344-F71DBDF0E479}"/>
              </a:ext>
            </a:extLst>
          </p:cNvPr>
          <p:cNvSpPr>
            <a:spLocks noGrp="1"/>
          </p:cNvSpPr>
          <p:nvPr>
            <p:ph idx="1"/>
          </p:nvPr>
        </p:nvSpPr>
        <p:spPr/>
        <p:txBody>
          <a:bodyPr>
            <a:normAutofit/>
          </a:bodyPr>
          <a:lstStyle/>
          <a:p>
            <a:pPr marL="0" indent="0">
              <a:buNone/>
            </a:pPr>
            <a:r>
              <a:rPr lang="en-GB" b="1" dirty="0"/>
              <a:t>Intuitive learners:</a:t>
            </a:r>
          </a:p>
          <a:p>
            <a:r>
              <a:rPr lang="en-GB" dirty="0"/>
              <a:t>Prefer discovering possibilities and relationships. </a:t>
            </a:r>
          </a:p>
          <a:p>
            <a:r>
              <a:rPr lang="en-GB" dirty="0"/>
              <a:t>Like innovation and dislike repetition</a:t>
            </a:r>
          </a:p>
          <a:p>
            <a:r>
              <a:rPr lang="en-GB" dirty="0"/>
              <a:t>May be better at grasping new concepts and are often more comfortable with abstractions and mathematical formulations</a:t>
            </a:r>
          </a:p>
          <a:p>
            <a:r>
              <a:rPr lang="en-GB" dirty="0"/>
              <a:t>Tend to work faster and to be more innovative.</a:t>
            </a:r>
          </a:p>
          <a:p>
            <a:r>
              <a:rPr lang="en-GB" dirty="0"/>
              <a:t>Don’t like courses that involve a lot of memorization and routine calculations.</a:t>
            </a:r>
          </a:p>
        </p:txBody>
      </p:sp>
    </p:spTree>
    <p:extLst>
      <p:ext uri="{BB962C8B-B14F-4D97-AF65-F5344CB8AC3E}">
        <p14:creationId xmlns:p14="http://schemas.microsoft.com/office/powerpoint/2010/main" val="30591989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1135A26D-9D47-467E-91F1-31149BF0D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4E54507-C3EA-9965-3E1E-9EE8FD675D36}"/>
              </a:ext>
            </a:extLst>
          </p:cNvPr>
          <p:cNvSpPr>
            <a:spLocks noGrp="1"/>
          </p:cNvSpPr>
          <p:nvPr>
            <p:ph type="title"/>
          </p:nvPr>
        </p:nvSpPr>
        <p:spPr>
          <a:xfrm>
            <a:off x="838201" y="365125"/>
            <a:ext cx="5393360" cy="1325563"/>
          </a:xfrm>
        </p:spPr>
        <p:txBody>
          <a:bodyPr>
            <a:normAutofit/>
          </a:bodyPr>
          <a:lstStyle/>
          <a:p>
            <a:r>
              <a:rPr lang="en-GB" dirty="0"/>
              <a:t>Visual vs verbal learners</a:t>
            </a:r>
          </a:p>
        </p:txBody>
      </p:sp>
      <p:sp>
        <p:nvSpPr>
          <p:cNvPr id="16" name="Freeform: Shape 15">
            <a:extLst>
              <a:ext uri="{FF2B5EF4-FFF2-40B4-BE49-F238E27FC236}">
                <a16:creationId xmlns:a16="http://schemas.microsoft.com/office/drawing/2014/main" id="{CB147A70-DC29-4DDF-A34C-2B82C6E229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319333" y="0"/>
            <a:ext cx="842502" cy="354793"/>
          </a:xfrm>
          <a:custGeom>
            <a:avLst/>
            <a:gdLst>
              <a:gd name="connsiteX0" fmla="*/ 0 w 1135066"/>
              <a:gd name="connsiteY0" fmla="*/ 0 h 477997"/>
              <a:gd name="connsiteX1" fmla="*/ 1135066 w 1135066"/>
              <a:gd name="connsiteY1" fmla="*/ 0 h 477997"/>
              <a:gd name="connsiteX2" fmla="*/ 1133370 w 1135066"/>
              <a:gd name="connsiteY2" fmla="*/ 16827 h 477997"/>
              <a:gd name="connsiteX3" fmla="*/ 567533 w 1135066"/>
              <a:gd name="connsiteY3" fmla="*/ 477997 h 477997"/>
              <a:gd name="connsiteX4" fmla="*/ 1696 w 1135066"/>
              <a:gd name="connsiteY4" fmla="*/ 16827 h 4779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35066" h="477997">
                <a:moveTo>
                  <a:pt x="0" y="0"/>
                </a:moveTo>
                <a:lnTo>
                  <a:pt x="1135066" y="0"/>
                </a:lnTo>
                <a:lnTo>
                  <a:pt x="1133370" y="16827"/>
                </a:lnTo>
                <a:cubicBezTo>
                  <a:pt x="1079514" y="280016"/>
                  <a:pt x="846644" y="477997"/>
                  <a:pt x="567533" y="477997"/>
                </a:cubicBezTo>
                <a:cubicBezTo>
                  <a:pt x="288422" y="477997"/>
                  <a:pt x="55552" y="280016"/>
                  <a:pt x="1696" y="16827"/>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EB11E0BB-0D20-C9F2-FF57-CED26B1F37AC}"/>
              </a:ext>
            </a:extLst>
          </p:cNvPr>
          <p:cNvSpPr>
            <a:spLocks noGrp="1"/>
          </p:cNvSpPr>
          <p:nvPr>
            <p:ph idx="1"/>
          </p:nvPr>
        </p:nvSpPr>
        <p:spPr>
          <a:xfrm>
            <a:off x="838200" y="1825625"/>
            <a:ext cx="5393361" cy="4351338"/>
          </a:xfrm>
        </p:spPr>
        <p:txBody>
          <a:bodyPr>
            <a:normAutofit/>
          </a:bodyPr>
          <a:lstStyle/>
          <a:p>
            <a:pPr marL="0" indent="0">
              <a:buNone/>
            </a:pPr>
            <a:r>
              <a:rPr lang="en-GB" sz="2600" b="1" dirty="0"/>
              <a:t>Visual Learners:</a:t>
            </a:r>
          </a:p>
          <a:p>
            <a:r>
              <a:rPr lang="en-GB" sz="2600" dirty="0"/>
              <a:t>Remember best what they see—pictures, diagrams, flow charts, timelines, films, and demonstrations.</a:t>
            </a:r>
          </a:p>
          <a:p>
            <a:pPr marL="0" indent="0">
              <a:buNone/>
            </a:pPr>
            <a:endParaRPr lang="en-GB" sz="2600" dirty="0"/>
          </a:p>
          <a:p>
            <a:pPr marL="0" indent="0">
              <a:buNone/>
            </a:pPr>
            <a:endParaRPr lang="en-GB" sz="2600" dirty="0"/>
          </a:p>
          <a:p>
            <a:pPr marL="0" indent="0">
              <a:buNone/>
            </a:pPr>
            <a:r>
              <a:rPr lang="en-GB" sz="2600" b="1" dirty="0"/>
              <a:t>Verbal Leaners: </a:t>
            </a:r>
          </a:p>
          <a:p>
            <a:r>
              <a:rPr lang="en-GB" sz="2600" dirty="0"/>
              <a:t>Get more out of words—written and spoken explanations</a:t>
            </a:r>
            <a:r>
              <a:rPr lang="en-GB" sz="2600" b="1" dirty="0"/>
              <a:t>.</a:t>
            </a:r>
          </a:p>
        </p:txBody>
      </p:sp>
      <p:sp>
        <p:nvSpPr>
          <p:cNvPr id="18" name="Oval 17">
            <a:extLst>
              <a:ext uri="{FF2B5EF4-FFF2-40B4-BE49-F238E27FC236}">
                <a16:creationId xmlns:a16="http://schemas.microsoft.com/office/drawing/2014/main" id="{3B438362-1E1E-4C62-A99E-4134CB1636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80791" y="1327365"/>
            <a:ext cx="610857" cy="610857"/>
          </a:xfrm>
          <a:prstGeom prst="ellipse">
            <a:avLst/>
          </a:prstGeom>
          <a:noFill/>
          <a:ln w="127000">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C077334-5571-4B83-A83E-4CCCFA7B5E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9536" y="0"/>
            <a:ext cx="2093996" cy="1402773"/>
          </a:xfrm>
          <a:custGeom>
            <a:avLst/>
            <a:gdLst>
              <a:gd name="connsiteX0" fmla="*/ 0 w 2315251"/>
              <a:gd name="connsiteY0" fmla="*/ 0 h 1550992"/>
              <a:gd name="connsiteX1" fmla="*/ 138700 w 2315251"/>
              <a:gd name="connsiteY1" fmla="*/ 0 h 1550992"/>
              <a:gd name="connsiteX2" fmla="*/ 138700 w 2315251"/>
              <a:gd name="connsiteY2" fmla="*/ 1361400 h 1550992"/>
              <a:gd name="connsiteX3" fmla="*/ 2107387 w 2315251"/>
              <a:gd name="connsiteY3" fmla="*/ 222673 h 1550992"/>
              <a:gd name="connsiteX4" fmla="*/ 1722420 w 2315251"/>
              <a:gd name="connsiteY4" fmla="*/ 0 h 1550992"/>
              <a:gd name="connsiteX5" fmla="*/ 1999436 w 2315251"/>
              <a:gd name="connsiteY5" fmla="*/ 0 h 1550992"/>
              <a:gd name="connsiteX6" fmla="*/ 2280549 w 2315251"/>
              <a:gd name="connsiteY6" fmla="*/ 162605 h 1550992"/>
              <a:gd name="connsiteX7" fmla="*/ 2305953 w 2315251"/>
              <a:gd name="connsiteY7" fmla="*/ 257336 h 1550992"/>
              <a:gd name="connsiteX8" fmla="*/ 2280549 w 2315251"/>
              <a:gd name="connsiteY8" fmla="*/ 282740 h 1550992"/>
              <a:gd name="connsiteX9" fmla="*/ 104026 w 2315251"/>
              <a:gd name="connsiteY9" fmla="*/ 1541710 h 1550992"/>
              <a:gd name="connsiteX10" fmla="*/ 69351 w 2315251"/>
              <a:gd name="connsiteY10" fmla="*/ 1550992 h 1550992"/>
              <a:gd name="connsiteX11" fmla="*/ 0 w 2315251"/>
              <a:gd name="connsiteY11" fmla="*/ 1481643 h 15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315251" h="1550992">
                <a:moveTo>
                  <a:pt x="0" y="0"/>
                </a:moveTo>
                <a:lnTo>
                  <a:pt x="138700" y="0"/>
                </a:lnTo>
                <a:lnTo>
                  <a:pt x="138700" y="1361400"/>
                </a:lnTo>
                <a:lnTo>
                  <a:pt x="2107387" y="222673"/>
                </a:lnTo>
                <a:lnTo>
                  <a:pt x="1722420" y="0"/>
                </a:lnTo>
                <a:lnTo>
                  <a:pt x="1999436" y="0"/>
                </a:lnTo>
                <a:lnTo>
                  <a:pt x="2280549" y="162605"/>
                </a:lnTo>
                <a:cubicBezTo>
                  <a:pt x="2313720" y="181745"/>
                  <a:pt x="2325104" y="224155"/>
                  <a:pt x="2305953" y="257336"/>
                </a:cubicBezTo>
                <a:cubicBezTo>
                  <a:pt x="2299872" y="267889"/>
                  <a:pt x="2291101" y="276648"/>
                  <a:pt x="2280549" y="282740"/>
                </a:cubicBezTo>
                <a:lnTo>
                  <a:pt x="104026" y="1541710"/>
                </a:lnTo>
                <a:cubicBezTo>
                  <a:pt x="93484" y="1547802"/>
                  <a:pt x="81523" y="1551003"/>
                  <a:pt x="69351" y="1550992"/>
                </a:cubicBezTo>
                <a:cubicBezTo>
                  <a:pt x="31049" y="1550992"/>
                  <a:pt x="0" y="1519944"/>
                  <a:pt x="0" y="1481643"/>
                </a:cubicBezTo>
                <a:close/>
              </a:path>
            </a:pathLst>
          </a:custGeom>
          <a:solidFill>
            <a:schemeClr val="accent6"/>
          </a:solidFill>
          <a:ln w="9525" cap="flat">
            <a:noFill/>
            <a:prstDash val="solid"/>
            <a:miter/>
          </a:ln>
        </p:spPr>
        <p:txBody>
          <a:bodyPr rtlCol="0" anchor="ctr"/>
          <a:lstStyle/>
          <a:p>
            <a:endParaRPr lang="en-US" dirty="0"/>
          </a:p>
        </p:txBody>
      </p:sp>
      <p:pic>
        <p:nvPicPr>
          <p:cNvPr id="9" name="Graphic 8" descr="Document with solid fill">
            <a:extLst>
              <a:ext uri="{FF2B5EF4-FFF2-40B4-BE49-F238E27FC236}">
                <a16:creationId xmlns:a16="http://schemas.microsoft.com/office/drawing/2014/main" id="{09844C86-F41F-869A-AEB6-342C0B687C2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06774" y="2392776"/>
            <a:ext cx="2533422" cy="2533422"/>
          </a:xfrm>
          <a:custGeom>
            <a:avLst/>
            <a:gdLst/>
            <a:ahLst/>
            <a:cxnLst/>
            <a:rect l="l" t="t" r="r" b="b"/>
            <a:pathLst>
              <a:path w="1999274" h="2247255">
                <a:moveTo>
                  <a:pt x="108501" y="0"/>
                </a:moveTo>
                <a:lnTo>
                  <a:pt x="1890773" y="0"/>
                </a:lnTo>
                <a:cubicBezTo>
                  <a:pt x="1950696" y="0"/>
                  <a:pt x="1999274" y="48578"/>
                  <a:pt x="1999274" y="108501"/>
                </a:cubicBezTo>
                <a:lnTo>
                  <a:pt x="1999274" y="2138754"/>
                </a:lnTo>
                <a:cubicBezTo>
                  <a:pt x="1999274" y="2198677"/>
                  <a:pt x="1950696" y="2247255"/>
                  <a:pt x="1890773" y="2247255"/>
                </a:cubicBezTo>
                <a:lnTo>
                  <a:pt x="108501" y="2247255"/>
                </a:lnTo>
                <a:cubicBezTo>
                  <a:pt x="48578" y="2247255"/>
                  <a:pt x="0" y="2198677"/>
                  <a:pt x="0" y="2138754"/>
                </a:cubicBezTo>
                <a:lnTo>
                  <a:pt x="0" y="108501"/>
                </a:lnTo>
                <a:cubicBezTo>
                  <a:pt x="0" y="48578"/>
                  <a:pt x="48578" y="0"/>
                  <a:pt x="108501" y="0"/>
                </a:cubicBezTo>
                <a:close/>
              </a:path>
            </a:pathLst>
          </a:custGeom>
        </p:spPr>
      </p:pic>
      <p:pic>
        <p:nvPicPr>
          <p:cNvPr id="5" name="Picture 4" descr="Desktop computer playset">
            <a:extLst>
              <a:ext uri="{FF2B5EF4-FFF2-40B4-BE49-F238E27FC236}">
                <a16:creationId xmlns:a16="http://schemas.microsoft.com/office/drawing/2014/main" id="{D0923FC5-4F42-4E70-0895-7CEB7A92EAAC}"/>
              </a:ext>
            </a:extLst>
          </p:cNvPr>
          <p:cNvPicPr>
            <a:picLocks noChangeAspect="1"/>
          </p:cNvPicPr>
          <p:nvPr/>
        </p:nvPicPr>
        <p:blipFill rotWithShape="1">
          <a:blip r:embed="rId5">
            <a:extLst>
              <a:ext uri="{28A0092B-C50C-407E-A947-70E740481C1C}">
                <a14:useLocalDpi xmlns:a14="http://schemas.microsoft.com/office/drawing/2010/main" val="0"/>
              </a:ext>
            </a:extLst>
          </a:blip>
          <a:srcRect l="31779" t="43889" r="30667" b="28333"/>
          <a:stretch/>
        </p:blipFill>
        <p:spPr>
          <a:xfrm>
            <a:off x="9508504" y="1076056"/>
            <a:ext cx="2533422" cy="1499136"/>
          </a:xfrm>
          <a:custGeom>
            <a:avLst/>
            <a:gdLst/>
            <a:ahLst/>
            <a:cxnLst/>
            <a:rect l="l" t="t" r="r" b="b"/>
            <a:pathLst>
              <a:path w="1999274" h="2247255">
                <a:moveTo>
                  <a:pt x="108501" y="0"/>
                </a:moveTo>
                <a:lnTo>
                  <a:pt x="1890773" y="0"/>
                </a:lnTo>
                <a:cubicBezTo>
                  <a:pt x="1950696" y="0"/>
                  <a:pt x="1999274" y="48578"/>
                  <a:pt x="1999274" y="108501"/>
                </a:cubicBezTo>
                <a:lnTo>
                  <a:pt x="1999274" y="2138754"/>
                </a:lnTo>
                <a:cubicBezTo>
                  <a:pt x="1999274" y="2198677"/>
                  <a:pt x="1950696" y="2247255"/>
                  <a:pt x="1890773" y="2247255"/>
                </a:cubicBezTo>
                <a:lnTo>
                  <a:pt x="108501" y="2247255"/>
                </a:lnTo>
                <a:cubicBezTo>
                  <a:pt x="48578" y="2247255"/>
                  <a:pt x="0" y="2198677"/>
                  <a:pt x="0" y="2138754"/>
                </a:cubicBezTo>
                <a:lnTo>
                  <a:pt x="0" y="108501"/>
                </a:lnTo>
                <a:cubicBezTo>
                  <a:pt x="0" y="48578"/>
                  <a:pt x="48578" y="0"/>
                  <a:pt x="108501" y="0"/>
                </a:cubicBezTo>
                <a:close/>
              </a:path>
            </a:pathLst>
          </a:custGeom>
        </p:spPr>
      </p:pic>
      <p:pic>
        <p:nvPicPr>
          <p:cNvPr id="7" name="Picture 6" descr="Five square speech bubbles in color">
            <a:extLst>
              <a:ext uri="{FF2B5EF4-FFF2-40B4-BE49-F238E27FC236}">
                <a16:creationId xmlns:a16="http://schemas.microsoft.com/office/drawing/2014/main" id="{14FF0E91-6B87-6ACC-7CD7-2C080C9D69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508503" y="4041955"/>
            <a:ext cx="2533423" cy="1773396"/>
          </a:xfrm>
          <a:custGeom>
            <a:avLst/>
            <a:gdLst/>
            <a:ahLst/>
            <a:cxnLst/>
            <a:rect l="l" t="t" r="r" b="b"/>
            <a:pathLst>
              <a:path w="3064284" h="3064284">
                <a:moveTo>
                  <a:pt x="166483" y="0"/>
                </a:moveTo>
                <a:lnTo>
                  <a:pt x="2897801" y="0"/>
                </a:lnTo>
                <a:cubicBezTo>
                  <a:pt x="2989747" y="0"/>
                  <a:pt x="3064284" y="74537"/>
                  <a:pt x="3064284" y="166483"/>
                </a:cubicBezTo>
                <a:lnTo>
                  <a:pt x="3064284" y="2897801"/>
                </a:lnTo>
                <a:cubicBezTo>
                  <a:pt x="3064284" y="2989747"/>
                  <a:pt x="2989747" y="3064284"/>
                  <a:pt x="2897801" y="3064284"/>
                </a:cubicBezTo>
                <a:lnTo>
                  <a:pt x="166483" y="3064284"/>
                </a:lnTo>
                <a:cubicBezTo>
                  <a:pt x="74537" y="3064284"/>
                  <a:pt x="0" y="2989747"/>
                  <a:pt x="0" y="2897801"/>
                </a:cubicBezTo>
                <a:lnTo>
                  <a:pt x="0" y="166483"/>
                </a:lnTo>
                <a:cubicBezTo>
                  <a:pt x="0" y="74537"/>
                  <a:pt x="74537" y="0"/>
                  <a:pt x="166483" y="0"/>
                </a:cubicBezTo>
                <a:close/>
              </a:path>
            </a:pathLst>
          </a:custGeom>
        </p:spPr>
      </p:pic>
      <p:sp>
        <p:nvSpPr>
          <p:cNvPr id="22" name="Arc 21">
            <a:extLst>
              <a:ext uri="{FF2B5EF4-FFF2-40B4-BE49-F238E27FC236}">
                <a16:creationId xmlns:a16="http://schemas.microsoft.com/office/drawing/2014/main" id="{4D3DC50D-CA0F-48F9-B17E-20D8669AA4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76147" y="5530635"/>
            <a:ext cx="3939038" cy="3939038"/>
          </a:xfrm>
          <a:prstGeom prst="arc">
            <a:avLst>
              <a:gd name="adj1" fmla="val 16200000"/>
              <a:gd name="adj2" fmla="val 20354996"/>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D1B80E9C-CF8A-440B-B8F5-54BF121BF4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619536" y="6066084"/>
            <a:ext cx="1913062" cy="791916"/>
          </a:xfrm>
          <a:custGeom>
            <a:avLst/>
            <a:gdLst>
              <a:gd name="connsiteX0" fmla="*/ 995532 w 1991064"/>
              <a:gd name="connsiteY0" fmla="*/ 0 h 824205"/>
              <a:gd name="connsiteX1" fmla="*/ 1984823 w 1991064"/>
              <a:gd name="connsiteY1" fmla="*/ 784423 h 824205"/>
              <a:gd name="connsiteX2" fmla="*/ 1991064 w 1991064"/>
              <a:gd name="connsiteY2" fmla="*/ 824205 h 824205"/>
              <a:gd name="connsiteX3" fmla="*/ 0 w 1991064"/>
              <a:gd name="connsiteY3" fmla="*/ 824205 h 824205"/>
              <a:gd name="connsiteX4" fmla="*/ 6241 w 1991064"/>
              <a:gd name="connsiteY4" fmla="*/ 784423 h 824205"/>
              <a:gd name="connsiteX5" fmla="*/ 995532 w 1991064"/>
              <a:gd name="connsiteY5" fmla="*/ 0 h 824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991064" h="824205">
                <a:moveTo>
                  <a:pt x="995532" y="0"/>
                </a:moveTo>
                <a:cubicBezTo>
                  <a:pt x="1483521" y="0"/>
                  <a:pt x="1890663" y="336754"/>
                  <a:pt x="1984823" y="784423"/>
                </a:cubicBezTo>
                <a:lnTo>
                  <a:pt x="1991064" y="824205"/>
                </a:lnTo>
                <a:lnTo>
                  <a:pt x="0" y="824205"/>
                </a:lnTo>
                <a:lnTo>
                  <a:pt x="6241" y="784423"/>
                </a:lnTo>
                <a:cubicBezTo>
                  <a:pt x="100402" y="336754"/>
                  <a:pt x="507544" y="0"/>
                  <a:pt x="995532"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14571749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B2391D-4844-8BBC-6AA5-6D21DDEE3A37}"/>
              </a:ext>
            </a:extLst>
          </p:cNvPr>
          <p:cNvSpPr>
            <a:spLocks noGrp="1"/>
          </p:cNvSpPr>
          <p:nvPr>
            <p:ph type="title"/>
          </p:nvPr>
        </p:nvSpPr>
        <p:spPr>
          <a:xfrm>
            <a:off x="572493" y="238539"/>
            <a:ext cx="11018520" cy="1434415"/>
          </a:xfrm>
        </p:spPr>
        <p:txBody>
          <a:bodyPr anchor="b">
            <a:normAutofit/>
          </a:bodyPr>
          <a:lstStyle/>
          <a:p>
            <a:r>
              <a:rPr lang="en-GB" sz="5400" dirty="0"/>
              <a:t>Sequential vs global learners</a:t>
            </a:r>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0D6B807-17E2-3898-C27D-B79C4D92B93C}"/>
              </a:ext>
            </a:extLst>
          </p:cNvPr>
          <p:cNvSpPr>
            <a:spLocks noGrp="1"/>
          </p:cNvSpPr>
          <p:nvPr>
            <p:ph idx="1"/>
          </p:nvPr>
        </p:nvSpPr>
        <p:spPr>
          <a:xfrm>
            <a:off x="572492" y="2071316"/>
            <a:ext cx="7460022" cy="4119172"/>
          </a:xfrm>
        </p:spPr>
        <p:txBody>
          <a:bodyPr anchor="t">
            <a:noAutofit/>
          </a:bodyPr>
          <a:lstStyle/>
          <a:p>
            <a:pPr marL="0" indent="0">
              <a:buNone/>
            </a:pPr>
            <a:r>
              <a:rPr lang="en-GB" sz="2400" b="1" dirty="0"/>
              <a:t>Sequential learners: </a:t>
            </a:r>
          </a:p>
          <a:p>
            <a:r>
              <a:rPr lang="en-GB" sz="2400" dirty="0"/>
              <a:t>Tend to gain understanding in linear steps, with each step following logically from the previous one.</a:t>
            </a:r>
          </a:p>
          <a:p>
            <a:r>
              <a:rPr lang="en-GB" sz="2400" dirty="0"/>
              <a:t>Tend to follow logical stepwise paths in finding solutions</a:t>
            </a:r>
          </a:p>
          <a:p>
            <a:endParaRPr lang="en-GB" sz="2400" dirty="0"/>
          </a:p>
        </p:txBody>
      </p:sp>
      <p:pic>
        <p:nvPicPr>
          <p:cNvPr id="5" name="Picture 4" descr="Colorful steps and arrow">
            <a:extLst>
              <a:ext uri="{FF2B5EF4-FFF2-40B4-BE49-F238E27FC236}">
                <a16:creationId xmlns:a16="http://schemas.microsoft.com/office/drawing/2014/main" id="{9257F5D0-298F-3CC2-E0BC-6EDF5C655218}"/>
              </a:ext>
            </a:extLst>
          </p:cNvPr>
          <p:cNvPicPr>
            <a:picLocks noChangeAspect="1"/>
          </p:cNvPicPr>
          <p:nvPr/>
        </p:nvPicPr>
        <p:blipFill rotWithShape="1">
          <a:blip r:embed="rId3">
            <a:extLst>
              <a:ext uri="{28A0092B-C50C-407E-A947-70E740481C1C}">
                <a14:useLocalDpi xmlns:a14="http://schemas.microsoft.com/office/drawing/2010/main" val="0"/>
              </a:ext>
            </a:extLst>
          </a:blip>
          <a:srcRect l="10335" r="7134"/>
          <a:stretch/>
        </p:blipFill>
        <p:spPr>
          <a:xfrm>
            <a:off x="8032514" y="2539154"/>
            <a:ext cx="4017972" cy="3651334"/>
          </a:xfrm>
          <a:prstGeom prst="rect">
            <a:avLst/>
          </a:prstGeom>
        </p:spPr>
      </p:pic>
    </p:spTree>
    <p:extLst>
      <p:ext uri="{BB962C8B-B14F-4D97-AF65-F5344CB8AC3E}">
        <p14:creationId xmlns:p14="http://schemas.microsoft.com/office/powerpoint/2010/main" val="38863431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5D37F4E-DDB4-456B-97E0-9937730A03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B2391D-4844-8BBC-6AA5-6D21DDEE3A37}"/>
              </a:ext>
            </a:extLst>
          </p:cNvPr>
          <p:cNvSpPr>
            <a:spLocks noGrp="1"/>
          </p:cNvSpPr>
          <p:nvPr>
            <p:ph type="title"/>
          </p:nvPr>
        </p:nvSpPr>
        <p:spPr>
          <a:xfrm>
            <a:off x="572493" y="238539"/>
            <a:ext cx="11018520" cy="1434415"/>
          </a:xfrm>
        </p:spPr>
        <p:txBody>
          <a:bodyPr anchor="b">
            <a:normAutofit/>
          </a:bodyPr>
          <a:lstStyle/>
          <a:p>
            <a:r>
              <a:rPr lang="en-GB" sz="5400" dirty="0"/>
              <a:t>Sequential vs global learners</a:t>
            </a:r>
          </a:p>
        </p:txBody>
      </p:sp>
      <p:sp>
        <p:nvSpPr>
          <p:cNvPr id="17" name="sketchy line">
            <a:extLst>
              <a:ext uri="{FF2B5EF4-FFF2-40B4-BE49-F238E27FC236}">
                <a16:creationId xmlns:a16="http://schemas.microsoft.com/office/drawing/2014/main" id="{B2DD41CD-8F47-4F56-AD12-4E2FF7696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2493" y="1681544"/>
            <a:ext cx="10972800" cy="18288"/>
          </a:xfrm>
          <a:custGeom>
            <a:avLst/>
            <a:gdLst>
              <a:gd name="connsiteX0" fmla="*/ 0 w 10972800"/>
              <a:gd name="connsiteY0" fmla="*/ 0 h 18288"/>
              <a:gd name="connsiteX1" fmla="*/ 356616 w 10972800"/>
              <a:gd name="connsiteY1" fmla="*/ 0 h 18288"/>
              <a:gd name="connsiteX2" fmla="*/ 1042416 w 10972800"/>
              <a:gd name="connsiteY2" fmla="*/ 0 h 18288"/>
              <a:gd name="connsiteX3" fmla="*/ 1947672 w 10972800"/>
              <a:gd name="connsiteY3" fmla="*/ 0 h 18288"/>
              <a:gd name="connsiteX4" fmla="*/ 2633472 w 10972800"/>
              <a:gd name="connsiteY4" fmla="*/ 0 h 18288"/>
              <a:gd name="connsiteX5" fmla="*/ 2990088 w 10972800"/>
              <a:gd name="connsiteY5" fmla="*/ 0 h 18288"/>
              <a:gd name="connsiteX6" fmla="*/ 3456432 w 10972800"/>
              <a:gd name="connsiteY6" fmla="*/ 0 h 18288"/>
              <a:gd name="connsiteX7" fmla="*/ 4361688 w 10972800"/>
              <a:gd name="connsiteY7" fmla="*/ 0 h 18288"/>
              <a:gd name="connsiteX8" fmla="*/ 5266944 w 10972800"/>
              <a:gd name="connsiteY8" fmla="*/ 0 h 18288"/>
              <a:gd name="connsiteX9" fmla="*/ 6172200 w 10972800"/>
              <a:gd name="connsiteY9" fmla="*/ 0 h 18288"/>
              <a:gd name="connsiteX10" fmla="*/ 6528816 w 10972800"/>
              <a:gd name="connsiteY10" fmla="*/ 0 h 18288"/>
              <a:gd name="connsiteX11" fmla="*/ 7214616 w 10972800"/>
              <a:gd name="connsiteY11" fmla="*/ 0 h 18288"/>
              <a:gd name="connsiteX12" fmla="*/ 7790688 w 10972800"/>
              <a:gd name="connsiteY12" fmla="*/ 0 h 18288"/>
              <a:gd name="connsiteX13" fmla="*/ 8147304 w 10972800"/>
              <a:gd name="connsiteY13" fmla="*/ 0 h 18288"/>
              <a:gd name="connsiteX14" fmla="*/ 9052560 w 10972800"/>
              <a:gd name="connsiteY14" fmla="*/ 0 h 18288"/>
              <a:gd name="connsiteX15" fmla="*/ 9409176 w 10972800"/>
              <a:gd name="connsiteY15" fmla="*/ 0 h 18288"/>
              <a:gd name="connsiteX16" fmla="*/ 9765792 w 10972800"/>
              <a:gd name="connsiteY16" fmla="*/ 0 h 18288"/>
              <a:gd name="connsiteX17" fmla="*/ 10341864 w 10972800"/>
              <a:gd name="connsiteY17" fmla="*/ 0 h 18288"/>
              <a:gd name="connsiteX18" fmla="*/ 10972800 w 10972800"/>
              <a:gd name="connsiteY18" fmla="*/ 0 h 18288"/>
              <a:gd name="connsiteX19" fmla="*/ 10972800 w 10972800"/>
              <a:gd name="connsiteY19" fmla="*/ 18288 h 18288"/>
              <a:gd name="connsiteX20" fmla="*/ 10177272 w 10972800"/>
              <a:gd name="connsiteY20" fmla="*/ 18288 h 18288"/>
              <a:gd name="connsiteX21" fmla="*/ 9820656 w 10972800"/>
              <a:gd name="connsiteY21" fmla="*/ 18288 h 18288"/>
              <a:gd name="connsiteX22" fmla="*/ 9464040 w 10972800"/>
              <a:gd name="connsiteY22" fmla="*/ 18288 h 18288"/>
              <a:gd name="connsiteX23" fmla="*/ 8778240 w 10972800"/>
              <a:gd name="connsiteY23" fmla="*/ 18288 h 18288"/>
              <a:gd name="connsiteX24" fmla="*/ 8421624 w 10972800"/>
              <a:gd name="connsiteY24" fmla="*/ 18288 h 18288"/>
              <a:gd name="connsiteX25" fmla="*/ 7735824 w 10972800"/>
              <a:gd name="connsiteY25" fmla="*/ 18288 h 18288"/>
              <a:gd name="connsiteX26" fmla="*/ 6940296 w 10972800"/>
              <a:gd name="connsiteY26" fmla="*/ 18288 h 18288"/>
              <a:gd name="connsiteX27" fmla="*/ 6254496 w 10972800"/>
              <a:gd name="connsiteY27" fmla="*/ 18288 h 18288"/>
              <a:gd name="connsiteX28" fmla="*/ 5458968 w 10972800"/>
              <a:gd name="connsiteY28" fmla="*/ 18288 h 18288"/>
              <a:gd name="connsiteX29" fmla="*/ 4663440 w 10972800"/>
              <a:gd name="connsiteY29" fmla="*/ 18288 h 18288"/>
              <a:gd name="connsiteX30" fmla="*/ 4306824 w 10972800"/>
              <a:gd name="connsiteY30" fmla="*/ 18288 h 18288"/>
              <a:gd name="connsiteX31" fmla="*/ 3840480 w 10972800"/>
              <a:gd name="connsiteY31" fmla="*/ 18288 h 18288"/>
              <a:gd name="connsiteX32" fmla="*/ 3264408 w 10972800"/>
              <a:gd name="connsiteY32" fmla="*/ 18288 h 18288"/>
              <a:gd name="connsiteX33" fmla="*/ 2578608 w 10972800"/>
              <a:gd name="connsiteY33" fmla="*/ 18288 h 18288"/>
              <a:gd name="connsiteX34" fmla="*/ 1673352 w 10972800"/>
              <a:gd name="connsiteY34" fmla="*/ 18288 h 18288"/>
              <a:gd name="connsiteX35" fmla="*/ 877824 w 10972800"/>
              <a:gd name="connsiteY35" fmla="*/ 18288 h 18288"/>
              <a:gd name="connsiteX36" fmla="*/ 0 w 10972800"/>
              <a:gd name="connsiteY36" fmla="*/ 18288 h 18288"/>
              <a:gd name="connsiteX37" fmla="*/ 0 w 10972800"/>
              <a:gd name="connsiteY37"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0972800" h="18288" fill="none" extrusionOk="0">
                <a:moveTo>
                  <a:pt x="0" y="0"/>
                </a:moveTo>
                <a:cubicBezTo>
                  <a:pt x="165916" y="-1866"/>
                  <a:pt x="188720" y="13756"/>
                  <a:pt x="356616" y="0"/>
                </a:cubicBezTo>
                <a:cubicBezTo>
                  <a:pt x="524512" y="-13756"/>
                  <a:pt x="734781" y="8922"/>
                  <a:pt x="1042416" y="0"/>
                </a:cubicBezTo>
                <a:cubicBezTo>
                  <a:pt x="1350051" y="-8922"/>
                  <a:pt x="1595982" y="-26315"/>
                  <a:pt x="1947672" y="0"/>
                </a:cubicBezTo>
                <a:cubicBezTo>
                  <a:pt x="2299362" y="26315"/>
                  <a:pt x="2292691" y="-19526"/>
                  <a:pt x="2633472" y="0"/>
                </a:cubicBezTo>
                <a:cubicBezTo>
                  <a:pt x="2974253" y="19526"/>
                  <a:pt x="2857309" y="10773"/>
                  <a:pt x="2990088" y="0"/>
                </a:cubicBezTo>
                <a:cubicBezTo>
                  <a:pt x="3122867" y="-10773"/>
                  <a:pt x="3359343" y="7194"/>
                  <a:pt x="3456432" y="0"/>
                </a:cubicBezTo>
                <a:cubicBezTo>
                  <a:pt x="3553521" y="-7194"/>
                  <a:pt x="4136258" y="5108"/>
                  <a:pt x="4361688" y="0"/>
                </a:cubicBezTo>
                <a:cubicBezTo>
                  <a:pt x="4587118" y="-5108"/>
                  <a:pt x="4992424" y="-42958"/>
                  <a:pt x="5266944" y="0"/>
                </a:cubicBezTo>
                <a:cubicBezTo>
                  <a:pt x="5541464" y="42958"/>
                  <a:pt x="5882966" y="-3430"/>
                  <a:pt x="6172200" y="0"/>
                </a:cubicBezTo>
                <a:cubicBezTo>
                  <a:pt x="6461434" y="3430"/>
                  <a:pt x="6432127" y="6688"/>
                  <a:pt x="6528816" y="0"/>
                </a:cubicBezTo>
                <a:cubicBezTo>
                  <a:pt x="6625505" y="-6688"/>
                  <a:pt x="6916805" y="-436"/>
                  <a:pt x="7214616" y="0"/>
                </a:cubicBezTo>
                <a:cubicBezTo>
                  <a:pt x="7512427" y="436"/>
                  <a:pt x="7626159" y="-6909"/>
                  <a:pt x="7790688" y="0"/>
                </a:cubicBezTo>
                <a:cubicBezTo>
                  <a:pt x="7955217" y="6909"/>
                  <a:pt x="8048891" y="15307"/>
                  <a:pt x="8147304" y="0"/>
                </a:cubicBezTo>
                <a:cubicBezTo>
                  <a:pt x="8245717" y="-15307"/>
                  <a:pt x="8645618" y="-11734"/>
                  <a:pt x="9052560" y="0"/>
                </a:cubicBezTo>
                <a:cubicBezTo>
                  <a:pt x="9459502" y="11734"/>
                  <a:pt x="9320584" y="8388"/>
                  <a:pt x="9409176" y="0"/>
                </a:cubicBezTo>
                <a:cubicBezTo>
                  <a:pt x="9497768" y="-8388"/>
                  <a:pt x="9644192" y="8379"/>
                  <a:pt x="9765792" y="0"/>
                </a:cubicBezTo>
                <a:cubicBezTo>
                  <a:pt x="9887392" y="-8379"/>
                  <a:pt x="10105220" y="-12663"/>
                  <a:pt x="10341864" y="0"/>
                </a:cubicBezTo>
                <a:cubicBezTo>
                  <a:pt x="10578508" y="12663"/>
                  <a:pt x="10773103" y="-5786"/>
                  <a:pt x="10972800" y="0"/>
                </a:cubicBezTo>
                <a:cubicBezTo>
                  <a:pt x="10972146" y="8818"/>
                  <a:pt x="10972240" y="13823"/>
                  <a:pt x="10972800" y="18288"/>
                </a:cubicBezTo>
                <a:cubicBezTo>
                  <a:pt x="10588778" y="31598"/>
                  <a:pt x="10543381" y="-12698"/>
                  <a:pt x="10177272" y="18288"/>
                </a:cubicBezTo>
                <a:cubicBezTo>
                  <a:pt x="9811163" y="49274"/>
                  <a:pt x="9996817" y="25662"/>
                  <a:pt x="9820656" y="18288"/>
                </a:cubicBezTo>
                <a:cubicBezTo>
                  <a:pt x="9644495" y="10914"/>
                  <a:pt x="9607007" y="31631"/>
                  <a:pt x="9464040" y="18288"/>
                </a:cubicBezTo>
                <a:cubicBezTo>
                  <a:pt x="9321073" y="4945"/>
                  <a:pt x="9114189" y="28940"/>
                  <a:pt x="8778240" y="18288"/>
                </a:cubicBezTo>
                <a:cubicBezTo>
                  <a:pt x="8442291" y="7636"/>
                  <a:pt x="8594763" y="987"/>
                  <a:pt x="8421624" y="18288"/>
                </a:cubicBezTo>
                <a:cubicBezTo>
                  <a:pt x="8248485" y="35589"/>
                  <a:pt x="7929515" y="37573"/>
                  <a:pt x="7735824" y="18288"/>
                </a:cubicBezTo>
                <a:cubicBezTo>
                  <a:pt x="7542133" y="-997"/>
                  <a:pt x="7252504" y="33858"/>
                  <a:pt x="6940296" y="18288"/>
                </a:cubicBezTo>
                <a:cubicBezTo>
                  <a:pt x="6628088" y="2718"/>
                  <a:pt x="6528503" y="48389"/>
                  <a:pt x="6254496" y="18288"/>
                </a:cubicBezTo>
                <a:cubicBezTo>
                  <a:pt x="5980489" y="-11813"/>
                  <a:pt x="5695784" y="-3740"/>
                  <a:pt x="5458968" y="18288"/>
                </a:cubicBezTo>
                <a:cubicBezTo>
                  <a:pt x="5222152" y="40316"/>
                  <a:pt x="5010751" y="19095"/>
                  <a:pt x="4663440" y="18288"/>
                </a:cubicBezTo>
                <a:cubicBezTo>
                  <a:pt x="4316129" y="17481"/>
                  <a:pt x="4425552" y="1606"/>
                  <a:pt x="4306824" y="18288"/>
                </a:cubicBezTo>
                <a:cubicBezTo>
                  <a:pt x="4188096" y="34970"/>
                  <a:pt x="3941535" y="7481"/>
                  <a:pt x="3840480" y="18288"/>
                </a:cubicBezTo>
                <a:cubicBezTo>
                  <a:pt x="3739425" y="29095"/>
                  <a:pt x="3402388" y="17641"/>
                  <a:pt x="3264408" y="18288"/>
                </a:cubicBezTo>
                <a:cubicBezTo>
                  <a:pt x="3126428" y="18935"/>
                  <a:pt x="2776779" y="9983"/>
                  <a:pt x="2578608" y="18288"/>
                </a:cubicBezTo>
                <a:cubicBezTo>
                  <a:pt x="2380437" y="26593"/>
                  <a:pt x="1909468" y="25818"/>
                  <a:pt x="1673352" y="18288"/>
                </a:cubicBezTo>
                <a:cubicBezTo>
                  <a:pt x="1437236" y="10758"/>
                  <a:pt x="1131180" y="49884"/>
                  <a:pt x="877824" y="18288"/>
                </a:cubicBezTo>
                <a:cubicBezTo>
                  <a:pt x="624468" y="-13308"/>
                  <a:pt x="206753" y="2195"/>
                  <a:pt x="0" y="18288"/>
                </a:cubicBezTo>
                <a:cubicBezTo>
                  <a:pt x="313" y="10654"/>
                  <a:pt x="-263" y="4056"/>
                  <a:pt x="0" y="0"/>
                </a:cubicBezTo>
                <a:close/>
              </a:path>
              <a:path w="10972800" h="18288" stroke="0" extrusionOk="0">
                <a:moveTo>
                  <a:pt x="0" y="0"/>
                </a:moveTo>
                <a:cubicBezTo>
                  <a:pt x="164017" y="-17675"/>
                  <a:pt x="309425" y="9913"/>
                  <a:pt x="466344" y="0"/>
                </a:cubicBezTo>
                <a:cubicBezTo>
                  <a:pt x="623263" y="-9913"/>
                  <a:pt x="659300" y="-14524"/>
                  <a:pt x="822960" y="0"/>
                </a:cubicBezTo>
                <a:cubicBezTo>
                  <a:pt x="986620" y="14524"/>
                  <a:pt x="1105222" y="-16481"/>
                  <a:pt x="1289304" y="0"/>
                </a:cubicBezTo>
                <a:cubicBezTo>
                  <a:pt x="1473386" y="16481"/>
                  <a:pt x="1693223" y="26161"/>
                  <a:pt x="1975104" y="0"/>
                </a:cubicBezTo>
                <a:cubicBezTo>
                  <a:pt x="2256985" y="-26161"/>
                  <a:pt x="2435781" y="23061"/>
                  <a:pt x="2770632" y="0"/>
                </a:cubicBezTo>
                <a:cubicBezTo>
                  <a:pt x="3105483" y="-23061"/>
                  <a:pt x="3247479" y="-44011"/>
                  <a:pt x="3675888" y="0"/>
                </a:cubicBezTo>
                <a:cubicBezTo>
                  <a:pt x="4104297" y="44011"/>
                  <a:pt x="4280918" y="4017"/>
                  <a:pt x="4581144" y="0"/>
                </a:cubicBezTo>
                <a:cubicBezTo>
                  <a:pt x="4881370" y="-4017"/>
                  <a:pt x="5021699" y="-11889"/>
                  <a:pt x="5157216" y="0"/>
                </a:cubicBezTo>
                <a:cubicBezTo>
                  <a:pt x="5292733" y="11889"/>
                  <a:pt x="5603398" y="-17698"/>
                  <a:pt x="5952744" y="0"/>
                </a:cubicBezTo>
                <a:cubicBezTo>
                  <a:pt x="6302090" y="17698"/>
                  <a:pt x="6353093" y="-11909"/>
                  <a:pt x="6638544" y="0"/>
                </a:cubicBezTo>
                <a:cubicBezTo>
                  <a:pt x="6923995" y="11909"/>
                  <a:pt x="7053404" y="21630"/>
                  <a:pt x="7214616" y="0"/>
                </a:cubicBezTo>
                <a:cubicBezTo>
                  <a:pt x="7375828" y="-21630"/>
                  <a:pt x="7837963" y="3886"/>
                  <a:pt x="8010144" y="0"/>
                </a:cubicBezTo>
                <a:cubicBezTo>
                  <a:pt x="8182325" y="-3886"/>
                  <a:pt x="8224183" y="16009"/>
                  <a:pt x="8366760" y="0"/>
                </a:cubicBezTo>
                <a:cubicBezTo>
                  <a:pt x="8509337" y="-16009"/>
                  <a:pt x="8687920" y="-5720"/>
                  <a:pt x="8942832" y="0"/>
                </a:cubicBezTo>
                <a:cubicBezTo>
                  <a:pt x="9197744" y="5720"/>
                  <a:pt x="9368437" y="20479"/>
                  <a:pt x="9628632" y="0"/>
                </a:cubicBezTo>
                <a:cubicBezTo>
                  <a:pt x="9888827" y="-20479"/>
                  <a:pt x="10560858" y="-20746"/>
                  <a:pt x="10972800" y="0"/>
                </a:cubicBezTo>
                <a:cubicBezTo>
                  <a:pt x="10972186" y="5722"/>
                  <a:pt x="10972980" y="12495"/>
                  <a:pt x="10972800" y="18288"/>
                </a:cubicBezTo>
                <a:cubicBezTo>
                  <a:pt x="10786146" y="12536"/>
                  <a:pt x="10623717" y="14033"/>
                  <a:pt x="10506456" y="18288"/>
                </a:cubicBezTo>
                <a:cubicBezTo>
                  <a:pt x="10389195" y="22543"/>
                  <a:pt x="10296178" y="20107"/>
                  <a:pt x="10149840" y="18288"/>
                </a:cubicBezTo>
                <a:cubicBezTo>
                  <a:pt x="10003502" y="16469"/>
                  <a:pt x="9767530" y="28891"/>
                  <a:pt x="9464040" y="18288"/>
                </a:cubicBezTo>
                <a:cubicBezTo>
                  <a:pt x="9160550" y="7685"/>
                  <a:pt x="9229050" y="2659"/>
                  <a:pt x="8997696" y="18288"/>
                </a:cubicBezTo>
                <a:cubicBezTo>
                  <a:pt x="8766342" y="33917"/>
                  <a:pt x="8340136" y="34864"/>
                  <a:pt x="8092440" y="18288"/>
                </a:cubicBezTo>
                <a:cubicBezTo>
                  <a:pt x="7844744" y="1712"/>
                  <a:pt x="7863720" y="27405"/>
                  <a:pt x="7735824" y="18288"/>
                </a:cubicBezTo>
                <a:cubicBezTo>
                  <a:pt x="7607928" y="9171"/>
                  <a:pt x="7323619" y="461"/>
                  <a:pt x="7050024" y="18288"/>
                </a:cubicBezTo>
                <a:cubicBezTo>
                  <a:pt x="6776429" y="36115"/>
                  <a:pt x="6787899" y="28206"/>
                  <a:pt x="6693408" y="18288"/>
                </a:cubicBezTo>
                <a:cubicBezTo>
                  <a:pt x="6598917" y="8370"/>
                  <a:pt x="6395231" y="19114"/>
                  <a:pt x="6227064" y="18288"/>
                </a:cubicBezTo>
                <a:cubicBezTo>
                  <a:pt x="6058897" y="17462"/>
                  <a:pt x="5618582" y="1091"/>
                  <a:pt x="5431536" y="18288"/>
                </a:cubicBezTo>
                <a:cubicBezTo>
                  <a:pt x="5244490" y="35485"/>
                  <a:pt x="4729797" y="-9650"/>
                  <a:pt x="4526280" y="18288"/>
                </a:cubicBezTo>
                <a:cubicBezTo>
                  <a:pt x="4322763" y="46226"/>
                  <a:pt x="4216797" y="756"/>
                  <a:pt x="4059936" y="18288"/>
                </a:cubicBezTo>
                <a:cubicBezTo>
                  <a:pt x="3903075" y="35820"/>
                  <a:pt x="3537912" y="42098"/>
                  <a:pt x="3374136" y="18288"/>
                </a:cubicBezTo>
                <a:cubicBezTo>
                  <a:pt x="3210360" y="-5522"/>
                  <a:pt x="3126842" y="39135"/>
                  <a:pt x="2907792" y="18288"/>
                </a:cubicBezTo>
                <a:cubicBezTo>
                  <a:pt x="2688742" y="-2559"/>
                  <a:pt x="2490436" y="34100"/>
                  <a:pt x="2112264" y="18288"/>
                </a:cubicBezTo>
                <a:cubicBezTo>
                  <a:pt x="1734092" y="2476"/>
                  <a:pt x="1744622" y="-7274"/>
                  <a:pt x="1536192" y="18288"/>
                </a:cubicBezTo>
                <a:cubicBezTo>
                  <a:pt x="1327762" y="43850"/>
                  <a:pt x="1189025" y="6435"/>
                  <a:pt x="1069848" y="18288"/>
                </a:cubicBezTo>
                <a:cubicBezTo>
                  <a:pt x="950671" y="30141"/>
                  <a:pt x="858345" y="33684"/>
                  <a:pt x="713232" y="18288"/>
                </a:cubicBezTo>
                <a:cubicBezTo>
                  <a:pt x="568119" y="2892"/>
                  <a:pt x="250292" y="5410"/>
                  <a:pt x="0" y="18288"/>
                </a:cubicBezTo>
                <a:cubicBezTo>
                  <a:pt x="465" y="13062"/>
                  <a:pt x="-894" y="9029"/>
                  <a:pt x="0" y="0"/>
                </a:cubicBezTo>
                <a:close/>
              </a:path>
            </a:pathLst>
          </a:custGeom>
          <a:solidFill>
            <a:schemeClr val="accent2">
              <a:alpha val="75000"/>
            </a:schemeClr>
          </a:solidFill>
          <a:ln w="44450" cap="rnd">
            <a:solidFill>
              <a:schemeClr val="accent2">
                <a:alpha val="75000"/>
              </a:schemeClr>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0D6B807-17E2-3898-C27D-B79C4D92B93C}"/>
              </a:ext>
            </a:extLst>
          </p:cNvPr>
          <p:cNvSpPr>
            <a:spLocks noGrp="1"/>
          </p:cNvSpPr>
          <p:nvPr>
            <p:ph idx="1"/>
          </p:nvPr>
        </p:nvSpPr>
        <p:spPr>
          <a:xfrm>
            <a:off x="572492" y="2071316"/>
            <a:ext cx="7460022" cy="4119172"/>
          </a:xfrm>
        </p:spPr>
        <p:txBody>
          <a:bodyPr anchor="t">
            <a:noAutofit/>
          </a:bodyPr>
          <a:lstStyle/>
          <a:p>
            <a:pPr marL="0" indent="0">
              <a:buNone/>
            </a:pPr>
            <a:r>
              <a:rPr lang="en-GB" sz="2400" b="1" dirty="0"/>
              <a:t>Global Learners: </a:t>
            </a:r>
          </a:p>
          <a:p>
            <a:r>
              <a:rPr lang="en-GB" sz="2400" dirty="0"/>
              <a:t>Tend to learn in large jumps, absorbing material almost randomly without seeing connections, and then suddenly “getting it.”</a:t>
            </a:r>
          </a:p>
          <a:p>
            <a:r>
              <a:rPr lang="en-GB" sz="2400" dirty="0"/>
              <a:t>May be able to solve complex problems quickly or put things together in novel ways once they have grasped the big picture, but they may have difficulty explaining how they did it. </a:t>
            </a:r>
          </a:p>
          <a:p>
            <a:endParaRPr lang="en-GB" sz="2400" dirty="0"/>
          </a:p>
        </p:txBody>
      </p:sp>
      <p:pic>
        <p:nvPicPr>
          <p:cNvPr id="5" name="Picture 4" descr="Colorful steps and arrow">
            <a:extLst>
              <a:ext uri="{FF2B5EF4-FFF2-40B4-BE49-F238E27FC236}">
                <a16:creationId xmlns:a16="http://schemas.microsoft.com/office/drawing/2014/main" id="{9257F5D0-298F-3CC2-E0BC-6EDF5C655218}"/>
              </a:ext>
            </a:extLst>
          </p:cNvPr>
          <p:cNvPicPr>
            <a:picLocks noChangeAspect="1"/>
          </p:cNvPicPr>
          <p:nvPr/>
        </p:nvPicPr>
        <p:blipFill rotWithShape="1">
          <a:blip r:embed="rId3">
            <a:extLst>
              <a:ext uri="{28A0092B-C50C-407E-A947-70E740481C1C}">
                <a14:useLocalDpi xmlns:a14="http://schemas.microsoft.com/office/drawing/2010/main" val="0"/>
              </a:ext>
            </a:extLst>
          </a:blip>
          <a:srcRect l="10335" r="7134"/>
          <a:stretch/>
        </p:blipFill>
        <p:spPr>
          <a:xfrm>
            <a:off x="8032514" y="2539154"/>
            <a:ext cx="4017972" cy="3651334"/>
          </a:xfrm>
          <a:prstGeom prst="rect">
            <a:avLst/>
          </a:prstGeom>
        </p:spPr>
      </p:pic>
    </p:spTree>
    <p:extLst>
      <p:ext uri="{BB962C8B-B14F-4D97-AF65-F5344CB8AC3E}">
        <p14:creationId xmlns:p14="http://schemas.microsoft.com/office/powerpoint/2010/main" val="26386120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19CCD-E2AE-286C-C669-23294F443F5E}"/>
              </a:ext>
            </a:extLst>
          </p:cNvPr>
          <p:cNvSpPr>
            <a:spLocks noGrp="1"/>
          </p:cNvSpPr>
          <p:nvPr>
            <p:ph type="title"/>
          </p:nvPr>
        </p:nvSpPr>
        <p:spPr/>
        <p:txBody>
          <a:bodyPr/>
          <a:lstStyle/>
          <a:p>
            <a:r>
              <a:rPr lang="en-GB" dirty="0"/>
              <a:t>Learning styles</a:t>
            </a:r>
          </a:p>
        </p:txBody>
      </p:sp>
      <p:sp>
        <p:nvSpPr>
          <p:cNvPr id="3" name="Content Placeholder 2">
            <a:extLst>
              <a:ext uri="{FF2B5EF4-FFF2-40B4-BE49-F238E27FC236}">
                <a16:creationId xmlns:a16="http://schemas.microsoft.com/office/drawing/2014/main" id="{2691E3B6-8A8C-AFBB-EBAA-41A11E0C4B5D}"/>
              </a:ext>
            </a:extLst>
          </p:cNvPr>
          <p:cNvSpPr>
            <a:spLocks noGrp="1"/>
          </p:cNvSpPr>
          <p:nvPr>
            <p:ph idx="1"/>
          </p:nvPr>
        </p:nvSpPr>
        <p:spPr>
          <a:xfrm>
            <a:off x="838200" y="1690688"/>
            <a:ext cx="10515600" cy="4351338"/>
          </a:xfrm>
        </p:spPr>
        <p:txBody>
          <a:bodyPr>
            <a:noAutofit/>
          </a:bodyPr>
          <a:lstStyle/>
          <a:p>
            <a:pPr marL="0" indent="0">
              <a:buNone/>
            </a:pPr>
            <a:r>
              <a:rPr lang="en-GB" sz="2400" dirty="0"/>
              <a:t>Due to the variety of learning styles, a variety of learning and teaching strategies are utilised to help maximise learning: </a:t>
            </a:r>
          </a:p>
          <a:p>
            <a:r>
              <a:rPr lang="en-GB" sz="2400" dirty="0"/>
              <a:t>seminars </a:t>
            </a:r>
          </a:p>
          <a:p>
            <a:r>
              <a:rPr lang="en-GB" sz="2400" dirty="0"/>
              <a:t>case studies;</a:t>
            </a:r>
          </a:p>
          <a:p>
            <a:r>
              <a:rPr lang="en-GB" sz="2400" dirty="0"/>
              <a:t>problem-based learning;</a:t>
            </a:r>
          </a:p>
          <a:p>
            <a:r>
              <a:rPr lang="en-GB" sz="2400" dirty="0"/>
              <a:t>group work;</a:t>
            </a:r>
          </a:p>
          <a:p>
            <a:r>
              <a:rPr lang="en-GB" sz="2400" dirty="0"/>
              <a:t>lectures;</a:t>
            </a:r>
          </a:p>
          <a:p>
            <a:r>
              <a:rPr lang="en-GB" sz="2400" dirty="0"/>
              <a:t>practice learning opportunities</a:t>
            </a:r>
          </a:p>
          <a:p>
            <a:r>
              <a:rPr lang="en-GB" sz="2400" dirty="0"/>
              <a:t>presentations; </a:t>
            </a:r>
          </a:p>
          <a:p>
            <a:r>
              <a:rPr lang="en-GB" sz="2400" dirty="0"/>
              <a:t>role-plays; </a:t>
            </a:r>
          </a:p>
          <a:p>
            <a:r>
              <a:rPr lang="en-GB" sz="2400" dirty="0"/>
              <a:t>service user and carer involvement; </a:t>
            </a:r>
          </a:p>
        </p:txBody>
      </p:sp>
      <p:sp>
        <p:nvSpPr>
          <p:cNvPr id="4" name="TextBox 3">
            <a:extLst>
              <a:ext uri="{FF2B5EF4-FFF2-40B4-BE49-F238E27FC236}">
                <a16:creationId xmlns:a16="http://schemas.microsoft.com/office/drawing/2014/main" id="{2A930994-B42D-C7CA-F57F-ADE750406E3C}"/>
              </a:ext>
            </a:extLst>
          </p:cNvPr>
          <p:cNvSpPr txBox="1"/>
          <p:nvPr/>
        </p:nvSpPr>
        <p:spPr>
          <a:xfrm>
            <a:off x="9078686" y="6311900"/>
            <a:ext cx="2808514" cy="369332"/>
          </a:xfrm>
          <a:prstGeom prst="rect">
            <a:avLst/>
          </a:prstGeom>
          <a:noFill/>
        </p:spPr>
        <p:txBody>
          <a:bodyPr wrap="square" rtlCol="0">
            <a:spAutoFit/>
          </a:bodyPr>
          <a:lstStyle/>
          <a:p>
            <a:r>
              <a:rPr lang="en-GB" dirty="0"/>
              <a:t>(Oko and Reid, 2017)</a:t>
            </a:r>
          </a:p>
        </p:txBody>
      </p:sp>
    </p:spTree>
    <p:extLst>
      <p:ext uri="{BB962C8B-B14F-4D97-AF65-F5344CB8AC3E}">
        <p14:creationId xmlns:p14="http://schemas.microsoft.com/office/powerpoint/2010/main" val="2287447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21241-2BCE-FBCF-F5EC-FF82E5E68327}"/>
              </a:ext>
            </a:extLst>
          </p:cNvPr>
          <p:cNvSpPr>
            <a:spLocks noGrp="1"/>
          </p:cNvSpPr>
          <p:nvPr>
            <p:ph type="title"/>
          </p:nvPr>
        </p:nvSpPr>
        <p:spPr/>
        <p:txBody>
          <a:bodyPr/>
          <a:lstStyle/>
          <a:p>
            <a:r>
              <a:rPr lang="en-GB"/>
              <a:t>Tips for Better Learning</a:t>
            </a:r>
            <a:endParaRPr lang="en-GB" dirty="0"/>
          </a:p>
        </p:txBody>
      </p:sp>
      <p:graphicFrame>
        <p:nvGraphicFramePr>
          <p:cNvPr id="50" name="Content Placeholder 2">
            <a:extLst>
              <a:ext uri="{FF2B5EF4-FFF2-40B4-BE49-F238E27FC236}">
                <a16:creationId xmlns:a16="http://schemas.microsoft.com/office/drawing/2014/main" id="{0F3909CA-7545-2354-9518-3977C8063111}"/>
              </a:ext>
            </a:extLst>
          </p:cNvPr>
          <p:cNvGraphicFramePr>
            <a:graphicFrameLocks noGrp="1"/>
          </p:cNvGraphicFramePr>
          <p:nvPr>
            <p:ph idx="1"/>
            <p:extLst>
              <p:ext uri="{D42A27DB-BD31-4B8C-83A1-F6EECF244321}">
                <p14:modId xmlns:p14="http://schemas.microsoft.com/office/powerpoint/2010/main" val="2374617700"/>
              </p:ext>
            </p:extLst>
          </p:nvPr>
        </p:nvGraphicFramePr>
        <p:xfrm>
          <a:off x="838200" y="1415722"/>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296620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1BD4E-EC93-A787-8C70-04D8A1BF5D1F}"/>
              </a:ext>
            </a:extLst>
          </p:cNvPr>
          <p:cNvSpPr>
            <a:spLocks noGrp="1"/>
          </p:cNvSpPr>
          <p:nvPr>
            <p:ph type="title"/>
          </p:nvPr>
        </p:nvSpPr>
        <p:spPr/>
        <p:txBody>
          <a:bodyPr/>
          <a:lstStyle/>
          <a:p>
            <a:r>
              <a:rPr lang="en-GB" dirty="0"/>
              <a:t>Critical Thinking</a:t>
            </a:r>
          </a:p>
        </p:txBody>
      </p:sp>
      <p:sp>
        <p:nvSpPr>
          <p:cNvPr id="3" name="Content Placeholder 2">
            <a:extLst>
              <a:ext uri="{FF2B5EF4-FFF2-40B4-BE49-F238E27FC236}">
                <a16:creationId xmlns:a16="http://schemas.microsoft.com/office/drawing/2014/main" id="{C78DA4FE-C7DA-42FC-EC71-B3C35624AEAA}"/>
              </a:ext>
            </a:extLst>
          </p:cNvPr>
          <p:cNvSpPr>
            <a:spLocks noGrp="1"/>
          </p:cNvSpPr>
          <p:nvPr>
            <p:ph idx="1"/>
          </p:nvPr>
        </p:nvSpPr>
        <p:spPr/>
        <p:txBody>
          <a:bodyPr>
            <a:normAutofit fontScale="92500" lnSpcReduction="10000"/>
          </a:bodyPr>
          <a:lstStyle/>
          <a:p>
            <a:pPr marL="0" indent="0">
              <a:buNone/>
            </a:pPr>
            <a:r>
              <a:rPr lang="en-GB" i="1" dirty="0">
                <a:highlight>
                  <a:srgbClr val="FFFFFF"/>
                </a:highlight>
              </a:rPr>
              <a:t>‘</a:t>
            </a:r>
            <a:r>
              <a:rPr lang="en-GB" b="0" i="1" dirty="0">
                <a:effectLst/>
                <a:highlight>
                  <a:srgbClr val="FFFFFF"/>
                </a:highlight>
              </a:rPr>
              <a:t>Critical thinking is the art of making clear, reasoned judgements based on interpreting, understanding, applying and synthesising evidence gathered from observation, reading and experimentation’ </a:t>
            </a:r>
            <a:r>
              <a:rPr lang="en-GB" b="0" dirty="0">
                <a:effectLst/>
                <a:highlight>
                  <a:srgbClr val="FFFFFF"/>
                </a:highlight>
              </a:rPr>
              <a:t>(Burns and Sinfield, 2016, p. 94</a:t>
            </a:r>
            <a:r>
              <a:rPr lang="en-GB" b="0" dirty="0">
                <a:solidFill>
                  <a:srgbClr val="3A3A3A"/>
                </a:solidFill>
                <a:effectLst/>
                <a:highlight>
                  <a:srgbClr val="FFFFFF"/>
                </a:highlight>
              </a:rPr>
              <a:t>)</a:t>
            </a:r>
            <a:endParaRPr lang="en-GB" dirty="0"/>
          </a:p>
          <a:p>
            <a:r>
              <a:rPr lang="en-GB" dirty="0"/>
              <a:t>Developing critical thinking skills is essential to your success at University and beyond. </a:t>
            </a:r>
          </a:p>
          <a:p>
            <a:r>
              <a:rPr lang="en-GB" dirty="0"/>
              <a:t>Information-rich world (websites, blogs, Chat GPT, journal articles, lectures)</a:t>
            </a:r>
          </a:p>
          <a:p>
            <a:r>
              <a:rPr lang="en-GB" dirty="0"/>
              <a:t>It is not just about finding faults (e.g. is a measurement realistic e.g. 160 m for height, credibility of the source, date of the research, methods used, sample used, paucity of research, sample size, conflicts of interest)</a:t>
            </a:r>
          </a:p>
          <a:p>
            <a:r>
              <a:rPr lang="en-GB" dirty="0"/>
              <a:t>Becomes easier with practice</a:t>
            </a:r>
          </a:p>
        </p:txBody>
      </p:sp>
      <p:sp>
        <p:nvSpPr>
          <p:cNvPr id="4" name="TextBox 3">
            <a:extLst>
              <a:ext uri="{FF2B5EF4-FFF2-40B4-BE49-F238E27FC236}">
                <a16:creationId xmlns:a16="http://schemas.microsoft.com/office/drawing/2014/main" id="{44EC0565-4C5E-5898-E372-D82CDDB2C79C}"/>
              </a:ext>
            </a:extLst>
          </p:cNvPr>
          <p:cNvSpPr txBox="1"/>
          <p:nvPr/>
        </p:nvSpPr>
        <p:spPr>
          <a:xfrm>
            <a:off x="7567448" y="6176963"/>
            <a:ext cx="4624552" cy="369332"/>
          </a:xfrm>
          <a:prstGeom prst="rect">
            <a:avLst/>
          </a:prstGeom>
          <a:noFill/>
        </p:spPr>
        <p:txBody>
          <a:bodyPr wrap="square" rtlCol="0">
            <a:spAutoFit/>
          </a:bodyPr>
          <a:lstStyle/>
          <a:p>
            <a:r>
              <a:rPr lang="en-GB" dirty="0"/>
              <a:t>Why do we prefer you to use journal articles?</a:t>
            </a:r>
          </a:p>
        </p:txBody>
      </p:sp>
    </p:spTree>
    <p:extLst>
      <p:ext uri="{BB962C8B-B14F-4D97-AF65-F5344CB8AC3E}">
        <p14:creationId xmlns:p14="http://schemas.microsoft.com/office/powerpoint/2010/main" val="26172897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705CC-7537-19DA-1BE8-F38B1AB4875E}"/>
              </a:ext>
            </a:extLst>
          </p:cNvPr>
          <p:cNvSpPr>
            <a:spLocks noGrp="1"/>
          </p:cNvSpPr>
          <p:nvPr>
            <p:ph type="title"/>
          </p:nvPr>
        </p:nvSpPr>
        <p:spPr/>
        <p:txBody>
          <a:bodyPr/>
          <a:lstStyle/>
          <a:p>
            <a:r>
              <a:rPr lang="en-GB" dirty="0"/>
              <a:t>Plenary Activity – One Minute Paper</a:t>
            </a:r>
          </a:p>
        </p:txBody>
      </p:sp>
      <p:sp>
        <p:nvSpPr>
          <p:cNvPr id="3" name="Content Placeholder 2">
            <a:extLst>
              <a:ext uri="{FF2B5EF4-FFF2-40B4-BE49-F238E27FC236}">
                <a16:creationId xmlns:a16="http://schemas.microsoft.com/office/drawing/2014/main" id="{9FD11FE5-FB40-8BBB-29B9-B7B36F634B01}"/>
              </a:ext>
            </a:extLst>
          </p:cNvPr>
          <p:cNvSpPr>
            <a:spLocks noGrp="1"/>
          </p:cNvSpPr>
          <p:nvPr>
            <p:ph idx="1"/>
          </p:nvPr>
        </p:nvSpPr>
        <p:spPr/>
        <p:txBody>
          <a:bodyPr/>
          <a:lstStyle/>
          <a:p>
            <a:r>
              <a:rPr lang="en-GB" dirty="0"/>
              <a:t>Write down </a:t>
            </a:r>
            <a:r>
              <a:rPr lang="en-GB" b="1" u="sng" dirty="0"/>
              <a:t>one</a:t>
            </a:r>
            <a:r>
              <a:rPr lang="en-GB" b="1" dirty="0"/>
              <a:t> </a:t>
            </a:r>
            <a:r>
              <a:rPr lang="en-GB" dirty="0"/>
              <a:t>thing you have learned from today’s sessions and </a:t>
            </a:r>
            <a:r>
              <a:rPr lang="en-GB" b="1" u="sng" dirty="0"/>
              <a:t>one</a:t>
            </a:r>
            <a:r>
              <a:rPr lang="en-GB" dirty="0"/>
              <a:t> thing you are unsure of/confused about?</a:t>
            </a:r>
          </a:p>
          <a:p>
            <a:endParaRPr lang="en-GB" dirty="0"/>
          </a:p>
        </p:txBody>
      </p:sp>
      <p:pic>
        <p:nvPicPr>
          <p:cNvPr id="4" name="Picture 3">
            <a:extLst>
              <a:ext uri="{FF2B5EF4-FFF2-40B4-BE49-F238E27FC236}">
                <a16:creationId xmlns:a16="http://schemas.microsoft.com/office/drawing/2014/main" id="{1F114866-3FEF-BC9E-501F-E3D85F57C5DB}"/>
              </a:ext>
            </a:extLst>
          </p:cNvPr>
          <p:cNvPicPr>
            <a:picLocks noChangeAspect="1"/>
          </p:cNvPicPr>
          <p:nvPr/>
        </p:nvPicPr>
        <p:blipFill>
          <a:blip r:embed="rId3"/>
          <a:stretch>
            <a:fillRect/>
          </a:stretch>
        </p:blipFill>
        <p:spPr>
          <a:xfrm>
            <a:off x="4233333" y="2778416"/>
            <a:ext cx="3065237" cy="3054594"/>
          </a:xfrm>
          <a:prstGeom prst="rect">
            <a:avLst/>
          </a:prstGeom>
        </p:spPr>
      </p:pic>
      <p:pic>
        <p:nvPicPr>
          <p:cNvPr id="5" name="Picture 4">
            <a:extLst>
              <a:ext uri="{FF2B5EF4-FFF2-40B4-BE49-F238E27FC236}">
                <a16:creationId xmlns:a16="http://schemas.microsoft.com/office/drawing/2014/main" id="{0D4388E6-497F-CD0F-3425-61CB3F326D1A}"/>
              </a:ext>
            </a:extLst>
          </p:cNvPr>
          <p:cNvPicPr>
            <a:picLocks noChangeAspect="1"/>
          </p:cNvPicPr>
          <p:nvPr/>
        </p:nvPicPr>
        <p:blipFill>
          <a:blip r:embed="rId4"/>
          <a:stretch>
            <a:fillRect/>
          </a:stretch>
        </p:blipFill>
        <p:spPr>
          <a:xfrm>
            <a:off x="3433130" y="6038282"/>
            <a:ext cx="4697760" cy="621316"/>
          </a:xfrm>
          <a:prstGeom prst="rect">
            <a:avLst/>
          </a:prstGeom>
        </p:spPr>
      </p:pic>
    </p:spTree>
    <p:extLst>
      <p:ext uri="{BB962C8B-B14F-4D97-AF65-F5344CB8AC3E}">
        <p14:creationId xmlns:p14="http://schemas.microsoft.com/office/powerpoint/2010/main" val="395170136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phic 3" descr="Soccer outline">
            <a:extLst>
              <a:ext uri="{FF2B5EF4-FFF2-40B4-BE49-F238E27FC236}">
                <a16:creationId xmlns:a16="http://schemas.microsoft.com/office/drawing/2014/main" id="{EB03E3DC-56D4-76AD-C39E-BA55F2189BE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856619" y="5489071"/>
            <a:ext cx="947029" cy="947029"/>
          </a:xfrm>
          <a:prstGeom prst="rect">
            <a:avLst/>
          </a:prstGeom>
        </p:spPr>
      </p:pic>
      <p:pic>
        <p:nvPicPr>
          <p:cNvPr id="5" name="Graphic 4" descr="Man outline">
            <a:extLst>
              <a:ext uri="{FF2B5EF4-FFF2-40B4-BE49-F238E27FC236}">
                <a16:creationId xmlns:a16="http://schemas.microsoft.com/office/drawing/2014/main" id="{DA8F901D-0DA6-F240-9B24-97A69D30F46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22432" y="1344653"/>
            <a:ext cx="947029" cy="947029"/>
          </a:xfrm>
          <a:prstGeom prst="rect">
            <a:avLst/>
          </a:prstGeom>
        </p:spPr>
      </p:pic>
      <p:pic>
        <p:nvPicPr>
          <p:cNvPr id="6" name="Graphic 5" descr="Man outline">
            <a:extLst>
              <a:ext uri="{FF2B5EF4-FFF2-40B4-BE49-F238E27FC236}">
                <a16:creationId xmlns:a16="http://schemas.microsoft.com/office/drawing/2014/main" id="{92902425-05C3-557A-A811-F08EE0F21CC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32133" y="2523560"/>
            <a:ext cx="947029" cy="947029"/>
          </a:xfrm>
          <a:prstGeom prst="rect">
            <a:avLst/>
          </a:prstGeom>
        </p:spPr>
      </p:pic>
      <p:pic>
        <p:nvPicPr>
          <p:cNvPr id="7" name="Graphic 6" descr="Man outline">
            <a:extLst>
              <a:ext uri="{FF2B5EF4-FFF2-40B4-BE49-F238E27FC236}">
                <a16:creationId xmlns:a16="http://schemas.microsoft.com/office/drawing/2014/main" id="{1351ED7B-97EB-9395-089E-0E7445F02E4D}"/>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400753" y="2526242"/>
            <a:ext cx="947029" cy="947029"/>
          </a:xfrm>
          <a:prstGeom prst="rect">
            <a:avLst/>
          </a:prstGeom>
        </p:spPr>
      </p:pic>
      <p:pic>
        <p:nvPicPr>
          <p:cNvPr id="8" name="Graphic 7" descr="Man outline">
            <a:extLst>
              <a:ext uri="{FF2B5EF4-FFF2-40B4-BE49-F238E27FC236}">
                <a16:creationId xmlns:a16="http://schemas.microsoft.com/office/drawing/2014/main" id="{7A49E002-0D1A-2C8B-DD0A-F71537E3D75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063513" y="2523560"/>
            <a:ext cx="947029" cy="947029"/>
          </a:xfrm>
          <a:prstGeom prst="rect">
            <a:avLst/>
          </a:prstGeom>
        </p:spPr>
      </p:pic>
      <p:pic>
        <p:nvPicPr>
          <p:cNvPr id="9" name="Graphic 8" descr="Man outline">
            <a:extLst>
              <a:ext uri="{FF2B5EF4-FFF2-40B4-BE49-F238E27FC236}">
                <a16:creationId xmlns:a16="http://schemas.microsoft.com/office/drawing/2014/main" id="{BCDA4EE3-4078-C385-E4EB-E2F81D66F5A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638186" y="2524095"/>
            <a:ext cx="947029" cy="947029"/>
          </a:xfrm>
          <a:prstGeom prst="rect">
            <a:avLst/>
          </a:prstGeom>
        </p:spPr>
      </p:pic>
      <p:pic>
        <p:nvPicPr>
          <p:cNvPr id="10" name="Graphic 9" descr="Man outline">
            <a:extLst>
              <a:ext uri="{FF2B5EF4-FFF2-40B4-BE49-F238E27FC236}">
                <a16:creationId xmlns:a16="http://schemas.microsoft.com/office/drawing/2014/main" id="{BBBEBAC3-06C1-E815-A971-5CC88309E21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46676" y="3910274"/>
            <a:ext cx="947029" cy="947029"/>
          </a:xfrm>
          <a:prstGeom prst="rect">
            <a:avLst/>
          </a:prstGeom>
        </p:spPr>
      </p:pic>
      <p:pic>
        <p:nvPicPr>
          <p:cNvPr id="11" name="Graphic 10" descr="Man outline">
            <a:extLst>
              <a:ext uri="{FF2B5EF4-FFF2-40B4-BE49-F238E27FC236}">
                <a16:creationId xmlns:a16="http://schemas.microsoft.com/office/drawing/2014/main" id="{812B2383-D323-74EA-E386-CBF8EF55770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93940" y="3915035"/>
            <a:ext cx="947029" cy="947029"/>
          </a:xfrm>
          <a:prstGeom prst="rect">
            <a:avLst/>
          </a:prstGeom>
        </p:spPr>
      </p:pic>
      <p:pic>
        <p:nvPicPr>
          <p:cNvPr id="12" name="Graphic 11" descr="Man outline">
            <a:extLst>
              <a:ext uri="{FF2B5EF4-FFF2-40B4-BE49-F238E27FC236}">
                <a16:creationId xmlns:a16="http://schemas.microsoft.com/office/drawing/2014/main" id="{2D0086FB-869C-AAC2-A0C6-15CD36BD502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04868" y="3915035"/>
            <a:ext cx="947029" cy="947029"/>
          </a:xfrm>
          <a:prstGeom prst="rect">
            <a:avLst/>
          </a:prstGeom>
        </p:spPr>
      </p:pic>
      <p:pic>
        <p:nvPicPr>
          <p:cNvPr id="13" name="Graphic 12" descr="Man outline">
            <a:extLst>
              <a:ext uri="{FF2B5EF4-FFF2-40B4-BE49-F238E27FC236}">
                <a16:creationId xmlns:a16="http://schemas.microsoft.com/office/drawing/2014/main" id="{7033FBA9-36A9-F1FC-5C16-F4F3E128779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85854" y="3915035"/>
            <a:ext cx="947029" cy="947029"/>
          </a:xfrm>
          <a:prstGeom prst="rect">
            <a:avLst/>
          </a:prstGeom>
        </p:spPr>
      </p:pic>
      <p:pic>
        <p:nvPicPr>
          <p:cNvPr id="14" name="Graphic 13" descr="Man outline">
            <a:extLst>
              <a:ext uri="{FF2B5EF4-FFF2-40B4-BE49-F238E27FC236}">
                <a16:creationId xmlns:a16="http://schemas.microsoft.com/office/drawing/2014/main" id="{9D2F42A1-780E-1871-F6EE-BE51FA0315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92394" y="3915035"/>
            <a:ext cx="947029" cy="947029"/>
          </a:xfrm>
          <a:prstGeom prst="rect">
            <a:avLst/>
          </a:prstGeom>
        </p:spPr>
      </p:pic>
      <p:sp>
        <p:nvSpPr>
          <p:cNvPr id="15" name="Rectangle 14">
            <a:extLst>
              <a:ext uri="{FF2B5EF4-FFF2-40B4-BE49-F238E27FC236}">
                <a16:creationId xmlns:a16="http://schemas.microsoft.com/office/drawing/2014/main" id="{6C9A3022-E7E2-B9C7-A2D8-0DAE7F751579}"/>
              </a:ext>
            </a:extLst>
          </p:cNvPr>
          <p:cNvSpPr/>
          <p:nvPr/>
        </p:nvSpPr>
        <p:spPr>
          <a:xfrm>
            <a:off x="5378226" y="2242427"/>
            <a:ext cx="1569898" cy="2218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Course leader</a:t>
            </a:r>
          </a:p>
        </p:txBody>
      </p:sp>
      <p:sp>
        <p:nvSpPr>
          <p:cNvPr id="16" name="Rectangle 15">
            <a:extLst>
              <a:ext uri="{FF2B5EF4-FFF2-40B4-BE49-F238E27FC236}">
                <a16:creationId xmlns:a16="http://schemas.microsoft.com/office/drawing/2014/main" id="{5B7D5119-72DC-9D61-0700-E3F26A946080}"/>
              </a:ext>
            </a:extLst>
          </p:cNvPr>
          <p:cNvSpPr/>
          <p:nvPr/>
        </p:nvSpPr>
        <p:spPr>
          <a:xfrm>
            <a:off x="3862873" y="3512193"/>
            <a:ext cx="1348308" cy="2302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Module leaders</a:t>
            </a:r>
          </a:p>
        </p:txBody>
      </p:sp>
      <p:sp>
        <p:nvSpPr>
          <p:cNvPr id="17" name="Rectangle 16">
            <a:extLst>
              <a:ext uri="{FF2B5EF4-FFF2-40B4-BE49-F238E27FC236}">
                <a16:creationId xmlns:a16="http://schemas.microsoft.com/office/drawing/2014/main" id="{8E0B1ABE-6FC5-C247-37B6-F68F52450A15}"/>
              </a:ext>
            </a:extLst>
          </p:cNvPr>
          <p:cNvSpPr/>
          <p:nvPr/>
        </p:nvSpPr>
        <p:spPr>
          <a:xfrm>
            <a:off x="5061726" y="3559409"/>
            <a:ext cx="1258464" cy="2244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Success Coaches</a:t>
            </a:r>
          </a:p>
        </p:txBody>
      </p:sp>
      <p:sp>
        <p:nvSpPr>
          <p:cNvPr id="18" name="Rectangle 17">
            <a:extLst>
              <a:ext uri="{FF2B5EF4-FFF2-40B4-BE49-F238E27FC236}">
                <a16:creationId xmlns:a16="http://schemas.microsoft.com/office/drawing/2014/main" id="{5D22E8DC-8761-CE87-2C8E-7E056C33B1FC}"/>
              </a:ext>
            </a:extLst>
          </p:cNvPr>
          <p:cNvSpPr/>
          <p:nvPr/>
        </p:nvSpPr>
        <p:spPr>
          <a:xfrm>
            <a:off x="6078385" y="3540013"/>
            <a:ext cx="1569898" cy="22187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Academic Mentors</a:t>
            </a:r>
          </a:p>
        </p:txBody>
      </p:sp>
      <p:sp>
        <p:nvSpPr>
          <p:cNvPr id="19" name="Rectangle 18">
            <a:extLst>
              <a:ext uri="{FF2B5EF4-FFF2-40B4-BE49-F238E27FC236}">
                <a16:creationId xmlns:a16="http://schemas.microsoft.com/office/drawing/2014/main" id="{5B678E70-ECE2-8B30-E89F-08BA70A1EFBB}"/>
              </a:ext>
            </a:extLst>
          </p:cNvPr>
          <p:cNvSpPr/>
          <p:nvPr/>
        </p:nvSpPr>
        <p:spPr>
          <a:xfrm>
            <a:off x="7291927" y="3542159"/>
            <a:ext cx="1804528" cy="2244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Academic Liaison Librarians </a:t>
            </a:r>
          </a:p>
        </p:txBody>
      </p:sp>
      <p:sp>
        <p:nvSpPr>
          <p:cNvPr id="20" name="Rectangle 19">
            <a:extLst>
              <a:ext uri="{FF2B5EF4-FFF2-40B4-BE49-F238E27FC236}">
                <a16:creationId xmlns:a16="http://schemas.microsoft.com/office/drawing/2014/main" id="{30E6C785-3FE6-9FDA-BB87-463BEA89FDCE}"/>
              </a:ext>
            </a:extLst>
          </p:cNvPr>
          <p:cNvSpPr/>
          <p:nvPr/>
        </p:nvSpPr>
        <p:spPr>
          <a:xfrm>
            <a:off x="4499475" y="5114340"/>
            <a:ext cx="1348308" cy="2302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Personal Academic Tutors</a:t>
            </a:r>
          </a:p>
        </p:txBody>
      </p:sp>
      <p:sp>
        <p:nvSpPr>
          <p:cNvPr id="21" name="Rectangle 20">
            <a:extLst>
              <a:ext uri="{FF2B5EF4-FFF2-40B4-BE49-F238E27FC236}">
                <a16:creationId xmlns:a16="http://schemas.microsoft.com/office/drawing/2014/main" id="{537CE22B-E2E5-2CF5-973D-956FC1A3CEE8}"/>
              </a:ext>
            </a:extLst>
          </p:cNvPr>
          <p:cNvSpPr/>
          <p:nvPr/>
        </p:nvSpPr>
        <p:spPr>
          <a:xfrm>
            <a:off x="5740969" y="4981933"/>
            <a:ext cx="1098308" cy="21666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School Office</a:t>
            </a:r>
          </a:p>
        </p:txBody>
      </p:sp>
      <p:sp>
        <p:nvSpPr>
          <p:cNvPr id="22" name="Rectangle 21">
            <a:extLst>
              <a:ext uri="{FF2B5EF4-FFF2-40B4-BE49-F238E27FC236}">
                <a16:creationId xmlns:a16="http://schemas.microsoft.com/office/drawing/2014/main" id="{19E86AD4-EF25-2E22-46EC-9D6F2BC3B302}"/>
              </a:ext>
            </a:extLst>
          </p:cNvPr>
          <p:cNvSpPr/>
          <p:nvPr/>
        </p:nvSpPr>
        <p:spPr>
          <a:xfrm>
            <a:off x="6751653" y="4968815"/>
            <a:ext cx="1155816" cy="1873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Students’ Union</a:t>
            </a:r>
          </a:p>
        </p:txBody>
      </p:sp>
      <p:sp>
        <p:nvSpPr>
          <p:cNvPr id="23" name="Rectangle 22">
            <a:extLst>
              <a:ext uri="{FF2B5EF4-FFF2-40B4-BE49-F238E27FC236}">
                <a16:creationId xmlns:a16="http://schemas.microsoft.com/office/drawing/2014/main" id="{826ECFD4-090B-2CCA-ED41-5A3571946EE3}"/>
              </a:ext>
            </a:extLst>
          </p:cNvPr>
          <p:cNvSpPr/>
          <p:nvPr/>
        </p:nvSpPr>
        <p:spPr>
          <a:xfrm>
            <a:off x="7693418" y="5010453"/>
            <a:ext cx="1652779" cy="22448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Careers and Employability Service</a:t>
            </a:r>
          </a:p>
        </p:txBody>
      </p:sp>
      <p:sp>
        <p:nvSpPr>
          <p:cNvPr id="24" name="Rectangle 23">
            <a:extLst>
              <a:ext uri="{FF2B5EF4-FFF2-40B4-BE49-F238E27FC236}">
                <a16:creationId xmlns:a16="http://schemas.microsoft.com/office/drawing/2014/main" id="{B55CF6FC-9C42-5126-51B5-93EB6D6D696F}"/>
              </a:ext>
            </a:extLst>
          </p:cNvPr>
          <p:cNvSpPr/>
          <p:nvPr/>
        </p:nvSpPr>
        <p:spPr>
          <a:xfrm>
            <a:off x="5757480" y="6456331"/>
            <a:ext cx="1155816" cy="18732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b="1" dirty="0">
                <a:solidFill>
                  <a:schemeClr val="tx1"/>
                </a:solidFill>
              </a:rPr>
              <a:t>YOU</a:t>
            </a:r>
          </a:p>
        </p:txBody>
      </p:sp>
      <p:sp>
        <p:nvSpPr>
          <p:cNvPr id="47" name="Title 1">
            <a:extLst>
              <a:ext uri="{FF2B5EF4-FFF2-40B4-BE49-F238E27FC236}">
                <a16:creationId xmlns:a16="http://schemas.microsoft.com/office/drawing/2014/main" id="{78D9DEDD-FDC4-4689-A6FA-47936F974BF5}"/>
              </a:ext>
            </a:extLst>
          </p:cNvPr>
          <p:cNvSpPr txBox="1">
            <a:spLocks/>
          </p:cNvSpPr>
          <p:nvPr/>
        </p:nvSpPr>
        <p:spPr>
          <a:xfrm>
            <a:off x="-3854069" y="869255"/>
            <a:ext cx="10923800" cy="395739"/>
          </a:xfrm>
          <a:prstGeom prst="rect">
            <a:avLst/>
          </a:prstGeom>
        </p:spPr>
        <p:txBody>
          <a:bodyPr vert="horz" lIns="91440" tIns="45720" rIns="91440" bIns="45720" rtlCol="0" anchor="b">
            <a:normAutofit fontScale="400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GB" b="1"/>
              <a:t>Support Team</a:t>
            </a:r>
            <a:endParaRPr lang="en-GB" b="1" dirty="0"/>
          </a:p>
        </p:txBody>
      </p:sp>
      <p:sp>
        <p:nvSpPr>
          <p:cNvPr id="48" name="Rectangle 47">
            <a:extLst>
              <a:ext uri="{FF2B5EF4-FFF2-40B4-BE49-F238E27FC236}">
                <a16:creationId xmlns:a16="http://schemas.microsoft.com/office/drawing/2014/main" id="{DA5ADFC5-8B80-BD2A-C687-1737FAA0105F}"/>
              </a:ext>
            </a:extLst>
          </p:cNvPr>
          <p:cNvSpPr/>
          <p:nvPr/>
        </p:nvSpPr>
        <p:spPr>
          <a:xfrm>
            <a:off x="3563021" y="5053817"/>
            <a:ext cx="1348308" cy="2302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rPr>
              <a:t>Student Services</a:t>
            </a:r>
          </a:p>
        </p:txBody>
      </p:sp>
    </p:spTree>
    <p:extLst>
      <p:ext uri="{BB962C8B-B14F-4D97-AF65-F5344CB8AC3E}">
        <p14:creationId xmlns:p14="http://schemas.microsoft.com/office/powerpoint/2010/main" val="25285896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278ADA9-6383-4BDD-80D2-8899A40268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84B7147-B0F6-40ED-B5A2-FF72BC8198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 name="Rectangle 11">
            <a:extLst>
              <a:ext uri="{FF2B5EF4-FFF2-40B4-BE49-F238E27FC236}">
                <a16:creationId xmlns:a16="http://schemas.microsoft.com/office/drawing/2014/main" id="{B36D2DE0-0628-4A9A-A59D-7BA8B5EB30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48E405C9-94BE-41DA-928C-DEC9A8550E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815929" y="148929"/>
            <a:ext cx="6560142" cy="656014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C5DE0192-BEB2-A5FB-9722-D20C03F1E71D}"/>
              </a:ext>
            </a:extLst>
          </p:cNvPr>
          <p:cNvSpPr>
            <a:spLocks noGrp="1"/>
          </p:cNvSpPr>
          <p:nvPr>
            <p:ph type="ctrTitle"/>
          </p:nvPr>
        </p:nvSpPr>
        <p:spPr>
          <a:xfrm>
            <a:off x="3315031" y="1380754"/>
            <a:ext cx="5561938" cy="2513516"/>
          </a:xfrm>
        </p:spPr>
        <p:txBody>
          <a:bodyPr>
            <a:normAutofit/>
          </a:bodyPr>
          <a:lstStyle/>
          <a:p>
            <a:r>
              <a:rPr lang="en-GB" dirty="0"/>
              <a:t>Any Questions?</a:t>
            </a:r>
          </a:p>
        </p:txBody>
      </p:sp>
      <p:sp>
        <p:nvSpPr>
          <p:cNvPr id="16" name="Arc 15">
            <a:extLst>
              <a:ext uri="{FF2B5EF4-FFF2-40B4-BE49-F238E27FC236}">
                <a16:creationId xmlns:a16="http://schemas.microsoft.com/office/drawing/2014/main" id="{D2091A72-D5BB-42AC-8FD3-F7747D908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9222429" flipV="1">
            <a:off x="2494119" y="6170"/>
            <a:ext cx="6816262" cy="6816262"/>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18" name="Oval 17">
            <a:extLst>
              <a:ext uri="{FF2B5EF4-FFF2-40B4-BE49-F238E27FC236}">
                <a16:creationId xmlns:a16="http://schemas.microsoft.com/office/drawing/2014/main" id="{6ED12BFC-A737-46AF-8411-481112D54B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200995" y="5310973"/>
            <a:ext cx="705948" cy="68679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183357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C417E2-5326-4573-0038-835F4131EFC1}"/>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71349AE9-F181-DEBA-B22C-D5D53941FAD1}"/>
              </a:ext>
            </a:extLst>
          </p:cNvPr>
          <p:cNvSpPr>
            <a:spLocks noGrp="1"/>
          </p:cNvSpPr>
          <p:nvPr>
            <p:ph idx="1"/>
          </p:nvPr>
        </p:nvSpPr>
        <p:spPr/>
        <p:txBody>
          <a:bodyPr>
            <a:normAutofit fontScale="55000" lnSpcReduction="20000"/>
          </a:bodyPr>
          <a:lstStyle/>
          <a:p>
            <a:pPr marL="0" indent="0">
              <a:buNone/>
            </a:pPr>
            <a:r>
              <a:rPr lang="en-GB" dirty="0"/>
              <a:t>Angelo, T. A. (1993) ‘Teacher’s Dozen: Fourteen General, Research-Based Principles for Improving Higher Learning in our Classrooms’, </a:t>
            </a:r>
            <a:r>
              <a:rPr lang="en-GB" i="1" dirty="0"/>
              <a:t>AAHE Bulletin</a:t>
            </a:r>
            <a:r>
              <a:rPr lang="en-GB" dirty="0"/>
              <a:t>, 45(8), pp. 3-13.</a:t>
            </a:r>
          </a:p>
          <a:p>
            <a:pPr marL="0" indent="0">
              <a:buNone/>
            </a:pPr>
            <a:r>
              <a:rPr lang="en-GB" dirty="0"/>
              <a:t>Burns, T. and Sinfield, S. (2022) Staff Toolkit: Developing Academic ‘Skills’ </a:t>
            </a:r>
          </a:p>
          <a:p>
            <a:pPr marL="0" indent="0">
              <a:buNone/>
            </a:pPr>
            <a:r>
              <a:rPr lang="en-GB" dirty="0"/>
              <a:t>Harvey, M., Lloyd, K., McLachlan, K., Semple, A-L. and </a:t>
            </a:r>
            <a:r>
              <a:rPr lang="en-GB" dirty="0" err="1"/>
              <a:t>Walkerden</a:t>
            </a:r>
            <a:r>
              <a:rPr lang="en-GB" dirty="0"/>
              <a:t>, G. (2020) </a:t>
            </a:r>
            <a:r>
              <a:rPr lang="en-GB" i="1" dirty="0"/>
              <a:t>Reflection for learning: a scholarly practice guide for educators</a:t>
            </a:r>
            <a:r>
              <a:rPr lang="en-GB" dirty="0"/>
              <a:t>. Available at: </a:t>
            </a:r>
            <a:r>
              <a:rPr lang="en-GB" dirty="0">
                <a:hlinkClick r:id="rId3"/>
              </a:rPr>
              <a:t>https://s3.eu-west-2.amazonaws.com/assets.creode.advancehe-document-manager/documents/advance-he/Adv_HE_Reflection_for_Learning_Guide_1580298564.pdf</a:t>
            </a:r>
            <a:r>
              <a:rPr lang="en-GB" dirty="0"/>
              <a:t> (Accessed 23 January 2024). </a:t>
            </a:r>
          </a:p>
          <a:p>
            <a:pPr marL="0" indent="0">
              <a:buNone/>
            </a:pPr>
            <a:r>
              <a:rPr lang="en-GB" dirty="0"/>
              <a:t>Harvey, M., Coulson, D., and </a:t>
            </a:r>
            <a:r>
              <a:rPr lang="en-GB" dirty="0" err="1"/>
              <a:t>McMaugh</a:t>
            </a:r>
            <a:r>
              <a:rPr lang="en-GB" dirty="0"/>
              <a:t>, A. (2016) ‘Towards a theory of the ecology of reflection: reflective practice for experiential learning in higher education’, </a:t>
            </a:r>
            <a:r>
              <a:rPr lang="en-GB" i="1" dirty="0"/>
              <a:t>Journal of University Teaching and Learning Practice</a:t>
            </a:r>
            <a:r>
              <a:rPr lang="en-GB" dirty="0"/>
              <a:t>, 13(2), pp. 1-20. </a:t>
            </a:r>
            <a:r>
              <a:rPr lang="en-GB" dirty="0" err="1"/>
              <a:t>doi</a:t>
            </a:r>
            <a:r>
              <a:rPr lang="en-GB" dirty="0"/>
              <a:t>: 10.53761/1.13.2.2.</a:t>
            </a:r>
          </a:p>
          <a:p>
            <a:pPr marL="0" indent="0">
              <a:buNone/>
            </a:pPr>
            <a:r>
              <a:rPr lang="en-GB" dirty="0"/>
              <a:t>HCPC (2023) </a:t>
            </a:r>
            <a:r>
              <a:rPr lang="en-GB" i="1" dirty="0"/>
              <a:t>The standards of proficiency for physiotherapists</a:t>
            </a:r>
            <a:r>
              <a:rPr lang="en-GB" dirty="0"/>
              <a:t>. Available at: </a:t>
            </a:r>
            <a:r>
              <a:rPr lang="en-GB" dirty="0">
                <a:hlinkClick r:id="rId4"/>
              </a:rPr>
              <a:t>https://www.hcpc-uk.org/standards/standards-of-proficiency/physiotherapists/</a:t>
            </a:r>
            <a:r>
              <a:rPr lang="en-GB" dirty="0"/>
              <a:t> (Accessed 23 January 2024). </a:t>
            </a:r>
          </a:p>
          <a:p>
            <a:pPr marL="0" indent="0">
              <a:buNone/>
            </a:pPr>
            <a:r>
              <a:rPr lang="en-GB" dirty="0"/>
              <a:t>Ireland, J. and </a:t>
            </a:r>
            <a:r>
              <a:rPr lang="en-GB" dirty="0" err="1"/>
              <a:t>Mouthaan</a:t>
            </a:r>
            <a:r>
              <a:rPr lang="en-GB" dirty="0"/>
              <a:t>, M. (2020) ‘Perspectives on curriculum design: comparing the spiral and the network models’, </a:t>
            </a:r>
            <a:r>
              <a:rPr lang="en-GB" i="1" dirty="0"/>
              <a:t>Research Matters: A Cambridge Assessment publication</a:t>
            </a:r>
            <a:r>
              <a:rPr lang="en-GB" dirty="0"/>
              <a:t>, 30, pp. 7-12. </a:t>
            </a:r>
          </a:p>
          <a:p>
            <a:pPr marL="0" indent="0">
              <a:buNone/>
            </a:pPr>
            <a:r>
              <a:rPr lang="en-GB" dirty="0">
                <a:effectLst/>
              </a:rPr>
              <a:t>James, M. E. (2023) ‘Assessing and learning, and learning to learn’, in Tierney, R. J., Rizvi, F., and </a:t>
            </a:r>
            <a:r>
              <a:rPr lang="en-GB" dirty="0" err="1">
                <a:effectLst/>
              </a:rPr>
              <a:t>Ercikan</a:t>
            </a:r>
            <a:r>
              <a:rPr lang="en-GB" dirty="0">
                <a:effectLst/>
              </a:rPr>
              <a:t>, K. (eds) </a:t>
            </a:r>
            <a:r>
              <a:rPr lang="en-GB" i="1" dirty="0">
                <a:effectLst/>
              </a:rPr>
              <a:t>International </a:t>
            </a:r>
            <a:r>
              <a:rPr lang="en-GB" i="1" dirty="0" err="1">
                <a:effectLst/>
              </a:rPr>
              <a:t>Encyclopedia</a:t>
            </a:r>
            <a:r>
              <a:rPr lang="en-GB" i="1" dirty="0">
                <a:effectLst/>
              </a:rPr>
              <a:t> of Education (Fourth Edition)</a:t>
            </a:r>
            <a:r>
              <a:rPr lang="en-GB" dirty="0">
                <a:effectLst/>
              </a:rPr>
              <a:t>. Oxford: Elsevier, pp. 10–20. </a:t>
            </a:r>
            <a:r>
              <a:rPr lang="en-GB" dirty="0" err="1">
                <a:effectLst/>
              </a:rPr>
              <a:t>doi</a:t>
            </a:r>
            <a:r>
              <a:rPr lang="en-GB" dirty="0">
                <a:effectLst/>
              </a:rPr>
              <a:t>: 10.1016/B978-0-12-818630-5.09015-1.</a:t>
            </a:r>
          </a:p>
          <a:p>
            <a:pPr marL="0" indent="0">
              <a:buNone/>
            </a:pPr>
            <a:r>
              <a:rPr lang="en-GB" dirty="0"/>
              <a:t>Oko, J. and Reid, J. (2017) </a:t>
            </a:r>
            <a:r>
              <a:rPr lang="en-GB" i="1" dirty="0"/>
              <a:t>Study Skills for Health and Social Care Students</a:t>
            </a:r>
            <a:r>
              <a:rPr lang="en-GB" dirty="0"/>
              <a:t>. London: Sage Publications.</a:t>
            </a:r>
          </a:p>
          <a:p>
            <a:pPr marL="0" indent="0">
              <a:buNone/>
            </a:pPr>
            <a:r>
              <a:rPr lang="en-GB" dirty="0" err="1">
                <a:effectLst/>
              </a:rPr>
              <a:t>Waldan</a:t>
            </a:r>
            <a:r>
              <a:rPr lang="en-GB" dirty="0"/>
              <a:t>, J. (2013) </a:t>
            </a:r>
            <a:r>
              <a:rPr lang="en-GB" i="1" dirty="0"/>
              <a:t>Deep and Surface Learning: The Literature</a:t>
            </a:r>
            <a:r>
              <a:rPr lang="en-GB" dirty="0"/>
              <a:t>. Available at: </a:t>
            </a:r>
            <a:r>
              <a:rPr lang="en-GB" dirty="0">
                <a:hlinkClick r:id="rId5"/>
              </a:rPr>
              <a:t>https://www.psy.gla.ac.uk/~steve/courses/archive/CERE12-13-safari-archive/topic9/webarchive-index.html</a:t>
            </a:r>
            <a:r>
              <a:rPr lang="en-GB" dirty="0"/>
              <a:t> (Accessed 23 January 2024). </a:t>
            </a:r>
            <a:endParaRPr lang="en-GB" i="1" dirty="0"/>
          </a:p>
          <a:p>
            <a:pPr marL="0" indent="0">
              <a:buNone/>
            </a:pPr>
            <a:r>
              <a:rPr lang="en-GB" dirty="0">
                <a:effectLst/>
              </a:rPr>
              <a:t>Wang, L. (2021) ‘The Role of Students’ Self-Regulated Learning, Grit, and Resilience in Second Language Learning’, </a:t>
            </a:r>
            <a:r>
              <a:rPr lang="en-GB" i="1" dirty="0">
                <a:effectLst/>
              </a:rPr>
              <a:t>Frontiers in Psychology</a:t>
            </a:r>
            <a:r>
              <a:rPr lang="en-GB" dirty="0">
                <a:effectLst/>
              </a:rPr>
              <a:t>, 12. </a:t>
            </a:r>
            <a:r>
              <a:rPr lang="en-GB" dirty="0" err="1">
                <a:effectLst/>
              </a:rPr>
              <a:t>doi</a:t>
            </a:r>
            <a:r>
              <a:rPr lang="en-GB" dirty="0">
                <a:effectLst/>
              </a:rPr>
              <a:t>: 10.3389/fpsyg.2021.800488.</a:t>
            </a:r>
          </a:p>
          <a:p>
            <a:pPr marL="0" indent="0">
              <a:buNone/>
            </a:pPr>
            <a:endParaRPr lang="en-GB" dirty="0"/>
          </a:p>
        </p:txBody>
      </p:sp>
    </p:spTree>
    <p:extLst>
      <p:ext uri="{BB962C8B-B14F-4D97-AF65-F5344CB8AC3E}">
        <p14:creationId xmlns:p14="http://schemas.microsoft.com/office/powerpoint/2010/main" val="337173113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926BB-3DAB-5B3A-E25E-791DDD19E28D}"/>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85E90008-2105-BD60-9760-FB57FADB998B}"/>
              </a:ext>
            </a:extLst>
          </p:cNvPr>
          <p:cNvSpPr>
            <a:spLocks noGrp="1"/>
          </p:cNvSpPr>
          <p:nvPr>
            <p:ph idx="1"/>
          </p:nvPr>
        </p:nvSpPr>
        <p:spPr/>
        <p:txBody>
          <a:bodyPr>
            <a:normAutofit/>
          </a:bodyPr>
          <a:lstStyle/>
          <a:p>
            <a:pPr marL="0" indent="0">
              <a:buNone/>
            </a:pPr>
            <a:r>
              <a:rPr lang="en-GB" sz="1500" dirty="0"/>
              <a:t>Vero, E. and Puka, E. (2017) </a:t>
            </a:r>
            <a:r>
              <a:rPr lang="en-GB" sz="1500" i="1" dirty="0"/>
              <a:t>The importance of motivation in an educational environment.</a:t>
            </a:r>
            <a:r>
              <a:rPr lang="en-GB" sz="1500" dirty="0"/>
              <a:t> Available at: </a:t>
            </a:r>
            <a:r>
              <a:rPr lang="en-GB" sz="1500" dirty="0">
                <a:hlinkClick r:id="rId3"/>
              </a:rPr>
              <a:t>https://core.ac.uk/download/pdf/322532474.pdf</a:t>
            </a:r>
            <a:r>
              <a:rPr lang="en-GB" sz="1500" dirty="0"/>
              <a:t> (Accessed: 23 January 2024). </a:t>
            </a:r>
          </a:p>
          <a:p>
            <a:pPr marL="0" indent="0">
              <a:buNone/>
            </a:pPr>
            <a:r>
              <a:rPr lang="en-GB" sz="1500" dirty="0"/>
              <a:t>Baume, D. and Scanlon, E. (2018). What the research says about how and why </a:t>
            </a:r>
            <a:r>
              <a:rPr lang="en-GB" sz="1500" dirty="0" err="1"/>
              <a:t>learninghappens</a:t>
            </a:r>
            <a:r>
              <a:rPr lang="en-GB" sz="1500" dirty="0"/>
              <a:t>. In: R. </a:t>
            </a:r>
            <a:r>
              <a:rPr lang="en-GB" sz="1500" dirty="0" err="1"/>
              <a:t>Luckin</a:t>
            </a:r>
            <a:r>
              <a:rPr lang="en-GB" sz="1500" dirty="0"/>
              <a:t>, ed., </a:t>
            </a:r>
            <a:r>
              <a:rPr lang="en-GB" sz="1500" i="1" dirty="0"/>
              <a:t>Enhancing Learning and Teaching with Technology - What </a:t>
            </a:r>
            <a:r>
              <a:rPr lang="en-GB" sz="1500" i="1" dirty="0" err="1"/>
              <a:t>theResearch</a:t>
            </a:r>
            <a:r>
              <a:rPr lang="en-GB" sz="1500" i="1" dirty="0"/>
              <a:t> Says</a:t>
            </a:r>
            <a:r>
              <a:rPr lang="en-GB" sz="1500" dirty="0"/>
              <a:t>, 1st ed. London: UCL IoE Press, pp.2-13</a:t>
            </a:r>
          </a:p>
        </p:txBody>
      </p:sp>
    </p:spTree>
    <p:extLst>
      <p:ext uri="{BB962C8B-B14F-4D97-AF65-F5344CB8AC3E}">
        <p14:creationId xmlns:p14="http://schemas.microsoft.com/office/powerpoint/2010/main" val="19614662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 slides - basic">
  <a:themeElements>
    <a:clrScheme name="London Met Palette">
      <a:dk1>
        <a:srgbClr val="231F20"/>
      </a:dk1>
      <a:lt1>
        <a:sysClr val="window" lastClr="FFFFFF"/>
      </a:lt1>
      <a:dk2>
        <a:srgbClr val="444448"/>
      </a:dk2>
      <a:lt2>
        <a:srgbClr val="CBC8C8"/>
      </a:lt2>
      <a:accent1>
        <a:srgbClr val="FF9A32"/>
      </a:accent1>
      <a:accent2>
        <a:srgbClr val="D8484B"/>
      </a:accent2>
      <a:accent3>
        <a:srgbClr val="009A72"/>
      </a:accent3>
      <a:accent4>
        <a:srgbClr val="FBCF00"/>
      </a:accent4>
      <a:accent5>
        <a:srgbClr val="00225B"/>
      </a:accent5>
      <a:accent6>
        <a:srgbClr val="970A2F"/>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3087</Words>
  <Application>Microsoft Office PowerPoint</Application>
  <PresentationFormat>Widescreen</PresentationFormat>
  <Paragraphs>295</Paragraphs>
  <Slides>40</Slides>
  <Notes>40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40</vt:i4>
      </vt:variant>
    </vt:vector>
  </HeadingPairs>
  <TitlesOfParts>
    <vt:vector size="48" baseType="lpstr">
      <vt:lpstr>Arial</vt:lpstr>
      <vt:lpstr>Calibri</vt:lpstr>
      <vt:lpstr>Calibri Light</vt:lpstr>
      <vt:lpstr>Google Sans</vt:lpstr>
      <vt:lpstr>MuseoSans</vt:lpstr>
      <vt:lpstr>Wingdings</vt:lpstr>
      <vt:lpstr>Office Theme</vt:lpstr>
      <vt:lpstr>Content slides - basic</vt:lpstr>
      <vt:lpstr>Introduction to Academic Development: Higher Education Learning/Learning to Learn  Laura Perry – l.perry2@londonmet.ac.uk Academic Mentor</vt:lpstr>
      <vt:lpstr>Learning Outcomes</vt:lpstr>
      <vt:lpstr>Activity - Hands up</vt:lpstr>
      <vt:lpstr>Activity – Mentimeter (3 mins)</vt:lpstr>
      <vt:lpstr>Learning Definition</vt:lpstr>
      <vt:lpstr>‘Learning to Learn’ Definition</vt:lpstr>
      <vt:lpstr>Definition (breakdown) </vt:lpstr>
      <vt:lpstr>LEARNING REQUIRES RESILIENCE</vt:lpstr>
      <vt:lpstr>LEARNING IS AN ACTIVE PROCESS</vt:lpstr>
      <vt:lpstr>LEARNING REQUIRES MOTIVATION</vt:lpstr>
      <vt:lpstr>Activity – Mentimeter (5 mins)</vt:lpstr>
      <vt:lpstr>LEARNING REQUIRES REFLECTION</vt:lpstr>
      <vt:lpstr>LEARNING REQUIRES REFLECTION</vt:lpstr>
      <vt:lpstr>Activity – Mentimeter</vt:lpstr>
      <vt:lpstr>LEARNING IS SPIRALLED</vt:lpstr>
      <vt:lpstr>LEARNING IS HIGHER</vt:lpstr>
      <vt:lpstr>LEARNING IS HIGHER</vt:lpstr>
      <vt:lpstr>LEARNING IS HIGHER</vt:lpstr>
      <vt:lpstr>Learning happens outside your comfort zone  </vt:lpstr>
      <vt:lpstr>Principles of Effective Learning</vt:lpstr>
      <vt:lpstr>Principles of Effective Learning</vt:lpstr>
      <vt:lpstr>Importance of Feedback</vt:lpstr>
      <vt:lpstr>Methods teachers use with students to probe learning</vt:lpstr>
      <vt:lpstr>Learning Styles</vt:lpstr>
      <vt:lpstr>LEARNING STYLES AND STRATEGIES</vt:lpstr>
      <vt:lpstr>Pre-session Activity – What is your learning style? (5 minutes)</vt:lpstr>
      <vt:lpstr>Active vs reflective learners</vt:lpstr>
      <vt:lpstr>Sensing vs intuitive learners</vt:lpstr>
      <vt:lpstr>Sensing vs intuitive learners</vt:lpstr>
      <vt:lpstr>Visual vs verbal learners</vt:lpstr>
      <vt:lpstr>Sequential vs global learners</vt:lpstr>
      <vt:lpstr>Sequential vs global learners</vt:lpstr>
      <vt:lpstr>Learning styles</vt:lpstr>
      <vt:lpstr>Tips for Better Learning</vt:lpstr>
      <vt:lpstr>Critical Thinking</vt:lpstr>
      <vt:lpstr>Plenary Activity – One Minute Paper</vt:lpstr>
      <vt:lpstr>PowerPoint Presentation</vt:lpstr>
      <vt:lpstr>Any Questions?</vt:lpstr>
      <vt:lpstr>References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Learning to learn</dc:title>
  <dc:creator>Laura Perry</dc:creator>
  <cp:lastModifiedBy>Laura Perry</cp:lastModifiedBy>
  <cp:revision>5</cp:revision>
  <dcterms:created xsi:type="dcterms:W3CDTF">2024-01-18T14:06:07Z</dcterms:created>
  <dcterms:modified xsi:type="dcterms:W3CDTF">2024-09-20T14:43:10Z</dcterms:modified>
</cp:coreProperties>
</file>