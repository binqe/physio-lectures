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45"/>
  </p:notesMasterIdLst>
  <p:sldIdLst>
    <p:sldId id="260" r:id="rId5"/>
    <p:sldId id="362" r:id="rId6"/>
    <p:sldId id="261" r:id="rId7"/>
    <p:sldId id="263" r:id="rId8"/>
    <p:sldId id="262" r:id="rId9"/>
    <p:sldId id="293" r:id="rId10"/>
    <p:sldId id="264" r:id="rId11"/>
    <p:sldId id="265" r:id="rId12"/>
    <p:sldId id="294" r:id="rId13"/>
    <p:sldId id="295" r:id="rId14"/>
    <p:sldId id="309" r:id="rId15"/>
    <p:sldId id="336" r:id="rId16"/>
    <p:sldId id="268" r:id="rId17"/>
    <p:sldId id="311" r:id="rId18"/>
    <p:sldId id="312" r:id="rId19"/>
    <p:sldId id="335" r:id="rId20"/>
    <p:sldId id="334" r:id="rId21"/>
    <p:sldId id="338" r:id="rId22"/>
    <p:sldId id="339" r:id="rId23"/>
    <p:sldId id="337" r:id="rId24"/>
    <p:sldId id="369" r:id="rId25"/>
    <p:sldId id="341" r:id="rId26"/>
    <p:sldId id="266" r:id="rId27"/>
    <p:sldId id="342" r:id="rId28"/>
    <p:sldId id="343" r:id="rId29"/>
    <p:sldId id="355" r:id="rId30"/>
    <p:sldId id="371" r:id="rId31"/>
    <p:sldId id="354" r:id="rId32"/>
    <p:sldId id="301" r:id="rId33"/>
    <p:sldId id="350" r:id="rId34"/>
    <p:sldId id="351" r:id="rId35"/>
    <p:sldId id="359" r:id="rId36"/>
    <p:sldId id="344" r:id="rId37"/>
    <p:sldId id="363" r:id="rId38"/>
    <p:sldId id="364" r:id="rId39"/>
    <p:sldId id="356" r:id="rId40"/>
    <p:sldId id="360" r:id="rId41"/>
    <p:sldId id="367" r:id="rId42"/>
    <p:sldId id="368" r:id="rId43"/>
    <p:sldId id="370" r:id="rId44"/>
  </p:sldIdLst>
  <p:sldSz cx="18288000" cy="102885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49" roundtripDataSignature="AMtx7mimwRJaRJd2/VfACUYZjFW7z4fY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186002-52D5-4809-A991-9E0A4F5F0619}" v="5" dt="2026-02-23T15:03:47.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1961" autoAdjust="0"/>
  </p:normalViewPr>
  <p:slideViewPr>
    <p:cSldViewPr snapToGrid="0">
      <p:cViewPr>
        <p:scale>
          <a:sx n="39" d="100"/>
          <a:sy n="39" d="100"/>
        </p:scale>
        <p:origin x="2574" y="7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Perry" userId="c97aa09d-86c0-4043-b3ef-c0cd62ed5e25" providerId="ADAL" clId="{451BDB55-6D41-4C39-AAA2-C5AEE21F393C}"/>
    <pc:docChg chg="custSel addSld delSld modSld">
      <pc:chgData name="Laura Perry" userId="c97aa09d-86c0-4043-b3ef-c0cd62ed5e25" providerId="ADAL" clId="{451BDB55-6D41-4C39-AAA2-C5AEE21F393C}" dt="2026-02-23T15:13:50.238" v="134" actId="20577"/>
      <pc:docMkLst>
        <pc:docMk/>
      </pc:docMkLst>
      <pc:sldChg chg="modSp mod">
        <pc:chgData name="Laura Perry" userId="c97aa09d-86c0-4043-b3ef-c0cd62ed5e25" providerId="ADAL" clId="{451BDB55-6D41-4C39-AAA2-C5AEE21F393C}" dt="2026-02-23T14:57:14.551" v="40" actId="313"/>
        <pc:sldMkLst>
          <pc:docMk/>
          <pc:sldMk cId="686000159" sldId="265"/>
        </pc:sldMkLst>
        <pc:spChg chg="mod">
          <ac:chgData name="Laura Perry" userId="c97aa09d-86c0-4043-b3ef-c0cd62ed5e25" providerId="ADAL" clId="{451BDB55-6D41-4C39-AAA2-C5AEE21F393C}" dt="2026-02-23T14:57:14.551" v="40" actId="313"/>
          <ac:spMkLst>
            <pc:docMk/>
            <pc:sldMk cId="686000159" sldId="265"/>
            <ac:spMk id="3" creationId="{7DC89F87-1C65-8C09-6584-1B28C69E1A58}"/>
          </ac:spMkLst>
        </pc:spChg>
      </pc:sldChg>
      <pc:sldChg chg="modSp modNotesTx">
        <pc:chgData name="Laura Perry" userId="c97aa09d-86c0-4043-b3ef-c0cd62ed5e25" providerId="ADAL" clId="{451BDB55-6D41-4C39-AAA2-C5AEE21F393C}" dt="2026-02-23T14:59:16.596" v="45" actId="1076"/>
        <pc:sldMkLst>
          <pc:docMk/>
          <pc:sldMk cId="3745281653" sldId="309"/>
        </pc:sldMkLst>
        <pc:picChg chg="mod">
          <ac:chgData name="Laura Perry" userId="c97aa09d-86c0-4043-b3ef-c0cd62ed5e25" providerId="ADAL" clId="{451BDB55-6D41-4C39-AAA2-C5AEE21F393C}" dt="2026-02-23T14:59:16.596" v="45" actId="1076"/>
          <ac:picMkLst>
            <pc:docMk/>
            <pc:sldMk cId="3745281653" sldId="309"/>
            <ac:picMk id="1030" creationId="{725AACE3-3F21-D6A0-6515-C00CD1CC5D3B}"/>
          </ac:picMkLst>
        </pc:picChg>
      </pc:sldChg>
      <pc:sldChg chg="modSp mod">
        <pc:chgData name="Laura Perry" userId="c97aa09d-86c0-4043-b3ef-c0cd62ed5e25" providerId="ADAL" clId="{451BDB55-6D41-4C39-AAA2-C5AEE21F393C}" dt="2026-02-23T14:58:51.773" v="42" actId="20577"/>
        <pc:sldMkLst>
          <pc:docMk/>
          <pc:sldMk cId="2168832765" sldId="336"/>
        </pc:sldMkLst>
        <pc:spChg chg="mod">
          <ac:chgData name="Laura Perry" userId="c97aa09d-86c0-4043-b3ef-c0cd62ed5e25" providerId="ADAL" clId="{451BDB55-6D41-4C39-AAA2-C5AEE21F393C}" dt="2026-02-23T14:58:51.773" v="42" actId="20577"/>
          <ac:spMkLst>
            <pc:docMk/>
            <pc:sldMk cId="2168832765" sldId="336"/>
            <ac:spMk id="5" creationId="{8A7D6CC5-778C-D63E-F801-FB1759379F6F}"/>
          </ac:spMkLst>
        </pc:spChg>
      </pc:sldChg>
      <pc:sldChg chg="modSp mod">
        <pc:chgData name="Laura Perry" userId="c97aa09d-86c0-4043-b3ef-c0cd62ed5e25" providerId="ADAL" clId="{451BDB55-6D41-4C39-AAA2-C5AEE21F393C}" dt="2026-02-23T15:07:14.436" v="121" actId="1076"/>
        <pc:sldMkLst>
          <pc:docMk/>
          <pc:sldMk cId="3498618448" sldId="343"/>
        </pc:sldMkLst>
        <pc:picChg chg="mod">
          <ac:chgData name="Laura Perry" userId="c97aa09d-86c0-4043-b3ef-c0cd62ed5e25" providerId="ADAL" clId="{451BDB55-6D41-4C39-AAA2-C5AEE21F393C}" dt="2026-02-23T15:07:14.436" v="121" actId="1076"/>
          <ac:picMkLst>
            <pc:docMk/>
            <pc:sldMk cId="3498618448" sldId="343"/>
            <ac:picMk id="5" creationId="{D9C90FC6-01DC-F50A-020A-DC94D488CEF6}"/>
          </ac:picMkLst>
        </pc:picChg>
      </pc:sldChg>
      <pc:sldChg chg="modNotesTx">
        <pc:chgData name="Laura Perry" userId="c97aa09d-86c0-4043-b3ef-c0cd62ed5e25" providerId="ADAL" clId="{451BDB55-6D41-4C39-AAA2-C5AEE21F393C}" dt="2026-02-23T14:55:05.661" v="36" actId="6549"/>
        <pc:sldMkLst>
          <pc:docMk/>
          <pc:sldMk cId="433496027" sldId="350"/>
        </pc:sldMkLst>
      </pc:sldChg>
      <pc:sldChg chg="modSp mod modNotesTx">
        <pc:chgData name="Laura Perry" userId="c97aa09d-86c0-4043-b3ef-c0cd62ed5e25" providerId="ADAL" clId="{451BDB55-6D41-4C39-AAA2-C5AEE21F393C}" dt="2026-02-23T15:11:48.349" v="133" actId="20577"/>
        <pc:sldMkLst>
          <pc:docMk/>
          <pc:sldMk cId="4199833484" sldId="351"/>
        </pc:sldMkLst>
        <pc:spChg chg="mod">
          <ac:chgData name="Laura Perry" userId="c97aa09d-86c0-4043-b3ef-c0cd62ed5e25" providerId="ADAL" clId="{451BDB55-6D41-4C39-AAA2-C5AEE21F393C}" dt="2026-02-23T15:10:59.485" v="131" actId="1035"/>
          <ac:spMkLst>
            <pc:docMk/>
            <pc:sldMk cId="4199833484" sldId="351"/>
            <ac:spMk id="5" creationId="{F527F92F-827F-C923-1D82-6BD486DD8799}"/>
          </ac:spMkLst>
        </pc:spChg>
        <pc:graphicFrameChg chg="modGraphic">
          <ac:chgData name="Laura Perry" userId="c97aa09d-86c0-4043-b3ef-c0cd62ed5e25" providerId="ADAL" clId="{451BDB55-6D41-4C39-AAA2-C5AEE21F393C}" dt="2026-02-23T15:11:48.349" v="133" actId="20577"/>
          <ac:graphicFrameMkLst>
            <pc:docMk/>
            <pc:sldMk cId="4199833484" sldId="351"/>
            <ac:graphicFrameMk id="4" creationId="{1C1DE165-6210-50F2-C651-EA08FAE0CEAC}"/>
          </ac:graphicFrameMkLst>
        </pc:graphicFrameChg>
      </pc:sldChg>
      <pc:sldChg chg="modSp mod">
        <pc:chgData name="Laura Perry" userId="c97aa09d-86c0-4043-b3ef-c0cd62ed5e25" providerId="ADAL" clId="{451BDB55-6D41-4C39-AAA2-C5AEE21F393C}" dt="2026-02-23T15:13:50.238" v="134" actId="20577"/>
        <pc:sldMkLst>
          <pc:docMk/>
          <pc:sldMk cId="504300084" sldId="360"/>
        </pc:sldMkLst>
        <pc:spChg chg="mod">
          <ac:chgData name="Laura Perry" userId="c97aa09d-86c0-4043-b3ef-c0cd62ed5e25" providerId="ADAL" clId="{451BDB55-6D41-4C39-AAA2-C5AEE21F393C}" dt="2026-02-23T15:13:50.238" v="134" actId="20577"/>
          <ac:spMkLst>
            <pc:docMk/>
            <pc:sldMk cId="504300084" sldId="360"/>
            <ac:spMk id="3" creationId="{8A3A631D-0D88-955F-192D-68279A515B35}"/>
          </ac:spMkLst>
        </pc:spChg>
      </pc:sldChg>
      <pc:sldChg chg="modNotesTx">
        <pc:chgData name="Laura Perry" userId="c97aa09d-86c0-4043-b3ef-c0cd62ed5e25" providerId="ADAL" clId="{451BDB55-6D41-4C39-AAA2-C5AEE21F393C}" dt="2026-02-23T14:55:22.015" v="38" actId="6549"/>
        <pc:sldMkLst>
          <pc:docMk/>
          <pc:sldMk cId="3702694362" sldId="367"/>
        </pc:sldMkLst>
      </pc:sldChg>
      <pc:sldChg chg="modNotesTx">
        <pc:chgData name="Laura Perry" userId="c97aa09d-86c0-4043-b3ef-c0cd62ed5e25" providerId="ADAL" clId="{451BDB55-6D41-4C39-AAA2-C5AEE21F393C}" dt="2026-02-23T14:55:24.992" v="39" actId="6549"/>
        <pc:sldMkLst>
          <pc:docMk/>
          <pc:sldMk cId="627828244" sldId="368"/>
        </pc:sldMkLst>
      </pc:sldChg>
      <pc:sldChg chg="addSp delSp modSp mod delAnim chgLayout">
        <pc:chgData name="Laura Perry" userId="c97aa09d-86c0-4043-b3ef-c0cd62ed5e25" providerId="ADAL" clId="{451BDB55-6D41-4C39-AAA2-C5AEE21F393C}" dt="2026-02-23T15:04:30.179" v="119" actId="6549"/>
        <pc:sldMkLst>
          <pc:docMk/>
          <pc:sldMk cId="3828878141" sldId="369"/>
        </pc:sldMkLst>
        <pc:spChg chg="mod ord">
          <ac:chgData name="Laura Perry" userId="c97aa09d-86c0-4043-b3ef-c0cd62ed5e25" providerId="ADAL" clId="{451BDB55-6D41-4C39-AAA2-C5AEE21F393C}" dt="2026-02-23T15:01:49.655" v="52" actId="700"/>
          <ac:spMkLst>
            <pc:docMk/>
            <pc:sldMk cId="3828878141" sldId="369"/>
            <ac:spMk id="2" creationId="{6529FB91-0995-B4F3-8CF8-360C112B285F}"/>
          </ac:spMkLst>
        </pc:spChg>
        <pc:spChg chg="add mod ord">
          <ac:chgData name="Laura Perry" userId="c97aa09d-86c0-4043-b3ef-c0cd62ed5e25" providerId="ADAL" clId="{451BDB55-6D41-4C39-AAA2-C5AEE21F393C}" dt="2026-02-23T15:04:30.179" v="119" actId="6549"/>
          <ac:spMkLst>
            <pc:docMk/>
            <pc:sldMk cId="3828878141" sldId="369"/>
            <ac:spMk id="3" creationId="{E4BBD01C-F54F-50B8-6AB5-785F828B33D7}"/>
          </ac:spMkLst>
        </pc:spChg>
        <pc:picChg chg="add del mod">
          <ac:chgData name="Laura Perry" userId="c97aa09d-86c0-4043-b3ef-c0cd62ed5e25" providerId="ADAL" clId="{451BDB55-6D41-4C39-AAA2-C5AEE21F393C}" dt="2026-02-23T15:03:22.695" v="65" actId="478"/>
          <ac:picMkLst>
            <pc:docMk/>
            <pc:sldMk cId="3828878141" sldId="369"/>
            <ac:picMk id="5" creationId="{B99CB66D-4C6E-55F6-2D92-D390ED7A029B}"/>
          </ac:picMkLst>
        </pc:picChg>
        <pc:picChg chg="del">
          <ac:chgData name="Laura Perry" userId="c97aa09d-86c0-4043-b3ef-c0cd62ed5e25" providerId="ADAL" clId="{451BDB55-6D41-4C39-AAA2-C5AEE21F393C}" dt="2026-02-23T15:01:40.363" v="47" actId="478"/>
          <ac:picMkLst>
            <pc:docMk/>
            <pc:sldMk cId="3828878141" sldId="369"/>
            <ac:picMk id="8" creationId="{59F37A2F-CA31-940A-0296-33F3937FD98F}"/>
          </ac:picMkLst>
        </pc:picChg>
        <pc:picChg chg="del">
          <ac:chgData name="Laura Perry" userId="c97aa09d-86c0-4043-b3ef-c0cd62ed5e25" providerId="ADAL" clId="{451BDB55-6D41-4C39-AAA2-C5AEE21F393C}" dt="2026-02-23T15:01:41.663" v="48" actId="478"/>
          <ac:picMkLst>
            <pc:docMk/>
            <pc:sldMk cId="3828878141" sldId="369"/>
            <ac:picMk id="10" creationId="{83923167-C6B1-EC6C-02AD-3D470D6C2B48}"/>
          </ac:picMkLst>
        </pc:picChg>
        <pc:picChg chg="del">
          <ac:chgData name="Laura Perry" userId="c97aa09d-86c0-4043-b3ef-c0cd62ed5e25" providerId="ADAL" clId="{451BDB55-6D41-4C39-AAA2-C5AEE21F393C}" dt="2026-02-23T15:01:44.489" v="50" actId="478"/>
          <ac:picMkLst>
            <pc:docMk/>
            <pc:sldMk cId="3828878141" sldId="369"/>
            <ac:picMk id="14" creationId="{47EA5A67-E5F1-710F-41D0-E7540290DBA1}"/>
          </ac:picMkLst>
        </pc:picChg>
        <pc:picChg chg="del">
          <ac:chgData name="Laura Perry" userId="c97aa09d-86c0-4043-b3ef-c0cd62ed5e25" providerId="ADAL" clId="{451BDB55-6D41-4C39-AAA2-C5AEE21F393C}" dt="2026-02-23T15:01:42.956" v="49" actId="478"/>
          <ac:picMkLst>
            <pc:docMk/>
            <pc:sldMk cId="3828878141" sldId="369"/>
            <ac:picMk id="18" creationId="{A111A834-53F3-0471-873D-1D5ABAABE914}"/>
          </ac:picMkLst>
        </pc:picChg>
        <pc:picChg chg="del">
          <ac:chgData name="Laura Perry" userId="c97aa09d-86c0-4043-b3ef-c0cd62ed5e25" providerId="ADAL" clId="{451BDB55-6D41-4C39-AAA2-C5AEE21F393C}" dt="2026-02-23T15:01:38.949" v="46" actId="478"/>
          <ac:picMkLst>
            <pc:docMk/>
            <pc:sldMk cId="3828878141" sldId="369"/>
            <ac:picMk id="20" creationId="{B0DCD420-5534-1A6D-71AC-F357C1B5F63E}"/>
          </ac:picMkLst>
        </pc:picChg>
      </pc:sldChg>
      <pc:sldChg chg="del">
        <pc:chgData name="Laura Perry" userId="c97aa09d-86c0-4043-b3ef-c0cd62ed5e25" providerId="ADAL" clId="{451BDB55-6D41-4C39-AAA2-C5AEE21F393C}" dt="2026-02-23T14:54:20.871" v="34" actId="47"/>
        <pc:sldMkLst>
          <pc:docMk/>
          <pc:sldMk cId="4292848094" sldId="372"/>
        </pc:sldMkLst>
      </pc:sldChg>
      <pc:sldChg chg="del">
        <pc:chgData name="Laura Perry" userId="c97aa09d-86c0-4043-b3ef-c0cd62ed5e25" providerId="ADAL" clId="{451BDB55-6D41-4C39-AAA2-C5AEE21F393C}" dt="2026-02-23T14:54:19.116" v="33" actId="47"/>
        <pc:sldMkLst>
          <pc:docMk/>
          <pc:sldMk cId="655859376" sldId="373"/>
        </pc:sldMkLst>
      </pc:sldChg>
      <pc:sldChg chg="addSp delSp modSp new del mod">
        <pc:chgData name="Laura Perry" userId="c97aa09d-86c0-4043-b3ef-c0cd62ed5e25" providerId="ADAL" clId="{451BDB55-6D41-4C39-AAA2-C5AEE21F393C}" dt="2026-02-23T14:53:41.648" v="32" actId="47"/>
        <pc:sldMkLst>
          <pc:docMk/>
          <pc:sldMk cId="1342456659" sldId="374"/>
        </pc:sldMkLst>
        <pc:spChg chg="mod">
          <ac:chgData name="Laura Perry" userId="c97aa09d-86c0-4043-b3ef-c0cd62ed5e25" providerId="ADAL" clId="{451BDB55-6D41-4C39-AAA2-C5AEE21F393C}" dt="2026-02-23T14:48:06.760" v="26" actId="20577"/>
          <ac:spMkLst>
            <pc:docMk/>
            <pc:sldMk cId="1342456659" sldId="374"/>
            <ac:spMk id="2" creationId="{8E648277-B21A-ECF1-5591-A180979AB63E}"/>
          </ac:spMkLst>
        </pc:spChg>
        <pc:spChg chg="del">
          <ac:chgData name="Laura Perry" userId="c97aa09d-86c0-4043-b3ef-c0cd62ed5e25" providerId="ADAL" clId="{451BDB55-6D41-4C39-AAA2-C5AEE21F393C}" dt="2026-02-23T14:53:00.885" v="31" actId="478"/>
          <ac:spMkLst>
            <pc:docMk/>
            <pc:sldMk cId="1342456659" sldId="374"/>
            <ac:spMk id="3" creationId="{03D2D8E1-35EC-A1B2-AF3D-DE98201332E7}"/>
          </ac:spMkLst>
        </pc:spChg>
        <pc:picChg chg="add mod">
          <ac:chgData name="Laura Perry" userId="c97aa09d-86c0-4043-b3ef-c0cd62ed5e25" providerId="ADAL" clId="{451BDB55-6D41-4C39-AAA2-C5AEE21F393C}" dt="2026-02-23T14:52:58.706" v="30" actId="1076"/>
          <ac:picMkLst>
            <pc:docMk/>
            <pc:sldMk cId="1342456659" sldId="374"/>
            <ac:picMk id="5" creationId="{8EA01CFC-2904-BC56-84AA-888BFF97761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4A18E9-85C6-412D-A9C8-D32CFFA0D4C0}"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99EB1544-18C2-4DB9-8BB0-57BA34CD27F7}">
      <dgm:prSet/>
      <dgm:spPr/>
      <dgm:t>
        <a:bodyPr/>
        <a:lstStyle/>
        <a:p>
          <a:r>
            <a:rPr lang="en-GB" dirty="0"/>
            <a:t>What is statistical analysis and why we use it </a:t>
          </a:r>
          <a:endParaRPr lang="en-US" dirty="0"/>
        </a:p>
      </dgm:t>
    </dgm:pt>
    <dgm:pt modelId="{FCA04CC2-AB5C-4505-8024-45BAD99E8BA5}" type="parTrans" cxnId="{AD84E7B7-7213-416F-B503-A21A0C817EA1}">
      <dgm:prSet/>
      <dgm:spPr/>
      <dgm:t>
        <a:bodyPr/>
        <a:lstStyle/>
        <a:p>
          <a:endParaRPr lang="en-US"/>
        </a:p>
      </dgm:t>
    </dgm:pt>
    <dgm:pt modelId="{6506BBC4-4526-41EC-8ABA-F05F5A763486}" type="sibTrans" cxnId="{AD84E7B7-7213-416F-B503-A21A0C817EA1}">
      <dgm:prSet/>
      <dgm:spPr/>
      <dgm:t>
        <a:bodyPr/>
        <a:lstStyle/>
        <a:p>
          <a:endParaRPr lang="en-US"/>
        </a:p>
      </dgm:t>
    </dgm:pt>
    <dgm:pt modelId="{E998AC93-3A6D-45D3-87AB-BA3E916B9B94}">
      <dgm:prSet/>
      <dgm:spPr/>
      <dgm:t>
        <a:bodyPr/>
        <a:lstStyle/>
        <a:p>
          <a:r>
            <a:rPr lang="en-GB" dirty="0"/>
            <a:t>Introduction to Jamovi interface </a:t>
          </a:r>
          <a:endParaRPr lang="en-US" dirty="0"/>
        </a:p>
      </dgm:t>
    </dgm:pt>
    <dgm:pt modelId="{4522BC4F-C668-444D-8447-741CC84B4D55}" type="parTrans" cxnId="{0565321E-D4C8-49EB-A1F2-6448F69BD947}">
      <dgm:prSet/>
      <dgm:spPr/>
      <dgm:t>
        <a:bodyPr/>
        <a:lstStyle/>
        <a:p>
          <a:endParaRPr lang="en-US"/>
        </a:p>
      </dgm:t>
    </dgm:pt>
    <dgm:pt modelId="{59AB3631-08F0-488B-A74C-92EDF7C17B90}" type="sibTrans" cxnId="{0565321E-D4C8-49EB-A1F2-6448F69BD947}">
      <dgm:prSet/>
      <dgm:spPr/>
      <dgm:t>
        <a:bodyPr/>
        <a:lstStyle/>
        <a:p>
          <a:endParaRPr lang="en-US"/>
        </a:p>
      </dgm:t>
    </dgm:pt>
    <dgm:pt modelId="{EF02F7A4-0D6F-4E49-8653-F5762E7CA1D2}">
      <dgm:prSet/>
      <dgm:spPr/>
      <dgm:t>
        <a:bodyPr/>
        <a:lstStyle/>
        <a:p>
          <a:r>
            <a:rPr lang="en-GB" dirty="0"/>
            <a:t>Data entry and variable types </a:t>
          </a:r>
          <a:endParaRPr lang="en-US" dirty="0"/>
        </a:p>
      </dgm:t>
    </dgm:pt>
    <dgm:pt modelId="{2C565254-289C-4BEB-B031-9AADBB117BE4}" type="parTrans" cxnId="{18BB1F43-B67F-400B-9691-253B142374C3}">
      <dgm:prSet/>
      <dgm:spPr/>
      <dgm:t>
        <a:bodyPr/>
        <a:lstStyle/>
        <a:p>
          <a:endParaRPr lang="en-US"/>
        </a:p>
      </dgm:t>
    </dgm:pt>
    <dgm:pt modelId="{DA514508-F6DE-4811-8189-80112EFAF4F1}" type="sibTrans" cxnId="{18BB1F43-B67F-400B-9691-253B142374C3}">
      <dgm:prSet/>
      <dgm:spPr/>
      <dgm:t>
        <a:bodyPr/>
        <a:lstStyle/>
        <a:p>
          <a:endParaRPr lang="en-US"/>
        </a:p>
      </dgm:t>
    </dgm:pt>
    <dgm:pt modelId="{EE8BC51C-BF2B-4BB1-BD1F-42D1F7484DE8}">
      <dgm:prSet/>
      <dgm:spPr/>
      <dgm:t>
        <a:bodyPr/>
        <a:lstStyle/>
        <a:p>
          <a:r>
            <a:rPr lang="en-GB" dirty="0"/>
            <a:t>Descriptive statistics (Mean, median, mode, standard deviation, f</a:t>
          </a:r>
          <a:r>
            <a:rPr lang="en-GB" dirty="0">
              <a:solidFill>
                <a:schemeClr val="tx1"/>
              </a:solidFill>
            </a:rPr>
            <a:t>requencies) </a:t>
          </a:r>
          <a:endParaRPr lang="en-US" dirty="0">
            <a:solidFill>
              <a:schemeClr val="tx1"/>
            </a:solidFill>
          </a:endParaRPr>
        </a:p>
      </dgm:t>
    </dgm:pt>
    <dgm:pt modelId="{EABD10F4-8414-4FB0-B449-ABA5AFF1B042}" type="parTrans" cxnId="{A06581BB-C54A-4070-A7BD-D0785C35F93E}">
      <dgm:prSet/>
      <dgm:spPr/>
      <dgm:t>
        <a:bodyPr/>
        <a:lstStyle/>
        <a:p>
          <a:endParaRPr lang="en-US"/>
        </a:p>
      </dgm:t>
    </dgm:pt>
    <dgm:pt modelId="{D66D38EC-9DE8-4BB0-8A2D-AF2CAA5046F3}" type="sibTrans" cxnId="{A06581BB-C54A-4070-A7BD-D0785C35F93E}">
      <dgm:prSet/>
      <dgm:spPr/>
      <dgm:t>
        <a:bodyPr/>
        <a:lstStyle/>
        <a:p>
          <a:endParaRPr lang="en-US"/>
        </a:p>
      </dgm:t>
    </dgm:pt>
    <dgm:pt modelId="{C01B3FE1-B157-42E3-88D5-8BCF92DBCD7C}">
      <dgm:prSet/>
      <dgm:spPr/>
      <dgm:t>
        <a:bodyPr/>
        <a:lstStyle/>
        <a:p>
          <a:r>
            <a:rPr lang="en-GB" dirty="0"/>
            <a:t>Data checking and cleaning (basic)</a:t>
          </a:r>
          <a:endParaRPr lang="en-US" dirty="0"/>
        </a:p>
      </dgm:t>
    </dgm:pt>
    <dgm:pt modelId="{B6368FE7-CA0C-46E5-8BB6-860123FEC28A}" type="parTrans" cxnId="{DF6B0063-8167-40D7-A053-AAEDFE56FBBB}">
      <dgm:prSet/>
      <dgm:spPr/>
      <dgm:t>
        <a:bodyPr/>
        <a:lstStyle/>
        <a:p>
          <a:endParaRPr lang="en-US"/>
        </a:p>
      </dgm:t>
    </dgm:pt>
    <dgm:pt modelId="{C8CEE17C-CFC4-4981-8B28-1DFC476B7D21}" type="sibTrans" cxnId="{DF6B0063-8167-40D7-A053-AAEDFE56FBBB}">
      <dgm:prSet/>
      <dgm:spPr/>
      <dgm:t>
        <a:bodyPr/>
        <a:lstStyle/>
        <a:p>
          <a:endParaRPr lang="en-US"/>
        </a:p>
      </dgm:t>
    </dgm:pt>
    <dgm:pt modelId="{0E742E0A-D029-4FD7-939D-59D9E8F15BA8}">
      <dgm:prSet/>
      <dgm:spPr/>
      <dgm:t>
        <a:bodyPr/>
        <a:lstStyle/>
        <a:p>
          <a:r>
            <a:rPr lang="en-GB" dirty="0"/>
            <a:t>Purpose of inferential statistics</a:t>
          </a:r>
          <a:endParaRPr lang="en-US" dirty="0"/>
        </a:p>
      </dgm:t>
    </dgm:pt>
    <dgm:pt modelId="{4C8F8295-934D-46C3-9686-1BE9768B1CDC}" type="parTrans" cxnId="{08F7EB91-1ECC-4DDB-A59D-0A0A5944EAFA}">
      <dgm:prSet/>
      <dgm:spPr/>
      <dgm:t>
        <a:bodyPr/>
        <a:lstStyle/>
        <a:p>
          <a:endParaRPr lang="en-US"/>
        </a:p>
      </dgm:t>
    </dgm:pt>
    <dgm:pt modelId="{7C44F439-33E5-496A-AC6E-F4BDBCA9EE79}" type="sibTrans" cxnId="{08F7EB91-1ECC-4DDB-A59D-0A0A5944EAFA}">
      <dgm:prSet/>
      <dgm:spPr/>
      <dgm:t>
        <a:bodyPr/>
        <a:lstStyle/>
        <a:p>
          <a:endParaRPr lang="en-US"/>
        </a:p>
      </dgm:t>
    </dgm:pt>
    <dgm:pt modelId="{B9556CC3-8E5D-4A50-A435-A225764A04D4}">
      <dgm:prSet/>
      <dgm:spPr/>
      <dgm:t>
        <a:bodyPr/>
        <a:lstStyle/>
        <a:p>
          <a:r>
            <a:rPr lang="en-GB" dirty="0"/>
            <a:t>Common statistical tests in physiotherapy research (t‑tests, Chi‑square, Correlation)</a:t>
          </a:r>
          <a:endParaRPr lang="en-US" dirty="0"/>
        </a:p>
      </dgm:t>
    </dgm:pt>
    <dgm:pt modelId="{A82E67F5-947D-464A-9349-16D08AA80B0A}" type="parTrans" cxnId="{778ED085-8E4A-4E43-AB80-36159B3BFAC1}">
      <dgm:prSet/>
      <dgm:spPr/>
      <dgm:t>
        <a:bodyPr/>
        <a:lstStyle/>
        <a:p>
          <a:endParaRPr lang="en-US"/>
        </a:p>
      </dgm:t>
    </dgm:pt>
    <dgm:pt modelId="{C6F04E0D-1ED5-4F5A-A6B8-A15115EA64EF}" type="sibTrans" cxnId="{778ED085-8E4A-4E43-AB80-36159B3BFAC1}">
      <dgm:prSet/>
      <dgm:spPr/>
      <dgm:t>
        <a:bodyPr/>
        <a:lstStyle/>
        <a:p>
          <a:endParaRPr lang="en-US"/>
        </a:p>
      </dgm:t>
    </dgm:pt>
    <dgm:pt modelId="{5CF7D1CE-2FE3-4177-8CAA-1E8F6A327893}">
      <dgm:prSet/>
      <dgm:spPr/>
      <dgm:t>
        <a:bodyPr/>
        <a:lstStyle/>
        <a:p>
          <a:r>
            <a:rPr lang="en-GB" dirty="0"/>
            <a:t>Statistical values (p values and confidence intervals)</a:t>
          </a:r>
          <a:endParaRPr lang="en-US" dirty="0"/>
        </a:p>
      </dgm:t>
    </dgm:pt>
    <dgm:pt modelId="{C492D3C5-F8F6-4010-BA97-74C632B24CC2}" type="parTrans" cxnId="{25DB2916-18B8-4EA8-8844-134E4B114E47}">
      <dgm:prSet/>
      <dgm:spPr/>
      <dgm:t>
        <a:bodyPr/>
        <a:lstStyle/>
        <a:p>
          <a:endParaRPr lang="en-US"/>
        </a:p>
      </dgm:t>
    </dgm:pt>
    <dgm:pt modelId="{FCE9A2EE-822E-489C-8A14-6DEF0CAFEEC9}" type="sibTrans" cxnId="{25DB2916-18B8-4EA8-8844-134E4B114E47}">
      <dgm:prSet/>
      <dgm:spPr/>
      <dgm:t>
        <a:bodyPr/>
        <a:lstStyle/>
        <a:p>
          <a:endParaRPr lang="en-US"/>
        </a:p>
      </dgm:t>
    </dgm:pt>
    <dgm:pt modelId="{C7C0B635-A4A2-42A5-A90C-127895E0E8A6}">
      <dgm:prSet/>
      <dgm:spPr/>
      <dgm:t>
        <a:bodyPr/>
        <a:lstStyle/>
        <a:p>
          <a:r>
            <a:rPr lang="en-GB" dirty="0"/>
            <a:t>Statistical significance vs clinical significance </a:t>
          </a:r>
          <a:endParaRPr lang="en-US" dirty="0"/>
        </a:p>
      </dgm:t>
    </dgm:pt>
    <dgm:pt modelId="{F513BFB1-33AF-46C9-AB04-52A7DD0E9313}" type="parTrans" cxnId="{2AB6EB18-924D-41EC-9BBD-9F96937D634B}">
      <dgm:prSet/>
      <dgm:spPr/>
      <dgm:t>
        <a:bodyPr/>
        <a:lstStyle/>
        <a:p>
          <a:endParaRPr lang="en-US"/>
        </a:p>
      </dgm:t>
    </dgm:pt>
    <dgm:pt modelId="{B90F445B-6493-4D92-B3C7-7B14C16FF8EB}" type="sibTrans" cxnId="{2AB6EB18-924D-41EC-9BBD-9F96937D634B}">
      <dgm:prSet/>
      <dgm:spPr/>
      <dgm:t>
        <a:bodyPr/>
        <a:lstStyle/>
        <a:p>
          <a:endParaRPr lang="en-US"/>
        </a:p>
      </dgm:t>
    </dgm:pt>
    <dgm:pt modelId="{12123200-C8DF-45F6-A03A-AD2B841F542A}">
      <dgm:prSet/>
      <dgm:spPr/>
      <dgm:t>
        <a:bodyPr/>
        <a:lstStyle/>
        <a:p>
          <a:r>
            <a:rPr lang="en-GB" dirty="0"/>
            <a:t>Common statistical errors and misinterpretations in publications </a:t>
          </a:r>
          <a:endParaRPr lang="en-US" dirty="0"/>
        </a:p>
      </dgm:t>
    </dgm:pt>
    <dgm:pt modelId="{2A6ECB2F-9A05-4D06-A545-12C82F6AA341}" type="parTrans" cxnId="{917207C9-F961-4496-82E1-927A3959B8AC}">
      <dgm:prSet/>
      <dgm:spPr/>
      <dgm:t>
        <a:bodyPr/>
        <a:lstStyle/>
        <a:p>
          <a:endParaRPr lang="en-US"/>
        </a:p>
      </dgm:t>
    </dgm:pt>
    <dgm:pt modelId="{7FDA6168-A3BE-4640-A195-7424D5BA590B}" type="sibTrans" cxnId="{917207C9-F961-4496-82E1-927A3959B8AC}">
      <dgm:prSet/>
      <dgm:spPr/>
      <dgm:t>
        <a:bodyPr/>
        <a:lstStyle/>
        <a:p>
          <a:endParaRPr lang="en-US"/>
        </a:p>
      </dgm:t>
    </dgm:pt>
    <dgm:pt modelId="{1E528712-91E4-4F02-881E-CB2457C86E3B}" type="pres">
      <dgm:prSet presAssocID="{884A18E9-85C6-412D-A9C8-D32CFFA0D4C0}" presName="vert0" presStyleCnt="0">
        <dgm:presLayoutVars>
          <dgm:dir/>
          <dgm:animOne val="branch"/>
          <dgm:animLvl val="lvl"/>
        </dgm:presLayoutVars>
      </dgm:prSet>
      <dgm:spPr/>
    </dgm:pt>
    <dgm:pt modelId="{081D9846-7E3B-4AF2-9107-6AFDF470AEE9}" type="pres">
      <dgm:prSet presAssocID="{99EB1544-18C2-4DB9-8BB0-57BA34CD27F7}" presName="thickLine" presStyleLbl="alignNode1" presStyleIdx="0" presStyleCnt="10"/>
      <dgm:spPr/>
    </dgm:pt>
    <dgm:pt modelId="{FCCFBE00-82F3-4A49-B91B-1B172C3BB50B}" type="pres">
      <dgm:prSet presAssocID="{99EB1544-18C2-4DB9-8BB0-57BA34CD27F7}" presName="horz1" presStyleCnt="0"/>
      <dgm:spPr/>
    </dgm:pt>
    <dgm:pt modelId="{B99A43D5-8250-4D0F-9466-12581D6F0937}" type="pres">
      <dgm:prSet presAssocID="{99EB1544-18C2-4DB9-8BB0-57BA34CD27F7}" presName="tx1" presStyleLbl="revTx" presStyleIdx="0" presStyleCnt="10"/>
      <dgm:spPr/>
    </dgm:pt>
    <dgm:pt modelId="{049FF852-5474-4469-A3C1-AC9099A307AB}" type="pres">
      <dgm:prSet presAssocID="{99EB1544-18C2-4DB9-8BB0-57BA34CD27F7}" presName="vert1" presStyleCnt="0"/>
      <dgm:spPr/>
    </dgm:pt>
    <dgm:pt modelId="{E2ED6190-2DC1-4AD6-AB79-815344D96A80}" type="pres">
      <dgm:prSet presAssocID="{E998AC93-3A6D-45D3-87AB-BA3E916B9B94}" presName="thickLine" presStyleLbl="alignNode1" presStyleIdx="1" presStyleCnt="10"/>
      <dgm:spPr/>
    </dgm:pt>
    <dgm:pt modelId="{275F8066-9D90-45B3-9D71-F2924373C57D}" type="pres">
      <dgm:prSet presAssocID="{E998AC93-3A6D-45D3-87AB-BA3E916B9B94}" presName="horz1" presStyleCnt="0"/>
      <dgm:spPr/>
    </dgm:pt>
    <dgm:pt modelId="{685BBD68-5185-495A-A3A3-79BABE4A9F1B}" type="pres">
      <dgm:prSet presAssocID="{E998AC93-3A6D-45D3-87AB-BA3E916B9B94}" presName="tx1" presStyleLbl="revTx" presStyleIdx="1" presStyleCnt="10"/>
      <dgm:spPr/>
    </dgm:pt>
    <dgm:pt modelId="{0DEDDDEF-011C-405C-A829-05BB6C0CF298}" type="pres">
      <dgm:prSet presAssocID="{E998AC93-3A6D-45D3-87AB-BA3E916B9B94}" presName="vert1" presStyleCnt="0"/>
      <dgm:spPr/>
    </dgm:pt>
    <dgm:pt modelId="{F4BFC319-A8E2-4273-9D4A-4BD737475598}" type="pres">
      <dgm:prSet presAssocID="{EF02F7A4-0D6F-4E49-8653-F5762E7CA1D2}" presName="thickLine" presStyleLbl="alignNode1" presStyleIdx="2" presStyleCnt="10"/>
      <dgm:spPr/>
    </dgm:pt>
    <dgm:pt modelId="{6AA29362-263B-4D04-9674-740F2A32ED8B}" type="pres">
      <dgm:prSet presAssocID="{EF02F7A4-0D6F-4E49-8653-F5762E7CA1D2}" presName="horz1" presStyleCnt="0"/>
      <dgm:spPr/>
    </dgm:pt>
    <dgm:pt modelId="{8BFC0583-DD8A-4373-96B3-8EC5C5F3E8D0}" type="pres">
      <dgm:prSet presAssocID="{EF02F7A4-0D6F-4E49-8653-F5762E7CA1D2}" presName="tx1" presStyleLbl="revTx" presStyleIdx="2" presStyleCnt="10"/>
      <dgm:spPr/>
    </dgm:pt>
    <dgm:pt modelId="{FB0DE605-03D7-4276-B58C-827CD65EE4A5}" type="pres">
      <dgm:prSet presAssocID="{EF02F7A4-0D6F-4E49-8653-F5762E7CA1D2}" presName="vert1" presStyleCnt="0"/>
      <dgm:spPr/>
    </dgm:pt>
    <dgm:pt modelId="{C5FADF38-CC0C-4A0F-8612-13A3BBA5B3CF}" type="pres">
      <dgm:prSet presAssocID="{EE8BC51C-BF2B-4BB1-BD1F-42D1F7484DE8}" presName="thickLine" presStyleLbl="alignNode1" presStyleIdx="3" presStyleCnt="10"/>
      <dgm:spPr/>
    </dgm:pt>
    <dgm:pt modelId="{B43F8D68-1E9B-4848-A836-DCDB2E05B1CC}" type="pres">
      <dgm:prSet presAssocID="{EE8BC51C-BF2B-4BB1-BD1F-42D1F7484DE8}" presName="horz1" presStyleCnt="0"/>
      <dgm:spPr/>
    </dgm:pt>
    <dgm:pt modelId="{ED9970A8-10A5-49D8-B128-9FD594C2BF4B}" type="pres">
      <dgm:prSet presAssocID="{EE8BC51C-BF2B-4BB1-BD1F-42D1F7484DE8}" presName="tx1" presStyleLbl="revTx" presStyleIdx="3" presStyleCnt="10"/>
      <dgm:spPr/>
    </dgm:pt>
    <dgm:pt modelId="{9F2FE18C-6B74-41D5-B0EB-8729C28AC433}" type="pres">
      <dgm:prSet presAssocID="{EE8BC51C-BF2B-4BB1-BD1F-42D1F7484DE8}" presName="vert1" presStyleCnt="0"/>
      <dgm:spPr/>
    </dgm:pt>
    <dgm:pt modelId="{17E0A04E-3967-4907-A534-45B1CF429849}" type="pres">
      <dgm:prSet presAssocID="{C01B3FE1-B157-42E3-88D5-8BCF92DBCD7C}" presName="thickLine" presStyleLbl="alignNode1" presStyleIdx="4" presStyleCnt="10"/>
      <dgm:spPr/>
    </dgm:pt>
    <dgm:pt modelId="{0A2FB7CE-1342-4DAC-B1E0-3528D18A49E0}" type="pres">
      <dgm:prSet presAssocID="{C01B3FE1-B157-42E3-88D5-8BCF92DBCD7C}" presName="horz1" presStyleCnt="0"/>
      <dgm:spPr/>
    </dgm:pt>
    <dgm:pt modelId="{D3A4A2ED-30A7-4D70-8FF0-EA1D0CD36799}" type="pres">
      <dgm:prSet presAssocID="{C01B3FE1-B157-42E3-88D5-8BCF92DBCD7C}" presName="tx1" presStyleLbl="revTx" presStyleIdx="4" presStyleCnt="10"/>
      <dgm:spPr/>
    </dgm:pt>
    <dgm:pt modelId="{ABDE876E-FD55-41E0-8F33-85B9B7498BE6}" type="pres">
      <dgm:prSet presAssocID="{C01B3FE1-B157-42E3-88D5-8BCF92DBCD7C}" presName="vert1" presStyleCnt="0"/>
      <dgm:spPr/>
    </dgm:pt>
    <dgm:pt modelId="{BA4B921B-F360-4A85-A302-401093BAC80E}" type="pres">
      <dgm:prSet presAssocID="{0E742E0A-D029-4FD7-939D-59D9E8F15BA8}" presName="thickLine" presStyleLbl="alignNode1" presStyleIdx="5" presStyleCnt="10"/>
      <dgm:spPr/>
    </dgm:pt>
    <dgm:pt modelId="{FA476487-6B73-47A9-8334-13EDC8929E57}" type="pres">
      <dgm:prSet presAssocID="{0E742E0A-D029-4FD7-939D-59D9E8F15BA8}" presName="horz1" presStyleCnt="0"/>
      <dgm:spPr/>
    </dgm:pt>
    <dgm:pt modelId="{AD35B805-F9CE-4381-A04E-DB37B6D8E805}" type="pres">
      <dgm:prSet presAssocID="{0E742E0A-D029-4FD7-939D-59D9E8F15BA8}" presName="tx1" presStyleLbl="revTx" presStyleIdx="5" presStyleCnt="10"/>
      <dgm:spPr/>
    </dgm:pt>
    <dgm:pt modelId="{1EC8EFBE-A73E-482D-9EF3-13BF75A65306}" type="pres">
      <dgm:prSet presAssocID="{0E742E0A-D029-4FD7-939D-59D9E8F15BA8}" presName="vert1" presStyleCnt="0"/>
      <dgm:spPr/>
    </dgm:pt>
    <dgm:pt modelId="{00A4D0BB-BC04-4478-9969-2944E20B453F}" type="pres">
      <dgm:prSet presAssocID="{B9556CC3-8E5D-4A50-A435-A225764A04D4}" presName="thickLine" presStyleLbl="alignNode1" presStyleIdx="6" presStyleCnt="10"/>
      <dgm:spPr/>
    </dgm:pt>
    <dgm:pt modelId="{0A96EF8F-8AAF-41D4-886C-F166DCB6F853}" type="pres">
      <dgm:prSet presAssocID="{B9556CC3-8E5D-4A50-A435-A225764A04D4}" presName="horz1" presStyleCnt="0"/>
      <dgm:spPr/>
    </dgm:pt>
    <dgm:pt modelId="{3755D92A-7132-4AFF-9541-0BAB3FF1998A}" type="pres">
      <dgm:prSet presAssocID="{B9556CC3-8E5D-4A50-A435-A225764A04D4}" presName="tx1" presStyleLbl="revTx" presStyleIdx="6" presStyleCnt="10"/>
      <dgm:spPr/>
    </dgm:pt>
    <dgm:pt modelId="{57E9F81D-9A19-4E22-99EA-179704DBAD84}" type="pres">
      <dgm:prSet presAssocID="{B9556CC3-8E5D-4A50-A435-A225764A04D4}" presName="vert1" presStyleCnt="0"/>
      <dgm:spPr/>
    </dgm:pt>
    <dgm:pt modelId="{299BCA57-D8B4-4758-8163-591111C888B3}" type="pres">
      <dgm:prSet presAssocID="{5CF7D1CE-2FE3-4177-8CAA-1E8F6A327893}" presName="thickLine" presStyleLbl="alignNode1" presStyleIdx="7" presStyleCnt="10"/>
      <dgm:spPr/>
    </dgm:pt>
    <dgm:pt modelId="{0F2AD60F-6E40-400B-BAD3-2F018D1DC04E}" type="pres">
      <dgm:prSet presAssocID="{5CF7D1CE-2FE3-4177-8CAA-1E8F6A327893}" presName="horz1" presStyleCnt="0"/>
      <dgm:spPr/>
    </dgm:pt>
    <dgm:pt modelId="{7C291711-3556-43C1-8C66-D11D7E3DDA92}" type="pres">
      <dgm:prSet presAssocID="{5CF7D1CE-2FE3-4177-8CAA-1E8F6A327893}" presName="tx1" presStyleLbl="revTx" presStyleIdx="7" presStyleCnt="10"/>
      <dgm:spPr/>
    </dgm:pt>
    <dgm:pt modelId="{BE48EEE5-854A-4B95-86FD-6F4F0816A9E3}" type="pres">
      <dgm:prSet presAssocID="{5CF7D1CE-2FE3-4177-8CAA-1E8F6A327893}" presName="vert1" presStyleCnt="0"/>
      <dgm:spPr/>
    </dgm:pt>
    <dgm:pt modelId="{E2BE1AC8-5E72-4C81-98E7-E065E3CF3CD7}" type="pres">
      <dgm:prSet presAssocID="{C7C0B635-A4A2-42A5-A90C-127895E0E8A6}" presName="thickLine" presStyleLbl="alignNode1" presStyleIdx="8" presStyleCnt="10"/>
      <dgm:spPr/>
    </dgm:pt>
    <dgm:pt modelId="{650FF9CD-4424-4791-9EF1-D2EE302DFCFC}" type="pres">
      <dgm:prSet presAssocID="{C7C0B635-A4A2-42A5-A90C-127895E0E8A6}" presName="horz1" presStyleCnt="0"/>
      <dgm:spPr/>
    </dgm:pt>
    <dgm:pt modelId="{247B6BDD-9644-44BB-89CC-A2C0F611F1F8}" type="pres">
      <dgm:prSet presAssocID="{C7C0B635-A4A2-42A5-A90C-127895E0E8A6}" presName="tx1" presStyleLbl="revTx" presStyleIdx="8" presStyleCnt="10"/>
      <dgm:spPr/>
    </dgm:pt>
    <dgm:pt modelId="{BBEF1C3D-D0DE-499D-885A-210A42C153A8}" type="pres">
      <dgm:prSet presAssocID="{C7C0B635-A4A2-42A5-A90C-127895E0E8A6}" presName="vert1" presStyleCnt="0"/>
      <dgm:spPr/>
    </dgm:pt>
    <dgm:pt modelId="{F31E0069-B596-4470-A7A3-FA9224ECE57A}" type="pres">
      <dgm:prSet presAssocID="{12123200-C8DF-45F6-A03A-AD2B841F542A}" presName="thickLine" presStyleLbl="alignNode1" presStyleIdx="9" presStyleCnt="10"/>
      <dgm:spPr/>
    </dgm:pt>
    <dgm:pt modelId="{D1C0D307-9AE3-4300-9198-2D107858A2DA}" type="pres">
      <dgm:prSet presAssocID="{12123200-C8DF-45F6-A03A-AD2B841F542A}" presName="horz1" presStyleCnt="0"/>
      <dgm:spPr/>
    </dgm:pt>
    <dgm:pt modelId="{3575C5E1-D2A0-49A8-8CAB-4774E8F9F4D5}" type="pres">
      <dgm:prSet presAssocID="{12123200-C8DF-45F6-A03A-AD2B841F542A}" presName="tx1" presStyleLbl="revTx" presStyleIdx="9" presStyleCnt="10"/>
      <dgm:spPr/>
    </dgm:pt>
    <dgm:pt modelId="{4FD2D290-9B5A-43B2-92BA-1868434EF411}" type="pres">
      <dgm:prSet presAssocID="{12123200-C8DF-45F6-A03A-AD2B841F542A}" presName="vert1" presStyleCnt="0"/>
      <dgm:spPr/>
    </dgm:pt>
  </dgm:ptLst>
  <dgm:cxnLst>
    <dgm:cxn modelId="{40298B0B-B2AC-47BC-AF0F-90A56FFDAB1A}" type="presOf" srcId="{884A18E9-85C6-412D-A9C8-D32CFFA0D4C0}" destId="{1E528712-91E4-4F02-881E-CB2457C86E3B}" srcOrd="0" destOrd="0" presId="urn:microsoft.com/office/officeart/2008/layout/LinedList"/>
    <dgm:cxn modelId="{25DB2916-18B8-4EA8-8844-134E4B114E47}" srcId="{884A18E9-85C6-412D-A9C8-D32CFFA0D4C0}" destId="{5CF7D1CE-2FE3-4177-8CAA-1E8F6A327893}" srcOrd="7" destOrd="0" parTransId="{C492D3C5-F8F6-4010-BA97-74C632B24CC2}" sibTransId="{FCE9A2EE-822E-489C-8A14-6DEF0CAFEEC9}"/>
    <dgm:cxn modelId="{2AB6EB18-924D-41EC-9BBD-9F96937D634B}" srcId="{884A18E9-85C6-412D-A9C8-D32CFFA0D4C0}" destId="{C7C0B635-A4A2-42A5-A90C-127895E0E8A6}" srcOrd="8" destOrd="0" parTransId="{F513BFB1-33AF-46C9-AB04-52A7DD0E9313}" sibTransId="{B90F445B-6493-4D92-B3C7-7B14C16FF8EB}"/>
    <dgm:cxn modelId="{65D1F418-DBD0-40DC-B9B8-8ECD92C146DB}" type="presOf" srcId="{EE8BC51C-BF2B-4BB1-BD1F-42D1F7484DE8}" destId="{ED9970A8-10A5-49D8-B128-9FD594C2BF4B}" srcOrd="0" destOrd="0" presId="urn:microsoft.com/office/officeart/2008/layout/LinedList"/>
    <dgm:cxn modelId="{0565321E-D4C8-49EB-A1F2-6448F69BD947}" srcId="{884A18E9-85C6-412D-A9C8-D32CFFA0D4C0}" destId="{E998AC93-3A6D-45D3-87AB-BA3E916B9B94}" srcOrd="1" destOrd="0" parTransId="{4522BC4F-C668-444D-8447-741CC84B4D55}" sibTransId="{59AB3631-08F0-488B-A74C-92EDF7C17B90}"/>
    <dgm:cxn modelId="{DF6B0063-8167-40D7-A053-AAEDFE56FBBB}" srcId="{884A18E9-85C6-412D-A9C8-D32CFFA0D4C0}" destId="{C01B3FE1-B157-42E3-88D5-8BCF92DBCD7C}" srcOrd="4" destOrd="0" parTransId="{B6368FE7-CA0C-46E5-8BB6-860123FEC28A}" sibTransId="{C8CEE17C-CFC4-4981-8B28-1DFC476B7D21}"/>
    <dgm:cxn modelId="{18BB1F43-B67F-400B-9691-253B142374C3}" srcId="{884A18E9-85C6-412D-A9C8-D32CFFA0D4C0}" destId="{EF02F7A4-0D6F-4E49-8653-F5762E7CA1D2}" srcOrd="2" destOrd="0" parTransId="{2C565254-289C-4BEB-B031-9AADBB117BE4}" sibTransId="{DA514508-F6DE-4811-8189-80112EFAF4F1}"/>
    <dgm:cxn modelId="{017CAA6C-8436-4931-9CF0-5BE14F32D14D}" type="presOf" srcId="{E998AC93-3A6D-45D3-87AB-BA3E916B9B94}" destId="{685BBD68-5185-495A-A3A3-79BABE4A9F1B}" srcOrd="0" destOrd="0" presId="urn:microsoft.com/office/officeart/2008/layout/LinedList"/>
    <dgm:cxn modelId="{503E794E-E59F-4102-AF6C-80CF7725727E}" type="presOf" srcId="{0E742E0A-D029-4FD7-939D-59D9E8F15BA8}" destId="{AD35B805-F9CE-4381-A04E-DB37B6D8E805}" srcOrd="0" destOrd="0" presId="urn:microsoft.com/office/officeart/2008/layout/LinedList"/>
    <dgm:cxn modelId="{DD59B27A-CA85-4708-AFA0-4446C7614E68}" type="presOf" srcId="{EF02F7A4-0D6F-4E49-8653-F5762E7CA1D2}" destId="{8BFC0583-DD8A-4373-96B3-8EC5C5F3E8D0}" srcOrd="0" destOrd="0" presId="urn:microsoft.com/office/officeart/2008/layout/LinedList"/>
    <dgm:cxn modelId="{37A16982-50A5-4766-89F8-EC9CD2D63B84}" type="presOf" srcId="{5CF7D1CE-2FE3-4177-8CAA-1E8F6A327893}" destId="{7C291711-3556-43C1-8C66-D11D7E3DDA92}" srcOrd="0" destOrd="0" presId="urn:microsoft.com/office/officeart/2008/layout/LinedList"/>
    <dgm:cxn modelId="{778ED085-8E4A-4E43-AB80-36159B3BFAC1}" srcId="{884A18E9-85C6-412D-A9C8-D32CFFA0D4C0}" destId="{B9556CC3-8E5D-4A50-A435-A225764A04D4}" srcOrd="6" destOrd="0" parTransId="{A82E67F5-947D-464A-9349-16D08AA80B0A}" sibTransId="{C6F04E0D-1ED5-4F5A-A6B8-A15115EA64EF}"/>
    <dgm:cxn modelId="{08F7EB91-1ECC-4DDB-A59D-0A0A5944EAFA}" srcId="{884A18E9-85C6-412D-A9C8-D32CFFA0D4C0}" destId="{0E742E0A-D029-4FD7-939D-59D9E8F15BA8}" srcOrd="5" destOrd="0" parTransId="{4C8F8295-934D-46C3-9686-1BE9768B1CDC}" sibTransId="{7C44F439-33E5-496A-AC6E-F4BDBCA9EE79}"/>
    <dgm:cxn modelId="{07E009B3-2905-431C-9062-638F472AD966}" type="presOf" srcId="{B9556CC3-8E5D-4A50-A435-A225764A04D4}" destId="{3755D92A-7132-4AFF-9541-0BAB3FF1998A}" srcOrd="0" destOrd="0" presId="urn:microsoft.com/office/officeart/2008/layout/LinedList"/>
    <dgm:cxn modelId="{AD84E7B7-7213-416F-B503-A21A0C817EA1}" srcId="{884A18E9-85C6-412D-A9C8-D32CFFA0D4C0}" destId="{99EB1544-18C2-4DB9-8BB0-57BA34CD27F7}" srcOrd="0" destOrd="0" parTransId="{FCA04CC2-AB5C-4505-8024-45BAD99E8BA5}" sibTransId="{6506BBC4-4526-41EC-8ABA-F05F5A763486}"/>
    <dgm:cxn modelId="{A06581BB-C54A-4070-A7BD-D0785C35F93E}" srcId="{884A18E9-85C6-412D-A9C8-D32CFFA0D4C0}" destId="{EE8BC51C-BF2B-4BB1-BD1F-42D1F7484DE8}" srcOrd="3" destOrd="0" parTransId="{EABD10F4-8414-4FB0-B449-ABA5AFF1B042}" sibTransId="{D66D38EC-9DE8-4BB0-8A2D-AF2CAA5046F3}"/>
    <dgm:cxn modelId="{917207C9-F961-4496-82E1-927A3959B8AC}" srcId="{884A18E9-85C6-412D-A9C8-D32CFFA0D4C0}" destId="{12123200-C8DF-45F6-A03A-AD2B841F542A}" srcOrd="9" destOrd="0" parTransId="{2A6ECB2F-9A05-4D06-A545-12C82F6AA341}" sibTransId="{7FDA6168-A3BE-4640-A195-7424D5BA590B}"/>
    <dgm:cxn modelId="{3C3285D6-BD9B-4B93-BA4F-4F1295158B0F}" type="presOf" srcId="{C7C0B635-A4A2-42A5-A90C-127895E0E8A6}" destId="{247B6BDD-9644-44BB-89CC-A2C0F611F1F8}" srcOrd="0" destOrd="0" presId="urn:microsoft.com/office/officeart/2008/layout/LinedList"/>
    <dgm:cxn modelId="{33940CE0-7362-4469-B17D-790723A6C097}" type="presOf" srcId="{99EB1544-18C2-4DB9-8BB0-57BA34CD27F7}" destId="{B99A43D5-8250-4D0F-9466-12581D6F0937}" srcOrd="0" destOrd="0" presId="urn:microsoft.com/office/officeart/2008/layout/LinedList"/>
    <dgm:cxn modelId="{70BC3CE0-BF5F-4F7A-B360-326A070B733A}" type="presOf" srcId="{12123200-C8DF-45F6-A03A-AD2B841F542A}" destId="{3575C5E1-D2A0-49A8-8CAB-4774E8F9F4D5}" srcOrd="0" destOrd="0" presId="urn:microsoft.com/office/officeart/2008/layout/LinedList"/>
    <dgm:cxn modelId="{5935DFFF-F055-486E-AC6B-A103219FBF89}" type="presOf" srcId="{C01B3FE1-B157-42E3-88D5-8BCF92DBCD7C}" destId="{D3A4A2ED-30A7-4D70-8FF0-EA1D0CD36799}" srcOrd="0" destOrd="0" presId="urn:microsoft.com/office/officeart/2008/layout/LinedList"/>
    <dgm:cxn modelId="{A7CA05DD-22E7-474C-AD42-9EAAF6B04E15}" type="presParOf" srcId="{1E528712-91E4-4F02-881E-CB2457C86E3B}" destId="{081D9846-7E3B-4AF2-9107-6AFDF470AEE9}" srcOrd="0" destOrd="0" presId="urn:microsoft.com/office/officeart/2008/layout/LinedList"/>
    <dgm:cxn modelId="{5790BDEA-1CAF-4122-9F11-E7676C7D37E5}" type="presParOf" srcId="{1E528712-91E4-4F02-881E-CB2457C86E3B}" destId="{FCCFBE00-82F3-4A49-B91B-1B172C3BB50B}" srcOrd="1" destOrd="0" presId="urn:microsoft.com/office/officeart/2008/layout/LinedList"/>
    <dgm:cxn modelId="{415EB22B-BECE-4AA2-AE6C-2E6CD5437E31}" type="presParOf" srcId="{FCCFBE00-82F3-4A49-B91B-1B172C3BB50B}" destId="{B99A43D5-8250-4D0F-9466-12581D6F0937}" srcOrd="0" destOrd="0" presId="urn:microsoft.com/office/officeart/2008/layout/LinedList"/>
    <dgm:cxn modelId="{659E5468-ADB8-43E6-ADD6-1F3290EB0940}" type="presParOf" srcId="{FCCFBE00-82F3-4A49-B91B-1B172C3BB50B}" destId="{049FF852-5474-4469-A3C1-AC9099A307AB}" srcOrd="1" destOrd="0" presId="urn:microsoft.com/office/officeart/2008/layout/LinedList"/>
    <dgm:cxn modelId="{DB2819DA-6BB1-4394-8299-E000CEA0FDFB}" type="presParOf" srcId="{1E528712-91E4-4F02-881E-CB2457C86E3B}" destId="{E2ED6190-2DC1-4AD6-AB79-815344D96A80}" srcOrd="2" destOrd="0" presId="urn:microsoft.com/office/officeart/2008/layout/LinedList"/>
    <dgm:cxn modelId="{AE96E27B-FF10-4B0E-81B6-FF71395A4AC5}" type="presParOf" srcId="{1E528712-91E4-4F02-881E-CB2457C86E3B}" destId="{275F8066-9D90-45B3-9D71-F2924373C57D}" srcOrd="3" destOrd="0" presId="urn:microsoft.com/office/officeart/2008/layout/LinedList"/>
    <dgm:cxn modelId="{36CD9C7E-43CE-4F5A-BF75-5937C8EBCD66}" type="presParOf" srcId="{275F8066-9D90-45B3-9D71-F2924373C57D}" destId="{685BBD68-5185-495A-A3A3-79BABE4A9F1B}" srcOrd="0" destOrd="0" presId="urn:microsoft.com/office/officeart/2008/layout/LinedList"/>
    <dgm:cxn modelId="{9FAD04F0-5AE0-447E-9B68-514241EBCFB2}" type="presParOf" srcId="{275F8066-9D90-45B3-9D71-F2924373C57D}" destId="{0DEDDDEF-011C-405C-A829-05BB6C0CF298}" srcOrd="1" destOrd="0" presId="urn:microsoft.com/office/officeart/2008/layout/LinedList"/>
    <dgm:cxn modelId="{154535CB-3745-4093-BCCF-D9A936BF48D7}" type="presParOf" srcId="{1E528712-91E4-4F02-881E-CB2457C86E3B}" destId="{F4BFC319-A8E2-4273-9D4A-4BD737475598}" srcOrd="4" destOrd="0" presId="urn:microsoft.com/office/officeart/2008/layout/LinedList"/>
    <dgm:cxn modelId="{C1D9DA04-0A02-4ECA-A688-502556E327FE}" type="presParOf" srcId="{1E528712-91E4-4F02-881E-CB2457C86E3B}" destId="{6AA29362-263B-4D04-9674-740F2A32ED8B}" srcOrd="5" destOrd="0" presId="urn:microsoft.com/office/officeart/2008/layout/LinedList"/>
    <dgm:cxn modelId="{3C24165D-576F-42B0-BDDB-8726182A7B26}" type="presParOf" srcId="{6AA29362-263B-4D04-9674-740F2A32ED8B}" destId="{8BFC0583-DD8A-4373-96B3-8EC5C5F3E8D0}" srcOrd="0" destOrd="0" presId="urn:microsoft.com/office/officeart/2008/layout/LinedList"/>
    <dgm:cxn modelId="{56DBC3BE-E726-4BD6-9C5F-60B00C9611EF}" type="presParOf" srcId="{6AA29362-263B-4D04-9674-740F2A32ED8B}" destId="{FB0DE605-03D7-4276-B58C-827CD65EE4A5}" srcOrd="1" destOrd="0" presId="urn:microsoft.com/office/officeart/2008/layout/LinedList"/>
    <dgm:cxn modelId="{008110CD-03D4-4440-A7C2-B89C58D5A562}" type="presParOf" srcId="{1E528712-91E4-4F02-881E-CB2457C86E3B}" destId="{C5FADF38-CC0C-4A0F-8612-13A3BBA5B3CF}" srcOrd="6" destOrd="0" presId="urn:microsoft.com/office/officeart/2008/layout/LinedList"/>
    <dgm:cxn modelId="{9EC8B580-21C9-460D-945D-EA4B40879844}" type="presParOf" srcId="{1E528712-91E4-4F02-881E-CB2457C86E3B}" destId="{B43F8D68-1E9B-4848-A836-DCDB2E05B1CC}" srcOrd="7" destOrd="0" presId="urn:microsoft.com/office/officeart/2008/layout/LinedList"/>
    <dgm:cxn modelId="{892F30D9-FCBF-4F10-8526-827E341ED689}" type="presParOf" srcId="{B43F8D68-1E9B-4848-A836-DCDB2E05B1CC}" destId="{ED9970A8-10A5-49D8-B128-9FD594C2BF4B}" srcOrd="0" destOrd="0" presId="urn:microsoft.com/office/officeart/2008/layout/LinedList"/>
    <dgm:cxn modelId="{8F4E096A-6196-4EED-8E8A-49EB2341AEDD}" type="presParOf" srcId="{B43F8D68-1E9B-4848-A836-DCDB2E05B1CC}" destId="{9F2FE18C-6B74-41D5-B0EB-8729C28AC433}" srcOrd="1" destOrd="0" presId="urn:microsoft.com/office/officeart/2008/layout/LinedList"/>
    <dgm:cxn modelId="{373A44F5-C55D-411B-9669-294EF93F9DBE}" type="presParOf" srcId="{1E528712-91E4-4F02-881E-CB2457C86E3B}" destId="{17E0A04E-3967-4907-A534-45B1CF429849}" srcOrd="8" destOrd="0" presId="urn:microsoft.com/office/officeart/2008/layout/LinedList"/>
    <dgm:cxn modelId="{9A5ACAE1-EC8E-4425-94BB-4F150305D810}" type="presParOf" srcId="{1E528712-91E4-4F02-881E-CB2457C86E3B}" destId="{0A2FB7CE-1342-4DAC-B1E0-3528D18A49E0}" srcOrd="9" destOrd="0" presId="urn:microsoft.com/office/officeart/2008/layout/LinedList"/>
    <dgm:cxn modelId="{51927A23-5D47-4CBF-830B-F3430D722917}" type="presParOf" srcId="{0A2FB7CE-1342-4DAC-B1E0-3528D18A49E0}" destId="{D3A4A2ED-30A7-4D70-8FF0-EA1D0CD36799}" srcOrd="0" destOrd="0" presId="urn:microsoft.com/office/officeart/2008/layout/LinedList"/>
    <dgm:cxn modelId="{92997C7E-2C62-4328-9B79-6182E0C06400}" type="presParOf" srcId="{0A2FB7CE-1342-4DAC-B1E0-3528D18A49E0}" destId="{ABDE876E-FD55-41E0-8F33-85B9B7498BE6}" srcOrd="1" destOrd="0" presId="urn:microsoft.com/office/officeart/2008/layout/LinedList"/>
    <dgm:cxn modelId="{178400C7-F262-4FED-9080-7C4151470464}" type="presParOf" srcId="{1E528712-91E4-4F02-881E-CB2457C86E3B}" destId="{BA4B921B-F360-4A85-A302-401093BAC80E}" srcOrd="10" destOrd="0" presId="urn:microsoft.com/office/officeart/2008/layout/LinedList"/>
    <dgm:cxn modelId="{7DB6E1E5-0E76-4B54-B86A-DE8206C990A5}" type="presParOf" srcId="{1E528712-91E4-4F02-881E-CB2457C86E3B}" destId="{FA476487-6B73-47A9-8334-13EDC8929E57}" srcOrd="11" destOrd="0" presId="urn:microsoft.com/office/officeart/2008/layout/LinedList"/>
    <dgm:cxn modelId="{D97FD712-7202-45BA-9E6D-2368B1B43562}" type="presParOf" srcId="{FA476487-6B73-47A9-8334-13EDC8929E57}" destId="{AD35B805-F9CE-4381-A04E-DB37B6D8E805}" srcOrd="0" destOrd="0" presId="urn:microsoft.com/office/officeart/2008/layout/LinedList"/>
    <dgm:cxn modelId="{8CA9532F-94B7-44D6-802D-BE23AA2B5EAA}" type="presParOf" srcId="{FA476487-6B73-47A9-8334-13EDC8929E57}" destId="{1EC8EFBE-A73E-482D-9EF3-13BF75A65306}" srcOrd="1" destOrd="0" presId="urn:microsoft.com/office/officeart/2008/layout/LinedList"/>
    <dgm:cxn modelId="{B482A04A-811D-4D37-93A9-52A8F039BE2D}" type="presParOf" srcId="{1E528712-91E4-4F02-881E-CB2457C86E3B}" destId="{00A4D0BB-BC04-4478-9969-2944E20B453F}" srcOrd="12" destOrd="0" presId="urn:microsoft.com/office/officeart/2008/layout/LinedList"/>
    <dgm:cxn modelId="{51523AAC-90DC-4C53-9FEB-2BAF173B6EDD}" type="presParOf" srcId="{1E528712-91E4-4F02-881E-CB2457C86E3B}" destId="{0A96EF8F-8AAF-41D4-886C-F166DCB6F853}" srcOrd="13" destOrd="0" presId="urn:microsoft.com/office/officeart/2008/layout/LinedList"/>
    <dgm:cxn modelId="{2774B52B-8F72-4D44-AF2C-2C227BBE4FD7}" type="presParOf" srcId="{0A96EF8F-8AAF-41D4-886C-F166DCB6F853}" destId="{3755D92A-7132-4AFF-9541-0BAB3FF1998A}" srcOrd="0" destOrd="0" presId="urn:microsoft.com/office/officeart/2008/layout/LinedList"/>
    <dgm:cxn modelId="{1CFF7ADA-2042-4E31-8324-F67C17AD2C02}" type="presParOf" srcId="{0A96EF8F-8AAF-41D4-886C-F166DCB6F853}" destId="{57E9F81D-9A19-4E22-99EA-179704DBAD84}" srcOrd="1" destOrd="0" presId="urn:microsoft.com/office/officeart/2008/layout/LinedList"/>
    <dgm:cxn modelId="{F132BF49-0CE5-4043-B155-B48B35C33458}" type="presParOf" srcId="{1E528712-91E4-4F02-881E-CB2457C86E3B}" destId="{299BCA57-D8B4-4758-8163-591111C888B3}" srcOrd="14" destOrd="0" presId="urn:microsoft.com/office/officeart/2008/layout/LinedList"/>
    <dgm:cxn modelId="{1FA537F8-7856-45D9-8BED-2D8B4F35EEC4}" type="presParOf" srcId="{1E528712-91E4-4F02-881E-CB2457C86E3B}" destId="{0F2AD60F-6E40-400B-BAD3-2F018D1DC04E}" srcOrd="15" destOrd="0" presId="urn:microsoft.com/office/officeart/2008/layout/LinedList"/>
    <dgm:cxn modelId="{13E42E0D-F0ED-4C70-9A8F-CCB7E8A19295}" type="presParOf" srcId="{0F2AD60F-6E40-400B-BAD3-2F018D1DC04E}" destId="{7C291711-3556-43C1-8C66-D11D7E3DDA92}" srcOrd="0" destOrd="0" presId="urn:microsoft.com/office/officeart/2008/layout/LinedList"/>
    <dgm:cxn modelId="{648961AB-57BA-476C-AE7B-45F4CD6A3D88}" type="presParOf" srcId="{0F2AD60F-6E40-400B-BAD3-2F018D1DC04E}" destId="{BE48EEE5-854A-4B95-86FD-6F4F0816A9E3}" srcOrd="1" destOrd="0" presId="urn:microsoft.com/office/officeart/2008/layout/LinedList"/>
    <dgm:cxn modelId="{EC922CEE-8568-47BB-9C66-4D5C176F4165}" type="presParOf" srcId="{1E528712-91E4-4F02-881E-CB2457C86E3B}" destId="{E2BE1AC8-5E72-4C81-98E7-E065E3CF3CD7}" srcOrd="16" destOrd="0" presId="urn:microsoft.com/office/officeart/2008/layout/LinedList"/>
    <dgm:cxn modelId="{C73A1BDB-FAF1-49F8-A592-62226A422375}" type="presParOf" srcId="{1E528712-91E4-4F02-881E-CB2457C86E3B}" destId="{650FF9CD-4424-4791-9EF1-D2EE302DFCFC}" srcOrd="17" destOrd="0" presId="urn:microsoft.com/office/officeart/2008/layout/LinedList"/>
    <dgm:cxn modelId="{DF738AF5-C38A-4457-B31D-C6735781181F}" type="presParOf" srcId="{650FF9CD-4424-4791-9EF1-D2EE302DFCFC}" destId="{247B6BDD-9644-44BB-89CC-A2C0F611F1F8}" srcOrd="0" destOrd="0" presId="urn:microsoft.com/office/officeart/2008/layout/LinedList"/>
    <dgm:cxn modelId="{5247B060-7ED3-4E31-BA0B-100732B96DAA}" type="presParOf" srcId="{650FF9CD-4424-4791-9EF1-D2EE302DFCFC}" destId="{BBEF1C3D-D0DE-499D-885A-210A42C153A8}" srcOrd="1" destOrd="0" presId="urn:microsoft.com/office/officeart/2008/layout/LinedList"/>
    <dgm:cxn modelId="{19F4070E-1D41-4E6D-80E5-C6C5D0805860}" type="presParOf" srcId="{1E528712-91E4-4F02-881E-CB2457C86E3B}" destId="{F31E0069-B596-4470-A7A3-FA9224ECE57A}" srcOrd="18" destOrd="0" presId="urn:microsoft.com/office/officeart/2008/layout/LinedList"/>
    <dgm:cxn modelId="{94B980A3-78AA-43A0-920F-775D6B083FBE}" type="presParOf" srcId="{1E528712-91E4-4F02-881E-CB2457C86E3B}" destId="{D1C0D307-9AE3-4300-9198-2D107858A2DA}" srcOrd="19" destOrd="0" presId="urn:microsoft.com/office/officeart/2008/layout/LinedList"/>
    <dgm:cxn modelId="{9166CDDE-F7B4-491F-B159-CC349149FD9F}" type="presParOf" srcId="{D1C0D307-9AE3-4300-9198-2D107858A2DA}" destId="{3575C5E1-D2A0-49A8-8CAB-4774E8F9F4D5}" srcOrd="0" destOrd="0" presId="urn:microsoft.com/office/officeart/2008/layout/LinedList"/>
    <dgm:cxn modelId="{9A59C67B-DF68-4D99-9217-8B80020B34E0}" type="presParOf" srcId="{D1C0D307-9AE3-4300-9198-2D107858A2DA}" destId="{4FD2D290-9B5A-43B2-92BA-1868434EF4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D9846-7E3B-4AF2-9107-6AFDF470AEE9}">
      <dsp:nvSpPr>
        <dsp:cNvPr id="0" name=""/>
        <dsp:cNvSpPr/>
      </dsp:nvSpPr>
      <dsp:spPr>
        <a:xfrm>
          <a:off x="0" y="742"/>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9A43D5-8250-4D0F-9466-12581D6F0937}">
      <dsp:nvSpPr>
        <dsp:cNvPr id="0" name=""/>
        <dsp:cNvSpPr/>
      </dsp:nvSpPr>
      <dsp:spPr>
        <a:xfrm>
          <a:off x="0" y="742"/>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What is statistical analysis and why we use it </a:t>
          </a:r>
          <a:endParaRPr lang="en-US" sz="2900" kern="1200" dirty="0"/>
        </a:p>
      </dsp:txBody>
      <dsp:txXfrm>
        <a:off x="0" y="742"/>
        <a:ext cx="15773400" cy="608148"/>
      </dsp:txXfrm>
    </dsp:sp>
    <dsp:sp modelId="{E2ED6190-2DC1-4AD6-AB79-815344D96A80}">
      <dsp:nvSpPr>
        <dsp:cNvPr id="0" name=""/>
        <dsp:cNvSpPr/>
      </dsp:nvSpPr>
      <dsp:spPr>
        <a:xfrm>
          <a:off x="0" y="608890"/>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5BBD68-5185-495A-A3A3-79BABE4A9F1B}">
      <dsp:nvSpPr>
        <dsp:cNvPr id="0" name=""/>
        <dsp:cNvSpPr/>
      </dsp:nvSpPr>
      <dsp:spPr>
        <a:xfrm>
          <a:off x="0" y="608890"/>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Introduction to Jamovi interface </a:t>
          </a:r>
          <a:endParaRPr lang="en-US" sz="2900" kern="1200" dirty="0"/>
        </a:p>
      </dsp:txBody>
      <dsp:txXfrm>
        <a:off x="0" y="608890"/>
        <a:ext cx="15773400" cy="608148"/>
      </dsp:txXfrm>
    </dsp:sp>
    <dsp:sp modelId="{F4BFC319-A8E2-4273-9D4A-4BD737475598}">
      <dsp:nvSpPr>
        <dsp:cNvPr id="0" name=""/>
        <dsp:cNvSpPr/>
      </dsp:nvSpPr>
      <dsp:spPr>
        <a:xfrm>
          <a:off x="0" y="1217039"/>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FC0583-DD8A-4373-96B3-8EC5C5F3E8D0}">
      <dsp:nvSpPr>
        <dsp:cNvPr id="0" name=""/>
        <dsp:cNvSpPr/>
      </dsp:nvSpPr>
      <dsp:spPr>
        <a:xfrm>
          <a:off x="0" y="1217039"/>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Data entry and variable types </a:t>
          </a:r>
          <a:endParaRPr lang="en-US" sz="2900" kern="1200" dirty="0"/>
        </a:p>
      </dsp:txBody>
      <dsp:txXfrm>
        <a:off x="0" y="1217039"/>
        <a:ext cx="15773400" cy="608148"/>
      </dsp:txXfrm>
    </dsp:sp>
    <dsp:sp modelId="{C5FADF38-CC0C-4A0F-8612-13A3BBA5B3CF}">
      <dsp:nvSpPr>
        <dsp:cNvPr id="0" name=""/>
        <dsp:cNvSpPr/>
      </dsp:nvSpPr>
      <dsp:spPr>
        <a:xfrm>
          <a:off x="0" y="1825187"/>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9970A8-10A5-49D8-B128-9FD594C2BF4B}">
      <dsp:nvSpPr>
        <dsp:cNvPr id="0" name=""/>
        <dsp:cNvSpPr/>
      </dsp:nvSpPr>
      <dsp:spPr>
        <a:xfrm>
          <a:off x="0" y="1825187"/>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Descriptive statistics (Mean, median, mode, standard deviation, f</a:t>
          </a:r>
          <a:r>
            <a:rPr lang="en-GB" sz="2900" kern="1200" dirty="0">
              <a:solidFill>
                <a:schemeClr val="tx1"/>
              </a:solidFill>
            </a:rPr>
            <a:t>requencies) </a:t>
          </a:r>
          <a:endParaRPr lang="en-US" sz="2900" kern="1200" dirty="0">
            <a:solidFill>
              <a:schemeClr val="tx1"/>
            </a:solidFill>
          </a:endParaRPr>
        </a:p>
      </dsp:txBody>
      <dsp:txXfrm>
        <a:off x="0" y="1825187"/>
        <a:ext cx="15773400" cy="608148"/>
      </dsp:txXfrm>
    </dsp:sp>
    <dsp:sp modelId="{17E0A04E-3967-4907-A534-45B1CF429849}">
      <dsp:nvSpPr>
        <dsp:cNvPr id="0" name=""/>
        <dsp:cNvSpPr/>
      </dsp:nvSpPr>
      <dsp:spPr>
        <a:xfrm>
          <a:off x="0" y="2433335"/>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A4A2ED-30A7-4D70-8FF0-EA1D0CD36799}">
      <dsp:nvSpPr>
        <dsp:cNvPr id="0" name=""/>
        <dsp:cNvSpPr/>
      </dsp:nvSpPr>
      <dsp:spPr>
        <a:xfrm>
          <a:off x="0" y="2433335"/>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Data checking and cleaning (basic)</a:t>
          </a:r>
          <a:endParaRPr lang="en-US" sz="2900" kern="1200" dirty="0"/>
        </a:p>
      </dsp:txBody>
      <dsp:txXfrm>
        <a:off x="0" y="2433335"/>
        <a:ext cx="15773400" cy="608148"/>
      </dsp:txXfrm>
    </dsp:sp>
    <dsp:sp modelId="{BA4B921B-F360-4A85-A302-401093BAC80E}">
      <dsp:nvSpPr>
        <dsp:cNvPr id="0" name=""/>
        <dsp:cNvSpPr/>
      </dsp:nvSpPr>
      <dsp:spPr>
        <a:xfrm>
          <a:off x="0" y="3041483"/>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35B805-F9CE-4381-A04E-DB37B6D8E805}">
      <dsp:nvSpPr>
        <dsp:cNvPr id="0" name=""/>
        <dsp:cNvSpPr/>
      </dsp:nvSpPr>
      <dsp:spPr>
        <a:xfrm>
          <a:off x="0" y="3041484"/>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Purpose of inferential statistics</a:t>
          </a:r>
          <a:endParaRPr lang="en-US" sz="2900" kern="1200" dirty="0"/>
        </a:p>
      </dsp:txBody>
      <dsp:txXfrm>
        <a:off x="0" y="3041484"/>
        <a:ext cx="15773400" cy="608148"/>
      </dsp:txXfrm>
    </dsp:sp>
    <dsp:sp modelId="{00A4D0BB-BC04-4478-9969-2944E20B453F}">
      <dsp:nvSpPr>
        <dsp:cNvPr id="0" name=""/>
        <dsp:cNvSpPr/>
      </dsp:nvSpPr>
      <dsp:spPr>
        <a:xfrm>
          <a:off x="0" y="3649632"/>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55D92A-7132-4AFF-9541-0BAB3FF1998A}">
      <dsp:nvSpPr>
        <dsp:cNvPr id="0" name=""/>
        <dsp:cNvSpPr/>
      </dsp:nvSpPr>
      <dsp:spPr>
        <a:xfrm>
          <a:off x="0" y="3649632"/>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Common statistical tests in physiotherapy research (t‑tests, Chi‑square, Correlation)</a:t>
          </a:r>
          <a:endParaRPr lang="en-US" sz="2900" kern="1200" dirty="0"/>
        </a:p>
      </dsp:txBody>
      <dsp:txXfrm>
        <a:off x="0" y="3649632"/>
        <a:ext cx="15773400" cy="608148"/>
      </dsp:txXfrm>
    </dsp:sp>
    <dsp:sp modelId="{299BCA57-D8B4-4758-8163-591111C888B3}">
      <dsp:nvSpPr>
        <dsp:cNvPr id="0" name=""/>
        <dsp:cNvSpPr/>
      </dsp:nvSpPr>
      <dsp:spPr>
        <a:xfrm>
          <a:off x="0" y="4257780"/>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291711-3556-43C1-8C66-D11D7E3DDA92}">
      <dsp:nvSpPr>
        <dsp:cNvPr id="0" name=""/>
        <dsp:cNvSpPr/>
      </dsp:nvSpPr>
      <dsp:spPr>
        <a:xfrm>
          <a:off x="0" y="4257780"/>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Statistical values (p values and confidence intervals)</a:t>
          </a:r>
          <a:endParaRPr lang="en-US" sz="2900" kern="1200" dirty="0"/>
        </a:p>
      </dsp:txBody>
      <dsp:txXfrm>
        <a:off x="0" y="4257780"/>
        <a:ext cx="15773400" cy="608148"/>
      </dsp:txXfrm>
    </dsp:sp>
    <dsp:sp modelId="{E2BE1AC8-5E72-4C81-98E7-E065E3CF3CD7}">
      <dsp:nvSpPr>
        <dsp:cNvPr id="0" name=""/>
        <dsp:cNvSpPr/>
      </dsp:nvSpPr>
      <dsp:spPr>
        <a:xfrm>
          <a:off x="0" y="4865928"/>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7B6BDD-9644-44BB-89CC-A2C0F611F1F8}">
      <dsp:nvSpPr>
        <dsp:cNvPr id="0" name=""/>
        <dsp:cNvSpPr/>
      </dsp:nvSpPr>
      <dsp:spPr>
        <a:xfrm>
          <a:off x="0" y="4865928"/>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Statistical significance vs clinical significance </a:t>
          </a:r>
          <a:endParaRPr lang="en-US" sz="2900" kern="1200" dirty="0"/>
        </a:p>
      </dsp:txBody>
      <dsp:txXfrm>
        <a:off x="0" y="4865928"/>
        <a:ext cx="15773400" cy="608148"/>
      </dsp:txXfrm>
    </dsp:sp>
    <dsp:sp modelId="{F31E0069-B596-4470-A7A3-FA9224ECE57A}">
      <dsp:nvSpPr>
        <dsp:cNvPr id="0" name=""/>
        <dsp:cNvSpPr/>
      </dsp:nvSpPr>
      <dsp:spPr>
        <a:xfrm>
          <a:off x="0" y="5474077"/>
          <a:ext cx="15773400" cy="0"/>
        </a:xfrm>
        <a:prstGeom prst="lin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75C5E1-D2A0-49A8-8CAB-4774E8F9F4D5}">
      <dsp:nvSpPr>
        <dsp:cNvPr id="0" name=""/>
        <dsp:cNvSpPr/>
      </dsp:nvSpPr>
      <dsp:spPr>
        <a:xfrm>
          <a:off x="0" y="5474077"/>
          <a:ext cx="15773400" cy="60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Common statistical errors and misinterpretations in publications </a:t>
          </a:r>
          <a:endParaRPr lang="en-US" sz="2900" kern="1200" dirty="0"/>
        </a:p>
      </dsp:txBody>
      <dsp:txXfrm>
        <a:off x="0" y="5474077"/>
        <a:ext cx="15773400" cy="60814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2T14:51:07.598"/>
    </inkml:context>
    <inkml:brush xml:id="br0">
      <inkml:brushProperty name="width" value="0.05" units="cm"/>
      <inkml:brushProperty name="height" value="0.05" units="cm"/>
    </inkml:brush>
  </inkml:definitions>
  <inkml:trace contextRef="#ctx0" brushRef="#br0">513 111 24575,'-8'-1'0,"0"-1"0,0 0 0,0 0 0,0-1 0,1 0 0,0 0 0,-1-1 0,1 1 0,-7-6 0,-28-14 0,14 14 0,0 1 0,0 1 0,0 1 0,-1 2 0,0 1 0,0 1 0,-44 3 0,68-1 0,1 1 0,-1-1 0,1 1 0,-1 0 0,1 0 0,0 1 0,-1-1 0,1 1 0,0 0 0,0 0 0,0 0 0,0 1 0,1-1 0,-1 1 0,1 0 0,-5 4 0,4-2 0,0 1 0,0-1 0,1 1 0,0 0 0,0 0 0,0 0 0,0 0 0,1 1 0,-3 12 0,2 10 0,0 0 0,2 0 0,0 0 0,6 34 0,-3-29 0,0 21 0,-2-26 0,1 1 0,2 0 0,1 0 0,9 33 0,-10-53 0,1-1 0,-1 0 0,2 0 0,-1 0 0,1 0 0,1-1 0,0 0 0,0 0 0,0 0 0,1-1 0,0 0 0,0 0 0,1-1 0,0 0 0,0 0 0,14 7 0,12 2 0,-1-2 0,2-1 0,-1-2 0,2-1 0,-1-1 0,1-3 0,47 2 0,-65-5 0,0-1 0,0-1 0,0-1 0,32-5 0,-44 4 0,-1 1 0,0-1 0,0 0 0,0 0 0,0 0 0,0-1 0,0 0 0,-1 0 0,1 0 0,-1-1 0,0 1 0,0-1 0,0 0 0,0 0 0,-1 0 0,1-1 0,-1 1 0,0-1 0,-1 0 0,3-6 0,1-5 0,-1 0 0,0 0 0,-2-1 0,0 0 0,-1 1 0,0-1 0,-2-20 0,-10-124 0,7 136 0,1 6 0,-1 1 0,-1 0 0,-1-1 0,0 2 0,-1-1 0,-1 0 0,-15-26 0,16 34 0,0 0 0,-1 0 0,0 1 0,0 0 0,-1 1 0,0-1 0,-1 2 0,0-1 0,0 1 0,-1 0 0,0 1 0,0 0 0,-15-6 0,-141-52-1365,119 45-5461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2T14:51:09.017"/>
    </inkml:context>
    <inkml:brush xml:id="br0">
      <inkml:brushProperty name="width" value="0.05" units="cm"/>
      <inkml:brushProperty name="height" value="0.05" units="cm"/>
    </inkml:brush>
  </inkml:definitions>
  <inkml:trace contextRef="#ctx0" brushRef="#br0">3309 1 24575,'-1204'0'0,"862"23"0,5 0 0,246-18 0,0 4 0,0 4 0,1 4 0,-135 44 0,192-49 0,0 1 0,1 2 0,1 1 0,-49 34 0,-111 96 0,91-66 0,74-59 0,1 0 0,2 2 0,0 1 0,1 1 0,1 1 0,2 0 0,0 2 0,2 0 0,1 1 0,1 1 0,2 0 0,1 1 0,1 0 0,2 1 0,1 0 0,-4 37 0,-24 228 0,30-243-1365,2-7-5461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2T14:51:19.332"/>
    </inkml:context>
    <inkml:brush xml:id="br0">
      <inkml:brushProperty name="width" value="0.05" units="cm"/>
      <inkml:brushProperty name="height" value="0.05" units="cm"/>
    </inkml:brush>
  </inkml:definitions>
  <inkml:trace contextRef="#ctx0" brushRef="#br0">0 0 24575,'4'1'0,"-1"-1"0,1 1 0,-1 0 0,0 0 0,1 1 0,-1-1 0,0 1 0,0-1 0,0 1 0,0 0 0,0 0 0,-1 1 0,1-1 0,2 3 0,33 38 0,29 52 0,-39-54 0,37 44 0,-59-78 0,1-1 0,-1 0 0,1 0 0,0 0 0,1-1 0,-1 0 0,1 0 0,0-1 0,14 5 0,-17-7 0,1 0 0,-1-1 0,1 0 0,-1 0 0,1 0 0,0-1 0,-1 0 0,1 0 0,-1-1 0,1 1 0,0-1 0,-1 0 0,1-1 0,-1 1 0,0-1 0,8-3 0,29-19-341,-1-1 0,0-1-1,66-60 1,-70 54-6485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135"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BBB3ABF-D706-4959-ACF4-B467BEA00A52}" type="slidenum">
              <a:rPr lang="en-GB" smtClean="0"/>
              <a:t>11</a:t>
            </a:fld>
            <a:endParaRPr lang="en-GB"/>
          </a:p>
        </p:txBody>
      </p:sp>
    </p:spTree>
    <p:extLst>
      <p:ext uri="{BB962C8B-B14F-4D97-AF65-F5344CB8AC3E}">
        <p14:creationId xmlns:p14="http://schemas.microsoft.com/office/powerpoint/2010/main" val="3577949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b="1" dirty="0"/>
              <a:t>Spreadsheet - </a:t>
            </a:r>
            <a:r>
              <a:rPr lang="en-GB" dirty="0"/>
              <a:t>This is where your data goes.</a:t>
            </a:r>
          </a:p>
          <a:p>
            <a:pPr marL="0" indent="0">
              <a:buFont typeface="Arial" panose="020B0604020202020204" pitchFamily="34" charset="0"/>
              <a:buNone/>
            </a:pPr>
            <a:r>
              <a:rPr lang="en-GB" b="1" dirty="0"/>
              <a:t>Results Viewer -</a:t>
            </a:r>
            <a:r>
              <a:rPr lang="en-GB" dirty="0"/>
              <a:t> This is where Jamovi prints out the results of any tests you run. </a:t>
            </a:r>
          </a:p>
          <a:p>
            <a:pPr marL="0" indent="0">
              <a:buFont typeface="Arial" panose="020B0604020202020204" pitchFamily="34" charset="0"/>
              <a:buNone/>
            </a:pPr>
            <a:r>
              <a:rPr lang="en-GB" b="1" dirty="0"/>
              <a:t>Menu - </a:t>
            </a:r>
            <a:r>
              <a:rPr lang="en-GB" dirty="0"/>
              <a:t>This has a few options - Data, Analyses, and Edit. We will mostly be using Data and Analyses. When you click any of these options, the ribbon area directly underneath changes to show you the things you can do with each option </a:t>
            </a:r>
          </a:p>
          <a:p>
            <a:pPr marL="0" indent="0">
              <a:buFont typeface="Arial" panose="020B0604020202020204" pitchFamily="34" charset="0"/>
              <a:buNone/>
            </a:pPr>
            <a:r>
              <a:rPr lang="en-GB" b="1" dirty="0"/>
              <a:t>Ribbon</a:t>
            </a:r>
            <a:r>
              <a:rPr lang="en-GB" dirty="0"/>
              <a:t> – a few options depending on what you click in the menu</a:t>
            </a:r>
          </a:p>
          <a:p>
            <a:pPr marL="0" indent="0">
              <a:buFont typeface="Arial" panose="020B0604020202020204" pitchFamily="34" charset="0"/>
              <a:buNone/>
            </a:pPr>
            <a:r>
              <a:rPr lang="en-GB" b="1" dirty="0"/>
              <a:t>File menu - </a:t>
            </a:r>
            <a:r>
              <a:rPr lang="en-GB" b="0" dirty="0"/>
              <a:t>three stacked white lines in the far-left corner - This is where you can open data sheets and save the output from JAMOVI as .</a:t>
            </a:r>
            <a:r>
              <a:rPr lang="en-GB" b="0" dirty="0" err="1"/>
              <a:t>omv</a:t>
            </a:r>
            <a:endParaRPr lang="en-GB" b="0" dirty="0"/>
          </a:p>
        </p:txBody>
      </p:sp>
      <p:sp>
        <p:nvSpPr>
          <p:cNvPr id="4" name="Slide Number Placeholder 3"/>
          <p:cNvSpPr>
            <a:spLocks noGrp="1"/>
          </p:cNvSpPr>
          <p:nvPr>
            <p:ph type="sldNum" sz="quarter" idx="5"/>
          </p:nvPr>
        </p:nvSpPr>
        <p:spPr/>
        <p:txBody>
          <a:bodyPr/>
          <a:lstStyle/>
          <a:p>
            <a:fld id="{8BBB3ABF-D706-4959-ACF4-B467BEA00A52}" type="slidenum">
              <a:rPr lang="en-GB" smtClean="0"/>
              <a:t>17</a:t>
            </a:fld>
            <a:endParaRPr lang="en-GB"/>
          </a:p>
        </p:txBody>
      </p:sp>
    </p:spTree>
    <p:extLst>
      <p:ext uri="{BB962C8B-B14F-4D97-AF65-F5344CB8AC3E}">
        <p14:creationId xmlns:p14="http://schemas.microsoft.com/office/powerpoint/2010/main" val="2288733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b="0" dirty="0"/>
          </a:p>
        </p:txBody>
      </p:sp>
      <p:sp>
        <p:nvSpPr>
          <p:cNvPr id="4" name="Slide Number Placeholder 3"/>
          <p:cNvSpPr>
            <a:spLocks noGrp="1"/>
          </p:cNvSpPr>
          <p:nvPr>
            <p:ph type="sldNum" sz="quarter" idx="5"/>
          </p:nvPr>
        </p:nvSpPr>
        <p:spPr/>
        <p:txBody>
          <a:bodyPr/>
          <a:lstStyle/>
          <a:p>
            <a:fld id="{8BBB3ABF-D706-4959-ACF4-B467BEA00A52}" type="slidenum">
              <a:rPr lang="en-GB" smtClean="0"/>
              <a:t>18</a:t>
            </a:fld>
            <a:endParaRPr lang="en-GB"/>
          </a:p>
        </p:txBody>
      </p:sp>
    </p:spTree>
    <p:extLst>
      <p:ext uri="{BB962C8B-B14F-4D97-AF65-F5344CB8AC3E}">
        <p14:creationId xmlns:p14="http://schemas.microsoft.com/office/powerpoint/2010/main" val="3329072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EA2F8-7988-33CF-97F8-935DB06B2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765FE-147D-4857-BCB4-4C778ACA245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B0B5199-F217-0FFC-41FE-0D977D30DFF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077323-6BB8-75A1-6F68-6D9DD0CD96B5}"/>
              </a:ext>
            </a:extLst>
          </p:cNvPr>
          <p:cNvSpPr>
            <a:spLocks noGrp="1"/>
          </p:cNvSpPr>
          <p:nvPr>
            <p:ph type="sldNum" sz="quarter" idx="5"/>
          </p:nvPr>
        </p:nvSpPr>
        <p:spPr/>
        <p:txBody>
          <a:bodyPr/>
          <a:lstStyle/>
          <a:p>
            <a:fld id="{8BBB3ABF-D706-4959-ACF4-B467BEA00A52}" type="slidenum">
              <a:rPr lang="en-GB" smtClean="0"/>
              <a:t>21</a:t>
            </a:fld>
            <a:endParaRPr lang="en-GB"/>
          </a:p>
        </p:txBody>
      </p:sp>
    </p:spTree>
    <p:extLst>
      <p:ext uri="{BB962C8B-B14F-4D97-AF65-F5344CB8AC3E}">
        <p14:creationId xmlns:p14="http://schemas.microsoft.com/office/powerpoint/2010/main" val="39346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8405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4555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0043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9687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MCID: Minimal Clinically Important Difference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8199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219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5011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
          <p:cNvSpPr txBox="1">
            <a:spLocks noGrp="1"/>
          </p:cNvSpPr>
          <p:nvPr>
            <p:ph type="dt" idx="10"/>
          </p:nvPr>
        </p:nvSpPr>
        <p:spPr>
          <a:xfrm>
            <a:off x="1257300" y="9535998"/>
            <a:ext cx="4114800" cy="54777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
          <p:cNvSpPr txBox="1">
            <a:spLocks noGrp="1"/>
          </p:cNvSpPr>
          <p:nvPr>
            <p:ph type="ftr" idx="11"/>
          </p:nvPr>
        </p:nvSpPr>
        <p:spPr>
          <a:xfrm>
            <a:off x="6057900" y="9535998"/>
            <a:ext cx="6172200" cy="54777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
          <p:cNvSpPr txBox="1">
            <a:spLocks noGrp="1"/>
          </p:cNvSpPr>
          <p:nvPr>
            <p:ph type="sldNum" idx="12"/>
          </p:nvPr>
        </p:nvSpPr>
        <p:spPr>
          <a:xfrm>
            <a:off x="12915900" y="9535998"/>
            <a:ext cx="4114800" cy="547772"/>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5_Title slide 2">
  <p:cSld name="15_Title slide 2">
    <p:bg>
      <p:bgPr>
        <a:solidFill>
          <a:srgbClr val="FEF2BE"/>
        </a:solidFill>
        <a:effectLst/>
      </p:bgPr>
    </p:bg>
    <p:spTree>
      <p:nvGrpSpPr>
        <p:cNvPr id="1" name="Shape 37"/>
        <p:cNvGrpSpPr/>
        <p:nvPr/>
      </p:nvGrpSpPr>
      <p:grpSpPr>
        <a:xfrm>
          <a:off x="0" y="0"/>
          <a:ext cx="0" cy="0"/>
          <a:chOff x="0" y="0"/>
          <a:chExt cx="0" cy="0"/>
        </a:xfrm>
      </p:grpSpPr>
      <p:pic>
        <p:nvPicPr>
          <p:cNvPr id="38" name="Google Shape;38;p6" descr="London Metropolitan University logo in black"/>
          <p:cNvPicPr preferRelativeResize="0"/>
          <p:nvPr/>
        </p:nvPicPr>
        <p:blipFill rotWithShape="1">
          <a:blip r:embed="rId2">
            <a:alphaModFix/>
          </a:blip>
          <a:srcRect/>
          <a:stretch/>
        </p:blipFill>
        <p:spPr>
          <a:xfrm>
            <a:off x="648000" y="648000"/>
            <a:ext cx="3800312" cy="977348"/>
          </a:xfrm>
          <a:prstGeom prst="rect">
            <a:avLst/>
          </a:prstGeom>
          <a:noFill/>
          <a:ln>
            <a:noFill/>
          </a:ln>
        </p:spPr>
      </p:pic>
      <p:sp>
        <p:nvSpPr>
          <p:cNvPr id="39" name="Google Shape;39;p6"/>
          <p:cNvSpPr txBox="1">
            <a:spLocks noGrp="1"/>
          </p:cNvSpPr>
          <p:nvPr>
            <p:ph type="title"/>
          </p:nvPr>
        </p:nvSpPr>
        <p:spPr>
          <a:xfrm>
            <a:off x="983836" y="3681414"/>
            <a:ext cx="16320325" cy="126827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6600"/>
              <a:buFont typeface="Arial"/>
              <a:buNone/>
              <a:defRPr b="1">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983837" y="5239791"/>
            <a:ext cx="16320326" cy="8827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dk1"/>
              </a:buClr>
              <a:buSzPts val="4500"/>
              <a:buNone/>
              <a:defRPr sz="4500">
                <a:latin typeface="Arial"/>
                <a:ea typeface="Arial"/>
                <a:cs typeface="Arial"/>
                <a:sym typeface="Arial"/>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6_Title slide 2">
  <p:cSld name="16_Title slide 2">
    <p:bg>
      <p:bgPr>
        <a:solidFill>
          <a:srgbClr val="231F20"/>
        </a:solidFill>
        <a:effectLst/>
      </p:bgPr>
    </p:bg>
    <p:spTree>
      <p:nvGrpSpPr>
        <p:cNvPr id="1" name="Shape 46"/>
        <p:cNvGrpSpPr/>
        <p:nvPr/>
      </p:nvGrpSpPr>
      <p:grpSpPr>
        <a:xfrm>
          <a:off x="0" y="0"/>
          <a:ext cx="0" cy="0"/>
          <a:chOff x="0" y="0"/>
          <a:chExt cx="0" cy="0"/>
        </a:xfrm>
      </p:grpSpPr>
      <p:pic>
        <p:nvPicPr>
          <p:cNvPr id="47" name="Google Shape;47;p7" descr="London Metropolitan University logo in white"/>
          <p:cNvPicPr preferRelativeResize="0"/>
          <p:nvPr/>
        </p:nvPicPr>
        <p:blipFill rotWithShape="1">
          <a:blip r:embed="rId2">
            <a:alphaModFix/>
          </a:blip>
          <a:srcRect/>
          <a:stretch/>
        </p:blipFill>
        <p:spPr>
          <a:xfrm>
            <a:off x="648000" y="649023"/>
            <a:ext cx="3800312" cy="975301"/>
          </a:xfrm>
          <a:prstGeom prst="rect">
            <a:avLst/>
          </a:prstGeom>
          <a:noFill/>
          <a:ln>
            <a:noFill/>
          </a:ln>
        </p:spPr>
      </p:pic>
      <p:sp>
        <p:nvSpPr>
          <p:cNvPr id="48" name="Google Shape;48;p7"/>
          <p:cNvSpPr txBox="1">
            <a:spLocks noGrp="1"/>
          </p:cNvSpPr>
          <p:nvPr>
            <p:ph type="title"/>
          </p:nvPr>
        </p:nvSpPr>
        <p:spPr>
          <a:xfrm>
            <a:off x="983836" y="3681414"/>
            <a:ext cx="16320325" cy="126827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66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983837" y="5239791"/>
            <a:ext cx="16320326" cy="8827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lt1"/>
              </a:buClr>
              <a:buSzPts val="4500"/>
              <a:buNone/>
              <a:defRPr sz="4500">
                <a:solidFill>
                  <a:schemeClr val="lt1"/>
                </a:solidFill>
                <a:latin typeface="Arial"/>
                <a:ea typeface="Arial"/>
                <a:cs typeface="Arial"/>
                <a:sym typeface="Arial"/>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7_Title slide 2">
  <p:cSld name="17_Title slide 2">
    <p:bg>
      <p:bgPr>
        <a:solidFill>
          <a:srgbClr val="002D6D"/>
        </a:solidFill>
        <a:effectLst/>
      </p:bgPr>
    </p:bg>
    <p:spTree>
      <p:nvGrpSpPr>
        <p:cNvPr id="1" name="Shape 55"/>
        <p:cNvGrpSpPr/>
        <p:nvPr/>
      </p:nvGrpSpPr>
      <p:grpSpPr>
        <a:xfrm>
          <a:off x="0" y="0"/>
          <a:ext cx="0" cy="0"/>
          <a:chOff x="0" y="0"/>
          <a:chExt cx="0" cy="0"/>
        </a:xfrm>
      </p:grpSpPr>
      <p:pic>
        <p:nvPicPr>
          <p:cNvPr id="56" name="Google Shape;56;p8" descr="London Metropolitan University logo in white"/>
          <p:cNvPicPr preferRelativeResize="0"/>
          <p:nvPr/>
        </p:nvPicPr>
        <p:blipFill rotWithShape="1">
          <a:blip r:embed="rId2">
            <a:alphaModFix/>
          </a:blip>
          <a:srcRect/>
          <a:stretch/>
        </p:blipFill>
        <p:spPr>
          <a:xfrm>
            <a:off x="648000" y="649023"/>
            <a:ext cx="3800312" cy="975301"/>
          </a:xfrm>
          <a:prstGeom prst="rect">
            <a:avLst/>
          </a:prstGeom>
          <a:noFill/>
          <a:ln>
            <a:noFill/>
          </a:ln>
        </p:spPr>
      </p:pic>
      <p:sp>
        <p:nvSpPr>
          <p:cNvPr id="57" name="Google Shape;57;p8"/>
          <p:cNvSpPr txBox="1">
            <a:spLocks noGrp="1"/>
          </p:cNvSpPr>
          <p:nvPr>
            <p:ph type="title"/>
          </p:nvPr>
        </p:nvSpPr>
        <p:spPr>
          <a:xfrm>
            <a:off x="983836" y="3681414"/>
            <a:ext cx="16320325" cy="126827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66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8"/>
          <p:cNvSpPr txBox="1">
            <a:spLocks noGrp="1"/>
          </p:cNvSpPr>
          <p:nvPr>
            <p:ph type="body" idx="1"/>
          </p:nvPr>
        </p:nvSpPr>
        <p:spPr>
          <a:xfrm>
            <a:off x="983837" y="5239791"/>
            <a:ext cx="16320326" cy="8827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500"/>
              </a:spcBef>
              <a:spcAft>
                <a:spcPts val="0"/>
              </a:spcAft>
              <a:buClr>
                <a:schemeClr val="lt1"/>
              </a:buClr>
              <a:buSzPts val="4500"/>
              <a:buNone/>
              <a:defRPr sz="4500">
                <a:solidFill>
                  <a:schemeClr val="lt1"/>
                </a:solidFill>
                <a:latin typeface="Arial"/>
                <a:ea typeface="Arial"/>
                <a:cs typeface="Arial"/>
                <a:sym typeface="Arial"/>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59" name="Google Shape;59;p8"/>
          <p:cNvSpPr txBox="1"/>
          <p:nvPr/>
        </p:nvSpPr>
        <p:spPr>
          <a:xfrm>
            <a:off x="1813631" y="9091222"/>
            <a:ext cx="2233756" cy="33015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500"/>
              <a:buFont typeface="Arial"/>
              <a:buNone/>
            </a:pPr>
            <a:r>
              <a:rPr lang="en-GB" sz="2000" b="0" i="0" u="none" strike="noStrike" cap="none">
                <a:solidFill>
                  <a:schemeClr val="lt1"/>
                </a:solidFill>
                <a:latin typeface="Arial"/>
                <a:ea typeface="Arial"/>
                <a:cs typeface="Arial"/>
                <a:sym typeface="Arial"/>
              </a:rPr>
              <a:t>@LondonMetUni</a:t>
            </a:r>
            <a:endParaRPr/>
          </a:p>
        </p:txBody>
      </p:sp>
      <p:sp>
        <p:nvSpPr>
          <p:cNvPr id="60" name="Google Shape;60;p8"/>
          <p:cNvSpPr txBox="1"/>
          <p:nvPr/>
        </p:nvSpPr>
        <p:spPr>
          <a:xfrm>
            <a:off x="860850" y="8773109"/>
            <a:ext cx="2160240" cy="2769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500"/>
              <a:buFont typeface="Arial"/>
              <a:buNone/>
            </a:pPr>
            <a:r>
              <a:rPr lang="en-GB" sz="2000" b="0" i="0" u="none" strike="noStrike" cap="none">
                <a:solidFill>
                  <a:schemeClr val="lt1"/>
                </a:solidFill>
                <a:latin typeface="Arial"/>
                <a:ea typeface="Arial"/>
                <a:cs typeface="Arial"/>
                <a:sym typeface="Arial"/>
              </a:rPr>
              <a:t>londonmet.ac.uk</a:t>
            </a:r>
            <a:endParaRPr/>
          </a:p>
        </p:txBody>
      </p:sp>
      <p:pic>
        <p:nvPicPr>
          <p:cNvPr id="61" name="Google Shape;61;p8"/>
          <p:cNvPicPr preferRelativeResize="0"/>
          <p:nvPr/>
        </p:nvPicPr>
        <p:blipFill rotWithShape="1">
          <a:blip r:embed="rId3">
            <a:alphaModFix/>
          </a:blip>
          <a:srcRect/>
          <a:stretch/>
        </p:blipFill>
        <p:spPr>
          <a:xfrm>
            <a:off x="963959" y="9177674"/>
            <a:ext cx="253265" cy="253265"/>
          </a:xfrm>
          <a:prstGeom prst="rect">
            <a:avLst/>
          </a:prstGeom>
          <a:noFill/>
          <a:ln>
            <a:noFill/>
          </a:ln>
        </p:spPr>
      </p:pic>
      <p:pic>
        <p:nvPicPr>
          <p:cNvPr id="62" name="Google Shape;62;p8"/>
          <p:cNvPicPr preferRelativeResize="0"/>
          <p:nvPr/>
        </p:nvPicPr>
        <p:blipFill rotWithShape="1">
          <a:blip r:embed="rId4">
            <a:alphaModFix/>
          </a:blip>
          <a:srcRect/>
          <a:stretch/>
        </p:blipFill>
        <p:spPr>
          <a:xfrm>
            <a:off x="1273005" y="9177674"/>
            <a:ext cx="253265" cy="253265"/>
          </a:xfrm>
          <a:prstGeom prst="rect">
            <a:avLst/>
          </a:prstGeom>
          <a:noFill/>
          <a:ln>
            <a:noFill/>
          </a:ln>
        </p:spPr>
      </p:pic>
      <p:pic>
        <p:nvPicPr>
          <p:cNvPr id="63" name="Google Shape;63;p8"/>
          <p:cNvPicPr preferRelativeResize="0"/>
          <p:nvPr/>
        </p:nvPicPr>
        <p:blipFill rotWithShape="1">
          <a:blip r:embed="rId5">
            <a:alphaModFix/>
          </a:blip>
          <a:srcRect/>
          <a:stretch/>
        </p:blipFill>
        <p:spPr>
          <a:xfrm>
            <a:off x="1580983" y="9177674"/>
            <a:ext cx="270832" cy="27083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Content basic white">
  <p:cSld name="2_Content basic white">
    <p:bg>
      <p:bgPr>
        <a:solidFill>
          <a:srgbClr val="FFE2C3"/>
        </a:solidFill>
        <a:effectLst/>
      </p:bgPr>
    </p:bg>
    <p:spTree>
      <p:nvGrpSpPr>
        <p:cNvPr id="1" name="Shape 68"/>
        <p:cNvGrpSpPr/>
        <p:nvPr/>
      </p:nvGrpSpPr>
      <p:grpSpPr>
        <a:xfrm>
          <a:off x="0" y="0"/>
          <a:ext cx="0" cy="0"/>
          <a:chOff x="0" y="0"/>
          <a:chExt cx="0" cy="0"/>
        </a:xfrm>
      </p:grpSpPr>
      <p:sp>
        <p:nvSpPr>
          <p:cNvPr id="69" name="Google Shape;69;gbf01359d15_0_42"/>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3000"/>
              <a:buFont typeface="Arial"/>
              <a:buNone/>
              <a:defRPr sz="3000" b="1">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 name="Google Shape;70;gbf01359d15_0_42"/>
          <p:cNvSpPr txBox="1">
            <a:spLocks noGrp="1"/>
          </p:cNvSpPr>
          <p:nvPr>
            <p:ph type="body" idx="1"/>
          </p:nvPr>
        </p:nvSpPr>
        <p:spPr>
          <a:xfrm>
            <a:off x="1029600" y="3404181"/>
            <a:ext cx="16385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3000"/>
              <a:buFont typeface="Arial"/>
              <a:buNone/>
              <a:defRPr sz="3000">
                <a:latin typeface="Arial"/>
                <a:ea typeface="Arial"/>
                <a:cs typeface="Arial"/>
                <a:sym typeface="Aria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1"/>
              <a:buNone/>
              <a:defRPr sz="1501"/>
            </a:lvl4pPr>
            <a:lvl5pPr marL="2286000" lvl="4" indent="-228600" algn="l" rtl="0">
              <a:lnSpc>
                <a:spcPct val="90000"/>
              </a:lnSpc>
              <a:spcBef>
                <a:spcPts val="750"/>
              </a:spcBef>
              <a:spcAft>
                <a:spcPts val="0"/>
              </a:spcAft>
              <a:buClr>
                <a:schemeClr val="dk1"/>
              </a:buClr>
              <a:buSzPts val="1501"/>
              <a:buNone/>
              <a:defRPr sz="1501"/>
            </a:lvl5pPr>
            <a:lvl6pPr marL="2743200" lvl="5" indent="-228600" algn="l" rtl="0">
              <a:lnSpc>
                <a:spcPct val="90000"/>
              </a:lnSpc>
              <a:spcBef>
                <a:spcPts val="750"/>
              </a:spcBef>
              <a:spcAft>
                <a:spcPts val="0"/>
              </a:spcAft>
              <a:buClr>
                <a:schemeClr val="dk1"/>
              </a:buClr>
              <a:buSzPts val="1501"/>
              <a:buNone/>
              <a:defRPr sz="1501"/>
            </a:lvl6pPr>
            <a:lvl7pPr marL="3200400" lvl="6" indent="-228600" algn="l" rtl="0">
              <a:lnSpc>
                <a:spcPct val="90000"/>
              </a:lnSpc>
              <a:spcBef>
                <a:spcPts val="750"/>
              </a:spcBef>
              <a:spcAft>
                <a:spcPts val="0"/>
              </a:spcAft>
              <a:buClr>
                <a:schemeClr val="dk1"/>
              </a:buClr>
              <a:buSzPts val="1501"/>
              <a:buNone/>
              <a:defRPr sz="1501"/>
            </a:lvl7pPr>
            <a:lvl8pPr marL="3657600" lvl="7" indent="-228600" algn="l" rtl="0">
              <a:lnSpc>
                <a:spcPct val="90000"/>
              </a:lnSpc>
              <a:spcBef>
                <a:spcPts val="750"/>
              </a:spcBef>
              <a:spcAft>
                <a:spcPts val="0"/>
              </a:spcAft>
              <a:buClr>
                <a:schemeClr val="dk1"/>
              </a:buClr>
              <a:buSzPts val="1501"/>
              <a:buNone/>
              <a:defRPr sz="1501"/>
            </a:lvl8pPr>
            <a:lvl9pPr marL="4114800" lvl="8" indent="-228600" algn="l" rtl="0">
              <a:lnSpc>
                <a:spcPct val="90000"/>
              </a:lnSpc>
              <a:spcBef>
                <a:spcPts val="750"/>
              </a:spcBef>
              <a:spcAft>
                <a:spcPts val="0"/>
              </a:spcAft>
              <a:buClr>
                <a:schemeClr val="dk1"/>
              </a:buClr>
              <a:buSzPts val="1501"/>
              <a:buNone/>
              <a:defRPr sz="1501"/>
            </a:lvl9pPr>
          </a:lstStyle>
          <a:p>
            <a:endParaRPr/>
          </a:p>
        </p:txBody>
      </p:sp>
      <p:pic>
        <p:nvPicPr>
          <p:cNvPr id="71" name="Google Shape;71;gbf01359d15_0_42"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Content basic white">
  <p:cSld name="4_Content basic white">
    <p:bg>
      <p:bgPr>
        <a:solidFill>
          <a:srgbClr val="FEF2BE"/>
        </a:solidFill>
        <a:effectLst/>
      </p:bgPr>
    </p:bg>
    <p:spTree>
      <p:nvGrpSpPr>
        <p:cNvPr id="1" name="Shape 72"/>
        <p:cNvGrpSpPr/>
        <p:nvPr/>
      </p:nvGrpSpPr>
      <p:grpSpPr>
        <a:xfrm>
          <a:off x="0" y="0"/>
          <a:ext cx="0" cy="0"/>
          <a:chOff x="0" y="0"/>
          <a:chExt cx="0" cy="0"/>
        </a:xfrm>
      </p:grpSpPr>
      <p:sp>
        <p:nvSpPr>
          <p:cNvPr id="73" name="Google Shape;73;gbf01359d15_0_46"/>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3000"/>
              <a:buFont typeface="Arial"/>
              <a:buNone/>
              <a:defRPr sz="3000" b="1">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 name="Google Shape;74;gbf01359d15_0_46"/>
          <p:cNvSpPr txBox="1">
            <a:spLocks noGrp="1"/>
          </p:cNvSpPr>
          <p:nvPr>
            <p:ph type="body" idx="1"/>
          </p:nvPr>
        </p:nvSpPr>
        <p:spPr>
          <a:xfrm>
            <a:off x="1029600" y="3404181"/>
            <a:ext cx="16385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3000"/>
              <a:buFont typeface="Arial"/>
              <a:buNone/>
              <a:defRPr sz="3000">
                <a:latin typeface="Arial"/>
                <a:ea typeface="Arial"/>
                <a:cs typeface="Arial"/>
                <a:sym typeface="Aria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1"/>
              <a:buNone/>
              <a:defRPr sz="1501"/>
            </a:lvl4pPr>
            <a:lvl5pPr marL="2286000" lvl="4" indent="-228600" algn="l" rtl="0">
              <a:lnSpc>
                <a:spcPct val="90000"/>
              </a:lnSpc>
              <a:spcBef>
                <a:spcPts val="750"/>
              </a:spcBef>
              <a:spcAft>
                <a:spcPts val="0"/>
              </a:spcAft>
              <a:buClr>
                <a:schemeClr val="dk1"/>
              </a:buClr>
              <a:buSzPts val="1501"/>
              <a:buNone/>
              <a:defRPr sz="1501"/>
            </a:lvl5pPr>
            <a:lvl6pPr marL="2743200" lvl="5" indent="-228600" algn="l" rtl="0">
              <a:lnSpc>
                <a:spcPct val="90000"/>
              </a:lnSpc>
              <a:spcBef>
                <a:spcPts val="750"/>
              </a:spcBef>
              <a:spcAft>
                <a:spcPts val="0"/>
              </a:spcAft>
              <a:buClr>
                <a:schemeClr val="dk1"/>
              </a:buClr>
              <a:buSzPts val="1501"/>
              <a:buNone/>
              <a:defRPr sz="1501"/>
            </a:lvl6pPr>
            <a:lvl7pPr marL="3200400" lvl="6" indent="-228600" algn="l" rtl="0">
              <a:lnSpc>
                <a:spcPct val="90000"/>
              </a:lnSpc>
              <a:spcBef>
                <a:spcPts val="750"/>
              </a:spcBef>
              <a:spcAft>
                <a:spcPts val="0"/>
              </a:spcAft>
              <a:buClr>
                <a:schemeClr val="dk1"/>
              </a:buClr>
              <a:buSzPts val="1501"/>
              <a:buNone/>
              <a:defRPr sz="1501"/>
            </a:lvl7pPr>
            <a:lvl8pPr marL="3657600" lvl="7" indent="-228600" algn="l" rtl="0">
              <a:lnSpc>
                <a:spcPct val="90000"/>
              </a:lnSpc>
              <a:spcBef>
                <a:spcPts val="750"/>
              </a:spcBef>
              <a:spcAft>
                <a:spcPts val="0"/>
              </a:spcAft>
              <a:buClr>
                <a:schemeClr val="dk1"/>
              </a:buClr>
              <a:buSzPts val="1501"/>
              <a:buNone/>
              <a:defRPr sz="1501"/>
            </a:lvl8pPr>
            <a:lvl9pPr marL="4114800" lvl="8" indent="-228600" algn="l" rtl="0">
              <a:lnSpc>
                <a:spcPct val="90000"/>
              </a:lnSpc>
              <a:spcBef>
                <a:spcPts val="750"/>
              </a:spcBef>
              <a:spcAft>
                <a:spcPts val="0"/>
              </a:spcAft>
              <a:buClr>
                <a:schemeClr val="dk1"/>
              </a:buClr>
              <a:buSzPts val="1501"/>
              <a:buNone/>
              <a:defRPr sz="1501"/>
            </a:lvl9pPr>
          </a:lstStyle>
          <a:p>
            <a:endParaRPr/>
          </a:p>
        </p:txBody>
      </p:sp>
      <p:pic>
        <p:nvPicPr>
          <p:cNvPr id="75" name="Google Shape;75;gbf01359d15_0_46"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Content basic white">
  <p:cSld name="7_Content basic white">
    <p:bg>
      <p:bgPr>
        <a:solidFill>
          <a:srgbClr val="002D6D"/>
        </a:solidFill>
        <a:effectLst/>
      </p:bgPr>
    </p:bg>
    <p:spTree>
      <p:nvGrpSpPr>
        <p:cNvPr id="1" name="Shape 80"/>
        <p:cNvGrpSpPr/>
        <p:nvPr/>
      </p:nvGrpSpPr>
      <p:grpSpPr>
        <a:xfrm>
          <a:off x="0" y="0"/>
          <a:ext cx="0" cy="0"/>
          <a:chOff x="0" y="0"/>
          <a:chExt cx="0" cy="0"/>
        </a:xfrm>
      </p:grpSpPr>
      <p:sp>
        <p:nvSpPr>
          <p:cNvPr id="81" name="Google Shape;81;gbf01359d15_0_54"/>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1"/>
              </a:buClr>
              <a:buSzPts val="3000"/>
              <a:buFont typeface="Arial"/>
              <a:buNone/>
              <a:defRPr sz="3000" b="1">
                <a:solidFill>
                  <a:schemeClr val="lt1"/>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gbf01359d15_0_54"/>
          <p:cNvSpPr txBox="1">
            <a:spLocks noGrp="1"/>
          </p:cNvSpPr>
          <p:nvPr>
            <p:ph type="body" idx="1"/>
          </p:nvPr>
        </p:nvSpPr>
        <p:spPr>
          <a:xfrm>
            <a:off x="1029600" y="3404181"/>
            <a:ext cx="16385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Arial"/>
              <a:buNone/>
              <a:defRPr sz="3000">
                <a:solidFill>
                  <a:schemeClr val="lt1"/>
                </a:solidFill>
                <a:latin typeface="Arial"/>
                <a:ea typeface="Arial"/>
                <a:cs typeface="Arial"/>
                <a:sym typeface="Aria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1"/>
              <a:buNone/>
              <a:defRPr sz="1501"/>
            </a:lvl4pPr>
            <a:lvl5pPr marL="2286000" lvl="4" indent="-228600" algn="l" rtl="0">
              <a:lnSpc>
                <a:spcPct val="90000"/>
              </a:lnSpc>
              <a:spcBef>
                <a:spcPts val="750"/>
              </a:spcBef>
              <a:spcAft>
                <a:spcPts val="0"/>
              </a:spcAft>
              <a:buClr>
                <a:schemeClr val="dk1"/>
              </a:buClr>
              <a:buSzPts val="1501"/>
              <a:buNone/>
              <a:defRPr sz="1501"/>
            </a:lvl5pPr>
            <a:lvl6pPr marL="2743200" lvl="5" indent="-228600" algn="l" rtl="0">
              <a:lnSpc>
                <a:spcPct val="90000"/>
              </a:lnSpc>
              <a:spcBef>
                <a:spcPts val="750"/>
              </a:spcBef>
              <a:spcAft>
                <a:spcPts val="0"/>
              </a:spcAft>
              <a:buClr>
                <a:schemeClr val="dk1"/>
              </a:buClr>
              <a:buSzPts val="1501"/>
              <a:buNone/>
              <a:defRPr sz="1501"/>
            </a:lvl6pPr>
            <a:lvl7pPr marL="3200400" lvl="6" indent="-228600" algn="l" rtl="0">
              <a:lnSpc>
                <a:spcPct val="90000"/>
              </a:lnSpc>
              <a:spcBef>
                <a:spcPts val="750"/>
              </a:spcBef>
              <a:spcAft>
                <a:spcPts val="0"/>
              </a:spcAft>
              <a:buClr>
                <a:schemeClr val="dk1"/>
              </a:buClr>
              <a:buSzPts val="1501"/>
              <a:buNone/>
              <a:defRPr sz="1501"/>
            </a:lvl7pPr>
            <a:lvl8pPr marL="3657600" lvl="7" indent="-228600" algn="l" rtl="0">
              <a:lnSpc>
                <a:spcPct val="90000"/>
              </a:lnSpc>
              <a:spcBef>
                <a:spcPts val="750"/>
              </a:spcBef>
              <a:spcAft>
                <a:spcPts val="0"/>
              </a:spcAft>
              <a:buClr>
                <a:schemeClr val="dk1"/>
              </a:buClr>
              <a:buSzPts val="1501"/>
              <a:buNone/>
              <a:defRPr sz="1501"/>
            </a:lvl8pPr>
            <a:lvl9pPr marL="4114800" lvl="8" indent="-228600" algn="l" rtl="0">
              <a:lnSpc>
                <a:spcPct val="90000"/>
              </a:lnSpc>
              <a:spcBef>
                <a:spcPts val="750"/>
              </a:spcBef>
              <a:spcAft>
                <a:spcPts val="0"/>
              </a:spcAft>
              <a:buClr>
                <a:schemeClr val="dk1"/>
              </a:buClr>
              <a:buSzPts val="1501"/>
              <a:buNone/>
              <a:defRPr sz="1501"/>
            </a:lvl9pPr>
          </a:lstStyle>
          <a:p>
            <a:endParaRPr/>
          </a:p>
        </p:txBody>
      </p:sp>
      <p:pic>
        <p:nvPicPr>
          <p:cNvPr id="83" name="Google Shape;83;gbf01359d15_0_54" descr="London Metropolitan University logo in black"/>
          <p:cNvPicPr preferRelativeResize="0"/>
          <p:nvPr/>
        </p:nvPicPr>
        <p:blipFill rotWithShape="1">
          <a:blip r:embed="rId2">
            <a:alphaModFix/>
          </a:blip>
          <a:srcRect/>
          <a:stretch/>
        </p:blipFill>
        <p:spPr>
          <a:xfrm>
            <a:off x="648000" y="649023"/>
            <a:ext cx="3800313" cy="97530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ntent picture white">
  <p:cSld name="1_Content picture white">
    <p:bg>
      <p:bgPr>
        <a:solidFill>
          <a:srgbClr val="B6D3F0"/>
        </a:solidFill>
        <a:effectLst/>
      </p:bgPr>
    </p:bg>
    <p:spTree>
      <p:nvGrpSpPr>
        <p:cNvPr id="1" name="Shape 84"/>
        <p:cNvGrpSpPr/>
        <p:nvPr/>
      </p:nvGrpSpPr>
      <p:grpSpPr>
        <a:xfrm>
          <a:off x="0" y="0"/>
          <a:ext cx="0" cy="0"/>
          <a:chOff x="0" y="0"/>
          <a:chExt cx="0" cy="0"/>
        </a:xfrm>
      </p:grpSpPr>
      <p:sp>
        <p:nvSpPr>
          <p:cNvPr id="85" name="Google Shape;85;gbf01359d15_0_83"/>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6" name="Google Shape;86;gbf01359d15_0_83"/>
          <p:cNvSpPr>
            <a:spLocks noGrp="1"/>
          </p:cNvSpPr>
          <p:nvPr>
            <p:ph type="pic" idx="2"/>
          </p:nvPr>
        </p:nvSpPr>
        <p:spPr>
          <a:xfrm>
            <a:off x="8442890" y="3404181"/>
            <a:ext cx="8815500" cy="5242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01"/>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90000"/>
              </a:lnSpc>
              <a:spcBef>
                <a:spcPts val="750"/>
              </a:spcBef>
              <a:spcAft>
                <a:spcPts val="0"/>
              </a:spcAft>
              <a:buClr>
                <a:schemeClr val="dk1"/>
              </a:buClr>
              <a:buSzPts val="4201"/>
              <a:buFont typeface="Arial"/>
              <a:buNone/>
              <a:defRPr sz="4201" b="0" i="0" u="none" strike="noStrike" cap="none">
                <a:solidFill>
                  <a:schemeClr val="dk1"/>
                </a:solidFill>
                <a:latin typeface="Arial"/>
                <a:ea typeface="Arial"/>
                <a:cs typeface="Arial"/>
                <a:sym typeface="Arial"/>
              </a:defRPr>
            </a:lvl2pPr>
            <a:lvl3pPr marR="0" lvl="2" algn="l" rtl="0">
              <a:lnSpc>
                <a:spcPct val="90000"/>
              </a:lnSpc>
              <a:spcBef>
                <a:spcPts val="750"/>
              </a:spcBef>
              <a:spcAft>
                <a:spcPts val="0"/>
              </a:spcAft>
              <a:buClr>
                <a:schemeClr val="dk1"/>
              </a:buClr>
              <a:buSzPts val="3601"/>
              <a:buFont typeface="Arial"/>
              <a:buNone/>
              <a:defRPr sz="3600" b="0" i="0" u="none" strike="noStrike" cap="none">
                <a:solidFill>
                  <a:schemeClr val="dk1"/>
                </a:solidFill>
                <a:latin typeface="Arial"/>
                <a:ea typeface="Arial"/>
                <a:cs typeface="Arial"/>
                <a:sym typeface="Arial"/>
              </a:defRPr>
            </a:lvl3pPr>
            <a:lvl4pPr marR="0" lvl="3"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endParaRPr/>
          </a:p>
        </p:txBody>
      </p:sp>
      <p:sp>
        <p:nvSpPr>
          <p:cNvPr id="87" name="Google Shape;87;gbf01359d15_0_83"/>
          <p:cNvSpPr txBox="1">
            <a:spLocks noGrp="1"/>
          </p:cNvSpPr>
          <p:nvPr>
            <p:ph type="body" idx="1"/>
          </p:nvPr>
        </p:nvSpPr>
        <p:spPr>
          <a:xfrm>
            <a:off x="1029600" y="3404181"/>
            <a:ext cx="7082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9pPr>
          </a:lstStyle>
          <a:p>
            <a:endParaRPr/>
          </a:p>
        </p:txBody>
      </p:sp>
      <p:pic>
        <p:nvPicPr>
          <p:cNvPr id="88" name="Google Shape;88;gbf01359d15_0_83"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ntent picture white">
  <p:cSld name="2_Content picture white">
    <p:bg>
      <p:bgPr>
        <a:solidFill>
          <a:srgbClr val="FFE2C3"/>
        </a:solidFill>
        <a:effectLst/>
      </p:bgPr>
    </p:bg>
    <p:spTree>
      <p:nvGrpSpPr>
        <p:cNvPr id="1" name="Shape 89"/>
        <p:cNvGrpSpPr/>
        <p:nvPr/>
      </p:nvGrpSpPr>
      <p:grpSpPr>
        <a:xfrm>
          <a:off x="0" y="0"/>
          <a:ext cx="0" cy="0"/>
          <a:chOff x="0" y="0"/>
          <a:chExt cx="0" cy="0"/>
        </a:xfrm>
      </p:grpSpPr>
      <p:sp>
        <p:nvSpPr>
          <p:cNvPr id="90" name="Google Shape;90;gbf01359d15_0_88"/>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 name="Google Shape;91;gbf01359d15_0_88"/>
          <p:cNvSpPr>
            <a:spLocks noGrp="1"/>
          </p:cNvSpPr>
          <p:nvPr>
            <p:ph type="pic" idx="2"/>
          </p:nvPr>
        </p:nvSpPr>
        <p:spPr>
          <a:xfrm>
            <a:off x="8442890" y="3404181"/>
            <a:ext cx="8815500" cy="5242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01"/>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90000"/>
              </a:lnSpc>
              <a:spcBef>
                <a:spcPts val="750"/>
              </a:spcBef>
              <a:spcAft>
                <a:spcPts val="0"/>
              </a:spcAft>
              <a:buClr>
                <a:schemeClr val="dk1"/>
              </a:buClr>
              <a:buSzPts val="4201"/>
              <a:buFont typeface="Arial"/>
              <a:buNone/>
              <a:defRPr sz="4201" b="0" i="0" u="none" strike="noStrike" cap="none">
                <a:solidFill>
                  <a:schemeClr val="dk1"/>
                </a:solidFill>
                <a:latin typeface="Arial"/>
                <a:ea typeface="Arial"/>
                <a:cs typeface="Arial"/>
                <a:sym typeface="Arial"/>
              </a:defRPr>
            </a:lvl2pPr>
            <a:lvl3pPr marR="0" lvl="2" algn="l" rtl="0">
              <a:lnSpc>
                <a:spcPct val="90000"/>
              </a:lnSpc>
              <a:spcBef>
                <a:spcPts val="750"/>
              </a:spcBef>
              <a:spcAft>
                <a:spcPts val="0"/>
              </a:spcAft>
              <a:buClr>
                <a:schemeClr val="dk1"/>
              </a:buClr>
              <a:buSzPts val="3601"/>
              <a:buFont typeface="Arial"/>
              <a:buNone/>
              <a:defRPr sz="3600" b="0" i="0" u="none" strike="noStrike" cap="none">
                <a:solidFill>
                  <a:schemeClr val="dk1"/>
                </a:solidFill>
                <a:latin typeface="Arial"/>
                <a:ea typeface="Arial"/>
                <a:cs typeface="Arial"/>
                <a:sym typeface="Arial"/>
              </a:defRPr>
            </a:lvl3pPr>
            <a:lvl4pPr marR="0" lvl="3"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endParaRPr/>
          </a:p>
        </p:txBody>
      </p:sp>
      <p:sp>
        <p:nvSpPr>
          <p:cNvPr id="92" name="Google Shape;92;gbf01359d15_0_88"/>
          <p:cNvSpPr txBox="1">
            <a:spLocks noGrp="1"/>
          </p:cNvSpPr>
          <p:nvPr>
            <p:ph type="body" idx="1"/>
          </p:nvPr>
        </p:nvSpPr>
        <p:spPr>
          <a:xfrm>
            <a:off x="1029600" y="3404181"/>
            <a:ext cx="7082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9pPr>
          </a:lstStyle>
          <a:p>
            <a:endParaRPr/>
          </a:p>
        </p:txBody>
      </p:sp>
      <p:pic>
        <p:nvPicPr>
          <p:cNvPr id="93" name="Google Shape;93;gbf01359d15_0_88"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Content picture white">
  <p:cSld name="4_Content picture white">
    <p:bg>
      <p:bgPr>
        <a:solidFill>
          <a:srgbClr val="FEF2BE"/>
        </a:solidFill>
        <a:effectLst/>
      </p:bgPr>
    </p:bg>
    <p:spTree>
      <p:nvGrpSpPr>
        <p:cNvPr id="1" name="Shape 94"/>
        <p:cNvGrpSpPr/>
        <p:nvPr/>
      </p:nvGrpSpPr>
      <p:grpSpPr>
        <a:xfrm>
          <a:off x="0" y="0"/>
          <a:ext cx="0" cy="0"/>
          <a:chOff x="0" y="0"/>
          <a:chExt cx="0" cy="0"/>
        </a:xfrm>
      </p:grpSpPr>
      <p:sp>
        <p:nvSpPr>
          <p:cNvPr id="95" name="Google Shape;95;gbf01359d15_0_93"/>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6" name="Google Shape;96;gbf01359d15_0_93"/>
          <p:cNvSpPr>
            <a:spLocks noGrp="1"/>
          </p:cNvSpPr>
          <p:nvPr>
            <p:ph type="pic" idx="2"/>
          </p:nvPr>
        </p:nvSpPr>
        <p:spPr>
          <a:xfrm>
            <a:off x="8442890" y="3404181"/>
            <a:ext cx="8815500" cy="5242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01"/>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90000"/>
              </a:lnSpc>
              <a:spcBef>
                <a:spcPts val="750"/>
              </a:spcBef>
              <a:spcAft>
                <a:spcPts val="0"/>
              </a:spcAft>
              <a:buClr>
                <a:schemeClr val="dk1"/>
              </a:buClr>
              <a:buSzPts val="4201"/>
              <a:buFont typeface="Arial"/>
              <a:buNone/>
              <a:defRPr sz="4201" b="0" i="0" u="none" strike="noStrike" cap="none">
                <a:solidFill>
                  <a:schemeClr val="dk1"/>
                </a:solidFill>
                <a:latin typeface="Arial"/>
                <a:ea typeface="Arial"/>
                <a:cs typeface="Arial"/>
                <a:sym typeface="Arial"/>
              </a:defRPr>
            </a:lvl2pPr>
            <a:lvl3pPr marR="0" lvl="2" algn="l" rtl="0">
              <a:lnSpc>
                <a:spcPct val="90000"/>
              </a:lnSpc>
              <a:spcBef>
                <a:spcPts val="750"/>
              </a:spcBef>
              <a:spcAft>
                <a:spcPts val="0"/>
              </a:spcAft>
              <a:buClr>
                <a:schemeClr val="dk1"/>
              </a:buClr>
              <a:buSzPts val="3601"/>
              <a:buFont typeface="Arial"/>
              <a:buNone/>
              <a:defRPr sz="3600" b="0" i="0" u="none" strike="noStrike" cap="none">
                <a:solidFill>
                  <a:schemeClr val="dk1"/>
                </a:solidFill>
                <a:latin typeface="Arial"/>
                <a:ea typeface="Arial"/>
                <a:cs typeface="Arial"/>
                <a:sym typeface="Arial"/>
              </a:defRPr>
            </a:lvl3pPr>
            <a:lvl4pPr marR="0" lvl="3"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endParaRPr/>
          </a:p>
        </p:txBody>
      </p:sp>
      <p:sp>
        <p:nvSpPr>
          <p:cNvPr id="97" name="Google Shape;97;gbf01359d15_0_93"/>
          <p:cNvSpPr txBox="1">
            <a:spLocks noGrp="1"/>
          </p:cNvSpPr>
          <p:nvPr>
            <p:ph type="body" idx="1"/>
          </p:nvPr>
        </p:nvSpPr>
        <p:spPr>
          <a:xfrm>
            <a:off x="1029600" y="3404181"/>
            <a:ext cx="7082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9pPr>
          </a:lstStyle>
          <a:p>
            <a:endParaRPr/>
          </a:p>
        </p:txBody>
      </p:sp>
      <p:pic>
        <p:nvPicPr>
          <p:cNvPr id="98" name="Google Shape;98;gbf01359d15_0_93"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5_Content picture white">
  <p:cSld name="5_Content picture white">
    <p:bg>
      <p:bgPr>
        <a:solidFill>
          <a:srgbClr val="231F20"/>
        </a:solidFill>
        <a:effectLst/>
      </p:bgPr>
    </p:bg>
    <p:spTree>
      <p:nvGrpSpPr>
        <p:cNvPr id="1" name="Shape 99"/>
        <p:cNvGrpSpPr/>
        <p:nvPr/>
      </p:nvGrpSpPr>
      <p:grpSpPr>
        <a:xfrm>
          <a:off x="0" y="0"/>
          <a:ext cx="0" cy="0"/>
          <a:chOff x="0" y="0"/>
          <a:chExt cx="0" cy="0"/>
        </a:xfrm>
      </p:grpSpPr>
      <p:sp>
        <p:nvSpPr>
          <p:cNvPr id="100" name="Google Shape;100;gbf01359d15_0_98"/>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000"/>
              <a:buFont typeface="Arial"/>
              <a:buNone/>
              <a:defRPr sz="3000" b="1" i="0" u="none" strike="noStrike" cap="none">
                <a:solidFill>
                  <a:schemeClr val="lt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1" name="Google Shape;101;gbf01359d15_0_98"/>
          <p:cNvSpPr>
            <a:spLocks noGrp="1"/>
          </p:cNvSpPr>
          <p:nvPr>
            <p:ph type="pic" idx="2"/>
          </p:nvPr>
        </p:nvSpPr>
        <p:spPr>
          <a:xfrm>
            <a:off x="8442890" y="3404181"/>
            <a:ext cx="8815500" cy="5242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01"/>
              </a:spcBef>
              <a:spcAft>
                <a:spcPts val="0"/>
              </a:spcAft>
              <a:buClr>
                <a:schemeClr val="lt1"/>
              </a:buClr>
              <a:buSzPts val="4800"/>
              <a:buFont typeface="Arial"/>
              <a:buNone/>
              <a:defRPr sz="4800" b="0" i="0" u="none" strike="noStrike" cap="none">
                <a:solidFill>
                  <a:schemeClr val="lt1"/>
                </a:solidFill>
                <a:latin typeface="Arial"/>
                <a:ea typeface="Arial"/>
                <a:cs typeface="Arial"/>
                <a:sym typeface="Arial"/>
              </a:defRPr>
            </a:lvl1pPr>
            <a:lvl2pPr marR="0" lvl="1" algn="l" rtl="0">
              <a:lnSpc>
                <a:spcPct val="90000"/>
              </a:lnSpc>
              <a:spcBef>
                <a:spcPts val="750"/>
              </a:spcBef>
              <a:spcAft>
                <a:spcPts val="0"/>
              </a:spcAft>
              <a:buClr>
                <a:schemeClr val="dk1"/>
              </a:buClr>
              <a:buSzPts val="4201"/>
              <a:buFont typeface="Arial"/>
              <a:buNone/>
              <a:defRPr sz="4201" b="0" i="0" u="none" strike="noStrike" cap="none">
                <a:solidFill>
                  <a:schemeClr val="dk1"/>
                </a:solidFill>
                <a:latin typeface="Arial"/>
                <a:ea typeface="Arial"/>
                <a:cs typeface="Arial"/>
                <a:sym typeface="Arial"/>
              </a:defRPr>
            </a:lvl2pPr>
            <a:lvl3pPr marR="0" lvl="2" algn="l" rtl="0">
              <a:lnSpc>
                <a:spcPct val="90000"/>
              </a:lnSpc>
              <a:spcBef>
                <a:spcPts val="750"/>
              </a:spcBef>
              <a:spcAft>
                <a:spcPts val="0"/>
              </a:spcAft>
              <a:buClr>
                <a:schemeClr val="dk1"/>
              </a:buClr>
              <a:buSzPts val="3601"/>
              <a:buFont typeface="Arial"/>
              <a:buNone/>
              <a:defRPr sz="3600" b="0" i="0" u="none" strike="noStrike" cap="none">
                <a:solidFill>
                  <a:schemeClr val="dk1"/>
                </a:solidFill>
                <a:latin typeface="Arial"/>
                <a:ea typeface="Arial"/>
                <a:cs typeface="Arial"/>
                <a:sym typeface="Arial"/>
              </a:defRPr>
            </a:lvl3pPr>
            <a:lvl4pPr marR="0" lvl="3"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endParaRPr/>
          </a:p>
        </p:txBody>
      </p:sp>
      <p:sp>
        <p:nvSpPr>
          <p:cNvPr id="102" name="Google Shape;102;gbf01359d15_0_98"/>
          <p:cNvSpPr txBox="1">
            <a:spLocks noGrp="1"/>
          </p:cNvSpPr>
          <p:nvPr>
            <p:ph type="body" idx="1"/>
          </p:nvPr>
        </p:nvSpPr>
        <p:spPr>
          <a:xfrm>
            <a:off x="1029600" y="3404181"/>
            <a:ext cx="7082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Arial"/>
              <a:buNone/>
              <a:defRPr sz="3000" b="0" i="0" u="none" strike="noStrike" cap="none">
                <a:solidFill>
                  <a:schemeClr val="lt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9pPr>
          </a:lstStyle>
          <a:p>
            <a:endParaRPr/>
          </a:p>
        </p:txBody>
      </p:sp>
      <p:pic>
        <p:nvPicPr>
          <p:cNvPr id="103" name="Google Shape;103;gbf01359d15_0_98" descr="London Metropolitan University logo in white"/>
          <p:cNvPicPr preferRelativeResize="0"/>
          <p:nvPr/>
        </p:nvPicPr>
        <p:blipFill rotWithShape="1">
          <a:blip r:embed="rId2">
            <a:alphaModFix/>
          </a:blip>
          <a:srcRect/>
          <a:stretch/>
        </p:blipFill>
        <p:spPr>
          <a:xfrm>
            <a:off x="648000" y="649023"/>
            <a:ext cx="3800313" cy="9753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Content picture white">
  <p:cSld name="6_Content picture white">
    <p:bg>
      <p:bgPr>
        <a:solidFill>
          <a:srgbClr val="002D6D"/>
        </a:solidFill>
        <a:effectLst/>
      </p:bgPr>
    </p:bg>
    <p:spTree>
      <p:nvGrpSpPr>
        <p:cNvPr id="1" name="Shape 104"/>
        <p:cNvGrpSpPr/>
        <p:nvPr/>
      </p:nvGrpSpPr>
      <p:grpSpPr>
        <a:xfrm>
          <a:off x="0" y="0"/>
          <a:ext cx="0" cy="0"/>
          <a:chOff x="0" y="0"/>
          <a:chExt cx="0" cy="0"/>
        </a:xfrm>
      </p:grpSpPr>
      <p:sp>
        <p:nvSpPr>
          <p:cNvPr id="105" name="Google Shape;105;gbf01359d15_0_103"/>
          <p:cNvSpPr txBox="1">
            <a:spLocks noGrp="1"/>
          </p:cNvSpPr>
          <p:nvPr>
            <p:ph type="title"/>
          </p:nvPr>
        </p:nvSpPr>
        <p:spPr>
          <a:xfrm>
            <a:off x="1029600" y="2273781"/>
            <a:ext cx="16385700" cy="593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lt1"/>
              </a:buClr>
              <a:buSzPts val="3000"/>
              <a:buFont typeface="Arial"/>
              <a:buNone/>
              <a:defRPr sz="3000" b="1" i="0" u="none" strike="noStrike" cap="none">
                <a:solidFill>
                  <a:schemeClr val="lt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6" name="Google Shape;106;gbf01359d15_0_103"/>
          <p:cNvSpPr>
            <a:spLocks noGrp="1"/>
          </p:cNvSpPr>
          <p:nvPr>
            <p:ph type="pic" idx="2"/>
          </p:nvPr>
        </p:nvSpPr>
        <p:spPr>
          <a:xfrm>
            <a:off x="8442890" y="3404181"/>
            <a:ext cx="8815500" cy="5242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501"/>
              </a:spcBef>
              <a:spcAft>
                <a:spcPts val="0"/>
              </a:spcAft>
              <a:buClr>
                <a:schemeClr val="lt1"/>
              </a:buClr>
              <a:buSzPts val="4800"/>
              <a:buFont typeface="Arial"/>
              <a:buNone/>
              <a:defRPr sz="4800" b="0" i="0" u="none" strike="noStrike" cap="none">
                <a:solidFill>
                  <a:schemeClr val="lt1"/>
                </a:solidFill>
                <a:latin typeface="Arial"/>
                <a:ea typeface="Arial"/>
                <a:cs typeface="Arial"/>
                <a:sym typeface="Arial"/>
              </a:defRPr>
            </a:lvl1pPr>
            <a:lvl2pPr marR="0" lvl="1" algn="l" rtl="0">
              <a:lnSpc>
                <a:spcPct val="90000"/>
              </a:lnSpc>
              <a:spcBef>
                <a:spcPts val="750"/>
              </a:spcBef>
              <a:spcAft>
                <a:spcPts val="0"/>
              </a:spcAft>
              <a:buClr>
                <a:schemeClr val="dk1"/>
              </a:buClr>
              <a:buSzPts val="4201"/>
              <a:buFont typeface="Arial"/>
              <a:buNone/>
              <a:defRPr sz="4201" b="0" i="0" u="none" strike="noStrike" cap="none">
                <a:solidFill>
                  <a:schemeClr val="dk1"/>
                </a:solidFill>
                <a:latin typeface="Arial"/>
                <a:ea typeface="Arial"/>
                <a:cs typeface="Arial"/>
                <a:sym typeface="Arial"/>
              </a:defRPr>
            </a:lvl2pPr>
            <a:lvl3pPr marR="0" lvl="2" algn="l" rtl="0">
              <a:lnSpc>
                <a:spcPct val="90000"/>
              </a:lnSpc>
              <a:spcBef>
                <a:spcPts val="750"/>
              </a:spcBef>
              <a:spcAft>
                <a:spcPts val="0"/>
              </a:spcAft>
              <a:buClr>
                <a:schemeClr val="dk1"/>
              </a:buClr>
              <a:buSzPts val="3601"/>
              <a:buFont typeface="Arial"/>
              <a:buNone/>
              <a:defRPr sz="3600" b="0" i="0" u="none" strike="noStrike" cap="none">
                <a:solidFill>
                  <a:schemeClr val="dk1"/>
                </a:solidFill>
                <a:latin typeface="Arial"/>
                <a:ea typeface="Arial"/>
                <a:cs typeface="Arial"/>
                <a:sym typeface="Arial"/>
              </a:defRPr>
            </a:lvl3pPr>
            <a:lvl4pPr marR="0" lvl="3"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l" rtl="0">
              <a:lnSpc>
                <a:spcPct val="90000"/>
              </a:lnSpc>
              <a:spcBef>
                <a:spcPts val="75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endParaRPr/>
          </a:p>
        </p:txBody>
      </p:sp>
      <p:sp>
        <p:nvSpPr>
          <p:cNvPr id="107" name="Google Shape;107;gbf01359d15_0_103"/>
          <p:cNvSpPr txBox="1">
            <a:spLocks noGrp="1"/>
          </p:cNvSpPr>
          <p:nvPr>
            <p:ph type="body" idx="1"/>
          </p:nvPr>
        </p:nvSpPr>
        <p:spPr>
          <a:xfrm>
            <a:off x="1029600" y="3404181"/>
            <a:ext cx="7082700" cy="6249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Arial"/>
              <a:buNone/>
              <a:defRPr sz="3000" b="0" i="0" u="none" strike="noStrike" cap="none">
                <a:solidFill>
                  <a:schemeClr val="lt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Arial"/>
                <a:ea typeface="Arial"/>
                <a:cs typeface="Arial"/>
                <a:sym typeface="Arial"/>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Arial"/>
                <a:ea typeface="Arial"/>
                <a:cs typeface="Arial"/>
                <a:sym typeface="Arial"/>
              </a:defRPr>
            </a:lvl9pPr>
          </a:lstStyle>
          <a:p>
            <a:endParaRPr/>
          </a:p>
        </p:txBody>
      </p:sp>
      <p:pic>
        <p:nvPicPr>
          <p:cNvPr id="108" name="Google Shape;108;gbf01359d15_0_103" descr="London Metropolitan University logo in white"/>
          <p:cNvPicPr preferRelativeResize="0"/>
          <p:nvPr/>
        </p:nvPicPr>
        <p:blipFill rotWithShape="1">
          <a:blip r:embed="rId2">
            <a:alphaModFix/>
          </a:blip>
          <a:srcRect/>
          <a:stretch/>
        </p:blipFill>
        <p:spPr>
          <a:xfrm>
            <a:off x="648000" y="649023"/>
            <a:ext cx="3800313" cy="9753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End white">
  <p:cSld name="2_End white">
    <p:bg>
      <p:bgPr>
        <a:solidFill>
          <a:srgbClr val="FFE2C3"/>
        </a:solidFill>
        <a:effectLst/>
      </p:bgPr>
    </p:bg>
    <p:spTree>
      <p:nvGrpSpPr>
        <p:cNvPr id="1" name="Shape 117"/>
        <p:cNvGrpSpPr/>
        <p:nvPr/>
      </p:nvGrpSpPr>
      <p:grpSpPr>
        <a:xfrm>
          <a:off x="0" y="0"/>
          <a:ext cx="0" cy="0"/>
          <a:chOff x="0" y="0"/>
          <a:chExt cx="0" cy="0"/>
        </a:xfrm>
      </p:grpSpPr>
      <p:pic>
        <p:nvPicPr>
          <p:cNvPr id="118" name="Google Shape;118;gbf01359d15_0_156"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
        <p:nvSpPr>
          <p:cNvPr id="119" name="Google Shape;119;gbf01359d15_0_156"/>
          <p:cNvSpPr txBox="1">
            <a:spLocks noGrp="1"/>
          </p:cNvSpPr>
          <p:nvPr>
            <p:ph type="title"/>
          </p:nvPr>
        </p:nvSpPr>
        <p:spPr>
          <a:xfrm>
            <a:off x="982800" y="4557148"/>
            <a:ext cx="15773400" cy="1988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6601"/>
              <a:buFont typeface="Arial"/>
              <a:buNone/>
              <a:defRPr sz="6601" b="1"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20" name="Google Shape;120;gbf01359d15_0_156"/>
          <p:cNvSpPr txBox="1"/>
          <p:nvPr/>
        </p:nvSpPr>
        <p:spPr>
          <a:xfrm>
            <a:off x="1813631" y="9091222"/>
            <a:ext cx="2233800" cy="330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500"/>
              <a:buFont typeface="Arial"/>
              <a:buNone/>
            </a:pPr>
            <a:r>
              <a:rPr lang="en-GB" sz="2000" b="0" i="0" u="none" strike="noStrike" cap="none">
                <a:solidFill>
                  <a:schemeClr val="dk1"/>
                </a:solidFill>
                <a:latin typeface="Arial"/>
                <a:ea typeface="Arial"/>
                <a:cs typeface="Arial"/>
                <a:sym typeface="Arial"/>
              </a:rPr>
              <a:t>@LondonMetUni</a:t>
            </a:r>
            <a:endParaRPr/>
          </a:p>
        </p:txBody>
      </p:sp>
      <p:sp>
        <p:nvSpPr>
          <p:cNvPr id="121" name="Google Shape;121;gbf01359d15_0_156"/>
          <p:cNvSpPr txBox="1"/>
          <p:nvPr/>
        </p:nvSpPr>
        <p:spPr>
          <a:xfrm>
            <a:off x="860850" y="8773109"/>
            <a:ext cx="2160300" cy="27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500"/>
              <a:buFont typeface="Arial"/>
              <a:buNone/>
            </a:pPr>
            <a:r>
              <a:rPr lang="en-GB" sz="2000" b="0" i="0" u="none" strike="noStrike" cap="none">
                <a:solidFill>
                  <a:schemeClr val="dk1"/>
                </a:solidFill>
                <a:latin typeface="Arial"/>
                <a:ea typeface="Arial"/>
                <a:cs typeface="Arial"/>
                <a:sym typeface="Arial"/>
              </a:rPr>
              <a:t>londonmet.ac.uk</a:t>
            </a:r>
            <a:endParaRPr/>
          </a:p>
        </p:txBody>
      </p:sp>
      <p:pic>
        <p:nvPicPr>
          <p:cNvPr id="122" name="Google Shape;122;gbf01359d15_0_156"/>
          <p:cNvPicPr preferRelativeResize="0"/>
          <p:nvPr/>
        </p:nvPicPr>
        <p:blipFill rotWithShape="1">
          <a:blip r:embed="rId3">
            <a:alphaModFix/>
          </a:blip>
          <a:srcRect/>
          <a:stretch/>
        </p:blipFill>
        <p:spPr>
          <a:xfrm>
            <a:off x="963959" y="9177674"/>
            <a:ext cx="253265" cy="253265"/>
          </a:xfrm>
          <a:prstGeom prst="rect">
            <a:avLst/>
          </a:prstGeom>
          <a:noFill/>
          <a:ln>
            <a:noFill/>
          </a:ln>
        </p:spPr>
      </p:pic>
      <p:pic>
        <p:nvPicPr>
          <p:cNvPr id="123" name="Google Shape;123;gbf01359d15_0_156"/>
          <p:cNvPicPr preferRelativeResize="0"/>
          <p:nvPr/>
        </p:nvPicPr>
        <p:blipFill rotWithShape="1">
          <a:blip r:embed="rId4">
            <a:alphaModFix/>
          </a:blip>
          <a:srcRect/>
          <a:stretch/>
        </p:blipFill>
        <p:spPr>
          <a:xfrm>
            <a:off x="1273005" y="9177674"/>
            <a:ext cx="253265" cy="253265"/>
          </a:xfrm>
          <a:prstGeom prst="rect">
            <a:avLst/>
          </a:prstGeom>
          <a:noFill/>
          <a:ln>
            <a:noFill/>
          </a:ln>
        </p:spPr>
      </p:pic>
      <p:pic>
        <p:nvPicPr>
          <p:cNvPr id="124" name="Google Shape;124;gbf01359d15_0_156"/>
          <p:cNvPicPr preferRelativeResize="0"/>
          <p:nvPr/>
        </p:nvPicPr>
        <p:blipFill rotWithShape="1">
          <a:blip r:embed="rId5">
            <a:alphaModFix/>
          </a:blip>
          <a:srcRect/>
          <a:stretch/>
        </p:blipFill>
        <p:spPr>
          <a:xfrm>
            <a:off x="1580983" y="9177674"/>
            <a:ext cx="270833" cy="27083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_End white">
  <p:cSld name="4_End white">
    <p:bg>
      <p:bgPr>
        <a:solidFill>
          <a:srgbClr val="FEF2BE"/>
        </a:solidFill>
        <a:effectLst/>
      </p:bgPr>
    </p:bg>
    <p:spTree>
      <p:nvGrpSpPr>
        <p:cNvPr id="1" name="Shape 125"/>
        <p:cNvGrpSpPr/>
        <p:nvPr/>
      </p:nvGrpSpPr>
      <p:grpSpPr>
        <a:xfrm>
          <a:off x="0" y="0"/>
          <a:ext cx="0" cy="0"/>
          <a:chOff x="0" y="0"/>
          <a:chExt cx="0" cy="0"/>
        </a:xfrm>
      </p:grpSpPr>
      <p:pic>
        <p:nvPicPr>
          <p:cNvPr id="126" name="Google Shape;126;gbf01359d15_0_164" descr="London Metropolitan University logo in black"/>
          <p:cNvPicPr preferRelativeResize="0"/>
          <p:nvPr/>
        </p:nvPicPr>
        <p:blipFill rotWithShape="1">
          <a:blip r:embed="rId2">
            <a:alphaModFix/>
          </a:blip>
          <a:srcRect/>
          <a:stretch/>
        </p:blipFill>
        <p:spPr>
          <a:xfrm>
            <a:off x="648000" y="648000"/>
            <a:ext cx="3800310" cy="977348"/>
          </a:xfrm>
          <a:prstGeom prst="rect">
            <a:avLst/>
          </a:prstGeom>
          <a:noFill/>
          <a:ln>
            <a:noFill/>
          </a:ln>
        </p:spPr>
      </p:pic>
      <p:sp>
        <p:nvSpPr>
          <p:cNvPr id="127" name="Google Shape;127;gbf01359d15_0_164"/>
          <p:cNvSpPr txBox="1">
            <a:spLocks noGrp="1"/>
          </p:cNvSpPr>
          <p:nvPr>
            <p:ph type="title"/>
          </p:nvPr>
        </p:nvSpPr>
        <p:spPr>
          <a:xfrm>
            <a:off x="982800" y="4557148"/>
            <a:ext cx="15773400" cy="1988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6601"/>
              <a:buFont typeface="Arial"/>
              <a:buNone/>
              <a:defRPr sz="6601" b="1"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5_End white">
  <p:cSld name="5_End white">
    <p:bg>
      <p:bgPr>
        <a:solidFill>
          <a:srgbClr val="231F20"/>
        </a:solidFill>
        <a:effectLst/>
      </p:bgPr>
    </p:bg>
    <p:spTree>
      <p:nvGrpSpPr>
        <p:cNvPr id="1" name="Shape 133"/>
        <p:cNvGrpSpPr/>
        <p:nvPr/>
      </p:nvGrpSpPr>
      <p:grpSpPr>
        <a:xfrm>
          <a:off x="0" y="0"/>
          <a:ext cx="0" cy="0"/>
          <a:chOff x="0" y="0"/>
          <a:chExt cx="0" cy="0"/>
        </a:xfrm>
      </p:grpSpPr>
      <p:pic>
        <p:nvPicPr>
          <p:cNvPr id="134" name="Google Shape;134;gbf01359d15_0_172" descr="London Metropolitan University logo in white"/>
          <p:cNvPicPr preferRelativeResize="0"/>
          <p:nvPr/>
        </p:nvPicPr>
        <p:blipFill rotWithShape="1">
          <a:blip r:embed="rId2">
            <a:alphaModFix/>
          </a:blip>
          <a:srcRect/>
          <a:stretch/>
        </p:blipFill>
        <p:spPr>
          <a:xfrm>
            <a:off x="648000" y="648000"/>
            <a:ext cx="3800310" cy="977346"/>
          </a:xfrm>
          <a:prstGeom prst="rect">
            <a:avLst/>
          </a:prstGeom>
          <a:noFill/>
          <a:ln>
            <a:noFill/>
          </a:ln>
        </p:spPr>
      </p:pic>
      <p:sp>
        <p:nvSpPr>
          <p:cNvPr id="135" name="Google Shape;135;gbf01359d15_0_172"/>
          <p:cNvSpPr txBox="1">
            <a:spLocks noGrp="1"/>
          </p:cNvSpPr>
          <p:nvPr>
            <p:ph type="title"/>
          </p:nvPr>
        </p:nvSpPr>
        <p:spPr>
          <a:xfrm>
            <a:off x="982800" y="4557148"/>
            <a:ext cx="15773400" cy="1988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6601"/>
              <a:buFont typeface="Arial"/>
              <a:buNone/>
              <a:defRPr sz="6601" b="1" i="0" u="none" strike="noStrike" cap="none">
                <a:solidFill>
                  <a:schemeClr val="lt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6_End white">
  <p:cSld name="6_End white">
    <p:bg>
      <p:bgPr>
        <a:solidFill>
          <a:srgbClr val="002D6D"/>
        </a:solidFill>
        <a:effectLst/>
      </p:bgPr>
    </p:bg>
    <p:spTree>
      <p:nvGrpSpPr>
        <p:cNvPr id="1" name="Shape 141"/>
        <p:cNvGrpSpPr/>
        <p:nvPr/>
      </p:nvGrpSpPr>
      <p:grpSpPr>
        <a:xfrm>
          <a:off x="0" y="0"/>
          <a:ext cx="0" cy="0"/>
          <a:chOff x="0" y="0"/>
          <a:chExt cx="0" cy="0"/>
        </a:xfrm>
      </p:grpSpPr>
      <p:pic>
        <p:nvPicPr>
          <p:cNvPr id="142" name="Google Shape;142;gbf01359d15_0_180" descr="London Metropolitan University logo in white"/>
          <p:cNvPicPr preferRelativeResize="0"/>
          <p:nvPr/>
        </p:nvPicPr>
        <p:blipFill rotWithShape="1">
          <a:blip r:embed="rId2">
            <a:alphaModFix/>
          </a:blip>
          <a:srcRect/>
          <a:stretch/>
        </p:blipFill>
        <p:spPr>
          <a:xfrm>
            <a:off x="648000" y="648000"/>
            <a:ext cx="3800310" cy="977346"/>
          </a:xfrm>
          <a:prstGeom prst="rect">
            <a:avLst/>
          </a:prstGeom>
          <a:noFill/>
          <a:ln>
            <a:noFill/>
          </a:ln>
        </p:spPr>
      </p:pic>
      <p:sp>
        <p:nvSpPr>
          <p:cNvPr id="143" name="Google Shape;143;gbf01359d15_0_180"/>
          <p:cNvSpPr txBox="1">
            <a:spLocks noGrp="1"/>
          </p:cNvSpPr>
          <p:nvPr>
            <p:ph type="title"/>
          </p:nvPr>
        </p:nvSpPr>
        <p:spPr>
          <a:xfrm>
            <a:off x="982800" y="4557148"/>
            <a:ext cx="15773400" cy="19887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6601"/>
              <a:buFont typeface="Arial"/>
              <a:buNone/>
              <a:defRPr sz="6601" b="1" i="0" u="none" strike="noStrike" cap="none">
                <a:solidFill>
                  <a:schemeClr val="lt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Content basic white">
    <p:bg>
      <p:bgPr>
        <a:solidFill>
          <a:srgbClr val="B6D3F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5E4B13-61E0-6240-A456-1476E3920D42}"/>
              </a:ext>
            </a:extLst>
          </p:cNvPr>
          <p:cNvSpPr>
            <a:spLocks noGrp="1"/>
          </p:cNvSpPr>
          <p:nvPr>
            <p:ph type="ctrTitle" hasCustomPrompt="1"/>
          </p:nvPr>
        </p:nvSpPr>
        <p:spPr>
          <a:xfrm>
            <a:off x="1029600" y="1029600"/>
            <a:ext cx="16310250" cy="567191"/>
          </a:xfrm>
        </p:spPr>
        <p:txBody>
          <a:bodyPr anchor="b">
            <a:normAutofit/>
          </a:bodyPr>
          <a:lstStyle>
            <a:lvl1pPr algn="l">
              <a:defRPr sz="3000" b="1" i="0" baseline="0">
                <a:latin typeface="Arial" panose="020B0604020202020204" pitchFamily="34" charset="0"/>
              </a:defRPr>
            </a:lvl1pPr>
          </a:lstStyle>
          <a:p>
            <a:r>
              <a:rPr lang="en-GB" dirty="0"/>
              <a:t>Slide title – Please use Arial, size 30</a:t>
            </a:r>
          </a:p>
        </p:txBody>
      </p:sp>
      <p:sp>
        <p:nvSpPr>
          <p:cNvPr id="7" name="Subtitle 2">
            <a:extLst>
              <a:ext uri="{FF2B5EF4-FFF2-40B4-BE49-F238E27FC236}">
                <a16:creationId xmlns:a16="http://schemas.microsoft.com/office/drawing/2014/main" id="{484E7E6F-09F3-114B-ADBA-C4230F9F7CE1}"/>
              </a:ext>
            </a:extLst>
          </p:cNvPr>
          <p:cNvSpPr>
            <a:spLocks noGrp="1"/>
          </p:cNvSpPr>
          <p:nvPr>
            <p:ph type="subTitle" idx="1" hasCustomPrompt="1"/>
          </p:nvPr>
        </p:nvSpPr>
        <p:spPr>
          <a:xfrm>
            <a:off x="1029600" y="2160000"/>
            <a:ext cx="16310250" cy="6513216"/>
          </a:xfrm>
        </p:spPr>
        <p:txBody>
          <a:bodyPr>
            <a:normAutofit/>
          </a:bodyPr>
          <a:lstStyle>
            <a:lvl1pPr marL="0" marR="0" indent="0" algn="l" rtl="0">
              <a:lnSpc>
                <a:spcPct val="100000"/>
              </a:lnSpc>
              <a:spcBef>
                <a:spcPts val="0"/>
              </a:spcBef>
              <a:buClr>
                <a:srgbClr val="272727"/>
              </a:buClr>
              <a:buSzPct val="100000"/>
              <a:buFont typeface="Arial" panose="020B0604020202020204" pitchFamily="34" charset="0"/>
              <a:buNone/>
              <a:defRPr sz="3000" baseline="0">
                <a:solidFill>
                  <a:schemeClr val="tx1"/>
                </a:solidFill>
                <a:latin typeface="Arial" panose="020B0604020202020204" pitchFamily="34" charset="0"/>
              </a:defRPr>
            </a:lvl1pPr>
            <a:lvl2pPr marL="685907" indent="0" algn="ctr">
              <a:buNone/>
              <a:defRPr sz="3000"/>
            </a:lvl2pPr>
            <a:lvl3pPr marL="1371816" indent="0" algn="ctr">
              <a:buNone/>
              <a:defRPr sz="2700"/>
            </a:lvl3pPr>
            <a:lvl4pPr marL="2057723" indent="0" algn="ctr">
              <a:buNone/>
              <a:defRPr sz="2400"/>
            </a:lvl4pPr>
            <a:lvl5pPr marL="2743631" indent="0" algn="ctr">
              <a:buNone/>
              <a:defRPr sz="2400"/>
            </a:lvl5pPr>
            <a:lvl6pPr marL="3429539" indent="0" algn="ctr">
              <a:buNone/>
              <a:defRPr sz="2400"/>
            </a:lvl6pPr>
            <a:lvl7pPr marL="4115446" indent="0" algn="ctr">
              <a:buNone/>
              <a:defRPr sz="2400"/>
            </a:lvl7pPr>
            <a:lvl8pPr marL="4801355" indent="0" algn="ctr">
              <a:buNone/>
              <a:defRPr sz="2400"/>
            </a:lvl8pPr>
            <a:lvl9pPr marL="5487262" indent="0" algn="ctr">
              <a:buNone/>
              <a:defRPr sz="2400"/>
            </a:lvl9pPr>
          </a:lstStyle>
          <a:p>
            <a:r>
              <a:rPr lang="en-GB" dirty="0"/>
              <a:t>Please do not change the formatting of this slide. </a:t>
            </a:r>
          </a:p>
          <a:p>
            <a:endParaRPr lang="en-GB" dirty="0"/>
          </a:p>
          <a:p>
            <a:r>
              <a:rPr lang="en-GB" dirty="0"/>
              <a:t>Remember to keep your slides brief. Only include key points of prompts on the screen.</a:t>
            </a:r>
          </a:p>
          <a:p>
            <a:endParaRPr lang="en-GB" dirty="0"/>
          </a:p>
          <a:p>
            <a:r>
              <a:rPr lang="en-GB" dirty="0"/>
              <a:t>Retain the formatting set out here. Elements of the slide are aligned as per the brand guidelines.</a:t>
            </a:r>
          </a:p>
          <a:p>
            <a:endParaRPr lang="en-GB" dirty="0"/>
          </a:p>
          <a:p>
            <a:r>
              <a:rPr lang="en-GB" dirty="0"/>
              <a:t>If emphasis of one or two words is called for then bold text is permitted, though use this sparingly.</a:t>
            </a:r>
          </a:p>
          <a:p>
            <a:endParaRPr lang="en-GB" dirty="0"/>
          </a:p>
          <a:p>
            <a:r>
              <a:rPr lang="en-GB" dirty="0"/>
              <a:t>For more information about our editorial style and to download the latest templates, visit: londonmet.ac.uk/brand.</a:t>
            </a:r>
          </a:p>
          <a:p>
            <a:endParaRPr lang="en-GB" dirty="0"/>
          </a:p>
          <a:p>
            <a:r>
              <a:rPr lang="en-GB" dirty="0"/>
              <a:t> </a:t>
            </a:r>
          </a:p>
        </p:txBody>
      </p:sp>
      <p:sp>
        <p:nvSpPr>
          <p:cNvPr id="8" name="Text Placeholder 19">
            <a:extLst>
              <a:ext uri="{FF2B5EF4-FFF2-40B4-BE49-F238E27FC236}">
                <a16:creationId xmlns:a16="http://schemas.microsoft.com/office/drawing/2014/main" id="{48BC4001-3417-BF4F-B60B-111A81D16807}"/>
              </a:ext>
            </a:extLst>
          </p:cNvPr>
          <p:cNvSpPr>
            <a:spLocks noGrp="1"/>
          </p:cNvSpPr>
          <p:nvPr>
            <p:ph type="body" sz="quarter" idx="11" hasCustomPrompt="1"/>
          </p:nvPr>
        </p:nvSpPr>
        <p:spPr>
          <a:xfrm>
            <a:off x="1029600" y="9100800"/>
            <a:ext cx="6807200" cy="393177"/>
          </a:xfrm>
          <a:prstGeom prst="rect">
            <a:avLst/>
          </a:prstGeom>
        </p:spPr>
        <p:txBody>
          <a:bodyPr/>
          <a:lstStyle>
            <a:lvl1pPr marL="0" indent="0">
              <a:buNone/>
              <a:defRPr sz="1800">
                <a:latin typeface="Arial" panose="020B0604020202020204" pitchFamily="34" charset="0"/>
                <a:cs typeface="Arial" panose="020B0604020202020204" pitchFamily="34" charset="0"/>
              </a:defRPr>
            </a:lvl1pPr>
          </a:lstStyle>
          <a:p>
            <a:pPr lvl="0"/>
            <a:r>
              <a:rPr lang="en-GB" dirty="0"/>
              <a:t>Insert footer or references if needed</a:t>
            </a:r>
          </a:p>
        </p:txBody>
      </p:sp>
    </p:spTree>
    <p:extLst>
      <p:ext uri="{BB962C8B-B14F-4D97-AF65-F5344CB8AC3E}">
        <p14:creationId xmlns:p14="http://schemas.microsoft.com/office/powerpoint/2010/main" val="781716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257300" y="547773"/>
            <a:ext cx="15773400" cy="198865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600"/>
              <a:buFont typeface="Calibri"/>
              <a:buNone/>
              <a:defRPr sz="6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1257300" y="2738860"/>
            <a:ext cx="15773400" cy="6528015"/>
          </a:xfrm>
          <a:prstGeom prst="rect">
            <a:avLst/>
          </a:prstGeom>
          <a:noFill/>
          <a:ln>
            <a:noFill/>
          </a:ln>
        </p:spPr>
        <p:txBody>
          <a:bodyPr spcFirstLastPara="1" wrap="square" lIns="91425" tIns="45700" rIns="91425" bIns="45700" anchor="t" anchorCtr="0">
            <a:norm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Calibri"/>
                <a:ea typeface="Calibri"/>
                <a:cs typeface="Calibri"/>
                <a:sym typeface="Calibri"/>
              </a:defRPr>
            </a:lvl1pPr>
            <a:lvl2pPr marL="914400" marR="0" lvl="1" indent="-457200" algn="l" rtl="0">
              <a:lnSpc>
                <a:spcPct val="90000"/>
              </a:lnSpc>
              <a:spcBef>
                <a:spcPts val="75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2pPr>
            <a:lvl3pPr marL="1371600" marR="0" lvl="2" indent="-419100" algn="l" rtl="0">
              <a:lnSpc>
                <a:spcPct val="90000"/>
              </a:lnSpc>
              <a:spcBef>
                <a:spcPts val="75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3pPr>
            <a:lvl4pPr marL="1828800" marR="0" lvl="3"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1257300" y="9535998"/>
            <a:ext cx="4114800" cy="547772"/>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6057900" y="9535998"/>
            <a:ext cx="6172200" cy="547772"/>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202"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12915900" y="9535998"/>
            <a:ext cx="4114800" cy="547772"/>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6" r:id="rId5"/>
    <p:sldLayoutId id="2147483657" r:id="rId6"/>
    <p:sldLayoutId id="2147483659" r:id="rId7"/>
    <p:sldLayoutId id="2147483660" r:id="rId8"/>
    <p:sldLayoutId id="2147483661" r:id="rId9"/>
    <p:sldLayoutId id="2147483662" r:id="rId10"/>
    <p:sldLayoutId id="2147483663" r:id="rId11"/>
    <p:sldLayoutId id="2147483664" r:id="rId12"/>
    <p:sldLayoutId id="2147483666" r:id="rId13"/>
    <p:sldLayoutId id="2147483667" r:id="rId14"/>
    <p:sldLayoutId id="2147483668" r:id="rId15"/>
    <p:sldLayoutId id="2147483669" r:id="rId16"/>
    <p:sldLayoutId id="214748367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appsanywhere.londonmet.ac.uk/" TargetMode="External"/><Relationship Id="rId2" Type="http://schemas.openxmlformats.org/officeDocument/2006/relationships/hyperlink" Target="https://www.jamovi.org/"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4.png"/><Relationship Id="rId7" Type="http://schemas.openxmlformats.org/officeDocument/2006/relationships/image" Target="../media/image680.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customXml" Target="../ink/ink2.xml"/><Relationship Id="rId5" Type="http://schemas.openxmlformats.org/officeDocument/2006/relationships/image" Target="../media/image670.png"/><Relationship Id="rId4" Type="http://schemas.openxmlformats.org/officeDocument/2006/relationships/customXml" Target="../ink/ink1.xml"/><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AC79DE2-C48F-8A4E-F010-38A764A5F7E1}"/>
              </a:ext>
            </a:extLst>
          </p:cNvPr>
          <p:cNvSpPr>
            <a:spLocks noGrp="1"/>
          </p:cNvSpPr>
          <p:nvPr>
            <p:ph type="title"/>
          </p:nvPr>
        </p:nvSpPr>
        <p:spPr>
          <a:xfrm>
            <a:off x="982800" y="4557148"/>
            <a:ext cx="15773400" cy="1988700"/>
          </a:xfrm>
        </p:spPr>
        <p:txBody>
          <a:bodyPr/>
          <a:lstStyle/>
          <a:p>
            <a:r>
              <a:rPr lang="en-US" dirty="0"/>
              <a:t>Introduction to Quantitative Statistics</a:t>
            </a:r>
          </a:p>
        </p:txBody>
      </p:sp>
      <p:sp>
        <p:nvSpPr>
          <p:cNvPr id="4" name="TextBox 3">
            <a:extLst>
              <a:ext uri="{FF2B5EF4-FFF2-40B4-BE49-F238E27FC236}">
                <a16:creationId xmlns:a16="http://schemas.microsoft.com/office/drawing/2014/main" id="{57068573-A9C7-EFD2-7F91-B2D6B556D85E}"/>
              </a:ext>
            </a:extLst>
          </p:cNvPr>
          <p:cNvSpPr txBox="1"/>
          <p:nvPr/>
        </p:nvSpPr>
        <p:spPr>
          <a:xfrm>
            <a:off x="982800" y="6222682"/>
            <a:ext cx="15359063" cy="646331"/>
          </a:xfrm>
          <a:prstGeom prst="rect">
            <a:avLst/>
          </a:prstGeom>
          <a:noFill/>
        </p:spPr>
        <p:txBody>
          <a:bodyPr wrap="square" rtlCol="0">
            <a:spAutoFit/>
          </a:bodyPr>
          <a:lstStyle/>
          <a:p>
            <a:r>
              <a:rPr lang="en-GB" sz="3600" dirty="0"/>
              <a:t>Laura Perry (Academic Mentor in Health Sciences)</a:t>
            </a:r>
          </a:p>
        </p:txBody>
      </p:sp>
      <p:sp>
        <p:nvSpPr>
          <p:cNvPr id="5" name="Rectangle 4">
            <a:extLst>
              <a:ext uri="{FF2B5EF4-FFF2-40B4-BE49-F238E27FC236}">
                <a16:creationId xmlns:a16="http://schemas.microsoft.com/office/drawing/2014/main" id="{0847368C-795E-74D9-98AE-92909288C3B1}"/>
              </a:ext>
            </a:extLst>
          </p:cNvPr>
          <p:cNvSpPr/>
          <p:nvPr/>
        </p:nvSpPr>
        <p:spPr>
          <a:xfrm>
            <a:off x="982800" y="7479470"/>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Log into the computer and ensure you have access to the RCT paper you have chosen for your assessment as we will be referring to it throughout this lecture and we will also be using a statistical program</a:t>
            </a:r>
          </a:p>
        </p:txBody>
      </p:sp>
    </p:spTree>
    <p:extLst>
      <p:ext uri="{BB962C8B-B14F-4D97-AF65-F5344CB8AC3E}">
        <p14:creationId xmlns:p14="http://schemas.microsoft.com/office/powerpoint/2010/main" val="220113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B60DC-929D-A034-2469-4FBADE9C19C7}"/>
              </a:ext>
            </a:extLst>
          </p:cNvPr>
          <p:cNvSpPr>
            <a:spLocks noGrp="1"/>
          </p:cNvSpPr>
          <p:nvPr>
            <p:ph type="title"/>
          </p:nvPr>
        </p:nvSpPr>
        <p:spPr/>
        <p:txBody>
          <a:bodyPr/>
          <a:lstStyle/>
          <a:p>
            <a:r>
              <a:rPr lang="en-GB" dirty="0"/>
              <a:t>Learning Outcomes</a:t>
            </a:r>
          </a:p>
        </p:txBody>
      </p:sp>
      <p:sp>
        <p:nvSpPr>
          <p:cNvPr id="3" name="Text Placeholder 2">
            <a:extLst>
              <a:ext uri="{FF2B5EF4-FFF2-40B4-BE49-F238E27FC236}">
                <a16:creationId xmlns:a16="http://schemas.microsoft.com/office/drawing/2014/main" id="{A2C0135F-BBED-1FCF-462A-D5CC2064C7D3}"/>
              </a:ext>
            </a:extLst>
          </p:cNvPr>
          <p:cNvSpPr>
            <a:spLocks noGrp="1"/>
          </p:cNvSpPr>
          <p:nvPr>
            <p:ph type="body" idx="1"/>
          </p:nvPr>
        </p:nvSpPr>
        <p:spPr/>
        <p:txBody>
          <a:bodyPr/>
          <a:lstStyle/>
          <a:p>
            <a:pPr marL="228600" indent="0"/>
            <a:r>
              <a:rPr lang="en-GB" dirty="0"/>
              <a:t>Students will develop the ability to:</a:t>
            </a:r>
          </a:p>
          <a:p>
            <a:pPr marL="685800" indent="-457200">
              <a:lnSpc>
                <a:spcPct val="200000"/>
              </a:lnSpc>
              <a:buFont typeface="Arial" panose="020B0604020202020204" pitchFamily="34" charset="0"/>
              <a:buChar char="•"/>
            </a:pPr>
            <a:r>
              <a:rPr lang="en-GB" dirty="0"/>
              <a:t>Interpret descriptive statistics in Jamovi output.</a:t>
            </a:r>
          </a:p>
          <a:p>
            <a:pPr marL="685800" indent="-457200">
              <a:lnSpc>
                <a:spcPct val="200000"/>
              </a:lnSpc>
              <a:buFont typeface="Arial" panose="020B0604020202020204" pitchFamily="34" charset="0"/>
              <a:buChar char="•"/>
            </a:pPr>
            <a:r>
              <a:rPr lang="en-GB" dirty="0"/>
              <a:t>Read and understand tables and graphs presented in quantitative research papers.</a:t>
            </a:r>
          </a:p>
          <a:p>
            <a:pPr marL="685800" indent="-457200">
              <a:lnSpc>
                <a:spcPct val="200000"/>
              </a:lnSpc>
              <a:buFont typeface="Arial" panose="020B0604020202020204" pitchFamily="34" charset="0"/>
              <a:buChar char="•"/>
            </a:pPr>
            <a:r>
              <a:rPr lang="en-GB" dirty="0"/>
              <a:t>Critically interpret the results sections of quantitative research papers.</a:t>
            </a:r>
          </a:p>
          <a:p>
            <a:pPr marL="685800" indent="-457200">
              <a:lnSpc>
                <a:spcPct val="200000"/>
              </a:lnSpc>
              <a:buFont typeface="Arial" panose="020B0604020202020204" pitchFamily="34" charset="0"/>
              <a:buChar char="•"/>
            </a:pPr>
            <a:r>
              <a:rPr lang="en-GB" dirty="0"/>
              <a:t>Judge whether study conclusions are valid based on data presented.</a:t>
            </a:r>
          </a:p>
        </p:txBody>
      </p:sp>
    </p:spTree>
    <p:extLst>
      <p:ext uri="{BB962C8B-B14F-4D97-AF65-F5344CB8AC3E}">
        <p14:creationId xmlns:p14="http://schemas.microsoft.com/office/powerpoint/2010/main" val="500526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B5ED-3B46-2375-1A69-979A2E31C3DD}"/>
              </a:ext>
            </a:extLst>
          </p:cNvPr>
          <p:cNvSpPr>
            <a:spLocks noGrp="1"/>
          </p:cNvSpPr>
          <p:nvPr>
            <p:ph type="title"/>
          </p:nvPr>
        </p:nvSpPr>
        <p:spPr>
          <a:xfrm>
            <a:off x="1257300" y="1303911"/>
            <a:ext cx="15773400" cy="1988651"/>
          </a:xfrm>
        </p:spPr>
        <p:txBody>
          <a:bodyPr wrap="square" anchor="ctr">
            <a:normAutofit/>
          </a:bodyPr>
          <a:lstStyle/>
          <a:p>
            <a:r>
              <a:rPr lang="en-GB" dirty="0"/>
              <a:t>Contents</a:t>
            </a:r>
          </a:p>
        </p:txBody>
      </p:sp>
      <p:graphicFrame>
        <p:nvGraphicFramePr>
          <p:cNvPr id="5" name="Text Placeholder 2">
            <a:extLst>
              <a:ext uri="{FF2B5EF4-FFF2-40B4-BE49-F238E27FC236}">
                <a16:creationId xmlns:a16="http://schemas.microsoft.com/office/drawing/2014/main" id="{3FF31CD8-C7E5-F64E-2D20-B5E3AF602F99}"/>
              </a:ext>
            </a:extLst>
          </p:cNvPr>
          <p:cNvGraphicFramePr/>
          <p:nvPr>
            <p:extLst>
              <p:ext uri="{D42A27DB-BD31-4B8C-83A1-F6EECF244321}">
                <p14:modId xmlns:p14="http://schemas.microsoft.com/office/powerpoint/2010/main" val="2738321193"/>
              </p:ext>
            </p:extLst>
          </p:nvPr>
        </p:nvGraphicFramePr>
        <p:xfrm>
          <a:off x="1257300" y="2726924"/>
          <a:ext cx="15773400" cy="6082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43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6461E1B-DB56-BE18-F4A2-ED339AF6B9B5}"/>
              </a:ext>
            </a:extLst>
          </p:cNvPr>
          <p:cNvPicPr>
            <a:picLocks noChangeAspect="1"/>
          </p:cNvPicPr>
          <p:nvPr/>
        </p:nvPicPr>
        <p:blipFill>
          <a:blip r:embed="rId2"/>
          <a:stretch>
            <a:fillRect/>
          </a:stretch>
        </p:blipFill>
        <p:spPr>
          <a:xfrm>
            <a:off x="0" y="0"/>
            <a:ext cx="18288000" cy="12192000"/>
          </a:xfrm>
          <a:prstGeom prst="rect">
            <a:avLst/>
          </a:prstGeom>
        </p:spPr>
      </p:pic>
    </p:spTree>
    <p:extLst>
      <p:ext uri="{BB962C8B-B14F-4D97-AF65-F5344CB8AC3E}">
        <p14:creationId xmlns:p14="http://schemas.microsoft.com/office/powerpoint/2010/main" val="32397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F804-94BE-1A6B-69DE-CDA4C0227825}"/>
              </a:ext>
            </a:extLst>
          </p:cNvPr>
          <p:cNvSpPr>
            <a:spLocks noGrp="1"/>
          </p:cNvSpPr>
          <p:nvPr>
            <p:ph type="title"/>
          </p:nvPr>
        </p:nvSpPr>
        <p:spPr/>
        <p:txBody>
          <a:bodyPr/>
          <a:lstStyle/>
          <a:p>
            <a:r>
              <a:rPr lang="en-GB" dirty="0"/>
              <a:t>Statistics Analysis </a:t>
            </a:r>
          </a:p>
        </p:txBody>
      </p:sp>
      <p:sp>
        <p:nvSpPr>
          <p:cNvPr id="3" name="Text Placeholder 2">
            <a:extLst>
              <a:ext uri="{FF2B5EF4-FFF2-40B4-BE49-F238E27FC236}">
                <a16:creationId xmlns:a16="http://schemas.microsoft.com/office/drawing/2014/main" id="{F13245ED-F343-C013-8B6A-4A7F65907B7F}"/>
              </a:ext>
            </a:extLst>
          </p:cNvPr>
          <p:cNvSpPr>
            <a:spLocks noGrp="1"/>
          </p:cNvSpPr>
          <p:nvPr>
            <p:ph type="body" idx="1"/>
          </p:nvPr>
        </p:nvSpPr>
        <p:spPr>
          <a:xfrm>
            <a:off x="1029600" y="4222015"/>
            <a:ext cx="16385700" cy="2940928"/>
          </a:xfrm>
        </p:spPr>
        <p:txBody>
          <a:bodyPr/>
          <a:lstStyle/>
          <a:p>
            <a:pPr indent="0" algn="ctr"/>
            <a:r>
              <a:rPr lang="en-GB" dirty="0"/>
              <a:t>A powerful tool that helps identify </a:t>
            </a:r>
            <a:r>
              <a:rPr lang="en-GB" b="1" dirty="0"/>
              <a:t>patterns</a:t>
            </a:r>
            <a:r>
              <a:rPr lang="en-GB" dirty="0"/>
              <a:t>, </a:t>
            </a:r>
            <a:r>
              <a:rPr lang="en-GB" b="1" dirty="0"/>
              <a:t>differences</a:t>
            </a:r>
            <a:r>
              <a:rPr lang="en-GB" dirty="0"/>
              <a:t>, and </a:t>
            </a:r>
            <a:r>
              <a:rPr lang="en-GB" b="1" dirty="0"/>
              <a:t>relationships</a:t>
            </a:r>
            <a:r>
              <a:rPr lang="en-GB" dirty="0"/>
              <a:t> between variables in data, using appropriate </a:t>
            </a:r>
            <a:r>
              <a:rPr lang="en-GB" b="1" dirty="0"/>
              <a:t>significance</a:t>
            </a:r>
            <a:r>
              <a:rPr lang="en-GB" dirty="0"/>
              <a:t> tests based on the </a:t>
            </a:r>
            <a:r>
              <a:rPr lang="en-GB" b="1" dirty="0"/>
              <a:t>data's nature </a:t>
            </a:r>
            <a:r>
              <a:rPr lang="en-GB" dirty="0"/>
              <a:t>and </a:t>
            </a:r>
            <a:r>
              <a:rPr lang="en-GB" b="1" dirty="0"/>
              <a:t>study design</a:t>
            </a:r>
            <a:r>
              <a:rPr lang="en-GB" dirty="0"/>
              <a:t>. It uses mathematical models to summarise data </a:t>
            </a:r>
            <a:r>
              <a:rPr lang="en-GB" b="1" dirty="0"/>
              <a:t>(descriptive statistics)</a:t>
            </a:r>
            <a:r>
              <a:rPr lang="en-GB" dirty="0"/>
              <a:t> and make predictions or inferences about a larger population based on a smaller sample </a:t>
            </a:r>
            <a:r>
              <a:rPr lang="en-GB" b="1" dirty="0"/>
              <a:t>(inferential statistics)</a:t>
            </a:r>
            <a:r>
              <a:rPr lang="en-GB" dirty="0"/>
              <a:t>. </a:t>
            </a:r>
            <a:endParaRPr lang="en-GB" i="1" dirty="0"/>
          </a:p>
          <a:p>
            <a:endParaRPr lang="en-GB" i="1" dirty="0"/>
          </a:p>
          <a:p>
            <a:endParaRPr lang="en-GB" i="1" dirty="0"/>
          </a:p>
          <a:p>
            <a:endParaRPr lang="en-GB" i="1" dirty="0"/>
          </a:p>
          <a:p>
            <a:endParaRPr lang="en-GB" i="1" dirty="0"/>
          </a:p>
        </p:txBody>
      </p:sp>
    </p:spTree>
    <p:extLst>
      <p:ext uri="{BB962C8B-B14F-4D97-AF65-F5344CB8AC3E}">
        <p14:creationId xmlns:p14="http://schemas.microsoft.com/office/powerpoint/2010/main" val="105283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86E31-171E-6BD2-022B-22B1F0B6F57F}"/>
              </a:ext>
            </a:extLst>
          </p:cNvPr>
          <p:cNvSpPr>
            <a:spLocks noGrp="1"/>
          </p:cNvSpPr>
          <p:nvPr>
            <p:ph type="title"/>
          </p:nvPr>
        </p:nvSpPr>
        <p:spPr/>
        <p:txBody>
          <a:bodyPr/>
          <a:lstStyle/>
          <a:p>
            <a:r>
              <a:rPr lang="en-GB" dirty="0"/>
              <a:t>Why run statistical analysis?</a:t>
            </a:r>
          </a:p>
        </p:txBody>
      </p:sp>
      <p:sp>
        <p:nvSpPr>
          <p:cNvPr id="3" name="Text Placeholder 2">
            <a:extLst>
              <a:ext uri="{FF2B5EF4-FFF2-40B4-BE49-F238E27FC236}">
                <a16:creationId xmlns:a16="http://schemas.microsoft.com/office/drawing/2014/main" id="{005045EC-F2AE-B472-0751-1126F2E9AF68}"/>
              </a:ext>
            </a:extLst>
          </p:cNvPr>
          <p:cNvSpPr>
            <a:spLocks noGrp="1"/>
          </p:cNvSpPr>
          <p:nvPr>
            <p:ph type="body" idx="1"/>
          </p:nvPr>
        </p:nvSpPr>
        <p:spPr/>
        <p:txBody>
          <a:bodyPr/>
          <a:lstStyle/>
          <a:p>
            <a:pPr marL="685800" indent="-457200">
              <a:buFont typeface="Arial" panose="020B0604020202020204" pitchFamily="34" charset="0"/>
              <a:buChar char="•"/>
            </a:pPr>
            <a:r>
              <a:rPr lang="en-GB" b="1" dirty="0"/>
              <a:t>Make Sense of Data: </a:t>
            </a:r>
            <a:r>
              <a:rPr lang="en-GB" dirty="0"/>
              <a:t>Turns numbers into clear information you can understand.</a:t>
            </a:r>
          </a:p>
          <a:p>
            <a:pPr marL="685800" indent="-457200">
              <a:buFont typeface="Arial" panose="020B0604020202020204" pitchFamily="34" charset="0"/>
              <a:buChar char="•"/>
            </a:pPr>
            <a:endParaRPr lang="en-GB" b="1" dirty="0"/>
          </a:p>
          <a:p>
            <a:pPr marL="685800" indent="-457200">
              <a:buFont typeface="Arial" panose="020B0604020202020204" pitchFamily="34" charset="0"/>
              <a:buChar char="•"/>
            </a:pPr>
            <a:r>
              <a:rPr lang="en-GB" b="1" dirty="0"/>
              <a:t>Check What Works: </a:t>
            </a:r>
            <a:r>
              <a:rPr lang="en-GB" dirty="0"/>
              <a:t>Shows if a treatment, method, or idea is really effective.</a:t>
            </a:r>
          </a:p>
          <a:p>
            <a:pPr marL="685800" indent="-457200">
              <a:buFont typeface="Arial" panose="020B0604020202020204" pitchFamily="34" charset="0"/>
              <a:buChar char="•"/>
            </a:pPr>
            <a:endParaRPr lang="en-GB" b="1" dirty="0"/>
          </a:p>
          <a:p>
            <a:pPr marL="685800" indent="-457200">
              <a:buFont typeface="Arial" panose="020B0604020202020204" pitchFamily="34" charset="0"/>
              <a:buChar char="•"/>
            </a:pPr>
            <a:r>
              <a:rPr lang="en-GB" b="1" dirty="0"/>
              <a:t>Avoid Guesswork: </a:t>
            </a:r>
            <a:r>
              <a:rPr lang="en-GB" dirty="0"/>
              <a:t>Helps you make decisions based on evidence, not assumptions.</a:t>
            </a:r>
          </a:p>
          <a:p>
            <a:pPr marL="685800" indent="-457200">
              <a:buFont typeface="Arial" panose="020B0604020202020204" pitchFamily="34" charset="0"/>
              <a:buChar char="•"/>
            </a:pPr>
            <a:endParaRPr lang="en-GB" b="1" dirty="0"/>
          </a:p>
          <a:p>
            <a:pPr marL="685800" indent="-457200">
              <a:buFont typeface="Arial" panose="020B0604020202020204" pitchFamily="34" charset="0"/>
              <a:buChar char="•"/>
            </a:pPr>
            <a:r>
              <a:rPr lang="en-GB" b="1" dirty="0"/>
              <a:t>Spot Patterns: </a:t>
            </a:r>
            <a:r>
              <a:rPr lang="en-GB" dirty="0"/>
              <a:t>Finds trends and relationships you might not see otherwise.</a:t>
            </a:r>
          </a:p>
          <a:p>
            <a:pPr marL="685800" indent="-457200">
              <a:buFont typeface="Arial" panose="020B0604020202020204" pitchFamily="34" charset="0"/>
              <a:buChar char="•"/>
            </a:pPr>
            <a:endParaRPr lang="en-GB" dirty="0"/>
          </a:p>
          <a:p>
            <a:pPr marL="228600" indent="0"/>
            <a:r>
              <a:rPr lang="en-GB" b="1" dirty="0"/>
              <a:t>Example:</a:t>
            </a:r>
            <a:br>
              <a:rPr lang="en-GB" dirty="0"/>
            </a:br>
            <a:r>
              <a:rPr lang="en-GB" dirty="0"/>
              <a:t>In physiotherapy, you might collect data on patients’ pain levels before and after a new exercise program. Statistical analysis helps you see if the improvement is real or just due to chance.</a:t>
            </a:r>
          </a:p>
        </p:txBody>
      </p:sp>
    </p:spTree>
    <p:extLst>
      <p:ext uri="{BB962C8B-B14F-4D97-AF65-F5344CB8AC3E}">
        <p14:creationId xmlns:p14="http://schemas.microsoft.com/office/powerpoint/2010/main" val="296728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4858-7B3F-8A75-45FD-0A2E6384DD39}"/>
              </a:ext>
            </a:extLst>
          </p:cNvPr>
          <p:cNvSpPr>
            <a:spLocks noGrp="1"/>
          </p:cNvSpPr>
          <p:nvPr>
            <p:ph type="title"/>
          </p:nvPr>
        </p:nvSpPr>
        <p:spPr/>
        <p:txBody>
          <a:bodyPr/>
          <a:lstStyle/>
          <a:p>
            <a:r>
              <a:rPr lang="en-GB" dirty="0"/>
              <a:t>Description vs. Inferential</a:t>
            </a:r>
          </a:p>
        </p:txBody>
      </p:sp>
      <p:sp>
        <p:nvSpPr>
          <p:cNvPr id="3" name="Text Placeholder 2">
            <a:extLst>
              <a:ext uri="{FF2B5EF4-FFF2-40B4-BE49-F238E27FC236}">
                <a16:creationId xmlns:a16="http://schemas.microsoft.com/office/drawing/2014/main" id="{DD0D35EF-161B-D327-1F33-1DA88C724BAB}"/>
              </a:ext>
            </a:extLst>
          </p:cNvPr>
          <p:cNvSpPr>
            <a:spLocks noGrp="1"/>
          </p:cNvSpPr>
          <p:nvPr>
            <p:ph type="body" idx="1"/>
          </p:nvPr>
        </p:nvSpPr>
        <p:spPr/>
        <p:txBody>
          <a:bodyPr/>
          <a:lstStyle/>
          <a:p>
            <a:r>
              <a:rPr lang="en-GB" dirty="0"/>
              <a:t>Two types of statistics: </a:t>
            </a:r>
          </a:p>
          <a:p>
            <a:pPr marL="685800" indent="-457200">
              <a:buFont typeface="Arial" panose="020B0604020202020204" pitchFamily="34" charset="0"/>
              <a:buChar char="•"/>
            </a:pPr>
            <a:r>
              <a:rPr lang="en-GB" dirty="0"/>
              <a:t>Descriptive: Talking exclusively about the data and evidence you have.</a:t>
            </a:r>
          </a:p>
          <a:p>
            <a:pPr marL="685800" indent="-457200">
              <a:buFont typeface="Arial" panose="020B0604020202020204" pitchFamily="34" charset="0"/>
              <a:buChar char="•"/>
            </a:pPr>
            <a:r>
              <a:rPr lang="en-GB" dirty="0"/>
              <a:t>Inference: Drawing broader inferences about the world by talking also about the data you do not have (i.e., the missing data).</a:t>
            </a:r>
          </a:p>
        </p:txBody>
      </p:sp>
      <p:pic>
        <p:nvPicPr>
          <p:cNvPr id="7" name="Picture 6">
            <a:extLst>
              <a:ext uri="{FF2B5EF4-FFF2-40B4-BE49-F238E27FC236}">
                <a16:creationId xmlns:a16="http://schemas.microsoft.com/office/drawing/2014/main" id="{662234DC-F36A-5153-8580-95E1B5E09D5A}"/>
              </a:ext>
            </a:extLst>
          </p:cNvPr>
          <p:cNvPicPr>
            <a:picLocks noChangeAspect="1"/>
          </p:cNvPicPr>
          <p:nvPr/>
        </p:nvPicPr>
        <p:blipFill>
          <a:blip r:embed="rId2"/>
          <a:stretch>
            <a:fillRect/>
          </a:stretch>
        </p:blipFill>
        <p:spPr>
          <a:xfrm>
            <a:off x="1270751" y="5648687"/>
            <a:ext cx="14955863" cy="3399060"/>
          </a:xfrm>
          <a:prstGeom prst="rect">
            <a:avLst/>
          </a:prstGeom>
        </p:spPr>
      </p:pic>
    </p:spTree>
    <p:extLst>
      <p:ext uri="{BB962C8B-B14F-4D97-AF65-F5344CB8AC3E}">
        <p14:creationId xmlns:p14="http://schemas.microsoft.com/office/powerpoint/2010/main" val="670224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8C39-A90B-A8B9-62CD-ECE0CC33AB00}"/>
              </a:ext>
            </a:extLst>
          </p:cNvPr>
          <p:cNvSpPr>
            <a:spLocks noGrp="1"/>
          </p:cNvSpPr>
          <p:nvPr>
            <p:ph type="title"/>
          </p:nvPr>
        </p:nvSpPr>
        <p:spPr/>
        <p:txBody>
          <a:bodyPr/>
          <a:lstStyle/>
          <a:p>
            <a:r>
              <a:rPr lang="en-GB" dirty="0"/>
              <a:t>Mean, Median and Mode (i.e. Measures of Central Tendency)</a:t>
            </a:r>
          </a:p>
        </p:txBody>
      </p:sp>
      <p:sp>
        <p:nvSpPr>
          <p:cNvPr id="3" name="Text Placeholder 2">
            <a:extLst>
              <a:ext uri="{FF2B5EF4-FFF2-40B4-BE49-F238E27FC236}">
                <a16:creationId xmlns:a16="http://schemas.microsoft.com/office/drawing/2014/main" id="{7DC89F87-1C65-8C09-6584-1B28C69E1A58}"/>
              </a:ext>
            </a:extLst>
          </p:cNvPr>
          <p:cNvSpPr>
            <a:spLocks noGrp="1"/>
          </p:cNvSpPr>
          <p:nvPr>
            <p:ph type="body" idx="1"/>
          </p:nvPr>
        </p:nvSpPr>
        <p:spPr>
          <a:xfrm>
            <a:off x="1029600" y="3404181"/>
            <a:ext cx="6814989" cy="6249900"/>
          </a:xfrm>
        </p:spPr>
        <p:txBody>
          <a:bodyPr/>
          <a:lstStyle/>
          <a:p>
            <a:pPr indent="0"/>
            <a:r>
              <a:rPr lang="en-GB" dirty="0"/>
              <a:t>Measures of central tendency estimate a dataset's average or centre, finding the result using three methods: mean, mode, and median.</a:t>
            </a:r>
          </a:p>
          <a:p>
            <a:pPr indent="0"/>
            <a:endParaRPr lang="en-GB" dirty="0"/>
          </a:p>
          <a:p>
            <a:endParaRPr lang="en-GB" dirty="0"/>
          </a:p>
        </p:txBody>
      </p:sp>
      <p:pic>
        <p:nvPicPr>
          <p:cNvPr id="4" name="Picture 3">
            <a:extLst>
              <a:ext uri="{FF2B5EF4-FFF2-40B4-BE49-F238E27FC236}">
                <a16:creationId xmlns:a16="http://schemas.microsoft.com/office/drawing/2014/main" id="{2511FCE2-C53D-641F-6105-5F3445900BE3}"/>
              </a:ext>
            </a:extLst>
          </p:cNvPr>
          <p:cNvPicPr>
            <a:picLocks noChangeAspect="1"/>
          </p:cNvPicPr>
          <p:nvPr/>
        </p:nvPicPr>
        <p:blipFill>
          <a:blip r:embed="rId2"/>
          <a:stretch>
            <a:fillRect/>
          </a:stretch>
        </p:blipFill>
        <p:spPr>
          <a:xfrm>
            <a:off x="8686800" y="3115808"/>
            <a:ext cx="7156938" cy="5365406"/>
          </a:xfrm>
          <a:prstGeom prst="rect">
            <a:avLst/>
          </a:prstGeom>
        </p:spPr>
      </p:pic>
    </p:spTree>
    <p:extLst>
      <p:ext uri="{BB962C8B-B14F-4D97-AF65-F5344CB8AC3E}">
        <p14:creationId xmlns:p14="http://schemas.microsoft.com/office/powerpoint/2010/main" val="68600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27FB-1158-4DCD-CEAC-5AD252CB2941}"/>
              </a:ext>
            </a:extLst>
          </p:cNvPr>
          <p:cNvSpPr>
            <a:spLocks noGrp="1"/>
          </p:cNvSpPr>
          <p:nvPr>
            <p:ph type="title"/>
          </p:nvPr>
        </p:nvSpPr>
        <p:spPr/>
        <p:txBody>
          <a:bodyPr/>
          <a:lstStyle/>
          <a:p>
            <a:r>
              <a:rPr lang="fr-FR" dirty="0"/>
              <a:t>Range, </a:t>
            </a:r>
            <a:r>
              <a:rPr lang="en-GB" noProof="0" dirty="0"/>
              <a:t>IQR, standard deviation (i.e. measures of variability)</a:t>
            </a:r>
            <a:endParaRPr lang="en-GB" dirty="0"/>
          </a:p>
        </p:txBody>
      </p:sp>
      <p:sp>
        <p:nvSpPr>
          <p:cNvPr id="3" name="Text Placeholder 2">
            <a:extLst>
              <a:ext uri="{FF2B5EF4-FFF2-40B4-BE49-F238E27FC236}">
                <a16:creationId xmlns:a16="http://schemas.microsoft.com/office/drawing/2014/main" id="{C2CF437A-A4AF-E32B-CB04-E97BFE343FA4}"/>
              </a:ext>
            </a:extLst>
          </p:cNvPr>
          <p:cNvSpPr>
            <a:spLocks noGrp="1"/>
          </p:cNvSpPr>
          <p:nvPr>
            <p:ph type="body" idx="1"/>
          </p:nvPr>
        </p:nvSpPr>
        <p:spPr>
          <a:xfrm>
            <a:off x="1029600" y="3404181"/>
            <a:ext cx="7622031" cy="4610626"/>
          </a:xfrm>
        </p:spPr>
        <p:txBody>
          <a:bodyPr/>
          <a:lstStyle/>
          <a:p>
            <a:pPr indent="0"/>
            <a:r>
              <a:rPr lang="en-GB" b="1" dirty="0"/>
              <a:t>Range:</a:t>
            </a:r>
            <a:r>
              <a:rPr lang="en-GB" dirty="0"/>
              <a:t> difference between highest and lowest value</a:t>
            </a:r>
          </a:p>
          <a:p>
            <a:pPr indent="0"/>
            <a:endParaRPr lang="en-GB" dirty="0"/>
          </a:p>
          <a:p>
            <a:pPr indent="0"/>
            <a:r>
              <a:rPr lang="en-GB" b="1" dirty="0"/>
              <a:t>Interquartile Range (IQR): </a:t>
            </a:r>
            <a:r>
              <a:rPr lang="en-GB" dirty="0"/>
              <a:t>The range of the middle 50% of the data (difference between 75th and 25th percentiles).</a:t>
            </a:r>
          </a:p>
          <a:p>
            <a:pPr indent="0"/>
            <a:endParaRPr lang="en-GB" dirty="0"/>
          </a:p>
          <a:p>
            <a:pPr indent="0"/>
            <a:r>
              <a:rPr lang="en-GB" b="1" dirty="0"/>
              <a:t>Standard Deviation:</a:t>
            </a:r>
            <a:r>
              <a:rPr lang="en-GB" dirty="0"/>
              <a:t> The square root of the variance, expressing the average distance from the mean in the original units.</a:t>
            </a:r>
          </a:p>
          <a:p>
            <a:endParaRPr lang="en-GB" dirty="0"/>
          </a:p>
        </p:txBody>
      </p:sp>
      <p:pic>
        <p:nvPicPr>
          <p:cNvPr id="6" name="Picture 5">
            <a:extLst>
              <a:ext uri="{FF2B5EF4-FFF2-40B4-BE49-F238E27FC236}">
                <a16:creationId xmlns:a16="http://schemas.microsoft.com/office/drawing/2014/main" id="{967B5936-4493-024D-BADE-6DE2A1938D2F}"/>
              </a:ext>
            </a:extLst>
          </p:cNvPr>
          <p:cNvPicPr>
            <a:picLocks noGrp="1" noChangeAspect="1"/>
          </p:cNvPicPr>
          <p:nvPr/>
        </p:nvPicPr>
        <p:blipFill>
          <a:blip r:embed="rId2"/>
          <a:stretch>
            <a:fillRect/>
          </a:stretch>
        </p:blipFill>
        <p:spPr bwMode="auto">
          <a:xfrm>
            <a:off x="9636371" y="3224385"/>
            <a:ext cx="7778929" cy="5226707"/>
          </a:xfrm>
          <a:prstGeom prst="rect">
            <a:avLst/>
          </a:prstGeom>
          <a:noFill/>
          <a:ln w="9525">
            <a:noFill/>
            <a:headEnd/>
            <a:tailEnd/>
          </a:ln>
        </p:spPr>
      </p:pic>
    </p:spTree>
    <p:extLst>
      <p:ext uri="{BB962C8B-B14F-4D97-AF65-F5344CB8AC3E}">
        <p14:creationId xmlns:p14="http://schemas.microsoft.com/office/powerpoint/2010/main" val="2579207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CD7A0-7744-A7C4-0B4C-CC27C2E8BCBE}"/>
              </a:ext>
            </a:extLst>
          </p:cNvPr>
          <p:cNvSpPr>
            <a:spLocks noGrp="1"/>
          </p:cNvSpPr>
          <p:nvPr>
            <p:ph type="title"/>
          </p:nvPr>
        </p:nvSpPr>
        <p:spPr>
          <a:xfrm>
            <a:off x="764930" y="1404840"/>
            <a:ext cx="15773400" cy="1988651"/>
          </a:xfrm>
        </p:spPr>
        <p:txBody>
          <a:bodyPr wrap="square" anchor="ctr">
            <a:normAutofit/>
          </a:bodyPr>
          <a:lstStyle/>
          <a:p>
            <a:r>
              <a:rPr lang="en-GB" sz="3000" dirty="0"/>
              <a:t>Measure of Central Tendency and Variability Pairs</a:t>
            </a:r>
          </a:p>
        </p:txBody>
      </p:sp>
      <p:pic>
        <p:nvPicPr>
          <p:cNvPr id="3074" name="Picture 2" descr="Quartiles and interquartile range - Range and box-and-whisker plots - WJEC  - GCSE Maths Numeracy (WJEC) Revision - BBC Bitesize">
            <a:extLst>
              <a:ext uri="{FF2B5EF4-FFF2-40B4-BE49-F238E27FC236}">
                <a16:creationId xmlns:a16="http://schemas.microsoft.com/office/drawing/2014/main" id="{86967219-2D1F-A6A2-6592-CA95CA6A37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14" t="4" r="-1202" b="-5"/>
          <a:stretch>
            <a:fillRect/>
          </a:stretch>
        </p:blipFill>
        <p:spPr bwMode="auto">
          <a:xfrm>
            <a:off x="8897815" y="3393491"/>
            <a:ext cx="8625255" cy="5388473"/>
          </a:xfrm>
          <a:prstGeom prst="rect">
            <a:avLst/>
          </a:prstGeom>
          <a:solidFill>
            <a:srgbClr val="FFFFFF"/>
          </a:solidFill>
          <a:ln>
            <a:noFill/>
          </a:ln>
        </p:spPr>
      </p:pic>
      <p:pic>
        <p:nvPicPr>
          <p:cNvPr id="8" name="Picture 7">
            <a:extLst>
              <a:ext uri="{FF2B5EF4-FFF2-40B4-BE49-F238E27FC236}">
                <a16:creationId xmlns:a16="http://schemas.microsoft.com/office/drawing/2014/main" id="{FA0F847C-8894-89B4-BB56-09AD26914023}"/>
              </a:ext>
            </a:extLst>
          </p:cNvPr>
          <p:cNvPicPr>
            <a:picLocks noChangeAspect="1"/>
          </p:cNvPicPr>
          <p:nvPr/>
        </p:nvPicPr>
        <p:blipFill>
          <a:blip r:embed="rId3"/>
          <a:stretch>
            <a:fillRect/>
          </a:stretch>
        </p:blipFill>
        <p:spPr>
          <a:xfrm>
            <a:off x="894342" y="3393490"/>
            <a:ext cx="7362466" cy="5388472"/>
          </a:xfrm>
          <a:prstGeom prst="rect">
            <a:avLst/>
          </a:prstGeom>
        </p:spPr>
      </p:pic>
      <p:sp>
        <p:nvSpPr>
          <p:cNvPr id="7" name="Rectangle 6">
            <a:extLst>
              <a:ext uri="{FF2B5EF4-FFF2-40B4-BE49-F238E27FC236}">
                <a16:creationId xmlns:a16="http://schemas.microsoft.com/office/drawing/2014/main" id="{A623040C-35CD-D3FC-BC81-A6B0F01F5100}"/>
              </a:ext>
            </a:extLst>
          </p:cNvPr>
          <p:cNvSpPr/>
          <p:nvPr/>
        </p:nvSpPr>
        <p:spPr>
          <a:xfrm>
            <a:off x="951150" y="8883748"/>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measures of central tendency and variability do they use?</a:t>
            </a:r>
          </a:p>
        </p:txBody>
      </p:sp>
    </p:spTree>
    <p:extLst>
      <p:ext uri="{BB962C8B-B14F-4D97-AF65-F5344CB8AC3E}">
        <p14:creationId xmlns:p14="http://schemas.microsoft.com/office/powerpoint/2010/main" val="1148481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C3A2C-57C1-87F5-4A21-91DABC4BAE65}"/>
              </a:ext>
            </a:extLst>
          </p:cNvPr>
          <p:cNvSpPr>
            <a:spLocks noGrp="1"/>
          </p:cNvSpPr>
          <p:nvPr>
            <p:ph type="title"/>
          </p:nvPr>
        </p:nvSpPr>
        <p:spPr/>
        <p:txBody>
          <a:bodyPr/>
          <a:lstStyle/>
          <a:p>
            <a:r>
              <a:rPr lang="en-GB" dirty="0"/>
              <a:t>Type of data</a:t>
            </a:r>
          </a:p>
        </p:txBody>
      </p:sp>
      <p:sp>
        <p:nvSpPr>
          <p:cNvPr id="3" name="Subtitle 2">
            <a:extLst>
              <a:ext uri="{FF2B5EF4-FFF2-40B4-BE49-F238E27FC236}">
                <a16:creationId xmlns:a16="http://schemas.microsoft.com/office/drawing/2014/main" id="{81B32295-F3F1-AF0B-8CF6-8F29AB0C54DB}"/>
              </a:ext>
            </a:extLst>
          </p:cNvPr>
          <p:cNvSpPr>
            <a:spLocks noGrp="1"/>
          </p:cNvSpPr>
          <p:nvPr>
            <p:ph type="body" idx="1"/>
          </p:nvPr>
        </p:nvSpPr>
        <p:spPr/>
        <p:txBody>
          <a:bodyPr>
            <a:normAutofit/>
          </a:bodyPr>
          <a:lstStyle/>
          <a:p>
            <a:r>
              <a:rPr lang="en-GB" b="1" dirty="0"/>
              <a:t>Discrete, categorical, or ‘lower order’ data:</a:t>
            </a:r>
          </a:p>
          <a:p>
            <a:r>
              <a:rPr lang="en-GB" dirty="0"/>
              <a:t>Nominal</a:t>
            </a:r>
          </a:p>
          <a:p>
            <a:r>
              <a:rPr lang="en-GB" dirty="0"/>
              <a:t>Ordinal</a:t>
            </a:r>
          </a:p>
          <a:p>
            <a:endParaRPr lang="en-GB" b="1" dirty="0"/>
          </a:p>
          <a:p>
            <a:r>
              <a:rPr lang="en-GB" b="1" dirty="0"/>
              <a:t>Continuous, or ‘higher order’ data:</a:t>
            </a:r>
          </a:p>
          <a:p>
            <a:r>
              <a:rPr lang="en-GB" dirty="0"/>
              <a:t>Interval</a:t>
            </a:r>
          </a:p>
          <a:p>
            <a:r>
              <a:rPr lang="en-GB" dirty="0"/>
              <a:t>Ratio</a:t>
            </a:r>
          </a:p>
          <a:p>
            <a:endParaRPr lang="en-GB" dirty="0"/>
          </a:p>
          <a:p>
            <a:endParaRPr lang="en-GB" dirty="0"/>
          </a:p>
          <a:p>
            <a:endParaRPr lang="en-GB" dirty="0"/>
          </a:p>
          <a:p>
            <a:endParaRPr lang="en-GB" dirty="0"/>
          </a:p>
          <a:p>
            <a:endParaRPr lang="en-GB" dirty="0"/>
          </a:p>
          <a:p>
            <a:endParaRPr lang="en-GB" dirty="0"/>
          </a:p>
          <a:p>
            <a:endParaRPr lang="en-GB" dirty="0"/>
          </a:p>
        </p:txBody>
      </p:sp>
      <p:pic>
        <p:nvPicPr>
          <p:cNvPr id="1030" name="Picture 6" descr="Scales of Measurement- Nominal, Ordinal, Interval and Ratio">
            <a:extLst>
              <a:ext uri="{FF2B5EF4-FFF2-40B4-BE49-F238E27FC236}">
                <a16:creationId xmlns:a16="http://schemas.microsoft.com/office/drawing/2014/main" id="{725AACE3-3F21-D6A0-6515-C00CD1CC5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3718" y="2254945"/>
            <a:ext cx="7788106" cy="490131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7023E80-1661-DF22-AADC-7AF9CBB33AB4}"/>
              </a:ext>
            </a:extLst>
          </p:cNvPr>
          <p:cNvSpPr/>
          <p:nvPr/>
        </p:nvSpPr>
        <p:spPr>
          <a:xfrm>
            <a:off x="1346125" y="8599004"/>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types of data do they use?</a:t>
            </a:r>
          </a:p>
        </p:txBody>
      </p:sp>
    </p:spTree>
    <p:extLst>
      <p:ext uri="{BB962C8B-B14F-4D97-AF65-F5344CB8AC3E}">
        <p14:creationId xmlns:p14="http://schemas.microsoft.com/office/powerpoint/2010/main" val="3745281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D08C-A264-7747-F076-72DC9C96449F}"/>
              </a:ext>
            </a:extLst>
          </p:cNvPr>
          <p:cNvSpPr>
            <a:spLocks noGrp="1"/>
          </p:cNvSpPr>
          <p:nvPr>
            <p:ph type="title"/>
          </p:nvPr>
        </p:nvSpPr>
        <p:spPr/>
        <p:txBody>
          <a:bodyPr/>
          <a:lstStyle/>
          <a:p>
            <a:r>
              <a:rPr lang="en-GB" dirty="0"/>
              <a:t>Research Variables</a:t>
            </a:r>
          </a:p>
        </p:txBody>
      </p:sp>
      <p:pic>
        <p:nvPicPr>
          <p:cNvPr id="1032" name="Picture 8" descr="Independent and Dependent Variables Examples">
            <a:extLst>
              <a:ext uri="{FF2B5EF4-FFF2-40B4-BE49-F238E27FC236}">
                <a16:creationId xmlns:a16="http://schemas.microsoft.com/office/drawing/2014/main" id="{38DDFBA1-7DA8-09E7-537C-5E5E074D09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849" y="3476673"/>
            <a:ext cx="6807201" cy="45381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A7D6CC5-778C-D63E-F801-FB1759379F6F}"/>
              </a:ext>
            </a:extLst>
          </p:cNvPr>
          <p:cNvSpPr/>
          <p:nvPr/>
        </p:nvSpPr>
        <p:spPr>
          <a:xfrm>
            <a:off x="1346125" y="8599004"/>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is the IV and DV?</a:t>
            </a:r>
          </a:p>
        </p:txBody>
      </p:sp>
    </p:spTree>
    <p:extLst>
      <p:ext uri="{BB962C8B-B14F-4D97-AF65-F5344CB8AC3E}">
        <p14:creationId xmlns:p14="http://schemas.microsoft.com/office/powerpoint/2010/main" val="2168832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28CE0-0227-E248-A346-B24BE7D0F891}"/>
              </a:ext>
            </a:extLst>
          </p:cNvPr>
          <p:cNvSpPr>
            <a:spLocks noGrp="1"/>
          </p:cNvSpPr>
          <p:nvPr>
            <p:ph type="title"/>
          </p:nvPr>
        </p:nvSpPr>
        <p:spPr/>
        <p:txBody>
          <a:bodyPr/>
          <a:lstStyle/>
          <a:p>
            <a:r>
              <a:rPr lang="en-GB" dirty="0"/>
              <a:t>Statistical Software</a:t>
            </a:r>
          </a:p>
        </p:txBody>
      </p:sp>
      <p:pic>
        <p:nvPicPr>
          <p:cNvPr id="2050" name="Picture 2" descr="SPSS: Unleashing the Power of Data Analysis – La Grande Galaxie Consult">
            <a:extLst>
              <a:ext uri="{FF2B5EF4-FFF2-40B4-BE49-F238E27FC236}">
                <a16:creationId xmlns:a16="http://schemas.microsoft.com/office/drawing/2014/main" id="{0ED72136-587E-657A-952C-5C6359AED60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337" t="26827" r="24230" b="23713"/>
          <a:stretch>
            <a:fillRect/>
          </a:stretch>
        </p:blipFill>
        <p:spPr bwMode="auto">
          <a:xfrm>
            <a:off x="8332419" y="3404181"/>
            <a:ext cx="3071071" cy="27905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40485B4-58E4-1579-9AE9-071440C4BD2C}"/>
              </a:ext>
            </a:extLst>
          </p:cNvPr>
          <p:cNvPicPr>
            <a:picLocks noChangeAspect="1"/>
          </p:cNvPicPr>
          <p:nvPr/>
        </p:nvPicPr>
        <p:blipFill>
          <a:blip r:embed="rId3"/>
          <a:stretch>
            <a:fillRect/>
          </a:stretch>
        </p:blipFill>
        <p:spPr>
          <a:xfrm>
            <a:off x="1020629" y="3404181"/>
            <a:ext cx="3445501" cy="2790570"/>
          </a:xfrm>
          <a:prstGeom prst="rect">
            <a:avLst/>
          </a:prstGeom>
        </p:spPr>
      </p:pic>
      <p:pic>
        <p:nvPicPr>
          <p:cNvPr id="10" name="Picture 9">
            <a:extLst>
              <a:ext uri="{FF2B5EF4-FFF2-40B4-BE49-F238E27FC236}">
                <a16:creationId xmlns:a16="http://schemas.microsoft.com/office/drawing/2014/main" id="{91F0D63D-D6CB-88A1-5383-88B7F5527C9A}"/>
              </a:ext>
            </a:extLst>
          </p:cNvPr>
          <p:cNvPicPr>
            <a:picLocks noChangeAspect="1"/>
          </p:cNvPicPr>
          <p:nvPr/>
        </p:nvPicPr>
        <p:blipFill>
          <a:blip r:embed="rId4"/>
          <a:stretch>
            <a:fillRect/>
          </a:stretch>
        </p:blipFill>
        <p:spPr>
          <a:xfrm>
            <a:off x="3426311" y="7555400"/>
            <a:ext cx="3445501" cy="1418736"/>
          </a:xfrm>
          <a:prstGeom prst="rect">
            <a:avLst/>
          </a:prstGeom>
        </p:spPr>
      </p:pic>
      <p:pic>
        <p:nvPicPr>
          <p:cNvPr id="12" name="Picture 11">
            <a:extLst>
              <a:ext uri="{FF2B5EF4-FFF2-40B4-BE49-F238E27FC236}">
                <a16:creationId xmlns:a16="http://schemas.microsoft.com/office/drawing/2014/main" id="{DBE0721C-CC55-BAD3-2784-FCB0BE3F8EAF}"/>
              </a:ext>
            </a:extLst>
          </p:cNvPr>
          <p:cNvPicPr>
            <a:picLocks noChangeAspect="1"/>
          </p:cNvPicPr>
          <p:nvPr/>
        </p:nvPicPr>
        <p:blipFill>
          <a:blip r:embed="rId5"/>
          <a:stretch>
            <a:fillRect/>
          </a:stretch>
        </p:blipFill>
        <p:spPr>
          <a:xfrm>
            <a:off x="12618550" y="7421108"/>
            <a:ext cx="4486277" cy="1418736"/>
          </a:xfrm>
          <a:prstGeom prst="rect">
            <a:avLst/>
          </a:prstGeom>
        </p:spPr>
      </p:pic>
    </p:spTree>
    <p:extLst>
      <p:ext uri="{BB962C8B-B14F-4D97-AF65-F5344CB8AC3E}">
        <p14:creationId xmlns:p14="http://schemas.microsoft.com/office/powerpoint/2010/main" val="2361554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75025-8C48-8FDC-4BEE-525BA004879F}"/>
              </a:ext>
            </a:extLst>
          </p:cNvPr>
          <p:cNvSpPr>
            <a:spLocks noGrp="1"/>
          </p:cNvSpPr>
          <p:nvPr>
            <p:ph type="title"/>
          </p:nvPr>
        </p:nvSpPr>
        <p:spPr/>
        <p:txBody>
          <a:bodyPr/>
          <a:lstStyle/>
          <a:p>
            <a:r>
              <a:rPr lang="en-GB" dirty="0"/>
              <a:t>Last year: SPSS Introduction</a:t>
            </a:r>
          </a:p>
        </p:txBody>
      </p:sp>
      <p:pic>
        <p:nvPicPr>
          <p:cNvPr id="5" name="Picture 4">
            <a:extLst>
              <a:ext uri="{FF2B5EF4-FFF2-40B4-BE49-F238E27FC236}">
                <a16:creationId xmlns:a16="http://schemas.microsoft.com/office/drawing/2014/main" id="{6CAD4DB1-7C93-DB88-BC66-9AE0408BFD69}"/>
              </a:ext>
            </a:extLst>
          </p:cNvPr>
          <p:cNvPicPr>
            <a:picLocks noChangeAspect="1"/>
          </p:cNvPicPr>
          <p:nvPr/>
        </p:nvPicPr>
        <p:blipFill>
          <a:blip r:embed="rId2"/>
          <a:stretch>
            <a:fillRect/>
          </a:stretch>
        </p:blipFill>
        <p:spPr>
          <a:xfrm>
            <a:off x="2825358" y="3087115"/>
            <a:ext cx="12637283" cy="6777279"/>
          </a:xfrm>
          <a:prstGeom prst="rect">
            <a:avLst/>
          </a:prstGeom>
        </p:spPr>
      </p:pic>
    </p:spTree>
    <p:extLst>
      <p:ext uri="{BB962C8B-B14F-4D97-AF65-F5344CB8AC3E}">
        <p14:creationId xmlns:p14="http://schemas.microsoft.com/office/powerpoint/2010/main" val="173774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F752E-EFAB-19C0-827B-737604C0D190}"/>
              </a:ext>
            </a:extLst>
          </p:cNvPr>
          <p:cNvSpPr>
            <a:spLocks noGrp="1"/>
          </p:cNvSpPr>
          <p:nvPr>
            <p:ph type="title"/>
          </p:nvPr>
        </p:nvSpPr>
        <p:spPr/>
        <p:txBody>
          <a:bodyPr/>
          <a:lstStyle/>
          <a:p>
            <a:r>
              <a:rPr lang="en-GB" dirty="0"/>
              <a:t>This year: Jamovi Introduction </a:t>
            </a:r>
          </a:p>
        </p:txBody>
      </p:sp>
      <p:pic>
        <p:nvPicPr>
          <p:cNvPr id="5" name="Picture 4">
            <a:extLst>
              <a:ext uri="{FF2B5EF4-FFF2-40B4-BE49-F238E27FC236}">
                <a16:creationId xmlns:a16="http://schemas.microsoft.com/office/drawing/2014/main" id="{F107C28D-A88A-10A6-80B4-9D9E96832314}"/>
              </a:ext>
            </a:extLst>
          </p:cNvPr>
          <p:cNvPicPr>
            <a:picLocks noChangeAspect="1"/>
          </p:cNvPicPr>
          <p:nvPr/>
        </p:nvPicPr>
        <p:blipFill>
          <a:blip r:embed="rId2"/>
          <a:srcRect b="33626"/>
          <a:stretch>
            <a:fillRect/>
          </a:stretch>
        </p:blipFill>
        <p:spPr>
          <a:xfrm>
            <a:off x="2908985" y="3117475"/>
            <a:ext cx="12927229" cy="6519021"/>
          </a:xfrm>
          <a:prstGeom prst="rect">
            <a:avLst/>
          </a:prstGeom>
        </p:spPr>
      </p:pic>
    </p:spTree>
    <p:extLst>
      <p:ext uri="{BB962C8B-B14F-4D97-AF65-F5344CB8AC3E}">
        <p14:creationId xmlns:p14="http://schemas.microsoft.com/office/powerpoint/2010/main" val="55700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DEB43-D0B9-2667-BAFE-4B6668860ECE}"/>
              </a:ext>
            </a:extLst>
          </p:cNvPr>
          <p:cNvSpPr>
            <a:spLocks noGrp="1"/>
          </p:cNvSpPr>
          <p:nvPr>
            <p:ph type="title"/>
          </p:nvPr>
        </p:nvSpPr>
        <p:spPr/>
        <p:txBody>
          <a:bodyPr/>
          <a:lstStyle/>
          <a:p>
            <a:r>
              <a:rPr lang="en-GB" dirty="0"/>
              <a:t>Access to Jamovi</a:t>
            </a:r>
          </a:p>
        </p:txBody>
      </p:sp>
      <p:sp>
        <p:nvSpPr>
          <p:cNvPr id="3" name="Text Placeholder 2">
            <a:extLst>
              <a:ext uri="{FF2B5EF4-FFF2-40B4-BE49-F238E27FC236}">
                <a16:creationId xmlns:a16="http://schemas.microsoft.com/office/drawing/2014/main" id="{9E5EC8A6-2DCA-4612-DE98-A695EEE89C1B}"/>
              </a:ext>
            </a:extLst>
          </p:cNvPr>
          <p:cNvSpPr>
            <a:spLocks noGrp="1"/>
          </p:cNvSpPr>
          <p:nvPr>
            <p:ph type="body" idx="1"/>
          </p:nvPr>
        </p:nvSpPr>
        <p:spPr>
          <a:xfrm>
            <a:off x="1029599" y="3404181"/>
            <a:ext cx="6215263" cy="6249900"/>
          </a:xfrm>
        </p:spPr>
        <p:txBody>
          <a:bodyPr/>
          <a:lstStyle/>
          <a:p>
            <a:r>
              <a:rPr lang="en-GB" b="1" dirty="0">
                <a:hlinkClick r:id="rId2"/>
              </a:rPr>
              <a:t>Web browser </a:t>
            </a:r>
            <a:endParaRPr lang="en-GB" b="1" dirty="0"/>
          </a:p>
          <a:p>
            <a:endParaRPr lang="en-GB" i="1" dirty="0"/>
          </a:p>
          <a:p>
            <a:r>
              <a:rPr lang="en-GB" i="1" dirty="0"/>
              <a:t>Best for</a:t>
            </a:r>
            <a:r>
              <a:rPr lang="en-GB" dirty="0"/>
              <a:t>: Lightweight analyses, quick access, situations where installation is NOT possible. </a:t>
            </a:r>
          </a:p>
          <a:p>
            <a:endParaRPr lang="en-GB" i="1" dirty="0"/>
          </a:p>
          <a:p>
            <a:r>
              <a:rPr lang="en-GB" i="1" dirty="0"/>
              <a:t>Limitations</a:t>
            </a:r>
            <a:r>
              <a:rPr lang="en-GB" dirty="0"/>
              <a:t>: Subject to session timeouts</a:t>
            </a:r>
          </a:p>
          <a:p>
            <a:endParaRPr lang="en-GB" dirty="0"/>
          </a:p>
        </p:txBody>
      </p:sp>
      <p:sp>
        <p:nvSpPr>
          <p:cNvPr id="6" name="Text Placeholder 2">
            <a:extLst>
              <a:ext uri="{FF2B5EF4-FFF2-40B4-BE49-F238E27FC236}">
                <a16:creationId xmlns:a16="http://schemas.microsoft.com/office/drawing/2014/main" id="{007F1258-1040-F140-02A0-5B0AA76BC5B1}"/>
              </a:ext>
            </a:extLst>
          </p:cNvPr>
          <p:cNvSpPr txBox="1">
            <a:spLocks/>
          </p:cNvSpPr>
          <p:nvPr/>
        </p:nvSpPr>
        <p:spPr>
          <a:xfrm>
            <a:off x="10709031" y="3404181"/>
            <a:ext cx="6706269" cy="36085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1pPr>
            <a:lvl2pPr marL="914400" marR="0" lvl="1" indent="-228600" algn="l" rtl="0">
              <a:lnSpc>
                <a:spcPct val="90000"/>
              </a:lnSpc>
              <a:spcBef>
                <a:spcPts val="75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750"/>
              </a:spcBef>
              <a:spcAft>
                <a:spcPts val="0"/>
              </a:spcAft>
              <a:buClr>
                <a:schemeClr val="dk1"/>
              </a:buClr>
              <a:buSzPts val="1501"/>
              <a:buFont typeface="Arial"/>
              <a:buNone/>
              <a:defRPr sz="1501" b="0" i="0" u="none" strike="noStrike" cap="none">
                <a:solidFill>
                  <a:schemeClr val="dk1"/>
                </a:solidFill>
                <a:latin typeface="Calibri"/>
                <a:ea typeface="Calibri"/>
                <a:cs typeface="Calibri"/>
                <a:sym typeface="Calibri"/>
              </a:defRPr>
            </a:lvl9pPr>
          </a:lstStyle>
          <a:p>
            <a:r>
              <a:rPr lang="en-GB" b="1" dirty="0">
                <a:hlinkClick r:id="rId3"/>
              </a:rPr>
              <a:t>London Met </a:t>
            </a:r>
            <a:r>
              <a:rPr lang="en-GB" b="1" dirty="0" err="1">
                <a:hlinkClick r:id="rId3"/>
              </a:rPr>
              <a:t>Appsanywhere</a:t>
            </a:r>
            <a:endParaRPr lang="en-GB" b="1" dirty="0"/>
          </a:p>
          <a:p>
            <a:endParaRPr lang="en-GB" i="1" dirty="0"/>
          </a:p>
          <a:p>
            <a:r>
              <a:rPr lang="en-GB" i="1" dirty="0"/>
              <a:t>Best for</a:t>
            </a:r>
            <a:r>
              <a:rPr lang="en-GB" dirty="0"/>
              <a:t>: Larger datasets, analyses that may exceed the cloud time limits, or when higher stability is needed.</a:t>
            </a:r>
          </a:p>
          <a:p>
            <a:endParaRPr lang="en-GB" dirty="0"/>
          </a:p>
          <a:p>
            <a:endParaRPr lang="en-GB" dirty="0"/>
          </a:p>
        </p:txBody>
      </p:sp>
      <p:sp>
        <p:nvSpPr>
          <p:cNvPr id="7" name="TextBox 6">
            <a:extLst>
              <a:ext uri="{FF2B5EF4-FFF2-40B4-BE49-F238E27FC236}">
                <a16:creationId xmlns:a16="http://schemas.microsoft.com/office/drawing/2014/main" id="{2D50C557-E02F-1E4C-6CDC-1EE62D31DFB9}"/>
              </a:ext>
            </a:extLst>
          </p:cNvPr>
          <p:cNvSpPr txBox="1"/>
          <p:nvPr/>
        </p:nvSpPr>
        <p:spPr>
          <a:xfrm>
            <a:off x="8229602" y="5421293"/>
            <a:ext cx="1652953" cy="553998"/>
          </a:xfrm>
          <a:prstGeom prst="rect">
            <a:avLst/>
          </a:prstGeom>
          <a:noFill/>
        </p:spPr>
        <p:txBody>
          <a:bodyPr wrap="square" rtlCol="0">
            <a:spAutoFit/>
          </a:bodyPr>
          <a:lstStyle/>
          <a:p>
            <a:r>
              <a:rPr lang="en-GB" sz="3000" b="1" dirty="0"/>
              <a:t>OR</a:t>
            </a:r>
          </a:p>
        </p:txBody>
      </p:sp>
    </p:spTree>
    <p:extLst>
      <p:ext uri="{BB962C8B-B14F-4D97-AF65-F5344CB8AC3E}">
        <p14:creationId xmlns:p14="http://schemas.microsoft.com/office/powerpoint/2010/main" val="3454948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814A-A7EF-D96A-EC1B-64C5E5EAD284}"/>
              </a:ext>
            </a:extLst>
          </p:cNvPr>
          <p:cNvSpPr>
            <a:spLocks noGrp="1"/>
          </p:cNvSpPr>
          <p:nvPr>
            <p:ph type="title"/>
          </p:nvPr>
        </p:nvSpPr>
        <p:spPr>
          <a:xfrm>
            <a:off x="951150" y="1887424"/>
            <a:ext cx="16385700" cy="593700"/>
          </a:xfrm>
        </p:spPr>
        <p:txBody>
          <a:bodyPr/>
          <a:lstStyle/>
          <a:p>
            <a:r>
              <a:rPr lang="en-GB" dirty="0"/>
              <a:t>Jamovi - Basics</a:t>
            </a:r>
          </a:p>
        </p:txBody>
      </p:sp>
      <p:grpSp>
        <p:nvGrpSpPr>
          <p:cNvPr id="12" name="Group 11">
            <a:extLst>
              <a:ext uri="{FF2B5EF4-FFF2-40B4-BE49-F238E27FC236}">
                <a16:creationId xmlns:a16="http://schemas.microsoft.com/office/drawing/2014/main" id="{234F9523-CE91-A1CE-81BB-614818652D68}"/>
              </a:ext>
            </a:extLst>
          </p:cNvPr>
          <p:cNvGrpSpPr/>
          <p:nvPr/>
        </p:nvGrpSpPr>
        <p:grpSpPr>
          <a:xfrm>
            <a:off x="567711" y="2515161"/>
            <a:ext cx="15674012" cy="7589580"/>
            <a:chOff x="620465" y="2455135"/>
            <a:chExt cx="15674012" cy="7589580"/>
          </a:xfrm>
        </p:grpSpPr>
        <p:pic>
          <p:nvPicPr>
            <p:cNvPr id="11" name="Picture 10">
              <a:extLst>
                <a:ext uri="{FF2B5EF4-FFF2-40B4-BE49-F238E27FC236}">
                  <a16:creationId xmlns:a16="http://schemas.microsoft.com/office/drawing/2014/main" id="{5A45642F-8085-31D2-884F-B6E3870FF578}"/>
                </a:ext>
              </a:extLst>
            </p:cNvPr>
            <p:cNvPicPr>
              <a:picLocks noChangeAspect="1"/>
            </p:cNvPicPr>
            <p:nvPr/>
          </p:nvPicPr>
          <p:blipFill>
            <a:blip r:embed="rId3"/>
            <a:stretch>
              <a:fillRect/>
            </a:stretch>
          </p:blipFill>
          <p:spPr>
            <a:xfrm>
              <a:off x="2532322" y="2844172"/>
              <a:ext cx="13762155" cy="7200543"/>
            </a:xfrm>
            <a:prstGeom prst="rect">
              <a:avLst/>
            </a:prstGeom>
          </p:spPr>
        </p:pic>
        <p:sp>
          <p:nvSpPr>
            <p:cNvPr id="8" name="Rectangle 7">
              <a:extLst>
                <a:ext uri="{FF2B5EF4-FFF2-40B4-BE49-F238E27FC236}">
                  <a16:creationId xmlns:a16="http://schemas.microsoft.com/office/drawing/2014/main" id="{975643F0-2466-2AB5-8787-7DE26E32A90A}"/>
                </a:ext>
              </a:extLst>
            </p:cNvPr>
            <p:cNvSpPr/>
            <p:nvPr/>
          </p:nvSpPr>
          <p:spPr>
            <a:xfrm>
              <a:off x="2537558" y="3587262"/>
              <a:ext cx="5903057" cy="6406970"/>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DC46B999-9375-5CEB-C557-FC07331645C6}"/>
                </a:ext>
              </a:extLst>
            </p:cNvPr>
            <p:cNvSpPr txBox="1"/>
            <p:nvPr/>
          </p:nvSpPr>
          <p:spPr>
            <a:xfrm>
              <a:off x="4784000" y="6917418"/>
              <a:ext cx="2499664" cy="338554"/>
            </a:xfrm>
            <a:prstGeom prst="rect">
              <a:avLst/>
            </a:prstGeom>
            <a:noFill/>
          </p:spPr>
          <p:txBody>
            <a:bodyPr wrap="square" rtlCol="0">
              <a:spAutoFit/>
            </a:bodyPr>
            <a:lstStyle/>
            <a:p>
              <a:r>
                <a:rPr lang="en-GB" sz="1600" b="1" dirty="0">
                  <a:solidFill>
                    <a:srgbClr val="00B050"/>
                  </a:solidFill>
                </a:rPr>
                <a:t>Spreadsheet</a:t>
              </a:r>
            </a:p>
          </p:txBody>
        </p:sp>
        <p:sp>
          <p:nvSpPr>
            <p:cNvPr id="20" name="Rectangle 19">
              <a:extLst>
                <a:ext uri="{FF2B5EF4-FFF2-40B4-BE49-F238E27FC236}">
                  <a16:creationId xmlns:a16="http://schemas.microsoft.com/office/drawing/2014/main" id="{24136667-25B3-B46B-E00D-10C52B90A4C9}"/>
                </a:ext>
              </a:extLst>
            </p:cNvPr>
            <p:cNvSpPr/>
            <p:nvPr/>
          </p:nvSpPr>
          <p:spPr>
            <a:xfrm>
              <a:off x="8563707" y="3587261"/>
              <a:ext cx="7730769" cy="640697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6F20A1D-4F7F-A55F-1D8D-6C5AC49BA539}"/>
                </a:ext>
              </a:extLst>
            </p:cNvPr>
            <p:cNvSpPr txBox="1"/>
            <p:nvPr/>
          </p:nvSpPr>
          <p:spPr>
            <a:xfrm>
              <a:off x="11430728" y="6917418"/>
              <a:ext cx="2499664" cy="338554"/>
            </a:xfrm>
            <a:prstGeom prst="rect">
              <a:avLst/>
            </a:prstGeom>
            <a:noFill/>
          </p:spPr>
          <p:txBody>
            <a:bodyPr wrap="square" rtlCol="0">
              <a:spAutoFit/>
            </a:bodyPr>
            <a:lstStyle/>
            <a:p>
              <a:r>
                <a:rPr lang="en-GB" sz="1600" b="1" dirty="0">
                  <a:solidFill>
                    <a:srgbClr val="FF0000"/>
                  </a:solidFill>
                </a:rPr>
                <a:t>Results Viewer</a:t>
              </a:r>
            </a:p>
          </p:txBody>
        </p:sp>
        <p:sp>
          <p:nvSpPr>
            <p:cNvPr id="23" name="TextBox 22">
              <a:extLst>
                <a:ext uri="{FF2B5EF4-FFF2-40B4-BE49-F238E27FC236}">
                  <a16:creationId xmlns:a16="http://schemas.microsoft.com/office/drawing/2014/main" id="{1A375536-6E90-95D4-09A6-12A50B908853}"/>
                </a:ext>
              </a:extLst>
            </p:cNvPr>
            <p:cNvSpPr txBox="1"/>
            <p:nvPr/>
          </p:nvSpPr>
          <p:spPr>
            <a:xfrm>
              <a:off x="3534168" y="2455135"/>
              <a:ext cx="2499664" cy="338554"/>
            </a:xfrm>
            <a:prstGeom prst="rect">
              <a:avLst/>
            </a:prstGeom>
            <a:noFill/>
          </p:spPr>
          <p:txBody>
            <a:bodyPr wrap="square" rtlCol="0">
              <a:spAutoFit/>
            </a:bodyPr>
            <a:lstStyle/>
            <a:p>
              <a:r>
                <a:rPr lang="en-GB" sz="1600" b="1" dirty="0">
                  <a:solidFill>
                    <a:schemeClr val="accent2"/>
                  </a:solidFill>
                </a:rPr>
                <a:t>Menu</a:t>
              </a:r>
            </a:p>
          </p:txBody>
        </p:sp>
        <p:grpSp>
          <p:nvGrpSpPr>
            <p:cNvPr id="34" name="Group 33">
              <a:extLst>
                <a:ext uri="{FF2B5EF4-FFF2-40B4-BE49-F238E27FC236}">
                  <a16:creationId xmlns:a16="http://schemas.microsoft.com/office/drawing/2014/main" id="{CD9AE3DF-AA11-3313-7FED-BD381CA60DA7}"/>
                </a:ext>
              </a:extLst>
            </p:cNvPr>
            <p:cNvGrpSpPr/>
            <p:nvPr/>
          </p:nvGrpSpPr>
          <p:grpSpPr>
            <a:xfrm>
              <a:off x="1408764" y="2858581"/>
              <a:ext cx="1441800" cy="703440"/>
              <a:chOff x="1502614" y="1641497"/>
              <a:chExt cx="1441800" cy="703440"/>
            </a:xfrm>
          </p:grpSpPr>
          <mc:AlternateContent xmlns:mc="http://schemas.openxmlformats.org/markup-compatibility/2006" xmlns:p14="http://schemas.microsoft.com/office/powerpoint/2010/main">
            <mc:Choice Requires="p14">
              <p:contentPart p14:bwMode="auto" r:id="rId4">
                <p14:nvContentPartPr>
                  <p14:cNvPr id="32" name="Ink 31">
                    <a:extLst>
                      <a:ext uri="{FF2B5EF4-FFF2-40B4-BE49-F238E27FC236}">
                        <a16:creationId xmlns:a16="http://schemas.microsoft.com/office/drawing/2014/main" id="{975E1CC5-EFAD-1012-65DE-03FD4E6540EF}"/>
                      </a:ext>
                    </a:extLst>
                  </p14:cNvPr>
                  <p14:cNvContentPartPr/>
                  <p14:nvPr/>
                </p14:nvContentPartPr>
                <p14:xfrm>
                  <a:off x="2688814" y="1641497"/>
                  <a:ext cx="255600" cy="285840"/>
                </p14:xfrm>
              </p:contentPart>
            </mc:Choice>
            <mc:Fallback xmlns="">
              <p:pic>
                <p:nvPicPr>
                  <p:cNvPr id="32" name="Ink 31">
                    <a:extLst>
                      <a:ext uri="{FF2B5EF4-FFF2-40B4-BE49-F238E27FC236}">
                        <a16:creationId xmlns:a16="http://schemas.microsoft.com/office/drawing/2014/main" id="{975E1CC5-EFAD-1012-65DE-03FD4E6540EF}"/>
                      </a:ext>
                    </a:extLst>
                  </p:cNvPr>
                  <p:cNvPicPr/>
                  <p:nvPr/>
                </p:nvPicPr>
                <p:blipFill>
                  <a:blip r:embed="rId5"/>
                  <a:stretch>
                    <a:fillRect/>
                  </a:stretch>
                </p:blipFill>
                <p:spPr>
                  <a:xfrm>
                    <a:off x="2679814" y="1632857"/>
                    <a:ext cx="2732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3" name="Ink 32">
                    <a:extLst>
                      <a:ext uri="{FF2B5EF4-FFF2-40B4-BE49-F238E27FC236}">
                        <a16:creationId xmlns:a16="http://schemas.microsoft.com/office/drawing/2014/main" id="{AE0C8BB4-A8C1-30DF-A371-E731FACD55BC}"/>
                      </a:ext>
                    </a:extLst>
                  </p14:cNvPr>
                  <p14:cNvContentPartPr/>
                  <p14:nvPr/>
                </p14:nvContentPartPr>
                <p14:xfrm>
                  <a:off x="1502614" y="1844897"/>
                  <a:ext cx="1191240" cy="500040"/>
                </p14:xfrm>
              </p:contentPart>
            </mc:Choice>
            <mc:Fallback xmlns="">
              <p:pic>
                <p:nvPicPr>
                  <p:cNvPr id="33" name="Ink 32">
                    <a:extLst>
                      <a:ext uri="{FF2B5EF4-FFF2-40B4-BE49-F238E27FC236}">
                        <a16:creationId xmlns:a16="http://schemas.microsoft.com/office/drawing/2014/main" id="{AE0C8BB4-A8C1-30DF-A371-E731FACD55BC}"/>
                      </a:ext>
                    </a:extLst>
                  </p:cNvPr>
                  <p:cNvPicPr/>
                  <p:nvPr/>
                </p:nvPicPr>
                <p:blipFill>
                  <a:blip r:embed="rId7"/>
                  <a:stretch>
                    <a:fillRect/>
                  </a:stretch>
                </p:blipFill>
                <p:spPr>
                  <a:xfrm>
                    <a:off x="1493974" y="1836257"/>
                    <a:ext cx="1208880" cy="51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37" name="Ink 36">
                  <a:extLst>
                    <a:ext uri="{FF2B5EF4-FFF2-40B4-BE49-F238E27FC236}">
                      <a16:creationId xmlns:a16="http://schemas.microsoft.com/office/drawing/2014/main" id="{05A2B65E-8EE6-DA1E-84D2-8AEDBA05DBF4}"/>
                    </a:ext>
                  </a:extLst>
                </p14:cNvPr>
                <p14:cNvContentPartPr/>
                <p14:nvPr/>
              </p14:nvContentPartPr>
              <p14:xfrm>
                <a:off x="1282403" y="3462423"/>
                <a:ext cx="252720" cy="128880"/>
              </p14:xfrm>
            </p:contentPart>
          </mc:Choice>
          <mc:Fallback xmlns="">
            <p:pic>
              <p:nvPicPr>
                <p:cNvPr id="37" name="Ink 36">
                  <a:extLst>
                    <a:ext uri="{FF2B5EF4-FFF2-40B4-BE49-F238E27FC236}">
                      <a16:creationId xmlns:a16="http://schemas.microsoft.com/office/drawing/2014/main" id="{05A2B65E-8EE6-DA1E-84D2-8AEDBA05DBF4}"/>
                    </a:ext>
                  </a:extLst>
                </p:cNvPr>
                <p:cNvPicPr/>
                <p:nvPr/>
              </p:nvPicPr>
              <p:blipFill>
                <a:blip r:embed="rId9"/>
                <a:stretch>
                  <a:fillRect/>
                </a:stretch>
              </p:blipFill>
              <p:spPr>
                <a:xfrm>
                  <a:off x="1273416" y="3453423"/>
                  <a:ext cx="270335" cy="146520"/>
                </a:xfrm>
                <a:prstGeom prst="rect">
                  <a:avLst/>
                </a:prstGeom>
              </p:spPr>
            </p:pic>
          </mc:Fallback>
        </mc:AlternateContent>
        <p:sp>
          <p:nvSpPr>
            <p:cNvPr id="39" name="TextBox 38">
              <a:extLst>
                <a:ext uri="{FF2B5EF4-FFF2-40B4-BE49-F238E27FC236}">
                  <a16:creationId xmlns:a16="http://schemas.microsoft.com/office/drawing/2014/main" id="{EED9E487-F534-0154-6FA3-6A90971B4F7A}"/>
                </a:ext>
              </a:extLst>
            </p:cNvPr>
            <p:cNvSpPr txBox="1"/>
            <p:nvPr/>
          </p:nvSpPr>
          <p:spPr>
            <a:xfrm>
              <a:off x="620465" y="3646422"/>
              <a:ext cx="2499664" cy="338554"/>
            </a:xfrm>
            <a:prstGeom prst="rect">
              <a:avLst/>
            </a:prstGeom>
            <a:noFill/>
          </p:spPr>
          <p:txBody>
            <a:bodyPr wrap="square" rtlCol="0">
              <a:spAutoFit/>
            </a:bodyPr>
            <a:lstStyle/>
            <a:p>
              <a:r>
                <a:rPr lang="en-GB" sz="1600" b="1" dirty="0"/>
                <a:t>File menu (.</a:t>
              </a:r>
              <a:r>
                <a:rPr lang="en-GB" sz="1600" b="1" dirty="0" err="1"/>
                <a:t>omv</a:t>
              </a:r>
              <a:r>
                <a:rPr lang="en-GB" sz="1600" b="1" dirty="0"/>
                <a:t>)</a:t>
              </a:r>
            </a:p>
          </p:txBody>
        </p:sp>
        <p:sp>
          <p:nvSpPr>
            <p:cNvPr id="40" name="Rectangle 39">
              <a:extLst>
                <a:ext uri="{FF2B5EF4-FFF2-40B4-BE49-F238E27FC236}">
                  <a16:creationId xmlns:a16="http://schemas.microsoft.com/office/drawing/2014/main" id="{8EA5BEFC-BEE6-A456-6E67-324DE576345D}"/>
                </a:ext>
              </a:extLst>
            </p:cNvPr>
            <p:cNvSpPr/>
            <p:nvPr/>
          </p:nvSpPr>
          <p:spPr>
            <a:xfrm>
              <a:off x="2532322" y="3088027"/>
              <a:ext cx="4668578" cy="490321"/>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41" name="TextBox 40">
              <a:extLst>
                <a:ext uri="{FF2B5EF4-FFF2-40B4-BE49-F238E27FC236}">
                  <a16:creationId xmlns:a16="http://schemas.microsoft.com/office/drawing/2014/main" id="{FFA4BDD4-D660-B32B-B695-74B6DB997C02}"/>
                </a:ext>
              </a:extLst>
            </p:cNvPr>
            <p:cNvSpPr txBox="1"/>
            <p:nvPr/>
          </p:nvSpPr>
          <p:spPr>
            <a:xfrm>
              <a:off x="7200900" y="3088027"/>
              <a:ext cx="2499664" cy="369332"/>
            </a:xfrm>
            <a:prstGeom prst="rect">
              <a:avLst/>
            </a:prstGeom>
            <a:noFill/>
          </p:spPr>
          <p:txBody>
            <a:bodyPr wrap="square" rtlCol="0">
              <a:spAutoFit/>
            </a:bodyPr>
            <a:lstStyle/>
            <a:p>
              <a:r>
                <a:rPr lang="en-GB" sz="1800" b="1" dirty="0">
                  <a:solidFill>
                    <a:srgbClr val="7030A0"/>
                  </a:solidFill>
                </a:rPr>
                <a:t>Ribbon</a:t>
              </a:r>
            </a:p>
          </p:txBody>
        </p:sp>
        <p:sp>
          <p:nvSpPr>
            <p:cNvPr id="22" name="Rectangle 21">
              <a:extLst>
                <a:ext uri="{FF2B5EF4-FFF2-40B4-BE49-F238E27FC236}">
                  <a16:creationId xmlns:a16="http://schemas.microsoft.com/office/drawing/2014/main" id="{D08BF1C5-5DF1-EB64-842E-59BBF2BAA8E5}"/>
                </a:ext>
              </a:extLst>
            </p:cNvPr>
            <p:cNvSpPr/>
            <p:nvPr/>
          </p:nvSpPr>
          <p:spPr>
            <a:xfrm>
              <a:off x="2532322" y="2844172"/>
              <a:ext cx="2832464" cy="298511"/>
            </a:xfrm>
            <a:prstGeom prst="rect">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grpSp>
    </p:spTree>
    <p:extLst>
      <p:ext uri="{BB962C8B-B14F-4D97-AF65-F5344CB8AC3E}">
        <p14:creationId xmlns:p14="http://schemas.microsoft.com/office/powerpoint/2010/main" val="1717190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814A-A7EF-D96A-EC1B-64C5E5EAD284}"/>
              </a:ext>
            </a:extLst>
          </p:cNvPr>
          <p:cNvSpPr>
            <a:spLocks noGrp="1"/>
          </p:cNvSpPr>
          <p:nvPr>
            <p:ph type="title"/>
          </p:nvPr>
        </p:nvSpPr>
        <p:spPr>
          <a:xfrm>
            <a:off x="1029600" y="1875700"/>
            <a:ext cx="16385700" cy="593700"/>
          </a:xfrm>
        </p:spPr>
        <p:txBody>
          <a:bodyPr/>
          <a:lstStyle/>
          <a:p>
            <a:r>
              <a:rPr lang="en-GB" dirty="0"/>
              <a:t>Jamovi - Basics</a:t>
            </a:r>
          </a:p>
        </p:txBody>
      </p:sp>
      <p:sp>
        <p:nvSpPr>
          <p:cNvPr id="3" name="TextBox 2">
            <a:extLst>
              <a:ext uri="{FF2B5EF4-FFF2-40B4-BE49-F238E27FC236}">
                <a16:creationId xmlns:a16="http://schemas.microsoft.com/office/drawing/2014/main" id="{FA069A45-3A2D-D54C-A926-F5D7C518D431}"/>
              </a:ext>
            </a:extLst>
          </p:cNvPr>
          <p:cNvSpPr txBox="1"/>
          <p:nvPr/>
        </p:nvSpPr>
        <p:spPr>
          <a:xfrm>
            <a:off x="1029600" y="2531014"/>
            <a:ext cx="16228800" cy="1046440"/>
          </a:xfrm>
          <a:prstGeom prst="rect">
            <a:avLst/>
          </a:prstGeom>
          <a:noFill/>
        </p:spPr>
        <p:txBody>
          <a:bodyPr wrap="square" rtlCol="0">
            <a:spAutoFit/>
          </a:bodyPr>
          <a:lstStyle/>
          <a:p>
            <a:r>
              <a:rPr lang="en-GB" sz="3000" dirty="0"/>
              <a:t>Download the data file from </a:t>
            </a:r>
            <a:r>
              <a:rPr lang="en-GB" sz="3000" dirty="0" err="1"/>
              <a:t>Weblearn</a:t>
            </a:r>
            <a:r>
              <a:rPr lang="en-GB" sz="3000" dirty="0"/>
              <a:t> titled ‘</a:t>
            </a:r>
            <a:r>
              <a:rPr lang="en-GB" sz="3200" b="1" i="1" dirty="0"/>
              <a:t>Jamovi dataset</a:t>
            </a:r>
            <a:r>
              <a:rPr lang="en-GB" sz="3000" dirty="0"/>
              <a:t>’-&gt; file menu -&gt; Open -&gt; This PC -&gt; Use Browse at the top right if need be -&gt;Select the appropriate data file. </a:t>
            </a:r>
          </a:p>
        </p:txBody>
      </p:sp>
      <p:pic>
        <p:nvPicPr>
          <p:cNvPr id="10" name="Picture 9">
            <a:extLst>
              <a:ext uri="{FF2B5EF4-FFF2-40B4-BE49-F238E27FC236}">
                <a16:creationId xmlns:a16="http://schemas.microsoft.com/office/drawing/2014/main" id="{9AC6A4A7-7FF0-A5B5-7829-C74E78943978}"/>
              </a:ext>
            </a:extLst>
          </p:cNvPr>
          <p:cNvPicPr>
            <a:picLocks noChangeAspect="1"/>
          </p:cNvPicPr>
          <p:nvPr/>
        </p:nvPicPr>
        <p:blipFill rotWithShape="1">
          <a:blip r:embed="rId3"/>
          <a:srcRect r="47113"/>
          <a:stretch/>
        </p:blipFill>
        <p:spPr>
          <a:xfrm>
            <a:off x="1519580" y="3642624"/>
            <a:ext cx="5587073" cy="6530075"/>
          </a:xfrm>
          <a:prstGeom prst="rect">
            <a:avLst/>
          </a:prstGeom>
        </p:spPr>
      </p:pic>
      <p:pic>
        <p:nvPicPr>
          <p:cNvPr id="12" name="Picture 11">
            <a:extLst>
              <a:ext uri="{FF2B5EF4-FFF2-40B4-BE49-F238E27FC236}">
                <a16:creationId xmlns:a16="http://schemas.microsoft.com/office/drawing/2014/main" id="{0E68F711-CEB4-4E9B-1DE3-16A86D2054F7}"/>
              </a:ext>
            </a:extLst>
          </p:cNvPr>
          <p:cNvPicPr>
            <a:picLocks noChangeAspect="1"/>
          </p:cNvPicPr>
          <p:nvPr/>
        </p:nvPicPr>
        <p:blipFill>
          <a:blip r:embed="rId4"/>
          <a:stretch>
            <a:fillRect/>
          </a:stretch>
        </p:blipFill>
        <p:spPr>
          <a:xfrm>
            <a:off x="9785334" y="3642624"/>
            <a:ext cx="4106557" cy="6198576"/>
          </a:xfrm>
          <a:prstGeom prst="rect">
            <a:avLst/>
          </a:prstGeom>
        </p:spPr>
      </p:pic>
    </p:spTree>
    <p:extLst>
      <p:ext uri="{BB962C8B-B14F-4D97-AF65-F5344CB8AC3E}">
        <p14:creationId xmlns:p14="http://schemas.microsoft.com/office/powerpoint/2010/main" val="89244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A6975-5208-B1BD-A354-02233215DB65}"/>
              </a:ext>
            </a:extLst>
          </p:cNvPr>
          <p:cNvSpPr>
            <a:spLocks noGrp="1"/>
          </p:cNvSpPr>
          <p:nvPr>
            <p:ph type="title"/>
          </p:nvPr>
        </p:nvSpPr>
        <p:spPr>
          <a:xfrm>
            <a:off x="1029600" y="1843212"/>
            <a:ext cx="16385700" cy="593700"/>
          </a:xfrm>
        </p:spPr>
        <p:txBody>
          <a:bodyPr/>
          <a:lstStyle/>
          <a:p>
            <a:r>
              <a:rPr lang="en-GB" dirty="0"/>
              <a:t>Jamovi - Basics</a:t>
            </a:r>
          </a:p>
        </p:txBody>
      </p:sp>
      <p:sp>
        <p:nvSpPr>
          <p:cNvPr id="3" name="Subtitle 2">
            <a:extLst>
              <a:ext uri="{FF2B5EF4-FFF2-40B4-BE49-F238E27FC236}">
                <a16:creationId xmlns:a16="http://schemas.microsoft.com/office/drawing/2014/main" id="{0DC281ED-9C36-2307-C087-36B79EA7BF37}"/>
              </a:ext>
            </a:extLst>
          </p:cNvPr>
          <p:cNvSpPr>
            <a:spLocks noGrp="1"/>
          </p:cNvSpPr>
          <p:nvPr>
            <p:ph type="body" idx="1"/>
          </p:nvPr>
        </p:nvSpPr>
        <p:spPr>
          <a:xfrm>
            <a:off x="713077" y="2436912"/>
            <a:ext cx="16385700" cy="6249900"/>
          </a:xfrm>
        </p:spPr>
        <p:txBody>
          <a:bodyPr/>
          <a:lstStyle/>
          <a:p>
            <a:r>
              <a:rPr lang="en-GB" dirty="0"/>
              <a:t>Data Sheet will open</a:t>
            </a:r>
          </a:p>
        </p:txBody>
      </p:sp>
      <p:pic>
        <p:nvPicPr>
          <p:cNvPr id="5" name="Picture 4">
            <a:extLst>
              <a:ext uri="{FF2B5EF4-FFF2-40B4-BE49-F238E27FC236}">
                <a16:creationId xmlns:a16="http://schemas.microsoft.com/office/drawing/2014/main" id="{476AF5F6-9A02-DA08-64E3-06E04AC2B703}"/>
              </a:ext>
            </a:extLst>
          </p:cNvPr>
          <p:cNvPicPr>
            <a:picLocks noChangeAspect="1"/>
          </p:cNvPicPr>
          <p:nvPr/>
        </p:nvPicPr>
        <p:blipFill>
          <a:blip r:embed="rId2"/>
          <a:stretch>
            <a:fillRect/>
          </a:stretch>
        </p:blipFill>
        <p:spPr>
          <a:xfrm>
            <a:off x="5776442" y="481155"/>
            <a:ext cx="6735115" cy="9326277"/>
          </a:xfrm>
          <a:prstGeom prst="rect">
            <a:avLst/>
          </a:prstGeom>
        </p:spPr>
      </p:pic>
    </p:spTree>
    <p:extLst>
      <p:ext uri="{BB962C8B-B14F-4D97-AF65-F5344CB8AC3E}">
        <p14:creationId xmlns:p14="http://schemas.microsoft.com/office/powerpoint/2010/main" val="2733693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A6975-5208-B1BD-A354-02233215DB65}"/>
              </a:ext>
            </a:extLst>
          </p:cNvPr>
          <p:cNvSpPr>
            <a:spLocks noGrp="1"/>
          </p:cNvSpPr>
          <p:nvPr>
            <p:ph type="title"/>
          </p:nvPr>
        </p:nvSpPr>
        <p:spPr/>
        <p:txBody>
          <a:bodyPr/>
          <a:lstStyle/>
          <a:p>
            <a:r>
              <a:rPr lang="en-GB" dirty="0"/>
              <a:t>Jamovi - Basics</a:t>
            </a:r>
          </a:p>
        </p:txBody>
      </p:sp>
      <p:sp>
        <p:nvSpPr>
          <p:cNvPr id="3" name="Subtitle 2">
            <a:extLst>
              <a:ext uri="{FF2B5EF4-FFF2-40B4-BE49-F238E27FC236}">
                <a16:creationId xmlns:a16="http://schemas.microsoft.com/office/drawing/2014/main" id="{0DC281ED-9C36-2307-C087-36B79EA7BF37}"/>
              </a:ext>
            </a:extLst>
          </p:cNvPr>
          <p:cNvSpPr>
            <a:spLocks noGrp="1"/>
          </p:cNvSpPr>
          <p:nvPr>
            <p:ph type="body" idx="1"/>
          </p:nvPr>
        </p:nvSpPr>
        <p:spPr>
          <a:xfrm>
            <a:off x="1029600" y="2874269"/>
            <a:ext cx="16385700" cy="6249900"/>
          </a:xfrm>
        </p:spPr>
        <p:txBody>
          <a:bodyPr/>
          <a:lstStyle/>
          <a:p>
            <a:pPr indent="0"/>
            <a:r>
              <a:rPr lang="en-GB" dirty="0"/>
              <a:t>Different Data Types in Jamovi and the below screen appears if you double click on a variable (i.e. column) name</a:t>
            </a:r>
          </a:p>
          <a:p>
            <a:endParaRPr lang="en-GB" dirty="0"/>
          </a:p>
        </p:txBody>
      </p:sp>
      <p:pic>
        <p:nvPicPr>
          <p:cNvPr id="7" name="Picture 6">
            <a:extLst>
              <a:ext uri="{FF2B5EF4-FFF2-40B4-BE49-F238E27FC236}">
                <a16:creationId xmlns:a16="http://schemas.microsoft.com/office/drawing/2014/main" id="{26EE82DA-DEC5-DB35-B278-6D18B4FCC187}"/>
              </a:ext>
            </a:extLst>
          </p:cNvPr>
          <p:cNvPicPr>
            <a:picLocks noChangeAspect="1"/>
          </p:cNvPicPr>
          <p:nvPr/>
        </p:nvPicPr>
        <p:blipFill>
          <a:blip r:embed="rId2"/>
          <a:stretch>
            <a:fillRect/>
          </a:stretch>
        </p:blipFill>
        <p:spPr>
          <a:xfrm>
            <a:off x="1922320" y="4083878"/>
            <a:ext cx="14443360" cy="6028230"/>
          </a:xfrm>
          <a:prstGeom prst="rect">
            <a:avLst/>
          </a:prstGeom>
        </p:spPr>
      </p:pic>
    </p:spTree>
    <p:extLst>
      <p:ext uri="{BB962C8B-B14F-4D97-AF65-F5344CB8AC3E}">
        <p14:creationId xmlns:p14="http://schemas.microsoft.com/office/powerpoint/2010/main" val="2207134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3B0BB-32A0-8F41-983C-EC72213A4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9FB91-0995-B4F3-8CF8-360C112B285F}"/>
              </a:ext>
            </a:extLst>
          </p:cNvPr>
          <p:cNvSpPr>
            <a:spLocks noGrp="1"/>
          </p:cNvSpPr>
          <p:nvPr>
            <p:ph type="title"/>
          </p:nvPr>
        </p:nvSpPr>
        <p:spPr/>
        <p:txBody>
          <a:bodyPr/>
          <a:lstStyle/>
          <a:p>
            <a:r>
              <a:rPr lang="en-GB" dirty="0"/>
              <a:t>Jamovi – Descriptives </a:t>
            </a:r>
          </a:p>
        </p:txBody>
      </p:sp>
      <p:sp>
        <p:nvSpPr>
          <p:cNvPr id="3" name="Text Placeholder 2">
            <a:extLst>
              <a:ext uri="{FF2B5EF4-FFF2-40B4-BE49-F238E27FC236}">
                <a16:creationId xmlns:a16="http://schemas.microsoft.com/office/drawing/2014/main" id="{E4BBD01C-F54F-50B8-6AB5-785F828B33D7}"/>
              </a:ext>
            </a:extLst>
          </p:cNvPr>
          <p:cNvSpPr>
            <a:spLocks noGrp="1"/>
          </p:cNvSpPr>
          <p:nvPr>
            <p:ph type="body" idx="1"/>
          </p:nvPr>
        </p:nvSpPr>
        <p:spPr/>
        <p:txBody>
          <a:bodyPr/>
          <a:lstStyle/>
          <a:p>
            <a:r>
              <a:rPr lang="en-GB" dirty="0"/>
              <a:t>Click analyses -&gt; exploration -&gt; descriptives -&gt; drag your variables from the box they are in into the variables box and the grouping variable to the split by box. </a:t>
            </a:r>
          </a:p>
          <a:p>
            <a:endParaRPr lang="en-GB" dirty="0"/>
          </a:p>
          <a:p>
            <a:endParaRPr lang="en-GB" dirty="0"/>
          </a:p>
        </p:txBody>
      </p:sp>
    </p:spTree>
    <p:extLst>
      <p:ext uri="{BB962C8B-B14F-4D97-AF65-F5344CB8AC3E}">
        <p14:creationId xmlns:p14="http://schemas.microsoft.com/office/powerpoint/2010/main" val="3828878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90B4B-9C9A-AC3F-0C0E-DEE040D3B99A}"/>
              </a:ext>
            </a:extLst>
          </p:cNvPr>
          <p:cNvSpPr>
            <a:spLocks noGrp="1"/>
          </p:cNvSpPr>
          <p:nvPr>
            <p:ph type="title"/>
          </p:nvPr>
        </p:nvSpPr>
        <p:spPr>
          <a:xfrm>
            <a:off x="1029600" y="2273781"/>
            <a:ext cx="16385700" cy="593700"/>
          </a:xfrm>
        </p:spPr>
        <p:txBody>
          <a:bodyPr wrap="square" anchor="b">
            <a:normAutofit/>
          </a:bodyPr>
          <a:lstStyle/>
          <a:p>
            <a:r>
              <a:rPr lang="en-GB" dirty="0"/>
              <a:t>Data Checking and Cleaning: Why check and clean data?</a:t>
            </a:r>
          </a:p>
        </p:txBody>
      </p:sp>
      <p:sp>
        <p:nvSpPr>
          <p:cNvPr id="3" name="Text Placeholder 2">
            <a:extLst>
              <a:ext uri="{FF2B5EF4-FFF2-40B4-BE49-F238E27FC236}">
                <a16:creationId xmlns:a16="http://schemas.microsoft.com/office/drawing/2014/main" id="{1FAA15F1-F870-F234-9F94-CC06DC6EA087}"/>
              </a:ext>
            </a:extLst>
          </p:cNvPr>
          <p:cNvSpPr>
            <a:spLocks noGrp="1"/>
          </p:cNvSpPr>
          <p:nvPr>
            <p:ph type="body" idx="1"/>
          </p:nvPr>
        </p:nvSpPr>
        <p:spPr>
          <a:xfrm>
            <a:off x="1029600" y="3404181"/>
            <a:ext cx="7082700" cy="6249900"/>
          </a:xfrm>
        </p:spPr>
        <p:txBody>
          <a:bodyPr wrap="square" anchor="t">
            <a:normAutofit/>
          </a:bodyPr>
          <a:lstStyle/>
          <a:p>
            <a:pPr marL="685800" indent="-457200">
              <a:spcAft>
                <a:spcPts val="600"/>
              </a:spcAft>
              <a:buFont typeface="Arial" panose="020B0604020202020204" pitchFamily="34" charset="0"/>
              <a:buChar char="•"/>
            </a:pPr>
            <a:r>
              <a:rPr lang="en-GB" dirty="0"/>
              <a:t>Ensures your findings are accurate and trustworthy</a:t>
            </a:r>
          </a:p>
          <a:p>
            <a:pPr marL="685800" indent="-457200">
              <a:spcAft>
                <a:spcPts val="600"/>
              </a:spcAft>
              <a:buFont typeface="Arial" panose="020B0604020202020204" pitchFamily="34" charset="0"/>
              <a:buChar char="•"/>
            </a:pPr>
            <a:endParaRPr lang="en-GB" dirty="0"/>
          </a:p>
          <a:p>
            <a:pPr marL="685800" indent="-457200">
              <a:spcAft>
                <a:spcPts val="600"/>
              </a:spcAft>
              <a:buFont typeface="Arial" panose="020B0604020202020204" pitchFamily="34" charset="0"/>
              <a:buChar char="•"/>
            </a:pPr>
            <a:r>
              <a:rPr lang="en-GB" dirty="0"/>
              <a:t>Prevents errors that can affect your statistical results</a:t>
            </a:r>
          </a:p>
          <a:p>
            <a:pPr marL="685800" indent="-457200">
              <a:spcAft>
                <a:spcPts val="600"/>
              </a:spcAft>
              <a:buFont typeface="Arial" panose="020B0604020202020204" pitchFamily="34" charset="0"/>
              <a:buChar char="•"/>
            </a:pPr>
            <a:endParaRPr lang="en-GB" dirty="0"/>
          </a:p>
          <a:p>
            <a:pPr marL="685800" indent="-457200">
              <a:spcAft>
                <a:spcPts val="600"/>
              </a:spcAft>
              <a:buFont typeface="Arial" panose="020B0604020202020204" pitchFamily="34" charset="0"/>
              <a:buChar char="•"/>
            </a:pPr>
            <a:r>
              <a:rPr lang="en-GB" dirty="0"/>
              <a:t>Helps you understand your dataset before running tests</a:t>
            </a:r>
          </a:p>
        </p:txBody>
      </p:sp>
      <p:pic>
        <p:nvPicPr>
          <p:cNvPr id="1028" name="Picture 4" descr="Garbage in, garbage out. In any good mind, garbage in equals… | by Sean Pan  | Medium">
            <a:extLst>
              <a:ext uri="{FF2B5EF4-FFF2-40B4-BE49-F238E27FC236}">
                <a16:creationId xmlns:a16="http://schemas.microsoft.com/office/drawing/2014/main" id="{EC066861-BCC5-2F40-2B40-044ABD2E05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8059" y="3753237"/>
            <a:ext cx="5800725"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725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A986-C043-641B-6F8E-706CDFADF46D}"/>
              </a:ext>
            </a:extLst>
          </p:cNvPr>
          <p:cNvSpPr>
            <a:spLocks noGrp="1"/>
          </p:cNvSpPr>
          <p:nvPr>
            <p:ph type="title"/>
          </p:nvPr>
        </p:nvSpPr>
        <p:spPr/>
        <p:txBody>
          <a:bodyPr/>
          <a:lstStyle/>
          <a:p>
            <a:r>
              <a:rPr lang="en-GB" dirty="0"/>
              <a:t>Data checking and Cleaning</a:t>
            </a:r>
          </a:p>
        </p:txBody>
      </p:sp>
      <p:sp>
        <p:nvSpPr>
          <p:cNvPr id="3" name="Text Placeholder 2">
            <a:extLst>
              <a:ext uri="{FF2B5EF4-FFF2-40B4-BE49-F238E27FC236}">
                <a16:creationId xmlns:a16="http://schemas.microsoft.com/office/drawing/2014/main" id="{A4DA4F33-B0DE-AB9F-AF1A-B44E1460B905}"/>
              </a:ext>
            </a:extLst>
          </p:cNvPr>
          <p:cNvSpPr>
            <a:spLocks noGrp="1"/>
          </p:cNvSpPr>
          <p:nvPr>
            <p:ph type="body" idx="1"/>
          </p:nvPr>
        </p:nvSpPr>
        <p:spPr/>
        <p:txBody>
          <a:bodyPr/>
          <a:lstStyle/>
          <a:p>
            <a:pPr marL="742950" indent="-514350">
              <a:buFont typeface="+mj-lt"/>
              <a:buAutoNum type="arabicPeriod"/>
            </a:pPr>
            <a:r>
              <a:rPr lang="en-GB" dirty="0"/>
              <a:t>Check for errors: Are there any unrealistic values? Is there any missing data? Does anything need correcting?</a:t>
            </a:r>
          </a:p>
          <a:p>
            <a:pPr marL="742950" indent="-514350">
              <a:buFont typeface="+mj-lt"/>
              <a:buAutoNum type="arabicPeriod"/>
            </a:pPr>
            <a:endParaRPr lang="en-GB" dirty="0"/>
          </a:p>
          <a:p>
            <a:pPr marL="228600" indent="0"/>
            <a:r>
              <a:rPr lang="en-GB" dirty="0"/>
              <a:t>You can do this by running descriptive statistics and checking the following: </a:t>
            </a:r>
          </a:p>
          <a:p>
            <a:pPr marL="685800" indent="-457200">
              <a:buFont typeface="Arial" panose="020B0604020202020204" pitchFamily="34" charset="0"/>
              <a:buChar char="•"/>
            </a:pPr>
            <a:r>
              <a:rPr lang="en-GB" dirty="0"/>
              <a:t>Minimum and maximum values</a:t>
            </a:r>
          </a:p>
          <a:p>
            <a:pPr marL="685800" indent="-457200">
              <a:buFont typeface="Arial" panose="020B0604020202020204" pitchFamily="34" charset="0"/>
              <a:buChar char="•"/>
            </a:pPr>
            <a:r>
              <a:rPr lang="en-GB" dirty="0"/>
              <a:t>Missing values</a:t>
            </a:r>
          </a:p>
          <a:p>
            <a:pPr marL="685800" indent="-457200">
              <a:buFont typeface="Arial" panose="020B0604020202020204" pitchFamily="34" charset="0"/>
              <a:buChar char="•"/>
            </a:pPr>
            <a:r>
              <a:rPr lang="en-GB" dirty="0"/>
              <a:t>N</a:t>
            </a:r>
          </a:p>
          <a:p>
            <a:pPr marL="685800" indent="-457200">
              <a:buFont typeface="Arial" panose="020B0604020202020204" pitchFamily="34" charset="0"/>
              <a:buChar char="•"/>
            </a:pPr>
            <a:endParaRPr lang="en-GB" dirty="0"/>
          </a:p>
          <a:p>
            <a:pPr marL="228600" indent="0"/>
            <a:r>
              <a:rPr lang="en-GB" dirty="0"/>
              <a:t>For the ‘</a:t>
            </a:r>
            <a:r>
              <a:rPr lang="en-GB" b="1" i="1" dirty="0"/>
              <a:t>Jamovi dataset</a:t>
            </a:r>
            <a:r>
              <a:rPr lang="en-GB" dirty="0"/>
              <a:t>’, run the following: Click analyses -&gt; exploration -&gt; descriptives -&gt; drag your variables from the box they are in into the variables box and the grouping variable to the split by box. </a:t>
            </a:r>
          </a:p>
          <a:p>
            <a:pPr marL="228600" indent="0"/>
            <a:endParaRPr lang="en-GB" dirty="0"/>
          </a:p>
          <a:p>
            <a:pPr marL="228600" indent="0"/>
            <a:r>
              <a:rPr lang="en-GB" dirty="0"/>
              <a:t>This will produce a table on the right-hand side (i.e. results viewer) -&gt; Interpret Descriptives table using the above questions. </a:t>
            </a:r>
          </a:p>
          <a:p>
            <a:pPr marL="228600" indent="0"/>
            <a:endParaRPr lang="en-GB" dirty="0"/>
          </a:p>
          <a:p>
            <a:pPr marL="6858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532486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9420-116C-0CBA-E01F-0CA2CEBE95D9}"/>
              </a:ext>
            </a:extLst>
          </p:cNvPr>
          <p:cNvSpPr>
            <a:spLocks noGrp="1"/>
          </p:cNvSpPr>
          <p:nvPr>
            <p:ph type="title"/>
          </p:nvPr>
        </p:nvSpPr>
        <p:spPr/>
        <p:txBody>
          <a:bodyPr/>
          <a:lstStyle/>
          <a:p>
            <a:r>
              <a:rPr lang="en-GB" dirty="0"/>
              <a:t>Data checking and cleaning</a:t>
            </a:r>
          </a:p>
        </p:txBody>
      </p:sp>
      <p:sp>
        <p:nvSpPr>
          <p:cNvPr id="3" name="Text Placeholder 2">
            <a:extLst>
              <a:ext uri="{FF2B5EF4-FFF2-40B4-BE49-F238E27FC236}">
                <a16:creationId xmlns:a16="http://schemas.microsoft.com/office/drawing/2014/main" id="{DBAC785B-E15B-294E-59C5-F2E79185164F}"/>
              </a:ext>
            </a:extLst>
          </p:cNvPr>
          <p:cNvSpPr>
            <a:spLocks noGrp="1"/>
          </p:cNvSpPr>
          <p:nvPr>
            <p:ph type="body" idx="1"/>
          </p:nvPr>
        </p:nvSpPr>
        <p:spPr/>
        <p:txBody>
          <a:bodyPr/>
          <a:lstStyle/>
          <a:p>
            <a:r>
              <a:rPr lang="en-GB" dirty="0"/>
              <a:t>2. Check for outliers</a:t>
            </a:r>
          </a:p>
          <a:p>
            <a:endParaRPr lang="en-GB" dirty="0"/>
          </a:p>
          <a:p>
            <a:r>
              <a:rPr lang="en-GB" dirty="0"/>
              <a:t>You can do this by creating box plots </a:t>
            </a:r>
          </a:p>
          <a:p>
            <a:endParaRPr lang="en-GB" dirty="0"/>
          </a:p>
          <a:p>
            <a:pPr marL="228600" indent="0"/>
            <a:r>
              <a:rPr lang="en-GB" dirty="0"/>
              <a:t>For the </a:t>
            </a:r>
            <a:r>
              <a:rPr lang="en-GB" sz="2800" b="1" i="1" dirty="0"/>
              <a:t>Jamovi dataset</a:t>
            </a:r>
            <a:r>
              <a:rPr lang="en-GB" dirty="0"/>
              <a:t>  I have given you, run the following: Click analyses -&gt; exploration -&gt; descriptives -&gt; drag your variables from the box they are in into the variables box and the grouping variable to the split by box -&gt; Click the drop down ‘Plots’ -&gt; Tick boxplots. </a:t>
            </a:r>
          </a:p>
          <a:p>
            <a:pPr marL="228600" indent="0"/>
            <a:endParaRPr lang="en-GB" dirty="0"/>
          </a:p>
          <a:p>
            <a:pPr marL="228600" indent="0"/>
            <a:r>
              <a:rPr lang="en-GB" dirty="0"/>
              <a:t>This will produce a box plot on the right-hand side (i.e. results viewer) -&gt; Interpret Boxplot as per above image -&gt; does the outlier seem real or a mistake? Keep or remove with justification.</a:t>
            </a:r>
          </a:p>
        </p:txBody>
      </p:sp>
      <p:pic>
        <p:nvPicPr>
          <p:cNvPr id="5122" name="Picture 2" descr="Creating Boxplots Without Outliers in Matplotlib - GeeksforGeeks">
            <a:extLst>
              <a:ext uri="{FF2B5EF4-FFF2-40B4-BE49-F238E27FC236}">
                <a16:creationId xmlns:a16="http://schemas.microsoft.com/office/drawing/2014/main" id="{3EC0FB32-3EE0-122A-734F-9EF99E58E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7672" y="416406"/>
            <a:ext cx="94202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507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ED51-FA59-EC27-4FE7-544393D8CE96}"/>
              </a:ext>
            </a:extLst>
          </p:cNvPr>
          <p:cNvSpPr>
            <a:spLocks noGrp="1"/>
          </p:cNvSpPr>
          <p:nvPr>
            <p:ph type="title"/>
          </p:nvPr>
        </p:nvSpPr>
        <p:spPr/>
        <p:txBody>
          <a:bodyPr/>
          <a:lstStyle/>
          <a:p>
            <a:r>
              <a:rPr lang="en-GB" dirty="0"/>
              <a:t>Data checking</a:t>
            </a:r>
          </a:p>
        </p:txBody>
      </p:sp>
      <p:sp>
        <p:nvSpPr>
          <p:cNvPr id="3" name="Text Placeholder 2">
            <a:extLst>
              <a:ext uri="{FF2B5EF4-FFF2-40B4-BE49-F238E27FC236}">
                <a16:creationId xmlns:a16="http://schemas.microsoft.com/office/drawing/2014/main" id="{F06BB180-D9A6-B06D-E4F1-729240EFF0D6}"/>
              </a:ext>
            </a:extLst>
          </p:cNvPr>
          <p:cNvSpPr>
            <a:spLocks noGrp="1"/>
          </p:cNvSpPr>
          <p:nvPr>
            <p:ph type="body" idx="1"/>
          </p:nvPr>
        </p:nvSpPr>
        <p:spPr>
          <a:xfrm>
            <a:off x="1029600" y="3404181"/>
            <a:ext cx="9901577" cy="6249900"/>
          </a:xfrm>
        </p:spPr>
        <p:txBody>
          <a:bodyPr/>
          <a:lstStyle/>
          <a:p>
            <a:pPr indent="0"/>
            <a:r>
              <a:rPr lang="en-GB" dirty="0"/>
              <a:t>3. Check for normality. Many of the statistics rely on the assumption that continuous data approximates a normal distribution.</a:t>
            </a:r>
          </a:p>
          <a:p>
            <a:r>
              <a:rPr lang="en-GB" dirty="0"/>
              <a:t> </a:t>
            </a:r>
          </a:p>
          <a:p>
            <a:r>
              <a:rPr lang="en-GB" dirty="0"/>
              <a:t>You can do this by </a:t>
            </a:r>
            <a:r>
              <a:rPr lang="en-GB" b="1" dirty="0"/>
              <a:t>either</a:t>
            </a:r>
            <a:r>
              <a:rPr lang="en-GB" dirty="0"/>
              <a:t> of the following: </a:t>
            </a:r>
          </a:p>
          <a:p>
            <a:pPr marL="685800" indent="-457200">
              <a:buFont typeface="Arial" panose="020B0604020202020204" pitchFamily="34" charset="0"/>
              <a:buChar char="•"/>
            </a:pPr>
            <a:r>
              <a:rPr lang="en-GB" dirty="0">
                <a:highlight>
                  <a:srgbClr val="00FFFF"/>
                </a:highlight>
              </a:rPr>
              <a:t>Check the distribution visually by a histogram</a:t>
            </a:r>
            <a:r>
              <a:rPr lang="en-GB" dirty="0"/>
              <a:t> </a:t>
            </a:r>
          </a:p>
          <a:p>
            <a:pPr marL="685800" indent="-457200">
              <a:buFont typeface="Arial" panose="020B0604020202020204" pitchFamily="34" charset="0"/>
              <a:buChar char="•"/>
            </a:pPr>
            <a:r>
              <a:rPr lang="en-GB" dirty="0">
                <a:highlight>
                  <a:srgbClr val="FFFF00"/>
                </a:highlight>
              </a:rPr>
              <a:t>Check via a statistical value</a:t>
            </a:r>
          </a:p>
          <a:p>
            <a:pPr marL="685800" indent="-457200">
              <a:buFont typeface="Arial" panose="020B0604020202020204" pitchFamily="34" charset="0"/>
              <a:buChar char="•"/>
            </a:pPr>
            <a:endParaRPr lang="en-GB" dirty="0"/>
          </a:p>
          <a:p>
            <a:pPr marL="228600" indent="0"/>
            <a:r>
              <a:rPr lang="en-GB" dirty="0"/>
              <a:t>For the </a:t>
            </a:r>
            <a:r>
              <a:rPr lang="en-GB" sz="2800" b="1" i="1" dirty="0"/>
              <a:t>Jamovi dataset</a:t>
            </a:r>
            <a:r>
              <a:rPr lang="en-GB" dirty="0"/>
              <a:t>, run the following: Click analyses -&gt; exploration -&gt; descriptives -&gt; drag your variables from the box they are in into the variables box and the grouping variable to the group box. </a:t>
            </a:r>
          </a:p>
          <a:p>
            <a:pPr marL="228600" indent="0"/>
            <a:r>
              <a:rPr lang="en-GB" dirty="0"/>
              <a:t> -&gt; </a:t>
            </a:r>
            <a:r>
              <a:rPr lang="en-GB" dirty="0">
                <a:highlight>
                  <a:srgbClr val="00FFFF"/>
                </a:highlight>
              </a:rPr>
              <a:t>Click the drop down ‘Plots’ -&gt; Tick Histogram -&gt; </a:t>
            </a:r>
            <a:r>
              <a:rPr lang="en-GB" dirty="0">
                <a:highlight>
                  <a:srgbClr val="FFFF00"/>
                </a:highlight>
              </a:rPr>
              <a:t>Click the drop down ‘Statistics’ -&gt; Tick Shapiro-Wilk.</a:t>
            </a:r>
          </a:p>
          <a:p>
            <a:pPr marL="228600" indent="0"/>
            <a:r>
              <a:rPr lang="en-GB" dirty="0">
                <a:highlight>
                  <a:srgbClr val="FFFF00"/>
                </a:highlight>
              </a:rPr>
              <a:t> </a:t>
            </a:r>
          </a:p>
          <a:p>
            <a:pPr marL="685800" indent="-457200">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62DFB5B2-83BF-D7B7-2210-0FA8A5EEE25A}"/>
              </a:ext>
            </a:extLst>
          </p:cNvPr>
          <p:cNvPicPr>
            <a:picLocks noChangeAspect="1"/>
          </p:cNvPicPr>
          <p:nvPr/>
        </p:nvPicPr>
        <p:blipFill>
          <a:blip r:embed="rId2"/>
          <a:srcRect r="55615"/>
          <a:stretch>
            <a:fillRect/>
          </a:stretch>
        </p:blipFill>
        <p:spPr>
          <a:xfrm>
            <a:off x="11089438" y="3889833"/>
            <a:ext cx="7040300" cy="5732585"/>
          </a:xfrm>
          <a:prstGeom prst="rect">
            <a:avLst/>
          </a:prstGeom>
        </p:spPr>
      </p:pic>
      <p:pic>
        <p:nvPicPr>
          <p:cNvPr id="5" name="Picture 4">
            <a:extLst>
              <a:ext uri="{FF2B5EF4-FFF2-40B4-BE49-F238E27FC236}">
                <a16:creationId xmlns:a16="http://schemas.microsoft.com/office/drawing/2014/main" id="{D9C90FC6-01DC-F50A-020A-DC94D488CEF6}"/>
              </a:ext>
            </a:extLst>
          </p:cNvPr>
          <p:cNvPicPr>
            <a:picLocks noChangeAspect="1"/>
          </p:cNvPicPr>
          <p:nvPr/>
        </p:nvPicPr>
        <p:blipFill>
          <a:blip r:embed="rId3"/>
          <a:srcRect l="1295" t="36813" r="28194"/>
          <a:stretch>
            <a:fillRect/>
          </a:stretch>
        </p:blipFill>
        <p:spPr>
          <a:xfrm>
            <a:off x="10503243" y="290964"/>
            <a:ext cx="7626495" cy="3330519"/>
          </a:xfrm>
          <a:prstGeom prst="rect">
            <a:avLst/>
          </a:prstGeom>
        </p:spPr>
      </p:pic>
    </p:spTree>
    <p:extLst>
      <p:ext uri="{BB962C8B-B14F-4D97-AF65-F5344CB8AC3E}">
        <p14:creationId xmlns:p14="http://schemas.microsoft.com/office/powerpoint/2010/main" val="349861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DA008-FCF5-B9EF-087E-F078089BF2B6}"/>
              </a:ext>
            </a:extLst>
          </p:cNvPr>
          <p:cNvSpPr>
            <a:spLocks noGrp="1"/>
          </p:cNvSpPr>
          <p:nvPr>
            <p:ph type="title"/>
          </p:nvPr>
        </p:nvSpPr>
        <p:spPr/>
        <p:txBody>
          <a:bodyPr/>
          <a:lstStyle/>
          <a:p>
            <a:r>
              <a:rPr lang="en-GB" dirty="0"/>
              <a:t>Data checking</a:t>
            </a:r>
          </a:p>
        </p:txBody>
      </p:sp>
      <p:sp>
        <p:nvSpPr>
          <p:cNvPr id="3" name="Text Placeholder 2">
            <a:extLst>
              <a:ext uri="{FF2B5EF4-FFF2-40B4-BE49-F238E27FC236}">
                <a16:creationId xmlns:a16="http://schemas.microsoft.com/office/drawing/2014/main" id="{545B7E45-0BE1-DC24-D740-7B0BEF1B103E}"/>
              </a:ext>
            </a:extLst>
          </p:cNvPr>
          <p:cNvSpPr>
            <a:spLocks noGrp="1"/>
          </p:cNvSpPr>
          <p:nvPr>
            <p:ph type="body" idx="1"/>
          </p:nvPr>
        </p:nvSpPr>
        <p:spPr/>
        <p:txBody>
          <a:bodyPr/>
          <a:lstStyle/>
          <a:p>
            <a:r>
              <a:rPr lang="en-GB" dirty="0"/>
              <a:t>If data is non normal, there are three options: </a:t>
            </a:r>
          </a:p>
          <a:p>
            <a:endParaRPr lang="en-GB" dirty="0"/>
          </a:p>
          <a:p>
            <a:pPr marL="742950" indent="-514350">
              <a:buAutoNum type="arabicParenR"/>
            </a:pPr>
            <a:r>
              <a:rPr lang="en-GB" dirty="0"/>
              <a:t>Transform the data</a:t>
            </a:r>
          </a:p>
          <a:p>
            <a:pPr marL="742950" indent="-514350">
              <a:buAutoNum type="arabicParenR"/>
            </a:pPr>
            <a:endParaRPr lang="en-GB" dirty="0"/>
          </a:p>
          <a:p>
            <a:pPr marL="742950" indent="-514350">
              <a:buAutoNum type="arabicParenR"/>
            </a:pPr>
            <a:r>
              <a:rPr lang="en-GB" dirty="0"/>
              <a:t>Use the nonparametric alternative</a:t>
            </a:r>
          </a:p>
          <a:p>
            <a:pPr marL="742950" indent="-514350">
              <a:buAutoNum type="arabicParenR"/>
            </a:pPr>
            <a:endParaRPr lang="en-GB" dirty="0"/>
          </a:p>
          <a:p>
            <a:pPr marL="742950" indent="-514350">
              <a:buAutoNum type="arabicParenR"/>
            </a:pPr>
            <a:r>
              <a:rPr lang="en-GB" dirty="0"/>
              <a:t>Continue with the test but acknowledge the limitations*</a:t>
            </a:r>
          </a:p>
        </p:txBody>
      </p:sp>
    </p:spTree>
    <p:extLst>
      <p:ext uri="{BB962C8B-B14F-4D97-AF65-F5344CB8AC3E}">
        <p14:creationId xmlns:p14="http://schemas.microsoft.com/office/powerpoint/2010/main" val="2096417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3671F-B9CA-EE0D-0730-CC9F88A12DAA}"/>
              </a:ext>
            </a:extLst>
          </p:cNvPr>
          <p:cNvSpPr>
            <a:spLocks noGrp="1"/>
          </p:cNvSpPr>
          <p:nvPr>
            <p:ph type="title"/>
          </p:nvPr>
        </p:nvSpPr>
        <p:spPr/>
        <p:txBody>
          <a:bodyPr/>
          <a:lstStyle/>
          <a:p>
            <a:r>
              <a:rPr lang="en-GB" dirty="0"/>
              <a:t>Break (15 minutes)</a:t>
            </a:r>
          </a:p>
        </p:txBody>
      </p:sp>
      <p:pic>
        <p:nvPicPr>
          <p:cNvPr id="5" name="Graphic 4" descr="Coffee with solid fill">
            <a:extLst>
              <a:ext uri="{FF2B5EF4-FFF2-40B4-BE49-F238E27FC236}">
                <a16:creationId xmlns:a16="http://schemas.microsoft.com/office/drawing/2014/main" id="{0E48585D-A315-9EFA-FAB1-05A0E1C432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7593" y="2867481"/>
            <a:ext cx="6749713" cy="6749713"/>
          </a:xfrm>
          <a:prstGeom prst="rect">
            <a:avLst/>
          </a:prstGeom>
        </p:spPr>
      </p:pic>
    </p:spTree>
    <p:extLst>
      <p:ext uri="{BB962C8B-B14F-4D97-AF65-F5344CB8AC3E}">
        <p14:creationId xmlns:p14="http://schemas.microsoft.com/office/powerpoint/2010/main" val="2764806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8C45-8383-3DA3-7C48-5D738E8ADA30}"/>
              </a:ext>
            </a:extLst>
          </p:cNvPr>
          <p:cNvSpPr>
            <a:spLocks noGrp="1"/>
          </p:cNvSpPr>
          <p:nvPr>
            <p:ph type="title"/>
          </p:nvPr>
        </p:nvSpPr>
        <p:spPr/>
        <p:txBody>
          <a:bodyPr/>
          <a:lstStyle/>
          <a:p>
            <a:r>
              <a:rPr lang="en-GB" dirty="0"/>
              <a:t>Inferential Statistics</a:t>
            </a:r>
          </a:p>
        </p:txBody>
      </p:sp>
      <p:sp>
        <p:nvSpPr>
          <p:cNvPr id="3" name="Text Placeholder 2">
            <a:extLst>
              <a:ext uri="{FF2B5EF4-FFF2-40B4-BE49-F238E27FC236}">
                <a16:creationId xmlns:a16="http://schemas.microsoft.com/office/drawing/2014/main" id="{756CB447-31DF-408C-5B76-AED210BB1B01}"/>
              </a:ext>
            </a:extLst>
          </p:cNvPr>
          <p:cNvSpPr>
            <a:spLocks noGrp="1"/>
          </p:cNvSpPr>
          <p:nvPr>
            <p:ph type="body" idx="1"/>
          </p:nvPr>
        </p:nvSpPr>
        <p:spPr/>
        <p:txBody>
          <a:bodyPr/>
          <a:lstStyle/>
          <a:p>
            <a:pPr marL="685800" indent="-457200">
              <a:buFont typeface="Arial" panose="020B0604020202020204" pitchFamily="34" charset="0"/>
              <a:buChar char="•"/>
            </a:pPr>
            <a:r>
              <a:rPr lang="en-GB" dirty="0"/>
              <a:t>A statistical test tells us whether a finding is likely to be real (significant) or just due to chance (nonsignificant). </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We begin with the assumption that there is no difference or association (like ‘innocent until proven guilty’) (</a:t>
            </a:r>
            <a:r>
              <a:rPr lang="en-GB" b="1" i="1" dirty="0"/>
              <a:t>null hypothesis</a:t>
            </a:r>
            <a:r>
              <a:rPr lang="en-GB" dirty="0"/>
              <a:t>). </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If the evidence is strong enough, we reject this assumption and conclude the finding is statistically significant. 	Statistical power is vital.</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The systematic procedure for deciding whether the results of a research study support a particular theory which applies to a population is referred to as </a:t>
            </a:r>
            <a:r>
              <a:rPr lang="en-GB" b="1" i="1" dirty="0"/>
              <a:t>hypothesis testing</a:t>
            </a:r>
          </a:p>
        </p:txBody>
      </p:sp>
      <p:sp>
        <p:nvSpPr>
          <p:cNvPr id="4" name="Rectangle 3">
            <a:extLst>
              <a:ext uri="{FF2B5EF4-FFF2-40B4-BE49-F238E27FC236}">
                <a16:creationId xmlns:a16="http://schemas.microsoft.com/office/drawing/2014/main" id="{EF6C7E0D-52C4-24A0-D496-081F768F8167}"/>
              </a:ext>
            </a:extLst>
          </p:cNvPr>
          <p:cNvSpPr/>
          <p:nvPr/>
        </p:nvSpPr>
        <p:spPr>
          <a:xfrm>
            <a:off x="1213390" y="8916482"/>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did the researchers hypothesise?</a:t>
            </a:r>
          </a:p>
        </p:txBody>
      </p:sp>
    </p:spTree>
    <p:extLst>
      <p:ext uri="{BB962C8B-B14F-4D97-AF65-F5344CB8AC3E}">
        <p14:creationId xmlns:p14="http://schemas.microsoft.com/office/powerpoint/2010/main" val="2556508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71F57-DFCD-AF49-E69D-8CD5C4A83F6F}"/>
              </a:ext>
            </a:extLst>
          </p:cNvPr>
          <p:cNvSpPr>
            <a:spLocks noGrp="1"/>
          </p:cNvSpPr>
          <p:nvPr>
            <p:ph type="title"/>
          </p:nvPr>
        </p:nvSpPr>
        <p:spPr/>
        <p:txBody>
          <a:bodyPr/>
          <a:lstStyle/>
          <a:p>
            <a:r>
              <a:rPr lang="en-GB" dirty="0"/>
              <a:t>Simply </a:t>
            </a:r>
          </a:p>
        </p:txBody>
      </p:sp>
      <p:sp>
        <p:nvSpPr>
          <p:cNvPr id="3" name="Text Placeholder 2">
            <a:extLst>
              <a:ext uri="{FF2B5EF4-FFF2-40B4-BE49-F238E27FC236}">
                <a16:creationId xmlns:a16="http://schemas.microsoft.com/office/drawing/2014/main" id="{9E71F6E0-F7BB-F25D-0BEC-AE0F669043A0}"/>
              </a:ext>
            </a:extLst>
          </p:cNvPr>
          <p:cNvSpPr>
            <a:spLocks noGrp="1"/>
          </p:cNvSpPr>
          <p:nvPr>
            <p:ph type="body" idx="1"/>
          </p:nvPr>
        </p:nvSpPr>
        <p:spPr/>
        <p:txBody>
          <a:bodyPr/>
          <a:lstStyle/>
          <a:p>
            <a:r>
              <a:rPr lang="en-GB" dirty="0"/>
              <a:t>If p &lt; 0.05 then there is a </a:t>
            </a:r>
            <a:r>
              <a:rPr lang="en-GB" b="1" u="sng" dirty="0"/>
              <a:t>significant</a:t>
            </a:r>
            <a:r>
              <a:rPr lang="en-GB" dirty="0"/>
              <a:t> difference/association/relationship</a:t>
            </a:r>
          </a:p>
          <a:p>
            <a:endParaRPr lang="en-GB" dirty="0"/>
          </a:p>
          <a:p>
            <a:r>
              <a:rPr lang="en-GB" dirty="0"/>
              <a:t>If p &gt; 0.05 then there is </a:t>
            </a:r>
            <a:r>
              <a:rPr lang="en-GB" b="1" u="sng" dirty="0"/>
              <a:t>no significant</a:t>
            </a:r>
            <a:r>
              <a:rPr lang="en-GB" dirty="0"/>
              <a:t> difference/association/relationship</a:t>
            </a:r>
          </a:p>
          <a:p>
            <a:endParaRPr lang="en-GB" dirty="0"/>
          </a:p>
          <a:p>
            <a:endParaRPr lang="en-GB" dirty="0"/>
          </a:p>
          <a:p>
            <a:r>
              <a:rPr lang="en-GB" b="1" dirty="0"/>
              <a:t>Activity (Physiotherapy Example):</a:t>
            </a:r>
            <a:br>
              <a:rPr lang="en-GB" dirty="0"/>
            </a:br>
            <a:r>
              <a:rPr lang="en-GB" dirty="0"/>
              <a:t>In physiotherapy, a student collects data on twenty patients’ pain levels before and after a new exercise program. The p value for the change in pain is 0.01. Is there a significant difference in pain levels before and after a new exercise program? Please explain your answer.</a:t>
            </a:r>
          </a:p>
        </p:txBody>
      </p:sp>
      <p:sp>
        <p:nvSpPr>
          <p:cNvPr id="4" name="Rectangle 3">
            <a:extLst>
              <a:ext uri="{FF2B5EF4-FFF2-40B4-BE49-F238E27FC236}">
                <a16:creationId xmlns:a16="http://schemas.microsoft.com/office/drawing/2014/main" id="{3741F470-95A9-F58E-35EB-961C9E7A4F09}"/>
              </a:ext>
            </a:extLst>
          </p:cNvPr>
          <p:cNvSpPr/>
          <p:nvPr/>
        </p:nvSpPr>
        <p:spPr>
          <a:xfrm>
            <a:off x="1346125" y="8599004"/>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p values are reported?</a:t>
            </a:r>
          </a:p>
        </p:txBody>
      </p:sp>
    </p:spTree>
    <p:extLst>
      <p:ext uri="{BB962C8B-B14F-4D97-AF65-F5344CB8AC3E}">
        <p14:creationId xmlns:p14="http://schemas.microsoft.com/office/powerpoint/2010/main" val="182313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1C57-973D-9168-ABE7-637264485637}"/>
              </a:ext>
            </a:extLst>
          </p:cNvPr>
          <p:cNvSpPr>
            <a:spLocks noGrp="1"/>
          </p:cNvSpPr>
          <p:nvPr>
            <p:ph type="title"/>
          </p:nvPr>
        </p:nvSpPr>
        <p:spPr/>
        <p:txBody>
          <a:bodyPr/>
          <a:lstStyle/>
          <a:p>
            <a:r>
              <a:rPr lang="en-GB" dirty="0"/>
              <a:t>Common statistical tests in physiotherapy research (t‑tests, Chi‑square, Correlation)</a:t>
            </a:r>
          </a:p>
        </p:txBody>
      </p:sp>
      <p:sp>
        <p:nvSpPr>
          <p:cNvPr id="3" name="Text Placeholder 2">
            <a:extLst>
              <a:ext uri="{FF2B5EF4-FFF2-40B4-BE49-F238E27FC236}">
                <a16:creationId xmlns:a16="http://schemas.microsoft.com/office/drawing/2014/main" id="{13B226A4-E8F0-522B-46C0-604A248A9197}"/>
              </a:ext>
            </a:extLst>
          </p:cNvPr>
          <p:cNvSpPr>
            <a:spLocks noGrp="1"/>
          </p:cNvSpPr>
          <p:nvPr>
            <p:ph type="body" idx="1"/>
          </p:nvPr>
        </p:nvSpPr>
        <p:spPr/>
        <p:txBody>
          <a:bodyPr/>
          <a:lstStyle/>
          <a:p>
            <a:pPr marL="685800" indent="-457200">
              <a:buFont typeface="Arial" panose="020B0604020202020204" pitchFamily="34" charset="0"/>
              <a:buChar char="•"/>
            </a:pPr>
            <a:r>
              <a:rPr lang="en-GB" dirty="0"/>
              <a:t>t-test (Independent vs paired) – Difference test</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ANOVA (between, within and mixed) – Difference test</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Chi-square (goodness of fit vs Independence) – Proportion vs Association test </a:t>
            </a:r>
          </a:p>
          <a:p>
            <a:pPr marL="685800" indent="-457200">
              <a:buFont typeface="Arial" panose="020B0604020202020204" pitchFamily="34" charset="0"/>
              <a:buChar char="•"/>
            </a:pPr>
            <a:endParaRPr lang="en-GB" dirty="0"/>
          </a:p>
          <a:p>
            <a:pPr marL="685800" indent="-457200">
              <a:buFont typeface="Arial" panose="020B0604020202020204" pitchFamily="34" charset="0"/>
              <a:buChar char="•"/>
            </a:pPr>
            <a:r>
              <a:rPr lang="en-GB" dirty="0"/>
              <a:t>Correlation (Pearson’s vs Spearman's) – Association test </a:t>
            </a:r>
          </a:p>
          <a:p>
            <a:pPr marL="685800" indent="-457200">
              <a:buFont typeface="Arial" panose="020B0604020202020204" pitchFamily="34" charset="0"/>
              <a:buChar char="•"/>
            </a:pPr>
            <a:endParaRPr lang="en-GB" dirty="0"/>
          </a:p>
        </p:txBody>
      </p:sp>
      <p:sp>
        <p:nvSpPr>
          <p:cNvPr id="5" name="Rectangle 4">
            <a:extLst>
              <a:ext uri="{FF2B5EF4-FFF2-40B4-BE49-F238E27FC236}">
                <a16:creationId xmlns:a16="http://schemas.microsoft.com/office/drawing/2014/main" id="{D96BC0C2-04E8-D11A-38BE-2E16F8D0F451}"/>
              </a:ext>
            </a:extLst>
          </p:cNvPr>
          <p:cNvSpPr/>
          <p:nvPr/>
        </p:nvSpPr>
        <p:spPr>
          <a:xfrm>
            <a:off x="1029601" y="8599004"/>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statistical tests have they used? </a:t>
            </a:r>
          </a:p>
        </p:txBody>
      </p:sp>
    </p:spTree>
    <p:extLst>
      <p:ext uri="{BB962C8B-B14F-4D97-AF65-F5344CB8AC3E}">
        <p14:creationId xmlns:p14="http://schemas.microsoft.com/office/powerpoint/2010/main" val="433496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9A8F-10A7-28E2-0806-FC98DC3D94B7}"/>
              </a:ext>
            </a:extLst>
          </p:cNvPr>
          <p:cNvSpPr>
            <a:spLocks noGrp="1"/>
          </p:cNvSpPr>
          <p:nvPr>
            <p:ph type="title"/>
          </p:nvPr>
        </p:nvSpPr>
        <p:spPr/>
        <p:txBody>
          <a:bodyPr/>
          <a:lstStyle/>
          <a:p>
            <a:r>
              <a:rPr lang="en-GB" dirty="0"/>
              <a:t>Common Statistical Values</a:t>
            </a:r>
          </a:p>
        </p:txBody>
      </p:sp>
      <p:graphicFrame>
        <p:nvGraphicFramePr>
          <p:cNvPr id="4" name="Table 3">
            <a:extLst>
              <a:ext uri="{FF2B5EF4-FFF2-40B4-BE49-F238E27FC236}">
                <a16:creationId xmlns:a16="http://schemas.microsoft.com/office/drawing/2014/main" id="{1C1DE165-6210-50F2-C651-EA08FAE0CEAC}"/>
              </a:ext>
            </a:extLst>
          </p:cNvPr>
          <p:cNvGraphicFramePr>
            <a:graphicFrameLocks noGrp="1"/>
          </p:cNvGraphicFramePr>
          <p:nvPr>
            <p:extLst>
              <p:ext uri="{D42A27DB-BD31-4B8C-83A1-F6EECF244321}">
                <p14:modId xmlns:p14="http://schemas.microsoft.com/office/powerpoint/2010/main" val="1977264401"/>
              </p:ext>
            </p:extLst>
          </p:nvPr>
        </p:nvGraphicFramePr>
        <p:xfrm>
          <a:off x="1029600" y="2989449"/>
          <a:ext cx="16385699" cy="5775960"/>
        </p:xfrm>
        <a:graphic>
          <a:graphicData uri="http://schemas.openxmlformats.org/drawingml/2006/table">
            <a:tbl>
              <a:tblPr firstRow="1" bandRow="1">
                <a:tableStyleId>{5C22544A-7EE6-4342-B048-85BDC9FD1C3A}</a:tableStyleId>
              </a:tblPr>
              <a:tblGrid>
                <a:gridCol w="2352244">
                  <a:extLst>
                    <a:ext uri="{9D8B030D-6E8A-4147-A177-3AD203B41FA5}">
                      <a16:colId xmlns:a16="http://schemas.microsoft.com/office/drawing/2014/main" val="1111544746"/>
                    </a:ext>
                  </a:extLst>
                </a:gridCol>
                <a:gridCol w="14033455">
                  <a:extLst>
                    <a:ext uri="{9D8B030D-6E8A-4147-A177-3AD203B41FA5}">
                      <a16:colId xmlns:a16="http://schemas.microsoft.com/office/drawing/2014/main" val="3158993139"/>
                    </a:ext>
                  </a:extLst>
                </a:gridCol>
              </a:tblGrid>
              <a:tr h="370840">
                <a:tc>
                  <a:txBody>
                    <a:bodyPr/>
                    <a:lstStyle/>
                    <a:p>
                      <a:r>
                        <a:rPr lang="en-GB" sz="1800" dirty="0"/>
                        <a:t>Statistic</a:t>
                      </a:r>
                    </a:p>
                  </a:txBody>
                  <a:tcPr/>
                </a:tc>
                <a:tc>
                  <a:txBody>
                    <a:bodyPr/>
                    <a:lstStyle/>
                    <a:p>
                      <a:r>
                        <a:rPr lang="en-GB" sz="1800" dirty="0"/>
                        <a:t>Explanation</a:t>
                      </a:r>
                    </a:p>
                  </a:txBody>
                  <a:tcPr/>
                </a:tc>
                <a:extLst>
                  <a:ext uri="{0D108BD9-81ED-4DB2-BD59-A6C34878D82A}">
                    <a16:rowId xmlns:a16="http://schemas.microsoft.com/office/drawing/2014/main" val="3547238480"/>
                  </a:ext>
                </a:extLst>
              </a:tr>
              <a:tr h="370840">
                <a:tc>
                  <a:txBody>
                    <a:bodyPr/>
                    <a:lstStyle/>
                    <a:p>
                      <a:r>
                        <a:rPr lang="en-GB" sz="1800" dirty="0"/>
                        <a:t>p</a:t>
                      </a:r>
                    </a:p>
                  </a:txBody>
                  <a:tcPr/>
                </a:tc>
                <a:tc>
                  <a:txBody>
                    <a:bodyPr/>
                    <a:lstStyle/>
                    <a:p>
                      <a:r>
                        <a:rPr lang="en-GB" sz="1800" dirty="0"/>
                        <a:t>p‑value tells you how likely it is that your results occurred by chance. A small p‑value (e.g., p &lt; 0.05) suggests the result is statistically significant, meaning the observed effect is unlikely to be due to random variation.</a:t>
                      </a:r>
                    </a:p>
                  </a:txBody>
                  <a:tcPr/>
                </a:tc>
                <a:extLst>
                  <a:ext uri="{0D108BD9-81ED-4DB2-BD59-A6C34878D82A}">
                    <a16:rowId xmlns:a16="http://schemas.microsoft.com/office/drawing/2014/main" val="1810769355"/>
                  </a:ext>
                </a:extLst>
              </a:tr>
              <a:tr h="370840">
                <a:tc>
                  <a:txBody>
                    <a:bodyPr/>
                    <a:lstStyle/>
                    <a:p>
                      <a:r>
                        <a:rPr lang="en-GB" sz="1800" dirty="0"/>
                        <a:t>95% CI</a:t>
                      </a:r>
                    </a:p>
                  </a:txBody>
                  <a:tcPr/>
                </a:tc>
                <a:tc>
                  <a:txBody>
                    <a:bodyPr/>
                    <a:lstStyle/>
                    <a:p>
                      <a:r>
                        <a:rPr lang="en-GB" sz="1800" dirty="0"/>
                        <a:t>A confidence interval shows the range of values within which we are 95% confident the true effect lies. Wide CI = less certainty. Narrow CI = more precision. If a CI crosses 0 (for mean difference) or 1 (for ratios), the effect is usually not statistically significant.</a:t>
                      </a:r>
                    </a:p>
                  </a:txBody>
                  <a:tcPr/>
                </a:tc>
                <a:extLst>
                  <a:ext uri="{0D108BD9-81ED-4DB2-BD59-A6C34878D82A}">
                    <a16:rowId xmlns:a16="http://schemas.microsoft.com/office/drawing/2014/main" val="3410884988"/>
                  </a:ext>
                </a:extLst>
              </a:tr>
              <a:tr h="370840">
                <a:tc>
                  <a:txBody>
                    <a:bodyPr/>
                    <a:lstStyle/>
                    <a:p>
                      <a:r>
                        <a:rPr lang="en-GB" sz="1800" dirty="0"/>
                        <a:t>mean difference</a:t>
                      </a:r>
                    </a:p>
                  </a:txBody>
                  <a:tcPr/>
                </a:tc>
                <a:tc>
                  <a:txBody>
                    <a:bodyPr/>
                    <a:lstStyle/>
                    <a:p>
                      <a:r>
                        <a:rPr lang="en-GB" sz="1800" dirty="0"/>
                        <a:t>the difference between the average value of a variable in two groups. Example: mean pain score in intervention group − mean pain score in control group.</a:t>
                      </a:r>
                    </a:p>
                  </a:txBody>
                  <a:tcPr/>
                </a:tc>
                <a:extLst>
                  <a:ext uri="{0D108BD9-81ED-4DB2-BD59-A6C34878D82A}">
                    <a16:rowId xmlns:a16="http://schemas.microsoft.com/office/drawing/2014/main" val="3122988538"/>
                  </a:ext>
                </a:extLst>
              </a:tr>
              <a:tr h="370840">
                <a:tc>
                  <a:txBody>
                    <a:bodyPr/>
                    <a:lstStyle/>
                    <a:p>
                      <a:r>
                        <a:rPr lang="en-GB" sz="1800" dirty="0"/>
                        <a:t>Relative Risk (RR)</a:t>
                      </a:r>
                    </a:p>
                  </a:txBody>
                  <a:tcPr/>
                </a:tc>
                <a:tc>
                  <a:txBody>
                    <a:bodyPr/>
                    <a:lstStyle/>
                    <a:p>
                      <a:r>
                        <a:rPr lang="en-GB" sz="1800" dirty="0"/>
                        <a:t>compares the probability of an event happening in one group to another.</a:t>
                      </a:r>
                    </a:p>
                    <a:p>
                      <a:r>
                        <a:rPr lang="en-GB" sz="1800" dirty="0"/>
                        <a:t>RR = 1 → no difference</a:t>
                      </a:r>
                    </a:p>
                    <a:p>
                      <a:r>
                        <a:rPr lang="en-GB" sz="1800" dirty="0"/>
                        <a:t>RR &lt; 1 → event is less likely in the treatment group</a:t>
                      </a:r>
                    </a:p>
                    <a:p>
                      <a:r>
                        <a:rPr lang="en-GB" sz="1800" dirty="0"/>
                        <a:t>RR &gt; 1 → event is more likely</a:t>
                      </a:r>
                    </a:p>
                  </a:txBody>
                  <a:tcPr/>
                </a:tc>
                <a:extLst>
                  <a:ext uri="{0D108BD9-81ED-4DB2-BD59-A6C34878D82A}">
                    <a16:rowId xmlns:a16="http://schemas.microsoft.com/office/drawing/2014/main" val="3019659870"/>
                  </a:ext>
                </a:extLst>
              </a:tr>
              <a:tr h="370840">
                <a:tc>
                  <a:txBody>
                    <a:bodyPr/>
                    <a:lstStyle/>
                    <a:p>
                      <a:r>
                        <a:rPr lang="en-GB" sz="1800" dirty="0"/>
                        <a:t>Intraclass correlation coefficients (ICC)</a:t>
                      </a:r>
                    </a:p>
                  </a:txBody>
                  <a:tcPr/>
                </a:tc>
                <a:tc>
                  <a:txBody>
                    <a:bodyPr/>
                    <a:lstStyle/>
                    <a:p>
                      <a:r>
                        <a:rPr lang="en-GB" sz="1800" dirty="0"/>
                        <a:t>ICC measures reliability — how consistent measurements are when repeated:</a:t>
                      </a:r>
                    </a:p>
                    <a:p>
                      <a:r>
                        <a:rPr lang="en-GB" sz="1800" dirty="0"/>
                        <a:t>By the same person (intra‑rater)</a:t>
                      </a:r>
                    </a:p>
                    <a:p>
                      <a:r>
                        <a:rPr lang="en-GB" sz="1800" dirty="0"/>
                        <a:t>By different people (inter‑rater) </a:t>
                      </a:r>
                    </a:p>
                  </a:txBody>
                  <a:tcPr/>
                </a:tc>
                <a:extLst>
                  <a:ext uri="{0D108BD9-81ED-4DB2-BD59-A6C34878D82A}">
                    <a16:rowId xmlns:a16="http://schemas.microsoft.com/office/drawing/2014/main" val="1616170280"/>
                  </a:ext>
                </a:extLst>
              </a:tr>
              <a:tr h="370840">
                <a:tc>
                  <a:txBody>
                    <a:bodyPr/>
                    <a:lstStyle/>
                    <a:p>
                      <a:r>
                        <a:rPr lang="el-GR" sz="1800" dirty="0"/>
                        <a:t>χ²</a:t>
                      </a:r>
                      <a:endParaRPr lang="en-GB" sz="1800" dirty="0"/>
                    </a:p>
                  </a:txBody>
                  <a:tcPr/>
                </a:tc>
                <a:tc>
                  <a:txBody>
                    <a:bodyPr/>
                    <a:lstStyle/>
                    <a:p>
                      <a:r>
                        <a:rPr lang="en-GB" sz="1800" dirty="0"/>
                        <a:t>tests whether there is a relationship between two categorical variables.</a:t>
                      </a:r>
                    </a:p>
                  </a:txBody>
                  <a:tcPr/>
                </a:tc>
                <a:extLst>
                  <a:ext uri="{0D108BD9-81ED-4DB2-BD59-A6C34878D82A}">
                    <a16:rowId xmlns:a16="http://schemas.microsoft.com/office/drawing/2014/main" val="3776864983"/>
                  </a:ext>
                </a:extLst>
              </a:tr>
              <a:tr h="370840">
                <a:tc>
                  <a:txBody>
                    <a:bodyPr/>
                    <a:lstStyle/>
                    <a:p>
                      <a:r>
                        <a:rPr lang="en-GB" sz="1800" dirty="0"/>
                        <a:t>t‑value</a:t>
                      </a:r>
                    </a:p>
                  </a:txBody>
                  <a:tcPr/>
                </a:tc>
                <a:tc>
                  <a:txBody>
                    <a:bodyPr/>
                    <a:lstStyle/>
                    <a:p>
                      <a:r>
                        <a:rPr lang="en-GB" sz="1800" dirty="0"/>
                        <a:t>comes from a t‑test and reflects how big the difference between two groups is relative to the variability within the groups.</a:t>
                      </a:r>
                    </a:p>
                  </a:txBody>
                  <a:tcPr/>
                </a:tc>
                <a:extLst>
                  <a:ext uri="{0D108BD9-81ED-4DB2-BD59-A6C34878D82A}">
                    <a16:rowId xmlns:a16="http://schemas.microsoft.com/office/drawing/2014/main" val="4175653094"/>
                  </a:ext>
                </a:extLst>
              </a:tr>
              <a:tr h="205734">
                <a:tc>
                  <a:txBody>
                    <a:bodyPr/>
                    <a:lstStyle/>
                    <a:p>
                      <a:r>
                        <a:rPr lang="en-GB" sz="1800" dirty="0"/>
                        <a:t>r</a:t>
                      </a:r>
                    </a:p>
                  </a:txBody>
                  <a:tcPr/>
                </a:tc>
                <a:tc>
                  <a:txBody>
                    <a:bodyPr/>
                    <a:lstStyle/>
                    <a:p>
                      <a:r>
                        <a:rPr lang="en-GB" sz="1800" dirty="0"/>
                        <a:t>correlation coefficient r measures the strength and direction of the relationship between two continuous variables. Values range from –1 to +1</a:t>
                      </a:r>
                    </a:p>
                  </a:txBody>
                  <a:tcPr/>
                </a:tc>
                <a:extLst>
                  <a:ext uri="{0D108BD9-81ED-4DB2-BD59-A6C34878D82A}">
                    <a16:rowId xmlns:a16="http://schemas.microsoft.com/office/drawing/2014/main" val="3382145400"/>
                  </a:ext>
                </a:extLst>
              </a:tr>
            </a:tbl>
          </a:graphicData>
        </a:graphic>
      </p:graphicFrame>
      <p:sp>
        <p:nvSpPr>
          <p:cNvPr id="5" name="Rectangle 4">
            <a:extLst>
              <a:ext uri="{FF2B5EF4-FFF2-40B4-BE49-F238E27FC236}">
                <a16:creationId xmlns:a16="http://schemas.microsoft.com/office/drawing/2014/main" id="{F527F92F-827F-C923-1D82-6BD486DD8799}"/>
              </a:ext>
            </a:extLst>
          </p:cNvPr>
          <p:cNvSpPr/>
          <p:nvPr/>
        </p:nvSpPr>
        <p:spPr>
          <a:xfrm>
            <a:off x="1029600" y="9015015"/>
            <a:ext cx="16385699" cy="1055077"/>
          </a:xfrm>
          <a:prstGeom prst="rect">
            <a:avLst/>
          </a:prstGeom>
          <a:solidFill>
            <a:schemeClr val="accent2"/>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Task – Look at the RCT paper you have chosen for your assessment, what statistical values have they reported and what do they mean? </a:t>
            </a:r>
          </a:p>
        </p:txBody>
      </p:sp>
    </p:spTree>
    <p:extLst>
      <p:ext uri="{BB962C8B-B14F-4D97-AF65-F5344CB8AC3E}">
        <p14:creationId xmlns:p14="http://schemas.microsoft.com/office/powerpoint/2010/main" val="4199833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5B13-18A9-043B-6571-85D0574DD68E}"/>
              </a:ext>
            </a:extLst>
          </p:cNvPr>
          <p:cNvSpPr>
            <a:spLocks noGrp="1"/>
          </p:cNvSpPr>
          <p:nvPr>
            <p:ph type="title"/>
          </p:nvPr>
        </p:nvSpPr>
        <p:spPr/>
        <p:txBody>
          <a:bodyPr/>
          <a:lstStyle/>
          <a:p>
            <a:r>
              <a:rPr lang="en-GB" dirty="0"/>
              <a:t>Common statistical errors and misinterpretations</a:t>
            </a:r>
          </a:p>
        </p:txBody>
      </p:sp>
      <p:sp>
        <p:nvSpPr>
          <p:cNvPr id="3" name="Text Placeholder 2">
            <a:extLst>
              <a:ext uri="{FF2B5EF4-FFF2-40B4-BE49-F238E27FC236}">
                <a16:creationId xmlns:a16="http://schemas.microsoft.com/office/drawing/2014/main" id="{C3043251-85CB-7927-115F-11346F6E08AC}"/>
              </a:ext>
            </a:extLst>
          </p:cNvPr>
          <p:cNvSpPr>
            <a:spLocks noGrp="1"/>
          </p:cNvSpPr>
          <p:nvPr>
            <p:ph type="body" idx="1"/>
          </p:nvPr>
        </p:nvSpPr>
        <p:spPr>
          <a:xfrm>
            <a:off x="1029599" y="3404181"/>
            <a:ext cx="12050969" cy="6249900"/>
          </a:xfrm>
        </p:spPr>
        <p:txBody>
          <a:bodyPr/>
          <a:lstStyle/>
          <a:p>
            <a:pPr marL="228600" indent="0"/>
            <a:r>
              <a:rPr lang="en-GB" dirty="0"/>
              <a:t>1) Failing to check parametric assumptions</a:t>
            </a:r>
          </a:p>
          <a:p>
            <a:pPr marL="228600" indent="0"/>
            <a:r>
              <a:rPr lang="en-GB" dirty="0"/>
              <a:t>Parametric tests like t‑tests, Pearson correlation, ANOVA etc. have assumptions</a:t>
            </a:r>
          </a:p>
          <a:p>
            <a:pPr marL="228600" indent="0"/>
            <a:r>
              <a:rPr lang="en-GB" dirty="0"/>
              <a:t>Violating assumptions can make results misleading.</a:t>
            </a:r>
          </a:p>
          <a:p>
            <a:pPr marL="228600" indent="0"/>
            <a:endParaRPr lang="en-GB" dirty="0"/>
          </a:p>
          <a:p>
            <a:pPr marL="228600" indent="0"/>
            <a:r>
              <a:rPr lang="en-GB" dirty="0"/>
              <a:t>2) Using the wrong statistical test for the study design and hypothesis </a:t>
            </a:r>
          </a:p>
          <a:p>
            <a:pPr marL="228600" indent="0"/>
            <a:endParaRPr lang="en-GB" dirty="0"/>
          </a:p>
          <a:p>
            <a:pPr marL="228600" indent="0"/>
            <a:r>
              <a:rPr lang="en-GB" dirty="0"/>
              <a:t>3) Small sample size problems (statistical power and power analysis)</a:t>
            </a:r>
          </a:p>
          <a:p>
            <a:pPr marL="228600" indent="0"/>
            <a:endParaRPr lang="en-GB" dirty="0"/>
          </a:p>
          <a:p>
            <a:r>
              <a:rPr lang="en-GB" dirty="0"/>
              <a:t>4) Multiple Comparisons Without Correction</a:t>
            </a:r>
          </a:p>
          <a:p>
            <a:r>
              <a:rPr lang="en-GB" dirty="0"/>
              <a:t>Testing many outcomes increases the chance of false positive.</a:t>
            </a:r>
          </a:p>
          <a:p>
            <a:endParaRPr lang="en-GB" dirty="0"/>
          </a:p>
          <a:p>
            <a:r>
              <a:rPr lang="en-GB" dirty="0"/>
              <a:t>5) Selectively reporting only significant outcomes</a:t>
            </a:r>
          </a:p>
          <a:p>
            <a:endParaRPr lang="en-GB" dirty="0">
              <a:highlight>
                <a:srgbClr val="00FF00"/>
              </a:highlight>
            </a:endParaRPr>
          </a:p>
          <a:p>
            <a:pPr marL="228600" indent="0"/>
            <a:endParaRPr lang="en-GB" dirty="0">
              <a:highlight>
                <a:srgbClr val="00FF00"/>
              </a:highlight>
            </a:endParaRPr>
          </a:p>
          <a:p>
            <a:pPr marL="228600" indent="0"/>
            <a:endParaRPr lang="en-GB" dirty="0"/>
          </a:p>
          <a:p>
            <a:pPr marL="228600" indent="0"/>
            <a:endParaRPr lang="en-GB" dirty="0"/>
          </a:p>
        </p:txBody>
      </p:sp>
      <p:pic>
        <p:nvPicPr>
          <p:cNvPr id="3074" name="Picture 2" descr="6 Key Factors for Achieving Statistical Significance">
            <a:extLst>
              <a:ext uri="{FF2B5EF4-FFF2-40B4-BE49-F238E27FC236}">
                <a16:creationId xmlns:a16="http://schemas.microsoft.com/office/drawing/2014/main" id="{97F59C1D-5CD9-17A6-FCBE-57F7811C9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9390" y="132231"/>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369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ADB2-4AE7-108C-CFB7-8D308C85E23C}"/>
              </a:ext>
            </a:extLst>
          </p:cNvPr>
          <p:cNvSpPr>
            <a:spLocks noGrp="1"/>
          </p:cNvSpPr>
          <p:nvPr>
            <p:ph type="title"/>
          </p:nvPr>
        </p:nvSpPr>
        <p:spPr/>
        <p:txBody>
          <a:bodyPr/>
          <a:lstStyle/>
          <a:p>
            <a:r>
              <a:rPr lang="it-IT" dirty="0"/>
              <a:t>Statistical </a:t>
            </a:r>
            <a:r>
              <a:rPr lang="it-IT" dirty="0" err="1"/>
              <a:t>significance</a:t>
            </a:r>
            <a:r>
              <a:rPr lang="it-IT" dirty="0"/>
              <a:t> vs clinical </a:t>
            </a:r>
            <a:r>
              <a:rPr lang="it-IT" dirty="0" err="1"/>
              <a:t>significance</a:t>
            </a:r>
            <a:r>
              <a:rPr lang="it-IT" dirty="0"/>
              <a:t> </a:t>
            </a:r>
            <a:endParaRPr lang="en-GB" dirty="0"/>
          </a:p>
        </p:txBody>
      </p:sp>
      <p:sp>
        <p:nvSpPr>
          <p:cNvPr id="3" name="Text Placeholder 2">
            <a:extLst>
              <a:ext uri="{FF2B5EF4-FFF2-40B4-BE49-F238E27FC236}">
                <a16:creationId xmlns:a16="http://schemas.microsoft.com/office/drawing/2014/main" id="{53B291E7-5E02-DC2D-B658-8E3B0E7FD745}"/>
              </a:ext>
            </a:extLst>
          </p:cNvPr>
          <p:cNvSpPr>
            <a:spLocks noGrp="1"/>
          </p:cNvSpPr>
          <p:nvPr>
            <p:ph type="body" idx="1"/>
          </p:nvPr>
        </p:nvSpPr>
        <p:spPr>
          <a:xfrm>
            <a:off x="1029600" y="3404181"/>
            <a:ext cx="16385700" cy="3053769"/>
          </a:xfrm>
        </p:spPr>
        <p:txBody>
          <a:bodyPr/>
          <a:lstStyle/>
          <a:p>
            <a:pPr algn="ctr">
              <a:lnSpc>
                <a:spcPct val="200000"/>
              </a:lnSpc>
            </a:pPr>
            <a:r>
              <a:rPr lang="en-GB" dirty="0"/>
              <a:t>Is the result unlikely to have happened by chance?</a:t>
            </a:r>
          </a:p>
          <a:p>
            <a:pPr algn="ctr">
              <a:lnSpc>
                <a:spcPct val="200000"/>
              </a:lnSpc>
            </a:pPr>
            <a:r>
              <a:rPr lang="en-GB" dirty="0"/>
              <a:t>vs</a:t>
            </a:r>
          </a:p>
          <a:p>
            <a:pPr algn="ctr">
              <a:lnSpc>
                <a:spcPct val="200000"/>
              </a:lnSpc>
            </a:pPr>
            <a:r>
              <a:rPr lang="en-GB" dirty="0"/>
              <a:t>Is the result big enough to make a meaningful difference to a patient’s life or function?</a:t>
            </a:r>
          </a:p>
          <a:p>
            <a:endParaRPr lang="en-GB" dirty="0"/>
          </a:p>
          <a:p>
            <a:endParaRPr lang="en-GB" dirty="0"/>
          </a:p>
          <a:p>
            <a:endParaRPr lang="en-GB" dirty="0"/>
          </a:p>
        </p:txBody>
      </p:sp>
      <p:graphicFrame>
        <p:nvGraphicFramePr>
          <p:cNvPr id="5" name="Table 4">
            <a:extLst>
              <a:ext uri="{FF2B5EF4-FFF2-40B4-BE49-F238E27FC236}">
                <a16:creationId xmlns:a16="http://schemas.microsoft.com/office/drawing/2014/main" id="{7159D5E7-70CF-AED1-B3E9-0BF31CE32C50}"/>
              </a:ext>
            </a:extLst>
          </p:cNvPr>
          <p:cNvGraphicFramePr>
            <a:graphicFrameLocks noGrp="1"/>
          </p:cNvGraphicFramePr>
          <p:nvPr>
            <p:extLst>
              <p:ext uri="{D42A27DB-BD31-4B8C-83A1-F6EECF244321}">
                <p14:modId xmlns:p14="http://schemas.microsoft.com/office/powerpoint/2010/main" val="1788379616"/>
              </p:ext>
            </p:extLst>
          </p:nvPr>
        </p:nvGraphicFramePr>
        <p:xfrm>
          <a:off x="1411950" y="6994650"/>
          <a:ext cx="15621000" cy="1645920"/>
        </p:xfrm>
        <a:graphic>
          <a:graphicData uri="http://schemas.openxmlformats.org/drawingml/2006/table">
            <a:tbl>
              <a:tblPr firstRow="1" bandRow="1">
                <a:tableStyleId>{5C22544A-7EE6-4342-B048-85BDC9FD1C3A}</a:tableStyleId>
              </a:tblPr>
              <a:tblGrid>
                <a:gridCol w="4400550">
                  <a:extLst>
                    <a:ext uri="{9D8B030D-6E8A-4147-A177-3AD203B41FA5}">
                      <a16:colId xmlns:a16="http://schemas.microsoft.com/office/drawing/2014/main" val="3976852342"/>
                    </a:ext>
                  </a:extLst>
                </a:gridCol>
                <a:gridCol w="4438650">
                  <a:extLst>
                    <a:ext uri="{9D8B030D-6E8A-4147-A177-3AD203B41FA5}">
                      <a16:colId xmlns:a16="http://schemas.microsoft.com/office/drawing/2014/main" val="1155385876"/>
                    </a:ext>
                  </a:extLst>
                </a:gridCol>
                <a:gridCol w="2876550">
                  <a:extLst>
                    <a:ext uri="{9D8B030D-6E8A-4147-A177-3AD203B41FA5}">
                      <a16:colId xmlns:a16="http://schemas.microsoft.com/office/drawing/2014/main" val="3871687459"/>
                    </a:ext>
                  </a:extLst>
                </a:gridCol>
                <a:gridCol w="3905250">
                  <a:extLst>
                    <a:ext uri="{9D8B030D-6E8A-4147-A177-3AD203B41FA5}">
                      <a16:colId xmlns:a16="http://schemas.microsoft.com/office/drawing/2014/main" val="1742358805"/>
                    </a:ext>
                  </a:extLst>
                </a:gridCol>
              </a:tblGrid>
              <a:tr h="370840">
                <a:tc>
                  <a:txBody>
                    <a:bodyPr/>
                    <a:lstStyle/>
                    <a:p>
                      <a:pPr>
                        <a:buNone/>
                      </a:pPr>
                      <a:r>
                        <a:rPr lang="en-GB" sz="3000" dirty="0">
                          <a:effectLst/>
                        </a:rPr>
                        <a:t>Concept</a:t>
                      </a:r>
                    </a:p>
                  </a:txBody>
                  <a:tcPr anchor="ctr"/>
                </a:tc>
                <a:tc>
                  <a:txBody>
                    <a:bodyPr/>
                    <a:lstStyle/>
                    <a:p>
                      <a:pPr>
                        <a:buNone/>
                      </a:pPr>
                      <a:r>
                        <a:rPr lang="en-GB" sz="3000" dirty="0">
                          <a:effectLst/>
                        </a:rPr>
                        <a:t>Meaning</a:t>
                      </a:r>
                    </a:p>
                  </a:txBody>
                  <a:tcPr anchor="ctr"/>
                </a:tc>
                <a:tc>
                  <a:txBody>
                    <a:bodyPr/>
                    <a:lstStyle/>
                    <a:p>
                      <a:pPr>
                        <a:buNone/>
                      </a:pPr>
                      <a:r>
                        <a:rPr lang="en-GB" sz="3000">
                          <a:effectLst/>
                        </a:rPr>
                        <a:t>Key Question</a:t>
                      </a:r>
                    </a:p>
                  </a:txBody>
                  <a:tcPr anchor="ctr"/>
                </a:tc>
                <a:tc>
                  <a:txBody>
                    <a:bodyPr/>
                    <a:lstStyle/>
                    <a:p>
                      <a:pPr>
                        <a:buNone/>
                      </a:pPr>
                      <a:r>
                        <a:rPr lang="en-GB" sz="3000">
                          <a:effectLst/>
                        </a:rPr>
                        <a:t>Example</a:t>
                      </a:r>
                    </a:p>
                  </a:txBody>
                  <a:tcPr anchor="ctr"/>
                </a:tc>
                <a:extLst>
                  <a:ext uri="{0D108BD9-81ED-4DB2-BD59-A6C34878D82A}">
                    <a16:rowId xmlns:a16="http://schemas.microsoft.com/office/drawing/2014/main" val="1263749681"/>
                  </a:ext>
                </a:extLst>
              </a:tr>
              <a:tr h="370840">
                <a:tc>
                  <a:txBody>
                    <a:bodyPr/>
                    <a:lstStyle/>
                    <a:p>
                      <a:pPr>
                        <a:buNone/>
                      </a:pPr>
                      <a:r>
                        <a:rPr lang="en-GB" sz="3000" b="1">
                          <a:effectLst/>
                        </a:rPr>
                        <a:t>Statistical Significance</a:t>
                      </a:r>
                      <a:endParaRPr lang="en-GB" sz="3000">
                        <a:effectLst/>
                      </a:endParaRPr>
                    </a:p>
                  </a:txBody>
                  <a:tcPr anchor="ctr"/>
                </a:tc>
                <a:tc>
                  <a:txBody>
                    <a:bodyPr/>
                    <a:lstStyle/>
                    <a:p>
                      <a:pPr>
                        <a:buNone/>
                      </a:pPr>
                      <a:r>
                        <a:rPr lang="en-GB" sz="3000" dirty="0">
                          <a:effectLst/>
                        </a:rPr>
                        <a:t>Unlikely due to chance</a:t>
                      </a:r>
                    </a:p>
                  </a:txBody>
                  <a:tcPr anchor="ctr"/>
                </a:tc>
                <a:tc>
                  <a:txBody>
                    <a:bodyPr/>
                    <a:lstStyle/>
                    <a:p>
                      <a:pPr>
                        <a:buNone/>
                      </a:pPr>
                      <a:r>
                        <a:rPr lang="en-GB" sz="3000" i="1">
                          <a:effectLst/>
                        </a:rPr>
                        <a:t>Is it real?</a:t>
                      </a:r>
                      <a:endParaRPr lang="en-GB" sz="3000">
                        <a:effectLst/>
                      </a:endParaRPr>
                    </a:p>
                  </a:txBody>
                  <a:tcPr anchor="ctr"/>
                </a:tc>
                <a:tc>
                  <a:txBody>
                    <a:bodyPr/>
                    <a:lstStyle/>
                    <a:p>
                      <a:pPr>
                        <a:buNone/>
                      </a:pPr>
                      <a:r>
                        <a:rPr lang="en-GB" sz="3000">
                          <a:effectLst/>
                        </a:rPr>
                        <a:t>p &lt; 0.05</a:t>
                      </a:r>
                    </a:p>
                  </a:txBody>
                  <a:tcPr anchor="ctr"/>
                </a:tc>
                <a:extLst>
                  <a:ext uri="{0D108BD9-81ED-4DB2-BD59-A6C34878D82A}">
                    <a16:rowId xmlns:a16="http://schemas.microsoft.com/office/drawing/2014/main" val="27411827"/>
                  </a:ext>
                </a:extLst>
              </a:tr>
              <a:tr h="370840">
                <a:tc>
                  <a:txBody>
                    <a:bodyPr/>
                    <a:lstStyle/>
                    <a:p>
                      <a:pPr>
                        <a:buNone/>
                      </a:pPr>
                      <a:r>
                        <a:rPr lang="en-GB" sz="3000" b="1">
                          <a:effectLst/>
                        </a:rPr>
                        <a:t>Clinical Significance</a:t>
                      </a:r>
                      <a:endParaRPr lang="en-GB" sz="3000">
                        <a:effectLst/>
                      </a:endParaRPr>
                    </a:p>
                  </a:txBody>
                  <a:tcPr anchor="ctr"/>
                </a:tc>
                <a:tc>
                  <a:txBody>
                    <a:bodyPr/>
                    <a:lstStyle/>
                    <a:p>
                      <a:pPr>
                        <a:buNone/>
                      </a:pPr>
                      <a:r>
                        <a:rPr lang="en-GB" sz="3000">
                          <a:effectLst/>
                        </a:rPr>
                        <a:t>Meaningful improvement</a:t>
                      </a:r>
                    </a:p>
                  </a:txBody>
                  <a:tcPr anchor="ctr"/>
                </a:tc>
                <a:tc>
                  <a:txBody>
                    <a:bodyPr/>
                    <a:lstStyle/>
                    <a:p>
                      <a:pPr>
                        <a:buNone/>
                      </a:pPr>
                      <a:r>
                        <a:rPr lang="en-GB" sz="3000" i="1" dirty="0">
                          <a:effectLst/>
                        </a:rPr>
                        <a:t>Does it matter?</a:t>
                      </a:r>
                      <a:endParaRPr lang="en-GB" sz="3000" dirty="0">
                        <a:effectLst/>
                      </a:endParaRPr>
                    </a:p>
                  </a:txBody>
                  <a:tcPr anchor="ctr"/>
                </a:tc>
                <a:tc>
                  <a:txBody>
                    <a:bodyPr/>
                    <a:lstStyle/>
                    <a:p>
                      <a:pPr>
                        <a:buNone/>
                      </a:pPr>
                      <a:r>
                        <a:rPr lang="en-GB" sz="3000" dirty="0">
                          <a:effectLst/>
                        </a:rPr>
                        <a:t>Exceeds MCID</a:t>
                      </a:r>
                    </a:p>
                  </a:txBody>
                  <a:tcPr anchor="ctr"/>
                </a:tc>
                <a:extLst>
                  <a:ext uri="{0D108BD9-81ED-4DB2-BD59-A6C34878D82A}">
                    <a16:rowId xmlns:a16="http://schemas.microsoft.com/office/drawing/2014/main" val="1293700103"/>
                  </a:ext>
                </a:extLst>
              </a:tr>
            </a:tbl>
          </a:graphicData>
        </a:graphic>
      </p:graphicFrame>
    </p:spTree>
    <p:extLst>
      <p:ext uri="{BB962C8B-B14F-4D97-AF65-F5344CB8AC3E}">
        <p14:creationId xmlns:p14="http://schemas.microsoft.com/office/powerpoint/2010/main" val="59538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C3737-3EAA-ED82-4B74-8A5B067AAC05}"/>
              </a:ext>
            </a:extLst>
          </p:cNvPr>
          <p:cNvSpPr>
            <a:spLocks noGrp="1"/>
          </p:cNvSpPr>
          <p:nvPr>
            <p:ph type="title"/>
          </p:nvPr>
        </p:nvSpPr>
        <p:spPr/>
        <p:txBody>
          <a:bodyPr/>
          <a:lstStyle/>
          <a:p>
            <a:r>
              <a:rPr lang="en-GB" dirty="0"/>
              <a:t>Interpreting tables</a:t>
            </a:r>
          </a:p>
        </p:txBody>
      </p:sp>
      <p:sp>
        <p:nvSpPr>
          <p:cNvPr id="3" name="Text Placeholder 2">
            <a:extLst>
              <a:ext uri="{FF2B5EF4-FFF2-40B4-BE49-F238E27FC236}">
                <a16:creationId xmlns:a16="http://schemas.microsoft.com/office/drawing/2014/main" id="{5D737730-DF4E-EFCB-6427-0E79375CC8F7}"/>
              </a:ext>
            </a:extLst>
          </p:cNvPr>
          <p:cNvSpPr>
            <a:spLocks noGrp="1"/>
          </p:cNvSpPr>
          <p:nvPr>
            <p:ph type="body" idx="1"/>
          </p:nvPr>
        </p:nvSpPr>
        <p:spPr/>
        <p:txBody>
          <a:bodyPr/>
          <a:lstStyle/>
          <a:p>
            <a:r>
              <a:rPr lang="en-GB" u="sng" dirty="0"/>
              <a:t>Start With the Basics</a:t>
            </a:r>
          </a:p>
          <a:p>
            <a:r>
              <a:rPr lang="en-GB" dirty="0"/>
              <a:t>Title → What is the table about?</a:t>
            </a:r>
          </a:p>
          <a:p>
            <a:r>
              <a:rPr lang="en-GB" dirty="0"/>
              <a:t>Rows → Groups, time points, variables?</a:t>
            </a:r>
          </a:p>
          <a:p>
            <a:r>
              <a:rPr lang="en-GB" dirty="0"/>
              <a:t>Columns → Measurements, statistics (mean, SD, N, %)?</a:t>
            </a:r>
          </a:p>
          <a:p>
            <a:endParaRPr lang="en-GB" dirty="0"/>
          </a:p>
          <a:p>
            <a:r>
              <a:rPr lang="en-GB" dirty="0"/>
              <a:t>Identify Key Variables</a:t>
            </a:r>
          </a:p>
          <a:p>
            <a:pPr marL="685800" indent="-457200">
              <a:buFont typeface="Arial" panose="020B0604020202020204" pitchFamily="34" charset="0"/>
              <a:buChar char="•"/>
            </a:pPr>
            <a:r>
              <a:rPr lang="en-GB" dirty="0"/>
              <a:t>What outcome is being measured? (e.g., pain, ROM, strength)</a:t>
            </a:r>
          </a:p>
          <a:p>
            <a:pPr marL="685800" indent="-457200">
              <a:buFont typeface="Arial" panose="020B0604020202020204" pitchFamily="34" charset="0"/>
              <a:buChar char="•"/>
            </a:pPr>
            <a:r>
              <a:rPr lang="en-GB" dirty="0"/>
              <a:t>What is being compared? (e.g., control vs intervention, timepoints)</a:t>
            </a:r>
          </a:p>
          <a:p>
            <a:endParaRPr lang="en-GB" dirty="0"/>
          </a:p>
        </p:txBody>
      </p:sp>
      <p:pic>
        <p:nvPicPr>
          <p:cNvPr id="8194" name="Picture 2" descr="Table Structure Model">
            <a:extLst>
              <a:ext uri="{FF2B5EF4-FFF2-40B4-BE49-F238E27FC236}">
                <a16:creationId xmlns:a16="http://schemas.microsoft.com/office/drawing/2014/main" id="{378B8415-B743-F41B-EC67-D60DDB7C5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4522" y="271881"/>
            <a:ext cx="3900778" cy="4382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455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0884-FA76-970B-0CBE-4756D589231C}"/>
              </a:ext>
            </a:extLst>
          </p:cNvPr>
          <p:cNvSpPr>
            <a:spLocks noGrp="1"/>
          </p:cNvSpPr>
          <p:nvPr>
            <p:ph type="title"/>
          </p:nvPr>
        </p:nvSpPr>
        <p:spPr/>
        <p:txBody>
          <a:bodyPr/>
          <a:lstStyle/>
          <a:p>
            <a:r>
              <a:rPr lang="en-GB" dirty="0"/>
              <a:t>Interpreting tables</a:t>
            </a:r>
          </a:p>
        </p:txBody>
      </p:sp>
      <p:sp>
        <p:nvSpPr>
          <p:cNvPr id="3" name="Text Placeholder 2">
            <a:extLst>
              <a:ext uri="{FF2B5EF4-FFF2-40B4-BE49-F238E27FC236}">
                <a16:creationId xmlns:a16="http://schemas.microsoft.com/office/drawing/2014/main" id="{8D48E204-A54C-B6EA-8F75-126AA564E975}"/>
              </a:ext>
            </a:extLst>
          </p:cNvPr>
          <p:cNvSpPr>
            <a:spLocks noGrp="1"/>
          </p:cNvSpPr>
          <p:nvPr>
            <p:ph type="body" idx="1"/>
          </p:nvPr>
        </p:nvSpPr>
        <p:spPr/>
        <p:txBody>
          <a:bodyPr/>
          <a:lstStyle/>
          <a:p>
            <a:r>
              <a:rPr lang="en-GB" dirty="0"/>
              <a:t>Read the Descriptive Statistics</a:t>
            </a:r>
          </a:p>
          <a:p>
            <a:pPr marL="685800" indent="-457200">
              <a:buFont typeface="Arial" panose="020B0604020202020204" pitchFamily="34" charset="0"/>
              <a:buChar char="•"/>
            </a:pPr>
            <a:r>
              <a:rPr lang="en-GB" dirty="0"/>
              <a:t>What measures of central tendency are being used?</a:t>
            </a:r>
          </a:p>
          <a:p>
            <a:pPr marL="685800" indent="-457200">
              <a:buFont typeface="Arial" panose="020B0604020202020204" pitchFamily="34" charset="0"/>
              <a:buChar char="•"/>
            </a:pPr>
            <a:r>
              <a:rPr lang="en-GB" dirty="0"/>
              <a:t>What measures of variability are being used?</a:t>
            </a:r>
          </a:p>
          <a:p>
            <a:pPr marL="228600" indent="0"/>
            <a:r>
              <a:rPr lang="en-GB" dirty="0"/>
              <a:t>Tip: Look at the table title, notes underneath, units and accompanying text to support this. </a:t>
            </a:r>
          </a:p>
          <a:p>
            <a:endParaRPr lang="en-GB" dirty="0"/>
          </a:p>
          <a:p>
            <a:r>
              <a:rPr lang="en-GB" dirty="0"/>
              <a:t>Interpret the statistical values</a:t>
            </a:r>
          </a:p>
          <a:p>
            <a:pPr marL="685800" indent="-457200">
              <a:buFont typeface="Arial" panose="020B0604020202020204" pitchFamily="34" charset="0"/>
              <a:buChar char="•"/>
            </a:pPr>
            <a:r>
              <a:rPr lang="en-GB" dirty="0"/>
              <a:t>What statistical values are reported? (e.g. p, mean difference, 95% CI etc.)</a:t>
            </a:r>
          </a:p>
        </p:txBody>
      </p:sp>
    </p:spTree>
    <p:extLst>
      <p:ext uri="{BB962C8B-B14F-4D97-AF65-F5344CB8AC3E}">
        <p14:creationId xmlns:p14="http://schemas.microsoft.com/office/powerpoint/2010/main" val="1206029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23A4B-BAF9-1A3E-1026-FFECA82E357B}"/>
              </a:ext>
            </a:extLst>
          </p:cNvPr>
          <p:cNvSpPr>
            <a:spLocks noGrp="1"/>
          </p:cNvSpPr>
          <p:nvPr>
            <p:ph type="title"/>
          </p:nvPr>
        </p:nvSpPr>
        <p:spPr/>
        <p:txBody>
          <a:bodyPr/>
          <a:lstStyle/>
          <a:p>
            <a:r>
              <a:rPr lang="en-GB" dirty="0"/>
              <a:t>Interpreting Graphs</a:t>
            </a:r>
          </a:p>
        </p:txBody>
      </p:sp>
      <p:sp>
        <p:nvSpPr>
          <p:cNvPr id="3" name="Text Placeholder 2">
            <a:extLst>
              <a:ext uri="{FF2B5EF4-FFF2-40B4-BE49-F238E27FC236}">
                <a16:creationId xmlns:a16="http://schemas.microsoft.com/office/drawing/2014/main" id="{909E2BDD-1831-4AE3-6266-C9C60E7CC9D6}"/>
              </a:ext>
            </a:extLst>
          </p:cNvPr>
          <p:cNvSpPr>
            <a:spLocks noGrp="1"/>
          </p:cNvSpPr>
          <p:nvPr>
            <p:ph type="body" idx="1"/>
          </p:nvPr>
        </p:nvSpPr>
        <p:spPr/>
        <p:txBody>
          <a:bodyPr/>
          <a:lstStyle/>
          <a:p>
            <a:r>
              <a:rPr lang="en-GB" u="sng" dirty="0"/>
              <a:t>Start With the Basics</a:t>
            </a:r>
          </a:p>
          <a:p>
            <a:r>
              <a:rPr lang="en-GB" dirty="0"/>
              <a:t>Title → What is the graph about?</a:t>
            </a:r>
          </a:p>
          <a:p>
            <a:endParaRPr lang="en-GB" dirty="0"/>
          </a:p>
          <a:p>
            <a:r>
              <a:rPr lang="en-GB" dirty="0"/>
              <a:t>Type of Graph:</a:t>
            </a:r>
          </a:p>
          <a:p>
            <a:pPr marL="685800" indent="-457200">
              <a:buFont typeface="Arial" panose="020B0604020202020204" pitchFamily="34" charset="0"/>
              <a:buChar char="•"/>
            </a:pPr>
            <a:r>
              <a:rPr lang="en-GB" dirty="0"/>
              <a:t>Bar chart → comparing groups</a:t>
            </a:r>
          </a:p>
          <a:p>
            <a:pPr marL="685800" indent="-457200">
              <a:buFont typeface="Arial" panose="020B0604020202020204" pitchFamily="34" charset="0"/>
              <a:buChar char="•"/>
            </a:pPr>
            <a:r>
              <a:rPr lang="en-GB" dirty="0"/>
              <a:t>Line graph → changes over time</a:t>
            </a:r>
          </a:p>
          <a:p>
            <a:pPr marL="685800" indent="-457200">
              <a:buFont typeface="Arial" panose="020B0604020202020204" pitchFamily="34" charset="0"/>
              <a:buChar char="•"/>
            </a:pPr>
            <a:r>
              <a:rPr lang="en-GB" dirty="0"/>
              <a:t>Scatter plot → relationships/correlations</a:t>
            </a:r>
          </a:p>
          <a:p>
            <a:pPr marL="685800" indent="-457200">
              <a:buFont typeface="Arial" panose="020B0604020202020204" pitchFamily="34" charset="0"/>
              <a:buChar char="•"/>
            </a:pPr>
            <a:r>
              <a:rPr lang="en-GB" dirty="0"/>
              <a:t>Box plot → spread and medians</a:t>
            </a:r>
          </a:p>
          <a:p>
            <a:endParaRPr lang="en-GB" dirty="0"/>
          </a:p>
          <a:p>
            <a:r>
              <a:rPr lang="en-GB" dirty="0"/>
              <a:t>Axes:</a:t>
            </a:r>
          </a:p>
          <a:p>
            <a:pPr marL="685800" indent="-457200">
              <a:buFont typeface="Arial" panose="020B0604020202020204" pitchFamily="34" charset="0"/>
              <a:buChar char="•"/>
            </a:pPr>
            <a:r>
              <a:rPr lang="en-GB" dirty="0"/>
              <a:t>X‑axis = what is being measured over time, groups, or conditions.</a:t>
            </a:r>
          </a:p>
          <a:p>
            <a:pPr marL="685800" indent="-457200">
              <a:buFont typeface="Arial" panose="020B0604020202020204" pitchFamily="34" charset="0"/>
              <a:buChar char="•"/>
            </a:pPr>
            <a:r>
              <a:rPr lang="en-GB" dirty="0"/>
              <a:t>Y‑axis = the outcome variable (e.g., pain score, ROM, strength).</a:t>
            </a:r>
          </a:p>
        </p:txBody>
      </p:sp>
      <p:pic>
        <p:nvPicPr>
          <p:cNvPr id="5126" name="Picture 6" descr="Charts and Diagrams: Visualizing Your Data Effectively">
            <a:extLst>
              <a:ext uri="{FF2B5EF4-FFF2-40B4-BE49-F238E27FC236}">
                <a16:creationId xmlns:a16="http://schemas.microsoft.com/office/drawing/2014/main" id="{C57CD787-D040-3B1B-66B5-526B73E25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1886" y="592728"/>
            <a:ext cx="6645145" cy="4769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293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3F8E-06BD-CB87-589E-9C3A6880C281}"/>
              </a:ext>
            </a:extLst>
          </p:cNvPr>
          <p:cNvSpPr>
            <a:spLocks noGrp="1"/>
          </p:cNvSpPr>
          <p:nvPr>
            <p:ph type="title"/>
          </p:nvPr>
        </p:nvSpPr>
        <p:spPr/>
        <p:txBody>
          <a:bodyPr/>
          <a:lstStyle/>
          <a:p>
            <a:r>
              <a:rPr lang="en-GB" dirty="0"/>
              <a:t>Interpreting Graphs</a:t>
            </a:r>
          </a:p>
        </p:txBody>
      </p:sp>
      <p:sp>
        <p:nvSpPr>
          <p:cNvPr id="3" name="Text Placeholder 2">
            <a:extLst>
              <a:ext uri="{FF2B5EF4-FFF2-40B4-BE49-F238E27FC236}">
                <a16:creationId xmlns:a16="http://schemas.microsoft.com/office/drawing/2014/main" id="{8A3A631D-0D88-955F-192D-68279A515B35}"/>
              </a:ext>
            </a:extLst>
          </p:cNvPr>
          <p:cNvSpPr>
            <a:spLocks noGrp="1"/>
          </p:cNvSpPr>
          <p:nvPr>
            <p:ph type="body" idx="1"/>
          </p:nvPr>
        </p:nvSpPr>
        <p:spPr/>
        <p:txBody>
          <a:bodyPr/>
          <a:lstStyle/>
          <a:p>
            <a:r>
              <a:rPr lang="en-GB" dirty="0"/>
              <a:t>Look for Key Patterns</a:t>
            </a:r>
          </a:p>
          <a:p>
            <a:pPr marL="685800" indent="-457200">
              <a:buFont typeface="Arial" panose="020B0604020202020204" pitchFamily="34" charset="0"/>
              <a:buChar char="•"/>
            </a:pPr>
            <a:r>
              <a:rPr lang="en-GB" dirty="0"/>
              <a:t>Is the trend increasing, decreasing, or flat?</a:t>
            </a:r>
          </a:p>
          <a:p>
            <a:pPr marL="685800" indent="-457200">
              <a:buFont typeface="Arial" panose="020B0604020202020204" pitchFamily="34" charset="0"/>
              <a:buChar char="•"/>
            </a:pPr>
            <a:r>
              <a:rPr lang="en-GB" dirty="0"/>
              <a:t>Are groups moving in different directions?</a:t>
            </a:r>
          </a:p>
          <a:p>
            <a:pPr marL="685800" indent="-457200">
              <a:buFont typeface="Arial" panose="020B0604020202020204" pitchFamily="34" charset="0"/>
              <a:buChar char="•"/>
            </a:pPr>
            <a:r>
              <a:rPr lang="en-GB" dirty="0"/>
              <a:t>Is there overlap between groups?</a:t>
            </a:r>
          </a:p>
          <a:p>
            <a:pPr marL="685800" indent="-457200">
              <a:buFont typeface="Arial" panose="020B0604020202020204" pitchFamily="34" charset="0"/>
              <a:buChar char="•"/>
            </a:pPr>
            <a:endParaRPr lang="en-GB" dirty="0"/>
          </a:p>
          <a:p>
            <a:pPr marL="228600" indent="0"/>
            <a:r>
              <a:rPr lang="en-GB" dirty="0"/>
              <a:t>Check Variability and Precision</a:t>
            </a:r>
          </a:p>
          <a:p>
            <a:pPr marL="685800" indent="-457200">
              <a:buFont typeface="Arial" panose="020B0604020202020204" pitchFamily="34" charset="0"/>
              <a:buChar char="•"/>
            </a:pPr>
            <a:r>
              <a:rPr lang="en-GB" dirty="0"/>
              <a:t>Error bars = standard deviation, standard error or confidence intervals</a:t>
            </a:r>
          </a:p>
          <a:p>
            <a:pPr marL="685800" indent="-457200">
              <a:buFont typeface="Arial" panose="020B0604020202020204" pitchFamily="34" charset="0"/>
              <a:buChar char="•"/>
            </a:pPr>
            <a:r>
              <a:rPr lang="en-GB" dirty="0"/>
              <a:t>Wide bars → more variability / less certainty</a:t>
            </a:r>
          </a:p>
          <a:p>
            <a:pPr marL="685800" indent="-457200">
              <a:buFont typeface="Arial" panose="020B0604020202020204" pitchFamily="34" charset="0"/>
              <a:buChar char="•"/>
            </a:pPr>
            <a:r>
              <a:rPr lang="en-GB" dirty="0"/>
              <a:t>Narrow bars → more consistent data</a:t>
            </a:r>
          </a:p>
          <a:p>
            <a:pPr marL="685800" indent="-457200">
              <a:buFont typeface="Arial" panose="020B0604020202020204" pitchFamily="34" charset="0"/>
              <a:buChar char="•"/>
            </a:pPr>
            <a:endParaRPr lang="en-GB" dirty="0"/>
          </a:p>
          <a:p>
            <a:pPr marL="228600" indent="0"/>
            <a:r>
              <a:rPr lang="en-GB" dirty="0"/>
              <a:t>Does the graph match the conclusions </a:t>
            </a:r>
            <a:r>
              <a:rPr lang="en-GB"/>
              <a:t>made by </a:t>
            </a:r>
            <a:r>
              <a:rPr lang="en-GB" dirty="0"/>
              <a:t>the authors of the study?</a:t>
            </a:r>
          </a:p>
          <a:p>
            <a:pPr marL="228600" indent="0"/>
            <a:endParaRPr lang="en-GB" dirty="0"/>
          </a:p>
        </p:txBody>
      </p:sp>
    </p:spTree>
    <p:extLst>
      <p:ext uri="{BB962C8B-B14F-4D97-AF65-F5344CB8AC3E}">
        <p14:creationId xmlns:p14="http://schemas.microsoft.com/office/powerpoint/2010/main" val="504300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841E8-62D9-E8FA-3467-0BAE8896839D}"/>
              </a:ext>
            </a:extLst>
          </p:cNvPr>
          <p:cNvSpPr>
            <a:spLocks noGrp="1"/>
          </p:cNvSpPr>
          <p:nvPr>
            <p:ph type="title"/>
          </p:nvPr>
        </p:nvSpPr>
        <p:spPr/>
        <p:txBody>
          <a:bodyPr/>
          <a:lstStyle/>
          <a:p>
            <a:r>
              <a:rPr lang="en-GB" dirty="0"/>
              <a:t>CASP Tool: Section C and Your RCT</a:t>
            </a:r>
          </a:p>
        </p:txBody>
      </p:sp>
      <p:sp>
        <p:nvSpPr>
          <p:cNvPr id="3" name="Text Placeholder 2">
            <a:extLst>
              <a:ext uri="{FF2B5EF4-FFF2-40B4-BE49-F238E27FC236}">
                <a16:creationId xmlns:a16="http://schemas.microsoft.com/office/drawing/2014/main" id="{7BBD8F95-D222-E079-A6AB-F14BBE1A0A63}"/>
              </a:ext>
            </a:extLst>
          </p:cNvPr>
          <p:cNvSpPr>
            <a:spLocks noGrp="1"/>
          </p:cNvSpPr>
          <p:nvPr>
            <p:ph type="body" idx="1"/>
          </p:nvPr>
        </p:nvSpPr>
        <p:spPr>
          <a:xfrm>
            <a:off x="8059118" y="3404181"/>
            <a:ext cx="9356181" cy="6249900"/>
          </a:xfrm>
        </p:spPr>
        <p:txBody>
          <a:bodyPr/>
          <a:lstStyle/>
          <a:p>
            <a:endParaRPr lang="en-GB" dirty="0"/>
          </a:p>
          <a:p>
            <a:endParaRPr lang="en-GB" dirty="0"/>
          </a:p>
        </p:txBody>
      </p:sp>
      <p:pic>
        <p:nvPicPr>
          <p:cNvPr id="5" name="Picture 4">
            <a:extLst>
              <a:ext uri="{FF2B5EF4-FFF2-40B4-BE49-F238E27FC236}">
                <a16:creationId xmlns:a16="http://schemas.microsoft.com/office/drawing/2014/main" id="{75F0421E-5EF8-2D01-2470-DEE3A0A32FA7}"/>
              </a:ext>
            </a:extLst>
          </p:cNvPr>
          <p:cNvPicPr>
            <a:picLocks noChangeAspect="1"/>
          </p:cNvPicPr>
          <p:nvPr/>
        </p:nvPicPr>
        <p:blipFill>
          <a:blip r:embed="rId3"/>
          <a:stretch>
            <a:fillRect/>
          </a:stretch>
        </p:blipFill>
        <p:spPr>
          <a:xfrm>
            <a:off x="5493112" y="2867481"/>
            <a:ext cx="6814459" cy="6667546"/>
          </a:xfrm>
          <a:prstGeom prst="rect">
            <a:avLst/>
          </a:prstGeom>
        </p:spPr>
      </p:pic>
    </p:spTree>
    <p:extLst>
      <p:ext uri="{BB962C8B-B14F-4D97-AF65-F5344CB8AC3E}">
        <p14:creationId xmlns:p14="http://schemas.microsoft.com/office/powerpoint/2010/main" val="37026943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CC919-34CA-B53B-F564-B32FE62BA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0D186-BCEB-87BB-D8AA-C900C1FA9D84}"/>
              </a:ext>
            </a:extLst>
          </p:cNvPr>
          <p:cNvSpPr>
            <a:spLocks noGrp="1"/>
          </p:cNvSpPr>
          <p:nvPr>
            <p:ph type="title"/>
          </p:nvPr>
        </p:nvSpPr>
        <p:spPr/>
        <p:txBody>
          <a:bodyPr/>
          <a:lstStyle/>
          <a:p>
            <a:r>
              <a:rPr lang="en-GB" dirty="0"/>
              <a:t>CASP Tool: Section C and Your RCT</a:t>
            </a:r>
          </a:p>
        </p:txBody>
      </p:sp>
      <p:pic>
        <p:nvPicPr>
          <p:cNvPr id="8" name="Picture 7">
            <a:extLst>
              <a:ext uri="{FF2B5EF4-FFF2-40B4-BE49-F238E27FC236}">
                <a16:creationId xmlns:a16="http://schemas.microsoft.com/office/drawing/2014/main" id="{9E3719A2-DBB9-8A55-817F-C7E7EC120DCA}"/>
              </a:ext>
            </a:extLst>
          </p:cNvPr>
          <p:cNvPicPr>
            <a:picLocks noChangeAspect="1"/>
          </p:cNvPicPr>
          <p:nvPr/>
        </p:nvPicPr>
        <p:blipFill>
          <a:blip r:embed="rId3"/>
          <a:stretch>
            <a:fillRect/>
          </a:stretch>
        </p:blipFill>
        <p:spPr>
          <a:xfrm>
            <a:off x="5665115" y="2867481"/>
            <a:ext cx="7639695" cy="6679998"/>
          </a:xfrm>
          <a:prstGeom prst="rect">
            <a:avLst/>
          </a:prstGeom>
        </p:spPr>
      </p:pic>
    </p:spTree>
    <p:extLst>
      <p:ext uri="{BB962C8B-B14F-4D97-AF65-F5344CB8AC3E}">
        <p14:creationId xmlns:p14="http://schemas.microsoft.com/office/powerpoint/2010/main" val="627828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6BF57-24E6-46C9-9C88-6473DA9AC490}"/>
              </a:ext>
            </a:extLst>
          </p:cNvPr>
          <p:cNvSpPr>
            <a:spLocks noGrp="1"/>
          </p:cNvSpPr>
          <p:nvPr>
            <p:ph type="title"/>
          </p:nvPr>
        </p:nvSpPr>
        <p:spPr/>
        <p:txBody>
          <a:bodyPr/>
          <a:lstStyle/>
          <a:p>
            <a:r>
              <a:rPr lang="en-GB" dirty="0"/>
              <a:t>Any Questions?</a:t>
            </a:r>
          </a:p>
        </p:txBody>
      </p:sp>
    </p:spTree>
    <p:extLst>
      <p:ext uri="{BB962C8B-B14F-4D97-AF65-F5344CB8AC3E}">
        <p14:creationId xmlns:p14="http://schemas.microsoft.com/office/powerpoint/2010/main" val="2665769894"/>
      </p:ext>
    </p:extLst>
  </p:cSld>
  <p:clrMapOvr>
    <a:masterClrMapping/>
  </p:clrMapOvr>
</p:sld>
</file>

<file path=ppt/theme/theme1.xml><?xml version="1.0" encoding="utf-8"?>
<a:theme xmlns:a="http://schemas.openxmlformats.org/drawingml/2006/main" name="Title slid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01E95706DD8245B78E920FEF6029AF" ma:contentTypeVersion="15" ma:contentTypeDescription="Create a new document." ma:contentTypeScope="" ma:versionID="9f4305f4ed2adc52873dbbe7e42b6418">
  <xsd:schema xmlns:xsd="http://www.w3.org/2001/XMLSchema" xmlns:xs="http://www.w3.org/2001/XMLSchema" xmlns:p="http://schemas.microsoft.com/office/2006/metadata/properties" xmlns:ns1="http://schemas.microsoft.com/sharepoint/v3" xmlns:ns2="71c86e41-dfe7-46dd-aa4d-f0c9b3b86952" xmlns:ns3="91817445-c990-44b4-af72-93953127e286" targetNamespace="http://schemas.microsoft.com/office/2006/metadata/properties" ma:root="true" ma:fieldsID="4dfbb0db9918a672cccd001533289eaa" ns1:_="" ns2:_="" ns3:_="">
    <xsd:import namespace="http://schemas.microsoft.com/sharepoint/v3"/>
    <xsd:import namespace="71c86e41-dfe7-46dd-aa4d-f0c9b3b86952"/>
    <xsd:import namespace="91817445-c990-44b4-af72-93953127e28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c86e41-dfe7-46dd-aa4d-f0c9b3b8695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52f2569-3cfa-479b-9f0e-1394dc9ea803}" ma:internalName="TaxCatchAll" ma:showField="CatchAllData" ma:web="71c86e41-dfe7-46dd-aa4d-f0c9b3b8695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1817445-c990-44b4-af72-93953127e28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157f23b-4936-4da1-b1a0-d7d41e84edc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1c86e41-dfe7-46dd-aa4d-f0c9b3b86952" xsi:nil="true"/>
    <lcf76f155ced4ddcb4097134ff3c332f xmlns="91817445-c990-44b4-af72-93953127e286">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F8D77775-E9A3-40A9-8FAB-32D6730D6B66}">
  <ds:schemaRefs>
    <ds:schemaRef ds:uri="http://schemas.microsoft.com/sharepoint/v3/contenttype/forms"/>
  </ds:schemaRefs>
</ds:datastoreItem>
</file>

<file path=customXml/itemProps2.xml><?xml version="1.0" encoding="utf-8"?>
<ds:datastoreItem xmlns:ds="http://schemas.openxmlformats.org/officeDocument/2006/customXml" ds:itemID="{69FF09DB-3175-43C2-B972-DE59103DF2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c86e41-dfe7-46dd-aa4d-f0c9b3b86952"/>
    <ds:schemaRef ds:uri="91817445-c990-44b4-af72-93953127e2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2EC173-2B71-41B5-9483-719BBCA9ADE6}">
  <ds:schemaRefs>
    <ds:schemaRef ds:uri="71c86e41-dfe7-46dd-aa4d-f0c9b3b86952"/>
    <ds:schemaRef ds:uri="f6cce60e-0239-4036-a625-2ff3321e23ba"/>
    <ds:schemaRef ds:uri="http://schemas.microsoft.com/office/2006/metadata/properties"/>
    <ds:schemaRef ds:uri="http://schemas.microsoft.com/office/infopath/2007/PartnerControls"/>
    <ds:schemaRef ds:uri="91817445-c990-44b4-af72-93953127e286"/>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0</TotalTime>
  <Words>2402</Words>
  <Application>Microsoft Office PowerPoint</Application>
  <PresentationFormat>Custom</PresentationFormat>
  <Paragraphs>280</Paragraphs>
  <Slides>40</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Title slide</vt:lpstr>
      <vt:lpstr>Introduction to Quantitative Statistics</vt:lpstr>
      <vt:lpstr>Learning Outcomes</vt:lpstr>
      <vt:lpstr>Contents</vt:lpstr>
      <vt:lpstr>PowerPoint Presentation</vt:lpstr>
      <vt:lpstr>Statistics Analysis </vt:lpstr>
      <vt:lpstr>Why run statistical analysis?</vt:lpstr>
      <vt:lpstr>Description vs. Inferential</vt:lpstr>
      <vt:lpstr>Mean, Median and Mode (i.e. Measures of Central Tendency)</vt:lpstr>
      <vt:lpstr>Range, IQR, standard deviation (i.e. measures of variability)</vt:lpstr>
      <vt:lpstr>Measure of Central Tendency and Variability Pairs</vt:lpstr>
      <vt:lpstr>Type of data</vt:lpstr>
      <vt:lpstr>Research Variables</vt:lpstr>
      <vt:lpstr>Statistical Software</vt:lpstr>
      <vt:lpstr>Last year: SPSS Introduction</vt:lpstr>
      <vt:lpstr>This year: Jamovi Introduction </vt:lpstr>
      <vt:lpstr>Access to Jamovi</vt:lpstr>
      <vt:lpstr>Jamovi - Basics</vt:lpstr>
      <vt:lpstr>Jamovi - Basics</vt:lpstr>
      <vt:lpstr>Jamovi - Basics</vt:lpstr>
      <vt:lpstr>Jamovi - Basics</vt:lpstr>
      <vt:lpstr>Jamovi – Descriptives </vt:lpstr>
      <vt:lpstr>Data Checking and Cleaning: Why check and clean data?</vt:lpstr>
      <vt:lpstr>Data checking and Cleaning</vt:lpstr>
      <vt:lpstr>Data checking and cleaning</vt:lpstr>
      <vt:lpstr>Data checking</vt:lpstr>
      <vt:lpstr>Data checking</vt:lpstr>
      <vt:lpstr>Break (15 minutes)</vt:lpstr>
      <vt:lpstr>Inferential Statistics</vt:lpstr>
      <vt:lpstr>Simply </vt:lpstr>
      <vt:lpstr>Common statistical tests in physiotherapy research (t‑tests, Chi‑square, Correlation)</vt:lpstr>
      <vt:lpstr>Common Statistical Values</vt:lpstr>
      <vt:lpstr>Common statistical errors and misinterpretations</vt:lpstr>
      <vt:lpstr>Statistical significance vs clinical significance </vt:lpstr>
      <vt:lpstr>Interpreting tables</vt:lpstr>
      <vt:lpstr>Interpreting tables</vt:lpstr>
      <vt:lpstr>Interpreting Graphs</vt:lpstr>
      <vt:lpstr>Interpreting Graphs</vt:lpstr>
      <vt:lpstr>CASP Tool: Section C and Your RCT</vt:lpstr>
      <vt:lpstr>CASP Tool: Section C and Your RCT</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 Cox</dc:creator>
  <cp:lastModifiedBy>Laura Perry</cp:lastModifiedBy>
  <cp:revision>79</cp:revision>
  <dcterms:created xsi:type="dcterms:W3CDTF">2015-07-03T13:06:53Z</dcterms:created>
  <dcterms:modified xsi:type="dcterms:W3CDTF">2026-02-23T15:14:00Z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0x010100EC01E95706DD8245B78E920FEF6029AF</vt:lpwstr>
  </property>
  <property fmtid="{D5CDD505-2E9C-101B-9397-08002B2CF9AE}" pid="3" name="MediaServiceImageTags">
    <vt:lpwstr/>
  </property>
</Properties>
</file>