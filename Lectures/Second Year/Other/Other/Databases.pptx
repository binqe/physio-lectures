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95" r:id="rId3"/>
    <p:sldId id="294" r:id="rId4"/>
    <p:sldId id="273" r:id="rId5"/>
    <p:sldId id="275" r:id="rId6"/>
    <p:sldId id="277" r:id="rId7"/>
    <p:sldId id="278" r:id="rId8"/>
    <p:sldId id="279" r:id="rId9"/>
    <p:sldId id="280" r:id="rId10"/>
    <p:sldId id="282" r:id="rId11"/>
    <p:sldId id="283" r:id="rId12"/>
    <p:sldId id="288" r:id="rId13"/>
    <p:sldId id="285" r:id="rId14"/>
    <p:sldId id="286" r:id="rId15"/>
    <p:sldId id="293" r:id="rId16"/>
    <p:sldId id="290" r:id="rId17"/>
    <p:sldId id="291" r:id="rId18"/>
    <p:sldId id="292" r:id="rId19"/>
    <p:sldId id="28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13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743B68-FDA6-485B-A2CE-C802CDFA13F0}" type="doc">
      <dgm:prSet loTypeId="urn:microsoft.com/office/officeart/2018/2/layout/IconVerticalSolidList" loCatId="icon" qsTypeId="urn:microsoft.com/office/officeart/2005/8/quickstyle/simple1" qsCatId="simple" csTypeId="urn:microsoft.com/office/officeart/2005/8/colors/colorful4" csCatId="colorful" phldr="1"/>
      <dgm:spPr/>
      <dgm:t>
        <a:bodyPr/>
        <a:lstStyle/>
        <a:p>
          <a:endParaRPr lang="en-US"/>
        </a:p>
      </dgm:t>
    </dgm:pt>
    <dgm:pt modelId="{8316C66C-3B9D-49EC-839E-02E02F905D8C}">
      <dgm:prSet/>
      <dgm:spPr/>
      <dgm:t>
        <a:bodyPr/>
        <a:lstStyle/>
        <a:p>
          <a:pPr>
            <a:lnSpc>
              <a:spcPct val="100000"/>
            </a:lnSpc>
          </a:pPr>
          <a:r>
            <a:rPr lang="en-GB" dirty="0"/>
            <a:t>Maximise your time by consulting up-to-date, reliable sources that provide clinical recommendations following critical appraisal of the evidence in a particular area (i.e. filtered resources at the top of the Levels of Evidence Pyramid). </a:t>
          </a:r>
          <a:endParaRPr lang="en-US" dirty="0"/>
        </a:p>
      </dgm:t>
    </dgm:pt>
    <dgm:pt modelId="{5B8E0F8B-4F02-41E0-9608-015AB6877191}" type="parTrans" cxnId="{097526D0-8BCC-41F3-9B9A-E1749A8ED8E8}">
      <dgm:prSet/>
      <dgm:spPr/>
      <dgm:t>
        <a:bodyPr/>
        <a:lstStyle/>
        <a:p>
          <a:endParaRPr lang="en-US"/>
        </a:p>
      </dgm:t>
    </dgm:pt>
    <dgm:pt modelId="{081E68F1-AD6E-4995-A0B0-76DD0E68D1DA}" type="sibTrans" cxnId="{097526D0-8BCC-41F3-9B9A-E1749A8ED8E8}">
      <dgm:prSet/>
      <dgm:spPr/>
      <dgm:t>
        <a:bodyPr/>
        <a:lstStyle/>
        <a:p>
          <a:endParaRPr lang="en-US"/>
        </a:p>
      </dgm:t>
    </dgm:pt>
    <dgm:pt modelId="{38FEBEEC-3A27-4552-8EF9-F83EB34C76CB}">
      <dgm:prSet/>
      <dgm:spPr/>
      <dgm:t>
        <a:bodyPr/>
        <a:lstStyle/>
        <a:p>
          <a:pPr>
            <a:lnSpc>
              <a:spcPct val="100000"/>
            </a:lnSpc>
          </a:pPr>
          <a:r>
            <a:rPr lang="en-GB" dirty="0"/>
            <a:t>Systematic reviews and meta-analyses attempt to bring together all the relevant studies on a particular topic, sometimes with conflicting findings, and synthesise their results. </a:t>
          </a:r>
          <a:endParaRPr lang="en-US" dirty="0"/>
        </a:p>
      </dgm:t>
    </dgm:pt>
    <dgm:pt modelId="{83FBB8AD-B190-4E01-8664-00E27CA2030B}" type="parTrans" cxnId="{16F32C9B-B404-4767-A38C-AA596269B4C6}">
      <dgm:prSet/>
      <dgm:spPr/>
      <dgm:t>
        <a:bodyPr/>
        <a:lstStyle/>
        <a:p>
          <a:endParaRPr lang="en-US"/>
        </a:p>
      </dgm:t>
    </dgm:pt>
    <dgm:pt modelId="{E945BF81-FB42-41D2-A607-18199D40F14A}" type="sibTrans" cxnId="{16F32C9B-B404-4767-A38C-AA596269B4C6}">
      <dgm:prSet/>
      <dgm:spPr/>
      <dgm:t>
        <a:bodyPr/>
        <a:lstStyle/>
        <a:p>
          <a:endParaRPr lang="en-US"/>
        </a:p>
      </dgm:t>
    </dgm:pt>
    <dgm:pt modelId="{ADF3126A-F8C2-45CD-9E9D-D33A99B813DD}">
      <dgm:prSet/>
      <dgm:spPr/>
      <dgm:t>
        <a:bodyPr/>
        <a:lstStyle/>
        <a:p>
          <a:pPr>
            <a:lnSpc>
              <a:spcPct val="100000"/>
            </a:lnSpc>
          </a:pPr>
          <a:r>
            <a:rPr lang="en-GB" dirty="0"/>
            <a:t>A well-done systematic review is conducted in a transparent and objective manner, and includes critical appraisal of the quality of individual studies in order to minimise error and bias.</a:t>
          </a:r>
          <a:endParaRPr lang="en-US" dirty="0"/>
        </a:p>
      </dgm:t>
    </dgm:pt>
    <dgm:pt modelId="{73280FDE-740E-4B35-8BEF-F3EF27CDB49A}" type="parTrans" cxnId="{530B0FAF-733E-4035-B042-557BD5B24EE3}">
      <dgm:prSet/>
      <dgm:spPr/>
      <dgm:t>
        <a:bodyPr/>
        <a:lstStyle/>
        <a:p>
          <a:endParaRPr lang="en-US"/>
        </a:p>
      </dgm:t>
    </dgm:pt>
    <dgm:pt modelId="{AF54FCCD-C8C5-4B85-AD73-000066B86F73}" type="sibTrans" cxnId="{530B0FAF-733E-4035-B042-557BD5B24EE3}">
      <dgm:prSet/>
      <dgm:spPr/>
      <dgm:t>
        <a:bodyPr/>
        <a:lstStyle/>
        <a:p>
          <a:endParaRPr lang="en-US"/>
        </a:p>
      </dgm:t>
    </dgm:pt>
    <dgm:pt modelId="{FE7B1A0C-A950-4CF6-9815-C38F066AB4F1}" type="pres">
      <dgm:prSet presAssocID="{38743B68-FDA6-485B-A2CE-C802CDFA13F0}" presName="root" presStyleCnt="0">
        <dgm:presLayoutVars>
          <dgm:dir/>
          <dgm:resizeHandles val="exact"/>
        </dgm:presLayoutVars>
      </dgm:prSet>
      <dgm:spPr/>
    </dgm:pt>
    <dgm:pt modelId="{5667F103-4E45-40CC-A1B1-4D1D99C8F602}" type="pres">
      <dgm:prSet presAssocID="{8316C66C-3B9D-49EC-839E-02E02F905D8C}" presName="compNode" presStyleCnt="0"/>
      <dgm:spPr/>
    </dgm:pt>
    <dgm:pt modelId="{663B4804-5564-4D61-A9D3-57E88171930D}" type="pres">
      <dgm:prSet presAssocID="{8316C66C-3B9D-49EC-839E-02E02F905D8C}" presName="bgRect" presStyleLbl="bgShp" presStyleIdx="0" presStyleCnt="3"/>
      <dgm:spPr/>
    </dgm:pt>
    <dgm:pt modelId="{DFCCD323-4C8B-471D-BAC6-E6BDD5DFB4FF}" type="pres">
      <dgm:prSet presAssocID="{8316C66C-3B9D-49EC-839E-02E02F905D8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ick"/>
        </a:ext>
      </dgm:extLst>
    </dgm:pt>
    <dgm:pt modelId="{3BA2DEC4-7F8A-414A-994D-AC23B22802A0}" type="pres">
      <dgm:prSet presAssocID="{8316C66C-3B9D-49EC-839E-02E02F905D8C}" presName="spaceRect" presStyleCnt="0"/>
      <dgm:spPr/>
    </dgm:pt>
    <dgm:pt modelId="{5E27C0AF-2C0E-4CCF-B1CF-2FD5C45A0FF3}" type="pres">
      <dgm:prSet presAssocID="{8316C66C-3B9D-49EC-839E-02E02F905D8C}" presName="parTx" presStyleLbl="revTx" presStyleIdx="0" presStyleCnt="3">
        <dgm:presLayoutVars>
          <dgm:chMax val="0"/>
          <dgm:chPref val="0"/>
        </dgm:presLayoutVars>
      </dgm:prSet>
      <dgm:spPr/>
    </dgm:pt>
    <dgm:pt modelId="{CBFA2AEF-4A60-4CF3-AE5C-C45D7B636E02}" type="pres">
      <dgm:prSet presAssocID="{081E68F1-AD6E-4995-A0B0-76DD0E68D1DA}" presName="sibTrans" presStyleCnt="0"/>
      <dgm:spPr/>
    </dgm:pt>
    <dgm:pt modelId="{842481E5-5867-4D57-B805-7DCAF00B7647}" type="pres">
      <dgm:prSet presAssocID="{38FEBEEC-3A27-4552-8EF9-F83EB34C76CB}" presName="compNode" presStyleCnt="0"/>
      <dgm:spPr/>
    </dgm:pt>
    <dgm:pt modelId="{942325FE-A65C-4CA7-8F1F-6901CE7581B8}" type="pres">
      <dgm:prSet presAssocID="{38FEBEEC-3A27-4552-8EF9-F83EB34C76CB}" presName="bgRect" presStyleLbl="bgShp" presStyleIdx="1" presStyleCnt="3"/>
      <dgm:spPr/>
    </dgm:pt>
    <dgm:pt modelId="{C972A927-DCFE-497E-8AC4-74157C0D7765}" type="pres">
      <dgm:prSet presAssocID="{38FEBEEC-3A27-4552-8EF9-F83EB34C76C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icroscope"/>
        </a:ext>
      </dgm:extLst>
    </dgm:pt>
    <dgm:pt modelId="{28FE926C-39BC-4EC8-AF8D-F8559E1AE9C4}" type="pres">
      <dgm:prSet presAssocID="{38FEBEEC-3A27-4552-8EF9-F83EB34C76CB}" presName="spaceRect" presStyleCnt="0"/>
      <dgm:spPr/>
    </dgm:pt>
    <dgm:pt modelId="{F66B8CD1-AEA1-4F79-B6C4-5D21D2FCA579}" type="pres">
      <dgm:prSet presAssocID="{38FEBEEC-3A27-4552-8EF9-F83EB34C76CB}" presName="parTx" presStyleLbl="revTx" presStyleIdx="1" presStyleCnt="3">
        <dgm:presLayoutVars>
          <dgm:chMax val="0"/>
          <dgm:chPref val="0"/>
        </dgm:presLayoutVars>
      </dgm:prSet>
      <dgm:spPr/>
    </dgm:pt>
    <dgm:pt modelId="{A6F3FE47-474B-4B55-8DEE-E4D7E84C9196}" type="pres">
      <dgm:prSet presAssocID="{E945BF81-FB42-41D2-A607-18199D40F14A}" presName="sibTrans" presStyleCnt="0"/>
      <dgm:spPr/>
    </dgm:pt>
    <dgm:pt modelId="{3D4AFED2-3F43-4FA0-A4BE-2ED232924E75}" type="pres">
      <dgm:prSet presAssocID="{ADF3126A-F8C2-45CD-9E9D-D33A99B813DD}" presName="compNode" presStyleCnt="0"/>
      <dgm:spPr/>
    </dgm:pt>
    <dgm:pt modelId="{08832944-FB27-4B69-A28B-4B478D15A9E8}" type="pres">
      <dgm:prSet presAssocID="{ADF3126A-F8C2-45CD-9E9D-D33A99B813DD}" presName="bgRect" presStyleLbl="bgShp" presStyleIdx="2" presStyleCnt="3"/>
      <dgm:spPr/>
    </dgm:pt>
    <dgm:pt modelId="{266216ED-459D-42F6-AB34-807D1CD02225}" type="pres">
      <dgm:prSet presAssocID="{ADF3126A-F8C2-45CD-9E9D-D33A99B813D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esentation with Checklist"/>
        </a:ext>
      </dgm:extLst>
    </dgm:pt>
    <dgm:pt modelId="{EC68B763-6DF0-407A-845E-B329A50FC33B}" type="pres">
      <dgm:prSet presAssocID="{ADF3126A-F8C2-45CD-9E9D-D33A99B813DD}" presName="spaceRect" presStyleCnt="0"/>
      <dgm:spPr/>
    </dgm:pt>
    <dgm:pt modelId="{1858B09B-5AB5-478E-B336-F08F040352BE}" type="pres">
      <dgm:prSet presAssocID="{ADF3126A-F8C2-45CD-9E9D-D33A99B813DD}" presName="parTx" presStyleLbl="revTx" presStyleIdx="2" presStyleCnt="3">
        <dgm:presLayoutVars>
          <dgm:chMax val="0"/>
          <dgm:chPref val="0"/>
        </dgm:presLayoutVars>
      </dgm:prSet>
      <dgm:spPr/>
    </dgm:pt>
  </dgm:ptLst>
  <dgm:cxnLst>
    <dgm:cxn modelId="{1715085E-2F5D-4F31-89EF-C0EA8A0DDDEB}" type="presOf" srcId="{8316C66C-3B9D-49EC-839E-02E02F905D8C}" destId="{5E27C0AF-2C0E-4CCF-B1CF-2FD5C45A0FF3}" srcOrd="0" destOrd="0" presId="urn:microsoft.com/office/officeart/2018/2/layout/IconVerticalSolidList"/>
    <dgm:cxn modelId="{38E32665-F23B-4AD9-9DDC-BB5DA1C05F0D}" type="presOf" srcId="{38FEBEEC-3A27-4552-8EF9-F83EB34C76CB}" destId="{F66B8CD1-AEA1-4F79-B6C4-5D21D2FCA579}" srcOrd="0" destOrd="0" presId="urn:microsoft.com/office/officeart/2018/2/layout/IconVerticalSolidList"/>
    <dgm:cxn modelId="{E0159D70-C494-4FFF-91AA-B2759C6D5AF0}" type="presOf" srcId="{38743B68-FDA6-485B-A2CE-C802CDFA13F0}" destId="{FE7B1A0C-A950-4CF6-9815-C38F066AB4F1}" srcOrd="0" destOrd="0" presId="urn:microsoft.com/office/officeart/2018/2/layout/IconVerticalSolidList"/>
    <dgm:cxn modelId="{16F32C9B-B404-4767-A38C-AA596269B4C6}" srcId="{38743B68-FDA6-485B-A2CE-C802CDFA13F0}" destId="{38FEBEEC-3A27-4552-8EF9-F83EB34C76CB}" srcOrd="1" destOrd="0" parTransId="{83FBB8AD-B190-4E01-8664-00E27CA2030B}" sibTransId="{E945BF81-FB42-41D2-A607-18199D40F14A}"/>
    <dgm:cxn modelId="{530B0FAF-733E-4035-B042-557BD5B24EE3}" srcId="{38743B68-FDA6-485B-A2CE-C802CDFA13F0}" destId="{ADF3126A-F8C2-45CD-9E9D-D33A99B813DD}" srcOrd="2" destOrd="0" parTransId="{73280FDE-740E-4B35-8BEF-F3EF27CDB49A}" sibTransId="{AF54FCCD-C8C5-4B85-AD73-000066B86F73}"/>
    <dgm:cxn modelId="{097526D0-8BCC-41F3-9B9A-E1749A8ED8E8}" srcId="{38743B68-FDA6-485B-A2CE-C802CDFA13F0}" destId="{8316C66C-3B9D-49EC-839E-02E02F905D8C}" srcOrd="0" destOrd="0" parTransId="{5B8E0F8B-4F02-41E0-9608-015AB6877191}" sibTransId="{081E68F1-AD6E-4995-A0B0-76DD0E68D1DA}"/>
    <dgm:cxn modelId="{73B5F6DF-F6E4-420C-8B03-D2DC9C4142D3}" type="presOf" srcId="{ADF3126A-F8C2-45CD-9E9D-D33A99B813DD}" destId="{1858B09B-5AB5-478E-B336-F08F040352BE}" srcOrd="0" destOrd="0" presId="urn:microsoft.com/office/officeart/2018/2/layout/IconVerticalSolidList"/>
    <dgm:cxn modelId="{389206DE-2172-4858-BAD3-AF8D603EE738}" type="presParOf" srcId="{FE7B1A0C-A950-4CF6-9815-C38F066AB4F1}" destId="{5667F103-4E45-40CC-A1B1-4D1D99C8F602}" srcOrd="0" destOrd="0" presId="urn:microsoft.com/office/officeart/2018/2/layout/IconVerticalSolidList"/>
    <dgm:cxn modelId="{5A399AF5-07BC-4D38-99D2-343B1B29A90A}" type="presParOf" srcId="{5667F103-4E45-40CC-A1B1-4D1D99C8F602}" destId="{663B4804-5564-4D61-A9D3-57E88171930D}" srcOrd="0" destOrd="0" presId="urn:microsoft.com/office/officeart/2018/2/layout/IconVerticalSolidList"/>
    <dgm:cxn modelId="{C9DA445C-857C-4A29-8B10-E79866168E98}" type="presParOf" srcId="{5667F103-4E45-40CC-A1B1-4D1D99C8F602}" destId="{DFCCD323-4C8B-471D-BAC6-E6BDD5DFB4FF}" srcOrd="1" destOrd="0" presId="urn:microsoft.com/office/officeart/2018/2/layout/IconVerticalSolidList"/>
    <dgm:cxn modelId="{B79EEF1C-9172-4299-A993-D69340A6075C}" type="presParOf" srcId="{5667F103-4E45-40CC-A1B1-4D1D99C8F602}" destId="{3BA2DEC4-7F8A-414A-994D-AC23B22802A0}" srcOrd="2" destOrd="0" presId="urn:microsoft.com/office/officeart/2018/2/layout/IconVerticalSolidList"/>
    <dgm:cxn modelId="{53450E2F-0499-4EA8-AE76-A3D651CEC87F}" type="presParOf" srcId="{5667F103-4E45-40CC-A1B1-4D1D99C8F602}" destId="{5E27C0AF-2C0E-4CCF-B1CF-2FD5C45A0FF3}" srcOrd="3" destOrd="0" presId="urn:microsoft.com/office/officeart/2018/2/layout/IconVerticalSolidList"/>
    <dgm:cxn modelId="{83088626-39E6-4BF5-865E-AD957D26D2FF}" type="presParOf" srcId="{FE7B1A0C-A950-4CF6-9815-C38F066AB4F1}" destId="{CBFA2AEF-4A60-4CF3-AE5C-C45D7B636E02}" srcOrd="1" destOrd="0" presId="urn:microsoft.com/office/officeart/2018/2/layout/IconVerticalSolidList"/>
    <dgm:cxn modelId="{F935AFCD-342A-482E-AE98-A5C299E762A5}" type="presParOf" srcId="{FE7B1A0C-A950-4CF6-9815-C38F066AB4F1}" destId="{842481E5-5867-4D57-B805-7DCAF00B7647}" srcOrd="2" destOrd="0" presId="urn:microsoft.com/office/officeart/2018/2/layout/IconVerticalSolidList"/>
    <dgm:cxn modelId="{40BDFCF2-89E5-45D3-8C37-D962C3F08FB6}" type="presParOf" srcId="{842481E5-5867-4D57-B805-7DCAF00B7647}" destId="{942325FE-A65C-4CA7-8F1F-6901CE7581B8}" srcOrd="0" destOrd="0" presId="urn:microsoft.com/office/officeart/2018/2/layout/IconVerticalSolidList"/>
    <dgm:cxn modelId="{036C96A0-6DE2-4A45-9DB5-2533250E4C52}" type="presParOf" srcId="{842481E5-5867-4D57-B805-7DCAF00B7647}" destId="{C972A927-DCFE-497E-8AC4-74157C0D7765}" srcOrd="1" destOrd="0" presId="urn:microsoft.com/office/officeart/2018/2/layout/IconVerticalSolidList"/>
    <dgm:cxn modelId="{EC7054BB-43CC-40E6-BB99-FEC04ABFC7C7}" type="presParOf" srcId="{842481E5-5867-4D57-B805-7DCAF00B7647}" destId="{28FE926C-39BC-4EC8-AF8D-F8559E1AE9C4}" srcOrd="2" destOrd="0" presId="urn:microsoft.com/office/officeart/2018/2/layout/IconVerticalSolidList"/>
    <dgm:cxn modelId="{1F61FC4D-32AC-4866-8030-85FD71D0D554}" type="presParOf" srcId="{842481E5-5867-4D57-B805-7DCAF00B7647}" destId="{F66B8CD1-AEA1-4F79-B6C4-5D21D2FCA579}" srcOrd="3" destOrd="0" presId="urn:microsoft.com/office/officeart/2018/2/layout/IconVerticalSolidList"/>
    <dgm:cxn modelId="{40BC9350-357F-4671-B3A7-1FC55D482A70}" type="presParOf" srcId="{FE7B1A0C-A950-4CF6-9815-C38F066AB4F1}" destId="{A6F3FE47-474B-4B55-8DEE-E4D7E84C9196}" srcOrd="3" destOrd="0" presId="urn:microsoft.com/office/officeart/2018/2/layout/IconVerticalSolidList"/>
    <dgm:cxn modelId="{D3142EE8-25ED-4F58-89C9-A4337AA9E94C}" type="presParOf" srcId="{FE7B1A0C-A950-4CF6-9815-C38F066AB4F1}" destId="{3D4AFED2-3F43-4FA0-A4BE-2ED232924E75}" srcOrd="4" destOrd="0" presId="urn:microsoft.com/office/officeart/2018/2/layout/IconVerticalSolidList"/>
    <dgm:cxn modelId="{4B9AC388-83DA-4E05-9004-3586C5661899}" type="presParOf" srcId="{3D4AFED2-3F43-4FA0-A4BE-2ED232924E75}" destId="{08832944-FB27-4B69-A28B-4B478D15A9E8}" srcOrd="0" destOrd="0" presId="urn:microsoft.com/office/officeart/2018/2/layout/IconVerticalSolidList"/>
    <dgm:cxn modelId="{E152FF05-62B7-4892-9E46-74D0563FC7B8}" type="presParOf" srcId="{3D4AFED2-3F43-4FA0-A4BE-2ED232924E75}" destId="{266216ED-459D-42F6-AB34-807D1CD02225}" srcOrd="1" destOrd="0" presId="urn:microsoft.com/office/officeart/2018/2/layout/IconVerticalSolidList"/>
    <dgm:cxn modelId="{546CDFE2-FF03-4234-846C-AC8C6FBD19EA}" type="presParOf" srcId="{3D4AFED2-3F43-4FA0-A4BE-2ED232924E75}" destId="{EC68B763-6DF0-407A-845E-B329A50FC33B}" srcOrd="2" destOrd="0" presId="urn:microsoft.com/office/officeart/2018/2/layout/IconVerticalSolidList"/>
    <dgm:cxn modelId="{63ECC1EA-FFEF-4AD4-A904-B683BBED11C5}" type="presParOf" srcId="{3D4AFED2-3F43-4FA0-A4BE-2ED232924E75}" destId="{1858B09B-5AB5-478E-B336-F08F040352B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A4A1CE-0FC3-48E4-9660-E52B08A88F66}"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7E6EFE05-E791-43F0-B292-E06056D2EF64}">
      <dgm:prSet custT="1"/>
      <dgm:spPr/>
      <dgm:t>
        <a:bodyPr/>
        <a:lstStyle/>
        <a:p>
          <a:r>
            <a:rPr lang="en-GB" sz="1400"/>
            <a:t>Widely recognised as the ‘gold standard’ in systematic reviews due to the rigorous methodology used.</a:t>
          </a:r>
          <a:endParaRPr lang="en-US" sz="1400"/>
        </a:p>
      </dgm:t>
    </dgm:pt>
    <dgm:pt modelId="{9708ED97-EB27-4909-9F2B-4B772408A6C8}" type="parTrans" cxnId="{5A8A04F5-152D-4B35-BE55-8C7DEA6C9FAF}">
      <dgm:prSet/>
      <dgm:spPr/>
      <dgm:t>
        <a:bodyPr/>
        <a:lstStyle/>
        <a:p>
          <a:endParaRPr lang="en-US" sz="2400"/>
        </a:p>
      </dgm:t>
    </dgm:pt>
    <dgm:pt modelId="{EC056E38-24BA-47D9-A27D-060EED467552}" type="sibTrans" cxnId="{5A8A04F5-152D-4B35-BE55-8C7DEA6C9FAF}">
      <dgm:prSet/>
      <dgm:spPr/>
      <dgm:t>
        <a:bodyPr/>
        <a:lstStyle/>
        <a:p>
          <a:endParaRPr lang="en-US" sz="2400"/>
        </a:p>
      </dgm:t>
    </dgm:pt>
    <dgm:pt modelId="{473B3458-5043-40AD-9B8E-5DC00FB240E7}">
      <dgm:prSet custT="1"/>
      <dgm:spPr/>
      <dgm:t>
        <a:bodyPr/>
        <a:lstStyle/>
        <a:p>
          <a:r>
            <a:rPr lang="en-GB" sz="1400"/>
            <a:t>• Reviews feature a ‘plain language summary’ that provides a quick, easy-to-understand overview of findings.</a:t>
          </a:r>
          <a:endParaRPr lang="en-US" sz="1400"/>
        </a:p>
      </dgm:t>
    </dgm:pt>
    <dgm:pt modelId="{E5DE4D16-692C-4629-925A-544038428DCD}" type="parTrans" cxnId="{AF073D37-3535-44CA-A0FD-7ADD953354B6}">
      <dgm:prSet/>
      <dgm:spPr/>
      <dgm:t>
        <a:bodyPr/>
        <a:lstStyle/>
        <a:p>
          <a:endParaRPr lang="en-US" sz="2400"/>
        </a:p>
      </dgm:t>
    </dgm:pt>
    <dgm:pt modelId="{F0E77AC7-ED49-4A9B-9B87-AFFC0F7C4DC1}" type="sibTrans" cxnId="{AF073D37-3535-44CA-A0FD-7ADD953354B6}">
      <dgm:prSet/>
      <dgm:spPr/>
      <dgm:t>
        <a:bodyPr/>
        <a:lstStyle/>
        <a:p>
          <a:endParaRPr lang="en-US" sz="2400"/>
        </a:p>
      </dgm:t>
    </dgm:pt>
    <dgm:pt modelId="{859E2922-7444-41CE-A68F-2E037A81D532}">
      <dgm:prSet custT="1"/>
      <dgm:spPr/>
      <dgm:t>
        <a:bodyPr/>
        <a:lstStyle/>
        <a:p>
          <a:r>
            <a:rPr lang="en-GB" sz="1400"/>
            <a:t>• Reviews are periodically updated to reflect new evidence.</a:t>
          </a:r>
          <a:endParaRPr lang="en-US" sz="1400"/>
        </a:p>
      </dgm:t>
    </dgm:pt>
    <dgm:pt modelId="{72FEA59E-C616-4AA6-8C90-A69017F7C409}" type="parTrans" cxnId="{0C22625F-88DB-4A8C-8AC0-9C1F7D266B40}">
      <dgm:prSet/>
      <dgm:spPr/>
      <dgm:t>
        <a:bodyPr/>
        <a:lstStyle/>
        <a:p>
          <a:endParaRPr lang="en-US" sz="2400"/>
        </a:p>
      </dgm:t>
    </dgm:pt>
    <dgm:pt modelId="{E0E44C00-63F5-44BD-A85B-ED3547B4654C}" type="sibTrans" cxnId="{0C22625F-88DB-4A8C-8AC0-9C1F7D266B40}">
      <dgm:prSet/>
      <dgm:spPr/>
      <dgm:t>
        <a:bodyPr/>
        <a:lstStyle/>
        <a:p>
          <a:endParaRPr lang="en-US" sz="2400"/>
        </a:p>
      </dgm:t>
    </dgm:pt>
    <dgm:pt modelId="{73E33989-0148-4395-9DF8-0099C127B4E7}">
      <dgm:prSet custT="1"/>
      <dgm:spPr/>
      <dgm:t>
        <a:bodyPr/>
        <a:lstStyle/>
        <a:p>
          <a:r>
            <a:rPr lang="en-GB" sz="1200" dirty="0"/>
            <a:t>Where available, clinical practice guidelines with evidence-based recommendations are another form of filtered information, and can assist with decision- making in specific clinical circumstances.</a:t>
          </a:r>
          <a:endParaRPr lang="en-US" sz="1200" dirty="0"/>
        </a:p>
      </dgm:t>
    </dgm:pt>
    <dgm:pt modelId="{DDCE335F-4807-48B5-9CD1-FA69EA9606BE}" type="parTrans" cxnId="{8A7A9D4D-E407-486A-B044-E9DFF002152C}">
      <dgm:prSet/>
      <dgm:spPr/>
      <dgm:t>
        <a:bodyPr/>
        <a:lstStyle/>
        <a:p>
          <a:endParaRPr lang="en-US" sz="2400"/>
        </a:p>
      </dgm:t>
    </dgm:pt>
    <dgm:pt modelId="{9A6E2094-5103-44E6-9FB9-5104FD15C5DB}" type="sibTrans" cxnId="{8A7A9D4D-E407-486A-B044-E9DFF002152C}">
      <dgm:prSet/>
      <dgm:spPr/>
      <dgm:t>
        <a:bodyPr/>
        <a:lstStyle/>
        <a:p>
          <a:endParaRPr lang="en-US" sz="2400"/>
        </a:p>
      </dgm:t>
    </dgm:pt>
    <dgm:pt modelId="{F93CDE47-0B89-453C-9391-EDF06E0002A2}" type="pres">
      <dgm:prSet presAssocID="{45A4A1CE-0FC3-48E4-9660-E52B08A88F66}" presName="hierChild1" presStyleCnt="0">
        <dgm:presLayoutVars>
          <dgm:chPref val="1"/>
          <dgm:dir/>
          <dgm:animOne val="branch"/>
          <dgm:animLvl val="lvl"/>
          <dgm:resizeHandles/>
        </dgm:presLayoutVars>
      </dgm:prSet>
      <dgm:spPr/>
    </dgm:pt>
    <dgm:pt modelId="{9D077B84-DEE3-4060-9B22-430EDB77B818}" type="pres">
      <dgm:prSet presAssocID="{7E6EFE05-E791-43F0-B292-E06056D2EF64}" presName="hierRoot1" presStyleCnt="0"/>
      <dgm:spPr/>
    </dgm:pt>
    <dgm:pt modelId="{0CA53403-096A-4155-9C33-097AE4BCBA47}" type="pres">
      <dgm:prSet presAssocID="{7E6EFE05-E791-43F0-B292-E06056D2EF64}" presName="composite" presStyleCnt="0"/>
      <dgm:spPr/>
    </dgm:pt>
    <dgm:pt modelId="{6CDC0B19-B44E-420C-814A-AB27195E53C2}" type="pres">
      <dgm:prSet presAssocID="{7E6EFE05-E791-43F0-B292-E06056D2EF64}" presName="background" presStyleLbl="node0" presStyleIdx="0" presStyleCnt="4"/>
      <dgm:spPr/>
    </dgm:pt>
    <dgm:pt modelId="{44E2E4A5-4673-40C9-9797-F8B89702CD1C}" type="pres">
      <dgm:prSet presAssocID="{7E6EFE05-E791-43F0-B292-E06056D2EF64}" presName="text" presStyleLbl="fgAcc0" presStyleIdx="0" presStyleCnt="4">
        <dgm:presLayoutVars>
          <dgm:chPref val="3"/>
        </dgm:presLayoutVars>
      </dgm:prSet>
      <dgm:spPr/>
    </dgm:pt>
    <dgm:pt modelId="{8EDEAE1B-B77E-419B-9C22-6FABDC7DCD1E}" type="pres">
      <dgm:prSet presAssocID="{7E6EFE05-E791-43F0-B292-E06056D2EF64}" presName="hierChild2" presStyleCnt="0"/>
      <dgm:spPr/>
    </dgm:pt>
    <dgm:pt modelId="{30619B29-4CB1-45C6-8ADA-9FD4BFA8D63A}" type="pres">
      <dgm:prSet presAssocID="{473B3458-5043-40AD-9B8E-5DC00FB240E7}" presName="hierRoot1" presStyleCnt="0"/>
      <dgm:spPr/>
    </dgm:pt>
    <dgm:pt modelId="{1261496E-C533-4289-B28B-EFFE0DE153AB}" type="pres">
      <dgm:prSet presAssocID="{473B3458-5043-40AD-9B8E-5DC00FB240E7}" presName="composite" presStyleCnt="0"/>
      <dgm:spPr/>
    </dgm:pt>
    <dgm:pt modelId="{643C26B6-EBA8-4E6A-BD1D-B2B42FD594A2}" type="pres">
      <dgm:prSet presAssocID="{473B3458-5043-40AD-9B8E-5DC00FB240E7}" presName="background" presStyleLbl="node0" presStyleIdx="1" presStyleCnt="4"/>
      <dgm:spPr/>
    </dgm:pt>
    <dgm:pt modelId="{C92AC266-C8F2-4B58-983E-F77ACBB09922}" type="pres">
      <dgm:prSet presAssocID="{473B3458-5043-40AD-9B8E-5DC00FB240E7}" presName="text" presStyleLbl="fgAcc0" presStyleIdx="1" presStyleCnt="4">
        <dgm:presLayoutVars>
          <dgm:chPref val="3"/>
        </dgm:presLayoutVars>
      </dgm:prSet>
      <dgm:spPr/>
    </dgm:pt>
    <dgm:pt modelId="{51FE8518-788C-476A-97FE-25D4AE4EAD40}" type="pres">
      <dgm:prSet presAssocID="{473B3458-5043-40AD-9B8E-5DC00FB240E7}" presName="hierChild2" presStyleCnt="0"/>
      <dgm:spPr/>
    </dgm:pt>
    <dgm:pt modelId="{2D985A93-0597-4916-A793-1260A2EA592C}" type="pres">
      <dgm:prSet presAssocID="{859E2922-7444-41CE-A68F-2E037A81D532}" presName="hierRoot1" presStyleCnt="0"/>
      <dgm:spPr/>
    </dgm:pt>
    <dgm:pt modelId="{B481E1EF-0567-489A-88C5-62990AD8EA93}" type="pres">
      <dgm:prSet presAssocID="{859E2922-7444-41CE-A68F-2E037A81D532}" presName="composite" presStyleCnt="0"/>
      <dgm:spPr/>
    </dgm:pt>
    <dgm:pt modelId="{C806A9F0-CAA0-4B64-8481-4199172BB306}" type="pres">
      <dgm:prSet presAssocID="{859E2922-7444-41CE-A68F-2E037A81D532}" presName="background" presStyleLbl="node0" presStyleIdx="2" presStyleCnt="4"/>
      <dgm:spPr/>
    </dgm:pt>
    <dgm:pt modelId="{1489692A-8898-4560-B350-05A1BE4FECD0}" type="pres">
      <dgm:prSet presAssocID="{859E2922-7444-41CE-A68F-2E037A81D532}" presName="text" presStyleLbl="fgAcc0" presStyleIdx="2" presStyleCnt="4">
        <dgm:presLayoutVars>
          <dgm:chPref val="3"/>
        </dgm:presLayoutVars>
      </dgm:prSet>
      <dgm:spPr/>
    </dgm:pt>
    <dgm:pt modelId="{43054F1D-8AD7-4722-BDD9-D910EE94E5C8}" type="pres">
      <dgm:prSet presAssocID="{859E2922-7444-41CE-A68F-2E037A81D532}" presName="hierChild2" presStyleCnt="0"/>
      <dgm:spPr/>
    </dgm:pt>
    <dgm:pt modelId="{99DFCC5D-24C0-4085-8480-8AC4F4929E20}" type="pres">
      <dgm:prSet presAssocID="{73E33989-0148-4395-9DF8-0099C127B4E7}" presName="hierRoot1" presStyleCnt="0"/>
      <dgm:spPr/>
    </dgm:pt>
    <dgm:pt modelId="{B0AAB2F1-27D5-4AA0-9007-FD7A4786F00B}" type="pres">
      <dgm:prSet presAssocID="{73E33989-0148-4395-9DF8-0099C127B4E7}" presName="composite" presStyleCnt="0"/>
      <dgm:spPr/>
    </dgm:pt>
    <dgm:pt modelId="{B517D36F-7439-4577-8592-A746B733C1B9}" type="pres">
      <dgm:prSet presAssocID="{73E33989-0148-4395-9DF8-0099C127B4E7}" presName="background" presStyleLbl="node0" presStyleIdx="3" presStyleCnt="4"/>
      <dgm:spPr/>
    </dgm:pt>
    <dgm:pt modelId="{A2632813-D19E-4341-8389-191CB064BDD7}" type="pres">
      <dgm:prSet presAssocID="{73E33989-0148-4395-9DF8-0099C127B4E7}" presName="text" presStyleLbl="fgAcc0" presStyleIdx="3" presStyleCnt="4">
        <dgm:presLayoutVars>
          <dgm:chPref val="3"/>
        </dgm:presLayoutVars>
      </dgm:prSet>
      <dgm:spPr/>
    </dgm:pt>
    <dgm:pt modelId="{BE8D1C93-BFFC-421A-BFA0-8F6D450FF127}" type="pres">
      <dgm:prSet presAssocID="{73E33989-0148-4395-9DF8-0099C127B4E7}" presName="hierChild2" presStyleCnt="0"/>
      <dgm:spPr/>
    </dgm:pt>
  </dgm:ptLst>
  <dgm:cxnLst>
    <dgm:cxn modelId="{24A6C709-23FD-4F90-BAED-BCA799740C33}" type="presOf" srcId="{859E2922-7444-41CE-A68F-2E037A81D532}" destId="{1489692A-8898-4560-B350-05A1BE4FECD0}" srcOrd="0" destOrd="0" presId="urn:microsoft.com/office/officeart/2005/8/layout/hierarchy1"/>
    <dgm:cxn modelId="{AF073D37-3535-44CA-A0FD-7ADD953354B6}" srcId="{45A4A1CE-0FC3-48E4-9660-E52B08A88F66}" destId="{473B3458-5043-40AD-9B8E-5DC00FB240E7}" srcOrd="1" destOrd="0" parTransId="{E5DE4D16-692C-4629-925A-544038428DCD}" sibTransId="{F0E77AC7-ED49-4A9B-9B87-AFFC0F7C4DC1}"/>
    <dgm:cxn modelId="{44EA0D3E-1FB4-4C7E-9EE5-FE6B36691EAF}" type="presOf" srcId="{7E6EFE05-E791-43F0-B292-E06056D2EF64}" destId="{44E2E4A5-4673-40C9-9797-F8B89702CD1C}" srcOrd="0" destOrd="0" presId="urn:microsoft.com/office/officeart/2005/8/layout/hierarchy1"/>
    <dgm:cxn modelId="{0C22625F-88DB-4A8C-8AC0-9C1F7D266B40}" srcId="{45A4A1CE-0FC3-48E4-9660-E52B08A88F66}" destId="{859E2922-7444-41CE-A68F-2E037A81D532}" srcOrd="2" destOrd="0" parTransId="{72FEA59E-C616-4AA6-8C90-A69017F7C409}" sibTransId="{E0E44C00-63F5-44BD-A85B-ED3547B4654C}"/>
    <dgm:cxn modelId="{8A7A9D4D-E407-486A-B044-E9DFF002152C}" srcId="{45A4A1CE-0FC3-48E4-9660-E52B08A88F66}" destId="{73E33989-0148-4395-9DF8-0099C127B4E7}" srcOrd="3" destOrd="0" parTransId="{DDCE335F-4807-48B5-9CD1-FA69EA9606BE}" sibTransId="{9A6E2094-5103-44E6-9FB9-5104FD15C5DB}"/>
    <dgm:cxn modelId="{E1E61578-BD11-4931-87CB-0F03AB8830D8}" type="presOf" srcId="{473B3458-5043-40AD-9B8E-5DC00FB240E7}" destId="{C92AC266-C8F2-4B58-983E-F77ACBB09922}" srcOrd="0" destOrd="0" presId="urn:microsoft.com/office/officeart/2005/8/layout/hierarchy1"/>
    <dgm:cxn modelId="{38804C86-376A-44F8-A8B5-AA3DC206981F}" type="presOf" srcId="{73E33989-0148-4395-9DF8-0099C127B4E7}" destId="{A2632813-D19E-4341-8389-191CB064BDD7}" srcOrd="0" destOrd="0" presId="urn:microsoft.com/office/officeart/2005/8/layout/hierarchy1"/>
    <dgm:cxn modelId="{685672BB-C05D-47BE-8249-0B9535674270}" type="presOf" srcId="{45A4A1CE-0FC3-48E4-9660-E52B08A88F66}" destId="{F93CDE47-0B89-453C-9391-EDF06E0002A2}" srcOrd="0" destOrd="0" presId="urn:microsoft.com/office/officeart/2005/8/layout/hierarchy1"/>
    <dgm:cxn modelId="{5A8A04F5-152D-4B35-BE55-8C7DEA6C9FAF}" srcId="{45A4A1CE-0FC3-48E4-9660-E52B08A88F66}" destId="{7E6EFE05-E791-43F0-B292-E06056D2EF64}" srcOrd="0" destOrd="0" parTransId="{9708ED97-EB27-4909-9F2B-4B772408A6C8}" sibTransId="{EC056E38-24BA-47D9-A27D-060EED467552}"/>
    <dgm:cxn modelId="{D58CA5D9-DC97-4017-80B3-F38577202F2F}" type="presParOf" srcId="{F93CDE47-0B89-453C-9391-EDF06E0002A2}" destId="{9D077B84-DEE3-4060-9B22-430EDB77B818}" srcOrd="0" destOrd="0" presId="urn:microsoft.com/office/officeart/2005/8/layout/hierarchy1"/>
    <dgm:cxn modelId="{5667FEC1-781B-4615-A5EF-E64C4B786D5D}" type="presParOf" srcId="{9D077B84-DEE3-4060-9B22-430EDB77B818}" destId="{0CA53403-096A-4155-9C33-097AE4BCBA47}" srcOrd="0" destOrd="0" presId="urn:microsoft.com/office/officeart/2005/8/layout/hierarchy1"/>
    <dgm:cxn modelId="{73A8CEC5-301D-4B9F-96AD-44630790824B}" type="presParOf" srcId="{0CA53403-096A-4155-9C33-097AE4BCBA47}" destId="{6CDC0B19-B44E-420C-814A-AB27195E53C2}" srcOrd="0" destOrd="0" presId="urn:microsoft.com/office/officeart/2005/8/layout/hierarchy1"/>
    <dgm:cxn modelId="{FEF15B9A-1402-4F92-908F-CF66BFAB2090}" type="presParOf" srcId="{0CA53403-096A-4155-9C33-097AE4BCBA47}" destId="{44E2E4A5-4673-40C9-9797-F8B89702CD1C}" srcOrd="1" destOrd="0" presId="urn:microsoft.com/office/officeart/2005/8/layout/hierarchy1"/>
    <dgm:cxn modelId="{DF378828-4C11-4AFE-AE7A-F6EAADC59783}" type="presParOf" srcId="{9D077B84-DEE3-4060-9B22-430EDB77B818}" destId="{8EDEAE1B-B77E-419B-9C22-6FABDC7DCD1E}" srcOrd="1" destOrd="0" presId="urn:microsoft.com/office/officeart/2005/8/layout/hierarchy1"/>
    <dgm:cxn modelId="{9FFDC717-746C-4F67-B104-877870902408}" type="presParOf" srcId="{F93CDE47-0B89-453C-9391-EDF06E0002A2}" destId="{30619B29-4CB1-45C6-8ADA-9FD4BFA8D63A}" srcOrd="1" destOrd="0" presId="urn:microsoft.com/office/officeart/2005/8/layout/hierarchy1"/>
    <dgm:cxn modelId="{0676C2BF-179E-4168-AFBD-54E9F0CB0D1F}" type="presParOf" srcId="{30619B29-4CB1-45C6-8ADA-9FD4BFA8D63A}" destId="{1261496E-C533-4289-B28B-EFFE0DE153AB}" srcOrd="0" destOrd="0" presId="urn:microsoft.com/office/officeart/2005/8/layout/hierarchy1"/>
    <dgm:cxn modelId="{0824ED47-8C27-45D3-BCA9-46C447DB4589}" type="presParOf" srcId="{1261496E-C533-4289-B28B-EFFE0DE153AB}" destId="{643C26B6-EBA8-4E6A-BD1D-B2B42FD594A2}" srcOrd="0" destOrd="0" presId="urn:microsoft.com/office/officeart/2005/8/layout/hierarchy1"/>
    <dgm:cxn modelId="{4764C8A4-5C95-4393-8BEA-963A51C2FD19}" type="presParOf" srcId="{1261496E-C533-4289-B28B-EFFE0DE153AB}" destId="{C92AC266-C8F2-4B58-983E-F77ACBB09922}" srcOrd="1" destOrd="0" presId="urn:microsoft.com/office/officeart/2005/8/layout/hierarchy1"/>
    <dgm:cxn modelId="{3CCEF1E6-79AE-45C7-966E-6E6F8C8F72AE}" type="presParOf" srcId="{30619B29-4CB1-45C6-8ADA-9FD4BFA8D63A}" destId="{51FE8518-788C-476A-97FE-25D4AE4EAD40}" srcOrd="1" destOrd="0" presId="urn:microsoft.com/office/officeart/2005/8/layout/hierarchy1"/>
    <dgm:cxn modelId="{FA2D526F-8EB8-4909-BE44-2FA4122EE2C4}" type="presParOf" srcId="{F93CDE47-0B89-453C-9391-EDF06E0002A2}" destId="{2D985A93-0597-4916-A793-1260A2EA592C}" srcOrd="2" destOrd="0" presId="urn:microsoft.com/office/officeart/2005/8/layout/hierarchy1"/>
    <dgm:cxn modelId="{60272401-102C-4797-938A-E44C28B9B205}" type="presParOf" srcId="{2D985A93-0597-4916-A793-1260A2EA592C}" destId="{B481E1EF-0567-489A-88C5-62990AD8EA93}" srcOrd="0" destOrd="0" presId="urn:microsoft.com/office/officeart/2005/8/layout/hierarchy1"/>
    <dgm:cxn modelId="{85D1F5FA-23C5-4991-9A5C-71A11FF5BE06}" type="presParOf" srcId="{B481E1EF-0567-489A-88C5-62990AD8EA93}" destId="{C806A9F0-CAA0-4B64-8481-4199172BB306}" srcOrd="0" destOrd="0" presId="urn:microsoft.com/office/officeart/2005/8/layout/hierarchy1"/>
    <dgm:cxn modelId="{E2053237-4BAA-401C-AC8A-C5828BDC2888}" type="presParOf" srcId="{B481E1EF-0567-489A-88C5-62990AD8EA93}" destId="{1489692A-8898-4560-B350-05A1BE4FECD0}" srcOrd="1" destOrd="0" presId="urn:microsoft.com/office/officeart/2005/8/layout/hierarchy1"/>
    <dgm:cxn modelId="{CD521E2F-AB21-47C9-B17C-54A722B9122D}" type="presParOf" srcId="{2D985A93-0597-4916-A793-1260A2EA592C}" destId="{43054F1D-8AD7-4722-BDD9-D910EE94E5C8}" srcOrd="1" destOrd="0" presId="urn:microsoft.com/office/officeart/2005/8/layout/hierarchy1"/>
    <dgm:cxn modelId="{73970856-B27C-4BA9-8534-B0E49E24F42D}" type="presParOf" srcId="{F93CDE47-0B89-453C-9391-EDF06E0002A2}" destId="{99DFCC5D-24C0-4085-8480-8AC4F4929E20}" srcOrd="3" destOrd="0" presId="urn:microsoft.com/office/officeart/2005/8/layout/hierarchy1"/>
    <dgm:cxn modelId="{122DF433-6641-4612-93FA-2BC93684112E}" type="presParOf" srcId="{99DFCC5D-24C0-4085-8480-8AC4F4929E20}" destId="{B0AAB2F1-27D5-4AA0-9007-FD7A4786F00B}" srcOrd="0" destOrd="0" presId="urn:microsoft.com/office/officeart/2005/8/layout/hierarchy1"/>
    <dgm:cxn modelId="{8541567D-2FC6-423A-B195-E2A29911D999}" type="presParOf" srcId="{B0AAB2F1-27D5-4AA0-9007-FD7A4786F00B}" destId="{B517D36F-7439-4577-8592-A746B733C1B9}" srcOrd="0" destOrd="0" presId="urn:microsoft.com/office/officeart/2005/8/layout/hierarchy1"/>
    <dgm:cxn modelId="{5513D61D-4B5F-49DD-85F6-29CABCCF7BF3}" type="presParOf" srcId="{B0AAB2F1-27D5-4AA0-9007-FD7A4786F00B}" destId="{A2632813-D19E-4341-8389-191CB064BDD7}" srcOrd="1" destOrd="0" presId="urn:microsoft.com/office/officeart/2005/8/layout/hierarchy1"/>
    <dgm:cxn modelId="{55A44F9A-DA9C-48E0-9E17-CBBF74B667C6}" type="presParOf" srcId="{99DFCC5D-24C0-4085-8480-8AC4F4929E20}" destId="{BE8D1C93-BFFC-421A-BFA0-8F6D450FF12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002697-F8F3-4CB2-AA0A-66DDF4B3A6B8}"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29F57FA-69E7-46E7-8D26-770AAB88D7B3}">
      <dgm:prSet/>
      <dgm:spPr/>
      <dgm:t>
        <a:bodyPr/>
        <a:lstStyle/>
        <a:p>
          <a:pPr>
            <a:lnSpc>
              <a:spcPct val="100000"/>
            </a:lnSpc>
          </a:pPr>
          <a:r>
            <a:rPr lang="en-GB"/>
            <a:t>NICE Evidence Search, and the TRIP Database are both filtered search engines. </a:t>
          </a:r>
          <a:endParaRPr lang="en-US"/>
        </a:p>
      </dgm:t>
    </dgm:pt>
    <dgm:pt modelId="{0564F428-4333-4CB7-97CF-E6A20784E367}" type="parTrans" cxnId="{8E1C4833-9CCB-48D1-A29B-459448F69F43}">
      <dgm:prSet/>
      <dgm:spPr/>
      <dgm:t>
        <a:bodyPr/>
        <a:lstStyle/>
        <a:p>
          <a:endParaRPr lang="en-US"/>
        </a:p>
      </dgm:t>
    </dgm:pt>
    <dgm:pt modelId="{76DA321D-4CD2-49AF-BEE8-D8B079B8C3F5}" type="sibTrans" cxnId="{8E1C4833-9CCB-48D1-A29B-459448F69F43}">
      <dgm:prSet/>
      <dgm:spPr/>
      <dgm:t>
        <a:bodyPr/>
        <a:lstStyle/>
        <a:p>
          <a:endParaRPr lang="en-US"/>
        </a:p>
      </dgm:t>
    </dgm:pt>
    <dgm:pt modelId="{7B03854E-9236-49A0-B42D-4477CD4A42BE}">
      <dgm:prSet/>
      <dgm:spPr/>
      <dgm:t>
        <a:bodyPr/>
        <a:lstStyle/>
        <a:p>
          <a:pPr>
            <a:lnSpc>
              <a:spcPct val="100000"/>
            </a:lnSpc>
          </a:pPr>
          <a:r>
            <a:rPr lang="en-GB"/>
            <a:t>Clinical databases: The Cochrane Library, PubMed/Medline and Embase. </a:t>
          </a:r>
          <a:endParaRPr lang="en-US"/>
        </a:p>
      </dgm:t>
    </dgm:pt>
    <dgm:pt modelId="{E8565610-0B23-41F4-96F5-E5F1A0AE7592}" type="parTrans" cxnId="{145F2E9A-DCA8-4E02-B9C9-2EBDB224B27C}">
      <dgm:prSet/>
      <dgm:spPr/>
      <dgm:t>
        <a:bodyPr/>
        <a:lstStyle/>
        <a:p>
          <a:endParaRPr lang="en-US"/>
        </a:p>
      </dgm:t>
    </dgm:pt>
    <dgm:pt modelId="{FD72C7F3-0032-4EE5-882C-DABC1CD197B1}" type="sibTrans" cxnId="{145F2E9A-DCA8-4E02-B9C9-2EBDB224B27C}">
      <dgm:prSet/>
      <dgm:spPr/>
      <dgm:t>
        <a:bodyPr/>
        <a:lstStyle/>
        <a:p>
          <a:endParaRPr lang="en-US"/>
        </a:p>
      </dgm:t>
    </dgm:pt>
    <dgm:pt modelId="{2940B8A6-021B-4A7B-BDF3-E4ECE0B0DFEE}" type="pres">
      <dgm:prSet presAssocID="{6E002697-F8F3-4CB2-AA0A-66DDF4B3A6B8}" presName="root" presStyleCnt="0">
        <dgm:presLayoutVars>
          <dgm:dir/>
          <dgm:resizeHandles val="exact"/>
        </dgm:presLayoutVars>
      </dgm:prSet>
      <dgm:spPr/>
    </dgm:pt>
    <dgm:pt modelId="{43F0FC1C-99D9-4BE5-AD01-B6CE731A0D55}" type="pres">
      <dgm:prSet presAssocID="{A29F57FA-69E7-46E7-8D26-770AAB88D7B3}" presName="compNode" presStyleCnt="0"/>
      <dgm:spPr/>
    </dgm:pt>
    <dgm:pt modelId="{C98167F8-C630-4C63-8CDF-75E536E90625}" type="pres">
      <dgm:prSet presAssocID="{A29F57FA-69E7-46E7-8D26-770AAB88D7B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esearch"/>
        </a:ext>
      </dgm:extLst>
    </dgm:pt>
    <dgm:pt modelId="{E7DA0DC1-D8C6-4DDA-BEE0-1073260FF2A1}" type="pres">
      <dgm:prSet presAssocID="{A29F57FA-69E7-46E7-8D26-770AAB88D7B3}" presName="spaceRect" presStyleCnt="0"/>
      <dgm:spPr/>
    </dgm:pt>
    <dgm:pt modelId="{2BD54CAD-52C9-4EA9-8390-301D191082B1}" type="pres">
      <dgm:prSet presAssocID="{A29F57FA-69E7-46E7-8D26-770AAB88D7B3}" presName="textRect" presStyleLbl="revTx" presStyleIdx="0" presStyleCnt="2">
        <dgm:presLayoutVars>
          <dgm:chMax val="1"/>
          <dgm:chPref val="1"/>
        </dgm:presLayoutVars>
      </dgm:prSet>
      <dgm:spPr/>
    </dgm:pt>
    <dgm:pt modelId="{E9C53031-9830-478A-9895-59516F901E79}" type="pres">
      <dgm:prSet presAssocID="{76DA321D-4CD2-49AF-BEE8-D8B079B8C3F5}" presName="sibTrans" presStyleCnt="0"/>
      <dgm:spPr/>
    </dgm:pt>
    <dgm:pt modelId="{8CFB8882-7D46-4C23-8BFF-AF6D7B480982}" type="pres">
      <dgm:prSet presAssocID="{7B03854E-9236-49A0-B42D-4477CD4A42BE}" presName="compNode" presStyleCnt="0"/>
      <dgm:spPr/>
    </dgm:pt>
    <dgm:pt modelId="{045C9A65-9612-4507-95A7-B09BF91AA282}" type="pres">
      <dgm:prSet presAssocID="{7B03854E-9236-49A0-B42D-4477CD4A42B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ks on Shelf"/>
        </a:ext>
      </dgm:extLst>
    </dgm:pt>
    <dgm:pt modelId="{97EEDEB5-3524-461A-A408-C1D15A0C9E2B}" type="pres">
      <dgm:prSet presAssocID="{7B03854E-9236-49A0-B42D-4477CD4A42BE}" presName="spaceRect" presStyleCnt="0"/>
      <dgm:spPr/>
    </dgm:pt>
    <dgm:pt modelId="{B92B885C-0D6C-408F-9221-EA57202E32D7}" type="pres">
      <dgm:prSet presAssocID="{7B03854E-9236-49A0-B42D-4477CD4A42BE}" presName="textRect" presStyleLbl="revTx" presStyleIdx="1" presStyleCnt="2">
        <dgm:presLayoutVars>
          <dgm:chMax val="1"/>
          <dgm:chPref val="1"/>
        </dgm:presLayoutVars>
      </dgm:prSet>
      <dgm:spPr/>
    </dgm:pt>
  </dgm:ptLst>
  <dgm:cxnLst>
    <dgm:cxn modelId="{8B01EF0F-C4DB-48AB-9F68-A6B549145DA9}" type="presOf" srcId="{7B03854E-9236-49A0-B42D-4477CD4A42BE}" destId="{B92B885C-0D6C-408F-9221-EA57202E32D7}" srcOrd="0" destOrd="0" presId="urn:microsoft.com/office/officeart/2018/2/layout/IconLabelList"/>
    <dgm:cxn modelId="{8E1C4833-9CCB-48D1-A29B-459448F69F43}" srcId="{6E002697-F8F3-4CB2-AA0A-66DDF4B3A6B8}" destId="{A29F57FA-69E7-46E7-8D26-770AAB88D7B3}" srcOrd="0" destOrd="0" parTransId="{0564F428-4333-4CB7-97CF-E6A20784E367}" sibTransId="{76DA321D-4CD2-49AF-BEE8-D8B079B8C3F5}"/>
    <dgm:cxn modelId="{D8A12060-AD00-4839-AE5C-946ECC895A85}" type="presOf" srcId="{6E002697-F8F3-4CB2-AA0A-66DDF4B3A6B8}" destId="{2940B8A6-021B-4A7B-BDF3-E4ECE0B0DFEE}" srcOrd="0" destOrd="0" presId="urn:microsoft.com/office/officeart/2018/2/layout/IconLabelList"/>
    <dgm:cxn modelId="{145F2E9A-DCA8-4E02-B9C9-2EBDB224B27C}" srcId="{6E002697-F8F3-4CB2-AA0A-66DDF4B3A6B8}" destId="{7B03854E-9236-49A0-B42D-4477CD4A42BE}" srcOrd="1" destOrd="0" parTransId="{E8565610-0B23-41F4-96F5-E5F1A0AE7592}" sibTransId="{FD72C7F3-0032-4EE5-882C-DABC1CD197B1}"/>
    <dgm:cxn modelId="{31CB52BE-DBB0-42F9-82FB-B498F501419B}" type="presOf" srcId="{A29F57FA-69E7-46E7-8D26-770AAB88D7B3}" destId="{2BD54CAD-52C9-4EA9-8390-301D191082B1}" srcOrd="0" destOrd="0" presId="urn:microsoft.com/office/officeart/2018/2/layout/IconLabelList"/>
    <dgm:cxn modelId="{E7F917BD-7313-4D99-B180-D972C868745F}" type="presParOf" srcId="{2940B8A6-021B-4A7B-BDF3-E4ECE0B0DFEE}" destId="{43F0FC1C-99D9-4BE5-AD01-B6CE731A0D55}" srcOrd="0" destOrd="0" presId="urn:microsoft.com/office/officeart/2018/2/layout/IconLabelList"/>
    <dgm:cxn modelId="{2718E831-7664-4274-9A87-2B971BD855D6}" type="presParOf" srcId="{43F0FC1C-99D9-4BE5-AD01-B6CE731A0D55}" destId="{C98167F8-C630-4C63-8CDF-75E536E90625}" srcOrd="0" destOrd="0" presId="urn:microsoft.com/office/officeart/2018/2/layout/IconLabelList"/>
    <dgm:cxn modelId="{027E5658-FE8A-40AD-879B-394FF31FCE6D}" type="presParOf" srcId="{43F0FC1C-99D9-4BE5-AD01-B6CE731A0D55}" destId="{E7DA0DC1-D8C6-4DDA-BEE0-1073260FF2A1}" srcOrd="1" destOrd="0" presId="urn:microsoft.com/office/officeart/2018/2/layout/IconLabelList"/>
    <dgm:cxn modelId="{62E83C10-D679-41EE-B3F5-1D406ECDE3CE}" type="presParOf" srcId="{43F0FC1C-99D9-4BE5-AD01-B6CE731A0D55}" destId="{2BD54CAD-52C9-4EA9-8390-301D191082B1}" srcOrd="2" destOrd="0" presId="urn:microsoft.com/office/officeart/2018/2/layout/IconLabelList"/>
    <dgm:cxn modelId="{051C6C7F-8345-4D10-8B8F-12553166A0AB}" type="presParOf" srcId="{2940B8A6-021B-4A7B-BDF3-E4ECE0B0DFEE}" destId="{E9C53031-9830-478A-9895-59516F901E79}" srcOrd="1" destOrd="0" presId="urn:microsoft.com/office/officeart/2018/2/layout/IconLabelList"/>
    <dgm:cxn modelId="{6B82CD9E-2B0A-4E73-9FA0-3743E1B36A3E}" type="presParOf" srcId="{2940B8A6-021B-4A7B-BDF3-E4ECE0B0DFEE}" destId="{8CFB8882-7D46-4C23-8BFF-AF6D7B480982}" srcOrd="2" destOrd="0" presId="urn:microsoft.com/office/officeart/2018/2/layout/IconLabelList"/>
    <dgm:cxn modelId="{2811D570-51B0-49DC-ACCD-C0AFCDCCC81B}" type="presParOf" srcId="{8CFB8882-7D46-4C23-8BFF-AF6D7B480982}" destId="{045C9A65-9612-4507-95A7-B09BF91AA282}" srcOrd="0" destOrd="0" presId="urn:microsoft.com/office/officeart/2018/2/layout/IconLabelList"/>
    <dgm:cxn modelId="{B63C7A1D-5B41-43F3-9ED1-82C8C0CECEE1}" type="presParOf" srcId="{8CFB8882-7D46-4C23-8BFF-AF6D7B480982}" destId="{97EEDEB5-3524-461A-A408-C1D15A0C9E2B}" srcOrd="1" destOrd="0" presId="urn:microsoft.com/office/officeart/2018/2/layout/IconLabelList"/>
    <dgm:cxn modelId="{109B14FD-C636-4DCD-B7BB-1D1D9DDC0E1E}" type="presParOf" srcId="{8CFB8882-7D46-4C23-8BFF-AF6D7B480982}" destId="{B92B885C-0D6C-408F-9221-EA57202E32D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3B4804-5564-4D61-A9D3-57E88171930D}">
      <dsp:nvSpPr>
        <dsp:cNvPr id="0" name=""/>
        <dsp:cNvSpPr/>
      </dsp:nvSpPr>
      <dsp:spPr>
        <a:xfrm>
          <a:off x="0" y="531"/>
          <a:ext cx="10515600" cy="1242935"/>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CCD323-4C8B-471D-BAC6-E6BDD5DFB4FF}">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27C0AF-2C0E-4CCF-B1CF-2FD5C45A0FF3}">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44550">
            <a:lnSpc>
              <a:spcPct val="100000"/>
            </a:lnSpc>
            <a:spcBef>
              <a:spcPct val="0"/>
            </a:spcBef>
            <a:spcAft>
              <a:spcPct val="35000"/>
            </a:spcAft>
            <a:buNone/>
          </a:pPr>
          <a:r>
            <a:rPr lang="en-GB" sz="1900" kern="1200" dirty="0"/>
            <a:t>Maximise your time by consulting up-to-date, reliable sources that provide clinical recommendations following critical appraisal of the evidence in a particular area (i.e. filtered resources at the top of the Levels of Evidence Pyramid). </a:t>
          </a:r>
          <a:endParaRPr lang="en-US" sz="1900" kern="1200" dirty="0"/>
        </a:p>
      </dsp:txBody>
      <dsp:txXfrm>
        <a:off x="1435590" y="531"/>
        <a:ext cx="9080009" cy="1242935"/>
      </dsp:txXfrm>
    </dsp:sp>
    <dsp:sp modelId="{942325FE-A65C-4CA7-8F1F-6901CE7581B8}">
      <dsp:nvSpPr>
        <dsp:cNvPr id="0" name=""/>
        <dsp:cNvSpPr/>
      </dsp:nvSpPr>
      <dsp:spPr>
        <a:xfrm>
          <a:off x="0" y="1554201"/>
          <a:ext cx="10515600" cy="1242935"/>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72A927-DCFE-497E-8AC4-74157C0D7765}">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6B8CD1-AEA1-4F79-B6C4-5D21D2FCA579}">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44550">
            <a:lnSpc>
              <a:spcPct val="100000"/>
            </a:lnSpc>
            <a:spcBef>
              <a:spcPct val="0"/>
            </a:spcBef>
            <a:spcAft>
              <a:spcPct val="35000"/>
            </a:spcAft>
            <a:buNone/>
          </a:pPr>
          <a:r>
            <a:rPr lang="en-GB" sz="1900" kern="1200" dirty="0"/>
            <a:t>Systematic reviews and meta-analyses attempt to bring together all the relevant studies on a particular topic, sometimes with conflicting findings, and synthesise their results. </a:t>
          </a:r>
          <a:endParaRPr lang="en-US" sz="1900" kern="1200" dirty="0"/>
        </a:p>
      </dsp:txBody>
      <dsp:txXfrm>
        <a:off x="1435590" y="1554201"/>
        <a:ext cx="9080009" cy="1242935"/>
      </dsp:txXfrm>
    </dsp:sp>
    <dsp:sp modelId="{08832944-FB27-4B69-A28B-4B478D15A9E8}">
      <dsp:nvSpPr>
        <dsp:cNvPr id="0" name=""/>
        <dsp:cNvSpPr/>
      </dsp:nvSpPr>
      <dsp:spPr>
        <a:xfrm>
          <a:off x="0" y="3107870"/>
          <a:ext cx="10515600" cy="1242935"/>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6216ED-459D-42F6-AB34-807D1CD02225}">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58B09B-5AB5-478E-B336-F08F040352BE}">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44550">
            <a:lnSpc>
              <a:spcPct val="100000"/>
            </a:lnSpc>
            <a:spcBef>
              <a:spcPct val="0"/>
            </a:spcBef>
            <a:spcAft>
              <a:spcPct val="35000"/>
            </a:spcAft>
            <a:buNone/>
          </a:pPr>
          <a:r>
            <a:rPr lang="en-GB" sz="1900" kern="1200" dirty="0"/>
            <a:t>A well-done systematic review is conducted in a transparent and objective manner, and includes critical appraisal of the quality of individual studies in order to minimise error and bias.</a:t>
          </a:r>
          <a:endParaRPr lang="en-US" sz="1900" kern="1200" dirty="0"/>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DC0B19-B44E-420C-814A-AB27195E53C2}">
      <dsp:nvSpPr>
        <dsp:cNvPr id="0" name=""/>
        <dsp:cNvSpPr/>
      </dsp:nvSpPr>
      <dsp:spPr>
        <a:xfrm>
          <a:off x="3201" y="1690978"/>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E2E4A5-4673-40C9-9797-F8B89702CD1C}">
      <dsp:nvSpPr>
        <dsp:cNvPr id="0" name=""/>
        <dsp:cNvSpPr/>
      </dsp:nvSpPr>
      <dsp:spPr>
        <a:xfrm>
          <a:off x="257188" y="1932266"/>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Widely recognised as the ‘gold standard’ in systematic reviews due to the rigorous methodology used.</a:t>
          </a:r>
          <a:endParaRPr lang="en-US" sz="1400" kern="1200"/>
        </a:p>
      </dsp:txBody>
      <dsp:txXfrm>
        <a:off x="299702" y="1974780"/>
        <a:ext cx="2200851" cy="1366505"/>
      </dsp:txXfrm>
    </dsp:sp>
    <dsp:sp modelId="{643C26B6-EBA8-4E6A-BD1D-B2B42FD594A2}">
      <dsp:nvSpPr>
        <dsp:cNvPr id="0" name=""/>
        <dsp:cNvSpPr/>
      </dsp:nvSpPr>
      <dsp:spPr>
        <a:xfrm>
          <a:off x="2797054" y="1690978"/>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2AC266-C8F2-4B58-983E-F77ACBB09922}">
      <dsp:nvSpPr>
        <dsp:cNvPr id="0" name=""/>
        <dsp:cNvSpPr/>
      </dsp:nvSpPr>
      <dsp:spPr>
        <a:xfrm>
          <a:off x="3051041" y="1932266"/>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 Reviews feature a ‘plain language summary’ that provides a quick, easy-to-understand overview of findings.</a:t>
          </a:r>
          <a:endParaRPr lang="en-US" sz="1400" kern="1200"/>
        </a:p>
      </dsp:txBody>
      <dsp:txXfrm>
        <a:off x="3093555" y="1974780"/>
        <a:ext cx="2200851" cy="1366505"/>
      </dsp:txXfrm>
    </dsp:sp>
    <dsp:sp modelId="{C806A9F0-CAA0-4B64-8481-4199172BB306}">
      <dsp:nvSpPr>
        <dsp:cNvPr id="0" name=""/>
        <dsp:cNvSpPr/>
      </dsp:nvSpPr>
      <dsp:spPr>
        <a:xfrm>
          <a:off x="5590907" y="1690978"/>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89692A-8898-4560-B350-05A1BE4FECD0}">
      <dsp:nvSpPr>
        <dsp:cNvPr id="0" name=""/>
        <dsp:cNvSpPr/>
      </dsp:nvSpPr>
      <dsp:spPr>
        <a:xfrm>
          <a:off x="5844894" y="1932266"/>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 Reviews are periodically updated to reflect new evidence.</a:t>
          </a:r>
          <a:endParaRPr lang="en-US" sz="1400" kern="1200"/>
        </a:p>
      </dsp:txBody>
      <dsp:txXfrm>
        <a:off x="5887408" y="1974780"/>
        <a:ext cx="2200851" cy="1366505"/>
      </dsp:txXfrm>
    </dsp:sp>
    <dsp:sp modelId="{B517D36F-7439-4577-8592-A746B733C1B9}">
      <dsp:nvSpPr>
        <dsp:cNvPr id="0" name=""/>
        <dsp:cNvSpPr/>
      </dsp:nvSpPr>
      <dsp:spPr>
        <a:xfrm>
          <a:off x="8384760" y="1690978"/>
          <a:ext cx="2285879" cy="145153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632813-D19E-4341-8389-191CB064BDD7}">
      <dsp:nvSpPr>
        <dsp:cNvPr id="0" name=""/>
        <dsp:cNvSpPr/>
      </dsp:nvSpPr>
      <dsp:spPr>
        <a:xfrm>
          <a:off x="8638747" y="1932266"/>
          <a:ext cx="2285879" cy="1451533"/>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Where available, clinical practice guidelines with evidence-based recommendations are another form of filtered information, and can assist with decision- making in specific clinical circumstances.</a:t>
          </a:r>
          <a:endParaRPr lang="en-US" sz="1200" kern="1200" dirty="0"/>
        </a:p>
      </dsp:txBody>
      <dsp:txXfrm>
        <a:off x="8681261" y="1974780"/>
        <a:ext cx="2200851" cy="13665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8167F8-C630-4C63-8CDF-75E536E90625}">
      <dsp:nvSpPr>
        <dsp:cNvPr id="0" name=""/>
        <dsp:cNvSpPr/>
      </dsp:nvSpPr>
      <dsp:spPr>
        <a:xfrm>
          <a:off x="668502" y="796307"/>
          <a:ext cx="1058062" cy="1058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D54CAD-52C9-4EA9-8390-301D191082B1}">
      <dsp:nvSpPr>
        <dsp:cNvPr id="0" name=""/>
        <dsp:cNvSpPr/>
      </dsp:nvSpPr>
      <dsp:spPr>
        <a:xfrm>
          <a:off x="21909" y="2168280"/>
          <a:ext cx="235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GB" sz="1400" kern="1200"/>
            <a:t>NICE Evidence Search, and the TRIP Database are both filtered search engines. </a:t>
          </a:r>
          <a:endParaRPr lang="en-US" sz="1400" kern="1200"/>
        </a:p>
      </dsp:txBody>
      <dsp:txXfrm>
        <a:off x="21909" y="2168280"/>
        <a:ext cx="2351250" cy="720000"/>
      </dsp:txXfrm>
    </dsp:sp>
    <dsp:sp modelId="{045C9A65-9612-4507-95A7-B09BF91AA282}">
      <dsp:nvSpPr>
        <dsp:cNvPr id="0" name=""/>
        <dsp:cNvSpPr/>
      </dsp:nvSpPr>
      <dsp:spPr>
        <a:xfrm>
          <a:off x="3431221" y="796307"/>
          <a:ext cx="1058062" cy="1058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2B885C-0D6C-408F-9221-EA57202E32D7}">
      <dsp:nvSpPr>
        <dsp:cNvPr id="0" name=""/>
        <dsp:cNvSpPr/>
      </dsp:nvSpPr>
      <dsp:spPr>
        <a:xfrm>
          <a:off x="2784627" y="2168280"/>
          <a:ext cx="235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GB" sz="1400" kern="1200"/>
            <a:t>Clinical databases: The Cochrane Library, PubMed/Medline and Embase. </a:t>
          </a:r>
          <a:endParaRPr lang="en-US" sz="1400" kern="1200"/>
        </a:p>
      </dsp:txBody>
      <dsp:txXfrm>
        <a:off x="2784627" y="2168280"/>
        <a:ext cx="23512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ECF53-197E-690A-3E6C-EA8C9E1F0CB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C288D1C-4EED-0EE0-54A4-EBDF365BA1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3E50993-F424-A761-6072-08D777E095F4}"/>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5" name="Footer Placeholder 4">
            <a:extLst>
              <a:ext uri="{FF2B5EF4-FFF2-40B4-BE49-F238E27FC236}">
                <a16:creationId xmlns:a16="http://schemas.microsoft.com/office/drawing/2014/main" id="{12933AFB-AEBE-4374-DEE7-16FFD2B55F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DC9EC0D-B2EE-C600-04CD-158D84AA42FC}"/>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2321199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D1E31-CC32-62CB-F051-164E9B2B001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D5E29C6-D654-2DC1-2893-83A29E5FDE7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4195B75-3436-6D9B-6594-EC1918330828}"/>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5" name="Footer Placeholder 4">
            <a:extLst>
              <a:ext uri="{FF2B5EF4-FFF2-40B4-BE49-F238E27FC236}">
                <a16:creationId xmlns:a16="http://schemas.microsoft.com/office/drawing/2014/main" id="{0DE44C6E-5303-9F70-3811-F07DF0AFB54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13ED13B-5B27-E2CC-D1C7-116AEFD79FB2}"/>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249894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DF302-FD4D-6AE4-B048-FCE7CEAF2EB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D0FEF840-564B-B491-D232-0ABE742E01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E51249E-EB26-7612-9269-028737CEEC69}"/>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5" name="Footer Placeholder 4">
            <a:extLst>
              <a:ext uri="{FF2B5EF4-FFF2-40B4-BE49-F238E27FC236}">
                <a16:creationId xmlns:a16="http://schemas.microsoft.com/office/drawing/2014/main" id="{158F6C7F-B6FF-3421-21CD-DA74000214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CF0ECE-F282-A499-B81E-7E08900C78B1}"/>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486301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CA638-70A2-94DA-C1A7-16DC5BB6ACA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7FD6742-D1A2-30A9-FA0A-9E6B6BD752A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5D312D17-FA9B-D33B-99BA-E5EB6C2C5FC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909DDC8-44A3-675B-BC65-4833AA660CB6}"/>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6" name="Footer Placeholder 5">
            <a:extLst>
              <a:ext uri="{FF2B5EF4-FFF2-40B4-BE49-F238E27FC236}">
                <a16:creationId xmlns:a16="http://schemas.microsoft.com/office/drawing/2014/main" id="{00ED21E2-D3DF-EDCB-954A-F6FB897131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813D458-4E7C-F693-73CE-8607BFE1C67F}"/>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2448070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3C14E-D434-4D6A-B87F-F81855D8FAEC}"/>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21758CC4-A9C1-7593-5719-24987C5FD0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6913113-49EF-6195-DDF1-95664BA9ADB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3C43737F-535E-DF56-521C-BBDC95F99E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83A0D9B-9DA9-F994-1DEB-4B8D92D0CA1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4EAD294D-4405-6153-273D-28CF4D0EC0D2}"/>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8" name="Footer Placeholder 7">
            <a:extLst>
              <a:ext uri="{FF2B5EF4-FFF2-40B4-BE49-F238E27FC236}">
                <a16:creationId xmlns:a16="http://schemas.microsoft.com/office/drawing/2014/main" id="{7B34288B-C8C0-7065-F87A-EB438D1366A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811CDB4-149F-3110-6C1A-0DB603225019}"/>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3520358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1B898-7F13-241D-988B-7AD8E490E395}"/>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D4BB3A5-1E96-105A-E697-028F33916A66}"/>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4" name="Footer Placeholder 3">
            <a:extLst>
              <a:ext uri="{FF2B5EF4-FFF2-40B4-BE49-F238E27FC236}">
                <a16:creationId xmlns:a16="http://schemas.microsoft.com/office/drawing/2014/main" id="{2E43A7A7-643D-8367-D090-5D55546F1BA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DB16205-07FA-BB8E-4E3D-46BD2FF3ECBF}"/>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60201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2D2068-E19F-3A9F-7184-C0967B9F4EBE}"/>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3" name="Footer Placeholder 2">
            <a:extLst>
              <a:ext uri="{FF2B5EF4-FFF2-40B4-BE49-F238E27FC236}">
                <a16:creationId xmlns:a16="http://schemas.microsoft.com/office/drawing/2014/main" id="{38523E9F-4EFA-99D3-F5D2-86D1218E5D1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7D67DE7-B5D4-4EA3-5156-E9367B08FA4B}"/>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1477204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1B35C-D45C-DA8D-CB6C-44D16B58B5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DEDD90F-0C88-EB1E-F360-E966B4FA28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8E344520-2C4D-2BCE-467F-9E91A077AD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2A4F120-0BA4-4ADB-BF56-A5750C60C8F0}"/>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6" name="Footer Placeholder 5">
            <a:extLst>
              <a:ext uri="{FF2B5EF4-FFF2-40B4-BE49-F238E27FC236}">
                <a16:creationId xmlns:a16="http://schemas.microsoft.com/office/drawing/2014/main" id="{84A9D776-B6A1-F8F3-5862-224E406B498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E40620-B8E0-6F51-E8B8-3974C1768DD0}"/>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3598194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98DEC-2204-836B-63B2-73BF6FF8D8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E72639F3-7C39-6512-E9C7-8099C273E6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7F3E7C9-39EE-42AA-E031-9B144F279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E2F61AA-7090-D254-85BF-11A0751A1F27}"/>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6" name="Footer Placeholder 5">
            <a:extLst>
              <a:ext uri="{FF2B5EF4-FFF2-40B4-BE49-F238E27FC236}">
                <a16:creationId xmlns:a16="http://schemas.microsoft.com/office/drawing/2014/main" id="{8EFCF905-A8A0-0AA7-C900-BC0C57059C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8620FFD-ED9B-7E96-1BE5-156CBE324AB7}"/>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60923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E2FAA-5F1B-116B-5F35-339A03C35CE1}"/>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51569C08-457B-2639-5580-617D64C2C20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3087992-F37A-458D-39EF-2430E1729E97}"/>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5" name="Footer Placeholder 4">
            <a:extLst>
              <a:ext uri="{FF2B5EF4-FFF2-40B4-BE49-F238E27FC236}">
                <a16:creationId xmlns:a16="http://schemas.microsoft.com/office/drawing/2014/main" id="{E9D7C139-3257-9983-84E3-89926FC1EC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E16391-AAC9-A03C-13FE-8CF9592050D2}"/>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1852210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E36CD9-E58E-FC35-5A30-8026208B292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63DBAAB-6960-CADE-BDE2-9B6471EE2B9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902F5A6-3B6E-6ED8-EC97-5CD5A2E7F045}"/>
              </a:ext>
            </a:extLst>
          </p:cNvPr>
          <p:cNvSpPr>
            <a:spLocks noGrp="1"/>
          </p:cNvSpPr>
          <p:nvPr>
            <p:ph type="dt" sz="half" idx="10"/>
          </p:nvPr>
        </p:nvSpPr>
        <p:spPr/>
        <p:txBody>
          <a:bodyPr/>
          <a:lstStyle/>
          <a:p>
            <a:fld id="{2A8B7968-EBEF-4227-A0F9-A02A0615E1DC}" type="datetimeFigureOut">
              <a:rPr lang="en-GB" smtClean="0"/>
              <a:t>21/10/2024</a:t>
            </a:fld>
            <a:endParaRPr lang="en-GB"/>
          </a:p>
        </p:txBody>
      </p:sp>
      <p:sp>
        <p:nvSpPr>
          <p:cNvPr id="5" name="Footer Placeholder 4">
            <a:extLst>
              <a:ext uri="{FF2B5EF4-FFF2-40B4-BE49-F238E27FC236}">
                <a16:creationId xmlns:a16="http://schemas.microsoft.com/office/drawing/2014/main" id="{3A4E295A-908B-BC69-769B-C96C78C227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5CF014-003D-67C1-FD8E-C3C7BAE12405}"/>
              </a:ext>
            </a:extLst>
          </p:cNvPr>
          <p:cNvSpPr>
            <a:spLocks noGrp="1"/>
          </p:cNvSpPr>
          <p:nvPr>
            <p:ph type="sldNum" sz="quarter" idx="12"/>
          </p:nvPr>
        </p:nvSpPr>
        <p:spPr/>
        <p:txBody>
          <a:bodyPr/>
          <a:lstStyle/>
          <a:p>
            <a:fld id="{7DAB93AA-02D7-4B22-A205-07CC1FC93F11}" type="slidenum">
              <a:rPr lang="en-GB" smtClean="0"/>
              <a:t>‹#›</a:t>
            </a:fld>
            <a:endParaRPr lang="en-GB"/>
          </a:p>
        </p:txBody>
      </p:sp>
    </p:spTree>
    <p:extLst>
      <p:ext uri="{BB962C8B-B14F-4D97-AF65-F5344CB8AC3E}">
        <p14:creationId xmlns:p14="http://schemas.microsoft.com/office/powerpoint/2010/main" val="3485813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F084C2-F697-6458-E252-5362AF8997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B2E8AC1-C6DC-7FC0-8725-23FD8C9656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A6D527A-07E1-8205-8EDA-761F33A8FC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8B7968-EBEF-4227-A0F9-A02A0615E1DC}" type="datetimeFigureOut">
              <a:rPr lang="en-GB" smtClean="0"/>
              <a:t>21/10/2024</a:t>
            </a:fld>
            <a:endParaRPr lang="en-GB"/>
          </a:p>
        </p:txBody>
      </p:sp>
      <p:sp>
        <p:nvSpPr>
          <p:cNvPr id="5" name="Footer Placeholder 4">
            <a:extLst>
              <a:ext uri="{FF2B5EF4-FFF2-40B4-BE49-F238E27FC236}">
                <a16:creationId xmlns:a16="http://schemas.microsoft.com/office/drawing/2014/main" id="{05AC1685-A9DD-6CE1-66AE-30EC642920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987EB47-01E0-E9A4-CD34-F8C986B6D9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AB93AA-02D7-4B22-A205-07CC1FC93F11}" type="slidenum">
              <a:rPr lang="en-GB" smtClean="0"/>
              <a:t>‹#›</a:t>
            </a:fld>
            <a:endParaRPr lang="en-GB"/>
          </a:p>
        </p:txBody>
      </p:sp>
    </p:spTree>
    <p:extLst>
      <p:ext uri="{BB962C8B-B14F-4D97-AF65-F5344CB8AC3E}">
        <p14:creationId xmlns:p14="http://schemas.microsoft.com/office/powerpoint/2010/main" val="2796785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Video 6" descr="Computer Servers">
            <a:extLst>
              <a:ext uri="{FF2B5EF4-FFF2-40B4-BE49-F238E27FC236}">
                <a16:creationId xmlns:a16="http://schemas.microsoft.com/office/drawing/2014/main" id="{53E36E08-0198-FA98-BBC0-653B031E77E4}"/>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p:blipFill>
        <p:spPr>
          <a:xfrm>
            <a:off x="-3047" y="10"/>
            <a:ext cx="12191999" cy="6857990"/>
          </a:xfrm>
          <a:prstGeom prst="rect">
            <a:avLst/>
          </a:prstGeom>
        </p:spPr>
      </p:pic>
      <p:sp>
        <p:nvSpPr>
          <p:cNvPr id="13" name="Rectangle 12">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79E1159-ECC9-5705-1CDE-22E9B87BA629}"/>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GB" sz="5200" dirty="0">
                <a:solidFill>
                  <a:srgbClr val="FFFFFF"/>
                </a:solidFill>
              </a:rPr>
              <a:t>PT4053:</a:t>
            </a:r>
            <a:br>
              <a:rPr lang="en-GB" sz="5200" dirty="0">
                <a:solidFill>
                  <a:srgbClr val="FFFFFF"/>
                </a:solidFill>
              </a:rPr>
            </a:br>
            <a:r>
              <a:rPr lang="en-GB" sz="5200" dirty="0">
                <a:solidFill>
                  <a:srgbClr val="FFFFFF"/>
                </a:solidFill>
              </a:rPr>
              <a:t>Sources of Information: Databases</a:t>
            </a:r>
          </a:p>
        </p:txBody>
      </p:sp>
      <p:sp>
        <p:nvSpPr>
          <p:cNvPr id="5" name="Subtitle 4">
            <a:extLst>
              <a:ext uri="{FF2B5EF4-FFF2-40B4-BE49-F238E27FC236}">
                <a16:creationId xmlns:a16="http://schemas.microsoft.com/office/drawing/2014/main" id="{824D2384-E5CE-4CC7-6A89-9C72493E812E}"/>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GB" sz="3600" b="1" dirty="0">
                <a:solidFill>
                  <a:srgbClr val="FFFFFF"/>
                </a:solidFill>
              </a:rPr>
              <a:t>Walaa Abu-Taleb</a:t>
            </a:r>
          </a:p>
        </p:txBody>
      </p:sp>
    </p:spTree>
    <p:extLst>
      <p:ext uri="{BB962C8B-B14F-4D97-AF65-F5344CB8AC3E}">
        <p14:creationId xmlns:p14="http://schemas.microsoft.com/office/powerpoint/2010/main" val="158974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5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11DBC-2EFF-818D-1BFD-86357D54F281}"/>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D12A996E-49D5-C4C0-46E2-31C4B021CC7C}"/>
              </a:ext>
            </a:extLst>
          </p:cNvPr>
          <p:cNvSpPr>
            <a:spLocks noGrp="1"/>
          </p:cNvSpPr>
          <p:nvPr>
            <p:ph idx="1"/>
          </p:nvPr>
        </p:nvSpPr>
        <p:spPr/>
        <p:txBody>
          <a:bodyPr/>
          <a:lstStyle/>
          <a:p>
            <a:r>
              <a:rPr lang="en-GB" dirty="0"/>
              <a:t>Comprehend the fundamental concepts of databases and the hierarchy of evidence.</a:t>
            </a:r>
          </a:p>
          <a:p>
            <a:r>
              <a:rPr lang="en-GB" dirty="0"/>
              <a:t>Appreciate the significance of utilizing databases and conducting evidence-based searches.</a:t>
            </a:r>
          </a:p>
          <a:p>
            <a:r>
              <a:rPr lang="en-GB" dirty="0"/>
              <a:t>Identify key sources for literature reviews, including databases, clinical guidelines, and peer-reviewed publications.</a:t>
            </a:r>
          </a:p>
          <a:p>
            <a:r>
              <a:rPr lang="en-GB" dirty="0"/>
              <a:t>Recognize the essential steps involved in evidence retrieval, including formulating PICO questions and employing various search techniques.</a:t>
            </a:r>
          </a:p>
        </p:txBody>
      </p:sp>
    </p:spTree>
    <p:extLst>
      <p:ext uri="{BB962C8B-B14F-4D97-AF65-F5344CB8AC3E}">
        <p14:creationId xmlns:p14="http://schemas.microsoft.com/office/powerpoint/2010/main" val="2672414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4D1ECA-F419-F2CE-3FCF-F9C6D705F00B}"/>
              </a:ext>
            </a:extLst>
          </p:cNvPr>
          <p:cNvSpPr>
            <a:spLocks noGrp="1"/>
          </p:cNvSpPr>
          <p:nvPr>
            <p:ph type="title"/>
          </p:nvPr>
        </p:nvSpPr>
        <p:spPr>
          <a:xfrm>
            <a:off x="761803" y="350196"/>
            <a:ext cx="4646904" cy="1624520"/>
          </a:xfrm>
        </p:spPr>
        <p:txBody>
          <a:bodyPr anchor="ctr">
            <a:normAutofit/>
          </a:bodyPr>
          <a:lstStyle/>
          <a:p>
            <a:r>
              <a:rPr lang="en-GB" sz="4000"/>
              <a:t>Databases</a:t>
            </a:r>
          </a:p>
        </p:txBody>
      </p:sp>
      <p:sp>
        <p:nvSpPr>
          <p:cNvPr id="3" name="Content Placeholder 2">
            <a:extLst>
              <a:ext uri="{FF2B5EF4-FFF2-40B4-BE49-F238E27FC236}">
                <a16:creationId xmlns:a16="http://schemas.microsoft.com/office/drawing/2014/main" id="{DAEDF9FE-5E1D-B66D-7FA3-ABF4DEA0094F}"/>
              </a:ext>
            </a:extLst>
          </p:cNvPr>
          <p:cNvSpPr>
            <a:spLocks noGrp="1"/>
          </p:cNvSpPr>
          <p:nvPr>
            <p:ph idx="1"/>
          </p:nvPr>
        </p:nvSpPr>
        <p:spPr>
          <a:xfrm>
            <a:off x="443883" y="1580225"/>
            <a:ext cx="7395099" cy="5042517"/>
          </a:xfrm>
        </p:spPr>
        <p:txBody>
          <a:bodyPr anchor="ctr">
            <a:normAutofit/>
          </a:bodyPr>
          <a:lstStyle/>
          <a:p>
            <a:r>
              <a:rPr lang="en-GB" sz="2400" dirty="0"/>
              <a:t>A database is an online collection of searchable information. </a:t>
            </a:r>
          </a:p>
          <a:p>
            <a:r>
              <a:rPr lang="en-GB" sz="2400" dirty="0"/>
              <a:t>Many databases specialize in offering credible, scholarly sources like academic journal articles, while others focus on more popular sources such as newspaper or magazine articles or trade publications. </a:t>
            </a:r>
          </a:p>
          <a:p>
            <a:r>
              <a:rPr lang="en-GB" sz="2400" dirty="0"/>
              <a:t>These sources are generally organized by some combination of date, author, title, subject or publication type. </a:t>
            </a:r>
          </a:p>
          <a:p>
            <a:r>
              <a:rPr lang="en-GB" sz="2400" dirty="0"/>
              <a:t>Some databases might search within one specific field or discipline, while others might search across different disciplines.</a:t>
            </a:r>
          </a:p>
        </p:txBody>
      </p:sp>
      <p:pic>
        <p:nvPicPr>
          <p:cNvPr id="13" name="Picture 12" descr="A top view of books with different cover colours">
            <a:extLst>
              <a:ext uri="{FF2B5EF4-FFF2-40B4-BE49-F238E27FC236}">
                <a16:creationId xmlns:a16="http://schemas.microsoft.com/office/drawing/2014/main" id="{AFFB61DC-73BB-2D02-9263-72BADF445AC5}"/>
              </a:ext>
            </a:extLst>
          </p:cNvPr>
          <p:cNvPicPr>
            <a:picLocks noChangeAspect="1"/>
          </p:cNvPicPr>
          <p:nvPr/>
        </p:nvPicPr>
        <p:blipFill>
          <a:blip r:embed="rId2"/>
          <a:srcRect l="1252" r="9760"/>
          <a:stretch/>
        </p:blipFill>
        <p:spPr>
          <a:xfrm>
            <a:off x="7838983" y="1225117"/>
            <a:ext cx="4164691" cy="4709605"/>
          </a:xfrm>
          <a:prstGeom prst="rect">
            <a:avLst/>
          </a:prstGeom>
        </p:spPr>
      </p:pic>
    </p:spTree>
    <p:extLst>
      <p:ext uri="{BB962C8B-B14F-4D97-AF65-F5344CB8AC3E}">
        <p14:creationId xmlns:p14="http://schemas.microsoft.com/office/powerpoint/2010/main" val="641731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Colourful rolled magazines">
            <a:extLst>
              <a:ext uri="{FF2B5EF4-FFF2-40B4-BE49-F238E27FC236}">
                <a16:creationId xmlns:a16="http://schemas.microsoft.com/office/drawing/2014/main" id="{A52BB6D8-B6C6-F605-6BFD-131943D52972}"/>
              </a:ext>
            </a:extLst>
          </p:cNvPr>
          <p:cNvPicPr>
            <a:picLocks noChangeAspect="1"/>
          </p:cNvPicPr>
          <p:nvPr/>
        </p:nvPicPr>
        <p:blipFill>
          <a:blip r:embed="rId2"/>
          <a:srcRect l="26806" r="20535" b="-2"/>
          <a:stretch/>
        </p:blipFill>
        <p:spPr>
          <a:xfrm>
            <a:off x="-1" y="0"/>
            <a:ext cx="4580855" cy="6858000"/>
          </a:xfrm>
          <a:prstGeom prst="rect">
            <a:avLst/>
          </a:prstGeom>
        </p:spPr>
      </p:pic>
      <p:sp useBgFill="1">
        <p:nvSpPr>
          <p:cNvPr id="17" name="Rectangle 16">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260EAD-E9ED-94E9-ED02-262073E7164F}"/>
              </a:ext>
            </a:extLst>
          </p:cNvPr>
          <p:cNvSpPr>
            <a:spLocks noGrp="1"/>
          </p:cNvSpPr>
          <p:nvPr>
            <p:ph type="title"/>
          </p:nvPr>
        </p:nvSpPr>
        <p:spPr>
          <a:xfrm>
            <a:off x="4900473" y="405685"/>
            <a:ext cx="6679812" cy="1559301"/>
          </a:xfrm>
        </p:spPr>
        <p:txBody>
          <a:bodyPr vert="horz" lIns="91440" tIns="45720" rIns="91440" bIns="45720" rtlCol="0" anchor="ctr">
            <a:normAutofit/>
          </a:bodyPr>
          <a:lstStyle/>
          <a:p>
            <a:pPr algn="ctr"/>
            <a:r>
              <a:rPr lang="en-US" sz="4000" dirty="0"/>
              <a:t>What are ‘levels of evidence’?</a:t>
            </a:r>
          </a:p>
        </p:txBody>
      </p:sp>
      <p:sp>
        <p:nvSpPr>
          <p:cNvPr id="9" name="TextBox 8">
            <a:extLst>
              <a:ext uri="{FF2B5EF4-FFF2-40B4-BE49-F238E27FC236}">
                <a16:creationId xmlns:a16="http://schemas.microsoft.com/office/drawing/2014/main" id="{251F25B3-A48C-DE31-AB89-0237047AD9F5}"/>
              </a:ext>
            </a:extLst>
          </p:cNvPr>
          <p:cNvSpPr txBox="1"/>
          <p:nvPr/>
        </p:nvSpPr>
        <p:spPr>
          <a:xfrm>
            <a:off x="4900474" y="1793289"/>
            <a:ext cx="7013359" cy="4882719"/>
          </a:xfrm>
          <a:prstGeom prst="rect">
            <a:avLst/>
          </a:prstGeom>
        </p:spPr>
        <p:txBody>
          <a:bodyPr vert="horz" lIns="91440" tIns="45720" rIns="91440" bIns="45720" rtlCol="0" anchor="ctr">
            <a:normAutofit lnSpcReduction="10000"/>
          </a:bodyPr>
          <a:lstStyle/>
          <a:p>
            <a:pPr indent="-228600">
              <a:lnSpc>
                <a:spcPct val="90000"/>
              </a:lnSpc>
              <a:spcAft>
                <a:spcPts val="600"/>
              </a:spcAft>
              <a:buFont typeface="Arial" panose="020B0604020202020204" pitchFamily="34" charset="0"/>
              <a:buChar char="•"/>
            </a:pPr>
            <a:r>
              <a:rPr lang="en-US" sz="2400" dirty="0"/>
              <a:t>Evidence is published across a variety of sources, including scientific or academic journals, books, conference proceedings, websites, and news reports.</a:t>
            </a:r>
          </a:p>
          <a:p>
            <a:pPr indent="-228600">
              <a:lnSpc>
                <a:spcPct val="90000"/>
              </a:lnSpc>
              <a:spcAft>
                <a:spcPts val="600"/>
              </a:spcAft>
              <a:buFont typeface="Arial" panose="020B0604020202020204" pitchFamily="34" charset="0"/>
              <a:buChar char="•"/>
            </a:pPr>
            <a:r>
              <a:rPr lang="en-US" sz="2400" dirty="0"/>
              <a:t>Academic publications in scientific journals are generally considered to be of higher quality due to the independent, peer-review process. </a:t>
            </a:r>
          </a:p>
          <a:p>
            <a:pPr indent="-228600">
              <a:lnSpc>
                <a:spcPct val="90000"/>
              </a:lnSpc>
              <a:spcAft>
                <a:spcPts val="600"/>
              </a:spcAft>
              <a:buFont typeface="Arial" panose="020B0604020202020204" pitchFamily="34" charset="0"/>
              <a:buChar char="•"/>
            </a:pPr>
            <a:r>
              <a:rPr lang="en-US" sz="2400" dirty="0"/>
              <a:t>There are a number of ways to determine the quality of a journal, though these measures are not necessarily a good proxy of the quality of individual articles within the journal. </a:t>
            </a:r>
          </a:p>
          <a:p>
            <a:pPr indent="-228600">
              <a:lnSpc>
                <a:spcPct val="90000"/>
              </a:lnSpc>
              <a:spcAft>
                <a:spcPts val="600"/>
              </a:spcAft>
              <a:buFont typeface="Arial" panose="020B0604020202020204" pitchFamily="34" charset="0"/>
              <a:buChar char="•"/>
            </a:pPr>
            <a:r>
              <a:rPr lang="en-US" sz="2400" dirty="0"/>
              <a:t>A central principle in evidence translation is that all evidence must be critically appraised, regardless of its source.</a:t>
            </a:r>
          </a:p>
        </p:txBody>
      </p:sp>
    </p:spTree>
    <p:extLst>
      <p:ext uri="{BB962C8B-B14F-4D97-AF65-F5344CB8AC3E}">
        <p14:creationId xmlns:p14="http://schemas.microsoft.com/office/powerpoint/2010/main" val="4163092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EAD89-78A2-B321-8473-48638EAD6512}"/>
              </a:ext>
            </a:extLst>
          </p:cNvPr>
          <p:cNvSpPr>
            <a:spLocks noGrp="1"/>
          </p:cNvSpPr>
          <p:nvPr>
            <p:ph type="title"/>
          </p:nvPr>
        </p:nvSpPr>
        <p:spPr/>
        <p:txBody>
          <a:bodyPr/>
          <a:lstStyle/>
          <a:p>
            <a:r>
              <a:rPr lang="en-GB" dirty="0"/>
              <a:t>What are ‘levels of evidence’?</a:t>
            </a:r>
          </a:p>
        </p:txBody>
      </p:sp>
      <p:sp>
        <p:nvSpPr>
          <p:cNvPr id="3" name="Content Placeholder 2">
            <a:extLst>
              <a:ext uri="{FF2B5EF4-FFF2-40B4-BE49-F238E27FC236}">
                <a16:creationId xmlns:a16="http://schemas.microsoft.com/office/drawing/2014/main" id="{4BFAF32D-3B04-39E7-079C-F6D45B00A1CD}"/>
              </a:ext>
            </a:extLst>
          </p:cNvPr>
          <p:cNvSpPr>
            <a:spLocks noGrp="1"/>
          </p:cNvSpPr>
          <p:nvPr>
            <p:ph idx="1"/>
          </p:nvPr>
        </p:nvSpPr>
        <p:spPr>
          <a:xfrm>
            <a:off x="838201" y="2330969"/>
            <a:ext cx="4438338" cy="3845993"/>
          </a:xfrm>
        </p:spPr>
        <p:txBody>
          <a:bodyPr/>
          <a:lstStyle/>
          <a:p>
            <a:r>
              <a:rPr lang="en-GB" dirty="0"/>
              <a:t>The Levels of Evidence Pyramid can be utilised to weigh the quality of different types of evidence when engaging in evidence translation, with the highest level of evidence at the top.</a:t>
            </a:r>
          </a:p>
        </p:txBody>
      </p:sp>
      <p:pic>
        <p:nvPicPr>
          <p:cNvPr id="1026" name="Picture 2" descr="The hierarchy of evidence: Is the study's design robust? | The Logic of  Science">
            <a:extLst>
              <a:ext uri="{FF2B5EF4-FFF2-40B4-BE49-F238E27FC236}">
                <a16:creationId xmlns:a16="http://schemas.microsoft.com/office/drawing/2014/main" id="{987AB156-42A8-B658-E7F0-C8BF3E9AE7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0316" y="1903642"/>
            <a:ext cx="6353012" cy="3845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6886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0194B2-EFE8-264F-F8B0-DC198FD42016}"/>
              </a:ext>
            </a:extLst>
          </p:cNvPr>
          <p:cNvSpPr>
            <a:spLocks noGrp="1"/>
          </p:cNvSpPr>
          <p:nvPr>
            <p:ph type="title"/>
          </p:nvPr>
        </p:nvSpPr>
        <p:spPr>
          <a:xfrm>
            <a:off x="491277" y="318294"/>
            <a:ext cx="11206397" cy="1325563"/>
          </a:xfrm>
        </p:spPr>
        <p:txBody>
          <a:bodyPr>
            <a:normAutofit fontScale="90000"/>
          </a:bodyPr>
          <a:lstStyle/>
          <a:p>
            <a:pPr algn="ctr"/>
            <a:r>
              <a:rPr lang="en-GB" dirty="0"/>
              <a:t>I have limited time to search for and appraise evidence. </a:t>
            </a:r>
            <a:br>
              <a:rPr lang="en-GB" dirty="0"/>
            </a:br>
            <a:r>
              <a:rPr lang="en-GB" dirty="0"/>
              <a:t>Where do I start?</a:t>
            </a:r>
          </a:p>
        </p:txBody>
      </p:sp>
      <p:graphicFrame>
        <p:nvGraphicFramePr>
          <p:cNvPr id="5" name="Content Placeholder 2">
            <a:extLst>
              <a:ext uri="{FF2B5EF4-FFF2-40B4-BE49-F238E27FC236}">
                <a16:creationId xmlns:a16="http://schemas.microsoft.com/office/drawing/2014/main" id="{9197D947-8B84-AFBC-D62F-FDFC867E465A}"/>
              </a:ext>
            </a:extLst>
          </p:cNvPr>
          <p:cNvGraphicFramePr>
            <a:graphicFrameLocks noGrp="1"/>
          </p:cNvGraphicFramePr>
          <p:nvPr>
            <p:ph idx="1"/>
            <p:extLst>
              <p:ext uri="{D42A27DB-BD31-4B8C-83A1-F6EECF244321}">
                <p14:modId xmlns:p14="http://schemas.microsoft.com/office/powerpoint/2010/main" val="40670209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3365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D2FCEC-F905-1D3F-7DA5-07DC9959AA75}"/>
              </a:ext>
            </a:extLst>
          </p:cNvPr>
          <p:cNvSpPr>
            <a:spLocks noGrp="1"/>
          </p:cNvSpPr>
          <p:nvPr>
            <p:ph type="title"/>
          </p:nvPr>
        </p:nvSpPr>
        <p:spPr>
          <a:xfrm>
            <a:off x="1383564" y="348865"/>
            <a:ext cx="9718111" cy="1576446"/>
          </a:xfrm>
        </p:spPr>
        <p:txBody>
          <a:bodyPr anchor="ctr">
            <a:normAutofit/>
          </a:bodyPr>
          <a:lstStyle/>
          <a:p>
            <a:r>
              <a:rPr lang="en-GB" sz="4000">
                <a:solidFill>
                  <a:srgbClr val="FFFFFF"/>
                </a:solidFill>
              </a:rPr>
              <a:t>Cochran Database of Systematic Reviews</a:t>
            </a:r>
          </a:p>
        </p:txBody>
      </p:sp>
      <p:graphicFrame>
        <p:nvGraphicFramePr>
          <p:cNvPr id="18" name="Content Placeholder 2">
            <a:extLst>
              <a:ext uri="{FF2B5EF4-FFF2-40B4-BE49-F238E27FC236}">
                <a16:creationId xmlns:a16="http://schemas.microsoft.com/office/drawing/2014/main" id="{89540A06-99FD-4903-D7CD-D9CDDB5A51CC}"/>
              </a:ext>
            </a:extLst>
          </p:cNvPr>
          <p:cNvGraphicFramePr>
            <a:graphicFrameLocks noGrp="1"/>
          </p:cNvGraphicFramePr>
          <p:nvPr>
            <p:ph idx="1"/>
            <p:extLst>
              <p:ext uri="{D42A27DB-BD31-4B8C-83A1-F6EECF244321}">
                <p14:modId xmlns:p14="http://schemas.microsoft.com/office/powerpoint/2010/main" val="2828113209"/>
              </p:ext>
            </p:extLst>
          </p:nvPr>
        </p:nvGraphicFramePr>
        <p:xfrm>
          <a:off x="644056" y="1782618"/>
          <a:ext cx="10927829" cy="5074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0145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Triangle 2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A33967-435B-4D3A-8406-0BF528E439D6}"/>
              </a:ext>
            </a:extLst>
          </p:cNvPr>
          <p:cNvSpPr>
            <a:spLocks noGrp="1"/>
          </p:cNvSpPr>
          <p:nvPr>
            <p:ph type="title"/>
          </p:nvPr>
        </p:nvSpPr>
        <p:spPr>
          <a:xfrm>
            <a:off x="1075767" y="1188637"/>
            <a:ext cx="2988234" cy="4480726"/>
          </a:xfrm>
        </p:spPr>
        <p:txBody>
          <a:bodyPr>
            <a:normAutofit/>
          </a:bodyPr>
          <a:lstStyle/>
          <a:p>
            <a:pPr algn="r"/>
            <a:r>
              <a:rPr lang="en-GB" sz="4600"/>
              <a:t>Guidelines:</a:t>
            </a:r>
          </a:p>
        </p:txBody>
      </p:sp>
      <p:cxnSp>
        <p:nvCxnSpPr>
          <p:cNvPr id="28" name="Straight Connector 27">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CB5FC79-3907-AB57-C936-86C3B3FAA773}"/>
              </a:ext>
            </a:extLst>
          </p:cNvPr>
          <p:cNvSpPr>
            <a:spLocks noGrp="1"/>
          </p:cNvSpPr>
          <p:nvPr>
            <p:ph idx="1"/>
          </p:nvPr>
        </p:nvSpPr>
        <p:spPr>
          <a:xfrm>
            <a:off x="5255259" y="1118585"/>
            <a:ext cx="5753051" cy="4550777"/>
          </a:xfrm>
        </p:spPr>
        <p:txBody>
          <a:bodyPr anchor="ctr">
            <a:normAutofit lnSpcReduction="10000"/>
          </a:bodyPr>
          <a:lstStyle/>
          <a:p>
            <a:r>
              <a:rPr lang="en-GB" sz="2000" b="1" dirty="0"/>
              <a:t>NHMRC Australian Clinical Practice Guidelines</a:t>
            </a:r>
          </a:p>
          <a:p>
            <a:pPr marL="0" indent="0">
              <a:buNone/>
            </a:pPr>
            <a:r>
              <a:rPr lang="en-GB" sz="2000" dirty="0"/>
              <a:t>Portal allows you to search for guidelines relevant to the Australian context that are current and freely available.</a:t>
            </a:r>
          </a:p>
          <a:p>
            <a:r>
              <a:rPr lang="en-GB" sz="2000" b="1" dirty="0"/>
              <a:t>National Institute for Health and Care Excellence (NICE) guidelines (UK) </a:t>
            </a:r>
            <a:r>
              <a:rPr lang="en-GB" sz="2000" dirty="0"/>
              <a:t>based on the best available evidence that is regularly updated as well as input from service users and clinicians.</a:t>
            </a:r>
          </a:p>
          <a:p>
            <a:r>
              <a:rPr lang="en-GB" sz="2000" b="1" dirty="0"/>
              <a:t>The Agency for Healthcare Research and Quality (USA) </a:t>
            </a:r>
          </a:p>
          <a:p>
            <a:pPr marL="0" indent="0">
              <a:buNone/>
            </a:pPr>
            <a:r>
              <a:rPr lang="en-GB" sz="2000" dirty="0"/>
              <a:t>National Guideline Clearinghouse provides summaries of clinical practice guidelines. Guidelines range from expert opinion to higher levels of evidence</a:t>
            </a:r>
          </a:p>
        </p:txBody>
      </p:sp>
    </p:spTree>
    <p:extLst>
      <p:ext uri="{BB962C8B-B14F-4D97-AF65-F5344CB8AC3E}">
        <p14:creationId xmlns:p14="http://schemas.microsoft.com/office/powerpoint/2010/main" val="1489579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51DDF3-6B3C-544D-DD6B-8050E80A58E8}"/>
              </a:ext>
            </a:extLst>
          </p:cNvPr>
          <p:cNvSpPr>
            <a:spLocks noGrp="1"/>
          </p:cNvSpPr>
          <p:nvPr>
            <p:ph type="title"/>
          </p:nvPr>
        </p:nvSpPr>
        <p:spPr>
          <a:xfrm>
            <a:off x="1075767" y="1188637"/>
            <a:ext cx="2988234" cy="4480726"/>
          </a:xfrm>
        </p:spPr>
        <p:txBody>
          <a:bodyPr>
            <a:normAutofit/>
          </a:bodyPr>
          <a:lstStyle/>
          <a:p>
            <a:pPr algn="ctr"/>
            <a:r>
              <a:rPr lang="en-GB" sz="3600" dirty="0"/>
              <a:t>Academic databases</a:t>
            </a:r>
            <a:br>
              <a:rPr lang="en-GB" sz="3600" dirty="0"/>
            </a:br>
            <a:r>
              <a:rPr lang="en-GB" sz="3600" dirty="0"/>
              <a:t>to find peer-reviewed publications</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C68B6D-91E7-E5AD-1864-1A74AAEF5C00}"/>
              </a:ext>
            </a:extLst>
          </p:cNvPr>
          <p:cNvSpPr>
            <a:spLocks noGrp="1"/>
          </p:cNvSpPr>
          <p:nvPr>
            <p:ph idx="1"/>
          </p:nvPr>
        </p:nvSpPr>
        <p:spPr>
          <a:xfrm>
            <a:off x="5015887" y="1278384"/>
            <a:ext cx="6338653" cy="4793942"/>
          </a:xfrm>
        </p:spPr>
        <p:txBody>
          <a:bodyPr anchor="ctr">
            <a:normAutofit/>
          </a:bodyPr>
          <a:lstStyle/>
          <a:p>
            <a:r>
              <a:rPr lang="en-GB" sz="2400" b="1" dirty="0"/>
              <a:t>PubMed </a:t>
            </a:r>
            <a:r>
              <a:rPr lang="en-GB" sz="2400" dirty="0"/>
              <a:t>is a user-friendly search interface that provides free online access to the </a:t>
            </a:r>
            <a:r>
              <a:rPr lang="en-GB" sz="2400" b="1" dirty="0"/>
              <a:t>MEDLINE</a:t>
            </a:r>
            <a:r>
              <a:rPr lang="en-GB" sz="2400" dirty="0"/>
              <a:t> database of published academic literature.</a:t>
            </a:r>
          </a:p>
          <a:p>
            <a:r>
              <a:rPr lang="en-GB" sz="2400" b="1" dirty="0"/>
              <a:t>Clinical Queries </a:t>
            </a:r>
            <a:r>
              <a:rPr lang="en-GB" sz="2400" dirty="0"/>
              <a:t>is a special feature that allows you to filter results to specific clinical study categories such as aetiology, diagnosis, therapy, or prognosis.</a:t>
            </a:r>
          </a:p>
        </p:txBody>
      </p:sp>
    </p:spTree>
    <p:extLst>
      <p:ext uri="{BB962C8B-B14F-4D97-AF65-F5344CB8AC3E}">
        <p14:creationId xmlns:p14="http://schemas.microsoft.com/office/powerpoint/2010/main" val="1562083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2EA319-ADE8-A27E-AFD6-B941A7098867}"/>
              </a:ext>
            </a:extLst>
          </p:cNvPr>
          <p:cNvSpPr>
            <a:spLocks noGrp="1"/>
          </p:cNvSpPr>
          <p:nvPr>
            <p:ph type="title"/>
          </p:nvPr>
        </p:nvSpPr>
        <p:spPr>
          <a:xfrm>
            <a:off x="1285240" y="1050596"/>
            <a:ext cx="10261587" cy="511126"/>
          </a:xfrm>
        </p:spPr>
        <p:txBody>
          <a:bodyPr anchor="ctr">
            <a:normAutofit fontScale="90000"/>
          </a:bodyPr>
          <a:lstStyle/>
          <a:p>
            <a:br>
              <a:rPr lang="en-GB" sz="4500" dirty="0"/>
            </a:br>
            <a:r>
              <a:rPr lang="en-GB" sz="4500" dirty="0"/>
              <a:t>Free evidence search engines</a:t>
            </a:r>
          </a:p>
        </p:txBody>
      </p:sp>
      <p:sp>
        <p:nvSpPr>
          <p:cNvPr id="3" name="Content Placeholder 2">
            <a:extLst>
              <a:ext uri="{FF2B5EF4-FFF2-40B4-BE49-F238E27FC236}">
                <a16:creationId xmlns:a16="http://schemas.microsoft.com/office/drawing/2014/main" id="{DC4F1FE3-14F6-672C-4CEE-FC8BA26056BD}"/>
              </a:ext>
            </a:extLst>
          </p:cNvPr>
          <p:cNvSpPr>
            <a:spLocks noGrp="1"/>
          </p:cNvSpPr>
          <p:nvPr>
            <p:ph idx="1"/>
          </p:nvPr>
        </p:nvSpPr>
        <p:spPr>
          <a:xfrm>
            <a:off x="1285240" y="2188564"/>
            <a:ext cx="9936135" cy="3581301"/>
          </a:xfrm>
        </p:spPr>
        <p:txBody>
          <a:bodyPr anchor="t">
            <a:normAutofit lnSpcReduction="10000"/>
          </a:bodyPr>
          <a:lstStyle/>
          <a:p>
            <a:pPr marL="0" indent="0">
              <a:buNone/>
            </a:pPr>
            <a:r>
              <a:rPr lang="en-GB" sz="1800" b="1" dirty="0"/>
              <a:t>Google Scholar</a:t>
            </a:r>
          </a:p>
          <a:p>
            <a:pPr marL="0" indent="0">
              <a:buNone/>
            </a:pPr>
            <a:r>
              <a:rPr lang="en-GB" sz="1800" dirty="0"/>
              <a:t>• Basic search interface that is fast gaining popularity for quick and comprehensive clinical searches.</a:t>
            </a:r>
          </a:p>
          <a:p>
            <a:pPr marL="0" indent="0">
              <a:buNone/>
            </a:pPr>
            <a:r>
              <a:rPr lang="en-GB" sz="1800" dirty="0"/>
              <a:t>• Generally, performs well in head-to-head comparisons with major academic databases and may provide greater access to free full-text articles. 3–5</a:t>
            </a:r>
          </a:p>
          <a:p>
            <a:pPr marL="0" indent="0">
              <a:buNone/>
            </a:pPr>
            <a:r>
              <a:rPr lang="en-GB" sz="1800" dirty="0"/>
              <a:t>• Improvements in recent iterations address some previous criticisms, though shortcomings remain, and it should not be used in isolation for systematic review searches.</a:t>
            </a:r>
          </a:p>
          <a:p>
            <a:pPr marL="0" indent="0">
              <a:buNone/>
            </a:pPr>
            <a:r>
              <a:rPr lang="en-GB" sz="1800" dirty="0"/>
              <a:t>• In addition to peer-reviewed publications, also retrieves ‘grey literature’ (i.e. documents not catalogued by commercial publishers, like non-peer reviewed articles, theses and dissertations, and academic books). </a:t>
            </a:r>
          </a:p>
          <a:p>
            <a:r>
              <a:rPr lang="en-GB" sz="1800" dirty="0"/>
              <a:t>While this can broaden the search results, bear in mind that some of the articles retrieved through this platform may not have gone through a stringent peer-review process</a:t>
            </a:r>
          </a:p>
        </p:txBody>
      </p:sp>
    </p:spTree>
    <p:extLst>
      <p:ext uri="{BB962C8B-B14F-4D97-AF65-F5344CB8AC3E}">
        <p14:creationId xmlns:p14="http://schemas.microsoft.com/office/powerpoint/2010/main" val="494688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4BF04-464E-03A8-E4CE-AC3AD65B33E8}"/>
              </a:ext>
            </a:extLst>
          </p:cNvPr>
          <p:cNvSpPr>
            <a:spLocks noGrp="1"/>
          </p:cNvSpPr>
          <p:nvPr>
            <p:ph type="title"/>
          </p:nvPr>
        </p:nvSpPr>
        <p:spPr>
          <a:xfrm>
            <a:off x="1006900" y="1188637"/>
            <a:ext cx="3141430" cy="4480726"/>
          </a:xfrm>
        </p:spPr>
        <p:txBody>
          <a:bodyPr>
            <a:normAutofit/>
          </a:bodyPr>
          <a:lstStyle/>
          <a:p>
            <a:pPr algn="r"/>
            <a:r>
              <a:rPr lang="en-GB" sz="3600"/>
              <a:t>The following search engines aim to link to high quality evidence, with full text articles freely available in some cases. </a:t>
            </a:r>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E4662E-4062-2024-2596-9140F4A08EF7}"/>
              </a:ext>
            </a:extLst>
          </p:cNvPr>
          <p:cNvSpPr>
            <a:spLocks noGrp="1"/>
          </p:cNvSpPr>
          <p:nvPr>
            <p:ph idx="1"/>
          </p:nvPr>
        </p:nvSpPr>
        <p:spPr>
          <a:xfrm>
            <a:off x="5138928" y="719091"/>
            <a:ext cx="6109080" cy="5512066"/>
          </a:xfrm>
        </p:spPr>
        <p:txBody>
          <a:bodyPr anchor="ctr">
            <a:normAutofit/>
          </a:bodyPr>
          <a:lstStyle/>
          <a:p>
            <a:pPr marL="0" indent="0">
              <a:buNone/>
            </a:pPr>
            <a:r>
              <a:rPr lang="en-GB" sz="2400" dirty="0"/>
              <a:t>Search results can range from systematic reviews and evidence summaries to broader sources of evidence like guidance, policy documents, and decision aids.</a:t>
            </a:r>
          </a:p>
          <a:p>
            <a:r>
              <a:rPr lang="en-GB" sz="2400" dirty="0"/>
              <a:t>NICE Evidence Search</a:t>
            </a:r>
          </a:p>
          <a:p>
            <a:r>
              <a:rPr lang="en-GB" sz="2400" dirty="0"/>
              <a:t>PDQ-Evidence</a:t>
            </a:r>
          </a:p>
          <a:p>
            <a:r>
              <a:rPr lang="en-GB" sz="2400" dirty="0"/>
              <a:t>Trip Database offers advanced search option that allows for input based on the PICO framework.</a:t>
            </a:r>
          </a:p>
        </p:txBody>
      </p:sp>
    </p:spTree>
    <p:extLst>
      <p:ext uri="{BB962C8B-B14F-4D97-AF65-F5344CB8AC3E}">
        <p14:creationId xmlns:p14="http://schemas.microsoft.com/office/powerpoint/2010/main" val="487863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F8685D-6041-8B1C-D14B-6CA0414A85A9}"/>
              </a:ext>
            </a:extLst>
          </p:cNvPr>
          <p:cNvSpPr>
            <a:spLocks noGrp="1"/>
          </p:cNvSpPr>
          <p:nvPr>
            <p:ph type="title"/>
          </p:nvPr>
        </p:nvSpPr>
        <p:spPr>
          <a:xfrm>
            <a:off x="1006900" y="1188637"/>
            <a:ext cx="3141430" cy="4480726"/>
          </a:xfrm>
        </p:spPr>
        <p:txBody>
          <a:bodyPr>
            <a:normAutofit/>
          </a:bodyPr>
          <a:lstStyle/>
          <a:p>
            <a:pPr algn="ctr"/>
            <a:r>
              <a:rPr lang="en-GB" sz="5600" dirty="0"/>
              <a:t>Finding the Evidence: </a:t>
            </a:r>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C9665DE-E255-C0C9-5683-EF6F72C9C327}"/>
              </a:ext>
            </a:extLst>
          </p:cNvPr>
          <p:cNvSpPr>
            <a:spLocks noGrp="1"/>
          </p:cNvSpPr>
          <p:nvPr>
            <p:ph idx="1"/>
          </p:nvPr>
        </p:nvSpPr>
        <p:spPr>
          <a:xfrm>
            <a:off x="4909279" y="1338729"/>
            <a:ext cx="7143513" cy="4180542"/>
          </a:xfrm>
        </p:spPr>
        <p:txBody>
          <a:bodyPr anchor="ctr">
            <a:normAutofit/>
          </a:bodyPr>
          <a:lstStyle/>
          <a:p>
            <a:pPr marL="0" indent="0">
              <a:buNone/>
            </a:pPr>
            <a:r>
              <a:rPr lang="en-GB" sz="2400" dirty="0"/>
              <a:t>Step of the process: </a:t>
            </a:r>
          </a:p>
          <a:p>
            <a:pPr marL="457200" indent="-457200">
              <a:buFont typeface="+mj-lt"/>
              <a:buAutoNum type="arabicPeriod"/>
            </a:pPr>
            <a:r>
              <a:rPr lang="en-GB" sz="2400" dirty="0"/>
              <a:t>Asking answerable questions </a:t>
            </a:r>
          </a:p>
          <a:p>
            <a:pPr marL="457200" indent="-457200">
              <a:buFont typeface="+mj-lt"/>
              <a:buAutoNum type="arabicPeriod"/>
            </a:pPr>
            <a:r>
              <a:rPr lang="en-GB" sz="2400" dirty="0"/>
              <a:t>Identifying synonyms and building search strategies </a:t>
            </a:r>
          </a:p>
          <a:p>
            <a:pPr marL="457200" indent="-457200">
              <a:buFont typeface="+mj-lt"/>
              <a:buAutoNum type="arabicPeriod"/>
            </a:pPr>
            <a:r>
              <a:rPr lang="en-GB" sz="2400" dirty="0"/>
              <a:t>Identifying appropriate information sources</a:t>
            </a:r>
          </a:p>
          <a:p>
            <a:pPr marL="457200" indent="-457200">
              <a:buFont typeface="+mj-lt"/>
              <a:buAutoNum type="arabicPeriod"/>
            </a:pPr>
            <a:r>
              <a:rPr lang="en-GB" sz="2400" dirty="0"/>
              <a:t>Searching for evidence </a:t>
            </a:r>
          </a:p>
          <a:p>
            <a:pPr marL="457200" indent="-457200">
              <a:buFont typeface="+mj-lt"/>
              <a:buAutoNum type="arabicPeriod"/>
            </a:pPr>
            <a:r>
              <a:rPr lang="en-GB" sz="2400" dirty="0"/>
              <a:t>Appraising results</a:t>
            </a:r>
          </a:p>
        </p:txBody>
      </p:sp>
    </p:spTree>
    <p:extLst>
      <p:ext uri="{BB962C8B-B14F-4D97-AF65-F5344CB8AC3E}">
        <p14:creationId xmlns:p14="http://schemas.microsoft.com/office/powerpoint/2010/main" val="3304149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2CA26F90-C52F-39E1-C137-B206495FF9D1}"/>
              </a:ext>
            </a:extLst>
          </p:cNvPr>
          <p:cNvSpPr>
            <a:spLocks noGrp="1"/>
          </p:cNvSpPr>
          <p:nvPr>
            <p:ph type="title"/>
          </p:nvPr>
        </p:nvSpPr>
        <p:spPr>
          <a:xfrm>
            <a:off x="838201" y="3998018"/>
            <a:ext cx="3981854" cy="2216513"/>
          </a:xfrm>
        </p:spPr>
        <p:txBody>
          <a:bodyPr>
            <a:normAutofit/>
          </a:bodyPr>
          <a:lstStyle/>
          <a:p>
            <a:br>
              <a:rPr lang="en-GB" dirty="0"/>
            </a:br>
            <a:r>
              <a:rPr lang="en-GB" dirty="0"/>
              <a:t>1- PICO Questions</a:t>
            </a:r>
          </a:p>
        </p:txBody>
      </p:sp>
      <p:sp>
        <p:nvSpPr>
          <p:cNvPr id="32" name="Arc 31">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1D9475BD-D8CC-BF03-51B0-A2BDFA91B2F5}"/>
              </a:ext>
            </a:extLst>
          </p:cNvPr>
          <p:cNvPicPr>
            <a:picLocks noChangeAspect="1"/>
          </p:cNvPicPr>
          <p:nvPr/>
        </p:nvPicPr>
        <p:blipFill>
          <a:blip r:embed="rId2"/>
          <a:stretch>
            <a:fillRect/>
          </a:stretch>
        </p:blipFill>
        <p:spPr>
          <a:xfrm>
            <a:off x="659914" y="742677"/>
            <a:ext cx="10872172" cy="2881125"/>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6" name="Content Placeholder 5">
            <a:extLst>
              <a:ext uri="{FF2B5EF4-FFF2-40B4-BE49-F238E27FC236}">
                <a16:creationId xmlns:a16="http://schemas.microsoft.com/office/drawing/2014/main" id="{8788069D-FD45-2F36-80E8-B9EB51CF7EE7}"/>
              </a:ext>
            </a:extLst>
          </p:cNvPr>
          <p:cNvSpPr txBox="1">
            <a:spLocks noGrp="1"/>
          </p:cNvSpPr>
          <p:nvPr>
            <p:ph idx="1"/>
          </p:nvPr>
        </p:nvSpPr>
        <p:spPr>
          <a:xfrm>
            <a:off x="4970835" y="3998019"/>
            <a:ext cx="6382966" cy="2216512"/>
          </a:xfrm>
          <a:prstGeom prst="rect">
            <a:avLst/>
          </a:prstGeom>
        </p:spPr>
        <p:txBody>
          <a:bodyPr>
            <a:normAutofit/>
          </a:bodyPr>
          <a:lstStyle/>
          <a:p>
            <a:pPr marL="914400" lvl="2" indent="0">
              <a:buNone/>
            </a:pPr>
            <a:r>
              <a:rPr lang="en-GB"/>
              <a:t>This framework (PICO) helps determine: </a:t>
            </a:r>
          </a:p>
          <a:p>
            <a:pPr marL="914400" lvl="2" indent="0">
              <a:buNone/>
            </a:pPr>
            <a:r>
              <a:rPr lang="en-GB"/>
              <a:t>• </a:t>
            </a:r>
            <a:r>
              <a:rPr lang="en-GB" b="1"/>
              <a:t>Population</a:t>
            </a:r>
            <a:r>
              <a:rPr lang="en-GB"/>
              <a:t> of interest</a:t>
            </a:r>
          </a:p>
          <a:p>
            <a:pPr marL="914400" lvl="2" indent="0">
              <a:buNone/>
            </a:pPr>
            <a:r>
              <a:rPr lang="en-GB"/>
              <a:t>•</a:t>
            </a:r>
            <a:r>
              <a:rPr lang="en-GB" b="1"/>
              <a:t> Intervention </a:t>
            </a:r>
            <a:r>
              <a:rPr lang="en-GB"/>
              <a:t>or treatment you’re interested in</a:t>
            </a:r>
          </a:p>
          <a:p>
            <a:pPr marL="914400" lvl="2" indent="0">
              <a:buNone/>
            </a:pPr>
            <a:r>
              <a:rPr lang="en-GB"/>
              <a:t>• </a:t>
            </a:r>
            <a:r>
              <a:rPr lang="en-GB" b="1"/>
              <a:t>Comparison </a:t>
            </a:r>
            <a:r>
              <a:rPr lang="en-GB"/>
              <a:t>that’s important or relevant to consider</a:t>
            </a:r>
          </a:p>
          <a:p>
            <a:pPr marL="914400" lvl="2" indent="0">
              <a:buNone/>
            </a:pPr>
            <a:r>
              <a:rPr lang="en-GB"/>
              <a:t>• </a:t>
            </a:r>
            <a:r>
              <a:rPr lang="en-GB" b="1"/>
              <a:t>Outcome</a:t>
            </a:r>
            <a:r>
              <a:rPr lang="en-GB"/>
              <a:t> of interest.</a:t>
            </a:r>
          </a:p>
        </p:txBody>
      </p:sp>
    </p:spTree>
    <p:extLst>
      <p:ext uri="{BB962C8B-B14F-4D97-AF65-F5344CB8AC3E}">
        <p14:creationId xmlns:p14="http://schemas.microsoft.com/office/powerpoint/2010/main" val="4291646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D147E7-BC75-BD7B-EEB8-F59D77ADD140}"/>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PICO Examples</a:t>
            </a:r>
          </a:p>
        </p:txBody>
      </p:sp>
      <p:pic>
        <p:nvPicPr>
          <p:cNvPr id="6" name="Picture 5">
            <a:extLst>
              <a:ext uri="{FF2B5EF4-FFF2-40B4-BE49-F238E27FC236}">
                <a16:creationId xmlns:a16="http://schemas.microsoft.com/office/drawing/2014/main" id="{92DCA708-85AB-AEE0-9C04-C9672168BB3D}"/>
              </a:ext>
            </a:extLst>
          </p:cNvPr>
          <p:cNvPicPr>
            <a:picLocks noChangeAspect="1"/>
          </p:cNvPicPr>
          <p:nvPr/>
        </p:nvPicPr>
        <p:blipFill>
          <a:blip r:embed="rId2"/>
          <a:srcRect l="7746" t="8158" r="6004" b="1488"/>
          <a:stretch/>
        </p:blipFill>
        <p:spPr>
          <a:xfrm>
            <a:off x="3521106" y="925497"/>
            <a:ext cx="8549351" cy="5007006"/>
          </a:xfrm>
          <a:prstGeom prst="rect">
            <a:avLst/>
          </a:prstGeom>
        </p:spPr>
      </p:pic>
    </p:spTree>
    <p:extLst>
      <p:ext uri="{BB962C8B-B14F-4D97-AF65-F5344CB8AC3E}">
        <p14:creationId xmlns:p14="http://schemas.microsoft.com/office/powerpoint/2010/main" val="2311923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ight Triangle 11">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F8685D-6041-8B1C-D14B-6CA0414A85A9}"/>
              </a:ext>
            </a:extLst>
          </p:cNvPr>
          <p:cNvSpPr>
            <a:spLocks noGrp="1"/>
          </p:cNvSpPr>
          <p:nvPr>
            <p:ph type="title"/>
          </p:nvPr>
        </p:nvSpPr>
        <p:spPr>
          <a:xfrm>
            <a:off x="1006900" y="1188637"/>
            <a:ext cx="3141430" cy="4480726"/>
          </a:xfrm>
        </p:spPr>
        <p:txBody>
          <a:bodyPr>
            <a:normAutofit/>
          </a:bodyPr>
          <a:lstStyle/>
          <a:p>
            <a:pPr algn="ctr"/>
            <a:r>
              <a:rPr lang="en-GB" sz="5600" dirty="0"/>
              <a:t>Finding the Evidence: </a:t>
            </a:r>
          </a:p>
        </p:txBody>
      </p:sp>
      <p:cxnSp>
        <p:nvCxnSpPr>
          <p:cNvPr id="16" name="Straight Connector 15">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C9665DE-E255-C0C9-5683-EF6F72C9C327}"/>
              </a:ext>
            </a:extLst>
          </p:cNvPr>
          <p:cNvSpPr>
            <a:spLocks noGrp="1"/>
          </p:cNvSpPr>
          <p:nvPr>
            <p:ph idx="1"/>
          </p:nvPr>
        </p:nvSpPr>
        <p:spPr>
          <a:xfrm>
            <a:off x="4909279" y="1338729"/>
            <a:ext cx="7143513" cy="4180542"/>
          </a:xfrm>
        </p:spPr>
        <p:txBody>
          <a:bodyPr anchor="ctr">
            <a:normAutofit/>
          </a:bodyPr>
          <a:lstStyle/>
          <a:p>
            <a:pPr marL="0" indent="0">
              <a:buNone/>
            </a:pPr>
            <a:r>
              <a:rPr lang="en-GB" sz="2400" dirty="0"/>
              <a:t>Step of the process: </a:t>
            </a:r>
          </a:p>
          <a:p>
            <a:pPr marL="457200" indent="-457200">
              <a:buFont typeface="+mj-lt"/>
              <a:buAutoNum type="arabicPeriod"/>
            </a:pPr>
            <a:r>
              <a:rPr lang="en-GB" sz="2400" dirty="0"/>
              <a:t>Asking answerable questions </a:t>
            </a:r>
          </a:p>
          <a:p>
            <a:pPr marL="457200" indent="-457200">
              <a:buFont typeface="+mj-lt"/>
              <a:buAutoNum type="arabicPeriod"/>
            </a:pPr>
            <a:r>
              <a:rPr lang="en-GB" sz="2400" dirty="0"/>
              <a:t>Identifying synonyms and building search strategies </a:t>
            </a:r>
          </a:p>
          <a:p>
            <a:pPr marL="457200" indent="-457200">
              <a:buFont typeface="+mj-lt"/>
              <a:buAutoNum type="arabicPeriod"/>
            </a:pPr>
            <a:r>
              <a:rPr lang="en-GB" sz="2400" dirty="0"/>
              <a:t>Identifying appropriate information sources</a:t>
            </a:r>
          </a:p>
          <a:p>
            <a:pPr marL="457200" indent="-457200">
              <a:buFont typeface="+mj-lt"/>
              <a:buAutoNum type="arabicPeriod"/>
            </a:pPr>
            <a:r>
              <a:rPr lang="en-GB" sz="2400" dirty="0"/>
              <a:t>Searching for evidence </a:t>
            </a:r>
          </a:p>
          <a:p>
            <a:pPr marL="457200" indent="-457200">
              <a:buFont typeface="+mj-lt"/>
              <a:buAutoNum type="arabicPeriod"/>
            </a:pPr>
            <a:r>
              <a:rPr lang="en-GB" sz="2400" dirty="0"/>
              <a:t>Appraising results</a:t>
            </a:r>
          </a:p>
        </p:txBody>
      </p:sp>
    </p:spTree>
    <p:extLst>
      <p:ext uri="{BB962C8B-B14F-4D97-AF65-F5344CB8AC3E}">
        <p14:creationId xmlns:p14="http://schemas.microsoft.com/office/powerpoint/2010/main" val="396973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9E553F-D938-2E2A-3130-A0151D34934B}"/>
              </a:ext>
            </a:extLst>
          </p:cNvPr>
          <p:cNvSpPr>
            <a:spLocks noGrp="1"/>
          </p:cNvSpPr>
          <p:nvPr>
            <p:ph type="title"/>
          </p:nvPr>
        </p:nvSpPr>
        <p:spPr>
          <a:xfrm>
            <a:off x="630936" y="502920"/>
            <a:ext cx="3419856" cy="1463040"/>
          </a:xfrm>
        </p:spPr>
        <p:txBody>
          <a:bodyPr anchor="ctr">
            <a:normAutofit/>
          </a:bodyPr>
          <a:lstStyle/>
          <a:p>
            <a:r>
              <a:rPr lang="en-GB" sz="3000" b="1" dirty="0"/>
              <a:t>Identify synonyms and build search strategy </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7757422-95D5-860B-315F-D14D57D0E3F9}"/>
              </a:ext>
            </a:extLst>
          </p:cNvPr>
          <p:cNvSpPr>
            <a:spLocks noGrp="1"/>
          </p:cNvSpPr>
          <p:nvPr>
            <p:ph idx="1"/>
          </p:nvPr>
        </p:nvSpPr>
        <p:spPr>
          <a:xfrm>
            <a:off x="4654295" y="502920"/>
            <a:ext cx="6894576" cy="1463040"/>
          </a:xfrm>
        </p:spPr>
        <p:txBody>
          <a:bodyPr anchor="ctr">
            <a:normAutofit/>
          </a:bodyPr>
          <a:lstStyle/>
          <a:p>
            <a:r>
              <a:rPr lang="en-GB" sz="1700" dirty="0"/>
              <a:t>Once you have all the relevant columns populated with the key concepts and related terms, then it is time to combine them.</a:t>
            </a:r>
          </a:p>
          <a:p>
            <a:r>
              <a:rPr lang="en-GB" sz="1700" dirty="0"/>
              <a:t> Within each column, you combine all the terms using the Boolean operator </a:t>
            </a:r>
            <a:r>
              <a:rPr lang="en-GB" sz="1700" b="1" u="sng" dirty="0"/>
              <a:t>OR. </a:t>
            </a:r>
            <a:r>
              <a:rPr lang="en-GB" sz="1700" dirty="0"/>
              <a:t>Then, when those have all been combined, you combine all the columns with the Boolean operator </a:t>
            </a:r>
            <a:r>
              <a:rPr lang="en-GB" sz="1700" b="1" u="sng" dirty="0"/>
              <a:t>AND. </a:t>
            </a:r>
            <a:endParaRPr lang="en-GB" sz="1700" dirty="0"/>
          </a:p>
        </p:txBody>
      </p:sp>
      <p:pic>
        <p:nvPicPr>
          <p:cNvPr id="5" name="Picture 4">
            <a:extLst>
              <a:ext uri="{FF2B5EF4-FFF2-40B4-BE49-F238E27FC236}">
                <a16:creationId xmlns:a16="http://schemas.microsoft.com/office/drawing/2014/main" id="{EEAAD1A4-8D2D-AA68-8BFB-3FE60BF32022}"/>
              </a:ext>
            </a:extLst>
          </p:cNvPr>
          <p:cNvPicPr>
            <a:picLocks noChangeAspect="1"/>
          </p:cNvPicPr>
          <p:nvPr/>
        </p:nvPicPr>
        <p:blipFill>
          <a:blip r:embed="rId2"/>
          <a:stretch>
            <a:fillRect/>
          </a:stretch>
        </p:blipFill>
        <p:spPr>
          <a:xfrm>
            <a:off x="2096654" y="2610532"/>
            <a:ext cx="7998692" cy="3959352"/>
          </a:xfrm>
          <a:prstGeom prst="rect">
            <a:avLst/>
          </a:prstGeom>
        </p:spPr>
      </p:pic>
    </p:spTree>
    <p:extLst>
      <p:ext uri="{BB962C8B-B14F-4D97-AF65-F5344CB8AC3E}">
        <p14:creationId xmlns:p14="http://schemas.microsoft.com/office/powerpoint/2010/main" val="2766115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B278F-514D-789D-4C82-94F0198C11CE}"/>
              </a:ext>
            </a:extLst>
          </p:cNvPr>
          <p:cNvSpPr>
            <a:spLocks noGrp="1"/>
          </p:cNvSpPr>
          <p:nvPr>
            <p:ph type="title"/>
          </p:nvPr>
        </p:nvSpPr>
        <p:spPr/>
        <p:txBody>
          <a:bodyPr/>
          <a:lstStyle/>
          <a:p>
            <a:r>
              <a:rPr lang="en-GB" dirty="0"/>
              <a:t>Identify appropriate information sources</a:t>
            </a:r>
          </a:p>
        </p:txBody>
      </p:sp>
      <p:sp>
        <p:nvSpPr>
          <p:cNvPr id="4" name="Text Placeholder 3">
            <a:extLst>
              <a:ext uri="{FF2B5EF4-FFF2-40B4-BE49-F238E27FC236}">
                <a16:creationId xmlns:a16="http://schemas.microsoft.com/office/drawing/2014/main" id="{4B444247-D68F-5C73-350D-D14E6A401D54}"/>
              </a:ext>
            </a:extLst>
          </p:cNvPr>
          <p:cNvSpPr>
            <a:spLocks noGrp="1"/>
          </p:cNvSpPr>
          <p:nvPr>
            <p:ph type="body" idx="1"/>
          </p:nvPr>
        </p:nvSpPr>
        <p:spPr/>
        <p:txBody>
          <a:bodyPr anchor="ctr"/>
          <a:lstStyle/>
          <a:p>
            <a:pPr algn="ctr"/>
            <a:r>
              <a:rPr lang="en-GB" dirty="0"/>
              <a:t>Health information portals</a:t>
            </a:r>
          </a:p>
        </p:txBody>
      </p:sp>
      <p:graphicFrame>
        <p:nvGraphicFramePr>
          <p:cNvPr id="8" name="Content Placeholder 2">
            <a:extLst>
              <a:ext uri="{FF2B5EF4-FFF2-40B4-BE49-F238E27FC236}">
                <a16:creationId xmlns:a16="http://schemas.microsoft.com/office/drawing/2014/main" id="{7D7FEEBE-1B91-D14F-9010-795CE54FDE7F}"/>
              </a:ext>
            </a:extLst>
          </p:cNvPr>
          <p:cNvGraphicFramePr>
            <a:graphicFrameLocks noGrp="1"/>
          </p:cNvGraphicFramePr>
          <p:nvPr>
            <p:ph sz="half" idx="2"/>
          </p:nvPr>
        </p:nvGraphicFramePr>
        <p:xfrm>
          <a:off x="839788" y="250507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4">
            <a:extLst>
              <a:ext uri="{FF2B5EF4-FFF2-40B4-BE49-F238E27FC236}">
                <a16:creationId xmlns:a16="http://schemas.microsoft.com/office/drawing/2014/main" id="{AC924294-B47B-C538-F02E-09D50D2984EB}"/>
              </a:ext>
            </a:extLst>
          </p:cNvPr>
          <p:cNvSpPr>
            <a:spLocks noGrp="1"/>
          </p:cNvSpPr>
          <p:nvPr>
            <p:ph type="body" sz="quarter" idx="3"/>
          </p:nvPr>
        </p:nvSpPr>
        <p:spPr/>
        <p:txBody>
          <a:bodyPr anchor="ctr"/>
          <a:lstStyle/>
          <a:p>
            <a:pPr algn="ctr"/>
            <a:r>
              <a:rPr lang="en-GB" dirty="0"/>
              <a:t>Clinical databases</a:t>
            </a:r>
          </a:p>
        </p:txBody>
      </p:sp>
      <p:sp>
        <p:nvSpPr>
          <p:cNvPr id="6" name="Content Placeholder 5">
            <a:extLst>
              <a:ext uri="{FF2B5EF4-FFF2-40B4-BE49-F238E27FC236}">
                <a16:creationId xmlns:a16="http://schemas.microsoft.com/office/drawing/2014/main" id="{41569588-C872-DF91-F94B-90761518A7DA}"/>
              </a:ext>
            </a:extLst>
          </p:cNvPr>
          <p:cNvSpPr>
            <a:spLocks noGrp="1"/>
          </p:cNvSpPr>
          <p:nvPr>
            <p:ph sz="quarter" idx="4"/>
          </p:nvPr>
        </p:nvSpPr>
        <p:spPr/>
        <p:txBody>
          <a:bodyPr>
            <a:normAutofit fontScale="70000" lnSpcReduction="20000"/>
          </a:bodyPr>
          <a:lstStyle/>
          <a:p>
            <a:r>
              <a:rPr lang="en-GB" b="1" dirty="0"/>
              <a:t>The Cochrane Library </a:t>
            </a:r>
            <a:r>
              <a:rPr lang="en-GB" dirty="0"/>
              <a:t>(http://www.thecochranelibrary.com/) contains the highest quality systematic reviews, but only for a limited number of clinical topic areas.</a:t>
            </a:r>
          </a:p>
          <a:p>
            <a:r>
              <a:rPr lang="en-GB" dirty="0"/>
              <a:t>To find other systematic reviews, </a:t>
            </a:r>
            <a:r>
              <a:rPr lang="en-GB" b="1" dirty="0"/>
              <a:t>PubMed/Medline and Embase</a:t>
            </a:r>
          </a:p>
          <a:p>
            <a:r>
              <a:rPr lang="en-GB" b="1" dirty="0"/>
              <a:t>CINAHL </a:t>
            </a:r>
            <a:r>
              <a:rPr lang="en-GB" dirty="0"/>
              <a:t>(Cumulative Index of Nursing and Allied Health Information).</a:t>
            </a:r>
          </a:p>
          <a:p>
            <a:r>
              <a:rPr lang="en-GB" b="1" dirty="0" err="1"/>
              <a:t>PsycInfo</a:t>
            </a:r>
            <a:r>
              <a:rPr lang="en-GB" b="1" dirty="0"/>
              <a:t> </a:t>
            </a:r>
            <a:r>
              <a:rPr lang="en-GB" dirty="0"/>
              <a:t>contains abstracts of research from journals related to mental health and psychology. </a:t>
            </a:r>
          </a:p>
          <a:p>
            <a:r>
              <a:rPr lang="en-GB" b="1" dirty="0"/>
              <a:t>The Campbell Collaboration </a:t>
            </a:r>
            <a:r>
              <a:rPr lang="en-GB" dirty="0"/>
              <a:t>is the social care version of the Cochrane Collaboration</a:t>
            </a:r>
          </a:p>
        </p:txBody>
      </p:sp>
    </p:spTree>
    <p:extLst>
      <p:ext uri="{BB962C8B-B14F-4D97-AF65-F5344CB8AC3E}">
        <p14:creationId xmlns:p14="http://schemas.microsoft.com/office/powerpoint/2010/main" val="4180306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CCC6DD7-9578-2985-A524-B939C3117853}"/>
              </a:ext>
            </a:extLst>
          </p:cNvPr>
          <p:cNvSpPr>
            <a:spLocks noGrp="1"/>
          </p:cNvSpPr>
          <p:nvPr>
            <p:ph type="title"/>
          </p:nvPr>
        </p:nvSpPr>
        <p:spPr>
          <a:xfrm>
            <a:off x="429827" y="2766218"/>
            <a:ext cx="2606336" cy="1325563"/>
          </a:xfrm>
        </p:spPr>
        <p:txBody>
          <a:bodyPr/>
          <a:lstStyle/>
          <a:p>
            <a:r>
              <a:rPr lang="en-GB" dirty="0"/>
              <a:t>Search for Evidence</a:t>
            </a:r>
          </a:p>
        </p:txBody>
      </p:sp>
      <p:pic>
        <p:nvPicPr>
          <p:cNvPr id="10" name="Content Placeholder 9">
            <a:extLst>
              <a:ext uri="{FF2B5EF4-FFF2-40B4-BE49-F238E27FC236}">
                <a16:creationId xmlns:a16="http://schemas.microsoft.com/office/drawing/2014/main" id="{52370181-BCA2-1C7C-C2B6-D5FDC51B2150}"/>
              </a:ext>
            </a:extLst>
          </p:cNvPr>
          <p:cNvPicPr>
            <a:picLocks noGrp="1" noChangeAspect="1"/>
          </p:cNvPicPr>
          <p:nvPr>
            <p:ph idx="1"/>
          </p:nvPr>
        </p:nvPicPr>
        <p:blipFill>
          <a:blip r:embed="rId2"/>
          <a:stretch>
            <a:fillRect/>
          </a:stretch>
        </p:blipFill>
        <p:spPr>
          <a:xfrm>
            <a:off x="3036162" y="209889"/>
            <a:ext cx="9277165" cy="6439486"/>
          </a:xfrm>
          <a:prstGeom prst="rect">
            <a:avLst/>
          </a:prstGeom>
        </p:spPr>
      </p:pic>
    </p:spTree>
    <p:extLst>
      <p:ext uri="{BB962C8B-B14F-4D97-AF65-F5344CB8AC3E}">
        <p14:creationId xmlns:p14="http://schemas.microsoft.com/office/powerpoint/2010/main" val="2412434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65B1066-A4F2-A25C-62FF-135FEB8C629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Hierarchy of Evidence </a:t>
            </a:r>
          </a:p>
        </p:txBody>
      </p:sp>
      <p:pic>
        <p:nvPicPr>
          <p:cNvPr id="5" name="Content Placeholder 4" descr="A blue pyramid with white text&#10;&#10;Description automatically generated">
            <a:extLst>
              <a:ext uri="{FF2B5EF4-FFF2-40B4-BE49-F238E27FC236}">
                <a16:creationId xmlns:a16="http://schemas.microsoft.com/office/drawing/2014/main" id="{E12E6FEA-C1D9-8574-65D1-7129050385F9}"/>
              </a:ext>
            </a:extLst>
          </p:cNvPr>
          <p:cNvPicPr>
            <a:picLocks noGrp="1" noChangeAspect="1"/>
          </p:cNvPicPr>
          <p:nvPr>
            <p:ph idx="1"/>
          </p:nvPr>
        </p:nvPicPr>
        <p:blipFill>
          <a:blip r:embed="rId2"/>
          <a:stretch>
            <a:fillRect/>
          </a:stretch>
        </p:blipFill>
        <p:spPr>
          <a:xfrm>
            <a:off x="4502428" y="836763"/>
            <a:ext cx="7225748" cy="5184474"/>
          </a:xfrm>
          <a:prstGeom prst="rect">
            <a:avLst/>
          </a:prstGeom>
        </p:spPr>
      </p:pic>
    </p:spTree>
    <p:extLst>
      <p:ext uri="{BB962C8B-B14F-4D97-AF65-F5344CB8AC3E}">
        <p14:creationId xmlns:p14="http://schemas.microsoft.com/office/powerpoint/2010/main" val="118335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1123</Words>
  <Application>Microsoft Office PowerPoint</Application>
  <PresentationFormat>Widescreen</PresentationFormat>
  <Paragraphs>85</Paragraphs>
  <Slides>19</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PT4053: Sources of Information: Databases</vt:lpstr>
      <vt:lpstr>Learning outcomes</vt:lpstr>
      <vt:lpstr>Databases</vt:lpstr>
      <vt:lpstr>What are ‘levels of evidence’?</vt:lpstr>
      <vt:lpstr>What are ‘levels of evidence’?</vt:lpstr>
      <vt:lpstr>I have limited time to search for and appraise evidence.  Where do I start?</vt:lpstr>
      <vt:lpstr>Cochran Database of Systematic Reviews</vt:lpstr>
      <vt:lpstr>Guidelines:</vt:lpstr>
      <vt:lpstr>Academic databases to find peer-reviewed publications</vt:lpstr>
      <vt:lpstr> Free evidence search engines</vt:lpstr>
      <vt:lpstr>The following search engines aim to link to high quality evidence, with full text articles freely available in some cases. </vt:lpstr>
      <vt:lpstr>Finding the Evidence: </vt:lpstr>
      <vt:lpstr> 1- PICO Questions</vt:lpstr>
      <vt:lpstr>PICO Examples</vt:lpstr>
      <vt:lpstr>Finding the Evidence: </vt:lpstr>
      <vt:lpstr>Identify synonyms and build search strategy </vt:lpstr>
      <vt:lpstr>Identify appropriate information sources</vt:lpstr>
      <vt:lpstr>Search for Evidence</vt:lpstr>
      <vt:lpstr>Hierarchy of Evidence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Walaa Abu-Taleb</dc:creator>
  <cp:lastModifiedBy>Walaa Abu-Taleb</cp:lastModifiedBy>
  <cp:revision>7</cp:revision>
  <dcterms:created xsi:type="dcterms:W3CDTF">2024-10-14T11:22:11Z</dcterms:created>
  <dcterms:modified xsi:type="dcterms:W3CDTF">2024-10-21T12:46:06Z</dcterms:modified>
</cp:coreProperties>
</file>