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2" r:id="rId1"/>
  </p:sldMasterIdLst>
  <p:notesMasterIdLst>
    <p:notesMasterId r:id="rId21"/>
  </p:notesMasterIdLst>
  <p:sldIdLst>
    <p:sldId id="305" r:id="rId2"/>
    <p:sldId id="304" r:id="rId3"/>
    <p:sldId id="330" r:id="rId4"/>
    <p:sldId id="333" r:id="rId5"/>
    <p:sldId id="343" r:id="rId6"/>
    <p:sldId id="341" r:id="rId7"/>
    <p:sldId id="331" r:id="rId8"/>
    <p:sldId id="332" r:id="rId9"/>
    <p:sldId id="342" r:id="rId10"/>
    <p:sldId id="345" r:id="rId11"/>
    <p:sldId id="346" r:id="rId12"/>
    <p:sldId id="334" r:id="rId13"/>
    <p:sldId id="335" r:id="rId14"/>
    <p:sldId id="337" r:id="rId15"/>
    <p:sldId id="338" r:id="rId16"/>
    <p:sldId id="339" r:id="rId17"/>
    <p:sldId id="344" r:id="rId18"/>
    <p:sldId id="348" r:id="rId19"/>
    <p:sldId id="32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FCB7E61-C28B-9F4C-AD0B-53D8D47450D3}">
          <p14:sldIdLst>
            <p14:sldId id="305"/>
            <p14:sldId id="304"/>
          </p14:sldIdLst>
        </p14:section>
        <p14:section name="Changes of muscle mass" id="{69D2DDE8-8108-BB48-8A99-8FFAFDC6FD7B}">
          <p14:sldIdLst>
            <p14:sldId id="330"/>
            <p14:sldId id="333"/>
            <p14:sldId id="343"/>
            <p14:sldId id="341"/>
            <p14:sldId id="331"/>
            <p14:sldId id="332"/>
            <p14:sldId id="342"/>
            <p14:sldId id="345"/>
            <p14:sldId id="346"/>
            <p14:sldId id="334"/>
          </p14:sldIdLst>
        </p14:section>
        <p14:section name="Falls" id="{DFB070A3-137D-BF42-8120-4A2185A26642}">
          <p14:sldIdLst>
            <p14:sldId id="335"/>
            <p14:sldId id="337"/>
            <p14:sldId id="338"/>
            <p14:sldId id="339"/>
            <p14:sldId id="344"/>
            <p14:sldId id="348"/>
            <p14:sldId id="32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0"/>
    <p:restoredTop sz="68844"/>
  </p:normalViewPr>
  <p:slideViewPr>
    <p:cSldViewPr snapToGrid="0">
      <p:cViewPr varScale="1">
        <p:scale>
          <a:sx n="86" d="100"/>
          <a:sy n="86" d="100"/>
        </p:scale>
        <p:origin x="159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C539C3-D557-2C4B-B528-1BC075A62036}" type="datetimeFigureOut">
              <a:rPr lang="en-US" smtClean="0"/>
              <a:t>11/28/23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BC62E9-DD8E-A840-A973-64C464DD0F3C}" type="slidenum">
              <a:rPr lang="en-US" smtClean="0"/>
              <a:t>‹#›</a:t>
            </a:fld>
            <a:endParaRPr lang="en-US"/>
          </a:p>
        </p:txBody>
      </p:sp>
    </p:spTree>
    <p:extLst>
      <p:ext uri="{BB962C8B-B14F-4D97-AF65-F5344CB8AC3E}">
        <p14:creationId xmlns:p14="http://schemas.microsoft.com/office/powerpoint/2010/main" val="3604590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8" Type="http://schemas.openxmlformats.org/officeDocument/2006/relationships/hyperlink" Target="https://www.physio-pedia.com/Hip_Osteoarthritis" TargetMode="External"/><Relationship Id="rId3" Type="http://schemas.openxmlformats.org/officeDocument/2006/relationships/hyperlink" Target="https://www.physio-pedia.com/Diabetes" TargetMode="External"/><Relationship Id="rId7" Type="http://schemas.openxmlformats.org/officeDocument/2006/relationships/hyperlink" Target="https://www.physio-pedia.com/Heart_Failure" TargetMode="External"/><Relationship Id="rId12" Type="http://schemas.openxmlformats.org/officeDocument/2006/relationships/hyperlink" Target="https://www.physio-pedia.com/Chronic_Kidney_Disease"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www.physio-pedia.com/COPD" TargetMode="External"/><Relationship Id="rId11" Type="http://schemas.openxmlformats.org/officeDocument/2006/relationships/hyperlink" Target="https://www.physio-pedia.com/Stroke" TargetMode="External"/><Relationship Id="rId5" Type="http://schemas.openxmlformats.org/officeDocument/2006/relationships/hyperlink" Target="https://www.physio-pedia.com/COPD_(Chronic_Obstructive_Pulmonary_Disease)" TargetMode="External"/><Relationship Id="rId10" Type="http://schemas.openxmlformats.org/officeDocument/2006/relationships/hyperlink" Target="https://www.physio-pedia.com/Cancer_pain" TargetMode="External"/><Relationship Id="rId4" Type="http://schemas.openxmlformats.org/officeDocument/2006/relationships/hyperlink" Target="https://www.physio-pedia.com/Metabolic_and_Endocrine_Disorders" TargetMode="External"/><Relationship Id="rId9" Type="http://schemas.openxmlformats.org/officeDocument/2006/relationships/hyperlink" Target="https://www.physio-pedia.com/Parkinsons_Disease"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physio-pedia.com/Falls#cite_note-5"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u="none" strike="noStrike" dirty="0">
                <a:solidFill>
                  <a:srgbClr val="000000"/>
                </a:solidFill>
                <a:effectLst/>
                <a:latin typeface="Charter" panose="02040503050506020203" pitchFamily="18" charset="0"/>
              </a:rPr>
              <a:t>world record for the 70+ age category at Belgium’s </a:t>
            </a:r>
            <a:r>
              <a:rPr lang="en-GB" b="0" i="0" u="none" strike="noStrike" dirty="0" err="1">
                <a:solidFill>
                  <a:srgbClr val="000000"/>
                </a:solidFill>
                <a:effectLst/>
                <a:latin typeface="Charter" panose="02040503050506020203" pitchFamily="18" charset="0"/>
              </a:rPr>
              <a:t>Maasmarathon</a:t>
            </a:r>
            <a:r>
              <a:rPr lang="en-GB" b="0" i="0" u="none" strike="noStrike" dirty="0">
                <a:solidFill>
                  <a:srgbClr val="000000"/>
                </a:solidFill>
                <a:effectLst/>
                <a:latin typeface="Charter" panose="02040503050506020203" pitchFamily="18" charset="0"/>
              </a:rPr>
              <a:t> of </a:t>
            </a:r>
            <a:r>
              <a:rPr lang="en-GB" b="0" i="0" u="none" strike="noStrike" dirty="0" err="1">
                <a:solidFill>
                  <a:srgbClr val="000000"/>
                </a:solidFill>
                <a:effectLst/>
                <a:latin typeface="Charter" panose="02040503050506020203" pitchFamily="18" charset="0"/>
              </a:rPr>
              <a:t>Visé</a:t>
            </a:r>
            <a:endParaRPr lang="en-GB" b="0" i="0" u="none" strike="noStrike" dirty="0">
              <a:solidFill>
                <a:srgbClr val="000000"/>
              </a:solidFill>
              <a:effectLst/>
              <a:latin typeface="Charter" panose="02040503050506020203" pitchFamily="18" charset="0"/>
            </a:endParaRPr>
          </a:p>
          <a:p>
            <a:r>
              <a:rPr lang="en-GB" b="0" i="0" u="none" strike="noStrike" dirty="0" err="1">
                <a:solidFill>
                  <a:srgbClr val="000000"/>
                </a:solidFill>
                <a:effectLst/>
                <a:latin typeface="Charter" panose="02040503050506020203" pitchFamily="18" charset="0"/>
              </a:rPr>
              <a:t>Schoonbroodt</a:t>
            </a:r>
            <a:r>
              <a:rPr lang="en-GB" b="0" i="0" u="none" strike="noStrike" dirty="0">
                <a:solidFill>
                  <a:srgbClr val="000000"/>
                </a:solidFill>
                <a:effectLst/>
                <a:latin typeface="Charter" panose="02040503050506020203" pitchFamily="18" charset="0"/>
              </a:rPr>
              <a:t>, from Maastricht in the Netherlands, crossed the finish line in a blisteringly quick 2:54:19. </a:t>
            </a:r>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1</a:t>
            </a:fld>
            <a:endParaRPr lang="en-US"/>
          </a:p>
        </p:txBody>
      </p:sp>
    </p:spTree>
    <p:extLst>
      <p:ext uri="{BB962C8B-B14F-4D97-AF65-F5344CB8AC3E}">
        <p14:creationId xmlns:p14="http://schemas.microsoft.com/office/powerpoint/2010/main" val="3832843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 horsepower lifts 550 lb by 1 foot in 1 second</a:t>
            </a:r>
          </a:p>
        </p:txBody>
      </p:sp>
      <p:sp>
        <p:nvSpPr>
          <p:cNvPr id="4" name="Slide Number Placeholder 3"/>
          <p:cNvSpPr>
            <a:spLocks noGrp="1"/>
          </p:cNvSpPr>
          <p:nvPr>
            <p:ph type="sldNum" sz="quarter" idx="5"/>
          </p:nvPr>
        </p:nvSpPr>
        <p:spPr/>
        <p:txBody>
          <a:bodyPr/>
          <a:lstStyle/>
          <a:p>
            <a:fld id="{351CA05B-4666-C243-B26B-0D8F1F7B965D}" type="slidenum">
              <a:rPr lang="en-US" smtClean="0"/>
              <a:t>2</a:t>
            </a:fld>
            <a:endParaRPr lang="en-US"/>
          </a:p>
        </p:txBody>
      </p:sp>
    </p:spTree>
    <p:extLst>
      <p:ext uri="{BB962C8B-B14F-4D97-AF65-F5344CB8AC3E}">
        <p14:creationId xmlns:p14="http://schemas.microsoft.com/office/powerpoint/2010/main" val="35253737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 horsepower lifts 550 lb by 1 foot in 1 second</a:t>
            </a:r>
          </a:p>
        </p:txBody>
      </p:sp>
      <p:sp>
        <p:nvSpPr>
          <p:cNvPr id="4" name="Slide Number Placeholder 3"/>
          <p:cNvSpPr>
            <a:spLocks noGrp="1"/>
          </p:cNvSpPr>
          <p:nvPr>
            <p:ph type="sldNum" sz="quarter" idx="5"/>
          </p:nvPr>
        </p:nvSpPr>
        <p:spPr/>
        <p:txBody>
          <a:bodyPr/>
          <a:lstStyle/>
          <a:p>
            <a:fld id="{351CA05B-4666-C243-B26B-0D8F1F7B965D}" type="slidenum">
              <a:rPr lang="en-US" smtClean="0"/>
              <a:t>3</a:t>
            </a:fld>
            <a:endParaRPr lang="en-US"/>
          </a:p>
        </p:txBody>
      </p:sp>
    </p:spTree>
    <p:extLst>
      <p:ext uri="{BB962C8B-B14F-4D97-AF65-F5344CB8AC3E}">
        <p14:creationId xmlns:p14="http://schemas.microsoft.com/office/powerpoint/2010/main" val="3770908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 horsepower lifts 550 lb by 1 foot in 1 second</a:t>
            </a:r>
          </a:p>
        </p:txBody>
      </p:sp>
      <p:sp>
        <p:nvSpPr>
          <p:cNvPr id="4" name="Slide Number Placeholder 3"/>
          <p:cNvSpPr>
            <a:spLocks noGrp="1"/>
          </p:cNvSpPr>
          <p:nvPr>
            <p:ph type="sldNum" sz="quarter" idx="5"/>
          </p:nvPr>
        </p:nvSpPr>
        <p:spPr/>
        <p:txBody>
          <a:bodyPr/>
          <a:lstStyle/>
          <a:p>
            <a:fld id="{351CA05B-4666-C243-B26B-0D8F1F7B965D}" type="slidenum">
              <a:rPr lang="en-US" smtClean="0"/>
              <a:t>4</a:t>
            </a:fld>
            <a:endParaRPr lang="en-US"/>
          </a:p>
        </p:txBody>
      </p:sp>
    </p:spTree>
    <p:extLst>
      <p:ext uri="{BB962C8B-B14F-4D97-AF65-F5344CB8AC3E}">
        <p14:creationId xmlns:p14="http://schemas.microsoft.com/office/powerpoint/2010/main" val="794464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u="none" strike="noStrike" dirty="0">
                <a:solidFill>
                  <a:srgbClr val="020621"/>
                </a:solidFill>
                <a:effectLst/>
                <a:latin typeface="tisapro-regular"/>
              </a:rPr>
              <a:t>Increased intramuscular adipose tissue with older inpatients who were unable to walk independently as compared to older inpatients who were able to walk freely</a:t>
            </a:r>
          </a:p>
          <a:p>
            <a:endParaRPr lang="en-GB" b="0" i="0" u="none" strike="noStrike" dirty="0">
              <a:solidFill>
                <a:srgbClr val="020621"/>
              </a:solidFill>
              <a:effectLst/>
              <a:latin typeface="tisapro-regular"/>
            </a:endParaRPr>
          </a:p>
          <a:p>
            <a:r>
              <a:rPr lang="en-GB" b="0" i="0" u="none" strike="noStrike" dirty="0">
                <a:solidFill>
                  <a:srgbClr val="020621"/>
                </a:solidFill>
                <a:effectLst/>
                <a:latin typeface="tisapro-regular"/>
              </a:rPr>
              <a:t>The decline in muscle cross-sectional area is most likely due to decreases in total </a:t>
            </a:r>
            <a:r>
              <a:rPr lang="en-GB" b="0" i="0" u="none" strike="noStrike" dirty="0" err="1">
                <a:solidFill>
                  <a:srgbClr val="020621"/>
                </a:solidFill>
                <a:effectLst/>
                <a:latin typeface="tisapro-regular"/>
              </a:rPr>
              <a:t>fiber</a:t>
            </a:r>
            <a:r>
              <a:rPr lang="en-GB" b="0" i="0" u="none" strike="noStrike" dirty="0">
                <a:solidFill>
                  <a:srgbClr val="020621"/>
                </a:solidFill>
                <a:effectLst/>
                <a:latin typeface="tisapro-regular"/>
              </a:rPr>
              <a:t> number, especially type II fast-twitch glycolytic </a:t>
            </a:r>
            <a:r>
              <a:rPr lang="en-GB" b="0" i="0" u="none" strike="noStrike" dirty="0" err="1">
                <a:solidFill>
                  <a:srgbClr val="020621"/>
                </a:solidFill>
                <a:effectLst/>
                <a:latin typeface="tisapro-regular"/>
              </a:rPr>
              <a:t>fibers</a:t>
            </a:r>
            <a:endParaRPr lang="en-GB" b="0" i="0" u="none" strike="noStrike" dirty="0">
              <a:solidFill>
                <a:srgbClr val="020621"/>
              </a:solidFill>
              <a:effectLst/>
              <a:latin typeface="tisapro-regular"/>
            </a:endParaRPr>
          </a:p>
          <a:p>
            <a:endParaRPr lang="en-GB" b="0" i="0" u="none" strike="noStrike" dirty="0">
              <a:solidFill>
                <a:srgbClr val="020621"/>
              </a:solidFill>
              <a:effectLst/>
              <a:latin typeface="tisapro-regular"/>
            </a:endParaRPr>
          </a:p>
          <a:p>
            <a:r>
              <a:rPr lang="en-GB" b="0" i="0" u="none" strike="noStrike" dirty="0">
                <a:solidFill>
                  <a:srgbClr val="020621"/>
                </a:solidFill>
                <a:effectLst/>
                <a:latin typeface="tisapro-regular"/>
              </a:rPr>
              <a:t>Types IIA and IIB muscle </a:t>
            </a:r>
            <a:r>
              <a:rPr lang="en-GB" b="0" i="0" u="none" strike="noStrike" dirty="0" err="1">
                <a:solidFill>
                  <a:srgbClr val="020621"/>
                </a:solidFill>
                <a:effectLst/>
                <a:latin typeface="tisapro-regular"/>
              </a:rPr>
              <a:t>fibers</a:t>
            </a:r>
            <a:r>
              <a:rPr lang="en-GB" b="0" i="0" u="none" strike="noStrike" dirty="0">
                <a:solidFill>
                  <a:srgbClr val="020621"/>
                </a:solidFill>
                <a:effectLst/>
                <a:latin typeface="tisapro-regular"/>
              </a:rPr>
              <a:t> decrease with age in the area percentage, </a:t>
            </a:r>
            <a:r>
              <a:rPr lang="en-GB" b="0" i="0" u="none" strike="noStrike" dirty="0" err="1">
                <a:solidFill>
                  <a:srgbClr val="020621"/>
                </a:solidFill>
                <a:effectLst/>
                <a:latin typeface="tisapro-regular"/>
              </a:rPr>
              <a:t>fiber</a:t>
            </a:r>
            <a:r>
              <a:rPr lang="en-GB" b="0" i="0" u="none" strike="noStrike" dirty="0">
                <a:solidFill>
                  <a:srgbClr val="020621"/>
                </a:solidFill>
                <a:effectLst/>
                <a:latin typeface="tisapro-regular"/>
              </a:rPr>
              <a:t> number percentage, and mean </a:t>
            </a:r>
            <a:r>
              <a:rPr lang="en-GB" b="0" i="0" u="none" strike="noStrike" dirty="0" err="1">
                <a:solidFill>
                  <a:srgbClr val="020621"/>
                </a:solidFill>
                <a:effectLst/>
                <a:latin typeface="tisapro-regular"/>
              </a:rPr>
              <a:t>fiber</a:t>
            </a:r>
            <a:r>
              <a:rPr lang="en-GB" b="0" i="0" u="none" strike="noStrike" dirty="0">
                <a:solidFill>
                  <a:srgbClr val="020621"/>
                </a:solidFill>
                <a:effectLst/>
                <a:latin typeface="tisapro-regular"/>
              </a:rPr>
              <a:t> area, whereas Type I </a:t>
            </a:r>
            <a:r>
              <a:rPr lang="en-GB" b="0" i="0" u="none" strike="noStrike" dirty="0" err="1">
                <a:solidFill>
                  <a:srgbClr val="020621"/>
                </a:solidFill>
                <a:effectLst/>
                <a:latin typeface="tisapro-regular"/>
              </a:rPr>
              <a:t>fibers</a:t>
            </a:r>
            <a:r>
              <a:rPr lang="en-GB" b="0" i="0" u="none" strike="noStrike" dirty="0">
                <a:solidFill>
                  <a:srgbClr val="020621"/>
                </a:solidFill>
                <a:effectLst/>
                <a:latin typeface="tisapro-regular"/>
              </a:rPr>
              <a:t> increase in area and number but not in size.</a:t>
            </a:r>
          </a:p>
          <a:p>
            <a:endParaRPr lang="en-GB" b="0" i="0" u="none" strike="noStrike" dirty="0">
              <a:solidFill>
                <a:srgbClr val="020621"/>
              </a:solidFill>
              <a:effectLst/>
              <a:latin typeface="tisapro-regular"/>
            </a:endParaRPr>
          </a:p>
          <a:p>
            <a:r>
              <a:rPr lang="en-GB" b="0" i="0" u="none" strike="noStrike" dirty="0">
                <a:solidFill>
                  <a:srgbClr val="020621"/>
                </a:solidFill>
                <a:effectLst/>
                <a:latin typeface="tisapro-regular"/>
              </a:rPr>
              <a:t>In the aged motor unit there are decreased in the number of functional motor units associated with enlargement of the cross sectional area of the remaining units. This motor unit remodelling is achieved by selective denervation of muscle </a:t>
            </a:r>
            <a:r>
              <a:rPr lang="en-GB" b="0" i="0" u="none" strike="noStrike" dirty="0" err="1">
                <a:solidFill>
                  <a:srgbClr val="020621"/>
                </a:solidFill>
                <a:effectLst/>
                <a:latin typeface="tisapro-regular"/>
              </a:rPr>
              <a:t>fibers</a:t>
            </a:r>
            <a:r>
              <a:rPr lang="en-GB" b="0" i="0" u="none" strike="noStrike" dirty="0">
                <a:solidFill>
                  <a:srgbClr val="020621"/>
                </a:solidFill>
                <a:effectLst/>
                <a:latin typeface="tisapro-regular"/>
              </a:rPr>
              <a:t> -&gt; </a:t>
            </a:r>
          </a:p>
          <a:p>
            <a:endParaRPr lang="en-GB" b="0" i="0" u="none" strike="noStrike" dirty="0">
              <a:solidFill>
                <a:srgbClr val="020621"/>
              </a:solidFill>
              <a:effectLst/>
              <a:latin typeface="tisapro-regular"/>
            </a:endParaRPr>
          </a:p>
          <a:p>
            <a:r>
              <a:rPr lang="en-GB" b="0" i="0" u="none" strike="noStrike" dirty="0" err="1">
                <a:solidFill>
                  <a:srgbClr val="020621"/>
                </a:solidFill>
                <a:effectLst/>
                <a:latin typeface="tisapro-regular"/>
              </a:rPr>
              <a:t>reinverated</a:t>
            </a:r>
            <a:r>
              <a:rPr lang="en-GB" b="0" i="0" u="none" strike="noStrike" dirty="0">
                <a:solidFill>
                  <a:srgbClr val="020621"/>
                </a:solidFill>
                <a:effectLst/>
                <a:latin typeface="tisapro-regular"/>
              </a:rPr>
              <a:t> with a different motor neuron most likely that of a slow-twitch neuron</a:t>
            </a:r>
          </a:p>
          <a:p>
            <a:endParaRPr lang="en-GB" b="0" i="0" u="none" strike="noStrike" dirty="0">
              <a:solidFill>
                <a:srgbClr val="020621"/>
              </a:solidFill>
              <a:effectLst/>
              <a:latin typeface="tisapro-regular"/>
            </a:endParaRPr>
          </a:p>
          <a:p>
            <a:endParaRPr lang="en-GB" dirty="0"/>
          </a:p>
        </p:txBody>
      </p:sp>
      <p:sp>
        <p:nvSpPr>
          <p:cNvPr id="4" name="Slide Number Placeholder 3"/>
          <p:cNvSpPr>
            <a:spLocks noGrp="1"/>
          </p:cNvSpPr>
          <p:nvPr>
            <p:ph type="sldNum" sz="quarter" idx="5"/>
          </p:nvPr>
        </p:nvSpPr>
        <p:spPr/>
        <p:txBody>
          <a:bodyPr/>
          <a:lstStyle/>
          <a:p>
            <a:fld id="{351CA05B-4666-C243-B26B-0D8F1F7B965D}" type="slidenum">
              <a:rPr lang="en-US" smtClean="0"/>
              <a:t>5</a:t>
            </a:fld>
            <a:endParaRPr lang="en-US"/>
          </a:p>
        </p:txBody>
      </p:sp>
    </p:spTree>
    <p:extLst>
      <p:ext uri="{BB962C8B-B14F-4D97-AF65-F5344CB8AC3E}">
        <p14:creationId xmlns:p14="http://schemas.microsoft.com/office/powerpoint/2010/main" val="305591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 horsepower lifts 550 lb by 1 foot in 1 second</a:t>
            </a:r>
          </a:p>
        </p:txBody>
      </p:sp>
      <p:sp>
        <p:nvSpPr>
          <p:cNvPr id="4" name="Slide Number Placeholder 3"/>
          <p:cNvSpPr>
            <a:spLocks noGrp="1"/>
          </p:cNvSpPr>
          <p:nvPr>
            <p:ph type="sldNum" sz="quarter" idx="5"/>
          </p:nvPr>
        </p:nvSpPr>
        <p:spPr/>
        <p:txBody>
          <a:bodyPr/>
          <a:lstStyle/>
          <a:p>
            <a:fld id="{351CA05B-4666-C243-B26B-0D8F1F7B965D}" type="slidenum">
              <a:rPr lang="en-US" smtClean="0"/>
              <a:t>6</a:t>
            </a:fld>
            <a:endParaRPr lang="en-US"/>
          </a:p>
        </p:txBody>
      </p:sp>
    </p:spTree>
    <p:extLst>
      <p:ext uri="{BB962C8B-B14F-4D97-AF65-F5344CB8AC3E}">
        <p14:creationId xmlns:p14="http://schemas.microsoft.com/office/powerpoint/2010/main" val="947298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pPr>
            <a:r>
              <a:rPr lang="en-US" altLang="en-US" sz="1200" dirty="0">
                <a:solidFill>
                  <a:schemeClr val="bg1"/>
                </a:solidFill>
              </a:rPr>
              <a:t>Decreased levels of sex hormones (testosterone and DHEA)</a:t>
            </a:r>
          </a:p>
          <a:p>
            <a:pPr eaLnBrk="1" hangingPunct="1">
              <a:lnSpc>
                <a:spcPct val="80000"/>
              </a:lnSpc>
            </a:pPr>
            <a:r>
              <a:rPr lang="en-US" altLang="en-US" sz="1200" dirty="0">
                <a:solidFill>
                  <a:schemeClr val="bg1"/>
                </a:solidFill>
              </a:rPr>
              <a:t>Decreased levels of growth hormone and insulin-like growth factor 1 (IGF-1)</a:t>
            </a:r>
          </a:p>
          <a:p>
            <a:pPr eaLnBrk="1" hangingPunct="1">
              <a:lnSpc>
                <a:spcPct val="80000"/>
              </a:lnSpc>
            </a:pPr>
            <a:r>
              <a:rPr lang="en-US" altLang="en-US" sz="1200" i="0" dirty="0">
                <a:solidFill>
                  <a:schemeClr val="bg1"/>
                </a:solidFill>
              </a:rPr>
              <a:t>Increased cytokine production (i.e., IL-1, IL-6, TNF-</a:t>
            </a:r>
            <a:r>
              <a:rPr lang="el-GR" altLang="en-US" sz="1200" i="0" dirty="0">
                <a:solidFill>
                  <a:schemeClr val="bg1"/>
                </a:solidFill>
              </a:rPr>
              <a:t>α</a:t>
            </a:r>
            <a:r>
              <a:rPr lang="en-US" altLang="en-US" sz="1200" i="0" dirty="0">
                <a:solidFill>
                  <a:schemeClr val="bg1"/>
                </a:solidFill>
              </a:rPr>
              <a:t>, etc.)</a:t>
            </a:r>
          </a:p>
          <a:p>
            <a:pPr eaLnBrk="1" hangingPunct="1">
              <a:lnSpc>
                <a:spcPct val="80000"/>
              </a:lnSpc>
            </a:pPr>
            <a:r>
              <a:rPr lang="en-US" altLang="en-US" sz="1200" i="0" dirty="0">
                <a:solidFill>
                  <a:schemeClr val="bg1"/>
                </a:solidFill>
              </a:rPr>
              <a:t>Neuromuscular </a:t>
            </a:r>
          </a:p>
          <a:p>
            <a:pPr marL="0" marR="0" lvl="0" indent="0" algn="l" defTabSz="914400" rtl="0" eaLnBrk="1" fontAlgn="auto" latinLnBrk="0" hangingPunct="1">
              <a:lnSpc>
                <a:spcPct val="80000"/>
              </a:lnSpc>
              <a:spcBef>
                <a:spcPts val="0"/>
              </a:spcBef>
              <a:spcAft>
                <a:spcPts val="0"/>
              </a:spcAft>
              <a:buClrTx/>
              <a:buSzTx/>
              <a:buFontTx/>
              <a:buNone/>
              <a:tabLst/>
              <a:defRPr/>
            </a:pPr>
            <a:r>
              <a:rPr lang="en-US" altLang="en-US" sz="1200" i="0" dirty="0">
                <a:solidFill>
                  <a:srgbClr val="FFFF00"/>
                </a:solidFill>
              </a:rPr>
              <a:t>Malnutrition (especially protein deficiency)</a:t>
            </a:r>
          </a:p>
          <a:p>
            <a:pPr eaLnBrk="1" hangingPunct="1">
              <a:lnSpc>
                <a:spcPct val="80000"/>
              </a:lnSpc>
            </a:pPr>
            <a:r>
              <a:rPr lang="en-US" altLang="en-US" sz="1200" i="0" dirty="0">
                <a:solidFill>
                  <a:schemeClr val="bg1"/>
                </a:solidFill>
              </a:rPr>
              <a:t>changes</a:t>
            </a:r>
          </a:p>
        </p:txBody>
      </p:sp>
      <p:sp>
        <p:nvSpPr>
          <p:cNvPr id="4" name="Slide Number Placeholder 3"/>
          <p:cNvSpPr>
            <a:spLocks noGrp="1"/>
          </p:cNvSpPr>
          <p:nvPr>
            <p:ph type="sldNum" sz="quarter" idx="5"/>
          </p:nvPr>
        </p:nvSpPr>
        <p:spPr/>
        <p:txBody>
          <a:bodyPr/>
          <a:lstStyle/>
          <a:p>
            <a:fld id="{351CA05B-4666-C243-B26B-0D8F1F7B965D}" type="slidenum">
              <a:rPr lang="en-US" smtClean="0"/>
              <a:t>7</a:t>
            </a:fld>
            <a:endParaRPr lang="en-US"/>
          </a:p>
        </p:txBody>
      </p:sp>
    </p:spTree>
    <p:extLst>
      <p:ext uri="{BB962C8B-B14F-4D97-AF65-F5344CB8AC3E}">
        <p14:creationId xmlns:p14="http://schemas.microsoft.com/office/powerpoint/2010/main" val="26849729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solidFill>
                  <a:schemeClr val="bg1"/>
                </a:solidFill>
              </a:rPr>
              <a:t>Satellite cells: a stem cell that lies adjacent to a skeletal muscle </a:t>
            </a:r>
            <a:r>
              <a:rPr lang="en-US" altLang="en-US" dirty="0" err="1">
                <a:solidFill>
                  <a:schemeClr val="bg1"/>
                </a:solidFill>
              </a:rPr>
              <a:t>fibre</a:t>
            </a:r>
            <a:r>
              <a:rPr lang="en-US" altLang="en-US" dirty="0">
                <a:solidFill>
                  <a:schemeClr val="bg1"/>
                </a:solidFill>
              </a:rPr>
              <a:t> and plays a role in muscle growth, repair, and regeneration[7]), mitochondrial numbers, and elasticity.</a:t>
            </a:r>
          </a:p>
        </p:txBody>
      </p:sp>
      <p:sp>
        <p:nvSpPr>
          <p:cNvPr id="4" name="Slide Number Placeholder 3"/>
          <p:cNvSpPr>
            <a:spLocks noGrp="1"/>
          </p:cNvSpPr>
          <p:nvPr>
            <p:ph type="sldNum" sz="quarter" idx="5"/>
          </p:nvPr>
        </p:nvSpPr>
        <p:spPr/>
        <p:txBody>
          <a:bodyPr/>
          <a:lstStyle/>
          <a:p>
            <a:fld id="{351CA05B-4666-C243-B26B-0D8F1F7B965D}" type="slidenum">
              <a:rPr lang="en-US" smtClean="0"/>
              <a:t>8</a:t>
            </a:fld>
            <a:endParaRPr lang="en-US"/>
          </a:p>
        </p:txBody>
      </p:sp>
    </p:spTree>
    <p:extLst>
      <p:ext uri="{BB962C8B-B14F-4D97-AF65-F5344CB8AC3E}">
        <p14:creationId xmlns:p14="http://schemas.microsoft.com/office/powerpoint/2010/main" val="13739300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0" i="0" u="none" strike="noStrike" dirty="0">
                <a:solidFill>
                  <a:srgbClr val="2752FF"/>
                </a:solidFill>
                <a:effectLst/>
                <a:latin typeface="tisapro-regular"/>
                <a:hlinkClick r:id="rId3" tooltip="Diabetes"/>
              </a:rPr>
              <a:t>Diabetes</a:t>
            </a:r>
            <a:endParaRPr lang="en-GB" b="0" i="0" u="none" strike="noStrike" dirty="0">
              <a:solidFill>
                <a:srgbClr val="020621"/>
              </a:solidFill>
              <a:effectLst/>
              <a:latin typeface="tisapro-regular"/>
            </a:endParaRPr>
          </a:p>
          <a:p>
            <a:pPr algn="l">
              <a:buFont typeface="Arial" panose="020B0604020202020204" pitchFamily="34" charset="0"/>
              <a:buChar char="•"/>
            </a:pPr>
            <a:r>
              <a:rPr lang="en-GB" b="0" i="0" u="none" strike="noStrike" dirty="0">
                <a:solidFill>
                  <a:srgbClr val="2752FF"/>
                </a:solidFill>
                <a:effectLst/>
                <a:latin typeface="tisapro-regular"/>
                <a:hlinkClick r:id="rId4" tooltip="Metabolic and Endocrine Disorders"/>
              </a:rPr>
              <a:t>Metabolic syndrome</a:t>
            </a:r>
            <a:endParaRPr lang="en-GB" b="0" i="0" u="none" strike="noStrike" dirty="0">
              <a:solidFill>
                <a:srgbClr val="020621"/>
              </a:solidFill>
              <a:effectLst/>
              <a:latin typeface="tisapro-regular"/>
            </a:endParaRPr>
          </a:p>
          <a:p>
            <a:pPr algn="l">
              <a:buFont typeface="Arial" panose="020B0604020202020204" pitchFamily="34" charset="0"/>
              <a:buChar char="•"/>
            </a:pPr>
            <a:r>
              <a:rPr lang="en-GB" b="0" i="0" u="none" strike="noStrike" dirty="0">
                <a:solidFill>
                  <a:srgbClr val="2752FF"/>
                </a:solidFill>
                <a:effectLst/>
                <a:latin typeface="tisapro-regular"/>
                <a:hlinkClick r:id="rId5" tooltip="COPD (Chronic Obstructive Pulmonary Disease)"/>
              </a:rPr>
              <a:t>Chronic Obstructive Airways Disease</a:t>
            </a:r>
            <a:r>
              <a:rPr lang="en-GB" b="0" i="0" u="none" strike="noStrike" dirty="0">
                <a:solidFill>
                  <a:srgbClr val="020621"/>
                </a:solidFill>
                <a:effectLst/>
                <a:latin typeface="tisapro-regular"/>
              </a:rPr>
              <a:t> (</a:t>
            </a:r>
            <a:r>
              <a:rPr lang="en-GB" b="0" i="0" u="none" strike="noStrike" dirty="0">
                <a:solidFill>
                  <a:srgbClr val="2752FF"/>
                </a:solidFill>
                <a:effectLst/>
                <a:latin typeface="tisapro-regular"/>
                <a:hlinkClick r:id="rId6" tooltip="COPD"/>
              </a:rPr>
              <a:t>COPD</a:t>
            </a:r>
            <a:r>
              <a:rPr lang="en-GB" b="0" i="0" u="none" strike="noStrike" dirty="0">
                <a:solidFill>
                  <a:srgbClr val="020621"/>
                </a:solidFill>
                <a:effectLst/>
                <a:latin typeface="tisapro-regular"/>
              </a:rPr>
              <a:t>)</a:t>
            </a:r>
          </a:p>
          <a:p>
            <a:pPr algn="l">
              <a:buFont typeface="Arial" panose="020B0604020202020204" pitchFamily="34" charset="0"/>
              <a:buChar char="•"/>
            </a:pPr>
            <a:r>
              <a:rPr lang="en-GB" b="0" i="0" u="none" strike="noStrike" dirty="0">
                <a:solidFill>
                  <a:srgbClr val="2752FF"/>
                </a:solidFill>
                <a:effectLst/>
                <a:latin typeface="tisapro-regular"/>
                <a:hlinkClick r:id="rId7" tooltip="Heart Failure"/>
              </a:rPr>
              <a:t>Congestive Cardiac Failure</a:t>
            </a:r>
            <a:endParaRPr lang="en-GB" b="0" i="0" u="none" strike="noStrike" dirty="0">
              <a:solidFill>
                <a:srgbClr val="020621"/>
              </a:solidFill>
              <a:effectLst/>
              <a:latin typeface="tisapro-regular"/>
            </a:endParaRPr>
          </a:p>
          <a:p>
            <a:pPr algn="l">
              <a:buFont typeface="Arial" panose="020B0604020202020204" pitchFamily="34" charset="0"/>
              <a:buChar char="•"/>
            </a:pPr>
            <a:r>
              <a:rPr lang="en-GB" b="0" i="0" u="none" strike="noStrike" dirty="0">
                <a:solidFill>
                  <a:srgbClr val="2752FF"/>
                </a:solidFill>
                <a:effectLst/>
                <a:latin typeface="tisapro-regular"/>
                <a:hlinkClick r:id="rId8" tooltip="Hip Osteoarthritis"/>
              </a:rPr>
              <a:t>Osteoarthritis</a:t>
            </a:r>
            <a:endParaRPr lang="en-GB" b="0" i="0" u="none" strike="noStrike" dirty="0">
              <a:solidFill>
                <a:srgbClr val="020621"/>
              </a:solidFill>
              <a:effectLst/>
              <a:latin typeface="tisapro-regular"/>
            </a:endParaRPr>
          </a:p>
          <a:p>
            <a:pPr algn="l">
              <a:buFont typeface="Arial" panose="020B0604020202020204" pitchFamily="34" charset="0"/>
              <a:buChar char="•"/>
            </a:pPr>
            <a:r>
              <a:rPr lang="en-GB" b="0" i="0" u="none" strike="noStrike" dirty="0">
                <a:solidFill>
                  <a:srgbClr val="2752FF"/>
                </a:solidFill>
                <a:effectLst/>
                <a:latin typeface="tisapro-regular"/>
                <a:hlinkClick r:id="rId9" tooltip="Parkinsons Disease"/>
              </a:rPr>
              <a:t>Parkinsons</a:t>
            </a:r>
            <a:endParaRPr lang="en-GB" b="0" i="0" u="none" strike="noStrike" dirty="0">
              <a:solidFill>
                <a:srgbClr val="020621"/>
              </a:solidFill>
              <a:effectLst/>
              <a:latin typeface="tisapro-regular"/>
            </a:endParaRPr>
          </a:p>
          <a:p>
            <a:pPr algn="l">
              <a:buFont typeface="Arial" panose="020B0604020202020204" pitchFamily="34" charset="0"/>
              <a:buChar char="•"/>
            </a:pPr>
            <a:r>
              <a:rPr lang="en-GB" b="0" i="0" u="none" strike="noStrike" dirty="0">
                <a:solidFill>
                  <a:srgbClr val="2752FF"/>
                </a:solidFill>
                <a:effectLst/>
                <a:latin typeface="tisapro-regular"/>
                <a:hlinkClick r:id="rId10" tooltip="Cancer pain"/>
              </a:rPr>
              <a:t>Cancer</a:t>
            </a:r>
            <a:endParaRPr lang="en-GB" b="0" i="0" u="none" strike="noStrike" dirty="0">
              <a:solidFill>
                <a:srgbClr val="020621"/>
              </a:solidFill>
              <a:effectLst/>
              <a:latin typeface="tisapro-regular"/>
            </a:endParaRPr>
          </a:p>
          <a:p>
            <a:pPr algn="l">
              <a:buFont typeface="Arial" panose="020B0604020202020204" pitchFamily="34" charset="0"/>
              <a:buChar char="•"/>
            </a:pPr>
            <a:r>
              <a:rPr lang="en-GB" b="0" i="0" u="none" strike="noStrike" dirty="0">
                <a:solidFill>
                  <a:srgbClr val="2752FF"/>
                </a:solidFill>
                <a:effectLst/>
                <a:latin typeface="tisapro-regular"/>
                <a:hlinkClick r:id="rId11" tooltip="Stroke"/>
              </a:rPr>
              <a:t>Stroke</a:t>
            </a:r>
            <a:endParaRPr lang="en-GB" b="0" i="0" u="none" strike="noStrike" dirty="0">
              <a:solidFill>
                <a:srgbClr val="020621"/>
              </a:solidFill>
              <a:effectLst/>
              <a:latin typeface="tisapro-regular"/>
            </a:endParaRPr>
          </a:p>
          <a:p>
            <a:pPr algn="l">
              <a:buFont typeface="Arial" panose="020B0604020202020204" pitchFamily="34" charset="0"/>
              <a:buChar char="•"/>
            </a:pPr>
            <a:r>
              <a:rPr lang="en-GB" b="0" i="0" u="none" strike="noStrike" dirty="0">
                <a:solidFill>
                  <a:srgbClr val="2752FF"/>
                </a:solidFill>
                <a:effectLst/>
                <a:latin typeface="tisapro-regular"/>
                <a:hlinkClick r:id="rId12" tooltip="Chronic Kidney Disease"/>
              </a:rPr>
              <a:t>Chronic Kidney Disease</a:t>
            </a:r>
            <a:endParaRPr lang="en-GB" b="0" i="0" u="none" strike="noStrike" dirty="0">
              <a:solidFill>
                <a:srgbClr val="020621"/>
              </a:solidFill>
              <a:effectLst/>
              <a:latin typeface="tisapro-regular"/>
            </a:endParaRPr>
          </a:p>
        </p:txBody>
      </p:sp>
      <p:sp>
        <p:nvSpPr>
          <p:cNvPr id="4" name="Slide Number Placeholder 3"/>
          <p:cNvSpPr>
            <a:spLocks noGrp="1"/>
          </p:cNvSpPr>
          <p:nvPr>
            <p:ph type="sldNum" sz="quarter" idx="5"/>
          </p:nvPr>
        </p:nvSpPr>
        <p:spPr/>
        <p:txBody>
          <a:bodyPr/>
          <a:lstStyle/>
          <a:p>
            <a:fld id="{351CA05B-4666-C243-B26B-0D8F1F7B965D}" type="slidenum">
              <a:rPr lang="en-US" smtClean="0"/>
              <a:t>9</a:t>
            </a:fld>
            <a:endParaRPr lang="en-US"/>
          </a:p>
        </p:txBody>
      </p:sp>
    </p:spTree>
    <p:extLst>
      <p:ext uri="{BB962C8B-B14F-4D97-AF65-F5344CB8AC3E}">
        <p14:creationId xmlns:p14="http://schemas.microsoft.com/office/powerpoint/2010/main" val="42679989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800" dirty="0">
                <a:effectLst/>
                <a:latin typeface="SourceSansPro"/>
              </a:rPr>
              <a:t>One hundred and twenty one trials with 6700 participants were included</a:t>
            </a:r>
          </a:p>
          <a:p>
            <a:endParaRPr lang="en-GB" dirty="0"/>
          </a:p>
        </p:txBody>
      </p:sp>
      <p:sp>
        <p:nvSpPr>
          <p:cNvPr id="4" name="Slide Number Placeholder 3"/>
          <p:cNvSpPr>
            <a:spLocks noGrp="1"/>
          </p:cNvSpPr>
          <p:nvPr>
            <p:ph type="sldNum" sz="quarter" idx="5"/>
          </p:nvPr>
        </p:nvSpPr>
        <p:spPr/>
        <p:txBody>
          <a:bodyPr/>
          <a:lstStyle/>
          <a:p>
            <a:fld id="{351CA05B-4666-C243-B26B-0D8F1F7B965D}" type="slidenum">
              <a:rPr lang="en-US" smtClean="0"/>
              <a:t>10</a:t>
            </a:fld>
            <a:endParaRPr lang="en-US"/>
          </a:p>
        </p:txBody>
      </p:sp>
    </p:spTree>
    <p:extLst>
      <p:ext uri="{BB962C8B-B14F-4D97-AF65-F5344CB8AC3E}">
        <p14:creationId xmlns:p14="http://schemas.microsoft.com/office/powerpoint/2010/main" val="16942605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GB" b="0" i="0" u="none" strike="noStrike" dirty="0">
              <a:solidFill>
                <a:srgbClr val="020621"/>
              </a:solidFill>
              <a:effectLst/>
              <a:latin typeface="tisapro-regular"/>
            </a:endParaRPr>
          </a:p>
        </p:txBody>
      </p:sp>
      <p:sp>
        <p:nvSpPr>
          <p:cNvPr id="4" name="Slide Number Placeholder 3"/>
          <p:cNvSpPr>
            <a:spLocks noGrp="1"/>
          </p:cNvSpPr>
          <p:nvPr>
            <p:ph type="sldNum" sz="quarter" idx="5"/>
          </p:nvPr>
        </p:nvSpPr>
        <p:spPr/>
        <p:txBody>
          <a:bodyPr/>
          <a:lstStyle/>
          <a:p>
            <a:fld id="{351CA05B-4666-C243-B26B-0D8F1F7B965D}" type="slidenum">
              <a:rPr lang="en-US" smtClean="0"/>
              <a:t>11</a:t>
            </a:fld>
            <a:endParaRPr lang="en-US"/>
          </a:p>
        </p:txBody>
      </p:sp>
    </p:spTree>
    <p:extLst>
      <p:ext uri="{BB962C8B-B14F-4D97-AF65-F5344CB8AC3E}">
        <p14:creationId xmlns:p14="http://schemas.microsoft.com/office/powerpoint/2010/main" val="2227365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 horsepower lifts 550 lb by 1 foot in 1 second</a:t>
            </a:r>
          </a:p>
        </p:txBody>
      </p:sp>
      <p:sp>
        <p:nvSpPr>
          <p:cNvPr id="4" name="Slide Number Placeholder 3"/>
          <p:cNvSpPr>
            <a:spLocks noGrp="1"/>
          </p:cNvSpPr>
          <p:nvPr>
            <p:ph type="sldNum" sz="quarter" idx="5"/>
          </p:nvPr>
        </p:nvSpPr>
        <p:spPr/>
        <p:txBody>
          <a:bodyPr/>
          <a:lstStyle/>
          <a:p>
            <a:fld id="{351CA05B-4666-C243-B26B-0D8F1F7B965D}" type="slidenum">
              <a:rPr lang="en-US" smtClean="0"/>
              <a:t>12</a:t>
            </a:fld>
            <a:endParaRPr lang="en-US"/>
          </a:p>
        </p:txBody>
      </p:sp>
    </p:spTree>
    <p:extLst>
      <p:ext uri="{BB962C8B-B14F-4D97-AF65-F5344CB8AC3E}">
        <p14:creationId xmlns:p14="http://schemas.microsoft.com/office/powerpoint/2010/main" val="13693499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 horsepower lifts 550 lb by 1 foot in 1 second</a:t>
            </a:r>
          </a:p>
        </p:txBody>
      </p:sp>
      <p:sp>
        <p:nvSpPr>
          <p:cNvPr id="4" name="Slide Number Placeholder 3"/>
          <p:cNvSpPr>
            <a:spLocks noGrp="1"/>
          </p:cNvSpPr>
          <p:nvPr>
            <p:ph type="sldNum" sz="quarter" idx="5"/>
          </p:nvPr>
        </p:nvSpPr>
        <p:spPr/>
        <p:txBody>
          <a:bodyPr/>
          <a:lstStyle/>
          <a:p>
            <a:fld id="{351CA05B-4666-C243-B26B-0D8F1F7B965D}" type="slidenum">
              <a:rPr lang="en-US" smtClean="0"/>
              <a:t>13</a:t>
            </a:fld>
            <a:endParaRPr lang="en-US"/>
          </a:p>
        </p:txBody>
      </p:sp>
    </p:spTree>
    <p:extLst>
      <p:ext uri="{BB962C8B-B14F-4D97-AF65-F5344CB8AC3E}">
        <p14:creationId xmlns:p14="http://schemas.microsoft.com/office/powerpoint/2010/main" val="1392418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 horsepower lifts 550 lb by 1 foot in 1 second</a:t>
            </a:r>
          </a:p>
        </p:txBody>
      </p:sp>
      <p:sp>
        <p:nvSpPr>
          <p:cNvPr id="4" name="Slide Number Placeholder 3"/>
          <p:cNvSpPr>
            <a:spLocks noGrp="1"/>
          </p:cNvSpPr>
          <p:nvPr>
            <p:ph type="sldNum" sz="quarter" idx="5"/>
          </p:nvPr>
        </p:nvSpPr>
        <p:spPr/>
        <p:txBody>
          <a:bodyPr/>
          <a:lstStyle/>
          <a:p>
            <a:fld id="{351CA05B-4666-C243-B26B-0D8F1F7B965D}" type="slidenum">
              <a:rPr lang="en-US" smtClean="0"/>
              <a:t>14</a:t>
            </a:fld>
            <a:endParaRPr lang="en-US"/>
          </a:p>
        </p:txBody>
      </p:sp>
    </p:spTree>
    <p:extLst>
      <p:ext uri="{BB962C8B-B14F-4D97-AF65-F5344CB8AC3E}">
        <p14:creationId xmlns:p14="http://schemas.microsoft.com/office/powerpoint/2010/main" val="40038218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i="0" u="none" strike="noStrike" dirty="0">
                <a:solidFill>
                  <a:srgbClr val="020621"/>
                </a:solidFill>
                <a:effectLst/>
                <a:latin typeface="tisapro-regular"/>
              </a:rPr>
              <a:t>Extrinsic causes</a:t>
            </a:r>
            <a:r>
              <a:rPr lang="en-GB" b="0" i="0" u="none" strike="noStrike" dirty="0">
                <a:solidFill>
                  <a:srgbClr val="020621"/>
                </a:solidFill>
                <a:effectLst/>
                <a:latin typeface="tisapro-regular"/>
              </a:rPr>
              <a:t> are social and physical factors that relate to an external environment, unrelated to disease or drug use; a slip on ice for example</a:t>
            </a:r>
          </a:p>
          <a:p>
            <a:endParaRPr lang="en-GB" b="0" i="0" u="none" strike="noStrike" dirty="0">
              <a:solidFill>
                <a:srgbClr val="020621"/>
              </a:solidFill>
              <a:effectLst/>
              <a:latin typeface="tisapro-regular"/>
            </a:endParaRPr>
          </a:p>
          <a:p>
            <a:r>
              <a:rPr lang="en-GB" b="1" i="0" u="none" strike="noStrike" dirty="0">
                <a:solidFill>
                  <a:srgbClr val="020621"/>
                </a:solidFill>
                <a:effectLst/>
                <a:latin typeface="tisapro-regular"/>
              </a:rPr>
              <a:t>Intrinsic risk factors</a:t>
            </a:r>
            <a:r>
              <a:rPr lang="en-GB" b="0" i="0" u="none" strike="noStrike" dirty="0">
                <a:solidFill>
                  <a:srgbClr val="020621"/>
                </a:solidFill>
                <a:effectLst/>
                <a:latin typeface="tisapro-regular"/>
              </a:rPr>
              <a:t> are traits of an individual that increase their risk of falling</a:t>
            </a:r>
            <a:r>
              <a:rPr lang="en-GB" b="0" i="0" u="none" strike="noStrike" baseline="30000" dirty="0">
                <a:solidFill>
                  <a:srgbClr val="2752FF"/>
                </a:solidFill>
                <a:effectLst/>
                <a:latin typeface="tisapro-regular"/>
                <a:hlinkClick r:id="rId3"/>
              </a:rPr>
              <a:t>[5]</a:t>
            </a:r>
            <a:r>
              <a:rPr lang="en-GB" b="0" i="0" u="none" strike="noStrike" dirty="0">
                <a:solidFill>
                  <a:srgbClr val="020621"/>
                </a:solidFill>
                <a:effectLst/>
                <a:latin typeface="tisapro-regular"/>
              </a:rPr>
              <a:t>; these are more important amongst the oldest age group and can be related to neurosensory impairment, certain drugs, or the presence of diseases associated with an increased risk of falling</a:t>
            </a:r>
            <a:endParaRPr lang="en-GB" dirty="0"/>
          </a:p>
        </p:txBody>
      </p:sp>
      <p:sp>
        <p:nvSpPr>
          <p:cNvPr id="4" name="Slide Number Placeholder 3"/>
          <p:cNvSpPr>
            <a:spLocks noGrp="1"/>
          </p:cNvSpPr>
          <p:nvPr>
            <p:ph type="sldNum" sz="quarter" idx="5"/>
          </p:nvPr>
        </p:nvSpPr>
        <p:spPr/>
        <p:txBody>
          <a:bodyPr/>
          <a:lstStyle/>
          <a:p>
            <a:fld id="{351CA05B-4666-C243-B26B-0D8F1F7B965D}" type="slidenum">
              <a:rPr lang="en-US" smtClean="0"/>
              <a:t>15</a:t>
            </a:fld>
            <a:endParaRPr lang="en-US"/>
          </a:p>
        </p:txBody>
      </p:sp>
    </p:spTree>
    <p:extLst>
      <p:ext uri="{BB962C8B-B14F-4D97-AF65-F5344CB8AC3E}">
        <p14:creationId xmlns:p14="http://schemas.microsoft.com/office/powerpoint/2010/main" val="9929752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 horsepower lifts 550 lb by 1 foot in 1 second</a:t>
            </a:r>
          </a:p>
        </p:txBody>
      </p:sp>
      <p:sp>
        <p:nvSpPr>
          <p:cNvPr id="4" name="Slide Number Placeholder 3"/>
          <p:cNvSpPr>
            <a:spLocks noGrp="1"/>
          </p:cNvSpPr>
          <p:nvPr>
            <p:ph type="sldNum" sz="quarter" idx="5"/>
          </p:nvPr>
        </p:nvSpPr>
        <p:spPr/>
        <p:txBody>
          <a:bodyPr/>
          <a:lstStyle/>
          <a:p>
            <a:fld id="{351CA05B-4666-C243-B26B-0D8F1F7B965D}" type="slidenum">
              <a:rPr lang="en-US" smtClean="0"/>
              <a:t>16</a:t>
            </a:fld>
            <a:endParaRPr lang="en-US"/>
          </a:p>
        </p:txBody>
      </p:sp>
    </p:spTree>
    <p:extLst>
      <p:ext uri="{BB962C8B-B14F-4D97-AF65-F5344CB8AC3E}">
        <p14:creationId xmlns:p14="http://schemas.microsoft.com/office/powerpoint/2010/main" val="32248541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 horsepower lifts 550 lb by 1 foot in 1 second</a:t>
            </a:r>
          </a:p>
        </p:txBody>
      </p:sp>
      <p:sp>
        <p:nvSpPr>
          <p:cNvPr id="4" name="Slide Number Placeholder 3"/>
          <p:cNvSpPr>
            <a:spLocks noGrp="1"/>
          </p:cNvSpPr>
          <p:nvPr>
            <p:ph type="sldNum" sz="quarter" idx="5"/>
          </p:nvPr>
        </p:nvSpPr>
        <p:spPr/>
        <p:txBody>
          <a:bodyPr/>
          <a:lstStyle/>
          <a:p>
            <a:fld id="{351CA05B-4666-C243-B26B-0D8F1F7B965D}" type="slidenum">
              <a:rPr lang="en-US" smtClean="0"/>
              <a:t>17</a:t>
            </a:fld>
            <a:endParaRPr lang="en-US"/>
          </a:p>
        </p:txBody>
      </p:sp>
    </p:spTree>
    <p:extLst>
      <p:ext uri="{BB962C8B-B14F-4D97-AF65-F5344CB8AC3E}">
        <p14:creationId xmlns:p14="http://schemas.microsoft.com/office/powerpoint/2010/main" val="15897614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 horsepower lifts 550 lb by 1 foot in 1 second</a:t>
            </a:r>
          </a:p>
        </p:txBody>
      </p:sp>
      <p:sp>
        <p:nvSpPr>
          <p:cNvPr id="4" name="Slide Number Placeholder 3"/>
          <p:cNvSpPr>
            <a:spLocks noGrp="1"/>
          </p:cNvSpPr>
          <p:nvPr>
            <p:ph type="sldNum" sz="quarter" idx="5"/>
          </p:nvPr>
        </p:nvSpPr>
        <p:spPr/>
        <p:txBody>
          <a:bodyPr/>
          <a:lstStyle/>
          <a:p>
            <a:fld id="{351CA05B-4666-C243-B26B-0D8F1F7B965D}" type="slidenum">
              <a:rPr lang="en-US" smtClean="0"/>
              <a:t>18</a:t>
            </a:fld>
            <a:endParaRPr lang="en-US"/>
          </a:p>
        </p:txBody>
      </p:sp>
    </p:spTree>
    <p:extLst>
      <p:ext uri="{BB962C8B-B14F-4D97-AF65-F5344CB8AC3E}">
        <p14:creationId xmlns:p14="http://schemas.microsoft.com/office/powerpoint/2010/main" val="27076391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 horsepower lifts 550 lb by 1 foot in 1 second</a:t>
            </a:r>
          </a:p>
        </p:txBody>
      </p:sp>
      <p:sp>
        <p:nvSpPr>
          <p:cNvPr id="4" name="Slide Number Placeholder 3"/>
          <p:cNvSpPr>
            <a:spLocks noGrp="1"/>
          </p:cNvSpPr>
          <p:nvPr>
            <p:ph type="sldNum" sz="quarter" idx="5"/>
          </p:nvPr>
        </p:nvSpPr>
        <p:spPr/>
        <p:txBody>
          <a:bodyPr/>
          <a:lstStyle/>
          <a:p>
            <a:fld id="{351CA05B-4666-C243-B26B-0D8F1F7B965D}" type="slidenum">
              <a:rPr lang="en-US" smtClean="0"/>
              <a:t>19</a:t>
            </a:fld>
            <a:endParaRPr lang="en-US"/>
          </a:p>
        </p:txBody>
      </p:sp>
    </p:spTree>
    <p:extLst>
      <p:ext uri="{BB962C8B-B14F-4D97-AF65-F5344CB8AC3E}">
        <p14:creationId xmlns:p14="http://schemas.microsoft.com/office/powerpoint/2010/main" val="425488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BA3E2B33-783D-411D-984F-8A21DCCC5E47}" type="datetimeFigureOut">
              <a:rPr lang="en-GB" smtClean="0"/>
              <a:t>28/11/2023</a:t>
            </a:fld>
            <a:endParaRPr lang="en-GB"/>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EA3188-9C4B-354B-9419-8C8D2E2AED77}" type="slidenum">
              <a:rPr lang="en-US" smtClean="0"/>
              <a:t>‹#›</a:t>
            </a:fld>
            <a:endParaRPr lang="en-US"/>
          </a:p>
        </p:txBody>
      </p:sp>
    </p:spTree>
    <p:extLst>
      <p:ext uri="{BB962C8B-B14F-4D97-AF65-F5344CB8AC3E}">
        <p14:creationId xmlns:p14="http://schemas.microsoft.com/office/powerpoint/2010/main" val="1816408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51441"/>
          </a:xfrm>
        </p:spPr>
        <p:txBody>
          <a:bodyPr>
            <a:normAutofit/>
          </a:bodyPr>
          <a:lstStyle>
            <a:lvl1pPr>
              <a:defRPr sz="2800">
                <a:solidFill>
                  <a:schemeClr val="tx1"/>
                </a:solidFill>
                <a:latin typeface="Arial" panose="020B0604020202020204" pitchFamily="34" charset="0"/>
                <a:cs typeface="Arial" panose="020B0604020202020204" pitchFamily="34" charset="0"/>
              </a:defRPr>
            </a:lvl1pPr>
          </a:lstStyle>
          <a:p>
            <a:r>
              <a:rPr lang="en-GB"/>
              <a:t>Click to edit Master title style</a:t>
            </a:r>
            <a:endParaRPr lang="en-GB" dirty="0"/>
          </a:p>
        </p:txBody>
      </p:sp>
      <p:sp>
        <p:nvSpPr>
          <p:cNvPr id="3" name="Content Placeholder 2"/>
          <p:cNvSpPr>
            <a:spLocks noGrp="1"/>
          </p:cNvSpPr>
          <p:nvPr>
            <p:ph idx="1"/>
          </p:nvPr>
        </p:nvSpPr>
        <p:spPr>
          <a:xfrm>
            <a:off x="838200" y="1825625"/>
            <a:ext cx="7491761" cy="4351338"/>
          </a:xfrm>
        </p:spPr>
        <p:txBody>
          <a:bodyPr/>
          <a:lstStyle>
            <a:lvl1pPr marL="228600" indent="-228600">
              <a:buClr>
                <a:srgbClr val="00FDFF"/>
              </a:buClr>
              <a:buFont typeface="Wingdings" panose="05000000000000000000" pitchFamily="2" charset="2"/>
              <a:buChar char="è"/>
              <a:defRPr>
                <a:solidFill>
                  <a:schemeClr val="bg1"/>
                </a:solidFill>
              </a:defRPr>
            </a:lvl1pPr>
            <a:lvl2pPr marL="685800" indent="-228600">
              <a:buClr>
                <a:srgbClr val="00FDFF"/>
              </a:buClr>
              <a:buFont typeface="Wingdings" panose="05000000000000000000" pitchFamily="2" charset="2"/>
              <a:buChar char="è"/>
              <a:defRPr>
                <a:solidFill>
                  <a:schemeClr val="bg1"/>
                </a:solidFill>
              </a:defRPr>
            </a:lvl2pPr>
            <a:lvl3pPr marL="1143000" indent="-228600">
              <a:buClr>
                <a:srgbClr val="00FDFF"/>
              </a:buClr>
              <a:buFont typeface="Wingdings" panose="05000000000000000000" pitchFamily="2" charset="2"/>
              <a:buChar char="è"/>
              <a:defRPr>
                <a:solidFill>
                  <a:schemeClr val="bg1"/>
                </a:solidFill>
              </a:defRPr>
            </a:lvl3pPr>
            <a:lvl4pPr marL="1600200" indent="-228600">
              <a:buClr>
                <a:srgbClr val="00FDFF"/>
              </a:buClr>
              <a:buFont typeface="Wingdings" panose="05000000000000000000" pitchFamily="2" charset="2"/>
              <a:buChar char="è"/>
              <a:defRPr>
                <a:solidFill>
                  <a:schemeClr val="bg1"/>
                </a:solidFill>
              </a:defRPr>
            </a:lvl4pPr>
            <a:lvl5pPr marL="2057400" indent="-228600">
              <a:buClr>
                <a:srgbClr val="00FDFF"/>
              </a:buClr>
              <a:buFont typeface="Wingdings" panose="05000000000000000000" pitchFamily="2" charset="2"/>
              <a:buChar char="è"/>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BA3E2B33-783D-411D-984F-8A21DCCC5E47}" type="datetimeFigureOut">
              <a:rPr lang="en-GB" smtClean="0"/>
              <a:t>28/11/2023</a:t>
            </a:fld>
            <a:endParaRPr lang="en-GB"/>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EA3188-9C4B-354B-9419-8C8D2E2AED77}" type="slidenum">
              <a:rPr lang="en-US" smtClean="0"/>
              <a:t>‹#›</a:t>
            </a:fld>
            <a:endParaRPr lang="en-US"/>
          </a:p>
        </p:txBody>
      </p:sp>
    </p:spTree>
    <p:extLst>
      <p:ext uri="{BB962C8B-B14F-4D97-AF65-F5344CB8AC3E}">
        <p14:creationId xmlns:p14="http://schemas.microsoft.com/office/powerpoint/2010/main" val="1827232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A3E2B33-783D-411D-984F-8A21DCCC5E47}" type="datetimeFigureOut">
              <a:rPr lang="en-GB" smtClean="0"/>
              <a:t>28/11/2023</a:t>
            </a:fld>
            <a:endParaRPr lang="en-GB"/>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EA3188-9C4B-354B-9419-8C8D2E2AED77}" type="slidenum">
              <a:rPr lang="en-US" smtClean="0"/>
              <a:t>‹#›</a:t>
            </a:fld>
            <a:endParaRPr lang="en-US"/>
          </a:p>
        </p:txBody>
      </p:sp>
    </p:spTree>
    <p:extLst>
      <p:ext uri="{BB962C8B-B14F-4D97-AF65-F5344CB8AC3E}">
        <p14:creationId xmlns:p14="http://schemas.microsoft.com/office/powerpoint/2010/main" val="2495506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BA3E2B33-783D-411D-984F-8A21DCCC5E47}" type="datetimeFigureOut">
              <a:rPr lang="en-GB" smtClean="0"/>
              <a:t>28/11/2023</a:t>
            </a:fld>
            <a:endParaRPr lang="en-GB"/>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EA3188-9C4B-354B-9419-8C8D2E2AED77}" type="slidenum">
              <a:rPr lang="en-US" smtClean="0"/>
              <a:t>‹#›</a:t>
            </a:fld>
            <a:endParaRPr lang="en-US"/>
          </a:p>
        </p:txBody>
      </p:sp>
    </p:spTree>
    <p:extLst>
      <p:ext uri="{BB962C8B-B14F-4D97-AF65-F5344CB8AC3E}">
        <p14:creationId xmlns:p14="http://schemas.microsoft.com/office/powerpoint/2010/main" val="40925279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BA3E2B33-783D-411D-984F-8A21DCCC5E47}" type="datetimeFigureOut">
              <a:rPr lang="en-GB" smtClean="0"/>
              <a:t>28/11/2023</a:t>
            </a:fld>
            <a:endParaRPr lang="en-GB"/>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CEA3188-9C4B-354B-9419-8C8D2E2AED77}" type="slidenum">
              <a:rPr lang="en-US" smtClean="0"/>
              <a:t>‹#›</a:t>
            </a:fld>
            <a:endParaRPr lang="en-US"/>
          </a:p>
        </p:txBody>
      </p:sp>
    </p:spTree>
    <p:extLst>
      <p:ext uri="{BB962C8B-B14F-4D97-AF65-F5344CB8AC3E}">
        <p14:creationId xmlns:p14="http://schemas.microsoft.com/office/powerpoint/2010/main" val="2258718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BA3E2B33-783D-411D-984F-8A21DCCC5E47}" type="datetimeFigureOut">
              <a:rPr lang="en-GB" smtClean="0"/>
              <a:t>28/11/2023</a:t>
            </a:fld>
            <a:endParaRPr lang="en-GB"/>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CEA3188-9C4B-354B-9419-8C8D2E2AED77}" type="slidenum">
              <a:rPr lang="en-US" smtClean="0"/>
              <a:t>‹#›</a:t>
            </a:fld>
            <a:endParaRPr lang="en-US"/>
          </a:p>
        </p:txBody>
      </p:sp>
    </p:spTree>
    <p:extLst>
      <p:ext uri="{BB962C8B-B14F-4D97-AF65-F5344CB8AC3E}">
        <p14:creationId xmlns:p14="http://schemas.microsoft.com/office/powerpoint/2010/main" val="1781059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3E2B33-783D-411D-984F-8A21DCCC5E47}" type="datetimeFigureOut">
              <a:rPr lang="en-GB" smtClean="0"/>
              <a:t>28/11/2023</a:t>
            </a:fld>
            <a:endParaRPr lang="en-GB"/>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CEA3188-9C4B-354B-9419-8C8D2E2AED77}" type="slidenum">
              <a:rPr lang="en-US" smtClean="0"/>
              <a:t>‹#›</a:t>
            </a:fld>
            <a:endParaRPr lang="en-US"/>
          </a:p>
        </p:txBody>
      </p:sp>
    </p:spTree>
    <p:extLst>
      <p:ext uri="{BB962C8B-B14F-4D97-AF65-F5344CB8AC3E}">
        <p14:creationId xmlns:p14="http://schemas.microsoft.com/office/powerpoint/2010/main" val="2041734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A3E2B33-783D-411D-984F-8A21DCCC5E47}" type="datetimeFigureOut">
              <a:rPr lang="en-GB" smtClean="0"/>
              <a:t>28/11/2023</a:t>
            </a:fld>
            <a:endParaRPr lang="en-GB"/>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EA3188-9C4B-354B-9419-8C8D2E2AED77}" type="slidenum">
              <a:rPr lang="en-US" smtClean="0"/>
              <a:t>‹#›</a:t>
            </a:fld>
            <a:endParaRPr lang="en-US"/>
          </a:p>
        </p:txBody>
      </p:sp>
    </p:spTree>
    <p:extLst>
      <p:ext uri="{BB962C8B-B14F-4D97-AF65-F5344CB8AC3E}">
        <p14:creationId xmlns:p14="http://schemas.microsoft.com/office/powerpoint/2010/main" val="1753488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A3E2B33-783D-411D-984F-8A21DCCC5E47}" type="datetimeFigureOut">
              <a:rPr lang="en-GB" smtClean="0"/>
              <a:t>28/11/2023</a:t>
            </a:fld>
            <a:endParaRPr lang="en-GB"/>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EA3188-9C4B-354B-9419-8C8D2E2AED77}" type="slidenum">
              <a:rPr lang="en-US" smtClean="0"/>
              <a:t>‹#›</a:t>
            </a:fld>
            <a:endParaRPr lang="en-US"/>
          </a:p>
        </p:txBody>
      </p:sp>
    </p:spTree>
    <p:extLst>
      <p:ext uri="{BB962C8B-B14F-4D97-AF65-F5344CB8AC3E}">
        <p14:creationId xmlns:p14="http://schemas.microsoft.com/office/powerpoint/2010/main" val="1169440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BA3E2B33-783D-411D-984F-8A21DCCC5E47}" type="datetimeFigureOut">
              <a:rPr lang="en-GB" smtClean="0"/>
              <a:t>28/11/2023</a:t>
            </a:fld>
            <a:endParaRPr lang="en-GB"/>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EA3188-9C4B-354B-9419-8C8D2E2AED77}" type="slidenum">
              <a:rPr lang="en-US" smtClean="0"/>
              <a:t>‹#›</a:t>
            </a:fld>
            <a:endParaRPr lang="en-US"/>
          </a:p>
        </p:txBody>
      </p:sp>
    </p:spTree>
    <p:extLst>
      <p:ext uri="{BB962C8B-B14F-4D97-AF65-F5344CB8AC3E}">
        <p14:creationId xmlns:p14="http://schemas.microsoft.com/office/powerpoint/2010/main" val="3910713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BA3E2B33-783D-411D-984F-8A21DCCC5E47}" type="datetimeFigureOut">
              <a:rPr lang="en-GB" smtClean="0"/>
              <a:t>28/11/2023</a:t>
            </a:fld>
            <a:endParaRPr lang="en-GB"/>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EA3188-9C4B-354B-9419-8C8D2E2AED77}" type="slidenum">
              <a:rPr lang="en-US" smtClean="0"/>
              <a:t>‹#›</a:t>
            </a:fld>
            <a:endParaRPr lang="en-US"/>
          </a:p>
        </p:txBody>
      </p:sp>
    </p:spTree>
    <p:extLst>
      <p:ext uri="{BB962C8B-B14F-4D97-AF65-F5344CB8AC3E}">
        <p14:creationId xmlns:p14="http://schemas.microsoft.com/office/powerpoint/2010/main" val="1280296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3E2B33-783D-411D-984F-8A21DCCC5E47}" type="datetimeFigureOut">
              <a:rPr lang="en-GB" smtClean="0"/>
              <a:t>28/11/2023</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EA3188-9C4B-354B-9419-8C8D2E2AED77}" type="slidenum">
              <a:rPr lang="en-US" smtClean="0"/>
              <a:t>‹#›</a:t>
            </a:fld>
            <a:endParaRPr lang="en-US"/>
          </a:p>
        </p:txBody>
      </p:sp>
      <p:sp>
        <p:nvSpPr>
          <p:cNvPr id="7" name="Rectangle 6"/>
          <p:cNvSpPr/>
          <p:nvPr/>
        </p:nvSpPr>
        <p:spPr>
          <a:xfrm>
            <a:off x="0" y="0"/>
            <a:ext cx="12192000" cy="6858000"/>
          </a:xfrm>
          <a:prstGeom prst="rect">
            <a:avLst/>
          </a:prstGeom>
          <a:solidFill>
            <a:srgbClr val="00206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8" name="Picture 7" descr="COSMOS GRAPHIC WHITE.png"/>
          <p:cNvPicPr>
            <a:picLocks noChangeAspect="1"/>
          </p:cNvPicPr>
          <p:nvPr/>
        </p:nvPicPr>
        <p:blipFill rotWithShape="1">
          <a:blip r:embed="rId1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Tree>
    <p:extLst>
      <p:ext uri="{BB962C8B-B14F-4D97-AF65-F5344CB8AC3E}">
        <p14:creationId xmlns:p14="http://schemas.microsoft.com/office/powerpoint/2010/main" val="280884153"/>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ideo" Target="https://www.youtube.com/embed/qV6PjN55Lb4?feature=oembed" TargetMode="External"/><Relationship Id="rId4" Type="http://schemas.openxmlformats.org/officeDocument/2006/relationships/image" Target="../media/image8.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London Metropolitan University logo"/>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9100" y="6122508"/>
            <a:ext cx="1688789" cy="434260"/>
          </a:xfrm>
          <a:prstGeom prst="rect">
            <a:avLst/>
          </a:prstGeom>
        </p:spPr>
      </p:pic>
      <p:sp>
        <p:nvSpPr>
          <p:cNvPr id="13" name="Title 1">
            <a:extLst>
              <a:ext uri="{FF2B5EF4-FFF2-40B4-BE49-F238E27FC236}">
                <a16:creationId xmlns:a16="http://schemas.microsoft.com/office/drawing/2014/main" id="{D716E601-E960-914B-9E24-DB158018F9CF}"/>
              </a:ext>
            </a:extLst>
          </p:cNvPr>
          <p:cNvSpPr txBox="1">
            <a:spLocks/>
          </p:cNvSpPr>
          <p:nvPr/>
        </p:nvSpPr>
        <p:spPr>
          <a:xfrm>
            <a:off x="859367" y="1626330"/>
            <a:ext cx="7766936" cy="16463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GB" b="0" i="0" u="none" strike="noStrike" dirty="0">
                <a:solidFill>
                  <a:schemeClr val="bg1"/>
                </a:solidFill>
                <a:effectLst/>
                <a:latin typeface="Arial" panose="020B0604020202020204" pitchFamily="34" charset="0"/>
                <a:cs typeface="Arial" panose="020B0604020202020204" pitchFamily="34" charset="0"/>
              </a:rPr>
              <a:t>Muscles and Ageing</a:t>
            </a:r>
            <a:endParaRPr lang="en-GB" dirty="0">
              <a:solidFill>
                <a:schemeClr val="bg1"/>
              </a:solidFill>
              <a:latin typeface="Arial" panose="020B0604020202020204" pitchFamily="34" charset="0"/>
              <a:cs typeface="Arial" panose="020B0604020202020204" pitchFamily="34" charset="0"/>
            </a:endParaRPr>
          </a:p>
        </p:txBody>
      </p:sp>
      <p:sp>
        <p:nvSpPr>
          <p:cNvPr id="14" name="Subtitle 2">
            <a:extLst>
              <a:ext uri="{FF2B5EF4-FFF2-40B4-BE49-F238E27FC236}">
                <a16:creationId xmlns:a16="http://schemas.microsoft.com/office/drawing/2014/main" id="{9D54B19F-1A94-8640-8DAB-23A14C560723}"/>
              </a:ext>
            </a:extLst>
          </p:cNvPr>
          <p:cNvSpPr txBox="1">
            <a:spLocks/>
          </p:cNvSpPr>
          <p:nvPr/>
        </p:nvSpPr>
        <p:spPr>
          <a:xfrm>
            <a:off x="515723" y="3310729"/>
            <a:ext cx="8105339" cy="208303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GB" dirty="0">
                <a:solidFill>
                  <a:srgbClr val="00B0F0"/>
                </a:solidFill>
                <a:latin typeface="Arial" panose="020B0604020202020204" pitchFamily="34" charset="0"/>
                <a:cs typeface="Arial" panose="020B0604020202020204" pitchFamily="34" charset="0"/>
              </a:rPr>
              <a:t>Dr Ben Hunter</a:t>
            </a:r>
          </a:p>
          <a:p>
            <a:pPr algn="r"/>
            <a:r>
              <a:rPr lang="en-GB" dirty="0" err="1">
                <a:solidFill>
                  <a:srgbClr val="00B0F0"/>
                </a:solidFill>
                <a:latin typeface="Arial" panose="020B0604020202020204" pitchFamily="34" charset="0"/>
                <a:cs typeface="Arial" panose="020B0604020202020204" pitchFamily="34" charset="0"/>
              </a:rPr>
              <a:t>b.hunter@londonmet.ac.uk</a:t>
            </a:r>
            <a:endParaRPr lang="en-GB" dirty="0">
              <a:solidFill>
                <a:srgbClr val="00B0F0"/>
              </a:solidFill>
              <a:latin typeface="Arial" panose="020B0604020202020204" pitchFamily="34" charset="0"/>
              <a:cs typeface="Arial" panose="020B0604020202020204" pitchFamily="34" charset="0"/>
            </a:endParaRPr>
          </a:p>
        </p:txBody>
      </p:sp>
      <p:pic>
        <p:nvPicPr>
          <p:cNvPr id="1026" name="Picture 2" descr="jo schoonbroodt">
            <a:extLst>
              <a:ext uri="{FF2B5EF4-FFF2-40B4-BE49-F238E27FC236}">
                <a16:creationId xmlns:a16="http://schemas.microsoft.com/office/drawing/2014/main" id="{63DA3E99-B567-EBA4-C068-F2F8F4DFA56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5331"/>
          <a:stretch/>
        </p:blipFill>
        <p:spPr bwMode="auto">
          <a:xfrm>
            <a:off x="8858371" y="266700"/>
            <a:ext cx="2817906" cy="632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6596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1" y="540704"/>
            <a:ext cx="3524865"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Session Content</a:t>
            </a:r>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p:txBody>
          <a:bodyPr>
            <a:normAutofit/>
          </a:bodyPr>
          <a:lstStyle/>
          <a:p>
            <a:r>
              <a:rPr lang="en-US" dirty="0"/>
              <a:t>Describe changes of muscle mass and strength with age</a:t>
            </a:r>
          </a:p>
          <a:p>
            <a:endParaRPr lang="en-US" dirty="0"/>
          </a:p>
          <a:p>
            <a:r>
              <a:rPr lang="en-US" dirty="0"/>
              <a:t>Explain the role of exercise in </a:t>
            </a:r>
            <a:r>
              <a:rPr lang="en-US" dirty="0" err="1"/>
              <a:t>minimising</a:t>
            </a:r>
            <a:r>
              <a:rPr lang="en-US" dirty="0"/>
              <a:t> deterioration</a:t>
            </a:r>
          </a:p>
          <a:p>
            <a:endParaRPr lang="en-US" dirty="0"/>
          </a:p>
          <a:p>
            <a:r>
              <a:rPr lang="en-US" dirty="0"/>
              <a:t>Describe prevalence of falls, fall risk factors, and exercise for prevention</a:t>
            </a:r>
          </a:p>
          <a:p>
            <a:endParaRPr lang="en-US" dirty="0"/>
          </a:p>
          <a:p>
            <a:endParaRPr lang="en-US" dirty="0"/>
          </a:p>
        </p:txBody>
      </p:sp>
      <p:sp>
        <p:nvSpPr>
          <p:cNvPr id="9" name="Round Diagonal Corner of Rectangle 8">
            <a:extLst>
              <a:ext uri="{FF2B5EF4-FFF2-40B4-BE49-F238E27FC236}">
                <a16:creationId xmlns:a16="http://schemas.microsoft.com/office/drawing/2014/main" id="{10631EC3-0AD3-164E-AF11-6A057C004796}"/>
              </a:ext>
            </a:extLst>
          </p:cNvPr>
          <p:cNvSpPr/>
          <p:nvPr/>
        </p:nvSpPr>
        <p:spPr>
          <a:xfrm>
            <a:off x="477792" y="1686945"/>
            <a:ext cx="8246078" cy="4590409"/>
          </a:xfrm>
          <a:prstGeom prst="round2DiagRect">
            <a:avLst/>
          </a:prstGeom>
          <a:noFill/>
          <a:ln w="3810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5202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1" y="540704"/>
            <a:ext cx="6343923"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Ageing and Physical Condition</a:t>
            </a:r>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p:txBody>
          <a:bodyPr>
            <a:normAutofit lnSpcReduction="10000"/>
          </a:bodyPr>
          <a:lstStyle/>
          <a:p>
            <a:r>
              <a:rPr lang="en-US" dirty="0"/>
              <a:t>Men: VO2max tends to drop 5 ml/kg/min each decade starting at age 20 (drop </a:t>
            </a:r>
            <a:r>
              <a:rPr lang="en-US" dirty="0" err="1"/>
              <a:t>fro</a:t>
            </a:r>
            <a:r>
              <a:rPr lang="en-US" dirty="0"/>
              <a:t> 45 ml/kg/min)</a:t>
            </a:r>
          </a:p>
          <a:p>
            <a:r>
              <a:rPr lang="en-US" dirty="0"/>
              <a:t>Women: VO2max tends to drop 5 ml/kg/min each decade starting at age 35 (drop from 38 ml/kg/min)</a:t>
            </a:r>
          </a:p>
          <a:p>
            <a:r>
              <a:rPr lang="en-US" dirty="0"/>
              <a:t>Once VO2max drops to 18 ml/kg/min for men and 15 ml/kg/min for women a person loses functional independence</a:t>
            </a:r>
          </a:p>
          <a:p>
            <a:r>
              <a:rPr lang="en-US" dirty="0"/>
              <a:t>Aerobic activity (e.g., brisk walking) can slow decline significantly</a:t>
            </a:r>
          </a:p>
        </p:txBody>
      </p:sp>
      <p:sp>
        <p:nvSpPr>
          <p:cNvPr id="9" name="Round Diagonal Corner of Rectangle 8">
            <a:extLst>
              <a:ext uri="{FF2B5EF4-FFF2-40B4-BE49-F238E27FC236}">
                <a16:creationId xmlns:a16="http://schemas.microsoft.com/office/drawing/2014/main" id="{10631EC3-0AD3-164E-AF11-6A057C004796}"/>
              </a:ext>
            </a:extLst>
          </p:cNvPr>
          <p:cNvSpPr/>
          <p:nvPr/>
        </p:nvSpPr>
        <p:spPr>
          <a:xfrm>
            <a:off x="477792" y="1686945"/>
            <a:ext cx="8246078" cy="4590409"/>
          </a:xfrm>
          <a:prstGeom prst="round2DiagRect">
            <a:avLst/>
          </a:prstGeom>
          <a:noFill/>
          <a:ln w="3810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FDDF44B-0480-A91D-DA6A-39791F957E52}"/>
              </a:ext>
            </a:extLst>
          </p:cNvPr>
          <p:cNvSpPr txBox="1"/>
          <p:nvPr/>
        </p:nvSpPr>
        <p:spPr>
          <a:xfrm>
            <a:off x="5646843" y="6176963"/>
            <a:ext cx="6547964" cy="646331"/>
          </a:xfrm>
          <a:prstGeom prst="rect">
            <a:avLst/>
          </a:prstGeom>
          <a:noFill/>
        </p:spPr>
        <p:txBody>
          <a:bodyPr wrap="square">
            <a:spAutoFit/>
          </a:bodyPr>
          <a:lstStyle/>
          <a:p>
            <a:r>
              <a:rPr lang="en-GB" b="0" i="0" u="none" strike="noStrike" dirty="0">
                <a:solidFill>
                  <a:schemeClr val="bg1"/>
                </a:solidFill>
                <a:effectLst/>
                <a:latin typeface="Calibri" panose="020F0502020204030204" pitchFamily="34" charset="0"/>
                <a:cs typeface="Calibri" panose="020F0502020204030204" pitchFamily="34" charset="0"/>
              </a:rPr>
              <a:t>Shephard, R. J. (2008). Maximal oxygen intake and independence in old age. British Journal of Sports Medicine, pp 1-19</a:t>
            </a:r>
            <a:endParaRPr lang="en-US"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49008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1" y="540704"/>
            <a:ext cx="4954821"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Ageing and Muscle Loss</a:t>
            </a:r>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200" y="1825625"/>
            <a:ext cx="7491761" cy="4622108"/>
          </a:xfrm>
        </p:spPr>
        <p:txBody>
          <a:bodyPr>
            <a:normAutofit fontScale="85000" lnSpcReduction="20000"/>
          </a:bodyPr>
          <a:lstStyle/>
          <a:p>
            <a:r>
              <a:rPr lang="en-US" altLang="en-US" dirty="0"/>
              <a:t>As a normal part of the aging process, individuals experience a loss of skeletal </a:t>
            </a:r>
            <a:r>
              <a:rPr lang="en-US" altLang="en-US" dirty="0">
                <a:solidFill>
                  <a:schemeClr val="bg1"/>
                </a:solidFill>
              </a:rPr>
              <a:t>muscle. </a:t>
            </a:r>
          </a:p>
          <a:p>
            <a:endParaRPr lang="en-US" altLang="en-US" dirty="0"/>
          </a:p>
          <a:p>
            <a:r>
              <a:rPr lang="en-US" altLang="en-US" dirty="0">
                <a:solidFill>
                  <a:schemeClr val="bg1"/>
                </a:solidFill>
              </a:rPr>
              <a:t>Muscle and strength loss has been documented in individuals over the age of 40 (</a:t>
            </a:r>
            <a:r>
              <a:rPr lang="en-US" altLang="en-US" dirty="0" err="1">
                <a:solidFill>
                  <a:schemeClr val="bg1"/>
                </a:solidFill>
              </a:rPr>
              <a:t>Melov</a:t>
            </a:r>
            <a:r>
              <a:rPr lang="en-US" altLang="en-US" dirty="0">
                <a:solidFill>
                  <a:schemeClr val="bg1"/>
                </a:solidFill>
              </a:rPr>
              <a:t> et al., 2007)</a:t>
            </a:r>
          </a:p>
          <a:p>
            <a:pPr eaLnBrk="1" hangingPunct="1"/>
            <a:endParaRPr lang="en-US" altLang="en-US" dirty="0">
              <a:solidFill>
                <a:schemeClr val="bg1"/>
              </a:solidFill>
            </a:endParaRPr>
          </a:p>
          <a:p>
            <a:pPr eaLnBrk="1" hangingPunct="1"/>
            <a:r>
              <a:rPr lang="en-US" altLang="en-US" dirty="0">
                <a:solidFill>
                  <a:schemeClr val="bg1"/>
                </a:solidFill>
              </a:rPr>
              <a:t>This loss of muscle tissue, with an associated loss of strength and mass, is referred to as sarcopenia.</a:t>
            </a:r>
          </a:p>
          <a:p>
            <a:pPr marL="0" indent="0" eaLnBrk="1" hangingPunct="1">
              <a:buNone/>
            </a:pPr>
            <a:endParaRPr lang="en-US" altLang="en-US" dirty="0">
              <a:solidFill>
                <a:schemeClr val="bg1"/>
              </a:solidFill>
            </a:endParaRPr>
          </a:p>
          <a:p>
            <a:pPr eaLnBrk="1" hangingPunct="1"/>
            <a:r>
              <a:rPr lang="en-US" altLang="en-US" dirty="0">
                <a:solidFill>
                  <a:schemeClr val="bg1"/>
                </a:solidFill>
              </a:rPr>
              <a:t>Sarcopenia can begin as early as the fourth decade of life. However, by the seventh and eighth decades of life, a decrease in the maximal contractile strength on the order of 20-40% for both men and women is observed.</a:t>
            </a:r>
          </a:p>
          <a:p>
            <a:pPr eaLnBrk="1" hangingPunct="1"/>
            <a:endParaRPr lang="en-US" altLang="en-US" dirty="0">
              <a:solidFill>
                <a:schemeClr val="bg1"/>
              </a:solidFill>
            </a:endParaRPr>
          </a:p>
        </p:txBody>
      </p:sp>
      <p:sp>
        <p:nvSpPr>
          <p:cNvPr id="9" name="Round Diagonal Corner of Rectangle 8">
            <a:extLst>
              <a:ext uri="{FF2B5EF4-FFF2-40B4-BE49-F238E27FC236}">
                <a16:creationId xmlns:a16="http://schemas.microsoft.com/office/drawing/2014/main" id="{10631EC3-0AD3-164E-AF11-6A057C004796}"/>
              </a:ext>
            </a:extLst>
          </p:cNvPr>
          <p:cNvSpPr/>
          <p:nvPr/>
        </p:nvSpPr>
        <p:spPr>
          <a:xfrm>
            <a:off x="477792" y="1686945"/>
            <a:ext cx="8246078" cy="4590409"/>
          </a:xfrm>
          <a:prstGeom prst="round2DiagRect">
            <a:avLst/>
          </a:prstGeom>
          <a:noFill/>
          <a:ln w="3810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5678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1" y="540704"/>
            <a:ext cx="7852170"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Age-related Changes to Muscle Structure</a:t>
            </a:r>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p:txBody>
          <a:bodyPr>
            <a:normAutofit/>
          </a:bodyPr>
          <a:lstStyle/>
          <a:p>
            <a:pPr algn="l"/>
            <a:r>
              <a:rPr lang="en-GB" b="0" i="0" u="none" strike="noStrike" dirty="0">
                <a:effectLst/>
                <a:latin typeface="Calibri" panose="020F0502020204030204" pitchFamily="34" charset="0"/>
                <a:cs typeface="Calibri" panose="020F0502020204030204" pitchFamily="34" charset="0"/>
              </a:rPr>
              <a:t>Reduced muscle mass (replaced by increased fat mass)</a:t>
            </a:r>
          </a:p>
          <a:p>
            <a:pPr algn="l"/>
            <a:endParaRPr lang="en-GB" dirty="0">
              <a:latin typeface="Calibri" panose="020F0502020204030204" pitchFamily="34" charset="0"/>
              <a:cs typeface="Calibri" panose="020F0502020204030204" pitchFamily="34" charset="0"/>
            </a:endParaRPr>
          </a:p>
          <a:p>
            <a:pPr algn="l"/>
            <a:r>
              <a:rPr lang="en-GB" b="0" i="0" u="none" strike="noStrike" dirty="0">
                <a:effectLst/>
                <a:latin typeface="Calibri" panose="020F0502020204030204" pitchFamily="34" charset="0"/>
                <a:cs typeface="Calibri" panose="020F0502020204030204" pitchFamily="34" charset="0"/>
              </a:rPr>
              <a:t>Reduced muscle strength</a:t>
            </a:r>
          </a:p>
          <a:p>
            <a:pPr algn="l"/>
            <a:endParaRPr lang="en-GB" dirty="0">
              <a:latin typeface="Calibri" panose="020F0502020204030204" pitchFamily="34" charset="0"/>
              <a:cs typeface="Calibri" panose="020F0502020204030204" pitchFamily="34" charset="0"/>
            </a:endParaRPr>
          </a:p>
          <a:p>
            <a:pPr algn="l"/>
            <a:r>
              <a:rPr lang="en-GB" b="0" i="0" u="none" strike="noStrike" dirty="0">
                <a:effectLst/>
                <a:latin typeface="Calibri" panose="020F0502020204030204" pitchFamily="34" charset="0"/>
                <a:cs typeface="Calibri" panose="020F0502020204030204" pitchFamily="34" charset="0"/>
              </a:rPr>
              <a:t>Changes in muscle fibre size</a:t>
            </a:r>
          </a:p>
          <a:p>
            <a:pPr algn="l"/>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Decreased m</a:t>
            </a:r>
            <a:r>
              <a:rPr lang="en-GB" b="0" i="0" u="none" strike="noStrike" dirty="0">
                <a:effectLst/>
                <a:latin typeface="Calibri" panose="020F0502020204030204" pitchFamily="34" charset="0"/>
                <a:cs typeface="Calibri" panose="020F0502020204030204" pitchFamily="34" charset="0"/>
              </a:rPr>
              <a:t>otor unit number and size</a:t>
            </a:r>
          </a:p>
          <a:p>
            <a:pPr eaLnBrk="1" hangingPunct="1"/>
            <a:endParaRPr lang="en-US" altLang="en-US" dirty="0">
              <a:solidFill>
                <a:schemeClr val="bg1"/>
              </a:solidFill>
              <a:latin typeface="Calibri" panose="020F0502020204030204" pitchFamily="34" charset="0"/>
              <a:cs typeface="Calibri" panose="020F0502020204030204" pitchFamily="34" charset="0"/>
            </a:endParaRPr>
          </a:p>
        </p:txBody>
      </p:sp>
      <p:sp>
        <p:nvSpPr>
          <p:cNvPr id="9" name="Round Diagonal Corner of Rectangle 8">
            <a:extLst>
              <a:ext uri="{FF2B5EF4-FFF2-40B4-BE49-F238E27FC236}">
                <a16:creationId xmlns:a16="http://schemas.microsoft.com/office/drawing/2014/main" id="{10631EC3-0AD3-164E-AF11-6A057C004796}"/>
              </a:ext>
            </a:extLst>
          </p:cNvPr>
          <p:cNvSpPr/>
          <p:nvPr/>
        </p:nvSpPr>
        <p:spPr>
          <a:xfrm>
            <a:off x="477792" y="1686945"/>
            <a:ext cx="8246078" cy="4590409"/>
          </a:xfrm>
          <a:prstGeom prst="round2DiagRect">
            <a:avLst/>
          </a:prstGeom>
          <a:noFill/>
          <a:ln w="3810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5981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8" name="Picture 4" descr="MRI results comparing 40 y.o. athlete, 70 y.o athlete to 74 y.o sedentary  person. Exercise is incredibly important. : r/Damnthatsinteresting">
            <a:extLst>
              <a:ext uri="{FF2B5EF4-FFF2-40B4-BE49-F238E27FC236}">
                <a16:creationId xmlns:a16="http://schemas.microsoft.com/office/drawing/2014/main" id="{A5FEE65E-3086-292F-EB4C-1BCD6760D21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1852"/>
          <a:stretch/>
        </p:blipFill>
        <p:spPr bwMode="auto">
          <a:xfrm>
            <a:off x="612549" y="384804"/>
            <a:ext cx="5246687" cy="60883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MRI results comparing 40 y.o. athlete, 70 y.o athlete to 74 y.o sedentary  person. Exercise is incredibly important. : r/Damnthatsinteresting">
            <a:extLst>
              <a:ext uri="{FF2B5EF4-FFF2-40B4-BE49-F238E27FC236}">
                <a16:creationId xmlns:a16="http://schemas.microsoft.com/office/drawing/2014/main" id="{2C403E21-B6E7-DC52-CFAE-C98FDBF3DBC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1852"/>
          <a:stretch/>
        </p:blipFill>
        <p:spPr bwMode="auto">
          <a:xfrm>
            <a:off x="6332766" y="384803"/>
            <a:ext cx="5246687" cy="6088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838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1" y="540704"/>
            <a:ext cx="4954821"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US" altLang="en-US" sz="2800" dirty="0"/>
              <a:t>Sarcopenia</a:t>
            </a:r>
            <a:endParaRPr lang="en-GB" dirty="0"/>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p:txBody>
          <a:bodyPr>
            <a:normAutofit/>
          </a:bodyPr>
          <a:lstStyle/>
          <a:p>
            <a:pPr eaLnBrk="1" hangingPunct="1"/>
            <a:r>
              <a:rPr lang="en-US" altLang="en-US" sz="2800" dirty="0">
                <a:solidFill>
                  <a:schemeClr val="bg1"/>
                </a:solidFill>
              </a:rPr>
              <a:t>Involuntary loss of skeletal muscle mass, strength, and function.</a:t>
            </a:r>
          </a:p>
          <a:p>
            <a:pPr eaLnBrk="1" hangingPunct="1"/>
            <a:r>
              <a:rPr lang="en-US" altLang="en-US" sz="2800" dirty="0">
                <a:solidFill>
                  <a:schemeClr val="bg1"/>
                </a:solidFill>
              </a:rPr>
              <a:t>Factors which contribute to sarcopenia include:</a:t>
            </a:r>
          </a:p>
          <a:p>
            <a:pPr lvl="1"/>
            <a:r>
              <a:rPr lang="en-US" altLang="en-US" dirty="0">
                <a:solidFill>
                  <a:schemeClr val="bg1"/>
                </a:solidFill>
              </a:rPr>
              <a:t>Oxidative stress</a:t>
            </a:r>
          </a:p>
          <a:p>
            <a:pPr lvl="1"/>
            <a:r>
              <a:rPr lang="en-US" altLang="en-US" dirty="0"/>
              <a:t>C</a:t>
            </a:r>
            <a:r>
              <a:rPr lang="en-US" altLang="en-US" dirty="0">
                <a:solidFill>
                  <a:schemeClr val="bg1"/>
                </a:solidFill>
              </a:rPr>
              <a:t>ell death</a:t>
            </a:r>
          </a:p>
          <a:p>
            <a:pPr lvl="1"/>
            <a:r>
              <a:rPr lang="en-US" altLang="en-US" dirty="0"/>
              <a:t>I</a:t>
            </a:r>
            <a:r>
              <a:rPr lang="en-US" altLang="en-US" dirty="0">
                <a:solidFill>
                  <a:schemeClr val="bg1"/>
                </a:solidFill>
              </a:rPr>
              <a:t>nflammation</a:t>
            </a:r>
          </a:p>
          <a:p>
            <a:pPr lvl="1"/>
            <a:r>
              <a:rPr lang="en-US" altLang="en-US" dirty="0"/>
              <a:t>H</a:t>
            </a:r>
            <a:r>
              <a:rPr lang="en-US" altLang="en-US" dirty="0">
                <a:solidFill>
                  <a:schemeClr val="bg1"/>
                </a:solidFill>
              </a:rPr>
              <a:t>ormonal dysregulation</a:t>
            </a:r>
          </a:p>
          <a:p>
            <a:pPr lvl="1"/>
            <a:r>
              <a:rPr lang="en-US" altLang="en-US" dirty="0">
                <a:solidFill>
                  <a:schemeClr val="bg1"/>
                </a:solidFill>
              </a:rPr>
              <a:t>Inactivity</a:t>
            </a:r>
          </a:p>
          <a:p>
            <a:pPr lvl="1"/>
            <a:r>
              <a:rPr lang="en-US" altLang="en-US" dirty="0"/>
              <a:t>A</a:t>
            </a:r>
            <a:r>
              <a:rPr lang="en-US" altLang="en-US" dirty="0">
                <a:solidFill>
                  <a:schemeClr val="bg1"/>
                </a:solidFill>
              </a:rPr>
              <a:t>lterations in protein turnover</a:t>
            </a:r>
          </a:p>
          <a:p>
            <a:pPr lvl="1"/>
            <a:r>
              <a:rPr lang="en-US" altLang="en-US" dirty="0"/>
              <a:t>M</a:t>
            </a:r>
            <a:r>
              <a:rPr lang="en-US" altLang="en-US" dirty="0">
                <a:solidFill>
                  <a:schemeClr val="bg1"/>
                </a:solidFill>
              </a:rPr>
              <a:t>itochondrial dysfunction</a:t>
            </a:r>
          </a:p>
        </p:txBody>
      </p:sp>
      <p:sp>
        <p:nvSpPr>
          <p:cNvPr id="9" name="Round Diagonal Corner of Rectangle 8">
            <a:extLst>
              <a:ext uri="{FF2B5EF4-FFF2-40B4-BE49-F238E27FC236}">
                <a16:creationId xmlns:a16="http://schemas.microsoft.com/office/drawing/2014/main" id="{10631EC3-0AD3-164E-AF11-6A057C004796}"/>
              </a:ext>
            </a:extLst>
          </p:cNvPr>
          <p:cNvSpPr/>
          <p:nvPr/>
        </p:nvSpPr>
        <p:spPr>
          <a:xfrm>
            <a:off x="477792" y="1686945"/>
            <a:ext cx="8246078" cy="4590409"/>
          </a:xfrm>
          <a:prstGeom prst="round2DiagRect">
            <a:avLst/>
          </a:prstGeom>
          <a:noFill/>
          <a:ln w="3810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3067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1" y="540704"/>
            <a:ext cx="5618209"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US" altLang="en-US" dirty="0"/>
              <a:t>Consequences of Sarcopenia</a:t>
            </a:r>
            <a:endParaRPr lang="en-GB" dirty="0"/>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200" y="1862296"/>
            <a:ext cx="7885670" cy="4454999"/>
          </a:xfrm>
        </p:spPr>
        <p:txBody>
          <a:bodyPr>
            <a:normAutofit fontScale="85000" lnSpcReduction="20000"/>
          </a:bodyPr>
          <a:lstStyle/>
          <a:p>
            <a:pPr eaLnBrk="1" hangingPunct="1"/>
            <a:r>
              <a:rPr lang="en-US" altLang="en-US" dirty="0"/>
              <a:t>R</a:t>
            </a:r>
            <a:r>
              <a:rPr lang="en-US" altLang="en-US" dirty="0">
                <a:solidFill>
                  <a:schemeClr val="bg1"/>
                </a:solidFill>
              </a:rPr>
              <a:t>educed function</a:t>
            </a:r>
          </a:p>
          <a:p>
            <a:pPr lvl="1"/>
            <a:r>
              <a:rPr lang="en-US" altLang="en-US" dirty="0"/>
              <a:t>L</a:t>
            </a:r>
            <a:r>
              <a:rPr lang="en-US" altLang="en-US" dirty="0">
                <a:solidFill>
                  <a:schemeClr val="bg1"/>
                </a:solidFill>
              </a:rPr>
              <a:t>oss of approximately 40% of lean body mass is fatal</a:t>
            </a:r>
          </a:p>
          <a:p>
            <a:pPr eaLnBrk="1" hangingPunct="1"/>
            <a:r>
              <a:rPr lang="en-US" altLang="en-US" dirty="0">
                <a:solidFill>
                  <a:schemeClr val="bg1"/>
                </a:solidFill>
              </a:rPr>
              <a:t>Reduction of muscle size </a:t>
            </a:r>
          </a:p>
          <a:p>
            <a:pPr eaLnBrk="1" hangingPunct="1"/>
            <a:r>
              <a:rPr lang="en-US" altLang="en-US" dirty="0">
                <a:solidFill>
                  <a:schemeClr val="bg1"/>
                </a:solidFill>
              </a:rPr>
              <a:t>Reduction in satellite cells</a:t>
            </a:r>
          </a:p>
          <a:p>
            <a:pPr marL="457200" lvl="1" indent="0">
              <a:buNone/>
            </a:pPr>
            <a:r>
              <a:rPr lang="en-US" altLang="en-US" dirty="0">
                <a:solidFill>
                  <a:schemeClr val="bg1"/>
                </a:solidFill>
              </a:rPr>
              <a:t>Plays a role in muscle growth, repair, and regeneration, mitochondrial numbers, and elasticity.</a:t>
            </a:r>
          </a:p>
          <a:p>
            <a:pPr eaLnBrk="1" hangingPunct="1"/>
            <a:r>
              <a:rPr lang="en-US" altLang="en-US" dirty="0">
                <a:solidFill>
                  <a:schemeClr val="bg1"/>
                </a:solidFill>
              </a:rPr>
              <a:t>Sarcopenia is seen in increasing numbers with advancing age but is not universal.</a:t>
            </a:r>
          </a:p>
          <a:p>
            <a:pPr eaLnBrk="1" hangingPunct="1"/>
            <a:r>
              <a:rPr lang="en-US" altLang="en-US" dirty="0">
                <a:solidFill>
                  <a:schemeClr val="bg1"/>
                </a:solidFill>
              </a:rPr>
              <a:t>Sarcopenia varies in degree of physical activity, gender, and race.</a:t>
            </a:r>
          </a:p>
          <a:p>
            <a:pPr eaLnBrk="1" hangingPunct="1"/>
            <a:r>
              <a:rPr lang="en-US" altLang="en-US" dirty="0">
                <a:solidFill>
                  <a:schemeClr val="bg1"/>
                </a:solidFill>
              </a:rPr>
              <a:t>Contributes (along with reduction in balance) to reduced gait speed.</a:t>
            </a:r>
          </a:p>
          <a:p>
            <a:pPr eaLnBrk="1" hangingPunct="1"/>
            <a:r>
              <a:rPr lang="en-US" altLang="en-US" dirty="0">
                <a:solidFill>
                  <a:schemeClr val="bg1"/>
                </a:solidFill>
              </a:rPr>
              <a:t>The combination of osteoporosis and sarcopenia results in the frailty which frequently occurs in the elderly population.</a:t>
            </a:r>
          </a:p>
        </p:txBody>
      </p:sp>
      <p:sp>
        <p:nvSpPr>
          <p:cNvPr id="9" name="Round Diagonal Corner of Rectangle 8">
            <a:extLst>
              <a:ext uri="{FF2B5EF4-FFF2-40B4-BE49-F238E27FC236}">
                <a16:creationId xmlns:a16="http://schemas.microsoft.com/office/drawing/2014/main" id="{10631EC3-0AD3-164E-AF11-6A057C004796}"/>
              </a:ext>
            </a:extLst>
          </p:cNvPr>
          <p:cNvSpPr/>
          <p:nvPr/>
        </p:nvSpPr>
        <p:spPr>
          <a:xfrm>
            <a:off x="477792" y="1686945"/>
            <a:ext cx="8246078" cy="4590409"/>
          </a:xfrm>
          <a:prstGeom prst="round2DiagRect">
            <a:avLst/>
          </a:prstGeom>
          <a:noFill/>
          <a:ln w="3810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0032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1" y="540704"/>
            <a:ext cx="5618209"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US" altLang="en-US" dirty="0"/>
              <a:t>Consequences of Sarcopenia</a:t>
            </a:r>
            <a:endParaRPr lang="en-GB" dirty="0"/>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200" y="1862296"/>
            <a:ext cx="7885670" cy="4454999"/>
          </a:xfrm>
        </p:spPr>
        <p:txBody>
          <a:bodyPr>
            <a:normAutofit lnSpcReduction="10000"/>
          </a:bodyPr>
          <a:lstStyle/>
          <a:p>
            <a:pPr eaLnBrk="1" hangingPunct="1"/>
            <a:r>
              <a:rPr lang="en-US" altLang="en-US" dirty="0"/>
              <a:t>Increased insulin resistance</a:t>
            </a:r>
          </a:p>
          <a:p>
            <a:pPr eaLnBrk="1" hangingPunct="1"/>
            <a:endParaRPr lang="en-US" altLang="en-US" dirty="0"/>
          </a:p>
          <a:p>
            <a:r>
              <a:rPr lang="en-US" altLang="en-US" dirty="0">
                <a:solidFill>
                  <a:schemeClr val="bg1"/>
                </a:solidFill>
              </a:rPr>
              <a:t>Decreased GH</a:t>
            </a:r>
          </a:p>
          <a:p>
            <a:endParaRPr lang="en-US" altLang="en-US" dirty="0">
              <a:solidFill>
                <a:schemeClr val="bg1"/>
              </a:solidFill>
            </a:endParaRPr>
          </a:p>
          <a:p>
            <a:r>
              <a:rPr lang="en-US" altLang="en-US" dirty="0"/>
              <a:t>Reduction in sex hormones</a:t>
            </a:r>
          </a:p>
          <a:p>
            <a:endParaRPr lang="en-US" altLang="en-US" dirty="0"/>
          </a:p>
          <a:p>
            <a:r>
              <a:rPr lang="en-US" altLang="en-US" dirty="0">
                <a:solidFill>
                  <a:schemeClr val="bg1"/>
                </a:solidFill>
              </a:rPr>
              <a:t>Vitamin</a:t>
            </a:r>
            <a:r>
              <a:rPr lang="en-US" altLang="en-US" dirty="0"/>
              <a:t> D deficiency</a:t>
            </a:r>
          </a:p>
          <a:p>
            <a:endParaRPr lang="en-US" altLang="en-US" dirty="0"/>
          </a:p>
          <a:p>
            <a:r>
              <a:rPr lang="en-US" altLang="en-US" dirty="0">
                <a:solidFill>
                  <a:schemeClr val="bg1"/>
                </a:solidFill>
              </a:rPr>
              <a:t>Increased parathyroid hormone</a:t>
            </a:r>
          </a:p>
        </p:txBody>
      </p:sp>
      <p:sp>
        <p:nvSpPr>
          <p:cNvPr id="9" name="Round Diagonal Corner of Rectangle 8">
            <a:extLst>
              <a:ext uri="{FF2B5EF4-FFF2-40B4-BE49-F238E27FC236}">
                <a16:creationId xmlns:a16="http://schemas.microsoft.com/office/drawing/2014/main" id="{10631EC3-0AD3-164E-AF11-6A057C004796}"/>
              </a:ext>
            </a:extLst>
          </p:cNvPr>
          <p:cNvSpPr/>
          <p:nvPr/>
        </p:nvSpPr>
        <p:spPr>
          <a:xfrm>
            <a:off x="477792" y="1686945"/>
            <a:ext cx="8246078" cy="4590409"/>
          </a:xfrm>
          <a:prstGeom prst="round2DiagRect">
            <a:avLst/>
          </a:prstGeom>
          <a:noFill/>
          <a:ln w="3810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1009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1" y="540704"/>
            <a:ext cx="5618209"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US" altLang="en-US" dirty="0"/>
              <a:t>Minimising the Deterioration</a:t>
            </a:r>
            <a:endParaRPr lang="en-GB" dirty="0"/>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199" y="1870539"/>
            <a:ext cx="10515600" cy="2083171"/>
          </a:xfrm>
        </p:spPr>
        <p:txBody>
          <a:bodyPr>
            <a:normAutofit fontScale="92500" lnSpcReduction="10000"/>
          </a:bodyPr>
          <a:lstStyle/>
          <a:p>
            <a:pPr marL="0" indent="0" eaLnBrk="1" hangingPunct="1">
              <a:buNone/>
            </a:pPr>
            <a:r>
              <a:rPr lang="en-US" altLang="en-US" i="1" dirty="0"/>
              <a:t>"This review provides evidence that PRT (Progressive resistance strength training) is an effective intervention for improving physical functioning in older people, including improving strength and the performance of some simple and complex activities. However, some caution is needed with transferring these exercises for use with clinical populations because adverse events are not adequately reported."</a:t>
            </a:r>
            <a:endParaRPr lang="en-US" altLang="en-US" i="1" dirty="0">
              <a:solidFill>
                <a:schemeClr val="bg1"/>
              </a:solidFill>
            </a:endParaRPr>
          </a:p>
        </p:txBody>
      </p:sp>
      <p:pic>
        <p:nvPicPr>
          <p:cNvPr id="5" name="Picture 4">
            <a:extLst>
              <a:ext uri="{FF2B5EF4-FFF2-40B4-BE49-F238E27FC236}">
                <a16:creationId xmlns:a16="http://schemas.microsoft.com/office/drawing/2014/main" id="{757A2207-C108-5218-650D-0F48F93BF9DB}"/>
              </a:ext>
            </a:extLst>
          </p:cNvPr>
          <p:cNvPicPr>
            <a:picLocks noChangeAspect="1"/>
          </p:cNvPicPr>
          <p:nvPr/>
        </p:nvPicPr>
        <p:blipFill rotWithShape="1">
          <a:blip r:embed="rId3"/>
          <a:srcRect b="79046"/>
          <a:stretch/>
        </p:blipFill>
        <p:spPr>
          <a:xfrm>
            <a:off x="1795715" y="4307684"/>
            <a:ext cx="8600569" cy="2550316"/>
          </a:xfrm>
          <a:prstGeom prst="rect">
            <a:avLst/>
          </a:prstGeom>
          <a:solidFill>
            <a:schemeClr val="bg1"/>
          </a:solidFill>
        </p:spPr>
      </p:pic>
    </p:spTree>
    <p:extLst>
      <p:ext uri="{BB962C8B-B14F-4D97-AF65-F5344CB8AC3E}">
        <p14:creationId xmlns:p14="http://schemas.microsoft.com/office/powerpoint/2010/main" val="3261257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1" y="540704"/>
            <a:ext cx="5618209"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US" altLang="en-US" dirty="0"/>
              <a:t>Minimising the Deterioration</a:t>
            </a:r>
            <a:endParaRPr lang="en-GB" dirty="0"/>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200" y="1862296"/>
            <a:ext cx="7885670" cy="4454999"/>
          </a:xfrm>
        </p:spPr>
        <p:txBody>
          <a:bodyPr>
            <a:normAutofit lnSpcReduction="10000"/>
          </a:bodyPr>
          <a:lstStyle/>
          <a:p>
            <a:pPr eaLnBrk="1" hangingPunct="1"/>
            <a:r>
              <a:rPr lang="en-US" altLang="en-US" dirty="0">
                <a:solidFill>
                  <a:schemeClr val="bg1"/>
                </a:solidFill>
              </a:rPr>
              <a:t>Resistance training (2-3 times per week)</a:t>
            </a:r>
          </a:p>
          <a:p>
            <a:pPr eaLnBrk="1" hangingPunct="1"/>
            <a:endParaRPr lang="en-US" altLang="en-US" dirty="0"/>
          </a:p>
          <a:p>
            <a:pPr eaLnBrk="1" hangingPunct="1"/>
            <a:r>
              <a:rPr lang="en-US" altLang="en-US" dirty="0">
                <a:solidFill>
                  <a:schemeClr val="bg1"/>
                </a:solidFill>
              </a:rPr>
              <a:t>Moderate aerobic activities (</a:t>
            </a:r>
            <a:r>
              <a:rPr lang="en-US" altLang="en-US" dirty="0"/>
              <a:t>&gt;150 min per week)</a:t>
            </a:r>
          </a:p>
          <a:p>
            <a:pPr eaLnBrk="1" hangingPunct="1"/>
            <a:endParaRPr lang="en-US" altLang="en-US" dirty="0">
              <a:solidFill>
                <a:schemeClr val="bg1"/>
              </a:solidFill>
            </a:endParaRPr>
          </a:p>
          <a:p>
            <a:pPr eaLnBrk="1" hangingPunct="1"/>
            <a:r>
              <a:rPr lang="en-US" altLang="en-US" dirty="0">
                <a:solidFill>
                  <a:schemeClr val="bg1"/>
                </a:solidFill>
              </a:rPr>
              <a:t>Adequate protein and energy intake</a:t>
            </a:r>
          </a:p>
          <a:p>
            <a:pPr lvl="1"/>
            <a:r>
              <a:rPr lang="en-US" altLang="en-US" dirty="0"/>
              <a:t>Patients with sarcopenia recommended 1.0-1.2 g/kg BM per day</a:t>
            </a:r>
          </a:p>
          <a:p>
            <a:pPr lvl="1"/>
            <a:endParaRPr lang="en-US" altLang="en-US" dirty="0">
              <a:solidFill>
                <a:schemeClr val="bg1"/>
              </a:solidFill>
            </a:endParaRPr>
          </a:p>
          <a:p>
            <a:r>
              <a:rPr lang="en-US" altLang="en-US" dirty="0"/>
              <a:t>Resistance training and high protein diets act synergistically</a:t>
            </a:r>
            <a:endParaRPr lang="en-US" altLang="en-US" dirty="0">
              <a:solidFill>
                <a:schemeClr val="bg1"/>
              </a:solidFill>
            </a:endParaRPr>
          </a:p>
        </p:txBody>
      </p:sp>
      <p:sp>
        <p:nvSpPr>
          <p:cNvPr id="9" name="Round Diagonal Corner of Rectangle 8">
            <a:extLst>
              <a:ext uri="{FF2B5EF4-FFF2-40B4-BE49-F238E27FC236}">
                <a16:creationId xmlns:a16="http://schemas.microsoft.com/office/drawing/2014/main" id="{10631EC3-0AD3-164E-AF11-6A057C004796}"/>
              </a:ext>
            </a:extLst>
          </p:cNvPr>
          <p:cNvSpPr/>
          <p:nvPr/>
        </p:nvSpPr>
        <p:spPr>
          <a:xfrm>
            <a:off x="477792" y="1686945"/>
            <a:ext cx="8246078" cy="4590409"/>
          </a:xfrm>
          <a:prstGeom prst="round2DiagRect">
            <a:avLst/>
          </a:prstGeom>
          <a:noFill/>
          <a:ln w="3810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5274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1" y="540704"/>
            <a:ext cx="5618209"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US" altLang="en-US" dirty="0"/>
              <a:t>Consequences of Sarcopenia</a:t>
            </a:r>
            <a:endParaRPr lang="en-GB" dirty="0"/>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200" y="1817936"/>
            <a:ext cx="7491761" cy="4459418"/>
          </a:xfrm>
        </p:spPr>
        <p:txBody>
          <a:bodyPr>
            <a:normAutofit fontScale="92500" lnSpcReduction="10000"/>
          </a:bodyPr>
          <a:lstStyle/>
          <a:p>
            <a:pPr eaLnBrk="1" hangingPunct="1"/>
            <a:r>
              <a:rPr lang="en-US" altLang="en-US" dirty="0">
                <a:solidFill>
                  <a:schemeClr val="bg1"/>
                </a:solidFill>
              </a:rPr>
              <a:t>What did I miss?</a:t>
            </a:r>
          </a:p>
          <a:p>
            <a:pPr lvl="1"/>
            <a:r>
              <a:rPr lang="en-US" altLang="en-US" dirty="0"/>
              <a:t>Falls</a:t>
            </a:r>
          </a:p>
          <a:p>
            <a:r>
              <a:rPr lang="en-US" altLang="en-US" dirty="0">
                <a:solidFill>
                  <a:schemeClr val="bg1"/>
                </a:solidFill>
              </a:rPr>
              <a:t>The leading cause of mortality resulting from injury in people aged &gt; 75 years</a:t>
            </a:r>
          </a:p>
          <a:p>
            <a:r>
              <a:rPr lang="en-US" altLang="en-US" dirty="0">
                <a:solidFill>
                  <a:schemeClr val="bg1"/>
                </a:solidFill>
              </a:rPr>
              <a:t>400,000 older people attend A&amp;E each year for falls</a:t>
            </a:r>
          </a:p>
          <a:p>
            <a:r>
              <a:rPr lang="en-US" altLang="en-US" dirty="0">
                <a:solidFill>
                  <a:schemeClr val="bg1"/>
                </a:solidFill>
              </a:rPr>
              <a:t>14,000 die due to osteoporotic hip fractures each year</a:t>
            </a:r>
          </a:p>
          <a:p>
            <a:r>
              <a:rPr lang="en-US" altLang="en-US" dirty="0">
                <a:solidFill>
                  <a:schemeClr val="bg1"/>
                </a:solidFill>
              </a:rPr>
              <a:t>1 in 3 people &gt; 65 years fall at least once per year</a:t>
            </a:r>
          </a:p>
          <a:p>
            <a:r>
              <a:rPr lang="en-US" altLang="en-US" dirty="0">
                <a:solidFill>
                  <a:schemeClr val="bg1"/>
                </a:solidFill>
              </a:rPr>
              <a:t>1 in 2 people &gt;80 years fall at least once per year</a:t>
            </a:r>
          </a:p>
          <a:p>
            <a:r>
              <a:rPr lang="en-US" altLang="en-US" dirty="0">
                <a:solidFill>
                  <a:schemeClr val="bg1"/>
                </a:solidFill>
              </a:rPr>
              <a:t>5% of these need </a:t>
            </a:r>
            <a:r>
              <a:rPr lang="en-US" altLang="en-US" dirty="0" err="1">
                <a:solidFill>
                  <a:schemeClr val="bg1"/>
                </a:solidFill>
              </a:rPr>
              <a:t>hospitalisation</a:t>
            </a:r>
            <a:r>
              <a:rPr lang="en-US" altLang="en-US" dirty="0">
                <a:solidFill>
                  <a:schemeClr val="bg1"/>
                </a:solidFill>
              </a:rPr>
              <a:t> (Royal society for the Prevention of Accidents)</a:t>
            </a:r>
          </a:p>
          <a:p>
            <a:endParaRPr lang="en-US" altLang="en-US" dirty="0">
              <a:solidFill>
                <a:schemeClr val="bg1"/>
              </a:solidFill>
            </a:endParaRPr>
          </a:p>
        </p:txBody>
      </p:sp>
      <p:sp>
        <p:nvSpPr>
          <p:cNvPr id="9" name="Round Diagonal Corner of Rectangle 8">
            <a:extLst>
              <a:ext uri="{FF2B5EF4-FFF2-40B4-BE49-F238E27FC236}">
                <a16:creationId xmlns:a16="http://schemas.microsoft.com/office/drawing/2014/main" id="{10631EC3-0AD3-164E-AF11-6A057C004796}"/>
              </a:ext>
            </a:extLst>
          </p:cNvPr>
          <p:cNvSpPr/>
          <p:nvPr/>
        </p:nvSpPr>
        <p:spPr>
          <a:xfrm>
            <a:off x="477792" y="1686945"/>
            <a:ext cx="8246078" cy="4590409"/>
          </a:xfrm>
          <a:prstGeom prst="round2DiagRect">
            <a:avLst/>
          </a:prstGeom>
          <a:noFill/>
          <a:ln w="3810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http://www.thecamreport.com/images/elderly-fall2.jpg">
            <a:extLst>
              <a:ext uri="{FF2B5EF4-FFF2-40B4-BE49-F238E27FC236}">
                <a16:creationId xmlns:a16="http://schemas.microsoft.com/office/drawing/2014/main" id="{C5F7B4A9-DF02-CF8A-4489-3C09978736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2311" y="2753632"/>
            <a:ext cx="2292350"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1369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1" y="540704"/>
            <a:ext cx="5618209"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US" altLang="en-US" dirty="0"/>
              <a:t>Risk Factors</a:t>
            </a:r>
            <a:endParaRPr lang="en-GB" dirty="0"/>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257629" y="1817936"/>
            <a:ext cx="5838371" cy="4459418"/>
          </a:xfrm>
        </p:spPr>
        <p:txBody>
          <a:bodyPr>
            <a:normAutofit fontScale="92500"/>
          </a:bodyPr>
          <a:lstStyle/>
          <a:p>
            <a:pPr>
              <a:buFont typeface="Arial" panose="020B0604020202020204" pitchFamily="34" charset="0"/>
              <a:buChar char="•"/>
            </a:pPr>
            <a:r>
              <a:rPr lang="en-US" altLang="en-US" dirty="0"/>
              <a:t>Previous falls</a:t>
            </a:r>
          </a:p>
          <a:p>
            <a:pPr>
              <a:buFont typeface="Arial" panose="020B0604020202020204" pitchFamily="34" charset="0"/>
              <a:buChar char="•"/>
            </a:pPr>
            <a:r>
              <a:rPr lang="en-US" altLang="en-US" dirty="0"/>
              <a:t>Female 2:1 in &gt;75 years</a:t>
            </a:r>
          </a:p>
          <a:p>
            <a:pPr>
              <a:buFont typeface="Arial" panose="020B0604020202020204" pitchFamily="34" charset="0"/>
              <a:buChar char="•"/>
            </a:pPr>
            <a:r>
              <a:rPr lang="en-US" altLang="en-US" dirty="0"/>
              <a:t>Age &gt; 80 years </a:t>
            </a:r>
          </a:p>
          <a:p>
            <a:pPr>
              <a:buFont typeface="Arial" panose="020B0604020202020204" pitchFamily="34" charset="0"/>
              <a:buChar char="•"/>
            </a:pPr>
            <a:r>
              <a:rPr lang="en-US" altLang="en-US" dirty="0"/>
              <a:t>Disorders of gait/balance/co-ordination</a:t>
            </a:r>
          </a:p>
          <a:p>
            <a:pPr>
              <a:buFont typeface="Arial" panose="020B0604020202020204" pitchFamily="34" charset="0"/>
              <a:buChar char="•"/>
            </a:pPr>
            <a:r>
              <a:rPr lang="en-US" altLang="en-US" dirty="0"/>
              <a:t>Visual impairment</a:t>
            </a:r>
          </a:p>
          <a:p>
            <a:pPr>
              <a:buFont typeface="Arial" panose="020B0604020202020204" pitchFamily="34" charset="0"/>
              <a:buChar char="•"/>
            </a:pPr>
            <a:r>
              <a:rPr lang="en-US" altLang="en-US" dirty="0"/>
              <a:t>Cognitive impairment/confusion</a:t>
            </a:r>
          </a:p>
          <a:p>
            <a:pPr>
              <a:buFont typeface="Arial" panose="020B0604020202020204" pitchFamily="34" charset="0"/>
              <a:buChar char="•"/>
            </a:pPr>
            <a:r>
              <a:rPr lang="en-US" altLang="en-US" dirty="0"/>
              <a:t>Low morale/depression</a:t>
            </a:r>
          </a:p>
          <a:p>
            <a:pPr>
              <a:buFont typeface="Arial" panose="020B0604020202020204" pitchFamily="34" charset="0"/>
              <a:buChar char="•"/>
            </a:pPr>
            <a:r>
              <a:rPr lang="en-US" altLang="en-US" dirty="0"/>
              <a:t>High level of dependency with ADLs</a:t>
            </a:r>
          </a:p>
          <a:p>
            <a:pPr>
              <a:buFont typeface="Arial" panose="020B0604020202020204" pitchFamily="34" charset="0"/>
              <a:buChar char="•"/>
            </a:pPr>
            <a:r>
              <a:rPr lang="en-US" altLang="en-US" dirty="0"/>
              <a:t>Reduced mobility</a:t>
            </a:r>
          </a:p>
          <a:p>
            <a:pPr>
              <a:buFont typeface="Arial" panose="020B0604020202020204" pitchFamily="34" charset="0"/>
              <a:buChar char="•"/>
            </a:pPr>
            <a:endParaRPr lang="en-US" altLang="en-US" dirty="0">
              <a:solidFill>
                <a:schemeClr val="bg1"/>
              </a:solidFill>
            </a:endParaRPr>
          </a:p>
        </p:txBody>
      </p:sp>
      <p:sp>
        <p:nvSpPr>
          <p:cNvPr id="3" name="Subtitle 2">
            <a:extLst>
              <a:ext uri="{FF2B5EF4-FFF2-40B4-BE49-F238E27FC236}">
                <a16:creationId xmlns:a16="http://schemas.microsoft.com/office/drawing/2014/main" id="{F8D35F5E-784F-2588-8263-BD4449755EF9}"/>
              </a:ext>
            </a:extLst>
          </p:cNvPr>
          <p:cNvSpPr txBox="1">
            <a:spLocks/>
          </p:cNvSpPr>
          <p:nvPr/>
        </p:nvSpPr>
        <p:spPr>
          <a:xfrm>
            <a:off x="6096000" y="1817936"/>
            <a:ext cx="5838371" cy="445941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Clr>
                <a:srgbClr val="00FDFF"/>
              </a:buClr>
              <a:buFont typeface="Wingdings" panose="05000000000000000000" pitchFamily="2" charset="2"/>
              <a:buChar char="è"/>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rgbClr val="00FDFF"/>
              </a:buClr>
              <a:buFont typeface="Wingdings" panose="05000000000000000000" pitchFamily="2" charset="2"/>
              <a:buChar char="è"/>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rgbClr val="00FDFF"/>
              </a:buClr>
              <a:buFont typeface="Wingdings" panose="05000000000000000000" pitchFamily="2" charset="2"/>
              <a:buChar char="è"/>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rgbClr val="00FDFF"/>
              </a:buClr>
              <a:buFont typeface="Wingdings" panose="05000000000000000000" pitchFamily="2" charset="2"/>
              <a:buChar char="è"/>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rgbClr val="00FDFF"/>
              </a:buClr>
              <a:buFont typeface="Wingdings" panose="05000000000000000000" pitchFamily="2" charset="2"/>
              <a:buChar char="è"/>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fontAlgn="auto" hangingPunct="1">
              <a:spcAft>
                <a:spcPts val="0"/>
              </a:spcAft>
              <a:buFont typeface="Arial" panose="020B0604020202020204" pitchFamily="34" charset="0"/>
              <a:buChar char="•"/>
              <a:defRPr/>
            </a:pPr>
            <a:r>
              <a:rPr lang="en-GB" dirty="0"/>
              <a:t>Foot problems/inappropriate footwear</a:t>
            </a:r>
          </a:p>
          <a:p>
            <a:pPr eaLnBrk="1" fontAlgn="auto" hangingPunct="1">
              <a:spcAft>
                <a:spcPts val="0"/>
              </a:spcAft>
              <a:buFont typeface="Arial" panose="020B0604020202020204" pitchFamily="34" charset="0"/>
              <a:buChar char="•"/>
              <a:defRPr/>
            </a:pPr>
            <a:r>
              <a:rPr lang="en-GB" dirty="0"/>
              <a:t>Arthritis</a:t>
            </a:r>
          </a:p>
          <a:p>
            <a:pPr eaLnBrk="1" fontAlgn="auto" hangingPunct="1">
              <a:spcAft>
                <a:spcPts val="0"/>
              </a:spcAft>
              <a:buFont typeface="Arial" panose="020B0604020202020204" pitchFamily="34" charset="0"/>
              <a:buChar char="•"/>
              <a:defRPr/>
            </a:pPr>
            <a:r>
              <a:rPr lang="en-GB" dirty="0"/>
              <a:t>Lower limb weakness</a:t>
            </a:r>
          </a:p>
          <a:p>
            <a:pPr eaLnBrk="1" fontAlgn="auto" hangingPunct="1">
              <a:spcAft>
                <a:spcPts val="0"/>
              </a:spcAft>
              <a:buFont typeface="Arial" panose="020B0604020202020204" pitchFamily="34" charset="0"/>
              <a:buChar char="•"/>
              <a:defRPr/>
            </a:pPr>
            <a:r>
              <a:rPr lang="en-GB" dirty="0"/>
              <a:t>Stroke/Parkinson’s</a:t>
            </a:r>
          </a:p>
          <a:p>
            <a:pPr eaLnBrk="1" fontAlgn="auto" hangingPunct="1">
              <a:spcAft>
                <a:spcPts val="0"/>
              </a:spcAft>
              <a:buFont typeface="Arial" panose="020B0604020202020204" pitchFamily="34" charset="0"/>
              <a:buChar char="•"/>
              <a:defRPr/>
            </a:pPr>
            <a:r>
              <a:rPr lang="en-GB" dirty="0"/>
              <a:t>Polypharmacy</a:t>
            </a:r>
          </a:p>
          <a:p>
            <a:pPr eaLnBrk="1" fontAlgn="auto" hangingPunct="1">
              <a:spcAft>
                <a:spcPts val="0"/>
              </a:spcAft>
              <a:buFont typeface="Arial" panose="020B0604020202020204" pitchFamily="34" charset="0"/>
              <a:buChar char="•"/>
              <a:defRPr/>
            </a:pPr>
            <a:r>
              <a:rPr lang="en-GB" dirty="0"/>
              <a:t>Alcohol</a:t>
            </a:r>
          </a:p>
          <a:p>
            <a:pPr eaLnBrk="1" fontAlgn="auto" hangingPunct="1">
              <a:spcAft>
                <a:spcPts val="0"/>
              </a:spcAft>
              <a:buFont typeface="Arial" panose="020B0604020202020204" pitchFamily="34" charset="0"/>
              <a:buChar char="•"/>
              <a:defRPr/>
            </a:pPr>
            <a:r>
              <a:rPr lang="en-GB" dirty="0"/>
              <a:t>Environmental factors</a:t>
            </a:r>
          </a:p>
          <a:p>
            <a:pPr eaLnBrk="1" fontAlgn="auto" hangingPunct="1">
              <a:spcAft>
                <a:spcPts val="0"/>
              </a:spcAft>
              <a:buFont typeface="Arial" panose="020B0604020202020204" pitchFamily="34" charset="0"/>
              <a:buChar char="•"/>
              <a:defRPr/>
            </a:pPr>
            <a:r>
              <a:rPr lang="en-GB" dirty="0"/>
              <a:t>Infection</a:t>
            </a:r>
          </a:p>
          <a:p>
            <a:pPr eaLnBrk="1" fontAlgn="auto" hangingPunct="1">
              <a:spcAft>
                <a:spcPts val="0"/>
              </a:spcAft>
              <a:buFont typeface="Arial" panose="020B0604020202020204" pitchFamily="34" charset="0"/>
              <a:buChar char="•"/>
              <a:defRPr/>
            </a:pPr>
            <a:r>
              <a:rPr lang="en-GB" dirty="0"/>
              <a:t>Use of walking aids, e.g. Walking stick</a:t>
            </a:r>
          </a:p>
          <a:p>
            <a:pPr>
              <a:buFont typeface="Arial" panose="020B0604020202020204" pitchFamily="34" charset="0"/>
              <a:buChar char="•"/>
            </a:pPr>
            <a:endParaRPr lang="en-US" altLang="en-US" dirty="0"/>
          </a:p>
        </p:txBody>
      </p:sp>
    </p:spTree>
    <p:extLst>
      <p:ext uri="{BB962C8B-B14F-4D97-AF65-F5344CB8AC3E}">
        <p14:creationId xmlns:p14="http://schemas.microsoft.com/office/powerpoint/2010/main" val="2856226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1" y="540704"/>
            <a:ext cx="5618209"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US" altLang="en-US" dirty="0"/>
              <a:t>Environmental Risk Factors</a:t>
            </a:r>
            <a:endParaRPr lang="en-GB" dirty="0"/>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200" y="2198717"/>
            <a:ext cx="7491761" cy="3566864"/>
          </a:xfrm>
        </p:spPr>
        <p:txBody>
          <a:bodyPr>
            <a:normAutofit/>
          </a:bodyPr>
          <a:lstStyle/>
          <a:p>
            <a:r>
              <a:rPr lang="en-GB" altLang="en-US" dirty="0"/>
              <a:t>Loose rugs/electric leads</a:t>
            </a:r>
          </a:p>
          <a:p>
            <a:r>
              <a:rPr lang="en-GB" altLang="en-US" dirty="0"/>
              <a:t>Wet surfaces- spills, bathroom</a:t>
            </a:r>
          </a:p>
          <a:p>
            <a:r>
              <a:rPr lang="en-GB" altLang="en-US" dirty="0"/>
              <a:t>Poor lighting</a:t>
            </a:r>
          </a:p>
          <a:p>
            <a:r>
              <a:rPr lang="en-GB" altLang="en-US" dirty="0"/>
              <a:t>Ice</a:t>
            </a:r>
          </a:p>
          <a:p>
            <a:r>
              <a:rPr lang="en-GB" altLang="en-US" dirty="0"/>
              <a:t>High winds</a:t>
            </a:r>
          </a:p>
          <a:p>
            <a:r>
              <a:rPr lang="en-GB" altLang="en-US" dirty="0"/>
              <a:t>Use of ladders</a:t>
            </a:r>
          </a:p>
          <a:p>
            <a:r>
              <a:rPr lang="en-GB" altLang="en-US" dirty="0"/>
              <a:t>Too low/too high- chair/bed</a:t>
            </a:r>
          </a:p>
        </p:txBody>
      </p:sp>
      <p:sp>
        <p:nvSpPr>
          <p:cNvPr id="9" name="Round Diagonal Corner of Rectangle 8">
            <a:extLst>
              <a:ext uri="{FF2B5EF4-FFF2-40B4-BE49-F238E27FC236}">
                <a16:creationId xmlns:a16="http://schemas.microsoft.com/office/drawing/2014/main" id="{10631EC3-0AD3-164E-AF11-6A057C004796}"/>
              </a:ext>
            </a:extLst>
          </p:cNvPr>
          <p:cNvSpPr/>
          <p:nvPr/>
        </p:nvSpPr>
        <p:spPr>
          <a:xfrm>
            <a:off x="477792" y="1686945"/>
            <a:ext cx="8246078" cy="4590409"/>
          </a:xfrm>
          <a:prstGeom prst="round2DiagRect">
            <a:avLst/>
          </a:prstGeom>
          <a:noFill/>
          <a:ln w="3810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descr="Winter's Icy Surfaces Increase Risk of Orthopedic Injuries from Falls">
            <a:extLst>
              <a:ext uri="{FF2B5EF4-FFF2-40B4-BE49-F238E27FC236}">
                <a16:creationId xmlns:a16="http://schemas.microsoft.com/office/drawing/2014/main" id="{61B12603-EAFE-0693-EBB6-D12FCB07CF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2860" y="2062181"/>
            <a:ext cx="5755929" cy="3839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8901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1" y="540704"/>
            <a:ext cx="5618209"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US" altLang="en-US" dirty="0"/>
              <a:t>Identifying Risk</a:t>
            </a:r>
            <a:endParaRPr lang="en-GB" dirty="0"/>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200" y="1913507"/>
            <a:ext cx="7491761" cy="3852074"/>
          </a:xfrm>
        </p:spPr>
        <p:txBody>
          <a:bodyPr>
            <a:normAutofit/>
          </a:bodyPr>
          <a:lstStyle/>
          <a:p>
            <a:r>
              <a:rPr lang="en-GB" altLang="en-US" dirty="0"/>
              <a:t>Clinical practice guidelines (CPGs) state that all older adult should be screened for fall risk at least once per year</a:t>
            </a:r>
          </a:p>
          <a:p>
            <a:pPr marL="0" indent="0" eaLnBrk="1" hangingPunct="1">
              <a:buNone/>
            </a:pPr>
            <a:endParaRPr lang="en-GB" altLang="en-US" dirty="0"/>
          </a:p>
          <a:p>
            <a:pPr eaLnBrk="1" hangingPunct="1"/>
            <a:r>
              <a:rPr lang="en-GB" altLang="en-US" dirty="0"/>
              <a:t>Extrinsic and intrinsic factors assessed</a:t>
            </a:r>
          </a:p>
          <a:p>
            <a:pPr eaLnBrk="1" hangingPunct="1"/>
            <a:endParaRPr lang="en-GB" altLang="en-US" dirty="0"/>
          </a:p>
          <a:p>
            <a:pPr eaLnBrk="1" hangingPunct="1"/>
            <a:r>
              <a:rPr lang="en-GB" altLang="en-US" dirty="0"/>
              <a:t>Objective and subjective tests can be used</a:t>
            </a:r>
          </a:p>
        </p:txBody>
      </p:sp>
      <p:sp>
        <p:nvSpPr>
          <p:cNvPr id="9" name="Round Diagonal Corner of Rectangle 8">
            <a:extLst>
              <a:ext uri="{FF2B5EF4-FFF2-40B4-BE49-F238E27FC236}">
                <a16:creationId xmlns:a16="http://schemas.microsoft.com/office/drawing/2014/main" id="{10631EC3-0AD3-164E-AF11-6A057C004796}"/>
              </a:ext>
            </a:extLst>
          </p:cNvPr>
          <p:cNvSpPr/>
          <p:nvPr/>
        </p:nvSpPr>
        <p:spPr>
          <a:xfrm>
            <a:off x="477792" y="1686945"/>
            <a:ext cx="8246078" cy="4590409"/>
          </a:xfrm>
          <a:prstGeom prst="round2DiagRect">
            <a:avLst/>
          </a:prstGeom>
          <a:noFill/>
          <a:ln w="3810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3566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1" y="540704"/>
            <a:ext cx="5618209"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US" altLang="en-US" dirty="0"/>
              <a:t>NICE Guidelines</a:t>
            </a:r>
            <a:endParaRPr lang="en-GB" dirty="0"/>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200" y="1686945"/>
            <a:ext cx="10371667" cy="4805930"/>
          </a:xfrm>
        </p:spPr>
        <p:txBody>
          <a:bodyPr>
            <a:normAutofit lnSpcReduction="10000"/>
          </a:bodyPr>
          <a:lstStyle/>
          <a:p>
            <a:pPr eaLnBrk="1" hangingPunct="1"/>
            <a:r>
              <a:rPr lang="en-GB" altLang="en-US" dirty="0"/>
              <a:t>Falls risk assessment and prevention for all those:</a:t>
            </a:r>
          </a:p>
          <a:p>
            <a:pPr lvl="1"/>
            <a:r>
              <a:rPr lang="en-GB" altLang="en-US" dirty="0"/>
              <a:t>People aged 65 years &amp; older during their hospital stay.</a:t>
            </a:r>
          </a:p>
          <a:p>
            <a:pPr lvl="1"/>
            <a:r>
              <a:rPr lang="en-GB" altLang="en-US" dirty="0"/>
              <a:t>People aged 50-64 years who are judged by the clinician to be at a higher risk of falling because of an underlying condition.</a:t>
            </a:r>
          </a:p>
          <a:p>
            <a:pPr eaLnBrk="1" hangingPunct="1"/>
            <a:endParaRPr lang="en-GB" altLang="en-US" dirty="0"/>
          </a:p>
          <a:p>
            <a:pPr eaLnBrk="1" hangingPunct="1"/>
            <a:r>
              <a:rPr lang="en-GB" altLang="en-US" dirty="0"/>
              <a:t>Key components of a multifactorial assessment include:</a:t>
            </a:r>
          </a:p>
          <a:p>
            <a:pPr lvl="1"/>
            <a:r>
              <a:rPr lang="en-GB" altLang="en-US" dirty="0"/>
              <a:t>A detailed falls history, medication review, risk factor assessment including osteoporosis and bone health, urinary incontinence and cardiovascular disease.</a:t>
            </a:r>
          </a:p>
          <a:p>
            <a:pPr lvl="1"/>
            <a:r>
              <a:rPr lang="en-GB" altLang="en-US" dirty="0"/>
              <a:t>Physical examination including gait and balance, neurological and cognitive function, lower limb strength, visual acuity, feet and footwear</a:t>
            </a:r>
          </a:p>
          <a:p>
            <a:pPr lvl="1"/>
            <a:r>
              <a:rPr lang="en-GB" altLang="en-US" dirty="0"/>
              <a:t>Functional assessment such as activities of daily living perceived functional ability and fear of falling</a:t>
            </a:r>
          </a:p>
        </p:txBody>
      </p:sp>
    </p:spTree>
    <p:extLst>
      <p:ext uri="{BB962C8B-B14F-4D97-AF65-F5344CB8AC3E}">
        <p14:creationId xmlns:p14="http://schemas.microsoft.com/office/powerpoint/2010/main" val="3027847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1" y="540704"/>
            <a:ext cx="6481809"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US" dirty="0"/>
              <a:t>Functional Assessment Examples</a:t>
            </a:r>
            <a:endParaRPr lang="en-GB" dirty="0"/>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200" y="2198717"/>
            <a:ext cx="7885670" cy="3566864"/>
          </a:xfrm>
        </p:spPr>
        <p:txBody>
          <a:bodyPr>
            <a:normAutofit/>
          </a:bodyPr>
          <a:lstStyle/>
          <a:p>
            <a:pPr eaLnBrk="1" hangingPunct="1"/>
            <a:r>
              <a:rPr lang="en-GB" altLang="en-US" dirty="0"/>
              <a:t>Timed up and go test- ‘rise from chair without support of arms, walk 3 metres, turn around and sit again’.  </a:t>
            </a:r>
          </a:p>
          <a:p>
            <a:pPr lvl="1" eaLnBrk="1" hangingPunct="1"/>
            <a:r>
              <a:rPr lang="en-GB" altLang="en-US" dirty="0"/>
              <a:t>(Can use walking stick. Look for unsteadiness/difficulty)</a:t>
            </a:r>
          </a:p>
          <a:p>
            <a:pPr eaLnBrk="1" hangingPunct="1"/>
            <a:endParaRPr lang="en-GB" altLang="en-US" dirty="0"/>
          </a:p>
          <a:p>
            <a:pPr eaLnBrk="1" hangingPunct="1"/>
            <a:r>
              <a:rPr lang="en-GB" altLang="en-US" dirty="0"/>
              <a:t>Turn 180 test-’stand up and step around until facing the opposite direction’. </a:t>
            </a:r>
          </a:p>
          <a:p>
            <a:pPr lvl="1" eaLnBrk="1" hangingPunct="1"/>
            <a:r>
              <a:rPr lang="en-GB" altLang="en-US" dirty="0"/>
              <a:t>(See how many steps needed)</a:t>
            </a:r>
          </a:p>
        </p:txBody>
      </p:sp>
      <p:sp>
        <p:nvSpPr>
          <p:cNvPr id="9" name="Round Diagonal Corner of Rectangle 8">
            <a:extLst>
              <a:ext uri="{FF2B5EF4-FFF2-40B4-BE49-F238E27FC236}">
                <a16:creationId xmlns:a16="http://schemas.microsoft.com/office/drawing/2014/main" id="{10631EC3-0AD3-164E-AF11-6A057C004796}"/>
              </a:ext>
            </a:extLst>
          </p:cNvPr>
          <p:cNvSpPr/>
          <p:nvPr/>
        </p:nvSpPr>
        <p:spPr>
          <a:xfrm>
            <a:off x="477792" y="1686945"/>
            <a:ext cx="8246078" cy="4590409"/>
          </a:xfrm>
          <a:prstGeom prst="round2DiagRect">
            <a:avLst/>
          </a:prstGeom>
          <a:noFill/>
          <a:ln w="3810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1911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1" y="540704"/>
            <a:ext cx="5618209"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US" altLang="en-US" dirty="0"/>
              <a:t>Prevention of Falls</a:t>
            </a:r>
            <a:endParaRPr lang="en-GB" dirty="0"/>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200" y="1686945"/>
            <a:ext cx="6206067" cy="4805930"/>
          </a:xfrm>
        </p:spPr>
        <p:txBody>
          <a:bodyPr>
            <a:normAutofit fontScale="92500" lnSpcReduction="20000"/>
          </a:bodyPr>
          <a:lstStyle/>
          <a:p>
            <a:pPr eaLnBrk="1" hangingPunct="1"/>
            <a:r>
              <a:rPr lang="en-GB" altLang="en-US" dirty="0"/>
              <a:t>Exercise regularly!</a:t>
            </a:r>
          </a:p>
          <a:p>
            <a:pPr eaLnBrk="1" hangingPunct="1"/>
            <a:endParaRPr lang="en-GB" altLang="en-US" dirty="0"/>
          </a:p>
          <a:p>
            <a:pPr eaLnBrk="1" hangingPunct="1"/>
            <a:r>
              <a:rPr lang="en-GB" altLang="en-US" dirty="0"/>
              <a:t>Focussed around improved leg strength and improving balance</a:t>
            </a:r>
          </a:p>
          <a:p>
            <a:pPr eaLnBrk="1" hangingPunct="1"/>
            <a:endParaRPr lang="en-GB" altLang="en-US" dirty="0"/>
          </a:p>
          <a:p>
            <a:pPr eaLnBrk="1" hangingPunct="1"/>
            <a:r>
              <a:rPr lang="en-GB" altLang="en-US" dirty="0"/>
              <a:t>Strength training</a:t>
            </a:r>
          </a:p>
          <a:p>
            <a:pPr eaLnBrk="1" hangingPunct="1"/>
            <a:endParaRPr lang="en-GB" altLang="en-US" dirty="0"/>
          </a:p>
          <a:p>
            <a:pPr eaLnBrk="1" hangingPunct="1"/>
            <a:r>
              <a:rPr lang="en-GB" altLang="en-US" dirty="0"/>
              <a:t>Tai Chi</a:t>
            </a:r>
          </a:p>
          <a:p>
            <a:pPr eaLnBrk="1" hangingPunct="1"/>
            <a:endParaRPr lang="en-GB" altLang="en-US" dirty="0"/>
          </a:p>
          <a:p>
            <a:pPr eaLnBrk="1" hangingPunct="1"/>
            <a:r>
              <a:rPr lang="en-GB" altLang="en-US" dirty="0"/>
              <a:t>Likely a combination of training methods best (balance training and strength training)</a:t>
            </a:r>
          </a:p>
        </p:txBody>
      </p:sp>
      <p:pic>
        <p:nvPicPr>
          <p:cNvPr id="3" name="Online Media 2" descr="The Kung Fu Tai Chi Day Simplified 24 Routine.">
            <a:hlinkClick r:id="" action="ppaction://media"/>
            <a:extLst>
              <a:ext uri="{FF2B5EF4-FFF2-40B4-BE49-F238E27FC236}">
                <a16:creationId xmlns:a16="http://schemas.microsoft.com/office/drawing/2014/main" id="{BA18ADC7-6D30-F1D5-5106-D0C3050B2E89}"/>
              </a:ext>
            </a:extLst>
          </p:cNvPr>
          <p:cNvPicPr>
            <a:picLocks noRot="1" noChangeAspect="1"/>
          </p:cNvPicPr>
          <p:nvPr>
            <a:videoFile r:link="rId1"/>
          </p:nvPr>
        </p:nvPicPr>
        <p:blipFill rotWithShape="1">
          <a:blip r:embed="rId4"/>
          <a:srcRect l="20808" r="25807"/>
          <a:stretch/>
        </p:blipFill>
        <p:spPr>
          <a:xfrm>
            <a:off x="7747000" y="1516566"/>
            <a:ext cx="4222884" cy="4469303"/>
          </a:xfrm>
          <a:prstGeom prst="rect">
            <a:avLst/>
          </a:prstGeom>
        </p:spPr>
      </p:pic>
    </p:spTree>
    <p:extLst>
      <p:ext uri="{BB962C8B-B14F-4D97-AF65-F5344CB8AC3E}">
        <p14:creationId xmlns:p14="http://schemas.microsoft.com/office/powerpoint/2010/main" val="966244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childTnLst>
                                </p:cTn>
                              </p:par>
                            </p:childTnLst>
                          </p:cTn>
                        </p:par>
                        <p:par>
                          <p:cTn id="19" fill="hold">
                            <p:stCondLst>
                              <p:cond delay="0"/>
                            </p:stCondLst>
                            <p:childTnLst>
                              <p:par>
                                <p:cTn id="20" presetID="1" presetClass="mediacall" presetSubtype="0" fill="hold" nodeType="afterEffect">
                                  <p:stCondLst>
                                    <p:cond delay="0"/>
                                  </p:stCondLst>
                                  <p:childTnLst>
                                    <p:cmd type="call" cmd="playFrom(0.0)">
                                      <p:cBhvr>
                                        <p:cTn id="21" dur="1" fill="hold"/>
                                        <p:tgtEl>
                                          <p:spTgt spid="3"/>
                                        </p:tgtEl>
                                      </p:cBhvr>
                                    </p:cmd>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6" fill="hold" display="0">
                  <p:stCondLst>
                    <p:cond delay="indefinite"/>
                  </p:stCondLst>
                </p:cTn>
                <p:tgtEl>
                  <p:spTgt spid="3"/>
                </p:tgtEl>
              </p:cMediaNode>
            </p:video>
            <p:seq concurrent="1" nextAc="seek">
              <p:cTn id="27" restart="whenNotActive" fill="hold" evtFilter="cancelBubble" nodeType="interactiveSeq">
                <p:stCondLst>
                  <p:cond evt="onClick" delay="0">
                    <p:tgtEl>
                      <p:spTgt spid="3"/>
                    </p:tgtEl>
                  </p:cond>
                </p:stCondLst>
                <p:endSync evt="end" delay="0">
                  <p:rtn val="all"/>
                </p:endSync>
                <p:childTnLst>
                  <p:par>
                    <p:cTn id="28" fill="hold">
                      <p:stCondLst>
                        <p:cond delay="0"/>
                      </p:stCondLst>
                      <p:childTnLst>
                        <p:par>
                          <p:cTn id="29" fill="hold">
                            <p:stCondLst>
                              <p:cond delay="0"/>
                            </p:stCondLst>
                            <p:childTnLst>
                              <p:par>
                                <p:cTn id="30" presetID="2" presetClass="mediacall" presetSubtype="0" fill="hold" nodeType="clickEffect">
                                  <p:stCondLst>
                                    <p:cond delay="0"/>
                                  </p:stCondLst>
                                  <p:childTnLst>
                                    <p:cmd type="call" cmd="togglePause">
                                      <p:cBhvr>
                                        <p:cTn id="31"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1" y="540704"/>
            <a:ext cx="3524865"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Summary</a:t>
            </a:r>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p:txBody>
          <a:bodyPr>
            <a:normAutofit/>
          </a:bodyPr>
          <a:lstStyle/>
          <a:p>
            <a:r>
              <a:rPr lang="en-US" dirty="0"/>
              <a:t>Described changes of muscle mass and strength with age</a:t>
            </a:r>
          </a:p>
          <a:p>
            <a:endParaRPr lang="en-US" dirty="0"/>
          </a:p>
          <a:p>
            <a:r>
              <a:rPr lang="en-US" dirty="0"/>
              <a:t>Described prevalence of falls, fall risk factors, and exercise for prevention</a:t>
            </a:r>
          </a:p>
          <a:p>
            <a:endParaRPr lang="en-US" dirty="0"/>
          </a:p>
          <a:p>
            <a:r>
              <a:rPr lang="en-US" dirty="0"/>
              <a:t>Explained the role of exercise in minimizing deterioration</a:t>
            </a:r>
          </a:p>
        </p:txBody>
      </p:sp>
      <p:sp>
        <p:nvSpPr>
          <p:cNvPr id="9" name="Round Diagonal Corner of Rectangle 8">
            <a:extLst>
              <a:ext uri="{FF2B5EF4-FFF2-40B4-BE49-F238E27FC236}">
                <a16:creationId xmlns:a16="http://schemas.microsoft.com/office/drawing/2014/main" id="{10631EC3-0AD3-164E-AF11-6A057C004796}"/>
              </a:ext>
            </a:extLst>
          </p:cNvPr>
          <p:cNvSpPr/>
          <p:nvPr/>
        </p:nvSpPr>
        <p:spPr>
          <a:xfrm>
            <a:off x="477792" y="1686945"/>
            <a:ext cx="8246078" cy="4590409"/>
          </a:xfrm>
          <a:prstGeom prst="round2DiagRect">
            <a:avLst/>
          </a:prstGeom>
          <a:noFill/>
          <a:ln w="3810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3285752"/>
      </p:ext>
    </p:extLst>
  </p:cSld>
  <p:clrMapOvr>
    <a:masterClrMapping/>
  </p:clrMapOvr>
</p:sld>
</file>

<file path=ppt/theme/theme1.xml><?xml version="1.0" encoding="utf-8"?>
<a:theme xmlns:a="http://schemas.openxmlformats.org/drawingml/2006/main" name="LondonMe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ondonMet" id="{734A94B6-1B63-414D-8ED4-56F9584FF6C7}" vid="{CDD49483-C533-D844-81C4-42D4E223AB1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LondonMet</Template>
  <TotalTime>326</TotalTime>
  <Words>1520</Words>
  <Application>Microsoft Macintosh PowerPoint</Application>
  <PresentationFormat>Widescreen</PresentationFormat>
  <Paragraphs>206</Paragraphs>
  <Slides>19</Slides>
  <Notes>19</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Calibri Light</vt:lpstr>
      <vt:lpstr>Charter</vt:lpstr>
      <vt:lpstr>SourceSansPro</vt:lpstr>
      <vt:lpstr>tisapro-regular</vt:lpstr>
      <vt:lpstr>Wingdings</vt:lpstr>
      <vt:lpstr>LondonMet</vt:lpstr>
      <vt:lpstr>PowerPoint Presentation</vt:lpstr>
      <vt:lpstr>Session Content</vt:lpstr>
      <vt:lpstr>Ageing and Physical Condition</vt:lpstr>
      <vt:lpstr>Ageing and Muscle Loss</vt:lpstr>
      <vt:lpstr>Age-related Changes to Muscle Structure</vt:lpstr>
      <vt:lpstr>PowerPoint Presentation</vt:lpstr>
      <vt:lpstr>Sarcopenia</vt:lpstr>
      <vt:lpstr>Consequences of Sarcopenia</vt:lpstr>
      <vt:lpstr>Consequences of Sarcopenia</vt:lpstr>
      <vt:lpstr>Minimising the Deterioration</vt:lpstr>
      <vt:lpstr>Minimising the Deterioration</vt:lpstr>
      <vt:lpstr>Consequences of Sarcopenia</vt:lpstr>
      <vt:lpstr>Risk Factors</vt:lpstr>
      <vt:lpstr>Environmental Risk Factors</vt:lpstr>
      <vt:lpstr>Identifying Risk</vt:lpstr>
      <vt:lpstr>NICE Guidelines</vt:lpstr>
      <vt:lpstr>Functional Assessment Examples</vt:lpstr>
      <vt:lpstr>Prevention of Falls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Benjamin Hunter</dc:creator>
  <cp:lastModifiedBy>Benjamin Hunter</cp:lastModifiedBy>
  <cp:revision>14</cp:revision>
  <dcterms:created xsi:type="dcterms:W3CDTF">2022-11-21T11:44:36Z</dcterms:created>
  <dcterms:modified xsi:type="dcterms:W3CDTF">2023-11-28T13:44:17Z</dcterms:modified>
</cp:coreProperties>
</file>