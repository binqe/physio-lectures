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7"/>
  </p:notesMasterIdLst>
  <p:sldIdLst>
    <p:sldId id="259" r:id="rId5"/>
    <p:sldId id="268" r:id="rId6"/>
    <p:sldId id="263" r:id="rId7"/>
    <p:sldId id="264" r:id="rId8"/>
    <p:sldId id="266" r:id="rId9"/>
    <p:sldId id="290" r:id="rId10"/>
    <p:sldId id="289" r:id="rId11"/>
    <p:sldId id="291" r:id="rId12"/>
    <p:sldId id="292" r:id="rId13"/>
    <p:sldId id="269" r:id="rId14"/>
    <p:sldId id="284" r:id="rId15"/>
    <p:sldId id="286" r:id="rId16"/>
    <p:sldId id="293" r:id="rId17"/>
    <p:sldId id="294" r:id="rId18"/>
    <p:sldId id="287" r:id="rId19"/>
    <p:sldId id="288" r:id="rId20"/>
    <p:sldId id="260" r:id="rId21"/>
    <p:sldId id="373" r:id="rId22"/>
    <p:sldId id="283" r:id="rId23"/>
    <p:sldId id="371" r:id="rId24"/>
    <p:sldId id="295" r:id="rId25"/>
    <p:sldId id="372" r:id="rId26"/>
  </p:sldIdLst>
  <p:sldSz cx="18288000" cy="102885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8" roundtripDataSignature="AMtx7mimwRJaRJd2/VfACUYZjFW7z4f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1" autoAdjust="0"/>
    <p:restoredTop sz="59322" autoAdjust="0"/>
  </p:normalViewPr>
  <p:slideViewPr>
    <p:cSldViewPr snapToGrid="0">
      <p:cViewPr>
        <p:scale>
          <a:sx n="60" d="100"/>
          <a:sy n="60" d="100"/>
        </p:scale>
        <p:origin x="12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erry" userId="c97aa09d-86c0-4043-b3ef-c0cd62ed5e25" providerId="ADAL" clId="{451BDB55-6D41-4C39-AAA2-C5AEE21F393C}"/>
    <pc:docChg chg="modSld">
      <pc:chgData name="Laura Perry" userId="c97aa09d-86c0-4043-b3ef-c0cd62ed5e25" providerId="ADAL" clId="{451BDB55-6D41-4C39-AAA2-C5AEE21F393C}" dt="2026-03-03T14:26:29.011" v="3" actId="6549"/>
      <pc:docMkLst>
        <pc:docMk/>
      </pc:docMkLst>
      <pc:sldChg chg="modNotesTx">
        <pc:chgData name="Laura Perry" userId="c97aa09d-86c0-4043-b3ef-c0cd62ed5e25" providerId="ADAL" clId="{451BDB55-6D41-4C39-AAA2-C5AEE21F393C}" dt="2026-03-03T14:26:15.988" v="1" actId="6549"/>
        <pc:sldMkLst>
          <pc:docMk/>
          <pc:sldMk cId="885378718" sldId="269"/>
        </pc:sldMkLst>
      </pc:sldChg>
      <pc:sldChg chg="modNotesTx">
        <pc:chgData name="Laura Perry" userId="c97aa09d-86c0-4043-b3ef-c0cd62ed5e25" providerId="ADAL" clId="{451BDB55-6D41-4C39-AAA2-C5AEE21F393C}" dt="2026-03-03T14:26:24.627" v="2" actId="6549"/>
        <pc:sldMkLst>
          <pc:docMk/>
          <pc:sldMk cId="2026476739" sldId="287"/>
        </pc:sldMkLst>
      </pc:sldChg>
      <pc:sldChg chg="modNotesTx">
        <pc:chgData name="Laura Perry" userId="c97aa09d-86c0-4043-b3ef-c0cd62ed5e25" providerId="ADAL" clId="{451BDB55-6D41-4C39-AAA2-C5AEE21F393C}" dt="2026-03-03T14:26:29.011" v="3" actId="6549"/>
        <pc:sldMkLst>
          <pc:docMk/>
          <pc:sldMk cId="8935743" sldId="288"/>
        </pc:sldMkLst>
      </pc:sldChg>
      <pc:sldChg chg="modNotesTx">
        <pc:chgData name="Laura Perry" userId="c97aa09d-86c0-4043-b3ef-c0cd62ed5e25" providerId="ADAL" clId="{451BDB55-6D41-4C39-AAA2-C5AEE21F393C}" dt="2026-03-03T14:26:10.662" v="0" actId="6549"/>
        <pc:sldMkLst>
          <pc:docMk/>
          <pc:sldMk cId="3060907200" sldId="28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13:17:29.8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84,'0'-1,"0"0,0 0,1 0,-1-1,0 1,1 0,-1 0,1 0,0 0,-1 0,1 0,0 0,-1 0,1 0,0 1,0-1,0 0,0 0,0 1,0-1,0 0,0 1,0-1,0 1,0 0,3-1,34-7,-31 7,81-8,159 5,-140 6,482 1,660-6,-791-17,97-1,2340 21,-1242 2,-1618-2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3:17:39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0,'397'768'0,"6921"-768"0,-7715-768 0,-6921 768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5706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4967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601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969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291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>
              <a:buNone/>
            </a:pPr>
            <a:endParaRPr lang="en-GB" sz="3000" dirty="0"/>
          </a:p>
          <a:p>
            <a:pPr marL="0" lvl="1" indent="0">
              <a:buNone/>
            </a:pPr>
            <a:r>
              <a:rPr lang="en-GB" sz="3000" b="1" dirty="0"/>
              <a:t>***Use the marking scheme as a checklist to ensure you have included everything ***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6672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4188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2606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16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 2">
  <p:cSld name="13_Title slide 2">
    <p:bg>
      <p:bgPr>
        <a:solidFill>
          <a:srgbClr val="FFE2C3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2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 2">
  <p:cSld name="15_Title slide 2">
    <p:bg>
      <p:bgPr>
        <a:solidFill>
          <a:srgbClr val="FEF2BE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2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 2">
  <p:cSld name="16_Title slide 2">
    <p:bg>
      <p:bgPr>
        <a:solidFill>
          <a:srgbClr val="231F2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2" cy="97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 2">
  <p:cSld name="17_Title slide 2">
    <p:bg>
      <p:bgPr>
        <a:solidFill>
          <a:srgbClr val="002D6D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2" cy="9753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983836" y="3681414"/>
            <a:ext cx="16320325" cy="126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983837" y="5239791"/>
            <a:ext cx="16320326" cy="88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1813631" y="9091222"/>
            <a:ext cx="2233756" cy="33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@LondonMetUni</a:t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860850" y="8773109"/>
            <a:ext cx="2160240" cy="27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londonmet.ac.uk</a:t>
            </a:r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59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005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83" y="9177674"/>
            <a:ext cx="270832" cy="27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basic white">
  <p:cSld name="2_Content basic white">
    <p:bg>
      <p:bgPr>
        <a:solidFill>
          <a:srgbClr val="FFE2C3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f01359d15_0_42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bf01359d15_0_42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71" name="Google Shape;71;gbf01359d15_0_42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 basic white">
  <p:cSld name="4_Content basic white">
    <p:bg>
      <p:bgPr>
        <a:solidFill>
          <a:srgbClr val="FEF2BE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f01359d15_0_46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bf01359d15_0_46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75" name="Google Shape;75;gbf01359d15_0_4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 basic white">
  <p:cSld name="7_Content basic white">
    <p:bg>
      <p:bgPr>
        <a:solidFill>
          <a:srgbClr val="002D6D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bf01359d15_0_54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bf01359d15_0_54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16385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4pPr>
            <a:lvl5pPr marL="228600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5pPr>
            <a:lvl6pPr marL="274320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6pPr>
            <a:lvl7pPr marL="320040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7pPr>
            <a:lvl8pPr marL="365760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8pPr>
            <a:lvl9pPr marL="411480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/>
            </a:lvl9pPr>
          </a:lstStyle>
          <a:p>
            <a:endParaRPr/>
          </a:p>
        </p:txBody>
      </p:sp>
      <p:pic>
        <p:nvPicPr>
          <p:cNvPr id="83" name="Google Shape;83;gbf01359d15_0_54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picture white">
  <p:cSld name="1_Content picture white">
    <p:bg>
      <p:bgPr>
        <a:solidFill>
          <a:srgbClr val="B6D3F0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f01359d15_0_8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gbf01359d15_0_8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gbf01359d15_0_8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8" name="Google Shape;88;gbf01359d15_0_83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picture white">
  <p:cSld name="2_Content picture white">
    <p:bg>
      <p:bgPr>
        <a:solidFill>
          <a:srgbClr val="FFE2C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f01359d15_0_88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bf01359d15_0_88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gbf01359d15_0_88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3" name="Google Shape;93;gbf01359d15_0_88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 picture white">
  <p:cSld name="4_Content picture white">
    <p:bg>
      <p:bgPr>
        <a:solidFill>
          <a:srgbClr val="FEF2BE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f01359d15_0_9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gbf01359d15_0_9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gbf01359d15_0_9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8" name="Google Shape;98;gbf01359d15_0_93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picture white">
  <p:cSld name="5_Content picture white">
    <p:bg>
      <p:bgPr>
        <a:solidFill>
          <a:srgbClr val="231F2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bf01359d15_0_98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gbf01359d15_0_98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gbf01359d15_0_98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gbf01359d15_0_98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picture white">
  <p:cSld name="6_Content picture white">
    <p:bg>
      <p:bgPr>
        <a:solidFill>
          <a:srgbClr val="002D6D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bf01359d15_0_103"/>
          <p:cNvSpPr txBox="1">
            <a:spLocks noGrp="1"/>
          </p:cNvSpPr>
          <p:nvPr>
            <p:ph type="title"/>
          </p:nvPr>
        </p:nvSpPr>
        <p:spPr>
          <a:xfrm>
            <a:off x="1029600" y="2273781"/>
            <a:ext cx="16385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gbf01359d15_0_103"/>
          <p:cNvSpPr>
            <a:spLocks noGrp="1"/>
          </p:cNvSpPr>
          <p:nvPr>
            <p:ph type="pic" idx="2"/>
          </p:nvPr>
        </p:nvSpPr>
        <p:spPr>
          <a:xfrm>
            <a:off x="8442890" y="3404181"/>
            <a:ext cx="8815500" cy="5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1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1"/>
              <a:buFont typeface="Arial"/>
              <a:buNone/>
              <a:defRPr sz="42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1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gbf01359d15_0_103"/>
          <p:cNvSpPr txBox="1">
            <a:spLocks noGrp="1"/>
          </p:cNvSpPr>
          <p:nvPr>
            <p:ph type="body" idx="1"/>
          </p:nvPr>
        </p:nvSpPr>
        <p:spPr>
          <a:xfrm>
            <a:off x="1029600" y="3404181"/>
            <a:ext cx="7082700" cy="6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1"/>
              <a:buFont typeface="Arial"/>
              <a:buNone/>
              <a:defRPr sz="15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8" name="Google Shape;108;gbf01359d15_0_103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9023"/>
            <a:ext cx="3800313" cy="9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d white">
  <p:cSld name="2_End white">
    <p:bg>
      <p:bgPr>
        <a:solidFill>
          <a:srgbClr val="FFE2C3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bf01359d15_0_156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bf01359d15_0_156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gbf01359d15_0_156"/>
          <p:cNvSpPr txBox="1"/>
          <p:nvPr/>
        </p:nvSpPr>
        <p:spPr>
          <a:xfrm>
            <a:off x="1813631" y="9091222"/>
            <a:ext cx="22338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@LondonMetUni</a:t>
            </a:r>
            <a:endParaRPr/>
          </a:p>
        </p:txBody>
      </p:sp>
      <p:sp>
        <p:nvSpPr>
          <p:cNvPr id="121" name="Google Shape;121;gbf01359d15_0_156"/>
          <p:cNvSpPr txBox="1"/>
          <p:nvPr/>
        </p:nvSpPr>
        <p:spPr>
          <a:xfrm>
            <a:off x="860850" y="8773109"/>
            <a:ext cx="216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londonmet.ac.uk</a:t>
            </a:r>
            <a:endParaRPr/>
          </a:p>
        </p:txBody>
      </p:sp>
      <p:pic>
        <p:nvPicPr>
          <p:cNvPr id="122" name="Google Shape;122;gbf01359d15_0_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59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bf01359d15_0_1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005" y="9177674"/>
            <a:ext cx="253265" cy="25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bf01359d15_0_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83" y="9177674"/>
            <a:ext cx="270833" cy="27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End white">
  <p:cSld name="4_End white">
    <p:bg>
      <p:bgPr>
        <a:solidFill>
          <a:srgbClr val="FEF2BE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bf01359d15_0_164" descr="London Metropolitan University logo in bla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bf01359d15_0_164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End white">
  <p:cSld name="5_End white">
    <p:bg>
      <p:bgPr>
        <a:solidFill>
          <a:srgbClr val="231F2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bf01359d15_0_172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bf01359d15_0_172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End white">
  <p:cSld name="6_End white">
    <p:bg>
      <p:bgPr>
        <a:solidFill>
          <a:srgbClr val="002D6D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bf01359d15_0_180" descr="London Metropolitan University logo in whi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8000" y="648000"/>
            <a:ext cx="3800310" cy="97734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bf01359d15_0_180"/>
          <p:cNvSpPr txBox="1">
            <a:spLocks noGrp="1"/>
          </p:cNvSpPr>
          <p:nvPr>
            <p:ph type="title"/>
          </p:nvPr>
        </p:nvSpPr>
        <p:spPr>
          <a:xfrm>
            <a:off x="982800" y="4557148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1"/>
              <a:buFont typeface="Arial"/>
              <a:buNone/>
              <a:defRPr sz="6601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257300" y="547773"/>
            <a:ext cx="15773400" cy="198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257300" y="2738860"/>
            <a:ext cx="15773400" cy="652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6" r:id="rId13"/>
    <p:sldLayoutId id="2147483667" r:id="rId14"/>
    <p:sldLayoutId id="2147483668" r:id="rId15"/>
    <p:sldLayoutId id="2147483669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4AF4-FDAD-9DD9-5F1A-11463F7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Support (Quantitative)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E7F84-A6C6-2F6B-B13D-05EFE83F9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Laura Perry (Academic Mentor in Health Sciences)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8D50F-C0B1-939F-590C-ABF2A19DAB14}"/>
              </a:ext>
            </a:extLst>
          </p:cNvPr>
          <p:cNvSpPr/>
          <p:nvPr/>
        </p:nvSpPr>
        <p:spPr>
          <a:xfrm>
            <a:off x="9485193" y="388357"/>
            <a:ext cx="8579341" cy="105507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33436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ADE1-64E4-C0A1-8B18-ACD14A75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the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F61EE-0C76-860B-667F-D4B379AAB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parts: </a:t>
            </a:r>
          </a:p>
          <a:p>
            <a:endParaRPr lang="en-GB" dirty="0"/>
          </a:p>
          <a:p>
            <a:pPr marL="742950" indent="-514350">
              <a:buAutoNum type="arabicParenR"/>
            </a:pPr>
            <a:r>
              <a:rPr lang="en-GB" dirty="0"/>
              <a:t>Taught section: Go through the requirements of the assessment</a:t>
            </a:r>
          </a:p>
          <a:p>
            <a:pPr marL="742950" indent="-514350">
              <a:buAutoNum type="arabicParenR"/>
            </a:pPr>
            <a:endParaRPr lang="en-GB" dirty="0"/>
          </a:p>
          <a:p>
            <a:pPr marL="742950" indent="-514350">
              <a:buAutoNum type="arabicParenR"/>
            </a:pPr>
            <a:r>
              <a:rPr lang="en-GB" dirty="0"/>
              <a:t>Independent Work and 1-to-1 Support: Time to work on the assessment and receive 1-to-1 support from the AM. </a:t>
            </a:r>
          </a:p>
        </p:txBody>
      </p:sp>
    </p:spTree>
    <p:extLst>
      <p:ext uri="{BB962C8B-B14F-4D97-AF65-F5344CB8AC3E}">
        <p14:creationId xmlns:p14="http://schemas.microsoft.com/office/powerpoint/2010/main" val="151292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4BDC-BEEC-838C-32C3-ECD21B41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9AE6E-DE66-AD7C-8020-69AE8C7A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Description: </a:t>
            </a:r>
            <a:r>
              <a:rPr lang="en-GB" dirty="0"/>
              <a:t>750-word template on the critical appraisal of a research article using quantitative research methodology.</a:t>
            </a:r>
          </a:p>
          <a:p>
            <a:endParaRPr lang="en-GB" dirty="0"/>
          </a:p>
          <a:p>
            <a:r>
              <a:rPr lang="en-GB" b="1" dirty="0"/>
              <a:t>Weighting: </a:t>
            </a:r>
            <a:r>
              <a:rPr lang="en-GB" dirty="0"/>
              <a:t>50%</a:t>
            </a:r>
          </a:p>
          <a:p>
            <a:endParaRPr lang="en-GB" dirty="0"/>
          </a:p>
          <a:p>
            <a:r>
              <a:rPr lang="en-GB" b="1" dirty="0"/>
              <a:t>Deadline: </a:t>
            </a:r>
            <a:r>
              <a:rPr lang="en-GB" dirty="0"/>
              <a:t>​Friday 13th March 2026 at 3pm </a:t>
            </a:r>
          </a:p>
        </p:txBody>
      </p:sp>
    </p:spTree>
    <p:extLst>
      <p:ext uri="{BB962C8B-B14F-4D97-AF65-F5344CB8AC3E}">
        <p14:creationId xmlns:p14="http://schemas.microsoft.com/office/powerpoint/2010/main" val="421676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EEF7-8F97-1070-4CBE-4C25A0C4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Information (Show on </a:t>
            </a:r>
            <a:r>
              <a:rPr lang="en-GB" dirty="0" err="1"/>
              <a:t>Weblearn</a:t>
            </a:r>
            <a:r>
              <a:rPr lang="en-GB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BC14A-7C22-358A-4FB5-3319F441F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" y="3524419"/>
            <a:ext cx="1435617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5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D619-41AA-9667-5A5B-70DC9904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90B09-FEF9-E379-BA97-DF6FC5FE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1:</a:t>
            </a:r>
            <a:r>
              <a:rPr lang="en-GB" dirty="0"/>
              <a:t> Pick your article if you haven’t already (RCT 1 </a:t>
            </a:r>
            <a:r>
              <a:rPr lang="en-GB" b="1" u="sng" dirty="0"/>
              <a:t>OR</a:t>
            </a:r>
            <a:r>
              <a:rPr lang="en-GB" dirty="0"/>
              <a:t> RCT2)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45D09-7065-DA11-F48E-B9D84BD11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930" y="4729229"/>
            <a:ext cx="6944694" cy="2276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001B0F-371C-9EFA-00C4-9EB6813B5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144" y="4743518"/>
            <a:ext cx="6973273" cy="2248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079A8F-96A8-3748-974C-73D042A25AE2}"/>
              </a:ext>
            </a:extLst>
          </p:cNvPr>
          <p:cNvSpPr txBox="1"/>
          <p:nvPr/>
        </p:nvSpPr>
        <p:spPr>
          <a:xfrm>
            <a:off x="8355166" y="5405960"/>
            <a:ext cx="1268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54100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1A21-5772-CA8A-A43F-1316A64D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B0AB-8DB7-EE3D-9254-CB30E42B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A5D10-2647-50E6-4265-CD16C2C77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2: </a:t>
            </a:r>
            <a:r>
              <a:rPr lang="en-GB" dirty="0"/>
              <a:t>Complete the </a:t>
            </a:r>
            <a:r>
              <a:rPr lang="en-GB" b="1" dirty="0"/>
              <a:t>CASP (for RCTs) </a:t>
            </a:r>
            <a:r>
              <a:rPr lang="en-GB" dirty="0"/>
              <a:t>for your chosen RCT (RCT 1 </a:t>
            </a:r>
            <a:r>
              <a:rPr lang="en-GB" b="1" u="sng" dirty="0"/>
              <a:t>OR</a:t>
            </a:r>
            <a:r>
              <a:rPr lang="en-GB" dirty="0"/>
              <a:t> RCT2)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F047E-AFED-03C0-1218-4E219BE9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388" y="4132128"/>
            <a:ext cx="5665426" cy="58461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F46B69-2583-43B3-920E-2479550BBD6F}"/>
                  </a:ext>
                </a:extLst>
              </p14:cNvPr>
              <p14:cNvContentPartPr/>
              <p14:nvPr/>
            </p14:nvContentPartPr>
            <p14:xfrm>
              <a:off x="6651163" y="7270328"/>
              <a:ext cx="2860200" cy="30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F46B69-2583-43B3-920E-2479550BBD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7523" y="7162328"/>
                <a:ext cx="29678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5EEC70-F055-CB4D-3845-27C5EB3DD622}"/>
                  </a:ext>
                </a:extLst>
              </p14:cNvPr>
              <p14:cNvContentPartPr/>
              <p14:nvPr/>
            </p14:nvContentPartPr>
            <p14:xfrm>
              <a:off x="6726043" y="7169528"/>
              <a:ext cx="2777760" cy="276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5EEC70-F055-CB4D-3845-27C5EB3DD6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2043" y="7061528"/>
                <a:ext cx="2885400" cy="49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665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E10C-A701-4C5B-182C-6A95623C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AB7CC-1927-31AD-912C-6D8464BF4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600" y="3404181"/>
            <a:ext cx="5903463" cy="6249900"/>
          </a:xfrm>
        </p:spPr>
        <p:txBody>
          <a:bodyPr/>
          <a:lstStyle/>
          <a:p>
            <a:r>
              <a:rPr lang="en-GB" b="1" dirty="0"/>
              <a:t>Step 3:</a:t>
            </a:r>
            <a:r>
              <a:rPr lang="en-GB" dirty="0"/>
              <a:t> Download and complete the ‘</a:t>
            </a:r>
            <a:r>
              <a:rPr lang="en-GB" b="1" dirty="0"/>
              <a:t>Template STUDENT PT5053.docx’ </a:t>
            </a:r>
            <a:r>
              <a:rPr lang="en-GB" dirty="0"/>
              <a:t>based on your chosen </a:t>
            </a:r>
            <a:r>
              <a:rPr lang="en-GB" b="1" dirty="0"/>
              <a:t>RCT</a:t>
            </a:r>
            <a:r>
              <a:rPr lang="en-GB" dirty="0"/>
              <a:t> and the </a:t>
            </a:r>
            <a:r>
              <a:rPr lang="en-GB" b="1" dirty="0"/>
              <a:t>CASP</a:t>
            </a:r>
            <a:r>
              <a:rPr lang="en-GB" dirty="0"/>
              <a:t> you have completed.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A0B686-0E1D-2F50-F54E-A9DA288D2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99" y="1407170"/>
            <a:ext cx="7441251" cy="852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0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873A-308A-A664-65DC-D954A7E0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ECE1-18E5-929E-B081-2D1C7FA6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9D5D6-6CEE-C4C5-56DE-04718EA7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600" y="3404181"/>
            <a:ext cx="9970496" cy="6249900"/>
          </a:xfrm>
        </p:spPr>
        <p:txBody>
          <a:bodyPr/>
          <a:lstStyle/>
          <a:p>
            <a:r>
              <a:rPr lang="en-GB" b="1" dirty="0"/>
              <a:t>Step 4: </a:t>
            </a:r>
            <a:r>
              <a:rPr lang="en-GB" dirty="0"/>
              <a:t>Add your completed CASP (RCT) as an appendix to your </a:t>
            </a:r>
            <a:r>
              <a:rPr lang="en-GB" b="1" dirty="0"/>
              <a:t>Template STUDENT PT5053.docx</a:t>
            </a:r>
          </a:p>
          <a:p>
            <a:endParaRPr lang="en-GB" b="1" dirty="0"/>
          </a:p>
          <a:p>
            <a:pPr marL="228600" indent="0"/>
            <a:r>
              <a:rPr lang="en-GB" dirty="0"/>
              <a:t>Key Points for Appendices: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Appendices should appear after the reference list.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Appendices should be referred to within the main text (e.g., ‘</a:t>
            </a:r>
            <a:r>
              <a:rPr lang="en-GB" i="1" dirty="0"/>
              <a:t>See Appendix A for the completed CASP RCT</a:t>
            </a:r>
            <a:r>
              <a:rPr lang="en-GB" dirty="0"/>
              <a:t>’)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Each appendix should be labelled with a letter in alphabetical order (Appendix A, Appendix B, etc.).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Each appendix should have a clear title describing its contents.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1CCB4-9F8E-375E-B367-B4F42F4D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606" y="1728264"/>
            <a:ext cx="6001588" cy="76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91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5479-2CF6-60A7-D2C6-7B5C7827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BCDF-F28D-D589-7017-023ADB0B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8D951-EC5B-B70F-9633-7B49851DC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5: </a:t>
            </a:r>
            <a:r>
              <a:rPr lang="en-GB" dirty="0"/>
              <a:t>Ensure you adhere to the submission method and requirements: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3F749-46C5-1860-76AE-87BB4D0B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625" y="4230643"/>
            <a:ext cx="15620750" cy="416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8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40C2-65FD-43D0-AB10-AA1496BD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 Page/Cover Sheet etc.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EB17157-CC9F-8CF6-EA49-9409B53C7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Word, Click Insert → cover page and pick one.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3C149-2B83-72B6-833D-BA9E41746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54" y="4094631"/>
            <a:ext cx="4495004" cy="5786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64131-7952-71FD-2F63-2F62C2D46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023" y="4094630"/>
            <a:ext cx="4406634" cy="57863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E31BB9-1EEC-4E4E-AC4B-6F2243268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2422" y="4093483"/>
            <a:ext cx="4415852" cy="578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7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DC07-E3E9-D2AD-BBFD-6103AF88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as a PDF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2758D-D47D-1477-EA76-E51C8F51A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File → Save as → Change the drop down from word to pdf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Filename format: </a:t>
            </a:r>
            <a:r>
              <a:rPr lang="en-GB" i="1" dirty="0"/>
              <a:t>PT5053_Quantitative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AB15A-2F42-604D-11B7-20AD37DE0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228" y="3976703"/>
            <a:ext cx="8143029" cy="48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7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9E7F-3567-A74A-F1FC-236365A3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Count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6F260-C7D5-FD05-910F-5A76E5777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check the word count for your text, highlight the section you want to measure and refer to the number displayed at the bottom left of the Word document.</a:t>
            </a:r>
          </a:p>
          <a:p>
            <a:endParaRPr lang="en-GB" dirty="0"/>
          </a:p>
          <a:p>
            <a:r>
              <a:rPr lang="en-GB" dirty="0"/>
              <a:t>You must ensure that your work falls within the required word count of 750 words ±10% (i.e., 675–825 words).</a:t>
            </a:r>
          </a:p>
          <a:p>
            <a:endParaRPr lang="en-GB" dirty="0"/>
          </a:p>
          <a:p>
            <a:r>
              <a:rPr lang="en-GB" dirty="0"/>
              <a:t>Exceeding or falling short of this range will have negative consequences for your marks.</a:t>
            </a:r>
          </a:p>
        </p:txBody>
      </p:sp>
    </p:spTree>
    <p:extLst>
      <p:ext uri="{BB962C8B-B14F-4D97-AF65-F5344CB8AC3E}">
        <p14:creationId xmlns:p14="http://schemas.microsoft.com/office/powerpoint/2010/main" val="3563530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F831-694B-6D01-4343-AEBF10B6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A0B4-6AC2-197B-558C-6A3D79D3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completing the assessment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5878B-398D-9DB9-1D34-B548E5C46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6: </a:t>
            </a:r>
            <a:r>
              <a:rPr lang="en-GB" dirty="0"/>
              <a:t>Submit before the deadline (</a:t>
            </a:r>
            <a:r>
              <a:rPr lang="en-GB" b="1" dirty="0"/>
              <a:t>Friday 13th March 2026</a:t>
            </a:r>
            <a:r>
              <a:rPr lang="en-GB" dirty="0"/>
              <a:t> at </a:t>
            </a:r>
            <a:r>
              <a:rPr lang="en-GB" b="1" dirty="0"/>
              <a:t>3pm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dirty="0"/>
              <a:t>Do </a:t>
            </a:r>
            <a:r>
              <a:rPr lang="en-GB" b="1" u="sng" dirty="0"/>
              <a:t>NOT</a:t>
            </a:r>
            <a:r>
              <a:rPr lang="en-GB" dirty="0"/>
              <a:t> leave it until the last minute to submit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935822-E31E-5F81-C741-3896295FC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38" y="4069329"/>
            <a:ext cx="12649282" cy="44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53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99A5-46A4-CA38-91A8-AC10C012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CA0B-23FC-7A3D-E214-1C127277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submitting the assessment (Show on </a:t>
            </a:r>
            <a:r>
              <a:rPr lang="en-GB" dirty="0" err="1"/>
              <a:t>Weblearn</a:t>
            </a:r>
            <a:r>
              <a:rPr lang="en-GB" dirty="0"/>
              <a:t>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0B884-9E1D-4E3E-8738-D9A7A6BB6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A0BDD-2818-158E-0439-EFE41F8A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0" y="3010209"/>
            <a:ext cx="17499867" cy="2896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DC8FE-6D1B-F950-D067-4D353E2A8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703" y="5963634"/>
            <a:ext cx="12755755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78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18B2-F882-1D0D-B9B3-B49A2268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Marking Scheme (show on </a:t>
            </a:r>
            <a:r>
              <a:rPr lang="en-GB" dirty="0" err="1"/>
              <a:t>Weblearn</a:t>
            </a:r>
            <a:r>
              <a:rPr lang="en-GB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CE8C0-21BD-B841-5D75-39D72BA0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033" y="2969550"/>
            <a:ext cx="4656729" cy="6639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190EBB-CEB4-9611-5811-A09F16C41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299" y="3078452"/>
            <a:ext cx="6459326" cy="57925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A55A4A-70E6-BB38-599F-29BFB75C548B}"/>
              </a:ext>
            </a:extLst>
          </p:cNvPr>
          <p:cNvSpPr/>
          <p:nvPr/>
        </p:nvSpPr>
        <p:spPr>
          <a:xfrm>
            <a:off x="6929129" y="9081981"/>
            <a:ext cx="11039872" cy="105507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Task – Download/open the template to complete/improve/take notes</a:t>
            </a:r>
          </a:p>
        </p:txBody>
      </p:sp>
    </p:spTree>
    <p:extLst>
      <p:ext uri="{BB962C8B-B14F-4D97-AF65-F5344CB8AC3E}">
        <p14:creationId xmlns:p14="http://schemas.microsoft.com/office/powerpoint/2010/main" val="2026476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3A5C-192B-DFF0-B4B8-E0D8B3580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Marking Rubric (Show on </a:t>
            </a:r>
            <a:r>
              <a:rPr lang="en-GB" dirty="0" err="1"/>
              <a:t>Weblearn</a:t>
            </a:r>
            <a:r>
              <a:rPr lang="en-GB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D76C4-A24D-421D-ED06-2BBAA5B95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299" y="3004988"/>
            <a:ext cx="13000725" cy="704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289B-F7C0-0CDD-D88A-573A9E47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Declaration (Show on </a:t>
            </a:r>
            <a:r>
              <a:rPr lang="en-GB" dirty="0" err="1"/>
              <a:t>Weblearn</a:t>
            </a:r>
            <a:r>
              <a:rPr lang="en-GB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9F869-E68B-E67A-1757-1856C4620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Appropriate and inappropriate use are detailed on </a:t>
            </a:r>
            <a:r>
              <a:rPr lang="en-GB" dirty="0" err="1"/>
              <a:t>Weblearn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931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4231-62BA-6F08-FFCA-DF18A0DF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010E-3EEA-B087-DAD0-6DABC861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Be </a:t>
            </a:r>
            <a:r>
              <a:rPr lang="en-GB" b="1" u="sng" dirty="0"/>
              <a:t>critical</a:t>
            </a:r>
            <a:r>
              <a:rPr lang="en-GB" dirty="0"/>
              <a:t>, not descriptive </a:t>
            </a:r>
          </a:p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Be </a:t>
            </a:r>
            <a:r>
              <a:rPr lang="en-GB" b="1" u="sng" dirty="0"/>
              <a:t>concise </a:t>
            </a:r>
          </a:p>
          <a:p>
            <a:pPr marL="6858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Ensure all content is placed in the </a:t>
            </a:r>
            <a:r>
              <a:rPr lang="en-GB" b="1" u="sng" dirty="0"/>
              <a:t>correct section of the template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1635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B0A4-29A8-7308-B0AD-9D697851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800" y="4557148"/>
            <a:ext cx="16594000" cy="1988700"/>
          </a:xfrm>
        </p:spPr>
        <p:txBody>
          <a:bodyPr/>
          <a:lstStyle/>
          <a:p>
            <a:r>
              <a:rPr lang="en-GB" dirty="0"/>
              <a:t>Any Questions on Part 1?</a:t>
            </a:r>
            <a:br>
              <a:rPr lang="en-GB" dirty="0"/>
            </a:br>
            <a:br>
              <a:rPr lang="en-GB" dirty="0"/>
            </a:br>
            <a:endParaRPr lang="en-GB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B3D35-0276-3081-E1F8-25919DF48E4D}"/>
              </a:ext>
            </a:extLst>
          </p:cNvPr>
          <p:cNvSpPr/>
          <p:nvPr/>
        </p:nvSpPr>
        <p:spPr>
          <a:xfrm>
            <a:off x="10699845" y="0"/>
            <a:ext cx="7588155" cy="10160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/>
              <a:t>Deadline: Friday 13th March 2026 at 3pm </a:t>
            </a:r>
          </a:p>
        </p:txBody>
      </p:sp>
    </p:spTree>
    <p:extLst>
      <p:ext uri="{BB962C8B-B14F-4D97-AF65-F5344CB8AC3E}">
        <p14:creationId xmlns:p14="http://schemas.microsoft.com/office/powerpoint/2010/main" val="2299842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671F-B9CA-EE0D-0730-CC9F88A1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(10-15 minutes)</a:t>
            </a:r>
          </a:p>
        </p:txBody>
      </p:sp>
      <p:pic>
        <p:nvPicPr>
          <p:cNvPr id="5" name="Graphic 4" descr="Coffee with solid fill">
            <a:extLst>
              <a:ext uri="{FF2B5EF4-FFF2-40B4-BE49-F238E27FC236}">
                <a16:creationId xmlns:a16="http://schemas.microsoft.com/office/drawing/2014/main" id="{0E48585D-A315-9EFA-FAB1-05A0E1C43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7593" y="2867481"/>
            <a:ext cx="6749713" cy="67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06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DB31-1C41-81BF-D134-559ADE83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37" y="4510157"/>
            <a:ext cx="16320325" cy="1268273"/>
          </a:xfrm>
        </p:spPr>
        <p:txBody>
          <a:bodyPr>
            <a:normAutofit fontScale="90000"/>
          </a:bodyPr>
          <a:lstStyle/>
          <a:p>
            <a:r>
              <a:rPr lang="en-GB" dirty="0"/>
              <a:t>Part 2: Independent Work and 1-to-1 Support</a:t>
            </a:r>
          </a:p>
        </p:txBody>
      </p:sp>
    </p:spTree>
    <p:extLst>
      <p:ext uri="{BB962C8B-B14F-4D97-AF65-F5344CB8AC3E}">
        <p14:creationId xmlns:p14="http://schemas.microsoft.com/office/powerpoint/2010/main" val="164816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CB9B-DFC3-C801-E0BB-3D3AF38C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Reminder: Drop In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7FAEB-268F-11C8-BB67-D21A6E78A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will be running a drop‑in session on:</a:t>
            </a:r>
          </a:p>
          <a:p>
            <a:endParaRPr lang="en-GB" dirty="0"/>
          </a:p>
          <a:p>
            <a:r>
              <a:rPr lang="en-GB" dirty="0"/>
              <a:t>📅 </a:t>
            </a:r>
            <a:r>
              <a:rPr lang="en-GB" b="1" dirty="0"/>
              <a:t>Thursday 5th March</a:t>
            </a:r>
            <a:endParaRPr lang="en-GB" dirty="0"/>
          </a:p>
          <a:p>
            <a:r>
              <a:rPr lang="en-GB" dirty="0"/>
              <a:t>⏰ </a:t>
            </a:r>
            <a:r>
              <a:rPr lang="en-GB" b="1" dirty="0"/>
              <a:t>11:00–13:00</a:t>
            </a:r>
            <a:endParaRPr lang="en-GB" dirty="0"/>
          </a:p>
          <a:p>
            <a:r>
              <a:rPr lang="en-GB" dirty="0"/>
              <a:t>📍 </a:t>
            </a:r>
            <a:r>
              <a:rPr lang="en-GB" b="1" dirty="0"/>
              <a:t>T11‑06</a:t>
            </a:r>
            <a:endParaRPr lang="en-GB" dirty="0"/>
          </a:p>
          <a:p>
            <a:endParaRPr lang="en-GB" dirty="0"/>
          </a:p>
          <a:p>
            <a:r>
              <a:rPr lang="en-GB" dirty="0"/>
              <a:t>This is another opportunity to get support with your first assessment. Please bring any drafts or questions you have.</a:t>
            </a:r>
          </a:p>
          <a:p>
            <a:endParaRPr lang="en-GB" dirty="0"/>
          </a:p>
          <a:p>
            <a:r>
              <a:rPr lang="en-GB" dirty="0"/>
              <a:t>The drop‑in will operate on a first‑come, first‑served basis. Attendance at the drop-in session is optional.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033979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1c86e41-dfe7-46dd-aa4d-f0c9b3b86952" xsi:nil="true"/>
    <lcf76f155ced4ddcb4097134ff3c332f xmlns="91817445-c990-44b4-af72-93953127e286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01E95706DD8245B78E920FEF6029AF" ma:contentTypeVersion="15" ma:contentTypeDescription="Create a new document." ma:contentTypeScope="" ma:versionID="9f4305f4ed2adc52873dbbe7e42b6418">
  <xsd:schema xmlns:xsd="http://www.w3.org/2001/XMLSchema" xmlns:xs="http://www.w3.org/2001/XMLSchema" xmlns:p="http://schemas.microsoft.com/office/2006/metadata/properties" xmlns:ns1="http://schemas.microsoft.com/sharepoint/v3" xmlns:ns2="71c86e41-dfe7-46dd-aa4d-f0c9b3b86952" xmlns:ns3="91817445-c990-44b4-af72-93953127e286" targetNamespace="http://schemas.microsoft.com/office/2006/metadata/properties" ma:root="true" ma:fieldsID="4dfbb0db9918a672cccd001533289eaa" ns1:_="" ns2:_="" ns3:_="">
    <xsd:import namespace="http://schemas.microsoft.com/sharepoint/v3"/>
    <xsd:import namespace="71c86e41-dfe7-46dd-aa4d-f0c9b3b86952"/>
    <xsd:import namespace="91817445-c990-44b4-af72-93953127e28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86e41-dfe7-46dd-aa4d-f0c9b3b8695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52f2569-3cfa-479b-9f0e-1394dc9ea803}" ma:internalName="TaxCatchAll" ma:showField="CatchAllData" ma:web="71c86e41-dfe7-46dd-aa4d-f0c9b3b869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17445-c990-44b4-af72-93953127e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D77775-E9A3-40A9-8FAB-32D6730D6B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C173-2B71-41B5-9483-719BBCA9ADE6}">
  <ds:schemaRefs>
    <ds:schemaRef ds:uri="71c86e41-dfe7-46dd-aa4d-f0c9b3b86952"/>
    <ds:schemaRef ds:uri="f6cce60e-0239-4036-a625-2ff3321e23ba"/>
    <ds:schemaRef ds:uri="http://schemas.microsoft.com/office/2006/metadata/properties"/>
    <ds:schemaRef ds:uri="http://schemas.microsoft.com/office/infopath/2007/PartnerControls"/>
    <ds:schemaRef ds:uri="91817445-c990-44b4-af72-93953127e286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9FF09DB-3175-43C2-B972-DE59103DF2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c86e41-dfe7-46dd-aa4d-f0c9b3b86952"/>
    <ds:schemaRef ds:uri="91817445-c990-44b4-af72-93953127e2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Custom</PresentationFormat>
  <Paragraphs>122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Title slide</vt:lpstr>
      <vt:lpstr>Assessment Support (Quantitative)</vt:lpstr>
      <vt:lpstr>Outline of the session</vt:lpstr>
      <vt:lpstr>Assessment Overview</vt:lpstr>
      <vt:lpstr>Assessment Information (Show on Weblearn) </vt:lpstr>
      <vt:lpstr>Steps to completing the assessment </vt:lpstr>
      <vt:lpstr>Steps to completing the assessment </vt:lpstr>
      <vt:lpstr>Steps to completing the assessment </vt:lpstr>
      <vt:lpstr>Steps to completing the assessment </vt:lpstr>
      <vt:lpstr>Steps to completing the assessment </vt:lpstr>
      <vt:lpstr>Title Page/Cover Sheet etc. </vt:lpstr>
      <vt:lpstr>Saving as a PDF</vt:lpstr>
      <vt:lpstr>Word Count</vt:lpstr>
      <vt:lpstr>Steps to completing the assessment </vt:lpstr>
      <vt:lpstr>Steps to submitting the assessment (Show on Weblearn) </vt:lpstr>
      <vt:lpstr>Marking Scheme (show on Weblearn) </vt:lpstr>
      <vt:lpstr>Marking Rubric (Show on Weblearn)</vt:lpstr>
      <vt:lpstr>AI Declaration (Show on Weblearn)</vt:lpstr>
      <vt:lpstr>Final Tips</vt:lpstr>
      <vt:lpstr>Any Questions on Part 1?  </vt:lpstr>
      <vt:lpstr>Break (10-15 minutes)</vt:lpstr>
      <vt:lpstr>Part 2: Independent Work and 1-to-1 Support</vt:lpstr>
      <vt:lpstr>Reminder: Drop In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Cox</dc:creator>
  <cp:lastModifiedBy>Laura Perry</cp:lastModifiedBy>
  <cp:revision>79</cp:revision>
  <dcterms:created xsi:type="dcterms:W3CDTF">2015-07-03T13:06:53Z</dcterms:created>
  <dcterms:modified xsi:type="dcterms:W3CDTF">2026-03-03T14:26:35Z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0x010100EC01E95706DD8245B78E920FEF6029AF</vt:lpwstr>
  </property>
  <property fmtid="{D5CDD505-2E9C-101B-9397-08002B2CF9AE}" pid="3" name="MediaServiceImageTags">
    <vt:lpwstr/>
  </property>
</Properties>
</file>