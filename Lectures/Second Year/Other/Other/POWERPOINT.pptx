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19"/>
  </p:notesMasterIdLst>
  <p:sldIdLst>
    <p:sldId id="256" r:id="rId5"/>
    <p:sldId id="257" r:id="rId6"/>
    <p:sldId id="272" r:id="rId7"/>
    <p:sldId id="261" r:id="rId8"/>
    <p:sldId id="273" r:id="rId9"/>
    <p:sldId id="260" r:id="rId10"/>
    <p:sldId id="271" r:id="rId11"/>
    <p:sldId id="275" r:id="rId12"/>
    <p:sldId id="258" r:id="rId13"/>
    <p:sldId id="269" r:id="rId14"/>
    <p:sldId id="262" r:id="rId15"/>
    <p:sldId id="276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5" autoAdjust="0"/>
    <p:restoredTop sz="84181" autoAdjust="0"/>
  </p:normalViewPr>
  <p:slideViewPr>
    <p:cSldViewPr snapToGrid="0">
      <p:cViewPr>
        <p:scale>
          <a:sx n="37" d="100"/>
          <a:sy n="37" d="100"/>
        </p:scale>
        <p:origin x="120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4210-7576-4638-83E7-8AD5D1126EBF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D11AE-413F-4003-9345-F2F8FCB262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780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75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Honey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13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Honey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389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Can ask questions: </a:t>
            </a:r>
          </a:p>
          <a:p>
            <a:r>
              <a:rPr lang="en-GB" dirty="0"/>
              <a:t>What they do in healthcare</a:t>
            </a:r>
          </a:p>
          <a:p>
            <a:r>
              <a:rPr lang="en-GB" dirty="0"/>
              <a:t>And how they help with joint pain?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068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8DD65-6937-2B13-6DF1-E87AB2C0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1F0B0-1A52-4F60-1350-BBF43B151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A28E5-8E41-0FB9-B505-BC0B049F1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Can ask questions: </a:t>
            </a:r>
          </a:p>
          <a:p>
            <a:r>
              <a:rPr lang="en-GB"/>
              <a:t>What they do in healthcare</a:t>
            </a:r>
          </a:p>
          <a:p>
            <a:r>
              <a:rPr lang="en-GB"/>
              <a:t>And how they help with joint pain?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D8FD-4832-2370-5D26-D51535025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21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979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AE-413F-4003-9345-F2F8FCB2625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21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68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66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07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601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02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06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09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37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9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525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554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089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648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078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59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71EFB-D3E1-4F74-83B4-78AFB57463B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6BA8B3D-C589-4C1E-BE81-AAF5A35BBE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56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gif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gif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hyperlink" Target="https://www.oddfellows.co.uk/events/search/?PlaceName=se16+4bz&amp;f=Wellbeing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jpeg"/><Relationship Id="rId9" Type="http://schemas.openxmlformats.org/officeDocument/2006/relationships/image" Target="../media/image3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youtu.be/BH8Zc4WNWiA?si=wTzt9pNgiHz6l7W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hyperlink" Target="https://giveusashout.org/get-help/issues/support-chronic-pain/" TargetMode="External"/><Relationship Id="rId18" Type="http://schemas.openxmlformats.org/officeDocument/2006/relationships/hyperlink" Target="https://shop.arthritis-uk.org/collections/free-information-booklets" TargetMode="External"/><Relationship Id="rId3" Type="http://schemas.openxmlformats.org/officeDocument/2006/relationships/hyperlink" Target="https://www.arthritis-uk.org/information-and-support/living-with-arthritis/health-and-wellbeing/exercising-with-arthritis/lets-move-with-Leon/" TargetMode="External"/><Relationship Id="rId7" Type="http://schemas.openxmlformats.org/officeDocument/2006/relationships/hyperlink" Target="https://www.more-life.co.uk/places-we-work/camden-and-islington/" TargetMode="External"/><Relationship Id="rId12" Type="http://schemas.openxmlformats.org/officeDocument/2006/relationships/image" Target="../media/image49.png"/><Relationship Id="rId17" Type="http://schemas.openxmlformats.org/officeDocument/2006/relationships/hyperlink" Target="https://www.nuffieldhealth.com/about-us/our-impact/healthy-life/joint-pain-programme/joint-pain-programme" TargetMode="External"/><Relationship Id="rId2" Type="http://schemas.openxmlformats.org/officeDocument/2006/relationships/image" Target="../media/image44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hyperlink" Target="https://shawtrust.org.uk/msk-trailblazer/" TargetMode="External"/><Relationship Id="rId5" Type="http://schemas.openxmlformats.org/officeDocument/2006/relationships/hyperlink" Target="https://www.arthritisaction.org.uk/" TargetMode="External"/><Relationship Id="rId15" Type="http://schemas.openxmlformats.org/officeDocument/2006/relationships/hyperlink" Target="https://painconcern.org.uk/helpline" TargetMode="Externa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hyperlink" Target="https://www.arthritis.org/events/webinars/past-webinars" TargetMode="External"/><Relationship Id="rId1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278C-B0A5-4BE0-01E4-190EDEC94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468" y="933426"/>
            <a:ext cx="8915399" cy="1221381"/>
          </a:xfrm>
        </p:spPr>
        <p:txBody>
          <a:bodyPr>
            <a:normAutofit fontScale="90000"/>
          </a:bodyPr>
          <a:lstStyle/>
          <a:p>
            <a:r>
              <a:rPr lang="en-GB"/>
              <a:t>Joint Pain Event</a:t>
            </a:r>
            <a:br>
              <a:rPr lang="en-GB"/>
            </a:br>
            <a:br>
              <a:rPr lang="en-GB" sz="3600"/>
            </a:br>
            <a:endParaRPr lang="en-GB">
              <a:latin typeface="Subheading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20682-B46E-03BA-E645-5F45DD417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8086" y="5063707"/>
            <a:ext cx="8915399" cy="1126283"/>
          </a:xfrm>
        </p:spPr>
        <p:txBody>
          <a:bodyPr>
            <a:normAutofit fontScale="70000" lnSpcReduction="20000"/>
          </a:bodyPr>
          <a:lstStyle/>
          <a:p>
            <a:r>
              <a:rPr lang="en-GB"/>
              <a:t>11am-1pm</a:t>
            </a:r>
          </a:p>
          <a:p>
            <a:r>
              <a:rPr lang="en-GB"/>
              <a:t>Elvio and Honey</a:t>
            </a:r>
          </a:p>
          <a:p>
            <a:r>
              <a:rPr lang="en-GB"/>
              <a:t>Physiotherapy Students</a:t>
            </a:r>
          </a:p>
          <a:p>
            <a:r>
              <a:rPr lang="en-GB"/>
              <a:t>London Metropolitan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50755-E291-38CB-7285-14319A7BB47E}"/>
              </a:ext>
            </a:extLst>
          </p:cNvPr>
          <p:cNvSpPr txBox="1"/>
          <p:nvPr/>
        </p:nvSpPr>
        <p:spPr>
          <a:xfrm>
            <a:off x="322841" y="933426"/>
            <a:ext cx="61329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u="sng">
                <a:latin typeface="Subheading"/>
              </a:rPr>
              <a:t>Event Objectives</a:t>
            </a:r>
            <a:br>
              <a:rPr lang="en-GB" sz="2400">
                <a:latin typeface="Subheading"/>
              </a:rPr>
            </a:br>
            <a:r>
              <a:rPr lang="en-GB" sz="1800"/>
              <a:t>Understand common causes of joint pain</a:t>
            </a:r>
            <a:br>
              <a:rPr lang="en-GB" sz="1800"/>
            </a:br>
            <a:r>
              <a:rPr lang="en-GB" sz="1800"/>
              <a:t>Learn simple and safe exercises to stay active</a:t>
            </a:r>
            <a:br>
              <a:rPr lang="en-GB" sz="1800"/>
            </a:br>
            <a:r>
              <a:rPr lang="en-GB" sz="1800"/>
              <a:t>Learn self-management strategies</a:t>
            </a:r>
            <a:br>
              <a:rPr lang="en-GB" sz="1800"/>
            </a:br>
            <a:r>
              <a:rPr lang="en-GB" sz="1800"/>
              <a:t>Available support and resources</a:t>
            </a:r>
          </a:p>
          <a:p>
            <a:r>
              <a:rPr lang="en-GB"/>
              <a:t>Feedback form</a:t>
            </a:r>
          </a:p>
          <a:p>
            <a:r>
              <a:rPr lang="en-GB"/>
              <a:t>Breaks</a:t>
            </a:r>
          </a:p>
        </p:txBody>
      </p:sp>
      <p:pic>
        <p:nvPicPr>
          <p:cNvPr id="7" name="Picture 6" descr="A poster for a health club&#10;&#10;AI-generated content may be incorrect.">
            <a:extLst>
              <a:ext uri="{FF2B5EF4-FFF2-40B4-BE49-F238E27FC236}">
                <a16:creationId xmlns:a16="http://schemas.microsoft.com/office/drawing/2014/main" id="{88FBDE2C-A412-18B7-6725-E07653499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867" y="1602509"/>
            <a:ext cx="2582658" cy="365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0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EB9B5B69-A297-4D2F-8B89-529DA8A27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056" name="Freeform 11">
              <a:extLst>
                <a:ext uri="{FF2B5EF4-FFF2-40B4-BE49-F238E27FC236}">
                  <a16:creationId xmlns:a16="http://schemas.microsoft.com/office/drawing/2014/main" id="{3E39D215-BF38-4094-82D7-61DED1145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7" name="Freeform 12">
              <a:extLst>
                <a:ext uri="{FF2B5EF4-FFF2-40B4-BE49-F238E27FC236}">
                  <a16:creationId xmlns:a16="http://schemas.microsoft.com/office/drawing/2014/main" id="{7412700A-91C4-4126-8F17-3B9449DBB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8" name="Freeform 13">
              <a:extLst>
                <a:ext uri="{FF2B5EF4-FFF2-40B4-BE49-F238E27FC236}">
                  <a16:creationId xmlns:a16="http://schemas.microsoft.com/office/drawing/2014/main" id="{DF985802-25A8-4B99-89F0-2A42EC32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59" name="Freeform 14">
              <a:extLst>
                <a:ext uri="{FF2B5EF4-FFF2-40B4-BE49-F238E27FC236}">
                  <a16:creationId xmlns:a16="http://schemas.microsoft.com/office/drawing/2014/main" id="{F54C35AF-DB92-4205-A779-2A385B714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0" name="Freeform 15">
              <a:extLst>
                <a:ext uri="{FF2B5EF4-FFF2-40B4-BE49-F238E27FC236}">
                  <a16:creationId xmlns:a16="http://schemas.microsoft.com/office/drawing/2014/main" id="{9F845211-1F53-4E0A-891E-B78A206F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1" name="Freeform 16">
              <a:extLst>
                <a:ext uri="{FF2B5EF4-FFF2-40B4-BE49-F238E27FC236}">
                  <a16:creationId xmlns:a16="http://schemas.microsoft.com/office/drawing/2014/main" id="{9149C7DD-9998-4805-BFC8-CEF5F5DF3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2" name="Freeform 17">
              <a:extLst>
                <a:ext uri="{FF2B5EF4-FFF2-40B4-BE49-F238E27FC236}">
                  <a16:creationId xmlns:a16="http://schemas.microsoft.com/office/drawing/2014/main" id="{47C8036D-3ECA-43DA-BAF5-3C65CF41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3" name="Freeform 18">
              <a:extLst>
                <a:ext uri="{FF2B5EF4-FFF2-40B4-BE49-F238E27FC236}">
                  <a16:creationId xmlns:a16="http://schemas.microsoft.com/office/drawing/2014/main" id="{29C15912-CDE8-4DF3-9324-273FB4C8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4" name="Freeform 19">
              <a:extLst>
                <a:ext uri="{FF2B5EF4-FFF2-40B4-BE49-F238E27FC236}">
                  <a16:creationId xmlns:a16="http://schemas.microsoft.com/office/drawing/2014/main" id="{37C68D51-B7DA-4572-AB7E-708540B3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5" name="Freeform 20">
              <a:extLst>
                <a:ext uri="{FF2B5EF4-FFF2-40B4-BE49-F238E27FC236}">
                  <a16:creationId xmlns:a16="http://schemas.microsoft.com/office/drawing/2014/main" id="{1AF802CB-4E9E-4895-9363-C119914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6" name="Freeform 21">
              <a:extLst>
                <a:ext uri="{FF2B5EF4-FFF2-40B4-BE49-F238E27FC236}">
                  <a16:creationId xmlns:a16="http://schemas.microsoft.com/office/drawing/2014/main" id="{615760E5-5F27-4735-B01C-78E05F3FB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67" name="Freeform 22">
              <a:extLst>
                <a:ext uri="{FF2B5EF4-FFF2-40B4-BE49-F238E27FC236}">
                  <a16:creationId xmlns:a16="http://schemas.microsoft.com/office/drawing/2014/main" id="{DB9C6516-B2DB-432F-BD3A-A1792BD46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BC9C8D0D-644B-4B97-B83C-CC8E6436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070" name="Freeform 27">
              <a:extLst>
                <a:ext uri="{FF2B5EF4-FFF2-40B4-BE49-F238E27FC236}">
                  <a16:creationId xmlns:a16="http://schemas.microsoft.com/office/drawing/2014/main" id="{F8BE1EA6-80CF-446B-A4FE-3F935A51C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1" name="Freeform 28">
              <a:extLst>
                <a:ext uri="{FF2B5EF4-FFF2-40B4-BE49-F238E27FC236}">
                  <a16:creationId xmlns:a16="http://schemas.microsoft.com/office/drawing/2014/main" id="{10E39808-F4F7-43DE-AB53-82B7B55EA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2" name="Freeform 29">
              <a:extLst>
                <a:ext uri="{FF2B5EF4-FFF2-40B4-BE49-F238E27FC236}">
                  <a16:creationId xmlns:a16="http://schemas.microsoft.com/office/drawing/2014/main" id="{6ED5109A-600A-4C23-9BB3-C4C19C2D9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3" name="Freeform 30">
              <a:extLst>
                <a:ext uri="{FF2B5EF4-FFF2-40B4-BE49-F238E27FC236}">
                  <a16:creationId xmlns:a16="http://schemas.microsoft.com/office/drawing/2014/main" id="{D76FF73F-8CA3-42B0-A680-353805CD2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4" name="Freeform 31">
              <a:extLst>
                <a:ext uri="{FF2B5EF4-FFF2-40B4-BE49-F238E27FC236}">
                  <a16:creationId xmlns:a16="http://schemas.microsoft.com/office/drawing/2014/main" id="{B26A6949-3BEB-422A-854C-D4E26E4CF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5" name="Freeform 32">
              <a:extLst>
                <a:ext uri="{FF2B5EF4-FFF2-40B4-BE49-F238E27FC236}">
                  <a16:creationId xmlns:a16="http://schemas.microsoft.com/office/drawing/2014/main" id="{FE07AD25-30AF-40CD-B901-DF1EDBD68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6" name="Freeform 33">
              <a:extLst>
                <a:ext uri="{FF2B5EF4-FFF2-40B4-BE49-F238E27FC236}">
                  <a16:creationId xmlns:a16="http://schemas.microsoft.com/office/drawing/2014/main" id="{5AA460AF-7760-4F15-881A-6F0BFDBCD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7" name="Freeform 34">
              <a:extLst>
                <a:ext uri="{FF2B5EF4-FFF2-40B4-BE49-F238E27FC236}">
                  <a16:creationId xmlns:a16="http://schemas.microsoft.com/office/drawing/2014/main" id="{EE53C70E-5D92-4C42-A34F-9F7D16006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8" name="Freeform 35">
              <a:extLst>
                <a:ext uri="{FF2B5EF4-FFF2-40B4-BE49-F238E27FC236}">
                  <a16:creationId xmlns:a16="http://schemas.microsoft.com/office/drawing/2014/main" id="{C27614EE-0086-4D34-99BD-52F03708D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79" name="Freeform 36">
              <a:extLst>
                <a:ext uri="{FF2B5EF4-FFF2-40B4-BE49-F238E27FC236}">
                  <a16:creationId xmlns:a16="http://schemas.microsoft.com/office/drawing/2014/main" id="{326919B9-3ED4-4744-A713-326B3BAF6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0" name="Freeform 37">
              <a:extLst>
                <a:ext uri="{FF2B5EF4-FFF2-40B4-BE49-F238E27FC236}">
                  <a16:creationId xmlns:a16="http://schemas.microsoft.com/office/drawing/2014/main" id="{898BDBF5-8AA3-49CD-999A-ABA1F7AE3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1" name="Freeform 38">
              <a:extLst>
                <a:ext uri="{FF2B5EF4-FFF2-40B4-BE49-F238E27FC236}">
                  <a16:creationId xmlns:a16="http://schemas.microsoft.com/office/drawing/2014/main" id="{AF8ED3E0-CBE7-48C4-8F9E-FF98079C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A84F153B-2093-4171-BD2D-1631695C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85" name="Freeform 6">
            <a:extLst>
              <a:ext uri="{FF2B5EF4-FFF2-40B4-BE49-F238E27FC236}">
                <a16:creationId xmlns:a16="http://schemas.microsoft.com/office/drawing/2014/main" id="{DB5BC99D-7BEA-4F13-B82B-A956E2D0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2087" name="Rectangle 2086">
            <a:extLst>
              <a:ext uri="{FF2B5EF4-FFF2-40B4-BE49-F238E27FC236}">
                <a16:creationId xmlns:a16="http://schemas.microsoft.com/office/drawing/2014/main" id="{B7961235-F42C-4C83-B51B-7416382FB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254A09A1-AE33-4C84-B62F-DC061FD56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bg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00191-9184-A0D0-6504-020248C17BDF}"/>
              </a:ext>
            </a:extLst>
          </p:cNvPr>
          <p:cNvSpPr txBox="1"/>
          <p:nvPr/>
        </p:nvSpPr>
        <p:spPr>
          <a:xfrm>
            <a:off x="540279" y="967417"/>
            <a:ext cx="5280460" cy="3943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rgbClr val="FEFFFF"/>
                </a:solidFill>
                <a:latin typeface="+mj-lt"/>
                <a:ea typeface="+mj-ea"/>
                <a:cs typeface="+mj-cs"/>
              </a:rPr>
              <a:t>	What is Joint pain?</a:t>
            </a:r>
          </a:p>
        </p:txBody>
      </p:sp>
      <p:sp>
        <p:nvSpPr>
          <p:cNvPr id="2091" name="Freeform 27">
            <a:extLst>
              <a:ext uri="{FF2B5EF4-FFF2-40B4-BE49-F238E27FC236}">
                <a16:creationId xmlns:a16="http://schemas.microsoft.com/office/drawing/2014/main" id="{D62F2749-B982-4ADE-B1EF-67900258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052" name="Picture 4" descr="Fight Chronic Pain with Regular Sauna Sessions – Scandia Manufacturing">
            <a:extLst>
              <a:ext uri="{FF2B5EF4-FFF2-40B4-BE49-F238E27FC236}">
                <a16:creationId xmlns:a16="http://schemas.microsoft.com/office/drawing/2014/main" id="{AB41E24A-6517-B1AB-DC2A-CA86CD0F2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9" y="8047"/>
            <a:ext cx="6082801" cy="405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Knee pain icon cartoon vector. Arthritis joint 16227547 Vector Art at  Vecteezy">
            <a:extLst>
              <a:ext uri="{FF2B5EF4-FFF2-40B4-BE49-F238E27FC236}">
                <a16:creationId xmlns:a16="http://schemas.microsoft.com/office/drawing/2014/main" id="{608217CA-C043-F288-11B1-AC0F01B71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873" y="4526663"/>
            <a:ext cx="2336128" cy="233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Joint Pain Icon Cartoon Vector. Medical Arthritis Stock Vector -  Illustration of icon, inflamed: 278999446">
            <a:extLst>
              <a:ext uri="{FF2B5EF4-FFF2-40B4-BE49-F238E27FC236}">
                <a16:creationId xmlns:a16="http://schemas.microsoft.com/office/drawing/2014/main" id="{2A593398-C902-3E34-0A21-A3508CAAA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824" y="2035960"/>
            <a:ext cx="2336129" cy="233612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Shoulder pain icon cartoon vector arthritis joint patient medical | Premium  Vector">
            <a:extLst>
              <a:ext uri="{FF2B5EF4-FFF2-40B4-BE49-F238E27FC236}">
                <a16:creationId xmlns:a16="http://schemas.microsoft.com/office/drawing/2014/main" id="{2B822BA6-12F6-DB8D-2794-4AFE51DC9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045"/>
            <a:ext cx="2222774" cy="222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02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34676D-2CD0-853E-29C5-4E687CB2F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21281">
            <a:off x="141616" y="132406"/>
            <a:ext cx="1955036" cy="1955036"/>
          </a:xfrm>
          <a:prstGeom prst="rect">
            <a:avLst/>
          </a:prstGeom>
          <a:blipFill dpi="0" rotWithShape="1">
            <a:blip r:embed="rId4">
              <a:alphaModFix amt="82000"/>
            </a:blip>
            <a:srcRect/>
            <a:tile tx="0" ty="0" sx="100000" sy="100000" flip="none" algn="tl"/>
          </a:blipFill>
          <a:effectLst>
            <a:softEdge rad="266700"/>
          </a:effec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897DB5-E583-95CE-B7E9-6FEB155B2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542861"/>
              </p:ext>
            </p:extLst>
          </p:nvPr>
        </p:nvGraphicFramePr>
        <p:xfrm>
          <a:off x="1924249" y="498778"/>
          <a:ext cx="9148617" cy="5860443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049539">
                  <a:extLst>
                    <a:ext uri="{9D8B030D-6E8A-4147-A177-3AD203B41FA5}">
                      <a16:colId xmlns:a16="http://schemas.microsoft.com/office/drawing/2014/main" val="2685123055"/>
                    </a:ext>
                  </a:extLst>
                </a:gridCol>
                <a:gridCol w="3049539">
                  <a:extLst>
                    <a:ext uri="{9D8B030D-6E8A-4147-A177-3AD203B41FA5}">
                      <a16:colId xmlns:a16="http://schemas.microsoft.com/office/drawing/2014/main" val="4231883596"/>
                    </a:ext>
                  </a:extLst>
                </a:gridCol>
                <a:gridCol w="3049539">
                  <a:extLst>
                    <a:ext uri="{9D8B030D-6E8A-4147-A177-3AD203B41FA5}">
                      <a16:colId xmlns:a16="http://schemas.microsoft.com/office/drawing/2014/main" val="2814776956"/>
                    </a:ext>
                  </a:extLst>
                </a:gridCol>
              </a:tblGrid>
              <a:tr h="518931">
                <a:tc>
                  <a:txBody>
                    <a:bodyPr/>
                    <a:lstStyle/>
                    <a:p>
                      <a:pPr algn="ctr"/>
                      <a:r>
                        <a:rPr lang="en-GB" sz="2400" b="1" i="1" u="sng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Arthritis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1" u="sng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Tendonitis</a:t>
                      </a:r>
                      <a:r>
                        <a:rPr lang="en-GB" sz="2400" b="1" u="sng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i="1" u="sng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Fybromyalgia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7099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sz="1800" b="1">
                          <a:solidFill>
                            <a:schemeClr val="tx1"/>
                          </a:solidFill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Wear and tear </a:t>
                      </a:r>
                      <a:r>
                        <a:rPr lang="en-GB" sz="1800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– (osteoarthritis)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Repetitive overuse of a tendon</a:t>
                      </a:r>
                      <a:r>
                        <a:rPr lang="en-GB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 (common in sports or work-related tasks)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Sleep disturbances </a:t>
                      </a:r>
                      <a:r>
                        <a:rPr lang="en-GB">
                          <a:latin typeface="Amasis MT Pro" panose="020F0502020204030204" pitchFamily="18" charset="0"/>
                          <a:ea typeface="ADLaM Display" panose="020F0502020204030204" pitchFamily="2" charset="0"/>
                          <a:cs typeface="Aldhabi" panose="020F0502020204030204" pitchFamily="2" charset="-78"/>
                        </a:rPr>
                        <a:t>worsen pain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14972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Autoimmune disorders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(e.g., Rheumatoid arthritis, Psoriatic arthritis)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Aging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 (tendons lose elasticity and become more prone to irritation)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Abnormal pain processing in the central nervous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546603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Genetics and family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Previous tendon injury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Chronic stress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leading to nervous system overactivity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10674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Previous joint injuries</a:t>
                      </a:r>
                    </a:p>
                    <a:p>
                      <a:endParaRPr lang="en-GB">
                        <a:latin typeface="Amasis MT Pro" panose="02040504050005020304" pitchFamily="18" charset="0"/>
                      </a:endParaRPr>
                    </a:p>
                    <a:p>
                      <a:endParaRPr lang="en-GB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Tight muscles or lack of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Co-existing conditions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(e.g., rheumatoid arthritis, lupus) which increase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384146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Obesity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 (increases strain on weight bearing joints)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Diabetes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Hormonal imbalances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affecting pain regulation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996962"/>
                  </a:ext>
                </a:extLst>
              </a:tr>
              <a:tr h="841956"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Smoking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 (linked with rheumatoid arthritis)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Muscle weakness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or </a:t>
                      </a:r>
                      <a:r>
                        <a:rPr lang="en-GB" b="1">
                          <a:latin typeface="Amasis MT Pro" panose="02040504050005020304" pitchFamily="18" charset="0"/>
                        </a:rPr>
                        <a:t>imbalance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 causing extra strain on tendons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>
                          <a:latin typeface="Amasis MT Pro" panose="02040504050005020304" pitchFamily="18" charset="0"/>
                        </a:rPr>
                        <a:t>Physical or emotional trauma </a:t>
                      </a:r>
                      <a:r>
                        <a:rPr lang="en-GB">
                          <a:latin typeface="Amasis MT Pro" panose="02040504050005020304" pitchFamily="18" charset="0"/>
                        </a:rPr>
                        <a:t>(e.g., accidents, long-term stress)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396321"/>
                  </a:ext>
                </a:extLst>
              </a:tr>
            </a:tbl>
          </a:graphicData>
        </a:graphic>
      </p:graphicFrame>
      <p:pic>
        <p:nvPicPr>
          <p:cNvPr id="1026" name="Picture 2" descr="Bone - Free healthcare and medical icons">
            <a:extLst>
              <a:ext uri="{FF2B5EF4-FFF2-40B4-BE49-F238E27FC236}">
                <a16:creationId xmlns:a16="http://schemas.microsoft.com/office/drawing/2014/main" id="{250E3633-65F6-83CD-82FB-155E3141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240" y="5375517"/>
            <a:ext cx="1333918" cy="133391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96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1BD476-C084-F82A-E7DA-E91AB282EA34}"/>
              </a:ext>
            </a:extLst>
          </p:cNvPr>
          <p:cNvSpPr/>
          <p:nvPr/>
        </p:nvSpPr>
        <p:spPr>
          <a:xfrm>
            <a:off x="8516539" y="3284931"/>
            <a:ext cx="3301929" cy="34122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/>
              <a:t>Osteopaths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/>
              <a:t>Use hands-on techniques to improve mobility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/>
              <a:t>Advise on posture, movement and exercise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/>
              <a:t>Support long-term self-management</a:t>
            </a:r>
            <a:endParaRPr lang="en-GB" b="1" u="s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0FAC7B-2BEA-7E8D-38B9-5A54D3917322}"/>
              </a:ext>
            </a:extLst>
          </p:cNvPr>
          <p:cNvSpPr/>
          <p:nvPr/>
        </p:nvSpPr>
        <p:spPr>
          <a:xfrm>
            <a:off x="4615399" y="3284932"/>
            <a:ext cx="3301929" cy="328071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/>
              <a:t>General Practitioners (GP)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Diagnose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Prescribe medications and injections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Refer to other healthcare professionals/services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C0FEBB-5C9B-3C31-79DC-0AE14C31F686}"/>
              </a:ext>
            </a:extLst>
          </p:cNvPr>
          <p:cNvSpPr/>
          <p:nvPr/>
        </p:nvSpPr>
        <p:spPr>
          <a:xfrm>
            <a:off x="691101" y="3062930"/>
            <a:ext cx="3301929" cy="328071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Physiotherapists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Assess movement and joint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Provide tailored exercises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Teach flare-up management</a:t>
            </a:r>
          </a:p>
          <a:p>
            <a:endParaRPr lang="en-GB" dirty="0"/>
          </a:p>
        </p:txBody>
      </p:sp>
      <p:pic>
        <p:nvPicPr>
          <p:cNvPr id="11" name="Content Placeholder 10" descr="A person lying down with his leg on the ground&#10;&#10;AI-generated content may be incorrect.">
            <a:extLst>
              <a:ext uri="{FF2B5EF4-FFF2-40B4-BE49-F238E27FC236}">
                <a16:creationId xmlns:a16="http://schemas.microsoft.com/office/drawing/2014/main" id="{59F83DB6-A197-B2ED-95C4-998C75AA0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01" y="1677615"/>
            <a:ext cx="3301930" cy="18573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BFA680-BE0B-C5A1-0F4A-55644C23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51819"/>
            <a:ext cx="8911687" cy="1280890"/>
          </a:xfrm>
        </p:spPr>
        <p:txBody>
          <a:bodyPr/>
          <a:lstStyle/>
          <a:p>
            <a:r>
              <a:rPr lang="en-GB"/>
              <a:t>Roles in Healthcare</a:t>
            </a:r>
          </a:p>
        </p:txBody>
      </p:sp>
      <p:pic>
        <p:nvPicPr>
          <p:cNvPr id="14" name="Picture 13" descr="A doctor measuring the blood pressure of a person&#10;&#10;AI-generated content may be incorrect.">
            <a:extLst>
              <a:ext uri="{FF2B5EF4-FFF2-40B4-BE49-F238E27FC236}">
                <a16:creationId xmlns:a16="http://schemas.microsoft.com/office/drawing/2014/main" id="{19BF2BDA-3A9E-EA1D-4B1D-AFCE9C0FA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304" y="1590144"/>
            <a:ext cx="3301929" cy="20847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904F3E-EB8D-9217-1CF6-AF2D810843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697" y="1537662"/>
            <a:ext cx="3207868" cy="21372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502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84429A-D2E6-C590-4706-2F930FD3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EEA7AF-71F1-9A38-D6D7-2B398C65C4B9}"/>
              </a:ext>
            </a:extLst>
          </p:cNvPr>
          <p:cNvSpPr/>
          <p:nvPr/>
        </p:nvSpPr>
        <p:spPr>
          <a:xfrm>
            <a:off x="8515345" y="3159757"/>
            <a:ext cx="3301929" cy="341220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/>
              <a:t>Occupation Therapists (OTs)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Help people manage daily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Recommend equipment and home adaptations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Teach joint-protection and pacing strategies</a:t>
            </a:r>
            <a:endParaRPr lang="en-GB" b="1" u="sn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1A7813-B701-4700-2CDB-093D2E99E3C4}"/>
              </a:ext>
            </a:extLst>
          </p:cNvPr>
          <p:cNvSpPr/>
          <p:nvPr/>
        </p:nvSpPr>
        <p:spPr>
          <a:xfrm>
            <a:off x="4626978" y="3062930"/>
            <a:ext cx="3301929" cy="360585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u="sng"/>
          </a:p>
          <a:p>
            <a:pPr algn="ctr"/>
            <a:endParaRPr lang="en-GB" b="1" u="sng"/>
          </a:p>
          <a:p>
            <a:pPr algn="ctr"/>
            <a:r>
              <a:rPr lang="en-GB" b="1" u="sng"/>
              <a:t>Social Prescribers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Connect patients with community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Support lifestyle changes and emotional well-being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Help people stay active socially and physically.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786D0C-3339-C698-D0C9-B95AD23F0536}"/>
              </a:ext>
            </a:extLst>
          </p:cNvPr>
          <p:cNvSpPr/>
          <p:nvPr/>
        </p:nvSpPr>
        <p:spPr>
          <a:xfrm>
            <a:off x="691101" y="3062930"/>
            <a:ext cx="3301929" cy="328071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Pharmacists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Advise on medication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Check medication interactions and side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Quick access to medications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7F65B-B8D3-3283-081F-53B3DA1B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651819"/>
            <a:ext cx="8911687" cy="1280890"/>
          </a:xfrm>
        </p:spPr>
        <p:txBody>
          <a:bodyPr/>
          <a:lstStyle/>
          <a:p>
            <a:r>
              <a:rPr lang="en-GB"/>
              <a:t>Roles in Healthcare</a:t>
            </a:r>
          </a:p>
        </p:txBody>
      </p:sp>
      <p:pic>
        <p:nvPicPr>
          <p:cNvPr id="8" name="Content Placeholder 7" descr="A person in a white coat holding a tablet&#10;&#10;AI-generated content may be incorrect.">
            <a:extLst>
              <a:ext uri="{FF2B5EF4-FFF2-40B4-BE49-F238E27FC236}">
                <a16:creationId xmlns:a16="http://schemas.microsoft.com/office/drawing/2014/main" id="{8C51115C-4B43-89AE-DB9B-6893689B1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01" y="1880964"/>
            <a:ext cx="3325088" cy="16625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person sitting in a room talking to a person&#10;&#10;AI-generated content may be incorrect.">
            <a:extLst>
              <a:ext uri="{FF2B5EF4-FFF2-40B4-BE49-F238E27FC236}">
                <a16:creationId xmlns:a16="http://schemas.microsoft.com/office/drawing/2014/main" id="{81D6D9ED-6399-D2C6-AB22-5A2DCC2BD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978" y="1480668"/>
            <a:ext cx="3278770" cy="20343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 descr="A person sitting on a ball with a nurse stretching her arms&#10;&#10;AI-generated content may be incorrect.">
            <a:extLst>
              <a:ext uri="{FF2B5EF4-FFF2-40B4-BE49-F238E27FC236}">
                <a16:creationId xmlns:a16="http://schemas.microsoft.com/office/drawing/2014/main" id="{D1F26B74-F6B5-3BA5-EB3D-28B2C1EFA2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538" y="1553851"/>
            <a:ext cx="3301930" cy="19611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029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8D4F-6A98-854F-78C8-CDD11570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 What is Self-Management?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5A7D-0CD2-A04D-AA49-B01A96572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412" y="1566333"/>
            <a:ext cx="8915400" cy="677333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Actions a person takes to manage their health, particularly when living with a long-term/chronic condition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EEE56E-A49A-63A4-A5BD-FB5395797195}"/>
              </a:ext>
            </a:extLst>
          </p:cNvPr>
          <p:cNvGrpSpPr/>
          <p:nvPr/>
        </p:nvGrpSpPr>
        <p:grpSpPr>
          <a:xfrm>
            <a:off x="560564" y="2250247"/>
            <a:ext cx="2870200" cy="2968400"/>
            <a:chOff x="523673" y="2404380"/>
            <a:chExt cx="2870200" cy="29684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44AFBC-100E-6E9D-8B1C-C32F6DD91984}"/>
                </a:ext>
              </a:extLst>
            </p:cNvPr>
            <p:cNvSpPr/>
            <p:nvPr/>
          </p:nvSpPr>
          <p:spPr>
            <a:xfrm>
              <a:off x="523673" y="2404380"/>
              <a:ext cx="2870200" cy="115146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Creating a support network</a:t>
              </a:r>
            </a:p>
          </p:txBody>
        </p:sp>
        <p:pic>
          <p:nvPicPr>
            <p:cNvPr id="13" name="Picture 12" descr="A group of people in medical uniforms">
              <a:extLst>
                <a:ext uri="{FF2B5EF4-FFF2-40B4-BE49-F238E27FC236}">
                  <a16:creationId xmlns:a16="http://schemas.microsoft.com/office/drawing/2014/main" id="{B3247773-85B5-C405-AD22-B3870A7DD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236" y="3555091"/>
              <a:ext cx="1817689" cy="18176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2F5F1C-159B-7A71-D6B5-D9F34D15796E}"/>
              </a:ext>
            </a:extLst>
          </p:cNvPr>
          <p:cNvGrpSpPr/>
          <p:nvPr/>
        </p:nvGrpSpPr>
        <p:grpSpPr>
          <a:xfrm>
            <a:off x="4799012" y="2250247"/>
            <a:ext cx="2870200" cy="2478890"/>
            <a:chOff x="4799012" y="2484738"/>
            <a:chExt cx="2870200" cy="247889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FBE55B-C96A-0FDD-A62B-0A528205B40F}"/>
                </a:ext>
              </a:extLst>
            </p:cNvPr>
            <p:cNvSpPr/>
            <p:nvPr/>
          </p:nvSpPr>
          <p:spPr>
            <a:xfrm>
              <a:off x="4799012" y="2484738"/>
              <a:ext cx="2870200" cy="115146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Maintaining psychological well-being</a:t>
              </a:r>
            </a:p>
          </p:txBody>
        </p:sp>
        <p:pic>
          <p:nvPicPr>
            <p:cNvPr id="16" name="Picture 15" descr="A person sitting on the floor in front of a green couch&#10;&#10;AI-generated content may be incorrect.">
              <a:extLst>
                <a:ext uri="{FF2B5EF4-FFF2-40B4-BE49-F238E27FC236}">
                  <a16:creationId xmlns:a16="http://schemas.microsoft.com/office/drawing/2014/main" id="{679B12DB-8DC1-CB84-E4F9-79A5757F4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601" y="3636204"/>
              <a:ext cx="2157064" cy="132742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9DF685-C947-50F5-0F14-BEF1D737DC8E}"/>
              </a:ext>
            </a:extLst>
          </p:cNvPr>
          <p:cNvGrpSpPr/>
          <p:nvPr/>
        </p:nvGrpSpPr>
        <p:grpSpPr>
          <a:xfrm>
            <a:off x="9073343" y="2090617"/>
            <a:ext cx="2870200" cy="2676766"/>
            <a:chOff x="8861502" y="2328334"/>
            <a:chExt cx="2870200" cy="267676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59EDD7-6DF3-78B1-DC35-A6E325E9E896}"/>
                </a:ext>
              </a:extLst>
            </p:cNvPr>
            <p:cNvSpPr/>
            <p:nvPr/>
          </p:nvSpPr>
          <p:spPr>
            <a:xfrm>
              <a:off x="8861502" y="2328334"/>
              <a:ext cx="2870200" cy="115146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Adjusting your lifestyle</a:t>
              </a:r>
            </a:p>
          </p:txBody>
        </p:sp>
        <p:pic>
          <p:nvPicPr>
            <p:cNvPr id="19" name="Picture 18" descr="A colorful background with different objects&#10;&#10;AI-generated content may be incorrect.">
              <a:extLst>
                <a:ext uri="{FF2B5EF4-FFF2-40B4-BE49-F238E27FC236}">
                  <a16:creationId xmlns:a16="http://schemas.microsoft.com/office/drawing/2014/main" id="{AC77756A-E1E8-D2A9-254E-1A2996FA6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9679" y="3479800"/>
              <a:ext cx="2079955" cy="15253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3961AD-1017-D2DB-2F07-F25C0FDBF484}"/>
              </a:ext>
            </a:extLst>
          </p:cNvPr>
          <p:cNvGrpSpPr/>
          <p:nvPr/>
        </p:nvGrpSpPr>
        <p:grpSpPr>
          <a:xfrm>
            <a:off x="980085" y="5311401"/>
            <a:ext cx="4901358" cy="1354766"/>
            <a:chOff x="1425560" y="5291667"/>
            <a:chExt cx="4901358" cy="135476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E4703BB-3EE7-D9D7-84AC-DCE64020CCFB}"/>
                </a:ext>
              </a:extLst>
            </p:cNvPr>
            <p:cNvSpPr/>
            <p:nvPr/>
          </p:nvSpPr>
          <p:spPr>
            <a:xfrm>
              <a:off x="1425560" y="5413051"/>
              <a:ext cx="2870200" cy="115146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Handling flare-ups</a:t>
              </a:r>
            </a:p>
          </p:txBody>
        </p:sp>
        <p:pic>
          <p:nvPicPr>
            <p:cNvPr id="22" name="Picture 21" descr="A person sitting on a couch using a device&#10;&#10;AI-generated content may be incorrect.">
              <a:extLst>
                <a:ext uri="{FF2B5EF4-FFF2-40B4-BE49-F238E27FC236}">
                  <a16:creationId xmlns:a16="http://schemas.microsoft.com/office/drawing/2014/main" id="{03E92267-038F-0D40-FA96-D74AD5922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760" y="5291667"/>
              <a:ext cx="2031158" cy="135476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5082C6-05EA-E460-F474-018E5F3F79A9}"/>
              </a:ext>
            </a:extLst>
          </p:cNvPr>
          <p:cNvGrpSpPr/>
          <p:nvPr/>
        </p:nvGrpSpPr>
        <p:grpSpPr>
          <a:xfrm>
            <a:off x="6800865" y="5232713"/>
            <a:ext cx="5142678" cy="1295780"/>
            <a:chOff x="6800865" y="5232713"/>
            <a:chExt cx="5142678" cy="129578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DFBA24-9215-B622-60B4-5C6697D4E7CC}"/>
                </a:ext>
              </a:extLst>
            </p:cNvPr>
            <p:cNvSpPr/>
            <p:nvPr/>
          </p:nvSpPr>
          <p:spPr>
            <a:xfrm>
              <a:off x="6800865" y="5304870"/>
              <a:ext cx="2870200" cy="115146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Developing skills, confidence and knowledge</a:t>
              </a:r>
            </a:p>
          </p:txBody>
        </p:sp>
        <p:pic>
          <p:nvPicPr>
            <p:cNvPr id="25" name="Picture 24" descr="Two women sitting at a table&#10;&#10;AI-generated content may be incorrect.">
              <a:extLst>
                <a:ext uri="{FF2B5EF4-FFF2-40B4-BE49-F238E27FC236}">
                  <a16:creationId xmlns:a16="http://schemas.microsoft.com/office/drawing/2014/main" id="{2AB65468-31AD-F657-EC21-79A11A1CA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6946" y="5232713"/>
              <a:ext cx="2256597" cy="129578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63417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FD02-6D46-D443-FF96-D4B5A31C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26" y="125612"/>
            <a:ext cx="8911687" cy="1280890"/>
          </a:xfrm>
        </p:spPr>
        <p:txBody>
          <a:bodyPr/>
          <a:lstStyle/>
          <a:p>
            <a:r>
              <a:rPr lang="en-GB" dirty="0"/>
              <a:t>Ways to Self-Manage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4757A4-782A-72A2-1DFD-98FDE5191626}"/>
              </a:ext>
            </a:extLst>
          </p:cNvPr>
          <p:cNvGrpSpPr/>
          <p:nvPr/>
        </p:nvGrpSpPr>
        <p:grpSpPr>
          <a:xfrm>
            <a:off x="533198" y="1110481"/>
            <a:ext cx="2880000" cy="1800000"/>
            <a:chOff x="1006315" y="1657478"/>
            <a:chExt cx="2771544" cy="1557207"/>
          </a:xfrm>
        </p:grpSpPr>
        <p:pic>
          <p:nvPicPr>
            <p:cNvPr id="5" name="Picture 4" descr="A person and person doing exercises">
              <a:extLst>
                <a:ext uri="{FF2B5EF4-FFF2-40B4-BE49-F238E27FC236}">
                  <a16:creationId xmlns:a16="http://schemas.microsoft.com/office/drawing/2014/main" id="{954EFD06-7EFA-9FF1-6C87-4F6E4FD5B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15" y="1657478"/>
              <a:ext cx="2771544" cy="1557207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A4A28B9-AD64-1DAD-A15D-5486E0FD5D27}"/>
                </a:ext>
              </a:extLst>
            </p:cNvPr>
            <p:cNvSpPr/>
            <p:nvPr/>
          </p:nvSpPr>
          <p:spPr>
            <a:xfrm>
              <a:off x="1006315" y="2883755"/>
              <a:ext cx="2771544" cy="33093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Gentle exercises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3B4F8D-CFE8-5CCB-1258-021A788EEEC3}"/>
              </a:ext>
            </a:extLst>
          </p:cNvPr>
          <p:cNvGrpSpPr/>
          <p:nvPr/>
        </p:nvGrpSpPr>
        <p:grpSpPr>
          <a:xfrm>
            <a:off x="516534" y="4847519"/>
            <a:ext cx="2880000" cy="1800000"/>
            <a:chOff x="777715" y="3547490"/>
            <a:chExt cx="2190750" cy="2190750"/>
          </a:xfrm>
        </p:grpSpPr>
        <p:pic>
          <p:nvPicPr>
            <p:cNvPr id="11" name="Picture 10" descr="A package of ice packs&#10;&#10;AI-generated content may be incorrect.">
              <a:extLst>
                <a:ext uri="{FF2B5EF4-FFF2-40B4-BE49-F238E27FC236}">
                  <a16:creationId xmlns:a16="http://schemas.microsoft.com/office/drawing/2014/main" id="{2B09DDF9-3299-E7ED-E4EE-6340D1A19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715" y="3547490"/>
              <a:ext cx="2190750" cy="2190750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2CC6E8-05A7-3506-E115-3BB2138A0147}"/>
                </a:ext>
              </a:extLst>
            </p:cNvPr>
            <p:cNvSpPr/>
            <p:nvPr/>
          </p:nvSpPr>
          <p:spPr>
            <a:xfrm>
              <a:off x="777715" y="5283001"/>
              <a:ext cx="2190750" cy="455239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Cold Packs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3D17D2-BE9C-A0EE-A654-5289AA35552D}"/>
              </a:ext>
            </a:extLst>
          </p:cNvPr>
          <p:cNvGrpSpPr/>
          <p:nvPr/>
        </p:nvGrpSpPr>
        <p:grpSpPr>
          <a:xfrm>
            <a:off x="7748110" y="4951038"/>
            <a:ext cx="2880000" cy="1781350"/>
            <a:chOff x="3533541" y="4043139"/>
            <a:chExt cx="4524929" cy="2781906"/>
          </a:xfrm>
        </p:grpSpPr>
        <p:pic>
          <p:nvPicPr>
            <p:cNvPr id="17" name="Picture 16" descr="A person receiving acupuncture treatment&#10;&#10;AI-generated content may be incorrect.">
              <a:extLst>
                <a:ext uri="{FF2B5EF4-FFF2-40B4-BE49-F238E27FC236}">
                  <a16:creationId xmlns:a16="http://schemas.microsoft.com/office/drawing/2014/main" id="{FD3277FF-DA17-2485-8C7C-B78712BA1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3541" y="4043139"/>
              <a:ext cx="4521765" cy="2781906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8EBBC1-CA38-D76B-9936-AABB749C93C0}"/>
                </a:ext>
              </a:extLst>
            </p:cNvPr>
            <p:cNvSpPr/>
            <p:nvPr/>
          </p:nvSpPr>
          <p:spPr>
            <a:xfrm>
              <a:off x="3536705" y="6205874"/>
              <a:ext cx="4521765" cy="549727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Acupuncture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72DFA0-245D-94B3-5D95-2E1B7C1CAD16}"/>
              </a:ext>
            </a:extLst>
          </p:cNvPr>
          <p:cNvGrpSpPr/>
          <p:nvPr/>
        </p:nvGrpSpPr>
        <p:grpSpPr>
          <a:xfrm>
            <a:off x="7679615" y="1110481"/>
            <a:ext cx="2880000" cy="1811986"/>
            <a:chOff x="7393019" y="1264555"/>
            <a:chExt cx="4572000" cy="209986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B5705E-5D0B-C745-A9B4-8CE297B82CF9}"/>
                </a:ext>
              </a:extLst>
            </p:cNvPr>
            <p:cNvGrpSpPr/>
            <p:nvPr/>
          </p:nvGrpSpPr>
          <p:grpSpPr>
            <a:xfrm>
              <a:off x="7393019" y="1264555"/>
              <a:ext cx="4572000" cy="2085976"/>
              <a:chOff x="5257569" y="1516855"/>
              <a:chExt cx="4572000" cy="2085976"/>
            </a:xfrm>
          </p:grpSpPr>
          <p:pic>
            <p:nvPicPr>
              <p:cNvPr id="7" name="Picture 6" descr="A person holding a hot water bottle&#10;&#10;AI-generated content may be incorrect.">
                <a:extLst>
                  <a:ext uri="{FF2B5EF4-FFF2-40B4-BE49-F238E27FC236}">
                    <a16:creationId xmlns:a16="http://schemas.microsoft.com/office/drawing/2014/main" id="{61F1011E-0FC8-8EDD-27F3-A265159C0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57569" y="1516856"/>
                <a:ext cx="2085975" cy="2085975"/>
              </a:xfrm>
              <a:prstGeom prst="rect">
                <a:avLst/>
              </a:prstGeom>
            </p:spPr>
          </p:pic>
          <p:pic>
            <p:nvPicPr>
              <p:cNvPr id="9" name="Picture 8" descr="A person with a heated blanket&#10;&#10;AI-generated content may be incorrect.">
                <a:extLst>
                  <a:ext uri="{FF2B5EF4-FFF2-40B4-BE49-F238E27FC236}">
                    <a16:creationId xmlns:a16="http://schemas.microsoft.com/office/drawing/2014/main" id="{CF71E7AD-EBA2-47FA-7D56-AB1AA79BB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43544" y="1516855"/>
                <a:ext cx="2486025" cy="2085975"/>
              </a:xfrm>
              <a:prstGeom prst="rect">
                <a:avLst/>
              </a:prstGeom>
            </p:spPr>
          </p:pic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9CACAF1-D127-8D8C-1683-BC0E4FE01867}"/>
                </a:ext>
              </a:extLst>
            </p:cNvPr>
            <p:cNvSpPr/>
            <p:nvPr/>
          </p:nvSpPr>
          <p:spPr>
            <a:xfrm>
              <a:off x="7393019" y="2894604"/>
              <a:ext cx="4571998" cy="469817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Heat packs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68C9BE5-BD53-BEAE-E10A-26A00B9781AB}"/>
              </a:ext>
            </a:extLst>
          </p:cNvPr>
          <p:cNvGrpSpPr/>
          <p:nvPr/>
        </p:nvGrpSpPr>
        <p:grpSpPr>
          <a:xfrm>
            <a:off x="7748109" y="3047519"/>
            <a:ext cx="2880000" cy="1800000"/>
            <a:chOff x="8942355" y="4642865"/>
            <a:chExt cx="3022664" cy="2015109"/>
          </a:xfrm>
        </p:grpSpPr>
        <p:pic>
          <p:nvPicPr>
            <p:cNvPr id="13" name="Picture 12" descr="A steam room with wood walls and a wood bench&#10;&#10;AI-generated content may be incorrect.">
              <a:extLst>
                <a:ext uri="{FF2B5EF4-FFF2-40B4-BE49-F238E27FC236}">
                  <a16:creationId xmlns:a16="http://schemas.microsoft.com/office/drawing/2014/main" id="{AC407C8E-B99F-177F-711F-1DF118B9A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2355" y="4642865"/>
              <a:ext cx="3022664" cy="2015109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2401D6A-CEF0-F25A-A261-4061A6A87838}"/>
                </a:ext>
              </a:extLst>
            </p:cNvPr>
            <p:cNvSpPr/>
            <p:nvPr/>
          </p:nvSpPr>
          <p:spPr>
            <a:xfrm>
              <a:off x="8942355" y="6223018"/>
              <a:ext cx="3022664" cy="428241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Sauna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C652258-4E8D-4DAD-6A9F-44BAF210F6E4}"/>
              </a:ext>
            </a:extLst>
          </p:cNvPr>
          <p:cNvGrpSpPr/>
          <p:nvPr/>
        </p:nvGrpSpPr>
        <p:grpSpPr>
          <a:xfrm>
            <a:off x="4099333" y="1110481"/>
            <a:ext cx="2880000" cy="1799950"/>
            <a:chOff x="4230624" y="1349311"/>
            <a:chExt cx="1865376" cy="1865376"/>
          </a:xfrm>
        </p:grpSpPr>
        <p:pic>
          <p:nvPicPr>
            <p:cNvPr id="31" name="Picture 30" descr="A group of pills and bottles&#10;&#10;AI-generated content may be incorrect.">
              <a:extLst>
                <a:ext uri="{FF2B5EF4-FFF2-40B4-BE49-F238E27FC236}">
                  <a16:creationId xmlns:a16="http://schemas.microsoft.com/office/drawing/2014/main" id="{A6B00B83-002C-3EB0-06D2-208EA58F4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0624" y="1349311"/>
              <a:ext cx="1865376" cy="1865376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42ABA1-7C84-4380-F1DC-70C90E89ECEB}"/>
                </a:ext>
              </a:extLst>
            </p:cNvPr>
            <p:cNvSpPr/>
            <p:nvPr/>
          </p:nvSpPr>
          <p:spPr>
            <a:xfrm>
              <a:off x="4230624" y="2818256"/>
              <a:ext cx="1865376" cy="396431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Medications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A9AB5C-DA09-AECE-274E-6DEFB9F8754E}"/>
              </a:ext>
            </a:extLst>
          </p:cNvPr>
          <p:cNvGrpSpPr/>
          <p:nvPr/>
        </p:nvGrpSpPr>
        <p:grpSpPr>
          <a:xfrm>
            <a:off x="4026659" y="4932388"/>
            <a:ext cx="2880000" cy="1800000"/>
            <a:chOff x="2862025" y="3482834"/>
            <a:chExt cx="3246778" cy="2170215"/>
          </a:xfrm>
        </p:grpSpPr>
        <p:pic>
          <p:nvPicPr>
            <p:cNvPr id="35" name="Picture 34" descr="A group of people walking on a path&#10;&#10;AI-generated content may be incorrect.">
              <a:extLst>
                <a:ext uri="{FF2B5EF4-FFF2-40B4-BE49-F238E27FC236}">
                  <a16:creationId xmlns:a16="http://schemas.microsoft.com/office/drawing/2014/main" id="{E772AE71-39DA-AD0A-0891-77164CF09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2025" y="3482834"/>
              <a:ext cx="3246778" cy="217021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B45977-F0A1-9837-09A5-04BAB5B189E4}"/>
                </a:ext>
              </a:extLst>
            </p:cNvPr>
            <p:cNvSpPr/>
            <p:nvPr/>
          </p:nvSpPr>
          <p:spPr>
            <a:xfrm>
              <a:off x="2862025" y="5220100"/>
              <a:ext cx="3246778" cy="432949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Walking groups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7896AA5-E962-8DC8-03B5-52C5C1BD7677}"/>
              </a:ext>
            </a:extLst>
          </p:cNvPr>
          <p:cNvGrpSpPr/>
          <p:nvPr/>
        </p:nvGrpSpPr>
        <p:grpSpPr>
          <a:xfrm>
            <a:off x="516534" y="3094117"/>
            <a:ext cx="2880000" cy="1602466"/>
            <a:chOff x="2592925" y="3225793"/>
            <a:chExt cx="2403699" cy="1602466"/>
          </a:xfrm>
        </p:grpSpPr>
        <p:pic>
          <p:nvPicPr>
            <p:cNvPr id="46" name="Picture 45" descr="A person holding a yellow rubber band&#10;&#10;AI-generated content may be incorrect.">
              <a:extLst>
                <a:ext uri="{FF2B5EF4-FFF2-40B4-BE49-F238E27FC236}">
                  <a16:creationId xmlns:a16="http://schemas.microsoft.com/office/drawing/2014/main" id="{7DE24BC6-2C73-CBBD-44F4-A7AA7AC57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2925" y="3225793"/>
              <a:ext cx="2403699" cy="1602466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2A9222-40E9-82B1-8F0D-C75780AF7BFF}"/>
                </a:ext>
              </a:extLst>
            </p:cNvPr>
            <p:cNvSpPr/>
            <p:nvPr/>
          </p:nvSpPr>
          <p:spPr>
            <a:xfrm>
              <a:off x="2592925" y="4432316"/>
              <a:ext cx="2403698" cy="360282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Banded exercises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76AEA5-5C0B-18CC-94A6-A69525810563}"/>
              </a:ext>
            </a:extLst>
          </p:cNvPr>
          <p:cNvGrpSpPr/>
          <p:nvPr/>
        </p:nvGrpSpPr>
        <p:grpSpPr>
          <a:xfrm>
            <a:off x="4026659" y="3047519"/>
            <a:ext cx="2880000" cy="1800000"/>
            <a:chOff x="5535799" y="3455440"/>
            <a:chExt cx="2387593" cy="1243584"/>
          </a:xfrm>
        </p:grpSpPr>
        <p:pic>
          <p:nvPicPr>
            <p:cNvPr id="50" name="Picture 49" descr="A person stretching her arms&#10;&#10;AI-generated content may be incorrect.">
              <a:extLst>
                <a:ext uri="{FF2B5EF4-FFF2-40B4-BE49-F238E27FC236}">
                  <a16:creationId xmlns:a16="http://schemas.microsoft.com/office/drawing/2014/main" id="{BE76BA2C-AA61-F8E0-D534-1FA464D91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8659" y="3455440"/>
              <a:ext cx="2273558" cy="1243584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6A248BB-C21F-6E0A-A286-6AA03E161D82}"/>
                </a:ext>
              </a:extLst>
            </p:cNvPr>
            <p:cNvSpPr/>
            <p:nvPr/>
          </p:nvSpPr>
          <p:spPr>
            <a:xfrm>
              <a:off x="5535799" y="4414857"/>
              <a:ext cx="2387593" cy="26428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Taking breaks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180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47DE-568C-877F-D47F-3BCB841C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>
                <a:solidFill>
                  <a:srgbClr val="0070C0"/>
                </a:solidFill>
              </a:rPr>
              <a:t>Self Management!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4CBD-3BBA-F64F-2933-411C6C752CA6}"/>
              </a:ext>
            </a:extLst>
          </p:cNvPr>
          <p:cNvSpPr txBox="1"/>
          <p:nvPr/>
        </p:nvSpPr>
        <p:spPr>
          <a:xfrm rot="20703166">
            <a:off x="6995318" y="491406"/>
            <a:ext cx="348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0070C0"/>
                </a:solidFill>
              </a:rPr>
              <a:t>Invest in your hobbies!</a:t>
            </a:r>
          </a:p>
        </p:txBody>
      </p:sp>
      <p:pic>
        <p:nvPicPr>
          <p:cNvPr id="2051" name="Picture 3" descr="Old woman swimming cartoon Images - Free Download on Freepik">
            <a:hlinkClick r:id="rId2"/>
            <a:extLst>
              <a:ext uri="{FF2B5EF4-FFF2-40B4-BE49-F238E27FC236}">
                <a16:creationId xmlns:a16="http://schemas.microsoft.com/office/drawing/2014/main" id="{989818F6-050C-C649-0815-039532CD1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01"/>
          <a:stretch>
            <a:fillRect/>
          </a:stretch>
        </p:blipFill>
        <p:spPr bwMode="auto">
          <a:xfrm rot="927381">
            <a:off x="9722197" y="891698"/>
            <a:ext cx="2118455" cy="1881192"/>
          </a:xfrm>
          <a:prstGeom prst="rect">
            <a:avLst/>
          </a:prstGeom>
          <a:noFill/>
          <a:effectLst>
            <a:glow rad="50800">
              <a:srgbClr val="00B050">
                <a:alpha val="41000"/>
              </a:srgbClr>
            </a:glo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Yoga Silhouette Images – Browse 520,429 Stock Photos, Vectors, and Video |  Adobe Stock">
            <a:hlinkClick r:id="rId2"/>
            <a:extLst>
              <a:ext uri="{FF2B5EF4-FFF2-40B4-BE49-F238E27FC236}">
                <a16:creationId xmlns:a16="http://schemas.microsoft.com/office/drawing/2014/main" id="{14B6EE41-0C27-A952-56AE-24CEE0E8C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88791">
            <a:off x="6837286" y="1824890"/>
            <a:ext cx="2423624" cy="1514765"/>
          </a:xfrm>
          <a:prstGeom prst="rect">
            <a:avLst/>
          </a:prstGeom>
          <a:noFill/>
          <a:effectLst>
            <a:glow rad="647700">
              <a:srgbClr val="F1F5E5"/>
            </a:glow>
            <a:softEdge rad="152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7701D-0F17-32C8-BC0A-2F45FBFAB059}"/>
              </a:ext>
            </a:extLst>
          </p:cNvPr>
          <p:cNvSpPr txBox="1"/>
          <p:nvPr/>
        </p:nvSpPr>
        <p:spPr>
          <a:xfrm rot="878213">
            <a:off x="3589299" y="2129098"/>
            <a:ext cx="456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Swimming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E6EC4-E114-5559-4205-8A24E671A5D0}"/>
              </a:ext>
            </a:extLst>
          </p:cNvPr>
          <p:cNvSpPr txBox="1"/>
          <p:nvPr/>
        </p:nvSpPr>
        <p:spPr>
          <a:xfrm rot="21217404">
            <a:off x="5368580" y="2818637"/>
            <a:ext cx="2552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Yoga</a:t>
            </a:r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6D9AFF9D-AD26-EFAC-0632-9180F0066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17727">
            <a:off x="5912305" y="4188618"/>
            <a:ext cx="2413687" cy="1608038"/>
          </a:xfrm>
          <a:prstGeom prst="rect">
            <a:avLst/>
          </a:prstGeom>
          <a:effectLst>
            <a:glow rad="139700">
              <a:srgbClr val="00B050">
                <a:alpha val="52000"/>
              </a:srgbClr>
            </a:glow>
            <a:softEdge rad="254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6B15B7-40EC-C66F-21F5-A5D2B27751F6}"/>
              </a:ext>
            </a:extLst>
          </p:cNvPr>
          <p:cNvSpPr txBox="1"/>
          <p:nvPr/>
        </p:nvSpPr>
        <p:spPr>
          <a:xfrm rot="20302382">
            <a:off x="8516215" y="5817553"/>
            <a:ext cx="3351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Massage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3D029-5332-D5BF-340E-9B6D0606FDED}"/>
              </a:ext>
            </a:extLst>
          </p:cNvPr>
          <p:cNvSpPr txBox="1"/>
          <p:nvPr/>
        </p:nvSpPr>
        <p:spPr>
          <a:xfrm rot="781256">
            <a:off x="2348187" y="6305017"/>
            <a:ext cx="3818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Osteopathy</a:t>
            </a:r>
            <a:r>
              <a:rPr lang="en-GB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58CCE-AF4C-2DCC-A24B-0DC4D99D4CFB}"/>
              </a:ext>
            </a:extLst>
          </p:cNvPr>
          <p:cNvSpPr txBox="1"/>
          <p:nvPr/>
        </p:nvSpPr>
        <p:spPr>
          <a:xfrm>
            <a:off x="9595424" y="2705882"/>
            <a:ext cx="3818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Cycling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BDBA1-E640-AC0D-B9A2-30E0559AEBE1}"/>
              </a:ext>
            </a:extLst>
          </p:cNvPr>
          <p:cNvSpPr txBox="1"/>
          <p:nvPr/>
        </p:nvSpPr>
        <p:spPr>
          <a:xfrm rot="20767562">
            <a:off x="85041" y="2622671"/>
            <a:ext cx="2876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Badminton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D535E-F120-4146-EBB8-6031B1D5AF6E}"/>
              </a:ext>
            </a:extLst>
          </p:cNvPr>
          <p:cNvSpPr txBox="1"/>
          <p:nvPr/>
        </p:nvSpPr>
        <p:spPr>
          <a:xfrm rot="20499026">
            <a:off x="1058586" y="5820542"/>
            <a:ext cx="2994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Sauna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CBF942-34A2-3486-349A-8D34221164BB}"/>
              </a:ext>
            </a:extLst>
          </p:cNvPr>
          <p:cNvSpPr txBox="1"/>
          <p:nvPr/>
        </p:nvSpPr>
        <p:spPr>
          <a:xfrm rot="561789">
            <a:off x="176417" y="3743448"/>
            <a:ext cx="3406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Walking</a:t>
            </a: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61822D20-ED92-B63B-A7F1-353BBBED79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844"/>
          <a:stretch>
            <a:fillRect/>
          </a:stretch>
        </p:blipFill>
        <p:spPr>
          <a:xfrm rot="20726267">
            <a:off x="468758" y="777519"/>
            <a:ext cx="1660825" cy="1630400"/>
          </a:xfrm>
          <a:prstGeom prst="rect">
            <a:avLst/>
          </a:prstGeom>
          <a:effectLst>
            <a:glow rad="330200">
              <a:schemeClr val="accent1">
                <a:alpha val="40000"/>
              </a:schemeClr>
            </a:glow>
          </a:effectLst>
        </p:spPr>
      </p:pic>
      <p:pic>
        <p:nvPicPr>
          <p:cNvPr id="2055" name="Picture 7" descr="Senior Woman Walking Her Dog Outdoors Vector Cartoon Illustration Stock  Illustration - Download Image Now - iStock">
            <a:hlinkClick r:id="rId2"/>
            <a:extLst>
              <a:ext uri="{FF2B5EF4-FFF2-40B4-BE49-F238E27FC236}">
                <a16:creationId xmlns:a16="http://schemas.microsoft.com/office/drawing/2014/main" id="{422512DD-992F-8469-CA0A-269A095D3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19201">
            <a:off x="226938" y="4286153"/>
            <a:ext cx="2196721" cy="1561395"/>
          </a:xfrm>
          <a:prstGeom prst="rect">
            <a:avLst/>
          </a:prstGeom>
          <a:noFill/>
          <a:effectLst>
            <a:glow rad="127000">
              <a:schemeClr val="accent1">
                <a:lumMod val="60000"/>
                <a:lumOff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9B4FE3-1CF1-2B0A-1F5A-1F5308A66453}"/>
              </a:ext>
            </a:extLst>
          </p:cNvPr>
          <p:cNvSpPr txBox="1"/>
          <p:nvPr/>
        </p:nvSpPr>
        <p:spPr>
          <a:xfrm rot="20768101">
            <a:off x="6725673" y="3238577"/>
            <a:ext cx="3269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Dancing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E1171-920C-6BAF-4663-E6CA7B0CD1F1}"/>
              </a:ext>
            </a:extLst>
          </p:cNvPr>
          <p:cNvSpPr txBox="1"/>
          <p:nvPr/>
        </p:nvSpPr>
        <p:spPr>
          <a:xfrm rot="20716289">
            <a:off x="6120869" y="1347865"/>
            <a:ext cx="2879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Mindfulness</a:t>
            </a:r>
            <a:r>
              <a:rPr lang="en-GB" dirty="0"/>
              <a:t> </a:t>
            </a:r>
          </a:p>
        </p:txBody>
      </p:sp>
      <p:pic>
        <p:nvPicPr>
          <p:cNvPr id="1026" name="Picture 2" descr="Dance Gif - IceGif">
            <a:hlinkClick r:id="rId2"/>
            <a:extLst>
              <a:ext uri="{FF2B5EF4-FFF2-40B4-BE49-F238E27FC236}">
                <a16:creationId xmlns:a16="http://schemas.microsoft.com/office/drawing/2014/main" id="{EE868129-5C27-9D88-751A-F0D7E3BD5D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7" r="31575"/>
          <a:stretch>
            <a:fillRect/>
          </a:stretch>
        </p:blipFill>
        <p:spPr bwMode="auto">
          <a:xfrm rot="20861525">
            <a:off x="3940694" y="4539647"/>
            <a:ext cx="1156678" cy="1678190"/>
          </a:xfrm>
          <a:prstGeom prst="rect">
            <a:avLst/>
          </a:prstGeom>
          <a:noFill/>
          <a:effectLst>
            <a:glow rad="177800">
              <a:srgbClr val="00B0F0">
                <a:alpha val="83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ycling GIF - Cycling - Discover &amp; Share GIFs">
            <a:hlinkClick r:id="rId2"/>
            <a:extLst>
              <a:ext uri="{FF2B5EF4-FFF2-40B4-BE49-F238E27FC236}">
                <a16:creationId xmlns:a16="http://schemas.microsoft.com/office/drawing/2014/main" id="{57739D0C-1813-893A-C934-341BC2421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1304">
            <a:off x="9251818" y="3475258"/>
            <a:ext cx="2410280" cy="2410280"/>
          </a:xfrm>
          <a:prstGeom prst="rect">
            <a:avLst/>
          </a:prstGeom>
          <a:noFill/>
          <a:effectLst>
            <a:glow rad="190500">
              <a:srgbClr val="FFC000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41D12-AC79-F625-D49A-ACDBA480ECBD}"/>
              </a:ext>
            </a:extLst>
          </p:cNvPr>
          <p:cNvSpPr txBox="1"/>
          <p:nvPr/>
        </p:nvSpPr>
        <p:spPr>
          <a:xfrm>
            <a:off x="2526698" y="1524099"/>
            <a:ext cx="231225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Socialising</a:t>
            </a:r>
          </a:p>
          <a:p>
            <a:r>
              <a:rPr lang="en-GB" b="1" dirty="0">
                <a:solidFill>
                  <a:srgbClr val="FF0000"/>
                </a:solidFill>
              </a:rPr>
              <a:t>You can do these great activities as a group!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Click any image to find your local COMMUNITY CENTRES and online groups!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BC371-3F3B-C5C4-CC74-9DB3338DB13C}"/>
              </a:ext>
            </a:extLst>
          </p:cNvPr>
          <p:cNvSpPr txBox="1"/>
          <p:nvPr/>
        </p:nvSpPr>
        <p:spPr>
          <a:xfrm rot="1002984">
            <a:off x="5227954" y="5969374"/>
            <a:ext cx="3391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Get up and move! </a:t>
            </a:r>
            <a:r>
              <a:rPr lang="en-GB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en-GB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389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275B-E272-D537-2037-6EEAD6850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515" y="268905"/>
            <a:ext cx="9404879" cy="1280890"/>
          </a:xfrm>
        </p:spPr>
        <p:txBody>
          <a:bodyPr/>
          <a:lstStyle/>
          <a:p>
            <a:r>
              <a:rPr lang="en-GB" dirty="0"/>
              <a:t>Ways to improve psychological well-being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77019F-22DB-1C20-62EA-E3E44AC161D1}"/>
              </a:ext>
            </a:extLst>
          </p:cNvPr>
          <p:cNvGrpSpPr/>
          <p:nvPr/>
        </p:nvGrpSpPr>
        <p:grpSpPr>
          <a:xfrm>
            <a:off x="5197477" y="1834245"/>
            <a:ext cx="2448984" cy="3824127"/>
            <a:chOff x="5197477" y="1834245"/>
            <a:chExt cx="2448984" cy="382412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17F12C5-7B7A-C993-4AF0-FCD15D4DA237}"/>
                </a:ext>
              </a:extLst>
            </p:cNvPr>
            <p:cNvSpPr/>
            <p:nvPr/>
          </p:nvSpPr>
          <p:spPr>
            <a:xfrm>
              <a:off x="5404908" y="2314038"/>
              <a:ext cx="1930400" cy="3344334"/>
            </a:xfrm>
            <a:prstGeom prst="round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099C4F8-AE8C-75DB-A4A3-3A3E67709EF0}"/>
                </a:ext>
              </a:extLst>
            </p:cNvPr>
            <p:cNvSpPr txBox="1"/>
            <p:nvPr/>
          </p:nvSpPr>
          <p:spPr>
            <a:xfrm>
              <a:off x="5197477" y="1834245"/>
              <a:ext cx="24489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Setting SMART goals</a:t>
              </a:r>
            </a:p>
            <a:p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2D5791-9A6E-9C10-B0CA-B0A0A6810CAA}"/>
              </a:ext>
            </a:extLst>
          </p:cNvPr>
          <p:cNvGrpSpPr/>
          <p:nvPr/>
        </p:nvGrpSpPr>
        <p:grpSpPr>
          <a:xfrm>
            <a:off x="575273" y="1667707"/>
            <a:ext cx="1947333" cy="3996493"/>
            <a:chOff x="795867" y="1667707"/>
            <a:chExt cx="1947333" cy="399649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F6F907E-0885-49ED-F88B-120D94AD38B3}"/>
                </a:ext>
              </a:extLst>
            </p:cNvPr>
            <p:cNvSpPr/>
            <p:nvPr/>
          </p:nvSpPr>
          <p:spPr>
            <a:xfrm>
              <a:off x="812801" y="2319866"/>
              <a:ext cx="1871133" cy="3344334"/>
            </a:xfrm>
            <a:prstGeom prst="round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89E6D2-160A-1F14-C878-3E3C3514DD0E}"/>
                </a:ext>
              </a:extLst>
            </p:cNvPr>
            <p:cNvSpPr txBox="1"/>
            <p:nvPr/>
          </p:nvSpPr>
          <p:spPr>
            <a:xfrm>
              <a:off x="795867" y="1667707"/>
              <a:ext cx="19473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Maintaining a routine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FF6B4C-EB90-91F5-562C-ED47977F131F}"/>
              </a:ext>
            </a:extLst>
          </p:cNvPr>
          <p:cNvGrpSpPr/>
          <p:nvPr/>
        </p:nvGrpSpPr>
        <p:grpSpPr>
          <a:xfrm>
            <a:off x="7539336" y="1692020"/>
            <a:ext cx="2365838" cy="3972180"/>
            <a:chOff x="7548631" y="1692020"/>
            <a:chExt cx="2365838" cy="39721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A5F06C8-42E1-C66F-93EA-A87B8BB2E1C5}"/>
                </a:ext>
              </a:extLst>
            </p:cNvPr>
            <p:cNvSpPr/>
            <p:nvPr/>
          </p:nvSpPr>
          <p:spPr>
            <a:xfrm>
              <a:off x="7789335" y="2319866"/>
              <a:ext cx="1930400" cy="3344334"/>
            </a:xfrm>
            <a:prstGeom prst="round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5F6F8B-0A41-B9F2-ACEB-8D33A44C47F7}"/>
                </a:ext>
              </a:extLst>
            </p:cNvPr>
            <p:cNvSpPr txBox="1"/>
            <p:nvPr/>
          </p:nvSpPr>
          <p:spPr>
            <a:xfrm>
              <a:off x="7548631" y="1692020"/>
              <a:ext cx="23658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Deep breathing exercises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3ABCCC-AA52-AB06-0212-3BB4DE6226E0}"/>
              </a:ext>
            </a:extLst>
          </p:cNvPr>
          <p:cNvGrpSpPr/>
          <p:nvPr/>
        </p:nvGrpSpPr>
        <p:grpSpPr>
          <a:xfrm>
            <a:off x="9660006" y="1645438"/>
            <a:ext cx="2828791" cy="4018762"/>
            <a:chOff x="9660006" y="1645438"/>
            <a:chExt cx="2828791" cy="401876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26078F5-97C0-C768-DA5A-78BFECD12DA2}"/>
                </a:ext>
              </a:extLst>
            </p:cNvPr>
            <p:cNvSpPr/>
            <p:nvPr/>
          </p:nvSpPr>
          <p:spPr>
            <a:xfrm>
              <a:off x="10109202" y="2319866"/>
              <a:ext cx="1930400" cy="3344334"/>
            </a:xfrm>
            <a:prstGeom prst="round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B32F46-D33B-6229-6047-E347C13CF7DD}"/>
                </a:ext>
              </a:extLst>
            </p:cNvPr>
            <p:cNvSpPr txBox="1"/>
            <p:nvPr/>
          </p:nvSpPr>
          <p:spPr>
            <a:xfrm>
              <a:off x="9660006" y="1645438"/>
              <a:ext cx="282879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Having a support network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3D4712-6604-CBF7-596E-C23F7DA7B41B}"/>
              </a:ext>
            </a:extLst>
          </p:cNvPr>
          <p:cNvGrpSpPr/>
          <p:nvPr/>
        </p:nvGrpSpPr>
        <p:grpSpPr>
          <a:xfrm>
            <a:off x="2960457" y="1645438"/>
            <a:ext cx="1947334" cy="3996492"/>
            <a:chOff x="3132667" y="1667708"/>
            <a:chExt cx="1947334" cy="399649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36D8F01-B9E9-B33D-94FC-64C562F893AB}"/>
                </a:ext>
              </a:extLst>
            </p:cNvPr>
            <p:cNvSpPr/>
            <p:nvPr/>
          </p:nvSpPr>
          <p:spPr>
            <a:xfrm>
              <a:off x="3149601" y="2319866"/>
              <a:ext cx="1930400" cy="3344334"/>
            </a:xfrm>
            <a:prstGeom prst="round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181722-159A-CAF1-B215-8E21F7750F32}"/>
                </a:ext>
              </a:extLst>
            </p:cNvPr>
            <p:cNvSpPr txBox="1"/>
            <p:nvPr/>
          </p:nvSpPr>
          <p:spPr>
            <a:xfrm>
              <a:off x="3132667" y="1667708"/>
              <a:ext cx="19473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Attending Workshops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05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B2EB-C683-8777-6A05-F9F26B79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SMART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7AD290-1265-F4B1-7272-6731D0FFF1FC}"/>
              </a:ext>
            </a:extLst>
          </p:cNvPr>
          <p:cNvGrpSpPr/>
          <p:nvPr/>
        </p:nvGrpSpPr>
        <p:grpSpPr>
          <a:xfrm>
            <a:off x="752739" y="1606550"/>
            <a:ext cx="10686521" cy="1676400"/>
            <a:chOff x="1326884" y="2235200"/>
            <a:chExt cx="10686521" cy="1676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AF189C1-C889-51D1-4FA5-0EEC2CECBC9F}"/>
                </a:ext>
              </a:extLst>
            </p:cNvPr>
            <p:cNvSpPr/>
            <p:nvPr/>
          </p:nvSpPr>
          <p:spPr>
            <a:xfrm>
              <a:off x="1326884" y="2235200"/>
              <a:ext cx="1745721" cy="16764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/>
                <a:t>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8B9A49C-3283-7722-1F59-A339D2E2E993}"/>
                </a:ext>
              </a:extLst>
            </p:cNvPr>
            <p:cNvSpPr/>
            <p:nvPr/>
          </p:nvSpPr>
          <p:spPr>
            <a:xfrm>
              <a:off x="3595951" y="2235200"/>
              <a:ext cx="1745721" cy="16764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/>
                <a:t>M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F7A7B2-B059-BFA7-3205-B5949CB34E63}"/>
                </a:ext>
              </a:extLst>
            </p:cNvPr>
            <p:cNvSpPr/>
            <p:nvPr/>
          </p:nvSpPr>
          <p:spPr>
            <a:xfrm>
              <a:off x="5865018" y="2235200"/>
              <a:ext cx="1745721" cy="16764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/>
                <a:t>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CAADA8-E5CC-0B6C-ABBB-1D6ED1D11B3C}"/>
                </a:ext>
              </a:extLst>
            </p:cNvPr>
            <p:cNvSpPr/>
            <p:nvPr/>
          </p:nvSpPr>
          <p:spPr>
            <a:xfrm>
              <a:off x="8134085" y="2235200"/>
              <a:ext cx="1745721" cy="16764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/>
                <a:t>R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1AE83CE-343C-C7B3-6D47-1D40B03C5564}"/>
                </a:ext>
              </a:extLst>
            </p:cNvPr>
            <p:cNvSpPr/>
            <p:nvPr/>
          </p:nvSpPr>
          <p:spPr>
            <a:xfrm>
              <a:off x="10267684" y="2235200"/>
              <a:ext cx="1745721" cy="167640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4400"/>
                <a:t>T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944705A-9738-EABF-2004-6BEF6500BFD2}"/>
              </a:ext>
            </a:extLst>
          </p:cNvPr>
          <p:cNvGrpSpPr/>
          <p:nvPr/>
        </p:nvGrpSpPr>
        <p:grpSpPr>
          <a:xfrm>
            <a:off x="635263" y="3562353"/>
            <a:ext cx="11156687" cy="548618"/>
            <a:chOff x="1159138" y="4140202"/>
            <a:chExt cx="10558729" cy="54861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CD5EED-D2B9-DA3F-0E34-779CD3564D63}"/>
                </a:ext>
              </a:extLst>
            </p:cNvPr>
            <p:cNvSpPr txBox="1"/>
            <p:nvPr/>
          </p:nvSpPr>
          <p:spPr>
            <a:xfrm>
              <a:off x="1159138" y="4165600"/>
              <a:ext cx="1913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/>
                <a:t>Specific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E8C981-196A-DC69-929B-A7F6F4D14550}"/>
                </a:ext>
              </a:extLst>
            </p:cNvPr>
            <p:cNvSpPr txBox="1"/>
            <p:nvPr/>
          </p:nvSpPr>
          <p:spPr>
            <a:xfrm>
              <a:off x="3232808" y="4165600"/>
              <a:ext cx="20220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/>
                <a:t>Measurable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7FF535-1704-03DE-E54A-D959753D469C}"/>
                </a:ext>
              </a:extLst>
            </p:cNvPr>
            <p:cNvSpPr txBox="1"/>
            <p:nvPr/>
          </p:nvSpPr>
          <p:spPr>
            <a:xfrm>
              <a:off x="5503662" y="4152901"/>
              <a:ext cx="20735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/>
                <a:t>Achievable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C3C24B-AF34-BD37-665D-B0CA27C810F0}"/>
                </a:ext>
              </a:extLst>
            </p:cNvPr>
            <p:cNvSpPr txBox="1"/>
            <p:nvPr/>
          </p:nvSpPr>
          <p:spPr>
            <a:xfrm>
              <a:off x="7893742" y="4140202"/>
              <a:ext cx="15941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/>
                <a:t>Realistic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25626F-842F-F0A9-B9AB-A38C59C916BA}"/>
                </a:ext>
              </a:extLst>
            </p:cNvPr>
            <p:cNvSpPr txBox="1"/>
            <p:nvPr/>
          </p:nvSpPr>
          <p:spPr>
            <a:xfrm>
              <a:off x="9804400" y="4165600"/>
              <a:ext cx="1913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/>
                <a:t>Time Bound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7DEB8E-CFEF-261E-8E7D-259B0AD25888}"/>
              </a:ext>
            </a:extLst>
          </p:cNvPr>
          <p:cNvSpPr txBox="1"/>
          <p:nvPr/>
        </p:nvSpPr>
        <p:spPr>
          <a:xfrm>
            <a:off x="6923888" y="4024018"/>
            <a:ext cx="69371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/>
              <a:t>Knee Pain – Strength Goal</a:t>
            </a:r>
          </a:p>
          <a:p>
            <a:r>
              <a:rPr lang="en-GB" sz="1200" b="1"/>
              <a:t>S – Specific:</a:t>
            </a:r>
          </a:p>
          <a:p>
            <a:r>
              <a:rPr lang="en-GB" sz="1200"/>
              <a:t>Do sit-to-stand exercises from the dining chair.</a:t>
            </a:r>
          </a:p>
          <a:p>
            <a:r>
              <a:rPr lang="en-GB" sz="1200" b="1"/>
              <a:t>M – Measurable:</a:t>
            </a:r>
          </a:p>
          <a:p>
            <a:r>
              <a:rPr lang="en-GB" sz="1200"/>
              <a:t>10 reps, twice per day.</a:t>
            </a:r>
          </a:p>
          <a:p>
            <a:r>
              <a:rPr lang="en-GB" sz="1200" b="1"/>
              <a:t>A – Achievable:</a:t>
            </a:r>
          </a:p>
          <a:p>
            <a:r>
              <a:rPr lang="en-GB" sz="1200"/>
              <a:t>Uses a chair already at home; low equipment needed.</a:t>
            </a:r>
          </a:p>
          <a:p>
            <a:r>
              <a:rPr lang="en-GB" sz="1200" b="1"/>
              <a:t>R – Relevant:</a:t>
            </a:r>
          </a:p>
          <a:p>
            <a:r>
              <a:rPr lang="en-GB" sz="1200"/>
              <a:t>Improves knee strength and supports daily tasks like standing up.</a:t>
            </a:r>
          </a:p>
          <a:p>
            <a:r>
              <a:rPr lang="en-GB" sz="1200" b="1"/>
              <a:t>T – Time-bound:</a:t>
            </a:r>
          </a:p>
          <a:p>
            <a:r>
              <a:rPr lang="en-GB" sz="1200"/>
              <a:t>Every day for 14 days.</a:t>
            </a:r>
          </a:p>
          <a:p>
            <a:r>
              <a:rPr lang="en-GB" sz="1200" b="1"/>
              <a:t>SMART Goal:</a:t>
            </a:r>
          </a:p>
          <a:p>
            <a:r>
              <a:rPr lang="en-GB" sz="1200" b="1"/>
              <a:t>“Starting Monday, I will complete 10 sit-to-stand reps from the </a:t>
            </a:r>
          </a:p>
          <a:p>
            <a:r>
              <a:rPr lang="en-GB" sz="1200" b="1"/>
              <a:t>dining chair twice a day for 14 consecutive days.”</a:t>
            </a:r>
            <a:endParaRPr lang="en-GB" sz="1200"/>
          </a:p>
          <a:p>
            <a:endParaRPr lang="en-GB" sz="1200"/>
          </a:p>
        </p:txBody>
      </p:sp>
      <p:pic>
        <p:nvPicPr>
          <p:cNvPr id="8" name="Picture 7" descr="A person holding a knee&#10;&#10;AI-generated content may be incorrect.">
            <a:extLst>
              <a:ext uri="{FF2B5EF4-FFF2-40B4-BE49-F238E27FC236}">
                <a16:creationId xmlns:a16="http://schemas.microsoft.com/office/drawing/2014/main" id="{B9A2BBB2-E810-20B7-436A-E28E1CEAF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156" y="4110972"/>
            <a:ext cx="3745668" cy="24971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527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8230-0360-379B-0C1A-7A2A2E34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Exercises to do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35AD1-1B91-5584-CCAC-54EFB289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8888" y="1540189"/>
            <a:ext cx="7710179" cy="661144"/>
          </a:xfrm>
        </p:spPr>
        <p:txBody>
          <a:bodyPr/>
          <a:lstStyle/>
          <a:p>
            <a:r>
              <a:rPr lang="en-US" u="sng">
                <a:hlinkClick r:id="rId2"/>
              </a:rPr>
              <a:t>5 minute Indoor Walking Workout | Seniors, Beginners</a:t>
            </a:r>
            <a:endParaRPr lang="en-US" u="sng"/>
          </a:p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1099B-7C2F-170D-4789-AEB4B3704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621" y="2175933"/>
            <a:ext cx="7574712" cy="42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4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BDFA67-1981-6B10-7F6B-ABED07D6C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930545"/>
              </p:ext>
            </p:extLst>
          </p:nvPr>
        </p:nvGraphicFramePr>
        <p:xfrm>
          <a:off x="292130" y="717356"/>
          <a:ext cx="11456845" cy="5820958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1891011">
                  <a:extLst>
                    <a:ext uri="{9D8B030D-6E8A-4147-A177-3AD203B41FA5}">
                      <a16:colId xmlns:a16="http://schemas.microsoft.com/office/drawing/2014/main" val="3352979608"/>
                    </a:ext>
                  </a:extLst>
                </a:gridCol>
                <a:gridCol w="9565834">
                  <a:extLst>
                    <a:ext uri="{9D8B030D-6E8A-4147-A177-3AD203B41FA5}">
                      <a16:colId xmlns:a16="http://schemas.microsoft.com/office/drawing/2014/main" val="1573461779"/>
                    </a:ext>
                  </a:extLst>
                </a:gridCol>
              </a:tblGrid>
              <a:tr h="55891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/>
                        <a:t>A free 12-week YouTube 30min follow along movement program from Venus Arthritis </a:t>
                      </a:r>
                      <a:r>
                        <a:rPr lang="en-GB" sz="1600" b="0">
                          <a:hlinkClick r:id="rId3"/>
                        </a:rPr>
                        <a:t>https://www.arthritis-uk.org/information-and-support/living-with-arthritis/health-and-wellbeing/exercising-with-arthritis/lets-move-with-Leon/</a:t>
                      </a:r>
                      <a:endParaRPr lang="en-GB" sz="1600" b="0"/>
                    </a:p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864435"/>
                  </a:ext>
                </a:extLst>
              </a:tr>
              <a:tr h="558623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Online coffee mornings/ tea afternoons and Arthritis Action groups where people share tips on how to self-manage their arthritis </a:t>
                      </a:r>
                      <a:r>
                        <a:rPr lang="en-GB" sz="1600">
                          <a:hlinkClick r:id="rId5"/>
                        </a:rPr>
                        <a:t>https://www.arthritisaction.org.uk/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741453"/>
                  </a:ext>
                </a:extLst>
              </a:tr>
              <a:tr h="56669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Free 12-week weight loss programme </a:t>
                      </a:r>
                      <a:r>
                        <a:rPr lang="en-GB" sz="1600">
                          <a:hlinkClick r:id="rId7"/>
                        </a:rPr>
                        <a:t>https://www.more-life.co.uk/places-we-work/camden-and-islington/</a:t>
                      </a:r>
                      <a:endParaRPr lang="en-GB" sz="1600"/>
                    </a:p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314353"/>
                  </a:ext>
                </a:extLst>
              </a:tr>
              <a:tr h="39337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Webinars about arthritis, how to manage the pain, movement with arthritis and many more. Over 70 1-hour long </a:t>
                      </a:r>
                      <a:r>
                        <a:rPr lang="en-GB" sz="1600">
                          <a:hlinkClick r:id="rId9"/>
                        </a:rPr>
                        <a:t>https://www.arthritis.org/events/webinars/past-webinars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52561"/>
                  </a:ext>
                </a:extLst>
              </a:tr>
              <a:tr h="53232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Job support for unemployed with joint pain and health support for free </a:t>
                      </a:r>
                      <a:r>
                        <a:rPr lang="en-GB" sz="1600">
                          <a:hlinkClick r:id="rId11"/>
                        </a:rPr>
                        <a:t>https://shawtrust.org.uk/msk-trailblazer/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984868"/>
                  </a:ext>
                </a:extLst>
              </a:tr>
              <a:tr h="53232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A text service to talk to someone about pain </a:t>
                      </a:r>
                      <a:r>
                        <a:rPr lang="en-GB" sz="1600">
                          <a:hlinkClick r:id="rId13"/>
                        </a:rPr>
                        <a:t>https://giveusashout.org/get-help/issues/support-chronic-pain/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133087"/>
                  </a:ext>
                </a:extLst>
              </a:tr>
              <a:tr h="4564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A Pain helpline contact number </a:t>
                      </a:r>
                      <a:r>
                        <a:rPr lang="en-GB" sz="1600">
                          <a:hlinkClick r:id="rId15"/>
                        </a:rPr>
                        <a:t>https://painconcern.org.uk/helpline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17076"/>
                  </a:ext>
                </a:extLst>
              </a:tr>
              <a:tr h="53232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Free Joint pain program provided by Nuffield Health </a:t>
                      </a:r>
                      <a:r>
                        <a:rPr lang="en-GB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7"/>
                        </a:rPr>
                        <a:t>https://www.nuffieldhealth.com/about-us/our-impact/healthy-life/joint-pain-programme/joint-pain-programme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21897"/>
                  </a:ext>
                </a:extLst>
              </a:tr>
              <a:tr h="53232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Free information booklet about arthritis, joint pain, movement and many more </a:t>
                      </a:r>
                      <a:r>
                        <a:rPr lang="en-GB" sz="1600">
                          <a:hlinkClick r:id="rId18"/>
                        </a:rPr>
                        <a:t>https://shop.arthritis-uk.org/collections/free-information-booklets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92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880E3C-024D-BFFC-7CBA-7C8526BE4DAC}"/>
              </a:ext>
            </a:extLst>
          </p:cNvPr>
          <p:cNvSpPr txBox="1"/>
          <p:nvPr/>
        </p:nvSpPr>
        <p:spPr>
          <a:xfrm>
            <a:off x="1722474" y="0"/>
            <a:ext cx="5348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/>
              <a:t>Resources Available</a:t>
            </a:r>
          </a:p>
        </p:txBody>
      </p:sp>
    </p:spTree>
    <p:extLst>
      <p:ext uri="{BB962C8B-B14F-4D97-AF65-F5344CB8AC3E}">
        <p14:creationId xmlns:p14="http://schemas.microsoft.com/office/powerpoint/2010/main" val="2354381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holding a chalkboard&#10;&#10;AI-generated content may be incorrect.">
            <a:extLst>
              <a:ext uri="{FF2B5EF4-FFF2-40B4-BE49-F238E27FC236}">
                <a16:creationId xmlns:a16="http://schemas.microsoft.com/office/drawing/2014/main" id="{8945E759-4DB1-D9AD-BFB1-E2B945E5E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795" y="1181099"/>
            <a:ext cx="7326410" cy="5027749"/>
          </a:xfrm>
        </p:spPr>
      </p:pic>
    </p:spTree>
    <p:extLst>
      <p:ext uri="{BB962C8B-B14F-4D97-AF65-F5344CB8AC3E}">
        <p14:creationId xmlns:p14="http://schemas.microsoft.com/office/powerpoint/2010/main" val="2317695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0A31-56C4-8CBC-0BDB-7065B404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 You and Feedback</a:t>
            </a:r>
          </a:p>
        </p:txBody>
      </p:sp>
      <p:pic>
        <p:nvPicPr>
          <p:cNvPr id="5" name="Content Placeholder 4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902D709D-E114-4458-C44A-6B6FBDB7C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762" y="2145918"/>
            <a:ext cx="6180188" cy="347383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41F85-1912-528E-BEFD-0A2DB189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136" y="2145918"/>
            <a:ext cx="2453421" cy="34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801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5e14ad-d4b2-44cd-99c6-7aafaf5a03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E59A4B84C04C499A49C45FFB11E6BD" ma:contentTypeVersion="12" ma:contentTypeDescription="Create a new document." ma:contentTypeScope="" ma:versionID="0be6b5850abbe6ff3ee0ec2c1039d467">
  <xsd:schema xmlns:xsd="http://www.w3.org/2001/XMLSchema" xmlns:xs="http://www.w3.org/2001/XMLSchema" xmlns:p="http://schemas.microsoft.com/office/2006/metadata/properties" xmlns:ns3="625e14ad-d4b2-44cd-99c6-7aafaf5a03ec" xmlns:ns4="ff2b7fa1-0845-480c-ac24-8761a38377eb" targetNamespace="http://schemas.microsoft.com/office/2006/metadata/properties" ma:root="true" ma:fieldsID="4badb94d7538e623a01e4cab06ed1735" ns3:_="" ns4:_="">
    <xsd:import namespace="625e14ad-d4b2-44cd-99c6-7aafaf5a03ec"/>
    <xsd:import namespace="ff2b7fa1-0845-480c-ac24-8761a38377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e14ad-d4b2-44cd-99c6-7aafaf5a03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b7fa1-0845-480c-ac24-8761a38377e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47FF12-2456-4019-B2CD-44CE56F46D03}">
  <ds:schemaRefs>
    <ds:schemaRef ds:uri="http://schemas.microsoft.com/office/infopath/2007/PartnerControls"/>
    <ds:schemaRef ds:uri="ff2b7fa1-0845-480c-ac24-8761a38377eb"/>
    <ds:schemaRef ds:uri="http://purl.org/dc/dcmitype/"/>
    <ds:schemaRef ds:uri="http://schemas.microsoft.com/office/2006/documentManagement/types"/>
    <ds:schemaRef ds:uri="http://purl.org/dc/elements/1.1/"/>
    <ds:schemaRef ds:uri="625e14ad-d4b2-44cd-99c6-7aafaf5a03ec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C560739-59E5-4663-8385-8906727922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351E6F-BACD-4F10-9988-A1209CCE1922}">
  <ds:schemaRefs>
    <ds:schemaRef ds:uri="625e14ad-d4b2-44cd-99c6-7aafaf5a03ec"/>
    <ds:schemaRef ds:uri="ff2b7fa1-0845-480c-ac24-8761a38377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1557</TotalTime>
  <Words>821</Words>
  <Application>Microsoft Office PowerPoint</Application>
  <PresentationFormat>Widescreen</PresentationFormat>
  <Paragraphs>151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Amasis MT Pro</vt:lpstr>
      <vt:lpstr>Aptos</vt:lpstr>
      <vt:lpstr>Arial</vt:lpstr>
      <vt:lpstr>Century Gothic</vt:lpstr>
      <vt:lpstr>Subheading</vt:lpstr>
      <vt:lpstr>Wingdings</vt:lpstr>
      <vt:lpstr>Wingdings 3</vt:lpstr>
      <vt:lpstr>Wisp</vt:lpstr>
      <vt:lpstr>Joint Pain Event  </vt:lpstr>
      <vt:lpstr>PowerPoint Presentation</vt:lpstr>
      <vt:lpstr>PowerPoint Presentation</vt:lpstr>
      <vt:lpstr>Roles in Healthcare</vt:lpstr>
      <vt:lpstr>Roles in Healthcare</vt:lpstr>
      <vt:lpstr> What is Self-Management?</vt:lpstr>
      <vt:lpstr>Ways to Self-Manage</vt:lpstr>
      <vt:lpstr>Self Management! </vt:lpstr>
      <vt:lpstr>Ways to improve psychological well-being</vt:lpstr>
      <vt:lpstr>What is SMART</vt:lpstr>
      <vt:lpstr>Exercises to do at home</vt:lpstr>
      <vt:lpstr>PowerPoint Presentation</vt:lpstr>
      <vt:lpstr>PowerPoint Presentation</vt:lpstr>
      <vt:lpstr>Thank You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ELVIO MENDES</dc:creator>
  <cp:lastModifiedBy>ELVIO MENDES</cp:lastModifiedBy>
  <cp:revision>3</cp:revision>
  <dcterms:created xsi:type="dcterms:W3CDTF">2025-10-30T13:05:52Z</dcterms:created>
  <dcterms:modified xsi:type="dcterms:W3CDTF">2025-12-05T10:51:23Z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0x01010026E59A4B84C04C499A49C45FFB11E6BD</vt:lpwstr>
  </property>
</Properties>
</file>