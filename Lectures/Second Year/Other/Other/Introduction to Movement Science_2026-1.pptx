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3"/>
            <a:ext cx="18288000" cy="10285730"/>
          </a:xfrm>
          <a:custGeom>
            <a:avLst/>
            <a:gdLst/>
            <a:ahLst/>
            <a:cxnLst/>
            <a:rect l="l" t="t" r="r" b="b"/>
            <a:pathLst>
              <a:path w="18288000" h="10285730">
                <a:moveTo>
                  <a:pt x="18288000" y="0"/>
                </a:moveTo>
                <a:lnTo>
                  <a:pt x="0" y="0"/>
                </a:lnTo>
                <a:lnTo>
                  <a:pt x="0" y="10285476"/>
                </a:lnTo>
                <a:lnTo>
                  <a:pt x="18288000" y="10285476"/>
                </a:lnTo>
                <a:lnTo>
                  <a:pt x="1828800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142" y="3790569"/>
            <a:ext cx="14972030" cy="926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5842" y="3437699"/>
            <a:ext cx="7875270" cy="5152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3"/>
            <a:ext cx="18288000" cy="10285730"/>
          </a:xfrm>
          <a:custGeom>
            <a:avLst/>
            <a:gdLst/>
            <a:ahLst/>
            <a:cxnLst/>
            <a:rect l="l" t="t" r="r" b="b"/>
            <a:pathLst>
              <a:path w="18288000" h="10285730">
                <a:moveTo>
                  <a:pt x="18288000" y="0"/>
                </a:moveTo>
                <a:lnTo>
                  <a:pt x="0" y="0"/>
                </a:lnTo>
                <a:lnTo>
                  <a:pt x="0" y="10285476"/>
                </a:lnTo>
                <a:lnTo>
                  <a:pt x="18288000" y="10285476"/>
                </a:lnTo>
                <a:lnTo>
                  <a:pt x="1828800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9175" y="1756791"/>
            <a:ext cx="13957935" cy="103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2850" y="2820289"/>
            <a:ext cx="15862300" cy="6107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9Ldwr2LLAos" TargetMode="External"/><Relationship Id="rId3" Type="http://schemas.openxmlformats.org/officeDocument/2006/relationships/hyperlink" Target="https://www.youtube.com/watch?v=Va1InskEgsc" TargetMode="External"/><Relationship Id="rId4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16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16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16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31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900" b="1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dirty="0" sz="59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59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b="1">
                <a:solidFill>
                  <a:srgbClr val="FFFFFF"/>
                </a:solidFill>
                <a:latin typeface="Arial"/>
                <a:cs typeface="Arial"/>
              </a:rPr>
              <a:t>Movement</a:t>
            </a:r>
            <a:r>
              <a:rPr dirty="0" sz="59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b="1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dirty="0" sz="59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900" spc="-10" b="1">
                <a:solidFill>
                  <a:srgbClr val="FFFFFF"/>
                </a:solidFill>
                <a:latin typeface="Arial"/>
                <a:cs typeface="Arial"/>
              </a:rPr>
              <a:t>Theory</a:t>
            </a:r>
            <a:endParaRPr sz="5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91716" y="5261140"/>
            <a:ext cx="5041900" cy="163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100"/>
              </a:spcBef>
            </a:pPr>
            <a:r>
              <a:rPr dirty="0" sz="445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44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50">
                <a:solidFill>
                  <a:srgbClr val="FFFFFF"/>
                </a:solidFill>
                <a:latin typeface="Arial MT"/>
                <a:cs typeface="Arial MT"/>
              </a:rPr>
              <a:t>Michelle</a:t>
            </a:r>
            <a:r>
              <a:rPr dirty="0" sz="44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Arial MT"/>
                <a:cs typeface="Arial MT"/>
              </a:rPr>
              <a:t>Lussier PT5000</a:t>
            </a:r>
            <a:endParaRPr sz="4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0904" y="1865058"/>
            <a:ext cx="12966192" cy="7606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4560" y="1910740"/>
            <a:ext cx="13898880" cy="7816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55483" y="2355849"/>
            <a:ext cx="6184900" cy="1035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600" b="1">
                <a:latin typeface="Arial"/>
                <a:cs typeface="Arial"/>
              </a:rPr>
              <a:t>The</a:t>
            </a:r>
            <a:r>
              <a:rPr dirty="0" sz="6600" spc="-30" b="1">
                <a:latin typeface="Arial"/>
                <a:cs typeface="Arial"/>
              </a:rPr>
              <a:t> </a:t>
            </a:r>
            <a:r>
              <a:rPr dirty="0" sz="6600" b="1">
                <a:latin typeface="Arial"/>
                <a:cs typeface="Arial"/>
              </a:rPr>
              <a:t>Four</a:t>
            </a:r>
            <a:r>
              <a:rPr dirty="0" sz="6600" spc="-70" b="1">
                <a:latin typeface="Arial"/>
                <a:cs typeface="Arial"/>
              </a:rPr>
              <a:t> </a:t>
            </a:r>
            <a:r>
              <a:rPr dirty="0" sz="6600" spc="-10" b="1">
                <a:latin typeface="Arial"/>
                <a:cs typeface="Arial"/>
              </a:rPr>
              <a:t>Areas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5885" y="4568888"/>
            <a:ext cx="6786880" cy="375856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180"/>
              </a:spcBef>
              <a:buChar char="•"/>
              <a:tabLst>
                <a:tab pos="351155" algn="l"/>
              </a:tabLst>
            </a:pPr>
            <a:r>
              <a:rPr dirty="0" sz="3600">
                <a:latin typeface="Arial MT"/>
                <a:cs typeface="Arial MT"/>
              </a:rPr>
              <a:t>Normal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Motor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Control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Model</a:t>
            </a:r>
            <a:endParaRPr sz="3600">
              <a:latin typeface="Arial MT"/>
              <a:cs typeface="Arial MT"/>
            </a:endParaRPr>
          </a:p>
          <a:p>
            <a:pPr marL="351155" indent="-338455">
              <a:lnSpc>
                <a:spcPct val="100000"/>
              </a:lnSpc>
              <a:spcBef>
                <a:spcPts val="1080"/>
              </a:spcBef>
              <a:buChar char="•"/>
              <a:tabLst>
                <a:tab pos="351155" algn="l"/>
              </a:tabLst>
            </a:pPr>
            <a:r>
              <a:rPr dirty="0" sz="3600">
                <a:latin typeface="Arial MT"/>
                <a:cs typeface="Arial MT"/>
              </a:rPr>
              <a:t>Motor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Skill</a:t>
            </a:r>
            <a:r>
              <a:rPr dirty="0" sz="3600" spc="-55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Acquisition</a:t>
            </a:r>
            <a:endParaRPr sz="3600">
              <a:latin typeface="Arial MT"/>
              <a:cs typeface="Arial MT"/>
            </a:endParaRPr>
          </a:p>
          <a:p>
            <a:pPr marL="351155" marR="5080" indent="-339090">
              <a:lnSpc>
                <a:spcPts val="3890"/>
              </a:lnSpc>
              <a:spcBef>
                <a:spcPts val="1575"/>
              </a:spcBef>
              <a:buChar char="•"/>
              <a:tabLst>
                <a:tab pos="351155" algn="l"/>
              </a:tabLst>
            </a:pPr>
            <a:r>
              <a:rPr dirty="0" sz="3600">
                <a:latin typeface="Arial MT"/>
                <a:cs typeface="Arial MT"/>
              </a:rPr>
              <a:t>Variables</a:t>
            </a:r>
            <a:r>
              <a:rPr dirty="0" sz="3600" spc="-5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affecting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Practice</a:t>
            </a:r>
            <a:r>
              <a:rPr dirty="0" sz="3600" spc="-105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and </a:t>
            </a:r>
            <a:r>
              <a:rPr dirty="0" sz="3600">
                <a:latin typeface="Arial MT"/>
                <a:cs typeface="Arial MT"/>
              </a:rPr>
              <a:t>Learning</a:t>
            </a:r>
            <a:r>
              <a:rPr dirty="0" sz="3600" spc="-9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(VAPAL)</a:t>
            </a:r>
            <a:endParaRPr sz="3600">
              <a:latin typeface="Arial MT"/>
              <a:cs typeface="Arial MT"/>
            </a:endParaRPr>
          </a:p>
          <a:p>
            <a:pPr marL="349885" marR="814705" indent="-337820">
              <a:lnSpc>
                <a:spcPts val="3890"/>
              </a:lnSpc>
              <a:spcBef>
                <a:spcPts val="1515"/>
              </a:spcBef>
              <a:buChar char="•"/>
              <a:tabLst>
                <a:tab pos="351155" algn="l"/>
              </a:tabLst>
            </a:pPr>
            <a:r>
              <a:rPr dirty="0" sz="3600">
                <a:latin typeface="Arial MT"/>
                <a:cs typeface="Arial MT"/>
              </a:rPr>
              <a:t>Dyscontrol</a:t>
            </a:r>
            <a:r>
              <a:rPr dirty="0" sz="3600" spc="-2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and</a:t>
            </a:r>
            <a:r>
              <a:rPr dirty="0" sz="3600" spc="-9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Recovery</a:t>
            </a:r>
            <a:r>
              <a:rPr dirty="0" sz="3600" spc="-30">
                <a:latin typeface="Arial MT"/>
                <a:cs typeface="Arial MT"/>
              </a:rPr>
              <a:t> </a:t>
            </a:r>
            <a:r>
              <a:rPr dirty="0" sz="3600" spc="-25">
                <a:latin typeface="Arial MT"/>
                <a:cs typeface="Arial MT"/>
              </a:rPr>
              <a:t>of </a:t>
            </a:r>
            <a:r>
              <a:rPr dirty="0" sz="3600" spc="-25">
                <a:latin typeface="Arial MT"/>
                <a:cs typeface="Arial MT"/>
              </a:rPr>
              <a:t>	</a:t>
            </a:r>
            <a:r>
              <a:rPr dirty="0" sz="3600" spc="-10">
                <a:latin typeface="Arial MT"/>
                <a:cs typeface="Arial MT"/>
              </a:rPr>
              <a:t>Function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89996" y="2026411"/>
            <a:ext cx="6321425" cy="1941830"/>
          </a:xfrm>
          <a:prstGeom prst="rect"/>
        </p:spPr>
        <p:txBody>
          <a:bodyPr wrap="square" lIns="0" tIns="130175" rIns="0" bIns="0" rtlCol="0" vert="horz">
            <a:spAutoFit/>
          </a:bodyPr>
          <a:lstStyle/>
          <a:p>
            <a:pPr marL="12700" marR="5080" indent="130810">
              <a:lnSpc>
                <a:spcPts val="7130"/>
              </a:lnSpc>
              <a:spcBef>
                <a:spcPts val="1025"/>
              </a:spcBef>
            </a:pPr>
            <a:r>
              <a:rPr dirty="0" spc="-500" b="1">
                <a:latin typeface="Arial"/>
                <a:cs typeface="Arial"/>
              </a:rPr>
              <a:t>T</a:t>
            </a:r>
            <a:r>
              <a:rPr dirty="0" spc="20" b="1">
                <a:latin typeface="Arial"/>
                <a:cs typeface="Arial"/>
              </a:rPr>
              <a:t>o</a:t>
            </a:r>
            <a:r>
              <a:rPr dirty="0" spc="-15" b="1">
                <a:latin typeface="Arial"/>
                <a:cs typeface="Arial"/>
              </a:rPr>
              <a:t>o</a:t>
            </a:r>
            <a:r>
              <a:rPr dirty="0" spc="40" b="1">
                <a:latin typeface="Arial"/>
                <a:cs typeface="Arial"/>
              </a:rPr>
              <a:t>l</a:t>
            </a:r>
            <a:r>
              <a:rPr dirty="0" spc="20" b="1">
                <a:latin typeface="Arial"/>
                <a:cs typeface="Arial"/>
              </a:rPr>
              <a:t>s</a:t>
            </a:r>
            <a:r>
              <a:rPr dirty="0" spc="-37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Available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Therapist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811766" y="4660328"/>
            <a:ext cx="7038340" cy="37496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675"/>
              </a:spcBef>
              <a:buChar char="•"/>
              <a:tabLst>
                <a:tab pos="237490" algn="l"/>
              </a:tabLst>
            </a:pPr>
            <a:r>
              <a:rPr dirty="0" sz="3600" spc="-10">
                <a:latin typeface="Arial MT"/>
                <a:cs typeface="Arial MT"/>
              </a:rPr>
              <a:t>VAPAL</a:t>
            </a:r>
            <a:endParaRPr sz="3600">
              <a:latin typeface="Arial MT"/>
              <a:cs typeface="Arial MT"/>
            </a:endParaRPr>
          </a:p>
          <a:p>
            <a:pPr marL="237490" indent="-224790">
              <a:lnSpc>
                <a:spcPct val="100000"/>
              </a:lnSpc>
              <a:spcBef>
                <a:spcPts val="580"/>
              </a:spcBef>
              <a:buChar char="•"/>
              <a:tabLst>
                <a:tab pos="237490" algn="l"/>
              </a:tabLst>
            </a:pPr>
            <a:r>
              <a:rPr dirty="0" sz="3600">
                <a:latin typeface="Arial MT"/>
                <a:cs typeface="Arial MT"/>
              </a:rPr>
              <a:t>Applying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resistance</a:t>
            </a:r>
            <a:r>
              <a:rPr dirty="0" sz="3600" spc="-7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or </a:t>
            </a:r>
            <a:r>
              <a:rPr dirty="0" sz="3600" spc="-10">
                <a:latin typeface="Arial MT"/>
                <a:cs typeface="Arial MT"/>
              </a:rPr>
              <a:t>assistance</a:t>
            </a:r>
            <a:endParaRPr sz="3600">
              <a:latin typeface="Arial MT"/>
              <a:cs typeface="Arial MT"/>
            </a:endParaRPr>
          </a:p>
          <a:p>
            <a:pPr marL="237490" indent="-224790">
              <a:lnSpc>
                <a:spcPct val="100000"/>
              </a:lnSpc>
              <a:spcBef>
                <a:spcPts val="505"/>
              </a:spcBef>
              <a:buChar char="•"/>
              <a:tabLst>
                <a:tab pos="237490" algn="l"/>
              </a:tabLst>
            </a:pPr>
            <a:r>
              <a:rPr dirty="0" sz="3600" spc="-10">
                <a:latin typeface="Arial MT"/>
                <a:cs typeface="Arial MT"/>
              </a:rPr>
              <a:t>Modalities</a:t>
            </a:r>
            <a:endParaRPr sz="3600">
              <a:latin typeface="Arial MT"/>
              <a:cs typeface="Arial MT"/>
            </a:endParaRPr>
          </a:p>
          <a:p>
            <a:pPr marL="237490" indent="-224790">
              <a:lnSpc>
                <a:spcPct val="100000"/>
              </a:lnSpc>
              <a:spcBef>
                <a:spcPts val="580"/>
              </a:spcBef>
              <a:buChar char="•"/>
              <a:tabLst>
                <a:tab pos="237490" algn="l"/>
              </a:tabLst>
            </a:pPr>
            <a:r>
              <a:rPr dirty="0" sz="3600">
                <a:latin typeface="Arial MT"/>
                <a:cs typeface="Arial MT"/>
              </a:rPr>
              <a:t>Inhibitory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 spc="-10">
                <a:latin typeface="Arial MT"/>
                <a:cs typeface="Arial MT"/>
              </a:rPr>
              <a:t>pressure</a:t>
            </a:r>
            <a:endParaRPr sz="3600">
              <a:latin typeface="Arial MT"/>
              <a:cs typeface="Arial MT"/>
            </a:endParaRPr>
          </a:p>
          <a:p>
            <a:pPr marL="237490" indent="-224790">
              <a:lnSpc>
                <a:spcPct val="100000"/>
              </a:lnSpc>
              <a:spcBef>
                <a:spcPts val="580"/>
              </a:spcBef>
              <a:buChar char="•"/>
              <a:tabLst>
                <a:tab pos="237490" algn="l"/>
              </a:tabLst>
            </a:pPr>
            <a:r>
              <a:rPr dirty="0" sz="3600" spc="-10">
                <a:latin typeface="Arial MT"/>
                <a:cs typeface="Arial MT"/>
              </a:rPr>
              <a:t>Traction/compression</a:t>
            </a:r>
            <a:endParaRPr sz="3600">
              <a:latin typeface="Arial MT"/>
              <a:cs typeface="Arial MT"/>
            </a:endParaRPr>
          </a:p>
          <a:p>
            <a:pPr marL="237490" indent="-224790">
              <a:lnSpc>
                <a:spcPct val="100000"/>
              </a:lnSpc>
              <a:spcBef>
                <a:spcPts val="580"/>
              </a:spcBef>
              <a:buChar char="•"/>
              <a:tabLst>
                <a:tab pos="237490" algn="l"/>
              </a:tabLst>
            </a:pPr>
            <a:r>
              <a:rPr dirty="0" sz="3600" spc="-10">
                <a:latin typeface="Arial MT"/>
                <a:cs typeface="Arial MT"/>
              </a:rPr>
              <a:t>Vibration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8288000" cy="9024620"/>
            <a:chOff x="0" y="0"/>
            <a:chExt cx="18288000" cy="9024620"/>
          </a:xfrm>
        </p:grpSpPr>
        <p:sp>
          <p:nvSpPr>
            <p:cNvPr id="7" name="object 7" descr=""/>
            <p:cNvSpPr/>
            <p:nvPr/>
          </p:nvSpPr>
          <p:spPr>
            <a:xfrm>
              <a:off x="8993124" y="1266189"/>
              <a:ext cx="0" cy="7758430"/>
            </a:xfrm>
            <a:custGeom>
              <a:avLst/>
              <a:gdLst/>
              <a:ahLst/>
              <a:cxnLst/>
              <a:rect l="l" t="t" r="r" b="b"/>
              <a:pathLst>
                <a:path w="0" h="7758430">
                  <a:moveTo>
                    <a:pt x="0" y="0"/>
                  </a:moveTo>
                  <a:lnTo>
                    <a:pt x="0" y="7758150"/>
                  </a:lnTo>
                </a:path>
              </a:pathLst>
            </a:custGeom>
            <a:ln w="28575">
              <a:solidFill>
                <a:srgbClr val="0021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9199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dirty="0" spc="-114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Motor</a:t>
            </a:r>
            <a:r>
              <a:rPr dirty="0" spc="-45"/>
              <a:t> </a:t>
            </a:r>
            <a:r>
              <a:rPr dirty="0" spc="-10"/>
              <a:t>Control?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9175" y="3726560"/>
            <a:ext cx="7479665" cy="41160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700"/>
              </a:spcBef>
            </a:pPr>
            <a:r>
              <a:rPr dirty="0" sz="4800" b="1">
                <a:latin typeface="Calibri"/>
                <a:cs typeface="Calibri"/>
              </a:rPr>
              <a:t>Motor</a:t>
            </a:r>
            <a:r>
              <a:rPr dirty="0" sz="4800" spc="-6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Control</a:t>
            </a:r>
            <a:r>
              <a:rPr dirty="0" sz="4800" spc="-4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–</a:t>
            </a:r>
            <a:r>
              <a:rPr dirty="0" sz="4800" spc="-8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the</a:t>
            </a:r>
            <a:r>
              <a:rPr dirty="0" sz="4800" spc="-11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ability</a:t>
            </a:r>
            <a:r>
              <a:rPr dirty="0" sz="4800" spc="-50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to </a:t>
            </a:r>
            <a:r>
              <a:rPr dirty="0" sz="4800" b="1">
                <a:latin typeface="Calibri"/>
                <a:cs typeface="Calibri"/>
              </a:rPr>
              <a:t>regulate</a:t>
            </a:r>
            <a:r>
              <a:rPr dirty="0" sz="4800" spc="-6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or</a:t>
            </a:r>
            <a:r>
              <a:rPr dirty="0" sz="4800" spc="-7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direct</a:t>
            </a:r>
            <a:r>
              <a:rPr dirty="0" sz="4800" spc="-90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the </a:t>
            </a:r>
            <a:r>
              <a:rPr dirty="0" sz="4800" b="1">
                <a:latin typeface="Calibri"/>
                <a:cs typeface="Calibri"/>
              </a:rPr>
              <a:t>mechanisms</a:t>
            </a:r>
            <a:r>
              <a:rPr dirty="0" sz="4800" spc="-16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essential</a:t>
            </a:r>
            <a:r>
              <a:rPr dirty="0" sz="4800" spc="-155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to </a:t>
            </a:r>
            <a:r>
              <a:rPr dirty="0" sz="4800" spc="-10" b="1">
                <a:latin typeface="Calibri"/>
                <a:cs typeface="Calibri"/>
              </a:rPr>
              <a:t>movement</a:t>
            </a:r>
            <a:endParaRPr sz="4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4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latin typeface="Calibri"/>
                <a:cs typeface="Calibri"/>
              </a:rPr>
              <a:t>…helps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answer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0495" y="2998723"/>
            <a:ext cx="9208008" cy="593356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dirty="0" spc="-114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Motor</a:t>
            </a:r>
            <a:r>
              <a:rPr dirty="0" spc="-45"/>
              <a:t> </a:t>
            </a:r>
            <a:r>
              <a:rPr dirty="0" spc="-10"/>
              <a:t>Control?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9175" y="3726560"/>
            <a:ext cx="7479665" cy="411607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700"/>
              </a:spcBef>
            </a:pPr>
            <a:r>
              <a:rPr dirty="0" sz="4800" b="1">
                <a:latin typeface="Calibri"/>
                <a:cs typeface="Calibri"/>
              </a:rPr>
              <a:t>Motor</a:t>
            </a:r>
            <a:r>
              <a:rPr dirty="0" sz="4800" spc="-6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Control</a:t>
            </a:r>
            <a:r>
              <a:rPr dirty="0" sz="4800" spc="-4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–</a:t>
            </a:r>
            <a:r>
              <a:rPr dirty="0" sz="4800" spc="-8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the</a:t>
            </a:r>
            <a:r>
              <a:rPr dirty="0" sz="4800" spc="-11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ability</a:t>
            </a:r>
            <a:r>
              <a:rPr dirty="0" sz="4800" spc="-50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to </a:t>
            </a:r>
            <a:r>
              <a:rPr dirty="0" sz="4800" b="1">
                <a:latin typeface="Calibri"/>
                <a:cs typeface="Calibri"/>
              </a:rPr>
              <a:t>regulate</a:t>
            </a:r>
            <a:r>
              <a:rPr dirty="0" sz="4800" spc="-65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or</a:t>
            </a:r>
            <a:r>
              <a:rPr dirty="0" sz="4800" spc="-7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direct</a:t>
            </a:r>
            <a:r>
              <a:rPr dirty="0" sz="4800" spc="-90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the </a:t>
            </a:r>
            <a:r>
              <a:rPr dirty="0" sz="4800" b="1">
                <a:latin typeface="Calibri"/>
                <a:cs typeface="Calibri"/>
              </a:rPr>
              <a:t>mechanisms</a:t>
            </a:r>
            <a:r>
              <a:rPr dirty="0" sz="4800" spc="-160" b="1">
                <a:latin typeface="Calibri"/>
                <a:cs typeface="Calibri"/>
              </a:rPr>
              <a:t> </a:t>
            </a:r>
            <a:r>
              <a:rPr dirty="0" sz="4800" b="1">
                <a:latin typeface="Calibri"/>
                <a:cs typeface="Calibri"/>
              </a:rPr>
              <a:t>essential</a:t>
            </a:r>
            <a:r>
              <a:rPr dirty="0" sz="4800" spc="-155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to </a:t>
            </a:r>
            <a:r>
              <a:rPr dirty="0" sz="4800" spc="-10" b="1">
                <a:latin typeface="Calibri"/>
                <a:cs typeface="Calibri"/>
              </a:rPr>
              <a:t>movement</a:t>
            </a:r>
            <a:endParaRPr sz="4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4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latin typeface="Calibri"/>
                <a:cs typeface="Calibri"/>
              </a:rPr>
              <a:t>...helps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answer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93251" y="3097466"/>
            <a:ext cx="9058275" cy="709803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51155" marR="547370" indent="-339090">
              <a:lnSpc>
                <a:spcPct val="90100"/>
              </a:lnSpc>
              <a:spcBef>
                <a:spcPts val="50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300">
                <a:latin typeface="Calibri"/>
                <a:cs typeface="Calibri"/>
              </a:rPr>
              <a:t>How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does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central</a:t>
            </a:r>
            <a:r>
              <a:rPr dirty="0" sz="3300" spc="-3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nervous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system</a:t>
            </a:r>
            <a:r>
              <a:rPr dirty="0" sz="3300" spc="-3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(CNS) </a:t>
            </a:r>
            <a:r>
              <a:rPr dirty="0" sz="3300">
                <a:latin typeface="Calibri"/>
                <a:cs typeface="Calibri"/>
              </a:rPr>
              <a:t>organize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many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individual</a:t>
            </a:r>
            <a:r>
              <a:rPr dirty="0" sz="3300" spc="-4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muscles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and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joints </a:t>
            </a:r>
            <a:r>
              <a:rPr dirty="0" sz="3300">
                <a:latin typeface="Calibri"/>
                <a:cs typeface="Calibri"/>
              </a:rPr>
              <a:t>into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coordinated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functional</a:t>
            </a:r>
            <a:r>
              <a:rPr dirty="0" sz="3300" spc="-9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movements?</a:t>
            </a:r>
            <a:endParaRPr sz="3300">
              <a:latin typeface="Calibri"/>
              <a:cs typeface="Calibri"/>
            </a:endParaRPr>
          </a:p>
          <a:p>
            <a:pPr marL="351155" marR="955675" indent="-339090">
              <a:lnSpc>
                <a:spcPct val="90100"/>
              </a:lnSpc>
              <a:spcBef>
                <a:spcPts val="154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300">
                <a:latin typeface="Calibri"/>
                <a:cs typeface="Calibri"/>
              </a:rPr>
              <a:t>How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is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sensory</a:t>
            </a:r>
            <a:r>
              <a:rPr dirty="0" sz="3300" spc="-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information</a:t>
            </a:r>
            <a:r>
              <a:rPr dirty="0" sz="3300" spc="-8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from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the </a:t>
            </a:r>
            <a:r>
              <a:rPr dirty="0" sz="3300">
                <a:latin typeface="Calibri"/>
                <a:cs typeface="Calibri"/>
              </a:rPr>
              <a:t>environment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and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-3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body</a:t>
            </a:r>
            <a:r>
              <a:rPr dirty="0" sz="3300" spc="-3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used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to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select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and </a:t>
            </a:r>
            <a:r>
              <a:rPr dirty="0" sz="3300">
                <a:latin typeface="Calibri"/>
                <a:cs typeface="Calibri"/>
              </a:rPr>
              <a:t>control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movement?</a:t>
            </a:r>
            <a:endParaRPr sz="3300">
              <a:latin typeface="Calibri"/>
              <a:cs typeface="Calibri"/>
            </a:endParaRPr>
          </a:p>
          <a:p>
            <a:pPr marL="351155" marR="469265" indent="-339090">
              <a:lnSpc>
                <a:spcPct val="90100"/>
              </a:lnSpc>
              <a:spcBef>
                <a:spcPts val="147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300">
                <a:latin typeface="Calibri"/>
                <a:cs typeface="Calibri"/>
              </a:rPr>
              <a:t>How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do</a:t>
            </a:r>
            <a:r>
              <a:rPr dirty="0" sz="3300" spc="-2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our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perceptions</a:t>
            </a:r>
            <a:r>
              <a:rPr dirty="0" sz="3300" spc="-1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of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ourselves,</a:t>
            </a:r>
            <a:r>
              <a:rPr dirty="0" sz="3300" spc="-2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tasks </a:t>
            </a:r>
            <a:r>
              <a:rPr dirty="0" sz="3300">
                <a:latin typeface="Calibri"/>
                <a:cs typeface="Calibri"/>
              </a:rPr>
              <a:t>we</a:t>
            </a:r>
            <a:r>
              <a:rPr dirty="0" sz="3300" spc="-3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perform,</a:t>
            </a:r>
            <a:r>
              <a:rPr dirty="0" sz="3300" spc="-8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and</a:t>
            </a:r>
            <a:r>
              <a:rPr dirty="0" sz="3300" spc="-5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environment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in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which</a:t>
            </a:r>
            <a:r>
              <a:rPr dirty="0" sz="3300" spc="1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we </a:t>
            </a:r>
            <a:r>
              <a:rPr dirty="0" sz="3300">
                <a:latin typeface="Calibri"/>
                <a:cs typeface="Calibri"/>
              </a:rPr>
              <a:t>are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moving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influence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our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movement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behaviour?</a:t>
            </a:r>
            <a:endParaRPr sz="3300">
              <a:latin typeface="Calibri"/>
              <a:cs typeface="Calibri"/>
            </a:endParaRPr>
          </a:p>
          <a:p>
            <a:pPr algn="just" marL="349250" marR="819785" indent="-337185">
              <a:lnSpc>
                <a:spcPct val="90100"/>
              </a:lnSpc>
              <a:spcBef>
                <a:spcPts val="1480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300">
                <a:latin typeface="Calibri"/>
                <a:cs typeface="Calibri"/>
              </a:rPr>
              <a:t>What</a:t>
            </a:r>
            <a:r>
              <a:rPr dirty="0" sz="3300" spc="-3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is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the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best</a:t>
            </a:r>
            <a:r>
              <a:rPr dirty="0" sz="3300" spc="-9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way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to</a:t>
            </a:r>
            <a:r>
              <a:rPr dirty="0" sz="3300" spc="-1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study</a:t>
            </a:r>
            <a:r>
              <a:rPr dirty="0" sz="3300" spc="2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movement,</a:t>
            </a:r>
            <a:r>
              <a:rPr dirty="0" sz="3300" spc="-30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and </a:t>
            </a:r>
            <a:r>
              <a:rPr dirty="0" sz="3300" spc="-25">
                <a:latin typeface="Calibri"/>
                <a:cs typeface="Calibri"/>
              </a:rPr>
              <a:t>	</a:t>
            </a:r>
            <a:r>
              <a:rPr dirty="0" sz="3300">
                <a:latin typeface="Calibri"/>
                <a:cs typeface="Calibri"/>
              </a:rPr>
              <a:t>how</a:t>
            </a:r>
            <a:r>
              <a:rPr dirty="0" sz="3300" spc="-6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can</a:t>
            </a:r>
            <a:r>
              <a:rPr dirty="0" sz="3300" spc="-8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movement</a:t>
            </a:r>
            <a:r>
              <a:rPr dirty="0" sz="3300" spc="-4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problems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be</a:t>
            </a:r>
            <a:r>
              <a:rPr dirty="0" sz="3300" spc="-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quantified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 spc="-25">
                <a:latin typeface="Calibri"/>
                <a:cs typeface="Calibri"/>
              </a:rPr>
              <a:t>in </a:t>
            </a:r>
            <a:r>
              <a:rPr dirty="0" sz="3300" spc="-25">
                <a:latin typeface="Calibri"/>
                <a:cs typeface="Calibri"/>
              </a:rPr>
              <a:t>	</a:t>
            </a:r>
            <a:r>
              <a:rPr dirty="0" sz="3300">
                <a:latin typeface="Calibri"/>
                <a:cs typeface="Calibri"/>
              </a:rPr>
              <a:t>patients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with</a:t>
            </a:r>
            <a:r>
              <a:rPr dirty="0" sz="3300" spc="-1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motor</a:t>
            </a:r>
            <a:r>
              <a:rPr dirty="0" sz="3300" spc="-75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control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problems?</a:t>
            </a:r>
            <a:endParaRPr sz="3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3300">
              <a:latin typeface="Calibri"/>
              <a:cs typeface="Calibri"/>
            </a:endParaRPr>
          </a:p>
          <a:p>
            <a:pPr marL="6018530">
              <a:lnSpc>
                <a:spcPct val="100000"/>
              </a:lnSpc>
            </a:pPr>
            <a:r>
              <a:rPr dirty="0" sz="2650">
                <a:latin typeface="Arial MT"/>
                <a:cs typeface="Arial MT"/>
              </a:rPr>
              <a:t>(Shumway-Cook,</a:t>
            </a:r>
            <a:r>
              <a:rPr dirty="0" sz="2650" spc="210">
                <a:latin typeface="Arial MT"/>
                <a:cs typeface="Arial MT"/>
              </a:rPr>
              <a:t> </a:t>
            </a:r>
            <a:r>
              <a:rPr dirty="0" sz="2650" spc="-25">
                <a:latin typeface="Arial MT"/>
                <a:cs typeface="Arial MT"/>
              </a:rPr>
              <a:t>3)</a:t>
            </a:r>
            <a:endParaRPr sz="265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Motor</a:t>
            </a:r>
            <a:r>
              <a:rPr dirty="0" spc="-130"/>
              <a:t> </a:t>
            </a:r>
            <a:r>
              <a:rPr dirty="0" spc="-10"/>
              <a:t>Control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1125" rIns="0" bIns="0" rtlCol="0" vert="horz">
            <a:spAutoFit/>
          </a:bodyPr>
          <a:lstStyle/>
          <a:p>
            <a:pPr marL="12700" marR="111125">
              <a:lnSpc>
                <a:spcPts val="3170"/>
              </a:lnSpc>
              <a:spcBef>
                <a:spcPts val="875"/>
              </a:spcBef>
            </a:pPr>
            <a:r>
              <a:rPr dirty="0"/>
              <a:t>Movement</a:t>
            </a:r>
            <a:r>
              <a:rPr dirty="0" spc="-65"/>
              <a:t> </a:t>
            </a:r>
            <a:r>
              <a:rPr dirty="0"/>
              <a:t>emerges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/>
              <a:t>interaction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0"/>
              <a:t>3 </a:t>
            </a:r>
            <a:r>
              <a:rPr dirty="0" spc="-10"/>
              <a:t>factors:</a:t>
            </a:r>
          </a:p>
          <a:p>
            <a:pPr marL="2497455" indent="-869315">
              <a:lnSpc>
                <a:spcPct val="100000"/>
              </a:lnSpc>
              <a:spcBef>
                <a:spcPts val="30"/>
              </a:spcBef>
              <a:buSzPct val="80303"/>
              <a:buAutoNum type="arabicPeriod"/>
              <a:tabLst>
                <a:tab pos="2497455" algn="l"/>
              </a:tabLst>
            </a:pPr>
            <a:r>
              <a:rPr dirty="0" spc="-10"/>
              <a:t>Individual</a:t>
            </a:r>
          </a:p>
          <a:p>
            <a:pPr marL="2497455" indent="-869315">
              <a:lnSpc>
                <a:spcPct val="100000"/>
              </a:lnSpc>
              <a:spcBef>
                <a:spcPts val="5"/>
              </a:spcBef>
              <a:buSzPct val="80303"/>
              <a:buAutoNum type="arabicPeriod"/>
              <a:tabLst>
                <a:tab pos="2497455" algn="l"/>
              </a:tabLst>
            </a:pPr>
            <a:r>
              <a:rPr dirty="0" spc="-20"/>
              <a:t>Task</a:t>
            </a:r>
          </a:p>
          <a:p>
            <a:pPr marL="2497455" indent="-869315">
              <a:lnSpc>
                <a:spcPct val="100000"/>
              </a:lnSpc>
              <a:buSzPct val="80303"/>
              <a:buAutoNum type="arabicPeriod"/>
              <a:tabLst>
                <a:tab pos="2497455" algn="l"/>
              </a:tabLst>
            </a:pPr>
            <a:r>
              <a:rPr dirty="0" spc="-10"/>
              <a:t>Environment</a:t>
            </a:r>
          </a:p>
          <a:p>
            <a:pPr>
              <a:lnSpc>
                <a:spcPct val="100000"/>
              </a:lnSpc>
              <a:spcBef>
                <a:spcPts val="1425"/>
              </a:spcBef>
            </a:pPr>
          </a:p>
          <a:p>
            <a:pPr marL="12700" marR="5080">
              <a:lnSpc>
                <a:spcPts val="3170"/>
              </a:lnSpc>
            </a:pPr>
            <a:r>
              <a:rPr dirty="0"/>
              <a:t>Movement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organized</a:t>
            </a:r>
            <a:r>
              <a:rPr dirty="0" spc="-75"/>
              <a:t> </a:t>
            </a:r>
            <a:r>
              <a:rPr dirty="0"/>
              <a:t>around</a:t>
            </a:r>
            <a:r>
              <a:rPr dirty="0" spc="-80"/>
              <a:t> </a:t>
            </a:r>
            <a:r>
              <a:rPr dirty="0"/>
              <a:t>both</a:t>
            </a:r>
            <a:r>
              <a:rPr dirty="0" spc="-85"/>
              <a:t> </a:t>
            </a:r>
            <a:r>
              <a:rPr dirty="0"/>
              <a:t>task </a:t>
            </a:r>
            <a:r>
              <a:rPr dirty="0" spc="-25"/>
              <a:t>and </a:t>
            </a:r>
            <a:r>
              <a:rPr dirty="0"/>
              <a:t>environmental</a:t>
            </a:r>
            <a:r>
              <a:rPr dirty="0" spc="-85"/>
              <a:t> </a:t>
            </a:r>
            <a:r>
              <a:rPr dirty="0"/>
              <a:t>demands.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10"/>
              <a:t>individual </a:t>
            </a:r>
            <a:r>
              <a:rPr dirty="0"/>
              <a:t>generates</a:t>
            </a:r>
            <a:r>
              <a:rPr dirty="0" spc="-80"/>
              <a:t> </a:t>
            </a:r>
            <a:r>
              <a:rPr dirty="0"/>
              <a:t>movement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meet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demands</a:t>
            </a:r>
            <a:r>
              <a:rPr dirty="0" spc="-75"/>
              <a:t> </a:t>
            </a:r>
            <a:r>
              <a:rPr dirty="0" spc="-25"/>
              <a:t>of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task</a:t>
            </a:r>
            <a:r>
              <a:rPr dirty="0" spc="-60"/>
              <a:t> </a:t>
            </a:r>
            <a:r>
              <a:rPr dirty="0"/>
              <a:t>being</a:t>
            </a:r>
            <a:r>
              <a:rPr dirty="0" spc="-40"/>
              <a:t> </a:t>
            </a:r>
            <a:r>
              <a:rPr dirty="0"/>
              <a:t>performed</a:t>
            </a:r>
            <a:r>
              <a:rPr dirty="0" spc="-65"/>
              <a:t> </a:t>
            </a:r>
            <a:r>
              <a:rPr dirty="0"/>
              <a:t>within</a:t>
            </a:r>
            <a:r>
              <a:rPr dirty="0" spc="-75"/>
              <a:t> </a:t>
            </a:r>
            <a:r>
              <a:rPr dirty="0"/>
              <a:t>a </a:t>
            </a:r>
            <a:r>
              <a:rPr dirty="0" spc="-10"/>
              <a:t>specific environment.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484106" y="3507676"/>
            <a:ext cx="7866380" cy="304546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30"/>
              </a:spcBef>
            </a:pPr>
            <a:r>
              <a:rPr dirty="0" sz="3600">
                <a:latin typeface="Calibri"/>
                <a:cs typeface="Calibri"/>
              </a:rPr>
              <a:t>Motor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Control</a:t>
            </a:r>
            <a:r>
              <a:rPr dirty="0" sz="3600" spc="-1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includes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perception</a:t>
            </a:r>
            <a:r>
              <a:rPr dirty="0" sz="3600" spc="-114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and </a:t>
            </a:r>
            <a:r>
              <a:rPr dirty="0" sz="3600">
                <a:latin typeface="Calibri"/>
                <a:cs typeface="Calibri"/>
              </a:rPr>
              <a:t>action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systems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that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are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organized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to </a:t>
            </a:r>
            <a:r>
              <a:rPr dirty="0" sz="3600">
                <a:latin typeface="Calibri"/>
                <a:cs typeface="Calibri"/>
              </a:rPr>
              <a:t>achieve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specific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goals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or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intents.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This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the </a:t>
            </a:r>
            <a:r>
              <a:rPr dirty="0" sz="3600">
                <a:latin typeface="Calibri"/>
                <a:cs typeface="Calibri"/>
              </a:rPr>
              <a:t>study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motor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control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must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include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the </a:t>
            </a:r>
            <a:r>
              <a:rPr dirty="0" sz="3600">
                <a:latin typeface="Calibri"/>
                <a:cs typeface="Calibri"/>
              </a:rPr>
              <a:t>study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cognitive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processes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as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they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relate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perception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action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241015" y="9599536"/>
            <a:ext cx="2722880" cy="431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>
                <a:latin typeface="Calibri"/>
                <a:cs typeface="Calibri"/>
              </a:rPr>
              <a:t>(Shumway-Cook,</a:t>
            </a:r>
            <a:r>
              <a:rPr dirty="0" sz="2650" spc="185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3)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462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215" y="1589405"/>
            <a:ext cx="492125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Motor</a:t>
            </a:r>
            <a:r>
              <a:rPr dirty="0" spc="-114"/>
              <a:t> </a:t>
            </a:r>
            <a:r>
              <a:rPr dirty="0" spc="-10"/>
              <a:t>Control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92911" y="2851594"/>
            <a:ext cx="7409180" cy="378142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40640">
              <a:lnSpc>
                <a:spcPct val="90100"/>
              </a:lnSpc>
              <a:spcBef>
                <a:spcPts val="480"/>
              </a:spcBef>
            </a:pPr>
            <a:r>
              <a:rPr dirty="0" sz="3000">
                <a:latin typeface="Calibri"/>
                <a:cs typeface="Calibri"/>
              </a:rPr>
              <a:t>‘’Factors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within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individual,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task,</a:t>
            </a:r>
            <a:r>
              <a:rPr dirty="0" sz="3000" spc="-11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environment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affect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organization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of </a:t>
            </a:r>
            <a:r>
              <a:rPr dirty="0" sz="3000">
                <a:latin typeface="Calibri"/>
                <a:cs typeface="Calibri"/>
              </a:rPr>
              <a:t>movement.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Factors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within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individual </a:t>
            </a:r>
            <a:r>
              <a:rPr dirty="0" sz="3000">
                <a:latin typeface="Calibri"/>
                <a:cs typeface="Calibri"/>
              </a:rPr>
              <a:t>include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interaction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perception,</a:t>
            </a:r>
            <a:r>
              <a:rPr dirty="0" sz="3000" spc="7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cognition,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action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(motor)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systems.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ts val="3240"/>
              </a:lnSpc>
              <a:spcBef>
                <a:spcPts val="50"/>
              </a:spcBef>
            </a:pPr>
            <a:r>
              <a:rPr dirty="0" sz="3000">
                <a:latin typeface="Calibri"/>
                <a:cs typeface="Calibri"/>
              </a:rPr>
              <a:t>Environmental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constraints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movement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are </a:t>
            </a:r>
            <a:r>
              <a:rPr dirty="0" sz="3000">
                <a:latin typeface="Calibri"/>
                <a:cs typeface="Calibri"/>
              </a:rPr>
              <a:t>divided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into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regulatory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nonregulatory </a:t>
            </a:r>
            <a:r>
              <a:rPr dirty="0" sz="3000">
                <a:latin typeface="Calibri"/>
                <a:cs typeface="Calibri"/>
              </a:rPr>
              <a:t>factors.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Finally,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attributes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task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contribute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organization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functional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movement.”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241015" y="9599536"/>
            <a:ext cx="2722880" cy="431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>
                <a:latin typeface="Calibri"/>
                <a:cs typeface="Calibri"/>
              </a:rPr>
              <a:t>(Shumway-Cook,</a:t>
            </a:r>
            <a:r>
              <a:rPr dirty="0" sz="2650" spc="185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5)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6763" y="996188"/>
            <a:ext cx="10461498" cy="91341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1647423" y="1591564"/>
            <a:ext cx="796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Mobility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92867" y="2887154"/>
            <a:ext cx="1227455" cy="431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 spc="-10">
                <a:latin typeface="Arial MT"/>
                <a:cs typeface="Arial MT"/>
              </a:rPr>
              <a:t>Stability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199619" y="2921952"/>
            <a:ext cx="1645285" cy="366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00" spc="-10">
                <a:latin typeface="Arial MT"/>
                <a:cs typeface="Arial MT"/>
              </a:rPr>
              <a:t>Manipulation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29568" y="4946523"/>
            <a:ext cx="1014094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20">
                <a:latin typeface="Arial MT"/>
                <a:cs typeface="Arial MT"/>
              </a:rPr>
              <a:t>Task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236454" y="6867969"/>
            <a:ext cx="1628139" cy="487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0" spc="-10">
                <a:latin typeface="Arial MT"/>
                <a:cs typeface="Arial MT"/>
              </a:rPr>
              <a:t>Individual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260453" y="6928167"/>
            <a:ext cx="1737995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0">
                <a:latin typeface="Arial MT"/>
                <a:cs typeface="Arial MT"/>
              </a:rPr>
              <a:t>Environment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80477" y="7687818"/>
            <a:ext cx="1299845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0">
                <a:latin typeface="Arial MT"/>
                <a:cs typeface="Arial MT"/>
              </a:rPr>
              <a:t>Cognitive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91933" y="8923502"/>
            <a:ext cx="1481455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0">
                <a:latin typeface="Arial MT"/>
                <a:cs typeface="Arial MT"/>
              </a:rPr>
              <a:t>Perception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026652" y="8910586"/>
            <a:ext cx="767080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latin typeface="Arial MT"/>
                <a:cs typeface="Arial MT"/>
              </a:rPr>
              <a:t>Action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503397" y="6376479"/>
            <a:ext cx="150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0">
                <a:latin typeface="Arial MT"/>
                <a:cs typeface="Arial MT"/>
              </a:rPr>
              <a:t>Regulatory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635478" y="8010334"/>
            <a:ext cx="1501140" cy="7543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407034">
              <a:lnSpc>
                <a:spcPct val="102200"/>
              </a:lnSpc>
              <a:spcBef>
                <a:spcPts val="65"/>
              </a:spcBef>
            </a:pPr>
            <a:r>
              <a:rPr dirty="0" sz="2350" spc="-20">
                <a:latin typeface="Arial MT"/>
                <a:cs typeface="Arial MT"/>
              </a:rPr>
              <a:t>Non- </a:t>
            </a:r>
            <a:r>
              <a:rPr dirty="0" sz="2350" spc="-10">
                <a:latin typeface="Arial MT"/>
                <a:cs typeface="Arial MT"/>
              </a:rPr>
              <a:t>Regulatory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2032" y="1974748"/>
            <a:ext cx="13203936" cy="76889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Motor</a:t>
            </a:r>
            <a:r>
              <a:rPr dirty="0" spc="-130"/>
              <a:t> </a:t>
            </a:r>
            <a:r>
              <a:rPr dirty="0" spc="-10"/>
              <a:t>Control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47013" y="3064274"/>
            <a:ext cx="14290040" cy="496824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dirty="0" sz="4800">
                <a:latin typeface="Calibri"/>
                <a:cs typeface="Calibri"/>
              </a:rPr>
              <a:t>Human</a:t>
            </a:r>
            <a:r>
              <a:rPr dirty="0" sz="4800" spc="-80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behavior</a:t>
            </a:r>
            <a:r>
              <a:rPr dirty="0" sz="4800" spc="-7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is</a:t>
            </a:r>
            <a:r>
              <a:rPr dirty="0" sz="4800" spc="-15">
                <a:latin typeface="Calibri"/>
                <a:cs typeface="Calibri"/>
              </a:rPr>
              <a:t> </a:t>
            </a:r>
            <a:r>
              <a:rPr dirty="0" sz="4800">
                <a:latin typeface="Calibri"/>
                <a:cs typeface="Calibri"/>
              </a:rPr>
              <a:t>goal</a:t>
            </a:r>
            <a:r>
              <a:rPr dirty="0" sz="4800" spc="-25">
                <a:latin typeface="Calibri"/>
                <a:cs typeface="Calibri"/>
              </a:rPr>
              <a:t> </a:t>
            </a:r>
            <a:r>
              <a:rPr dirty="0" sz="4800" spc="-10">
                <a:latin typeface="Calibri"/>
                <a:cs typeface="Calibri"/>
              </a:rPr>
              <a:t>driven:</a:t>
            </a:r>
            <a:endParaRPr sz="4800">
              <a:latin typeface="Calibri"/>
              <a:cs typeface="Calibri"/>
            </a:endParaRPr>
          </a:p>
          <a:p>
            <a:pPr marL="2054225" indent="-685800">
              <a:lnSpc>
                <a:spcPct val="100000"/>
              </a:lnSpc>
              <a:spcBef>
                <a:spcPts val="1880"/>
              </a:spcBef>
              <a:buSzPct val="72289"/>
              <a:buFont typeface="Arial MT"/>
              <a:buChar char="•"/>
              <a:tabLst>
                <a:tab pos="2054225" algn="l"/>
              </a:tabLst>
            </a:pPr>
            <a:r>
              <a:rPr dirty="0" sz="4150">
                <a:latin typeface="Calibri"/>
                <a:cs typeface="Calibri"/>
              </a:rPr>
              <a:t>Accomplish</a:t>
            </a:r>
            <a:r>
              <a:rPr dirty="0" sz="4150" spc="7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intentional</a:t>
            </a:r>
            <a:r>
              <a:rPr dirty="0" sz="4150" spc="90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activities</a:t>
            </a:r>
            <a:endParaRPr sz="4150">
              <a:latin typeface="Calibri"/>
              <a:cs typeface="Calibri"/>
            </a:endParaRPr>
          </a:p>
          <a:p>
            <a:pPr marL="2054225" marR="5080" indent="-686435">
              <a:lnSpc>
                <a:spcPct val="151900"/>
              </a:lnSpc>
              <a:buSzPct val="72289"/>
              <a:buFont typeface="Arial MT"/>
              <a:buChar char="•"/>
              <a:tabLst>
                <a:tab pos="2054225" algn="l"/>
              </a:tabLst>
            </a:pPr>
            <a:r>
              <a:rPr dirty="0" sz="4150">
                <a:latin typeface="Calibri"/>
                <a:cs typeface="Calibri"/>
              </a:rPr>
              <a:t>Everything</a:t>
            </a:r>
            <a:r>
              <a:rPr dirty="0" sz="4150" spc="5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that</a:t>
            </a:r>
            <a:r>
              <a:rPr dirty="0" sz="4150" spc="6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you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do</a:t>
            </a:r>
            <a:r>
              <a:rPr dirty="0" sz="4150" spc="-2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is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done</a:t>
            </a:r>
            <a:r>
              <a:rPr dirty="0" sz="4150" spc="3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to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accomplish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intentional activities/actions</a:t>
            </a:r>
            <a:endParaRPr sz="4150">
              <a:latin typeface="Calibri"/>
              <a:cs typeface="Calibri"/>
            </a:endParaRPr>
          </a:p>
          <a:p>
            <a:pPr marL="2066289" indent="-685800">
              <a:lnSpc>
                <a:spcPct val="100000"/>
              </a:lnSpc>
              <a:spcBef>
                <a:spcPts val="4029"/>
              </a:spcBef>
              <a:buFont typeface="Arial MT"/>
              <a:buChar char="•"/>
              <a:tabLst>
                <a:tab pos="2066289" algn="l"/>
              </a:tabLst>
            </a:pPr>
            <a:r>
              <a:rPr dirty="0" sz="4150">
                <a:latin typeface="Calibri"/>
                <a:cs typeface="Calibri"/>
              </a:rPr>
              <a:t>If</a:t>
            </a:r>
            <a:r>
              <a:rPr dirty="0" sz="4150" spc="5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intention</a:t>
            </a:r>
            <a:r>
              <a:rPr dirty="0" sz="4150" spc="1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is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not</a:t>
            </a:r>
            <a:r>
              <a:rPr dirty="0" sz="4150" spc="8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there,</a:t>
            </a:r>
            <a:r>
              <a:rPr dirty="0" sz="4150" spc="1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you</a:t>
            </a:r>
            <a:r>
              <a:rPr dirty="0" sz="4150" spc="1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look</a:t>
            </a:r>
            <a:r>
              <a:rPr dirty="0" sz="4150" spc="90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confused</a:t>
            </a:r>
            <a:endParaRPr sz="41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Motor</a:t>
            </a:r>
            <a:r>
              <a:rPr dirty="0" spc="-130"/>
              <a:t> </a:t>
            </a:r>
            <a:r>
              <a:rPr dirty="0" spc="-10"/>
              <a:t>Control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9091" y="2990024"/>
            <a:ext cx="2706370" cy="487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19760" algn="l"/>
              </a:tabLst>
            </a:pPr>
            <a:r>
              <a:rPr dirty="0" sz="2650" spc="-25" b="1">
                <a:latin typeface="Calibri"/>
                <a:cs typeface="Calibri"/>
              </a:rPr>
              <a:t>1.</a:t>
            </a:r>
            <a:r>
              <a:rPr dirty="0" sz="2650" b="1">
                <a:latin typeface="Calibri"/>
                <a:cs typeface="Calibri"/>
              </a:rPr>
              <a:t>	</a:t>
            </a:r>
            <a:r>
              <a:rPr dirty="0" sz="3000" spc="-10" b="1">
                <a:latin typeface="Calibri"/>
                <a:cs typeface="Calibri"/>
              </a:rPr>
              <a:t>Investigatory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6417" y="3401758"/>
            <a:ext cx="7247890" cy="542798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532130" marR="41275" indent="-520065">
              <a:lnSpc>
                <a:spcPts val="3240"/>
              </a:lnSpc>
              <a:spcBef>
                <a:spcPts val="535"/>
              </a:spcBef>
              <a:buSzPct val="88333"/>
              <a:buFont typeface="Symbol"/>
              <a:buChar char=""/>
              <a:tabLst>
                <a:tab pos="532130" algn="l"/>
              </a:tabLst>
            </a:pPr>
            <a:r>
              <a:rPr dirty="0" sz="3000">
                <a:latin typeface="Calibri"/>
                <a:cs typeface="Calibri"/>
              </a:rPr>
              <a:t>Pick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up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information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from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environment; </a:t>
            </a:r>
            <a:r>
              <a:rPr dirty="0" sz="3000">
                <a:latin typeface="Calibri"/>
                <a:cs typeface="Calibri"/>
              </a:rPr>
              <a:t>orient,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focus,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adjust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our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sensory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analyzers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gather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information</a:t>
            </a:r>
            <a:endParaRPr sz="3000">
              <a:latin typeface="Calibri"/>
              <a:cs typeface="Calibri"/>
            </a:endParaRPr>
          </a:p>
          <a:p>
            <a:pPr marL="532130" indent="-519430">
              <a:lnSpc>
                <a:spcPts val="3020"/>
              </a:lnSpc>
              <a:buSzPct val="88333"/>
              <a:buFont typeface="Symbol"/>
              <a:buChar char=""/>
              <a:tabLst>
                <a:tab pos="532130" algn="l"/>
              </a:tabLst>
            </a:pP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our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sensory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analyzers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pick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out</a:t>
            </a:r>
            <a:endParaRPr sz="3000">
              <a:latin typeface="Calibri"/>
              <a:cs typeface="Calibri"/>
            </a:endParaRPr>
          </a:p>
          <a:p>
            <a:pPr marL="532130" marR="891540">
              <a:lnSpc>
                <a:spcPts val="3240"/>
              </a:lnSpc>
              <a:spcBef>
                <a:spcPts val="225"/>
              </a:spcBef>
            </a:pPr>
            <a:r>
              <a:rPr dirty="0" sz="3000">
                <a:latin typeface="Calibri"/>
                <a:cs typeface="Calibri"/>
              </a:rPr>
              <a:t>very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important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information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>
                <a:latin typeface="Calibri"/>
                <a:cs typeface="Calibri"/>
              </a:rPr>
              <a:t>environment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–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like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gathering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supplies</a:t>
            </a:r>
            <a:endParaRPr sz="3000">
              <a:latin typeface="Calibri"/>
              <a:cs typeface="Calibri"/>
            </a:endParaRPr>
          </a:p>
          <a:p>
            <a:pPr marL="532130" marR="5080" indent="-520065">
              <a:lnSpc>
                <a:spcPts val="3240"/>
              </a:lnSpc>
              <a:spcBef>
                <a:spcPts val="5"/>
              </a:spcBef>
              <a:buSzPct val="88333"/>
              <a:buFont typeface="Symbol"/>
              <a:buChar char=""/>
              <a:tabLst>
                <a:tab pos="532130" algn="l"/>
              </a:tabLst>
            </a:pPr>
            <a:r>
              <a:rPr dirty="0" sz="3000">
                <a:latin typeface="Calibri"/>
                <a:cs typeface="Calibri"/>
              </a:rPr>
              <a:t>Example: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when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going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make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dinner,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you </a:t>
            </a:r>
            <a:r>
              <a:rPr dirty="0" sz="3000">
                <a:latin typeface="Calibri"/>
                <a:cs typeface="Calibri"/>
              </a:rPr>
              <a:t>go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into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kitchen,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you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gather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supplies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you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need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use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sensory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analyzers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to </a:t>
            </a:r>
            <a:r>
              <a:rPr dirty="0" sz="3000">
                <a:latin typeface="Calibri"/>
                <a:cs typeface="Calibri"/>
              </a:rPr>
              <a:t>look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 find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what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you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need</a:t>
            </a:r>
            <a:endParaRPr sz="3000">
              <a:latin typeface="Calibri"/>
              <a:cs typeface="Calibri"/>
            </a:endParaRPr>
          </a:p>
          <a:p>
            <a:pPr marL="532130" marR="707390" indent="-520065">
              <a:lnSpc>
                <a:spcPts val="3240"/>
              </a:lnSpc>
              <a:spcBef>
                <a:spcPts val="10"/>
              </a:spcBef>
              <a:buClr>
                <a:srgbClr val="000000"/>
              </a:buClr>
              <a:buSzPct val="88333"/>
              <a:buFont typeface="Symbol"/>
              <a:buChar char=""/>
              <a:tabLst>
                <a:tab pos="532130" algn="l"/>
              </a:tabLst>
            </a:pP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Ex</a:t>
            </a:r>
            <a:r>
              <a:rPr dirty="0" sz="3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–</a:t>
            </a:r>
            <a:r>
              <a:rPr dirty="0" sz="3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dirty="0" sz="30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crossing</a:t>
            </a:r>
            <a:r>
              <a:rPr dirty="0" sz="3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FF0000"/>
                </a:solidFill>
                <a:latin typeface="Calibri"/>
                <a:cs typeface="Calibri"/>
              </a:rPr>
              <a:t>street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(investigatory),</a:t>
            </a:r>
            <a:r>
              <a:rPr dirty="0" sz="3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feel</a:t>
            </a:r>
            <a:r>
              <a:rPr dirty="0" sz="30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7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wind,</a:t>
            </a:r>
            <a:r>
              <a:rPr dirty="0" sz="3000" spc="-114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listen</a:t>
            </a:r>
            <a:r>
              <a:rPr dirty="0" sz="3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25">
                <a:solidFill>
                  <a:srgbClr val="FF0000"/>
                </a:solidFill>
                <a:latin typeface="Calibri"/>
                <a:cs typeface="Calibri"/>
              </a:rPr>
              <a:t>for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cars,</a:t>
            </a:r>
            <a:r>
              <a:rPr dirty="0" sz="3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25">
                <a:solidFill>
                  <a:srgbClr val="FF0000"/>
                </a:solidFill>
                <a:latin typeface="Calibri"/>
                <a:cs typeface="Calibri"/>
              </a:rPr>
              <a:t>etc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241015" y="9599536"/>
            <a:ext cx="2722880" cy="4318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650">
                <a:latin typeface="Calibri"/>
                <a:cs typeface="Calibri"/>
              </a:rPr>
              <a:t>(Shumway-Cook,</a:t>
            </a:r>
            <a:r>
              <a:rPr dirty="0" sz="2650" spc="185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3)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27439" y="2999168"/>
            <a:ext cx="2377440" cy="487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51205" algn="l"/>
              </a:tabLst>
            </a:pPr>
            <a:r>
              <a:rPr dirty="0" sz="3000" spc="-25" b="1">
                <a:latin typeface="Arial"/>
                <a:cs typeface="Arial"/>
              </a:rPr>
              <a:t>2.</a:t>
            </a:r>
            <a:r>
              <a:rPr dirty="0" sz="3000" b="1">
                <a:latin typeface="Arial"/>
                <a:cs typeface="Arial"/>
              </a:rPr>
              <a:t>	</a:t>
            </a:r>
            <a:r>
              <a:rPr dirty="0" sz="3000" spc="-10" b="1">
                <a:latin typeface="Arial"/>
                <a:cs typeface="Arial"/>
              </a:rPr>
              <a:t>Adaptive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113771" y="3438334"/>
            <a:ext cx="7567930" cy="3689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98805" marR="417195" indent="-586740">
              <a:lnSpc>
                <a:spcPct val="100000"/>
              </a:lnSpc>
              <a:spcBef>
                <a:spcPts val="125"/>
              </a:spcBef>
              <a:buFont typeface="Symbol"/>
              <a:buChar char=""/>
              <a:tabLst>
                <a:tab pos="598805" algn="l"/>
              </a:tabLst>
            </a:pPr>
            <a:r>
              <a:rPr dirty="0" sz="3000">
                <a:latin typeface="Calibri"/>
                <a:cs typeface="Calibri"/>
              </a:rPr>
              <a:t>Interact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directly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physical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social environment</a:t>
            </a:r>
            <a:endParaRPr sz="3000">
              <a:latin typeface="Calibri"/>
              <a:cs typeface="Calibri"/>
            </a:endParaRPr>
          </a:p>
          <a:p>
            <a:pPr marL="598805" marR="5080" indent="-58674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98805" algn="l"/>
              </a:tabLst>
            </a:pPr>
            <a:r>
              <a:rPr dirty="0" sz="3000">
                <a:latin typeface="Calibri"/>
                <a:cs typeface="Calibri"/>
              </a:rPr>
              <a:t>Once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you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have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information,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adaptive </a:t>
            </a:r>
            <a:r>
              <a:rPr dirty="0" sz="3000">
                <a:latin typeface="Calibri"/>
                <a:cs typeface="Calibri"/>
              </a:rPr>
              <a:t>behavior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kicks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because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this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behavior </a:t>
            </a:r>
            <a:r>
              <a:rPr dirty="0" sz="3000">
                <a:latin typeface="Calibri"/>
                <a:cs typeface="Calibri"/>
              </a:rPr>
              <a:t>that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interacts with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physical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social environment</a:t>
            </a:r>
            <a:endParaRPr sz="3000">
              <a:latin typeface="Calibri"/>
              <a:cs typeface="Calibri"/>
            </a:endParaRPr>
          </a:p>
          <a:p>
            <a:pPr marL="598805" marR="382270" indent="-586740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Font typeface="Symbol"/>
              <a:buChar char=""/>
              <a:tabLst>
                <a:tab pos="598805" algn="l"/>
              </a:tabLst>
            </a:pP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Ex</a:t>
            </a:r>
            <a:r>
              <a:rPr dirty="0" sz="30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dirty="0" sz="30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actual</a:t>
            </a:r>
            <a:r>
              <a:rPr dirty="0" sz="3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dirty="0" sz="3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30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crossing</a:t>
            </a:r>
            <a:r>
              <a:rPr dirty="0" sz="30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street</a:t>
            </a:r>
            <a:r>
              <a:rPr dirty="0" sz="3000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25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dirty="0" sz="30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3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avoiding</a:t>
            </a:r>
            <a:r>
              <a:rPr dirty="0" sz="30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things</a:t>
            </a:r>
            <a:r>
              <a:rPr dirty="0" sz="30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30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0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solidFill>
                  <a:srgbClr val="FF0000"/>
                </a:solidFill>
                <a:latin typeface="Calibri"/>
                <a:cs typeface="Calibri"/>
              </a:rPr>
              <a:t>street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4288" y="1974748"/>
            <a:ext cx="13679423" cy="76889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1135" y="1947316"/>
            <a:ext cx="13825728" cy="77804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75" y="1756791"/>
            <a:ext cx="13957935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Using</a:t>
            </a:r>
            <a:r>
              <a:rPr dirty="0" spc="-110"/>
              <a:t> </a:t>
            </a:r>
            <a:r>
              <a:rPr dirty="0"/>
              <a:t>Motor</a:t>
            </a:r>
            <a:r>
              <a:rPr dirty="0" spc="-85"/>
              <a:t> </a:t>
            </a:r>
            <a:r>
              <a:rPr dirty="0"/>
              <a:t>Control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Analyze</a:t>
            </a:r>
            <a:r>
              <a:rPr dirty="0" spc="-65"/>
              <a:t> </a:t>
            </a:r>
            <a:r>
              <a:rPr dirty="0" spc="-10"/>
              <a:t>Behavior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0952" y="2716986"/>
            <a:ext cx="9655175" cy="589597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698500" indent="-6858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698500" algn="l"/>
              </a:tabLst>
            </a:pPr>
            <a:r>
              <a:rPr dirty="0" sz="4400" b="1">
                <a:solidFill>
                  <a:srgbClr val="E1EFD9"/>
                </a:solidFill>
                <a:latin typeface="Calibri"/>
                <a:cs typeface="Calibri"/>
              </a:rPr>
              <a:t>Action</a:t>
            </a:r>
            <a:r>
              <a:rPr dirty="0" sz="4400" spc="-105" b="1">
                <a:solidFill>
                  <a:srgbClr val="E1EFD9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E1EFD9"/>
                </a:solidFill>
                <a:latin typeface="Calibri"/>
                <a:cs typeface="Calibri"/>
              </a:rPr>
              <a:t>(Behavior</a:t>
            </a:r>
            <a:r>
              <a:rPr dirty="0" sz="4400" spc="-90" b="1">
                <a:solidFill>
                  <a:srgbClr val="E1EFD9"/>
                </a:solidFill>
                <a:latin typeface="Calibri"/>
                <a:cs typeface="Calibri"/>
              </a:rPr>
              <a:t> </a:t>
            </a:r>
            <a:r>
              <a:rPr dirty="0" sz="4400" b="1">
                <a:solidFill>
                  <a:srgbClr val="E1EFD9"/>
                </a:solidFill>
                <a:latin typeface="Calibri"/>
                <a:cs typeface="Calibri"/>
              </a:rPr>
              <a:t>or</a:t>
            </a:r>
            <a:r>
              <a:rPr dirty="0" sz="4400" spc="-100" b="1">
                <a:solidFill>
                  <a:srgbClr val="E1EFD9"/>
                </a:solidFill>
                <a:latin typeface="Calibri"/>
                <a:cs typeface="Calibri"/>
              </a:rPr>
              <a:t> </a:t>
            </a:r>
            <a:r>
              <a:rPr dirty="0" sz="4400" spc="-10" b="1">
                <a:solidFill>
                  <a:srgbClr val="E1EFD9"/>
                </a:solidFill>
                <a:latin typeface="Calibri"/>
                <a:cs typeface="Calibri"/>
              </a:rPr>
              <a:t>Task)</a:t>
            </a:r>
            <a:endParaRPr sz="4400">
              <a:latin typeface="Calibri"/>
              <a:cs typeface="Calibri"/>
            </a:endParaRPr>
          </a:p>
          <a:p>
            <a:pPr lvl="1" marL="350520" indent="-337820">
              <a:lnSpc>
                <a:spcPct val="100000"/>
              </a:lnSpc>
              <a:spcBef>
                <a:spcPts val="1055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3900">
                <a:latin typeface="Calibri"/>
                <a:cs typeface="Calibri"/>
              </a:rPr>
              <a:t>That</a:t>
            </a:r>
            <a:r>
              <a:rPr dirty="0" sz="3900" spc="-5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is</a:t>
            </a:r>
            <a:r>
              <a:rPr dirty="0" sz="3900" spc="-6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-5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actual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outside/end</a:t>
            </a:r>
            <a:r>
              <a:rPr dirty="0" sz="3900" spc="-2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of</a:t>
            </a:r>
            <a:r>
              <a:rPr dirty="0" sz="3900" spc="-9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what</a:t>
            </a:r>
            <a:r>
              <a:rPr dirty="0" sz="3900" spc="-5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you</a:t>
            </a:r>
            <a:r>
              <a:rPr dirty="0" sz="3900" spc="-20">
                <a:latin typeface="Calibri"/>
                <a:cs typeface="Calibri"/>
              </a:rPr>
              <a:t> </a:t>
            </a:r>
            <a:r>
              <a:rPr dirty="0" sz="3900" spc="-25">
                <a:latin typeface="Calibri"/>
                <a:cs typeface="Calibri"/>
              </a:rPr>
              <a:t>did</a:t>
            </a:r>
            <a:endParaRPr sz="3900">
              <a:latin typeface="Calibri"/>
              <a:cs typeface="Calibri"/>
            </a:endParaRPr>
          </a:p>
          <a:p>
            <a:pPr lvl="1" marL="350520" marR="45720" indent="-338455">
              <a:lnSpc>
                <a:spcPts val="4250"/>
              </a:lnSpc>
              <a:spcBef>
                <a:spcPts val="1510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3900">
                <a:latin typeface="Calibri"/>
                <a:cs typeface="Calibri"/>
              </a:rPr>
              <a:t>Action:</a:t>
            </a:r>
            <a:r>
              <a:rPr dirty="0" sz="3900" spc="-4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change</a:t>
            </a:r>
            <a:r>
              <a:rPr dirty="0" sz="3900" spc="-6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in</a:t>
            </a:r>
            <a:r>
              <a:rPr dirty="0" sz="3900" spc="-3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state</a:t>
            </a:r>
            <a:r>
              <a:rPr dirty="0" sz="3900" spc="-6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from</a:t>
            </a:r>
            <a:r>
              <a:rPr dirty="0" sz="3900" spc="-8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initial</a:t>
            </a:r>
            <a:r>
              <a:rPr dirty="0" sz="3900" spc="-2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to</a:t>
            </a:r>
            <a:r>
              <a:rPr dirty="0" sz="3900" spc="-40">
                <a:latin typeface="Calibri"/>
                <a:cs typeface="Calibri"/>
              </a:rPr>
              <a:t> </a:t>
            </a:r>
            <a:r>
              <a:rPr dirty="0" sz="3900" spc="-10">
                <a:latin typeface="Calibri"/>
                <a:cs typeface="Calibri"/>
              </a:rPr>
              <a:t>final </a:t>
            </a:r>
            <a:r>
              <a:rPr dirty="0" sz="3900">
                <a:latin typeface="Calibri"/>
                <a:cs typeface="Calibri"/>
              </a:rPr>
              <a:t>conditions</a:t>
            </a:r>
            <a:r>
              <a:rPr dirty="0" sz="3900" spc="-10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(not</a:t>
            </a:r>
            <a:r>
              <a:rPr dirty="0" sz="3900" spc="-3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how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-1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change</a:t>
            </a:r>
            <a:r>
              <a:rPr dirty="0" sz="3900" spc="-7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has</a:t>
            </a:r>
            <a:r>
              <a:rPr dirty="0" sz="3900" spc="-35">
                <a:latin typeface="Calibri"/>
                <a:cs typeface="Calibri"/>
              </a:rPr>
              <a:t> </a:t>
            </a:r>
            <a:r>
              <a:rPr dirty="0" sz="3900" spc="-10">
                <a:latin typeface="Calibri"/>
                <a:cs typeface="Calibri"/>
              </a:rPr>
              <a:t>occurred)</a:t>
            </a:r>
            <a:endParaRPr sz="3900">
              <a:latin typeface="Calibri"/>
              <a:cs typeface="Calibri"/>
            </a:endParaRPr>
          </a:p>
          <a:p>
            <a:pPr lvl="1" marL="350520" marR="443230" indent="-338455">
              <a:lnSpc>
                <a:spcPts val="4250"/>
              </a:lnSpc>
              <a:spcBef>
                <a:spcPts val="1445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3900">
                <a:latin typeface="Calibri"/>
                <a:cs typeface="Calibri"/>
              </a:rPr>
              <a:t>Not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how</a:t>
            </a:r>
            <a:r>
              <a:rPr dirty="0" sz="3900" spc="-4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</a:t>
            </a:r>
            <a:r>
              <a:rPr dirty="0" sz="3900" spc="-5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change</a:t>
            </a:r>
            <a:r>
              <a:rPr dirty="0" sz="3900" spc="2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occurred,</a:t>
            </a:r>
            <a:r>
              <a:rPr dirty="0" sz="3900" spc="-3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but</a:t>
            </a:r>
            <a:r>
              <a:rPr dirty="0" sz="3900" spc="-6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it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is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 spc="-20">
                <a:latin typeface="Calibri"/>
                <a:cs typeface="Calibri"/>
              </a:rPr>
              <a:t>what </a:t>
            </a:r>
            <a:r>
              <a:rPr dirty="0" sz="3900" spc="-10">
                <a:latin typeface="Calibri"/>
                <a:cs typeface="Calibri"/>
              </a:rPr>
              <a:t>occurred</a:t>
            </a:r>
            <a:endParaRPr sz="3900">
              <a:latin typeface="Calibri"/>
              <a:cs typeface="Calibri"/>
            </a:endParaRPr>
          </a:p>
          <a:p>
            <a:pPr lvl="1" marL="350520" marR="43815" indent="-338455">
              <a:lnSpc>
                <a:spcPct val="90100"/>
              </a:lnSpc>
              <a:spcBef>
                <a:spcPts val="1405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3900">
                <a:latin typeface="Calibri"/>
                <a:cs typeface="Calibri"/>
              </a:rPr>
              <a:t>OT</a:t>
            </a:r>
            <a:r>
              <a:rPr dirty="0" sz="3900" spc="-2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and</a:t>
            </a:r>
            <a:r>
              <a:rPr dirty="0" sz="3900" spc="-2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PT</a:t>
            </a:r>
            <a:r>
              <a:rPr dirty="0" sz="3900" spc="-7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functional</a:t>
            </a:r>
            <a:r>
              <a:rPr dirty="0" sz="3900" spc="-8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goals</a:t>
            </a:r>
            <a:r>
              <a:rPr dirty="0" sz="3900" spc="-7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fit</a:t>
            </a:r>
            <a:r>
              <a:rPr dirty="0" sz="3900" spc="-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very</a:t>
            </a:r>
            <a:r>
              <a:rPr dirty="0" sz="3900" spc="-3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nicely</a:t>
            </a:r>
            <a:r>
              <a:rPr dirty="0" sz="3900" spc="-3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in</a:t>
            </a:r>
            <a:r>
              <a:rPr dirty="0" sz="3900" spc="-90">
                <a:latin typeface="Calibri"/>
                <a:cs typeface="Calibri"/>
              </a:rPr>
              <a:t> </a:t>
            </a:r>
            <a:r>
              <a:rPr dirty="0" sz="3900" spc="-25">
                <a:latin typeface="Calibri"/>
                <a:cs typeface="Calibri"/>
              </a:rPr>
              <a:t>an </a:t>
            </a:r>
            <a:r>
              <a:rPr dirty="0" sz="3900">
                <a:latin typeface="Calibri"/>
                <a:cs typeface="Calibri"/>
              </a:rPr>
              <a:t>action</a:t>
            </a:r>
            <a:r>
              <a:rPr dirty="0" sz="3900" spc="-5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because</a:t>
            </a:r>
            <a:r>
              <a:rPr dirty="0" sz="3900" spc="-8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they</a:t>
            </a:r>
            <a:r>
              <a:rPr dirty="0" sz="3900" spc="-11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say</a:t>
            </a:r>
            <a:r>
              <a:rPr dirty="0" sz="3900" spc="-5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what</a:t>
            </a:r>
            <a:r>
              <a:rPr dirty="0" sz="3900" spc="-1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is</a:t>
            </a:r>
            <a:r>
              <a:rPr dirty="0" sz="3900" spc="-30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done,</a:t>
            </a:r>
            <a:r>
              <a:rPr dirty="0" sz="3900" spc="-45">
                <a:latin typeface="Calibri"/>
                <a:cs typeface="Calibri"/>
              </a:rPr>
              <a:t> </a:t>
            </a:r>
            <a:r>
              <a:rPr dirty="0" sz="3900">
                <a:latin typeface="Calibri"/>
                <a:cs typeface="Calibri"/>
              </a:rPr>
              <a:t>can</a:t>
            </a:r>
            <a:r>
              <a:rPr dirty="0" sz="3900" spc="-40">
                <a:latin typeface="Calibri"/>
                <a:cs typeface="Calibri"/>
              </a:rPr>
              <a:t> </a:t>
            </a:r>
            <a:r>
              <a:rPr dirty="0" sz="3900" spc="-25">
                <a:latin typeface="Calibri"/>
                <a:cs typeface="Calibri"/>
              </a:rPr>
              <a:t>be </a:t>
            </a:r>
            <a:r>
              <a:rPr dirty="0" sz="3900" spc="-10">
                <a:latin typeface="Calibri"/>
                <a:cs typeface="Calibri"/>
              </a:rPr>
              <a:t>successful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068" y="3405632"/>
            <a:ext cx="6840220" cy="1499870"/>
          </a:xfrm>
          <a:prstGeom prst="rect">
            <a:avLst/>
          </a:prstGeom>
          <a:solidFill>
            <a:srgbClr val="E1EFD9"/>
          </a:solidFill>
          <a:ln w="25400">
            <a:solidFill>
              <a:srgbClr val="172C51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R="107314">
              <a:lnSpc>
                <a:spcPct val="100000"/>
              </a:lnSpc>
              <a:spcBef>
                <a:spcPts val="490"/>
              </a:spcBef>
            </a:pPr>
            <a:r>
              <a:rPr dirty="0" sz="5400" spc="-10" b="1">
                <a:latin typeface="Arial"/>
                <a:cs typeface="Arial"/>
              </a:rPr>
              <a:t>Action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(what)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Using</a:t>
            </a:r>
            <a:r>
              <a:rPr dirty="0" spc="-110"/>
              <a:t> </a:t>
            </a:r>
            <a:r>
              <a:rPr dirty="0"/>
              <a:t>Motor</a:t>
            </a:r>
            <a:r>
              <a:rPr dirty="0" spc="-85"/>
              <a:t> </a:t>
            </a:r>
            <a:r>
              <a:rPr dirty="0"/>
              <a:t>Control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Analyze</a:t>
            </a:r>
            <a:r>
              <a:rPr dirty="0" spc="-65"/>
              <a:t> </a:t>
            </a:r>
            <a:r>
              <a:rPr dirty="0" spc="-10"/>
              <a:t>Behavior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98028" y="3216656"/>
            <a:ext cx="7646670" cy="761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00" b="1">
                <a:solidFill>
                  <a:srgbClr val="C5DFB4"/>
                </a:solidFill>
                <a:latin typeface="Calibri"/>
                <a:cs typeface="Calibri"/>
              </a:rPr>
              <a:t>2.</a:t>
            </a:r>
            <a:r>
              <a:rPr dirty="0" sz="4800" spc="-105" b="1">
                <a:solidFill>
                  <a:srgbClr val="C5DFB4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C5DFB4"/>
                </a:solidFill>
                <a:latin typeface="Calibri"/>
                <a:cs typeface="Calibri"/>
              </a:rPr>
              <a:t>Movement</a:t>
            </a:r>
            <a:r>
              <a:rPr dirty="0" sz="4800" spc="-45" b="1">
                <a:solidFill>
                  <a:srgbClr val="C5DFB4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C5DFB4"/>
                </a:solidFill>
                <a:latin typeface="Calibri"/>
                <a:cs typeface="Calibri"/>
              </a:rPr>
              <a:t>(Biomechanical)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65311" y="3894264"/>
            <a:ext cx="7885430" cy="2968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81990" indent="-669290">
              <a:lnSpc>
                <a:spcPts val="4760"/>
              </a:lnSpc>
              <a:spcBef>
                <a:spcPts val="125"/>
              </a:spcBef>
              <a:buSzPct val="63855"/>
              <a:buFont typeface="Symbol"/>
              <a:buChar char=""/>
              <a:tabLst>
                <a:tab pos="681990" algn="l"/>
              </a:tabLst>
            </a:pPr>
            <a:r>
              <a:rPr dirty="0" sz="4150">
                <a:latin typeface="Calibri"/>
                <a:cs typeface="Calibri"/>
              </a:rPr>
              <a:t>Strategies,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patterns,</a:t>
            </a:r>
            <a:r>
              <a:rPr dirty="0" sz="4150" spc="55">
                <a:latin typeface="Calibri"/>
                <a:cs typeface="Calibri"/>
              </a:rPr>
              <a:t> </a:t>
            </a:r>
            <a:r>
              <a:rPr dirty="0" sz="4150" spc="-20">
                <a:latin typeface="Calibri"/>
                <a:cs typeface="Calibri"/>
              </a:rPr>
              <a:t>path</a:t>
            </a:r>
            <a:endParaRPr sz="4150">
              <a:latin typeface="Calibri"/>
              <a:cs typeface="Calibri"/>
            </a:endParaRPr>
          </a:p>
          <a:p>
            <a:pPr marL="681990" marR="5080" indent="-669925">
              <a:lnSpc>
                <a:spcPct val="91200"/>
              </a:lnSpc>
              <a:spcBef>
                <a:spcPts val="220"/>
              </a:spcBef>
              <a:buSzPct val="63855"/>
              <a:buFont typeface="Symbol"/>
              <a:buChar char=""/>
              <a:tabLst>
                <a:tab pos="681990" algn="l"/>
                <a:tab pos="6059805" algn="l"/>
              </a:tabLst>
            </a:pPr>
            <a:r>
              <a:rPr dirty="0" sz="4150">
                <a:latin typeface="Calibri"/>
                <a:cs typeface="Calibri"/>
              </a:rPr>
              <a:t>Form</a:t>
            </a:r>
            <a:r>
              <a:rPr dirty="0" sz="4150" spc="5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(topology)</a:t>
            </a:r>
            <a:r>
              <a:rPr dirty="0" sz="4150" spc="5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and</a:t>
            </a:r>
            <a:r>
              <a:rPr dirty="0" sz="4150" spc="-10">
                <a:latin typeface="Calibri"/>
                <a:cs typeface="Calibri"/>
              </a:rPr>
              <a:t> detailed </a:t>
            </a:r>
            <a:r>
              <a:rPr dirty="0" sz="4150">
                <a:latin typeface="Calibri"/>
                <a:cs typeface="Calibri"/>
              </a:rPr>
              <a:t>sequence</a:t>
            </a:r>
            <a:r>
              <a:rPr dirty="0" sz="4150" spc="2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of</a:t>
            </a:r>
            <a:r>
              <a:rPr dirty="0" sz="4150" spc="10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components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(joint </a:t>
            </a:r>
            <a:r>
              <a:rPr dirty="0" sz="4150">
                <a:latin typeface="Calibri"/>
                <a:cs typeface="Calibri"/>
              </a:rPr>
              <a:t>motion,</a:t>
            </a:r>
            <a:r>
              <a:rPr dirty="0" sz="4150" spc="-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muscles,</a:t>
            </a:r>
            <a:r>
              <a:rPr dirty="0" sz="4150" spc="75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joints,</a:t>
            </a:r>
            <a:r>
              <a:rPr dirty="0" sz="4150">
                <a:latin typeface="Calibri"/>
                <a:cs typeface="Calibri"/>
              </a:rPr>
              <a:t>	</a:t>
            </a:r>
            <a:r>
              <a:rPr dirty="0" sz="4150" spc="-10">
                <a:latin typeface="Calibri"/>
                <a:cs typeface="Calibri"/>
              </a:rPr>
              <a:t>torques, </a:t>
            </a:r>
            <a:r>
              <a:rPr dirty="0" sz="4150" spc="-20">
                <a:latin typeface="Calibri"/>
                <a:cs typeface="Calibri"/>
              </a:rPr>
              <a:t>EMG)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4068" y="5462778"/>
            <a:ext cx="6840220" cy="1499870"/>
          </a:xfrm>
          <a:prstGeom prst="rect">
            <a:avLst/>
          </a:prstGeom>
          <a:solidFill>
            <a:srgbClr val="C5DFB4"/>
          </a:solidFill>
          <a:ln w="25400">
            <a:solidFill>
              <a:srgbClr val="172C51"/>
            </a:solidFill>
          </a:ln>
        </p:spPr>
        <p:txBody>
          <a:bodyPr wrap="square" lIns="0" tIns="58419" rIns="0" bIns="0" rtlCol="0" vert="horz">
            <a:spAutoFit/>
          </a:bodyPr>
          <a:lstStyle/>
          <a:p>
            <a:pPr algn="ctr" marR="125730">
              <a:lnSpc>
                <a:spcPct val="100000"/>
              </a:lnSpc>
              <a:spcBef>
                <a:spcPts val="459"/>
              </a:spcBef>
            </a:pPr>
            <a:r>
              <a:rPr dirty="0" sz="5400" spc="-10" b="1">
                <a:latin typeface="Arial"/>
                <a:cs typeface="Arial"/>
              </a:rPr>
              <a:t>Movement</a:t>
            </a:r>
            <a:endParaRPr sz="5400">
              <a:latin typeface="Arial"/>
              <a:cs typeface="Arial"/>
            </a:endParaRPr>
          </a:p>
          <a:p>
            <a:pPr algn="ctr" marR="9271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(how)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4068" y="3405632"/>
            <a:ext cx="6840220" cy="1499870"/>
          </a:xfrm>
          <a:prstGeom prst="rect">
            <a:avLst/>
          </a:prstGeom>
          <a:solidFill>
            <a:srgbClr val="E1EFD9"/>
          </a:solidFill>
          <a:ln w="25400">
            <a:solidFill>
              <a:srgbClr val="172C51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R="107314">
              <a:lnSpc>
                <a:spcPct val="100000"/>
              </a:lnSpc>
              <a:spcBef>
                <a:spcPts val="490"/>
              </a:spcBef>
            </a:pPr>
            <a:r>
              <a:rPr dirty="0" sz="5400" spc="-10" b="1">
                <a:latin typeface="Arial"/>
                <a:cs typeface="Arial"/>
              </a:rPr>
              <a:t>Action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(what)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Using</a:t>
            </a:r>
            <a:r>
              <a:rPr dirty="0" spc="-110"/>
              <a:t> </a:t>
            </a:r>
            <a:r>
              <a:rPr dirty="0"/>
              <a:t>Motor</a:t>
            </a:r>
            <a:r>
              <a:rPr dirty="0" spc="-85"/>
              <a:t> </a:t>
            </a:r>
            <a:r>
              <a:rPr dirty="0"/>
              <a:t>Control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114"/>
              <a:t> </a:t>
            </a:r>
            <a:r>
              <a:rPr dirty="0"/>
              <a:t>Analyze</a:t>
            </a:r>
            <a:r>
              <a:rPr dirty="0" spc="-65"/>
              <a:t> </a:t>
            </a:r>
            <a:r>
              <a:rPr dirty="0" spc="-10"/>
              <a:t>Behavior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98028" y="2923095"/>
            <a:ext cx="9492615" cy="5587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24840" indent="-612140">
              <a:lnSpc>
                <a:spcPts val="5565"/>
              </a:lnSpc>
              <a:spcBef>
                <a:spcPts val="125"/>
              </a:spcBef>
              <a:buAutoNum type="arabicPeriod" startAt="3"/>
              <a:tabLst>
                <a:tab pos="624840" algn="l"/>
              </a:tabLst>
            </a:pPr>
            <a:r>
              <a:rPr dirty="0" sz="4800" b="1">
                <a:solidFill>
                  <a:srgbClr val="A9D18E"/>
                </a:solidFill>
                <a:latin typeface="Calibri"/>
                <a:cs typeface="Calibri"/>
              </a:rPr>
              <a:t>Neuromotor</a:t>
            </a:r>
            <a:r>
              <a:rPr dirty="0" sz="4800" spc="-195" b="1">
                <a:solidFill>
                  <a:srgbClr val="A9D18E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A9D18E"/>
                </a:solidFill>
                <a:latin typeface="Calibri"/>
                <a:cs typeface="Calibri"/>
              </a:rPr>
              <a:t>Processes</a:t>
            </a:r>
            <a:endParaRPr sz="4800">
              <a:latin typeface="Calibri"/>
              <a:cs typeface="Calibri"/>
            </a:endParaRPr>
          </a:p>
          <a:p>
            <a:pPr lvl="1" marL="351155" marR="5080" indent="-339090">
              <a:lnSpc>
                <a:spcPct val="90100"/>
              </a:lnSpc>
              <a:spcBef>
                <a:spcPts val="265"/>
              </a:spcBef>
              <a:buChar char="•"/>
              <a:tabLst>
                <a:tab pos="351155" algn="l"/>
                <a:tab pos="463550" algn="l"/>
              </a:tabLst>
            </a:pPr>
            <a:r>
              <a:rPr dirty="0" sz="3900">
                <a:latin typeface="Arial MT"/>
                <a:cs typeface="Arial MT"/>
              </a:rPr>
              <a:t>	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Look</a:t>
            </a:r>
            <a:r>
              <a:rPr dirty="0" sz="3900" spc="-5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at</a:t>
            </a:r>
            <a:r>
              <a:rPr dirty="0" sz="3900" spc="-8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organization</a:t>
            </a:r>
            <a:r>
              <a:rPr dirty="0" sz="3900" spc="-4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of</a:t>
            </a:r>
            <a:r>
              <a:rPr dirty="0" sz="3900" spc="-5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the</a:t>
            </a:r>
            <a:r>
              <a:rPr dirty="0" sz="3900" spc="-6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action</a:t>
            </a:r>
            <a:r>
              <a:rPr dirty="0" sz="3900" spc="-4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on</a:t>
            </a:r>
            <a:r>
              <a:rPr dirty="0" sz="3900" spc="-4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25">
                <a:solidFill>
                  <a:srgbClr val="002147"/>
                </a:solidFill>
                <a:latin typeface="Calibri"/>
                <a:cs typeface="Calibri"/>
              </a:rPr>
              <a:t>the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basis</a:t>
            </a:r>
            <a:r>
              <a:rPr dirty="0" sz="3900" spc="-3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of</a:t>
            </a:r>
            <a:r>
              <a:rPr dirty="0" sz="3900" spc="-5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which</a:t>
            </a:r>
            <a:r>
              <a:rPr dirty="0" sz="3900" spc="-11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brain</a:t>
            </a:r>
            <a:r>
              <a:rPr dirty="0" sz="3900" spc="-4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areas</a:t>
            </a:r>
            <a:r>
              <a:rPr dirty="0" sz="3900" spc="-9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are</a:t>
            </a:r>
            <a:r>
              <a:rPr dirty="0" sz="3900" spc="-7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working,</a:t>
            </a:r>
            <a:r>
              <a:rPr dirty="0" sz="3900" spc="-5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10">
                <a:solidFill>
                  <a:srgbClr val="002147"/>
                </a:solidFill>
                <a:latin typeface="Calibri"/>
                <a:cs typeface="Calibri"/>
              </a:rPr>
              <a:t>which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tracts,</a:t>
            </a:r>
            <a:r>
              <a:rPr dirty="0" sz="3900" spc="-5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whether</a:t>
            </a:r>
            <a:r>
              <a:rPr dirty="0" sz="3900" spc="-5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it</a:t>
            </a:r>
            <a:r>
              <a:rPr dirty="0" sz="3900" spc="-7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is</a:t>
            </a:r>
            <a:r>
              <a:rPr dirty="0" sz="3900" spc="-7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at</a:t>
            </a:r>
            <a:r>
              <a:rPr dirty="0" sz="3900" spc="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the</a:t>
            </a:r>
            <a:r>
              <a:rPr dirty="0" sz="3900" spc="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brain</a:t>
            </a:r>
            <a:r>
              <a:rPr dirty="0" sz="3900" spc="-2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or</a:t>
            </a:r>
            <a:r>
              <a:rPr dirty="0" sz="3900" spc="-6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10">
                <a:solidFill>
                  <a:srgbClr val="002147"/>
                </a:solidFill>
                <a:latin typeface="Calibri"/>
                <a:cs typeface="Calibri"/>
              </a:rPr>
              <a:t>spinal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cord</a:t>
            </a:r>
            <a:r>
              <a:rPr dirty="0" sz="3900" spc="-6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level,</a:t>
            </a:r>
            <a:r>
              <a:rPr dirty="0" sz="3900" spc="-12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which</a:t>
            </a:r>
            <a:r>
              <a:rPr dirty="0" sz="3900" spc="-5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peripheral</a:t>
            </a:r>
            <a:r>
              <a:rPr dirty="0" sz="3900" spc="-5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nerves</a:t>
            </a:r>
            <a:r>
              <a:rPr dirty="0" sz="3900" spc="-9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are</a:t>
            </a:r>
            <a:r>
              <a:rPr dirty="0" sz="3900" spc="-8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10">
                <a:solidFill>
                  <a:srgbClr val="002147"/>
                </a:solidFill>
                <a:latin typeface="Calibri"/>
                <a:cs typeface="Calibri"/>
              </a:rPr>
              <a:t>being utilized</a:t>
            </a:r>
            <a:endParaRPr sz="3900">
              <a:latin typeface="Calibri"/>
              <a:cs typeface="Calibri"/>
            </a:endParaRPr>
          </a:p>
          <a:p>
            <a:pPr lvl="1" marL="351155" marR="446405" indent="-339090">
              <a:lnSpc>
                <a:spcPts val="4180"/>
              </a:lnSpc>
              <a:spcBef>
                <a:spcPts val="130"/>
              </a:spcBef>
              <a:buClr>
                <a:srgbClr val="000000"/>
              </a:buClr>
              <a:buFont typeface="Arial MT"/>
              <a:buChar char="•"/>
              <a:tabLst>
                <a:tab pos="351155" algn="l"/>
              </a:tabLst>
            </a:pP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Organizational</a:t>
            </a:r>
            <a:r>
              <a:rPr dirty="0" sz="3900" spc="-8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mechanisms</a:t>
            </a:r>
            <a:r>
              <a:rPr dirty="0" sz="3900" spc="-13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in</a:t>
            </a:r>
            <a:r>
              <a:rPr dirty="0" sz="3900" spc="-8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the</a:t>
            </a:r>
            <a:r>
              <a:rPr dirty="0" sz="3900" spc="-5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CNS</a:t>
            </a:r>
            <a:r>
              <a:rPr dirty="0" sz="3900" spc="-10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20">
                <a:solidFill>
                  <a:srgbClr val="002147"/>
                </a:solidFill>
                <a:latin typeface="Calibri"/>
                <a:cs typeface="Calibri"/>
              </a:rPr>
              <a:t>that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constrain</a:t>
            </a:r>
            <a:r>
              <a:rPr dirty="0" sz="3900" spc="-7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and</a:t>
            </a:r>
            <a:r>
              <a:rPr dirty="0" sz="3900" spc="-6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sequence</a:t>
            </a:r>
            <a:r>
              <a:rPr dirty="0" sz="3900" spc="-9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the</a:t>
            </a:r>
            <a:r>
              <a:rPr dirty="0" sz="3900" spc="-9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10">
                <a:solidFill>
                  <a:srgbClr val="002147"/>
                </a:solidFill>
                <a:latin typeface="Calibri"/>
                <a:cs typeface="Calibri"/>
              </a:rPr>
              <a:t>movements</a:t>
            </a:r>
            <a:endParaRPr sz="3900">
              <a:latin typeface="Calibri"/>
              <a:cs typeface="Calibri"/>
            </a:endParaRPr>
          </a:p>
          <a:p>
            <a:pPr lvl="1" marL="351155" marR="266065" indent="-339090">
              <a:lnSpc>
                <a:spcPts val="4180"/>
              </a:lnSpc>
              <a:spcBef>
                <a:spcPts val="70"/>
              </a:spcBef>
              <a:buClr>
                <a:srgbClr val="000000"/>
              </a:buClr>
              <a:buFont typeface="Arial MT"/>
              <a:buChar char="•"/>
              <a:tabLst>
                <a:tab pos="351155" algn="l"/>
              </a:tabLst>
            </a:pP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Usually</a:t>
            </a:r>
            <a:r>
              <a:rPr dirty="0" sz="3900" spc="-6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use</a:t>
            </a:r>
            <a:r>
              <a:rPr dirty="0" sz="3900" spc="-9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inference</a:t>
            </a:r>
            <a:r>
              <a:rPr dirty="0" sz="3900" spc="-9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to</a:t>
            </a:r>
            <a:r>
              <a:rPr dirty="0" sz="3900" spc="-6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depict</a:t>
            </a:r>
            <a:r>
              <a:rPr dirty="0" sz="3900" spc="-4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what</a:t>
            </a:r>
            <a:r>
              <a:rPr dirty="0" sz="3900" spc="-8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25">
                <a:solidFill>
                  <a:srgbClr val="002147"/>
                </a:solidFill>
                <a:latin typeface="Calibri"/>
                <a:cs typeface="Calibri"/>
              </a:rPr>
              <a:t>is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happening</a:t>
            </a:r>
            <a:r>
              <a:rPr dirty="0" sz="3900" spc="-114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here</a:t>
            </a:r>
            <a:r>
              <a:rPr dirty="0" sz="3900" spc="-7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because</a:t>
            </a:r>
            <a:r>
              <a:rPr dirty="0" sz="3900" spc="-8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we</a:t>
            </a:r>
            <a:r>
              <a:rPr dirty="0" sz="3900" spc="-70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see</a:t>
            </a:r>
            <a:r>
              <a:rPr dirty="0" sz="3900" spc="-7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002147"/>
                </a:solidFill>
                <a:latin typeface="Calibri"/>
                <a:cs typeface="Calibri"/>
              </a:rPr>
              <a:t>inside</a:t>
            </a:r>
            <a:r>
              <a:rPr dirty="0" sz="3900" spc="-15">
                <a:solidFill>
                  <a:srgbClr val="002147"/>
                </a:solidFill>
                <a:latin typeface="Calibri"/>
                <a:cs typeface="Calibri"/>
              </a:rPr>
              <a:t> </a:t>
            </a:r>
            <a:r>
              <a:rPr dirty="0" sz="3900" spc="-20">
                <a:solidFill>
                  <a:srgbClr val="002147"/>
                </a:solidFill>
                <a:latin typeface="Calibri"/>
                <a:cs typeface="Calibri"/>
              </a:rPr>
              <a:t>head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068" y="5462778"/>
            <a:ext cx="6840220" cy="1499870"/>
          </a:xfrm>
          <a:prstGeom prst="rect">
            <a:avLst/>
          </a:prstGeom>
          <a:solidFill>
            <a:srgbClr val="C5DFB4"/>
          </a:solidFill>
          <a:ln w="25400">
            <a:solidFill>
              <a:srgbClr val="172C51"/>
            </a:solidFill>
          </a:ln>
        </p:spPr>
        <p:txBody>
          <a:bodyPr wrap="square" lIns="0" tIns="58419" rIns="0" bIns="0" rtlCol="0" vert="horz">
            <a:spAutoFit/>
          </a:bodyPr>
          <a:lstStyle/>
          <a:p>
            <a:pPr algn="ctr" marR="125730">
              <a:lnSpc>
                <a:spcPct val="100000"/>
              </a:lnSpc>
              <a:spcBef>
                <a:spcPts val="459"/>
              </a:spcBef>
            </a:pPr>
            <a:r>
              <a:rPr dirty="0" sz="5400" spc="-10" b="1">
                <a:latin typeface="Arial"/>
                <a:cs typeface="Arial"/>
              </a:rPr>
              <a:t>Movement</a:t>
            </a:r>
            <a:endParaRPr sz="5400">
              <a:latin typeface="Arial"/>
              <a:cs typeface="Arial"/>
            </a:endParaRPr>
          </a:p>
          <a:p>
            <a:pPr algn="ctr" marR="9271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(how)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4068" y="3405632"/>
            <a:ext cx="6840220" cy="1499870"/>
          </a:xfrm>
          <a:prstGeom prst="rect">
            <a:avLst/>
          </a:prstGeom>
          <a:solidFill>
            <a:srgbClr val="E1EFD9"/>
          </a:solidFill>
          <a:ln w="25400">
            <a:solidFill>
              <a:srgbClr val="172C51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R="107314">
              <a:lnSpc>
                <a:spcPct val="100000"/>
              </a:lnSpc>
              <a:spcBef>
                <a:spcPts val="490"/>
              </a:spcBef>
            </a:pPr>
            <a:r>
              <a:rPr dirty="0" sz="5400" spc="-10" b="1">
                <a:latin typeface="Arial"/>
                <a:cs typeface="Arial"/>
              </a:rPr>
              <a:t>Action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(what)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4068" y="7510653"/>
            <a:ext cx="6840220" cy="1499870"/>
          </a:xfrm>
          <a:prstGeom prst="rect">
            <a:avLst/>
          </a:prstGeom>
          <a:solidFill>
            <a:srgbClr val="A9D18E"/>
          </a:solidFill>
          <a:ln w="25400">
            <a:solidFill>
              <a:srgbClr val="172C51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6985">
              <a:lnSpc>
                <a:spcPct val="100000"/>
              </a:lnSpc>
              <a:spcBef>
                <a:spcPts val="1275"/>
              </a:spcBef>
            </a:pPr>
            <a:r>
              <a:rPr dirty="0" sz="4800" b="1">
                <a:latin typeface="Arial"/>
                <a:cs typeface="Arial"/>
              </a:rPr>
              <a:t>Neuromotor</a:t>
            </a:r>
            <a:r>
              <a:rPr dirty="0" sz="4800" spc="-170" b="1">
                <a:latin typeface="Arial"/>
                <a:cs typeface="Arial"/>
              </a:rPr>
              <a:t> </a:t>
            </a:r>
            <a:r>
              <a:rPr dirty="0" sz="4800" spc="-10" b="1">
                <a:latin typeface="Arial"/>
                <a:cs typeface="Arial"/>
              </a:rPr>
              <a:t>Processes</a:t>
            </a:r>
            <a:endParaRPr sz="4800">
              <a:latin typeface="Arial"/>
              <a:cs typeface="Arial"/>
            </a:endParaRPr>
          </a:p>
          <a:p>
            <a:pPr algn="ctr" marL="229235">
              <a:lnSpc>
                <a:spcPct val="100000"/>
              </a:lnSpc>
              <a:spcBef>
                <a:spcPts val="85"/>
              </a:spcBef>
            </a:pPr>
            <a:r>
              <a:rPr dirty="0" sz="2050" b="1">
                <a:latin typeface="Arial"/>
                <a:cs typeface="Arial"/>
              </a:rPr>
              <a:t>(sensory</a:t>
            </a:r>
            <a:r>
              <a:rPr dirty="0" sz="2050" spc="19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and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motor</a:t>
            </a:r>
            <a:r>
              <a:rPr dirty="0" sz="2050" spc="9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neurons</a:t>
            </a:r>
            <a:r>
              <a:rPr dirty="0" sz="2050" spc="190" b="1">
                <a:latin typeface="Arial"/>
                <a:cs typeface="Arial"/>
              </a:rPr>
              <a:t> </a:t>
            </a:r>
            <a:r>
              <a:rPr dirty="0" sz="2050" spc="-10" b="1">
                <a:latin typeface="Arial"/>
                <a:cs typeface="Arial"/>
              </a:rPr>
              <a:t>needed)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7736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3" y="649122"/>
            <a:ext cx="3794760" cy="97825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1910753"/>
            <a:ext cx="13716000" cy="77072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75" y="1304035"/>
            <a:ext cx="14574519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Using</a:t>
            </a:r>
            <a:r>
              <a:rPr dirty="0" spc="-120"/>
              <a:t> </a:t>
            </a:r>
            <a:r>
              <a:rPr dirty="0"/>
              <a:t>Motor</a:t>
            </a:r>
            <a:r>
              <a:rPr dirty="0" spc="-95"/>
              <a:t> </a:t>
            </a:r>
            <a:r>
              <a:rPr dirty="0"/>
              <a:t>Control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/>
              <a:t>Analyze</a:t>
            </a:r>
            <a:r>
              <a:rPr dirty="0" spc="-75"/>
              <a:t> </a:t>
            </a:r>
            <a:r>
              <a:rPr dirty="0"/>
              <a:t>Behavior</a:t>
            </a:r>
            <a:r>
              <a:rPr dirty="0" spc="-45"/>
              <a:t> </a:t>
            </a:r>
            <a:r>
              <a:rPr dirty="0" spc="-50"/>
              <a:t>–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9175" y="2209926"/>
            <a:ext cx="12877800" cy="1035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600">
                <a:latin typeface="Calibri"/>
                <a:cs typeface="Calibri"/>
              </a:rPr>
              <a:t>Relationship</a:t>
            </a:r>
            <a:r>
              <a:rPr dirty="0" sz="6600" spc="-165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between</a:t>
            </a:r>
            <a:r>
              <a:rPr dirty="0" sz="6600" spc="-135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levels</a:t>
            </a:r>
            <a:r>
              <a:rPr dirty="0" sz="6600" spc="-50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is</a:t>
            </a:r>
            <a:r>
              <a:rPr dirty="0" sz="6600" spc="-120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not</a:t>
            </a:r>
            <a:r>
              <a:rPr dirty="0" sz="6600" spc="-105">
                <a:latin typeface="Calibri"/>
                <a:cs typeface="Calibri"/>
              </a:rPr>
              <a:t> </a:t>
            </a:r>
            <a:r>
              <a:rPr dirty="0" sz="6600" spc="-25">
                <a:latin typeface="Calibri"/>
                <a:cs typeface="Calibri"/>
              </a:rPr>
              <a:t>1:1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69179" y="5444363"/>
            <a:ext cx="12856845" cy="2011680"/>
          </a:xfrm>
          <a:prstGeom prst="rect">
            <a:avLst/>
          </a:prstGeom>
          <a:solidFill>
            <a:srgbClr val="C5DFB4"/>
          </a:solidFill>
          <a:ln w="25400">
            <a:solidFill>
              <a:srgbClr val="172C51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algn="ctr" marR="2239010">
              <a:lnSpc>
                <a:spcPct val="100000"/>
              </a:lnSpc>
              <a:spcBef>
                <a:spcPts val="515"/>
              </a:spcBef>
            </a:pPr>
            <a:r>
              <a:rPr dirty="0" sz="7200" spc="-10" b="1">
                <a:latin typeface="Arial"/>
                <a:cs typeface="Arial"/>
              </a:rPr>
              <a:t>Movement</a:t>
            </a:r>
            <a:endParaRPr sz="7200">
              <a:latin typeface="Arial"/>
              <a:cs typeface="Arial"/>
            </a:endParaRPr>
          </a:p>
          <a:p>
            <a:pPr algn="ctr" marR="2190115">
              <a:lnSpc>
                <a:spcPct val="100000"/>
              </a:lnSpc>
              <a:spcBef>
                <a:spcPts val="100"/>
              </a:spcBef>
            </a:pPr>
            <a:r>
              <a:rPr dirty="0" sz="4800" spc="-10" b="1">
                <a:latin typeface="Arial"/>
                <a:cs typeface="Arial"/>
              </a:rPr>
              <a:t>(how)</a:t>
            </a:r>
            <a:endParaRPr sz="4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4068" y="3634232"/>
            <a:ext cx="6840220" cy="1499870"/>
          </a:xfrm>
          <a:prstGeom prst="rect">
            <a:avLst/>
          </a:prstGeom>
          <a:solidFill>
            <a:srgbClr val="E1EFD9"/>
          </a:solidFill>
          <a:ln w="25400">
            <a:solidFill>
              <a:srgbClr val="172C51"/>
            </a:solidFill>
          </a:ln>
        </p:spPr>
        <p:txBody>
          <a:bodyPr wrap="square" lIns="0" tIns="60960" rIns="0" bIns="0" rtlCol="0" vert="horz">
            <a:spAutoFit/>
          </a:bodyPr>
          <a:lstStyle/>
          <a:p>
            <a:pPr algn="ctr" marR="107314">
              <a:lnSpc>
                <a:spcPct val="100000"/>
              </a:lnSpc>
              <a:spcBef>
                <a:spcPts val="480"/>
              </a:spcBef>
            </a:pPr>
            <a:r>
              <a:rPr dirty="0" sz="5400" spc="-10" b="1">
                <a:latin typeface="Arial"/>
                <a:cs typeface="Arial"/>
              </a:rPr>
              <a:t>Action</a:t>
            </a: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latin typeface="Arial"/>
                <a:cs typeface="Arial"/>
              </a:rPr>
              <a:t>(what)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66644" y="7858035"/>
            <a:ext cx="9711055" cy="1755775"/>
          </a:xfrm>
          <a:prstGeom prst="rect">
            <a:avLst/>
          </a:prstGeom>
          <a:solidFill>
            <a:srgbClr val="A9D18E"/>
          </a:solidFill>
          <a:ln w="25400">
            <a:solidFill>
              <a:srgbClr val="172C51"/>
            </a:solidFill>
          </a:ln>
        </p:spPr>
        <p:txBody>
          <a:bodyPr wrap="square" lIns="0" tIns="185420" rIns="0" bIns="0" rtlCol="0" vert="horz">
            <a:spAutoFit/>
          </a:bodyPr>
          <a:lstStyle/>
          <a:p>
            <a:pPr algn="ctr" marL="334010">
              <a:lnSpc>
                <a:spcPct val="100000"/>
              </a:lnSpc>
              <a:spcBef>
                <a:spcPts val="1460"/>
              </a:spcBef>
            </a:pPr>
            <a:r>
              <a:rPr dirty="0" sz="4800" b="1">
                <a:latin typeface="Arial"/>
                <a:cs typeface="Arial"/>
              </a:rPr>
              <a:t>Neuromotor</a:t>
            </a:r>
            <a:r>
              <a:rPr dirty="0" sz="4800" spc="-180" b="1">
                <a:latin typeface="Arial"/>
                <a:cs typeface="Arial"/>
              </a:rPr>
              <a:t> </a:t>
            </a:r>
            <a:r>
              <a:rPr dirty="0" sz="4800" spc="-10" b="1">
                <a:latin typeface="Arial"/>
                <a:cs typeface="Arial"/>
              </a:rPr>
              <a:t>Processes</a:t>
            </a:r>
            <a:endParaRPr sz="4800">
              <a:latin typeface="Arial"/>
              <a:cs typeface="Arial"/>
            </a:endParaRPr>
          </a:p>
          <a:p>
            <a:pPr algn="ctr" marL="338455">
              <a:lnSpc>
                <a:spcPct val="100000"/>
              </a:lnSpc>
              <a:spcBef>
                <a:spcPts val="35"/>
              </a:spcBef>
            </a:pPr>
            <a:r>
              <a:rPr dirty="0" sz="2100" b="1">
                <a:latin typeface="Arial"/>
                <a:cs typeface="Arial"/>
              </a:rPr>
              <a:t>(sensory</a:t>
            </a:r>
            <a:r>
              <a:rPr dirty="0" sz="2100" spc="2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and</a:t>
            </a:r>
            <a:r>
              <a:rPr dirty="0" sz="2100" spc="-2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motor</a:t>
            </a:r>
            <a:r>
              <a:rPr dirty="0" sz="2100" spc="-55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neurons</a:t>
            </a:r>
            <a:r>
              <a:rPr dirty="0" sz="2100" spc="20" b="1">
                <a:latin typeface="Arial"/>
                <a:cs typeface="Arial"/>
              </a:rPr>
              <a:t> </a:t>
            </a:r>
            <a:r>
              <a:rPr dirty="0" sz="2100" spc="-10" b="1">
                <a:latin typeface="Arial"/>
                <a:cs typeface="Arial"/>
              </a:rPr>
              <a:t>needed)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804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9175" y="3763454"/>
            <a:ext cx="14248765" cy="468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libri"/>
                <a:cs typeface="Calibri"/>
              </a:rPr>
              <a:t>How</a:t>
            </a:r>
            <a:r>
              <a:rPr dirty="0" sz="3600" spc="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you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write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with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pen?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51155" algn="l"/>
              </a:tabLst>
            </a:pP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Option</a:t>
            </a:r>
            <a:r>
              <a:rPr dirty="0" u="sng" sz="36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1:</a:t>
            </a:r>
            <a:r>
              <a:rPr dirty="0" u="sng" sz="3600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3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https://www.youtube.com/watch?v=9Ldwr2LLAos</a:t>
            </a:r>
            <a:r>
              <a:rPr dirty="0" sz="3600" spc="95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(start</a:t>
            </a:r>
            <a:r>
              <a:rPr dirty="0" sz="3600" spc="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at</a:t>
            </a:r>
            <a:r>
              <a:rPr dirty="0" sz="3600" spc="10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1:07)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5"/>
              </a:spcBef>
              <a:buFont typeface="Arial MT"/>
              <a:buChar char="•"/>
            </a:pP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51155" algn="l"/>
              </a:tabLst>
            </a:pP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Option</a:t>
            </a:r>
            <a:r>
              <a:rPr dirty="0" u="sng" sz="36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2:</a:t>
            </a:r>
            <a:r>
              <a:rPr dirty="0" u="sng" sz="36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3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https://www.youtube.com/watch?v=Va1InskEgsc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0"/>
              </a:spcBef>
              <a:buFont typeface="Arial MT"/>
              <a:buChar char="•"/>
            </a:pP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351155" algn="l"/>
              </a:tabLst>
            </a:pP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Option</a:t>
            </a:r>
            <a:r>
              <a:rPr dirty="0" u="sng" sz="36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36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3:</a:t>
            </a:r>
            <a:r>
              <a:rPr dirty="0" u="sng" sz="3600" spc="-5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36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https://www.youtube.com/watch?v=mlMQw6xMn6k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9175" y="1304035"/>
            <a:ext cx="14574519" cy="194183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7525"/>
              </a:lnSpc>
              <a:spcBef>
                <a:spcPts val="125"/>
              </a:spcBef>
            </a:pPr>
            <a:r>
              <a:rPr dirty="0"/>
              <a:t>Using</a:t>
            </a:r>
            <a:r>
              <a:rPr dirty="0" spc="-120"/>
              <a:t> </a:t>
            </a:r>
            <a:r>
              <a:rPr dirty="0"/>
              <a:t>Motor</a:t>
            </a:r>
            <a:r>
              <a:rPr dirty="0" spc="-95"/>
              <a:t> </a:t>
            </a:r>
            <a:r>
              <a:rPr dirty="0"/>
              <a:t>Control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/>
              <a:t>Analyze</a:t>
            </a:r>
            <a:r>
              <a:rPr dirty="0" spc="-75"/>
              <a:t> </a:t>
            </a:r>
            <a:r>
              <a:rPr dirty="0"/>
              <a:t>Behavior</a:t>
            </a:r>
            <a:r>
              <a:rPr dirty="0" spc="-45"/>
              <a:t> </a:t>
            </a:r>
            <a:r>
              <a:rPr dirty="0" spc="-50"/>
              <a:t>–</a:t>
            </a:r>
          </a:p>
          <a:p>
            <a:pPr marL="12700">
              <a:lnSpc>
                <a:spcPts val="7525"/>
              </a:lnSpc>
            </a:pPr>
            <a:r>
              <a:rPr dirty="0"/>
              <a:t>Relationship</a:t>
            </a:r>
            <a:r>
              <a:rPr dirty="0" spc="-165"/>
              <a:t> </a:t>
            </a:r>
            <a:r>
              <a:rPr dirty="0"/>
              <a:t>between</a:t>
            </a:r>
            <a:r>
              <a:rPr dirty="0" spc="-135"/>
              <a:t> </a:t>
            </a:r>
            <a:r>
              <a:rPr dirty="0"/>
              <a:t>levels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120"/>
              <a:t> </a:t>
            </a:r>
            <a:r>
              <a:rPr dirty="0"/>
              <a:t>not</a:t>
            </a:r>
            <a:r>
              <a:rPr dirty="0" spc="-105"/>
              <a:t> </a:t>
            </a:r>
            <a:r>
              <a:rPr dirty="0" spc="-25"/>
              <a:t>1:1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8287999" cy="12707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9175" y="3613238"/>
            <a:ext cx="14832965" cy="5022215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165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4150">
                <a:latin typeface="Calibri"/>
                <a:cs typeface="Calibri"/>
              </a:rPr>
              <a:t>Action</a:t>
            </a:r>
            <a:r>
              <a:rPr dirty="0" sz="4150" spc="5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can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drive</a:t>
            </a:r>
            <a:r>
              <a:rPr dirty="0" sz="4150" spc="2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20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movement</a:t>
            </a:r>
            <a:endParaRPr sz="415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1075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4150">
                <a:latin typeface="Calibri"/>
                <a:cs typeface="Calibri"/>
              </a:rPr>
              <a:t>Action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can</a:t>
            </a:r>
            <a:r>
              <a:rPr dirty="0" sz="4150" spc="5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drive</a:t>
            </a:r>
            <a:r>
              <a:rPr dirty="0" sz="4150" spc="2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3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neuromotor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processes</a:t>
            </a:r>
            <a:endParaRPr sz="415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4150">
                <a:latin typeface="Calibri"/>
                <a:cs typeface="Calibri"/>
              </a:rPr>
              <a:t>Many</a:t>
            </a:r>
            <a:r>
              <a:rPr dirty="0" sz="4150" spc="35">
                <a:latin typeface="Calibri"/>
                <a:cs typeface="Calibri"/>
              </a:rPr>
              <a:t> </a:t>
            </a:r>
            <a:r>
              <a:rPr dirty="0" u="sng" sz="4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movement</a:t>
            </a:r>
            <a:r>
              <a:rPr dirty="0" u="sng" sz="4150" spc="8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4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patterns</a:t>
            </a:r>
            <a:r>
              <a:rPr dirty="0" u="sng" sz="4150" spc="4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which</a:t>
            </a:r>
            <a:r>
              <a:rPr dirty="0" sz="4150" spc="7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can</a:t>
            </a:r>
            <a:r>
              <a:rPr dirty="0" sz="4150" spc="7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produce</a:t>
            </a:r>
            <a:r>
              <a:rPr dirty="0" sz="4150" spc="4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4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same</a:t>
            </a:r>
            <a:r>
              <a:rPr dirty="0" sz="4150" spc="40">
                <a:latin typeface="Calibri"/>
                <a:cs typeface="Calibri"/>
              </a:rPr>
              <a:t> </a:t>
            </a:r>
            <a:r>
              <a:rPr dirty="0" sz="4150" spc="-10">
                <a:latin typeface="Calibri"/>
                <a:cs typeface="Calibri"/>
              </a:rPr>
              <a:t>outcome</a:t>
            </a:r>
            <a:endParaRPr sz="4150">
              <a:latin typeface="Calibri"/>
              <a:cs typeface="Calibri"/>
            </a:endParaRPr>
          </a:p>
          <a:p>
            <a:pPr marL="349250" marR="1881505" indent="-337185">
              <a:lnSpc>
                <a:spcPts val="4540"/>
              </a:lnSpc>
              <a:spcBef>
                <a:spcPts val="1590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4150" b="1">
                <a:latin typeface="Calibri"/>
                <a:cs typeface="Calibri"/>
              </a:rPr>
              <a:t>Movement</a:t>
            </a:r>
            <a:r>
              <a:rPr dirty="0" sz="4150" spc="95" b="1">
                <a:latin typeface="Calibri"/>
                <a:cs typeface="Calibri"/>
              </a:rPr>
              <a:t> </a:t>
            </a:r>
            <a:r>
              <a:rPr dirty="0" sz="4150" b="1">
                <a:latin typeface="Calibri"/>
                <a:cs typeface="Calibri"/>
              </a:rPr>
              <a:t>equivalence</a:t>
            </a:r>
            <a:r>
              <a:rPr dirty="0" sz="4150" spc="100" b="1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is</a:t>
            </a:r>
            <a:r>
              <a:rPr dirty="0" sz="4150" spc="4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changing</a:t>
            </a:r>
            <a:r>
              <a:rPr dirty="0" sz="4150" spc="8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3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way</a:t>
            </a:r>
            <a:r>
              <a:rPr dirty="0" sz="4150" spc="1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you</a:t>
            </a:r>
            <a:r>
              <a:rPr dirty="0" sz="4150" spc="6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MOVE</a:t>
            </a:r>
            <a:r>
              <a:rPr dirty="0" sz="4150" spc="20"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to </a:t>
            </a:r>
            <a:r>
              <a:rPr dirty="0" sz="4150" spc="-25">
                <a:latin typeface="Calibri"/>
                <a:cs typeface="Calibri"/>
              </a:rPr>
              <a:t>	</a:t>
            </a:r>
            <a:r>
              <a:rPr dirty="0" sz="4150">
                <a:latin typeface="Calibri"/>
                <a:cs typeface="Calibri"/>
              </a:rPr>
              <a:t>accomplish</a:t>
            </a:r>
            <a:r>
              <a:rPr dirty="0" sz="4150" spc="3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1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same</a:t>
            </a:r>
            <a:r>
              <a:rPr dirty="0" sz="4150" spc="80">
                <a:latin typeface="Calibri"/>
                <a:cs typeface="Calibri"/>
              </a:rPr>
              <a:t> </a:t>
            </a:r>
            <a:r>
              <a:rPr dirty="0" sz="4150" spc="-20">
                <a:latin typeface="Calibri"/>
                <a:cs typeface="Calibri"/>
              </a:rPr>
              <a:t>task</a:t>
            </a:r>
            <a:endParaRPr sz="4150">
              <a:latin typeface="Calibri"/>
              <a:cs typeface="Calibri"/>
            </a:endParaRPr>
          </a:p>
          <a:p>
            <a:pPr marL="349250" marR="5080" indent="-337185">
              <a:lnSpc>
                <a:spcPts val="4540"/>
              </a:lnSpc>
              <a:spcBef>
                <a:spcPts val="1510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4150" b="1">
                <a:latin typeface="Calibri"/>
                <a:cs typeface="Calibri"/>
              </a:rPr>
              <a:t>Motor</a:t>
            </a:r>
            <a:r>
              <a:rPr dirty="0" sz="4150" spc="50" b="1">
                <a:latin typeface="Calibri"/>
                <a:cs typeface="Calibri"/>
              </a:rPr>
              <a:t> </a:t>
            </a:r>
            <a:r>
              <a:rPr dirty="0" sz="4150" b="1">
                <a:latin typeface="Calibri"/>
                <a:cs typeface="Calibri"/>
              </a:rPr>
              <a:t>Equivalence</a:t>
            </a:r>
            <a:r>
              <a:rPr dirty="0" sz="4150" spc="114" b="1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is</a:t>
            </a:r>
            <a:r>
              <a:rPr dirty="0" sz="4150" spc="5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changing</a:t>
            </a:r>
            <a:r>
              <a:rPr dirty="0" sz="4150" spc="7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4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NEUROMOTOR</a:t>
            </a:r>
            <a:r>
              <a:rPr dirty="0" sz="4150" spc="7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PROCESSES</a:t>
            </a:r>
            <a:r>
              <a:rPr dirty="0" sz="4150" spc="60">
                <a:latin typeface="Calibri"/>
                <a:cs typeface="Calibri"/>
              </a:rPr>
              <a:t> </a:t>
            </a:r>
            <a:r>
              <a:rPr dirty="0" sz="4150" spc="-25">
                <a:latin typeface="Calibri"/>
                <a:cs typeface="Calibri"/>
              </a:rPr>
              <a:t>you </a:t>
            </a:r>
            <a:r>
              <a:rPr dirty="0" sz="4150" spc="-25">
                <a:latin typeface="Calibri"/>
                <a:cs typeface="Calibri"/>
              </a:rPr>
              <a:t>	</a:t>
            </a:r>
            <a:r>
              <a:rPr dirty="0" sz="4150">
                <a:latin typeface="Calibri"/>
                <a:cs typeface="Calibri"/>
              </a:rPr>
              <a:t>use</a:t>
            </a:r>
            <a:r>
              <a:rPr dirty="0" sz="4150" spc="75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to</a:t>
            </a:r>
            <a:r>
              <a:rPr dirty="0" sz="4150" spc="3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accomplish</a:t>
            </a:r>
            <a:r>
              <a:rPr dirty="0" sz="4150" spc="4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the</a:t>
            </a:r>
            <a:r>
              <a:rPr dirty="0" sz="4150" spc="10">
                <a:latin typeface="Calibri"/>
                <a:cs typeface="Calibri"/>
              </a:rPr>
              <a:t> </a:t>
            </a:r>
            <a:r>
              <a:rPr dirty="0" sz="4150">
                <a:latin typeface="Calibri"/>
                <a:cs typeface="Calibri"/>
              </a:rPr>
              <a:t>same</a:t>
            </a:r>
            <a:r>
              <a:rPr dirty="0" sz="4150" spc="10">
                <a:latin typeface="Calibri"/>
                <a:cs typeface="Calibri"/>
              </a:rPr>
              <a:t> </a:t>
            </a:r>
            <a:r>
              <a:rPr dirty="0" sz="4150" spc="-20">
                <a:latin typeface="Calibri"/>
                <a:cs typeface="Calibri"/>
              </a:rPr>
              <a:t>task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8817" y="1861438"/>
            <a:ext cx="1635379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1">
                <a:latin typeface="Arial"/>
                <a:cs typeface="Arial"/>
              </a:rPr>
              <a:t>Using</a:t>
            </a:r>
            <a:r>
              <a:rPr dirty="0" spc="-1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Motor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Control</a:t>
            </a:r>
            <a:r>
              <a:rPr dirty="0" spc="-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3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Analyze</a:t>
            </a:r>
            <a:r>
              <a:rPr dirty="0" spc="-1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Behavior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4322" y="1314486"/>
            <a:ext cx="15205710" cy="2147570"/>
          </a:xfrm>
          <a:prstGeom prst="rect"/>
        </p:spPr>
        <p:txBody>
          <a:bodyPr wrap="square" lIns="0" tIns="233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dirty="0"/>
              <a:t>Using</a:t>
            </a:r>
            <a:r>
              <a:rPr dirty="0" spc="-105"/>
              <a:t> </a:t>
            </a:r>
            <a:r>
              <a:rPr dirty="0"/>
              <a:t>Motor</a:t>
            </a:r>
            <a:r>
              <a:rPr dirty="0" spc="-80"/>
              <a:t> </a:t>
            </a:r>
            <a:r>
              <a:rPr dirty="0"/>
              <a:t>Control</a:t>
            </a:r>
            <a:r>
              <a:rPr dirty="0" spc="-80"/>
              <a:t> </a:t>
            </a:r>
            <a:r>
              <a:rPr dirty="0"/>
              <a:t>to</a:t>
            </a:r>
            <a:r>
              <a:rPr dirty="0" spc="-105"/>
              <a:t> </a:t>
            </a:r>
            <a:r>
              <a:rPr dirty="0"/>
              <a:t>Analyze</a:t>
            </a:r>
            <a:r>
              <a:rPr dirty="0" spc="-60"/>
              <a:t> </a:t>
            </a:r>
            <a:r>
              <a:rPr dirty="0" spc="-10"/>
              <a:t>Behavior</a:t>
            </a:r>
          </a:p>
          <a:p>
            <a:pPr marL="1985645">
              <a:lnSpc>
                <a:spcPct val="100000"/>
              </a:lnSpc>
              <a:spcBef>
                <a:spcPts val="1280"/>
              </a:spcBef>
            </a:pPr>
            <a:r>
              <a:rPr dirty="0" sz="4800" b="1">
                <a:solidFill>
                  <a:srgbClr val="002387"/>
                </a:solidFill>
                <a:latin typeface="Arial"/>
                <a:cs typeface="Arial"/>
              </a:rPr>
              <a:t>Motor</a:t>
            </a:r>
            <a:r>
              <a:rPr dirty="0" sz="4800" spc="-70" b="1">
                <a:solidFill>
                  <a:srgbClr val="002387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002387"/>
                </a:solidFill>
                <a:latin typeface="Arial"/>
                <a:cs typeface="Arial"/>
              </a:rPr>
              <a:t>Equivalence</a:t>
            </a:r>
            <a:r>
              <a:rPr dirty="0" sz="4800" spc="-95" b="1">
                <a:solidFill>
                  <a:srgbClr val="002387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002387"/>
                </a:solidFill>
                <a:latin typeface="Arial"/>
                <a:cs typeface="Arial"/>
              </a:rPr>
              <a:t>vs</a:t>
            </a:r>
            <a:r>
              <a:rPr dirty="0" sz="4800" spc="-85" b="1">
                <a:solidFill>
                  <a:srgbClr val="002387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002387"/>
                </a:solidFill>
                <a:latin typeface="Arial"/>
                <a:cs typeface="Arial"/>
              </a:rPr>
              <a:t>Movement</a:t>
            </a:r>
            <a:r>
              <a:rPr dirty="0" sz="4800" spc="-80" b="1">
                <a:solidFill>
                  <a:srgbClr val="002387"/>
                </a:solidFill>
                <a:latin typeface="Arial"/>
                <a:cs typeface="Arial"/>
              </a:rPr>
              <a:t> </a:t>
            </a:r>
            <a:r>
              <a:rPr dirty="0" sz="4800" spc="-10" b="1">
                <a:solidFill>
                  <a:srgbClr val="002387"/>
                </a:solidFill>
                <a:latin typeface="Arial"/>
                <a:cs typeface="Arial"/>
              </a:rPr>
              <a:t>Equivalence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9040" y="3656990"/>
            <a:ext cx="10789919" cy="60615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201142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8127" y="4627181"/>
            <a:ext cx="18308955" cy="5673090"/>
            <a:chOff x="-8127" y="4627181"/>
            <a:chExt cx="18308955" cy="5673090"/>
          </a:xfrm>
        </p:grpSpPr>
        <p:sp>
          <p:nvSpPr>
            <p:cNvPr id="4" name="object 4" descr=""/>
            <p:cNvSpPr/>
            <p:nvPr/>
          </p:nvSpPr>
          <p:spPr>
            <a:xfrm>
              <a:off x="4572" y="4639881"/>
              <a:ext cx="18283555" cy="5647690"/>
            </a:xfrm>
            <a:custGeom>
              <a:avLst/>
              <a:gdLst/>
              <a:ahLst/>
              <a:cxnLst/>
              <a:rect l="l" t="t" r="r" b="b"/>
              <a:pathLst>
                <a:path w="18283555" h="5647690">
                  <a:moveTo>
                    <a:pt x="18283428" y="0"/>
                  </a:moveTo>
                  <a:lnTo>
                    <a:pt x="0" y="0"/>
                  </a:lnTo>
                  <a:lnTo>
                    <a:pt x="0" y="5647118"/>
                  </a:lnTo>
                  <a:lnTo>
                    <a:pt x="18283428" y="5647118"/>
                  </a:lnTo>
                  <a:lnTo>
                    <a:pt x="18283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72" y="4639881"/>
              <a:ext cx="18283555" cy="5647690"/>
            </a:xfrm>
            <a:custGeom>
              <a:avLst/>
              <a:gdLst/>
              <a:ahLst/>
              <a:cxnLst/>
              <a:rect l="l" t="t" r="r" b="b"/>
              <a:pathLst>
                <a:path w="18283555" h="5647690">
                  <a:moveTo>
                    <a:pt x="18283428" y="0"/>
                  </a:moveTo>
                  <a:lnTo>
                    <a:pt x="0" y="0"/>
                  </a:lnTo>
                  <a:lnTo>
                    <a:pt x="0" y="564711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27430" y="5041138"/>
            <a:ext cx="8167370" cy="1035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60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dirty="0" sz="6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60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6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60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dirty="0" sz="6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600">
                <a:solidFill>
                  <a:srgbClr val="FFFFFF"/>
                </a:solidFill>
                <a:latin typeface="Calibri"/>
                <a:cs typeface="Calibri"/>
              </a:rPr>
              <a:t>Skill</a:t>
            </a:r>
            <a:r>
              <a:rPr dirty="0" sz="66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600" spc="-10">
                <a:solidFill>
                  <a:srgbClr val="FFFFFF"/>
                </a:solidFill>
                <a:latin typeface="Calibri"/>
                <a:cs typeface="Calibri"/>
              </a:rPr>
              <a:t>Acquisition</a:t>
            </a:r>
            <a:endParaRPr sz="66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20480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Skilled</a:t>
            </a:r>
            <a:r>
              <a:rPr dirty="0" spc="-125"/>
              <a:t> </a:t>
            </a:r>
            <a:r>
              <a:rPr dirty="0" spc="-10"/>
              <a:t>Action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9175" y="3635971"/>
            <a:ext cx="5258435" cy="343789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600" spc="-10">
                <a:latin typeface="Calibri"/>
                <a:cs typeface="Calibri"/>
              </a:rPr>
              <a:t>Competence</a:t>
            </a:r>
            <a:endParaRPr sz="360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350520" algn="l"/>
              </a:tabLst>
            </a:pPr>
            <a:r>
              <a:rPr dirty="0" sz="3600">
                <a:latin typeface="Calibri"/>
                <a:cs typeface="Calibri"/>
              </a:rPr>
              <a:t>Consistency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&amp;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Economy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600">
                <a:latin typeface="Calibri"/>
                <a:cs typeface="Calibri"/>
              </a:rPr>
              <a:t>Effective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Use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Resources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600">
                <a:latin typeface="Calibri"/>
                <a:cs typeface="Calibri"/>
              </a:rPr>
              <a:t>Relative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Individual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351155" algn="l"/>
              </a:tabLst>
            </a:pPr>
            <a:r>
              <a:rPr dirty="0" sz="3600">
                <a:latin typeface="Calibri"/>
                <a:cs typeface="Calibri"/>
              </a:rPr>
              <a:t>Task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Specific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895" y="3702684"/>
            <a:ext cx="6400800" cy="36113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6871" y="1983905"/>
            <a:ext cx="4334256" cy="76615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6304" y="3693540"/>
            <a:ext cx="6400800" cy="36205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0488" y="1685544"/>
            <a:ext cx="461137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Skilled</a:t>
            </a:r>
            <a:r>
              <a:rPr dirty="0" spc="-105"/>
              <a:t> </a:t>
            </a:r>
            <a:r>
              <a:rPr dirty="0" spc="-10"/>
              <a:t>Action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Skill</a:t>
            </a:r>
            <a:r>
              <a:rPr dirty="0" spc="-55"/>
              <a:t> </a:t>
            </a:r>
            <a:r>
              <a:rPr dirty="0" spc="-10"/>
              <a:t>Acquisition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5584" y="3635692"/>
            <a:ext cx="15572105" cy="374078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Skill</a:t>
            </a:r>
            <a:r>
              <a:rPr dirty="0" sz="3600" spc="-2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-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Consistency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attaining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goal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with</a:t>
            </a:r>
            <a:r>
              <a:rPr dirty="0" sz="3600" spc="-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some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economy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effort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Competence</a:t>
            </a:r>
            <a:r>
              <a:rPr dirty="0" sz="3600" spc="-1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–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When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someone</a:t>
            </a:r>
            <a:r>
              <a:rPr dirty="0" sz="3600" spc="-6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has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skill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ts val="3890"/>
              </a:lnSpc>
              <a:spcBef>
                <a:spcPts val="1575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Consistency</a:t>
            </a:r>
            <a:r>
              <a:rPr dirty="0" sz="3600" spc="-4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-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Able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repeat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something</a:t>
            </a:r>
            <a:r>
              <a:rPr dirty="0" sz="3600" spc="-9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(motor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skill)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with</a:t>
            </a:r>
            <a:r>
              <a:rPr dirty="0" sz="3600" spc="-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small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changed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</a:t>
            </a:r>
            <a:r>
              <a:rPr dirty="0" sz="3600" spc="-8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standard deviation</a:t>
            </a:r>
            <a:endParaRPr sz="3600">
              <a:latin typeface="Calibri"/>
              <a:cs typeface="Calibri"/>
            </a:endParaRPr>
          </a:p>
          <a:p>
            <a:pPr marL="12700" marR="135890">
              <a:lnSpc>
                <a:spcPts val="3890"/>
              </a:lnSpc>
              <a:spcBef>
                <a:spcPts val="1515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Economy</a:t>
            </a:r>
            <a:r>
              <a:rPr dirty="0" sz="3600" spc="-5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of</a:t>
            </a:r>
            <a:r>
              <a:rPr dirty="0" sz="3600" spc="1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effort</a:t>
            </a:r>
            <a:r>
              <a:rPr dirty="0" sz="3600" spc="-15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-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Low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energy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demand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(O2/CO2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ratio,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rate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perceived</a:t>
            </a:r>
            <a:r>
              <a:rPr dirty="0" sz="3600" spc="-10">
                <a:latin typeface="Calibri"/>
                <a:cs typeface="Calibri"/>
              </a:rPr>
              <a:t> exertion, </a:t>
            </a:r>
            <a:r>
              <a:rPr dirty="0" sz="3600">
                <a:latin typeface="Calibri"/>
                <a:cs typeface="Calibri"/>
              </a:rPr>
              <a:t>baseline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change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heart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rate,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time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it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takes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do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something)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041" y="1564512"/>
            <a:ext cx="1443990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Jill</a:t>
            </a:r>
            <a:r>
              <a:rPr dirty="0" spc="-35"/>
              <a:t> </a:t>
            </a:r>
            <a:r>
              <a:rPr dirty="0"/>
              <a:t>has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low</a:t>
            </a:r>
            <a:r>
              <a:rPr dirty="0" spc="-65"/>
              <a:t> </a:t>
            </a:r>
            <a:r>
              <a:rPr dirty="0"/>
              <a:t>heart</a:t>
            </a:r>
            <a:r>
              <a:rPr dirty="0" spc="-80"/>
              <a:t> </a:t>
            </a:r>
            <a:r>
              <a:rPr dirty="0"/>
              <a:t>rate</a:t>
            </a:r>
            <a:r>
              <a:rPr dirty="0" spc="-65"/>
              <a:t> </a:t>
            </a:r>
            <a:r>
              <a:rPr dirty="0"/>
              <a:t>while</a:t>
            </a:r>
            <a:r>
              <a:rPr dirty="0" spc="-65"/>
              <a:t> </a:t>
            </a:r>
            <a:r>
              <a:rPr dirty="0"/>
              <a:t>playing</a:t>
            </a:r>
            <a:r>
              <a:rPr dirty="0" spc="-45"/>
              <a:t> </a:t>
            </a:r>
            <a:r>
              <a:rPr dirty="0" spc="-20"/>
              <a:t>darts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2889084"/>
            <a:ext cx="11430000" cy="64272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75" y="1404619"/>
            <a:ext cx="16436340" cy="1760855"/>
          </a:xfrm>
          <a:prstGeom prst="rect"/>
        </p:spPr>
        <p:txBody>
          <a:bodyPr wrap="square" lIns="0" tIns="111760" rIns="0" bIns="0" rtlCol="0" vert="horz">
            <a:spAutoFit/>
          </a:bodyPr>
          <a:lstStyle/>
          <a:p>
            <a:pPr marL="12700" marR="5080">
              <a:lnSpc>
                <a:spcPts val="6490"/>
              </a:lnSpc>
              <a:spcBef>
                <a:spcPts val="880"/>
              </a:spcBef>
            </a:pPr>
            <a:r>
              <a:rPr dirty="0" sz="5950"/>
              <a:t>Jill is</a:t>
            </a:r>
            <a:r>
              <a:rPr dirty="0" sz="5950" spc="10"/>
              <a:t> </a:t>
            </a:r>
            <a:r>
              <a:rPr dirty="0" sz="5950"/>
              <a:t>able</a:t>
            </a:r>
            <a:r>
              <a:rPr dirty="0" sz="5950" spc="50"/>
              <a:t> </a:t>
            </a:r>
            <a:r>
              <a:rPr dirty="0" sz="5950"/>
              <a:t>to</a:t>
            </a:r>
            <a:r>
              <a:rPr dirty="0" sz="5950" spc="-25"/>
              <a:t> </a:t>
            </a:r>
            <a:r>
              <a:rPr dirty="0" sz="5950"/>
              <a:t>hit</a:t>
            </a:r>
            <a:r>
              <a:rPr dirty="0" sz="5950" spc="35"/>
              <a:t> </a:t>
            </a:r>
            <a:r>
              <a:rPr dirty="0" sz="5950"/>
              <a:t>the</a:t>
            </a:r>
            <a:r>
              <a:rPr dirty="0" sz="5950" spc="5"/>
              <a:t> </a:t>
            </a:r>
            <a:r>
              <a:rPr dirty="0" sz="5950"/>
              <a:t>bulls</a:t>
            </a:r>
            <a:r>
              <a:rPr dirty="0" sz="5950" spc="35"/>
              <a:t> </a:t>
            </a:r>
            <a:r>
              <a:rPr dirty="0" sz="5950"/>
              <a:t>eye</a:t>
            </a:r>
            <a:r>
              <a:rPr dirty="0" sz="5950" spc="20"/>
              <a:t> </a:t>
            </a:r>
            <a:r>
              <a:rPr dirty="0" sz="5950"/>
              <a:t>10</a:t>
            </a:r>
            <a:r>
              <a:rPr dirty="0" sz="5950" spc="25"/>
              <a:t> </a:t>
            </a:r>
            <a:r>
              <a:rPr dirty="0" sz="5950"/>
              <a:t>times</a:t>
            </a:r>
            <a:r>
              <a:rPr dirty="0" sz="5950" spc="50"/>
              <a:t> </a:t>
            </a:r>
            <a:r>
              <a:rPr dirty="0" sz="5950"/>
              <a:t>in</a:t>
            </a:r>
            <a:r>
              <a:rPr dirty="0" sz="5950" spc="45"/>
              <a:t> </a:t>
            </a:r>
            <a:r>
              <a:rPr dirty="0" sz="5950"/>
              <a:t>a</a:t>
            </a:r>
            <a:r>
              <a:rPr dirty="0" sz="5950" spc="50"/>
              <a:t> </a:t>
            </a:r>
            <a:r>
              <a:rPr dirty="0" sz="5950"/>
              <a:t>row</a:t>
            </a:r>
            <a:r>
              <a:rPr dirty="0" sz="5950" spc="-15"/>
              <a:t> </a:t>
            </a:r>
            <a:r>
              <a:rPr dirty="0" sz="5950"/>
              <a:t>with</a:t>
            </a:r>
            <a:r>
              <a:rPr dirty="0" sz="5950" spc="-20"/>
              <a:t> </a:t>
            </a:r>
            <a:r>
              <a:rPr dirty="0" sz="5950" spc="-50"/>
              <a:t>a </a:t>
            </a:r>
            <a:r>
              <a:rPr dirty="0" sz="5950"/>
              <a:t>low heart</a:t>
            </a:r>
            <a:r>
              <a:rPr dirty="0" sz="5950" spc="35"/>
              <a:t> </a:t>
            </a:r>
            <a:r>
              <a:rPr dirty="0" sz="5950"/>
              <a:t>rate</a:t>
            </a:r>
            <a:r>
              <a:rPr dirty="0" sz="5950" spc="60"/>
              <a:t> </a:t>
            </a:r>
            <a:r>
              <a:rPr dirty="0" sz="5950"/>
              <a:t>while</a:t>
            </a:r>
            <a:r>
              <a:rPr dirty="0" sz="5950" spc="55"/>
              <a:t> </a:t>
            </a:r>
            <a:r>
              <a:rPr dirty="0" sz="5950"/>
              <a:t>playing</a:t>
            </a:r>
            <a:r>
              <a:rPr dirty="0" sz="5950" spc="5"/>
              <a:t> </a:t>
            </a:r>
            <a:r>
              <a:rPr dirty="0" sz="5950" spc="-10"/>
              <a:t>darts</a:t>
            </a:r>
            <a:endParaRPr sz="59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7015" y="3401072"/>
            <a:ext cx="11430000" cy="64272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Skilled</a:t>
            </a:r>
            <a:r>
              <a:rPr dirty="0" spc="-125"/>
              <a:t> </a:t>
            </a:r>
            <a:r>
              <a:rPr dirty="0" spc="-10"/>
              <a:t>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4343" y="2505075"/>
            <a:ext cx="3639311" cy="64272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472" y="3400933"/>
            <a:ext cx="6501383" cy="3675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0" y="3300476"/>
            <a:ext cx="6510527" cy="36845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Motor</a:t>
            </a:r>
            <a:r>
              <a:rPr dirty="0" spc="-140"/>
              <a:t> </a:t>
            </a:r>
            <a:r>
              <a:rPr dirty="0" spc="-10"/>
              <a:t>Theories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28927" y="2974276"/>
            <a:ext cx="5681345" cy="275272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u="sng" sz="3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Some</a:t>
            </a:r>
            <a:r>
              <a:rPr dirty="0" u="sng" sz="3600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theories: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15"/>
              </a:spcBef>
              <a:buFont typeface="Calibri"/>
              <a:buChar char="-"/>
              <a:tabLst>
                <a:tab pos="351155" algn="l"/>
              </a:tabLst>
            </a:pPr>
            <a:r>
              <a:rPr dirty="0" sz="3600" b="1">
                <a:latin typeface="Calibri"/>
                <a:cs typeface="Calibri"/>
              </a:rPr>
              <a:t>Motor</a:t>
            </a:r>
            <a:r>
              <a:rPr dirty="0" sz="3600" spc="-11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Programming</a:t>
            </a:r>
            <a:r>
              <a:rPr dirty="0" sz="3600" spc="-105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Theory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80"/>
              </a:spcBef>
              <a:buFont typeface="Calibri"/>
              <a:buChar char="-"/>
              <a:tabLst>
                <a:tab pos="351155" algn="l"/>
              </a:tabLst>
            </a:pPr>
            <a:r>
              <a:rPr dirty="0" sz="3600" b="1">
                <a:latin typeface="Calibri"/>
                <a:cs typeface="Calibri"/>
              </a:rPr>
              <a:t>Systems</a:t>
            </a:r>
            <a:r>
              <a:rPr dirty="0" sz="3600" spc="-45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Theory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085"/>
              </a:spcBef>
              <a:buFont typeface="Calibri"/>
              <a:buChar char="-"/>
              <a:tabLst>
                <a:tab pos="351155" algn="l"/>
              </a:tabLst>
            </a:pPr>
            <a:r>
              <a:rPr dirty="0" sz="3600" b="1">
                <a:latin typeface="Calibri"/>
                <a:cs typeface="Calibri"/>
              </a:rPr>
              <a:t>Ecological</a:t>
            </a:r>
            <a:r>
              <a:rPr dirty="0" sz="3600" spc="-125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Theory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431781" y="2911157"/>
            <a:ext cx="7751445" cy="484822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 marR="1784985">
              <a:lnSpc>
                <a:spcPts val="3460"/>
              </a:lnSpc>
              <a:spcBef>
                <a:spcPts val="935"/>
              </a:spcBef>
            </a:pP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Current</a:t>
            </a:r>
            <a:r>
              <a:rPr dirty="0" u="sng" sz="3600" spc="-6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Theory</a:t>
            </a:r>
            <a:r>
              <a:rPr dirty="0" u="sng" sz="3600" spc="-45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used</a:t>
            </a:r>
            <a:r>
              <a:rPr dirty="0" u="sng" sz="3600" spc="-2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by</a:t>
            </a:r>
            <a:r>
              <a:rPr dirty="0" u="sng" sz="3600" spc="-45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 spc="-1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Physical</a:t>
            </a:r>
            <a:r>
              <a:rPr dirty="0" sz="3600" spc="-1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Therapists</a:t>
            </a:r>
            <a:r>
              <a:rPr dirty="0" u="sng" sz="3600" spc="-3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3600" spc="-7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600" spc="-10">
                <a:solidFill>
                  <a:srgbClr val="002387"/>
                </a:solidFill>
                <a:uFill>
                  <a:solidFill>
                    <a:srgbClr val="002387"/>
                  </a:solidFill>
                </a:uFill>
                <a:latin typeface="Calibri"/>
                <a:cs typeface="Calibri"/>
              </a:rPr>
              <a:t>Physiotherapist:</a:t>
            </a:r>
            <a:endParaRPr sz="360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680"/>
              </a:spcBef>
              <a:buFont typeface="Calibri"/>
              <a:buChar char="-"/>
              <a:tabLst>
                <a:tab pos="351155" algn="l"/>
              </a:tabLst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Dynamical</a:t>
            </a:r>
            <a:r>
              <a:rPr dirty="0" sz="3600" spc="-85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System</a:t>
            </a:r>
            <a:r>
              <a:rPr dirty="0" sz="3600" spc="-11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Theory</a:t>
            </a:r>
            <a:r>
              <a:rPr dirty="0" sz="3600" spc="-7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spc="-50">
                <a:solidFill>
                  <a:srgbClr val="002387"/>
                </a:solidFill>
                <a:latin typeface="Calibri"/>
                <a:cs typeface="Calibri"/>
              </a:rPr>
              <a:t>–</a:t>
            </a:r>
            <a:endParaRPr sz="3600">
              <a:latin typeface="Calibri"/>
              <a:cs typeface="Calibri"/>
            </a:endParaRPr>
          </a:p>
          <a:p>
            <a:pPr lvl="1" marL="965200" marR="5080" indent="-334010">
              <a:lnSpc>
                <a:spcPts val="3460"/>
              </a:lnSpc>
              <a:spcBef>
                <a:spcPts val="1480"/>
              </a:spcBef>
              <a:buChar char="-"/>
              <a:tabLst>
                <a:tab pos="965200" algn="l"/>
              </a:tabLst>
            </a:pP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Movement</a:t>
            </a:r>
            <a:r>
              <a:rPr dirty="0" sz="3600" spc="-6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results</a:t>
            </a:r>
            <a:r>
              <a:rPr dirty="0" sz="3600" spc="-11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from </a:t>
            </a:r>
            <a:r>
              <a:rPr dirty="0" sz="3600" spc="-20">
                <a:solidFill>
                  <a:srgbClr val="002387"/>
                </a:solidFill>
                <a:latin typeface="Calibri"/>
                <a:cs typeface="Calibri"/>
              </a:rPr>
              <a:t>many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systems</a:t>
            </a:r>
            <a:r>
              <a:rPr dirty="0" sz="3600" spc="-8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interacting</a:t>
            </a:r>
            <a:r>
              <a:rPr dirty="0" sz="3600" spc="-9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(constraining)</a:t>
            </a:r>
            <a:r>
              <a:rPr dirty="0" sz="3600" spc="-6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spc="-25">
                <a:solidFill>
                  <a:srgbClr val="002387"/>
                </a:solidFill>
                <a:latin typeface="Calibri"/>
                <a:cs typeface="Calibri"/>
              </a:rPr>
              <a:t>to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yield</a:t>
            </a:r>
            <a:r>
              <a:rPr dirty="0" sz="3600" spc="-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the</a:t>
            </a:r>
            <a:r>
              <a:rPr dirty="0" sz="3600" spc="-4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most</a:t>
            </a:r>
            <a:r>
              <a:rPr dirty="0" sz="3600" spc="-4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stable</a:t>
            </a:r>
            <a:r>
              <a:rPr dirty="0" sz="3600" spc="-4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002387"/>
                </a:solidFill>
                <a:latin typeface="Calibri"/>
                <a:cs typeface="Calibri"/>
              </a:rPr>
              <a:t>pattern</a:t>
            </a:r>
            <a:endParaRPr sz="3600">
              <a:latin typeface="Calibri"/>
              <a:cs typeface="Calibri"/>
            </a:endParaRPr>
          </a:p>
          <a:p>
            <a:pPr lvl="1" marL="965200" indent="-333375">
              <a:lnSpc>
                <a:spcPct val="100000"/>
              </a:lnSpc>
              <a:spcBef>
                <a:spcPts val="605"/>
              </a:spcBef>
              <a:buChar char="-"/>
              <a:tabLst>
                <a:tab pos="965200" algn="l"/>
              </a:tabLst>
            </a:pP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Subsystems</a:t>
            </a:r>
            <a:r>
              <a:rPr dirty="0" sz="3600" spc="-12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self-</a:t>
            </a:r>
            <a:r>
              <a:rPr dirty="0" sz="3600" spc="-10">
                <a:solidFill>
                  <a:srgbClr val="002387"/>
                </a:solidFill>
                <a:latin typeface="Calibri"/>
                <a:cs typeface="Calibri"/>
              </a:rPr>
              <a:t>organize</a:t>
            </a:r>
            <a:endParaRPr sz="3600">
              <a:latin typeface="Calibri"/>
              <a:cs typeface="Calibri"/>
            </a:endParaRPr>
          </a:p>
          <a:p>
            <a:pPr lvl="1" marL="965200" marR="697865" indent="-334010">
              <a:lnSpc>
                <a:spcPts val="3460"/>
              </a:lnSpc>
              <a:spcBef>
                <a:spcPts val="1485"/>
              </a:spcBef>
              <a:buChar char="-"/>
              <a:tabLst>
                <a:tab pos="965200" algn="l"/>
              </a:tabLst>
            </a:pP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Subsystems</a:t>
            </a:r>
            <a:r>
              <a:rPr dirty="0" sz="3600" spc="-11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organize</a:t>
            </a:r>
            <a:r>
              <a:rPr dirty="0" sz="3600" spc="-5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at</a:t>
            </a:r>
            <a:r>
              <a:rPr dirty="0" sz="3600" spc="-50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002387"/>
                </a:solidFill>
                <a:latin typeface="Calibri"/>
                <a:cs typeface="Calibri"/>
              </a:rPr>
              <a:t>different rates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9175" y="9255214"/>
            <a:ext cx="16717644" cy="8432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50"/>
              </a:spcBef>
            </a:pPr>
            <a:r>
              <a:rPr dirty="0" sz="2650">
                <a:latin typeface="Calibri"/>
                <a:cs typeface="Calibri"/>
              </a:rPr>
              <a:t>“Movement</a:t>
            </a:r>
            <a:r>
              <a:rPr dirty="0" sz="2650" spc="3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is</a:t>
            </a:r>
            <a:r>
              <a:rPr dirty="0" sz="2650" spc="4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possible</a:t>
            </a:r>
            <a:r>
              <a:rPr dirty="0" sz="2650" spc="4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in</a:t>
            </a:r>
            <a:r>
              <a:rPr dirty="0" sz="2650" spc="114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the</a:t>
            </a:r>
            <a:r>
              <a:rPr dirty="0" sz="2650" spc="4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absence</a:t>
            </a:r>
            <a:r>
              <a:rPr dirty="0" sz="2650" spc="4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of</a:t>
            </a:r>
            <a:r>
              <a:rPr dirty="0" sz="2650" spc="5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reflexive</a:t>
            </a:r>
            <a:r>
              <a:rPr dirty="0" sz="2650" spc="4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action.</a:t>
            </a:r>
            <a:r>
              <a:rPr dirty="0" sz="2650" spc="5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Sensory</a:t>
            </a:r>
            <a:r>
              <a:rPr dirty="0" sz="2650" spc="9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input,</a:t>
            </a:r>
            <a:r>
              <a:rPr dirty="0" sz="2650" spc="5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while</a:t>
            </a:r>
            <a:r>
              <a:rPr dirty="0" sz="2650" spc="4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not</a:t>
            </a:r>
            <a:r>
              <a:rPr dirty="0" sz="2650" spc="5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essential</a:t>
            </a:r>
            <a:r>
              <a:rPr dirty="0" sz="2650" spc="3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in</a:t>
            </a:r>
            <a:r>
              <a:rPr dirty="0" sz="2650" spc="4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driving</a:t>
            </a:r>
            <a:r>
              <a:rPr dirty="0" sz="2650" spc="11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movement,</a:t>
            </a:r>
            <a:r>
              <a:rPr dirty="0" sz="2650" spc="6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has</a:t>
            </a:r>
            <a:r>
              <a:rPr dirty="0" sz="2650" spc="40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an </a:t>
            </a:r>
            <a:r>
              <a:rPr dirty="0" sz="2650">
                <a:latin typeface="Calibri"/>
                <a:cs typeface="Calibri"/>
              </a:rPr>
              <a:t>important</a:t>
            </a:r>
            <a:r>
              <a:rPr dirty="0" sz="2650" spc="10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function</a:t>
            </a:r>
            <a:r>
              <a:rPr dirty="0" sz="2650" spc="10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in</a:t>
            </a:r>
            <a:r>
              <a:rPr dirty="0" sz="2650" spc="18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modulating</a:t>
            </a:r>
            <a:r>
              <a:rPr dirty="0" sz="2650" spc="9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action.”</a:t>
            </a:r>
            <a:r>
              <a:rPr dirty="0" sz="2650" spc="9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(Shumway-Cook,</a:t>
            </a:r>
            <a:r>
              <a:rPr dirty="0" sz="2650" spc="35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11)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003" y="1226820"/>
            <a:ext cx="5577205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Skill</a:t>
            </a:r>
            <a:r>
              <a:rPr dirty="0" spc="-30"/>
              <a:t> </a:t>
            </a:r>
            <a:r>
              <a:rPr dirty="0" spc="-10"/>
              <a:t>Acquisition: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9003" y="2160460"/>
            <a:ext cx="4425315" cy="2719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latin typeface="Calibri"/>
                <a:cs typeface="Calibri"/>
              </a:rPr>
              <a:t>Learning</a:t>
            </a:r>
            <a:endParaRPr sz="5400">
              <a:latin typeface="Calibri"/>
              <a:cs typeface="Calibri"/>
            </a:endParaRPr>
          </a:p>
          <a:p>
            <a:pPr marL="189230" marR="5080">
              <a:lnSpc>
                <a:spcPct val="90100"/>
              </a:lnSpc>
              <a:spcBef>
                <a:spcPts val="3060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Learning</a:t>
            </a:r>
            <a:r>
              <a:rPr dirty="0" sz="3600" spc="-3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-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defined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as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 spc="-50">
                <a:latin typeface="Calibri"/>
                <a:cs typeface="Calibri"/>
              </a:rPr>
              <a:t>a </a:t>
            </a:r>
            <a:r>
              <a:rPr dirty="0" sz="3600">
                <a:latin typeface="Calibri"/>
                <a:cs typeface="Calibri"/>
              </a:rPr>
              <a:t>relatively</a:t>
            </a:r>
            <a:r>
              <a:rPr dirty="0" sz="3600" spc="-114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permanent change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78600" y="3316986"/>
            <a:ext cx="5154295" cy="291592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30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Motor</a:t>
            </a:r>
            <a:r>
              <a:rPr dirty="0" sz="3600" spc="-5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Learning</a:t>
            </a:r>
            <a:r>
              <a:rPr dirty="0" sz="3600" spc="-2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–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study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acquisition</a:t>
            </a:r>
            <a:r>
              <a:rPr dirty="0" sz="3600" spc="-8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and/or </a:t>
            </a:r>
            <a:r>
              <a:rPr dirty="0" sz="3600">
                <a:latin typeface="Calibri"/>
                <a:cs typeface="Calibri"/>
              </a:rPr>
              <a:t>modification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movement.</a:t>
            </a:r>
            <a:endParaRPr sz="3600">
              <a:latin typeface="Calibri"/>
              <a:cs typeface="Calibri"/>
            </a:endParaRPr>
          </a:p>
          <a:p>
            <a:pPr marL="12700" marR="147320">
              <a:lnSpc>
                <a:spcPct val="91300"/>
              </a:lnSpc>
              <a:spcBef>
                <a:spcPts val="1505"/>
              </a:spcBef>
            </a:pPr>
            <a:r>
              <a:rPr dirty="0" sz="2100" i="1">
                <a:latin typeface="Calibri"/>
                <a:cs typeface="Calibri"/>
              </a:rPr>
              <a:t>While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motor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control</a:t>
            </a:r>
            <a:r>
              <a:rPr dirty="0" sz="2100" spc="-6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focuses</a:t>
            </a:r>
            <a:r>
              <a:rPr dirty="0" sz="2100" spc="-3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on</a:t>
            </a:r>
            <a:r>
              <a:rPr dirty="0" sz="2100" spc="-5" i="1">
                <a:latin typeface="Calibri"/>
                <a:cs typeface="Calibri"/>
              </a:rPr>
              <a:t> </a:t>
            </a:r>
            <a:r>
              <a:rPr dirty="0" sz="2100" spc="-10" i="1">
                <a:latin typeface="Calibri"/>
                <a:cs typeface="Calibri"/>
              </a:rPr>
              <a:t>understanding </a:t>
            </a:r>
            <a:r>
              <a:rPr dirty="0" sz="2050" i="1">
                <a:latin typeface="Calibri"/>
                <a:cs typeface="Calibri"/>
              </a:rPr>
              <a:t>the</a:t>
            </a:r>
            <a:r>
              <a:rPr dirty="0" sz="2050" spc="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control</a:t>
            </a:r>
            <a:r>
              <a:rPr dirty="0" sz="2050" spc="5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of</a:t>
            </a:r>
            <a:r>
              <a:rPr dirty="0" sz="2050" spc="12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movement</a:t>
            </a:r>
            <a:r>
              <a:rPr dirty="0" sz="2050" spc="1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already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spc="-10" i="1">
                <a:latin typeface="Calibri"/>
                <a:cs typeface="Calibri"/>
              </a:rPr>
              <a:t>acquired, </a:t>
            </a:r>
            <a:r>
              <a:rPr dirty="0" sz="2100" i="1">
                <a:latin typeface="Calibri"/>
                <a:cs typeface="Calibri"/>
              </a:rPr>
              <a:t>motor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learning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focuses</a:t>
            </a:r>
            <a:r>
              <a:rPr dirty="0" sz="2100" spc="-3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on</a:t>
            </a:r>
            <a:r>
              <a:rPr dirty="0" sz="2100" spc="-10" i="1">
                <a:latin typeface="Calibri"/>
                <a:cs typeface="Calibri"/>
              </a:rPr>
              <a:t> understanding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spc="-25" i="1">
                <a:latin typeface="Calibri"/>
                <a:cs typeface="Calibri"/>
              </a:rPr>
              <a:t>the </a:t>
            </a:r>
            <a:r>
              <a:rPr dirty="0" sz="2100" i="1">
                <a:latin typeface="Calibri"/>
                <a:cs typeface="Calibri"/>
              </a:rPr>
              <a:t>acquisition</a:t>
            </a:r>
            <a:r>
              <a:rPr dirty="0" sz="2100" spc="-5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and/or</a:t>
            </a:r>
            <a:r>
              <a:rPr dirty="0" sz="2100" spc="-10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modification</a:t>
            </a:r>
            <a:r>
              <a:rPr dirty="0" sz="2100" spc="-5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of</a:t>
            </a:r>
            <a:r>
              <a:rPr dirty="0" sz="2100" spc="-100" i="1">
                <a:latin typeface="Calibri"/>
                <a:cs typeface="Calibri"/>
              </a:rPr>
              <a:t> </a:t>
            </a:r>
            <a:r>
              <a:rPr dirty="0" sz="2100" spc="-10" i="1">
                <a:latin typeface="Calibri"/>
                <a:cs typeface="Calibri"/>
              </a:rPr>
              <a:t>movement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5584" y="5394515"/>
            <a:ext cx="4926330" cy="205740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530"/>
              </a:spcBef>
            </a:pP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True</a:t>
            </a:r>
            <a:r>
              <a:rPr dirty="0" sz="3600" spc="-35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002387"/>
                </a:solidFill>
                <a:latin typeface="Calibri"/>
                <a:cs typeface="Calibri"/>
              </a:rPr>
              <a:t>learning</a:t>
            </a:r>
            <a:r>
              <a:rPr dirty="0" sz="3600" spc="-4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>
                <a:solidFill>
                  <a:srgbClr val="002387"/>
                </a:solidFill>
                <a:latin typeface="Calibri"/>
                <a:cs typeface="Calibri"/>
              </a:rPr>
              <a:t>-</a:t>
            </a:r>
            <a:r>
              <a:rPr dirty="0" sz="3600" spc="-65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measured </a:t>
            </a:r>
            <a:r>
              <a:rPr dirty="0" sz="3600">
                <a:latin typeface="Calibri"/>
                <a:cs typeface="Calibri"/>
              </a:rPr>
              <a:t>when</a:t>
            </a:r>
            <a:r>
              <a:rPr dirty="0" sz="3600" spc="-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you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stop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doing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the </a:t>
            </a:r>
            <a:r>
              <a:rPr dirty="0" sz="3600">
                <a:latin typeface="Calibri"/>
                <a:cs typeface="Calibri"/>
              </a:rPr>
              <a:t>activity,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you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go</a:t>
            </a:r>
            <a:r>
              <a:rPr dirty="0" sz="3600" spc="-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away,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and </a:t>
            </a:r>
            <a:r>
              <a:rPr dirty="0" sz="3600">
                <a:latin typeface="Calibri"/>
                <a:cs typeface="Calibri"/>
              </a:rPr>
              <a:t>you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come</a:t>
            </a:r>
            <a:r>
              <a:rPr dirty="0" sz="3600" spc="-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back</a:t>
            </a:r>
            <a:r>
              <a:rPr dirty="0" sz="3600" spc="20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(retained</a:t>
            </a:r>
            <a:r>
              <a:rPr dirty="0" sz="2050" spc="45" i="1">
                <a:latin typeface="Calibri"/>
                <a:cs typeface="Calibri"/>
              </a:rPr>
              <a:t> </a:t>
            </a:r>
            <a:r>
              <a:rPr dirty="0" sz="2050" spc="-10" i="1">
                <a:latin typeface="Calibri"/>
                <a:cs typeface="Calibri"/>
              </a:rPr>
              <a:t>learning)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521565" y="3317303"/>
            <a:ext cx="5311775" cy="14370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05"/>
              </a:spcBef>
            </a:pPr>
            <a:r>
              <a:rPr dirty="0" sz="3300" b="1">
                <a:solidFill>
                  <a:srgbClr val="002387"/>
                </a:solidFill>
                <a:latin typeface="Calibri"/>
                <a:cs typeface="Calibri"/>
              </a:rPr>
              <a:t>Performance</a:t>
            </a:r>
            <a:r>
              <a:rPr dirty="0" sz="3300" spc="-40" b="1">
                <a:solidFill>
                  <a:srgbClr val="002387"/>
                </a:solidFill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-</a:t>
            </a:r>
            <a:r>
              <a:rPr dirty="0" sz="3300" spc="-45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temporary </a:t>
            </a:r>
            <a:r>
              <a:rPr dirty="0" sz="3300">
                <a:latin typeface="Calibri"/>
                <a:cs typeface="Calibri"/>
              </a:rPr>
              <a:t>change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in</a:t>
            </a:r>
            <a:r>
              <a:rPr dirty="0" sz="3300" spc="-7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motor</a:t>
            </a:r>
            <a:r>
              <a:rPr dirty="0" sz="3300" spc="-6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behavior</a:t>
            </a:r>
            <a:r>
              <a:rPr dirty="0" sz="3300" spc="5">
                <a:latin typeface="Calibri"/>
                <a:cs typeface="Calibri"/>
              </a:rPr>
              <a:t> </a:t>
            </a:r>
            <a:r>
              <a:rPr dirty="0" sz="3300" spc="-20">
                <a:latin typeface="Calibri"/>
                <a:cs typeface="Calibri"/>
              </a:rPr>
              <a:t>seen </a:t>
            </a:r>
            <a:r>
              <a:rPr dirty="0" sz="3300">
                <a:latin typeface="Calibri"/>
                <a:cs typeface="Calibri"/>
              </a:rPr>
              <a:t>during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>
                <a:latin typeface="Calibri"/>
                <a:cs typeface="Calibri"/>
              </a:rPr>
              <a:t>practice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 spc="-10">
                <a:latin typeface="Calibri"/>
                <a:cs typeface="Calibri"/>
              </a:rPr>
              <a:t>sessions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7522" y="8116569"/>
            <a:ext cx="17673320" cy="20694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09880">
              <a:lnSpc>
                <a:spcPct val="101800"/>
              </a:lnSpc>
              <a:spcBef>
                <a:spcPts val="90"/>
              </a:spcBef>
            </a:pPr>
            <a:r>
              <a:rPr dirty="0" sz="2050" i="1">
                <a:latin typeface="Calibri"/>
                <a:cs typeface="Calibri"/>
              </a:rPr>
              <a:t>For</a:t>
            </a:r>
            <a:r>
              <a:rPr dirty="0" sz="2050" spc="10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example,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Mrs.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Jean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J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shows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an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improved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ability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to</a:t>
            </a:r>
            <a:r>
              <a:rPr dirty="0" sz="2050" spc="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stand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symmetrically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(with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weight</a:t>
            </a:r>
            <a:r>
              <a:rPr dirty="0" sz="2050" spc="5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evenly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distributed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to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both</a:t>
            </a:r>
            <a:r>
              <a:rPr dirty="0" sz="2050" spc="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legs)</a:t>
            </a:r>
            <a:r>
              <a:rPr dirty="0" sz="2050" spc="12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at</a:t>
            </a:r>
            <a:r>
              <a:rPr dirty="0" sz="2050" spc="50" i="1">
                <a:latin typeface="Calibri"/>
                <a:cs typeface="Calibri"/>
              </a:rPr>
              <a:t> </a:t>
            </a:r>
            <a:r>
              <a:rPr dirty="0" sz="2050" spc="90" i="1">
                <a:latin typeface="Calibri"/>
                <a:cs typeface="Calibri"/>
              </a:rPr>
              <a:t>the</a:t>
            </a:r>
            <a:r>
              <a:rPr dirty="0" sz="2050" spc="4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end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of</a:t>
            </a:r>
            <a:r>
              <a:rPr dirty="0" sz="2050" spc="12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her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daily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therapy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spc="-10" i="1">
                <a:latin typeface="Calibri"/>
                <a:cs typeface="Calibri"/>
              </a:rPr>
              <a:t>session,</a:t>
            </a:r>
            <a:r>
              <a:rPr dirty="0" sz="2050" spc="509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but</a:t>
            </a:r>
            <a:r>
              <a:rPr dirty="0" sz="2100" spc="-6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when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she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returns</a:t>
            </a:r>
            <a:r>
              <a:rPr dirty="0" sz="2100" spc="-3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to</a:t>
            </a:r>
            <a:r>
              <a:rPr dirty="0" sz="2100" spc="-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therapy</a:t>
            </a:r>
            <a:r>
              <a:rPr dirty="0" sz="2100" spc="-1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the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following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day,</a:t>
            </a:r>
            <a:r>
              <a:rPr dirty="0" sz="2100" spc="-3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she again</a:t>
            </a:r>
            <a:r>
              <a:rPr dirty="0" sz="2100" spc="-1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stands</a:t>
            </a:r>
            <a:r>
              <a:rPr dirty="0" sz="2100" spc="-3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with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all</a:t>
            </a:r>
            <a:r>
              <a:rPr dirty="0" sz="2100" spc="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her</a:t>
            </a:r>
            <a:r>
              <a:rPr dirty="0" sz="2100" spc="-1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weight</a:t>
            </a:r>
            <a:r>
              <a:rPr dirty="0" sz="2100" spc="1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on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her</a:t>
            </a:r>
            <a:r>
              <a:rPr dirty="0" sz="2100" spc="-10" i="1">
                <a:latin typeface="Calibri"/>
                <a:cs typeface="Calibri"/>
              </a:rPr>
              <a:t> noninvolved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leg.</a:t>
            </a:r>
            <a:r>
              <a:rPr dirty="0" sz="2100" spc="-3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This</a:t>
            </a:r>
            <a:r>
              <a:rPr dirty="0" sz="2100" spc="-3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suggests</a:t>
            </a:r>
            <a:r>
              <a:rPr dirty="0" sz="2100" spc="9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that</a:t>
            </a:r>
            <a:r>
              <a:rPr dirty="0" sz="2100" spc="-6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while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performance</a:t>
            </a:r>
            <a:r>
              <a:rPr dirty="0" sz="2100" spc="-70" i="1">
                <a:latin typeface="Calibri"/>
                <a:cs typeface="Calibri"/>
              </a:rPr>
              <a:t> </a:t>
            </a:r>
            <a:r>
              <a:rPr dirty="0" sz="2100" spc="-25" i="1">
                <a:latin typeface="Calibri"/>
                <a:cs typeface="Calibri"/>
              </a:rPr>
              <a:t>had </a:t>
            </a:r>
            <a:r>
              <a:rPr dirty="0" sz="2100" i="1">
                <a:latin typeface="Calibri"/>
                <a:cs typeface="Calibri"/>
              </a:rPr>
              <a:t>improved</a:t>
            </a:r>
            <a:r>
              <a:rPr dirty="0" sz="2100" spc="-8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in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response</a:t>
            </a:r>
            <a:r>
              <a:rPr dirty="0" sz="2100" spc="-8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to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therapy,</a:t>
            </a:r>
            <a:r>
              <a:rPr dirty="0" sz="2100" spc="-4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learning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had</a:t>
            </a:r>
            <a:r>
              <a:rPr dirty="0" sz="2100" spc="-8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not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yet</a:t>
            </a:r>
            <a:r>
              <a:rPr dirty="0" sz="2100" spc="-1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occurred.</a:t>
            </a:r>
            <a:r>
              <a:rPr dirty="0" sz="2100" spc="-4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When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on</a:t>
            </a:r>
            <a:r>
              <a:rPr dirty="0" sz="2100" spc="-8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subsequent</a:t>
            </a:r>
            <a:r>
              <a:rPr dirty="0" sz="2100" spc="-1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days</a:t>
            </a:r>
            <a:r>
              <a:rPr dirty="0" sz="2100" spc="-4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Mrs.</a:t>
            </a:r>
            <a:r>
              <a:rPr dirty="0" sz="2100" spc="-4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J</a:t>
            </a:r>
            <a:r>
              <a:rPr dirty="0" sz="2100" spc="-45" i="1">
                <a:latin typeface="Calibri"/>
                <a:cs typeface="Calibri"/>
              </a:rPr>
              <a:t> </a:t>
            </a:r>
            <a:r>
              <a:rPr dirty="0" sz="2100" spc="-10" i="1">
                <a:latin typeface="Calibri"/>
                <a:cs typeface="Calibri"/>
              </a:rPr>
              <a:t>demonstrates</a:t>
            </a:r>
            <a:r>
              <a:rPr dirty="0" sz="2100" spc="-4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a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more</a:t>
            </a:r>
            <a:r>
              <a:rPr dirty="0" sz="2100" spc="-75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symmetric</a:t>
            </a:r>
            <a:r>
              <a:rPr dirty="0" sz="2100" spc="120" i="1">
                <a:latin typeface="Calibri"/>
                <a:cs typeface="Calibri"/>
              </a:rPr>
              <a:t> </a:t>
            </a:r>
            <a:r>
              <a:rPr dirty="0" sz="2100" spc="-10" i="1">
                <a:latin typeface="Calibri"/>
                <a:cs typeface="Calibri"/>
              </a:rPr>
              <a:t>weight-</a:t>
            </a:r>
            <a:r>
              <a:rPr dirty="0" sz="2100" i="1">
                <a:latin typeface="Calibri"/>
                <a:cs typeface="Calibri"/>
              </a:rPr>
              <a:t>bearing</a:t>
            </a:r>
            <a:r>
              <a:rPr dirty="0" sz="2100" spc="-8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stance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i="1">
                <a:latin typeface="Calibri"/>
                <a:cs typeface="Calibri"/>
              </a:rPr>
              <a:t>even</a:t>
            </a:r>
            <a:r>
              <a:rPr dirty="0" sz="2100" spc="-20" i="1">
                <a:latin typeface="Calibri"/>
                <a:cs typeface="Calibri"/>
              </a:rPr>
              <a:t> </a:t>
            </a:r>
            <a:r>
              <a:rPr dirty="0" sz="2100" spc="-25" i="1">
                <a:latin typeface="Calibri"/>
                <a:cs typeface="Calibri"/>
              </a:rPr>
              <a:t>as </a:t>
            </a:r>
            <a:r>
              <a:rPr dirty="0" sz="2050" i="1">
                <a:latin typeface="Calibri"/>
                <a:cs typeface="Calibri"/>
              </a:rPr>
              <a:t>she</a:t>
            </a:r>
            <a:r>
              <a:rPr dirty="0" sz="2050" spc="11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arrives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for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therapy,</a:t>
            </a:r>
            <a:r>
              <a:rPr dirty="0" sz="2050" spc="9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we</a:t>
            </a:r>
            <a:r>
              <a:rPr dirty="0" sz="2050" spc="4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may</a:t>
            </a:r>
            <a:r>
              <a:rPr dirty="0" sz="2050" spc="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suggest</a:t>
            </a:r>
            <a:r>
              <a:rPr dirty="0" sz="2050" spc="1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that</a:t>
            </a:r>
            <a:r>
              <a:rPr dirty="0" sz="2050" spc="1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learning</a:t>
            </a:r>
            <a:r>
              <a:rPr dirty="0" sz="2050" spc="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(a</a:t>
            </a:r>
            <a:r>
              <a:rPr dirty="0" sz="2050" spc="114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permanent</a:t>
            </a:r>
            <a:r>
              <a:rPr dirty="0" sz="2050" spc="13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change</a:t>
            </a:r>
            <a:r>
              <a:rPr dirty="0" sz="2050" spc="4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in</a:t>
            </a:r>
            <a:r>
              <a:rPr dirty="0" sz="2050" spc="35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behavior)</a:t>
            </a:r>
            <a:r>
              <a:rPr dirty="0" sz="2050" spc="50" i="1">
                <a:latin typeface="Calibri"/>
                <a:cs typeface="Calibri"/>
              </a:rPr>
              <a:t> </a:t>
            </a:r>
            <a:r>
              <a:rPr dirty="0" sz="2050" i="1">
                <a:latin typeface="Calibri"/>
                <a:cs typeface="Calibri"/>
              </a:rPr>
              <a:t>is</a:t>
            </a:r>
            <a:r>
              <a:rPr dirty="0" sz="2050" spc="85" i="1">
                <a:latin typeface="Calibri"/>
                <a:cs typeface="Calibri"/>
              </a:rPr>
              <a:t> </a:t>
            </a:r>
            <a:r>
              <a:rPr dirty="0" sz="2050" spc="-10" i="1">
                <a:latin typeface="Calibri"/>
                <a:cs typeface="Calibri"/>
              </a:rPr>
              <a:t>occurring.</a:t>
            </a:r>
            <a:endParaRPr sz="2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1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2650">
                <a:latin typeface="Calibri"/>
                <a:cs typeface="Calibri"/>
              </a:rPr>
              <a:t>(Shumway-Cook,</a:t>
            </a:r>
            <a:r>
              <a:rPr dirty="0" sz="2650" spc="28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21-</a:t>
            </a:r>
            <a:r>
              <a:rPr dirty="0" sz="2650" spc="-25">
                <a:latin typeface="Calibri"/>
                <a:cs typeface="Calibri"/>
              </a:rPr>
              <a:t>22)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55926" y="4029836"/>
            <a:ext cx="2651125" cy="1047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700" spc="-10" i="1">
                <a:solidFill>
                  <a:srgbClr val="002387"/>
                </a:solidFill>
                <a:latin typeface="Calibri"/>
                <a:cs typeface="Calibri"/>
              </a:rPr>
              <a:t>Arousal</a:t>
            </a:r>
            <a:endParaRPr sz="67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9175" y="1386332"/>
            <a:ext cx="7748905" cy="1782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7625"/>
              </a:lnSpc>
              <a:spcBef>
                <a:spcPts val="125"/>
              </a:spcBef>
            </a:pPr>
            <a:r>
              <a:rPr dirty="0" sz="6600">
                <a:latin typeface="Calibri"/>
                <a:cs typeface="Calibri"/>
              </a:rPr>
              <a:t>Skill</a:t>
            </a:r>
            <a:r>
              <a:rPr dirty="0" sz="6600" spc="-55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Acquisition:</a:t>
            </a:r>
            <a:endParaRPr sz="6600">
              <a:latin typeface="Calibri"/>
              <a:cs typeface="Calibri"/>
            </a:endParaRPr>
          </a:p>
          <a:p>
            <a:pPr marL="12700">
              <a:lnSpc>
                <a:spcPts val="6180"/>
              </a:lnSpc>
            </a:pPr>
            <a:r>
              <a:rPr dirty="0" sz="5400">
                <a:latin typeface="Calibri"/>
                <a:cs typeface="Calibri"/>
              </a:rPr>
              <a:t>Factors</a:t>
            </a:r>
            <a:r>
              <a:rPr dirty="0" sz="5400" spc="-150">
                <a:latin typeface="Calibri"/>
                <a:cs typeface="Calibri"/>
              </a:rPr>
              <a:t> </a:t>
            </a:r>
            <a:r>
              <a:rPr dirty="0" sz="5400">
                <a:latin typeface="Calibri"/>
                <a:cs typeface="Calibri"/>
              </a:rPr>
              <a:t>that</a:t>
            </a:r>
            <a:r>
              <a:rPr dirty="0" sz="5400" spc="-100">
                <a:latin typeface="Calibri"/>
                <a:cs typeface="Calibri"/>
              </a:rPr>
              <a:t> </a:t>
            </a:r>
            <a:r>
              <a:rPr dirty="0" sz="5400">
                <a:latin typeface="Calibri"/>
                <a:cs typeface="Calibri"/>
              </a:rPr>
              <a:t>Affect</a:t>
            </a:r>
            <a:r>
              <a:rPr dirty="0" sz="5400" spc="-45">
                <a:latin typeface="Calibri"/>
                <a:cs typeface="Calibri"/>
              </a:rPr>
              <a:t> </a:t>
            </a:r>
            <a:r>
              <a:rPr dirty="0" sz="5400" spc="-10">
                <a:latin typeface="Calibri"/>
                <a:cs typeface="Calibri"/>
              </a:rPr>
              <a:t>Learning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85865" y="5527294"/>
            <a:ext cx="7131050" cy="3159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200" spc="-10" i="1">
                <a:solidFill>
                  <a:srgbClr val="6F2F9F"/>
                </a:solidFill>
                <a:latin typeface="Arial"/>
                <a:cs typeface="Arial"/>
              </a:rPr>
              <a:t>Attention</a:t>
            </a:r>
            <a:endParaRPr sz="7200">
              <a:latin typeface="Arial"/>
              <a:cs typeface="Arial"/>
            </a:endParaRPr>
          </a:p>
          <a:p>
            <a:pPr marL="3813810">
              <a:lnSpc>
                <a:spcPct val="100000"/>
              </a:lnSpc>
              <a:spcBef>
                <a:spcPts val="7389"/>
              </a:spcBef>
            </a:pPr>
            <a:r>
              <a:rPr dirty="0" sz="7200" spc="-10" i="1">
                <a:solidFill>
                  <a:srgbClr val="FFC000"/>
                </a:solidFill>
                <a:latin typeface="Arial"/>
                <a:cs typeface="Arial"/>
              </a:rPr>
              <a:t>Memory</a:t>
            </a:r>
            <a:endParaRPr sz="7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77243" y="3491611"/>
            <a:ext cx="4192270" cy="11239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200" spc="-10" i="1">
                <a:solidFill>
                  <a:srgbClr val="FF0000"/>
                </a:solidFill>
                <a:latin typeface="Arial"/>
                <a:cs typeface="Arial"/>
              </a:rPr>
              <a:t>Motivation</a:t>
            </a:r>
            <a:endParaRPr sz="7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75" y="1304035"/>
            <a:ext cx="13616940" cy="1941830"/>
          </a:xfrm>
          <a:prstGeom prst="rect"/>
        </p:spPr>
        <p:txBody>
          <a:bodyPr wrap="square" lIns="0" tIns="130175" rIns="0" bIns="0" rtlCol="0" vert="horz">
            <a:spAutoFit/>
          </a:bodyPr>
          <a:lstStyle/>
          <a:p>
            <a:pPr marL="12700" marR="5080">
              <a:lnSpc>
                <a:spcPts val="7130"/>
              </a:lnSpc>
              <a:spcBef>
                <a:spcPts val="1025"/>
              </a:spcBef>
            </a:pPr>
            <a:r>
              <a:rPr dirty="0"/>
              <a:t>Does</a:t>
            </a:r>
            <a:r>
              <a:rPr dirty="0" spc="-110"/>
              <a:t> </a:t>
            </a:r>
            <a:r>
              <a:rPr dirty="0"/>
              <a:t>attention</a:t>
            </a:r>
            <a:r>
              <a:rPr dirty="0" spc="-125"/>
              <a:t> </a:t>
            </a:r>
            <a:r>
              <a:rPr dirty="0"/>
              <a:t>affect</a:t>
            </a:r>
            <a:r>
              <a:rPr dirty="0" spc="-130"/>
              <a:t> </a:t>
            </a:r>
            <a:r>
              <a:rPr dirty="0"/>
              <a:t>Motor</a:t>
            </a:r>
            <a:r>
              <a:rPr dirty="0" spc="-100"/>
              <a:t> </a:t>
            </a:r>
            <a:r>
              <a:rPr dirty="0"/>
              <a:t>Learning</a:t>
            </a:r>
            <a:r>
              <a:rPr dirty="0" spc="-114"/>
              <a:t> </a:t>
            </a:r>
            <a:r>
              <a:rPr dirty="0" spc="-25"/>
              <a:t>vs </a:t>
            </a:r>
            <a:r>
              <a:rPr dirty="0"/>
              <a:t>Motor</a:t>
            </a:r>
            <a:r>
              <a:rPr dirty="0" spc="-200"/>
              <a:t> </a:t>
            </a:r>
            <a:r>
              <a:rPr dirty="0"/>
              <a:t>Performance?</a:t>
            </a:r>
            <a:r>
              <a:rPr dirty="0" spc="-165"/>
              <a:t> </a:t>
            </a:r>
            <a:r>
              <a:rPr dirty="0" spc="-25"/>
              <a:t>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976" y="3401034"/>
            <a:ext cx="11814047" cy="667409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299" y="449516"/>
            <a:ext cx="15649575" cy="7613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Improving</a:t>
            </a:r>
            <a:r>
              <a:rPr dirty="0" sz="4800" spc="-114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Neuromuscular</a:t>
            </a:r>
            <a:r>
              <a:rPr dirty="0" sz="4800" spc="-70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Control</a:t>
            </a:r>
            <a:r>
              <a:rPr dirty="0" sz="4800" spc="-105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using</a:t>
            </a:r>
            <a:r>
              <a:rPr dirty="0" sz="4800" spc="-90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Task</a:t>
            </a:r>
            <a:r>
              <a:rPr dirty="0" sz="4800" spc="-145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Specific</a:t>
            </a:r>
            <a:r>
              <a:rPr dirty="0" sz="4800" spc="-100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092C50"/>
                </a:solidFill>
                <a:latin typeface="Calibri"/>
                <a:cs typeface="Calibri"/>
              </a:rPr>
              <a:t>Practice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7783" y="1571688"/>
            <a:ext cx="13020040" cy="9442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125"/>
              </a:spcBef>
              <a:buClr>
                <a:srgbClr val="092C50"/>
              </a:buClr>
              <a:buFont typeface="Arial MT"/>
              <a:buChar char="•"/>
              <a:tabLst>
                <a:tab pos="526415" algn="l"/>
              </a:tabLst>
            </a:pPr>
            <a:r>
              <a:rPr dirty="0" sz="3000">
                <a:latin typeface="Calibri"/>
                <a:cs typeface="Calibri"/>
              </a:rPr>
              <a:t>Improving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performance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should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specific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what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should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achieved</a:t>
            </a:r>
            <a:endParaRPr sz="3000">
              <a:latin typeface="Calibri"/>
              <a:cs typeface="Calibri"/>
            </a:endParaRPr>
          </a:p>
          <a:p>
            <a:pPr marL="526415" indent="-513715">
              <a:lnSpc>
                <a:spcPct val="100000"/>
              </a:lnSpc>
              <a:spcBef>
                <a:spcPts val="5"/>
              </a:spcBef>
              <a:buClr>
                <a:srgbClr val="092C50"/>
              </a:buClr>
              <a:buFont typeface="Arial MT"/>
              <a:buChar char="•"/>
              <a:tabLst>
                <a:tab pos="526415" algn="l"/>
              </a:tabLst>
            </a:pPr>
            <a:r>
              <a:rPr dirty="0" sz="3000">
                <a:latin typeface="Calibri"/>
                <a:cs typeface="Calibri"/>
              </a:rPr>
              <a:t>Mechanisms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underlying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training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motor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control-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neuroplasticity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&amp;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motor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learning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406365" y="9826561"/>
            <a:ext cx="245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92C4F"/>
                </a:solidFill>
                <a:latin typeface="Calibri"/>
                <a:cs typeface="Calibri"/>
              </a:rPr>
              <a:t>19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94690" y="2865120"/>
          <a:ext cx="17056100" cy="6796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0545"/>
                <a:gridCol w="8796020"/>
              </a:tblGrid>
              <a:tr h="1041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2350" spc="204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Neuroplasticity</a:t>
                      </a:r>
                      <a:r>
                        <a:rPr dirty="0" sz="2350" spc="1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motor</a:t>
                      </a:r>
                      <a:r>
                        <a:rPr dirty="0" sz="2350" spc="114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2350" spc="1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programmes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0211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163445">
                        <a:lnSpc>
                          <a:spcPct val="102200"/>
                        </a:lnSpc>
                        <a:spcBef>
                          <a:spcPts val="195"/>
                        </a:spcBef>
                      </a:pP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Applying</a:t>
                      </a:r>
                      <a:r>
                        <a:rPr dirty="0" sz="2350" spc="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motor</a:t>
                      </a:r>
                      <a:r>
                        <a:rPr dirty="0" sz="2350" spc="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r>
                        <a:rPr dirty="0" sz="2350" spc="8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principles</a:t>
                      </a:r>
                      <a:r>
                        <a:rPr dirty="0" sz="2350" spc="1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7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motor</a:t>
                      </a:r>
                      <a:r>
                        <a:rPr dirty="0" sz="2350" spc="1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control programmes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0211A"/>
                    </a:solidFill>
                  </a:tcPr>
                </a:tc>
              </a:tr>
              <a:tr h="958850">
                <a:tc>
                  <a:txBody>
                    <a:bodyPr/>
                    <a:lstStyle/>
                    <a:p>
                      <a:pPr marL="90805" marR="2328545">
                        <a:lnSpc>
                          <a:spcPct val="102200"/>
                        </a:lnSpc>
                        <a:spcBef>
                          <a:spcPts val="20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Meaningful</a:t>
                      </a:r>
                      <a:r>
                        <a:rPr dirty="0" sz="235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activities</a:t>
                      </a:r>
                      <a:r>
                        <a:rPr dirty="0" sz="2350" spc="1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e.g.</a:t>
                      </a:r>
                      <a:r>
                        <a:rPr dirty="0" sz="23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sit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stand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get</a:t>
                      </a:r>
                      <a:r>
                        <a:rPr dirty="0" sz="23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toilet,</a:t>
                      </a:r>
                      <a:r>
                        <a:rPr dirty="0" sz="23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get food,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go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out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350" spc="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Intensity</a:t>
                      </a:r>
                      <a:r>
                        <a:rPr dirty="0" sz="2350" spc="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Practice:</a:t>
                      </a:r>
                      <a:r>
                        <a:rPr dirty="0" sz="2350" spc="1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within</a:t>
                      </a:r>
                      <a:r>
                        <a:rPr dirty="0" sz="23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outside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practice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9594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350" spc="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Intensity:</a:t>
                      </a:r>
                      <a:r>
                        <a:rPr dirty="0" sz="2350" spc="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23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23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times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3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week,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least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23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hours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23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day</a:t>
                      </a:r>
                      <a:endParaRPr sz="235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350" spc="-10">
                          <a:latin typeface="Calibri"/>
                          <a:cs typeface="Calibri"/>
                        </a:rPr>
                        <a:t>crucial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Feedback:</a:t>
                      </a:r>
                      <a:r>
                        <a:rPr dirty="0" sz="2350" spc="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intrinsic</a:t>
                      </a:r>
                      <a:r>
                        <a:rPr dirty="0" sz="23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extrinsic</a:t>
                      </a:r>
                      <a:r>
                        <a:rPr dirty="0" sz="23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feedback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958850">
                <a:tc>
                  <a:txBody>
                    <a:bodyPr/>
                    <a:lstStyle/>
                    <a:p>
                      <a:pPr marL="90805" marR="716280">
                        <a:lnSpc>
                          <a:spcPct val="102200"/>
                        </a:lnSpc>
                        <a:spcBef>
                          <a:spcPts val="22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350" spc="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repetition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3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300</a:t>
                      </a:r>
                      <a:r>
                        <a:rPr dirty="0" sz="23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reps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3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upper</a:t>
                      </a:r>
                      <a:r>
                        <a:rPr dirty="0" sz="23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limb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2000</a:t>
                      </a:r>
                      <a:r>
                        <a:rPr dirty="0" sz="23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steps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lower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0">
                          <a:latin typeface="Calibri"/>
                          <a:cs typeface="Calibri"/>
                        </a:rPr>
                        <a:t>limb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34695">
                        <a:lnSpc>
                          <a:spcPct val="102200"/>
                        </a:lnSpc>
                        <a:spcBef>
                          <a:spcPts val="22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Practice</a:t>
                      </a:r>
                      <a:r>
                        <a:rPr dirty="0" sz="2350" spc="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conditions:</a:t>
                      </a:r>
                      <a:r>
                        <a:rPr dirty="0" sz="2350" spc="1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modification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3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practice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elements</a:t>
                      </a:r>
                      <a:r>
                        <a:rPr dirty="0" sz="23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enable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task</a:t>
                      </a:r>
                      <a:r>
                        <a:rPr dirty="0" sz="23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23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performed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959485">
                <a:tc>
                  <a:txBody>
                    <a:bodyPr/>
                    <a:lstStyle/>
                    <a:p>
                      <a:pPr marL="90805" marR="1537970">
                        <a:lnSpc>
                          <a:spcPct val="102200"/>
                        </a:lnSpc>
                        <a:spcBef>
                          <a:spcPts val="235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Task</a:t>
                      </a:r>
                      <a:r>
                        <a:rPr dirty="0" sz="23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specificity:</a:t>
                      </a:r>
                      <a:r>
                        <a:rPr dirty="0" sz="2350" spc="1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acquisition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3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skills</a:t>
                      </a:r>
                      <a:r>
                        <a:rPr dirty="0" sz="23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required</a:t>
                      </a:r>
                      <a:r>
                        <a:rPr dirty="0" sz="23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25">
                          <a:latin typeface="Calibri"/>
                          <a:cs typeface="Calibri"/>
                        </a:rPr>
                        <a:t>not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anatomical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movements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65505">
                        <a:lnSpc>
                          <a:spcPct val="102200"/>
                        </a:lnSpc>
                        <a:spcBef>
                          <a:spcPts val="235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Focus</a:t>
                      </a:r>
                      <a:r>
                        <a:rPr dirty="0" sz="23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350" spc="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attention:</a:t>
                      </a:r>
                      <a:r>
                        <a:rPr dirty="0" sz="2350" spc="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paying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attention</a:t>
                      </a:r>
                      <a:r>
                        <a:rPr dirty="0" sz="23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interaction</a:t>
                      </a:r>
                      <a:r>
                        <a:rPr dirty="0" sz="23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23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objects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rather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movements</a:t>
                      </a:r>
                      <a:r>
                        <a:rPr dirty="0" sz="23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3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meaningful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958850">
                <a:tc>
                  <a:txBody>
                    <a:bodyPr/>
                    <a:lstStyle/>
                    <a:p>
                      <a:pPr marL="90805" marR="1244600">
                        <a:lnSpc>
                          <a:spcPct val="102200"/>
                        </a:lnSpc>
                        <a:spcBef>
                          <a:spcPts val="24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Challenge:</a:t>
                      </a:r>
                      <a:r>
                        <a:rPr dirty="0" sz="2350" spc="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task</a:t>
                      </a:r>
                      <a:r>
                        <a:rPr dirty="0" sz="23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must</a:t>
                      </a:r>
                      <a:r>
                        <a:rPr dirty="0" sz="23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involve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dual</a:t>
                      </a:r>
                      <a:r>
                        <a:rPr dirty="0" sz="23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tasking</a:t>
                      </a:r>
                      <a:r>
                        <a:rPr dirty="0" sz="2350" spc="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and/or</a:t>
                      </a:r>
                      <a:r>
                        <a:rPr dirty="0" sz="23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multi- tasking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Instructions:</a:t>
                      </a:r>
                      <a:r>
                        <a:rPr dirty="0" sz="2350" spc="1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modelling</a:t>
                      </a:r>
                      <a:r>
                        <a:rPr dirty="0" sz="23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23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verbal</a:t>
                      </a:r>
                      <a:r>
                        <a:rPr dirty="0" sz="23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instructions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</a:tr>
              <a:tr h="9594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350" b="1">
                          <a:latin typeface="Calibri"/>
                          <a:cs typeface="Calibri"/>
                        </a:rPr>
                        <a:t>Variation</a:t>
                      </a:r>
                      <a:r>
                        <a:rPr dirty="0" sz="2350" spc="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35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b="1">
                          <a:latin typeface="Calibri"/>
                          <a:cs typeface="Calibri"/>
                        </a:rPr>
                        <a:t>Timing:</a:t>
                      </a:r>
                      <a:r>
                        <a:rPr dirty="0" sz="2350" spc="10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arrange</a:t>
                      </a:r>
                      <a:r>
                        <a:rPr dirty="0" sz="23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task</a:t>
                      </a:r>
                      <a:r>
                        <a:rPr dirty="0" sz="23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3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start</a:t>
                      </a:r>
                      <a:r>
                        <a:rPr dirty="0" sz="23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23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various</a:t>
                      </a:r>
                      <a:endParaRPr sz="235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2350">
                          <a:latin typeface="Calibri"/>
                          <a:cs typeface="Calibri"/>
                        </a:rPr>
                        <a:t>starting</a:t>
                      </a:r>
                      <a:r>
                        <a:rPr dirty="0" sz="23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350" spc="-10">
                          <a:latin typeface="Calibri"/>
                          <a:cs typeface="Calibri"/>
                        </a:rPr>
                        <a:t>position</a:t>
                      </a:r>
                      <a:endParaRPr sz="235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250950" y="2820289"/>
          <a:ext cx="15862300" cy="610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86700"/>
                <a:gridCol w="7886700"/>
              </a:tblGrid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650" spc="-10">
                          <a:latin typeface="Arial MT"/>
                          <a:cs typeface="Arial MT"/>
                        </a:rPr>
                        <a:t>Hydrotherapy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dirty="0" sz="2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265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26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move</a:t>
                      </a:r>
                      <a:r>
                        <a:rPr dirty="0" sz="2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65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water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Gymnastic</a:t>
                      </a:r>
                      <a:r>
                        <a:rPr dirty="0" sz="26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20">
                          <a:latin typeface="Arial MT"/>
                          <a:cs typeface="Arial MT"/>
                        </a:rPr>
                        <a:t>balls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2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26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patient,</a:t>
                      </a:r>
                      <a:r>
                        <a:rPr dirty="0" sz="265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train</a:t>
                      </a:r>
                      <a:r>
                        <a:rPr dirty="0" sz="2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balance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Proprioceptive</a:t>
                      </a:r>
                      <a:r>
                        <a:rPr dirty="0" sz="2650" spc="1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Neuromuscular</a:t>
                      </a:r>
                      <a:r>
                        <a:rPr dirty="0" sz="265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Facilitation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Promote</a:t>
                      </a:r>
                      <a:r>
                        <a:rPr dirty="0" sz="2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muscle</a:t>
                      </a:r>
                      <a:r>
                        <a:rPr dirty="0" sz="265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contraction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Treadmill</a:t>
                      </a:r>
                      <a:r>
                        <a:rPr dirty="0" sz="265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training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Cardiorespiratory</a:t>
                      </a:r>
                      <a:r>
                        <a:rPr dirty="0" sz="26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6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repetitive</a:t>
                      </a:r>
                      <a:r>
                        <a:rPr dirty="0" sz="26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mobility</a:t>
                      </a:r>
                      <a:r>
                        <a:rPr dirty="0" sz="26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training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Balance</a:t>
                      </a:r>
                      <a:r>
                        <a:rPr dirty="0" sz="26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training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Improve</a:t>
                      </a:r>
                      <a:r>
                        <a:rPr dirty="0" sz="265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balance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Constrained</a:t>
                      </a:r>
                      <a:r>
                        <a:rPr dirty="0" sz="2650" spc="1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induced</a:t>
                      </a:r>
                      <a:r>
                        <a:rPr dirty="0" sz="26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movement</a:t>
                      </a:r>
                      <a:r>
                        <a:rPr dirty="0" sz="265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training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Forced</a:t>
                      </a:r>
                      <a:r>
                        <a:rPr dirty="0" sz="2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upper</a:t>
                      </a:r>
                      <a:r>
                        <a:rPr dirty="0" sz="2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limb</a:t>
                      </a:r>
                      <a:r>
                        <a:rPr dirty="0" sz="265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25">
                          <a:latin typeface="Arial MT"/>
                          <a:cs typeface="Arial MT"/>
                        </a:rPr>
                        <a:t>use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650" spc="-10">
                          <a:latin typeface="Arial MT"/>
                          <a:cs typeface="Arial MT"/>
                        </a:rPr>
                        <a:t>Cueing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Prompting</a:t>
                      </a:r>
                      <a:r>
                        <a:rPr dirty="0" sz="26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movement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50" spc="-20">
                          <a:latin typeface="Arial MT"/>
                          <a:cs typeface="Arial MT"/>
                        </a:rPr>
                        <a:t>TENS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Pain</a:t>
                      </a:r>
                      <a:r>
                        <a:rPr dirty="0" sz="2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Relief,</a:t>
                      </a:r>
                      <a:r>
                        <a:rPr dirty="0" sz="26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muscle</a:t>
                      </a:r>
                      <a:r>
                        <a:rPr dirty="0" sz="2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stimulation,</a:t>
                      </a:r>
                      <a:r>
                        <a:rPr dirty="0" sz="26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spasticity</a:t>
                      </a:r>
                      <a:r>
                        <a:rPr dirty="0" sz="265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relief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50" spc="-10">
                          <a:latin typeface="Arial MT"/>
                          <a:cs typeface="Arial MT"/>
                        </a:rPr>
                        <a:t>Neurodynamics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Promoting</a:t>
                      </a:r>
                      <a:r>
                        <a:rPr dirty="0" sz="265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neural</a:t>
                      </a:r>
                      <a:r>
                        <a:rPr dirty="0" sz="265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mobility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650" spc="-10">
                          <a:latin typeface="Arial MT"/>
                          <a:cs typeface="Arial MT"/>
                        </a:rPr>
                        <a:t>Orthoses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650">
                          <a:latin typeface="Arial MT"/>
                          <a:cs typeface="Arial MT"/>
                        </a:rPr>
                        <a:t>Promote</a:t>
                      </a:r>
                      <a:r>
                        <a:rPr dirty="0" sz="265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function</a:t>
                      </a:r>
                      <a:r>
                        <a:rPr dirty="0" sz="26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650" spc="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2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650" spc="-10">
                          <a:latin typeface="Arial MT"/>
                          <a:cs typeface="Arial MT"/>
                        </a:rPr>
                        <a:t>joints</a:t>
                      </a:r>
                      <a:endParaRPr sz="265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B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3686" y="1050861"/>
            <a:ext cx="4636135" cy="7613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00" b="1">
                <a:solidFill>
                  <a:srgbClr val="092C50"/>
                </a:solidFill>
                <a:latin typeface="Calibri"/>
                <a:cs typeface="Calibri"/>
              </a:rPr>
              <a:t>Other</a:t>
            </a:r>
            <a:r>
              <a:rPr dirty="0" sz="4800" spc="-100" b="1">
                <a:solidFill>
                  <a:srgbClr val="092C50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092C50"/>
                </a:solidFill>
                <a:latin typeface="Calibri"/>
                <a:cs typeface="Calibri"/>
              </a:rPr>
              <a:t>Approaches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373" y="1613408"/>
            <a:ext cx="1140333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Put</a:t>
            </a:r>
            <a:r>
              <a:rPr dirty="0" spc="-90"/>
              <a:t> </a:t>
            </a:r>
            <a:r>
              <a:rPr dirty="0"/>
              <a:t>Motor</a:t>
            </a:r>
            <a:r>
              <a:rPr dirty="0" spc="-100"/>
              <a:t> </a:t>
            </a:r>
            <a:r>
              <a:rPr dirty="0"/>
              <a:t>Learning</a:t>
            </a:r>
            <a:r>
              <a:rPr dirty="0" spc="-114"/>
              <a:t> </a:t>
            </a:r>
            <a:r>
              <a:rPr dirty="0"/>
              <a:t>Into</a:t>
            </a:r>
            <a:r>
              <a:rPr dirty="0" spc="-125"/>
              <a:t> </a:t>
            </a:r>
            <a:r>
              <a:rPr dirty="0" spc="-10"/>
              <a:t>Practice!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07482" y="2712275"/>
            <a:ext cx="7276465" cy="138049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3600">
                <a:latin typeface="Calibri"/>
                <a:cs typeface="Calibri"/>
              </a:rPr>
              <a:t>Let’s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practice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teaching</a:t>
            </a:r>
            <a:r>
              <a:rPr dirty="0" sz="3600" spc="-9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someone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-6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skill!</a:t>
            </a: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15"/>
              </a:spcBef>
            </a:pPr>
            <a:r>
              <a:rPr dirty="0" sz="3600">
                <a:latin typeface="Calibri"/>
                <a:cs typeface="Calibri"/>
              </a:rPr>
              <a:t>...</a:t>
            </a:r>
            <a:r>
              <a:rPr dirty="0" sz="3600" spc="-3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Like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learning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juggle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4388459"/>
            <a:ext cx="10058400" cy="56775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4016" y="1910778"/>
            <a:ext cx="13459967" cy="75609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3530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8373" y="1613408"/>
            <a:ext cx="3822700" cy="10356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References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995551" y="3285172"/>
            <a:ext cx="14356715" cy="551243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55600" marR="779145" indent="-343535">
              <a:lnSpc>
                <a:spcPct val="102200"/>
              </a:lnSpc>
              <a:spcBef>
                <a:spcPts val="65"/>
              </a:spcBef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Shumway-Cook,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A.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Woollacott,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M.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H.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(2023)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Motor</a:t>
            </a:r>
            <a:r>
              <a:rPr dirty="0" sz="2350" spc="6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Control:</a:t>
            </a:r>
            <a:r>
              <a:rPr dirty="0" sz="2350" spc="6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Translating</a:t>
            </a:r>
            <a:r>
              <a:rPr dirty="0" sz="2350" spc="12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Research</a:t>
            </a:r>
            <a:r>
              <a:rPr dirty="0" sz="2350" spc="12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into</a:t>
            </a:r>
            <a:r>
              <a:rPr dirty="0" sz="2350" spc="120" i="1">
                <a:latin typeface="Arial"/>
                <a:cs typeface="Arial"/>
              </a:rPr>
              <a:t> </a:t>
            </a:r>
            <a:r>
              <a:rPr dirty="0" sz="2350" spc="-10" i="1">
                <a:latin typeface="Arial"/>
                <a:cs typeface="Arial"/>
              </a:rPr>
              <a:t>Clinical </a:t>
            </a:r>
            <a:r>
              <a:rPr dirty="0" sz="2350" i="1">
                <a:latin typeface="Arial"/>
                <a:cs typeface="Arial"/>
              </a:rPr>
              <a:t>Practice</a:t>
            </a:r>
            <a:r>
              <a:rPr dirty="0" sz="2350">
                <a:latin typeface="Arial MT"/>
                <a:cs typeface="Arial MT"/>
              </a:rPr>
              <a:t>.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6th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edn.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Philadelphia: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Wolters</a:t>
            </a:r>
            <a:r>
              <a:rPr dirty="0" sz="2350" spc="114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Kluwer.</a:t>
            </a:r>
            <a:endParaRPr sz="2350">
              <a:latin typeface="Arial MT"/>
              <a:cs typeface="Arial MT"/>
            </a:endParaRPr>
          </a:p>
          <a:p>
            <a:pPr marL="355600" marR="5080" indent="-343535">
              <a:lnSpc>
                <a:spcPct val="102200"/>
              </a:lnSpc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Amirbekova,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A.,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et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al.</a:t>
            </a:r>
            <a:r>
              <a:rPr dirty="0" sz="2350" spc="1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(2025)</a:t>
            </a:r>
            <a:r>
              <a:rPr dirty="0" sz="2350" spc="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'Neuroplasticity-based</a:t>
            </a:r>
            <a:r>
              <a:rPr dirty="0" sz="2350" spc="1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physiotherapy</a:t>
            </a:r>
            <a:r>
              <a:rPr dirty="0" sz="2350" spc="1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approaches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stroke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rehabilitation: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 spc="-50">
                <a:latin typeface="Arial MT"/>
                <a:cs typeface="Arial MT"/>
              </a:rPr>
              <a:t>a </a:t>
            </a:r>
            <a:r>
              <a:rPr dirty="0" sz="2350">
                <a:latin typeface="Arial MT"/>
                <a:cs typeface="Arial MT"/>
              </a:rPr>
              <a:t>systematic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review',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Journal</a:t>
            </a:r>
            <a:r>
              <a:rPr dirty="0" sz="2350" spc="12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of</a:t>
            </a:r>
            <a:r>
              <a:rPr dirty="0" sz="2350" spc="14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Neurorehabilitation</a:t>
            </a:r>
            <a:r>
              <a:rPr dirty="0" sz="2350" spc="4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and</a:t>
            </a:r>
            <a:r>
              <a:rPr dirty="0" sz="2350" spc="12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Neural</a:t>
            </a:r>
            <a:r>
              <a:rPr dirty="0" sz="2350" spc="12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Repair</a:t>
            </a:r>
            <a:r>
              <a:rPr dirty="0" sz="2350">
                <a:latin typeface="Arial MT"/>
                <a:cs typeface="Arial MT"/>
              </a:rPr>
              <a:t>,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39(8),</a:t>
            </a:r>
            <a:r>
              <a:rPr dirty="0" sz="2350" spc="1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pp.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612-</a:t>
            </a:r>
            <a:r>
              <a:rPr dirty="0" sz="2350" spc="-20">
                <a:latin typeface="Arial MT"/>
                <a:cs typeface="Arial MT"/>
              </a:rPr>
              <a:t>628.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350">
                <a:latin typeface="Arial MT"/>
                <a:cs typeface="Arial MT"/>
              </a:rPr>
              <a:t>Additional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Places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to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Look:</a:t>
            </a:r>
            <a:endParaRPr sz="2350">
              <a:latin typeface="Arial MT"/>
              <a:cs typeface="Arial MT"/>
            </a:endParaRPr>
          </a:p>
          <a:p>
            <a:pPr marL="355600" marR="554990" indent="-343535">
              <a:lnSpc>
                <a:spcPts val="288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Schoenmaker,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N.,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et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al.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(2024)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'OPTIMAL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motor</a:t>
            </a:r>
            <a:r>
              <a:rPr dirty="0" sz="2350" spc="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teaching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strategies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employed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physiotherapy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for </a:t>
            </a:r>
            <a:r>
              <a:rPr dirty="0" sz="2350">
                <a:latin typeface="Arial MT"/>
                <a:cs typeface="Arial MT"/>
              </a:rPr>
              <a:t>children</a:t>
            </a:r>
            <a:r>
              <a:rPr dirty="0" sz="2350" spc="1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with</a:t>
            </a:r>
            <a:r>
              <a:rPr dirty="0" sz="2350" spc="1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developmental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coordination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disorder:</a:t>
            </a:r>
            <a:r>
              <a:rPr dirty="0" sz="2350" spc="8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</a:t>
            </a:r>
            <a:r>
              <a:rPr dirty="0" sz="2350" spc="1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observational</a:t>
            </a:r>
            <a:r>
              <a:rPr dirty="0" sz="2350" spc="1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study',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Physical</a:t>
            </a:r>
            <a:r>
              <a:rPr dirty="0" sz="2350" spc="14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&amp;</a:t>
            </a:r>
            <a:r>
              <a:rPr dirty="0" sz="2350" spc="85" i="1">
                <a:latin typeface="Arial"/>
                <a:cs typeface="Arial"/>
              </a:rPr>
              <a:t> </a:t>
            </a:r>
            <a:r>
              <a:rPr dirty="0" sz="2350" spc="-10" i="1">
                <a:latin typeface="Arial"/>
                <a:cs typeface="Arial"/>
              </a:rPr>
              <a:t>Occupational </a:t>
            </a:r>
            <a:r>
              <a:rPr dirty="0" sz="2350" i="1">
                <a:latin typeface="Arial"/>
                <a:cs typeface="Arial"/>
              </a:rPr>
              <a:t>Therapy</a:t>
            </a:r>
            <a:r>
              <a:rPr dirty="0" sz="2350" spc="9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In</a:t>
            </a:r>
            <a:r>
              <a:rPr dirty="0" sz="2350" spc="114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Pediatrics</a:t>
            </a:r>
            <a:r>
              <a:rPr dirty="0" sz="2350">
                <a:latin typeface="Arial MT"/>
                <a:cs typeface="Arial MT"/>
              </a:rPr>
              <a:t>,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44(2),</a:t>
            </a:r>
            <a:r>
              <a:rPr dirty="0" sz="2350" spc="1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pp.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145-</a:t>
            </a:r>
            <a:r>
              <a:rPr dirty="0" sz="2350" spc="-20">
                <a:latin typeface="Arial MT"/>
                <a:cs typeface="Arial MT"/>
              </a:rPr>
              <a:t>162.</a:t>
            </a:r>
            <a:endParaRPr sz="2350">
              <a:latin typeface="Arial MT"/>
              <a:cs typeface="Arial MT"/>
            </a:endParaRPr>
          </a:p>
          <a:p>
            <a:pPr marL="355600" indent="-342900">
              <a:lnSpc>
                <a:spcPts val="2780"/>
              </a:lnSpc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Subramanian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Durairaj,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S.,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Sardesai,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S.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Solomon,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J.M.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(2025)</a:t>
            </a:r>
            <a:r>
              <a:rPr dirty="0" sz="2350" spc="1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'Motor</a:t>
            </a:r>
            <a:r>
              <a:rPr dirty="0" sz="2350" spc="1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learning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principles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reported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in</a:t>
            </a:r>
            <a:endParaRPr sz="23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dirty="0" sz="2350">
                <a:latin typeface="Arial MT"/>
                <a:cs typeface="Arial MT"/>
              </a:rPr>
              <a:t>stroke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trials</a:t>
            </a:r>
            <a:r>
              <a:rPr dirty="0" sz="2350" spc="8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of</a:t>
            </a:r>
            <a:r>
              <a:rPr dirty="0" sz="2350" spc="10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upper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limb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task-oriented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training:</a:t>
            </a:r>
            <a:r>
              <a:rPr dirty="0" sz="2350" spc="10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</a:t>
            </a:r>
            <a:r>
              <a:rPr dirty="0" sz="2350" spc="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scoping</a:t>
            </a:r>
            <a:r>
              <a:rPr dirty="0" sz="2350" spc="9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review',</a:t>
            </a:r>
            <a:r>
              <a:rPr dirty="0" sz="2350" spc="114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BMJ</a:t>
            </a:r>
            <a:r>
              <a:rPr dirty="0" sz="2350" spc="8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Open</a:t>
            </a:r>
            <a:r>
              <a:rPr dirty="0" sz="2350">
                <a:latin typeface="Arial MT"/>
                <a:cs typeface="Arial MT"/>
              </a:rPr>
              <a:t>,</a:t>
            </a:r>
            <a:r>
              <a:rPr dirty="0" sz="2350" spc="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15(11),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e12625.</a:t>
            </a:r>
            <a:endParaRPr sz="23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Wulf,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G.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Lewthwaite,</a:t>
            </a:r>
            <a:r>
              <a:rPr dirty="0" sz="2350" spc="1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R.</a:t>
            </a:r>
            <a:r>
              <a:rPr dirty="0" sz="2350" spc="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(2025)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Motor</a:t>
            </a:r>
            <a:r>
              <a:rPr dirty="0" sz="2350" spc="6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Learning</a:t>
            </a:r>
            <a:r>
              <a:rPr dirty="0" sz="2350" spc="10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and</a:t>
            </a:r>
            <a:r>
              <a:rPr dirty="0" sz="2350" spc="11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Performance:</a:t>
            </a:r>
            <a:r>
              <a:rPr dirty="0" sz="2350" spc="4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A</a:t>
            </a:r>
            <a:r>
              <a:rPr dirty="0" sz="2350" spc="60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Situational</a:t>
            </a:r>
            <a:r>
              <a:rPr dirty="0" sz="2350" spc="114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and</a:t>
            </a:r>
            <a:r>
              <a:rPr dirty="0" sz="2350" spc="30" i="1">
                <a:latin typeface="Arial"/>
                <a:cs typeface="Arial"/>
              </a:rPr>
              <a:t> </a:t>
            </a:r>
            <a:r>
              <a:rPr dirty="0" sz="2350" spc="-10" i="1">
                <a:latin typeface="Arial"/>
                <a:cs typeface="Arial"/>
              </a:rPr>
              <a:t>Evidence-</a:t>
            </a:r>
            <a:endParaRPr sz="235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dirty="0" sz="2350" i="1">
                <a:latin typeface="Arial"/>
                <a:cs typeface="Arial"/>
              </a:rPr>
              <a:t>Based</a:t>
            </a:r>
            <a:r>
              <a:rPr dirty="0" sz="2350" spc="9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Approach</a:t>
            </a:r>
            <a:r>
              <a:rPr dirty="0" sz="2350">
                <a:latin typeface="Arial MT"/>
                <a:cs typeface="Arial MT"/>
              </a:rPr>
              <a:t>.</a:t>
            </a:r>
            <a:r>
              <a:rPr dirty="0" sz="2350" spc="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7th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edn.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Champaign,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IL:</a:t>
            </a:r>
            <a:r>
              <a:rPr dirty="0" sz="2350" spc="114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Human</a:t>
            </a:r>
            <a:r>
              <a:rPr dirty="0" sz="2350" spc="11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Kinetics.</a:t>
            </a:r>
            <a:endParaRPr sz="2350">
              <a:latin typeface="Arial MT"/>
              <a:cs typeface="Arial MT"/>
            </a:endParaRPr>
          </a:p>
          <a:p>
            <a:pPr marL="355600" marR="211454" indent="-343535">
              <a:lnSpc>
                <a:spcPct val="102200"/>
              </a:lnSpc>
              <a:buChar char="•"/>
              <a:tabLst>
                <a:tab pos="355600" algn="l"/>
              </a:tabLst>
            </a:pPr>
            <a:r>
              <a:rPr dirty="0" sz="2350">
                <a:latin typeface="Arial MT"/>
                <a:cs typeface="Arial MT"/>
              </a:rPr>
              <a:t>Zhang,</a:t>
            </a:r>
            <a:r>
              <a:rPr dirty="0" sz="2350" spc="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L.,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et</a:t>
            </a:r>
            <a:r>
              <a:rPr dirty="0" sz="2350" spc="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al.</a:t>
            </a:r>
            <a:r>
              <a:rPr dirty="0" sz="2350" spc="12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(2025)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'Effectiveness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of</a:t>
            </a:r>
            <a:r>
              <a:rPr dirty="0" sz="2350" spc="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motor</a:t>
            </a:r>
            <a:r>
              <a:rPr dirty="0" sz="2350" spc="1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relearning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program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sit-to-stand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transfer</a:t>
            </a:r>
            <a:r>
              <a:rPr dirty="0" sz="2350" spc="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10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activities </a:t>
            </a:r>
            <a:r>
              <a:rPr dirty="0" sz="2350">
                <a:latin typeface="Arial MT"/>
                <a:cs typeface="Arial MT"/>
              </a:rPr>
              <a:t>of</a:t>
            </a:r>
            <a:r>
              <a:rPr dirty="0" sz="2350" spc="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daily</a:t>
            </a:r>
            <a:r>
              <a:rPr dirty="0" sz="2350" spc="13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living</a:t>
            </a:r>
            <a:r>
              <a:rPr dirty="0" sz="2350" spc="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among</a:t>
            </a:r>
            <a:r>
              <a:rPr dirty="0" sz="2350" spc="14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chronic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stroke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patients',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 i="1">
                <a:latin typeface="Arial"/>
                <a:cs typeface="Arial"/>
              </a:rPr>
              <a:t>Clinical</a:t>
            </a:r>
            <a:r>
              <a:rPr dirty="0" sz="2350" spc="135" i="1">
                <a:latin typeface="Arial"/>
                <a:cs typeface="Arial"/>
              </a:rPr>
              <a:t> </a:t>
            </a:r>
            <a:r>
              <a:rPr dirty="0" sz="2350" i="1">
                <a:latin typeface="Arial"/>
                <a:cs typeface="Arial"/>
              </a:rPr>
              <a:t>Rehabilitation</a:t>
            </a:r>
            <a:r>
              <a:rPr dirty="0" sz="2350">
                <a:latin typeface="Arial MT"/>
                <a:cs typeface="Arial MT"/>
              </a:rPr>
              <a:t>,</a:t>
            </a:r>
            <a:r>
              <a:rPr dirty="0" sz="2350" spc="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39(12),</a:t>
            </a:r>
            <a:r>
              <a:rPr dirty="0" sz="2350" spc="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pp.</a:t>
            </a:r>
            <a:r>
              <a:rPr dirty="0" sz="2350" spc="15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1580-</a:t>
            </a:r>
            <a:r>
              <a:rPr dirty="0" sz="2350" spc="-10">
                <a:latin typeface="Arial MT"/>
                <a:cs typeface="Arial MT"/>
              </a:rPr>
              <a:t>1594.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Simon Cox</dc:creator>
  <dc:title>PowerPoint Presentation</dc:title>
  <dcterms:created xsi:type="dcterms:W3CDTF">2026-03-03T10:26:10Z</dcterms:created>
  <dcterms:modified xsi:type="dcterms:W3CDTF">2026-03-03T10:26:10Z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LastSaved">
    <vt:filetime>2026-03-03T00:00:00Z</vt:filetime>
  </property>
</Properties>
</file>