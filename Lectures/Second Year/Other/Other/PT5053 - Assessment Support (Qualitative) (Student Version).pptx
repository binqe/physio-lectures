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4"/>
  </p:notesMasterIdLst>
  <p:sldIdLst>
    <p:sldId id="259" r:id="rId5"/>
    <p:sldId id="268" r:id="rId6"/>
    <p:sldId id="263" r:id="rId7"/>
    <p:sldId id="269" r:id="rId8"/>
    <p:sldId id="270" r:id="rId9"/>
    <p:sldId id="266" r:id="rId10"/>
    <p:sldId id="290" r:id="rId11"/>
    <p:sldId id="289" r:id="rId12"/>
    <p:sldId id="291" r:id="rId13"/>
    <p:sldId id="292" r:id="rId14"/>
    <p:sldId id="293" r:id="rId15"/>
    <p:sldId id="294" r:id="rId16"/>
    <p:sldId id="374" r:id="rId17"/>
    <p:sldId id="260" r:id="rId18"/>
    <p:sldId id="373" r:id="rId19"/>
    <p:sldId id="283" r:id="rId20"/>
    <p:sldId id="371" r:id="rId21"/>
    <p:sldId id="295" r:id="rId22"/>
    <p:sldId id="372" r:id="rId23"/>
  </p:sldIdLst>
  <p:sldSz cx="18288000" cy="102885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5" roundtripDataSignature="AMtx7mimwRJaRJd2/VfACUYZjFW7z4f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7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erry" userId="c97aa09d-86c0-4043-b3ef-c0cd62ed5e25" providerId="ADAL" clId="{451BDB55-6D41-4C39-AAA2-C5AEE21F393C}"/>
    <pc:docChg chg="custSel modSld">
      <pc:chgData name="Laura Perry" userId="c97aa09d-86c0-4043-b3ef-c0cd62ed5e25" providerId="ADAL" clId="{451BDB55-6D41-4C39-AAA2-C5AEE21F393C}" dt="2026-04-23T15:39:55.598" v="0" actId="478"/>
      <pc:docMkLst>
        <pc:docMk/>
      </pc:docMkLst>
      <pc:sldChg chg="delSp mod">
        <pc:chgData name="Laura Perry" userId="c97aa09d-86c0-4043-b3ef-c0cd62ed5e25" providerId="ADAL" clId="{451BDB55-6D41-4C39-AAA2-C5AEE21F393C}" dt="2026-04-23T15:39:55.598" v="0" actId="478"/>
        <pc:sldMkLst>
          <pc:docMk/>
          <pc:sldMk cId="3767615290" sldId="269"/>
        </pc:sldMkLst>
        <pc:picChg chg="del">
          <ac:chgData name="Laura Perry" userId="c97aa09d-86c0-4043-b3ef-c0cd62ed5e25" providerId="ADAL" clId="{451BDB55-6D41-4C39-AAA2-C5AEE21F393C}" dt="2026-04-23T15:39:55.598" v="0" actId="478"/>
          <ac:picMkLst>
            <pc:docMk/>
            <pc:sldMk cId="3767615290" sldId="269"/>
            <ac:picMk id="7" creationId="{30050CDE-D693-8615-4F0A-46F311B0E03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3T13:33:32.3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0,'325'16,"-69"5,337-16,-298-8,2975 3,-3235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3T14:17:26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0,'325'16,"-69"5,337-16,-298-8,2975 3,-3235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5706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4967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Structured Assignment Sections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The PT5053 template divides assignments into clear sections with suggested word counts for structured completion.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Alignment With Marking Scheme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Following the template ensures alignment with the marking criteria, improving organization and academic clarity.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Common Errors to Avoid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Avoid errors like misplaced content, overly descriptive writing, missing references, and insufficient critique.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 dirty="0"/>
              <a:t>Maintaining Concise Content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dirty="0"/>
              <a:t>Focus on concise, focused writing within each section to prevent overlap and maintain clarity in the assignment.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6010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2606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169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 2">
  <p:cSld name="13_Title slide 2">
    <p:bg>
      <p:bgPr>
        <a:solidFill>
          <a:srgbClr val="FFE2C3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2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 2">
  <p:cSld name="15_Title slide 2">
    <p:bg>
      <p:bgPr>
        <a:solidFill>
          <a:srgbClr val="FEF2BE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2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slide 2">
  <p:cSld name="16_Title slide 2">
    <p:bg>
      <p:bgPr>
        <a:solidFill>
          <a:srgbClr val="231F2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2" cy="97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 2">
  <p:cSld name="17_Title slide 2">
    <p:bg>
      <p:bgPr>
        <a:solidFill>
          <a:srgbClr val="002D6D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2" cy="9753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1813631" y="9091222"/>
            <a:ext cx="2233756" cy="33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@LondonMetUni</a:t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860850" y="8773109"/>
            <a:ext cx="2160240" cy="27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londonmet.ac.uk</a:t>
            </a:r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959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3005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983" y="9177674"/>
            <a:ext cx="270832" cy="27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basic white">
  <p:cSld name="2_Content basic white">
    <p:bg>
      <p:bgPr>
        <a:solidFill>
          <a:srgbClr val="FFE2C3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bf01359d15_0_42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bf01359d15_0_42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16385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4pPr>
            <a:lvl5pPr marL="228600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5pPr>
            <a:lvl6pPr marL="274320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6pPr>
            <a:lvl7pPr marL="320040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7pPr>
            <a:lvl8pPr marL="365760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8pPr>
            <a:lvl9pPr marL="411480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9pPr>
          </a:lstStyle>
          <a:p>
            <a:endParaRPr/>
          </a:p>
        </p:txBody>
      </p:sp>
      <p:pic>
        <p:nvPicPr>
          <p:cNvPr id="71" name="Google Shape;71;gbf01359d15_0_42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 basic white">
  <p:cSld name="4_Content basic white">
    <p:bg>
      <p:bgPr>
        <a:solidFill>
          <a:srgbClr val="FEF2BE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f01359d15_0_46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bf01359d15_0_46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16385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4pPr>
            <a:lvl5pPr marL="228600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5pPr>
            <a:lvl6pPr marL="274320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6pPr>
            <a:lvl7pPr marL="320040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7pPr>
            <a:lvl8pPr marL="365760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8pPr>
            <a:lvl9pPr marL="411480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9pPr>
          </a:lstStyle>
          <a:p>
            <a:endParaRPr/>
          </a:p>
        </p:txBody>
      </p:sp>
      <p:pic>
        <p:nvPicPr>
          <p:cNvPr id="75" name="Google Shape;75;gbf01359d15_0_46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 basic white">
  <p:cSld name="7_Content basic white">
    <p:bg>
      <p:bgPr>
        <a:solidFill>
          <a:srgbClr val="002D6D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bf01359d15_0_54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bf01359d15_0_54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16385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4pPr>
            <a:lvl5pPr marL="228600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5pPr>
            <a:lvl6pPr marL="274320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6pPr>
            <a:lvl7pPr marL="320040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7pPr>
            <a:lvl8pPr marL="365760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8pPr>
            <a:lvl9pPr marL="411480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9pPr>
          </a:lstStyle>
          <a:p>
            <a:endParaRPr/>
          </a:p>
        </p:txBody>
      </p:sp>
      <p:pic>
        <p:nvPicPr>
          <p:cNvPr id="83" name="Google Shape;83;gbf01359d15_0_54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3" cy="9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picture white">
  <p:cSld name="1_Content picture white">
    <p:bg>
      <p:bgPr>
        <a:solidFill>
          <a:srgbClr val="B6D3F0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f01359d15_0_83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gbf01359d15_0_83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gbf01359d15_0_83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8" name="Google Shape;88;gbf01359d15_0_83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picture white">
  <p:cSld name="2_Content picture white">
    <p:bg>
      <p:bgPr>
        <a:solidFill>
          <a:srgbClr val="FFE2C3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f01359d15_0_88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gbf01359d15_0_88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gbf01359d15_0_88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3" name="Google Shape;93;gbf01359d15_0_88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 picture white">
  <p:cSld name="4_Content picture white">
    <p:bg>
      <p:bgPr>
        <a:solidFill>
          <a:srgbClr val="FEF2BE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bf01359d15_0_93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gbf01359d15_0_93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gbf01359d15_0_93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8" name="Google Shape;98;gbf01359d15_0_93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picture white">
  <p:cSld name="5_Content picture white">
    <p:bg>
      <p:bgPr>
        <a:solidFill>
          <a:srgbClr val="231F2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bf01359d15_0_98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gbf01359d15_0_98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gbf01359d15_0_98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gbf01359d15_0_98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3" cy="9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picture white">
  <p:cSld name="6_Content picture white">
    <p:bg>
      <p:bgPr>
        <a:solidFill>
          <a:srgbClr val="002D6D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bf01359d15_0_103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gbf01359d15_0_103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gbf01359d15_0_103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8" name="Google Shape;108;gbf01359d15_0_103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3" cy="9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d white">
  <p:cSld name="2_End white">
    <p:bg>
      <p:bgPr>
        <a:solidFill>
          <a:srgbClr val="FFE2C3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bf01359d15_0_156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bf01359d15_0_156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gbf01359d15_0_156"/>
          <p:cNvSpPr txBox="1"/>
          <p:nvPr/>
        </p:nvSpPr>
        <p:spPr>
          <a:xfrm>
            <a:off x="1813631" y="9091222"/>
            <a:ext cx="22338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@LondonMetUni</a:t>
            </a:r>
            <a:endParaRPr/>
          </a:p>
        </p:txBody>
      </p:sp>
      <p:sp>
        <p:nvSpPr>
          <p:cNvPr id="121" name="Google Shape;121;gbf01359d15_0_156"/>
          <p:cNvSpPr txBox="1"/>
          <p:nvPr/>
        </p:nvSpPr>
        <p:spPr>
          <a:xfrm>
            <a:off x="860850" y="8773109"/>
            <a:ext cx="2160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londonmet.ac.uk</a:t>
            </a:r>
            <a:endParaRPr/>
          </a:p>
        </p:txBody>
      </p:sp>
      <p:pic>
        <p:nvPicPr>
          <p:cNvPr id="122" name="Google Shape;122;gbf01359d15_0_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959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bf01359d15_0_1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3005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bf01359d15_0_1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983" y="9177674"/>
            <a:ext cx="270833" cy="27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End white">
  <p:cSld name="4_End white">
    <p:bg>
      <p:bgPr>
        <a:solidFill>
          <a:srgbClr val="FEF2BE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bf01359d15_0_164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bf01359d15_0_164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End white">
  <p:cSld name="5_End white">
    <p:bg>
      <p:bgPr>
        <a:solidFill>
          <a:srgbClr val="231F2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bf01359d15_0_172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bf01359d15_0_172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End white">
  <p:cSld name="6_End white">
    <p:bg>
      <p:bgPr>
        <a:solidFill>
          <a:srgbClr val="002D6D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bf01359d15_0_180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bf01359d15_0_180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257300" y="547773"/>
            <a:ext cx="15773400" cy="198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257300" y="2738860"/>
            <a:ext cx="15773400" cy="652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257300" y="9535998"/>
            <a:ext cx="4114800" cy="5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6057900" y="9535998"/>
            <a:ext cx="6172200" cy="5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2915900" y="9535998"/>
            <a:ext cx="4114800" cy="5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6" r:id="rId13"/>
    <p:sldLayoutId id="2147483667" r:id="rId14"/>
    <p:sldLayoutId id="2147483668" r:id="rId15"/>
    <p:sldLayoutId id="2147483669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8841-2BE7-133C-4205-4C585995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Support (Qualitative)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557D9-2D91-6FCB-C0ED-22627A1A5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Laura Perry</a:t>
            </a:r>
          </a:p>
        </p:txBody>
      </p:sp>
    </p:spTree>
    <p:extLst>
      <p:ext uri="{BB962C8B-B14F-4D97-AF65-F5344CB8AC3E}">
        <p14:creationId xmlns:p14="http://schemas.microsoft.com/office/powerpoint/2010/main" val="65007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ADE1-64E4-C0A1-8B18-ACD14A75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the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F61EE-0C76-860B-667F-D4B379AAB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parts: </a:t>
            </a:r>
          </a:p>
          <a:p>
            <a:endParaRPr lang="en-GB" dirty="0"/>
          </a:p>
          <a:p>
            <a:pPr marL="742950" indent="-514350">
              <a:buAutoNum type="arabicParenR"/>
            </a:pPr>
            <a:r>
              <a:rPr lang="en-GB" dirty="0"/>
              <a:t>Taught section: Go through the requirements of the assessment</a:t>
            </a:r>
          </a:p>
          <a:p>
            <a:pPr marL="742950" indent="-514350">
              <a:buAutoNum type="arabicParenR"/>
            </a:pPr>
            <a:endParaRPr lang="en-GB" dirty="0"/>
          </a:p>
          <a:p>
            <a:pPr marL="742950" indent="-514350">
              <a:buAutoNum type="arabicParenR"/>
            </a:pPr>
            <a:r>
              <a:rPr lang="en-GB" dirty="0"/>
              <a:t>Independent Work and 1-to-1 Support: Time to work on the assessment and receive 1-to-1 support from the AM. </a:t>
            </a:r>
          </a:p>
        </p:txBody>
      </p:sp>
    </p:spTree>
    <p:extLst>
      <p:ext uri="{BB962C8B-B14F-4D97-AF65-F5344CB8AC3E}">
        <p14:creationId xmlns:p14="http://schemas.microsoft.com/office/powerpoint/2010/main" val="151292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4BDC-BEEC-838C-32C3-ECD21B41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9AE6E-DE66-AD7C-8020-69AE8C7A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Description: </a:t>
            </a:r>
            <a:r>
              <a:rPr lang="en-GB" dirty="0"/>
              <a:t>750-word template on the critical appraisal of a research article using qualitative  research methodology.</a:t>
            </a:r>
          </a:p>
          <a:p>
            <a:endParaRPr lang="en-GB" dirty="0"/>
          </a:p>
          <a:p>
            <a:r>
              <a:rPr lang="en-GB" b="1" dirty="0"/>
              <a:t>Weighting: </a:t>
            </a:r>
            <a:r>
              <a:rPr lang="en-GB" dirty="0"/>
              <a:t>50%</a:t>
            </a:r>
          </a:p>
          <a:p>
            <a:endParaRPr lang="en-GB" dirty="0"/>
          </a:p>
          <a:p>
            <a:r>
              <a:rPr lang="en-GB" b="1" dirty="0"/>
              <a:t>Deadline: </a:t>
            </a:r>
            <a:r>
              <a:rPr lang="en-GB" dirty="0"/>
              <a:t>​Friday 8</a:t>
            </a:r>
            <a:r>
              <a:rPr lang="en-GB" baseline="30000" dirty="0"/>
              <a:t>th</a:t>
            </a:r>
            <a:r>
              <a:rPr lang="en-GB" dirty="0"/>
              <a:t> May 2026 at 3pm </a:t>
            </a:r>
          </a:p>
        </p:txBody>
      </p:sp>
    </p:spTree>
    <p:extLst>
      <p:ext uri="{BB962C8B-B14F-4D97-AF65-F5344CB8AC3E}">
        <p14:creationId xmlns:p14="http://schemas.microsoft.com/office/powerpoint/2010/main" val="421676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ED44-0BE2-03DB-8B90-FC4F8F27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Mentimeter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761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586C-C258-397B-6982-AE3F74CF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20BBE-E52A-BD6B-CA1A-D6A00DF38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" y="3391217"/>
            <a:ext cx="14489547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8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D619-41AA-9667-5A5B-70DC9904E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90B09-FEF9-E379-BA97-DF6FC5FEB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1:</a:t>
            </a:r>
            <a:r>
              <a:rPr lang="en-GB" dirty="0"/>
              <a:t> Pick your article if you haven’t already (Qualitative Study 1 </a:t>
            </a:r>
            <a:r>
              <a:rPr lang="en-GB" b="1" u="sng" dirty="0"/>
              <a:t>OR</a:t>
            </a:r>
            <a:r>
              <a:rPr lang="en-GB" b="1" dirty="0"/>
              <a:t> </a:t>
            </a:r>
            <a:r>
              <a:rPr lang="en-GB" dirty="0"/>
              <a:t>Qualitative Study 2)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79A8F-96A8-3748-974C-73D042A25AE2}"/>
              </a:ext>
            </a:extLst>
          </p:cNvPr>
          <p:cNvSpPr txBox="1"/>
          <p:nvPr/>
        </p:nvSpPr>
        <p:spPr>
          <a:xfrm>
            <a:off x="9144000" y="5749273"/>
            <a:ext cx="1268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2DC43-2538-4AC6-3096-5A881D9B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005" y="5107744"/>
            <a:ext cx="7454928" cy="2279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18B2A-B9DF-AD4F-6707-B44F26C10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4456" y="5034437"/>
            <a:ext cx="631595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0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1A21-5772-CA8A-A43F-1316A64D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B0AB-8DB7-EE3D-9254-CB30E42B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A5D10-2647-50E6-4265-CD16C2C77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2: </a:t>
            </a:r>
            <a:r>
              <a:rPr lang="en-GB" dirty="0"/>
              <a:t>Complete the </a:t>
            </a:r>
            <a:r>
              <a:rPr lang="en-GB" b="1" dirty="0"/>
              <a:t>CASP (for Qualitative Research) </a:t>
            </a:r>
            <a:r>
              <a:rPr lang="en-GB" dirty="0"/>
              <a:t>for your chosen Qualitative Study (Qualitative Study 1 </a:t>
            </a:r>
            <a:r>
              <a:rPr lang="en-GB" b="1" u="sng" dirty="0"/>
              <a:t>OR</a:t>
            </a:r>
            <a:r>
              <a:rPr lang="en-GB" dirty="0"/>
              <a:t> Qualitative Study 2)</a:t>
            </a:r>
          </a:p>
          <a:p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99AA30-D870-B3F0-843A-4F7615F6488A}"/>
              </a:ext>
            </a:extLst>
          </p:cNvPr>
          <p:cNvGrpSpPr/>
          <p:nvPr/>
        </p:nvGrpSpPr>
        <p:grpSpPr>
          <a:xfrm>
            <a:off x="6033398" y="4416470"/>
            <a:ext cx="5376131" cy="5542299"/>
            <a:chOff x="6047045" y="4648482"/>
            <a:chExt cx="5376131" cy="55422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08CCB7-D67A-9D10-A87A-BCC7A9405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849"/>
            <a:stretch>
              <a:fillRect/>
            </a:stretch>
          </p:blipFill>
          <p:spPr>
            <a:xfrm>
              <a:off x="6047045" y="4648482"/>
              <a:ext cx="5376131" cy="554229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6305C3-6099-1680-1316-CC6DE80D2212}"/>
                    </a:ext>
                  </a:extLst>
                </p14:cNvPr>
                <p14:cNvContentPartPr/>
                <p14:nvPr/>
              </p14:nvContentPartPr>
              <p14:xfrm>
                <a:off x="7901839" y="7478731"/>
                <a:ext cx="1719000" cy="1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6305C3-6099-1680-1316-CC6DE80D221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47839" y="7370731"/>
                  <a:ext cx="1826640" cy="23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366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E10C-A701-4C5B-182C-6A95623C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AB7CC-1927-31AD-912C-6D8464BF4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9600" y="3404181"/>
            <a:ext cx="5903463" cy="6249900"/>
          </a:xfrm>
        </p:spPr>
        <p:txBody>
          <a:bodyPr/>
          <a:lstStyle/>
          <a:p>
            <a:r>
              <a:rPr lang="en-GB" b="1" dirty="0"/>
              <a:t>Step 3:</a:t>
            </a:r>
            <a:r>
              <a:rPr lang="en-GB" dirty="0"/>
              <a:t> Download and complete the ‘</a:t>
            </a:r>
            <a:r>
              <a:rPr lang="en-GB" b="1" dirty="0"/>
              <a:t>Template STUDENT PT5053.docx’ </a:t>
            </a:r>
            <a:r>
              <a:rPr lang="en-GB" dirty="0"/>
              <a:t>based on your chosen </a:t>
            </a:r>
            <a:r>
              <a:rPr lang="en-GB" b="1" dirty="0"/>
              <a:t>Qualitative Study</a:t>
            </a:r>
            <a:r>
              <a:rPr lang="en-GB" dirty="0"/>
              <a:t> and the </a:t>
            </a:r>
            <a:r>
              <a:rPr lang="en-GB" b="1" dirty="0"/>
              <a:t>CASP</a:t>
            </a:r>
            <a:r>
              <a:rPr lang="en-GB" dirty="0"/>
              <a:t> you have completed.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CC4F0-D0CB-E06E-0590-9843B97A9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318" y="433037"/>
            <a:ext cx="8049904" cy="94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07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873A-308A-A664-65DC-D954A7E0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ECE1-18E5-929E-B081-2D1C7FA6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9D5D6-6CEE-C4C5-56DE-04718EA79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9600" y="3404181"/>
            <a:ext cx="9970496" cy="6249900"/>
          </a:xfrm>
        </p:spPr>
        <p:txBody>
          <a:bodyPr/>
          <a:lstStyle/>
          <a:p>
            <a:r>
              <a:rPr lang="en-GB" b="1" dirty="0"/>
              <a:t>Step 4: </a:t>
            </a:r>
            <a:r>
              <a:rPr lang="en-GB" dirty="0"/>
              <a:t>Add your completed CASP (Qualitative Research) as an appendix to your </a:t>
            </a:r>
            <a:r>
              <a:rPr lang="en-GB" b="1" dirty="0"/>
              <a:t>Template STUDENT PT5053.docx</a:t>
            </a:r>
          </a:p>
          <a:p>
            <a:endParaRPr lang="en-GB" b="1" dirty="0"/>
          </a:p>
          <a:p>
            <a:pPr marL="228600" indent="0"/>
            <a:r>
              <a:rPr lang="en-GB" dirty="0"/>
              <a:t>Key Points for Appendices: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Appendices should appear after the reference list.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Appendices should be referred to within the main text (e.g., ‘</a:t>
            </a:r>
            <a:r>
              <a:rPr lang="en-GB" i="1" dirty="0"/>
              <a:t>See Appendix A for the completed CASP for Qualitative Research</a:t>
            </a:r>
            <a:r>
              <a:rPr lang="en-GB" dirty="0"/>
              <a:t>’)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Each appendix should be labelled with a letter in alphabetical order (Appendix A, Appendix B, etc.).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Each appendix should have a clear title describing its contents. 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70CDC1-CD54-F83A-7BC8-22E45F10B9C9}"/>
              </a:ext>
            </a:extLst>
          </p:cNvPr>
          <p:cNvGrpSpPr/>
          <p:nvPr/>
        </p:nvGrpSpPr>
        <p:grpSpPr>
          <a:xfrm>
            <a:off x="12312125" y="3051693"/>
            <a:ext cx="5376131" cy="5542299"/>
            <a:chOff x="6047045" y="4648482"/>
            <a:chExt cx="5376131" cy="554229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DEB3F6B-068F-C656-513C-292A7475C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849"/>
            <a:stretch>
              <a:fillRect/>
            </a:stretch>
          </p:blipFill>
          <p:spPr>
            <a:xfrm>
              <a:off x="6047045" y="4648482"/>
              <a:ext cx="5376131" cy="554229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C6CD5F-E2E5-5DD0-A58C-3EA09B32C43D}"/>
                    </a:ext>
                  </a:extLst>
                </p14:cNvPr>
                <p14:cNvContentPartPr/>
                <p14:nvPr/>
              </p14:nvContentPartPr>
              <p14:xfrm>
                <a:off x="7901839" y="7478731"/>
                <a:ext cx="1719000" cy="15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C6CD5F-E2E5-5DD0-A58C-3EA09B32C4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47839" y="7370731"/>
                  <a:ext cx="1826640" cy="23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1491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5479-2CF6-60A7-D2C6-7B5C7827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BCDF-F28D-D589-7017-023ADB0B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8D951-EC5B-B70F-9633-7B49851DC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5: </a:t>
            </a:r>
            <a:r>
              <a:rPr lang="en-GB" dirty="0"/>
              <a:t>Ensure you adhere to the submission method and requirements: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38FD2F-C7B3-4D91-2D24-F2F335832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63" y="4535661"/>
            <a:ext cx="13761569" cy="347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8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FB54-6590-2694-6688-C62431C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3030-5DD1-374C-D162-946EC4EC8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information on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How to create a title page/cover sheet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How to save as a pdf</a:t>
            </a:r>
          </a:p>
          <a:p>
            <a:pPr marL="228600" indent="0"/>
            <a:r>
              <a:rPr lang="en-GB" dirty="0"/>
              <a:t>Please refer to the previous assessment support PowerPoint</a:t>
            </a:r>
          </a:p>
          <a:p>
            <a:pPr marL="228600" indent="0"/>
            <a:endParaRPr lang="en-GB" dirty="0"/>
          </a:p>
          <a:p>
            <a:pPr marL="228600" indent="0"/>
            <a:r>
              <a:rPr lang="en-GB" dirty="0"/>
              <a:t>You must ensure that your work falls within the required word count of 750 words ±10% (i.e., 675–825 words).</a:t>
            </a:r>
          </a:p>
          <a:p>
            <a:pPr marL="228600" indent="0"/>
            <a:endParaRPr lang="en-GB" dirty="0"/>
          </a:p>
          <a:p>
            <a:pPr marL="228600" indent="0"/>
            <a:r>
              <a:rPr lang="en-GB" dirty="0"/>
              <a:t>Submit to </a:t>
            </a:r>
            <a:r>
              <a:rPr lang="en-GB" dirty="0" err="1"/>
              <a:t>Weblearn</a:t>
            </a:r>
            <a:r>
              <a:rPr lang="en-GB" dirty="0"/>
              <a:t> before </a:t>
            </a:r>
            <a:r>
              <a:rPr lang="en-GB" b="1" dirty="0"/>
              <a:t>Friday 8</a:t>
            </a:r>
            <a:r>
              <a:rPr lang="en-GB" b="1" baseline="30000" dirty="0"/>
              <a:t>th</a:t>
            </a:r>
            <a:r>
              <a:rPr lang="en-GB" b="1" dirty="0"/>
              <a:t> May 2026 at 3pm </a:t>
            </a:r>
          </a:p>
        </p:txBody>
      </p:sp>
    </p:spTree>
    <p:extLst>
      <p:ext uri="{BB962C8B-B14F-4D97-AF65-F5344CB8AC3E}">
        <p14:creationId xmlns:p14="http://schemas.microsoft.com/office/powerpoint/2010/main" val="142929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3B42-9556-7134-C318-A0AE74D8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Marking Scheme – Group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FA9819-2873-30D1-32D0-413E8D699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" y="2867481"/>
            <a:ext cx="4629120" cy="6989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B2DFD5-B0BE-A78E-82BC-6EB0F0EF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52" y="3560749"/>
            <a:ext cx="5153696" cy="44268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C58AF1-E724-1159-7B1C-199128C6AF9B}"/>
              </a:ext>
            </a:extLst>
          </p:cNvPr>
          <p:cNvSpPr/>
          <p:nvPr/>
        </p:nvSpPr>
        <p:spPr>
          <a:xfrm>
            <a:off x="6929129" y="9081981"/>
            <a:ext cx="11039872" cy="105507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Task – Download/open the template to complete/improve/take notes</a:t>
            </a:r>
          </a:p>
        </p:txBody>
      </p:sp>
    </p:spTree>
    <p:extLst>
      <p:ext uri="{BB962C8B-B14F-4D97-AF65-F5344CB8AC3E}">
        <p14:creationId xmlns:p14="http://schemas.microsoft.com/office/powerpoint/2010/main" val="128514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100A-7E6B-071C-76E9-DA17CD4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Marking Rubric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E29BE2-DD15-CA07-BE75-83597BAD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95" y="3282211"/>
            <a:ext cx="1196507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13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289B-F7C0-0CDD-D88A-573A9E47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Declaration (Show on </a:t>
            </a:r>
            <a:r>
              <a:rPr lang="en-GB" dirty="0" err="1"/>
              <a:t>Weblearn</a:t>
            </a:r>
            <a:r>
              <a:rPr lang="en-GB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9F869-E68B-E67A-1757-1856C4620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Appropriate and inappropriate use are detailed on </a:t>
            </a:r>
            <a:r>
              <a:rPr lang="en-GB" dirty="0" err="1"/>
              <a:t>Weblearn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3931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4231-62BA-6F08-FFCA-DF18A0DF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010E-3EEA-B087-DAD0-6DABC8618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/>
              <a:t>Be </a:t>
            </a:r>
            <a:r>
              <a:rPr lang="en-GB" b="1" u="sng"/>
              <a:t>critical</a:t>
            </a:r>
            <a:r>
              <a:rPr lang="en-GB"/>
              <a:t>, not descriptive </a:t>
            </a:r>
          </a:p>
          <a:p>
            <a:pPr marL="6858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/>
              <a:t>Be </a:t>
            </a:r>
            <a:r>
              <a:rPr lang="en-GB" b="1" u="sng"/>
              <a:t>concise </a:t>
            </a:r>
          </a:p>
          <a:p>
            <a:pPr marL="6858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/>
              <a:t>Ensure all content is placed in the </a:t>
            </a:r>
            <a:r>
              <a:rPr lang="en-GB" b="1" u="sng"/>
              <a:t>correct section of the template</a:t>
            </a:r>
            <a:r>
              <a:rPr lang="en-GB"/>
              <a:t>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351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B0A4-29A8-7308-B0AD-9D697851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800" y="4557148"/>
            <a:ext cx="16594000" cy="1988700"/>
          </a:xfrm>
        </p:spPr>
        <p:txBody>
          <a:bodyPr/>
          <a:lstStyle/>
          <a:p>
            <a:r>
              <a:rPr lang="en-GB" dirty="0"/>
              <a:t>Any Questions on Part 1?</a:t>
            </a:r>
            <a:br>
              <a:rPr lang="en-GB" dirty="0"/>
            </a:br>
            <a:br>
              <a:rPr lang="en-GB" dirty="0"/>
            </a:br>
            <a:endParaRPr lang="en-GB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B3D35-0276-3081-E1F8-25919DF48E4D}"/>
              </a:ext>
            </a:extLst>
          </p:cNvPr>
          <p:cNvSpPr/>
          <p:nvPr/>
        </p:nvSpPr>
        <p:spPr>
          <a:xfrm>
            <a:off x="10699845" y="0"/>
            <a:ext cx="7588155" cy="10160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/>
              <a:t>Deadline: Friday 8</a:t>
            </a:r>
            <a:r>
              <a:rPr lang="en-GB" sz="3000" baseline="30000" dirty="0"/>
              <a:t>th</a:t>
            </a:r>
            <a:r>
              <a:rPr lang="en-GB" sz="3000" dirty="0"/>
              <a:t> May 2026 at 3pm </a:t>
            </a:r>
          </a:p>
        </p:txBody>
      </p:sp>
    </p:spTree>
    <p:extLst>
      <p:ext uri="{BB962C8B-B14F-4D97-AF65-F5344CB8AC3E}">
        <p14:creationId xmlns:p14="http://schemas.microsoft.com/office/powerpoint/2010/main" val="229984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671F-B9CA-EE0D-0730-CC9F88A1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(10-15 minutes)</a:t>
            </a:r>
          </a:p>
        </p:txBody>
      </p:sp>
      <p:pic>
        <p:nvPicPr>
          <p:cNvPr id="5" name="Graphic 4" descr="Coffee with solid fill">
            <a:extLst>
              <a:ext uri="{FF2B5EF4-FFF2-40B4-BE49-F238E27FC236}">
                <a16:creationId xmlns:a16="http://schemas.microsoft.com/office/drawing/2014/main" id="{0E48585D-A315-9EFA-FAB1-05A0E1C432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7593" y="2867481"/>
            <a:ext cx="6749713" cy="67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06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DB31-1C41-81BF-D134-559ADE83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37" y="4510157"/>
            <a:ext cx="16320325" cy="1268273"/>
          </a:xfrm>
        </p:spPr>
        <p:txBody>
          <a:bodyPr>
            <a:normAutofit fontScale="90000"/>
          </a:bodyPr>
          <a:lstStyle/>
          <a:p>
            <a:r>
              <a:rPr lang="en-GB" dirty="0"/>
              <a:t>Part 2: Independent Work and 1-to-1 Support</a:t>
            </a:r>
          </a:p>
        </p:txBody>
      </p:sp>
    </p:spTree>
    <p:extLst>
      <p:ext uri="{BB962C8B-B14F-4D97-AF65-F5344CB8AC3E}">
        <p14:creationId xmlns:p14="http://schemas.microsoft.com/office/powerpoint/2010/main" val="1648167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CB9B-DFC3-C801-E0BB-3D3AF38C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Reminder: Drop In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7FAEB-268F-11C8-BB67-D21A6E78A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will be running a drop‑in session on:</a:t>
            </a:r>
          </a:p>
          <a:p>
            <a:endParaRPr lang="en-GB" dirty="0"/>
          </a:p>
          <a:p>
            <a:r>
              <a:rPr lang="en-GB" dirty="0"/>
              <a:t>📅 </a:t>
            </a:r>
            <a:r>
              <a:rPr lang="en-GB" b="1" dirty="0"/>
              <a:t>Thursday 30th April</a:t>
            </a:r>
            <a:endParaRPr lang="en-GB" dirty="0"/>
          </a:p>
          <a:p>
            <a:r>
              <a:rPr lang="en-GB" dirty="0"/>
              <a:t>⏰ </a:t>
            </a:r>
            <a:r>
              <a:rPr lang="en-GB" b="1" dirty="0"/>
              <a:t>11:00–13:00</a:t>
            </a:r>
            <a:endParaRPr lang="en-GB" dirty="0"/>
          </a:p>
          <a:p>
            <a:r>
              <a:rPr lang="en-GB" dirty="0"/>
              <a:t>📍 </a:t>
            </a:r>
            <a:r>
              <a:rPr lang="en-GB" b="1" dirty="0"/>
              <a:t>T11‑06 (11</a:t>
            </a:r>
            <a:r>
              <a:rPr lang="en-GB" b="1" baseline="30000" dirty="0"/>
              <a:t>th</a:t>
            </a:r>
            <a:r>
              <a:rPr lang="en-GB" b="1" dirty="0"/>
              <a:t> floor of the Tower building)</a:t>
            </a:r>
            <a:endParaRPr lang="en-GB" dirty="0"/>
          </a:p>
          <a:p>
            <a:endParaRPr lang="en-GB" dirty="0"/>
          </a:p>
          <a:p>
            <a:r>
              <a:rPr lang="en-GB" dirty="0"/>
              <a:t>This is another opportunity to get support with your first assessment. Please bring any drafts or questions you have.</a:t>
            </a:r>
          </a:p>
          <a:p>
            <a:endParaRPr lang="en-GB" dirty="0"/>
          </a:p>
          <a:p>
            <a:r>
              <a:rPr lang="en-GB" dirty="0"/>
              <a:t>The drop‑in will operate on a first‑come, first‑served basis. Attendance at the drop-in session is optional.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033979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1c86e41-dfe7-46dd-aa4d-f0c9b3b86952" xsi:nil="true"/>
    <lcf76f155ced4ddcb4097134ff3c332f xmlns="91817445-c990-44b4-af72-93953127e286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01E95706DD8245B78E920FEF6029AF" ma:contentTypeVersion="15" ma:contentTypeDescription="Create a new document." ma:contentTypeScope="" ma:versionID="9f4305f4ed2adc52873dbbe7e42b6418">
  <xsd:schema xmlns:xsd="http://www.w3.org/2001/XMLSchema" xmlns:xs="http://www.w3.org/2001/XMLSchema" xmlns:p="http://schemas.microsoft.com/office/2006/metadata/properties" xmlns:ns1="http://schemas.microsoft.com/sharepoint/v3" xmlns:ns2="71c86e41-dfe7-46dd-aa4d-f0c9b3b86952" xmlns:ns3="91817445-c990-44b4-af72-93953127e286" targetNamespace="http://schemas.microsoft.com/office/2006/metadata/properties" ma:root="true" ma:fieldsID="4dfbb0db9918a672cccd001533289eaa" ns1:_="" ns2:_="" ns3:_="">
    <xsd:import namespace="http://schemas.microsoft.com/sharepoint/v3"/>
    <xsd:import namespace="71c86e41-dfe7-46dd-aa4d-f0c9b3b86952"/>
    <xsd:import namespace="91817445-c990-44b4-af72-93953127e28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86e41-dfe7-46dd-aa4d-f0c9b3b8695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52f2569-3cfa-479b-9f0e-1394dc9ea803}" ma:internalName="TaxCatchAll" ma:showField="CatchAllData" ma:web="71c86e41-dfe7-46dd-aa4d-f0c9b3b869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17445-c990-44b4-af72-93953127e2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157f23b-4936-4da1-b1a0-d7d41e84e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C173-2B71-41B5-9483-719BBCA9ADE6}">
  <ds:schemaRefs>
    <ds:schemaRef ds:uri="71c86e41-dfe7-46dd-aa4d-f0c9b3b86952"/>
    <ds:schemaRef ds:uri="f6cce60e-0239-4036-a625-2ff3321e23ba"/>
    <ds:schemaRef ds:uri="http://schemas.microsoft.com/office/2006/metadata/properties"/>
    <ds:schemaRef ds:uri="http://schemas.microsoft.com/office/infopath/2007/PartnerControls"/>
    <ds:schemaRef ds:uri="91817445-c990-44b4-af72-93953127e286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8D77775-E9A3-40A9-8FAB-32D6730D6B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FF09DB-3175-43C2-B972-DE59103DF2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c86e41-dfe7-46dd-aa4d-f0c9b3b86952"/>
    <ds:schemaRef ds:uri="91817445-c990-44b4-af72-93953127e2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Custom</PresentationFormat>
  <Paragraphs>83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Title slide</vt:lpstr>
      <vt:lpstr>Assessment Support (Qualitative)</vt:lpstr>
      <vt:lpstr>Outline of the session</vt:lpstr>
      <vt:lpstr>Assessment Overview</vt:lpstr>
      <vt:lpstr>Mentimeter</vt:lpstr>
      <vt:lpstr>Assessment Information</vt:lpstr>
      <vt:lpstr>Steps to completing the assessment </vt:lpstr>
      <vt:lpstr>Steps to completing the assessment </vt:lpstr>
      <vt:lpstr>Steps to completing the assessment </vt:lpstr>
      <vt:lpstr>Steps to completing the assessment </vt:lpstr>
      <vt:lpstr>Steps to completing the assessment </vt:lpstr>
      <vt:lpstr>Further Information</vt:lpstr>
      <vt:lpstr>Marking Scheme – Group Discussion</vt:lpstr>
      <vt:lpstr>Marking Rubric</vt:lpstr>
      <vt:lpstr>AI Declaration (Show on Weblearn)</vt:lpstr>
      <vt:lpstr>Final Tips</vt:lpstr>
      <vt:lpstr>Any Questions on Part 1?  </vt:lpstr>
      <vt:lpstr>Break (10-15 minutes)</vt:lpstr>
      <vt:lpstr>Part 2: Independent Work and 1-to-1 Support</vt:lpstr>
      <vt:lpstr>Reminder: Drop In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Cox</dc:creator>
  <cp:lastModifiedBy>Laura Perry</cp:lastModifiedBy>
  <cp:revision>79</cp:revision>
  <dcterms:created xsi:type="dcterms:W3CDTF">2015-07-03T13:06:53Z</dcterms:created>
  <dcterms:modified xsi:type="dcterms:W3CDTF">2026-04-23T15:39:59Z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0x010100EC01E95706DD8245B78E920FEF6029AF</vt:lpwstr>
  </property>
  <property fmtid="{D5CDD505-2E9C-101B-9397-08002B2CF9AE}" pid="3" name="MediaServiceImageTags">
    <vt:lpwstr/>
  </property>
</Properties>
</file>