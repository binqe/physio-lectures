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3"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93" r:id="rId11"/>
    <p:sldId id="292" r:id="rId12"/>
    <p:sldId id="294" r:id="rId13"/>
    <p:sldId id="265" r:id="rId14"/>
    <p:sldId id="295" r:id="rId15"/>
    <p:sldId id="296" r:id="rId16"/>
    <p:sldId id="297" r:id="rId17"/>
    <p:sldId id="298" r:id="rId18"/>
    <p:sldId id="266" r:id="rId19"/>
    <p:sldId id="267" r:id="rId20"/>
    <p:sldId id="268" r:id="rId21"/>
    <p:sldId id="269" r:id="rId22"/>
    <p:sldId id="270" r:id="rId23"/>
    <p:sldId id="271" r:id="rId24"/>
    <p:sldId id="273" r:id="rId25"/>
    <p:sldId id="272" r:id="rId26"/>
    <p:sldId id="291" r:id="rId27"/>
    <p:sldId id="282" r:id="rId28"/>
    <p:sldId id="283" r:id="rId29"/>
    <p:sldId id="299" r:id="rId30"/>
    <p:sldId id="284" r:id="rId31"/>
    <p:sldId id="285" r:id="rId32"/>
    <p:sldId id="286" r:id="rId33"/>
    <p:sldId id="281" r:id="rId34"/>
    <p:sldId id="300" r:id="rId35"/>
    <p:sldId id="301" r:id="rId36"/>
    <p:sldId id="302" r:id="rId37"/>
    <p:sldId id="303" r:id="rId38"/>
    <p:sldId id="274" r:id="rId39"/>
    <p:sldId id="275" r:id="rId40"/>
    <p:sldId id="287" r:id="rId41"/>
    <p:sldId id="289" r:id="rId42"/>
    <p:sldId id="288" r:id="rId43"/>
    <p:sldId id="304" r:id="rId44"/>
    <p:sldId id="305" r:id="rId45"/>
    <p:sldId id="306" r:id="rId46"/>
    <p:sldId id="307" r:id="rId47"/>
    <p:sldId id="290" r:id="rId48"/>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320668-C274-37E9-64A5-F7F2FC7520E0}" v="6" dt="2026-02-04T09:44:37.845"/>
    <p1510:client id="{138BC660-4509-DCD0-46C1-71C36BB8DC95}" v="24" dt="2026-02-04T08:39:37.854"/>
    <p1510:client id="{B59DBF36-C93F-DF18-32BB-807FC0E4EA7A}" v="1" dt="2026-02-03T13:58:00.451"/>
    <p1510:client id="{EC72E2F8-55BA-4797-916E-3B86B4F55BB1}" v="2081" dt="2026-02-04T09:00:52.2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72" y="5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ata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ata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ata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rawing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6074E8-197A-4712-90CB-05C32EE0C9D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61D9841-CCA7-4242-9688-B33BC503CE5C}">
      <dgm:prSet/>
      <dgm:spPr/>
      <dgm:t>
        <a:bodyPr/>
        <a:lstStyle/>
        <a:p>
          <a:r>
            <a:rPr lang="en-GB" b="1"/>
            <a:t>Randomised control trial RCT: </a:t>
          </a:r>
          <a:r>
            <a:rPr lang="en-GB" i="1"/>
            <a:t>An efficacy trial involving the controlled comparison of an experimental intervention and a placebo, sham or usual care condition. Through random assignment and restricted subject selection, the design controls for bias to allow cause and effect conclusions. </a:t>
          </a:r>
          <a:endParaRPr lang="en-US"/>
        </a:p>
      </dgm:t>
    </dgm:pt>
    <dgm:pt modelId="{98E97FEA-2B0C-4924-AD9F-A11C4DD6549D}" type="parTrans" cxnId="{968AFE74-2CA4-47A2-B242-29A9C719BEED}">
      <dgm:prSet/>
      <dgm:spPr/>
      <dgm:t>
        <a:bodyPr/>
        <a:lstStyle/>
        <a:p>
          <a:endParaRPr lang="en-US"/>
        </a:p>
      </dgm:t>
    </dgm:pt>
    <dgm:pt modelId="{A87DC667-5C89-4D7C-879C-EA9204121F80}" type="sibTrans" cxnId="{968AFE74-2CA4-47A2-B242-29A9C719BEED}">
      <dgm:prSet/>
      <dgm:spPr/>
      <dgm:t>
        <a:bodyPr/>
        <a:lstStyle/>
        <a:p>
          <a:endParaRPr lang="en-US"/>
        </a:p>
      </dgm:t>
    </dgm:pt>
    <dgm:pt modelId="{ED5B1075-98D8-47EA-ACB0-3FD7B0D4AC68}">
      <dgm:prSet/>
      <dgm:spPr/>
      <dgm:t>
        <a:bodyPr/>
        <a:lstStyle/>
        <a:p>
          <a:r>
            <a:rPr lang="en-GB" b="1" i="1"/>
            <a:t>Pragmatic Clinical Trial: </a:t>
          </a:r>
          <a:r>
            <a:rPr lang="en-GB" i="1"/>
            <a:t>An effectiveness trial with a focus on real world outcomes. Participants represent the patients that would typically receive treatment. </a:t>
          </a:r>
          <a:endParaRPr lang="en-US"/>
        </a:p>
      </dgm:t>
    </dgm:pt>
    <dgm:pt modelId="{950E82BD-315F-402F-B07B-55EABBBFA5A0}" type="parTrans" cxnId="{F9182FDC-23C3-443E-866D-24ED95B5921C}">
      <dgm:prSet/>
      <dgm:spPr/>
      <dgm:t>
        <a:bodyPr/>
        <a:lstStyle/>
        <a:p>
          <a:endParaRPr lang="en-US"/>
        </a:p>
      </dgm:t>
    </dgm:pt>
    <dgm:pt modelId="{3BC4FF13-8BA2-458B-B48B-ACDB63AD02FD}" type="sibTrans" cxnId="{F9182FDC-23C3-443E-866D-24ED95B5921C}">
      <dgm:prSet/>
      <dgm:spPr/>
      <dgm:t>
        <a:bodyPr/>
        <a:lstStyle/>
        <a:p>
          <a:endParaRPr lang="en-US"/>
        </a:p>
      </dgm:t>
    </dgm:pt>
    <dgm:pt modelId="{1402B176-BDBC-4426-B4AE-F6CA87F1A1FF}">
      <dgm:prSet/>
      <dgm:spPr/>
      <dgm:t>
        <a:bodyPr/>
        <a:lstStyle/>
        <a:p>
          <a:r>
            <a:rPr lang="en-GB" b="1" i="1"/>
            <a:t>Quasi experimental design: </a:t>
          </a:r>
          <a:r>
            <a:rPr lang="en-GB" i="1"/>
            <a:t>Comparative design that do not have a control group or randomisation. Includes time series design that allows for repeated measurements over prolong periods to document trends</a:t>
          </a:r>
          <a:endParaRPr lang="en-US"/>
        </a:p>
      </dgm:t>
    </dgm:pt>
    <dgm:pt modelId="{55A6BEDC-0791-4B01-BEF3-08777AB57284}" type="parTrans" cxnId="{4CB9F9D4-C6D3-434D-8097-2C830F948DFC}">
      <dgm:prSet/>
      <dgm:spPr/>
      <dgm:t>
        <a:bodyPr/>
        <a:lstStyle/>
        <a:p>
          <a:endParaRPr lang="en-US"/>
        </a:p>
      </dgm:t>
    </dgm:pt>
    <dgm:pt modelId="{903A6953-F21B-4D1E-9A8F-1CB2C89623EF}" type="sibTrans" cxnId="{4CB9F9D4-C6D3-434D-8097-2C830F948DFC}">
      <dgm:prSet/>
      <dgm:spPr/>
      <dgm:t>
        <a:bodyPr/>
        <a:lstStyle/>
        <a:p>
          <a:endParaRPr lang="en-US"/>
        </a:p>
      </dgm:t>
    </dgm:pt>
    <dgm:pt modelId="{1A5A394A-56DA-4EAD-83FB-D78F7438B11D}" type="pres">
      <dgm:prSet presAssocID="{AB6074E8-197A-4712-90CB-05C32EE0C9D0}" presName="root" presStyleCnt="0">
        <dgm:presLayoutVars>
          <dgm:dir/>
          <dgm:resizeHandles val="exact"/>
        </dgm:presLayoutVars>
      </dgm:prSet>
      <dgm:spPr/>
    </dgm:pt>
    <dgm:pt modelId="{5C5864ED-F348-4FAC-9AA5-8C0C365D1F1B}" type="pres">
      <dgm:prSet presAssocID="{361D9841-CCA7-4242-9688-B33BC503CE5C}" presName="compNode" presStyleCnt="0"/>
      <dgm:spPr/>
    </dgm:pt>
    <dgm:pt modelId="{4C81BE47-6AB6-4197-B93E-4BBB24FF672B}" type="pres">
      <dgm:prSet presAssocID="{361D9841-CCA7-4242-9688-B33BC503CE5C}" presName="bgRect" presStyleLbl="bgShp" presStyleIdx="0" presStyleCnt="3"/>
      <dgm:spPr/>
    </dgm:pt>
    <dgm:pt modelId="{DB801B51-7303-44DB-A11F-C1A5CD8328AE}" type="pres">
      <dgm:prSet presAssocID="{361D9841-CCA7-4242-9688-B33BC503CE5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edicine"/>
        </a:ext>
      </dgm:extLst>
    </dgm:pt>
    <dgm:pt modelId="{70C3668E-E2B4-414F-9859-4FF6E7C343B8}" type="pres">
      <dgm:prSet presAssocID="{361D9841-CCA7-4242-9688-B33BC503CE5C}" presName="spaceRect" presStyleCnt="0"/>
      <dgm:spPr/>
    </dgm:pt>
    <dgm:pt modelId="{E1142C05-358D-4001-98B1-A956068256E0}" type="pres">
      <dgm:prSet presAssocID="{361D9841-CCA7-4242-9688-B33BC503CE5C}" presName="parTx" presStyleLbl="revTx" presStyleIdx="0" presStyleCnt="3">
        <dgm:presLayoutVars>
          <dgm:chMax val="0"/>
          <dgm:chPref val="0"/>
        </dgm:presLayoutVars>
      </dgm:prSet>
      <dgm:spPr/>
    </dgm:pt>
    <dgm:pt modelId="{B066C0A6-BF69-4007-AB44-C2C536971DDE}" type="pres">
      <dgm:prSet presAssocID="{A87DC667-5C89-4D7C-879C-EA9204121F80}" presName="sibTrans" presStyleCnt="0"/>
      <dgm:spPr/>
    </dgm:pt>
    <dgm:pt modelId="{FD012F36-A8D8-4FE0-A4E4-A77DBAB35D0A}" type="pres">
      <dgm:prSet presAssocID="{ED5B1075-98D8-47EA-ACB0-3FD7B0D4AC68}" presName="compNode" presStyleCnt="0"/>
      <dgm:spPr/>
    </dgm:pt>
    <dgm:pt modelId="{528B5097-E1F0-4A2F-AD2E-146EA170D343}" type="pres">
      <dgm:prSet presAssocID="{ED5B1075-98D8-47EA-ACB0-3FD7B0D4AC68}" presName="bgRect" presStyleLbl="bgShp" presStyleIdx="1" presStyleCnt="3"/>
      <dgm:spPr/>
    </dgm:pt>
    <dgm:pt modelId="{968BB2B0-9C51-4D9C-A241-2CFA0F7F81CC}" type="pres">
      <dgm:prSet presAssocID="{ED5B1075-98D8-47EA-ACB0-3FD7B0D4AC6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tor"/>
        </a:ext>
      </dgm:extLst>
    </dgm:pt>
    <dgm:pt modelId="{030E572E-FA76-41DF-91E0-A74DD4E23099}" type="pres">
      <dgm:prSet presAssocID="{ED5B1075-98D8-47EA-ACB0-3FD7B0D4AC68}" presName="spaceRect" presStyleCnt="0"/>
      <dgm:spPr/>
    </dgm:pt>
    <dgm:pt modelId="{6EB63AFF-E5B8-4117-A1F6-9C0D873A15C4}" type="pres">
      <dgm:prSet presAssocID="{ED5B1075-98D8-47EA-ACB0-3FD7B0D4AC68}" presName="parTx" presStyleLbl="revTx" presStyleIdx="1" presStyleCnt="3">
        <dgm:presLayoutVars>
          <dgm:chMax val="0"/>
          <dgm:chPref val="0"/>
        </dgm:presLayoutVars>
      </dgm:prSet>
      <dgm:spPr/>
    </dgm:pt>
    <dgm:pt modelId="{54034484-CEE9-466A-B284-3F588944F2A5}" type="pres">
      <dgm:prSet presAssocID="{3BC4FF13-8BA2-458B-B48B-ACDB63AD02FD}" presName="sibTrans" presStyleCnt="0"/>
      <dgm:spPr/>
    </dgm:pt>
    <dgm:pt modelId="{44255FDE-E669-4FFF-B206-EAE9651BCA69}" type="pres">
      <dgm:prSet presAssocID="{1402B176-BDBC-4426-B4AE-F6CA87F1A1FF}" presName="compNode" presStyleCnt="0"/>
      <dgm:spPr/>
    </dgm:pt>
    <dgm:pt modelId="{0A4494FE-2CDB-4E73-A490-772D17B71613}" type="pres">
      <dgm:prSet presAssocID="{1402B176-BDBC-4426-B4AE-F6CA87F1A1FF}" presName="bgRect" presStyleLbl="bgShp" presStyleIdx="2" presStyleCnt="3"/>
      <dgm:spPr/>
    </dgm:pt>
    <dgm:pt modelId="{8012E1BD-4427-4281-BD70-9F8186B472F4}" type="pres">
      <dgm:prSet presAssocID="{1402B176-BDBC-4426-B4AE-F6CA87F1A1F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ight Bulb and Gear"/>
        </a:ext>
      </dgm:extLst>
    </dgm:pt>
    <dgm:pt modelId="{AC6B8EAE-3AFC-4350-A140-4249FD82E129}" type="pres">
      <dgm:prSet presAssocID="{1402B176-BDBC-4426-B4AE-F6CA87F1A1FF}" presName="spaceRect" presStyleCnt="0"/>
      <dgm:spPr/>
    </dgm:pt>
    <dgm:pt modelId="{FD28E3E4-CB96-4A2C-946E-B1021F24B644}" type="pres">
      <dgm:prSet presAssocID="{1402B176-BDBC-4426-B4AE-F6CA87F1A1FF}" presName="parTx" presStyleLbl="revTx" presStyleIdx="2" presStyleCnt="3">
        <dgm:presLayoutVars>
          <dgm:chMax val="0"/>
          <dgm:chPref val="0"/>
        </dgm:presLayoutVars>
      </dgm:prSet>
      <dgm:spPr/>
    </dgm:pt>
  </dgm:ptLst>
  <dgm:cxnLst>
    <dgm:cxn modelId="{D963BB37-5100-43D1-A9DD-3B852F50D7A7}" type="presOf" srcId="{1402B176-BDBC-4426-B4AE-F6CA87F1A1FF}" destId="{FD28E3E4-CB96-4A2C-946E-B1021F24B644}" srcOrd="0" destOrd="0" presId="urn:microsoft.com/office/officeart/2018/2/layout/IconVerticalSolidList"/>
    <dgm:cxn modelId="{968AFE74-2CA4-47A2-B242-29A9C719BEED}" srcId="{AB6074E8-197A-4712-90CB-05C32EE0C9D0}" destId="{361D9841-CCA7-4242-9688-B33BC503CE5C}" srcOrd="0" destOrd="0" parTransId="{98E97FEA-2B0C-4924-AD9F-A11C4DD6549D}" sibTransId="{A87DC667-5C89-4D7C-879C-EA9204121F80}"/>
    <dgm:cxn modelId="{AC17B796-D9B6-4C35-9DE2-08509A01A7D4}" type="presOf" srcId="{ED5B1075-98D8-47EA-ACB0-3FD7B0D4AC68}" destId="{6EB63AFF-E5B8-4117-A1F6-9C0D873A15C4}" srcOrd="0" destOrd="0" presId="urn:microsoft.com/office/officeart/2018/2/layout/IconVerticalSolidList"/>
    <dgm:cxn modelId="{8270FAA9-E327-42FF-B36F-0C91AB19C46C}" type="presOf" srcId="{AB6074E8-197A-4712-90CB-05C32EE0C9D0}" destId="{1A5A394A-56DA-4EAD-83FB-D78F7438B11D}" srcOrd="0" destOrd="0" presId="urn:microsoft.com/office/officeart/2018/2/layout/IconVerticalSolidList"/>
    <dgm:cxn modelId="{EA6330AB-9711-4AE1-95D0-94479CC3DFEF}" type="presOf" srcId="{361D9841-CCA7-4242-9688-B33BC503CE5C}" destId="{E1142C05-358D-4001-98B1-A956068256E0}" srcOrd="0" destOrd="0" presId="urn:microsoft.com/office/officeart/2018/2/layout/IconVerticalSolidList"/>
    <dgm:cxn modelId="{4CB9F9D4-C6D3-434D-8097-2C830F948DFC}" srcId="{AB6074E8-197A-4712-90CB-05C32EE0C9D0}" destId="{1402B176-BDBC-4426-B4AE-F6CA87F1A1FF}" srcOrd="2" destOrd="0" parTransId="{55A6BEDC-0791-4B01-BEF3-08777AB57284}" sibTransId="{903A6953-F21B-4D1E-9A8F-1CB2C89623EF}"/>
    <dgm:cxn modelId="{F9182FDC-23C3-443E-866D-24ED95B5921C}" srcId="{AB6074E8-197A-4712-90CB-05C32EE0C9D0}" destId="{ED5B1075-98D8-47EA-ACB0-3FD7B0D4AC68}" srcOrd="1" destOrd="0" parTransId="{950E82BD-315F-402F-B07B-55EABBBFA5A0}" sibTransId="{3BC4FF13-8BA2-458B-B48B-ACDB63AD02FD}"/>
    <dgm:cxn modelId="{4ABCF25A-6402-41EA-B425-BDDB6320D720}" type="presParOf" srcId="{1A5A394A-56DA-4EAD-83FB-D78F7438B11D}" destId="{5C5864ED-F348-4FAC-9AA5-8C0C365D1F1B}" srcOrd="0" destOrd="0" presId="urn:microsoft.com/office/officeart/2018/2/layout/IconVerticalSolidList"/>
    <dgm:cxn modelId="{2EBE1064-E2BF-405C-8E34-8441E3EC0D82}" type="presParOf" srcId="{5C5864ED-F348-4FAC-9AA5-8C0C365D1F1B}" destId="{4C81BE47-6AB6-4197-B93E-4BBB24FF672B}" srcOrd="0" destOrd="0" presId="urn:microsoft.com/office/officeart/2018/2/layout/IconVerticalSolidList"/>
    <dgm:cxn modelId="{4B095BD1-7208-4598-A31B-A6533D789829}" type="presParOf" srcId="{5C5864ED-F348-4FAC-9AA5-8C0C365D1F1B}" destId="{DB801B51-7303-44DB-A11F-C1A5CD8328AE}" srcOrd="1" destOrd="0" presId="urn:microsoft.com/office/officeart/2018/2/layout/IconVerticalSolidList"/>
    <dgm:cxn modelId="{018B605A-0AD2-47F4-9ED9-4D665A8BA228}" type="presParOf" srcId="{5C5864ED-F348-4FAC-9AA5-8C0C365D1F1B}" destId="{70C3668E-E2B4-414F-9859-4FF6E7C343B8}" srcOrd="2" destOrd="0" presId="urn:microsoft.com/office/officeart/2018/2/layout/IconVerticalSolidList"/>
    <dgm:cxn modelId="{EC90B54F-7A3B-4306-8681-50E066CD0D45}" type="presParOf" srcId="{5C5864ED-F348-4FAC-9AA5-8C0C365D1F1B}" destId="{E1142C05-358D-4001-98B1-A956068256E0}" srcOrd="3" destOrd="0" presId="urn:microsoft.com/office/officeart/2018/2/layout/IconVerticalSolidList"/>
    <dgm:cxn modelId="{8CD32CFE-81CF-49C0-9C63-DB88033A5CC4}" type="presParOf" srcId="{1A5A394A-56DA-4EAD-83FB-D78F7438B11D}" destId="{B066C0A6-BF69-4007-AB44-C2C536971DDE}" srcOrd="1" destOrd="0" presId="urn:microsoft.com/office/officeart/2018/2/layout/IconVerticalSolidList"/>
    <dgm:cxn modelId="{1714382D-2EDF-46F1-8B31-0A1DC5BC82BA}" type="presParOf" srcId="{1A5A394A-56DA-4EAD-83FB-D78F7438B11D}" destId="{FD012F36-A8D8-4FE0-A4E4-A77DBAB35D0A}" srcOrd="2" destOrd="0" presId="urn:microsoft.com/office/officeart/2018/2/layout/IconVerticalSolidList"/>
    <dgm:cxn modelId="{861C76E3-96C9-4D16-8AD1-7FFDEE9DF389}" type="presParOf" srcId="{FD012F36-A8D8-4FE0-A4E4-A77DBAB35D0A}" destId="{528B5097-E1F0-4A2F-AD2E-146EA170D343}" srcOrd="0" destOrd="0" presId="urn:microsoft.com/office/officeart/2018/2/layout/IconVerticalSolidList"/>
    <dgm:cxn modelId="{39B668D6-3F18-4EBF-A421-6BC7470CF79F}" type="presParOf" srcId="{FD012F36-A8D8-4FE0-A4E4-A77DBAB35D0A}" destId="{968BB2B0-9C51-4D9C-A241-2CFA0F7F81CC}" srcOrd="1" destOrd="0" presId="urn:microsoft.com/office/officeart/2018/2/layout/IconVerticalSolidList"/>
    <dgm:cxn modelId="{B11B6A09-DE58-47F2-963B-B2362B3D63A0}" type="presParOf" srcId="{FD012F36-A8D8-4FE0-A4E4-A77DBAB35D0A}" destId="{030E572E-FA76-41DF-91E0-A74DD4E23099}" srcOrd="2" destOrd="0" presId="urn:microsoft.com/office/officeart/2018/2/layout/IconVerticalSolidList"/>
    <dgm:cxn modelId="{BFA152E5-7703-4BE2-AE0C-53382439900E}" type="presParOf" srcId="{FD012F36-A8D8-4FE0-A4E4-A77DBAB35D0A}" destId="{6EB63AFF-E5B8-4117-A1F6-9C0D873A15C4}" srcOrd="3" destOrd="0" presId="urn:microsoft.com/office/officeart/2018/2/layout/IconVerticalSolidList"/>
    <dgm:cxn modelId="{2B3D4976-E382-45F1-B39A-FB24179FD78E}" type="presParOf" srcId="{1A5A394A-56DA-4EAD-83FB-D78F7438B11D}" destId="{54034484-CEE9-466A-B284-3F588944F2A5}" srcOrd="3" destOrd="0" presId="urn:microsoft.com/office/officeart/2018/2/layout/IconVerticalSolidList"/>
    <dgm:cxn modelId="{F84066AB-7F7B-4BCA-A3C7-83F4BFEAAA1F}" type="presParOf" srcId="{1A5A394A-56DA-4EAD-83FB-D78F7438B11D}" destId="{44255FDE-E669-4FFF-B206-EAE9651BCA69}" srcOrd="4" destOrd="0" presId="urn:microsoft.com/office/officeart/2018/2/layout/IconVerticalSolidList"/>
    <dgm:cxn modelId="{F4D97F32-89C6-4A90-B2AB-0BEC1F8EEB2E}" type="presParOf" srcId="{44255FDE-E669-4FFF-B206-EAE9651BCA69}" destId="{0A4494FE-2CDB-4E73-A490-772D17B71613}" srcOrd="0" destOrd="0" presId="urn:microsoft.com/office/officeart/2018/2/layout/IconVerticalSolidList"/>
    <dgm:cxn modelId="{34CB088F-2269-455E-A2B3-C2F7B3226326}" type="presParOf" srcId="{44255FDE-E669-4FFF-B206-EAE9651BCA69}" destId="{8012E1BD-4427-4281-BD70-9F8186B472F4}" srcOrd="1" destOrd="0" presId="urn:microsoft.com/office/officeart/2018/2/layout/IconVerticalSolidList"/>
    <dgm:cxn modelId="{A609C392-993B-42E5-8E05-E08D0D7A465B}" type="presParOf" srcId="{44255FDE-E669-4FFF-B206-EAE9651BCA69}" destId="{AC6B8EAE-3AFC-4350-A140-4249FD82E129}" srcOrd="2" destOrd="0" presId="urn:microsoft.com/office/officeart/2018/2/layout/IconVerticalSolidList"/>
    <dgm:cxn modelId="{65368F59-E197-4EC2-8227-5AD41617CFCA}" type="presParOf" srcId="{44255FDE-E669-4FFF-B206-EAE9651BCA69}" destId="{FD28E3E4-CB96-4A2C-946E-B1021F24B64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F3208B-412E-42FB-8DE8-D3803ED3EFE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B91FAA1-2F77-4DC7-ADBC-B31685406DC7}">
      <dgm:prSet/>
      <dgm:spPr/>
      <dgm:t>
        <a:bodyPr/>
        <a:lstStyle/>
        <a:p>
          <a:r>
            <a:rPr lang="en-GB" b="1"/>
            <a:t>Cohort studies: </a:t>
          </a:r>
          <a:r>
            <a:rPr lang="en-GB"/>
            <a:t>Observational studies where one or more cohorts of individuals are followed prospectively to demine their status with respect to a disease or outcome and their exposure to certain risk factors </a:t>
          </a:r>
          <a:endParaRPr lang="en-US"/>
        </a:p>
      </dgm:t>
    </dgm:pt>
    <dgm:pt modelId="{EE99BCC2-4259-4705-9F03-CBD9AFD9C467}" type="parTrans" cxnId="{166D7378-BEDC-4A3D-AA0A-7B96819384C6}">
      <dgm:prSet/>
      <dgm:spPr/>
      <dgm:t>
        <a:bodyPr/>
        <a:lstStyle/>
        <a:p>
          <a:endParaRPr lang="en-US"/>
        </a:p>
      </dgm:t>
    </dgm:pt>
    <dgm:pt modelId="{1D2E2DF8-AFD5-4C9F-B499-EE4F8CBCACBB}" type="sibTrans" cxnId="{166D7378-BEDC-4A3D-AA0A-7B96819384C6}">
      <dgm:prSet/>
      <dgm:spPr/>
      <dgm:t>
        <a:bodyPr/>
        <a:lstStyle/>
        <a:p>
          <a:endParaRPr lang="en-US"/>
        </a:p>
      </dgm:t>
    </dgm:pt>
    <dgm:pt modelId="{0D94A9A0-DB5D-40A0-9488-7EEEC442C884}">
      <dgm:prSet/>
      <dgm:spPr/>
      <dgm:t>
        <a:bodyPr/>
        <a:lstStyle/>
        <a:p>
          <a:r>
            <a:rPr lang="en-GB" b="1"/>
            <a:t>Case control studies</a:t>
          </a:r>
          <a:r>
            <a:rPr lang="en-GB"/>
            <a:t>: Observational studies that compare patients with (cases) and without (controls) a disease or outcome of interest. Cases and controls are compared on their exposure to a risk factor to determine the relationship between the risk factor and the disorder</a:t>
          </a:r>
          <a:endParaRPr lang="en-US"/>
        </a:p>
      </dgm:t>
    </dgm:pt>
    <dgm:pt modelId="{ACFE342A-13A4-4BEE-865E-A308C77A1BF9}" type="parTrans" cxnId="{0569BE30-3DC5-4BCC-8F77-78F821558DE6}">
      <dgm:prSet/>
      <dgm:spPr/>
      <dgm:t>
        <a:bodyPr/>
        <a:lstStyle/>
        <a:p>
          <a:endParaRPr lang="en-US"/>
        </a:p>
      </dgm:t>
    </dgm:pt>
    <dgm:pt modelId="{30601EEB-56FE-4322-A201-198B9EE1E5C7}" type="sibTrans" cxnId="{0569BE30-3DC5-4BCC-8F77-78F821558DE6}">
      <dgm:prSet/>
      <dgm:spPr/>
      <dgm:t>
        <a:bodyPr/>
        <a:lstStyle/>
        <a:p>
          <a:endParaRPr lang="en-US"/>
        </a:p>
      </dgm:t>
    </dgm:pt>
    <dgm:pt modelId="{9C63836A-1B90-4D31-AA5A-AE6354CD66D3}">
      <dgm:prSet/>
      <dgm:spPr/>
      <dgm:t>
        <a:bodyPr/>
        <a:lstStyle/>
        <a:p>
          <a:r>
            <a:rPr lang="en-GB" b="1"/>
            <a:t>Methodological Studies: </a:t>
          </a:r>
          <a:r>
            <a:rPr lang="en-GB"/>
            <a:t>Using correlational and comparative methods to demonstrate reliability and validity of measuring instruments, including interpretation of change and responsiveness </a:t>
          </a:r>
          <a:endParaRPr lang="en-US"/>
        </a:p>
      </dgm:t>
    </dgm:pt>
    <dgm:pt modelId="{51F48A44-5F9E-48D4-A3EB-90BB1EEA735B}" type="parTrans" cxnId="{8C1038D6-07FB-48D8-9370-4C77D07F0300}">
      <dgm:prSet/>
      <dgm:spPr/>
      <dgm:t>
        <a:bodyPr/>
        <a:lstStyle/>
        <a:p>
          <a:endParaRPr lang="en-US"/>
        </a:p>
      </dgm:t>
    </dgm:pt>
    <dgm:pt modelId="{983B4FAC-233C-49F2-834C-7381200DD7E9}" type="sibTrans" cxnId="{8C1038D6-07FB-48D8-9370-4C77D07F0300}">
      <dgm:prSet/>
      <dgm:spPr/>
      <dgm:t>
        <a:bodyPr/>
        <a:lstStyle/>
        <a:p>
          <a:endParaRPr lang="en-US"/>
        </a:p>
      </dgm:t>
    </dgm:pt>
    <dgm:pt modelId="{B9EE2442-E48A-4E31-9B5B-D329AB5D43B3}" type="pres">
      <dgm:prSet presAssocID="{34F3208B-412E-42FB-8DE8-D3803ED3EFE5}" presName="root" presStyleCnt="0">
        <dgm:presLayoutVars>
          <dgm:dir/>
          <dgm:resizeHandles val="exact"/>
        </dgm:presLayoutVars>
      </dgm:prSet>
      <dgm:spPr/>
    </dgm:pt>
    <dgm:pt modelId="{9251C8CD-5EF6-4E0A-9697-54B0EFA59D04}" type="pres">
      <dgm:prSet presAssocID="{6B91FAA1-2F77-4DC7-ADBC-B31685406DC7}" presName="compNode" presStyleCnt="0"/>
      <dgm:spPr/>
    </dgm:pt>
    <dgm:pt modelId="{A753A347-3100-4982-B115-21EBECA9FA10}" type="pres">
      <dgm:prSet presAssocID="{6B91FAA1-2F77-4DC7-ADBC-B31685406DC7}" presName="bgRect" presStyleLbl="bgShp" presStyleIdx="0" presStyleCnt="3"/>
      <dgm:spPr/>
    </dgm:pt>
    <dgm:pt modelId="{C02798D4-17C1-4B88-AA38-97B2B9AA00A7}" type="pres">
      <dgm:prSet presAssocID="{6B91FAA1-2F77-4DC7-ADBC-B31685406DC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oup"/>
        </a:ext>
      </dgm:extLst>
    </dgm:pt>
    <dgm:pt modelId="{5F2A2103-64A0-4837-852D-8E02E3EDA914}" type="pres">
      <dgm:prSet presAssocID="{6B91FAA1-2F77-4DC7-ADBC-B31685406DC7}" presName="spaceRect" presStyleCnt="0"/>
      <dgm:spPr/>
    </dgm:pt>
    <dgm:pt modelId="{0992054E-61FE-4FB5-ABD1-22652B05C401}" type="pres">
      <dgm:prSet presAssocID="{6B91FAA1-2F77-4DC7-ADBC-B31685406DC7}" presName="parTx" presStyleLbl="revTx" presStyleIdx="0" presStyleCnt="3">
        <dgm:presLayoutVars>
          <dgm:chMax val="0"/>
          <dgm:chPref val="0"/>
        </dgm:presLayoutVars>
      </dgm:prSet>
      <dgm:spPr/>
    </dgm:pt>
    <dgm:pt modelId="{42B906BF-3802-4479-8AA8-7CAF9495492C}" type="pres">
      <dgm:prSet presAssocID="{1D2E2DF8-AFD5-4C9F-B499-EE4F8CBCACBB}" presName="sibTrans" presStyleCnt="0"/>
      <dgm:spPr/>
    </dgm:pt>
    <dgm:pt modelId="{A2644118-9F41-428B-8D3E-9FEFC9AAC5D1}" type="pres">
      <dgm:prSet presAssocID="{0D94A9A0-DB5D-40A0-9488-7EEEC442C884}" presName="compNode" presStyleCnt="0"/>
      <dgm:spPr/>
    </dgm:pt>
    <dgm:pt modelId="{6486ED20-AEBA-4FB2-AA4F-87FC0F693A52}" type="pres">
      <dgm:prSet presAssocID="{0D94A9A0-DB5D-40A0-9488-7EEEC442C884}" presName="bgRect" presStyleLbl="bgShp" presStyleIdx="1" presStyleCnt="3"/>
      <dgm:spPr/>
    </dgm:pt>
    <dgm:pt modelId="{94C32F31-2559-41F2-A5F9-B207714EDC08}" type="pres">
      <dgm:prSet presAssocID="{0D94A9A0-DB5D-40A0-9488-7EEEC442C88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esearch"/>
        </a:ext>
      </dgm:extLst>
    </dgm:pt>
    <dgm:pt modelId="{82268DCC-30F6-4234-9636-52E08C2F286B}" type="pres">
      <dgm:prSet presAssocID="{0D94A9A0-DB5D-40A0-9488-7EEEC442C884}" presName="spaceRect" presStyleCnt="0"/>
      <dgm:spPr/>
    </dgm:pt>
    <dgm:pt modelId="{C6DD48B4-1E02-49D8-BB67-868C2D7889A4}" type="pres">
      <dgm:prSet presAssocID="{0D94A9A0-DB5D-40A0-9488-7EEEC442C884}" presName="parTx" presStyleLbl="revTx" presStyleIdx="1" presStyleCnt="3">
        <dgm:presLayoutVars>
          <dgm:chMax val="0"/>
          <dgm:chPref val="0"/>
        </dgm:presLayoutVars>
      </dgm:prSet>
      <dgm:spPr/>
    </dgm:pt>
    <dgm:pt modelId="{5EE2D52C-FCFE-411E-908D-F937E9B09FF8}" type="pres">
      <dgm:prSet presAssocID="{30601EEB-56FE-4322-A201-198B9EE1E5C7}" presName="sibTrans" presStyleCnt="0"/>
      <dgm:spPr/>
    </dgm:pt>
    <dgm:pt modelId="{FE69BED9-8AE7-4370-A899-37806F03FF14}" type="pres">
      <dgm:prSet presAssocID="{9C63836A-1B90-4D31-AA5A-AE6354CD66D3}" presName="compNode" presStyleCnt="0"/>
      <dgm:spPr/>
    </dgm:pt>
    <dgm:pt modelId="{DE380806-9BF0-409E-9C44-77CB8231493A}" type="pres">
      <dgm:prSet presAssocID="{9C63836A-1B90-4D31-AA5A-AE6354CD66D3}" presName="bgRect" presStyleLbl="bgShp" presStyleIdx="2" presStyleCnt="3"/>
      <dgm:spPr/>
    </dgm:pt>
    <dgm:pt modelId="{1FA224E6-5BED-486E-8DCF-6B090AF1D02B}" type="pres">
      <dgm:prSet presAssocID="{9C63836A-1B90-4D31-AA5A-AE6354CD66D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9A2585E7-D031-4B4F-8F15-829A5D5E17B1}" type="pres">
      <dgm:prSet presAssocID="{9C63836A-1B90-4D31-AA5A-AE6354CD66D3}" presName="spaceRect" presStyleCnt="0"/>
      <dgm:spPr/>
    </dgm:pt>
    <dgm:pt modelId="{6A98E005-CEAF-4495-8CD8-F922A49CB7EC}" type="pres">
      <dgm:prSet presAssocID="{9C63836A-1B90-4D31-AA5A-AE6354CD66D3}" presName="parTx" presStyleLbl="revTx" presStyleIdx="2" presStyleCnt="3">
        <dgm:presLayoutVars>
          <dgm:chMax val="0"/>
          <dgm:chPref val="0"/>
        </dgm:presLayoutVars>
      </dgm:prSet>
      <dgm:spPr/>
    </dgm:pt>
  </dgm:ptLst>
  <dgm:cxnLst>
    <dgm:cxn modelId="{D328311F-CE0A-481E-A422-DEA17E7A7185}" type="presOf" srcId="{0D94A9A0-DB5D-40A0-9488-7EEEC442C884}" destId="{C6DD48B4-1E02-49D8-BB67-868C2D7889A4}" srcOrd="0" destOrd="0" presId="urn:microsoft.com/office/officeart/2018/2/layout/IconVerticalSolidList"/>
    <dgm:cxn modelId="{0569BE30-3DC5-4BCC-8F77-78F821558DE6}" srcId="{34F3208B-412E-42FB-8DE8-D3803ED3EFE5}" destId="{0D94A9A0-DB5D-40A0-9488-7EEEC442C884}" srcOrd="1" destOrd="0" parTransId="{ACFE342A-13A4-4BEE-865E-A308C77A1BF9}" sibTransId="{30601EEB-56FE-4322-A201-198B9EE1E5C7}"/>
    <dgm:cxn modelId="{48B0A142-4ED4-4986-B81C-5C38ABF73ECF}" type="presOf" srcId="{34F3208B-412E-42FB-8DE8-D3803ED3EFE5}" destId="{B9EE2442-E48A-4E31-9B5B-D329AB5D43B3}" srcOrd="0" destOrd="0" presId="urn:microsoft.com/office/officeart/2018/2/layout/IconVerticalSolidList"/>
    <dgm:cxn modelId="{166D7378-BEDC-4A3D-AA0A-7B96819384C6}" srcId="{34F3208B-412E-42FB-8DE8-D3803ED3EFE5}" destId="{6B91FAA1-2F77-4DC7-ADBC-B31685406DC7}" srcOrd="0" destOrd="0" parTransId="{EE99BCC2-4259-4705-9F03-CBD9AFD9C467}" sibTransId="{1D2E2DF8-AFD5-4C9F-B499-EE4F8CBCACBB}"/>
    <dgm:cxn modelId="{8C1038D6-07FB-48D8-9370-4C77D07F0300}" srcId="{34F3208B-412E-42FB-8DE8-D3803ED3EFE5}" destId="{9C63836A-1B90-4D31-AA5A-AE6354CD66D3}" srcOrd="2" destOrd="0" parTransId="{51F48A44-5F9E-48D4-A3EB-90BB1EEA735B}" sibTransId="{983B4FAC-233C-49F2-834C-7381200DD7E9}"/>
    <dgm:cxn modelId="{28AEA5E1-550A-4078-A9F4-838E8B9FA9CE}" type="presOf" srcId="{9C63836A-1B90-4D31-AA5A-AE6354CD66D3}" destId="{6A98E005-CEAF-4495-8CD8-F922A49CB7EC}" srcOrd="0" destOrd="0" presId="urn:microsoft.com/office/officeart/2018/2/layout/IconVerticalSolidList"/>
    <dgm:cxn modelId="{AD15F8F9-CB5C-4159-80C7-26E2ADCC2172}" type="presOf" srcId="{6B91FAA1-2F77-4DC7-ADBC-B31685406DC7}" destId="{0992054E-61FE-4FB5-ABD1-22652B05C401}" srcOrd="0" destOrd="0" presId="urn:microsoft.com/office/officeart/2018/2/layout/IconVerticalSolidList"/>
    <dgm:cxn modelId="{24C63C1C-E41A-42FC-9C86-B34DC0706C58}" type="presParOf" srcId="{B9EE2442-E48A-4E31-9B5B-D329AB5D43B3}" destId="{9251C8CD-5EF6-4E0A-9697-54B0EFA59D04}" srcOrd="0" destOrd="0" presId="urn:microsoft.com/office/officeart/2018/2/layout/IconVerticalSolidList"/>
    <dgm:cxn modelId="{F05EC9A9-ACF1-4F73-8954-F2048DFC6641}" type="presParOf" srcId="{9251C8CD-5EF6-4E0A-9697-54B0EFA59D04}" destId="{A753A347-3100-4982-B115-21EBECA9FA10}" srcOrd="0" destOrd="0" presId="urn:microsoft.com/office/officeart/2018/2/layout/IconVerticalSolidList"/>
    <dgm:cxn modelId="{C19BAA73-D61F-4906-8CD5-00C13ACFDCDE}" type="presParOf" srcId="{9251C8CD-5EF6-4E0A-9697-54B0EFA59D04}" destId="{C02798D4-17C1-4B88-AA38-97B2B9AA00A7}" srcOrd="1" destOrd="0" presId="urn:microsoft.com/office/officeart/2018/2/layout/IconVerticalSolidList"/>
    <dgm:cxn modelId="{9E918A38-A712-4E0F-B889-259D24A1B4F1}" type="presParOf" srcId="{9251C8CD-5EF6-4E0A-9697-54B0EFA59D04}" destId="{5F2A2103-64A0-4837-852D-8E02E3EDA914}" srcOrd="2" destOrd="0" presId="urn:microsoft.com/office/officeart/2018/2/layout/IconVerticalSolidList"/>
    <dgm:cxn modelId="{2371E85D-0282-4D7C-A29D-60D652EF8469}" type="presParOf" srcId="{9251C8CD-5EF6-4E0A-9697-54B0EFA59D04}" destId="{0992054E-61FE-4FB5-ABD1-22652B05C401}" srcOrd="3" destOrd="0" presId="urn:microsoft.com/office/officeart/2018/2/layout/IconVerticalSolidList"/>
    <dgm:cxn modelId="{C987B202-0550-4F4C-B2B1-4A15F868C385}" type="presParOf" srcId="{B9EE2442-E48A-4E31-9B5B-D329AB5D43B3}" destId="{42B906BF-3802-4479-8AA8-7CAF9495492C}" srcOrd="1" destOrd="0" presId="urn:microsoft.com/office/officeart/2018/2/layout/IconVerticalSolidList"/>
    <dgm:cxn modelId="{C74088A0-7182-4604-8C75-9FD4858D1025}" type="presParOf" srcId="{B9EE2442-E48A-4E31-9B5B-D329AB5D43B3}" destId="{A2644118-9F41-428B-8D3E-9FEFC9AAC5D1}" srcOrd="2" destOrd="0" presId="urn:microsoft.com/office/officeart/2018/2/layout/IconVerticalSolidList"/>
    <dgm:cxn modelId="{CACFE02D-2777-41C1-A067-19555E9B1786}" type="presParOf" srcId="{A2644118-9F41-428B-8D3E-9FEFC9AAC5D1}" destId="{6486ED20-AEBA-4FB2-AA4F-87FC0F693A52}" srcOrd="0" destOrd="0" presId="urn:microsoft.com/office/officeart/2018/2/layout/IconVerticalSolidList"/>
    <dgm:cxn modelId="{08AC2B71-EBE4-4E0F-AD73-61EF037B7367}" type="presParOf" srcId="{A2644118-9F41-428B-8D3E-9FEFC9AAC5D1}" destId="{94C32F31-2559-41F2-A5F9-B207714EDC08}" srcOrd="1" destOrd="0" presId="urn:microsoft.com/office/officeart/2018/2/layout/IconVerticalSolidList"/>
    <dgm:cxn modelId="{70A0BB6F-BD15-4A1B-81C7-977F8815922D}" type="presParOf" srcId="{A2644118-9F41-428B-8D3E-9FEFC9AAC5D1}" destId="{82268DCC-30F6-4234-9636-52E08C2F286B}" srcOrd="2" destOrd="0" presId="urn:microsoft.com/office/officeart/2018/2/layout/IconVerticalSolidList"/>
    <dgm:cxn modelId="{2E03FAFA-AEF8-4517-B292-2D48A8B78F18}" type="presParOf" srcId="{A2644118-9F41-428B-8D3E-9FEFC9AAC5D1}" destId="{C6DD48B4-1E02-49D8-BB67-868C2D7889A4}" srcOrd="3" destOrd="0" presId="urn:microsoft.com/office/officeart/2018/2/layout/IconVerticalSolidList"/>
    <dgm:cxn modelId="{D70CA5BB-205F-47CF-A2BF-47E88C8199D2}" type="presParOf" srcId="{B9EE2442-E48A-4E31-9B5B-D329AB5D43B3}" destId="{5EE2D52C-FCFE-411E-908D-F937E9B09FF8}" srcOrd="3" destOrd="0" presId="urn:microsoft.com/office/officeart/2018/2/layout/IconVerticalSolidList"/>
    <dgm:cxn modelId="{B07640C1-540E-409B-9ED6-D522AF7D4518}" type="presParOf" srcId="{B9EE2442-E48A-4E31-9B5B-D329AB5D43B3}" destId="{FE69BED9-8AE7-4370-A899-37806F03FF14}" srcOrd="4" destOrd="0" presId="urn:microsoft.com/office/officeart/2018/2/layout/IconVerticalSolidList"/>
    <dgm:cxn modelId="{61F2C505-5104-4955-B254-F0DA2338105D}" type="presParOf" srcId="{FE69BED9-8AE7-4370-A899-37806F03FF14}" destId="{DE380806-9BF0-409E-9C44-77CB8231493A}" srcOrd="0" destOrd="0" presId="urn:microsoft.com/office/officeart/2018/2/layout/IconVerticalSolidList"/>
    <dgm:cxn modelId="{933E5726-FCEB-4F69-9080-643DD568316D}" type="presParOf" srcId="{FE69BED9-8AE7-4370-A899-37806F03FF14}" destId="{1FA224E6-5BED-486E-8DCF-6B090AF1D02B}" srcOrd="1" destOrd="0" presId="urn:microsoft.com/office/officeart/2018/2/layout/IconVerticalSolidList"/>
    <dgm:cxn modelId="{598953BF-5219-46C0-88A2-A0649AC35014}" type="presParOf" srcId="{FE69BED9-8AE7-4370-A899-37806F03FF14}" destId="{9A2585E7-D031-4B4F-8F15-829A5D5E17B1}" srcOrd="2" destOrd="0" presId="urn:microsoft.com/office/officeart/2018/2/layout/IconVerticalSolidList"/>
    <dgm:cxn modelId="{940B8D55-CBB5-4277-97D0-80F3E30664F4}" type="presParOf" srcId="{FE69BED9-8AE7-4370-A899-37806F03FF14}" destId="{6A98E005-CEAF-4495-8CD8-F922A49CB7E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EFA9119-3E75-4F5E-88D1-B395846268B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2AF4A72-0159-4BA8-9CC0-A31B452640B1}">
      <dgm:prSet/>
      <dgm:spPr/>
      <dgm:t>
        <a:bodyPr/>
        <a:lstStyle/>
        <a:p>
          <a:r>
            <a:rPr lang="en-GB" b="1"/>
            <a:t>Case report / Case Series</a:t>
          </a:r>
          <a:r>
            <a:rPr lang="en-GB"/>
            <a:t>: Description of one or several patients or communities to document unusual conditions or the effect of innovated interventions </a:t>
          </a:r>
          <a:endParaRPr lang="en-US"/>
        </a:p>
      </dgm:t>
    </dgm:pt>
    <dgm:pt modelId="{C254B55F-B09C-4F87-9A68-EBCBCDAB1A15}" type="parTrans" cxnId="{F8C7B08D-B07A-4EFC-BF5A-80628A4C2AD7}">
      <dgm:prSet/>
      <dgm:spPr/>
      <dgm:t>
        <a:bodyPr/>
        <a:lstStyle/>
        <a:p>
          <a:endParaRPr lang="en-US"/>
        </a:p>
      </dgm:t>
    </dgm:pt>
    <dgm:pt modelId="{4D4F4F7D-5670-4A87-AA0C-C8BE70563D9D}" type="sibTrans" cxnId="{F8C7B08D-B07A-4EFC-BF5A-80628A4C2AD7}">
      <dgm:prSet/>
      <dgm:spPr/>
      <dgm:t>
        <a:bodyPr/>
        <a:lstStyle/>
        <a:p>
          <a:endParaRPr lang="en-US"/>
        </a:p>
      </dgm:t>
    </dgm:pt>
    <dgm:pt modelId="{F0D8A600-8232-428D-8FFC-71E74248AA8C}">
      <dgm:prSet/>
      <dgm:spPr/>
      <dgm:t>
        <a:bodyPr/>
        <a:lstStyle/>
        <a:p>
          <a:r>
            <a:rPr lang="en-GB" b="1"/>
            <a:t>Qualitative Research: </a:t>
          </a:r>
          <a:r>
            <a:rPr lang="en-GB"/>
            <a:t>Also called naturalistic research; observations or interviews explore the meaning of human experience as it occurs naturally, generating hypothesis about human behaviour </a:t>
          </a:r>
          <a:endParaRPr lang="en-US"/>
        </a:p>
      </dgm:t>
    </dgm:pt>
    <dgm:pt modelId="{B546FB29-5B30-4989-B648-165536419157}" type="parTrans" cxnId="{4488ED81-7C52-43C1-AC06-ED66A6C9D4A8}">
      <dgm:prSet/>
      <dgm:spPr/>
      <dgm:t>
        <a:bodyPr/>
        <a:lstStyle/>
        <a:p>
          <a:endParaRPr lang="en-US"/>
        </a:p>
      </dgm:t>
    </dgm:pt>
    <dgm:pt modelId="{FE99D6C5-D0EF-486B-ADFF-A7E534FF3B91}" type="sibTrans" cxnId="{4488ED81-7C52-43C1-AC06-ED66A6C9D4A8}">
      <dgm:prSet/>
      <dgm:spPr/>
      <dgm:t>
        <a:bodyPr/>
        <a:lstStyle/>
        <a:p>
          <a:endParaRPr lang="en-US"/>
        </a:p>
      </dgm:t>
    </dgm:pt>
    <dgm:pt modelId="{012FC3D4-0521-464B-96F5-8AA462E8F6A5}">
      <dgm:prSet/>
      <dgm:spPr/>
      <dgm:t>
        <a:bodyPr/>
        <a:lstStyle/>
        <a:p>
          <a:r>
            <a:rPr lang="en-GB" b="1"/>
            <a:t>Mixed Methods Research: </a:t>
          </a:r>
          <a:r>
            <a:rPr lang="en-GB"/>
            <a:t>A combination of quantitative and qualitative research methods </a:t>
          </a:r>
          <a:endParaRPr lang="en-US"/>
        </a:p>
      </dgm:t>
    </dgm:pt>
    <dgm:pt modelId="{808F73A5-EDD5-4F51-96D5-0F9CDBE2F6EE}" type="parTrans" cxnId="{4DA14C56-54F0-4CB8-A553-2F4C57F56F1A}">
      <dgm:prSet/>
      <dgm:spPr/>
      <dgm:t>
        <a:bodyPr/>
        <a:lstStyle/>
        <a:p>
          <a:endParaRPr lang="en-US"/>
        </a:p>
      </dgm:t>
    </dgm:pt>
    <dgm:pt modelId="{EC087297-3D27-44F0-BE77-0429C101D8DB}" type="sibTrans" cxnId="{4DA14C56-54F0-4CB8-A553-2F4C57F56F1A}">
      <dgm:prSet/>
      <dgm:spPr/>
      <dgm:t>
        <a:bodyPr/>
        <a:lstStyle/>
        <a:p>
          <a:endParaRPr lang="en-US"/>
        </a:p>
      </dgm:t>
    </dgm:pt>
    <dgm:pt modelId="{44110379-C105-4055-932A-69FCCF2C74A6}" type="pres">
      <dgm:prSet presAssocID="{5EFA9119-3E75-4F5E-88D1-B395846268BD}" presName="root" presStyleCnt="0">
        <dgm:presLayoutVars>
          <dgm:dir/>
          <dgm:resizeHandles val="exact"/>
        </dgm:presLayoutVars>
      </dgm:prSet>
      <dgm:spPr/>
    </dgm:pt>
    <dgm:pt modelId="{ED62AC6A-8AC4-4659-8C17-DE699150487F}" type="pres">
      <dgm:prSet presAssocID="{92AF4A72-0159-4BA8-9CC0-A31B452640B1}" presName="compNode" presStyleCnt="0"/>
      <dgm:spPr/>
    </dgm:pt>
    <dgm:pt modelId="{AFDC5630-A8BA-4649-899D-B618F3650A94}" type="pres">
      <dgm:prSet presAssocID="{92AF4A72-0159-4BA8-9CC0-A31B452640B1}" presName="bgRect" presStyleLbl="bgShp" presStyleIdx="0" presStyleCnt="3"/>
      <dgm:spPr/>
    </dgm:pt>
    <dgm:pt modelId="{6C09D545-93EA-4ECA-BD2E-F0EE736DD700}" type="pres">
      <dgm:prSet presAssocID="{92AF4A72-0159-4BA8-9CC0-A31B452640B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tor"/>
        </a:ext>
      </dgm:extLst>
    </dgm:pt>
    <dgm:pt modelId="{34B10E8A-5BB6-4789-8AB7-59DDC776A459}" type="pres">
      <dgm:prSet presAssocID="{92AF4A72-0159-4BA8-9CC0-A31B452640B1}" presName="spaceRect" presStyleCnt="0"/>
      <dgm:spPr/>
    </dgm:pt>
    <dgm:pt modelId="{BFC6C27C-6F23-43A6-95AD-65D123D4ECFE}" type="pres">
      <dgm:prSet presAssocID="{92AF4A72-0159-4BA8-9CC0-A31B452640B1}" presName="parTx" presStyleLbl="revTx" presStyleIdx="0" presStyleCnt="3">
        <dgm:presLayoutVars>
          <dgm:chMax val="0"/>
          <dgm:chPref val="0"/>
        </dgm:presLayoutVars>
      </dgm:prSet>
      <dgm:spPr/>
    </dgm:pt>
    <dgm:pt modelId="{6654D032-A9DC-4EFC-831B-5891FD085785}" type="pres">
      <dgm:prSet presAssocID="{4D4F4F7D-5670-4A87-AA0C-C8BE70563D9D}" presName="sibTrans" presStyleCnt="0"/>
      <dgm:spPr/>
    </dgm:pt>
    <dgm:pt modelId="{8602E6F2-9999-45CB-ADD4-D791000B907F}" type="pres">
      <dgm:prSet presAssocID="{F0D8A600-8232-428D-8FFC-71E74248AA8C}" presName="compNode" presStyleCnt="0"/>
      <dgm:spPr/>
    </dgm:pt>
    <dgm:pt modelId="{1F1198F3-7FC7-441B-8EB1-4C51CC6A5852}" type="pres">
      <dgm:prSet presAssocID="{F0D8A600-8232-428D-8FFC-71E74248AA8C}" presName="bgRect" presStyleLbl="bgShp" presStyleIdx="1" presStyleCnt="3"/>
      <dgm:spPr/>
    </dgm:pt>
    <dgm:pt modelId="{C3DB40EA-9CCF-4A8E-8228-701B4A3B2B8C}" type="pres">
      <dgm:prSet presAssocID="{F0D8A600-8232-428D-8FFC-71E74248AA8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icroscope"/>
        </a:ext>
      </dgm:extLst>
    </dgm:pt>
    <dgm:pt modelId="{D95AD543-A831-4B38-B8FE-F0C5C8FD3CAD}" type="pres">
      <dgm:prSet presAssocID="{F0D8A600-8232-428D-8FFC-71E74248AA8C}" presName="spaceRect" presStyleCnt="0"/>
      <dgm:spPr/>
    </dgm:pt>
    <dgm:pt modelId="{444A305F-311B-4474-BB45-81F53227FD53}" type="pres">
      <dgm:prSet presAssocID="{F0D8A600-8232-428D-8FFC-71E74248AA8C}" presName="parTx" presStyleLbl="revTx" presStyleIdx="1" presStyleCnt="3">
        <dgm:presLayoutVars>
          <dgm:chMax val="0"/>
          <dgm:chPref val="0"/>
        </dgm:presLayoutVars>
      </dgm:prSet>
      <dgm:spPr/>
    </dgm:pt>
    <dgm:pt modelId="{82643BE7-016B-4E3B-8202-C8F6C40D9D90}" type="pres">
      <dgm:prSet presAssocID="{FE99D6C5-D0EF-486B-ADFF-A7E534FF3B91}" presName="sibTrans" presStyleCnt="0"/>
      <dgm:spPr/>
    </dgm:pt>
    <dgm:pt modelId="{2E3E7E07-B1EC-446B-8164-1DBA93B58897}" type="pres">
      <dgm:prSet presAssocID="{012FC3D4-0521-464B-96F5-8AA462E8F6A5}" presName="compNode" presStyleCnt="0"/>
      <dgm:spPr/>
    </dgm:pt>
    <dgm:pt modelId="{419DFE8B-6626-4181-B054-7296C96D80E0}" type="pres">
      <dgm:prSet presAssocID="{012FC3D4-0521-464B-96F5-8AA462E8F6A5}" presName="bgRect" presStyleLbl="bgShp" presStyleIdx="2" presStyleCnt="3"/>
      <dgm:spPr/>
    </dgm:pt>
    <dgm:pt modelId="{4AB5CC90-8540-44D3-B9F8-0031A5992731}" type="pres">
      <dgm:prSet presAssocID="{012FC3D4-0521-464B-96F5-8AA462E8F6A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3BC500D2-43B3-4881-B86F-0077ABE088DD}" type="pres">
      <dgm:prSet presAssocID="{012FC3D4-0521-464B-96F5-8AA462E8F6A5}" presName="spaceRect" presStyleCnt="0"/>
      <dgm:spPr/>
    </dgm:pt>
    <dgm:pt modelId="{07DFB47B-670D-43B1-B349-0DA50A63562E}" type="pres">
      <dgm:prSet presAssocID="{012FC3D4-0521-464B-96F5-8AA462E8F6A5}" presName="parTx" presStyleLbl="revTx" presStyleIdx="2" presStyleCnt="3">
        <dgm:presLayoutVars>
          <dgm:chMax val="0"/>
          <dgm:chPref val="0"/>
        </dgm:presLayoutVars>
      </dgm:prSet>
      <dgm:spPr/>
    </dgm:pt>
  </dgm:ptLst>
  <dgm:cxnLst>
    <dgm:cxn modelId="{4DA14C56-54F0-4CB8-A553-2F4C57F56F1A}" srcId="{5EFA9119-3E75-4F5E-88D1-B395846268BD}" destId="{012FC3D4-0521-464B-96F5-8AA462E8F6A5}" srcOrd="2" destOrd="0" parTransId="{808F73A5-EDD5-4F51-96D5-0F9CDBE2F6EE}" sibTransId="{EC087297-3D27-44F0-BE77-0429C101D8DB}"/>
    <dgm:cxn modelId="{4488ED81-7C52-43C1-AC06-ED66A6C9D4A8}" srcId="{5EFA9119-3E75-4F5E-88D1-B395846268BD}" destId="{F0D8A600-8232-428D-8FFC-71E74248AA8C}" srcOrd="1" destOrd="0" parTransId="{B546FB29-5B30-4989-B648-165536419157}" sibTransId="{FE99D6C5-D0EF-486B-ADFF-A7E534FF3B91}"/>
    <dgm:cxn modelId="{F8C7B08D-B07A-4EFC-BF5A-80628A4C2AD7}" srcId="{5EFA9119-3E75-4F5E-88D1-B395846268BD}" destId="{92AF4A72-0159-4BA8-9CC0-A31B452640B1}" srcOrd="0" destOrd="0" parTransId="{C254B55F-B09C-4F87-9A68-EBCBCDAB1A15}" sibTransId="{4D4F4F7D-5670-4A87-AA0C-C8BE70563D9D}"/>
    <dgm:cxn modelId="{80DAA599-C77B-4002-96AB-F219B9A9798C}" type="presOf" srcId="{012FC3D4-0521-464B-96F5-8AA462E8F6A5}" destId="{07DFB47B-670D-43B1-B349-0DA50A63562E}" srcOrd="0" destOrd="0" presId="urn:microsoft.com/office/officeart/2018/2/layout/IconVerticalSolidList"/>
    <dgm:cxn modelId="{DCCAE2D0-74A6-4B2B-BDF2-B605F799EB33}" type="presOf" srcId="{F0D8A600-8232-428D-8FFC-71E74248AA8C}" destId="{444A305F-311B-4474-BB45-81F53227FD53}" srcOrd="0" destOrd="0" presId="urn:microsoft.com/office/officeart/2018/2/layout/IconVerticalSolidList"/>
    <dgm:cxn modelId="{BD7E5EE1-0812-4A66-9AFF-FA002972E9EF}" type="presOf" srcId="{5EFA9119-3E75-4F5E-88D1-B395846268BD}" destId="{44110379-C105-4055-932A-69FCCF2C74A6}" srcOrd="0" destOrd="0" presId="urn:microsoft.com/office/officeart/2018/2/layout/IconVerticalSolidList"/>
    <dgm:cxn modelId="{584F93EC-E430-4727-8FFD-2944DC214155}" type="presOf" srcId="{92AF4A72-0159-4BA8-9CC0-A31B452640B1}" destId="{BFC6C27C-6F23-43A6-95AD-65D123D4ECFE}" srcOrd="0" destOrd="0" presId="urn:microsoft.com/office/officeart/2018/2/layout/IconVerticalSolidList"/>
    <dgm:cxn modelId="{CD83477B-10AE-48E6-B2F8-A2E97D86D56A}" type="presParOf" srcId="{44110379-C105-4055-932A-69FCCF2C74A6}" destId="{ED62AC6A-8AC4-4659-8C17-DE699150487F}" srcOrd="0" destOrd="0" presId="urn:microsoft.com/office/officeart/2018/2/layout/IconVerticalSolidList"/>
    <dgm:cxn modelId="{ADE15DD7-C899-445D-BC43-44BEE79FC47C}" type="presParOf" srcId="{ED62AC6A-8AC4-4659-8C17-DE699150487F}" destId="{AFDC5630-A8BA-4649-899D-B618F3650A94}" srcOrd="0" destOrd="0" presId="urn:microsoft.com/office/officeart/2018/2/layout/IconVerticalSolidList"/>
    <dgm:cxn modelId="{99FEB755-F37D-47E5-B8BA-15692EF8C11D}" type="presParOf" srcId="{ED62AC6A-8AC4-4659-8C17-DE699150487F}" destId="{6C09D545-93EA-4ECA-BD2E-F0EE736DD700}" srcOrd="1" destOrd="0" presId="urn:microsoft.com/office/officeart/2018/2/layout/IconVerticalSolidList"/>
    <dgm:cxn modelId="{8A91B6C6-FDA9-4909-984E-AB245361A0D0}" type="presParOf" srcId="{ED62AC6A-8AC4-4659-8C17-DE699150487F}" destId="{34B10E8A-5BB6-4789-8AB7-59DDC776A459}" srcOrd="2" destOrd="0" presId="urn:microsoft.com/office/officeart/2018/2/layout/IconVerticalSolidList"/>
    <dgm:cxn modelId="{724B2421-61D4-4131-BD14-DC08A2E72DA7}" type="presParOf" srcId="{ED62AC6A-8AC4-4659-8C17-DE699150487F}" destId="{BFC6C27C-6F23-43A6-95AD-65D123D4ECFE}" srcOrd="3" destOrd="0" presId="urn:microsoft.com/office/officeart/2018/2/layout/IconVerticalSolidList"/>
    <dgm:cxn modelId="{6A833E9E-7719-4565-BF26-0B8DBEC0FC0F}" type="presParOf" srcId="{44110379-C105-4055-932A-69FCCF2C74A6}" destId="{6654D032-A9DC-4EFC-831B-5891FD085785}" srcOrd="1" destOrd="0" presId="urn:microsoft.com/office/officeart/2018/2/layout/IconVerticalSolidList"/>
    <dgm:cxn modelId="{5187E983-85B9-4B4A-8EB8-ACDB2E137E91}" type="presParOf" srcId="{44110379-C105-4055-932A-69FCCF2C74A6}" destId="{8602E6F2-9999-45CB-ADD4-D791000B907F}" srcOrd="2" destOrd="0" presId="urn:microsoft.com/office/officeart/2018/2/layout/IconVerticalSolidList"/>
    <dgm:cxn modelId="{9AB8A7B8-FAF5-4CBE-95A4-3F20F733FAAF}" type="presParOf" srcId="{8602E6F2-9999-45CB-ADD4-D791000B907F}" destId="{1F1198F3-7FC7-441B-8EB1-4C51CC6A5852}" srcOrd="0" destOrd="0" presId="urn:microsoft.com/office/officeart/2018/2/layout/IconVerticalSolidList"/>
    <dgm:cxn modelId="{69726DB7-2A3D-459B-BEB2-5A3EAA0123CB}" type="presParOf" srcId="{8602E6F2-9999-45CB-ADD4-D791000B907F}" destId="{C3DB40EA-9CCF-4A8E-8228-701B4A3B2B8C}" srcOrd="1" destOrd="0" presId="urn:microsoft.com/office/officeart/2018/2/layout/IconVerticalSolidList"/>
    <dgm:cxn modelId="{4857DE08-4912-418C-8EAF-AEC847D40AE4}" type="presParOf" srcId="{8602E6F2-9999-45CB-ADD4-D791000B907F}" destId="{D95AD543-A831-4B38-B8FE-F0C5C8FD3CAD}" srcOrd="2" destOrd="0" presId="urn:microsoft.com/office/officeart/2018/2/layout/IconVerticalSolidList"/>
    <dgm:cxn modelId="{FDE03748-1CCA-4779-9DC0-6A1D32AE883A}" type="presParOf" srcId="{8602E6F2-9999-45CB-ADD4-D791000B907F}" destId="{444A305F-311B-4474-BB45-81F53227FD53}" srcOrd="3" destOrd="0" presId="urn:microsoft.com/office/officeart/2018/2/layout/IconVerticalSolidList"/>
    <dgm:cxn modelId="{2B9FF961-5F61-4044-B298-EADF82D97F95}" type="presParOf" srcId="{44110379-C105-4055-932A-69FCCF2C74A6}" destId="{82643BE7-016B-4E3B-8202-C8F6C40D9D90}" srcOrd="3" destOrd="0" presId="urn:microsoft.com/office/officeart/2018/2/layout/IconVerticalSolidList"/>
    <dgm:cxn modelId="{522D0305-CED3-4284-9872-47131A58537F}" type="presParOf" srcId="{44110379-C105-4055-932A-69FCCF2C74A6}" destId="{2E3E7E07-B1EC-446B-8164-1DBA93B58897}" srcOrd="4" destOrd="0" presId="urn:microsoft.com/office/officeart/2018/2/layout/IconVerticalSolidList"/>
    <dgm:cxn modelId="{5047C7DD-9218-4A3D-B097-13723C6BC20A}" type="presParOf" srcId="{2E3E7E07-B1EC-446B-8164-1DBA93B58897}" destId="{419DFE8B-6626-4181-B054-7296C96D80E0}" srcOrd="0" destOrd="0" presId="urn:microsoft.com/office/officeart/2018/2/layout/IconVerticalSolidList"/>
    <dgm:cxn modelId="{DE171332-2D80-479B-9F46-F5B641E6CDE3}" type="presParOf" srcId="{2E3E7E07-B1EC-446B-8164-1DBA93B58897}" destId="{4AB5CC90-8540-44D3-B9F8-0031A5992731}" srcOrd="1" destOrd="0" presId="urn:microsoft.com/office/officeart/2018/2/layout/IconVerticalSolidList"/>
    <dgm:cxn modelId="{B375927E-D99B-4331-8A7F-A8EA3EC59299}" type="presParOf" srcId="{2E3E7E07-B1EC-446B-8164-1DBA93B58897}" destId="{3BC500D2-43B3-4881-B86F-0077ABE088DD}" srcOrd="2" destOrd="0" presId="urn:microsoft.com/office/officeart/2018/2/layout/IconVerticalSolidList"/>
    <dgm:cxn modelId="{15F04027-2D1B-4B0C-894E-480C10850C86}" type="presParOf" srcId="{2E3E7E07-B1EC-446B-8164-1DBA93B58897}" destId="{07DFB47B-670D-43B1-B349-0DA50A63562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8D26F2D-B4A9-4EFD-80E4-9FAB4212377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CF8C553-F291-478F-AD63-1AB5C856ECD2}">
      <dgm:prSet/>
      <dgm:spPr/>
      <dgm:t>
        <a:bodyPr/>
        <a:lstStyle/>
        <a:p>
          <a:r>
            <a:rPr lang="en-GB"/>
            <a:t>The concept of EBP represents the fundamental principle that the provision of quality care will depend on your ability to make choices that are based on the best evidence currently available. </a:t>
          </a:r>
          <a:endParaRPr lang="en-US"/>
        </a:p>
      </dgm:t>
    </dgm:pt>
    <dgm:pt modelId="{B99BAB48-39CE-4BFF-AD48-3F668FEAECE8}" type="parTrans" cxnId="{75F3F93F-951B-41E1-9726-127C7D37ECF0}">
      <dgm:prSet/>
      <dgm:spPr/>
      <dgm:t>
        <a:bodyPr/>
        <a:lstStyle/>
        <a:p>
          <a:endParaRPr lang="en-US"/>
        </a:p>
      </dgm:t>
    </dgm:pt>
    <dgm:pt modelId="{69EDC6E4-ABA6-43AA-A58D-0A0DA5428C69}" type="sibTrans" cxnId="{75F3F93F-951B-41E1-9726-127C7D37ECF0}">
      <dgm:prSet/>
      <dgm:spPr/>
      <dgm:t>
        <a:bodyPr/>
        <a:lstStyle/>
        <a:p>
          <a:endParaRPr lang="en-US"/>
        </a:p>
      </dgm:t>
    </dgm:pt>
    <dgm:pt modelId="{81F3DDF8-44F4-44C2-9E20-1A6860D9F8DC}">
      <dgm:prSet/>
      <dgm:spPr/>
      <dgm:t>
        <a:bodyPr/>
        <a:lstStyle/>
        <a:p>
          <a:r>
            <a:rPr lang="en-GB"/>
            <a:t>The concept of EBP is more than just reliance on published research, however, make decisions based on available literature, as well as your own clinical judgement an experience </a:t>
          </a:r>
          <a:endParaRPr lang="en-US"/>
        </a:p>
      </dgm:t>
    </dgm:pt>
    <dgm:pt modelId="{3874A6BC-04A9-4384-B5D6-A085EE05131C}" type="parTrans" cxnId="{CC626C25-DEE5-4A64-AB4D-99B23C8A11AF}">
      <dgm:prSet/>
      <dgm:spPr/>
      <dgm:t>
        <a:bodyPr/>
        <a:lstStyle/>
        <a:p>
          <a:endParaRPr lang="en-US"/>
        </a:p>
      </dgm:t>
    </dgm:pt>
    <dgm:pt modelId="{EB3DC641-7F03-4032-9D67-E38C7695B85E}" type="sibTrans" cxnId="{CC626C25-DEE5-4A64-AB4D-99B23C8A11AF}">
      <dgm:prSet/>
      <dgm:spPr/>
      <dgm:t>
        <a:bodyPr/>
        <a:lstStyle/>
        <a:p>
          <a:endParaRPr lang="en-US"/>
        </a:p>
      </dgm:t>
    </dgm:pt>
    <dgm:pt modelId="{89EFDC02-95C3-42BF-8247-D40EBC618D45}">
      <dgm:prSet/>
      <dgm:spPr/>
      <dgm:t>
        <a:bodyPr/>
        <a:lstStyle/>
        <a:p>
          <a:r>
            <a:rPr lang="en-GB"/>
            <a:t>All in the context of a clinical setting and patient experience</a:t>
          </a:r>
          <a:endParaRPr lang="en-US"/>
        </a:p>
      </dgm:t>
    </dgm:pt>
    <dgm:pt modelId="{494F6AFD-16EA-47D2-98AA-DF11FE254750}" type="parTrans" cxnId="{255AF7F8-9D74-4F89-8CB0-4B82279C464D}">
      <dgm:prSet/>
      <dgm:spPr/>
      <dgm:t>
        <a:bodyPr/>
        <a:lstStyle/>
        <a:p>
          <a:endParaRPr lang="en-US"/>
        </a:p>
      </dgm:t>
    </dgm:pt>
    <dgm:pt modelId="{53399A57-C975-4FFE-9029-12F1B353EEB9}" type="sibTrans" cxnId="{255AF7F8-9D74-4F89-8CB0-4B82279C464D}">
      <dgm:prSet/>
      <dgm:spPr/>
      <dgm:t>
        <a:bodyPr/>
        <a:lstStyle/>
        <a:p>
          <a:endParaRPr lang="en-US"/>
        </a:p>
      </dgm:t>
    </dgm:pt>
    <dgm:pt modelId="{4D9D734A-BE47-4A94-A220-D2AEAEA569E0}" type="pres">
      <dgm:prSet presAssocID="{08D26F2D-B4A9-4EFD-80E4-9FAB42123777}" presName="root" presStyleCnt="0">
        <dgm:presLayoutVars>
          <dgm:dir/>
          <dgm:resizeHandles val="exact"/>
        </dgm:presLayoutVars>
      </dgm:prSet>
      <dgm:spPr/>
    </dgm:pt>
    <dgm:pt modelId="{04480D9E-1103-4553-92A4-7C76D6070E64}" type="pres">
      <dgm:prSet presAssocID="{0CF8C553-F291-478F-AD63-1AB5C856ECD2}" presName="compNode" presStyleCnt="0"/>
      <dgm:spPr/>
    </dgm:pt>
    <dgm:pt modelId="{5E4DF631-0299-43FE-8A3E-933EE9358D49}" type="pres">
      <dgm:prSet presAssocID="{0CF8C553-F291-478F-AD63-1AB5C856ECD2}" presName="bgRect" presStyleLbl="bgShp" presStyleIdx="0" presStyleCnt="3"/>
      <dgm:spPr/>
    </dgm:pt>
    <dgm:pt modelId="{08684762-D2CB-4186-A847-9E25069564C4}" type="pres">
      <dgm:prSet presAssocID="{0CF8C553-F291-478F-AD63-1AB5C856ECD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tor"/>
        </a:ext>
      </dgm:extLst>
    </dgm:pt>
    <dgm:pt modelId="{3ECBCA83-6942-4F22-8F43-A944849F722B}" type="pres">
      <dgm:prSet presAssocID="{0CF8C553-F291-478F-AD63-1AB5C856ECD2}" presName="spaceRect" presStyleCnt="0"/>
      <dgm:spPr/>
    </dgm:pt>
    <dgm:pt modelId="{5F13EE0C-FB8F-4A20-8812-246A67BEF2E9}" type="pres">
      <dgm:prSet presAssocID="{0CF8C553-F291-478F-AD63-1AB5C856ECD2}" presName="parTx" presStyleLbl="revTx" presStyleIdx="0" presStyleCnt="3">
        <dgm:presLayoutVars>
          <dgm:chMax val="0"/>
          <dgm:chPref val="0"/>
        </dgm:presLayoutVars>
      </dgm:prSet>
      <dgm:spPr/>
    </dgm:pt>
    <dgm:pt modelId="{7EB4C65D-4625-49DA-8A86-AB48BF862747}" type="pres">
      <dgm:prSet presAssocID="{69EDC6E4-ABA6-43AA-A58D-0A0DA5428C69}" presName="sibTrans" presStyleCnt="0"/>
      <dgm:spPr/>
    </dgm:pt>
    <dgm:pt modelId="{C09F9377-6EBE-417F-8D56-AAE0147FC2F3}" type="pres">
      <dgm:prSet presAssocID="{81F3DDF8-44F4-44C2-9E20-1A6860D9F8DC}" presName="compNode" presStyleCnt="0"/>
      <dgm:spPr/>
    </dgm:pt>
    <dgm:pt modelId="{B6FD5A03-F0EB-4DED-9BD4-1BECD9029DF2}" type="pres">
      <dgm:prSet presAssocID="{81F3DDF8-44F4-44C2-9E20-1A6860D9F8DC}" presName="bgRect" presStyleLbl="bgShp" presStyleIdx="1" presStyleCnt="3"/>
      <dgm:spPr/>
    </dgm:pt>
    <dgm:pt modelId="{0C6A391B-8216-42B0-994F-B6D518546F7B}" type="pres">
      <dgm:prSet presAssocID="{81F3DDF8-44F4-44C2-9E20-1A6860D9F8D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CE61318C-B103-430E-887A-E2DEB2DE359C}" type="pres">
      <dgm:prSet presAssocID="{81F3DDF8-44F4-44C2-9E20-1A6860D9F8DC}" presName="spaceRect" presStyleCnt="0"/>
      <dgm:spPr/>
    </dgm:pt>
    <dgm:pt modelId="{6C98820C-2C66-4312-966A-83EE1626B20E}" type="pres">
      <dgm:prSet presAssocID="{81F3DDF8-44F4-44C2-9E20-1A6860D9F8DC}" presName="parTx" presStyleLbl="revTx" presStyleIdx="1" presStyleCnt="3">
        <dgm:presLayoutVars>
          <dgm:chMax val="0"/>
          <dgm:chPref val="0"/>
        </dgm:presLayoutVars>
      </dgm:prSet>
      <dgm:spPr/>
    </dgm:pt>
    <dgm:pt modelId="{9A9BA0DE-9E97-41AB-BF37-9B12825B81E0}" type="pres">
      <dgm:prSet presAssocID="{EB3DC641-7F03-4032-9D67-E38C7695B85E}" presName="sibTrans" presStyleCnt="0"/>
      <dgm:spPr/>
    </dgm:pt>
    <dgm:pt modelId="{0253F23B-1361-44F1-B295-5A5631A9D437}" type="pres">
      <dgm:prSet presAssocID="{89EFDC02-95C3-42BF-8247-D40EBC618D45}" presName="compNode" presStyleCnt="0"/>
      <dgm:spPr/>
    </dgm:pt>
    <dgm:pt modelId="{C21FB918-7C75-4C13-BE40-196E0E945C8D}" type="pres">
      <dgm:prSet presAssocID="{89EFDC02-95C3-42BF-8247-D40EBC618D45}" presName="bgRect" presStyleLbl="bgShp" presStyleIdx="2" presStyleCnt="3"/>
      <dgm:spPr/>
    </dgm:pt>
    <dgm:pt modelId="{354B3EE5-6AD7-476F-9DAB-E2C1717B93F4}" type="pres">
      <dgm:prSet presAssocID="{89EFDC02-95C3-42BF-8247-D40EBC618D4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ethoscope"/>
        </a:ext>
      </dgm:extLst>
    </dgm:pt>
    <dgm:pt modelId="{4E66DCC1-1A53-4F89-AF76-709A5250CFAB}" type="pres">
      <dgm:prSet presAssocID="{89EFDC02-95C3-42BF-8247-D40EBC618D45}" presName="spaceRect" presStyleCnt="0"/>
      <dgm:spPr/>
    </dgm:pt>
    <dgm:pt modelId="{B6F8486B-BC19-46FC-AC17-8C2E9F82360F}" type="pres">
      <dgm:prSet presAssocID="{89EFDC02-95C3-42BF-8247-D40EBC618D45}" presName="parTx" presStyleLbl="revTx" presStyleIdx="2" presStyleCnt="3">
        <dgm:presLayoutVars>
          <dgm:chMax val="0"/>
          <dgm:chPref val="0"/>
        </dgm:presLayoutVars>
      </dgm:prSet>
      <dgm:spPr/>
    </dgm:pt>
  </dgm:ptLst>
  <dgm:cxnLst>
    <dgm:cxn modelId="{CC626C25-DEE5-4A64-AB4D-99B23C8A11AF}" srcId="{08D26F2D-B4A9-4EFD-80E4-9FAB42123777}" destId="{81F3DDF8-44F4-44C2-9E20-1A6860D9F8DC}" srcOrd="1" destOrd="0" parTransId="{3874A6BC-04A9-4384-B5D6-A085EE05131C}" sibTransId="{EB3DC641-7F03-4032-9D67-E38C7695B85E}"/>
    <dgm:cxn modelId="{75F3F93F-951B-41E1-9726-127C7D37ECF0}" srcId="{08D26F2D-B4A9-4EFD-80E4-9FAB42123777}" destId="{0CF8C553-F291-478F-AD63-1AB5C856ECD2}" srcOrd="0" destOrd="0" parTransId="{B99BAB48-39CE-4BFF-AD48-3F668FEAECE8}" sibTransId="{69EDC6E4-ABA6-43AA-A58D-0A0DA5428C69}"/>
    <dgm:cxn modelId="{6188E648-95D7-41E6-A0D1-83AD85ADB022}" type="presOf" srcId="{08D26F2D-B4A9-4EFD-80E4-9FAB42123777}" destId="{4D9D734A-BE47-4A94-A220-D2AEAEA569E0}" srcOrd="0" destOrd="0" presId="urn:microsoft.com/office/officeart/2018/2/layout/IconVerticalSolidList"/>
    <dgm:cxn modelId="{A1C2E44F-4DBD-4C99-84FF-7F7A0E76BC54}" type="presOf" srcId="{0CF8C553-F291-478F-AD63-1AB5C856ECD2}" destId="{5F13EE0C-FB8F-4A20-8812-246A67BEF2E9}" srcOrd="0" destOrd="0" presId="urn:microsoft.com/office/officeart/2018/2/layout/IconVerticalSolidList"/>
    <dgm:cxn modelId="{40336BBF-1274-4CD9-B5B2-AA3F53900D6C}" type="presOf" srcId="{89EFDC02-95C3-42BF-8247-D40EBC618D45}" destId="{B6F8486B-BC19-46FC-AC17-8C2E9F82360F}" srcOrd="0" destOrd="0" presId="urn:microsoft.com/office/officeart/2018/2/layout/IconVerticalSolidList"/>
    <dgm:cxn modelId="{180428D3-9417-42D3-9998-AA3023B8E480}" type="presOf" srcId="{81F3DDF8-44F4-44C2-9E20-1A6860D9F8DC}" destId="{6C98820C-2C66-4312-966A-83EE1626B20E}" srcOrd="0" destOrd="0" presId="urn:microsoft.com/office/officeart/2018/2/layout/IconVerticalSolidList"/>
    <dgm:cxn modelId="{255AF7F8-9D74-4F89-8CB0-4B82279C464D}" srcId="{08D26F2D-B4A9-4EFD-80E4-9FAB42123777}" destId="{89EFDC02-95C3-42BF-8247-D40EBC618D45}" srcOrd="2" destOrd="0" parTransId="{494F6AFD-16EA-47D2-98AA-DF11FE254750}" sibTransId="{53399A57-C975-4FFE-9029-12F1B353EEB9}"/>
    <dgm:cxn modelId="{1B8429BA-3A3B-4EAD-9B38-C2CA18FBED84}" type="presParOf" srcId="{4D9D734A-BE47-4A94-A220-D2AEAEA569E0}" destId="{04480D9E-1103-4553-92A4-7C76D6070E64}" srcOrd="0" destOrd="0" presId="urn:microsoft.com/office/officeart/2018/2/layout/IconVerticalSolidList"/>
    <dgm:cxn modelId="{6CED62F1-BA17-424C-A1A5-A933E8AF21D7}" type="presParOf" srcId="{04480D9E-1103-4553-92A4-7C76D6070E64}" destId="{5E4DF631-0299-43FE-8A3E-933EE9358D49}" srcOrd="0" destOrd="0" presId="urn:microsoft.com/office/officeart/2018/2/layout/IconVerticalSolidList"/>
    <dgm:cxn modelId="{703871B4-8E89-492F-B7AD-9FE1E4307972}" type="presParOf" srcId="{04480D9E-1103-4553-92A4-7C76D6070E64}" destId="{08684762-D2CB-4186-A847-9E25069564C4}" srcOrd="1" destOrd="0" presId="urn:microsoft.com/office/officeart/2018/2/layout/IconVerticalSolidList"/>
    <dgm:cxn modelId="{17C66281-6792-4E0F-BE3E-CFFA55778C27}" type="presParOf" srcId="{04480D9E-1103-4553-92A4-7C76D6070E64}" destId="{3ECBCA83-6942-4F22-8F43-A944849F722B}" srcOrd="2" destOrd="0" presId="urn:microsoft.com/office/officeart/2018/2/layout/IconVerticalSolidList"/>
    <dgm:cxn modelId="{302E389F-50CE-495A-8BD8-7053C3283EFD}" type="presParOf" srcId="{04480D9E-1103-4553-92A4-7C76D6070E64}" destId="{5F13EE0C-FB8F-4A20-8812-246A67BEF2E9}" srcOrd="3" destOrd="0" presId="urn:microsoft.com/office/officeart/2018/2/layout/IconVerticalSolidList"/>
    <dgm:cxn modelId="{9108A993-BC27-4E49-99E7-6A1FD02905CE}" type="presParOf" srcId="{4D9D734A-BE47-4A94-A220-D2AEAEA569E0}" destId="{7EB4C65D-4625-49DA-8A86-AB48BF862747}" srcOrd="1" destOrd="0" presId="urn:microsoft.com/office/officeart/2018/2/layout/IconVerticalSolidList"/>
    <dgm:cxn modelId="{69D5532D-4310-43C3-BE1D-6CAB362AD993}" type="presParOf" srcId="{4D9D734A-BE47-4A94-A220-D2AEAEA569E0}" destId="{C09F9377-6EBE-417F-8D56-AAE0147FC2F3}" srcOrd="2" destOrd="0" presId="urn:microsoft.com/office/officeart/2018/2/layout/IconVerticalSolidList"/>
    <dgm:cxn modelId="{19E3F8E1-FF6A-4DCF-A3FF-BD8784CB8055}" type="presParOf" srcId="{C09F9377-6EBE-417F-8D56-AAE0147FC2F3}" destId="{B6FD5A03-F0EB-4DED-9BD4-1BECD9029DF2}" srcOrd="0" destOrd="0" presId="urn:microsoft.com/office/officeart/2018/2/layout/IconVerticalSolidList"/>
    <dgm:cxn modelId="{721F5818-A5A9-4211-914F-5A0AE3146163}" type="presParOf" srcId="{C09F9377-6EBE-417F-8D56-AAE0147FC2F3}" destId="{0C6A391B-8216-42B0-994F-B6D518546F7B}" srcOrd="1" destOrd="0" presId="urn:microsoft.com/office/officeart/2018/2/layout/IconVerticalSolidList"/>
    <dgm:cxn modelId="{1AB7225F-552C-4E7A-BB75-5E992C69C806}" type="presParOf" srcId="{C09F9377-6EBE-417F-8D56-AAE0147FC2F3}" destId="{CE61318C-B103-430E-887A-E2DEB2DE359C}" srcOrd="2" destOrd="0" presId="urn:microsoft.com/office/officeart/2018/2/layout/IconVerticalSolidList"/>
    <dgm:cxn modelId="{BF8AE1E1-4C7E-465B-9C06-7881AAC527C8}" type="presParOf" srcId="{C09F9377-6EBE-417F-8D56-AAE0147FC2F3}" destId="{6C98820C-2C66-4312-966A-83EE1626B20E}" srcOrd="3" destOrd="0" presId="urn:microsoft.com/office/officeart/2018/2/layout/IconVerticalSolidList"/>
    <dgm:cxn modelId="{6444FA2E-124B-492A-82E0-AC62D61C0144}" type="presParOf" srcId="{4D9D734A-BE47-4A94-A220-D2AEAEA569E0}" destId="{9A9BA0DE-9E97-41AB-BF37-9B12825B81E0}" srcOrd="3" destOrd="0" presId="urn:microsoft.com/office/officeart/2018/2/layout/IconVerticalSolidList"/>
    <dgm:cxn modelId="{6123492E-348B-48B3-86E3-17642B7655FE}" type="presParOf" srcId="{4D9D734A-BE47-4A94-A220-D2AEAEA569E0}" destId="{0253F23B-1361-44F1-B295-5A5631A9D437}" srcOrd="4" destOrd="0" presId="urn:microsoft.com/office/officeart/2018/2/layout/IconVerticalSolidList"/>
    <dgm:cxn modelId="{A9C3F30D-72D4-40FA-9A35-2564C57F5352}" type="presParOf" srcId="{0253F23B-1361-44F1-B295-5A5631A9D437}" destId="{C21FB918-7C75-4C13-BE40-196E0E945C8D}" srcOrd="0" destOrd="0" presId="urn:microsoft.com/office/officeart/2018/2/layout/IconVerticalSolidList"/>
    <dgm:cxn modelId="{77431EBE-2165-4E33-BE22-4DFDEB98B1DC}" type="presParOf" srcId="{0253F23B-1361-44F1-B295-5A5631A9D437}" destId="{354B3EE5-6AD7-476F-9DAB-E2C1717B93F4}" srcOrd="1" destOrd="0" presId="urn:microsoft.com/office/officeart/2018/2/layout/IconVerticalSolidList"/>
    <dgm:cxn modelId="{44297572-5BE1-4062-81DA-1C3B464357A4}" type="presParOf" srcId="{0253F23B-1361-44F1-B295-5A5631A9D437}" destId="{4E66DCC1-1A53-4F89-AF76-709A5250CFAB}" srcOrd="2" destOrd="0" presId="urn:microsoft.com/office/officeart/2018/2/layout/IconVerticalSolidList"/>
    <dgm:cxn modelId="{404FA9F1-8C22-45EE-940E-95D6D993CCC1}" type="presParOf" srcId="{0253F23B-1361-44F1-B295-5A5631A9D437}" destId="{B6F8486B-BC19-46FC-AC17-8C2E9F82360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81BE47-6AB6-4197-B93E-4BBB24FF672B}">
      <dsp:nvSpPr>
        <dsp:cNvPr id="0" name=""/>
        <dsp:cNvSpPr/>
      </dsp:nvSpPr>
      <dsp:spPr>
        <a:xfrm>
          <a:off x="0" y="656"/>
          <a:ext cx="6620255" cy="15358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801B51-7303-44DB-A11F-C1A5CD8328AE}">
      <dsp:nvSpPr>
        <dsp:cNvPr id="0" name=""/>
        <dsp:cNvSpPr/>
      </dsp:nvSpPr>
      <dsp:spPr>
        <a:xfrm>
          <a:off x="464584" y="346215"/>
          <a:ext cx="844699" cy="8446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142C05-358D-4001-98B1-A956068256E0}">
      <dsp:nvSpPr>
        <dsp:cNvPr id="0" name=""/>
        <dsp:cNvSpPr/>
      </dsp:nvSpPr>
      <dsp:spPr>
        <a:xfrm>
          <a:off x="1773868" y="656"/>
          <a:ext cx="4846387" cy="1535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2541" tIns="162541" rIns="162541" bIns="162541" numCol="1" spcCol="1270" anchor="ctr" anchorCtr="0">
          <a:noAutofit/>
        </a:bodyPr>
        <a:lstStyle/>
        <a:p>
          <a:pPr marL="0" lvl="0" indent="0" algn="l" defTabSz="622300">
            <a:lnSpc>
              <a:spcPct val="90000"/>
            </a:lnSpc>
            <a:spcBef>
              <a:spcPct val="0"/>
            </a:spcBef>
            <a:spcAft>
              <a:spcPct val="35000"/>
            </a:spcAft>
            <a:buNone/>
          </a:pPr>
          <a:r>
            <a:rPr lang="en-GB" sz="1400" b="1" kern="1200"/>
            <a:t>Randomised control trial RCT: </a:t>
          </a:r>
          <a:r>
            <a:rPr lang="en-GB" sz="1400" i="1" kern="1200"/>
            <a:t>An efficacy trial involving the controlled comparison of an experimental intervention and a placebo, sham or usual care condition. Through random assignment and restricted subject selection, the design controls for bias to allow cause and effect conclusions. </a:t>
          </a:r>
          <a:endParaRPr lang="en-US" sz="1400" kern="1200"/>
        </a:p>
      </dsp:txBody>
      <dsp:txXfrm>
        <a:off x="1773868" y="656"/>
        <a:ext cx="4846387" cy="1535816"/>
      </dsp:txXfrm>
    </dsp:sp>
    <dsp:sp modelId="{528B5097-E1F0-4A2F-AD2E-146EA170D343}">
      <dsp:nvSpPr>
        <dsp:cNvPr id="0" name=""/>
        <dsp:cNvSpPr/>
      </dsp:nvSpPr>
      <dsp:spPr>
        <a:xfrm>
          <a:off x="0" y="1920427"/>
          <a:ext cx="6620255" cy="15358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8BB2B0-9C51-4D9C-A241-2CFA0F7F81CC}">
      <dsp:nvSpPr>
        <dsp:cNvPr id="0" name=""/>
        <dsp:cNvSpPr/>
      </dsp:nvSpPr>
      <dsp:spPr>
        <a:xfrm>
          <a:off x="464584" y="2265986"/>
          <a:ext cx="844699" cy="8446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B63AFF-E5B8-4117-A1F6-9C0D873A15C4}">
      <dsp:nvSpPr>
        <dsp:cNvPr id="0" name=""/>
        <dsp:cNvSpPr/>
      </dsp:nvSpPr>
      <dsp:spPr>
        <a:xfrm>
          <a:off x="1773868" y="1920427"/>
          <a:ext cx="4846387" cy="1535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2541" tIns="162541" rIns="162541" bIns="162541" numCol="1" spcCol="1270" anchor="ctr" anchorCtr="0">
          <a:noAutofit/>
        </a:bodyPr>
        <a:lstStyle/>
        <a:p>
          <a:pPr marL="0" lvl="0" indent="0" algn="l" defTabSz="622300">
            <a:lnSpc>
              <a:spcPct val="90000"/>
            </a:lnSpc>
            <a:spcBef>
              <a:spcPct val="0"/>
            </a:spcBef>
            <a:spcAft>
              <a:spcPct val="35000"/>
            </a:spcAft>
            <a:buNone/>
          </a:pPr>
          <a:r>
            <a:rPr lang="en-GB" sz="1400" b="1" i="1" kern="1200"/>
            <a:t>Pragmatic Clinical Trial: </a:t>
          </a:r>
          <a:r>
            <a:rPr lang="en-GB" sz="1400" i="1" kern="1200"/>
            <a:t>An effectiveness trial with a focus on real world outcomes. Participants represent the patients that would typically receive treatment. </a:t>
          </a:r>
          <a:endParaRPr lang="en-US" sz="1400" kern="1200"/>
        </a:p>
      </dsp:txBody>
      <dsp:txXfrm>
        <a:off x="1773868" y="1920427"/>
        <a:ext cx="4846387" cy="1535816"/>
      </dsp:txXfrm>
    </dsp:sp>
    <dsp:sp modelId="{0A4494FE-2CDB-4E73-A490-772D17B71613}">
      <dsp:nvSpPr>
        <dsp:cNvPr id="0" name=""/>
        <dsp:cNvSpPr/>
      </dsp:nvSpPr>
      <dsp:spPr>
        <a:xfrm>
          <a:off x="0" y="3840198"/>
          <a:ext cx="6620255" cy="15358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12E1BD-4427-4281-BD70-9F8186B472F4}">
      <dsp:nvSpPr>
        <dsp:cNvPr id="0" name=""/>
        <dsp:cNvSpPr/>
      </dsp:nvSpPr>
      <dsp:spPr>
        <a:xfrm>
          <a:off x="464584" y="4185757"/>
          <a:ext cx="844699" cy="84469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28E3E4-CB96-4A2C-946E-B1021F24B644}">
      <dsp:nvSpPr>
        <dsp:cNvPr id="0" name=""/>
        <dsp:cNvSpPr/>
      </dsp:nvSpPr>
      <dsp:spPr>
        <a:xfrm>
          <a:off x="1773868" y="3840198"/>
          <a:ext cx="4846387" cy="1535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2541" tIns="162541" rIns="162541" bIns="162541" numCol="1" spcCol="1270" anchor="ctr" anchorCtr="0">
          <a:noAutofit/>
        </a:bodyPr>
        <a:lstStyle/>
        <a:p>
          <a:pPr marL="0" lvl="0" indent="0" algn="l" defTabSz="622300">
            <a:lnSpc>
              <a:spcPct val="90000"/>
            </a:lnSpc>
            <a:spcBef>
              <a:spcPct val="0"/>
            </a:spcBef>
            <a:spcAft>
              <a:spcPct val="35000"/>
            </a:spcAft>
            <a:buNone/>
          </a:pPr>
          <a:r>
            <a:rPr lang="en-GB" sz="1400" b="1" i="1" kern="1200"/>
            <a:t>Quasi experimental design: </a:t>
          </a:r>
          <a:r>
            <a:rPr lang="en-GB" sz="1400" i="1" kern="1200"/>
            <a:t>Comparative design that do not have a control group or randomisation. Includes time series design that allows for repeated measurements over prolong periods to document trends</a:t>
          </a:r>
          <a:endParaRPr lang="en-US" sz="1400" kern="1200"/>
        </a:p>
      </dsp:txBody>
      <dsp:txXfrm>
        <a:off x="1773868" y="3840198"/>
        <a:ext cx="4846387" cy="15358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53A347-3100-4982-B115-21EBECA9FA10}">
      <dsp:nvSpPr>
        <dsp:cNvPr id="0" name=""/>
        <dsp:cNvSpPr/>
      </dsp:nvSpPr>
      <dsp:spPr>
        <a:xfrm>
          <a:off x="0" y="656"/>
          <a:ext cx="6620255" cy="15358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2798D4-17C1-4B88-AA38-97B2B9AA00A7}">
      <dsp:nvSpPr>
        <dsp:cNvPr id="0" name=""/>
        <dsp:cNvSpPr/>
      </dsp:nvSpPr>
      <dsp:spPr>
        <a:xfrm>
          <a:off x="464584" y="346215"/>
          <a:ext cx="844699" cy="8446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92054E-61FE-4FB5-ABD1-22652B05C401}">
      <dsp:nvSpPr>
        <dsp:cNvPr id="0" name=""/>
        <dsp:cNvSpPr/>
      </dsp:nvSpPr>
      <dsp:spPr>
        <a:xfrm>
          <a:off x="1773868" y="656"/>
          <a:ext cx="4846387" cy="1535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2541" tIns="162541" rIns="162541" bIns="162541" numCol="1" spcCol="1270" anchor="ctr" anchorCtr="0">
          <a:noAutofit/>
        </a:bodyPr>
        <a:lstStyle/>
        <a:p>
          <a:pPr marL="0" lvl="0" indent="0" algn="l" defTabSz="622300">
            <a:lnSpc>
              <a:spcPct val="90000"/>
            </a:lnSpc>
            <a:spcBef>
              <a:spcPct val="0"/>
            </a:spcBef>
            <a:spcAft>
              <a:spcPct val="35000"/>
            </a:spcAft>
            <a:buNone/>
          </a:pPr>
          <a:r>
            <a:rPr lang="en-GB" sz="1400" b="1" kern="1200"/>
            <a:t>Cohort studies: </a:t>
          </a:r>
          <a:r>
            <a:rPr lang="en-GB" sz="1400" kern="1200"/>
            <a:t>Observational studies where one or more cohorts of individuals are followed prospectively to demine their status with respect to a disease or outcome and their exposure to certain risk factors </a:t>
          </a:r>
          <a:endParaRPr lang="en-US" sz="1400" kern="1200"/>
        </a:p>
      </dsp:txBody>
      <dsp:txXfrm>
        <a:off x="1773868" y="656"/>
        <a:ext cx="4846387" cy="1535816"/>
      </dsp:txXfrm>
    </dsp:sp>
    <dsp:sp modelId="{6486ED20-AEBA-4FB2-AA4F-87FC0F693A52}">
      <dsp:nvSpPr>
        <dsp:cNvPr id="0" name=""/>
        <dsp:cNvSpPr/>
      </dsp:nvSpPr>
      <dsp:spPr>
        <a:xfrm>
          <a:off x="0" y="1920427"/>
          <a:ext cx="6620255" cy="15358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C32F31-2559-41F2-A5F9-B207714EDC08}">
      <dsp:nvSpPr>
        <dsp:cNvPr id="0" name=""/>
        <dsp:cNvSpPr/>
      </dsp:nvSpPr>
      <dsp:spPr>
        <a:xfrm>
          <a:off x="464584" y="2265986"/>
          <a:ext cx="844699" cy="8446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DD48B4-1E02-49D8-BB67-868C2D7889A4}">
      <dsp:nvSpPr>
        <dsp:cNvPr id="0" name=""/>
        <dsp:cNvSpPr/>
      </dsp:nvSpPr>
      <dsp:spPr>
        <a:xfrm>
          <a:off x="1773868" y="1920427"/>
          <a:ext cx="4846387" cy="1535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2541" tIns="162541" rIns="162541" bIns="162541" numCol="1" spcCol="1270" anchor="ctr" anchorCtr="0">
          <a:noAutofit/>
        </a:bodyPr>
        <a:lstStyle/>
        <a:p>
          <a:pPr marL="0" lvl="0" indent="0" algn="l" defTabSz="622300">
            <a:lnSpc>
              <a:spcPct val="90000"/>
            </a:lnSpc>
            <a:spcBef>
              <a:spcPct val="0"/>
            </a:spcBef>
            <a:spcAft>
              <a:spcPct val="35000"/>
            </a:spcAft>
            <a:buNone/>
          </a:pPr>
          <a:r>
            <a:rPr lang="en-GB" sz="1400" b="1" kern="1200"/>
            <a:t>Case control studies</a:t>
          </a:r>
          <a:r>
            <a:rPr lang="en-GB" sz="1400" kern="1200"/>
            <a:t>: Observational studies that compare patients with (cases) and without (controls) a disease or outcome of interest. Cases and controls are compared on their exposure to a risk factor to determine the relationship between the risk factor and the disorder</a:t>
          </a:r>
          <a:endParaRPr lang="en-US" sz="1400" kern="1200"/>
        </a:p>
      </dsp:txBody>
      <dsp:txXfrm>
        <a:off x="1773868" y="1920427"/>
        <a:ext cx="4846387" cy="1535816"/>
      </dsp:txXfrm>
    </dsp:sp>
    <dsp:sp modelId="{DE380806-9BF0-409E-9C44-77CB8231493A}">
      <dsp:nvSpPr>
        <dsp:cNvPr id="0" name=""/>
        <dsp:cNvSpPr/>
      </dsp:nvSpPr>
      <dsp:spPr>
        <a:xfrm>
          <a:off x="0" y="3840198"/>
          <a:ext cx="6620255" cy="15358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A224E6-5BED-486E-8DCF-6B090AF1D02B}">
      <dsp:nvSpPr>
        <dsp:cNvPr id="0" name=""/>
        <dsp:cNvSpPr/>
      </dsp:nvSpPr>
      <dsp:spPr>
        <a:xfrm>
          <a:off x="464584" y="4185757"/>
          <a:ext cx="844699" cy="84469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98E005-CEAF-4495-8CD8-F922A49CB7EC}">
      <dsp:nvSpPr>
        <dsp:cNvPr id="0" name=""/>
        <dsp:cNvSpPr/>
      </dsp:nvSpPr>
      <dsp:spPr>
        <a:xfrm>
          <a:off x="1773868" y="3840198"/>
          <a:ext cx="4846387" cy="1535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2541" tIns="162541" rIns="162541" bIns="162541" numCol="1" spcCol="1270" anchor="ctr" anchorCtr="0">
          <a:noAutofit/>
        </a:bodyPr>
        <a:lstStyle/>
        <a:p>
          <a:pPr marL="0" lvl="0" indent="0" algn="l" defTabSz="622300">
            <a:lnSpc>
              <a:spcPct val="90000"/>
            </a:lnSpc>
            <a:spcBef>
              <a:spcPct val="0"/>
            </a:spcBef>
            <a:spcAft>
              <a:spcPct val="35000"/>
            </a:spcAft>
            <a:buNone/>
          </a:pPr>
          <a:r>
            <a:rPr lang="en-GB" sz="1400" b="1" kern="1200"/>
            <a:t>Methodological Studies: </a:t>
          </a:r>
          <a:r>
            <a:rPr lang="en-GB" sz="1400" kern="1200"/>
            <a:t>Using correlational and comparative methods to demonstrate reliability and validity of measuring instruments, including interpretation of change and responsiveness </a:t>
          </a:r>
          <a:endParaRPr lang="en-US" sz="1400" kern="1200"/>
        </a:p>
      </dsp:txBody>
      <dsp:txXfrm>
        <a:off x="1773868" y="3840198"/>
        <a:ext cx="4846387" cy="15358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DC5630-A8BA-4649-899D-B618F3650A94}">
      <dsp:nvSpPr>
        <dsp:cNvPr id="0" name=""/>
        <dsp:cNvSpPr/>
      </dsp:nvSpPr>
      <dsp:spPr>
        <a:xfrm>
          <a:off x="0" y="611"/>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09D545-93EA-4ECA-BD2E-F0EE736DD700}">
      <dsp:nvSpPr>
        <dsp:cNvPr id="0" name=""/>
        <dsp:cNvSpPr/>
      </dsp:nvSpPr>
      <dsp:spPr>
        <a:xfrm>
          <a:off x="432980" y="322663"/>
          <a:ext cx="787236" cy="7872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FC6C27C-6F23-43A6-95AD-65D123D4ECFE}">
      <dsp:nvSpPr>
        <dsp:cNvPr id="0" name=""/>
        <dsp:cNvSpPr/>
      </dsp:nvSpPr>
      <dsp:spPr>
        <a:xfrm>
          <a:off x="1653197" y="611"/>
          <a:ext cx="5652858"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800100">
            <a:lnSpc>
              <a:spcPct val="90000"/>
            </a:lnSpc>
            <a:spcBef>
              <a:spcPct val="0"/>
            </a:spcBef>
            <a:spcAft>
              <a:spcPct val="35000"/>
            </a:spcAft>
            <a:buNone/>
          </a:pPr>
          <a:r>
            <a:rPr lang="en-GB" sz="1800" b="1" kern="1200"/>
            <a:t>Case report / Case Series</a:t>
          </a:r>
          <a:r>
            <a:rPr lang="en-GB" sz="1800" kern="1200"/>
            <a:t>: Description of one or several patients or communities to document unusual conditions or the effect of innovated interventions </a:t>
          </a:r>
          <a:endParaRPr lang="en-US" sz="1800" kern="1200"/>
        </a:p>
      </dsp:txBody>
      <dsp:txXfrm>
        <a:off x="1653197" y="611"/>
        <a:ext cx="5652858" cy="1431339"/>
      </dsp:txXfrm>
    </dsp:sp>
    <dsp:sp modelId="{1F1198F3-7FC7-441B-8EB1-4C51CC6A5852}">
      <dsp:nvSpPr>
        <dsp:cNvPr id="0" name=""/>
        <dsp:cNvSpPr/>
      </dsp:nvSpPr>
      <dsp:spPr>
        <a:xfrm>
          <a:off x="0" y="1789786"/>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DB40EA-9CCF-4A8E-8228-701B4A3B2B8C}">
      <dsp:nvSpPr>
        <dsp:cNvPr id="0" name=""/>
        <dsp:cNvSpPr/>
      </dsp:nvSpPr>
      <dsp:spPr>
        <a:xfrm>
          <a:off x="432980" y="2111837"/>
          <a:ext cx="787236" cy="7872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4A305F-311B-4474-BB45-81F53227FD53}">
      <dsp:nvSpPr>
        <dsp:cNvPr id="0" name=""/>
        <dsp:cNvSpPr/>
      </dsp:nvSpPr>
      <dsp:spPr>
        <a:xfrm>
          <a:off x="1653197" y="1789786"/>
          <a:ext cx="5652858"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800100">
            <a:lnSpc>
              <a:spcPct val="90000"/>
            </a:lnSpc>
            <a:spcBef>
              <a:spcPct val="0"/>
            </a:spcBef>
            <a:spcAft>
              <a:spcPct val="35000"/>
            </a:spcAft>
            <a:buNone/>
          </a:pPr>
          <a:r>
            <a:rPr lang="en-GB" sz="1800" b="1" kern="1200"/>
            <a:t>Qualitative Research: </a:t>
          </a:r>
          <a:r>
            <a:rPr lang="en-GB" sz="1800" kern="1200"/>
            <a:t>Also called naturalistic research; observations or interviews explore the meaning of human experience as it occurs naturally, generating hypothesis about human behaviour </a:t>
          </a:r>
          <a:endParaRPr lang="en-US" sz="1800" kern="1200"/>
        </a:p>
      </dsp:txBody>
      <dsp:txXfrm>
        <a:off x="1653197" y="1789786"/>
        <a:ext cx="5652858" cy="1431339"/>
      </dsp:txXfrm>
    </dsp:sp>
    <dsp:sp modelId="{419DFE8B-6626-4181-B054-7296C96D80E0}">
      <dsp:nvSpPr>
        <dsp:cNvPr id="0" name=""/>
        <dsp:cNvSpPr/>
      </dsp:nvSpPr>
      <dsp:spPr>
        <a:xfrm>
          <a:off x="0" y="3578960"/>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B5CC90-8540-44D3-B9F8-0031A5992731}">
      <dsp:nvSpPr>
        <dsp:cNvPr id="0" name=""/>
        <dsp:cNvSpPr/>
      </dsp:nvSpPr>
      <dsp:spPr>
        <a:xfrm>
          <a:off x="432980" y="3901012"/>
          <a:ext cx="787236" cy="7872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7DFB47B-670D-43B1-B349-0DA50A63562E}">
      <dsp:nvSpPr>
        <dsp:cNvPr id="0" name=""/>
        <dsp:cNvSpPr/>
      </dsp:nvSpPr>
      <dsp:spPr>
        <a:xfrm>
          <a:off x="1653197" y="3578960"/>
          <a:ext cx="5652858"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800100">
            <a:lnSpc>
              <a:spcPct val="90000"/>
            </a:lnSpc>
            <a:spcBef>
              <a:spcPct val="0"/>
            </a:spcBef>
            <a:spcAft>
              <a:spcPct val="35000"/>
            </a:spcAft>
            <a:buNone/>
          </a:pPr>
          <a:r>
            <a:rPr lang="en-GB" sz="1800" b="1" kern="1200"/>
            <a:t>Mixed Methods Research: </a:t>
          </a:r>
          <a:r>
            <a:rPr lang="en-GB" sz="1800" kern="1200"/>
            <a:t>A combination of quantitative and qualitative research methods </a:t>
          </a:r>
          <a:endParaRPr lang="en-US" sz="1800" kern="1200"/>
        </a:p>
      </dsp:txBody>
      <dsp:txXfrm>
        <a:off x="1653197" y="3578960"/>
        <a:ext cx="5652858" cy="143133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4DF631-0299-43FE-8A3E-933EE9358D49}">
      <dsp:nvSpPr>
        <dsp:cNvPr id="0" name=""/>
        <dsp:cNvSpPr/>
      </dsp:nvSpPr>
      <dsp:spPr>
        <a:xfrm>
          <a:off x="0" y="611"/>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684762-D2CB-4186-A847-9E25069564C4}">
      <dsp:nvSpPr>
        <dsp:cNvPr id="0" name=""/>
        <dsp:cNvSpPr/>
      </dsp:nvSpPr>
      <dsp:spPr>
        <a:xfrm>
          <a:off x="432980" y="322663"/>
          <a:ext cx="787236" cy="7872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13EE0C-FB8F-4A20-8812-246A67BEF2E9}">
      <dsp:nvSpPr>
        <dsp:cNvPr id="0" name=""/>
        <dsp:cNvSpPr/>
      </dsp:nvSpPr>
      <dsp:spPr>
        <a:xfrm>
          <a:off x="1653197" y="611"/>
          <a:ext cx="5652858"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889000">
            <a:lnSpc>
              <a:spcPct val="90000"/>
            </a:lnSpc>
            <a:spcBef>
              <a:spcPct val="0"/>
            </a:spcBef>
            <a:spcAft>
              <a:spcPct val="35000"/>
            </a:spcAft>
            <a:buNone/>
          </a:pPr>
          <a:r>
            <a:rPr lang="en-GB" sz="2000" kern="1200"/>
            <a:t>The concept of EBP represents the fundamental principle that the provision of quality care will depend on your ability to make choices that are based on the best evidence currently available. </a:t>
          </a:r>
          <a:endParaRPr lang="en-US" sz="2000" kern="1200"/>
        </a:p>
      </dsp:txBody>
      <dsp:txXfrm>
        <a:off x="1653197" y="611"/>
        <a:ext cx="5652858" cy="1431339"/>
      </dsp:txXfrm>
    </dsp:sp>
    <dsp:sp modelId="{B6FD5A03-F0EB-4DED-9BD4-1BECD9029DF2}">
      <dsp:nvSpPr>
        <dsp:cNvPr id="0" name=""/>
        <dsp:cNvSpPr/>
      </dsp:nvSpPr>
      <dsp:spPr>
        <a:xfrm>
          <a:off x="0" y="1789786"/>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6A391B-8216-42B0-994F-B6D518546F7B}">
      <dsp:nvSpPr>
        <dsp:cNvPr id="0" name=""/>
        <dsp:cNvSpPr/>
      </dsp:nvSpPr>
      <dsp:spPr>
        <a:xfrm>
          <a:off x="432980" y="2111837"/>
          <a:ext cx="787236" cy="7872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98820C-2C66-4312-966A-83EE1626B20E}">
      <dsp:nvSpPr>
        <dsp:cNvPr id="0" name=""/>
        <dsp:cNvSpPr/>
      </dsp:nvSpPr>
      <dsp:spPr>
        <a:xfrm>
          <a:off x="1653197" y="1789786"/>
          <a:ext cx="5652858"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889000">
            <a:lnSpc>
              <a:spcPct val="90000"/>
            </a:lnSpc>
            <a:spcBef>
              <a:spcPct val="0"/>
            </a:spcBef>
            <a:spcAft>
              <a:spcPct val="35000"/>
            </a:spcAft>
            <a:buNone/>
          </a:pPr>
          <a:r>
            <a:rPr lang="en-GB" sz="2000" kern="1200"/>
            <a:t>The concept of EBP is more than just reliance on published research, however, make decisions based on available literature, as well as your own clinical judgement an experience </a:t>
          </a:r>
          <a:endParaRPr lang="en-US" sz="2000" kern="1200"/>
        </a:p>
      </dsp:txBody>
      <dsp:txXfrm>
        <a:off x="1653197" y="1789786"/>
        <a:ext cx="5652858" cy="1431339"/>
      </dsp:txXfrm>
    </dsp:sp>
    <dsp:sp modelId="{C21FB918-7C75-4C13-BE40-196E0E945C8D}">
      <dsp:nvSpPr>
        <dsp:cNvPr id="0" name=""/>
        <dsp:cNvSpPr/>
      </dsp:nvSpPr>
      <dsp:spPr>
        <a:xfrm>
          <a:off x="0" y="3578960"/>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4B3EE5-6AD7-476F-9DAB-E2C1717B93F4}">
      <dsp:nvSpPr>
        <dsp:cNvPr id="0" name=""/>
        <dsp:cNvSpPr/>
      </dsp:nvSpPr>
      <dsp:spPr>
        <a:xfrm>
          <a:off x="432980" y="3901012"/>
          <a:ext cx="787236" cy="7872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6F8486B-BC19-46FC-AC17-8C2E9F82360F}">
      <dsp:nvSpPr>
        <dsp:cNvPr id="0" name=""/>
        <dsp:cNvSpPr/>
      </dsp:nvSpPr>
      <dsp:spPr>
        <a:xfrm>
          <a:off x="1653197" y="3578960"/>
          <a:ext cx="5652858"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889000">
            <a:lnSpc>
              <a:spcPct val="90000"/>
            </a:lnSpc>
            <a:spcBef>
              <a:spcPct val="0"/>
            </a:spcBef>
            <a:spcAft>
              <a:spcPct val="35000"/>
            </a:spcAft>
            <a:buNone/>
          </a:pPr>
          <a:r>
            <a:rPr lang="en-GB" sz="2000" kern="1200"/>
            <a:t>All in the context of a clinical setting and patient experience</a:t>
          </a:r>
          <a:endParaRPr lang="en-US" sz="2000" kern="1200"/>
        </a:p>
      </dsp:txBody>
      <dsp:txXfrm>
        <a:off x="1653197" y="3578960"/>
        <a:ext cx="5652858" cy="143133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2E02B6-1ECF-4E27-905B-7C47DCC38B6F}" type="datetimeFigureOut">
              <a:t>04/02/2026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88AC31-CCC2-4B09-A5BC-FD93FDC832E4}" type="slidenum">
              <a:t>‹#›</a:t>
            </a:fld>
            <a:endParaRPr lang="en-GB"/>
          </a:p>
        </p:txBody>
      </p:sp>
    </p:spTree>
    <p:extLst>
      <p:ext uri="{BB962C8B-B14F-4D97-AF65-F5344CB8AC3E}">
        <p14:creationId xmlns:p14="http://schemas.microsoft.com/office/powerpoint/2010/main" val="1372959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Population: ACL post operative</a:t>
            </a:r>
          </a:p>
          <a:p>
            <a:r>
              <a:rPr lang="en-US" dirty="0">
                <a:ea typeface="Calibri"/>
                <a:cs typeface="Calibri"/>
              </a:rPr>
              <a:t>Intervention: </a:t>
            </a:r>
            <a:r>
              <a:rPr lang="en-US" dirty="0" err="1">
                <a:ea typeface="Calibri"/>
                <a:cs typeface="Calibri"/>
              </a:rPr>
              <a:t>cyrocuff</a:t>
            </a:r>
            <a:r>
              <a:rPr lang="en-US" dirty="0">
                <a:ea typeface="Calibri"/>
                <a:cs typeface="Calibri"/>
              </a:rPr>
              <a:t> (ice)</a:t>
            </a:r>
          </a:p>
          <a:p>
            <a:r>
              <a:rPr lang="en-US">
                <a:ea typeface="Calibri"/>
                <a:cs typeface="Calibri"/>
              </a:rPr>
              <a:t>Comparison: cycling </a:t>
            </a:r>
          </a:p>
          <a:p>
            <a:r>
              <a:rPr lang="en-US" dirty="0">
                <a:ea typeface="Calibri"/>
                <a:cs typeface="Calibri"/>
              </a:rPr>
              <a:t>Outcome: Reduce pain (NRPS) and improve knee ROM (active) in first week post op</a:t>
            </a:r>
          </a:p>
        </p:txBody>
      </p:sp>
      <p:sp>
        <p:nvSpPr>
          <p:cNvPr id="4" name="Slide Number Placeholder 3"/>
          <p:cNvSpPr>
            <a:spLocks noGrp="1"/>
          </p:cNvSpPr>
          <p:nvPr>
            <p:ph type="sldNum" sz="quarter" idx="5"/>
          </p:nvPr>
        </p:nvSpPr>
        <p:spPr/>
        <p:txBody>
          <a:bodyPr/>
          <a:lstStyle/>
          <a:p>
            <a:fld id="{2488AC31-CCC2-4B09-A5BC-FD93FDC832E4}" type="slidenum">
              <a:t>41</a:t>
            </a:fld>
            <a:endParaRPr lang="en-GB"/>
          </a:p>
        </p:txBody>
      </p:sp>
    </p:spTree>
    <p:extLst>
      <p:ext uri="{BB962C8B-B14F-4D97-AF65-F5344CB8AC3E}">
        <p14:creationId xmlns:p14="http://schemas.microsoft.com/office/powerpoint/2010/main" val="15500834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2/4/2026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135878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2/4/2026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48261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2/4/2026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534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2/4/2026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473235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2/4/2026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68829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2/4/2026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87240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2/4/2026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72918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2/4/2026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99236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2/4/2026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341256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2/4/2026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121841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2/4/2026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08965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2/4/2026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231048955"/>
      </p:ext>
    </p:extLst>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16" r:id="rId6"/>
    <p:sldLayoutId id="2147483812" r:id="rId7"/>
    <p:sldLayoutId id="2147483813" r:id="rId8"/>
    <p:sldLayoutId id="2147483814" r:id="rId9"/>
    <p:sldLayoutId id="2147483815" r:id="rId10"/>
    <p:sldLayoutId id="2147483817"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mailto:l.metcalfe1@londonmet.ac.u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mailto:l.metcalfe1@londonmet.ac.uk"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7868" y="841283"/>
            <a:ext cx="3465681" cy="2916472"/>
          </a:xfrm>
        </p:spPr>
        <p:txBody>
          <a:bodyPr anchor="b">
            <a:normAutofit/>
          </a:bodyPr>
          <a:lstStyle/>
          <a:p>
            <a:pPr>
              <a:lnSpc>
                <a:spcPct val="90000"/>
              </a:lnSpc>
            </a:pPr>
            <a:r>
              <a:rPr lang="en-GB" sz="3000" dirty="0">
                <a:solidFill>
                  <a:schemeClr val="tx2"/>
                </a:solidFill>
              </a:rPr>
              <a:t>PT5053</a:t>
            </a:r>
            <a:br>
              <a:rPr lang="en-GB" sz="3000" dirty="0"/>
            </a:br>
            <a:r>
              <a:rPr lang="en-GB" sz="3000" dirty="0">
                <a:solidFill>
                  <a:schemeClr val="tx2"/>
                </a:solidFill>
              </a:rPr>
              <a:t>Evidence Based Practice 2</a:t>
            </a:r>
            <a:br>
              <a:rPr lang="en-GB" sz="3000" dirty="0"/>
            </a:br>
            <a:r>
              <a:rPr lang="en-GB" sz="3000" dirty="0">
                <a:solidFill>
                  <a:schemeClr val="tx2"/>
                </a:solidFill>
              </a:rPr>
              <a:t>Research Methods and Critical Appraisal</a:t>
            </a:r>
          </a:p>
        </p:txBody>
      </p:sp>
      <p:sp>
        <p:nvSpPr>
          <p:cNvPr id="3" name="Subtitle 2"/>
          <p:cNvSpPr>
            <a:spLocks noGrp="1"/>
          </p:cNvSpPr>
          <p:nvPr>
            <p:ph type="subTitle" idx="1"/>
          </p:nvPr>
        </p:nvSpPr>
        <p:spPr>
          <a:xfrm>
            <a:off x="185715" y="4078794"/>
            <a:ext cx="3797834" cy="1900842"/>
          </a:xfrm>
        </p:spPr>
        <p:txBody>
          <a:bodyPr anchor="t">
            <a:normAutofit/>
          </a:bodyPr>
          <a:lstStyle/>
          <a:p>
            <a:pPr>
              <a:lnSpc>
                <a:spcPct val="100000"/>
              </a:lnSpc>
            </a:pPr>
            <a:r>
              <a:rPr lang="en-GB" sz="2000" dirty="0"/>
              <a:t>Lucy Metcalfe</a:t>
            </a:r>
          </a:p>
          <a:p>
            <a:pPr>
              <a:lnSpc>
                <a:spcPct val="100000"/>
              </a:lnSpc>
            </a:pPr>
            <a:r>
              <a:rPr lang="en-GB" sz="2000" dirty="0">
                <a:hlinkClick r:id="rId2"/>
              </a:rPr>
              <a:t>l.metcalfe1@londonmet.ac.uk</a:t>
            </a:r>
            <a:endParaRPr lang="en-GB" sz="2000" dirty="0"/>
          </a:p>
          <a:p>
            <a:pPr>
              <a:lnSpc>
                <a:spcPct val="100000"/>
              </a:lnSpc>
            </a:pPr>
            <a:r>
              <a:rPr lang="en-GB" sz="2000" dirty="0"/>
              <a:t>Senior Lecturer – Physiotherapy Practice</a:t>
            </a:r>
          </a:p>
        </p:txBody>
      </p:sp>
      <p:pic>
        <p:nvPicPr>
          <p:cNvPr id="4" name="Picture 3" descr="A colourful light bulb with business icons">
            <a:extLst>
              <a:ext uri="{FF2B5EF4-FFF2-40B4-BE49-F238E27FC236}">
                <a16:creationId xmlns:a16="http://schemas.microsoft.com/office/drawing/2014/main" id="{D596C949-03AF-157D-AEC7-FC5AFF7DADDC}"/>
              </a:ext>
            </a:extLst>
          </p:cNvPr>
          <p:cNvPicPr>
            <a:picLocks noChangeAspect="1"/>
          </p:cNvPicPr>
          <p:nvPr/>
        </p:nvPicPr>
        <p:blipFill>
          <a:blip r:embed="rId3"/>
          <a:srcRect t="9729" r="-2" b="9878"/>
          <a:stretch>
            <a:fillRect/>
          </a:stretch>
        </p:blipFill>
        <p:spPr>
          <a:xfrm>
            <a:off x="4362996" y="1321295"/>
            <a:ext cx="7311136" cy="4114266"/>
          </a:xfrm>
          <a:prstGeom prst="rect">
            <a:avLst/>
          </a:prstGeom>
        </p:spPr>
      </p:pic>
      <p:sp>
        <p:nvSpPr>
          <p:cNvPr id="20" name="Freeform: Shape 19">
            <a:extLst>
              <a:ext uri="{FF2B5EF4-FFF2-40B4-BE49-F238E27FC236}">
                <a16:creationId xmlns:a16="http://schemas.microsoft.com/office/drawing/2014/main" id="{81F0C179-4DBF-6AB9-CD0B-9224A0C885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6300216"/>
            <a:ext cx="11165482" cy="45719"/>
          </a:xfrm>
          <a:custGeom>
            <a:avLst/>
            <a:gdLst>
              <a:gd name="connsiteX0" fmla="*/ 0 w 11165482"/>
              <a:gd name="connsiteY0" fmla="*/ 0 h 45719"/>
              <a:gd name="connsiteX1" fmla="*/ 3694525 w 11165482"/>
              <a:gd name="connsiteY1" fmla="*/ 0 h 45719"/>
              <a:gd name="connsiteX2" fmla="*/ 5021183 w 11165482"/>
              <a:gd name="connsiteY2" fmla="*/ 0 h 45719"/>
              <a:gd name="connsiteX3" fmla="*/ 6144299 w 11165482"/>
              <a:gd name="connsiteY3" fmla="*/ 0 h 45719"/>
              <a:gd name="connsiteX4" fmla="*/ 8715708 w 11165482"/>
              <a:gd name="connsiteY4" fmla="*/ 0 h 45719"/>
              <a:gd name="connsiteX5" fmla="*/ 11165482 w 11165482"/>
              <a:gd name="connsiteY5" fmla="*/ 0 h 45719"/>
              <a:gd name="connsiteX6" fmla="*/ 11165482 w 11165482"/>
              <a:gd name="connsiteY6" fmla="*/ 45719 h 45719"/>
              <a:gd name="connsiteX7" fmla="*/ 8715708 w 11165482"/>
              <a:gd name="connsiteY7" fmla="*/ 45719 h 45719"/>
              <a:gd name="connsiteX8" fmla="*/ 6144299 w 11165482"/>
              <a:gd name="connsiteY8" fmla="*/ 45719 h 45719"/>
              <a:gd name="connsiteX9" fmla="*/ 5021183 w 11165482"/>
              <a:gd name="connsiteY9" fmla="*/ 45719 h 45719"/>
              <a:gd name="connsiteX10" fmla="*/ 3694525 w 11165482"/>
              <a:gd name="connsiteY10" fmla="*/ 45719 h 45719"/>
              <a:gd name="connsiteX11" fmla="*/ 0 w 11165482"/>
              <a:gd name="connsiteY11" fmla="*/ 45719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3694525 w 11165482"/>
              <a:gd name="connsiteY9" fmla="*/ 45719 h 45719"/>
              <a:gd name="connsiteX10" fmla="*/ 0 w 11165482"/>
              <a:gd name="connsiteY10" fmla="*/ 45719 h 45719"/>
              <a:gd name="connsiteX11" fmla="*/ 0 w 11165482"/>
              <a:gd name="connsiteY11" fmla="*/ 0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0 w 11165482"/>
              <a:gd name="connsiteY9" fmla="*/ 45719 h 45719"/>
              <a:gd name="connsiteX10" fmla="*/ 0 w 11165482"/>
              <a:gd name="connsiteY10"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6144299 w 11165482"/>
              <a:gd name="connsiteY6" fmla="*/ 45719 h 45719"/>
              <a:gd name="connsiteX7" fmla="*/ 5021183 w 11165482"/>
              <a:gd name="connsiteY7" fmla="*/ 45719 h 45719"/>
              <a:gd name="connsiteX8" fmla="*/ 0 w 11165482"/>
              <a:gd name="connsiteY8" fmla="*/ 45719 h 45719"/>
              <a:gd name="connsiteX9" fmla="*/ 0 w 11165482"/>
              <a:gd name="connsiteY9"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5021183 w 11165482"/>
              <a:gd name="connsiteY6" fmla="*/ 45719 h 45719"/>
              <a:gd name="connsiteX7" fmla="*/ 0 w 11165482"/>
              <a:gd name="connsiteY7" fmla="*/ 45719 h 45719"/>
              <a:gd name="connsiteX8" fmla="*/ 0 w 11165482"/>
              <a:gd name="connsiteY8"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5021183 w 11165482"/>
              <a:gd name="connsiteY5" fmla="*/ 45719 h 45719"/>
              <a:gd name="connsiteX6" fmla="*/ 0 w 11165482"/>
              <a:gd name="connsiteY6" fmla="*/ 45719 h 45719"/>
              <a:gd name="connsiteX7" fmla="*/ 0 w 11165482"/>
              <a:gd name="connsiteY7"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0 w 11165482"/>
              <a:gd name="connsiteY5" fmla="*/ 45719 h 45719"/>
              <a:gd name="connsiteX6" fmla="*/ 0 w 11165482"/>
              <a:gd name="connsiteY6"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0 w 11165482"/>
              <a:gd name="connsiteY4" fmla="*/ 45719 h 45719"/>
              <a:gd name="connsiteX5" fmla="*/ 0 w 11165482"/>
              <a:gd name="connsiteY5" fmla="*/ 0 h 45719"/>
              <a:gd name="connsiteX0" fmla="*/ 0 w 11165482"/>
              <a:gd name="connsiteY0" fmla="*/ 0 h 45719"/>
              <a:gd name="connsiteX1" fmla="*/ 11165482 w 11165482"/>
              <a:gd name="connsiteY1" fmla="*/ 0 h 45719"/>
              <a:gd name="connsiteX2" fmla="*/ 11165482 w 11165482"/>
              <a:gd name="connsiteY2" fmla="*/ 45719 h 45719"/>
              <a:gd name="connsiteX3" fmla="*/ 0 w 11165482"/>
              <a:gd name="connsiteY3" fmla="*/ 45719 h 45719"/>
              <a:gd name="connsiteX4" fmla="*/ 0 w 11165482"/>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5482" h="45719">
                <a:moveTo>
                  <a:pt x="0" y="0"/>
                </a:moveTo>
                <a:lnTo>
                  <a:pt x="11165482" y="0"/>
                </a:lnTo>
                <a:lnTo>
                  <a:pt x="11165482" y="45719"/>
                </a:lnTo>
                <a:lnTo>
                  <a:pt x="0" y="45719"/>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01727-B8F4-8779-9CDC-AD661DEBA881}"/>
              </a:ext>
            </a:extLst>
          </p:cNvPr>
          <p:cNvSpPr>
            <a:spLocks noGrp="1"/>
          </p:cNvSpPr>
          <p:nvPr>
            <p:ph type="title"/>
          </p:nvPr>
        </p:nvSpPr>
        <p:spPr/>
        <p:txBody>
          <a:bodyPr/>
          <a:lstStyle/>
          <a:p>
            <a:r>
              <a:rPr lang="en-GB"/>
              <a:t>Session Content</a:t>
            </a:r>
          </a:p>
        </p:txBody>
      </p:sp>
      <p:sp>
        <p:nvSpPr>
          <p:cNvPr id="3" name="Content Placeholder 2">
            <a:extLst>
              <a:ext uri="{FF2B5EF4-FFF2-40B4-BE49-F238E27FC236}">
                <a16:creationId xmlns:a16="http://schemas.microsoft.com/office/drawing/2014/main" id="{1C948A37-E336-B47A-9BAA-38D5F7316974}"/>
              </a:ext>
            </a:extLst>
          </p:cNvPr>
          <p:cNvSpPr>
            <a:spLocks noGrp="1"/>
          </p:cNvSpPr>
          <p:nvPr>
            <p:ph idx="1"/>
          </p:nvPr>
        </p:nvSpPr>
        <p:spPr/>
        <p:txBody>
          <a:bodyPr vert="horz" lIns="91440" tIns="45720" rIns="91440" bIns="45720" rtlCol="0" anchor="t">
            <a:normAutofit/>
          </a:bodyPr>
          <a:lstStyle/>
          <a:p>
            <a:r>
              <a:rPr lang="en-GB"/>
              <a:t>Introduction: Lucy Metcalfe</a:t>
            </a:r>
          </a:p>
          <a:p>
            <a:r>
              <a:rPr lang="en-GB"/>
              <a:t>The Module: PT5053</a:t>
            </a:r>
          </a:p>
          <a:p>
            <a:r>
              <a:rPr lang="en-GB"/>
              <a:t>Course Content </a:t>
            </a:r>
          </a:p>
          <a:p>
            <a:r>
              <a:rPr lang="en-GB"/>
              <a:t>Assessment</a:t>
            </a:r>
          </a:p>
          <a:p>
            <a:r>
              <a:rPr lang="en-GB"/>
              <a:t>What is research?</a:t>
            </a:r>
          </a:p>
        </p:txBody>
      </p:sp>
    </p:spTree>
    <p:extLst>
      <p:ext uri="{BB962C8B-B14F-4D97-AF65-F5344CB8AC3E}">
        <p14:creationId xmlns:p14="http://schemas.microsoft.com/office/powerpoint/2010/main" val="1528286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7C968-BB74-404A-510E-E687C7DD4FCB}"/>
              </a:ext>
            </a:extLst>
          </p:cNvPr>
          <p:cNvSpPr>
            <a:spLocks noGrp="1"/>
          </p:cNvSpPr>
          <p:nvPr>
            <p:ph type="title"/>
          </p:nvPr>
        </p:nvSpPr>
        <p:spPr/>
        <p:txBody>
          <a:bodyPr/>
          <a:lstStyle/>
          <a:p>
            <a:r>
              <a:rPr lang="en-GB"/>
              <a:t>Lucy Metcalfe - Hello</a:t>
            </a:r>
          </a:p>
        </p:txBody>
      </p:sp>
      <p:sp>
        <p:nvSpPr>
          <p:cNvPr id="3" name="Content Placeholder 2">
            <a:extLst>
              <a:ext uri="{FF2B5EF4-FFF2-40B4-BE49-F238E27FC236}">
                <a16:creationId xmlns:a16="http://schemas.microsoft.com/office/drawing/2014/main" id="{5CABC577-BCF6-4510-5925-189E50B1B13A}"/>
              </a:ext>
            </a:extLst>
          </p:cNvPr>
          <p:cNvSpPr>
            <a:spLocks noGrp="1"/>
          </p:cNvSpPr>
          <p:nvPr>
            <p:ph idx="1"/>
          </p:nvPr>
        </p:nvSpPr>
        <p:spPr>
          <a:xfrm>
            <a:off x="521208" y="1880108"/>
            <a:ext cx="11155680" cy="4465828"/>
          </a:xfrm>
        </p:spPr>
        <p:txBody>
          <a:bodyPr vert="horz" lIns="91440" tIns="45720" rIns="91440" bIns="45720" rtlCol="0" anchor="t">
            <a:normAutofit/>
          </a:bodyPr>
          <a:lstStyle/>
          <a:p>
            <a:r>
              <a:rPr lang="en-GB"/>
              <a:t>Lecturer: Lucy Metcalfe (</a:t>
            </a:r>
            <a:r>
              <a:rPr lang="en-GB" sz="1600"/>
              <a:t>Specialist MSK Physiotherapist)</a:t>
            </a:r>
            <a:endParaRPr lang="en-US"/>
          </a:p>
          <a:p>
            <a:r>
              <a:rPr lang="en-GB"/>
              <a:t>Trained in New Zealand – Auckland University of Technology </a:t>
            </a:r>
          </a:p>
          <a:p>
            <a:r>
              <a:rPr lang="en-GB"/>
              <a:t>Working 3 days at HCA – Shard = speciality in MSK Lower Limb Physiotherapy</a:t>
            </a:r>
          </a:p>
          <a:p>
            <a:r>
              <a:rPr lang="en-GB"/>
              <a:t>Research experience: </a:t>
            </a:r>
          </a:p>
          <a:p>
            <a:r>
              <a:rPr lang="en-GB"/>
              <a:t>Research Assistant: Auckland University of Technology </a:t>
            </a:r>
          </a:p>
          <a:p>
            <a:pPr>
              <a:buFont typeface="Arial"/>
              <a:buChar char="•"/>
            </a:pPr>
            <a:r>
              <a:rPr lang="en-GB"/>
              <a:t>ML Research Award – Scoping Review</a:t>
            </a:r>
          </a:p>
          <a:p>
            <a:pPr>
              <a:buFont typeface="Arial"/>
              <a:buChar char="•"/>
            </a:pPr>
            <a:r>
              <a:rPr lang="en-GB"/>
              <a:t>Evidence-based physiotherapist </a:t>
            </a:r>
          </a:p>
          <a:p>
            <a:pPr marL="0" indent="0">
              <a:buNone/>
            </a:pPr>
            <a:r>
              <a:rPr lang="en-GB"/>
              <a:t>Contact Me:</a:t>
            </a:r>
          </a:p>
          <a:p>
            <a:pPr marL="0" indent="0">
              <a:buNone/>
            </a:pPr>
            <a:r>
              <a:rPr lang="en-GB" b="1">
                <a:hlinkClick r:id="rId2"/>
              </a:rPr>
              <a:t>l.metcalfe1@londonmet.ac.uk</a:t>
            </a:r>
            <a:endParaRPr lang="en-GB" b="1"/>
          </a:p>
          <a:p>
            <a:pPr marL="0" indent="0">
              <a:buNone/>
            </a:pPr>
            <a:r>
              <a:rPr lang="en-GB" b="1"/>
              <a:t>Working Days: Tuesday and Wednesday </a:t>
            </a:r>
          </a:p>
        </p:txBody>
      </p:sp>
    </p:spTree>
    <p:extLst>
      <p:ext uri="{BB962C8B-B14F-4D97-AF65-F5344CB8AC3E}">
        <p14:creationId xmlns:p14="http://schemas.microsoft.com/office/powerpoint/2010/main" val="1206455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722FF-375B-20E8-76A8-33A35747A3E5}"/>
              </a:ext>
            </a:extLst>
          </p:cNvPr>
          <p:cNvSpPr>
            <a:spLocks noGrp="1"/>
          </p:cNvSpPr>
          <p:nvPr>
            <p:ph type="title"/>
          </p:nvPr>
        </p:nvSpPr>
        <p:spPr/>
        <p:txBody>
          <a:bodyPr/>
          <a:lstStyle/>
          <a:p>
            <a:r>
              <a:rPr lang="en-GB"/>
              <a:t>Module Overview </a:t>
            </a:r>
          </a:p>
        </p:txBody>
      </p:sp>
      <p:sp>
        <p:nvSpPr>
          <p:cNvPr id="3" name="Content Placeholder 2">
            <a:extLst>
              <a:ext uri="{FF2B5EF4-FFF2-40B4-BE49-F238E27FC236}">
                <a16:creationId xmlns:a16="http://schemas.microsoft.com/office/drawing/2014/main" id="{F11D325A-35AF-0CBB-C846-D27A76A1F58A}"/>
              </a:ext>
            </a:extLst>
          </p:cNvPr>
          <p:cNvSpPr>
            <a:spLocks noGrp="1"/>
          </p:cNvSpPr>
          <p:nvPr>
            <p:ph idx="1"/>
          </p:nvPr>
        </p:nvSpPr>
        <p:spPr>
          <a:xfrm>
            <a:off x="521208" y="1858942"/>
            <a:ext cx="11155680" cy="4486994"/>
          </a:xfrm>
        </p:spPr>
        <p:txBody>
          <a:bodyPr vert="horz" lIns="91440" tIns="45720" rIns="91440" bIns="45720" rtlCol="0" anchor="t">
            <a:normAutofit/>
          </a:bodyPr>
          <a:lstStyle/>
          <a:p>
            <a:r>
              <a:rPr lang="en-GB"/>
              <a:t>Aim: to develop your ability to understand, interpret, and critically appraise research evidence used in physiotherapy practice.</a:t>
            </a:r>
          </a:p>
          <a:p>
            <a:r>
              <a:rPr lang="en-GB" b="1">
                <a:latin typeface="Times New Roman"/>
                <a:cs typeface="Times New Roman"/>
              </a:rPr>
              <a:t>In this module you will:</a:t>
            </a:r>
            <a:endParaRPr lang="en-GB"/>
          </a:p>
          <a:p>
            <a:r>
              <a:rPr lang="en-GB">
                <a:latin typeface="Times New Roman"/>
                <a:cs typeface="Times New Roman"/>
              </a:rPr>
              <a:t>Develop an understanding of scientific enquiry and how research evidence is generated</a:t>
            </a:r>
            <a:endParaRPr lang="en-GB"/>
          </a:p>
          <a:p>
            <a:r>
              <a:rPr lang="en-GB">
                <a:latin typeface="Times New Roman"/>
                <a:cs typeface="Times New Roman"/>
              </a:rPr>
              <a:t>Explore quantitative and qualitative research designs commonly used in healthcare</a:t>
            </a:r>
            <a:endParaRPr lang="en-GB"/>
          </a:p>
          <a:p>
            <a:r>
              <a:rPr lang="en-GB">
                <a:latin typeface="Times New Roman"/>
                <a:cs typeface="Times New Roman"/>
              </a:rPr>
              <a:t>Learn how data are collected, analysed and interpreted in different types of research</a:t>
            </a:r>
            <a:endParaRPr lang="en-GB"/>
          </a:p>
          <a:p>
            <a:r>
              <a:rPr lang="en-GB">
                <a:latin typeface="Times New Roman"/>
                <a:cs typeface="Times New Roman"/>
              </a:rPr>
              <a:t>Practice using critical appraisal frameworks to evaluate research quality and trustworthiness</a:t>
            </a:r>
            <a:endParaRPr lang="en-GB"/>
          </a:p>
          <a:p>
            <a:r>
              <a:rPr lang="en-GB">
                <a:latin typeface="Times New Roman"/>
                <a:cs typeface="Times New Roman"/>
              </a:rPr>
              <a:t>Develop skills to judge whether research findings are appropriate, valid and relevant to practice</a:t>
            </a:r>
            <a:endParaRPr lang="en-GB"/>
          </a:p>
          <a:p>
            <a:r>
              <a:rPr lang="en-GB">
                <a:latin typeface="Times New Roman"/>
                <a:cs typeface="Times New Roman"/>
              </a:rPr>
              <a:t>Explore how clinical audit and quality assurance contribute to service evaluation</a:t>
            </a:r>
            <a:endParaRPr lang="en-GB"/>
          </a:p>
          <a:p>
            <a:r>
              <a:rPr lang="en-GB">
                <a:latin typeface="Times New Roman"/>
                <a:cs typeface="Times New Roman"/>
              </a:rPr>
              <a:t>Consider ethical and governance frameworks that underpin clinical research and evaluation</a:t>
            </a:r>
            <a:endParaRPr lang="en-GB"/>
          </a:p>
          <a:p>
            <a:endParaRPr lang="en-GB"/>
          </a:p>
          <a:p>
            <a:endParaRPr lang="en-GB"/>
          </a:p>
        </p:txBody>
      </p:sp>
    </p:spTree>
    <p:extLst>
      <p:ext uri="{BB962C8B-B14F-4D97-AF65-F5344CB8AC3E}">
        <p14:creationId xmlns:p14="http://schemas.microsoft.com/office/powerpoint/2010/main" val="4228993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6AB11-BEEA-17C6-952E-82E6F97915F0}"/>
              </a:ext>
            </a:extLst>
          </p:cNvPr>
          <p:cNvSpPr>
            <a:spLocks noGrp="1"/>
          </p:cNvSpPr>
          <p:nvPr>
            <p:ph type="title"/>
          </p:nvPr>
        </p:nvSpPr>
        <p:spPr/>
        <p:txBody>
          <a:bodyPr/>
          <a:lstStyle/>
          <a:p>
            <a:r>
              <a:rPr lang="en-GB"/>
              <a:t>Learning Outcomes </a:t>
            </a:r>
          </a:p>
        </p:txBody>
      </p:sp>
      <p:sp>
        <p:nvSpPr>
          <p:cNvPr id="3" name="Content Placeholder 2">
            <a:extLst>
              <a:ext uri="{FF2B5EF4-FFF2-40B4-BE49-F238E27FC236}">
                <a16:creationId xmlns:a16="http://schemas.microsoft.com/office/drawing/2014/main" id="{AF8448F7-F2AA-9F33-F4B4-EB022543E02D}"/>
              </a:ext>
            </a:extLst>
          </p:cNvPr>
          <p:cNvSpPr>
            <a:spLocks noGrp="1"/>
          </p:cNvSpPr>
          <p:nvPr>
            <p:ph idx="1"/>
          </p:nvPr>
        </p:nvSpPr>
        <p:spPr/>
        <p:txBody>
          <a:bodyPr vert="horz" lIns="91440" tIns="45720" rIns="91440" bIns="45720" rtlCol="0" anchor="t">
            <a:normAutofit/>
          </a:bodyPr>
          <a:lstStyle/>
          <a:p>
            <a:pPr marL="0" indent="0">
              <a:buNone/>
            </a:pPr>
            <a:r>
              <a:rPr lang="en-GB">
                <a:latin typeface="Times New Roman"/>
                <a:cs typeface="Times New Roman"/>
              </a:rPr>
              <a:t>By the end of this module, you will be able to:</a:t>
            </a:r>
            <a:endParaRPr lang="en-GB"/>
          </a:p>
          <a:p>
            <a:pPr marL="342900" indent="-342900">
              <a:buAutoNum type="arabicPeriod"/>
            </a:pPr>
            <a:r>
              <a:rPr lang="en-GB">
                <a:latin typeface="Times New Roman"/>
                <a:cs typeface="Times New Roman"/>
              </a:rPr>
              <a:t>Explain the principles of scientific enquiry underpinning different research designs used in evidence‑based clinical practice</a:t>
            </a:r>
            <a:endParaRPr lang="en-GB"/>
          </a:p>
          <a:p>
            <a:pPr marL="342900" indent="-342900">
              <a:buAutoNum type="arabicPeriod"/>
            </a:pPr>
            <a:r>
              <a:rPr lang="en-GB">
                <a:latin typeface="Times New Roman"/>
                <a:cs typeface="Times New Roman"/>
              </a:rPr>
              <a:t>Critically evaluate qualitative and quantitative research evidence used in clinical practice and quality assurance</a:t>
            </a:r>
            <a:endParaRPr lang="en-GB"/>
          </a:p>
          <a:p>
            <a:pPr marL="342900" indent="-342900">
              <a:buAutoNum type="arabicPeriod"/>
            </a:pPr>
            <a:r>
              <a:rPr lang="en-GB">
                <a:latin typeface="Times New Roman"/>
                <a:cs typeface="Times New Roman"/>
              </a:rPr>
              <a:t>Appraise statistical approaches used in research papers and judge their appropriateness and validity</a:t>
            </a:r>
            <a:endParaRPr lang="en-GB"/>
          </a:p>
          <a:p>
            <a:pPr marL="342900" indent="-342900">
              <a:buAutoNum type="arabicPeriod"/>
            </a:pPr>
            <a:r>
              <a:rPr lang="en-GB">
                <a:latin typeface="Times New Roman"/>
                <a:cs typeface="Times New Roman"/>
              </a:rPr>
              <a:t>Demonstrate awareness of ethical, governance and service‑user considerations in clinical research</a:t>
            </a:r>
            <a:endParaRPr lang="en-GB"/>
          </a:p>
          <a:p>
            <a:pPr marL="342900" indent="-342900">
              <a:buAutoNum type="arabicPeriod"/>
            </a:pPr>
            <a:r>
              <a:rPr lang="en-GB">
                <a:latin typeface="Times New Roman"/>
                <a:cs typeface="Times New Roman"/>
              </a:rPr>
              <a:t>Formulate appropriate research questions and identify suitable research designs for practice‑based problems</a:t>
            </a:r>
            <a:endParaRPr lang="en-GB"/>
          </a:p>
          <a:p>
            <a:pPr marL="0" indent="0">
              <a:buNone/>
            </a:pPr>
            <a:endParaRPr lang="en-GB" b="1"/>
          </a:p>
        </p:txBody>
      </p:sp>
    </p:spTree>
    <p:extLst>
      <p:ext uri="{BB962C8B-B14F-4D97-AF65-F5344CB8AC3E}">
        <p14:creationId xmlns:p14="http://schemas.microsoft.com/office/powerpoint/2010/main" val="2230407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003D4-989C-29EB-B3ED-5BE80812D6BC}"/>
              </a:ext>
            </a:extLst>
          </p:cNvPr>
          <p:cNvSpPr>
            <a:spLocks noGrp="1"/>
          </p:cNvSpPr>
          <p:nvPr>
            <p:ph type="title"/>
          </p:nvPr>
        </p:nvSpPr>
        <p:spPr/>
        <p:txBody>
          <a:bodyPr/>
          <a:lstStyle/>
          <a:p>
            <a:r>
              <a:rPr lang="en-GB"/>
              <a:t>Expectations:</a:t>
            </a:r>
          </a:p>
        </p:txBody>
      </p:sp>
      <p:sp>
        <p:nvSpPr>
          <p:cNvPr id="3" name="Content Placeholder 2">
            <a:extLst>
              <a:ext uri="{FF2B5EF4-FFF2-40B4-BE49-F238E27FC236}">
                <a16:creationId xmlns:a16="http://schemas.microsoft.com/office/drawing/2014/main" id="{5A968310-0A90-9C84-A151-795827B7F7AB}"/>
              </a:ext>
            </a:extLst>
          </p:cNvPr>
          <p:cNvSpPr>
            <a:spLocks noGrp="1"/>
          </p:cNvSpPr>
          <p:nvPr>
            <p:ph idx="1"/>
          </p:nvPr>
        </p:nvSpPr>
        <p:spPr/>
        <p:txBody>
          <a:bodyPr vert="horz" lIns="91440" tIns="45720" rIns="91440" bIns="45720" rtlCol="0" anchor="t">
            <a:normAutofit/>
          </a:bodyPr>
          <a:lstStyle/>
          <a:p>
            <a:r>
              <a:rPr lang="en-GB"/>
              <a:t>Show up to class and participate</a:t>
            </a:r>
          </a:p>
          <a:p>
            <a:r>
              <a:rPr lang="en-GB"/>
              <a:t>Show up on time</a:t>
            </a:r>
          </a:p>
          <a:p>
            <a:r>
              <a:rPr lang="en-GB"/>
              <a:t>Engage with the class and your peers</a:t>
            </a:r>
          </a:p>
          <a:p>
            <a:r>
              <a:rPr lang="en-GB"/>
              <a:t>Participate in the tutorials</a:t>
            </a:r>
          </a:p>
        </p:txBody>
      </p:sp>
    </p:spTree>
    <p:extLst>
      <p:ext uri="{BB962C8B-B14F-4D97-AF65-F5344CB8AC3E}">
        <p14:creationId xmlns:p14="http://schemas.microsoft.com/office/powerpoint/2010/main" val="2850233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575F1-9C10-13A0-B51D-63C9B1DE64A0}"/>
              </a:ext>
            </a:extLst>
          </p:cNvPr>
          <p:cNvSpPr>
            <a:spLocks noGrp="1"/>
          </p:cNvSpPr>
          <p:nvPr>
            <p:ph type="title"/>
          </p:nvPr>
        </p:nvSpPr>
        <p:spPr/>
        <p:txBody>
          <a:bodyPr/>
          <a:lstStyle/>
          <a:p>
            <a:r>
              <a:rPr lang="en-GB"/>
              <a:t>Timetable </a:t>
            </a:r>
          </a:p>
        </p:txBody>
      </p:sp>
      <p:sp>
        <p:nvSpPr>
          <p:cNvPr id="3" name="Content Placeholder 2">
            <a:extLst>
              <a:ext uri="{FF2B5EF4-FFF2-40B4-BE49-F238E27FC236}">
                <a16:creationId xmlns:a16="http://schemas.microsoft.com/office/drawing/2014/main" id="{45A33813-CEDD-9608-8BDD-8B65446FFB24}"/>
              </a:ext>
            </a:extLst>
          </p:cNvPr>
          <p:cNvSpPr>
            <a:spLocks noGrp="1"/>
          </p:cNvSpPr>
          <p:nvPr>
            <p:ph idx="1"/>
          </p:nvPr>
        </p:nvSpPr>
        <p:spPr/>
        <p:txBody>
          <a:bodyPr vert="horz" lIns="91440" tIns="45720" rIns="91440" bIns="45720" rtlCol="0" anchor="t">
            <a:normAutofit/>
          </a:bodyPr>
          <a:lstStyle/>
          <a:p>
            <a:r>
              <a:rPr lang="en-GB"/>
              <a:t>Check </a:t>
            </a:r>
            <a:r>
              <a:rPr lang="en-GB" err="1"/>
              <a:t>weblearn</a:t>
            </a:r>
            <a:r>
              <a:rPr lang="en-GB"/>
              <a:t> for updates</a:t>
            </a:r>
          </a:p>
        </p:txBody>
      </p:sp>
      <p:graphicFrame>
        <p:nvGraphicFramePr>
          <p:cNvPr id="7" name="Table 6">
            <a:extLst>
              <a:ext uri="{FF2B5EF4-FFF2-40B4-BE49-F238E27FC236}">
                <a16:creationId xmlns:a16="http://schemas.microsoft.com/office/drawing/2014/main" id="{F4F1C6ED-E164-4446-E8C8-251B0CACE95E}"/>
              </a:ext>
            </a:extLst>
          </p:cNvPr>
          <p:cNvGraphicFramePr>
            <a:graphicFrameLocks noGrp="1"/>
          </p:cNvGraphicFramePr>
          <p:nvPr>
            <p:extLst>
              <p:ext uri="{D42A27DB-BD31-4B8C-83A1-F6EECF244321}">
                <p14:modId xmlns:p14="http://schemas.microsoft.com/office/powerpoint/2010/main" val="110034441"/>
              </p:ext>
            </p:extLst>
          </p:nvPr>
        </p:nvGraphicFramePr>
        <p:xfrm>
          <a:off x="4039170" y="998681"/>
          <a:ext cx="7631620" cy="5618499"/>
        </p:xfrm>
        <a:graphic>
          <a:graphicData uri="http://schemas.openxmlformats.org/drawingml/2006/table">
            <a:tbl>
              <a:tblPr/>
              <a:tblGrid>
                <a:gridCol w="1907920">
                  <a:extLst>
                    <a:ext uri="{9D8B030D-6E8A-4147-A177-3AD203B41FA5}">
                      <a16:colId xmlns:a16="http://schemas.microsoft.com/office/drawing/2014/main" val="4111259676"/>
                    </a:ext>
                  </a:extLst>
                </a:gridCol>
                <a:gridCol w="5723700">
                  <a:extLst>
                    <a:ext uri="{9D8B030D-6E8A-4147-A177-3AD203B41FA5}">
                      <a16:colId xmlns:a16="http://schemas.microsoft.com/office/drawing/2014/main" val="4027891559"/>
                    </a:ext>
                  </a:extLst>
                </a:gridCol>
              </a:tblGrid>
              <a:tr h="269167">
                <a:tc>
                  <a:txBody>
                    <a:bodyPr/>
                    <a:lstStyle/>
                    <a:p>
                      <a:pPr>
                        <a:buNone/>
                      </a:pPr>
                      <a:r>
                        <a:rPr lang="en-GB" sz="1200" b="0">
                          <a:effectLst/>
                          <a:latin typeface="inherit"/>
                        </a:rPr>
                        <a:t>    </a:t>
                      </a:r>
                      <a:r>
                        <a:rPr lang="en-GB" sz="1200" b="1">
                          <a:effectLst/>
                          <a:latin typeface="inherit"/>
                        </a:rPr>
                        <a:t>Date / Time</a:t>
                      </a:r>
                      <a:endParaRPr lang="en-GB" sz="1200" b="0">
                        <a:effectLst/>
                        <a:latin typeface="inherit"/>
                      </a:endParaRP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tc>
                  <a:txBody>
                    <a:bodyPr/>
                    <a:lstStyle/>
                    <a:p>
                      <a:pPr>
                        <a:buNone/>
                      </a:pPr>
                      <a:r>
                        <a:rPr lang="en-GB" sz="1200" b="1">
                          <a:effectLst/>
                          <a:latin typeface="inherit"/>
                        </a:rPr>
                        <a:t>Content</a:t>
                      </a:r>
                      <a:endParaRPr lang="en-GB" sz="1200" b="0">
                        <a:effectLst/>
                        <a:latin typeface="inherit"/>
                      </a:endParaRP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2668279383"/>
                  </a:ext>
                </a:extLst>
              </a:tr>
              <a:tr h="269167">
                <a:tc>
                  <a:txBody>
                    <a:bodyPr/>
                    <a:lstStyle/>
                    <a:p>
                      <a:pPr>
                        <a:buNone/>
                      </a:pPr>
                      <a:r>
                        <a:rPr lang="en-GB" sz="1200" b="0">
                          <a:effectLst/>
                          <a:latin typeface="inherit"/>
                        </a:rPr>
                        <a:t>   04/02/2026</a:t>
                      </a: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tc>
                  <a:txBody>
                    <a:bodyPr/>
                    <a:lstStyle/>
                    <a:p>
                      <a:pPr>
                        <a:buNone/>
                      </a:pPr>
                      <a:r>
                        <a:rPr lang="en-GB" sz="1200" b="1">
                          <a:effectLst/>
                          <a:latin typeface="inherit"/>
                        </a:rPr>
                        <a:t>Introduction to module: EBP</a:t>
                      </a:r>
                      <a:endParaRPr lang="en-GB" sz="1200" b="0">
                        <a:effectLst/>
                        <a:latin typeface="inherit"/>
                      </a:endParaRP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3995979794"/>
                  </a:ext>
                </a:extLst>
              </a:tr>
              <a:tr h="460133">
                <a:tc>
                  <a:txBody>
                    <a:bodyPr/>
                    <a:lstStyle/>
                    <a:p>
                      <a:pPr>
                        <a:buNone/>
                      </a:pPr>
                      <a:r>
                        <a:rPr lang="en-GB" sz="1200" b="0">
                          <a:effectLst/>
                          <a:latin typeface="inherit"/>
                        </a:rPr>
                        <a:t>   11/02/2026</a:t>
                      </a: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tc>
                  <a:txBody>
                    <a:bodyPr/>
                    <a:lstStyle/>
                    <a:p>
                      <a:pPr>
                        <a:buNone/>
                      </a:pPr>
                      <a:r>
                        <a:rPr lang="en-GB" sz="1200" b="1">
                          <a:effectLst/>
                          <a:latin typeface="inherit"/>
                        </a:rPr>
                        <a:t>Quantitative Research Designs in Health Care</a:t>
                      </a:r>
                      <a:endParaRPr lang="en-GB" sz="1200" b="0">
                        <a:effectLst/>
                        <a:latin typeface="inherit"/>
                      </a:endParaRP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325644598"/>
                  </a:ext>
                </a:extLst>
              </a:tr>
              <a:tr h="657333">
                <a:tc>
                  <a:txBody>
                    <a:bodyPr/>
                    <a:lstStyle/>
                    <a:p>
                      <a:pPr>
                        <a:buNone/>
                      </a:pPr>
                      <a:r>
                        <a:rPr lang="en-GB" sz="1200" b="0">
                          <a:effectLst/>
                          <a:latin typeface="inherit"/>
                        </a:rPr>
                        <a:t>   18/02/2026</a:t>
                      </a: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tc>
                  <a:txBody>
                    <a:bodyPr/>
                    <a:lstStyle/>
                    <a:p>
                      <a:pPr>
                        <a:buNone/>
                      </a:pPr>
                      <a:r>
                        <a:rPr lang="fr-FR" sz="1200" b="1">
                          <a:effectLst/>
                          <a:latin typeface="inherit"/>
                        </a:rPr>
                        <a:t>Quantitative Data Collection: Measurement, Questionaires and Outcomes</a:t>
                      </a:r>
                      <a:endParaRPr lang="fr-FR" sz="1200" b="0">
                        <a:effectLst/>
                        <a:latin typeface="inherit"/>
                      </a:endParaRP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3271080772"/>
                  </a:ext>
                </a:extLst>
              </a:tr>
              <a:tr h="460133">
                <a:tc>
                  <a:txBody>
                    <a:bodyPr/>
                    <a:lstStyle/>
                    <a:p>
                      <a:pPr>
                        <a:buNone/>
                      </a:pPr>
                      <a:r>
                        <a:rPr lang="en-GB" sz="1200" b="0">
                          <a:effectLst/>
                          <a:latin typeface="inherit"/>
                        </a:rPr>
                        <a:t>   25/02/2026</a:t>
                      </a: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tc>
                  <a:txBody>
                    <a:bodyPr/>
                    <a:lstStyle/>
                    <a:p>
                      <a:pPr>
                        <a:buNone/>
                      </a:pPr>
                      <a:r>
                        <a:rPr lang="en-GB" sz="1200" b="1">
                          <a:effectLst/>
                          <a:latin typeface="inherit"/>
                        </a:rPr>
                        <a:t>Introduction to Quantitative Data Analysis / Interpretation of results</a:t>
                      </a:r>
                      <a:endParaRPr lang="en-GB" sz="1200" b="0">
                        <a:effectLst/>
                        <a:latin typeface="inherit"/>
                      </a:endParaRP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3884149676"/>
                  </a:ext>
                </a:extLst>
              </a:tr>
              <a:tr h="460133">
                <a:tc>
                  <a:txBody>
                    <a:bodyPr/>
                    <a:lstStyle/>
                    <a:p>
                      <a:pPr>
                        <a:buNone/>
                      </a:pPr>
                      <a:r>
                        <a:rPr lang="en-GB" sz="1200" b="0">
                          <a:effectLst/>
                          <a:latin typeface="inherit"/>
                        </a:rPr>
                        <a:t>   04/03/2026</a:t>
                      </a: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tc>
                  <a:txBody>
                    <a:bodyPr/>
                    <a:lstStyle/>
                    <a:p>
                      <a:pPr>
                        <a:buNone/>
                      </a:pPr>
                      <a:r>
                        <a:rPr lang="fr-FR" sz="1200" b="1" err="1">
                          <a:effectLst/>
                          <a:latin typeface="inherit"/>
                        </a:rPr>
                        <a:t>Assessment</a:t>
                      </a:r>
                      <a:r>
                        <a:rPr lang="fr-FR" sz="1200" b="1">
                          <a:effectLst/>
                          <a:latin typeface="inherit"/>
                        </a:rPr>
                        <a:t> support session for assignement 1: Quantitative </a:t>
                      </a:r>
                      <a:endParaRPr lang="fr-FR" sz="1200" b="0">
                        <a:effectLst/>
                        <a:latin typeface="inherit"/>
                      </a:endParaRP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1131066328"/>
                  </a:ext>
                </a:extLst>
              </a:tr>
              <a:tr h="269167">
                <a:tc>
                  <a:txBody>
                    <a:bodyPr/>
                    <a:lstStyle/>
                    <a:p>
                      <a:pPr>
                        <a:buNone/>
                      </a:pPr>
                      <a:r>
                        <a:rPr lang="en-GB" sz="1200" b="0">
                          <a:effectLst/>
                          <a:latin typeface="inherit"/>
                        </a:rPr>
                        <a:t>   11/03/2026</a:t>
                      </a: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tc>
                  <a:txBody>
                    <a:bodyPr/>
                    <a:lstStyle/>
                    <a:p>
                      <a:pPr>
                        <a:buNone/>
                      </a:pPr>
                      <a:r>
                        <a:rPr lang="en-GB" sz="1200" b="1">
                          <a:effectLst/>
                          <a:latin typeface="inherit"/>
                        </a:rPr>
                        <a:t>No Teaching</a:t>
                      </a:r>
                      <a:endParaRPr lang="en-GB" sz="1200" b="0">
                        <a:effectLst/>
                        <a:latin typeface="inherit"/>
                      </a:endParaRP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1275402090"/>
                  </a:ext>
                </a:extLst>
              </a:tr>
              <a:tr h="460133">
                <a:tc>
                  <a:txBody>
                    <a:bodyPr/>
                    <a:lstStyle/>
                    <a:p>
                      <a:pPr>
                        <a:buNone/>
                      </a:pPr>
                      <a:r>
                        <a:rPr lang="en-GB" sz="1200" b="0">
                          <a:effectLst/>
                          <a:latin typeface="inherit"/>
                        </a:rPr>
                        <a:t>   18/03/2026</a:t>
                      </a: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tc>
                  <a:txBody>
                    <a:bodyPr/>
                    <a:lstStyle/>
                    <a:p>
                      <a:pPr>
                        <a:buNone/>
                      </a:pPr>
                      <a:r>
                        <a:rPr lang="en-GB" sz="1200" b="1">
                          <a:effectLst/>
                          <a:latin typeface="inherit"/>
                        </a:rPr>
                        <a:t>Critical Appraisal of qualitative research</a:t>
                      </a:r>
                      <a:endParaRPr lang="en-GB" sz="1200" b="0">
                        <a:effectLst/>
                        <a:latin typeface="inherit"/>
                      </a:endParaRP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1044245909"/>
                  </a:ext>
                </a:extLst>
              </a:tr>
              <a:tr h="460133">
                <a:tc>
                  <a:txBody>
                    <a:bodyPr/>
                    <a:lstStyle/>
                    <a:p>
                      <a:pPr>
                        <a:buNone/>
                      </a:pPr>
                      <a:r>
                        <a:rPr lang="en-GB" sz="1200" b="0">
                          <a:effectLst/>
                          <a:latin typeface="inherit"/>
                        </a:rPr>
                        <a:t>   25/03/2026</a:t>
                      </a: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tc>
                  <a:txBody>
                    <a:bodyPr/>
                    <a:lstStyle/>
                    <a:p>
                      <a:pPr>
                        <a:buNone/>
                      </a:pPr>
                      <a:r>
                        <a:rPr lang="en-GB" sz="1200" b="1">
                          <a:effectLst/>
                          <a:latin typeface="inherit"/>
                        </a:rPr>
                        <a:t>Qualitative Research in Healthcare: Exploring Experience and Meaning</a:t>
                      </a:r>
                      <a:endParaRPr lang="en-GB" sz="1200" b="0">
                        <a:effectLst/>
                        <a:latin typeface="inherit"/>
                      </a:endParaRP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3129648139"/>
                  </a:ext>
                </a:extLst>
              </a:tr>
              <a:tr h="854533">
                <a:tc>
                  <a:txBody>
                    <a:bodyPr/>
                    <a:lstStyle/>
                    <a:p>
                      <a:pPr>
                        <a:buNone/>
                      </a:pPr>
                      <a:r>
                        <a:rPr lang="en-GB" sz="1200" b="0">
                          <a:effectLst/>
                          <a:latin typeface="inherit"/>
                        </a:rPr>
                        <a:t>   01/04/2026</a:t>
                      </a: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tc>
                  <a:txBody>
                    <a:bodyPr/>
                    <a:lstStyle/>
                    <a:p>
                      <a:pPr>
                        <a:buNone/>
                      </a:pPr>
                      <a:r>
                        <a:rPr lang="en-GB" sz="1200" b="1">
                          <a:effectLst/>
                          <a:latin typeface="inherit"/>
                        </a:rPr>
                        <a:t>Qualitative Data Collection: Interviews, Focus Groups and Observation / Analysing Qualitative Data: From Codes to Themes</a:t>
                      </a:r>
                      <a:endParaRPr lang="en-GB" sz="1200" b="0">
                        <a:effectLst/>
                        <a:latin typeface="inherit"/>
                      </a:endParaRP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3876427241"/>
                  </a:ext>
                </a:extLst>
              </a:tr>
              <a:tr h="269167">
                <a:tc>
                  <a:txBody>
                    <a:bodyPr/>
                    <a:lstStyle/>
                    <a:p>
                      <a:pPr>
                        <a:buNone/>
                      </a:pPr>
                      <a:r>
                        <a:rPr lang="en-GB" sz="1200" b="0">
                          <a:effectLst/>
                          <a:latin typeface="inherit"/>
                        </a:rPr>
                        <a:t>   08/04/2026</a:t>
                      </a: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tc>
                  <a:txBody>
                    <a:bodyPr/>
                    <a:lstStyle/>
                    <a:p>
                      <a:pPr>
                        <a:buNone/>
                      </a:pPr>
                      <a:r>
                        <a:rPr lang="en-GB" sz="1200" b="1">
                          <a:effectLst/>
                          <a:latin typeface="inherit"/>
                        </a:rPr>
                        <a:t>Introduction to Systematic Reviews</a:t>
                      </a:r>
                      <a:endParaRPr lang="en-GB" sz="1200" b="0">
                        <a:effectLst/>
                        <a:latin typeface="inherit"/>
                      </a:endParaRP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2931695777"/>
                  </a:ext>
                </a:extLst>
              </a:tr>
              <a:tr h="460133">
                <a:tc>
                  <a:txBody>
                    <a:bodyPr/>
                    <a:lstStyle/>
                    <a:p>
                      <a:pPr>
                        <a:buNone/>
                      </a:pPr>
                      <a:r>
                        <a:rPr lang="en-GB" sz="1200" b="0">
                          <a:effectLst/>
                          <a:latin typeface="inherit"/>
                        </a:rPr>
                        <a:t>   15/04/2026</a:t>
                      </a: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tc>
                  <a:txBody>
                    <a:bodyPr/>
                    <a:lstStyle/>
                    <a:p>
                      <a:pPr>
                        <a:buNone/>
                      </a:pPr>
                      <a:r>
                        <a:rPr lang="en-GB" sz="1200" b="1">
                          <a:effectLst/>
                          <a:latin typeface="inherit"/>
                        </a:rPr>
                        <a:t>Assessment support session for assignment 2: Qualitative </a:t>
                      </a:r>
                      <a:endParaRPr lang="en-GB" sz="1200" b="0">
                        <a:effectLst/>
                        <a:latin typeface="inherit"/>
                      </a:endParaRP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4136945722"/>
                  </a:ext>
                </a:extLst>
              </a:tr>
              <a:tr h="269167">
                <a:tc>
                  <a:txBody>
                    <a:bodyPr/>
                    <a:lstStyle/>
                    <a:p>
                      <a:pPr>
                        <a:buNone/>
                      </a:pPr>
                      <a:r>
                        <a:rPr lang="en-GB" sz="1200" b="0">
                          <a:effectLst/>
                          <a:latin typeface="inherit"/>
                        </a:rPr>
                        <a:t>   22/04/2026</a:t>
                      </a: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tc>
                  <a:txBody>
                    <a:bodyPr/>
                    <a:lstStyle/>
                    <a:p>
                      <a:pPr>
                        <a:buNone/>
                      </a:pPr>
                      <a:r>
                        <a:rPr lang="en-GB" sz="1200" b="1">
                          <a:effectLst/>
                          <a:latin typeface="inherit"/>
                        </a:rPr>
                        <a:t>No Lectures </a:t>
                      </a:r>
                      <a:endParaRPr lang="en-GB" sz="1200" b="0">
                        <a:effectLst/>
                        <a:latin typeface="inherit"/>
                      </a:endParaRPr>
                    </a:p>
                  </a:txBody>
                  <a:tcPr marL="44319" marR="44319" marT="22160" marB="22160" anchor="ctr">
                    <a:lnL w="4229" cap="flat" cmpd="sng" algn="ctr">
                      <a:solidFill>
                        <a:srgbClr val="CDCDCD"/>
                      </a:solidFill>
                      <a:prstDash val="solid"/>
                      <a:round/>
                      <a:headEnd type="none" w="med" len="med"/>
                      <a:tailEnd type="none" w="med" len="med"/>
                    </a:lnL>
                    <a:lnR w="4229" cap="flat" cmpd="sng" algn="ctr">
                      <a:solidFill>
                        <a:srgbClr val="CDCDCD"/>
                      </a:solidFill>
                      <a:prstDash val="solid"/>
                      <a:round/>
                      <a:headEnd type="none" w="med" len="med"/>
                      <a:tailEnd type="none" w="med" len="med"/>
                    </a:lnR>
                    <a:lnT w="4229" cap="flat" cmpd="sng" algn="ctr">
                      <a:solidFill>
                        <a:srgbClr val="CDCDCD"/>
                      </a:solidFill>
                      <a:prstDash val="solid"/>
                      <a:round/>
                      <a:headEnd type="none" w="med" len="med"/>
                      <a:tailEnd type="none" w="med" len="med"/>
                    </a:lnT>
                    <a:lnB w="4229"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3151418964"/>
                  </a:ext>
                </a:extLst>
              </a:tr>
            </a:tbl>
          </a:graphicData>
        </a:graphic>
      </p:graphicFrame>
      <p:sp>
        <p:nvSpPr>
          <p:cNvPr id="8" name="Rectangle 2">
            <a:extLst>
              <a:ext uri="{FF2B5EF4-FFF2-40B4-BE49-F238E27FC236}">
                <a16:creationId xmlns:a16="http://schemas.microsoft.com/office/drawing/2014/main" id="{DD930CBC-99CA-DC8B-DEAB-01B319C6EB8F}"/>
              </a:ext>
            </a:extLst>
          </p:cNvPr>
          <p:cNvSpPr>
            <a:spLocks noChangeArrowheads="1"/>
          </p:cNvSpPr>
          <p:nvPr/>
        </p:nvSpPr>
        <p:spPr bwMode="auto">
          <a:xfrm>
            <a:off x="4360863" y="23225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87445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0B03E-AAF5-6182-9CEE-A6CD5B9E6842}"/>
              </a:ext>
            </a:extLst>
          </p:cNvPr>
          <p:cNvSpPr>
            <a:spLocks noGrp="1"/>
          </p:cNvSpPr>
          <p:nvPr>
            <p:ph type="title"/>
          </p:nvPr>
        </p:nvSpPr>
        <p:spPr/>
        <p:txBody>
          <a:bodyPr/>
          <a:lstStyle/>
          <a:p>
            <a:r>
              <a:rPr lang="en-GB"/>
              <a:t>Assessment: </a:t>
            </a:r>
          </a:p>
        </p:txBody>
      </p:sp>
      <p:sp>
        <p:nvSpPr>
          <p:cNvPr id="3" name="Content Placeholder 2">
            <a:extLst>
              <a:ext uri="{FF2B5EF4-FFF2-40B4-BE49-F238E27FC236}">
                <a16:creationId xmlns:a16="http://schemas.microsoft.com/office/drawing/2014/main" id="{3FA3E902-5ADB-05F3-6726-EDC81167E4BA}"/>
              </a:ext>
            </a:extLst>
          </p:cNvPr>
          <p:cNvSpPr>
            <a:spLocks noGrp="1"/>
          </p:cNvSpPr>
          <p:nvPr>
            <p:ph idx="1"/>
          </p:nvPr>
        </p:nvSpPr>
        <p:spPr>
          <a:xfrm>
            <a:off x="436541" y="1636692"/>
            <a:ext cx="11155680" cy="4952660"/>
          </a:xfrm>
        </p:spPr>
        <p:txBody>
          <a:bodyPr vert="horz" lIns="91440" tIns="45720" rIns="91440" bIns="45720" rtlCol="0" anchor="t">
            <a:normAutofit/>
          </a:bodyPr>
          <a:lstStyle/>
          <a:p>
            <a:pPr marL="0" indent="0">
              <a:buNone/>
            </a:pPr>
            <a:r>
              <a:rPr lang="en-GB" dirty="0">
                <a:latin typeface="Times New Roman"/>
                <a:cs typeface="Times New Roman"/>
              </a:rPr>
              <a:t>There are two coursework assessments, each worth 50% of the module mark:</a:t>
            </a:r>
            <a:endParaRPr lang="en-GB" b="1" dirty="0"/>
          </a:p>
          <a:p>
            <a:pPr marL="0" indent="0">
              <a:buNone/>
            </a:pPr>
            <a:r>
              <a:rPr lang="en-GB" b="1" dirty="0">
                <a:latin typeface="Times New Roman"/>
                <a:cs typeface="Times New Roman"/>
              </a:rPr>
              <a:t>Quantitative Research Critical Appraisal: </a:t>
            </a:r>
            <a:endParaRPr lang="en-GB" dirty="0"/>
          </a:p>
          <a:p>
            <a:pPr marL="0" indent="0">
              <a:buNone/>
            </a:pPr>
            <a:r>
              <a:rPr lang="en-GB" b="1" dirty="0">
                <a:highlight>
                  <a:srgbClr val="FFFF00"/>
                </a:highlight>
                <a:latin typeface="Times New Roman"/>
                <a:cs typeface="Times New Roman"/>
              </a:rPr>
              <a:t>DUE: Friday 13th March 2026</a:t>
            </a:r>
            <a:endParaRPr lang="en-GB" dirty="0"/>
          </a:p>
          <a:p>
            <a:pPr marL="0" indent="0">
              <a:buNone/>
            </a:pPr>
            <a:r>
              <a:rPr lang="en-GB" dirty="0">
                <a:latin typeface="Times New Roman"/>
                <a:cs typeface="Times New Roman"/>
              </a:rPr>
              <a:t>750‑word written assignment</a:t>
            </a:r>
            <a:endParaRPr lang="en-GB" dirty="0"/>
          </a:p>
          <a:p>
            <a:pPr marL="0" indent="0">
              <a:buNone/>
            </a:pPr>
            <a:r>
              <a:rPr lang="en-GB" dirty="0">
                <a:latin typeface="Times New Roman"/>
                <a:cs typeface="Times New Roman"/>
              </a:rPr>
              <a:t>Critical appraisal of a published quantitative research article</a:t>
            </a:r>
            <a:endParaRPr lang="en-GB" dirty="0"/>
          </a:p>
          <a:p>
            <a:pPr marL="0" indent="0">
              <a:buNone/>
            </a:pPr>
            <a:endParaRPr lang="en-GB" dirty="0">
              <a:latin typeface="Times New Roman"/>
              <a:cs typeface="Times New Roman"/>
            </a:endParaRPr>
          </a:p>
          <a:p>
            <a:pPr marL="0" indent="0">
              <a:buNone/>
            </a:pPr>
            <a:r>
              <a:rPr lang="en-GB" b="1" dirty="0">
                <a:latin typeface="Times New Roman"/>
                <a:cs typeface="Times New Roman"/>
              </a:rPr>
              <a:t>Qualitative Research Critical Appraisal: </a:t>
            </a:r>
            <a:endParaRPr lang="en-GB" dirty="0"/>
          </a:p>
          <a:p>
            <a:pPr marL="0" indent="0">
              <a:buNone/>
            </a:pPr>
            <a:r>
              <a:rPr lang="en-GB" b="1" dirty="0">
                <a:highlight>
                  <a:srgbClr val="FFFF00"/>
                </a:highlight>
                <a:latin typeface="Times New Roman"/>
                <a:cs typeface="Times New Roman"/>
              </a:rPr>
              <a:t>DUE: Friday 8</a:t>
            </a:r>
            <a:r>
              <a:rPr lang="en-GB" b="1" baseline="30000" dirty="0">
                <a:highlight>
                  <a:srgbClr val="FFFF00"/>
                </a:highlight>
                <a:latin typeface="Times New Roman"/>
                <a:cs typeface="Times New Roman"/>
              </a:rPr>
              <a:t>th</a:t>
            </a:r>
            <a:r>
              <a:rPr lang="en-GB" b="1" dirty="0">
                <a:highlight>
                  <a:srgbClr val="FFFF00"/>
                </a:highlight>
                <a:latin typeface="Times New Roman"/>
                <a:cs typeface="Times New Roman"/>
              </a:rPr>
              <a:t> May 2026</a:t>
            </a:r>
            <a:endParaRPr lang="en-GB" dirty="0"/>
          </a:p>
          <a:p>
            <a:pPr marL="0" indent="0">
              <a:buNone/>
            </a:pPr>
            <a:r>
              <a:rPr lang="en-GB" dirty="0">
                <a:latin typeface="Times New Roman"/>
                <a:cs typeface="Times New Roman"/>
              </a:rPr>
              <a:t>750‑word written assignment</a:t>
            </a:r>
            <a:endParaRPr lang="en-GB" dirty="0"/>
          </a:p>
          <a:p>
            <a:pPr marL="0" indent="0">
              <a:buNone/>
            </a:pPr>
            <a:r>
              <a:rPr lang="en-GB" dirty="0">
                <a:latin typeface="Times New Roman"/>
                <a:cs typeface="Times New Roman"/>
              </a:rPr>
              <a:t>Critical appraisal of a published qualitative research article</a:t>
            </a:r>
            <a:endParaRPr lang="en-GB" dirty="0"/>
          </a:p>
        </p:txBody>
      </p:sp>
    </p:spTree>
    <p:extLst>
      <p:ext uri="{BB962C8B-B14F-4D97-AF65-F5344CB8AC3E}">
        <p14:creationId xmlns:p14="http://schemas.microsoft.com/office/powerpoint/2010/main" val="2536020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6D80A-3047-AD7E-75F6-E825352C1B72}"/>
              </a:ext>
            </a:extLst>
          </p:cNvPr>
          <p:cNvSpPr>
            <a:spLocks noGrp="1"/>
          </p:cNvSpPr>
          <p:nvPr>
            <p:ph type="title"/>
          </p:nvPr>
        </p:nvSpPr>
        <p:spPr/>
        <p:txBody>
          <a:bodyPr/>
          <a:lstStyle/>
          <a:p>
            <a:r>
              <a:rPr lang="en-GB"/>
              <a:t>Assignment </a:t>
            </a:r>
          </a:p>
        </p:txBody>
      </p:sp>
      <p:sp>
        <p:nvSpPr>
          <p:cNvPr id="3" name="Content Placeholder 2">
            <a:extLst>
              <a:ext uri="{FF2B5EF4-FFF2-40B4-BE49-F238E27FC236}">
                <a16:creationId xmlns:a16="http://schemas.microsoft.com/office/drawing/2014/main" id="{3CB0E895-3B78-4E15-1F7C-AED3D9B6B939}"/>
              </a:ext>
            </a:extLst>
          </p:cNvPr>
          <p:cNvSpPr>
            <a:spLocks noGrp="1"/>
          </p:cNvSpPr>
          <p:nvPr>
            <p:ph idx="1"/>
          </p:nvPr>
        </p:nvSpPr>
        <p:spPr>
          <a:xfrm>
            <a:off x="521208" y="2610358"/>
            <a:ext cx="11155680" cy="3767328"/>
          </a:xfrm>
        </p:spPr>
        <p:txBody>
          <a:bodyPr vert="horz" lIns="91440" tIns="45720" rIns="91440" bIns="45720" rtlCol="0" anchor="t">
            <a:normAutofit/>
          </a:bodyPr>
          <a:lstStyle/>
          <a:p>
            <a:pPr marL="0" indent="0">
              <a:buNone/>
            </a:pPr>
            <a:r>
              <a:rPr lang="en-GB" sz="2000" b="1">
                <a:latin typeface="Times New Roman"/>
                <a:cs typeface="Times New Roman"/>
              </a:rPr>
              <a:t>Both assignments focus on your ability to:</a:t>
            </a:r>
            <a:endParaRPr lang="en-GB" sz="2000">
              <a:latin typeface="Times New Roman"/>
              <a:cs typeface="Times New Roman"/>
            </a:endParaRPr>
          </a:p>
          <a:p>
            <a:r>
              <a:rPr lang="en-GB" sz="2000">
                <a:latin typeface="Times New Roman"/>
                <a:cs typeface="Times New Roman"/>
              </a:rPr>
              <a:t>Understand research design and methods</a:t>
            </a:r>
          </a:p>
          <a:p>
            <a:r>
              <a:rPr lang="en-GB" sz="2000">
                <a:latin typeface="Times New Roman"/>
                <a:cs typeface="Times New Roman"/>
              </a:rPr>
              <a:t>Critically evaluate quality and limitations</a:t>
            </a:r>
          </a:p>
          <a:p>
            <a:r>
              <a:rPr lang="en-GB" sz="2000">
                <a:latin typeface="Times New Roman"/>
                <a:cs typeface="Times New Roman"/>
              </a:rPr>
              <a:t>Interpret findings appropriately</a:t>
            </a:r>
          </a:p>
          <a:p>
            <a:r>
              <a:rPr lang="en-GB" sz="2000">
                <a:latin typeface="Times New Roman"/>
                <a:cs typeface="Times New Roman"/>
              </a:rPr>
              <a:t>Consider relevance to clinical practice</a:t>
            </a:r>
          </a:p>
          <a:p>
            <a:endParaRPr lang="en-GB" sz="2000"/>
          </a:p>
        </p:txBody>
      </p:sp>
    </p:spTree>
    <p:extLst>
      <p:ext uri="{BB962C8B-B14F-4D97-AF65-F5344CB8AC3E}">
        <p14:creationId xmlns:p14="http://schemas.microsoft.com/office/powerpoint/2010/main" val="768931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DA61A-66C6-37A3-9ED2-829BDDBA7EF4}"/>
              </a:ext>
            </a:extLst>
          </p:cNvPr>
          <p:cNvSpPr>
            <a:spLocks noGrp="1"/>
          </p:cNvSpPr>
          <p:nvPr>
            <p:ph type="title"/>
          </p:nvPr>
        </p:nvSpPr>
        <p:spPr/>
        <p:txBody>
          <a:bodyPr/>
          <a:lstStyle/>
          <a:p>
            <a:r>
              <a:rPr lang="en-GB"/>
              <a:t>Critical Appraisal – Quantitative Study</a:t>
            </a:r>
          </a:p>
        </p:txBody>
      </p:sp>
      <p:sp>
        <p:nvSpPr>
          <p:cNvPr id="3" name="Content Placeholder 2">
            <a:extLst>
              <a:ext uri="{FF2B5EF4-FFF2-40B4-BE49-F238E27FC236}">
                <a16:creationId xmlns:a16="http://schemas.microsoft.com/office/drawing/2014/main" id="{0267CB42-6473-EF85-98DD-701FCE36FE1E}"/>
              </a:ext>
            </a:extLst>
          </p:cNvPr>
          <p:cNvSpPr>
            <a:spLocks noGrp="1"/>
          </p:cNvSpPr>
          <p:nvPr>
            <p:ph idx="1"/>
          </p:nvPr>
        </p:nvSpPr>
        <p:spPr/>
        <p:txBody>
          <a:bodyPr vert="horz" lIns="91440" tIns="45720" rIns="91440" bIns="45720" rtlCol="0" anchor="t">
            <a:normAutofit/>
          </a:bodyPr>
          <a:lstStyle/>
          <a:p>
            <a:r>
              <a:rPr lang="en-GB"/>
              <a:t>Select ONE article from the two provided for that methodology (</a:t>
            </a:r>
            <a:r>
              <a:rPr lang="en-GB" b="1"/>
              <a:t>quantitative</a:t>
            </a:r>
            <a:r>
              <a:rPr lang="en-GB"/>
              <a:t>).</a:t>
            </a:r>
          </a:p>
          <a:p>
            <a:r>
              <a:rPr lang="en-GB"/>
              <a:t>Conduct a critical appraisal using the relevant CASP checklist (</a:t>
            </a:r>
            <a:r>
              <a:rPr lang="en-GB" b="1"/>
              <a:t>quantitative</a:t>
            </a:r>
            <a:r>
              <a:rPr lang="en-GB"/>
              <a:t>).</a:t>
            </a:r>
          </a:p>
          <a:p>
            <a:r>
              <a:rPr lang="en-GB"/>
              <a:t>Use the </a:t>
            </a:r>
            <a:r>
              <a:rPr lang="en-GB" b="1"/>
              <a:t>PT5053 Assignment Template </a:t>
            </a:r>
            <a:r>
              <a:rPr lang="en-GB"/>
              <a:t>to structure your writing within 750‑words across key components such as study design, sampling, data collection, analysis, findings, strengths/limitations, and relevance to physiotherapy practice.</a:t>
            </a:r>
          </a:p>
          <a:p>
            <a:r>
              <a:rPr lang="en-GB"/>
              <a:t>Use academic writing, integrate methodological principles, and clearly justify all evaluative judgments.</a:t>
            </a:r>
          </a:p>
        </p:txBody>
      </p:sp>
    </p:spTree>
    <p:extLst>
      <p:ext uri="{BB962C8B-B14F-4D97-AF65-F5344CB8AC3E}">
        <p14:creationId xmlns:p14="http://schemas.microsoft.com/office/powerpoint/2010/main" val="569241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5B115-4388-8FF9-1CF0-375FEFEF1294}"/>
              </a:ext>
            </a:extLst>
          </p:cNvPr>
          <p:cNvSpPr>
            <a:spLocks noGrp="1"/>
          </p:cNvSpPr>
          <p:nvPr>
            <p:ph type="title"/>
          </p:nvPr>
        </p:nvSpPr>
        <p:spPr>
          <a:xfrm>
            <a:off x="518160" y="922567"/>
            <a:ext cx="11155680" cy="1463040"/>
          </a:xfrm>
        </p:spPr>
        <p:txBody>
          <a:bodyPr/>
          <a:lstStyle/>
          <a:p>
            <a:r>
              <a:rPr lang="en-GB"/>
              <a:t>Pick one of the two studies: </a:t>
            </a:r>
          </a:p>
        </p:txBody>
      </p:sp>
      <p:pic>
        <p:nvPicPr>
          <p:cNvPr id="5" name="Content Placeholder 4" descr="A screenshot of a computer&#10;&#10;AI-generated content may be incorrect.">
            <a:extLst>
              <a:ext uri="{FF2B5EF4-FFF2-40B4-BE49-F238E27FC236}">
                <a16:creationId xmlns:a16="http://schemas.microsoft.com/office/drawing/2014/main" id="{7A17BE32-0E81-AAD5-23AC-33CD93C8E11C}"/>
              </a:ext>
            </a:extLst>
          </p:cNvPr>
          <p:cNvPicPr>
            <a:picLocks noGrp="1" noChangeAspect="1"/>
          </p:cNvPicPr>
          <p:nvPr>
            <p:ph idx="1"/>
          </p:nvPr>
        </p:nvPicPr>
        <p:blipFill>
          <a:blip r:embed="rId2"/>
          <a:stretch>
            <a:fillRect/>
          </a:stretch>
        </p:blipFill>
        <p:spPr>
          <a:xfrm>
            <a:off x="3995618" y="1654087"/>
            <a:ext cx="7678222" cy="2314898"/>
          </a:xfrm>
          <a:prstGeom prst="rect">
            <a:avLst/>
          </a:prstGeom>
        </p:spPr>
      </p:pic>
      <p:pic>
        <p:nvPicPr>
          <p:cNvPr id="7" name="Picture 6" descr="A close-up of a text&#10;&#10;AI-generated content may be incorrect.">
            <a:extLst>
              <a:ext uri="{FF2B5EF4-FFF2-40B4-BE49-F238E27FC236}">
                <a16:creationId xmlns:a16="http://schemas.microsoft.com/office/drawing/2014/main" id="{BF1F8424-7E3C-EE92-7311-0332E0CE3946}"/>
              </a:ext>
            </a:extLst>
          </p:cNvPr>
          <p:cNvPicPr>
            <a:picLocks noChangeAspect="1"/>
          </p:cNvPicPr>
          <p:nvPr/>
        </p:nvPicPr>
        <p:blipFill>
          <a:blip r:embed="rId3"/>
          <a:stretch>
            <a:fillRect/>
          </a:stretch>
        </p:blipFill>
        <p:spPr>
          <a:xfrm>
            <a:off x="757802" y="4308525"/>
            <a:ext cx="7535327" cy="2219635"/>
          </a:xfrm>
          <a:prstGeom prst="rect">
            <a:avLst/>
          </a:prstGeom>
        </p:spPr>
      </p:pic>
    </p:spTree>
    <p:extLst>
      <p:ext uri="{BB962C8B-B14F-4D97-AF65-F5344CB8AC3E}">
        <p14:creationId xmlns:p14="http://schemas.microsoft.com/office/powerpoint/2010/main" val="1841662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24C58-AB57-51CD-9C70-BD6D9CD21221}"/>
              </a:ext>
            </a:extLst>
          </p:cNvPr>
          <p:cNvSpPr>
            <a:spLocks noGrp="1"/>
          </p:cNvSpPr>
          <p:nvPr>
            <p:ph type="title"/>
          </p:nvPr>
        </p:nvSpPr>
        <p:spPr/>
        <p:txBody>
          <a:bodyPr/>
          <a:lstStyle/>
          <a:p>
            <a:r>
              <a:rPr lang="en-GB"/>
              <a:t>Use the CASP</a:t>
            </a:r>
          </a:p>
        </p:txBody>
      </p:sp>
      <p:pic>
        <p:nvPicPr>
          <p:cNvPr id="5" name="Content Placeholder 4" descr="A white background with orange and grey text&#10;&#10;AI-generated content may be incorrect.">
            <a:extLst>
              <a:ext uri="{FF2B5EF4-FFF2-40B4-BE49-F238E27FC236}">
                <a16:creationId xmlns:a16="http://schemas.microsoft.com/office/drawing/2014/main" id="{C85A5FFC-1DB9-0207-40B2-58B3D6A56070}"/>
              </a:ext>
            </a:extLst>
          </p:cNvPr>
          <p:cNvPicPr>
            <a:picLocks noGrp="1" noChangeAspect="1"/>
          </p:cNvPicPr>
          <p:nvPr>
            <p:ph idx="1"/>
          </p:nvPr>
        </p:nvPicPr>
        <p:blipFill>
          <a:blip r:embed="rId2"/>
          <a:stretch>
            <a:fillRect/>
          </a:stretch>
        </p:blipFill>
        <p:spPr>
          <a:xfrm>
            <a:off x="3468326" y="1709928"/>
            <a:ext cx="5415261" cy="3767138"/>
          </a:xfrm>
          <a:prstGeom prst="rect">
            <a:avLst/>
          </a:prstGeom>
        </p:spPr>
      </p:pic>
    </p:spTree>
    <p:extLst>
      <p:ext uri="{BB962C8B-B14F-4D97-AF65-F5344CB8AC3E}">
        <p14:creationId xmlns:p14="http://schemas.microsoft.com/office/powerpoint/2010/main" val="913340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CC4A4-93F5-DD6B-B1D4-12C954ED24D9}"/>
              </a:ext>
            </a:extLst>
          </p:cNvPr>
          <p:cNvSpPr>
            <a:spLocks noGrp="1"/>
          </p:cNvSpPr>
          <p:nvPr>
            <p:ph type="title"/>
          </p:nvPr>
        </p:nvSpPr>
        <p:spPr/>
        <p:txBody>
          <a:bodyPr/>
          <a:lstStyle/>
          <a:p>
            <a:r>
              <a:rPr lang="en-GB"/>
              <a:t>Use the Template</a:t>
            </a:r>
            <a:br>
              <a:rPr lang="en-GB"/>
            </a:br>
            <a:r>
              <a:rPr lang="en-GB"/>
              <a:t> </a:t>
            </a:r>
          </a:p>
        </p:txBody>
      </p:sp>
      <p:pic>
        <p:nvPicPr>
          <p:cNvPr id="7" name="Picture 6" descr="A white sheet with black text&#10;&#10;AI-generated content may be incorrect.">
            <a:extLst>
              <a:ext uri="{FF2B5EF4-FFF2-40B4-BE49-F238E27FC236}">
                <a16:creationId xmlns:a16="http://schemas.microsoft.com/office/drawing/2014/main" id="{ABCCF855-E5E9-2171-E07B-27840107EE2D}"/>
              </a:ext>
            </a:extLst>
          </p:cNvPr>
          <p:cNvPicPr>
            <a:picLocks noChangeAspect="1"/>
          </p:cNvPicPr>
          <p:nvPr/>
        </p:nvPicPr>
        <p:blipFill>
          <a:blip r:embed="rId2"/>
          <a:stretch>
            <a:fillRect/>
          </a:stretch>
        </p:blipFill>
        <p:spPr>
          <a:xfrm>
            <a:off x="5359751" y="0"/>
            <a:ext cx="7062594" cy="6858000"/>
          </a:xfrm>
          <a:prstGeom prst="rect">
            <a:avLst/>
          </a:prstGeom>
        </p:spPr>
      </p:pic>
    </p:spTree>
    <p:extLst>
      <p:ext uri="{BB962C8B-B14F-4D97-AF65-F5344CB8AC3E}">
        <p14:creationId xmlns:p14="http://schemas.microsoft.com/office/powerpoint/2010/main" val="326947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8F78-E49B-A1B6-E23F-94A9555C1291}"/>
              </a:ext>
            </a:extLst>
          </p:cNvPr>
          <p:cNvSpPr>
            <a:spLocks noGrp="1"/>
          </p:cNvSpPr>
          <p:nvPr>
            <p:ph type="title"/>
          </p:nvPr>
        </p:nvSpPr>
        <p:spPr/>
        <p:txBody>
          <a:bodyPr/>
          <a:lstStyle/>
          <a:p>
            <a:r>
              <a:rPr lang="en-GB"/>
              <a:t>Critical Appraisal – Qualitative Study</a:t>
            </a:r>
          </a:p>
        </p:txBody>
      </p:sp>
      <p:sp>
        <p:nvSpPr>
          <p:cNvPr id="3" name="Content Placeholder 2">
            <a:extLst>
              <a:ext uri="{FF2B5EF4-FFF2-40B4-BE49-F238E27FC236}">
                <a16:creationId xmlns:a16="http://schemas.microsoft.com/office/drawing/2014/main" id="{7C743FAC-ADD0-FBF5-93EE-C80D98512907}"/>
              </a:ext>
            </a:extLst>
          </p:cNvPr>
          <p:cNvSpPr>
            <a:spLocks noGrp="1"/>
          </p:cNvSpPr>
          <p:nvPr>
            <p:ph idx="1"/>
          </p:nvPr>
        </p:nvSpPr>
        <p:spPr/>
        <p:txBody>
          <a:bodyPr/>
          <a:lstStyle/>
          <a:p>
            <a:r>
              <a:rPr lang="en-GB"/>
              <a:t>You must:</a:t>
            </a:r>
          </a:p>
          <a:p>
            <a:r>
              <a:rPr lang="en-GB"/>
              <a:t>Select ONE article from the two provided for that methodology </a:t>
            </a:r>
            <a:r>
              <a:rPr lang="en-GB" b="1"/>
              <a:t>qualitative</a:t>
            </a:r>
            <a:endParaRPr lang="en-GB"/>
          </a:p>
          <a:p>
            <a:r>
              <a:rPr lang="en-GB"/>
              <a:t>Conduct a critical appraisal using the relevant CASP checklist </a:t>
            </a:r>
            <a:r>
              <a:rPr lang="en-GB" b="1"/>
              <a:t>qualitative </a:t>
            </a:r>
            <a:endParaRPr lang="en-GB"/>
          </a:p>
          <a:p>
            <a:r>
              <a:rPr lang="en-GB"/>
              <a:t>Use the PT5053 Assignment Template to structure your writing within 750‑words across key components such as study design, sampling, data collection, analysis, findings, strengths/limitations, and relevance to physiotherapy practice.</a:t>
            </a:r>
          </a:p>
          <a:p>
            <a:r>
              <a:rPr lang="en-GB"/>
              <a:t>Use academic writing, integrate methodological principles, and clearly justify all evaluative judgments.</a:t>
            </a:r>
          </a:p>
          <a:p>
            <a:endParaRPr lang="en-GB"/>
          </a:p>
        </p:txBody>
      </p:sp>
    </p:spTree>
    <p:extLst>
      <p:ext uri="{BB962C8B-B14F-4D97-AF65-F5344CB8AC3E}">
        <p14:creationId xmlns:p14="http://schemas.microsoft.com/office/powerpoint/2010/main" val="11864962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609B8-0D18-912A-3FF3-B4A9380780A9}"/>
              </a:ext>
            </a:extLst>
          </p:cNvPr>
          <p:cNvSpPr>
            <a:spLocks noGrp="1"/>
          </p:cNvSpPr>
          <p:nvPr>
            <p:ph type="title"/>
          </p:nvPr>
        </p:nvSpPr>
        <p:spPr/>
        <p:txBody>
          <a:bodyPr/>
          <a:lstStyle/>
          <a:p>
            <a:r>
              <a:rPr lang="en-GB"/>
              <a:t>Pick one of the two studies: </a:t>
            </a:r>
          </a:p>
        </p:txBody>
      </p:sp>
      <p:pic>
        <p:nvPicPr>
          <p:cNvPr id="5" name="Content Placeholder 4" descr="A close up of a text&#10;&#10;AI-generated content may be incorrect.">
            <a:extLst>
              <a:ext uri="{FF2B5EF4-FFF2-40B4-BE49-F238E27FC236}">
                <a16:creationId xmlns:a16="http://schemas.microsoft.com/office/drawing/2014/main" id="{78076DD0-A7A7-CD2E-8F3D-CA6D9CDC4E68}"/>
              </a:ext>
            </a:extLst>
          </p:cNvPr>
          <p:cNvPicPr>
            <a:picLocks noGrp="1" noChangeAspect="1"/>
          </p:cNvPicPr>
          <p:nvPr>
            <p:ph idx="1"/>
          </p:nvPr>
        </p:nvPicPr>
        <p:blipFill>
          <a:blip r:embed="rId2"/>
          <a:stretch>
            <a:fillRect/>
          </a:stretch>
        </p:blipFill>
        <p:spPr>
          <a:xfrm>
            <a:off x="727965" y="2224276"/>
            <a:ext cx="7573432" cy="1810003"/>
          </a:xfrm>
          <a:prstGeom prst="rect">
            <a:avLst/>
          </a:prstGeom>
        </p:spPr>
      </p:pic>
      <p:pic>
        <p:nvPicPr>
          <p:cNvPr id="7" name="Picture 6" descr="A blue and white text on a white background&#10;&#10;AI-generated content may be incorrect.">
            <a:extLst>
              <a:ext uri="{FF2B5EF4-FFF2-40B4-BE49-F238E27FC236}">
                <a16:creationId xmlns:a16="http://schemas.microsoft.com/office/drawing/2014/main" id="{CC96E552-E461-D88F-A8EA-56E2D6E44248}"/>
              </a:ext>
            </a:extLst>
          </p:cNvPr>
          <p:cNvPicPr>
            <a:picLocks noChangeAspect="1"/>
          </p:cNvPicPr>
          <p:nvPr/>
        </p:nvPicPr>
        <p:blipFill>
          <a:blip r:embed="rId3"/>
          <a:stretch>
            <a:fillRect/>
          </a:stretch>
        </p:blipFill>
        <p:spPr>
          <a:xfrm>
            <a:off x="3313135" y="3951707"/>
            <a:ext cx="7573432" cy="2656880"/>
          </a:xfrm>
          <a:prstGeom prst="rect">
            <a:avLst/>
          </a:prstGeom>
        </p:spPr>
      </p:pic>
    </p:spTree>
    <p:extLst>
      <p:ext uri="{BB962C8B-B14F-4D97-AF65-F5344CB8AC3E}">
        <p14:creationId xmlns:p14="http://schemas.microsoft.com/office/powerpoint/2010/main" val="2501471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AEB3E-6F87-BCEC-2940-E6FDC03878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D000A5-127A-B622-91D8-E2783DE35FA8}"/>
              </a:ext>
            </a:extLst>
          </p:cNvPr>
          <p:cNvSpPr>
            <a:spLocks noGrp="1"/>
          </p:cNvSpPr>
          <p:nvPr>
            <p:ph type="title"/>
          </p:nvPr>
        </p:nvSpPr>
        <p:spPr/>
        <p:txBody>
          <a:bodyPr/>
          <a:lstStyle/>
          <a:p>
            <a:r>
              <a:rPr lang="en-GB"/>
              <a:t>Use the CASP</a:t>
            </a:r>
          </a:p>
        </p:txBody>
      </p:sp>
      <p:pic>
        <p:nvPicPr>
          <p:cNvPr id="7" name="Content Placeholder 6" descr="A white background with orange and grey text&#10;&#10;AI-generated content may be incorrect.">
            <a:extLst>
              <a:ext uri="{FF2B5EF4-FFF2-40B4-BE49-F238E27FC236}">
                <a16:creationId xmlns:a16="http://schemas.microsoft.com/office/drawing/2014/main" id="{A3B513DF-D940-D10F-773E-7374CD088B25}"/>
              </a:ext>
            </a:extLst>
          </p:cNvPr>
          <p:cNvPicPr>
            <a:picLocks noGrp="1" noChangeAspect="1"/>
          </p:cNvPicPr>
          <p:nvPr>
            <p:ph idx="1"/>
          </p:nvPr>
        </p:nvPicPr>
        <p:blipFill>
          <a:blip r:embed="rId2"/>
          <a:stretch>
            <a:fillRect/>
          </a:stretch>
        </p:blipFill>
        <p:spPr>
          <a:xfrm>
            <a:off x="3732915" y="2263993"/>
            <a:ext cx="4914004" cy="3767138"/>
          </a:xfrm>
          <a:prstGeom prst="rect">
            <a:avLst/>
          </a:prstGeom>
        </p:spPr>
      </p:pic>
    </p:spTree>
    <p:extLst>
      <p:ext uri="{BB962C8B-B14F-4D97-AF65-F5344CB8AC3E}">
        <p14:creationId xmlns:p14="http://schemas.microsoft.com/office/powerpoint/2010/main" val="2738644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C6D9D-C7B0-42E1-7D5C-DF7619801B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B31A0B-49E0-FD32-C623-5D9E622EB17F}"/>
              </a:ext>
            </a:extLst>
          </p:cNvPr>
          <p:cNvSpPr>
            <a:spLocks noGrp="1"/>
          </p:cNvSpPr>
          <p:nvPr>
            <p:ph type="title"/>
          </p:nvPr>
        </p:nvSpPr>
        <p:spPr/>
        <p:txBody>
          <a:bodyPr/>
          <a:lstStyle/>
          <a:p>
            <a:r>
              <a:rPr lang="en-GB"/>
              <a:t>Use the Template</a:t>
            </a:r>
            <a:br>
              <a:rPr lang="en-GB"/>
            </a:br>
            <a:r>
              <a:rPr lang="en-GB"/>
              <a:t> </a:t>
            </a:r>
          </a:p>
        </p:txBody>
      </p:sp>
      <p:pic>
        <p:nvPicPr>
          <p:cNvPr id="7" name="Picture 6" descr="A white sheet with black text&#10;&#10;AI-generated content may be incorrect.">
            <a:extLst>
              <a:ext uri="{FF2B5EF4-FFF2-40B4-BE49-F238E27FC236}">
                <a16:creationId xmlns:a16="http://schemas.microsoft.com/office/drawing/2014/main" id="{450A1D8F-4712-5C3E-86D1-6EBA40D36CA4}"/>
              </a:ext>
            </a:extLst>
          </p:cNvPr>
          <p:cNvPicPr>
            <a:picLocks noChangeAspect="1"/>
          </p:cNvPicPr>
          <p:nvPr/>
        </p:nvPicPr>
        <p:blipFill>
          <a:blip r:embed="rId2"/>
          <a:stretch>
            <a:fillRect/>
          </a:stretch>
        </p:blipFill>
        <p:spPr>
          <a:xfrm>
            <a:off x="5359751" y="0"/>
            <a:ext cx="7062594" cy="6858000"/>
          </a:xfrm>
          <a:prstGeom prst="rect">
            <a:avLst/>
          </a:prstGeom>
        </p:spPr>
      </p:pic>
    </p:spTree>
    <p:extLst>
      <p:ext uri="{BB962C8B-B14F-4D97-AF65-F5344CB8AC3E}">
        <p14:creationId xmlns:p14="http://schemas.microsoft.com/office/powerpoint/2010/main" val="23724261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4" name="Rectangle 13">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31C2C5-C862-2A8B-0EA9-F4DCFFAF20F9}"/>
              </a:ext>
            </a:extLst>
          </p:cNvPr>
          <p:cNvSpPr>
            <a:spLocks noGrp="1"/>
          </p:cNvSpPr>
          <p:nvPr>
            <p:ph type="title"/>
          </p:nvPr>
        </p:nvSpPr>
        <p:spPr>
          <a:xfrm>
            <a:off x="517870" y="978408"/>
            <a:ext cx="3465681" cy="2450592"/>
          </a:xfrm>
        </p:spPr>
        <p:txBody>
          <a:bodyPr vert="horz" lIns="91440" tIns="45720" rIns="91440" bIns="45720" rtlCol="0" anchor="t">
            <a:normAutofit/>
          </a:bodyPr>
          <a:lstStyle/>
          <a:p>
            <a:r>
              <a:rPr lang="en-US">
                <a:solidFill>
                  <a:schemeClr val="tx2"/>
                </a:solidFill>
              </a:rPr>
              <a:t>Questions? </a:t>
            </a:r>
          </a:p>
        </p:txBody>
      </p:sp>
      <p:sp>
        <p:nvSpPr>
          <p:cNvPr id="16" name="Rectangle 15">
            <a:extLst>
              <a:ext uri="{FF2B5EF4-FFF2-40B4-BE49-F238E27FC236}">
                <a16:creationId xmlns:a16="http://schemas.microsoft.com/office/drawing/2014/main" id="{D91952F0-771E-D2ED-C333-EEED6708B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6642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Question mark">
            <a:extLst>
              <a:ext uri="{FF2B5EF4-FFF2-40B4-BE49-F238E27FC236}">
                <a16:creationId xmlns:a16="http://schemas.microsoft.com/office/drawing/2014/main" id="{BBE28FB4-C01B-57DB-F63A-3A11BCEF954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30496" y="657369"/>
            <a:ext cx="5642166" cy="5642166"/>
          </a:xfrm>
          <a:prstGeom prst="rect">
            <a:avLst/>
          </a:prstGeom>
        </p:spPr>
      </p:pic>
      <p:sp>
        <p:nvSpPr>
          <p:cNvPr id="18" name="Rectangle 17">
            <a:extLst>
              <a:ext uri="{FF2B5EF4-FFF2-40B4-BE49-F238E27FC236}">
                <a16:creationId xmlns:a16="http://schemas.microsoft.com/office/drawing/2014/main" id="{3FB6D83C-2377-9CAD-A991-9E0B6AF25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3465681"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12437816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20A80-E521-E159-44C6-FB43D1F0BEBE}"/>
              </a:ext>
            </a:extLst>
          </p:cNvPr>
          <p:cNvSpPr>
            <a:spLocks noGrp="1"/>
          </p:cNvSpPr>
          <p:nvPr>
            <p:ph type="title"/>
          </p:nvPr>
        </p:nvSpPr>
        <p:spPr/>
        <p:txBody>
          <a:bodyPr/>
          <a:lstStyle/>
          <a:p>
            <a:r>
              <a:rPr lang="en-GB"/>
              <a:t>What is Research?</a:t>
            </a:r>
          </a:p>
        </p:txBody>
      </p:sp>
      <p:sp>
        <p:nvSpPr>
          <p:cNvPr id="3" name="Content Placeholder 2">
            <a:extLst>
              <a:ext uri="{FF2B5EF4-FFF2-40B4-BE49-F238E27FC236}">
                <a16:creationId xmlns:a16="http://schemas.microsoft.com/office/drawing/2014/main" id="{D181F95B-685F-8F95-2B8C-ACE0261F5E0B}"/>
              </a:ext>
            </a:extLst>
          </p:cNvPr>
          <p:cNvSpPr>
            <a:spLocks noGrp="1"/>
          </p:cNvSpPr>
          <p:nvPr>
            <p:ph idx="1"/>
          </p:nvPr>
        </p:nvSpPr>
        <p:spPr/>
        <p:txBody>
          <a:bodyPr vert="horz" lIns="91440" tIns="45720" rIns="91440" bIns="45720" rtlCol="0" anchor="t">
            <a:normAutofit/>
          </a:bodyPr>
          <a:lstStyle/>
          <a:p>
            <a:r>
              <a:rPr lang="en-GB"/>
              <a:t>Research is what we do when we have a question or a problem we want to resolve</a:t>
            </a:r>
          </a:p>
          <a:p>
            <a:r>
              <a:rPr lang="en-US"/>
              <a:t>We may already think we know the answer to our question already</a:t>
            </a:r>
          </a:p>
          <a:p>
            <a:r>
              <a:rPr lang="en-US"/>
              <a:t>We may think the answer is obvious, common sense even</a:t>
            </a:r>
          </a:p>
          <a:p>
            <a:r>
              <a:rPr lang="en-US"/>
              <a:t>But until we have subjected our problem to rigorous scientific scurrility, our ‘knowledge’ remains little more than guesswork or at best, intuition. </a:t>
            </a:r>
          </a:p>
          <a:p>
            <a:endParaRPr lang="en-US"/>
          </a:p>
          <a:p>
            <a:endParaRPr lang="en-GB"/>
          </a:p>
          <a:p>
            <a:endParaRPr lang="en-GB"/>
          </a:p>
        </p:txBody>
      </p:sp>
    </p:spTree>
    <p:extLst>
      <p:ext uri="{BB962C8B-B14F-4D97-AF65-F5344CB8AC3E}">
        <p14:creationId xmlns:p14="http://schemas.microsoft.com/office/powerpoint/2010/main" val="27469143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F20E5-E67E-9EDE-2AF3-69319BE0AAC7}"/>
              </a:ext>
            </a:extLst>
          </p:cNvPr>
          <p:cNvSpPr>
            <a:spLocks noGrp="1"/>
          </p:cNvSpPr>
          <p:nvPr>
            <p:ph type="title"/>
          </p:nvPr>
        </p:nvSpPr>
        <p:spPr/>
        <p:txBody>
          <a:bodyPr/>
          <a:lstStyle/>
          <a:p>
            <a:r>
              <a:rPr lang="en-GB"/>
              <a:t>What is Research?</a:t>
            </a:r>
          </a:p>
        </p:txBody>
      </p:sp>
      <p:sp>
        <p:nvSpPr>
          <p:cNvPr id="3" name="Content Placeholder 2">
            <a:extLst>
              <a:ext uri="{FF2B5EF4-FFF2-40B4-BE49-F238E27FC236}">
                <a16:creationId xmlns:a16="http://schemas.microsoft.com/office/drawing/2014/main" id="{3E8BAA16-023B-CC49-119F-5853A6374EC4}"/>
              </a:ext>
            </a:extLst>
          </p:cNvPr>
          <p:cNvSpPr>
            <a:spLocks noGrp="1"/>
          </p:cNvSpPr>
          <p:nvPr>
            <p:ph idx="1"/>
          </p:nvPr>
        </p:nvSpPr>
        <p:spPr/>
        <p:txBody>
          <a:bodyPr vert="horz" lIns="91440" tIns="45720" rIns="91440" bIns="45720" rtlCol="0" anchor="t">
            <a:normAutofit/>
          </a:bodyPr>
          <a:lstStyle/>
          <a:p>
            <a:r>
              <a:rPr lang="en-GB"/>
              <a:t>The first priority is to formulate your research question</a:t>
            </a:r>
          </a:p>
          <a:p>
            <a:r>
              <a:rPr lang="en-GB"/>
              <a:t>Then figure out how you are going to answer it</a:t>
            </a:r>
          </a:p>
          <a:p>
            <a:pPr>
              <a:buFontTx/>
              <a:buChar char="-"/>
            </a:pPr>
            <a:r>
              <a:rPr lang="en-GB"/>
              <a:t>How have others answered it?</a:t>
            </a:r>
          </a:p>
          <a:p>
            <a:pPr>
              <a:buFontTx/>
              <a:buChar char="-"/>
            </a:pPr>
            <a:r>
              <a:rPr lang="en-GB"/>
              <a:t>How does your proposal fit in with what others have done?</a:t>
            </a:r>
          </a:p>
          <a:p>
            <a:pPr>
              <a:buFontTx/>
              <a:buChar char="-"/>
            </a:pPr>
            <a:r>
              <a:rPr lang="en-GB"/>
              <a:t>How will you know when you have answered it?</a:t>
            </a:r>
          </a:p>
          <a:p>
            <a:pPr>
              <a:buFontTx/>
              <a:buChar char="-"/>
            </a:pPr>
            <a:r>
              <a:rPr lang="en-GB"/>
              <a:t>Then you can present your answer </a:t>
            </a:r>
          </a:p>
        </p:txBody>
      </p:sp>
    </p:spTree>
    <p:extLst>
      <p:ext uri="{BB962C8B-B14F-4D97-AF65-F5344CB8AC3E}">
        <p14:creationId xmlns:p14="http://schemas.microsoft.com/office/powerpoint/2010/main" val="42129452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C639-D27A-6B23-6AC2-2E4F14C99AAC}"/>
              </a:ext>
            </a:extLst>
          </p:cNvPr>
          <p:cNvSpPr>
            <a:spLocks noGrp="1"/>
          </p:cNvSpPr>
          <p:nvPr>
            <p:ph type="title"/>
          </p:nvPr>
        </p:nvSpPr>
        <p:spPr/>
        <p:txBody>
          <a:bodyPr/>
          <a:lstStyle/>
          <a:p>
            <a:r>
              <a:rPr lang="en-GB"/>
              <a:t>Clinical Research</a:t>
            </a:r>
          </a:p>
        </p:txBody>
      </p:sp>
      <p:sp>
        <p:nvSpPr>
          <p:cNvPr id="3" name="Content Placeholder 2">
            <a:extLst>
              <a:ext uri="{FF2B5EF4-FFF2-40B4-BE49-F238E27FC236}">
                <a16:creationId xmlns:a16="http://schemas.microsoft.com/office/drawing/2014/main" id="{7D7E4DCE-A83F-831E-F7AD-7DA05CCA5802}"/>
              </a:ext>
            </a:extLst>
          </p:cNvPr>
          <p:cNvSpPr>
            <a:spLocks noGrp="1"/>
          </p:cNvSpPr>
          <p:nvPr>
            <p:ph idx="1"/>
          </p:nvPr>
        </p:nvSpPr>
        <p:spPr/>
        <p:txBody>
          <a:bodyPr/>
          <a:lstStyle/>
          <a:p>
            <a:r>
              <a:rPr lang="en-GB"/>
              <a:t>The ultimate goal of clinical research is to </a:t>
            </a:r>
            <a:r>
              <a:rPr lang="en-GB" b="1"/>
              <a:t>maximise the effectiveness of practice</a:t>
            </a:r>
            <a:endParaRPr lang="en-GB"/>
          </a:p>
          <a:p>
            <a:r>
              <a:rPr lang="en-GB"/>
              <a:t>Clinical research is essential to inform clinical judgement</a:t>
            </a:r>
          </a:p>
          <a:p>
            <a:r>
              <a:rPr lang="en-GB"/>
              <a:t>We MUST exercise a commitment to scientific discovery that will lead to improvements in standards of care and patient outcomes </a:t>
            </a:r>
          </a:p>
          <a:p>
            <a:r>
              <a:rPr lang="en-GB"/>
              <a:t>The importance of engaging in collaborative and interprofessional efforts cannot be over emphasised</a:t>
            </a:r>
          </a:p>
          <a:p>
            <a:pPr marL="0" indent="0">
              <a:buNone/>
            </a:pPr>
            <a:endParaRPr lang="en-GB"/>
          </a:p>
          <a:p>
            <a:pPr marL="0" indent="0">
              <a:buNone/>
            </a:pPr>
            <a:endParaRPr lang="en-GB"/>
          </a:p>
          <a:p>
            <a:pPr marL="0" indent="0">
              <a:buNone/>
            </a:pPr>
            <a:endParaRPr lang="en-GB"/>
          </a:p>
          <a:p>
            <a:pPr marL="0" indent="0">
              <a:buNone/>
            </a:pPr>
            <a:r>
              <a:rPr lang="en-GB"/>
              <a:t>(Gross Portney, 2020)</a:t>
            </a:r>
          </a:p>
        </p:txBody>
      </p:sp>
    </p:spTree>
    <p:extLst>
      <p:ext uri="{BB962C8B-B14F-4D97-AF65-F5344CB8AC3E}">
        <p14:creationId xmlns:p14="http://schemas.microsoft.com/office/powerpoint/2010/main" val="12656745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2637F-4582-66B0-9740-AB1ADDB963F6}"/>
              </a:ext>
            </a:extLst>
          </p:cNvPr>
          <p:cNvSpPr>
            <a:spLocks noGrp="1"/>
          </p:cNvSpPr>
          <p:nvPr>
            <p:ph type="title"/>
          </p:nvPr>
        </p:nvSpPr>
        <p:spPr/>
        <p:txBody>
          <a:bodyPr/>
          <a:lstStyle/>
          <a:p>
            <a:r>
              <a:rPr lang="en-GB"/>
              <a:t>Clinical Research – Three Parts</a:t>
            </a:r>
          </a:p>
        </p:txBody>
      </p:sp>
      <p:sp>
        <p:nvSpPr>
          <p:cNvPr id="3" name="Content Placeholder 2">
            <a:extLst>
              <a:ext uri="{FF2B5EF4-FFF2-40B4-BE49-F238E27FC236}">
                <a16:creationId xmlns:a16="http://schemas.microsoft.com/office/drawing/2014/main" id="{7B2F7FCA-6D30-584D-CA3F-1EC61342B104}"/>
              </a:ext>
            </a:extLst>
          </p:cNvPr>
          <p:cNvSpPr>
            <a:spLocks noGrp="1"/>
          </p:cNvSpPr>
          <p:nvPr>
            <p:ph idx="1"/>
          </p:nvPr>
        </p:nvSpPr>
        <p:spPr/>
        <p:txBody>
          <a:bodyPr/>
          <a:lstStyle/>
          <a:p>
            <a:pPr marL="342900" indent="-342900">
              <a:buFont typeface="+mj-lt"/>
              <a:buAutoNum type="arabicPeriod"/>
            </a:pPr>
            <a:r>
              <a:rPr lang="en-GB" b="1"/>
              <a:t>Patient oriented research: </a:t>
            </a:r>
            <a:r>
              <a:rPr lang="en-GB"/>
              <a:t>studies conducted with human subjects to improve our understanding of the mechanisms of diseases and disorders, and of what therapeutic intervention  will be most effective in treating them</a:t>
            </a:r>
          </a:p>
          <a:p>
            <a:pPr marL="342900" indent="-342900">
              <a:buFont typeface="+mj-lt"/>
              <a:buAutoNum type="arabicPeriod"/>
            </a:pPr>
            <a:r>
              <a:rPr lang="en-GB" b="1"/>
              <a:t>Epidemiological and behavioural studies: </a:t>
            </a:r>
            <a:r>
              <a:rPr lang="en-GB"/>
              <a:t>Observational studies focused on describing patterns of disease and disability </a:t>
            </a:r>
          </a:p>
          <a:p>
            <a:pPr marL="342900" indent="-342900">
              <a:buFont typeface="+mj-lt"/>
              <a:buAutoNum type="arabicPeriod"/>
            </a:pPr>
            <a:r>
              <a:rPr lang="en-GB" b="1"/>
              <a:t>Outcome research and health service research: </a:t>
            </a:r>
            <a:r>
              <a:rPr lang="en-GB"/>
              <a:t>studies to determine the impact of research on a population health and utilisation of evidence-based therapeutic interventions </a:t>
            </a:r>
          </a:p>
          <a:p>
            <a:pPr marL="0" indent="0">
              <a:buNone/>
            </a:pPr>
            <a:endParaRPr lang="en-GB"/>
          </a:p>
          <a:p>
            <a:pPr marL="0" indent="0">
              <a:buNone/>
            </a:pPr>
            <a:endParaRPr lang="en-GB"/>
          </a:p>
          <a:p>
            <a:pPr marL="0" indent="0">
              <a:buNone/>
            </a:pPr>
            <a:r>
              <a:rPr lang="en-GB"/>
              <a:t>(Gross Portney, 2020)</a:t>
            </a:r>
          </a:p>
          <a:p>
            <a:pPr marL="0" indent="0">
              <a:buNone/>
            </a:pPr>
            <a:endParaRPr lang="en-GB"/>
          </a:p>
        </p:txBody>
      </p:sp>
    </p:spTree>
    <p:extLst>
      <p:ext uri="{BB962C8B-B14F-4D97-AF65-F5344CB8AC3E}">
        <p14:creationId xmlns:p14="http://schemas.microsoft.com/office/powerpoint/2010/main" val="19787127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1">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4" name="Rectangle 13">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34C7F1-AD58-FA71-261C-8FE78CA6D74C}"/>
              </a:ext>
            </a:extLst>
          </p:cNvPr>
          <p:cNvSpPr>
            <a:spLocks noGrp="1"/>
          </p:cNvSpPr>
          <p:nvPr>
            <p:ph type="title"/>
          </p:nvPr>
        </p:nvSpPr>
        <p:spPr>
          <a:xfrm>
            <a:off x="741388" y="2311632"/>
            <a:ext cx="3465681" cy="2916472"/>
          </a:xfrm>
        </p:spPr>
        <p:txBody>
          <a:bodyPr vert="horz" lIns="91440" tIns="45720" rIns="91440" bIns="45720" rtlCol="0" anchor="b">
            <a:normAutofit fontScale="90000"/>
          </a:bodyPr>
          <a:lstStyle/>
          <a:p>
            <a:r>
              <a:rPr lang="en-US">
                <a:solidFill>
                  <a:schemeClr val="tx2"/>
                </a:solidFill>
              </a:rPr>
              <a:t>Qualitative Research </a:t>
            </a:r>
            <a:br>
              <a:rPr lang="en-US">
                <a:solidFill>
                  <a:schemeClr val="tx2"/>
                </a:solidFill>
              </a:rPr>
            </a:br>
            <a:br>
              <a:rPr lang="en-US">
                <a:solidFill>
                  <a:schemeClr val="tx2"/>
                </a:solidFill>
              </a:rPr>
            </a:br>
            <a:r>
              <a:rPr lang="en-US">
                <a:solidFill>
                  <a:schemeClr val="tx2"/>
                </a:solidFill>
              </a:rPr>
              <a:t>VS</a:t>
            </a:r>
            <a:br>
              <a:rPr lang="en-US">
                <a:solidFill>
                  <a:schemeClr val="tx2"/>
                </a:solidFill>
              </a:rPr>
            </a:br>
            <a:br>
              <a:rPr lang="en-US">
                <a:solidFill>
                  <a:schemeClr val="tx2"/>
                </a:solidFill>
              </a:rPr>
            </a:br>
            <a:r>
              <a:rPr lang="en-US">
                <a:solidFill>
                  <a:schemeClr val="tx2"/>
                </a:solidFill>
              </a:rPr>
              <a:t>Quantitative Research </a:t>
            </a:r>
          </a:p>
        </p:txBody>
      </p:sp>
      <p:pic>
        <p:nvPicPr>
          <p:cNvPr id="7" name="Graphic 6" descr="Education">
            <a:extLst>
              <a:ext uri="{FF2B5EF4-FFF2-40B4-BE49-F238E27FC236}">
                <a16:creationId xmlns:a16="http://schemas.microsoft.com/office/drawing/2014/main" id="{AECD1478-1CD8-49F4-D7D4-9444AC16D42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91229" y="751093"/>
            <a:ext cx="5254670" cy="5254670"/>
          </a:xfrm>
          <a:prstGeom prst="rect">
            <a:avLst/>
          </a:prstGeom>
        </p:spPr>
      </p:pic>
      <p:sp>
        <p:nvSpPr>
          <p:cNvPr id="16" name="Freeform: Shape 15">
            <a:extLst>
              <a:ext uri="{FF2B5EF4-FFF2-40B4-BE49-F238E27FC236}">
                <a16:creationId xmlns:a16="http://schemas.microsoft.com/office/drawing/2014/main" id="{81F0C179-4DBF-6AB9-CD0B-9224A0C885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6300216"/>
            <a:ext cx="11165482" cy="45719"/>
          </a:xfrm>
          <a:custGeom>
            <a:avLst/>
            <a:gdLst>
              <a:gd name="connsiteX0" fmla="*/ 0 w 11165482"/>
              <a:gd name="connsiteY0" fmla="*/ 0 h 45719"/>
              <a:gd name="connsiteX1" fmla="*/ 3694525 w 11165482"/>
              <a:gd name="connsiteY1" fmla="*/ 0 h 45719"/>
              <a:gd name="connsiteX2" fmla="*/ 5021183 w 11165482"/>
              <a:gd name="connsiteY2" fmla="*/ 0 h 45719"/>
              <a:gd name="connsiteX3" fmla="*/ 6144299 w 11165482"/>
              <a:gd name="connsiteY3" fmla="*/ 0 h 45719"/>
              <a:gd name="connsiteX4" fmla="*/ 8715708 w 11165482"/>
              <a:gd name="connsiteY4" fmla="*/ 0 h 45719"/>
              <a:gd name="connsiteX5" fmla="*/ 11165482 w 11165482"/>
              <a:gd name="connsiteY5" fmla="*/ 0 h 45719"/>
              <a:gd name="connsiteX6" fmla="*/ 11165482 w 11165482"/>
              <a:gd name="connsiteY6" fmla="*/ 45719 h 45719"/>
              <a:gd name="connsiteX7" fmla="*/ 8715708 w 11165482"/>
              <a:gd name="connsiteY7" fmla="*/ 45719 h 45719"/>
              <a:gd name="connsiteX8" fmla="*/ 6144299 w 11165482"/>
              <a:gd name="connsiteY8" fmla="*/ 45719 h 45719"/>
              <a:gd name="connsiteX9" fmla="*/ 5021183 w 11165482"/>
              <a:gd name="connsiteY9" fmla="*/ 45719 h 45719"/>
              <a:gd name="connsiteX10" fmla="*/ 3694525 w 11165482"/>
              <a:gd name="connsiteY10" fmla="*/ 45719 h 45719"/>
              <a:gd name="connsiteX11" fmla="*/ 0 w 11165482"/>
              <a:gd name="connsiteY11" fmla="*/ 45719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3694525 w 11165482"/>
              <a:gd name="connsiteY9" fmla="*/ 45719 h 45719"/>
              <a:gd name="connsiteX10" fmla="*/ 0 w 11165482"/>
              <a:gd name="connsiteY10" fmla="*/ 45719 h 45719"/>
              <a:gd name="connsiteX11" fmla="*/ 0 w 11165482"/>
              <a:gd name="connsiteY11" fmla="*/ 0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0 w 11165482"/>
              <a:gd name="connsiteY9" fmla="*/ 45719 h 45719"/>
              <a:gd name="connsiteX10" fmla="*/ 0 w 11165482"/>
              <a:gd name="connsiteY10"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6144299 w 11165482"/>
              <a:gd name="connsiteY6" fmla="*/ 45719 h 45719"/>
              <a:gd name="connsiteX7" fmla="*/ 5021183 w 11165482"/>
              <a:gd name="connsiteY7" fmla="*/ 45719 h 45719"/>
              <a:gd name="connsiteX8" fmla="*/ 0 w 11165482"/>
              <a:gd name="connsiteY8" fmla="*/ 45719 h 45719"/>
              <a:gd name="connsiteX9" fmla="*/ 0 w 11165482"/>
              <a:gd name="connsiteY9"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5021183 w 11165482"/>
              <a:gd name="connsiteY6" fmla="*/ 45719 h 45719"/>
              <a:gd name="connsiteX7" fmla="*/ 0 w 11165482"/>
              <a:gd name="connsiteY7" fmla="*/ 45719 h 45719"/>
              <a:gd name="connsiteX8" fmla="*/ 0 w 11165482"/>
              <a:gd name="connsiteY8"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5021183 w 11165482"/>
              <a:gd name="connsiteY5" fmla="*/ 45719 h 45719"/>
              <a:gd name="connsiteX6" fmla="*/ 0 w 11165482"/>
              <a:gd name="connsiteY6" fmla="*/ 45719 h 45719"/>
              <a:gd name="connsiteX7" fmla="*/ 0 w 11165482"/>
              <a:gd name="connsiteY7"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0 w 11165482"/>
              <a:gd name="connsiteY5" fmla="*/ 45719 h 45719"/>
              <a:gd name="connsiteX6" fmla="*/ 0 w 11165482"/>
              <a:gd name="connsiteY6"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0 w 11165482"/>
              <a:gd name="connsiteY4" fmla="*/ 45719 h 45719"/>
              <a:gd name="connsiteX5" fmla="*/ 0 w 11165482"/>
              <a:gd name="connsiteY5" fmla="*/ 0 h 45719"/>
              <a:gd name="connsiteX0" fmla="*/ 0 w 11165482"/>
              <a:gd name="connsiteY0" fmla="*/ 0 h 45719"/>
              <a:gd name="connsiteX1" fmla="*/ 11165482 w 11165482"/>
              <a:gd name="connsiteY1" fmla="*/ 0 h 45719"/>
              <a:gd name="connsiteX2" fmla="*/ 11165482 w 11165482"/>
              <a:gd name="connsiteY2" fmla="*/ 45719 h 45719"/>
              <a:gd name="connsiteX3" fmla="*/ 0 w 11165482"/>
              <a:gd name="connsiteY3" fmla="*/ 45719 h 45719"/>
              <a:gd name="connsiteX4" fmla="*/ 0 w 11165482"/>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5482" h="45719">
                <a:moveTo>
                  <a:pt x="0" y="0"/>
                </a:moveTo>
                <a:lnTo>
                  <a:pt x="11165482" y="0"/>
                </a:lnTo>
                <a:lnTo>
                  <a:pt x="11165482" y="45719"/>
                </a:lnTo>
                <a:lnTo>
                  <a:pt x="0" y="45719"/>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313037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3FD4F-1813-8715-642F-FFECE618770A}"/>
              </a:ext>
            </a:extLst>
          </p:cNvPr>
          <p:cNvSpPr>
            <a:spLocks noGrp="1"/>
          </p:cNvSpPr>
          <p:nvPr>
            <p:ph type="title"/>
          </p:nvPr>
        </p:nvSpPr>
        <p:spPr/>
        <p:txBody>
          <a:bodyPr/>
          <a:lstStyle/>
          <a:p>
            <a:r>
              <a:rPr lang="en-GB"/>
              <a:t>Quantitative Research – Assignment 1 </a:t>
            </a:r>
          </a:p>
        </p:txBody>
      </p:sp>
      <p:sp>
        <p:nvSpPr>
          <p:cNvPr id="3" name="Content Placeholder 2">
            <a:extLst>
              <a:ext uri="{FF2B5EF4-FFF2-40B4-BE49-F238E27FC236}">
                <a16:creationId xmlns:a16="http://schemas.microsoft.com/office/drawing/2014/main" id="{72B706BC-ADA1-5485-2F39-08552FCD237E}"/>
              </a:ext>
            </a:extLst>
          </p:cNvPr>
          <p:cNvSpPr>
            <a:spLocks noGrp="1"/>
          </p:cNvSpPr>
          <p:nvPr>
            <p:ph idx="1"/>
          </p:nvPr>
        </p:nvSpPr>
        <p:spPr/>
        <p:txBody>
          <a:bodyPr/>
          <a:lstStyle/>
          <a:p>
            <a:r>
              <a:rPr lang="en-GB" b="1">
                <a:highlight>
                  <a:srgbClr val="FFFF00"/>
                </a:highlight>
              </a:rPr>
              <a:t>Quantifies</a:t>
            </a:r>
            <a:r>
              <a:rPr lang="en-GB"/>
              <a:t> relationships between two or more variables</a:t>
            </a:r>
          </a:p>
          <a:p>
            <a:r>
              <a:rPr lang="en-GB"/>
              <a:t>Tests a hypothesis </a:t>
            </a:r>
          </a:p>
          <a:p>
            <a:r>
              <a:rPr lang="en-GB"/>
              <a:t>Measures outcomes using numerical data under standardised conditions</a:t>
            </a:r>
          </a:p>
          <a:p>
            <a:r>
              <a:rPr lang="en-GB"/>
              <a:t>Quantitative information may be obtained using formal instruments that address physical, behavioural or physiological parameters or putting subjective information into an objective numerical scale </a:t>
            </a:r>
          </a:p>
          <a:p>
            <a:r>
              <a:rPr lang="en-GB"/>
              <a:t>To measure, count and quantity a problem</a:t>
            </a:r>
          </a:p>
        </p:txBody>
      </p:sp>
    </p:spTree>
    <p:extLst>
      <p:ext uri="{BB962C8B-B14F-4D97-AF65-F5344CB8AC3E}">
        <p14:creationId xmlns:p14="http://schemas.microsoft.com/office/powerpoint/2010/main" val="40070017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FA8B8-F3CA-2CCE-73AD-EDADD84F05F4}"/>
              </a:ext>
            </a:extLst>
          </p:cNvPr>
          <p:cNvSpPr>
            <a:spLocks noGrp="1"/>
          </p:cNvSpPr>
          <p:nvPr>
            <p:ph type="title"/>
          </p:nvPr>
        </p:nvSpPr>
        <p:spPr/>
        <p:txBody>
          <a:bodyPr/>
          <a:lstStyle/>
          <a:p>
            <a:r>
              <a:rPr lang="en-GB"/>
              <a:t>Qualitative Research – Assignment 2</a:t>
            </a:r>
          </a:p>
        </p:txBody>
      </p:sp>
      <p:sp>
        <p:nvSpPr>
          <p:cNvPr id="3" name="Content Placeholder 2">
            <a:extLst>
              <a:ext uri="{FF2B5EF4-FFF2-40B4-BE49-F238E27FC236}">
                <a16:creationId xmlns:a16="http://schemas.microsoft.com/office/drawing/2014/main" id="{73E476BF-1DFA-0211-72D8-00DB8CD6DC9E}"/>
              </a:ext>
            </a:extLst>
          </p:cNvPr>
          <p:cNvSpPr>
            <a:spLocks noGrp="1"/>
          </p:cNvSpPr>
          <p:nvPr>
            <p:ph idx="1"/>
          </p:nvPr>
        </p:nvSpPr>
        <p:spPr/>
        <p:txBody>
          <a:bodyPr>
            <a:normAutofit fontScale="85000" lnSpcReduction="10000"/>
          </a:bodyPr>
          <a:lstStyle/>
          <a:p>
            <a:r>
              <a:rPr lang="en-GB" b="1">
                <a:highlight>
                  <a:srgbClr val="FFFF00"/>
                </a:highlight>
              </a:rPr>
              <a:t>Explores</a:t>
            </a:r>
            <a:r>
              <a:rPr lang="en-GB"/>
              <a:t> issues, underlying reasons, motivations</a:t>
            </a:r>
          </a:p>
          <a:p>
            <a:r>
              <a:rPr lang="en-GB"/>
              <a:t>Identified new concepts and theories </a:t>
            </a:r>
          </a:p>
          <a:p>
            <a:r>
              <a:rPr lang="en-GB"/>
              <a:t>To gain a detailed understanding or explanation of underlying reasons, beliefs and motivations</a:t>
            </a:r>
          </a:p>
          <a:p>
            <a:r>
              <a:rPr lang="en-GB"/>
              <a:t>E.g. why, how, who, when?</a:t>
            </a:r>
          </a:p>
          <a:p>
            <a:r>
              <a:rPr lang="en-GB"/>
              <a:t>In qualitative methodology ‘measurement’ is based on subjective, narrative information which can be observed using</a:t>
            </a:r>
          </a:p>
          <a:p>
            <a:pPr marL="342900" indent="-342900">
              <a:buAutoNum type="arabicPeriod"/>
            </a:pPr>
            <a:r>
              <a:rPr lang="en-GB"/>
              <a:t>Focus groups</a:t>
            </a:r>
          </a:p>
          <a:p>
            <a:pPr marL="342900" indent="-342900">
              <a:buAutoNum type="arabicPeriod"/>
            </a:pPr>
            <a:r>
              <a:rPr lang="en-GB"/>
              <a:t>Interviews</a:t>
            </a:r>
          </a:p>
          <a:p>
            <a:pPr marL="342900" indent="-342900">
              <a:buAutoNum type="arabicPeriod"/>
            </a:pPr>
            <a:r>
              <a:rPr lang="en-GB"/>
              <a:t>Observation </a:t>
            </a:r>
          </a:p>
          <a:p>
            <a:r>
              <a:rPr lang="en-GB"/>
              <a:t>Analysis of narrative data is based on thick description to identify themes </a:t>
            </a:r>
          </a:p>
          <a:p>
            <a:r>
              <a:rPr lang="en-GB"/>
              <a:t>Qualitative research is considered descriptive in that it involves collection of data through interviews and observations </a:t>
            </a:r>
          </a:p>
          <a:p>
            <a:pPr marL="0" indent="0">
              <a:buNone/>
            </a:pPr>
            <a:endParaRPr lang="en-GB"/>
          </a:p>
        </p:txBody>
      </p:sp>
    </p:spTree>
    <p:extLst>
      <p:ext uri="{BB962C8B-B14F-4D97-AF65-F5344CB8AC3E}">
        <p14:creationId xmlns:p14="http://schemas.microsoft.com/office/powerpoint/2010/main" val="2768858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44F5C-928E-FA48-E2D0-F77544706E32}"/>
              </a:ext>
            </a:extLst>
          </p:cNvPr>
          <p:cNvSpPr>
            <a:spLocks noGrp="1"/>
          </p:cNvSpPr>
          <p:nvPr>
            <p:ph type="title"/>
          </p:nvPr>
        </p:nvSpPr>
        <p:spPr/>
        <p:txBody>
          <a:bodyPr/>
          <a:lstStyle/>
          <a:p>
            <a:endParaRPr lang="en-GB"/>
          </a:p>
        </p:txBody>
      </p:sp>
      <p:pic>
        <p:nvPicPr>
          <p:cNvPr id="5" name="Picture 4" descr="A table with black text&#10;&#10;AI-generated content may be incorrect.">
            <a:extLst>
              <a:ext uri="{FF2B5EF4-FFF2-40B4-BE49-F238E27FC236}">
                <a16:creationId xmlns:a16="http://schemas.microsoft.com/office/drawing/2014/main" id="{53509617-9935-A70D-709F-94BDD8DA56E5}"/>
              </a:ext>
            </a:extLst>
          </p:cNvPr>
          <p:cNvPicPr>
            <a:picLocks noChangeAspect="1"/>
          </p:cNvPicPr>
          <p:nvPr/>
        </p:nvPicPr>
        <p:blipFill>
          <a:blip r:embed="rId2"/>
          <a:stretch>
            <a:fillRect/>
          </a:stretch>
        </p:blipFill>
        <p:spPr>
          <a:xfrm>
            <a:off x="0" y="614362"/>
            <a:ext cx="12192000" cy="5629275"/>
          </a:xfrm>
          <a:prstGeom prst="rect">
            <a:avLst/>
          </a:prstGeom>
        </p:spPr>
      </p:pic>
    </p:spTree>
    <p:extLst>
      <p:ext uri="{BB962C8B-B14F-4D97-AF65-F5344CB8AC3E}">
        <p14:creationId xmlns:p14="http://schemas.microsoft.com/office/powerpoint/2010/main" val="39279976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89D9D-9B64-E0C7-4ACA-6A1328A75BBA}"/>
              </a:ext>
            </a:extLst>
          </p:cNvPr>
          <p:cNvSpPr>
            <a:spLocks noGrp="1"/>
          </p:cNvSpPr>
          <p:nvPr>
            <p:ph type="title"/>
          </p:nvPr>
        </p:nvSpPr>
        <p:spPr/>
        <p:txBody>
          <a:bodyPr/>
          <a:lstStyle/>
          <a:p>
            <a:r>
              <a:rPr lang="en-GB"/>
              <a:t>Types of Research</a:t>
            </a:r>
          </a:p>
        </p:txBody>
      </p:sp>
      <p:sp>
        <p:nvSpPr>
          <p:cNvPr id="3" name="Content Placeholder 2">
            <a:extLst>
              <a:ext uri="{FF2B5EF4-FFF2-40B4-BE49-F238E27FC236}">
                <a16:creationId xmlns:a16="http://schemas.microsoft.com/office/drawing/2014/main" id="{49194408-237D-6BA8-2D6A-0D375A33AF43}"/>
              </a:ext>
            </a:extLst>
          </p:cNvPr>
          <p:cNvSpPr>
            <a:spLocks noGrp="1"/>
          </p:cNvSpPr>
          <p:nvPr>
            <p:ph idx="1"/>
          </p:nvPr>
        </p:nvSpPr>
        <p:spPr>
          <a:xfrm>
            <a:off x="521208" y="1950720"/>
            <a:ext cx="11155680" cy="4395216"/>
          </a:xfrm>
        </p:spPr>
        <p:txBody>
          <a:bodyPr>
            <a:normAutofit fontScale="92500"/>
          </a:bodyPr>
          <a:lstStyle/>
          <a:p>
            <a:r>
              <a:rPr lang="en-GB"/>
              <a:t>Research can be viewed along a continuum that reflects the type of question the research is intending to answer</a:t>
            </a:r>
          </a:p>
          <a:p>
            <a:r>
              <a:rPr lang="en-GB"/>
              <a:t>The research continuum is not hierarchical – each type of research fulfils a particular purpose and need</a:t>
            </a:r>
          </a:p>
          <a:p>
            <a:r>
              <a:rPr lang="en-GB" b="1"/>
              <a:t>Systematic Reviews:</a:t>
            </a:r>
          </a:p>
          <a:p>
            <a:pPr marL="0" indent="0">
              <a:buNone/>
            </a:pPr>
            <a:r>
              <a:rPr lang="en-GB"/>
              <a:t>Present a comprehensive analysis of the full range of literature on a particular topic. These studies look at methodological quality of studies to frame the state of knowledge on a topic</a:t>
            </a:r>
          </a:p>
          <a:p>
            <a:r>
              <a:rPr lang="en-GB" b="1"/>
              <a:t>Meta-analysis: </a:t>
            </a:r>
          </a:p>
          <a:p>
            <a:pPr marL="0" indent="0">
              <a:buNone/>
            </a:pPr>
            <a:r>
              <a:rPr lang="en-GB"/>
              <a:t>Goes a step beyond systematic review, applying a process of statistically combing the findings from several studies to obtain a summary analysis</a:t>
            </a:r>
          </a:p>
          <a:p>
            <a:r>
              <a:rPr lang="en-GB" b="1"/>
              <a:t>Scoping Review:</a:t>
            </a:r>
          </a:p>
          <a:p>
            <a:pPr marL="0" indent="0">
              <a:buNone/>
            </a:pPr>
            <a:r>
              <a:rPr lang="en-GB"/>
              <a:t>Incorporates a broader range of study designs and data gathering methods to comprehensively synthesise evidence often with the aims of informing policy, practice, programming and providing directions to future research </a:t>
            </a:r>
          </a:p>
        </p:txBody>
      </p:sp>
    </p:spTree>
    <p:extLst>
      <p:ext uri="{BB962C8B-B14F-4D97-AF65-F5344CB8AC3E}">
        <p14:creationId xmlns:p14="http://schemas.microsoft.com/office/powerpoint/2010/main" val="15314046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scientific research&#10;&#10;AI-generated content may be incorrect.">
            <a:extLst>
              <a:ext uri="{FF2B5EF4-FFF2-40B4-BE49-F238E27FC236}">
                <a16:creationId xmlns:a16="http://schemas.microsoft.com/office/drawing/2014/main" id="{DBFE0CD4-35A8-F3AD-6B08-0F2F036846B7}"/>
              </a:ext>
            </a:extLst>
          </p:cNvPr>
          <p:cNvPicPr>
            <a:picLocks noGrp="1" noChangeAspect="1"/>
          </p:cNvPicPr>
          <p:nvPr>
            <p:ph idx="1"/>
          </p:nvPr>
        </p:nvPicPr>
        <p:blipFill>
          <a:blip r:embed="rId2"/>
          <a:stretch>
            <a:fillRect/>
          </a:stretch>
        </p:blipFill>
        <p:spPr>
          <a:xfrm>
            <a:off x="3362960" y="447040"/>
            <a:ext cx="5253513" cy="6410960"/>
          </a:xfrm>
          <a:prstGeom prst="rect">
            <a:avLst/>
          </a:prstGeom>
        </p:spPr>
      </p:pic>
    </p:spTree>
    <p:extLst>
      <p:ext uri="{BB962C8B-B14F-4D97-AF65-F5344CB8AC3E}">
        <p14:creationId xmlns:p14="http://schemas.microsoft.com/office/powerpoint/2010/main" val="2984872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tudy designs — Centre for Evidence-Based Medicine (CEBM), University of  Oxford">
            <a:extLst>
              <a:ext uri="{FF2B5EF4-FFF2-40B4-BE49-F238E27FC236}">
                <a16:creationId xmlns:a16="http://schemas.microsoft.com/office/drawing/2014/main" id="{E908EE64-3C35-BFEF-8FDD-033C958D274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75076" y="1040639"/>
            <a:ext cx="8684947" cy="4776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49505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9013F5-96EC-6551-8D4F-38D0FD84B4A9}"/>
              </a:ext>
            </a:extLst>
          </p:cNvPr>
          <p:cNvSpPr>
            <a:spLocks noGrp="1"/>
          </p:cNvSpPr>
          <p:nvPr>
            <p:ph type="title"/>
          </p:nvPr>
        </p:nvSpPr>
        <p:spPr>
          <a:xfrm>
            <a:off x="521208" y="978408"/>
            <a:ext cx="4032504" cy="3364992"/>
          </a:xfrm>
        </p:spPr>
        <p:txBody>
          <a:bodyPr>
            <a:normAutofit/>
          </a:bodyPr>
          <a:lstStyle/>
          <a:p>
            <a:r>
              <a:rPr lang="en-GB"/>
              <a:t>Research Types</a:t>
            </a:r>
          </a:p>
        </p:txBody>
      </p:sp>
      <p:sp>
        <p:nvSpPr>
          <p:cNvPr id="11" name="Rectangle 10">
            <a:extLst>
              <a:ext uri="{FF2B5EF4-FFF2-40B4-BE49-F238E27FC236}">
                <a16:creationId xmlns:a16="http://schemas.microsoft.com/office/drawing/2014/main" id="{33AC4FE1-D370-43A6-96C5-076716BB1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03250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5776" y="611650"/>
            <a:ext cx="662025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7ED414B5-A03E-D2D6-1F66-BABB2E004283}"/>
              </a:ext>
            </a:extLst>
          </p:cNvPr>
          <p:cNvGraphicFramePr>
            <a:graphicFrameLocks noGrp="1"/>
          </p:cNvGraphicFramePr>
          <p:nvPr>
            <p:ph idx="1"/>
            <p:extLst>
              <p:ext uri="{D42A27DB-BD31-4B8C-83A1-F6EECF244321}">
                <p14:modId xmlns:p14="http://schemas.microsoft.com/office/powerpoint/2010/main" val="4206805171"/>
              </p:ext>
            </p:extLst>
          </p:nvPr>
        </p:nvGraphicFramePr>
        <p:xfrm>
          <a:off x="5065776" y="978408"/>
          <a:ext cx="6620256" cy="53766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92267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178813-5CFD-BC78-C5F6-6196E125753C}"/>
              </a:ext>
            </a:extLst>
          </p:cNvPr>
          <p:cNvSpPr>
            <a:spLocks noGrp="1"/>
          </p:cNvSpPr>
          <p:nvPr>
            <p:ph type="title"/>
          </p:nvPr>
        </p:nvSpPr>
        <p:spPr>
          <a:xfrm>
            <a:off x="521208" y="978408"/>
            <a:ext cx="4032504" cy="3364992"/>
          </a:xfrm>
        </p:spPr>
        <p:txBody>
          <a:bodyPr>
            <a:normAutofit/>
          </a:bodyPr>
          <a:lstStyle/>
          <a:p>
            <a:pPr>
              <a:lnSpc>
                <a:spcPct val="90000"/>
              </a:lnSpc>
            </a:pPr>
            <a:r>
              <a:rPr lang="en-GB" sz="4100"/>
              <a:t>Research Types  (Observational) </a:t>
            </a:r>
          </a:p>
        </p:txBody>
      </p:sp>
      <p:sp>
        <p:nvSpPr>
          <p:cNvPr id="11" name="Rectangle 10">
            <a:extLst>
              <a:ext uri="{FF2B5EF4-FFF2-40B4-BE49-F238E27FC236}">
                <a16:creationId xmlns:a16="http://schemas.microsoft.com/office/drawing/2014/main" id="{33AC4FE1-D370-43A6-96C5-076716BB1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03250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5776" y="611650"/>
            <a:ext cx="662025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80C71854-FAE3-BAD0-01C4-88CF11218697}"/>
              </a:ext>
            </a:extLst>
          </p:cNvPr>
          <p:cNvGraphicFramePr>
            <a:graphicFrameLocks noGrp="1"/>
          </p:cNvGraphicFramePr>
          <p:nvPr>
            <p:ph idx="1"/>
            <p:extLst>
              <p:ext uri="{D42A27DB-BD31-4B8C-83A1-F6EECF244321}">
                <p14:modId xmlns:p14="http://schemas.microsoft.com/office/powerpoint/2010/main" val="236304408"/>
              </p:ext>
            </p:extLst>
          </p:nvPr>
        </p:nvGraphicFramePr>
        <p:xfrm>
          <a:off x="5065776" y="978408"/>
          <a:ext cx="6620256" cy="53766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351437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3820F5-9358-92C1-2AF5-D03281F80744}"/>
              </a:ext>
            </a:extLst>
          </p:cNvPr>
          <p:cNvSpPr>
            <a:spLocks noGrp="1"/>
          </p:cNvSpPr>
          <p:nvPr>
            <p:ph type="title"/>
          </p:nvPr>
        </p:nvSpPr>
        <p:spPr>
          <a:xfrm>
            <a:off x="521208" y="978408"/>
            <a:ext cx="3154680" cy="4069080"/>
          </a:xfrm>
        </p:spPr>
        <p:txBody>
          <a:bodyPr>
            <a:normAutofit/>
          </a:bodyPr>
          <a:lstStyle/>
          <a:p>
            <a:r>
              <a:rPr lang="en-GB" sz="4000"/>
              <a:t>Research Types – Descriptive Research </a:t>
            </a:r>
          </a:p>
        </p:txBody>
      </p:sp>
      <p:sp>
        <p:nvSpPr>
          <p:cNvPr id="11" name="Rectangle 10">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702DA7A-2227-BD08-DC0B-7B6ACFC26DAA}"/>
              </a:ext>
            </a:extLst>
          </p:cNvPr>
          <p:cNvGraphicFramePr>
            <a:graphicFrameLocks noGrp="1"/>
          </p:cNvGraphicFramePr>
          <p:nvPr>
            <p:ph idx="1"/>
            <p:extLst>
              <p:ext uri="{D42A27DB-BD31-4B8C-83A1-F6EECF244321}">
                <p14:modId xmlns:p14="http://schemas.microsoft.com/office/powerpoint/2010/main" val="3368164720"/>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87435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2F1623-E67A-66A1-EC4B-B8BCD71113D7}"/>
              </a:ext>
            </a:extLst>
          </p:cNvPr>
          <p:cNvSpPr>
            <a:spLocks noGrp="1"/>
          </p:cNvSpPr>
          <p:nvPr>
            <p:ph type="title"/>
          </p:nvPr>
        </p:nvSpPr>
        <p:spPr>
          <a:xfrm>
            <a:off x="521208" y="978408"/>
            <a:ext cx="3634232" cy="4069080"/>
          </a:xfrm>
        </p:spPr>
        <p:txBody>
          <a:bodyPr>
            <a:normAutofit/>
          </a:bodyPr>
          <a:lstStyle/>
          <a:p>
            <a:r>
              <a:rPr lang="en-GB" sz="4000"/>
              <a:t>Evidence-Based Practice (EBP) </a:t>
            </a:r>
          </a:p>
        </p:txBody>
      </p:sp>
      <p:sp>
        <p:nvSpPr>
          <p:cNvPr id="11" name="Rectangle 10">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9D16403-387D-6E5E-E229-372A1D7B968A}"/>
              </a:ext>
            </a:extLst>
          </p:cNvPr>
          <p:cNvGraphicFramePr>
            <a:graphicFrameLocks noGrp="1"/>
          </p:cNvGraphicFramePr>
          <p:nvPr>
            <p:ph idx="1"/>
            <p:extLst>
              <p:ext uri="{D42A27DB-BD31-4B8C-83A1-F6EECF244321}">
                <p14:modId xmlns:p14="http://schemas.microsoft.com/office/powerpoint/2010/main" val="1779349865"/>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099199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70B3F-826F-B083-6515-4E36FA5A7BE9}"/>
              </a:ext>
            </a:extLst>
          </p:cNvPr>
          <p:cNvSpPr>
            <a:spLocks noGrp="1"/>
          </p:cNvSpPr>
          <p:nvPr>
            <p:ph type="title"/>
          </p:nvPr>
        </p:nvSpPr>
        <p:spPr/>
        <p:txBody>
          <a:bodyPr/>
          <a:lstStyle/>
          <a:p>
            <a:r>
              <a:rPr lang="en-GB"/>
              <a:t>Evidence- Based Practice</a:t>
            </a:r>
          </a:p>
        </p:txBody>
      </p:sp>
      <p:sp>
        <p:nvSpPr>
          <p:cNvPr id="3" name="Content Placeholder 2">
            <a:extLst>
              <a:ext uri="{FF2B5EF4-FFF2-40B4-BE49-F238E27FC236}">
                <a16:creationId xmlns:a16="http://schemas.microsoft.com/office/drawing/2014/main" id="{91F7DF49-B61D-7B03-1025-7ABA99402C6D}"/>
              </a:ext>
            </a:extLst>
          </p:cNvPr>
          <p:cNvSpPr>
            <a:spLocks noGrp="1"/>
          </p:cNvSpPr>
          <p:nvPr>
            <p:ph idx="1"/>
          </p:nvPr>
        </p:nvSpPr>
        <p:spPr/>
        <p:txBody>
          <a:bodyPr/>
          <a:lstStyle/>
          <a:p>
            <a:r>
              <a:rPr lang="en-GB"/>
              <a:t>EBP requires that decisions about health care are based on the best available, current, valid and relevant evidence.</a:t>
            </a:r>
          </a:p>
          <a:p>
            <a:r>
              <a:rPr lang="en-GB"/>
              <a:t>These decisions should be made by those receiving care, informed by the explicit knowledge of those providing care, within the context of available resources</a:t>
            </a:r>
          </a:p>
          <a:p>
            <a:r>
              <a:rPr lang="en-GB" b="1" i="1"/>
              <a:t>Integration of best research evidence with clinical expertise and patient values</a:t>
            </a:r>
          </a:p>
          <a:p>
            <a:r>
              <a:rPr lang="en-GB"/>
              <a:t>As physiotherapists we have a commitment to use the best available evidence to inform decision making about the care of individuals that involves integrating physiotherapy practices and individual professional judgement with evidence gained through systematic research (Veras, Kairy and Paquet, 2016)</a:t>
            </a:r>
          </a:p>
          <a:p>
            <a:r>
              <a:rPr lang="en-GB"/>
              <a:t>Clinical reasoning and decision making is based on the best available evidence and the integration of professional practice expertise with patient values.</a:t>
            </a:r>
          </a:p>
          <a:p>
            <a:endParaRPr lang="en-GB"/>
          </a:p>
        </p:txBody>
      </p:sp>
    </p:spTree>
    <p:extLst>
      <p:ext uri="{BB962C8B-B14F-4D97-AF65-F5344CB8AC3E}">
        <p14:creationId xmlns:p14="http://schemas.microsoft.com/office/powerpoint/2010/main" val="41094937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4A341-76D7-4B03-6E4A-AD8E7AC62BED}"/>
              </a:ext>
            </a:extLst>
          </p:cNvPr>
          <p:cNvSpPr>
            <a:spLocks noGrp="1"/>
          </p:cNvSpPr>
          <p:nvPr>
            <p:ph type="title"/>
          </p:nvPr>
        </p:nvSpPr>
        <p:spPr/>
        <p:txBody>
          <a:bodyPr/>
          <a:lstStyle/>
          <a:p>
            <a:r>
              <a:rPr lang="en-GB"/>
              <a:t>Why is EBP so important? </a:t>
            </a:r>
          </a:p>
        </p:txBody>
      </p:sp>
      <p:sp>
        <p:nvSpPr>
          <p:cNvPr id="3" name="Content Placeholder 2">
            <a:extLst>
              <a:ext uri="{FF2B5EF4-FFF2-40B4-BE49-F238E27FC236}">
                <a16:creationId xmlns:a16="http://schemas.microsoft.com/office/drawing/2014/main" id="{59A3E673-18EE-41C1-48C6-2B58EFDA5077}"/>
              </a:ext>
            </a:extLst>
          </p:cNvPr>
          <p:cNvSpPr>
            <a:spLocks noGrp="1"/>
          </p:cNvSpPr>
          <p:nvPr>
            <p:ph idx="1"/>
          </p:nvPr>
        </p:nvSpPr>
        <p:spPr/>
        <p:txBody>
          <a:bodyPr/>
          <a:lstStyle/>
          <a:p>
            <a:pPr marL="342900" indent="-342900">
              <a:buAutoNum type="arabicPeriod"/>
            </a:pPr>
            <a:r>
              <a:rPr lang="en-GB"/>
              <a:t>To underpin and shape how the profession delivers patient care</a:t>
            </a:r>
          </a:p>
          <a:p>
            <a:pPr marL="342900" indent="-342900">
              <a:buAutoNum type="arabicPeriod"/>
            </a:pPr>
            <a:r>
              <a:rPr lang="en-GB"/>
              <a:t>To promote  the value and impact of UK physiotherapy contribution to meeting population and patient needs in a clinically / cost effective way</a:t>
            </a:r>
          </a:p>
          <a:p>
            <a:pPr marL="342900" indent="-342900">
              <a:buAutoNum type="arabicPeriod"/>
            </a:pPr>
            <a:r>
              <a:rPr lang="en-GB"/>
              <a:t>To inform the development of physiotherapy practice, service delivery and education </a:t>
            </a:r>
          </a:p>
          <a:p>
            <a:pPr marL="342900" indent="-342900">
              <a:buAutoNum type="arabicPeriod"/>
            </a:pPr>
            <a:r>
              <a:rPr lang="en-GB"/>
              <a:t>To progress the professions approach to developing, using and promoting research and its contribution to generating new evidence, knowledge and service improvement </a:t>
            </a:r>
          </a:p>
        </p:txBody>
      </p:sp>
    </p:spTree>
    <p:extLst>
      <p:ext uri="{BB962C8B-B14F-4D97-AF65-F5344CB8AC3E}">
        <p14:creationId xmlns:p14="http://schemas.microsoft.com/office/powerpoint/2010/main" val="3052850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B8B98-91F9-00C5-4E0C-0B9A7A81A375}"/>
              </a:ext>
            </a:extLst>
          </p:cNvPr>
          <p:cNvSpPr>
            <a:spLocks noGrp="1"/>
          </p:cNvSpPr>
          <p:nvPr>
            <p:ph type="title"/>
          </p:nvPr>
        </p:nvSpPr>
        <p:spPr/>
        <p:txBody>
          <a:bodyPr/>
          <a:lstStyle/>
          <a:p>
            <a:r>
              <a:rPr lang="en-GB"/>
              <a:t>Chartered Society Physiotherapy Expectations</a:t>
            </a:r>
          </a:p>
        </p:txBody>
      </p:sp>
      <p:sp>
        <p:nvSpPr>
          <p:cNvPr id="3" name="Content Placeholder 2">
            <a:extLst>
              <a:ext uri="{FF2B5EF4-FFF2-40B4-BE49-F238E27FC236}">
                <a16:creationId xmlns:a16="http://schemas.microsoft.com/office/drawing/2014/main" id="{9B6E0DD4-B4BD-794D-655D-729E81EB6573}"/>
              </a:ext>
            </a:extLst>
          </p:cNvPr>
          <p:cNvSpPr>
            <a:spLocks noGrp="1"/>
          </p:cNvSpPr>
          <p:nvPr>
            <p:ph idx="1"/>
          </p:nvPr>
        </p:nvSpPr>
        <p:spPr/>
        <p:txBody>
          <a:bodyPr/>
          <a:lstStyle/>
          <a:p>
            <a:r>
              <a:rPr lang="en-GB"/>
              <a:t>Members need to critically engage with available and emerging evidence that relates to professional activity and service delivery</a:t>
            </a:r>
          </a:p>
          <a:p>
            <a:r>
              <a:rPr lang="en-GB"/>
              <a:t>Members need to critically appraise their practice in light of available and emerging evidence</a:t>
            </a:r>
          </a:p>
          <a:p>
            <a:r>
              <a:rPr lang="en-GB"/>
              <a:t>Members need to contribute to identifying evidence gaps and priorities for new research</a:t>
            </a:r>
          </a:p>
        </p:txBody>
      </p:sp>
    </p:spTree>
    <p:extLst>
      <p:ext uri="{BB962C8B-B14F-4D97-AF65-F5344CB8AC3E}">
        <p14:creationId xmlns:p14="http://schemas.microsoft.com/office/powerpoint/2010/main" val="36992887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2C416D64-0A89-9FBB-35DD-A45EE0DB79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5889" y="497392"/>
            <a:ext cx="873252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diagram of professionalism&#10;&#10;AI-generated content may be incorrect.">
            <a:extLst>
              <a:ext uri="{FF2B5EF4-FFF2-40B4-BE49-F238E27FC236}">
                <a16:creationId xmlns:a16="http://schemas.microsoft.com/office/drawing/2014/main" id="{5948A80F-5884-EA43-FDC1-B954DFF7DA20}"/>
              </a:ext>
            </a:extLst>
          </p:cNvPr>
          <p:cNvPicPr>
            <a:picLocks noChangeAspect="1"/>
          </p:cNvPicPr>
          <p:nvPr/>
        </p:nvPicPr>
        <p:blipFill>
          <a:blip r:embed="rId2"/>
          <a:srcRect t="4165" r="-2" b="4163"/>
          <a:stretch>
            <a:fillRect/>
          </a:stretch>
        </p:blipFill>
        <p:spPr>
          <a:xfrm>
            <a:off x="517871" y="839336"/>
            <a:ext cx="8740538" cy="5508615"/>
          </a:xfrm>
          <a:prstGeom prst="rect">
            <a:avLst/>
          </a:prstGeom>
        </p:spPr>
      </p:pic>
    </p:spTree>
    <p:extLst>
      <p:ext uri="{BB962C8B-B14F-4D97-AF65-F5344CB8AC3E}">
        <p14:creationId xmlns:p14="http://schemas.microsoft.com/office/powerpoint/2010/main" val="8586718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86D51-0C02-E292-8170-23CF9B20C47D}"/>
              </a:ext>
            </a:extLst>
          </p:cNvPr>
          <p:cNvSpPr>
            <a:spLocks noGrp="1"/>
          </p:cNvSpPr>
          <p:nvPr>
            <p:ph type="title"/>
          </p:nvPr>
        </p:nvSpPr>
        <p:spPr/>
        <p:txBody>
          <a:bodyPr/>
          <a:lstStyle/>
          <a:p>
            <a:r>
              <a:rPr lang="en-GB"/>
              <a:t>Research Process </a:t>
            </a:r>
          </a:p>
        </p:txBody>
      </p:sp>
      <p:pic>
        <p:nvPicPr>
          <p:cNvPr id="5" name="Content Placeholder 4" descr="A diagram of a research process&#10;&#10;AI-generated content may be incorrect.">
            <a:extLst>
              <a:ext uri="{FF2B5EF4-FFF2-40B4-BE49-F238E27FC236}">
                <a16:creationId xmlns:a16="http://schemas.microsoft.com/office/drawing/2014/main" id="{78B1E6C6-51C0-02A3-C286-5515D569E39D}"/>
              </a:ext>
            </a:extLst>
          </p:cNvPr>
          <p:cNvPicPr>
            <a:picLocks noGrp="1" noChangeAspect="1"/>
          </p:cNvPicPr>
          <p:nvPr>
            <p:ph idx="1"/>
          </p:nvPr>
        </p:nvPicPr>
        <p:blipFill>
          <a:blip r:embed="rId2"/>
          <a:stretch>
            <a:fillRect/>
          </a:stretch>
        </p:blipFill>
        <p:spPr>
          <a:xfrm>
            <a:off x="3508924" y="1692425"/>
            <a:ext cx="5174151" cy="4673133"/>
          </a:xfrm>
          <a:prstGeom prst="rect">
            <a:avLst/>
          </a:prstGeom>
        </p:spPr>
      </p:pic>
    </p:spTree>
    <p:extLst>
      <p:ext uri="{BB962C8B-B14F-4D97-AF65-F5344CB8AC3E}">
        <p14:creationId xmlns:p14="http://schemas.microsoft.com/office/powerpoint/2010/main" val="18856802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86DDF-7646-F276-64B9-80155B9F67AE}"/>
              </a:ext>
            </a:extLst>
          </p:cNvPr>
          <p:cNvSpPr>
            <a:spLocks noGrp="1"/>
          </p:cNvSpPr>
          <p:nvPr>
            <p:ph type="title"/>
          </p:nvPr>
        </p:nvSpPr>
        <p:spPr/>
        <p:txBody>
          <a:bodyPr/>
          <a:lstStyle/>
          <a:p>
            <a:r>
              <a:rPr lang="en-GB"/>
              <a:t>Identify the Research Question</a:t>
            </a:r>
          </a:p>
        </p:txBody>
      </p:sp>
      <p:sp>
        <p:nvSpPr>
          <p:cNvPr id="3" name="Content Placeholder 2">
            <a:extLst>
              <a:ext uri="{FF2B5EF4-FFF2-40B4-BE49-F238E27FC236}">
                <a16:creationId xmlns:a16="http://schemas.microsoft.com/office/drawing/2014/main" id="{D2294188-8F42-87F6-17FC-1178F3C320B9}"/>
              </a:ext>
            </a:extLst>
          </p:cNvPr>
          <p:cNvSpPr>
            <a:spLocks noGrp="1"/>
          </p:cNvSpPr>
          <p:nvPr>
            <p:ph idx="1"/>
          </p:nvPr>
        </p:nvSpPr>
        <p:spPr/>
        <p:txBody>
          <a:bodyPr>
            <a:normAutofit fontScale="92500" lnSpcReduction="20000"/>
          </a:bodyPr>
          <a:lstStyle/>
          <a:p>
            <a:r>
              <a:rPr lang="en-GB"/>
              <a:t>Select a topic of interest: </a:t>
            </a:r>
          </a:p>
          <a:p>
            <a:pPr marL="342900" indent="-342900">
              <a:buAutoNum type="arabicPeriod"/>
            </a:pPr>
            <a:r>
              <a:rPr lang="en-GB"/>
              <a:t>Identify the problem: Clinical experience, Clinical Theory, Professional Literature </a:t>
            </a:r>
          </a:p>
          <a:p>
            <a:pPr marL="342900" indent="-342900">
              <a:buAutoNum type="arabicPeriod"/>
            </a:pPr>
            <a:r>
              <a:rPr lang="en-GB"/>
              <a:t>Identify the rationale: Research Rationale, Theoretical Framework, Purpose</a:t>
            </a:r>
          </a:p>
          <a:p>
            <a:pPr marL="342900" indent="-342900">
              <a:buAutoNum type="arabicPeriod"/>
            </a:pPr>
            <a:r>
              <a:rPr lang="en-GB"/>
              <a:t>Identify the type of research: Qualitative OR Quantitative </a:t>
            </a:r>
          </a:p>
          <a:p>
            <a:pPr marL="342900" indent="-342900">
              <a:buAutoNum type="arabicPeriod"/>
            </a:pPr>
            <a:r>
              <a:rPr lang="en-GB"/>
              <a:t>Define the Research Question: PICO</a:t>
            </a:r>
          </a:p>
          <a:p>
            <a:pPr marL="0" indent="0">
              <a:buNone/>
            </a:pPr>
            <a:endParaRPr lang="en-GB"/>
          </a:p>
          <a:p>
            <a:pPr marL="0" indent="0">
              <a:buNone/>
            </a:pPr>
            <a:r>
              <a:rPr lang="en-GB" b="1"/>
              <a:t>P: Population: </a:t>
            </a:r>
            <a:r>
              <a:rPr lang="en-GB"/>
              <a:t>What is the target population or problem of interest? </a:t>
            </a:r>
          </a:p>
          <a:p>
            <a:pPr marL="0" indent="0">
              <a:buNone/>
            </a:pPr>
            <a:r>
              <a:rPr lang="en-GB" b="1"/>
              <a:t>I: </a:t>
            </a:r>
            <a:r>
              <a:rPr lang="en-GB"/>
              <a:t>What </a:t>
            </a:r>
            <a:r>
              <a:rPr lang="en-GB" b="1"/>
              <a:t>intervention</a:t>
            </a:r>
            <a:r>
              <a:rPr lang="en-GB"/>
              <a:t> is being studied? </a:t>
            </a:r>
          </a:p>
          <a:p>
            <a:pPr marL="0" indent="0">
              <a:buNone/>
            </a:pPr>
            <a:r>
              <a:rPr lang="en-GB" b="1"/>
              <a:t>C: </a:t>
            </a:r>
            <a:r>
              <a:rPr lang="en-GB"/>
              <a:t>Will you study any </a:t>
            </a:r>
            <a:r>
              <a:rPr lang="en-GB" b="1"/>
              <a:t>comparison</a:t>
            </a:r>
            <a:r>
              <a:rPr lang="en-GB"/>
              <a:t> variables?</a:t>
            </a:r>
          </a:p>
          <a:p>
            <a:pPr marL="0" indent="0">
              <a:buNone/>
            </a:pPr>
            <a:r>
              <a:rPr lang="en-GB" b="1"/>
              <a:t>O: </a:t>
            </a:r>
            <a:r>
              <a:rPr lang="en-GB"/>
              <a:t>What are the </a:t>
            </a:r>
            <a:r>
              <a:rPr lang="en-GB" b="1"/>
              <a:t>outcomes</a:t>
            </a:r>
            <a:r>
              <a:rPr lang="en-GB"/>
              <a:t> that you will study?</a:t>
            </a:r>
          </a:p>
          <a:p>
            <a:endParaRPr lang="en-GB" b="1"/>
          </a:p>
        </p:txBody>
      </p:sp>
    </p:spTree>
    <p:extLst>
      <p:ext uri="{BB962C8B-B14F-4D97-AF65-F5344CB8AC3E}">
        <p14:creationId xmlns:p14="http://schemas.microsoft.com/office/powerpoint/2010/main" val="12342290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C4FC6368-7439-814E-1B74-451E982162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1264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PICO - Physiotherapy Guide - Subject guides at Charles Darwin University">
            <a:extLst>
              <a:ext uri="{FF2B5EF4-FFF2-40B4-BE49-F238E27FC236}">
                <a16:creationId xmlns:a16="http://schemas.microsoft.com/office/drawing/2014/main" id="{0F566C79-A62B-B125-C814-440CB8D55CB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r="5208" b="1"/>
          <a:stretch>
            <a:fillRect/>
          </a:stretch>
        </p:blipFill>
        <p:spPr bwMode="auto">
          <a:xfrm>
            <a:off x="517870" y="816457"/>
            <a:ext cx="11156253" cy="5531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27804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473A3-10DC-2205-705E-A2C78904A1E7}"/>
              </a:ext>
            </a:extLst>
          </p:cNvPr>
          <p:cNvSpPr>
            <a:spLocks noGrp="1"/>
          </p:cNvSpPr>
          <p:nvPr>
            <p:ph type="title"/>
          </p:nvPr>
        </p:nvSpPr>
        <p:spPr/>
        <p:txBody>
          <a:bodyPr/>
          <a:lstStyle/>
          <a:p>
            <a:r>
              <a:rPr lang="en-GB"/>
              <a:t>PICO Question</a:t>
            </a:r>
          </a:p>
        </p:txBody>
      </p:sp>
      <p:sp>
        <p:nvSpPr>
          <p:cNvPr id="3" name="Content Placeholder 2">
            <a:extLst>
              <a:ext uri="{FF2B5EF4-FFF2-40B4-BE49-F238E27FC236}">
                <a16:creationId xmlns:a16="http://schemas.microsoft.com/office/drawing/2014/main" id="{C06E46F9-1F1A-D1F9-4E43-7DC63B0DC57A}"/>
              </a:ext>
            </a:extLst>
          </p:cNvPr>
          <p:cNvSpPr>
            <a:spLocks noGrp="1"/>
          </p:cNvSpPr>
          <p:nvPr>
            <p:ph idx="1"/>
          </p:nvPr>
        </p:nvSpPr>
        <p:spPr/>
        <p:txBody>
          <a:bodyPr/>
          <a:lstStyle/>
          <a:p>
            <a:r>
              <a:rPr lang="en-GB"/>
              <a:t>Example: </a:t>
            </a:r>
            <a:r>
              <a:rPr lang="en-GB" i="1"/>
              <a:t>In people with chronic back pain, is spinal manipulation more effective than light massage in reducing pain and functional disability</a:t>
            </a:r>
          </a:p>
          <a:p>
            <a:r>
              <a:rPr lang="en-GB" i="1"/>
              <a:t>P: Population: Chronic Back Pain</a:t>
            </a:r>
          </a:p>
          <a:p>
            <a:r>
              <a:rPr lang="en-GB" i="1"/>
              <a:t>I: Intervention: Spinal Manipulation</a:t>
            </a:r>
          </a:p>
          <a:p>
            <a:r>
              <a:rPr lang="en-GB" i="1"/>
              <a:t>C: Comparison: Light massage</a:t>
            </a:r>
          </a:p>
          <a:p>
            <a:r>
              <a:rPr lang="en-GB" i="1"/>
              <a:t>O: Reducing pain and functional disability </a:t>
            </a:r>
            <a:endParaRPr lang="en-GB"/>
          </a:p>
        </p:txBody>
      </p:sp>
    </p:spTree>
    <p:extLst>
      <p:ext uri="{BB962C8B-B14F-4D97-AF65-F5344CB8AC3E}">
        <p14:creationId xmlns:p14="http://schemas.microsoft.com/office/powerpoint/2010/main" val="30565700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3A470-D767-88EA-D7C8-451392E75527}"/>
              </a:ext>
            </a:extLst>
          </p:cNvPr>
          <p:cNvSpPr>
            <a:spLocks noGrp="1"/>
          </p:cNvSpPr>
          <p:nvPr>
            <p:ph type="title"/>
          </p:nvPr>
        </p:nvSpPr>
        <p:spPr/>
        <p:txBody>
          <a:bodyPr/>
          <a:lstStyle/>
          <a:p>
            <a:r>
              <a:rPr lang="en-GB"/>
              <a:t>Task</a:t>
            </a:r>
          </a:p>
        </p:txBody>
      </p:sp>
      <p:sp>
        <p:nvSpPr>
          <p:cNvPr id="3" name="Content Placeholder 2">
            <a:extLst>
              <a:ext uri="{FF2B5EF4-FFF2-40B4-BE49-F238E27FC236}">
                <a16:creationId xmlns:a16="http://schemas.microsoft.com/office/drawing/2014/main" id="{8186B500-1D95-3E54-E452-AF1498EBCC8E}"/>
              </a:ext>
            </a:extLst>
          </p:cNvPr>
          <p:cNvSpPr>
            <a:spLocks noGrp="1"/>
          </p:cNvSpPr>
          <p:nvPr>
            <p:ph idx="1"/>
          </p:nvPr>
        </p:nvSpPr>
        <p:spPr/>
        <p:txBody>
          <a:bodyPr/>
          <a:lstStyle/>
          <a:p>
            <a:r>
              <a:rPr lang="en-GB"/>
              <a:t>What are you interest in?</a:t>
            </a:r>
          </a:p>
          <a:p>
            <a:r>
              <a:rPr lang="en-GB"/>
              <a:t>What questions do you have?</a:t>
            </a:r>
          </a:p>
          <a:p>
            <a:r>
              <a:rPr lang="en-GB"/>
              <a:t>How can you use these interests to develop PICO research question?</a:t>
            </a:r>
          </a:p>
          <a:p>
            <a:r>
              <a:rPr lang="en-GB"/>
              <a:t>Find an up-to-date research systematic review or meta-analysis that synthesises the available literature on a particular topic of interest; provides a critical appraisal of prior research and help to summarise the state of knowledge on this topic. </a:t>
            </a:r>
          </a:p>
          <a:p>
            <a:pPr marL="0" indent="0">
              <a:buNone/>
            </a:pPr>
            <a:endParaRPr lang="en-GB"/>
          </a:p>
        </p:txBody>
      </p:sp>
    </p:spTree>
    <p:extLst>
      <p:ext uri="{BB962C8B-B14F-4D97-AF65-F5344CB8AC3E}">
        <p14:creationId xmlns:p14="http://schemas.microsoft.com/office/powerpoint/2010/main" val="20294233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CE95E-E72F-3A05-957D-EB703E855000}"/>
              </a:ext>
            </a:extLst>
          </p:cNvPr>
          <p:cNvSpPr>
            <a:spLocks noGrp="1"/>
          </p:cNvSpPr>
          <p:nvPr>
            <p:ph type="title"/>
          </p:nvPr>
        </p:nvSpPr>
        <p:spPr/>
        <p:txBody>
          <a:bodyPr/>
          <a:lstStyle/>
          <a:p>
            <a:r>
              <a:rPr lang="en-GB" dirty="0"/>
              <a:t>Next Week: 11/02/26</a:t>
            </a:r>
          </a:p>
        </p:txBody>
      </p:sp>
      <p:sp>
        <p:nvSpPr>
          <p:cNvPr id="3" name="Content Placeholder 2">
            <a:extLst>
              <a:ext uri="{FF2B5EF4-FFF2-40B4-BE49-F238E27FC236}">
                <a16:creationId xmlns:a16="http://schemas.microsoft.com/office/drawing/2014/main" id="{2CA1D70D-FD47-AC5D-AA6D-A70160DE07A4}"/>
              </a:ext>
            </a:extLst>
          </p:cNvPr>
          <p:cNvSpPr>
            <a:spLocks noGrp="1"/>
          </p:cNvSpPr>
          <p:nvPr>
            <p:ph idx="1"/>
          </p:nvPr>
        </p:nvSpPr>
        <p:spPr/>
        <p:txBody>
          <a:bodyPr/>
          <a:lstStyle/>
          <a:p>
            <a:r>
              <a:rPr lang="en-GB" dirty="0"/>
              <a:t>We are going to learn about:</a:t>
            </a:r>
          </a:p>
          <a:p>
            <a:pPr marL="342900" indent="-342900">
              <a:buAutoNum type="arabicPeriod"/>
            </a:pPr>
            <a:r>
              <a:rPr lang="en-GB" dirty="0"/>
              <a:t>Quantitative Research</a:t>
            </a:r>
          </a:p>
          <a:p>
            <a:pPr marL="342900" indent="-342900">
              <a:buAutoNum type="arabicPeriod"/>
            </a:pPr>
            <a:r>
              <a:rPr lang="en-GB" dirty="0"/>
              <a:t>Different Types of Quantitative Research (RCT, Case-Control, Cohort, Cross-sectional)</a:t>
            </a:r>
          </a:p>
          <a:p>
            <a:pPr marL="0" indent="0">
              <a:buNone/>
            </a:pPr>
            <a:r>
              <a:rPr lang="en-GB" dirty="0"/>
              <a:t>3. Bias, cofounding, internal and internal validity </a:t>
            </a:r>
          </a:p>
          <a:p>
            <a:pPr marL="0" indent="0">
              <a:buNone/>
            </a:pPr>
            <a:endParaRPr lang="en-GB" dirty="0"/>
          </a:p>
          <a:p>
            <a:r>
              <a:rPr lang="en-GB" dirty="0"/>
              <a:t>We are going to practice:</a:t>
            </a:r>
          </a:p>
          <a:p>
            <a:pPr marL="0" indent="0">
              <a:buNone/>
            </a:pPr>
            <a:r>
              <a:rPr lang="en-GB" dirty="0"/>
              <a:t>1. Using the CASP tool to critique the first six questions of a quantitative research article </a:t>
            </a:r>
          </a:p>
        </p:txBody>
      </p:sp>
    </p:spTree>
    <p:extLst>
      <p:ext uri="{BB962C8B-B14F-4D97-AF65-F5344CB8AC3E}">
        <p14:creationId xmlns:p14="http://schemas.microsoft.com/office/powerpoint/2010/main" val="9376074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 name="Freeform: Shape 5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Shape 61">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4" name="Rectangle 63">
            <a:extLst>
              <a:ext uri="{FF2B5EF4-FFF2-40B4-BE49-F238E27FC236}">
                <a16:creationId xmlns:a16="http://schemas.microsoft.com/office/drawing/2014/main" id="{5820888B-4EA5-E0E8-6D52-7733E1E774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a:extLst>
              <a:ext uri="{FF2B5EF4-FFF2-40B4-BE49-F238E27FC236}">
                <a16:creationId xmlns:a16="http://schemas.microsoft.com/office/drawing/2014/main" id="{06B5A8BF-0680-F9A7-27B1-3971EC9347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Content Placeholder 4" descr="A screenshot of a questionnaire&#10;&#10;AI-generated content may be incorrect.">
            <a:extLst>
              <a:ext uri="{FF2B5EF4-FFF2-40B4-BE49-F238E27FC236}">
                <a16:creationId xmlns:a16="http://schemas.microsoft.com/office/drawing/2014/main" id="{EF1DBD0D-96DA-21D1-56C9-BB96091D92B4}"/>
              </a:ext>
            </a:extLst>
          </p:cNvPr>
          <p:cNvPicPr>
            <a:picLocks noGrp="1" noChangeAspect="1"/>
          </p:cNvPicPr>
          <p:nvPr>
            <p:ph idx="1"/>
          </p:nvPr>
        </p:nvPicPr>
        <p:blipFill>
          <a:blip r:embed="rId2"/>
          <a:stretch>
            <a:fillRect/>
          </a:stretch>
        </p:blipFill>
        <p:spPr>
          <a:xfrm>
            <a:off x="2934789" y="0"/>
            <a:ext cx="6320711" cy="6868890"/>
          </a:xfrm>
          <a:prstGeom prst="rect">
            <a:avLst/>
          </a:prstGeom>
        </p:spPr>
      </p:pic>
    </p:spTree>
    <p:extLst>
      <p:ext uri="{BB962C8B-B14F-4D97-AF65-F5344CB8AC3E}">
        <p14:creationId xmlns:p14="http://schemas.microsoft.com/office/powerpoint/2010/main" val="25251386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Freeform: Shape 13">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15">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8" name="Rectangle 17">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itle 1">
            <a:extLst>
              <a:ext uri="{FF2B5EF4-FFF2-40B4-BE49-F238E27FC236}">
                <a16:creationId xmlns:a16="http://schemas.microsoft.com/office/drawing/2014/main" id="{20B78421-891F-DD34-868B-96E7B86E1CED}"/>
              </a:ext>
            </a:extLst>
          </p:cNvPr>
          <p:cNvSpPr>
            <a:spLocks noGrp="1"/>
          </p:cNvSpPr>
          <p:nvPr>
            <p:ph type="title"/>
          </p:nvPr>
        </p:nvSpPr>
        <p:spPr>
          <a:xfrm>
            <a:off x="517869" y="978409"/>
            <a:ext cx="6126480" cy="1643880"/>
          </a:xfrm>
        </p:spPr>
        <p:txBody>
          <a:bodyPr vert="horz" lIns="91440" tIns="45720" rIns="91440" bIns="45720" rtlCol="0" anchor="t">
            <a:normAutofit/>
          </a:bodyPr>
          <a:lstStyle/>
          <a:p>
            <a:r>
              <a:rPr lang="en-US" sz="4800" dirty="0"/>
              <a:t>Methods</a:t>
            </a:r>
          </a:p>
        </p:txBody>
      </p:sp>
      <p:sp>
        <p:nvSpPr>
          <p:cNvPr id="20" name="Rectangle 19">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1264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4C7F386-A972-9ED7-C153-F0E5096825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8379" y="610900"/>
            <a:ext cx="393922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10;&#10;AI-generated content may be incorrect.">
            <a:extLst>
              <a:ext uri="{FF2B5EF4-FFF2-40B4-BE49-F238E27FC236}">
                <a16:creationId xmlns:a16="http://schemas.microsoft.com/office/drawing/2014/main" id="{F667BD1D-A043-5477-1CE2-663E2E43A10C}"/>
              </a:ext>
            </a:extLst>
          </p:cNvPr>
          <p:cNvPicPr>
            <a:picLocks noGrp="1" noChangeAspect="1"/>
          </p:cNvPicPr>
          <p:nvPr>
            <p:ph idx="1"/>
          </p:nvPr>
        </p:nvPicPr>
        <p:blipFill>
          <a:blip r:embed="rId2"/>
          <a:srcRect r="25099"/>
          <a:stretch>
            <a:fillRect/>
          </a:stretch>
        </p:blipFill>
        <p:spPr>
          <a:xfrm>
            <a:off x="517871" y="2867025"/>
            <a:ext cx="11185082" cy="3471974"/>
          </a:xfrm>
          <a:prstGeom prst="rect">
            <a:avLst/>
          </a:prstGeom>
        </p:spPr>
      </p:pic>
    </p:spTree>
    <p:extLst>
      <p:ext uri="{BB962C8B-B14F-4D97-AF65-F5344CB8AC3E}">
        <p14:creationId xmlns:p14="http://schemas.microsoft.com/office/powerpoint/2010/main" val="2482326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questionnaire with many questions&#10;&#10;AI-generated content may be incorrect.">
            <a:extLst>
              <a:ext uri="{FF2B5EF4-FFF2-40B4-BE49-F238E27FC236}">
                <a16:creationId xmlns:a16="http://schemas.microsoft.com/office/drawing/2014/main" id="{9DFC2D41-EDD8-D97F-D39E-3B6B2605F115}"/>
              </a:ext>
            </a:extLst>
          </p:cNvPr>
          <p:cNvPicPr>
            <a:picLocks noGrp="1" noChangeAspect="1"/>
          </p:cNvPicPr>
          <p:nvPr>
            <p:ph idx="1"/>
          </p:nvPr>
        </p:nvPicPr>
        <p:blipFill>
          <a:blip r:embed="rId2"/>
          <a:stretch>
            <a:fillRect/>
          </a:stretch>
        </p:blipFill>
        <p:spPr>
          <a:xfrm>
            <a:off x="3431337" y="0"/>
            <a:ext cx="6039465" cy="6858000"/>
          </a:xfrm>
          <a:prstGeom prst="rect">
            <a:avLst/>
          </a:prstGeom>
        </p:spPr>
      </p:pic>
    </p:spTree>
    <p:extLst>
      <p:ext uri="{BB962C8B-B14F-4D97-AF65-F5344CB8AC3E}">
        <p14:creationId xmlns:p14="http://schemas.microsoft.com/office/powerpoint/2010/main" val="34159707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08E5F-9698-7C32-35C1-54481C8DC59D}"/>
              </a:ext>
            </a:extLst>
          </p:cNvPr>
          <p:cNvSpPr>
            <a:spLocks noGrp="1"/>
          </p:cNvSpPr>
          <p:nvPr>
            <p:ph type="title"/>
          </p:nvPr>
        </p:nvSpPr>
        <p:spPr/>
        <p:txBody>
          <a:bodyPr/>
          <a:lstStyle/>
          <a:p>
            <a:r>
              <a:rPr lang="en-GB"/>
              <a:t>References</a:t>
            </a:r>
          </a:p>
        </p:txBody>
      </p:sp>
      <p:sp>
        <p:nvSpPr>
          <p:cNvPr id="4" name="Rectangle 2">
            <a:extLst>
              <a:ext uri="{FF2B5EF4-FFF2-40B4-BE49-F238E27FC236}">
                <a16:creationId xmlns:a16="http://schemas.microsoft.com/office/drawing/2014/main" id="{A3361727-EA70-DD2F-E6BC-2E3898DD8FE4}"/>
              </a:ext>
            </a:extLst>
          </p:cNvPr>
          <p:cNvSpPr>
            <a:spLocks noGrp="1" noChangeArrowheads="1"/>
          </p:cNvSpPr>
          <p:nvPr>
            <p:ph idx="1"/>
          </p:nvPr>
        </p:nvSpPr>
        <p:spPr bwMode="auto">
          <a:xfrm>
            <a:off x="514350" y="1811799"/>
            <a:ext cx="11014041" cy="797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Hoffmann, T., Bennett, S. and Mar, C.D. (2017). </a:t>
            </a:r>
            <a:r>
              <a:rPr kumimoji="0" lang="en-US" altLang="en-US" sz="12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Evidence-based practice across the health professions</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3rd ed. Elsevier.</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Portney, L.G. (2020). </a:t>
            </a:r>
            <a:r>
              <a:rPr kumimoji="0" lang="en-US" altLang="en-US" sz="12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Foundations of clinical research: Applications to practice.</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4th ed. Philadelphia: F.A. Davis Company.</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Veras, M., Kairy, D. and Paquet, N. (2016). What Is Evidence-Based Physiotherapy? </a:t>
            </a:r>
            <a:r>
              <a:rPr kumimoji="0" lang="en-US" altLang="en-US" sz="12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Physiotherapy Canada</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[online] 68(2), pp.95–96. </a:t>
            </a:r>
            <a:r>
              <a:rPr kumimoji="0" lang="en-US" altLang="en-US" sz="1200" b="0" i="0" u="none" strike="noStrike" cap="none" normalizeH="0" baseline="0" err="1">
                <a:ln>
                  <a:noFill/>
                </a:ln>
                <a:solidFill>
                  <a:schemeClr val="tx1"/>
                </a:solidFill>
                <a:effectLst/>
                <a:latin typeface="Times New Roman" panose="02020603050405020304" pitchFamily="18" charset="0"/>
                <a:cs typeface="Times New Roman" panose="02020603050405020304" pitchFamily="18" charset="0"/>
              </a:rPr>
              <a:t>doi:https</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://doi.org/10.3138/ptc.68.2.gee.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85557162"/>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2310</Words>
  <Application>Microsoft Office PowerPoint</Application>
  <PresentationFormat>Widescreen</PresentationFormat>
  <Paragraphs>230</Paragraphs>
  <Slides>47</Slides>
  <Notes>1</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GestaltVTI</vt:lpstr>
      <vt:lpstr>PT5053 Evidence Based Practice 2 Research Methods and Critical Appraisal</vt:lpstr>
      <vt:lpstr>Session Content</vt:lpstr>
      <vt:lpstr>Lucy Metcalfe - Hello</vt:lpstr>
      <vt:lpstr>Module Overview </vt:lpstr>
      <vt:lpstr>Learning Outcomes </vt:lpstr>
      <vt:lpstr>Expectations:</vt:lpstr>
      <vt:lpstr>Timetable </vt:lpstr>
      <vt:lpstr>Assessment: </vt:lpstr>
      <vt:lpstr>Assignment </vt:lpstr>
      <vt:lpstr>Critical Appraisal – Quantitative Study</vt:lpstr>
      <vt:lpstr>Pick one of the two studies: </vt:lpstr>
      <vt:lpstr>Use the CASP</vt:lpstr>
      <vt:lpstr>Use the Template  </vt:lpstr>
      <vt:lpstr>Critical Appraisal – Qualitative Study</vt:lpstr>
      <vt:lpstr>Pick one of the two studies: </vt:lpstr>
      <vt:lpstr>Use the CASP</vt:lpstr>
      <vt:lpstr>Use the Template  </vt:lpstr>
      <vt:lpstr>Questions? </vt:lpstr>
      <vt:lpstr>What is Research?</vt:lpstr>
      <vt:lpstr>What is Research?</vt:lpstr>
      <vt:lpstr>Clinical Research</vt:lpstr>
      <vt:lpstr>Clinical Research – Three Parts</vt:lpstr>
      <vt:lpstr>Qualitative Research   VS  Quantitative Research </vt:lpstr>
      <vt:lpstr>Quantitative Research – Assignment 1 </vt:lpstr>
      <vt:lpstr>Qualitative Research – Assignment 2</vt:lpstr>
      <vt:lpstr>PowerPoint Presentation</vt:lpstr>
      <vt:lpstr>Types of Research</vt:lpstr>
      <vt:lpstr>PowerPoint Presentation</vt:lpstr>
      <vt:lpstr>PowerPoint Presentation</vt:lpstr>
      <vt:lpstr>Research Types</vt:lpstr>
      <vt:lpstr>Research Types  (Observational) </vt:lpstr>
      <vt:lpstr>Research Types – Descriptive Research </vt:lpstr>
      <vt:lpstr>Evidence-Based Practice (EBP) </vt:lpstr>
      <vt:lpstr>Evidence- Based Practice</vt:lpstr>
      <vt:lpstr>Why is EBP so important? </vt:lpstr>
      <vt:lpstr>Chartered Society Physiotherapy Expectations</vt:lpstr>
      <vt:lpstr>PowerPoint Presentation</vt:lpstr>
      <vt:lpstr>Research Process </vt:lpstr>
      <vt:lpstr>Identify the Research Question</vt:lpstr>
      <vt:lpstr>PowerPoint Presentation</vt:lpstr>
      <vt:lpstr>PICO Question</vt:lpstr>
      <vt:lpstr>Task</vt:lpstr>
      <vt:lpstr>Next Week: 11/02/26</vt:lpstr>
      <vt:lpstr>PowerPoint Presentation</vt:lpstr>
      <vt:lpstr>Methods</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Lucy Metcalfe</cp:lastModifiedBy>
  <cp:revision>21</cp:revision>
  <dcterms:created xsi:type="dcterms:W3CDTF">2026-01-27T08:32:24Z</dcterms:created>
  <dcterms:modified xsi:type="dcterms:W3CDTF">2026-02-04T09:44:52Z</dcterms:modified>
</cp:coreProperties>
</file>