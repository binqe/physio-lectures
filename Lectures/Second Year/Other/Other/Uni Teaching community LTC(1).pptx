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3"/>
    <p:sldMasterId id="2147483673" r:id="rId4"/>
  </p:sldMasterIdLst>
  <p:notesMasterIdLst>
    <p:notesMasterId r:id="rId38"/>
  </p:notesMasterIdLst>
  <p:handoutMasterIdLst>
    <p:handoutMasterId r:id="rId39"/>
  </p:handoutMasterIdLst>
  <p:sldIdLst>
    <p:sldId id="256" r:id="rId5"/>
    <p:sldId id="257" r:id="rId6"/>
    <p:sldId id="277" r:id="rId7"/>
    <p:sldId id="278" r:id="rId8"/>
    <p:sldId id="275" r:id="rId9"/>
    <p:sldId id="258" r:id="rId10"/>
    <p:sldId id="296" r:id="rId11"/>
    <p:sldId id="297" r:id="rId12"/>
    <p:sldId id="299" r:id="rId13"/>
    <p:sldId id="298" r:id="rId14"/>
    <p:sldId id="300" r:id="rId15"/>
    <p:sldId id="301" r:id="rId16"/>
    <p:sldId id="279" r:id="rId17"/>
    <p:sldId id="280" r:id="rId18"/>
    <p:sldId id="281" r:id="rId19"/>
    <p:sldId id="289" r:id="rId20"/>
    <p:sldId id="290" r:id="rId21"/>
    <p:sldId id="282" r:id="rId22"/>
    <p:sldId id="288" r:id="rId23"/>
    <p:sldId id="262" r:id="rId24"/>
    <p:sldId id="283" r:id="rId25"/>
    <p:sldId id="314" r:id="rId26"/>
    <p:sldId id="305" r:id="rId27"/>
    <p:sldId id="306" r:id="rId28"/>
    <p:sldId id="310" r:id="rId29"/>
    <p:sldId id="311" r:id="rId30"/>
    <p:sldId id="312" r:id="rId31"/>
    <p:sldId id="284" r:id="rId32"/>
    <p:sldId id="285" r:id="rId33"/>
    <p:sldId id="303" r:id="rId34"/>
    <p:sldId id="304" r:id="rId35"/>
    <p:sldId id="313" r:id="rId36"/>
    <p:sldId id="260" r:id="rId37"/>
  </p:sldIdLst>
  <p:sldSz cx="12192000" cy="6858000"/>
  <p:notesSz cx="6858000" cy="9144000"/>
  <p:defaultTextStyle>
    <a:defPPr>
      <a:defRPr lang="en-GB"/>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7D3021-1E0F-60A3-D76A-93C3B48CB44A}" v="4" dt="2025-03-23T20:41:26.684"/>
    <p1510:client id="{321721A3-C7F9-44D0-AE36-EF2134F0BD56}" v="8" dt="2025-03-23T21:50:35.8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709"/>
  </p:normalViewPr>
  <p:slideViewPr>
    <p:cSldViewPr snapToGrid="0" snapToObjects="1">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2.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1.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ADBF308-296C-1619-C41A-0ECA873C1CC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58D3AB06-7D03-4B53-ED15-2F9BC8F176F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9BE41F6B-4828-42F9-ADA0-6766EA27B389}" type="datetimeFigureOut">
              <a:rPr lang="en-US"/>
              <a:pPr>
                <a:defRPr/>
              </a:pPr>
              <a:t>3/24/2025</a:t>
            </a:fld>
            <a:endParaRPr lang="en-US"/>
          </a:p>
        </p:txBody>
      </p:sp>
      <p:sp>
        <p:nvSpPr>
          <p:cNvPr id="4" name="Footer Placeholder 3">
            <a:extLst>
              <a:ext uri="{FF2B5EF4-FFF2-40B4-BE49-F238E27FC236}">
                <a16:creationId xmlns:a16="http://schemas.microsoft.com/office/drawing/2014/main" id="{04CC91C3-5386-B327-BB33-008265FE5A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B6F1AB5B-A993-2AD0-2114-885566437754}"/>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DBE7F753-B12A-4007-8138-740215837C8C}"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F028DE-0626-3196-6A04-DD144CB7DD1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2E1B713B-7A46-EC3C-3083-DD90911E7F2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C6171BD8-8ADD-4D18-826D-0EBDB893B796}" type="datetimeFigureOut">
              <a:rPr lang="en-US"/>
              <a:pPr>
                <a:defRPr/>
              </a:pPr>
              <a:t>3/24/2025</a:t>
            </a:fld>
            <a:endParaRPr lang="en-US"/>
          </a:p>
        </p:txBody>
      </p:sp>
      <p:sp>
        <p:nvSpPr>
          <p:cNvPr id="4" name="Slide Image Placeholder 3">
            <a:extLst>
              <a:ext uri="{FF2B5EF4-FFF2-40B4-BE49-F238E27FC236}">
                <a16:creationId xmlns:a16="http://schemas.microsoft.com/office/drawing/2014/main" id="{47D77BFF-AB57-99D5-EE00-D76EED4CAADA}"/>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71003766-1291-357A-7F99-ADAF94A79319}"/>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A2AD11D-A0D2-E9E7-5AFA-CC13EAFB5AA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27D322E6-AB17-6BCC-E629-D375CB814B97}"/>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DEDEFEE0-DDCA-43BA-85A4-C18B2BE0847E}"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atin typeface="Open Sans" charset="0"/>
                <a:ea typeface="Open Sans" charset="0"/>
                <a:cs typeface="Open Sans" charset="0"/>
              </a:defRPr>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atin typeface="Open Sans" charset="0"/>
                <a:ea typeface="Open Sans" charset="0"/>
                <a:cs typeface="Open Sans"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a:extLst>
              <a:ext uri="{FF2B5EF4-FFF2-40B4-BE49-F238E27FC236}">
                <a16:creationId xmlns:a16="http://schemas.microsoft.com/office/drawing/2014/main" id="{5EF5330B-E6DE-C5E1-5F20-58142A19AF82}"/>
              </a:ext>
            </a:extLst>
          </p:cNvPr>
          <p:cNvSpPr>
            <a:spLocks noGrp="1"/>
          </p:cNvSpPr>
          <p:nvPr>
            <p:ph type="dt" sz="half" idx="10"/>
          </p:nvPr>
        </p:nvSpPr>
        <p:spPr/>
        <p:txBody>
          <a:bodyPr/>
          <a:lstStyle>
            <a:lvl1pPr>
              <a:defRPr/>
            </a:lvl1pPr>
          </a:lstStyle>
          <a:p>
            <a:pPr>
              <a:defRPr/>
            </a:pPr>
            <a:fld id="{9E0675AD-15FC-44EF-AC3A-558446040093}" type="datetimeFigureOut">
              <a:rPr lang="en-US"/>
              <a:pPr>
                <a:defRPr/>
              </a:pPr>
              <a:t>3/24/2025</a:t>
            </a:fld>
            <a:endParaRPr lang="en-US"/>
          </a:p>
        </p:txBody>
      </p:sp>
      <p:sp>
        <p:nvSpPr>
          <p:cNvPr id="5" name="Footer Placeholder 4">
            <a:extLst>
              <a:ext uri="{FF2B5EF4-FFF2-40B4-BE49-F238E27FC236}">
                <a16:creationId xmlns:a16="http://schemas.microsoft.com/office/drawing/2014/main" id="{DADCEA88-C0E1-25A8-CA0D-DE916D3A7A3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6C4A0E6-C34B-ED16-8E4A-2B563C8FF419}"/>
              </a:ext>
            </a:extLst>
          </p:cNvPr>
          <p:cNvSpPr>
            <a:spLocks noGrp="1"/>
          </p:cNvSpPr>
          <p:nvPr>
            <p:ph type="sldNum" sz="quarter" idx="12"/>
          </p:nvPr>
        </p:nvSpPr>
        <p:spPr/>
        <p:txBody>
          <a:bodyPr/>
          <a:lstStyle>
            <a:lvl1pPr>
              <a:defRPr/>
            </a:lvl1pPr>
          </a:lstStyle>
          <a:p>
            <a:fld id="{75561934-892D-4590-A025-6588246ACDD6}" type="slidenum">
              <a:rPr lang="en-GB" altLang="en-US"/>
              <a:pPr/>
              <a:t>‹#›</a:t>
            </a:fld>
            <a:endParaRPr lang="en-GB" altLang="en-US"/>
          </a:p>
        </p:txBody>
      </p:sp>
    </p:spTree>
    <p:extLst>
      <p:ext uri="{BB962C8B-B14F-4D97-AF65-F5344CB8AC3E}">
        <p14:creationId xmlns:p14="http://schemas.microsoft.com/office/powerpoint/2010/main" val="2354423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FE01BE8E-C829-BE97-4BD3-5C41356CA88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36163" y="0"/>
            <a:ext cx="2255837"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lvl1pPr>
              <a:defRPr>
                <a:latin typeface="Open Sans" charset="0"/>
                <a:ea typeface="Open Sans" charset="0"/>
                <a:cs typeface="Open Sans" charset="0"/>
              </a:defRPr>
            </a:lvl1pPr>
          </a:lstStyle>
          <a:p>
            <a:r>
              <a:rPr lang="en-GB"/>
              <a:t>Click to edit Master title style</a:t>
            </a:r>
            <a:endParaRPr lang="en-US" dirty="0"/>
          </a:p>
        </p:txBody>
      </p:sp>
      <p:sp>
        <p:nvSpPr>
          <p:cNvPr id="3" name="Content Placeholder 2"/>
          <p:cNvSpPr>
            <a:spLocks noGrp="1"/>
          </p:cNvSpPr>
          <p:nvPr>
            <p:ph idx="1"/>
          </p:nvPr>
        </p:nvSpPr>
        <p:spPr/>
        <p:txBody>
          <a:bodyPr/>
          <a:lstStyle>
            <a:lvl1pPr>
              <a:defRPr>
                <a:latin typeface="Open Sans" charset="0"/>
                <a:ea typeface="Open Sans" charset="0"/>
                <a:cs typeface="Open Sans" charset="0"/>
              </a:defRPr>
            </a:lvl1pPr>
            <a:lvl2pPr>
              <a:defRPr>
                <a:latin typeface="Open Sans" charset="0"/>
                <a:ea typeface="Open Sans" charset="0"/>
                <a:cs typeface="Open Sans" charset="0"/>
              </a:defRPr>
            </a:lvl2pPr>
            <a:lvl3pPr>
              <a:defRPr>
                <a:latin typeface="Open Sans" charset="0"/>
                <a:ea typeface="Open Sans" charset="0"/>
                <a:cs typeface="Open Sans" charset="0"/>
              </a:defRPr>
            </a:lvl3pPr>
            <a:lvl4pPr>
              <a:defRPr>
                <a:latin typeface="Open Sans" charset="0"/>
                <a:ea typeface="Open Sans" charset="0"/>
                <a:cs typeface="Open Sans" charset="0"/>
              </a:defRPr>
            </a:lvl4pPr>
            <a:lvl5pPr>
              <a:defRPr>
                <a:latin typeface="Open Sans" charset="0"/>
                <a:ea typeface="Open Sans" charset="0"/>
                <a:cs typeface="Open Sans"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3">
            <a:extLst>
              <a:ext uri="{FF2B5EF4-FFF2-40B4-BE49-F238E27FC236}">
                <a16:creationId xmlns:a16="http://schemas.microsoft.com/office/drawing/2014/main" id="{69DE92E7-6CB0-3DF0-31E6-CFCC30478166}"/>
              </a:ext>
            </a:extLst>
          </p:cNvPr>
          <p:cNvSpPr>
            <a:spLocks noGrp="1"/>
          </p:cNvSpPr>
          <p:nvPr>
            <p:ph type="dt" sz="half" idx="10"/>
          </p:nvPr>
        </p:nvSpPr>
        <p:spPr/>
        <p:txBody>
          <a:bodyPr/>
          <a:lstStyle>
            <a:lvl1pPr>
              <a:defRPr/>
            </a:lvl1pPr>
          </a:lstStyle>
          <a:p>
            <a:pPr>
              <a:defRPr/>
            </a:pPr>
            <a:fld id="{C5780D90-4D1A-4928-B21F-7E3CAB2FD281}" type="datetimeFigureOut">
              <a:rPr lang="en-US"/>
              <a:pPr>
                <a:defRPr/>
              </a:pPr>
              <a:t>3/24/2025</a:t>
            </a:fld>
            <a:endParaRPr lang="en-US"/>
          </a:p>
        </p:txBody>
      </p:sp>
      <p:sp>
        <p:nvSpPr>
          <p:cNvPr id="6" name="Footer Placeholder 4">
            <a:extLst>
              <a:ext uri="{FF2B5EF4-FFF2-40B4-BE49-F238E27FC236}">
                <a16:creationId xmlns:a16="http://schemas.microsoft.com/office/drawing/2014/main" id="{5B0FF350-1356-70B8-B14C-3691C954568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CA96CFE-741F-33D8-79C7-E3990AA68B3D}"/>
              </a:ext>
            </a:extLst>
          </p:cNvPr>
          <p:cNvSpPr>
            <a:spLocks noGrp="1"/>
          </p:cNvSpPr>
          <p:nvPr>
            <p:ph type="sldNum" sz="quarter" idx="12"/>
          </p:nvPr>
        </p:nvSpPr>
        <p:spPr/>
        <p:txBody>
          <a:bodyPr/>
          <a:lstStyle>
            <a:lvl1pPr>
              <a:defRPr/>
            </a:lvl1pPr>
          </a:lstStyle>
          <a:p>
            <a:fld id="{0DB4F8B6-95C9-4068-8796-43CA79616E90}" type="slidenum">
              <a:rPr lang="en-GB" altLang="en-US"/>
              <a:pPr/>
              <a:t>‹#›</a:t>
            </a:fld>
            <a:endParaRPr lang="en-GB" altLang="en-US"/>
          </a:p>
        </p:txBody>
      </p:sp>
    </p:spTree>
    <p:extLst>
      <p:ext uri="{BB962C8B-B14F-4D97-AF65-F5344CB8AC3E}">
        <p14:creationId xmlns:p14="http://schemas.microsoft.com/office/powerpoint/2010/main" val="1254730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8">
            <a:extLst>
              <a:ext uri="{FF2B5EF4-FFF2-40B4-BE49-F238E27FC236}">
                <a16:creationId xmlns:a16="http://schemas.microsoft.com/office/drawing/2014/main" id="{A5717BBE-CD66-7244-68D4-DDB52889997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36163" y="0"/>
            <a:ext cx="2255837"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5" name="Date Placeholder 3">
            <a:extLst>
              <a:ext uri="{FF2B5EF4-FFF2-40B4-BE49-F238E27FC236}">
                <a16:creationId xmlns:a16="http://schemas.microsoft.com/office/drawing/2014/main" id="{036442E8-C235-6552-E230-CA4B89AA32AF}"/>
              </a:ext>
            </a:extLst>
          </p:cNvPr>
          <p:cNvSpPr>
            <a:spLocks noGrp="1"/>
          </p:cNvSpPr>
          <p:nvPr>
            <p:ph type="dt" sz="half" idx="10"/>
          </p:nvPr>
        </p:nvSpPr>
        <p:spPr/>
        <p:txBody>
          <a:bodyPr/>
          <a:lstStyle>
            <a:lvl1pPr>
              <a:defRPr/>
            </a:lvl1pPr>
          </a:lstStyle>
          <a:p>
            <a:pPr>
              <a:defRPr/>
            </a:pPr>
            <a:fld id="{F6A043BC-1F27-4DDD-B294-B901C381F9B8}" type="datetimeFigureOut">
              <a:rPr lang="en-US"/>
              <a:pPr>
                <a:defRPr/>
              </a:pPr>
              <a:t>3/24/2025</a:t>
            </a:fld>
            <a:endParaRPr lang="en-US"/>
          </a:p>
        </p:txBody>
      </p:sp>
      <p:sp>
        <p:nvSpPr>
          <p:cNvPr id="6" name="Footer Placeholder 4">
            <a:extLst>
              <a:ext uri="{FF2B5EF4-FFF2-40B4-BE49-F238E27FC236}">
                <a16:creationId xmlns:a16="http://schemas.microsoft.com/office/drawing/2014/main" id="{E7080E37-5C6C-4A5E-9C39-5D848E96A27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65974E6-19F9-23D3-0500-5AD6316AA2D6}"/>
              </a:ext>
            </a:extLst>
          </p:cNvPr>
          <p:cNvSpPr>
            <a:spLocks noGrp="1"/>
          </p:cNvSpPr>
          <p:nvPr>
            <p:ph type="sldNum" sz="quarter" idx="12"/>
          </p:nvPr>
        </p:nvSpPr>
        <p:spPr/>
        <p:txBody>
          <a:bodyPr/>
          <a:lstStyle>
            <a:lvl1pPr>
              <a:defRPr/>
            </a:lvl1pPr>
          </a:lstStyle>
          <a:p>
            <a:fld id="{C066EE97-5661-4BCF-9D34-D45E5530DA74}" type="slidenum">
              <a:rPr lang="en-GB" altLang="en-US"/>
              <a:pPr/>
              <a:t>‹#›</a:t>
            </a:fld>
            <a:endParaRPr lang="en-GB" altLang="en-US"/>
          </a:p>
        </p:txBody>
      </p:sp>
    </p:spTree>
    <p:extLst>
      <p:ext uri="{BB962C8B-B14F-4D97-AF65-F5344CB8AC3E}">
        <p14:creationId xmlns:p14="http://schemas.microsoft.com/office/powerpoint/2010/main" val="339338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CEED35D1-72FA-9926-EC4E-9A8374CA738E}"/>
              </a:ext>
            </a:extLst>
          </p:cNvPr>
          <p:cNvSpPr>
            <a:spLocks noGrp="1"/>
          </p:cNvSpPr>
          <p:nvPr>
            <p:ph type="dt" sz="half" idx="10"/>
          </p:nvPr>
        </p:nvSpPr>
        <p:spPr/>
        <p:txBody>
          <a:bodyPr/>
          <a:lstStyle>
            <a:lvl1pPr>
              <a:defRPr/>
            </a:lvl1pPr>
          </a:lstStyle>
          <a:p>
            <a:pPr>
              <a:defRPr/>
            </a:pPr>
            <a:fld id="{C91F301C-2594-4F1E-A78C-EDB7018C6861}" type="datetimeFigureOut">
              <a:rPr lang="en-US"/>
              <a:pPr>
                <a:defRPr/>
              </a:pPr>
              <a:t>3/24/2025</a:t>
            </a:fld>
            <a:endParaRPr lang="en-US"/>
          </a:p>
        </p:txBody>
      </p:sp>
      <p:sp>
        <p:nvSpPr>
          <p:cNvPr id="6" name="Footer Placeholder 4">
            <a:extLst>
              <a:ext uri="{FF2B5EF4-FFF2-40B4-BE49-F238E27FC236}">
                <a16:creationId xmlns:a16="http://schemas.microsoft.com/office/drawing/2014/main" id="{517E2B85-9346-88BC-D66F-83BC2395885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905E4B2-999B-5A07-9014-FDE07AD6AD53}"/>
              </a:ext>
            </a:extLst>
          </p:cNvPr>
          <p:cNvSpPr>
            <a:spLocks noGrp="1"/>
          </p:cNvSpPr>
          <p:nvPr>
            <p:ph type="sldNum" sz="quarter" idx="12"/>
          </p:nvPr>
        </p:nvSpPr>
        <p:spPr/>
        <p:txBody>
          <a:bodyPr/>
          <a:lstStyle>
            <a:lvl1pPr>
              <a:defRPr/>
            </a:lvl1pPr>
          </a:lstStyle>
          <a:p>
            <a:fld id="{66EA513B-72BE-4D2D-8296-608BA75CABBE}" type="slidenum">
              <a:rPr lang="en-GB" altLang="en-US"/>
              <a:pPr/>
              <a:t>‹#›</a:t>
            </a:fld>
            <a:endParaRPr lang="en-GB" altLang="en-US"/>
          </a:p>
        </p:txBody>
      </p:sp>
    </p:spTree>
    <p:extLst>
      <p:ext uri="{BB962C8B-B14F-4D97-AF65-F5344CB8AC3E}">
        <p14:creationId xmlns:p14="http://schemas.microsoft.com/office/powerpoint/2010/main" val="2878760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2FFE87CF-E2F2-9EE7-3075-D735550E5DA4}"/>
              </a:ext>
            </a:extLst>
          </p:cNvPr>
          <p:cNvSpPr>
            <a:spLocks noGrp="1"/>
          </p:cNvSpPr>
          <p:nvPr>
            <p:ph type="dt" sz="half" idx="10"/>
          </p:nvPr>
        </p:nvSpPr>
        <p:spPr/>
        <p:txBody>
          <a:bodyPr/>
          <a:lstStyle>
            <a:lvl1pPr>
              <a:defRPr/>
            </a:lvl1pPr>
          </a:lstStyle>
          <a:p>
            <a:pPr>
              <a:defRPr/>
            </a:pPr>
            <a:fld id="{29750374-8C28-4345-A1F7-ABA62FB9886A}" type="datetimeFigureOut">
              <a:rPr lang="en-US"/>
              <a:pPr>
                <a:defRPr/>
              </a:pPr>
              <a:t>3/24/2025</a:t>
            </a:fld>
            <a:endParaRPr lang="en-US"/>
          </a:p>
        </p:txBody>
      </p:sp>
      <p:sp>
        <p:nvSpPr>
          <p:cNvPr id="8" name="Footer Placeholder 4">
            <a:extLst>
              <a:ext uri="{FF2B5EF4-FFF2-40B4-BE49-F238E27FC236}">
                <a16:creationId xmlns:a16="http://schemas.microsoft.com/office/drawing/2014/main" id="{852ABCA0-39F2-6BC7-761D-BDB65751701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DA02C71C-FA54-0B41-A5AA-0A1A06D71711}"/>
              </a:ext>
            </a:extLst>
          </p:cNvPr>
          <p:cNvSpPr>
            <a:spLocks noGrp="1"/>
          </p:cNvSpPr>
          <p:nvPr>
            <p:ph type="sldNum" sz="quarter" idx="12"/>
          </p:nvPr>
        </p:nvSpPr>
        <p:spPr/>
        <p:txBody>
          <a:bodyPr/>
          <a:lstStyle>
            <a:lvl1pPr>
              <a:defRPr/>
            </a:lvl1pPr>
          </a:lstStyle>
          <a:p>
            <a:fld id="{9EA4E4FE-8291-4D91-8703-028359C69C07}" type="slidenum">
              <a:rPr lang="en-GB" altLang="en-US"/>
              <a:pPr/>
              <a:t>‹#›</a:t>
            </a:fld>
            <a:endParaRPr lang="en-GB" altLang="en-US"/>
          </a:p>
        </p:txBody>
      </p:sp>
    </p:spTree>
    <p:extLst>
      <p:ext uri="{BB962C8B-B14F-4D97-AF65-F5344CB8AC3E}">
        <p14:creationId xmlns:p14="http://schemas.microsoft.com/office/powerpoint/2010/main" val="38501995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3">
            <a:extLst>
              <a:ext uri="{FF2B5EF4-FFF2-40B4-BE49-F238E27FC236}">
                <a16:creationId xmlns:a16="http://schemas.microsoft.com/office/drawing/2014/main" id="{222D473E-3DF6-1EC4-1F57-F22A6A2A4785}"/>
              </a:ext>
            </a:extLst>
          </p:cNvPr>
          <p:cNvSpPr>
            <a:spLocks noGrp="1"/>
          </p:cNvSpPr>
          <p:nvPr>
            <p:ph type="dt" sz="half" idx="10"/>
          </p:nvPr>
        </p:nvSpPr>
        <p:spPr/>
        <p:txBody>
          <a:bodyPr/>
          <a:lstStyle>
            <a:lvl1pPr>
              <a:defRPr/>
            </a:lvl1pPr>
          </a:lstStyle>
          <a:p>
            <a:pPr>
              <a:defRPr/>
            </a:pPr>
            <a:fld id="{4EEC5772-36F6-443C-A494-0FE8FE6EA694}" type="datetimeFigureOut">
              <a:rPr lang="en-US"/>
              <a:pPr>
                <a:defRPr/>
              </a:pPr>
              <a:t>3/24/2025</a:t>
            </a:fld>
            <a:endParaRPr lang="en-US"/>
          </a:p>
        </p:txBody>
      </p:sp>
      <p:sp>
        <p:nvSpPr>
          <p:cNvPr id="4" name="Footer Placeholder 4">
            <a:extLst>
              <a:ext uri="{FF2B5EF4-FFF2-40B4-BE49-F238E27FC236}">
                <a16:creationId xmlns:a16="http://schemas.microsoft.com/office/drawing/2014/main" id="{26A8D93D-AF5C-DCDD-0625-89B2D3E92CD1}"/>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7BE49722-C621-03A8-835D-7EDB93F77857}"/>
              </a:ext>
            </a:extLst>
          </p:cNvPr>
          <p:cNvSpPr>
            <a:spLocks noGrp="1"/>
          </p:cNvSpPr>
          <p:nvPr>
            <p:ph type="sldNum" sz="quarter" idx="12"/>
          </p:nvPr>
        </p:nvSpPr>
        <p:spPr/>
        <p:txBody>
          <a:bodyPr/>
          <a:lstStyle>
            <a:lvl1pPr>
              <a:defRPr/>
            </a:lvl1pPr>
          </a:lstStyle>
          <a:p>
            <a:fld id="{870B679E-F435-4AEB-8CD3-649F19CDA454}" type="slidenum">
              <a:rPr lang="en-GB" altLang="en-US"/>
              <a:pPr/>
              <a:t>‹#›</a:t>
            </a:fld>
            <a:endParaRPr lang="en-GB" altLang="en-US"/>
          </a:p>
        </p:txBody>
      </p:sp>
    </p:spTree>
    <p:extLst>
      <p:ext uri="{BB962C8B-B14F-4D97-AF65-F5344CB8AC3E}">
        <p14:creationId xmlns:p14="http://schemas.microsoft.com/office/powerpoint/2010/main" val="3205540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515AFBA-1324-0F6B-9322-E6FB56E45502}"/>
              </a:ext>
            </a:extLst>
          </p:cNvPr>
          <p:cNvSpPr>
            <a:spLocks noGrp="1"/>
          </p:cNvSpPr>
          <p:nvPr>
            <p:ph type="dt" sz="half" idx="10"/>
          </p:nvPr>
        </p:nvSpPr>
        <p:spPr/>
        <p:txBody>
          <a:bodyPr/>
          <a:lstStyle>
            <a:lvl1pPr>
              <a:defRPr/>
            </a:lvl1pPr>
          </a:lstStyle>
          <a:p>
            <a:pPr>
              <a:defRPr/>
            </a:pPr>
            <a:fld id="{6D2328D5-F815-4B08-B934-EAD4BF5714D8}" type="datetimeFigureOut">
              <a:rPr lang="en-US"/>
              <a:pPr>
                <a:defRPr/>
              </a:pPr>
              <a:t>3/24/2025</a:t>
            </a:fld>
            <a:endParaRPr lang="en-US"/>
          </a:p>
        </p:txBody>
      </p:sp>
      <p:sp>
        <p:nvSpPr>
          <p:cNvPr id="3" name="Footer Placeholder 4">
            <a:extLst>
              <a:ext uri="{FF2B5EF4-FFF2-40B4-BE49-F238E27FC236}">
                <a16:creationId xmlns:a16="http://schemas.microsoft.com/office/drawing/2014/main" id="{8B853CCD-F0CA-FAAD-B3F6-C4959F7DBDA0}"/>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EC25C6DA-5185-461C-5D78-A286A1E1BB50}"/>
              </a:ext>
            </a:extLst>
          </p:cNvPr>
          <p:cNvSpPr>
            <a:spLocks noGrp="1"/>
          </p:cNvSpPr>
          <p:nvPr>
            <p:ph type="sldNum" sz="quarter" idx="12"/>
          </p:nvPr>
        </p:nvSpPr>
        <p:spPr/>
        <p:txBody>
          <a:bodyPr/>
          <a:lstStyle>
            <a:lvl1pPr>
              <a:defRPr/>
            </a:lvl1pPr>
          </a:lstStyle>
          <a:p>
            <a:fld id="{0A2BBCF0-D834-44A9-84A8-A08A86CB6ADA}" type="slidenum">
              <a:rPr lang="en-GB" altLang="en-US"/>
              <a:pPr/>
              <a:t>‹#›</a:t>
            </a:fld>
            <a:endParaRPr lang="en-GB" altLang="en-US"/>
          </a:p>
        </p:txBody>
      </p:sp>
    </p:spTree>
    <p:extLst>
      <p:ext uri="{BB962C8B-B14F-4D97-AF65-F5344CB8AC3E}">
        <p14:creationId xmlns:p14="http://schemas.microsoft.com/office/powerpoint/2010/main" val="686634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3">
            <a:extLst>
              <a:ext uri="{FF2B5EF4-FFF2-40B4-BE49-F238E27FC236}">
                <a16:creationId xmlns:a16="http://schemas.microsoft.com/office/drawing/2014/main" id="{1D9AC03F-A071-3E7B-238F-574743CE0EA0}"/>
              </a:ext>
            </a:extLst>
          </p:cNvPr>
          <p:cNvSpPr>
            <a:spLocks noGrp="1"/>
          </p:cNvSpPr>
          <p:nvPr>
            <p:ph type="dt" sz="half" idx="10"/>
          </p:nvPr>
        </p:nvSpPr>
        <p:spPr/>
        <p:txBody>
          <a:bodyPr/>
          <a:lstStyle>
            <a:lvl1pPr>
              <a:defRPr/>
            </a:lvl1pPr>
          </a:lstStyle>
          <a:p>
            <a:pPr>
              <a:defRPr/>
            </a:pPr>
            <a:fld id="{8250F8D8-FF27-47D5-8D7F-CA42146821C1}" type="datetimeFigureOut">
              <a:rPr lang="en-US"/>
              <a:pPr>
                <a:defRPr/>
              </a:pPr>
              <a:t>3/24/2025</a:t>
            </a:fld>
            <a:endParaRPr lang="en-US"/>
          </a:p>
        </p:txBody>
      </p:sp>
      <p:sp>
        <p:nvSpPr>
          <p:cNvPr id="6" name="Footer Placeholder 4">
            <a:extLst>
              <a:ext uri="{FF2B5EF4-FFF2-40B4-BE49-F238E27FC236}">
                <a16:creationId xmlns:a16="http://schemas.microsoft.com/office/drawing/2014/main" id="{BB4E28A7-F656-74F3-220F-180C258A26A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5129FB35-FCBB-2718-AA32-5AD3F4280DEC}"/>
              </a:ext>
            </a:extLst>
          </p:cNvPr>
          <p:cNvSpPr>
            <a:spLocks noGrp="1"/>
          </p:cNvSpPr>
          <p:nvPr>
            <p:ph type="sldNum" sz="quarter" idx="12"/>
          </p:nvPr>
        </p:nvSpPr>
        <p:spPr/>
        <p:txBody>
          <a:bodyPr/>
          <a:lstStyle>
            <a:lvl1pPr>
              <a:defRPr/>
            </a:lvl1pPr>
          </a:lstStyle>
          <a:p>
            <a:fld id="{4348BCC2-14BC-48FA-9321-B116F3A96520}" type="slidenum">
              <a:rPr lang="en-GB" altLang="en-US"/>
              <a:pPr/>
              <a:t>‹#›</a:t>
            </a:fld>
            <a:endParaRPr lang="en-GB" altLang="en-US"/>
          </a:p>
        </p:txBody>
      </p:sp>
    </p:spTree>
    <p:extLst>
      <p:ext uri="{BB962C8B-B14F-4D97-AF65-F5344CB8AC3E}">
        <p14:creationId xmlns:p14="http://schemas.microsoft.com/office/powerpoint/2010/main" val="1524058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Click icon to add picture</a:t>
            </a:r>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3">
            <a:extLst>
              <a:ext uri="{FF2B5EF4-FFF2-40B4-BE49-F238E27FC236}">
                <a16:creationId xmlns:a16="http://schemas.microsoft.com/office/drawing/2014/main" id="{86B205E1-2487-DF02-0D53-9E42E76DAE74}"/>
              </a:ext>
            </a:extLst>
          </p:cNvPr>
          <p:cNvSpPr>
            <a:spLocks noGrp="1"/>
          </p:cNvSpPr>
          <p:nvPr>
            <p:ph type="dt" sz="half" idx="10"/>
          </p:nvPr>
        </p:nvSpPr>
        <p:spPr/>
        <p:txBody>
          <a:bodyPr/>
          <a:lstStyle>
            <a:lvl1pPr>
              <a:defRPr/>
            </a:lvl1pPr>
          </a:lstStyle>
          <a:p>
            <a:pPr>
              <a:defRPr/>
            </a:pPr>
            <a:fld id="{6D6B422A-A92C-431E-B4CE-ADDD52F17814}" type="datetimeFigureOut">
              <a:rPr lang="en-US"/>
              <a:pPr>
                <a:defRPr/>
              </a:pPr>
              <a:t>3/24/2025</a:t>
            </a:fld>
            <a:endParaRPr lang="en-US"/>
          </a:p>
        </p:txBody>
      </p:sp>
      <p:sp>
        <p:nvSpPr>
          <p:cNvPr id="6" name="Footer Placeholder 4">
            <a:extLst>
              <a:ext uri="{FF2B5EF4-FFF2-40B4-BE49-F238E27FC236}">
                <a16:creationId xmlns:a16="http://schemas.microsoft.com/office/drawing/2014/main" id="{BE0DC03B-CF11-3E38-3FDD-F4086855D4D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3C7B2A59-75FB-EB82-DBAA-69287B3C6126}"/>
              </a:ext>
            </a:extLst>
          </p:cNvPr>
          <p:cNvSpPr>
            <a:spLocks noGrp="1"/>
          </p:cNvSpPr>
          <p:nvPr>
            <p:ph type="sldNum" sz="quarter" idx="12"/>
          </p:nvPr>
        </p:nvSpPr>
        <p:spPr/>
        <p:txBody>
          <a:bodyPr/>
          <a:lstStyle>
            <a:lvl1pPr>
              <a:defRPr/>
            </a:lvl1pPr>
          </a:lstStyle>
          <a:p>
            <a:fld id="{E5A6AD06-558D-4AAC-B166-650376295811}" type="slidenum">
              <a:rPr lang="en-GB" altLang="en-US"/>
              <a:pPr/>
              <a:t>‹#›</a:t>
            </a:fld>
            <a:endParaRPr lang="en-GB" altLang="en-US"/>
          </a:p>
        </p:txBody>
      </p:sp>
    </p:spTree>
    <p:extLst>
      <p:ext uri="{BB962C8B-B14F-4D97-AF65-F5344CB8AC3E}">
        <p14:creationId xmlns:p14="http://schemas.microsoft.com/office/powerpoint/2010/main" val="1707284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FB2404C-B2D5-D6FB-0DE8-E5E69DE9EAE5}"/>
              </a:ext>
            </a:extLst>
          </p:cNvPr>
          <p:cNvSpPr>
            <a:spLocks noGrp="1"/>
          </p:cNvSpPr>
          <p:nvPr>
            <p:ph type="dt" sz="half" idx="10"/>
          </p:nvPr>
        </p:nvSpPr>
        <p:spPr/>
        <p:txBody>
          <a:bodyPr/>
          <a:lstStyle>
            <a:lvl1pPr>
              <a:defRPr/>
            </a:lvl1pPr>
          </a:lstStyle>
          <a:p>
            <a:pPr>
              <a:defRPr/>
            </a:pPr>
            <a:fld id="{30ED6D80-87A8-4EA3-A521-F284FF1C3BD2}" type="datetimeFigureOut">
              <a:rPr lang="en-US"/>
              <a:pPr>
                <a:defRPr/>
              </a:pPr>
              <a:t>3/24/2025</a:t>
            </a:fld>
            <a:endParaRPr lang="en-US"/>
          </a:p>
        </p:txBody>
      </p:sp>
      <p:sp>
        <p:nvSpPr>
          <p:cNvPr id="5" name="Footer Placeholder 4">
            <a:extLst>
              <a:ext uri="{FF2B5EF4-FFF2-40B4-BE49-F238E27FC236}">
                <a16:creationId xmlns:a16="http://schemas.microsoft.com/office/drawing/2014/main" id="{A3C0BDC2-9B95-F697-E22A-B7D505F8C42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6A89780-6AC8-63FE-4AC7-4FA2614EDD7A}"/>
              </a:ext>
            </a:extLst>
          </p:cNvPr>
          <p:cNvSpPr>
            <a:spLocks noGrp="1"/>
          </p:cNvSpPr>
          <p:nvPr>
            <p:ph type="sldNum" sz="quarter" idx="12"/>
          </p:nvPr>
        </p:nvSpPr>
        <p:spPr/>
        <p:txBody>
          <a:bodyPr/>
          <a:lstStyle>
            <a:lvl1pPr>
              <a:defRPr/>
            </a:lvl1pPr>
          </a:lstStyle>
          <a:p>
            <a:fld id="{9012F41D-835C-43B1-8D22-4CC0357F426B}" type="slidenum">
              <a:rPr lang="en-GB" altLang="en-US"/>
              <a:pPr/>
              <a:t>‹#›</a:t>
            </a:fld>
            <a:endParaRPr lang="en-GB" altLang="en-US"/>
          </a:p>
        </p:txBody>
      </p:sp>
    </p:spTree>
    <p:extLst>
      <p:ext uri="{BB962C8B-B14F-4D97-AF65-F5344CB8AC3E}">
        <p14:creationId xmlns:p14="http://schemas.microsoft.com/office/powerpoint/2010/main" val="2295957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F01269-0EE4-ACC0-6C93-6A1EC4143F00}"/>
              </a:ext>
            </a:extLst>
          </p:cNvPr>
          <p:cNvSpPr>
            <a:spLocks noGrp="1"/>
          </p:cNvSpPr>
          <p:nvPr>
            <p:ph type="dt" sz="half" idx="10"/>
          </p:nvPr>
        </p:nvSpPr>
        <p:spPr/>
        <p:txBody>
          <a:bodyPr/>
          <a:lstStyle>
            <a:lvl1pPr>
              <a:defRPr/>
            </a:lvl1pPr>
          </a:lstStyle>
          <a:p>
            <a:pPr>
              <a:defRPr/>
            </a:pPr>
            <a:fld id="{83CA7AFD-8875-4001-8302-B50B743C9CD2}" type="datetimeFigureOut">
              <a:rPr lang="en-US"/>
              <a:pPr>
                <a:defRPr/>
              </a:pPr>
              <a:t>3/24/2025</a:t>
            </a:fld>
            <a:endParaRPr lang="en-US"/>
          </a:p>
        </p:txBody>
      </p:sp>
      <p:sp>
        <p:nvSpPr>
          <p:cNvPr id="5" name="Footer Placeholder 4">
            <a:extLst>
              <a:ext uri="{FF2B5EF4-FFF2-40B4-BE49-F238E27FC236}">
                <a16:creationId xmlns:a16="http://schemas.microsoft.com/office/drawing/2014/main" id="{838CE356-BB7B-0849-1AE6-BF8903CF258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F53C72B-ECF3-2CF0-44CB-0C0FD1B342AB}"/>
              </a:ext>
            </a:extLst>
          </p:cNvPr>
          <p:cNvSpPr>
            <a:spLocks noGrp="1"/>
          </p:cNvSpPr>
          <p:nvPr>
            <p:ph type="sldNum" sz="quarter" idx="12"/>
          </p:nvPr>
        </p:nvSpPr>
        <p:spPr/>
        <p:txBody>
          <a:bodyPr/>
          <a:lstStyle>
            <a:lvl1pPr>
              <a:defRPr/>
            </a:lvl1pPr>
          </a:lstStyle>
          <a:p>
            <a:fld id="{4C17A48A-FF03-4C41-BE37-DF3FDC49EF40}" type="slidenum">
              <a:rPr lang="en-GB" altLang="en-US"/>
              <a:pPr/>
              <a:t>‹#›</a:t>
            </a:fld>
            <a:endParaRPr lang="en-GB" altLang="en-US"/>
          </a:p>
        </p:txBody>
      </p:sp>
    </p:spTree>
    <p:extLst>
      <p:ext uri="{BB962C8B-B14F-4D97-AF65-F5344CB8AC3E}">
        <p14:creationId xmlns:p14="http://schemas.microsoft.com/office/powerpoint/2010/main" val="35106370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9676A-4794-02F1-6788-740F90B8597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61219A80-485E-88FB-30B9-9B1A599E56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D5134636-D182-0C68-17D5-AF59DE659413}"/>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5" name="Footer Placeholder 4">
            <a:extLst>
              <a:ext uri="{FF2B5EF4-FFF2-40B4-BE49-F238E27FC236}">
                <a16:creationId xmlns:a16="http://schemas.microsoft.com/office/drawing/2014/main" id="{5921AB4E-D5F7-CE71-9AC8-341E971C6B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3B47AF-CD9B-DB2A-80D5-4F56E8CC6B12}"/>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11464345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FE65A-0834-CD32-B7FE-1AF581B02FE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7E0E2B5-0981-FE58-2107-D034B39D50E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748C7C9-C5A7-1179-259D-2FAAB4F90ACA}"/>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5" name="Footer Placeholder 4">
            <a:extLst>
              <a:ext uri="{FF2B5EF4-FFF2-40B4-BE49-F238E27FC236}">
                <a16:creationId xmlns:a16="http://schemas.microsoft.com/office/drawing/2014/main" id="{CB67899A-5791-5B3D-6CFC-7315DF2796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ED7B40-FFC2-5B53-BF01-231548323125}"/>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38060162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0619E-F9C9-D7A0-4A7C-1C7B6F05027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E1E9F13C-4BB0-2208-90DB-737A11A7F0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DEE1163-363A-1CA4-E631-C2F7CD9864B9}"/>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5" name="Footer Placeholder 4">
            <a:extLst>
              <a:ext uri="{FF2B5EF4-FFF2-40B4-BE49-F238E27FC236}">
                <a16:creationId xmlns:a16="http://schemas.microsoft.com/office/drawing/2014/main" id="{63DAF6AF-DB35-E458-C1B4-8751E441F27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53C608-43BD-72AB-0C6F-DE354621744E}"/>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3734381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C4B5C-3F04-4971-898D-4F1218371E9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B368F068-7512-5CE0-4AF7-442A768DF73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252565E0-B3D2-976C-EEB0-6E33D2484FC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95A1EA6C-30FE-8A46-6441-B0BEE2EA40A7}"/>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6" name="Footer Placeholder 5">
            <a:extLst>
              <a:ext uri="{FF2B5EF4-FFF2-40B4-BE49-F238E27FC236}">
                <a16:creationId xmlns:a16="http://schemas.microsoft.com/office/drawing/2014/main" id="{878F5CDC-42AE-D24B-FC42-CB2C313AE49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4B2364-6B27-A005-403B-166A83067415}"/>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32580426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77F91-6C08-39FC-7665-01A72E607E59}"/>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250AFBD3-4FBE-4664-C378-3610275498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3EF9596-E172-2F10-BA2D-DA88AC7D09A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430E45C4-6BFC-ABDC-399B-C0D2A23F60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10ED157-BAB9-79C1-EFE9-23767CCF281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0C462A77-252F-AAE4-6E5A-FF4F3DA5D2F3}"/>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8" name="Footer Placeholder 7">
            <a:extLst>
              <a:ext uri="{FF2B5EF4-FFF2-40B4-BE49-F238E27FC236}">
                <a16:creationId xmlns:a16="http://schemas.microsoft.com/office/drawing/2014/main" id="{FBC64CC9-B858-4C12-2F77-FBF4328FCA2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A295388-B04D-8C0E-E481-6DE48B949096}"/>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8053520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FB9AE-5E00-0375-72E6-72934B43D44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7D08B953-49A9-2733-C3F5-896A13C3595C}"/>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4" name="Footer Placeholder 3">
            <a:extLst>
              <a:ext uri="{FF2B5EF4-FFF2-40B4-BE49-F238E27FC236}">
                <a16:creationId xmlns:a16="http://schemas.microsoft.com/office/drawing/2014/main" id="{4B7E36BA-97C1-6CFA-0D92-F30CACCA268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E043774-C088-E8AF-D647-A941B1FD0F53}"/>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27322898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EEE282-1DA3-45A4-3267-7A73FB7316CE}"/>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3" name="Footer Placeholder 2">
            <a:extLst>
              <a:ext uri="{FF2B5EF4-FFF2-40B4-BE49-F238E27FC236}">
                <a16:creationId xmlns:a16="http://schemas.microsoft.com/office/drawing/2014/main" id="{81A1499C-9E4D-9921-635A-C3C338E7318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69414B0-1C6D-5C04-A5DE-6ADDE2380B64}"/>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26450915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A6EAD-5085-4684-11B5-FE29D9D85F3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3B3C37E-7C41-C1CF-D989-E6357C5E6D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7DED4C9-BE4E-CA64-366C-1FA421E041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EEEA1F7-88F2-69B4-AF91-26A43251AB55}"/>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6" name="Footer Placeholder 5">
            <a:extLst>
              <a:ext uri="{FF2B5EF4-FFF2-40B4-BE49-F238E27FC236}">
                <a16:creationId xmlns:a16="http://schemas.microsoft.com/office/drawing/2014/main" id="{D4DB1665-BD8C-8B74-2ADC-9B84CEDC860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A068E46-D861-8BD5-7EBF-0A625D09516B}"/>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1126210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531FB-E069-A64D-36C8-E13211CCF50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8FB426C8-A4D4-E454-48BB-F5F13B136A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67A47E7-C3AF-5235-189D-FE032B25DB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2AA840A-FB02-1368-D396-190F11CA16A6}"/>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6" name="Footer Placeholder 5">
            <a:extLst>
              <a:ext uri="{FF2B5EF4-FFF2-40B4-BE49-F238E27FC236}">
                <a16:creationId xmlns:a16="http://schemas.microsoft.com/office/drawing/2014/main" id="{E83044A6-F2F9-4EF5-9AF7-AF76D95EE15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A542CD1-5DF4-E305-FC09-59BD16ADD9D7}"/>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23014848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EB178-61DE-BE64-9375-F6BA3341CEDE}"/>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3E7237E8-6CEC-A3BF-DDAC-009430A5827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97D2225-4A07-ADA0-9769-5E47B6D46804}"/>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5" name="Footer Placeholder 4">
            <a:extLst>
              <a:ext uri="{FF2B5EF4-FFF2-40B4-BE49-F238E27FC236}">
                <a16:creationId xmlns:a16="http://schemas.microsoft.com/office/drawing/2014/main" id="{E3444CCC-C668-4D25-6C67-BA4FB2B4AB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2A24690-EC22-D189-0214-9379B188A941}"/>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29743378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FF47C2-A892-755B-2774-DB0258DDE1A1}"/>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8D952A4D-D8B9-B0E6-5278-8B8042D81DA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163C3B8-5660-AA13-C8BA-9D214352EA41}"/>
              </a:ext>
            </a:extLst>
          </p:cNvPr>
          <p:cNvSpPr>
            <a:spLocks noGrp="1"/>
          </p:cNvSpPr>
          <p:nvPr>
            <p:ph type="dt" sz="half" idx="10"/>
          </p:nvPr>
        </p:nvSpPr>
        <p:spPr/>
        <p:txBody>
          <a:bodyPr/>
          <a:lstStyle/>
          <a:p>
            <a:fld id="{E8FAFFB1-568C-4D86-A8AC-7B51F481FC51}" type="datetimeFigureOut">
              <a:rPr lang="en-GB" smtClean="0"/>
              <a:t>24/03/2025</a:t>
            </a:fld>
            <a:endParaRPr lang="en-GB"/>
          </a:p>
        </p:txBody>
      </p:sp>
      <p:sp>
        <p:nvSpPr>
          <p:cNvPr id="5" name="Footer Placeholder 4">
            <a:extLst>
              <a:ext uri="{FF2B5EF4-FFF2-40B4-BE49-F238E27FC236}">
                <a16:creationId xmlns:a16="http://schemas.microsoft.com/office/drawing/2014/main" id="{A23F98B7-5DBB-0766-E883-D8C2D403661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D02E238-8185-1629-FEB7-1068B9E6F82B}"/>
              </a:ext>
            </a:extLst>
          </p:cNvPr>
          <p:cNvSpPr>
            <a:spLocks noGrp="1"/>
          </p:cNvSpPr>
          <p:nvPr>
            <p:ph type="sldNum" sz="quarter" idx="12"/>
          </p:nvPr>
        </p:nvSpPr>
        <p:spPr/>
        <p:txBody>
          <a:bodyPr/>
          <a:lstStyle/>
          <a:p>
            <a:fld id="{2851D7E6-E18C-43B1-8598-AF87CD276E22}" type="slidenum">
              <a:rPr lang="en-GB" smtClean="0"/>
              <a:t>‹#›</a:t>
            </a:fld>
            <a:endParaRPr lang="en-GB"/>
          </a:p>
        </p:txBody>
      </p:sp>
    </p:spTree>
    <p:extLst>
      <p:ext uri="{BB962C8B-B14F-4D97-AF65-F5344CB8AC3E}">
        <p14:creationId xmlns:p14="http://schemas.microsoft.com/office/powerpoint/2010/main" val="58511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A198525-6FDE-FD53-4E06-D69DAB2A48BC}"/>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Text Placeholder 2">
            <a:extLst>
              <a:ext uri="{FF2B5EF4-FFF2-40B4-BE49-F238E27FC236}">
                <a16:creationId xmlns:a16="http://schemas.microsoft.com/office/drawing/2014/main" id="{AEAFE716-B135-1A04-3014-C6922309AED6}"/>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4" name="Date Placeholder 3">
            <a:extLst>
              <a:ext uri="{FF2B5EF4-FFF2-40B4-BE49-F238E27FC236}">
                <a16:creationId xmlns:a16="http://schemas.microsoft.com/office/drawing/2014/main" id="{5D325B2A-6592-E513-87A2-E2581584D7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10643849-5396-4A60-BB4F-FBE89659048A}" type="datetimeFigureOut">
              <a:rPr lang="en-US"/>
              <a:pPr>
                <a:defRPr/>
              </a:pPr>
              <a:t>3/24/2025</a:t>
            </a:fld>
            <a:endParaRPr lang="en-US"/>
          </a:p>
        </p:txBody>
      </p:sp>
      <p:sp>
        <p:nvSpPr>
          <p:cNvPr id="5" name="Footer Placeholder 4">
            <a:extLst>
              <a:ext uri="{FF2B5EF4-FFF2-40B4-BE49-F238E27FC236}">
                <a16:creationId xmlns:a16="http://schemas.microsoft.com/office/drawing/2014/main" id="{AC7660DA-FE20-6279-F4AA-836CB3375C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D4AFD89B-AE38-F389-21E1-C5F0A8E2CE3B}"/>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AF0F94C-E72F-4462-AAC9-480CEB468584}" type="slidenum">
              <a:rPr lang="en-GB" altLang="en-US"/>
              <a:pPr/>
              <a:t>‹#›</a:t>
            </a:fld>
            <a:endParaRPr lang="en-GB" altLang="en-US"/>
          </a:p>
        </p:txBody>
      </p:sp>
      <p:pic>
        <p:nvPicPr>
          <p:cNvPr id="1031" name="Picture 7">
            <a:extLst>
              <a:ext uri="{FF2B5EF4-FFF2-40B4-BE49-F238E27FC236}">
                <a16:creationId xmlns:a16="http://schemas.microsoft.com/office/drawing/2014/main" id="{8101BA4E-4F79-25F3-4062-786B75C378B9}"/>
              </a:ext>
            </a:extLst>
          </p:cNvPr>
          <p:cNvPicPr>
            <a:picLocks noChangeAspect="1"/>
          </p:cNvPicPr>
          <p:nvPr/>
        </p:nvPicPr>
        <p:blipFill>
          <a:blip r:embed="rId13">
            <a:extLst>
              <a:ext uri="{28A0092B-C50C-407E-A947-70E740481C1C}">
                <a14:useLocalDpi xmlns:a14="http://schemas.microsoft.com/office/drawing/2010/main" val="0"/>
              </a:ext>
            </a:extLst>
          </a:blip>
          <a:srcRect/>
          <a:stretch>
            <a:fillRect/>
          </a:stretch>
        </p:blipFill>
        <p:spPr bwMode="auto">
          <a:xfrm>
            <a:off x="9936163" y="0"/>
            <a:ext cx="2255837" cy="1122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9">
            <a:extLst>
              <a:ext uri="{FF2B5EF4-FFF2-40B4-BE49-F238E27FC236}">
                <a16:creationId xmlns:a16="http://schemas.microsoft.com/office/drawing/2014/main" id="{D484D5BE-9C0F-6A7C-8885-E1B3D06AA8E0}"/>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0" y="5245100"/>
            <a:ext cx="121920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2" r:id="rId1"/>
    <p:sldLayoutId id="2147483671" r:id="rId2"/>
    <p:sldLayoutId id="214748367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1" fontAlgn="base" hangingPunct="1">
        <a:lnSpc>
          <a:spcPct val="90000"/>
        </a:lnSpc>
        <a:spcBef>
          <a:spcPct val="0"/>
        </a:spcBef>
        <a:spcAft>
          <a:spcPct val="0"/>
        </a:spcAft>
        <a:defRPr sz="4400" kern="1200">
          <a:solidFill>
            <a:schemeClr val="tx1"/>
          </a:solidFill>
          <a:latin typeface="Open Sans" charset="0"/>
          <a:ea typeface="Open Sans" charset="0"/>
          <a:cs typeface="Open Sans" charset="0"/>
        </a:defRPr>
      </a:lvl1pPr>
      <a:lvl2pPr algn="l" rtl="0" eaLnBrk="1" fontAlgn="base" hangingPunct="1">
        <a:lnSpc>
          <a:spcPct val="90000"/>
        </a:lnSpc>
        <a:spcBef>
          <a:spcPct val="0"/>
        </a:spcBef>
        <a:spcAft>
          <a:spcPct val="0"/>
        </a:spcAft>
        <a:defRPr sz="4400">
          <a:solidFill>
            <a:schemeClr val="tx1"/>
          </a:solidFill>
          <a:latin typeface="Open Sans"/>
          <a:ea typeface="Open Sans"/>
          <a:cs typeface="Open Sans"/>
        </a:defRPr>
      </a:lvl2pPr>
      <a:lvl3pPr algn="l" rtl="0" eaLnBrk="1" fontAlgn="base" hangingPunct="1">
        <a:lnSpc>
          <a:spcPct val="90000"/>
        </a:lnSpc>
        <a:spcBef>
          <a:spcPct val="0"/>
        </a:spcBef>
        <a:spcAft>
          <a:spcPct val="0"/>
        </a:spcAft>
        <a:defRPr sz="4400">
          <a:solidFill>
            <a:schemeClr val="tx1"/>
          </a:solidFill>
          <a:latin typeface="Open Sans"/>
          <a:ea typeface="Open Sans"/>
          <a:cs typeface="Open Sans"/>
        </a:defRPr>
      </a:lvl3pPr>
      <a:lvl4pPr algn="l" rtl="0" eaLnBrk="1" fontAlgn="base" hangingPunct="1">
        <a:lnSpc>
          <a:spcPct val="90000"/>
        </a:lnSpc>
        <a:spcBef>
          <a:spcPct val="0"/>
        </a:spcBef>
        <a:spcAft>
          <a:spcPct val="0"/>
        </a:spcAft>
        <a:defRPr sz="4400">
          <a:solidFill>
            <a:schemeClr val="tx1"/>
          </a:solidFill>
          <a:latin typeface="Open Sans"/>
          <a:ea typeface="Open Sans"/>
          <a:cs typeface="Open Sans"/>
        </a:defRPr>
      </a:lvl4pPr>
      <a:lvl5pPr algn="l" rtl="0" eaLnBrk="1" fontAlgn="base" hangingPunct="1">
        <a:lnSpc>
          <a:spcPct val="90000"/>
        </a:lnSpc>
        <a:spcBef>
          <a:spcPct val="0"/>
        </a:spcBef>
        <a:spcAft>
          <a:spcPct val="0"/>
        </a:spcAft>
        <a:defRPr sz="4400">
          <a:solidFill>
            <a:schemeClr val="tx1"/>
          </a:solidFill>
          <a:latin typeface="Open Sans"/>
          <a:ea typeface="Open Sans"/>
          <a:cs typeface="Open Sans"/>
        </a:defRPr>
      </a:lvl5pPr>
      <a:lvl6pPr marL="457200" algn="l" rtl="0" eaLnBrk="1" fontAlgn="base" hangingPunct="1">
        <a:lnSpc>
          <a:spcPct val="90000"/>
        </a:lnSpc>
        <a:spcBef>
          <a:spcPct val="0"/>
        </a:spcBef>
        <a:spcAft>
          <a:spcPct val="0"/>
        </a:spcAft>
        <a:defRPr sz="4400">
          <a:solidFill>
            <a:schemeClr val="tx1"/>
          </a:solidFill>
          <a:latin typeface="Open Sans"/>
          <a:ea typeface="Open Sans"/>
          <a:cs typeface="Open Sans"/>
        </a:defRPr>
      </a:lvl6pPr>
      <a:lvl7pPr marL="914400" algn="l" rtl="0" eaLnBrk="1" fontAlgn="base" hangingPunct="1">
        <a:lnSpc>
          <a:spcPct val="90000"/>
        </a:lnSpc>
        <a:spcBef>
          <a:spcPct val="0"/>
        </a:spcBef>
        <a:spcAft>
          <a:spcPct val="0"/>
        </a:spcAft>
        <a:defRPr sz="4400">
          <a:solidFill>
            <a:schemeClr val="tx1"/>
          </a:solidFill>
          <a:latin typeface="Open Sans"/>
          <a:ea typeface="Open Sans"/>
          <a:cs typeface="Open Sans"/>
        </a:defRPr>
      </a:lvl7pPr>
      <a:lvl8pPr marL="1371600" algn="l" rtl="0" eaLnBrk="1" fontAlgn="base" hangingPunct="1">
        <a:lnSpc>
          <a:spcPct val="90000"/>
        </a:lnSpc>
        <a:spcBef>
          <a:spcPct val="0"/>
        </a:spcBef>
        <a:spcAft>
          <a:spcPct val="0"/>
        </a:spcAft>
        <a:defRPr sz="4400">
          <a:solidFill>
            <a:schemeClr val="tx1"/>
          </a:solidFill>
          <a:latin typeface="Open Sans"/>
          <a:ea typeface="Open Sans"/>
          <a:cs typeface="Open Sans"/>
        </a:defRPr>
      </a:lvl8pPr>
      <a:lvl9pPr marL="1828800" algn="l" rtl="0" eaLnBrk="1" fontAlgn="base" hangingPunct="1">
        <a:lnSpc>
          <a:spcPct val="90000"/>
        </a:lnSpc>
        <a:spcBef>
          <a:spcPct val="0"/>
        </a:spcBef>
        <a:spcAft>
          <a:spcPct val="0"/>
        </a:spcAft>
        <a:defRPr sz="4400">
          <a:solidFill>
            <a:schemeClr val="tx1"/>
          </a:solidFill>
          <a:latin typeface="Open Sans"/>
          <a:ea typeface="Open Sans"/>
          <a:cs typeface="Open Sans"/>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Open Sans" charset="0"/>
          <a:ea typeface="Open Sans" charset="0"/>
          <a:cs typeface="Open Sans" charset="0"/>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Open Sans" charset="0"/>
          <a:ea typeface="Open Sans" charset="0"/>
          <a:cs typeface="Open Sans"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Open Sans" charset="0"/>
          <a:ea typeface="Open Sans" charset="0"/>
          <a:cs typeface="Open Sans"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Open Sans" charset="0"/>
          <a:ea typeface="Open Sans" charset="0"/>
          <a:cs typeface="Open Sans"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61477C-8CE8-BAD2-E456-16D2AA8EA8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C459D508-B20C-AE1A-441B-0135F77713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AA80BDF-3353-BDBF-F9D0-E9A946819F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AFFB1-568C-4D86-A8AC-7B51F481FC51}" type="datetimeFigureOut">
              <a:rPr lang="en-GB" smtClean="0"/>
              <a:t>24/03/2025</a:t>
            </a:fld>
            <a:endParaRPr lang="en-GB"/>
          </a:p>
        </p:txBody>
      </p:sp>
      <p:sp>
        <p:nvSpPr>
          <p:cNvPr id="5" name="Footer Placeholder 4">
            <a:extLst>
              <a:ext uri="{FF2B5EF4-FFF2-40B4-BE49-F238E27FC236}">
                <a16:creationId xmlns:a16="http://schemas.microsoft.com/office/drawing/2014/main" id="{354927DE-CEE2-662F-DA81-3B117B834A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F6AA402-0FE7-8477-CF5E-B06C40C3CC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51D7E6-E18C-43B1-8598-AF87CD276E22}" type="slidenum">
              <a:rPr lang="en-GB" smtClean="0"/>
              <a:t>‹#›</a:t>
            </a:fld>
            <a:endParaRPr lang="en-GB"/>
          </a:p>
        </p:txBody>
      </p:sp>
    </p:spTree>
    <p:extLst>
      <p:ext uri="{BB962C8B-B14F-4D97-AF65-F5344CB8AC3E}">
        <p14:creationId xmlns:p14="http://schemas.microsoft.com/office/powerpoint/2010/main" val="240598964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hyperlink" Target="https://www.jlinks.co.uk/"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jp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 Id="rId9" Type="http://schemas.openxmlformats.org/officeDocument/2006/relationships/image" Target="../media/image14.jpg"/></Relationships>
</file>

<file path=ppt/slides/_rels/slide5.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27D0C392-E727-1B5B-8CB7-DD6DF498A4F1}"/>
              </a:ext>
            </a:extLst>
          </p:cNvPr>
          <p:cNvSpPr>
            <a:spLocks noGrp="1"/>
          </p:cNvSpPr>
          <p:nvPr>
            <p:ph type="ctrTitle"/>
          </p:nvPr>
        </p:nvSpPr>
        <p:spPr/>
        <p:txBody>
          <a:bodyPr/>
          <a:lstStyle/>
          <a:p>
            <a:r>
              <a:rPr lang="en-US" altLang="en-US" dirty="0">
                <a:latin typeface="Open Sans"/>
                <a:ea typeface="Open Sans"/>
                <a:cs typeface="Open Sans"/>
              </a:rPr>
              <a:t>Community Physiotherapy &amp; LTCs</a:t>
            </a:r>
          </a:p>
        </p:txBody>
      </p:sp>
      <p:sp>
        <p:nvSpPr>
          <p:cNvPr id="6146" name="Subtitle 2">
            <a:extLst>
              <a:ext uri="{FF2B5EF4-FFF2-40B4-BE49-F238E27FC236}">
                <a16:creationId xmlns:a16="http://schemas.microsoft.com/office/drawing/2014/main" id="{94BB33EE-D223-E5CA-E07F-424F2B4B1CED}"/>
              </a:ext>
            </a:extLst>
          </p:cNvPr>
          <p:cNvSpPr>
            <a:spLocks noGrp="1"/>
          </p:cNvSpPr>
          <p:nvPr>
            <p:ph type="subTitle" idx="1"/>
          </p:nvPr>
        </p:nvSpPr>
        <p:spPr>
          <a:xfrm>
            <a:off x="1524000" y="3700009"/>
            <a:ext cx="9144000" cy="1655762"/>
          </a:xfrm>
        </p:spPr>
        <p:txBody>
          <a:bodyPr/>
          <a:lstStyle/>
          <a:p>
            <a:r>
              <a:rPr lang="en-US" altLang="en-US" dirty="0">
                <a:latin typeface="Open Sans"/>
                <a:ea typeface="Open Sans"/>
                <a:cs typeface="Open Sans"/>
              </a:rPr>
              <a:t>London Metropolitan University</a:t>
            </a:r>
          </a:p>
          <a:p>
            <a:r>
              <a:rPr lang="en-US" altLang="en-US" dirty="0">
                <a:latin typeface="Open Sans"/>
                <a:ea typeface="Open Sans"/>
                <a:cs typeface="Open Sans"/>
              </a:rPr>
              <a:t>Nicole Nielsen</a:t>
            </a:r>
          </a:p>
          <a:p>
            <a:r>
              <a:rPr lang="en-US" altLang="en-US" dirty="0">
                <a:latin typeface="Open Sans"/>
                <a:ea typeface="Open Sans"/>
                <a:cs typeface="Open Sans"/>
              </a:rPr>
              <a:t>24/03/2025</a:t>
            </a:r>
          </a:p>
        </p:txBody>
      </p:sp>
      <p:pic>
        <p:nvPicPr>
          <p:cNvPr id="10242" name="Picture 2" descr="Community Physiotherapy - National 360">
            <a:extLst>
              <a:ext uri="{FF2B5EF4-FFF2-40B4-BE49-F238E27FC236}">
                <a16:creationId xmlns:a16="http://schemas.microsoft.com/office/drawing/2014/main" id="{BE08D655-D9CE-2DC2-6B6E-B38B49A93D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612571" cy="261257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51F34-0CB6-977E-09C9-16CE55940285}"/>
              </a:ext>
            </a:extLst>
          </p:cNvPr>
          <p:cNvSpPr>
            <a:spLocks noGrp="1"/>
          </p:cNvSpPr>
          <p:nvPr>
            <p:ph type="title"/>
          </p:nvPr>
        </p:nvSpPr>
        <p:spPr>
          <a:xfrm>
            <a:off x="838200" y="56923"/>
            <a:ext cx="10515600" cy="1325563"/>
          </a:xfrm>
        </p:spPr>
        <p:txBody>
          <a:bodyPr/>
          <a:lstStyle/>
          <a:p>
            <a:r>
              <a:rPr lang="en-GB" dirty="0"/>
              <a:t>What will today look like?</a:t>
            </a:r>
          </a:p>
        </p:txBody>
      </p:sp>
      <p:sp>
        <p:nvSpPr>
          <p:cNvPr id="3" name="Content Placeholder 2">
            <a:extLst>
              <a:ext uri="{FF2B5EF4-FFF2-40B4-BE49-F238E27FC236}">
                <a16:creationId xmlns:a16="http://schemas.microsoft.com/office/drawing/2014/main" id="{74C6F4D1-7DE4-7714-9E84-5D5D31A43A39}"/>
              </a:ext>
            </a:extLst>
          </p:cNvPr>
          <p:cNvSpPr>
            <a:spLocks noGrp="1"/>
          </p:cNvSpPr>
          <p:nvPr>
            <p:ph idx="1"/>
          </p:nvPr>
        </p:nvSpPr>
        <p:spPr>
          <a:xfrm>
            <a:off x="544286" y="1382487"/>
            <a:ext cx="6825343" cy="3621762"/>
          </a:xfrm>
        </p:spPr>
        <p:txBody>
          <a:bodyPr/>
          <a:lstStyle/>
          <a:p>
            <a:r>
              <a:rPr lang="en-GB" sz="2000" dirty="0"/>
              <a:t>14:00 – 14:15 Intro</a:t>
            </a:r>
          </a:p>
          <a:p>
            <a:r>
              <a:rPr lang="en-GB" sz="2000" dirty="0"/>
              <a:t>14:15 – 15:00 Theory</a:t>
            </a:r>
          </a:p>
          <a:p>
            <a:pPr marL="0" indent="0">
              <a:buNone/>
            </a:pPr>
            <a:endParaRPr lang="en-GB" sz="2000" dirty="0"/>
          </a:p>
          <a:p>
            <a:r>
              <a:rPr lang="en-GB" sz="2000" dirty="0"/>
              <a:t>15:00 – 15:15 Break</a:t>
            </a:r>
          </a:p>
          <a:p>
            <a:endParaRPr lang="en-GB" sz="2000" dirty="0"/>
          </a:p>
          <a:p>
            <a:r>
              <a:rPr lang="en-GB" sz="2000" dirty="0"/>
              <a:t>15:15 – 15:30 Case scenarios</a:t>
            </a:r>
          </a:p>
          <a:p>
            <a:r>
              <a:rPr lang="en-GB" sz="2000" dirty="0"/>
              <a:t>15:30 – 16:30 Practical (2x 30 mins break out groups, swap ½ way)</a:t>
            </a:r>
          </a:p>
          <a:p>
            <a:endParaRPr lang="en-GB" sz="2000" dirty="0"/>
          </a:p>
          <a:p>
            <a:r>
              <a:rPr lang="en-GB" sz="2000" dirty="0"/>
              <a:t>16:30 – 17:00 Final reflections &amp; feedback</a:t>
            </a:r>
          </a:p>
        </p:txBody>
      </p:sp>
      <p:pic>
        <p:nvPicPr>
          <p:cNvPr id="7" name="Content Placeholder 6" descr="A person and person lifting weights on a deck&#10;&#10;AI-generated content may be incorrect.">
            <a:extLst>
              <a:ext uri="{FF2B5EF4-FFF2-40B4-BE49-F238E27FC236}">
                <a16:creationId xmlns:a16="http://schemas.microsoft.com/office/drawing/2014/main" id="{ACBE5F43-D29E-1660-DBFA-3A0578B76387}"/>
              </a:ext>
            </a:extLst>
          </p:cNvPr>
          <p:cNvPicPr>
            <a:picLocks noChangeAspect="1"/>
          </p:cNvPicPr>
          <p:nvPr/>
        </p:nvPicPr>
        <p:blipFill>
          <a:blip r:embed="rId2"/>
          <a:stretch>
            <a:fillRect/>
          </a:stretch>
        </p:blipFill>
        <p:spPr bwMode="auto">
          <a:xfrm>
            <a:off x="7369629" y="1687287"/>
            <a:ext cx="4518243" cy="301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85971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ED5AA-709C-C7B5-D438-439B862273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F6914B-91FC-3080-C9C4-68447B94765F}"/>
              </a:ext>
            </a:extLst>
          </p:cNvPr>
          <p:cNvSpPr>
            <a:spLocks noGrp="1"/>
          </p:cNvSpPr>
          <p:nvPr>
            <p:ph type="title"/>
          </p:nvPr>
        </p:nvSpPr>
        <p:spPr>
          <a:xfrm>
            <a:off x="674914" y="18255"/>
            <a:ext cx="10515600" cy="1325563"/>
          </a:xfrm>
        </p:spPr>
        <p:txBody>
          <a:bodyPr/>
          <a:lstStyle/>
          <a:p>
            <a:r>
              <a:rPr lang="en-GB" dirty="0"/>
              <a:t>Intro – Who are we?</a:t>
            </a:r>
          </a:p>
        </p:txBody>
      </p:sp>
      <p:pic>
        <p:nvPicPr>
          <p:cNvPr id="5" name="Content Placeholder 4" descr="A screenshot of a web page&#10;&#10;AI-generated content may be incorrect.">
            <a:extLst>
              <a:ext uri="{FF2B5EF4-FFF2-40B4-BE49-F238E27FC236}">
                <a16:creationId xmlns:a16="http://schemas.microsoft.com/office/drawing/2014/main" id="{2C0B05F2-C58A-199D-56B6-6BCBDDE09540}"/>
              </a:ext>
            </a:extLst>
          </p:cNvPr>
          <p:cNvPicPr>
            <a:picLocks noGrp="1" noChangeAspect="1"/>
          </p:cNvPicPr>
          <p:nvPr>
            <p:ph idx="1"/>
          </p:nvPr>
        </p:nvPicPr>
        <p:blipFill>
          <a:blip r:embed="rId2"/>
          <a:stretch>
            <a:fillRect/>
          </a:stretch>
        </p:blipFill>
        <p:spPr>
          <a:xfrm>
            <a:off x="0" y="909013"/>
            <a:ext cx="10154914" cy="5039974"/>
          </a:xfrm>
        </p:spPr>
      </p:pic>
      <p:pic>
        <p:nvPicPr>
          <p:cNvPr id="3" name="Picture 2" descr="A person and person holding hands&#10;&#10;AI-generated content may be incorrect.">
            <a:extLst>
              <a:ext uri="{FF2B5EF4-FFF2-40B4-BE49-F238E27FC236}">
                <a16:creationId xmlns:a16="http://schemas.microsoft.com/office/drawing/2014/main" id="{A0971CE1-71D6-50AF-7401-3B3F4A83F8BC}"/>
              </a:ext>
            </a:extLst>
          </p:cNvPr>
          <p:cNvPicPr>
            <a:picLocks noChangeAspect="1"/>
          </p:cNvPicPr>
          <p:nvPr/>
        </p:nvPicPr>
        <p:blipFill>
          <a:blip r:embed="rId3"/>
          <a:stretch>
            <a:fillRect/>
          </a:stretch>
        </p:blipFill>
        <p:spPr>
          <a:xfrm>
            <a:off x="8240486" y="1244375"/>
            <a:ext cx="3951513" cy="2634342"/>
          </a:xfrm>
          <a:prstGeom prst="rect">
            <a:avLst/>
          </a:prstGeom>
        </p:spPr>
      </p:pic>
      <p:sp>
        <p:nvSpPr>
          <p:cNvPr id="6" name="TextBox 5">
            <a:extLst>
              <a:ext uri="{FF2B5EF4-FFF2-40B4-BE49-F238E27FC236}">
                <a16:creationId xmlns:a16="http://schemas.microsoft.com/office/drawing/2014/main" id="{76C66ADF-1DF6-307A-7E9A-0BB27075FA79}"/>
              </a:ext>
            </a:extLst>
          </p:cNvPr>
          <p:cNvSpPr txBox="1"/>
          <p:nvPr/>
        </p:nvSpPr>
        <p:spPr>
          <a:xfrm>
            <a:off x="52973" y="2049910"/>
            <a:ext cx="6150428" cy="369332"/>
          </a:xfrm>
          <a:prstGeom prst="rect">
            <a:avLst/>
          </a:prstGeom>
          <a:noFill/>
        </p:spPr>
        <p:txBody>
          <a:bodyPr wrap="square">
            <a:spAutoFit/>
          </a:bodyPr>
          <a:lstStyle/>
          <a:p>
            <a:r>
              <a:rPr lang="en-GB" dirty="0">
                <a:hlinkClick r:id="rId4"/>
              </a:rPr>
              <a:t>Home Visit Physiotherapy | London And Kent | </a:t>
            </a:r>
            <a:r>
              <a:rPr lang="en-GB" dirty="0" err="1">
                <a:hlinkClick r:id="rId4"/>
              </a:rPr>
              <a:t>JLinks</a:t>
            </a:r>
            <a:endParaRPr lang="en-GB" dirty="0"/>
          </a:p>
        </p:txBody>
      </p:sp>
    </p:spTree>
    <p:extLst>
      <p:ext uri="{BB962C8B-B14F-4D97-AF65-F5344CB8AC3E}">
        <p14:creationId xmlns:p14="http://schemas.microsoft.com/office/powerpoint/2010/main" val="3786738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CDC2A-7FA6-8072-9503-E1D7661C2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14582F-8557-00B4-FEC8-E3FC83A59860}"/>
              </a:ext>
            </a:extLst>
          </p:cNvPr>
          <p:cNvSpPr>
            <a:spLocks noGrp="1"/>
          </p:cNvSpPr>
          <p:nvPr>
            <p:ph type="title"/>
          </p:nvPr>
        </p:nvSpPr>
        <p:spPr>
          <a:xfrm>
            <a:off x="674914" y="18255"/>
            <a:ext cx="10515600" cy="1325563"/>
          </a:xfrm>
        </p:spPr>
        <p:txBody>
          <a:bodyPr/>
          <a:lstStyle/>
          <a:p>
            <a:r>
              <a:rPr lang="en-GB" dirty="0"/>
              <a:t>Intro – Who am I?</a:t>
            </a:r>
          </a:p>
        </p:txBody>
      </p:sp>
      <p:pic>
        <p:nvPicPr>
          <p:cNvPr id="6" name="Content Placeholder 5" descr="A person smiling at the camera&#10;&#10;AI-generated content may be incorrect.">
            <a:extLst>
              <a:ext uri="{FF2B5EF4-FFF2-40B4-BE49-F238E27FC236}">
                <a16:creationId xmlns:a16="http://schemas.microsoft.com/office/drawing/2014/main" id="{AA88623F-3413-41F5-DDBA-0624DEE886F8}"/>
              </a:ext>
            </a:extLst>
          </p:cNvPr>
          <p:cNvPicPr>
            <a:picLocks noGrp="1" noChangeAspect="1"/>
          </p:cNvPicPr>
          <p:nvPr>
            <p:ph idx="1"/>
          </p:nvPr>
        </p:nvPicPr>
        <p:blipFill>
          <a:blip r:embed="rId2"/>
          <a:stretch>
            <a:fillRect/>
          </a:stretch>
        </p:blipFill>
        <p:spPr>
          <a:xfrm>
            <a:off x="0" y="1133002"/>
            <a:ext cx="2604237" cy="3320143"/>
          </a:xfrm>
        </p:spPr>
      </p:pic>
      <p:sp>
        <p:nvSpPr>
          <p:cNvPr id="7" name="TextBox 6">
            <a:extLst>
              <a:ext uri="{FF2B5EF4-FFF2-40B4-BE49-F238E27FC236}">
                <a16:creationId xmlns:a16="http://schemas.microsoft.com/office/drawing/2014/main" id="{BFEDE130-9719-5503-5693-A26F4E5874B1}"/>
              </a:ext>
            </a:extLst>
          </p:cNvPr>
          <p:cNvSpPr txBox="1"/>
          <p:nvPr/>
        </p:nvSpPr>
        <p:spPr>
          <a:xfrm>
            <a:off x="2286000" y="1315746"/>
            <a:ext cx="2775858" cy="1754326"/>
          </a:xfrm>
          <a:prstGeom prst="rect">
            <a:avLst/>
          </a:prstGeom>
          <a:noFill/>
        </p:spPr>
        <p:txBody>
          <a:bodyPr wrap="square" rtlCol="0">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Nicole Nielsen</a:t>
            </a:r>
          </a:p>
          <a:p>
            <a:r>
              <a:rPr lang="en-GB" dirty="0">
                <a:latin typeface="Open Sans" panose="020B0606030504020204" pitchFamily="34" charset="0"/>
                <a:ea typeface="Open Sans" panose="020B0606030504020204" pitchFamily="34" charset="0"/>
                <a:cs typeface="Open Sans" panose="020B0606030504020204" pitchFamily="34" charset="0"/>
              </a:rPr>
              <a:t>Clinical Specialist Physiotherapist &amp; Operations Manager</a:t>
            </a:r>
          </a:p>
          <a:p>
            <a:endParaRPr lang="en-GB" dirty="0">
              <a:latin typeface="Open Sans" panose="020B0606030504020204" pitchFamily="34" charset="0"/>
              <a:ea typeface="Open Sans" panose="020B0606030504020204" pitchFamily="34" charset="0"/>
              <a:cs typeface="Open Sans" panose="020B0606030504020204" pitchFamily="34" charset="0"/>
            </a:endParaRPr>
          </a:p>
          <a:p>
            <a:r>
              <a:rPr lang="en-GB" dirty="0">
                <a:latin typeface="Open Sans" panose="020B0606030504020204" pitchFamily="34" charset="0"/>
                <a:ea typeface="Open Sans" panose="020B0606030504020204" pitchFamily="34" charset="0"/>
                <a:cs typeface="Open Sans" panose="020B0606030504020204" pitchFamily="34" charset="0"/>
              </a:rPr>
              <a:t>Nicole@jlinks.co.uk</a:t>
            </a:r>
          </a:p>
        </p:txBody>
      </p:sp>
      <p:pic>
        <p:nvPicPr>
          <p:cNvPr id="9" name="Picture 8" descr="A beach with a cliff and a body of water&#10;&#10;AI-generated content may be incorrect.">
            <a:extLst>
              <a:ext uri="{FF2B5EF4-FFF2-40B4-BE49-F238E27FC236}">
                <a16:creationId xmlns:a16="http://schemas.microsoft.com/office/drawing/2014/main" id="{A0425164-8180-8663-7162-1DAB356E9DA8}"/>
              </a:ext>
            </a:extLst>
          </p:cNvPr>
          <p:cNvPicPr>
            <a:picLocks noChangeAspect="1"/>
          </p:cNvPicPr>
          <p:nvPr/>
        </p:nvPicPr>
        <p:blipFill>
          <a:blip r:embed="rId3"/>
          <a:stretch>
            <a:fillRect/>
          </a:stretch>
        </p:blipFill>
        <p:spPr>
          <a:xfrm>
            <a:off x="5429521" y="54160"/>
            <a:ext cx="3864697" cy="3864697"/>
          </a:xfrm>
          <a:prstGeom prst="rect">
            <a:avLst/>
          </a:prstGeom>
        </p:spPr>
      </p:pic>
      <p:sp>
        <p:nvSpPr>
          <p:cNvPr id="11" name="TextBox 10">
            <a:extLst>
              <a:ext uri="{FF2B5EF4-FFF2-40B4-BE49-F238E27FC236}">
                <a16:creationId xmlns:a16="http://schemas.microsoft.com/office/drawing/2014/main" id="{52011B4A-C0B1-B8AA-ADA0-43B3BC3549FC}"/>
              </a:ext>
            </a:extLst>
          </p:cNvPr>
          <p:cNvSpPr txBox="1"/>
          <p:nvPr/>
        </p:nvSpPr>
        <p:spPr>
          <a:xfrm>
            <a:off x="5706836" y="99360"/>
            <a:ext cx="2903764" cy="923330"/>
          </a:xfrm>
          <a:prstGeom prst="rect">
            <a:avLst/>
          </a:prstGeom>
          <a:noFill/>
        </p:spPr>
        <p:txBody>
          <a:bodyPr wrap="square" rtlCol="0">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University of Brighton 2006 - 2009</a:t>
            </a:r>
          </a:p>
          <a:p>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14" name="Picture 13" descr="A blue sign on a building&#10;&#10;AI-generated content may be incorrect.">
            <a:extLst>
              <a:ext uri="{FF2B5EF4-FFF2-40B4-BE49-F238E27FC236}">
                <a16:creationId xmlns:a16="http://schemas.microsoft.com/office/drawing/2014/main" id="{AE983667-2F65-ABD7-9BB3-75F1910E6787}"/>
              </a:ext>
            </a:extLst>
          </p:cNvPr>
          <p:cNvPicPr>
            <a:picLocks noChangeAspect="1"/>
          </p:cNvPicPr>
          <p:nvPr/>
        </p:nvPicPr>
        <p:blipFill>
          <a:blip r:embed="rId4"/>
          <a:stretch>
            <a:fillRect/>
          </a:stretch>
        </p:blipFill>
        <p:spPr>
          <a:xfrm>
            <a:off x="0" y="5225143"/>
            <a:ext cx="3653518" cy="1632857"/>
          </a:xfrm>
          <a:prstGeom prst="rect">
            <a:avLst/>
          </a:prstGeom>
        </p:spPr>
      </p:pic>
      <p:sp>
        <p:nvSpPr>
          <p:cNvPr id="15" name="TextBox 14">
            <a:extLst>
              <a:ext uri="{FF2B5EF4-FFF2-40B4-BE49-F238E27FC236}">
                <a16:creationId xmlns:a16="http://schemas.microsoft.com/office/drawing/2014/main" id="{C34831F6-2FB2-47CA-9868-B74CD7C1A1AC}"/>
              </a:ext>
            </a:extLst>
          </p:cNvPr>
          <p:cNvSpPr txBox="1"/>
          <p:nvPr/>
        </p:nvSpPr>
        <p:spPr>
          <a:xfrm flipH="1">
            <a:off x="0" y="5895959"/>
            <a:ext cx="1110343" cy="1200329"/>
          </a:xfrm>
          <a:prstGeom prst="rect">
            <a:avLst/>
          </a:prstGeom>
          <a:noFill/>
        </p:spPr>
        <p:txBody>
          <a:bodyPr wrap="square" rtlCol="0">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B5 – B7</a:t>
            </a:r>
          </a:p>
          <a:p>
            <a:r>
              <a:rPr lang="en-GB" dirty="0">
                <a:latin typeface="Open Sans" panose="020B0606030504020204" pitchFamily="34" charset="0"/>
                <a:ea typeface="Open Sans" panose="020B0606030504020204" pitchFamily="34" charset="0"/>
                <a:cs typeface="Open Sans" panose="020B0606030504020204" pitchFamily="34" charset="0"/>
              </a:rPr>
              <a:t>2009 - 2023</a:t>
            </a:r>
          </a:p>
          <a:p>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18" name="Picture 17" descr="A group of people sitting on a deck&#10;&#10;AI-generated content may be incorrect.">
            <a:extLst>
              <a:ext uri="{FF2B5EF4-FFF2-40B4-BE49-F238E27FC236}">
                <a16:creationId xmlns:a16="http://schemas.microsoft.com/office/drawing/2014/main" id="{B0B35394-AE92-C832-76F6-D7FCDDD5A8A0}"/>
              </a:ext>
            </a:extLst>
          </p:cNvPr>
          <p:cNvPicPr>
            <a:picLocks noChangeAspect="1"/>
          </p:cNvPicPr>
          <p:nvPr/>
        </p:nvPicPr>
        <p:blipFill>
          <a:blip r:embed="rId5"/>
          <a:stretch>
            <a:fillRect/>
          </a:stretch>
        </p:blipFill>
        <p:spPr>
          <a:xfrm>
            <a:off x="5630636" y="3918857"/>
            <a:ext cx="4452256" cy="2968171"/>
          </a:xfrm>
          <a:prstGeom prst="rect">
            <a:avLst/>
          </a:prstGeom>
        </p:spPr>
      </p:pic>
      <p:pic>
        <p:nvPicPr>
          <p:cNvPr id="20" name="Picture 19" descr="A person doing yoga on a tile floor&#10;&#10;AI-generated content may be incorrect.">
            <a:extLst>
              <a:ext uri="{FF2B5EF4-FFF2-40B4-BE49-F238E27FC236}">
                <a16:creationId xmlns:a16="http://schemas.microsoft.com/office/drawing/2014/main" id="{77B34AD3-875B-6146-4706-C0433E5D8AD0}"/>
              </a:ext>
            </a:extLst>
          </p:cNvPr>
          <p:cNvPicPr>
            <a:picLocks noChangeAspect="1"/>
          </p:cNvPicPr>
          <p:nvPr/>
        </p:nvPicPr>
        <p:blipFill>
          <a:blip r:embed="rId6"/>
          <a:stretch>
            <a:fillRect/>
          </a:stretch>
        </p:blipFill>
        <p:spPr>
          <a:xfrm>
            <a:off x="9965871" y="3918856"/>
            <a:ext cx="2226128" cy="2968171"/>
          </a:xfrm>
          <a:prstGeom prst="rect">
            <a:avLst/>
          </a:prstGeom>
        </p:spPr>
      </p:pic>
      <p:sp>
        <p:nvSpPr>
          <p:cNvPr id="21" name="TextBox 20">
            <a:extLst>
              <a:ext uri="{FF2B5EF4-FFF2-40B4-BE49-F238E27FC236}">
                <a16:creationId xmlns:a16="http://schemas.microsoft.com/office/drawing/2014/main" id="{DF1DE8FC-1372-9270-D3B8-EC4626BF7AEC}"/>
              </a:ext>
            </a:extLst>
          </p:cNvPr>
          <p:cNvSpPr txBox="1"/>
          <p:nvPr/>
        </p:nvSpPr>
        <p:spPr>
          <a:xfrm>
            <a:off x="6934200" y="4155374"/>
            <a:ext cx="2051518" cy="923330"/>
          </a:xfrm>
          <a:prstGeom prst="rect">
            <a:avLst/>
          </a:prstGeom>
          <a:noFill/>
        </p:spPr>
        <p:txBody>
          <a:bodyPr wrap="square" rtlCol="0">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YTT Goa, India</a:t>
            </a:r>
          </a:p>
          <a:p>
            <a:r>
              <a:rPr lang="en-GB" dirty="0">
                <a:latin typeface="Open Sans" panose="020B0606030504020204" pitchFamily="34" charset="0"/>
                <a:ea typeface="Open Sans" panose="020B0606030504020204" pitchFamily="34" charset="0"/>
                <a:cs typeface="Open Sans" panose="020B0606030504020204" pitchFamily="34" charset="0"/>
              </a:rPr>
              <a:t>2023</a:t>
            </a:r>
          </a:p>
          <a:p>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23" name="Picture 22" descr="A person in a white coat&#10;&#10;AI-generated content may be incorrect.">
            <a:extLst>
              <a:ext uri="{FF2B5EF4-FFF2-40B4-BE49-F238E27FC236}">
                <a16:creationId xmlns:a16="http://schemas.microsoft.com/office/drawing/2014/main" id="{A15DC87B-0FDC-EA3A-254A-AA16A8D62848}"/>
              </a:ext>
            </a:extLst>
          </p:cNvPr>
          <p:cNvPicPr>
            <a:picLocks noChangeAspect="1"/>
          </p:cNvPicPr>
          <p:nvPr/>
        </p:nvPicPr>
        <p:blipFill>
          <a:blip r:embed="rId7"/>
          <a:stretch>
            <a:fillRect/>
          </a:stretch>
        </p:blipFill>
        <p:spPr>
          <a:xfrm>
            <a:off x="3227515" y="5542254"/>
            <a:ext cx="2430236" cy="1367007"/>
          </a:xfrm>
          <a:prstGeom prst="rect">
            <a:avLst/>
          </a:prstGeom>
        </p:spPr>
      </p:pic>
      <p:pic>
        <p:nvPicPr>
          <p:cNvPr id="25" name="Picture 24" descr="X-ray of a hip bone&#10;&#10;AI-generated content may be incorrect.">
            <a:extLst>
              <a:ext uri="{FF2B5EF4-FFF2-40B4-BE49-F238E27FC236}">
                <a16:creationId xmlns:a16="http://schemas.microsoft.com/office/drawing/2014/main" id="{A4197D5C-56EE-DF30-D561-131360FB0147}"/>
              </a:ext>
            </a:extLst>
          </p:cNvPr>
          <p:cNvPicPr>
            <a:picLocks noChangeAspect="1"/>
          </p:cNvPicPr>
          <p:nvPr/>
        </p:nvPicPr>
        <p:blipFill>
          <a:blip r:embed="rId8"/>
          <a:stretch>
            <a:fillRect/>
          </a:stretch>
        </p:blipFill>
        <p:spPr>
          <a:xfrm>
            <a:off x="2628950" y="3691682"/>
            <a:ext cx="2775858" cy="1850572"/>
          </a:xfrm>
          <a:prstGeom prst="rect">
            <a:avLst/>
          </a:prstGeom>
        </p:spPr>
      </p:pic>
      <p:pic>
        <p:nvPicPr>
          <p:cNvPr id="27" name="Picture 26" descr="A close-up of a fitness logo&#10;&#10;AI-generated content may be incorrect.">
            <a:extLst>
              <a:ext uri="{FF2B5EF4-FFF2-40B4-BE49-F238E27FC236}">
                <a16:creationId xmlns:a16="http://schemas.microsoft.com/office/drawing/2014/main" id="{8C07459B-F064-ACF5-785E-F0CACD492BBB}"/>
              </a:ext>
            </a:extLst>
          </p:cNvPr>
          <p:cNvPicPr>
            <a:picLocks noChangeAspect="1"/>
          </p:cNvPicPr>
          <p:nvPr/>
        </p:nvPicPr>
        <p:blipFill>
          <a:blip r:embed="rId9"/>
          <a:stretch>
            <a:fillRect/>
          </a:stretch>
        </p:blipFill>
        <p:spPr>
          <a:xfrm>
            <a:off x="8934631" y="1805670"/>
            <a:ext cx="3257368" cy="2124370"/>
          </a:xfrm>
          <a:prstGeom prst="rect">
            <a:avLst/>
          </a:prstGeom>
        </p:spPr>
      </p:pic>
      <p:sp>
        <p:nvSpPr>
          <p:cNvPr id="28" name="TextBox 27">
            <a:extLst>
              <a:ext uri="{FF2B5EF4-FFF2-40B4-BE49-F238E27FC236}">
                <a16:creationId xmlns:a16="http://schemas.microsoft.com/office/drawing/2014/main" id="{B4A08B49-8909-36C2-4A81-9110C924D4FE}"/>
              </a:ext>
            </a:extLst>
          </p:cNvPr>
          <p:cNvSpPr txBox="1"/>
          <p:nvPr/>
        </p:nvSpPr>
        <p:spPr>
          <a:xfrm>
            <a:off x="10053176" y="2192909"/>
            <a:ext cx="2051518" cy="646331"/>
          </a:xfrm>
          <a:prstGeom prst="rect">
            <a:avLst/>
          </a:prstGeom>
          <a:noFill/>
        </p:spPr>
        <p:txBody>
          <a:bodyPr wrap="square" rtlCol="0">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2020</a:t>
            </a:r>
          </a:p>
          <a:p>
            <a:endParaRPr lang="en-GB"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98438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25140-2FBE-A504-64F2-A9090C6EB0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D62B55-E0FC-D182-5882-E979F09C8DE4}"/>
              </a:ext>
            </a:extLst>
          </p:cNvPr>
          <p:cNvSpPr>
            <a:spLocks noGrp="1"/>
          </p:cNvSpPr>
          <p:nvPr>
            <p:ph type="title"/>
          </p:nvPr>
        </p:nvSpPr>
        <p:spPr>
          <a:xfrm>
            <a:off x="838200" y="16782"/>
            <a:ext cx="10515600" cy="1325563"/>
          </a:xfrm>
        </p:spPr>
        <p:txBody>
          <a:bodyPr/>
          <a:lstStyle/>
          <a:p>
            <a:r>
              <a:rPr lang="en-GB" dirty="0"/>
              <a:t>Learning Objectives</a:t>
            </a:r>
          </a:p>
        </p:txBody>
      </p:sp>
      <p:sp>
        <p:nvSpPr>
          <p:cNvPr id="3" name="Content Placeholder 2">
            <a:extLst>
              <a:ext uri="{FF2B5EF4-FFF2-40B4-BE49-F238E27FC236}">
                <a16:creationId xmlns:a16="http://schemas.microsoft.com/office/drawing/2014/main" id="{F96ABFEA-5E9F-1667-0C9D-40560FBA40A1}"/>
              </a:ext>
            </a:extLst>
          </p:cNvPr>
          <p:cNvSpPr>
            <a:spLocks noGrp="1"/>
          </p:cNvSpPr>
          <p:nvPr>
            <p:ph idx="1"/>
          </p:nvPr>
        </p:nvSpPr>
        <p:spPr>
          <a:xfrm>
            <a:off x="3363686" y="1055913"/>
            <a:ext cx="8479973" cy="4016830"/>
          </a:xfrm>
        </p:spPr>
        <p:txBody>
          <a:bodyPr/>
          <a:lstStyle/>
          <a:p>
            <a:pPr algn="l" rtl="0" fontAlgn="base">
              <a:lnSpc>
                <a:spcPct val="100000"/>
              </a:lnSpc>
              <a:buFont typeface="+mj-lt"/>
              <a:buAutoNum type="arabicPeriod"/>
            </a:pPr>
            <a:r>
              <a:rPr lang="en-GB" sz="1900" i="0" dirty="0">
                <a:solidFill>
                  <a:srgbClr val="000000"/>
                </a:solidFill>
                <a:effectLst/>
                <a:latin typeface="Open Sans" panose="020B0606030504020204" pitchFamily="34" charset="0"/>
              </a:rPr>
              <a:t>To have an understanding of what community physiotherapy is &amp; why it’s important in current health strategies</a:t>
            </a:r>
          </a:p>
          <a:p>
            <a:pPr algn="l" rtl="0" fontAlgn="base">
              <a:lnSpc>
                <a:spcPct val="100000"/>
              </a:lnSpc>
              <a:buFont typeface="+mj-lt"/>
              <a:buAutoNum type="arabicPeriod"/>
            </a:pPr>
            <a:endParaRPr lang="en-GB" sz="1900" dirty="0">
              <a:solidFill>
                <a:srgbClr val="000000"/>
              </a:solidFill>
              <a:latin typeface="Open Sans" panose="020B0606030504020204" pitchFamily="34" charset="0"/>
            </a:endParaRPr>
          </a:p>
          <a:p>
            <a:pPr algn="l" rtl="0" fontAlgn="base">
              <a:lnSpc>
                <a:spcPct val="100000"/>
              </a:lnSpc>
              <a:buFont typeface="+mj-lt"/>
              <a:buAutoNum type="arabicPeriod"/>
            </a:pPr>
            <a:r>
              <a:rPr lang="en-GB" sz="1900" dirty="0">
                <a:solidFill>
                  <a:srgbClr val="000000"/>
                </a:solidFill>
                <a:latin typeface="Open Sans" panose="020B0606030504020204" pitchFamily="34" charset="0"/>
              </a:rPr>
              <a:t>To understand what a LTC is &amp; the role of the community physiotherapist in this patient group</a:t>
            </a:r>
          </a:p>
          <a:p>
            <a:pPr algn="l" rtl="0" fontAlgn="base">
              <a:lnSpc>
                <a:spcPct val="100000"/>
              </a:lnSpc>
              <a:buFont typeface="+mj-lt"/>
              <a:buAutoNum type="arabicPeriod"/>
            </a:pPr>
            <a:endParaRPr lang="en-GB" sz="1900" i="0" dirty="0">
              <a:solidFill>
                <a:srgbClr val="000000"/>
              </a:solidFill>
              <a:effectLst/>
              <a:latin typeface="Open Sans" panose="020B0606030504020204" pitchFamily="34" charset="0"/>
            </a:endParaRPr>
          </a:p>
          <a:p>
            <a:pPr algn="l" rtl="0" fontAlgn="base">
              <a:lnSpc>
                <a:spcPct val="100000"/>
              </a:lnSpc>
              <a:buFont typeface="+mj-lt"/>
              <a:buAutoNum type="arabicPeriod"/>
            </a:pPr>
            <a:r>
              <a:rPr lang="en-GB" sz="1900" i="0" dirty="0">
                <a:solidFill>
                  <a:srgbClr val="000000"/>
                </a:solidFill>
                <a:effectLst/>
                <a:latin typeface="Open Sans" panose="020B0606030504020204" pitchFamily="34" charset="0"/>
              </a:rPr>
              <a:t>To understand what a community physiotherapy assessment </a:t>
            </a:r>
            <a:r>
              <a:rPr lang="en-GB" sz="1900" dirty="0">
                <a:solidFill>
                  <a:srgbClr val="000000"/>
                </a:solidFill>
                <a:latin typeface="Open Sans" panose="020B0606030504020204" pitchFamily="34" charset="0"/>
              </a:rPr>
              <a:t>(subjective &amp; objective) </a:t>
            </a:r>
            <a:r>
              <a:rPr lang="en-GB" sz="1900" i="0" dirty="0">
                <a:solidFill>
                  <a:srgbClr val="000000"/>
                </a:solidFill>
                <a:effectLst/>
                <a:latin typeface="Open Sans" panose="020B0606030504020204" pitchFamily="34" charset="0"/>
              </a:rPr>
              <a:t>might include, adapting skills from the hospital/clinic setting</a:t>
            </a:r>
          </a:p>
          <a:p>
            <a:pPr algn="l" rtl="0" fontAlgn="base">
              <a:lnSpc>
                <a:spcPct val="100000"/>
              </a:lnSpc>
              <a:buFont typeface="+mj-lt"/>
              <a:buAutoNum type="arabicPeriod"/>
            </a:pPr>
            <a:endParaRPr lang="en-GB" sz="1900" dirty="0">
              <a:solidFill>
                <a:srgbClr val="000000"/>
              </a:solidFill>
              <a:latin typeface="Open Sans" panose="020B0606030504020204" pitchFamily="34" charset="0"/>
            </a:endParaRPr>
          </a:p>
          <a:p>
            <a:pPr algn="l" rtl="0" fontAlgn="base">
              <a:lnSpc>
                <a:spcPct val="100000"/>
              </a:lnSpc>
              <a:buFont typeface="+mj-lt"/>
              <a:buAutoNum type="arabicPeriod"/>
            </a:pPr>
            <a:r>
              <a:rPr lang="en-GB" sz="1900" dirty="0">
                <a:solidFill>
                  <a:srgbClr val="000000"/>
                </a:solidFill>
                <a:latin typeface="Open Sans" panose="020B0606030504020204" pitchFamily="34" charset="0"/>
              </a:rPr>
              <a:t>To consider a problem list for a LTC patient in the community, recognising priorities &amp; have awareness of how to manage this, including awareness of the MDT</a:t>
            </a:r>
            <a:endParaRPr lang="en-GB" sz="1900" i="0" dirty="0">
              <a:solidFill>
                <a:srgbClr val="000000"/>
              </a:solidFill>
              <a:effectLst/>
              <a:latin typeface="Open Sans" panose="020B0606030504020204" pitchFamily="34" charset="0"/>
            </a:endParaRPr>
          </a:p>
        </p:txBody>
      </p:sp>
      <p:pic>
        <p:nvPicPr>
          <p:cNvPr id="4" name="Content Placeholder 6" descr="A group of people sitting on chairs&#10;&#10;AI-generated content may be incorrect.">
            <a:extLst>
              <a:ext uri="{FF2B5EF4-FFF2-40B4-BE49-F238E27FC236}">
                <a16:creationId xmlns:a16="http://schemas.microsoft.com/office/drawing/2014/main" id="{3F890085-0C63-ED44-DC6E-0122818B22CB}"/>
              </a:ext>
            </a:extLst>
          </p:cNvPr>
          <p:cNvPicPr>
            <a:picLocks noChangeAspect="1"/>
          </p:cNvPicPr>
          <p:nvPr/>
        </p:nvPicPr>
        <p:blipFill>
          <a:blip r:embed="rId2"/>
          <a:stretch>
            <a:fillRect/>
          </a:stretch>
        </p:blipFill>
        <p:spPr bwMode="auto">
          <a:xfrm>
            <a:off x="0" y="1099457"/>
            <a:ext cx="3106058" cy="46590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62386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0661F-7F1D-E393-D6F9-D514CA7F8CFA}"/>
              </a:ext>
            </a:extLst>
          </p:cNvPr>
          <p:cNvSpPr>
            <a:spLocks noGrp="1"/>
          </p:cNvSpPr>
          <p:nvPr>
            <p:ph type="title"/>
          </p:nvPr>
        </p:nvSpPr>
        <p:spPr>
          <a:xfrm>
            <a:off x="838200" y="61118"/>
            <a:ext cx="10515600" cy="1325563"/>
          </a:xfrm>
        </p:spPr>
        <p:txBody>
          <a:bodyPr/>
          <a:lstStyle/>
          <a:p>
            <a:r>
              <a:rPr lang="en-GB" dirty="0"/>
              <a:t>Community Physiotherapy</a:t>
            </a:r>
          </a:p>
        </p:txBody>
      </p:sp>
      <p:pic>
        <p:nvPicPr>
          <p:cNvPr id="7" name="Content Placeholder 6" descr="A blue dumbbell on a wooden floor next to a blue ball&#10;&#10;AI-generated content may be incorrect.">
            <a:extLst>
              <a:ext uri="{FF2B5EF4-FFF2-40B4-BE49-F238E27FC236}">
                <a16:creationId xmlns:a16="http://schemas.microsoft.com/office/drawing/2014/main" id="{3663E5AD-267F-9A42-7CB9-CC0E39CBABC9}"/>
              </a:ext>
            </a:extLst>
          </p:cNvPr>
          <p:cNvPicPr>
            <a:picLocks noGrp="1" noChangeAspect="1"/>
          </p:cNvPicPr>
          <p:nvPr>
            <p:ph idx="1"/>
          </p:nvPr>
        </p:nvPicPr>
        <p:blipFill>
          <a:blip r:embed="rId2"/>
          <a:stretch>
            <a:fillRect/>
          </a:stretch>
        </p:blipFill>
        <p:spPr>
          <a:xfrm>
            <a:off x="0" y="1693068"/>
            <a:ext cx="5207794" cy="3471863"/>
          </a:xfrm>
        </p:spPr>
      </p:pic>
      <p:sp>
        <p:nvSpPr>
          <p:cNvPr id="4" name="Rectangle 2">
            <a:extLst>
              <a:ext uri="{FF2B5EF4-FFF2-40B4-BE49-F238E27FC236}">
                <a16:creationId xmlns:a16="http://schemas.microsoft.com/office/drawing/2014/main" id="{B6E2D630-F2C6-8449-D8A0-A87528D74ED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7E79640A-5940-AD8E-1FC9-3AA0D832E88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TextBox 7">
            <a:extLst>
              <a:ext uri="{FF2B5EF4-FFF2-40B4-BE49-F238E27FC236}">
                <a16:creationId xmlns:a16="http://schemas.microsoft.com/office/drawing/2014/main" id="{3DF145AD-449D-7AAA-95EE-84BEE4AD4807}"/>
              </a:ext>
            </a:extLst>
          </p:cNvPr>
          <p:cNvSpPr txBox="1"/>
          <p:nvPr/>
        </p:nvSpPr>
        <p:spPr>
          <a:xfrm>
            <a:off x="5769428" y="1693068"/>
            <a:ext cx="6104748" cy="3139321"/>
          </a:xfrm>
          <a:prstGeom prst="rect">
            <a:avLst/>
          </a:prstGeom>
          <a:noFill/>
        </p:spPr>
        <p:txBody>
          <a:bodyPr wrap="none" rtlCol="0">
            <a:spAutoFit/>
          </a:bodyPr>
          <a:lstStyle/>
          <a:p>
            <a:r>
              <a:rPr lang="en-GB" dirty="0">
                <a:latin typeface="Open Sans" panose="020B0606030504020204" pitchFamily="34" charset="0"/>
                <a:ea typeface="Open Sans" panose="020B0606030504020204" pitchFamily="34" charset="0"/>
                <a:cs typeface="Open Sans" panose="020B0606030504020204" pitchFamily="34" charset="0"/>
              </a:rPr>
              <a:t>What is it?</a:t>
            </a:r>
          </a:p>
          <a:p>
            <a:endParaRPr lang="en-GB" dirty="0">
              <a:latin typeface="Open Sans" panose="020B0606030504020204" pitchFamily="34" charset="0"/>
              <a:ea typeface="Open Sans" panose="020B0606030504020204" pitchFamily="34" charset="0"/>
              <a:cs typeface="Open Sans" panose="020B0606030504020204" pitchFamily="34" charset="0"/>
            </a:endParaRPr>
          </a:p>
          <a:p>
            <a:r>
              <a:rPr lang="en-GB" dirty="0">
                <a:latin typeface="Open Sans" panose="020B0606030504020204" pitchFamily="34" charset="0"/>
                <a:ea typeface="Open Sans" panose="020B0606030504020204" pitchFamily="34" charset="0"/>
                <a:cs typeface="Open Sans" panose="020B0606030504020204" pitchFamily="34" charset="0"/>
              </a:rPr>
              <a:t>Who needs it?</a:t>
            </a:r>
          </a:p>
          <a:p>
            <a:endParaRPr lang="en-GB" dirty="0">
              <a:latin typeface="Open Sans" panose="020B0606030504020204" pitchFamily="34" charset="0"/>
              <a:ea typeface="Open Sans" panose="020B0606030504020204" pitchFamily="34" charset="0"/>
              <a:cs typeface="Open Sans" panose="020B0606030504020204" pitchFamily="34" charset="0"/>
            </a:endParaRPr>
          </a:p>
          <a:p>
            <a:r>
              <a:rPr lang="en-GB" dirty="0">
                <a:latin typeface="Open Sans" panose="020B0606030504020204" pitchFamily="34" charset="0"/>
                <a:ea typeface="Open Sans" panose="020B0606030504020204" pitchFamily="34" charset="0"/>
                <a:cs typeface="Open Sans" panose="020B0606030504020204" pitchFamily="34" charset="0"/>
              </a:rPr>
              <a:t>What “speciality/</a:t>
            </a:r>
            <a:r>
              <a:rPr lang="en-GB" dirty="0" err="1">
                <a:latin typeface="Open Sans" panose="020B0606030504020204" pitchFamily="34" charset="0"/>
                <a:ea typeface="Open Sans" panose="020B0606030504020204" pitchFamily="34" charset="0"/>
                <a:cs typeface="Open Sans" panose="020B0606030504020204" pitchFamily="34" charset="0"/>
              </a:rPr>
              <a:t>ies</a:t>
            </a:r>
            <a:r>
              <a:rPr lang="en-GB" dirty="0">
                <a:latin typeface="Open Sans" panose="020B0606030504020204" pitchFamily="34" charset="0"/>
                <a:ea typeface="Open Sans" panose="020B0606030504020204" pitchFamily="34" charset="0"/>
                <a:cs typeface="Open Sans" panose="020B0606030504020204" pitchFamily="34" charset="0"/>
              </a:rPr>
              <a:t>” does it include?</a:t>
            </a:r>
          </a:p>
          <a:p>
            <a:endParaRPr lang="en-GB" dirty="0">
              <a:latin typeface="Open Sans" panose="020B0606030504020204" pitchFamily="34" charset="0"/>
              <a:ea typeface="Open Sans" panose="020B0606030504020204" pitchFamily="34" charset="0"/>
              <a:cs typeface="Open Sans" panose="020B0606030504020204" pitchFamily="34" charset="0"/>
            </a:endParaRPr>
          </a:p>
          <a:p>
            <a:r>
              <a:rPr lang="en-GB" dirty="0">
                <a:latin typeface="Open Sans" panose="020B0606030504020204" pitchFamily="34" charset="0"/>
                <a:ea typeface="Open Sans" panose="020B0606030504020204" pitchFamily="34" charset="0"/>
                <a:cs typeface="Open Sans" panose="020B0606030504020204" pitchFamily="34" charset="0"/>
              </a:rPr>
              <a:t>What does it mean to be a community physiotherapist?</a:t>
            </a:r>
          </a:p>
          <a:p>
            <a:endParaRPr lang="en-GB" dirty="0">
              <a:latin typeface="Open Sans" panose="020B0606030504020204" pitchFamily="34" charset="0"/>
              <a:ea typeface="Open Sans" panose="020B0606030504020204" pitchFamily="34" charset="0"/>
              <a:cs typeface="Open Sans" panose="020B0606030504020204" pitchFamily="34" charset="0"/>
            </a:endParaRPr>
          </a:p>
          <a:p>
            <a:endParaRPr lang="en-GB" dirty="0"/>
          </a:p>
          <a:p>
            <a:endParaRPr lang="en-GB" dirty="0"/>
          </a:p>
          <a:p>
            <a:endParaRPr lang="en-GB" dirty="0"/>
          </a:p>
        </p:txBody>
      </p:sp>
    </p:spTree>
    <p:extLst>
      <p:ext uri="{BB962C8B-B14F-4D97-AF65-F5344CB8AC3E}">
        <p14:creationId xmlns:p14="http://schemas.microsoft.com/office/powerpoint/2010/main" val="3359086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F1F0C-F953-1A41-BC5C-BF48376B9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143782-A840-0474-BFF9-28D1A8052372}"/>
              </a:ext>
            </a:extLst>
          </p:cNvPr>
          <p:cNvSpPr>
            <a:spLocks noGrp="1"/>
          </p:cNvSpPr>
          <p:nvPr>
            <p:ph type="title"/>
          </p:nvPr>
        </p:nvSpPr>
        <p:spPr>
          <a:xfrm>
            <a:off x="838200" y="61118"/>
            <a:ext cx="10515600" cy="1325563"/>
          </a:xfrm>
        </p:spPr>
        <p:txBody>
          <a:bodyPr/>
          <a:lstStyle/>
          <a:p>
            <a:r>
              <a:rPr lang="en-GB" dirty="0"/>
              <a:t>Community Rehabilitation</a:t>
            </a:r>
          </a:p>
        </p:txBody>
      </p:sp>
      <p:sp>
        <p:nvSpPr>
          <p:cNvPr id="4" name="Rectangle 2">
            <a:extLst>
              <a:ext uri="{FF2B5EF4-FFF2-40B4-BE49-F238E27FC236}">
                <a16:creationId xmlns:a16="http://schemas.microsoft.com/office/drawing/2014/main" id="{91AB742B-7F3B-93AC-5FF2-6908EDED5D6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F9C4FECF-9521-928F-814C-BB9D89E09DC9}"/>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TextBox 7">
            <a:extLst>
              <a:ext uri="{FF2B5EF4-FFF2-40B4-BE49-F238E27FC236}">
                <a16:creationId xmlns:a16="http://schemas.microsoft.com/office/drawing/2014/main" id="{B5D4C8FC-7312-0833-5637-311560027256}"/>
              </a:ext>
            </a:extLst>
          </p:cNvPr>
          <p:cNvSpPr txBox="1"/>
          <p:nvPr/>
        </p:nvSpPr>
        <p:spPr>
          <a:xfrm>
            <a:off x="5769428" y="1693068"/>
            <a:ext cx="184731" cy="923330"/>
          </a:xfrm>
          <a:prstGeom prst="rect">
            <a:avLst/>
          </a:prstGeom>
          <a:noFill/>
        </p:spPr>
        <p:txBody>
          <a:bodyPr wrap="none" rtlCol="0">
            <a:spAutoFit/>
          </a:bodyPr>
          <a:lstStyle/>
          <a:p>
            <a:endParaRPr lang="en-GB" dirty="0"/>
          </a:p>
          <a:p>
            <a:endParaRPr lang="en-GB" dirty="0"/>
          </a:p>
          <a:p>
            <a:endParaRPr lang="en-GB" dirty="0"/>
          </a:p>
        </p:txBody>
      </p:sp>
      <p:sp>
        <p:nvSpPr>
          <p:cNvPr id="3" name="TextBox 2">
            <a:extLst>
              <a:ext uri="{FF2B5EF4-FFF2-40B4-BE49-F238E27FC236}">
                <a16:creationId xmlns:a16="http://schemas.microsoft.com/office/drawing/2014/main" id="{7C79FF69-DACC-F762-D6E6-3A9743BEFF5A}"/>
              </a:ext>
            </a:extLst>
          </p:cNvPr>
          <p:cNvSpPr txBox="1"/>
          <p:nvPr/>
        </p:nvSpPr>
        <p:spPr>
          <a:xfrm>
            <a:off x="4996543" y="2330398"/>
            <a:ext cx="6444343" cy="2277547"/>
          </a:xfrm>
          <a:prstGeom prst="rect">
            <a:avLst/>
          </a:prstGeom>
          <a:noFill/>
        </p:spPr>
        <p:txBody>
          <a:bodyPr wrap="square" rtlCol="0">
            <a:spAutoFit/>
          </a:bodyPr>
          <a:lstStyle/>
          <a:p>
            <a:r>
              <a:rPr lang="en-GB" sz="2400" dirty="0">
                <a:latin typeface="Open Sans" panose="020B0606030504020204" pitchFamily="34" charset="0"/>
                <a:ea typeface="Open Sans" panose="020B0606030504020204" pitchFamily="34" charset="0"/>
                <a:cs typeface="Open Sans" panose="020B0606030504020204" pitchFamily="34" charset="0"/>
              </a:rPr>
              <a:t>Community rehabilitation should be focused on maximising and maintaining independence and thereby reduce the overall burden on the healthcare system.</a:t>
            </a:r>
          </a:p>
          <a:p>
            <a:endParaRPr lang="en-GB" dirty="0">
              <a:latin typeface="Open Sans" panose="020B0606030504020204" pitchFamily="34" charset="0"/>
              <a:ea typeface="Open Sans" panose="020B0606030504020204" pitchFamily="34" charset="0"/>
              <a:cs typeface="Open Sans" panose="020B0606030504020204" pitchFamily="34" charset="0"/>
            </a:endParaRPr>
          </a:p>
          <a:p>
            <a:r>
              <a:rPr lang="en-GB" dirty="0">
                <a:latin typeface="Open Sans" panose="020B0606030504020204" pitchFamily="34" charset="0"/>
                <a:ea typeface="Open Sans" panose="020B0606030504020204" pitchFamily="34" charset="0"/>
                <a:cs typeface="Open Sans" panose="020B0606030504020204" pitchFamily="34" charset="0"/>
              </a:rPr>
              <a:t> </a:t>
            </a:r>
            <a:r>
              <a:rPr lang="en-GB" sz="1000" dirty="0">
                <a:latin typeface="Open Sans" panose="020B0606030504020204" pitchFamily="34" charset="0"/>
                <a:ea typeface="Open Sans" panose="020B0606030504020204" pitchFamily="34" charset="0"/>
                <a:cs typeface="Open Sans" panose="020B0606030504020204" pitchFamily="34" charset="0"/>
              </a:rPr>
              <a:t>(NICE guideline Emergency and acute medical care in over 16s: service delivery and organisation, March 2018)</a:t>
            </a:r>
          </a:p>
        </p:txBody>
      </p:sp>
      <p:pic>
        <p:nvPicPr>
          <p:cNvPr id="13" name="Content Placeholder 7" descr="A person holding an older person&#10;&#10;AI-generated content may be incorrect.">
            <a:extLst>
              <a:ext uri="{FF2B5EF4-FFF2-40B4-BE49-F238E27FC236}">
                <a16:creationId xmlns:a16="http://schemas.microsoft.com/office/drawing/2014/main" id="{A64D74AF-193D-4DF0-F889-B3DE51E536DC}"/>
              </a:ext>
            </a:extLst>
          </p:cNvPr>
          <p:cNvPicPr>
            <a:picLocks noGrp="1" noChangeAspect="1"/>
          </p:cNvPicPr>
          <p:nvPr>
            <p:ph idx="1"/>
          </p:nvPr>
        </p:nvPicPr>
        <p:blipFill>
          <a:blip r:embed="rId2"/>
          <a:stretch>
            <a:fillRect/>
          </a:stretch>
        </p:blipFill>
        <p:spPr>
          <a:xfrm>
            <a:off x="-1" y="1306285"/>
            <a:ext cx="3701143" cy="5551715"/>
          </a:xfrm>
        </p:spPr>
      </p:pic>
    </p:spTree>
    <p:extLst>
      <p:ext uri="{BB962C8B-B14F-4D97-AF65-F5344CB8AC3E}">
        <p14:creationId xmlns:p14="http://schemas.microsoft.com/office/powerpoint/2010/main" val="2580059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1BC7A-6094-4717-2A10-1ECDC97222FE}"/>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03CC8876-F93F-FD01-94AB-E8149E37037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8F1DDED8-4C7D-DF80-6FA7-8BF12E57D8C5}"/>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TextBox 7">
            <a:extLst>
              <a:ext uri="{FF2B5EF4-FFF2-40B4-BE49-F238E27FC236}">
                <a16:creationId xmlns:a16="http://schemas.microsoft.com/office/drawing/2014/main" id="{2EC71B8E-306F-988E-FB0B-AD667443C3BB}"/>
              </a:ext>
            </a:extLst>
          </p:cNvPr>
          <p:cNvSpPr txBox="1"/>
          <p:nvPr/>
        </p:nvSpPr>
        <p:spPr>
          <a:xfrm>
            <a:off x="5769428" y="1693068"/>
            <a:ext cx="184731" cy="923330"/>
          </a:xfrm>
          <a:prstGeom prst="rect">
            <a:avLst/>
          </a:prstGeom>
          <a:noFill/>
        </p:spPr>
        <p:txBody>
          <a:bodyPr wrap="none" rtlCol="0">
            <a:spAutoFit/>
          </a:bodyPr>
          <a:lstStyle/>
          <a:p>
            <a:endParaRPr lang="en-GB" dirty="0"/>
          </a:p>
          <a:p>
            <a:endParaRPr lang="en-GB" dirty="0"/>
          </a:p>
          <a:p>
            <a:endParaRPr lang="en-GB" dirty="0"/>
          </a:p>
        </p:txBody>
      </p:sp>
      <p:sp>
        <p:nvSpPr>
          <p:cNvPr id="11" name="TextBox 10">
            <a:extLst>
              <a:ext uri="{FF2B5EF4-FFF2-40B4-BE49-F238E27FC236}">
                <a16:creationId xmlns:a16="http://schemas.microsoft.com/office/drawing/2014/main" id="{039DAA83-F880-833C-F684-985C283976A3}"/>
              </a:ext>
            </a:extLst>
          </p:cNvPr>
          <p:cNvSpPr txBox="1"/>
          <p:nvPr/>
        </p:nvSpPr>
        <p:spPr>
          <a:xfrm>
            <a:off x="10971959" y="1420055"/>
            <a:ext cx="4376057" cy="246221"/>
          </a:xfrm>
          <a:prstGeom prst="rect">
            <a:avLst/>
          </a:prstGeom>
          <a:noFill/>
        </p:spPr>
        <p:txBody>
          <a:bodyPr wrap="square" rtlCol="0">
            <a:spAutoFit/>
          </a:bodyPr>
          <a:lstStyle/>
          <a:p>
            <a:r>
              <a:rPr lang="en-GB" sz="1000" dirty="0">
                <a:latin typeface="Open Sans" panose="020B0606030504020204" pitchFamily="34" charset="0"/>
                <a:ea typeface="Open Sans" panose="020B0606030504020204" pitchFamily="34" charset="0"/>
                <a:cs typeface="Open Sans" panose="020B0606030504020204" pitchFamily="34" charset="0"/>
              </a:rPr>
              <a:t>(CRA 2025)</a:t>
            </a:r>
          </a:p>
        </p:txBody>
      </p:sp>
      <p:pic>
        <p:nvPicPr>
          <p:cNvPr id="9" name="Content Placeholder 8" descr="A green and white cover&#10;&#10;AI-generated content may be incorrect.">
            <a:extLst>
              <a:ext uri="{FF2B5EF4-FFF2-40B4-BE49-F238E27FC236}">
                <a16:creationId xmlns:a16="http://schemas.microsoft.com/office/drawing/2014/main" id="{4894AA68-5258-B025-6972-AD16AE4A3AC6}"/>
              </a:ext>
            </a:extLst>
          </p:cNvPr>
          <p:cNvPicPr>
            <a:picLocks noGrp="1" noChangeAspect="1"/>
          </p:cNvPicPr>
          <p:nvPr>
            <p:ph idx="1"/>
          </p:nvPr>
        </p:nvPicPr>
        <p:blipFill>
          <a:blip r:embed="rId2"/>
          <a:stretch>
            <a:fillRect/>
          </a:stretch>
        </p:blipFill>
        <p:spPr>
          <a:xfrm>
            <a:off x="8194659" y="1666276"/>
            <a:ext cx="3997341" cy="5176886"/>
          </a:xfrm>
        </p:spPr>
      </p:pic>
      <p:pic>
        <p:nvPicPr>
          <p:cNvPr id="13" name="Content Placeholder 9" descr="A screenshot of a computer&#10;&#10;AI-generated content may be incorrect.">
            <a:extLst>
              <a:ext uri="{FF2B5EF4-FFF2-40B4-BE49-F238E27FC236}">
                <a16:creationId xmlns:a16="http://schemas.microsoft.com/office/drawing/2014/main" id="{96BA8DC4-FA3A-9166-CD97-ED391CA52526}"/>
              </a:ext>
            </a:extLst>
          </p:cNvPr>
          <p:cNvPicPr>
            <a:picLocks noChangeAspect="1"/>
          </p:cNvPicPr>
          <p:nvPr/>
        </p:nvPicPr>
        <p:blipFill>
          <a:blip r:embed="rId3"/>
          <a:stretch>
            <a:fillRect/>
          </a:stretch>
        </p:blipFill>
        <p:spPr bwMode="auto">
          <a:xfrm>
            <a:off x="0" y="0"/>
            <a:ext cx="7226671" cy="42547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40613E88-BD36-EA1F-6981-BA0D2478E128}"/>
              </a:ext>
            </a:extLst>
          </p:cNvPr>
          <p:cNvSpPr txBox="1"/>
          <p:nvPr/>
        </p:nvSpPr>
        <p:spPr>
          <a:xfrm>
            <a:off x="947057" y="4391192"/>
            <a:ext cx="4376057" cy="246221"/>
          </a:xfrm>
          <a:prstGeom prst="rect">
            <a:avLst/>
          </a:prstGeom>
          <a:noFill/>
        </p:spPr>
        <p:txBody>
          <a:bodyPr wrap="square" rtlCol="0">
            <a:spAutoFit/>
          </a:bodyPr>
          <a:lstStyle/>
          <a:p>
            <a:r>
              <a:rPr lang="en-GB" sz="1000" dirty="0">
                <a:latin typeface="Open Sans" panose="020B0606030504020204" pitchFamily="34" charset="0"/>
                <a:ea typeface="Open Sans" panose="020B0606030504020204" pitchFamily="34" charset="0"/>
                <a:cs typeface="Open Sans" panose="020B0606030504020204" pitchFamily="34" charset="0"/>
              </a:rPr>
              <a:t>(NHS England 2023)</a:t>
            </a:r>
          </a:p>
        </p:txBody>
      </p:sp>
    </p:spTree>
    <p:extLst>
      <p:ext uri="{BB962C8B-B14F-4D97-AF65-F5344CB8AC3E}">
        <p14:creationId xmlns:p14="http://schemas.microsoft.com/office/powerpoint/2010/main" val="21223935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FDD15-F044-2FC2-10A1-E2DE58D5D6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34C505-AE01-29A4-547D-07E9DFA7E3F2}"/>
              </a:ext>
            </a:extLst>
          </p:cNvPr>
          <p:cNvSpPr>
            <a:spLocks noGrp="1"/>
          </p:cNvSpPr>
          <p:nvPr>
            <p:ph type="title"/>
          </p:nvPr>
        </p:nvSpPr>
        <p:spPr>
          <a:xfrm>
            <a:off x="4669970" y="61118"/>
            <a:ext cx="5214259" cy="1325563"/>
          </a:xfrm>
        </p:spPr>
        <p:txBody>
          <a:bodyPr/>
          <a:lstStyle/>
          <a:p>
            <a:r>
              <a:rPr lang="en-GB" dirty="0"/>
              <a:t>Intermediate Care </a:t>
            </a:r>
          </a:p>
        </p:txBody>
      </p:sp>
      <p:sp>
        <p:nvSpPr>
          <p:cNvPr id="4" name="Rectangle 2">
            <a:extLst>
              <a:ext uri="{FF2B5EF4-FFF2-40B4-BE49-F238E27FC236}">
                <a16:creationId xmlns:a16="http://schemas.microsoft.com/office/drawing/2014/main" id="{A07F0504-C19F-7900-0387-10ED78859EE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F6CCD3A0-9572-AE3E-46D4-AE1604778975}"/>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TextBox 7">
            <a:extLst>
              <a:ext uri="{FF2B5EF4-FFF2-40B4-BE49-F238E27FC236}">
                <a16:creationId xmlns:a16="http://schemas.microsoft.com/office/drawing/2014/main" id="{506AB1FA-EE0B-78ED-581A-2E657041F062}"/>
              </a:ext>
            </a:extLst>
          </p:cNvPr>
          <p:cNvSpPr txBox="1"/>
          <p:nvPr/>
        </p:nvSpPr>
        <p:spPr>
          <a:xfrm>
            <a:off x="5769428" y="1693068"/>
            <a:ext cx="184731" cy="923330"/>
          </a:xfrm>
          <a:prstGeom prst="rect">
            <a:avLst/>
          </a:prstGeom>
          <a:noFill/>
        </p:spPr>
        <p:txBody>
          <a:bodyPr wrap="none" rtlCol="0">
            <a:spAutoFit/>
          </a:bodyPr>
          <a:lstStyle/>
          <a:p>
            <a:endParaRPr lang="en-GB" dirty="0"/>
          </a:p>
          <a:p>
            <a:endParaRPr lang="en-GB" dirty="0"/>
          </a:p>
          <a:p>
            <a:endParaRPr lang="en-GB" dirty="0"/>
          </a:p>
        </p:txBody>
      </p:sp>
      <p:sp>
        <p:nvSpPr>
          <p:cNvPr id="12" name="TextBox 11">
            <a:extLst>
              <a:ext uri="{FF2B5EF4-FFF2-40B4-BE49-F238E27FC236}">
                <a16:creationId xmlns:a16="http://schemas.microsoft.com/office/drawing/2014/main" id="{DE4FF5F6-69F5-1528-A36C-EFD994493434}"/>
              </a:ext>
            </a:extLst>
          </p:cNvPr>
          <p:cNvSpPr txBox="1"/>
          <p:nvPr/>
        </p:nvSpPr>
        <p:spPr>
          <a:xfrm>
            <a:off x="4669971" y="1853488"/>
            <a:ext cx="6358054" cy="4011355"/>
          </a:xfrm>
          <a:prstGeom prst="rect">
            <a:avLst/>
          </a:prstGeom>
          <a:noFill/>
        </p:spPr>
        <p:txBody>
          <a:bodyPr wrap="square" rtlCol="0">
            <a:spAutoFit/>
          </a:bodyPr>
          <a:lstStyle/>
          <a:p>
            <a:pPr algn="l">
              <a:spcAft>
                <a:spcPts val="750"/>
              </a:spcAft>
            </a:pP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Time limited, short term (ca</a:t>
            </a:r>
            <a:r>
              <a:rPr lang="en-GB" sz="2000" dirty="0">
                <a:solidFill>
                  <a:srgbClr val="222222"/>
                </a:solidFill>
                <a:latin typeface="Open Sans" panose="020B0606030504020204" pitchFamily="34" charset="0"/>
                <a:ea typeface="Open Sans" panose="020B0606030504020204" pitchFamily="34" charset="0"/>
                <a:cs typeface="Open Sans" panose="020B0606030504020204" pitchFamily="34" charset="0"/>
              </a:rPr>
              <a:t> 6/52)</a:t>
            </a: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 health and/or social care provided to adults who need support after D/C from acute and virtual wards to support rehab, reablement and recovery. </a:t>
            </a:r>
          </a:p>
          <a:p>
            <a:pPr algn="l">
              <a:spcAft>
                <a:spcPts val="750"/>
              </a:spcAft>
            </a:pPr>
            <a:endPar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endParaRPr>
          </a:p>
          <a:p>
            <a:pPr algn="l">
              <a:spcAft>
                <a:spcPts val="750"/>
              </a:spcAft>
            </a:pP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Can be entirely health, entirely social care, or (ideally) an integrated service of both. They may be commissioned by the NHS and/or Local Authorities and delivered by providers across health, social care, housing, independent and voluntary sectors.</a:t>
            </a:r>
          </a:p>
          <a:p>
            <a:pPr algn="l">
              <a:spcAft>
                <a:spcPts val="750"/>
              </a:spcAft>
            </a:pPr>
            <a:r>
              <a:rPr lang="en-GB" sz="1000" dirty="0">
                <a:solidFill>
                  <a:srgbClr val="222222"/>
                </a:solidFill>
                <a:latin typeface="Open Sans" panose="020B0606030504020204" pitchFamily="34" charset="0"/>
                <a:ea typeface="Open Sans" panose="020B0606030504020204" pitchFamily="34" charset="0"/>
                <a:cs typeface="Open Sans" panose="020B0606030504020204" pitchFamily="34" charset="0"/>
              </a:rPr>
              <a:t>(CSP 2025)</a:t>
            </a:r>
            <a:endParaRPr lang="en-GB" sz="1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endParaRPr>
          </a:p>
          <a:p>
            <a:endParaRPr lang="en-GB" dirty="0"/>
          </a:p>
        </p:txBody>
      </p:sp>
      <p:pic>
        <p:nvPicPr>
          <p:cNvPr id="7" name="Picture 6" descr="A cover of a book&#10;&#10;AI-generated content may be incorrect.">
            <a:extLst>
              <a:ext uri="{FF2B5EF4-FFF2-40B4-BE49-F238E27FC236}">
                <a16:creationId xmlns:a16="http://schemas.microsoft.com/office/drawing/2014/main" id="{ACA78182-3A5B-5A1F-3888-1DE0FDCBA343}"/>
              </a:ext>
            </a:extLst>
          </p:cNvPr>
          <p:cNvPicPr>
            <a:picLocks noChangeAspect="1"/>
          </p:cNvPicPr>
          <p:nvPr/>
        </p:nvPicPr>
        <p:blipFill>
          <a:blip r:embed="rId2"/>
          <a:stretch>
            <a:fillRect/>
          </a:stretch>
        </p:blipFill>
        <p:spPr>
          <a:xfrm>
            <a:off x="0" y="243683"/>
            <a:ext cx="4513923" cy="6393658"/>
          </a:xfrm>
          <a:prstGeom prst="rect">
            <a:avLst/>
          </a:prstGeom>
        </p:spPr>
      </p:pic>
    </p:spTree>
    <p:extLst>
      <p:ext uri="{BB962C8B-B14F-4D97-AF65-F5344CB8AC3E}">
        <p14:creationId xmlns:p14="http://schemas.microsoft.com/office/powerpoint/2010/main" val="2278304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AC2E9-3CF1-9E37-3EF6-0958899175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1260A-DBBA-500C-8ECF-BF6FBE5F2D35}"/>
              </a:ext>
            </a:extLst>
          </p:cNvPr>
          <p:cNvSpPr>
            <a:spLocks noGrp="1"/>
          </p:cNvSpPr>
          <p:nvPr>
            <p:ph type="title"/>
          </p:nvPr>
        </p:nvSpPr>
        <p:spPr>
          <a:xfrm>
            <a:off x="838200" y="61118"/>
            <a:ext cx="10515600" cy="1325563"/>
          </a:xfrm>
        </p:spPr>
        <p:txBody>
          <a:bodyPr/>
          <a:lstStyle/>
          <a:p>
            <a:r>
              <a:rPr lang="en-GB" dirty="0"/>
              <a:t>Intermediate Care Framework</a:t>
            </a:r>
          </a:p>
        </p:txBody>
      </p:sp>
      <p:sp>
        <p:nvSpPr>
          <p:cNvPr id="4" name="Rectangle 2">
            <a:extLst>
              <a:ext uri="{FF2B5EF4-FFF2-40B4-BE49-F238E27FC236}">
                <a16:creationId xmlns:a16="http://schemas.microsoft.com/office/drawing/2014/main" id="{147154D8-5A33-CF04-0725-34FC6932419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CBCFB9F2-22C1-B9DA-2F41-6E5447A15DC0}"/>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TextBox 7">
            <a:extLst>
              <a:ext uri="{FF2B5EF4-FFF2-40B4-BE49-F238E27FC236}">
                <a16:creationId xmlns:a16="http://schemas.microsoft.com/office/drawing/2014/main" id="{F076B925-01A1-9B6B-5087-EFB14750C8D4}"/>
              </a:ext>
            </a:extLst>
          </p:cNvPr>
          <p:cNvSpPr txBox="1"/>
          <p:nvPr/>
        </p:nvSpPr>
        <p:spPr>
          <a:xfrm>
            <a:off x="5769428" y="1693068"/>
            <a:ext cx="184731" cy="923330"/>
          </a:xfrm>
          <a:prstGeom prst="rect">
            <a:avLst/>
          </a:prstGeom>
          <a:noFill/>
        </p:spPr>
        <p:txBody>
          <a:bodyPr wrap="none" rtlCol="0">
            <a:spAutoFit/>
          </a:bodyPr>
          <a:lstStyle/>
          <a:p>
            <a:endParaRPr lang="en-GB" dirty="0"/>
          </a:p>
          <a:p>
            <a:endParaRPr lang="en-GB" dirty="0"/>
          </a:p>
          <a:p>
            <a:endParaRPr lang="en-GB" dirty="0"/>
          </a:p>
        </p:txBody>
      </p:sp>
      <p:sp>
        <p:nvSpPr>
          <p:cNvPr id="3" name="Content Placeholder 2">
            <a:extLst>
              <a:ext uri="{FF2B5EF4-FFF2-40B4-BE49-F238E27FC236}">
                <a16:creationId xmlns:a16="http://schemas.microsoft.com/office/drawing/2014/main" id="{416A6BF8-8190-7E37-6297-BBA20DA4C2B1}"/>
              </a:ext>
            </a:extLst>
          </p:cNvPr>
          <p:cNvSpPr>
            <a:spLocks noGrp="1"/>
          </p:cNvSpPr>
          <p:nvPr>
            <p:ph idx="1"/>
          </p:nvPr>
        </p:nvSpPr>
        <p:spPr>
          <a:xfrm>
            <a:off x="838200" y="1477962"/>
            <a:ext cx="5715000" cy="4288499"/>
          </a:xfrm>
        </p:spPr>
        <p:txBody>
          <a:bodyPr/>
          <a:lstStyle/>
          <a:p>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best practice guidance</a:t>
            </a:r>
          </a:p>
          <a:p>
            <a:pPr marL="0" indent="0">
              <a:buNone/>
            </a:pPr>
            <a:endPar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endParaRPr>
          </a:p>
          <a:p>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recommended actions for improving step down intermediate care</a:t>
            </a:r>
          </a:p>
          <a:p>
            <a:pPr marL="0" indent="0">
              <a:buNone/>
            </a:pPr>
            <a:endPar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endParaRPr>
          </a:p>
          <a:p>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using a new therapy-led </a:t>
            </a:r>
            <a:r>
              <a:rPr lang="en-GB" sz="2000" b="0" i="0" dirty="0">
                <a:solidFill>
                  <a:srgbClr val="2A2670"/>
                </a:solidFill>
                <a:effectLst/>
                <a:latin typeface="Open Sans" panose="020B0606030504020204" pitchFamily="34" charset="0"/>
                <a:ea typeface="Open Sans" panose="020B0606030504020204" pitchFamily="34" charset="0"/>
                <a:cs typeface="Open Sans" panose="020B0606030504020204" pitchFamily="34" charset="0"/>
              </a:rPr>
              <a:t>community rehab model</a:t>
            </a: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 of care</a:t>
            </a:r>
          </a:p>
          <a:p>
            <a:pPr marL="0" indent="0">
              <a:buNone/>
            </a:pPr>
            <a:endPar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endParaRPr>
          </a:p>
          <a:p>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part of the Urgent &amp; Emergency Care recovery plan</a:t>
            </a:r>
            <a:endParaRPr lang="en-GB" sz="2000" dirty="0">
              <a:solidFill>
                <a:srgbClr val="222222"/>
              </a:solidFill>
              <a:latin typeface="Open Sans" panose="020B0606030504020204" pitchFamily="34" charset="0"/>
              <a:ea typeface="Open Sans" panose="020B0606030504020204" pitchFamily="34" charset="0"/>
              <a:cs typeface="Open Sans" panose="020B0606030504020204" pitchFamily="34" charset="0"/>
            </a:endParaRPr>
          </a:p>
          <a:p>
            <a:pPr marL="0" indent="0">
              <a:buNone/>
            </a:pPr>
            <a:r>
              <a:rPr lang="en-GB" sz="1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				(CSP 2025)</a:t>
            </a:r>
          </a:p>
          <a:p>
            <a:pPr marL="0" indent="0">
              <a:buNone/>
            </a:pPr>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7" name="Picture 6" descr="A poster of a doctor and a group of old people&#10;&#10;AI-generated content may be incorrect.">
            <a:extLst>
              <a:ext uri="{FF2B5EF4-FFF2-40B4-BE49-F238E27FC236}">
                <a16:creationId xmlns:a16="http://schemas.microsoft.com/office/drawing/2014/main" id="{7A3D2351-84F7-2563-C3BC-298AB3614318}"/>
              </a:ext>
            </a:extLst>
          </p:cNvPr>
          <p:cNvPicPr>
            <a:picLocks noChangeAspect="1"/>
          </p:cNvPicPr>
          <p:nvPr/>
        </p:nvPicPr>
        <p:blipFill>
          <a:blip r:embed="rId2"/>
          <a:stretch>
            <a:fillRect/>
          </a:stretch>
        </p:blipFill>
        <p:spPr>
          <a:xfrm>
            <a:off x="7336971" y="1091538"/>
            <a:ext cx="4855029" cy="4674923"/>
          </a:xfrm>
          <a:prstGeom prst="rect">
            <a:avLst/>
          </a:prstGeom>
        </p:spPr>
      </p:pic>
    </p:spTree>
    <p:extLst>
      <p:ext uri="{BB962C8B-B14F-4D97-AF65-F5344CB8AC3E}">
        <p14:creationId xmlns:p14="http://schemas.microsoft.com/office/powerpoint/2010/main" val="472520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88994-2D33-0960-119E-8DE7E16A71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111868-9B2F-75A5-FBBF-74FBB3954C89}"/>
              </a:ext>
            </a:extLst>
          </p:cNvPr>
          <p:cNvSpPr>
            <a:spLocks noGrp="1"/>
          </p:cNvSpPr>
          <p:nvPr>
            <p:ph type="title"/>
          </p:nvPr>
        </p:nvSpPr>
        <p:spPr>
          <a:xfrm>
            <a:off x="359229" y="61118"/>
            <a:ext cx="10515600" cy="1325563"/>
          </a:xfrm>
        </p:spPr>
        <p:txBody>
          <a:bodyPr/>
          <a:lstStyle/>
          <a:p>
            <a:r>
              <a:rPr lang="en-GB" dirty="0"/>
              <a:t>Intermediate Care Framework Aims</a:t>
            </a:r>
          </a:p>
        </p:txBody>
      </p:sp>
      <p:sp>
        <p:nvSpPr>
          <p:cNvPr id="4" name="Rectangle 2">
            <a:extLst>
              <a:ext uri="{FF2B5EF4-FFF2-40B4-BE49-F238E27FC236}">
                <a16:creationId xmlns:a16="http://schemas.microsoft.com/office/drawing/2014/main" id="{EB3D3E62-896E-4789-91E3-4F5B593887D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E57E2628-00DC-7A93-077E-BC1073B5449E}"/>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TextBox 7">
            <a:extLst>
              <a:ext uri="{FF2B5EF4-FFF2-40B4-BE49-F238E27FC236}">
                <a16:creationId xmlns:a16="http://schemas.microsoft.com/office/drawing/2014/main" id="{B283E566-97BD-120C-1E31-5500CEFECD29}"/>
              </a:ext>
            </a:extLst>
          </p:cNvPr>
          <p:cNvSpPr txBox="1"/>
          <p:nvPr/>
        </p:nvSpPr>
        <p:spPr>
          <a:xfrm>
            <a:off x="5769428" y="1693068"/>
            <a:ext cx="184731" cy="923330"/>
          </a:xfrm>
          <a:prstGeom prst="rect">
            <a:avLst/>
          </a:prstGeom>
          <a:noFill/>
        </p:spPr>
        <p:txBody>
          <a:bodyPr wrap="none" rtlCol="0">
            <a:spAutoFit/>
          </a:bodyPr>
          <a:lstStyle/>
          <a:p>
            <a:endParaRPr lang="en-GB" dirty="0"/>
          </a:p>
          <a:p>
            <a:endParaRPr lang="en-GB" dirty="0"/>
          </a:p>
          <a:p>
            <a:endParaRPr lang="en-GB" dirty="0"/>
          </a:p>
        </p:txBody>
      </p:sp>
      <p:sp>
        <p:nvSpPr>
          <p:cNvPr id="3" name="Content Placeholder 2">
            <a:extLst>
              <a:ext uri="{FF2B5EF4-FFF2-40B4-BE49-F238E27FC236}">
                <a16:creationId xmlns:a16="http://schemas.microsoft.com/office/drawing/2014/main" id="{4B7036FD-6E3A-ED51-249D-6DC070F4BAD7}"/>
              </a:ext>
            </a:extLst>
          </p:cNvPr>
          <p:cNvSpPr>
            <a:spLocks noGrp="1"/>
          </p:cNvSpPr>
          <p:nvPr>
            <p:ph idx="1"/>
          </p:nvPr>
        </p:nvSpPr>
        <p:spPr>
          <a:xfrm>
            <a:off x="4332514" y="1774372"/>
            <a:ext cx="7021286" cy="4523637"/>
          </a:xfrm>
        </p:spPr>
        <p:txBody>
          <a:bodyPr/>
          <a:lstStyle/>
          <a:p>
            <a:pPr algn="l">
              <a:spcAft>
                <a:spcPts val="750"/>
              </a:spcAft>
              <a:buFont typeface="Arial" panose="020B0604020202020204" pitchFamily="34" charset="0"/>
              <a:buChar char="•"/>
            </a:pP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Improve people’s outcomes and experience of hospital D/C</a:t>
            </a:r>
          </a:p>
          <a:p>
            <a:pPr algn="l">
              <a:spcAft>
                <a:spcPts val="750"/>
              </a:spcAft>
              <a:buFont typeface="Arial" panose="020B0604020202020204" pitchFamily="34" charset="0"/>
              <a:buChar char="•"/>
            </a:pP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Reduce hospital re-admissions </a:t>
            </a:r>
          </a:p>
          <a:p>
            <a:pPr algn="l">
              <a:spcAft>
                <a:spcPts val="750"/>
              </a:spcAft>
              <a:buFont typeface="Arial" panose="020B0604020202020204" pitchFamily="34" charset="0"/>
              <a:buChar char="•"/>
            </a:pP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Reduce avoidable/ premature long term care provision</a:t>
            </a:r>
          </a:p>
          <a:p>
            <a:pPr algn="l">
              <a:spcAft>
                <a:spcPts val="750"/>
              </a:spcAft>
              <a:buFont typeface="Arial" panose="020B0604020202020204" pitchFamily="34" charset="0"/>
              <a:buChar char="•"/>
            </a:pP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Improved patient flow and D/C from hospital settings</a:t>
            </a:r>
          </a:p>
          <a:p>
            <a:pPr algn="l">
              <a:spcAft>
                <a:spcPts val="750"/>
              </a:spcAft>
              <a:buFont typeface="Arial" panose="020B0604020202020204" pitchFamily="34" charset="0"/>
              <a:buChar char="•"/>
            </a:pP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Develop a new national standard for D/C, by improving and standardising community rehab data.</a:t>
            </a:r>
          </a:p>
          <a:p>
            <a:pPr marL="0" indent="0">
              <a:buNone/>
            </a:pPr>
            <a:r>
              <a:rPr lang="en-GB" sz="1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		(CSP 2025)</a:t>
            </a:r>
          </a:p>
          <a:p>
            <a:pPr marL="0" indent="0">
              <a:buNone/>
            </a:pPr>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7" name="Content Placeholder 6" descr="A person in a wheelchair being carried by a nurse&#10;&#10;AI-generated content may be incorrect.">
            <a:extLst>
              <a:ext uri="{FF2B5EF4-FFF2-40B4-BE49-F238E27FC236}">
                <a16:creationId xmlns:a16="http://schemas.microsoft.com/office/drawing/2014/main" id="{1D3D119C-6EEC-F788-AEC3-051A764AABEE}"/>
              </a:ext>
            </a:extLst>
          </p:cNvPr>
          <p:cNvPicPr>
            <a:picLocks noChangeAspect="1"/>
          </p:cNvPicPr>
          <p:nvPr/>
        </p:nvPicPr>
        <p:blipFill>
          <a:blip r:embed="rId2"/>
          <a:stretch>
            <a:fillRect/>
          </a:stretch>
        </p:blipFill>
        <p:spPr bwMode="auto">
          <a:xfrm>
            <a:off x="0" y="1386681"/>
            <a:ext cx="3647546" cy="5471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0045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B7AC-93E3-C494-BAB1-90FF06809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151FE-0808-6350-847D-07F8ADC93DAE}"/>
              </a:ext>
            </a:extLst>
          </p:cNvPr>
          <p:cNvSpPr>
            <a:spLocks noGrp="1"/>
          </p:cNvSpPr>
          <p:nvPr>
            <p:ph type="title"/>
          </p:nvPr>
        </p:nvSpPr>
        <p:spPr>
          <a:xfrm>
            <a:off x="359229" y="61118"/>
            <a:ext cx="10515600" cy="1325563"/>
          </a:xfrm>
        </p:spPr>
        <p:txBody>
          <a:bodyPr/>
          <a:lstStyle/>
          <a:p>
            <a:r>
              <a:rPr lang="en-GB" dirty="0"/>
              <a:t>Intermediate Care Framework Pathways</a:t>
            </a:r>
          </a:p>
        </p:txBody>
      </p:sp>
      <p:sp>
        <p:nvSpPr>
          <p:cNvPr id="4" name="Rectangle 2">
            <a:extLst>
              <a:ext uri="{FF2B5EF4-FFF2-40B4-BE49-F238E27FC236}">
                <a16:creationId xmlns:a16="http://schemas.microsoft.com/office/drawing/2014/main" id="{322AA3AC-F3D8-32F7-C964-E163B83D77F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FE6C54D2-2560-57CF-24BA-95949DB1B6C6}"/>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TextBox 7">
            <a:extLst>
              <a:ext uri="{FF2B5EF4-FFF2-40B4-BE49-F238E27FC236}">
                <a16:creationId xmlns:a16="http://schemas.microsoft.com/office/drawing/2014/main" id="{A631F89D-EDE0-E14A-9C99-6A0780066FA1}"/>
              </a:ext>
            </a:extLst>
          </p:cNvPr>
          <p:cNvSpPr txBox="1"/>
          <p:nvPr/>
        </p:nvSpPr>
        <p:spPr>
          <a:xfrm>
            <a:off x="5769428" y="1693068"/>
            <a:ext cx="184731" cy="923330"/>
          </a:xfrm>
          <a:prstGeom prst="rect">
            <a:avLst/>
          </a:prstGeom>
          <a:noFill/>
        </p:spPr>
        <p:txBody>
          <a:bodyPr wrap="none" rtlCol="0">
            <a:spAutoFit/>
          </a:bodyPr>
          <a:lstStyle/>
          <a:p>
            <a:endParaRPr lang="en-GB" dirty="0"/>
          </a:p>
          <a:p>
            <a:endParaRPr lang="en-GB" dirty="0"/>
          </a:p>
          <a:p>
            <a:endParaRPr lang="en-GB" dirty="0"/>
          </a:p>
        </p:txBody>
      </p:sp>
      <p:sp>
        <p:nvSpPr>
          <p:cNvPr id="3" name="Content Placeholder 2">
            <a:extLst>
              <a:ext uri="{FF2B5EF4-FFF2-40B4-BE49-F238E27FC236}">
                <a16:creationId xmlns:a16="http://schemas.microsoft.com/office/drawing/2014/main" id="{40580BEB-EA6D-EB2E-7B1C-028F1FD59A90}"/>
              </a:ext>
            </a:extLst>
          </p:cNvPr>
          <p:cNvSpPr>
            <a:spLocks noGrp="1"/>
          </p:cNvSpPr>
          <p:nvPr>
            <p:ph idx="1"/>
          </p:nvPr>
        </p:nvSpPr>
        <p:spPr>
          <a:xfrm>
            <a:off x="0" y="1693068"/>
            <a:ext cx="5664993" cy="4351338"/>
          </a:xfrm>
        </p:spPr>
        <p:txBody>
          <a:bodyPr/>
          <a:lstStyle/>
          <a:p>
            <a:pPr algn="l">
              <a:spcAft>
                <a:spcPts val="750"/>
              </a:spcAft>
              <a:buFont typeface="Arial" panose="020B0604020202020204" pitchFamily="34" charset="0"/>
              <a:buChar char="•"/>
            </a:pPr>
            <a:r>
              <a:rPr lang="en-GB" sz="24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Pathway 0 – community-based assessment of need </a:t>
            </a:r>
          </a:p>
          <a:p>
            <a:pPr algn="l">
              <a:spcAft>
                <a:spcPts val="750"/>
              </a:spcAft>
              <a:buFont typeface="Arial" panose="020B0604020202020204" pitchFamily="34" charset="0"/>
              <a:buChar char="•"/>
            </a:pPr>
            <a:r>
              <a:rPr lang="en-GB" sz="24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Pathway 1 – community-based assessment, home based therapy led interventions.  </a:t>
            </a:r>
          </a:p>
          <a:p>
            <a:pPr algn="l">
              <a:spcAft>
                <a:spcPts val="750"/>
              </a:spcAft>
              <a:buFont typeface="Arial" panose="020B0604020202020204" pitchFamily="34" charset="0"/>
              <a:buChar char="•"/>
            </a:pPr>
            <a:r>
              <a:rPr lang="en-GB" sz="24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Pathway 2 – assessment of needs, move to short term bedded care (may be followed by pathway 1)</a:t>
            </a:r>
          </a:p>
          <a:p>
            <a:pPr marL="0" indent="0">
              <a:buNone/>
            </a:pPr>
            <a:r>
              <a:rPr lang="en-GB" sz="1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		(CSP 2025)</a:t>
            </a:r>
          </a:p>
          <a:p>
            <a:pPr marL="0" indent="0">
              <a:buNone/>
            </a:pPr>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9" name="Content Placeholder 7" descr="A person holding a person's hand&#10;&#10;AI-generated content may be incorrect.">
            <a:extLst>
              <a:ext uri="{FF2B5EF4-FFF2-40B4-BE49-F238E27FC236}">
                <a16:creationId xmlns:a16="http://schemas.microsoft.com/office/drawing/2014/main" id="{DFEA00D1-4ACA-FC40-06F7-D28FF24D982F}"/>
              </a:ext>
            </a:extLst>
          </p:cNvPr>
          <p:cNvPicPr>
            <a:picLocks noChangeAspect="1"/>
          </p:cNvPicPr>
          <p:nvPr/>
        </p:nvPicPr>
        <p:blipFill>
          <a:blip r:embed="rId2"/>
          <a:stretch>
            <a:fillRect/>
          </a:stretch>
        </p:blipFill>
        <p:spPr bwMode="auto">
          <a:xfrm>
            <a:off x="5664993" y="1253331"/>
            <a:ext cx="6527007"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4127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01DF3-9506-A272-F425-0E8D77B01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551625-CDF7-47DE-FED6-55C260E02A70}"/>
              </a:ext>
            </a:extLst>
          </p:cNvPr>
          <p:cNvSpPr>
            <a:spLocks noGrp="1"/>
          </p:cNvSpPr>
          <p:nvPr>
            <p:ph type="title"/>
          </p:nvPr>
        </p:nvSpPr>
        <p:spPr>
          <a:xfrm>
            <a:off x="0" y="15307"/>
            <a:ext cx="9895114" cy="1325563"/>
          </a:xfrm>
        </p:spPr>
        <p:txBody>
          <a:bodyPr/>
          <a:lstStyle/>
          <a:p>
            <a:r>
              <a:rPr lang="en-GB" dirty="0"/>
              <a:t>Intermediate Care Framework Outcome (if implemented)</a:t>
            </a:r>
          </a:p>
        </p:txBody>
      </p:sp>
      <p:sp>
        <p:nvSpPr>
          <p:cNvPr id="4" name="Rectangle 2">
            <a:extLst>
              <a:ext uri="{FF2B5EF4-FFF2-40B4-BE49-F238E27FC236}">
                <a16:creationId xmlns:a16="http://schemas.microsoft.com/office/drawing/2014/main" id="{23099739-13FE-A587-9938-A7927F8B531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94423E4E-06AB-3AB0-B52B-F5BE87F6F342}"/>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8" name="Content Placeholder 7" descr="A person doing exercise in a room&#10;&#10;AI-generated content may be incorrect.">
            <a:extLst>
              <a:ext uri="{FF2B5EF4-FFF2-40B4-BE49-F238E27FC236}">
                <a16:creationId xmlns:a16="http://schemas.microsoft.com/office/drawing/2014/main" id="{BCB85F2D-7548-C2C4-3B5F-8C574A6C9754}"/>
              </a:ext>
            </a:extLst>
          </p:cNvPr>
          <p:cNvPicPr>
            <a:picLocks noGrp="1" noChangeAspect="1"/>
          </p:cNvPicPr>
          <p:nvPr>
            <p:ph idx="1"/>
          </p:nvPr>
        </p:nvPicPr>
        <p:blipFill>
          <a:blip r:embed="rId2"/>
          <a:stretch>
            <a:fillRect/>
          </a:stretch>
        </p:blipFill>
        <p:spPr>
          <a:xfrm>
            <a:off x="5664993" y="1253331"/>
            <a:ext cx="6527007" cy="4351338"/>
          </a:xfrm>
        </p:spPr>
      </p:pic>
      <p:sp>
        <p:nvSpPr>
          <p:cNvPr id="10" name="TextBox 9">
            <a:extLst>
              <a:ext uri="{FF2B5EF4-FFF2-40B4-BE49-F238E27FC236}">
                <a16:creationId xmlns:a16="http://schemas.microsoft.com/office/drawing/2014/main" id="{DF77CAA3-E515-4910-90D0-6CBDC54F2052}"/>
              </a:ext>
            </a:extLst>
          </p:cNvPr>
          <p:cNvSpPr txBox="1"/>
          <p:nvPr/>
        </p:nvSpPr>
        <p:spPr>
          <a:xfrm>
            <a:off x="152400" y="1951672"/>
            <a:ext cx="4640035" cy="4370427"/>
          </a:xfrm>
          <a:prstGeom prst="rect">
            <a:avLst/>
          </a:prstGeom>
          <a:noFill/>
        </p:spPr>
        <p:txBody>
          <a:bodyPr wrap="square">
            <a:spAutoFit/>
          </a:bodyPr>
          <a:lstStyle/>
          <a:p>
            <a:pPr marL="457200" indent="-457200" algn="l">
              <a:spcBef>
                <a:spcPts val="1500"/>
              </a:spcBef>
              <a:spcAft>
                <a:spcPts val="1500"/>
              </a:spcAft>
              <a:buFont typeface="+mj-lt"/>
              <a:buAutoNum type="arabicParenR"/>
            </a:pPr>
            <a:r>
              <a:rPr lang="en-GB" sz="24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improve rehab offer for 100s of 1000s of frail &amp; elderly people currently being let down by the system </a:t>
            </a:r>
            <a:r>
              <a:rPr lang="en-GB" sz="2400" dirty="0">
                <a:solidFill>
                  <a:srgbClr val="222222"/>
                </a:solidFill>
                <a:latin typeface="Open Sans" panose="020B0606030504020204" pitchFamily="34" charset="0"/>
                <a:ea typeface="Open Sans" panose="020B0606030504020204" pitchFamily="34" charset="0"/>
                <a:cs typeface="Open Sans" panose="020B0606030504020204" pitchFamily="34" charset="0"/>
              </a:rPr>
              <a:t>&amp;</a:t>
            </a:r>
            <a:r>
              <a:rPr lang="en-GB" sz="24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 denied the opportunity to regain their independence after being in hospital</a:t>
            </a:r>
          </a:p>
          <a:p>
            <a:pPr algn="l">
              <a:spcBef>
                <a:spcPts val="1500"/>
              </a:spcBef>
              <a:spcAft>
                <a:spcPts val="1500"/>
              </a:spcAft>
            </a:pPr>
            <a:r>
              <a:rPr lang="en-GB" dirty="0">
                <a:solidFill>
                  <a:srgbClr val="222222"/>
                </a:solidFill>
                <a:latin typeface="Open Sans" panose="020B0606030504020204" pitchFamily="34" charset="0"/>
                <a:ea typeface="Open Sans" panose="020B0606030504020204" pitchFamily="34" charset="0"/>
                <a:cs typeface="Open Sans" panose="020B0606030504020204" pitchFamily="34" charset="0"/>
              </a:rPr>
              <a:t>			</a:t>
            </a:r>
            <a:r>
              <a:rPr lang="en-GB" sz="1000" dirty="0">
                <a:solidFill>
                  <a:srgbClr val="222222"/>
                </a:solidFill>
                <a:latin typeface="Open Sans" panose="020B0606030504020204" pitchFamily="34" charset="0"/>
                <a:ea typeface="Open Sans" panose="020B0606030504020204" pitchFamily="34" charset="0"/>
                <a:cs typeface="Open Sans" panose="020B0606030504020204" pitchFamily="34" charset="0"/>
              </a:rPr>
              <a:t>	(CSP 2025)</a:t>
            </a:r>
            <a:endParaRPr lang="en-GB" sz="1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endParaRPr>
          </a:p>
          <a:p>
            <a:pPr algn="l">
              <a:spcBef>
                <a:spcPts val="1500"/>
              </a:spcBef>
              <a:spcAft>
                <a:spcPts val="1500"/>
              </a:spcAft>
            </a:pPr>
            <a:endParaRPr lang="en-GB" dirty="0">
              <a:solidFill>
                <a:srgbClr val="22222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74430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E8CA5-1FCE-3A64-8F57-B0FE8A618C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09D039-E53B-DE77-3297-BD964FF95042}"/>
              </a:ext>
            </a:extLst>
          </p:cNvPr>
          <p:cNvSpPr>
            <a:spLocks noGrp="1"/>
          </p:cNvSpPr>
          <p:nvPr>
            <p:ph type="title"/>
          </p:nvPr>
        </p:nvSpPr>
        <p:spPr>
          <a:xfrm>
            <a:off x="838200" y="61118"/>
            <a:ext cx="10515600" cy="1325563"/>
          </a:xfrm>
        </p:spPr>
        <p:txBody>
          <a:bodyPr/>
          <a:lstStyle/>
          <a:p>
            <a:r>
              <a:rPr lang="en-GB" dirty="0"/>
              <a:t>Cont’d…</a:t>
            </a:r>
          </a:p>
        </p:txBody>
      </p:sp>
      <p:sp>
        <p:nvSpPr>
          <p:cNvPr id="4" name="Rectangle 2">
            <a:extLst>
              <a:ext uri="{FF2B5EF4-FFF2-40B4-BE49-F238E27FC236}">
                <a16:creationId xmlns:a16="http://schemas.microsoft.com/office/drawing/2014/main" id="{D7706EA3-343A-AA47-CF20-E91E8E5117F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52678572-8495-65F4-FE2D-BD529516331E}"/>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7" name="Content Placeholder 6" descr="A person lying on the ground with his hand on the ground&#10;&#10;AI-generated content may be incorrect.">
            <a:extLst>
              <a:ext uri="{FF2B5EF4-FFF2-40B4-BE49-F238E27FC236}">
                <a16:creationId xmlns:a16="http://schemas.microsoft.com/office/drawing/2014/main" id="{93A77A8C-C632-B6F0-2DE9-8AFB04216B7E}"/>
              </a:ext>
            </a:extLst>
          </p:cNvPr>
          <p:cNvPicPr>
            <a:picLocks noGrp="1" noChangeAspect="1"/>
          </p:cNvPicPr>
          <p:nvPr>
            <p:ph idx="1"/>
          </p:nvPr>
        </p:nvPicPr>
        <p:blipFill>
          <a:blip r:embed="rId2"/>
          <a:stretch>
            <a:fillRect/>
          </a:stretch>
        </p:blipFill>
        <p:spPr>
          <a:xfrm>
            <a:off x="0" y="1654628"/>
            <a:ext cx="5323114" cy="3548743"/>
          </a:xfrm>
        </p:spPr>
      </p:pic>
      <p:sp>
        <p:nvSpPr>
          <p:cNvPr id="10" name="TextBox 9">
            <a:extLst>
              <a:ext uri="{FF2B5EF4-FFF2-40B4-BE49-F238E27FC236}">
                <a16:creationId xmlns:a16="http://schemas.microsoft.com/office/drawing/2014/main" id="{E4978C95-7F8D-E61A-E3F4-25665C2F280A}"/>
              </a:ext>
            </a:extLst>
          </p:cNvPr>
          <p:cNvSpPr txBox="1"/>
          <p:nvPr/>
        </p:nvSpPr>
        <p:spPr>
          <a:xfrm>
            <a:off x="5456465" y="1040838"/>
            <a:ext cx="6144984" cy="4570482"/>
          </a:xfrm>
          <a:prstGeom prst="rect">
            <a:avLst/>
          </a:prstGeom>
          <a:noFill/>
        </p:spPr>
        <p:txBody>
          <a:bodyPr wrap="square">
            <a:spAutoFit/>
          </a:bodyPr>
          <a:lstStyle/>
          <a:p>
            <a:pPr algn="l">
              <a:spcBef>
                <a:spcPts val="1500"/>
              </a:spcBef>
              <a:spcAft>
                <a:spcPts val="1500"/>
              </a:spcAft>
            </a:pPr>
            <a:r>
              <a:rPr lang="en-GB"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2)    improve provision of rehabilitation more broadly:  </a:t>
            </a:r>
            <a:endParaRPr lang="en-GB" dirty="0">
              <a:solidFill>
                <a:srgbClr val="222222"/>
              </a:solidFill>
              <a:latin typeface="Open Sans" panose="020B0606030504020204" pitchFamily="34" charset="0"/>
              <a:ea typeface="Open Sans" panose="020B0606030504020204" pitchFamily="34" charset="0"/>
              <a:cs typeface="Open Sans" panose="020B0606030504020204" pitchFamily="34" charset="0"/>
            </a:endParaRPr>
          </a:p>
          <a:p>
            <a:pPr marL="1200150" lvl="2" indent="-285750">
              <a:spcBef>
                <a:spcPts val="1500"/>
              </a:spcBef>
              <a:spcAft>
                <a:spcPts val="1500"/>
              </a:spcAft>
              <a:buFont typeface="Wingdings" panose="05000000000000000000" pitchFamily="2" charset="2"/>
              <a:buChar char="q"/>
            </a:pPr>
            <a:r>
              <a:rPr lang="en-GB" dirty="0">
                <a:solidFill>
                  <a:srgbClr val="222222"/>
                </a:solidFill>
                <a:latin typeface="Open Sans" panose="020B0606030504020204" pitchFamily="34" charset="0"/>
                <a:ea typeface="Open Sans" panose="020B0606030504020204" pitchFamily="34" charset="0"/>
                <a:cs typeface="Open Sans" panose="020B0606030504020204" pitchFamily="34" charset="0"/>
              </a:rPr>
              <a:t>m</a:t>
            </a:r>
            <a:r>
              <a:rPr lang="en-GB"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aking intermediate care part of the Urgent </a:t>
            </a:r>
            <a:r>
              <a:rPr lang="en-GB" dirty="0">
                <a:solidFill>
                  <a:srgbClr val="222222"/>
                </a:solidFill>
                <a:latin typeface="Open Sans" panose="020B0606030504020204" pitchFamily="34" charset="0"/>
                <a:ea typeface="Open Sans" panose="020B0606030504020204" pitchFamily="34" charset="0"/>
                <a:cs typeface="Open Sans" panose="020B0606030504020204" pitchFamily="34" charset="0"/>
              </a:rPr>
              <a:t>&amp;</a:t>
            </a:r>
            <a:r>
              <a:rPr lang="en-GB"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 Emergency Care Recovery Plan has pushed community rehab to the top of the policy agenda.  </a:t>
            </a:r>
          </a:p>
          <a:p>
            <a:pPr marL="1200150" lvl="2" indent="-285750">
              <a:spcBef>
                <a:spcPts val="1500"/>
              </a:spcBef>
              <a:spcAft>
                <a:spcPts val="1500"/>
              </a:spcAft>
              <a:buFont typeface="Wingdings" panose="05000000000000000000" pitchFamily="2" charset="2"/>
              <a:buChar char="q"/>
            </a:pPr>
            <a:r>
              <a:rPr lang="en-GB"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provide system levels leadership and strategic accountability for rehab.  </a:t>
            </a:r>
          </a:p>
          <a:p>
            <a:pPr marL="1200150" lvl="2" indent="-285750">
              <a:spcBef>
                <a:spcPts val="1500"/>
              </a:spcBef>
              <a:spcAft>
                <a:spcPts val="1500"/>
              </a:spcAft>
              <a:buFont typeface="Wingdings" panose="05000000000000000000" pitchFamily="2" charset="2"/>
              <a:buChar char="q"/>
            </a:pPr>
            <a:r>
              <a:rPr lang="en-GB"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result in realistic </a:t>
            </a:r>
            <a:r>
              <a:rPr lang="en-GB" dirty="0">
                <a:solidFill>
                  <a:srgbClr val="222222"/>
                </a:solidFill>
                <a:latin typeface="Open Sans" panose="020B0606030504020204" pitchFamily="34" charset="0"/>
                <a:ea typeface="Open Sans" panose="020B0606030504020204" pitchFamily="34" charset="0"/>
                <a:cs typeface="Open Sans" panose="020B0606030504020204" pitchFamily="34" charset="0"/>
              </a:rPr>
              <a:t>Ax</a:t>
            </a:r>
            <a:r>
              <a:rPr lang="en-GB"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 of staffing requirements &amp; help grow the rehab workforce &amp; see this featuring in workforce strategies and People Plans, with governance at the highest level for this.  		</a:t>
            </a:r>
            <a:r>
              <a:rPr lang="en-GB" sz="1000" dirty="0">
                <a:solidFill>
                  <a:srgbClr val="222222"/>
                </a:solidFill>
                <a:latin typeface="Open Sans" panose="020B0606030504020204" pitchFamily="34" charset="0"/>
                <a:ea typeface="Open Sans" panose="020B0606030504020204" pitchFamily="34" charset="0"/>
                <a:cs typeface="Open Sans" panose="020B0606030504020204" pitchFamily="34" charset="0"/>
              </a:rPr>
              <a:t> (CSP 2025)</a:t>
            </a:r>
            <a:endParaRPr lang="en-GB" sz="1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83550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B004-C83A-1BCE-AF3D-7D6879CF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5A3B8-725F-3812-1740-FFD3AAA647EE}"/>
              </a:ext>
            </a:extLst>
          </p:cNvPr>
          <p:cNvSpPr>
            <a:spLocks noGrp="1"/>
          </p:cNvSpPr>
          <p:nvPr>
            <p:ph type="title"/>
          </p:nvPr>
        </p:nvSpPr>
        <p:spPr>
          <a:xfrm>
            <a:off x="4887686" y="61118"/>
            <a:ext cx="6466114" cy="1325563"/>
          </a:xfrm>
        </p:spPr>
        <p:txBody>
          <a:bodyPr/>
          <a:lstStyle/>
          <a:p>
            <a:r>
              <a:rPr lang="en-GB" dirty="0"/>
              <a:t>Cont’d…</a:t>
            </a:r>
          </a:p>
        </p:txBody>
      </p:sp>
      <p:sp>
        <p:nvSpPr>
          <p:cNvPr id="4" name="Rectangle 2">
            <a:extLst>
              <a:ext uri="{FF2B5EF4-FFF2-40B4-BE49-F238E27FC236}">
                <a16:creationId xmlns:a16="http://schemas.microsoft.com/office/drawing/2014/main" id="{84AF6845-D3EA-FFB3-2039-8A3150C07C1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CD023097-3710-54D6-7A1D-25E50ED559B3}"/>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8" name="Content Placeholder 7" descr="A person and person doing exercises&#10;&#10;AI-generated content may be incorrect.">
            <a:extLst>
              <a:ext uri="{FF2B5EF4-FFF2-40B4-BE49-F238E27FC236}">
                <a16:creationId xmlns:a16="http://schemas.microsoft.com/office/drawing/2014/main" id="{07B82DDF-13D5-4190-AAAD-C353DFF2E724}"/>
              </a:ext>
            </a:extLst>
          </p:cNvPr>
          <p:cNvPicPr>
            <a:picLocks noGrp="1" noChangeAspect="1"/>
          </p:cNvPicPr>
          <p:nvPr>
            <p:ph idx="1"/>
          </p:nvPr>
        </p:nvPicPr>
        <p:blipFill>
          <a:blip r:embed="rId2"/>
          <a:stretch>
            <a:fillRect/>
          </a:stretch>
        </p:blipFill>
        <p:spPr>
          <a:xfrm>
            <a:off x="276726" y="163847"/>
            <a:ext cx="3324603" cy="4986906"/>
          </a:xfrm>
        </p:spPr>
      </p:pic>
      <p:sp>
        <p:nvSpPr>
          <p:cNvPr id="10" name="TextBox 9">
            <a:extLst>
              <a:ext uri="{FF2B5EF4-FFF2-40B4-BE49-F238E27FC236}">
                <a16:creationId xmlns:a16="http://schemas.microsoft.com/office/drawing/2014/main" id="{270B8043-4278-C8AA-E82C-55CD523E2B3D}"/>
              </a:ext>
            </a:extLst>
          </p:cNvPr>
          <p:cNvSpPr txBox="1"/>
          <p:nvPr/>
        </p:nvSpPr>
        <p:spPr>
          <a:xfrm>
            <a:off x="4778829" y="2072197"/>
            <a:ext cx="6096000" cy="1464503"/>
          </a:xfrm>
          <a:prstGeom prst="rect">
            <a:avLst/>
          </a:prstGeom>
          <a:noFill/>
        </p:spPr>
        <p:txBody>
          <a:bodyPr wrap="square">
            <a:spAutoFit/>
          </a:bodyPr>
          <a:lstStyle/>
          <a:p>
            <a:pPr algn="l">
              <a:spcBef>
                <a:spcPts val="1500"/>
              </a:spcBef>
              <a:spcAft>
                <a:spcPts val="750"/>
              </a:spcAft>
            </a:pPr>
            <a:r>
              <a:rPr lang="en-GB" sz="2000" dirty="0">
                <a:solidFill>
                  <a:srgbClr val="222222"/>
                </a:solidFill>
                <a:latin typeface="Open Sans" panose="020B0606030504020204" pitchFamily="34" charset="0"/>
                <a:ea typeface="Open Sans" panose="020B0606030504020204" pitchFamily="34" charset="0"/>
                <a:cs typeface="Open Sans" panose="020B0606030504020204" pitchFamily="34" charset="0"/>
              </a:rPr>
              <a:t>3)    </a:t>
            </a: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provide data infrastructure that will make visible the value of rehab in terms of outcomes </a:t>
            </a:r>
            <a:r>
              <a:rPr lang="en-GB" sz="2000" dirty="0">
                <a:solidFill>
                  <a:srgbClr val="222222"/>
                </a:solidFill>
                <a:latin typeface="Open Sans" panose="020B0606030504020204" pitchFamily="34" charset="0"/>
                <a:ea typeface="Open Sans" panose="020B0606030504020204" pitchFamily="34" charset="0"/>
                <a:cs typeface="Open Sans" panose="020B0606030504020204" pitchFamily="34" charset="0"/>
              </a:rPr>
              <a:t>&amp;</a:t>
            </a: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 savings, </a:t>
            </a:r>
            <a:r>
              <a:rPr lang="en-GB" sz="2000" dirty="0">
                <a:solidFill>
                  <a:srgbClr val="222222"/>
                </a:solidFill>
                <a:latin typeface="Open Sans" panose="020B0606030504020204" pitchFamily="34" charset="0"/>
                <a:ea typeface="Open Sans" panose="020B0606030504020204" pitchFamily="34" charset="0"/>
                <a:cs typeface="Open Sans" panose="020B0606030504020204" pitchFamily="34" charset="0"/>
              </a:rPr>
              <a:t>&amp;</a:t>
            </a:r>
            <a:r>
              <a:rPr lang="en-GB" sz="2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rPr>
              <a:t> the scale of rehab needs.</a:t>
            </a:r>
          </a:p>
          <a:p>
            <a:pPr algn="l">
              <a:spcBef>
                <a:spcPts val="1500"/>
              </a:spcBef>
              <a:spcAft>
                <a:spcPts val="750"/>
              </a:spcAft>
            </a:pPr>
            <a:r>
              <a:rPr lang="en-GB" sz="1000" dirty="0">
                <a:solidFill>
                  <a:srgbClr val="222222"/>
                </a:solidFill>
                <a:latin typeface="Open Sans" panose="020B0606030504020204" pitchFamily="34" charset="0"/>
                <a:ea typeface="Open Sans" panose="020B0606030504020204" pitchFamily="34" charset="0"/>
                <a:cs typeface="Open Sans" panose="020B0606030504020204" pitchFamily="34" charset="0"/>
              </a:rPr>
              <a:t>		(CSP 2025)</a:t>
            </a:r>
            <a:endParaRPr lang="en-GB" sz="1000" b="0" i="0" dirty="0">
              <a:solidFill>
                <a:srgbClr val="222222"/>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7973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0A032-5A85-5E94-1341-8E28955388D9}"/>
            </a:ext>
          </a:extLst>
        </p:cNvPr>
        <p:cNvGrpSpPr/>
        <p:nvPr/>
      </p:nvGrpSpPr>
      <p:grpSpPr>
        <a:xfrm>
          <a:off x="0" y="0"/>
          <a:ext cx="0" cy="0"/>
          <a:chOff x="0" y="0"/>
          <a:chExt cx="0" cy="0"/>
        </a:xfrm>
      </p:grpSpPr>
      <p:pic>
        <p:nvPicPr>
          <p:cNvPr id="7" name="Content Placeholder 6" descr="A group of women standing in a room&#10;&#10;AI-generated content may be incorrect.">
            <a:extLst>
              <a:ext uri="{FF2B5EF4-FFF2-40B4-BE49-F238E27FC236}">
                <a16:creationId xmlns:a16="http://schemas.microsoft.com/office/drawing/2014/main" id="{C3B97BD1-C163-D2E2-FAE6-822289DEE16E}"/>
              </a:ext>
            </a:extLst>
          </p:cNvPr>
          <p:cNvPicPr>
            <a:picLocks noGrp="1" noChangeAspect="1"/>
          </p:cNvPicPr>
          <p:nvPr>
            <p:ph idx="1"/>
          </p:nvPr>
        </p:nvPicPr>
        <p:blipFill rotWithShape="1">
          <a:blip r:embed="rId2"/>
          <a:srcRect r="5905"/>
          <a:stretch/>
        </p:blipFill>
        <p:spPr>
          <a:xfrm>
            <a:off x="385011" y="1045034"/>
            <a:ext cx="6127996" cy="4259180"/>
          </a:xfrm>
        </p:spPr>
      </p:pic>
      <p:sp>
        <p:nvSpPr>
          <p:cNvPr id="2" name="Title 1">
            <a:extLst>
              <a:ext uri="{FF2B5EF4-FFF2-40B4-BE49-F238E27FC236}">
                <a16:creationId xmlns:a16="http://schemas.microsoft.com/office/drawing/2014/main" id="{19F74D4F-DDB2-AB1E-0D12-626A5D52E3C1}"/>
              </a:ext>
            </a:extLst>
          </p:cNvPr>
          <p:cNvSpPr>
            <a:spLocks noGrp="1"/>
          </p:cNvSpPr>
          <p:nvPr>
            <p:ph type="title"/>
          </p:nvPr>
        </p:nvSpPr>
        <p:spPr>
          <a:xfrm>
            <a:off x="664029" y="-6690"/>
            <a:ext cx="4245429" cy="1325563"/>
          </a:xfrm>
        </p:spPr>
        <p:txBody>
          <a:bodyPr/>
          <a:lstStyle/>
          <a:p>
            <a:r>
              <a:rPr lang="en-GB" dirty="0"/>
              <a:t>What is a LTC?</a:t>
            </a:r>
          </a:p>
        </p:txBody>
      </p:sp>
      <p:sp>
        <p:nvSpPr>
          <p:cNvPr id="4" name="Rectangle 2">
            <a:extLst>
              <a:ext uri="{FF2B5EF4-FFF2-40B4-BE49-F238E27FC236}">
                <a16:creationId xmlns:a16="http://schemas.microsoft.com/office/drawing/2014/main" id="{665BE508-736C-E1DB-3134-ACCFADD39BE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39F8B3D8-96B8-9A1D-79AB-EA01D56ED665}"/>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10" name="Picture 9" descr="A white cover with black text&#10;&#10;AI-generated content may be incorrect.">
            <a:extLst>
              <a:ext uri="{FF2B5EF4-FFF2-40B4-BE49-F238E27FC236}">
                <a16:creationId xmlns:a16="http://schemas.microsoft.com/office/drawing/2014/main" id="{AA019502-E1FA-1906-7068-7EAA7A142F41}"/>
              </a:ext>
            </a:extLst>
          </p:cNvPr>
          <p:cNvPicPr>
            <a:picLocks noChangeAspect="1"/>
          </p:cNvPicPr>
          <p:nvPr/>
        </p:nvPicPr>
        <p:blipFill>
          <a:blip r:embed="rId3"/>
          <a:srcRect t="1" r="24203" b="2996"/>
          <a:stretch/>
        </p:blipFill>
        <p:spPr>
          <a:xfrm>
            <a:off x="9364580" y="2624341"/>
            <a:ext cx="2827420" cy="3151637"/>
          </a:xfrm>
          <a:prstGeom prst="rect">
            <a:avLst/>
          </a:prstGeom>
        </p:spPr>
      </p:pic>
      <p:sp>
        <p:nvSpPr>
          <p:cNvPr id="11" name="TextBox 10">
            <a:extLst>
              <a:ext uri="{FF2B5EF4-FFF2-40B4-BE49-F238E27FC236}">
                <a16:creationId xmlns:a16="http://schemas.microsoft.com/office/drawing/2014/main" id="{D9B41C06-59DD-288C-BD82-4620B644F9B3}"/>
              </a:ext>
            </a:extLst>
          </p:cNvPr>
          <p:cNvSpPr txBox="1"/>
          <p:nvPr/>
        </p:nvSpPr>
        <p:spPr>
          <a:xfrm>
            <a:off x="6425919" y="951638"/>
            <a:ext cx="4725737" cy="1754326"/>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Open Sans" panose="020B0606030504020204" pitchFamily="34" charset="0"/>
                <a:ea typeface="Open Sans" panose="020B0606030504020204" pitchFamily="34" charset="0"/>
                <a:cs typeface="Open Sans" panose="020B0606030504020204" pitchFamily="34" charset="0"/>
              </a:rPr>
              <a:t>A</a:t>
            </a:r>
            <a:r>
              <a:rPr lang="en-GB" b="0" i="0" dirty="0">
                <a:effectLst/>
                <a:latin typeface="Open Sans" panose="020B0606030504020204" pitchFamily="34" charset="0"/>
                <a:ea typeface="Open Sans" panose="020B0606030504020204" pitchFamily="34" charset="0"/>
                <a:cs typeface="Open Sans" panose="020B0606030504020204" pitchFamily="34" charset="0"/>
              </a:rPr>
              <a:t>n illness that </a:t>
            </a:r>
            <a:r>
              <a:rPr lang="en-GB" b="1" i="0" dirty="0">
                <a:effectLst/>
                <a:latin typeface="Open Sans" panose="020B0606030504020204" pitchFamily="34" charset="0"/>
                <a:ea typeface="Open Sans" panose="020B0606030504020204" pitchFamily="34" charset="0"/>
                <a:cs typeface="Open Sans" panose="020B0606030504020204" pitchFamily="34" charset="0"/>
              </a:rPr>
              <a:t>cannot be cured but can usually be controlled with medicines or other treatments</a:t>
            </a:r>
            <a:br>
              <a:rPr lang="en-GB" b="1" i="0" dirty="0">
                <a:effectLst/>
                <a:latin typeface="Open Sans" panose="020B0606030504020204" pitchFamily="34" charset="0"/>
                <a:ea typeface="Open Sans" panose="020B0606030504020204" pitchFamily="34" charset="0"/>
                <a:cs typeface="Open Sans" panose="020B0606030504020204" pitchFamily="34" charset="0"/>
              </a:rPr>
            </a:br>
            <a:endParaRPr lang="en-GB" dirty="0">
              <a:latin typeface="Open Sans" panose="020B0606030504020204" pitchFamily="34" charset="0"/>
              <a:ea typeface="Open Sans" panose="020B0606030504020204" pitchFamily="34" charset="0"/>
              <a:cs typeface="Open Sans" panose="020B0606030504020204" pitchFamily="34" charset="0"/>
            </a:endParaRPr>
          </a:p>
          <a:p>
            <a:pPr marL="285750" indent="-285750">
              <a:buFont typeface="Arial" panose="020B0604020202020204" pitchFamily="34" charset="0"/>
              <a:buChar char="•"/>
            </a:pPr>
            <a:r>
              <a:rPr lang="en-GB" b="0" i="0" dirty="0">
                <a:effectLst/>
                <a:latin typeface="Open Sans" panose="020B0606030504020204" pitchFamily="34" charset="0"/>
                <a:ea typeface="Open Sans" panose="020B0606030504020204" pitchFamily="34" charset="0"/>
                <a:cs typeface="Open Sans" panose="020B0606030504020204" pitchFamily="34" charset="0"/>
              </a:rPr>
              <a:t>Chronic, reoccurring, &amp; often complex, comprising more than one health issue.</a:t>
            </a:r>
            <a:endParaRPr lang="en-GB"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803504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355B2-3877-339D-3805-74AF04829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64998-7A63-DC86-ACA2-A3C873590761}"/>
              </a:ext>
            </a:extLst>
          </p:cNvPr>
          <p:cNvSpPr>
            <a:spLocks noGrp="1"/>
          </p:cNvSpPr>
          <p:nvPr>
            <p:ph type="title"/>
          </p:nvPr>
        </p:nvSpPr>
        <p:spPr>
          <a:xfrm>
            <a:off x="2019300" y="0"/>
            <a:ext cx="8153400" cy="1325563"/>
          </a:xfrm>
        </p:spPr>
        <p:txBody>
          <a:bodyPr/>
          <a:lstStyle/>
          <a:p>
            <a:r>
              <a:rPr lang="en-GB" dirty="0"/>
              <a:t>Long-term Conditions</a:t>
            </a:r>
          </a:p>
        </p:txBody>
      </p:sp>
      <p:sp>
        <p:nvSpPr>
          <p:cNvPr id="4" name="Rectangle 2">
            <a:extLst>
              <a:ext uri="{FF2B5EF4-FFF2-40B4-BE49-F238E27FC236}">
                <a16:creationId xmlns:a16="http://schemas.microsoft.com/office/drawing/2014/main" id="{41084C86-8F81-9046-9E50-8D11E101B5E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0B751053-74A2-D81C-FE01-F6D2C108846A}"/>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8" name="Content Placeholder 7" descr="A person holding a dumbbell while sitting on a bed&#10;&#10;AI-generated content may be incorrect.">
            <a:extLst>
              <a:ext uri="{FF2B5EF4-FFF2-40B4-BE49-F238E27FC236}">
                <a16:creationId xmlns:a16="http://schemas.microsoft.com/office/drawing/2014/main" id="{336129E4-EC26-F73B-24F9-72513EFD043B}"/>
              </a:ext>
            </a:extLst>
          </p:cNvPr>
          <p:cNvPicPr>
            <a:picLocks noGrp="1" noChangeAspect="1"/>
          </p:cNvPicPr>
          <p:nvPr>
            <p:ph idx="1"/>
          </p:nvPr>
        </p:nvPicPr>
        <p:blipFill>
          <a:blip r:embed="rId2"/>
          <a:stretch>
            <a:fillRect/>
          </a:stretch>
        </p:blipFill>
        <p:spPr>
          <a:xfrm>
            <a:off x="0" y="1106375"/>
            <a:ext cx="3834417" cy="5751626"/>
          </a:xfrm>
        </p:spPr>
      </p:pic>
      <p:sp>
        <p:nvSpPr>
          <p:cNvPr id="9" name="TextBox 8">
            <a:extLst>
              <a:ext uri="{FF2B5EF4-FFF2-40B4-BE49-F238E27FC236}">
                <a16:creationId xmlns:a16="http://schemas.microsoft.com/office/drawing/2014/main" id="{6D5BFFE9-58DB-B789-5AF2-B021D9E984C1}"/>
              </a:ext>
            </a:extLst>
          </p:cNvPr>
          <p:cNvSpPr txBox="1"/>
          <p:nvPr/>
        </p:nvSpPr>
        <p:spPr>
          <a:xfrm>
            <a:off x="4520217" y="1317991"/>
            <a:ext cx="5418440" cy="3631763"/>
          </a:xfrm>
          <a:prstGeom prst="rect">
            <a:avLst/>
          </a:prstGeom>
          <a:noFill/>
        </p:spPr>
        <p:txBody>
          <a:bodyPr wrap="square" rtlCol="0">
            <a:spAutoFit/>
          </a:bodyPr>
          <a:lstStyle/>
          <a:p>
            <a:r>
              <a:rPr lang="en-GB" sz="2000" dirty="0">
                <a:solidFill>
                  <a:srgbClr val="202A30"/>
                </a:solidFill>
                <a:latin typeface="Open Sans" panose="020B0606030504020204" pitchFamily="34" charset="0"/>
                <a:ea typeface="Open Sans" panose="020B0606030504020204" pitchFamily="34" charset="0"/>
                <a:cs typeface="Open Sans" panose="020B0606030504020204" pitchFamily="34" charset="0"/>
              </a:rPr>
              <a:t>L</a:t>
            </a:r>
            <a:r>
              <a:rPr lang="en-GB" sz="2000" b="0" i="0" dirty="0">
                <a:solidFill>
                  <a:srgbClr val="202A30"/>
                </a:solidFill>
                <a:effectLst/>
                <a:latin typeface="Open Sans" panose="020B0606030504020204" pitchFamily="34" charset="0"/>
                <a:ea typeface="Open Sans" panose="020B0606030504020204" pitchFamily="34" charset="0"/>
                <a:cs typeface="Open Sans" panose="020B0606030504020204" pitchFamily="34" charset="0"/>
              </a:rPr>
              <a:t>ong term conditions are now a central task of the NHS; caring for these needs requires a partnership with patients over the longer term rather than providing single, unconnected “episodes” of care.</a:t>
            </a:r>
          </a:p>
          <a:p>
            <a:endParaRPr lang="en-GB" sz="2000" dirty="0">
              <a:solidFill>
                <a:srgbClr val="202A30"/>
              </a:solidFill>
              <a:latin typeface="Open Sans" panose="020B0606030504020204" pitchFamily="34" charset="0"/>
              <a:ea typeface="Open Sans" panose="020B0606030504020204" pitchFamily="34" charset="0"/>
              <a:cs typeface="Open Sans" panose="020B0606030504020204" pitchFamily="34" charset="0"/>
            </a:endParaRPr>
          </a:p>
          <a:p>
            <a:r>
              <a:rPr lang="en-GB" sz="2000" dirty="0">
                <a:solidFill>
                  <a:srgbClr val="202A30"/>
                </a:solidFill>
                <a:latin typeface="Open Sans" panose="020B0606030504020204" pitchFamily="34" charset="0"/>
                <a:ea typeface="Open Sans" panose="020B0606030504020204" pitchFamily="34" charset="0"/>
                <a:cs typeface="Open Sans" panose="020B0606030504020204" pitchFamily="34" charset="0"/>
              </a:rPr>
              <a:t>Aids people w/ LTCs to:</a:t>
            </a:r>
          </a:p>
          <a:p>
            <a:pPr marL="342900" indent="-342900">
              <a:buFont typeface="Arial" panose="020B0604020202020204" pitchFamily="34" charset="0"/>
              <a:buChar char="•"/>
            </a:pPr>
            <a:r>
              <a:rPr lang="en-GB" sz="2000" b="1" i="0" dirty="0">
                <a:solidFill>
                  <a:srgbClr val="202A30"/>
                </a:solidFill>
                <a:effectLst/>
                <a:latin typeface="Open Sans" panose="020B0606030504020204" pitchFamily="34" charset="0"/>
                <a:ea typeface="Open Sans" panose="020B0606030504020204" pitchFamily="34" charset="0"/>
                <a:cs typeface="Open Sans" panose="020B0606030504020204" pitchFamily="34" charset="0"/>
              </a:rPr>
              <a:t>live well</a:t>
            </a:r>
          </a:p>
          <a:p>
            <a:pPr marL="342900" indent="-342900">
              <a:buFont typeface="Arial" panose="020B0604020202020204" pitchFamily="34" charset="0"/>
              <a:buChar char="•"/>
            </a:pPr>
            <a:r>
              <a:rPr lang="en-GB" sz="2000" b="1" i="0" dirty="0">
                <a:solidFill>
                  <a:srgbClr val="202A30"/>
                </a:solidFill>
                <a:effectLst/>
                <a:latin typeface="Open Sans" panose="020B0606030504020204" pitchFamily="34" charset="0"/>
                <a:ea typeface="Open Sans" panose="020B0606030504020204" pitchFamily="34" charset="0"/>
                <a:cs typeface="Open Sans" panose="020B0606030504020204" pitchFamily="34" charset="0"/>
              </a:rPr>
              <a:t>age well</a:t>
            </a:r>
          </a:p>
          <a:p>
            <a:pPr marL="342900" indent="-342900">
              <a:buFont typeface="Arial" panose="020B0604020202020204" pitchFamily="34" charset="0"/>
              <a:buChar char="•"/>
            </a:pPr>
            <a:r>
              <a:rPr lang="en-GB" sz="2000" b="1" i="0" dirty="0">
                <a:solidFill>
                  <a:srgbClr val="202A30"/>
                </a:solidFill>
                <a:effectLst/>
                <a:latin typeface="Open Sans" panose="020B0606030504020204" pitchFamily="34" charset="0"/>
                <a:ea typeface="Open Sans" panose="020B0606030504020204" pitchFamily="34" charset="0"/>
                <a:cs typeface="Open Sans" panose="020B0606030504020204" pitchFamily="34" charset="0"/>
              </a:rPr>
              <a:t>die well</a:t>
            </a:r>
            <a:endParaRPr lang="en-GB" sz="2000" b="0" i="0" dirty="0">
              <a:solidFill>
                <a:srgbClr val="202A30"/>
              </a:solidFill>
              <a:effectLst/>
              <a:latin typeface="Open Sans" panose="020B0606030504020204" pitchFamily="34" charset="0"/>
              <a:ea typeface="Open Sans" panose="020B0606030504020204" pitchFamily="34" charset="0"/>
              <a:cs typeface="Open Sans" panose="020B0606030504020204" pitchFamily="34" charset="0"/>
            </a:endParaRPr>
          </a:p>
          <a:p>
            <a:r>
              <a:rPr lang="en-GB" sz="1000" dirty="0">
                <a:solidFill>
                  <a:srgbClr val="202A30"/>
                </a:solidFill>
                <a:latin typeface="Open Sans" panose="020B0606030504020204" pitchFamily="34" charset="0"/>
                <a:ea typeface="Open Sans" panose="020B0606030504020204" pitchFamily="34" charset="0"/>
                <a:cs typeface="Open Sans" panose="020B0606030504020204" pitchFamily="34" charset="0"/>
              </a:rPr>
              <a:t>		</a:t>
            </a:r>
          </a:p>
          <a:p>
            <a:endParaRPr lang="en-GB" sz="1000" dirty="0">
              <a:solidFill>
                <a:srgbClr val="202A30"/>
              </a:solidFill>
              <a:latin typeface="Open Sans" panose="020B0606030504020204" pitchFamily="34" charset="0"/>
              <a:ea typeface="Open Sans" panose="020B0606030504020204" pitchFamily="34" charset="0"/>
              <a:cs typeface="Open Sans" panose="020B0606030504020204" pitchFamily="34" charset="0"/>
            </a:endParaRPr>
          </a:p>
          <a:p>
            <a:r>
              <a:rPr lang="en-GB" sz="1000" dirty="0">
                <a:solidFill>
                  <a:srgbClr val="202A30"/>
                </a:solidFill>
                <a:latin typeface="Open Sans" panose="020B0606030504020204" pitchFamily="34" charset="0"/>
                <a:ea typeface="Open Sans" panose="020B0606030504020204" pitchFamily="34" charset="0"/>
                <a:cs typeface="Open Sans" panose="020B0606030504020204" pitchFamily="34" charset="0"/>
              </a:rPr>
              <a:t>		Five Year Forward View, NHS England 2014</a:t>
            </a:r>
            <a:endParaRPr lang="en-GB" sz="1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06945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46E28-8737-0777-EB5B-42F4C71B2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63AFAD-3131-632C-F1F4-3302184123D9}"/>
              </a:ext>
            </a:extLst>
          </p:cNvPr>
          <p:cNvSpPr>
            <a:spLocks noGrp="1"/>
          </p:cNvSpPr>
          <p:nvPr>
            <p:ph type="title"/>
          </p:nvPr>
        </p:nvSpPr>
        <p:spPr>
          <a:xfrm>
            <a:off x="4561114" y="2227375"/>
            <a:ext cx="6553200" cy="1325563"/>
          </a:xfrm>
        </p:spPr>
        <p:txBody>
          <a:bodyPr/>
          <a:lstStyle/>
          <a:p>
            <a:r>
              <a:rPr lang="en-GB" dirty="0"/>
              <a:t>What LTCs can you think of that we might meet in the community?</a:t>
            </a:r>
          </a:p>
        </p:txBody>
      </p:sp>
      <p:sp>
        <p:nvSpPr>
          <p:cNvPr id="4" name="Rectangle 2">
            <a:extLst>
              <a:ext uri="{FF2B5EF4-FFF2-40B4-BE49-F238E27FC236}">
                <a16:creationId xmlns:a16="http://schemas.microsoft.com/office/drawing/2014/main" id="{7DF56820-F267-0BE7-9BE1-29D67E22E1E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93B29A14-C26E-2BF1-94F9-A5A33CF01E75}"/>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7" name="Content Placeholder 6" descr="A person and person running on grass&#10;&#10;AI-generated content may be incorrect.">
            <a:extLst>
              <a:ext uri="{FF2B5EF4-FFF2-40B4-BE49-F238E27FC236}">
                <a16:creationId xmlns:a16="http://schemas.microsoft.com/office/drawing/2014/main" id="{C9503B7E-BA15-3372-1F8A-48564AE22ABC}"/>
              </a:ext>
            </a:extLst>
          </p:cNvPr>
          <p:cNvPicPr>
            <a:picLocks noGrp="1" noChangeAspect="1"/>
          </p:cNvPicPr>
          <p:nvPr>
            <p:ph idx="1"/>
          </p:nvPr>
        </p:nvPicPr>
        <p:blipFill>
          <a:blip r:embed="rId2"/>
          <a:stretch>
            <a:fillRect/>
          </a:stretch>
        </p:blipFill>
        <p:spPr>
          <a:xfrm>
            <a:off x="0" y="0"/>
            <a:ext cx="3788229" cy="5682344"/>
          </a:xfrm>
        </p:spPr>
      </p:pic>
    </p:spTree>
    <p:extLst>
      <p:ext uri="{BB962C8B-B14F-4D97-AF65-F5344CB8AC3E}">
        <p14:creationId xmlns:p14="http://schemas.microsoft.com/office/powerpoint/2010/main" val="4119635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01FF8-FB52-7221-A1E9-8C537497E4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AB5FD-D694-EB54-4106-DFEEAB708A22}"/>
              </a:ext>
            </a:extLst>
          </p:cNvPr>
          <p:cNvSpPr>
            <a:spLocks noGrp="1"/>
          </p:cNvSpPr>
          <p:nvPr>
            <p:ph type="title"/>
          </p:nvPr>
        </p:nvSpPr>
        <p:spPr>
          <a:xfrm>
            <a:off x="152400" y="2110126"/>
            <a:ext cx="5236029" cy="1325563"/>
          </a:xfrm>
        </p:spPr>
        <p:txBody>
          <a:bodyPr/>
          <a:lstStyle/>
          <a:p>
            <a:r>
              <a:rPr lang="en-GB" dirty="0"/>
              <a:t>Who makes up the community MDT?</a:t>
            </a:r>
          </a:p>
        </p:txBody>
      </p:sp>
      <p:sp>
        <p:nvSpPr>
          <p:cNvPr id="4" name="Rectangle 2">
            <a:extLst>
              <a:ext uri="{FF2B5EF4-FFF2-40B4-BE49-F238E27FC236}">
                <a16:creationId xmlns:a16="http://schemas.microsoft.com/office/drawing/2014/main" id="{1EB43BAE-D22D-C632-6246-FF49CA271B4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2C8335A2-02B4-9552-03D4-871D95BE8904}"/>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8" name="Content Placeholder 7" descr="A person looking at a mirror&#10;&#10;AI-generated content may be incorrect.">
            <a:extLst>
              <a:ext uri="{FF2B5EF4-FFF2-40B4-BE49-F238E27FC236}">
                <a16:creationId xmlns:a16="http://schemas.microsoft.com/office/drawing/2014/main" id="{88CD1C73-8976-9970-F5DA-AAD2157549C0}"/>
              </a:ext>
            </a:extLst>
          </p:cNvPr>
          <p:cNvPicPr>
            <a:picLocks noGrp="1" noChangeAspect="1"/>
          </p:cNvPicPr>
          <p:nvPr>
            <p:ph idx="1"/>
          </p:nvPr>
        </p:nvPicPr>
        <p:blipFill>
          <a:blip r:embed="rId2"/>
          <a:stretch>
            <a:fillRect/>
          </a:stretch>
        </p:blipFill>
        <p:spPr>
          <a:xfrm>
            <a:off x="5664993" y="1253331"/>
            <a:ext cx="6527007" cy="4351338"/>
          </a:xfrm>
        </p:spPr>
      </p:pic>
    </p:spTree>
    <p:extLst>
      <p:ext uri="{BB962C8B-B14F-4D97-AF65-F5344CB8AC3E}">
        <p14:creationId xmlns:p14="http://schemas.microsoft.com/office/powerpoint/2010/main" val="10693397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A99D7-D90D-99EA-9292-D5A04CE331F0}"/>
              </a:ext>
            </a:extLst>
          </p:cNvPr>
          <p:cNvSpPr>
            <a:spLocks noGrp="1"/>
          </p:cNvSpPr>
          <p:nvPr>
            <p:ph type="title"/>
          </p:nvPr>
        </p:nvSpPr>
        <p:spPr>
          <a:xfrm>
            <a:off x="762000" y="0"/>
            <a:ext cx="10515600" cy="1325563"/>
          </a:xfrm>
        </p:spPr>
        <p:txBody>
          <a:bodyPr/>
          <a:lstStyle/>
          <a:p>
            <a:r>
              <a:rPr lang="en-GB" dirty="0"/>
              <a:t>15:00 – 15:15</a:t>
            </a:r>
          </a:p>
        </p:txBody>
      </p:sp>
      <p:pic>
        <p:nvPicPr>
          <p:cNvPr id="6" name="Content Placeholder 5" descr="A cup of coffee and a notebook&#10;&#10;Description automatically generated">
            <a:extLst>
              <a:ext uri="{FF2B5EF4-FFF2-40B4-BE49-F238E27FC236}">
                <a16:creationId xmlns:a16="http://schemas.microsoft.com/office/drawing/2014/main" id="{B3782641-F88A-AA3D-1626-193CEFA51C4A}"/>
              </a:ext>
            </a:extLst>
          </p:cNvPr>
          <p:cNvPicPr>
            <a:picLocks noGrp="1" noChangeAspect="1"/>
          </p:cNvPicPr>
          <p:nvPr>
            <p:ph idx="1"/>
          </p:nvPr>
        </p:nvPicPr>
        <p:blipFill>
          <a:blip r:embed="rId2"/>
          <a:stretch>
            <a:fillRect/>
          </a:stretch>
        </p:blipFill>
        <p:spPr>
          <a:xfrm>
            <a:off x="2387039" y="1107167"/>
            <a:ext cx="7417922" cy="4351338"/>
          </a:xfrm>
        </p:spPr>
      </p:pic>
    </p:spTree>
    <p:extLst>
      <p:ext uri="{BB962C8B-B14F-4D97-AF65-F5344CB8AC3E}">
        <p14:creationId xmlns:p14="http://schemas.microsoft.com/office/powerpoint/2010/main" val="3404253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13416-ED04-55A4-B17C-CADFD2AE1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43899-437C-F85A-6BA3-B6ECCF0D1815}"/>
              </a:ext>
            </a:extLst>
          </p:cNvPr>
          <p:cNvSpPr>
            <a:spLocks noGrp="1"/>
          </p:cNvSpPr>
          <p:nvPr>
            <p:ph type="title"/>
          </p:nvPr>
        </p:nvSpPr>
        <p:spPr>
          <a:xfrm>
            <a:off x="4925785" y="2103437"/>
            <a:ext cx="6912429" cy="1325563"/>
          </a:xfrm>
        </p:spPr>
        <p:txBody>
          <a:bodyPr/>
          <a:lstStyle/>
          <a:p>
            <a:r>
              <a:rPr lang="en-GB" dirty="0"/>
              <a:t>Practical – library</a:t>
            </a:r>
            <a:br>
              <a:rPr lang="en-GB" dirty="0"/>
            </a:br>
            <a:br>
              <a:rPr lang="en-GB" sz="2400" dirty="0"/>
            </a:br>
            <a:br>
              <a:rPr lang="en-GB" sz="2400" dirty="0"/>
            </a:br>
            <a:r>
              <a:rPr lang="en-GB" sz="2400" dirty="0"/>
              <a:t>What do we need to assess? (subj &amp; </a:t>
            </a:r>
            <a:r>
              <a:rPr lang="en-GB" sz="2400" dirty="0" err="1"/>
              <a:t>obj</a:t>
            </a:r>
            <a:r>
              <a:rPr lang="en-GB" sz="2400" dirty="0"/>
              <a:t>)</a:t>
            </a:r>
            <a:br>
              <a:rPr lang="en-GB" sz="2400" dirty="0"/>
            </a:br>
            <a:br>
              <a:rPr lang="en-GB" sz="2400" dirty="0"/>
            </a:br>
            <a:r>
              <a:rPr lang="en-GB" sz="2400" dirty="0"/>
              <a:t>What is our problem list (listed by priority)?</a:t>
            </a:r>
            <a:br>
              <a:rPr lang="en-GB" sz="2400" dirty="0"/>
            </a:br>
            <a:br>
              <a:rPr lang="en-GB" sz="2400" dirty="0"/>
            </a:br>
            <a:r>
              <a:rPr lang="en-GB" sz="2400" dirty="0"/>
              <a:t>What do we need to treat?</a:t>
            </a:r>
            <a:br>
              <a:rPr lang="en-GB" sz="2400" dirty="0"/>
            </a:br>
            <a:br>
              <a:rPr lang="en-GB" sz="2400" dirty="0"/>
            </a:br>
            <a:r>
              <a:rPr lang="en-GB" sz="2400" dirty="0"/>
              <a:t>Do we need to refer to anyone else in the MDT? Who?</a:t>
            </a:r>
            <a:br>
              <a:rPr lang="en-GB" sz="2400" dirty="0"/>
            </a:br>
            <a:br>
              <a:rPr lang="en-GB" sz="2400" dirty="0"/>
            </a:br>
            <a:br>
              <a:rPr lang="en-GB" sz="2400" dirty="0"/>
            </a:br>
            <a:r>
              <a:rPr lang="en-GB" sz="2400" dirty="0"/>
              <a:t>30 mins to come up w/ list in your groups, ready to feed back as a larger group at 16:30.</a:t>
            </a:r>
          </a:p>
        </p:txBody>
      </p:sp>
      <p:sp>
        <p:nvSpPr>
          <p:cNvPr id="4" name="Rectangle 2">
            <a:extLst>
              <a:ext uri="{FF2B5EF4-FFF2-40B4-BE49-F238E27FC236}">
                <a16:creationId xmlns:a16="http://schemas.microsoft.com/office/drawing/2014/main" id="{A8885E74-6282-2194-AD20-A1CA46E7817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00FA87D1-997D-DE42-23AB-F2E927DA1399}"/>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8" name="Content Placeholder 7" descr="A person and person on a trampoline&#10;&#10;AI-generated content may be incorrect.">
            <a:extLst>
              <a:ext uri="{FF2B5EF4-FFF2-40B4-BE49-F238E27FC236}">
                <a16:creationId xmlns:a16="http://schemas.microsoft.com/office/drawing/2014/main" id="{05DF39A7-88A9-B50E-D23B-80F9ADD346BA}"/>
              </a:ext>
            </a:extLst>
          </p:cNvPr>
          <p:cNvPicPr>
            <a:picLocks noGrp="1" noChangeAspect="1"/>
          </p:cNvPicPr>
          <p:nvPr>
            <p:ph idx="1"/>
          </p:nvPr>
        </p:nvPicPr>
        <p:blipFill>
          <a:blip r:embed="rId2"/>
          <a:stretch>
            <a:fillRect/>
          </a:stretch>
        </p:blipFill>
        <p:spPr>
          <a:xfrm>
            <a:off x="-1" y="1"/>
            <a:ext cx="4572000" cy="6858000"/>
          </a:xfrm>
        </p:spPr>
      </p:pic>
    </p:spTree>
    <p:extLst>
      <p:ext uri="{BB962C8B-B14F-4D97-AF65-F5344CB8AC3E}">
        <p14:creationId xmlns:p14="http://schemas.microsoft.com/office/powerpoint/2010/main" val="3402427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AB760-6A41-32CA-F737-33A2145E0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893EE6-19C2-2282-4313-273DE476652E}"/>
              </a:ext>
            </a:extLst>
          </p:cNvPr>
          <p:cNvSpPr>
            <a:spLocks noGrp="1"/>
          </p:cNvSpPr>
          <p:nvPr>
            <p:ph type="title"/>
          </p:nvPr>
        </p:nvSpPr>
        <p:spPr>
          <a:xfrm>
            <a:off x="4925785" y="2103437"/>
            <a:ext cx="6912429" cy="1325563"/>
          </a:xfrm>
        </p:spPr>
        <p:txBody>
          <a:bodyPr/>
          <a:lstStyle/>
          <a:p>
            <a:r>
              <a:rPr lang="en-GB" dirty="0"/>
              <a:t>Practical – flat</a:t>
            </a:r>
            <a:br>
              <a:rPr lang="en-GB" dirty="0"/>
            </a:br>
            <a:br>
              <a:rPr lang="en-GB" sz="2400" dirty="0"/>
            </a:br>
            <a:br>
              <a:rPr lang="en-GB" sz="2400" dirty="0"/>
            </a:br>
            <a:r>
              <a:rPr lang="en-GB" sz="2400" dirty="0"/>
              <a:t>Demo scenarios in different rooms.</a:t>
            </a:r>
            <a:br>
              <a:rPr lang="en-GB" sz="2400" dirty="0"/>
            </a:br>
            <a:br>
              <a:rPr lang="en-GB" sz="2400" dirty="0"/>
            </a:br>
            <a:br>
              <a:rPr lang="en-GB" sz="2400" dirty="0"/>
            </a:br>
            <a:r>
              <a:rPr lang="en-GB" sz="2400" dirty="0"/>
              <a:t>5 mins smaller groups, then demonstrate to larger groups x5.</a:t>
            </a:r>
            <a:br>
              <a:rPr lang="en-GB" sz="2400" dirty="0"/>
            </a:br>
            <a:br>
              <a:rPr lang="en-GB" sz="2400" dirty="0"/>
            </a:br>
            <a:r>
              <a:rPr lang="en-GB" sz="2400" dirty="0"/>
              <a:t>30 mins total.</a:t>
            </a:r>
          </a:p>
        </p:txBody>
      </p:sp>
      <p:sp>
        <p:nvSpPr>
          <p:cNvPr id="4" name="Rectangle 2">
            <a:extLst>
              <a:ext uri="{FF2B5EF4-FFF2-40B4-BE49-F238E27FC236}">
                <a16:creationId xmlns:a16="http://schemas.microsoft.com/office/drawing/2014/main" id="{12449F80-6718-7338-ACF1-6E4146E5DCC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3EB4D2E7-3CC1-A4D5-AC62-77F6D768FCDD}"/>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11266" name="Picture 2" descr="Image result for community physiotherapy">
            <a:extLst>
              <a:ext uri="{FF2B5EF4-FFF2-40B4-BE49-F238E27FC236}">
                <a16:creationId xmlns:a16="http://schemas.microsoft.com/office/drawing/2014/main" id="{95CEB6AF-D92E-4BEC-895D-D72875E783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3785" y="1524000"/>
            <a:ext cx="4200457" cy="3588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01074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500F2-1FF6-9F00-3756-4C0A1361A7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72AEC-FD4E-7758-53B8-BD5F4530980D}"/>
              </a:ext>
            </a:extLst>
          </p:cNvPr>
          <p:cNvSpPr>
            <a:spLocks noGrp="1"/>
          </p:cNvSpPr>
          <p:nvPr>
            <p:ph type="title"/>
          </p:nvPr>
        </p:nvSpPr>
        <p:spPr>
          <a:xfrm>
            <a:off x="4849585" y="2690019"/>
            <a:ext cx="6912429" cy="1325563"/>
          </a:xfrm>
        </p:spPr>
        <p:txBody>
          <a:bodyPr/>
          <a:lstStyle/>
          <a:p>
            <a:r>
              <a:rPr lang="en-GB" dirty="0"/>
              <a:t>Practical – library</a:t>
            </a:r>
            <a:br>
              <a:rPr lang="en-GB" dirty="0"/>
            </a:br>
            <a:br>
              <a:rPr lang="en-GB" dirty="0"/>
            </a:br>
            <a:r>
              <a:rPr lang="en-GB" sz="2400" u="sng" dirty="0"/>
              <a:t>Case 1:</a:t>
            </a:r>
            <a:br>
              <a:rPr lang="en-GB" sz="2400" u="sng" dirty="0"/>
            </a:br>
            <a:br>
              <a:rPr lang="en-GB" sz="2400" dirty="0"/>
            </a:br>
            <a:r>
              <a:rPr lang="en-GB" sz="2400" dirty="0">
                <a:latin typeface="Open Sans" panose="020B0606030504020204" pitchFamily="34" charset="0"/>
                <a:ea typeface="Open Sans" panose="020B0606030504020204" pitchFamily="34" charset="0"/>
                <a:cs typeface="Open Sans" panose="020B0606030504020204" pitchFamily="34" charset="0"/>
              </a:rPr>
              <a:t>Patient: 90 F, D/C to BBR after 1/12 </a:t>
            </a:r>
            <a:r>
              <a:rPr lang="en-GB" sz="2400" dirty="0" err="1">
                <a:latin typeface="Open Sans" panose="020B0606030504020204" pitchFamily="34" charset="0"/>
                <a:ea typeface="Open Sans" panose="020B0606030504020204" pitchFamily="34" charset="0"/>
                <a:cs typeface="Open Sans" panose="020B0606030504020204" pitchFamily="34" charset="0"/>
              </a:rPr>
              <a:t>hosp</a:t>
            </a:r>
            <a:r>
              <a:rPr lang="en-GB" sz="2400" dirty="0">
                <a:latin typeface="Open Sans" panose="020B0606030504020204" pitchFamily="34" charset="0"/>
                <a:ea typeface="Open Sans" panose="020B0606030504020204" pitchFamily="34" charset="0"/>
                <a:cs typeface="Open Sans" panose="020B0606030504020204" pitchFamily="34" charset="0"/>
              </a:rPr>
              <a:t> </a:t>
            </a:r>
            <a:r>
              <a:rPr lang="en-GB" sz="2400" dirty="0" err="1">
                <a:latin typeface="Open Sans" panose="020B0606030504020204" pitchFamily="34" charset="0"/>
                <a:ea typeface="Open Sans" panose="020B0606030504020204" pitchFamily="34" charset="0"/>
                <a:cs typeface="Open Sans" panose="020B0606030504020204" pitchFamily="34" charset="0"/>
              </a:rPr>
              <a:t>adm</a:t>
            </a:r>
            <a:r>
              <a:rPr lang="en-GB" sz="2400" dirty="0">
                <a:latin typeface="Open Sans" panose="020B0606030504020204" pitchFamily="34" charset="0"/>
                <a:ea typeface="Open Sans" panose="020B0606030504020204" pitchFamily="34" charset="0"/>
                <a:cs typeface="Open Sans" panose="020B0606030504020204" pitchFamily="34" charset="0"/>
              </a:rPr>
              <a:t> after R TKR complications (pain, found to have fractured patella, needed revision + HKB (currently 0-90 degrees)). Currently mobile w/ WZF indoors. Wants to get back to </a:t>
            </a:r>
            <a:r>
              <a:rPr lang="en-GB" sz="2400" dirty="0" err="1">
                <a:latin typeface="Open Sans" panose="020B0606030504020204" pitchFamily="34" charset="0"/>
                <a:ea typeface="Open Sans" panose="020B0606030504020204" pitchFamily="34" charset="0"/>
                <a:cs typeface="Open Sans" panose="020B0606030504020204" pitchFamily="34" charset="0"/>
              </a:rPr>
              <a:t>ind</a:t>
            </a:r>
            <a:r>
              <a:rPr lang="en-GB" sz="2400" dirty="0">
                <a:latin typeface="Open Sans" panose="020B0606030504020204" pitchFamily="34" charset="0"/>
                <a:ea typeface="Open Sans" panose="020B0606030504020204" pitchFamily="34" charset="0"/>
                <a:cs typeface="Open Sans" panose="020B0606030504020204" pitchFamily="34" charset="0"/>
              </a:rPr>
              <a:t> living.</a:t>
            </a:r>
            <a:br>
              <a:rPr lang="en-GB" sz="2400" dirty="0">
                <a:latin typeface="Open Sans" panose="020B0606030504020204" pitchFamily="34" charset="0"/>
                <a:ea typeface="Open Sans" panose="020B0606030504020204" pitchFamily="34" charset="0"/>
                <a:cs typeface="Open Sans" panose="020B0606030504020204" pitchFamily="34" charset="0"/>
              </a:rPr>
            </a:br>
            <a:br>
              <a:rPr lang="en-GB" sz="2400" dirty="0">
                <a:latin typeface="Open Sans" panose="020B0606030504020204" pitchFamily="34" charset="0"/>
                <a:ea typeface="Open Sans" panose="020B0606030504020204" pitchFamily="34" charset="0"/>
                <a:cs typeface="Open Sans" panose="020B0606030504020204" pitchFamily="34" charset="0"/>
              </a:rPr>
            </a:br>
            <a:r>
              <a:rPr lang="en-GB" sz="2400" dirty="0">
                <a:latin typeface="Open Sans" panose="020B0606030504020204" pitchFamily="34" charset="0"/>
                <a:ea typeface="Open Sans" panose="020B0606030504020204" pitchFamily="34" charset="0"/>
                <a:cs typeface="Open Sans" panose="020B0606030504020204" pitchFamily="34" charset="0"/>
              </a:rPr>
              <a:t>PMH: OA, R elective TKR 3/12 ago, HTN, Hypercholesterolaemia, DM T2.</a:t>
            </a:r>
            <a:br>
              <a:rPr lang="en-GB" sz="2000" dirty="0">
                <a:latin typeface="Open Sans" panose="020B0606030504020204" pitchFamily="34" charset="0"/>
                <a:ea typeface="Open Sans" panose="020B0606030504020204" pitchFamily="34" charset="0"/>
                <a:cs typeface="Open Sans" panose="020B0606030504020204" pitchFamily="34" charset="0"/>
              </a:rPr>
            </a:br>
            <a:br>
              <a:rPr lang="en-GB" dirty="0">
                <a:latin typeface="Open Sans" panose="020B0606030504020204" pitchFamily="34" charset="0"/>
                <a:ea typeface="Open Sans" panose="020B0606030504020204" pitchFamily="34" charset="0"/>
                <a:cs typeface="Open Sans" panose="020B0606030504020204" pitchFamily="34" charset="0"/>
              </a:rPr>
            </a:br>
            <a:br>
              <a:rPr lang="en-GB" dirty="0"/>
            </a:br>
            <a:endParaRPr lang="en-GB" dirty="0"/>
          </a:p>
        </p:txBody>
      </p:sp>
      <p:sp>
        <p:nvSpPr>
          <p:cNvPr id="4" name="Rectangle 2">
            <a:extLst>
              <a:ext uri="{FF2B5EF4-FFF2-40B4-BE49-F238E27FC236}">
                <a16:creationId xmlns:a16="http://schemas.microsoft.com/office/drawing/2014/main" id="{EAF39E29-C1EF-AA01-C69B-9E964661026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06DD3541-A32F-26CE-98CE-B4FF02A9D0B5}"/>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pic>
        <p:nvPicPr>
          <p:cNvPr id="1026" name="Picture 2" descr="Image result for bed based rehab foxbury">
            <a:extLst>
              <a:ext uri="{FF2B5EF4-FFF2-40B4-BE49-F238E27FC236}">
                <a16:creationId xmlns:a16="http://schemas.microsoft.com/office/drawing/2014/main" id="{0EE3F973-11BB-6A9F-2F64-4FF1424BEA0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349831"/>
            <a:ext cx="4642326" cy="3654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88422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D4825-C1D4-956C-A788-01D39C621A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7A8759-2D60-91B5-9B92-3DC66B35812F}"/>
              </a:ext>
            </a:extLst>
          </p:cNvPr>
          <p:cNvSpPr>
            <a:spLocks noGrp="1"/>
          </p:cNvSpPr>
          <p:nvPr>
            <p:ph type="title"/>
          </p:nvPr>
        </p:nvSpPr>
        <p:spPr>
          <a:xfrm>
            <a:off x="4806042" y="787823"/>
            <a:ext cx="6912429" cy="1325563"/>
          </a:xfrm>
        </p:spPr>
        <p:txBody>
          <a:bodyPr/>
          <a:lstStyle/>
          <a:p>
            <a:r>
              <a:rPr lang="en-GB" dirty="0"/>
              <a:t>Practical – library</a:t>
            </a:r>
            <a:br>
              <a:rPr lang="en-GB" dirty="0"/>
            </a:br>
            <a:br>
              <a:rPr lang="en-GB" dirty="0"/>
            </a:br>
            <a:endParaRPr lang="en-GB" dirty="0"/>
          </a:p>
        </p:txBody>
      </p:sp>
      <p:sp>
        <p:nvSpPr>
          <p:cNvPr id="4" name="Rectangle 2">
            <a:extLst>
              <a:ext uri="{FF2B5EF4-FFF2-40B4-BE49-F238E27FC236}">
                <a16:creationId xmlns:a16="http://schemas.microsoft.com/office/drawing/2014/main" id="{CD7ABE24-F6F0-627D-FB2F-C212ABFF01A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68F1CCCC-868D-AED5-B8AF-F49A975AEDAC}"/>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6" name="TextBox 5">
            <a:extLst>
              <a:ext uri="{FF2B5EF4-FFF2-40B4-BE49-F238E27FC236}">
                <a16:creationId xmlns:a16="http://schemas.microsoft.com/office/drawing/2014/main" id="{7FA36541-6AD6-1F43-AF88-C9DD8210E1D7}"/>
              </a:ext>
            </a:extLst>
          </p:cNvPr>
          <p:cNvSpPr txBox="1"/>
          <p:nvPr/>
        </p:nvSpPr>
        <p:spPr>
          <a:xfrm>
            <a:off x="5889171" y="1895032"/>
            <a:ext cx="6096000" cy="3323987"/>
          </a:xfrm>
          <a:prstGeom prst="rect">
            <a:avLst/>
          </a:prstGeom>
          <a:noFill/>
        </p:spPr>
        <p:txBody>
          <a:bodyPr wrap="square">
            <a:spAutoFit/>
          </a:bodyPr>
          <a:lstStyle/>
          <a:p>
            <a:r>
              <a:rPr lang="en-GB" sz="2400" u="sng" dirty="0">
                <a:latin typeface="Open Sans" panose="020B0606030504020204" pitchFamily="34" charset="0"/>
                <a:ea typeface="Open Sans" panose="020B0606030504020204" pitchFamily="34" charset="0"/>
                <a:cs typeface="Open Sans" panose="020B0606030504020204" pitchFamily="34" charset="0"/>
              </a:rPr>
              <a:t>Case 2:</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Patient: 83 M, </a:t>
            </a:r>
            <a:r>
              <a:rPr lang="en-GB" sz="2400" dirty="0" err="1">
                <a:latin typeface="Open Sans" panose="020B0606030504020204" pitchFamily="34" charset="0"/>
                <a:ea typeface="Open Sans" panose="020B0606030504020204" pitchFamily="34" charset="0"/>
                <a:cs typeface="Open Sans" panose="020B0606030504020204" pitchFamily="34" charset="0"/>
              </a:rPr>
              <a:t>m&amp;I</a:t>
            </a:r>
            <a:r>
              <a:rPr lang="en-GB" sz="2400" dirty="0">
                <a:latin typeface="Open Sans" panose="020B0606030504020204" pitchFamily="34" charset="0"/>
                <a:ea typeface="Open Sans" panose="020B0606030504020204" pitchFamily="34" charset="0"/>
                <a:cs typeface="Open Sans" panose="020B0606030504020204" pitchFamily="34" charset="0"/>
              </a:rPr>
              <a:t>, would like advice on how to Mx recent PD diagnosis &amp; reduce falls risk.</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PMH: Spinal Stenosis, spinal op, PD, urinary urgency.</a:t>
            </a:r>
          </a:p>
          <a:p>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7" name="Content Placeholder 7" descr="A person hitting a person with boxing gloves&#10;&#10;AI-generated content may be incorrect.">
            <a:extLst>
              <a:ext uri="{FF2B5EF4-FFF2-40B4-BE49-F238E27FC236}">
                <a16:creationId xmlns:a16="http://schemas.microsoft.com/office/drawing/2014/main" id="{A9A351ED-C5EE-9C0D-B55F-F279F1782626}"/>
              </a:ext>
            </a:extLst>
          </p:cNvPr>
          <p:cNvPicPr>
            <a:picLocks noGrp="1" noChangeAspect="1"/>
          </p:cNvPicPr>
          <p:nvPr>
            <p:ph idx="1"/>
          </p:nvPr>
        </p:nvPicPr>
        <p:blipFill>
          <a:blip r:embed="rId2"/>
          <a:stretch>
            <a:fillRect/>
          </a:stretch>
        </p:blipFill>
        <p:spPr>
          <a:xfrm>
            <a:off x="1" y="1550533"/>
            <a:ext cx="5551714" cy="3701143"/>
          </a:xfrm>
        </p:spPr>
      </p:pic>
    </p:spTree>
    <p:extLst>
      <p:ext uri="{BB962C8B-B14F-4D97-AF65-F5344CB8AC3E}">
        <p14:creationId xmlns:p14="http://schemas.microsoft.com/office/powerpoint/2010/main" val="35569985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63CC3-8630-60CF-7E47-D3BBE37D90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7688CA-2D6B-B702-2332-4171C812D92D}"/>
              </a:ext>
            </a:extLst>
          </p:cNvPr>
          <p:cNvSpPr>
            <a:spLocks noGrp="1"/>
          </p:cNvSpPr>
          <p:nvPr>
            <p:ph type="title"/>
          </p:nvPr>
        </p:nvSpPr>
        <p:spPr>
          <a:xfrm>
            <a:off x="4806042" y="787823"/>
            <a:ext cx="6912429" cy="1325563"/>
          </a:xfrm>
        </p:spPr>
        <p:txBody>
          <a:bodyPr/>
          <a:lstStyle/>
          <a:p>
            <a:r>
              <a:rPr lang="en-GB" dirty="0"/>
              <a:t>Practical – library</a:t>
            </a:r>
            <a:br>
              <a:rPr lang="en-GB" dirty="0"/>
            </a:br>
            <a:br>
              <a:rPr lang="en-GB" dirty="0"/>
            </a:br>
            <a:endParaRPr lang="en-GB" dirty="0"/>
          </a:p>
        </p:txBody>
      </p:sp>
      <p:sp>
        <p:nvSpPr>
          <p:cNvPr id="4" name="Rectangle 2">
            <a:extLst>
              <a:ext uri="{FF2B5EF4-FFF2-40B4-BE49-F238E27FC236}">
                <a16:creationId xmlns:a16="http://schemas.microsoft.com/office/drawing/2014/main" id="{B23EB9C4-45C3-5776-0B03-76B50356165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3A57EC34-0181-5430-503A-BD56EA6EF994}"/>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6" name="TextBox 5">
            <a:extLst>
              <a:ext uri="{FF2B5EF4-FFF2-40B4-BE49-F238E27FC236}">
                <a16:creationId xmlns:a16="http://schemas.microsoft.com/office/drawing/2014/main" id="{3876B133-4E52-A87C-ABA4-D903A7337D2B}"/>
              </a:ext>
            </a:extLst>
          </p:cNvPr>
          <p:cNvSpPr txBox="1"/>
          <p:nvPr/>
        </p:nvSpPr>
        <p:spPr>
          <a:xfrm>
            <a:off x="5050971" y="1714812"/>
            <a:ext cx="6096000" cy="3693319"/>
          </a:xfrm>
          <a:prstGeom prst="rect">
            <a:avLst/>
          </a:prstGeom>
          <a:noFill/>
        </p:spPr>
        <p:txBody>
          <a:bodyPr wrap="square">
            <a:spAutoFit/>
          </a:bodyPr>
          <a:lstStyle/>
          <a:p>
            <a:r>
              <a:rPr lang="en-GB" sz="2400" u="sng" dirty="0">
                <a:latin typeface="Open Sans" panose="020B0606030504020204" pitchFamily="34" charset="0"/>
                <a:ea typeface="Open Sans" panose="020B0606030504020204" pitchFamily="34" charset="0"/>
                <a:cs typeface="Open Sans" panose="020B0606030504020204" pitchFamily="34" charset="0"/>
              </a:rPr>
              <a:t>Case 3:</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Patient: 25 F, </a:t>
            </a:r>
            <a:r>
              <a:rPr lang="en-GB" sz="2400" dirty="0" err="1">
                <a:latin typeface="Open Sans" panose="020B0606030504020204" pitchFamily="34" charset="0"/>
                <a:ea typeface="Open Sans" panose="020B0606030504020204" pitchFamily="34" charset="0"/>
                <a:cs typeface="Open Sans" panose="020B0606030504020204" pitchFamily="34" charset="0"/>
              </a:rPr>
              <a:t>m&amp;I</a:t>
            </a:r>
            <a:r>
              <a:rPr lang="en-GB" sz="2400" dirty="0">
                <a:latin typeface="Open Sans" panose="020B0606030504020204" pitchFamily="34" charset="0"/>
                <a:ea typeface="Open Sans" panose="020B0606030504020204" pitchFamily="34" charset="0"/>
                <a:cs typeface="Open Sans" panose="020B0606030504020204" pitchFamily="34" charset="0"/>
              </a:rPr>
              <a:t> but dragging RLL, presented to ED as ? CES, now just diagnosed with MS, trainee solicitor currently unable to work, Neurologist recommended physio.</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PMH: PCOS, constipation.</a:t>
            </a:r>
          </a:p>
          <a:p>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2050" name="Picture 2" descr="Foot drop | MS Trust">
            <a:extLst>
              <a:ext uri="{FF2B5EF4-FFF2-40B4-BE49-F238E27FC236}">
                <a16:creationId xmlns:a16="http://schemas.microsoft.com/office/drawing/2014/main" id="{4734A0C6-71AC-4066-6B25-604F1917E9B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r="46323"/>
          <a:stretch/>
        </p:blipFill>
        <p:spPr bwMode="auto">
          <a:xfrm>
            <a:off x="397329" y="1597836"/>
            <a:ext cx="3641271" cy="35613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52484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DB260-849B-FD82-F074-07F6B82D3A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C94C9-F00C-342B-080B-79EE17521F26}"/>
              </a:ext>
            </a:extLst>
          </p:cNvPr>
          <p:cNvSpPr>
            <a:spLocks noGrp="1"/>
          </p:cNvSpPr>
          <p:nvPr>
            <p:ph type="title"/>
          </p:nvPr>
        </p:nvSpPr>
        <p:spPr>
          <a:xfrm>
            <a:off x="4806042" y="787823"/>
            <a:ext cx="6912429" cy="1325563"/>
          </a:xfrm>
        </p:spPr>
        <p:txBody>
          <a:bodyPr/>
          <a:lstStyle/>
          <a:p>
            <a:r>
              <a:rPr lang="en-GB" dirty="0"/>
              <a:t>Practical – library</a:t>
            </a:r>
            <a:br>
              <a:rPr lang="en-GB" dirty="0"/>
            </a:br>
            <a:br>
              <a:rPr lang="en-GB" dirty="0"/>
            </a:br>
            <a:endParaRPr lang="en-GB" dirty="0"/>
          </a:p>
        </p:txBody>
      </p:sp>
      <p:sp>
        <p:nvSpPr>
          <p:cNvPr id="4" name="Rectangle 2">
            <a:extLst>
              <a:ext uri="{FF2B5EF4-FFF2-40B4-BE49-F238E27FC236}">
                <a16:creationId xmlns:a16="http://schemas.microsoft.com/office/drawing/2014/main" id="{BF902E2F-5F62-2A50-E8D3-0EB86B6F466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45A0C07D-C47E-0EE2-CE88-B84C494E8E2E}"/>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6" name="TextBox 5">
            <a:extLst>
              <a:ext uri="{FF2B5EF4-FFF2-40B4-BE49-F238E27FC236}">
                <a16:creationId xmlns:a16="http://schemas.microsoft.com/office/drawing/2014/main" id="{6D60D4EF-D8F9-3F50-1F86-06EEF028F028}"/>
              </a:ext>
            </a:extLst>
          </p:cNvPr>
          <p:cNvSpPr txBox="1"/>
          <p:nvPr/>
        </p:nvSpPr>
        <p:spPr>
          <a:xfrm>
            <a:off x="5214256" y="1910754"/>
            <a:ext cx="6096000" cy="3693319"/>
          </a:xfrm>
          <a:prstGeom prst="rect">
            <a:avLst/>
          </a:prstGeom>
          <a:noFill/>
        </p:spPr>
        <p:txBody>
          <a:bodyPr wrap="square">
            <a:spAutoFit/>
          </a:bodyPr>
          <a:lstStyle/>
          <a:p>
            <a:r>
              <a:rPr lang="en-GB" sz="2400" u="sng" dirty="0">
                <a:latin typeface="Open Sans" panose="020B0606030504020204" pitchFamily="34" charset="0"/>
                <a:ea typeface="Open Sans" panose="020B0606030504020204" pitchFamily="34" charset="0"/>
                <a:cs typeface="Open Sans" panose="020B0606030504020204" pitchFamily="34" charset="0"/>
              </a:rPr>
              <a:t>Case 4:</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Patient: 83 F, in NH, Advanced Dementia, no longer mobilising with carers, using hoist, family would like to know “rehab pot” .</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PMH: Dementia diagnosed 2018, OA neck.</a:t>
            </a:r>
          </a:p>
          <a:p>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3074" name="Picture 2" descr="Image result for ADVANCED DEMENTIA">
            <a:extLst>
              <a:ext uri="{FF2B5EF4-FFF2-40B4-BE49-F238E27FC236}">
                <a16:creationId xmlns:a16="http://schemas.microsoft.com/office/drawing/2014/main" id="{7809C81A-82CD-6F9E-D156-08A5B5192D7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3656" y="2074040"/>
            <a:ext cx="4392385" cy="3088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6925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E3CA6-B851-2FA6-6366-3B2298739F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F4794F-6FB7-DD02-5FD4-8E30BFCBA2D9}"/>
              </a:ext>
            </a:extLst>
          </p:cNvPr>
          <p:cNvSpPr>
            <a:spLocks noGrp="1"/>
          </p:cNvSpPr>
          <p:nvPr>
            <p:ph type="title"/>
          </p:nvPr>
        </p:nvSpPr>
        <p:spPr>
          <a:xfrm>
            <a:off x="2639785" y="621734"/>
            <a:ext cx="6912429" cy="1325563"/>
          </a:xfrm>
        </p:spPr>
        <p:txBody>
          <a:bodyPr/>
          <a:lstStyle/>
          <a:p>
            <a:r>
              <a:rPr lang="en-GB" dirty="0"/>
              <a:t>Practical – library</a:t>
            </a:r>
            <a:br>
              <a:rPr lang="en-GB" dirty="0"/>
            </a:br>
            <a:br>
              <a:rPr lang="en-GB" dirty="0"/>
            </a:br>
            <a:endParaRPr lang="en-GB" dirty="0"/>
          </a:p>
        </p:txBody>
      </p:sp>
      <p:sp>
        <p:nvSpPr>
          <p:cNvPr id="4" name="Rectangle 2">
            <a:extLst>
              <a:ext uri="{FF2B5EF4-FFF2-40B4-BE49-F238E27FC236}">
                <a16:creationId xmlns:a16="http://schemas.microsoft.com/office/drawing/2014/main" id="{13C362ED-B6EF-A513-97CF-62F2FAFC56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BC1AF727-E955-4F82-2224-CCB919B50E69}"/>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6" name="TextBox 5">
            <a:extLst>
              <a:ext uri="{FF2B5EF4-FFF2-40B4-BE49-F238E27FC236}">
                <a16:creationId xmlns:a16="http://schemas.microsoft.com/office/drawing/2014/main" id="{EFD2CDB9-FED5-5CDA-5424-6902A00CAF20}"/>
              </a:ext>
            </a:extLst>
          </p:cNvPr>
          <p:cNvSpPr txBox="1"/>
          <p:nvPr/>
        </p:nvSpPr>
        <p:spPr>
          <a:xfrm>
            <a:off x="5050971" y="1693040"/>
            <a:ext cx="6096000" cy="4062651"/>
          </a:xfrm>
          <a:prstGeom prst="rect">
            <a:avLst/>
          </a:prstGeom>
          <a:noFill/>
        </p:spPr>
        <p:txBody>
          <a:bodyPr wrap="square">
            <a:spAutoFit/>
          </a:bodyPr>
          <a:lstStyle/>
          <a:p>
            <a:r>
              <a:rPr lang="en-GB" sz="2400" u="sng" dirty="0">
                <a:latin typeface="Open Sans" panose="020B0606030504020204" pitchFamily="34" charset="0"/>
                <a:ea typeface="Open Sans" panose="020B0606030504020204" pitchFamily="34" charset="0"/>
                <a:cs typeface="Open Sans" panose="020B0606030504020204" pitchFamily="34" charset="0"/>
              </a:rPr>
              <a:t>Case 5:</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Patient: 83 M just D/C from 6/52 hospital admission post fall/collapse, treated for IECOPD &amp; postural hypotension. Struggling to get to toilet, struggling to stand with wife &amp; daughter helping w/ quad stick, family </a:t>
            </a:r>
            <a:r>
              <a:rPr lang="en-GB" sz="2400" dirty="0" err="1">
                <a:latin typeface="Open Sans" panose="020B0606030504020204" pitchFamily="34" charset="0"/>
                <a:ea typeface="Open Sans" panose="020B0606030504020204" pitchFamily="34" charset="0"/>
                <a:cs typeface="Open Sans" panose="020B0606030504020204" pitchFamily="34" charset="0"/>
              </a:rPr>
              <a:t>acopic</a:t>
            </a:r>
            <a:r>
              <a:rPr lang="en-GB" sz="2400" dirty="0">
                <a:latin typeface="Open Sans" panose="020B0606030504020204" pitchFamily="34" charset="0"/>
                <a:ea typeface="Open Sans" panose="020B0606030504020204" pitchFamily="34" charset="0"/>
                <a:cs typeface="Open Sans" panose="020B0606030504020204" pitchFamily="34" charset="0"/>
              </a:rPr>
              <a:t> – GP referral.</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PMH: COPD, AF, HTN, Stroke, Ex smoker.</a:t>
            </a:r>
          </a:p>
          <a:p>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4098" name="Picture 2" descr="Image result for MALE WITH COPD">
            <a:extLst>
              <a:ext uri="{FF2B5EF4-FFF2-40B4-BE49-F238E27FC236}">
                <a16:creationId xmlns:a16="http://schemas.microsoft.com/office/drawing/2014/main" id="{48BBBA91-7325-68C8-4CA1-1C8F6C183D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61256" y="2416630"/>
            <a:ext cx="4588726" cy="2575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026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D0D7E-0F58-AE97-5C77-9FB7E325FCE7}"/>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EFA357E9-D79C-801B-44D8-0247E17D118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C7ABD8E8-38AC-D7C5-AF02-7DE73894EFDE}"/>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Title 2">
            <a:extLst>
              <a:ext uri="{FF2B5EF4-FFF2-40B4-BE49-F238E27FC236}">
                <a16:creationId xmlns:a16="http://schemas.microsoft.com/office/drawing/2014/main" id="{9DBF6A58-0176-A52C-0ED1-1C649072C2E0}"/>
              </a:ext>
            </a:extLst>
          </p:cNvPr>
          <p:cNvSpPr>
            <a:spLocks noGrp="1"/>
          </p:cNvSpPr>
          <p:nvPr>
            <p:ph type="title"/>
          </p:nvPr>
        </p:nvSpPr>
        <p:spPr/>
        <p:txBody>
          <a:bodyPr/>
          <a:lstStyle/>
          <a:p>
            <a:r>
              <a:rPr lang="en-GB" dirty="0"/>
              <a:t>Practical - flat</a:t>
            </a:r>
          </a:p>
        </p:txBody>
      </p:sp>
      <p:sp>
        <p:nvSpPr>
          <p:cNvPr id="2" name="TextBox 1">
            <a:extLst>
              <a:ext uri="{FF2B5EF4-FFF2-40B4-BE49-F238E27FC236}">
                <a16:creationId xmlns:a16="http://schemas.microsoft.com/office/drawing/2014/main" id="{C6F264D1-3691-6DE9-DF36-27881F88D96F}"/>
              </a:ext>
            </a:extLst>
          </p:cNvPr>
          <p:cNvSpPr txBox="1"/>
          <p:nvPr/>
        </p:nvSpPr>
        <p:spPr>
          <a:xfrm>
            <a:off x="896370" y="1537829"/>
            <a:ext cx="5199630" cy="3785652"/>
          </a:xfrm>
          <a:prstGeom prst="rect">
            <a:avLst/>
          </a:prstGeom>
          <a:noFill/>
        </p:spPr>
        <p:txBody>
          <a:bodyPr wrap="square" lIns="91440" tIns="45720" rIns="91440" bIns="45720" anchor="t">
            <a:spAutoFit/>
          </a:bodyPr>
          <a:lstStyle/>
          <a:p>
            <a:r>
              <a:rPr lang="en-GB" sz="2400" u="sng" dirty="0">
                <a:latin typeface="Open Sans" panose="020B0606030504020204" pitchFamily="34" charset="0"/>
                <a:ea typeface="Open Sans" panose="020B0606030504020204" pitchFamily="34" charset="0"/>
                <a:cs typeface="Open Sans" panose="020B0606030504020204" pitchFamily="34" charset="0"/>
              </a:rPr>
              <a:t>Case 1:</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a:ea typeface="Open Sans"/>
                <a:cs typeface="Open Sans"/>
              </a:rPr>
              <a:t>Demonstrate how you would teach moderate level dynamic standing balance exercises to a 75-year-old female within 6/52 following a right hip fracture (DHS – FWB). Currently mobile w/ L w/s indoors.</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PMH: OP, ex-ETOH excess.</a:t>
            </a:r>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5122" name="Picture 2" descr="Image result for KITCHEN">
            <a:extLst>
              <a:ext uri="{FF2B5EF4-FFF2-40B4-BE49-F238E27FC236}">
                <a16:creationId xmlns:a16="http://schemas.microsoft.com/office/drawing/2014/main" id="{B8D7CDD4-7E5B-AF89-6AD5-C18ED1963AE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30797" y="1382304"/>
            <a:ext cx="5120356" cy="4093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422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02BFE-6B31-D3BA-3526-2A2A8530A7C2}"/>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998C09BC-38B0-FABD-B07B-D22C38284AE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ABDDEE43-11C5-2047-66E5-AC6F49BB5570}"/>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Title 2">
            <a:extLst>
              <a:ext uri="{FF2B5EF4-FFF2-40B4-BE49-F238E27FC236}">
                <a16:creationId xmlns:a16="http://schemas.microsoft.com/office/drawing/2014/main" id="{F9D848FE-E475-48B8-3037-9EB587F26235}"/>
              </a:ext>
            </a:extLst>
          </p:cNvPr>
          <p:cNvSpPr>
            <a:spLocks noGrp="1"/>
          </p:cNvSpPr>
          <p:nvPr>
            <p:ph type="title"/>
          </p:nvPr>
        </p:nvSpPr>
        <p:spPr>
          <a:xfrm>
            <a:off x="3722914" y="-126432"/>
            <a:ext cx="4190997" cy="1325563"/>
          </a:xfrm>
        </p:spPr>
        <p:txBody>
          <a:bodyPr/>
          <a:lstStyle/>
          <a:p>
            <a:r>
              <a:rPr lang="en-GB" dirty="0"/>
              <a:t>Practical - flat</a:t>
            </a:r>
          </a:p>
        </p:txBody>
      </p:sp>
      <p:sp>
        <p:nvSpPr>
          <p:cNvPr id="2" name="TextBox 1">
            <a:extLst>
              <a:ext uri="{FF2B5EF4-FFF2-40B4-BE49-F238E27FC236}">
                <a16:creationId xmlns:a16="http://schemas.microsoft.com/office/drawing/2014/main" id="{861B8653-9CE9-8157-4273-6733D3AC0E86}"/>
              </a:ext>
            </a:extLst>
          </p:cNvPr>
          <p:cNvSpPr txBox="1"/>
          <p:nvPr/>
        </p:nvSpPr>
        <p:spPr>
          <a:xfrm>
            <a:off x="5627916" y="1596057"/>
            <a:ext cx="5551714" cy="3046988"/>
          </a:xfrm>
          <a:prstGeom prst="rect">
            <a:avLst/>
          </a:prstGeom>
          <a:noFill/>
        </p:spPr>
        <p:txBody>
          <a:bodyPr wrap="square">
            <a:spAutoFit/>
          </a:bodyPr>
          <a:lstStyle/>
          <a:p>
            <a:r>
              <a:rPr lang="en-GB" sz="2400" u="sng" dirty="0">
                <a:latin typeface="Open Sans" panose="020B0606030504020204" pitchFamily="34" charset="0"/>
                <a:ea typeface="Open Sans" panose="020B0606030504020204" pitchFamily="34" charset="0"/>
                <a:cs typeface="Open Sans" panose="020B0606030504020204" pitchFamily="34" charset="0"/>
              </a:rPr>
              <a:t>Case 2:</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Demonstrate how you would manage when finding an 86 M collapsed by the toilet.</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PMH: PD, R hip fracture – DHS 1.5 years ago.</a:t>
            </a:r>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6146" name="Picture 2" descr="Bathroom Adaptations | Stayable">
            <a:extLst>
              <a:ext uri="{FF2B5EF4-FFF2-40B4-BE49-F238E27FC236}">
                <a16:creationId xmlns:a16="http://schemas.microsoft.com/office/drawing/2014/main" id="{20F6AB3D-3219-138E-6AB7-56ADA466EF8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063624"/>
            <a:ext cx="4190997" cy="5587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24672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8A505-6375-0415-EE6B-068060814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EF16EB-B4E0-37F3-FF61-FBF4DF1B7815}"/>
              </a:ext>
            </a:extLst>
          </p:cNvPr>
          <p:cNvSpPr>
            <a:spLocks noGrp="1"/>
          </p:cNvSpPr>
          <p:nvPr>
            <p:ph type="title"/>
          </p:nvPr>
        </p:nvSpPr>
        <p:spPr>
          <a:xfrm>
            <a:off x="838200" y="61118"/>
            <a:ext cx="10515600" cy="1325563"/>
          </a:xfrm>
        </p:spPr>
        <p:txBody>
          <a:bodyPr/>
          <a:lstStyle/>
          <a:p>
            <a:r>
              <a:rPr lang="en-GB" dirty="0"/>
              <a:t>Practical - flat</a:t>
            </a:r>
          </a:p>
        </p:txBody>
      </p:sp>
      <p:sp>
        <p:nvSpPr>
          <p:cNvPr id="4" name="Rectangle 2">
            <a:extLst>
              <a:ext uri="{FF2B5EF4-FFF2-40B4-BE49-F238E27FC236}">
                <a16:creationId xmlns:a16="http://schemas.microsoft.com/office/drawing/2014/main" id="{C8CC8D80-8814-4944-9A3F-08ADF4F1C73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8E59A0EC-2977-3F89-8AF3-2FC858CA02F2}"/>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TextBox 2">
            <a:extLst>
              <a:ext uri="{FF2B5EF4-FFF2-40B4-BE49-F238E27FC236}">
                <a16:creationId xmlns:a16="http://schemas.microsoft.com/office/drawing/2014/main" id="{32526C6F-FA67-847A-8843-5E4F00E7F0C9}"/>
              </a:ext>
            </a:extLst>
          </p:cNvPr>
          <p:cNvSpPr txBox="1"/>
          <p:nvPr/>
        </p:nvSpPr>
        <p:spPr>
          <a:xfrm>
            <a:off x="5456549" y="1028343"/>
            <a:ext cx="5199630" cy="3416320"/>
          </a:xfrm>
          <a:prstGeom prst="rect">
            <a:avLst/>
          </a:prstGeom>
          <a:noFill/>
        </p:spPr>
        <p:txBody>
          <a:bodyPr wrap="square">
            <a:spAutoFit/>
          </a:bodyPr>
          <a:lstStyle/>
          <a:p>
            <a:r>
              <a:rPr lang="en-GB" sz="2400" u="sng" dirty="0">
                <a:latin typeface="Open Sans" panose="020B0606030504020204" pitchFamily="34" charset="0"/>
                <a:ea typeface="Open Sans" panose="020B0606030504020204" pitchFamily="34" charset="0"/>
                <a:cs typeface="Open Sans" panose="020B0606030504020204" pitchFamily="34" charset="0"/>
              </a:rPr>
              <a:t>Case 3:</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Demonstrate how you would work on static then dynamic sitting balance with a 55 year old M 12/52 post stroke.</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PMH: Stroke LSW, HTN, Hypercholesterolaemia, </a:t>
            </a:r>
            <a:r>
              <a:rPr lang="en-GB" sz="2400" dirty="0" err="1">
                <a:latin typeface="Open Sans" panose="020B0606030504020204" pitchFamily="34" charset="0"/>
                <a:ea typeface="Open Sans" panose="020B0606030504020204" pitchFamily="34" charset="0"/>
                <a:cs typeface="Open Sans" panose="020B0606030504020204" pitchFamily="34" charset="0"/>
              </a:rPr>
              <a:t>incr</a:t>
            </a:r>
            <a:r>
              <a:rPr lang="en-GB" sz="2400" dirty="0">
                <a:latin typeface="Open Sans" panose="020B0606030504020204" pitchFamily="34" charset="0"/>
                <a:ea typeface="Open Sans" panose="020B0606030504020204" pitchFamily="34" charset="0"/>
                <a:cs typeface="Open Sans" panose="020B0606030504020204" pitchFamily="34" charset="0"/>
              </a:rPr>
              <a:t> BMI.</a:t>
            </a:r>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7170" name="Picture 2" descr="Opera Home Hospital Bed Bundle - 3ft Single - Side Rails - Pressure Care Mattress - Profiling Height Adjustment - Nursing Height">
            <a:extLst>
              <a:ext uri="{FF2B5EF4-FFF2-40B4-BE49-F238E27FC236}">
                <a16:creationId xmlns:a16="http://schemas.microsoft.com/office/drawing/2014/main" id="{A3B7DAA1-5DA2-FA25-8BD4-A067842B905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2258" y="1281508"/>
            <a:ext cx="4116670" cy="38593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4863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A50FF-B27E-6050-0DD3-D806D4BBE9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D24BA3-132E-6227-6352-0D870394C2F5}"/>
              </a:ext>
            </a:extLst>
          </p:cNvPr>
          <p:cNvSpPr>
            <a:spLocks noGrp="1"/>
          </p:cNvSpPr>
          <p:nvPr>
            <p:ph type="title"/>
          </p:nvPr>
        </p:nvSpPr>
        <p:spPr>
          <a:xfrm>
            <a:off x="838200" y="61118"/>
            <a:ext cx="10515600" cy="1325563"/>
          </a:xfrm>
        </p:spPr>
        <p:txBody>
          <a:bodyPr/>
          <a:lstStyle/>
          <a:p>
            <a:r>
              <a:rPr lang="en-GB" dirty="0"/>
              <a:t>Practical - flat</a:t>
            </a:r>
          </a:p>
        </p:txBody>
      </p:sp>
      <p:sp>
        <p:nvSpPr>
          <p:cNvPr id="4" name="Rectangle 2">
            <a:extLst>
              <a:ext uri="{FF2B5EF4-FFF2-40B4-BE49-F238E27FC236}">
                <a16:creationId xmlns:a16="http://schemas.microsoft.com/office/drawing/2014/main" id="{0E48E21F-E325-FCC1-F0E3-9965BDE5F50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9CE0C29F-CBD2-FF7E-ABF2-812F05F23C67}"/>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TextBox 2">
            <a:extLst>
              <a:ext uri="{FF2B5EF4-FFF2-40B4-BE49-F238E27FC236}">
                <a16:creationId xmlns:a16="http://schemas.microsoft.com/office/drawing/2014/main" id="{3B8FDE64-0C05-0CB3-0E73-778C3716D1E7}"/>
              </a:ext>
            </a:extLst>
          </p:cNvPr>
          <p:cNvSpPr txBox="1"/>
          <p:nvPr/>
        </p:nvSpPr>
        <p:spPr>
          <a:xfrm>
            <a:off x="5794006" y="1603359"/>
            <a:ext cx="5199630" cy="3046988"/>
          </a:xfrm>
          <a:prstGeom prst="rect">
            <a:avLst/>
          </a:prstGeom>
          <a:noFill/>
        </p:spPr>
        <p:txBody>
          <a:bodyPr wrap="square">
            <a:spAutoFit/>
          </a:bodyPr>
          <a:lstStyle/>
          <a:p>
            <a:r>
              <a:rPr lang="en-GB" sz="2400" u="sng" dirty="0">
                <a:latin typeface="Open Sans" panose="020B0606030504020204" pitchFamily="34" charset="0"/>
                <a:ea typeface="Open Sans" panose="020B0606030504020204" pitchFamily="34" charset="0"/>
                <a:cs typeface="Open Sans" panose="020B0606030504020204" pitchFamily="34" charset="0"/>
              </a:rPr>
              <a:t>Case 4:</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Demonstrate how you would assess lower limb ROM &amp; strength in 71 M 2/52 post elective R TKR (FWB).</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PMH: OA.</a:t>
            </a:r>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8194" name="Picture 2" descr="Modern lounge Room Designs For Stylish Living Room">
            <a:extLst>
              <a:ext uri="{FF2B5EF4-FFF2-40B4-BE49-F238E27FC236}">
                <a16:creationId xmlns:a16="http://schemas.microsoft.com/office/drawing/2014/main" id="{009383B2-AC44-0485-6339-4547AAB21B0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3118" y="1679916"/>
            <a:ext cx="4514850"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3614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72A7D-961A-3019-7357-1532CA798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C0D76-2100-4785-398A-CEC140C49514}"/>
              </a:ext>
            </a:extLst>
          </p:cNvPr>
          <p:cNvSpPr>
            <a:spLocks noGrp="1"/>
          </p:cNvSpPr>
          <p:nvPr>
            <p:ph type="title"/>
          </p:nvPr>
        </p:nvSpPr>
        <p:spPr>
          <a:xfrm>
            <a:off x="838200" y="61118"/>
            <a:ext cx="10515600" cy="1325563"/>
          </a:xfrm>
        </p:spPr>
        <p:txBody>
          <a:bodyPr/>
          <a:lstStyle/>
          <a:p>
            <a:r>
              <a:rPr lang="en-GB" dirty="0"/>
              <a:t>Practical - flat</a:t>
            </a:r>
          </a:p>
        </p:txBody>
      </p:sp>
      <p:sp>
        <p:nvSpPr>
          <p:cNvPr id="4" name="Rectangle 2">
            <a:extLst>
              <a:ext uri="{FF2B5EF4-FFF2-40B4-BE49-F238E27FC236}">
                <a16:creationId xmlns:a16="http://schemas.microsoft.com/office/drawing/2014/main" id="{ED2ABC60-25B6-BE50-D595-AE47FF7AB64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5" name="Rectangle 4">
            <a:extLst>
              <a:ext uri="{FF2B5EF4-FFF2-40B4-BE49-F238E27FC236}">
                <a16:creationId xmlns:a16="http://schemas.microsoft.com/office/drawing/2014/main" id="{4CE0397F-B448-D625-75CD-5B353AD51DF4}"/>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3" name="TextBox 2">
            <a:extLst>
              <a:ext uri="{FF2B5EF4-FFF2-40B4-BE49-F238E27FC236}">
                <a16:creationId xmlns:a16="http://schemas.microsoft.com/office/drawing/2014/main" id="{27DA0FD6-FD4C-09E1-BB1C-CF76813416C0}"/>
              </a:ext>
            </a:extLst>
          </p:cNvPr>
          <p:cNvSpPr txBox="1"/>
          <p:nvPr/>
        </p:nvSpPr>
        <p:spPr>
          <a:xfrm>
            <a:off x="4927654" y="1145461"/>
            <a:ext cx="5816545" cy="4154984"/>
          </a:xfrm>
          <a:prstGeom prst="rect">
            <a:avLst/>
          </a:prstGeom>
          <a:noFill/>
        </p:spPr>
        <p:txBody>
          <a:bodyPr wrap="square">
            <a:spAutoFit/>
          </a:bodyPr>
          <a:lstStyle/>
          <a:p>
            <a:r>
              <a:rPr lang="en-GB" sz="2400" u="sng" dirty="0">
                <a:latin typeface="Open Sans" panose="020B0606030504020204" pitchFamily="34" charset="0"/>
                <a:ea typeface="Open Sans" panose="020B0606030504020204" pitchFamily="34" charset="0"/>
                <a:cs typeface="Open Sans" panose="020B0606030504020204" pitchFamily="34" charset="0"/>
              </a:rPr>
              <a:t>Case 5:</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Demonstrate how you would facilitate outdoor mobility in 92 F, currently housebound post </a:t>
            </a:r>
            <a:r>
              <a:rPr lang="en-GB" sz="2400" dirty="0" err="1">
                <a:latin typeface="Open Sans" panose="020B0606030504020204" pitchFamily="34" charset="0"/>
                <a:ea typeface="Open Sans" panose="020B0606030504020204" pitchFamily="34" charset="0"/>
                <a:cs typeface="Open Sans" panose="020B0606030504020204" pitchFamily="34" charset="0"/>
              </a:rPr>
              <a:t>hosp</a:t>
            </a:r>
            <a:r>
              <a:rPr lang="en-GB" sz="2400" dirty="0">
                <a:latin typeface="Open Sans" panose="020B0606030504020204" pitchFamily="34" charset="0"/>
                <a:ea typeface="Open Sans" panose="020B0606030504020204" pitchFamily="34" charset="0"/>
                <a:cs typeface="Open Sans" panose="020B0606030504020204" pitchFamily="34" charset="0"/>
              </a:rPr>
              <a:t> </a:t>
            </a:r>
            <a:r>
              <a:rPr lang="en-GB" sz="2400" dirty="0" err="1">
                <a:latin typeface="Open Sans" panose="020B0606030504020204" pitchFamily="34" charset="0"/>
                <a:ea typeface="Open Sans" panose="020B0606030504020204" pitchFamily="34" charset="0"/>
                <a:cs typeface="Open Sans" panose="020B0606030504020204" pitchFamily="34" charset="0"/>
              </a:rPr>
              <a:t>adm</a:t>
            </a:r>
            <a:r>
              <a:rPr lang="en-GB" sz="2400" dirty="0">
                <a:latin typeface="Open Sans" panose="020B0606030504020204" pitchFamily="34" charset="0"/>
                <a:ea typeface="Open Sans" panose="020B0606030504020204" pitchFamily="34" charset="0"/>
                <a:cs typeface="Open Sans" panose="020B0606030504020204" pitchFamily="34" charset="0"/>
              </a:rPr>
              <a:t> for pneumonia &amp; covid, to return to mob to local corner shop 500m away. Lives alone in bungalow w/ 2 access steps.</a:t>
            </a:r>
          </a:p>
          <a:p>
            <a:endParaRPr lang="en-GB" sz="2400" dirty="0">
              <a:latin typeface="Open Sans" panose="020B0606030504020204" pitchFamily="34" charset="0"/>
              <a:ea typeface="Open Sans" panose="020B0606030504020204" pitchFamily="34" charset="0"/>
              <a:cs typeface="Open Sans" panose="020B0606030504020204" pitchFamily="34" charset="0"/>
            </a:endParaRPr>
          </a:p>
          <a:p>
            <a:r>
              <a:rPr lang="en-GB" sz="2400" dirty="0">
                <a:latin typeface="Open Sans" panose="020B0606030504020204" pitchFamily="34" charset="0"/>
                <a:ea typeface="Open Sans" panose="020B0606030504020204" pitchFamily="34" charset="0"/>
                <a:cs typeface="Open Sans" panose="020B0606030504020204" pitchFamily="34" charset="0"/>
              </a:rPr>
              <a:t>PMH: Asthma, fractured L wrist 20 years ago, hysterectomy 30 years ago.</a:t>
            </a:r>
            <a:endParaRPr lang="en-GB" dirty="0">
              <a:latin typeface="Open Sans" panose="020B0606030504020204" pitchFamily="34" charset="0"/>
              <a:ea typeface="Open Sans" panose="020B0606030504020204" pitchFamily="34" charset="0"/>
              <a:cs typeface="Open Sans" panose="020B0606030504020204" pitchFamily="34" charset="0"/>
            </a:endParaRPr>
          </a:p>
        </p:txBody>
      </p:sp>
      <p:pic>
        <p:nvPicPr>
          <p:cNvPr id="9218" name="Picture 2" descr="Image result for bungalow with access steps grab rail">
            <a:extLst>
              <a:ext uri="{FF2B5EF4-FFF2-40B4-BE49-F238E27FC236}">
                <a16:creationId xmlns:a16="http://schemas.microsoft.com/office/drawing/2014/main" id="{AD018C11-E60D-6719-1EA5-D5BBD6BBBB5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29743"/>
            <a:ext cx="3427639" cy="34276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7228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E21CA-795F-C26C-0F6C-A60AC57A3408}"/>
              </a:ext>
            </a:extLst>
          </p:cNvPr>
          <p:cNvSpPr>
            <a:spLocks noGrp="1"/>
          </p:cNvSpPr>
          <p:nvPr>
            <p:ph type="title"/>
          </p:nvPr>
        </p:nvSpPr>
        <p:spPr/>
        <p:txBody>
          <a:bodyPr/>
          <a:lstStyle/>
          <a:p>
            <a:r>
              <a:rPr lang="en-GB" dirty="0"/>
              <a:t>Closing 16:30–17:00</a:t>
            </a:r>
          </a:p>
        </p:txBody>
      </p:sp>
      <p:sp>
        <p:nvSpPr>
          <p:cNvPr id="3" name="Content Placeholder 2">
            <a:extLst>
              <a:ext uri="{FF2B5EF4-FFF2-40B4-BE49-F238E27FC236}">
                <a16:creationId xmlns:a16="http://schemas.microsoft.com/office/drawing/2014/main" id="{538FB486-97D0-376A-05BA-CCA6566FBED9}"/>
              </a:ext>
            </a:extLst>
          </p:cNvPr>
          <p:cNvSpPr>
            <a:spLocks noGrp="1"/>
          </p:cNvSpPr>
          <p:nvPr>
            <p:ph idx="1"/>
          </p:nvPr>
        </p:nvSpPr>
        <p:spPr/>
        <p:txBody>
          <a:bodyPr/>
          <a:lstStyle/>
          <a:p>
            <a:r>
              <a:rPr lang="en-GB" dirty="0"/>
              <a:t>Final reflections</a:t>
            </a:r>
          </a:p>
          <a:p>
            <a:r>
              <a:rPr lang="en-GB" dirty="0"/>
              <a:t>Feedback</a:t>
            </a:r>
          </a:p>
        </p:txBody>
      </p:sp>
      <p:pic>
        <p:nvPicPr>
          <p:cNvPr id="1026" name="Picture 2" descr="Thank You Images - Free Download on Freepik">
            <a:extLst>
              <a:ext uri="{FF2B5EF4-FFF2-40B4-BE49-F238E27FC236}">
                <a16:creationId xmlns:a16="http://schemas.microsoft.com/office/drawing/2014/main" id="{90635E30-BFB0-369E-C80B-4B1E297FB0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8229" y="1523219"/>
            <a:ext cx="4593771" cy="3056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Interview Questions You Should Ask - DEV Community">
            <a:extLst>
              <a:ext uri="{FF2B5EF4-FFF2-40B4-BE49-F238E27FC236}">
                <a16:creationId xmlns:a16="http://schemas.microsoft.com/office/drawing/2014/main" id="{713057F0-92EE-1507-1DAE-9D2DC032FF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7922" y="3646715"/>
            <a:ext cx="3333750" cy="1866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443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3" id="{5D596F62-6E0E-914B-8D94-951E069AB2E3}" vid="{216D76EF-AE38-B441-9CEE-26C79A7827E0}"/>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AF97858209004E89815BE6D2D565B8" ma:contentTypeVersion="10" ma:contentTypeDescription="Create a new document." ma:contentTypeScope="" ma:versionID="8638328b542201499f7f2e9d3fbb85ef">
  <xsd:schema xmlns:xsd="http://www.w3.org/2001/XMLSchema" xmlns:xs="http://www.w3.org/2001/XMLSchema" xmlns:p="http://schemas.microsoft.com/office/2006/metadata/properties" xmlns:ns2="63cbe9ce-4156-4dc6-9193-3a1fb58b7e8f" xmlns:ns3="7123bf9c-7f58-4bbc-b48e-6e194319eed3" targetNamespace="http://schemas.microsoft.com/office/2006/metadata/properties" ma:root="true" ma:fieldsID="3303d3d5c4b31cad781b6dd96607ddc2" ns2:_="" ns3:_="">
    <xsd:import namespace="63cbe9ce-4156-4dc6-9193-3a1fb58b7e8f"/>
    <xsd:import namespace="7123bf9c-7f58-4bbc-b48e-6e194319eed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cbe9ce-4156-4dc6-9193-3a1fb58b7e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ce1a628b-d8fb-4252-ac0a-0ea92b1c5a77"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23bf9c-7f58-4bbc-b48e-6e194319eed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e85b67ba-806a-4a4c-8a3e-66d273755e75}" ma:internalName="TaxCatchAll" ma:showField="CatchAllData" ma:web="7123bf9c-7f58-4bbc-b48e-6e194319eed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7D8496-8890-4213-AE01-D97BBDFC22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3cbe9ce-4156-4dc6-9193-3a1fb58b7e8f"/>
    <ds:schemaRef ds:uri="7123bf9c-7f58-4bbc-b48e-6e194319eed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4AA886E-CA24-4E11-96B5-8D78882884A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Copy of jlinks Presentation template copy</Template>
  <TotalTime>1108</TotalTime>
  <Words>1446</Words>
  <Application>Microsoft Office PowerPoint</Application>
  <PresentationFormat>Widescreen</PresentationFormat>
  <Paragraphs>170</Paragraphs>
  <Slides>33</Slides>
  <Notes>0</Notes>
  <HiddenSlides>0</HiddenSlides>
  <MMClips>0</MMClips>
  <ScaleCrop>false</ScaleCrop>
  <HeadingPairs>
    <vt:vector size="4" baseType="variant">
      <vt:variant>
        <vt:lpstr>Theme</vt:lpstr>
      </vt:variant>
      <vt:variant>
        <vt:i4>2</vt:i4>
      </vt:variant>
      <vt:variant>
        <vt:lpstr>Slide Titles</vt:lpstr>
      </vt:variant>
      <vt:variant>
        <vt:i4>33</vt:i4>
      </vt:variant>
    </vt:vector>
  </HeadingPairs>
  <TitlesOfParts>
    <vt:vector size="35" baseType="lpstr">
      <vt:lpstr>Office Theme</vt:lpstr>
      <vt:lpstr>Custom Design</vt:lpstr>
      <vt:lpstr>Community Physiotherapy &amp; LTCs</vt:lpstr>
      <vt:lpstr>What will today look like?</vt:lpstr>
      <vt:lpstr>Intro – Who are we?</vt:lpstr>
      <vt:lpstr>Intro – Who am I?</vt:lpstr>
      <vt:lpstr>Learning Objectives</vt:lpstr>
      <vt:lpstr>Community Physiotherapy</vt:lpstr>
      <vt:lpstr>Community Rehabilitation</vt:lpstr>
      <vt:lpstr>PowerPoint Presentation</vt:lpstr>
      <vt:lpstr>Intermediate Care </vt:lpstr>
      <vt:lpstr>Intermediate Care Framework</vt:lpstr>
      <vt:lpstr>Intermediate Care Framework Aims</vt:lpstr>
      <vt:lpstr>Intermediate Care Framework Pathways</vt:lpstr>
      <vt:lpstr>Intermediate Care Framework Outcome (if implemented)</vt:lpstr>
      <vt:lpstr>Cont’d…</vt:lpstr>
      <vt:lpstr>Cont’d…</vt:lpstr>
      <vt:lpstr>What is a LTC?</vt:lpstr>
      <vt:lpstr>Long-term Conditions</vt:lpstr>
      <vt:lpstr>What LTCs can you think of that we might meet in the community?</vt:lpstr>
      <vt:lpstr>Who makes up the community MDT?</vt:lpstr>
      <vt:lpstr>15:00 – 15:15</vt:lpstr>
      <vt:lpstr>Practical – library   What do we need to assess? (subj &amp; obj)  What is our problem list (listed by priority)?  What do we need to treat?  Do we need to refer to anyone else in the MDT? Who?   30 mins to come up w/ list in your groups, ready to feed back as a larger group at 16:30.</vt:lpstr>
      <vt:lpstr>Practical – flat   Demo scenarios in different rooms.   5 mins smaller groups, then demonstrate to larger groups x5.  30 mins total.</vt:lpstr>
      <vt:lpstr>Practical – library  Case 1:  Patient: 90 F, D/C to BBR after 1/12 hosp adm after R TKR complications (pain, found to have fractured patella, needed revision + HKB (currently 0-90 degrees)). Currently mobile w/ WZF indoors. Wants to get back to ind living.  PMH: OA, R elective TKR 3/12 ago, HTN, Hypercholesterolaemia, DM T2.   </vt:lpstr>
      <vt:lpstr>Practical – library  </vt:lpstr>
      <vt:lpstr>Practical – library  </vt:lpstr>
      <vt:lpstr>Practical – library  </vt:lpstr>
      <vt:lpstr>Practical – library  </vt:lpstr>
      <vt:lpstr>Practical - flat</vt:lpstr>
      <vt:lpstr>Practical - flat</vt:lpstr>
      <vt:lpstr>Practical - flat</vt:lpstr>
      <vt:lpstr>Practical - flat</vt:lpstr>
      <vt:lpstr>Practical - flat</vt:lpstr>
      <vt:lpstr>Closing 16:30–17:00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HCPC Standards Update</dc:title>
  <dc:creator>Nicole Nielsen</dc:creator>
  <cp:lastModifiedBy>Nicole Nielsen</cp:lastModifiedBy>
  <cp:revision>7</cp:revision>
  <dcterms:created xsi:type="dcterms:W3CDTF">2023-08-03T07:36:51Z</dcterms:created>
  <dcterms:modified xsi:type="dcterms:W3CDTF">2025-03-24T13:39:49Z</dcterms:modified>
</cp:coreProperties>
</file>