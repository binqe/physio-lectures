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6" r:id="rId11"/>
    <p:sldId id="267" r:id="rId12"/>
    <p:sldId id="268" r:id="rId13"/>
    <p:sldId id="307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6667"/>
  </p:normalViewPr>
  <p:slideViewPr>
    <p:cSldViewPr snapToGrid="0">
      <p:cViewPr varScale="1">
        <p:scale>
          <a:sx n="83" d="100"/>
          <a:sy n="83" d="100"/>
        </p:scale>
        <p:origin x="22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116D18-BD0D-4F45-9857-5CD4F0B62B98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4730E-A737-3645-A6BD-932C71A5BC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27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76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63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1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6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850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74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6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57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75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126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822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452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985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227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67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50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072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888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6224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77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67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197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863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9271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08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197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888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490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493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258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65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414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699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223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30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359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7833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571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9665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927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3501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79210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542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4688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986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7518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773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097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7789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9399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5543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0893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813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A4730E-A737-3645-A6BD-932C71A5BCE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3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522E-19C2-3923-8EE2-B63D02011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B0A1F1-6FFE-76C5-8EDA-400BDA4A7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F0CD0-0508-AF21-22EB-492362F39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20C27-1083-2024-48A8-560B88FB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3E48A-323A-2CE8-C9AE-4C22DEDD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1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46EE9-33B4-8FBB-021C-0B1CB942B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933C7-7B56-08E7-0003-75279CF4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42857-CAE5-5718-B747-E91AAD495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C138-41DC-6C76-DC58-837ACF71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8D127-BCAE-B907-F207-8D8543B9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76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18A47-95BA-63AE-9945-E4CB7286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58C9F-0AFA-FDB2-8D7E-A52B82067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53B64-2D7B-DA10-D4AF-8B6C2A43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86AB4-6340-3609-54D7-380CE40F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7FAFE-B1D3-F89C-5BC4-12C0F873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8E97-0D38-72ED-66CF-75B6F76C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6D3B4-FEA0-966F-1520-1CEEE2782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0DDF5-3AEC-9A68-5A76-90C7B9531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6491AB-1DAE-D92B-A502-CDD49AE00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5EB07-9A81-7653-81FF-3E83B64A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DF446-A96D-C740-614B-C9C1E4CA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92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9F5A5-BEE6-98A2-BE93-112FBFD5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FED51-3823-0487-6511-C92ED1A1B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9DBDC-77ED-CDBE-E760-F1A585421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463AD2-C344-6E9E-11F3-1CD16783D0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7D2F5B-EEB6-FA6E-7484-335AD6839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0A151-6C1C-34F0-B8FB-793D779E2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C97ECB-456A-6C05-B414-53F841F8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1651D-3F27-D3D4-BAF9-EFDD4B52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7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49C3B-C5F5-F51F-F1D4-B2EB0663A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58EE07-A3F8-3D21-E22F-A857E8F11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411476-9BF1-EEF7-D8A1-0AE61D70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3C87F-F0E8-CCC0-CEBF-85EFB54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08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36959-57A5-61A1-14AD-D0AE5BE61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AEBD-2892-9295-0FFC-EDC753A4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4AAA2-F151-1DB0-BCDF-8B01A824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0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8622-5379-173C-F1AC-266E1C34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73976-7DBD-C2C2-5B4E-E35003D83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4A280-0C39-A546-B7C0-F478922BA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D5EAB-CD61-43E1-E8B0-9976DAF18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D4863-353B-B8EA-491E-3BF062E64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96499-5A56-AF4B-5010-8B39AA831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40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242F-E7AF-99A1-120E-A4F0EFCA8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E8A78-C409-F573-4B3C-55F9A2D7D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7F065-A360-BDFF-9AC3-651E77BC2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51F46-E056-1468-099C-91540118D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0B29B-AF6A-479D-3CC6-AFCB77CD6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F6680-F82C-86F4-7332-F86D6523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0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4552-7FED-2C43-5F38-5D0E05811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B7EE5-9935-EF2D-0CB0-9497F77F1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C6FC8-3356-6D3B-BEB8-863181CE7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FB5CC-17A0-28B7-9D1F-148E0AEB3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E40E5-616E-3C0E-6AE0-62D1E528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8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070C1-25B8-03A0-1362-848A49513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BC8C5-CD39-1F25-6F50-2049849924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DCF54-6459-C0E7-A430-F4AD415DC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10C17-6DDB-2497-3C57-83998D8D5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A3776-8F1B-B2A0-F446-45E41628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095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6BBED-E59F-C8CF-7B36-9898503E1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F4888-B5DA-29AC-8FB0-D25B54ADB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0EE04-ABE1-18F5-A683-308726804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4BB7B1-E105-2841-B2FB-7FBCBF58CBEF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ED758-656D-8E1F-A521-0C72B2272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5E4B5-2608-CCBC-78A4-8987056CF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EB4F6-A61B-8942-AAFA-B405A471A5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1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C2EB0F-F54D-53A1-6421-6AD7FC4694F9}"/>
              </a:ext>
            </a:extLst>
          </p:cNvPr>
          <p:cNvSpPr txBox="1"/>
          <p:nvPr/>
        </p:nvSpPr>
        <p:spPr>
          <a:xfrm>
            <a:off x="1640928" y="4647685"/>
            <a:ext cx="89101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Chalkboard SE" panose="03050602040202020205" pitchFamily="66" charset="77"/>
              </a:rPr>
              <a:t>Pathology – Cell Death, Abnormal Cell Growth, </a:t>
            </a:r>
          </a:p>
          <a:p>
            <a:pPr algn="ctr"/>
            <a:r>
              <a:rPr lang="en-GB" sz="2800" b="0" i="0" u="none" strike="noStrike" dirty="0">
                <a:solidFill>
                  <a:srgbClr val="000000"/>
                </a:solidFill>
                <a:effectLst/>
                <a:latin typeface="Chalkboard SE" panose="03050602040202020205" pitchFamily="66" charset="77"/>
              </a:rPr>
              <a:t>and Cancer Movement</a:t>
            </a:r>
            <a:endParaRPr lang="en-US" sz="2800" dirty="0">
              <a:latin typeface="Chalkboard SE" panose="03050602040202020205" pitchFamily="66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7C2B3-5EB1-685D-2CD3-8E39369D8AE9}"/>
              </a:ext>
            </a:extLst>
          </p:cNvPr>
          <p:cNvSpPr txBox="1"/>
          <p:nvPr/>
        </p:nvSpPr>
        <p:spPr>
          <a:xfrm>
            <a:off x="8166538" y="5864037"/>
            <a:ext cx="1902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-webkit-standard"/>
              </a:rPr>
              <a:t>Dr. Liani Devito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C9F248-9448-1728-8E40-B054C947B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945" y="-209427"/>
            <a:ext cx="12333890" cy="47840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08BA54-E58D-82FA-AFB2-94E121D7EC86}"/>
              </a:ext>
            </a:extLst>
          </p:cNvPr>
          <p:cNvSpPr txBox="1"/>
          <p:nvPr/>
        </p:nvSpPr>
        <p:spPr>
          <a:xfrm>
            <a:off x="278524" y="566824"/>
            <a:ext cx="6169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chemeClr val="bg1"/>
                </a:solidFill>
                <a:effectLst/>
              </a:rPr>
              <a:t>PT5050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064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92E8F4-4D03-3F40-5AB0-E6F18234FBF9}"/>
              </a:ext>
            </a:extLst>
          </p:cNvPr>
          <p:cNvSpPr txBox="1"/>
          <p:nvPr/>
        </p:nvSpPr>
        <p:spPr>
          <a:xfrm>
            <a:off x="6269452" y="-498004"/>
            <a:ext cx="5291663" cy="16287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dirty="0">
                <a:effectLst/>
                <a:latin typeface="+mj-lt"/>
                <a:ea typeface="+mj-ea"/>
                <a:cs typeface="+mj-cs"/>
              </a:rPr>
              <a:t>Learning Outcomes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1E4531-5667-DA2C-47A3-8EFEC67B0C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85" r="25247" b="1"/>
          <a:stretch>
            <a:fillRect/>
          </a:stretch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68DB60-69B9-DAFB-81DF-84DA07CEFFD6}"/>
              </a:ext>
            </a:extLst>
          </p:cNvPr>
          <p:cNvSpPr txBox="1"/>
          <p:nvPr/>
        </p:nvSpPr>
        <p:spPr>
          <a:xfrm>
            <a:off x="6269452" y="1795196"/>
            <a:ext cx="5607379" cy="37528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i="0" u="none" strike="noStrike" dirty="0">
                <a:effectLst/>
              </a:rPr>
              <a:t>By the end of this lecture, you should be able to: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i="0" u="none" strike="noStrike" dirty="0">
                <a:effectLst/>
              </a:rPr>
              <a:t>Explain mechanisms of cell death (necrosis/ apoptosis)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Identify patterns of abnormal growth.</a:t>
            </a:r>
            <a:endParaRPr lang="en-US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Understand cancer movement (invasion/metastasis)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Apply these concepts to physiotherapy practice.</a:t>
            </a:r>
            <a:endParaRPr lang="en-US" b="0" i="0" u="none" strike="noStrike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B2589-0C9E-67C1-20FD-F70125B989F5}"/>
              </a:ext>
            </a:extLst>
          </p:cNvPr>
          <p:cNvSpPr txBox="1"/>
          <p:nvPr/>
        </p:nvSpPr>
        <p:spPr>
          <a:xfrm>
            <a:off x="6269452" y="5289140"/>
            <a:ext cx="54495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u="none" strike="noStrike" dirty="0">
                <a:effectLst/>
              </a:rPr>
              <a:t>This lecture explores how cells respond to injury, die, adapt, or become malignant — and why that matters in physiotherapy.</a:t>
            </a:r>
          </a:p>
        </p:txBody>
      </p:sp>
    </p:spTree>
    <p:extLst>
      <p:ext uri="{BB962C8B-B14F-4D97-AF65-F5344CB8AC3E}">
        <p14:creationId xmlns:p14="http://schemas.microsoft.com/office/powerpoint/2010/main" val="111174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E282C-8FFA-2E7C-675A-DF8764CDA0FE}"/>
              </a:ext>
            </a:extLst>
          </p:cNvPr>
          <p:cNvSpPr txBox="1"/>
          <p:nvPr/>
        </p:nvSpPr>
        <p:spPr>
          <a:xfrm>
            <a:off x="556324" y="310616"/>
            <a:ext cx="5711125" cy="9227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What is Cell Injury?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1BAA3B-51F2-791F-1E50-93D1C16E1FB8}"/>
              </a:ext>
            </a:extLst>
          </p:cNvPr>
          <p:cNvSpPr txBox="1"/>
          <p:nvPr/>
        </p:nvSpPr>
        <p:spPr>
          <a:xfrm>
            <a:off x="556324" y="1933194"/>
            <a:ext cx="6131814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Cell injury occurs when </a:t>
            </a:r>
            <a:r>
              <a:rPr lang="en-US" sz="2000" b="1" i="0" u="none" strike="noStrike" dirty="0">
                <a:effectLst/>
              </a:rPr>
              <a:t>a cell is exposed to stress</a:t>
            </a:r>
            <a:r>
              <a:rPr lang="en-US" sz="2000" b="0" i="0" u="none" strike="noStrike" dirty="0">
                <a:effectLst/>
              </a:rPr>
              <a:t> it cannot adapt to.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It represents the </a:t>
            </a:r>
            <a:r>
              <a:rPr lang="en-US" sz="2000" b="1" i="0" u="none" strike="noStrike" dirty="0">
                <a:effectLst/>
              </a:rPr>
              <a:t>earliest stage of disease</a:t>
            </a:r>
            <a:r>
              <a:rPr lang="en-US" sz="2000" b="0" i="0" u="none" strike="noStrike" dirty="0">
                <a:effectLst/>
              </a:rPr>
              <a:t> — before visible tissue changes occur.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Injury can be: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effectLst/>
              </a:rPr>
              <a:t>Reversible</a:t>
            </a:r>
            <a:r>
              <a:rPr lang="en-US" sz="2000" b="0" i="0" u="none" strike="noStrike" dirty="0">
                <a:effectLst/>
              </a:rPr>
              <a:t> → the cell recovers when the stress is removed.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effectLst/>
              </a:rPr>
              <a:t>Irreversible</a:t>
            </a:r>
            <a:r>
              <a:rPr lang="en-US" sz="2000" b="0" i="0" u="none" strike="noStrike" dirty="0">
                <a:effectLst/>
              </a:rPr>
              <a:t> → the cell passes the “point of no return” and dies.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dirty="0">
                <a:effectLst/>
              </a:rPr>
              <a:t>The </a:t>
            </a:r>
            <a:r>
              <a:rPr lang="en-US" sz="2000" b="1" i="0" u="none" strike="noStrike" dirty="0">
                <a:effectLst/>
              </a:rPr>
              <a:t>type, duration, and intensity</a:t>
            </a:r>
            <a:r>
              <a:rPr lang="en-US" sz="2000" b="0" i="0" u="none" strike="noStrike" dirty="0">
                <a:effectLst/>
              </a:rPr>
              <a:t> of the insult determine the outcome.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u="none" strike="noStrike" dirty="0">
              <a:effectLst/>
            </a:endParaRPr>
          </a:p>
        </p:txBody>
      </p:sp>
      <p:pic>
        <p:nvPicPr>
          <p:cNvPr id="13" name="Picture 12" descr="A diagram of a cell&#10;&#10;AI-generated content may be incorrect.">
            <a:extLst>
              <a:ext uri="{FF2B5EF4-FFF2-40B4-BE49-F238E27FC236}">
                <a16:creationId xmlns:a16="http://schemas.microsoft.com/office/drawing/2014/main" id="{BDB8BBD0-3251-12EE-7B25-1C73ECBCAA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50" r="23250"/>
          <a:stretch>
            <a:fillRect/>
          </a:stretch>
        </p:blipFill>
        <p:spPr>
          <a:xfrm>
            <a:off x="7311009" y="849630"/>
            <a:ext cx="4771644" cy="477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11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a cell life cycle&#10;&#10;AI-generated content may be incorrect.">
            <a:extLst>
              <a:ext uri="{FF2B5EF4-FFF2-40B4-BE49-F238E27FC236}">
                <a16:creationId xmlns:a16="http://schemas.microsoft.com/office/drawing/2014/main" id="{CC048474-AC73-CAAA-B6E6-F03AEACDE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27" y="1603325"/>
            <a:ext cx="5294716" cy="2700305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D8937F-2AFC-A702-5447-87AF4E279E33}"/>
              </a:ext>
            </a:extLst>
          </p:cNvPr>
          <p:cNvSpPr txBox="1"/>
          <p:nvPr/>
        </p:nvSpPr>
        <p:spPr>
          <a:xfrm>
            <a:off x="800099" y="772328"/>
            <a:ext cx="9772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Cell response to stress</a:t>
            </a:r>
            <a:endParaRPr lang="en-GB" sz="2800" b="1" dirty="0">
              <a:solidFill>
                <a:srgbClr val="0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FC17B-3EE0-C379-055D-1DA3364D9C74}"/>
              </a:ext>
            </a:extLst>
          </p:cNvPr>
          <p:cNvSpPr txBox="1"/>
          <p:nvPr/>
        </p:nvSpPr>
        <p:spPr>
          <a:xfrm>
            <a:off x="6178932" y="873785"/>
            <a:ext cx="5437083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Cells respond to stress in stages:</a:t>
            </a:r>
          </a:p>
          <a:p>
            <a:pPr>
              <a:buNone/>
            </a:pPr>
            <a:br>
              <a:rPr lang="en-GB" sz="2000" dirty="0"/>
            </a:br>
            <a:r>
              <a:rPr lang="en-GB" sz="2000" b="1" dirty="0"/>
              <a:t>Normal function</a:t>
            </a:r>
            <a:r>
              <a:rPr lang="en-GB" sz="2000" dirty="0"/>
              <a:t> </a:t>
            </a:r>
          </a:p>
          <a:p>
            <a:pPr>
              <a:buNone/>
            </a:pPr>
            <a:r>
              <a:rPr lang="en-GB" sz="2400" b="1" dirty="0"/>
              <a:t>→ Adaptation </a:t>
            </a:r>
          </a:p>
          <a:p>
            <a:pPr>
              <a:buNone/>
            </a:pPr>
            <a:r>
              <a:rPr lang="en-GB" sz="2400" b="1" dirty="0"/>
              <a:t>→ Reversible injury </a:t>
            </a:r>
          </a:p>
          <a:p>
            <a:pPr>
              <a:buNone/>
            </a:pPr>
            <a:r>
              <a:rPr lang="en-GB" sz="2400" b="1" dirty="0"/>
              <a:t>→ Irreversible injury (Death)</a:t>
            </a:r>
          </a:p>
          <a:p>
            <a:pPr>
              <a:buNone/>
            </a:pPr>
            <a:r>
              <a:rPr lang="en-GB" sz="2400" b="1" dirty="0"/>
              <a:t>→ Cell death (necrosis, apoptosis, or necroptosis)</a:t>
            </a:r>
          </a:p>
          <a:p>
            <a:pPr>
              <a:buNone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Mild stress → </a:t>
            </a:r>
            <a:r>
              <a:rPr lang="en-GB" sz="2000" b="1" dirty="0"/>
              <a:t>adaptation</a:t>
            </a:r>
            <a:r>
              <a:rPr lang="en-GB" sz="2000" dirty="0"/>
              <a:t> and recovery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Persistent or severe stress → cell death (necrosis/apoptosis)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buNone/>
            </a:pPr>
            <a:r>
              <a:rPr lang="en-GB" sz="2000" i="1" dirty="0"/>
              <a:t>Outcome depends on the strength and duration of the insult and the cell’s capacity to adapt.</a:t>
            </a:r>
            <a:endParaRPr lang="en-GB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C2DD4-5226-8996-FDAF-72D35F2275B4}"/>
              </a:ext>
            </a:extLst>
          </p:cNvPr>
          <p:cNvSpPr txBox="1"/>
          <p:nvPr/>
        </p:nvSpPr>
        <p:spPr>
          <a:xfrm>
            <a:off x="800107" y="5081200"/>
            <a:ext cx="4798353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Skeletal muscle cells adapt to repeated loading (hypertrophy), but heart cells under excessive pressure eventually die (infarction).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2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Diagram of cell injury and recovery&#10;&#10;AI-generated content may be incorrect.">
            <a:extLst>
              <a:ext uri="{FF2B5EF4-FFF2-40B4-BE49-F238E27FC236}">
                <a16:creationId xmlns:a16="http://schemas.microsoft.com/office/drawing/2014/main" id="{AF2E2509-6C2C-9623-E9BA-1A0A4274A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625" y="704851"/>
            <a:ext cx="7957983" cy="49339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D60F17-72DC-0003-C1B6-9DE84CEFA71B}"/>
              </a:ext>
            </a:extLst>
          </p:cNvPr>
          <p:cNvSpPr txBox="1"/>
          <p:nvPr/>
        </p:nvSpPr>
        <p:spPr>
          <a:xfrm>
            <a:off x="339663" y="121807"/>
            <a:ext cx="6860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Many disease processes begin with cellular injury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84C8D-FEE1-6C6D-4C05-B29F1E559923}"/>
              </a:ext>
            </a:extLst>
          </p:cNvPr>
          <p:cNvSpPr txBox="1"/>
          <p:nvPr/>
        </p:nvSpPr>
        <p:spPr>
          <a:xfrm>
            <a:off x="532061" y="5989281"/>
            <a:ext cx="10822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environment around cells is dynamic and constantly changing.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  Cells are exposed to numerous stimuli and stresses, which may result in cell injury. </a:t>
            </a:r>
          </a:p>
        </p:txBody>
      </p:sp>
    </p:spTree>
    <p:extLst>
      <p:ext uri="{BB962C8B-B14F-4D97-AF65-F5344CB8AC3E}">
        <p14:creationId xmlns:p14="http://schemas.microsoft.com/office/powerpoint/2010/main" val="1529041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77D69F5-2E9F-E65B-0A53-C98AA513B91D}"/>
              </a:ext>
            </a:extLst>
          </p:cNvPr>
          <p:cNvSpPr txBox="1"/>
          <p:nvPr/>
        </p:nvSpPr>
        <p:spPr>
          <a:xfrm>
            <a:off x="1069086" y="5377011"/>
            <a:ext cx="10513314" cy="8694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u="none" strike="noStrike" dirty="0">
                <a:effectLst/>
              </a:rPr>
              <a:t>Which of these causes might physiotherapists encounter most often in their practice?</a:t>
            </a:r>
            <a:endParaRPr lang="en-US" sz="20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B70F73B-C714-BC0D-7C06-E527D4CAA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422" y="1245029"/>
            <a:ext cx="7749156" cy="393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5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C80B3D-7B0A-D376-0E67-3596826CDB65}"/>
              </a:ext>
            </a:extLst>
          </p:cNvPr>
          <p:cNvSpPr txBox="1"/>
          <p:nvPr/>
        </p:nvSpPr>
        <p:spPr>
          <a:xfrm>
            <a:off x="476250" y="1596631"/>
            <a:ext cx="88582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/>
              <a:t>When faced with stress, cells adjust their </a:t>
            </a:r>
            <a:r>
              <a:rPr lang="en-GB" sz="2000" b="1" dirty="0"/>
              <a:t>size, number, or type</a:t>
            </a:r>
            <a:r>
              <a:rPr lang="en-GB" sz="2000" dirty="0"/>
              <a:t> to survive.</a:t>
            </a:r>
            <a:br>
              <a:rPr lang="en-GB" sz="2000" dirty="0"/>
            </a:br>
            <a:r>
              <a:rPr lang="en-GB" sz="2000" dirty="0"/>
              <a:t>These changes are usually </a:t>
            </a:r>
            <a:r>
              <a:rPr lang="en-GB" sz="2000" b="1" dirty="0"/>
              <a:t>reversible</a:t>
            </a:r>
            <a:r>
              <a:rPr lang="en-GB" sz="2000" dirty="0"/>
              <a:t> once the stress is removed.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1DFA8-A5E1-D0E6-CFF5-3E211872B5C2}"/>
              </a:ext>
            </a:extLst>
          </p:cNvPr>
          <p:cNvSpPr txBox="1"/>
          <p:nvPr/>
        </p:nvSpPr>
        <p:spPr>
          <a:xfrm>
            <a:off x="476250" y="5811409"/>
            <a:ext cx="10858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Adaptation maintains function under stress — but prolonged stress can lead to </a:t>
            </a:r>
            <a:r>
              <a:rPr lang="en-GB" b="1" i="1" u="none" strike="noStrike" dirty="0">
                <a:solidFill>
                  <a:srgbClr val="000000"/>
                </a:solidFill>
                <a:effectLst/>
              </a:rPr>
              <a:t>dysplasia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 and disease.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AA2BF-162B-A64A-8B45-50A61DA71034}"/>
              </a:ext>
            </a:extLst>
          </p:cNvPr>
          <p:cNvSpPr txBox="1"/>
          <p:nvPr/>
        </p:nvSpPr>
        <p:spPr>
          <a:xfrm>
            <a:off x="209550" y="584926"/>
            <a:ext cx="8420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Cell Adaptation – How Cells Cope with Stress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1D0962-AE18-1AB3-D195-2B485E69D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163793"/>
              </p:ext>
            </p:extLst>
          </p:nvPr>
        </p:nvGraphicFramePr>
        <p:xfrm>
          <a:off x="647700" y="3021279"/>
          <a:ext cx="10515600" cy="2303814"/>
        </p:xfrm>
        <a:graphic>
          <a:graphicData uri="http://schemas.openxmlformats.org/drawingml/2006/table">
            <a:tbl>
              <a:tblPr/>
              <a:tblGrid>
                <a:gridCol w="1962150">
                  <a:extLst>
                    <a:ext uri="{9D8B030D-6E8A-4147-A177-3AD203B41FA5}">
                      <a16:colId xmlns:a16="http://schemas.microsoft.com/office/drawing/2014/main" val="3866784773"/>
                    </a:ext>
                  </a:extLst>
                </a:gridCol>
                <a:gridCol w="4133850">
                  <a:extLst>
                    <a:ext uri="{9D8B030D-6E8A-4147-A177-3AD203B41FA5}">
                      <a16:colId xmlns:a16="http://schemas.microsoft.com/office/drawing/2014/main" val="3476221569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1455118542"/>
                    </a:ext>
                  </a:extLst>
                </a:gridCol>
              </a:tblGrid>
              <a:tr h="475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6032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Hypertrophy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↑ Cell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Muscle enlargement with exercise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903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Hyperplasia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↑ Cell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Uterine lining during menstrual cycle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58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Atrophy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↓ Cell size or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Muscle wasting after immobilisation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822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Metaplasia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Change in cell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Bronchial cells changing in smokers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1615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Dysplasia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Disordered cell growth (pre-cancerous)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Cervical dysplasia from chronic irritation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6745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4C33D9F-6460-9E78-2264-28C4F9496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850" y="0"/>
            <a:ext cx="2895600" cy="294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011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E08657-3445-65DA-4E93-8B23FE47D0F9}"/>
              </a:ext>
            </a:extLst>
          </p:cNvPr>
          <p:cNvSpPr txBox="1"/>
          <p:nvPr/>
        </p:nvSpPr>
        <p:spPr>
          <a:xfrm>
            <a:off x="419100" y="2161344"/>
            <a:ext cx="717232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2000" dirty="0"/>
          </a:p>
          <a:p>
            <a:pPr algn="l">
              <a:buNone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🟢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Normal Cell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↓ </a:t>
            </a:r>
            <a:r>
              <a:rPr lang="en-GB" sz="2000" b="0" i="1" u="none" strike="noStrike" dirty="0">
                <a:solidFill>
                  <a:srgbClr val="000000"/>
                </a:solidFill>
                <a:effectLst/>
              </a:rPr>
              <a:t>Physiological stress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🟡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Adaptation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(e.g., hypertrophy, atrophy)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↓ </a:t>
            </a:r>
            <a:r>
              <a:rPr lang="en-GB" sz="2000" b="0" i="1" u="none" strike="noStrike" dirty="0">
                <a:solidFill>
                  <a:srgbClr val="000000"/>
                </a:solidFill>
                <a:effectLst/>
              </a:rPr>
              <a:t>Persistent or severe stress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🟠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Cell Injury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↓ </a:t>
            </a:r>
            <a:r>
              <a:rPr lang="en-GB" sz="2000" b="0" i="1" u="none" strike="noStrike" dirty="0">
                <a:solidFill>
                  <a:srgbClr val="000000"/>
                </a:solidFill>
                <a:effectLst/>
              </a:rPr>
              <a:t>Reversible → recovery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or </a:t>
            </a:r>
            <a:r>
              <a:rPr lang="en-GB" sz="2000" b="0" i="1" u="none" strike="noStrike" dirty="0">
                <a:solidFill>
                  <a:srgbClr val="000000"/>
                </a:solidFill>
                <a:effectLst/>
              </a:rPr>
              <a:t>Irreversible → necrosis/apoptosis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🔴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Cell Death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↓ </a:t>
            </a:r>
            <a:r>
              <a:rPr lang="en-GB" sz="2000" b="0" i="1" u="none" strike="noStrike" dirty="0">
                <a:solidFill>
                  <a:srgbClr val="000000"/>
                </a:solidFill>
                <a:effectLst/>
              </a:rPr>
              <a:t>Uncontrolled proliferation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🟣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Abnormal Growth (Neoplasia)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↓ </a:t>
            </a:r>
            <a:r>
              <a:rPr lang="en-GB" sz="2000" b="0" i="1" u="none" strike="noStrike" dirty="0">
                <a:solidFill>
                  <a:srgbClr val="000000"/>
                </a:solidFill>
                <a:effectLst/>
              </a:rPr>
              <a:t>Invasion and spread</a:t>
            </a:r>
            <a:br>
              <a:rPr lang="en-GB" sz="20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⚫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Cancer &amp; Metastasis</a:t>
            </a:r>
            <a:endParaRPr lang="en-GB" sz="20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DFE9D9-2B3C-7E35-3BAA-430C9E5D29D1}"/>
              </a:ext>
            </a:extLst>
          </p:cNvPr>
          <p:cNvSpPr txBox="1"/>
          <p:nvPr/>
        </p:nvSpPr>
        <p:spPr>
          <a:xfrm>
            <a:off x="285750" y="4969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Progression of Cellular Stress Responses</a:t>
            </a:r>
            <a:endParaRPr lang="en-GB" sz="2400" b="1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81A186-4BC5-5F92-1247-8E557E4B7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948" y="2781300"/>
            <a:ext cx="5165052" cy="34433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730005-DB06-5E4B-5E39-A66B3F77F73B}"/>
              </a:ext>
            </a:extLst>
          </p:cNvPr>
          <p:cNvSpPr txBox="1"/>
          <p:nvPr/>
        </p:nvSpPr>
        <p:spPr>
          <a:xfrm>
            <a:off x="704850" y="1206045"/>
            <a:ext cx="1104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/>
              <a:t>Cells respond to stress — from healthy adaptation to irreversible injury and cancer. The outcome depends on the </a:t>
            </a:r>
            <a:r>
              <a:rPr lang="en-GB" sz="2000" b="1" dirty="0"/>
              <a:t>intensity, duration,</a:t>
            </a:r>
            <a:r>
              <a:rPr lang="en-GB" sz="2000" dirty="0"/>
              <a:t> and </a:t>
            </a:r>
            <a:r>
              <a:rPr lang="en-GB" sz="2000" b="1" dirty="0"/>
              <a:t>type of stress</a:t>
            </a:r>
            <a:r>
              <a:rPr lang="en-GB" sz="2000" dirty="0"/>
              <a:t> the cell experiences.</a:t>
            </a:r>
          </a:p>
        </p:txBody>
      </p:sp>
    </p:spTree>
    <p:extLst>
      <p:ext uri="{BB962C8B-B14F-4D97-AF65-F5344CB8AC3E}">
        <p14:creationId xmlns:p14="http://schemas.microsoft.com/office/powerpoint/2010/main" val="257996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07691-E925-B7BE-A09B-D1A07F591234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Is Cell Death Always Bad?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4E8564-F890-4CD5-CC2B-D391B72B8D38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i="1" dirty="0"/>
              <a:t>Is cell death always harmful — or can it be useful?</a:t>
            </a: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b="0" i="0" u="none" strike="noStrike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Not all cell death is the same — some is </a:t>
            </a:r>
            <a:r>
              <a:rPr lang="en-US" sz="2200" b="1" dirty="0"/>
              <a:t>programmed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2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Healthy cell death (Apoptosis):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/>
              <a:t>normal turnover of gut and skin cells </a:t>
            </a:r>
          </a:p>
        </p:txBody>
      </p:sp>
      <p:pic>
        <p:nvPicPr>
          <p:cNvPr id="6" name="Picture 5" descr="A diagram of a cell&#10;&#10;AI-generated content may be incorrect.">
            <a:extLst>
              <a:ext uri="{FF2B5EF4-FFF2-40B4-BE49-F238E27FC236}">
                <a16:creationId xmlns:a16="http://schemas.microsoft.com/office/drawing/2014/main" id="{A4E2C722-6F5C-6F26-C8FE-B2BA34C8D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06197"/>
            <a:ext cx="5458968" cy="52269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343681-9FE5-BF69-03B3-4495BCD316A7}"/>
              </a:ext>
            </a:extLst>
          </p:cNvPr>
          <p:cNvSpPr txBox="1"/>
          <p:nvPr/>
        </p:nvSpPr>
        <p:spPr>
          <a:xfrm>
            <a:off x="1447800" y="5922413"/>
            <a:ext cx="9582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1" u="none" strike="noStrike" dirty="0">
                <a:solidFill>
                  <a:srgbClr val="000000"/>
                </a:solidFill>
                <a:effectLst/>
              </a:rPr>
              <a:t>Fun fact: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During embryonic development,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apoptosis removes cells between the fingers and toes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, allowing separate digits to form — a beautiful example of </a:t>
            </a:r>
            <a:r>
              <a:rPr lang="en-GB" b="0" i="1" u="none" strike="noStrike" dirty="0">
                <a:solidFill>
                  <a:srgbClr val="000000"/>
                </a:solidFill>
                <a:effectLst/>
              </a:rPr>
              <a:t>cell death with purpose!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1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1C7AC5-EB51-3E3C-830A-2E021ECA3979}"/>
              </a:ext>
            </a:extLst>
          </p:cNvPr>
          <p:cNvSpPr txBox="1"/>
          <p:nvPr/>
        </p:nvSpPr>
        <p:spPr>
          <a:xfrm>
            <a:off x="457200" y="34307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dirty="0">
                <a:solidFill>
                  <a:srgbClr val="0070C0"/>
                </a:solidFill>
                <a:effectLst/>
                <a:latin typeface="Aptos" panose="020B0004020202020204" pitchFamily="34" charset="0"/>
              </a:rPr>
              <a:t>Reversible vs Irreversible Cell Injury</a:t>
            </a:r>
            <a:endParaRPr lang="en-US" sz="2400" b="1" dirty="0">
              <a:solidFill>
                <a:srgbClr val="0070C0"/>
              </a:solidFill>
              <a:latin typeface="Aptos" panose="020B00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9DE0DD-B06F-C316-2FEE-25E4EF8C1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423489"/>
              </p:ext>
            </p:extLst>
          </p:nvPr>
        </p:nvGraphicFramePr>
        <p:xfrm>
          <a:off x="457200" y="1183273"/>
          <a:ext cx="11353800" cy="3700224"/>
        </p:xfrm>
        <a:graphic>
          <a:graphicData uri="http://schemas.openxmlformats.org/drawingml/2006/table">
            <a:tbl>
              <a:tblPr/>
              <a:tblGrid>
                <a:gridCol w="2171700">
                  <a:extLst>
                    <a:ext uri="{9D8B030D-6E8A-4147-A177-3AD203B41FA5}">
                      <a16:colId xmlns:a16="http://schemas.microsoft.com/office/drawing/2014/main" val="841846961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1181347944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815626539"/>
                    </a:ext>
                  </a:extLst>
                </a:gridCol>
              </a:tblGrid>
              <a:tr h="499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 </a:t>
                      </a:r>
                      <a:r>
                        <a:rPr lang="en-GB" sz="2000" b="1" dirty="0"/>
                        <a:t>Reversible Injury</a:t>
                      </a:r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 </a:t>
                      </a:r>
                      <a:r>
                        <a:rPr lang="en-GB" sz="2000" b="1" dirty="0"/>
                        <a:t>Irreversible Injury</a:t>
                      </a:r>
                      <a:endParaRPr lang="en-GB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1731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Definition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Early damage that can be repaired if the stress is removed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Permanent damage leading to cell death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8702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Cell Morphology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Cell swelling, fatty change, chromatin clumping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Membrane rupture, nuclear fragmentation, lysed organelles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531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Mitochondria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Mild swelling, function restored if oxygen returns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Severe swelling, rupture → no ATP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945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Plasma Membrane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Intact or slightly damaged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Irreversibly damaged → leakage of contents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833264"/>
                  </a:ext>
                </a:extLst>
              </a:tr>
              <a:tr h="1742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/>
                        <a:t>Outcome</a:t>
                      </a:r>
                      <a:endParaRPr lang="en-GB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/>
                        <a:t>Recovery and normal 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dirty="0"/>
                        <a:t>Necrosis or apoptosis (cell death)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580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759D47-170C-A0C6-9FCE-E622E3127837}"/>
              </a:ext>
            </a:extLst>
          </p:cNvPr>
          <p:cNvSpPr txBox="1"/>
          <p:nvPr/>
        </p:nvSpPr>
        <p:spPr>
          <a:xfrm>
            <a:off x="3143250" y="5262027"/>
            <a:ext cx="5257800" cy="13234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000" b="1" i="1" dirty="0"/>
              <a:t>Whether a cell recovers or dies depends on:</a:t>
            </a:r>
            <a:endParaRPr lang="en-GB" sz="2000" b="1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GB" sz="2000" dirty="0"/>
              <a:t>Severity and duration of the injury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GB" sz="2000" dirty="0"/>
              <a:t>Type of cell and its ability to regenerate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GB" sz="2000" dirty="0"/>
              <a:t>Availability of oxygen and nutrients</a:t>
            </a:r>
          </a:p>
        </p:txBody>
      </p:sp>
    </p:spTree>
    <p:extLst>
      <p:ext uri="{BB962C8B-B14F-4D97-AF65-F5344CB8AC3E}">
        <p14:creationId xmlns:p14="http://schemas.microsoft.com/office/powerpoint/2010/main" val="1696242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19F7815-3AA2-7679-26F4-A63338C8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668" y="4843169"/>
            <a:ext cx="12196668" cy="2016059"/>
            <a:chOff x="-4668" y="4843169"/>
            <a:chExt cx="12196668" cy="201605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6154CE-3587-5C44-2A6B-1FE49B30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4668" y="4843169"/>
              <a:ext cx="12196668" cy="201594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E7A46DB-98C4-E666-AEC5-DF8B5DD9E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4400"/>
              <a:ext cx="10565988" cy="2014828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F8962A-028A-2EBA-FBCF-F9B033440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3170"/>
              <a:ext cx="10309010" cy="2006799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139663-D7C2-5898-E610-2183584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05876" y="4851203"/>
              <a:ext cx="8086124" cy="200679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114B43-0464-C77F-5D74-CBBDB2AB7420}"/>
              </a:ext>
            </a:extLst>
          </p:cNvPr>
          <p:cNvSpPr txBox="1"/>
          <p:nvPr/>
        </p:nvSpPr>
        <p:spPr>
          <a:xfrm>
            <a:off x="1611630" y="5167418"/>
            <a:ext cx="8949690" cy="702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Morphological Changes in Cell Injury</a:t>
            </a:r>
            <a:endParaRPr lang="en-US" sz="36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40738E-5228-99FB-93CC-3364861F6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67887"/>
              </p:ext>
            </p:extLst>
          </p:nvPr>
        </p:nvGraphicFramePr>
        <p:xfrm>
          <a:off x="276225" y="483255"/>
          <a:ext cx="11639550" cy="39681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52613">
                  <a:extLst>
                    <a:ext uri="{9D8B030D-6E8A-4147-A177-3AD203B41FA5}">
                      <a16:colId xmlns:a16="http://schemas.microsoft.com/office/drawing/2014/main" val="667083527"/>
                    </a:ext>
                  </a:extLst>
                </a:gridCol>
                <a:gridCol w="5243512">
                  <a:extLst>
                    <a:ext uri="{9D8B030D-6E8A-4147-A177-3AD203B41FA5}">
                      <a16:colId xmlns:a16="http://schemas.microsoft.com/office/drawing/2014/main" val="746123936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342118214"/>
                    </a:ext>
                  </a:extLst>
                </a:gridCol>
              </a:tblGrid>
              <a:tr h="522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Stage</a:t>
                      </a:r>
                      <a:endParaRPr lang="en-GB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Key Morphological Features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Interpretation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15560"/>
                  </a:ext>
                </a:extLst>
              </a:tr>
              <a:tr h="790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Normal Cell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Normal size and shape; clear cytoplasm; intact organelles</a:t>
                      </a: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Homeostasis maintained</a:t>
                      </a: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05484"/>
                  </a:ext>
                </a:extLst>
              </a:tr>
              <a:tr h="132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Reversible Injury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 Cell 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swelling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 (</a:t>
                      </a:r>
                      <a:r>
                        <a:rPr lang="en-GB" sz="1600" cap="none" spc="0" dirty="0" err="1">
                          <a:solidFill>
                            <a:schemeClr val="tx1"/>
                          </a:solidFill>
                        </a:rPr>
                        <a:t>hydropic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 change)</a:t>
                      </a:r>
                    </a:p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 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Fatty change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 (especially in the liver and heart)</a:t>
                      </a:r>
                    </a:p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 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Mitochondrial swelling</a:t>
                      </a:r>
                    </a:p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 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Chromatin clumping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 (mild)</a:t>
                      </a: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Early stress; cell can recover if cause is removed</a:t>
                      </a: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555928"/>
                  </a:ext>
                </a:extLst>
              </a:tr>
              <a:tr h="132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Irreversible Injury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 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Membrane rupture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 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Lysosome leakage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Severe mitochondrial damage</a:t>
                      </a:r>
                    </a:p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Nuclear changes: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 pyknosis → karyorrhexis → karyolysis</a:t>
                      </a: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Point of no return → cell death (</a:t>
                      </a:r>
                      <a:r>
                        <a:rPr lang="en-GB" sz="1800" b="1" cap="none" spc="0" dirty="0">
                          <a:solidFill>
                            <a:schemeClr val="tx1"/>
                          </a:solidFill>
                        </a:rPr>
                        <a:t>necrosis/apoptosis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60987" marR="60987" marT="60987" marB="1219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742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528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CE0E4-5C3D-62FC-0A6C-E53E54F0F081}"/>
              </a:ext>
            </a:extLst>
          </p:cNvPr>
          <p:cNvSpPr txBox="1"/>
          <p:nvPr/>
        </p:nvSpPr>
        <p:spPr>
          <a:xfrm>
            <a:off x="304800" y="3361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Necrosis – Uncontrolled Cell Death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7D9D5-469E-4793-FB72-E8C5243DBB0D}"/>
              </a:ext>
            </a:extLst>
          </p:cNvPr>
          <p:cNvSpPr txBox="1"/>
          <p:nvPr/>
        </p:nvSpPr>
        <p:spPr>
          <a:xfrm>
            <a:off x="723900" y="957851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b="1" i="0" u="none" strike="noStrike" dirty="0">
                <a:solidFill>
                  <a:srgbClr val="000000"/>
                </a:solidFill>
                <a:effectLst/>
              </a:rPr>
              <a:t>Necrosis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</a:rPr>
              <a:t> is the </a:t>
            </a:r>
            <a:r>
              <a:rPr lang="en-GB" sz="2200" b="1" i="0" u="none" strike="noStrike" dirty="0">
                <a:solidFill>
                  <a:srgbClr val="000000"/>
                </a:solidFill>
                <a:effectLst/>
              </a:rPr>
              <a:t>uncontrolled, premature death of cells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</a:rPr>
              <a:t> in living tissue.</a:t>
            </a:r>
            <a:br>
              <a:rPr lang="en-GB" sz="2200" dirty="0"/>
            </a:br>
            <a:r>
              <a:rPr lang="en-GB" sz="2200" b="0" i="0" u="none" strike="noStrike" dirty="0">
                <a:solidFill>
                  <a:srgbClr val="000000"/>
                </a:solidFill>
                <a:effectLst/>
              </a:rPr>
              <a:t>It results from </a:t>
            </a:r>
            <a:r>
              <a:rPr lang="en-GB" sz="2200" b="1" i="0" u="none" strike="noStrike" dirty="0">
                <a:solidFill>
                  <a:srgbClr val="000000"/>
                </a:solidFill>
                <a:effectLst/>
              </a:rPr>
              <a:t>severe or irreversible injury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</a:rPr>
              <a:t> and is always </a:t>
            </a:r>
            <a:r>
              <a:rPr lang="en-GB" sz="2200" b="1" i="0" u="none" strike="noStrike" dirty="0">
                <a:solidFill>
                  <a:srgbClr val="000000"/>
                </a:solidFill>
                <a:effectLst/>
              </a:rPr>
              <a:t>pathological</a:t>
            </a:r>
            <a:r>
              <a:rPr lang="en-GB" sz="2200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1CB678-2D33-6D6A-CDAA-1D0F60B0076B}"/>
              </a:ext>
            </a:extLst>
          </p:cNvPr>
          <p:cNvSpPr txBox="1"/>
          <p:nvPr/>
        </p:nvSpPr>
        <p:spPr>
          <a:xfrm>
            <a:off x="382544" y="2046915"/>
            <a:ext cx="7067550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Key Characteristics:</a:t>
            </a:r>
            <a:endParaRPr lang="en-GB" sz="20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Loss of membrane integrity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→ leakage of cell contents</a:t>
            </a:r>
          </a:p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Triggers inflammation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in the surrounding tissue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Energy-independent process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(no ATP required)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 Affects groups of cells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, not single cells</a:t>
            </a:r>
          </a:p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 Common causes: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ischemia, trauma, toxins, infection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23775F-4D9A-6E86-2B37-7D44F13EC9EB}"/>
              </a:ext>
            </a:extLst>
          </p:cNvPr>
          <p:cNvSpPr txBox="1"/>
          <p:nvPr/>
        </p:nvSpPr>
        <p:spPr>
          <a:xfrm>
            <a:off x="723900" y="4946042"/>
            <a:ext cx="72731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0" i="1" u="none" strike="noStrike" dirty="0">
                <a:solidFill>
                  <a:srgbClr val="000000"/>
                </a:solidFill>
                <a:effectLst/>
              </a:rPr>
              <a:t>Necrosis = “messy death” — the cell bursts, spills its contents, and inflames nearby tissue.</a:t>
            </a:r>
            <a:endParaRPr lang="en-US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FEB2433-EC2E-5778-6BFB-FBCBD9C29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630" y="3456967"/>
            <a:ext cx="3732769" cy="297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991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34886E-B5C4-CDDD-8A3A-11F56053A3BA}"/>
              </a:ext>
            </a:extLst>
          </p:cNvPr>
          <p:cNvSpPr txBox="1"/>
          <p:nvPr/>
        </p:nvSpPr>
        <p:spPr>
          <a:xfrm>
            <a:off x="201169" y="30480"/>
            <a:ext cx="4553711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i="0" u="none" strike="noStrike" dirty="0">
                <a:effectLst/>
                <a:latin typeface="+mj-lt"/>
                <a:ea typeface="+mj-ea"/>
                <a:cs typeface="+mj-cs"/>
              </a:rPr>
              <a:t>Molecular Control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i="0" u="none" strike="noStrike" dirty="0">
                <a:effectLst/>
                <a:latin typeface="+mj-lt"/>
                <a:ea typeface="+mj-ea"/>
                <a:cs typeface="+mj-cs"/>
              </a:rPr>
              <a:t>of Necrosis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E40E1-172C-CE35-C721-7C13F0C93AEF}"/>
              </a:ext>
            </a:extLst>
          </p:cNvPr>
          <p:cNvSpPr txBox="1"/>
          <p:nvPr/>
        </p:nvSpPr>
        <p:spPr>
          <a:xfrm>
            <a:off x="5343141" y="575691"/>
            <a:ext cx="6647690" cy="1191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900" b="0" i="0" u="none" strike="noStrike" dirty="0">
                <a:effectLst/>
              </a:rPr>
              <a:t>Traditionally, </a:t>
            </a:r>
            <a:r>
              <a:rPr lang="en-US" sz="1900" b="1" i="0" u="none" strike="noStrike" dirty="0">
                <a:effectLst/>
              </a:rPr>
              <a:t>necrosis</a:t>
            </a:r>
            <a:r>
              <a:rPr lang="en-US" sz="1900" b="0" i="0" u="none" strike="noStrike" dirty="0">
                <a:effectLst/>
              </a:rPr>
              <a:t> was considered a </a:t>
            </a:r>
            <a:r>
              <a:rPr lang="en-US" sz="1900" b="1" i="0" u="none" strike="noStrike" dirty="0">
                <a:effectLst/>
              </a:rPr>
              <a:t>purely accidental</a:t>
            </a:r>
            <a:r>
              <a:rPr lang="en-US" sz="1900" b="0" i="0" u="none" strike="noStrike" dirty="0">
                <a:effectLst/>
              </a:rPr>
              <a:t> or </a:t>
            </a:r>
            <a:r>
              <a:rPr lang="en-US" sz="1900" b="1" i="0" u="none" strike="noStrike" dirty="0">
                <a:effectLst/>
              </a:rPr>
              <a:t>uncontrolled</a:t>
            </a:r>
            <a:r>
              <a:rPr lang="en-US" sz="1900" b="0" i="0" u="none" strike="noStrike" dirty="0">
                <a:effectLst/>
              </a:rPr>
              <a:t> process caused by severe injury (e.g. trauma, toxins, ischemia).</a:t>
            </a:r>
            <a:br>
              <a:rPr lang="en-US" sz="1900" b="0" i="0" u="none" strike="noStrike" dirty="0">
                <a:effectLst/>
              </a:rPr>
            </a:br>
            <a:endParaRPr lang="en-US" sz="19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b="0" i="0" u="none" strike="noStrike" dirty="0">
              <a:effectLst/>
            </a:endParaRPr>
          </a:p>
        </p:txBody>
      </p:sp>
      <p:pic>
        <p:nvPicPr>
          <p:cNvPr id="11" name="Picture 10" descr="A diagram of a cell division&#10;&#10;AI-generated content may be incorrect.">
            <a:extLst>
              <a:ext uri="{FF2B5EF4-FFF2-40B4-BE49-F238E27FC236}">
                <a16:creationId xmlns:a16="http://schemas.microsoft.com/office/drawing/2014/main" id="{143C56AD-AE65-7250-447E-F7A507737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94" y="2563365"/>
            <a:ext cx="4982518" cy="347530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6732767-4F37-EB3D-0256-8AC21075A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380301"/>
              </p:ext>
            </p:extLst>
          </p:nvPr>
        </p:nvGraphicFramePr>
        <p:xfrm>
          <a:off x="5478218" y="1812799"/>
          <a:ext cx="6456788" cy="4715853"/>
        </p:xfrm>
        <a:graphic>
          <a:graphicData uri="http://schemas.openxmlformats.org/drawingml/2006/table">
            <a:tbl>
              <a:tblPr/>
              <a:tblGrid>
                <a:gridCol w="1413887">
                  <a:extLst>
                    <a:ext uri="{9D8B030D-6E8A-4147-A177-3AD203B41FA5}">
                      <a16:colId xmlns:a16="http://schemas.microsoft.com/office/drawing/2014/main" val="3690506381"/>
                    </a:ext>
                  </a:extLst>
                </a:gridCol>
                <a:gridCol w="1539646">
                  <a:extLst>
                    <a:ext uri="{9D8B030D-6E8A-4147-A177-3AD203B41FA5}">
                      <a16:colId xmlns:a16="http://schemas.microsoft.com/office/drawing/2014/main" val="574442804"/>
                    </a:ext>
                  </a:extLst>
                </a:gridCol>
                <a:gridCol w="1985162">
                  <a:extLst>
                    <a:ext uri="{9D8B030D-6E8A-4147-A177-3AD203B41FA5}">
                      <a16:colId xmlns:a16="http://schemas.microsoft.com/office/drawing/2014/main" val="1843392968"/>
                    </a:ext>
                  </a:extLst>
                </a:gridCol>
                <a:gridCol w="1518093">
                  <a:extLst>
                    <a:ext uri="{9D8B030D-6E8A-4147-A177-3AD203B41FA5}">
                      <a16:colId xmlns:a16="http://schemas.microsoft.com/office/drawing/2014/main" val="547746778"/>
                    </a:ext>
                  </a:extLst>
                </a:gridCol>
              </a:tblGrid>
              <a:tr h="375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Type of Cell Death</a:t>
                      </a:r>
                      <a:endParaRPr lang="en-GB" sz="120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Trigger / Cause</a:t>
                      </a:r>
                      <a:endParaRPr lang="en-GB" sz="120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Key Molecular Players</a:t>
                      </a:r>
                      <a:endParaRPr lang="en-GB" sz="120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Outcome / Features</a:t>
                      </a:r>
                      <a:endParaRPr lang="en-GB" sz="120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710648"/>
                  </a:ext>
                </a:extLst>
              </a:tr>
              <a:tr h="6975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Classical Necrosis</a:t>
                      </a:r>
                      <a:endParaRPr lang="en-GB" sz="120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Severe ischemia, trauma, toxins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None (unregulated) → ion pump failure, lysosomal enzyme release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Accidental cell rupture; tissue inflammation and scarring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406275"/>
                  </a:ext>
                </a:extLst>
              </a:tr>
              <a:tr h="1025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Necroptosis</a:t>
                      </a:r>
                      <a:endParaRPr lang="en-GB" sz="120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Death receptor activation (e.g. TNF) when caspases are inhibited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RIPK1</a:t>
                      </a:r>
                      <a:r>
                        <a:rPr lang="en-GB" sz="1200"/>
                        <a:t>, </a:t>
                      </a:r>
                      <a:r>
                        <a:rPr lang="en-GB" sz="1200" b="1"/>
                        <a:t>RIPK3</a:t>
                      </a:r>
                      <a:r>
                        <a:rPr lang="en-GB" sz="1200"/>
                        <a:t>, </a:t>
                      </a:r>
                      <a:r>
                        <a:rPr lang="en-GB" sz="1200" b="1"/>
                        <a:t>MLKL</a:t>
                      </a:r>
                      <a:endParaRPr lang="en-GB" sz="120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Programmed necrosis; cell swelling and rupture via MLKL pore formation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641365"/>
                  </a:ext>
                </a:extLst>
              </a:tr>
              <a:tr h="13531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Ferroptosis</a:t>
                      </a:r>
                      <a:endParaRPr lang="en-GB" sz="120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Iron overload + oxidative stress (ROS accumulation)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Fe²⁺</a:t>
                      </a:r>
                      <a:r>
                        <a:rPr lang="en-GB" sz="1200"/>
                        <a:t>, </a:t>
                      </a:r>
                      <a:r>
                        <a:rPr lang="en-GB" sz="1200" b="1"/>
                        <a:t>GPX4 inhibition</a:t>
                      </a:r>
                      <a:r>
                        <a:rPr lang="en-GB" sz="1200"/>
                        <a:t>, lipid peroxidation enzymes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Iron-dependent lipid damage → membrane rupture; seen in ischemia-reperfusion injury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163850"/>
                  </a:ext>
                </a:extLst>
              </a:tr>
              <a:tr h="11892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Pyroptosis</a:t>
                      </a:r>
                      <a:endParaRPr lang="en-GB" sz="120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Infection, immune activation, inflammasome signaling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Caspase-1</a:t>
                      </a:r>
                      <a:r>
                        <a:rPr lang="en-GB" sz="1200" dirty="0"/>
                        <a:t>, </a:t>
                      </a:r>
                      <a:r>
                        <a:rPr lang="en-GB" sz="1200" b="1" dirty="0" err="1"/>
                        <a:t>Gasdermin</a:t>
                      </a:r>
                      <a:r>
                        <a:rPr lang="en-GB" sz="1200" b="1" dirty="0"/>
                        <a:t> D</a:t>
                      </a:r>
                      <a:r>
                        <a:rPr lang="en-GB" sz="1200" dirty="0"/>
                        <a:t>, </a:t>
                      </a:r>
                      <a:r>
                        <a:rPr lang="en-GB" sz="1200" b="1" dirty="0"/>
                        <a:t>IL-1</a:t>
                      </a:r>
                      <a:r>
                        <a:rPr lang="el-GR" sz="1200" b="1" dirty="0"/>
                        <a:t>β</a:t>
                      </a:r>
                      <a:r>
                        <a:rPr lang="el-GR" sz="1200" dirty="0"/>
                        <a:t>, </a:t>
                      </a:r>
                      <a:r>
                        <a:rPr lang="en-GB" sz="1200" b="1" dirty="0"/>
                        <a:t>IL-18</a:t>
                      </a:r>
                      <a:endParaRPr lang="en-GB" sz="1200" dirty="0"/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Inflammatory death; membrane pore formation → cell lysis and cytokine release</a:t>
                      </a:r>
                    </a:p>
                  </a:txBody>
                  <a:tcPr marL="40974" marR="40974" marT="20488" marB="204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2263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9990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14B3B1-653E-7F14-22DA-F4AA5F566601}"/>
              </a:ext>
            </a:extLst>
          </p:cNvPr>
          <p:cNvSpPr txBox="1"/>
          <p:nvPr/>
        </p:nvSpPr>
        <p:spPr>
          <a:xfrm>
            <a:off x="661418" y="192297"/>
            <a:ext cx="4343400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i="0" u="none" strike="noStrike" dirty="0">
                <a:effectLst/>
                <a:latin typeface="+mj-lt"/>
                <a:ea typeface="+mj-ea"/>
                <a:cs typeface="+mj-cs"/>
              </a:rPr>
              <a:t>Types of Necrosis</a:t>
            </a:r>
            <a:endParaRPr lang="en-US" sz="4800" b="1" dirty="0">
              <a:latin typeface="+mj-lt"/>
              <a:ea typeface="+mj-ea"/>
              <a:cs typeface="+mj-cs"/>
            </a:endParaRP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02291E-B7EF-7F1A-9B01-542A943724B6}"/>
              </a:ext>
            </a:extLst>
          </p:cNvPr>
          <p:cNvSpPr txBox="1"/>
          <p:nvPr/>
        </p:nvSpPr>
        <p:spPr>
          <a:xfrm>
            <a:off x="5466590" y="222779"/>
            <a:ext cx="6649210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effectLst/>
              </a:rPr>
              <a:t>Different types of necrosis reflect </a:t>
            </a:r>
            <a:r>
              <a:rPr lang="en-US" sz="2200" b="1" i="0" u="none" strike="noStrike" dirty="0">
                <a:effectLst/>
              </a:rPr>
              <a:t>the cause of injury</a:t>
            </a:r>
            <a:r>
              <a:rPr lang="en-US" sz="2200" b="0" i="0" u="none" strike="noStrike" dirty="0">
                <a:effectLst/>
              </a:rPr>
              <a:t> and </a:t>
            </a:r>
            <a:r>
              <a:rPr lang="en-US" sz="2200" b="1" i="0" u="none" strike="noStrike" dirty="0">
                <a:effectLst/>
              </a:rPr>
              <a:t>the tissue involved</a:t>
            </a:r>
            <a:r>
              <a:rPr lang="en-US" sz="2200" b="0" i="0" u="none" strike="noStrike" dirty="0">
                <a:effectLst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0" i="0" u="none" strike="noStrike" dirty="0">
                <a:effectLst/>
              </a:rPr>
              <a:t>Each type has a characteristic </a:t>
            </a:r>
            <a:r>
              <a:rPr lang="en-US" sz="2200" b="1" i="0" u="none" strike="noStrike" dirty="0">
                <a:effectLst/>
              </a:rPr>
              <a:t>microscopic appearance</a:t>
            </a:r>
            <a:r>
              <a:rPr lang="en-US" sz="2200" b="0" i="0" u="none" strike="noStrike" dirty="0">
                <a:effectLst/>
              </a:rPr>
              <a:t> and </a:t>
            </a:r>
            <a:r>
              <a:rPr lang="en-US" sz="2200" b="1" i="0" u="none" strike="noStrike" dirty="0">
                <a:effectLst/>
              </a:rPr>
              <a:t>clinical relevance</a:t>
            </a:r>
            <a:r>
              <a:rPr lang="en-US" sz="2200" b="0" i="0" u="none" strike="noStrike" dirty="0">
                <a:effectLst/>
              </a:rPr>
              <a:t>.</a:t>
            </a:r>
            <a:endParaRPr lang="en-US" sz="22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71E8DE8-5E4A-D9D1-B542-32FAE303E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836054"/>
              </p:ext>
            </p:extLst>
          </p:nvPr>
        </p:nvGraphicFramePr>
        <p:xfrm>
          <a:off x="3980606" y="2329202"/>
          <a:ext cx="7840307" cy="435175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74200">
                  <a:extLst>
                    <a:ext uri="{9D8B030D-6E8A-4147-A177-3AD203B41FA5}">
                      <a16:colId xmlns:a16="http://schemas.microsoft.com/office/drawing/2014/main" val="2123105093"/>
                    </a:ext>
                  </a:extLst>
                </a:gridCol>
                <a:gridCol w="3182152">
                  <a:extLst>
                    <a:ext uri="{9D8B030D-6E8A-4147-A177-3AD203B41FA5}">
                      <a16:colId xmlns:a16="http://schemas.microsoft.com/office/drawing/2014/main" val="4216204922"/>
                    </a:ext>
                  </a:extLst>
                </a:gridCol>
                <a:gridCol w="3083955">
                  <a:extLst>
                    <a:ext uri="{9D8B030D-6E8A-4147-A177-3AD203B41FA5}">
                      <a16:colId xmlns:a16="http://schemas.microsoft.com/office/drawing/2014/main" val="1032478329"/>
                    </a:ext>
                  </a:extLst>
                </a:gridCol>
              </a:tblGrid>
              <a:tr h="59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Type of Necrosis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Description / Appearance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Typical Location / Example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extLst>
                  <a:ext uri="{0D108BD9-81ED-4DB2-BD59-A6C34878D82A}">
                    <a16:rowId xmlns:a16="http://schemas.microsoft.com/office/drawing/2014/main" val="211229960"/>
                  </a:ext>
                </a:extLst>
              </a:tr>
              <a:tr h="59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Coagulative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Tissue architecture preserved; cells appear “ghost-like”</a:t>
                      </a: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Most solid organs (esp. </a:t>
                      </a: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heart, kidney</a:t>
                      </a: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) after </a:t>
                      </a: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ischemia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extLst>
                  <a:ext uri="{0D108BD9-81ED-4DB2-BD59-A6C34878D82A}">
                    <a16:rowId xmlns:a16="http://schemas.microsoft.com/office/drawing/2014/main" val="1540707989"/>
                  </a:ext>
                </a:extLst>
              </a:tr>
              <a:tr h="59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Liquefactive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Tissue becomes soft, liquid; due to enzyme digestion</a:t>
                      </a: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Brain infarcts</a:t>
                      </a: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, </a:t>
                      </a: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abscesses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extLst>
                  <a:ext uri="{0D108BD9-81ED-4DB2-BD59-A6C34878D82A}">
                    <a16:rowId xmlns:a16="http://schemas.microsoft.com/office/drawing/2014/main" val="400120093"/>
                  </a:ext>
                </a:extLst>
              </a:tr>
              <a:tr h="817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Caseous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“Cheesy,” crumbly appearance; mix of dead cells and debris</a:t>
                      </a: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Tuberculosis (TB)</a:t>
                      </a: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 granulomas</a:t>
                      </a:r>
                    </a:p>
                  </a:txBody>
                  <a:tcPr marL="60973" marR="43552" marT="43552" marB="87104" anchor="ctr"/>
                </a:tc>
                <a:extLst>
                  <a:ext uri="{0D108BD9-81ED-4DB2-BD59-A6C34878D82A}">
                    <a16:rowId xmlns:a16="http://schemas.microsoft.com/office/drawing/2014/main" val="3420703118"/>
                  </a:ext>
                </a:extLst>
              </a:tr>
              <a:tr h="817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Fat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Chalky white deposits (saponification of fats with calcium)</a:t>
                      </a: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Pancreatitis</a:t>
                      </a: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, </a:t>
                      </a: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trauma to fat tissue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extLst>
                  <a:ext uri="{0D108BD9-81ED-4DB2-BD59-A6C34878D82A}">
                    <a16:rowId xmlns:a16="http://schemas.microsoft.com/office/drawing/2014/main" val="3349778400"/>
                  </a:ext>
                </a:extLst>
              </a:tr>
              <a:tr h="817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Fibrinoid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Immune-mediated; deposition of immune complexes in vessel walls</a:t>
                      </a:r>
                    </a:p>
                  </a:txBody>
                  <a:tcPr marL="60973" marR="43552" marT="43552" marB="871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Vasculitis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, </a:t>
                      </a:r>
                      <a:r>
                        <a:rPr lang="en-GB" sz="1600" b="1" cap="none" spc="0" dirty="0">
                          <a:solidFill>
                            <a:schemeClr val="tx1"/>
                          </a:solidFill>
                        </a:rPr>
                        <a:t>hypertension</a:t>
                      </a: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-related vessel injury</a:t>
                      </a:r>
                    </a:p>
                  </a:txBody>
                  <a:tcPr marL="60973" marR="43552" marT="43552" marB="87104" anchor="ctr"/>
                </a:tc>
                <a:extLst>
                  <a:ext uri="{0D108BD9-81ED-4DB2-BD59-A6C34878D82A}">
                    <a16:rowId xmlns:a16="http://schemas.microsoft.com/office/drawing/2014/main" val="115951668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C8C1460-3FF4-ED5F-AFBF-38A6D430B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63" y="2152163"/>
            <a:ext cx="3243004" cy="454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348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foot with a black spot on it&#10;&#10;AI-generated content may be incorrect.">
            <a:extLst>
              <a:ext uri="{FF2B5EF4-FFF2-40B4-BE49-F238E27FC236}">
                <a16:creationId xmlns:a16="http://schemas.microsoft.com/office/drawing/2014/main" id="{D511B3F8-7683-AF03-8E0A-234CB1104C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46"/>
          <a:stretch>
            <a:fillRect/>
          </a:stretch>
        </p:blipFill>
        <p:spPr>
          <a:xfrm>
            <a:off x="279143" y="299508"/>
            <a:ext cx="5221625" cy="3010397"/>
          </a:xfrm>
          <a:prstGeom prst="rect">
            <a:avLst/>
          </a:prstGeom>
        </p:spPr>
      </p:pic>
      <p:pic>
        <p:nvPicPr>
          <p:cNvPr id="7" name="Picture 6" descr="Close-up of a person's feet with a sore spot&#10;&#10;AI-generated content may be incorrect.">
            <a:extLst>
              <a:ext uri="{FF2B5EF4-FFF2-40B4-BE49-F238E27FC236}">
                <a16:creationId xmlns:a16="http://schemas.microsoft.com/office/drawing/2014/main" id="{31B9A0A5-01CF-D9B5-B33E-71E16E6023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9" b="3473"/>
          <a:stretch>
            <a:fillRect/>
          </a:stretch>
        </p:blipFill>
        <p:spPr>
          <a:xfrm>
            <a:off x="279143" y="3548095"/>
            <a:ext cx="5221625" cy="30103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D19E8E-AF24-A554-65AD-21EDD9F6149E}"/>
              </a:ext>
            </a:extLst>
          </p:cNvPr>
          <p:cNvSpPr txBox="1"/>
          <p:nvPr/>
        </p:nvSpPr>
        <p:spPr>
          <a:xfrm>
            <a:off x="6059054" y="1753300"/>
            <a:ext cx="5816857" cy="371042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b="1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100" b="1" dirty="0">
                <a:solidFill>
                  <a:schemeClr val="tx1">
                    <a:alpha val="80000"/>
                  </a:schemeClr>
                </a:solidFill>
              </a:rPr>
              <a:t>Case Scenario:</a:t>
            </a:r>
            <a:br>
              <a:rPr lang="en-US" sz="31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3100" dirty="0">
                <a:solidFill>
                  <a:schemeClr val="tx1">
                    <a:alpha val="80000"/>
                  </a:schemeClr>
                </a:solidFill>
              </a:rPr>
              <a:t>A 72-year-old woman develops a </a:t>
            </a:r>
            <a:r>
              <a:rPr lang="en-US" sz="3100" b="1" dirty="0">
                <a:solidFill>
                  <a:schemeClr val="tx1">
                    <a:alpha val="80000"/>
                  </a:schemeClr>
                </a:solidFill>
              </a:rPr>
              <a:t>pressure ulcer</a:t>
            </a:r>
            <a:r>
              <a:rPr lang="en-US" sz="3100" dirty="0">
                <a:solidFill>
                  <a:schemeClr val="tx1">
                    <a:alpha val="80000"/>
                  </a:schemeClr>
                </a:solidFill>
              </a:rPr>
              <a:t> on her heel after a prolonged hospital stay. The wound shows black, dry tissue (eschar) and surrounding inflammation.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1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3100" b="1" i="0" u="none" strike="noStrike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1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Question:</a:t>
            </a:r>
            <a:endParaRPr lang="en-US" sz="3100" b="0" i="0" u="none" strike="noStrike" dirty="0">
              <a:solidFill>
                <a:schemeClr val="tx1">
                  <a:alpha val="80000"/>
                </a:schemeClr>
              </a:solidFill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100" dirty="0">
                <a:solidFill>
                  <a:schemeClr val="tx1">
                    <a:alpha val="80000"/>
                  </a:schemeClr>
                </a:solidFill>
              </a:rPr>
              <a:t>What type of cell injury has occurred, and how does this affect physiotherapy management?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3893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51E8AA9-51E1-790C-9C72-73B2B61BEFF6}"/>
              </a:ext>
            </a:extLst>
          </p:cNvPr>
          <p:cNvSpPr txBox="1"/>
          <p:nvPr/>
        </p:nvSpPr>
        <p:spPr>
          <a:xfrm>
            <a:off x="5951126" y="703741"/>
            <a:ext cx="6096000" cy="482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Necrosis in Physiotherapy Practice</a:t>
            </a:r>
          </a:p>
        </p:txBody>
      </p:sp>
    </p:spTree>
    <p:extLst>
      <p:ext uri="{BB962C8B-B14F-4D97-AF65-F5344CB8AC3E}">
        <p14:creationId xmlns:p14="http://schemas.microsoft.com/office/powerpoint/2010/main" val="1120300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8734DB-12BD-1CF1-E705-DE0C1FF84697}"/>
              </a:ext>
            </a:extLst>
          </p:cNvPr>
          <p:cNvSpPr txBox="1"/>
          <p:nvPr/>
        </p:nvSpPr>
        <p:spPr>
          <a:xfrm>
            <a:off x="409575" y="3757043"/>
            <a:ext cx="105918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Physiotherapy Implications:</a:t>
            </a:r>
          </a:p>
          <a:p>
            <a:endParaRPr lang="en-GB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Avoid direct pressure or friction</a:t>
            </a:r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on necrotic areas</a:t>
            </a:r>
          </a:p>
          <a:p>
            <a:r>
              <a:rPr lang="en-GB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Promote offloading and repositioning</a:t>
            </a:r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restore perfusion</a:t>
            </a:r>
          </a:p>
          <a:p>
            <a:r>
              <a:rPr lang="en-GB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Collaborate with the wound care team</a:t>
            </a:r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for debridement and healing</a:t>
            </a:r>
          </a:p>
          <a:p>
            <a:r>
              <a:rPr lang="en-GB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 for infection</a:t>
            </a:r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(liquefactive necrosis risk if bacteria invade)</a:t>
            </a:r>
          </a:p>
          <a:p>
            <a:r>
              <a:rPr lang="en-GB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Rehabilitation goal:</a:t>
            </a:r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Maintain joint mobility and circulation in unaffected areas to prevent further injury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C1265C-B73A-C73D-CBA2-6B53AF80C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399" y="2630581"/>
            <a:ext cx="4735026" cy="1948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2BFB03-3162-63B0-6BF3-1E18AD94E166}"/>
              </a:ext>
            </a:extLst>
          </p:cNvPr>
          <p:cNvSpPr txBox="1"/>
          <p:nvPr/>
        </p:nvSpPr>
        <p:spPr>
          <a:xfrm>
            <a:off x="409575" y="464902"/>
            <a:ext cx="1137285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Key Pathological Process:</a:t>
            </a:r>
          </a:p>
          <a:p>
            <a:pPr algn="l">
              <a:buNone/>
            </a:pPr>
            <a:endParaRPr lang="en-GB" sz="2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Prolonged ischemia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→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coagulative necrosis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of skin and subcutaneous tissue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Loss of blood supply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prevents oxygen delivery → ATP depletion → cell membrane rupture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Inflammation and tissue breakdown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→ formation of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fibrotic scar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after healing</a:t>
            </a:r>
          </a:p>
        </p:txBody>
      </p:sp>
    </p:spTree>
    <p:extLst>
      <p:ext uri="{BB962C8B-B14F-4D97-AF65-F5344CB8AC3E}">
        <p14:creationId xmlns:p14="http://schemas.microsoft.com/office/powerpoint/2010/main" val="3314354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FC75E3-4BCB-060B-4DC9-79980744794A}"/>
              </a:ext>
            </a:extLst>
          </p:cNvPr>
          <p:cNvSpPr txBox="1"/>
          <p:nvPr/>
        </p:nvSpPr>
        <p:spPr>
          <a:xfrm>
            <a:off x="323850" y="1367641"/>
            <a:ext cx="7239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Apoptosis</a:t>
            </a:r>
            <a:r>
              <a:rPr lang="en-GB" sz="2000" dirty="0"/>
              <a:t> is a </a:t>
            </a:r>
            <a:r>
              <a:rPr lang="en-GB" sz="2000" b="1" dirty="0"/>
              <a:t>regulated, energy-dependent</a:t>
            </a:r>
            <a:r>
              <a:rPr lang="en-GB" sz="2000" dirty="0"/>
              <a:t> process in which cells die </a:t>
            </a:r>
            <a:r>
              <a:rPr lang="en-GB" sz="2000" b="1" dirty="0"/>
              <a:t>without causing inflammation</a:t>
            </a:r>
            <a:r>
              <a:rPr lang="en-GB" sz="2000" dirty="0"/>
              <a:t>.</a:t>
            </a:r>
            <a:br>
              <a:rPr lang="en-GB" sz="2000" dirty="0"/>
            </a:br>
            <a:r>
              <a:rPr lang="en-GB" sz="2000" dirty="0"/>
              <a:t>It removes unwanted, damaged, or aged cells in a </a:t>
            </a:r>
            <a:r>
              <a:rPr lang="en-GB" sz="2000" b="1" dirty="0"/>
              <a:t>tidy, physiological way</a:t>
            </a:r>
            <a:r>
              <a:rPr lang="en-GB" sz="2000" dirty="0"/>
              <a:t>.</a:t>
            </a:r>
          </a:p>
          <a:p>
            <a:pPr>
              <a:buNone/>
            </a:pPr>
            <a:endParaRPr lang="en-GB" sz="2000" dirty="0"/>
          </a:p>
          <a:p>
            <a:pPr algn="l">
              <a:buNone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Key Features:</a:t>
            </a:r>
            <a:endParaRPr lang="en-GB" sz="20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Controlled process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– initiated by specific cellular signals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Requires ATP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– active, energy-dependent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Cell shrinks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and fragments into apoptotic bodies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Membrane remains intact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→ no leakage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No inflammation</a:t>
            </a: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– cell contents safely phagocytosed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en-GB" sz="2000" b="1" i="0" u="none" strike="noStrike" dirty="0">
                <a:solidFill>
                  <a:srgbClr val="000000"/>
                </a:solidFill>
                <a:effectLst/>
              </a:rPr>
              <a:t>Can be physiological or pathological</a:t>
            </a:r>
            <a:endParaRPr lang="en-GB" sz="20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93F31-684F-05E3-77E4-A1F5DBB88E03}"/>
              </a:ext>
            </a:extLst>
          </p:cNvPr>
          <p:cNvSpPr txBox="1"/>
          <p:nvPr/>
        </p:nvSpPr>
        <p:spPr>
          <a:xfrm>
            <a:off x="323850" y="405884"/>
            <a:ext cx="9467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Apoptosis – Programmed Cell Death (“Good Death”)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B0ED08-E2B5-9AEE-7E27-CE71868C4E83}"/>
              </a:ext>
            </a:extLst>
          </p:cNvPr>
          <p:cNvSpPr txBox="1"/>
          <p:nvPr/>
        </p:nvSpPr>
        <p:spPr>
          <a:xfrm>
            <a:off x="1133475" y="5591830"/>
            <a:ext cx="99250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1" dirty="0"/>
              <a:t>Apoptosis = a built-in cellular “self-destruct” mechanism that maintains tissue health and prevents inflammation.</a:t>
            </a:r>
            <a:endParaRPr lang="en-GB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26D8AC-2BAA-55B6-F442-CF3F02718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1704707"/>
            <a:ext cx="4604760" cy="344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53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1A4E0-B137-7DC1-B23A-6AFCE2873209}"/>
              </a:ext>
            </a:extLst>
          </p:cNvPr>
          <p:cNvSpPr txBox="1"/>
          <p:nvPr/>
        </p:nvSpPr>
        <p:spPr>
          <a:xfrm>
            <a:off x="7018163" y="279659"/>
            <a:ext cx="4282983" cy="1200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Molecular Control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of Apoptosis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cell block&#10;&#10;AI-generated content may be incorrect.">
            <a:extLst>
              <a:ext uri="{FF2B5EF4-FFF2-40B4-BE49-F238E27FC236}">
                <a16:creationId xmlns:a16="http://schemas.microsoft.com/office/drawing/2014/main" id="{F880D132-4A21-EBDD-357C-78FC52F1A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44" y="1096533"/>
            <a:ext cx="5628018" cy="443206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3AA674-9836-DA91-4B59-2382F83DC736}"/>
              </a:ext>
            </a:extLst>
          </p:cNvPr>
          <p:cNvSpPr txBox="1"/>
          <p:nvPr/>
        </p:nvSpPr>
        <p:spPr>
          <a:xfrm>
            <a:off x="6666551" y="2437238"/>
            <a:ext cx="5303897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0" i="0" u="none" strike="noStrike" dirty="0">
                <a:effectLst/>
              </a:rPr>
              <a:t>Apoptosis is tightly regulated by </a:t>
            </a:r>
            <a:r>
              <a:rPr lang="en-US" sz="1600" b="1" i="0" u="none" strike="noStrike" dirty="0">
                <a:effectLst/>
              </a:rPr>
              <a:t>caspases</a:t>
            </a:r>
            <a:r>
              <a:rPr lang="en-US" sz="1600" b="0" i="0" u="none" strike="noStrike" dirty="0">
                <a:effectLst/>
              </a:rPr>
              <a:t> — enzymes that break down cell components in an orderly way.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600" b="0" i="0" u="none" strike="noStrike" dirty="0">
                <a:effectLst/>
              </a:rPr>
            </a:br>
            <a:r>
              <a:rPr lang="en-US" sz="1600" b="1" i="1" u="none" strike="noStrike" dirty="0">
                <a:effectLst/>
              </a:rPr>
              <a:t>Two main pathways can trigger it:</a:t>
            </a:r>
            <a:endParaRPr lang="en-US" sz="16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effectLst/>
              </a:rPr>
              <a:t>Intrinsic (mitochondrial) pathway:</a:t>
            </a:r>
            <a:br>
              <a:rPr lang="en-US" sz="1600" b="0" i="0" u="none" strike="noStrike" dirty="0">
                <a:effectLst/>
              </a:rPr>
            </a:br>
            <a:r>
              <a:rPr lang="en-US" sz="1600" b="0" i="0" u="none" strike="noStrike" dirty="0">
                <a:effectLst/>
              </a:rPr>
              <a:t>Damage inside the cell (e.g. DNA damage, stress) causes mitochondria to release </a:t>
            </a:r>
            <a:r>
              <a:rPr lang="en-US" sz="1600" b="1" i="0" u="none" strike="noStrike" dirty="0">
                <a:effectLst/>
              </a:rPr>
              <a:t>cytochrome c</a:t>
            </a:r>
            <a:r>
              <a:rPr lang="en-US" sz="1600" b="0" i="0" u="none" strike="noStrike" dirty="0">
                <a:effectLst/>
              </a:rPr>
              <a:t>, which activates caspases.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effectLst/>
              </a:rPr>
              <a:t>Extrinsic (receptor) pathway:</a:t>
            </a:r>
            <a:br>
              <a:rPr lang="en-US" sz="1600" b="0" i="0" u="none" strike="noStrike" dirty="0">
                <a:effectLst/>
              </a:rPr>
            </a:br>
            <a:r>
              <a:rPr lang="en-US" sz="1600" b="0" i="0" u="none" strike="noStrike" dirty="0">
                <a:effectLst/>
              </a:rPr>
              <a:t>Signals from outside the cell (e.g. death ligands binding to death receptors) activate caspases through the cell membrane.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u="none" strike="noStrike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i="1" u="none" strike="noStrike" dirty="0">
                <a:solidFill>
                  <a:schemeClr val="bg1"/>
                </a:solidFill>
                <a:effectLst/>
              </a:rPr>
              <a:t>Both pathways lead to controlled cell dismantling without inflammation.</a:t>
            </a:r>
            <a:endParaRPr lang="en-US" sz="1600" b="1" i="0" u="none" strike="noStrike" dirty="0">
              <a:solidFill>
                <a:schemeClr val="bg1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53B6E6-15CC-146E-5032-E421CADF42AB}"/>
              </a:ext>
            </a:extLst>
          </p:cNvPr>
          <p:cNvSpPr txBox="1"/>
          <p:nvPr/>
        </p:nvSpPr>
        <p:spPr>
          <a:xfrm>
            <a:off x="709441" y="438166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Intrinsic:</a:t>
            </a:r>
            <a:r>
              <a:rPr lang="en-GB" sz="1400" dirty="0"/>
              <a:t> internal damage → mitochondria → caspase-9 → apoptosis</a:t>
            </a:r>
            <a:br>
              <a:rPr lang="en-GB" sz="1400" dirty="0"/>
            </a:br>
            <a:r>
              <a:rPr lang="en-GB" sz="1400" b="1" dirty="0"/>
              <a:t>Extrinsic:</a:t>
            </a:r>
            <a:r>
              <a:rPr lang="en-GB" sz="1400" dirty="0"/>
              <a:t> external death ligands → receptor → caspase-8 → apoptosis</a:t>
            </a:r>
            <a:br>
              <a:rPr lang="en-GB" sz="1400" dirty="0"/>
            </a:br>
            <a:r>
              <a:rPr lang="en-GB" sz="1400" i="1" dirty="0"/>
              <a:t>Both end in activation of executioner caspases → cell death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44668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F32C3-A552-D407-9499-85C5982E0A6F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Physiological vs Pathological Apoptosis</a:t>
            </a:r>
            <a:endParaRPr lang="en-US" sz="37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C0EC68-CFB2-BCBE-3311-B50E8BF4A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338804"/>
              </p:ext>
            </p:extLst>
          </p:nvPr>
        </p:nvGraphicFramePr>
        <p:xfrm>
          <a:off x="673558" y="1966293"/>
          <a:ext cx="10844885" cy="4452161"/>
        </p:xfrm>
        <a:graphic>
          <a:graphicData uri="http://schemas.openxmlformats.org/drawingml/2006/table">
            <a:tbl>
              <a:tblPr/>
              <a:tblGrid>
                <a:gridCol w="1936292">
                  <a:extLst>
                    <a:ext uri="{9D8B030D-6E8A-4147-A177-3AD203B41FA5}">
                      <a16:colId xmlns:a16="http://schemas.microsoft.com/office/drawing/2014/main" val="1163448790"/>
                    </a:ext>
                  </a:extLst>
                </a:gridCol>
                <a:gridCol w="2419350">
                  <a:extLst>
                    <a:ext uri="{9D8B030D-6E8A-4147-A177-3AD203B41FA5}">
                      <a16:colId xmlns:a16="http://schemas.microsoft.com/office/drawing/2014/main" val="488166525"/>
                    </a:ext>
                  </a:extLst>
                </a:gridCol>
                <a:gridCol w="3975750">
                  <a:extLst>
                    <a:ext uri="{9D8B030D-6E8A-4147-A177-3AD203B41FA5}">
                      <a16:colId xmlns:a16="http://schemas.microsoft.com/office/drawing/2014/main" val="1332071184"/>
                    </a:ext>
                  </a:extLst>
                </a:gridCol>
                <a:gridCol w="2513493">
                  <a:extLst>
                    <a:ext uri="{9D8B030D-6E8A-4147-A177-3AD203B41FA5}">
                      <a16:colId xmlns:a16="http://schemas.microsoft.com/office/drawing/2014/main" val="4136277081"/>
                    </a:ext>
                  </a:extLst>
                </a:gridCol>
              </a:tblGrid>
              <a:tr h="4037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Type</a:t>
                      </a:r>
                      <a:endParaRPr lang="en-GB" sz="1800"/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Description</a:t>
                      </a:r>
                      <a:endParaRPr lang="en-GB" sz="1800"/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Examples</a:t>
                      </a:r>
                      <a:endParaRPr lang="en-GB" sz="1800"/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Outcome</a:t>
                      </a:r>
                      <a:endParaRPr lang="en-GB" sz="1800"/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939487"/>
                  </a:ext>
                </a:extLst>
              </a:tr>
              <a:tr h="2024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Physiological Apoptosis</a:t>
                      </a:r>
                      <a:endParaRPr lang="en-GB" sz="1800" dirty="0"/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Normal, </a:t>
                      </a:r>
                      <a:r>
                        <a:rPr lang="en-GB" sz="1800" i="1"/>
                        <a:t>healthy</a:t>
                      </a:r>
                      <a:r>
                        <a:rPr lang="en-GB" sz="1800"/>
                        <a:t> cell death that maintains tissue balance</a:t>
                      </a:r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- </a:t>
                      </a:r>
                      <a:r>
                        <a:rPr lang="en-GB" sz="1800" b="1" dirty="0"/>
                        <a:t>Menstrual cycle:</a:t>
                      </a:r>
                      <a:r>
                        <a:rPr lang="en-GB" sz="1800" dirty="0"/>
                        <a:t> shedding of endometrial lining </a:t>
                      </a:r>
                    </a:p>
                    <a:p>
                      <a:pPr>
                        <a:buNone/>
                      </a:pPr>
                      <a:r>
                        <a:rPr lang="en-GB" sz="1800" dirty="0"/>
                        <a:t>- </a:t>
                      </a:r>
                      <a:r>
                        <a:rPr lang="en-GB" sz="1800" b="1" dirty="0"/>
                        <a:t>Immune system:</a:t>
                      </a:r>
                      <a:r>
                        <a:rPr lang="en-GB" sz="1800" dirty="0"/>
                        <a:t> removal of excess or self-reactive lymphocytes </a:t>
                      </a:r>
                    </a:p>
                    <a:p>
                      <a:pPr>
                        <a:buNone/>
                      </a:pPr>
                      <a:r>
                        <a:rPr lang="en-GB" sz="1800" dirty="0"/>
                        <a:t>–</a:t>
                      </a:r>
                      <a:r>
                        <a:rPr lang="en-GB" sz="1800" b="0" dirty="0"/>
                        <a:t> </a:t>
                      </a:r>
                      <a:r>
                        <a:rPr lang="en-GB" sz="1800" b="1" dirty="0"/>
                        <a:t>Embryonic development:</a:t>
                      </a:r>
                      <a:r>
                        <a:rPr lang="en-GB" sz="1800" dirty="0"/>
                        <a:t>  </a:t>
                      </a:r>
                    </a:p>
                    <a:p>
                      <a:pPr>
                        <a:buNone/>
                      </a:pPr>
                      <a:r>
                        <a:rPr lang="en-GB" sz="1800" dirty="0"/>
                        <a:t>separation of fingers and toes</a:t>
                      </a:r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Maintains tissue homeostasis, shapes organs, prevents autoimmunity</a:t>
                      </a:r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41040"/>
                  </a:ext>
                </a:extLst>
              </a:tr>
              <a:tr h="2024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Pathological Apoptosis</a:t>
                      </a:r>
                      <a:endParaRPr lang="en-GB" sz="1800" dirty="0"/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Abnormal or excessive cell death triggered by disease or injury</a:t>
                      </a:r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- </a:t>
                      </a:r>
                      <a:r>
                        <a:rPr lang="en-GB" sz="1800" b="1" dirty="0"/>
                        <a:t>Viral infections</a:t>
                      </a:r>
                      <a:r>
                        <a:rPr lang="en-GB" sz="1800" dirty="0"/>
                        <a:t> (e.g., hepatitis → liver cell apoptosis) </a:t>
                      </a:r>
                    </a:p>
                    <a:p>
                      <a:pPr>
                        <a:buNone/>
                      </a:pPr>
                      <a:r>
                        <a:rPr lang="en-GB" sz="1800" dirty="0"/>
                        <a:t>- </a:t>
                      </a:r>
                      <a:r>
                        <a:rPr lang="en-GB" sz="1800" b="1" dirty="0"/>
                        <a:t>DNA damage</a:t>
                      </a:r>
                      <a:r>
                        <a:rPr lang="en-GB" sz="1800" dirty="0"/>
                        <a:t> from radiation or chemotherapy </a:t>
                      </a:r>
                    </a:p>
                    <a:p>
                      <a:pPr>
                        <a:buNone/>
                      </a:pPr>
                      <a:r>
                        <a:rPr lang="en-GB" sz="1800" dirty="0"/>
                        <a:t>- </a:t>
                      </a:r>
                      <a:r>
                        <a:rPr lang="en-GB" sz="1800" b="1" dirty="0"/>
                        <a:t>Neurodegenerative diseases</a:t>
                      </a:r>
                      <a:r>
                        <a:rPr lang="en-GB" sz="1800" dirty="0"/>
                        <a:t> (e.g., Alzheimer’s, Parkinson’s)</a:t>
                      </a:r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Contributes to tissue atrophy or organ dysfunction</a:t>
                      </a:r>
                    </a:p>
                  </a:txBody>
                  <a:tcPr marL="87426" marR="87426" marT="43712" marB="437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397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862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D7250-A61A-2116-CCE0-B2A5AB9C7D9A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Apoptosis vs Necrosis</a:t>
            </a:r>
            <a:endParaRPr lang="en-US" sz="40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5AA602-C83D-F354-F4FB-4DE37936D2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642482"/>
              </p:ext>
            </p:extLst>
          </p:nvPr>
        </p:nvGraphicFramePr>
        <p:xfrm>
          <a:off x="380997" y="1731476"/>
          <a:ext cx="11430001" cy="4730459"/>
        </p:xfrm>
        <a:graphic>
          <a:graphicData uri="http://schemas.openxmlformats.org/drawingml/2006/table">
            <a:tbl>
              <a:tblPr/>
              <a:tblGrid>
                <a:gridCol w="2838453">
                  <a:extLst>
                    <a:ext uri="{9D8B030D-6E8A-4147-A177-3AD203B41FA5}">
                      <a16:colId xmlns:a16="http://schemas.microsoft.com/office/drawing/2014/main" val="2963582184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690615032"/>
                    </a:ext>
                  </a:extLst>
                </a:gridCol>
                <a:gridCol w="4076698">
                  <a:extLst>
                    <a:ext uri="{9D8B030D-6E8A-4147-A177-3AD203B41FA5}">
                      <a16:colId xmlns:a16="http://schemas.microsoft.com/office/drawing/2014/main" val="56668793"/>
                    </a:ext>
                  </a:extLst>
                </a:gridCol>
              </a:tblGrid>
              <a:tr h="369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Feature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 dirty="0">
                          <a:effectLst/>
                          <a:latin typeface="Arial" panose="020B0604020202020204" pitchFamily="34" charset="0"/>
                        </a:rPr>
                        <a:t>Apoptosis (“Clean Death”)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 dirty="0">
                          <a:effectLst/>
                          <a:latin typeface="Arial" panose="020B0604020202020204" pitchFamily="34" charset="0"/>
                        </a:rPr>
                        <a:t>Necrosis (“Messy Death”)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0193663"/>
                  </a:ext>
                </a:extLst>
              </a:tr>
              <a:tr h="621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Type of process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Controlled, programmed (regulated)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Uncontrolled, accidental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595724"/>
                  </a:ext>
                </a:extLst>
              </a:tr>
              <a:tr h="369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Energy (ATP)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Requires energy (active)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Energy failure (passive)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445567"/>
                  </a:ext>
                </a:extLst>
              </a:tr>
              <a:tr h="621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Cause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Normal development, DNA damage, stress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Severe injury, toxins, ischemia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798394"/>
                  </a:ext>
                </a:extLst>
              </a:tr>
              <a:tr h="369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Cell size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Shrinks (condensation)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Swells (oncosis)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050861"/>
                  </a:ext>
                </a:extLst>
              </a:tr>
              <a:tr h="369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Membrane integrity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Intact until the end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Ruptures early → leakage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518424"/>
                  </a:ext>
                </a:extLst>
              </a:tr>
              <a:tr h="369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Inflammation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effectLst/>
                          <a:latin typeface="Arial" panose="020B0604020202020204" pitchFamily="34" charset="0"/>
                        </a:rPr>
                        <a:t> None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effectLst/>
                          <a:latin typeface="Arial" panose="020B0604020202020204" pitchFamily="34" charset="0"/>
                        </a:rPr>
                        <a:t>Strong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579904"/>
                  </a:ext>
                </a:extLst>
              </a:tr>
              <a:tr h="369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Cells affected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Individual cells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Groups of cells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3234880"/>
                  </a:ext>
                </a:extLst>
              </a:tr>
              <a:tr h="369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Nucleus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Condenses → fragments neatly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Swells → disintegrates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049746"/>
                  </a:ext>
                </a:extLst>
              </a:tr>
              <a:tr h="6216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1" i="0" u="none" strike="noStrike">
                          <a:effectLst/>
                          <a:latin typeface="Arial" panose="020B0604020202020204" pitchFamily="34" charset="0"/>
                        </a:rPr>
                        <a:t>Outcome</a:t>
                      </a:r>
                      <a:endParaRPr lang="en-GB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effectLst/>
                          <a:latin typeface="Arial" panose="020B0604020202020204" pitchFamily="34" charset="0"/>
                        </a:rPr>
                        <a:t>Clean removal by phagocytes, no scarring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effectLst/>
                          <a:latin typeface="Arial" panose="020B0604020202020204" pitchFamily="34" charset="0"/>
                        </a:rPr>
                        <a:t>Tissue damage, fibrosis, scarring</a:t>
                      </a:r>
                    </a:p>
                  </a:txBody>
                  <a:tcPr marL="84003" marR="84003" marT="42002" marB="420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038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922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1AC0B-6222-3638-90FB-34C0D010E0C3}"/>
              </a:ext>
            </a:extLst>
          </p:cNvPr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Autophagy – The Cell’s Recycling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220B84-8B65-BD18-F6CB-320BB7681DA3}"/>
              </a:ext>
            </a:extLst>
          </p:cNvPr>
          <p:cNvSpPr txBox="1"/>
          <p:nvPr/>
        </p:nvSpPr>
        <p:spPr>
          <a:xfrm>
            <a:off x="241210" y="2389218"/>
            <a:ext cx="6039261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400" dirty="0"/>
            </a:br>
            <a:r>
              <a:rPr lang="en-US" sz="1400" b="1" dirty="0"/>
              <a:t>Autophagy</a:t>
            </a:r>
            <a:r>
              <a:rPr lang="en-US" sz="1400" dirty="0"/>
              <a:t> (from Greek </a:t>
            </a:r>
            <a:r>
              <a:rPr lang="en-US" sz="1400" i="1" dirty="0"/>
              <a:t>“auto” = self, “</a:t>
            </a:r>
            <a:r>
              <a:rPr lang="en-US" sz="1400" i="1" dirty="0" err="1"/>
              <a:t>phagy</a:t>
            </a:r>
            <a:r>
              <a:rPr lang="en-US" sz="1400" i="1" dirty="0"/>
              <a:t>” = eating</a:t>
            </a:r>
            <a:r>
              <a:rPr lang="en-US" sz="1400" dirty="0"/>
              <a:t>) is a </a:t>
            </a:r>
            <a:r>
              <a:rPr lang="en-US" sz="1400" b="1" dirty="0"/>
              <a:t>cellular recycling process</a:t>
            </a:r>
            <a:r>
              <a:rPr lang="en-US" sz="1400" dirty="0"/>
              <a:t> that breaks down and reuses damaged organelles and proteins to </a:t>
            </a:r>
            <a:r>
              <a:rPr lang="en-US" sz="1400" b="1" dirty="0"/>
              <a:t>maintain energy and survival</a:t>
            </a:r>
            <a:r>
              <a:rPr lang="en-US" sz="1400" dirty="0"/>
              <a:t> during stress.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i="0" u="none" strike="noStrike" dirty="0">
                <a:effectLst/>
              </a:rPr>
              <a:t>Key Points:</a:t>
            </a:r>
            <a:endParaRPr lang="en-US" sz="14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 </a:t>
            </a:r>
            <a:r>
              <a:rPr lang="en-US" sz="1400" b="1" i="0" u="none" strike="noStrike" dirty="0">
                <a:effectLst/>
              </a:rPr>
              <a:t>Lysosomes</a:t>
            </a:r>
            <a:r>
              <a:rPr lang="en-US" sz="1400" b="0" i="0" u="none" strike="noStrike" dirty="0">
                <a:effectLst/>
              </a:rPr>
              <a:t> digest unwanted or damaged components.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 Triggered by </a:t>
            </a:r>
            <a:r>
              <a:rPr lang="en-US" sz="1400" b="1" i="0" u="none" strike="noStrike" dirty="0">
                <a:effectLst/>
              </a:rPr>
              <a:t>nutrient deprivation, stress, or ageing.</a:t>
            </a:r>
            <a:endParaRPr lang="en-US" sz="14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 Helps cells </a:t>
            </a:r>
            <a:r>
              <a:rPr lang="en-US" sz="1400" b="1" i="0" u="none" strike="noStrike" dirty="0">
                <a:effectLst/>
              </a:rPr>
              <a:t>survive mild stress</a:t>
            </a:r>
            <a:r>
              <a:rPr lang="en-US" sz="1400" b="0" i="0" u="none" strike="noStrike" dirty="0">
                <a:effectLst/>
              </a:rPr>
              <a:t> by cleaning and renewing themselves.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 If excessive → may lead to </a:t>
            </a:r>
            <a:r>
              <a:rPr lang="en-US" sz="1400" b="1" i="0" u="none" strike="noStrike" dirty="0">
                <a:effectLst/>
              </a:rPr>
              <a:t>cell death</a:t>
            </a:r>
            <a:r>
              <a:rPr lang="en-US" sz="1400" b="0" i="0" u="none" strike="noStrike" dirty="0">
                <a:effectLst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b="0" i="0" u="none" strike="noStrike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i="0" u="none" strike="noStrike" dirty="0">
                <a:effectLst/>
              </a:rPr>
              <a:t>Examples:</a:t>
            </a:r>
            <a:endParaRPr lang="en-US" sz="1400" b="0" i="0" u="none" strike="noStrike" dirty="0">
              <a:effectLst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 </a:t>
            </a:r>
            <a:r>
              <a:rPr lang="en-US" sz="1400" b="0" i="0" u="none" strike="noStrike" dirty="0">
                <a:effectLst/>
              </a:rPr>
              <a:t>Active during </a:t>
            </a:r>
            <a:r>
              <a:rPr lang="en-US" sz="1400" b="1" i="0" u="none" strike="noStrike" dirty="0">
                <a:effectLst/>
              </a:rPr>
              <a:t>fasting, exercise, or low oxygen</a:t>
            </a:r>
            <a:r>
              <a:rPr lang="en-US" sz="1400" b="0" i="0" u="none" strike="noStrike" dirty="0">
                <a:effectLst/>
              </a:rPr>
              <a:t> conditions.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 Helps remove damaged mitochondria (“</a:t>
            </a:r>
            <a:r>
              <a:rPr lang="en-US" sz="1400" b="1" i="0" u="none" strike="noStrike" dirty="0">
                <a:effectLst/>
              </a:rPr>
              <a:t>mitophagy</a:t>
            </a:r>
            <a:r>
              <a:rPr lang="en-US" sz="1400" b="0" i="0" u="none" strike="noStrike" dirty="0">
                <a:effectLst/>
              </a:rPr>
              <a:t>”).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dirty="0">
                <a:effectLst/>
              </a:rPr>
              <a:t> It is important in </a:t>
            </a:r>
            <a:r>
              <a:rPr lang="en-US" sz="1400" b="1" i="0" u="none" strike="noStrike" dirty="0">
                <a:effectLst/>
              </a:rPr>
              <a:t>muscle maintenance</a:t>
            </a:r>
            <a:r>
              <a:rPr lang="en-US" sz="1400" b="0" i="0" u="none" strike="noStrike" dirty="0">
                <a:effectLst/>
              </a:rPr>
              <a:t> and in preventing degeneration.</a:t>
            </a:r>
          </a:p>
        </p:txBody>
      </p:sp>
      <p:pic>
        <p:nvPicPr>
          <p:cNvPr id="6" name="Picture 5" descr="A diagram of a cell&#10;&#10;AI-generated content may be incorrect.">
            <a:extLst>
              <a:ext uri="{FF2B5EF4-FFF2-40B4-BE49-F238E27FC236}">
                <a16:creationId xmlns:a16="http://schemas.microsoft.com/office/drawing/2014/main" id="{39E52C1A-0A51-2757-F19E-2C08C286D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471" y="2536338"/>
            <a:ext cx="5072407" cy="363945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59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0AA95-D00E-9848-0FCE-BB2ED20F1E22}"/>
              </a:ext>
            </a:extLst>
          </p:cNvPr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000" b="1" i="0" u="none" strike="noStrike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Why Understanding Cell Death Matters in Physiotherapy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C0C0A-A9E6-EA27-9E37-40DDDB80FEAF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Cell injury and death determine how tissues </a:t>
            </a:r>
            <a:r>
              <a:rPr lang="en-US" sz="2000" b="1" dirty="0"/>
              <a:t>heal</a:t>
            </a:r>
            <a:r>
              <a:rPr lang="en-US" sz="2000" dirty="0"/>
              <a:t>, </a:t>
            </a:r>
            <a:r>
              <a:rPr lang="en-US" sz="2000" b="1" dirty="0"/>
              <a:t>adapt</a:t>
            </a:r>
            <a:r>
              <a:rPr lang="en-US" sz="2000" dirty="0"/>
              <a:t>, and </a:t>
            </a:r>
            <a:r>
              <a:rPr lang="en-US" sz="2000" b="1" dirty="0"/>
              <a:t>respond</a:t>
            </a:r>
            <a:r>
              <a:rPr lang="en-US" sz="2000" dirty="0"/>
              <a:t> to rehabilitation.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Physiotherapists use this knowledge to design </a:t>
            </a:r>
            <a:r>
              <a:rPr lang="en-US" sz="2000" b="1" dirty="0"/>
              <a:t>safe, effective treatment plans</a:t>
            </a:r>
            <a:r>
              <a:rPr lang="en-US" sz="2000" dirty="0"/>
              <a:t> based on tissue biology.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42495B-7333-BD76-8E51-E824FC3AB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5907"/>
              </p:ext>
            </p:extLst>
          </p:nvPr>
        </p:nvGraphicFramePr>
        <p:xfrm>
          <a:off x="4267200" y="640080"/>
          <a:ext cx="7217313" cy="5724142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300328">
                  <a:extLst>
                    <a:ext uri="{9D8B030D-6E8A-4147-A177-3AD203B41FA5}">
                      <a16:colId xmlns:a16="http://schemas.microsoft.com/office/drawing/2014/main" val="1833735533"/>
                    </a:ext>
                  </a:extLst>
                </a:gridCol>
                <a:gridCol w="2401554">
                  <a:extLst>
                    <a:ext uri="{9D8B030D-6E8A-4147-A177-3AD203B41FA5}">
                      <a16:colId xmlns:a16="http://schemas.microsoft.com/office/drawing/2014/main" val="1140231567"/>
                    </a:ext>
                  </a:extLst>
                </a:gridCol>
                <a:gridCol w="2515431">
                  <a:extLst>
                    <a:ext uri="{9D8B030D-6E8A-4147-A177-3AD203B41FA5}">
                      <a16:colId xmlns:a16="http://schemas.microsoft.com/office/drawing/2014/main" val="4138543871"/>
                    </a:ext>
                  </a:extLst>
                </a:gridCol>
              </a:tblGrid>
              <a:tr h="633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Pathological Process</a:t>
                      </a:r>
                      <a:endParaRPr lang="en-GB" sz="1800"/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Effect on Tissue</a:t>
                      </a:r>
                      <a:endParaRPr lang="en-GB" sz="1800"/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Physiotherapy Implication</a:t>
                      </a:r>
                      <a:endParaRPr lang="en-GB" sz="1800"/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779024"/>
                  </a:ext>
                </a:extLst>
              </a:tr>
              <a:tr h="908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Reversible injury</a:t>
                      </a:r>
                      <a:endParaRPr lang="en-GB" sz="1800"/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Temporary dysfunction, swelling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Early movement &amp; gentle exercise enhance recovery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854863"/>
                  </a:ext>
                </a:extLst>
              </a:tr>
              <a:tr h="908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Apoptosis</a:t>
                      </a:r>
                      <a:endParaRPr lang="en-GB" sz="1800"/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Controlled removal → regeneration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Supports tissue remodelling post-exercise or injury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157173"/>
                  </a:ext>
                </a:extLst>
              </a:tr>
              <a:tr h="908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Autophagy</a:t>
                      </a:r>
                      <a:endParaRPr lang="en-GB" sz="1800"/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Recycling → cell survival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Triggered by exercise and metabolic stress; aids recovery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87921"/>
                  </a:ext>
                </a:extLst>
              </a:tr>
              <a:tr h="1182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Necrosis</a:t>
                      </a:r>
                      <a:endParaRPr lang="en-GB" sz="1800"/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Inflammation, fibrosis, scarring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Avoid load on necrotic/healing tissue; prevent further damage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312597"/>
                  </a:ext>
                </a:extLst>
              </a:tr>
              <a:tr h="1182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Chronic cell injury</a:t>
                      </a:r>
                      <a:endParaRPr lang="en-GB" sz="1800"/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Fibrosis, atrophy, dysfunction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Long-term rehabilitation to restore or compensate function</a:t>
                      </a:r>
                    </a:p>
                  </a:txBody>
                  <a:tcPr marL="85288" marR="85288" marT="42644" marB="426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86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553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13DC50-EC31-314B-290E-5839F61CDC90}"/>
              </a:ext>
            </a:extLst>
          </p:cNvPr>
          <p:cNvSpPr txBox="1"/>
          <p:nvPr/>
        </p:nvSpPr>
        <p:spPr>
          <a:xfrm>
            <a:off x="304800" y="1196773"/>
            <a:ext cx="81153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Exercise causes controlled cellular stress — this is how adaptation happens. </a:t>
            </a:r>
            <a:r>
              <a:rPr lang="en-GB" sz="2000" dirty="0"/>
              <a:t>However,  when the stress exceeds the tissue’s recovery capacity, it becomes </a:t>
            </a:r>
            <a:r>
              <a:rPr lang="en-GB" sz="2000" b="1" dirty="0"/>
              <a:t>pathological</a:t>
            </a:r>
            <a:r>
              <a:rPr lang="en-GB" sz="20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B34FB6-E2F6-314C-2E55-1A31EAE92F34}"/>
              </a:ext>
            </a:extLst>
          </p:cNvPr>
          <p:cNvSpPr txBox="1"/>
          <p:nvPr/>
        </p:nvSpPr>
        <p:spPr>
          <a:xfrm>
            <a:off x="304800" y="25322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Relevance for Physiotherapy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06CD99-3675-322A-B171-E89323B5C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614839"/>
              </p:ext>
            </p:extLst>
          </p:nvPr>
        </p:nvGraphicFramePr>
        <p:xfrm>
          <a:off x="590550" y="2798695"/>
          <a:ext cx="10515600" cy="30175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704400227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789289549"/>
                    </a:ext>
                  </a:extLst>
                </a:gridCol>
                <a:gridCol w="2914650">
                  <a:extLst>
                    <a:ext uri="{9D8B030D-6E8A-4147-A177-3AD203B41FA5}">
                      <a16:colId xmlns:a16="http://schemas.microsoft.com/office/drawing/2014/main" val="18527360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03472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Type of Muscle Damage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Cause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Cellular Response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Physiotherapy Implication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290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🟢 </a:t>
                      </a:r>
                      <a:r>
                        <a:rPr lang="en-GB" b="1"/>
                        <a:t>Exercise-induced (Physiological)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Controlled overload during 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Mild, reversible cell injury → activates </a:t>
                      </a:r>
                    </a:p>
                    <a:p>
                      <a:pPr>
                        <a:buNone/>
                      </a:pPr>
                      <a:r>
                        <a:rPr lang="en-GB" b="1" dirty="0"/>
                        <a:t>apoptosis</a:t>
                      </a:r>
                      <a:r>
                        <a:rPr lang="en-GB" dirty="0"/>
                        <a:t> and </a:t>
                      </a:r>
                    </a:p>
                    <a:p>
                      <a:pPr>
                        <a:buNone/>
                      </a:pPr>
                      <a:r>
                        <a:rPr lang="en-GB" b="1" dirty="0"/>
                        <a:t>autophagy </a:t>
                      </a:r>
                      <a:r>
                        <a:rPr lang="en-GB" dirty="0"/>
                        <a:t>for repair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Gradual </a:t>
                      </a:r>
                      <a:r>
                        <a:rPr lang="en-GB" b="1" dirty="0"/>
                        <a:t>progressive loading </a:t>
                      </a:r>
                      <a:r>
                        <a:rPr lang="en-GB" dirty="0"/>
                        <a:t>enhances strength and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7478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🔴 </a:t>
                      </a:r>
                      <a:r>
                        <a:rPr lang="en-GB" b="1"/>
                        <a:t>Pathological Damage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Excessive load, poor recovery, ischemia, toxins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Necrosis</a:t>
                      </a:r>
                      <a:r>
                        <a:rPr lang="en-GB"/>
                        <a:t> → inflammation, fibrosis, tissue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Reduce intensity</a:t>
                      </a:r>
                      <a:r>
                        <a:rPr lang="en-GB" dirty="0"/>
                        <a:t>, ensure </a:t>
                      </a:r>
                      <a:r>
                        <a:rPr lang="en-GB" b="1" dirty="0"/>
                        <a:t>adequate rest</a:t>
                      </a:r>
                      <a:r>
                        <a:rPr lang="en-GB" dirty="0"/>
                        <a:t>, monitor for pain and swelling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61911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B224552-67A9-0BB2-61F6-F30D152FFA80}"/>
              </a:ext>
            </a:extLst>
          </p:cNvPr>
          <p:cNvSpPr txBox="1"/>
          <p:nvPr/>
        </p:nvSpPr>
        <p:spPr>
          <a:xfrm>
            <a:off x="3448050" y="60815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1" dirty="0"/>
              <a:t>Balance = Load + Recovery</a:t>
            </a:r>
            <a:endParaRPr lang="en-GB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46B73-6CCD-0801-6A80-4A3DFBFD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83" r="21568"/>
          <a:stretch>
            <a:fillRect/>
          </a:stretch>
        </p:blipFill>
        <p:spPr>
          <a:xfrm>
            <a:off x="9753600" y="95803"/>
            <a:ext cx="2264610" cy="257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64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19F7815-3AA2-7679-26F4-A63338C8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668" y="4843169"/>
            <a:ext cx="12196668" cy="2016059"/>
            <a:chOff x="-4668" y="4843169"/>
            <a:chExt cx="12196668" cy="201605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6154CE-3587-5C44-2A6B-1FE49B30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4668" y="4843169"/>
              <a:ext cx="12196668" cy="201594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7A46DB-98C4-E666-AEC5-DF8B5DD9E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4400"/>
              <a:ext cx="10565988" cy="2014828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F8962A-028A-2EBA-FBCF-F9B033440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3170"/>
              <a:ext cx="10309010" cy="2006799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F139663-D7C2-5898-E610-2183584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05876" y="4851203"/>
              <a:ext cx="8086124" cy="200679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B9535BC-417D-93F1-5E9F-67F4F5906209}"/>
              </a:ext>
            </a:extLst>
          </p:cNvPr>
          <p:cNvSpPr txBox="1"/>
          <p:nvPr/>
        </p:nvSpPr>
        <p:spPr>
          <a:xfrm>
            <a:off x="1611630" y="5167418"/>
            <a:ext cx="8949690" cy="702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Recap – From Injury to Death</a:t>
            </a:r>
            <a:endParaRPr lang="en-US" sz="3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E0A2D0-8B74-0A11-B034-CF59B37B4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621719"/>
              </p:ext>
            </p:extLst>
          </p:nvPr>
        </p:nvGraphicFramePr>
        <p:xfrm>
          <a:off x="495300" y="461527"/>
          <a:ext cx="11239500" cy="4078920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2765612">
                  <a:extLst>
                    <a:ext uri="{9D8B030D-6E8A-4147-A177-3AD203B41FA5}">
                      <a16:colId xmlns:a16="http://schemas.microsoft.com/office/drawing/2014/main" val="61548187"/>
                    </a:ext>
                  </a:extLst>
                </a:gridCol>
                <a:gridCol w="2765612">
                  <a:extLst>
                    <a:ext uri="{9D8B030D-6E8A-4147-A177-3AD203B41FA5}">
                      <a16:colId xmlns:a16="http://schemas.microsoft.com/office/drawing/2014/main" val="22978157"/>
                    </a:ext>
                  </a:extLst>
                </a:gridCol>
                <a:gridCol w="2866354">
                  <a:extLst>
                    <a:ext uri="{9D8B030D-6E8A-4147-A177-3AD203B41FA5}">
                      <a16:colId xmlns:a16="http://schemas.microsoft.com/office/drawing/2014/main" val="971499496"/>
                    </a:ext>
                  </a:extLst>
                </a:gridCol>
                <a:gridCol w="2841922">
                  <a:extLst>
                    <a:ext uri="{9D8B030D-6E8A-4147-A177-3AD203B41FA5}">
                      <a16:colId xmlns:a16="http://schemas.microsoft.com/office/drawing/2014/main" val="3727914916"/>
                    </a:ext>
                  </a:extLst>
                </a:gridCol>
              </a:tblGrid>
              <a:tr h="412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Stage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Trigger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Cellular Response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Outcome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16746"/>
                  </a:ext>
                </a:extLst>
              </a:tr>
              <a:tr h="613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Normal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Homeostasis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Normal structure &amp; function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Health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76302"/>
                  </a:ext>
                </a:extLst>
              </a:tr>
              <a:tr h="613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Adaptation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Increased demand, mild stress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Hypertrophy, hyperplasia, atrophy, metaplasia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Reversible compensation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398130"/>
                  </a:ext>
                </a:extLst>
              </a:tr>
              <a:tr h="613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Reversible Injury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Persistent stress, mild oxygen lack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Swelling, fatty change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Recovery possible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666051"/>
                  </a:ext>
                </a:extLst>
              </a:tr>
              <a:tr h="613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Irreversible Injury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Severe stress, toxins, ischemia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Membrane &amp; mitochondrial damage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Cell death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515875"/>
                  </a:ext>
                </a:extLst>
              </a:tr>
              <a:tr h="4126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Apoptosis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Programmed, controlled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Caspase activation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Clean removal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638598"/>
                  </a:ext>
                </a:extLst>
              </a:tr>
              <a:tr h="613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cap="none" spc="0">
                          <a:solidFill>
                            <a:schemeClr val="tx1"/>
                          </a:solidFill>
                        </a:rPr>
                        <a:t>Necrosis &amp; others</a:t>
                      </a:r>
                      <a:endParaRPr lang="en-GB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Uncontrolled damage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>
                          <a:solidFill>
                            <a:schemeClr val="tx1"/>
                          </a:solidFill>
                        </a:rPr>
                        <a:t>Membrane rupture, inflammation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cap="none" spc="0" dirty="0">
                          <a:solidFill>
                            <a:schemeClr val="tx1"/>
                          </a:solidFill>
                        </a:rPr>
                        <a:t>Tissue destruction</a:t>
                      </a:r>
                    </a:p>
                  </a:txBody>
                  <a:tcPr marL="70452" marR="100645" marT="20129" marB="1509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762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2977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C9B180-2012-F524-9CB4-2FC0501B84A1}"/>
              </a:ext>
            </a:extLst>
          </p:cNvPr>
          <p:cNvSpPr txBox="1"/>
          <p:nvPr/>
        </p:nvSpPr>
        <p:spPr>
          <a:xfrm>
            <a:off x="771525" y="1912888"/>
            <a:ext cx="1064895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Which of the following best describes </a:t>
            </a:r>
            <a:r>
              <a:rPr lang="en-GB" sz="2800" b="1" i="1" u="none" strike="noStrike" dirty="0">
                <a:solidFill>
                  <a:srgbClr val="000000"/>
                </a:solidFill>
                <a:effectLst/>
              </a:rPr>
              <a:t>apoptosis</a:t>
            </a: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?</a:t>
            </a:r>
          </a:p>
          <a:p>
            <a:pPr algn="l">
              <a:buNone/>
            </a:pPr>
            <a:endParaRPr lang="en-GB" sz="28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A. Accidental cell death caused by severe injury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B. Controlled, energy-dependent cell death without inflammation 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C. Cell swelling and rupture with inflammation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D. Uncontrolled necrosis during infection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D6100-4C37-6596-8DB2-E0556A8482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89"/>
          <a:stretch>
            <a:fillRect/>
          </a:stretch>
        </p:blipFill>
        <p:spPr>
          <a:xfrm>
            <a:off x="9455150" y="0"/>
            <a:ext cx="2736850" cy="269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372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0F6D95-7C56-FE96-10E2-46318E7BE9A0}"/>
              </a:ext>
            </a:extLst>
          </p:cNvPr>
          <p:cNvSpPr txBox="1"/>
          <p:nvPr/>
        </p:nvSpPr>
        <p:spPr>
          <a:xfrm>
            <a:off x="663864" y="2090172"/>
            <a:ext cx="1008033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Which change is an example of </a:t>
            </a:r>
            <a:r>
              <a:rPr lang="en-GB" sz="2800" b="1" i="1" u="none" strike="noStrike" dirty="0">
                <a:solidFill>
                  <a:srgbClr val="000000"/>
                </a:solidFill>
                <a:effectLst/>
              </a:rPr>
              <a:t>cell adaptation</a:t>
            </a: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?</a:t>
            </a:r>
          </a:p>
          <a:p>
            <a:pPr algn="l">
              <a:buNone/>
            </a:pPr>
            <a:endParaRPr lang="en-GB" sz="28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A. Muscle atrophy after immobilisation 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B. Cell rupture after trauma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C. DNA fragmentation in apoptosis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D. Fatty degeneration in the liver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D1B74B-4BA4-1BBB-F169-F923E7E61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139" y="4767828"/>
            <a:ext cx="3715861" cy="209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789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48A7A2-F887-9452-365B-2F0AAD9BDA7C}"/>
              </a:ext>
            </a:extLst>
          </p:cNvPr>
          <p:cNvSpPr txBox="1"/>
          <p:nvPr/>
        </p:nvSpPr>
        <p:spPr>
          <a:xfrm>
            <a:off x="514350" y="1865174"/>
            <a:ext cx="10668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What happens when a cell’s stress is too severe or prolonged?</a:t>
            </a:r>
          </a:p>
          <a:p>
            <a:pPr algn="l">
              <a:buNone/>
            </a:pPr>
            <a:endParaRPr lang="en-GB" sz="28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A. The cell repairs completely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B. The cell becomes stronger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C. The injury becomes </a:t>
            </a: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irreversible</a:t>
            </a: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 and leads to death 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D. The cell divides more rapidly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C3F5E1-178E-4A59-2675-15FF679C3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842" y="4180344"/>
            <a:ext cx="3194158" cy="26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26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402EF1-098B-4FBA-CD6F-FD66E81B1833}"/>
              </a:ext>
            </a:extLst>
          </p:cNvPr>
          <p:cNvSpPr txBox="1"/>
          <p:nvPr/>
        </p:nvSpPr>
        <p:spPr>
          <a:xfrm>
            <a:off x="552450" y="998488"/>
            <a:ext cx="106299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What is the main difference between necrosis and apoptosis?</a:t>
            </a:r>
          </a:p>
          <a:p>
            <a:pPr algn="l">
              <a:buNone/>
            </a:pPr>
            <a:endParaRPr lang="en-GB" sz="28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A. Only apoptosis uses ATP 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B. Only necrosis happens in single cells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C. Necrosis is reversible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D. Apoptosis always causes inflammation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D91DA-4A45-F252-804A-0FE1FD7FE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73" y="4460240"/>
            <a:ext cx="3377127" cy="23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840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owl with yellow eyes and black question marks&#10;&#10;AI-generated content may be incorrect.">
            <a:extLst>
              <a:ext uri="{FF2B5EF4-FFF2-40B4-BE49-F238E27FC236}">
                <a16:creationId xmlns:a16="http://schemas.microsoft.com/office/drawing/2014/main" id="{DDCD7C24-F6A1-393C-D835-2F5D3DFFEE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67" b="10721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0E473-904B-4D25-4B7F-91075762D18F}"/>
              </a:ext>
            </a:extLst>
          </p:cNvPr>
          <p:cNvSpPr txBox="1"/>
          <p:nvPr/>
        </p:nvSpPr>
        <p:spPr>
          <a:xfrm>
            <a:off x="5762756" y="1680560"/>
            <a:ext cx="6076683" cy="349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r>
              <a:rPr lang="en-US" sz="2800" b="1" i="0" u="none" strike="noStrike" dirty="0">
                <a:effectLst/>
              </a:rPr>
              <a:t>What is the role of </a:t>
            </a:r>
            <a:r>
              <a:rPr lang="en-US" sz="2800" b="1" i="1" u="none" strike="noStrike" dirty="0">
                <a:effectLst/>
              </a:rPr>
              <a:t>autophagy</a:t>
            </a:r>
            <a:r>
              <a:rPr lang="en-US" sz="2800" b="1" i="0" u="none" strike="noStrike" dirty="0">
                <a:effectLst/>
              </a:rPr>
              <a:t>?</a:t>
            </a:r>
          </a:p>
          <a:p>
            <a:pPr indent="-228600">
              <a:lnSpc>
                <a:spcPct val="9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sz="2800" b="1" i="0" u="none" strike="noStrike" dirty="0">
              <a:effectLst/>
            </a:endParaRPr>
          </a:p>
          <a:p>
            <a:pPr marL="514350" indent="-514350">
              <a:lnSpc>
                <a:spcPct val="90000"/>
              </a:lnSpc>
              <a:spcAft>
                <a:spcPts val="1000"/>
              </a:spcAft>
              <a:buAutoNum type="alphaUcPeriod"/>
            </a:pPr>
            <a:r>
              <a:rPr lang="en-US" sz="2800" b="0" i="0" u="none" strike="noStrike" dirty="0">
                <a:effectLst/>
              </a:rPr>
              <a:t>Causes inflammation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br>
              <a:rPr lang="en-US" sz="2800" b="0" i="0" u="none" strike="noStrike" dirty="0">
                <a:effectLst/>
              </a:rPr>
            </a:br>
            <a:r>
              <a:rPr lang="en-US" sz="2800" b="0" i="0" u="none" strike="noStrike" dirty="0">
                <a:effectLst/>
              </a:rPr>
              <a:t>B. Recycles damaged components to help the cell survive 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br>
              <a:rPr lang="en-US" sz="2800" b="0" i="0" u="none" strike="noStrike" dirty="0">
                <a:effectLst/>
              </a:rPr>
            </a:br>
            <a:r>
              <a:rPr lang="en-US" sz="2800" b="0" i="0" u="none" strike="noStrike" dirty="0">
                <a:effectLst/>
              </a:rPr>
              <a:t>C. Induces fibrosis</a:t>
            </a:r>
          </a:p>
          <a:p>
            <a:pPr>
              <a:lnSpc>
                <a:spcPct val="90000"/>
              </a:lnSpc>
              <a:spcAft>
                <a:spcPts val="1000"/>
              </a:spcAft>
            </a:pPr>
            <a:br>
              <a:rPr lang="en-US" sz="2800" b="0" i="0" u="none" strike="noStrike" dirty="0">
                <a:effectLst/>
              </a:rPr>
            </a:br>
            <a:r>
              <a:rPr lang="en-US" sz="2800" b="0" i="0" u="none" strike="noStrike" dirty="0">
                <a:effectLst/>
              </a:rPr>
              <a:t>D. Triggers necrosis</a:t>
            </a:r>
          </a:p>
        </p:txBody>
      </p:sp>
    </p:spTree>
    <p:extLst>
      <p:ext uri="{BB962C8B-B14F-4D97-AF65-F5344CB8AC3E}">
        <p14:creationId xmlns:p14="http://schemas.microsoft.com/office/powerpoint/2010/main" val="1003976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C3E400-1F42-E4D4-8F60-AC687383BF00}"/>
              </a:ext>
            </a:extLst>
          </p:cNvPr>
          <p:cNvSpPr txBox="1"/>
          <p:nvPr/>
        </p:nvSpPr>
        <p:spPr>
          <a:xfrm>
            <a:off x="781050" y="1498938"/>
            <a:ext cx="97917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Why does this topic matter in physiotherapy?</a:t>
            </a:r>
          </a:p>
          <a:p>
            <a:pPr algn="l">
              <a:buNone/>
            </a:pPr>
            <a:endParaRPr lang="en-GB" sz="28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A. To identify infections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B. To predict how tissues heal or scar 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C. To measure DNA damage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D. To prevent apoptosis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727305-B56E-051A-DD61-A3CAA8AD2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3105150"/>
            <a:ext cx="28956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549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EEDFD83B-474E-42D8-99FD-25099162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18AC0D4-F32D-4067-9F63-E553F4AF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3429000"/>
          </a:xfrm>
          <a:prstGeom prst="rect">
            <a:avLst/>
          </a:prstGeom>
          <a:ln>
            <a:noFill/>
          </a:ln>
          <a:effectLst>
            <a:outerShdw blurRad="203200" dist="127000" dir="5400000" sx="94000" sy="94000" algn="t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00A95A-6182-0F06-CAD1-FC30BE48BA7A}"/>
              </a:ext>
            </a:extLst>
          </p:cNvPr>
          <p:cNvSpPr txBox="1"/>
          <p:nvPr/>
        </p:nvSpPr>
        <p:spPr>
          <a:xfrm>
            <a:off x="628550" y="0"/>
            <a:ext cx="4495999" cy="2658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dirty="0">
                <a:effectLst/>
                <a:latin typeface="+mj-lt"/>
                <a:ea typeface="+mj-ea"/>
                <a:cs typeface="+mj-cs"/>
              </a:rPr>
              <a:t>From Adaptation to Loss of Control</a:t>
            </a:r>
            <a:endParaRPr lang="en-US" sz="4000" b="0" i="0" u="none" strike="noStrike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825F0-2FB1-EFB3-0FEB-3C716F7498AD}"/>
              </a:ext>
            </a:extLst>
          </p:cNvPr>
          <p:cNvSpPr txBox="1"/>
          <p:nvPr/>
        </p:nvSpPr>
        <p:spPr>
          <a:xfrm>
            <a:off x="5827256" y="385399"/>
            <a:ext cx="5943599" cy="2658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Cells can adapt to survive stress…</a:t>
            </a:r>
            <a:br>
              <a:rPr lang="en-US" sz="2000" dirty="0"/>
            </a:br>
            <a:r>
              <a:rPr lang="en-US" sz="2000" dirty="0"/>
              <a:t>But when growth regulation is lost, </a:t>
            </a:r>
            <a:r>
              <a:rPr lang="en-US" sz="2000" b="1" dirty="0"/>
              <a:t>abnormal cell growth</a:t>
            </a:r>
            <a:r>
              <a:rPr lang="en-US" sz="2000" dirty="0"/>
              <a:t> begins — The first step toward </a:t>
            </a:r>
            <a:r>
              <a:rPr lang="en-US" sz="2000" b="1" dirty="0" err="1"/>
              <a:t>tumour</a:t>
            </a:r>
            <a:r>
              <a:rPr lang="en-US" sz="2000" b="1" dirty="0"/>
              <a:t> formation and cancer.</a:t>
            </a:r>
            <a:endParaRPr lang="en-US" sz="2000" dirty="0"/>
          </a:p>
        </p:txBody>
      </p:sp>
      <p:pic>
        <p:nvPicPr>
          <p:cNvPr id="8" name="Picture 7" descr="A close-up of a microscope&#10;&#10;AI-generated content may be incorrect.">
            <a:extLst>
              <a:ext uri="{FF2B5EF4-FFF2-40B4-BE49-F238E27FC236}">
                <a16:creationId xmlns:a16="http://schemas.microsoft.com/office/drawing/2014/main" id="{C7CB2FDB-331A-E7AD-C5BA-4BD7DCBA6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67" y="3124146"/>
            <a:ext cx="5160779" cy="1380508"/>
          </a:xfrm>
          <a:prstGeom prst="rect">
            <a:avLst/>
          </a:prstGeom>
          <a:effectLst/>
        </p:spPr>
      </p:pic>
      <p:pic>
        <p:nvPicPr>
          <p:cNvPr id="9" name="Picture 8" descr="A group of green and red cells&#10;&#10;AI-generated content may be incorrect.">
            <a:extLst>
              <a:ext uri="{FF2B5EF4-FFF2-40B4-BE49-F238E27FC236}">
                <a16:creationId xmlns:a16="http://schemas.microsoft.com/office/drawing/2014/main" id="{7704AB6D-41E7-A407-F520-E9E011A68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312" y="2939400"/>
            <a:ext cx="5109485" cy="1749998"/>
          </a:xfrm>
          <a:prstGeom prst="rect">
            <a:avLst/>
          </a:prstGeom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95831D-7ADC-F50B-04DB-341114226DAE}"/>
              </a:ext>
            </a:extLst>
          </p:cNvPr>
          <p:cNvSpPr txBox="1"/>
          <p:nvPr/>
        </p:nvSpPr>
        <p:spPr>
          <a:xfrm>
            <a:off x="800100" y="5659812"/>
            <a:ext cx="113918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1" u="none" strike="noStrike" dirty="0">
                <a:solidFill>
                  <a:srgbClr val="000000"/>
                </a:solidFill>
                <a:effectLst/>
              </a:rPr>
              <a:t>A single dividing cell can give rise to billions of descendants — if control systems fail, that’s how tumours start.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17038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78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cell growth&#10;&#10;AI-generated content may be incorrect.">
            <a:extLst>
              <a:ext uri="{FF2B5EF4-FFF2-40B4-BE49-F238E27FC236}">
                <a16:creationId xmlns:a16="http://schemas.microsoft.com/office/drawing/2014/main" id="{41433A0F-817D-52EE-6FA7-2FC0D2672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117" y="643467"/>
            <a:ext cx="7983766" cy="52094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F9C284-A36C-CDC0-B349-54FF11642817}"/>
              </a:ext>
            </a:extLst>
          </p:cNvPr>
          <p:cNvSpPr txBox="1"/>
          <p:nvPr/>
        </p:nvSpPr>
        <p:spPr>
          <a:xfrm>
            <a:off x="2104117" y="5955982"/>
            <a:ext cx="770663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i="1" u="none" strike="noStrike" dirty="0">
                <a:solidFill>
                  <a:srgbClr val="000000"/>
                </a:solidFill>
                <a:effectLst/>
              </a:rPr>
              <a:t>Healthy cells follow a regulated cycle — cancer cells break these rules.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89304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425211-7135-D1DF-B824-66F621C487BD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0" i="0" u="none" strike="noStrike" kern="120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Types of Abnormal Cell Growth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9EBA61-BC4C-6978-4A51-32F0FC08C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879980"/>
              </p:ext>
            </p:extLst>
          </p:nvPr>
        </p:nvGraphicFramePr>
        <p:xfrm>
          <a:off x="479467" y="1966293"/>
          <a:ext cx="11233067" cy="4479562"/>
        </p:xfrm>
        <a:graphic>
          <a:graphicData uri="http://schemas.openxmlformats.org/drawingml/2006/table">
            <a:tbl>
              <a:tblPr/>
              <a:tblGrid>
                <a:gridCol w="1515423">
                  <a:extLst>
                    <a:ext uri="{9D8B030D-6E8A-4147-A177-3AD203B41FA5}">
                      <a16:colId xmlns:a16="http://schemas.microsoft.com/office/drawing/2014/main" val="3861481820"/>
                    </a:ext>
                  </a:extLst>
                </a:gridCol>
                <a:gridCol w="1619483">
                  <a:extLst>
                    <a:ext uri="{9D8B030D-6E8A-4147-A177-3AD203B41FA5}">
                      <a16:colId xmlns:a16="http://schemas.microsoft.com/office/drawing/2014/main" val="3297791850"/>
                    </a:ext>
                  </a:extLst>
                </a:gridCol>
                <a:gridCol w="2653077">
                  <a:extLst>
                    <a:ext uri="{9D8B030D-6E8A-4147-A177-3AD203B41FA5}">
                      <a16:colId xmlns:a16="http://schemas.microsoft.com/office/drawing/2014/main" val="26780408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57503407"/>
                    </a:ext>
                  </a:extLst>
                </a:gridCol>
                <a:gridCol w="2397084">
                  <a:extLst>
                    <a:ext uri="{9D8B030D-6E8A-4147-A177-3AD203B41FA5}">
                      <a16:colId xmlns:a16="http://schemas.microsoft.com/office/drawing/2014/main" val="3506095394"/>
                    </a:ext>
                  </a:extLst>
                </a:gridCol>
              </a:tblGrid>
              <a:tr h="297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Type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Definition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Physiological vs Pathological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Relevance / Note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0637597"/>
                  </a:ext>
                </a:extLst>
              </a:tr>
              <a:tr h="678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Hypertrophy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↑ in </a:t>
                      </a:r>
                      <a:r>
                        <a:rPr lang="en-GB" sz="1400" b="1"/>
                        <a:t>cell size</a:t>
                      </a:r>
                      <a:r>
                        <a:rPr lang="en-GB" sz="1400"/>
                        <a:t> (no new cells)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Skeletal muscle after resistance training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🟢 </a:t>
                      </a:r>
                      <a:r>
                        <a:rPr lang="en-GB" sz="1400" b="1" dirty="0"/>
                        <a:t>Physiological:</a:t>
                      </a:r>
                      <a:r>
                        <a:rPr lang="en-GB" sz="1400" dirty="0"/>
                        <a:t> exercise</a:t>
                      </a:r>
                    </a:p>
                    <a:p>
                      <a:pPr>
                        <a:buNone/>
                      </a:pPr>
                      <a:r>
                        <a:rPr lang="en-GB" sz="1400" dirty="0"/>
                        <a:t>🔴 </a:t>
                      </a:r>
                      <a:r>
                        <a:rPr lang="en-GB" sz="1400" b="1" dirty="0"/>
                        <a:t>Pathological:</a:t>
                      </a:r>
                      <a:r>
                        <a:rPr lang="en-GB" sz="1400" dirty="0"/>
                        <a:t> cardiac hypertrophy in hypertension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Reversible; occurs in non-dividing cells (muscle)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729988"/>
                  </a:ext>
                </a:extLst>
              </a:tr>
              <a:tr h="868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Hyperplasia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↑ in </a:t>
                      </a:r>
                      <a:r>
                        <a:rPr lang="en-GB" sz="1400" b="1"/>
                        <a:t>cell number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Endometrial thickening during the menstrual cycle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🟢 </a:t>
                      </a:r>
                      <a:r>
                        <a:rPr lang="en-GB" sz="1400" b="1" dirty="0"/>
                        <a:t>Physiological:</a:t>
                      </a:r>
                      <a:r>
                        <a:rPr lang="en-GB" sz="1400" dirty="0"/>
                        <a:t> hormonal</a:t>
                      </a:r>
                    </a:p>
                    <a:p>
                      <a:pPr>
                        <a:buNone/>
                      </a:pPr>
                      <a:r>
                        <a:rPr lang="en-GB" sz="1400" dirty="0"/>
                        <a:t>🔴 </a:t>
                      </a:r>
                      <a:r>
                        <a:rPr lang="en-GB" sz="1400" b="1" dirty="0"/>
                        <a:t>Pathological:</a:t>
                      </a:r>
                      <a:r>
                        <a:rPr lang="en-GB" sz="1400" dirty="0"/>
                        <a:t> endometrial hyperplasia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Controlled by hormones/growth factors; can precede dysplasia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035358"/>
                  </a:ext>
                </a:extLst>
              </a:tr>
              <a:tr h="868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Atrophy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↓ in </a:t>
                      </a:r>
                      <a:r>
                        <a:rPr lang="en-GB" sz="1400" b="1"/>
                        <a:t>cell size or number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Muscle wasting after immobilisation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🔴 </a:t>
                      </a:r>
                      <a:r>
                        <a:rPr lang="en-GB" sz="1400" b="1"/>
                        <a:t>Pathological</a:t>
                      </a:r>
                      <a:r>
                        <a:rPr lang="en-GB" sz="1400"/>
                        <a:t> but reversible with activity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Physiotherapy link:</a:t>
                      </a:r>
                      <a:r>
                        <a:rPr lang="en-GB" sz="1400"/>
                        <a:t> early mobilisation restores function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452998"/>
                  </a:ext>
                </a:extLst>
              </a:tr>
              <a:tr h="868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Metaplasia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Replacement of one cell type with another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Bronchial ciliated epithelium → squamous in smokers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🔶 Adaptive but risky if prolonged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Reversible if stimulus removed; chronic stress may → dysplasia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027257"/>
                  </a:ext>
                </a:extLst>
              </a:tr>
              <a:tr h="8689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Dysplasia</a:t>
                      </a:r>
                      <a:endParaRPr lang="en-GB" sz="140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Disordered growth</a:t>
                      </a:r>
                      <a:r>
                        <a:rPr lang="en-GB" sz="1400"/>
                        <a:t> of cells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Cervical epithelium in HPV infection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🔴 </a:t>
                      </a:r>
                      <a:r>
                        <a:rPr lang="en-GB" sz="1400" b="1" dirty="0"/>
                        <a:t>Pre-malignant</a:t>
                      </a:r>
                      <a:endParaRPr lang="en-GB" sz="1400" dirty="0"/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Loss of uniformity, abnormal nuclei; may progress to cancer</a:t>
                      </a:r>
                    </a:p>
                  </a:txBody>
                  <a:tcPr marL="65888" marR="65888" marT="32944" marB="3294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0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85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7EF82-1E5A-2E53-59E2-3A958A0EEDDE}"/>
              </a:ext>
            </a:extLst>
          </p:cNvPr>
          <p:cNvSpPr txBox="1"/>
          <p:nvPr/>
        </p:nvSpPr>
        <p:spPr>
          <a:xfrm>
            <a:off x="630936" y="457200"/>
            <a:ext cx="4343400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b="1" i="0" u="none" strike="noStrike">
                <a:effectLst/>
                <a:latin typeface="+mj-lt"/>
                <a:ea typeface="+mj-ea"/>
                <a:cs typeface="+mj-cs"/>
              </a:rPr>
              <a:t>Neoplasia – When Growth Becomes Uncontrolled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5514E-0EE9-FD18-0292-ECB8C555B61D}"/>
              </a:ext>
            </a:extLst>
          </p:cNvPr>
          <p:cNvSpPr txBox="1"/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dirty="0"/>
              <a:t>Neoplasia</a:t>
            </a:r>
            <a:r>
              <a:rPr lang="en-US" sz="2200" dirty="0"/>
              <a:t> (from Greek </a:t>
            </a:r>
            <a:r>
              <a:rPr lang="en-US" sz="2200" i="1" dirty="0"/>
              <a:t>“neo” = new, “</a:t>
            </a:r>
            <a:r>
              <a:rPr lang="en-US" sz="2200" i="1" dirty="0" err="1"/>
              <a:t>plasis</a:t>
            </a:r>
            <a:r>
              <a:rPr lang="en-US" sz="2200" i="1" dirty="0"/>
              <a:t>” = growth</a:t>
            </a:r>
            <a:r>
              <a:rPr lang="en-US" sz="2200" dirty="0"/>
              <a:t>) is the </a:t>
            </a:r>
            <a:r>
              <a:rPr lang="en-US" sz="2200" b="1" dirty="0"/>
              <a:t>autonomous, unregulated proliferation of cells</a:t>
            </a:r>
            <a:r>
              <a:rPr lang="en-US" sz="2200" dirty="0"/>
              <a:t> that </a:t>
            </a:r>
            <a:r>
              <a:rPr lang="en-US" sz="2200" b="1" dirty="0"/>
              <a:t>persists even after the original stimulus is removed.</a:t>
            </a:r>
            <a:endParaRPr lang="en-US" sz="2200" dirty="0"/>
          </a:p>
        </p:txBody>
      </p:sp>
      <p:pic>
        <p:nvPicPr>
          <p:cNvPr id="7" name="Picture 6" descr="A diagram of cell division&#10;&#10;AI-generated content may be incorrect.">
            <a:extLst>
              <a:ext uri="{FF2B5EF4-FFF2-40B4-BE49-F238E27FC236}">
                <a16:creationId xmlns:a16="http://schemas.microsoft.com/office/drawing/2014/main" id="{915B5EC3-BF76-AE95-B3A8-DA5E4A50A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03" y="2479412"/>
            <a:ext cx="4314008" cy="4098308"/>
          </a:xfrm>
          <a:prstGeom prst="rect">
            <a:avLst/>
          </a:prstGeom>
        </p:spPr>
      </p:pic>
      <p:pic>
        <p:nvPicPr>
          <p:cNvPr id="6" name="Picture 5" descr="A diagram of different colored flowers&#10;&#10;AI-generated content may be incorrect.">
            <a:extLst>
              <a:ext uri="{FF2B5EF4-FFF2-40B4-BE49-F238E27FC236}">
                <a16:creationId xmlns:a16="http://schemas.microsoft.com/office/drawing/2014/main" id="{875118AA-77F8-963F-44AC-B8FC6F96B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22263"/>
            <a:ext cx="5501081" cy="409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3752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6E2E9-2D64-E76C-8E1A-DD2815E88C26}"/>
              </a:ext>
            </a:extLst>
          </p:cNvPr>
          <p:cNvSpPr txBox="1"/>
          <p:nvPr/>
        </p:nvSpPr>
        <p:spPr>
          <a:xfrm>
            <a:off x="457641" y="4590008"/>
            <a:ext cx="4685857" cy="14659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dirty="0">
                <a:effectLst/>
                <a:latin typeface="+mj-lt"/>
                <a:ea typeface="+mj-ea"/>
                <a:cs typeface="+mj-cs"/>
              </a:rPr>
              <a:t>Neoplasia Key Features:</a:t>
            </a:r>
            <a:endParaRPr lang="en-US" sz="4000" b="0" i="0" u="none" strike="noStrike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E1A86-739B-3B8C-2732-8CC28E99A4AF}"/>
              </a:ext>
            </a:extLst>
          </p:cNvPr>
          <p:cNvSpPr txBox="1"/>
          <p:nvPr/>
        </p:nvSpPr>
        <p:spPr>
          <a:xfrm>
            <a:off x="4038600" y="4656694"/>
            <a:ext cx="8153398" cy="1465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Growth is </a:t>
            </a:r>
            <a:r>
              <a:rPr lang="en-US" b="1" i="0" u="none" strike="noStrike" dirty="0">
                <a:effectLst/>
              </a:rPr>
              <a:t>independent of normal controls</a:t>
            </a:r>
            <a:r>
              <a:rPr lang="en-US" b="0" i="0" u="none" strike="noStrike" dirty="0">
                <a:effectLst/>
              </a:rPr>
              <a:t> (e.g., growth factors, checkpoints).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Cells </a:t>
            </a:r>
            <a:r>
              <a:rPr lang="en-US" b="1" i="0" u="none" strike="noStrike" dirty="0">
                <a:effectLst/>
              </a:rPr>
              <a:t>divide continuously</a:t>
            </a:r>
            <a:r>
              <a:rPr lang="en-US" b="0" i="0" u="none" strike="noStrike" dirty="0">
                <a:effectLst/>
              </a:rPr>
              <a:t>, ignoring regulatory signals.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Forms a </a:t>
            </a:r>
            <a:r>
              <a:rPr lang="en-US" b="1" i="0" u="none" strike="noStrike" dirty="0">
                <a:effectLst/>
              </a:rPr>
              <a:t>mass of abnormal tissue</a:t>
            </a:r>
            <a:r>
              <a:rPr lang="en-US" b="0" i="0" u="none" strike="noStrike" dirty="0">
                <a:effectLst/>
              </a:rPr>
              <a:t> — called a </a:t>
            </a:r>
            <a:r>
              <a:rPr lang="en-US" b="1" i="0" u="none" strike="noStrike" dirty="0">
                <a:effectLst/>
              </a:rPr>
              <a:t>neoplasm</a:t>
            </a:r>
            <a:r>
              <a:rPr lang="en-US" b="0" i="0" u="none" strike="noStrike" dirty="0">
                <a:effectLst/>
              </a:rPr>
              <a:t> or </a:t>
            </a:r>
            <a:r>
              <a:rPr lang="en-US" b="1" i="0" u="none" strike="noStrike" dirty="0" err="1">
                <a:effectLst/>
              </a:rPr>
              <a:t>tumour</a:t>
            </a:r>
            <a:r>
              <a:rPr lang="en-US" b="0" i="0" u="none" strike="noStrike" dirty="0">
                <a:effectLst/>
              </a:rPr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It can be </a:t>
            </a:r>
            <a:r>
              <a:rPr lang="en-US" b="1" i="0" u="none" strike="noStrike" dirty="0">
                <a:effectLst/>
              </a:rPr>
              <a:t>benign</a:t>
            </a:r>
            <a:r>
              <a:rPr lang="en-US" b="0" i="0" u="none" strike="noStrike" dirty="0">
                <a:effectLst/>
              </a:rPr>
              <a:t> (</a:t>
            </a:r>
            <a:r>
              <a:rPr lang="en-US" b="0" i="0" u="none" strike="noStrike" dirty="0" err="1">
                <a:effectLst/>
              </a:rPr>
              <a:t>localised</a:t>
            </a:r>
            <a:r>
              <a:rPr lang="en-US" b="0" i="0" u="none" strike="noStrike" dirty="0">
                <a:effectLst/>
              </a:rPr>
              <a:t>) or </a:t>
            </a:r>
            <a:r>
              <a:rPr lang="en-US" b="1" i="0" u="none" strike="noStrike" dirty="0">
                <a:effectLst/>
              </a:rPr>
              <a:t>malignant</a:t>
            </a:r>
            <a:r>
              <a:rPr lang="en-US" b="0" i="0" u="none" strike="noStrike" dirty="0">
                <a:effectLst/>
              </a:rPr>
              <a:t> (invasive and metastatic).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effectLst/>
              </a:rPr>
              <a:t>Often arises from </a:t>
            </a:r>
            <a:r>
              <a:rPr lang="en-US" b="1" i="0" u="none" strike="noStrike" dirty="0">
                <a:effectLst/>
              </a:rPr>
              <a:t>dysplasia</a:t>
            </a:r>
            <a:r>
              <a:rPr lang="en-US" b="0" i="0" u="none" strike="noStrike" dirty="0">
                <a:effectLst/>
              </a:rPr>
              <a:t> — the “point of no return” in abnormal growth.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F800A7-817E-9160-21DD-267257C2E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45" y="207085"/>
            <a:ext cx="11486709" cy="39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91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77EE9-023E-3F8E-A94D-01038B5B1A93}"/>
              </a:ext>
            </a:extLst>
          </p:cNvPr>
          <p:cNvSpPr txBox="1"/>
          <p:nvPr/>
        </p:nvSpPr>
        <p:spPr>
          <a:xfrm>
            <a:off x="219047" y="301017"/>
            <a:ext cx="2676553" cy="2099283"/>
          </a:xfrm>
          <a:prstGeom prst="ellipse">
            <a:avLst/>
          </a:prstGeom>
          <a:solidFill>
            <a:srgbClr val="0070C0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i="0" u="none" strike="noStrike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Tumour</a:t>
            </a:r>
            <a:r>
              <a:rPr lang="en-US" sz="2000" b="1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 Characteristics – When Cells Go Rogue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AF27ED-CC6D-CEF0-A15A-C9327C1BD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366515"/>
              </p:ext>
            </p:extLst>
          </p:nvPr>
        </p:nvGraphicFramePr>
        <p:xfrm>
          <a:off x="3114647" y="952500"/>
          <a:ext cx="8858306" cy="5353050"/>
        </p:xfrm>
        <a:graphic>
          <a:graphicData uri="http://schemas.openxmlformats.org/drawingml/2006/table">
            <a:tbl>
              <a:tblPr/>
              <a:tblGrid>
                <a:gridCol w="2059977">
                  <a:extLst>
                    <a:ext uri="{9D8B030D-6E8A-4147-A177-3AD203B41FA5}">
                      <a16:colId xmlns:a16="http://schemas.microsoft.com/office/drawing/2014/main" val="2795742476"/>
                    </a:ext>
                  </a:extLst>
                </a:gridCol>
                <a:gridCol w="2182278">
                  <a:extLst>
                    <a:ext uri="{9D8B030D-6E8A-4147-A177-3AD203B41FA5}">
                      <a16:colId xmlns:a16="http://schemas.microsoft.com/office/drawing/2014/main" val="201806431"/>
                    </a:ext>
                  </a:extLst>
                </a:gridCol>
                <a:gridCol w="2712829">
                  <a:extLst>
                    <a:ext uri="{9D8B030D-6E8A-4147-A177-3AD203B41FA5}">
                      <a16:colId xmlns:a16="http://schemas.microsoft.com/office/drawing/2014/main" val="271213148"/>
                    </a:ext>
                  </a:extLst>
                </a:gridCol>
                <a:gridCol w="1903222">
                  <a:extLst>
                    <a:ext uri="{9D8B030D-6E8A-4147-A177-3AD203B41FA5}">
                      <a16:colId xmlns:a16="http://schemas.microsoft.com/office/drawing/2014/main" val="1048900239"/>
                    </a:ext>
                  </a:extLst>
                </a:gridCol>
              </a:tblGrid>
              <a:tr h="665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Feature</a:t>
                      </a:r>
                      <a:endParaRPr lang="en-GB" sz="160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</a:t>
                      </a:r>
                      <a:endParaRPr lang="en-GB" sz="160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Molecular / Cellular Mechanism</a:t>
                      </a:r>
                      <a:endParaRPr lang="en-GB" sz="160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Analogy / Key Idea</a:t>
                      </a:r>
                      <a:endParaRPr lang="en-GB" sz="160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586445"/>
                  </a:ext>
                </a:extLst>
              </a:tr>
              <a:tr h="17418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Autonomy – Self-Sufficient Growth</a:t>
                      </a:r>
                      <a:endParaRPr lang="en-GB" sz="1600" dirty="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Tumour cells no longer depend on external growth signals; they keep dividing even without stimulation.</a:t>
                      </a:r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- Activation of </a:t>
                      </a:r>
                      <a:r>
                        <a:rPr lang="en-GB" sz="1600" b="1"/>
                        <a:t>oncogenes</a:t>
                      </a:r>
                      <a:r>
                        <a:rPr lang="en-GB" sz="1600"/>
                        <a:t> (growth drivers)- Loss of </a:t>
                      </a:r>
                      <a:r>
                        <a:rPr lang="en-GB" sz="1600" b="1"/>
                        <a:t>tumour suppressor genes</a:t>
                      </a:r>
                      <a:r>
                        <a:rPr lang="en-GB" sz="1600"/>
                        <a:t> (</a:t>
                      </a:r>
                      <a:r>
                        <a:rPr lang="en-GB" sz="1600" i="1"/>
                        <a:t>p53</a:t>
                      </a:r>
                      <a:r>
                        <a:rPr lang="en-GB" sz="1600"/>
                        <a:t>, </a:t>
                      </a:r>
                      <a:r>
                        <a:rPr lang="en-GB" sz="1600" i="1"/>
                        <a:t>Rb</a:t>
                      </a:r>
                      <a:r>
                        <a:rPr lang="en-GB" sz="1600"/>
                        <a:t>) → no “brakes” on cell cycle</a:t>
                      </a:r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i="1" dirty="0"/>
                        <a:t>“They make their own rules.”</a:t>
                      </a:r>
                      <a:endParaRPr lang="en-GB" sz="1600" dirty="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678522"/>
                  </a:ext>
                </a:extLst>
              </a:tr>
              <a:tr h="1472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Invasiveness – No Respect for Boundaries</a:t>
                      </a:r>
                      <a:endParaRPr lang="en-GB" sz="1600" dirty="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Tumour cells lose </a:t>
                      </a:r>
                      <a:r>
                        <a:rPr lang="en-GB" sz="1600" b="1"/>
                        <a:t>contact inhibition</a:t>
                      </a:r>
                      <a:r>
                        <a:rPr lang="en-GB" sz="1600"/>
                        <a:t> and spread into nearby tissues.</a:t>
                      </a:r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- Loss of cell adhesion molecules- Secretion of </a:t>
                      </a:r>
                      <a:r>
                        <a:rPr lang="en-GB" sz="1600" b="1"/>
                        <a:t>proteases</a:t>
                      </a:r>
                      <a:r>
                        <a:rPr lang="en-GB" sz="1600"/>
                        <a:t> that degrade the extracellular matrix</a:t>
                      </a:r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i="1" dirty="0"/>
                        <a:t>“They push, invade, and spread.”</a:t>
                      </a:r>
                      <a:endParaRPr lang="en-GB" sz="1600" dirty="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802594"/>
                  </a:ext>
                </a:extLst>
              </a:tr>
              <a:tr h="14727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 Loss of Control – Abnormal Differentiation &amp; Immortality</a:t>
                      </a:r>
                      <a:endParaRPr lang="en-GB" sz="1600" dirty="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Cells lose normal structure and function (</a:t>
                      </a:r>
                      <a:r>
                        <a:rPr lang="en-GB" sz="1600" b="1"/>
                        <a:t>anaplasia</a:t>
                      </a:r>
                      <a:r>
                        <a:rPr lang="en-GB" sz="1600"/>
                        <a:t>) and evade death.</a:t>
                      </a:r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- Activation of </a:t>
                      </a:r>
                      <a:r>
                        <a:rPr lang="en-GB" sz="1600" b="1"/>
                        <a:t>telomerase</a:t>
                      </a:r>
                      <a:r>
                        <a:rPr lang="en-GB" sz="1600"/>
                        <a:t> (infinite division)- </a:t>
                      </a:r>
                      <a:r>
                        <a:rPr lang="en-GB" sz="1600" b="1"/>
                        <a:t>Apoptosis pathways switched off</a:t>
                      </a:r>
                      <a:endParaRPr lang="en-GB" sz="160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 </a:t>
                      </a:r>
                      <a:r>
                        <a:rPr lang="en-GB" sz="1600" i="1" dirty="0"/>
                        <a:t>“They forget who they are — and never stop.”</a:t>
                      </a:r>
                      <a:endParaRPr lang="en-GB" sz="1600" dirty="0"/>
                    </a:p>
                  </a:txBody>
                  <a:tcPr marL="69661" marR="69661" marT="34831" marB="348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521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8451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19F7815-3AA2-7679-26F4-A63338C8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668" y="4843169"/>
            <a:ext cx="12196668" cy="2016059"/>
            <a:chOff x="-4668" y="4843169"/>
            <a:chExt cx="12196668" cy="201605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56154CE-3587-5C44-2A6B-1FE49B30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4668" y="4843169"/>
              <a:ext cx="12196668" cy="201594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E7A46DB-98C4-E666-AEC5-DF8B5DD9E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4400"/>
              <a:ext cx="10565988" cy="2014828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F8962A-028A-2EBA-FBCF-F9B033440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3170"/>
              <a:ext cx="10309010" cy="2006799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139663-D7C2-5898-E610-2183584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05876" y="4851203"/>
              <a:ext cx="8086124" cy="200679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728E81-5F4D-FCE7-902F-74BCD3ABFE68}"/>
              </a:ext>
            </a:extLst>
          </p:cNvPr>
          <p:cNvSpPr txBox="1"/>
          <p:nvPr/>
        </p:nvSpPr>
        <p:spPr>
          <a:xfrm>
            <a:off x="1483141" y="5503470"/>
            <a:ext cx="8949690" cy="702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0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Benign vs Malignant </a:t>
            </a:r>
            <a:r>
              <a:rPr lang="en-US" sz="3600" b="0" i="0" u="none" strike="noStrike" kern="1200" dirty="0" err="1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Tumours</a:t>
            </a:r>
            <a:endParaRPr lang="en-US" sz="3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B0CD65-F8B2-7798-B1B8-D73358104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235241"/>
              </p:ext>
            </p:extLst>
          </p:nvPr>
        </p:nvGraphicFramePr>
        <p:xfrm>
          <a:off x="476250" y="168479"/>
          <a:ext cx="11430000" cy="4521215"/>
        </p:xfrm>
        <a:graphic>
          <a:graphicData uri="http://schemas.openxmlformats.org/drawingml/2006/table">
            <a:tbl>
              <a:tblPr/>
              <a:tblGrid>
                <a:gridCol w="2607208">
                  <a:extLst>
                    <a:ext uri="{9D8B030D-6E8A-4147-A177-3AD203B41FA5}">
                      <a16:colId xmlns:a16="http://schemas.microsoft.com/office/drawing/2014/main" val="961734600"/>
                    </a:ext>
                  </a:extLst>
                </a:gridCol>
                <a:gridCol w="3779399">
                  <a:extLst>
                    <a:ext uri="{9D8B030D-6E8A-4147-A177-3AD203B41FA5}">
                      <a16:colId xmlns:a16="http://schemas.microsoft.com/office/drawing/2014/main" val="3929585998"/>
                    </a:ext>
                  </a:extLst>
                </a:gridCol>
                <a:gridCol w="5043393">
                  <a:extLst>
                    <a:ext uri="{9D8B030D-6E8A-4147-A177-3AD203B41FA5}">
                      <a16:colId xmlns:a16="http://schemas.microsoft.com/office/drawing/2014/main" val="895915844"/>
                    </a:ext>
                  </a:extLst>
                </a:gridCol>
              </a:tblGrid>
              <a:tr h="35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Feature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 </a:t>
                      </a:r>
                      <a:r>
                        <a:rPr lang="en-GB" sz="1800" b="1" dirty="0"/>
                        <a:t>Benign Tumour</a:t>
                      </a:r>
                      <a:endParaRPr lang="en-GB" sz="1800" dirty="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 </a:t>
                      </a:r>
                      <a:r>
                        <a:rPr lang="en-GB" sz="1800" b="1" dirty="0"/>
                        <a:t>Malignant Tumour (Cancer)</a:t>
                      </a:r>
                      <a:endParaRPr lang="en-GB" sz="1800" dirty="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197179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Growth rate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Slow, limited, may stop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Rapid, uncontrolled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89805"/>
                  </a:ext>
                </a:extLst>
              </a:tr>
              <a:tr h="58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Growth pattern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Localised, often encapsulated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Invasive, infiltrates surrounding tissue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01779"/>
                  </a:ext>
                </a:extLst>
              </a:tr>
              <a:tr h="58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Cell differentiation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Well-differentiated; resembles normal tissue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Poorly differentiated (</a:t>
                      </a:r>
                      <a:r>
                        <a:rPr lang="en-GB" sz="1800" b="1"/>
                        <a:t>anaplasia</a:t>
                      </a:r>
                      <a:r>
                        <a:rPr lang="en-GB" sz="1800"/>
                        <a:t>)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144018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Mitotic activity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Low, normal mitoses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High, abnormal mitoses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675024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Invasion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No invasion; stays where it started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Invades nearby tissues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20866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Metastasis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 Absent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 Present (via blood or lymph)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852052"/>
                  </a:ext>
                </a:extLst>
              </a:tr>
              <a:tr h="582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Effect on host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Minimal (unless compressing organs)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Severe; tissue destruction, cachexia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101031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Recurrence after removal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Rare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Common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220438"/>
                  </a:ext>
                </a:extLst>
              </a:tr>
              <a:tr h="351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Example</a:t>
                      </a:r>
                      <a:endParaRPr lang="en-GB" sz="1800"/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Uterine fibroid, skin papilloma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Carcinoma, sarcoma, melanoma</a:t>
                      </a:r>
                    </a:p>
                  </a:txBody>
                  <a:tcPr marL="60543" marR="60543" marT="30271" marB="302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277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9712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C09CD8-A9A5-BA31-A134-8F80C1325E85}"/>
              </a:ext>
            </a:extLst>
          </p:cNvPr>
          <p:cNvSpPr txBox="1"/>
          <p:nvPr/>
        </p:nvSpPr>
        <p:spPr>
          <a:xfrm>
            <a:off x="352425" y="1032986"/>
            <a:ext cx="10839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Cancer develops when the </a:t>
            </a:r>
            <a:r>
              <a:rPr lang="en-GB" b="1" dirty="0"/>
              <a:t>balance between cell growth and cell death is lost </a:t>
            </a:r>
            <a:r>
              <a:rPr lang="en-GB" dirty="0"/>
              <a:t>due to </a:t>
            </a:r>
            <a:r>
              <a:rPr lang="en-GB" b="1" dirty="0"/>
              <a:t>genetic mutations</a:t>
            </a:r>
            <a:r>
              <a:rPr lang="en-GB" dirty="0"/>
              <a:t> in key regulatory genes.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7B33ED-E0A3-C9FC-3A56-0B9DC6768AD8}"/>
              </a:ext>
            </a:extLst>
          </p:cNvPr>
          <p:cNvSpPr txBox="1"/>
          <p:nvPr/>
        </p:nvSpPr>
        <p:spPr>
          <a:xfrm>
            <a:off x="304800" y="327273"/>
            <a:ext cx="8305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Molecular Basis of Cancer – The Balance Lost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E49C93-3FB2-3D0E-1957-AA1A1A058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291438"/>
              </p:ext>
            </p:extLst>
          </p:nvPr>
        </p:nvGraphicFramePr>
        <p:xfrm>
          <a:off x="838200" y="1936581"/>
          <a:ext cx="10515600" cy="3657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7475197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0861571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8891817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3185032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664553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Gene Type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Normal Function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When Mutated…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Example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Analogy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101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Oncogenes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Promote normal cell growth and division (as </a:t>
                      </a:r>
                      <a:r>
                        <a:rPr lang="en-GB" b="1"/>
                        <a:t>proto-oncogenes</a:t>
                      </a:r>
                      <a:r>
                        <a:rPr lang="en-GB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Become </a:t>
                      </a:r>
                      <a:r>
                        <a:rPr lang="en-GB" b="1"/>
                        <a:t>overactive</a:t>
                      </a:r>
                      <a:r>
                        <a:rPr lang="en-GB"/>
                        <a:t> → cells divide uncontrollably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RAS</a:t>
                      </a:r>
                      <a:r>
                        <a:rPr lang="en-GB"/>
                        <a:t>, </a:t>
                      </a:r>
                      <a:r>
                        <a:rPr lang="en-GB" b="1"/>
                        <a:t>MYC</a:t>
                      </a:r>
                      <a:r>
                        <a:rPr lang="en-GB"/>
                        <a:t>, </a:t>
                      </a:r>
                      <a:r>
                        <a:rPr lang="en-GB" b="1"/>
                        <a:t>HER2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i="1" dirty="0"/>
                        <a:t>Gas pedal stuck on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091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Tumour Suppressor Genes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Stop cell cycle or trigger apoptosis when DNA is damaged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Become </a:t>
                      </a:r>
                      <a:r>
                        <a:rPr lang="en-GB" b="1"/>
                        <a:t>inactivated or deleted</a:t>
                      </a:r>
                      <a:r>
                        <a:rPr lang="en-GB"/>
                        <a:t>→ no “brakes”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p53</a:t>
                      </a:r>
                      <a:r>
                        <a:rPr lang="en-GB"/>
                        <a:t>, </a:t>
                      </a:r>
                      <a:r>
                        <a:rPr lang="en-GB" b="1"/>
                        <a:t>Rb</a:t>
                      </a:r>
                      <a:r>
                        <a:rPr lang="en-GB"/>
                        <a:t>, </a:t>
                      </a:r>
                      <a:r>
                        <a:rPr lang="en-GB" b="1"/>
                        <a:t>APC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i="1" dirty="0"/>
                        <a:t>Brakes fail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338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DNA Repair Genes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Fix mutations during replication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Mutation = </a:t>
                      </a:r>
                      <a:r>
                        <a:rPr lang="en-GB" b="1"/>
                        <a:t>genetic instability</a:t>
                      </a:r>
                      <a:r>
                        <a:rPr lang="en-GB"/>
                        <a:t>→ more errors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BRCA1/2</a:t>
                      </a:r>
                      <a:r>
                        <a:rPr lang="en-GB"/>
                        <a:t>, </a:t>
                      </a:r>
                      <a:r>
                        <a:rPr lang="en-GB" b="1"/>
                        <a:t>MLH1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i="1" dirty="0"/>
                        <a:t>Mechanic missing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5480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4CFA3BD-1118-BBDD-7696-06A9B7B7AAD8}"/>
              </a:ext>
            </a:extLst>
          </p:cNvPr>
          <p:cNvSpPr txBox="1"/>
          <p:nvPr/>
        </p:nvSpPr>
        <p:spPr>
          <a:xfrm>
            <a:off x="6362700" y="5851446"/>
            <a:ext cx="5524500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p53: “Guardian of the Genome”</a:t>
            </a:r>
            <a:endParaRPr lang="en-GB" sz="18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Detects </a:t>
            </a:r>
            <a:r>
              <a:rPr lang="en-GB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DNA damage</a:t>
            </a:r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halts cell division for repair.</a:t>
            </a:r>
          </a:p>
          <a:p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 mutations </a:t>
            </a:r>
            <a:r>
              <a:rPr lang="en-GB" dirty="0"/>
              <a:t>are found </a:t>
            </a:r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 </a:t>
            </a:r>
            <a:r>
              <a:rPr lang="en-GB" sz="18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&gt;50% of human cancers</a:t>
            </a:r>
            <a:r>
              <a:rPr lang="en-GB" sz="18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8304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C5729-570D-1524-D636-588D04F3D80D}"/>
              </a:ext>
            </a:extLst>
          </p:cNvPr>
          <p:cNvSpPr txBox="1"/>
          <p:nvPr/>
        </p:nvSpPr>
        <p:spPr>
          <a:xfrm>
            <a:off x="152401" y="-14458"/>
            <a:ext cx="10760054" cy="1228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Hallmarks of Cancer – The Six Core </a:t>
            </a:r>
            <a:r>
              <a:rPr lang="en-US" sz="4000" b="1" i="0" u="none" strike="noStrike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Behaviours</a:t>
            </a:r>
            <a:endParaRPr lang="en-US" sz="4000" b="1" i="0" u="none" strike="noStrike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82F97-6733-35C2-0034-7C29490E203B}"/>
              </a:ext>
            </a:extLst>
          </p:cNvPr>
          <p:cNvSpPr txBox="1"/>
          <p:nvPr/>
        </p:nvSpPr>
        <p:spPr>
          <a:xfrm>
            <a:off x="761802" y="599691"/>
            <a:ext cx="11083904" cy="17334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Cancer cells share a set of </a:t>
            </a:r>
            <a:r>
              <a:rPr lang="en-US" sz="2000" b="1" dirty="0"/>
              <a:t>biological capabilities</a:t>
            </a:r>
            <a:r>
              <a:rPr lang="en-US" sz="2000" dirty="0"/>
              <a:t> that allow them to grow, survive, and spread — known as the </a:t>
            </a:r>
            <a:r>
              <a:rPr lang="en-US" sz="2000" b="1" dirty="0"/>
              <a:t>Hallmarks of Cancer</a:t>
            </a:r>
            <a:r>
              <a:rPr lang="en-US" sz="2000" dirty="0"/>
              <a:t> (Hanahan &amp; Weinberg, 2000; updated 2011).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294F668-8AEE-ED33-AD4F-5BE07425B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100958"/>
              </p:ext>
            </p:extLst>
          </p:nvPr>
        </p:nvGraphicFramePr>
        <p:xfrm>
          <a:off x="457100" y="2083758"/>
          <a:ext cx="11277797" cy="4420696"/>
        </p:xfrm>
        <a:graphic>
          <a:graphicData uri="http://schemas.openxmlformats.org/drawingml/2006/table">
            <a:tbl>
              <a:tblPr/>
              <a:tblGrid>
                <a:gridCol w="2454636">
                  <a:extLst>
                    <a:ext uri="{9D8B030D-6E8A-4147-A177-3AD203B41FA5}">
                      <a16:colId xmlns:a16="http://schemas.microsoft.com/office/drawing/2014/main" val="3943671395"/>
                    </a:ext>
                  </a:extLst>
                </a:gridCol>
                <a:gridCol w="3207304">
                  <a:extLst>
                    <a:ext uri="{9D8B030D-6E8A-4147-A177-3AD203B41FA5}">
                      <a16:colId xmlns:a16="http://schemas.microsoft.com/office/drawing/2014/main" val="1856977810"/>
                    </a:ext>
                  </a:extLst>
                </a:gridCol>
                <a:gridCol w="3253388">
                  <a:extLst>
                    <a:ext uri="{9D8B030D-6E8A-4147-A177-3AD203B41FA5}">
                      <a16:colId xmlns:a16="http://schemas.microsoft.com/office/drawing/2014/main" val="3837714281"/>
                    </a:ext>
                  </a:extLst>
                </a:gridCol>
                <a:gridCol w="2362469">
                  <a:extLst>
                    <a:ext uri="{9D8B030D-6E8A-4147-A177-3AD203B41FA5}">
                      <a16:colId xmlns:a16="http://schemas.microsoft.com/office/drawing/2014/main" val="746277849"/>
                    </a:ext>
                  </a:extLst>
                </a:gridCol>
              </a:tblGrid>
              <a:tr h="53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Hallmark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 / Mechanism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Icon / Visual Cue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957857"/>
                  </a:ext>
                </a:extLst>
              </a:tr>
              <a:tr h="75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Sustaining proliferative signalling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Continuous self-signalling for growth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Overactive </a:t>
                      </a:r>
                      <a:r>
                        <a:rPr lang="en-GB" sz="1600" b="1"/>
                        <a:t>RAS</a:t>
                      </a:r>
                      <a:r>
                        <a:rPr lang="en-GB" sz="1600"/>
                        <a:t>, </a:t>
                      </a:r>
                      <a:r>
                        <a:rPr lang="en-GB" sz="1600" b="1"/>
                        <a:t>HER2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Gas pedal stuck on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52499"/>
                  </a:ext>
                </a:extLst>
              </a:tr>
              <a:tr h="53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Evading growth suppressors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Ignore stop signals (e.g. p53, Rb loss)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Mutated </a:t>
                      </a:r>
                      <a:r>
                        <a:rPr lang="en-GB" sz="1600" b="1"/>
                        <a:t>p53</a:t>
                      </a:r>
                      <a:r>
                        <a:rPr lang="en-GB" sz="1600"/>
                        <a:t>, </a:t>
                      </a:r>
                      <a:r>
                        <a:rPr lang="en-GB" sz="1600" b="1"/>
                        <a:t>RB1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Broken brakes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5934872"/>
                  </a:ext>
                </a:extLst>
              </a:tr>
              <a:tr h="53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Resisting cell death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Avoid apoptosis despite DNA damage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Overexpression of </a:t>
                      </a:r>
                      <a:r>
                        <a:rPr lang="en-GB" sz="1600" b="1"/>
                        <a:t>Bcl-2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 Refuse to die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779813"/>
                  </a:ext>
                </a:extLst>
              </a:tr>
              <a:tr h="75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Enabling replicative immortality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Activate </a:t>
                      </a:r>
                      <a:r>
                        <a:rPr lang="en-GB" sz="1600" b="1"/>
                        <a:t>telomerase</a:t>
                      </a:r>
                      <a:r>
                        <a:rPr lang="en-GB" sz="1600"/>
                        <a:t> to keep dividing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Infinite cell divisions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 Endless life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843064"/>
                  </a:ext>
                </a:extLst>
              </a:tr>
              <a:tr h="537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Inducing angiogenesis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Stimulate new blood vessel growth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Release </a:t>
                      </a:r>
                      <a:r>
                        <a:rPr lang="en-GB" sz="1600" b="1"/>
                        <a:t>VEGF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New blood supply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8195890"/>
                  </a:ext>
                </a:extLst>
              </a:tr>
              <a:tr h="755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Activating invasion &amp; metastasis</a:t>
                      </a:r>
                      <a:endParaRPr lang="en-GB" sz="1600"/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Invade tissues, spread via blood/lymph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Loss of adhesion (E-cadherin)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Spreading footprint</a:t>
                      </a:r>
                    </a:p>
                  </a:txBody>
                  <a:tcPr marL="50781" marR="50781" marT="25390" marB="253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900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4991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A03F9E-B589-AAE1-5933-209E4AFAB94B}"/>
              </a:ext>
            </a:extLst>
          </p:cNvPr>
          <p:cNvSpPr txBox="1"/>
          <p:nvPr/>
        </p:nvSpPr>
        <p:spPr>
          <a:xfrm>
            <a:off x="7534656" y="1859339"/>
            <a:ext cx="448589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2011, Hanahan &amp; Weinberg added four more:</a:t>
            </a:r>
          </a:p>
          <a:p>
            <a:endParaRPr lang="en-GB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GB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Deregulating cellular energetics</a:t>
            </a:r>
            <a:r>
              <a:rPr lang="en-GB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(altered metabolism)</a:t>
            </a:r>
          </a:p>
          <a:p>
            <a:pPr lvl="1"/>
            <a:endParaRPr lang="en-GB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GB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Avoiding immune destruction</a:t>
            </a:r>
          </a:p>
          <a:p>
            <a:pPr lvl="1"/>
            <a:endParaRPr lang="en-GB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GB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Genome instability </a:t>
            </a:r>
            <a:r>
              <a:rPr lang="en-GB" b="1" dirty="0"/>
              <a:t>&amp; </a:t>
            </a:r>
            <a:r>
              <a:rPr lang="en-GB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mutation</a:t>
            </a:r>
          </a:p>
          <a:p>
            <a:pPr lvl="1"/>
            <a:endParaRPr lang="en-GB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GB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Tumour-promoting inflammation</a:t>
            </a:r>
            <a:endParaRPr lang="en-GB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79F310-A704-7285-4C0B-B9AA86C25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0"/>
            <a:ext cx="6902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543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6A1B26-187B-1E7B-44E3-1BABEFC1B1BC}"/>
              </a:ext>
            </a:extLst>
          </p:cNvPr>
          <p:cNvSpPr txBox="1"/>
          <p:nvPr/>
        </p:nvSpPr>
        <p:spPr>
          <a:xfrm>
            <a:off x="239092" y="249080"/>
            <a:ext cx="9429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Metastasis – The Movement of Cancer Cells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C428D-6E86-A009-7C76-2D24E58AB1ED}"/>
              </a:ext>
            </a:extLst>
          </p:cNvPr>
          <p:cNvSpPr txBox="1"/>
          <p:nvPr/>
        </p:nvSpPr>
        <p:spPr>
          <a:xfrm>
            <a:off x="954867" y="848409"/>
            <a:ext cx="64579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Metastasis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is the process by which cancer cells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spread from their original site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to form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secondary tumours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in distant organs.</a:t>
            </a: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D8D2BE-E5F4-148D-7478-58E7FA6F0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209216"/>
              </p:ext>
            </p:extLst>
          </p:nvPr>
        </p:nvGraphicFramePr>
        <p:xfrm>
          <a:off x="239092" y="2419259"/>
          <a:ext cx="11925300" cy="4323310"/>
        </p:xfrm>
        <a:graphic>
          <a:graphicData uri="http://schemas.openxmlformats.org/drawingml/2006/table">
            <a:tbl>
              <a:tblPr/>
              <a:tblGrid>
                <a:gridCol w="1880901">
                  <a:extLst>
                    <a:ext uri="{9D8B030D-6E8A-4147-A177-3AD203B41FA5}">
                      <a16:colId xmlns:a16="http://schemas.microsoft.com/office/drawing/2014/main" val="4274886332"/>
                    </a:ext>
                  </a:extLst>
                </a:gridCol>
                <a:gridCol w="3664847">
                  <a:extLst>
                    <a:ext uri="{9D8B030D-6E8A-4147-A177-3AD203B41FA5}">
                      <a16:colId xmlns:a16="http://schemas.microsoft.com/office/drawing/2014/main" val="644200165"/>
                    </a:ext>
                  </a:extLst>
                </a:gridCol>
                <a:gridCol w="4130225">
                  <a:extLst>
                    <a:ext uri="{9D8B030D-6E8A-4147-A177-3AD203B41FA5}">
                      <a16:colId xmlns:a16="http://schemas.microsoft.com/office/drawing/2014/main" val="3358469842"/>
                    </a:ext>
                  </a:extLst>
                </a:gridCol>
                <a:gridCol w="2249327">
                  <a:extLst>
                    <a:ext uri="{9D8B030D-6E8A-4147-A177-3AD203B41FA5}">
                      <a16:colId xmlns:a16="http://schemas.microsoft.com/office/drawing/2014/main" val="3903753364"/>
                    </a:ext>
                  </a:extLst>
                </a:gridCol>
              </a:tblGrid>
              <a:tr h="323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Step</a:t>
                      </a:r>
                      <a:endParaRPr lang="en-GB" sz="180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Process</a:t>
                      </a:r>
                      <a:endParaRPr lang="en-GB" sz="180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Description</a:t>
                      </a:r>
                      <a:endParaRPr lang="en-GB" sz="180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Visual Cue</a:t>
                      </a:r>
                      <a:endParaRPr lang="en-GB" sz="18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370988"/>
                  </a:ext>
                </a:extLst>
              </a:tr>
              <a:tr h="5797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Detachment</a:t>
                      </a:r>
                      <a:endParaRPr lang="en-GB" sz="18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Loss of cell-to-cell adhesion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↓ </a:t>
                      </a:r>
                      <a:r>
                        <a:rPr lang="en-GB" sz="1800" b="1"/>
                        <a:t>E-cadherin</a:t>
                      </a:r>
                      <a:r>
                        <a:rPr lang="en-GB" sz="1800"/>
                        <a:t> allows cells to separate from the primary tumour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 Breaking ties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814926"/>
                  </a:ext>
                </a:extLst>
              </a:tr>
              <a:tr h="748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 Invasion</a:t>
                      </a:r>
                      <a:endParaRPr lang="en-GB" sz="18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Penetration of basement membrane and extracellular matrix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Tumour cells secrete </a:t>
                      </a:r>
                      <a:r>
                        <a:rPr lang="en-GB" sz="1800" b="1"/>
                        <a:t>proteases</a:t>
                      </a:r>
                      <a:r>
                        <a:rPr lang="en-GB" sz="1800"/>
                        <a:t>(collagenases, MMPs)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 Breaking barriers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633938"/>
                  </a:ext>
                </a:extLst>
              </a:tr>
              <a:tr h="5797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Intravasation</a:t>
                      </a:r>
                      <a:endParaRPr lang="en-GB" sz="18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Entry into blood or lymphatic vessels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Cancer cells migrate through vessel walls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 Entering the stream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790524"/>
                  </a:ext>
                </a:extLst>
              </a:tr>
              <a:tr h="748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Circulation</a:t>
                      </a:r>
                      <a:endParaRPr lang="en-GB" sz="18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Survival in bloodstream or lymph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Cells resist </a:t>
                      </a:r>
                      <a:r>
                        <a:rPr lang="en-GB" sz="1800" b="1"/>
                        <a:t>immune attack</a:t>
                      </a:r>
                      <a:r>
                        <a:rPr lang="en-GB" sz="1800"/>
                        <a:t> and </a:t>
                      </a:r>
                      <a:r>
                        <a:rPr lang="en-GB" sz="1800" b="1"/>
                        <a:t>shear stress</a:t>
                      </a:r>
                      <a:r>
                        <a:rPr lang="en-GB" sz="1800"/>
                        <a:t>; may form emboli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Travelling cells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786706"/>
                  </a:ext>
                </a:extLst>
              </a:tr>
              <a:tr h="5797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Extravasation</a:t>
                      </a:r>
                      <a:endParaRPr lang="en-GB" sz="18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Exit from circulation into new tissue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Attach to endothelium → squeeze out into target organ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Exiting vessels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479314"/>
                  </a:ext>
                </a:extLst>
              </a:tr>
              <a:tr h="5797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Colonisation</a:t>
                      </a:r>
                      <a:endParaRPr lang="en-GB" sz="1800" dirty="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Growth and angiogenesis at new site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Cells adapt to new environment → form </a:t>
                      </a:r>
                      <a:r>
                        <a:rPr lang="en-GB" sz="1800" b="1"/>
                        <a:t>secondary tumour</a:t>
                      </a:r>
                      <a:endParaRPr lang="en-GB" sz="1800"/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New growth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9282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94400F4-B073-8A62-94C7-71D24CBEAEDB}"/>
              </a:ext>
            </a:extLst>
          </p:cNvPr>
          <p:cNvSpPr txBox="1"/>
          <p:nvPr/>
        </p:nvSpPr>
        <p:spPr>
          <a:xfrm>
            <a:off x="105742" y="20499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0070C0"/>
                </a:solidFill>
                <a:effectLst/>
              </a:rPr>
              <a:t>Steps of Metastasis – Overview</a:t>
            </a:r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49D872-32E4-AC17-D966-D26F7500C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933" y="0"/>
            <a:ext cx="3729067" cy="23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75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48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cancer cells&#10;&#10;AI-generated content may be incorrect.">
            <a:extLst>
              <a:ext uri="{FF2B5EF4-FFF2-40B4-BE49-F238E27FC236}">
                <a16:creationId xmlns:a16="http://schemas.microsoft.com/office/drawing/2014/main" id="{DFBB2497-78AA-3B0B-768F-4EE09F545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535" y="643467"/>
            <a:ext cx="3314784" cy="557106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a cancer cell&#10;&#10;AI-generated content may be incorrect.">
            <a:extLst>
              <a:ext uri="{FF2B5EF4-FFF2-40B4-BE49-F238E27FC236}">
                <a16:creationId xmlns:a16="http://schemas.microsoft.com/office/drawing/2014/main" id="{ECECDEA8-C2CD-11FF-DB9C-642B978D9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80" y="1697698"/>
            <a:ext cx="5129784" cy="34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2807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B371F5-5DD1-C9EE-BC2F-4FFE37F20604}"/>
              </a:ext>
            </a:extLst>
          </p:cNvPr>
          <p:cNvSpPr txBox="1"/>
          <p:nvPr/>
        </p:nvSpPr>
        <p:spPr>
          <a:xfrm>
            <a:off x="261208" y="-37626"/>
            <a:ext cx="10477109" cy="10035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u="none" strike="noStrike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Routes of Metastatic Spread</a:t>
            </a: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B9B02-9032-218E-9874-33A865D75102}"/>
              </a:ext>
            </a:extLst>
          </p:cNvPr>
          <p:cNvSpPr txBox="1"/>
          <p:nvPr/>
        </p:nvSpPr>
        <p:spPr>
          <a:xfrm>
            <a:off x="3860390" y="841541"/>
            <a:ext cx="10763249" cy="6397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u="none" strike="noStrike" dirty="0">
                <a:solidFill>
                  <a:schemeClr val="bg1"/>
                </a:solidFill>
                <a:effectLst/>
              </a:rPr>
              <a:t>Cancer cells travel through different routes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</a:rPr>
              <a:t> to reach distant organs.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b="0" i="0" u="none" strike="noStrike" dirty="0">
                <a:solidFill>
                  <a:schemeClr val="bg1"/>
                </a:solidFill>
                <a:effectLst/>
              </a:rPr>
              <a:t>Each cancer type has a </a:t>
            </a:r>
            <a:r>
              <a:rPr lang="en-US" sz="2000" b="0" i="1" u="none" strike="noStrike" dirty="0">
                <a:solidFill>
                  <a:schemeClr val="bg1"/>
                </a:solidFill>
                <a:effectLst/>
              </a:rPr>
              <a:t>preferred pathway</a:t>
            </a:r>
            <a:r>
              <a:rPr lang="en-US" sz="2000" b="0" i="0" u="none" strike="noStrike" dirty="0">
                <a:solidFill>
                  <a:schemeClr val="bg1"/>
                </a:solidFill>
                <a:effectLst/>
              </a:rPr>
              <a:t> based on its tissue of origin.</a:t>
            </a:r>
            <a:endParaRPr 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B39C87C-E500-EA97-E827-831418769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065249"/>
              </p:ext>
            </p:extLst>
          </p:nvPr>
        </p:nvGraphicFramePr>
        <p:xfrm>
          <a:off x="458429" y="1602498"/>
          <a:ext cx="11275141" cy="5054495"/>
        </p:xfrm>
        <a:graphic>
          <a:graphicData uri="http://schemas.openxmlformats.org/drawingml/2006/table">
            <a:tbl>
              <a:tblPr/>
              <a:tblGrid>
                <a:gridCol w="2627671">
                  <a:extLst>
                    <a:ext uri="{9D8B030D-6E8A-4147-A177-3AD203B41FA5}">
                      <a16:colId xmlns:a16="http://schemas.microsoft.com/office/drawing/2014/main" val="335901924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549977931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1104932688"/>
                    </a:ext>
                  </a:extLst>
                </a:gridCol>
                <a:gridCol w="2265720">
                  <a:extLst>
                    <a:ext uri="{9D8B030D-6E8A-4147-A177-3AD203B41FA5}">
                      <a16:colId xmlns:a16="http://schemas.microsoft.com/office/drawing/2014/main" val="3690947418"/>
                    </a:ext>
                  </a:extLst>
                </a:gridCol>
              </a:tblGrid>
              <a:tr h="3829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Route of Spread</a:t>
                      </a:r>
                      <a:endParaRPr lang="en-GB" sz="1800"/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Mechanism / Pathway</a:t>
                      </a:r>
                      <a:endParaRPr lang="en-GB" sz="1800"/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Common Cancers / Examples</a:t>
                      </a:r>
                      <a:endParaRPr lang="en-GB" sz="1800"/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Visual Cue </a:t>
                      </a:r>
                      <a:endParaRPr lang="en-GB" sz="1800"/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7149143"/>
                  </a:ext>
                </a:extLst>
              </a:tr>
              <a:tr h="118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Lymphatic spread</a:t>
                      </a:r>
                      <a:endParaRPr lang="en-GB" sz="1800"/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Cells enter </a:t>
                      </a:r>
                      <a:r>
                        <a:rPr lang="en-GB" sz="1800" b="1"/>
                        <a:t>lymphatic vessels</a:t>
                      </a:r>
                      <a:r>
                        <a:rPr lang="en-GB" sz="1800"/>
                        <a:t>, move to </a:t>
                      </a:r>
                      <a:r>
                        <a:rPr lang="en-GB" sz="1800" b="1"/>
                        <a:t>lymph nodes</a:t>
                      </a:r>
                      <a:r>
                        <a:rPr lang="en-GB" sz="1800"/>
                        <a:t>, then bloodstream.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Most </a:t>
                      </a:r>
                      <a:r>
                        <a:rPr lang="en-GB" sz="1800" b="1"/>
                        <a:t>carcinomas</a:t>
                      </a:r>
                      <a:r>
                        <a:rPr lang="en-GB" sz="1800"/>
                        <a:t> (e.g. breast, lung).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Network of green lymph vessels → nodes.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7728892"/>
                  </a:ext>
                </a:extLst>
              </a:tr>
              <a:tr h="917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Haematogenous spread</a:t>
                      </a:r>
                      <a:endParaRPr lang="en-GB" sz="1800"/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Cells invade </a:t>
                      </a:r>
                      <a:r>
                        <a:rPr lang="en-GB" sz="1800" b="1"/>
                        <a:t>blood vessels</a:t>
                      </a:r>
                      <a:r>
                        <a:rPr lang="en-GB" sz="1800"/>
                        <a:t> (usually veins).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Sarcomas</a:t>
                      </a:r>
                      <a:r>
                        <a:rPr lang="en-GB" sz="1800"/>
                        <a:t>, also liver &amp; lung metastases common.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Blood vessel with circulating tumour cells.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549247"/>
                  </a:ext>
                </a:extLst>
              </a:tr>
              <a:tr h="118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Transcoelomic spread</a:t>
                      </a:r>
                      <a:endParaRPr lang="en-GB" sz="1800"/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Cancer cells spread </a:t>
                      </a:r>
                      <a:r>
                        <a:rPr lang="en-GB" sz="1800" b="1"/>
                        <a:t>across body cavities</a:t>
                      </a:r>
                      <a:r>
                        <a:rPr lang="en-GB" sz="1800"/>
                        <a:t>(pleural, peritoneal, pericardial).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Ovarian</a:t>
                      </a:r>
                      <a:r>
                        <a:rPr lang="en-GB" sz="1800"/>
                        <a:t>, </a:t>
                      </a:r>
                      <a:r>
                        <a:rPr lang="en-GB" sz="1800" b="1"/>
                        <a:t>stomach</a:t>
                      </a:r>
                      <a:r>
                        <a:rPr lang="en-GB" sz="1800"/>
                        <a:t>, </a:t>
                      </a:r>
                      <a:r>
                        <a:rPr lang="en-GB" sz="1800" b="1"/>
                        <a:t>colon</a:t>
                      </a:r>
                      <a:r>
                        <a:rPr lang="en-GB" sz="1800"/>
                        <a:t>cancers.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Floating cells in a body cavity.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037598"/>
                  </a:ext>
                </a:extLst>
              </a:tr>
              <a:tr h="1184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Direct seeding / local invasion</a:t>
                      </a:r>
                      <a:endParaRPr lang="en-GB" sz="1800"/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Tumour </a:t>
                      </a:r>
                      <a:r>
                        <a:rPr lang="en-GB" sz="1800" b="1"/>
                        <a:t>extends into adjacent tissues</a:t>
                      </a:r>
                      <a:r>
                        <a:rPr lang="en-GB" sz="1800"/>
                        <a:t> by direct contact.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Colorectal → bladder</a:t>
                      </a:r>
                      <a:r>
                        <a:rPr lang="en-GB" sz="1800"/>
                        <a:t>, </a:t>
                      </a:r>
                      <a:r>
                        <a:rPr lang="en-GB" sz="1800" b="1"/>
                        <a:t>lung → chest wall</a:t>
                      </a:r>
                      <a:r>
                        <a:rPr lang="en-GB" sz="1800"/>
                        <a:t>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Tumour roots growing into neighbouring tissue.</a:t>
                      </a:r>
                    </a:p>
                  </a:txBody>
                  <a:tcPr marL="33380" marR="33380" marT="16690" marB="166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6035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3665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57D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agram of a metabolite&#10;&#10;AI-generated content may be incorrect.">
            <a:extLst>
              <a:ext uri="{FF2B5EF4-FFF2-40B4-BE49-F238E27FC236}">
                <a16:creationId xmlns:a16="http://schemas.microsoft.com/office/drawing/2014/main" id="{A1F669EE-08FC-B07C-C80F-BAAB25835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49" y="1171006"/>
            <a:ext cx="3122143" cy="14205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cancer cells&#10;&#10;AI-generated content may be incorrect.">
            <a:extLst>
              <a:ext uri="{FF2B5EF4-FFF2-40B4-BE49-F238E27FC236}">
                <a16:creationId xmlns:a16="http://schemas.microsoft.com/office/drawing/2014/main" id="{47923CF8-232B-76E1-8D88-9394E62E9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49" y="4005952"/>
            <a:ext cx="3104943" cy="195611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the human body&#10;&#10;AI-generated content may be incorrect.">
            <a:extLst>
              <a:ext uri="{FF2B5EF4-FFF2-40B4-BE49-F238E27FC236}">
                <a16:creationId xmlns:a16="http://schemas.microsoft.com/office/drawing/2014/main" id="{CFE8729F-2E6D-4B37-F4A7-359233116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676" y="827202"/>
            <a:ext cx="3252903" cy="521765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524" y="487090"/>
            <a:ext cx="3588174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iagram of lymph nodes and a diagram&#10;&#10;AI-generated content may be incorrect.">
            <a:extLst>
              <a:ext uri="{FF2B5EF4-FFF2-40B4-BE49-F238E27FC236}">
                <a16:creationId xmlns:a16="http://schemas.microsoft.com/office/drawing/2014/main" id="{2525D405-FE44-E926-9C31-1313EC8C43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3518" y="2305646"/>
            <a:ext cx="3252903" cy="226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56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2F66F5-E37C-4A53-D764-710428A5EAF8}"/>
              </a:ext>
            </a:extLst>
          </p:cNvPr>
          <p:cNvSpPr txBox="1"/>
          <p:nvPr/>
        </p:nvSpPr>
        <p:spPr>
          <a:xfrm>
            <a:off x="342900" y="988537"/>
            <a:ext cx="878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Tumours cause harm through </a:t>
            </a:r>
            <a:r>
              <a:rPr lang="en-GB" b="1" dirty="0"/>
              <a:t>direct local effects</a:t>
            </a:r>
            <a:r>
              <a:rPr lang="en-GB" dirty="0"/>
              <a:t> on tissues and </a:t>
            </a:r>
            <a:r>
              <a:rPr lang="en-GB" b="1" dirty="0"/>
              <a:t>systemic metabolic disturbance throughout</a:t>
            </a:r>
            <a:r>
              <a:rPr lang="en-GB" dirty="0"/>
              <a:t> the body.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FEFA2-E172-B3E7-1DE3-CD991A5CC93D}"/>
              </a:ext>
            </a:extLst>
          </p:cNvPr>
          <p:cNvSpPr txBox="1"/>
          <p:nvPr/>
        </p:nvSpPr>
        <p:spPr>
          <a:xfrm>
            <a:off x="342900" y="403762"/>
            <a:ext cx="9982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3200" b="1" i="0" u="none" strike="noStrike" dirty="0">
                <a:solidFill>
                  <a:srgbClr val="000000"/>
                </a:solidFill>
                <a:effectLst/>
              </a:rPr>
              <a:t>Clinical Effects of Tumours – Local and Systemic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E1F511-86A9-F1C6-5A81-ABBA8F1CC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700" y="1732100"/>
            <a:ext cx="7574550" cy="50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3603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4A3751-8B44-8BDF-46D7-E326231D7458}"/>
              </a:ext>
            </a:extLst>
          </p:cNvPr>
          <p:cNvSpPr txBox="1"/>
          <p:nvPr/>
        </p:nvSpPr>
        <p:spPr>
          <a:xfrm>
            <a:off x="271270" y="364418"/>
            <a:ext cx="341985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i="0" u="none" strike="noStrike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Physiotherapy Implications – Working Safely with Cancer Patients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8303C-5793-C4AC-7FFE-84C5FFB484CD}"/>
              </a:ext>
            </a:extLst>
          </p:cNvPr>
          <p:cNvSpPr txBox="1"/>
          <p:nvPr/>
        </p:nvSpPr>
        <p:spPr>
          <a:xfrm>
            <a:off x="4578093" y="364418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Physiotherapists play a key role in maintaining </a:t>
            </a:r>
            <a:r>
              <a:rPr lang="en-US" sz="2000" b="1" dirty="0"/>
              <a:t>mobility, function, and quality of life</a:t>
            </a:r>
            <a:r>
              <a:rPr lang="en-US" sz="2000" dirty="0"/>
              <a:t> in cancer care —but understanding </a:t>
            </a:r>
            <a:r>
              <a:rPr lang="en-US" sz="2000" b="1" dirty="0"/>
              <a:t>pathology and metastasis</a:t>
            </a:r>
            <a:r>
              <a:rPr lang="en-US" sz="2000" dirty="0"/>
              <a:t> is critical for </a:t>
            </a:r>
            <a:r>
              <a:rPr lang="en-US" sz="2000" b="1" dirty="0"/>
              <a:t>safe, evidence-based practice</a:t>
            </a:r>
            <a:r>
              <a:rPr lang="en-US" sz="2000" dirty="0"/>
              <a:t>.</a:t>
            </a:r>
          </a:p>
        </p:txBody>
      </p:sp>
      <p:pic>
        <p:nvPicPr>
          <p:cNvPr id="9" name="Picture 8" descr="A diagram of exercise and exercise equipment&#10;&#10;AI-generated content may be incorrect.">
            <a:extLst>
              <a:ext uri="{FF2B5EF4-FFF2-40B4-BE49-F238E27FC236}">
                <a16:creationId xmlns:a16="http://schemas.microsoft.com/office/drawing/2014/main" id="{9627B339-724F-7519-21E4-C4834A8C2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314" y="2011680"/>
            <a:ext cx="9207246" cy="460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66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56B343-807D-456E-AA26-80E96B75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spine x-ray&#10;&#10;AI-generated content may be incorrect.">
            <a:extLst>
              <a:ext uri="{FF2B5EF4-FFF2-40B4-BE49-F238E27FC236}">
                <a16:creationId xmlns:a16="http://schemas.microsoft.com/office/drawing/2014/main" id="{2EBA41CD-EC8B-ACF0-EF49-A3AFCB722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2" r="14767" b="-1"/>
          <a:stretch>
            <a:fillRect/>
          </a:stretch>
        </p:blipFill>
        <p:spPr>
          <a:xfrm>
            <a:off x="576244" y="650494"/>
            <a:ext cx="5628018" cy="53241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2449B-4AB1-8175-4761-9D30C457894E}"/>
              </a:ext>
            </a:extLst>
          </p:cNvPr>
          <p:cNvSpPr txBox="1"/>
          <p:nvPr/>
        </p:nvSpPr>
        <p:spPr>
          <a:xfrm>
            <a:off x="6761217" y="2031101"/>
            <a:ext cx="5209232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u="none" strike="noStrike" dirty="0">
                <a:effectLst/>
              </a:rPr>
              <a:t>Case Study – Bone Metastasis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Scenario:</a:t>
            </a:r>
            <a:br>
              <a:rPr lang="en-US" sz="2000" dirty="0"/>
            </a:br>
            <a:r>
              <a:rPr lang="en-US" sz="2000" dirty="0"/>
              <a:t>A 62-year-old woman with </a:t>
            </a:r>
            <a:r>
              <a:rPr lang="en-US" sz="2000" b="1" dirty="0"/>
              <a:t>metastatic breast cancer</a:t>
            </a:r>
            <a:r>
              <a:rPr lang="en-US" sz="2000" dirty="0"/>
              <a:t> presents with </a:t>
            </a:r>
            <a:r>
              <a:rPr lang="en-US" sz="2000" b="1" dirty="0"/>
              <a:t>pain in her lower back and right hip</a:t>
            </a:r>
            <a:r>
              <a:rPr lang="en-US" sz="2000" dirty="0"/>
              <a:t>. Imaging shows </a:t>
            </a:r>
            <a:r>
              <a:rPr lang="en-US" sz="2000" b="1" dirty="0"/>
              <a:t>osteolytic lesions</a:t>
            </a:r>
            <a:r>
              <a:rPr lang="en-US" sz="2000" dirty="0"/>
              <a:t> in the lumbar spine and right femur.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000" dirty="0"/>
            </a:br>
            <a:r>
              <a:rPr lang="en-US" sz="2000" dirty="0"/>
              <a:t>She has moderate fatigue but is otherwise stable and motivated to remain active.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6959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AF0C5D-C450-226D-7B52-7B7AC3B8F55A}"/>
              </a:ext>
            </a:extLst>
          </p:cNvPr>
          <p:cNvSpPr txBox="1"/>
          <p:nvPr/>
        </p:nvSpPr>
        <p:spPr>
          <a:xfrm>
            <a:off x="495300" y="797510"/>
            <a:ext cx="10058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Discussion Questions</a:t>
            </a:r>
          </a:p>
          <a:p>
            <a:pPr algn="l">
              <a:buNone/>
            </a:pPr>
            <a:endParaRPr lang="en-GB" sz="2400" b="1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What are your main physiotherapy concerns?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endParaRPr lang="en-GB" sz="2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How would you modify her exercise plan?</a:t>
            </a:r>
            <a:endParaRPr lang="en-GB" sz="28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What types of movement are safe?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What should be avoided?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How to balance mobility and protection?</a:t>
            </a:r>
          </a:p>
          <a:p>
            <a:pPr marL="742950" lvl="1" indent="-285750" algn="l">
              <a:buFont typeface="+mj-lt"/>
              <a:buAutoNum type="arabicPeriod"/>
            </a:pPr>
            <a:endParaRPr lang="en-GB" sz="2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Which red flags would require you to stop the session and inform the oncology team?</a:t>
            </a:r>
            <a:br>
              <a:rPr lang="en-GB" b="0" i="0" u="none" strike="noStrike" dirty="0">
                <a:solidFill>
                  <a:srgbClr val="000000"/>
                </a:solidFill>
                <a:effectLst/>
              </a:rPr>
            </a:b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45409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32679D-5BB3-23DF-4CB8-9E34471B7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422424"/>
              </p:ext>
            </p:extLst>
          </p:nvPr>
        </p:nvGraphicFramePr>
        <p:xfrm>
          <a:off x="392573" y="228600"/>
          <a:ext cx="11330656" cy="4953004"/>
        </p:xfrm>
        <a:graphic>
          <a:graphicData uri="http://schemas.openxmlformats.org/drawingml/2006/table">
            <a:tbl>
              <a:tblPr/>
              <a:tblGrid>
                <a:gridCol w="2845927">
                  <a:extLst>
                    <a:ext uri="{9D8B030D-6E8A-4147-A177-3AD203B41FA5}">
                      <a16:colId xmlns:a16="http://schemas.microsoft.com/office/drawing/2014/main" val="3997494039"/>
                    </a:ext>
                  </a:extLst>
                </a:gridCol>
                <a:gridCol w="4740477">
                  <a:extLst>
                    <a:ext uri="{9D8B030D-6E8A-4147-A177-3AD203B41FA5}">
                      <a16:colId xmlns:a16="http://schemas.microsoft.com/office/drawing/2014/main" val="1694297036"/>
                    </a:ext>
                  </a:extLst>
                </a:gridCol>
                <a:gridCol w="3744252">
                  <a:extLst>
                    <a:ext uri="{9D8B030D-6E8A-4147-A177-3AD203B41FA5}">
                      <a16:colId xmlns:a16="http://schemas.microsoft.com/office/drawing/2014/main" val="2691661038"/>
                    </a:ext>
                  </a:extLst>
                </a:gridCol>
              </a:tblGrid>
              <a:tr h="4237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/>
                        <a:t>Focus Area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/>
                        <a:t>Recommended Approach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/>
                        <a:t>Precautions / Rationale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511981"/>
                  </a:ext>
                </a:extLst>
              </a:tr>
              <a:tr h="70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/>
                        <a:t>Pain management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Use gentle movement within pain-free range; heat or TENS (if safe)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Avoid aggressive stretching or manual therapy over lesion site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933153"/>
                  </a:ext>
                </a:extLst>
              </a:tr>
              <a:tr h="991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/>
                        <a:t>Exercise type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Prioritise </a:t>
                      </a:r>
                      <a:r>
                        <a:rPr lang="en-GB" sz="1900" b="1"/>
                        <a:t>low-impact</a:t>
                      </a:r>
                      <a:r>
                        <a:rPr lang="en-GB" sz="1900"/>
                        <a:t>, </a:t>
                      </a:r>
                      <a:r>
                        <a:rPr lang="en-GB" sz="1900" b="1"/>
                        <a:t>isometric</a:t>
                      </a:r>
                      <a:r>
                        <a:rPr lang="en-GB" sz="1900"/>
                        <a:t>, and </a:t>
                      </a:r>
                      <a:r>
                        <a:rPr lang="en-GB" sz="1900" b="1"/>
                        <a:t>functional training</a:t>
                      </a:r>
                      <a:r>
                        <a:rPr lang="en-GB" sz="1900"/>
                        <a:t> (e.g. sitting to standing, walking aids)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Avoid high-resistance, twisting, or end-range loading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107076"/>
                  </a:ext>
                </a:extLst>
              </a:tr>
              <a:tr h="70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/>
                        <a:t>Weight-bearing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Partial or supported weight-bearing if femur/spine involved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Prevent </a:t>
                      </a:r>
                      <a:r>
                        <a:rPr lang="en-GB" sz="1900" b="1"/>
                        <a:t>pathological fractures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940209"/>
                  </a:ext>
                </a:extLst>
              </a:tr>
              <a:tr h="70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/>
                        <a:t>Fatigue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Incorporate </a:t>
                      </a:r>
                      <a:r>
                        <a:rPr lang="en-GB" sz="1900" b="1"/>
                        <a:t>short bouts of exercise</a:t>
                      </a:r>
                      <a:r>
                        <a:rPr lang="en-GB" sz="1900"/>
                        <a:t> with rest breaks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Prevent overexertion and energy depletion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082932"/>
                  </a:ext>
                </a:extLst>
              </a:tr>
              <a:tr h="70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/>
                        <a:t>Posture / ergonomics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Educate on </a:t>
                      </a:r>
                      <a:r>
                        <a:rPr lang="en-GB" sz="1900" b="1"/>
                        <a:t>safe transfers</a:t>
                      </a:r>
                      <a:r>
                        <a:rPr lang="en-GB" sz="1900"/>
                        <a:t>, correct lifting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Reduce strain on affected bones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638118"/>
                  </a:ext>
                </a:extLst>
              </a:tr>
              <a:tr h="707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b="1"/>
                        <a:t>Monitoring</a:t>
                      </a:r>
                      <a:endParaRPr lang="en-GB" sz="1900"/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/>
                        <a:t>Pain scale, mobility tolerance, vital signs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00" dirty="0"/>
                        <a:t>Early detection of deterioration</a:t>
                      </a:r>
                    </a:p>
                  </a:txBody>
                  <a:tcPr marL="97394" marR="97394" marT="48697" marB="4869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498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04747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EC3BB2-CFC4-4B4D-6D7E-E78FE15DD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354151"/>
              </p:ext>
            </p:extLst>
          </p:nvPr>
        </p:nvGraphicFramePr>
        <p:xfrm>
          <a:off x="651280" y="1828148"/>
          <a:ext cx="10889440" cy="4591702"/>
        </p:xfrm>
        <a:graphic>
          <a:graphicData uri="http://schemas.openxmlformats.org/drawingml/2006/table">
            <a:tbl>
              <a:tblPr/>
              <a:tblGrid>
                <a:gridCol w="2722360">
                  <a:extLst>
                    <a:ext uri="{9D8B030D-6E8A-4147-A177-3AD203B41FA5}">
                      <a16:colId xmlns:a16="http://schemas.microsoft.com/office/drawing/2014/main" val="2208318827"/>
                    </a:ext>
                  </a:extLst>
                </a:gridCol>
                <a:gridCol w="2722360">
                  <a:extLst>
                    <a:ext uri="{9D8B030D-6E8A-4147-A177-3AD203B41FA5}">
                      <a16:colId xmlns:a16="http://schemas.microsoft.com/office/drawing/2014/main" val="4050462506"/>
                    </a:ext>
                  </a:extLst>
                </a:gridCol>
                <a:gridCol w="2722360">
                  <a:extLst>
                    <a:ext uri="{9D8B030D-6E8A-4147-A177-3AD203B41FA5}">
                      <a16:colId xmlns:a16="http://schemas.microsoft.com/office/drawing/2014/main" val="1413431173"/>
                    </a:ext>
                  </a:extLst>
                </a:gridCol>
                <a:gridCol w="2722360">
                  <a:extLst>
                    <a:ext uri="{9D8B030D-6E8A-4147-A177-3AD203B41FA5}">
                      <a16:colId xmlns:a16="http://schemas.microsoft.com/office/drawing/2014/main" val="3731983096"/>
                    </a:ext>
                  </a:extLst>
                </a:gridCol>
              </a:tblGrid>
              <a:tr h="669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Mechanism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Effect on the Body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Cancer Types with Strong Evidence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Visual Cue</a:t>
                      </a:r>
                      <a:endParaRPr lang="en-GB" sz="18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650171"/>
                  </a:ext>
                </a:extLst>
              </a:tr>
              <a:tr h="669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Hormone regulation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Lowers </a:t>
                      </a:r>
                      <a:r>
                        <a:rPr lang="en-GB" sz="1800" b="1"/>
                        <a:t>oestrogen</a:t>
                      </a:r>
                      <a:r>
                        <a:rPr lang="en-GB" sz="1800"/>
                        <a:t> and </a:t>
                      </a:r>
                      <a:r>
                        <a:rPr lang="en-GB" sz="1800" b="1"/>
                        <a:t>insulin</a:t>
                      </a:r>
                      <a:r>
                        <a:rPr lang="en-GB" sz="1800"/>
                        <a:t> levels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Breast, endometrial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Hormone balance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180572"/>
                  </a:ext>
                </a:extLst>
              </a:tr>
              <a:tr h="669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Improved immune function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Boosts </a:t>
                      </a:r>
                      <a:r>
                        <a:rPr lang="en-GB" sz="1800" b="1"/>
                        <a:t>natural killer cells</a:t>
                      </a:r>
                      <a:r>
                        <a:rPr lang="en-GB" sz="1800"/>
                        <a:t> and surveillance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General cancer protection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Stronger defences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159091"/>
                  </a:ext>
                </a:extLst>
              </a:tr>
              <a:tr h="95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Reduced inflammation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Decreases </a:t>
                      </a:r>
                      <a:r>
                        <a:rPr lang="en-GB" sz="1800" b="1"/>
                        <a:t>chronic inflammatory cytokines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Colon, liver, pancreas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↓ Less inflammation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266903"/>
                  </a:ext>
                </a:extLst>
              </a:tr>
              <a:tr h="669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Weight management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Prevents obesity-related metabolic stress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Colon, kidney, oesophagus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 Stable weight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162970"/>
                  </a:ext>
                </a:extLst>
              </a:tr>
              <a:tr h="9568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Enhanced gut motility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Reduces contact time between toxins and colon wall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Colon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Regular movement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88111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B6A46A-EEDA-8EA9-2097-AB49E2BB10AB}"/>
              </a:ext>
            </a:extLst>
          </p:cNvPr>
          <p:cNvSpPr txBox="1"/>
          <p:nvPr/>
        </p:nvSpPr>
        <p:spPr>
          <a:xfrm>
            <a:off x="2114550" y="86517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While some causes of cancer are genetic, </a:t>
            </a:r>
            <a:r>
              <a:rPr lang="en-GB" b="1" dirty="0"/>
              <a:t>up to 40% of cancers are linked to lifestyle factors</a:t>
            </a:r>
            <a:r>
              <a:rPr lang="en-GB" dirty="0"/>
              <a:t>. Regular </a:t>
            </a:r>
            <a:r>
              <a:rPr lang="en-GB" b="1" dirty="0"/>
              <a:t>physical activity</a:t>
            </a:r>
            <a:r>
              <a:rPr lang="en-GB" dirty="0"/>
              <a:t> is one of the most powerful preventive tools.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3F6BD-2640-DB5D-75A7-FA85822C5809}"/>
              </a:ext>
            </a:extLst>
          </p:cNvPr>
          <p:cNvSpPr txBox="1"/>
          <p:nvPr/>
        </p:nvSpPr>
        <p:spPr>
          <a:xfrm>
            <a:off x="228600" y="337515"/>
            <a:ext cx="9848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Prevention &amp; Lifestyle – The Protective Power of Exercise</a:t>
            </a:r>
          </a:p>
        </p:txBody>
      </p:sp>
    </p:spTree>
    <p:extLst>
      <p:ext uri="{BB962C8B-B14F-4D97-AF65-F5344CB8AC3E}">
        <p14:creationId xmlns:p14="http://schemas.microsoft.com/office/powerpoint/2010/main" val="29910401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E547B5-89CF-4EC0-96DE-25771AED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B8CEB-8279-4E5E-A0CE-1FC9F717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782" y="0"/>
            <a:ext cx="7421217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oup of women exercising in a gym&#10;&#10;AI-generated content may be incorrect.">
            <a:extLst>
              <a:ext uri="{FF2B5EF4-FFF2-40B4-BE49-F238E27FC236}">
                <a16:creationId xmlns:a16="http://schemas.microsoft.com/office/drawing/2014/main" id="{46DCE46E-C35B-0683-084A-F1C6C7421B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88" r="21536" b="-1"/>
          <a:stretch>
            <a:fillRect/>
          </a:stretch>
        </p:blipFill>
        <p:spPr>
          <a:xfrm>
            <a:off x="20" y="10"/>
            <a:ext cx="6901711" cy="6857990"/>
          </a:xfrm>
          <a:custGeom>
            <a:avLst/>
            <a:gdLst/>
            <a:ahLst/>
            <a:cxnLst/>
            <a:rect l="l" t="t" r="r" b="b"/>
            <a:pathLst>
              <a:path w="6901731" h="6858000">
                <a:moveTo>
                  <a:pt x="0" y="0"/>
                </a:moveTo>
                <a:lnTo>
                  <a:pt x="6897896" y="5958"/>
                </a:lnTo>
                <a:lnTo>
                  <a:pt x="6866823" y="62592"/>
                </a:lnTo>
                <a:lnTo>
                  <a:pt x="6901731" y="89476"/>
                </a:lnTo>
                <a:lnTo>
                  <a:pt x="6901731" y="103833"/>
                </a:lnTo>
                <a:lnTo>
                  <a:pt x="6900034" y="110092"/>
                </a:lnTo>
                <a:lnTo>
                  <a:pt x="6901731" y="113679"/>
                </a:lnTo>
                <a:lnTo>
                  <a:pt x="6901731" y="405560"/>
                </a:lnTo>
                <a:lnTo>
                  <a:pt x="6900456" y="429509"/>
                </a:lnTo>
                <a:cubicBezTo>
                  <a:pt x="6892773" y="535647"/>
                  <a:pt x="6878314" y="537918"/>
                  <a:pt x="6886342" y="636808"/>
                </a:cubicBezTo>
                <a:cubicBezTo>
                  <a:pt x="6892506" y="756883"/>
                  <a:pt x="6864504" y="771443"/>
                  <a:pt x="6851784" y="839073"/>
                </a:cubicBezTo>
                <a:cubicBezTo>
                  <a:pt x="6838675" y="892655"/>
                  <a:pt x="6864124" y="961738"/>
                  <a:pt x="6845760" y="994930"/>
                </a:cubicBezTo>
                <a:cubicBezTo>
                  <a:pt x="6833572" y="1024166"/>
                  <a:pt x="6859282" y="1058905"/>
                  <a:pt x="6845601" y="1112932"/>
                </a:cubicBezTo>
                <a:cubicBezTo>
                  <a:pt x="6838700" y="1149910"/>
                  <a:pt x="6829138" y="1151035"/>
                  <a:pt x="6820235" y="1187433"/>
                </a:cubicBezTo>
                <a:cubicBezTo>
                  <a:pt x="6815504" y="1196464"/>
                  <a:pt x="6777707" y="1338549"/>
                  <a:pt x="6759643" y="1337010"/>
                </a:cubicBezTo>
                <a:cubicBezTo>
                  <a:pt x="6737660" y="1337296"/>
                  <a:pt x="6760650" y="1396341"/>
                  <a:pt x="6736375" y="1382272"/>
                </a:cubicBezTo>
                <a:cubicBezTo>
                  <a:pt x="6755741" y="1415836"/>
                  <a:pt x="6714675" y="1414567"/>
                  <a:pt x="6701292" y="1432111"/>
                </a:cubicBezTo>
                <a:cubicBezTo>
                  <a:pt x="6721110" y="1460185"/>
                  <a:pt x="6692106" y="1490815"/>
                  <a:pt x="6686578" y="1518624"/>
                </a:cubicBezTo>
                <a:cubicBezTo>
                  <a:pt x="6682512" y="1567002"/>
                  <a:pt x="6679579" y="1571443"/>
                  <a:pt x="6670824" y="1607743"/>
                </a:cubicBezTo>
                <a:cubicBezTo>
                  <a:pt x="6671133" y="1629590"/>
                  <a:pt x="6663161" y="1656870"/>
                  <a:pt x="6664392" y="1696405"/>
                </a:cubicBezTo>
                <a:cubicBezTo>
                  <a:pt x="6655686" y="1770486"/>
                  <a:pt x="6641938" y="1757082"/>
                  <a:pt x="6642880" y="1812372"/>
                </a:cubicBezTo>
                <a:cubicBezTo>
                  <a:pt x="6638579" y="1872475"/>
                  <a:pt x="6619231" y="1825476"/>
                  <a:pt x="6612547" y="1876437"/>
                </a:cubicBezTo>
                <a:cubicBezTo>
                  <a:pt x="6600695" y="1913834"/>
                  <a:pt x="6591061" y="1923231"/>
                  <a:pt x="6571760" y="1953331"/>
                </a:cubicBezTo>
                <a:cubicBezTo>
                  <a:pt x="6561039" y="1989021"/>
                  <a:pt x="6544090" y="2087896"/>
                  <a:pt x="6520213" y="2096455"/>
                </a:cubicBezTo>
                <a:lnTo>
                  <a:pt x="6492461" y="2188148"/>
                </a:lnTo>
                <a:cubicBezTo>
                  <a:pt x="6504372" y="2211333"/>
                  <a:pt x="6489131" y="2253220"/>
                  <a:pt x="6471854" y="2259117"/>
                </a:cubicBezTo>
                <a:cubicBezTo>
                  <a:pt x="6466151" y="2287829"/>
                  <a:pt x="6440452" y="2301346"/>
                  <a:pt x="6439832" y="2328334"/>
                </a:cubicBezTo>
                <a:cubicBezTo>
                  <a:pt x="6431013" y="2351201"/>
                  <a:pt x="6444250" y="2396409"/>
                  <a:pt x="6425162" y="2408211"/>
                </a:cubicBezTo>
                <a:lnTo>
                  <a:pt x="6417221" y="2427382"/>
                </a:lnTo>
                <a:lnTo>
                  <a:pt x="6425030" y="2464387"/>
                </a:lnTo>
                <a:lnTo>
                  <a:pt x="6406293" y="2472223"/>
                </a:lnTo>
                <a:cubicBezTo>
                  <a:pt x="6406862" y="2477277"/>
                  <a:pt x="6406486" y="2491723"/>
                  <a:pt x="6405400" y="2493547"/>
                </a:cubicBezTo>
                <a:lnTo>
                  <a:pt x="6374829" y="2532070"/>
                </a:lnTo>
                <a:cubicBezTo>
                  <a:pt x="6374597" y="2545374"/>
                  <a:pt x="6360976" y="2563797"/>
                  <a:pt x="6350864" y="2577422"/>
                </a:cubicBezTo>
                <a:cubicBezTo>
                  <a:pt x="6327056" y="2632768"/>
                  <a:pt x="6341262" y="2616275"/>
                  <a:pt x="6329174" y="2663854"/>
                </a:cubicBezTo>
                <a:cubicBezTo>
                  <a:pt x="6326303" y="2703642"/>
                  <a:pt x="6332854" y="2709643"/>
                  <a:pt x="6315095" y="2741507"/>
                </a:cubicBezTo>
                <a:cubicBezTo>
                  <a:pt x="6319921" y="2740191"/>
                  <a:pt x="6321925" y="2742004"/>
                  <a:pt x="6322463" y="2745641"/>
                </a:cubicBezTo>
                <a:cubicBezTo>
                  <a:pt x="6322245" y="2747982"/>
                  <a:pt x="6322027" y="2750323"/>
                  <a:pt x="6321808" y="2752663"/>
                </a:cubicBezTo>
                <a:lnTo>
                  <a:pt x="6314569" y="2756718"/>
                </a:lnTo>
                <a:cubicBezTo>
                  <a:pt x="6289324" y="2773686"/>
                  <a:pt x="6317551" y="2780051"/>
                  <a:pt x="6315211" y="2811618"/>
                </a:cubicBezTo>
                <a:cubicBezTo>
                  <a:pt x="6315620" y="2826627"/>
                  <a:pt x="6296047" y="2885298"/>
                  <a:pt x="6302211" y="2882314"/>
                </a:cubicBezTo>
                <a:lnTo>
                  <a:pt x="6286167" y="2949597"/>
                </a:lnTo>
                <a:cubicBezTo>
                  <a:pt x="6286401" y="2994618"/>
                  <a:pt x="6286615" y="2971464"/>
                  <a:pt x="6287037" y="3008578"/>
                </a:cubicBezTo>
                <a:cubicBezTo>
                  <a:pt x="6293795" y="3029535"/>
                  <a:pt x="6274405" y="3114154"/>
                  <a:pt x="6259150" y="3123139"/>
                </a:cubicBezTo>
                <a:cubicBezTo>
                  <a:pt x="6250085" y="3189063"/>
                  <a:pt x="6269067" y="3151280"/>
                  <a:pt x="6272249" y="3227854"/>
                </a:cubicBezTo>
                <a:cubicBezTo>
                  <a:pt x="6278775" y="3295842"/>
                  <a:pt x="6289216" y="3303765"/>
                  <a:pt x="6292288" y="3378383"/>
                </a:cubicBezTo>
                <a:cubicBezTo>
                  <a:pt x="6303894" y="3395995"/>
                  <a:pt x="6287498" y="3432581"/>
                  <a:pt x="6288328" y="3459618"/>
                </a:cubicBezTo>
                <a:cubicBezTo>
                  <a:pt x="6289158" y="3486653"/>
                  <a:pt x="6299937" y="3538735"/>
                  <a:pt x="6297272" y="3540603"/>
                </a:cubicBezTo>
                <a:cubicBezTo>
                  <a:pt x="6296849" y="3577379"/>
                  <a:pt x="6294184" y="3587943"/>
                  <a:pt x="6291001" y="3638374"/>
                </a:cubicBezTo>
                <a:cubicBezTo>
                  <a:pt x="6283026" y="3666794"/>
                  <a:pt x="6265833" y="3731744"/>
                  <a:pt x="6283592" y="3763609"/>
                </a:cubicBezTo>
                <a:cubicBezTo>
                  <a:pt x="6264286" y="3758340"/>
                  <a:pt x="6290177" y="3803150"/>
                  <a:pt x="6274068" y="3814506"/>
                </a:cubicBezTo>
                <a:cubicBezTo>
                  <a:pt x="6260645" y="3821643"/>
                  <a:pt x="6265372" y="3836902"/>
                  <a:pt x="6262850" y="3850454"/>
                </a:cubicBezTo>
                <a:cubicBezTo>
                  <a:pt x="6250418" y="3863479"/>
                  <a:pt x="6250660" y="3955243"/>
                  <a:pt x="6257357" y="3975474"/>
                </a:cubicBezTo>
                <a:cubicBezTo>
                  <a:pt x="6245091" y="4036737"/>
                  <a:pt x="6237535" y="4029237"/>
                  <a:pt x="6257889" y="4073155"/>
                </a:cubicBezTo>
                <a:cubicBezTo>
                  <a:pt x="6259272" y="4085906"/>
                  <a:pt x="6239882" y="4116397"/>
                  <a:pt x="6237441" y="4126638"/>
                </a:cubicBezTo>
                <a:lnTo>
                  <a:pt x="6245587" y="4172738"/>
                </a:lnTo>
                <a:lnTo>
                  <a:pt x="6235772" y="4176721"/>
                </a:lnTo>
                <a:lnTo>
                  <a:pt x="6233287" y="4195136"/>
                </a:lnTo>
                <a:lnTo>
                  <a:pt x="6234619" y="4280850"/>
                </a:lnTo>
                <a:cubicBezTo>
                  <a:pt x="6239453" y="4320763"/>
                  <a:pt x="6223309" y="4337596"/>
                  <a:pt x="6219318" y="4402526"/>
                </a:cubicBezTo>
                <a:cubicBezTo>
                  <a:pt x="6205466" y="4516209"/>
                  <a:pt x="6216183" y="4588729"/>
                  <a:pt x="6216810" y="4651172"/>
                </a:cubicBezTo>
                <a:cubicBezTo>
                  <a:pt x="6217673" y="4756959"/>
                  <a:pt x="6228654" y="4824005"/>
                  <a:pt x="6225945" y="4916779"/>
                </a:cubicBezTo>
                <a:cubicBezTo>
                  <a:pt x="6217032" y="4993010"/>
                  <a:pt x="6264271" y="4984591"/>
                  <a:pt x="6230174" y="5051379"/>
                </a:cubicBezTo>
                <a:cubicBezTo>
                  <a:pt x="6235713" y="5056951"/>
                  <a:pt x="6239420" y="5163714"/>
                  <a:pt x="6242600" y="5170879"/>
                </a:cubicBezTo>
                <a:lnTo>
                  <a:pt x="6235996" y="5216428"/>
                </a:lnTo>
                <a:lnTo>
                  <a:pt x="6214638" y="5285298"/>
                </a:lnTo>
                <a:cubicBezTo>
                  <a:pt x="6211392" y="5297492"/>
                  <a:pt x="6225576" y="5312063"/>
                  <a:pt x="6228432" y="5317696"/>
                </a:cubicBezTo>
                <a:lnTo>
                  <a:pt x="6246496" y="5398787"/>
                </a:lnTo>
                <a:lnTo>
                  <a:pt x="6244793" y="5399530"/>
                </a:lnTo>
                <a:lnTo>
                  <a:pt x="6241695" y="5406948"/>
                </a:lnTo>
                <a:lnTo>
                  <a:pt x="6267461" y="5499413"/>
                </a:lnTo>
                <a:cubicBezTo>
                  <a:pt x="6285387" y="5533848"/>
                  <a:pt x="6284888" y="5550029"/>
                  <a:pt x="6295987" y="5582659"/>
                </a:cubicBezTo>
                <a:cubicBezTo>
                  <a:pt x="6311253" y="5681724"/>
                  <a:pt x="6295439" y="5695558"/>
                  <a:pt x="6364803" y="5784263"/>
                </a:cubicBezTo>
                <a:cubicBezTo>
                  <a:pt x="6379348" y="5818651"/>
                  <a:pt x="6412475" y="5906802"/>
                  <a:pt x="6423050" y="5922637"/>
                </a:cubicBezTo>
                <a:cubicBezTo>
                  <a:pt x="6445210" y="5973612"/>
                  <a:pt x="6468179" y="6023873"/>
                  <a:pt x="6497767" y="6090108"/>
                </a:cubicBezTo>
                <a:cubicBezTo>
                  <a:pt x="6571895" y="6150548"/>
                  <a:pt x="6572491" y="6236583"/>
                  <a:pt x="6606710" y="6281543"/>
                </a:cubicBezTo>
                <a:cubicBezTo>
                  <a:pt x="6633675" y="6335892"/>
                  <a:pt x="6654357" y="6388782"/>
                  <a:pt x="6667540" y="6443715"/>
                </a:cubicBezTo>
                <a:cubicBezTo>
                  <a:pt x="6685192" y="6466826"/>
                  <a:pt x="6650500" y="6508701"/>
                  <a:pt x="6659722" y="6550105"/>
                </a:cubicBezTo>
                <a:cubicBezTo>
                  <a:pt x="6665926" y="6645044"/>
                  <a:pt x="6669126" y="6627536"/>
                  <a:pt x="6671805" y="6687397"/>
                </a:cubicBezTo>
                <a:cubicBezTo>
                  <a:pt x="6682671" y="6733683"/>
                  <a:pt x="6665210" y="6772117"/>
                  <a:pt x="6669658" y="6806602"/>
                </a:cubicBezTo>
                <a:cubicBezTo>
                  <a:pt x="6661174" y="6812658"/>
                  <a:pt x="6667097" y="6831470"/>
                  <a:pt x="6675783" y="6850325"/>
                </a:cubicBezTo>
                <a:lnTo>
                  <a:pt x="6679704" y="6858000"/>
                </a:lnTo>
                <a:lnTo>
                  <a:pt x="4532241" y="6858000"/>
                </a:lnTo>
                <a:lnTo>
                  <a:pt x="120859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DC8B86-F07C-FC5A-DD6F-13EF84137974}"/>
              </a:ext>
            </a:extLst>
          </p:cNvPr>
          <p:cNvSpPr txBox="1"/>
          <p:nvPr/>
        </p:nvSpPr>
        <p:spPr>
          <a:xfrm>
            <a:off x="6901731" y="1698802"/>
            <a:ext cx="5004701" cy="390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i="0" u="none" strike="noStrike" dirty="0">
                <a:effectLst/>
              </a:rPr>
              <a:t>Evidence-Based Impact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i="0" u="none" strike="noStrike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u="none" strike="noStrike" dirty="0">
                <a:effectLst/>
              </a:rPr>
              <a:t>30–60 minutes</a:t>
            </a:r>
            <a:r>
              <a:rPr lang="en-US" sz="2000" b="0" i="0" u="none" strike="noStrike" dirty="0">
                <a:effectLst/>
              </a:rPr>
              <a:t> of moderate activity (5× per week) can reduce: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u="none" strike="noStrike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u="none" strike="noStrike" dirty="0">
                <a:effectLst/>
              </a:rPr>
              <a:t>Colon cancer risk</a:t>
            </a:r>
            <a:r>
              <a:rPr lang="en-US" sz="2000" b="0" i="0" u="none" strike="noStrike" dirty="0">
                <a:effectLst/>
              </a:rPr>
              <a:t> by up to </a:t>
            </a:r>
            <a:r>
              <a:rPr lang="en-US" sz="2000" b="1" i="0" u="none" strike="noStrike" dirty="0">
                <a:effectLst/>
              </a:rPr>
              <a:t>40–50%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u="none" strike="noStrike" dirty="0">
                <a:effectLst/>
              </a:rPr>
              <a:t>Breast cancer risk</a:t>
            </a:r>
            <a:r>
              <a:rPr lang="en-US" sz="2000" b="0" i="0" u="none" strike="noStrike" dirty="0">
                <a:effectLst/>
              </a:rPr>
              <a:t> by up to </a:t>
            </a:r>
            <a:r>
              <a:rPr lang="en-US" sz="2000" b="1" i="0" u="none" strike="noStrike" dirty="0">
                <a:effectLst/>
              </a:rPr>
              <a:t>30–40%</a:t>
            </a: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u="none" strike="noStrike" dirty="0">
                <a:effectLst/>
              </a:rPr>
              <a:t>Endometrial cancer risk</a:t>
            </a:r>
            <a:r>
              <a:rPr lang="en-US" sz="2000" b="0" i="0" u="none" strike="noStrike" dirty="0">
                <a:effectLst/>
              </a:rPr>
              <a:t> by up to </a:t>
            </a:r>
            <a:r>
              <a:rPr lang="en-US" sz="2000" b="1" i="0" u="none" strike="noStrike" dirty="0">
                <a:effectLst/>
              </a:rPr>
              <a:t>30%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u="none" strike="noStrike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i="0" u="none" strike="noStrike" dirty="0">
                <a:effectLst/>
              </a:rPr>
              <a:t>Includes: brisk walking, cycling, dancing, swimming, </a:t>
            </a:r>
            <a:r>
              <a:rPr lang="en-US" sz="2000" dirty="0"/>
              <a:t>and resistance </a:t>
            </a:r>
            <a:r>
              <a:rPr lang="en-US" sz="2000" b="0" i="0" u="none" strike="noStrike" dirty="0">
                <a:effectLst/>
              </a:rPr>
              <a:t>training.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530145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83CF22-A6D7-02A5-2610-9E779966B3A6}"/>
              </a:ext>
            </a:extLst>
          </p:cNvPr>
          <p:cNvSpPr txBox="1"/>
          <p:nvPr/>
        </p:nvSpPr>
        <p:spPr>
          <a:xfrm>
            <a:off x="247651" y="272759"/>
            <a:ext cx="10287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i="1" u="none" strike="noStrike" dirty="0">
                <a:solidFill>
                  <a:srgbClr val="000000"/>
                </a:solidFill>
                <a:effectLst/>
              </a:rPr>
              <a:t>From Cell Stress to Cancer Progression: The Pathology Continuum</a:t>
            </a:r>
            <a:endParaRPr lang="en-US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B15C41-21B8-28E2-7306-F5A270A629D3}"/>
              </a:ext>
            </a:extLst>
          </p:cNvPr>
          <p:cNvSpPr txBox="1"/>
          <p:nvPr/>
        </p:nvSpPr>
        <p:spPr>
          <a:xfrm>
            <a:off x="4905375" y="988372"/>
            <a:ext cx="1980943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🟢 Normal Cell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642016-09AA-78C5-BB55-6D288F24AF3F}"/>
              </a:ext>
            </a:extLst>
          </p:cNvPr>
          <p:cNvSpPr txBox="1"/>
          <p:nvPr/>
        </p:nvSpPr>
        <p:spPr>
          <a:xfrm>
            <a:off x="4752975" y="1904040"/>
            <a:ext cx="2581275" cy="4001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🟡 Stress / Stimulus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C95857-8F62-A893-534D-46BDCCD0A66D}"/>
              </a:ext>
            </a:extLst>
          </p:cNvPr>
          <p:cNvSpPr txBox="1"/>
          <p:nvPr/>
        </p:nvSpPr>
        <p:spPr>
          <a:xfrm>
            <a:off x="4905375" y="2935222"/>
            <a:ext cx="1980943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🟢 Adaptation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BB7B0F-0544-760C-CE5A-01D049C48542}"/>
              </a:ext>
            </a:extLst>
          </p:cNvPr>
          <p:cNvSpPr txBox="1"/>
          <p:nvPr/>
        </p:nvSpPr>
        <p:spPr>
          <a:xfrm>
            <a:off x="247651" y="4085440"/>
            <a:ext cx="2314575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🟠 Reversible Injury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C96F81-4DB7-805B-4101-926B3C6EE520}"/>
              </a:ext>
            </a:extLst>
          </p:cNvPr>
          <p:cNvSpPr txBox="1"/>
          <p:nvPr/>
        </p:nvSpPr>
        <p:spPr>
          <a:xfrm>
            <a:off x="2274753" y="5211749"/>
            <a:ext cx="3857625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🔴 </a:t>
            </a:r>
            <a:r>
              <a:rPr lang="en-GB" sz="2000" b="0" i="0" u="none" strike="noStrike" dirty="0">
                <a:solidFill>
                  <a:schemeClr val="bg1"/>
                </a:solidFill>
                <a:effectLst/>
              </a:rPr>
              <a:t>Irreversible Injury → Cell Death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649FB6-EDF2-B80B-AA33-6FCE4BE9E080}"/>
              </a:ext>
            </a:extLst>
          </p:cNvPr>
          <p:cNvSpPr txBox="1"/>
          <p:nvPr/>
        </p:nvSpPr>
        <p:spPr>
          <a:xfrm>
            <a:off x="8572502" y="3064897"/>
            <a:ext cx="3276598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⚠️ Abnormal Cell Growth</a:t>
            </a:r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CC6012-DC55-70C8-E834-985FF3301BE4}"/>
              </a:ext>
            </a:extLst>
          </p:cNvPr>
          <p:cNvSpPr txBox="1"/>
          <p:nvPr/>
        </p:nvSpPr>
        <p:spPr>
          <a:xfrm>
            <a:off x="8515352" y="4399963"/>
            <a:ext cx="3336324" cy="40011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GB" sz="2000" b="0" i="0" u="none" strike="noStrike" dirty="0">
                <a:solidFill>
                  <a:srgbClr val="000000"/>
                </a:solidFill>
                <a:effectLst/>
              </a:rPr>
              <a:t>💥 Malignant Transformation</a:t>
            </a:r>
            <a:endParaRPr 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9F9410-E4A1-433C-C680-0AA0088C6D28}"/>
              </a:ext>
            </a:extLst>
          </p:cNvPr>
          <p:cNvSpPr txBox="1"/>
          <p:nvPr/>
        </p:nvSpPr>
        <p:spPr>
          <a:xfrm>
            <a:off x="7791451" y="5884216"/>
            <a:ext cx="4057650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000" b="0" i="0" u="none" strike="noStrike" dirty="0">
                <a:solidFill>
                  <a:srgbClr val="FF0000"/>
                </a:solidFill>
                <a:effectLst/>
              </a:rPr>
              <a:t>🩸 Metastasis (Cancer Movement)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0FC6A7A2-67B3-D4FA-0B7F-E8AA1136C5BE}"/>
              </a:ext>
            </a:extLst>
          </p:cNvPr>
          <p:cNvSpPr/>
          <p:nvPr/>
        </p:nvSpPr>
        <p:spPr>
          <a:xfrm>
            <a:off x="5686298" y="1445572"/>
            <a:ext cx="209548" cy="40011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>
            <a:extLst>
              <a:ext uri="{FF2B5EF4-FFF2-40B4-BE49-F238E27FC236}">
                <a16:creationId xmlns:a16="http://schemas.microsoft.com/office/drawing/2014/main" id="{973D0EFA-FCD0-AFEB-E7D1-E8613CA5136C}"/>
              </a:ext>
            </a:extLst>
          </p:cNvPr>
          <p:cNvSpPr/>
          <p:nvPr/>
        </p:nvSpPr>
        <p:spPr>
          <a:xfrm>
            <a:off x="5686298" y="2397486"/>
            <a:ext cx="209548" cy="40011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Down Arrow 29">
            <a:extLst>
              <a:ext uri="{FF2B5EF4-FFF2-40B4-BE49-F238E27FC236}">
                <a16:creationId xmlns:a16="http://schemas.microsoft.com/office/drawing/2014/main" id="{09221482-B413-6B74-B8C7-F740A9F6A665}"/>
              </a:ext>
            </a:extLst>
          </p:cNvPr>
          <p:cNvSpPr/>
          <p:nvPr/>
        </p:nvSpPr>
        <p:spPr>
          <a:xfrm rot="387344">
            <a:off x="5115461" y="3847326"/>
            <a:ext cx="209548" cy="1188342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>
            <a:extLst>
              <a:ext uri="{FF2B5EF4-FFF2-40B4-BE49-F238E27FC236}">
                <a16:creationId xmlns:a16="http://schemas.microsoft.com/office/drawing/2014/main" id="{6A41ABB3-8C02-6605-6A82-248FEDA9185C}"/>
              </a:ext>
            </a:extLst>
          </p:cNvPr>
          <p:cNvSpPr/>
          <p:nvPr/>
        </p:nvSpPr>
        <p:spPr>
          <a:xfrm>
            <a:off x="9964442" y="5185731"/>
            <a:ext cx="209548" cy="549298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own Arrow 34">
            <a:extLst>
              <a:ext uri="{FF2B5EF4-FFF2-40B4-BE49-F238E27FC236}">
                <a16:creationId xmlns:a16="http://schemas.microsoft.com/office/drawing/2014/main" id="{CB74296F-1818-03F5-5B4A-3388288E7268}"/>
              </a:ext>
            </a:extLst>
          </p:cNvPr>
          <p:cNvSpPr/>
          <p:nvPr/>
        </p:nvSpPr>
        <p:spPr>
          <a:xfrm>
            <a:off x="9964442" y="3833396"/>
            <a:ext cx="209548" cy="417379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Down Arrow 35">
            <a:extLst>
              <a:ext uri="{FF2B5EF4-FFF2-40B4-BE49-F238E27FC236}">
                <a16:creationId xmlns:a16="http://schemas.microsoft.com/office/drawing/2014/main" id="{41551FE2-038A-42D5-CD6F-27EAEE11B0DD}"/>
              </a:ext>
            </a:extLst>
          </p:cNvPr>
          <p:cNvSpPr/>
          <p:nvPr/>
        </p:nvSpPr>
        <p:spPr>
          <a:xfrm rot="16494096">
            <a:off x="7608609" y="2643018"/>
            <a:ext cx="241601" cy="1151446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>
            <a:extLst>
              <a:ext uri="{FF2B5EF4-FFF2-40B4-BE49-F238E27FC236}">
                <a16:creationId xmlns:a16="http://schemas.microsoft.com/office/drawing/2014/main" id="{3B755A13-06CA-1402-A8E7-A78097DCFF76}"/>
              </a:ext>
            </a:extLst>
          </p:cNvPr>
          <p:cNvSpPr/>
          <p:nvPr/>
        </p:nvSpPr>
        <p:spPr>
          <a:xfrm rot="4025183" flipH="1">
            <a:off x="3184409" y="3492736"/>
            <a:ext cx="264573" cy="112707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0F17FE-D252-2380-76B2-B62A299F2119}"/>
              </a:ext>
            </a:extLst>
          </p:cNvPr>
          <p:cNvSpPr txBox="1"/>
          <p:nvPr/>
        </p:nvSpPr>
        <p:spPr>
          <a:xfrm>
            <a:off x="7791451" y="6284326"/>
            <a:ext cx="44386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Detachment → Invasion → Circulation → Colonisation</a:t>
            </a:r>
            <a:endParaRPr lang="en-US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3E140F-98CF-3F20-F4E2-EF0F2993A32E}"/>
              </a:ext>
            </a:extLst>
          </p:cNvPr>
          <p:cNvSpPr txBox="1"/>
          <p:nvPr/>
        </p:nvSpPr>
        <p:spPr>
          <a:xfrm>
            <a:off x="9126267" y="4800073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Benign → Malignant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AE277D-7969-1F82-4E33-D04BEC7B8DAF}"/>
              </a:ext>
            </a:extLst>
          </p:cNvPr>
          <p:cNvSpPr txBox="1"/>
          <p:nvPr/>
        </p:nvSpPr>
        <p:spPr>
          <a:xfrm>
            <a:off x="9126267" y="3433126"/>
            <a:ext cx="2569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Dysplasia → Neoplasia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94059D-96B2-F4A8-1889-FFA9C48DD9C0}"/>
              </a:ext>
            </a:extLst>
          </p:cNvPr>
          <p:cNvSpPr txBox="1"/>
          <p:nvPr/>
        </p:nvSpPr>
        <p:spPr>
          <a:xfrm>
            <a:off x="1847850" y="5628185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Necrosis (uncontrolled) or Apoptosis (programmed)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E061D1-90CA-F835-23B4-C019F30FC0AE}"/>
              </a:ext>
            </a:extLst>
          </p:cNvPr>
          <p:cNvSpPr txBox="1"/>
          <p:nvPr/>
        </p:nvSpPr>
        <p:spPr>
          <a:xfrm>
            <a:off x="438151" y="4506283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Swelling, fatty change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C3C130-B4DE-BF4B-5894-6F5CC4D7F7D9}"/>
              </a:ext>
            </a:extLst>
          </p:cNvPr>
          <p:cNvSpPr txBox="1"/>
          <p:nvPr/>
        </p:nvSpPr>
        <p:spPr>
          <a:xfrm>
            <a:off x="3495676" y="3396042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Hypertrophy, hyperplasia, atrophy, metaplasia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5975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EE0B6E2-7CE8-4D86-87FC-4B58A7D8E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C1276-E251-C607-A95D-7CE4AE291C85}"/>
              </a:ext>
            </a:extLst>
          </p:cNvPr>
          <p:cNvSpPr txBox="1"/>
          <p:nvPr/>
        </p:nvSpPr>
        <p:spPr>
          <a:xfrm>
            <a:off x="361950" y="424934"/>
            <a:ext cx="10001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Key Takeaways – Cell Death / Growth / Movement</a:t>
            </a:r>
            <a:endParaRPr lang="en-US" sz="2800" b="1" dirty="0">
              <a:latin typeface="Aptos" panose="020B00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27C6F3-665C-108E-1B87-A09A05560C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325434"/>
              </p:ext>
            </p:extLst>
          </p:nvPr>
        </p:nvGraphicFramePr>
        <p:xfrm>
          <a:off x="236601" y="1373088"/>
          <a:ext cx="11715750" cy="4647135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871307446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543180982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1235079242"/>
                    </a:ext>
                  </a:extLst>
                </a:gridCol>
              </a:tblGrid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 Cell Death</a:t>
                      </a:r>
                      <a:endParaRPr lang="en-GB" sz="18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 Abnormal Growth</a:t>
                      </a:r>
                      <a:endParaRPr lang="en-GB" sz="18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Cancer Movement (Metastasis)</a:t>
                      </a:r>
                      <a:endParaRPr lang="en-GB" sz="18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95417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Apoptosis</a:t>
                      </a:r>
                      <a:r>
                        <a:rPr lang="en-GB" sz="1800"/>
                        <a:t> – controlled, tidy, energy-dependent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Hypertrophy / Hyperplasia</a:t>
                      </a:r>
                      <a:r>
                        <a:rPr lang="en-GB" sz="1800"/>
                        <a:t> – adaptive growth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Detachment</a:t>
                      </a:r>
                      <a:r>
                        <a:rPr lang="en-GB" sz="1800"/>
                        <a:t> – loss of adhesion (↓ E-cadherin)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868510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Necrosis</a:t>
                      </a:r>
                      <a:r>
                        <a:rPr lang="en-GB" sz="1800"/>
                        <a:t> – uncontrolled, inflammatory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Metaplasia</a:t>
                      </a:r>
                      <a:r>
                        <a:rPr lang="en-GB" sz="1800"/>
                        <a:t> – reversible change of cell type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Invasion</a:t>
                      </a:r>
                      <a:r>
                        <a:rPr lang="en-GB" sz="1800"/>
                        <a:t> – enzyme-mediated tissue breakdown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435777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Autophagy</a:t>
                      </a:r>
                      <a:r>
                        <a:rPr lang="en-GB" sz="1800"/>
                        <a:t> – recycling for survival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Dysplasia → Neoplasia</a:t>
                      </a:r>
                      <a:r>
                        <a:rPr lang="en-GB" sz="1800"/>
                        <a:t> – disordered &amp; autonomous growth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Intravasation</a:t>
                      </a:r>
                      <a:r>
                        <a:rPr lang="en-GB" sz="1800"/>
                        <a:t> – entry into blood/lymph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06680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Reversible vs Irreversible injury</a:t>
                      </a:r>
                      <a:r>
                        <a:rPr lang="en-GB" sz="1800"/>
                        <a:t>determines recovery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Benign vs Malignant:</a:t>
                      </a:r>
                      <a:r>
                        <a:rPr lang="en-GB" sz="1800"/>
                        <a:t> benign = localised; malignant = invasive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Circulation &amp; Extravasation</a:t>
                      </a:r>
                      <a:r>
                        <a:rPr lang="en-GB" sz="1800"/>
                        <a:t> – survival and exit at new site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965997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Physio link:</a:t>
                      </a:r>
                      <a:r>
                        <a:rPr lang="en-GB" sz="1800"/>
                        <a:t> tissue recovery depends on degree of injury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Molecular control:</a:t>
                      </a:r>
                      <a:r>
                        <a:rPr lang="en-GB" sz="1800"/>
                        <a:t> oncogenes (gas) vs tumour suppressors (brakes)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Colonisation:</a:t>
                      </a:r>
                      <a:r>
                        <a:rPr lang="en-GB" sz="1800"/>
                        <a:t> secondary tumour forms → systemic disease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316180"/>
                  </a:ext>
                </a:extLst>
              </a:tr>
              <a:tr h="791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 </a:t>
                      </a:r>
                      <a:r>
                        <a:rPr lang="en-GB" sz="1800" b="1" i="1" dirty="0"/>
                        <a:t>Apoptosis</a:t>
                      </a:r>
                      <a:r>
                        <a:rPr lang="en-GB" sz="1800" i="1" dirty="0"/>
                        <a:t> = good stress adaptation</a:t>
                      </a:r>
                    </a:p>
                    <a:p>
                      <a:pPr>
                        <a:buNone/>
                      </a:pPr>
                      <a:r>
                        <a:rPr lang="en-GB" sz="1800" b="1" i="1" dirty="0"/>
                        <a:t>Necrosis</a:t>
                      </a:r>
                      <a:r>
                        <a:rPr lang="en-GB" sz="1800" i="1" dirty="0"/>
                        <a:t> = damage to avoid</a:t>
                      </a:r>
                      <a:endParaRPr lang="en-GB" sz="18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i="1" dirty="0"/>
                        <a:t>Adaptation can become pathology if stress persists</a:t>
                      </a:r>
                      <a:endParaRPr lang="en-GB" sz="18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i="1" dirty="0"/>
                        <a:t>Metastasis = key cause of cancer mortality</a:t>
                      </a:r>
                      <a:endParaRPr lang="en-GB" sz="18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169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8259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1C2723-7616-E707-CD75-E7743BCF7D51}"/>
              </a:ext>
            </a:extLst>
          </p:cNvPr>
          <p:cNvSpPr txBox="1"/>
          <p:nvPr/>
        </p:nvSpPr>
        <p:spPr>
          <a:xfrm>
            <a:off x="323850" y="520184"/>
            <a:ext cx="9677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i="0" u="none" strike="noStrike" dirty="0">
                <a:solidFill>
                  <a:srgbClr val="0070C0"/>
                </a:solidFill>
                <a:effectLst/>
              </a:rPr>
              <a:t>Quiz Time – Test Your Knowledge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D0967-CDEC-910E-17F3-2340C8ABD14A}"/>
              </a:ext>
            </a:extLst>
          </p:cNvPr>
          <p:cNvSpPr txBox="1"/>
          <p:nvPr/>
        </p:nvSpPr>
        <p:spPr>
          <a:xfrm>
            <a:off x="800100" y="1765638"/>
            <a:ext cx="96774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Which of the following best describes </a:t>
            </a:r>
            <a:r>
              <a:rPr lang="en-GB" sz="2800" b="1" i="1" u="none" strike="noStrike" dirty="0">
                <a:solidFill>
                  <a:srgbClr val="000000"/>
                </a:solidFill>
                <a:effectLst/>
              </a:rPr>
              <a:t>apoptosis</a:t>
            </a: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?</a:t>
            </a:r>
          </a:p>
          <a:p>
            <a:pPr algn="l">
              <a:buNone/>
            </a:pP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A. Uncontrolled cell death causing inflammation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B. Controlled, energy-dependent programmed cell death 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C. Necrosis of multiple tissues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D. Accidental rupture of the plasma membrane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DD725-46D9-3990-5854-E35AD1323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4724400"/>
            <a:ext cx="38100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643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holding a light bulb and a question mark&#10;&#10;AI-generated content may be incorrect.">
            <a:extLst>
              <a:ext uri="{FF2B5EF4-FFF2-40B4-BE49-F238E27FC236}">
                <a16:creationId xmlns:a16="http://schemas.microsoft.com/office/drawing/2014/main" id="{9FD31ED4-118F-E5FB-08B7-00C1DEBF6F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606" r="-1" b="19060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7234A83-B6EA-7C63-E5B4-B200D0D59D4D}"/>
              </a:ext>
            </a:extLst>
          </p:cNvPr>
          <p:cNvSpPr txBox="1"/>
          <p:nvPr/>
        </p:nvSpPr>
        <p:spPr>
          <a:xfrm>
            <a:off x="1802997" y="4600540"/>
            <a:ext cx="9284103" cy="1509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i="0" u="none" strike="noStrike" dirty="0">
                <a:solidFill>
                  <a:schemeClr val="tx2"/>
                </a:solidFill>
                <a:effectLst/>
              </a:rPr>
              <a:t>A muscle cell deprived of oxygen that swells but recovers after reperfusion has experienced: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b="0" i="0" u="none" strike="noStrike" dirty="0">
                <a:solidFill>
                  <a:schemeClr val="tx2"/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tx2"/>
                </a:solidFill>
                <a:effectLst/>
              </a:rPr>
              <a:t>A. Necrosis</a:t>
            </a:r>
            <a:br>
              <a:rPr lang="en-US" sz="2400" b="0" i="0" u="none" strike="noStrike" dirty="0">
                <a:solidFill>
                  <a:schemeClr val="tx2"/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tx2"/>
                </a:solidFill>
                <a:effectLst/>
              </a:rPr>
              <a:t>B. Apoptosis</a:t>
            </a:r>
            <a:br>
              <a:rPr lang="en-US" sz="2400" b="0" i="0" u="none" strike="noStrike" dirty="0">
                <a:solidFill>
                  <a:schemeClr val="tx2"/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tx2"/>
                </a:solidFill>
                <a:effectLst/>
              </a:rPr>
              <a:t>C. Reversible injury </a:t>
            </a:r>
            <a:br>
              <a:rPr lang="en-US" sz="2400" b="0" i="0" u="none" strike="noStrike" dirty="0">
                <a:solidFill>
                  <a:schemeClr val="tx2"/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tx2"/>
                </a:solidFill>
                <a:effectLst/>
              </a:rPr>
              <a:t>D. Dysplasia</a:t>
            </a:r>
          </a:p>
        </p:txBody>
      </p:sp>
    </p:spTree>
    <p:extLst>
      <p:ext uri="{BB962C8B-B14F-4D97-AF65-F5344CB8AC3E}">
        <p14:creationId xmlns:p14="http://schemas.microsoft.com/office/powerpoint/2010/main" val="4892216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hild with glasses and question marks above her head&#10;&#10;AI-generated content may be incorrect.">
            <a:extLst>
              <a:ext uri="{FF2B5EF4-FFF2-40B4-BE49-F238E27FC236}">
                <a16:creationId xmlns:a16="http://schemas.microsoft.com/office/drawing/2014/main" id="{DD184405-018B-4134-FDC7-0649D778C6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75" r="15874" b="-2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5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9BAA8-C2C4-C6C5-87D5-F7662BBF1410}"/>
              </a:ext>
            </a:extLst>
          </p:cNvPr>
          <p:cNvSpPr txBox="1"/>
          <p:nvPr/>
        </p:nvSpPr>
        <p:spPr>
          <a:xfrm>
            <a:off x="6620784" y="1562696"/>
            <a:ext cx="4833132" cy="29138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Which of the following represents an </a:t>
            </a:r>
            <a:r>
              <a:rPr lang="en-US" sz="2400" b="1" i="1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adaptive</a:t>
            </a:r>
            <a:r>
              <a:rPr lang="en-US" sz="2400" b="1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 cellular response to stress?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A. Necrosis</a:t>
            </a:r>
            <a:br>
              <a:rPr lang="en-US" sz="2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B. Hypertrophy </a:t>
            </a:r>
            <a:br>
              <a:rPr lang="en-US" sz="2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C. Metastasis</a:t>
            </a:r>
            <a:br>
              <a:rPr lang="en-US" sz="2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</a:br>
            <a:r>
              <a:rPr lang="en-US" sz="2400" b="0" i="0" u="none" strike="noStrike" dirty="0">
                <a:solidFill>
                  <a:schemeClr val="tx1">
                    <a:alpha val="80000"/>
                  </a:schemeClr>
                </a:solidFill>
                <a:effectLst/>
              </a:rPr>
              <a:t>D. Karyolysis</a:t>
            </a:r>
          </a:p>
        </p:txBody>
      </p:sp>
      <p:sp>
        <p:nvSpPr>
          <p:cNvPr id="19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1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6964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30C72-07BC-0F3D-2EF7-D14F50A4DA44}"/>
              </a:ext>
            </a:extLst>
          </p:cNvPr>
          <p:cNvSpPr txBox="1"/>
          <p:nvPr/>
        </p:nvSpPr>
        <p:spPr>
          <a:xfrm>
            <a:off x="182880" y="3071307"/>
            <a:ext cx="5455920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i="0" u="none" strike="noStrike" dirty="0">
                <a:effectLst/>
              </a:rPr>
              <a:t>What key feature distinguishes </a:t>
            </a:r>
            <a:r>
              <a:rPr lang="en-US" sz="2000" b="1" i="1" u="none" strike="noStrike" dirty="0">
                <a:effectLst/>
              </a:rPr>
              <a:t>neoplasia</a:t>
            </a:r>
            <a:r>
              <a:rPr lang="en-US" sz="2000" b="1" i="0" u="none" strike="noStrike" dirty="0">
                <a:effectLst/>
              </a:rPr>
              <a:t> from </a:t>
            </a:r>
            <a:r>
              <a:rPr lang="en-US" sz="2000" b="1" i="1" u="none" strike="noStrike" dirty="0">
                <a:effectLst/>
              </a:rPr>
              <a:t>hyperplasia</a:t>
            </a:r>
            <a:r>
              <a:rPr lang="en-US" sz="2000" b="1" i="0" u="none" strike="noStrike" dirty="0">
                <a:effectLst/>
              </a:rPr>
              <a:t>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000" b="0" i="0" u="none" strike="noStrike" dirty="0">
                <a:effectLst/>
              </a:rPr>
            </a:br>
            <a:r>
              <a:rPr lang="en-US" sz="2000" b="0" i="0" u="none" strike="noStrike" dirty="0">
                <a:effectLst/>
              </a:rPr>
              <a:t>A. Neoplasia depends on growth factors</a:t>
            </a:r>
            <a:br>
              <a:rPr lang="en-US" sz="2000" b="0" i="0" u="none" strike="noStrike" dirty="0">
                <a:effectLst/>
              </a:rPr>
            </a:br>
            <a:r>
              <a:rPr lang="en-US" sz="2000" b="0" i="0" u="none" strike="noStrike" dirty="0">
                <a:effectLst/>
              </a:rPr>
              <a:t>B. Neoplasia is reversible</a:t>
            </a:r>
            <a:br>
              <a:rPr lang="en-US" sz="2000" b="0" i="0" u="none" strike="noStrike" dirty="0">
                <a:effectLst/>
              </a:rPr>
            </a:br>
            <a:r>
              <a:rPr lang="en-US" sz="2000" b="0" i="0" u="none" strike="noStrike" dirty="0">
                <a:effectLst/>
              </a:rPr>
              <a:t>C. Neoplasia continues even after stimulus removal </a:t>
            </a:r>
            <a:br>
              <a:rPr lang="en-US" sz="2000" b="0" i="0" u="none" strike="noStrike" dirty="0">
                <a:effectLst/>
              </a:rPr>
            </a:br>
            <a:r>
              <a:rPr lang="en-US" sz="2000" b="0" i="0" u="none" strike="noStrike" dirty="0">
                <a:effectLst/>
              </a:rPr>
              <a:t>D. Neoplasia occurs only in connective tissue</a:t>
            </a:r>
          </a:p>
        </p:txBody>
      </p:sp>
      <p:pic>
        <p:nvPicPr>
          <p:cNvPr id="6" name="Picture 5" descr="A person's head with question marks above her head&#10;&#10;AI-generated content may be incorrect.">
            <a:extLst>
              <a:ext uri="{FF2B5EF4-FFF2-40B4-BE49-F238E27FC236}">
                <a16:creationId xmlns:a16="http://schemas.microsoft.com/office/drawing/2014/main" id="{917F2B51-381D-BD58-23A2-7433022B4D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53" r="23639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579593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239636-9FC6-96EE-63E9-68510148EB7D}"/>
              </a:ext>
            </a:extLst>
          </p:cNvPr>
          <p:cNvSpPr txBox="1"/>
          <p:nvPr/>
        </p:nvSpPr>
        <p:spPr>
          <a:xfrm>
            <a:off x="857250" y="1041738"/>
            <a:ext cx="1011555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The tumour suppressor gene p53 functions primarily to:</a:t>
            </a:r>
          </a:p>
          <a:p>
            <a:pPr algn="l">
              <a:buNone/>
            </a:pP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A. Stimulate angiogenesis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B. Promote apoptosis after DNA damage 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C. Repair extracellular matrix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D. Activate telomerase</a:t>
            </a:r>
          </a:p>
          <a:p>
            <a:pPr algn="l">
              <a:buNone/>
            </a:pP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 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657289-E024-7D83-F1C5-F97C3B6D4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592" y="4150281"/>
            <a:ext cx="32004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9422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B99E4F-A355-7B38-87C4-95BC974C584E}"/>
              </a:ext>
            </a:extLst>
          </p:cNvPr>
          <p:cNvSpPr txBox="1"/>
          <p:nvPr/>
        </p:nvSpPr>
        <p:spPr>
          <a:xfrm>
            <a:off x="666750" y="1213188"/>
            <a:ext cx="105537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During metastasis, </a:t>
            </a:r>
            <a:r>
              <a:rPr lang="en-GB" sz="2800" b="1" i="1" u="none" strike="noStrike" dirty="0">
                <a:solidFill>
                  <a:srgbClr val="000000"/>
                </a:solidFill>
                <a:effectLst/>
              </a:rPr>
              <a:t>E-cadherin loss</a:t>
            </a: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 leads to:</a:t>
            </a:r>
          </a:p>
          <a:p>
            <a:pPr algn="l">
              <a:buNone/>
            </a:pP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A. Increased adhesion between tumour cells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B. Enhanced cell-to-cell communication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C. Detachment and increased invasiveness 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D. Cell death via apoptosis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06C19A-35A6-9302-AD6A-81CBF19F1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800" y="3752849"/>
            <a:ext cx="3721100" cy="298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16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8B9B25-A1C4-0760-321A-F2634E1037F3}"/>
              </a:ext>
            </a:extLst>
          </p:cNvPr>
          <p:cNvSpPr txBox="1"/>
          <p:nvPr/>
        </p:nvSpPr>
        <p:spPr>
          <a:xfrm>
            <a:off x="457200" y="1597789"/>
            <a:ext cx="1186815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sz="2800" b="1" i="0" u="none" strike="noStrike" dirty="0">
                <a:solidFill>
                  <a:srgbClr val="000000"/>
                </a:solidFill>
                <a:effectLst/>
              </a:rPr>
              <a:t>In physiotherapy, which of the following is the most important precaution when working with a patient with bone metastases?</a:t>
            </a:r>
          </a:p>
          <a:p>
            <a:pPr algn="l">
              <a:buNone/>
            </a:pP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A. Encourage resistance training for bone strength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B. Apply heat therapy to the affected site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C. Avoid high-load or impact exercises </a:t>
            </a:r>
            <a:br>
              <a:rPr lang="en-GB" sz="2800" b="0" i="0" u="none" strike="noStrike" dirty="0">
                <a:solidFill>
                  <a:srgbClr val="000000"/>
                </a:solidFill>
                <a:effectLst/>
              </a:rPr>
            </a:br>
            <a:r>
              <a:rPr lang="en-GB" sz="2800" b="0" i="0" u="none" strike="noStrike" dirty="0">
                <a:solidFill>
                  <a:srgbClr val="000000"/>
                </a:solidFill>
                <a:effectLst/>
              </a:rPr>
              <a:t>D. Perform spinal mobilisation for pain relief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818327-0DE1-3DC4-4FB9-14B4CBF2B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4362450"/>
            <a:ext cx="35052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654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notebook with a notepad and a plant and glasses&#10;&#10;AI-generated content may be incorrect.">
            <a:extLst>
              <a:ext uri="{FF2B5EF4-FFF2-40B4-BE49-F238E27FC236}">
                <a16:creationId xmlns:a16="http://schemas.microsoft.com/office/drawing/2014/main" id="{2943186A-EF0F-7E69-BE4D-244D93F514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16" b="4200"/>
          <a:stretch>
            <a:fillRect/>
          </a:stretch>
        </p:blipFill>
        <p:spPr>
          <a:xfrm>
            <a:off x="307775" y="261437"/>
            <a:ext cx="11576450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89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2871</TotalTime>
  <Words>4705</Words>
  <Application>Microsoft Macintosh PowerPoint</Application>
  <PresentationFormat>Widescreen</PresentationFormat>
  <Paragraphs>754</Paragraphs>
  <Slides>61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-webkit-standard</vt:lpstr>
      <vt:lpstr>Aptos</vt:lpstr>
      <vt:lpstr>Aptos Display</vt:lpstr>
      <vt:lpstr>Arial</vt:lpstr>
      <vt:lpstr>Chalkboard SE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Liani Gasparini Devito</dc:creator>
  <cp:lastModifiedBy>Liani Gasparini Devito</cp:lastModifiedBy>
  <cp:revision>149</cp:revision>
  <dcterms:created xsi:type="dcterms:W3CDTF">2025-10-11T17:19:48Z</dcterms:created>
  <dcterms:modified xsi:type="dcterms:W3CDTF">2025-10-13T17:12:11Z</dcterms:modified>
</cp:coreProperties>
</file>