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81" r:id="rId21"/>
    <p:sldId id="282" r:id="rId22"/>
    <p:sldId id="275" r:id="rId23"/>
    <p:sldId id="276" r:id="rId24"/>
    <p:sldId id="277" r:id="rId25"/>
    <p:sldId id="278" r:id="rId26"/>
    <p:sldId id="279" r:id="rId27"/>
    <p:sldId id="280" r:id="rId2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98" d="100"/>
          <a:sy n="98" d="100"/>
        </p:scale>
        <p:origin x="48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15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1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1C30F4E-9990-49C7-86CC-1072FDF63674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1DA0DEE-C28E-4D62-AA0C-3768B7AF4308}">
      <dgm:prSet/>
      <dgm:spPr/>
      <dgm:t>
        <a:bodyPr/>
        <a:lstStyle/>
        <a:p>
          <a:r>
            <a:rPr lang="en-US"/>
            <a:t>Appraise - Critically appraise qualitative research using a structured critical appraisal tool.</a:t>
          </a:r>
        </a:p>
      </dgm:t>
    </dgm:pt>
    <dgm:pt modelId="{073A93FA-5984-4F8B-9189-AB2C445BB644}" type="parTrans" cxnId="{63681BF9-E08E-47D6-921C-0B470DA1049F}">
      <dgm:prSet/>
      <dgm:spPr/>
      <dgm:t>
        <a:bodyPr/>
        <a:lstStyle/>
        <a:p>
          <a:endParaRPr lang="en-US"/>
        </a:p>
      </dgm:t>
    </dgm:pt>
    <dgm:pt modelId="{9852B3A4-A866-4711-BEE3-77D006F191DD}" type="sibTrans" cxnId="{63681BF9-E08E-47D6-921C-0B470DA1049F}">
      <dgm:prSet/>
      <dgm:spPr/>
      <dgm:t>
        <a:bodyPr/>
        <a:lstStyle/>
        <a:p>
          <a:endParaRPr lang="en-US"/>
        </a:p>
      </dgm:t>
    </dgm:pt>
    <dgm:pt modelId="{E1807421-10B9-46BE-8DFD-0287D76CB3B6}">
      <dgm:prSet/>
      <dgm:spPr/>
      <dgm:t>
        <a:bodyPr/>
        <a:lstStyle/>
        <a:p>
          <a:r>
            <a:rPr lang="en-US"/>
            <a:t>Assess - Assess rigour and quality in qualitative research.</a:t>
          </a:r>
        </a:p>
      </dgm:t>
    </dgm:pt>
    <dgm:pt modelId="{DD6F02CA-7D49-445B-920B-0707E9EAC525}" type="parTrans" cxnId="{BF41FB19-6384-4A0D-AEAC-CA267CB5B2DA}">
      <dgm:prSet/>
      <dgm:spPr/>
      <dgm:t>
        <a:bodyPr/>
        <a:lstStyle/>
        <a:p>
          <a:endParaRPr lang="en-US"/>
        </a:p>
      </dgm:t>
    </dgm:pt>
    <dgm:pt modelId="{C7184AB1-9281-43FB-BB12-5166199E0E70}" type="sibTrans" cxnId="{BF41FB19-6384-4A0D-AEAC-CA267CB5B2DA}">
      <dgm:prSet/>
      <dgm:spPr/>
      <dgm:t>
        <a:bodyPr/>
        <a:lstStyle/>
        <a:p>
          <a:endParaRPr lang="en-US"/>
        </a:p>
      </dgm:t>
    </dgm:pt>
    <dgm:pt modelId="{77D705F3-AE08-4240-9915-78A259BDE137}">
      <dgm:prSet/>
      <dgm:spPr/>
      <dgm:t>
        <a:bodyPr/>
        <a:lstStyle/>
        <a:p>
          <a:r>
            <a:rPr lang="en-US"/>
            <a:t>Understand - Understand the role of critical appraisal in making research-based</a:t>
          </a:r>
        </a:p>
      </dgm:t>
    </dgm:pt>
    <dgm:pt modelId="{26FA3ADF-4011-4FC2-9F17-B80CD49F8FB1}" type="parTrans" cxnId="{76EF1445-0940-4C5A-A180-36AC9E270D56}">
      <dgm:prSet/>
      <dgm:spPr/>
      <dgm:t>
        <a:bodyPr/>
        <a:lstStyle/>
        <a:p>
          <a:endParaRPr lang="en-US"/>
        </a:p>
      </dgm:t>
    </dgm:pt>
    <dgm:pt modelId="{4B0E66BF-BA75-43F4-8E90-24374EE44447}" type="sibTrans" cxnId="{76EF1445-0940-4C5A-A180-36AC9E270D56}">
      <dgm:prSet/>
      <dgm:spPr/>
      <dgm:t>
        <a:bodyPr/>
        <a:lstStyle/>
        <a:p>
          <a:endParaRPr lang="en-US"/>
        </a:p>
      </dgm:t>
    </dgm:pt>
    <dgm:pt modelId="{11CC22A4-9B17-4B6F-BB1F-1F118A52C926}">
      <dgm:prSet/>
      <dgm:spPr/>
      <dgm:t>
        <a:bodyPr/>
        <a:lstStyle/>
        <a:p>
          <a:r>
            <a:rPr lang="en-US"/>
            <a:t>decisions.</a:t>
          </a:r>
        </a:p>
      </dgm:t>
    </dgm:pt>
    <dgm:pt modelId="{152DAC8D-56DC-4E8C-AA91-F2C544902DAF}" type="parTrans" cxnId="{50870980-1AC9-43BD-AA75-76CCAD956D39}">
      <dgm:prSet/>
      <dgm:spPr/>
      <dgm:t>
        <a:bodyPr/>
        <a:lstStyle/>
        <a:p>
          <a:endParaRPr lang="en-US"/>
        </a:p>
      </dgm:t>
    </dgm:pt>
    <dgm:pt modelId="{93E056C2-C675-4AEB-A9A0-1D58664AE4A6}" type="sibTrans" cxnId="{50870980-1AC9-43BD-AA75-76CCAD956D39}">
      <dgm:prSet/>
      <dgm:spPr/>
      <dgm:t>
        <a:bodyPr/>
        <a:lstStyle/>
        <a:p>
          <a:endParaRPr lang="en-US"/>
        </a:p>
      </dgm:t>
    </dgm:pt>
    <dgm:pt modelId="{AA4DBD94-B6E0-45F9-9B76-4C05ACC1EA58}">
      <dgm:prSet/>
      <dgm:spPr/>
      <dgm:t>
        <a:bodyPr/>
        <a:lstStyle/>
        <a:p>
          <a:r>
            <a:rPr lang="en-US"/>
            <a:t>Apply - Apply the CASP Qualitative Checklist in evaluating research studies</a:t>
          </a:r>
        </a:p>
      </dgm:t>
    </dgm:pt>
    <dgm:pt modelId="{7F21D8CB-A537-47DB-A38E-DC4C26646EB6}" type="parTrans" cxnId="{533987BC-CFF1-4F83-A287-A70FBF45EF72}">
      <dgm:prSet/>
      <dgm:spPr/>
      <dgm:t>
        <a:bodyPr/>
        <a:lstStyle/>
        <a:p>
          <a:endParaRPr lang="en-US"/>
        </a:p>
      </dgm:t>
    </dgm:pt>
    <dgm:pt modelId="{CC49947D-B294-4302-A665-0126A1D09120}" type="sibTrans" cxnId="{533987BC-CFF1-4F83-A287-A70FBF45EF72}">
      <dgm:prSet/>
      <dgm:spPr/>
      <dgm:t>
        <a:bodyPr/>
        <a:lstStyle/>
        <a:p>
          <a:endParaRPr lang="en-US"/>
        </a:p>
      </dgm:t>
    </dgm:pt>
    <dgm:pt modelId="{8A6D2441-5E5A-4E3E-B661-F99504D9AAA3}" type="pres">
      <dgm:prSet presAssocID="{41C30F4E-9990-49C7-86CC-1072FDF63674}" presName="vert0" presStyleCnt="0">
        <dgm:presLayoutVars>
          <dgm:dir/>
          <dgm:animOne val="branch"/>
          <dgm:animLvl val="lvl"/>
        </dgm:presLayoutVars>
      </dgm:prSet>
      <dgm:spPr/>
    </dgm:pt>
    <dgm:pt modelId="{11E38A10-41E9-4A76-ABC1-21F5207A27CA}" type="pres">
      <dgm:prSet presAssocID="{91DA0DEE-C28E-4D62-AA0C-3768B7AF4308}" presName="thickLine" presStyleLbl="alignNode1" presStyleIdx="0" presStyleCnt="5"/>
      <dgm:spPr/>
    </dgm:pt>
    <dgm:pt modelId="{AF9ADB14-1973-430D-9F69-23A3B9FFA092}" type="pres">
      <dgm:prSet presAssocID="{91DA0DEE-C28E-4D62-AA0C-3768B7AF4308}" presName="horz1" presStyleCnt="0"/>
      <dgm:spPr/>
    </dgm:pt>
    <dgm:pt modelId="{D2E69241-CC12-446B-8F85-2F6A1164C3B8}" type="pres">
      <dgm:prSet presAssocID="{91DA0DEE-C28E-4D62-AA0C-3768B7AF4308}" presName="tx1" presStyleLbl="revTx" presStyleIdx="0" presStyleCnt="5"/>
      <dgm:spPr/>
    </dgm:pt>
    <dgm:pt modelId="{9C71CA55-1F35-4F87-9129-245B7002159F}" type="pres">
      <dgm:prSet presAssocID="{91DA0DEE-C28E-4D62-AA0C-3768B7AF4308}" presName="vert1" presStyleCnt="0"/>
      <dgm:spPr/>
    </dgm:pt>
    <dgm:pt modelId="{8F608EEF-99F4-47AB-96AA-95E01D8006E0}" type="pres">
      <dgm:prSet presAssocID="{E1807421-10B9-46BE-8DFD-0287D76CB3B6}" presName="thickLine" presStyleLbl="alignNode1" presStyleIdx="1" presStyleCnt="5"/>
      <dgm:spPr/>
    </dgm:pt>
    <dgm:pt modelId="{FC2BA5EF-CEFC-4A1D-BAB4-8B5C4623D7D3}" type="pres">
      <dgm:prSet presAssocID="{E1807421-10B9-46BE-8DFD-0287D76CB3B6}" presName="horz1" presStyleCnt="0"/>
      <dgm:spPr/>
    </dgm:pt>
    <dgm:pt modelId="{641A57E8-38C7-4350-9776-1A8DB4A2FE1A}" type="pres">
      <dgm:prSet presAssocID="{E1807421-10B9-46BE-8DFD-0287D76CB3B6}" presName="tx1" presStyleLbl="revTx" presStyleIdx="1" presStyleCnt="5"/>
      <dgm:spPr/>
    </dgm:pt>
    <dgm:pt modelId="{44351D2F-0C89-45CB-A4EB-A0611D17B83B}" type="pres">
      <dgm:prSet presAssocID="{E1807421-10B9-46BE-8DFD-0287D76CB3B6}" presName="vert1" presStyleCnt="0"/>
      <dgm:spPr/>
    </dgm:pt>
    <dgm:pt modelId="{6C7D7BA3-8465-4CF1-916D-837747DF6B03}" type="pres">
      <dgm:prSet presAssocID="{77D705F3-AE08-4240-9915-78A259BDE137}" presName="thickLine" presStyleLbl="alignNode1" presStyleIdx="2" presStyleCnt="5"/>
      <dgm:spPr/>
    </dgm:pt>
    <dgm:pt modelId="{16F12BB0-73D0-40E3-A884-8178610A74AD}" type="pres">
      <dgm:prSet presAssocID="{77D705F3-AE08-4240-9915-78A259BDE137}" presName="horz1" presStyleCnt="0"/>
      <dgm:spPr/>
    </dgm:pt>
    <dgm:pt modelId="{278AFB29-14AE-42FC-AC68-C580BEC93F4B}" type="pres">
      <dgm:prSet presAssocID="{77D705F3-AE08-4240-9915-78A259BDE137}" presName="tx1" presStyleLbl="revTx" presStyleIdx="2" presStyleCnt="5"/>
      <dgm:spPr/>
    </dgm:pt>
    <dgm:pt modelId="{89C8B989-D54D-4A02-A181-AAC7E5E5F610}" type="pres">
      <dgm:prSet presAssocID="{77D705F3-AE08-4240-9915-78A259BDE137}" presName="vert1" presStyleCnt="0"/>
      <dgm:spPr/>
    </dgm:pt>
    <dgm:pt modelId="{3AE957B9-D8ED-403C-8829-3AC48D72E154}" type="pres">
      <dgm:prSet presAssocID="{11CC22A4-9B17-4B6F-BB1F-1F118A52C926}" presName="thickLine" presStyleLbl="alignNode1" presStyleIdx="3" presStyleCnt="5"/>
      <dgm:spPr/>
    </dgm:pt>
    <dgm:pt modelId="{EDCC8829-F8C3-4EEE-BA0C-3B20C64B4966}" type="pres">
      <dgm:prSet presAssocID="{11CC22A4-9B17-4B6F-BB1F-1F118A52C926}" presName="horz1" presStyleCnt="0"/>
      <dgm:spPr/>
    </dgm:pt>
    <dgm:pt modelId="{AF5906BA-E301-4B1A-9BCA-FC9A0CAE08CA}" type="pres">
      <dgm:prSet presAssocID="{11CC22A4-9B17-4B6F-BB1F-1F118A52C926}" presName="tx1" presStyleLbl="revTx" presStyleIdx="3" presStyleCnt="5"/>
      <dgm:spPr/>
    </dgm:pt>
    <dgm:pt modelId="{FAEC5B7A-C8FA-4109-B9BF-FF9B5944478D}" type="pres">
      <dgm:prSet presAssocID="{11CC22A4-9B17-4B6F-BB1F-1F118A52C926}" presName="vert1" presStyleCnt="0"/>
      <dgm:spPr/>
    </dgm:pt>
    <dgm:pt modelId="{46B267EB-4706-4291-90D1-55321C75FB3F}" type="pres">
      <dgm:prSet presAssocID="{AA4DBD94-B6E0-45F9-9B76-4C05ACC1EA58}" presName="thickLine" presStyleLbl="alignNode1" presStyleIdx="4" presStyleCnt="5"/>
      <dgm:spPr/>
    </dgm:pt>
    <dgm:pt modelId="{C5C3C2B1-B329-4DA8-8385-2BCC1C26F571}" type="pres">
      <dgm:prSet presAssocID="{AA4DBD94-B6E0-45F9-9B76-4C05ACC1EA58}" presName="horz1" presStyleCnt="0"/>
      <dgm:spPr/>
    </dgm:pt>
    <dgm:pt modelId="{CFD29C13-C5F4-4050-AABC-BC507C931347}" type="pres">
      <dgm:prSet presAssocID="{AA4DBD94-B6E0-45F9-9B76-4C05ACC1EA58}" presName="tx1" presStyleLbl="revTx" presStyleIdx="4" presStyleCnt="5"/>
      <dgm:spPr/>
    </dgm:pt>
    <dgm:pt modelId="{8FE4B256-4DFC-47F0-B5A5-D7229B8A6130}" type="pres">
      <dgm:prSet presAssocID="{AA4DBD94-B6E0-45F9-9B76-4C05ACC1EA58}" presName="vert1" presStyleCnt="0"/>
      <dgm:spPr/>
    </dgm:pt>
  </dgm:ptLst>
  <dgm:cxnLst>
    <dgm:cxn modelId="{BF41FB19-6384-4A0D-AEAC-CA267CB5B2DA}" srcId="{41C30F4E-9990-49C7-86CC-1072FDF63674}" destId="{E1807421-10B9-46BE-8DFD-0287D76CB3B6}" srcOrd="1" destOrd="0" parTransId="{DD6F02CA-7D49-445B-920B-0707E9EAC525}" sibTransId="{C7184AB1-9281-43FB-BB12-5166199E0E70}"/>
    <dgm:cxn modelId="{76EF1445-0940-4C5A-A180-36AC9E270D56}" srcId="{41C30F4E-9990-49C7-86CC-1072FDF63674}" destId="{77D705F3-AE08-4240-9915-78A259BDE137}" srcOrd="2" destOrd="0" parTransId="{26FA3ADF-4011-4FC2-9F17-B80CD49F8FB1}" sibTransId="{4B0E66BF-BA75-43F4-8E90-24374EE44447}"/>
    <dgm:cxn modelId="{9986D076-FAE6-4C4D-83FD-5CF77109D98D}" type="presOf" srcId="{91DA0DEE-C28E-4D62-AA0C-3768B7AF4308}" destId="{D2E69241-CC12-446B-8F85-2F6A1164C3B8}" srcOrd="0" destOrd="0" presId="urn:microsoft.com/office/officeart/2008/layout/LinedList"/>
    <dgm:cxn modelId="{50870980-1AC9-43BD-AA75-76CCAD956D39}" srcId="{41C30F4E-9990-49C7-86CC-1072FDF63674}" destId="{11CC22A4-9B17-4B6F-BB1F-1F118A52C926}" srcOrd="3" destOrd="0" parTransId="{152DAC8D-56DC-4E8C-AA91-F2C544902DAF}" sibTransId="{93E056C2-C675-4AEB-A9A0-1D58664AE4A6}"/>
    <dgm:cxn modelId="{AAD53E98-12C0-49F5-88CB-552C55A72C37}" type="presOf" srcId="{77D705F3-AE08-4240-9915-78A259BDE137}" destId="{278AFB29-14AE-42FC-AC68-C580BEC93F4B}" srcOrd="0" destOrd="0" presId="urn:microsoft.com/office/officeart/2008/layout/LinedList"/>
    <dgm:cxn modelId="{E84690B3-5C36-4752-B332-7218B9DC5FC4}" type="presOf" srcId="{AA4DBD94-B6E0-45F9-9B76-4C05ACC1EA58}" destId="{CFD29C13-C5F4-4050-AABC-BC507C931347}" srcOrd="0" destOrd="0" presId="urn:microsoft.com/office/officeart/2008/layout/LinedList"/>
    <dgm:cxn modelId="{4F3D72B8-62F3-407C-B482-3291C07CBDBA}" type="presOf" srcId="{11CC22A4-9B17-4B6F-BB1F-1F118A52C926}" destId="{AF5906BA-E301-4B1A-9BCA-FC9A0CAE08CA}" srcOrd="0" destOrd="0" presId="urn:microsoft.com/office/officeart/2008/layout/LinedList"/>
    <dgm:cxn modelId="{533987BC-CFF1-4F83-A287-A70FBF45EF72}" srcId="{41C30F4E-9990-49C7-86CC-1072FDF63674}" destId="{AA4DBD94-B6E0-45F9-9B76-4C05ACC1EA58}" srcOrd="4" destOrd="0" parTransId="{7F21D8CB-A537-47DB-A38E-DC4C26646EB6}" sibTransId="{CC49947D-B294-4302-A665-0126A1D09120}"/>
    <dgm:cxn modelId="{6E8211C2-8AA4-42CD-8714-9D6BCC633F2D}" type="presOf" srcId="{41C30F4E-9990-49C7-86CC-1072FDF63674}" destId="{8A6D2441-5E5A-4E3E-B661-F99504D9AAA3}" srcOrd="0" destOrd="0" presId="urn:microsoft.com/office/officeart/2008/layout/LinedList"/>
    <dgm:cxn modelId="{0295D9E3-5586-44DB-9682-BCC00B3997AD}" type="presOf" srcId="{E1807421-10B9-46BE-8DFD-0287D76CB3B6}" destId="{641A57E8-38C7-4350-9776-1A8DB4A2FE1A}" srcOrd="0" destOrd="0" presId="urn:microsoft.com/office/officeart/2008/layout/LinedList"/>
    <dgm:cxn modelId="{63681BF9-E08E-47D6-921C-0B470DA1049F}" srcId="{41C30F4E-9990-49C7-86CC-1072FDF63674}" destId="{91DA0DEE-C28E-4D62-AA0C-3768B7AF4308}" srcOrd="0" destOrd="0" parTransId="{073A93FA-5984-4F8B-9189-AB2C445BB644}" sibTransId="{9852B3A4-A866-4711-BEE3-77D006F191DD}"/>
    <dgm:cxn modelId="{793840AD-BCDB-44A5-922F-8CD6F75CCF32}" type="presParOf" srcId="{8A6D2441-5E5A-4E3E-B661-F99504D9AAA3}" destId="{11E38A10-41E9-4A76-ABC1-21F5207A27CA}" srcOrd="0" destOrd="0" presId="urn:microsoft.com/office/officeart/2008/layout/LinedList"/>
    <dgm:cxn modelId="{104C0ADF-8CDF-4D29-8687-FDD592A76C7A}" type="presParOf" srcId="{8A6D2441-5E5A-4E3E-B661-F99504D9AAA3}" destId="{AF9ADB14-1973-430D-9F69-23A3B9FFA092}" srcOrd="1" destOrd="0" presId="urn:microsoft.com/office/officeart/2008/layout/LinedList"/>
    <dgm:cxn modelId="{C6E7DF3B-F5B6-497C-9F75-36B5F8ACB77F}" type="presParOf" srcId="{AF9ADB14-1973-430D-9F69-23A3B9FFA092}" destId="{D2E69241-CC12-446B-8F85-2F6A1164C3B8}" srcOrd="0" destOrd="0" presId="urn:microsoft.com/office/officeart/2008/layout/LinedList"/>
    <dgm:cxn modelId="{4BFF7E2B-CA5D-4FFA-B0F1-21CB5146CEFB}" type="presParOf" srcId="{AF9ADB14-1973-430D-9F69-23A3B9FFA092}" destId="{9C71CA55-1F35-4F87-9129-245B7002159F}" srcOrd="1" destOrd="0" presId="urn:microsoft.com/office/officeart/2008/layout/LinedList"/>
    <dgm:cxn modelId="{E02EB312-6A4B-4C92-B818-A049E909D613}" type="presParOf" srcId="{8A6D2441-5E5A-4E3E-B661-F99504D9AAA3}" destId="{8F608EEF-99F4-47AB-96AA-95E01D8006E0}" srcOrd="2" destOrd="0" presId="urn:microsoft.com/office/officeart/2008/layout/LinedList"/>
    <dgm:cxn modelId="{68420224-DBAA-4261-92EE-1E1804AA5CBF}" type="presParOf" srcId="{8A6D2441-5E5A-4E3E-B661-F99504D9AAA3}" destId="{FC2BA5EF-CEFC-4A1D-BAB4-8B5C4623D7D3}" srcOrd="3" destOrd="0" presId="urn:microsoft.com/office/officeart/2008/layout/LinedList"/>
    <dgm:cxn modelId="{E563DA64-B546-46C8-AED4-A6B84257D802}" type="presParOf" srcId="{FC2BA5EF-CEFC-4A1D-BAB4-8B5C4623D7D3}" destId="{641A57E8-38C7-4350-9776-1A8DB4A2FE1A}" srcOrd="0" destOrd="0" presId="urn:microsoft.com/office/officeart/2008/layout/LinedList"/>
    <dgm:cxn modelId="{9B5DF701-0734-4974-8890-E5FA9D48A654}" type="presParOf" srcId="{FC2BA5EF-CEFC-4A1D-BAB4-8B5C4623D7D3}" destId="{44351D2F-0C89-45CB-A4EB-A0611D17B83B}" srcOrd="1" destOrd="0" presId="urn:microsoft.com/office/officeart/2008/layout/LinedList"/>
    <dgm:cxn modelId="{393DD991-6445-46B4-95E3-0B001D8FC045}" type="presParOf" srcId="{8A6D2441-5E5A-4E3E-B661-F99504D9AAA3}" destId="{6C7D7BA3-8465-4CF1-916D-837747DF6B03}" srcOrd="4" destOrd="0" presId="urn:microsoft.com/office/officeart/2008/layout/LinedList"/>
    <dgm:cxn modelId="{5FAED240-4080-4390-9BBC-529DB18C9138}" type="presParOf" srcId="{8A6D2441-5E5A-4E3E-B661-F99504D9AAA3}" destId="{16F12BB0-73D0-40E3-A884-8178610A74AD}" srcOrd="5" destOrd="0" presId="urn:microsoft.com/office/officeart/2008/layout/LinedList"/>
    <dgm:cxn modelId="{6CBB13D2-E551-4209-B702-A8DF4335027D}" type="presParOf" srcId="{16F12BB0-73D0-40E3-A884-8178610A74AD}" destId="{278AFB29-14AE-42FC-AC68-C580BEC93F4B}" srcOrd="0" destOrd="0" presId="urn:microsoft.com/office/officeart/2008/layout/LinedList"/>
    <dgm:cxn modelId="{D3FBB810-6090-4DB7-9153-32414C900110}" type="presParOf" srcId="{16F12BB0-73D0-40E3-A884-8178610A74AD}" destId="{89C8B989-D54D-4A02-A181-AAC7E5E5F610}" srcOrd="1" destOrd="0" presId="urn:microsoft.com/office/officeart/2008/layout/LinedList"/>
    <dgm:cxn modelId="{1B06C599-FA16-4A8E-B79E-60D52D6EC985}" type="presParOf" srcId="{8A6D2441-5E5A-4E3E-B661-F99504D9AAA3}" destId="{3AE957B9-D8ED-403C-8829-3AC48D72E154}" srcOrd="6" destOrd="0" presId="urn:microsoft.com/office/officeart/2008/layout/LinedList"/>
    <dgm:cxn modelId="{CC5355A0-53A5-4530-8C55-22F714B08C34}" type="presParOf" srcId="{8A6D2441-5E5A-4E3E-B661-F99504D9AAA3}" destId="{EDCC8829-F8C3-4EEE-BA0C-3B20C64B4966}" srcOrd="7" destOrd="0" presId="urn:microsoft.com/office/officeart/2008/layout/LinedList"/>
    <dgm:cxn modelId="{B515E80E-A59B-4F15-87EB-BC310F72784B}" type="presParOf" srcId="{EDCC8829-F8C3-4EEE-BA0C-3B20C64B4966}" destId="{AF5906BA-E301-4B1A-9BCA-FC9A0CAE08CA}" srcOrd="0" destOrd="0" presId="urn:microsoft.com/office/officeart/2008/layout/LinedList"/>
    <dgm:cxn modelId="{EE8260BD-265C-48F8-B825-C0964F0CB9E2}" type="presParOf" srcId="{EDCC8829-F8C3-4EEE-BA0C-3B20C64B4966}" destId="{FAEC5B7A-C8FA-4109-B9BF-FF9B5944478D}" srcOrd="1" destOrd="0" presId="urn:microsoft.com/office/officeart/2008/layout/LinedList"/>
    <dgm:cxn modelId="{C1FBC278-A424-478C-B24D-BAF8AD2EB479}" type="presParOf" srcId="{8A6D2441-5E5A-4E3E-B661-F99504D9AAA3}" destId="{46B267EB-4706-4291-90D1-55321C75FB3F}" srcOrd="8" destOrd="0" presId="urn:microsoft.com/office/officeart/2008/layout/LinedList"/>
    <dgm:cxn modelId="{973BA81A-95BB-4F90-879C-F6FF7B5B9A20}" type="presParOf" srcId="{8A6D2441-5E5A-4E3E-B661-F99504D9AAA3}" destId="{C5C3C2B1-B329-4DA8-8385-2BCC1C26F571}" srcOrd="9" destOrd="0" presId="urn:microsoft.com/office/officeart/2008/layout/LinedList"/>
    <dgm:cxn modelId="{BED9E110-7AC5-465B-884B-332E4EE42E80}" type="presParOf" srcId="{C5C3C2B1-B329-4DA8-8385-2BCC1C26F571}" destId="{CFD29C13-C5F4-4050-AABC-BC507C931347}" srcOrd="0" destOrd="0" presId="urn:microsoft.com/office/officeart/2008/layout/LinedList"/>
    <dgm:cxn modelId="{413894AA-9C19-4BD9-B702-9350A9200293}" type="presParOf" srcId="{C5C3C2B1-B329-4DA8-8385-2BCC1C26F571}" destId="{8FE4B256-4DFC-47F0-B5A5-D7229B8A613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908C438-708E-4515-965F-0E23D5A526BC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F14B878-DA0C-430C-B5E4-D7AB60E0F131}">
      <dgm:prSet/>
      <dgm:spPr/>
      <dgm:t>
        <a:bodyPr/>
        <a:lstStyle/>
        <a:p>
          <a:r>
            <a:rPr lang="en-US"/>
            <a:t>Critical appraisal is the systematic evaluation of research</a:t>
          </a:r>
        </a:p>
      </dgm:t>
    </dgm:pt>
    <dgm:pt modelId="{FF1A0998-3F57-44A1-A872-CD9B71DFB3AF}" type="parTrans" cxnId="{93248205-DF77-4425-8682-549913C48E46}">
      <dgm:prSet/>
      <dgm:spPr/>
      <dgm:t>
        <a:bodyPr/>
        <a:lstStyle/>
        <a:p>
          <a:endParaRPr lang="en-US"/>
        </a:p>
      </dgm:t>
    </dgm:pt>
    <dgm:pt modelId="{936151BD-04C5-4B86-9ADF-9BA95C1CCF82}" type="sibTrans" cxnId="{93248205-DF77-4425-8682-549913C48E46}">
      <dgm:prSet/>
      <dgm:spPr/>
      <dgm:t>
        <a:bodyPr/>
        <a:lstStyle/>
        <a:p>
          <a:endParaRPr lang="en-US"/>
        </a:p>
      </dgm:t>
    </dgm:pt>
    <dgm:pt modelId="{B197F312-78FE-4382-B647-DCA125DE6EE2}">
      <dgm:prSet/>
      <dgm:spPr/>
      <dgm:t>
        <a:bodyPr/>
        <a:lstStyle/>
        <a:p>
          <a:r>
            <a:rPr lang="en-US"/>
            <a:t>Judging quality and relevance</a:t>
          </a:r>
        </a:p>
      </dgm:t>
    </dgm:pt>
    <dgm:pt modelId="{877968E2-56E8-4D15-B8D4-CB98FA693F6B}" type="parTrans" cxnId="{BFDDD73B-56FD-4FE5-9073-D1B4F9D96621}">
      <dgm:prSet/>
      <dgm:spPr/>
      <dgm:t>
        <a:bodyPr/>
        <a:lstStyle/>
        <a:p>
          <a:endParaRPr lang="en-US"/>
        </a:p>
      </dgm:t>
    </dgm:pt>
    <dgm:pt modelId="{B29A5538-E4D3-4C38-BFD8-CC9D98F2C0A4}" type="sibTrans" cxnId="{BFDDD73B-56FD-4FE5-9073-D1B4F9D96621}">
      <dgm:prSet/>
      <dgm:spPr/>
      <dgm:t>
        <a:bodyPr/>
        <a:lstStyle/>
        <a:p>
          <a:endParaRPr lang="en-US"/>
        </a:p>
      </dgm:t>
    </dgm:pt>
    <dgm:pt modelId="{90A57AB0-E4C2-4900-AEEF-4AF3203A00A6}">
      <dgm:prSet/>
      <dgm:spPr/>
      <dgm:t>
        <a:bodyPr/>
        <a:lstStyle/>
        <a:p>
          <a:r>
            <a:rPr lang="en-US"/>
            <a:t>Relationship to evidence-based practice</a:t>
          </a:r>
        </a:p>
      </dgm:t>
    </dgm:pt>
    <dgm:pt modelId="{1BE26977-FCF4-40D9-93BB-52801A774C6D}" type="parTrans" cxnId="{B95A5A03-1FBC-4A7F-898B-352FEE4F4AA8}">
      <dgm:prSet/>
      <dgm:spPr/>
      <dgm:t>
        <a:bodyPr/>
        <a:lstStyle/>
        <a:p>
          <a:endParaRPr lang="en-US"/>
        </a:p>
      </dgm:t>
    </dgm:pt>
    <dgm:pt modelId="{4F9E2000-8A82-463E-BD32-3A6A99B0A25C}" type="sibTrans" cxnId="{B95A5A03-1FBC-4A7F-898B-352FEE4F4AA8}">
      <dgm:prSet/>
      <dgm:spPr/>
      <dgm:t>
        <a:bodyPr/>
        <a:lstStyle/>
        <a:p>
          <a:endParaRPr lang="en-US"/>
        </a:p>
      </dgm:t>
    </dgm:pt>
    <dgm:pt modelId="{D453CC4D-8375-4525-9737-F9204713F392}">
      <dgm:prSet/>
      <dgm:spPr/>
      <dgm:t>
        <a:bodyPr/>
        <a:lstStyle/>
        <a:p>
          <a:r>
            <a:rPr lang="en-US"/>
            <a:t>Critical appraisal vs reading literature</a:t>
          </a:r>
        </a:p>
      </dgm:t>
    </dgm:pt>
    <dgm:pt modelId="{8DB2EEDD-D7FC-4E74-B9BA-DE82DBC9A7E6}" type="parTrans" cxnId="{737E1260-F9CE-45EC-91E6-2FFE2375B419}">
      <dgm:prSet/>
      <dgm:spPr/>
      <dgm:t>
        <a:bodyPr/>
        <a:lstStyle/>
        <a:p>
          <a:endParaRPr lang="en-US"/>
        </a:p>
      </dgm:t>
    </dgm:pt>
    <dgm:pt modelId="{B7823191-93FD-4ADD-9136-6458328A9E68}" type="sibTrans" cxnId="{737E1260-F9CE-45EC-91E6-2FFE2375B419}">
      <dgm:prSet/>
      <dgm:spPr/>
      <dgm:t>
        <a:bodyPr/>
        <a:lstStyle/>
        <a:p>
          <a:endParaRPr lang="en-US"/>
        </a:p>
      </dgm:t>
    </dgm:pt>
    <dgm:pt modelId="{0BDAE148-467A-463A-ADFB-58A3474C5ED3}" type="pres">
      <dgm:prSet presAssocID="{E908C438-708E-4515-965F-0E23D5A526BC}" presName="outerComposite" presStyleCnt="0">
        <dgm:presLayoutVars>
          <dgm:chMax val="5"/>
          <dgm:dir/>
          <dgm:resizeHandles val="exact"/>
        </dgm:presLayoutVars>
      </dgm:prSet>
      <dgm:spPr/>
    </dgm:pt>
    <dgm:pt modelId="{4068FCDA-861B-40C7-B8A7-AD506D296BC5}" type="pres">
      <dgm:prSet presAssocID="{E908C438-708E-4515-965F-0E23D5A526BC}" presName="dummyMaxCanvas" presStyleCnt="0">
        <dgm:presLayoutVars/>
      </dgm:prSet>
      <dgm:spPr/>
    </dgm:pt>
    <dgm:pt modelId="{832A6840-B939-4B7F-819A-E3C59EDB3805}" type="pres">
      <dgm:prSet presAssocID="{E908C438-708E-4515-965F-0E23D5A526BC}" presName="FourNodes_1" presStyleLbl="node1" presStyleIdx="0" presStyleCnt="4">
        <dgm:presLayoutVars>
          <dgm:bulletEnabled val="1"/>
        </dgm:presLayoutVars>
      </dgm:prSet>
      <dgm:spPr/>
    </dgm:pt>
    <dgm:pt modelId="{219F3088-CA7B-4475-AF7F-3C1BB7505AAE}" type="pres">
      <dgm:prSet presAssocID="{E908C438-708E-4515-965F-0E23D5A526BC}" presName="FourNodes_2" presStyleLbl="node1" presStyleIdx="1" presStyleCnt="4">
        <dgm:presLayoutVars>
          <dgm:bulletEnabled val="1"/>
        </dgm:presLayoutVars>
      </dgm:prSet>
      <dgm:spPr/>
    </dgm:pt>
    <dgm:pt modelId="{EDCE5EF8-EB27-4DCE-8392-B26E0F7CD99C}" type="pres">
      <dgm:prSet presAssocID="{E908C438-708E-4515-965F-0E23D5A526BC}" presName="FourNodes_3" presStyleLbl="node1" presStyleIdx="2" presStyleCnt="4">
        <dgm:presLayoutVars>
          <dgm:bulletEnabled val="1"/>
        </dgm:presLayoutVars>
      </dgm:prSet>
      <dgm:spPr/>
    </dgm:pt>
    <dgm:pt modelId="{241BFB99-88FC-462F-BFA1-01D7F41AE765}" type="pres">
      <dgm:prSet presAssocID="{E908C438-708E-4515-965F-0E23D5A526BC}" presName="FourNodes_4" presStyleLbl="node1" presStyleIdx="3" presStyleCnt="4">
        <dgm:presLayoutVars>
          <dgm:bulletEnabled val="1"/>
        </dgm:presLayoutVars>
      </dgm:prSet>
      <dgm:spPr/>
    </dgm:pt>
    <dgm:pt modelId="{4D8CBF6C-E57F-43C4-890C-C61EB09BCE18}" type="pres">
      <dgm:prSet presAssocID="{E908C438-708E-4515-965F-0E23D5A526BC}" presName="FourConn_1-2" presStyleLbl="fgAccFollowNode1" presStyleIdx="0" presStyleCnt="3">
        <dgm:presLayoutVars>
          <dgm:bulletEnabled val="1"/>
        </dgm:presLayoutVars>
      </dgm:prSet>
      <dgm:spPr/>
    </dgm:pt>
    <dgm:pt modelId="{E2E2A087-EB56-440A-9CB9-5FFCE62957C7}" type="pres">
      <dgm:prSet presAssocID="{E908C438-708E-4515-965F-0E23D5A526BC}" presName="FourConn_2-3" presStyleLbl="fgAccFollowNode1" presStyleIdx="1" presStyleCnt="3">
        <dgm:presLayoutVars>
          <dgm:bulletEnabled val="1"/>
        </dgm:presLayoutVars>
      </dgm:prSet>
      <dgm:spPr/>
    </dgm:pt>
    <dgm:pt modelId="{E8C1A560-F4FE-4463-A03B-38981B22C4F8}" type="pres">
      <dgm:prSet presAssocID="{E908C438-708E-4515-965F-0E23D5A526BC}" presName="FourConn_3-4" presStyleLbl="fgAccFollowNode1" presStyleIdx="2" presStyleCnt="3">
        <dgm:presLayoutVars>
          <dgm:bulletEnabled val="1"/>
        </dgm:presLayoutVars>
      </dgm:prSet>
      <dgm:spPr/>
    </dgm:pt>
    <dgm:pt modelId="{6E4C5605-369B-4F0A-84FA-897E90F7047A}" type="pres">
      <dgm:prSet presAssocID="{E908C438-708E-4515-965F-0E23D5A526BC}" presName="FourNodes_1_text" presStyleLbl="node1" presStyleIdx="3" presStyleCnt="4">
        <dgm:presLayoutVars>
          <dgm:bulletEnabled val="1"/>
        </dgm:presLayoutVars>
      </dgm:prSet>
      <dgm:spPr/>
    </dgm:pt>
    <dgm:pt modelId="{D95C0285-1D26-472D-AD5C-E73BF621E7F1}" type="pres">
      <dgm:prSet presAssocID="{E908C438-708E-4515-965F-0E23D5A526BC}" presName="FourNodes_2_text" presStyleLbl="node1" presStyleIdx="3" presStyleCnt="4">
        <dgm:presLayoutVars>
          <dgm:bulletEnabled val="1"/>
        </dgm:presLayoutVars>
      </dgm:prSet>
      <dgm:spPr/>
    </dgm:pt>
    <dgm:pt modelId="{E9916BD2-2CD3-43AD-B493-32D5D7DA6D61}" type="pres">
      <dgm:prSet presAssocID="{E908C438-708E-4515-965F-0E23D5A526BC}" presName="FourNodes_3_text" presStyleLbl="node1" presStyleIdx="3" presStyleCnt="4">
        <dgm:presLayoutVars>
          <dgm:bulletEnabled val="1"/>
        </dgm:presLayoutVars>
      </dgm:prSet>
      <dgm:spPr/>
    </dgm:pt>
    <dgm:pt modelId="{B9E5635F-285F-4A54-8D8D-533A4CC45E49}" type="pres">
      <dgm:prSet presAssocID="{E908C438-708E-4515-965F-0E23D5A526BC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272FC302-544D-4AF2-8980-2017A6B4D945}" type="presOf" srcId="{90A57AB0-E4C2-4900-AEEF-4AF3203A00A6}" destId="{E9916BD2-2CD3-43AD-B493-32D5D7DA6D61}" srcOrd="1" destOrd="0" presId="urn:microsoft.com/office/officeart/2005/8/layout/vProcess5"/>
    <dgm:cxn modelId="{B95A5A03-1FBC-4A7F-898B-352FEE4F4AA8}" srcId="{E908C438-708E-4515-965F-0E23D5A526BC}" destId="{90A57AB0-E4C2-4900-AEEF-4AF3203A00A6}" srcOrd="2" destOrd="0" parTransId="{1BE26977-FCF4-40D9-93BB-52801A774C6D}" sibTransId="{4F9E2000-8A82-463E-BD32-3A6A99B0A25C}"/>
    <dgm:cxn modelId="{93248205-DF77-4425-8682-549913C48E46}" srcId="{E908C438-708E-4515-965F-0E23D5A526BC}" destId="{3F14B878-DA0C-430C-B5E4-D7AB60E0F131}" srcOrd="0" destOrd="0" parTransId="{FF1A0998-3F57-44A1-A872-CD9B71DFB3AF}" sibTransId="{936151BD-04C5-4B86-9ADF-9BA95C1CCF82}"/>
    <dgm:cxn modelId="{1E032512-6AE1-471E-BA3F-EAC9EB4A9C55}" type="presOf" srcId="{3F14B878-DA0C-430C-B5E4-D7AB60E0F131}" destId="{832A6840-B939-4B7F-819A-E3C59EDB3805}" srcOrd="0" destOrd="0" presId="urn:microsoft.com/office/officeart/2005/8/layout/vProcess5"/>
    <dgm:cxn modelId="{BDF89C1C-FE84-420B-9FEB-4C20E77A8A31}" type="presOf" srcId="{3F14B878-DA0C-430C-B5E4-D7AB60E0F131}" destId="{6E4C5605-369B-4F0A-84FA-897E90F7047A}" srcOrd="1" destOrd="0" presId="urn:microsoft.com/office/officeart/2005/8/layout/vProcess5"/>
    <dgm:cxn modelId="{3FB02125-ED62-4513-99FD-29DFFB0F98E0}" type="presOf" srcId="{4F9E2000-8A82-463E-BD32-3A6A99B0A25C}" destId="{E8C1A560-F4FE-4463-A03B-38981B22C4F8}" srcOrd="0" destOrd="0" presId="urn:microsoft.com/office/officeart/2005/8/layout/vProcess5"/>
    <dgm:cxn modelId="{09F94D31-5DB9-4A6E-8F9A-8EB5BDF85FC9}" type="presOf" srcId="{90A57AB0-E4C2-4900-AEEF-4AF3203A00A6}" destId="{EDCE5EF8-EB27-4DCE-8392-B26E0F7CD99C}" srcOrd="0" destOrd="0" presId="urn:microsoft.com/office/officeart/2005/8/layout/vProcess5"/>
    <dgm:cxn modelId="{BFDDD73B-56FD-4FE5-9073-D1B4F9D96621}" srcId="{E908C438-708E-4515-965F-0E23D5A526BC}" destId="{B197F312-78FE-4382-B647-DCA125DE6EE2}" srcOrd="1" destOrd="0" parTransId="{877968E2-56E8-4D15-B8D4-CB98FA693F6B}" sibTransId="{B29A5538-E4D3-4C38-BFD8-CC9D98F2C0A4}"/>
    <dgm:cxn modelId="{737E1260-F9CE-45EC-91E6-2FFE2375B419}" srcId="{E908C438-708E-4515-965F-0E23D5A526BC}" destId="{D453CC4D-8375-4525-9737-F9204713F392}" srcOrd="3" destOrd="0" parTransId="{8DB2EEDD-D7FC-4E74-B9BA-DE82DBC9A7E6}" sibTransId="{B7823191-93FD-4ADD-9136-6458328A9E68}"/>
    <dgm:cxn modelId="{1BB80062-58A5-4A5D-A7D5-A2057D6F88B9}" type="presOf" srcId="{B197F312-78FE-4382-B647-DCA125DE6EE2}" destId="{D95C0285-1D26-472D-AD5C-E73BF621E7F1}" srcOrd="1" destOrd="0" presId="urn:microsoft.com/office/officeart/2005/8/layout/vProcess5"/>
    <dgm:cxn modelId="{70758068-D210-4096-A6CC-D04464EAB737}" type="presOf" srcId="{B197F312-78FE-4382-B647-DCA125DE6EE2}" destId="{219F3088-CA7B-4475-AF7F-3C1BB7505AAE}" srcOrd="0" destOrd="0" presId="urn:microsoft.com/office/officeart/2005/8/layout/vProcess5"/>
    <dgm:cxn modelId="{235D9B58-D225-4389-9BEF-B19AF8311EF7}" type="presOf" srcId="{D453CC4D-8375-4525-9737-F9204713F392}" destId="{B9E5635F-285F-4A54-8D8D-533A4CC45E49}" srcOrd="1" destOrd="0" presId="urn:microsoft.com/office/officeart/2005/8/layout/vProcess5"/>
    <dgm:cxn modelId="{E97BFB88-05F7-4901-A9DB-62076F13E5D1}" type="presOf" srcId="{936151BD-04C5-4B86-9ADF-9BA95C1CCF82}" destId="{4D8CBF6C-E57F-43C4-890C-C61EB09BCE18}" srcOrd="0" destOrd="0" presId="urn:microsoft.com/office/officeart/2005/8/layout/vProcess5"/>
    <dgm:cxn modelId="{D626B6B5-C07E-40BB-84F6-7622146E18BA}" type="presOf" srcId="{D453CC4D-8375-4525-9737-F9204713F392}" destId="{241BFB99-88FC-462F-BFA1-01D7F41AE765}" srcOrd="0" destOrd="0" presId="urn:microsoft.com/office/officeart/2005/8/layout/vProcess5"/>
    <dgm:cxn modelId="{AA1A7DC0-FDDA-4367-A27D-5F47EB1A6D0A}" type="presOf" srcId="{B29A5538-E4D3-4C38-BFD8-CC9D98F2C0A4}" destId="{E2E2A087-EB56-440A-9CB9-5FFCE62957C7}" srcOrd="0" destOrd="0" presId="urn:microsoft.com/office/officeart/2005/8/layout/vProcess5"/>
    <dgm:cxn modelId="{1A2B7EFE-65F8-46C6-80A2-A821D18E5435}" type="presOf" srcId="{E908C438-708E-4515-965F-0E23D5A526BC}" destId="{0BDAE148-467A-463A-ADFB-58A3474C5ED3}" srcOrd="0" destOrd="0" presId="urn:microsoft.com/office/officeart/2005/8/layout/vProcess5"/>
    <dgm:cxn modelId="{F0DF8AA5-258E-49DB-A733-AF60664CC392}" type="presParOf" srcId="{0BDAE148-467A-463A-ADFB-58A3474C5ED3}" destId="{4068FCDA-861B-40C7-B8A7-AD506D296BC5}" srcOrd="0" destOrd="0" presId="urn:microsoft.com/office/officeart/2005/8/layout/vProcess5"/>
    <dgm:cxn modelId="{4D088851-EAAE-490A-9C6E-FC5AB95C1C35}" type="presParOf" srcId="{0BDAE148-467A-463A-ADFB-58A3474C5ED3}" destId="{832A6840-B939-4B7F-819A-E3C59EDB3805}" srcOrd="1" destOrd="0" presId="urn:microsoft.com/office/officeart/2005/8/layout/vProcess5"/>
    <dgm:cxn modelId="{CB421571-32B4-4233-A52E-64F0EEDA5AE5}" type="presParOf" srcId="{0BDAE148-467A-463A-ADFB-58A3474C5ED3}" destId="{219F3088-CA7B-4475-AF7F-3C1BB7505AAE}" srcOrd="2" destOrd="0" presId="urn:microsoft.com/office/officeart/2005/8/layout/vProcess5"/>
    <dgm:cxn modelId="{C1781891-4863-4B61-A8B5-F9479B16750E}" type="presParOf" srcId="{0BDAE148-467A-463A-ADFB-58A3474C5ED3}" destId="{EDCE5EF8-EB27-4DCE-8392-B26E0F7CD99C}" srcOrd="3" destOrd="0" presId="urn:microsoft.com/office/officeart/2005/8/layout/vProcess5"/>
    <dgm:cxn modelId="{92E1C540-663B-410C-B205-1748389DA72A}" type="presParOf" srcId="{0BDAE148-467A-463A-ADFB-58A3474C5ED3}" destId="{241BFB99-88FC-462F-BFA1-01D7F41AE765}" srcOrd="4" destOrd="0" presId="urn:microsoft.com/office/officeart/2005/8/layout/vProcess5"/>
    <dgm:cxn modelId="{2513FD9D-4D0C-4487-A5AF-8C1CCFEA6851}" type="presParOf" srcId="{0BDAE148-467A-463A-ADFB-58A3474C5ED3}" destId="{4D8CBF6C-E57F-43C4-890C-C61EB09BCE18}" srcOrd="5" destOrd="0" presId="urn:microsoft.com/office/officeart/2005/8/layout/vProcess5"/>
    <dgm:cxn modelId="{45FF9BE7-1488-47AF-A2D7-1E0FC795AFCC}" type="presParOf" srcId="{0BDAE148-467A-463A-ADFB-58A3474C5ED3}" destId="{E2E2A087-EB56-440A-9CB9-5FFCE62957C7}" srcOrd="6" destOrd="0" presId="urn:microsoft.com/office/officeart/2005/8/layout/vProcess5"/>
    <dgm:cxn modelId="{659AE25E-4A1F-42BC-8539-563FFEA2BD62}" type="presParOf" srcId="{0BDAE148-467A-463A-ADFB-58A3474C5ED3}" destId="{E8C1A560-F4FE-4463-A03B-38981B22C4F8}" srcOrd="7" destOrd="0" presId="urn:microsoft.com/office/officeart/2005/8/layout/vProcess5"/>
    <dgm:cxn modelId="{16112EBF-CADF-4DDB-A37D-639D26E35472}" type="presParOf" srcId="{0BDAE148-467A-463A-ADFB-58A3474C5ED3}" destId="{6E4C5605-369B-4F0A-84FA-897E90F7047A}" srcOrd="8" destOrd="0" presId="urn:microsoft.com/office/officeart/2005/8/layout/vProcess5"/>
    <dgm:cxn modelId="{0C9EE78D-8BDF-452C-B0E6-30453AAA6CB8}" type="presParOf" srcId="{0BDAE148-467A-463A-ADFB-58A3474C5ED3}" destId="{D95C0285-1D26-472D-AD5C-E73BF621E7F1}" srcOrd="9" destOrd="0" presId="urn:microsoft.com/office/officeart/2005/8/layout/vProcess5"/>
    <dgm:cxn modelId="{B3AC5A64-AB08-443E-A98A-B4A5F3548314}" type="presParOf" srcId="{0BDAE148-467A-463A-ADFB-58A3474C5ED3}" destId="{E9916BD2-2CD3-43AD-B493-32D5D7DA6D61}" srcOrd="10" destOrd="0" presId="urn:microsoft.com/office/officeart/2005/8/layout/vProcess5"/>
    <dgm:cxn modelId="{0F285ACB-A76D-4AA2-883E-0A7A4F596CA1}" type="presParOf" srcId="{0BDAE148-467A-463A-ADFB-58A3474C5ED3}" destId="{B9E5635F-285F-4A54-8D8D-533A4CC45E49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D61E1C1-C75B-45AB-A8DB-0F8347988191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F03F054-4CAE-423B-92CD-9967FD1D7DD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Evidence-based practice model</a:t>
          </a:r>
        </a:p>
      </dgm:t>
    </dgm:pt>
    <dgm:pt modelId="{B6ABA630-D749-4BA1-8A28-4F33DA890721}" type="parTrans" cxnId="{D7DD8873-BB42-4E81-ADD8-7BAAFE7B517B}">
      <dgm:prSet/>
      <dgm:spPr/>
      <dgm:t>
        <a:bodyPr/>
        <a:lstStyle/>
        <a:p>
          <a:endParaRPr lang="en-US"/>
        </a:p>
      </dgm:t>
    </dgm:pt>
    <dgm:pt modelId="{E145858F-F120-481F-9160-8F1943DA1809}" type="sibTrans" cxnId="{D7DD8873-BB42-4E81-ADD8-7BAAFE7B517B}">
      <dgm:prSet/>
      <dgm:spPr/>
      <dgm:t>
        <a:bodyPr/>
        <a:lstStyle/>
        <a:p>
          <a:endParaRPr lang="en-US"/>
        </a:p>
      </dgm:t>
    </dgm:pt>
    <dgm:pt modelId="{D9A4B908-E572-4ED1-AB80-23C6AAEB1BE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Research evidence</a:t>
          </a:r>
        </a:p>
      </dgm:t>
    </dgm:pt>
    <dgm:pt modelId="{E08CB981-B396-41CD-94B9-AFC406AB3F0A}" type="parTrans" cxnId="{C093314A-C0BA-4427-8ED3-0A91DEBB82F8}">
      <dgm:prSet/>
      <dgm:spPr/>
      <dgm:t>
        <a:bodyPr/>
        <a:lstStyle/>
        <a:p>
          <a:endParaRPr lang="en-US"/>
        </a:p>
      </dgm:t>
    </dgm:pt>
    <dgm:pt modelId="{B4269D31-CA43-4003-85C1-7B3A3B7ACAA1}" type="sibTrans" cxnId="{C093314A-C0BA-4427-8ED3-0A91DEBB82F8}">
      <dgm:prSet/>
      <dgm:spPr/>
      <dgm:t>
        <a:bodyPr/>
        <a:lstStyle/>
        <a:p>
          <a:endParaRPr lang="en-US"/>
        </a:p>
      </dgm:t>
    </dgm:pt>
    <dgm:pt modelId="{0A3E685C-F27D-4D3B-B88A-1314C027144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Clinical expertise</a:t>
          </a:r>
        </a:p>
      </dgm:t>
    </dgm:pt>
    <dgm:pt modelId="{508A85A5-6ECB-47A6-B559-A52BBBD6B331}" type="parTrans" cxnId="{38D77F41-75ED-4AF5-8FD5-DD1DEB0B349A}">
      <dgm:prSet/>
      <dgm:spPr/>
      <dgm:t>
        <a:bodyPr/>
        <a:lstStyle/>
        <a:p>
          <a:endParaRPr lang="en-US"/>
        </a:p>
      </dgm:t>
    </dgm:pt>
    <dgm:pt modelId="{F5D1F960-6674-44EF-A95E-DBFA4BA118D3}" type="sibTrans" cxnId="{38D77F41-75ED-4AF5-8FD5-DD1DEB0B349A}">
      <dgm:prSet/>
      <dgm:spPr/>
      <dgm:t>
        <a:bodyPr/>
        <a:lstStyle/>
        <a:p>
          <a:endParaRPr lang="en-US"/>
        </a:p>
      </dgm:t>
    </dgm:pt>
    <dgm:pt modelId="{08D76A21-0AAA-4164-B644-6391D4E1553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Patient values</a:t>
          </a:r>
        </a:p>
      </dgm:t>
    </dgm:pt>
    <dgm:pt modelId="{E3D3460E-0D43-4D03-BA22-1844E3FEDD24}" type="parTrans" cxnId="{BD2C2F58-C41F-4AE0-938D-9657577A866D}">
      <dgm:prSet/>
      <dgm:spPr/>
      <dgm:t>
        <a:bodyPr/>
        <a:lstStyle/>
        <a:p>
          <a:endParaRPr lang="en-US"/>
        </a:p>
      </dgm:t>
    </dgm:pt>
    <dgm:pt modelId="{D9FE3EFD-7098-48CD-B2FC-44770775444D}" type="sibTrans" cxnId="{BD2C2F58-C41F-4AE0-938D-9657577A866D}">
      <dgm:prSet/>
      <dgm:spPr/>
      <dgm:t>
        <a:bodyPr/>
        <a:lstStyle/>
        <a:p>
          <a:endParaRPr lang="en-US"/>
        </a:p>
      </dgm:t>
    </dgm:pt>
    <dgm:pt modelId="{D952A781-C101-4CC3-B7AA-B75834D191C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Increasing volume of research</a:t>
          </a:r>
        </a:p>
      </dgm:t>
    </dgm:pt>
    <dgm:pt modelId="{DB6ED866-797C-4F09-A6AD-9E526339C13F}" type="parTrans" cxnId="{00B0D80F-F100-4A7B-B2D1-BF5B01FA760B}">
      <dgm:prSet/>
      <dgm:spPr/>
      <dgm:t>
        <a:bodyPr/>
        <a:lstStyle/>
        <a:p>
          <a:endParaRPr lang="en-US"/>
        </a:p>
      </dgm:t>
    </dgm:pt>
    <dgm:pt modelId="{2104FA42-78CC-4CF0-BB5B-3028998BB474}" type="sibTrans" cxnId="{00B0D80F-F100-4A7B-B2D1-BF5B01FA760B}">
      <dgm:prSet/>
      <dgm:spPr/>
      <dgm:t>
        <a:bodyPr/>
        <a:lstStyle/>
        <a:p>
          <a:endParaRPr lang="en-US"/>
        </a:p>
      </dgm:t>
    </dgm:pt>
    <dgm:pt modelId="{6FE00713-7F96-4E2B-89AA-DCA32811355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Variability of study quality</a:t>
          </a:r>
        </a:p>
      </dgm:t>
    </dgm:pt>
    <dgm:pt modelId="{638B4A74-40D6-458E-BFF2-A6FEBA73C47F}" type="parTrans" cxnId="{21625704-76C3-41D0-93CE-F54E8035420D}">
      <dgm:prSet/>
      <dgm:spPr/>
      <dgm:t>
        <a:bodyPr/>
        <a:lstStyle/>
        <a:p>
          <a:endParaRPr lang="en-US"/>
        </a:p>
      </dgm:t>
    </dgm:pt>
    <dgm:pt modelId="{F18BD0C5-8AC6-4F79-BEDF-1E0C4911B531}" type="sibTrans" cxnId="{21625704-76C3-41D0-93CE-F54E8035420D}">
      <dgm:prSet/>
      <dgm:spPr/>
      <dgm:t>
        <a:bodyPr/>
        <a:lstStyle/>
        <a:p>
          <a:endParaRPr lang="en-US"/>
        </a:p>
      </dgm:t>
    </dgm:pt>
    <dgm:pt modelId="{CDC3FD4C-71E2-463C-AED2-422BA9B3958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Consequences of poor appraisal</a:t>
          </a:r>
        </a:p>
      </dgm:t>
    </dgm:pt>
    <dgm:pt modelId="{4572EB19-89F1-4EF2-91F4-BA6FD061A971}" type="parTrans" cxnId="{652B82EA-8C99-429E-B260-51BE41B9F416}">
      <dgm:prSet/>
      <dgm:spPr/>
      <dgm:t>
        <a:bodyPr/>
        <a:lstStyle/>
        <a:p>
          <a:endParaRPr lang="en-US"/>
        </a:p>
      </dgm:t>
    </dgm:pt>
    <dgm:pt modelId="{346495FD-CDE3-49A2-8CE7-9BD2F056A50F}" type="sibTrans" cxnId="{652B82EA-8C99-429E-B260-51BE41B9F416}">
      <dgm:prSet/>
      <dgm:spPr/>
      <dgm:t>
        <a:bodyPr/>
        <a:lstStyle/>
        <a:p>
          <a:endParaRPr lang="en-US"/>
        </a:p>
      </dgm:t>
    </dgm:pt>
    <dgm:pt modelId="{703F7DB1-7C0C-4E15-ABC2-9E12B7C4332B}" type="pres">
      <dgm:prSet presAssocID="{7D61E1C1-C75B-45AB-A8DB-0F8347988191}" presName="root" presStyleCnt="0">
        <dgm:presLayoutVars>
          <dgm:dir/>
          <dgm:resizeHandles val="exact"/>
        </dgm:presLayoutVars>
      </dgm:prSet>
      <dgm:spPr/>
    </dgm:pt>
    <dgm:pt modelId="{B3B7A2A7-4BE0-4FC3-B8AD-BE3F2F09CE04}" type="pres">
      <dgm:prSet presAssocID="{5F03F054-4CAE-423B-92CD-9967FD1D7DD4}" presName="compNode" presStyleCnt="0"/>
      <dgm:spPr/>
    </dgm:pt>
    <dgm:pt modelId="{D99D31E5-989F-4378-BDD3-4980A35B1EE7}" type="pres">
      <dgm:prSet presAssocID="{5F03F054-4CAE-423B-92CD-9967FD1D7DD4}" presName="bgRect" presStyleLbl="bgShp" presStyleIdx="0" presStyleCnt="7"/>
      <dgm:spPr/>
    </dgm:pt>
    <dgm:pt modelId="{94F98512-A913-4394-A18F-570C37B4C7C6}" type="pres">
      <dgm:prSet presAssocID="{5F03F054-4CAE-423B-92CD-9967FD1D7DD4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2B69702B-C64B-4F37-BFBD-9F45DEDC3B73}" type="pres">
      <dgm:prSet presAssocID="{5F03F054-4CAE-423B-92CD-9967FD1D7DD4}" presName="spaceRect" presStyleCnt="0"/>
      <dgm:spPr/>
    </dgm:pt>
    <dgm:pt modelId="{218F608A-8B55-4EED-A5B2-8D3CD52A81A5}" type="pres">
      <dgm:prSet presAssocID="{5F03F054-4CAE-423B-92CD-9967FD1D7DD4}" presName="parTx" presStyleLbl="revTx" presStyleIdx="0" presStyleCnt="7">
        <dgm:presLayoutVars>
          <dgm:chMax val="0"/>
          <dgm:chPref val="0"/>
        </dgm:presLayoutVars>
      </dgm:prSet>
      <dgm:spPr/>
    </dgm:pt>
    <dgm:pt modelId="{6E98256F-20B6-4501-AFB8-63323E16FC71}" type="pres">
      <dgm:prSet presAssocID="{E145858F-F120-481F-9160-8F1943DA1809}" presName="sibTrans" presStyleCnt="0"/>
      <dgm:spPr/>
    </dgm:pt>
    <dgm:pt modelId="{82626098-FF9F-40DF-97E9-8B93E6123B36}" type="pres">
      <dgm:prSet presAssocID="{D9A4B908-E572-4ED1-AB80-23C6AAEB1BEA}" presName="compNode" presStyleCnt="0"/>
      <dgm:spPr/>
    </dgm:pt>
    <dgm:pt modelId="{A6DD9D73-E237-456F-9703-C5386BBE274B}" type="pres">
      <dgm:prSet presAssocID="{D9A4B908-E572-4ED1-AB80-23C6AAEB1BEA}" presName="bgRect" presStyleLbl="bgShp" presStyleIdx="1" presStyleCnt="7"/>
      <dgm:spPr/>
    </dgm:pt>
    <dgm:pt modelId="{E720EF16-0F58-4470-9F19-777722B7583C}" type="pres">
      <dgm:prSet presAssocID="{D9A4B908-E572-4ED1-AB80-23C6AAEB1BEA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1ECDC49F-F169-4F19-9ECE-62DB354ED31E}" type="pres">
      <dgm:prSet presAssocID="{D9A4B908-E572-4ED1-AB80-23C6AAEB1BEA}" presName="spaceRect" presStyleCnt="0"/>
      <dgm:spPr/>
    </dgm:pt>
    <dgm:pt modelId="{44BA30C5-9F56-4C7D-87C4-638F87DFD01B}" type="pres">
      <dgm:prSet presAssocID="{D9A4B908-E572-4ED1-AB80-23C6AAEB1BEA}" presName="parTx" presStyleLbl="revTx" presStyleIdx="1" presStyleCnt="7">
        <dgm:presLayoutVars>
          <dgm:chMax val="0"/>
          <dgm:chPref val="0"/>
        </dgm:presLayoutVars>
      </dgm:prSet>
      <dgm:spPr/>
    </dgm:pt>
    <dgm:pt modelId="{95067CE2-26B9-47B2-83C7-76C7E96A503E}" type="pres">
      <dgm:prSet presAssocID="{B4269D31-CA43-4003-85C1-7B3A3B7ACAA1}" presName="sibTrans" presStyleCnt="0"/>
      <dgm:spPr/>
    </dgm:pt>
    <dgm:pt modelId="{DB379A37-7FC3-4DF0-A6B8-AC442A0AF1F7}" type="pres">
      <dgm:prSet presAssocID="{0A3E685C-F27D-4D3B-B88A-1314C027144F}" presName="compNode" presStyleCnt="0"/>
      <dgm:spPr/>
    </dgm:pt>
    <dgm:pt modelId="{0D690648-D357-4D36-8197-F03078364D20}" type="pres">
      <dgm:prSet presAssocID="{0A3E685C-F27D-4D3B-B88A-1314C027144F}" presName="bgRect" presStyleLbl="bgShp" presStyleIdx="2" presStyleCnt="7"/>
      <dgm:spPr/>
    </dgm:pt>
    <dgm:pt modelId="{D9591675-7D27-45CB-AE85-8BAD9EE9FF34}" type="pres">
      <dgm:prSet presAssocID="{0A3E685C-F27D-4D3B-B88A-1314C027144F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ethoscope"/>
        </a:ext>
      </dgm:extLst>
    </dgm:pt>
    <dgm:pt modelId="{5FF0FCDA-0EF5-49E3-93B3-729116B4C9D2}" type="pres">
      <dgm:prSet presAssocID="{0A3E685C-F27D-4D3B-B88A-1314C027144F}" presName="spaceRect" presStyleCnt="0"/>
      <dgm:spPr/>
    </dgm:pt>
    <dgm:pt modelId="{511B5911-B3CA-4A78-B41B-64D13605506F}" type="pres">
      <dgm:prSet presAssocID="{0A3E685C-F27D-4D3B-B88A-1314C027144F}" presName="parTx" presStyleLbl="revTx" presStyleIdx="2" presStyleCnt="7">
        <dgm:presLayoutVars>
          <dgm:chMax val="0"/>
          <dgm:chPref val="0"/>
        </dgm:presLayoutVars>
      </dgm:prSet>
      <dgm:spPr/>
    </dgm:pt>
    <dgm:pt modelId="{D6898BA7-4DCF-434C-A0F9-62CF7B792968}" type="pres">
      <dgm:prSet presAssocID="{F5D1F960-6674-44EF-A95E-DBFA4BA118D3}" presName="sibTrans" presStyleCnt="0"/>
      <dgm:spPr/>
    </dgm:pt>
    <dgm:pt modelId="{653C384C-3D72-4893-919B-BF2FDF130957}" type="pres">
      <dgm:prSet presAssocID="{08D76A21-0AAA-4164-B644-6391D4E1553B}" presName="compNode" presStyleCnt="0"/>
      <dgm:spPr/>
    </dgm:pt>
    <dgm:pt modelId="{DA89E77C-7027-4620-B847-090E1DED3845}" type="pres">
      <dgm:prSet presAssocID="{08D76A21-0AAA-4164-B644-6391D4E1553B}" presName="bgRect" presStyleLbl="bgShp" presStyleIdx="3" presStyleCnt="7"/>
      <dgm:spPr/>
    </dgm:pt>
    <dgm:pt modelId="{E10405E1-273D-403E-B07F-5BD0FC269C64}" type="pres">
      <dgm:prSet presAssocID="{08D76A21-0AAA-4164-B644-6391D4E1553B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edical"/>
        </a:ext>
      </dgm:extLst>
    </dgm:pt>
    <dgm:pt modelId="{C0A3077B-48D2-4D2F-B9DB-BC11DEDDFB69}" type="pres">
      <dgm:prSet presAssocID="{08D76A21-0AAA-4164-B644-6391D4E1553B}" presName="spaceRect" presStyleCnt="0"/>
      <dgm:spPr/>
    </dgm:pt>
    <dgm:pt modelId="{FC4A6379-9450-43E7-A350-836D478CE06A}" type="pres">
      <dgm:prSet presAssocID="{08D76A21-0AAA-4164-B644-6391D4E1553B}" presName="parTx" presStyleLbl="revTx" presStyleIdx="3" presStyleCnt="7">
        <dgm:presLayoutVars>
          <dgm:chMax val="0"/>
          <dgm:chPref val="0"/>
        </dgm:presLayoutVars>
      </dgm:prSet>
      <dgm:spPr/>
    </dgm:pt>
    <dgm:pt modelId="{0727ECF5-FDD8-4C43-8FF9-021115E4B7AB}" type="pres">
      <dgm:prSet presAssocID="{D9FE3EFD-7098-48CD-B2FC-44770775444D}" presName="sibTrans" presStyleCnt="0"/>
      <dgm:spPr/>
    </dgm:pt>
    <dgm:pt modelId="{A8EE9DD9-72BE-47C3-ACD6-190557CA3AFA}" type="pres">
      <dgm:prSet presAssocID="{D952A781-C101-4CC3-B7AA-B75834D191C2}" presName="compNode" presStyleCnt="0"/>
      <dgm:spPr/>
    </dgm:pt>
    <dgm:pt modelId="{75495163-1716-4B10-B82F-780C6B2BA76A}" type="pres">
      <dgm:prSet presAssocID="{D952A781-C101-4CC3-B7AA-B75834D191C2}" presName="bgRect" presStyleLbl="bgShp" presStyleIdx="4" presStyleCnt="7"/>
      <dgm:spPr/>
    </dgm:pt>
    <dgm:pt modelId="{46824FC3-26BA-4ED9-951E-B12B47532DD2}" type="pres">
      <dgm:prSet presAssocID="{D952A781-C101-4CC3-B7AA-B75834D191C2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A5B24730-207E-4057-B936-507ADA58B2E9}" type="pres">
      <dgm:prSet presAssocID="{D952A781-C101-4CC3-B7AA-B75834D191C2}" presName="spaceRect" presStyleCnt="0"/>
      <dgm:spPr/>
    </dgm:pt>
    <dgm:pt modelId="{B5F4E8FE-2546-44E5-97C8-F9BF9D5B417B}" type="pres">
      <dgm:prSet presAssocID="{D952A781-C101-4CC3-B7AA-B75834D191C2}" presName="parTx" presStyleLbl="revTx" presStyleIdx="4" presStyleCnt="7">
        <dgm:presLayoutVars>
          <dgm:chMax val="0"/>
          <dgm:chPref val="0"/>
        </dgm:presLayoutVars>
      </dgm:prSet>
      <dgm:spPr/>
    </dgm:pt>
    <dgm:pt modelId="{481EA4F7-815D-4CB2-82A0-B9CC4ABCCC3C}" type="pres">
      <dgm:prSet presAssocID="{2104FA42-78CC-4CF0-BB5B-3028998BB474}" presName="sibTrans" presStyleCnt="0"/>
      <dgm:spPr/>
    </dgm:pt>
    <dgm:pt modelId="{D345557B-EB6C-4B1D-8B8B-A76DF37CF55F}" type="pres">
      <dgm:prSet presAssocID="{6FE00713-7F96-4E2B-89AA-DCA328113557}" presName="compNode" presStyleCnt="0"/>
      <dgm:spPr/>
    </dgm:pt>
    <dgm:pt modelId="{890075FA-3EEE-4509-A055-590A5148D32E}" type="pres">
      <dgm:prSet presAssocID="{6FE00713-7F96-4E2B-89AA-DCA328113557}" presName="bgRect" presStyleLbl="bgShp" presStyleIdx="5" presStyleCnt="7"/>
      <dgm:spPr/>
    </dgm:pt>
    <dgm:pt modelId="{8DD2FC35-9D00-4025-A58A-46F4DCBAF6A7}" type="pres">
      <dgm:prSet presAssocID="{6FE00713-7F96-4E2B-89AA-DCA328113557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6781CDD8-D98B-40A5-B737-D3B7EFA956F1}" type="pres">
      <dgm:prSet presAssocID="{6FE00713-7F96-4E2B-89AA-DCA328113557}" presName="spaceRect" presStyleCnt="0"/>
      <dgm:spPr/>
    </dgm:pt>
    <dgm:pt modelId="{79F9A529-2CA2-431A-A0EA-758166B8C24B}" type="pres">
      <dgm:prSet presAssocID="{6FE00713-7F96-4E2B-89AA-DCA328113557}" presName="parTx" presStyleLbl="revTx" presStyleIdx="5" presStyleCnt="7">
        <dgm:presLayoutVars>
          <dgm:chMax val="0"/>
          <dgm:chPref val="0"/>
        </dgm:presLayoutVars>
      </dgm:prSet>
      <dgm:spPr/>
    </dgm:pt>
    <dgm:pt modelId="{26156B17-D2F1-40FE-9866-6A1FED67C366}" type="pres">
      <dgm:prSet presAssocID="{F18BD0C5-8AC6-4F79-BEDF-1E0C4911B531}" presName="sibTrans" presStyleCnt="0"/>
      <dgm:spPr/>
    </dgm:pt>
    <dgm:pt modelId="{8EB39ACB-4F80-4A8A-8D71-050264CCB51E}" type="pres">
      <dgm:prSet presAssocID="{CDC3FD4C-71E2-463C-AED2-422BA9B3958B}" presName="compNode" presStyleCnt="0"/>
      <dgm:spPr/>
    </dgm:pt>
    <dgm:pt modelId="{3694B16C-B0D0-41CE-AD9D-6228EAF1D3AE}" type="pres">
      <dgm:prSet presAssocID="{CDC3FD4C-71E2-463C-AED2-422BA9B3958B}" presName="bgRect" presStyleLbl="bgShp" presStyleIdx="6" presStyleCnt="7"/>
      <dgm:spPr/>
    </dgm:pt>
    <dgm:pt modelId="{A4AFDC26-AFDE-4729-86BA-9A4F3BCEC254}" type="pres">
      <dgm:prSet presAssocID="{CDC3FD4C-71E2-463C-AED2-422BA9B3958B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wnward trend"/>
        </a:ext>
      </dgm:extLst>
    </dgm:pt>
    <dgm:pt modelId="{5577BB1D-C6E9-4125-B165-596FF9E8F849}" type="pres">
      <dgm:prSet presAssocID="{CDC3FD4C-71E2-463C-AED2-422BA9B3958B}" presName="spaceRect" presStyleCnt="0"/>
      <dgm:spPr/>
    </dgm:pt>
    <dgm:pt modelId="{3B231DC1-DAF2-4388-94CC-9D890436DDEA}" type="pres">
      <dgm:prSet presAssocID="{CDC3FD4C-71E2-463C-AED2-422BA9B3958B}" presName="parTx" presStyleLbl="revTx" presStyleIdx="6" presStyleCnt="7">
        <dgm:presLayoutVars>
          <dgm:chMax val="0"/>
          <dgm:chPref val="0"/>
        </dgm:presLayoutVars>
      </dgm:prSet>
      <dgm:spPr/>
    </dgm:pt>
  </dgm:ptLst>
  <dgm:cxnLst>
    <dgm:cxn modelId="{21625704-76C3-41D0-93CE-F54E8035420D}" srcId="{7D61E1C1-C75B-45AB-A8DB-0F8347988191}" destId="{6FE00713-7F96-4E2B-89AA-DCA328113557}" srcOrd="5" destOrd="0" parTransId="{638B4A74-40D6-458E-BFF2-A6FEBA73C47F}" sibTransId="{F18BD0C5-8AC6-4F79-BEDF-1E0C4911B531}"/>
    <dgm:cxn modelId="{00B0D80F-F100-4A7B-B2D1-BF5B01FA760B}" srcId="{7D61E1C1-C75B-45AB-A8DB-0F8347988191}" destId="{D952A781-C101-4CC3-B7AA-B75834D191C2}" srcOrd="4" destOrd="0" parTransId="{DB6ED866-797C-4F09-A6AD-9E526339C13F}" sibTransId="{2104FA42-78CC-4CF0-BB5B-3028998BB474}"/>
    <dgm:cxn modelId="{7C890338-C2BC-477A-A8D7-0A23BD19B1E9}" type="presOf" srcId="{08D76A21-0AAA-4164-B644-6391D4E1553B}" destId="{FC4A6379-9450-43E7-A350-836D478CE06A}" srcOrd="0" destOrd="0" presId="urn:microsoft.com/office/officeart/2018/2/layout/IconVerticalSolidList"/>
    <dgm:cxn modelId="{6B8A565F-EC1C-4BCD-BC0D-5DCC0EED1E88}" type="presOf" srcId="{D952A781-C101-4CC3-B7AA-B75834D191C2}" destId="{B5F4E8FE-2546-44E5-97C8-F9BF9D5B417B}" srcOrd="0" destOrd="0" presId="urn:microsoft.com/office/officeart/2018/2/layout/IconVerticalSolidList"/>
    <dgm:cxn modelId="{38D77F41-75ED-4AF5-8FD5-DD1DEB0B349A}" srcId="{7D61E1C1-C75B-45AB-A8DB-0F8347988191}" destId="{0A3E685C-F27D-4D3B-B88A-1314C027144F}" srcOrd="2" destOrd="0" parTransId="{508A85A5-6ECB-47A6-B559-A52BBBD6B331}" sibTransId="{F5D1F960-6674-44EF-A95E-DBFA4BA118D3}"/>
    <dgm:cxn modelId="{C093314A-C0BA-4427-8ED3-0A91DEBB82F8}" srcId="{7D61E1C1-C75B-45AB-A8DB-0F8347988191}" destId="{D9A4B908-E572-4ED1-AB80-23C6AAEB1BEA}" srcOrd="1" destOrd="0" parTransId="{E08CB981-B396-41CD-94B9-AFC406AB3F0A}" sibTransId="{B4269D31-CA43-4003-85C1-7B3A3B7ACAA1}"/>
    <dgm:cxn modelId="{D7DD8873-BB42-4E81-ADD8-7BAAFE7B517B}" srcId="{7D61E1C1-C75B-45AB-A8DB-0F8347988191}" destId="{5F03F054-4CAE-423B-92CD-9967FD1D7DD4}" srcOrd="0" destOrd="0" parTransId="{B6ABA630-D749-4BA1-8A28-4F33DA890721}" sibTransId="{E145858F-F120-481F-9160-8F1943DA1809}"/>
    <dgm:cxn modelId="{BD2C2F58-C41F-4AE0-938D-9657577A866D}" srcId="{7D61E1C1-C75B-45AB-A8DB-0F8347988191}" destId="{08D76A21-0AAA-4164-B644-6391D4E1553B}" srcOrd="3" destOrd="0" parTransId="{E3D3460E-0D43-4D03-BA22-1844E3FEDD24}" sibTransId="{D9FE3EFD-7098-48CD-B2FC-44770775444D}"/>
    <dgm:cxn modelId="{DFE4EE5A-C140-4B67-87AF-0CB29C3D0EF7}" type="presOf" srcId="{D9A4B908-E572-4ED1-AB80-23C6AAEB1BEA}" destId="{44BA30C5-9F56-4C7D-87C4-638F87DFD01B}" srcOrd="0" destOrd="0" presId="urn:microsoft.com/office/officeart/2018/2/layout/IconVerticalSolidList"/>
    <dgm:cxn modelId="{6053A0A6-0E04-4C50-AE06-A15D31874D81}" type="presOf" srcId="{7D61E1C1-C75B-45AB-A8DB-0F8347988191}" destId="{703F7DB1-7C0C-4E15-ABC2-9E12B7C4332B}" srcOrd="0" destOrd="0" presId="urn:microsoft.com/office/officeart/2018/2/layout/IconVerticalSolidList"/>
    <dgm:cxn modelId="{62B53DB5-4853-4283-A97A-B1C44DA47EA2}" type="presOf" srcId="{0A3E685C-F27D-4D3B-B88A-1314C027144F}" destId="{511B5911-B3CA-4A78-B41B-64D13605506F}" srcOrd="0" destOrd="0" presId="urn:microsoft.com/office/officeart/2018/2/layout/IconVerticalSolidList"/>
    <dgm:cxn modelId="{DBB6A3B5-696D-4BC8-9F9A-E429FE9891BA}" type="presOf" srcId="{6FE00713-7F96-4E2B-89AA-DCA328113557}" destId="{79F9A529-2CA2-431A-A0EA-758166B8C24B}" srcOrd="0" destOrd="0" presId="urn:microsoft.com/office/officeart/2018/2/layout/IconVerticalSolidList"/>
    <dgm:cxn modelId="{652B82EA-8C99-429E-B260-51BE41B9F416}" srcId="{7D61E1C1-C75B-45AB-A8DB-0F8347988191}" destId="{CDC3FD4C-71E2-463C-AED2-422BA9B3958B}" srcOrd="6" destOrd="0" parTransId="{4572EB19-89F1-4EF2-91F4-BA6FD061A971}" sibTransId="{346495FD-CDE3-49A2-8CE7-9BD2F056A50F}"/>
    <dgm:cxn modelId="{E663A8F0-676F-47BB-AE90-3444CD6A11BF}" type="presOf" srcId="{CDC3FD4C-71E2-463C-AED2-422BA9B3958B}" destId="{3B231DC1-DAF2-4388-94CC-9D890436DDEA}" srcOrd="0" destOrd="0" presId="urn:microsoft.com/office/officeart/2018/2/layout/IconVerticalSolidList"/>
    <dgm:cxn modelId="{F2AB21FA-5B9B-45DE-A9C8-BF0D22090100}" type="presOf" srcId="{5F03F054-4CAE-423B-92CD-9967FD1D7DD4}" destId="{218F608A-8B55-4EED-A5B2-8D3CD52A81A5}" srcOrd="0" destOrd="0" presId="urn:microsoft.com/office/officeart/2018/2/layout/IconVerticalSolidList"/>
    <dgm:cxn modelId="{67A5EB75-0349-4611-8ECC-8459DF785C6C}" type="presParOf" srcId="{703F7DB1-7C0C-4E15-ABC2-9E12B7C4332B}" destId="{B3B7A2A7-4BE0-4FC3-B8AD-BE3F2F09CE04}" srcOrd="0" destOrd="0" presId="urn:microsoft.com/office/officeart/2018/2/layout/IconVerticalSolidList"/>
    <dgm:cxn modelId="{8AF2ECEB-1DDC-4189-98C8-E5901FC942CF}" type="presParOf" srcId="{B3B7A2A7-4BE0-4FC3-B8AD-BE3F2F09CE04}" destId="{D99D31E5-989F-4378-BDD3-4980A35B1EE7}" srcOrd="0" destOrd="0" presId="urn:microsoft.com/office/officeart/2018/2/layout/IconVerticalSolidList"/>
    <dgm:cxn modelId="{1D66EA9E-E8AB-483F-956D-CF9C1F5F3B8B}" type="presParOf" srcId="{B3B7A2A7-4BE0-4FC3-B8AD-BE3F2F09CE04}" destId="{94F98512-A913-4394-A18F-570C37B4C7C6}" srcOrd="1" destOrd="0" presId="urn:microsoft.com/office/officeart/2018/2/layout/IconVerticalSolidList"/>
    <dgm:cxn modelId="{FF09268E-A269-4862-80F0-AE63AB7740B3}" type="presParOf" srcId="{B3B7A2A7-4BE0-4FC3-B8AD-BE3F2F09CE04}" destId="{2B69702B-C64B-4F37-BFBD-9F45DEDC3B73}" srcOrd="2" destOrd="0" presId="urn:microsoft.com/office/officeart/2018/2/layout/IconVerticalSolidList"/>
    <dgm:cxn modelId="{B0672647-C3C9-4CB5-ADB3-CA82080F2131}" type="presParOf" srcId="{B3B7A2A7-4BE0-4FC3-B8AD-BE3F2F09CE04}" destId="{218F608A-8B55-4EED-A5B2-8D3CD52A81A5}" srcOrd="3" destOrd="0" presId="urn:microsoft.com/office/officeart/2018/2/layout/IconVerticalSolidList"/>
    <dgm:cxn modelId="{F5B53BD5-9CEF-4053-8087-9BFB5DE0F41F}" type="presParOf" srcId="{703F7DB1-7C0C-4E15-ABC2-9E12B7C4332B}" destId="{6E98256F-20B6-4501-AFB8-63323E16FC71}" srcOrd="1" destOrd="0" presId="urn:microsoft.com/office/officeart/2018/2/layout/IconVerticalSolidList"/>
    <dgm:cxn modelId="{7F340F41-1DC9-4D51-B400-485B050CD96C}" type="presParOf" srcId="{703F7DB1-7C0C-4E15-ABC2-9E12B7C4332B}" destId="{82626098-FF9F-40DF-97E9-8B93E6123B36}" srcOrd="2" destOrd="0" presId="urn:microsoft.com/office/officeart/2018/2/layout/IconVerticalSolidList"/>
    <dgm:cxn modelId="{5A4BD32D-8B64-40A7-9A6A-F9534D586370}" type="presParOf" srcId="{82626098-FF9F-40DF-97E9-8B93E6123B36}" destId="{A6DD9D73-E237-456F-9703-C5386BBE274B}" srcOrd="0" destOrd="0" presId="urn:microsoft.com/office/officeart/2018/2/layout/IconVerticalSolidList"/>
    <dgm:cxn modelId="{E1946411-599E-4AE9-B3F8-C897B9291A14}" type="presParOf" srcId="{82626098-FF9F-40DF-97E9-8B93E6123B36}" destId="{E720EF16-0F58-4470-9F19-777722B7583C}" srcOrd="1" destOrd="0" presId="urn:microsoft.com/office/officeart/2018/2/layout/IconVerticalSolidList"/>
    <dgm:cxn modelId="{D30DAE7E-633A-4B33-827C-46EB17FF592D}" type="presParOf" srcId="{82626098-FF9F-40DF-97E9-8B93E6123B36}" destId="{1ECDC49F-F169-4F19-9ECE-62DB354ED31E}" srcOrd="2" destOrd="0" presId="urn:microsoft.com/office/officeart/2018/2/layout/IconVerticalSolidList"/>
    <dgm:cxn modelId="{EDC18D2A-9A8D-4EC6-8063-12536F6AC90C}" type="presParOf" srcId="{82626098-FF9F-40DF-97E9-8B93E6123B36}" destId="{44BA30C5-9F56-4C7D-87C4-638F87DFD01B}" srcOrd="3" destOrd="0" presId="urn:microsoft.com/office/officeart/2018/2/layout/IconVerticalSolidList"/>
    <dgm:cxn modelId="{C48AD3B9-1AC8-41CE-B279-640AA28D7596}" type="presParOf" srcId="{703F7DB1-7C0C-4E15-ABC2-9E12B7C4332B}" destId="{95067CE2-26B9-47B2-83C7-76C7E96A503E}" srcOrd="3" destOrd="0" presId="urn:microsoft.com/office/officeart/2018/2/layout/IconVerticalSolidList"/>
    <dgm:cxn modelId="{38BC0BF3-8A8C-462B-A4F3-F8645E85676A}" type="presParOf" srcId="{703F7DB1-7C0C-4E15-ABC2-9E12B7C4332B}" destId="{DB379A37-7FC3-4DF0-A6B8-AC442A0AF1F7}" srcOrd="4" destOrd="0" presId="urn:microsoft.com/office/officeart/2018/2/layout/IconVerticalSolidList"/>
    <dgm:cxn modelId="{AC10C1C0-C370-4854-A6CA-6BCECC62C159}" type="presParOf" srcId="{DB379A37-7FC3-4DF0-A6B8-AC442A0AF1F7}" destId="{0D690648-D357-4D36-8197-F03078364D20}" srcOrd="0" destOrd="0" presId="urn:microsoft.com/office/officeart/2018/2/layout/IconVerticalSolidList"/>
    <dgm:cxn modelId="{765CB71C-1D44-4739-BC6A-38F8F9ADF4C4}" type="presParOf" srcId="{DB379A37-7FC3-4DF0-A6B8-AC442A0AF1F7}" destId="{D9591675-7D27-45CB-AE85-8BAD9EE9FF34}" srcOrd="1" destOrd="0" presId="urn:microsoft.com/office/officeart/2018/2/layout/IconVerticalSolidList"/>
    <dgm:cxn modelId="{5529E480-B341-42D6-A4FC-44D06FFD1935}" type="presParOf" srcId="{DB379A37-7FC3-4DF0-A6B8-AC442A0AF1F7}" destId="{5FF0FCDA-0EF5-49E3-93B3-729116B4C9D2}" srcOrd="2" destOrd="0" presId="urn:microsoft.com/office/officeart/2018/2/layout/IconVerticalSolidList"/>
    <dgm:cxn modelId="{D306795C-4CA2-4E0D-B04C-693865E8AC4E}" type="presParOf" srcId="{DB379A37-7FC3-4DF0-A6B8-AC442A0AF1F7}" destId="{511B5911-B3CA-4A78-B41B-64D13605506F}" srcOrd="3" destOrd="0" presId="urn:microsoft.com/office/officeart/2018/2/layout/IconVerticalSolidList"/>
    <dgm:cxn modelId="{395CF1F0-50B5-4465-A057-F3B43BBCDCFA}" type="presParOf" srcId="{703F7DB1-7C0C-4E15-ABC2-9E12B7C4332B}" destId="{D6898BA7-4DCF-434C-A0F9-62CF7B792968}" srcOrd="5" destOrd="0" presId="urn:microsoft.com/office/officeart/2018/2/layout/IconVerticalSolidList"/>
    <dgm:cxn modelId="{F5758E5B-2912-444A-ADEE-0364CD83B78D}" type="presParOf" srcId="{703F7DB1-7C0C-4E15-ABC2-9E12B7C4332B}" destId="{653C384C-3D72-4893-919B-BF2FDF130957}" srcOrd="6" destOrd="0" presId="urn:microsoft.com/office/officeart/2018/2/layout/IconVerticalSolidList"/>
    <dgm:cxn modelId="{B59ADD0F-A660-4858-85D6-7AC9C5D0D90E}" type="presParOf" srcId="{653C384C-3D72-4893-919B-BF2FDF130957}" destId="{DA89E77C-7027-4620-B847-090E1DED3845}" srcOrd="0" destOrd="0" presId="urn:microsoft.com/office/officeart/2018/2/layout/IconVerticalSolidList"/>
    <dgm:cxn modelId="{41938623-CE3F-44F2-9A27-A3D1EEB6281D}" type="presParOf" srcId="{653C384C-3D72-4893-919B-BF2FDF130957}" destId="{E10405E1-273D-403E-B07F-5BD0FC269C64}" srcOrd="1" destOrd="0" presId="urn:microsoft.com/office/officeart/2018/2/layout/IconVerticalSolidList"/>
    <dgm:cxn modelId="{C9B58D6F-877C-4DCB-A803-1F684BF4583C}" type="presParOf" srcId="{653C384C-3D72-4893-919B-BF2FDF130957}" destId="{C0A3077B-48D2-4D2F-B9DB-BC11DEDDFB69}" srcOrd="2" destOrd="0" presId="urn:microsoft.com/office/officeart/2018/2/layout/IconVerticalSolidList"/>
    <dgm:cxn modelId="{59585476-6686-4934-AE75-99915ECCDE41}" type="presParOf" srcId="{653C384C-3D72-4893-919B-BF2FDF130957}" destId="{FC4A6379-9450-43E7-A350-836D478CE06A}" srcOrd="3" destOrd="0" presId="urn:microsoft.com/office/officeart/2018/2/layout/IconVerticalSolidList"/>
    <dgm:cxn modelId="{0DE15390-7907-4B4A-9500-79CEAA1C4BB3}" type="presParOf" srcId="{703F7DB1-7C0C-4E15-ABC2-9E12B7C4332B}" destId="{0727ECF5-FDD8-4C43-8FF9-021115E4B7AB}" srcOrd="7" destOrd="0" presId="urn:microsoft.com/office/officeart/2018/2/layout/IconVerticalSolidList"/>
    <dgm:cxn modelId="{3D3C8AD9-685D-471B-9986-4311BA4E42AE}" type="presParOf" srcId="{703F7DB1-7C0C-4E15-ABC2-9E12B7C4332B}" destId="{A8EE9DD9-72BE-47C3-ACD6-190557CA3AFA}" srcOrd="8" destOrd="0" presId="urn:microsoft.com/office/officeart/2018/2/layout/IconVerticalSolidList"/>
    <dgm:cxn modelId="{4ECBC7B6-AABC-44D3-8527-9D24DB81F216}" type="presParOf" srcId="{A8EE9DD9-72BE-47C3-ACD6-190557CA3AFA}" destId="{75495163-1716-4B10-B82F-780C6B2BA76A}" srcOrd="0" destOrd="0" presId="urn:microsoft.com/office/officeart/2018/2/layout/IconVerticalSolidList"/>
    <dgm:cxn modelId="{CD173643-A779-4CCB-8745-C6C00C26D444}" type="presParOf" srcId="{A8EE9DD9-72BE-47C3-ACD6-190557CA3AFA}" destId="{46824FC3-26BA-4ED9-951E-B12B47532DD2}" srcOrd="1" destOrd="0" presId="urn:microsoft.com/office/officeart/2018/2/layout/IconVerticalSolidList"/>
    <dgm:cxn modelId="{B197EAA6-A1D5-4295-84F1-71F81F19B118}" type="presParOf" srcId="{A8EE9DD9-72BE-47C3-ACD6-190557CA3AFA}" destId="{A5B24730-207E-4057-B936-507ADA58B2E9}" srcOrd="2" destOrd="0" presId="urn:microsoft.com/office/officeart/2018/2/layout/IconVerticalSolidList"/>
    <dgm:cxn modelId="{B4DB866C-5976-4F83-9190-7C4FBE7F279D}" type="presParOf" srcId="{A8EE9DD9-72BE-47C3-ACD6-190557CA3AFA}" destId="{B5F4E8FE-2546-44E5-97C8-F9BF9D5B417B}" srcOrd="3" destOrd="0" presId="urn:microsoft.com/office/officeart/2018/2/layout/IconVerticalSolidList"/>
    <dgm:cxn modelId="{2331C7FE-EBB3-4B40-BB99-D59802B5EB32}" type="presParOf" srcId="{703F7DB1-7C0C-4E15-ABC2-9E12B7C4332B}" destId="{481EA4F7-815D-4CB2-82A0-B9CC4ABCCC3C}" srcOrd="9" destOrd="0" presId="urn:microsoft.com/office/officeart/2018/2/layout/IconVerticalSolidList"/>
    <dgm:cxn modelId="{85780E0C-51D1-4DE0-BC81-265CD498492A}" type="presParOf" srcId="{703F7DB1-7C0C-4E15-ABC2-9E12B7C4332B}" destId="{D345557B-EB6C-4B1D-8B8B-A76DF37CF55F}" srcOrd="10" destOrd="0" presId="urn:microsoft.com/office/officeart/2018/2/layout/IconVerticalSolidList"/>
    <dgm:cxn modelId="{89ECC667-2DD3-4E69-815E-04F9FCA1822E}" type="presParOf" srcId="{D345557B-EB6C-4B1D-8B8B-A76DF37CF55F}" destId="{890075FA-3EEE-4509-A055-590A5148D32E}" srcOrd="0" destOrd="0" presId="urn:microsoft.com/office/officeart/2018/2/layout/IconVerticalSolidList"/>
    <dgm:cxn modelId="{3277539B-7835-4A7F-9EBB-5BB40D0E917B}" type="presParOf" srcId="{D345557B-EB6C-4B1D-8B8B-A76DF37CF55F}" destId="{8DD2FC35-9D00-4025-A58A-46F4DCBAF6A7}" srcOrd="1" destOrd="0" presId="urn:microsoft.com/office/officeart/2018/2/layout/IconVerticalSolidList"/>
    <dgm:cxn modelId="{756EF147-2C47-45C5-AAA9-EF579F5DC57C}" type="presParOf" srcId="{D345557B-EB6C-4B1D-8B8B-A76DF37CF55F}" destId="{6781CDD8-D98B-40A5-B737-D3B7EFA956F1}" srcOrd="2" destOrd="0" presId="urn:microsoft.com/office/officeart/2018/2/layout/IconVerticalSolidList"/>
    <dgm:cxn modelId="{EF2E4B72-9412-4055-8CDC-302B93150303}" type="presParOf" srcId="{D345557B-EB6C-4B1D-8B8B-A76DF37CF55F}" destId="{79F9A529-2CA2-431A-A0EA-758166B8C24B}" srcOrd="3" destOrd="0" presId="urn:microsoft.com/office/officeart/2018/2/layout/IconVerticalSolidList"/>
    <dgm:cxn modelId="{2DAB8487-4631-4979-B745-99C849CFB825}" type="presParOf" srcId="{703F7DB1-7C0C-4E15-ABC2-9E12B7C4332B}" destId="{26156B17-D2F1-40FE-9866-6A1FED67C366}" srcOrd="11" destOrd="0" presId="urn:microsoft.com/office/officeart/2018/2/layout/IconVerticalSolidList"/>
    <dgm:cxn modelId="{780006C8-2D6A-413D-8B63-1099CAEF5AE7}" type="presParOf" srcId="{703F7DB1-7C0C-4E15-ABC2-9E12B7C4332B}" destId="{8EB39ACB-4F80-4A8A-8D71-050264CCB51E}" srcOrd="12" destOrd="0" presId="urn:microsoft.com/office/officeart/2018/2/layout/IconVerticalSolidList"/>
    <dgm:cxn modelId="{F465F339-C4DC-4CAF-8BF7-F599AC4661A5}" type="presParOf" srcId="{8EB39ACB-4F80-4A8A-8D71-050264CCB51E}" destId="{3694B16C-B0D0-41CE-AD9D-6228EAF1D3AE}" srcOrd="0" destOrd="0" presId="urn:microsoft.com/office/officeart/2018/2/layout/IconVerticalSolidList"/>
    <dgm:cxn modelId="{F2994B1D-A5DB-433C-8FFD-89B4F19259BF}" type="presParOf" srcId="{8EB39ACB-4F80-4A8A-8D71-050264CCB51E}" destId="{A4AFDC26-AFDE-4729-86BA-9A4F3BCEC254}" srcOrd="1" destOrd="0" presId="urn:microsoft.com/office/officeart/2018/2/layout/IconVerticalSolidList"/>
    <dgm:cxn modelId="{8D350B1B-5990-4A38-AAF9-C4FC45715C96}" type="presParOf" srcId="{8EB39ACB-4F80-4A8A-8D71-050264CCB51E}" destId="{5577BB1D-C6E9-4125-B165-596FF9E8F849}" srcOrd="2" destOrd="0" presId="urn:microsoft.com/office/officeart/2018/2/layout/IconVerticalSolidList"/>
    <dgm:cxn modelId="{C1503DA2-4C28-4BDA-B29F-BFE8C44EE71F}" type="presParOf" srcId="{8EB39ACB-4F80-4A8A-8D71-050264CCB51E}" destId="{3B231DC1-DAF2-4388-94CC-9D890436DDE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FA2359F-5125-429A-9E55-B10DFF5FFBA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C232594-1BD8-4432-85E0-4B5845C41937}">
      <dgm:prSet/>
      <dgm:spPr/>
      <dgm:t>
        <a:bodyPr/>
        <a:lstStyle/>
        <a:p>
          <a:r>
            <a:rPr lang="en-US"/>
            <a:t>What are the biggest challenges in assessing rigour in qualitative research?</a:t>
          </a:r>
        </a:p>
      </dgm:t>
    </dgm:pt>
    <dgm:pt modelId="{75B7125F-6920-410A-8B94-719DD9C9A880}" type="parTrans" cxnId="{C89AF3DC-35EE-4260-ABB3-2333189E6317}">
      <dgm:prSet/>
      <dgm:spPr/>
      <dgm:t>
        <a:bodyPr/>
        <a:lstStyle/>
        <a:p>
          <a:endParaRPr lang="en-US"/>
        </a:p>
      </dgm:t>
    </dgm:pt>
    <dgm:pt modelId="{1AA8B894-1677-4FCF-A5A7-4E6D4EADD94D}" type="sibTrans" cxnId="{C89AF3DC-35EE-4260-ABB3-2333189E6317}">
      <dgm:prSet/>
      <dgm:spPr/>
      <dgm:t>
        <a:bodyPr/>
        <a:lstStyle/>
        <a:p>
          <a:endParaRPr lang="en-US"/>
        </a:p>
      </dgm:t>
    </dgm:pt>
    <dgm:pt modelId="{31AC7962-3FB5-494E-B99E-CF233B554E9C}">
      <dgm:prSet/>
      <dgm:spPr/>
      <dgm:t>
        <a:bodyPr/>
        <a:lstStyle/>
        <a:p>
          <a:r>
            <a:rPr lang="en-US"/>
            <a:t>How can researchers minimize bias in qualitative studies?</a:t>
          </a:r>
        </a:p>
      </dgm:t>
    </dgm:pt>
    <dgm:pt modelId="{4D607782-C0E3-4116-A77D-AD95A8C3B4D0}" type="parTrans" cxnId="{93A3060E-380A-4784-9594-D18350B6E5B1}">
      <dgm:prSet/>
      <dgm:spPr/>
      <dgm:t>
        <a:bodyPr/>
        <a:lstStyle/>
        <a:p>
          <a:endParaRPr lang="en-US"/>
        </a:p>
      </dgm:t>
    </dgm:pt>
    <dgm:pt modelId="{35DAEFA6-F5FD-4C66-9CB6-E35D60163B99}" type="sibTrans" cxnId="{93A3060E-380A-4784-9594-D18350B6E5B1}">
      <dgm:prSet/>
      <dgm:spPr/>
      <dgm:t>
        <a:bodyPr/>
        <a:lstStyle/>
        <a:p>
          <a:endParaRPr lang="en-US"/>
        </a:p>
      </dgm:t>
    </dgm:pt>
    <dgm:pt modelId="{4317342B-B939-4BB4-B48F-272A6C698D30}">
      <dgm:prSet/>
      <dgm:spPr/>
      <dgm:t>
        <a:bodyPr/>
        <a:lstStyle/>
        <a:p>
          <a:r>
            <a:rPr lang="en-US"/>
            <a:t>How does the relationship between the researcher and participants influence findings?</a:t>
          </a:r>
        </a:p>
      </dgm:t>
    </dgm:pt>
    <dgm:pt modelId="{BEF31F77-31CF-41B1-A23A-D7F0DAE0A805}" type="parTrans" cxnId="{2B54001F-B4ED-42C5-849F-42F65DB02CB4}">
      <dgm:prSet/>
      <dgm:spPr/>
      <dgm:t>
        <a:bodyPr/>
        <a:lstStyle/>
        <a:p>
          <a:endParaRPr lang="en-US"/>
        </a:p>
      </dgm:t>
    </dgm:pt>
    <dgm:pt modelId="{33B5DA46-7149-4314-A175-B80E55722BAE}" type="sibTrans" cxnId="{2B54001F-B4ED-42C5-849F-42F65DB02CB4}">
      <dgm:prSet/>
      <dgm:spPr/>
      <dgm:t>
        <a:bodyPr/>
        <a:lstStyle/>
        <a:p>
          <a:endParaRPr lang="en-US"/>
        </a:p>
      </dgm:t>
    </dgm:pt>
    <dgm:pt modelId="{5559876D-D508-4B7E-B32D-03F1EFB9F756}" type="pres">
      <dgm:prSet presAssocID="{6FA2359F-5125-429A-9E55-B10DFF5FFBA0}" presName="linear" presStyleCnt="0">
        <dgm:presLayoutVars>
          <dgm:animLvl val="lvl"/>
          <dgm:resizeHandles val="exact"/>
        </dgm:presLayoutVars>
      </dgm:prSet>
      <dgm:spPr/>
    </dgm:pt>
    <dgm:pt modelId="{246363DA-0F85-43B1-9EBC-F7092B34CF96}" type="pres">
      <dgm:prSet presAssocID="{8C232594-1BD8-4432-85E0-4B5845C41937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2DA35F62-BE53-4AD5-854A-1F04E4DCBF8E}" type="pres">
      <dgm:prSet presAssocID="{1AA8B894-1677-4FCF-A5A7-4E6D4EADD94D}" presName="spacer" presStyleCnt="0"/>
      <dgm:spPr/>
    </dgm:pt>
    <dgm:pt modelId="{6F8CCC73-EE31-47C3-B7F2-F05ECB8FB764}" type="pres">
      <dgm:prSet presAssocID="{31AC7962-3FB5-494E-B99E-CF233B554E9C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21A118F5-31D1-4632-9218-6AB2A9395650}" type="pres">
      <dgm:prSet presAssocID="{35DAEFA6-F5FD-4C66-9CB6-E35D60163B99}" presName="spacer" presStyleCnt="0"/>
      <dgm:spPr/>
    </dgm:pt>
    <dgm:pt modelId="{B029863D-5E26-4F1E-8A21-736AF529EE42}" type="pres">
      <dgm:prSet presAssocID="{4317342B-B939-4BB4-B48F-272A6C698D30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292DFA06-C5C4-423A-88CF-73E6E6628E5B}" type="presOf" srcId="{8C232594-1BD8-4432-85E0-4B5845C41937}" destId="{246363DA-0F85-43B1-9EBC-F7092B34CF96}" srcOrd="0" destOrd="0" presId="urn:microsoft.com/office/officeart/2005/8/layout/vList2"/>
    <dgm:cxn modelId="{93A3060E-380A-4784-9594-D18350B6E5B1}" srcId="{6FA2359F-5125-429A-9E55-B10DFF5FFBA0}" destId="{31AC7962-3FB5-494E-B99E-CF233B554E9C}" srcOrd="1" destOrd="0" parTransId="{4D607782-C0E3-4116-A77D-AD95A8C3B4D0}" sibTransId="{35DAEFA6-F5FD-4C66-9CB6-E35D60163B99}"/>
    <dgm:cxn modelId="{2B54001F-B4ED-42C5-849F-42F65DB02CB4}" srcId="{6FA2359F-5125-429A-9E55-B10DFF5FFBA0}" destId="{4317342B-B939-4BB4-B48F-272A6C698D30}" srcOrd="2" destOrd="0" parTransId="{BEF31F77-31CF-41B1-A23A-D7F0DAE0A805}" sibTransId="{33B5DA46-7149-4314-A175-B80E55722BAE}"/>
    <dgm:cxn modelId="{7860E27B-5599-42F6-965B-DB08911EAE05}" type="presOf" srcId="{31AC7962-3FB5-494E-B99E-CF233B554E9C}" destId="{6F8CCC73-EE31-47C3-B7F2-F05ECB8FB764}" srcOrd="0" destOrd="0" presId="urn:microsoft.com/office/officeart/2005/8/layout/vList2"/>
    <dgm:cxn modelId="{C89AF3DC-35EE-4260-ABB3-2333189E6317}" srcId="{6FA2359F-5125-429A-9E55-B10DFF5FFBA0}" destId="{8C232594-1BD8-4432-85E0-4B5845C41937}" srcOrd="0" destOrd="0" parTransId="{75B7125F-6920-410A-8B94-719DD9C9A880}" sibTransId="{1AA8B894-1677-4FCF-A5A7-4E6D4EADD94D}"/>
    <dgm:cxn modelId="{3E8B85F6-06F9-49EF-BEC2-664BD170BC03}" type="presOf" srcId="{4317342B-B939-4BB4-B48F-272A6C698D30}" destId="{B029863D-5E26-4F1E-8A21-736AF529EE42}" srcOrd="0" destOrd="0" presId="urn:microsoft.com/office/officeart/2005/8/layout/vList2"/>
    <dgm:cxn modelId="{8680C3FE-DAAB-45C9-816D-4BC855622A0E}" type="presOf" srcId="{6FA2359F-5125-429A-9E55-B10DFF5FFBA0}" destId="{5559876D-D508-4B7E-B32D-03F1EFB9F756}" srcOrd="0" destOrd="0" presId="urn:microsoft.com/office/officeart/2005/8/layout/vList2"/>
    <dgm:cxn modelId="{3286AA0C-DE7E-4BF2-8B68-5A96B7BE44EA}" type="presParOf" srcId="{5559876D-D508-4B7E-B32D-03F1EFB9F756}" destId="{246363DA-0F85-43B1-9EBC-F7092B34CF96}" srcOrd="0" destOrd="0" presId="urn:microsoft.com/office/officeart/2005/8/layout/vList2"/>
    <dgm:cxn modelId="{B1214079-91CB-4193-A39E-520D429CD43C}" type="presParOf" srcId="{5559876D-D508-4B7E-B32D-03F1EFB9F756}" destId="{2DA35F62-BE53-4AD5-854A-1F04E4DCBF8E}" srcOrd="1" destOrd="0" presId="urn:microsoft.com/office/officeart/2005/8/layout/vList2"/>
    <dgm:cxn modelId="{18AD405D-A391-4E7A-8696-1F6B2C8378E3}" type="presParOf" srcId="{5559876D-D508-4B7E-B32D-03F1EFB9F756}" destId="{6F8CCC73-EE31-47C3-B7F2-F05ECB8FB764}" srcOrd="2" destOrd="0" presId="urn:microsoft.com/office/officeart/2005/8/layout/vList2"/>
    <dgm:cxn modelId="{2E590A9E-C2DA-4AC6-9134-24EC5DF08C7D}" type="presParOf" srcId="{5559876D-D508-4B7E-B32D-03F1EFB9F756}" destId="{21A118F5-31D1-4632-9218-6AB2A9395650}" srcOrd="3" destOrd="0" presId="urn:microsoft.com/office/officeart/2005/8/layout/vList2"/>
    <dgm:cxn modelId="{7703EC93-4962-4F50-AC90-15F01096A4E9}" type="presParOf" srcId="{5559876D-D508-4B7E-B32D-03F1EFB9F756}" destId="{B029863D-5E26-4F1E-8A21-736AF529EE42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E38A10-41E9-4A76-ABC1-21F5207A27CA}">
      <dsp:nvSpPr>
        <dsp:cNvPr id="0" name=""/>
        <dsp:cNvSpPr/>
      </dsp:nvSpPr>
      <dsp:spPr>
        <a:xfrm>
          <a:off x="0" y="271"/>
          <a:ext cx="1077722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E69241-CC12-446B-8F85-2F6A1164C3B8}">
      <dsp:nvSpPr>
        <dsp:cNvPr id="0" name=""/>
        <dsp:cNvSpPr/>
      </dsp:nvSpPr>
      <dsp:spPr>
        <a:xfrm>
          <a:off x="0" y="271"/>
          <a:ext cx="10777220" cy="4440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Appraise - Critically appraise qualitative research using a structured critical appraisal tool.</a:t>
          </a:r>
        </a:p>
      </dsp:txBody>
      <dsp:txXfrm>
        <a:off x="0" y="271"/>
        <a:ext cx="10777220" cy="444010"/>
      </dsp:txXfrm>
    </dsp:sp>
    <dsp:sp modelId="{8F608EEF-99F4-47AB-96AA-95E01D8006E0}">
      <dsp:nvSpPr>
        <dsp:cNvPr id="0" name=""/>
        <dsp:cNvSpPr/>
      </dsp:nvSpPr>
      <dsp:spPr>
        <a:xfrm>
          <a:off x="0" y="444281"/>
          <a:ext cx="1077722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1A57E8-38C7-4350-9776-1A8DB4A2FE1A}">
      <dsp:nvSpPr>
        <dsp:cNvPr id="0" name=""/>
        <dsp:cNvSpPr/>
      </dsp:nvSpPr>
      <dsp:spPr>
        <a:xfrm>
          <a:off x="0" y="444281"/>
          <a:ext cx="10777220" cy="4440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Assess - Assess rigour and quality in qualitative research.</a:t>
          </a:r>
        </a:p>
      </dsp:txBody>
      <dsp:txXfrm>
        <a:off x="0" y="444281"/>
        <a:ext cx="10777220" cy="444010"/>
      </dsp:txXfrm>
    </dsp:sp>
    <dsp:sp modelId="{6C7D7BA3-8465-4CF1-916D-837747DF6B03}">
      <dsp:nvSpPr>
        <dsp:cNvPr id="0" name=""/>
        <dsp:cNvSpPr/>
      </dsp:nvSpPr>
      <dsp:spPr>
        <a:xfrm>
          <a:off x="0" y="888292"/>
          <a:ext cx="1077722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8AFB29-14AE-42FC-AC68-C580BEC93F4B}">
      <dsp:nvSpPr>
        <dsp:cNvPr id="0" name=""/>
        <dsp:cNvSpPr/>
      </dsp:nvSpPr>
      <dsp:spPr>
        <a:xfrm>
          <a:off x="0" y="888292"/>
          <a:ext cx="10777220" cy="4440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Understand - Understand the role of critical appraisal in making research-based</a:t>
          </a:r>
        </a:p>
      </dsp:txBody>
      <dsp:txXfrm>
        <a:off x="0" y="888292"/>
        <a:ext cx="10777220" cy="444010"/>
      </dsp:txXfrm>
    </dsp:sp>
    <dsp:sp modelId="{3AE957B9-D8ED-403C-8829-3AC48D72E154}">
      <dsp:nvSpPr>
        <dsp:cNvPr id="0" name=""/>
        <dsp:cNvSpPr/>
      </dsp:nvSpPr>
      <dsp:spPr>
        <a:xfrm>
          <a:off x="0" y="1332302"/>
          <a:ext cx="1077722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5906BA-E301-4B1A-9BCA-FC9A0CAE08CA}">
      <dsp:nvSpPr>
        <dsp:cNvPr id="0" name=""/>
        <dsp:cNvSpPr/>
      </dsp:nvSpPr>
      <dsp:spPr>
        <a:xfrm>
          <a:off x="0" y="1332302"/>
          <a:ext cx="10777220" cy="4440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decisions.</a:t>
          </a:r>
        </a:p>
      </dsp:txBody>
      <dsp:txXfrm>
        <a:off x="0" y="1332302"/>
        <a:ext cx="10777220" cy="444010"/>
      </dsp:txXfrm>
    </dsp:sp>
    <dsp:sp modelId="{46B267EB-4706-4291-90D1-55321C75FB3F}">
      <dsp:nvSpPr>
        <dsp:cNvPr id="0" name=""/>
        <dsp:cNvSpPr/>
      </dsp:nvSpPr>
      <dsp:spPr>
        <a:xfrm>
          <a:off x="0" y="1776313"/>
          <a:ext cx="1077722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D29C13-C5F4-4050-AABC-BC507C931347}">
      <dsp:nvSpPr>
        <dsp:cNvPr id="0" name=""/>
        <dsp:cNvSpPr/>
      </dsp:nvSpPr>
      <dsp:spPr>
        <a:xfrm>
          <a:off x="0" y="1776313"/>
          <a:ext cx="10777220" cy="4440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Apply - Apply the CASP Qualitative Checklist in evaluating research studies</a:t>
          </a:r>
        </a:p>
      </dsp:txBody>
      <dsp:txXfrm>
        <a:off x="0" y="1776313"/>
        <a:ext cx="10777220" cy="4440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2A6840-B939-4B7F-819A-E3C59EDB3805}">
      <dsp:nvSpPr>
        <dsp:cNvPr id="0" name=""/>
        <dsp:cNvSpPr/>
      </dsp:nvSpPr>
      <dsp:spPr>
        <a:xfrm>
          <a:off x="0" y="0"/>
          <a:ext cx="4136136" cy="76080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Critical appraisal is the systematic evaluation of research</a:t>
          </a:r>
        </a:p>
      </dsp:txBody>
      <dsp:txXfrm>
        <a:off x="22283" y="22283"/>
        <a:ext cx="3250879" cy="716240"/>
      </dsp:txXfrm>
    </dsp:sp>
    <dsp:sp modelId="{219F3088-CA7B-4475-AF7F-3C1BB7505AAE}">
      <dsp:nvSpPr>
        <dsp:cNvPr id="0" name=""/>
        <dsp:cNvSpPr/>
      </dsp:nvSpPr>
      <dsp:spPr>
        <a:xfrm>
          <a:off x="346401" y="899134"/>
          <a:ext cx="4136136" cy="76080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Judging quality and relevance</a:t>
          </a:r>
        </a:p>
      </dsp:txBody>
      <dsp:txXfrm>
        <a:off x="368684" y="921417"/>
        <a:ext cx="3250644" cy="716240"/>
      </dsp:txXfrm>
    </dsp:sp>
    <dsp:sp modelId="{EDCE5EF8-EB27-4DCE-8392-B26E0F7CD99C}">
      <dsp:nvSpPr>
        <dsp:cNvPr id="0" name=""/>
        <dsp:cNvSpPr/>
      </dsp:nvSpPr>
      <dsp:spPr>
        <a:xfrm>
          <a:off x="687632" y="1798269"/>
          <a:ext cx="4136136" cy="76080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Relationship to evidence-based practice</a:t>
          </a:r>
        </a:p>
      </dsp:txBody>
      <dsp:txXfrm>
        <a:off x="709915" y="1820552"/>
        <a:ext cx="3255814" cy="716240"/>
      </dsp:txXfrm>
    </dsp:sp>
    <dsp:sp modelId="{241BFB99-88FC-462F-BFA1-01D7F41AE765}">
      <dsp:nvSpPr>
        <dsp:cNvPr id="0" name=""/>
        <dsp:cNvSpPr/>
      </dsp:nvSpPr>
      <dsp:spPr>
        <a:xfrm>
          <a:off x="1034033" y="2697403"/>
          <a:ext cx="4136136" cy="76080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Critical appraisal vs reading literature</a:t>
          </a:r>
        </a:p>
      </dsp:txBody>
      <dsp:txXfrm>
        <a:off x="1056316" y="2719686"/>
        <a:ext cx="3250644" cy="716240"/>
      </dsp:txXfrm>
    </dsp:sp>
    <dsp:sp modelId="{4D8CBF6C-E57F-43C4-890C-C61EB09BCE18}">
      <dsp:nvSpPr>
        <dsp:cNvPr id="0" name=""/>
        <dsp:cNvSpPr/>
      </dsp:nvSpPr>
      <dsp:spPr>
        <a:xfrm>
          <a:off x="3641611" y="582708"/>
          <a:ext cx="494524" cy="49452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3752879" y="582708"/>
        <a:ext cx="271988" cy="372129"/>
      </dsp:txXfrm>
    </dsp:sp>
    <dsp:sp modelId="{E2E2A087-EB56-440A-9CB9-5FFCE62957C7}">
      <dsp:nvSpPr>
        <dsp:cNvPr id="0" name=""/>
        <dsp:cNvSpPr/>
      </dsp:nvSpPr>
      <dsp:spPr>
        <a:xfrm>
          <a:off x="3988013" y="1481842"/>
          <a:ext cx="494524" cy="49452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4099281" y="1481842"/>
        <a:ext cx="271988" cy="372129"/>
      </dsp:txXfrm>
    </dsp:sp>
    <dsp:sp modelId="{E8C1A560-F4FE-4463-A03B-38981B22C4F8}">
      <dsp:nvSpPr>
        <dsp:cNvPr id="0" name=""/>
        <dsp:cNvSpPr/>
      </dsp:nvSpPr>
      <dsp:spPr>
        <a:xfrm>
          <a:off x="4329244" y="2380977"/>
          <a:ext cx="494524" cy="49452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4440512" y="2380977"/>
        <a:ext cx="271988" cy="37212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9D31E5-989F-4378-BDD3-4980A35B1EE7}">
      <dsp:nvSpPr>
        <dsp:cNvPr id="0" name=""/>
        <dsp:cNvSpPr/>
      </dsp:nvSpPr>
      <dsp:spPr>
        <a:xfrm>
          <a:off x="0" y="358"/>
          <a:ext cx="5253355" cy="49409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F98512-A913-4394-A18F-570C37B4C7C6}">
      <dsp:nvSpPr>
        <dsp:cNvPr id="0" name=""/>
        <dsp:cNvSpPr/>
      </dsp:nvSpPr>
      <dsp:spPr>
        <a:xfrm>
          <a:off x="149463" y="111530"/>
          <a:ext cx="271752" cy="27175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8F608A-8B55-4EED-A5B2-8D3CD52A81A5}">
      <dsp:nvSpPr>
        <dsp:cNvPr id="0" name=""/>
        <dsp:cNvSpPr/>
      </dsp:nvSpPr>
      <dsp:spPr>
        <a:xfrm>
          <a:off x="570679" y="358"/>
          <a:ext cx="4682675" cy="4940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292" tIns="52292" rIns="52292" bIns="52292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Evidence-based practice model</a:t>
          </a:r>
        </a:p>
      </dsp:txBody>
      <dsp:txXfrm>
        <a:off x="570679" y="358"/>
        <a:ext cx="4682675" cy="494094"/>
      </dsp:txXfrm>
    </dsp:sp>
    <dsp:sp modelId="{A6DD9D73-E237-456F-9703-C5386BBE274B}">
      <dsp:nvSpPr>
        <dsp:cNvPr id="0" name=""/>
        <dsp:cNvSpPr/>
      </dsp:nvSpPr>
      <dsp:spPr>
        <a:xfrm>
          <a:off x="0" y="617977"/>
          <a:ext cx="5253355" cy="49409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20EF16-0F58-4470-9F19-777722B7583C}">
      <dsp:nvSpPr>
        <dsp:cNvPr id="0" name=""/>
        <dsp:cNvSpPr/>
      </dsp:nvSpPr>
      <dsp:spPr>
        <a:xfrm>
          <a:off x="149463" y="729148"/>
          <a:ext cx="271752" cy="27175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BA30C5-9F56-4C7D-87C4-638F87DFD01B}">
      <dsp:nvSpPr>
        <dsp:cNvPr id="0" name=""/>
        <dsp:cNvSpPr/>
      </dsp:nvSpPr>
      <dsp:spPr>
        <a:xfrm>
          <a:off x="570679" y="617977"/>
          <a:ext cx="4682675" cy="4940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292" tIns="52292" rIns="52292" bIns="52292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Research evidence</a:t>
          </a:r>
        </a:p>
      </dsp:txBody>
      <dsp:txXfrm>
        <a:off x="570679" y="617977"/>
        <a:ext cx="4682675" cy="494094"/>
      </dsp:txXfrm>
    </dsp:sp>
    <dsp:sp modelId="{0D690648-D357-4D36-8197-F03078364D20}">
      <dsp:nvSpPr>
        <dsp:cNvPr id="0" name=""/>
        <dsp:cNvSpPr/>
      </dsp:nvSpPr>
      <dsp:spPr>
        <a:xfrm>
          <a:off x="0" y="1235596"/>
          <a:ext cx="5253355" cy="49409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591675-7D27-45CB-AE85-8BAD9EE9FF34}">
      <dsp:nvSpPr>
        <dsp:cNvPr id="0" name=""/>
        <dsp:cNvSpPr/>
      </dsp:nvSpPr>
      <dsp:spPr>
        <a:xfrm>
          <a:off x="149463" y="1346767"/>
          <a:ext cx="271752" cy="27175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1B5911-B3CA-4A78-B41B-64D13605506F}">
      <dsp:nvSpPr>
        <dsp:cNvPr id="0" name=""/>
        <dsp:cNvSpPr/>
      </dsp:nvSpPr>
      <dsp:spPr>
        <a:xfrm>
          <a:off x="570679" y="1235596"/>
          <a:ext cx="4682675" cy="4940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292" tIns="52292" rIns="52292" bIns="52292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Clinical expertise</a:t>
          </a:r>
        </a:p>
      </dsp:txBody>
      <dsp:txXfrm>
        <a:off x="570679" y="1235596"/>
        <a:ext cx="4682675" cy="494094"/>
      </dsp:txXfrm>
    </dsp:sp>
    <dsp:sp modelId="{DA89E77C-7027-4620-B847-090E1DED3845}">
      <dsp:nvSpPr>
        <dsp:cNvPr id="0" name=""/>
        <dsp:cNvSpPr/>
      </dsp:nvSpPr>
      <dsp:spPr>
        <a:xfrm>
          <a:off x="0" y="1853215"/>
          <a:ext cx="5253355" cy="49409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0405E1-273D-403E-B07F-5BD0FC269C64}">
      <dsp:nvSpPr>
        <dsp:cNvPr id="0" name=""/>
        <dsp:cNvSpPr/>
      </dsp:nvSpPr>
      <dsp:spPr>
        <a:xfrm>
          <a:off x="149463" y="1964386"/>
          <a:ext cx="271752" cy="27175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4A6379-9450-43E7-A350-836D478CE06A}">
      <dsp:nvSpPr>
        <dsp:cNvPr id="0" name=""/>
        <dsp:cNvSpPr/>
      </dsp:nvSpPr>
      <dsp:spPr>
        <a:xfrm>
          <a:off x="570679" y="1853215"/>
          <a:ext cx="4682675" cy="4940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292" tIns="52292" rIns="52292" bIns="52292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Patient values</a:t>
          </a:r>
        </a:p>
      </dsp:txBody>
      <dsp:txXfrm>
        <a:off x="570679" y="1853215"/>
        <a:ext cx="4682675" cy="494094"/>
      </dsp:txXfrm>
    </dsp:sp>
    <dsp:sp modelId="{75495163-1716-4B10-B82F-780C6B2BA76A}">
      <dsp:nvSpPr>
        <dsp:cNvPr id="0" name=""/>
        <dsp:cNvSpPr/>
      </dsp:nvSpPr>
      <dsp:spPr>
        <a:xfrm>
          <a:off x="0" y="2470833"/>
          <a:ext cx="5253355" cy="49409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824FC3-26BA-4ED9-951E-B12B47532DD2}">
      <dsp:nvSpPr>
        <dsp:cNvPr id="0" name=""/>
        <dsp:cNvSpPr/>
      </dsp:nvSpPr>
      <dsp:spPr>
        <a:xfrm>
          <a:off x="149463" y="2582005"/>
          <a:ext cx="271752" cy="27175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F4E8FE-2546-44E5-97C8-F9BF9D5B417B}">
      <dsp:nvSpPr>
        <dsp:cNvPr id="0" name=""/>
        <dsp:cNvSpPr/>
      </dsp:nvSpPr>
      <dsp:spPr>
        <a:xfrm>
          <a:off x="570679" y="2470833"/>
          <a:ext cx="4682675" cy="4940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292" tIns="52292" rIns="52292" bIns="52292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Increasing volume of research</a:t>
          </a:r>
        </a:p>
      </dsp:txBody>
      <dsp:txXfrm>
        <a:off x="570679" y="2470833"/>
        <a:ext cx="4682675" cy="494094"/>
      </dsp:txXfrm>
    </dsp:sp>
    <dsp:sp modelId="{890075FA-3EEE-4509-A055-590A5148D32E}">
      <dsp:nvSpPr>
        <dsp:cNvPr id="0" name=""/>
        <dsp:cNvSpPr/>
      </dsp:nvSpPr>
      <dsp:spPr>
        <a:xfrm>
          <a:off x="0" y="3088452"/>
          <a:ext cx="5253355" cy="49409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D2FC35-9D00-4025-A58A-46F4DCBAF6A7}">
      <dsp:nvSpPr>
        <dsp:cNvPr id="0" name=""/>
        <dsp:cNvSpPr/>
      </dsp:nvSpPr>
      <dsp:spPr>
        <a:xfrm>
          <a:off x="149463" y="3199623"/>
          <a:ext cx="271752" cy="271752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F9A529-2CA2-431A-A0EA-758166B8C24B}">
      <dsp:nvSpPr>
        <dsp:cNvPr id="0" name=""/>
        <dsp:cNvSpPr/>
      </dsp:nvSpPr>
      <dsp:spPr>
        <a:xfrm>
          <a:off x="570679" y="3088452"/>
          <a:ext cx="4682675" cy="4940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292" tIns="52292" rIns="52292" bIns="52292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Variability of study quality</a:t>
          </a:r>
        </a:p>
      </dsp:txBody>
      <dsp:txXfrm>
        <a:off x="570679" y="3088452"/>
        <a:ext cx="4682675" cy="494094"/>
      </dsp:txXfrm>
    </dsp:sp>
    <dsp:sp modelId="{3694B16C-B0D0-41CE-AD9D-6228EAF1D3AE}">
      <dsp:nvSpPr>
        <dsp:cNvPr id="0" name=""/>
        <dsp:cNvSpPr/>
      </dsp:nvSpPr>
      <dsp:spPr>
        <a:xfrm>
          <a:off x="0" y="3706071"/>
          <a:ext cx="5253355" cy="49409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AFDC26-AFDE-4729-86BA-9A4F3BCEC254}">
      <dsp:nvSpPr>
        <dsp:cNvPr id="0" name=""/>
        <dsp:cNvSpPr/>
      </dsp:nvSpPr>
      <dsp:spPr>
        <a:xfrm>
          <a:off x="149463" y="3817242"/>
          <a:ext cx="271752" cy="271752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231DC1-DAF2-4388-94CC-9D890436DDEA}">
      <dsp:nvSpPr>
        <dsp:cNvPr id="0" name=""/>
        <dsp:cNvSpPr/>
      </dsp:nvSpPr>
      <dsp:spPr>
        <a:xfrm>
          <a:off x="570679" y="3706071"/>
          <a:ext cx="4682675" cy="4940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292" tIns="52292" rIns="52292" bIns="52292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Consequences of poor appraisal</a:t>
          </a:r>
        </a:p>
      </dsp:txBody>
      <dsp:txXfrm>
        <a:off x="570679" y="3706071"/>
        <a:ext cx="4682675" cy="49409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6363DA-0F85-43B1-9EBC-F7092B34CF96}">
      <dsp:nvSpPr>
        <dsp:cNvPr id="0" name=""/>
        <dsp:cNvSpPr/>
      </dsp:nvSpPr>
      <dsp:spPr>
        <a:xfrm>
          <a:off x="0" y="300295"/>
          <a:ext cx="6121400" cy="9547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What are the biggest challenges in assessing rigour in qualitative research?</a:t>
          </a:r>
        </a:p>
      </dsp:txBody>
      <dsp:txXfrm>
        <a:off x="46606" y="346901"/>
        <a:ext cx="6028188" cy="861507"/>
      </dsp:txXfrm>
    </dsp:sp>
    <dsp:sp modelId="{6F8CCC73-EE31-47C3-B7F2-F05ECB8FB764}">
      <dsp:nvSpPr>
        <dsp:cNvPr id="0" name=""/>
        <dsp:cNvSpPr/>
      </dsp:nvSpPr>
      <dsp:spPr>
        <a:xfrm>
          <a:off x="0" y="1324135"/>
          <a:ext cx="6121400" cy="9547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How can researchers minimize bias in qualitative studies?</a:t>
          </a:r>
        </a:p>
      </dsp:txBody>
      <dsp:txXfrm>
        <a:off x="46606" y="1370741"/>
        <a:ext cx="6028188" cy="861507"/>
      </dsp:txXfrm>
    </dsp:sp>
    <dsp:sp modelId="{B029863D-5E26-4F1E-8A21-736AF529EE42}">
      <dsp:nvSpPr>
        <dsp:cNvPr id="0" name=""/>
        <dsp:cNvSpPr/>
      </dsp:nvSpPr>
      <dsp:spPr>
        <a:xfrm>
          <a:off x="0" y="2347975"/>
          <a:ext cx="6121400" cy="9547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How does the relationship between the researcher and participants influence findings?</a:t>
          </a:r>
        </a:p>
      </dsp:txBody>
      <dsp:txXfrm>
        <a:off x="46606" y="2394581"/>
        <a:ext cx="6028188" cy="86150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96595" y="921766"/>
            <a:ext cx="4930140" cy="2280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599948" y="3481197"/>
            <a:ext cx="4208145" cy="9309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517867" y="508076"/>
            <a:ext cx="11153775" cy="149860"/>
          </a:xfrm>
          <a:custGeom>
            <a:avLst/>
            <a:gdLst/>
            <a:ahLst/>
            <a:cxnLst/>
            <a:rect l="l" t="t" r="r" b="b"/>
            <a:pathLst>
              <a:path w="11153775" h="149859">
                <a:moveTo>
                  <a:pt x="11153267" y="0"/>
                </a:moveTo>
                <a:lnTo>
                  <a:pt x="0" y="0"/>
                </a:lnTo>
                <a:lnTo>
                  <a:pt x="0" y="149275"/>
                </a:lnTo>
                <a:lnTo>
                  <a:pt x="11153267" y="149275"/>
                </a:lnTo>
                <a:lnTo>
                  <a:pt x="111532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517867" y="508076"/>
            <a:ext cx="11153775" cy="149860"/>
          </a:xfrm>
          <a:custGeom>
            <a:avLst/>
            <a:gdLst/>
            <a:ahLst/>
            <a:cxnLst/>
            <a:rect l="l" t="t" r="r" b="b"/>
            <a:pathLst>
              <a:path w="11153775" h="149859">
                <a:moveTo>
                  <a:pt x="11153267" y="0"/>
                </a:moveTo>
                <a:lnTo>
                  <a:pt x="0" y="0"/>
                </a:lnTo>
                <a:lnTo>
                  <a:pt x="0" y="149275"/>
                </a:lnTo>
                <a:lnTo>
                  <a:pt x="11153267" y="149275"/>
                </a:lnTo>
                <a:lnTo>
                  <a:pt x="111532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891917" y="2408935"/>
            <a:ext cx="2196465" cy="2196465"/>
          </a:xfrm>
          <a:custGeom>
            <a:avLst/>
            <a:gdLst/>
            <a:ahLst/>
            <a:cxnLst/>
            <a:rect l="l" t="t" r="r" b="b"/>
            <a:pathLst>
              <a:path w="2196465" h="2196465">
                <a:moveTo>
                  <a:pt x="1098042" y="0"/>
                </a:moveTo>
                <a:lnTo>
                  <a:pt x="1050411" y="1014"/>
                </a:lnTo>
                <a:lnTo>
                  <a:pt x="1003299" y="4030"/>
                </a:lnTo>
                <a:lnTo>
                  <a:pt x="956747" y="9006"/>
                </a:lnTo>
                <a:lnTo>
                  <a:pt x="910795" y="15902"/>
                </a:lnTo>
                <a:lnTo>
                  <a:pt x="865485" y="24675"/>
                </a:lnTo>
                <a:lnTo>
                  <a:pt x="820858" y="35285"/>
                </a:lnTo>
                <a:lnTo>
                  <a:pt x="776955" y="47691"/>
                </a:lnTo>
                <a:lnTo>
                  <a:pt x="733817" y="61851"/>
                </a:lnTo>
                <a:lnTo>
                  <a:pt x="691487" y="77724"/>
                </a:lnTo>
                <a:lnTo>
                  <a:pt x="650004" y="95269"/>
                </a:lnTo>
                <a:lnTo>
                  <a:pt x="609410" y="114445"/>
                </a:lnTo>
                <a:lnTo>
                  <a:pt x="569747" y="135210"/>
                </a:lnTo>
                <a:lnTo>
                  <a:pt x="531055" y="157523"/>
                </a:lnTo>
                <a:lnTo>
                  <a:pt x="493376" y="181344"/>
                </a:lnTo>
                <a:lnTo>
                  <a:pt x="456750" y="206630"/>
                </a:lnTo>
                <a:lnTo>
                  <a:pt x="421220" y="233341"/>
                </a:lnTo>
                <a:lnTo>
                  <a:pt x="386826" y="261436"/>
                </a:lnTo>
                <a:lnTo>
                  <a:pt x="353609" y="290873"/>
                </a:lnTo>
                <a:lnTo>
                  <a:pt x="321611" y="321611"/>
                </a:lnTo>
                <a:lnTo>
                  <a:pt x="290873" y="353609"/>
                </a:lnTo>
                <a:lnTo>
                  <a:pt x="261436" y="386826"/>
                </a:lnTo>
                <a:lnTo>
                  <a:pt x="233341" y="421220"/>
                </a:lnTo>
                <a:lnTo>
                  <a:pt x="206630" y="456750"/>
                </a:lnTo>
                <a:lnTo>
                  <a:pt x="181344" y="493376"/>
                </a:lnTo>
                <a:lnTo>
                  <a:pt x="157523" y="531055"/>
                </a:lnTo>
                <a:lnTo>
                  <a:pt x="135210" y="569747"/>
                </a:lnTo>
                <a:lnTo>
                  <a:pt x="114445" y="609410"/>
                </a:lnTo>
                <a:lnTo>
                  <a:pt x="95269" y="650004"/>
                </a:lnTo>
                <a:lnTo>
                  <a:pt x="77724" y="691487"/>
                </a:lnTo>
                <a:lnTo>
                  <a:pt x="61851" y="733817"/>
                </a:lnTo>
                <a:lnTo>
                  <a:pt x="47691" y="776955"/>
                </a:lnTo>
                <a:lnTo>
                  <a:pt x="35285" y="820858"/>
                </a:lnTo>
                <a:lnTo>
                  <a:pt x="24675" y="865485"/>
                </a:lnTo>
                <a:lnTo>
                  <a:pt x="15902" y="910795"/>
                </a:lnTo>
                <a:lnTo>
                  <a:pt x="9006" y="956747"/>
                </a:lnTo>
                <a:lnTo>
                  <a:pt x="4030" y="1003299"/>
                </a:lnTo>
                <a:lnTo>
                  <a:pt x="1014" y="1050411"/>
                </a:lnTo>
                <a:lnTo>
                  <a:pt x="0" y="1098041"/>
                </a:lnTo>
                <a:lnTo>
                  <a:pt x="1014" y="1145672"/>
                </a:lnTo>
                <a:lnTo>
                  <a:pt x="4030" y="1192784"/>
                </a:lnTo>
                <a:lnTo>
                  <a:pt x="9006" y="1239336"/>
                </a:lnTo>
                <a:lnTo>
                  <a:pt x="15902" y="1285288"/>
                </a:lnTo>
                <a:lnTo>
                  <a:pt x="24675" y="1330598"/>
                </a:lnTo>
                <a:lnTo>
                  <a:pt x="35285" y="1375225"/>
                </a:lnTo>
                <a:lnTo>
                  <a:pt x="47691" y="1419128"/>
                </a:lnTo>
                <a:lnTo>
                  <a:pt x="61851" y="1462266"/>
                </a:lnTo>
                <a:lnTo>
                  <a:pt x="77724" y="1504596"/>
                </a:lnTo>
                <a:lnTo>
                  <a:pt x="95269" y="1546079"/>
                </a:lnTo>
                <a:lnTo>
                  <a:pt x="114445" y="1586673"/>
                </a:lnTo>
                <a:lnTo>
                  <a:pt x="135210" y="1626336"/>
                </a:lnTo>
                <a:lnTo>
                  <a:pt x="157523" y="1665028"/>
                </a:lnTo>
                <a:lnTo>
                  <a:pt x="181344" y="1702707"/>
                </a:lnTo>
                <a:lnTo>
                  <a:pt x="206630" y="1739333"/>
                </a:lnTo>
                <a:lnTo>
                  <a:pt x="233341" y="1774863"/>
                </a:lnTo>
                <a:lnTo>
                  <a:pt x="261436" y="1809257"/>
                </a:lnTo>
                <a:lnTo>
                  <a:pt x="290873" y="1842474"/>
                </a:lnTo>
                <a:lnTo>
                  <a:pt x="321611" y="1874472"/>
                </a:lnTo>
                <a:lnTo>
                  <a:pt x="353609" y="1905210"/>
                </a:lnTo>
                <a:lnTo>
                  <a:pt x="386826" y="1934647"/>
                </a:lnTo>
                <a:lnTo>
                  <a:pt x="421220" y="1962742"/>
                </a:lnTo>
                <a:lnTo>
                  <a:pt x="456750" y="1989453"/>
                </a:lnTo>
                <a:lnTo>
                  <a:pt x="493376" y="2014739"/>
                </a:lnTo>
                <a:lnTo>
                  <a:pt x="531055" y="2038560"/>
                </a:lnTo>
                <a:lnTo>
                  <a:pt x="569747" y="2060873"/>
                </a:lnTo>
                <a:lnTo>
                  <a:pt x="609410" y="2081638"/>
                </a:lnTo>
                <a:lnTo>
                  <a:pt x="650004" y="2100814"/>
                </a:lnTo>
                <a:lnTo>
                  <a:pt x="691487" y="2118359"/>
                </a:lnTo>
                <a:lnTo>
                  <a:pt x="733817" y="2134232"/>
                </a:lnTo>
                <a:lnTo>
                  <a:pt x="776955" y="2148392"/>
                </a:lnTo>
                <a:lnTo>
                  <a:pt x="820858" y="2160798"/>
                </a:lnTo>
                <a:lnTo>
                  <a:pt x="865485" y="2171408"/>
                </a:lnTo>
                <a:lnTo>
                  <a:pt x="910795" y="2180181"/>
                </a:lnTo>
                <a:lnTo>
                  <a:pt x="956747" y="2187077"/>
                </a:lnTo>
                <a:lnTo>
                  <a:pt x="1003299" y="2192053"/>
                </a:lnTo>
                <a:lnTo>
                  <a:pt x="1050411" y="2195069"/>
                </a:lnTo>
                <a:lnTo>
                  <a:pt x="1098042" y="2196084"/>
                </a:lnTo>
                <a:lnTo>
                  <a:pt x="1145672" y="2195069"/>
                </a:lnTo>
                <a:lnTo>
                  <a:pt x="1192784" y="2192053"/>
                </a:lnTo>
                <a:lnTo>
                  <a:pt x="1239336" y="2187077"/>
                </a:lnTo>
                <a:lnTo>
                  <a:pt x="1285288" y="2180181"/>
                </a:lnTo>
                <a:lnTo>
                  <a:pt x="1330598" y="2171408"/>
                </a:lnTo>
                <a:lnTo>
                  <a:pt x="1375225" y="2160798"/>
                </a:lnTo>
                <a:lnTo>
                  <a:pt x="1419128" y="2148392"/>
                </a:lnTo>
                <a:lnTo>
                  <a:pt x="1462266" y="2134232"/>
                </a:lnTo>
                <a:lnTo>
                  <a:pt x="1504596" y="2118359"/>
                </a:lnTo>
                <a:lnTo>
                  <a:pt x="1546079" y="2100814"/>
                </a:lnTo>
                <a:lnTo>
                  <a:pt x="1586673" y="2081638"/>
                </a:lnTo>
                <a:lnTo>
                  <a:pt x="1626336" y="2060873"/>
                </a:lnTo>
                <a:lnTo>
                  <a:pt x="1665028" y="2038560"/>
                </a:lnTo>
                <a:lnTo>
                  <a:pt x="1702707" y="2014739"/>
                </a:lnTo>
                <a:lnTo>
                  <a:pt x="1739333" y="1989453"/>
                </a:lnTo>
                <a:lnTo>
                  <a:pt x="1774863" y="1962742"/>
                </a:lnTo>
                <a:lnTo>
                  <a:pt x="1809257" y="1934647"/>
                </a:lnTo>
                <a:lnTo>
                  <a:pt x="1842474" y="1905210"/>
                </a:lnTo>
                <a:lnTo>
                  <a:pt x="1874472" y="1874472"/>
                </a:lnTo>
                <a:lnTo>
                  <a:pt x="1905210" y="1842474"/>
                </a:lnTo>
                <a:lnTo>
                  <a:pt x="1934647" y="1809257"/>
                </a:lnTo>
                <a:lnTo>
                  <a:pt x="1962742" y="1774863"/>
                </a:lnTo>
                <a:lnTo>
                  <a:pt x="1989453" y="1739333"/>
                </a:lnTo>
                <a:lnTo>
                  <a:pt x="2014739" y="1702707"/>
                </a:lnTo>
                <a:lnTo>
                  <a:pt x="2038560" y="1665028"/>
                </a:lnTo>
                <a:lnTo>
                  <a:pt x="2060873" y="1626336"/>
                </a:lnTo>
                <a:lnTo>
                  <a:pt x="2081638" y="1586673"/>
                </a:lnTo>
                <a:lnTo>
                  <a:pt x="2100814" y="1546079"/>
                </a:lnTo>
                <a:lnTo>
                  <a:pt x="2118359" y="1504596"/>
                </a:lnTo>
                <a:lnTo>
                  <a:pt x="2134232" y="1462266"/>
                </a:lnTo>
                <a:lnTo>
                  <a:pt x="2148392" y="1419128"/>
                </a:lnTo>
                <a:lnTo>
                  <a:pt x="2160798" y="1375225"/>
                </a:lnTo>
                <a:lnTo>
                  <a:pt x="2171408" y="1330598"/>
                </a:lnTo>
                <a:lnTo>
                  <a:pt x="2180181" y="1285288"/>
                </a:lnTo>
                <a:lnTo>
                  <a:pt x="2187077" y="1239336"/>
                </a:lnTo>
                <a:lnTo>
                  <a:pt x="2192053" y="1192784"/>
                </a:lnTo>
                <a:lnTo>
                  <a:pt x="2195069" y="1145672"/>
                </a:lnTo>
                <a:lnTo>
                  <a:pt x="2196084" y="1098041"/>
                </a:lnTo>
                <a:lnTo>
                  <a:pt x="2195069" y="1050411"/>
                </a:lnTo>
                <a:lnTo>
                  <a:pt x="2192053" y="1003299"/>
                </a:lnTo>
                <a:lnTo>
                  <a:pt x="2187077" y="956747"/>
                </a:lnTo>
                <a:lnTo>
                  <a:pt x="2180181" y="910795"/>
                </a:lnTo>
                <a:lnTo>
                  <a:pt x="2171408" y="865485"/>
                </a:lnTo>
                <a:lnTo>
                  <a:pt x="2160798" y="820858"/>
                </a:lnTo>
                <a:lnTo>
                  <a:pt x="2148392" y="776955"/>
                </a:lnTo>
                <a:lnTo>
                  <a:pt x="2134232" y="733817"/>
                </a:lnTo>
                <a:lnTo>
                  <a:pt x="2118359" y="691487"/>
                </a:lnTo>
                <a:lnTo>
                  <a:pt x="2100814" y="650004"/>
                </a:lnTo>
                <a:lnTo>
                  <a:pt x="2081638" y="609410"/>
                </a:lnTo>
                <a:lnTo>
                  <a:pt x="2060873" y="569747"/>
                </a:lnTo>
                <a:lnTo>
                  <a:pt x="2038560" y="531055"/>
                </a:lnTo>
                <a:lnTo>
                  <a:pt x="2014739" y="493376"/>
                </a:lnTo>
                <a:lnTo>
                  <a:pt x="1989453" y="456750"/>
                </a:lnTo>
                <a:lnTo>
                  <a:pt x="1962742" y="421220"/>
                </a:lnTo>
                <a:lnTo>
                  <a:pt x="1934647" y="386826"/>
                </a:lnTo>
                <a:lnTo>
                  <a:pt x="1905210" y="353609"/>
                </a:lnTo>
                <a:lnTo>
                  <a:pt x="1874472" y="321611"/>
                </a:lnTo>
                <a:lnTo>
                  <a:pt x="1842474" y="290873"/>
                </a:lnTo>
                <a:lnTo>
                  <a:pt x="1809257" y="261436"/>
                </a:lnTo>
                <a:lnTo>
                  <a:pt x="1774863" y="233341"/>
                </a:lnTo>
                <a:lnTo>
                  <a:pt x="1739333" y="206630"/>
                </a:lnTo>
                <a:lnTo>
                  <a:pt x="1702707" y="181344"/>
                </a:lnTo>
                <a:lnTo>
                  <a:pt x="1665028" y="157523"/>
                </a:lnTo>
                <a:lnTo>
                  <a:pt x="1626336" y="135210"/>
                </a:lnTo>
                <a:lnTo>
                  <a:pt x="1586673" y="114445"/>
                </a:lnTo>
                <a:lnTo>
                  <a:pt x="1546079" y="95269"/>
                </a:lnTo>
                <a:lnTo>
                  <a:pt x="1504596" y="77724"/>
                </a:lnTo>
                <a:lnTo>
                  <a:pt x="1462266" y="61851"/>
                </a:lnTo>
                <a:lnTo>
                  <a:pt x="1419128" y="47691"/>
                </a:lnTo>
                <a:lnTo>
                  <a:pt x="1375225" y="35285"/>
                </a:lnTo>
                <a:lnTo>
                  <a:pt x="1330598" y="24675"/>
                </a:lnTo>
                <a:lnTo>
                  <a:pt x="1285288" y="15902"/>
                </a:lnTo>
                <a:lnTo>
                  <a:pt x="1239336" y="9006"/>
                </a:lnTo>
                <a:lnTo>
                  <a:pt x="1192784" y="4030"/>
                </a:lnTo>
                <a:lnTo>
                  <a:pt x="1145672" y="1014"/>
                </a:lnTo>
                <a:lnTo>
                  <a:pt x="1098042" y="0"/>
                </a:lnTo>
                <a:close/>
              </a:path>
            </a:pathLst>
          </a:custGeom>
          <a:solidFill>
            <a:srgbClr val="00B9C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439270" y="2993876"/>
            <a:ext cx="1105535" cy="1031240"/>
          </a:xfrm>
          <a:custGeom>
            <a:avLst/>
            <a:gdLst/>
            <a:ahLst/>
            <a:cxnLst/>
            <a:rect l="l" t="t" r="r" b="b"/>
            <a:pathLst>
              <a:path w="1105535" h="1031239">
                <a:moveTo>
                  <a:pt x="648507" y="0"/>
                </a:moveTo>
                <a:lnTo>
                  <a:pt x="93380" y="194516"/>
                </a:lnTo>
                <a:lnTo>
                  <a:pt x="62434" y="221572"/>
                </a:lnTo>
                <a:lnTo>
                  <a:pt x="46201" y="260180"/>
                </a:lnTo>
                <a:lnTo>
                  <a:pt x="39938" y="304868"/>
                </a:lnTo>
                <a:lnTo>
                  <a:pt x="38905" y="350164"/>
                </a:lnTo>
                <a:lnTo>
                  <a:pt x="39320" y="363135"/>
                </a:lnTo>
                <a:lnTo>
                  <a:pt x="39371" y="364736"/>
                </a:lnTo>
                <a:lnTo>
                  <a:pt x="40688" y="379186"/>
                </a:lnTo>
                <a:lnTo>
                  <a:pt x="42735" y="393393"/>
                </a:lnTo>
                <a:lnTo>
                  <a:pt x="45390" y="407235"/>
                </a:lnTo>
                <a:lnTo>
                  <a:pt x="19696" y="434940"/>
                </a:lnTo>
                <a:lnTo>
                  <a:pt x="6160" y="472251"/>
                </a:lnTo>
                <a:lnTo>
                  <a:pt x="891" y="514669"/>
                </a:lnTo>
                <a:lnTo>
                  <a:pt x="0" y="557695"/>
                </a:lnTo>
                <a:lnTo>
                  <a:pt x="2067" y="590831"/>
                </a:lnTo>
                <a:lnTo>
                  <a:pt x="8754" y="621414"/>
                </a:lnTo>
                <a:lnTo>
                  <a:pt x="20790" y="648348"/>
                </a:lnTo>
                <a:lnTo>
                  <a:pt x="38905" y="670540"/>
                </a:lnTo>
                <a:lnTo>
                  <a:pt x="35764" y="688050"/>
                </a:lnTo>
                <a:lnTo>
                  <a:pt x="35176" y="707506"/>
                </a:lnTo>
                <a:lnTo>
                  <a:pt x="35804" y="728908"/>
                </a:lnTo>
                <a:lnTo>
                  <a:pt x="36311" y="752255"/>
                </a:lnTo>
                <a:lnTo>
                  <a:pt x="39553" y="794592"/>
                </a:lnTo>
                <a:lnTo>
                  <a:pt x="50578" y="832187"/>
                </a:lnTo>
                <a:lnTo>
                  <a:pt x="103756" y="881962"/>
                </a:lnTo>
                <a:lnTo>
                  <a:pt x="464329" y="1031125"/>
                </a:lnTo>
                <a:lnTo>
                  <a:pt x="667657" y="946816"/>
                </a:lnTo>
                <a:lnTo>
                  <a:pt x="466923" y="946815"/>
                </a:lnTo>
                <a:lnTo>
                  <a:pt x="105053" y="804138"/>
                </a:lnTo>
                <a:lnTo>
                  <a:pt x="105053" y="702967"/>
                </a:lnTo>
                <a:lnTo>
                  <a:pt x="306045" y="702967"/>
                </a:lnTo>
                <a:lnTo>
                  <a:pt x="70033" y="609578"/>
                </a:lnTo>
                <a:lnTo>
                  <a:pt x="70033" y="492842"/>
                </a:lnTo>
                <a:lnTo>
                  <a:pt x="338400" y="492842"/>
                </a:lnTo>
                <a:lnTo>
                  <a:pt x="108944" y="402047"/>
                </a:lnTo>
                <a:lnTo>
                  <a:pt x="108944" y="285311"/>
                </a:lnTo>
                <a:lnTo>
                  <a:pt x="819883" y="285311"/>
                </a:lnTo>
                <a:lnTo>
                  <a:pt x="987030" y="217864"/>
                </a:lnTo>
                <a:lnTo>
                  <a:pt x="1037614" y="217864"/>
                </a:lnTo>
                <a:lnTo>
                  <a:pt x="1037614" y="197111"/>
                </a:lnTo>
                <a:lnTo>
                  <a:pt x="1105060" y="168575"/>
                </a:lnTo>
                <a:lnTo>
                  <a:pt x="648507" y="0"/>
                </a:lnTo>
                <a:close/>
              </a:path>
              <a:path w="1105535" h="1031239">
                <a:moveTo>
                  <a:pt x="1035020" y="614766"/>
                </a:moveTo>
                <a:lnTo>
                  <a:pt x="985733" y="614766"/>
                </a:lnTo>
                <a:lnTo>
                  <a:pt x="984479" y="728908"/>
                </a:lnTo>
                <a:lnTo>
                  <a:pt x="984436" y="732799"/>
                </a:lnTo>
                <a:lnTo>
                  <a:pt x="466923" y="946815"/>
                </a:lnTo>
                <a:lnTo>
                  <a:pt x="667657" y="946816"/>
                </a:lnTo>
                <a:lnTo>
                  <a:pt x="1102466" y="766523"/>
                </a:lnTo>
                <a:lnTo>
                  <a:pt x="1035020" y="741879"/>
                </a:lnTo>
                <a:lnTo>
                  <a:pt x="1035020" y="614766"/>
                </a:lnTo>
                <a:close/>
              </a:path>
              <a:path w="1105535" h="1031239">
                <a:moveTo>
                  <a:pt x="306045" y="702967"/>
                </a:moveTo>
                <a:lnTo>
                  <a:pt x="105053" y="702967"/>
                </a:lnTo>
                <a:lnTo>
                  <a:pt x="428013" y="835268"/>
                </a:lnTo>
                <a:lnTo>
                  <a:pt x="637978" y="752255"/>
                </a:lnTo>
                <a:lnTo>
                  <a:pt x="430607" y="752255"/>
                </a:lnTo>
                <a:lnTo>
                  <a:pt x="306045" y="702967"/>
                </a:lnTo>
                <a:close/>
              </a:path>
              <a:path w="1105535" h="1031239">
                <a:moveTo>
                  <a:pt x="998704" y="427989"/>
                </a:moveTo>
                <a:lnTo>
                  <a:pt x="949417" y="427989"/>
                </a:lnTo>
                <a:lnTo>
                  <a:pt x="949417" y="538239"/>
                </a:lnTo>
                <a:lnTo>
                  <a:pt x="948120" y="538239"/>
                </a:lnTo>
                <a:lnTo>
                  <a:pt x="430607" y="752255"/>
                </a:lnTo>
                <a:lnTo>
                  <a:pt x="637978" y="752255"/>
                </a:lnTo>
                <a:lnTo>
                  <a:pt x="985733" y="614766"/>
                </a:lnTo>
                <a:lnTo>
                  <a:pt x="1035020" y="614766"/>
                </a:lnTo>
                <a:lnTo>
                  <a:pt x="1035020" y="599201"/>
                </a:lnTo>
                <a:lnTo>
                  <a:pt x="1102466" y="570666"/>
                </a:lnTo>
                <a:lnTo>
                  <a:pt x="998704" y="531754"/>
                </a:lnTo>
                <a:lnTo>
                  <a:pt x="998704" y="427989"/>
                </a:lnTo>
                <a:close/>
              </a:path>
              <a:path w="1105535" h="1031239">
                <a:moveTo>
                  <a:pt x="338400" y="492842"/>
                </a:moveTo>
                <a:lnTo>
                  <a:pt x="70033" y="492842"/>
                </a:lnTo>
                <a:lnTo>
                  <a:pt x="440983" y="640708"/>
                </a:lnTo>
                <a:lnTo>
                  <a:pt x="670398" y="544725"/>
                </a:lnTo>
                <a:lnTo>
                  <a:pt x="469517" y="544725"/>
                </a:lnTo>
                <a:lnTo>
                  <a:pt x="338400" y="492842"/>
                </a:lnTo>
                <a:close/>
              </a:path>
              <a:path w="1105535" h="1031239">
                <a:moveTo>
                  <a:pt x="1037614" y="217864"/>
                </a:moveTo>
                <a:lnTo>
                  <a:pt x="987030" y="217864"/>
                </a:lnTo>
                <a:lnTo>
                  <a:pt x="987030" y="329411"/>
                </a:lnTo>
                <a:lnTo>
                  <a:pt x="469517" y="544725"/>
                </a:lnTo>
                <a:lnTo>
                  <a:pt x="670398" y="544725"/>
                </a:lnTo>
                <a:lnTo>
                  <a:pt x="949417" y="427989"/>
                </a:lnTo>
                <a:lnTo>
                  <a:pt x="998704" y="427989"/>
                </a:lnTo>
                <a:lnTo>
                  <a:pt x="998704" y="407235"/>
                </a:lnTo>
                <a:lnTo>
                  <a:pt x="1105060" y="363135"/>
                </a:lnTo>
                <a:lnTo>
                  <a:pt x="1037614" y="338491"/>
                </a:lnTo>
                <a:lnTo>
                  <a:pt x="1037614" y="217864"/>
                </a:lnTo>
                <a:close/>
              </a:path>
              <a:path w="1105535" h="1031239">
                <a:moveTo>
                  <a:pt x="819883" y="285311"/>
                </a:moveTo>
                <a:lnTo>
                  <a:pt x="108944" y="285311"/>
                </a:lnTo>
                <a:lnTo>
                  <a:pt x="469517" y="426691"/>
                </a:lnTo>
                <a:lnTo>
                  <a:pt x="819883" y="28531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78307" y="910793"/>
            <a:ext cx="11035385" cy="14537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33540" y="2263835"/>
            <a:ext cx="5146675" cy="3759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86/s12889-019-6423-z" TargetMode="External"/><Relationship Id="rId2" Type="http://schemas.openxmlformats.org/officeDocument/2006/relationships/hyperlink" Target="https://eur02.safelinks.protection.outlook.com/?url=https%3A%2F%2Fdoi.org%2F10.1108%2FJICA-10-2018-0065&amp;data=05%7C01%7Ctburdett%40bournemouth.ac.uk%7Ccef6c94e7dad4caee38e08daac445e19%7Cede29655d09742e4bbb5f38d427fbfb8%7C0%7C0%7C638011706873388228%7CUnknown%7CTWFpbGZsb3d8eyJWIjoiMC4wLjAwMDAiLCJQIjoiV2luMzIiLCJBTiI6Ik1haWwiLCJXVCI6Mn0%3D%7C3000%7C%7C%7C&amp;sdata=b7QlNievDE8CtglK36lKcYt5WPgK1PtOkx2UsojOuYk%3D&amp;reserved=0" TargetMode="Externa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eur02.safelinks.protection.outlook.com/?url=https%3A%2F%2Fwww.emerald.com%2Finsight%2Fpublication%2Fissn%2F1476-9018%2Fvol%2F29%2Fiss%2F3&amp;data=05%7C01%7Ctburdett%40bournemouth.ac.uk%7Ccef6c94e7dad4caee38e08daac445e19%7Cede29655d09742e4bbb5f38d427fbfb8%7C0%7C0%7C638011706873388228%7CUnknown%7CTWFpbGZsb3d8eyJWIjoiMC4wLjAwMDAiLCJQIjoiV2luMzIiLCJBTiI6Ik1haWwiLCJXVCI6Mn0%3D%7C3000%7C%7C%7C&amp;sdata=gDNBG%2BZ7AKXoml6PRXF4JSLjm59qJL9dWX42udg3SJM%3D&amp;reserved=0" TargetMode="Externa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casp-uk.net/" TargetMode="Externa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A8908DB7-C3A6-4FCB-9820-CEE02B398C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xfrm>
            <a:off x="630936" y="640823"/>
            <a:ext cx="3419856" cy="5583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marR="5080" algn="l" rtl="0">
              <a:lnSpc>
                <a:spcPct val="90000"/>
              </a:lnSpc>
              <a:spcBef>
                <a:spcPct val="0"/>
              </a:spcBef>
            </a:pPr>
            <a:r>
              <a:rPr lang="en-US" sz="5400" kern="1200" spc="-3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Critically</a:t>
            </a:r>
            <a:r>
              <a:rPr lang="en-US" sz="5400" kern="1200" spc="-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400" kern="1200" spc="-1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Appraising </a:t>
            </a:r>
            <a:r>
              <a:rPr lang="en-US" sz="5400" kern="1200" spc="-40">
                <a:solidFill>
                  <a:schemeClr val="tx1"/>
                </a:solidFill>
                <a:latin typeface="+mj-lt"/>
                <a:ea typeface="+mj-ea"/>
                <a:cs typeface="+mj-cs"/>
              </a:rPr>
              <a:t>Qualitative</a:t>
            </a:r>
            <a:r>
              <a:rPr lang="en-US" sz="5400" kern="1200" spc="-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400" kern="1200" spc="-55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Research </a:t>
            </a:r>
            <a:r>
              <a:rPr lang="en-US" sz="5400" kern="1200" spc="-225">
                <a:solidFill>
                  <a:schemeClr val="tx1"/>
                </a:solidFill>
                <a:latin typeface="+mj-lt"/>
                <a:ea typeface="+mj-ea"/>
                <a:cs typeface="+mj-cs"/>
              </a:rPr>
              <a:t>(CASP</a:t>
            </a:r>
            <a:r>
              <a:rPr lang="en-US" sz="5400" kern="1200" spc="-55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400" kern="1200" spc="-45">
                <a:solidFill>
                  <a:schemeClr val="tx1"/>
                </a:solidFill>
                <a:latin typeface="+mj-lt"/>
                <a:ea typeface="+mj-ea"/>
                <a:cs typeface="+mj-cs"/>
              </a:rPr>
              <a:t>for</a:t>
            </a:r>
            <a:r>
              <a:rPr lang="en-US" sz="5400" kern="1200" spc="-195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400" kern="1200" spc="-40">
                <a:solidFill>
                  <a:schemeClr val="tx1"/>
                </a:solidFill>
                <a:latin typeface="+mj-lt"/>
                <a:ea typeface="+mj-ea"/>
                <a:cs typeface="+mj-cs"/>
              </a:rPr>
              <a:t>Qualitative </a:t>
            </a:r>
            <a:r>
              <a:rPr lang="en-US" sz="5400" kern="1200" spc="-1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Studies)</a:t>
            </a:r>
            <a:endParaRPr lang="en-US" sz="54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4" name="sketch line">
            <a:extLst>
              <a:ext uri="{FF2B5EF4-FFF2-40B4-BE49-F238E27FC236}">
                <a16:creationId xmlns:a16="http://schemas.microsoft.com/office/drawing/2014/main" id="{535742DD-1B16-4E9D-B715-0D74B4574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267200" y="630936"/>
            <a:ext cx="18288" cy="5590381"/>
          </a:xfrm>
          <a:custGeom>
            <a:avLst/>
            <a:gdLst>
              <a:gd name="csX0" fmla="*/ 0 w 18288"/>
              <a:gd name="csY0" fmla="*/ 0 h 5590381"/>
              <a:gd name="csX1" fmla="*/ 18288 w 18288"/>
              <a:gd name="csY1" fmla="*/ 0 h 5590381"/>
              <a:gd name="csX2" fmla="*/ 18288 w 18288"/>
              <a:gd name="csY2" fmla="*/ 754701 h 5590381"/>
              <a:gd name="csX3" fmla="*/ 18288 w 18288"/>
              <a:gd name="csY3" fmla="*/ 1565307 h 5590381"/>
              <a:gd name="csX4" fmla="*/ 18288 w 18288"/>
              <a:gd name="csY4" fmla="*/ 2152297 h 5590381"/>
              <a:gd name="csX5" fmla="*/ 18288 w 18288"/>
              <a:gd name="csY5" fmla="*/ 2906998 h 5590381"/>
              <a:gd name="csX6" fmla="*/ 18288 w 18288"/>
              <a:gd name="csY6" fmla="*/ 3549892 h 5590381"/>
              <a:gd name="csX7" fmla="*/ 18288 w 18288"/>
              <a:gd name="csY7" fmla="*/ 4080978 h 5590381"/>
              <a:gd name="csX8" fmla="*/ 18288 w 18288"/>
              <a:gd name="csY8" fmla="*/ 4835680 h 5590381"/>
              <a:gd name="csX9" fmla="*/ 18288 w 18288"/>
              <a:gd name="csY9" fmla="*/ 5590381 h 5590381"/>
              <a:gd name="csX10" fmla="*/ 0 w 18288"/>
              <a:gd name="csY10" fmla="*/ 5590381 h 5590381"/>
              <a:gd name="csX11" fmla="*/ 0 w 18288"/>
              <a:gd name="csY11" fmla="*/ 4835680 h 5590381"/>
              <a:gd name="csX12" fmla="*/ 0 w 18288"/>
              <a:gd name="csY12" fmla="*/ 4304593 h 5590381"/>
              <a:gd name="csX13" fmla="*/ 0 w 18288"/>
              <a:gd name="csY13" fmla="*/ 3773507 h 5590381"/>
              <a:gd name="csX14" fmla="*/ 0 w 18288"/>
              <a:gd name="csY14" fmla="*/ 3186517 h 5590381"/>
              <a:gd name="csX15" fmla="*/ 0 w 18288"/>
              <a:gd name="csY15" fmla="*/ 2487720 h 5590381"/>
              <a:gd name="csX16" fmla="*/ 0 w 18288"/>
              <a:gd name="csY16" fmla="*/ 1956633 h 5590381"/>
              <a:gd name="csX17" fmla="*/ 0 w 18288"/>
              <a:gd name="csY17" fmla="*/ 1425547 h 5590381"/>
              <a:gd name="csX18" fmla="*/ 0 w 18288"/>
              <a:gd name="csY18" fmla="*/ 614942 h 5590381"/>
              <a:gd name="csX19" fmla="*/ 0 w 18288"/>
              <a:gd name="csY19" fmla="*/ 0 h 55903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</a:cxnLst>
            <a:rect l="l" t="t" r="r" b="b"/>
            <a:pathLst>
              <a:path w="18288" h="5590381" fill="none" extrusionOk="0">
                <a:moveTo>
                  <a:pt x="0" y="0"/>
                </a:moveTo>
                <a:cubicBezTo>
                  <a:pt x="7726" y="-435"/>
                  <a:pt x="14198" y="437"/>
                  <a:pt x="18288" y="0"/>
                </a:cubicBezTo>
                <a:cubicBezTo>
                  <a:pt x="-5226" y="225076"/>
                  <a:pt x="46275" y="562283"/>
                  <a:pt x="18288" y="754701"/>
                </a:cubicBezTo>
                <a:cubicBezTo>
                  <a:pt x="-9699" y="947119"/>
                  <a:pt x="30081" y="1239251"/>
                  <a:pt x="18288" y="1565307"/>
                </a:cubicBezTo>
                <a:cubicBezTo>
                  <a:pt x="6495" y="1891363"/>
                  <a:pt x="7160" y="1999140"/>
                  <a:pt x="18288" y="2152297"/>
                </a:cubicBezTo>
                <a:cubicBezTo>
                  <a:pt x="29417" y="2305454"/>
                  <a:pt x="28705" y="2598333"/>
                  <a:pt x="18288" y="2906998"/>
                </a:cubicBezTo>
                <a:cubicBezTo>
                  <a:pt x="7871" y="3215663"/>
                  <a:pt x="35263" y="3327412"/>
                  <a:pt x="18288" y="3549892"/>
                </a:cubicBezTo>
                <a:cubicBezTo>
                  <a:pt x="1313" y="3772372"/>
                  <a:pt x="38561" y="3843836"/>
                  <a:pt x="18288" y="4080978"/>
                </a:cubicBezTo>
                <a:cubicBezTo>
                  <a:pt x="-1985" y="4318120"/>
                  <a:pt x="-3806" y="4511166"/>
                  <a:pt x="18288" y="4835680"/>
                </a:cubicBezTo>
                <a:cubicBezTo>
                  <a:pt x="40382" y="5160194"/>
                  <a:pt x="-13070" y="5401748"/>
                  <a:pt x="18288" y="5590381"/>
                </a:cubicBezTo>
                <a:cubicBezTo>
                  <a:pt x="12010" y="5589863"/>
                  <a:pt x="6799" y="5589982"/>
                  <a:pt x="0" y="5590381"/>
                </a:cubicBezTo>
                <a:cubicBezTo>
                  <a:pt x="-6480" y="5250523"/>
                  <a:pt x="-32148" y="5052531"/>
                  <a:pt x="0" y="4835680"/>
                </a:cubicBezTo>
                <a:cubicBezTo>
                  <a:pt x="32148" y="4618829"/>
                  <a:pt x="5352" y="4496374"/>
                  <a:pt x="0" y="4304593"/>
                </a:cubicBezTo>
                <a:cubicBezTo>
                  <a:pt x="-5352" y="4112812"/>
                  <a:pt x="9645" y="3919423"/>
                  <a:pt x="0" y="3773507"/>
                </a:cubicBezTo>
                <a:cubicBezTo>
                  <a:pt x="-9645" y="3627591"/>
                  <a:pt x="-10654" y="3330687"/>
                  <a:pt x="0" y="3186517"/>
                </a:cubicBezTo>
                <a:cubicBezTo>
                  <a:pt x="10654" y="3042347"/>
                  <a:pt x="18181" y="2635923"/>
                  <a:pt x="0" y="2487720"/>
                </a:cubicBezTo>
                <a:cubicBezTo>
                  <a:pt x="-18181" y="2339517"/>
                  <a:pt x="-7947" y="2113537"/>
                  <a:pt x="0" y="1956633"/>
                </a:cubicBezTo>
                <a:cubicBezTo>
                  <a:pt x="7947" y="1799729"/>
                  <a:pt x="-15145" y="1657735"/>
                  <a:pt x="0" y="1425547"/>
                </a:cubicBezTo>
                <a:cubicBezTo>
                  <a:pt x="15145" y="1193359"/>
                  <a:pt x="-23832" y="948054"/>
                  <a:pt x="0" y="614942"/>
                </a:cubicBezTo>
                <a:cubicBezTo>
                  <a:pt x="23832" y="281831"/>
                  <a:pt x="2816" y="129878"/>
                  <a:pt x="0" y="0"/>
                </a:cubicBezTo>
                <a:close/>
              </a:path>
              <a:path w="18288" h="5590381" stroke="0" extrusionOk="0">
                <a:moveTo>
                  <a:pt x="0" y="0"/>
                </a:moveTo>
                <a:cubicBezTo>
                  <a:pt x="5871" y="848"/>
                  <a:pt x="11713" y="-200"/>
                  <a:pt x="18288" y="0"/>
                </a:cubicBezTo>
                <a:cubicBezTo>
                  <a:pt x="41141" y="165299"/>
                  <a:pt x="3613" y="427555"/>
                  <a:pt x="18288" y="698798"/>
                </a:cubicBezTo>
                <a:cubicBezTo>
                  <a:pt x="32963" y="970041"/>
                  <a:pt x="19680" y="1226199"/>
                  <a:pt x="18288" y="1397595"/>
                </a:cubicBezTo>
                <a:cubicBezTo>
                  <a:pt x="16896" y="1568991"/>
                  <a:pt x="38798" y="1794517"/>
                  <a:pt x="18288" y="2152297"/>
                </a:cubicBezTo>
                <a:cubicBezTo>
                  <a:pt x="-2222" y="2510077"/>
                  <a:pt x="40846" y="2594424"/>
                  <a:pt x="18288" y="2739287"/>
                </a:cubicBezTo>
                <a:cubicBezTo>
                  <a:pt x="-4270" y="2884150"/>
                  <a:pt x="27117" y="3129706"/>
                  <a:pt x="18288" y="3493988"/>
                </a:cubicBezTo>
                <a:cubicBezTo>
                  <a:pt x="9459" y="3858270"/>
                  <a:pt x="54201" y="4041447"/>
                  <a:pt x="18288" y="4304593"/>
                </a:cubicBezTo>
                <a:cubicBezTo>
                  <a:pt x="-17625" y="4567740"/>
                  <a:pt x="49627" y="5149125"/>
                  <a:pt x="18288" y="5590381"/>
                </a:cubicBezTo>
                <a:cubicBezTo>
                  <a:pt x="10860" y="5590744"/>
                  <a:pt x="7568" y="5590157"/>
                  <a:pt x="0" y="5590381"/>
                </a:cubicBezTo>
                <a:cubicBezTo>
                  <a:pt x="36767" y="5266821"/>
                  <a:pt x="-16223" y="5116146"/>
                  <a:pt x="0" y="4835680"/>
                </a:cubicBezTo>
                <a:cubicBezTo>
                  <a:pt x="16223" y="4555214"/>
                  <a:pt x="-16316" y="4356490"/>
                  <a:pt x="0" y="4136882"/>
                </a:cubicBezTo>
                <a:cubicBezTo>
                  <a:pt x="16316" y="3917274"/>
                  <a:pt x="8005" y="3773465"/>
                  <a:pt x="0" y="3549892"/>
                </a:cubicBezTo>
                <a:cubicBezTo>
                  <a:pt x="-8005" y="3326319"/>
                  <a:pt x="27623" y="3052456"/>
                  <a:pt x="0" y="2851094"/>
                </a:cubicBezTo>
                <a:cubicBezTo>
                  <a:pt x="-27623" y="2649732"/>
                  <a:pt x="5614" y="2455815"/>
                  <a:pt x="0" y="2264104"/>
                </a:cubicBezTo>
                <a:cubicBezTo>
                  <a:pt x="-5614" y="2072393"/>
                  <a:pt x="22598" y="1990723"/>
                  <a:pt x="0" y="1733018"/>
                </a:cubicBezTo>
                <a:cubicBezTo>
                  <a:pt x="-22598" y="1475313"/>
                  <a:pt x="-6965" y="1369123"/>
                  <a:pt x="0" y="1090124"/>
                </a:cubicBezTo>
                <a:cubicBezTo>
                  <a:pt x="6965" y="811125"/>
                  <a:pt x="-19273" y="5070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311409761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54296" y="648653"/>
            <a:ext cx="6894576" cy="387819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654296" y="4798577"/>
            <a:ext cx="6894576" cy="142848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12700" indent="-228600" algn="l" rtl="0">
              <a:lnSpc>
                <a:spcPct val="9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lang="en-US" sz="2200" b="1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Presented by </a:t>
            </a:r>
          </a:p>
          <a:p>
            <a:pPr marL="12700" indent="-228600" algn="l" rtl="0">
              <a:lnSpc>
                <a:spcPct val="9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lang="en-US" sz="2200" b="1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 Teresa Burdett</a:t>
            </a:r>
            <a:endParaRPr lang="en-US" sz="2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17867" y="508076"/>
            <a:ext cx="5021580" cy="149860"/>
          </a:xfrm>
          <a:custGeom>
            <a:avLst/>
            <a:gdLst/>
            <a:ahLst/>
            <a:cxnLst/>
            <a:rect l="l" t="t" r="r" b="b"/>
            <a:pathLst>
              <a:path w="5021580" h="149859">
                <a:moveTo>
                  <a:pt x="5021199" y="0"/>
                </a:moveTo>
                <a:lnTo>
                  <a:pt x="0" y="0"/>
                </a:lnTo>
                <a:lnTo>
                  <a:pt x="0" y="149275"/>
                </a:lnTo>
                <a:lnTo>
                  <a:pt x="5021199" y="149275"/>
                </a:lnTo>
                <a:lnTo>
                  <a:pt x="502119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76605" rIns="0" bIns="0" rtlCol="0">
            <a:spAutoFit/>
          </a:bodyPr>
          <a:lstStyle/>
          <a:p>
            <a:pPr marL="30480">
              <a:lnSpc>
                <a:spcPct val="100000"/>
              </a:lnSpc>
              <a:spcBef>
                <a:spcPts val="95"/>
              </a:spcBef>
            </a:pPr>
            <a:r>
              <a:rPr sz="4000" spc="-160" dirty="0"/>
              <a:t>Learning</a:t>
            </a:r>
            <a:r>
              <a:rPr sz="4000" spc="-75" dirty="0"/>
              <a:t> </a:t>
            </a:r>
            <a:r>
              <a:rPr sz="4000" spc="-55" dirty="0"/>
              <a:t>Objectives</a:t>
            </a:r>
            <a:endParaRPr sz="4000"/>
          </a:p>
        </p:txBody>
      </p:sp>
      <p:sp>
        <p:nvSpPr>
          <p:cNvPr id="3" name="object 3"/>
          <p:cNvSpPr/>
          <p:nvPr/>
        </p:nvSpPr>
        <p:spPr>
          <a:xfrm>
            <a:off x="517867" y="508076"/>
            <a:ext cx="11155680" cy="149860"/>
          </a:xfrm>
          <a:custGeom>
            <a:avLst/>
            <a:gdLst/>
            <a:ahLst/>
            <a:cxnLst/>
            <a:rect l="l" t="t" r="r" b="b"/>
            <a:pathLst>
              <a:path w="11155680" h="149859">
                <a:moveTo>
                  <a:pt x="11155680" y="0"/>
                </a:moveTo>
                <a:lnTo>
                  <a:pt x="0" y="0"/>
                </a:lnTo>
                <a:lnTo>
                  <a:pt x="0" y="149275"/>
                </a:lnTo>
                <a:lnTo>
                  <a:pt x="11155680" y="149275"/>
                </a:lnTo>
                <a:lnTo>
                  <a:pt x="1115568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21208" y="6299530"/>
            <a:ext cx="11155680" cy="46990"/>
          </a:xfrm>
          <a:custGeom>
            <a:avLst/>
            <a:gdLst/>
            <a:ahLst/>
            <a:cxnLst/>
            <a:rect l="l" t="t" r="r" b="b"/>
            <a:pathLst>
              <a:path w="11155680" h="46989">
                <a:moveTo>
                  <a:pt x="11155680" y="0"/>
                </a:moveTo>
                <a:lnTo>
                  <a:pt x="0" y="0"/>
                </a:lnTo>
                <a:lnTo>
                  <a:pt x="0" y="46469"/>
                </a:lnTo>
                <a:lnTo>
                  <a:pt x="11155680" y="46469"/>
                </a:lnTo>
                <a:lnTo>
                  <a:pt x="1115568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7" name="object 5">
            <a:extLst>
              <a:ext uri="{FF2B5EF4-FFF2-40B4-BE49-F238E27FC236}">
                <a16:creationId xmlns:a16="http://schemas.microsoft.com/office/drawing/2014/main" id="{568718CB-F102-DF7D-BFE1-9F2CF0D91E4E}"/>
              </a:ext>
            </a:extLst>
          </p:cNvPr>
          <p:cNvGraphicFramePr/>
          <p:nvPr/>
        </p:nvGraphicFramePr>
        <p:xfrm>
          <a:off x="618236" y="2407665"/>
          <a:ext cx="10777220" cy="22205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0390" rIns="0" bIns="0" rtlCol="0">
            <a:spAutoFit/>
          </a:bodyPr>
          <a:lstStyle/>
          <a:p>
            <a:pPr marL="5667375">
              <a:lnSpc>
                <a:spcPct val="100000"/>
              </a:lnSpc>
              <a:spcBef>
                <a:spcPts val="105"/>
              </a:spcBef>
            </a:pPr>
            <a:r>
              <a:rPr spc="-70" dirty="0"/>
              <a:t>Introduction</a:t>
            </a:r>
            <a:r>
              <a:rPr spc="-200" dirty="0"/>
              <a:t> </a:t>
            </a:r>
            <a:r>
              <a:rPr spc="-495" dirty="0"/>
              <a:t>–</a:t>
            </a:r>
          </a:p>
          <a:p>
            <a:pPr marL="5667375">
              <a:lnSpc>
                <a:spcPct val="100000"/>
              </a:lnSpc>
              <a:spcBef>
                <a:spcPts val="5"/>
              </a:spcBef>
            </a:pPr>
            <a:r>
              <a:rPr dirty="0"/>
              <a:t>Critical</a:t>
            </a:r>
            <a:r>
              <a:rPr spc="-305" dirty="0"/>
              <a:t> </a:t>
            </a:r>
            <a:r>
              <a:rPr spc="-95" dirty="0"/>
              <a:t>Appraisal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99960" y="1377502"/>
            <a:ext cx="4409440" cy="4118610"/>
            <a:chOff x="799960" y="1377502"/>
            <a:chExt cx="4409440" cy="4118610"/>
          </a:xfrm>
        </p:grpSpPr>
        <p:sp>
          <p:nvSpPr>
            <p:cNvPr id="4" name="object 4"/>
            <p:cNvSpPr/>
            <p:nvPr/>
          </p:nvSpPr>
          <p:spPr>
            <a:xfrm>
              <a:off x="829741" y="1407284"/>
              <a:ext cx="4349750" cy="4058920"/>
            </a:xfrm>
            <a:custGeom>
              <a:avLst/>
              <a:gdLst/>
              <a:ahLst/>
              <a:cxnLst/>
              <a:rect l="l" t="t" r="r" b="b"/>
              <a:pathLst>
                <a:path w="4349750" h="4058920">
                  <a:moveTo>
                    <a:pt x="2552662" y="0"/>
                  </a:moveTo>
                  <a:lnTo>
                    <a:pt x="367565" y="765659"/>
                  </a:lnTo>
                  <a:lnTo>
                    <a:pt x="328364" y="788396"/>
                  </a:lnTo>
                  <a:lnTo>
                    <a:pt x="294256" y="815489"/>
                  </a:lnTo>
                  <a:lnTo>
                    <a:pt x="264885" y="846531"/>
                  </a:lnTo>
                  <a:lnTo>
                    <a:pt x="239899" y="881112"/>
                  </a:lnTo>
                  <a:lnTo>
                    <a:pt x="218942" y="918825"/>
                  </a:lnTo>
                  <a:lnTo>
                    <a:pt x="201661" y="959261"/>
                  </a:lnTo>
                  <a:lnTo>
                    <a:pt x="187701" y="1002011"/>
                  </a:lnTo>
                  <a:lnTo>
                    <a:pt x="176710" y="1046668"/>
                  </a:lnTo>
                  <a:lnTo>
                    <a:pt x="168333" y="1092822"/>
                  </a:lnTo>
                  <a:lnTo>
                    <a:pt x="162215" y="1140065"/>
                  </a:lnTo>
                  <a:lnTo>
                    <a:pt x="158004" y="1187989"/>
                  </a:lnTo>
                  <a:lnTo>
                    <a:pt x="155345" y="1236185"/>
                  </a:lnTo>
                  <a:lnTo>
                    <a:pt x="153883" y="1284245"/>
                  </a:lnTo>
                  <a:lnTo>
                    <a:pt x="153266" y="1331761"/>
                  </a:lnTo>
                  <a:lnTo>
                    <a:pt x="153265" y="1332373"/>
                  </a:lnTo>
                  <a:lnTo>
                    <a:pt x="153139" y="1378323"/>
                  </a:lnTo>
                  <a:lnTo>
                    <a:pt x="154974" y="1435681"/>
                  </a:lnTo>
                  <a:lnTo>
                    <a:pt x="160159" y="1492559"/>
                  </a:lnTo>
                  <a:lnTo>
                    <a:pt x="168216" y="1548481"/>
                  </a:lnTo>
                  <a:lnTo>
                    <a:pt x="178666" y="1602966"/>
                  </a:lnTo>
                  <a:lnTo>
                    <a:pt x="143993" y="1629233"/>
                  </a:lnTo>
                  <a:lnTo>
                    <a:pt x="114120" y="1659619"/>
                  </a:lnTo>
                  <a:lnTo>
                    <a:pt x="88689" y="1693711"/>
                  </a:lnTo>
                  <a:lnTo>
                    <a:pt x="67344" y="1731096"/>
                  </a:lnTo>
                  <a:lnTo>
                    <a:pt x="49727" y="1771362"/>
                  </a:lnTo>
                  <a:lnTo>
                    <a:pt x="35480" y="1814094"/>
                  </a:lnTo>
                  <a:lnTo>
                    <a:pt x="24247" y="1858881"/>
                  </a:lnTo>
                  <a:lnTo>
                    <a:pt x="15671" y="1905309"/>
                  </a:lnTo>
                  <a:lnTo>
                    <a:pt x="9394" y="1952965"/>
                  </a:lnTo>
                  <a:lnTo>
                    <a:pt x="5060" y="2001436"/>
                  </a:lnTo>
                  <a:lnTo>
                    <a:pt x="2310" y="2050309"/>
                  </a:lnTo>
                  <a:lnTo>
                    <a:pt x="788" y="2099171"/>
                  </a:lnTo>
                  <a:lnTo>
                    <a:pt x="184" y="2144153"/>
                  </a:lnTo>
                  <a:lnTo>
                    <a:pt x="0" y="2195208"/>
                  </a:lnTo>
                  <a:lnTo>
                    <a:pt x="1207" y="2246264"/>
                  </a:lnTo>
                  <a:lnTo>
                    <a:pt x="5146" y="2300219"/>
                  </a:lnTo>
                  <a:lnTo>
                    <a:pt x="11854" y="2350656"/>
                  </a:lnTo>
                  <a:lnTo>
                    <a:pt x="21586" y="2399430"/>
                  </a:lnTo>
                  <a:lnTo>
                    <a:pt x="34458" y="2446018"/>
                  </a:lnTo>
                  <a:lnTo>
                    <a:pt x="50722" y="2490390"/>
                  </a:lnTo>
                  <a:lnTo>
                    <a:pt x="70538" y="2532189"/>
                  </a:lnTo>
                  <a:lnTo>
                    <a:pt x="94091" y="2571139"/>
                  </a:lnTo>
                  <a:lnTo>
                    <a:pt x="121563" y="2606964"/>
                  </a:lnTo>
                  <a:lnTo>
                    <a:pt x="153139" y="2639390"/>
                  </a:lnTo>
                  <a:lnTo>
                    <a:pt x="143519" y="2684488"/>
                  </a:lnTo>
                  <a:lnTo>
                    <a:pt x="139147" y="2732991"/>
                  </a:lnTo>
                  <a:lnTo>
                    <a:pt x="138461" y="2784897"/>
                  </a:lnTo>
                  <a:lnTo>
                    <a:pt x="139903" y="2840207"/>
                  </a:lnTo>
                  <a:lnTo>
                    <a:pt x="141912" y="2898921"/>
                  </a:lnTo>
                  <a:lnTo>
                    <a:pt x="142929" y="2961038"/>
                  </a:lnTo>
                  <a:lnTo>
                    <a:pt x="144053" y="3013641"/>
                  </a:lnTo>
                  <a:lnTo>
                    <a:pt x="147576" y="3065198"/>
                  </a:lnTo>
                  <a:lnTo>
                    <a:pt x="153720" y="3115389"/>
                  </a:lnTo>
                  <a:lnTo>
                    <a:pt x="162709" y="3163893"/>
                  </a:lnTo>
                  <a:lnTo>
                    <a:pt x="174764" y="3210389"/>
                  </a:lnTo>
                  <a:lnTo>
                    <a:pt x="190111" y="3254556"/>
                  </a:lnTo>
                  <a:lnTo>
                    <a:pt x="208971" y="3296074"/>
                  </a:lnTo>
                  <a:lnTo>
                    <a:pt x="231567" y="3334623"/>
                  </a:lnTo>
                  <a:lnTo>
                    <a:pt x="258123" y="3369880"/>
                  </a:lnTo>
                  <a:lnTo>
                    <a:pt x="288863" y="3401527"/>
                  </a:lnTo>
                  <a:lnTo>
                    <a:pt x="324008" y="3429241"/>
                  </a:lnTo>
                  <a:lnTo>
                    <a:pt x="363782" y="3452703"/>
                  </a:lnTo>
                  <a:lnTo>
                    <a:pt x="1827700" y="4058728"/>
                  </a:lnTo>
                  <a:lnTo>
                    <a:pt x="2628041" y="3726868"/>
                  </a:lnTo>
                  <a:lnTo>
                    <a:pt x="1837910" y="3726868"/>
                  </a:lnTo>
                  <a:lnTo>
                    <a:pt x="413513" y="3165259"/>
                  </a:lnTo>
                  <a:lnTo>
                    <a:pt x="413513" y="2767028"/>
                  </a:lnTo>
                  <a:lnTo>
                    <a:pt x="1204659" y="2767028"/>
                  </a:lnTo>
                  <a:lnTo>
                    <a:pt x="275668" y="2399430"/>
                  </a:lnTo>
                  <a:lnTo>
                    <a:pt x="275668" y="1939932"/>
                  </a:lnTo>
                  <a:lnTo>
                    <a:pt x="1332015" y="1939932"/>
                  </a:lnTo>
                  <a:lnTo>
                    <a:pt x="428829" y="1582544"/>
                  </a:lnTo>
                  <a:lnTo>
                    <a:pt x="428829" y="1123046"/>
                  </a:lnTo>
                  <a:lnTo>
                    <a:pt x="3227236" y="1123046"/>
                  </a:lnTo>
                  <a:lnTo>
                    <a:pt x="3885162" y="857559"/>
                  </a:lnTo>
                  <a:lnTo>
                    <a:pt x="4084272" y="857559"/>
                  </a:lnTo>
                  <a:lnTo>
                    <a:pt x="4084272" y="775870"/>
                  </a:lnTo>
                  <a:lnTo>
                    <a:pt x="4349751" y="663549"/>
                  </a:lnTo>
                  <a:lnTo>
                    <a:pt x="2552662" y="0"/>
                  </a:lnTo>
                  <a:close/>
                </a:path>
                <a:path w="4349750" h="4058920">
                  <a:moveTo>
                    <a:pt x="4074061" y="2419852"/>
                  </a:moveTo>
                  <a:lnTo>
                    <a:pt x="3880057" y="2419852"/>
                  </a:lnTo>
                  <a:lnTo>
                    <a:pt x="3874952" y="2884455"/>
                  </a:lnTo>
                  <a:lnTo>
                    <a:pt x="1837910" y="3726868"/>
                  </a:lnTo>
                  <a:lnTo>
                    <a:pt x="2628041" y="3726868"/>
                  </a:lnTo>
                  <a:lnTo>
                    <a:pt x="4339540" y="3017199"/>
                  </a:lnTo>
                  <a:lnTo>
                    <a:pt x="4074061" y="2920194"/>
                  </a:lnTo>
                  <a:lnTo>
                    <a:pt x="4074061" y="2419852"/>
                  </a:lnTo>
                  <a:close/>
                </a:path>
                <a:path w="4349750" h="4058920">
                  <a:moveTo>
                    <a:pt x="1204659" y="2767028"/>
                  </a:moveTo>
                  <a:lnTo>
                    <a:pt x="413513" y="2767028"/>
                  </a:lnTo>
                  <a:lnTo>
                    <a:pt x="1684749" y="3287792"/>
                  </a:lnTo>
                  <a:lnTo>
                    <a:pt x="2511218" y="2961038"/>
                  </a:lnTo>
                  <a:lnTo>
                    <a:pt x="1694960" y="2961038"/>
                  </a:lnTo>
                  <a:lnTo>
                    <a:pt x="1204659" y="2767028"/>
                  </a:lnTo>
                  <a:close/>
                </a:path>
                <a:path w="4349750" h="4058920">
                  <a:moveTo>
                    <a:pt x="3931111" y="1684655"/>
                  </a:moveTo>
                  <a:lnTo>
                    <a:pt x="3737107" y="1684655"/>
                  </a:lnTo>
                  <a:lnTo>
                    <a:pt x="3737107" y="2118625"/>
                  </a:lnTo>
                  <a:lnTo>
                    <a:pt x="3732001" y="2118625"/>
                  </a:lnTo>
                  <a:lnTo>
                    <a:pt x="1694960" y="2961038"/>
                  </a:lnTo>
                  <a:lnTo>
                    <a:pt x="2511218" y="2961038"/>
                  </a:lnTo>
                  <a:lnTo>
                    <a:pt x="3880057" y="2419852"/>
                  </a:lnTo>
                  <a:lnTo>
                    <a:pt x="4074061" y="2419852"/>
                  </a:lnTo>
                  <a:lnTo>
                    <a:pt x="4074061" y="2358585"/>
                  </a:lnTo>
                  <a:lnTo>
                    <a:pt x="4339540" y="2246264"/>
                  </a:lnTo>
                  <a:lnTo>
                    <a:pt x="3931111" y="2093098"/>
                  </a:lnTo>
                  <a:lnTo>
                    <a:pt x="3931111" y="1684655"/>
                  </a:lnTo>
                  <a:close/>
                </a:path>
                <a:path w="4349750" h="4058920">
                  <a:moveTo>
                    <a:pt x="1332015" y="1939932"/>
                  </a:moveTo>
                  <a:lnTo>
                    <a:pt x="275668" y="1939932"/>
                  </a:lnTo>
                  <a:lnTo>
                    <a:pt x="1735803" y="2521962"/>
                  </a:lnTo>
                  <a:lnTo>
                    <a:pt x="2638830" y="2144153"/>
                  </a:lnTo>
                  <a:lnTo>
                    <a:pt x="1848121" y="2144153"/>
                  </a:lnTo>
                  <a:lnTo>
                    <a:pt x="1332015" y="1939932"/>
                  </a:lnTo>
                  <a:close/>
                </a:path>
                <a:path w="4349750" h="4058920">
                  <a:moveTo>
                    <a:pt x="4084272" y="857559"/>
                  </a:moveTo>
                  <a:lnTo>
                    <a:pt x="3885162" y="857559"/>
                  </a:lnTo>
                  <a:lnTo>
                    <a:pt x="3885162" y="1296635"/>
                  </a:lnTo>
                  <a:lnTo>
                    <a:pt x="1848121" y="2144153"/>
                  </a:lnTo>
                  <a:lnTo>
                    <a:pt x="2638830" y="2144153"/>
                  </a:lnTo>
                  <a:lnTo>
                    <a:pt x="3737107" y="1684655"/>
                  </a:lnTo>
                  <a:lnTo>
                    <a:pt x="3931111" y="1684655"/>
                  </a:lnTo>
                  <a:lnTo>
                    <a:pt x="3931111" y="1602967"/>
                  </a:lnTo>
                  <a:lnTo>
                    <a:pt x="4349751" y="1429378"/>
                  </a:lnTo>
                  <a:lnTo>
                    <a:pt x="4084272" y="1332373"/>
                  </a:lnTo>
                  <a:lnTo>
                    <a:pt x="4084272" y="857559"/>
                  </a:lnTo>
                  <a:close/>
                </a:path>
                <a:path w="4349750" h="4058920">
                  <a:moveTo>
                    <a:pt x="3227236" y="1123046"/>
                  </a:moveTo>
                  <a:lnTo>
                    <a:pt x="428829" y="1123046"/>
                  </a:lnTo>
                  <a:lnTo>
                    <a:pt x="1848121" y="1679549"/>
                  </a:lnTo>
                  <a:lnTo>
                    <a:pt x="3227236" y="1123046"/>
                  </a:lnTo>
                  <a:close/>
                </a:path>
              </a:pathLst>
            </a:custGeom>
            <a:solidFill>
              <a:srgbClr val="EB9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29741" y="1407284"/>
              <a:ext cx="4349750" cy="4058920"/>
            </a:xfrm>
            <a:custGeom>
              <a:avLst/>
              <a:gdLst/>
              <a:ahLst/>
              <a:cxnLst/>
              <a:rect l="l" t="t" r="r" b="b"/>
              <a:pathLst>
                <a:path w="4349750" h="4058920">
                  <a:moveTo>
                    <a:pt x="4349751" y="1429378"/>
                  </a:moveTo>
                  <a:lnTo>
                    <a:pt x="4084272" y="1332373"/>
                  </a:lnTo>
                  <a:lnTo>
                    <a:pt x="4084272" y="775870"/>
                  </a:lnTo>
                  <a:lnTo>
                    <a:pt x="4349751" y="663549"/>
                  </a:lnTo>
                  <a:lnTo>
                    <a:pt x="2552662" y="0"/>
                  </a:lnTo>
                  <a:lnTo>
                    <a:pt x="367565" y="765659"/>
                  </a:lnTo>
                  <a:lnTo>
                    <a:pt x="328364" y="788396"/>
                  </a:lnTo>
                  <a:lnTo>
                    <a:pt x="294256" y="815489"/>
                  </a:lnTo>
                  <a:lnTo>
                    <a:pt x="264885" y="846531"/>
                  </a:lnTo>
                  <a:lnTo>
                    <a:pt x="239899" y="881112"/>
                  </a:lnTo>
                  <a:lnTo>
                    <a:pt x="218942" y="918825"/>
                  </a:lnTo>
                  <a:lnTo>
                    <a:pt x="201661" y="959261"/>
                  </a:lnTo>
                  <a:lnTo>
                    <a:pt x="187701" y="1002011"/>
                  </a:lnTo>
                  <a:lnTo>
                    <a:pt x="176710" y="1046668"/>
                  </a:lnTo>
                  <a:lnTo>
                    <a:pt x="168333" y="1092822"/>
                  </a:lnTo>
                  <a:lnTo>
                    <a:pt x="162215" y="1140065"/>
                  </a:lnTo>
                  <a:lnTo>
                    <a:pt x="158004" y="1187989"/>
                  </a:lnTo>
                  <a:lnTo>
                    <a:pt x="155345" y="1236185"/>
                  </a:lnTo>
                  <a:lnTo>
                    <a:pt x="153883" y="1284245"/>
                  </a:lnTo>
                  <a:lnTo>
                    <a:pt x="153266" y="1331761"/>
                  </a:lnTo>
                  <a:lnTo>
                    <a:pt x="153139" y="1378323"/>
                  </a:lnTo>
                  <a:lnTo>
                    <a:pt x="154974" y="1435681"/>
                  </a:lnTo>
                  <a:lnTo>
                    <a:pt x="160159" y="1492559"/>
                  </a:lnTo>
                  <a:lnTo>
                    <a:pt x="168216" y="1548481"/>
                  </a:lnTo>
                  <a:lnTo>
                    <a:pt x="178666" y="1602966"/>
                  </a:lnTo>
                  <a:lnTo>
                    <a:pt x="143993" y="1629233"/>
                  </a:lnTo>
                  <a:lnTo>
                    <a:pt x="114120" y="1659619"/>
                  </a:lnTo>
                  <a:lnTo>
                    <a:pt x="88689" y="1693711"/>
                  </a:lnTo>
                  <a:lnTo>
                    <a:pt x="67344" y="1731096"/>
                  </a:lnTo>
                  <a:lnTo>
                    <a:pt x="49727" y="1771362"/>
                  </a:lnTo>
                  <a:lnTo>
                    <a:pt x="35480" y="1814094"/>
                  </a:lnTo>
                  <a:lnTo>
                    <a:pt x="24247" y="1858881"/>
                  </a:lnTo>
                  <a:lnTo>
                    <a:pt x="15671" y="1905309"/>
                  </a:lnTo>
                  <a:lnTo>
                    <a:pt x="9394" y="1952965"/>
                  </a:lnTo>
                  <a:lnTo>
                    <a:pt x="5060" y="2001436"/>
                  </a:lnTo>
                  <a:lnTo>
                    <a:pt x="2310" y="2050309"/>
                  </a:lnTo>
                  <a:lnTo>
                    <a:pt x="788" y="2099171"/>
                  </a:lnTo>
                  <a:lnTo>
                    <a:pt x="137" y="2147608"/>
                  </a:lnTo>
                  <a:lnTo>
                    <a:pt x="0" y="2195208"/>
                  </a:lnTo>
                  <a:lnTo>
                    <a:pt x="1255" y="2248311"/>
                  </a:lnTo>
                  <a:lnTo>
                    <a:pt x="5146" y="2300219"/>
                  </a:lnTo>
                  <a:lnTo>
                    <a:pt x="11854" y="2350656"/>
                  </a:lnTo>
                  <a:lnTo>
                    <a:pt x="21563" y="2399348"/>
                  </a:lnTo>
                  <a:lnTo>
                    <a:pt x="34458" y="2446018"/>
                  </a:lnTo>
                  <a:lnTo>
                    <a:pt x="50722" y="2490390"/>
                  </a:lnTo>
                  <a:lnTo>
                    <a:pt x="70538" y="2532189"/>
                  </a:lnTo>
                  <a:lnTo>
                    <a:pt x="94091" y="2571139"/>
                  </a:lnTo>
                  <a:lnTo>
                    <a:pt x="121563" y="2606964"/>
                  </a:lnTo>
                  <a:lnTo>
                    <a:pt x="153139" y="2639390"/>
                  </a:lnTo>
                  <a:lnTo>
                    <a:pt x="143519" y="2684488"/>
                  </a:lnTo>
                  <a:lnTo>
                    <a:pt x="139147" y="2732991"/>
                  </a:lnTo>
                  <a:lnTo>
                    <a:pt x="138461" y="2784897"/>
                  </a:lnTo>
                  <a:lnTo>
                    <a:pt x="139903" y="2840207"/>
                  </a:lnTo>
                  <a:lnTo>
                    <a:pt x="141912" y="2898921"/>
                  </a:lnTo>
                  <a:lnTo>
                    <a:pt x="142929" y="2961038"/>
                  </a:lnTo>
                  <a:lnTo>
                    <a:pt x="144053" y="3013641"/>
                  </a:lnTo>
                  <a:lnTo>
                    <a:pt x="147576" y="3065198"/>
                  </a:lnTo>
                  <a:lnTo>
                    <a:pt x="153720" y="3115389"/>
                  </a:lnTo>
                  <a:lnTo>
                    <a:pt x="162709" y="3163893"/>
                  </a:lnTo>
                  <a:lnTo>
                    <a:pt x="174764" y="3210389"/>
                  </a:lnTo>
                  <a:lnTo>
                    <a:pt x="190111" y="3254556"/>
                  </a:lnTo>
                  <a:lnTo>
                    <a:pt x="208971" y="3296074"/>
                  </a:lnTo>
                  <a:lnTo>
                    <a:pt x="231567" y="3334623"/>
                  </a:lnTo>
                  <a:lnTo>
                    <a:pt x="258123" y="3369880"/>
                  </a:lnTo>
                  <a:lnTo>
                    <a:pt x="288863" y="3401527"/>
                  </a:lnTo>
                  <a:lnTo>
                    <a:pt x="324008" y="3429241"/>
                  </a:lnTo>
                  <a:lnTo>
                    <a:pt x="363782" y="3452703"/>
                  </a:lnTo>
                  <a:lnTo>
                    <a:pt x="408408" y="3471591"/>
                  </a:lnTo>
                  <a:lnTo>
                    <a:pt x="1827700" y="4058728"/>
                  </a:lnTo>
                  <a:lnTo>
                    <a:pt x="4339540" y="3017199"/>
                  </a:lnTo>
                  <a:lnTo>
                    <a:pt x="4074061" y="2920194"/>
                  </a:lnTo>
                  <a:lnTo>
                    <a:pt x="4074061" y="2358585"/>
                  </a:lnTo>
                  <a:lnTo>
                    <a:pt x="4339540" y="2246264"/>
                  </a:lnTo>
                  <a:lnTo>
                    <a:pt x="3931111" y="2093098"/>
                  </a:lnTo>
                  <a:lnTo>
                    <a:pt x="3931111" y="1602967"/>
                  </a:lnTo>
                  <a:lnTo>
                    <a:pt x="4349751" y="1429378"/>
                  </a:lnTo>
                  <a:close/>
                </a:path>
                <a:path w="4349750" h="4058920">
                  <a:moveTo>
                    <a:pt x="428829" y="1123046"/>
                  </a:moveTo>
                  <a:lnTo>
                    <a:pt x="1848121" y="1679550"/>
                  </a:lnTo>
                  <a:lnTo>
                    <a:pt x="3885162" y="857559"/>
                  </a:lnTo>
                  <a:lnTo>
                    <a:pt x="3885162" y="1296635"/>
                  </a:lnTo>
                  <a:lnTo>
                    <a:pt x="1848121" y="2144153"/>
                  </a:lnTo>
                  <a:lnTo>
                    <a:pt x="428829" y="1582544"/>
                  </a:lnTo>
                  <a:lnTo>
                    <a:pt x="428829" y="1123046"/>
                  </a:lnTo>
                  <a:close/>
                </a:path>
                <a:path w="4349750" h="4058920">
                  <a:moveTo>
                    <a:pt x="3874952" y="2884455"/>
                  </a:moveTo>
                  <a:lnTo>
                    <a:pt x="1837910" y="3726868"/>
                  </a:lnTo>
                  <a:lnTo>
                    <a:pt x="413513" y="3165259"/>
                  </a:lnTo>
                  <a:lnTo>
                    <a:pt x="413513" y="2767028"/>
                  </a:lnTo>
                  <a:lnTo>
                    <a:pt x="1684749" y="3287792"/>
                  </a:lnTo>
                  <a:lnTo>
                    <a:pt x="3880057" y="2419852"/>
                  </a:lnTo>
                  <a:lnTo>
                    <a:pt x="3874952" y="2884455"/>
                  </a:lnTo>
                  <a:close/>
                </a:path>
                <a:path w="4349750" h="4058920">
                  <a:moveTo>
                    <a:pt x="3732001" y="2118625"/>
                  </a:moveTo>
                  <a:lnTo>
                    <a:pt x="1694960" y="2961038"/>
                  </a:lnTo>
                  <a:lnTo>
                    <a:pt x="275668" y="2399430"/>
                  </a:lnTo>
                  <a:lnTo>
                    <a:pt x="275668" y="1939932"/>
                  </a:lnTo>
                  <a:lnTo>
                    <a:pt x="1735803" y="2521962"/>
                  </a:lnTo>
                  <a:lnTo>
                    <a:pt x="3737107" y="1684655"/>
                  </a:lnTo>
                  <a:lnTo>
                    <a:pt x="3737107" y="2118625"/>
                  </a:lnTo>
                  <a:lnTo>
                    <a:pt x="3732001" y="2118625"/>
                  </a:lnTo>
                  <a:close/>
                </a:path>
              </a:pathLst>
            </a:custGeom>
            <a:ln w="59563">
              <a:solidFill>
                <a:srgbClr val="EB9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6158484" y="508076"/>
            <a:ext cx="5514340" cy="149860"/>
          </a:xfrm>
          <a:custGeom>
            <a:avLst/>
            <a:gdLst/>
            <a:ahLst/>
            <a:cxnLst/>
            <a:rect l="l" t="t" r="r" b="b"/>
            <a:pathLst>
              <a:path w="5514340" h="149859">
                <a:moveTo>
                  <a:pt x="5513832" y="0"/>
                </a:moveTo>
                <a:lnTo>
                  <a:pt x="0" y="0"/>
                </a:lnTo>
                <a:lnTo>
                  <a:pt x="0" y="149275"/>
                </a:lnTo>
                <a:lnTo>
                  <a:pt x="5513832" y="149275"/>
                </a:lnTo>
                <a:lnTo>
                  <a:pt x="55138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9" name="object 7">
            <a:extLst>
              <a:ext uri="{FF2B5EF4-FFF2-40B4-BE49-F238E27FC236}">
                <a16:creationId xmlns:a16="http://schemas.microsoft.com/office/drawing/2014/main" id="{324EE554-8E06-194B-5B9D-66EDF64A6C99}"/>
              </a:ext>
            </a:extLst>
          </p:cNvPr>
          <p:cNvGraphicFramePr/>
          <p:nvPr/>
        </p:nvGraphicFramePr>
        <p:xfrm>
          <a:off x="6233540" y="2754223"/>
          <a:ext cx="5170170" cy="34582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17867" y="508076"/>
            <a:ext cx="11153775" cy="149860"/>
          </a:xfrm>
          <a:custGeom>
            <a:avLst/>
            <a:gdLst/>
            <a:ahLst/>
            <a:cxnLst/>
            <a:rect l="l" t="t" r="r" b="b"/>
            <a:pathLst>
              <a:path w="11153775" h="149859">
                <a:moveTo>
                  <a:pt x="11153267" y="0"/>
                </a:moveTo>
                <a:lnTo>
                  <a:pt x="0" y="0"/>
                </a:lnTo>
                <a:lnTo>
                  <a:pt x="0" y="149275"/>
                </a:lnTo>
                <a:lnTo>
                  <a:pt x="11153267" y="149275"/>
                </a:lnTo>
                <a:lnTo>
                  <a:pt x="111532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99948" y="977849"/>
            <a:ext cx="81280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30" dirty="0"/>
              <a:t>Why</a:t>
            </a:r>
            <a:r>
              <a:rPr spc="-180" dirty="0"/>
              <a:t> </a:t>
            </a:r>
            <a:r>
              <a:rPr spc="-10" dirty="0"/>
              <a:t>Critical</a:t>
            </a:r>
            <a:r>
              <a:rPr spc="-195" dirty="0"/>
              <a:t> </a:t>
            </a:r>
            <a:r>
              <a:rPr spc="-110" dirty="0"/>
              <a:t>Appraisal</a:t>
            </a:r>
            <a:r>
              <a:rPr spc="-190" dirty="0"/>
              <a:t> </a:t>
            </a:r>
            <a:r>
              <a:rPr spc="-60" dirty="0"/>
              <a:t>Matters?</a:t>
            </a:r>
          </a:p>
        </p:txBody>
      </p:sp>
      <p:graphicFrame>
        <p:nvGraphicFramePr>
          <p:cNvPr id="6" name="object 3">
            <a:extLst>
              <a:ext uri="{FF2B5EF4-FFF2-40B4-BE49-F238E27FC236}">
                <a16:creationId xmlns:a16="http://schemas.microsoft.com/office/drawing/2014/main" id="{1019E1F3-645C-F101-35B4-14181222AB85}"/>
              </a:ext>
            </a:extLst>
          </p:cNvPr>
          <p:cNvGraphicFramePr/>
          <p:nvPr/>
        </p:nvGraphicFramePr>
        <p:xfrm>
          <a:off x="764540" y="1870550"/>
          <a:ext cx="5253355" cy="42005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9948" y="977849"/>
            <a:ext cx="367919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40" dirty="0"/>
              <a:t>Study</a:t>
            </a:r>
            <a:r>
              <a:rPr spc="-160" dirty="0"/>
              <a:t> </a:t>
            </a:r>
            <a:r>
              <a:rPr spc="-135" dirty="0"/>
              <a:t>Designs</a:t>
            </a:r>
          </a:p>
        </p:txBody>
      </p:sp>
      <p:sp>
        <p:nvSpPr>
          <p:cNvPr id="3" name="object 3"/>
          <p:cNvSpPr/>
          <p:nvPr/>
        </p:nvSpPr>
        <p:spPr>
          <a:xfrm>
            <a:off x="517867" y="508076"/>
            <a:ext cx="4672965" cy="149860"/>
          </a:xfrm>
          <a:custGeom>
            <a:avLst/>
            <a:gdLst/>
            <a:ahLst/>
            <a:cxnLst/>
            <a:rect l="l" t="t" r="r" b="b"/>
            <a:pathLst>
              <a:path w="4672965" h="149859">
                <a:moveTo>
                  <a:pt x="4672965" y="0"/>
                </a:moveTo>
                <a:lnTo>
                  <a:pt x="0" y="0"/>
                </a:lnTo>
                <a:lnTo>
                  <a:pt x="0" y="149275"/>
                </a:lnTo>
                <a:lnTo>
                  <a:pt x="4672965" y="149275"/>
                </a:lnTo>
                <a:lnTo>
                  <a:pt x="467296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99948" y="2156231"/>
            <a:ext cx="4519930" cy="3195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marR="960119" indent="-228600">
              <a:lnSpc>
                <a:spcPct val="110000"/>
              </a:lnSpc>
              <a:spcBef>
                <a:spcPts val="100"/>
              </a:spcBef>
              <a:buChar char="•"/>
              <a:tabLst>
                <a:tab pos="240665" algn="l"/>
              </a:tabLst>
            </a:pPr>
            <a:r>
              <a:rPr sz="1900" dirty="0">
                <a:latin typeface="Arial MT"/>
                <a:cs typeface="Arial MT"/>
              </a:rPr>
              <a:t>Different</a:t>
            </a:r>
            <a:r>
              <a:rPr sz="1900" spc="-4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Designs</a:t>
            </a:r>
            <a:r>
              <a:rPr sz="1900" spc="-3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in</a:t>
            </a:r>
            <a:r>
              <a:rPr sz="1900" spc="-70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Qualitative Research</a:t>
            </a:r>
            <a:endParaRPr sz="19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25"/>
              </a:spcBef>
              <a:buSzPct val="52631"/>
              <a:buFont typeface="Symbol"/>
              <a:buChar char=""/>
              <a:tabLst>
                <a:tab pos="354965" algn="l"/>
              </a:tabLst>
            </a:pPr>
            <a:r>
              <a:rPr sz="1900" dirty="0">
                <a:latin typeface="Arial MT"/>
                <a:cs typeface="Arial MT"/>
              </a:rPr>
              <a:t>Qualitative</a:t>
            </a:r>
            <a:r>
              <a:rPr sz="1900" spc="-6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research</a:t>
            </a:r>
            <a:r>
              <a:rPr sz="1900" spc="-7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focuses</a:t>
            </a:r>
            <a:r>
              <a:rPr sz="1900" spc="-65" dirty="0">
                <a:latin typeface="Arial MT"/>
                <a:cs typeface="Arial MT"/>
              </a:rPr>
              <a:t> </a:t>
            </a:r>
            <a:r>
              <a:rPr sz="1900" spc="-25" dirty="0">
                <a:latin typeface="Arial MT"/>
                <a:cs typeface="Arial MT"/>
              </a:rPr>
              <a:t>on:</a:t>
            </a:r>
            <a:endParaRPr sz="1900">
              <a:latin typeface="Arial MT"/>
              <a:cs typeface="Arial MT"/>
            </a:endParaRPr>
          </a:p>
          <a:p>
            <a:pPr marL="756285" marR="5080" lvl="1" indent="-287020">
              <a:lnSpc>
                <a:spcPct val="110000"/>
              </a:lnSpc>
              <a:spcBef>
                <a:spcPts val="1295"/>
              </a:spcBef>
              <a:buSzPct val="52631"/>
              <a:buFont typeface="Courier New"/>
              <a:buChar char="o"/>
              <a:tabLst>
                <a:tab pos="756285" algn="l"/>
              </a:tabLst>
            </a:pPr>
            <a:r>
              <a:rPr sz="1900" dirty="0">
                <a:latin typeface="Arial MT"/>
                <a:cs typeface="Arial MT"/>
              </a:rPr>
              <a:t>Exploring</a:t>
            </a:r>
            <a:r>
              <a:rPr sz="1900" spc="-4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experiences,</a:t>
            </a:r>
            <a:r>
              <a:rPr sz="1900" spc="-4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beliefs,</a:t>
            </a:r>
            <a:r>
              <a:rPr sz="1900" spc="-65" dirty="0">
                <a:latin typeface="Arial MT"/>
                <a:cs typeface="Arial MT"/>
              </a:rPr>
              <a:t> </a:t>
            </a:r>
            <a:r>
              <a:rPr sz="1900" spc="-25" dirty="0">
                <a:latin typeface="Arial MT"/>
                <a:cs typeface="Arial MT"/>
              </a:rPr>
              <a:t>and </a:t>
            </a:r>
            <a:r>
              <a:rPr sz="1900" spc="-10" dirty="0">
                <a:latin typeface="Arial MT"/>
                <a:cs typeface="Arial MT"/>
              </a:rPr>
              <a:t>perspectives.</a:t>
            </a:r>
            <a:endParaRPr sz="1900">
              <a:latin typeface="Arial MT"/>
              <a:cs typeface="Arial MT"/>
            </a:endParaRPr>
          </a:p>
          <a:p>
            <a:pPr marL="756285" lvl="1" indent="-287020">
              <a:lnSpc>
                <a:spcPct val="100000"/>
              </a:lnSpc>
              <a:spcBef>
                <a:spcPts val="1540"/>
              </a:spcBef>
              <a:buSzPct val="52631"/>
              <a:buFont typeface="Courier New"/>
              <a:buChar char="o"/>
              <a:tabLst>
                <a:tab pos="756285" algn="l"/>
              </a:tabLst>
            </a:pPr>
            <a:r>
              <a:rPr sz="1900" dirty="0">
                <a:latin typeface="Arial MT"/>
                <a:cs typeface="Arial MT"/>
              </a:rPr>
              <a:t>Understanding</a:t>
            </a:r>
            <a:r>
              <a:rPr sz="1900" spc="-6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social</a:t>
            </a:r>
            <a:r>
              <a:rPr sz="1900" spc="-85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phenomena.</a:t>
            </a:r>
            <a:endParaRPr sz="1900">
              <a:latin typeface="Arial MT"/>
              <a:cs typeface="Arial MT"/>
            </a:endParaRPr>
          </a:p>
          <a:p>
            <a:pPr marL="756285" marR="380365" lvl="1" indent="-287020">
              <a:lnSpc>
                <a:spcPct val="110000"/>
              </a:lnSpc>
              <a:spcBef>
                <a:spcPts val="1295"/>
              </a:spcBef>
              <a:buSzPct val="52631"/>
              <a:buFont typeface="Courier New"/>
              <a:buChar char="o"/>
              <a:tabLst>
                <a:tab pos="756285" algn="l"/>
              </a:tabLst>
            </a:pPr>
            <a:r>
              <a:rPr sz="1900" dirty="0">
                <a:latin typeface="Arial MT"/>
                <a:cs typeface="Arial MT"/>
              </a:rPr>
              <a:t>Using</a:t>
            </a:r>
            <a:r>
              <a:rPr sz="1900" spc="-40" dirty="0">
                <a:latin typeface="Arial MT"/>
                <a:cs typeface="Arial MT"/>
              </a:rPr>
              <a:t> </a:t>
            </a:r>
            <a:r>
              <a:rPr sz="1900" spc="-20" dirty="0">
                <a:latin typeface="Arial MT"/>
                <a:cs typeface="Arial MT"/>
              </a:rPr>
              <a:t>non-</a:t>
            </a:r>
            <a:r>
              <a:rPr sz="1900" dirty="0">
                <a:latin typeface="Arial MT"/>
                <a:cs typeface="Arial MT"/>
              </a:rPr>
              <a:t>numerical</a:t>
            </a:r>
            <a:r>
              <a:rPr sz="1900" spc="-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data</a:t>
            </a:r>
            <a:r>
              <a:rPr sz="1900" spc="-50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(e.g., </a:t>
            </a:r>
            <a:r>
              <a:rPr sz="1900" dirty="0">
                <a:latin typeface="Arial MT"/>
                <a:cs typeface="Arial MT"/>
              </a:rPr>
              <a:t>interviews,</a:t>
            </a:r>
            <a:r>
              <a:rPr sz="1900" spc="-4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focus</a:t>
            </a:r>
            <a:r>
              <a:rPr sz="1900" spc="-70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groups).</a:t>
            </a:r>
            <a:endParaRPr sz="19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58078" y="508126"/>
            <a:ext cx="5709666" cy="584695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9948" y="927861"/>
            <a:ext cx="3763645" cy="211201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540"/>
              </a:spcBef>
            </a:pPr>
            <a:r>
              <a:rPr sz="3700" spc="-10" dirty="0"/>
              <a:t>Critical</a:t>
            </a:r>
            <a:r>
              <a:rPr sz="3700" spc="-195" dirty="0"/>
              <a:t> </a:t>
            </a:r>
            <a:r>
              <a:rPr sz="3700" spc="-95" dirty="0"/>
              <a:t>Appraisal </a:t>
            </a:r>
            <a:r>
              <a:rPr sz="3700" spc="-55" dirty="0"/>
              <a:t>Checklists</a:t>
            </a:r>
            <a:r>
              <a:rPr sz="3700" spc="-190" dirty="0"/>
              <a:t> </a:t>
            </a:r>
            <a:r>
              <a:rPr sz="3700" spc="-25" dirty="0"/>
              <a:t>For Different</a:t>
            </a:r>
            <a:r>
              <a:rPr sz="3700" spc="-204" dirty="0"/>
              <a:t> </a:t>
            </a:r>
            <a:r>
              <a:rPr sz="3700" spc="-10" dirty="0"/>
              <a:t>Types </a:t>
            </a:r>
            <a:r>
              <a:rPr sz="3700" spc="-20" dirty="0"/>
              <a:t>Of</a:t>
            </a:r>
            <a:r>
              <a:rPr sz="3700" spc="-229" dirty="0"/>
              <a:t> </a:t>
            </a:r>
            <a:r>
              <a:rPr sz="3700" spc="-10" dirty="0"/>
              <a:t>Research</a:t>
            </a:r>
            <a:endParaRPr sz="3700"/>
          </a:p>
        </p:txBody>
      </p:sp>
      <p:sp>
        <p:nvSpPr>
          <p:cNvPr id="3" name="object 3"/>
          <p:cNvSpPr/>
          <p:nvPr/>
        </p:nvSpPr>
        <p:spPr>
          <a:xfrm>
            <a:off x="517867" y="508076"/>
            <a:ext cx="4033520" cy="149860"/>
          </a:xfrm>
          <a:custGeom>
            <a:avLst/>
            <a:gdLst/>
            <a:ahLst/>
            <a:cxnLst/>
            <a:rect l="l" t="t" r="r" b="b"/>
            <a:pathLst>
              <a:path w="4033520" h="149859">
                <a:moveTo>
                  <a:pt x="4033392" y="0"/>
                </a:moveTo>
                <a:lnTo>
                  <a:pt x="0" y="0"/>
                </a:lnTo>
                <a:lnTo>
                  <a:pt x="0" y="149275"/>
                </a:lnTo>
                <a:lnTo>
                  <a:pt x="4033392" y="149275"/>
                </a:lnTo>
                <a:lnTo>
                  <a:pt x="403339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076571" y="612649"/>
            <a:ext cx="6593205" cy="45720"/>
          </a:xfrm>
          <a:custGeom>
            <a:avLst/>
            <a:gdLst/>
            <a:ahLst/>
            <a:cxnLst/>
            <a:rect l="l" t="t" r="r" b="b"/>
            <a:pathLst>
              <a:path w="6593205" h="45720">
                <a:moveTo>
                  <a:pt x="6592824" y="0"/>
                </a:moveTo>
                <a:lnTo>
                  <a:pt x="0" y="0"/>
                </a:lnTo>
                <a:lnTo>
                  <a:pt x="0" y="45718"/>
                </a:lnTo>
                <a:lnTo>
                  <a:pt x="6592824" y="45718"/>
                </a:lnTo>
                <a:lnTo>
                  <a:pt x="659282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1017547" y="3748554"/>
            <a:ext cx="1843405" cy="2368550"/>
            <a:chOff x="1017547" y="3748554"/>
            <a:chExt cx="1843405" cy="2368550"/>
          </a:xfrm>
        </p:grpSpPr>
        <p:sp>
          <p:nvSpPr>
            <p:cNvPr id="6" name="object 6"/>
            <p:cNvSpPr/>
            <p:nvPr/>
          </p:nvSpPr>
          <p:spPr>
            <a:xfrm>
              <a:off x="1034567" y="3765321"/>
              <a:ext cx="1809114" cy="2334895"/>
            </a:xfrm>
            <a:custGeom>
              <a:avLst/>
              <a:gdLst/>
              <a:ahLst/>
              <a:cxnLst/>
              <a:rect l="l" t="t" r="r" b="b"/>
              <a:pathLst>
                <a:path w="1809114" h="2334895">
                  <a:moveTo>
                    <a:pt x="1809051" y="0"/>
                  </a:moveTo>
                  <a:lnTo>
                    <a:pt x="1633982" y="0"/>
                  </a:lnTo>
                  <a:lnTo>
                    <a:pt x="1633982" y="175260"/>
                  </a:lnTo>
                  <a:lnTo>
                    <a:pt x="1633982" y="2159038"/>
                  </a:lnTo>
                  <a:lnTo>
                    <a:pt x="175069" y="2159038"/>
                  </a:lnTo>
                  <a:lnTo>
                    <a:pt x="175069" y="175260"/>
                  </a:lnTo>
                  <a:lnTo>
                    <a:pt x="1633982" y="175260"/>
                  </a:lnTo>
                  <a:lnTo>
                    <a:pt x="1633982" y="0"/>
                  </a:lnTo>
                  <a:lnTo>
                    <a:pt x="0" y="0"/>
                  </a:lnTo>
                  <a:lnTo>
                    <a:pt x="0" y="175260"/>
                  </a:lnTo>
                  <a:lnTo>
                    <a:pt x="0" y="2159038"/>
                  </a:lnTo>
                  <a:lnTo>
                    <a:pt x="0" y="2334298"/>
                  </a:lnTo>
                  <a:lnTo>
                    <a:pt x="1809051" y="2334298"/>
                  </a:lnTo>
                  <a:lnTo>
                    <a:pt x="1809051" y="2159431"/>
                  </a:lnTo>
                  <a:lnTo>
                    <a:pt x="1809051" y="2159038"/>
                  </a:lnTo>
                  <a:lnTo>
                    <a:pt x="1809051" y="175260"/>
                  </a:lnTo>
                  <a:lnTo>
                    <a:pt x="1809051" y="0"/>
                  </a:lnTo>
                  <a:close/>
                </a:path>
              </a:pathLst>
            </a:custGeom>
            <a:solidFill>
              <a:srgbClr val="EB9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034568" y="3765575"/>
              <a:ext cx="1809114" cy="2334260"/>
            </a:xfrm>
            <a:custGeom>
              <a:avLst/>
              <a:gdLst/>
              <a:ahLst/>
              <a:cxnLst/>
              <a:rect l="l" t="t" r="r" b="b"/>
              <a:pathLst>
                <a:path w="1809114" h="2334260">
                  <a:moveTo>
                    <a:pt x="175070" y="174978"/>
                  </a:moveTo>
                  <a:lnTo>
                    <a:pt x="1633988" y="174978"/>
                  </a:lnTo>
                  <a:lnTo>
                    <a:pt x="1633988" y="2159171"/>
                  </a:lnTo>
                  <a:lnTo>
                    <a:pt x="175070" y="2159171"/>
                  </a:lnTo>
                  <a:lnTo>
                    <a:pt x="175070" y="174978"/>
                  </a:lnTo>
                  <a:close/>
                </a:path>
                <a:path w="1809114" h="2334260">
                  <a:moveTo>
                    <a:pt x="0" y="2334247"/>
                  </a:moveTo>
                  <a:lnTo>
                    <a:pt x="1809058" y="2334247"/>
                  </a:lnTo>
                  <a:lnTo>
                    <a:pt x="1809058" y="0"/>
                  </a:lnTo>
                  <a:lnTo>
                    <a:pt x="0" y="0"/>
                  </a:lnTo>
                  <a:lnTo>
                    <a:pt x="0" y="2334247"/>
                  </a:lnTo>
                  <a:close/>
                </a:path>
              </a:pathLst>
            </a:custGeom>
            <a:ln w="34041">
              <a:solidFill>
                <a:srgbClr val="EB9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997454" y="4203168"/>
              <a:ext cx="496570" cy="116839"/>
            </a:xfrm>
            <a:custGeom>
              <a:avLst/>
              <a:gdLst/>
              <a:ahLst/>
              <a:cxnLst/>
              <a:rect l="l" t="t" r="r" b="b"/>
              <a:pathLst>
                <a:path w="496569" h="116839">
                  <a:moveTo>
                    <a:pt x="496032" y="0"/>
                  </a:moveTo>
                  <a:lnTo>
                    <a:pt x="0" y="0"/>
                  </a:lnTo>
                  <a:lnTo>
                    <a:pt x="0" y="116717"/>
                  </a:lnTo>
                  <a:lnTo>
                    <a:pt x="496032" y="116717"/>
                  </a:lnTo>
                  <a:lnTo>
                    <a:pt x="496032" y="0"/>
                  </a:lnTo>
                  <a:close/>
                </a:path>
              </a:pathLst>
            </a:custGeom>
            <a:solidFill>
              <a:srgbClr val="EB9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997454" y="4203168"/>
              <a:ext cx="496570" cy="116839"/>
            </a:xfrm>
            <a:custGeom>
              <a:avLst/>
              <a:gdLst/>
              <a:ahLst/>
              <a:cxnLst/>
              <a:rect l="l" t="t" r="r" b="b"/>
              <a:pathLst>
                <a:path w="496569" h="116839">
                  <a:moveTo>
                    <a:pt x="0" y="116717"/>
                  </a:moveTo>
                  <a:lnTo>
                    <a:pt x="496032" y="116717"/>
                  </a:lnTo>
                  <a:lnTo>
                    <a:pt x="496032" y="0"/>
                  </a:lnTo>
                  <a:lnTo>
                    <a:pt x="0" y="0"/>
                  </a:lnTo>
                  <a:lnTo>
                    <a:pt x="0" y="116717"/>
                  </a:lnTo>
                  <a:close/>
                </a:path>
              </a:pathLst>
            </a:custGeom>
            <a:ln w="34042">
              <a:solidFill>
                <a:srgbClr val="EB9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997454" y="4670037"/>
              <a:ext cx="496570" cy="116839"/>
            </a:xfrm>
            <a:custGeom>
              <a:avLst/>
              <a:gdLst/>
              <a:ahLst/>
              <a:cxnLst/>
              <a:rect l="l" t="t" r="r" b="b"/>
              <a:pathLst>
                <a:path w="496569" h="116839">
                  <a:moveTo>
                    <a:pt x="496032" y="0"/>
                  </a:moveTo>
                  <a:lnTo>
                    <a:pt x="0" y="0"/>
                  </a:lnTo>
                  <a:lnTo>
                    <a:pt x="0" y="116717"/>
                  </a:lnTo>
                  <a:lnTo>
                    <a:pt x="496032" y="116717"/>
                  </a:lnTo>
                  <a:lnTo>
                    <a:pt x="496032" y="0"/>
                  </a:lnTo>
                  <a:close/>
                </a:path>
              </a:pathLst>
            </a:custGeom>
            <a:solidFill>
              <a:srgbClr val="EB9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997454" y="4670037"/>
              <a:ext cx="496570" cy="116839"/>
            </a:xfrm>
            <a:custGeom>
              <a:avLst/>
              <a:gdLst/>
              <a:ahLst/>
              <a:cxnLst/>
              <a:rect l="l" t="t" r="r" b="b"/>
              <a:pathLst>
                <a:path w="496569" h="116839">
                  <a:moveTo>
                    <a:pt x="0" y="116717"/>
                  </a:moveTo>
                  <a:lnTo>
                    <a:pt x="496032" y="116717"/>
                  </a:lnTo>
                  <a:lnTo>
                    <a:pt x="496032" y="0"/>
                  </a:lnTo>
                  <a:lnTo>
                    <a:pt x="0" y="0"/>
                  </a:lnTo>
                  <a:lnTo>
                    <a:pt x="0" y="116717"/>
                  </a:lnTo>
                  <a:close/>
                </a:path>
              </a:pathLst>
            </a:custGeom>
            <a:ln w="34042">
              <a:solidFill>
                <a:srgbClr val="EB9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997454" y="5603775"/>
              <a:ext cx="496570" cy="116839"/>
            </a:xfrm>
            <a:custGeom>
              <a:avLst/>
              <a:gdLst/>
              <a:ahLst/>
              <a:cxnLst/>
              <a:rect l="l" t="t" r="r" b="b"/>
              <a:pathLst>
                <a:path w="496569" h="116839">
                  <a:moveTo>
                    <a:pt x="496032" y="0"/>
                  </a:moveTo>
                  <a:lnTo>
                    <a:pt x="0" y="0"/>
                  </a:lnTo>
                  <a:lnTo>
                    <a:pt x="0" y="116717"/>
                  </a:lnTo>
                  <a:lnTo>
                    <a:pt x="496032" y="116717"/>
                  </a:lnTo>
                  <a:lnTo>
                    <a:pt x="496032" y="0"/>
                  </a:lnTo>
                  <a:close/>
                </a:path>
              </a:pathLst>
            </a:custGeom>
            <a:solidFill>
              <a:srgbClr val="EB9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997454" y="5603775"/>
              <a:ext cx="496570" cy="116839"/>
            </a:xfrm>
            <a:custGeom>
              <a:avLst/>
              <a:gdLst/>
              <a:ahLst/>
              <a:cxnLst/>
              <a:rect l="l" t="t" r="r" b="b"/>
              <a:pathLst>
                <a:path w="496569" h="116839">
                  <a:moveTo>
                    <a:pt x="0" y="116717"/>
                  </a:moveTo>
                  <a:lnTo>
                    <a:pt x="496032" y="116717"/>
                  </a:lnTo>
                  <a:lnTo>
                    <a:pt x="496032" y="0"/>
                  </a:lnTo>
                  <a:lnTo>
                    <a:pt x="0" y="0"/>
                  </a:lnTo>
                  <a:lnTo>
                    <a:pt x="0" y="116717"/>
                  </a:lnTo>
                  <a:close/>
                </a:path>
              </a:pathLst>
            </a:custGeom>
            <a:ln w="34042">
              <a:solidFill>
                <a:srgbClr val="EB9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997454" y="5136906"/>
              <a:ext cx="496570" cy="116839"/>
            </a:xfrm>
            <a:custGeom>
              <a:avLst/>
              <a:gdLst/>
              <a:ahLst/>
              <a:cxnLst/>
              <a:rect l="l" t="t" r="r" b="b"/>
              <a:pathLst>
                <a:path w="496569" h="116839">
                  <a:moveTo>
                    <a:pt x="496032" y="0"/>
                  </a:moveTo>
                  <a:lnTo>
                    <a:pt x="0" y="0"/>
                  </a:lnTo>
                  <a:lnTo>
                    <a:pt x="0" y="116717"/>
                  </a:lnTo>
                  <a:lnTo>
                    <a:pt x="496032" y="116717"/>
                  </a:lnTo>
                  <a:lnTo>
                    <a:pt x="496032" y="0"/>
                  </a:lnTo>
                  <a:close/>
                </a:path>
              </a:pathLst>
            </a:custGeom>
            <a:solidFill>
              <a:srgbClr val="EB9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997454" y="5136906"/>
              <a:ext cx="496570" cy="116839"/>
            </a:xfrm>
            <a:custGeom>
              <a:avLst/>
              <a:gdLst/>
              <a:ahLst/>
              <a:cxnLst/>
              <a:rect l="l" t="t" r="r" b="b"/>
              <a:pathLst>
                <a:path w="496569" h="116839">
                  <a:moveTo>
                    <a:pt x="0" y="116717"/>
                  </a:moveTo>
                  <a:lnTo>
                    <a:pt x="496032" y="116717"/>
                  </a:lnTo>
                  <a:lnTo>
                    <a:pt x="496032" y="0"/>
                  </a:lnTo>
                  <a:lnTo>
                    <a:pt x="0" y="0"/>
                  </a:lnTo>
                  <a:lnTo>
                    <a:pt x="0" y="116717"/>
                  </a:lnTo>
                  <a:close/>
                </a:path>
              </a:pathLst>
            </a:custGeom>
            <a:ln w="34042">
              <a:solidFill>
                <a:srgbClr val="EB9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384708" y="4057271"/>
              <a:ext cx="432434" cy="356235"/>
            </a:xfrm>
            <a:custGeom>
              <a:avLst/>
              <a:gdLst/>
              <a:ahLst/>
              <a:cxnLst/>
              <a:rect l="l" t="t" r="r" b="b"/>
              <a:pathLst>
                <a:path w="432435" h="356235">
                  <a:moveTo>
                    <a:pt x="350140" y="0"/>
                  </a:moveTo>
                  <a:lnTo>
                    <a:pt x="157563" y="192583"/>
                  </a:lnTo>
                  <a:lnTo>
                    <a:pt x="81699" y="116717"/>
                  </a:lnTo>
                  <a:lnTo>
                    <a:pt x="0" y="198419"/>
                  </a:lnTo>
                  <a:lnTo>
                    <a:pt x="157563" y="355987"/>
                  </a:lnTo>
                  <a:lnTo>
                    <a:pt x="431839" y="81702"/>
                  </a:lnTo>
                  <a:lnTo>
                    <a:pt x="350140" y="0"/>
                  </a:lnTo>
                  <a:close/>
                </a:path>
              </a:pathLst>
            </a:custGeom>
            <a:solidFill>
              <a:srgbClr val="EB9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384708" y="4057271"/>
              <a:ext cx="432434" cy="356235"/>
            </a:xfrm>
            <a:custGeom>
              <a:avLst/>
              <a:gdLst/>
              <a:ahLst/>
              <a:cxnLst/>
              <a:rect l="l" t="t" r="r" b="b"/>
              <a:pathLst>
                <a:path w="432435" h="356235">
                  <a:moveTo>
                    <a:pt x="431839" y="81702"/>
                  </a:moveTo>
                  <a:lnTo>
                    <a:pt x="350140" y="0"/>
                  </a:lnTo>
                  <a:lnTo>
                    <a:pt x="157563" y="192583"/>
                  </a:lnTo>
                  <a:lnTo>
                    <a:pt x="81699" y="116717"/>
                  </a:lnTo>
                  <a:lnTo>
                    <a:pt x="0" y="198419"/>
                  </a:lnTo>
                  <a:lnTo>
                    <a:pt x="157563" y="355987"/>
                  </a:lnTo>
                  <a:lnTo>
                    <a:pt x="431839" y="81702"/>
                  </a:lnTo>
                  <a:close/>
                </a:path>
              </a:pathLst>
            </a:custGeom>
            <a:ln w="34042">
              <a:solidFill>
                <a:srgbClr val="EB9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384708" y="4524140"/>
              <a:ext cx="432434" cy="356235"/>
            </a:xfrm>
            <a:custGeom>
              <a:avLst/>
              <a:gdLst/>
              <a:ahLst/>
              <a:cxnLst/>
              <a:rect l="l" t="t" r="r" b="b"/>
              <a:pathLst>
                <a:path w="432435" h="356235">
                  <a:moveTo>
                    <a:pt x="350140" y="0"/>
                  </a:moveTo>
                  <a:lnTo>
                    <a:pt x="157563" y="192583"/>
                  </a:lnTo>
                  <a:lnTo>
                    <a:pt x="81699" y="116717"/>
                  </a:lnTo>
                  <a:lnTo>
                    <a:pt x="0" y="198419"/>
                  </a:lnTo>
                  <a:lnTo>
                    <a:pt x="157563" y="355987"/>
                  </a:lnTo>
                  <a:lnTo>
                    <a:pt x="431839" y="81702"/>
                  </a:lnTo>
                  <a:lnTo>
                    <a:pt x="350140" y="0"/>
                  </a:lnTo>
                  <a:close/>
                </a:path>
              </a:pathLst>
            </a:custGeom>
            <a:solidFill>
              <a:srgbClr val="EB9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384708" y="4524140"/>
              <a:ext cx="432434" cy="356235"/>
            </a:xfrm>
            <a:custGeom>
              <a:avLst/>
              <a:gdLst/>
              <a:ahLst/>
              <a:cxnLst/>
              <a:rect l="l" t="t" r="r" b="b"/>
              <a:pathLst>
                <a:path w="432435" h="356235">
                  <a:moveTo>
                    <a:pt x="431839" y="81702"/>
                  </a:moveTo>
                  <a:lnTo>
                    <a:pt x="350140" y="0"/>
                  </a:lnTo>
                  <a:lnTo>
                    <a:pt x="157563" y="192583"/>
                  </a:lnTo>
                  <a:lnTo>
                    <a:pt x="81699" y="116717"/>
                  </a:lnTo>
                  <a:lnTo>
                    <a:pt x="0" y="198419"/>
                  </a:lnTo>
                  <a:lnTo>
                    <a:pt x="157563" y="355987"/>
                  </a:lnTo>
                  <a:lnTo>
                    <a:pt x="431839" y="81702"/>
                  </a:lnTo>
                  <a:close/>
                </a:path>
              </a:pathLst>
            </a:custGeom>
            <a:ln w="34042">
              <a:solidFill>
                <a:srgbClr val="EB9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384708" y="4991009"/>
              <a:ext cx="432434" cy="356235"/>
            </a:xfrm>
            <a:custGeom>
              <a:avLst/>
              <a:gdLst/>
              <a:ahLst/>
              <a:cxnLst/>
              <a:rect l="l" t="t" r="r" b="b"/>
              <a:pathLst>
                <a:path w="432435" h="356235">
                  <a:moveTo>
                    <a:pt x="350140" y="0"/>
                  </a:moveTo>
                  <a:lnTo>
                    <a:pt x="157563" y="192583"/>
                  </a:lnTo>
                  <a:lnTo>
                    <a:pt x="81699" y="116717"/>
                  </a:lnTo>
                  <a:lnTo>
                    <a:pt x="0" y="198419"/>
                  </a:lnTo>
                  <a:lnTo>
                    <a:pt x="157563" y="355987"/>
                  </a:lnTo>
                  <a:lnTo>
                    <a:pt x="431839" y="81702"/>
                  </a:lnTo>
                  <a:lnTo>
                    <a:pt x="350140" y="0"/>
                  </a:lnTo>
                  <a:close/>
                </a:path>
              </a:pathLst>
            </a:custGeom>
            <a:solidFill>
              <a:srgbClr val="EB9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384708" y="4991009"/>
              <a:ext cx="432434" cy="356235"/>
            </a:xfrm>
            <a:custGeom>
              <a:avLst/>
              <a:gdLst/>
              <a:ahLst/>
              <a:cxnLst/>
              <a:rect l="l" t="t" r="r" b="b"/>
              <a:pathLst>
                <a:path w="432435" h="356235">
                  <a:moveTo>
                    <a:pt x="431839" y="81702"/>
                  </a:moveTo>
                  <a:lnTo>
                    <a:pt x="350140" y="0"/>
                  </a:lnTo>
                  <a:lnTo>
                    <a:pt x="157563" y="192583"/>
                  </a:lnTo>
                  <a:lnTo>
                    <a:pt x="81699" y="116717"/>
                  </a:lnTo>
                  <a:lnTo>
                    <a:pt x="0" y="198419"/>
                  </a:lnTo>
                  <a:lnTo>
                    <a:pt x="157563" y="355987"/>
                  </a:lnTo>
                  <a:lnTo>
                    <a:pt x="431839" y="81702"/>
                  </a:lnTo>
                  <a:close/>
                </a:path>
              </a:pathLst>
            </a:custGeom>
            <a:ln w="34042">
              <a:solidFill>
                <a:srgbClr val="EB9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384708" y="5452042"/>
              <a:ext cx="432434" cy="356235"/>
            </a:xfrm>
            <a:custGeom>
              <a:avLst/>
              <a:gdLst/>
              <a:ahLst/>
              <a:cxnLst/>
              <a:rect l="l" t="t" r="r" b="b"/>
              <a:pathLst>
                <a:path w="432435" h="356235">
                  <a:moveTo>
                    <a:pt x="350140" y="0"/>
                  </a:moveTo>
                  <a:lnTo>
                    <a:pt x="157563" y="192583"/>
                  </a:lnTo>
                  <a:lnTo>
                    <a:pt x="81699" y="116717"/>
                  </a:lnTo>
                  <a:lnTo>
                    <a:pt x="0" y="198419"/>
                  </a:lnTo>
                  <a:lnTo>
                    <a:pt x="157563" y="355987"/>
                  </a:lnTo>
                  <a:lnTo>
                    <a:pt x="431839" y="81702"/>
                  </a:lnTo>
                  <a:lnTo>
                    <a:pt x="350140" y="0"/>
                  </a:lnTo>
                  <a:close/>
                </a:path>
              </a:pathLst>
            </a:custGeom>
            <a:solidFill>
              <a:srgbClr val="EB9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384708" y="5452042"/>
              <a:ext cx="432434" cy="356235"/>
            </a:xfrm>
            <a:custGeom>
              <a:avLst/>
              <a:gdLst/>
              <a:ahLst/>
              <a:cxnLst/>
              <a:rect l="l" t="t" r="r" b="b"/>
              <a:pathLst>
                <a:path w="432435" h="356235">
                  <a:moveTo>
                    <a:pt x="431839" y="81702"/>
                  </a:moveTo>
                  <a:lnTo>
                    <a:pt x="350140" y="0"/>
                  </a:lnTo>
                  <a:lnTo>
                    <a:pt x="157563" y="192583"/>
                  </a:lnTo>
                  <a:lnTo>
                    <a:pt x="81699" y="116717"/>
                  </a:lnTo>
                  <a:lnTo>
                    <a:pt x="0" y="198419"/>
                  </a:lnTo>
                  <a:lnTo>
                    <a:pt x="157563" y="355987"/>
                  </a:lnTo>
                  <a:lnTo>
                    <a:pt x="431839" y="81702"/>
                  </a:lnTo>
                  <a:close/>
                </a:path>
              </a:pathLst>
            </a:custGeom>
            <a:ln w="34042">
              <a:solidFill>
                <a:srgbClr val="EB9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5268595" y="940434"/>
            <a:ext cx="6288405" cy="51327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marR="1451610" indent="-2286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dirty="0">
                <a:latin typeface="Tahoma"/>
                <a:cs typeface="Tahoma"/>
              </a:rPr>
              <a:t>Systematic</a:t>
            </a:r>
            <a:r>
              <a:rPr sz="2000" spc="-130" dirty="0">
                <a:latin typeface="Tahoma"/>
                <a:cs typeface="Tahoma"/>
              </a:rPr>
              <a:t> </a:t>
            </a:r>
            <a:r>
              <a:rPr sz="2000" spc="-20" dirty="0">
                <a:latin typeface="Tahoma"/>
                <a:cs typeface="Tahoma"/>
              </a:rPr>
              <a:t>Reviews</a:t>
            </a:r>
            <a:r>
              <a:rPr sz="2000" spc="-170" dirty="0">
                <a:latin typeface="Tahoma"/>
                <a:cs typeface="Tahoma"/>
              </a:rPr>
              <a:t> </a:t>
            </a:r>
            <a:r>
              <a:rPr sz="2000" spc="-25" dirty="0">
                <a:latin typeface="Tahoma"/>
                <a:cs typeface="Tahoma"/>
              </a:rPr>
              <a:t>with</a:t>
            </a:r>
            <a:r>
              <a:rPr sz="2000" spc="-135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Meta-</a:t>
            </a:r>
            <a:r>
              <a:rPr sz="2000" dirty="0">
                <a:latin typeface="Tahoma"/>
                <a:cs typeface="Tahoma"/>
              </a:rPr>
              <a:t>Analysis</a:t>
            </a:r>
            <a:r>
              <a:rPr sz="2000" spc="-145" dirty="0">
                <a:latin typeface="Tahoma"/>
                <a:cs typeface="Tahoma"/>
              </a:rPr>
              <a:t> </a:t>
            </a:r>
            <a:r>
              <a:rPr sz="2000" spc="-25" dirty="0">
                <a:latin typeface="Tahoma"/>
                <a:cs typeface="Tahoma"/>
              </a:rPr>
              <a:t>of </a:t>
            </a:r>
            <a:r>
              <a:rPr sz="2000" dirty="0">
                <a:latin typeface="Tahoma"/>
                <a:cs typeface="Tahoma"/>
              </a:rPr>
              <a:t>Observational</a:t>
            </a:r>
            <a:r>
              <a:rPr sz="2000" spc="-170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Studies</a:t>
            </a:r>
            <a:endParaRPr sz="2000">
              <a:latin typeface="Tahoma"/>
              <a:cs typeface="Tahoma"/>
            </a:endParaRPr>
          </a:p>
          <a:p>
            <a:pPr marL="240665" indent="-22796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dirty="0">
                <a:latin typeface="Tahoma"/>
                <a:cs typeface="Tahoma"/>
              </a:rPr>
              <a:t>Systematic</a:t>
            </a:r>
            <a:r>
              <a:rPr sz="2000" spc="-170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Reviews</a:t>
            </a:r>
            <a:r>
              <a:rPr sz="2000" spc="-190" dirty="0">
                <a:latin typeface="Tahoma"/>
                <a:cs typeface="Tahoma"/>
              </a:rPr>
              <a:t> </a:t>
            </a:r>
            <a:r>
              <a:rPr sz="2000" spc="-25" dirty="0">
                <a:latin typeface="Tahoma"/>
                <a:cs typeface="Tahoma"/>
              </a:rPr>
              <a:t>with</a:t>
            </a:r>
            <a:r>
              <a:rPr sz="2000" spc="-160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Meta-</a:t>
            </a:r>
            <a:r>
              <a:rPr sz="2000" dirty="0">
                <a:latin typeface="Tahoma"/>
                <a:cs typeface="Tahoma"/>
              </a:rPr>
              <a:t>Analysis</a:t>
            </a:r>
            <a:r>
              <a:rPr sz="2000" spc="-175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of</a:t>
            </a:r>
            <a:r>
              <a:rPr sz="2000" spc="-150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Randomised</a:t>
            </a:r>
            <a:endParaRPr sz="2000">
              <a:latin typeface="Tahoma"/>
              <a:cs typeface="Tahoma"/>
            </a:endParaRPr>
          </a:p>
          <a:p>
            <a:pPr marL="241300">
              <a:lnSpc>
                <a:spcPct val="100000"/>
              </a:lnSpc>
            </a:pPr>
            <a:r>
              <a:rPr sz="2000" dirty="0">
                <a:latin typeface="Tahoma"/>
                <a:cs typeface="Tahoma"/>
              </a:rPr>
              <a:t>Controlled</a:t>
            </a:r>
            <a:r>
              <a:rPr sz="2000" spc="-110" dirty="0">
                <a:latin typeface="Tahoma"/>
                <a:cs typeface="Tahoma"/>
              </a:rPr>
              <a:t> </a:t>
            </a:r>
            <a:r>
              <a:rPr sz="2000" spc="-40" dirty="0">
                <a:latin typeface="Tahoma"/>
                <a:cs typeface="Tahoma"/>
              </a:rPr>
              <a:t>Trials</a:t>
            </a:r>
            <a:r>
              <a:rPr sz="2000" spc="-65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(RCTs)</a:t>
            </a:r>
            <a:endParaRPr sz="2000">
              <a:latin typeface="Tahoma"/>
              <a:cs typeface="Tahoma"/>
            </a:endParaRPr>
          </a:p>
          <a:p>
            <a:pPr marL="240665" indent="-22796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dirty="0">
                <a:latin typeface="Tahoma"/>
                <a:cs typeface="Tahoma"/>
              </a:rPr>
              <a:t>Randomised</a:t>
            </a:r>
            <a:r>
              <a:rPr sz="2000" spc="-11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Controlled</a:t>
            </a:r>
            <a:r>
              <a:rPr sz="2000" spc="-125" dirty="0">
                <a:latin typeface="Tahoma"/>
                <a:cs typeface="Tahoma"/>
              </a:rPr>
              <a:t> </a:t>
            </a:r>
            <a:r>
              <a:rPr sz="2000" spc="-65" dirty="0">
                <a:latin typeface="Tahoma"/>
                <a:cs typeface="Tahoma"/>
              </a:rPr>
              <a:t>Trial</a:t>
            </a:r>
            <a:r>
              <a:rPr sz="2000" spc="-75" dirty="0">
                <a:latin typeface="Tahoma"/>
                <a:cs typeface="Tahoma"/>
              </a:rPr>
              <a:t> </a:t>
            </a:r>
            <a:r>
              <a:rPr sz="2000" spc="-105" dirty="0">
                <a:latin typeface="Tahoma"/>
                <a:cs typeface="Tahoma"/>
              </a:rPr>
              <a:t>(RCT)</a:t>
            </a:r>
            <a:r>
              <a:rPr sz="2000" spc="-90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Checklist</a:t>
            </a:r>
            <a:endParaRPr sz="2000">
              <a:latin typeface="Tahoma"/>
              <a:cs typeface="Tahoma"/>
            </a:endParaRPr>
          </a:p>
          <a:p>
            <a:pPr marL="240665" indent="-22796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dirty="0">
                <a:latin typeface="Tahoma"/>
                <a:cs typeface="Tahoma"/>
              </a:rPr>
              <a:t>Systematic</a:t>
            </a:r>
            <a:r>
              <a:rPr sz="2000" spc="-145" dirty="0">
                <a:latin typeface="Tahoma"/>
                <a:cs typeface="Tahoma"/>
              </a:rPr>
              <a:t> </a:t>
            </a:r>
            <a:r>
              <a:rPr sz="2000" spc="-40" dirty="0">
                <a:latin typeface="Tahoma"/>
                <a:cs typeface="Tahoma"/>
              </a:rPr>
              <a:t>Review</a:t>
            </a:r>
            <a:r>
              <a:rPr sz="2000" spc="-170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Checklist</a:t>
            </a:r>
            <a:endParaRPr sz="2000">
              <a:latin typeface="Tahoma"/>
              <a:cs typeface="Tahoma"/>
            </a:endParaRPr>
          </a:p>
          <a:p>
            <a:pPr marL="240665" indent="-227965">
              <a:lnSpc>
                <a:spcPct val="100000"/>
              </a:lnSpc>
              <a:spcBef>
                <a:spcPts val="605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spc="-10" dirty="0">
                <a:latin typeface="Tahoma"/>
                <a:cs typeface="Tahoma"/>
              </a:rPr>
              <a:t>Qualitative</a:t>
            </a:r>
            <a:r>
              <a:rPr sz="2000" spc="-17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Studies</a:t>
            </a:r>
            <a:r>
              <a:rPr sz="2000" spc="-135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Checklist</a:t>
            </a:r>
            <a:endParaRPr sz="2000">
              <a:latin typeface="Tahoma"/>
              <a:cs typeface="Tahoma"/>
            </a:endParaRPr>
          </a:p>
          <a:p>
            <a:pPr marL="240665" indent="-22796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dirty="0">
                <a:latin typeface="Tahoma"/>
                <a:cs typeface="Tahoma"/>
              </a:rPr>
              <a:t>Cohort</a:t>
            </a:r>
            <a:r>
              <a:rPr sz="2000" spc="-110" dirty="0">
                <a:latin typeface="Tahoma"/>
                <a:cs typeface="Tahoma"/>
              </a:rPr>
              <a:t> </a:t>
            </a:r>
            <a:r>
              <a:rPr sz="2000" spc="-30" dirty="0">
                <a:latin typeface="Tahoma"/>
                <a:cs typeface="Tahoma"/>
              </a:rPr>
              <a:t>Study</a:t>
            </a:r>
            <a:r>
              <a:rPr sz="2000" spc="-125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Checklist</a:t>
            </a:r>
            <a:endParaRPr sz="2000">
              <a:latin typeface="Tahoma"/>
              <a:cs typeface="Tahoma"/>
            </a:endParaRPr>
          </a:p>
          <a:p>
            <a:pPr marL="240665" indent="-22796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dirty="0">
                <a:latin typeface="Tahoma"/>
                <a:cs typeface="Tahoma"/>
              </a:rPr>
              <a:t>Diagnostic</a:t>
            </a:r>
            <a:r>
              <a:rPr sz="2000" spc="-200" dirty="0">
                <a:latin typeface="Tahoma"/>
                <a:cs typeface="Tahoma"/>
              </a:rPr>
              <a:t> </a:t>
            </a:r>
            <a:r>
              <a:rPr sz="2000" spc="-30" dirty="0">
                <a:latin typeface="Tahoma"/>
                <a:cs typeface="Tahoma"/>
              </a:rPr>
              <a:t>Study</a:t>
            </a:r>
            <a:r>
              <a:rPr sz="2000" spc="-170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Checklist</a:t>
            </a:r>
            <a:endParaRPr sz="2000">
              <a:latin typeface="Tahoma"/>
              <a:cs typeface="Tahoma"/>
            </a:endParaRPr>
          </a:p>
          <a:p>
            <a:pPr marL="240665" indent="-22796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spc="65" dirty="0">
                <a:latin typeface="Tahoma"/>
                <a:cs typeface="Tahoma"/>
              </a:rPr>
              <a:t>Case</a:t>
            </a:r>
            <a:r>
              <a:rPr sz="2000" spc="-15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Control</a:t>
            </a:r>
            <a:r>
              <a:rPr sz="2000" spc="-145" dirty="0">
                <a:latin typeface="Tahoma"/>
                <a:cs typeface="Tahoma"/>
              </a:rPr>
              <a:t> </a:t>
            </a:r>
            <a:r>
              <a:rPr sz="2000" spc="-30" dirty="0">
                <a:latin typeface="Tahoma"/>
                <a:cs typeface="Tahoma"/>
              </a:rPr>
              <a:t>Study</a:t>
            </a:r>
            <a:r>
              <a:rPr sz="2000" spc="-135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Checklist</a:t>
            </a:r>
            <a:endParaRPr sz="2000">
              <a:latin typeface="Tahoma"/>
              <a:cs typeface="Tahoma"/>
            </a:endParaRPr>
          </a:p>
          <a:p>
            <a:pPr marL="240665" indent="-22796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dirty="0">
                <a:latin typeface="Tahoma"/>
                <a:cs typeface="Tahoma"/>
              </a:rPr>
              <a:t>Economic</a:t>
            </a:r>
            <a:r>
              <a:rPr sz="2000" spc="-95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Evaluation</a:t>
            </a:r>
            <a:r>
              <a:rPr sz="2000" spc="-60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Checklist</a:t>
            </a:r>
            <a:endParaRPr sz="2000">
              <a:latin typeface="Tahoma"/>
              <a:cs typeface="Tahoma"/>
            </a:endParaRPr>
          </a:p>
          <a:p>
            <a:pPr marL="240665" indent="-22796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spc="50" dirty="0">
                <a:latin typeface="Tahoma"/>
                <a:cs typeface="Tahoma"/>
              </a:rPr>
              <a:t>Clinical</a:t>
            </a:r>
            <a:r>
              <a:rPr sz="2000" spc="-18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Prediction</a:t>
            </a:r>
            <a:r>
              <a:rPr sz="2000" spc="-17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Rule</a:t>
            </a:r>
            <a:r>
              <a:rPr sz="2000" spc="-145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Checklist</a:t>
            </a:r>
            <a:endParaRPr sz="2000">
              <a:latin typeface="Tahoma"/>
              <a:cs typeface="Tahoma"/>
            </a:endParaRPr>
          </a:p>
          <a:p>
            <a:pPr marL="240665" indent="-22796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dirty="0">
                <a:latin typeface="Tahoma"/>
                <a:cs typeface="Tahoma"/>
              </a:rPr>
              <a:t>Cross-Sectional</a:t>
            </a:r>
            <a:r>
              <a:rPr sz="2000" spc="4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Studies</a:t>
            </a:r>
            <a:r>
              <a:rPr sz="2000" spc="30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Checklist</a:t>
            </a:r>
            <a:endParaRPr sz="2000">
              <a:latin typeface="Tahoma"/>
              <a:cs typeface="Tahoma"/>
            </a:endParaRPr>
          </a:p>
          <a:p>
            <a:pPr marL="240665" indent="-22796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dirty="0">
                <a:latin typeface="Tahoma"/>
                <a:cs typeface="Tahoma"/>
              </a:rPr>
              <a:t>Checklist</a:t>
            </a:r>
            <a:r>
              <a:rPr sz="2000" spc="110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Archive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17867" y="508076"/>
            <a:ext cx="11153775" cy="149860"/>
          </a:xfrm>
          <a:custGeom>
            <a:avLst/>
            <a:gdLst/>
            <a:ahLst/>
            <a:cxnLst/>
            <a:rect l="l" t="t" r="r" b="b"/>
            <a:pathLst>
              <a:path w="11153775" h="149859">
                <a:moveTo>
                  <a:pt x="11153267" y="0"/>
                </a:moveTo>
                <a:lnTo>
                  <a:pt x="0" y="0"/>
                </a:lnTo>
                <a:lnTo>
                  <a:pt x="0" y="149275"/>
                </a:lnTo>
                <a:lnTo>
                  <a:pt x="11153267" y="149275"/>
                </a:lnTo>
                <a:lnTo>
                  <a:pt x="111532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958761" y="2521076"/>
            <a:ext cx="3220720" cy="2149475"/>
            <a:chOff x="958761" y="2521076"/>
            <a:chExt cx="3220720" cy="2149475"/>
          </a:xfrm>
        </p:grpSpPr>
        <p:sp>
          <p:nvSpPr>
            <p:cNvPr id="4" name="object 4"/>
            <p:cNvSpPr/>
            <p:nvPr/>
          </p:nvSpPr>
          <p:spPr>
            <a:xfrm>
              <a:off x="958761" y="2521076"/>
              <a:ext cx="2889885" cy="1835150"/>
            </a:xfrm>
            <a:custGeom>
              <a:avLst/>
              <a:gdLst/>
              <a:ahLst/>
              <a:cxnLst/>
              <a:rect l="l" t="t" r="r" b="b"/>
              <a:pathLst>
                <a:path w="2889885" h="1835150">
                  <a:moveTo>
                    <a:pt x="2706204" y="0"/>
                  </a:moveTo>
                  <a:lnTo>
                    <a:pt x="183489" y="0"/>
                  </a:lnTo>
                  <a:lnTo>
                    <a:pt x="134712" y="6555"/>
                  </a:lnTo>
                  <a:lnTo>
                    <a:pt x="90881" y="25056"/>
                  </a:lnTo>
                  <a:lnTo>
                    <a:pt x="53744" y="53752"/>
                  </a:lnTo>
                  <a:lnTo>
                    <a:pt x="25052" y="90894"/>
                  </a:lnTo>
                  <a:lnTo>
                    <a:pt x="6554" y="134731"/>
                  </a:lnTo>
                  <a:lnTo>
                    <a:pt x="0" y="183514"/>
                  </a:lnTo>
                  <a:lnTo>
                    <a:pt x="0" y="1651508"/>
                  </a:lnTo>
                  <a:lnTo>
                    <a:pt x="6554" y="1700281"/>
                  </a:lnTo>
                  <a:lnTo>
                    <a:pt x="25052" y="1744095"/>
                  </a:lnTo>
                  <a:lnTo>
                    <a:pt x="53744" y="1781206"/>
                  </a:lnTo>
                  <a:lnTo>
                    <a:pt x="90881" y="1809872"/>
                  </a:lnTo>
                  <a:lnTo>
                    <a:pt x="134712" y="1828349"/>
                  </a:lnTo>
                  <a:lnTo>
                    <a:pt x="183489" y="1834896"/>
                  </a:lnTo>
                  <a:lnTo>
                    <a:pt x="2706204" y="1834896"/>
                  </a:lnTo>
                  <a:lnTo>
                    <a:pt x="2754988" y="1828349"/>
                  </a:lnTo>
                  <a:lnTo>
                    <a:pt x="2798825" y="1809872"/>
                  </a:lnTo>
                  <a:lnTo>
                    <a:pt x="2835967" y="1781206"/>
                  </a:lnTo>
                  <a:lnTo>
                    <a:pt x="2864663" y="1744095"/>
                  </a:lnTo>
                  <a:lnTo>
                    <a:pt x="2883164" y="1700281"/>
                  </a:lnTo>
                  <a:lnTo>
                    <a:pt x="2889719" y="1651508"/>
                  </a:lnTo>
                  <a:lnTo>
                    <a:pt x="2889719" y="183514"/>
                  </a:lnTo>
                  <a:lnTo>
                    <a:pt x="2883164" y="134731"/>
                  </a:lnTo>
                  <a:lnTo>
                    <a:pt x="2864663" y="90894"/>
                  </a:lnTo>
                  <a:lnTo>
                    <a:pt x="2835967" y="53752"/>
                  </a:lnTo>
                  <a:lnTo>
                    <a:pt x="2798825" y="25056"/>
                  </a:lnTo>
                  <a:lnTo>
                    <a:pt x="2754988" y="6555"/>
                  </a:lnTo>
                  <a:lnTo>
                    <a:pt x="2706204" y="0"/>
                  </a:lnTo>
                  <a:close/>
                </a:path>
              </a:pathLst>
            </a:custGeom>
            <a:solidFill>
              <a:srgbClr val="EB9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79778" y="2826130"/>
              <a:ext cx="2889885" cy="1835150"/>
            </a:xfrm>
            <a:custGeom>
              <a:avLst/>
              <a:gdLst/>
              <a:ahLst/>
              <a:cxnLst/>
              <a:rect l="l" t="t" r="r" b="b"/>
              <a:pathLst>
                <a:path w="2889885" h="1835150">
                  <a:moveTo>
                    <a:pt x="2706243" y="0"/>
                  </a:moveTo>
                  <a:lnTo>
                    <a:pt x="183515" y="0"/>
                  </a:lnTo>
                  <a:lnTo>
                    <a:pt x="134731" y="6555"/>
                  </a:lnTo>
                  <a:lnTo>
                    <a:pt x="90894" y="25056"/>
                  </a:lnTo>
                  <a:lnTo>
                    <a:pt x="53752" y="53752"/>
                  </a:lnTo>
                  <a:lnTo>
                    <a:pt x="25056" y="90894"/>
                  </a:lnTo>
                  <a:lnTo>
                    <a:pt x="6555" y="134731"/>
                  </a:lnTo>
                  <a:lnTo>
                    <a:pt x="0" y="183515"/>
                  </a:lnTo>
                  <a:lnTo>
                    <a:pt x="0" y="1651381"/>
                  </a:lnTo>
                  <a:lnTo>
                    <a:pt x="6555" y="1700164"/>
                  </a:lnTo>
                  <a:lnTo>
                    <a:pt x="25056" y="1744001"/>
                  </a:lnTo>
                  <a:lnTo>
                    <a:pt x="53752" y="1781143"/>
                  </a:lnTo>
                  <a:lnTo>
                    <a:pt x="90894" y="1809839"/>
                  </a:lnTo>
                  <a:lnTo>
                    <a:pt x="134731" y="1828340"/>
                  </a:lnTo>
                  <a:lnTo>
                    <a:pt x="183515" y="1834896"/>
                  </a:lnTo>
                  <a:lnTo>
                    <a:pt x="2706243" y="1834896"/>
                  </a:lnTo>
                  <a:lnTo>
                    <a:pt x="2755026" y="1828340"/>
                  </a:lnTo>
                  <a:lnTo>
                    <a:pt x="2798863" y="1809839"/>
                  </a:lnTo>
                  <a:lnTo>
                    <a:pt x="2836005" y="1781143"/>
                  </a:lnTo>
                  <a:lnTo>
                    <a:pt x="2864701" y="1744001"/>
                  </a:lnTo>
                  <a:lnTo>
                    <a:pt x="2883202" y="1700164"/>
                  </a:lnTo>
                  <a:lnTo>
                    <a:pt x="2889758" y="1651381"/>
                  </a:lnTo>
                  <a:lnTo>
                    <a:pt x="2889758" y="183515"/>
                  </a:lnTo>
                  <a:lnTo>
                    <a:pt x="2883202" y="134731"/>
                  </a:lnTo>
                  <a:lnTo>
                    <a:pt x="2864701" y="90894"/>
                  </a:lnTo>
                  <a:lnTo>
                    <a:pt x="2836005" y="53752"/>
                  </a:lnTo>
                  <a:lnTo>
                    <a:pt x="2798863" y="25056"/>
                  </a:lnTo>
                  <a:lnTo>
                    <a:pt x="2755026" y="6555"/>
                  </a:lnTo>
                  <a:lnTo>
                    <a:pt x="2706243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279778" y="2826130"/>
              <a:ext cx="2889885" cy="1835150"/>
            </a:xfrm>
            <a:custGeom>
              <a:avLst/>
              <a:gdLst/>
              <a:ahLst/>
              <a:cxnLst/>
              <a:rect l="l" t="t" r="r" b="b"/>
              <a:pathLst>
                <a:path w="2889885" h="1835150">
                  <a:moveTo>
                    <a:pt x="0" y="183515"/>
                  </a:moveTo>
                  <a:lnTo>
                    <a:pt x="6555" y="134731"/>
                  </a:lnTo>
                  <a:lnTo>
                    <a:pt x="25056" y="90894"/>
                  </a:lnTo>
                  <a:lnTo>
                    <a:pt x="53752" y="53752"/>
                  </a:lnTo>
                  <a:lnTo>
                    <a:pt x="90894" y="25056"/>
                  </a:lnTo>
                  <a:lnTo>
                    <a:pt x="134731" y="6555"/>
                  </a:lnTo>
                  <a:lnTo>
                    <a:pt x="183515" y="0"/>
                  </a:lnTo>
                  <a:lnTo>
                    <a:pt x="2706243" y="0"/>
                  </a:lnTo>
                  <a:lnTo>
                    <a:pt x="2755026" y="6555"/>
                  </a:lnTo>
                  <a:lnTo>
                    <a:pt x="2798863" y="25056"/>
                  </a:lnTo>
                  <a:lnTo>
                    <a:pt x="2836005" y="53752"/>
                  </a:lnTo>
                  <a:lnTo>
                    <a:pt x="2864701" y="90894"/>
                  </a:lnTo>
                  <a:lnTo>
                    <a:pt x="2883202" y="134731"/>
                  </a:lnTo>
                  <a:lnTo>
                    <a:pt x="2889758" y="183515"/>
                  </a:lnTo>
                  <a:lnTo>
                    <a:pt x="2889758" y="1651381"/>
                  </a:lnTo>
                  <a:lnTo>
                    <a:pt x="2883202" y="1700164"/>
                  </a:lnTo>
                  <a:lnTo>
                    <a:pt x="2864701" y="1744001"/>
                  </a:lnTo>
                  <a:lnTo>
                    <a:pt x="2836005" y="1781143"/>
                  </a:lnTo>
                  <a:lnTo>
                    <a:pt x="2798863" y="1809839"/>
                  </a:lnTo>
                  <a:lnTo>
                    <a:pt x="2755026" y="1828340"/>
                  </a:lnTo>
                  <a:lnTo>
                    <a:pt x="2706243" y="1834896"/>
                  </a:lnTo>
                  <a:lnTo>
                    <a:pt x="183515" y="1834896"/>
                  </a:lnTo>
                  <a:lnTo>
                    <a:pt x="134731" y="1828340"/>
                  </a:lnTo>
                  <a:lnTo>
                    <a:pt x="90894" y="1809839"/>
                  </a:lnTo>
                  <a:lnTo>
                    <a:pt x="53752" y="1781143"/>
                  </a:lnTo>
                  <a:lnTo>
                    <a:pt x="25056" y="1744001"/>
                  </a:lnTo>
                  <a:lnTo>
                    <a:pt x="6555" y="1700164"/>
                  </a:lnTo>
                  <a:lnTo>
                    <a:pt x="0" y="1651381"/>
                  </a:lnTo>
                  <a:lnTo>
                    <a:pt x="0" y="183515"/>
                  </a:lnTo>
                  <a:close/>
                </a:path>
              </a:pathLst>
            </a:custGeom>
            <a:ln w="19049">
              <a:solidFill>
                <a:srgbClr val="EB9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458213" y="3046221"/>
            <a:ext cx="2534920" cy="1307465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12700" marR="5080" indent="-635" algn="ctr">
              <a:lnSpc>
                <a:spcPct val="90200"/>
              </a:lnSpc>
              <a:spcBef>
                <a:spcPts val="450"/>
              </a:spcBef>
            </a:pPr>
            <a:r>
              <a:rPr sz="3000" spc="70" dirty="0">
                <a:latin typeface="Tahoma"/>
                <a:cs typeface="Tahoma"/>
              </a:rPr>
              <a:t>CASP</a:t>
            </a:r>
            <a:r>
              <a:rPr sz="3000" spc="-275" dirty="0">
                <a:latin typeface="Tahoma"/>
                <a:cs typeface="Tahoma"/>
              </a:rPr>
              <a:t> </a:t>
            </a:r>
            <a:r>
              <a:rPr sz="3000" spc="-570" dirty="0">
                <a:latin typeface="Tahoma"/>
                <a:cs typeface="Tahoma"/>
              </a:rPr>
              <a:t>=</a:t>
            </a:r>
            <a:r>
              <a:rPr sz="3000" spc="-280" dirty="0">
                <a:latin typeface="Tahoma"/>
                <a:cs typeface="Tahoma"/>
              </a:rPr>
              <a:t> </a:t>
            </a:r>
            <a:r>
              <a:rPr sz="3000" spc="45" dirty="0">
                <a:latin typeface="Tahoma"/>
                <a:cs typeface="Tahoma"/>
              </a:rPr>
              <a:t>Critical </a:t>
            </a:r>
            <a:r>
              <a:rPr sz="3000" dirty="0">
                <a:latin typeface="Tahoma"/>
                <a:cs typeface="Tahoma"/>
              </a:rPr>
              <a:t>Appraisal</a:t>
            </a:r>
            <a:r>
              <a:rPr sz="3000" spc="-215" dirty="0">
                <a:latin typeface="Tahoma"/>
                <a:cs typeface="Tahoma"/>
              </a:rPr>
              <a:t> </a:t>
            </a:r>
            <a:r>
              <a:rPr sz="3000" spc="-10" dirty="0">
                <a:latin typeface="Tahoma"/>
                <a:cs typeface="Tahoma"/>
              </a:rPr>
              <a:t>Skills Programme</a:t>
            </a:r>
            <a:endParaRPr sz="300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490592" y="2521076"/>
            <a:ext cx="3220720" cy="2149475"/>
            <a:chOff x="4490592" y="2521076"/>
            <a:chExt cx="3220720" cy="2149475"/>
          </a:xfrm>
        </p:grpSpPr>
        <p:sp>
          <p:nvSpPr>
            <p:cNvPr id="9" name="object 9"/>
            <p:cNvSpPr/>
            <p:nvPr/>
          </p:nvSpPr>
          <p:spPr>
            <a:xfrm>
              <a:off x="4490592" y="2521076"/>
              <a:ext cx="2889885" cy="1835150"/>
            </a:xfrm>
            <a:custGeom>
              <a:avLst/>
              <a:gdLst/>
              <a:ahLst/>
              <a:cxnLst/>
              <a:rect l="l" t="t" r="r" b="b"/>
              <a:pathLst>
                <a:path w="2889884" h="1835150">
                  <a:moveTo>
                    <a:pt x="2706242" y="0"/>
                  </a:moveTo>
                  <a:lnTo>
                    <a:pt x="183515" y="0"/>
                  </a:lnTo>
                  <a:lnTo>
                    <a:pt x="134731" y="6555"/>
                  </a:lnTo>
                  <a:lnTo>
                    <a:pt x="90894" y="25056"/>
                  </a:lnTo>
                  <a:lnTo>
                    <a:pt x="53752" y="53752"/>
                  </a:lnTo>
                  <a:lnTo>
                    <a:pt x="25056" y="90894"/>
                  </a:lnTo>
                  <a:lnTo>
                    <a:pt x="6555" y="134731"/>
                  </a:lnTo>
                  <a:lnTo>
                    <a:pt x="0" y="183514"/>
                  </a:lnTo>
                  <a:lnTo>
                    <a:pt x="0" y="1651508"/>
                  </a:lnTo>
                  <a:lnTo>
                    <a:pt x="6555" y="1700281"/>
                  </a:lnTo>
                  <a:lnTo>
                    <a:pt x="25056" y="1744095"/>
                  </a:lnTo>
                  <a:lnTo>
                    <a:pt x="53752" y="1781206"/>
                  </a:lnTo>
                  <a:lnTo>
                    <a:pt x="90894" y="1809872"/>
                  </a:lnTo>
                  <a:lnTo>
                    <a:pt x="134731" y="1828349"/>
                  </a:lnTo>
                  <a:lnTo>
                    <a:pt x="183515" y="1834896"/>
                  </a:lnTo>
                  <a:lnTo>
                    <a:pt x="2706242" y="1834896"/>
                  </a:lnTo>
                  <a:lnTo>
                    <a:pt x="2755026" y="1828349"/>
                  </a:lnTo>
                  <a:lnTo>
                    <a:pt x="2798863" y="1809872"/>
                  </a:lnTo>
                  <a:lnTo>
                    <a:pt x="2836005" y="1781206"/>
                  </a:lnTo>
                  <a:lnTo>
                    <a:pt x="2864701" y="1744095"/>
                  </a:lnTo>
                  <a:lnTo>
                    <a:pt x="2883202" y="1700281"/>
                  </a:lnTo>
                  <a:lnTo>
                    <a:pt x="2889758" y="1651508"/>
                  </a:lnTo>
                  <a:lnTo>
                    <a:pt x="2889758" y="183514"/>
                  </a:lnTo>
                  <a:lnTo>
                    <a:pt x="2883202" y="134731"/>
                  </a:lnTo>
                  <a:lnTo>
                    <a:pt x="2864701" y="90894"/>
                  </a:lnTo>
                  <a:lnTo>
                    <a:pt x="2836005" y="53752"/>
                  </a:lnTo>
                  <a:lnTo>
                    <a:pt x="2798863" y="25056"/>
                  </a:lnTo>
                  <a:lnTo>
                    <a:pt x="2755026" y="6555"/>
                  </a:lnTo>
                  <a:lnTo>
                    <a:pt x="2706242" y="0"/>
                  </a:lnTo>
                  <a:close/>
                </a:path>
              </a:pathLst>
            </a:custGeom>
            <a:solidFill>
              <a:srgbClr val="EB9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811648" y="2826130"/>
              <a:ext cx="2889885" cy="1835150"/>
            </a:xfrm>
            <a:custGeom>
              <a:avLst/>
              <a:gdLst/>
              <a:ahLst/>
              <a:cxnLst/>
              <a:rect l="l" t="t" r="r" b="b"/>
              <a:pathLst>
                <a:path w="2889884" h="1835150">
                  <a:moveTo>
                    <a:pt x="2706243" y="0"/>
                  </a:moveTo>
                  <a:lnTo>
                    <a:pt x="183514" y="0"/>
                  </a:lnTo>
                  <a:lnTo>
                    <a:pt x="134731" y="6555"/>
                  </a:lnTo>
                  <a:lnTo>
                    <a:pt x="90894" y="25056"/>
                  </a:lnTo>
                  <a:lnTo>
                    <a:pt x="53752" y="53752"/>
                  </a:lnTo>
                  <a:lnTo>
                    <a:pt x="25056" y="90894"/>
                  </a:lnTo>
                  <a:lnTo>
                    <a:pt x="6555" y="134731"/>
                  </a:lnTo>
                  <a:lnTo>
                    <a:pt x="0" y="183515"/>
                  </a:lnTo>
                  <a:lnTo>
                    <a:pt x="0" y="1651381"/>
                  </a:lnTo>
                  <a:lnTo>
                    <a:pt x="6555" y="1700164"/>
                  </a:lnTo>
                  <a:lnTo>
                    <a:pt x="25056" y="1744001"/>
                  </a:lnTo>
                  <a:lnTo>
                    <a:pt x="53752" y="1781143"/>
                  </a:lnTo>
                  <a:lnTo>
                    <a:pt x="90894" y="1809839"/>
                  </a:lnTo>
                  <a:lnTo>
                    <a:pt x="134731" y="1828340"/>
                  </a:lnTo>
                  <a:lnTo>
                    <a:pt x="183514" y="1834896"/>
                  </a:lnTo>
                  <a:lnTo>
                    <a:pt x="2706243" y="1834896"/>
                  </a:lnTo>
                  <a:lnTo>
                    <a:pt x="2755026" y="1828340"/>
                  </a:lnTo>
                  <a:lnTo>
                    <a:pt x="2798863" y="1809839"/>
                  </a:lnTo>
                  <a:lnTo>
                    <a:pt x="2836005" y="1781143"/>
                  </a:lnTo>
                  <a:lnTo>
                    <a:pt x="2864701" y="1744001"/>
                  </a:lnTo>
                  <a:lnTo>
                    <a:pt x="2883202" y="1700164"/>
                  </a:lnTo>
                  <a:lnTo>
                    <a:pt x="2889757" y="1651381"/>
                  </a:lnTo>
                  <a:lnTo>
                    <a:pt x="2889757" y="183515"/>
                  </a:lnTo>
                  <a:lnTo>
                    <a:pt x="2883202" y="134731"/>
                  </a:lnTo>
                  <a:lnTo>
                    <a:pt x="2864701" y="90894"/>
                  </a:lnTo>
                  <a:lnTo>
                    <a:pt x="2836005" y="53752"/>
                  </a:lnTo>
                  <a:lnTo>
                    <a:pt x="2798863" y="25056"/>
                  </a:lnTo>
                  <a:lnTo>
                    <a:pt x="2755026" y="6555"/>
                  </a:lnTo>
                  <a:lnTo>
                    <a:pt x="2706243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811648" y="2826130"/>
              <a:ext cx="2889885" cy="1835150"/>
            </a:xfrm>
            <a:custGeom>
              <a:avLst/>
              <a:gdLst/>
              <a:ahLst/>
              <a:cxnLst/>
              <a:rect l="l" t="t" r="r" b="b"/>
              <a:pathLst>
                <a:path w="2889884" h="1835150">
                  <a:moveTo>
                    <a:pt x="0" y="183515"/>
                  </a:moveTo>
                  <a:lnTo>
                    <a:pt x="6555" y="134731"/>
                  </a:lnTo>
                  <a:lnTo>
                    <a:pt x="25056" y="90894"/>
                  </a:lnTo>
                  <a:lnTo>
                    <a:pt x="53752" y="53752"/>
                  </a:lnTo>
                  <a:lnTo>
                    <a:pt x="90894" y="25056"/>
                  </a:lnTo>
                  <a:lnTo>
                    <a:pt x="134731" y="6555"/>
                  </a:lnTo>
                  <a:lnTo>
                    <a:pt x="183514" y="0"/>
                  </a:lnTo>
                  <a:lnTo>
                    <a:pt x="2706243" y="0"/>
                  </a:lnTo>
                  <a:lnTo>
                    <a:pt x="2755026" y="6555"/>
                  </a:lnTo>
                  <a:lnTo>
                    <a:pt x="2798863" y="25056"/>
                  </a:lnTo>
                  <a:lnTo>
                    <a:pt x="2836005" y="53752"/>
                  </a:lnTo>
                  <a:lnTo>
                    <a:pt x="2864701" y="90894"/>
                  </a:lnTo>
                  <a:lnTo>
                    <a:pt x="2883202" y="134731"/>
                  </a:lnTo>
                  <a:lnTo>
                    <a:pt x="2889757" y="183515"/>
                  </a:lnTo>
                  <a:lnTo>
                    <a:pt x="2889757" y="1651381"/>
                  </a:lnTo>
                  <a:lnTo>
                    <a:pt x="2883202" y="1700164"/>
                  </a:lnTo>
                  <a:lnTo>
                    <a:pt x="2864701" y="1744001"/>
                  </a:lnTo>
                  <a:lnTo>
                    <a:pt x="2836005" y="1781143"/>
                  </a:lnTo>
                  <a:lnTo>
                    <a:pt x="2798863" y="1809839"/>
                  </a:lnTo>
                  <a:lnTo>
                    <a:pt x="2755026" y="1828340"/>
                  </a:lnTo>
                  <a:lnTo>
                    <a:pt x="2706243" y="1834896"/>
                  </a:lnTo>
                  <a:lnTo>
                    <a:pt x="183514" y="1834896"/>
                  </a:lnTo>
                  <a:lnTo>
                    <a:pt x="134731" y="1828340"/>
                  </a:lnTo>
                  <a:lnTo>
                    <a:pt x="90894" y="1809839"/>
                  </a:lnTo>
                  <a:lnTo>
                    <a:pt x="53752" y="1781143"/>
                  </a:lnTo>
                  <a:lnTo>
                    <a:pt x="25056" y="1744001"/>
                  </a:lnTo>
                  <a:lnTo>
                    <a:pt x="6555" y="1700164"/>
                  </a:lnTo>
                  <a:lnTo>
                    <a:pt x="0" y="1651381"/>
                  </a:lnTo>
                  <a:lnTo>
                    <a:pt x="0" y="183515"/>
                  </a:lnTo>
                  <a:close/>
                </a:path>
              </a:pathLst>
            </a:custGeom>
            <a:ln w="19050">
              <a:solidFill>
                <a:srgbClr val="EB9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205476" y="3046221"/>
            <a:ext cx="2103120" cy="1307465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12700" marR="5080" algn="ctr">
              <a:lnSpc>
                <a:spcPct val="90200"/>
              </a:lnSpc>
              <a:spcBef>
                <a:spcPts val="450"/>
              </a:spcBef>
            </a:pPr>
            <a:r>
              <a:rPr sz="3000" spc="-20" dirty="0">
                <a:latin typeface="Tahoma"/>
                <a:cs typeface="Tahoma"/>
              </a:rPr>
              <a:t>Designed</a:t>
            </a:r>
            <a:r>
              <a:rPr sz="3000" spc="-225" dirty="0">
                <a:latin typeface="Tahoma"/>
                <a:cs typeface="Tahoma"/>
              </a:rPr>
              <a:t> </a:t>
            </a:r>
            <a:r>
              <a:rPr sz="3000" spc="-40" dirty="0">
                <a:latin typeface="Tahoma"/>
                <a:cs typeface="Tahoma"/>
              </a:rPr>
              <a:t>for </a:t>
            </a:r>
            <a:r>
              <a:rPr sz="3000" dirty="0">
                <a:latin typeface="Tahoma"/>
                <a:cs typeface="Tahoma"/>
              </a:rPr>
              <a:t>health</a:t>
            </a:r>
            <a:r>
              <a:rPr sz="3000" spc="-295" dirty="0">
                <a:latin typeface="Tahoma"/>
                <a:cs typeface="Tahoma"/>
              </a:rPr>
              <a:t> </a:t>
            </a:r>
            <a:r>
              <a:rPr sz="3000" spc="-25" dirty="0">
                <a:latin typeface="Tahoma"/>
                <a:cs typeface="Tahoma"/>
              </a:rPr>
              <a:t>and </a:t>
            </a:r>
            <a:r>
              <a:rPr sz="3000" spc="65" dirty="0">
                <a:latin typeface="Tahoma"/>
                <a:cs typeface="Tahoma"/>
              </a:rPr>
              <a:t>social</a:t>
            </a:r>
            <a:r>
              <a:rPr sz="3000" spc="-270" dirty="0">
                <a:latin typeface="Tahoma"/>
                <a:cs typeface="Tahoma"/>
              </a:rPr>
              <a:t> </a:t>
            </a:r>
            <a:r>
              <a:rPr sz="3000" spc="-20" dirty="0">
                <a:latin typeface="Tahoma"/>
                <a:cs typeface="Tahoma"/>
              </a:rPr>
              <a:t>care</a:t>
            </a:r>
            <a:endParaRPr sz="30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8022463" y="2521076"/>
            <a:ext cx="3220720" cy="2149475"/>
            <a:chOff x="8022463" y="2521076"/>
            <a:chExt cx="3220720" cy="2149475"/>
          </a:xfrm>
        </p:grpSpPr>
        <p:sp>
          <p:nvSpPr>
            <p:cNvPr id="14" name="object 14"/>
            <p:cNvSpPr/>
            <p:nvPr/>
          </p:nvSpPr>
          <p:spPr>
            <a:xfrm>
              <a:off x="8022463" y="2521076"/>
              <a:ext cx="2889885" cy="1835150"/>
            </a:xfrm>
            <a:custGeom>
              <a:avLst/>
              <a:gdLst/>
              <a:ahLst/>
              <a:cxnLst/>
              <a:rect l="l" t="t" r="r" b="b"/>
              <a:pathLst>
                <a:path w="2889884" h="1835150">
                  <a:moveTo>
                    <a:pt x="2706242" y="0"/>
                  </a:moveTo>
                  <a:lnTo>
                    <a:pt x="183514" y="0"/>
                  </a:lnTo>
                  <a:lnTo>
                    <a:pt x="134731" y="6555"/>
                  </a:lnTo>
                  <a:lnTo>
                    <a:pt x="90894" y="25056"/>
                  </a:lnTo>
                  <a:lnTo>
                    <a:pt x="53752" y="53752"/>
                  </a:lnTo>
                  <a:lnTo>
                    <a:pt x="25056" y="90894"/>
                  </a:lnTo>
                  <a:lnTo>
                    <a:pt x="6555" y="134731"/>
                  </a:lnTo>
                  <a:lnTo>
                    <a:pt x="0" y="183514"/>
                  </a:lnTo>
                  <a:lnTo>
                    <a:pt x="0" y="1651508"/>
                  </a:lnTo>
                  <a:lnTo>
                    <a:pt x="6555" y="1700281"/>
                  </a:lnTo>
                  <a:lnTo>
                    <a:pt x="25056" y="1744095"/>
                  </a:lnTo>
                  <a:lnTo>
                    <a:pt x="53752" y="1781206"/>
                  </a:lnTo>
                  <a:lnTo>
                    <a:pt x="90894" y="1809872"/>
                  </a:lnTo>
                  <a:lnTo>
                    <a:pt x="134731" y="1828349"/>
                  </a:lnTo>
                  <a:lnTo>
                    <a:pt x="183514" y="1834896"/>
                  </a:lnTo>
                  <a:lnTo>
                    <a:pt x="2706242" y="1834896"/>
                  </a:lnTo>
                  <a:lnTo>
                    <a:pt x="2755026" y="1828349"/>
                  </a:lnTo>
                  <a:lnTo>
                    <a:pt x="2798863" y="1809872"/>
                  </a:lnTo>
                  <a:lnTo>
                    <a:pt x="2836005" y="1781206"/>
                  </a:lnTo>
                  <a:lnTo>
                    <a:pt x="2864701" y="1744095"/>
                  </a:lnTo>
                  <a:lnTo>
                    <a:pt x="2883202" y="1700281"/>
                  </a:lnTo>
                  <a:lnTo>
                    <a:pt x="2889757" y="1651508"/>
                  </a:lnTo>
                  <a:lnTo>
                    <a:pt x="2889757" y="183514"/>
                  </a:lnTo>
                  <a:lnTo>
                    <a:pt x="2883202" y="134731"/>
                  </a:lnTo>
                  <a:lnTo>
                    <a:pt x="2864701" y="90894"/>
                  </a:lnTo>
                  <a:lnTo>
                    <a:pt x="2836005" y="53752"/>
                  </a:lnTo>
                  <a:lnTo>
                    <a:pt x="2798863" y="25056"/>
                  </a:lnTo>
                  <a:lnTo>
                    <a:pt x="2755026" y="6555"/>
                  </a:lnTo>
                  <a:lnTo>
                    <a:pt x="2706242" y="0"/>
                  </a:lnTo>
                  <a:close/>
                </a:path>
              </a:pathLst>
            </a:custGeom>
            <a:solidFill>
              <a:srgbClr val="EB9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343519" y="2826130"/>
              <a:ext cx="2889885" cy="1835150"/>
            </a:xfrm>
            <a:custGeom>
              <a:avLst/>
              <a:gdLst/>
              <a:ahLst/>
              <a:cxnLst/>
              <a:rect l="l" t="t" r="r" b="b"/>
              <a:pathLst>
                <a:path w="2889884" h="1835150">
                  <a:moveTo>
                    <a:pt x="2706242" y="0"/>
                  </a:moveTo>
                  <a:lnTo>
                    <a:pt x="183514" y="0"/>
                  </a:lnTo>
                  <a:lnTo>
                    <a:pt x="134731" y="6555"/>
                  </a:lnTo>
                  <a:lnTo>
                    <a:pt x="90894" y="25056"/>
                  </a:lnTo>
                  <a:lnTo>
                    <a:pt x="53752" y="53752"/>
                  </a:lnTo>
                  <a:lnTo>
                    <a:pt x="25056" y="90894"/>
                  </a:lnTo>
                  <a:lnTo>
                    <a:pt x="6555" y="134731"/>
                  </a:lnTo>
                  <a:lnTo>
                    <a:pt x="0" y="183515"/>
                  </a:lnTo>
                  <a:lnTo>
                    <a:pt x="0" y="1651381"/>
                  </a:lnTo>
                  <a:lnTo>
                    <a:pt x="6555" y="1700164"/>
                  </a:lnTo>
                  <a:lnTo>
                    <a:pt x="25056" y="1744001"/>
                  </a:lnTo>
                  <a:lnTo>
                    <a:pt x="53752" y="1781143"/>
                  </a:lnTo>
                  <a:lnTo>
                    <a:pt x="90894" y="1809839"/>
                  </a:lnTo>
                  <a:lnTo>
                    <a:pt x="134731" y="1828340"/>
                  </a:lnTo>
                  <a:lnTo>
                    <a:pt x="183514" y="1834896"/>
                  </a:lnTo>
                  <a:lnTo>
                    <a:pt x="2706242" y="1834896"/>
                  </a:lnTo>
                  <a:lnTo>
                    <a:pt x="2755026" y="1828340"/>
                  </a:lnTo>
                  <a:lnTo>
                    <a:pt x="2798863" y="1809839"/>
                  </a:lnTo>
                  <a:lnTo>
                    <a:pt x="2836005" y="1781143"/>
                  </a:lnTo>
                  <a:lnTo>
                    <a:pt x="2864701" y="1744001"/>
                  </a:lnTo>
                  <a:lnTo>
                    <a:pt x="2883202" y="1700164"/>
                  </a:lnTo>
                  <a:lnTo>
                    <a:pt x="2889757" y="1651381"/>
                  </a:lnTo>
                  <a:lnTo>
                    <a:pt x="2889757" y="183515"/>
                  </a:lnTo>
                  <a:lnTo>
                    <a:pt x="2883202" y="134731"/>
                  </a:lnTo>
                  <a:lnTo>
                    <a:pt x="2864701" y="90894"/>
                  </a:lnTo>
                  <a:lnTo>
                    <a:pt x="2836005" y="53752"/>
                  </a:lnTo>
                  <a:lnTo>
                    <a:pt x="2798863" y="25056"/>
                  </a:lnTo>
                  <a:lnTo>
                    <a:pt x="2755026" y="6555"/>
                  </a:lnTo>
                  <a:lnTo>
                    <a:pt x="2706242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343519" y="2826130"/>
              <a:ext cx="2889885" cy="1835150"/>
            </a:xfrm>
            <a:custGeom>
              <a:avLst/>
              <a:gdLst/>
              <a:ahLst/>
              <a:cxnLst/>
              <a:rect l="l" t="t" r="r" b="b"/>
              <a:pathLst>
                <a:path w="2889884" h="1835150">
                  <a:moveTo>
                    <a:pt x="0" y="183515"/>
                  </a:moveTo>
                  <a:lnTo>
                    <a:pt x="6555" y="134731"/>
                  </a:lnTo>
                  <a:lnTo>
                    <a:pt x="25056" y="90894"/>
                  </a:lnTo>
                  <a:lnTo>
                    <a:pt x="53752" y="53752"/>
                  </a:lnTo>
                  <a:lnTo>
                    <a:pt x="90894" y="25056"/>
                  </a:lnTo>
                  <a:lnTo>
                    <a:pt x="134731" y="6555"/>
                  </a:lnTo>
                  <a:lnTo>
                    <a:pt x="183514" y="0"/>
                  </a:lnTo>
                  <a:lnTo>
                    <a:pt x="2706242" y="0"/>
                  </a:lnTo>
                  <a:lnTo>
                    <a:pt x="2755026" y="6555"/>
                  </a:lnTo>
                  <a:lnTo>
                    <a:pt x="2798863" y="25056"/>
                  </a:lnTo>
                  <a:lnTo>
                    <a:pt x="2836005" y="53752"/>
                  </a:lnTo>
                  <a:lnTo>
                    <a:pt x="2864701" y="90894"/>
                  </a:lnTo>
                  <a:lnTo>
                    <a:pt x="2883202" y="134731"/>
                  </a:lnTo>
                  <a:lnTo>
                    <a:pt x="2889757" y="183515"/>
                  </a:lnTo>
                  <a:lnTo>
                    <a:pt x="2889757" y="1651381"/>
                  </a:lnTo>
                  <a:lnTo>
                    <a:pt x="2883202" y="1700164"/>
                  </a:lnTo>
                  <a:lnTo>
                    <a:pt x="2864701" y="1744001"/>
                  </a:lnTo>
                  <a:lnTo>
                    <a:pt x="2836005" y="1781143"/>
                  </a:lnTo>
                  <a:lnTo>
                    <a:pt x="2798863" y="1809839"/>
                  </a:lnTo>
                  <a:lnTo>
                    <a:pt x="2755026" y="1828340"/>
                  </a:lnTo>
                  <a:lnTo>
                    <a:pt x="2706242" y="1834896"/>
                  </a:lnTo>
                  <a:lnTo>
                    <a:pt x="183514" y="1834896"/>
                  </a:lnTo>
                  <a:lnTo>
                    <a:pt x="134731" y="1828340"/>
                  </a:lnTo>
                  <a:lnTo>
                    <a:pt x="90894" y="1809839"/>
                  </a:lnTo>
                  <a:lnTo>
                    <a:pt x="53752" y="1781143"/>
                  </a:lnTo>
                  <a:lnTo>
                    <a:pt x="25056" y="1744001"/>
                  </a:lnTo>
                  <a:lnTo>
                    <a:pt x="6555" y="1700164"/>
                  </a:lnTo>
                  <a:lnTo>
                    <a:pt x="0" y="1651381"/>
                  </a:lnTo>
                  <a:lnTo>
                    <a:pt x="0" y="183515"/>
                  </a:lnTo>
                  <a:close/>
                </a:path>
              </a:pathLst>
            </a:custGeom>
            <a:ln w="19050">
              <a:solidFill>
                <a:srgbClr val="EB9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8515350" y="3252038"/>
            <a:ext cx="2548255" cy="894715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553720" marR="5080" indent="-541020">
              <a:lnSpc>
                <a:spcPts val="3240"/>
              </a:lnSpc>
              <a:spcBef>
                <a:spcPts val="509"/>
              </a:spcBef>
            </a:pPr>
            <a:r>
              <a:rPr sz="3000" spc="-25" dirty="0">
                <a:latin typeface="Tahoma"/>
                <a:cs typeface="Tahoma"/>
              </a:rPr>
              <a:t>10</a:t>
            </a:r>
            <a:r>
              <a:rPr sz="3000" spc="-215" dirty="0">
                <a:latin typeface="Tahoma"/>
                <a:cs typeface="Tahoma"/>
              </a:rPr>
              <a:t> </a:t>
            </a:r>
            <a:r>
              <a:rPr sz="3000" dirty="0">
                <a:latin typeface="Tahoma"/>
                <a:cs typeface="Tahoma"/>
              </a:rPr>
              <a:t>questions,</a:t>
            </a:r>
            <a:r>
              <a:rPr sz="3000" spc="-235" dirty="0">
                <a:latin typeface="Tahoma"/>
                <a:cs typeface="Tahoma"/>
              </a:rPr>
              <a:t> </a:t>
            </a:r>
            <a:r>
              <a:rPr sz="3000" spc="-50" dirty="0">
                <a:latin typeface="Tahoma"/>
                <a:cs typeface="Tahoma"/>
              </a:rPr>
              <a:t>3 </a:t>
            </a:r>
            <a:r>
              <a:rPr sz="3000" spc="-10" dirty="0">
                <a:latin typeface="Tahoma"/>
                <a:cs typeface="Tahoma"/>
              </a:rPr>
              <a:t>domains</a:t>
            </a:r>
            <a:endParaRPr sz="3000">
              <a:latin typeface="Tahoma"/>
              <a:cs typeface="Tahoma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67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What</a:t>
            </a:r>
            <a:r>
              <a:rPr sz="4000" spc="-254" dirty="0"/>
              <a:t> </a:t>
            </a:r>
            <a:r>
              <a:rPr sz="4000" spc="-30" dirty="0"/>
              <a:t>is</a:t>
            </a:r>
            <a:r>
              <a:rPr sz="4000" spc="-185" dirty="0"/>
              <a:t> </a:t>
            </a:r>
            <a:r>
              <a:rPr sz="4000" dirty="0"/>
              <a:t>the</a:t>
            </a:r>
            <a:r>
              <a:rPr sz="4000" spc="-180" dirty="0"/>
              <a:t> </a:t>
            </a:r>
            <a:r>
              <a:rPr sz="4000" spc="-270" dirty="0"/>
              <a:t>CASP</a:t>
            </a:r>
            <a:r>
              <a:rPr sz="4000" spc="-110" dirty="0"/>
              <a:t> </a:t>
            </a:r>
            <a:r>
              <a:rPr sz="4000" spc="-65" dirty="0"/>
              <a:t>Checklist?</a:t>
            </a:r>
            <a:endParaRPr sz="4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9948" y="977849"/>
            <a:ext cx="83953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90" dirty="0"/>
              <a:t>CASP</a:t>
            </a:r>
            <a:r>
              <a:rPr spc="-145" dirty="0"/>
              <a:t> </a:t>
            </a:r>
            <a:r>
              <a:rPr spc="-65" dirty="0"/>
              <a:t>Section</a:t>
            </a:r>
            <a:r>
              <a:rPr spc="-190" dirty="0"/>
              <a:t> </a:t>
            </a:r>
            <a:r>
              <a:rPr spc="-445" dirty="0"/>
              <a:t>A</a:t>
            </a:r>
            <a:r>
              <a:rPr spc="-114" dirty="0"/>
              <a:t> </a:t>
            </a:r>
            <a:r>
              <a:rPr spc="-445" dirty="0"/>
              <a:t>–</a:t>
            </a:r>
            <a:r>
              <a:rPr spc="-110" dirty="0"/>
              <a:t> </a:t>
            </a:r>
            <a:r>
              <a:rPr spc="-120" dirty="0"/>
              <a:t>Research</a:t>
            </a:r>
            <a:r>
              <a:rPr spc="-130" dirty="0"/>
              <a:t> </a:t>
            </a:r>
            <a:r>
              <a:rPr spc="-95" dirty="0"/>
              <a:t>Aims</a:t>
            </a:r>
          </a:p>
        </p:txBody>
      </p:sp>
      <p:sp>
        <p:nvSpPr>
          <p:cNvPr id="3" name="object 3"/>
          <p:cNvSpPr/>
          <p:nvPr/>
        </p:nvSpPr>
        <p:spPr>
          <a:xfrm>
            <a:off x="517867" y="508076"/>
            <a:ext cx="8686800" cy="149860"/>
          </a:xfrm>
          <a:custGeom>
            <a:avLst/>
            <a:gdLst/>
            <a:ahLst/>
            <a:cxnLst/>
            <a:rect l="l" t="t" r="r" b="b"/>
            <a:pathLst>
              <a:path w="8686800" h="149859">
                <a:moveTo>
                  <a:pt x="8686800" y="0"/>
                </a:moveTo>
                <a:lnTo>
                  <a:pt x="0" y="0"/>
                </a:lnTo>
                <a:lnTo>
                  <a:pt x="0" y="149275"/>
                </a:lnTo>
                <a:lnTo>
                  <a:pt x="8686800" y="149275"/>
                </a:lnTo>
                <a:lnTo>
                  <a:pt x="86868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511175" y="2052447"/>
            <a:ext cx="10724515" cy="1149350"/>
            <a:chOff x="511175" y="2052447"/>
            <a:chExt cx="10724515" cy="1149350"/>
          </a:xfrm>
        </p:grpSpPr>
        <p:sp>
          <p:nvSpPr>
            <p:cNvPr id="5" name="object 5"/>
            <p:cNvSpPr/>
            <p:nvPr/>
          </p:nvSpPr>
          <p:spPr>
            <a:xfrm>
              <a:off x="520700" y="2357145"/>
              <a:ext cx="10705465" cy="835025"/>
            </a:xfrm>
            <a:custGeom>
              <a:avLst/>
              <a:gdLst/>
              <a:ahLst/>
              <a:cxnLst/>
              <a:rect l="l" t="t" r="r" b="b"/>
              <a:pathLst>
                <a:path w="10705465" h="835025">
                  <a:moveTo>
                    <a:pt x="0" y="834745"/>
                  </a:moveTo>
                  <a:lnTo>
                    <a:pt x="10705465" y="834745"/>
                  </a:lnTo>
                  <a:lnTo>
                    <a:pt x="10705465" y="0"/>
                  </a:lnTo>
                  <a:lnTo>
                    <a:pt x="0" y="0"/>
                  </a:lnTo>
                  <a:lnTo>
                    <a:pt x="0" y="834745"/>
                  </a:lnTo>
                  <a:close/>
                </a:path>
              </a:pathLst>
            </a:custGeom>
            <a:ln w="19050">
              <a:solidFill>
                <a:srgbClr val="EB9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55979" y="2061972"/>
              <a:ext cx="7494270" cy="590550"/>
            </a:xfrm>
            <a:custGeom>
              <a:avLst/>
              <a:gdLst/>
              <a:ahLst/>
              <a:cxnLst/>
              <a:rect l="l" t="t" r="r" b="b"/>
              <a:pathLst>
                <a:path w="7494270" h="590550">
                  <a:moveTo>
                    <a:pt x="7395489" y="0"/>
                  </a:moveTo>
                  <a:lnTo>
                    <a:pt x="98399" y="0"/>
                  </a:lnTo>
                  <a:lnTo>
                    <a:pt x="60098" y="7735"/>
                  </a:lnTo>
                  <a:lnTo>
                    <a:pt x="28821" y="28828"/>
                  </a:lnTo>
                  <a:lnTo>
                    <a:pt x="7732" y="60114"/>
                  </a:lnTo>
                  <a:lnTo>
                    <a:pt x="0" y="98425"/>
                  </a:lnTo>
                  <a:lnTo>
                    <a:pt x="0" y="491998"/>
                  </a:lnTo>
                  <a:lnTo>
                    <a:pt x="7732" y="530308"/>
                  </a:lnTo>
                  <a:lnTo>
                    <a:pt x="28821" y="561594"/>
                  </a:lnTo>
                  <a:lnTo>
                    <a:pt x="60098" y="582687"/>
                  </a:lnTo>
                  <a:lnTo>
                    <a:pt x="98399" y="590423"/>
                  </a:lnTo>
                  <a:lnTo>
                    <a:pt x="7395489" y="590423"/>
                  </a:lnTo>
                  <a:lnTo>
                    <a:pt x="7433726" y="582687"/>
                  </a:lnTo>
                  <a:lnTo>
                    <a:pt x="7464974" y="561593"/>
                  </a:lnTo>
                  <a:lnTo>
                    <a:pt x="7486054" y="530308"/>
                  </a:lnTo>
                  <a:lnTo>
                    <a:pt x="7493787" y="491998"/>
                  </a:lnTo>
                  <a:lnTo>
                    <a:pt x="7493787" y="98425"/>
                  </a:lnTo>
                  <a:lnTo>
                    <a:pt x="7486054" y="60114"/>
                  </a:lnTo>
                  <a:lnTo>
                    <a:pt x="7464974" y="28828"/>
                  </a:lnTo>
                  <a:lnTo>
                    <a:pt x="7433726" y="7735"/>
                  </a:lnTo>
                  <a:lnTo>
                    <a:pt x="7395489" y="0"/>
                  </a:lnTo>
                  <a:close/>
                </a:path>
              </a:pathLst>
            </a:custGeom>
            <a:solidFill>
              <a:srgbClr val="EB9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055979" y="2061972"/>
              <a:ext cx="7494270" cy="590550"/>
            </a:xfrm>
            <a:custGeom>
              <a:avLst/>
              <a:gdLst/>
              <a:ahLst/>
              <a:cxnLst/>
              <a:rect l="l" t="t" r="r" b="b"/>
              <a:pathLst>
                <a:path w="7494270" h="590550">
                  <a:moveTo>
                    <a:pt x="0" y="98425"/>
                  </a:moveTo>
                  <a:lnTo>
                    <a:pt x="7732" y="60114"/>
                  </a:lnTo>
                  <a:lnTo>
                    <a:pt x="28821" y="28828"/>
                  </a:lnTo>
                  <a:lnTo>
                    <a:pt x="60098" y="7735"/>
                  </a:lnTo>
                  <a:lnTo>
                    <a:pt x="98399" y="0"/>
                  </a:lnTo>
                  <a:lnTo>
                    <a:pt x="7395489" y="0"/>
                  </a:lnTo>
                  <a:lnTo>
                    <a:pt x="7433726" y="7735"/>
                  </a:lnTo>
                  <a:lnTo>
                    <a:pt x="7464974" y="28828"/>
                  </a:lnTo>
                  <a:lnTo>
                    <a:pt x="7486054" y="60114"/>
                  </a:lnTo>
                  <a:lnTo>
                    <a:pt x="7493787" y="98425"/>
                  </a:lnTo>
                  <a:lnTo>
                    <a:pt x="7493787" y="491998"/>
                  </a:lnTo>
                  <a:lnTo>
                    <a:pt x="7486054" y="530308"/>
                  </a:lnTo>
                  <a:lnTo>
                    <a:pt x="7464974" y="561593"/>
                  </a:lnTo>
                  <a:lnTo>
                    <a:pt x="7433726" y="582687"/>
                  </a:lnTo>
                  <a:lnTo>
                    <a:pt x="7395489" y="590423"/>
                  </a:lnTo>
                  <a:lnTo>
                    <a:pt x="98399" y="590423"/>
                  </a:lnTo>
                  <a:lnTo>
                    <a:pt x="60098" y="582687"/>
                  </a:lnTo>
                  <a:lnTo>
                    <a:pt x="28821" y="561594"/>
                  </a:lnTo>
                  <a:lnTo>
                    <a:pt x="7732" y="530308"/>
                  </a:lnTo>
                  <a:lnTo>
                    <a:pt x="0" y="491998"/>
                  </a:lnTo>
                  <a:lnTo>
                    <a:pt x="0" y="98425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511175" y="3290442"/>
            <a:ext cx="10724515" cy="1448435"/>
            <a:chOff x="511175" y="3290442"/>
            <a:chExt cx="10724515" cy="1448435"/>
          </a:xfrm>
        </p:grpSpPr>
        <p:sp>
          <p:nvSpPr>
            <p:cNvPr id="9" name="object 9"/>
            <p:cNvSpPr/>
            <p:nvPr/>
          </p:nvSpPr>
          <p:spPr>
            <a:xfrm>
              <a:off x="520700" y="3595103"/>
              <a:ext cx="10705465" cy="1134110"/>
            </a:xfrm>
            <a:custGeom>
              <a:avLst/>
              <a:gdLst/>
              <a:ahLst/>
              <a:cxnLst/>
              <a:rect l="l" t="t" r="r" b="b"/>
              <a:pathLst>
                <a:path w="10705465" h="1134110">
                  <a:moveTo>
                    <a:pt x="0" y="1133995"/>
                  </a:moveTo>
                  <a:lnTo>
                    <a:pt x="10705465" y="1133995"/>
                  </a:lnTo>
                  <a:lnTo>
                    <a:pt x="10705465" y="0"/>
                  </a:lnTo>
                  <a:lnTo>
                    <a:pt x="0" y="0"/>
                  </a:lnTo>
                  <a:lnTo>
                    <a:pt x="0" y="1133995"/>
                  </a:lnTo>
                  <a:close/>
                </a:path>
              </a:pathLst>
            </a:custGeom>
            <a:ln w="19050">
              <a:solidFill>
                <a:srgbClr val="EB9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55979" y="3299967"/>
              <a:ext cx="7494270" cy="590550"/>
            </a:xfrm>
            <a:custGeom>
              <a:avLst/>
              <a:gdLst/>
              <a:ahLst/>
              <a:cxnLst/>
              <a:rect l="l" t="t" r="r" b="b"/>
              <a:pathLst>
                <a:path w="7494270" h="590550">
                  <a:moveTo>
                    <a:pt x="7395489" y="0"/>
                  </a:moveTo>
                  <a:lnTo>
                    <a:pt x="98399" y="0"/>
                  </a:lnTo>
                  <a:lnTo>
                    <a:pt x="60098" y="7715"/>
                  </a:lnTo>
                  <a:lnTo>
                    <a:pt x="28821" y="28765"/>
                  </a:lnTo>
                  <a:lnTo>
                    <a:pt x="7732" y="60007"/>
                  </a:lnTo>
                  <a:lnTo>
                    <a:pt x="0" y="98298"/>
                  </a:lnTo>
                  <a:lnTo>
                    <a:pt x="0" y="491998"/>
                  </a:lnTo>
                  <a:lnTo>
                    <a:pt x="7732" y="530234"/>
                  </a:lnTo>
                  <a:lnTo>
                    <a:pt x="28821" y="561482"/>
                  </a:lnTo>
                  <a:lnTo>
                    <a:pt x="60098" y="582562"/>
                  </a:lnTo>
                  <a:lnTo>
                    <a:pt x="98399" y="590296"/>
                  </a:lnTo>
                  <a:lnTo>
                    <a:pt x="7395489" y="590296"/>
                  </a:lnTo>
                  <a:lnTo>
                    <a:pt x="7433726" y="582562"/>
                  </a:lnTo>
                  <a:lnTo>
                    <a:pt x="7464974" y="561482"/>
                  </a:lnTo>
                  <a:lnTo>
                    <a:pt x="7486054" y="530234"/>
                  </a:lnTo>
                  <a:lnTo>
                    <a:pt x="7493787" y="491998"/>
                  </a:lnTo>
                  <a:lnTo>
                    <a:pt x="7493787" y="98298"/>
                  </a:lnTo>
                  <a:lnTo>
                    <a:pt x="7486054" y="60007"/>
                  </a:lnTo>
                  <a:lnTo>
                    <a:pt x="7464974" y="28765"/>
                  </a:lnTo>
                  <a:lnTo>
                    <a:pt x="7433726" y="7715"/>
                  </a:lnTo>
                  <a:lnTo>
                    <a:pt x="7395489" y="0"/>
                  </a:lnTo>
                  <a:close/>
                </a:path>
              </a:pathLst>
            </a:custGeom>
            <a:solidFill>
              <a:srgbClr val="EB9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55979" y="3299967"/>
              <a:ext cx="7494270" cy="590550"/>
            </a:xfrm>
            <a:custGeom>
              <a:avLst/>
              <a:gdLst/>
              <a:ahLst/>
              <a:cxnLst/>
              <a:rect l="l" t="t" r="r" b="b"/>
              <a:pathLst>
                <a:path w="7494270" h="590550">
                  <a:moveTo>
                    <a:pt x="0" y="98298"/>
                  </a:moveTo>
                  <a:lnTo>
                    <a:pt x="7732" y="60007"/>
                  </a:lnTo>
                  <a:lnTo>
                    <a:pt x="28821" y="28765"/>
                  </a:lnTo>
                  <a:lnTo>
                    <a:pt x="60098" y="7715"/>
                  </a:lnTo>
                  <a:lnTo>
                    <a:pt x="98399" y="0"/>
                  </a:lnTo>
                  <a:lnTo>
                    <a:pt x="7395489" y="0"/>
                  </a:lnTo>
                  <a:lnTo>
                    <a:pt x="7433726" y="7715"/>
                  </a:lnTo>
                  <a:lnTo>
                    <a:pt x="7464974" y="28765"/>
                  </a:lnTo>
                  <a:lnTo>
                    <a:pt x="7486054" y="60007"/>
                  </a:lnTo>
                  <a:lnTo>
                    <a:pt x="7493787" y="98298"/>
                  </a:lnTo>
                  <a:lnTo>
                    <a:pt x="7493787" y="491998"/>
                  </a:lnTo>
                  <a:lnTo>
                    <a:pt x="7486054" y="530234"/>
                  </a:lnTo>
                  <a:lnTo>
                    <a:pt x="7464974" y="561482"/>
                  </a:lnTo>
                  <a:lnTo>
                    <a:pt x="7433726" y="582562"/>
                  </a:lnTo>
                  <a:lnTo>
                    <a:pt x="7395489" y="590296"/>
                  </a:lnTo>
                  <a:lnTo>
                    <a:pt x="98399" y="590296"/>
                  </a:lnTo>
                  <a:lnTo>
                    <a:pt x="60098" y="582562"/>
                  </a:lnTo>
                  <a:lnTo>
                    <a:pt x="28821" y="561482"/>
                  </a:lnTo>
                  <a:lnTo>
                    <a:pt x="7732" y="530234"/>
                  </a:lnTo>
                  <a:lnTo>
                    <a:pt x="0" y="491998"/>
                  </a:lnTo>
                  <a:lnTo>
                    <a:pt x="0" y="98298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339088" y="2161489"/>
            <a:ext cx="8260715" cy="2398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75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solidFill>
                  <a:srgbClr val="FFFFFF"/>
                </a:solidFill>
                <a:latin typeface="Tahoma"/>
                <a:cs typeface="Tahoma"/>
              </a:rPr>
              <a:t>Was</a:t>
            </a:r>
            <a:r>
              <a:rPr sz="20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30" dirty="0">
                <a:solidFill>
                  <a:srgbClr val="FFFFFF"/>
                </a:solidFill>
                <a:latin typeface="Tahoma"/>
                <a:cs typeface="Tahoma"/>
              </a:rPr>
              <a:t>there</a:t>
            </a:r>
            <a:r>
              <a:rPr sz="20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20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clear</a:t>
            </a:r>
            <a:r>
              <a:rPr sz="2000" spc="-1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ahoma"/>
                <a:cs typeface="Tahoma"/>
              </a:rPr>
              <a:t>statement</a:t>
            </a:r>
            <a:r>
              <a:rPr sz="20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20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20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research</a:t>
            </a:r>
            <a:r>
              <a:rPr sz="2000" spc="-1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ahoma"/>
                <a:cs typeface="Tahoma"/>
              </a:rPr>
              <a:t>aims?</a:t>
            </a:r>
            <a:endParaRPr sz="2000">
              <a:latin typeface="Tahoma"/>
              <a:cs typeface="Tahoma"/>
            </a:endParaRPr>
          </a:p>
          <a:p>
            <a:pPr marL="240665" indent="-227965">
              <a:lnSpc>
                <a:spcPct val="100000"/>
              </a:lnSpc>
              <a:spcBef>
                <a:spcPts val="1965"/>
              </a:spcBef>
              <a:buChar char="•"/>
              <a:tabLst>
                <a:tab pos="240665" algn="l"/>
              </a:tabLst>
            </a:pPr>
            <a:r>
              <a:rPr sz="2000" dirty="0">
                <a:latin typeface="Tahoma"/>
                <a:cs typeface="Tahoma"/>
              </a:rPr>
              <a:t>Did</a:t>
            </a:r>
            <a:r>
              <a:rPr sz="2000" spc="-150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the</a:t>
            </a:r>
            <a:r>
              <a:rPr sz="2000" spc="-150" dirty="0">
                <a:latin typeface="Tahoma"/>
                <a:cs typeface="Tahoma"/>
              </a:rPr>
              <a:t> </a:t>
            </a:r>
            <a:r>
              <a:rPr sz="2000" spc="-20" dirty="0">
                <a:latin typeface="Tahoma"/>
                <a:cs typeface="Tahoma"/>
              </a:rPr>
              <a:t>study</a:t>
            </a:r>
            <a:r>
              <a:rPr sz="2000" spc="-14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clearly</a:t>
            </a:r>
            <a:r>
              <a:rPr sz="2000" spc="-185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define</a:t>
            </a:r>
            <a:r>
              <a:rPr sz="2000" spc="-150" dirty="0">
                <a:latin typeface="Tahoma"/>
                <a:cs typeface="Tahoma"/>
              </a:rPr>
              <a:t> </a:t>
            </a:r>
            <a:r>
              <a:rPr sz="2000" spc="-25" dirty="0">
                <a:latin typeface="Tahoma"/>
                <a:cs typeface="Tahoma"/>
              </a:rPr>
              <a:t>what</a:t>
            </a:r>
            <a:r>
              <a:rPr sz="2000" spc="-165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it</a:t>
            </a:r>
            <a:r>
              <a:rPr sz="2000" spc="-14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was</a:t>
            </a:r>
            <a:r>
              <a:rPr sz="2000" spc="-155" dirty="0">
                <a:latin typeface="Tahoma"/>
                <a:cs typeface="Tahoma"/>
              </a:rPr>
              <a:t> </a:t>
            </a:r>
            <a:r>
              <a:rPr sz="2000" spc="-40" dirty="0">
                <a:latin typeface="Tahoma"/>
                <a:cs typeface="Tahoma"/>
              </a:rPr>
              <a:t>investigating</a:t>
            </a:r>
            <a:r>
              <a:rPr sz="2000" spc="-18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and</a:t>
            </a:r>
            <a:r>
              <a:rPr sz="2000" spc="-150" dirty="0">
                <a:latin typeface="Tahoma"/>
                <a:cs typeface="Tahoma"/>
              </a:rPr>
              <a:t> </a:t>
            </a:r>
            <a:r>
              <a:rPr sz="2000" spc="-20" dirty="0">
                <a:latin typeface="Tahoma"/>
                <a:cs typeface="Tahoma"/>
              </a:rPr>
              <a:t>why?</a:t>
            </a:r>
            <a:endParaRPr sz="2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70"/>
              </a:spcBef>
              <a:buFont typeface="Tahoma"/>
              <a:buChar char="•"/>
            </a:pPr>
            <a:endParaRPr sz="2000">
              <a:latin typeface="Tahoma"/>
              <a:cs typeface="Tahoma"/>
            </a:endParaRPr>
          </a:p>
          <a:p>
            <a:pPr marL="28575">
              <a:lnSpc>
                <a:spcPct val="100000"/>
              </a:lnSpc>
            </a:pPr>
            <a:r>
              <a:rPr sz="2000" spc="-80" dirty="0">
                <a:solidFill>
                  <a:srgbClr val="FFFFFF"/>
                </a:solidFill>
                <a:latin typeface="Tahoma"/>
                <a:cs typeface="Tahoma"/>
              </a:rPr>
              <a:t>Is</a:t>
            </a:r>
            <a:r>
              <a:rPr sz="2000" spc="-1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2000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ahoma"/>
                <a:cs typeface="Tahoma"/>
              </a:rPr>
              <a:t>qualitative</a:t>
            </a:r>
            <a:r>
              <a:rPr sz="20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ahoma"/>
                <a:cs typeface="Tahoma"/>
              </a:rPr>
              <a:t>methodology</a:t>
            </a:r>
            <a:r>
              <a:rPr sz="20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ahoma"/>
                <a:cs typeface="Tahoma"/>
              </a:rPr>
              <a:t>appropriate?</a:t>
            </a:r>
            <a:endParaRPr sz="2000">
              <a:latin typeface="Tahoma"/>
              <a:cs typeface="Tahoma"/>
            </a:endParaRPr>
          </a:p>
          <a:p>
            <a:pPr marL="241300" marR="5080" indent="-228600">
              <a:lnSpc>
                <a:spcPts val="2160"/>
              </a:lnSpc>
              <a:spcBef>
                <a:spcPts val="2235"/>
              </a:spcBef>
              <a:buChar char="•"/>
              <a:tabLst>
                <a:tab pos="241300" algn="l"/>
              </a:tabLst>
            </a:pPr>
            <a:r>
              <a:rPr sz="2000" dirty="0">
                <a:latin typeface="Tahoma"/>
                <a:cs typeface="Tahoma"/>
              </a:rPr>
              <a:t>Does</a:t>
            </a:r>
            <a:r>
              <a:rPr sz="2000" spc="-145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the</a:t>
            </a:r>
            <a:r>
              <a:rPr sz="2000" spc="-130" dirty="0">
                <a:latin typeface="Tahoma"/>
                <a:cs typeface="Tahoma"/>
              </a:rPr>
              <a:t> </a:t>
            </a:r>
            <a:r>
              <a:rPr sz="2000" spc="-20" dirty="0">
                <a:latin typeface="Tahoma"/>
                <a:cs typeface="Tahoma"/>
              </a:rPr>
              <a:t>study</a:t>
            </a:r>
            <a:r>
              <a:rPr sz="2000" spc="-13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use</a:t>
            </a:r>
            <a:r>
              <a:rPr sz="2000" spc="-135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qualitative</a:t>
            </a:r>
            <a:r>
              <a:rPr sz="2000" spc="-16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methods</a:t>
            </a:r>
            <a:r>
              <a:rPr sz="2000" spc="-150" dirty="0">
                <a:latin typeface="Tahoma"/>
                <a:cs typeface="Tahoma"/>
              </a:rPr>
              <a:t> </a:t>
            </a:r>
            <a:r>
              <a:rPr sz="2000" spc="-90" dirty="0">
                <a:latin typeface="Tahoma"/>
                <a:cs typeface="Tahoma"/>
              </a:rPr>
              <a:t>(e.g.,</a:t>
            </a:r>
            <a:r>
              <a:rPr sz="2000" spc="-130" dirty="0">
                <a:latin typeface="Tahoma"/>
                <a:cs typeface="Tahoma"/>
              </a:rPr>
              <a:t> </a:t>
            </a:r>
            <a:r>
              <a:rPr sz="2000" spc="-20" dirty="0">
                <a:latin typeface="Tahoma"/>
                <a:cs typeface="Tahoma"/>
              </a:rPr>
              <a:t>interviews,</a:t>
            </a:r>
            <a:r>
              <a:rPr sz="2000" spc="-17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focus</a:t>
            </a:r>
            <a:r>
              <a:rPr sz="2000" spc="-135" dirty="0">
                <a:latin typeface="Tahoma"/>
                <a:cs typeface="Tahoma"/>
              </a:rPr>
              <a:t> </a:t>
            </a:r>
            <a:r>
              <a:rPr sz="2000" spc="-50" dirty="0">
                <a:latin typeface="Tahoma"/>
                <a:cs typeface="Tahoma"/>
              </a:rPr>
              <a:t>groups)</a:t>
            </a:r>
            <a:r>
              <a:rPr sz="2000" spc="-145" dirty="0">
                <a:latin typeface="Tahoma"/>
                <a:cs typeface="Tahoma"/>
              </a:rPr>
              <a:t> </a:t>
            </a:r>
            <a:r>
              <a:rPr sz="2000" spc="-25" dirty="0">
                <a:latin typeface="Tahoma"/>
                <a:cs typeface="Tahoma"/>
              </a:rPr>
              <a:t>to explore</a:t>
            </a:r>
            <a:r>
              <a:rPr sz="2000" spc="-170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lived</a:t>
            </a:r>
            <a:r>
              <a:rPr sz="2000" spc="-18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experiences</a:t>
            </a:r>
            <a:r>
              <a:rPr sz="2000" spc="-17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and</a:t>
            </a:r>
            <a:r>
              <a:rPr sz="2000" spc="-155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perceptions?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11175" y="4827523"/>
            <a:ext cx="10724515" cy="1448435"/>
            <a:chOff x="511175" y="4827523"/>
            <a:chExt cx="10724515" cy="1448435"/>
          </a:xfrm>
        </p:grpSpPr>
        <p:sp>
          <p:nvSpPr>
            <p:cNvPr id="14" name="object 14"/>
            <p:cNvSpPr/>
            <p:nvPr/>
          </p:nvSpPr>
          <p:spPr>
            <a:xfrm>
              <a:off x="520700" y="5132311"/>
              <a:ext cx="10705465" cy="1134110"/>
            </a:xfrm>
            <a:custGeom>
              <a:avLst/>
              <a:gdLst/>
              <a:ahLst/>
              <a:cxnLst/>
              <a:rect l="l" t="t" r="r" b="b"/>
              <a:pathLst>
                <a:path w="10705465" h="1134110">
                  <a:moveTo>
                    <a:pt x="0" y="1133995"/>
                  </a:moveTo>
                  <a:lnTo>
                    <a:pt x="10705465" y="1133995"/>
                  </a:lnTo>
                  <a:lnTo>
                    <a:pt x="10705465" y="0"/>
                  </a:lnTo>
                  <a:lnTo>
                    <a:pt x="0" y="0"/>
                  </a:lnTo>
                  <a:lnTo>
                    <a:pt x="0" y="1133995"/>
                  </a:lnTo>
                  <a:close/>
                </a:path>
              </a:pathLst>
            </a:custGeom>
            <a:ln w="19050">
              <a:solidFill>
                <a:srgbClr val="EB9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055979" y="4837048"/>
              <a:ext cx="7494270" cy="590550"/>
            </a:xfrm>
            <a:custGeom>
              <a:avLst/>
              <a:gdLst/>
              <a:ahLst/>
              <a:cxnLst/>
              <a:rect l="l" t="t" r="r" b="b"/>
              <a:pathLst>
                <a:path w="7494270" h="590550">
                  <a:moveTo>
                    <a:pt x="7395489" y="0"/>
                  </a:moveTo>
                  <a:lnTo>
                    <a:pt x="98399" y="0"/>
                  </a:lnTo>
                  <a:lnTo>
                    <a:pt x="60098" y="7735"/>
                  </a:lnTo>
                  <a:lnTo>
                    <a:pt x="28821" y="28829"/>
                  </a:lnTo>
                  <a:lnTo>
                    <a:pt x="7732" y="60114"/>
                  </a:lnTo>
                  <a:lnTo>
                    <a:pt x="0" y="98425"/>
                  </a:lnTo>
                  <a:lnTo>
                    <a:pt x="0" y="491997"/>
                  </a:lnTo>
                  <a:lnTo>
                    <a:pt x="7732" y="530308"/>
                  </a:lnTo>
                  <a:lnTo>
                    <a:pt x="28821" y="561594"/>
                  </a:lnTo>
                  <a:lnTo>
                    <a:pt x="60098" y="582687"/>
                  </a:lnTo>
                  <a:lnTo>
                    <a:pt x="98399" y="590422"/>
                  </a:lnTo>
                  <a:lnTo>
                    <a:pt x="7395489" y="590422"/>
                  </a:lnTo>
                  <a:lnTo>
                    <a:pt x="7433726" y="582687"/>
                  </a:lnTo>
                  <a:lnTo>
                    <a:pt x="7464974" y="561594"/>
                  </a:lnTo>
                  <a:lnTo>
                    <a:pt x="7486054" y="530308"/>
                  </a:lnTo>
                  <a:lnTo>
                    <a:pt x="7493787" y="491997"/>
                  </a:lnTo>
                  <a:lnTo>
                    <a:pt x="7493787" y="98425"/>
                  </a:lnTo>
                  <a:lnTo>
                    <a:pt x="7486054" y="60114"/>
                  </a:lnTo>
                  <a:lnTo>
                    <a:pt x="7464974" y="28828"/>
                  </a:lnTo>
                  <a:lnTo>
                    <a:pt x="7433726" y="7735"/>
                  </a:lnTo>
                  <a:lnTo>
                    <a:pt x="7395489" y="0"/>
                  </a:lnTo>
                  <a:close/>
                </a:path>
              </a:pathLst>
            </a:custGeom>
            <a:solidFill>
              <a:srgbClr val="EB9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055979" y="4837048"/>
              <a:ext cx="7494270" cy="590550"/>
            </a:xfrm>
            <a:custGeom>
              <a:avLst/>
              <a:gdLst/>
              <a:ahLst/>
              <a:cxnLst/>
              <a:rect l="l" t="t" r="r" b="b"/>
              <a:pathLst>
                <a:path w="7494270" h="590550">
                  <a:moveTo>
                    <a:pt x="0" y="98425"/>
                  </a:moveTo>
                  <a:lnTo>
                    <a:pt x="7732" y="60114"/>
                  </a:lnTo>
                  <a:lnTo>
                    <a:pt x="28821" y="28829"/>
                  </a:lnTo>
                  <a:lnTo>
                    <a:pt x="60098" y="7735"/>
                  </a:lnTo>
                  <a:lnTo>
                    <a:pt x="98399" y="0"/>
                  </a:lnTo>
                  <a:lnTo>
                    <a:pt x="7395489" y="0"/>
                  </a:lnTo>
                  <a:lnTo>
                    <a:pt x="7433726" y="7735"/>
                  </a:lnTo>
                  <a:lnTo>
                    <a:pt x="7464974" y="28828"/>
                  </a:lnTo>
                  <a:lnTo>
                    <a:pt x="7486054" y="60114"/>
                  </a:lnTo>
                  <a:lnTo>
                    <a:pt x="7493787" y="98425"/>
                  </a:lnTo>
                  <a:lnTo>
                    <a:pt x="7493787" y="491997"/>
                  </a:lnTo>
                  <a:lnTo>
                    <a:pt x="7486054" y="530308"/>
                  </a:lnTo>
                  <a:lnTo>
                    <a:pt x="7464974" y="561594"/>
                  </a:lnTo>
                  <a:lnTo>
                    <a:pt x="7433726" y="582687"/>
                  </a:lnTo>
                  <a:lnTo>
                    <a:pt x="7395489" y="590422"/>
                  </a:lnTo>
                  <a:lnTo>
                    <a:pt x="98399" y="590422"/>
                  </a:lnTo>
                  <a:lnTo>
                    <a:pt x="60098" y="582687"/>
                  </a:lnTo>
                  <a:lnTo>
                    <a:pt x="28821" y="561594"/>
                  </a:lnTo>
                  <a:lnTo>
                    <a:pt x="7732" y="530308"/>
                  </a:lnTo>
                  <a:lnTo>
                    <a:pt x="0" y="491997"/>
                  </a:lnTo>
                  <a:lnTo>
                    <a:pt x="0" y="98425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339088" y="4937201"/>
            <a:ext cx="8223884" cy="11601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75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solidFill>
                  <a:srgbClr val="FFFFFF"/>
                </a:solidFill>
                <a:latin typeface="Tahoma"/>
                <a:cs typeface="Tahoma"/>
              </a:rPr>
              <a:t>Was</a:t>
            </a:r>
            <a:r>
              <a:rPr sz="20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2000" spc="-1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research</a:t>
            </a:r>
            <a:r>
              <a:rPr sz="20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ahoma"/>
                <a:cs typeface="Tahoma"/>
              </a:rPr>
              <a:t>design</a:t>
            </a:r>
            <a:r>
              <a:rPr sz="20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ahoma"/>
                <a:cs typeface="Tahoma"/>
              </a:rPr>
              <a:t>appropriate?</a:t>
            </a:r>
            <a:endParaRPr sz="2000">
              <a:latin typeface="Tahoma"/>
              <a:cs typeface="Tahoma"/>
            </a:endParaRPr>
          </a:p>
          <a:p>
            <a:pPr marL="240665" indent="-227965">
              <a:lnSpc>
                <a:spcPts val="2280"/>
              </a:lnSpc>
              <a:spcBef>
                <a:spcPts val="1965"/>
              </a:spcBef>
              <a:buChar char="•"/>
              <a:tabLst>
                <a:tab pos="240665" algn="l"/>
              </a:tabLst>
            </a:pPr>
            <a:r>
              <a:rPr sz="2000" spc="-10" dirty="0">
                <a:latin typeface="Tahoma"/>
                <a:cs typeface="Tahoma"/>
              </a:rPr>
              <a:t>Was</a:t>
            </a:r>
            <a:r>
              <a:rPr sz="2000" spc="-135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the</a:t>
            </a:r>
            <a:r>
              <a:rPr sz="2000" spc="-12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chosen</a:t>
            </a:r>
            <a:r>
              <a:rPr sz="2000" spc="-14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method</a:t>
            </a:r>
            <a:r>
              <a:rPr sz="2000" spc="-140" dirty="0">
                <a:latin typeface="Tahoma"/>
                <a:cs typeface="Tahoma"/>
              </a:rPr>
              <a:t> </a:t>
            </a:r>
            <a:r>
              <a:rPr sz="2000" spc="-90" dirty="0">
                <a:latin typeface="Tahoma"/>
                <a:cs typeface="Tahoma"/>
              </a:rPr>
              <a:t>(e.g.,</a:t>
            </a:r>
            <a:r>
              <a:rPr sz="2000" spc="-135" dirty="0">
                <a:latin typeface="Tahoma"/>
                <a:cs typeface="Tahoma"/>
              </a:rPr>
              <a:t> </a:t>
            </a:r>
            <a:r>
              <a:rPr sz="2000" spc="-55" dirty="0">
                <a:latin typeface="Tahoma"/>
                <a:cs typeface="Tahoma"/>
              </a:rPr>
              <a:t>ethnography,</a:t>
            </a:r>
            <a:r>
              <a:rPr sz="2000" spc="-14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case</a:t>
            </a:r>
            <a:r>
              <a:rPr sz="2000" spc="-145" dirty="0">
                <a:latin typeface="Tahoma"/>
                <a:cs typeface="Tahoma"/>
              </a:rPr>
              <a:t> </a:t>
            </a:r>
            <a:r>
              <a:rPr sz="2000" spc="-45" dirty="0">
                <a:latin typeface="Tahoma"/>
                <a:cs typeface="Tahoma"/>
              </a:rPr>
              <a:t>study,</a:t>
            </a:r>
            <a:r>
              <a:rPr sz="2000" spc="-125" dirty="0">
                <a:latin typeface="Tahoma"/>
                <a:cs typeface="Tahoma"/>
              </a:rPr>
              <a:t> </a:t>
            </a:r>
            <a:r>
              <a:rPr sz="2000" spc="-30" dirty="0">
                <a:latin typeface="Tahoma"/>
                <a:cs typeface="Tahoma"/>
              </a:rPr>
              <a:t>grounded</a:t>
            </a:r>
            <a:r>
              <a:rPr sz="2000" spc="-140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theory)</a:t>
            </a:r>
            <a:endParaRPr sz="2000">
              <a:latin typeface="Tahoma"/>
              <a:cs typeface="Tahoma"/>
            </a:endParaRPr>
          </a:p>
          <a:p>
            <a:pPr marL="241300">
              <a:lnSpc>
                <a:spcPts val="2280"/>
              </a:lnSpc>
            </a:pPr>
            <a:r>
              <a:rPr sz="2000" dirty="0">
                <a:latin typeface="Tahoma"/>
                <a:cs typeface="Tahoma"/>
              </a:rPr>
              <a:t>suitable</a:t>
            </a:r>
            <a:r>
              <a:rPr sz="2000" spc="-175" dirty="0">
                <a:latin typeface="Tahoma"/>
                <a:cs typeface="Tahoma"/>
              </a:rPr>
              <a:t> </a:t>
            </a:r>
            <a:r>
              <a:rPr sz="2000" spc="-40" dirty="0">
                <a:latin typeface="Tahoma"/>
                <a:cs typeface="Tahoma"/>
              </a:rPr>
              <a:t>for</a:t>
            </a:r>
            <a:r>
              <a:rPr sz="2000" spc="-140" dirty="0">
                <a:latin typeface="Tahoma"/>
                <a:cs typeface="Tahoma"/>
              </a:rPr>
              <a:t> </a:t>
            </a:r>
            <a:r>
              <a:rPr sz="2000" spc="-30" dirty="0">
                <a:latin typeface="Tahoma"/>
                <a:cs typeface="Tahoma"/>
              </a:rPr>
              <a:t>answering</a:t>
            </a:r>
            <a:r>
              <a:rPr sz="2000" spc="-175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the</a:t>
            </a:r>
            <a:r>
              <a:rPr sz="2000" spc="-15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research</a:t>
            </a:r>
            <a:r>
              <a:rPr sz="2000" spc="-165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question?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17867" y="508076"/>
            <a:ext cx="8732520" cy="149860"/>
          </a:xfrm>
          <a:custGeom>
            <a:avLst/>
            <a:gdLst/>
            <a:ahLst/>
            <a:cxnLst/>
            <a:rect l="l" t="t" r="r" b="b"/>
            <a:pathLst>
              <a:path w="8732520" h="149859">
                <a:moveTo>
                  <a:pt x="8732520" y="0"/>
                </a:moveTo>
                <a:lnTo>
                  <a:pt x="0" y="0"/>
                </a:lnTo>
                <a:lnTo>
                  <a:pt x="0" y="149275"/>
                </a:lnTo>
                <a:lnTo>
                  <a:pt x="8732520" y="149275"/>
                </a:lnTo>
                <a:lnTo>
                  <a:pt x="873252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99948" y="977849"/>
            <a:ext cx="8169909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90" dirty="0"/>
              <a:t>CASP</a:t>
            </a:r>
            <a:r>
              <a:rPr spc="-145" dirty="0"/>
              <a:t> </a:t>
            </a:r>
            <a:r>
              <a:rPr spc="-65" dirty="0"/>
              <a:t>Section</a:t>
            </a:r>
            <a:r>
              <a:rPr spc="-185" dirty="0"/>
              <a:t> </a:t>
            </a:r>
            <a:r>
              <a:rPr spc="-290" dirty="0"/>
              <a:t>A:</a:t>
            </a:r>
            <a:r>
              <a:rPr spc="-114" dirty="0"/>
              <a:t> </a:t>
            </a:r>
            <a:r>
              <a:rPr spc="-120" dirty="0"/>
              <a:t>Research</a:t>
            </a:r>
            <a:r>
              <a:rPr spc="-135" dirty="0"/>
              <a:t> </a:t>
            </a:r>
            <a:r>
              <a:rPr spc="-90" dirty="0"/>
              <a:t>Aims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99948" y="2022507"/>
            <a:ext cx="9737725" cy="406463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227965" marR="4415155" indent="-227965" algn="r">
              <a:lnSpc>
                <a:spcPct val="100000"/>
              </a:lnSpc>
              <a:spcBef>
                <a:spcPts val="695"/>
              </a:spcBef>
              <a:buFont typeface="Arial MT"/>
              <a:buChar char="•"/>
              <a:tabLst>
                <a:tab pos="227965" algn="l"/>
              </a:tabLst>
            </a:pPr>
            <a:r>
              <a:rPr sz="2200" spc="-25" dirty="0">
                <a:latin typeface="Tahoma"/>
                <a:cs typeface="Tahoma"/>
              </a:rPr>
              <a:t>Was</a:t>
            </a:r>
            <a:r>
              <a:rPr sz="2200" spc="-170" dirty="0">
                <a:latin typeface="Tahoma"/>
                <a:cs typeface="Tahoma"/>
              </a:rPr>
              <a:t> </a:t>
            </a:r>
            <a:r>
              <a:rPr sz="2200" spc="-30" dirty="0">
                <a:latin typeface="Tahoma"/>
                <a:cs typeface="Tahoma"/>
              </a:rPr>
              <a:t>the</a:t>
            </a:r>
            <a:r>
              <a:rPr sz="2200" spc="-170" dirty="0">
                <a:latin typeface="Tahoma"/>
                <a:cs typeface="Tahoma"/>
              </a:rPr>
              <a:t> </a:t>
            </a:r>
            <a:r>
              <a:rPr sz="2200" spc="-10" dirty="0">
                <a:latin typeface="Tahoma"/>
                <a:cs typeface="Tahoma"/>
              </a:rPr>
              <a:t>recruitment</a:t>
            </a:r>
            <a:r>
              <a:rPr sz="2200" spc="-135" dirty="0">
                <a:latin typeface="Tahoma"/>
                <a:cs typeface="Tahoma"/>
              </a:rPr>
              <a:t> </a:t>
            </a:r>
            <a:r>
              <a:rPr sz="2200" spc="-60" dirty="0">
                <a:latin typeface="Tahoma"/>
                <a:cs typeface="Tahoma"/>
              </a:rPr>
              <a:t>strategy</a:t>
            </a:r>
            <a:r>
              <a:rPr sz="2200" spc="-140" dirty="0">
                <a:latin typeface="Tahoma"/>
                <a:cs typeface="Tahoma"/>
              </a:rPr>
              <a:t> </a:t>
            </a:r>
            <a:r>
              <a:rPr sz="2200" spc="-10" dirty="0">
                <a:latin typeface="Tahoma"/>
                <a:cs typeface="Tahoma"/>
              </a:rPr>
              <a:t>appropriate?</a:t>
            </a:r>
            <a:endParaRPr sz="2200">
              <a:latin typeface="Tahoma"/>
              <a:cs typeface="Tahoma"/>
            </a:endParaRPr>
          </a:p>
          <a:p>
            <a:pPr marL="227965" marR="4434840" lvl="1" indent="-227965" algn="r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227965" algn="l"/>
              </a:tabLst>
            </a:pPr>
            <a:r>
              <a:rPr sz="2200" spc="-50" dirty="0">
                <a:latin typeface="Tahoma"/>
                <a:cs typeface="Tahoma"/>
              </a:rPr>
              <a:t>Were</a:t>
            </a:r>
            <a:r>
              <a:rPr sz="2200" spc="-140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participants</a:t>
            </a:r>
            <a:r>
              <a:rPr sz="2200" spc="-80" dirty="0">
                <a:latin typeface="Tahoma"/>
                <a:cs typeface="Tahoma"/>
              </a:rPr>
              <a:t> </a:t>
            </a:r>
            <a:r>
              <a:rPr sz="2200" spc="-30" dirty="0">
                <a:latin typeface="Tahoma"/>
                <a:cs typeface="Tahoma"/>
              </a:rPr>
              <a:t>relevant</a:t>
            </a:r>
            <a:r>
              <a:rPr sz="2200" spc="-110" dirty="0">
                <a:latin typeface="Tahoma"/>
                <a:cs typeface="Tahoma"/>
              </a:rPr>
              <a:t> </a:t>
            </a:r>
            <a:r>
              <a:rPr sz="2200" spc="-25" dirty="0">
                <a:latin typeface="Tahoma"/>
                <a:cs typeface="Tahoma"/>
              </a:rPr>
              <a:t>to</a:t>
            </a:r>
            <a:r>
              <a:rPr sz="2200" spc="-145" dirty="0">
                <a:latin typeface="Tahoma"/>
                <a:cs typeface="Tahoma"/>
              </a:rPr>
              <a:t> </a:t>
            </a:r>
            <a:r>
              <a:rPr sz="2200" spc="-30" dirty="0">
                <a:latin typeface="Tahoma"/>
                <a:cs typeface="Tahoma"/>
              </a:rPr>
              <a:t>the</a:t>
            </a:r>
            <a:r>
              <a:rPr sz="2200" spc="-140" dirty="0">
                <a:latin typeface="Tahoma"/>
                <a:cs typeface="Tahoma"/>
              </a:rPr>
              <a:t> </a:t>
            </a:r>
            <a:r>
              <a:rPr sz="2200" spc="-10" dirty="0">
                <a:latin typeface="Tahoma"/>
                <a:cs typeface="Tahoma"/>
              </a:rPr>
              <a:t>study?</a:t>
            </a:r>
            <a:endParaRPr sz="2200">
              <a:latin typeface="Tahoma"/>
              <a:cs typeface="Tahoma"/>
            </a:endParaRPr>
          </a:p>
          <a:p>
            <a:pPr marL="469265" lvl="1" indent="-228600">
              <a:lnSpc>
                <a:spcPct val="100000"/>
              </a:lnSpc>
              <a:spcBef>
                <a:spcPts val="605"/>
              </a:spcBef>
              <a:buFont typeface="Arial MT"/>
              <a:buChar char="•"/>
              <a:tabLst>
                <a:tab pos="469265" algn="l"/>
              </a:tabLst>
            </a:pPr>
            <a:r>
              <a:rPr sz="2200" spc="-55" dirty="0">
                <a:latin typeface="Tahoma"/>
                <a:cs typeface="Tahoma"/>
              </a:rPr>
              <a:t>Were</a:t>
            </a:r>
            <a:r>
              <a:rPr sz="2200" spc="-140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inclusion/exclusion</a:t>
            </a:r>
            <a:r>
              <a:rPr sz="2200" spc="-95" dirty="0">
                <a:latin typeface="Tahoma"/>
                <a:cs typeface="Tahoma"/>
              </a:rPr>
              <a:t> </a:t>
            </a:r>
            <a:r>
              <a:rPr sz="2200" spc="-10" dirty="0">
                <a:latin typeface="Tahoma"/>
                <a:cs typeface="Tahoma"/>
              </a:rPr>
              <a:t>criteria</a:t>
            </a:r>
            <a:r>
              <a:rPr sz="2200" spc="-105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well</a:t>
            </a:r>
            <a:r>
              <a:rPr sz="2200" spc="-145" dirty="0">
                <a:latin typeface="Tahoma"/>
                <a:cs typeface="Tahoma"/>
              </a:rPr>
              <a:t> </a:t>
            </a:r>
            <a:r>
              <a:rPr sz="2200" spc="-10" dirty="0">
                <a:latin typeface="Tahoma"/>
                <a:cs typeface="Tahoma"/>
              </a:rPr>
              <a:t>defined?</a:t>
            </a:r>
            <a:endParaRPr sz="2200">
              <a:latin typeface="Tahoma"/>
              <a:cs typeface="Tahoma"/>
            </a:endParaRPr>
          </a:p>
          <a:p>
            <a:pPr marL="240665" indent="-22796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spc="-25" dirty="0">
                <a:latin typeface="Tahoma"/>
                <a:cs typeface="Tahoma"/>
              </a:rPr>
              <a:t>Was</a:t>
            </a:r>
            <a:r>
              <a:rPr sz="2200" spc="-145" dirty="0">
                <a:latin typeface="Tahoma"/>
                <a:cs typeface="Tahoma"/>
              </a:rPr>
              <a:t> </a:t>
            </a:r>
            <a:r>
              <a:rPr sz="2200" spc="-30" dirty="0">
                <a:latin typeface="Tahoma"/>
                <a:cs typeface="Tahoma"/>
              </a:rPr>
              <a:t>the</a:t>
            </a:r>
            <a:r>
              <a:rPr sz="2200" spc="-145" dirty="0">
                <a:latin typeface="Tahoma"/>
                <a:cs typeface="Tahoma"/>
              </a:rPr>
              <a:t> </a:t>
            </a:r>
            <a:r>
              <a:rPr sz="2200" spc="-10" dirty="0">
                <a:latin typeface="Tahoma"/>
                <a:cs typeface="Tahoma"/>
              </a:rPr>
              <a:t>data</a:t>
            </a:r>
            <a:r>
              <a:rPr sz="2200" spc="-130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collected</a:t>
            </a:r>
            <a:r>
              <a:rPr sz="2200" spc="-100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in</a:t>
            </a:r>
            <a:r>
              <a:rPr sz="2200" spc="-160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a</a:t>
            </a:r>
            <a:r>
              <a:rPr sz="2200" spc="-135" dirty="0">
                <a:latin typeface="Tahoma"/>
                <a:cs typeface="Tahoma"/>
              </a:rPr>
              <a:t> </a:t>
            </a:r>
            <a:r>
              <a:rPr sz="2200" spc="-65" dirty="0">
                <a:latin typeface="Tahoma"/>
                <a:cs typeface="Tahoma"/>
              </a:rPr>
              <a:t>way</a:t>
            </a:r>
            <a:r>
              <a:rPr sz="2200" spc="-140" dirty="0">
                <a:latin typeface="Tahoma"/>
                <a:cs typeface="Tahoma"/>
              </a:rPr>
              <a:t> </a:t>
            </a:r>
            <a:r>
              <a:rPr sz="2200" spc="-30" dirty="0">
                <a:latin typeface="Tahoma"/>
                <a:cs typeface="Tahoma"/>
              </a:rPr>
              <a:t>that</a:t>
            </a:r>
            <a:r>
              <a:rPr sz="2200" spc="-125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addressed</a:t>
            </a:r>
            <a:r>
              <a:rPr sz="2200" spc="-100" dirty="0">
                <a:latin typeface="Tahoma"/>
                <a:cs typeface="Tahoma"/>
              </a:rPr>
              <a:t> </a:t>
            </a:r>
            <a:r>
              <a:rPr sz="2200" spc="-30" dirty="0">
                <a:latin typeface="Tahoma"/>
                <a:cs typeface="Tahoma"/>
              </a:rPr>
              <a:t>the</a:t>
            </a:r>
            <a:r>
              <a:rPr sz="2200" spc="-160" dirty="0">
                <a:latin typeface="Tahoma"/>
                <a:cs typeface="Tahoma"/>
              </a:rPr>
              <a:t> </a:t>
            </a:r>
            <a:r>
              <a:rPr sz="2200" spc="-10" dirty="0">
                <a:latin typeface="Tahoma"/>
                <a:cs typeface="Tahoma"/>
              </a:rPr>
              <a:t>research</a:t>
            </a:r>
            <a:r>
              <a:rPr sz="2200" spc="-100" dirty="0">
                <a:latin typeface="Tahoma"/>
                <a:cs typeface="Tahoma"/>
              </a:rPr>
              <a:t> </a:t>
            </a:r>
            <a:r>
              <a:rPr sz="2200" spc="-10" dirty="0">
                <a:latin typeface="Tahoma"/>
                <a:cs typeface="Tahoma"/>
              </a:rPr>
              <a:t>issue?</a:t>
            </a:r>
            <a:endParaRPr sz="2200">
              <a:latin typeface="Tahoma"/>
              <a:cs typeface="Tahoma"/>
            </a:endParaRPr>
          </a:p>
          <a:p>
            <a:pPr marL="469265" lvl="1" indent="-228600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469265" algn="l"/>
              </a:tabLst>
            </a:pPr>
            <a:r>
              <a:rPr sz="2200" spc="-50" dirty="0">
                <a:latin typeface="Tahoma"/>
                <a:cs typeface="Tahoma"/>
              </a:rPr>
              <a:t>Were</a:t>
            </a:r>
            <a:r>
              <a:rPr sz="2200" spc="-145" dirty="0">
                <a:latin typeface="Tahoma"/>
                <a:cs typeface="Tahoma"/>
              </a:rPr>
              <a:t> </a:t>
            </a:r>
            <a:r>
              <a:rPr sz="2200" spc="-30" dirty="0">
                <a:latin typeface="Tahoma"/>
                <a:cs typeface="Tahoma"/>
              </a:rPr>
              <a:t>interviews,</a:t>
            </a:r>
            <a:r>
              <a:rPr sz="2200" spc="-95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focus</a:t>
            </a:r>
            <a:r>
              <a:rPr sz="2200" spc="-125" dirty="0">
                <a:latin typeface="Tahoma"/>
                <a:cs typeface="Tahoma"/>
              </a:rPr>
              <a:t> </a:t>
            </a:r>
            <a:r>
              <a:rPr sz="2200" spc="-35" dirty="0">
                <a:latin typeface="Tahoma"/>
                <a:cs typeface="Tahoma"/>
              </a:rPr>
              <a:t>groups,</a:t>
            </a:r>
            <a:r>
              <a:rPr sz="2200" spc="-145" dirty="0">
                <a:latin typeface="Tahoma"/>
                <a:cs typeface="Tahoma"/>
              </a:rPr>
              <a:t> </a:t>
            </a:r>
            <a:r>
              <a:rPr sz="2200" spc="-25" dirty="0">
                <a:latin typeface="Tahoma"/>
                <a:cs typeface="Tahoma"/>
              </a:rPr>
              <a:t>or</a:t>
            </a:r>
            <a:r>
              <a:rPr sz="2200" spc="-150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observations</a:t>
            </a:r>
            <a:r>
              <a:rPr sz="2200" spc="-65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conducted</a:t>
            </a:r>
            <a:r>
              <a:rPr sz="2200" spc="-95" dirty="0">
                <a:latin typeface="Tahoma"/>
                <a:cs typeface="Tahoma"/>
              </a:rPr>
              <a:t> </a:t>
            </a:r>
            <a:r>
              <a:rPr sz="2200" spc="-10" dirty="0">
                <a:latin typeface="Tahoma"/>
                <a:cs typeface="Tahoma"/>
              </a:rPr>
              <a:t>rigorously?</a:t>
            </a:r>
            <a:endParaRPr sz="2200">
              <a:latin typeface="Tahoma"/>
              <a:cs typeface="Tahoma"/>
            </a:endParaRPr>
          </a:p>
          <a:p>
            <a:pPr marL="469265" lvl="1" indent="-228600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469265" algn="l"/>
              </a:tabLst>
            </a:pPr>
            <a:r>
              <a:rPr sz="2200" spc="-55" dirty="0">
                <a:latin typeface="Tahoma"/>
                <a:cs typeface="Tahoma"/>
              </a:rPr>
              <a:t>Were</a:t>
            </a:r>
            <a:r>
              <a:rPr sz="2200" spc="-65" dirty="0">
                <a:latin typeface="Tahoma"/>
                <a:cs typeface="Tahoma"/>
              </a:rPr>
              <a:t> </a:t>
            </a:r>
            <a:r>
              <a:rPr sz="2200" spc="-10" dirty="0">
                <a:latin typeface="Tahoma"/>
                <a:cs typeface="Tahoma"/>
              </a:rPr>
              <a:t>data</a:t>
            </a:r>
            <a:r>
              <a:rPr sz="2200" spc="-45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collection</a:t>
            </a:r>
            <a:r>
              <a:rPr sz="2200" spc="-25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methods</a:t>
            </a:r>
            <a:r>
              <a:rPr sz="2200" spc="-35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clearly</a:t>
            </a:r>
            <a:r>
              <a:rPr sz="2200" spc="-40" dirty="0">
                <a:latin typeface="Tahoma"/>
                <a:cs typeface="Tahoma"/>
              </a:rPr>
              <a:t> </a:t>
            </a:r>
            <a:r>
              <a:rPr sz="2200" spc="-10" dirty="0">
                <a:latin typeface="Tahoma"/>
                <a:cs typeface="Tahoma"/>
              </a:rPr>
              <a:t>explained?</a:t>
            </a:r>
            <a:endParaRPr sz="2200">
              <a:latin typeface="Tahoma"/>
              <a:cs typeface="Tahoma"/>
            </a:endParaRPr>
          </a:p>
          <a:p>
            <a:pPr marL="12700" marR="5080" indent="22796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dirty="0">
                <a:latin typeface="Tahoma"/>
                <a:cs typeface="Tahoma"/>
              </a:rPr>
              <a:t>Has</a:t>
            </a:r>
            <a:r>
              <a:rPr sz="2200" spc="-135" dirty="0">
                <a:latin typeface="Tahoma"/>
                <a:cs typeface="Tahoma"/>
              </a:rPr>
              <a:t> </a:t>
            </a:r>
            <a:r>
              <a:rPr sz="2200" spc="-30" dirty="0">
                <a:latin typeface="Tahoma"/>
                <a:cs typeface="Tahoma"/>
              </a:rPr>
              <a:t>the</a:t>
            </a:r>
            <a:r>
              <a:rPr sz="2200" spc="-150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relationship</a:t>
            </a:r>
            <a:r>
              <a:rPr sz="2200" spc="-110" dirty="0">
                <a:latin typeface="Tahoma"/>
                <a:cs typeface="Tahoma"/>
              </a:rPr>
              <a:t> </a:t>
            </a:r>
            <a:r>
              <a:rPr sz="2200" spc="-25" dirty="0">
                <a:latin typeface="Tahoma"/>
                <a:cs typeface="Tahoma"/>
              </a:rPr>
              <a:t>between</a:t>
            </a:r>
            <a:r>
              <a:rPr sz="2200" spc="-135" dirty="0">
                <a:latin typeface="Tahoma"/>
                <a:cs typeface="Tahoma"/>
              </a:rPr>
              <a:t> </a:t>
            </a:r>
            <a:r>
              <a:rPr sz="2200" spc="-30" dirty="0">
                <a:latin typeface="Tahoma"/>
                <a:cs typeface="Tahoma"/>
              </a:rPr>
              <a:t>the</a:t>
            </a:r>
            <a:r>
              <a:rPr sz="2200" spc="-150" dirty="0">
                <a:latin typeface="Tahoma"/>
                <a:cs typeface="Tahoma"/>
              </a:rPr>
              <a:t> </a:t>
            </a:r>
            <a:r>
              <a:rPr sz="2200" spc="-10" dirty="0">
                <a:latin typeface="Tahoma"/>
                <a:cs typeface="Tahoma"/>
              </a:rPr>
              <a:t>researcher</a:t>
            </a:r>
            <a:r>
              <a:rPr sz="2200" spc="-95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and</a:t>
            </a:r>
            <a:r>
              <a:rPr sz="2200" spc="-145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participants</a:t>
            </a:r>
            <a:r>
              <a:rPr sz="2200" spc="-105" dirty="0">
                <a:latin typeface="Tahoma"/>
                <a:cs typeface="Tahoma"/>
              </a:rPr>
              <a:t> </a:t>
            </a:r>
            <a:r>
              <a:rPr sz="2200" spc="-20" dirty="0">
                <a:latin typeface="Tahoma"/>
                <a:cs typeface="Tahoma"/>
              </a:rPr>
              <a:t>been</a:t>
            </a:r>
            <a:r>
              <a:rPr sz="2200" spc="-135" dirty="0">
                <a:latin typeface="Tahoma"/>
                <a:cs typeface="Tahoma"/>
              </a:rPr>
              <a:t> </a:t>
            </a:r>
            <a:r>
              <a:rPr sz="2200" spc="-10" dirty="0">
                <a:latin typeface="Tahoma"/>
                <a:cs typeface="Tahoma"/>
              </a:rPr>
              <a:t>adequately considered?</a:t>
            </a:r>
            <a:endParaRPr sz="2200">
              <a:latin typeface="Tahoma"/>
              <a:cs typeface="Tahoma"/>
            </a:endParaRPr>
          </a:p>
          <a:p>
            <a:pPr marL="469265" lvl="1" indent="-228600">
              <a:lnSpc>
                <a:spcPct val="100000"/>
              </a:lnSpc>
              <a:spcBef>
                <a:spcPts val="605"/>
              </a:spcBef>
              <a:buFont typeface="Arial MT"/>
              <a:buChar char="•"/>
              <a:tabLst>
                <a:tab pos="469265" algn="l"/>
              </a:tabLst>
            </a:pPr>
            <a:r>
              <a:rPr sz="2200" spc="-55" dirty="0">
                <a:latin typeface="Tahoma"/>
                <a:cs typeface="Tahoma"/>
              </a:rPr>
              <a:t>Were</a:t>
            </a:r>
            <a:r>
              <a:rPr sz="2200" spc="-114" dirty="0">
                <a:latin typeface="Tahoma"/>
                <a:cs typeface="Tahoma"/>
              </a:rPr>
              <a:t> </a:t>
            </a:r>
            <a:r>
              <a:rPr sz="2200" spc="-10" dirty="0">
                <a:latin typeface="Tahoma"/>
                <a:cs typeface="Tahoma"/>
              </a:rPr>
              <a:t>researcher</a:t>
            </a:r>
            <a:r>
              <a:rPr sz="2200" spc="-65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biases</a:t>
            </a:r>
            <a:r>
              <a:rPr sz="2200" spc="-95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and</a:t>
            </a:r>
            <a:r>
              <a:rPr sz="2200" spc="-105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influences</a:t>
            </a:r>
            <a:r>
              <a:rPr sz="2200" spc="-85" dirty="0">
                <a:latin typeface="Tahoma"/>
                <a:cs typeface="Tahoma"/>
              </a:rPr>
              <a:t> </a:t>
            </a:r>
            <a:r>
              <a:rPr sz="2200" spc="-10" dirty="0">
                <a:latin typeface="Tahoma"/>
                <a:cs typeface="Tahoma"/>
              </a:rPr>
              <a:t>acknowledged?</a:t>
            </a:r>
            <a:endParaRPr sz="2200">
              <a:latin typeface="Tahoma"/>
              <a:cs typeface="Tahoma"/>
            </a:endParaRPr>
          </a:p>
          <a:p>
            <a:pPr marL="469265" lvl="1" indent="-228600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469265" algn="l"/>
              </a:tabLst>
            </a:pPr>
            <a:r>
              <a:rPr sz="2200" dirty="0">
                <a:latin typeface="Tahoma"/>
                <a:cs typeface="Tahoma"/>
              </a:rPr>
              <a:t>Did</a:t>
            </a:r>
            <a:r>
              <a:rPr sz="2200" spc="-195" dirty="0">
                <a:latin typeface="Tahoma"/>
                <a:cs typeface="Tahoma"/>
              </a:rPr>
              <a:t> </a:t>
            </a:r>
            <a:r>
              <a:rPr sz="2200" spc="-30" dirty="0">
                <a:latin typeface="Tahoma"/>
                <a:cs typeface="Tahoma"/>
              </a:rPr>
              <a:t>the</a:t>
            </a:r>
            <a:r>
              <a:rPr sz="2200" spc="-160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researchers</a:t>
            </a:r>
            <a:r>
              <a:rPr sz="2200" spc="-120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reflect</a:t>
            </a:r>
            <a:r>
              <a:rPr sz="2200" spc="-160" dirty="0">
                <a:latin typeface="Tahoma"/>
                <a:cs typeface="Tahoma"/>
              </a:rPr>
              <a:t> </a:t>
            </a:r>
            <a:r>
              <a:rPr sz="2200" spc="-20" dirty="0">
                <a:latin typeface="Tahoma"/>
                <a:cs typeface="Tahoma"/>
              </a:rPr>
              <a:t>on</a:t>
            </a:r>
            <a:r>
              <a:rPr sz="2200" spc="-170" dirty="0">
                <a:latin typeface="Tahoma"/>
                <a:cs typeface="Tahoma"/>
              </a:rPr>
              <a:t> </a:t>
            </a:r>
            <a:r>
              <a:rPr sz="2200" spc="-35" dirty="0">
                <a:latin typeface="Tahoma"/>
                <a:cs typeface="Tahoma"/>
              </a:rPr>
              <a:t>how</a:t>
            </a:r>
            <a:r>
              <a:rPr sz="2200" spc="-175" dirty="0">
                <a:latin typeface="Tahoma"/>
                <a:cs typeface="Tahoma"/>
              </a:rPr>
              <a:t> </a:t>
            </a:r>
            <a:r>
              <a:rPr sz="2200" spc="-25" dirty="0">
                <a:latin typeface="Tahoma"/>
                <a:cs typeface="Tahoma"/>
              </a:rPr>
              <a:t>their</a:t>
            </a:r>
            <a:r>
              <a:rPr sz="2200" spc="-165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role</a:t>
            </a:r>
            <a:r>
              <a:rPr sz="2200" spc="-180" dirty="0">
                <a:latin typeface="Tahoma"/>
                <a:cs typeface="Tahoma"/>
              </a:rPr>
              <a:t> </a:t>
            </a:r>
            <a:r>
              <a:rPr sz="2200" spc="-10" dirty="0">
                <a:latin typeface="Tahoma"/>
                <a:cs typeface="Tahoma"/>
              </a:rPr>
              <a:t>affected</a:t>
            </a:r>
            <a:r>
              <a:rPr sz="2200" spc="-130" dirty="0">
                <a:latin typeface="Tahoma"/>
                <a:cs typeface="Tahoma"/>
              </a:rPr>
              <a:t> </a:t>
            </a:r>
            <a:r>
              <a:rPr sz="2200" spc="-30" dirty="0">
                <a:latin typeface="Tahoma"/>
                <a:cs typeface="Tahoma"/>
              </a:rPr>
              <a:t>the</a:t>
            </a:r>
            <a:r>
              <a:rPr sz="2200" spc="-170" dirty="0">
                <a:latin typeface="Tahoma"/>
                <a:cs typeface="Tahoma"/>
              </a:rPr>
              <a:t> </a:t>
            </a:r>
            <a:r>
              <a:rPr sz="2200" spc="-10" dirty="0">
                <a:latin typeface="Tahoma"/>
                <a:cs typeface="Tahoma"/>
              </a:rPr>
              <a:t>data</a:t>
            </a:r>
            <a:r>
              <a:rPr sz="2200" spc="-155" dirty="0">
                <a:latin typeface="Tahoma"/>
                <a:cs typeface="Tahoma"/>
              </a:rPr>
              <a:t> </a:t>
            </a:r>
            <a:r>
              <a:rPr sz="2200" spc="-10" dirty="0">
                <a:latin typeface="Tahoma"/>
                <a:cs typeface="Tahoma"/>
              </a:rPr>
              <a:t>collection?</a:t>
            </a:r>
            <a:endParaRPr sz="2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9948" y="921766"/>
            <a:ext cx="893000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270" dirty="0"/>
              <a:t>CASP</a:t>
            </a:r>
            <a:r>
              <a:rPr sz="4000" spc="-110" dirty="0"/>
              <a:t> </a:t>
            </a:r>
            <a:r>
              <a:rPr sz="4000" spc="-50" dirty="0"/>
              <a:t>Section</a:t>
            </a:r>
            <a:r>
              <a:rPr sz="4000" spc="-229" dirty="0"/>
              <a:t> </a:t>
            </a:r>
            <a:r>
              <a:rPr sz="4000" spc="-275" dirty="0"/>
              <a:t>B:</a:t>
            </a:r>
            <a:r>
              <a:rPr sz="4000" spc="-105" dirty="0"/>
              <a:t> </a:t>
            </a:r>
            <a:r>
              <a:rPr sz="4000" dirty="0"/>
              <a:t>What</a:t>
            </a:r>
            <a:r>
              <a:rPr sz="4000" spc="-250" dirty="0"/>
              <a:t> </a:t>
            </a:r>
            <a:r>
              <a:rPr sz="4000" dirty="0"/>
              <a:t>are</a:t>
            </a:r>
            <a:r>
              <a:rPr sz="4000" spc="-175" dirty="0"/>
              <a:t> </a:t>
            </a:r>
            <a:r>
              <a:rPr sz="4000" dirty="0"/>
              <a:t>the</a:t>
            </a:r>
            <a:r>
              <a:rPr sz="4000" spc="-180" dirty="0"/>
              <a:t> </a:t>
            </a:r>
            <a:r>
              <a:rPr sz="4000" spc="-80" dirty="0"/>
              <a:t>results?</a:t>
            </a:r>
            <a:endParaRPr sz="4000"/>
          </a:p>
        </p:txBody>
      </p:sp>
      <p:sp>
        <p:nvSpPr>
          <p:cNvPr id="3" name="object 3"/>
          <p:cNvSpPr/>
          <p:nvPr/>
        </p:nvSpPr>
        <p:spPr>
          <a:xfrm>
            <a:off x="517867" y="508076"/>
            <a:ext cx="11155680" cy="149860"/>
          </a:xfrm>
          <a:custGeom>
            <a:avLst/>
            <a:gdLst/>
            <a:ahLst/>
            <a:cxnLst/>
            <a:rect l="l" t="t" r="r" b="b"/>
            <a:pathLst>
              <a:path w="11155680" h="149859">
                <a:moveTo>
                  <a:pt x="11155680" y="0"/>
                </a:moveTo>
                <a:lnTo>
                  <a:pt x="0" y="0"/>
                </a:lnTo>
                <a:lnTo>
                  <a:pt x="0" y="149275"/>
                </a:lnTo>
                <a:lnTo>
                  <a:pt x="11155680" y="149275"/>
                </a:lnTo>
                <a:lnTo>
                  <a:pt x="1115568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21208" y="6299530"/>
            <a:ext cx="11155680" cy="46990"/>
          </a:xfrm>
          <a:custGeom>
            <a:avLst/>
            <a:gdLst/>
            <a:ahLst/>
            <a:cxnLst/>
            <a:rect l="l" t="t" r="r" b="b"/>
            <a:pathLst>
              <a:path w="11155680" h="46989">
                <a:moveTo>
                  <a:pt x="11155680" y="0"/>
                </a:moveTo>
                <a:lnTo>
                  <a:pt x="0" y="0"/>
                </a:lnTo>
                <a:lnTo>
                  <a:pt x="0" y="46469"/>
                </a:lnTo>
                <a:lnTo>
                  <a:pt x="11155680" y="46469"/>
                </a:lnTo>
                <a:lnTo>
                  <a:pt x="1115568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74255" y="2187955"/>
            <a:ext cx="11002645" cy="575945"/>
          </a:xfrm>
          <a:custGeom>
            <a:avLst/>
            <a:gdLst/>
            <a:ahLst/>
            <a:cxnLst/>
            <a:rect l="l" t="t" r="r" b="b"/>
            <a:pathLst>
              <a:path w="11002645" h="575944">
                <a:moveTo>
                  <a:pt x="10906747" y="0"/>
                </a:moveTo>
                <a:lnTo>
                  <a:pt x="95935" y="0"/>
                </a:lnTo>
                <a:lnTo>
                  <a:pt x="58593" y="7534"/>
                </a:lnTo>
                <a:lnTo>
                  <a:pt x="28098" y="28082"/>
                </a:lnTo>
                <a:lnTo>
                  <a:pt x="7539" y="58560"/>
                </a:lnTo>
                <a:lnTo>
                  <a:pt x="0" y="95885"/>
                </a:lnTo>
                <a:lnTo>
                  <a:pt x="0" y="479679"/>
                </a:lnTo>
                <a:lnTo>
                  <a:pt x="7539" y="517003"/>
                </a:lnTo>
                <a:lnTo>
                  <a:pt x="28098" y="547481"/>
                </a:lnTo>
                <a:lnTo>
                  <a:pt x="58593" y="568029"/>
                </a:lnTo>
                <a:lnTo>
                  <a:pt x="95935" y="575564"/>
                </a:lnTo>
                <a:lnTo>
                  <a:pt x="10906747" y="575564"/>
                </a:lnTo>
                <a:lnTo>
                  <a:pt x="10944071" y="568029"/>
                </a:lnTo>
                <a:lnTo>
                  <a:pt x="10974549" y="547481"/>
                </a:lnTo>
                <a:lnTo>
                  <a:pt x="10995097" y="517003"/>
                </a:lnTo>
                <a:lnTo>
                  <a:pt x="11002632" y="479679"/>
                </a:lnTo>
                <a:lnTo>
                  <a:pt x="11002632" y="95885"/>
                </a:lnTo>
                <a:lnTo>
                  <a:pt x="10995097" y="58560"/>
                </a:lnTo>
                <a:lnTo>
                  <a:pt x="10974549" y="28082"/>
                </a:lnTo>
                <a:lnTo>
                  <a:pt x="10944071" y="7534"/>
                </a:lnTo>
                <a:lnTo>
                  <a:pt x="10906747" y="0"/>
                </a:lnTo>
                <a:close/>
              </a:path>
            </a:pathLst>
          </a:custGeom>
          <a:solidFill>
            <a:srgbClr val="00B9C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74255" y="2832735"/>
            <a:ext cx="11002645" cy="575945"/>
          </a:xfrm>
          <a:custGeom>
            <a:avLst/>
            <a:gdLst/>
            <a:ahLst/>
            <a:cxnLst/>
            <a:rect l="l" t="t" r="r" b="b"/>
            <a:pathLst>
              <a:path w="11002645" h="575945">
                <a:moveTo>
                  <a:pt x="10906747" y="0"/>
                </a:moveTo>
                <a:lnTo>
                  <a:pt x="95935" y="0"/>
                </a:lnTo>
                <a:lnTo>
                  <a:pt x="58593" y="7534"/>
                </a:lnTo>
                <a:lnTo>
                  <a:pt x="28098" y="28082"/>
                </a:lnTo>
                <a:lnTo>
                  <a:pt x="7539" y="58560"/>
                </a:lnTo>
                <a:lnTo>
                  <a:pt x="0" y="95885"/>
                </a:lnTo>
                <a:lnTo>
                  <a:pt x="0" y="479678"/>
                </a:lnTo>
                <a:lnTo>
                  <a:pt x="7539" y="517003"/>
                </a:lnTo>
                <a:lnTo>
                  <a:pt x="28098" y="547481"/>
                </a:lnTo>
                <a:lnTo>
                  <a:pt x="58593" y="568029"/>
                </a:lnTo>
                <a:lnTo>
                  <a:pt x="95935" y="575563"/>
                </a:lnTo>
                <a:lnTo>
                  <a:pt x="10906747" y="575563"/>
                </a:lnTo>
                <a:lnTo>
                  <a:pt x="10944071" y="568029"/>
                </a:lnTo>
                <a:lnTo>
                  <a:pt x="10974549" y="547481"/>
                </a:lnTo>
                <a:lnTo>
                  <a:pt x="10995097" y="517003"/>
                </a:lnTo>
                <a:lnTo>
                  <a:pt x="11002632" y="479678"/>
                </a:lnTo>
                <a:lnTo>
                  <a:pt x="11002632" y="95885"/>
                </a:lnTo>
                <a:lnTo>
                  <a:pt x="10995097" y="58560"/>
                </a:lnTo>
                <a:lnTo>
                  <a:pt x="10974549" y="28082"/>
                </a:lnTo>
                <a:lnTo>
                  <a:pt x="10944071" y="7534"/>
                </a:lnTo>
                <a:lnTo>
                  <a:pt x="10906747" y="0"/>
                </a:lnTo>
                <a:close/>
              </a:path>
            </a:pathLst>
          </a:custGeom>
          <a:solidFill>
            <a:srgbClr val="E6472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81304" y="2243404"/>
            <a:ext cx="9417685" cy="3690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FFFFFF"/>
                </a:solidFill>
                <a:latin typeface="Tahoma"/>
                <a:cs typeface="Tahoma"/>
              </a:rPr>
              <a:t>This</a:t>
            </a:r>
            <a:r>
              <a:rPr sz="24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section</a:t>
            </a:r>
            <a:r>
              <a:rPr sz="24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assesses</a:t>
            </a:r>
            <a:r>
              <a:rPr sz="2400" spc="-1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40" dirty="0">
                <a:solidFill>
                  <a:srgbClr val="FFFFFF"/>
                </a:solidFill>
                <a:latin typeface="Tahoma"/>
                <a:cs typeface="Tahoma"/>
              </a:rPr>
              <a:t>how</a:t>
            </a:r>
            <a:r>
              <a:rPr sz="24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well</a:t>
            </a:r>
            <a:r>
              <a:rPr sz="24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24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Tahoma"/>
                <a:cs typeface="Tahoma"/>
              </a:rPr>
              <a:t>findings</a:t>
            </a:r>
            <a:r>
              <a:rPr sz="2400" spc="-1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45" dirty="0">
                <a:solidFill>
                  <a:srgbClr val="FFFFFF"/>
                </a:solidFill>
                <a:latin typeface="Tahoma"/>
                <a:cs typeface="Tahoma"/>
              </a:rPr>
              <a:t>are</a:t>
            </a:r>
            <a:r>
              <a:rPr sz="2400" spc="-1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Tahoma"/>
                <a:cs typeface="Tahoma"/>
              </a:rPr>
              <a:t>presented</a:t>
            </a:r>
            <a:r>
              <a:rPr sz="2400" spc="-1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2400" spc="-1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ahoma"/>
                <a:cs typeface="Tahoma"/>
              </a:rPr>
              <a:t>analysed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200"/>
              </a:spcBef>
            </a:pPr>
            <a:r>
              <a:rPr sz="2400" b="1" spc="-45" dirty="0">
                <a:solidFill>
                  <a:srgbClr val="FFFFFF"/>
                </a:solidFill>
                <a:latin typeface="Arial"/>
                <a:cs typeface="Arial"/>
              </a:rPr>
              <a:t>Have</a:t>
            </a:r>
            <a:r>
              <a:rPr sz="2400" b="1" spc="-1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ethical</a:t>
            </a:r>
            <a:r>
              <a:rPr sz="2400" b="1" spc="-1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85" dirty="0">
                <a:solidFill>
                  <a:srgbClr val="FFFFFF"/>
                </a:solidFill>
                <a:latin typeface="Arial"/>
                <a:cs typeface="Arial"/>
              </a:rPr>
              <a:t>issues</a:t>
            </a:r>
            <a:r>
              <a:rPr sz="24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25" dirty="0">
                <a:solidFill>
                  <a:srgbClr val="FFFFFF"/>
                </a:solidFill>
                <a:latin typeface="Arial"/>
                <a:cs typeface="Arial"/>
              </a:rPr>
              <a:t>been</a:t>
            </a:r>
            <a:r>
              <a:rPr sz="2400" b="1" spc="-1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20" dirty="0">
                <a:solidFill>
                  <a:srgbClr val="FFFFFF"/>
                </a:solidFill>
                <a:latin typeface="Arial"/>
                <a:cs typeface="Arial"/>
              </a:rPr>
              <a:t>taken</a:t>
            </a:r>
            <a:r>
              <a:rPr sz="2400" b="1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20" dirty="0">
                <a:solidFill>
                  <a:srgbClr val="FFFFFF"/>
                </a:solidFill>
                <a:latin typeface="Arial"/>
                <a:cs typeface="Arial"/>
              </a:rPr>
              <a:t>into</a:t>
            </a:r>
            <a:r>
              <a:rPr sz="2400" b="1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consideration?</a:t>
            </a:r>
            <a:endParaRPr sz="2400">
              <a:latin typeface="Arial"/>
              <a:cs typeface="Arial"/>
            </a:endParaRPr>
          </a:p>
          <a:p>
            <a:pPr marL="414655" indent="-172720">
              <a:lnSpc>
                <a:spcPct val="100000"/>
              </a:lnSpc>
              <a:spcBef>
                <a:spcPts val="1020"/>
              </a:spcBef>
              <a:buChar char="•"/>
              <a:tabLst>
                <a:tab pos="414655" algn="l"/>
              </a:tabLst>
            </a:pPr>
            <a:r>
              <a:rPr sz="1900" spc="-25" dirty="0">
                <a:latin typeface="Tahoma"/>
                <a:cs typeface="Tahoma"/>
              </a:rPr>
              <a:t>Was</a:t>
            </a:r>
            <a:r>
              <a:rPr sz="1900" spc="-110" dirty="0">
                <a:latin typeface="Tahoma"/>
                <a:cs typeface="Tahoma"/>
              </a:rPr>
              <a:t> </a:t>
            </a:r>
            <a:r>
              <a:rPr sz="1900" spc="-25" dirty="0">
                <a:latin typeface="Tahoma"/>
                <a:cs typeface="Tahoma"/>
              </a:rPr>
              <a:t>informed</a:t>
            </a:r>
            <a:r>
              <a:rPr sz="1900" spc="-11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consent</a:t>
            </a:r>
            <a:r>
              <a:rPr sz="1900" spc="-90" dirty="0">
                <a:latin typeface="Tahoma"/>
                <a:cs typeface="Tahoma"/>
              </a:rPr>
              <a:t> </a:t>
            </a:r>
            <a:r>
              <a:rPr sz="1900" spc="-10" dirty="0">
                <a:latin typeface="Tahoma"/>
                <a:cs typeface="Tahoma"/>
              </a:rPr>
              <a:t>obtained?</a:t>
            </a:r>
            <a:endParaRPr sz="1900">
              <a:latin typeface="Tahoma"/>
              <a:cs typeface="Tahoma"/>
            </a:endParaRPr>
          </a:p>
          <a:p>
            <a:pPr marL="414655" indent="-172720">
              <a:lnSpc>
                <a:spcPct val="100000"/>
              </a:lnSpc>
              <a:spcBef>
                <a:spcPts val="240"/>
              </a:spcBef>
              <a:buChar char="•"/>
              <a:tabLst>
                <a:tab pos="414655" algn="l"/>
              </a:tabLst>
            </a:pPr>
            <a:r>
              <a:rPr sz="1900" spc="-55" dirty="0">
                <a:latin typeface="Tahoma"/>
                <a:cs typeface="Tahoma"/>
              </a:rPr>
              <a:t>Were</a:t>
            </a:r>
            <a:r>
              <a:rPr sz="1900" spc="-12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ethical</a:t>
            </a:r>
            <a:r>
              <a:rPr sz="1900" spc="-114" dirty="0">
                <a:latin typeface="Tahoma"/>
                <a:cs typeface="Tahoma"/>
              </a:rPr>
              <a:t> </a:t>
            </a:r>
            <a:r>
              <a:rPr sz="1900" spc="-10" dirty="0">
                <a:latin typeface="Tahoma"/>
                <a:cs typeface="Tahoma"/>
              </a:rPr>
              <a:t>guidelines</a:t>
            </a:r>
            <a:r>
              <a:rPr sz="1900" spc="-95" dirty="0">
                <a:latin typeface="Tahoma"/>
                <a:cs typeface="Tahoma"/>
              </a:rPr>
              <a:t> </a:t>
            </a:r>
            <a:r>
              <a:rPr sz="1900" spc="-10" dirty="0">
                <a:latin typeface="Tahoma"/>
                <a:cs typeface="Tahoma"/>
              </a:rPr>
              <a:t>followed</a:t>
            </a:r>
            <a:r>
              <a:rPr sz="1900" spc="-110" dirty="0">
                <a:latin typeface="Tahoma"/>
                <a:cs typeface="Tahoma"/>
              </a:rPr>
              <a:t> </a:t>
            </a:r>
            <a:r>
              <a:rPr sz="1900" spc="-90" dirty="0">
                <a:latin typeface="Tahoma"/>
                <a:cs typeface="Tahoma"/>
              </a:rPr>
              <a:t>(e.g.,</a:t>
            </a:r>
            <a:r>
              <a:rPr sz="1900" spc="-120" dirty="0">
                <a:latin typeface="Tahoma"/>
                <a:cs typeface="Tahoma"/>
              </a:rPr>
              <a:t> </a:t>
            </a:r>
            <a:r>
              <a:rPr sz="1900" spc="-20" dirty="0">
                <a:latin typeface="Tahoma"/>
                <a:cs typeface="Tahoma"/>
              </a:rPr>
              <a:t>confidentiality,</a:t>
            </a:r>
            <a:r>
              <a:rPr sz="1900" spc="-114" dirty="0">
                <a:latin typeface="Tahoma"/>
                <a:cs typeface="Tahoma"/>
              </a:rPr>
              <a:t> </a:t>
            </a:r>
            <a:r>
              <a:rPr sz="1900" spc="-10" dirty="0">
                <a:latin typeface="Tahoma"/>
                <a:cs typeface="Tahoma"/>
              </a:rPr>
              <a:t>data</a:t>
            </a:r>
            <a:r>
              <a:rPr sz="1900" spc="-130" dirty="0">
                <a:latin typeface="Tahoma"/>
                <a:cs typeface="Tahoma"/>
              </a:rPr>
              <a:t> </a:t>
            </a:r>
            <a:r>
              <a:rPr sz="1900" spc="-10" dirty="0">
                <a:latin typeface="Tahoma"/>
                <a:cs typeface="Tahoma"/>
              </a:rPr>
              <a:t>protection)?</a:t>
            </a:r>
            <a:endParaRPr sz="1900">
              <a:latin typeface="Tahoma"/>
              <a:cs typeface="Tahoma"/>
            </a:endParaRPr>
          </a:p>
          <a:p>
            <a:pPr marL="414020" indent="-172085">
              <a:lnSpc>
                <a:spcPct val="100000"/>
              </a:lnSpc>
              <a:spcBef>
                <a:spcPts val="225"/>
              </a:spcBef>
              <a:buFont typeface="Tahoma"/>
              <a:buChar char="•"/>
              <a:tabLst>
                <a:tab pos="414020" algn="l"/>
              </a:tabLst>
            </a:pPr>
            <a:r>
              <a:rPr sz="1900" b="1" spc="-65" dirty="0">
                <a:latin typeface="Arial"/>
                <a:cs typeface="Arial"/>
              </a:rPr>
              <a:t>Was</a:t>
            </a:r>
            <a:r>
              <a:rPr sz="1900" b="1" spc="-70" dirty="0">
                <a:latin typeface="Arial"/>
                <a:cs typeface="Arial"/>
              </a:rPr>
              <a:t> </a:t>
            </a:r>
            <a:r>
              <a:rPr sz="1900" b="1" dirty="0">
                <a:latin typeface="Arial"/>
                <a:cs typeface="Arial"/>
              </a:rPr>
              <a:t>the</a:t>
            </a:r>
            <a:r>
              <a:rPr sz="1900" b="1" spc="-120" dirty="0">
                <a:latin typeface="Arial"/>
                <a:cs typeface="Arial"/>
              </a:rPr>
              <a:t> </a:t>
            </a:r>
            <a:r>
              <a:rPr sz="1900" b="1" dirty="0">
                <a:latin typeface="Arial"/>
                <a:cs typeface="Arial"/>
              </a:rPr>
              <a:t>data</a:t>
            </a:r>
            <a:r>
              <a:rPr sz="1900" b="1" spc="-90" dirty="0">
                <a:latin typeface="Arial"/>
                <a:cs typeface="Arial"/>
              </a:rPr>
              <a:t> </a:t>
            </a:r>
            <a:r>
              <a:rPr sz="1900" b="1" spc="-45" dirty="0">
                <a:latin typeface="Arial"/>
                <a:cs typeface="Arial"/>
              </a:rPr>
              <a:t>analysis</a:t>
            </a:r>
            <a:r>
              <a:rPr sz="1900" b="1" spc="-75" dirty="0">
                <a:latin typeface="Arial"/>
                <a:cs typeface="Arial"/>
              </a:rPr>
              <a:t> </a:t>
            </a:r>
            <a:r>
              <a:rPr sz="1900" b="1" spc="-30" dirty="0">
                <a:latin typeface="Arial"/>
                <a:cs typeface="Arial"/>
              </a:rPr>
              <a:t>sufficiently</a:t>
            </a:r>
            <a:r>
              <a:rPr sz="1900" b="1" spc="-85" dirty="0">
                <a:latin typeface="Arial"/>
                <a:cs typeface="Arial"/>
              </a:rPr>
              <a:t> </a:t>
            </a:r>
            <a:r>
              <a:rPr sz="1900" b="1" spc="-10" dirty="0">
                <a:latin typeface="Arial"/>
                <a:cs typeface="Arial"/>
              </a:rPr>
              <a:t>rigorous?</a:t>
            </a:r>
            <a:endParaRPr sz="1900">
              <a:latin typeface="Arial"/>
              <a:cs typeface="Arial"/>
            </a:endParaRPr>
          </a:p>
          <a:p>
            <a:pPr marL="585470" lvl="1" indent="-170815">
              <a:lnSpc>
                <a:spcPct val="100000"/>
              </a:lnSpc>
              <a:spcBef>
                <a:spcPts val="229"/>
              </a:spcBef>
              <a:buChar char="•"/>
              <a:tabLst>
                <a:tab pos="585470" algn="l"/>
              </a:tabLst>
            </a:pPr>
            <a:r>
              <a:rPr sz="1900" spc="-25" dirty="0">
                <a:latin typeface="Tahoma"/>
                <a:cs typeface="Tahoma"/>
              </a:rPr>
              <a:t>Was</a:t>
            </a:r>
            <a:r>
              <a:rPr sz="1900" spc="-145" dirty="0">
                <a:latin typeface="Tahoma"/>
                <a:cs typeface="Tahoma"/>
              </a:rPr>
              <a:t> </a:t>
            </a:r>
            <a:r>
              <a:rPr sz="1900" spc="-25" dirty="0">
                <a:latin typeface="Tahoma"/>
                <a:cs typeface="Tahoma"/>
              </a:rPr>
              <a:t>the</a:t>
            </a:r>
            <a:r>
              <a:rPr sz="1900" spc="-155" dirty="0">
                <a:latin typeface="Tahoma"/>
                <a:cs typeface="Tahoma"/>
              </a:rPr>
              <a:t> </a:t>
            </a:r>
            <a:r>
              <a:rPr sz="1900" spc="-10" dirty="0">
                <a:latin typeface="Tahoma"/>
                <a:cs typeface="Tahoma"/>
              </a:rPr>
              <a:t>data</a:t>
            </a:r>
            <a:r>
              <a:rPr sz="1900" spc="-16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analysed</a:t>
            </a:r>
            <a:r>
              <a:rPr sz="1900" spc="-135" dirty="0">
                <a:latin typeface="Tahoma"/>
                <a:cs typeface="Tahoma"/>
              </a:rPr>
              <a:t> </a:t>
            </a:r>
            <a:r>
              <a:rPr sz="1900" spc="-10" dirty="0">
                <a:latin typeface="Tahoma"/>
                <a:cs typeface="Tahoma"/>
              </a:rPr>
              <a:t>systematically?</a:t>
            </a:r>
            <a:endParaRPr sz="1900">
              <a:latin typeface="Tahoma"/>
              <a:cs typeface="Tahoma"/>
            </a:endParaRPr>
          </a:p>
          <a:p>
            <a:pPr marL="585470" lvl="1" indent="-170815">
              <a:lnSpc>
                <a:spcPct val="100000"/>
              </a:lnSpc>
              <a:spcBef>
                <a:spcPts val="240"/>
              </a:spcBef>
              <a:buChar char="•"/>
              <a:tabLst>
                <a:tab pos="585470" algn="l"/>
              </a:tabLst>
            </a:pPr>
            <a:r>
              <a:rPr sz="1900" spc="-55" dirty="0">
                <a:latin typeface="Tahoma"/>
                <a:cs typeface="Tahoma"/>
              </a:rPr>
              <a:t>Were</a:t>
            </a:r>
            <a:r>
              <a:rPr sz="1900" spc="-120" dirty="0">
                <a:latin typeface="Tahoma"/>
                <a:cs typeface="Tahoma"/>
              </a:rPr>
              <a:t> </a:t>
            </a:r>
            <a:r>
              <a:rPr sz="1900" spc="-10" dirty="0">
                <a:latin typeface="Tahoma"/>
                <a:cs typeface="Tahoma"/>
              </a:rPr>
              <a:t>themes</a:t>
            </a:r>
            <a:r>
              <a:rPr sz="1900" spc="-9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clearly</a:t>
            </a:r>
            <a:r>
              <a:rPr sz="1900" spc="-110" dirty="0">
                <a:latin typeface="Tahoma"/>
                <a:cs typeface="Tahoma"/>
              </a:rPr>
              <a:t> </a:t>
            </a:r>
            <a:r>
              <a:rPr sz="1900" spc="-10" dirty="0">
                <a:latin typeface="Tahoma"/>
                <a:cs typeface="Tahoma"/>
              </a:rPr>
              <a:t>identified?</a:t>
            </a:r>
            <a:endParaRPr sz="1900">
              <a:latin typeface="Tahoma"/>
              <a:cs typeface="Tahoma"/>
            </a:endParaRPr>
          </a:p>
          <a:p>
            <a:pPr marL="414655" indent="-172720">
              <a:lnSpc>
                <a:spcPct val="100000"/>
              </a:lnSpc>
              <a:spcBef>
                <a:spcPts val="229"/>
              </a:spcBef>
              <a:buFont typeface="Tahoma"/>
              <a:buChar char="•"/>
              <a:tabLst>
                <a:tab pos="414655" algn="l"/>
              </a:tabLst>
            </a:pPr>
            <a:r>
              <a:rPr sz="1900" b="1" dirty="0">
                <a:latin typeface="Arial"/>
                <a:cs typeface="Arial"/>
              </a:rPr>
              <a:t>Is</a:t>
            </a:r>
            <a:r>
              <a:rPr sz="1900" b="1" spc="-105" dirty="0">
                <a:latin typeface="Arial"/>
                <a:cs typeface="Arial"/>
              </a:rPr>
              <a:t> </a:t>
            </a:r>
            <a:r>
              <a:rPr sz="1900" b="1" spc="-10" dirty="0">
                <a:latin typeface="Arial"/>
                <a:cs typeface="Arial"/>
              </a:rPr>
              <a:t>there</a:t>
            </a:r>
            <a:r>
              <a:rPr sz="1900" b="1" spc="-105" dirty="0">
                <a:latin typeface="Arial"/>
                <a:cs typeface="Arial"/>
              </a:rPr>
              <a:t> </a:t>
            </a:r>
            <a:r>
              <a:rPr sz="1900" b="1" dirty="0">
                <a:latin typeface="Arial"/>
                <a:cs typeface="Arial"/>
              </a:rPr>
              <a:t>a</a:t>
            </a:r>
            <a:r>
              <a:rPr sz="1900" b="1" spc="-110" dirty="0">
                <a:latin typeface="Arial"/>
                <a:cs typeface="Arial"/>
              </a:rPr>
              <a:t> </a:t>
            </a:r>
            <a:r>
              <a:rPr sz="1900" b="1" dirty="0">
                <a:latin typeface="Arial"/>
                <a:cs typeface="Arial"/>
              </a:rPr>
              <a:t>clear</a:t>
            </a:r>
            <a:r>
              <a:rPr sz="1900" b="1" spc="-95" dirty="0">
                <a:latin typeface="Arial"/>
                <a:cs typeface="Arial"/>
              </a:rPr>
              <a:t> </a:t>
            </a:r>
            <a:r>
              <a:rPr sz="1900" b="1" spc="-10" dirty="0">
                <a:latin typeface="Arial"/>
                <a:cs typeface="Arial"/>
              </a:rPr>
              <a:t>statement</a:t>
            </a:r>
            <a:r>
              <a:rPr sz="1900" b="1" spc="-95" dirty="0">
                <a:latin typeface="Arial"/>
                <a:cs typeface="Arial"/>
              </a:rPr>
              <a:t> </a:t>
            </a:r>
            <a:r>
              <a:rPr sz="1900" b="1" dirty="0">
                <a:latin typeface="Arial"/>
                <a:cs typeface="Arial"/>
              </a:rPr>
              <a:t>of</a:t>
            </a:r>
            <a:r>
              <a:rPr sz="1900" b="1" spc="-95" dirty="0">
                <a:latin typeface="Arial"/>
                <a:cs typeface="Arial"/>
              </a:rPr>
              <a:t> </a:t>
            </a:r>
            <a:r>
              <a:rPr sz="1900" b="1" spc="-10" dirty="0">
                <a:latin typeface="Arial"/>
                <a:cs typeface="Arial"/>
              </a:rPr>
              <a:t>findings?</a:t>
            </a:r>
            <a:endParaRPr sz="1900">
              <a:latin typeface="Arial"/>
              <a:cs typeface="Arial"/>
            </a:endParaRPr>
          </a:p>
          <a:p>
            <a:pPr marL="585470" lvl="1" indent="-170815">
              <a:lnSpc>
                <a:spcPct val="100000"/>
              </a:lnSpc>
              <a:spcBef>
                <a:spcPts val="225"/>
              </a:spcBef>
              <a:buChar char="•"/>
              <a:tabLst>
                <a:tab pos="585470" algn="l"/>
              </a:tabLst>
            </a:pPr>
            <a:r>
              <a:rPr sz="1900" spc="-55" dirty="0">
                <a:latin typeface="Tahoma"/>
                <a:cs typeface="Tahoma"/>
              </a:rPr>
              <a:t>Were</a:t>
            </a:r>
            <a:r>
              <a:rPr sz="1900" spc="-13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results</a:t>
            </a:r>
            <a:r>
              <a:rPr sz="1900" spc="-10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clearly</a:t>
            </a:r>
            <a:r>
              <a:rPr sz="1900" spc="-120" dirty="0">
                <a:latin typeface="Tahoma"/>
                <a:cs typeface="Tahoma"/>
              </a:rPr>
              <a:t> </a:t>
            </a:r>
            <a:r>
              <a:rPr sz="1900" spc="-10" dirty="0">
                <a:latin typeface="Tahoma"/>
                <a:cs typeface="Tahoma"/>
              </a:rPr>
              <a:t>presented?</a:t>
            </a:r>
            <a:endParaRPr sz="1900">
              <a:latin typeface="Tahoma"/>
              <a:cs typeface="Tahoma"/>
            </a:endParaRPr>
          </a:p>
          <a:p>
            <a:pPr marL="585470" lvl="1" indent="-170815">
              <a:lnSpc>
                <a:spcPct val="100000"/>
              </a:lnSpc>
              <a:spcBef>
                <a:spcPts val="245"/>
              </a:spcBef>
              <a:buChar char="•"/>
              <a:tabLst>
                <a:tab pos="585470" algn="l"/>
              </a:tabLst>
            </a:pPr>
            <a:r>
              <a:rPr sz="1900" spc="-45" dirty="0">
                <a:latin typeface="Tahoma"/>
                <a:cs typeface="Tahoma"/>
              </a:rPr>
              <a:t>Are</a:t>
            </a:r>
            <a:r>
              <a:rPr sz="1900" spc="-7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conclusions</a:t>
            </a:r>
            <a:r>
              <a:rPr sz="1900" spc="-5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backed</a:t>
            </a:r>
            <a:r>
              <a:rPr sz="1900" spc="-70" dirty="0">
                <a:latin typeface="Tahoma"/>
                <a:cs typeface="Tahoma"/>
              </a:rPr>
              <a:t> </a:t>
            </a:r>
            <a:r>
              <a:rPr sz="1900" spc="-50" dirty="0">
                <a:latin typeface="Tahoma"/>
                <a:cs typeface="Tahoma"/>
              </a:rPr>
              <a:t>by</a:t>
            </a:r>
            <a:r>
              <a:rPr sz="1900" spc="-80" dirty="0">
                <a:latin typeface="Tahoma"/>
                <a:cs typeface="Tahoma"/>
              </a:rPr>
              <a:t> </a:t>
            </a:r>
            <a:r>
              <a:rPr sz="1900" spc="-10" dirty="0">
                <a:latin typeface="Tahoma"/>
                <a:cs typeface="Tahoma"/>
              </a:rPr>
              <a:t>data?</a:t>
            </a:r>
            <a:endParaRPr sz="19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34290" marR="5080">
              <a:lnSpc>
                <a:spcPts val="4750"/>
              </a:lnSpc>
              <a:spcBef>
                <a:spcPts val="705"/>
              </a:spcBef>
            </a:pPr>
            <a:r>
              <a:rPr spc="-290" dirty="0"/>
              <a:t>CASP</a:t>
            </a:r>
            <a:r>
              <a:rPr spc="-145" dirty="0"/>
              <a:t> </a:t>
            </a:r>
            <a:r>
              <a:rPr spc="-65" dirty="0"/>
              <a:t>Section</a:t>
            </a:r>
            <a:r>
              <a:rPr spc="-235" dirty="0"/>
              <a:t> </a:t>
            </a:r>
            <a:r>
              <a:rPr spc="-50" dirty="0"/>
              <a:t>C:</a:t>
            </a:r>
            <a:r>
              <a:rPr spc="-170" dirty="0"/>
              <a:t> </a:t>
            </a:r>
            <a:r>
              <a:rPr dirty="0"/>
              <a:t>Will</a:t>
            </a:r>
            <a:r>
              <a:rPr spc="-170" dirty="0"/>
              <a:t> </a:t>
            </a:r>
            <a:r>
              <a:rPr dirty="0"/>
              <a:t>the</a:t>
            </a:r>
            <a:r>
              <a:rPr spc="-175" dirty="0"/>
              <a:t> </a:t>
            </a:r>
            <a:r>
              <a:rPr spc="-55" dirty="0"/>
              <a:t>results</a:t>
            </a:r>
            <a:r>
              <a:rPr spc="-160" dirty="0"/>
              <a:t> </a:t>
            </a:r>
            <a:r>
              <a:rPr spc="-20" dirty="0"/>
              <a:t>help </a:t>
            </a:r>
            <a:r>
              <a:rPr spc="-10" dirty="0"/>
              <a:t>locally?</a:t>
            </a:r>
          </a:p>
        </p:txBody>
      </p:sp>
      <p:sp>
        <p:nvSpPr>
          <p:cNvPr id="3" name="object 3"/>
          <p:cNvSpPr/>
          <p:nvPr/>
        </p:nvSpPr>
        <p:spPr>
          <a:xfrm>
            <a:off x="517867" y="508076"/>
            <a:ext cx="11155680" cy="149860"/>
          </a:xfrm>
          <a:custGeom>
            <a:avLst/>
            <a:gdLst/>
            <a:ahLst/>
            <a:cxnLst/>
            <a:rect l="l" t="t" r="r" b="b"/>
            <a:pathLst>
              <a:path w="11155680" h="149859">
                <a:moveTo>
                  <a:pt x="11155680" y="0"/>
                </a:moveTo>
                <a:lnTo>
                  <a:pt x="0" y="0"/>
                </a:lnTo>
                <a:lnTo>
                  <a:pt x="0" y="149275"/>
                </a:lnTo>
                <a:lnTo>
                  <a:pt x="11155680" y="149275"/>
                </a:lnTo>
                <a:lnTo>
                  <a:pt x="1115568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21208" y="6299530"/>
            <a:ext cx="11155680" cy="46990"/>
          </a:xfrm>
          <a:custGeom>
            <a:avLst/>
            <a:gdLst/>
            <a:ahLst/>
            <a:cxnLst/>
            <a:rect l="l" t="t" r="r" b="b"/>
            <a:pathLst>
              <a:path w="11155680" h="46989">
                <a:moveTo>
                  <a:pt x="11155680" y="0"/>
                </a:moveTo>
                <a:lnTo>
                  <a:pt x="0" y="0"/>
                </a:lnTo>
                <a:lnTo>
                  <a:pt x="0" y="46469"/>
                </a:lnTo>
                <a:lnTo>
                  <a:pt x="11155680" y="46469"/>
                </a:lnTo>
                <a:lnTo>
                  <a:pt x="1115568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1210983" y="2485898"/>
            <a:ext cx="4705985" cy="3140075"/>
            <a:chOff x="1210983" y="2485898"/>
            <a:chExt cx="4705985" cy="3140075"/>
          </a:xfrm>
        </p:grpSpPr>
        <p:sp>
          <p:nvSpPr>
            <p:cNvPr id="6" name="object 6"/>
            <p:cNvSpPr/>
            <p:nvPr/>
          </p:nvSpPr>
          <p:spPr>
            <a:xfrm>
              <a:off x="1210983" y="2485898"/>
              <a:ext cx="4227195" cy="2684145"/>
            </a:xfrm>
            <a:custGeom>
              <a:avLst/>
              <a:gdLst/>
              <a:ahLst/>
              <a:cxnLst/>
              <a:rect l="l" t="t" r="r" b="b"/>
              <a:pathLst>
                <a:path w="4227195" h="2684145">
                  <a:moveTo>
                    <a:pt x="3958297" y="0"/>
                  </a:moveTo>
                  <a:lnTo>
                    <a:pt x="268439" y="0"/>
                  </a:lnTo>
                  <a:lnTo>
                    <a:pt x="220199" y="4323"/>
                  </a:lnTo>
                  <a:lnTo>
                    <a:pt x="174791" y="16788"/>
                  </a:lnTo>
                  <a:lnTo>
                    <a:pt x="132973" y="36637"/>
                  </a:lnTo>
                  <a:lnTo>
                    <a:pt x="95506" y="63111"/>
                  </a:lnTo>
                  <a:lnTo>
                    <a:pt x="63148" y="95454"/>
                  </a:lnTo>
                  <a:lnTo>
                    <a:pt x="36660" y="132907"/>
                  </a:lnTo>
                  <a:lnTo>
                    <a:pt x="16799" y="174713"/>
                  </a:lnTo>
                  <a:lnTo>
                    <a:pt x="4326" y="220113"/>
                  </a:lnTo>
                  <a:lnTo>
                    <a:pt x="0" y="268350"/>
                  </a:lnTo>
                  <a:lnTo>
                    <a:pt x="0" y="2415540"/>
                  </a:lnTo>
                  <a:lnTo>
                    <a:pt x="4326" y="2463777"/>
                  </a:lnTo>
                  <a:lnTo>
                    <a:pt x="16799" y="2509177"/>
                  </a:lnTo>
                  <a:lnTo>
                    <a:pt x="36660" y="2550983"/>
                  </a:lnTo>
                  <a:lnTo>
                    <a:pt x="63148" y="2588436"/>
                  </a:lnTo>
                  <a:lnTo>
                    <a:pt x="95506" y="2620779"/>
                  </a:lnTo>
                  <a:lnTo>
                    <a:pt x="132973" y="2647253"/>
                  </a:lnTo>
                  <a:lnTo>
                    <a:pt x="174791" y="2667102"/>
                  </a:lnTo>
                  <a:lnTo>
                    <a:pt x="220199" y="2679567"/>
                  </a:lnTo>
                  <a:lnTo>
                    <a:pt x="268439" y="2683891"/>
                  </a:lnTo>
                  <a:lnTo>
                    <a:pt x="3958297" y="2683891"/>
                  </a:lnTo>
                  <a:lnTo>
                    <a:pt x="4006572" y="2679567"/>
                  </a:lnTo>
                  <a:lnTo>
                    <a:pt x="4052002" y="2667102"/>
                  </a:lnTo>
                  <a:lnTo>
                    <a:pt x="4093830" y="2647253"/>
                  </a:lnTo>
                  <a:lnTo>
                    <a:pt x="4131299" y="2620779"/>
                  </a:lnTo>
                  <a:lnTo>
                    <a:pt x="4163652" y="2588436"/>
                  </a:lnTo>
                  <a:lnTo>
                    <a:pt x="4190134" y="2550983"/>
                  </a:lnTo>
                  <a:lnTo>
                    <a:pt x="4209986" y="2509177"/>
                  </a:lnTo>
                  <a:lnTo>
                    <a:pt x="4222452" y="2463777"/>
                  </a:lnTo>
                  <a:lnTo>
                    <a:pt x="4226775" y="2415540"/>
                  </a:lnTo>
                  <a:lnTo>
                    <a:pt x="4226775" y="268350"/>
                  </a:lnTo>
                  <a:lnTo>
                    <a:pt x="4222452" y="220113"/>
                  </a:lnTo>
                  <a:lnTo>
                    <a:pt x="4209986" y="174713"/>
                  </a:lnTo>
                  <a:lnTo>
                    <a:pt x="4190134" y="132907"/>
                  </a:lnTo>
                  <a:lnTo>
                    <a:pt x="4163652" y="95454"/>
                  </a:lnTo>
                  <a:lnTo>
                    <a:pt x="4131299" y="63111"/>
                  </a:lnTo>
                  <a:lnTo>
                    <a:pt x="4093830" y="36637"/>
                  </a:lnTo>
                  <a:lnTo>
                    <a:pt x="4052002" y="16788"/>
                  </a:lnTo>
                  <a:lnTo>
                    <a:pt x="4006572" y="4323"/>
                  </a:lnTo>
                  <a:lnTo>
                    <a:pt x="3958297" y="0"/>
                  </a:lnTo>
                  <a:close/>
                </a:path>
              </a:pathLst>
            </a:custGeom>
            <a:solidFill>
              <a:srgbClr val="FD5D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680590" y="2932049"/>
              <a:ext cx="4227195" cy="2684145"/>
            </a:xfrm>
            <a:custGeom>
              <a:avLst/>
              <a:gdLst/>
              <a:ahLst/>
              <a:cxnLst/>
              <a:rect l="l" t="t" r="r" b="b"/>
              <a:pathLst>
                <a:path w="4227195" h="2684145">
                  <a:moveTo>
                    <a:pt x="3958335" y="0"/>
                  </a:moveTo>
                  <a:lnTo>
                    <a:pt x="268477" y="0"/>
                  </a:lnTo>
                  <a:lnTo>
                    <a:pt x="220203" y="4323"/>
                  </a:lnTo>
                  <a:lnTo>
                    <a:pt x="174773" y="16788"/>
                  </a:lnTo>
                  <a:lnTo>
                    <a:pt x="132945" y="36637"/>
                  </a:lnTo>
                  <a:lnTo>
                    <a:pt x="95476" y="63111"/>
                  </a:lnTo>
                  <a:lnTo>
                    <a:pt x="63123" y="95454"/>
                  </a:lnTo>
                  <a:lnTo>
                    <a:pt x="36641" y="132907"/>
                  </a:lnTo>
                  <a:lnTo>
                    <a:pt x="16789" y="174713"/>
                  </a:lnTo>
                  <a:lnTo>
                    <a:pt x="4323" y="220113"/>
                  </a:lnTo>
                  <a:lnTo>
                    <a:pt x="0" y="268350"/>
                  </a:lnTo>
                  <a:lnTo>
                    <a:pt x="0" y="2415540"/>
                  </a:lnTo>
                  <a:lnTo>
                    <a:pt x="4323" y="2463778"/>
                  </a:lnTo>
                  <a:lnTo>
                    <a:pt x="16789" y="2509180"/>
                  </a:lnTo>
                  <a:lnTo>
                    <a:pt x="36641" y="2550989"/>
                  </a:lnTo>
                  <a:lnTo>
                    <a:pt x="63123" y="2588446"/>
                  </a:lnTo>
                  <a:lnTo>
                    <a:pt x="95476" y="2620793"/>
                  </a:lnTo>
                  <a:lnTo>
                    <a:pt x="132945" y="2647272"/>
                  </a:lnTo>
                  <a:lnTo>
                    <a:pt x="174773" y="2667124"/>
                  </a:lnTo>
                  <a:lnTo>
                    <a:pt x="220203" y="2679592"/>
                  </a:lnTo>
                  <a:lnTo>
                    <a:pt x="268477" y="2683916"/>
                  </a:lnTo>
                  <a:lnTo>
                    <a:pt x="3958335" y="2683916"/>
                  </a:lnTo>
                  <a:lnTo>
                    <a:pt x="4006577" y="2679592"/>
                  </a:lnTo>
                  <a:lnTo>
                    <a:pt x="4051989" y="2667124"/>
                  </a:lnTo>
                  <a:lnTo>
                    <a:pt x="4093812" y="2647272"/>
                  </a:lnTo>
                  <a:lnTo>
                    <a:pt x="4131285" y="2620793"/>
                  </a:lnTo>
                  <a:lnTo>
                    <a:pt x="4163649" y="2588446"/>
                  </a:lnTo>
                  <a:lnTo>
                    <a:pt x="4190143" y="2550989"/>
                  </a:lnTo>
                  <a:lnTo>
                    <a:pt x="4210009" y="2509180"/>
                  </a:lnTo>
                  <a:lnTo>
                    <a:pt x="4222486" y="2463778"/>
                  </a:lnTo>
                  <a:lnTo>
                    <a:pt x="4226813" y="2415540"/>
                  </a:lnTo>
                  <a:lnTo>
                    <a:pt x="4226813" y="268350"/>
                  </a:lnTo>
                  <a:lnTo>
                    <a:pt x="4222486" y="220113"/>
                  </a:lnTo>
                  <a:lnTo>
                    <a:pt x="4210009" y="174713"/>
                  </a:lnTo>
                  <a:lnTo>
                    <a:pt x="4190143" y="132907"/>
                  </a:lnTo>
                  <a:lnTo>
                    <a:pt x="4163649" y="95454"/>
                  </a:lnTo>
                  <a:lnTo>
                    <a:pt x="4131285" y="63111"/>
                  </a:lnTo>
                  <a:lnTo>
                    <a:pt x="4093812" y="36637"/>
                  </a:lnTo>
                  <a:lnTo>
                    <a:pt x="4051989" y="16788"/>
                  </a:lnTo>
                  <a:lnTo>
                    <a:pt x="4006577" y="4323"/>
                  </a:lnTo>
                  <a:lnTo>
                    <a:pt x="3958335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680590" y="2932049"/>
              <a:ext cx="4227195" cy="2684145"/>
            </a:xfrm>
            <a:custGeom>
              <a:avLst/>
              <a:gdLst/>
              <a:ahLst/>
              <a:cxnLst/>
              <a:rect l="l" t="t" r="r" b="b"/>
              <a:pathLst>
                <a:path w="4227195" h="2684145">
                  <a:moveTo>
                    <a:pt x="0" y="268350"/>
                  </a:moveTo>
                  <a:lnTo>
                    <a:pt x="4323" y="220113"/>
                  </a:lnTo>
                  <a:lnTo>
                    <a:pt x="16789" y="174713"/>
                  </a:lnTo>
                  <a:lnTo>
                    <a:pt x="36641" y="132907"/>
                  </a:lnTo>
                  <a:lnTo>
                    <a:pt x="63123" y="95454"/>
                  </a:lnTo>
                  <a:lnTo>
                    <a:pt x="95476" y="63111"/>
                  </a:lnTo>
                  <a:lnTo>
                    <a:pt x="132945" y="36637"/>
                  </a:lnTo>
                  <a:lnTo>
                    <a:pt x="174773" y="16788"/>
                  </a:lnTo>
                  <a:lnTo>
                    <a:pt x="220203" y="4323"/>
                  </a:lnTo>
                  <a:lnTo>
                    <a:pt x="268477" y="0"/>
                  </a:lnTo>
                  <a:lnTo>
                    <a:pt x="3958335" y="0"/>
                  </a:lnTo>
                  <a:lnTo>
                    <a:pt x="4006577" y="4323"/>
                  </a:lnTo>
                  <a:lnTo>
                    <a:pt x="4051989" y="16788"/>
                  </a:lnTo>
                  <a:lnTo>
                    <a:pt x="4093812" y="36637"/>
                  </a:lnTo>
                  <a:lnTo>
                    <a:pt x="4131285" y="63111"/>
                  </a:lnTo>
                  <a:lnTo>
                    <a:pt x="4163649" y="95454"/>
                  </a:lnTo>
                  <a:lnTo>
                    <a:pt x="4190143" y="132907"/>
                  </a:lnTo>
                  <a:lnTo>
                    <a:pt x="4210009" y="174713"/>
                  </a:lnTo>
                  <a:lnTo>
                    <a:pt x="4222486" y="220113"/>
                  </a:lnTo>
                  <a:lnTo>
                    <a:pt x="4226813" y="268350"/>
                  </a:lnTo>
                  <a:lnTo>
                    <a:pt x="4226813" y="2415540"/>
                  </a:lnTo>
                  <a:lnTo>
                    <a:pt x="4222486" y="2463778"/>
                  </a:lnTo>
                  <a:lnTo>
                    <a:pt x="4210009" y="2509180"/>
                  </a:lnTo>
                  <a:lnTo>
                    <a:pt x="4190143" y="2550989"/>
                  </a:lnTo>
                  <a:lnTo>
                    <a:pt x="4163649" y="2588446"/>
                  </a:lnTo>
                  <a:lnTo>
                    <a:pt x="4131285" y="2620793"/>
                  </a:lnTo>
                  <a:lnTo>
                    <a:pt x="4093812" y="2647272"/>
                  </a:lnTo>
                  <a:lnTo>
                    <a:pt x="4051989" y="2667124"/>
                  </a:lnTo>
                  <a:lnTo>
                    <a:pt x="4006577" y="2679592"/>
                  </a:lnTo>
                  <a:lnTo>
                    <a:pt x="3958335" y="2683916"/>
                  </a:lnTo>
                  <a:lnTo>
                    <a:pt x="268477" y="2683916"/>
                  </a:lnTo>
                  <a:lnTo>
                    <a:pt x="220203" y="2679592"/>
                  </a:lnTo>
                  <a:lnTo>
                    <a:pt x="174773" y="2667124"/>
                  </a:lnTo>
                  <a:lnTo>
                    <a:pt x="132945" y="2647272"/>
                  </a:lnTo>
                  <a:lnTo>
                    <a:pt x="95476" y="2620793"/>
                  </a:lnTo>
                  <a:lnTo>
                    <a:pt x="63123" y="2588446"/>
                  </a:lnTo>
                  <a:lnTo>
                    <a:pt x="36641" y="2550989"/>
                  </a:lnTo>
                  <a:lnTo>
                    <a:pt x="16789" y="2509180"/>
                  </a:lnTo>
                  <a:lnTo>
                    <a:pt x="4323" y="2463778"/>
                  </a:lnTo>
                  <a:lnTo>
                    <a:pt x="0" y="2415540"/>
                  </a:lnTo>
                  <a:lnTo>
                    <a:pt x="0" y="268350"/>
                  </a:lnTo>
                  <a:close/>
                </a:path>
              </a:pathLst>
            </a:custGeom>
            <a:ln w="19050">
              <a:solidFill>
                <a:srgbClr val="FD5D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085848" y="3736340"/>
            <a:ext cx="3415665" cy="1007744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12065" marR="5080" indent="635" algn="ctr">
              <a:lnSpc>
                <a:spcPts val="2480"/>
              </a:lnSpc>
              <a:spcBef>
                <a:spcPts val="420"/>
              </a:spcBef>
            </a:pPr>
            <a:r>
              <a:rPr sz="2300" spc="-50" dirty="0">
                <a:latin typeface="Tahoma"/>
                <a:cs typeface="Tahoma"/>
              </a:rPr>
              <a:t>This</a:t>
            </a:r>
            <a:r>
              <a:rPr sz="2300" spc="-105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section</a:t>
            </a:r>
            <a:r>
              <a:rPr sz="2300" spc="-120" dirty="0">
                <a:latin typeface="Tahoma"/>
                <a:cs typeface="Tahoma"/>
              </a:rPr>
              <a:t> </a:t>
            </a:r>
            <a:r>
              <a:rPr sz="2300" spc="-10" dirty="0">
                <a:latin typeface="Tahoma"/>
                <a:cs typeface="Tahoma"/>
              </a:rPr>
              <a:t>determines </a:t>
            </a:r>
            <a:r>
              <a:rPr sz="2300" spc="-30" dirty="0">
                <a:latin typeface="Tahoma"/>
                <a:cs typeface="Tahoma"/>
              </a:rPr>
              <a:t>whether</a:t>
            </a:r>
            <a:r>
              <a:rPr sz="2300" spc="-210" dirty="0">
                <a:latin typeface="Tahoma"/>
                <a:cs typeface="Tahoma"/>
              </a:rPr>
              <a:t> </a:t>
            </a:r>
            <a:r>
              <a:rPr sz="2300" spc="-30" dirty="0">
                <a:latin typeface="Tahoma"/>
                <a:cs typeface="Tahoma"/>
              </a:rPr>
              <a:t>the</a:t>
            </a:r>
            <a:r>
              <a:rPr sz="2300" spc="-185" dirty="0">
                <a:latin typeface="Tahoma"/>
                <a:cs typeface="Tahoma"/>
              </a:rPr>
              <a:t> </a:t>
            </a:r>
            <a:r>
              <a:rPr sz="2300" spc="-25" dirty="0">
                <a:latin typeface="Tahoma"/>
                <a:cs typeface="Tahoma"/>
              </a:rPr>
              <a:t>study</a:t>
            </a:r>
            <a:r>
              <a:rPr sz="2300" spc="-185" dirty="0">
                <a:latin typeface="Tahoma"/>
                <a:cs typeface="Tahoma"/>
              </a:rPr>
              <a:t> </a:t>
            </a:r>
            <a:r>
              <a:rPr sz="2300" spc="50" dirty="0">
                <a:latin typeface="Tahoma"/>
                <a:cs typeface="Tahoma"/>
              </a:rPr>
              <a:t>is</a:t>
            </a:r>
            <a:r>
              <a:rPr sz="2300" spc="-195" dirty="0">
                <a:latin typeface="Tahoma"/>
                <a:cs typeface="Tahoma"/>
              </a:rPr>
              <a:t> </a:t>
            </a:r>
            <a:r>
              <a:rPr sz="2300" spc="-10" dirty="0">
                <a:latin typeface="Tahoma"/>
                <a:cs typeface="Tahoma"/>
              </a:rPr>
              <a:t>useful </a:t>
            </a:r>
            <a:r>
              <a:rPr sz="2300" dirty="0">
                <a:latin typeface="Tahoma"/>
                <a:cs typeface="Tahoma"/>
              </a:rPr>
              <a:t>and</a:t>
            </a:r>
            <a:r>
              <a:rPr sz="2300" spc="-235" dirty="0">
                <a:latin typeface="Tahoma"/>
                <a:cs typeface="Tahoma"/>
              </a:rPr>
              <a:t> </a:t>
            </a:r>
            <a:r>
              <a:rPr sz="2300" spc="-10" dirty="0">
                <a:latin typeface="Tahoma"/>
                <a:cs typeface="Tahoma"/>
              </a:rPr>
              <a:t>applicable.</a:t>
            </a:r>
            <a:endParaRPr sz="230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377051" y="2485898"/>
            <a:ext cx="4705985" cy="3140075"/>
            <a:chOff x="6377051" y="2485898"/>
            <a:chExt cx="4705985" cy="3140075"/>
          </a:xfrm>
        </p:grpSpPr>
        <p:sp>
          <p:nvSpPr>
            <p:cNvPr id="11" name="object 11"/>
            <p:cNvSpPr/>
            <p:nvPr/>
          </p:nvSpPr>
          <p:spPr>
            <a:xfrm>
              <a:off x="6377051" y="2485898"/>
              <a:ext cx="4227195" cy="2684145"/>
            </a:xfrm>
            <a:custGeom>
              <a:avLst/>
              <a:gdLst/>
              <a:ahLst/>
              <a:cxnLst/>
              <a:rect l="l" t="t" r="r" b="b"/>
              <a:pathLst>
                <a:path w="4227195" h="2684145">
                  <a:moveTo>
                    <a:pt x="3958335" y="0"/>
                  </a:moveTo>
                  <a:lnTo>
                    <a:pt x="268350" y="0"/>
                  </a:lnTo>
                  <a:lnTo>
                    <a:pt x="220113" y="4323"/>
                  </a:lnTo>
                  <a:lnTo>
                    <a:pt x="174713" y="16788"/>
                  </a:lnTo>
                  <a:lnTo>
                    <a:pt x="132907" y="36637"/>
                  </a:lnTo>
                  <a:lnTo>
                    <a:pt x="95454" y="63111"/>
                  </a:lnTo>
                  <a:lnTo>
                    <a:pt x="63111" y="95454"/>
                  </a:lnTo>
                  <a:lnTo>
                    <a:pt x="36637" y="132907"/>
                  </a:lnTo>
                  <a:lnTo>
                    <a:pt x="16788" y="174713"/>
                  </a:lnTo>
                  <a:lnTo>
                    <a:pt x="4323" y="220113"/>
                  </a:lnTo>
                  <a:lnTo>
                    <a:pt x="0" y="268350"/>
                  </a:lnTo>
                  <a:lnTo>
                    <a:pt x="0" y="2415540"/>
                  </a:lnTo>
                  <a:lnTo>
                    <a:pt x="4323" y="2463777"/>
                  </a:lnTo>
                  <a:lnTo>
                    <a:pt x="16788" y="2509177"/>
                  </a:lnTo>
                  <a:lnTo>
                    <a:pt x="36637" y="2550983"/>
                  </a:lnTo>
                  <a:lnTo>
                    <a:pt x="63111" y="2588436"/>
                  </a:lnTo>
                  <a:lnTo>
                    <a:pt x="95454" y="2620779"/>
                  </a:lnTo>
                  <a:lnTo>
                    <a:pt x="132907" y="2647253"/>
                  </a:lnTo>
                  <a:lnTo>
                    <a:pt x="174713" y="2667102"/>
                  </a:lnTo>
                  <a:lnTo>
                    <a:pt x="220113" y="2679567"/>
                  </a:lnTo>
                  <a:lnTo>
                    <a:pt x="268350" y="2683891"/>
                  </a:lnTo>
                  <a:lnTo>
                    <a:pt x="3958335" y="2683891"/>
                  </a:lnTo>
                  <a:lnTo>
                    <a:pt x="4006573" y="2679567"/>
                  </a:lnTo>
                  <a:lnTo>
                    <a:pt x="4051973" y="2667102"/>
                  </a:lnTo>
                  <a:lnTo>
                    <a:pt x="4093779" y="2647253"/>
                  </a:lnTo>
                  <a:lnTo>
                    <a:pt x="4131232" y="2620779"/>
                  </a:lnTo>
                  <a:lnTo>
                    <a:pt x="4163575" y="2588436"/>
                  </a:lnTo>
                  <a:lnTo>
                    <a:pt x="4190049" y="2550983"/>
                  </a:lnTo>
                  <a:lnTo>
                    <a:pt x="4209898" y="2509177"/>
                  </a:lnTo>
                  <a:lnTo>
                    <a:pt x="4222363" y="2463777"/>
                  </a:lnTo>
                  <a:lnTo>
                    <a:pt x="4226687" y="2415540"/>
                  </a:lnTo>
                  <a:lnTo>
                    <a:pt x="4226687" y="268350"/>
                  </a:lnTo>
                  <a:lnTo>
                    <a:pt x="4222363" y="220113"/>
                  </a:lnTo>
                  <a:lnTo>
                    <a:pt x="4209898" y="174713"/>
                  </a:lnTo>
                  <a:lnTo>
                    <a:pt x="4190049" y="132907"/>
                  </a:lnTo>
                  <a:lnTo>
                    <a:pt x="4163575" y="95454"/>
                  </a:lnTo>
                  <a:lnTo>
                    <a:pt x="4131232" y="63111"/>
                  </a:lnTo>
                  <a:lnTo>
                    <a:pt x="4093779" y="36637"/>
                  </a:lnTo>
                  <a:lnTo>
                    <a:pt x="4051973" y="16788"/>
                  </a:lnTo>
                  <a:lnTo>
                    <a:pt x="4006573" y="4323"/>
                  </a:lnTo>
                  <a:lnTo>
                    <a:pt x="3958335" y="0"/>
                  </a:lnTo>
                  <a:close/>
                </a:path>
              </a:pathLst>
            </a:custGeom>
            <a:solidFill>
              <a:srgbClr val="FD5D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846697" y="2932049"/>
              <a:ext cx="4227195" cy="2684145"/>
            </a:xfrm>
            <a:custGeom>
              <a:avLst/>
              <a:gdLst/>
              <a:ahLst/>
              <a:cxnLst/>
              <a:rect l="l" t="t" r="r" b="b"/>
              <a:pathLst>
                <a:path w="4227195" h="2684145">
                  <a:moveTo>
                    <a:pt x="3958335" y="0"/>
                  </a:moveTo>
                  <a:lnTo>
                    <a:pt x="268350" y="0"/>
                  </a:lnTo>
                  <a:lnTo>
                    <a:pt x="220113" y="4323"/>
                  </a:lnTo>
                  <a:lnTo>
                    <a:pt x="174713" y="16788"/>
                  </a:lnTo>
                  <a:lnTo>
                    <a:pt x="132907" y="36637"/>
                  </a:lnTo>
                  <a:lnTo>
                    <a:pt x="95454" y="63111"/>
                  </a:lnTo>
                  <a:lnTo>
                    <a:pt x="63111" y="95454"/>
                  </a:lnTo>
                  <a:lnTo>
                    <a:pt x="36637" y="132907"/>
                  </a:lnTo>
                  <a:lnTo>
                    <a:pt x="16788" y="174713"/>
                  </a:lnTo>
                  <a:lnTo>
                    <a:pt x="4323" y="220113"/>
                  </a:lnTo>
                  <a:lnTo>
                    <a:pt x="0" y="268350"/>
                  </a:lnTo>
                  <a:lnTo>
                    <a:pt x="0" y="2415540"/>
                  </a:lnTo>
                  <a:lnTo>
                    <a:pt x="4323" y="2463778"/>
                  </a:lnTo>
                  <a:lnTo>
                    <a:pt x="16788" y="2509180"/>
                  </a:lnTo>
                  <a:lnTo>
                    <a:pt x="36637" y="2550989"/>
                  </a:lnTo>
                  <a:lnTo>
                    <a:pt x="63111" y="2588446"/>
                  </a:lnTo>
                  <a:lnTo>
                    <a:pt x="95454" y="2620793"/>
                  </a:lnTo>
                  <a:lnTo>
                    <a:pt x="132907" y="2647272"/>
                  </a:lnTo>
                  <a:lnTo>
                    <a:pt x="174713" y="2667124"/>
                  </a:lnTo>
                  <a:lnTo>
                    <a:pt x="220113" y="2679592"/>
                  </a:lnTo>
                  <a:lnTo>
                    <a:pt x="268350" y="2683916"/>
                  </a:lnTo>
                  <a:lnTo>
                    <a:pt x="3958335" y="2683916"/>
                  </a:lnTo>
                  <a:lnTo>
                    <a:pt x="4006573" y="2679592"/>
                  </a:lnTo>
                  <a:lnTo>
                    <a:pt x="4051973" y="2667124"/>
                  </a:lnTo>
                  <a:lnTo>
                    <a:pt x="4093779" y="2647272"/>
                  </a:lnTo>
                  <a:lnTo>
                    <a:pt x="4131232" y="2620793"/>
                  </a:lnTo>
                  <a:lnTo>
                    <a:pt x="4163575" y="2588446"/>
                  </a:lnTo>
                  <a:lnTo>
                    <a:pt x="4190049" y="2550989"/>
                  </a:lnTo>
                  <a:lnTo>
                    <a:pt x="4209898" y="2509180"/>
                  </a:lnTo>
                  <a:lnTo>
                    <a:pt x="4222363" y="2463778"/>
                  </a:lnTo>
                  <a:lnTo>
                    <a:pt x="4226686" y="2415540"/>
                  </a:lnTo>
                  <a:lnTo>
                    <a:pt x="4226686" y="268350"/>
                  </a:lnTo>
                  <a:lnTo>
                    <a:pt x="4222363" y="220113"/>
                  </a:lnTo>
                  <a:lnTo>
                    <a:pt x="4209898" y="174713"/>
                  </a:lnTo>
                  <a:lnTo>
                    <a:pt x="4190049" y="132907"/>
                  </a:lnTo>
                  <a:lnTo>
                    <a:pt x="4163575" y="95454"/>
                  </a:lnTo>
                  <a:lnTo>
                    <a:pt x="4131232" y="63111"/>
                  </a:lnTo>
                  <a:lnTo>
                    <a:pt x="4093779" y="36637"/>
                  </a:lnTo>
                  <a:lnTo>
                    <a:pt x="4051973" y="16788"/>
                  </a:lnTo>
                  <a:lnTo>
                    <a:pt x="4006573" y="4323"/>
                  </a:lnTo>
                  <a:lnTo>
                    <a:pt x="3958335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846697" y="2932049"/>
              <a:ext cx="4227195" cy="2684145"/>
            </a:xfrm>
            <a:custGeom>
              <a:avLst/>
              <a:gdLst/>
              <a:ahLst/>
              <a:cxnLst/>
              <a:rect l="l" t="t" r="r" b="b"/>
              <a:pathLst>
                <a:path w="4227195" h="2684145">
                  <a:moveTo>
                    <a:pt x="0" y="268350"/>
                  </a:moveTo>
                  <a:lnTo>
                    <a:pt x="4323" y="220113"/>
                  </a:lnTo>
                  <a:lnTo>
                    <a:pt x="16788" y="174713"/>
                  </a:lnTo>
                  <a:lnTo>
                    <a:pt x="36637" y="132907"/>
                  </a:lnTo>
                  <a:lnTo>
                    <a:pt x="63111" y="95454"/>
                  </a:lnTo>
                  <a:lnTo>
                    <a:pt x="95454" y="63111"/>
                  </a:lnTo>
                  <a:lnTo>
                    <a:pt x="132907" y="36637"/>
                  </a:lnTo>
                  <a:lnTo>
                    <a:pt x="174713" y="16788"/>
                  </a:lnTo>
                  <a:lnTo>
                    <a:pt x="220113" y="4323"/>
                  </a:lnTo>
                  <a:lnTo>
                    <a:pt x="268350" y="0"/>
                  </a:lnTo>
                  <a:lnTo>
                    <a:pt x="3958335" y="0"/>
                  </a:lnTo>
                  <a:lnTo>
                    <a:pt x="4006573" y="4323"/>
                  </a:lnTo>
                  <a:lnTo>
                    <a:pt x="4051973" y="16788"/>
                  </a:lnTo>
                  <a:lnTo>
                    <a:pt x="4093779" y="36637"/>
                  </a:lnTo>
                  <a:lnTo>
                    <a:pt x="4131232" y="63111"/>
                  </a:lnTo>
                  <a:lnTo>
                    <a:pt x="4163575" y="95454"/>
                  </a:lnTo>
                  <a:lnTo>
                    <a:pt x="4190049" y="132907"/>
                  </a:lnTo>
                  <a:lnTo>
                    <a:pt x="4209898" y="174713"/>
                  </a:lnTo>
                  <a:lnTo>
                    <a:pt x="4222363" y="220113"/>
                  </a:lnTo>
                  <a:lnTo>
                    <a:pt x="4226686" y="268350"/>
                  </a:lnTo>
                  <a:lnTo>
                    <a:pt x="4226686" y="2415540"/>
                  </a:lnTo>
                  <a:lnTo>
                    <a:pt x="4222363" y="2463778"/>
                  </a:lnTo>
                  <a:lnTo>
                    <a:pt x="4209898" y="2509180"/>
                  </a:lnTo>
                  <a:lnTo>
                    <a:pt x="4190049" y="2550989"/>
                  </a:lnTo>
                  <a:lnTo>
                    <a:pt x="4163575" y="2588446"/>
                  </a:lnTo>
                  <a:lnTo>
                    <a:pt x="4131232" y="2620793"/>
                  </a:lnTo>
                  <a:lnTo>
                    <a:pt x="4093779" y="2647272"/>
                  </a:lnTo>
                  <a:lnTo>
                    <a:pt x="4051973" y="2667124"/>
                  </a:lnTo>
                  <a:lnTo>
                    <a:pt x="4006573" y="2679592"/>
                  </a:lnTo>
                  <a:lnTo>
                    <a:pt x="3958335" y="2683916"/>
                  </a:lnTo>
                  <a:lnTo>
                    <a:pt x="268350" y="2683916"/>
                  </a:lnTo>
                  <a:lnTo>
                    <a:pt x="220113" y="2679592"/>
                  </a:lnTo>
                  <a:lnTo>
                    <a:pt x="174713" y="2667124"/>
                  </a:lnTo>
                  <a:lnTo>
                    <a:pt x="132907" y="2647272"/>
                  </a:lnTo>
                  <a:lnTo>
                    <a:pt x="95454" y="2620793"/>
                  </a:lnTo>
                  <a:lnTo>
                    <a:pt x="63111" y="2588446"/>
                  </a:lnTo>
                  <a:lnTo>
                    <a:pt x="36637" y="2550989"/>
                  </a:lnTo>
                  <a:lnTo>
                    <a:pt x="16788" y="2509180"/>
                  </a:lnTo>
                  <a:lnTo>
                    <a:pt x="4323" y="2463778"/>
                  </a:lnTo>
                  <a:lnTo>
                    <a:pt x="0" y="2415540"/>
                  </a:lnTo>
                  <a:lnTo>
                    <a:pt x="0" y="268350"/>
                  </a:lnTo>
                  <a:close/>
                </a:path>
              </a:pathLst>
            </a:custGeom>
            <a:ln w="19050">
              <a:solidFill>
                <a:srgbClr val="FD5D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7072630" y="3042666"/>
            <a:ext cx="3775710" cy="239649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570230" marR="563880" algn="ctr">
              <a:lnSpc>
                <a:spcPts val="2480"/>
              </a:lnSpc>
              <a:spcBef>
                <a:spcPts val="420"/>
              </a:spcBef>
            </a:pPr>
            <a:r>
              <a:rPr sz="2300" b="1" spc="-20" dirty="0">
                <a:latin typeface="Arial"/>
                <a:cs typeface="Arial"/>
              </a:rPr>
              <a:t>How</a:t>
            </a:r>
            <a:r>
              <a:rPr sz="2300" b="1" spc="-125" dirty="0">
                <a:latin typeface="Arial"/>
                <a:cs typeface="Arial"/>
              </a:rPr>
              <a:t> </a:t>
            </a:r>
            <a:r>
              <a:rPr sz="2300" b="1" spc="-25" dirty="0">
                <a:latin typeface="Arial"/>
                <a:cs typeface="Arial"/>
              </a:rPr>
              <a:t>valuable</a:t>
            </a:r>
            <a:r>
              <a:rPr sz="2300" b="1" spc="-105" dirty="0">
                <a:latin typeface="Arial"/>
                <a:cs typeface="Arial"/>
              </a:rPr>
              <a:t> </a:t>
            </a:r>
            <a:r>
              <a:rPr sz="2300" b="1" spc="-30" dirty="0">
                <a:latin typeface="Arial"/>
                <a:cs typeface="Arial"/>
              </a:rPr>
              <a:t>is</a:t>
            </a:r>
            <a:r>
              <a:rPr sz="2300" b="1" spc="-120" dirty="0">
                <a:latin typeface="Arial"/>
                <a:cs typeface="Arial"/>
              </a:rPr>
              <a:t> </a:t>
            </a:r>
            <a:r>
              <a:rPr sz="2300" b="1" spc="-25" dirty="0">
                <a:latin typeface="Arial"/>
                <a:cs typeface="Arial"/>
              </a:rPr>
              <a:t>the </a:t>
            </a:r>
            <a:r>
              <a:rPr sz="2300" b="1" spc="-10" dirty="0">
                <a:latin typeface="Arial"/>
                <a:cs typeface="Arial"/>
              </a:rPr>
              <a:t>research?</a:t>
            </a:r>
            <a:endParaRPr sz="2300">
              <a:latin typeface="Arial"/>
              <a:cs typeface="Arial"/>
            </a:endParaRPr>
          </a:p>
          <a:p>
            <a:pPr marL="12065" marR="5080" algn="ctr">
              <a:lnSpc>
                <a:spcPts val="2480"/>
              </a:lnSpc>
              <a:spcBef>
                <a:spcPts val="980"/>
              </a:spcBef>
            </a:pPr>
            <a:r>
              <a:rPr sz="2300" spc="-50" dirty="0">
                <a:latin typeface="Tahoma"/>
                <a:cs typeface="Tahoma"/>
              </a:rPr>
              <a:t>-</a:t>
            </a:r>
            <a:r>
              <a:rPr sz="2300" spc="-18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Do</a:t>
            </a:r>
            <a:r>
              <a:rPr sz="2300" spc="-195" dirty="0">
                <a:latin typeface="Tahoma"/>
                <a:cs typeface="Tahoma"/>
              </a:rPr>
              <a:t> </a:t>
            </a:r>
            <a:r>
              <a:rPr sz="2300" spc="-30" dirty="0">
                <a:latin typeface="Tahoma"/>
                <a:cs typeface="Tahoma"/>
              </a:rPr>
              <a:t>the</a:t>
            </a:r>
            <a:r>
              <a:rPr sz="2300" spc="-180" dirty="0">
                <a:latin typeface="Tahoma"/>
                <a:cs typeface="Tahoma"/>
              </a:rPr>
              <a:t> </a:t>
            </a:r>
            <a:r>
              <a:rPr sz="2300" spc="-30" dirty="0">
                <a:latin typeface="Tahoma"/>
                <a:cs typeface="Tahoma"/>
              </a:rPr>
              <a:t>findings</a:t>
            </a:r>
            <a:r>
              <a:rPr sz="2300" spc="-204" dirty="0">
                <a:latin typeface="Tahoma"/>
                <a:cs typeface="Tahoma"/>
              </a:rPr>
              <a:t> </a:t>
            </a:r>
            <a:r>
              <a:rPr sz="2300" spc="-10" dirty="0">
                <a:latin typeface="Tahoma"/>
                <a:cs typeface="Tahoma"/>
              </a:rPr>
              <a:t>contribute</a:t>
            </a:r>
            <a:r>
              <a:rPr sz="2300" spc="-195" dirty="0">
                <a:latin typeface="Tahoma"/>
                <a:cs typeface="Tahoma"/>
              </a:rPr>
              <a:t> </a:t>
            </a:r>
            <a:r>
              <a:rPr sz="2300" spc="-25" dirty="0">
                <a:latin typeface="Tahoma"/>
                <a:cs typeface="Tahoma"/>
              </a:rPr>
              <a:t>to </a:t>
            </a:r>
            <a:r>
              <a:rPr sz="2300" spc="-40" dirty="0">
                <a:latin typeface="Tahoma"/>
                <a:cs typeface="Tahoma"/>
              </a:rPr>
              <a:t>existing</a:t>
            </a:r>
            <a:r>
              <a:rPr sz="2300" spc="-165" dirty="0">
                <a:latin typeface="Tahoma"/>
                <a:cs typeface="Tahoma"/>
              </a:rPr>
              <a:t> </a:t>
            </a:r>
            <a:r>
              <a:rPr sz="2300" spc="-10" dirty="0">
                <a:latin typeface="Tahoma"/>
                <a:cs typeface="Tahoma"/>
              </a:rPr>
              <a:t>knowledge?</a:t>
            </a:r>
            <a:endParaRPr sz="2300">
              <a:latin typeface="Tahoma"/>
              <a:cs typeface="Tahoma"/>
            </a:endParaRPr>
          </a:p>
          <a:p>
            <a:pPr marL="85725" marR="76835" algn="ctr">
              <a:lnSpc>
                <a:spcPts val="2480"/>
              </a:lnSpc>
              <a:spcBef>
                <a:spcPts val="20"/>
              </a:spcBef>
            </a:pPr>
            <a:r>
              <a:rPr sz="2300" spc="-50" dirty="0">
                <a:latin typeface="Tahoma"/>
                <a:cs typeface="Tahoma"/>
              </a:rPr>
              <a:t>-</a:t>
            </a:r>
            <a:r>
              <a:rPr sz="2300" spc="-185" dirty="0">
                <a:latin typeface="Tahoma"/>
                <a:cs typeface="Tahoma"/>
              </a:rPr>
              <a:t> </a:t>
            </a:r>
            <a:r>
              <a:rPr sz="2300" spc="60" dirty="0">
                <a:latin typeface="Tahoma"/>
                <a:cs typeface="Tahoma"/>
              </a:rPr>
              <a:t>Can</a:t>
            </a:r>
            <a:r>
              <a:rPr sz="2300" spc="-195" dirty="0">
                <a:latin typeface="Tahoma"/>
                <a:cs typeface="Tahoma"/>
              </a:rPr>
              <a:t> </a:t>
            </a:r>
            <a:r>
              <a:rPr sz="2300" spc="-30" dirty="0">
                <a:latin typeface="Tahoma"/>
                <a:cs typeface="Tahoma"/>
              </a:rPr>
              <a:t>the</a:t>
            </a:r>
            <a:r>
              <a:rPr sz="2300" spc="-185" dirty="0">
                <a:latin typeface="Tahoma"/>
                <a:cs typeface="Tahoma"/>
              </a:rPr>
              <a:t> </a:t>
            </a:r>
            <a:r>
              <a:rPr sz="2300" spc="-25" dirty="0">
                <a:latin typeface="Tahoma"/>
                <a:cs typeface="Tahoma"/>
              </a:rPr>
              <a:t>study</a:t>
            </a:r>
            <a:r>
              <a:rPr sz="2300" spc="-18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be</a:t>
            </a:r>
            <a:r>
              <a:rPr sz="2300" spc="-200" dirty="0">
                <a:latin typeface="Tahoma"/>
                <a:cs typeface="Tahoma"/>
              </a:rPr>
              <a:t> </a:t>
            </a:r>
            <a:r>
              <a:rPr sz="2300" dirty="0">
                <a:latin typeface="Tahoma"/>
                <a:cs typeface="Tahoma"/>
              </a:rPr>
              <a:t>applied</a:t>
            </a:r>
            <a:r>
              <a:rPr sz="2300" spc="-195" dirty="0">
                <a:latin typeface="Tahoma"/>
                <a:cs typeface="Tahoma"/>
              </a:rPr>
              <a:t> </a:t>
            </a:r>
            <a:r>
              <a:rPr sz="2300" spc="-25" dirty="0">
                <a:latin typeface="Tahoma"/>
                <a:cs typeface="Tahoma"/>
              </a:rPr>
              <a:t>in </a:t>
            </a:r>
            <a:r>
              <a:rPr sz="2300" dirty="0">
                <a:latin typeface="Tahoma"/>
                <a:cs typeface="Tahoma"/>
              </a:rPr>
              <a:t>practice</a:t>
            </a:r>
            <a:r>
              <a:rPr sz="2300" spc="-95" dirty="0">
                <a:latin typeface="Tahoma"/>
                <a:cs typeface="Tahoma"/>
              </a:rPr>
              <a:t> </a:t>
            </a:r>
            <a:r>
              <a:rPr sz="2300" spc="-110" dirty="0">
                <a:latin typeface="Tahoma"/>
                <a:cs typeface="Tahoma"/>
              </a:rPr>
              <a:t>(e.g., </a:t>
            </a:r>
            <a:r>
              <a:rPr sz="2300" spc="-10" dirty="0">
                <a:latin typeface="Tahoma"/>
                <a:cs typeface="Tahoma"/>
              </a:rPr>
              <a:t>healthcare,</a:t>
            </a:r>
            <a:endParaRPr sz="2300">
              <a:latin typeface="Tahoma"/>
              <a:cs typeface="Tahoma"/>
            </a:endParaRPr>
          </a:p>
          <a:p>
            <a:pPr algn="ctr">
              <a:lnSpc>
                <a:spcPts val="2465"/>
              </a:lnSpc>
            </a:pPr>
            <a:r>
              <a:rPr sz="2300" dirty="0">
                <a:latin typeface="Tahoma"/>
                <a:cs typeface="Tahoma"/>
              </a:rPr>
              <a:t>education,</a:t>
            </a:r>
            <a:r>
              <a:rPr sz="2300" spc="-185" dirty="0">
                <a:latin typeface="Tahoma"/>
                <a:cs typeface="Tahoma"/>
              </a:rPr>
              <a:t> </a:t>
            </a:r>
            <a:r>
              <a:rPr sz="2300" spc="-10" dirty="0">
                <a:latin typeface="Tahoma"/>
                <a:cs typeface="Tahoma"/>
              </a:rPr>
              <a:t>policy)?</a:t>
            </a:r>
            <a:endParaRPr sz="23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9948" y="949198"/>
            <a:ext cx="4245610" cy="1009650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12700" marR="5080">
              <a:lnSpc>
                <a:spcPts val="3670"/>
              </a:lnSpc>
              <a:spcBef>
                <a:spcPts val="560"/>
              </a:spcBef>
            </a:pPr>
            <a:r>
              <a:rPr sz="3400" dirty="0"/>
              <a:t>Rigour</a:t>
            </a:r>
            <a:r>
              <a:rPr sz="3400" spc="-75" dirty="0"/>
              <a:t> </a:t>
            </a:r>
            <a:r>
              <a:rPr sz="3400" dirty="0"/>
              <a:t>in</a:t>
            </a:r>
            <a:r>
              <a:rPr sz="3400" spc="-80" dirty="0"/>
              <a:t> </a:t>
            </a:r>
            <a:r>
              <a:rPr sz="3400" spc="-10" dirty="0"/>
              <a:t>Qualitative Research</a:t>
            </a:r>
            <a:endParaRPr sz="3400"/>
          </a:p>
        </p:txBody>
      </p:sp>
      <p:sp>
        <p:nvSpPr>
          <p:cNvPr id="3" name="object 3"/>
          <p:cNvSpPr/>
          <p:nvPr/>
        </p:nvSpPr>
        <p:spPr>
          <a:xfrm>
            <a:off x="517867" y="508076"/>
            <a:ext cx="4672965" cy="149860"/>
          </a:xfrm>
          <a:custGeom>
            <a:avLst/>
            <a:gdLst/>
            <a:ahLst/>
            <a:cxnLst/>
            <a:rect l="l" t="t" r="r" b="b"/>
            <a:pathLst>
              <a:path w="4672965" h="149859">
                <a:moveTo>
                  <a:pt x="4672965" y="0"/>
                </a:moveTo>
                <a:lnTo>
                  <a:pt x="0" y="0"/>
                </a:lnTo>
                <a:lnTo>
                  <a:pt x="0" y="149275"/>
                </a:lnTo>
                <a:lnTo>
                  <a:pt x="4672965" y="149275"/>
                </a:lnTo>
                <a:lnTo>
                  <a:pt x="467296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99948" y="2452598"/>
            <a:ext cx="2305685" cy="3261995"/>
          </a:xfrm>
          <a:prstGeom prst="rect">
            <a:avLst/>
          </a:prstGeom>
        </p:spPr>
        <p:txBody>
          <a:bodyPr vert="horz" wrap="square" lIns="0" tIns="16954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335"/>
              </a:spcBef>
              <a:buChar char="•"/>
              <a:tabLst>
                <a:tab pos="240665" algn="l"/>
              </a:tabLst>
            </a:pPr>
            <a:r>
              <a:rPr sz="2000" spc="-10" dirty="0">
                <a:latin typeface="Arial MT"/>
                <a:cs typeface="Arial MT"/>
              </a:rPr>
              <a:t>Trustworthiness</a:t>
            </a:r>
            <a:endParaRPr sz="20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240"/>
              </a:spcBef>
              <a:buChar char="•"/>
              <a:tabLst>
                <a:tab pos="240665" algn="l"/>
              </a:tabLst>
            </a:pPr>
            <a:r>
              <a:rPr sz="2000" spc="-10" dirty="0">
                <a:latin typeface="Arial MT"/>
                <a:cs typeface="Arial MT"/>
              </a:rPr>
              <a:t>Credibility</a:t>
            </a:r>
            <a:endParaRPr sz="20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245"/>
              </a:spcBef>
              <a:buChar char="•"/>
              <a:tabLst>
                <a:tab pos="240665" algn="l"/>
              </a:tabLst>
            </a:pPr>
            <a:r>
              <a:rPr sz="2000" spc="-10" dirty="0">
                <a:latin typeface="Arial MT"/>
                <a:cs typeface="Arial MT"/>
              </a:rPr>
              <a:t>Accuracy</a:t>
            </a:r>
            <a:endParaRPr sz="2000">
              <a:latin typeface="Arial MT"/>
              <a:cs typeface="Arial MT"/>
            </a:endParaRPr>
          </a:p>
          <a:p>
            <a:pPr marL="311150" indent="-298450">
              <a:lnSpc>
                <a:spcPct val="100000"/>
              </a:lnSpc>
              <a:spcBef>
                <a:spcPts val="1240"/>
              </a:spcBef>
              <a:buChar char="•"/>
              <a:tabLst>
                <a:tab pos="311150" algn="l"/>
              </a:tabLst>
            </a:pPr>
            <a:r>
              <a:rPr sz="2000" spc="-10" dirty="0">
                <a:latin typeface="Arial MT"/>
                <a:cs typeface="Arial MT"/>
              </a:rPr>
              <a:t>Well-documented</a:t>
            </a:r>
            <a:endParaRPr sz="20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235"/>
              </a:spcBef>
              <a:buChar char="•"/>
              <a:tabLst>
                <a:tab pos="240665" algn="l"/>
              </a:tabLst>
            </a:pPr>
            <a:r>
              <a:rPr sz="2000" dirty="0">
                <a:latin typeface="Arial MT"/>
                <a:cs typeface="Arial MT"/>
              </a:rPr>
              <a:t>Free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from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bias</a:t>
            </a:r>
            <a:endParaRPr sz="20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250"/>
              </a:spcBef>
              <a:buChar char="•"/>
              <a:tabLst>
                <a:tab pos="240665" algn="l"/>
              </a:tabLst>
            </a:pPr>
            <a:r>
              <a:rPr sz="2000" spc="-10" dirty="0">
                <a:latin typeface="Arial MT"/>
                <a:cs typeface="Arial MT"/>
              </a:rPr>
              <a:t>Reliable</a:t>
            </a:r>
            <a:endParaRPr sz="20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235"/>
              </a:spcBef>
              <a:buChar char="•"/>
              <a:tabLst>
                <a:tab pos="240665" algn="l"/>
              </a:tabLst>
            </a:pPr>
            <a:r>
              <a:rPr sz="2000" spc="-10" dirty="0">
                <a:latin typeface="Arial MT"/>
                <a:cs typeface="Arial MT"/>
              </a:rPr>
              <a:t>Applicable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58078" y="508126"/>
            <a:ext cx="5709666" cy="584695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7"/>
            <a:ext cx="11671300" cy="6858000"/>
            <a:chOff x="0" y="47"/>
            <a:chExt cx="11671300" cy="6858000"/>
          </a:xfrm>
        </p:grpSpPr>
        <p:sp>
          <p:nvSpPr>
            <p:cNvPr id="3" name="object 3"/>
            <p:cNvSpPr/>
            <p:nvPr/>
          </p:nvSpPr>
          <p:spPr>
            <a:xfrm>
              <a:off x="517867" y="508076"/>
              <a:ext cx="11153775" cy="149860"/>
            </a:xfrm>
            <a:custGeom>
              <a:avLst/>
              <a:gdLst/>
              <a:ahLst/>
              <a:cxnLst/>
              <a:rect l="l" t="t" r="r" b="b"/>
              <a:pathLst>
                <a:path w="11153775" h="149859">
                  <a:moveTo>
                    <a:pt x="11153267" y="0"/>
                  </a:moveTo>
                  <a:lnTo>
                    <a:pt x="0" y="0"/>
                  </a:lnTo>
                  <a:lnTo>
                    <a:pt x="0" y="149275"/>
                  </a:lnTo>
                  <a:lnTo>
                    <a:pt x="11153267" y="149275"/>
                  </a:lnTo>
                  <a:lnTo>
                    <a:pt x="1115326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47"/>
              <a:ext cx="4571999" cy="6857873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5091176" y="2568534"/>
            <a:ext cx="2218055" cy="2142490"/>
          </a:xfrm>
          <a:prstGeom prst="rect">
            <a:avLst/>
          </a:prstGeom>
        </p:spPr>
        <p:txBody>
          <a:bodyPr vert="horz" wrap="square" lIns="0" tIns="17526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380"/>
              </a:spcBef>
              <a:buFont typeface="Arial MT"/>
              <a:buChar char="•"/>
              <a:tabLst>
                <a:tab pos="240665" algn="l"/>
              </a:tabLst>
            </a:pPr>
            <a:r>
              <a:rPr sz="2400" spc="-10" dirty="0">
                <a:latin typeface="Arial MT"/>
                <a:cs typeface="Arial MT"/>
              </a:rPr>
              <a:t>Credibility,</a:t>
            </a:r>
            <a:endParaRPr sz="2400">
              <a:latin typeface="Arial MT"/>
              <a:cs typeface="Arial MT"/>
            </a:endParaRPr>
          </a:p>
          <a:p>
            <a:pPr marL="240029" indent="-227329">
              <a:lnSpc>
                <a:spcPct val="100000"/>
              </a:lnSpc>
              <a:spcBef>
                <a:spcPts val="1285"/>
              </a:spcBef>
              <a:buChar char="•"/>
              <a:tabLst>
                <a:tab pos="240029" algn="l"/>
              </a:tabLst>
            </a:pPr>
            <a:r>
              <a:rPr sz="2400" spc="-20" dirty="0">
                <a:latin typeface="Arial MT"/>
                <a:cs typeface="Arial MT"/>
              </a:rPr>
              <a:t>Transferability,</a:t>
            </a:r>
            <a:endParaRPr sz="24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295"/>
              </a:spcBef>
              <a:buChar char="•"/>
              <a:tabLst>
                <a:tab pos="240665" algn="l"/>
              </a:tabLst>
            </a:pPr>
            <a:r>
              <a:rPr sz="2400" spc="-10" dirty="0">
                <a:latin typeface="Arial MT"/>
                <a:cs typeface="Arial MT"/>
              </a:rPr>
              <a:t>Dependability,</a:t>
            </a:r>
            <a:endParaRPr sz="2400">
              <a:latin typeface="Arial MT"/>
              <a:cs typeface="Arial MT"/>
            </a:endParaRPr>
          </a:p>
          <a:p>
            <a:pPr marL="240029" indent="-227329">
              <a:lnSpc>
                <a:spcPct val="100000"/>
              </a:lnSpc>
              <a:spcBef>
                <a:spcPts val="1285"/>
              </a:spcBef>
              <a:buChar char="•"/>
              <a:tabLst>
                <a:tab pos="240029" algn="l"/>
              </a:tabLst>
            </a:pPr>
            <a:r>
              <a:rPr sz="2400" spc="-10" dirty="0">
                <a:latin typeface="Arial MT"/>
                <a:cs typeface="Arial MT"/>
              </a:rPr>
              <a:t>Confirmability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9229" rIns="0" bIns="0" rtlCol="0">
            <a:spAutoFit/>
          </a:bodyPr>
          <a:lstStyle/>
          <a:p>
            <a:pPr marL="4612005">
              <a:lnSpc>
                <a:spcPct val="100000"/>
              </a:lnSpc>
              <a:spcBef>
                <a:spcPts val="105"/>
              </a:spcBef>
            </a:pPr>
            <a:r>
              <a:rPr dirty="0"/>
              <a:t>Ensuring </a:t>
            </a:r>
            <a:r>
              <a:rPr spc="-10" dirty="0"/>
              <a:t>Rigour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9948" y="977849"/>
            <a:ext cx="72751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5" dirty="0"/>
              <a:t>Credibility</a:t>
            </a:r>
            <a:r>
              <a:rPr spc="-235" dirty="0"/>
              <a:t> </a:t>
            </a:r>
            <a:r>
              <a:rPr spc="-10" dirty="0"/>
              <a:t>(Internal</a:t>
            </a:r>
            <a:r>
              <a:rPr spc="-240" dirty="0"/>
              <a:t> </a:t>
            </a:r>
            <a:r>
              <a:rPr spc="-35" dirty="0"/>
              <a:t>Validity)</a:t>
            </a:r>
          </a:p>
        </p:txBody>
      </p:sp>
      <p:sp>
        <p:nvSpPr>
          <p:cNvPr id="3" name="object 3"/>
          <p:cNvSpPr/>
          <p:nvPr/>
        </p:nvSpPr>
        <p:spPr>
          <a:xfrm>
            <a:off x="517867" y="508076"/>
            <a:ext cx="11155680" cy="149860"/>
          </a:xfrm>
          <a:custGeom>
            <a:avLst/>
            <a:gdLst/>
            <a:ahLst/>
            <a:cxnLst/>
            <a:rect l="l" t="t" r="r" b="b"/>
            <a:pathLst>
              <a:path w="11155680" h="149859">
                <a:moveTo>
                  <a:pt x="11155680" y="0"/>
                </a:moveTo>
                <a:lnTo>
                  <a:pt x="0" y="0"/>
                </a:lnTo>
                <a:lnTo>
                  <a:pt x="0" y="149275"/>
                </a:lnTo>
                <a:lnTo>
                  <a:pt x="11155680" y="149275"/>
                </a:lnTo>
                <a:lnTo>
                  <a:pt x="1115568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21208" y="6299530"/>
            <a:ext cx="11155680" cy="46990"/>
          </a:xfrm>
          <a:custGeom>
            <a:avLst/>
            <a:gdLst/>
            <a:ahLst/>
            <a:cxnLst/>
            <a:rect l="l" t="t" r="r" b="b"/>
            <a:pathLst>
              <a:path w="11155680" h="46989">
                <a:moveTo>
                  <a:pt x="11155680" y="0"/>
                </a:moveTo>
                <a:lnTo>
                  <a:pt x="0" y="0"/>
                </a:lnTo>
                <a:lnTo>
                  <a:pt x="0" y="46469"/>
                </a:lnTo>
                <a:lnTo>
                  <a:pt x="11155680" y="46469"/>
                </a:lnTo>
                <a:lnTo>
                  <a:pt x="1115568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637019" y="4460265"/>
          <a:ext cx="11031219" cy="15043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57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7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78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578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98195">
                <a:tc gridSpan="4">
                  <a:txBody>
                    <a:bodyPr/>
                    <a:lstStyle/>
                    <a:p>
                      <a:pPr marL="368935">
                        <a:lnSpc>
                          <a:spcPct val="100000"/>
                        </a:lnSpc>
                        <a:spcBef>
                          <a:spcPts val="1540"/>
                        </a:spcBef>
                      </a:pPr>
                      <a:r>
                        <a:rPr sz="2400" b="1" spc="-4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Methods</a:t>
                      </a:r>
                      <a:r>
                        <a:rPr sz="2400" b="1" spc="-5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or</a:t>
                      </a:r>
                      <a:r>
                        <a:rPr sz="2400" b="1" spc="-6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b="1" spc="-9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Techniques</a:t>
                      </a:r>
                      <a:r>
                        <a:rPr sz="2400" b="1" spc="-6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sz="2400" b="1" spc="-6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b="1" spc="-7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Enhance</a:t>
                      </a:r>
                      <a:r>
                        <a:rPr sz="2400" b="1" spc="-7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b="1" spc="-9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Techniques</a:t>
                      </a:r>
                      <a:r>
                        <a:rPr sz="2400" b="1" spc="-6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sz="2400" b="1" spc="-6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b="1" spc="-7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Enhance</a:t>
                      </a:r>
                      <a:r>
                        <a:rPr sz="2400" b="1" spc="-6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Transferability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195580" marB="0">
                    <a:lnB w="19050">
                      <a:solidFill>
                        <a:srgbClr val="D0D1FF"/>
                      </a:solidFill>
                      <a:prstDash val="solid"/>
                    </a:lnB>
                    <a:solidFill>
                      <a:srgbClr val="E6472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6120">
                <a:tc>
                  <a:txBody>
                    <a:bodyPr/>
                    <a:lstStyle/>
                    <a:p>
                      <a:pPr marL="563880">
                        <a:lnSpc>
                          <a:spcPct val="100000"/>
                        </a:lnSpc>
                        <a:spcBef>
                          <a:spcPts val="1140"/>
                        </a:spcBef>
                      </a:pPr>
                      <a:r>
                        <a:rPr sz="2300" spc="-10" dirty="0">
                          <a:latin typeface="Tahoma"/>
                          <a:cs typeface="Tahoma"/>
                        </a:rPr>
                        <a:t>Triangulation</a:t>
                      </a:r>
                      <a:endParaRPr sz="2300">
                        <a:latin typeface="Tahoma"/>
                        <a:cs typeface="Tahoma"/>
                      </a:endParaRPr>
                    </a:p>
                  </a:txBody>
                  <a:tcPr marL="0" marR="0" marT="144780" marB="0">
                    <a:lnL w="19050">
                      <a:solidFill>
                        <a:srgbClr val="F5CFCC"/>
                      </a:solidFill>
                      <a:prstDash val="solid"/>
                    </a:lnL>
                    <a:lnR w="19050">
                      <a:solidFill>
                        <a:srgbClr val="E9F8CD"/>
                      </a:solidFill>
                      <a:prstDash val="solid"/>
                    </a:lnR>
                    <a:lnT w="19050" cap="flat" cmpd="sng" algn="ctr">
                      <a:solidFill>
                        <a:srgbClr val="D0D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5CFCC"/>
                      </a:solidFill>
                      <a:prstDash val="solid"/>
                    </a:lnB>
                    <a:solidFill>
                      <a:srgbClr val="F5CFCC">
                        <a:alpha val="9019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27965">
                        <a:lnSpc>
                          <a:spcPct val="100000"/>
                        </a:lnSpc>
                        <a:spcBef>
                          <a:spcPts val="1140"/>
                        </a:spcBef>
                      </a:pPr>
                      <a:r>
                        <a:rPr sz="2300" dirty="0">
                          <a:latin typeface="Tahoma"/>
                          <a:cs typeface="Tahoma"/>
                        </a:rPr>
                        <a:t>Member</a:t>
                      </a:r>
                      <a:r>
                        <a:rPr sz="2300" spc="-2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300" spc="-10" dirty="0">
                          <a:latin typeface="Tahoma"/>
                          <a:cs typeface="Tahoma"/>
                        </a:rPr>
                        <a:t>Checking</a:t>
                      </a:r>
                      <a:endParaRPr sz="2300">
                        <a:latin typeface="Tahoma"/>
                        <a:cs typeface="Tahoma"/>
                      </a:endParaRPr>
                    </a:p>
                  </a:txBody>
                  <a:tcPr marL="0" marR="0" marT="144780" marB="0">
                    <a:lnL w="19050">
                      <a:solidFill>
                        <a:srgbClr val="E9F8CD"/>
                      </a:solidFill>
                      <a:prstDash val="solid"/>
                    </a:lnL>
                    <a:lnR w="19050">
                      <a:solidFill>
                        <a:srgbClr val="CEFBEC"/>
                      </a:solidFill>
                      <a:prstDash val="solid"/>
                    </a:lnR>
                    <a:lnT w="19050">
                      <a:solidFill>
                        <a:srgbClr val="E9F8CD"/>
                      </a:solidFill>
                      <a:prstDash val="solid"/>
                    </a:lnT>
                    <a:lnB w="19050">
                      <a:solidFill>
                        <a:srgbClr val="E9F8CD"/>
                      </a:solidFill>
                      <a:prstDash val="solid"/>
                    </a:lnB>
                    <a:solidFill>
                      <a:srgbClr val="E9F8CD">
                        <a:alpha val="9019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92455" marR="582295" indent="146050">
                        <a:lnSpc>
                          <a:spcPts val="2480"/>
                        </a:lnSpc>
                        <a:spcBef>
                          <a:spcPts val="215"/>
                        </a:spcBef>
                      </a:pPr>
                      <a:r>
                        <a:rPr sz="2300" spc="-10" dirty="0">
                          <a:latin typeface="Tahoma"/>
                          <a:cs typeface="Tahoma"/>
                        </a:rPr>
                        <a:t>Prolonged </a:t>
                      </a:r>
                      <a:r>
                        <a:rPr sz="2300" spc="-45" dirty="0">
                          <a:latin typeface="Tahoma"/>
                          <a:cs typeface="Tahoma"/>
                        </a:rPr>
                        <a:t>Engagement</a:t>
                      </a:r>
                      <a:endParaRPr sz="2300">
                        <a:latin typeface="Tahoma"/>
                        <a:cs typeface="Tahoma"/>
                      </a:endParaRPr>
                    </a:p>
                  </a:txBody>
                  <a:tcPr marL="0" marR="0" marT="27305" marB="0">
                    <a:lnL w="19050">
                      <a:solidFill>
                        <a:srgbClr val="CEFBEC"/>
                      </a:solidFill>
                      <a:prstDash val="solid"/>
                    </a:lnL>
                    <a:lnR w="19050">
                      <a:solidFill>
                        <a:srgbClr val="D0D1FF"/>
                      </a:solidFill>
                      <a:prstDash val="solid"/>
                    </a:lnR>
                    <a:lnT w="19050">
                      <a:solidFill>
                        <a:srgbClr val="CEFBEC"/>
                      </a:solidFill>
                      <a:prstDash val="solid"/>
                    </a:lnT>
                    <a:lnB w="19050">
                      <a:solidFill>
                        <a:srgbClr val="CEFBEC"/>
                      </a:solidFill>
                      <a:prstDash val="solid"/>
                    </a:lnB>
                    <a:solidFill>
                      <a:srgbClr val="CEFBEC">
                        <a:alpha val="9019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347345">
                        <a:lnSpc>
                          <a:spcPct val="100000"/>
                        </a:lnSpc>
                        <a:spcBef>
                          <a:spcPts val="1140"/>
                        </a:spcBef>
                      </a:pPr>
                      <a:r>
                        <a:rPr sz="2300" b="1" spc="-60" dirty="0">
                          <a:latin typeface="Arial"/>
                          <a:cs typeface="Arial"/>
                        </a:rPr>
                        <a:t>Peer</a:t>
                      </a:r>
                      <a:r>
                        <a:rPr sz="2300" b="1" spc="-9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300" b="1" spc="-10" dirty="0">
                          <a:latin typeface="Arial"/>
                          <a:cs typeface="Arial"/>
                        </a:rPr>
                        <a:t>Debriefing</a:t>
                      </a:r>
                      <a:endParaRPr sz="2300">
                        <a:latin typeface="Arial"/>
                        <a:cs typeface="Arial"/>
                      </a:endParaRPr>
                    </a:p>
                  </a:txBody>
                  <a:tcPr marL="0" marR="0" marT="144780" marB="0">
                    <a:lnL w="19050">
                      <a:solidFill>
                        <a:srgbClr val="D0D1FF"/>
                      </a:solidFill>
                      <a:prstDash val="solid"/>
                    </a:lnL>
                    <a:lnR w="19050">
                      <a:solidFill>
                        <a:srgbClr val="D0D1FF"/>
                      </a:solidFill>
                      <a:prstDash val="solid"/>
                    </a:lnR>
                    <a:lnT w="19050">
                      <a:solidFill>
                        <a:srgbClr val="D0D1FF"/>
                      </a:solidFill>
                      <a:prstDash val="solid"/>
                    </a:lnT>
                    <a:lnB w="19050">
                      <a:solidFill>
                        <a:srgbClr val="D0D1FF"/>
                      </a:solidFill>
                      <a:prstDash val="solid"/>
                    </a:lnB>
                    <a:solidFill>
                      <a:srgbClr val="D0D1FF">
                        <a:alpha val="9019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6" name="object 6"/>
          <p:cNvGrpSpPr/>
          <p:nvPr/>
        </p:nvGrpSpPr>
        <p:grpSpPr>
          <a:xfrm>
            <a:off x="637019" y="2120900"/>
            <a:ext cx="11049635" cy="2381885"/>
            <a:chOff x="637019" y="2120900"/>
            <a:chExt cx="11049635" cy="2381885"/>
          </a:xfrm>
        </p:grpSpPr>
        <p:sp>
          <p:nvSpPr>
            <p:cNvPr id="7" name="object 7"/>
            <p:cNvSpPr/>
            <p:nvPr/>
          </p:nvSpPr>
          <p:spPr>
            <a:xfrm>
              <a:off x="646544" y="2130425"/>
              <a:ext cx="11030585" cy="2362835"/>
            </a:xfrm>
            <a:custGeom>
              <a:avLst/>
              <a:gdLst/>
              <a:ahLst/>
              <a:cxnLst/>
              <a:rect l="l" t="t" r="r" b="b"/>
              <a:pathLst>
                <a:path w="11030585" h="2362835">
                  <a:moveTo>
                    <a:pt x="11030343" y="0"/>
                  </a:moveTo>
                  <a:lnTo>
                    <a:pt x="0" y="0"/>
                  </a:lnTo>
                  <a:lnTo>
                    <a:pt x="0" y="1535049"/>
                  </a:lnTo>
                  <a:lnTo>
                    <a:pt x="5219839" y="1535049"/>
                  </a:lnTo>
                  <a:lnTo>
                    <a:pt x="5219839" y="1771904"/>
                  </a:lnTo>
                  <a:lnTo>
                    <a:pt x="4924564" y="1771904"/>
                  </a:lnTo>
                  <a:lnTo>
                    <a:pt x="5515114" y="2362454"/>
                  </a:lnTo>
                  <a:lnTo>
                    <a:pt x="6105791" y="1771904"/>
                  </a:lnTo>
                  <a:lnTo>
                    <a:pt x="5810516" y="1771904"/>
                  </a:lnTo>
                  <a:lnTo>
                    <a:pt x="5810516" y="1535049"/>
                  </a:lnTo>
                  <a:lnTo>
                    <a:pt x="11030343" y="1535049"/>
                  </a:lnTo>
                  <a:lnTo>
                    <a:pt x="11030343" y="0"/>
                  </a:lnTo>
                  <a:close/>
                </a:path>
              </a:pathLst>
            </a:custGeom>
            <a:solidFill>
              <a:srgbClr val="4D5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46544" y="2130425"/>
              <a:ext cx="11030585" cy="2362835"/>
            </a:xfrm>
            <a:custGeom>
              <a:avLst/>
              <a:gdLst/>
              <a:ahLst/>
              <a:cxnLst/>
              <a:rect l="l" t="t" r="r" b="b"/>
              <a:pathLst>
                <a:path w="11030585" h="2362835">
                  <a:moveTo>
                    <a:pt x="11030343" y="1535049"/>
                  </a:moveTo>
                  <a:lnTo>
                    <a:pt x="5810516" y="1535049"/>
                  </a:lnTo>
                  <a:lnTo>
                    <a:pt x="5810516" y="1771904"/>
                  </a:lnTo>
                  <a:lnTo>
                    <a:pt x="6105791" y="1771904"/>
                  </a:lnTo>
                  <a:lnTo>
                    <a:pt x="5515114" y="2362454"/>
                  </a:lnTo>
                  <a:lnTo>
                    <a:pt x="4924564" y="1771904"/>
                  </a:lnTo>
                  <a:lnTo>
                    <a:pt x="5219839" y="1771904"/>
                  </a:lnTo>
                  <a:lnTo>
                    <a:pt x="5219839" y="1535049"/>
                  </a:lnTo>
                  <a:lnTo>
                    <a:pt x="0" y="1535049"/>
                  </a:lnTo>
                  <a:lnTo>
                    <a:pt x="0" y="0"/>
                  </a:lnTo>
                  <a:lnTo>
                    <a:pt x="11030343" y="0"/>
                  </a:lnTo>
                  <a:lnTo>
                    <a:pt x="11030343" y="1535049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315338" y="2501265"/>
            <a:ext cx="9689465" cy="721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740"/>
              </a:lnSpc>
              <a:spcBef>
                <a:spcPts val="100"/>
              </a:spcBef>
            </a:pPr>
            <a:r>
              <a:rPr sz="2400" spc="-35" dirty="0">
                <a:solidFill>
                  <a:srgbClr val="FFFFFF"/>
                </a:solidFill>
                <a:latin typeface="Tahoma"/>
                <a:cs typeface="Tahoma"/>
              </a:rPr>
              <a:t>Ensuring</a:t>
            </a:r>
            <a:r>
              <a:rPr sz="2400" spc="-1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30" dirty="0">
                <a:solidFill>
                  <a:srgbClr val="FFFFFF"/>
                </a:solidFill>
                <a:latin typeface="Tahoma"/>
                <a:cs typeface="Tahoma"/>
              </a:rPr>
              <a:t>that</a:t>
            </a:r>
            <a:r>
              <a:rPr sz="24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24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30" dirty="0">
                <a:solidFill>
                  <a:srgbClr val="FFFFFF"/>
                </a:solidFill>
                <a:latin typeface="Tahoma"/>
                <a:cs typeface="Tahoma"/>
              </a:rPr>
              <a:t>findings</a:t>
            </a:r>
            <a:r>
              <a:rPr sz="24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accurately</a:t>
            </a:r>
            <a:r>
              <a:rPr sz="2400" spc="-1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reflect</a:t>
            </a:r>
            <a:r>
              <a:rPr sz="2400" spc="-1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participants’</a:t>
            </a:r>
            <a:r>
              <a:rPr sz="24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ahoma"/>
                <a:cs typeface="Tahoma"/>
              </a:rPr>
              <a:t>experiences</a:t>
            </a:r>
            <a:r>
              <a:rPr sz="2400" spc="-1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endParaRPr sz="2400">
              <a:latin typeface="Tahoma"/>
              <a:cs typeface="Tahoma"/>
            </a:endParaRPr>
          </a:p>
          <a:p>
            <a:pPr marL="7620" algn="ctr">
              <a:lnSpc>
                <a:spcPts val="2740"/>
              </a:lnSpc>
            </a:pPr>
            <a:r>
              <a:rPr sz="2400" spc="-10" dirty="0">
                <a:solidFill>
                  <a:srgbClr val="FFFFFF"/>
                </a:solidFill>
                <a:latin typeface="Tahoma"/>
                <a:cs typeface="Tahoma"/>
              </a:rPr>
              <a:t>perspectives.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9948" y="977849"/>
            <a:ext cx="837755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10" dirty="0"/>
              <a:t>Transferability</a:t>
            </a:r>
            <a:r>
              <a:rPr spc="-190" dirty="0"/>
              <a:t> </a:t>
            </a:r>
            <a:r>
              <a:rPr spc="-80" dirty="0"/>
              <a:t>(External</a:t>
            </a:r>
            <a:r>
              <a:rPr spc="-200" dirty="0"/>
              <a:t> </a:t>
            </a:r>
            <a:r>
              <a:rPr spc="-25" dirty="0"/>
              <a:t>Validity)</a:t>
            </a:r>
          </a:p>
        </p:txBody>
      </p:sp>
      <p:sp>
        <p:nvSpPr>
          <p:cNvPr id="3" name="object 3"/>
          <p:cNvSpPr/>
          <p:nvPr/>
        </p:nvSpPr>
        <p:spPr>
          <a:xfrm>
            <a:off x="517867" y="508076"/>
            <a:ext cx="11155680" cy="149860"/>
          </a:xfrm>
          <a:custGeom>
            <a:avLst/>
            <a:gdLst/>
            <a:ahLst/>
            <a:cxnLst/>
            <a:rect l="l" t="t" r="r" b="b"/>
            <a:pathLst>
              <a:path w="11155680" h="149859">
                <a:moveTo>
                  <a:pt x="11155680" y="0"/>
                </a:moveTo>
                <a:lnTo>
                  <a:pt x="0" y="0"/>
                </a:lnTo>
                <a:lnTo>
                  <a:pt x="0" y="149275"/>
                </a:lnTo>
                <a:lnTo>
                  <a:pt x="11155680" y="149275"/>
                </a:lnTo>
                <a:lnTo>
                  <a:pt x="1115568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21208" y="6299530"/>
            <a:ext cx="11155680" cy="46990"/>
          </a:xfrm>
          <a:custGeom>
            <a:avLst/>
            <a:gdLst/>
            <a:ahLst/>
            <a:cxnLst/>
            <a:rect l="l" t="t" r="r" b="b"/>
            <a:pathLst>
              <a:path w="11155680" h="46989">
                <a:moveTo>
                  <a:pt x="11155680" y="0"/>
                </a:moveTo>
                <a:lnTo>
                  <a:pt x="0" y="0"/>
                </a:lnTo>
                <a:lnTo>
                  <a:pt x="0" y="46469"/>
                </a:lnTo>
                <a:lnTo>
                  <a:pt x="11155680" y="46469"/>
                </a:lnTo>
                <a:lnTo>
                  <a:pt x="1115568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80655" y="2208148"/>
            <a:ext cx="9874250" cy="1217295"/>
          </a:xfrm>
          <a:custGeom>
            <a:avLst/>
            <a:gdLst/>
            <a:ahLst/>
            <a:cxnLst/>
            <a:rect l="l" t="t" r="r" b="b"/>
            <a:pathLst>
              <a:path w="9874250" h="1217295">
                <a:moveTo>
                  <a:pt x="9670910" y="0"/>
                </a:moveTo>
                <a:lnTo>
                  <a:pt x="202806" y="0"/>
                </a:lnTo>
                <a:lnTo>
                  <a:pt x="156306" y="5356"/>
                </a:lnTo>
                <a:lnTo>
                  <a:pt x="113619" y="20614"/>
                </a:lnTo>
                <a:lnTo>
                  <a:pt x="75963" y="44557"/>
                </a:lnTo>
                <a:lnTo>
                  <a:pt x="44556" y="75965"/>
                </a:lnTo>
                <a:lnTo>
                  <a:pt x="20614" y="113624"/>
                </a:lnTo>
                <a:lnTo>
                  <a:pt x="5356" y="156314"/>
                </a:lnTo>
                <a:lnTo>
                  <a:pt x="0" y="202818"/>
                </a:lnTo>
                <a:lnTo>
                  <a:pt x="0" y="1013967"/>
                </a:lnTo>
                <a:lnTo>
                  <a:pt x="5356" y="1060472"/>
                </a:lnTo>
                <a:lnTo>
                  <a:pt x="20614" y="1103162"/>
                </a:lnTo>
                <a:lnTo>
                  <a:pt x="44556" y="1140821"/>
                </a:lnTo>
                <a:lnTo>
                  <a:pt x="75963" y="1172229"/>
                </a:lnTo>
                <a:lnTo>
                  <a:pt x="113619" y="1196172"/>
                </a:lnTo>
                <a:lnTo>
                  <a:pt x="156306" y="1211430"/>
                </a:lnTo>
                <a:lnTo>
                  <a:pt x="202806" y="1216787"/>
                </a:lnTo>
                <a:lnTo>
                  <a:pt x="9670910" y="1216787"/>
                </a:lnTo>
                <a:lnTo>
                  <a:pt x="9717414" y="1211430"/>
                </a:lnTo>
                <a:lnTo>
                  <a:pt x="9760105" y="1196172"/>
                </a:lnTo>
                <a:lnTo>
                  <a:pt x="9797763" y="1172229"/>
                </a:lnTo>
                <a:lnTo>
                  <a:pt x="9829172" y="1140821"/>
                </a:lnTo>
                <a:lnTo>
                  <a:pt x="9853114" y="1103162"/>
                </a:lnTo>
                <a:lnTo>
                  <a:pt x="9868372" y="1060472"/>
                </a:lnTo>
                <a:lnTo>
                  <a:pt x="9873729" y="1013967"/>
                </a:lnTo>
                <a:lnTo>
                  <a:pt x="9873729" y="202818"/>
                </a:lnTo>
                <a:lnTo>
                  <a:pt x="9868372" y="156314"/>
                </a:lnTo>
                <a:lnTo>
                  <a:pt x="9853114" y="113624"/>
                </a:lnTo>
                <a:lnTo>
                  <a:pt x="9829172" y="75965"/>
                </a:lnTo>
                <a:lnTo>
                  <a:pt x="9797763" y="44557"/>
                </a:lnTo>
                <a:lnTo>
                  <a:pt x="9760105" y="20614"/>
                </a:lnTo>
                <a:lnTo>
                  <a:pt x="9717414" y="5356"/>
                </a:lnTo>
                <a:lnTo>
                  <a:pt x="9670910" y="0"/>
                </a:lnTo>
                <a:close/>
              </a:path>
            </a:pathLst>
          </a:custGeom>
          <a:solidFill>
            <a:srgbClr val="00B9C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80655" y="3612134"/>
            <a:ext cx="9874250" cy="1217295"/>
          </a:xfrm>
          <a:custGeom>
            <a:avLst/>
            <a:gdLst/>
            <a:ahLst/>
            <a:cxnLst/>
            <a:rect l="l" t="t" r="r" b="b"/>
            <a:pathLst>
              <a:path w="9874250" h="1217295">
                <a:moveTo>
                  <a:pt x="9670910" y="0"/>
                </a:moveTo>
                <a:lnTo>
                  <a:pt x="202806" y="0"/>
                </a:lnTo>
                <a:lnTo>
                  <a:pt x="156306" y="5356"/>
                </a:lnTo>
                <a:lnTo>
                  <a:pt x="113619" y="20614"/>
                </a:lnTo>
                <a:lnTo>
                  <a:pt x="75963" y="44557"/>
                </a:lnTo>
                <a:lnTo>
                  <a:pt x="44556" y="75965"/>
                </a:lnTo>
                <a:lnTo>
                  <a:pt x="20614" y="113624"/>
                </a:lnTo>
                <a:lnTo>
                  <a:pt x="5356" y="156314"/>
                </a:lnTo>
                <a:lnTo>
                  <a:pt x="0" y="202819"/>
                </a:lnTo>
                <a:lnTo>
                  <a:pt x="0" y="1013968"/>
                </a:lnTo>
                <a:lnTo>
                  <a:pt x="5356" y="1060472"/>
                </a:lnTo>
                <a:lnTo>
                  <a:pt x="20614" y="1103162"/>
                </a:lnTo>
                <a:lnTo>
                  <a:pt x="44556" y="1140821"/>
                </a:lnTo>
                <a:lnTo>
                  <a:pt x="75963" y="1172229"/>
                </a:lnTo>
                <a:lnTo>
                  <a:pt x="113619" y="1196172"/>
                </a:lnTo>
                <a:lnTo>
                  <a:pt x="156306" y="1211430"/>
                </a:lnTo>
                <a:lnTo>
                  <a:pt x="202806" y="1216787"/>
                </a:lnTo>
                <a:lnTo>
                  <a:pt x="9670910" y="1216787"/>
                </a:lnTo>
                <a:lnTo>
                  <a:pt x="9717414" y="1211430"/>
                </a:lnTo>
                <a:lnTo>
                  <a:pt x="9760105" y="1196172"/>
                </a:lnTo>
                <a:lnTo>
                  <a:pt x="9797763" y="1172229"/>
                </a:lnTo>
                <a:lnTo>
                  <a:pt x="9829172" y="1140821"/>
                </a:lnTo>
                <a:lnTo>
                  <a:pt x="9853114" y="1103162"/>
                </a:lnTo>
                <a:lnTo>
                  <a:pt x="9868372" y="1060472"/>
                </a:lnTo>
                <a:lnTo>
                  <a:pt x="9873729" y="1013968"/>
                </a:lnTo>
                <a:lnTo>
                  <a:pt x="9873729" y="202819"/>
                </a:lnTo>
                <a:lnTo>
                  <a:pt x="9868372" y="156314"/>
                </a:lnTo>
                <a:lnTo>
                  <a:pt x="9853114" y="113624"/>
                </a:lnTo>
                <a:lnTo>
                  <a:pt x="9829172" y="75965"/>
                </a:lnTo>
                <a:lnTo>
                  <a:pt x="9797763" y="44557"/>
                </a:lnTo>
                <a:lnTo>
                  <a:pt x="9760105" y="20614"/>
                </a:lnTo>
                <a:lnTo>
                  <a:pt x="9717414" y="5356"/>
                </a:lnTo>
                <a:lnTo>
                  <a:pt x="9670910" y="0"/>
                </a:lnTo>
                <a:close/>
              </a:path>
            </a:pathLst>
          </a:custGeom>
          <a:solidFill>
            <a:srgbClr val="E6472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234236" y="2356815"/>
            <a:ext cx="8480425" cy="204914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700" marR="5080">
              <a:lnSpc>
                <a:spcPts val="3030"/>
              </a:lnSpc>
              <a:spcBef>
                <a:spcPts val="475"/>
              </a:spcBef>
            </a:pPr>
            <a:r>
              <a:rPr sz="2800" spc="-114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2800" spc="-2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800" spc="-65" dirty="0">
                <a:solidFill>
                  <a:srgbClr val="FFFFFF"/>
                </a:solidFill>
                <a:latin typeface="Tahoma"/>
                <a:cs typeface="Tahoma"/>
              </a:rPr>
              <a:t>extent</a:t>
            </a:r>
            <a:r>
              <a:rPr sz="2800" spc="-2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800" spc="-3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2800" spc="-2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FFFFFF"/>
                </a:solidFill>
                <a:latin typeface="Tahoma"/>
                <a:cs typeface="Tahoma"/>
              </a:rPr>
              <a:t>which</a:t>
            </a:r>
            <a:r>
              <a:rPr sz="2800" spc="-2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800" spc="-35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2800" spc="-2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800" spc="-35" dirty="0">
                <a:solidFill>
                  <a:srgbClr val="FFFFFF"/>
                </a:solidFill>
                <a:latin typeface="Tahoma"/>
                <a:cs typeface="Tahoma"/>
              </a:rPr>
              <a:t>findings</a:t>
            </a:r>
            <a:r>
              <a:rPr sz="2800" spc="-2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800" spc="55" dirty="0">
                <a:solidFill>
                  <a:srgbClr val="FFFFFF"/>
                </a:solidFill>
                <a:latin typeface="Tahoma"/>
                <a:cs typeface="Tahoma"/>
              </a:rPr>
              <a:t>can</a:t>
            </a:r>
            <a:r>
              <a:rPr sz="2800" spc="-2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FFFFFF"/>
                </a:solidFill>
                <a:latin typeface="Tahoma"/>
                <a:cs typeface="Tahoma"/>
              </a:rPr>
              <a:t>be</a:t>
            </a:r>
            <a:r>
              <a:rPr sz="2800" spc="-2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FFFFFF"/>
                </a:solidFill>
                <a:latin typeface="Tahoma"/>
                <a:cs typeface="Tahoma"/>
              </a:rPr>
              <a:t>applied</a:t>
            </a:r>
            <a:r>
              <a:rPr sz="2800" spc="-2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800" spc="-3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2800" spc="-2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Tahoma"/>
                <a:cs typeface="Tahoma"/>
              </a:rPr>
              <a:t>other </a:t>
            </a:r>
            <a:r>
              <a:rPr sz="2800" spc="-30" dirty="0">
                <a:solidFill>
                  <a:srgbClr val="FFFFFF"/>
                </a:solidFill>
                <a:latin typeface="Tahoma"/>
                <a:cs typeface="Tahoma"/>
              </a:rPr>
              <a:t>settings</a:t>
            </a:r>
            <a:r>
              <a:rPr sz="2800" spc="-2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800" spc="-45" dirty="0">
                <a:solidFill>
                  <a:srgbClr val="FFFFFF"/>
                </a:solidFill>
                <a:latin typeface="Tahoma"/>
                <a:cs typeface="Tahoma"/>
              </a:rPr>
              <a:t>or</a:t>
            </a:r>
            <a:r>
              <a:rPr sz="2800" spc="-229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Tahoma"/>
                <a:cs typeface="Tahoma"/>
              </a:rPr>
              <a:t>groups.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755"/>
              </a:spcBef>
            </a:pPr>
            <a:endParaRPr sz="2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2800" b="1" spc="-114" dirty="0">
                <a:solidFill>
                  <a:srgbClr val="FFFFFF"/>
                </a:solidFill>
                <a:latin typeface="Arial"/>
                <a:cs typeface="Arial"/>
              </a:rPr>
              <a:t>Techniques</a:t>
            </a:r>
            <a:r>
              <a:rPr sz="28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2800" b="1" spc="-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85" dirty="0">
                <a:solidFill>
                  <a:srgbClr val="FFFFFF"/>
                </a:solidFill>
                <a:latin typeface="Arial"/>
                <a:cs typeface="Arial"/>
              </a:rPr>
              <a:t>Enhance</a:t>
            </a:r>
            <a:r>
              <a:rPr sz="28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Arial"/>
                <a:cs typeface="Arial"/>
              </a:rPr>
              <a:t>Transferability</a:t>
            </a:r>
            <a:endParaRPr sz="2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81760" y="4767513"/>
            <a:ext cx="2413000" cy="695960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335"/>
              </a:spcBef>
              <a:buChar char="•"/>
              <a:tabLst>
                <a:tab pos="240665" algn="l"/>
              </a:tabLst>
            </a:pPr>
            <a:r>
              <a:rPr sz="2000" spc="-25" dirty="0">
                <a:latin typeface="Tahoma"/>
                <a:cs typeface="Tahoma"/>
              </a:rPr>
              <a:t>Thick</a:t>
            </a:r>
            <a:r>
              <a:rPr sz="2000" spc="-170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Description</a:t>
            </a:r>
            <a:endParaRPr sz="2000">
              <a:latin typeface="Tahoma"/>
              <a:cs typeface="Tahoma"/>
            </a:endParaRPr>
          </a:p>
          <a:p>
            <a:pPr marL="240665" indent="-227965">
              <a:lnSpc>
                <a:spcPct val="100000"/>
              </a:lnSpc>
              <a:spcBef>
                <a:spcPts val="240"/>
              </a:spcBef>
              <a:buChar char="•"/>
              <a:tabLst>
                <a:tab pos="240665" algn="l"/>
              </a:tabLst>
            </a:pPr>
            <a:r>
              <a:rPr sz="2000" spc="-10" dirty="0">
                <a:latin typeface="Tahoma"/>
                <a:cs typeface="Tahoma"/>
              </a:rPr>
              <a:t>Comparative</a:t>
            </a:r>
            <a:r>
              <a:rPr sz="2000" spc="-135" dirty="0">
                <a:latin typeface="Tahoma"/>
                <a:cs typeface="Tahoma"/>
              </a:rPr>
              <a:t> </a:t>
            </a:r>
            <a:r>
              <a:rPr sz="2000" spc="55" dirty="0">
                <a:latin typeface="Tahoma"/>
                <a:cs typeface="Tahoma"/>
              </a:rPr>
              <a:t>Cases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8679" rIns="0" bIns="0" rtlCol="0">
            <a:spAutoFit/>
          </a:bodyPr>
          <a:lstStyle/>
          <a:p>
            <a:pPr marL="4926965" marR="508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Dependability (Reliability)</a:t>
            </a:r>
          </a:p>
        </p:txBody>
      </p:sp>
      <p:sp>
        <p:nvSpPr>
          <p:cNvPr id="3" name="object 3"/>
          <p:cNvSpPr/>
          <p:nvPr/>
        </p:nvSpPr>
        <p:spPr>
          <a:xfrm>
            <a:off x="517867" y="508076"/>
            <a:ext cx="11156315" cy="149860"/>
          </a:xfrm>
          <a:custGeom>
            <a:avLst/>
            <a:gdLst/>
            <a:ahLst/>
            <a:cxnLst/>
            <a:rect l="l" t="t" r="r" b="b"/>
            <a:pathLst>
              <a:path w="11156315" h="149859">
                <a:moveTo>
                  <a:pt x="11156315" y="0"/>
                </a:moveTo>
                <a:lnTo>
                  <a:pt x="0" y="0"/>
                </a:lnTo>
                <a:lnTo>
                  <a:pt x="0" y="149275"/>
                </a:lnTo>
                <a:lnTo>
                  <a:pt x="11156315" y="149275"/>
                </a:lnTo>
                <a:lnTo>
                  <a:pt x="1115631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606155" y="1706496"/>
            <a:ext cx="4290695" cy="3029585"/>
            <a:chOff x="606155" y="1706496"/>
            <a:chExt cx="4290695" cy="3029585"/>
          </a:xfrm>
        </p:grpSpPr>
        <p:sp>
          <p:nvSpPr>
            <p:cNvPr id="5" name="object 5"/>
            <p:cNvSpPr/>
            <p:nvPr/>
          </p:nvSpPr>
          <p:spPr>
            <a:xfrm>
              <a:off x="632904" y="1733245"/>
              <a:ext cx="4237355" cy="2976245"/>
            </a:xfrm>
            <a:custGeom>
              <a:avLst/>
              <a:gdLst/>
              <a:ahLst/>
              <a:cxnLst/>
              <a:rect l="l" t="t" r="r" b="b"/>
              <a:pathLst>
                <a:path w="4237355" h="2976245">
                  <a:moveTo>
                    <a:pt x="3865496" y="0"/>
                  </a:moveTo>
                  <a:lnTo>
                    <a:pt x="1517757" y="2219418"/>
                  </a:lnTo>
                  <a:lnTo>
                    <a:pt x="389742" y="1063853"/>
                  </a:lnTo>
                  <a:lnTo>
                    <a:pt x="0" y="1435285"/>
                  </a:lnTo>
                  <a:lnTo>
                    <a:pt x="1499415" y="2976038"/>
                  </a:lnTo>
                  <a:lnTo>
                    <a:pt x="1893762" y="2609192"/>
                  </a:lnTo>
                  <a:lnTo>
                    <a:pt x="4236915" y="385188"/>
                  </a:lnTo>
                  <a:lnTo>
                    <a:pt x="3865496" y="0"/>
                  </a:lnTo>
                  <a:close/>
                </a:path>
              </a:pathLst>
            </a:custGeom>
            <a:solidFill>
              <a:srgbClr val="EB9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32904" y="1733245"/>
              <a:ext cx="4237355" cy="2976245"/>
            </a:xfrm>
            <a:custGeom>
              <a:avLst/>
              <a:gdLst/>
              <a:ahLst/>
              <a:cxnLst/>
              <a:rect l="l" t="t" r="r" b="b"/>
              <a:pathLst>
                <a:path w="4237355" h="2976245">
                  <a:moveTo>
                    <a:pt x="3865496" y="0"/>
                  </a:moveTo>
                  <a:lnTo>
                    <a:pt x="1517757" y="2219418"/>
                  </a:lnTo>
                  <a:lnTo>
                    <a:pt x="389742" y="1063853"/>
                  </a:lnTo>
                  <a:lnTo>
                    <a:pt x="0" y="1435285"/>
                  </a:lnTo>
                  <a:lnTo>
                    <a:pt x="1499415" y="2976038"/>
                  </a:lnTo>
                  <a:lnTo>
                    <a:pt x="1893762" y="2609192"/>
                  </a:lnTo>
                  <a:lnTo>
                    <a:pt x="4236915" y="385188"/>
                  </a:lnTo>
                  <a:lnTo>
                    <a:pt x="3865496" y="0"/>
                  </a:lnTo>
                  <a:close/>
                </a:path>
              </a:pathLst>
            </a:custGeom>
            <a:ln w="53497">
              <a:solidFill>
                <a:srgbClr val="EB9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725414" y="2756662"/>
            <a:ext cx="5543550" cy="3147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329">
              <a:lnSpc>
                <a:spcPct val="110000"/>
              </a:lnSpc>
              <a:spcBef>
                <a:spcPts val="100"/>
              </a:spcBef>
              <a:buChar char="•"/>
              <a:tabLst>
                <a:tab pos="241300" algn="l"/>
              </a:tabLst>
            </a:pPr>
            <a:r>
              <a:rPr sz="2400" dirty="0">
                <a:latin typeface="Arial MT"/>
                <a:cs typeface="Arial MT"/>
              </a:rPr>
              <a:t>Ensuring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research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process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is 	</a:t>
            </a:r>
            <a:r>
              <a:rPr sz="2400" dirty="0">
                <a:latin typeface="Arial MT"/>
                <a:cs typeface="Arial MT"/>
              </a:rPr>
              <a:t>consistent,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logical,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repeatable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over 	</a:t>
            </a:r>
            <a:r>
              <a:rPr sz="2400" spc="-10" dirty="0">
                <a:latin typeface="Arial MT"/>
                <a:cs typeface="Arial MT"/>
              </a:rPr>
              <a:t>time.</a:t>
            </a:r>
            <a:endParaRPr sz="2400">
              <a:latin typeface="Arial MT"/>
              <a:cs typeface="Arial MT"/>
            </a:endParaRPr>
          </a:p>
          <a:p>
            <a:pPr marL="240029" indent="-227329">
              <a:lnSpc>
                <a:spcPct val="100000"/>
              </a:lnSpc>
              <a:spcBef>
                <a:spcPts val="890"/>
              </a:spcBef>
              <a:buChar char="•"/>
              <a:tabLst>
                <a:tab pos="240029" algn="l"/>
              </a:tabLst>
            </a:pPr>
            <a:r>
              <a:rPr sz="2400" spc="-30" dirty="0">
                <a:latin typeface="Arial MT"/>
                <a:cs typeface="Arial MT"/>
              </a:rPr>
              <a:t>Techniques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Enhance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Dependability:</a:t>
            </a:r>
            <a:endParaRPr sz="2400">
              <a:latin typeface="Arial MT"/>
              <a:cs typeface="Arial MT"/>
            </a:endParaRPr>
          </a:p>
          <a:p>
            <a:pPr marL="697230" lvl="1" indent="-227329">
              <a:lnSpc>
                <a:spcPct val="100000"/>
              </a:lnSpc>
              <a:spcBef>
                <a:spcPts val="885"/>
              </a:spcBef>
              <a:buChar char="•"/>
              <a:tabLst>
                <a:tab pos="697230" algn="l"/>
              </a:tabLst>
            </a:pPr>
            <a:r>
              <a:rPr sz="2400" dirty="0">
                <a:latin typeface="Arial MT"/>
                <a:cs typeface="Arial MT"/>
              </a:rPr>
              <a:t>Audit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Trail</a:t>
            </a:r>
            <a:endParaRPr sz="2400">
              <a:latin typeface="Arial MT"/>
              <a:cs typeface="Arial MT"/>
            </a:endParaRPr>
          </a:p>
          <a:p>
            <a:pPr marL="697230" lvl="1" indent="-227329">
              <a:lnSpc>
                <a:spcPct val="100000"/>
              </a:lnSpc>
              <a:spcBef>
                <a:spcPts val="890"/>
              </a:spcBef>
              <a:buChar char="•"/>
              <a:tabLst>
                <a:tab pos="697230" algn="l"/>
              </a:tabLst>
            </a:pPr>
            <a:r>
              <a:rPr sz="2400" spc="-25" dirty="0">
                <a:latin typeface="Arial MT"/>
                <a:cs typeface="Arial MT"/>
              </a:rPr>
              <a:t>Code-</a:t>
            </a:r>
            <a:r>
              <a:rPr sz="2400" dirty="0">
                <a:latin typeface="Arial MT"/>
                <a:cs typeface="Arial MT"/>
              </a:rPr>
              <a:t>Recoding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Strategy</a:t>
            </a:r>
            <a:endParaRPr sz="2400">
              <a:latin typeface="Arial MT"/>
              <a:cs typeface="Arial MT"/>
            </a:endParaRPr>
          </a:p>
          <a:p>
            <a:pPr marL="697230" lvl="1" indent="-227329">
              <a:lnSpc>
                <a:spcPct val="100000"/>
              </a:lnSpc>
              <a:spcBef>
                <a:spcPts val="890"/>
              </a:spcBef>
              <a:buChar char="•"/>
              <a:tabLst>
                <a:tab pos="697230" algn="l"/>
              </a:tabLst>
            </a:pPr>
            <a:r>
              <a:rPr sz="2400" spc="-10" dirty="0">
                <a:latin typeface="Arial MT"/>
                <a:cs typeface="Arial MT"/>
              </a:rPr>
              <a:t>Inter-</a:t>
            </a:r>
            <a:r>
              <a:rPr sz="2400" spc="-20" dirty="0">
                <a:latin typeface="Arial MT"/>
                <a:cs typeface="Arial MT"/>
              </a:rPr>
              <a:t>Coder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Agreement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4290">
              <a:lnSpc>
                <a:spcPct val="100000"/>
              </a:lnSpc>
              <a:spcBef>
                <a:spcPts val="105"/>
              </a:spcBef>
            </a:pPr>
            <a:r>
              <a:rPr spc="-50" dirty="0"/>
              <a:t>Confirmability</a:t>
            </a:r>
            <a:r>
              <a:rPr spc="-185" dirty="0"/>
              <a:t> </a:t>
            </a:r>
            <a:r>
              <a:rPr spc="-35" dirty="0"/>
              <a:t>(Objectivity)</a:t>
            </a:r>
          </a:p>
        </p:txBody>
      </p:sp>
      <p:sp>
        <p:nvSpPr>
          <p:cNvPr id="3" name="object 3"/>
          <p:cNvSpPr/>
          <p:nvPr/>
        </p:nvSpPr>
        <p:spPr>
          <a:xfrm>
            <a:off x="517867" y="508076"/>
            <a:ext cx="11155680" cy="149860"/>
          </a:xfrm>
          <a:custGeom>
            <a:avLst/>
            <a:gdLst/>
            <a:ahLst/>
            <a:cxnLst/>
            <a:rect l="l" t="t" r="r" b="b"/>
            <a:pathLst>
              <a:path w="11155680" h="149859">
                <a:moveTo>
                  <a:pt x="11155680" y="0"/>
                </a:moveTo>
                <a:lnTo>
                  <a:pt x="0" y="0"/>
                </a:lnTo>
                <a:lnTo>
                  <a:pt x="0" y="149275"/>
                </a:lnTo>
                <a:lnTo>
                  <a:pt x="11155680" y="149275"/>
                </a:lnTo>
                <a:lnTo>
                  <a:pt x="1115568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21208" y="6299530"/>
            <a:ext cx="11155680" cy="46990"/>
          </a:xfrm>
          <a:custGeom>
            <a:avLst/>
            <a:gdLst/>
            <a:ahLst/>
            <a:cxnLst/>
            <a:rect l="l" t="t" r="r" b="b"/>
            <a:pathLst>
              <a:path w="11155680" h="46989">
                <a:moveTo>
                  <a:pt x="11155680" y="0"/>
                </a:moveTo>
                <a:lnTo>
                  <a:pt x="0" y="0"/>
                </a:lnTo>
                <a:lnTo>
                  <a:pt x="0" y="46469"/>
                </a:lnTo>
                <a:lnTo>
                  <a:pt x="11155680" y="46469"/>
                </a:lnTo>
                <a:lnTo>
                  <a:pt x="1115568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731380" y="4146803"/>
          <a:ext cx="10927080" cy="1305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42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42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42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2785"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r>
                        <a:rPr sz="2500" b="1" spc="-3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Methods</a:t>
                      </a:r>
                      <a:r>
                        <a:rPr sz="2500" b="1" spc="-1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00" b="1" spc="-3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or</a:t>
                      </a:r>
                      <a:r>
                        <a:rPr sz="2500" b="1" spc="-1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00" b="1" spc="-9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Techniques</a:t>
                      </a:r>
                      <a:r>
                        <a:rPr sz="2500" b="1" spc="-8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sz="2500" b="1" spc="-8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00" b="1" spc="-8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Enhance</a:t>
                      </a:r>
                      <a:r>
                        <a:rPr sz="2500" b="1" spc="-9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Confirmability:</a:t>
                      </a:r>
                      <a:endParaRPr sz="2500">
                        <a:latin typeface="Arial"/>
                        <a:cs typeface="Arial"/>
                      </a:endParaRPr>
                    </a:p>
                  </a:txBody>
                  <a:tcPr marL="0" marR="0" marT="132080" marB="0">
                    <a:lnB w="19050">
                      <a:solidFill>
                        <a:srgbClr val="F5CFCC"/>
                      </a:solidFill>
                      <a:prstDash val="solid"/>
                    </a:lnB>
                    <a:solidFill>
                      <a:srgbClr val="00B9C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775">
                <a:tc>
                  <a:txBody>
                    <a:bodyPr/>
                    <a:lstStyle/>
                    <a:p>
                      <a:pPr marL="104330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2800" spc="-10" dirty="0">
                          <a:latin typeface="Tahoma"/>
                          <a:cs typeface="Tahoma"/>
                        </a:rPr>
                        <a:t>Reflexivity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52069" marB="0">
                    <a:lnL w="19050">
                      <a:solidFill>
                        <a:srgbClr val="CAE7EB"/>
                      </a:solidFill>
                      <a:prstDash val="solid"/>
                    </a:lnL>
                    <a:lnR w="19050">
                      <a:solidFill>
                        <a:srgbClr val="DAF0CC"/>
                      </a:solidFill>
                      <a:prstDash val="solid"/>
                    </a:lnR>
                    <a:lnT w="19050" cap="flat" cmpd="sng" algn="ctr">
                      <a:solidFill>
                        <a:srgbClr val="F5C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CAE7EB"/>
                      </a:solidFill>
                      <a:prstDash val="solid"/>
                    </a:lnB>
                    <a:solidFill>
                      <a:srgbClr val="CAE7EB">
                        <a:alpha val="9019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75247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2800" spc="-40" dirty="0">
                          <a:latin typeface="Tahoma"/>
                          <a:cs typeface="Tahoma"/>
                        </a:rPr>
                        <a:t>External</a:t>
                      </a:r>
                      <a:r>
                        <a:rPr sz="2800" spc="-204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800" spc="-10" dirty="0">
                          <a:latin typeface="Tahoma"/>
                          <a:cs typeface="Tahoma"/>
                        </a:rPr>
                        <a:t>Audit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52069" marB="0">
                    <a:lnL w="19050">
                      <a:solidFill>
                        <a:srgbClr val="DAF0CC"/>
                      </a:solidFill>
                      <a:prstDash val="solid"/>
                    </a:lnL>
                    <a:lnR w="19050">
                      <a:solidFill>
                        <a:srgbClr val="F5CFCC"/>
                      </a:solidFill>
                      <a:prstDash val="solid"/>
                    </a:lnR>
                    <a:lnT w="19050">
                      <a:solidFill>
                        <a:srgbClr val="DAF0CC"/>
                      </a:solidFill>
                      <a:prstDash val="solid"/>
                    </a:lnT>
                    <a:lnB w="19050">
                      <a:solidFill>
                        <a:srgbClr val="DAF0CC"/>
                      </a:solidFill>
                      <a:prstDash val="solid"/>
                    </a:lnB>
                    <a:solidFill>
                      <a:srgbClr val="DAF0CC">
                        <a:alpha val="9019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24154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2800" dirty="0">
                          <a:latin typeface="Tahoma"/>
                          <a:cs typeface="Tahoma"/>
                        </a:rPr>
                        <a:t>Use</a:t>
                      </a:r>
                      <a:r>
                        <a:rPr sz="2800" spc="-2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800" spc="-30" dirty="0">
                          <a:latin typeface="Tahoma"/>
                          <a:cs typeface="Tahoma"/>
                        </a:rPr>
                        <a:t>of</a:t>
                      </a:r>
                      <a:r>
                        <a:rPr sz="2800" spc="-204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800" dirty="0">
                          <a:latin typeface="Tahoma"/>
                          <a:cs typeface="Tahoma"/>
                        </a:rPr>
                        <a:t>Direct</a:t>
                      </a:r>
                      <a:r>
                        <a:rPr sz="2800" spc="-20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800" spc="-10" dirty="0">
                          <a:latin typeface="Tahoma"/>
                          <a:cs typeface="Tahoma"/>
                        </a:rPr>
                        <a:t>Quotes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52069" marB="0">
                    <a:lnL w="19050">
                      <a:solidFill>
                        <a:srgbClr val="F5CFCC"/>
                      </a:solidFill>
                      <a:prstDash val="solid"/>
                    </a:lnL>
                    <a:lnR w="19050">
                      <a:solidFill>
                        <a:srgbClr val="F5CFCC"/>
                      </a:solidFill>
                      <a:prstDash val="solid"/>
                    </a:lnR>
                    <a:lnT w="19050">
                      <a:solidFill>
                        <a:srgbClr val="F5CFCC"/>
                      </a:solidFill>
                      <a:prstDash val="solid"/>
                    </a:lnT>
                    <a:lnB w="19050">
                      <a:solidFill>
                        <a:srgbClr val="F5CFCC"/>
                      </a:solidFill>
                      <a:prstDash val="solid"/>
                    </a:lnB>
                    <a:solidFill>
                      <a:srgbClr val="F5CFCC">
                        <a:alpha val="9019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6" name="object 6"/>
          <p:cNvGrpSpPr/>
          <p:nvPr/>
        </p:nvGrpSpPr>
        <p:grpSpPr>
          <a:xfrm>
            <a:off x="726046" y="2117344"/>
            <a:ext cx="10957560" cy="2068830"/>
            <a:chOff x="726046" y="2117344"/>
            <a:chExt cx="10957560" cy="2068830"/>
          </a:xfrm>
        </p:grpSpPr>
        <p:sp>
          <p:nvSpPr>
            <p:cNvPr id="7" name="object 7"/>
            <p:cNvSpPr/>
            <p:nvPr/>
          </p:nvSpPr>
          <p:spPr>
            <a:xfrm>
              <a:off x="735571" y="2126869"/>
              <a:ext cx="10938510" cy="2049780"/>
            </a:xfrm>
            <a:custGeom>
              <a:avLst/>
              <a:gdLst/>
              <a:ahLst/>
              <a:cxnLst/>
              <a:rect l="l" t="t" r="r" b="b"/>
              <a:pathLst>
                <a:path w="10938510" h="2049779">
                  <a:moveTo>
                    <a:pt x="10938014" y="0"/>
                  </a:moveTo>
                  <a:lnTo>
                    <a:pt x="0" y="0"/>
                  </a:lnTo>
                  <a:lnTo>
                    <a:pt x="0" y="1331721"/>
                  </a:lnTo>
                  <a:lnTo>
                    <a:pt x="5212854" y="1331721"/>
                  </a:lnTo>
                  <a:lnTo>
                    <a:pt x="5212854" y="1537080"/>
                  </a:lnTo>
                  <a:lnTo>
                    <a:pt x="4956695" y="1537080"/>
                  </a:lnTo>
                  <a:lnTo>
                    <a:pt x="5469013" y="2049398"/>
                  </a:lnTo>
                  <a:lnTo>
                    <a:pt x="5981331" y="1537080"/>
                  </a:lnTo>
                  <a:lnTo>
                    <a:pt x="5725172" y="1537080"/>
                  </a:lnTo>
                  <a:lnTo>
                    <a:pt x="5725172" y="1331721"/>
                  </a:lnTo>
                  <a:lnTo>
                    <a:pt x="10938014" y="1331721"/>
                  </a:lnTo>
                  <a:lnTo>
                    <a:pt x="10938014" y="0"/>
                  </a:lnTo>
                  <a:close/>
                </a:path>
              </a:pathLst>
            </a:custGeom>
            <a:solidFill>
              <a:srgbClr val="E647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35571" y="2126869"/>
              <a:ext cx="10938510" cy="2049780"/>
            </a:xfrm>
            <a:custGeom>
              <a:avLst/>
              <a:gdLst/>
              <a:ahLst/>
              <a:cxnLst/>
              <a:rect l="l" t="t" r="r" b="b"/>
              <a:pathLst>
                <a:path w="10938510" h="2049779">
                  <a:moveTo>
                    <a:pt x="10938014" y="1331721"/>
                  </a:moveTo>
                  <a:lnTo>
                    <a:pt x="5725172" y="1331721"/>
                  </a:lnTo>
                  <a:lnTo>
                    <a:pt x="5725172" y="1537080"/>
                  </a:lnTo>
                  <a:lnTo>
                    <a:pt x="5981331" y="1537080"/>
                  </a:lnTo>
                  <a:lnTo>
                    <a:pt x="5469013" y="2049398"/>
                  </a:lnTo>
                  <a:lnTo>
                    <a:pt x="4956695" y="1537080"/>
                  </a:lnTo>
                  <a:lnTo>
                    <a:pt x="5212854" y="1537080"/>
                  </a:lnTo>
                  <a:lnTo>
                    <a:pt x="5212854" y="1331721"/>
                  </a:lnTo>
                  <a:lnTo>
                    <a:pt x="0" y="1331721"/>
                  </a:lnTo>
                  <a:lnTo>
                    <a:pt x="0" y="0"/>
                  </a:lnTo>
                  <a:lnTo>
                    <a:pt x="10938014" y="0"/>
                  </a:lnTo>
                  <a:lnTo>
                    <a:pt x="10938014" y="1331721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975461" y="2380310"/>
            <a:ext cx="10456545" cy="75120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4120515" marR="5080" indent="-4108450">
              <a:lnSpc>
                <a:spcPts val="2710"/>
              </a:lnSpc>
              <a:spcBef>
                <a:spcPts val="430"/>
              </a:spcBef>
            </a:pPr>
            <a:r>
              <a:rPr sz="2500" spc="-40" dirty="0">
                <a:solidFill>
                  <a:srgbClr val="FFFFFF"/>
                </a:solidFill>
                <a:latin typeface="Tahoma"/>
                <a:cs typeface="Tahoma"/>
              </a:rPr>
              <a:t>Ensuring</a:t>
            </a:r>
            <a:r>
              <a:rPr sz="25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500" spc="-30" dirty="0">
                <a:solidFill>
                  <a:srgbClr val="FFFFFF"/>
                </a:solidFill>
                <a:latin typeface="Tahoma"/>
                <a:cs typeface="Tahoma"/>
              </a:rPr>
              <a:t>that</a:t>
            </a:r>
            <a:r>
              <a:rPr sz="25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500" spc="-3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25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500" spc="-30" dirty="0">
                <a:solidFill>
                  <a:srgbClr val="FFFFFF"/>
                </a:solidFill>
                <a:latin typeface="Tahoma"/>
                <a:cs typeface="Tahoma"/>
              </a:rPr>
              <a:t>findings</a:t>
            </a:r>
            <a:r>
              <a:rPr sz="25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500" spc="-40" dirty="0">
                <a:solidFill>
                  <a:srgbClr val="FFFFFF"/>
                </a:solidFill>
                <a:latin typeface="Tahoma"/>
                <a:cs typeface="Tahoma"/>
              </a:rPr>
              <a:t>are</a:t>
            </a:r>
            <a:r>
              <a:rPr sz="25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500" dirty="0">
                <a:solidFill>
                  <a:srgbClr val="FFFFFF"/>
                </a:solidFill>
                <a:latin typeface="Tahoma"/>
                <a:cs typeface="Tahoma"/>
              </a:rPr>
              <a:t>shaped</a:t>
            </a:r>
            <a:r>
              <a:rPr sz="25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500" spc="-65" dirty="0">
                <a:solidFill>
                  <a:srgbClr val="FFFFFF"/>
                </a:solidFill>
                <a:latin typeface="Tahoma"/>
                <a:cs typeface="Tahoma"/>
              </a:rPr>
              <a:t>by</a:t>
            </a:r>
            <a:r>
              <a:rPr sz="2500" spc="-2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500" spc="-3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25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Tahoma"/>
                <a:cs typeface="Tahoma"/>
              </a:rPr>
              <a:t>data</a:t>
            </a:r>
            <a:r>
              <a:rPr sz="2500" spc="-2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500" spc="-55" dirty="0">
                <a:solidFill>
                  <a:srgbClr val="FFFFFF"/>
                </a:solidFill>
                <a:latin typeface="Tahoma"/>
                <a:cs typeface="Tahoma"/>
              </a:rPr>
              <a:t>rather</a:t>
            </a:r>
            <a:r>
              <a:rPr sz="25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500" spc="-30" dirty="0">
                <a:solidFill>
                  <a:srgbClr val="FFFFFF"/>
                </a:solidFill>
                <a:latin typeface="Tahoma"/>
                <a:cs typeface="Tahoma"/>
              </a:rPr>
              <a:t>than</a:t>
            </a:r>
            <a:r>
              <a:rPr sz="25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Tahoma"/>
                <a:cs typeface="Tahoma"/>
              </a:rPr>
              <a:t>researcher</a:t>
            </a:r>
            <a:r>
              <a:rPr sz="25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500" spc="-20" dirty="0">
                <a:solidFill>
                  <a:srgbClr val="FFFFFF"/>
                </a:solidFill>
                <a:latin typeface="Tahoma"/>
                <a:cs typeface="Tahoma"/>
              </a:rPr>
              <a:t>bias </a:t>
            </a:r>
            <a:r>
              <a:rPr sz="2500" spc="-40" dirty="0">
                <a:solidFill>
                  <a:srgbClr val="FFFFFF"/>
                </a:solidFill>
                <a:latin typeface="Tahoma"/>
                <a:cs typeface="Tahoma"/>
              </a:rPr>
              <a:t>or</a:t>
            </a:r>
            <a:r>
              <a:rPr sz="2500" spc="-2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Tahoma"/>
                <a:cs typeface="Tahoma"/>
              </a:rPr>
              <a:t>assumptions.</a:t>
            </a:r>
            <a:endParaRPr sz="2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33540" y="977849"/>
            <a:ext cx="52019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0" dirty="0"/>
              <a:t>Activity</a:t>
            </a:r>
            <a:r>
              <a:rPr spc="-155" dirty="0"/>
              <a:t> </a:t>
            </a:r>
            <a:r>
              <a:rPr spc="-55" dirty="0"/>
              <a:t>Instructions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136892" y="1486420"/>
            <a:ext cx="3767454" cy="3866515"/>
            <a:chOff x="1136892" y="1486420"/>
            <a:chExt cx="3767454" cy="3866515"/>
          </a:xfrm>
        </p:grpSpPr>
        <p:sp>
          <p:nvSpPr>
            <p:cNvPr id="4" name="object 4"/>
            <p:cNvSpPr/>
            <p:nvPr/>
          </p:nvSpPr>
          <p:spPr>
            <a:xfrm>
              <a:off x="2720748" y="2977065"/>
              <a:ext cx="603250" cy="153670"/>
            </a:xfrm>
            <a:custGeom>
              <a:avLst/>
              <a:gdLst/>
              <a:ahLst/>
              <a:cxnLst/>
              <a:rect l="l" t="t" r="r" b="b"/>
              <a:pathLst>
                <a:path w="603250" h="153669">
                  <a:moveTo>
                    <a:pt x="526363" y="0"/>
                  </a:moveTo>
                  <a:lnTo>
                    <a:pt x="76580" y="0"/>
                  </a:lnTo>
                  <a:lnTo>
                    <a:pt x="22431" y="22432"/>
                  </a:lnTo>
                  <a:lnTo>
                    <a:pt x="0" y="76582"/>
                  </a:lnTo>
                  <a:lnTo>
                    <a:pt x="6018" y="106390"/>
                  </a:lnTo>
                  <a:lnTo>
                    <a:pt x="22431" y="130733"/>
                  </a:lnTo>
                  <a:lnTo>
                    <a:pt x="46773" y="147147"/>
                  </a:lnTo>
                  <a:lnTo>
                    <a:pt x="76580" y="153165"/>
                  </a:lnTo>
                  <a:lnTo>
                    <a:pt x="526363" y="153165"/>
                  </a:lnTo>
                  <a:lnTo>
                    <a:pt x="556187" y="147147"/>
                  </a:lnTo>
                  <a:lnTo>
                    <a:pt x="580528" y="130733"/>
                  </a:lnTo>
                  <a:lnTo>
                    <a:pt x="596931" y="106390"/>
                  </a:lnTo>
                  <a:lnTo>
                    <a:pt x="602943" y="76582"/>
                  </a:lnTo>
                  <a:lnTo>
                    <a:pt x="596931" y="46775"/>
                  </a:lnTo>
                  <a:lnTo>
                    <a:pt x="580528" y="22432"/>
                  </a:lnTo>
                  <a:lnTo>
                    <a:pt x="556187" y="6018"/>
                  </a:lnTo>
                  <a:lnTo>
                    <a:pt x="526363" y="0"/>
                  </a:lnTo>
                  <a:close/>
                </a:path>
              </a:pathLst>
            </a:custGeom>
            <a:solidFill>
              <a:srgbClr val="EB9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720748" y="2977065"/>
              <a:ext cx="603250" cy="153670"/>
            </a:xfrm>
            <a:custGeom>
              <a:avLst/>
              <a:gdLst/>
              <a:ahLst/>
              <a:cxnLst/>
              <a:rect l="l" t="t" r="r" b="b"/>
              <a:pathLst>
                <a:path w="603250" h="153669">
                  <a:moveTo>
                    <a:pt x="526363" y="0"/>
                  </a:moveTo>
                  <a:lnTo>
                    <a:pt x="76580" y="0"/>
                  </a:lnTo>
                  <a:lnTo>
                    <a:pt x="22431" y="22432"/>
                  </a:lnTo>
                  <a:lnTo>
                    <a:pt x="0" y="76582"/>
                  </a:lnTo>
                  <a:lnTo>
                    <a:pt x="6018" y="106390"/>
                  </a:lnTo>
                  <a:lnTo>
                    <a:pt x="22431" y="130733"/>
                  </a:lnTo>
                  <a:lnTo>
                    <a:pt x="46773" y="147147"/>
                  </a:lnTo>
                  <a:lnTo>
                    <a:pt x="76580" y="153165"/>
                  </a:lnTo>
                  <a:lnTo>
                    <a:pt x="526363" y="153165"/>
                  </a:lnTo>
                  <a:lnTo>
                    <a:pt x="556187" y="147147"/>
                  </a:lnTo>
                  <a:lnTo>
                    <a:pt x="580528" y="130733"/>
                  </a:lnTo>
                  <a:lnTo>
                    <a:pt x="596931" y="106390"/>
                  </a:lnTo>
                  <a:lnTo>
                    <a:pt x="602943" y="76582"/>
                  </a:lnTo>
                  <a:lnTo>
                    <a:pt x="596931" y="46775"/>
                  </a:lnTo>
                  <a:lnTo>
                    <a:pt x="580528" y="22432"/>
                  </a:lnTo>
                  <a:lnTo>
                    <a:pt x="556187" y="6018"/>
                  </a:lnTo>
                  <a:lnTo>
                    <a:pt x="526363" y="0"/>
                  </a:lnTo>
                  <a:close/>
                </a:path>
              </a:pathLst>
            </a:custGeom>
            <a:ln w="59564">
              <a:solidFill>
                <a:srgbClr val="EB9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859104" y="3229789"/>
              <a:ext cx="326390" cy="153670"/>
            </a:xfrm>
            <a:custGeom>
              <a:avLst/>
              <a:gdLst/>
              <a:ahLst/>
              <a:cxnLst/>
              <a:rect l="l" t="t" r="r" b="b"/>
              <a:pathLst>
                <a:path w="326389" h="153670">
                  <a:moveTo>
                    <a:pt x="326232" y="0"/>
                  </a:moveTo>
                  <a:lnTo>
                    <a:pt x="0" y="0"/>
                  </a:lnTo>
                  <a:lnTo>
                    <a:pt x="10741" y="48955"/>
                  </a:lnTo>
                  <a:lnTo>
                    <a:pt x="34849" y="91054"/>
                  </a:lnTo>
                  <a:lnTo>
                    <a:pt x="69872" y="123990"/>
                  </a:lnTo>
                  <a:lnTo>
                    <a:pt x="113359" y="145462"/>
                  </a:lnTo>
                  <a:lnTo>
                    <a:pt x="162861" y="153165"/>
                  </a:lnTo>
                  <a:lnTo>
                    <a:pt x="212460" y="145470"/>
                  </a:lnTo>
                  <a:lnTo>
                    <a:pt x="256042" y="124015"/>
                  </a:lnTo>
                  <a:lnTo>
                    <a:pt x="291161" y="91090"/>
                  </a:lnTo>
                  <a:lnTo>
                    <a:pt x="315372" y="48988"/>
                  </a:lnTo>
                  <a:lnTo>
                    <a:pt x="326232" y="0"/>
                  </a:lnTo>
                  <a:close/>
                </a:path>
              </a:pathLst>
            </a:custGeom>
            <a:solidFill>
              <a:srgbClr val="EB9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859104" y="3229789"/>
              <a:ext cx="326390" cy="153670"/>
            </a:xfrm>
            <a:custGeom>
              <a:avLst/>
              <a:gdLst/>
              <a:ahLst/>
              <a:cxnLst/>
              <a:rect l="l" t="t" r="r" b="b"/>
              <a:pathLst>
                <a:path w="326389" h="153670">
                  <a:moveTo>
                    <a:pt x="162861" y="153165"/>
                  </a:moveTo>
                  <a:lnTo>
                    <a:pt x="212460" y="145470"/>
                  </a:lnTo>
                  <a:lnTo>
                    <a:pt x="256042" y="124015"/>
                  </a:lnTo>
                  <a:lnTo>
                    <a:pt x="291161" y="91090"/>
                  </a:lnTo>
                  <a:lnTo>
                    <a:pt x="315372" y="48988"/>
                  </a:lnTo>
                  <a:lnTo>
                    <a:pt x="326232" y="0"/>
                  </a:lnTo>
                  <a:lnTo>
                    <a:pt x="0" y="0"/>
                  </a:lnTo>
                  <a:lnTo>
                    <a:pt x="10741" y="48955"/>
                  </a:lnTo>
                  <a:lnTo>
                    <a:pt x="34849" y="91054"/>
                  </a:lnTo>
                  <a:lnTo>
                    <a:pt x="69872" y="123990"/>
                  </a:lnTo>
                  <a:lnTo>
                    <a:pt x="113359" y="145462"/>
                  </a:lnTo>
                  <a:lnTo>
                    <a:pt x="162861" y="153165"/>
                  </a:lnTo>
                  <a:close/>
                </a:path>
              </a:pathLst>
            </a:custGeom>
            <a:ln w="59564">
              <a:solidFill>
                <a:srgbClr val="EB9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69499" y="1516202"/>
              <a:ext cx="1305560" cy="1358900"/>
            </a:xfrm>
            <a:custGeom>
              <a:avLst/>
              <a:gdLst/>
              <a:ahLst/>
              <a:cxnLst/>
              <a:rect l="l" t="t" r="r" b="b"/>
              <a:pathLst>
                <a:path w="1305560" h="1358900">
                  <a:moveTo>
                    <a:pt x="652465" y="0"/>
                  </a:moveTo>
                  <a:lnTo>
                    <a:pt x="604081" y="2096"/>
                  </a:lnTo>
                  <a:lnTo>
                    <a:pt x="604208" y="2096"/>
                  </a:lnTo>
                  <a:lnTo>
                    <a:pt x="556872" y="7609"/>
                  </a:lnTo>
                  <a:lnTo>
                    <a:pt x="510611" y="16416"/>
                  </a:lnTo>
                  <a:lnTo>
                    <a:pt x="465938" y="28263"/>
                  </a:lnTo>
                  <a:lnTo>
                    <a:pt x="422295" y="43224"/>
                  </a:lnTo>
                  <a:lnTo>
                    <a:pt x="380092" y="61101"/>
                  </a:lnTo>
                  <a:lnTo>
                    <a:pt x="339450" y="81776"/>
                  </a:lnTo>
                  <a:lnTo>
                    <a:pt x="300490" y="105126"/>
                  </a:lnTo>
                  <a:lnTo>
                    <a:pt x="263336" y="131031"/>
                  </a:lnTo>
                  <a:lnTo>
                    <a:pt x="228108" y="159372"/>
                  </a:lnTo>
                  <a:lnTo>
                    <a:pt x="194929" y="190026"/>
                  </a:lnTo>
                  <a:lnTo>
                    <a:pt x="163920" y="222875"/>
                  </a:lnTo>
                  <a:lnTo>
                    <a:pt x="135203" y="257797"/>
                  </a:lnTo>
                  <a:lnTo>
                    <a:pt x="108900" y="294672"/>
                  </a:lnTo>
                  <a:lnTo>
                    <a:pt x="85133" y="333379"/>
                  </a:lnTo>
                  <a:lnTo>
                    <a:pt x="64023" y="373798"/>
                  </a:lnTo>
                  <a:lnTo>
                    <a:pt x="45693" y="415808"/>
                  </a:lnTo>
                  <a:lnTo>
                    <a:pt x="30265" y="459289"/>
                  </a:lnTo>
                  <a:lnTo>
                    <a:pt x="17859" y="504120"/>
                  </a:lnTo>
                  <a:lnTo>
                    <a:pt x="8598" y="550180"/>
                  </a:lnTo>
                  <a:lnTo>
                    <a:pt x="2605" y="597350"/>
                  </a:lnTo>
                  <a:lnTo>
                    <a:pt x="0" y="645509"/>
                  </a:lnTo>
                  <a:lnTo>
                    <a:pt x="0" y="667973"/>
                  </a:lnTo>
                  <a:lnTo>
                    <a:pt x="2679" y="714830"/>
                  </a:lnTo>
                  <a:lnTo>
                    <a:pt x="8599" y="761296"/>
                  </a:lnTo>
                  <a:lnTo>
                    <a:pt x="17723" y="807207"/>
                  </a:lnTo>
                  <a:lnTo>
                    <a:pt x="30015" y="852397"/>
                  </a:lnTo>
                  <a:lnTo>
                    <a:pt x="45437" y="896701"/>
                  </a:lnTo>
                  <a:lnTo>
                    <a:pt x="67466" y="946841"/>
                  </a:lnTo>
                  <a:lnTo>
                    <a:pt x="93811" y="994711"/>
                  </a:lnTo>
                  <a:lnTo>
                    <a:pt x="124303" y="1040037"/>
                  </a:lnTo>
                  <a:lnTo>
                    <a:pt x="158776" y="1082543"/>
                  </a:lnTo>
                  <a:lnTo>
                    <a:pt x="188308" y="1121348"/>
                  </a:lnTo>
                  <a:lnTo>
                    <a:pt x="216271" y="1161234"/>
                  </a:lnTo>
                  <a:lnTo>
                    <a:pt x="242641" y="1202156"/>
                  </a:lnTo>
                  <a:lnTo>
                    <a:pt x="267393" y="1244066"/>
                  </a:lnTo>
                  <a:lnTo>
                    <a:pt x="290501" y="1286920"/>
                  </a:lnTo>
                  <a:lnTo>
                    <a:pt x="311937" y="1330671"/>
                  </a:lnTo>
                  <a:lnTo>
                    <a:pt x="319909" y="1342203"/>
                  </a:lnTo>
                  <a:lnTo>
                    <a:pt x="330492" y="1350998"/>
                  </a:lnTo>
                  <a:lnTo>
                    <a:pt x="343030" y="1356650"/>
                  </a:lnTo>
                  <a:lnTo>
                    <a:pt x="356865" y="1358752"/>
                  </a:lnTo>
                  <a:lnTo>
                    <a:pt x="949087" y="1358752"/>
                  </a:lnTo>
                  <a:lnTo>
                    <a:pt x="962945" y="1356650"/>
                  </a:lnTo>
                  <a:lnTo>
                    <a:pt x="975492" y="1350998"/>
                  </a:lnTo>
                  <a:lnTo>
                    <a:pt x="986067" y="1342203"/>
                  </a:lnTo>
                  <a:lnTo>
                    <a:pt x="994014" y="1330671"/>
                  </a:lnTo>
                  <a:lnTo>
                    <a:pt x="1015488" y="1286920"/>
                  </a:lnTo>
                  <a:lnTo>
                    <a:pt x="1038620" y="1244066"/>
                  </a:lnTo>
                  <a:lnTo>
                    <a:pt x="1062262" y="1204054"/>
                  </a:lnTo>
                  <a:lnTo>
                    <a:pt x="418129" y="1204054"/>
                  </a:lnTo>
                  <a:lnTo>
                    <a:pt x="392937" y="1156197"/>
                  </a:lnTo>
                  <a:lnTo>
                    <a:pt x="365589" y="1109577"/>
                  </a:lnTo>
                  <a:lnTo>
                    <a:pt x="336133" y="1064269"/>
                  </a:lnTo>
                  <a:lnTo>
                    <a:pt x="304618" y="1020345"/>
                  </a:lnTo>
                  <a:lnTo>
                    <a:pt x="271094" y="977879"/>
                  </a:lnTo>
                  <a:lnTo>
                    <a:pt x="245420" y="946331"/>
                  </a:lnTo>
                  <a:lnTo>
                    <a:pt x="222657" y="912704"/>
                  </a:lnTo>
                  <a:lnTo>
                    <a:pt x="202926" y="877202"/>
                  </a:lnTo>
                  <a:lnTo>
                    <a:pt x="186345" y="840030"/>
                  </a:lnTo>
                  <a:lnTo>
                    <a:pt x="171979" y="797221"/>
                  </a:lnTo>
                  <a:lnTo>
                    <a:pt x="161201" y="753443"/>
                  </a:lnTo>
                  <a:lnTo>
                    <a:pt x="154062" y="708923"/>
                  </a:lnTo>
                  <a:lnTo>
                    <a:pt x="150608" y="663889"/>
                  </a:lnTo>
                  <a:lnTo>
                    <a:pt x="150608" y="645509"/>
                  </a:lnTo>
                  <a:lnTo>
                    <a:pt x="153672" y="597698"/>
                  </a:lnTo>
                  <a:lnTo>
                    <a:pt x="161060" y="551207"/>
                  </a:lnTo>
                  <a:lnTo>
                    <a:pt x="172571" y="506240"/>
                  </a:lnTo>
                  <a:lnTo>
                    <a:pt x="187999" y="462996"/>
                  </a:lnTo>
                  <a:lnTo>
                    <a:pt x="207141" y="421677"/>
                  </a:lnTo>
                  <a:lnTo>
                    <a:pt x="229794" y="382485"/>
                  </a:lnTo>
                  <a:lnTo>
                    <a:pt x="255754" y="345619"/>
                  </a:lnTo>
                  <a:lnTo>
                    <a:pt x="284818" y="311283"/>
                  </a:lnTo>
                  <a:lnTo>
                    <a:pt x="316782" y="279676"/>
                  </a:lnTo>
                  <a:lnTo>
                    <a:pt x="351442" y="251001"/>
                  </a:lnTo>
                  <a:lnTo>
                    <a:pt x="388596" y="225458"/>
                  </a:lnTo>
                  <a:lnTo>
                    <a:pt x="428038" y="203249"/>
                  </a:lnTo>
                  <a:lnTo>
                    <a:pt x="469566" y="184575"/>
                  </a:lnTo>
                  <a:lnTo>
                    <a:pt x="512977" y="169637"/>
                  </a:lnTo>
                  <a:lnTo>
                    <a:pt x="558066" y="158636"/>
                  </a:lnTo>
                  <a:lnTo>
                    <a:pt x="604630" y="151774"/>
                  </a:lnTo>
                  <a:lnTo>
                    <a:pt x="652465" y="149251"/>
                  </a:lnTo>
                  <a:lnTo>
                    <a:pt x="1064432" y="149251"/>
                  </a:lnTo>
                  <a:lnTo>
                    <a:pt x="1042596" y="131635"/>
                  </a:lnTo>
                  <a:lnTo>
                    <a:pt x="1005372" y="105614"/>
                  </a:lnTo>
                  <a:lnTo>
                    <a:pt x="966332" y="82157"/>
                  </a:lnTo>
                  <a:lnTo>
                    <a:pt x="925597" y="61388"/>
                  </a:lnTo>
                  <a:lnTo>
                    <a:pt x="883290" y="43427"/>
                  </a:lnTo>
                  <a:lnTo>
                    <a:pt x="839534" y="28395"/>
                  </a:lnTo>
                  <a:lnTo>
                    <a:pt x="794451" y="16416"/>
                  </a:lnTo>
                  <a:lnTo>
                    <a:pt x="748164" y="7609"/>
                  </a:lnTo>
                  <a:lnTo>
                    <a:pt x="700794" y="2096"/>
                  </a:lnTo>
                  <a:lnTo>
                    <a:pt x="652465" y="0"/>
                  </a:lnTo>
                  <a:close/>
                </a:path>
                <a:path w="1305560" h="1358900">
                  <a:moveTo>
                    <a:pt x="1064432" y="149251"/>
                  </a:moveTo>
                  <a:lnTo>
                    <a:pt x="652465" y="149251"/>
                  </a:lnTo>
                  <a:lnTo>
                    <a:pt x="700326" y="151774"/>
                  </a:lnTo>
                  <a:lnTo>
                    <a:pt x="746917" y="158636"/>
                  </a:lnTo>
                  <a:lnTo>
                    <a:pt x="792032" y="169637"/>
                  </a:lnTo>
                  <a:lnTo>
                    <a:pt x="835468" y="184575"/>
                  </a:lnTo>
                  <a:lnTo>
                    <a:pt x="877022" y="203249"/>
                  </a:lnTo>
                  <a:lnTo>
                    <a:pt x="916491" y="225458"/>
                  </a:lnTo>
                  <a:lnTo>
                    <a:pt x="953670" y="251001"/>
                  </a:lnTo>
                  <a:lnTo>
                    <a:pt x="988357" y="279676"/>
                  </a:lnTo>
                  <a:lnTo>
                    <a:pt x="1020348" y="311283"/>
                  </a:lnTo>
                  <a:lnTo>
                    <a:pt x="1049440" y="345619"/>
                  </a:lnTo>
                  <a:lnTo>
                    <a:pt x="1075430" y="382485"/>
                  </a:lnTo>
                  <a:lnTo>
                    <a:pt x="1098114" y="421677"/>
                  </a:lnTo>
                  <a:lnTo>
                    <a:pt x="1117288" y="462996"/>
                  </a:lnTo>
                  <a:lnTo>
                    <a:pt x="1132751" y="506240"/>
                  </a:lnTo>
                  <a:lnTo>
                    <a:pt x="1144298" y="551207"/>
                  </a:lnTo>
                  <a:lnTo>
                    <a:pt x="1151672" y="597350"/>
                  </a:lnTo>
                  <a:lnTo>
                    <a:pt x="1154833" y="645509"/>
                  </a:lnTo>
                  <a:lnTo>
                    <a:pt x="1154833" y="663889"/>
                  </a:lnTo>
                  <a:lnTo>
                    <a:pt x="1151403" y="708923"/>
                  </a:lnTo>
                  <a:lnTo>
                    <a:pt x="1144272" y="753443"/>
                  </a:lnTo>
                  <a:lnTo>
                    <a:pt x="1133487" y="797221"/>
                  </a:lnTo>
                  <a:lnTo>
                    <a:pt x="1119096" y="840030"/>
                  </a:lnTo>
                  <a:lnTo>
                    <a:pt x="1102388" y="877202"/>
                  </a:lnTo>
                  <a:lnTo>
                    <a:pt x="1082529" y="912704"/>
                  </a:lnTo>
                  <a:lnTo>
                    <a:pt x="1059638" y="946331"/>
                  </a:lnTo>
                  <a:lnTo>
                    <a:pt x="1033836" y="977879"/>
                  </a:lnTo>
                  <a:lnTo>
                    <a:pt x="1000419" y="1020345"/>
                  </a:lnTo>
                  <a:lnTo>
                    <a:pt x="969014" y="1064269"/>
                  </a:lnTo>
                  <a:lnTo>
                    <a:pt x="939667" y="1109577"/>
                  </a:lnTo>
                  <a:lnTo>
                    <a:pt x="912418" y="1156197"/>
                  </a:lnTo>
                  <a:lnTo>
                    <a:pt x="887312" y="1204054"/>
                  </a:lnTo>
                  <a:lnTo>
                    <a:pt x="1062262" y="1204054"/>
                  </a:lnTo>
                  <a:lnTo>
                    <a:pt x="1063384" y="1202156"/>
                  </a:lnTo>
                  <a:lnTo>
                    <a:pt x="1089749" y="1161234"/>
                  </a:lnTo>
                  <a:lnTo>
                    <a:pt x="1117690" y="1121348"/>
                  </a:lnTo>
                  <a:lnTo>
                    <a:pt x="1147175" y="1082543"/>
                  </a:lnTo>
                  <a:lnTo>
                    <a:pt x="1181415" y="1040037"/>
                  </a:lnTo>
                  <a:lnTo>
                    <a:pt x="1211758" y="994711"/>
                  </a:lnTo>
                  <a:lnTo>
                    <a:pt x="1238016" y="946841"/>
                  </a:lnTo>
                  <a:lnTo>
                    <a:pt x="1260004" y="896701"/>
                  </a:lnTo>
                  <a:lnTo>
                    <a:pt x="1275075" y="852834"/>
                  </a:lnTo>
                  <a:lnTo>
                    <a:pt x="1287185" y="808130"/>
                  </a:lnTo>
                  <a:lnTo>
                    <a:pt x="1296303" y="762742"/>
                  </a:lnTo>
                  <a:lnTo>
                    <a:pt x="1302399" y="716823"/>
                  </a:lnTo>
                  <a:lnTo>
                    <a:pt x="1305442" y="670526"/>
                  </a:lnTo>
                  <a:lnTo>
                    <a:pt x="1305442" y="648062"/>
                  </a:lnTo>
                  <a:lnTo>
                    <a:pt x="1302983" y="599750"/>
                  </a:lnTo>
                  <a:lnTo>
                    <a:pt x="1297115" y="552424"/>
                  </a:lnTo>
                  <a:lnTo>
                    <a:pt x="1287967" y="506240"/>
                  </a:lnTo>
                  <a:lnTo>
                    <a:pt x="1275641" y="461215"/>
                  </a:lnTo>
                  <a:lnTo>
                    <a:pt x="1260281" y="417574"/>
                  </a:lnTo>
                  <a:lnTo>
                    <a:pt x="1242001" y="375406"/>
                  </a:lnTo>
                  <a:lnTo>
                    <a:pt x="1220925" y="334830"/>
                  </a:lnTo>
                  <a:lnTo>
                    <a:pt x="1197175" y="295969"/>
                  </a:lnTo>
                  <a:lnTo>
                    <a:pt x="1170872" y="258944"/>
                  </a:lnTo>
                  <a:lnTo>
                    <a:pt x="1142141" y="223876"/>
                  </a:lnTo>
                  <a:lnTo>
                    <a:pt x="1111103" y="190888"/>
                  </a:lnTo>
                  <a:lnTo>
                    <a:pt x="1077880" y="160100"/>
                  </a:lnTo>
                  <a:lnTo>
                    <a:pt x="1064432" y="149251"/>
                  </a:lnTo>
                  <a:close/>
                </a:path>
              </a:pathLst>
            </a:custGeom>
            <a:solidFill>
              <a:srgbClr val="EB9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69499" y="1516202"/>
              <a:ext cx="1305560" cy="1358900"/>
            </a:xfrm>
            <a:custGeom>
              <a:avLst/>
              <a:gdLst/>
              <a:ahLst/>
              <a:cxnLst/>
              <a:rect l="l" t="t" r="r" b="b"/>
              <a:pathLst>
                <a:path w="1305560" h="1358900">
                  <a:moveTo>
                    <a:pt x="652465" y="0"/>
                  </a:moveTo>
                  <a:lnTo>
                    <a:pt x="604284" y="2087"/>
                  </a:lnTo>
                  <a:lnTo>
                    <a:pt x="557054" y="7574"/>
                  </a:lnTo>
                  <a:lnTo>
                    <a:pt x="510898" y="16339"/>
                  </a:lnTo>
                  <a:lnTo>
                    <a:pt x="465938" y="28263"/>
                  </a:lnTo>
                  <a:lnTo>
                    <a:pt x="422295" y="43224"/>
                  </a:lnTo>
                  <a:lnTo>
                    <a:pt x="380092" y="61101"/>
                  </a:lnTo>
                  <a:lnTo>
                    <a:pt x="339450" y="81776"/>
                  </a:lnTo>
                  <a:lnTo>
                    <a:pt x="300490" y="105126"/>
                  </a:lnTo>
                  <a:lnTo>
                    <a:pt x="263336" y="131031"/>
                  </a:lnTo>
                  <a:lnTo>
                    <a:pt x="228108" y="159372"/>
                  </a:lnTo>
                  <a:lnTo>
                    <a:pt x="194929" y="190026"/>
                  </a:lnTo>
                  <a:lnTo>
                    <a:pt x="163920" y="222875"/>
                  </a:lnTo>
                  <a:lnTo>
                    <a:pt x="135203" y="257797"/>
                  </a:lnTo>
                  <a:lnTo>
                    <a:pt x="108900" y="294672"/>
                  </a:lnTo>
                  <a:lnTo>
                    <a:pt x="85133" y="333379"/>
                  </a:lnTo>
                  <a:lnTo>
                    <a:pt x="64023" y="373798"/>
                  </a:lnTo>
                  <a:lnTo>
                    <a:pt x="45693" y="415808"/>
                  </a:lnTo>
                  <a:lnTo>
                    <a:pt x="30265" y="459289"/>
                  </a:lnTo>
                  <a:lnTo>
                    <a:pt x="17859" y="504120"/>
                  </a:lnTo>
                  <a:lnTo>
                    <a:pt x="8598" y="550180"/>
                  </a:lnTo>
                  <a:lnTo>
                    <a:pt x="2605" y="597350"/>
                  </a:lnTo>
                  <a:lnTo>
                    <a:pt x="0" y="645509"/>
                  </a:lnTo>
                  <a:lnTo>
                    <a:pt x="0" y="667973"/>
                  </a:lnTo>
                  <a:lnTo>
                    <a:pt x="2679" y="714830"/>
                  </a:lnTo>
                  <a:lnTo>
                    <a:pt x="8599" y="761296"/>
                  </a:lnTo>
                  <a:lnTo>
                    <a:pt x="17723" y="807207"/>
                  </a:lnTo>
                  <a:lnTo>
                    <a:pt x="30015" y="852397"/>
                  </a:lnTo>
                  <a:lnTo>
                    <a:pt x="45437" y="896701"/>
                  </a:lnTo>
                  <a:lnTo>
                    <a:pt x="67466" y="946841"/>
                  </a:lnTo>
                  <a:lnTo>
                    <a:pt x="93811" y="994711"/>
                  </a:lnTo>
                  <a:lnTo>
                    <a:pt x="124303" y="1040037"/>
                  </a:lnTo>
                  <a:lnTo>
                    <a:pt x="158776" y="1082543"/>
                  </a:lnTo>
                  <a:lnTo>
                    <a:pt x="188298" y="1121333"/>
                  </a:lnTo>
                  <a:lnTo>
                    <a:pt x="216259" y="1161215"/>
                  </a:lnTo>
                  <a:lnTo>
                    <a:pt x="242632" y="1202140"/>
                  </a:lnTo>
                  <a:lnTo>
                    <a:pt x="267388" y="1244057"/>
                  </a:lnTo>
                  <a:lnTo>
                    <a:pt x="290500" y="1286918"/>
                  </a:lnTo>
                  <a:lnTo>
                    <a:pt x="311937" y="1330671"/>
                  </a:lnTo>
                  <a:lnTo>
                    <a:pt x="319909" y="1342203"/>
                  </a:lnTo>
                  <a:lnTo>
                    <a:pt x="330492" y="1350998"/>
                  </a:lnTo>
                  <a:lnTo>
                    <a:pt x="343030" y="1356650"/>
                  </a:lnTo>
                  <a:lnTo>
                    <a:pt x="356865" y="1358752"/>
                  </a:lnTo>
                  <a:lnTo>
                    <a:pt x="949087" y="1358752"/>
                  </a:lnTo>
                  <a:lnTo>
                    <a:pt x="962945" y="1356650"/>
                  </a:lnTo>
                  <a:lnTo>
                    <a:pt x="975492" y="1350998"/>
                  </a:lnTo>
                  <a:lnTo>
                    <a:pt x="986067" y="1342203"/>
                  </a:lnTo>
                  <a:lnTo>
                    <a:pt x="994014" y="1330671"/>
                  </a:lnTo>
                  <a:lnTo>
                    <a:pt x="1015488" y="1286920"/>
                  </a:lnTo>
                  <a:lnTo>
                    <a:pt x="1038620" y="1244067"/>
                  </a:lnTo>
                  <a:lnTo>
                    <a:pt x="1063384" y="1202156"/>
                  </a:lnTo>
                  <a:lnTo>
                    <a:pt x="1089750" y="1161234"/>
                  </a:lnTo>
                  <a:lnTo>
                    <a:pt x="1117690" y="1121348"/>
                  </a:lnTo>
                  <a:lnTo>
                    <a:pt x="1147175" y="1082543"/>
                  </a:lnTo>
                  <a:lnTo>
                    <a:pt x="1181473" y="1039965"/>
                  </a:lnTo>
                  <a:lnTo>
                    <a:pt x="1211822" y="994616"/>
                  </a:lnTo>
                  <a:lnTo>
                    <a:pt x="1238055" y="946769"/>
                  </a:lnTo>
                  <a:lnTo>
                    <a:pt x="1260004" y="896701"/>
                  </a:lnTo>
                  <a:lnTo>
                    <a:pt x="1275075" y="852834"/>
                  </a:lnTo>
                  <a:lnTo>
                    <a:pt x="1287185" y="808130"/>
                  </a:lnTo>
                  <a:lnTo>
                    <a:pt x="1296303" y="762742"/>
                  </a:lnTo>
                  <a:lnTo>
                    <a:pt x="1302399" y="716823"/>
                  </a:lnTo>
                  <a:lnTo>
                    <a:pt x="1305442" y="670526"/>
                  </a:lnTo>
                  <a:lnTo>
                    <a:pt x="1305442" y="648062"/>
                  </a:lnTo>
                  <a:lnTo>
                    <a:pt x="1302983" y="599750"/>
                  </a:lnTo>
                  <a:lnTo>
                    <a:pt x="1297115" y="552424"/>
                  </a:lnTo>
                  <a:lnTo>
                    <a:pt x="1287960" y="506205"/>
                  </a:lnTo>
                  <a:lnTo>
                    <a:pt x="1275641" y="461215"/>
                  </a:lnTo>
                  <a:lnTo>
                    <a:pt x="1260281" y="417575"/>
                  </a:lnTo>
                  <a:lnTo>
                    <a:pt x="1242001" y="375406"/>
                  </a:lnTo>
                  <a:lnTo>
                    <a:pt x="1220925" y="334830"/>
                  </a:lnTo>
                  <a:lnTo>
                    <a:pt x="1197175" y="295969"/>
                  </a:lnTo>
                  <a:lnTo>
                    <a:pt x="1170872" y="258944"/>
                  </a:lnTo>
                  <a:lnTo>
                    <a:pt x="1142141" y="223876"/>
                  </a:lnTo>
                  <a:lnTo>
                    <a:pt x="1111103" y="190888"/>
                  </a:lnTo>
                  <a:lnTo>
                    <a:pt x="1077880" y="160100"/>
                  </a:lnTo>
                  <a:lnTo>
                    <a:pt x="1042596" y="131635"/>
                  </a:lnTo>
                  <a:lnTo>
                    <a:pt x="1005372" y="105614"/>
                  </a:lnTo>
                  <a:lnTo>
                    <a:pt x="966332" y="82157"/>
                  </a:lnTo>
                  <a:lnTo>
                    <a:pt x="925597" y="61388"/>
                  </a:lnTo>
                  <a:lnTo>
                    <a:pt x="883290" y="43427"/>
                  </a:lnTo>
                  <a:lnTo>
                    <a:pt x="839534" y="28395"/>
                  </a:lnTo>
                  <a:lnTo>
                    <a:pt x="794451" y="16416"/>
                  </a:lnTo>
                  <a:lnTo>
                    <a:pt x="748164" y="7609"/>
                  </a:lnTo>
                  <a:lnTo>
                    <a:pt x="700794" y="2096"/>
                  </a:lnTo>
                  <a:lnTo>
                    <a:pt x="652465" y="0"/>
                  </a:lnTo>
                  <a:close/>
                </a:path>
                <a:path w="1305560" h="1358900">
                  <a:moveTo>
                    <a:pt x="1154833" y="663889"/>
                  </a:moveTo>
                  <a:lnTo>
                    <a:pt x="1151403" y="708923"/>
                  </a:lnTo>
                  <a:lnTo>
                    <a:pt x="1144272" y="753443"/>
                  </a:lnTo>
                  <a:lnTo>
                    <a:pt x="1133487" y="797221"/>
                  </a:lnTo>
                  <a:lnTo>
                    <a:pt x="1119096" y="840030"/>
                  </a:lnTo>
                  <a:lnTo>
                    <a:pt x="1102388" y="877202"/>
                  </a:lnTo>
                  <a:lnTo>
                    <a:pt x="1082529" y="912704"/>
                  </a:lnTo>
                  <a:lnTo>
                    <a:pt x="1059638" y="946331"/>
                  </a:lnTo>
                  <a:lnTo>
                    <a:pt x="1033836" y="977879"/>
                  </a:lnTo>
                  <a:lnTo>
                    <a:pt x="1000419" y="1020345"/>
                  </a:lnTo>
                  <a:lnTo>
                    <a:pt x="969014" y="1064269"/>
                  </a:lnTo>
                  <a:lnTo>
                    <a:pt x="939667" y="1109577"/>
                  </a:lnTo>
                  <a:lnTo>
                    <a:pt x="912418" y="1156197"/>
                  </a:lnTo>
                  <a:lnTo>
                    <a:pt x="887312" y="1204054"/>
                  </a:lnTo>
                  <a:lnTo>
                    <a:pt x="418129" y="1204054"/>
                  </a:lnTo>
                  <a:lnTo>
                    <a:pt x="392937" y="1156197"/>
                  </a:lnTo>
                  <a:lnTo>
                    <a:pt x="365589" y="1109577"/>
                  </a:lnTo>
                  <a:lnTo>
                    <a:pt x="336133" y="1064269"/>
                  </a:lnTo>
                  <a:lnTo>
                    <a:pt x="304618" y="1020345"/>
                  </a:lnTo>
                  <a:lnTo>
                    <a:pt x="271094" y="977879"/>
                  </a:lnTo>
                  <a:lnTo>
                    <a:pt x="245420" y="946331"/>
                  </a:lnTo>
                  <a:lnTo>
                    <a:pt x="222657" y="912704"/>
                  </a:lnTo>
                  <a:lnTo>
                    <a:pt x="202926" y="877202"/>
                  </a:lnTo>
                  <a:lnTo>
                    <a:pt x="186345" y="840030"/>
                  </a:lnTo>
                  <a:lnTo>
                    <a:pt x="171979" y="797221"/>
                  </a:lnTo>
                  <a:lnTo>
                    <a:pt x="161201" y="753443"/>
                  </a:lnTo>
                  <a:lnTo>
                    <a:pt x="154062" y="708923"/>
                  </a:lnTo>
                  <a:lnTo>
                    <a:pt x="150608" y="663889"/>
                  </a:lnTo>
                  <a:lnTo>
                    <a:pt x="150608" y="645509"/>
                  </a:lnTo>
                  <a:lnTo>
                    <a:pt x="153672" y="597698"/>
                  </a:lnTo>
                  <a:lnTo>
                    <a:pt x="161060" y="551207"/>
                  </a:lnTo>
                  <a:lnTo>
                    <a:pt x="172571" y="506240"/>
                  </a:lnTo>
                  <a:lnTo>
                    <a:pt x="187999" y="462996"/>
                  </a:lnTo>
                  <a:lnTo>
                    <a:pt x="207141" y="421677"/>
                  </a:lnTo>
                  <a:lnTo>
                    <a:pt x="229794" y="382485"/>
                  </a:lnTo>
                  <a:lnTo>
                    <a:pt x="255754" y="345619"/>
                  </a:lnTo>
                  <a:lnTo>
                    <a:pt x="284818" y="311283"/>
                  </a:lnTo>
                  <a:lnTo>
                    <a:pt x="316782" y="279676"/>
                  </a:lnTo>
                  <a:lnTo>
                    <a:pt x="351442" y="251001"/>
                  </a:lnTo>
                  <a:lnTo>
                    <a:pt x="388596" y="225458"/>
                  </a:lnTo>
                  <a:lnTo>
                    <a:pt x="428038" y="203249"/>
                  </a:lnTo>
                  <a:lnTo>
                    <a:pt x="469566" y="184575"/>
                  </a:lnTo>
                  <a:lnTo>
                    <a:pt x="512977" y="169637"/>
                  </a:lnTo>
                  <a:lnTo>
                    <a:pt x="558066" y="158636"/>
                  </a:lnTo>
                  <a:lnTo>
                    <a:pt x="604630" y="151774"/>
                  </a:lnTo>
                  <a:lnTo>
                    <a:pt x="652465" y="149251"/>
                  </a:lnTo>
                  <a:lnTo>
                    <a:pt x="700323" y="151773"/>
                  </a:lnTo>
                  <a:lnTo>
                    <a:pt x="746910" y="158634"/>
                  </a:lnTo>
                  <a:lnTo>
                    <a:pt x="792022" y="169633"/>
                  </a:lnTo>
                  <a:lnTo>
                    <a:pt x="835456" y="184569"/>
                  </a:lnTo>
                  <a:lnTo>
                    <a:pt x="877009" y="203241"/>
                  </a:lnTo>
                  <a:lnTo>
                    <a:pt x="916476" y="225448"/>
                  </a:lnTo>
                  <a:lnTo>
                    <a:pt x="953655" y="250988"/>
                  </a:lnTo>
                  <a:lnTo>
                    <a:pt x="988342" y="279661"/>
                  </a:lnTo>
                  <a:lnTo>
                    <a:pt x="1020334" y="311266"/>
                  </a:lnTo>
                  <a:lnTo>
                    <a:pt x="1049428" y="345601"/>
                  </a:lnTo>
                  <a:lnTo>
                    <a:pt x="1075419" y="382466"/>
                  </a:lnTo>
                  <a:lnTo>
                    <a:pt x="1098105" y="421658"/>
                  </a:lnTo>
                  <a:lnTo>
                    <a:pt x="1117282" y="462978"/>
                  </a:lnTo>
                  <a:lnTo>
                    <a:pt x="1132747" y="506225"/>
                  </a:lnTo>
                  <a:lnTo>
                    <a:pt x="1144296" y="551196"/>
                  </a:lnTo>
                  <a:lnTo>
                    <a:pt x="1151726" y="597691"/>
                  </a:lnTo>
                  <a:lnTo>
                    <a:pt x="1154833" y="645509"/>
                  </a:lnTo>
                  <a:lnTo>
                    <a:pt x="1154833" y="663889"/>
                  </a:lnTo>
                  <a:close/>
                </a:path>
              </a:pathLst>
            </a:custGeom>
            <a:ln w="59563">
              <a:solidFill>
                <a:srgbClr val="EB9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775886" y="1800240"/>
              <a:ext cx="550545" cy="766445"/>
            </a:xfrm>
            <a:custGeom>
              <a:avLst/>
              <a:gdLst/>
              <a:ahLst/>
              <a:cxnLst/>
              <a:rect l="l" t="t" r="r" b="b"/>
              <a:pathLst>
                <a:path w="550545" h="766444">
                  <a:moveTo>
                    <a:pt x="270073" y="0"/>
                  </a:moveTo>
                  <a:lnTo>
                    <a:pt x="0" y="527401"/>
                  </a:lnTo>
                  <a:lnTo>
                    <a:pt x="270073" y="466135"/>
                  </a:lnTo>
                  <a:lnTo>
                    <a:pt x="270073" y="765829"/>
                  </a:lnTo>
                  <a:lnTo>
                    <a:pt x="550358" y="249660"/>
                  </a:lnTo>
                  <a:lnTo>
                    <a:pt x="270073" y="305310"/>
                  </a:lnTo>
                  <a:lnTo>
                    <a:pt x="270073" y="0"/>
                  </a:lnTo>
                  <a:close/>
                </a:path>
              </a:pathLst>
            </a:custGeom>
            <a:solidFill>
              <a:srgbClr val="EB9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775886" y="1800240"/>
              <a:ext cx="550545" cy="766445"/>
            </a:xfrm>
            <a:custGeom>
              <a:avLst/>
              <a:gdLst/>
              <a:ahLst/>
              <a:cxnLst/>
              <a:rect l="l" t="t" r="r" b="b"/>
              <a:pathLst>
                <a:path w="550545" h="766444">
                  <a:moveTo>
                    <a:pt x="0" y="527401"/>
                  </a:moveTo>
                  <a:lnTo>
                    <a:pt x="270073" y="0"/>
                  </a:lnTo>
                  <a:lnTo>
                    <a:pt x="270073" y="305310"/>
                  </a:lnTo>
                  <a:lnTo>
                    <a:pt x="550358" y="249660"/>
                  </a:lnTo>
                  <a:lnTo>
                    <a:pt x="270073" y="765829"/>
                  </a:lnTo>
                  <a:lnTo>
                    <a:pt x="270073" y="466135"/>
                  </a:lnTo>
                  <a:lnTo>
                    <a:pt x="0" y="527401"/>
                  </a:lnTo>
                  <a:close/>
                </a:path>
              </a:pathLst>
            </a:custGeom>
            <a:ln w="59563">
              <a:solidFill>
                <a:srgbClr val="EB9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682599" y="3319136"/>
              <a:ext cx="795020" cy="795020"/>
            </a:xfrm>
            <a:custGeom>
              <a:avLst/>
              <a:gdLst/>
              <a:ahLst/>
              <a:cxnLst/>
              <a:rect l="l" t="t" r="r" b="b"/>
              <a:pathLst>
                <a:path w="795020" h="795020">
                  <a:moveTo>
                    <a:pt x="397197" y="0"/>
                  </a:moveTo>
                  <a:lnTo>
                    <a:pt x="350876" y="2672"/>
                  </a:lnTo>
                  <a:lnTo>
                    <a:pt x="306125" y="10490"/>
                  </a:lnTo>
                  <a:lnTo>
                    <a:pt x="263241" y="23157"/>
                  </a:lnTo>
                  <a:lnTo>
                    <a:pt x="222522" y="40373"/>
                  </a:lnTo>
                  <a:lnTo>
                    <a:pt x="184267" y="61842"/>
                  </a:lnTo>
                  <a:lnTo>
                    <a:pt x="148773" y="87264"/>
                  </a:lnTo>
                  <a:lnTo>
                    <a:pt x="116338" y="116342"/>
                  </a:lnTo>
                  <a:lnTo>
                    <a:pt x="87261" y="148777"/>
                  </a:lnTo>
                  <a:lnTo>
                    <a:pt x="61840" y="184273"/>
                  </a:lnTo>
                  <a:lnTo>
                    <a:pt x="40372" y="222529"/>
                  </a:lnTo>
                  <a:lnTo>
                    <a:pt x="23156" y="263249"/>
                  </a:lnTo>
                  <a:lnTo>
                    <a:pt x="10490" y="306135"/>
                  </a:lnTo>
                  <a:lnTo>
                    <a:pt x="2672" y="350888"/>
                  </a:lnTo>
                  <a:lnTo>
                    <a:pt x="0" y="397210"/>
                  </a:lnTo>
                  <a:lnTo>
                    <a:pt x="2672" y="443532"/>
                  </a:lnTo>
                  <a:lnTo>
                    <a:pt x="10490" y="488285"/>
                  </a:lnTo>
                  <a:lnTo>
                    <a:pt x="23156" y="531170"/>
                  </a:lnTo>
                  <a:lnTo>
                    <a:pt x="40372" y="571891"/>
                  </a:lnTo>
                  <a:lnTo>
                    <a:pt x="61840" y="610147"/>
                  </a:lnTo>
                  <a:lnTo>
                    <a:pt x="87261" y="645642"/>
                  </a:lnTo>
                  <a:lnTo>
                    <a:pt x="116338" y="678078"/>
                  </a:lnTo>
                  <a:lnTo>
                    <a:pt x="148773" y="707156"/>
                  </a:lnTo>
                  <a:lnTo>
                    <a:pt x="184267" y="732578"/>
                  </a:lnTo>
                  <a:lnTo>
                    <a:pt x="222522" y="754046"/>
                  </a:lnTo>
                  <a:lnTo>
                    <a:pt x="263241" y="771263"/>
                  </a:lnTo>
                  <a:lnTo>
                    <a:pt x="306125" y="783929"/>
                  </a:lnTo>
                  <a:lnTo>
                    <a:pt x="350876" y="791748"/>
                  </a:lnTo>
                  <a:lnTo>
                    <a:pt x="397197" y="794420"/>
                  </a:lnTo>
                  <a:lnTo>
                    <a:pt x="443526" y="791748"/>
                  </a:lnTo>
                  <a:lnTo>
                    <a:pt x="488282" y="783929"/>
                  </a:lnTo>
                  <a:lnTo>
                    <a:pt x="531170" y="771263"/>
                  </a:lnTo>
                  <a:lnTo>
                    <a:pt x="571891" y="754046"/>
                  </a:lnTo>
                  <a:lnTo>
                    <a:pt x="610146" y="732578"/>
                  </a:lnTo>
                  <a:lnTo>
                    <a:pt x="645639" y="707156"/>
                  </a:lnTo>
                  <a:lnTo>
                    <a:pt x="678072" y="678078"/>
                  </a:lnTo>
                  <a:lnTo>
                    <a:pt x="707146" y="645642"/>
                  </a:lnTo>
                  <a:lnTo>
                    <a:pt x="732565" y="610147"/>
                  </a:lnTo>
                  <a:lnTo>
                    <a:pt x="754029" y="571891"/>
                  </a:lnTo>
                  <a:lnTo>
                    <a:pt x="771243" y="531170"/>
                  </a:lnTo>
                  <a:lnTo>
                    <a:pt x="783906" y="488285"/>
                  </a:lnTo>
                  <a:lnTo>
                    <a:pt x="791723" y="443532"/>
                  </a:lnTo>
                  <a:lnTo>
                    <a:pt x="794395" y="397210"/>
                  </a:lnTo>
                  <a:lnTo>
                    <a:pt x="791723" y="350888"/>
                  </a:lnTo>
                  <a:lnTo>
                    <a:pt x="783906" y="306135"/>
                  </a:lnTo>
                  <a:lnTo>
                    <a:pt x="771243" y="263249"/>
                  </a:lnTo>
                  <a:lnTo>
                    <a:pt x="754029" y="222529"/>
                  </a:lnTo>
                  <a:lnTo>
                    <a:pt x="732565" y="184273"/>
                  </a:lnTo>
                  <a:lnTo>
                    <a:pt x="707146" y="148777"/>
                  </a:lnTo>
                  <a:lnTo>
                    <a:pt x="678072" y="116342"/>
                  </a:lnTo>
                  <a:lnTo>
                    <a:pt x="645639" y="87264"/>
                  </a:lnTo>
                  <a:lnTo>
                    <a:pt x="610146" y="61842"/>
                  </a:lnTo>
                  <a:lnTo>
                    <a:pt x="571891" y="40373"/>
                  </a:lnTo>
                  <a:lnTo>
                    <a:pt x="531170" y="23157"/>
                  </a:lnTo>
                  <a:lnTo>
                    <a:pt x="488282" y="10490"/>
                  </a:lnTo>
                  <a:lnTo>
                    <a:pt x="443525" y="2672"/>
                  </a:lnTo>
                  <a:lnTo>
                    <a:pt x="397197" y="0"/>
                  </a:lnTo>
                  <a:close/>
                </a:path>
              </a:pathLst>
            </a:custGeom>
            <a:solidFill>
              <a:srgbClr val="EB9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682599" y="3319136"/>
              <a:ext cx="795020" cy="795020"/>
            </a:xfrm>
            <a:custGeom>
              <a:avLst/>
              <a:gdLst/>
              <a:ahLst/>
              <a:cxnLst/>
              <a:rect l="l" t="t" r="r" b="b"/>
              <a:pathLst>
                <a:path w="795020" h="795020">
                  <a:moveTo>
                    <a:pt x="794395" y="397210"/>
                  </a:moveTo>
                  <a:lnTo>
                    <a:pt x="791723" y="443532"/>
                  </a:lnTo>
                  <a:lnTo>
                    <a:pt x="783906" y="488285"/>
                  </a:lnTo>
                  <a:lnTo>
                    <a:pt x="771243" y="531170"/>
                  </a:lnTo>
                  <a:lnTo>
                    <a:pt x="754029" y="571891"/>
                  </a:lnTo>
                  <a:lnTo>
                    <a:pt x="732565" y="610147"/>
                  </a:lnTo>
                  <a:lnTo>
                    <a:pt x="707146" y="645642"/>
                  </a:lnTo>
                  <a:lnTo>
                    <a:pt x="678072" y="678078"/>
                  </a:lnTo>
                  <a:lnTo>
                    <a:pt x="645639" y="707156"/>
                  </a:lnTo>
                  <a:lnTo>
                    <a:pt x="610146" y="732578"/>
                  </a:lnTo>
                  <a:lnTo>
                    <a:pt x="571891" y="754046"/>
                  </a:lnTo>
                  <a:lnTo>
                    <a:pt x="531170" y="771263"/>
                  </a:lnTo>
                  <a:lnTo>
                    <a:pt x="488282" y="783929"/>
                  </a:lnTo>
                  <a:lnTo>
                    <a:pt x="443526" y="791748"/>
                  </a:lnTo>
                  <a:lnTo>
                    <a:pt x="397197" y="794420"/>
                  </a:lnTo>
                  <a:lnTo>
                    <a:pt x="350876" y="791748"/>
                  </a:lnTo>
                  <a:lnTo>
                    <a:pt x="306125" y="783929"/>
                  </a:lnTo>
                  <a:lnTo>
                    <a:pt x="263241" y="771263"/>
                  </a:lnTo>
                  <a:lnTo>
                    <a:pt x="222522" y="754046"/>
                  </a:lnTo>
                  <a:lnTo>
                    <a:pt x="184267" y="732578"/>
                  </a:lnTo>
                  <a:lnTo>
                    <a:pt x="148773" y="707156"/>
                  </a:lnTo>
                  <a:lnTo>
                    <a:pt x="116338" y="678078"/>
                  </a:lnTo>
                  <a:lnTo>
                    <a:pt x="87261" y="645642"/>
                  </a:lnTo>
                  <a:lnTo>
                    <a:pt x="61840" y="610147"/>
                  </a:lnTo>
                  <a:lnTo>
                    <a:pt x="40372" y="571891"/>
                  </a:lnTo>
                  <a:lnTo>
                    <a:pt x="23156" y="531170"/>
                  </a:lnTo>
                  <a:lnTo>
                    <a:pt x="10490" y="488285"/>
                  </a:lnTo>
                  <a:lnTo>
                    <a:pt x="2672" y="443532"/>
                  </a:lnTo>
                  <a:lnTo>
                    <a:pt x="0" y="397210"/>
                  </a:lnTo>
                  <a:lnTo>
                    <a:pt x="2672" y="350888"/>
                  </a:lnTo>
                  <a:lnTo>
                    <a:pt x="10490" y="306135"/>
                  </a:lnTo>
                  <a:lnTo>
                    <a:pt x="23156" y="263249"/>
                  </a:lnTo>
                  <a:lnTo>
                    <a:pt x="40372" y="222529"/>
                  </a:lnTo>
                  <a:lnTo>
                    <a:pt x="61840" y="184273"/>
                  </a:lnTo>
                  <a:lnTo>
                    <a:pt x="87261" y="148777"/>
                  </a:lnTo>
                  <a:lnTo>
                    <a:pt x="116338" y="116342"/>
                  </a:lnTo>
                  <a:lnTo>
                    <a:pt x="148773" y="87264"/>
                  </a:lnTo>
                  <a:lnTo>
                    <a:pt x="184267" y="61842"/>
                  </a:lnTo>
                  <a:lnTo>
                    <a:pt x="222522" y="40373"/>
                  </a:lnTo>
                  <a:lnTo>
                    <a:pt x="263241" y="23157"/>
                  </a:lnTo>
                  <a:lnTo>
                    <a:pt x="306125" y="10490"/>
                  </a:lnTo>
                  <a:lnTo>
                    <a:pt x="350876" y="2672"/>
                  </a:lnTo>
                  <a:lnTo>
                    <a:pt x="397197" y="0"/>
                  </a:lnTo>
                  <a:lnTo>
                    <a:pt x="443525" y="2672"/>
                  </a:lnTo>
                  <a:lnTo>
                    <a:pt x="488282" y="10490"/>
                  </a:lnTo>
                  <a:lnTo>
                    <a:pt x="531170" y="23157"/>
                  </a:lnTo>
                  <a:lnTo>
                    <a:pt x="571891" y="40373"/>
                  </a:lnTo>
                  <a:lnTo>
                    <a:pt x="610146" y="61842"/>
                  </a:lnTo>
                  <a:lnTo>
                    <a:pt x="645639" y="87264"/>
                  </a:lnTo>
                  <a:lnTo>
                    <a:pt x="678072" y="116342"/>
                  </a:lnTo>
                  <a:lnTo>
                    <a:pt x="707146" y="148777"/>
                  </a:lnTo>
                  <a:lnTo>
                    <a:pt x="732565" y="184273"/>
                  </a:lnTo>
                  <a:lnTo>
                    <a:pt x="754029" y="222529"/>
                  </a:lnTo>
                  <a:lnTo>
                    <a:pt x="771243" y="263249"/>
                  </a:lnTo>
                  <a:lnTo>
                    <a:pt x="783906" y="306135"/>
                  </a:lnTo>
                  <a:lnTo>
                    <a:pt x="791723" y="350888"/>
                  </a:lnTo>
                  <a:lnTo>
                    <a:pt x="794395" y="397210"/>
                  </a:lnTo>
                  <a:close/>
                </a:path>
              </a:pathLst>
            </a:custGeom>
            <a:ln w="59563">
              <a:solidFill>
                <a:srgbClr val="EB9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563872" y="3319136"/>
              <a:ext cx="795020" cy="795020"/>
            </a:xfrm>
            <a:custGeom>
              <a:avLst/>
              <a:gdLst/>
              <a:ahLst/>
              <a:cxnLst/>
              <a:rect l="l" t="t" r="r" b="b"/>
              <a:pathLst>
                <a:path w="795019" h="795020">
                  <a:moveTo>
                    <a:pt x="397197" y="0"/>
                  </a:moveTo>
                  <a:lnTo>
                    <a:pt x="350876" y="2672"/>
                  </a:lnTo>
                  <a:lnTo>
                    <a:pt x="306125" y="10490"/>
                  </a:lnTo>
                  <a:lnTo>
                    <a:pt x="263241" y="23157"/>
                  </a:lnTo>
                  <a:lnTo>
                    <a:pt x="222522" y="40373"/>
                  </a:lnTo>
                  <a:lnTo>
                    <a:pt x="184267" y="61842"/>
                  </a:lnTo>
                  <a:lnTo>
                    <a:pt x="148773" y="87264"/>
                  </a:lnTo>
                  <a:lnTo>
                    <a:pt x="116338" y="116342"/>
                  </a:lnTo>
                  <a:lnTo>
                    <a:pt x="87261" y="148777"/>
                  </a:lnTo>
                  <a:lnTo>
                    <a:pt x="61840" y="184273"/>
                  </a:lnTo>
                  <a:lnTo>
                    <a:pt x="40372" y="222529"/>
                  </a:lnTo>
                  <a:lnTo>
                    <a:pt x="23156" y="263249"/>
                  </a:lnTo>
                  <a:lnTo>
                    <a:pt x="10490" y="306135"/>
                  </a:lnTo>
                  <a:lnTo>
                    <a:pt x="2672" y="350888"/>
                  </a:lnTo>
                  <a:lnTo>
                    <a:pt x="0" y="397210"/>
                  </a:lnTo>
                  <a:lnTo>
                    <a:pt x="2672" y="443532"/>
                  </a:lnTo>
                  <a:lnTo>
                    <a:pt x="10490" y="488285"/>
                  </a:lnTo>
                  <a:lnTo>
                    <a:pt x="23156" y="531170"/>
                  </a:lnTo>
                  <a:lnTo>
                    <a:pt x="40372" y="571891"/>
                  </a:lnTo>
                  <a:lnTo>
                    <a:pt x="61840" y="610147"/>
                  </a:lnTo>
                  <a:lnTo>
                    <a:pt x="87261" y="645642"/>
                  </a:lnTo>
                  <a:lnTo>
                    <a:pt x="116338" y="678078"/>
                  </a:lnTo>
                  <a:lnTo>
                    <a:pt x="148773" y="707156"/>
                  </a:lnTo>
                  <a:lnTo>
                    <a:pt x="184267" y="732578"/>
                  </a:lnTo>
                  <a:lnTo>
                    <a:pt x="222522" y="754046"/>
                  </a:lnTo>
                  <a:lnTo>
                    <a:pt x="263241" y="771263"/>
                  </a:lnTo>
                  <a:lnTo>
                    <a:pt x="306125" y="783929"/>
                  </a:lnTo>
                  <a:lnTo>
                    <a:pt x="350876" y="791748"/>
                  </a:lnTo>
                  <a:lnTo>
                    <a:pt x="397197" y="794420"/>
                  </a:lnTo>
                  <a:lnTo>
                    <a:pt x="443526" y="791748"/>
                  </a:lnTo>
                  <a:lnTo>
                    <a:pt x="488282" y="783929"/>
                  </a:lnTo>
                  <a:lnTo>
                    <a:pt x="531170" y="771263"/>
                  </a:lnTo>
                  <a:lnTo>
                    <a:pt x="571891" y="754046"/>
                  </a:lnTo>
                  <a:lnTo>
                    <a:pt x="610146" y="732578"/>
                  </a:lnTo>
                  <a:lnTo>
                    <a:pt x="645639" y="707156"/>
                  </a:lnTo>
                  <a:lnTo>
                    <a:pt x="678072" y="678078"/>
                  </a:lnTo>
                  <a:lnTo>
                    <a:pt x="707146" y="645642"/>
                  </a:lnTo>
                  <a:lnTo>
                    <a:pt x="732565" y="610147"/>
                  </a:lnTo>
                  <a:lnTo>
                    <a:pt x="754029" y="571891"/>
                  </a:lnTo>
                  <a:lnTo>
                    <a:pt x="771243" y="531170"/>
                  </a:lnTo>
                  <a:lnTo>
                    <a:pt x="783906" y="488285"/>
                  </a:lnTo>
                  <a:lnTo>
                    <a:pt x="791723" y="443532"/>
                  </a:lnTo>
                  <a:lnTo>
                    <a:pt x="794395" y="397210"/>
                  </a:lnTo>
                  <a:lnTo>
                    <a:pt x="791723" y="350888"/>
                  </a:lnTo>
                  <a:lnTo>
                    <a:pt x="783906" y="306135"/>
                  </a:lnTo>
                  <a:lnTo>
                    <a:pt x="771243" y="263249"/>
                  </a:lnTo>
                  <a:lnTo>
                    <a:pt x="754029" y="222529"/>
                  </a:lnTo>
                  <a:lnTo>
                    <a:pt x="732565" y="184273"/>
                  </a:lnTo>
                  <a:lnTo>
                    <a:pt x="707146" y="148777"/>
                  </a:lnTo>
                  <a:lnTo>
                    <a:pt x="678072" y="116342"/>
                  </a:lnTo>
                  <a:lnTo>
                    <a:pt x="645639" y="87264"/>
                  </a:lnTo>
                  <a:lnTo>
                    <a:pt x="610146" y="61842"/>
                  </a:lnTo>
                  <a:lnTo>
                    <a:pt x="571891" y="40373"/>
                  </a:lnTo>
                  <a:lnTo>
                    <a:pt x="531170" y="23157"/>
                  </a:lnTo>
                  <a:lnTo>
                    <a:pt x="488282" y="10490"/>
                  </a:lnTo>
                  <a:lnTo>
                    <a:pt x="443525" y="2672"/>
                  </a:lnTo>
                  <a:lnTo>
                    <a:pt x="397197" y="0"/>
                  </a:lnTo>
                  <a:close/>
                </a:path>
              </a:pathLst>
            </a:custGeom>
            <a:solidFill>
              <a:srgbClr val="EB9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563872" y="3319136"/>
              <a:ext cx="795020" cy="795020"/>
            </a:xfrm>
            <a:custGeom>
              <a:avLst/>
              <a:gdLst/>
              <a:ahLst/>
              <a:cxnLst/>
              <a:rect l="l" t="t" r="r" b="b"/>
              <a:pathLst>
                <a:path w="795019" h="795020">
                  <a:moveTo>
                    <a:pt x="794395" y="397210"/>
                  </a:moveTo>
                  <a:lnTo>
                    <a:pt x="791723" y="443532"/>
                  </a:lnTo>
                  <a:lnTo>
                    <a:pt x="783906" y="488285"/>
                  </a:lnTo>
                  <a:lnTo>
                    <a:pt x="771243" y="531170"/>
                  </a:lnTo>
                  <a:lnTo>
                    <a:pt x="754029" y="571891"/>
                  </a:lnTo>
                  <a:lnTo>
                    <a:pt x="732565" y="610147"/>
                  </a:lnTo>
                  <a:lnTo>
                    <a:pt x="707146" y="645642"/>
                  </a:lnTo>
                  <a:lnTo>
                    <a:pt x="678072" y="678078"/>
                  </a:lnTo>
                  <a:lnTo>
                    <a:pt x="645639" y="707156"/>
                  </a:lnTo>
                  <a:lnTo>
                    <a:pt x="610146" y="732578"/>
                  </a:lnTo>
                  <a:lnTo>
                    <a:pt x="571891" y="754046"/>
                  </a:lnTo>
                  <a:lnTo>
                    <a:pt x="531170" y="771263"/>
                  </a:lnTo>
                  <a:lnTo>
                    <a:pt x="488282" y="783929"/>
                  </a:lnTo>
                  <a:lnTo>
                    <a:pt x="443526" y="791748"/>
                  </a:lnTo>
                  <a:lnTo>
                    <a:pt x="397197" y="794420"/>
                  </a:lnTo>
                  <a:lnTo>
                    <a:pt x="350876" y="791748"/>
                  </a:lnTo>
                  <a:lnTo>
                    <a:pt x="306125" y="783929"/>
                  </a:lnTo>
                  <a:lnTo>
                    <a:pt x="263241" y="771263"/>
                  </a:lnTo>
                  <a:lnTo>
                    <a:pt x="222522" y="754046"/>
                  </a:lnTo>
                  <a:lnTo>
                    <a:pt x="184267" y="732578"/>
                  </a:lnTo>
                  <a:lnTo>
                    <a:pt x="148773" y="707156"/>
                  </a:lnTo>
                  <a:lnTo>
                    <a:pt x="116338" y="678078"/>
                  </a:lnTo>
                  <a:lnTo>
                    <a:pt x="87261" y="645642"/>
                  </a:lnTo>
                  <a:lnTo>
                    <a:pt x="61840" y="610147"/>
                  </a:lnTo>
                  <a:lnTo>
                    <a:pt x="40372" y="571891"/>
                  </a:lnTo>
                  <a:lnTo>
                    <a:pt x="23156" y="531170"/>
                  </a:lnTo>
                  <a:lnTo>
                    <a:pt x="10490" y="488285"/>
                  </a:lnTo>
                  <a:lnTo>
                    <a:pt x="2672" y="443532"/>
                  </a:lnTo>
                  <a:lnTo>
                    <a:pt x="0" y="397210"/>
                  </a:lnTo>
                  <a:lnTo>
                    <a:pt x="2672" y="350888"/>
                  </a:lnTo>
                  <a:lnTo>
                    <a:pt x="10490" y="306135"/>
                  </a:lnTo>
                  <a:lnTo>
                    <a:pt x="23156" y="263249"/>
                  </a:lnTo>
                  <a:lnTo>
                    <a:pt x="40372" y="222529"/>
                  </a:lnTo>
                  <a:lnTo>
                    <a:pt x="61840" y="184273"/>
                  </a:lnTo>
                  <a:lnTo>
                    <a:pt x="87261" y="148777"/>
                  </a:lnTo>
                  <a:lnTo>
                    <a:pt x="116338" y="116342"/>
                  </a:lnTo>
                  <a:lnTo>
                    <a:pt x="148773" y="87264"/>
                  </a:lnTo>
                  <a:lnTo>
                    <a:pt x="184267" y="61842"/>
                  </a:lnTo>
                  <a:lnTo>
                    <a:pt x="222522" y="40373"/>
                  </a:lnTo>
                  <a:lnTo>
                    <a:pt x="263241" y="23157"/>
                  </a:lnTo>
                  <a:lnTo>
                    <a:pt x="306125" y="10490"/>
                  </a:lnTo>
                  <a:lnTo>
                    <a:pt x="350876" y="2672"/>
                  </a:lnTo>
                  <a:lnTo>
                    <a:pt x="397197" y="0"/>
                  </a:lnTo>
                  <a:lnTo>
                    <a:pt x="443525" y="2672"/>
                  </a:lnTo>
                  <a:lnTo>
                    <a:pt x="488282" y="10490"/>
                  </a:lnTo>
                  <a:lnTo>
                    <a:pt x="531170" y="23157"/>
                  </a:lnTo>
                  <a:lnTo>
                    <a:pt x="571891" y="40373"/>
                  </a:lnTo>
                  <a:lnTo>
                    <a:pt x="610146" y="61842"/>
                  </a:lnTo>
                  <a:lnTo>
                    <a:pt x="645639" y="87264"/>
                  </a:lnTo>
                  <a:lnTo>
                    <a:pt x="678072" y="116342"/>
                  </a:lnTo>
                  <a:lnTo>
                    <a:pt x="707146" y="148777"/>
                  </a:lnTo>
                  <a:lnTo>
                    <a:pt x="732565" y="184273"/>
                  </a:lnTo>
                  <a:lnTo>
                    <a:pt x="754029" y="222529"/>
                  </a:lnTo>
                  <a:lnTo>
                    <a:pt x="771243" y="263249"/>
                  </a:lnTo>
                  <a:lnTo>
                    <a:pt x="783906" y="306135"/>
                  </a:lnTo>
                  <a:lnTo>
                    <a:pt x="791723" y="350888"/>
                  </a:lnTo>
                  <a:lnTo>
                    <a:pt x="794395" y="397210"/>
                  </a:lnTo>
                  <a:close/>
                </a:path>
              </a:pathLst>
            </a:custGeom>
            <a:ln w="59563">
              <a:solidFill>
                <a:srgbClr val="EB9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434478" y="4221283"/>
              <a:ext cx="1439545" cy="795655"/>
            </a:xfrm>
            <a:custGeom>
              <a:avLst/>
              <a:gdLst/>
              <a:ahLst/>
              <a:cxnLst/>
              <a:rect l="l" t="t" r="r" b="b"/>
              <a:pathLst>
                <a:path w="1439545" h="795654">
                  <a:moveTo>
                    <a:pt x="645318" y="0"/>
                  </a:moveTo>
                  <a:lnTo>
                    <a:pt x="550508" y="4048"/>
                  </a:lnTo>
                  <a:lnTo>
                    <a:pt x="456585" y="16572"/>
                  </a:lnTo>
                  <a:lnTo>
                    <a:pt x="364102" y="37483"/>
                  </a:lnTo>
                  <a:lnTo>
                    <a:pt x="266110" y="66412"/>
                  </a:lnTo>
                  <a:lnTo>
                    <a:pt x="163834" y="104535"/>
                  </a:lnTo>
                  <a:lnTo>
                    <a:pt x="65684" y="152303"/>
                  </a:lnTo>
                  <a:lnTo>
                    <a:pt x="18379" y="179714"/>
                  </a:lnTo>
                  <a:lnTo>
                    <a:pt x="0" y="200647"/>
                  </a:lnTo>
                  <a:lnTo>
                    <a:pt x="97478" y="231609"/>
                  </a:lnTo>
                  <a:lnTo>
                    <a:pt x="191573" y="271042"/>
                  </a:lnTo>
                  <a:lnTo>
                    <a:pt x="281740" y="318670"/>
                  </a:lnTo>
                  <a:lnTo>
                    <a:pt x="367432" y="374214"/>
                  </a:lnTo>
                  <a:lnTo>
                    <a:pt x="408429" y="404868"/>
                  </a:lnTo>
                  <a:lnTo>
                    <a:pt x="446892" y="437221"/>
                  </a:lnTo>
                  <a:lnTo>
                    <a:pt x="480170" y="474096"/>
                  </a:lnTo>
                  <a:lnTo>
                    <a:pt x="507957" y="514871"/>
                  </a:lnTo>
                  <a:lnTo>
                    <a:pt x="529943" y="558926"/>
                  </a:lnTo>
                  <a:lnTo>
                    <a:pt x="545820" y="605640"/>
                  </a:lnTo>
                  <a:lnTo>
                    <a:pt x="555280" y="654393"/>
                  </a:lnTo>
                  <a:lnTo>
                    <a:pt x="558016" y="704563"/>
                  </a:lnTo>
                  <a:lnTo>
                    <a:pt x="558016" y="795441"/>
                  </a:lnTo>
                  <a:lnTo>
                    <a:pt x="1439543" y="795441"/>
                  </a:lnTo>
                  <a:lnTo>
                    <a:pt x="1439543" y="395678"/>
                  </a:lnTo>
                  <a:lnTo>
                    <a:pt x="1435069" y="349352"/>
                  </a:lnTo>
                  <a:lnTo>
                    <a:pt x="1419706" y="306124"/>
                  </a:lnTo>
                  <a:lnTo>
                    <a:pt x="1394372" y="267851"/>
                  </a:lnTo>
                  <a:lnTo>
                    <a:pt x="1359984" y="236386"/>
                  </a:lnTo>
                  <a:lnTo>
                    <a:pt x="1281200" y="180871"/>
                  </a:lnTo>
                  <a:lnTo>
                    <a:pt x="1197674" y="133307"/>
                  </a:lnTo>
                  <a:lnTo>
                    <a:pt x="1110007" y="93979"/>
                  </a:lnTo>
                  <a:lnTo>
                    <a:pt x="1018802" y="63173"/>
                  </a:lnTo>
                  <a:lnTo>
                    <a:pt x="880183" y="27894"/>
                  </a:lnTo>
                  <a:lnTo>
                    <a:pt x="786927" y="11556"/>
                  </a:lnTo>
                  <a:lnTo>
                    <a:pt x="692685" y="2113"/>
                  </a:lnTo>
                  <a:lnTo>
                    <a:pt x="645318" y="0"/>
                  </a:lnTo>
                  <a:close/>
                </a:path>
              </a:pathLst>
            </a:custGeom>
            <a:solidFill>
              <a:srgbClr val="EB9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434478" y="4221283"/>
              <a:ext cx="1439545" cy="795655"/>
            </a:xfrm>
            <a:custGeom>
              <a:avLst/>
              <a:gdLst/>
              <a:ahLst/>
              <a:cxnLst/>
              <a:rect l="l" t="t" r="r" b="b"/>
              <a:pathLst>
                <a:path w="1439545" h="795654">
                  <a:moveTo>
                    <a:pt x="1359984" y="236386"/>
                  </a:moveTo>
                  <a:lnTo>
                    <a:pt x="1321223" y="207653"/>
                  </a:lnTo>
                  <a:lnTo>
                    <a:pt x="1281200" y="180871"/>
                  </a:lnTo>
                  <a:lnTo>
                    <a:pt x="1239992" y="156078"/>
                  </a:lnTo>
                  <a:lnTo>
                    <a:pt x="1197674" y="133307"/>
                  </a:lnTo>
                  <a:lnTo>
                    <a:pt x="1154320" y="112596"/>
                  </a:lnTo>
                  <a:lnTo>
                    <a:pt x="1110007" y="93979"/>
                  </a:lnTo>
                  <a:lnTo>
                    <a:pt x="1064809" y="77493"/>
                  </a:lnTo>
                  <a:lnTo>
                    <a:pt x="1018802" y="63173"/>
                  </a:lnTo>
                  <a:lnTo>
                    <a:pt x="972061" y="51055"/>
                  </a:lnTo>
                  <a:lnTo>
                    <a:pt x="926319" y="38626"/>
                  </a:lnTo>
                  <a:lnTo>
                    <a:pt x="880183" y="27894"/>
                  </a:lnTo>
                  <a:lnTo>
                    <a:pt x="833703" y="18868"/>
                  </a:lnTo>
                  <a:lnTo>
                    <a:pt x="786927" y="11556"/>
                  </a:lnTo>
                  <a:lnTo>
                    <a:pt x="739905" y="5968"/>
                  </a:lnTo>
                  <a:lnTo>
                    <a:pt x="692685" y="2113"/>
                  </a:lnTo>
                  <a:lnTo>
                    <a:pt x="645318" y="0"/>
                  </a:lnTo>
                  <a:lnTo>
                    <a:pt x="597836" y="959"/>
                  </a:lnTo>
                  <a:lnTo>
                    <a:pt x="550508" y="4048"/>
                  </a:lnTo>
                  <a:lnTo>
                    <a:pt x="503401" y="9256"/>
                  </a:lnTo>
                  <a:lnTo>
                    <a:pt x="456585" y="16572"/>
                  </a:lnTo>
                  <a:lnTo>
                    <a:pt x="410129" y="25985"/>
                  </a:lnTo>
                  <a:lnTo>
                    <a:pt x="364102" y="37483"/>
                  </a:lnTo>
                  <a:lnTo>
                    <a:pt x="318574" y="51055"/>
                  </a:lnTo>
                  <a:lnTo>
                    <a:pt x="266110" y="66412"/>
                  </a:lnTo>
                  <a:lnTo>
                    <a:pt x="214501" y="84250"/>
                  </a:lnTo>
                  <a:lnTo>
                    <a:pt x="163834" y="104535"/>
                  </a:lnTo>
                  <a:lnTo>
                    <a:pt x="114199" y="127231"/>
                  </a:lnTo>
                  <a:lnTo>
                    <a:pt x="65684" y="152303"/>
                  </a:lnTo>
                  <a:lnTo>
                    <a:pt x="18379" y="179714"/>
                  </a:lnTo>
                  <a:lnTo>
                    <a:pt x="9381" y="190372"/>
                  </a:lnTo>
                  <a:lnTo>
                    <a:pt x="4810" y="195581"/>
                  </a:lnTo>
                  <a:lnTo>
                    <a:pt x="0" y="200647"/>
                  </a:lnTo>
                  <a:lnTo>
                    <a:pt x="49127" y="215052"/>
                  </a:lnTo>
                  <a:lnTo>
                    <a:pt x="97478" y="231609"/>
                  </a:lnTo>
                  <a:lnTo>
                    <a:pt x="144982" y="250284"/>
                  </a:lnTo>
                  <a:lnTo>
                    <a:pt x="191573" y="271042"/>
                  </a:lnTo>
                  <a:lnTo>
                    <a:pt x="237182" y="293849"/>
                  </a:lnTo>
                  <a:lnTo>
                    <a:pt x="281740" y="318670"/>
                  </a:lnTo>
                  <a:lnTo>
                    <a:pt x="325180" y="345470"/>
                  </a:lnTo>
                  <a:lnTo>
                    <a:pt x="367432" y="374214"/>
                  </a:lnTo>
                  <a:lnTo>
                    <a:pt x="408429" y="404868"/>
                  </a:lnTo>
                  <a:lnTo>
                    <a:pt x="446892" y="437221"/>
                  </a:lnTo>
                  <a:lnTo>
                    <a:pt x="480170" y="474096"/>
                  </a:lnTo>
                  <a:lnTo>
                    <a:pt x="507957" y="514871"/>
                  </a:lnTo>
                  <a:lnTo>
                    <a:pt x="529943" y="558926"/>
                  </a:lnTo>
                  <a:lnTo>
                    <a:pt x="545820" y="605640"/>
                  </a:lnTo>
                  <a:lnTo>
                    <a:pt x="555280" y="654393"/>
                  </a:lnTo>
                  <a:lnTo>
                    <a:pt x="558016" y="704563"/>
                  </a:lnTo>
                  <a:lnTo>
                    <a:pt x="558016" y="795441"/>
                  </a:lnTo>
                  <a:lnTo>
                    <a:pt x="1439543" y="795441"/>
                  </a:lnTo>
                  <a:lnTo>
                    <a:pt x="1439543" y="395678"/>
                  </a:lnTo>
                  <a:lnTo>
                    <a:pt x="1435069" y="349352"/>
                  </a:lnTo>
                  <a:lnTo>
                    <a:pt x="1419706" y="306124"/>
                  </a:lnTo>
                  <a:lnTo>
                    <a:pt x="1394372" y="267851"/>
                  </a:lnTo>
                  <a:lnTo>
                    <a:pt x="1359984" y="236386"/>
                  </a:lnTo>
                  <a:close/>
                </a:path>
              </a:pathLst>
            </a:custGeom>
            <a:ln w="59564">
              <a:solidFill>
                <a:srgbClr val="EB9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166674" y="4221283"/>
              <a:ext cx="1440180" cy="795655"/>
            </a:xfrm>
            <a:custGeom>
              <a:avLst/>
              <a:gdLst/>
              <a:ahLst/>
              <a:cxnLst/>
              <a:rect l="l" t="t" r="r" b="b"/>
              <a:pathLst>
                <a:path w="1440180" h="795654">
                  <a:moveTo>
                    <a:pt x="796437" y="0"/>
                  </a:moveTo>
                  <a:lnTo>
                    <a:pt x="701626" y="4074"/>
                  </a:lnTo>
                  <a:lnTo>
                    <a:pt x="607703" y="16604"/>
                  </a:lnTo>
                  <a:lnTo>
                    <a:pt x="515221" y="37498"/>
                  </a:lnTo>
                  <a:lnTo>
                    <a:pt x="378099" y="80241"/>
                  </a:lnTo>
                  <a:lnTo>
                    <a:pt x="289244" y="116444"/>
                  </a:lnTo>
                  <a:lnTo>
                    <a:pt x="203524" y="159472"/>
                  </a:lnTo>
                  <a:lnTo>
                    <a:pt x="121334" y="209130"/>
                  </a:lnTo>
                  <a:lnTo>
                    <a:pt x="81685" y="236386"/>
                  </a:lnTo>
                  <a:lnTo>
                    <a:pt x="47886" y="268341"/>
                  </a:lnTo>
                  <a:lnTo>
                    <a:pt x="22463" y="306603"/>
                  </a:lnTo>
                  <a:lnTo>
                    <a:pt x="6230" y="349579"/>
                  </a:lnTo>
                  <a:lnTo>
                    <a:pt x="0" y="395678"/>
                  </a:lnTo>
                  <a:lnTo>
                    <a:pt x="0" y="795441"/>
                  </a:lnTo>
                  <a:lnTo>
                    <a:pt x="882717" y="795441"/>
                  </a:lnTo>
                  <a:lnTo>
                    <a:pt x="882717" y="704563"/>
                  </a:lnTo>
                  <a:lnTo>
                    <a:pt x="885945" y="655810"/>
                  </a:lnTo>
                  <a:lnTo>
                    <a:pt x="895343" y="608375"/>
                  </a:lnTo>
                  <a:lnTo>
                    <a:pt x="910648" y="562802"/>
                  </a:lnTo>
                  <a:lnTo>
                    <a:pt x="931596" y="519633"/>
                  </a:lnTo>
                  <a:lnTo>
                    <a:pt x="957925" y="479410"/>
                  </a:lnTo>
                  <a:lnTo>
                    <a:pt x="989370" y="442676"/>
                  </a:lnTo>
                  <a:lnTo>
                    <a:pt x="1038431" y="400273"/>
                  </a:lnTo>
                  <a:lnTo>
                    <a:pt x="1121933" y="345188"/>
                  </a:lnTo>
                  <a:lnTo>
                    <a:pt x="1208956" y="296163"/>
                  </a:lnTo>
                  <a:lnTo>
                    <a:pt x="1299164" y="253357"/>
                  </a:lnTo>
                  <a:lnTo>
                    <a:pt x="1392221" y="216929"/>
                  </a:lnTo>
                  <a:lnTo>
                    <a:pt x="1439713" y="201157"/>
                  </a:lnTo>
                  <a:lnTo>
                    <a:pt x="1410612" y="167972"/>
                  </a:lnTo>
                  <a:lnTo>
                    <a:pt x="1318659" y="119885"/>
                  </a:lnTo>
                  <a:lnTo>
                    <a:pt x="1222621" y="80818"/>
                  </a:lnTo>
                  <a:lnTo>
                    <a:pt x="1077438" y="38610"/>
                  </a:lnTo>
                  <a:lnTo>
                    <a:pt x="984822" y="18836"/>
                  </a:lnTo>
                  <a:lnTo>
                    <a:pt x="891024" y="5942"/>
                  </a:lnTo>
                  <a:lnTo>
                    <a:pt x="796437" y="0"/>
                  </a:lnTo>
                  <a:close/>
                </a:path>
              </a:pathLst>
            </a:custGeom>
            <a:solidFill>
              <a:srgbClr val="EB9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166674" y="4221283"/>
              <a:ext cx="1440180" cy="795655"/>
            </a:xfrm>
            <a:custGeom>
              <a:avLst/>
              <a:gdLst/>
              <a:ahLst/>
              <a:cxnLst/>
              <a:rect l="l" t="t" r="r" b="b"/>
              <a:pathLst>
                <a:path w="1440180" h="795654">
                  <a:moveTo>
                    <a:pt x="882717" y="704563"/>
                  </a:moveTo>
                  <a:lnTo>
                    <a:pt x="885945" y="655810"/>
                  </a:lnTo>
                  <a:lnTo>
                    <a:pt x="895343" y="608375"/>
                  </a:lnTo>
                  <a:lnTo>
                    <a:pt x="910648" y="562802"/>
                  </a:lnTo>
                  <a:lnTo>
                    <a:pt x="931596" y="519633"/>
                  </a:lnTo>
                  <a:lnTo>
                    <a:pt x="957925" y="479410"/>
                  </a:lnTo>
                  <a:lnTo>
                    <a:pt x="989370" y="442676"/>
                  </a:lnTo>
                  <a:lnTo>
                    <a:pt x="1025668" y="409974"/>
                  </a:lnTo>
                  <a:lnTo>
                    <a:pt x="1079721" y="371983"/>
                  </a:lnTo>
                  <a:lnTo>
                    <a:pt x="1121933" y="345188"/>
                  </a:lnTo>
                  <a:lnTo>
                    <a:pt x="1165025" y="319908"/>
                  </a:lnTo>
                  <a:lnTo>
                    <a:pt x="1208956" y="296163"/>
                  </a:lnTo>
                  <a:lnTo>
                    <a:pt x="1253683" y="273973"/>
                  </a:lnTo>
                  <a:lnTo>
                    <a:pt x="1299164" y="253357"/>
                  </a:lnTo>
                  <a:lnTo>
                    <a:pt x="1345358" y="234336"/>
                  </a:lnTo>
                  <a:lnTo>
                    <a:pt x="1392221" y="216929"/>
                  </a:lnTo>
                  <a:lnTo>
                    <a:pt x="1439713" y="201157"/>
                  </a:lnTo>
                  <a:lnTo>
                    <a:pt x="1432222" y="193029"/>
                  </a:lnTo>
                  <a:lnTo>
                    <a:pt x="1424971" y="184756"/>
                  </a:lnTo>
                  <a:lnTo>
                    <a:pt x="1417816" y="176388"/>
                  </a:lnTo>
                  <a:lnTo>
                    <a:pt x="1410612" y="167972"/>
                  </a:lnTo>
                  <a:lnTo>
                    <a:pt x="1365189" y="142819"/>
                  </a:lnTo>
                  <a:lnTo>
                    <a:pt x="1318659" y="119885"/>
                  </a:lnTo>
                  <a:lnTo>
                    <a:pt x="1271108" y="99206"/>
                  </a:lnTo>
                  <a:lnTo>
                    <a:pt x="1222621" y="80818"/>
                  </a:lnTo>
                  <a:lnTo>
                    <a:pt x="1173284" y="64756"/>
                  </a:lnTo>
                  <a:lnTo>
                    <a:pt x="1123180" y="51055"/>
                  </a:lnTo>
                  <a:lnTo>
                    <a:pt x="1077438" y="38610"/>
                  </a:lnTo>
                  <a:lnTo>
                    <a:pt x="1031302" y="27868"/>
                  </a:lnTo>
                  <a:lnTo>
                    <a:pt x="984822" y="18836"/>
                  </a:lnTo>
                  <a:lnTo>
                    <a:pt x="938046" y="11525"/>
                  </a:lnTo>
                  <a:lnTo>
                    <a:pt x="891024" y="5942"/>
                  </a:lnTo>
                  <a:lnTo>
                    <a:pt x="843804" y="2098"/>
                  </a:lnTo>
                  <a:lnTo>
                    <a:pt x="796437" y="0"/>
                  </a:lnTo>
                  <a:lnTo>
                    <a:pt x="748955" y="974"/>
                  </a:lnTo>
                  <a:lnTo>
                    <a:pt x="701626" y="4074"/>
                  </a:lnTo>
                  <a:lnTo>
                    <a:pt x="654519" y="9288"/>
                  </a:lnTo>
                  <a:lnTo>
                    <a:pt x="607703" y="16604"/>
                  </a:lnTo>
                  <a:lnTo>
                    <a:pt x="561248" y="26011"/>
                  </a:lnTo>
                  <a:lnTo>
                    <a:pt x="515221" y="37498"/>
                  </a:lnTo>
                  <a:lnTo>
                    <a:pt x="469693" y="51055"/>
                  </a:lnTo>
                  <a:lnTo>
                    <a:pt x="423578" y="64759"/>
                  </a:lnTo>
                  <a:lnTo>
                    <a:pt x="378099" y="80241"/>
                  </a:lnTo>
                  <a:lnTo>
                    <a:pt x="333304" y="97477"/>
                  </a:lnTo>
                  <a:lnTo>
                    <a:pt x="289244" y="116444"/>
                  </a:lnTo>
                  <a:lnTo>
                    <a:pt x="245968" y="137117"/>
                  </a:lnTo>
                  <a:lnTo>
                    <a:pt x="203524" y="159472"/>
                  </a:lnTo>
                  <a:lnTo>
                    <a:pt x="161963" y="183484"/>
                  </a:lnTo>
                  <a:lnTo>
                    <a:pt x="121334" y="209130"/>
                  </a:lnTo>
                  <a:lnTo>
                    <a:pt x="81685" y="236386"/>
                  </a:lnTo>
                  <a:lnTo>
                    <a:pt x="47886" y="268341"/>
                  </a:lnTo>
                  <a:lnTo>
                    <a:pt x="22463" y="306603"/>
                  </a:lnTo>
                  <a:lnTo>
                    <a:pt x="6230" y="349579"/>
                  </a:lnTo>
                  <a:lnTo>
                    <a:pt x="0" y="395678"/>
                  </a:lnTo>
                  <a:lnTo>
                    <a:pt x="0" y="795441"/>
                  </a:lnTo>
                  <a:lnTo>
                    <a:pt x="882717" y="795441"/>
                  </a:lnTo>
                  <a:lnTo>
                    <a:pt x="882717" y="704563"/>
                  </a:lnTo>
                  <a:close/>
                </a:path>
              </a:pathLst>
            </a:custGeom>
            <a:ln w="59564">
              <a:solidFill>
                <a:srgbClr val="EB9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226038" y="4531576"/>
              <a:ext cx="1589405" cy="791845"/>
            </a:xfrm>
            <a:custGeom>
              <a:avLst/>
              <a:gdLst/>
              <a:ahLst/>
              <a:cxnLst/>
              <a:rect l="l" t="t" r="r" b="b"/>
              <a:pathLst>
                <a:path w="1589404" h="791845">
                  <a:moveTo>
                    <a:pt x="841778" y="1107"/>
                  </a:moveTo>
                  <a:lnTo>
                    <a:pt x="746909" y="0"/>
                  </a:lnTo>
                  <a:lnTo>
                    <a:pt x="652450" y="8235"/>
                  </a:lnTo>
                  <a:lnTo>
                    <a:pt x="559168" y="24984"/>
                  </a:lnTo>
                  <a:lnTo>
                    <a:pt x="421496" y="63750"/>
                  </a:lnTo>
                  <a:lnTo>
                    <a:pt x="331158" y="96335"/>
                  </a:lnTo>
                  <a:lnTo>
                    <a:pt x="243796" y="135954"/>
                  </a:lnTo>
                  <a:lnTo>
                    <a:pt x="159820" y="182406"/>
                  </a:lnTo>
                  <a:lnTo>
                    <a:pt x="79643" y="235489"/>
                  </a:lnTo>
                  <a:lnTo>
                    <a:pt x="46181" y="267365"/>
                  </a:lnTo>
                  <a:lnTo>
                    <a:pt x="21203" y="305546"/>
                  </a:lnTo>
                  <a:lnTo>
                    <a:pt x="5534" y="348395"/>
                  </a:lnTo>
                  <a:lnTo>
                    <a:pt x="0" y="394271"/>
                  </a:lnTo>
                  <a:lnTo>
                    <a:pt x="0" y="791481"/>
                  </a:lnTo>
                  <a:lnTo>
                    <a:pt x="1588790" y="791481"/>
                  </a:lnTo>
                  <a:lnTo>
                    <a:pt x="1588790" y="394271"/>
                  </a:lnTo>
                  <a:lnTo>
                    <a:pt x="1584316" y="348102"/>
                  </a:lnTo>
                  <a:lnTo>
                    <a:pt x="1569022" y="305020"/>
                  </a:lnTo>
                  <a:lnTo>
                    <a:pt x="1543829" y="266868"/>
                  </a:lnTo>
                  <a:lnTo>
                    <a:pt x="1509656" y="235489"/>
                  </a:lnTo>
                  <a:lnTo>
                    <a:pt x="1430793" y="179815"/>
                  </a:lnTo>
                  <a:lnTo>
                    <a:pt x="1347147" y="132176"/>
                  </a:lnTo>
                  <a:lnTo>
                    <a:pt x="1259333" y="92865"/>
                  </a:lnTo>
                  <a:lnTo>
                    <a:pt x="1167964" y="62177"/>
                  </a:lnTo>
                  <a:lnTo>
                    <a:pt x="1029286" y="26815"/>
                  </a:lnTo>
                  <a:lnTo>
                    <a:pt x="936035" y="10441"/>
                  </a:lnTo>
                  <a:lnTo>
                    <a:pt x="841778" y="1107"/>
                  </a:lnTo>
                  <a:close/>
                </a:path>
              </a:pathLst>
            </a:custGeom>
            <a:solidFill>
              <a:srgbClr val="EB9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226038" y="4530679"/>
              <a:ext cx="1589405" cy="792480"/>
            </a:xfrm>
            <a:custGeom>
              <a:avLst/>
              <a:gdLst/>
              <a:ahLst/>
              <a:cxnLst/>
              <a:rect l="l" t="t" r="r" b="b"/>
              <a:pathLst>
                <a:path w="1589404" h="792479">
                  <a:moveTo>
                    <a:pt x="0" y="792378"/>
                  </a:moveTo>
                  <a:lnTo>
                    <a:pt x="0" y="395168"/>
                  </a:lnTo>
                  <a:lnTo>
                    <a:pt x="5534" y="349292"/>
                  </a:lnTo>
                  <a:lnTo>
                    <a:pt x="21203" y="306443"/>
                  </a:lnTo>
                  <a:lnTo>
                    <a:pt x="46181" y="268261"/>
                  </a:lnTo>
                  <a:lnTo>
                    <a:pt x="79643" y="236386"/>
                  </a:lnTo>
                  <a:lnTo>
                    <a:pt x="119231" y="209028"/>
                  </a:lnTo>
                  <a:lnTo>
                    <a:pt x="159820" y="183303"/>
                  </a:lnTo>
                  <a:lnTo>
                    <a:pt x="201359" y="159235"/>
                  </a:lnTo>
                  <a:lnTo>
                    <a:pt x="243796" y="136851"/>
                  </a:lnTo>
                  <a:lnTo>
                    <a:pt x="287079" y="116175"/>
                  </a:lnTo>
                  <a:lnTo>
                    <a:pt x="331158" y="97232"/>
                  </a:lnTo>
                  <a:lnTo>
                    <a:pt x="375981" y="80047"/>
                  </a:lnTo>
                  <a:lnTo>
                    <a:pt x="421496" y="64646"/>
                  </a:lnTo>
                  <a:lnTo>
                    <a:pt x="467651" y="51055"/>
                  </a:lnTo>
                  <a:lnTo>
                    <a:pt x="513152" y="37420"/>
                  </a:lnTo>
                  <a:lnTo>
                    <a:pt x="559168" y="25881"/>
                  </a:lnTo>
                  <a:lnTo>
                    <a:pt x="605626" y="16447"/>
                  </a:lnTo>
                  <a:lnTo>
                    <a:pt x="652450" y="9131"/>
                  </a:lnTo>
                  <a:lnTo>
                    <a:pt x="699569" y="3944"/>
                  </a:lnTo>
                  <a:lnTo>
                    <a:pt x="746909" y="896"/>
                  </a:lnTo>
                  <a:lnTo>
                    <a:pt x="794395" y="0"/>
                  </a:lnTo>
                  <a:lnTo>
                    <a:pt x="841778" y="2004"/>
                  </a:lnTo>
                  <a:lnTo>
                    <a:pt x="889008" y="5786"/>
                  </a:lnTo>
                  <a:lnTo>
                    <a:pt x="936035" y="11337"/>
                  </a:lnTo>
                  <a:lnTo>
                    <a:pt x="982811" y="18649"/>
                  </a:lnTo>
                  <a:lnTo>
                    <a:pt x="1029286" y="27712"/>
                  </a:lnTo>
                  <a:lnTo>
                    <a:pt x="1075412" y="38517"/>
                  </a:lnTo>
                  <a:lnTo>
                    <a:pt x="1121138" y="51055"/>
                  </a:lnTo>
                  <a:lnTo>
                    <a:pt x="1167964" y="63073"/>
                  </a:lnTo>
                  <a:lnTo>
                    <a:pt x="1214054" y="77321"/>
                  </a:lnTo>
                  <a:lnTo>
                    <a:pt x="1259333" y="93762"/>
                  </a:lnTo>
                  <a:lnTo>
                    <a:pt x="1303723" y="112358"/>
                  </a:lnTo>
                  <a:lnTo>
                    <a:pt x="1347147" y="133073"/>
                  </a:lnTo>
                  <a:lnTo>
                    <a:pt x="1389529" y="155870"/>
                  </a:lnTo>
                  <a:lnTo>
                    <a:pt x="1430793" y="180712"/>
                  </a:lnTo>
                  <a:lnTo>
                    <a:pt x="1470861" y="207563"/>
                  </a:lnTo>
                  <a:lnTo>
                    <a:pt x="1509656" y="236386"/>
                  </a:lnTo>
                  <a:lnTo>
                    <a:pt x="1543829" y="267765"/>
                  </a:lnTo>
                  <a:lnTo>
                    <a:pt x="1569022" y="305917"/>
                  </a:lnTo>
                  <a:lnTo>
                    <a:pt x="1584316" y="348999"/>
                  </a:lnTo>
                  <a:lnTo>
                    <a:pt x="1588790" y="395168"/>
                  </a:lnTo>
                  <a:lnTo>
                    <a:pt x="1588790" y="792378"/>
                  </a:lnTo>
                  <a:lnTo>
                    <a:pt x="0" y="792378"/>
                  </a:lnTo>
                  <a:close/>
                </a:path>
              </a:pathLst>
            </a:custGeom>
            <a:ln w="59564">
              <a:solidFill>
                <a:srgbClr val="EB9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623236" y="3628021"/>
              <a:ext cx="795020" cy="795020"/>
            </a:xfrm>
            <a:custGeom>
              <a:avLst/>
              <a:gdLst/>
              <a:ahLst/>
              <a:cxnLst/>
              <a:rect l="l" t="t" r="r" b="b"/>
              <a:pathLst>
                <a:path w="795020" h="795020">
                  <a:moveTo>
                    <a:pt x="397197" y="0"/>
                  </a:moveTo>
                  <a:lnTo>
                    <a:pt x="350876" y="2672"/>
                  </a:lnTo>
                  <a:lnTo>
                    <a:pt x="306125" y="10490"/>
                  </a:lnTo>
                  <a:lnTo>
                    <a:pt x="263241" y="23157"/>
                  </a:lnTo>
                  <a:lnTo>
                    <a:pt x="222522" y="40373"/>
                  </a:lnTo>
                  <a:lnTo>
                    <a:pt x="184267" y="61842"/>
                  </a:lnTo>
                  <a:lnTo>
                    <a:pt x="148773" y="87264"/>
                  </a:lnTo>
                  <a:lnTo>
                    <a:pt x="116338" y="116342"/>
                  </a:lnTo>
                  <a:lnTo>
                    <a:pt x="87261" y="148777"/>
                  </a:lnTo>
                  <a:lnTo>
                    <a:pt x="61840" y="184273"/>
                  </a:lnTo>
                  <a:lnTo>
                    <a:pt x="40372" y="222529"/>
                  </a:lnTo>
                  <a:lnTo>
                    <a:pt x="23156" y="263249"/>
                  </a:lnTo>
                  <a:lnTo>
                    <a:pt x="10490" y="306135"/>
                  </a:lnTo>
                  <a:lnTo>
                    <a:pt x="2672" y="350888"/>
                  </a:lnTo>
                  <a:lnTo>
                    <a:pt x="0" y="397210"/>
                  </a:lnTo>
                  <a:lnTo>
                    <a:pt x="2672" y="443532"/>
                  </a:lnTo>
                  <a:lnTo>
                    <a:pt x="10490" y="488285"/>
                  </a:lnTo>
                  <a:lnTo>
                    <a:pt x="23156" y="531170"/>
                  </a:lnTo>
                  <a:lnTo>
                    <a:pt x="40372" y="571891"/>
                  </a:lnTo>
                  <a:lnTo>
                    <a:pt x="61840" y="610147"/>
                  </a:lnTo>
                  <a:lnTo>
                    <a:pt x="87261" y="645642"/>
                  </a:lnTo>
                  <a:lnTo>
                    <a:pt x="116338" y="678078"/>
                  </a:lnTo>
                  <a:lnTo>
                    <a:pt x="148773" y="707156"/>
                  </a:lnTo>
                  <a:lnTo>
                    <a:pt x="184267" y="732578"/>
                  </a:lnTo>
                  <a:lnTo>
                    <a:pt x="222522" y="754046"/>
                  </a:lnTo>
                  <a:lnTo>
                    <a:pt x="263241" y="771263"/>
                  </a:lnTo>
                  <a:lnTo>
                    <a:pt x="306125" y="783929"/>
                  </a:lnTo>
                  <a:lnTo>
                    <a:pt x="350876" y="791748"/>
                  </a:lnTo>
                  <a:lnTo>
                    <a:pt x="397197" y="794420"/>
                  </a:lnTo>
                  <a:lnTo>
                    <a:pt x="443526" y="791748"/>
                  </a:lnTo>
                  <a:lnTo>
                    <a:pt x="488282" y="783929"/>
                  </a:lnTo>
                  <a:lnTo>
                    <a:pt x="531170" y="771263"/>
                  </a:lnTo>
                  <a:lnTo>
                    <a:pt x="571891" y="754046"/>
                  </a:lnTo>
                  <a:lnTo>
                    <a:pt x="610146" y="732578"/>
                  </a:lnTo>
                  <a:lnTo>
                    <a:pt x="645639" y="707156"/>
                  </a:lnTo>
                  <a:lnTo>
                    <a:pt x="678072" y="678078"/>
                  </a:lnTo>
                  <a:lnTo>
                    <a:pt x="707146" y="645642"/>
                  </a:lnTo>
                  <a:lnTo>
                    <a:pt x="732565" y="610147"/>
                  </a:lnTo>
                  <a:lnTo>
                    <a:pt x="754029" y="571891"/>
                  </a:lnTo>
                  <a:lnTo>
                    <a:pt x="771243" y="531170"/>
                  </a:lnTo>
                  <a:lnTo>
                    <a:pt x="783906" y="488285"/>
                  </a:lnTo>
                  <a:lnTo>
                    <a:pt x="791723" y="443532"/>
                  </a:lnTo>
                  <a:lnTo>
                    <a:pt x="794395" y="397210"/>
                  </a:lnTo>
                  <a:lnTo>
                    <a:pt x="791723" y="350888"/>
                  </a:lnTo>
                  <a:lnTo>
                    <a:pt x="783906" y="306135"/>
                  </a:lnTo>
                  <a:lnTo>
                    <a:pt x="771243" y="263249"/>
                  </a:lnTo>
                  <a:lnTo>
                    <a:pt x="754029" y="222529"/>
                  </a:lnTo>
                  <a:lnTo>
                    <a:pt x="732565" y="184273"/>
                  </a:lnTo>
                  <a:lnTo>
                    <a:pt x="707146" y="148777"/>
                  </a:lnTo>
                  <a:lnTo>
                    <a:pt x="678072" y="116342"/>
                  </a:lnTo>
                  <a:lnTo>
                    <a:pt x="645639" y="87264"/>
                  </a:lnTo>
                  <a:lnTo>
                    <a:pt x="610146" y="61842"/>
                  </a:lnTo>
                  <a:lnTo>
                    <a:pt x="571891" y="40373"/>
                  </a:lnTo>
                  <a:lnTo>
                    <a:pt x="531170" y="23157"/>
                  </a:lnTo>
                  <a:lnTo>
                    <a:pt x="488282" y="10490"/>
                  </a:lnTo>
                  <a:lnTo>
                    <a:pt x="443525" y="2672"/>
                  </a:lnTo>
                  <a:lnTo>
                    <a:pt x="397197" y="0"/>
                  </a:lnTo>
                  <a:close/>
                </a:path>
              </a:pathLst>
            </a:custGeom>
            <a:solidFill>
              <a:srgbClr val="EB9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623236" y="3628021"/>
              <a:ext cx="795020" cy="795020"/>
            </a:xfrm>
            <a:custGeom>
              <a:avLst/>
              <a:gdLst/>
              <a:ahLst/>
              <a:cxnLst/>
              <a:rect l="l" t="t" r="r" b="b"/>
              <a:pathLst>
                <a:path w="795020" h="795020">
                  <a:moveTo>
                    <a:pt x="794395" y="397210"/>
                  </a:moveTo>
                  <a:lnTo>
                    <a:pt x="791723" y="443532"/>
                  </a:lnTo>
                  <a:lnTo>
                    <a:pt x="783906" y="488285"/>
                  </a:lnTo>
                  <a:lnTo>
                    <a:pt x="771243" y="531170"/>
                  </a:lnTo>
                  <a:lnTo>
                    <a:pt x="754029" y="571891"/>
                  </a:lnTo>
                  <a:lnTo>
                    <a:pt x="732565" y="610147"/>
                  </a:lnTo>
                  <a:lnTo>
                    <a:pt x="707146" y="645642"/>
                  </a:lnTo>
                  <a:lnTo>
                    <a:pt x="678072" y="678078"/>
                  </a:lnTo>
                  <a:lnTo>
                    <a:pt x="645639" y="707156"/>
                  </a:lnTo>
                  <a:lnTo>
                    <a:pt x="610146" y="732578"/>
                  </a:lnTo>
                  <a:lnTo>
                    <a:pt x="571891" y="754046"/>
                  </a:lnTo>
                  <a:lnTo>
                    <a:pt x="531170" y="771263"/>
                  </a:lnTo>
                  <a:lnTo>
                    <a:pt x="488282" y="783929"/>
                  </a:lnTo>
                  <a:lnTo>
                    <a:pt x="443526" y="791748"/>
                  </a:lnTo>
                  <a:lnTo>
                    <a:pt x="397197" y="794420"/>
                  </a:lnTo>
                  <a:lnTo>
                    <a:pt x="350876" y="791748"/>
                  </a:lnTo>
                  <a:lnTo>
                    <a:pt x="306125" y="783929"/>
                  </a:lnTo>
                  <a:lnTo>
                    <a:pt x="263241" y="771263"/>
                  </a:lnTo>
                  <a:lnTo>
                    <a:pt x="222522" y="754046"/>
                  </a:lnTo>
                  <a:lnTo>
                    <a:pt x="184267" y="732578"/>
                  </a:lnTo>
                  <a:lnTo>
                    <a:pt x="148773" y="707156"/>
                  </a:lnTo>
                  <a:lnTo>
                    <a:pt x="116338" y="678078"/>
                  </a:lnTo>
                  <a:lnTo>
                    <a:pt x="87261" y="645642"/>
                  </a:lnTo>
                  <a:lnTo>
                    <a:pt x="61840" y="610147"/>
                  </a:lnTo>
                  <a:lnTo>
                    <a:pt x="40372" y="571891"/>
                  </a:lnTo>
                  <a:lnTo>
                    <a:pt x="23156" y="531170"/>
                  </a:lnTo>
                  <a:lnTo>
                    <a:pt x="10490" y="488285"/>
                  </a:lnTo>
                  <a:lnTo>
                    <a:pt x="2672" y="443532"/>
                  </a:lnTo>
                  <a:lnTo>
                    <a:pt x="0" y="397210"/>
                  </a:lnTo>
                  <a:lnTo>
                    <a:pt x="2672" y="350888"/>
                  </a:lnTo>
                  <a:lnTo>
                    <a:pt x="10490" y="306135"/>
                  </a:lnTo>
                  <a:lnTo>
                    <a:pt x="23156" y="263249"/>
                  </a:lnTo>
                  <a:lnTo>
                    <a:pt x="40372" y="222529"/>
                  </a:lnTo>
                  <a:lnTo>
                    <a:pt x="61840" y="184273"/>
                  </a:lnTo>
                  <a:lnTo>
                    <a:pt x="87261" y="148777"/>
                  </a:lnTo>
                  <a:lnTo>
                    <a:pt x="116338" y="116342"/>
                  </a:lnTo>
                  <a:lnTo>
                    <a:pt x="148773" y="87264"/>
                  </a:lnTo>
                  <a:lnTo>
                    <a:pt x="184267" y="61842"/>
                  </a:lnTo>
                  <a:lnTo>
                    <a:pt x="222522" y="40373"/>
                  </a:lnTo>
                  <a:lnTo>
                    <a:pt x="263241" y="23157"/>
                  </a:lnTo>
                  <a:lnTo>
                    <a:pt x="306125" y="10490"/>
                  </a:lnTo>
                  <a:lnTo>
                    <a:pt x="350876" y="2672"/>
                  </a:lnTo>
                  <a:lnTo>
                    <a:pt x="397197" y="0"/>
                  </a:lnTo>
                  <a:lnTo>
                    <a:pt x="443525" y="2672"/>
                  </a:lnTo>
                  <a:lnTo>
                    <a:pt x="488282" y="10490"/>
                  </a:lnTo>
                  <a:lnTo>
                    <a:pt x="531170" y="23157"/>
                  </a:lnTo>
                  <a:lnTo>
                    <a:pt x="571891" y="40373"/>
                  </a:lnTo>
                  <a:lnTo>
                    <a:pt x="610146" y="61842"/>
                  </a:lnTo>
                  <a:lnTo>
                    <a:pt x="645639" y="87264"/>
                  </a:lnTo>
                  <a:lnTo>
                    <a:pt x="678072" y="116342"/>
                  </a:lnTo>
                  <a:lnTo>
                    <a:pt x="707146" y="148777"/>
                  </a:lnTo>
                  <a:lnTo>
                    <a:pt x="732565" y="184273"/>
                  </a:lnTo>
                  <a:lnTo>
                    <a:pt x="754029" y="222529"/>
                  </a:lnTo>
                  <a:lnTo>
                    <a:pt x="771243" y="263249"/>
                  </a:lnTo>
                  <a:lnTo>
                    <a:pt x="783906" y="306135"/>
                  </a:lnTo>
                  <a:lnTo>
                    <a:pt x="791723" y="350888"/>
                  </a:lnTo>
                  <a:lnTo>
                    <a:pt x="794395" y="397210"/>
                  </a:lnTo>
                  <a:close/>
                </a:path>
              </a:pathLst>
            </a:custGeom>
            <a:ln w="59563">
              <a:solidFill>
                <a:srgbClr val="EB9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/>
          <p:nvPr/>
        </p:nvSpPr>
        <p:spPr>
          <a:xfrm>
            <a:off x="6158484" y="508076"/>
            <a:ext cx="5514340" cy="149860"/>
          </a:xfrm>
          <a:custGeom>
            <a:avLst/>
            <a:gdLst/>
            <a:ahLst/>
            <a:cxnLst/>
            <a:rect l="l" t="t" r="r" b="b"/>
            <a:pathLst>
              <a:path w="5514340" h="149859">
                <a:moveTo>
                  <a:pt x="5513832" y="0"/>
                </a:moveTo>
                <a:lnTo>
                  <a:pt x="0" y="0"/>
                </a:lnTo>
                <a:lnTo>
                  <a:pt x="0" y="149275"/>
                </a:lnTo>
                <a:lnTo>
                  <a:pt x="5513832" y="149275"/>
                </a:lnTo>
                <a:lnTo>
                  <a:pt x="55138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335"/>
              </a:spcBef>
              <a:buFont typeface="Arial MT"/>
              <a:buChar char="•"/>
              <a:tabLst>
                <a:tab pos="240665" algn="l"/>
              </a:tabLst>
            </a:pPr>
            <a:r>
              <a:rPr spc="-85" dirty="0"/>
              <a:t>Group</a:t>
            </a:r>
            <a:r>
              <a:rPr spc="-75" dirty="0"/>
              <a:t> </a:t>
            </a:r>
            <a:r>
              <a:rPr spc="-60" dirty="0"/>
              <a:t>Discussion</a:t>
            </a:r>
            <a:r>
              <a:rPr spc="-50" dirty="0"/>
              <a:t> </a:t>
            </a:r>
            <a:r>
              <a:rPr spc="-40" dirty="0"/>
              <a:t>and</a:t>
            </a:r>
            <a:r>
              <a:rPr spc="-50" dirty="0"/>
              <a:t> </a:t>
            </a:r>
            <a:r>
              <a:rPr spc="-75" dirty="0"/>
              <a:t>Analysis</a:t>
            </a:r>
            <a:r>
              <a:rPr spc="-35" dirty="0"/>
              <a:t> </a:t>
            </a:r>
            <a:r>
              <a:rPr spc="-25" dirty="0"/>
              <a:t>(25</a:t>
            </a:r>
          </a:p>
          <a:p>
            <a:pPr marL="241300">
              <a:lnSpc>
                <a:spcPct val="100000"/>
              </a:lnSpc>
              <a:spcBef>
                <a:spcPts val="240"/>
              </a:spcBef>
            </a:pPr>
            <a:r>
              <a:rPr spc="-10" dirty="0"/>
              <a:t>minutes)</a:t>
            </a:r>
          </a:p>
          <a:p>
            <a:pPr marL="240665" indent="-227965">
              <a:lnSpc>
                <a:spcPct val="100000"/>
              </a:lnSpc>
              <a:spcBef>
                <a:spcPts val="1240"/>
              </a:spcBef>
              <a:buFont typeface="Arial MT"/>
              <a:buChar char="•"/>
              <a:tabLst>
                <a:tab pos="240665" algn="l"/>
              </a:tabLst>
            </a:pPr>
            <a:r>
              <a:rPr b="0" dirty="0">
                <a:latin typeface="Tahoma"/>
                <a:cs typeface="Tahoma"/>
              </a:rPr>
              <a:t>Each</a:t>
            </a:r>
            <a:r>
              <a:rPr b="0" spc="-130" dirty="0">
                <a:latin typeface="Tahoma"/>
                <a:cs typeface="Tahoma"/>
              </a:rPr>
              <a:t> </a:t>
            </a:r>
            <a:r>
              <a:rPr b="0" spc="-45" dirty="0">
                <a:latin typeface="Tahoma"/>
                <a:cs typeface="Tahoma"/>
              </a:rPr>
              <a:t>group</a:t>
            </a:r>
            <a:r>
              <a:rPr b="0" spc="-120" dirty="0">
                <a:latin typeface="Tahoma"/>
                <a:cs typeface="Tahoma"/>
              </a:rPr>
              <a:t> </a:t>
            </a:r>
            <a:r>
              <a:rPr b="0" spc="-20" dirty="0">
                <a:latin typeface="Tahoma"/>
                <a:cs typeface="Tahoma"/>
              </a:rPr>
              <a:t>will:</a:t>
            </a:r>
          </a:p>
          <a:p>
            <a:pPr marL="756285" lvl="1" indent="-286385">
              <a:lnSpc>
                <a:spcPct val="100000"/>
              </a:lnSpc>
              <a:spcBef>
                <a:spcPts val="745"/>
              </a:spcBef>
              <a:buFont typeface="Arial MT"/>
              <a:buChar char="•"/>
              <a:tabLst>
                <a:tab pos="756285" algn="l"/>
              </a:tabLst>
            </a:pPr>
            <a:r>
              <a:rPr sz="2000" b="1" spc="-60" dirty="0">
                <a:latin typeface="Arial"/>
                <a:cs typeface="Arial"/>
              </a:rPr>
              <a:t>Read </a:t>
            </a:r>
            <a:r>
              <a:rPr sz="2000" b="1" dirty="0">
                <a:latin typeface="Arial"/>
                <a:cs typeface="Arial"/>
              </a:rPr>
              <a:t>the</a:t>
            </a:r>
            <a:r>
              <a:rPr sz="2000" b="1" spc="-60" dirty="0">
                <a:latin typeface="Arial"/>
                <a:cs typeface="Arial"/>
              </a:rPr>
              <a:t> study</a:t>
            </a:r>
            <a:r>
              <a:rPr sz="2000" b="1" spc="-135" dirty="0">
                <a:latin typeface="Arial"/>
                <a:cs typeface="Arial"/>
              </a:rPr>
              <a:t> </a:t>
            </a:r>
            <a:r>
              <a:rPr sz="2000" spc="-10" dirty="0">
                <a:latin typeface="Tahoma"/>
                <a:cs typeface="Tahoma"/>
              </a:rPr>
              <a:t>(focus</a:t>
            </a:r>
            <a:r>
              <a:rPr sz="2000" spc="-21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on</a:t>
            </a:r>
            <a:r>
              <a:rPr sz="2000" spc="-200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methodology,</a:t>
            </a:r>
            <a:endParaRPr sz="2000">
              <a:latin typeface="Tahoma"/>
              <a:cs typeface="Tahoma"/>
            </a:endParaRPr>
          </a:p>
          <a:p>
            <a:pPr marL="756285">
              <a:lnSpc>
                <a:spcPct val="100000"/>
              </a:lnSpc>
              <a:spcBef>
                <a:spcPts val="240"/>
              </a:spcBef>
            </a:pPr>
            <a:r>
              <a:rPr b="0" dirty="0">
                <a:latin typeface="Tahoma"/>
                <a:cs typeface="Tahoma"/>
              </a:rPr>
              <a:t>data</a:t>
            </a:r>
            <a:r>
              <a:rPr b="0" spc="-45" dirty="0">
                <a:latin typeface="Tahoma"/>
                <a:cs typeface="Tahoma"/>
              </a:rPr>
              <a:t> </a:t>
            </a:r>
            <a:r>
              <a:rPr b="0" dirty="0">
                <a:latin typeface="Tahoma"/>
                <a:cs typeface="Tahoma"/>
              </a:rPr>
              <a:t>collection,</a:t>
            </a:r>
            <a:r>
              <a:rPr b="0" spc="-70" dirty="0">
                <a:latin typeface="Tahoma"/>
                <a:cs typeface="Tahoma"/>
              </a:rPr>
              <a:t> </a:t>
            </a:r>
            <a:r>
              <a:rPr b="0" spc="-10" dirty="0">
                <a:latin typeface="Tahoma"/>
                <a:cs typeface="Tahoma"/>
              </a:rPr>
              <a:t>findings).</a:t>
            </a:r>
          </a:p>
          <a:p>
            <a:pPr marL="756285" marR="695960" lvl="1" indent="-287020">
              <a:lnSpc>
                <a:spcPct val="110000"/>
              </a:lnSpc>
              <a:spcBef>
                <a:spcPts val="505"/>
              </a:spcBef>
              <a:buFont typeface="Arial MT"/>
              <a:buChar char="•"/>
              <a:tabLst>
                <a:tab pos="756285" algn="l"/>
              </a:tabLst>
            </a:pPr>
            <a:r>
              <a:rPr sz="2000" dirty="0">
                <a:latin typeface="Tahoma"/>
                <a:cs typeface="Tahoma"/>
              </a:rPr>
              <a:t>Go</a:t>
            </a:r>
            <a:r>
              <a:rPr sz="2000" spc="-180" dirty="0">
                <a:latin typeface="Tahoma"/>
                <a:cs typeface="Tahoma"/>
              </a:rPr>
              <a:t> </a:t>
            </a:r>
            <a:r>
              <a:rPr sz="2000" spc="-45" dirty="0">
                <a:latin typeface="Tahoma"/>
                <a:cs typeface="Tahoma"/>
              </a:rPr>
              <a:t>through</a:t>
            </a:r>
            <a:r>
              <a:rPr sz="2000" spc="-190" dirty="0">
                <a:latin typeface="Tahoma"/>
                <a:cs typeface="Tahoma"/>
              </a:rPr>
              <a:t> </a:t>
            </a:r>
            <a:r>
              <a:rPr sz="2000" b="1" spc="-10" dirty="0">
                <a:latin typeface="Arial"/>
                <a:cs typeface="Arial"/>
              </a:rPr>
              <a:t>each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spc="-150" dirty="0">
                <a:latin typeface="Arial"/>
                <a:cs typeface="Arial"/>
              </a:rPr>
              <a:t>CASP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checklist </a:t>
            </a:r>
            <a:r>
              <a:rPr sz="2000" b="1" spc="-50" dirty="0">
                <a:latin typeface="Arial"/>
                <a:cs typeface="Arial"/>
              </a:rPr>
              <a:t>question</a:t>
            </a:r>
            <a:r>
              <a:rPr sz="2000" b="1" spc="-125" dirty="0">
                <a:latin typeface="Arial"/>
                <a:cs typeface="Arial"/>
              </a:rPr>
              <a:t> </a:t>
            </a:r>
            <a:r>
              <a:rPr sz="2000" dirty="0">
                <a:latin typeface="Tahoma"/>
                <a:cs typeface="Tahoma"/>
              </a:rPr>
              <a:t>and</a:t>
            </a:r>
            <a:r>
              <a:rPr sz="2000" spc="-190" dirty="0">
                <a:latin typeface="Tahoma"/>
                <a:cs typeface="Tahoma"/>
              </a:rPr>
              <a:t> </a:t>
            </a:r>
            <a:r>
              <a:rPr sz="2000" b="1" spc="-75" dirty="0">
                <a:latin typeface="Arial"/>
                <a:cs typeface="Arial"/>
              </a:rPr>
              <a:t>assess</a:t>
            </a:r>
            <a:r>
              <a:rPr sz="2000" b="1" spc="-2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the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study</a:t>
            </a:r>
            <a:r>
              <a:rPr sz="2000" spc="-10" dirty="0">
                <a:latin typeface="Tahoma"/>
                <a:cs typeface="Tahoma"/>
              </a:rPr>
              <a:t>.</a:t>
            </a:r>
            <a:endParaRPr sz="20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730"/>
              </a:spcBef>
              <a:buFont typeface="Arial MT"/>
              <a:buChar char="•"/>
              <a:tabLst>
                <a:tab pos="756285" algn="l"/>
              </a:tabLst>
            </a:pPr>
            <a:r>
              <a:rPr sz="2000" spc="-25" dirty="0">
                <a:latin typeface="Tahoma"/>
                <a:cs typeface="Tahoma"/>
              </a:rPr>
              <a:t>Prepare</a:t>
            </a:r>
            <a:r>
              <a:rPr sz="2000" spc="-18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a</a:t>
            </a:r>
            <a:r>
              <a:rPr sz="2000" spc="-160" dirty="0">
                <a:latin typeface="Tahoma"/>
                <a:cs typeface="Tahoma"/>
              </a:rPr>
              <a:t> </a:t>
            </a:r>
            <a:r>
              <a:rPr sz="2000" b="1" dirty="0">
                <a:latin typeface="Arial"/>
                <a:cs typeface="Arial"/>
              </a:rPr>
              <a:t>5-</a:t>
            </a:r>
            <a:r>
              <a:rPr sz="2000" b="1" spc="-20" dirty="0">
                <a:latin typeface="Arial"/>
                <a:cs typeface="Arial"/>
              </a:rPr>
              <a:t>minute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spc="-50" dirty="0">
                <a:latin typeface="Arial"/>
                <a:cs typeface="Arial"/>
              </a:rPr>
              <a:t>summary</a:t>
            </a:r>
            <a:r>
              <a:rPr sz="2000" b="1" spc="-80" dirty="0">
                <a:latin typeface="Arial"/>
                <a:cs typeface="Arial"/>
              </a:rPr>
              <a:t> </a:t>
            </a:r>
            <a:r>
              <a:rPr sz="2000" spc="-10" dirty="0">
                <a:latin typeface="Tahoma"/>
                <a:cs typeface="Tahoma"/>
              </a:rPr>
              <a:t>of</a:t>
            </a:r>
            <a:r>
              <a:rPr sz="2000" spc="-175" dirty="0">
                <a:latin typeface="Tahoma"/>
                <a:cs typeface="Tahoma"/>
              </a:rPr>
              <a:t> </a:t>
            </a:r>
            <a:r>
              <a:rPr sz="2000" spc="-20" dirty="0">
                <a:latin typeface="Tahoma"/>
                <a:cs typeface="Tahoma"/>
              </a:rPr>
              <a:t>your</a:t>
            </a:r>
            <a:endParaRPr sz="2000">
              <a:latin typeface="Tahoma"/>
              <a:cs typeface="Tahoma"/>
            </a:endParaRPr>
          </a:p>
          <a:p>
            <a:pPr marL="756285">
              <a:lnSpc>
                <a:spcPct val="100000"/>
              </a:lnSpc>
              <a:spcBef>
                <a:spcPts val="240"/>
              </a:spcBef>
            </a:pPr>
            <a:r>
              <a:rPr b="0" spc="-10" dirty="0">
                <a:latin typeface="Tahoma"/>
                <a:cs typeface="Tahoma"/>
              </a:rPr>
              <a:t>findings.</a:t>
            </a:r>
          </a:p>
          <a:p>
            <a:pPr marL="697865" lvl="1" indent="-227965">
              <a:lnSpc>
                <a:spcPct val="100000"/>
              </a:lnSpc>
              <a:spcBef>
                <a:spcPts val="750"/>
              </a:spcBef>
              <a:buFont typeface="Arial MT"/>
              <a:buChar char="•"/>
              <a:tabLst>
                <a:tab pos="697865" algn="l"/>
              </a:tabLst>
            </a:pPr>
            <a:r>
              <a:rPr sz="2000" spc="-10" dirty="0">
                <a:latin typeface="Tahoma"/>
                <a:cs typeface="Tahoma"/>
              </a:rPr>
              <a:t>Step</a:t>
            </a:r>
            <a:r>
              <a:rPr sz="2000" spc="-165" dirty="0">
                <a:latin typeface="Tahoma"/>
                <a:cs typeface="Tahoma"/>
              </a:rPr>
              <a:t> </a:t>
            </a:r>
            <a:r>
              <a:rPr sz="2000" spc="-80" dirty="0">
                <a:latin typeface="Tahoma"/>
                <a:cs typeface="Tahoma"/>
              </a:rPr>
              <a:t>4:</a:t>
            </a:r>
            <a:r>
              <a:rPr sz="2000" spc="-160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Present</a:t>
            </a:r>
            <a:r>
              <a:rPr sz="2000" spc="-175" dirty="0">
                <a:latin typeface="Tahoma"/>
                <a:cs typeface="Tahoma"/>
              </a:rPr>
              <a:t> </a:t>
            </a:r>
            <a:r>
              <a:rPr sz="2000" spc="-25" dirty="0">
                <a:latin typeface="Tahoma"/>
                <a:cs typeface="Tahoma"/>
              </a:rPr>
              <a:t>findings</a:t>
            </a:r>
            <a:r>
              <a:rPr sz="2000" spc="-180" dirty="0">
                <a:latin typeface="Tahoma"/>
                <a:cs typeface="Tahoma"/>
              </a:rPr>
              <a:t> </a:t>
            </a:r>
            <a:r>
              <a:rPr sz="2000" spc="-25" dirty="0">
                <a:latin typeface="Tahoma"/>
                <a:cs typeface="Tahoma"/>
              </a:rPr>
              <a:t>to</a:t>
            </a:r>
            <a:r>
              <a:rPr sz="2000" spc="-165" dirty="0">
                <a:latin typeface="Tahoma"/>
                <a:cs typeface="Tahoma"/>
              </a:rPr>
              <a:t> </a:t>
            </a:r>
            <a:r>
              <a:rPr sz="2000" spc="50" dirty="0">
                <a:latin typeface="Tahoma"/>
                <a:cs typeface="Tahoma"/>
              </a:rPr>
              <a:t>class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41521" y="2529064"/>
            <a:ext cx="5238115" cy="1366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36245" marR="5080" indent="-424180">
              <a:lnSpc>
                <a:spcPct val="110000"/>
              </a:lnSpc>
              <a:spcBef>
                <a:spcPts val="95"/>
              </a:spcBef>
            </a:pPr>
            <a:r>
              <a:rPr sz="4000" spc="-40" dirty="0"/>
              <a:t>Qualitative</a:t>
            </a:r>
            <a:r>
              <a:rPr sz="4000" spc="-190" dirty="0"/>
              <a:t> </a:t>
            </a:r>
            <a:r>
              <a:rPr sz="4000" spc="-95" dirty="0"/>
              <a:t>Studies</a:t>
            </a:r>
            <a:r>
              <a:rPr sz="4000" spc="-160" dirty="0"/>
              <a:t> </a:t>
            </a:r>
            <a:r>
              <a:rPr sz="4000" spc="-25" dirty="0"/>
              <a:t>for </a:t>
            </a:r>
            <a:r>
              <a:rPr sz="4000" spc="-75" dirty="0"/>
              <a:t>Presentation</a:t>
            </a:r>
            <a:r>
              <a:rPr sz="4000" spc="-185" dirty="0"/>
              <a:t> </a:t>
            </a:r>
            <a:r>
              <a:rPr sz="4000" spc="-20" dirty="0"/>
              <a:t>work</a:t>
            </a:r>
            <a:endParaRPr sz="40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AC463BF-8109-DD21-3FB8-4DC5869A82C9}"/>
              </a:ext>
            </a:extLst>
          </p:cNvPr>
          <p:cNvSpPr txBox="1"/>
          <p:nvPr/>
        </p:nvSpPr>
        <p:spPr>
          <a:xfrm>
            <a:off x="609600" y="1066800"/>
            <a:ext cx="83058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Raco, M., Burdett, T., and Heaslip, V., (2019) Exploring an integrated palliative care model for older people: An integrative Review. Journal of Integrated Care. 27 (2) 111-122 </a:t>
            </a:r>
            <a:r>
              <a:rPr lang="en-GB" u="sng" dirty="0">
                <a:hlinkClick r:id="rId2" tooltip="Original URL: https://doi.org/10.1108/JICA-10-2018-0065. Click or tap if you trust this link."/>
              </a:rPr>
              <a:t>https://doi.org/10.1108/JICA-10-2018-0065</a:t>
            </a:r>
            <a:r>
              <a:rPr lang="en-GB" dirty="0"/>
              <a:t> </a:t>
            </a:r>
          </a:p>
          <a:p>
            <a:endParaRPr lang="en-GB" dirty="0"/>
          </a:p>
          <a:p>
            <a:r>
              <a:rPr lang="en-GB" dirty="0"/>
              <a:t>Saleem, M., Burdett, T., and Heaslip, V., (2019) Health and Social Impacts of open defecation on women: A Systematic Review. BMC Public Health</a:t>
            </a:r>
          </a:p>
          <a:p>
            <a:r>
              <a:rPr lang="en-GB" dirty="0"/>
              <a:t>:158</a:t>
            </a:r>
            <a:r>
              <a:rPr lang="en-GB" u="sng" dirty="0">
                <a:hlinkClick r:id="rId3"/>
              </a:rPr>
              <a:t>https://doi.org/10.1186/s12889-019-6423-z</a:t>
            </a:r>
            <a:endParaRPr lang="en-GB" u="sng" dirty="0"/>
          </a:p>
          <a:p>
            <a:endParaRPr lang="en-GB" u="sng" dirty="0"/>
          </a:p>
          <a:p>
            <a:endParaRPr lang="en-GB" u="sng" dirty="0"/>
          </a:p>
          <a:p>
            <a:endParaRPr lang="en-GB" u="sng" dirty="0"/>
          </a:p>
          <a:p>
            <a:endParaRPr lang="en-GB" u="sng" dirty="0"/>
          </a:p>
          <a:p>
            <a:endParaRPr lang="en-GB" dirty="0"/>
          </a:p>
          <a:p>
            <a:r>
              <a:rPr lang="en-GB" dirty="0"/>
              <a:t>Davies, N., Burdett, T., (2020) Would integrating women's professional care of pelvic organ prolapse improve the symptoms and quality of life: an integrative literature review Journal of Integrated Care  28 (2) 119-133 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713878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22F0538-56A4-C2E9-5B32-0DDB90CCE635}"/>
              </a:ext>
            </a:extLst>
          </p:cNvPr>
          <p:cNvSpPr txBox="1"/>
          <p:nvPr/>
        </p:nvSpPr>
        <p:spPr>
          <a:xfrm>
            <a:off x="4876800" y="3581400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Carey, M., Burdett, T., (2020) Exploring health care professionals' perspectives on the integration of diabetes and mental health care: A systematic literature review Journal of Diabetes Nursing 24 (6) 1-5 </a:t>
            </a:r>
          </a:p>
          <a:p>
            <a:endParaRPr lang="en-GB" dirty="0"/>
          </a:p>
          <a:p>
            <a:r>
              <a:rPr lang="en-GB" sz="1800" dirty="0"/>
              <a:t>Burdett, T. Inman, J. (2021) Person-centred integrated care with a health promotion/public health approach: A rapid review Journal of Integrated Care 29 (3) 357-371 </a:t>
            </a:r>
          </a:p>
          <a:p>
            <a:r>
              <a:rPr lang="en-GB" sz="1800" u="sng" dirty="0">
                <a:hlinkClick r:id="rId2" tooltip="Original URL: https://www.emerald.com/insight/publication/issn/1476-9018/vol/29/iss/3. Click or tap if you trust this link."/>
              </a:rPr>
              <a:t>https://www.emerald.com/insight/publication/issn/1476-9018/vol/29/iss/3</a:t>
            </a:r>
            <a:r>
              <a:rPr lang="en-GB" sz="1800" dirty="0"/>
              <a:t>   </a:t>
            </a:r>
          </a:p>
        </p:txBody>
      </p:sp>
    </p:spTree>
    <p:extLst>
      <p:ext uri="{BB962C8B-B14F-4D97-AF65-F5344CB8AC3E}">
        <p14:creationId xmlns:p14="http://schemas.microsoft.com/office/powerpoint/2010/main" val="26078443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17867" y="508076"/>
            <a:ext cx="4672965" cy="149860"/>
          </a:xfrm>
          <a:custGeom>
            <a:avLst/>
            <a:gdLst/>
            <a:ahLst/>
            <a:cxnLst/>
            <a:rect l="l" t="t" r="r" b="b"/>
            <a:pathLst>
              <a:path w="4672965" h="149859">
                <a:moveTo>
                  <a:pt x="4672965" y="0"/>
                </a:moveTo>
                <a:lnTo>
                  <a:pt x="0" y="0"/>
                </a:lnTo>
                <a:lnTo>
                  <a:pt x="0" y="149275"/>
                </a:lnTo>
                <a:lnTo>
                  <a:pt x="4672965" y="149275"/>
                </a:lnTo>
                <a:lnTo>
                  <a:pt x="467296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99948" y="2609214"/>
            <a:ext cx="133921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14" dirty="0"/>
              <a:t>Group</a:t>
            </a:r>
            <a:r>
              <a:rPr sz="2800" spc="-60" dirty="0"/>
              <a:t> </a:t>
            </a:r>
            <a:r>
              <a:rPr sz="2800" spc="-355" dirty="0"/>
              <a:t>A</a:t>
            </a:r>
            <a:endParaRPr sz="2800"/>
          </a:p>
        </p:txBody>
      </p:sp>
      <p:sp>
        <p:nvSpPr>
          <p:cNvPr id="4" name="object 4"/>
          <p:cNvSpPr txBox="1"/>
          <p:nvPr/>
        </p:nvSpPr>
        <p:spPr>
          <a:xfrm>
            <a:off x="599948" y="3481197"/>
            <a:ext cx="4515485" cy="930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27965">
              <a:lnSpc>
                <a:spcPct val="110000"/>
              </a:lnSpc>
              <a:spcBef>
                <a:spcPts val="100"/>
              </a:spcBef>
              <a:buFont typeface="Arial MT"/>
              <a:buChar char="•"/>
              <a:tabLst>
                <a:tab pos="240665" algn="l"/>
              </a:tabLst>
            </a:pPr>
            <a:r>
              <a:rPr sz="1800" b="1" spc="-30" dirty="0">
                <a:latin typeface="Arial"/>
                <a:cs typeface="Arial"/>
              </a:rPr>
              <a:t>Patient</a:t>
            </a:r>
            <a:r>
              <a:rPr sz="1800" b="1" spc="-85" dirty="0">
                <a:latin typeface="Arial"/>
                <a:cs typeface="Arial"/>
              </a:rPr>
              <a:t> </a:t>
            </a:r>
            <a:r>
              <a:rPr sz="1800" b="1" spc="-55" dirty="0">
                <a:latin typeface="Arial"/>
                <a:cs typeface="Arial"/>
              </a:rPr>
              <a:t>Experiences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of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Self-</a:t>
            </a:r>
            <a:r>
              <a:rPr sz="1800" b="1" spc="-25" dirty="0">
                <a:latin typeface="Arial"/>
                <a:cs typeface="Arial"/>
              </a:rPr>
              <a:t>Management </a:t>
            </a:r>
            <a:r>
              <a:rPr sz="1800" b="1" spc="-35" dirty="0">
                <a:latin typeface="Arial"/>
                <a:cs typeface="Arial"/>
              </a:rPr>
              <a:t>for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spc="-40" dirty="0">
                <a:latin typeface="Arial"/>
                <a:cs typeface="Arial"/>
              </a:rPr>
              <a:t>Chronic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spc="-100" dirty="0">
                <a:latin typeface="Arial"/>
                <a:cs typeface="Arial"/>
              </a:rPr>
              <a:t>Low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75" dirty="0">
                <a:latin typeface="Arial"/>
                <a:cs typeface="Arial"/>
              </a:rPr>
              <a:t>Back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spc="-65" dirty="0">
                <a:latin typeface="Arial"/>
                <a:cs typeface="Arial"/>
              </a:rPr>
              <a:t>Pain: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spc="-190" dirty="0">
                <a:latin typeface="Arial"/>
                <a:cs typeface="Arial"/>
              </a:rPr>
              <a:t>A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Qualitative Study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78320" y="1027840"/>
            <a:ext cx="4812246" cy="480734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17867" y="508076"/>
            <a:ext cx="4672965" cy="149860"/>
          </a:xfrm>
          <a:custGeom>
            <a:avLst/>
            <a:gdLst/>
            <a:ahLst/>
            <a:cxnLst/>
            <a:rect l="l" t="t" r="r" b="b"/>
            <a:pathLst>
              <a:path w="4672965" h="149859">
                <a:moveTo>
                  <a:pt x="4672965" y="0"/>
                </a:moveTo>
                <a:lnTo>
                  <a:pt x="0" y="0"/>
                </a:lnTo>
                <a:lnTo>
                  <a:pt x="0" y="149275"/>
                </a:lnTo>
                <a:lnTo>
                  <a:pt x="4672965" y="149275"/>
                </a:lnTo>
                <a:lnTo>
                  <a:pt x="467296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99948" y="2609214"/>
            <a:ext cx="13385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14" dirty="0"/>
              <a:t>Group</a:t>
            </a:r>
            <a:r>
              <a:rPr sz="2800" spc="-60" dirty="0"/>
              <a:t> </a:t>
            </a:r>
            <a:r>
              <a:rPr sz="2800" spc="-355" dirty="0"/>
              <a:t>B</a:t>
            </a:r>
            <a:endParaRPr sz="2800"/>
          </a:p>
        </p:txBody>
      </p:sp>
      <p:sp>
        <p:nvSpPr>
          <p:cNvPr id="4" name="object 4"/>
          <p:cNvSpPr txBox="1"/>
          <p:nvPr/>
        </p:nvSpPr>
        <p:spPr>
          <a:xfrm>
            <a:off x="599948" y="3583304"/>
            <a:ext cx="4415790" cy="930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27965" algn="just">
              <a:lnSpc>
                <a:spcPct val="110000"/>
              </a:lnSpc>
              <a:spcBef>
                <a:spcPts val="100"/>
              </a:spcBef>
              <a:buFont typeface="Arial MT"/>
              <a:buChar char="•"/>
              <a:tabLst>
                <a:tab pos="240665" algn="l"/>
              </a:tabLst>
            </a:pPr>
            <a:r>
              <a:rPr sz="1800" b="1" spc="-75" dirty="0">
                <a:latin typeface="Arial"/>
                <a:cs typeface="Arial"/>
              </a:rPr>
              <a:t>Exploring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spc="-30" dirty="0">
                <a:latin typeface="Arial"/>
                <a:cs typeface="Arial"/>
              </a:rPr>
              <a:t>expectations</a:t>
            </a:r>
            <a:r>
              <a:rPr sz="1800" b="1" spc="-85" dirty="0">
                <a:latin typeface="Arial"/>
                <a:cs typeface="Arial"/>
              </a:rPr>
              <a:t> </a:t>
            </a:r>
            <a:r>
              <a:rPr sz="1800" b="1" spc="-30" dirty="0">
                <a:latin typeface="Arial"/>
                <a:cs typeface="Arial"/>
              </a:rPr>
              <a:t>and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spc="-20" dirty="0">
                <a:latin typeface="Arial"/>
                <a:cs typeface="Arial"/>
              </a:rPr>
              <a:t>perceptions </a:t>
            </a:r>
            <a:r>
              <a:rPr sz="1800" b="1" dirty="0">
                <a:latin typeface="Arial"/>
                <a:cs typeface="Arial"/>
              </a:rPr>
              <a:t>of</a:t>
            </a:r>
            <a:r>
              <a:rPr sz="1800" b="1" spc="-90" dirty="0">
                <a:latin typeface="Arial"/>
                <a:cs typeface="Arial"/>
              </a:rPr>
              <a:t> </a:t>
            </a:r>
            <a:r>
              <a:rPr sz="1800" b="1" spc="-20" dirty="0">
                <a:latin typeface="Arial"/>
                <a:cs typeface="Arial"/>
              </a:rPr>
              <a:t>different</a:t>
            </a:r>
            <a:r>
              <a:rPr sz="1800" b="1" spc="-9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manual</a:t>
            </a:r>
            <a:r>
              <a:rPr sz="1800" b="1" spc="-75" dirty="0">
                <a:latin typeface="Arial"/>
                <a:cs typeface="Arial"/>
              </a:rPr>
              <a:t> </a:t>
            </a:r>
            <a:r>
              <a:rPr sz="1800" b="1" spc="-40" dirty="0">
                <a:latin typeface="Arial"/>
                <a:cs typeface="Arial"/>
              </a:rPr>
              <a:t>therapy</a:t>
            </a:r>
            <a:r>
              <a:rPr sz="1800" b="1" spc="-85" dirty="0">
                <a:latin typeface="Arial"/>
                <a:cs typeface="Arial"/>
              </a:rPr>
              <a:t> </a:t>
            </a:r>
            <a:r>
              <a:rPr sz="1800" b="1" spc="-30" dirty="0">
                <a:latin typeface="Arial"/>
                <a:cs typeface="Arial"/>
              </a:rPr>
              <a:t>techniques</a:t>
            </a:r>
            <a:r>
              <a:rPr sz="1800" b="1" spc="-65" dirty="0">
                <a:latin typeface="Arial"/>
                <a:cs typeface="Arial"/>
              </a:rPr>
              <a:t> </a:t>
            </a:r>
            <a:r>
              <a:rPr sz="1800" b="1" spc="-25" dirty="0">
                <a:latin typeface="Arial"/>
                <a:cs typeface="Arial"/>
              </a:rPr>
              <a:t>in </a:t>
            </a:r>
            <a:r>
              <a:rPr sz="1800" b="1" spc="-40" dirty="0">
                <a:latin typeface="Arial"/>
                <a:cs typeface="Arial"/>
              </a:rPr>
              <a:t>chronic</a:t>
            </a:r>
            <a:r>
              <a:rPr sz="1800" b="1" spc="-9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low</a:t>
            </a:r>
            <a:r>
              <a:rPr sz="1800" b="1" spc="-85" dirty="0">
                <a:latin typeface="Arial"/>
                <a:cs typeface="Arial"/>
              </a:rPr>
              <a:t> </a:t>
            </a:r>
            <a:r>
              <a:rPr sz="1800" b="1" spc="-25" dirty="0">
                <a:latin typeface="Arial"/>
                <a:cs typeface="Arial"/>
              </a:rPr>
              <a:t>back</a:t>
            </a:r>
            <a:r>
              <a:rPr sz="1800" b="1" spc="-80" dirty="0">
                <a:latin typeface="Arial"/>
                <a:cs typeface="Arial"/>
              </a:rPr>
              <a:t> </a:t>
            </a:r>
            <a:r>
              <a:rPr sz="1800" b="1" spc="-30" dirty="0">
                <a:latin typeface="Arial"/>
                <a:cs typeface="Arial"/>
              </a:rPr>
              <a:t>pain: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</a:t>
            </a:r>
            <a:r>
              <a:rPr sz="1800" b="1" spc="-75" dirty="0">
                <a:latin typeface="Arial"/>
                <a:cs typeface="Arial"/>
              </a:rPr>
              <a:t> </a:t>
            </a:r>
            <a:r>
              <a:rPr sz="1800" b="1" spc="-20" dirty="0">
                <a:latin typeface="Arial"/>
                <a:cs typeface="Arial"/>
              </a:rPr>
              <a:t>qualitative</a:t>
            </a:r>
            <a:r>
              <a:rPr sz="1800" b="1" spc="-8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study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78320" y="1027840"/>
            <a:ext cx="4812246" cy="480734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17867" y="508076"/>
            <a:ext cx="4672965" cy="149860"/>
          </a:xfrm>
          <a:custGeom>
            <a:avLst/>
            <a:gdLst/>
            <a:ahLst/>
            <a:cxnLst/>
            <a:rect l="l" t="t" r="r" b="b"/>
            <a:pathLst>
              <a:path w="4672965" h="149859">
                <a:moveTo>
                  <a:pt x="4672965" y="0"/>
                </a:moveTo>
                <a:lnTo>
                  <a:pt x="0" y="0"/>
                </a:lnTo>
                <a:lnTo>
                  <a:pt x="0" y="149275"/>
                </a:lnTo>
                <a:lnTo>
                  <a:pt x="4672965" y="149275"/>
                </a:lnTo>
                <a:lnTo>
                  <a:pt x="467296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699513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95"/>
              </a:spcBef>
            </a:pPr>
            <a:r>
              <a:rPr sz="2800" spc="-114" dirty="0"/>
              <a:t>Group</a:t>
            </a:r>
            <a:r>
              <a:rPr sz="2800" spc="-60" dirty="0"/>
              <a:t> </a:t>
            </a:r>
            <a:r>
              <a:rPr sz="2800" spc="-50" dirty="0"/>
              <a:t>C</a:t>
            </a:r>
            <a:endParaRPr sz="2800"/>
          </a:p>
        </p:txBody>
      </p:sp>
      <p:sp>
        <p:nvSpPr>
          <p:cNvPr id="4" name="object 4"/>
          <p:cNvSpPr txBox="1">
            <a:spLocks noGrp="1"/>
          </p:cNvSpPr>
          <p:nvPr>
            <p:ph type="subTitle" idx="4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000"/>
              </a:lnSpc>
              <a:spcBef>
                <a:spcPts val="100"/>
              </a:spcBef>
            </a:pPr>
            <a:r>
              <a:rPr sz="1800" spc="-55" dirty="0"/>
              <a:t>Barriers</a:t>
            </a:r>
            <a:r>
              <a:rPr sz="1800" spc="-80" dirty="0"/>
              <a:t> </a:t>
            </a:r>
            <a:r>
              <a:rPr sz="1800" spc="-35" dirty="0"/>
              <a:t>for</a:t>
            </a:r>
            <a:r>
              <a:rPr sz="1800" spc="-90" dirty="0"/>
              <a:t> </a:t>
            </a:r>
            <a:r>
              <a:rPr sz="1800" spc="-45" dirty="0"/>
              <a:t>guideline</a:t>
            </a:r>
            <a:r>
              <a:rPr sz="1800" spc="-60" dirty="0"/>
              <a:t> </a:t>
            </a:r>
            <a:r>
              <a:rPr sz="1800" spc="-30" dirty="0"/>
              <a:t>adherence</a:t>
            </a:r>
            <a:r>
              <a:rPr sz="1800" spc="-50" dirty="0"/>
              <a:t> </a:t>
            </a:r>
            <a:r>
              <a:rPr sz="1800" spc="-10" dirty="0"/>
              <a:t>in</a:t>
            </a:r>
            <a:r>
              <a:rPr sz="1800" spc="-75" dirty="0"/>
              <a:t> </a:t>
            </a:r>
            <a:r>
              <a:rPr sz="1800" spc="-20" dirty="0"/>
              <a:t>knee </a:t>
            </a:r>
            <a:r>
              <a:rPr sz="1800" spc="-30" dirty="0"/>
              <a:t>osteoarthritis</a:t>
            </a:r>
            <a:r>
              <a:rPr sz="1800" spc="-70" dirty="0"/>
              <a:t> </a:t>
            </a:r>
            <a:r>
              <a:rPr sz="1800" spc="-30" dirty="0"/>
              <a:t>care:</a:t>
            </a:r>
            <a:r>
              <a:rPr sz="1800" spc="-65" dirty="0"/>
              <a:t> </a:t>
            </a:r>
            <a:r>
              <a:rPr sz="1800" spc="-190" dirty="0"/>
              <a:t>A</a:t>
            </a:r>
            <a:r>
              <a:rPr sz="1800" spc="-30" dirty="0"/>
              <a:t> </a:t>
            </a:r>
            <a:r>
              <a:rPr sz="1800" spc="-20" dirty="0"/>
              <a:t>qualitative</a:t>
            </a:r>
            <a:r>
              <a:rPr sz="1800" spc="-35" dirty="0"/>
              <a:t> </a:t>
            </a:r>
            <a:r>
              <a:rPr sz="1800" spc="-10" dirty="0"/>
              <a:t>study </a:t>
            </a:r>
            <a:r>
              <a:rPr sz="1800" spc="-20" dirty="0"/>
              <a:t>from</a:t>
            </a:r>
            <a:r>
              <a:rPr sz="1800" spc="-85" dirty="0"/>
              <a:t> </a:t>
            </a:r>
            <a:r>
              <a:rPr sz="1800" dirty="0"/>
              <a:t>the</a:t>
            </a:r>
            <a:r>
              <a:rPr sz="1800" spc="-65" dirty="0"/>
              <a:t> </a:t>
            </a:r>
            <a:r>
              <a:rPr sz="1800" spc="-25" dirty="0"/>
              <a:t>patients'</a:t>
            </a:r>
            <a:r>
              <a:rPr sz="1800" spc="-60" dirty="0"/>
              <a:t> </a:t>
            </a:r>
            <a:r>
              <a:rPr sz="1800" spc="-10" dirty="0"/>
              <a:t>perspective</a:t>
            </a:r>
            <a:endParaRPr sz="180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35245" y="1027840"/>
            <a:ext cx="4812139" cy="480734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17867" y="508076"/>
            <a:ext cx="4672965" cy="149860"/>
          </a:xfrm>
          <a:custGeom>
            <a:avLst/>
            <a:gdLst/>
            <a:ahLst/>
            <a:cxnLst/>
            <a:rect l="l" t="t" r="r" b="b"/>
            <a:pathLst>
              <a:path w="4672965" h="149859">
                <a:moveTo>
                  <a:pt x="4672965" y="0"/>
                </a:moveTo>
                <a:lnTo>
                  <a:pt x="0" y="0"/>
                </a:lnTo>
                <a:lnTo>
                  <a:pt x="0" y="149275"/>
                </a:lnTo>
                <a:lnTo>
                  <a:pt x="4672965" y="149275"/>
                </a:lnTo>
                <a:lnTo>
                  <a:pt x="467296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99948" y="2609214"/>
            <a:ext cx="13677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14" dirty="0"/>
              <a:t>Group</a:t>
            </a:r>
            <a:r>
              <a:rPr sz="2800" spc="-60" dirty="0"/>
              <a:t> </a:t>
            </a:r>
            <a:r>
              <a:rPr sz="2800" spc="-50" dirty="0"/>
              <a:t>D</a:t>
            </a:r>
            <a:endParaRPr sz="2800"/>
          </a:p>
        </p:txBody>
      </p:sp>
      <p:sp>
        <p:nvSpPr>
          <p:cNvPr id="4" name="object 4"/>
          <p:cNvSpPr txBox="1"/>
          <p:nvPr/>
        </p:nvSpPr>
        <p:spPr>
          <a:xfrm>
            <a:off x="599948" y="3481197"/>
            <a:ext cx="4458335" cy="629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27965">
              <a:lnSpc>
                <a:spcPct val="110000"/>
              </a:lnSpc>
              <a:spcBef>
                <a:spcPts val="100"/>
              </a:spcBef>
              <a:buFont typeface="Arial MT"/>
              <a:buChar char="•"/>
              <a:tabLst>
                <a:tab pos="240665" algn="l"/>
              </a:tabLst>
            </a:pPr>
            <a:r>
              <a:rPr sz="1800" b="1" dirty="0">
                <a:latin typeface="Arial"/>
                <a:cs typeface="Arial"/>
              </a:rPr>
              <a:t>In</a:t>
            </a:r>
            <a:r>
              <a:rPr sz="1800" b="1" spc="-55" dirty="0">
                <a:latin typeface="Arial"/>
                <a:cs typeface="Arial"/>
              </a:rPr>
              <a:t> </a:t>
            </a:r>
            <a:r>
              <a:rPr sz="1800" b="1" spc="-70" dirty="0">
                <a:latin typeface="Arial"/>
                <a:cs typeface="Arial"/>
              </a:rPr>
              <a:t>Their</a:t>
            </a:r>
            <a:r>
              <a:rPr sz="1800" b="1" spc="-55" dirty="0">
                <a:latin typeface="Arial"/>
                <a:cs typeface="Arial"/>
              </a:rPr>
              <a:t> </a:t>
            </a:r>
            <a:r>
              <a:rPr sz="1800" b="1" spc="-60" dirty="0">
                <a:latin typeface="Arial"/>
                <a:cs typeface="Arial"/>
              </a:rPr>
              <a:t>Own</a:t>
            </a:r>
            <a:r>
              <a:rPr sz="1800" b="1" spc="-55" dirty="0">
                <a:latin typeface="Arial"/>
                <a:cs typeface="Arial"/>
              </a:rPr>
              <a:t> </a:t>
            </a:r>
            <a:r>
              <a:rPr sz="1800" b="1" spc="-70" dirty="0">
                <a:latin typeface="Arial"/>
                <a:cs typeface="Arial"/>
              </a:rPr>
              <a:t>Words: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spc="-20" dirty="0">
                <a:latin typeface="Arial"/>
                <a:cs typeface="Arial"/>
              </a:rPr>
              <a:t>How</a:t>
            </a:r>
            <a:r>
              <a:rPr sz="1800" b="1" spc="-7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Adolescents </a:t>
            </a:r>
            <a:r>
              <a:rPr sz="1800" b="1" spc="-45" dirty="0">
                <a:latin typeface="Arial"/>
                <a:cs typeface="Arial"/>
              </a:rPr>
              <a:t>Use</a:t>
            </a:r>
            <a:r>
              <a:rPr sz="1800" b="1" spc="-80" dirty="0">
                <a:latin typeface="Arial"/>
                <a:cs typeface="Arial"/>
              </a:rPr>
              <a:t> </a:t>
            </a:r>
            <a:r>
              <a:rPr sz="1800" b="1" spc="-30" dirty="0">
                <a:latin typeface="Arial"/>
                <a:cs typeface="Arial"/>
              </a:rPr>
              <a:t>Social</a:t>
            </a:r>
            <a:r>
              <a:rPr sz="1800" b="1" spc="-80" dirty="0">
                <a:latin typeface="Arial"/>
                <a:cs typeface="Arial"/>
              </a:rPr>
              <a:t> </a:t>
            </a:r>
            <a:r>
              <a:rPr sz="1800" b="1" spc="-20" dirty="0">
                <a:latin typeface="Arial"/>
                <a:cs typeface="Arial"/>
              </a:rPr>
              <a:t>Media</a:t>
            </a:r>
            <a:r>
              <a:rPr sz="1800" b="1" spc="-70" dirty="0">
                <a:latin typeface="Arial"/>
                <a:cs typeface="Arial"/>
              </a:rPr>
              <a:t> </a:t>
            </a:r>
            <a:r>
              <a:rPr sz="1800" b="1" spc="-20" dirty="0">
                <a:latin typeface="Arial"/>
                <a:cs typeface="Arial"/>
              </a:rPr>
              <a:t>and</a:t>
            </a:r>
            <a:r>
              <a:rPr sz="1800" b="1" spc="-55" dirty="0">
                <a:latin typeface="Arial"/>
                <a:cs typeface="Arial"/>
              </a:rPr>
              <a:t> </a:t>
            </a:r>
            <a:r>
              <a:rPr sz="1800" b="1" spc="-20" dirty="0">
                <a:latin typeface="Arial"/>
                <a:cs typeface="Arial"/>
              </a:rPr>
              <a:t>How</a:t>
            </a:r>
            <a:r>
              <a:rPr sz="1800" b="1" spc="-6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It</a:t>
            </a:r>
            <a:r>
              <a:rPr sz="1800" b="1" spc="-75" dirty="0">
                <a:latin typeface="Arial"/>
                <a:cs typeface="Arial"/>
              </a:rPr>
              <a:t> </a:t>
            </a:r>
            <a:r>
              <a:rPr sz="1800" b="1" spc="-30" dirty="0">
                <a:latin typeface="Arial"/>
                <a:cs typeface="Arial"/>
              </a:rPr>
              <a:t>Affects</a:t>
            </a:r>
            <a:r>
              <a:rPr sz="1800" b="1" spc="-70" dirty="0">
                <a:latin typeface="Arial"/>
                <a:cs typeface="Arial"/>
              </a:rPr>
              <a:t> </a:t>
            </a:r>
            <a:r>
              <a:rPr sz="1800" b="1" spc="-30" dirty="0">
                <a:latin typeface="Arial"/>
                <a:cs typeface="Arial"/>
              </a:rPr>
              <a:t>Them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78320" y="1027840"/>
            <a:ext cx="4812246" cy="480734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0390" rIns="0" bIns="0" rtlCol="0">
            <a:spAutoFit/>
          </a:bodyPr>
          <a:lstStyle/>
          <a:p>
            <a:pPr marL="34290">
              <a:lnSpc>
                <a:spcPct val="100000"/>
              </a:lnSpc>
              <a:spcBef>
                <a:spcPts val="105"/>
              </a:spcBef>
            </a:pPr>
            <a:r>
              <a:rPr spc="-145" dirty="0"/>
              <a:t>Discussion</a:t>
            </a:r>
            <a:r>
              <a:rPr spc="-90" dirty="0"/>
              <a:t> </a:t>
            </a:r>
            <a:r>
              <a:rPr spc="-85" dirty="0"/>
              <a:t>Questions</a:t>
            </a:r>
          </a:p>
        </p:txBody>
      </p:sp>
      <p:sp>
        <p:nvSpPr>
          <p:cNvPr id="3" name="object 3"/>
          <p:cNvSpPr/>
          <p:nvPr/>
        </p:nvSpPr>
        <p:spPr>
          <a:xfrm>
            <a:off x="517867" y="508076"/>
            <a:ext cx="11156315" cy="149860"/>
          </a:xfrm>
          <a:custGeom>
            <a:avLst/>
            <a:gdLst/>
            <a:ahLst/>
            <a:cxnLst/>
            <a:rect l="l" t="t" r="r" b="b"/>
            <a:pathLst>
              <a:path w="11156315" h="149859">
                <a:moveTo>
                  <a:pt x="11156315" y="0"/>
                </a:moveTo>
                <a:lnTo>
                  <a:pt x="0" y="0"/>
                </a:lnTo>
                <a:lnTo>
                  <a:pt x="0" y="149275"/>
                </a:lnTo>
                <a:lnTo>
                  <a:pt x="11156315" y="149275"/>
                </a:lnTo>
                <a:lnTo>
                  <a:pt x="1115631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59116" y="976109"/>
            <a:ext cx="4011676" cy="5371846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21208" y="2580385"/>
            <a:ext cx="6537959" cy="0"/>
          </a:xfrm>
          <a:custGeom>
            <a:avLst/>
            <a:gdLst/>
            <a:ahLst/>
            <a:cxnLst/>
            <a:rect l="l" t="t" r="r" b="b"/>
            <a:pathLst>
              <a:path w="6537959">
                <a:moveTo>
                  <a:pt x="0" y="0"/>
                </a:moveTo>
                <a:lnTo>
                  <a:pt x="6537960" y="0"/>
                </a:lnTo>
              </a:path>
            </a:pathLst>
          </a:custGeom>
          <a:ln w="19050">
            <a:solidFill>
              <a:srgbClr val="00B9C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21208" y="3835019"/>
            <a:ext cx="6537959" cy="0"/>
          </a:xfrm>
          <a:custGeom>
            <a:avLst/>
            <a:gdLst/>
            <a:ahLst/>
            <a:cxnLst/>
            <a:rect l="l" t="t" r="r" b="b"/>
            <a:pathLst>
              <a:path w="6537959">
                <a:moveTo>
                  <a:pt x="0" y="0"/>
                </a:moveTo>
                <a:lnTo>
                  <a:pt x="6537960" y="0"/>
                </a:lnTo>
              </a:path>
            </a:pathLst>
          </a:custGeom>
          <a:ln w="19050">
            <a:solidFill>
              <a:srgbClr val="E6472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21208" y="5089525"/>
            <a:ext cx="6537959" cy="0"/>
          </a:xfrm>
          <a:custGeom>
            <a:avLst/>
            <a:gdLst/>
            <a:ahLst/>
            <a:cxnLst/>
            <a:rect l="l" t="t" r="r" b="b"/>
            <a:pathLst>
              <a:path w="6537959">
                <a:moveTo>
                  <a:pt x="0" y="0"/>
                </a:moveTo>
                <a:lnTo>
                  <a:pt x="6537960" y="0"/>
                </a:lnTo>
              </a:path>
            </a:pathLst>
          </a:custGeom>
          <a:ln w="19050">
            <a:solidFill>
              <a:srgbClr val="4D5A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0" name="object 8">
            <a:extLst>
              <a:ext uri="{FF2B5EF4-FFF2-40B4-BE49-F238E27FC236}">
                <a16:creationId xmlns:a16="http://schemas.microsoft.com/office/drawing/2014/main" id="{722B8F9C-8F63-669E-A2A7-CD3C6F648366}"/>
              </a:ext>
            </a:extLst>
          </p:cNvPr>
          <p:cNvGraphicFramePr/>
          <p:nvPr/>
        </p:nvGraphicFramePr>
        <p:xfrm>
          <a:off x="603910" y="2607310"/>
          <a:ext cx="6121400" cy="36029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59938" y="5217617"/>
            <a:ext cx="1858645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b="1" spc="-180" dirty="0">
                <a:solidFill>
                  <a:srgbClr val="00B9C7"/>
                </a:solidFill>
                <a:latin typeface="Arial"/>
                <a:cs typeface="Arial"/>
              </a:rPr>
              <a:t>REFERENCE</a:t>
            </a:r>
            <a:endParaRPr sz="26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122032" y="2408935"/>
            <a:ext cx="2196465" cy="2196465"/>
            <a:chOff x="7122032" y="2408935"/>
            <a:chExt cx="2196465" cy="2196465"/>
          </a:xfrm>
        </p:grpSpPr>
        <p:sp>
          <p:nvSpPr>
            <p:cNvPr id="4" name="object 4"/>
            <p:cNvSpPr/>
            <p:nvPr/>
          </p:nvSpPr>
          <p:spPr>
            <a:xfrm>
              <a:off x="7122032" y="2408935"/>
              <a:ext cx="2196465" cy="2196465"/>
            </a:xfrm>
            <a:custGeom>
              <a:avLst/>
              <a:gdLst/>
              <a:ahLst/>
              <a:cxnLst/>
              <a:rect l="l" t="t" r="r" b="b"/>
              <a:pathLst>
                <a:path w="2196465" h="2196465">
                  <a:moveTo>
                    <a:pt x="1097915" y="0"/>
                  </a:moveTo>
                  <a:lnTo>
                    <a:pt x="1050284" y="1014"/>
                  </a:lnTo>
                  <a:lnTo>
                    <a:pt x="1003173" y="4030"/>
                  </a:lnTo>
                  <a:lnTo>
                    <a:pt x="956622" y="9006"/>
                  </a:lnTo>
                  <a:lnTo>
                    <a:pt x="910672" y="15902"/>
                  </a:lnTo>
                  <a:lnTo>
                    <a:pt x="865364" y="24675"/>
                  </a:lnTo>
                  <a:lnTo>
                    <a:pt x="820739" y="35285"/>
                  </a:lnTo>
                  <a:lnTo>
                    <a:pt x="776839" y="47691"/>
                  </a:lnTo>
                  <a:lnTo>
                    <a:pt x="733705" y="61851"/>
                  </a:lnTo>
                  <a:lnTo>
                    <a:pt x="691378" y="77724"/>
                  </a:lnTo>
                  <a:lnTo>
                    <a:pt x="649899" y="95269"/>
                  </a:lnTo>
                  <a:lnTo>
                    <a:pt x="609309" y="114445"/>
                  </a:lnTo>
                  <a:lnTo>
                    <a:pt x="569650" y="135210"/>
                  </a:lnTo>
                  <a:lnTo>
                    <a:pt x="530962" y="157523"/>
                  </a:lnTo>
                  <a:lnTo>
                    <a:pt x="493288" y="181344"/>
                  </a:lnTo>
                  <a:lnTo>
                    <a:pt x="456667" y="206630"/>
                  </a:lnTo>
                  <a:lnTo>
                    <a:pt x="421141" y="233341"/>
                  </a:lnTo>
                  <a:lnTo>
                    <a:pt x="386752" y="261436"/>
                  </a:lnTo>
                  <a:lnTo>
                    <a:pt x="353541" y="290873"/>
                  </a:lnTo>
                  <a:lnTo>
                    <a:pt x="321548" y="321611"/>
                  </a:lnTo>
                  <a:lnTo>
                    <a:pt x="290815" y="353609"/>
                  </a:lnTo>
                  <a:lnTo>
                    <a:pt x="261383" y="386826"/>
                  </a:lnTo>
                  <a:lnTo>
                    <a:pt x="233293" y="421220"/>
                  </a:lnTo>
                  <a:lnTo>
                    <a:pt x="206587" y="456750"/>
                  </a:lnTo>
                  <a:lnTo>
                    <a:pt x="181305" y="493376"/>
                  </a:lnTo>
                  <a:lnTo>
                    <a:pt x="157489" y="531055"/>
                  </a:lnTo>
                  <a:lnTo>
                    <a:pt x="135180" y="569747"/>
                  </a:lnTo>
                  <a:lnTo>
                    <a:pt x="114419" y="609410"/>
                  </a:lnTo>
                  <a:lnTo>
                    <a:pt x="95247" y="650004"/>
                  </a:lnTo>
                  <a:lnTo>
                    <a:pt x="77706" y="691487"/>
                  </a:lnTo>
                  <a:lnTo>
                    <a:pt x="61836" y="733817"/>
                  </a:lnTo>
                  <a:lnTo>
                    <a:pt x="47680" y="776955"/>
                  </a:lnTo>
                  <a:lnTo>
                    <a:pt x="35277" y="820858"/>
                  </a:lnTo>
                  <a:lnTo>
                    <a:pt x="24669" y="865485"/>
                  </a:lnTo>
                  <a:lnTo>
                    <a:pt x="15898" y="910795"/>
                  </a:lnTo>
                  <a:lnTo>
                    <a:pt x="9004" y="956747"/>
                  </a:lnTo>
                  <a:lnTo>
                    <a:pt x="4029" y="1003299"/>
                  </a:lnTo>
                  <a:lnTo>
                    <a:pt x="1014" y="1050411"/>
                  </a:lnTo>
                  <a:lnTo>
                    <a:pt x="0" y="1098041"/>
                  </a:lnTo>
                  <a:lnTo>
                    <a:pt x="1014" y="1145672"/>
                  </a:lnTo>
                  <a:lnTo>
                    <a:pt x="4029" y="1192784"/>
                  </a:lnTo>
                  <a:lnTo>
                    <a:pt x="9004" y="1239336"/>
                  </a:lnTo>
                  <a:lnTo>
                    <a:pt x="15898" y="1285288"/>
                  </a:lnTo>
                  <a:lnTo>
                    <a:pt x="24669" y="1330598"/>
                  </a:lnTo>
                  <a:lnTo>
                    <a:pt x="35277" y="1375225"/>
                  </a:lnTo>
                  <a:lnTo>
                    <a:pt x="47680" y="1419128"/>
                  </a:lnTo>
                  <a:lnTo>
                    <a:pt x="61836" y="1462266"/>
                  </a:lnTo>
                  <a:lnTo>
                    <a:pt x="77706" y="1504596"/>
                  </a:lnTo>
                  <a:lnTo>
                    <a:pt x="95247" y="1546079"/>
                  </a:lnTo>
                  <a:lnTo>
                    <a:pt x="114419" y="1586673"/>
                  </a:lnTo>
                  <a:lnTo>
                    <a:pt x="135180" y="1626336"/>
                  </a:lnTo>
                  <a:lnTo>
                    <a:pt x="157489" y="1665028"/>
                  </a:lnTo>
                  <a:lnTo>
                    <a:pt x="181305" y="1702707"/>
                  </a:lnTo>
                  <a:lnTo>
                    <a:pt x="206587" y="1739333"/>
                  </a:lnTo>
                  <a:lnTo>
                    <a:pt x="233293" y="1774863"/>
                  </a:lnTo>
                  <a:lnTo>
                    <a:pt x="261383" y="1809257"/>
                  </a:lnTo>
                  <a:lnTo>
                    <a:pt x="290815" y="1842474"/>
                  </a:lnTo>
                  <a:lnTo>
                    <a:pt x="321548" y="1874472"/>
                  </a:lnTo>
                  <a:lnTo>
                    <a:pt x="353541" y="1905210"/>
                  </a:lnTo>
                  <a:lnTo>
                    <a:pt x="386752" y="1934647"/>
                  </a:lnTo>
                  <a:lnTo>
                    <a:pt x="421141" y="1962742"/>
                  </a:lnTo>
                  <a:lnTo>
                    <a:pt x="456667" y="1989453"/>
                  </a:lnTo>
                  <a:lnTo>
                    <a:pt x="493288" y="2014739"/>
                  </a:lnTo>
                  <a:lnTo>
                    <a:pt x="530962" y="2038560"/>
                  </a:lnTo>
                  <a:lnTo>
                    <a:pt x="569650" y="2060873"/>
                  </a:lnTo>
                  <a:lnTo>
                    <a:pt x="609309" y="2081638"/>
                  </a:lnTo>
                  <a:lnTo>
                    <a:pt x="649899" y="2100814"/>
                  </a:lnTo>
                  <a:lnTo>
                    <a:pt x="691378" y="2118359"/>
                  </a:lnTo>
                  <a:lnTo>
                    <a:pt x="733705" y="2134232"/>
                  </a:lnTo>
                  <a:lnTo>
                    <a:pt x="776839" y="2148392"/>
                  </a:lnTo>
                  <a:lnTo>
                    <a:pt x="820739" y="2160798"/>
                  </a:lnTo>
                  <a:lnTo>
                    <a:pt x="865364" y="2171408"/>
                  </a:lnTo>
                  <a:lnTo>
                    <a:pt x="910672" y="2180181"/>
                  </a:lnTo>
                  <a:lnTo>
                    <a:pt x="956622" y="2187077"/>
                  </a:lnTo>
                  <a:lnTo>
                    <a:pt x="1003173" y="2192053"/>
                  </a:lnTo>
                  <a:lnTo>
                    <a:pt x="1050284" y="2195069"/>
                  </a:lnTo>
                  <a:lnTo>
                    <a:pt x="1097915" y="2196084"/>
                  </a:lnTo>
                  <a:lnTo>
                    <a:pt x="1145545" y="2195069"/>
                  </a:lnTo>
                  <a:lnTo>
                    <a:pt x="1192657" y="2192053"/>
                  </a:lnTo>
                  <a:lnTo>
                    <a:pt x="1239209" y="2187077"/>
                  </a:lnTo>
                  <a:lnTo>
                    <a:pt x="1285161" y="2180181"/>
                  </a:lnTo>
                  <a:lnTo>
                    <a:pt x="1330471" y="2171408"/>
                  </a:lnTo>
                  <a:lnTo>
                    <a:pt x="1375098" y="2160798"/>
                  </a:lnTo>
                  <a:lnTo>
                    <a:pt x="1419001" y="2148392"/>
                  </a:lnTo>
                  <a:lnTo>
                    <a:pt x="1462139" y="2134232"/>
                  </a:lnTo>
                  <a:lnTo>
                    <a:pt x="1504469" y="2118359"/>
                  </a:lnTo>
                  <a:lnTo>
                    <a:pt x="1545952" y="2100814"/>
                  </a:lnTo>
                  <a:lnTo>
                    <a:pt x="1586546" y="2081638"/>
                  </a:lnTo>
                  <a:lnTo>
                    <a:pt x="1626209" y="2060873"/>
                  </a:lnTo>
                  <a:lnTo>
                    <a:pt x="1664901" y="2038560"/>
                  </a:lnTo>
                  <a:lnTo>
                    <a:pt x="1702580" y="2014739"/>
                  </a:lnTo>
                  <a:lnTo>
                    <a:pt x="1739206" y="1989453"/>
                  </a:lnTo>
                  <a:lnTo>
                    <a:pt x="1774736" y="1962742"/>
                  </a:lnTo>
                  <a:lnTo>
                    <a:pt x="1809130" y="1934647"/>
                  </a:lnTo>
                  <a:lnTo>
                    <a:pt x="1842347" y="1905210"/>
                  </a:lnTo>
                  <a:lnTo>
                    <a:pt x="1874345" y="1874472"/>
                  </a:lnTo>
                  <a:lnTo>
                    <a:pt x="1905083" y="1842474"/>
                  </a:lnTo>
                  <a:lnTo>
                    <a:pt x="1934520" y="1809257"/>
                  </a:lnTo>
                  <a:lnTo>
                    <a:pt x="1962615" y="1774863"/>
                  </a:lnTo>
                  <a:lnTo>
                    <a:pt x="1989326" y="1739333"/>
                  </a:lnTo>
                  <a:lnTo>
                    <a:pt x="2014612" y="1702707"/>
                  </a:lnTo>
                  <a:lnTo>
                    <a:pt x="2038433" y="1665028"/>
                  </a:lnTo>
                  <a:lnTo>
                    <a:pt x="2060746" y="1626336"/>
                  </a:lnTo>
                  <a:lnTo>
                    <a:pt x="2081511" y="1586673"/>
                  </a:lnTo>
                  <a:lnTo>
                    <a:pt x="2100687" y="1546079"/>
                  </a:lnTo>
                  <a:lnTo>
                    <a:pt x="2118232" y="1504596"/>
                  </a:lnTo>
                  <a:lnTo>
                    <a:pt x="2134105" y="1462266"/>
                  </a:lnTo>
                  <a:lnTo>
                    <a:pt x="2148265" y="1419128"/>
                  </a:lnTo>
                  <a:lnTo>
                    <a:pt x="2160671" y="1375225"/>
                  </a:lnTo>
                  <a:lnTo>
                    <a:pt x="2171281" y="1330598"/>
                  </a:lnTo>
                  <a:lnTo>
                    <a:pt x="2180054" y="1285288"/>
                  </a:lnTo>
                  <a:lnTo>
                    <a:pt x="2186950" y="1239336"/>
                  </a:lnTo>
                  <a:lnTo>
                    <a:pt x="2191926" y="1192784"/>
                  </a:lnTo>
                  <a:lnTo>
                    <a:pt x="2194942" y="1145672"/>
                  </a:lnTo>
                  <a:lnTo>
                    <a:pt x="2195957" y="1098041"/>
                  </a:lnTo>
                  <a:lnTo>
                    <a:pt x="2194942" y="1050411"/>
                  </a:lnTo>
                  <a:lnTo>
                    <a:pt x="2191926" y="1003299"/>
                  </a:lnTo>
                  <a:lnTo>
                    <a:pt x="2186950" y="956747"/>
                  </a:lnTo>
                  <a:lnTo>
                    <a:pt x="2180054" y="910795"/>
                  </a:lnTo>
                  <a:lnTo>
                    <a:pt x="2171281" y="865485"/>
                  </a:lnTo>
                  <a:lnTo>
                    <a:pt x="2160671" y="820858"/>
                  </a:lnTo>
                  <a:lnTo>
                    <a:pt x="2148265" y="776955"/>
                  </a:lnTo>
                  <a:lnTo>
                    <a:pt x="2134105" y="733817"/>
                  </a:lnTo>
                  <a:lnTo>
                    <a:pt x="2118232" y="691487"/>
                  </a:lnTo>
                  <a:lnTo>
                    <a:pt x="2100687" y="650004"/>
                  </a:lnTo>
                  <a:lnTo>
                    <a:pt x="2081511" y="609410"/>
                  </a:lnTo>
                  <a:lnTo>
                    <a:pt x="2060746" y="569747"/>
                  </a:lnTo>
                  <a:lnTo>
                    <a:pt x="2038433" y="531055"/>
                  </a:lnTo>
                  <a:lnTo>
                    <a:pt x="2014612" y="493376"/>
                  </a:lnTo>
                  <a:lnTo>
                    <a:pt x="1989326" y="456750"/>
                  </a:lnTo>
                  <a:lnTo>
                    <a:pt x="1962615" y="421220"/>
                  </a:lnTo>
                  <a:lnTo>
                    <a:pt x="1934520" y="386826"/>
                  </a:lnTo>
                  <a:lnTo>
                    <a:pt x="1905083" y="353609"/>
                  </a:lnTo>
                  <a:lnTo>
                    <a:pt x="1874345" y="321611"/>
                  </a:lnTo>
                  <a:lnTo>
                    <a:pt x="1842347" y="290873"/>
                  </a:lnTo>
                  <a:lnTo>
                    <a:pt x="1809130" y="261436"/>
                  </a:lnTo>
                  <a:lnTo>
                    <a:pt x="1774736" y="233341"/>
                  </a:lnTo>
                  <a:lnTo>
                    <a:pt x="1739206" y="206630"/>
                  </a:lnTo>
                  <a:lnTo>
                    <a:pt x="1702580" y="181344"/>
                  </a:lnTo>
                  <a:lnTo>
                    <a:pt x="1664901" y="157523"/>
                  </a:lnTo>
                  <a:lnTo>
                    <a:pt x="1626209" y="135210"/>
                  </a:lnTo>
                  <a:lnTo>
                    <a:pt x="1586546" y="114445"/>
                  </a:lnTo>
                  <a:lnTo>
                    <a:pt x="1545952" y="95269"/>
                  </a:lnTo>
                  <a:lnTo>
                    <a:pt x="1504469" y="77724"/>
                  </a:lnTo>
                  <a:lnTo>
                    <a:pt x="1462139" y="61851"/>
                  </a:lnTo>
                  <a:lnTo>
                    <a:pt x="1419001" y="47691"/>
                  </a:lnTo>
                  <a:lnTo>
                    <a:pt x="1375098" y="35285"/>
                  </a:lnTo>
                  <a:lnTo>
                    <a:pt x="1330471" y="24675"/>
                  </a:lnTo>
                  <a:lnTo>
                    <a:pt x="1285161" y="15902"/>
                  </a:lnTo>
                  <a:lnTo>
                    <a:pt x="1239209" y="9006"/>
                  </a:lnTo>
                  <a:lnTo>
                    <a:pt x="1192657" y="4030"/>
                  </a:lnTo>
                  <a:lnTo>
                    <a:pt x="1145545" y="1014"/>
                  </a:lnTo>
                  <a:lnTo>
                    <a:pt x="1097915" y="0"/>
                  </a:lnTo>
                  <a:close/>
                </a:path>
              </a:pathLst>
            </a:custGeom>
            <a:solidFill>
              <a:srgbClr val="E647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728915" y="3015932"/>
              <a:ext cx="986155" cy="986155"/>
            </a:xfrm>
            <a:custGeom>
              <a:avLst/>
              <a:gdLst/>
              <a:ahLst/>
              <a:cxnLst/>
              <a:rect l="l" t="t" r="r" b="b"/>
              <a:pathLst>
                <a:path w="986154" h="986154">
                  <a:moveTo>
                    <a:pt x="622566" y="492848"/>
                  </a:moveTo>
                  <a:lnTo>
                    <a:pt x="612330" y="442480"/>
                  </a:lnTo>
                  <a:lnTo>
                    <a:pt x="611301" y="440956"/>
                  </a:lnTo>
                  <a:lnTo>
                    <a:pt x="584466" y="401231"/>
                  </a:lnTo>
                  <a:lnTo>
                    <a:pt x="544741" y="374396"/>
                  </a:lnTo>
                  <a:lnTo>
                    <a:pt x="544741" y="492848"/>
                  </a:lnTo>
                  <a:lnTo>
                    <a:pt x="540651" y="512991"/>
                  </a:lnTo>
                  <a:lnTo>
                    <a:pt x="529501" y="529488"/>
                  </a:lnTo>
                  <a:lnTo>
                    <a:pt x="513003" y="540626"/>
                  </a:lnTo>
                  <a:lnTo>
                    <a:pt x="492861" y="544728"/>
                  </a:lnTo>
                  <a:lnTo>
                    <a:pt x="472719" y="540626"/>
                  </a:lnTo>
                  <a:lnTo>
                    <a:pt x="456222" y="529488"/>
                  </a:lnTo>
                  <a:lnTo>
                    <a:pt x="445084" y="512991"/>
                  </a:lnTo>
                  <a:lnTo>
                    <a:pt x="440982" y="492848"/>
                  </a:lnTo>
                  <a:lnTo>
                    <a:pt x="445084" y="472694"/>
                  </a:lnTo>
                  <a:lnTo>
                    <a:pt x="456222" y="456196"/>
                  </a:lnTo>
                  <a:lnTo>
                    <a:pt x="472719" y="445058"/>
                  </a:lnTo>
                  <a:lnTo>
                    <a:pt x="492861" y="440956"/>
                  </a:lnTo>
                  <a:lnTo>
                    <a:pt x="513003" y="445058"/>
                  </a:lnTo>
                  <a:lnTo>
                    <a:pt x="529501" y="456196"/>
                  </a:lnTo>
                  <a:lnTo>
                    <a:pt x="540651" y="472694"/>
                  </a:lnTo>
                  <a:lnTo>
                    <a:pt x="544741" y="492848"/>
                  </a:lnTo>
                  <a:lnTo>
                    <a:pt x="544741" y="374396"/>
                  </a:lnTo>
                  <a:lnTo>
                    <a:pt x="543229" y="373367"/>
                  </a:lnTo>
                  <a:lnTo>
                    <a:pt x="492861" y="363131"/>
                  </a:lnTo>
                  <a:lnTo>
                    <a:pt x="442506" y="373367"/>
                  </a:lnTo>
                  <a:lnTo>
                    <a:pt x="401269" y="401231"/>
                  </a:lnTo>
                  <a:lnTo>
                    <a:pt x="373392" y="442480"/>
                  </a:lnTo>
                  <a:lnTo>
                    <a:pt x="363169" y="492848"/>
                  </a:lnTo>
                  <a:lnTo>
                    <a:pt x="373392" y="543204"/>
                  </a:lnTo>
                  <a:lnTo>
                    <a:pt x="401269" y="584454"/>
                  </a:lnTo>
                  <a:lnTo>
                    <a:pt x="442506" y="612317"/>
                  </a:lnTo>
                  <a:lnTo>
                    <a:pt x="492861" y="622554"/>
                  </a:lnTo>
                  <a:lnTo>
                    <a:pt x="543229" y="612317"/>
                  </a:lnTo>
                  <a:lnTo>
                    <a:pt x="584466" y="584454"/>
                  </a:lnTo>
                  <a:lnTo>
                    <a:pt x="611301" y="544728"/>
                  </a:lnTo>
                  <a:lnTo>
                    <a:pt x="612330" y="543204"/>
                  </a:lnTo>
                  <a:lnTo>
                    <a:pt x="622566" y="492848"/>
                  </a:lnTo>
                  <a:close/>
                </a:path>
                <a:path w="986154" h="986154">
                  <a:moveTo>
                    <a:pt x="985735" y="492848"/>
                  </a:moveTo>
                  <a:lnTo>
                    <a:pt x="983475" y="445350"/>
                  </a:lnTo>
                  <a:lnTo>
                    <a:pt x="976858" y="399135"/>
                  </a:lnTo>
                  <a:lnTo>
                    <a:pt x="966063" y="354418"/>
                  </a:lnTo>
                  <a:lnTo>
                    <a:pt x="951306" y="311391"/>
                  </a:lnTo>
                  <a:lnTo>
                    <a:pt x="951242" y="311251"/>
                  </a:lnTo>
                  <a:lnTo>
                    <a:pt x="932802" y="270268"/>
                  </a:lnTo>
                  <a:lnTo>
                    <a:pt x="910755" y="231254"/>
                  </a:lnTo>
                  <a:lnTo>
                    <a:pt x="885355" y="194551"/>
                  </a:lnTo>
                  <a:lnTo>
                    <a:pt x="856818" y="160362"/>
                  </a:lnTo>
                  <a:lnTo>
                    <a:pt x="825360" y="128905"/>
                  </a:lnTo>
                  <a:lnTo>
                    <a:pt x="791171" y="100368"/>
                  </a:lnTo>
                  <a:lnTo>
                    <a:pt x="754456" y="74980"/>
                  </a:lnTo>
                  <a:lnTo>
                    <a:pt x="715441" y="52920"/>
                  </a:lnTo>
                  <a:lnTo>
                    <a:pt x="674446" y="34480"/>
                  </a:lnTo>
                  <a:lnTo>
                    <a:pt x="674446" y="492848"/>
                  </a:lnTo>
                  <a:lnTo>
                    <a:pt x="668020" y="540334"/>
                  </a:lnTo>
                  <a:lnTo>
                    <a:pt x="649566" y="584314"/>
                  </a:lnTo>
                  <a:lnTo>
                    <a:pt x="621106" y="621093"/>
                  </a:lnTo>
                  <a:lnTo>
                    <a:pt x="584327" y="649541"/>
                  </a:lnTo>
                  <a:lnTo>
                    <a:pt x="540994" y="667918"/>
                  </a:lnTo>
                  <a:lnTo>
                    <a:pt x="492861" y="674433"/>
                  </a:lnTo>
                  <a:lnTo>
                    <a:pt x="444741" y="667918"/>
                  </a:lnTo>
                  <a:lnTo>
                    <a:pt x="401396" y="649541"/>
                  </a:lnTo>
                  <a:lnTo>
                    <a:pt x="364617" y="621093"/>
                  </a:lnTo>
                  <a:lnTo>
                    <a:pt x="336169" y="584314"/>
                  </a:lnTo>
                  <a:lnTo>
                    <a:pt x="317792" y="540969"/>
                  </a:lnTo>
                  <a:lnTo>
                    <a:pt x="311277" y="492848"/>
                  </a:lnTo>
                  <a:lnTo>
                    <a:pt x="317715" y="445350"/>
                  </a:lnTo>
                  <a:lnTo>
                    <a:pt x="317792" y="444715"/>
                  </a:lnTo>
                  <a:lnTo>
                    <a:pt x="336169" y="401370"/>
                  </a:lnTo>
                  <a:lnTo>
                    <a:pt x="364617" y="364591"/>
                  </a:lnTo>
                  <a:lnTo>
                    <a:pt x="401396" y="336143"/>
                  </a:lnTo>
                  <a:lnTo>
                    <a:pt x="444741" y="317766"/>
                  </a:lnTo>
                  <a:lnTo>
                    <a:pt x="492861" y="311251"/>
                  </a:lnTo>
                  <a:lnTo>
                    <a:pt x="540994" y="317766"/>
                  </a:lnTo>
                  <a:lnTo>
                    <a:pt x="584327" y="336143"/>
                  </a:lnTo>
                  <a:lnTo>
                    <a:pt x="621106" y="364591"/>
                  </a:lnTo>
                  <a:lnTo>
                    <a:pt x="649566" y="401370"/>
                  </a:lnTo>
                  <a:lnTo>
                    <a:pt x="667931" y="444715"/>
                  </a:lnTo>
                  <a:lnTo>
                    <a:pt x="674446" y="492848"/>
                  </a:lnTo>
                  <a:lnTo>
                    <a:pt x="674446" y="34480"/>
                  </a:lnTo>
                  <a:lnTo>
                    <a:pt x="631291" y="19672"/>
                  </a:lnTo>
                  <a:lnTo>
                    <a:pt x="586574" y="8877"/>
                  </a:lnTo>
                  <a:lnTo>
                    <a:pt x="540359" y="2260"/>
                  </a:lnTo>
                  <a:lnTo>
                    <a:pt x="492861" y="0"/>
                  </a:lnTo>
                  <a:lnTo>
                    <a:pt x="445376" y="2260"/>
                  </a:lnTo>
                  <a:lnTo>
                    <a:pt x="399161" y="8877"/>
                  </a:lnTo>
                  <a:lnTo>
                    <a:pt x="354444" y="19672"/>
                  </a:lnTo>
                  <a:lnTo>
                    <a:pt x="311416" y="34417"/>
                  </a:lnTo>
                  <a:lnTo>
                    <a:pt x="270294" y="52920"/>
                  </a:lnTo>
                  <a:lnTo>
                    <a:pt x="231267" y="74980"/>
                  </a:lnTo>
                  <a:lnTo>
                    <a:pt x="194564" y="100368"/>
                  </a:lnTo>
                  <a:lnTo>
                    <a:pt x="160375" y="128905"/>
                  </a:lnTo>
                  <a:lnTo>
                    <a:pt x="128917" y="160362"/>
                  </a:lnTo>
                  <a:lnTo>
                    <a:pt x="100380" y="194551"/>
                  </a:lnTo>
                  <a:lnTo>
                    <a:pt x="74980" y="231254"/>
                  </a:lnTo>
                  <a:lnTo>
                    <a:pt x="52933" y="270268"/>
                  </a:lnTo>
                  <a:lnTo>
                    <a:pt x="34480" y="311251"/>
                  </a:lnTo>
                  <a:lnTo>
                    <a:pt x="34417" y="311391"/>
                  </a:lnTo>
                  <a:lnTo>
                    <a:pt x="19672" y="354418"/>
                  </a:lnTo>
                  <a:lnTo>
                    <a:pt x="8877" y="399135"/>
                  </a:lnTo>
                  <a:lnTo>
                    <a:pt x="2336" y="444715"/>
                  </a:lnTo>
                  <a:lnTo>
                    <a:pt x="0" y="492848"/>
                  </a:lnTo>
                  <a:lnTo>
                    <a:pt x="2247" y="540334"/>
                  </a:lnTo>
                  <a:lnTo>
                    <a:pt x="8877" y="586549"/>
                  </a:lnTo>
                  <a:lnTo>
                    <a:pt x="19672" y="631266"/>
                  </a:lnTo>
                  <a:lnTo>
                    <a:pt x="34417" y="674293"/>
                  </a:lnTo>
                  <a:lnTo>
                    <a:pt x="52933" y="715429"/>
                  </a:lnTo>
                  <a:lnTo>
                    <a:pt x="74980" y="754443"/>
                  </a:lnTo>
                  <a:lnTo>
                    <a:pt x="100380" y="791159"/>
                  </a:lnTo>
                  <a:lnTo>
                    <a:pt x="128917" y="825347"/>
                  </a:lnTo>
                  <a:lnTo>
                    <a:pt x="160375" y="856805"/>
                  </a:lnTo>
                  <a:lnTo>
                    <a:pt x="194564" y="885342"/>
                  </a:lnTo>
                  <a:lnTo>
                    <a:pt x="231267" y="910742"/>
                  </a:lnTo>
                  <a:lnTo>
                    <a:pt x="270294" y="932789"/>
                  </a:lnTo>
                  <a:lnTo>
                    <a:pt x="311416" y="951306"/>
                  </a:lnTo>
                  <a:lnTo>
                    <a:pt x="354444" y="966050"/>
                  </a:lnTo>
                  <a:lnTo>
                    <a:pt x="399161" y="976845"/>
                  </a:lnTo>
                  <a:lnTo>
                    <a:pt x="445376" y="983475"/>
                  </a:lnTo>
                  <a:lnTo>
                    <a:pt x="492861" y="985723"/>
                  </a:lnTo>
                  <a:lnTo>
                    <a:pt x="540359" y="983475"/>
                  </a:lnTo>
                  <a:lnTo>
                    <a:pt x="586574" y="976845"/>
                  </a:lnTo>
                  <a:lnTo>
                    <a:pt x="631291" y="966050"/>
                  </a:lnTo>
                  <a:lnTo>
                    <a:pt x="674319" y="951306"/>
                  </a:lnTo>
                  <a:lnTo>
                    <a:pt x="715441" y="932789"/>
                  </a:lnTo>
                  <a:lnTo>
                    <a:pt x="754456" y="910742"/>
                  </a:lnTo>
                  <a:lnTo>
                    <a:pt x="791171" y="885342"/>
                  </a:lnTo>
                  <a:lnTo>
                    <a:pt x="825360" y="856805"/>
                  </a:lnTo>
                  <a:lnTo>
                    <a:pt x="856818" y="825347"/>
                  </a:lnTo>
                  <a:lnTo>
                    <a:pt x="885355" y="791159"/>
                  </a:lnTo>
                  <a:lnTo>
                    <a:pt x="910755" y="754443"/>
                  </a:lnTo>
                  <a:lnTo>
                    <a:pt x="932802" y="715429"/>
                  </a:lnTo>
                  <a:lnTo>
                    <a:pt x="951255" y="674433"/>
                  </a:lnTo>
                  <a:lnTo>
                    <a:pt x="966063" y="631266"/>
                  </a:lnTo>
                  <a:lnTo>
                    <a:pt x="976858" y="586549"/>
                  </a:lnTo>
                  <a:lnTo>
                    <a:pt x="983386" y="540969"/>
                  </a:lnTo>
                  <a:lnTo>
                    <a:pt x="983475" y="540334"/>
                  </a:lnTo>
                  <a:lnTo>
                    <a:pt x="985735" y="49284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540754" y="5217617"/>
            <a:ext cx="3362325" cy="781050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12700" marR="5080" indent="941705">
              <a:lnSpc>
                <a:spcPts val="2820"/>
              </a:lnSpc>
              <a:spcBef>
                <a:spcPts val="450"/>
              </a:spcBef>
            </a:pPr>
            <a:r>
              <a:rPr sz="2600" b="1" spc="-180" dirty="0">
                <a:solidFill>
                  <a:srgbClr val="E64722"/>
                </a:solidFill>
                <a:latin typeface="Arial"/>
                <a:cs typeface="Arial"/>
              </a:rPr>
              <a:t>CASP</a:t>
            </a:r>
            <a:r>
              <a:rPr sz="2600" b="1" spc="-50" dirty="0">
                <a:solidFill>
                  <a:srgbClr val="E64722"/>
                </a:solidFill>
                <a:latin typeface="Arial"/>
                <a:cs typeface="Arial"/>
              </a:rPr>
              <a:t> </a:t>
            </a:r>
            <a:r>
              <a:rPr sz="2600" b="1" spc="-25" dirty="0">
                <a:solidFill>
                  <a:srgbClr val="E64722"/>
                </a:solidFill>
                <a:latin typeface="Arial"/>
                <a:cs typeface="Arial"/>
              </a:rPr>
              <a:t>UK</a:t>
            </a:r>
            <a:r>
              <a:rPr sz="2600" spc="-25" dirty="0">
                <a:solidFill>
                  <a:srgbClr val="E64722"/>
                </a:solidFill>
                <a:latin typeface="Tahoma"/>
                <a:cs typeface="Tahoma"/>
              </a:rPr>
              <a:t>: </a:t>
            </a:r>
            <a:r>
              <a:rPr sz="2600" u="sng" spc="-60" dirty="0">
                <a:solidFill>
                  <a:srgbClr val="2997E2"/>
                </a:solidFill>
                <a:uFill>
                  <a:solidFill>
                    <a:srgbClr val="2997E2"/>
                  </a:solidFill>
                </a:uFill>
                <a:latin typeface="Tahoma"/>
                <a:cs typeface="Tahoma"/>
                <a:hlinkClick r:id="rId2"/>
              </a:rPr>
              <a:t>HTTPS://CASP-UK.NET/</a:t>
            </a:r>
            <a:endParaRPr sz="26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2997E2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</TotalTime>
  <Words>1105</Words>
  <Application>Microsoft Office PowerPoint</Application>
  <PresentationFormat>Widescreen</PresentationFormat>
  <Paragraphs>161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Arial</vt:lpstr>
      <vt:lpstr>Arial MT</vt:lpstr>
      <vt:lpstr>Courier New</vt:lpstr>
      <vt:lpstr>Symbol</vt:lpstr>
      <vt:lpstr>Tahoma</vt:lpstr>
      <vt:lpstr>Office Theme</vt:lpstr>
      <vt:lpstr>Critically Appraising Qualitative Research (CASP for Qualitative Studies)</vt:lpstr>
      <vt:lpstr>Learning Objectives</vt:lpstr>
      <vt:lpstr>Introduction – Critical Appraisal</vt:lpstr>
      <vt:lpstr>Why Critical Appraisal Matters?</vt:lpstr>
      <vt:lpstr>Study Designs</vt:lpstr>
      <vt:lpstr>Critical Appraisal Checklists For Different Types Of Research</vt:lpstr>
      <vt:lpstr>What is the CASP Checklist?</vt:lpstr>
      <vt:lpstr>CASP Section A – Research Aims</vt:lpstr>
      <vt:lpstr>CASP Section A: Research Aims</vt:lpstr>
      <vt:lpstr>CASP Section B: What are the results?</vt:lpstr>
      <vt:lpstr>CASP Section C: Will the results help locally?</vt:lpstr>
      <vt:lpstr>Rigour in Qualitative Research</vt:lpstr>
      <vt:lpstr>Ensuring Rigour</vt:lpstr>
      <vt:lpstr>Credibility (Internal Validity)</vt:lpstr>
      <vt:lpstr>Transferability (External Validity)</vt:lpstr>
      <vt:lpstr>Dependability (Reliability)</vt:lpstr>
      <vt:lpstr>Confirmability (Objectivity)</vt:lpstr>
      <vt:lpstr>Activity Instructions</vt:lpstr>
      <vt:lpstr>Qualitative Studies for Presentation work</vt:lpstr>
      <vt:lpstr>PowerPoint Presentation</vt:lpstr>
      <vt:lpstr>PowerPoint Presentation</vt:lpstr>
      <vt:lpstr>Group A</vt:lpstr>
      <vt:lpstr>Group B</vt:lpstr>
      <vt:lpstr>Group C</vt:lpstr>
      <vt:lpstr>Group D</vt:lpstr>
      <vt:lpstr>Discussion Questions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Kiu Sum</dc:creator>
  <cp:lastModifiedBy>Teresa Burdett</cp:lastModifiedBy>
  <cp:revision>2</cp:revision>
  <dcterms:created xsi:type="dcterms:W3CDTF">2026-04-09T14:06:21Z</dcterms:created>
  <dcterms:modified xsi:type="dcterms:W3CDTF">2026-04-09T14:31:45Z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2026-02-26T00:00:00Z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2026-04-09T00:00:00Z</vt:filetime>
  </property>
  <property fmtid="{D5CDD505-2E9C-101B-9397-08002B2CF9AE}" pid="5" name="Producer">
    <vt:lpwstr>Microsoft® PowerPoint® for Microsoft 365</vt:lpwstr>
  </property>
</Properties>
</file>