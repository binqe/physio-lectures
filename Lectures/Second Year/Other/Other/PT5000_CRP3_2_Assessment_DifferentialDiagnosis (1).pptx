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FEV1</c:v>
                </c:pt>
                <c:pt idx="1">
                  <c:v>FVC</c:v>
                </c:pt>
                <c:pt idx="2">
                  <c:v>FEV1/FVC</c:v>
                </c:pt>
                <c:pt idx="3">
                  <c:v>TLC</c:v>
                </c:pt>
                <c:pt idx="4">
                  <c:v>DLCO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19-0148-9301-3584F389BC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Restrictive (parenchymal)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FEV1</c:v>
                </c:pt>
                <c:pt idx="1">
                  <c:v>FVC</c:v>
                </c:pt>
                <c:pt idx="2">
                  <c:v>FEV1/FVC</c:v>
                </c:pt>
                <c:pt idx="3">
                  <c:v>TLC</c:v>
                </c:pt>
                <c:pt idx="4">
                  <c:v>DLCO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70</c:v>
                </c:pt>
                <c:pt idx="2">
                  <c:v>105</c:v>
                </c:pt>
                <c:pt idx="3">
                  <c:v>65</c:v>
                </c:pt>
                <c:pt idx="4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19-0148-9301-3584F389BCD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Obstructive (for contrast)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FEV1</c:v>
                </c:pt>
                <c:pt idx="1">
                  <c:v>FVC</c:v>
                </c:pt>
                <c:pt idx="2">
                  <c:v>FEV1/FVC</c:v>
                </c:pt>
                <c:pt idx="3">
                  <c:v>TLC</c:v>
                </c:pt>
                <c:pt idx="4">
                  <c:v>DLCO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</c:v>
                </c:pt>
                <c:pt idx="1">
                  <c:v>80</c:v>
                </c:pt>
                <c:pt idx="2">
                  <c:v>70</c:v>
                </c:pt>
                <c:pt idx="3">
                  <c:v>115</c:v>
                </c:pt>
                <c:pt idx="4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219-0148-9301-3584F389B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789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London Metropolitan University brand colour palette (black #231f20) and logo rules: https://www.londonmet.ac.uk/brand/guidelines/colour/
- London Metropolitan University logo rules: https://www.londonmet.ac.uk/brand/guidelines/logos/
- Logo image (PNG derived from SVG): https://upload.wikimedia.org/wikipedia/de/thumb/8/88/London_Metropolitan_University_logo.svg/1280px-London_Metropolitan_University_logo.svg.png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ERS/ATS interpretive strategies for routine lung function tests: https://publications.ersnet.org/content/erj/60/1/2101499
- ATS 6-minute walk test guideline: https://www.thoracic.org/statements/resources/pfet/sixminute.pdf
- NICE pneumonia guideline (NG250): https://www.nice.org.uk/guidance/ng250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ERS/ATS interpretive strategies for routine lung function tests: https://publications.ersnet.org/content/erj/60/1/2101499
- Restrictive lung disease overview (NCBI Bookshelf): https://www.ncbi.nlm.nih.gov/books/NBK560880/
- NICE NG250 (pneumonia): https://www.nice.org.uk/guidance/ng250
- BTS bronchiectasis guideline (airway clearance): https://thorax.bmj.com/content/thoraxjnl/74/suppl_1/1.full.pdf
- ATS 6MWT guideline: https://www.thoracic.org/statements/resources/pfet/sixminute.pdf
- ATS/ERS pulmonary rehabilitation statement: https://www.thoracic.org/statements/resources/respiratory-disease-adults/atserspr0606.pdf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ATS 6-minute walk test guideline: https://www.thoracic.org/statements/resources/pfet/sixminute.pdf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ERS/ATS interpretive strategies: https://publications.ersnet.org/content/erj/60/1/2101499
- Restrictive pattern confirmation with TLC: https://www.ncbi.nlm.nih.gov/books/NBK560880/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NICE NG250 (diagnosis, assessment, microbiology approach): https://www.nice.org.uk/guidance/ng250
- ERS/ATS interpretive strategies (DLCO/volumes): https://publications.ersnet.org/content/erj/60/1/2101499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NICE NG250 recommendations and CURB-65 box: https://www.nice.org.uk/guidance/ng250/chapter/Recommendations
- NICE NG250 visual summary (CAP adults presenting to hospital): https://www.nice.org.uk/guidance/ng250/resources/visual-summary-community-acquired-pneumonia-adults-presenting-to-hospital-pdf-15434376301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ERS/ATS interpretive strategies: https://publications.ersnet.org/content/erj/60/1/2101499
- ATS 6MWT statement PDF: https://www.thoracic.org/statements/resources/pfet/sixminute.pdf
- NICE NG250: https://www.nice.org.uk/guidance/ng250
- BTS/ACPRC physiotherapy guideline PDF: https://www.brit-thoracic.org.uk/document-library/guidelines/physiotherapy/btsacprc-guidelines-for-physiotherapy-management-of-the-adult-medical-spontaneously-breathing-patient/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ERS/ATS interpretive strategies: https://publications.ersnet.org/content/erj/60/1/2101499
- ATS 6MWT statement PDF: https://www.thoracic.org/statements/resources/pfet/sixminute.pdf
- NICE NG250: https://www.nice.org.uk/guidance/ng250
- BTS/ACPRC physiotherapy guideline PDF: https://www.brit-thoracic.org.uk/document-library/guidelines/physiotherapy/btsacprc-guidelines-for-physiotherapy-management-of-the-adult-medical-spontaneously-breathing-patient/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0"/>
            <a:ext cx="164592" cy="6858000"/>
          </a:xfrm>
          <a:prstGeom prst="rect">
            <a:avLst/>
          </a:prstGeom>
          <a:solidFill>
            <a:srgbClr val="0AAA87"/>
          </a:solidFill>
          <a:ln w="12700">
            <a:solidFill>
              <a:srgbClr val="0AAA87"/>
            </a:solidFill>
            <a:prstDash val="solid"/>
          </a:ln>
        </p:spPr>
      </p:sp>
      <p:pic>
        <p:nvPicPr>
          <p:cNvPr id="5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35" y="502920"/>
            <a:ext cx="187133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1051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London Metropolitan University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09160" y="135331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PT5000 · Cardiorespiratory Practice 3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09160" y="1764792"/>
            <a:ext cx="7178040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2011680"/>
            <a:ext cx="7178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Differential Diagnosis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709160" y="3520439"/>
            <a:ext cx="7178040" cy="1252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Restrictive &amp; infective lung disease </a:t>
            </a:r>
          </a:p>
          <a:p>
            <a:pPr marL="0" indent="0">
              <a:buNone/>
            </a:pPr>
            <a:endParaRPr lang="en-US" sz="1600" dirty="0">
              <a:solidFill>
                <a:srgbClr val="002D6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6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6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Kola </a:t>
            </a:r>
            <a:r>
              <a:rPr lang="en-US" sz="1600" b="1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Akinlabi,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BSc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(Hons), MSc Adv.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cardiorespi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(UCL),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Pgcet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NMP, MPhil, PhD</a:t>
            </a:r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Clinical Lead Respiratory,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Pulm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Rehab and Long COVID </a:t>
            </a:r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CLCH NHS Trust </a:t>
            </a:r>
          </a:p>
          <a:p>
            <a:pPr marL="0" indent="0">
              <a:buNone/>
            </a:pPr>
            <a:endParaRPr lang="en-US" sz="1600" dirty="0">
              <a:solidFill>
                <a:srgbClr val="002D6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002D6D"/>
              </a:solidFill>
              <a:latin typeface="Aptos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92040" y="521208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11:00–12:00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5212080"/>
            <a:ext cx="3063240" cy="1051560"/>
          </a:xfrm>
          <a:prstGeom prst="roundRect">
            <a:avLst/>
          </a:prstGeom>
          <a:solidFill>
            <a:srgbClr val="0AAA87"/>
          </a:solidFill>
          <a:ln w="12700">
            <a:solidFill>
              <a:srgbClr val="0AAA8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3218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BSc Year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Pack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11:00–12:00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051560"/>
            <a:ext cx="11091672" cy="5120640"/>
          </a:xfrm>
          <a:prstGeom prst="rect">
            <a:avLst/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234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 the end of this session, you should be able to: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173736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a respiratory assessment using subjective + objective + investigations.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and justify appropriate outcome measures (symptoms and function).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common investigations: spirometry, lung volumes, DLCO, ABG, CXR/CT.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clinical reasoning to generate and narrow a differential diagnosis for dyspnoea/cough.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framework: what do we need to know?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11:00–12:00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Subjective assessment (history)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Presenting symptoms: dyspnoea, cough (dry vs productive), chest pain, haemoptysis, fever.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and triggers: gradual vs acute; recent infection contacts; aspiration risk.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Exposures: smoking/vaping, occupational (dusts), drugs (e.g., amiodarone), birds/moulds.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history: ILD, bronchiectasis, immunosuppression, cardiac disease, neuromuscular weakness.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Function: ADLs, stairs, sleep, fatigue; baseline vs current mobility.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assessment (bedside)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Observation: posture, accessory muscle use, breathing pattern, ability to speak, cough effectiveness.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Vitals: RR, HR, BP, temperature; oxygen delivery device and FiO2/flow.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Oxygenation/ventilation: SpO2 trends; consider ABG if hypercapnia risk.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Chest assessment: expansion, palpation, percussion (where trained), auscultation (crackles, bronchial sounds).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Mobility screen: sit-to-stand, short walk test, exertional desaturation response.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 measures (choose what answers your question)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11:00–12:00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Symptoms / health status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Dyspnoea: Borg RPE / Borg dyspnoea; mMRC (chronic breathlessness).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Cough/sputum: volume, colour, viscosity; patient-reported ease of clearance.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Fatigue and activity: PROMs or simple activity diaries in chronic disease.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of life: disease-specific tools where available (e.g., bronchiectasis QoL).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capacity / function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6-minute walk test (6MWT): standardised protocol; monitor SpO2, HR, symptoms.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 Shuttle Walk Test (ISWT) or Endurance Shuttle (ESWT) where used locally.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1-minute sit-to-stand or 30s sit-to-stand for rapid screening.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Inpatient mobility: ICU/ward functional measures; gait speed if safe.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Pulmonary function patterns (overview)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11:00–12:00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Indicative patterns (interpret in context; confirm restriction with lung volumes).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1325880"/>
            <a:ext cx="108813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10" name="Chart 0"/>
          <p:cNvGraphicFramePr/>
          <p:nvPr/>
        </p:nvGraphicFramePr>
        <p:xfrm>
          <a:off x="960120" y="1572768"/>
          <a:ext cx="1042416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960120" y="57150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Notes: (1) Restriction = ↓TLC with preserved ratio; (2) DLCO tends to fall in parenchymal ILD, but may be normal in extra-pulmonary restriction.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Investigations: what you might see (and why it matters)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11:00–12:00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Respiratory investigations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Spirometry + lung volumes + DLCO: confirm restriction and suggest parenchymal vs extra-pulmonary patterns.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Imaging: CXR for consolidation; HRCT for ILD patterns and extent; ultrasound as locally available.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ABG/VBG: oxygenation and ventilation; identify hypercapnia and acid–base issues.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Microbiology: sputum culture, viral swabs where indicated (esp. moderate/high severity).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Differential diagnosis “watch-outs”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Cardiac causes (HF, ACS) can mimic breathlessness + crackles.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Pulmonary embolism: pleuritic pain, tachycardia, disproportionate hypoxia.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Anaemia/deconditioning: dyspnoea with normal lung exam in some cases.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Upper airway dysfunction (VCD), anxiety/hyperventilation in select presentations.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Community-acquired pneumonia: severity stratification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11:00–12:00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960120"/>
            <a:ext cx="10881360" cy="548640"/>
          </a:xfrm>
          <a:prstGeom prst="roundRect">
            <a:avLst/>
          </a:prstGeom>
          <a:solidFill>
            <a:srgbClr val="0AAA87"/>
          </a:solidFill>
          <a:ln w="12700">
            <a:solidFill>
              <a:srgbClr val="0AAA87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106984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CURB-65 (hospital) – use with clinical judgement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05840" y="155448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NICE NG250 (2025) retains CURB-65 as a validated tool for adult CAP in hospital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1965960"/>
            <a:ext cx="2011680" cy="114300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60120" y="2606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(AMTS ≤8)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54680" y="1965960"/>
            <a:ext cx="2011680" cy="114300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54680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291840" y="2606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Urea &gt;7 mmol/L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1965960"/>
            <a:ext cx="2011680" cy="114300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0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5623560" y="2606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Respiratory rate ≥30/min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18120" y="1965960"/>
            <a:ext cx="2011680" cy="114300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7955280" y="2606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 &lt;90 systolic or ≤60 diastolic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149840" y="1965960"/>
            <a:ext cx="2011680" cy="114300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149840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10287000" y="2606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≥65 years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2960" y="3337560"/>
            <a:ext cx="108813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097280" y="35204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severity bands (NG250 visual summary):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97280" y="388620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0–1: usually low severity → consider home management + safety-netting (if suitable).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2: usually moderate severity → consider virtual ward / hospital-at-home / inpatient (shared decision, system-dependent).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≥3: usually high severity → hospital admission; consider critical care assessment as appropriate.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Physio implication: prioritise early mobilisation, oxygenation monitoring, and escalation if deteriorating.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Differential diagnosis: dyspnoea + cough (quick map)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11:00–12:00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12984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contrasts (high-yield)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05840" y="1737360"/>
            <a:ext cx="10332720" cy="512064"/>
          </a:xfrm>
          <a:prstGeom prst="rect">
            <a:avLst/>
          </a:prstGeom>
          <a:solidFill>
            <a:srgbClr val="F5F6F7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1847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89120" y="1847088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features / examples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05840" y="2249424"/>
            <a:ext cx="10332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234086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Dry cough + fine crackles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389120" y="2340864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ILD/fibrosis; check exposure history, HRCT, DLCO.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05840" y="2761488"/>
            <a:ext cx="10332720" cy="512064"/>
          </a:xfrm>
          <a:prstGeom prst="rect">
            <a:avLst/>
          </a:prstGeom>
          <a:solidFill>
            <a:srgbClr val="FAFAFA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43000" y="28529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Fever + productive cough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389120" y="2852928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pneumonia/exacerbation; check vitals, CXR, microbiology; assess severity.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05840" y="3273552"/>
            <a:ext cx="10332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3364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Copious sputum + recurrent infections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389120" y="3364992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bronchiectasis; consider ACT needs and culture history.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05840" y="3785616"/>
            <a:ext cx="10332720" cy="512064"/>
          </a:xfrm>
          <a:prstGeom prst="rect">
            <a:avLst/>
          </a:prstGeom>
          <a:solidFill>
            <a:srgbClr val="FAFAFA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43000" y="38770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Orthopnoea + oedema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0" y="3877056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heart failure; BNP/echo if indicated.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05840" y="4297680"/>
            <a:ext cx="10332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43000" y="4389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Sudden pleuritic pain + tachycardia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389120" y="4389120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PE; urgent medical review.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005840" y="4809744"/>
            <a:ext cx="10332720" cy="512064"/>
          </a:xfrm>
          <a:prstGeom prst="rect">
            <a:avLst/>
          </a:prstGeom>
          <a:solidFill>
            <a:srgbClr val="FAFAFA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43000" y="490118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Hypercapnia risk features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389120" y="4901184"/>
            <a:ext cx="6812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neuromuscular/chest wall/obesity hypoventilation; ABG/VBG; cough augmentation.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references (selected)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11:00–12:00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371600"/>
            <a:ext cx="1042416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Stanojevic S, et al. ERS/ATS technical standard on interpretive strategies for routine lung function tests. Eur Respir J. 2022;60:2101499.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Committee on Proficiency Standards. ATS statement: guidelines for the six-minute walk test. Am J Respir Crit Care Med. 2002;166:111–117.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NICE. Pneumonia: diagnosis and management. NG250 (updated 2025).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Martinez-Pitre PJ, et al. Restrictive Lung Disease. StatPearls (updated 2023).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 JB, Luks AM. West's Respiratory Physiology: The Essentials. 11th ed. Wolters Kluwer; 2021.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Broaddus VC, et al. Murray &amp; Nadel's Textbook of Respiratory Medicine. 7th ed. Elsevier; 2022.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Pryor JA, Prasad SA. Cardiorespiratory Physiotherapy: Adults and Paediatrics. 5th ed. Elsevier; 2016.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Hillegass E. Essentials of Cardiopulmonary Physical Therapy. 5th ed. Elsevier; 2022.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resources &amp; practice tasks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11:00–12:00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3258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self-study (60–90 min)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1737360"/>
            <a:ext cx="104241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Do: set up a 6MWT track and run a mock test with a partner; practice standardised instructions and recording.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Interpret: 3 example CURB-65 scenarios (decide severity band and escalation).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Read: BTS/ACPRC (2009) guideline sections on restrictive conditions and bronchiectasis (for physio-relevant assessment points).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Reflect: write a 1-page differential for “dyspnoea + cough” using the framework from today.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2036</Words>
  <Application>Microsoft Macintosh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CRP 3: Assessment &amp; Differential Diagnosis</dc:title>
  <dc:subject>PT5000 CRP3 Lecture 2</dc:subject>
  <dc:creator>London Metropolitan University (generated)</dc:creator>
  <cp:lastModifiedBy>Kola akinlabi</cp:lastModifiedBy>
  <cp:revision>2</cp:revision>
  <dcterms:created xsi:type="dcterms:W3CDTF">2026-01-26T00:51:17Z</dcterms:created>
  <dcterms:modified xsi:type="dcterms:W3CDTF">2026-01-27T15:32:50Z</dcterms:modified>
</cp:coreProperties>
</file>