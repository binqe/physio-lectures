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3"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5"/>
    <p:restoredTop sz="94680"/>
  </p:normalViewPr>
  <p:slideViewPr>
    <p:cSldViewPr snapToGrid="0">
      <p:cViewPr>
        <p:scale>
          <a:sx n="61" d="100"/>
          <a:sy n="61" d="100"/>
        </p:scale>
        <p:origin x="643" y="7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AF88-8504-452D-3441-474E894C9B2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3B1690F-0B11-1E83-578A-EC7CACB1A5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27C0AE6-2F8A-0657-7780-8B7A2E6CC33C}"/>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5" name="Footer Placeholder 4">
            <a:extLst>
              <a:ext uri="{FF2B5EF4-FFF2-40B4-BE49-F238E27FC236}">
                <a16:creationId xmlns:a16="http://schemas.microsoft.com/office/drawing/2014/main" id="{6863F510-B88C-715D-4E88-2503817305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4AFA6-ABD1-7F9F-34C2-858A9A169BB2}"/>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034110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DB8B9-6E94-CAF2-259D-D34543DC95C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31E165E-40D1-7CDB-B37E-A8D6427519E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1E92C84-405E-4893-9A64-9EC6989E7B84}"/>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5" name="Footer Placeholder 4">
            <a:extLst>
              <a:ext uri="{FF2B5EF4-FFF2-40B4-BE49-F238E27FC236}">
                <a16:creationId xmlns:a16="http://schemas.microsoft.com/office/drawing/2014/main" id="{83A1462A-56A8-3AC6-CB59-F930AC6D32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772FB-0DDD-1C7F-EA98-B347D9E30809}"/>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3174959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14215-CEDD-EDB2-2CF1-1895BCC05F5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7EBB478-9C73-E6AD-52F3-DBC8037324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3F2BD4C-33FA-AF57-89B6-168BC48F332C}"/>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5" name="Footer Placeholder 4">
            <a:extLst>
              <a:ext uri="{FF2B5EF4-FFF2-40B4-BE49-F238E27FC236}">
                <a16:creationId xmlns:a16="http://schemas.microsoft.com/office/drawing/2014/main" id="{150712F0-B3E5-B6EA-A57B-925F425F5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591C4-0BB8-8DE7-58DD-EFE3E24FA4DB}"/>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4270082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F6BF7-CF8E-4B30-D9E6-CD09C52C0A7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100686C-885B-D9ED-3873-EC121909453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450FBEB-99E8-181C-52A3-34265C55C5D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9FD3654-0493-D73A-9319-95BA8956EA3D}"/>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6" name="Footer Placeholder 5">
            <a:extLst>
              <a:ext uri="{FF2B5EF4-FFF2-40B4-BE49-F238E27FC236}">
                <a16:creationId xmlns:a16="http://schemas.microsoft.com/office/drawing/2014/main" id="{9CB16B0F-58DF-F22D-632F-52405EDAE0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4CD11-2CC6-8852-EE13-3643401FE8ED}"/>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4095217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59054-FA2B-7F67-6578-F27202805E8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0AD6745-C0EF-665B-F7EA-4CF726CABF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DF5E59-33AB-3448-0FCE-99B66838D0D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7330CBC-E04F-ED10-FA49-079A7FE19C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11AB0A1-9BE8-6B28-5D1B-609D2D96F8D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AE0D7D7-5602-5A4F-9847-6C0212342915}"/>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8" name="Footer Placeholder 7">
            <a:extLst>
              <a:ext uri="{FF2B5EF4-FFF2-40B4-BE49-F238E27FC236}">
                <a16:creationId xmlns:a16="http://schemas.microsoft.com/office/drawing/2014/main" id="{5B2274DF-F34A-8F84-C665-84467AA2D5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9CE3D0-A1EE-DD6B-7510-6ECD4EBCCF8F}"/>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494241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DD99D-CC0F-AE30-8323-367C1F8DBD1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F539C88-5D6F-3F0F-4E07-C5D03C2AC3B6}"/>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4" name="Footer Placeholder 3">
            <a:extLst>
              <a:ext uri="{FF2B5EF4-FFF2-40B4-BE49-F238E27FC236}">
                <a16:creationId xmlns:a16="http://schemas.microsoft.com/office/drawing/2014/main" id="{417004F2-8B09-96CB-7AEE-AEDB3FE348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900E66-4E61-2312-883F-E0669E69123A}"/>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592458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DBB31A-3117-7254-17A0-EFAC8746C042}"/>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3" name="Footer Placeholder 2">
            <a:extLst>
              <a:ext uri="{FF2B5EF4-FFF2-40B4-BE49-F238E27FC236}">
                <a16:creationId xmlns:a16="http://schemas.microsoft.com/office/drawing/2014/main" id="{12827053-DDCC-E45E-58A2-7373DE6EA9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C9A85F-A4F9-6FF4-BAFD-942E1EB6B53A}"/>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964438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C3D04-B43A-EE1E-228B-0FEA3817BEB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FAB70EA-BE74-9ACE-1059-419479CB6A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7B69936-9EDD-90A6-BEAA-5672584E16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9003E12-1ABC-F4EA-4714-4192B82E0803}"/>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6" name="Footer Placeholder 5">
            <a:extLst>
              <a:ext uri="{FF2B5EF4-FFF2-40B4-BE49-F238E27FC236}">
                <a16:creationId xmlns:a16="http://schemas.microsoft.com/office/drawing/2014/main" id="{631DD0EF-A394-4C2D-A5B0-3D178057F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FC242D-5C5C-1CBC-0F17-DE74421F6249}"/>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352044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463B0-0CEA-AEF3-1B9A-5CC410A03E1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E759454-3376-3DBF-C45C-24729F61EB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8B0341-6DEE-8837-72F3-245C9D1EF0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BD56371-34E5-F748-4A3C-63004D84923F}"/>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6" name="Footer Placeholder 5">
            <a:extLst>
              <a:ext uri="{FF2B5EF4-FFF2-40B4-BE49-F238E27FC236}">
                <a16:creationId xmlns:a16="http://schemas.microsoft.com/office/drawing/2014/main" id="{0B7F2406-83F9-2F70-CB4A-98FDF0EFDD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50D87E-4628-7556-A871-B26DA3F66093}"/>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968737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D2A0-B785-D215-1D7C-97596A9C2E4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95B02F7-5661-0461-433D-03F08D3083D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384293-5F84-B2C0-EF34-CE0D05081777}"/>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5" name="Footer Placeholder 4">
            <a:extLst>
              <a:ext uri="{FF2B5EF4-FFF2-40B4-BE49-F238E27FC236}">
                <a16:creationId xmlns:a16="http://schemas.microsoft.com/office/drawing/2014/main" id="{B4507B80-AEF8-9381-A3C6-3F9363C78F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F3D35D-B409-42B6-289D-25041F7BD58D}"/>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29832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68EA8D-7C14-9F87-6821-D955E4E5B84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A91272A-A426-3CBA-7C8A-E4395A34483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8CCB0B-91C0-2834-4B05-A2ABDBB3A0AC}"/>
              </a:ext>
            </a:extLst>
          </p:cNvPr>
          <p:cNvSpPr>
            <a:spLocks noGrp="1"/>
          </p:cNvSpPr>
          <p:nvPr>
            <p:ph type="dt" sz="half" idx="10"/>
          </p:nvPr>
        </p:nvSpPr>
        <p:spPr/>
        <p:txBody>
          <a:bodyPr/>
          <a:lstStyle/>
          <a:p>
            <a:fld id="{FEF25406-4315-AE41-8FA3-30F7C6C8C0D6}" type="datetimeFigureOut">
              <a:rPr lang="en-US" smtClean="0"/>
              <a:t>12/1/2025</a:t>
            </a:fld>
            <a:endParaRPr lang="en-US"/>
          </a:p>
        </p:txBody>
      </p:sp>
      <p:sp>
        <p:nvSpPr>
          <p:cNvPr id="5" name="Footer Placeholder 4">
            <a:extLst>
              <a:ext uri="{FF2B5EF4-FFF2-40B4-BE49-F238E27FC236}">
                <a16:creationId xmlns:a16="http://schemas.microsoft.com/office/drawing/2014/main" id="{6EAE5CDA-B698-053B-7B23-084C7EEECA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466E9B-47A4-58B1-AB9A-CCB190E78F24}"/>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4181592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33A0F3-9ECF-FA95-A242-1C007182EB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A71F5DF-2A03-C9BD-96A8-D367CFF7AA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EDC9B13-B97C-771A-446C-A84088EC33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F25406-4315-AE41-8FA3-30F7C6C8C0D6}" type="datetimeFigureOut">
              <a:rPr lang="en-US" smtClean="0"/>
              <a:t>12/1/2025</a:t>
            </a:fld>
            <a:endParaRPr lang="en-US"/>
          </a:p>
        </p:txBody>
      </p:sp>
      <p:sp>
        <p:nvSpPr>
          <p:cNvPr id="5" name="Footer Placeholder 4">
            <a:extLst>
              <a:ext uri="{FF2B5EF4-FFF2-40B4-BE49-F238E27FC236}">
                <a16:creationId xmlns:a16="http://schemas.microsoft.com/office/drawing/2014/main" id="{AACDF308-9AFD-A24C-6AEA-48752770D9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FD5600-5A38-3205-B096-3846ABC56B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BF2FCD-45CE-334E-99D3-7850609A029E}" type="slidenum">
              <a:rPr lang="en-US" smtClean="0"/>
              <a:t>‹#›</a:t>
            </a:fld>
            <a:endParaRPr lang="en-US"/>
          </a:p>
        </p:txBody>
      </p:sp>
    </p:spTree>
    <p:extLst>
      <p:ext uri="{BB962C8B-B14F-4D97-AF65-F5344CB8AC3E}">
        <p14:creationId xmlns:p14="http://schemas.microsoft.com/office/powerpoint/2010/main" val="2995853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70372AA-12E1-4094-B31A-1B0F57FC3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Video 26" descr="Condenser Microphone">
            <a:extLst>
              <a:ext uri="{FF2B5EF4-FFF2-40B4-BE49-F238E27FC236}">
                <a16:creationId xmlns:a16="http://schemas.microsoft.com/office/drawing/2014/main" id="{6A929DD3-7CB8-BFE6-532C-686D230EEB9B}"/>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a:fillRect/>
          </a:stretch>
        </p:blipFill>
        <p:spPr>
          <a:xfrm>
            <a:off x="-6096" y="-2346"/>
            <a:ext cx="12191999" cy="6857990"/>
          </a:xfrm>
          <a:prstGeom prst="rect">
            <a:avLst/>
          </a:prstGeom>
        </p:spPr>
      </p:pic>
      <p:sp>
        <p:nvSpPr>
          <p:cNvPr id="33" name="Rectangle 32">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7" y="-2346"/>
            <a:ext cx="12191999" cy="2155484"/>
          </a:xfrm>
          <a:prstGeom prst="rect">
            <a:avLst/>
          </a:prstGeom>
          <a:gradFill flip="none" rotWithShape="1">
            <a:gsLst>
              <a:gs pos="59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534655"/>
            <a:ext cx="12191999" cy="3323345"/>
          </a:xfrm>
          <a:prstGeom prst="rect">
            <a:avLst/>
          </a:prstGeom>
          <a:gradFill flip="none" rotWithShape="1">
            <a:gsLst>
              <a:gs pos="57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B0689B-A08C-1085-3CF3-6D3D2020FC2A}"/>
              </a:ext>
            </a:extLst>
          </p:cNvPr>
          <p:cNvSpPr>
            <a:spLocks noGrp="1"/>
          </p:cNvSpPr>
          <p:nvPr>
            <p:ph type="ctrTitle"/>
          </p:nvPr>
        </p:nvSpPr>
        <p:spPr>
          <a:xfrm>
            <a:off x="321733" y="2306963"/>
            <a:ext cx="10672316" cy="3670255"/>
          </a:xfrm>
        </p:spPr>
        <p:txBody>
          <a:bodyPr anchor="b">
            <a:normAutofit/>
          </a:bodyPr>
          <a:lstStyle/>
          <a:p>
            <a:pPr algn="l"/>
            <a:r>
              <a:rPr lang="en-US" sz="5200" dirty="0">
                <a:solidFill>
                  <a:srgbClr val="FFFFFF"/>
                </a:solidFill>
              </a:rPr>
              <a:t>Reflective podcast presentation </a:t>
            </a:r>
          </a:p>
        </p:txBody>
      </p:sp>
      <p:sp>
        <p:nvSpPr>
          <p:cNvPr id="3" name="Subtitle 2">
            <a:extLst>
              <a:ext uri="{FF2B5EF4-FFF2-40B4-BE49-F238E27FC236}">
                <a16:creationId xmlns:a16="http://schemas.microsoft.com/office/drawing/2014/main" id="{76716E88-3450-B1CF-F201-BD284846A58E}"/>
              </a:ext>
            </a:extLst>
          </p:cNvPr>
          <p:cNvSpPr>
            <a:spLocks noGrp="1"/>
          </p:cNvSpPr>
          <p:nvPr>
            <p:ph type="subTitle" idx="1"/>
          </p:nvPr>
        </p:nvSpPr>
        <p:spPr>
          <a:xfrm>
            <a:off x="6099046" y="1075396"/>
            <a:ext cx="10675136" cy="1831405"/>
          </a:xfrm>
        </p:spPr>
        <p:txBody>
          <a:bodyPr anchor="t">
            <a:normAutofit/>
          </a:bodyPr>
          <a:lstStyle/>
          <a:p>
            <a:pPr algn="l"/>
            <a:r>
              <a:rPr lang="en-GB" dirty="0">
                <a:solidFill>
                  <a:srgbClr val="FFFFFF"/>
                </a:solidFill>
              </a:rPr>
              <a:t>PT5051 Professional Practice 2</a:t>
            </a:r>
            <a:br>
              <a:rPr lang="en-GB" dirty="0">
                <a:solidFill>
                  <a:srgbClr val="FFFFFF"/>
                </a:solidFill>
              </a:rPr>
            </a:br>
            <a:endParaRPr lang="en-US" dirty="0">
              <a:solidFill>
                <a:srgbClr val="FFFFFF"/>
              </a:solidFill>
            </a:endParaRPr>
          </a:p>
        </p:txBody>
      </p:sp>
    </p:spTree>
    <p:extLst>
      <p:ext uri="{BB962C8B-B14F-4D97-AF65-F5344CB8AC3E}">
        <p14:creationId xmlns:p14="http://schemas.microsoft.com/office/powerpoint/2010/main" val="376312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27"/>
                                        </p:tgtEl>
                                      </p:cBhvr>
                                    </p:cmd>
                                  </p:childTnLst>
                                </p:cTn>
                              </p:par>
                              <p:par>
                                <p:cTn id="7" presetID="10" presetClass="entr" presetSubtype="0" fill="hold" grpId="0" nodeType="withEffect">
                                  <p:stCondLst>
                                    <p:cond delay="500"/>
                                  </p:stCondLst>
                                  <p:iterate type="wd">
                                    <p:tmPct val="15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1000"/>
                                        <p:tgtEl>
                                          <p:spTgt spid="2"/>
                                        </p:tgtEl>
                                      </p:cBhvr>
                                    </p:animEffect>
                                  </p:childTnLst>
                                </p:cTn>
                              </p:par>
                              <p:par>
                                <p:cTn id="10" presetID="10" presetClass="entr" presetSubtype="0" fill="hold" grpId="0" nodeType="withEffect">
                                  <p:stCondLst>
                                    <p:cond delay="1000"/>
                                  </p:stCondLst>
                                  <p:iterate type="wd">
                                    <p:tmPct val="15000"/>
                                  </p:iterate>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 restart="whenNotActive" fill="hold" evtFilter="cancelBubble" nodeType="interactiveSeq">
                <p:stCondLst>
                  <p:cond evt="onClick" delay="0">
                    <p:tgtEl>
                      <p:spTgt spid="27"/>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7"/>
                                        </p:tgtEl>
                                      </p:cBhvr>
                                    </p:cmd>
                                  </p:childTnLst>
                                </p:cTn>
                              </p:par>
                            </p:childTnLst>
                          </p:cTn>
                        </p:par>
                      </p:childTnLst>
                    </p:cTn>
                  </p:par>
                </p:childTnLst>
              </p:cTn>
              <p:nextCondLst>
                <p:cond evt="onClick" delay="0">
                  <p:tgtEl>
                    <p:spTgt spid="27"/>
                  </p:tgtEl>
                </p:cond>
              </p:nextCondLst>
            </p:seq>
            <p:video>
              <p:cMediaNode mute="1">
                <p:cTn id="18" repeatCount="indefinite" fill="hold" display="0">
                  <p:stCondLst>
                    <p:cond delay="indefinite"/>
                  </p:stCondLst>
                </p:cTn>
                <p:tgtEl>
                  <p:spTgt spid="27"/>
                </p:tgtEl>
              </p:cMediaNode>
            </p:video>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E3FE9D-677F-78AC-142C-22299A8C2262}"/>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Introduction to the first podcast </a:t>
            </a:r>
          </a:p>
        </p:txBody>
      </p:sp>
      <p:sp>
        <p:nvSpPr>
          <p:cNvPr id="22" name="Rectangle 2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0B76C5E7-EB7A-2FB3-9332-9D0DFC27F556}"/>
              </a:ext>
            </a:extLst>
          </p:cNvPr>
          <p:cNvSpPr>
            <a:spLocks noGrp="1" noChangeArrowheads="1"/>
          </p:cNvSpPr>
          <p:nvPr>
            <p:ph idx="1"/>
          </p:nvPr>
        </p:nvSpPr>
        <p:spPr bwMode="auto">
          <a:xfrm>
            <a:off x="1155548" y="2217343"/>
            <a:ext cx="9880893" cy="3959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2200" b="0" i="0" u="none" strike="noStrike" cap="none" normalizeH="0" baseline="0">
                <a:ln>
                  <a:noFill/>
                </a:ln>
                <a:effectLst/>
                <a:latin typeface="Aptos" panose="020B0004020202020204" pitchFamily="34" charset="0"/>
              </a:rPr>
              <a:t>The BBC World Service “</a:t>
            </a:r>
            <a:r>
              <a:rPr kumimoji="0" lang="en-US" altLang="en-US" sz="2200" b="0" i="1" u="none" strike="noStrike" cap="none" normalizeH="0" baseline="0">
                <a:ln>
                  <a:noFill/>
                </a:ln>
                <a:effectLst/>
                <a:latin typeface="Aptos" panose="020B0004020202020204" pitchFamily="34" charset="0"/>
              </a:rPr>
              <a:t>Health Talks” </a:t>
            </a:r>
            <a:r>
              <a:rPr kumimoji="0" lang="en-US" altLang="en-US" sz="2200" b="0" i="0" u="none" strike="noStrike" cap="none" normalizeH="0" baseline="0">
                <a:ln>
                  <a:noFill/>
                </a:ln>
                <a:effectLst/>
                <a:latin typeface="Aptos" panose="020B0004020202020204" pitchFamily="34" charset="0"/>
              </a:rPr>
              <a:t>podcast </a:t>
            </a:r>
            <a:r>
              <a:rPr lang="en-US" altLang="en-US" sz="2200">
                <a:latin typeface="Aptos" panose="020B0004020202020204" pitchFamily="34" charset="0"/>
              </a:rPr>
              <a:t>(2000-2001) </a:t>
            </a:r>
            <a:r>
              <a:rPr kumimoji="0" lang="en-US" altLang="en-US" sz="2200" b="0" i="0" u="none" strike="noStrike" cap="none" normalizeH="0" baseline="0">
                <a:ln>
                  <a:noFill/>
                </a:ln>
                <a:effectLst/>
                <a:latin typeface="Aptos" panose="020B0004020202020204" pitchFamily="34" charset="0"/>
              </a:rPr>
              <a:t>: this podcast talks about different healthcare issues abroad that range from global healthcare inequilities like the Cuban healthcare paradox which goes into detail about the trade embargo that was placed on cuba and the effect it had on public healthcare, public health policies which had to be created to counter the publics growing fear of pollution in Tehran and the effect it had on the rising rates of CRP conditions, CV conditions</a:t>
            </a:r>
            <a:r>
              <a:rPr lang="en-US" altLang="en-US" sz="2200">
                <a:latin typeface="Aptos" panose="020B0004020202020204" pitchFamily="34" charset="0"/>
              </a:rPr>
              <a:t> and other health related problems, and lastly social/environmental determinants of health which covers the rising obesity rates in california at the time and the various factors that contribute to the rise such as, the cultural dominance of fast food, sedentary lifestyles, “super sized portions” and other socioeconomic factors.</a:t>
            </a:r>
            <a:br>
              <a:rPr kumimoji="0" lang="en-US" altLang="en-US" sz="2200" b="0" i="0" u="none" strike="noStrike" cap="none" normalizeH="0" baseline="0">
                <a:ln>
                  <a:noFill/>
                </a:ln>
                <a:effectLst/>
                <a:latin typeface="Arial" panose="020B0604020202020204" pitchFamily="34" charset="0"/>
              </a:rPr>
            </a:br>
            <a:endParaRPr kumimoji="0" lang="en-US" altLang="en-US" sz="22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2437198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51A943-F94D-B2FA-9EF7-A4FFCC40A3D4}"/>
              </a:ext>
            </a:extLst>
          </p:cNvPr>
          <p:cNvSpPr>
            <a:spLocks noGrp="1"/>
          </p:cNvSpPr>
          <p:nvPr>
            <p:ph type="title"/>
          </p:nvPr>
        </p:nvSpPr>
        <p:spPr>
          <a:xfrm>
            <a:off x="1156851" y="637762"/>
            <a:ext cx="9888496" cy="1520377"/>
          </a:xfrm>
        </p:spPr>
        <p:txBody>
          <a:bodyPr anchor="ctr">
            <a:normAutofit/>
          </a:bodyPr>
          <a:lstStyle/>
          <a:p>
            <a:r>
              <a:rPr lang="en-US" dirty="0">
                <a:solidFill>
                  <a:schemeClr val="bg1"/>
                </a:solidFill>
              </a:rPr>
              <a:t>Introduction to the second podcast </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17A9C2-5540-E970-048F-8A7CF5929C19}"/>
              </a:ext>
            </a:extLst>
          </p:cNvPr>
          <p:cNvSpPr>
            <a:spLocks noGrp="1"/>
          </p:cNvSpPr>
          <p:nvPr>
            <p:ph idx="1"/>
          </p:nvPr>
        </p:nvSpPr>
        <p:spPr>
          <a:xfrm>
            <a:off x="1155559" y="3100283"/>
            <a:ext cx="9889788" cy="3076679"/>
          </a:xfrm>
        </p:spPr>
        <p:txBody>
          <a:bodyPr>
            <a:normAutofit/>
          </a:bodyPr>
          <a:lstStyle/>
          <a:p>
            <a:r>
              <a:rPr lang="en-GB" sz="2400"/>
              <a:t>The ZOE Science and Nutrition podcast is about translating the latest health, nutrition, and gut health research into actionable advice for listeners. the podcast features top scientists who explain complex topics in an accessible way to help people improve their weight and overall health. Topics covered are wide-ranging, including things like blood sugar, inflammation, and the effects of different foods on the body. </a:t>
            </a:r>
            <a:endParaRPr lang="en-US" sz="2400"/>
          </a:p>
        </p:txBody>
      </p:sp>
    </p:spTree>
    <p:extLst>
      <p:ext uri="{BB962C8B-B14F-4D97-AF65-F5344CB8AC3E}">
        <p14:creationId xmlns:p14="http://schemas.microsoft.com/office/powerpoint/2010/main" val="971252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9917-F3F5-8E9B-79CC-AA4969C6D1D0}"/>
              </a:ext>
            </a:extLst>
          </p:cNvPr>
          <p:cNvSpPr>
            <a:spLocks noGrp="1"/>
          </p:cNvSpPr>
          <p:nvPr>
            <p:ph type="title"/>
          </p:nvPr>
        </p:nvSpPr>
        <p:spPr/>
        <p:txBody>
          <a:bodyPr>
            <a:normAutofit/>
          </a:bodyPr>
          <a:lstStyle/>
          <a:p>
            <a:r>
              <a:rPr lang="en-GB" sz="4000" dirty="0"/>
              <a:t>Communication Styles</a:t>
            </a:r>
          </a:p>
        </p:txBody>
      </p:sp>
      <p:sp>
        <p:nvSpPr>
          <p:cNvPr id="3" name="Content Placeholder 2">
            <a:extLst>
              <a:ext uri="{FF2B5EF4-FFF2-40B4-BE49-F238E27FC236}">
                <a16:creationId xmlns:a16="http://schemas.microsoft.com/office/drawing/2014/main" id="{98643E48-BF84-C652-C05A-6648FCF9CB0B}"/>
              </a:ext>
            </a:extLst>
          </p:cNvPr>
          <p:cNvSpPr>
            <a:spLocks noGrp="1"/>
          </p:cNvSpPr>
          <p:nvPr>
            <p:ph idx="1"/>
          </p:nvPr>
        </p:nvSpPr>
        <p:spPr/>
        <p:txBody>
          <a:bodyPr>
            <a:normAutofit fontScale="85000" lnSpcReduction="20000"/>
          </a:bodyPr>
          <a:lstStyle/>
          <a:p>
            <a:pPr marL="0" indent="0">
              <a:buNone/>
            </a:pPr>
            <a:r>
              <a:rPr lang="en-GB" dirty="0"/>
              <a:t>BBC Health Check</a:t>
            </a:r>
          </a:p>
          <a:p>
            <a:r>
              <a:rPr lang="en-GB" dirty="0"/>
              <a:t>Formal Journalistic tone</a:t>
            </a:r>
          </a:p>
          <a:p>
            <a:r>
              <a:rPr lang="en-GB" dirty="0"/>
              <a:t>Led by the presenter with interviews and expert commentary</a:t>
            </a:r>
          </a:p>
          <a:p>
            <a:r>
              <a:rPr lang="en-GB" dirty="0"/>
              <a:t>Factual segments</a:t>
            </a:r>
          </a:p>
          <a:p>
            <a:r>
              <a:rPr lang="en-GB" dirty="0"/>
              <a:t>Focus on global health issues and statistics</a:t>
            </a:r>
          </a:p>
          <a:p>
            <a:endParaRPr lang="en-GB" dirty="0"/>
          </a:p>
          <a:p>
            <a:pPr marL="0" indent="0">
              <a:buNone/>
            </a:pPr>
            <a:r>
              <a:rPr lang="en-GB" dirty="0"/>
              <a:t>ZOE Science &amp; Nutrition</a:t>
            </a:r>
          </a:p>
          <a:p>
            <a:r>
              <a:rPr lang="en-GB" dirty="0"/>
              <a:t>Conversational and engaging</a:t>
            </a:r>
          </a:p>
          <a:p>
            <a:r>
              <a:rPr lang="en-GB" dirty="0"/>
              <a:t>Mix of a host, scientist, journalist</a:t>
            </a:r>
          </a:p>
          <a:p>
            <a:r>
              <a:rPr lang="en-GB" dirty="0"/>
              <a:t>Use of storytelling, personal experiences and analogies</a:t>
            </a:r>
          </a:p>
          <a:p>
            <a:r>
              <a:rPr lang="en-GB" dirty="0"/>
              <a:t>Encourages dialogue and curiosity</a:t>
            </a:r>
          </a:p>
        </p:txBody>
      </p:sp>
    </p:spTree>
    <p:extLst>
      <p:ext uri="{BB962C8B-B14F-4D97-AF65-F5344CB8AC3E}">
        <p14:creationId xmlns:p14="http://schemas.microsoft.com/office/powerpoint/2010/main" val="33798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EDA21-3364-B730-5D8B-2576F13D5976}"/>
              </a:ext>
            </a:extLst>
          </p:cNvPr>
          <p:cNvSpPr>
            <a:spLocks noGrp="1"/>
          </p:cNvSpPr>
          <p:nvPr>
            <p:ph type="title"/>
          </p:nvPr>
        </p:nvSpPr>
        <p:spPr/>
        <p:txBody>
          <a:bodyPr/>
          <a:lstStyle/>
          <a:p>
            <a:r>
              <a:rPr lang="en-GB" dirty="0"/>
              <a:t>Behaviour Modification Techniques</a:t>
            </a:r>
          </a:p>
        </p:txBody>
      </p:sp>
      <p:sp>
        <p:nvSpPr>
          <p:cNvPr id="3" name="Content Placeholder 2">
            <a:extLst>
              <a:ext uri="{FF2B5EF4-FFF2-40B4-BE49-F238E27FC236}">
                <a16:creationId xmlns:a16="http://schemas.microsoft.com/office/drawing/2014/main" id="{E90E169B-2CA8-4368-7997-3C4426F681DC}"/>
              </a:ext>
            </a:extLst>
          </p:cNvPr>
          <p:cNvSpPr>
            <a:spLocks noGrp="1"/>
          </p:cNvSpPr>
          <p:nvPr>
            <p:ph idx="1"/>
          </p:nvPr>
        </p:nvSpPr>
        <p:spPr>
          <a:xfrm>
            <a:off x="838200" y="1600155"/>
            <a:ext cx="10515600" cy="5113795"/>
          </a:xfrm>
        </p:spPr>
        <p:txBody>
          <a:bodyPr>
            <a:normAutofit fontScale="85000" lnSpcReduction="20000"/>
          </a:bodyPr>
          <a:lstStyle/>
          <a:p>
            <a:pPr marL="0" indent="0">
              <a:buNone/>
            </a:pPr>
            <a:r>
              <a:rPr lang="en-GB" dirty="0"/>
              <a:t>BBC Health Check</a:t>
            </a:r>
          </a:p>
          <a:p>
            <a:r>
              <a:rPr lang="en-GB" dirty="0"/>
              <a:t>Focused on informing and raising awareness</a:t>
            </a:r>
          </a:p>
          <a:p>
            <a:r>
              <a:rPr lang="en-GB" dirty="0"/>
              <a:t>Use experts to encourage reflection</a:t>
            </a:r>
          </a:p>
          <a:p>
            <a:r>
              <a:rPr lang="en-GB" dirty="0"/>
              <a:t>Provides public health guidance</a:t>
            </a:r>
          </a:p>
          <a:p>
            <a:r>
              <a:rPr lang="en-GB" dirty="0"/>
              <a:t>Less interactive </a:t>
            </a:r>
          </a:p>
          <a:p>
            <a:r>
              <a:rPr lang="en-GB" dirty="0"/>
              <a:t>Encourage change through awareness and fear appeals</a:t>
            </a:r>
          </a:p>
          <a:p>
            <a:endParaRPr lang="en-GB" dirty="0"/>
          </a:p>
          <a:p>
            <a:pPr marL="0" indent="0">
              <a:buNone/>
            </a:pPr>
            <a:r>
              <a:rPr lang="en-GB" dirty="0"/>
              <a:t>ZOE Science &amp; Nutrition</a:t>
            </a:r>
          </a:p>
          <a:p>
            <a:r>
              <a:rPr lang="en-GB" dirty="0"/>
              <a:t>Motivational interviewing style</a:t>
            </a:r>
          </a:p>
          <a:p>
            <a:r>
              <a:rPr lang="en-GB" dirty="0"/>
              <a:t>Provides practical tips</a:t>
            </a:r>
          </a:p>
          <a:p>
            <a:r>
              <a:rPr lang="en-GB" dirty="0"/>
              <a:t>Encourages gradual, lifestyle modifications</a:t>
            </a:r>
          </a:p>
          <a:p>
            <a:r>
              <a:rPr lang="en-GB" dirty="0"/>
              <a:t>Frequent positive reinforcement </a:t>
            </a:r>
          </a:p>
          <a:p>
            <a:r>
              <a:rPr lang="en-GB" dirty="0"/>
              <a:t>Provides step by step guidance</a:t>
            </a:r>
          </a:p>
          <a:p>
            <a:endParaRPr lang="en-GB" dirty="0"/>
          </a:p>
          <a:p>
            <a:pPr marL="0" indent="0">
              <a:buNone/>
            </a:pPr>
            <a:endParaRPr lang="en-GB" dirty="0"/>
          </a:p>
        </p:txBody>
      </p:sp>
    </p:spTree>
    <p:extLst>
      <p:ext uri="{BB962C8B-B14F-4D97-AF65-F5344CB8AC3E}">
        <p14:creationId xmlns:p14="http://schemas.microsoft.com/office/powerpoint/2010/main" val="3598701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B7CF8-996D-5CB9-5DE6-3B44A340449E}"/>
              </a:ext>
            </a:extLst>
          </p:cNvPr>
          <p:cNvSpPr>
            <a:spLocks noGrp="1"/>
          </p:cNvSpPr>
          <p:nvPr>
            <p:ph type="title"/>
          </p:nvPr>
        </p:nvSpPr>
        <p:spPr/>
        <p:txBody>
          <a:bodyPr/>
          <a:lstStyle/>
          <a:p>
            <a:r>
              <a:rPr lang="en-GB" dirty="0"/>
              <a:t>Podcast Recommendations</a:t>
            </a:r>
          </a:p>
        </p:txBody>
      </p:sp>
      <p:sp>
        <p:nvSpPr>
          <p:cNvPr id="3" name="Content Placeholder 2">
            <a:extLst>
              <a:ext uri="{FF2B5EF4-FFF2-40B4-BE49-F238E27FC236}">
                <a16:creationId xmlns:a16="http://schemas.microsoft.com/office/drawing/2014/main" id="{852A36F5-88AE-903C-1B20-91B6C2ED60F6}"/>
              </a:ext>
            </a:extLst>
          </p:cNvPr>
          <p:cNvSpPr>
            <a:spLocks noGrp="1"/>
          </p:cNvSpPr>
          <p:nvPr>
            <p:ph idx="1"/>
          </p:nvPr>
        </p:nvSpPr>
        <p:spPr/>
        <p:txBody>
          <a:bodyPr/>
          <a:lstStyle/>
          <a:p>
            <a:pPr marL="0" indent="0">
              <a:buNone/>
            </a:pPr>
            <a:r>
              <a:rPr lang="en-GB" dirty="0"/>
              <a:t>ZOE Science &amp; Nutrition has a better communication style and approach for behaviour change</a:t>
            </a:r>
          </a:p>
          <a:p>
            <a:r>
              <a:rPr lang="en-GB" dirty="0"/>
              <a:t> Uses relatable dialogue</a:t>
            </a:r>
          </a:p>
          <a:p>
            <a:r>
              <a:rPr lang="en-GB" dirty="0"/>
              <a:t>Include practical strategies that encourage change</a:t>
            </a:r>
          </a:p>
          <a:p>
            <a:pPr marL="0" indent="0">
              <a:buNone/>
            </a:pPr>
            <a:endParaRPr lang="en-GB" dirty="0"/>
          </a:p>
          <a:p>
            <a:pPr marL="0" indent="0">
              <a:buNone/>
            </a:pPr>
            <a:r>
              <a:rPr lang="en-GB" dirty="0"/>
              <a:t>BBC Health Check is good for awareness and credibility</a:t>
            </a:r>
          </a:p>
          <a:p>
            <a:r>
              <a:rPr lang="en-GB" dirty="0"/>
              <a:t>Less effective at motivating personal change </a:t>
            </a:r>
          </a:p>
        </p:txBody>
      </p:sp>
    </p:spTree>
    <p:extLst>
      <p:ext uri="{BB962C8B-B14F-4D97-AF65-F5344CB8AC3E}">
        <p14:creationId xmlns:p14="http://schemas.microsoft.com/office/powerpoint/2010/main" val="447795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70F7B-6609-BDB4-2429-3078C76C9BCB}"/>
              </a:ext>
            </a:extLst>
          </p:cNvPr>
          <p:cNvSpPr>
            <a:spLocks noGrp="1"/>
          </p:cNvSpPr>
          <p:nvPr>
            <p:ph type="title"/>
          </p:nvPr>
        </p:nvSpPr>
        <p:spPr/>
        <p:txBody>
          <a:bodyPr/>
          <a:lstStyle/>
          <a:p>
            <a:r>
              <a:rPr lang="en-GB" dirty="0"/>
              <a:t>Credibility</a:t>
            </a:r>
          </a:p>
        </p:txBody>
      </p:sp>
      <p:sp>
        <p:nvSpPr>
          <p:cNvPr id="3" name="Content Placeholder 2">
            <a:extLst>
              <a:ext uri="{FF2B5EF4-FFF2-40B4-BE49-F238E27FC236}">
                <a16:creationId xmlns:a16="http://schemas.microsoft.com/office/drawing/2014/main" id="{6E55D295-07DE-DBF2-A89B-23ED961A7AF3}"/>
              </a:ext>
            </a:extLst>
          </p:cNvPr>
          <p:cNvSpPr>
            <a:spLocks noGrp="1"/>
          </p:cNvSpPr>
          <p:nvPr>
            <p:ph idx="1"/>
          </p:nvPr>
        </p:nvSpPr>
        <p:spPr>
          <a:xfrm>
            <a:off x="838200" y="1465545"/>
            <a:ext cx="10515600" cy="4711418"/>
          </a:xfrm>
        </p:spPr>
        <p:txBody>
          <a:bodyPr>
            <a:normAutofit fontScale="77500" lnSpcReduction="20000"/>
          </a:bodyPr>
          <a:lstStyle/>
          <a:p>
            <a:pPr marL="0" indent="0">
              <a:buNone/>
            </a:pPr>
            <a:r>
              <a:rPr lang="en-GB" dirty="0"/>
              <a:t>BBC Health Checks</a:t>
            </a:r>
          </a:p>
          <a:p>
            <a:r>
              <a:rPr lang="en-GB" dirty="0"/>
              <a:t>Produced by BBC</a:t>
            </a:r>
          </a:p>
          <a:p>
            <a:r>
              <a:rPr lang="en-GB" dirty="0"/>
              <a:t>Sources include World Health Organisation (WHO), medical experts, studies</a:t>
            </a:r>
          </a:p>
          <a:p>
            <a:r>
              <a:rPr lang="en-GB" dirty="0"/>
              <a:t>Strong credibility</a:t>
            </a:r>
          </a:p>
          <a:p>
            <a:r>
              <a:rPr lang="en-GB" dirty="0"/>
              <a:t>Limited motivating personal change</a:t>
            </a:r>
          </a:p>
          <a:p>
            <a:r>
              <a:rPr lang="en-GB" dirty="0"/>
              <a:t>Raises global awareness </a:t>
            </a:r>
          </a:p>
          <a:p>
            <a:r>
              <a:rPr lang="en-GB" dirty="0"/>
              <a:t>Less actionable advice</a:t>
            </a:r>
          </a:p>
          <a:p>
            <a:pPr marL="0" indent="0">
              <a:buNone/>
            </a:pPr>
            <a:endParaRPr lang="en-GB" dirty="0"/>
          </a:p>
          <a:p>
            <a:pPr marL="0" indent="0">
              <a:buNone/>
            </a:pPr>
            <a:r>
              <a:rPr lang="en-GB" dirty="0"/>
              <a:t>ZOE Science &amp; Nutrition</a:t>
            </a:r>
          </a:p>
          <a:p>
            <a:r>
              <a:rPr lang="en-GB" dirty="0"/>
              <a:t>Hosted by Jonathan Wolf</a:t>
            </a:r>
          </a:p>
          <a:p>
            <a:r>
              <a:rPr lang="en-GB" dirty="0"/>
              <a:t>Potential bias with commercial links and incentives (ZOE app, supplements)</a:t>
            </a:r>
          </a:p>
          <a:p>
            <a:r>
              <a:rPr lang="en-GB" dirty="0"/>
              <a:t>Frequently use academics </a:t>
            </a:r>
          </a:p>
          <a:p>
            <a:r>
              <a:rPr lang="en-GB" dirty="0"/>
              <a:t>Personalised claims may lack sufficient evidence</a:t>
            </a:r>
          </a:p>
          <a:p>
            <a:pPr marL="0" indent="0">
              <a:buNone/>
            </a:pPr>
            <a:endParaRPr lang="en-GB" dirty="0"/>
          </a:p>
        </p:txBody>
      </p:sp>
    </p:spTree>
    <p:extLst>
      <p:ext uri="{BB962C8B-B14F-4D97-AF65-F5344CB8AC3E}">
        <p14:creationId xmlns:p14="http://schemas.microsoft.com/office/powerpoint/2010/main" val="2109988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AC61D-6A0B-7551-32C7-5848A1EED18E}"/>
              </a:ext>
            </a:extLst>
          </p:cNvPr>
          <p:cNvSpPr>
            <a:spLocks noGrp="1"/>
          </p:cNvSpPr>
          <p:nvPr>
            <p:ph type="title"/>
          </p:nvPr>
        </p:nvSpPr>
        <p:spPr/>
        <p:txBody>
          <a:bodyPr/>
          <a:lstStyle/>
          <a:p>
            <a:r>
              <a:rPr lang="en-GB" dirty="0"/>
              <a:t>Target Audience and Accessibility</a:t>
            </a:r>
          </a:p>
        </p:txBody>
      </p:sp>
      <p:sp>
        <p:nvSpPr>
          <p:cNvPr id="3" name="Content Placeholder 2">
            <a:extLst>
              <a:ext uri="{FF2B5EF4-FFF2-40B4-BE49-F238E27FC236}">
                <a16:creationId xmlns:a16="http://schemas.microsoft.com/office/drawing/2014/main" id="{584D4328-B7DE-2399-AA1B-B2B2FEA566CD}"/>
              </a:ext>
            </a:extLst>
          </p:cNvPr>
          <p:cNvSpPr>
            <a:spLocks noGrp="1"/>
          </p:cNvSpPr>
          <p:nvPr>
            <p:ph idx="1"/>
          </p:nvPr>
        </p:nvSpPr>
        <p:spPr/>
        <p:txBody>
          <a:bodyPr>
            <a:normAutofit fontScale="77500" lnSpcReduction="20000"/>
          </a:bodyPr>
          <a:lstStyle/>
          <a:p>
            <a:pPr marL="0" indent="0">
              <a:buNone/>
            </a:pPr>
            <a:r>
              <a:rPr lang="en-GB" dirty="0"/>
              <a:t>BBC Health Checks</a:t>
            </a:r>
          </a:p>
          <a:p>
            <a:r>
              <a:rPr lang="en-GB" dirty="0"/>
              <a:t>Targets the general public with an interest in global health</a:t>
            </a:r>
          </a:p>
          <a:p>
            <a:r>
              <a:rPr lang="en-GB" dirty="0"/>
              <a:t>Free on BBC Sounds, short episodes</a:t>
            </a:r>
          </a:p>
          <a:p>
            <a:r>
              <a:rPr lang="en-GB" dirty="0"/>
              <a:t> Transcripts available</a:t>
            </a:r>
          </a:p>
          <a:p>
            <a:r>
              <a:rPr lang="en-GB" dirty="0"/>
              <a:t>Good for diverse audiences</a:t>
            </a:r>
          </a:p>
          <a:p>
            <a:pPr marL="0" indent="0">
              <a:buNone/>
            </a:pPr>
            <a:endParaRPr lang="en-GB" dirty="0"/>
          </a:p>
          <a:p>
            <a:pPr marL="0" indent="0">
              <a:buNone/>
            </a:pPr>
            <a:r>
              <a:rPr lang="en-GB" dirty="0"/>
              <a:t>ZOE Science &amp; Nutrition</a:t>
            </a:r>
          </a:p>
          <a:p>
            <a:r>
              <a:rPr lang="en-GB" dirty="0"/>
              <a:t>Health conscious individuals, students, professionals</a:t>
            </a:r>
          </a:p>
          <a:p>
            <a:r>
              <a:rPr lang="en-GB" dirty="0"/>
              <a:t>Appeals to listeners who want actionable advice</a:t>
            </a:r>
          </a:p>
          <a:p>
            <a:r>
              <a:rPr lang="en-GB" dirty="0"/>
              <a:t>Free on Apple podcasts</a:t>
            </a:r>
          </a:p>
          <a:p>
            <a:r>
              <a:rPr lang="en-GB" dirty="0"/>
              <a:t>Conversational style </a:t>
            </a:r>
          </a:p>
          <a:p>
            <a:r>
              <a:rPr lang="en-GB" dirty="0"/>
              <a:t>Episodes are 45-60 minute long </a:t>
            </a:r>
          </a:p>
          <a:p>
            <a:pPr marL="0" indent="0">
              <a:buNone/>
            </a:pPr>
            <a:endParaRPr lang="en-GB" dirty="0"/>
          </a:p>
          <a:p>
            <a:endParaRPr lang="en-GB" dirty="0"/>
          </a:p>
        </p:txBody>
      </p:sp>
    </p:spTree>
    <p:extLst>
      <p:ext uri="{BB962C8B-B14F-4D97-AF65-F5344CB8AC3E}">
        <p14:creationId xmlns:p14="http://schemas.microsoft.com/office/powerpoint/2010/main" val="836144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1711</TotalTime>
  <Words>502</Words>
  <Application>Microsoft Office PowerPoint</Application>
  <PresentationFormat>Widescreen</PresentationFormat>
  <Paragraphs>66</Paragraphs>
  <Slides>8</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Reflective podcast presentation </vt:lpstr>
      <vt:lpstr>Introduction to the first podcast </vt:lpstr>
      <vt:lpstr>Introduction to the second podcast </vt:lpstr>
      <vt:lpstr>Communication Styles</vt:lpstr>
      <vt:lpstr>Behaviour Modification Techniques</vt:lpstr>
      <vt:lpstr>Podcast Recommendations</vt:lpstr>
      <vt:lpstr>Credibility</vt:lpstr>
      <vt:lpstr>Target Audience and Accessibility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 RAOUF CHIKHI</dc:creator>
  <cp:lastModifiedBy>ELVIO MENDES</cp:lastModifiedBy>
  <cp:revision>2</cp:revision>
  <dcterms:created xsi:type="dcterms:W3CDTF">2025-11-24T11:37:27Z</dcterms:created>
  <dcterms:modified xsi:type="dcterms:W3CDTF">2025-12-01T12:35:07Z</dcterms:modified>
</cp:coreProperties>
</file>