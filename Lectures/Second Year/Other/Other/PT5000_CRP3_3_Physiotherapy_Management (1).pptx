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Continuous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Warm-up</c:v>
                </c:pt>
                <c:pt idx="1">
                  <c:v>Work</c:v>
                </c:pt>
                <c:pt idx="2">
                  <c:v>Cool-down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20</c:v>
                </c:pt>
                <c:pt idx="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5C-E14C-926C-24414E0CCB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Warm-up</c:v>
                </c:pt>
                <c:pt idx="1">
                  <c:v>Work blocks</c:v>
                </c:pt>
                <c:pt idx="2">
                  <c:v>Recoveries</c:v>
                </c:pt>
                <c:pt idx="3">
                  <c:v>Cool-down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12</c:v>
                </c:pt>
                <c:pt idx="2">
                  <c:v>12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5C-E14C-926C-24414E0CCB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698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London Metropolitan University brand colour palette (black #231f20) and logo rules: https://www.londonmet.ac.uk/brand/guidelines/colour/
- London Metropolitan University logo rules: https://www.londonmet.ac.uk/brand/guidelines/logos/
- Logo image (PNG derived from SVG): https://upload.wikimedia.org/wikipedia/de/thumb/8/88/London_Metropolitan_University_logo.svg/1280px-London_Metropolitan_University_logo.svg.png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BTS guideline for bronchiectasis in adults (airway clearance recommendations): https://thorax.bmj.com/content/thoraxjnl/74/suppl_1/1.full.pdf
- ERS statement on airway clearance techniques in adults with bronchiectasis (2023): https://publications.ersnet.org/content/erj/62/1/2202053
- ATS/ERS statement on pulmonary rehabilitation (2006): https://www.thoracic.org/statements/resources/respiratory-disease-adults/atserspr0606.pdf
- BTS guideline for pulmonary rehabilitation in adults: https://www.brit-thoracic.org.uk/document-library/guidelines/pulmonary-rehabilitation/bts-guideline-for-pulmonary-rehabilitation-in-adults/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ERS/ATS interpretive strategies for routine lung function tests: https://publications.ersnet.org/content/erj/60/1/2101499
- Restrictive lung disease overview (NCBI Bookshelf): https://www.ncbi.nlm.nih.gov/books/NBK560880/
- NICE NG250 (pneumonia): https://www.nice.org.uk/guidance/ng250
- BTS bronchiectasis guideline (airway clearance): https://thorax.bmj.com/content/thoraxjnl/74/suppl_1/1.full.pdf
- ATS 6MWT guideline: https://www.thoracic.org/statements/resources/pfet/sixminute.pdf
- ATS/ERS pulmonary rehabilitation statement: https://www.thoracic.org/statements/resources/respiratory-disease-adults/atserspr0606.pdf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ATS/ERS pulmonary rehabilitation statement (definition, core components): https://www.thoracic.org/statements/resources/respiratory-disease-adults/atserspr0606.pdf
- BTS pulmonary rehabilitation guideline: https://www.brit-thoracic.org.uk/document-library/guidelines/pulmonary-rehabilitation/bts-guideline-for-pulmonary-rehabilitation-in-adults/
- Review on PR in IPF/ILD (2024): https://pmc.ncbi.nlm.nih.gov/articles/PMC11012394/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NICE NG250 (assessment, treatment timelines, reassessment): https://www.nice.org.uk/guidance/ng250/chapter/Recommendations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BTS bronchiectasis guideline (airway clearance techniques section): https://thorax.bmj.com/content/thoraxjnl/74/suppl_1/1.full.pdf
- ERS statement on ACTs in adults with bronchiectasis (2023): https://publications.ersnet.org/content/erj/62/1/2202053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ATS/ERS pulmonary rehabilitation statement (core components and exercise prescription principles): https://www.thoracic.org/statements/resources/respiratory-disease-adults/atserspr0606.pdf
- BTS pulmonary rehabilitation guideline: https://www.brit-thoracic.org.uk/document-library/guidelines/pulmonary-rehabilitation/bts-guideline-for-pulmonary-rehabilitation-in-adults/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BTS bronchiectasis guideline PDF: https://thorax.bmj.com/content/thoraxjnl/74/suppl_1/1.full.pdf
- ERS ACT statement: https://publications.ersnet.org/content/erj/62/1/2202053
- ATS/ERS PR statement PDF: https://www.thoracic.org/statements/resources/respiratory-disease-adults/atserspr0606.pdf
- BTS PR guideline PDF: https://www.brit-thoracic.org.uk/document-library/guidelines/pulmonary-rehabilitation/bts-guideline-for-pulmonary-rehabilitation-in-adults/
- NICE NG250: https://www.nice.org.uk/guidance/ng250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BTS bronchiectasis guideline PDF: https://thorax.bmj.com/content/thoraxjnl/74/suppl_1/1.full.pdf
- ERS ACT statement: https://publications.ersnet.org/content/erj/62/1/2202053
- ATS/ERS PR statement PDF: https://www.thoracic.org/statements/resources/respiratory-disease-adults/atserspr0606.pdf
- BTS PR guideline PDF: https://www.brit-thoracic.org.uk/document-library/guidelines/pulmonary-rehabilitation/bts-guideline-for-pulmonary-rehabilitation-in-adults/
- NICE NG250: https://www.nice.org.uk/guidance/ng250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06240" y="0"/>
            <a:ext cx="164592" cy="6858000"/>
          </a:xfrm>
          <a:prstGeom prst="rect">
            <a:avLst/>
          </a:prstGeom>
          <a:solidFill>
            <a:srgbClr val="0AAA87"/>
          </a:solidFill>
          <a:ln w="12700">
            <a:solidFill>
              <a:srgbClr val="0AAA87"/>
            </a:solidFill>
            <a:prstDash val="solid"/>
          </a:ln>
        </p:spPr>
      </p:sp>
      <p:pic>
        <p:nvPicPr>
          <p:cNvPr id="5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535" y="502920"/>
            <a:ext cx="187133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1051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London Metropolitan University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09160" y="1353312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PT5000 · Cardiorespiratory Practice 3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09160" y="1764792"/>
            <a:ext cx="7178040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2011680"/>
            <a:ext cx="7178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Physiotherapy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709160" y="3968496"/>
            <a:ext cx="7178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D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Restrictive &amp; infective lung disease</a:t>
            </a:r>
          </a:p>
          <a:p>
            <a:pPr marL="0" indent="0">
              <a:buNone/>
            </a:pPr>
            <a:endParaRPr lang="en-US" sz="1600" dirty="0">
              <a:solidFill>
                <a:srgbClr val="002D6D"/>
              </a:solidFill>
              <a:latin typeface="Aptos" pitchFamily="34" charset="0"/>
            </a:endParaRPr>
          </a:p>
          <a:p>
            <a:pPr marL="0" indent="0">
              <a:buNone/>
            </a:pPr>
            <a:endParaRPr lang="en-US" sz="1600" dirty="0">
              <a:solidFill>
                <a:srgbClr val="002D6D"/>
              </a:solidFill>
              <a:latin typeface="Aptos" pitchFamily="34" charset="0"/>
            </a:endParaRPr>
          </a:p>
          <a:p>
            <a:pPr marL="0" indent="0">
              <a:buNone/>
            </a:pPr>
            <a:r>
              <a:rPr lang="en-US" sz="160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Kola </a:t>
            </a:r>
            <a:r>
              <a:rPr lang="en-US" sz="1600" b="1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Akinlabi,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BSc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(Hons), MSc Adv.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cardiorespi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(UCL),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Pgcet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NMP, MPhil, PhD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Clinical Lead Respiratory, </a:t>
            </a:r>
            <a:r>
              <a:rPr lang="en-US" sz="1600" dirty="0" err="1">
                <a:latin typeface="Aptos" pitchFamily="34" charset="0"/>
                <a:ea typeface="Aptos" pitchFamily="34" charset="-122"/>
                <a:cs typeface="Aptos" pitchFamily="34" charset="-120"/>
              </a:rPr>
              <a:t>Pulm</a:t>
            </a: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 Rehab and Long COVID </a:t>
            </a:r>
          </a:p>
          <a:p>
            <a:pPr marL="0" indent="0">
              <a:buNone/>
            </a:pPr>
            <a:r>
              <a:rPr lang="en-US" sz="1600" dirty="0">
                <a:latin typeface="Aptos" pitchFamily="34" charset="0"/>
                <a:ea typeface="Aptos" pitchFamily="34" charset="-122"/>
                <a:cs typeface="Aptos" pitchFamily="34" charset="-120"/>
              </a:rPr>
              <a:t>CLCH NHS Trust 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823460" y="5504688"/>
            <a:ext cx="7178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12:00–13:00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5212080"/>
            <a:ext cx="3063240" cy="1051560"/>
          </a:xfrm>
          <a:prstGeom prst="roundRect">
            <a:avLst/>
          </a:prstGeom>
          <a:solidFill>
            <a:srgbClr val="0AAA87"/>
          </a:solidFill>
          <a:ln w="12700">
            <a:solidFill>
              <a:srgbClr val="0AAA8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53218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BSc Year 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Pack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12:00–13:00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051560"/>
            <a:ext cx="11091672" cy="5120640"/>
          </a:xfrm>
          <a:prstGeom prst="rect">
            <a:avLst/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234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the end of this session, you should be able to: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51560" y="1737360"/>
            <a:ext cx="100584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physiotherapy management across acute → rehab phases for restrictive and infective lung disease.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appropriate airway clearance techniques (ACTs) when indicated and understand key precautions.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 initial exercise/mobilisation programme and monitoring plan (symptoms + SpO2 + hemodynamics).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concise patient education for self-management and escalation.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principles (all respiratory patients)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12:00–13:00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goals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Optimise gas exchange (positioning, pacing, oxygen liaison) and reduce work of breathing.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or restore mobility and function; prevent deconditioning.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effective cough and secretion management when needed.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Educate for self-management, pacing, energy conservation, and safe escalation.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&amp; monitoring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+ continuous/interval monitoring: SpO2 trends, HR, RR, BP, symptoms (Borg).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Stop/modify if: severe desaturation, chest pain, syncope/presyncope, significant arrhythmia, severe distress.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Infection control: PPE, equipment cleaning, cough etiquette; consider isolation for TB/viral infections.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within scope + local oxygen/alert policies; escalate concerns early.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Restrictive lung disease (e.g., ILD/fibrosis): physio focus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12:00–13:00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Breathlessness + ventilation strategies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Breathing control and paced breathing during exertion; optimise posture and thoracic mobility.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conservation: break tasks down; rest breaks; prioritise function over “perfect” technique.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desaturation: titrate activity intensity, liaise for oxygen assessment per local protocol.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Education: symptom monitoring, when to stop, and when to seek help.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rehabilitation (evidence-based)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Pulmonary rehabilitation improves exercise capacity and symptoms in chronic respiratory disease; evidence base expanding for ILD/IPF.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aerobic + resistance training, individualised to symptoms and oxygenation response.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interval training if severe breathlessness/desaturation limits continuous exercise.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outcomes (e.g., 6MWT/ISWT) and reassess regularly.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Infective disease (pneumonia / exacerbations): physio focus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12:00–13:00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Acute phase priorities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mobilisation (as tolerated) to improve ventilation, reduce complications, and support function.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Breathing exercises / thoracic expansion exercises when appropriate; optimise positioning.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Airway clearance only when secretion retention is a problem (productive cough, atelectasis risk, weak cough).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with MDT: analgesia for pleuritic pain, hydration, medication timing.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Preventing deterioration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response: RR/HR, SpO2 and effort during mobility; watch for increasing oxygen needs.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 if: worsening hypoxia, rising work of breathing, hypotension, new confusion, inability to mobilise.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frailty and baseline function when setting goals and discharge criteria.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Education: sputum management, breathing pacing, hydration, and safety-netting.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Airway clearance techniques (ACTs): indications and selection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12:00–13:00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81344" y="1234440"/>
            <a:ext cx="532180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ACT options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ACBT (breathing control + thoracic expansion + huff) – widely used and adaptable.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 / OPEP devices – can assist secretion clearance in bronchiectasis.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Autogenic drainage – technique requiring coaching and practice.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Adjuncts: positioning, manual techniques (where appropriate), exercise as an ACT.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55080" y="14173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2D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Choosing and dosing ACTs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355080" y="1810512"/>
            <a:ext cx="48920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to patient: secretion load, airflow limitation, fatigue, cognition, and preference/adherence.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measurable goals: sputum volume, ease of expectoration, breathlessness, auscultation changes.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and adapt—ACTs should be taught, assessed and optimised over time.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Precautions: haemoptysis, pneumothorax risk, unstable cardiovascular status, raised ICP (context dependent).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Exercise prescription example (illustrative)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12:00–13:00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Aim: select a starting structure that respects symptom-limited disease (use Borg, SpO2, and clinical judgement).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1325880"/>
            <a:ext cx="108813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graphicFrame>
        <p:nvGraphicFramePr>
          <p:cNvPr id="10" name="Chart 0"/>
          <p:cNvGraphicFramePr/>
          <p:nvPr/>
        </p:nvGraphicFramePr>
        <p:xfrm>
          <a:off x="960120" y="1572768"/>
          <a:ext cx="1042416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960120" y="57150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point: interval structure can maintain total work with lower peak breathlessness/desaturation in some patients.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references (selected)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12:00–13:00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371600"/>
            <a:ext cx="1042416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 AT, et al. BTS guideline for bronchiectasis in adults. Thorax. 2019;74(Suppl 1):1–69.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Herrero-Cortina B, et al. ERS statement on airway clearance techniques in adults with bronchiectasis. Eur Respir J. 2023;62:2202053.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Nici L, et al. ATS/ERS statement on pulmonary rehabilitation. Am J Respir Crit Care Med. 2006;173:1390–1413.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BTS. Guideline for pulmonary rehabilitation in adults. 2013.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NICE. Pneumonia: diagnosis and management. NG250 (updated 2025).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West JB, Luks AM. West's Respiratory Physiology: The Essentials. 11th ed. Wolters Kluwer; 2021.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Broaddus VC, et al. Murray &amp; Nadel's Textbook of Respiratory Medicine. 7th ed. Elsevier; 2022.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Pryor JA, Prasad SA. Cardiorespiratory Physiotherapy: Adults and Paediatrics. 5th ed. Elsevier; 2016.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Hillegass E. Essentials of Cardiopulmonary Physical Therapy. 5th ed. Elsevier; 2022.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231F20"/>
          </a:solidFill>
          <a:ln w="12700">
            <a:solidFill>
              <a:srgbClr val="231F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resources &amp; practice tasks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281160" y="164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Tue 3 Feb · 12:00–13:00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B8B8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PT5000 · CRP 3 · BSc Physiotherapy (Year 2)</a:t>
            </a:r>
            <a:endParaRPr lang="en-US" sz="1000" dirty="0"/>
          </a:p>
        </p:txBody>
      </p:sp>
      <p:pic>
        <p:nvPicPr>
          <p:cNvPr id="7" name="Image 0" descr="/mnt/data/londonme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5337" y="6501384"/>
            <a:ext cx="1020726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1520" y="1143000"/>
            <a:ext cx="10881360" cy="5074920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B8B8B9"/>
            </a:solidFill>
            <a:prstDash val="solid"/>
          </a:ln>
          <a:effectLst>
            <a:outerShdw blurRad="381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60120" y="132588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1F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self-study (60–90 min)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1737360"/>
            <a:ext cx="1042416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Create: a one-page “ACT selection” decision aid for a bronchiectasis exacerbation (include precautions).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Plan: a 2-week starter exercise programme for an ILD patient with exertional desaturation (goals + monitoring).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Read: ERS statement (2023) – Table/summary of ACT considerations and outcome measures.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dirty="0">
                <a:solidFill>
                  <a:srgbClr val="231F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Practice: teach ACBT to a peer and evaluate technique + patient feedback.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2018</Words>
  <Application>Microsoft Macintosh PowerPoint</Application>
  <PresentationFormat>Widescreen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CRP 3: Physiotherapy Management</dc:title>
  <dc:subject>PT5000 CRP3 Lecture 3</dc:subject>
  <dc:creator>London Metropolitan University (generated)</dc:creator>
  <cp:lastModifiedBy>Kola akinlabi</cp:lastModifiedBy>
  <cp:revision>2</cp:revision>
  <dcterms:created xsi:type="dcterms:W3CDTF">2026-01-26T00:51:18Z</dcterms:created>
  <dcterms:modified xsi:type="dcterms:W3CDTF">2026-01-27T15:22:23Z</dcterms:modified>
</cp:coreProperties>
</file>