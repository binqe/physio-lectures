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0" r:id="rId3"/>
    <p:sldId id="263" r:id="rId4"/>
    <p:sldId id="264" r:id="rId5"/>
    <p:sldId id="261" r:id="rId6"/>
    <p:sldId id="262" r:id="rId7"/>
    <p:sldId id="267" r:id="rId8"/>
    <p:sldId id="266" r:id="rId9"/>
    <p:sldId id="268" r:id="rId10"/>
    <p:sldId id="269" r:id="rId11"/>
    <p:sldId id="271" r:id="rId12"/>
    <p:sldId id="27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88"/>
    <p:restoredTop sz="94680"/>
  </p:normalViewPr>
  <p:slideViewPr>
    <p:cSldViewPr snapToGrid="0">
      <p:cViewPr varScale="1">
        <p:scale>
          <a:sx n="108" d="100"/>
          <a:sy n="108" d="100"/>
        </p:scale>
        <p:origin x="240" y="9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0AF88-8504-452D-3441-474E894C9B2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B3B1690F-0B11-1E83-578A-EC7CACB1A5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827C0AE6-2F8A-0657-7780-8B7A2E6CC33C}"/>
              </a:ext>
            </a:extLst>
          </p:cNvPr>
          <p:cNvSpPr>
            <a:spLocks noGrp="1"/>
          </p:cNvSpPr>
          <p:nvPr>
            <p:ph type="dt" sz="half" idx="10"/>
          </p:nvPr>
        </p:nvSpPr>
        <p:spPr/>
        <p:txBody>
          <a:bodyPr/>
          <a:lstStyle/>
          <a:p>
            <a:fld id="{FEF25406-4315-AE41-8FA3-30F7C6C8C0D6}" type="datetimeFigureOut">
              <a:rPr lang="en-US" smtClean="0"/>
              <a:t>12/1/25</a:t>
            </a:fld>
            <a:endParaRPr lang="en-US"/>
          </a:p>
        </p:txBody>
      </p:sp>
      <p:sp>
        <p:nvSpPr>
          <p:cNvPr id="5" name="Footer Placeholder 4">
            <a:extLst>
              <a:ext uri="{FF2B5EF4-FFF2-40B4-BE49-F238E27FC236}">
                <a16:creationId xmlns:a16="http://schemas.microsoft.com/office/drawing/2014/main" id="{6863F510-B88C-715D-4E88-2503817305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F4AFA6-ABD1-7F9F-34C2-858A9A169BB2}"/>
              </a:ext>
            </a:extLst>
          </p:cNvPr>
          <p:cNvSpPr>
            <a:spLocks noGrp="1"/>
          </p:cNvSpPr>
          <p:nvPr>
            <p:ph type="sldNum" sz="quarter" idx="12"/>
          </p:nvPr>
        </p:nvSpPr>
        <p:spPr/>
        <p:txBody>
          <a:bodyPr/>
          <a:lstStyle/>
          <a:p>
            <a:fld id="{4DBF2FCD-45CE-334E-99D3-7850609A029E}" type="slidenum">
              <a:rPr lang="en-US" smtClean="0"/>
              <a:t>‹#›</a:t>
            </a:fld>
            <a:endParaRPr lang="en-US"/>
          </a:p>
        </p:txBody>
      </p:sp>
    </p:spTree>
    <p:extLst>
      <p:ext uri="{BB962C8B-B14F-4D97-AF65-F5344CB8AC3E}">
        <p14:creationId xmlns:p14="http://schemas.microsoft.com/office/powerpoint/2010/main" val="1034110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DB8B9-6E94-CAF2-259D-D34543DC95C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31E165E-40D1-7CDB-B37E-A8D6427519E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1E92C84-405E-4893-9A64-9EC6989E7B84}"/>
              </a:ext>
            </a:extLst>
          </p:cNvPr>
          <p:cNvSpPr>
            <a:spLocks noGrp="1"/>
          </p:cNvSpPr>
          <p:nvPr>
            <p:ph type="dt" sz="half" idx="10"/>
          </p:nvPr>
        </p:nvSpPr>
        <p:spPr/>
        <p:txBody>
          <a:bodyPr/>
          <a:lstStyle/>
          <a:p>
            <a:fld id="{FEF25406-4315-AE41-8FA3-30F7C6C8C0D6}" type="datetimeFigureOut">
              <a:rPr lang="en-US" smtClean="0"/>
              <a:t>12/1/25</a:t>
            </a:fld>
            <a:endParaRPr lang="en-US"/>
          </a:p>
        </p:txBody>
      </p:sp>
      <p:sp>
        <p:nvSpPr>
          <p:cNvPr id="5" name="Footer Placeholder 4">
            <a:extLst>
              <a:ext uri="{FF2B5EF4-FFF2-40B4-BE49-F238E27FC236}">
                <a16:creationId xmlns:a16="http://schemas.microsoft.com/office/drawing/2014/main" id="{83A1462A-56A8-3AC6-CB59-F930AC6D32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1772FB-0DDD-1C7F-EA98-B347D9E30809}"/>
              </a:ext>
            </a:extLst>
          </p:cNvPr>
          <p:cNvSpPr>
            <a:spLocks noGrp="1"/>
          </p:cNvSpPr>
          <p:nvPr>
            <p:ph type="sldNum" sz="quarter" idx="12"/>
          </p:nvPr>
        </p:nvSpPr>
        <p:spPr/>
        <p:txBody>
          <a:bodyPr/>
          <a:lstStyle/>
          <a:p>
            <a:fld id="{4DBF2FCD-45CE-334E-99D3-7850609A029E}" type="slidenum">
              <a:rPr lang="en-US" smtClean="0"/>
              <a:t>‹#›</a:t>
            </a:fld>
            <a:endParaRPr lang="en-US"/>
          </a:p>
        </p:txBody>
      </p:sp>
    </p:spTree>
    <p:extLst>
      <p:ext uri="{BB962C8B-B14F-4D97-AF65-F5344CB8AC3E}">
        <p14:creationId xmlns:p14="http://schemas.microsoft.com/office/powerpoint/2010/main" val="31749598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14215-CEDD-EDB2-2CF1-1895BCC05F5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27EBB478-9C73-E6AD-52F3-DBC8037324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3F2BD4C-33FA-AF57-89B6-168BC48F332C}"/>
              </a:ext>
            </a:extLst>
          </p:cNvPr>
          <p:cNvSpPr>
            <a:spLocks noGrp="1"/>
          </p:cNvSpPr>
          <p:nvPr>
            <p:ph type="dt" sz="half" idx="10"/>
          </p:nvPr>
        </p:nvSpPr>
        <p:spPr/>
        <p:txBody>
          <a:bodyPr/>
          <a:lstStyle/>
          <a:p>
            <a:fld id="{FEF25406-4315-AE41-8FA3-30F7C6C8C0D6}" type="datetimeFigureOut">
              <a:rPr lang="en-US" smtClean="0"/>
              <a:t>12/1/25</a:t>
            </a:fld>
            <a:endParaRPr lang="en-US"/>
          </a:p>
        </p:txBody>
      </p:sp>
      <p:sp>
        <p:nvSpPr>
          <p:cNvPr id="5" name="Footer Placeholder 4">
            <a:extLst>
              <a:ext uri="{FF2B5EF4-FFF2-40B4-BE49-F238E27FC236}">
                <a16:creationId xmlns:a16="http://schemas.microsoft.com/office/drawing/2014/main" id="{150712F0-B3E5-B6EA-A57B-925F425F5C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591C4-0BB8-8DE7-58DD-EFE3E24FA4DB}"/>
              </a:ext>
            </a:extLst>
          </p:cNvPr>
          <p:cNvSpPr>
            <a:spLocks noGrp="1"/>
          </p:cNvSpPr>
          <p:nvPr>
            <p:ph type="sldNum" sz="quarter" idx="12"/>
          </p:nvPr>
        </p:nvSpPr>
        <p:spPr/>
        <p:txBody>
          <a:bodyPr/>
          <a:lstStyle/>
          <a:p>
            <a:fld id="{4DBF2FCD-45CE-334E-99D3-7850609A029E}" type="slidenum">
              <a:rPr lang="en-US" smtClean="0"/>
              <a:t>‹#›</a:t>
            </a:fld>
            <a:endParaRPr lang="en-US"/>
          </a:p>
        </p:txBody>
      </p:sp>
    </p:spTree>
    <p:extLst>
      <p:ext uri="{BB962C8B-B14F-4D97-AF65-F5344CB8AC3E}">
        <p14:creationId xmlns:p14="http://schemas.microsoft.com/office/powerpoint/2010/main" val="4270082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F6BF7-CF8E-4B30-D9E6-CD09C52C0A7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100686C-885B-D9ED-3873-EC1219094532}"/>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A450FBEB-99E8-181C-52A3-34265C55C5D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E9FD3654-0493-D73A-9319-95BA8956EA3D}"/>
              </a:ext>
            </a:extLst>
          </p:cNvPr>
          <p:cNvSpPr>
            <a:spLocks noGrp="1"/>
          </p:cNvSpPr>
          <p:nvPr>
            <p:ph type="dt" sz="half" idx="10"/>
          </p:nvPr>
        </p:nvSpPr>
        <p:spPr/>
        <p:txBody>
          <a:bodyPr/>
          <a:lstStyle/>
          <a:p>
            <a:fld id="{FEF25406-4315-AE41-8FA3-30F7C6C8C0D6}" type="datetimeFigureOut">
              <a:rPr lang="en-US" smtClean="0"/>
              <a:t>12/1/25</a:t>
            </a:fld>
            <a:endParaRPr lang="en-US"/>
          </a:p>
        </p:txBody>
      </p:sp>
      <p:sp>
        <p:nvSpPr>
          <p:cNvPr id="6" name="Footer Placeholder 5">
            <a:extLst>
              <a:ext uri="{FF2B5EF4-FFF2-40B4-BE49-F238E27FC236}">
                <a16:creationId xmlns:a16="http://schemas.microsoft.com/office/drawing/2014/main" id="{9CB16B0F-58DF-F22D-632F-52405EDAE0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64CD11-2CC6-8852-EE13-3643401FE8ED}"/>
              </a:ext>
            </a:extLst>
          </p:cNvPr>
          <p:cNvSpPr>
            <a:spLocks noGrp="1"/>
          </p:cNvSpPr>
          <p:nvPr>
            <p:ph type="sldNum" sz="quarter" idx="12"/>
          </p:nvPr>
        </p:nvSpPr>
        <p:spPr/>
        <p:txBody>
          <a:bodyPr/>
          <a:lstStyle/>
          <a:p>
            <a:fld id="{4DBF2FCD-45CE-334E-99D3-7850609A029E}" type="slidenum">
              <a:rPr lang="en-US" smtClean="0"/>
              <a:t>‹#›</a:t>
            </a:fld>
            <a:endParaRPr lang="en-US"/>
          </a:p>
        </p:txBody>
      </p:sp>
    </p:spTree>
    <p:extLst>
      <p:ext uri="{BB962C8B-B14F-4D97-AF65-F5344CB8AC3E}">
        <p14:creationId xmlns:p14="http://schemas.microsoft.com/office/powerpoint/2010/main" val="4095217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59054-FA2B-7F67-6578-F27202805E85}"/>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0AD6745-C0EF-665B-F7EA-4CF726CABF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5DF5E59-33AB-3448-0FCE-99B66838D0D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97330CBC-E04F-ED10-FA49-079A7FE19C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11AB0A1-9BE8-6B28-5D1B-609D2D96F8D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AE0D7D7-5602-5A4F-9847-6C0212342915}"/>
              </a:ext>
            </a:extLst>
          </p:cNvPr>
          <p:cNvSpPr>
            <a:spLocks noGrp="1"/>
          </p:cNvSpPr>
          <p:nvPr>
            <p:ph type="dt" sz="half" idx="10"/>
          </p:nvPr>
        </p:nvSpPr>
        <p:spPr/>
        <p:txBody>
          <a:bodyPr/>
          <a:lstStyle/>
          <a:p>
            <a:fld id="{FEF25406-4315-AE41-8FA3-30F7C6C8C0D6}" type="datetimeFigureOut">
              <a:rPr lang="en-US" smtClean="0"/>
              <a:t>12/1/25</a:t>
            </a:fld>
            <a:endParaRPr lang="en-US"/>
          </a:p>
        </p:txBody>
      </p:sp>
      <p:sp>
        <p:nvSpPr>
          <p:cNvPr id="8" name="Footer Placeholder 7">
            <a:extLst>
              <a:ext uri="{FF2B5EF4-FFF2-40B4-BE49-F238E27FC236}">
                <a16:creationId xmlns:a16="http://schemas.microsoft.com/office/drawing/2014/main" id="{5B2274DF-F34A-8F84-C665-84467AA2D5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69CE3D0-A1EE-DD6B-7510-6ECD4EBCCF8F}"/>
              </a:ext>
            </a:extLst>
          </p:cNvPr>
          <p:cNvSpPr>
            <a:spLocks noGrp="1"/>
          </p:cNvSpPr>
          <p:nvPr>
            <p:ph type="sldNum" sz="quarter" idx="12"/>
          </p:nvPr>
        </p:nvSpPr>
        <p:spPr/>
        <p:txBody>
          <a:bodyPr/>
          <a:lstStyle/>
          <a:p>
            <a:fld id="{4DBF2FCD-45CE-334E-99D3-7850609A029E}" type="slidenum">
              <a:rPr lang="en-US" smtClean="0"/>
              <a:t>‹#›</a:t>
            </a:fld>
            <a:endParaRPr lang="en-US"/>
          </a:p>
        </p:txBody>
      </p:sp>
    </p:spTree>
    <p:extLst>
      <p:ext uri="{BB962C8B-B14F-4D97-AF65-F5344CB8AC3E}">
        <p14:creationId xmlns:p14="http://schemas.microsoft.com/office/powerpoint/2010/main" val="4942417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DD99D-CC0F-AE30-8323-367C1F8DBD12}"/>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DF539C88-5D6F-3F0F-4E07-C5D03C2AC3B6}"/>
              </a:ext>
            </a:extLst>
          </p:cNvPr>
          <p:cNvSpPr>
            <a:spLocks noGrp="1"/>
          </p:cNvSpPr>
          <p:nvPr>
            <p:ph type="dt" sz="half" idx="10"/>
          </p:nvPr>
        </p:nvSpPr>
        <p:spPr/>
        <p:txBody>
          <a:bodyPr/>
          <a:lstStyle/>
          <a:p>
            <a:fld id="{FEF25406-4315-AE41-8FA3-30F7C6C8C0D6}" type="datetimeFigureOut">
              <a:rPr lang="en-US" smtClean="0"/>
              <a:t>12/1/25</a:t>
            </a:fld>
            <a:endParaRPr lang="en-US"/>
          </a:p>
        </p:txBody>
      </p:sp>
      <p:sp>
        <p:nvSpPr>
          <p:cNvPr id="4" name="Footer Placeholder 3">
            <a:extLst>
              <a:ext uri="{FF2B5EF4-FFF2-40B4-BE49-F238E27FC236}">
                <a16:creationId xmlns:a16="http://schemas.microsoft.com/office/drawing/2014/main" id="{417004F2-8B09-96CB-7AEE-AEDB3FE348A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7900E66-4E61-2312-883F-E0669E69123A}"/>
              </a:ext>
            </a:extLst>
          </p:cNvPr>
          <p:cNvSpPr>
            <a:spLocks noGrp="1"/>
          </p:cNvSpPr>
          <p:nvPr>
            <p:ph type="sldNum" sz="quarter" idx="12"/>
          </p:nvPr>
        </p:nvSpPr>
        <p:spPr/>
        <p:txBody>
          <a:bodyPr/>
          <a:lstStyle/>
          <a:p>
            <a:fld id="{4DBF2FCD-45CE-334E-99D3-7850609A029E}" type="slidenum">
              <a:rPr lang="en-US" smtClean="0"/>
              <a:t>‹#›</a:t>
            </a:fld>
            <a:endParaRPr lang="en-US"/>
          </a:p>
        </p:txBody>
      </p:sp>
    </p:spTree>
    <p:extLst>
      <p:ext uri="{BB962C8B-B14F-4D97-AF65-F5344CB8AC3E}">
        <p14:creationId xmlns:p14="http://schemas.microsoft.com/office/powerpoint/2010/main" val="1592458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DBB31A-3117-7254-17A0-EFAC8746C042}"/>
              </a:ext>
            </a:extLst>
          </p:cNvPr>
          <p:cNvSpPr>
            <a:spLocks noGrp="1"/>
          </p:cNvSpPr>
          <p:nvPr>
            <p:ph type="dt" sz="half" idx="10"/>
          </p:nvPr>
        </p:nvSpPr>
        <p:spPr/>
        <p:txBody>
          <a:bodyPr/>
          <a:lstStyle/>
          <a:p>
            <a:fld id="{FEF25406-4315-AE41-8FA3-30F7C6C8C0D6}" type="datetimeFigureOut">
              <a:rPr lang="en-US" smtClean="0"/>
              <a:t>12/1/25</a:t>
            </a:fld>
            <a:endParaRPr lang="en-US"/>
          </a:p>
        </p:txBody>
      </p:sp>
      <p:sp>
        <p:nvSpPr>
          <p:cNvPr id="3" name="Footer Placeholder 2">
            <a:extLst>
              <a:ext uri="{FF2B5EF4-FFF2-40B4-BE49-F238E27FC236}">
                <a16:creationId xmlns:a16="http://schemas.microsoft.com/office/drawing/2014/main" id="{12827053-DDCC-E45E-58A2-7373DE6EA9A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3C9A85F-A4F9-6FF4-BAFD-942E1EB6B53A}"/>
              </a:ext>
            </a:extLst>
          </p:cNvPr>
          <p:cNvSpPr>
            <a:spLocks noGrp="1"/>
          </p:cNvSpPr>
          <p:nvPr>
            <p:ph type="sldNum" sz="quarter" idx="12"/>
          </p:nvPr>
        </p:nvSpPr>
        <p:spPr/>
        <p:txBody>
          <a:bodyPr/>
          <a:lstStyle/>
          <a:p>
            <a:fld id="{4DBF2FCD-45CE-334E-99D3-7850609A029E}" type="slidenum">
              <a:rPr lang="en-US" smtClean="0"/>
              <a:t>‹#›</a:t>
            </a:fld>
            <a:endParaRPr lang="en-US"/>
          </a:p>
        </p:txBody>
      </p:sp>
    </p:spTree>
    <p:extLst>
      <p:ext uri="{BB962C8B-B14F-4D97-AF65-F5344CB8AC3E}">
        <p14:creationId xmlns:p14="http://schemas.microsoft.com/office/powerpoint/2010/main" val="9644386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C3D04-B43A-EE1E-228B-0FEA3817BEB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9FAB70EA-BE74-9ACE-1059-419479CB6A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67B69936-9EDD-90A6-BEAA-5672584E16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9003E12-1ABC-F4EA-4714-4192B82E0803}"/>
              </a:ext>
            </a:extLst>
          </p:cNvPr>
          <p:cNvSpPr>
            <a:spLocks noGrp="1"/>
          </p:cNvSpPr>
          <p:nvPr>
            <p:ph type="dt" sz="half" idx="10"/>
          </p:nvPr>
        </p:nvSpPr>
        <p:spPr/>
        <p:txBody>
          <a:bodyPr/>
          <a:lstStyle/>
          <a:p>
            <a:fld id="{FEF25406-4315-AE41-8FA3-30F7C6C8C0D6}" type="datetimeFigureOut">
              <a:rPr lang="en-US" smtClean="0"/>
              <a:t>12/1/25</a:t>
            </a:fld>
            <a:endParaRPr lang="en-US"/>
          </a:p>
        </p:txBody>
      </p:sp>
      <p:sp>
        <p:nvSpPr>
          <p:cNvPr id="6" name="Footer Placeholder 5">
            <a:extLst>
              <a:ext uri="{FF2B5EF4-FFF2-40B4-BE49-F238E27FC236}">
                <a16:creationId xmlns:a16="http://schemas.microsoft.com/office/drawing/2014/main" id="{631DD0EF-A394-4C2D-A5B0-3D178057FE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FC242D-5C5C-1CBC-0F17-DE74421F6249}"/>
              </a:ext>
            </a:extLst>
          </p:cNvPr>
          <p:cNvSpPr>
            <a:spLocks noGrp="1"/>
          </p:cNvSpPr>
          <p:nvPr>
            <p:ph type="sldNum" sz="quarter" idx="12"/>
          </p:nvPr>
        </p:nvSpPr>
        <p:spPr/>
        <p:txBody>
          <a:bodyPr/>
          <a:lstStyle/>
          <a:p>
            <a:fld id="{4DBF2FCD-45CE-334E-99D3-7850609A029E}" type="slidenum">
              <a:rPr lang="en-US" smtClean="0"/>
              <a:t>‹#›</a:t>
            </a:fld>
            <a:endParaRPr lang="en-US"/>
          </a:p>
        </p:txBody>
      </p:sp>
    </p:spTree>
    <p:extLst>
      <p:ext uri="{BB962C8B-B14F-4D97-AF65-F5344CB8AC3E}">
        <p14:creationId xmlns:p14="http://schemas.microsoft.com/office/powerpoint/2010/main" val="13520447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463B0-0CEA-AEF3-1B9A-5CC410A03E1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FE759454-3376-3DBF-C45C-24729F61EB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8B0341-6DEE-8837-72F3-245C9D1EF0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BD56371-34E5-F748-4A3C-63004D84923F}"/>
              </a:ext>
            </a:extLst>
          </p:cNvPr>
          <p:cNvSpPr>
            <a:spLocks noGrp="1"/>
          </p:cNvSpPr>
          <p:nvPr>
            <p:ph type="dt" sz="half" idx="10"/>
          </p:nvPr>
        </p:nvSpPr>
        <p:spPr/>
        <p:txBody>
          <a:bodyPr/>
          <a:lstStyle/>
          <a:p>
            <a:fld id="{FEF25406-4315-AE41-8FA3-30F7C6C8C0D6}" type="datetimeFigureOut">
              <a:rPr lang="en-US" smtClean="0"/>
              <a:t>12/1/25</a:t>
            </a:fld>
            <a:endParaRPr lang="en-US"/>
          </a:p>
        </p:txBody>
      </p:sp>
      <p:sp>
        <p:nvSpPr>
          <p:cNvPr id="6" name="Footer Placeholder 5">
            <a:extLst>
              <a:ext uri="{FF2B5EF4-FFF2-40B4-BE49-F238E27FC236}">
                <a16:creationId xmlns:a16="http://schemas.microsoft.com/office/drawing/2014/main" id="{0B7F2406-83F9-2F70-CB4A-98FDF0EFDD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50D87E-4628-7556-A871-B26DA3F66093}"/>
              </a:ext>
            </a:extLst>
          </p:cNvPr>
          <p:cNvSpPr>
            <a:spLocks noGrp="1"/>
          </p:cNvSpPr>
          <p:nvPr>
            <p:ph type="sldNum" sz="quarter" idx="12"/>
          </p:nvPr>
        </p:nvSpPr>
        <p:spPr/>
        <p:txBody>
          <a:bodyPr/>
          <a:lstStyle/>
          <a:p>
            <a:fld id="{4DBF2FCD-45CE-334E-99D3-7850609A029E}" type="slidenum">
              <a:rPr lang="en-US" smtClean="0"/>
              <a:t>‹#›</a:t>
            </a:fld>
            <a:endParaRPr lang="en-US"/>
          </a:p>
        </p:txBody>
      </p:sp>
    </p:spTree>
    <p:extLst>
      <p:ext uri="{BB962C8B-B14F-4D97-AF65-F5344CB8AC3E}">
        <p14:creationId xmlns:p14="http://schemas.microsoft.com/office/powerpoint/2010/main" val="1968737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CD2A0-B785-D215-1D7C-97596A9C2E41}"/>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95B02F7-5661-0461-433D-03F08D3083DE}"/>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D384293-5F84-B2C0-EF34-CE0D05081777}"/>
              </a:ext>
            </a:extLst>
          </p:cNvPr>
          <p:cNvSpPr>
            <a:spLocks noGrp="1"/>
          </p:cNvSpPr>
          <p:nvPr>
            <p:ph type="dt" sz="half" idx="10"/>
          </p:nvPr>
        </p:nvSpPr>
        <p:spPr/>
        <p:txBody>
          <a:bodyPr/>
          <a:lstStyle/>
          <a:p>
            <a:fld id="{FEF25406-4315-AE41-8FA3-30F7C6C8C0D6}" type="datetimeFigureOut">
              <a:rPr lang="en-US" smtClean="0"/>
              <a:t>12/1/25</a:t>
            </a:fld>
            <a:endParaRPr lang="en-US"/>
          </a:p>
        </p:txBody>
      </p:sp>
      <p:sp>
        <p:nvSpPr>
          <p:cNvPr id="5" name="Footer Placeholder 4">
            <a:extLst>
              <a:ext uri="{FF2B5EF4-FFF2-40B4-BE49-F238E27FC236}">
                <a16:creationId xmlns:a16="http://schemas.microsoft.com/office/drawing/2014/main" id="{B4507B80-AEF8-9381-A3C6-3F9363C78F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F3D35D-B409-42B6-289D-25041F7BD58D}"/>
              </a:ext>
            </a:extLst>
          </p:cNvPr>
          <p:cNvSpPr>
            <a:spLocks noGrp="1"/>
          </p:cNvSpPr>
          <p:nvPr>
            <p:ph type="sldNum" sz="quarter" idx="12"/>
          </p:nvPr>
        </p:nvSpPr>
        <p:spPr/>
        <p:txBody>
          <a:bodyPr/>
          <a:lstStyle/>
          <a:p>
            <a:fld id="{4DBF2FCD-45CE-334E-99D3-7850609A029E}" type="slidenum">
              <a:rPr lang="en-US" smtClean="0"/>
              <a:t>‹#›</a:t>
            </a:fld>
            <a:endParaRPr lang="en-US"/>
          </a:p>
        </p:txBody>
      </p:sp>
    </p:spTree>
    <p:extLst>
      <p:ext uri="{BB962C8B-B14F-4D97-AF65-F5344CB8AC3E}">
        <p14:creationId xmlns:p14="http://schemas.microsoft.com/office/powerpoint/2010/main" val="1298322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668EA8D-7C14-9F87-6821-D955E4E5B845}"/>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A91272A-A426-3CBA-7C8A-E4395A34483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48CCB0B-91C0-2834-4B05-A2ABDBB3A0AC}"/>
              </a:ext>
            </a:extLst>
          </p:cNvPr>
          <p:cNvSpPr>
            <a:spLocks noGrp="1"/>
          </p:cNvSpPr>
          <p:nvPr>
            <p:ph type="dt" sz="half" idx="10"/>
          </p:nvPr>
        </p:nvSpPr>
        <p:spPr/>
        <p:txBody>
          <a:bodyPr/>
          <a:lstStyle/>
          <a:p>
            <a:fld id="{FEF25406-4315-AE41-8FA3-30F7C6C8C0D6}" type="datetimeFigureOut">
              <a:rPr lang="en-US" smtClean="0"/>
              <a:t>12/1/25</a:t>
            </a:fld>
            <a:endParaRPr lang="en-US"/>
          </a:p>
        </p:txBody>
      </p:sp>
      <p:sp>
        <p:nvSpPr>
          <p:cNvPr id="5" name="Footer Placeholder 4">
            <a:extLst>
              <a:ext uri="{FF2B5EF4-FFF2-40B4-BE49-F238E27FC236}">
                <a16:creationId xmlns:a16="http://schemas.microsoft.com/office/drawing/2014/main" id="{6EAE5CDA-B698-053B-7B23-084C7EEECA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466E9B-47A4-58B1-AB9A-CCB190E78F24}"/>
              </a:ext>
            </a:extLst>
          </p:cNvPr>
          <p:cNvSpPr>
            <a:spLocks noGrp="1"/>
          </p:cNvSpPr>
          <p:nvPr>
            <p:ph type="sldNum" sz="quarter" idx="12"/>
          </p:nvPr>
        </p:nvSpPr>
        <p:spPr/>
        <p:txBody>
          <a:bodyPr/>
          <a:lstStyle/>
          <a:p>
            <a:fld id="{4DBF2FCD-45CE-334E-99D3-7850609A029E}" type="slidenum">
              <a:rPr lang="en-US" smtClean="0"/>
              <a:t>‹#›</a:t>
            </a:fld>
            <a:endParaRPr lang="en-US"/>
          </a:p>
        </p:txBody>
      </p:sp>
    </p:spTree>
    <p:extLst>
      <p:ext uri="{BB962C8B-B14F-4D97-AF65-F5344CB8AC3E}">
        <p14:creationId xmlns:p14="http://schemas.microsoft.com/office/powerpoint/2010/main" val="4181592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33A0F3-9ECF-FA95-A242-1C007182EB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A71F5DF-2A03-C9BD-96A8-D367CFF7AA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EDC9B13-B97C-771A-446C-A84088EC33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EF25406-4315-AE41-8FA3-30F7C6C8C0D6}" type="datetimeFigureOut">
              <a:rPr lang="en-US" smtClean="0"/>
              <a:t>12/1/25</a:t>
            </a:fld>
            <a:endParaRPr lang="en-US"/>
          </a:p>
        </p:txBody>
      </p:sp>
      <p:sp>
        <p:nvSpPr>
          <p:cNvPr id="5" name="Footer Placeholder 4">
            <a:extLst>
              <a:ext uri="{FF2B5EF4-FFF2-40B4-BE49-F238E27FC236}">
                <a16:creationId xmlns:a16="http://schemas.microsoft.com/office/drawing/2014/main" id="{AACDF308-9AFD-A24C-6AEA-48752770D9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4FD5600-5A38-3205-B096-3846ABC56B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DBF2FCD-45CE-334E-99D3-7850609A029E}" type="slidenum">
              <a:rPr lang="en-US" smtClean="0"/>
              <a:t>‹#›</a:t>
            </a:fld>
            <a:endParaRPr lang="en-US"/>
          </a:p>
        </p:txBody>
      </p:sp>
    </p:spTree>
    <p:extLst>
      <p:ext uri="{BB962C8B-B14F-4D97-AF65-F5344CB8AC3E}">
        <p14:creationId xmlns:p14="http://schemas.microsoft.com/office/powerpoint/2010/main" val="29958530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zoe.com/learn/category/podcasts" TargetMode="External"/><Relationship Id="rId2" Type="http://schemas.openxmlformats.org/officeDocument/2006/relationships/hyperlink" Target="https://ukradiolive.com/bbc-world-service/archive" TargetMode="External"/><Relationship Id="rId1" Type="http://schemas.openxmlformats.org/officeDocument/2006/relationships/slideLayout" Target="../slideLayouts/slideLayout2.xml"/><Relationship Id="rId4" Type="http://schemas.openxmlformats.org/officeDocument/2006/relationships/hyperlink" Target="https://ghdx.healthdata.org/record/cuba-statistical-yearbook-2000"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link.springer.com/content/pdf/10.1186/1735-2746-9-28.pdf" TargetMode="External"/><Relationship Id="rId2" Type="http://schemas.openxmlformats.org/officeDocument/2006/relationships/hyperlink" Target="https://documents1.worldbank.org/curated/en/160681527012587818/pdf/126402-NWP-PUBLIC-Tehran-WEB-updated.pdf" TargetMode="External"/><Relationship Id="rId1" Type="http://schemas.openxmlformats.org/officeDocument/2006/relationships/slideLayout" Target="../slideLayouts/slideLayout2.xml"/><Relationship Id="rId5" Type="http://schemas.openxmlformats.org/officeDocument/2006/relationships/hyperlink" Target="https://www.aljazeera.com/news/2025/11/24/tehran-shrouded-in-thick-smog-as-iran-burns-dirty-fuel-amid-energy-crisis" TargetMode="External"/><Relationship Id="rId4" Type="http://schemas.openxmlformats.org/officeDocument/2006/relationships/hyperlink" Target="https://www.emro.who.int/iran/news/who-iran-plants-trees-amidst-tehrans-air-pollution-crisis.html"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www.tfah.org/wp-content/uploads/2024/09/TFAH_Obesity_One-Pager_California_09.10.24_vfinal_1.pdf" TargetMode="External"/><Relationship Id="rId2" Type="http://schemas.openxmlformats.org/officeDocument/2006/relationships/hyperlink" Target="https://healthpolicy.ucla.edu/our-work/overweight-and-obesity" TargetMode="External"/><Relationship Id="rId1" Type="http://schemas.openxmlformats.org/officeDocument/2006/relationships/slideLayout" Target="../slideLayouts/slideLayout2.xml"/><Relationship Id="rId4" Type="http://schemas.openxmlformats.org/officeDocument/2006/relationships/hyperlink" Target="https://www.cdc.gov/obesity/data-and-statistics/adult-obesity-prevalence-maps.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E70372AA-12E1-4094-B31A-1B0F57FC3E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Video 26" descr="Condenser Microphone">
            <a:extLst>
              <a:ext uri="{FF2B5EF4-FFF2-40B4-BE49-F238E27FC236}">
                <a16:creationId xmlns:a16="http://schemas.microsoft.com/office/drawing/2014/main" id="{6A929DD3-7CB8-BFE6-532C-686D230EEB9B}"/>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r="1" b="285"/>
          <a:stretch>
            <a:fillRect/>
          </a:stretch>
        </p:blipFill>
        <p:spPr>
          <a:xfrm>
            <a:off x="-6096" y="-2346"/>
            <a:ext cx="12191999" cy="6857990"/>
          </a:xfrm>
          <a:prstGeom prst="rect">
            <a:avLst/>
          </a:prstGeom>
        </p:spPr>
      </p:pic>
      <p:sp>
        <p:nvSpPr>
          <p:cNvPr id="33" name="Rectangle 32">
            <a:extLst>
              <a:ext uri="{FF2B5EF4-FFF2-40B4-BE49-F238E27FC236}">
                <a16:creationId xmlns:a16="http://schemas.microsoft.com/office/drawing/2014/main" id="{AA61CCAC-6875-474C-8E9E-F57ABF078C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7" y="-2346"/>
            <a:ext cx="12191999" cy="2155484"/>
          </a:xfrm>
          <a:prstGeom prst="rect">
            <a:avLst/>
          </a:prstGeom>
          <a:gradFill flip="none" rotWithShape="1">
            <a:gsLst>
              <a:gs pos="59000">
                <a:srgbClr val="000000">
                  <a:alpha val="30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5683D043-25BB-4AC9-8130-6411796726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3534655"/>
            <a:ext cx="12191999" cy="3323345"/>
          </a:xfrm>
          <a:prstGeom prst="rect">
            <a:avLst/>
          </a:prstGeom>
          <a:gradFill flip="none" rotWithShape="1">
            <a:gsLst>
              <a:gs pos="57000">
                <a:srgbClr val="000000">
                  <a:alpha val="30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B0689B-A08C-1085-3CF3-6D3D2020FC2A}"/>
              </a:ext>
            </a:extLst>
          </p:cNvPr>
          <p:cNvSpPr>
            <a:spLocks noGrp="1"/>
          </p:cNvSpPr>
          <p:nvPr>
            <p:ph type="ctrTitle"/>
          </p:nvPr>
        </p:nvSpPr>
        <p:spPr>
          <a:xfrm>
            <a:off x="321733" y="2306963"/>
            <a:ext cx="10672316" cy="3670255"/>
          </a:xfrm>
        </p:spPr>
        <p:txBody>
          <a:bodyPr anchor="b">
            <a:normAutofit/>
          </a:bodyPr>
          <a:lstStyle/>
          <a:p>
            <a:pPr algn="l"/>
            <a:r>
              <a:rPr lang="en-US" sz="5200" dirty="0">
                <a:solidFill>
                  <a:srgbClr val="FFFFFF"/>
                </a:solidFill>
              </a:rPr>
              <a:t>Reflective podcast presentation </a:t>
            </a:r>
          </a:p>
        </p:txBody>
      </p:sp>
      <p:sp>
        <p:nvSpPr>
          <p:cNvPr id="3" name="Subtitle 2">
            <a:extLst>
              <a:ext uri="{FF2B5EF4-FFF2-40B4-BE49-F238E27FC236}">
                <a16:creationId xmlns:a16="http://schemas.microsoft.com/office/drawing/2014/main" id="{76716E88-3450-B1CF-F201-BD284846A58E}"/>
              </a:ext>
            </a:extLst>
          </p:cNvPr>
          <p:cNvSpPr>
            <a:spLocks noGrp="1"/>
          </p:cNvSpPr>
          <p:nvPr>
            <p:ph type="subTitle" idx="1"/>
          </p:nvPr>
        </p:nvSpPr>
        <p:spPr>
          <a:xfrm>
            <a:off x="6099046" y="1075396"/>
            <a:ext cx="10675136" cy="1831405"/>
          </a:xfrm>
        </p:spPr>
        <p:txBody>
          <a:bodyPr anchor="t">
            <a:normAutofit/>
          </a:bodyPr>
          <a:lstStyle/>
          <a:p>
            <a:pPr algn="l"/>
            <a:r>
              <a:rPr lang="en-GB" dirty="0">
                <a:solidFill>
                  <a:srgbClr val="FFFFFF"/>
                </a:solidFill>
              </a:rPr>
              <a:t>PT5051 Professional Practice 2</a:t>
            </a:r>
            <a:br>
              <a:rPr lang="en-GB" dirty="0">
                <a:solidFill>
                  <a:srgbClr val="FFFFFF"/>
                </a:solidFill>
              </a:rPr>
            </a:br>
            <a:endParaRPr lang="en-US" dirty="0">
              <a:solidFill>
                <a:srgbClr val="FFFFFF"/>
              </a:solidFill>
            </a:endParaRPr>
          </a:p>
        </p:txBody>
      </p:sp>
    </p:spTree>
    <p:extLst>
      <p:ext uri="{BB962C8B-B14F-4D97-AF65-F5344CB8AC3E}">
        <p14:creationId xmlns:p14="http://schemas.microsoft.com/office/powerpoint/2010/main" val="3763128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10" fill="hold"/>
                                        <p:tgtEl>
                                          <p:spTgt spid="27"/>
                                        </p:tgtEl>
                                      </p:cBhvr>
                                    </p:cmd>
                                  </p:childTnLst>
                                </p:cTn>
                              </p:par>
                              <p:par>
                                <p:cTn id="7" presetID="10" presetClass="entr" presetSubtype="0" fill="hold" grpId="0" nodeType="withEffect">
                                  <p:stCondLst>
                                    <p:cond delay="500"/>
                                  </p:stCondLst>
                                  <p:iterate type="wd">
                                    <p:tmPct val="15000"/>
                                  </p:iterate>
                                  <p:childTnLst>
                                    <p:set>
                                      <p:cBhvr>
                                        <p:cTn id="8" dur="1" fill="hold">
                                          <p:stCondLst>
                                            <p:cond delay="0"/>
                                          </p:stCondLst>
                                        </p:cTn>
                                        <p:tgtEl>
                                          <p:spTgt spid="2"/>
                                        </p:tgtEl>
                                        <p:attrNameLst>
                                          <p:attrName>style.visibility</p:attrName>
                                        </p:attrNameLst>
                                      </p:cBhvr>
                                      <p:to>
                                        <p:strVal val="visible"/>
                                      </p:to>
                                    </p:set>
                                    <p:animEffect transition="in" filter="fade">
                                      <p:cBhvr>
                                        <p:cTn id="9" dur="1000"/>
                                        <p:tgtEl>
                                          <p:spTgt spid="2"/>
                                        </p:tgtEl>
                                      </p:cBhvr>
                                    </p:animEffect>
                                  </p:childTnLst>
                                </p:cTn>
                              </p:par>
                              <p:par>
                                <p:cTn id="10" presetID="10" presetClass="entr" presetSubtype="0" fill="hold" grpId="0" nodeType="withEffect">
                                  <p:stCondLst>
                                    <p:cond delay="1000"/>
                                  </p:stCondLst>
                                  <p:iterate type="wd">
                                    <p:tmPct val="15000"/>
                                  </p:iterate>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3" restart="whenNotActive" fill="hold" evtFilter="cancelBubble" nodeType="interactiveSeq">
                <p:stCondLst>
                  <p:cond evt="onClick" delay="0">
                    <p:tgtEl>
                      <p:spTgt spid="27"/>
                    </p:tgtEl>
                  </p:cond>
                </p:stCondLst>
                <p:endSync evt="end" delay="0">
                  <p:rtn val="all"/>
                </p:endSync>
                <p:childTnLst>
                  <p:par>
                    <p:cTn id="14" fill="hold">
                      <p:stCondLst>
                        <p:cond delay="0"/>
                      </p:stCondLst>
                      <p:childTnLst>
                        <p:par>
                          <p:cTn id="15" fill="hold">
                            <p:stCondLst>
                              <p:cond delay="0"/>
                            </p:stCondLst>
                            <p:childTnLst>
                              <p:par>
                                <p:cTn id="16" presetID="2" presetClass="mediacall" presetSubtype="0" fill="hold" nodeType="clickEffect">
                                  <p:stCondLst>
                                    <p:cond delay="0"/>
                                  </p:stCondLst>
                                  <p:childTnLst>
                                    <p:cmd type="call" cmd="togglePause">
                                      <p:cBhvr>
                                        <p:cTn id="17" dur="1" fill="hold"/>
                                        <p:tgtEl>
                                          <p:spTgt spid="27"/>
                                        </p:tgtEl>
                                      </p:cBhvr>
                                    </p:cmd>
                                  </p:childTnLst>
                                </p:cTn>
                              </p:par>
                            </p:childTnLst>
                          </p:cTn>
                        </p:par>
                      </p:childTnLst>
                    </p:cTn>
                  </p:par>
                </p:childTnLst>
              </p:cTn>
              <p:nextCondLst>
                <p:cond evt="onClick" delay="0">
                  <p:tgtEl>
                    <p:spTgt spid="27"/>
                  </p:tgtEl>
                </p:cond>
              </p:nextCondLst>
            </p:seq>
            <p:video>
              <p:cMediaNode mute="1">
                <p:cTn id="18" repeatCount="indefinite" fill="hold" display="0">
                  <p:stCondLst>
                    <p:cond delay="indefinite"/>
                  </p:stCondLst>
                </p:cTn>
                <p:tgtEl>
                  <p:spTgt spid="27"/>
                </p:tgtEl>
              </p:cMediaNode>
            </p:video>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B36F400F-DF28-43BC-8D8E-4929793B39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5000"/>
            </a:schemeClr>
          </a:solidFill>
          <a:ln w="127000" cap="sq" cmpd="thinThick">
            <a:solidFill>
              <a:schemeClr val="tx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81159A-B9F9-38D2-83BD-B6AF77250409}"/>
              </a:ext>
            </a:extLst>
          </p:cNvPr>
          <p:cNvSpPr>
            <a:spLocks noGrp="1"/>
          </p:cNvSpPr>
          <p:nvPr>
            <p:ph type="title"/>
          </p:nvPr>
        </p:nvSpPr>
        <p:spPr>
          <a:xfrm>
            <a:off x="838200" y="668377"/>
            <a:ext cx="10515600" cy="1325563"/>
          </a:xfrm>
        </p:spPr>
        <p:txBody>
          <a:bodyPr>
            <a:normAutofit/>
          </a:bodyPr>
          <a:lstStyle/>
          <a:p>
            <a:r>
              <a:rPr lang="en-US" dirty="0"/>
              <a:t>	Summary of the podcasts</a:t>
            </a:r>
          </a:p>
        </p:txBody>
      </p:sp>
      <p:sp>
        <p:nvSpPr>
          <p:cNvPr id="3" name="Content Placeholder 2">
            <a:extLst>
              <a:ext uri="{FF2B5EF4-FFF2-40B4-BE49-F238E27FC236}">
                <a16:creationId xmlns:a16="http://schemas.microsoft.com/office/drawing/2014/main" id="{3A147EA3-3F2E-4230-E3C3-3085A90689F5}"/>
              </a:ext>
            </a:extLst>
          </p:cNvPr>
          <p:cNvSpPr>
            <a:spLocks noGrp="1"/>
          </p:cNvSpPr>
          <p:nvPr>
            <p:ph sz="half" idx="1"/>
          </p:nvPr>
        </p:nvSpPr>
        <p:spPr>
          <a:xfrm>
            <a:off x="838200" y="2256586"/>
            <a:ext cx="5097780" cy="3795748"/>
          </a:xfrm>
        </p:spPr>
        <p:txBody>
          <a:bodyPr>
            <a:normAutofit fontScale="62500" lnSpcReduction="20000"/>
          </a:bodyPr>
          <a:lstStyle/>
          <a:p>
            <a:r>
              <a:rPr lang="en-US" altLang="en-US" dirty="0">
                <a:latin typeface="Aptos" panose="020B0004020202020204" pitchFamily="34" charset="0"/>
              </a:rPr>
              <a:t>BBC World Service “</a:t>
            </a:r>
            <a:r>
              <a:rPr lang="en-US" altLang="en-US" i="1" dirty="0">
                <a:latin typeface="Aptos" panose="020B0004020202020204" pitchFamily="34" charset="0"/>
              </a:rPr>
              <a:t>Health Talks” </a:t>
            </a:r>
            <a:r>
              <a:rPr lang="en-US" altLang="en-US" dirty="0">
                <a:latin typeface="Aptos" panose="020B0004020202020204" pitchFamily="34" charset="0"/>
              </a:rPr>
              <a:t>podcast (2000-2001)</a:t>
            </a:r>
            <a:endParaRPr lang="en-GB" dirty="0"/>
          </a:p>
          <a:p>
            <a:r>
              <a:rPr lang="en-GB" dirty="0"/>
              <a:t>This podcast aims to explain how culture, environment, and government policy shape the health challenges faced by different countries. Its goal is to educate listeners and raise awareness about significant global health events from the recent past.</a:t>
            </a:r>
          </a:p>
          <a:p>
            <a:r>
              <a:rPr lang="en-GB" dirty="0"/>
              <a:t>The target audience is professionals and specialists interested in worldwide health issues, such as public health workers, researchers, policy makers, and aid workers.</a:t>
            </a:r>
          </a:p>
          <a:p>
            <a:br>
              <a:rPr lang="en-GB" dirty="0"/>
            </a:br>
            <a:endParaRPr lang="en-GB" dirty="0"/>
          </a:p>
          <a:p>
            <a:endParaRPr lang="en-US" sz="1700" dirty="0"/>
          </a:p>
        </p:txBody>
      </p:sp>
      <p:sp>
        <p:nvSpPr>
          <p:cNvPr id="4" name="Content Placeholder 3">
            <a:extLst>
              <a:ext uri="{FF2B5EF4-FFF2-40B4-BE49-F238E27FC236}">
                <a16:creationId xmlns:a16="http://schemas.microsoft.com/office/drawing/2014/main" id="{BA112D70-D052-2400-3FE6-2540D44B8CAD}"/>
              </a:ext>
            </a:extLst>
          </p:cNvPr>
          <p:cNvSpPr>
            <a:spLocks noGrp="1"/>
          </p:cNvSpPr>
          <p:nvPr>
            <p:ph sz="half" idx="2"/>
          </p:nvPr>
        </p:nvSpPr>
        <p:spPr>
          <a:xfrm>
            <a:off x="6256020" y="2177456"/>
            <a:ext cx="5097780" cy="3795748"/>
          </a:xfrm>
        </p:spPr>
        <p:txBody>
          <a:bodyPr>
            <a:normAutofit fontScale="62500" lnSpcReduction="20000"/>
          </a:bodyPr>
          <a:lstStyle/>
          <a:p>
            <a:pPr marL="0" indent="0">
              <a:buNone/>
            </a:pPr>
            <a:endParaRPr lang="en-US" sz="1700" dirty="0"/>
          </a:p>
          <a:p>
            <a:r>
              <a:rPr lang="en-GB" sz="3200" dirty="0"/>
              <a:t>ZOE Science and Nutrition podcast </a:t>
            </a:r>
            <a:endParaRPr lang="en-US" sz="2900" dirty="0"/>
          </a:p>
          <a:p>
            <a:r>
              <a:rPr lang="en-US" sz="2900" dirty="0"/>
              <a:t> podcast aims to translate complex health science into simple, practical advice for daily life. It focuses heavily on giving listeners actionable tips they can use to improve their diet and lifestyle immediately.</a:t>
            </a:r>
          </a:p>
          <a:p>
            <a:endParaRPr lang="en-US" sz="2900" dirty="0"/>
          </a:p>
          <a:p>
            <a:r>
              <a:rPr lang="en-US" sz="2900" dirty="0"/>
              <a:t>The target audience is the general public anyone interested in building healthier habits and willing to make real changes, attracted by the podcast's clear and accessible explanation of otherwise complicated topics.</a:t>
            </a:r>
          </a:p>
        </p:txBody>
      </p:sp>
    </p:spTree>
    <p:extLst>
      <p:ext uri="{BB962C8B-B14F-4D97-AF65-F5344CB8AC3E}">
        <p14:creationId xmlns:p14="http://schemas.microsoft.com/office/powerpoint/2010/main" val="7897697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76F524-823E-074B-9B73-8578AC78C48E}"/>
              </a:ext>
            </a:extLst>
          </p:cNvPr>
          <p:cNvSpPr>
            <a:spLocks noGrp="1"/>
          </p:cNvSpPr>
          <p:nvPr>
            <p:ph type="title"/>
          </p:nvPr>
        </p:nvSpPr>
        <p:spPr>
          <a:xfrm>
            <a:off x="804672" y="802955"/>
            <a:ext cx="4977976" cy="1454051"/>
          </a:xfrm>
        </p:spPr>
        <p:txBody>
          <a:bodyPr>
            <a:normAutofit/>
          </a:bodyPr>
          <a:lstStyle/>
          <a:p>
            <a:r>
              <a:rPr lang="en-US" sz="3600">
                <a:solidFill>
                  <a:schemeClr val="tx2"/>
                </a:solidFill>
              </a:rPr>
              <a:t>Scientific evidence base – podcast 1</a:t>
            </a:r>
          </a:p>
        </p:txBody>
      </p:sp>
      <p:sp>
        <p:nvSpPr>
          <p:cNvPr id="3" name="Content Placeholder 2">
            <a:extLst>
              <a:ext uri="{FF2B5EF4-FFF2-40B4-BE49-F238E27FC236}">
                <a16:creationId xmlns:a16="http://schemas.microsoft.com/office/drawing/2014/main" id="{3A3FA2A0-C72F-F1AF-89F3-81DD4521FD15}"/>
              </a:ext>
            </a:extLst>
          </p:cNvPr>
          <p:cNvSpPr>
            <a:spLocks noGrp="1"/>
          </p:cNvSpPr>
          <p:nvPr>
            <p:ph idx="1"/>
          </p:nvPr>
        </p:nvSpPr>
        <p:spPr>
          <a:xfrm>
            <a:off x="804672" y="2421682"/>
            <a:ext cx="4977578" cy="3639289"/>
          </a:xfrm>
        </p:spPr>
        <p:txBody>
          <a:bodyPr anchor="ctr">
            <a:normAutofit fontScale="62500" lnSpcReduction="20000"/>
          </a:bodyPr>
          <a:lstStyle/>
          <a:p>
            <a:r>
              <a:rPr lang="en-GB" dirty="0"/>
              <a:t>This 2000 episode provided a credible journalistic report on Cuba's healthcare at the time, mixing official data with personal stories. It used verified statistics, like Cuba's high number of doctors, alongside powerful real-life accounts to show both the system's successes and its struggles with shortages.</a:t>
            </a:r>
          </a:p>
          <a:p>
            <a:r>
              <a:rPr lang="en-GB" dirty="0"/>
              <a:t>While engaging and historically useful, the report is not scientifically rigorous by today's standards. Its evidence is largely anecdotal and its data is now 25 years old. This makes it a valuable historical snapshot, but not a reliable source for understanding Cuba's current healthcare situation.</a:t>
            </a:r>
          </a:p>
          <a:p>
            <a:pPr marL="0" indent="0">
              <a:buNone/>
            </a:pPr>
            <a:endParaRPr lang="en-GB" dirty="0"/>
          </a:p>
        </p:txBody>
      </p:sp>
      <p:grpSp>
        <p:nvGrpSpPr>
          <p:cNvPr id="14" name="Group 13">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15" name="Freeform: Shape 14">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Podcast">
            <a:extLst>
              <a:ext uri="{FF2B5EF4-FFF2-40B4-BE49-F238E27FC236}">
                <a16:creationId xmlns:a16="http://schemas.microsoft.com/office/drawing/2014/main" id="{79CFA2C5-76D8-BF39-01AB-5266D4EF865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39466972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F901CF-DE04-FB7B-6AB0-F90BFAEAD5FA}"/>
              </a:ext>
            </a:extLst>
          </p:cNvPr>
          <p:cNvSpPr>
            <a:spLocks noGrp="1"/>
          </p:cNvSpPr>
          <p:nvPr>
            <p:ph type="title"/>
          </p:nvPr>
        </p:nvSpPr>
        <p:spPr>
          <a:xfrm>
            <a:off x="804672" y="802955"/>
            <a:ext cx="4766330" cy="1454051"/>
          </a:xfrm>
        </p:spPr>
        <p:txBody>
          <a:bodyPr>
            <a:normAutofit/>
          </a:bodyPr>
          <a:lstStyle/>
          <a:p>
            <a:r>
              <a:rPr lang="en-US" sz="3600">
                <a:solidFill>
                  <a:schemeClr val="tx2"/>
                </a:solidFill>
              </a:rPr>
              <a:t>Scientific evidence base - podcast 2 </a:t>
            </a:r>
          </a:p>
        </p:txBody>
      </p:sp>
      <p:sp>
        <p:nvSpPr>
          <p:cNvPr id="4" name="Rectangle 1">
            <a:extLst>
              <a:ext uri="{FF2B5EF4-FFF2-40B4-BE49-F238E27FC236}">
                <a16:creationId xmlns:a16="http://schemas.microsoft.com/office/drawing/2014/main" id="{9A219037-7D95-4F02-B457-FD29ADFCC8A3}"/>
              </a:ext>
            </a:extLst>
          </p:cNvPr>
          <p:cNvSpPr>
            <a:spLocks noGrp="1" noChangeArrowheads="1"/>
          </p:cNvSpPr>
          <p:nvPr>
            <p:ph idx="1"/>
          </p:nvPr>
        </p:nvSpPr>
        <p:spPr bwMode="auto">
          <a:xfrm>
            <a:off x="341376" y="2421682"/>
            <a:ext cx="5229245" cy="393515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fontScale="62500" lnSpcReduction="20000"/>
          </a:bodyPr>
          <a:lstStyle/>
          <a:p>
            <a:pPr marL="0" marR="0" lvl="0" indent="0" defTabSz="914400" rtl="0" eaLnBrk="0" fontAlgn="base" latinLnBrk="0" hangingPunct="0">
              <a:spcBef>
                <a:spcPct val="0"/>
              </a:spcBef>
              <a:spcAft>
                <a:spcPts val="600"/>
              </a:spcAft>
              <a:buClrTx/>
              <a:buSzTx/>
              <a:buFontTx/>
              <a:buNone/>
              <a:tabLst/>
            </a:pPr>
            <a:endParaRPr kumimoji="0" lang="en-US" altLang="en-US" sz="1100" b="0" i="0" u="none" strike="noStrike" cap="none" normalizeH="0" baseline="0" dirty="0">
              <a:ln>
                <a:noFill/>
              </a:ln>
              <a:solidFill>
                <a:schemeClr val="tx2"/>
              </a:solidFill>
              <a:effectLst/>
              <a:latin typeface="Arial" panose="020B0604020202020204" pitchFamily="34" charset="0"/>
            </a:endParaRPr>
          </a:p>
          <a:p>
            <a:r>
              <a:rPr lang="en-GB" dirty="0"/>
              <a:t>This podcast aims to empower listeners by translating the latest nutritional science into practical advice for improving personal health and weight management. It establishes strong credibility by exclusively featuring leading experts and doctors as its authoritative voices.</a:t>
            </a:r>
          </a:p>
          <a:p>
            <a:r>
              <a:rPr lang="en-GB" dirty="0"/>
              <a:t>The information presented is backed by high-quality scientific research. This includes randomized controlled trials (considered the gold standard of evidence), large-scale population studies involving hundreds of thousands of people, and in-depth expert interviews. The focus is on providing listeners with reliable, actionable knowledge they can trust and use.</a:t>
            </a:r>
          </a:p>
          <a:p>
            <a:pPr marL="0" marR="0" lvl="0" indent="0" defTabSz="914400" rtl="0" eaLnBrk="0" fontAlgn="base" latinLnBrk="0" hangingPunct="0">
              <a:spcBef>
                <a:spcPct val="0"/>
              </a:spcBef>
              <a:spcAft>
                <a:spcPts val="600"/>
              </a:spcAft>
              <a:buClrTx/>
              <a:buSzTx/>
              <a:buFontTx/>
              <a:buNone/>
              <a:tabLst/>
            </a:pPr>
            <a:endParaRPr kumimoji="0" lang="en-US" altLang="en-US" sz="1100" b="0" i="0" u="none" strike="noStrike" cap="none" normalizeH="0" baseline="0" dirty="0">
              <a:ln>
                <a:noFill/>
              </a:ln>
              <a:solidFill>
                <a:schemeClr val="tx2"/>
              </a:solidFill>
              <a:effectLst/>
              <a:latin typeface="Arial" panose="020B0604020202020204" pitchFamily="34" charset="0"/>
            </a:endParaRPr>
          </a:p>
        </p:txBody>
      </p:sp>
      <p:grpSp>
        <p:nvGrpSpPr>
          <p:cNvPr id="28" name="Group 27">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29" name="Freeform: Shape 28">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Graphic 7" descr="Podcast">
            <a:extLst>
              <a:ext uri="{FF2B5EF4-FFF2-40B4-BE49-F238E27FC236}">
                <a16:creationId xmlns:a16="http://schemas.microsoft.com/office/drawing/2014/main" id="{B5E54ABC-7BC2-D84E-8463-B0367BE102F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08392" y="1819656"/>
            <a:ext cx="4142232" cy="4142232"/>
          </a:xfrm>
          <a:prstGeom prst="rect">
            <a:avLst/>
          </a:prstGeom>
        </p:spPr>
      </p:pic>
    </p:spTree>
    <p:extLst>
      <p:ext uri="{BB962C8B-B14F-4D97-AF65-F5344CB8AC3E}">
        <p14:creationId xmlns:p14="http://schemas.microsoft.com/office/powerpoint/2010/main" val="14057099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36F400F-DF28-43BC-8D8E-4929793B39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5000"/>
            </a:schemeClr>
          </a:solidFill>
          <a:ln w="127000" cap="sq" cmpd="thinThick">
            <a:solidFill>
              <a:schemeClr val="tx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645636-C15E-F115-D655-BBC4CD09E34E}"/>
              </a:ext>
            </a:extLst>
          </p:cNvPr>
          <p:cNvSpPr>
            <a:spLocks noGrp="1"/>
          </p:cNvSpPr>
          <p:nvPr>
            <p:ph type="title"/>
          </p:nvPr>
        </p:nvSpPr>
        <p:spPr>
          <a:xfrm>
            <a:off x="917330" y="494209"/>
            <a:ext cx="10515600" cy="1325563"/>
          </a:xfrm>
        </p:spPr>
        <p:txBody>
          <a:bodyPr>
            <a:normAutofit/>
          </a:bodyPr>
          <a:lstStyle/>
          <a:p>
            <a:r>
              <a:rPr lang="en-US" dirty="0"/>
              <a:t>Accessibility </a:t>
            </a:r>
          </a:p>
        </p:txBody>
      </p:sp>
      <p:sp>
        <p:nvSpPr>
          <p:cNvPr id="3" name="Content Placeholder 2">
            <a:extLst>
              <a:ext uri="{FF2B5EF4-FFF2-40B4-BE49-F238E27FC236}">
                <a16:creationId xmlns:a16="http://schemas.microsoft.com/office/drawing/2014/main" id="{EBD22FDE-ADAE-53B4-9B1F-A68917CE8CEA}"/>
              </a:ext>
            </a:extLst>
          </p:cNvPr>
          <p:cNvSpPr>
            <a:spLocks noGrp="1"/>
          </p:cNvSpPr>
          <p:nvPr>
            <p:ph sz="half" idx="1"/>
          </p:nvPr>
        </p:nvSpPr>
        <p:spPr>
          <a:xfrm>
            <a:off x="697524" y="1993940"/>
            <a:ext cx="5558496" cy="3537735"/>
          </a:xfrm>
        </p:spPr>
        <p:txBody>
          <a:bodyPr>
            <a:normAutofit fontScale="25000" lnSpcReduction="20000"/>
          </a:bodyPr>
          <a:lstStyle/>
          <a:p>
            <a:r>
              <a:rPr lang="en-US" sz="7200" dirty="0"/>
              <a:t>Podcast 1</a:t>
            </a:r>
          </a:p>
          <a:p>
            <a:r>
              <a:rPr lang="en-GB" sz="7200" dirty="0"/>
              <a:t>Strengths:</a:t>
            </a:r>
          </a:p>
          <a:p>
            <a:r>
              <a:rPr lang="en-GB" sz="7200" dirty="0"/>
              <a:t>Free and Public: The podcast is freely available.</a:t>
            </a:r>
          </a:p>
          <a:p>
            <a:r>
              <a:rPr lang="en-GB" sz="7200" dirty="0"/>
              <a:t>Universal Language: It avoids jargon and uses clear, simple language for a global audience.</a:t>
            </a:r>
          </a:p>
          <a:p>
            <a:r>
              <a:rPr lang="en-GB" sz="7200" dirty="0"/>
              <a:t>Focused Format: At 14 minutes with three clear segments, it is concise and well-structured.</a:t>
            </a:r>
          </a:p>
          <a:p>
            <a:r>
              <a:rPr lang="en-GB" sz="7200" dirty="0"/>
              <a:t>High Audio Quality: The recording is clear and easy to understand.</a:t>
            </a:r>
          </a:p>
          <a:p>
            <a:r>
              <a:rPr lang="en-GB" sz="7200" dirty="0"/>
              <a:t>Ideal for Auditory/Visually Impaired Listeners: It perfectly serves auditory learners and is an accessible format for the visually impaired.</a:t>
            </a:r>
          </a:p>
          <a:p>
            <a:r>
              <a:rPr lang="en-GB" sz="7200" dirty="0"/>
              <a:t>Weakness:</a:t>
            </a:r>
          </a:p>
          <a:p>
            <a:r>
              <a:rPr lang="en-GB" sz="7200" dirty="0"/>
              <a:t>Lacks Access Aids: It does not provide transcripts or visual supports, creating a barrier for deaf/hard-of-hearing audiences or those who benefit from reading or seeing concepts illustrated.</a:t>
            </a:r>
          </a:p>
          <a:p>
            <a:endParaRPr lang="en-US" sz="1300" dirty="0"/>
          </a:p>
        </p:txBody>
      </p:sp>
      <p:sp>
        <p:nvSpPr>
          <p:cNvPr id="4" name="Content Placeholder 3">
            <a:extLst>
              <a:ext uri="{FF2B5EF4-FFF2-40B4-BE49-F238E27FC236}">
                <a16:creationId xmlns:a16="http://schemas.microsoft.com/office/drawing/2014/main" id="{4333E7E6-F96B-1F1E-08EF-BE1A814E3C75}"/>
              </a:ext>
            </a:extLst>
          </p:cNvPr>
          <p:cNvSpPr>
            <a:spLocks noGrp="1"/>
          </p:cNvSpPr>
          <p:nvPr>
            <p:ph sz="half" idx="2"/>
          </p:nvPr>
        </p:nvSpPr>
        <p:spPr>
          <a:xfrm>
            <a:off x="6175130" y="1860696"/>
            <a:ext cx="5695306" cy="4997304"/>
          </a:xfrm>
        </p:spPr>
        <p:txBody>
          <a:bodyPr>
            <a:normAutofit fontScale="25000" lnSpcReduction="20000"/>
          </a:bodyPr>
          <a:lstStyle/>
          <a:p>
            <a:pPr marL="0" indent="0">
              <a:buNone/>
            </a:pPr>
            <a:r>
              <a:rPr lang="en-US" sz="1700" dirty="0"/>
              <a:t>  </a:t>
            </a:r>
            <a:endParaRPr lang="en-US" sz="4200" dirty="0"/>
          </a:p>
          <a:p>
            <a:r>
              <a:rPr lang="en-GB" sz="8000" dirty="0"/>
              <a:t>Podcast 2</a:t>
            </a:r>
          </a:p>
          <a:p>
            <a:r>
              <a:rPr lang="en-GB" sz="8000" dirty="0"/>
              <a:t>The podcast's core purpose is to make complex scientific research on nutrition and weight loss easy to understand for the general public. It successfully achieves this by breaking down advanced topics into simple, clear language.</a:t>
            </a:r>
          </a:p>
          <a:p>
            <a:r>
              <a:rPr lang="en-GB" sz="8000" dirty="0"/>
              <a:t>This approach effectively builds a strong foundation of crucial health knowledge for listeners who are not experts or regular readers of scientific literature. The success of this simplified format is noted by users and professional reviewers, confirming that the information is genuinely easier to grasp.</a:t>
            </a:r>
          </a:p>
          <a:p>
            <a:endParaRPr lang="en-US" sz="1700" dirty="0"/>
          </a:p>
        </p:txBody>
      </p:sp>
    </p:spTree>
    <p:extLst>
      <p:ext uri="{BB962C8B-B14F-4D97-AF65-F5344CB8AC3E}">
        <p14:creationId xmlns:p14="http://schemas.microsoft.com/office/powerpoint/2010/main" val="556448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6F400F-DF28-43BC-8D8E-4929793B39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5000"/>
            </a:schemeClr>
          </a:solidFill>
          <a:ln w="127000" cap="sq" cmpd="thinThick">
            <a:solidFill>
              <a:schemeClr val="tx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0B86E6-4887-46A3-F197-586FC1AF6DAD}"/>
              </a:ext>
            </a:extLst>
          </p:cNvPr>
          <p:cNvSpPr>
            <a:spLocks noGrp="1"/>
          </p:cNvSpPr>
          <p:nvPr>
            <p:ph type="title"/>
          </p:nvPr>
        </p:nvSpPr>
        <p:spPr>
          <a:xfrm>
            <a:off x="838200" y="668377"/>
            <a:ext cx="10515600" cy="1325563"/>
          </a:xfrm>
        </p:spPr>
        <p:txBody>
          <a:bodyPr>
            <a:normAutofit/>
          </a:bodyPr>
          <a:lstStyle/>
          <a:p>
            <a:r>
              <a:rPr lang="en-US" dirty="0"/>
              <a:t>Key take home messages </a:t>
            </a:r>
          </a:p>
        </p:txBody>
      </p:sp>
      <p:sp>
        <p:nvSpPr>
          <p:cNvPr id="3" name="Content Placeholder 2">
            <a:extLst>
              <a:ext uri="{FF2B5EF4-FFF2-40B4-BE49-F238E27FC236}">
                <a16:creationId xmlns:a16="http://schemas.microsoft.com/office/drawing/2014/main" id="{DA774AA0-120A-B69F-EB50-8FBC87B0F9C9}"/>
              </a:ext>
            </a:extLst>
          </p:cNvPr>
          <p:cNvSpPr>
            <a:spLocks noGrp="1"/>
          </p:cNvSpPr>
          <p:nvPr>
            <p:ph sz="half" idx="1"/>
          </p:nvPr>
        </p:nvSpPr>
        <p:spPr>
          <a:xfrm>
            <a:off x="838200" y="2177456"/>
            <a:ext cx="5097780" cy="3795748"/>
          </a:xfrm>
        </p:spPr>
        <p:txBody>
          <a:bodyPr>
            <a:normAutofit/>
          </a:bodyPr>
          <a:lstStyle/>
          <a:p>
            <a:r>
              <a:rPr lang="en-US" sz="1500"/>
              <a:t>Podcast 1:</a:t>
            </a:r>
          </a:p>
          <a:p>
            <a:r>
              <a:rPr lang="en-US" sz="1500"/>
              <a:t>Healthcare is a relatable topic of discussion, problems such as disease and pollution can affect us all to an extent.</a:t>
            </a:r>
          </a:p>
          <a:p>
            <a:r>
              <a:rPr lang="en-US" sz="1500"/>
              <a:t>Wealth is not the sole determinant of health, there are many cases of “wealthier” countries having problems with managing the rising rates of obesity while other lesser developed countries can have a great standard for healthcare yet have a shortage of imported medicine. </a:t>
            </a:r>
          </a:p>
          <a:p>
            <a:r>
              <a:rPr lang="en-US" sz="1500"/>
              <a:t>Location of residence heavily impact your health and the quality of healthcare you may receive </a:t>
            </a:r>
          </a:p>
          <a:p>
            <a:r>
              <a:rPr lang="en-US" sz="1500"/>
              <a:t>The way in which a countries healthcare system is set up reflects upon the societies  priorities and politics.</a:t>
            </a:r>
          </a:p>
        </p:txBody>
      </p:sp>
      <p:sp>
        <p:nvSpPr>
          <p:cNvPr id="4" name="Content Placeholder 3">
            <a:extLst>
              <a:ext uri="{FF2B5EF4-FFF2-40B4-BE49-F238E27FC236}">
                <a16:creationId xmlns:a16="http://schemas.microsoft.com/office/drawing/2014/main" id="{F6B70AA6-83C2-86AC-0122-69D522B4074A}"/>
              </a:ext>
            </a:extLst>
          </p:cNvPr>
          <p:cNvSpPr>
            <a:spLocks noGrp="1"/>
          </p:cNvSpPr>
          <p:nvPr>
            <p:ph sz="half" idx="2"/>
          </p:nvPr>
        </p:nvSpPr>
        <p:spPr>
          <a:xfrm>
            <a:off x="6256020" y="2177456"/>
            <a:ext cx="5097780" cy="3795748"/>
          </a:xfrm>
        </p:spPr>
        <p:txBody>
          <a:bodyPr>
            <a:normAutofit/>
          </a:bodyPr>
          <a:lstStyle/>
          <a:p>
            <a:r>
              <a:rPr lang="en-US" sz="1700"/>
              <a:t>Podcast 2: </a:t>
            </a:r>
          </a:p>
          <a:p>
            <a:r>
              <a:rPr lang="en-GB" sz="1700"/>
              <a:t>Nutrition is a universal aspect of our lives, and the choices we make about food impact everyone's well-being.</a:t>
            </a:r>
          </a:p>
          <a:p>
            <a:r>
              <a:rPr lang="en-GB" sz="1700"/>
              <a:t>There is no single perfect diet for everyone, as individual needs and responses to food can vary significantly.</a:t>
            </a:r>
          </a:p>
          <a:p>
            <a:r>
              <a:rPr lang="en-GB" sz="1700"/>
              <a:t>The quality of your diet is more important than any single nutrient, with a focus on whole, diverse foods being a common foundation for good health.</a:t>
            </a:r>
          </a:p>
          <a:p>
            <a:r>
              <a:rPr lang="en-GB" sz="1700"/>
              <a:t>The way we approach our diet reflects our personal priorities and lifestyle, showing that health is built through consistent daily habits.</a:t>
            </a:r>
          </a:p>
          <a:p>
            <a:endParaRPr lang="en-US" sz="1700"/>
          </a:p>
        </p:txBody>
      </p:sp>
    </p:spTree>
    <p:extLst>
      <p:ext uri="{BB962C8B-B14F-4D97-AF65-F5344CB8AC3E}">
        <p14:creationId xmlns:p14="http://schemas.microsoft.com/office/powerpoint/2010/main" val="5638037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A48F1-298D-4F6F-2926-B5B9382CAD32}"/>
              </a:ext>
            </a:extLst>
          </p:cNvPr>
          <p:cNvSpPr>
            <a:spLocks noGrp="1"/>
          </p:cNvSpPr>
          <p:nvPr>
            <p:ph type="title"/>
          </p:nvPr>
        </p:nvSpPr>
        <p:spPr/>
        <p:txBody>
          <a:bodyPr/>
          <a:lstStyle/>
          <a:p>
            <a:r>
              <a:rPr lang="en-US" dirty="0"/>
              <a:t>Communication </a:t>
            </a:r>
          </a:p>
        </p:txBody>
      </p:sp>
      <p:sp>
        <p:nvSpPr>
          <p:cNvPr id="3" name="Text Placeholder 2">
            <a:extLst>
              <a:ext uri="{FF2B5EF4-FFF2-40B4-BE49-F238E27FC236}">
                <a16:creationId xmlns:a16="http://schemas.microsoft.com/office/drawing/2014/main" id="{5A96508D-3AD2-EF6E-A2C7-84BB6D6DBFBC}"/>
              </a:ext>
            </a:extLst>
          </p:cNvPr>
          <p:cNvSpPr>
            <a:spLocks noGrp="1"/>
          </p:cNvSpPr>
          <p:nvPr>
            <p:ph type="body" idx="1"/>
          </p:nvPr>
        </p:nvSpPr>
        <p:spPr/>
        <p:txBody>
          <a:bodyPr/>
          <a:lstStyle/>
          <a:p>
            <a:r>
              <a:rPr lang="en-US" dirty="0"/>
              <a:t>Podcast 1</a:t>
            </a:r>
          </a:p>
        </p:txBody>
      </p:sp>
      <p:sp>
        <p:nvSpPr>
          <p:cNvPr id="4" name="Content Placeholder 3">
            <a:extLst>
              <a:ext uri="{FF2B5EF4-FFF2-40B4-BE49-F238E27FC236}">
                <a16:creationId xmlns:a16="http://schemas.microsoft.com/office/drawing/2014/main" id="{D8AA12E2-1FBC-91C3-FA27-F1449F58B6C3}"/>
              </a:ext>
            </a:extLst>
          </p:cNvPr>
          <p:cNvSpPr>
            <a:spLocks noGrp="1"/>
          </p:cNvSpPr>
          <p:nvPr>
            <p:ph sz="half" idx="2"/>
          </p:nvPr>
        </p:nvSpPr>
        <p:spPr/>
        <p:txBody>
          <a:bodyPr/>
          <a:lstStyle/>
          <a:p>
            <a:pPr marL="0" indent="0">
              <a:buNone/>
            </a:pPr>
            <a:r>
              <a:rPr lang="en-GB" dirty="0"/>
              <a:t>BBC Health Check</a:t>
            </a:r>
          </a:p>
          <a:p>
            <a:r>
              <a:rPr lang="en-GB" dirty="0"/>
              <a:t>Formal Journalistic tone</a:t>
            </a:r>
          </a:p>
          <a:p>
            <a:r>
              <a:rPr lang="en-GB" dirty="0"/>
              <a:t>Led by the presenter with interviews and expert commentary</a:t>
            </a:r>
          </a:p>
          <a:p>
            <a:r>
              <a:rPr lang="en-GB" dirty="0"/>
              <a:t>Factual segments</a:t>
            </a:r>
          </a:p>
          <a:p>
            <a:r>
              <a:rPr lang="en-GB" dirty="0"/>
              <a:t>Focus on global health issues and statistics</a:t>
            </a:r>
          </a:p>
          <a:p>
            <a:endParaRPr lang="en-US" dirty="0"/>
          </a:p>
        </p:txBody>
      </p:sp>
      <p:sp>
        <p:nvSpPr>
          <p:cNvPr id="5" name="Text Placeholder 4">
            <a:extLst>
              <a:ext uri="{FF2B5EF4-FFF2-40B4-BE49-F238E27FC236}">
                <a16:creationId xmlns:a16="http://schemas.microsoft.com/office/drawing/2014/main" id="{7FFFEE80-B9FE-93CB-DE10-019B5C9782ED}"/>
              </a:ext>
            </a:extLst>
          </p:cNvPr>
          <p:cNvSpPr>
            <a:spLocks noGrp="1"/>
          </p:cNvSpPr>
          <p:nvPr>
            <p:ph type="body" sz="quarter" idx="3"/>
          </p:nvPr>
        </p:nvSpPr>
        <p:spPr/>
        <p:txBody>
          <a:bodyPr/>
          <a:lstStyle/>
          <a:p>
            <a:r>
              <a:rPr lang="en-US" dirty="0"/>
              <a:t>Podcast 2</a:t>
            </a:r>
          </a:p>
        </p:txBody>
      </p:sp>
      <p:sp>
        <p:nvSpPr>
          <p:cNvPr id="6" name="Content Placeholder 5">
            <a:extLst>
              <a:ext uri="{FF2B5EF4-FFF2-40B4-BE49-F238E27FC236}">
                <a16:creationId xmlns:a16="http://schemas.microsoft.com/office/drawing/2014/main" id="{2C0C3685-62CE-9BDE-57CA-A49D1222A517}"/>
              </a:ext>
            </a:extLst>
          </p:cNvPr>
          <p:cNvSpPr>
            <a:spLocks noGrp="1"/>
          </p:cNvSpPr>
          <p:nvPr>
            <p:ph sz="quarter" idx="4"/>
          </p:nvPr>
        </p:nvSpPr>
        <p:spPr/>
        <p:txBody>
          <a:bodyPr/>
          <a:lstStyle/>
          <a:p>
            <a:pPr marL="0" indent="0">
              <a:buNone/>
            </a:pPr>
            <a:r>
              <a:rPr lang="en-GB" dirty="0"/>
              <a:t>ZOE Science &amp; Nutrition</a:t>
            </a:r>
          </a:p>
          <a:p>
            <a:r>
              <a:rPr lang="en-GB" dirty="0"/>
              <a:t>Conversational and engaging</a:t>
            </a:r>
          </a:p>
          <a:p>
            <a:r>
              <a:rPr lang="en-GB" dirty="0"/>
              <a:t>Mix of a host, scientist, journalist</a:t>
            </a:r>
          </a:p>
          <a:p>
            <a:r>
              <a:rPr lang="en-GB" dirty="0"/>
              <a:t>Use of storytelling, personal experiences and analogies</a:t>
            </a:r>
          </a:p>
          <a:p>
            <a:r>
              <a:rPr lang="en-GB" dirty="0"/>
              <a:t>Encourages dialogue and curiosity</a:t>
            </a:r>
          </a:p>
          <a:p>
            <a:endParaRPr lang="en-US" dirty="0"/>
          </a:p>
        </p:txBody>
      </p:sp>
    </p:spTree>
    <p:extLst>
      <p:ext uri="{BB962C8B-B14F-4D97-AF65-F5344CB8AC3E}">
        <p14:creationId xmlns:p14="http://schemas.microsoft.com/office/powerpoint/2010/main" val="33819808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6F400F-DF28-43BC-8D8E-4929793B39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5000"/>
            </a:schemeClr>
          </a:solidFill>
          <a:ln w="127000" cap="sq" cmpd="thinThick">
            <a:solidFill>
              <a:schemeClr val="tx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2C65F5-056B-D3EC-062F-C2B163CB5A3D}"/>
              </a:ext>
            </a:extLst>
          </p:cNvPr>
          <p:cNvSpPr>
            <a:spLocks noGrp="1"/>
          </p:cNvSpPr>
          <p:nvPr>
            <p:ph type="title"/>
          </p:nvPr>
        </p:nvSpPr>
        <p:spPr>
          <a:xfrm>
            <a:off x="838200" y="668377"/>
            <a:ext cx="10515600" cy="1325563"/>
          </a:xfrm>
        </p:spPr>
        <p:txBody>
          <a:bodyPr>
            <a:normAutofit/>
          </a:bodyPr>
          <a:lstStyle/>
          <a:p>
            <a:r>
              <a:rPr lang="en-GB"/>
              <a:t>Behaviour modification </a:t>
            </a:r>
            <a:endParaRPr lang="en-GB" dirty="0"/>
          </a:p>
        </p:txBody>
      </p:sp>
      <p:sp>
        <p:nvSpPr>
          <p:cNvPr id="3" name="Content Placeholder 2">
            <a:extLst>
              <a:ext uri="{FF2B5EF4-FFF2-40B4-BE49-F238E27FC236}">
                <a16:creationId xmlns:a16="http://schemas.microsoft.com/office/drawing/2014/main" id="{B94B4AF4-355B-E58A-7FE2-65F182C2287C}"/>
              </a:ext>
            </a:extLst>
          </p:cNvPr>
          <p:cNvSpPr>
            <a:spLocks noGrp="1"/>
          </p:cNvSpPr>
          <p:nvPr>
            <p:ph sz="half" idx="1"/>
          </p:nvPr>
        </p:nvSpPr>
        <p:spPr>
          <a:xfrm>
            <a:off x="838200" y="2177456"/>
            <a:ext cx="5097780" cy="3795748"/>
          </a:xfrm>
        </p:spPr>
        <p:txBody>
          <a:bodyPr>
            <a:normAutofit/>
          </a:bodyPr>
          <a:lstStyle/>
          <a:p>
            <a:r>
              <a:rPr lang="en-US" sz="2200"/>
              <a:t>Podcast 1</a:t>
            </a:r>
          </a:p>
          <a:p>
            <a:pPr marL="0" indent="0">
              <a:buNone/>
            </a:pPr>
            <a:r>
              <a:rPr lang="en-GB" sz="2200"/>
              <a:t>BBC Health Check</a:t>
            </a:r>
          </a:p>
          <a:p>
            <a:r>
              <a:rPr lang="en-GB" sz="2200"/>
              <a:t>Focused on informing and raising awareness</a:t>
            </a:r>
          </a:p>
          <a:p>
            <a:r>
              <a:rPr lang="en-GB" sz="2200"/>
              <a:t>Use experts to encourage reflection</a:t>
            </a:r>
          </a:p>
          <a:p>
            <a:r>
              <a:rPr lang="en-GB" sz="2200"/>
              <a:t>Provides public health guidance</a:t>
            </a:r>
          </a:p>
          <a:p>
            <a:r>
              <a:rPr lang="en-GB" sz="2200"/>
              <a:t>Less interactive </a:t>
            </a:r>
          </a:p>
          <a:p>
            <a:r>
              <a:rPr lang="en-GB" sz="2200"/>
              <a:t>Encourage change through awareness and fear appeals</a:t>
            </a:r>
          </a:p>
          <a:p>
            <a:endParaRPr lang="en-GB" sz="2200"/>
          </a:p>
          <a:p>
            <a:endParaRPr lang="en-US" sz="2200"/>
          </a:p>
        </p:txBody>
      </p:sp>
      <p:sp>
        <p:nvSpPr>
          <p:cNvPr id="4" name="Content Placeholder 3">
            <a:extLst>
              <a:ext uri="{FF2B5EF4-FFF2-40B4-BE49-F238E27FC236}">
                <a16:creationId xmlns:a16="http://schemas.microsoft.com/office/drawing/2014/main" id="{39E3858B-AC77-2B55-A697-A9780EF5229F}"/>
              </a:ext>
            </a:extLst>
          </p:cNvPr>
          <p:cNvSpPr>
            <a:spLocks noGrp="1"/>
          </p:cNvSpPr>
          <p:nvPr>
            <p:ph sz="half" idx="2"/>
          </p:nvPr>
        </p:nvSpPr>
        <p:spPr>
          <a:xfrm>
            <a:off x="6256020" y="2177456"/>
            <a:ext cx="5097780" cy="3795748"/>
          </a:xfrm>
        </p:spPr>
        <p:txBody>
          <a:bodyPr>
            <a:normAutofit/>
          </a:bodyPr>
          <a:lstStyle/>
          <a:p>
            <a:r>
              <a:rPr lang="en-US" sz="2400"/>
              <a:t>Podcast 2</a:t>
            </a:r>
          </a:p>
          <a:p>
            <a:pPr marL="0" indent="0">
              <a:buNone/>
            </a:pPr>
            <a:r>
              <a:rPr lang="en-GB" sz="2400"/>
              <a:t>ZOE Science &amp; Nutrition</a:t>
            </a:r>
          </a:p>
          <a:p>
            <a:r>
              <a:rPr lang="en-GB" sz="2400"/>
              <a:t>Motivational interviewing style</a:t>
            </a:r>
          </a:p>
          <a:p>
            <a:r>
              <a:rPr lang="en-GB" sz="2400"/>
              <a:t>Provides practical tips</a:t>
            </a:r>
          </a:p>
          <a:p>
            <a:r>
              <a:rPr lang="en-GB" sz="2400"/>
              <a:t>Encourages gradual, lifestyle modifications</a:t>
            </a:r>
          </a:p>
          <a:p>
            <a:r>
              <a:rPr lang="en-GB" sz="2400"/>
              <a:t>Frequent positive reinforcement </a:t>
            </a:r>
          </a:p>
          <a:p>
            <a:r>
              <a:rPr lang="en-GB" sz="2400"/>
              <a:t>Provides step by step guidance</a:t>
            </a:r>
          </a:p>
          <a:p>
            <a:endParaRPr lang="en-US" sz="2400"/>
          </a:p>
        </p:txBody>
      </p:sp>
    </p:spTree>
    <p:extLst>
      <p:ext uri="{BB962C8B-B14F-4D97-AF65-F5344CB8AC3E}">
        <p14:creationId xmlns:p14="http://schemas.microsoft.com/office/powerpoint/2010/main" val="20454665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FF6844-2447-BA27-D3EA-1EED9911544B}"/>
              </a:ext>
            </a:extLst>
          </p:cNvPr>
          <p:cNvSpPr>
            <a:spLocks noGrp="1"/>
          </p:cNvSpPr>
          <p:nvPr>
            <p:ph type="title"/>
          </p:nvPr>
        </p:nvSpPr>
        <p:spPr>
          <a:xfrm>
            <a:off x="6094105" y="802955"/>
            <a:ext cx="4977976" cy="1454051"/>
          </a:xfrm>
        </p:spPr>
        <p:txBody>
          <a:bodyPr>
            <a:normAutofit/>
          </a:bodyPr>
          <a:lstStyle/>
          <a:p>
            <a:r>
              <a:rPr lang="en-US" sz="3600">
                <a:solidFill>
                  <a:schemeClr val="tx2"/>
                </a:solidFill>
              </a:rPr>
              <a:t>Podcast recommendation </a:t>
            </a:r>
          </a:p>
        </p:txBody>
      </p:sp>
      <p:pic>
        <p:nvPicPr>
          <p:cNvPr id="7" name="Graphic 6" descr="Chat">
            <a:extLst>
              <a:ext uri="{FF2B5EF4-FFF2-40B4-BE49-F238E27FC236}">
                <a16:creationId xmlns:a16="http://schemas.microsoft.com/office/drawing/2014/main" id="{C563DF61-9713-F960-4B5E-C2141F6E005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14A79D85-1AE3-B5B6-E680-CBE8D3B1A21C}"/>
              </a:ext>
            </a:extLst>
          </p:cNvPr>
          <p:cNvSpPr>
            <a:spLocks noGrp="1"/>
          </p:cNvSpPr>
          <p:nvPr>
            <p:ph idx="1"/>
          </p:nvPr>
        </p:nvSpPr>
        <p:spPr>
          <a:xfrm>
            <a:off x="6090574" y="2421682"/>
            <a:ext cx="4977578" cy="3639289"/>
          </a:xfrm>
        </p:spPr>
        <p:txBody>
          <a:bodyPr anchor="ctr">
            <a:normAutofit/>
          </a:bodyPr>
          <a:lstStyle/>
          <a:p>
            <a:pPr marL="0" indent="0">
              <a:buNone/>
            </a:pPr>
            <a:r>
              <a:rPr lang="en-GB" sz="1800">
                <a:solidFill>
                  <a:schemeClr val="tx2"/>
                </a:solidFill>
              </a:rPr>
              <a:t>ZOE Science &amp; Nutrition has a better communication style and approach for behaviour change</a:t>
            </a:r>
          </a:p>
          <a:p>
            <a:r>
              <a:rPr lang="en-GB" sz="1800">
                <a:solidFill>
                  <a:schemeClr val="tx2"/>
                </a:solidFill>
              </a:rPr>
              <a:t> Uses relatable dialogue</a:t>
            </a:r>
          </a:p>
          <a:p>
            <a:r>
              <a:rPr lang="en-GB" sz="1800">
                <a:solidFill>
                  <a:schemeClr val="tx2"/>
                </a:solidFill>
              </a:rPr>
              <a:t>Include practical strategies that encourage change</a:t>
            </a:r>
          </a:p>
          <a:p>
            <a:pPr marL="0" indent="0">
              <a:buNone/>
            </a:pPr>
            <a:endParaRPr lang="en-GB" sz="1800">
              <a:solidFill>
                <a:schemeClr val="tx2"/>
              </a:solidFill>
            </a:endParaRPr>
          </a:p>
          <a:p>
            <a:pPr marL="0" indent="0">
              <a:buNone/>
            </a:pPr>
            <a:r>
              <a:rPr lang="en-GB" sz="1800">
                <a:solidFill>
                  <a:schemeClr val="tx2"/>
                </a:solidFill>
              </a:rPr>
              <a:t>BBC Health Check is good for awareness and credibility</a:t>
            </a:r>
          </a:p>
          <a:p>
            <a:r>
              <a:rPr lang="en-GB" sz="1800">
                <a:solidFill>
                  <a:schemeClr val="tx2"/>
                </a:solidFill>
              </a:rPr>
              <a:t>Less effective at motivating personal change </a:t>
            </a:r>
          </a:p>
          <a:p>
            <a:endParaRPr lang="en-US" sz="1800">
              <a:solidFill>
                <a:schemeClr val="tx2"/>
              </a:solidFill>
            </a:endParaRP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5170879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A98FEF-3644-7CB4-3116-15512B483719}"/>
              </a:ext>
            </a:extLst>
          </p:cNvPr>
          <p:cNvSpPr>
            <a:spLocks noGrp="1"/>
          </p:cNvSpPr>
          <p:nvPr>
            <p:ph type="title"/>
          </p:nvPr>
        </p:nvSpPr>
        <p:spPr>
          <a:xfrm>
            <a:off x="1043631" y="809898"/>
            <a:ext cx="9942716" cy="1554480"/>
          </a:xfrm>
        </p:spPr>
        <p:txBody>
          <a:bodyPr anchor="ctr">
            <a:normAutofit/>
          </a:bodyPr>
          <a:lstStyle/>
          <a:p>
            <a:r>
              <a:rPr lang="en-US" sz="4800"/>
              <a:t>Reference </a:t>
            </a:r>
          </a:p>
        </p:txBody>
      </p:sp>
      <p:sp>
        <p:nvSpPr>
          <p:cNvPr id="3" name="Content Placeholder 2">
            <a:extLst>
              <a:ext uri="{FF2B5EF4-FFF2-40B4-BE49-F238E27FC236}">
                <a16:creationId xmlns:a16="http://schemas.microsoft.com/office/drawing/2014/main" id="{E32ED6DD-87F4-E266-23F1-C1D2C5716EDA}"/>
              </a:ext>
            </a:extLst>
          </p:cNvPr>
          <p:cNvSpPr>
            <a:spLocks noGrp="1"/>
          </p:cNvSpPr>
          <p:nvPr>
            <p:ph idx="1"/>
          </p:nvPr>
        </p:nvSpPr>
        <p:spPr>
          <a:xfrm>
            <a:off x="1045028" y="3017522"/>
            <a:ext cx="9941319" cy="3124658"/>
          </a:xfrm>
        </p:spPr>
        <p:txBody>
          <a:bodyPr anchor="ctr">
            <a:normAutofit/>
          </a:bodyPr>
          <a:lstStyle/>
          <a:p>
            <a:r>
              <a:rPr lang="en-US" sz="2400"/>
              <a:t>BBC World service. (2000-2001). </a:t>
            </a:r>
            <a:r>
              <a:rPr lang="en-US" sz="2400" i="1"/>
              <a:t>Health Check Podcast Series. </a:t>
            </a:r>
            <a:r>
              <a:rPr lang="en-US" sz="2400"/>
              <a:t>BBC World Health Service Archive. </a:t>
            </a:r>
            <a:r>
              <a:rPr lang="en-US" sz="2400">
                <a:hlinkClick r:id="rId2"/>
              </a:rPr>
              <a:t>https://ukradiolive.com/bbc-world-service/archive</a:t>
            </a:r>
            <a:endParaRPr lang="en-US" sz="2400"/>
          </a:p>
          <a:p>
            <a:r>
              <a:rPr lang="en-US" sz="2400"/>
              <a:t>ZOE. (2022-2025). </a:t>
            </a:r>
            <a:r>
              <a:rPr lang="en-US" sz="2400" i="1"/>
              <a:t>ZOE Science and Nutrition Podcast. </a:t>
            </a:r>
            <a:r>
              <a:rPr lang="en-US" sz="2400"/>
              <a:t>ZOE Official Website. </a:t>
            </a:r>
            <a:r>
              <a:rPr lang="en-GB" sz="2400">
                <a:hlinkClick r:id="rId3"/>
              </a:rPr>
              <a:t>https://zoe.com/learn/category/podcasts</a:t>
            </a:r>
            <a:endParaRPr lang="en-US" sz="2400" i="1"/>
          </a:p>
          <a:p>
            <a:r>
              <a:rPr lang="en-US" sz="2400"/>
              <a:t>Cuba National Statistics Office. (2000). </a:t>
            </a:r>
            <a:r>
              <a:rPr lang="en-US" sz="2400" i="1"/>
              <a:t>Cuba Statistical Yearbook 2000. </a:t>
            </a:r>
            <a:r>
              <a:rPr lang="en-US" sz="2400"/>
              <a:t>Global Health Data Exchange. </a:t>
            </a:r>
            <a:r>
              <a:rPr lang="en-US" sz="2400" i="1">
                <a:hlinkClick r:id="rId4"/>
              </a:rPr>
              <a:t>https://ghdx.healthdata.org/record/cuba-statistical-yearbook-2000</a:t>
            </a:r>
            <a:endParaRPr lang="en-US" sz="2400" i="1"/>
          </a:p>
          <a:p>
            <a:endParaRPr lang="en-US" sz="2400"/>
          </a:p>
          <a:p>
            <a:endParaRPr lang="en-US" sz="24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8394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4DE730-62C2-8957-9848-568E2F7654F5}"/>
              </a:ext>
            </a:extLst>
          </p:cNvPr>
          <p:cNvSpPr>
            <a:spLocks noGrp="1"/>
          </p:cNvSpPr>
          <p:nvPr>
            <p:ph type="title"/>
          </p:nvPr>
        </p:nvSpPr>
        <p:spPr>
          <a:xfrm>
            <a:off x="1043631" y="809898"/>
            <a:ext cx="9942716" cy="1554480"/>
          </a:xfrm>
        </p:spPr>
        <p:txBody>
          <a:bodyPr anchor="ctr">
            <a:normAutofit/>
          </a:bodyPr>
          <a:lstStyle/>
          <a:p>
            <a:r>
              <a:rPr lang="en-US" sz="4800"/>
              <a:t>References</a:t>
            </a:r>
          </a:p>
        </p:txBody>
      </p:sp>
      <p:sp>
        <p:nvSpPr>
          <p:cNvPr id="3" name="Content Placeholder 2">
            <a:extLst>
              <a:ext uri="{FF2B5EF4-FFF2-40B4-BE49-F238E27FC236}">
                <a16:creationId xmlns:a16="http://schemas.microsoft.com/office/drawing/2014/main" id="{25FA399F-0877-1C15-CB17-6C4227BF9451}"/>
              </a:ext>
            </a:extLst>
          </p:cNvPr>
          <p:cNvSpPr>
            <a:spLocks noGrp="1"/>
          </p:cNvSpPr>
          <p:nvPr>
            <p:ph idx="1"/>
          </p:nvPr>
        </p:nvSpPr>
        <p:spPr>
          <a:xfrm>
            <a:off x="1045028" y="3017522"/>
            <a:ext cx="9941319" cy="3124658"/>
          </a:xfrm>
        </p:spPr>
        <p:txBody>
          <a:bodyPr anchor="ctr">
            <a:normAutofit/>
          </a:bodyPr>
          <a:lstStyle/>
          <a:p>
            <a:r>
              <a:rPr lang="en-GB" sz="1500"/>
              <a:t>Heger, M., &amp; Sarraf, M. (2018). </a:t>
            </a:r>
            <a:r>
              <a:rPr lang="en-GB" sz="1500" i="1"/>
              <a:t>Air Pollution in Tehran: Health Costs, Sources, and Policies</a:t>
            </a:r>
            <a:r>
              <a:rPr lang="en-GB" sz="1500"/>
              <a:t>. World Bank Discussion Paper. </a:t>
            </a:r>
            <a:r>
              <a:rPr lang="en-GB" sz="1500">
                <a:hlinkClick r:id="rId2"/>
              </a:rPr>
              <a:t>https://documents1.worldbank.org/curated/en/160681527012587818/pdf/126402-NWP-PUBLIC-Tehran-WEB-updated.pdf</a:t>
            </a:r>
            <a:r>
              <a:rPr lang="en-GB" sz="1500"/>
              <a:t> </a:t>
            </a:r>
            <a:r>
              <a:rPr lang="en-GB" sz="1500">
                <a:hlinkClick r:id="rId2"/>
              </a:rPr>
              <a:t>[documents1...ldbank.org]</a:t>
            </a:r>
            <a:endParaRPr lang="en-GB" sz="1500"/>
          </a:p>
          <a:p>
            <a:r>
              <a:rPr lang="en-GB" sz="1500"/>
              <a:t>Naddafi, K., Hassanvand, M.S., et al. (2012). </a:t>
            </a:r>
            <a:r>
              <a:rPr lang="en-GB" sz="1500" i="1"/>
              <a:t>Health Impact Assessment of Air Pollution in Megacity of Tehran, Iran</a:t>
            </a:r>
            <a:r>
              <a:rPr lang="en-GB" sz="1500"/>
              <a:t>. </a:t>
            </a:r>
            <a:r>
              <a:rPr lang="en-GB" sz="1500" i="1"/>
              <a:t>Iranian Journal of Environmental Health Science &amp; Engineering</a:t>
            </a:r>
            <a:r>
              <a:rPr lang="en-GB" sz="1500"/>
              <a:t>, 9(1), 28. </a:t>
            </a:r>
            <a:r>
              <a:rPr lang="en-GB" sz="1500">
                <a:hlinkClick r:id="rId3"/>
              </a:rPr>
              <a:t>https://link.springer.com/content/pdf/10.1186/1735-2746-9-28.pdf</a:t>
            </a:r>
            <a:r>
              <a:rPr lang="en-GB" sz="1500"/>
              <a:t> </a:t>
            </a:r>
            <a:r>
              <a:rPr lang="en-GB" sz="1500">
                <a:hlinkClick r:id="rId3"/>
              </a:rPr>
              <a:t>[link.springer.com]</a:t>
            </a:r>
            <a:endParaRPr lang="en-GB" sz="1500"/>
          </a:p>
          <a:p>
            <a:r>
              <a:rPr lang="en-GB" sz="1500"/>
              <a:t>WHO EMRO. (2025). </a:t>
            </a:r>
            <a:r>
              <a:rPr lang="en-GB" sz="1500" i="1"/>
              <a:t>WHO Iran Plants Trees Amidst Tehran's Air Pollution Crisis</a:t>
            </a:r>
            <a:r>
              <a:rPr lang="en-GB" sz="1500"/>
              <a:t>. </a:t>
            </a:r>
            <a:r>
              <a:rPr lang="en-GB" sz="1500">
                <a:hlinkClick r:id="rId4"/>
              </a:rPr>
              <a:t>https://www.emro.who.int/iran/news/who-iran-plants-trees-amidst-tehrans-air-pollution-crisis.html</a:t>
            </a:r>
            <a:r>
              <a:rPr lang="en-GB" sz="1500"/>
              <a:t> </a:t>
            </a:r>
            <a:r>
              <a:rPr lang="en-GB" sz="1500">
                <a:hlinkClick r:id="rId4"/>
              </a:rPr>
              <a:t>[emro.who.int]</a:t>
            </a:r>
            <a:endParaRPr lang="en-GB" sz="1500"/>
          </a:p>
          <a:p>
            <a:r>
              <a:rPr lang="en-GB" sz="1500"/>
              <a:t>Motamedi, M. (2025). </a:t>
            </a:r>
            <a:r>
              <a:rPr lang="en-GB" sz="1500" i="1"/>
              <a:t>Tehran Shrouded in Thick Smog as Iran Burns Dirty Fuel Amid Energy Crisis</a:t>
            </a:r>
            <a:r>
              <a:rPr lang="en-GB" sz="1500"/>
              <a:t>. </a:t>
            </a:r>
            <a:r>
              <a:rPr lang="en-GB" sz="1500" i="1"/>
              <a:t>Al Jazeera News</a:t>
            </a:r>
            <a:r>
              <a:rPr lang="en-GB" sz="1500"/>
              <a:t>. </a:t>
            </a:r>
            <a:r>
              <a:rPr lang="en-GB" sz="1500">
                <a:hlinkClick r:id="rId5"/>
              </a:rPr>
              <a:t>https://www.aljazeera.com/news/2025/11/24/tehran-shrouded-in-thick-smog-as-iran-burns-dirty-fuel-amid-energy-crisis</a:t>
            </a:r>
            <a:r>
              <a:rPr lang="en-GB" sz="1500"/>
              <a:t> </a:t>
            </a:r>
            <a:r>
              <a:rPr lang="en-GB" sz="1500">
                <a:hlinkClick r:id="rId5"/>
              </a:rPr>
              <a:t>[aljazeera.com]</a:t>
            </a:r>
            <a:r>
              <a:rPr lang="en-GB" sz="1500"/>
              <a:t> </a:t>
            </a:r>
            <a:endParaRPr lang="en-US" sz="15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90272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7C92EB-3017-568B-3D41-E6610BEF9F3B}"/>
              </a:ext>
            </a:extLst>
          </p:cNvPr>
          <p:cNvSpPr>
            <a:spLocks noGrp="1"/>
          </p:cNvSpPr>
          <p:nvPr>
            <p:ph type="title"/>
          </p:nvPr>
        </p:nvSpPr>
        <p:spPr>
          <a:xfrm>
            <a:off x="1043631" y="809898"/>
            <a:ext cx="9942716" cy="1554480"/>
          </a:xfrm>
        </p:spPr>
        <p:txBody>
          <a:bodyPr anchor="ctr">
            <a:normAutofit/>
          </a:bodyPr>
          <a:lstStyle/>
          <a:p>
            <a:r>
              <a:rPr lang="en-US" sz="4800"/>
              <a:t>References </a:t>
            </a:r>
          </a:p>
        </p:txBody>
      </p:sp>
      <p:sp>
        <p:nvSpPr>
          <p:cNvPr id="3" name="Content Placeholder 2">
            <a:extLst>
              <a:ext uri="{FF2B5EF4-FFF2-40B4-BE49-F238E27FC236}">
                <a16:creationId xmlns:a16="http://schemas.microsoft.com/office/drawing/2014/main" id="{B8D70446-8392-3D4F-1A39-B3DE9F8B7C81}"/>
              </a:ext>
            </a:extLst>
          </p:cNvPr>
          <p:cNvSpPr>
            <a:spLocks noGrp="1"/>
          </p:cNvSpPr>
          <p:nvPr>
            <p:ph idx="1"/>
          </p:nvPr>
        </p:nvSpPr>
        <p:spPr>
          <a:xfrm>
            <a:off x="1045028" y="3017522"/>
            <a:ext cx="9941319" cy="3124658"/>
          </a:xfrm>
        </p:spPr>
        <p:txBody>
          <a:bodyPr anchor="ctr">
            <a:normAutofit/>
          </a:bodyPr>
          <a:lstStyle/>
          <a:p>
            <a:r>
              <a:rPr lang="en-GB" sz="2200"/>
              <a:t>UCLA Center for Health Policy Research. (2023). </a:t>
            </a:r>
            <a:r>
              <a:rPr lang="en-GB" sz="2200" i="1"/>
              <a:t>Overweight and Obesity in California</a:t>
            </a:r>
            <a:r>
              <a:rPr lang="en-GB" sz="2200"/>
              <a:t>. </a:t>
            </a:r>
            <a:r>
              <a:rPr lang="en-GB" sz="2200">
                <a:hlinkClick r:id="rId2"/>
              </a:rPr>
              <a:t>https://healthpolicy.ucla.edu/our-work/overweight-and-obesity</a:t>
            </a:r>
            <a:r>
              <a:rPr lang="en-GB" sz="2200"/>
              <a:t> </a:t>
            </a:r>
            <a:r>
              <a:rPr lang="en-GB" sz="2200">
                <a:hlinkClick r:id="rId2"/>
              </a:rPr>
              <a:t>[healthpoli...y.ucla.edu]</a:t>
            </a:r>
            <a:endParaRPr lang="en-GB" sz="2200"/>
          </a:p>
          <a:p>
            <a:r>
              <a:rPr lang="en-GB" sz="2200"/>
              <a:t>Trust for America’s Health. (2024). </a:t>
            </a:r>
            <a:r>
              <a:rPr lang="en-GB" sz="2200" i="1"/>
              <a:t>The State of Obesity 2024: Better Policies for a Healthier America</a:t>
            </a:r>
            <a:r>
              <a:rPr lang="en-GB" sz="2200"/>
              <a:t>. https://www.tfah.org/report-details/state-of-obesity-2024/ </a:t>
            </a:r>
            <a:r>
              <a:rPr lang="en-GB" sz="2200">
                <a:hlinkClick r:id="rId3"/>
              </a:rPr>
              <a:t>[tfah.org]</a:t>
            </a:r>
            <a:endParaRPr lang="en-GB" sz="2200"/>
          </a:p>
          <a:p>
            <a:r>
              <a:rPr lang="en-GB" sz="2200"/>
              <a:t>CDC. (2024). </a:t>
            </a:r>
            <a:r>
              <a:rPr lang="en-GB" sz="2200" i="1"/>
              <a:t>Adult Obesity Prevalence Maps</a:t>
            </a:r>
            <a:r>
              <a:rPr lang="en-GB" sz="2200"/>
              <a:t>. </a:t>
            </a:r>
            <a:r>
              <a:rPr lang="en-GB" sz="2200">
                <a:hlinkClick r:id="rId4"/>
              </a:rPr>
              <a:t>https://www.cdc.gov/obesity/data-and-statistics/adult-obesity-prevalence-maps.html</a:t>
            </a:r>
            <a:r>
              <a:rPr lang="en-GB" sz="2200"/>
              <a:t> </a:t>
            </a:r>
            <a:r>
              <a:rPr lang="en-GB" sz="2200">
                <a:hlinkClick r:id="rId4"/>
              </a:rPr>
              <a:t>[cdc.gov]</a:t>
            </a:r>
            <a:endParaRPr lang="en-GB" sz="2200"/>
          </a:p>
          <a:p>
            <a:endParaRPr lang="en-US" sz="220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28239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3777</TotalTime>
  <Words>1332</Words>
  <Application>Microsoft Macintosh PowerPoint</Application>
  <PresentationFormat>Widescreen</PresentationFormat>
  <Paragraphs>92</Paragraphs>
  <Slides>12</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Reflective podcast presentation </vt:lpstr>
      <vt:lpstr> Summary of the podcasts</vt:lpstr>
      <vt:lpstr>Scientific evidence base – podcast 1</vt:lpstr>
      <vt:lpstr>Scientific evidence base - podcast 2 </vt:lpstr>
      <vt:lpstr>Accessibility </vt:lpstr>
      <vt:lpstr>Key take home messages </vt:lpstr>
      <vt:lpstr>Communication </vt:lpstr>
      <vt:lpstr>Behaviour modification </vt:lpstr>
      <vt:lpstr>Podcast recommendation </vt:lpstr>
      <vt:lpstr>Reference </vt:lpstr>
      <vt:lpstr>References</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 RAOUF CHIKHI</dc:creator>
  <cp:lastModifiedBy>ABD RAOUF CHIKHI</cp:lastModifiedBy>
  <cp:revision>3</cp:revision>
  <dcterms:created xsi:type="dcterms:W3CDTF">2025-11-24T11:37:27Z</dcterms:created>
  <dcterms:modified xsi:type="dcterms:W3CDTF">2025-12-01T18:08:49Z</dcterms:modified>
</cp:coreProperties>
</file>