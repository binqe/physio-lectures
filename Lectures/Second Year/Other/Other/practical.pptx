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TAN Meringue" charset="1" panose="00000000000000000000"/>
      <p:regular r:id="rId26"/>
    </p:embeddedFont>
    <p:embeddedFont>
      <p:font typeface="Montserrat" charset="1" panose="00000500000000000000"/>
      <p:regular r:id="rId27"/>
    </p:embeddedFont>
    <p:embeddedFont>
      <p:font typeface="Montserrat Bold" charset="1" panose="00000800000000000000"/>
      <p:regular r:id="rId28"/>
    </p:embeddedFont>
    <p:embeddedFont>
      <p:font typeface="Poppins" charset="1" panose="000005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theme/theme1.xml" Type="http://schemas.openxmlformats.org/officeDocument/2006/relationships/theme"/><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 Target="tableStyles.xml" Type="http://schemas.openxmlformats.org/officeDocument/2006/relationships/tableStyles"/><Relationship Id="rId50" Target="notesSlides/notesSlide19.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please get as involved as possible, participation is key, </a:t>
            </a:r>
          </a:p>
          <a:p>
            <a:r>
              <a:rPr lang="en-US"/>
              <a:t>- all for your learning</a:t>
            </a:r>
          </a:p>
          <a:p>
            <a:r>
              <a:rPr lang="en-US"/>
              <a:t>- relevant in every aspect of physiotherapy be it wards/outpatients etc</a:t>
            </a:r>
          </a:p>
          <a:p>
            <a:r>
              <a:rPr lang="en-US"/>
              <a:t>- hope to stick with you to take on into the future </a:t>
            </a:r>
          </a:p>
          <a:p>
            <a:r>
              <a:rPr lang="en-US"/>
              <a:t>- inspire some of you to be women's health physios!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1 SIJ</a:t>
            </a:r>
          </a:p>
          <a:p>
            <a:r>
              <a:rPr lang="en-US"/>
              <a:t>2 SACRUM</a:t>
            </a:r>
          </a:p>
          <a:p>
            <a:r>
              <a:rPr lang="en-US"/>
              <a:t>3 COCCYX</a:t>
            </a:r>
          </a:p>
          <a:p>
            <a:r>
              <a:rPr lang="en-US"/>
              <a:t>4 FEMUR/Greater trochanter</a:t>
            </a:r>
          </a:p>
          <a:p>
            <a:r>
              <a:rPr lang="en-US"/>
              <a:t>5 pubic symphysis </a:t>
            </a:r>
          </a:p>
          <a:p>
            <a:r>
              <a:rPr lang="en-US"/>
              <a:t>6 Iliac crest /ASIS</a:t>
            </a:r>
          </a:p>
          <a:p>
            <a:r>
              <a:rPr lang="en-US"/>
              <a:t>7 Ilium</a:t>
            </a:r>
          </a:p>
          <a:p>
            <a:r>
              <a:rPr lang="en-US"/>
              <a:t>8 ischium</a:t>
            </a:r>
          </a:p>
          <a:p>
            <a:r>
              <a:rPr lang="en-US"/>
              <a:t>9 ischial tuberosity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NICE highlights pelvic health physio as:</a:t>
            </a:r>
          </a:p>
          <a:p>
            <a:r>
              <a:rPr lang="en-US"/>
              <a:t/>
            </a:r>
          </a:p>
          <a:p>
            <a:r>
              <a:rPr lang="en-US"/>
              <a:t>A first-line intervention, especially before surgical options.</a:t>
            </a:r>
          </a:p>
          <a:p>
            <a:r>
              <a:rPr lang="en-US"/>
              <a:t/>
            </a:r>
          </a:p>
          <a:p>
            <a:r>
              <a:rPr lang="en-US"/>
              <a:t>Safe, cost-effective, and improves quality of life.</a:t>
            </a:r>
          </a:p>
          <a:p>
            <a:r>
              <a:rPr lang="en-US"/>
              <a:t/>
            </a:r>
          </a:p>
          <a:p>
            <a:r>
              <a:rPr lang="en-US"/>
              <a:t>A recommended pathway in both NHS and private healthcare settings.</a:t>
            </a:r>
          </a:p>
          <a:p>
            <a:r>
              <a:rPr lang="en-US"/>
              <a:t/>
            </a:r>
          </a:p>
          <a:p>
            <a:r>
              <a:rPr lang="en-US"/>
              <a:t>✅ The POGP emphasises that physios:</a:t>
            </a:r>
          </a:p>
          <a:p>
            <a:r>
              <a:rPr lang="en-US"/>
              <a:t/>
            </a:r>
          </a:p>
          <a:p>
            <a:r>
              <a:rPr lang="en-US"/>
              <a:t>Treat people of all genders and ages.</a:t>
            </a:r>
          </a:p>
          <a:p>
            <a:r>
              <a:rPr lang="en-US"/>
              <a:t/>
            </a:r>
          </a:p>
          <a:p>
            <a:r>
              <a:rPr lang="en-US"/>
              <a:t>Work across MSK, obstetrics, gynaecology, urology, and colorectal specialties.</a:t>
            </a:r>
          </a:p>
          <a:p>
            <a:r>
              <a:rPr lang="en-US"/>
              <a:t/>
            </a:r>
          </a:p>
          <a:p>
            <a:r>
              <a:rPr lang="en-US"/>
              <a:t>Provide conservative management and education for:</a:t>
            </a:r>
          </a:p>
          <a:p>
            <a:r>
              <a:rPr lang="en-US"/>
              <a:t/>
            </a:r>
          </a:p>
          <a:p>
            <a:r>
              <a:rPr lang="en-US"/>
              <a:t>Pelvic floor dysfunction</a:t>
            </a:r>
          </a:p>
          <a:p>
            <a:r>
              <a:rPr lang="en-US"/>
              <a:t/>
            </a:r>
          </a:p>
          <a:p>
            <a:r>
              <a:rPr lang="en-US"/>
              <a:t>Pregnancy-related MSK pain</a:t>
            </a:r>
          </a:p>
          <a:p>
            <a:r>
              <a:rPr lang="en-US"/>
              <a:t/>
            </a:r>
          </a:p>
          <a:p>
            <a:r>
              <a:rPr lang="en-US"/>
              <a:t>Prolapse and continence issues</a:t>
            </a:r>
          </a:p>
          <a:p>
            <a:r>
              <a:rPr lang="en-US"/>
              <a:t/>
            </a:r>
          </a:p>
          <a:p>
            <a:r>
              <a:rPr lang="en-US"/>
              <a:t>Post-surgical recovery</a:t>
            </a:r>
          </a:p>
          <a:p>
            <a:r>
              <a:rPr lang="en-US"/>
              <a:t/>
            </a:r>
          </a:p>
          <a:p>
            <a:r>
              <a:rPr lang="en-US"/>
              <a:t>Menopause-related dysfunction</a:t>
            </a:r>
          </a:p>
          <a:p>
            <a:r>
              <a:rPr lang="en-US"/>
              <a:t/>
            </a:r>
          </a:p>
          <a:p>
            <a:r>
              <a:rPr lang="en-US"/>
              <a:t>Sexual health concerns</a:t>
            </a:r>
          </a:p>
          <a:p>
            <a:r>
              <a:rPr lang="en-US"/>
              <a:t/>
            </a:r>
          </a:p>
          <a:p>
            <a:r>
              <a:rPr lang="en-US"/>
              <a:t/>
            </a:r>
          </a:p>
          <a:p>
            <a:r>
              <a:rPr lang="en-US"/>
              <a:t>🧑‍⚕️ Role of the Pelvic Health Physiotherapist</a:t>
            </a:r>
          </a:p>
          <a:p>
            <a:r>
              <a:rPr lang="en-US"/>
              <a:t/>
            </a:r>
          </a:p>
          <a:p>
            <a:r>
              <a:rPr lang="en-US"/>
              <a:t>Holistic assessment (history, internal/external exam, functional movement)</a:t>
            </a:r>
          </a:p>
          <a:p>
            <a:r>
              <a:rPr lang="en-US"/>
              <a:t/>
            </a:r>
          </a:p>
          <a:p>
            <a:r>
              <a:rPr lang="en-US"/>
              <a:t>Patient education and empowerment</a:t>
            </a:r>
          </a:p>
          <a:p>
            <a:r>
              <a:rPr lang="en-US"/>
              <a:t/>
            </a:r>
          </a:p>
          <a:p>
            <a:r>
              <a:rPr lang="en-US"/>
              <a:t>Development of individualised rehab plans</a:t>
            </a:r>
          </a:p>
          <a:p>
            <a:r>
              <a:rPr lang="en-US"/>
              <a:t/>
            </a:r>
          </a:p>
          <a:p>
            <a:r>
              <a:rPr lang="en-US"/>
              <a:t>Use of biofeedback, manual therapy, exercise prescription</a:t>
            </a:r>
          </a:p>
          <a:p>
            <a:r>
              <a:rPr lang="en-US"/>
              <a:t/>
            </a:r>
          </a:p>
          <a:p>
            <a:r>
              <a:rPr lang="en-US"/>
              <a:t>Signposting or referring for red flags or surgical/medical care</a:t>
            </a:r>
          </a:p>
          <a:p>
            <a:r>
              <a:rPr lang="en-US"/>
              <a:t/>
            </a:r>
          </a:p>
          <a:p>
            <a:r>
              <a:rPr lang="en-US"/>
              <a:t>Participation in MDT (Multidisciplinary Teams)</a:t>
            </a:r>
          </a:p>
          <a:p>
            <a:r>
              <a:rPr lang="en-US"/>
              <a:t/>
            </a:r>
          </a:p>
          <a:p>
            <a:r>
              <a:rPr lang="en-US"/>
              <a:t/>
            </a:r>
          </a:p>
          <a:p>
            <a:r>
              <a:rPr lang="en-US"/>
              <a:t>Did You Know?</a:t>
            </a:r>
          </a:p>
          <a:p>
            <a:r>
              <a:rPr lang="en-US"/>
              <a:t/>
            </a:r>
          </a:p>
          <a:p>
            <a:r>
              <a:rPr lang="en-US"/>
              <a:t>Up to 1 in 3 women experience pelvic floor dysfunction in their lifetime (NICE NG123).</a:t>
            </a:r>
          </a:p>
          <a:p>
            <a:r>
              <a:rPr lang="en-US"/>
              <a:t/>
            </a:r>
          </a:p>
          <a:p>
            <a:r>
              <a:rPr lang="en-US"/>
              <a:t>Pelvic health issues can occur at any age, not just during or after childbirth.</a:t>
            </a:r>
          </a:p>
          <a:p>
            <a:r>
              <a:rPr lang="en-US"/>
              <a:t/>
            </a:r>
          </a:p>
          <a:p>
            <a:r>
              <a:rPr lang="en-US"/>
              <a:t>Evidence supports physiotherapy as the most effective non-surgical management option for pelvic floor dysfunction.</a:t>
            </a:r>
          </a:p>
          <a:p>
            <a:r>
              <a:rPr lang="en-US"/>
              <a:t/>
            </a:r>
          </a:p>
          <a:p>
            <a:r>
              <a:rPr lang="en-US"/>
              <a:t/>
            </a:r>
          </a:p>
          <a:p>
            <a:r>
              <a:rPr lang="en-US"/>
              <a:t/>
            </a:r>
          </a:p>
          <a:p>
            <a:r>
              <a:rPr lang="en-US"/>
              <a:t>✅ Take-Home Messages:</a:t>
            </a:r>
          </a:p>
          <a:p>
            <a:r>
              <a:rPr lang="en-US"/>
              <a:t/>
            </a:r>
          </a:p>
          <a:p>
            <a:r>
              <a:rPr lang="en-US"/>
              <a:t>Women’s health physio is not just postnatal care—it spans the lifespan.</a:t>
            </a:r>
          </a:p>
          <a:p>
            <a:r>
              <a:rPr lang="en-US"/>
              <a:t/>
            </a:r>
          </a:p>
          <a:p>
            <a:r>
              <a:rPr lang="en-US"/>
              <a:t>It addresses intimate, sensitive conditions with clinical and empathetic care.</a:t>
            </a:r>
          </a:p>
          <a:p>
            <a:r>
              <a:rPr lang="en-US"/>
              <a:t/>
            </a:r>
          </a:p>
          <a:p>
            <a:r>
              <a:rPr lang="en-US"/>
              <a:t>Recognised by NICE and professional bodies as first-line, essential treatment.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Common Women’s Health Conditions Managed by Physiotherapists</a:t>
            </a:r>
          </a:p>
          <a:p>
            <a:r>
              <a:rPr lang="en-US"/>
              <a:t/>
            </a:r>
          </a:p>
          <a:p>
            <a:r>
              <a:rPr lang="en-US"/>
              <a:t>Urinary Incontinence</a:t>
            </a:r>
          </a:p>
          <a:p>
            <a:r>
              <a:rPr lang="en-US"/>
              <a:t/>
            </a:r>
          </a:p>
          <a:p>
            <a:r>
              <a:rPr lang="en-US"/>
              <a:t>Most common condition seen in women’s health physio.</a:t>
            </a:r>
          </a:p>
          <a:p>
            <a:r>
              <a:rPr lang="en-US"/>
              <a:t/>
            </a:r>
          </a:p>
          <a:p>
            <a:r>
              <a:rPr lang="en-US"/>
              <a:t>Stress incontinence: leakage with exertion (cough, sneeze, exercise). due to an increase in intra-abdominal pressure, overwhelms the PF</a:t>
            </a:r>
          </a:p>
          <a:p>
            <a:r>
              <a:rPr lang="en-US"/>
              <a:t/>
            </a:r>
          </a:p>
          <a:p>
            <a:r>
              <a:rPr lang="en-US"/>
              <a:t>Urge incontinence: sudden, strong urge with little warning.</a:t>
            </a:r>
          </a:p>
          <a:p>
            <a:r>
              <a:rPr lang="en-US"/>
              <a:t/>
            </a:r>
          </a:p>
          <a:p>
            <a:r>
              <a:rPr lang="en-US"/>
              <a:t>Mixed: both stress and urge.</a:t>
            </a:r>
          </a:p>
          <a:p>
            <a:r>
              <a:rPr lang="en-US"/>
              <a:t/>
            </a:r>
          </a:p>
          <a:p>
            <a:r>
              <a:rPr lang="en-US"/>
              <a:t>Management: pelvic floor muscle training (PFMT), bladder training, lifestyle advice.</a:t>
            </a:r>
          </a:p>
          <a:p>
            <a:r>
              <a:rPr lang="en-US"/>
              <a:t/>
            </a:r>
          </a:p>
          <a:p>
            <a:r>
              <a:rPr lang="en-US"/>
              <a:t>Pelvic Organ Prolapse (POP)</a:t>
            </a:r>
          </a:p>
          <a:p>
            <a:r>
              <a:rPr lang="en-US"/>
              <a:t/>
            </a:r>
          </a:p>
          <a:p>
            <a:r>
              <a:rPr lang="en-US"/>
              <a:t>Descent of bladder, uterus, or rectum into vaginal space.</a:t>
            </a:r>
          </a:p>
          <a:p>
            <a:r>
              <a:rPr lang="en-US"/>
              <a:t/>
            </a:r>
          </a:p>
          <a:p>
            <a:r>
              <a:rPr lang="en-US"/>
              <a:t>Symptoms: heaviness, bulge, dragging sensation, incomplete emptying.</a:t>
            </a:r>
          </a:p>
          <a:p>
            <a:r>
              <a:rPr lang="en-US"/>
              <a:t/>
            </a:r>
          </a:p>
          <a:p>
            <a:r>
              <a:rPr lang="en-US"/>
              <a:t>Prevalence: up to 50% of parous women on examination, though not all are symptomatic.</a:t>
            </a:r>
          </a:p>
          <a:p>
            <a:r>
              <a:rPr lang="en-US"/>
              <a:t/>
            </a:r>
          </a:p>
          <a:p>
            <a:r>
              <a:rPr lang="en-US"/>
              <a:t>Physio role: PFMT, education on load management, exercise modification; referral for pessaries/surgical consult if needed.</a:t>
            </a:r>
          </a:p>
          <a:p>
            <a:r>
              <a:rPr lang="en-US"/>
              <a:t/>
            </a:r>
          </a:p>
          <a:p>
            <a:r>
              <a:rPr lang="en-US"/>
              <a:t>Pelvic Pain Syndromes</a:t>
            </a:r>
          </a:p>
          <a:p>
            <a:r>
              <a:rPr lang="en-US"/>
              <a:t/>
            </a:r>
          </a:p>
          <a:p>
            <a:r>
              <a:rPr lang="en-US"/>
              <a:t>Includes dyspareunia (pain with sex), vulvodynia, chronic pelvic pain, and pain linked to endometriosis.</a:t>
            </a:r>
          </a:p>
          <a:p>
            <a:r>
              <a:rPr lang="en-US"/>
              <a:t/>
            </a:r>
          </a:p>
          <a:p>
            <a:r>
              <a:rPr lang="en-US"/>
              <a:t>Complex biopsychosocial presentation — influenced by muscle tension, central sensitisation, trauma, hormonal changes.</a:t>
            </a:r>
          </a:p>
          <a:p>
            <a:r>
              <a:rPr lang="en-US"/>
              <a:t/>
            </a:r>
          </a:p>
          <a:p>
            <a:r>
              <a:rPr lang="en-US"/>
              <a:t>Physio management: pelvic floor down-training, relaxation, manual therapy, desensitisation, pain education, pacing strategies.</a:t>
            </a:r>
          </a:p>
          <a:p>
            <a:r>
              <a:rPr lang="en-US"/>
              <a:t/>
            </a:r>
          </a:p>
          <a:p>
            <a:r>
              <a:rPr lang="en-US"/>
              <a:t>Pregnancy-Related Musculoskeletal (MSK) Issues</a:t>
            </a:r>
          </a:p>
          <a:p>
            <a:r>
              <a:rPr lang="en-US"/>
              <a:t/>
            </a:r>
          </a:p>
          <a:p>
            <a:r>
              <a:rPr lang="en-US"/>
              <a:t>Low back pain and pelvic girdle pain affect 45–70% of women during pregnancy.</a:t>
            </a:r>
          </a:p>
          <a:p>
            <a:r>
              <a:rPr lang="en-US"/>
              <a:t/>
            </a:r>
          </a:p>
          <a:p>
            <a:r>
              <a:rPr lang="en-US"/>
              <a:t>Caused by hormonal laxity + increased load + altered posture.</a:t>
            </a:r>
          </a:p>
          <a:p>
            <a:r>
              <a:rPr lang="en-US"/>
              <a:t/>
            </a:r>
          </a:p>
          <a:p>
            <a:r>
              <a:rPr lang="en-US"/>
              <a:t>Can limit mobility, sleep, work capacity.</a:t>
            </a:r>
          </a:p>
          <a:p>
            <a:r>
              <a:rPr lang="en-US"/>
              <a:t/>
            </a:r>
          </a:p>
          <a:p>
            <a:r>
              <a:rPr lang="en-US"/>
              <a:t>Physio role: exercise prescription, belts/supports, manual therapy, activity modification.</a:t>
            </a:r>
          </a:p>
          <a:p>
            <a:r>
              <a:rPr lang="en-US"/>
              <a:t/>
            </a:r>
          </a:p>
          <a:p>
            <a:r>
              <a:rPr lang="en-US"/>
              <a:t>Postnatal Dysfunction</a:t>
            </a:r>
          </a:p>
          <a:p>
            <a:r>
              <a:rPr lang="en-US"/>
              <a:t/>
            </a:r>
          </a:p>
          <a:p>
            <a:r>
              <a:rPr lang="en-US"/>
              <a:t>Diastasis recti abdominis (DRA): widening of linea alba, impaired abdominal wall tension → affects trunk stability and load transfer.</a:t>
            </a:r>
          </a:p>
          <a:p>
            <a:r>
              <a:rPr lang="en-US"/>
              <a:t/>
            </a:r>
          </a:p>
          <a:p>
            <a:r>
              <a:rPr lang="en-US"/>
              <a:t>Pelvic floor weakness: contributes to urinary leakage, prolapse, reduced sexual function.</a:t>
            </a:r>
          </a:p>
          <a:p>
            <a:r>
              <a:rPr lang="en-US"/>
              <a:t/>
            </a:r>
          </a:p>
          <a:p>
            <a:r>
              <a:rPr lang="en-US"/>
              <a:t>Management: graded core and PFMT, functional rehab, education on safe return to activity.</a:t>
            </a:r>
          </a:p>
          <a:p>
            <a:r>
              <a:rPr lang="en-US"/>
              <a:t/>
            </a:r>
          </a:p>
          <a:p>
            <a:r>
              <a:rPr lang="en-US"/>
              <a:t>Data &amp; Impact</a:t>
            </a:r>
          </a:p>
          <a:p>
            <a:r>
              <a:rPr lang="en-US"/>
              <a:t/>
            </a:r>
          </a:p>
          <a:p>
            <a:r>
              <a:rPr lang="en-US"/>
              <a:t>Urinary incontinence: up to 1 in 3 women; increases with age and childbirth.</a:t>
            </a:r>
          </a:p>
          <a:p>
            <a:r>
              <a:rPr lang="en-US"/>
              <a:t/>
            </a:r>
          </a:p>
          <a:p>
            <a:r>
              <a:rPr lang="en-US"/>
              <a:t>Prolapse: ~50% of women post-vaginal delivery show some degree on exam.</a:t>
            </a:r>
          </a:p>
          <a:p>
            <a:r>
              <a:rPr lang="en-US"/>
              <a:t/>
            </a:r>
          </a:p>
          <a:p>
            <a:r>
              <a:rPr lang="en-US"/>
              <a:t>Pregnancy-related MSK pain: affects nearly 2/3 of pregnant women, with ~20% experiencing severe disability.</a:t>
            </a:r>
          </a:p>
          <a:p>
            <a:r>
              <a:rPr lang="en-US"/>
              <a:t/>
            </a:r>
          </a:p>
          <a:p>
            <a:r>
              <a:rPr lang="en-US"/>
              <a:t>These conditions significantly impact quality of life, mental health, return to work, and participation in exercise/sport.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Anatomy &amp; Physiology – Abdominal Wall &amp; Reproductive System</a:t>
            </a:r>
          </a:p>
          <a:p>
            <a:r>
              <a:rPr lang="en-US"/>
              <a:t/>
            </a:r>
          </a:p>
          <a:p>
            <a:r>
              <a:rPr lang="en-US"/>
              <a:t>Layers of the abdominal wall</a:t>
            </a:r>
          </a:p>
          <a:p>
            <a:r>
              <a:rPr lang="en-US"/>
              <a:t/>
            </a:r>
          </a:p>
          <a:p>
            <a:r>
              <a:rPr lang="en-US"/>
              <a:t>Changes during pregnancy &amp; postpartum</a:t>
            </a:r>
          </a:p>
          <a:p>
            <a:r>
              <a:rPr lang="en-US"/>
              <a:t/>
            </a:r>
          </a:p>
          <a:p>
            <a:r>
              <a:rPr lang="en-US"/>
              <a:t>Overview of reproductive organs relevant to physio care</a:t>
            </a:r>
          </a:p>
          <a:p>
            <a:r>
              <a:rPr lang="en-US"/>
              <a:t/>
            </a:r>
          </a:p>
          <a:p>
            <a:r>
              <a:rPr lang="en-US"/>
              <a:t>Visual: Cross-sectional anatomy illustration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Anatomy &amp; Physiology – Pelvic Floor</a:t>
            </a:r>
          </a:p>
          <a:p>
            <a:r>
              <a:rPr lang="en-US"/>
              <a:t/>
            </a:r>
          </a:p>
          <a:p>
            <a:r>
              <a:rPr lang="en-US"/>
              <a:t>Structure and function of pelvic floor muscles</a:t>
            </a:r>
          </a:p>
          <a:p>
            <a:r>
              <a:rPr lang="en-US"/>
              <a:t/>
            </a:r>
          </a:p>
          <a:p>
            <a:r>
              <a:rPr lang="en-US"/>
              <a:t>The pelvic floor has superficial, middle, and deep layers. </a:t>
            </a:r>
          </a:p>
          <a:p>
            <a:r>
              <a:rPr lang="en-US"/>
              <a:t/>
            </a:r>
          </a:p>
          <a:p>
            <a:r>
              <a:rPr lang="en-US"/>
              <a:t>Deep:</a:t>
            </a:r>
          </a:p>
          <a:p>
            <a:r>
              <a:rPr lang="en-US"/>
              <a:t>Fibromuscular tissue composed of collagen, elastin and smooth muscle fibres</a:t>
            </a:r>
          </a:p>
          <a:p>
            <a:r>
              <a:rPr lang="en-US"/>
              <a:t/>
            </a:r>
          </a:p>
          <a:p>
            <a:r>
              <a:rPr lang="en-US"/>
              <a:t>Connects the pelvic organs to the pelvic side-walls</a:t>
            </a:r>
          </a:p>
          <a:p>
            <a:r>
              <a:rPr lang="en-US"/>
              <a:t/>
            </a:r>
          </a:p>
          <a:p>
            <a:r>
              <a:rPr lang="en-US"/>
              <a:t>middle:</a:t>
            </a:r>
          </a:p>
          <a:p>
            <a:r>
              <a:rPr lang="en-US"/>
              <a:t>Pubococcygeus (medial, bulky):	</a:t>
            </a:r>
          </a:p>
          <a:p>
            <a:r>
              <a:rPr lang="en-US"/>
              <a:t>Origin: Posterior surface of the pubic bone &amp; fascia of the obturator</a:t>
            </a:r>
          </a:p>
          <a:p>
            <a:r>
              <a:rPr lang="en-US"/>
              <a:t>Attachment: Anterior surface of the coccyx</a:t>
            </a:r>
          </a:p>
          <a:p>
            <a:r>
              <a:rPr lang="en-US"/>
              <a:t>Various subdivisions have been described:</a:t>
            </a:r>
          </a:p>
          <a:p>
            <a:r>
              <a:rPr lang="en-US"/>
              <a:t>Pubourethralis</a:t>
            </a:r>
          </a:p>
          <a:p>
            <a:r>
              <a:rPr lang="en-US"/>
              <a:t>Pubovaginalis</a:t>
            </a:r>
          </a:p>
          <a:p>
            <a:r>
              <a:rPr lang="en-US"/>
              <a:t>Puboanalis</a:t>
            </a:r>
          </a:p>
          <a:p>
            <a:r>
              <a:rPr lang="en-US"/>
              <a:t>Puborectalis</a:t>
            </a:r>
          </a:p>
          <a:p>
            <a:r>
              <a:rPr lang="en-US"/>
              <a:t/>
            </a:r>
          </a:p>
          <a:p>
            <a:r>
              <a:rPr lang="en-US"/>
              <a:t>Iliococcygeus (lateral, thin):</a:t>
            </a:r>
          </a:p>
          <a:p>
            <a:r>
              <a:rPr lang="en-US"/>
              <a:t>Origin: Posterior surface of the pubic bone &amp; surface of the ilium</a:t>
            </a:r>
          </a:p>
          <a:p>
            <a:r>
              <a:rPr lang="en-US"/>
              <a:t>Attachment: Lateral margins of the coccyx</a:t>
            </a:r>
          </a:p>
          <a:p>
            <a:r>
              <a:rPr lang="en-US"/>
              <a:t/>
            </a:r>
          </a:p>
          <a:p>
            <a:r>
              <a:rPr lang="en-US"/>
              <a:t>Coccygeus and levator ani (puborectalis, pubococcygeus, iliococcygeus) form the deepest layer, with coccygeus being most posterior.</a:t>
            </a:r>
          </a:p>
          <a:p>
            <a:r>
              <a:rPr lang="en-US"/>
              <a:t/>
            </a:r>
          </a:p>
          <a:p>
            <a:r>
              <a:rPr lang="en-US"/>
              <a:t>Role in continence, support, sexual function</a:t>
            </a:r>
          </a:p>
          <a:p>
            <a:r>
              <a:rPr lang="en-US"/>
              <a:t/>
            </a:r>
          </a:p>
          <a:p>
            <a:r>
              <a:rPr lang="en-US"/>
              <a:t>Research reference: Bø K. (2004) — Pelvic floor muscle training</a:t>
            </a:r>
          </a:p>
          <a:p>
            <a:r>
              <a:rPr lang="en-US"/>
              <a:t/>
            </a:r>
          </a:p>
          <a:p>
            <a:r>
              <a:rPr lang="en-US"/>
              <a:t>Visual: Diagram of pelvic floor muscles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Anatomy &amp; Physiology – Abdominal Wall &amp; Reproductive System</a:t>
            </a:r>
          </a:p>
          <a:p>
            <a:r>
              <a:rPr lang="en-US"/>
              <a:t/>
            </a:r>
          </a:p>
          <a:p>
            <a:r>
              <a:rPr lang="en-US"/>
              <a:t/>
            </a:r>
          </a:p>
          <a:p>
            <a:r>
              <a:rPr lang="en-US"/>
              <a:t>1. Layers of the Abdominal Wall</a:t>
            </a:r>
          </a:p>
          <a:p>
            <a:r>
              <a:rPr lang="en-US"/>
              <a:t/>
            </a:r>
          </a:p>
          <a:p>
            <a:r>
              <a:rPr lang="en-US"/>
              <a:t>“When we talk about the abdominal wall, we’re really looking at several layers that work together for support, stability, and pressure regulation.</a:t>
            </a:r>
          </a:p>
          <a:p>
            <a:r>
              <a:rPr lang="en-US"/>
              <a:t/>
            </a:r>
          </a:p>
          <a:p>
            <a:r>
              <a:rPr lang="en-US"/>
              <a:t>On the outside we’ve got skin and subcutaneous fat.</a:t>
            </a:r>
          </a:p>
          <a:p>
            <a:r>
              <a:rPr lang="en-US"/>
              <a:t/>
            </a:r>
          </a:p>
          <a:p>
            <a:r>
              <a:rPr lang="en-US"/>
              <a:t>Then the muscle layers: the external oblique on the outside, the internal oblique just beneath it, and the transversus abdominis — the deepest, horizontal muscle that’s really important for core stability and managing intra-abdominal pressure.</a:t>
            </a:r>
          </a:p>
          <a:p>
            <a:r>
              <a:rPr lang="en-US"/>
              <a:t/>
            </a:r>
          </a:p>
          <a:p>
            <a:r>
              <a:rPr lang="en-US"/>
              <a:t>We also have the rectus abdominis running vertically at the front, enclosed in its sheath, with the linea alba down the middle. This linea alba is the structure that stretches and can separate during pregnancy, causing diastasis recti.</a:t>
            </a:r>
          </a:p>
          <a:p>
            <a:r>
              <a:rPr lang="en-US"/>
              <a:t/>
            </a:r>
          </a:p>
          <a:p>
            <a:r>
              <a:rPr lang="en-US"/>
              <a:t>Beneath the muscles, there’s the fascia layers and then the peritoneum lining the abdominal cavity.</a:t>
            </a:r>
          </a:p>
          <a:p>
            <a:r>
              <a:rPr lang="en-US"/>
              <a:t/>
            </a:r>
          </a:p>
          <a:p>
            <a:r>
              <a:rPr lang="en-US"/>
              <a:t>For physiotherapists, the key point is that the abdominal wall works in close coordination with the pelvic floor and the diaphragm. Together they act like a pressure system — essential for continence, stability, and efficient movement.”</a:t>
            </a:r>
          </a:p>
          <a:p>
            <a:r>
              <a:rPr lang="en-US"/>
              <a:t/>
            </a:r>
          </a:p>
          <a:p>
            <a:r>
              <a:rPr lang="en-US"/>
              <a:t>2. Changes During Pregnancy &amp; Postpartum</a:t>
            </a:r>
          </a:p>
          <a:p>
            <a:r>
              <a:rPr lang="en-US"/>
              <a:t/>
            </a:r>
          </a:p>
          <a:p>
            <a:r>
              <a:rPr lang="en-US"/>
              <a:t>“Pregnancy brings both hormonal and mechanical changes that affect the abdominal wall.</a:t>
            </a:r>
          </a:p>
          <a:p>
            <a:r>
              <a:rPr lang="en-US"/>
              <a:t/>
            </a:r>
          </a:p>
          <a:p>
            <a:r>
              <a:rPr lang="en-US"/>
              <a:t>Hormones like relaxin and progesterone soften connective tissue and increase ligament laxity. This is necessary for childbirth, but it also means greater risk of instability and pain, particularly around the pelvis and lower back.</a:t>
            </a:r>
          </a:p>
          <a:p>
            <a:r>
              <a:rPr lang="en-US"/>
              <a:t/>
            </a:r>
          </a:p>
          <a:p>
            <a:r>
              <a:rPr lang="en-US"/>
              <a:t>Mechanically, the growing uterus stretches the abdominal wall. The linea alba widens and thins, which can lead to diastasis recti. As the abdominal wall stretches, it becomes less effective at stabilising the trunk.</a:t>
            </a:r>
          </a:p>
          <a:p>
            <a:r>
              <a:rPr lang="en-US"/>
              <a:t/>
            </a:r>
          </a:p>
          <a:p>
            <a:r>
              <a:rPr lang="en-US"/>
              <a:t>Posturally, women often develop an increased lumbar lordosis due to the forward weight shift, and the ribs flare outward, which changes breathing patterns.</a:t>
            </a:r>
          </a:p>
          <a:p>
            <a:r>
              <a:rPr lang="en-US"/>
              <a:t/>
            </a:r>
          </a:p>
          <a:p>
            <a:r>
              <a:rPr lang="en-US"/>
              <a:t>Postpartum, the abdominal wall and linea alba don’t immediately return to their pre-pregnancy state. Collagen remodeling can take up to 12–18 months. Early postpartum rehab often focuses on restoring deep core and pelvic floor activation, not just surface strength.”</a:t>
            </a:r>
          </a:p>
          <a:p>
            <a:r>
              <a:rPr lang="en-US"/>
              <a:t/>
            </a:r>
          </a:p>
          <a:p>
            <a:r>
              <a:rPr lang="en-US"/>
              <a:t>3. Reproductive Organs Relevant to Physio Care</a:t>
            </a:r>
          </a:p>
          <a:p>
            <a:r>
              <a:rPr lang="en-US"/>
              <a:t/>
            </a:r>
          </a:p>
          <a:p>
            <a:r>
              <a:rPr lang="en-US"/>
              <a:t>“The reproductive system also undergoes huge changes that matter to us as physios.</a:t>
            </a:r>
          </a:p>
          <a:p>
            <a:r>
              <a:rPr lang="en-US"/>
              <a:t/>
            </a:r>
          </a:p>
          <a:p>
            <a:r>
              <a:rPr lang="en-US"/>
              <a:t>The uterus grows massively in both size and weight, which compresses nearby organs — the bladder, intestines, and stomach — leading to urinary frequency, constipation, and reflux during pregnancy.</a:t>
            </a:r>
          </a:p>
          <a:p>
            <a:r>
              <a:rPr lang="en-US"/>
              <a:t/>
            </a:r>
          </a:p>
          <a:p>
            <a:r>
              <a:rPr lang="en-US"/>
              <a:t>The ovaries continue their hormonal role, producing estrogen and progesterone, which affect circulation, tissue elasticity, and overall pelvic stability.</a:t>
            </a:r>
          </a:p>
          <a:p>
            <a:r>
              <a:rPr lang="en-US"/>
              <a:t/>
            </a:r>
          </a:p>
          <a:p>
            <a:r>
              <a:rPr lang="en-US"/>
              <a:t>The vagina is a distensible muscular canal that supports the pelvic organs and stretches during childbirth. Trauma to this tissue or scarring from stitches can impact pelvic floor function and sexual health postpartum.</a:t>
            </a:r>
          </a:p>
          <a:p>
            <a:r>
              <a:rPr lang="en-US"/>
              <a:t/>
            </a:r>
          </a:p>
          <a:p>
            <a:r>
              <a:rPr lang="en-US"/>
              <a:t>The pelvic floor muscles themselves are critical — particularly the levator ani group (puborectalis, pubococcygeus, iliococcygeus). They provide continence, organ support, sexual function, and pressure regulation. These are directly affected during pregnancy and birth, especially with vaginal delivery.</a:t>
            </a:r>
          </a:p>
          <a:p>
            <a:r>
              <a:rPr lang="en-US"/>
              <a:t/>
            </a:r>
          </a:p>
          <a:p>
            <a:r>
              <a:rPr lang="en-US"/>
              <a:t>Supporting structures include the pelvic ligaments — broad, round, and uterosacral — which hold the uterus in place but become more lax with hormones, increasing strain on both pelvic floor and abdominal wall.</a:t>
            </a:r>
          </a:p>
          <a:p>
            <a:r>
              <a:rPr lang="en-US"/>
              <a:t/>
            </a:r>
          </a:p>
          <a:p>
            <a:r>
              <a:rPr lang="en-US"/>
              <a:t>Finally, the bladder and rectum sit in very close relationship to the pelvic floor. That’s why pelvic floor dysfunction can lead to both urinary and bowel symptoms, which are central concerns in women’s health physiotherapy.”</a:t>
            </a:r>
          </a:p>
          <a:p>
            <a:r>
              <a:rPr lang="en-US"/>
              <a:t/>
            </a:r>
          </a:p>
          <a:p>
            <a:r>
              <a:rPr lang="en-US"/>
              <a:t>✨ Summary point for delivery:</a:t>
            </a:r>
          </a:p>
          <a:p>
            <a:r>
              <a:rPr lang="en-US"/>
              <a:t>“As physios, understanding these anatomical layers and the physiological changes in pregnancy and postpartum gives us the foundation for assessing and treating issues like diastasis recti, incontinence, prolapse, and pelvic pain. The abdominal wall and reproductive system don’t function in isolation — they’re part of a dynamic pressure and support system that we can retrain through targeted rehab.”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Recognising Red Flags &amp; Urgent Referral</a:t>
            </a:r>
          </a:p>
          <a:p>
            <a:r>
              <a:rPr lang="en-US"/>
              <a:t/>
            </a:r>
          </a:p>
          <a:p>
            <a:r>
              <a:rPr lang="en-US"/>
              <a:t>Obstetric Emergencies</a:t>
            </a:r>
          </a:p>
          <a:p>
            <a:r>
              <a:rPr lang="en-US"/>
              <a:t/>
            </a:r>
          </a:p>
          <a:p>
            <a:r>
              <a:rPr lang="en-US"/>
              <a:t>Pre-eclampsia: A potentially life-threatening condition marked by high blood pressure, severe headaches, visual disturbances (blurred vision, flashing lights), and swelling of face/hands. As physios, if we see these symptoms in a pregnant client, it’s an immediate referral to obstetric care.</a:t>
            </a:r>
          </a:p>
          <a:p>
            <a:r>
              <a:rPr lang="en-US"/>
              <a:t/>
            </a:r>
          </a:p>
          <a:p>
            <a:r>
              <a:rPr lang="en-US"/>
              <a:t>Placenta previa or placental abruption: Both present with vaginal bleeding during pregnancy (with or without pain). Placenta previa is painless, abruption is often painful with uterine tenderness. Any bleeding in pregnancy is a red flag requiring urgent referral.</a:t>
            </a:r>
          </a:p>
          <a:p>
            <a:r>
              <a:rPr lang="en-US"/>
              <a:t/>
            </a:r>
          </a:p>
          <a:p>
            <a:r>
              <a:rPr lang="en-US"/>
              <a:t>Gynaecological Malignancies</a:t>
            </a:r>
          </a:p>
          <a:p>
            <a:r>
              <a:rPr lang="en-US"/>
              <a:t/>
            </a:r>
          </a:p>
          <a:p>
            <a:r>
              <a:rPr lang="en-US"/>
              <a:t>Early detection is crucial — physios may be the first health professional a woman discloses symptoms to.</a:t>
            </a:r>
          </a:p>
          <a:p>
            <a:r>
              <a:rPr lang="en-US"/>
              <a:t/>
            </a:r>
          </a:p>
          <a:p>
            <a:r>
              <a:rPr lang="en-US"/>
              <a:t>Red flag symptoms: unexplained or abnormal vaginal bleeding (especially post-menopause or between periods), persistent bloating, pelvic or abdominal pain, and unexplained weight loss.</a:t>
            </a:r>
          </a:p>
          <a:p>
            <a:r>
              <a:rPr lang="en-US"/>
              <a:t/>
            </a:r>
          </a:p>
          <a:p>
            <a:r>
              <a:rPr lang="en-US"/>
              <a:t>Our role: we do not diagnose but must recognise when symptoms are concerning and escalate appropriately.</a:t>
            </a:r>
          </a:p>
          <a:p>
            <a:r>
              <a:rPr lang="en-US"/>
              <a:t/>
            </a:r>
          </a:p>
          <a:p>
            <a:r>
              <a:rPr lang="en-US"/>
              <a:t>Severe Infections</a:t>
            </a:r>
          </a:p>
          <a:p>
            <a:r>
              <a:rPr lang="en-US"/>
              <a:t/>
            </a:r>
          </a:p>
          <a:p>
            <a:r>
              <a:rPr lang="en-US"/>
              <a:t>Pelvic inflammatory disease (PID): can progress rapidly to sepsis or infertility if untreated.</a:t>
            </a:r>
          </a:p>
          <a:p>
            <a:r>
              <a:rPr lang="en-US"/>
              <a:t/>
            </a:r>
          </a:p>
          <a:p>
            <a:r>
              <a:rPr lang="en-US"/>
              <a:t>Symptoms include pelvic pain, fever, unusual discharge, painful intercourse, or pain on urination.</a:t>
            </a:r>
          </a:p>
          <a:p>
            <a:r>
              <a:rPr lang="en-US"/>
              <a:t/>
            </a:r>
          </a:p>
          <a:p>
            <a:r>
              <a:rPr lang="en-US"/>
              <a:t>Any suspicion of acute infection with systemic features → urgent medical review.</a:t>
            </a:r>
          </a:p>
          <a:p>
            <a:r>
              <a:rPr lang="en-US"/>
              <a:t/>
            </a:r>
          </a:p>
          <a:p>
            <a:r>
              <a:rPr lang="en-US"/>
              <a:t>When to Escalate Care</a:t>
            </a:r>
          </a:p>
          <a:p>
            <a:r>
              <a:rPr lang="en-US"/>
              <a:t/>
            </a:r>
          </a:p>
          <a:p>
            <a:r>
              <a:rPr lang="en-US"/>
              <a:t>Physiotherapists should always be alert to:</a:t>
            </a:r>
          </a:p>
          <a:p>
            <a:r>
              <a:rPr lang="en-US"/>
              <a:t/>
            </a:r>
          </a:p>
          <a:p>
            <a:r>
              <a:rPr lang="en-US"/>
              <a:t>Sudden onset of severe or worsening pain</a:t>
            </a:r>
          </a:p>
          <a:p>
            <a:r>
              <a:rPr lang="en-US"/>
              <a:t/>
            </a:r>
          </a:p>
          <a:p>
            <a:r>
              <a:rPr lang="en-US"/>
              <a:t>Progressive neurological symptoms (e.g., bladder/bowel dysfunction, saddle anaesthesia → think cauda equina)</a:t>
            </a:r>
          </a:p>
          <a:p>
            <a:r>
              <a:rPr lang="en-US"/>
              <a:t/>
            </a:r>
          </a:p>
          <a:p>
            <a:r>
              <a:rPr lang="en-US"/>
              <a:t>Systemic illness signs (fever, night sweats, unintended weight loss)</a:t>
            </a:r>
          </a:p>
          <a:p>
            <a:r>
              <a:rPr lang="en-US"/>
              <a:t/>
            </a:r>
          </a:p>
          <a:p>
            <a:r>
              <a:rPr lang="en-US"/>
              <a:t>Obstetric emergencies (bleeding, hypertension, seizures, fluid loss)</a:t>
            </a:r>
          </a:p>
          <a:p>
            <a:r>
              <a:rPr lang="en-US"/>
              <a:t/>
            </a:r>
          </a:p>
          <a:p>
            <a:r>
              <a:rPr lang="en-US"/>
              <a:t>If any of these are present → immediate referral to emergency services, GP, or specialist team depending on severity.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vevox questions</a:t>
            </a:r>
          </a:p>
          <a:p>
            <a:r>
              <a:rPr lang="en-US"/>
              <a:t>1: ✔ Answer: C – These are classic signs of pre-eclampsia, an obstetric emergency. Immediate referral is required.</a:t>
            </a:r>
          </a:p>
          <a:p>
            <a:r>
              <a:rPr lang="en-US"/>
              <a:t/>
            </a:r>
          </a:p>
          <a:p>
            <a:r>
              <a:rPr lang="en-US"/>
              <a:t>✔ Answer: B – Postmenopausal bleeding is always a red flag and requires urgent referral to rule out endometrial or other gynaecological cancers.</a:t>
            </a:r>
          </a:p>
          <a:p>
            <a:r>
              <a:rPr lang="en-US"/>
              <a:t/>
            </a:r>
          </a:p>
          <a:p>
            <a:r>
              <a:rPr lang="en-US"/>
              <a:t>✔ Answer: C – This presentation is suspicious for postpartum infection or pelvic inflammatory disease, both of which require urgent medical assessment.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8: Biopsychosocial Impact of Women’s Health Conditions</a:t>
            </a:r>
          </a:p>
          <a:p>
            <a:r>
              <a:rPr lang="en-US"/>
              <a:t/>
            </a:r>
          </a:p>
          <a:p>
            <a:r>
              <a:rPr lang="en-US"/>
              <a:t>“This slide brings together the biopsychosocial impact of women’s health conditions, which is central to physiotherapy practice.</a:t>
            </a:r>
          </a:p>
          <a:p>
            <a:r>
              <a:rPr lang="en-US"/>
              <a:t/>
            </a:r>
          </a:p>
          <a:p>
            <a:r>
              <a:rPr lang="en-US"/>
              <a:t>Effects on Quality of Life</a:t>
            </a:r>
          </a:p>
          <a:p>
            <a:r>
              <a:rPr lang="en-US"/>
              <a:t/>
            </a:r>
          </a:p>
          <a:p>
            <a:r>
              <a:rPr lang="en-US"/>
              <a:t>Conditions such as urinary incontinence, prolapse, or pelvic pain have a huge effect on everyday living. Women may avoid leaving the house, socialising, or sexual activity due to symptoms or embarrassment.</a:t>
            </a:r>
          </a:p>
          <a:p>
            <a:r>
              <a:rPr lang="en-US"/>
              <a:t/>
            </a:r>
          </a:p>
          <a:p>
            <a:r>
              <a:rPr lang="en-US"/>
              <a:t>Work and caregiving roles are often disrupted. Even simple activities like lifting children, exercising, or travelling can become restricted.</a:t>
            </a:r>
          </a:p>
          <a:p>
            <a:r>
              <a:rPr lang="en-US"/>
              <a:t/>
            </a:r>
          </a:p>
          <a:p>
            <a:r>
              <a:rPr lang="en-US"/>
              <a:t>Physical Function Limitations</a:t>
            </a:r>
          </a:p>
          <a:p>
            <a:r>
              <a:rPr lang="en-US"/>
              <a:t/>
            </a:r>
          </a:p>
          <a:p>
            <a:r>
              <a:rPr lang="en-US"/>
              <a:t>Physically, these conditions reduce ability to participate in sport, exercise, and even daily household tasks.</a:t>
            </a:r>
          </a:p>
          <a:p>
            <a:r>
              <a:rPr lang="en-US"/>
              <a:t/>
            </a:r>
          </a:p>
          <a:p>
            <a:r>
              <a:rPr lang="en-US"/>
              <a:t>Pain syndromes, fatigue, or incontinence can all lead to reduced mobility and deconditioning. This creates a vicious cycle — symptoms cause inactivity, inactivity worsens physical and emotional health.</a:t>
            </a:r>
          </a:p>
          <a:p>
            <a:r>
              <a:rPr lang="en-US"/>
              <a:t/>
            </a:r>
          </a:p>
          <a:p>
            <a:r>
              <a:rPr lang="en-US"/>
              <a:t>Mental Wellbeing</a:t>
            </a:r>
          </a:p>
          <a:p>
            <a:r>
              <a:rPr lang="en-US"/>
              <a:t/>
            </a:r>
          </a:p>
          <a:p>
            <a:r>
              <a:rPr lang="en-US"/>
              <a:t>The psychological impact is significant.</a:t>
            </a:r>
          </a:p>
          <a:p>
            <a:r>
              <a:rPr lang="en-US"/>
              <a:t/>
            </a:r>
          </a:p>
          <a:p>
            <a:r>
              <a:rPr lang="en-US"/>
              <a:t>Many women experience anxiety, depression, embarrassment, or loss of confidence.</a:t>
            </a:r>
          </a:p>
          <a:p>
            <a:r>
              <a:rPr lang="en-US"/>
              <a:t/>
            </a:r>
          </a:p>
          <a:p>
            <a:r>
              <a:rPr lang="en-US"/>
              <a:t>There is also stigma — symptoms like urinary leakage or prolapse are often hidden, leading to isolation.</a:t>
            </a:r>
          </a:p>
          <a:p>
            <a:r>
              <a:rPr lang="en-US"/>
              <a:t/>
            </a:r>
          </a:p>
          <a:p>
            <a:r>
              <a:rPr lang="en-US"/>
              <a:t>This makes addressing the psychological and social context just as important as addressing the physical symptoms.</a:t>
            </a:r>
          </a:p>
          <a:p>
            <a:r>
              <a:rPr lang="en-US"/>
              <a:t/>
            </a:r>
          </a:p>
          <a:p>
            <a:r>
              <a:rPr lang="en-US"/>
              <a:t>Research Evidence</a:t>
            </a:r>
          </a:p>
          <a:p>
            <a:r>
              <a:rPr lang="en-US"/>
              <a:t/>
            </a:r>
          </a:p>
          <a:p>
            <a:r>
              <a:rPr lang="en-US"/>
              <a:t>Nygaard et al. (2010) showed that urinary incontinence is associated with a significant reduction in quality of life and an increased risk of depression.</a:t>
            </a:r>
          </a:p>
          <a:p>
            <a:r>
              <a:rPr lang="en-US"/>
              <a:t/>
            </a:r>
          </a:p>
          <a:p>
            <a:r>
              <a:rPr lang="en-US"/>
              <a:t>Broader literature shows up to 50% of women with pelvic floor dysfunction report negative impacts on mental wellbeing, self-esteem, and relationships.</a:t>
            </a:r>
          </a:p>
          <a:p>
            <a:r>
              <a:rPr lang="en-US"/>
              <a:t/>
            </a:r>
          </a:p>
          <a:p>
            <a:r>
              <a:rPr lang="en-US"/>
              <a:t>Visual (Biopsychosocial Model)</a:t>
            </a:r>
          </a:p>
          <a:p>
            <a:r>
              <a:rPr lang="en-US"/>
              <a:t/>
            </a:r>
          </a:p>
          <a:p>
            <a:r>
              <a:rPr lang="en-US"/>
              <a:t>On the slide, you’ll see a simple diagram with three circles: Biological, Psychological, and Social factors, overlapping into the central “Patient Experience.”</a:t>
            </a:r>
          </a:p>
          <a:p>
            <a:r>
              <a:rPr lang="en-US"/>
              <a:t/>
            </a:r>
          </a:p>
          <a:p>
            <a:r>
              <a:rPr lang="en-US"/>
              <a:t>This model helps us remember that symptoms don’t exist in isolation. For example, urinary incontinence (biological) may cause exercise avoidance (social), which leads to embarrassment and low mood (psychological). Our physiotherapy care must consider all of these layers.”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31-year-old woman has noticed urine leakage when she runs or jumps. She used to run regularly but has stopped because of embarrassment and frustration. She worries that her symptoms mean something is “wrong” with her body. She feels self-conscious about exercise and has noticed her mood declining since she stopped being active.</a:t>
            </a:r>
          </a:p>
          <a:p>
            <a:r>
              <a:rPr lang="en-US"/>
              <a:t/>
            </a:r>
          </a:p>
          <a:p>
            <a:r>
              <a:rPr lang="en-US"/>
              <a:t>Biopsychosocial Mapping</a:t>
            </a:r>
          </a:p>
          <a:p>
            <a:r>
              <a:rPr lang="en-US"/>
              <a:t/>
            </a:r>
          </a:p>
          <a:p>
            <a:r>
              <a:rPr lang="en-US"/>
              <a:t>1. Biological (physical/medical factors)</a:t>
            </a:r>
          </a:p>
          <a:p>
            <a:r>
              <a:rPr lang="en-US"/>
              <a:t/>
            </a:r>
          </a:p>
          <a:p>
            <a:r>
              <a:rPr lang="en-US"/>
              <a:t>Stress urinary incontinence (leakage with running/jumping)</a:t>
            </a:r>
          </a:p>
          <a:p>
            <a:r>
              <a:rPr lang="en-US"/>
              <a:t/>
            </a:r>
          </a:p>
          <a:p>
            <a:r>
              <a:rPr lang="en-US"/>
              <a:t>Possible pelvic floor weakness or dysfunction</a:t>
            </a:r>
          </a:p>
          <a:p>
            <a:r>
              <a:rPr lang="en-US"/>
              <a:t/>
            </a:r>
          </a:p>
          <a:p>
            <a:r>
              <a:rPr lang="en-US"/>
              <a:t>Changes in connective tissue or muscle tone postpartum (if relevant)</a:t>
            </a:r>
          </a:p>
          <a:p>
            <a:r>
              <a:rPr lang="en-US"/>
              <a:t/>
            </a:r>
          </a:p>
          <a:p>
            <a:r>
              <a:rPr lang="en-US"/>
              <a:t>Impact on fitness, cardiovascular health, and musculoskeletal system due to reduced activity</a:t>
            </a:r>
          </a:p>
          <a:p>
            <a:r>
              <a:rPr lang="en-US"/>
              <a:t/>
            </a:r>
          </a:p>
          <a:p>
            <a:r>
              <a:rPr lang="en-US"/>
              <a:t>2. Psychological (thoughts, emotions, beliefs)</a:t>
            </a:r>
          </a:p>
          <a:p>
            <a:r>
              <a:rPr lang="en-US"/>
              <a:t/>
            </a:r>
          </a:p>
          <a:p>
            <a:r>
              <a:rPr lang="en-US"/>
              <a:t>Embarrassment and shame associated with leakage</a:t>
            </a:r>
          </a:p>
          <a:p>
            <a:r>
              <a:rPr lang="en-US"/>
              <a:t/>
            </a:r>
          </a:p>
          <a:p>
            <a:r>
              <a:rPr lang="en-US"/>
              <a:t>Anxiety about symptoms indicating something “wrong”</a:t>
            </a:r>
          </a:p>
          <a:p>
            <a:r>
              <a:rPr lang="en-US"/>
              <a:t/>
            </a:r>
          </a:p>
          <a:p>
            <a:r>
              <a:rPr lang="en-US"/>
              <a:t>Reduced self-efficacy or confidence in exercising</a:t>
            </a:r>
          </a:p>
          <a:p>
            <a:r>
              <a:rPr lang="en-US"/>
              <a:t/>
            </a:r>
          </a:p>
          <a:p>
            <a:r>
              <a:rPr lang="en-US"/>
              <a:t>Possible low mood or frustration from being less active</a:t>
            </a:r>
          </a:p>
          <a:p>
            <a:r>
              <a:rPr lang="en-US"/>
              <a:t/>
            </a:r>
          </a:p>
          <a:p>
            <a:r>
              <a:rPr lang="en-US"/>
              <a:t>3. Social (environmental/relationship factors)</a:t>
            </a:r>
          </a:p>
          <a:p>
            <a:r>
              <a:rPr lang="en-US"/>
              <a:t/>
            </a:r>
          </a:p>
          <a:p>
            <a:r>
              <a:rPr lang="en-US"/>
              <a:t>Avoidance of running or group exercise due to fear of leakage</a:t>
            </a:r>
          </a:p>
          <a:p>
            <a:r>
              <a:rPr lang="en-US"/>
              <a:t/>
            </a:r>
          </a:p>
          <a:p>
            <a:r>
              <a:rPr lang="en-US"/>
              <a:t>Possible withdrawal from social interactions or exercise groups</a:t>
            </a:r>
          </a:p>
          <a:p>
            <a:r>
              <a:rPr lang="en-US"/>
              <a:t/>
            </a:r>
          </a:p>
          <a:p>
            <a:r>
              <a:rPr lang="en-US"/>
              <a:t>Influence of societal stigma around incontinence</a:t>
            </a:r>
          </a:p>
          <a:p>
            <a:r>
              <a:rPr lang="en-US"/>
              <a:t/>
            </a:r>
          </a:p>
          <a:p>
            <a:r>
              <a:rPr lang="en-US"/>
              <a:t>Impact on relationships or family life if activity was shared with partner/friends</a:t>
            </a:r>
          </a:p>
          <a:p>
            <a:r>
              <a:rPr lang="en-US"/>
              <a:t/>
            </a:r>
          </a:p>
          <a:p>
            <a:r>
              <a:rPr lang="en-US"/>
              <a:t>Discussion / Reflection Questions for Students</a:t>
            </a:r>
          </a:p>
          <a:p>
            <a:r>
              <a:rPr lang="en-US"/>
              <a:t/>
            </a:r>
          </a:p>
          <a:p>
            <a:r>
              <a:rPr lang="en-US"/>
              <a:t>How do her biological, psychological, and social factors interact to influence her behavior?</a:t>
            </a:r>
          </a:p>
          <a:p>
            <a:r>
              <a:rPr lang="en-US"/>
              <a:t/>
            </a:r>
          </a:p>
          <a:p>
            <a:r>
              <a:rPr lang="en-US"/>
              <a:t>What might be the long-term consequences if she does not receive support or treatment?</a:t>
            </a:r>
          </a:p>
          <a:p>
            <a:r>
              <a:rPr lang="en-US"/>
              <a:t/>
            </a:r>
          </a:p>
          <a:p>
            <a:r>
              <a:rPr lang="en-US"/>
              <a:t>What interventions could address each domain (e.g., physiotherapy, cognitive support, social encouragement)?</a:t>
            </a:r>
          </a:p>
          <a:p>
            <a:r>
              <a:rPr lang="en-US"/>
              <a:t/>
            </a:r>
          </a:p>
          <a:p>
            <a:r>
              <a:rPr lang="en-US"/>
              <a:t>How could you approach goal setting to restore confidence in exercise?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31-year-old woman has noticed urine leakage when she runs or jumps. She used to run regularly but has stopped because of embarrassment and frustration. She worries that her symptoms mean something is “wrong” with her body. She feels self-conscious about exercise and has noticed her mood declining since she stopped being active.</a:t>
            </a:r>
          </a:p>
          <a:p>
            <a:r>
              <a:rPr lang="en-US"/>
              <a:t/>
            </a:r>
          </a:p>
          <a:p>
            <a:r>
              <a:rPr lang="en-US"/>
              <a:t>Biopsychosocial Mapping</a:t>
            </a:r>
          </a:p>
          <a:p>
            <a:r>
              <a:rPr lang="en-US"/>
              <a:t/>
            </a:r>
          </a:p>
          <a:p>
            <a:r>
              <a:rPr lang="en-US"/>
              <a:t>1. Biological (physical/medical factors)</a:t>
            </a:r>
          </a:p>
          <a:p>
            <a:r>
              <a:rPr lang="en-US"/>
              <a:t/>
            </a:r>
          </a:p>
          <a:p>
            <a:r>
              <a:rPr lang="en-US"/>
              <a:t>Stress urinary incontinence (leakage with running/jumping)</a:t>
            </a:r>
          </a:p>
          <a:p>
            <a:r>
              <a:rPr lang="en-US"/>
              <a:t/>
            </a:r>
          </a:p>
          <a:p>
            <a:r>
              <a:rPr lang="en-US"/>
              <a:t>Possible pelvic floor weakness or dysfunction</a:t>
            </a:r>
          </a:p>
          <a:p>
            <a:r>
              <a:rPr lang="en-US"/>
              <a:t/>
            </a:r>
          </a:p>
          <a:p>
            <a:r>
              <a:rPr lang="en-US"/>
              <a:t>Changes in connective tissue or muscle tone postpartum (if relevant)</a:t>
            </a:r>
          </a:p>
          <a:p>
            <a:r>
              <a:rPr lang="en-US"/>
              <a:t/>
            </a:r>
          </a:p>
          <a:p>
            <a:r>
              <a:rPr lang="en-US"/>
              <a:t>Impact on fitness, cardiovascular health, and musculoskeletal system due to reduced activity</a:t>
            </a:r>
          </a:p>
          <a:p>
            <a:r>
              <a:rPr lang="en-US"/>
              <a:t/>
            </a:r>
          </a:p>
          <a:p>
            <a:r>
              <a:rPr lang="en-US"/>
              <a:t>2. Psychological (thoughts, emotions, beliefs)</a:t>
            </a:r>
          </a:p>
          <a:p>
            <a:r>
              <a:rPr lang="en-US"/>
              <a:t/>
            </a:r>
          </a:p>
          <a:p>
            <a:r>
              <a:rPr lang="en-US"/>
              <a:t>Embarrassment and shame associated with leakage</a:t>
            </a:r>
          </a:p>
          <a:p>
            <a:r>
              <a:rPr lang="en-US"/>
              <a:t/>
            </a:r>
          </a:p>
          <a:p>
            <a:r>
              <a:rPr lang="en-US"/>
              <a:t>Anxiety about symptoms indicating something “wrong”</a:t>
            </a:r>
          </a:p>
          <a:p>
            <a:r>
              <a:rPr lang="en-US"/>
              <a:t/>
            </a:r>
          </a:p>
          <a:p>
            <a:r>
              <a:rPr lang="en-US"/>
              <a:t>Reduced self-efficacy or confidence in exercising</a:t>
            </a:r>
          </a:p>
          <a:p>
            <a:r>
              <a:rPr lang="en-US"/>
              <a:t/>
            </a:r>
          </a:p>
          <a:p>
            <a:r>
              <a:rPr lang="en-US"/>
              <a:t>Possible low mood or frustration from being less active</a:t>
            </a:r>
          </a:p>
          <a:p>
            <a:r>
              <a:rPr lang="en-US"/>
              <a:t/>
            </a:r>
          </a:p>
          <a:p>
            <a:r>
              <a:rPr lang="en-US"/>
              <a:t>3. Social (environmental/relationship factors)</a:t>
            </a:r>
          </a:p>
          <a:p>
            <a:r>
              <a:rPr lang="en-US"/>
              <a:t/>
            </a:r>
          </a:p>
          <a:p>
            <a:r>
              <a:rPr lang="en-US"/>
              <a:t>Avoidance of running or group exercise due to fear of leakage</a:t>
            </a:r>
          </a:p>
          <a:p>
            <a:r>
              <a:rPr lang="en-US"/>
              <a:t/>
            </a:r>
          </a:p>
          <a:p>
            <a:r>
              <a:rPr lang="en-US"/>
              <a:t>Possible withdrawal from social interactions or exercise groups</a:t>
            </a:r>
          </a:p>
          <a:p>
            <a:r>
              <a:rPr lang="en-US"/>
              <a:t/>
            </a:r>
          </a:p>
          <a:p>
            <a:r>
              <a:rPr lang="en-US"/>
              <a:t>Influence of societal stigma around incontinence</a:t>
            </a:r>
          </a:p>
          <a:p>
            <a:r>
              <a:rPr lang="en-US"/>
              <a:t/>
            </a:r>
          </a:p>
          <a:p>
            <a:r>
              <a:rPr lang="en-US"/>
              <a:t>Impact on relationships or family life if activity was shared with partner/friends</a:t>
            </a:r>
          </a:p>
          <a:p>
            <a:r>
              <a:rPr lang="en-US"/>
              <a:t/>
            </a:r>
          </a:p>
          <a:p>
            <a:r>
              <a:rPr lang="en-US"/>
              <a:t>Discussion / Reflection Questions for Students</a:t>
            </a:r>
          </a:p>
          <a:p>
            <a:r>
              <a:rPr lang="en-US"/>
              <a:t/>
            </a:r>
          </a:p>
          <a:p>
            <a:r>
              <a:rPr lang="en-US"/>
              <a:t>How do her biological, psychological, and social factors interact to influence her behavior?</a:t>
            </a:r>
          </a:p>
          <a:p>
            <a:r>
              <a:rPr lang="en-US"/>
              <a:t/>
            </a:r>
          </a:p>
          <a:p>
            <a:r>
              <a:rPr lang="en-US"/>
              <a:t>What might be the long-term consequences if she does not receive support or treatment?</a:t>
            </a:r>
          </a:p>
          <a:p>
            <a:r>
              <a:rPr lang="en-US"/>
              <a:t/>
            </a:r>
          </a:p>
          <a:p>
            <a:r>
              <a:rPr lang="en-US"/>
              <a:t>What interventions could address each domain (e.g., physiotherapy, cognitive support, social encouragement)?</a:t>
            </a:r>
          </a:p>
          <a:p>
            <a:r>
              <a:rPr lang="en-US"/>
              <a:t/>
            </a:r>
          </a:p>
          <a:p>
            <a:r>
              <a:rPr lang="en-US"/>
              <a:t>How could you approach goal setting to restore confidence in exercise?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31-year-old woman has noticed urine leakage when she runs or jumps. She used to run regularly but has stopped because of embarrassment and frustration. She worries that her symptoms mean something is “wrong” with her body. She feels self-conscious about exercise and has noticed her mood declining since she stopped being active.</a:t>
            </a:r>
          </a:p>
          <a:p>
            <a:r>
              <a:rPr lang="en-US"/>
              <a:t/>
            </a:r>
          </a:p>
          <a:p>
            <a:r>
              <a:rPr lang="en-US"/>
              <a:t>Biopsychosocial Mapping</a:t>
            </a:r>
          </a:p>
          <a:p>
            <a:r>
              <a:rPr lang="en-US"/>
              <a:t/>
            </a:r>
          </a:p>
          <a:p>
            <a:r>
              <a:rPr lang="en-US"/>
              <a:t>1. Biological (physical/medical factors)</a:t>
            </a:r>
          </a:p>
          <a:p>
            <a:r>
              <a:rPr lang="en-US"/>
              <a:t/>
            </a:r>
          </a:p>
          <a:p>
            <a:r>
              <a:rPr lang="en-US"/>
              <a:t>Stress urinary incontinence (leakage with running/jumping)</a:t>
            </a:r>
          </a:p>
          <a:p>
            <a:r>
              <a:rPr lang="en-US"/>
              <a:t/>
            </a:r>
          </a:p>
          <a:p>
            <a:r>
              <a:rPr lang="en-US"/>
              <a:t>Possible pelvic floor weakness or dysfunction</a:t>
            </a:r>
          </a:p>
          <a:p>
            <a:r>
              <a:rPr lang="en-US"/>
              <a:t/>
            </a:r>
          </a:p>
          <a:p>
            <a:r>
              <a:rPr lang="en-US"/>
              <a:t>Changes in connective tissue or muscle tone postpartum (if relevant)</a:t>
            </a:r>
          </a:p>
          <a:p>
            <a:r>
              <a:rPr lang="en-US"/>
              <a:t/>
            </a:r>
          </a:p>
          <a:p>
            <a:r>
              <a:rPr lang="en-US"/>
              <a:t>Impact on fitness, cardiovascular health, and musculoskeletal system due to reduced activity</a:t>
            </a:r>
          </a:p>
          <a:p>
            <a:r>
              <a:rPr lang="en-US"/>
              <a:t/>
            </a:r>
          </a:p>
          <a:p>
            <a:r>
              <a:rPr lang="en-US"/>
              <a:t>2. Psychological (thoughts, emotions, beliefs)</a:t>
            </a:r>
          </a:p>
          <a:p>
            <a:r>
              <a:rPr lang="en-US"/>
              <a:t/>
            </a:r>
          </a:p>
          <a:p>
            <a:r>
              <a:rPr lang="en-US"/>
              <a:t>Embarrassment and shame associated with leakage</a:t>
            </a:r>
          </a:p>
          <a:p>
            <a:r>
              <a:rPr lang="en-US"/>
              <a:t/>
            </a:r>
          </a:p>
          <a:p>
            <a:r>
              <a:rPr lang="en-US"/>
              <a:t>Anxiety about symptoms indicating something “wrong”</a:t>
            </a:r>
          </a:p>
          <a:p>
            <a:r>
              <a:rPr lang="en-US"/>
              <a:t/>
            </a:r>
          </a:p>
          <a:p>
            <a:r>
              <a:rPr lang="en-US"/>
              <a:t>Reduced self-efficacy or confidence in exercising</a:t>
            </a:r>
          </a:p>
          <a:p>
            <a:r>
              <a:rPr lang="en-US"/>
              <a:t/>
            </a:r>
          </a:p>
          <a:p>
            <a:r>
              <a:rPr lang="en-US"/>
              <a:t>Possible low mood or frustration from being less active</a:t>
            </a:r>
          </a:p>
          <a:p>
            <a:r>
              <a:rPr lang="en-US"/>
              <a:t/>
            </a:r>
          </a:p>
          <a:p>
            <a:r>
              <a:rPr lang="en-US"/>
              <a:t>3. Social (environmental/relationship factors)</a:t>
            </a:r>
          </a:p>
          <a:p>
            <a:r>
              <a:rPr lang="en-US"/>
              <a:t/>
            </a:r>
          </a:p>
          <a:p>
            <a:r>
              <a:rPr lang="en-US"/>
              <a:t>Avoidance of running or group exercise due to fear of leakage</a:t>
            </a:r>
          </a:p>
          <a:p>
            <a:r>
              <a:rPr lang="en-US"/>
              <a:t/>
            </a:r>
          </a:p>
          <a:p>
            <a:r>
              <a:rPr lang="en-US"/>
              <a:t>Possible withdrawal from social interactions or exercise groups</a:t>
            </a:r>
          </a:p>
          <a:p>
            <a:r>
              <a:rPr lang="en-US"/>
              <a:t/>
            </a:r>
          </a:p>
          <a:p>
            <a:r>
              <a:rPr lang="en-US"/>
              <a:t>Influence of societal stigma around incontinence</a:t>
            </a:r>
          </a:p>
          <a:p>
            <a:r>
              <a:rPr lang="en-US"/>
              <a:t/>
            </a:r>
          </a:p>
          <a:p>
            <a:r>
              <a:rPr lang="en-US"/>
              <a:t>Impact on relationships or family life if activity was shared with partner/friends</a:t>
            </a:r>
          </a:p>
          <a:p>
            <a:r>
              <a:rPr lang="en-US"/>
              <a:t/>
            </a:r>
          </a:p>
          <a:p>
            <a:r>
              <a:rPr lang="en-US"/>
              <a:t>Discussion / Reflection Questions for Students</a:t>
            </a:r>
          </a:p>
          <a:p>
            <a:r>
              <a:rPr lang="en-US"/>
              <a:t/>
            </a:r>
          </a:p>
          <a:p>
            <a:r>
              <a:rPr lang="en-US"/>
              <a:t>How do her biological, psychological, and social factors interact to influence her behavior?</a:t>
            </a:r>
          </a:p>
          <a:p>
            <a:r>
              <a:rPr lang="en-US"/>
              <a:t/>
            </a:r>
          </a:p>
          <a:p>
            <a:r>
              <a:rPr lang="en-US"/>
              <a:t>What might be the long-term consequences if she does not receive support or treatment?</a:t>
            </a:r>
          </a:p>
          <a:p>
            <a:r>
              <a:rPr lang="en-US"/>
              <a:t/>
            </a:r>
          </a:p>
          <a:p>
            <a:r>
              <a:rPr lang="en-US"/>
              <a:t>What interventions could address each domain (e.g., physiotherapy, cognitive support, social encouragement)?</a:t>
            </a:r>
          </a:p>
          <a:p>
            <a:r>
              <a:rPr lang="en-US"/>
              <a:t/>
            </a:r>
          </a:p>
          <a:p>
            <a:r>
              <a:rPr lang="en-US"/>
              <a:t>How could you approach goal setting to restore confidence in exercise?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jpeg" Type="http://schemas.openxmlformats.org/officeDocument/2006/relationships/image"/><Relationship Id="rId4" Target="https://www.youtube.com/watch?v=mhA7W-XNDso" TargetMode="External" Type="http://schemas.openxmlformats.org/officeDocument/2006/relationships/video"/></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6.jpeg" Type="http://schemas.openxmlformats.org/officeDocument/2006/relationships/image"/><Relationship Id="rId4" Target="https://www.youtube.com/watch?v=ETqg8q_oGyA" TargetMode="External" Type="http://schemas.openxmlformats.org/officeDocument/2006/relationships/video"/></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6.jpeg" Type="http://schemas.openxmlformats.org/officeDocument/2006/relationships/image"/><Relationship Id="rId4" Target="https://www.youtube.com/watch?v=id4GqQ82BiM" TargetMode="External" Type="http://schemas.openxmlformats.org/officeDocument/2006/relationships/video"/><Relationship Id="rId5" Target="https://www.youtube.com/watch?v=89Qiht82zmg" TargetMode="External" Type="http://schemas.openxmlformats.org/officeDocument/2006/relationships/video"/><Relationship Id="rId6" Target="https://www.youtube.com/watch?v=qhDv5ZmQFhs" TargetMode="External" Type="http://schemas.openxmlformats.org/officeDocument/2006/relationships/video"/></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6.jpeg" Type="http://schemas.openxmlformats.org/officeDocument/2006/relationships/image"/><Relationship Id="rId4" Target="https://www.youtube.com/watch?v=8uMiz1Zx1r0" TargetMode="External" Type="http://schemas.openxmlformats.org/officeDocument/2006/relationships/video"/></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6.jpeg" Type="http://schemas.openxmlformats.org/officeDocument/2006/relationships/image"/><Relationship Id="rId4" Target="https://www.youtube.com/watch?v=izmn-pz1qAc" TargetMode="External" Type="http://schemas.openxmlformats.org/officeDocument/2006/relationships/video"/></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0.png" Type="http://schemas.openxmlformats.org/officeDocument/2006/relationships/image"/><Relationship Id="rId4" Target="../media/image3.png" Type="http://schemas.openxmlformats.org/officeDocument/2006/relationships/image"/><Relationship Id="rId5"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9665" y="1206855"/>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814779" y="4921864"/>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1147579" y="374499"/>
            <a:ext cx="6378266" cy="6391742"/>
          </a:xfrm>
          <a:custGeom>
            <a:avLst/>
            <a:gdLst/>
            <a:ahLst/>
            <a:cxnLst/>
            <a:rect r="r" b="b" t="t" l="l"/>
            <a:pathLst>
              <a:path h="6391742" w="6378266">
                <a:moveTo>
                  <a:pt x="0" y="0"/>
                </a:moveTo>
                <a:lnTo>
                  <a:pt x="6378265" y="0"/>
                </a:lnTo>
                <a:lnTo>
                  <a:pt x="6378265" y="6391741"/>
                </a:lnTo>
                <a:lnTo>
                  <a:pt x="0" y="6391741"/>
                </a:lnTo>
                <a:lnTo>
                  <a:pt x="0" y="0"/>
                </a:lnTo>
                <a:close/>
              </a:path>
            </a:pathLst>
          </a:custGeom>
          <a:blipFill>
            <a:blip r:embed="rId2">
              <a:extLst>
                <a:ext uri="{96DAC541-7B7A-43D3-8B79-37D633B846F1}">
                  <asvg:svgBlip xmlns:asvg="http://schemas.microsoft.com/office/drawing/2016/SVG/main" r:embed="rId3"/>
                </a:ext>
              </a:extLst>
            </a:blip>
            <a:stretch>
              <a:fillRect l="0" t="0" r="-65038" b="-1209"/>
            </a:stretch>
          </a:blipFill>
        </p:spPr>
      </p:sp>
      <p:sp>
        <p:nvSpPr>
          <p:cNvPr name="Freeform 9" id="9"/>
          <p:cNvSpPr/>
          <p:nvPr/>
        </p:nvSpPr>
        <p:spPr>
          <a:xfrm flipH="false" flipV="false" rot="0">
            <a:off x="-170556" y="3267290"/>
            <a:ext cx="6981651" cy="9216701"/>
          </a:xfrm>
          <a:custGeom>
            <a:avLst/>
            <a:gdLst/>
            <a:ahLst/>
            <a:cxnLst/>
            <a:rect r="r" b="b" t="t" l="l"/>
            <a:pathLst>
              <a:path h="9216701" w="6981651">
                <a:moveTo>
                  <a:pt x="0" y="0"/>
                </a:moveTo>
                <a:lnTo>
                  <a:pt x="6981650" y="0"/>
                </a:lnTo>
                <a:lnTo>
                  <a:pt x="6981650" y="9216701"/>
                </a:lnTo>
                <a:lnTo>
                  <a:pt x="0" y="9216701"/>
                </a:lnTo>
                <a:lnTo>
                  <a:pt x="0" y="0"/>
                </a:lnTo>
                <a:close/>
              </a:path>
            </a:pathLst>
          </a:custGeom>
          <a:blipFill>
            <a:blip r:embed="rId4"/>
            <a:stretch>
              <a:fillRect l="0" t="0" r="0" b="0"/>
            </a:stretch>
          </a:blipFill>
        </p:spPr>
      </p:sp>
      <p:sp>
        <p:nvSpPr>
          <p:cNvPr name="TextBox 10" id="10"/>
          <p:cNvSpPr txBox="true"/>
          <p:nvPr/>
        </p:nvSpPr>
        <p:spPr>
          <a:xfrm rot="0">
            <a:off x="9774076" y="2347507"/>
            <a:ext cx="7485224" cy="385127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Rehabilitation techniques for the common women’s health conditions</a:t>
            </a:r>
          </a:p>
        </p:txBody>
      </p:sp>
      <p:grpSp>
        <p:nvGrpSpPr>
          <p:cNvPr name="Group 11" id="11"/>
          <p:cNvGrpSpPr/>
          <p:nvPr/>
        </p:nvGrpSpPr>
        <p:grpSpPr>
          <a:xfrm rot="0">
            <a:off x="16796268" y="-1010221"/>
            <a:ext cx="8313048" cy="7209004"/>
            <a:chOff x="0" y="0"/>
            <a:chExt cx="812800" cy="704850"/>
          </a:xfrm>
        </p:grpSpPr>
        <p:sp>
          <p:nvSpPr>
            <p:cNvPr name="Freeform 12" id="12"/>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3665445" y="1120356"/>
            <a:ext cx="6680533" cy="10646269"/>
          </a:xfrm>
          <a:custGeom>
            <a:avLst/>
            <a:gdLst/>
            <a:ahLst/>
            <a:cxnLst/>
            <a:rect r="r" b="b" t="t" l="l"/>
            <a:pathLst>
              <a:path h="10646269" w="6680533">
                <a:moveTo>
                  <a:pt x="0" y="0"/>
                </a:moveTo>
                <a:lnTo>
                  <a:pt x="6680534" y="0"/>
                </a:lnTo>
                <a:lnTo>
                  <a:pt x="6680534" y="10646269"/>
                </a:lnTo>
                <a:lnTo>
                  <a:pt x="0" y="10646269"/>
                </a:lnTo>
                <a:lnTo>
                  <a:pt x="0" y="0"/>
                </a:lnTo>
                <a:close/>
              </a:path>
            </a:pathLst>
          </a:custGeom>
          <a:blipFill>
            <a:blip r:embed="rId5"/>
            <a:stretch>
              <a:fillRect l="0" t="0" r="0" b="0"/>
            </a:stretch>
          </a:blipFill>
        </p:spPr>
      </p:sp>
      <p:sp>
        <p:nvSpPr>
          <p:cNvPr name="TextBox 15" id="15"/>
          <p:cNvSpPr txBox="true"/>
          <p:nvPr/>
        </p:nvSpPr>
        <p:spPr>
          <a:xfrm rot="0">
            <a:off x="9837409" y="6391297"/>
            <a:ext cx="7421891" cy="471805"/>
          </a:xfrm>
          <a:prstGeom prst="rect">
            <a:avLst/>
          </a:prstGeom>
        </p:spPr>
        <p:txBody>
          <a:bodyPr anchor="t" rtlCol="false" tIns="0" lIns="0" bIns="0" rIns="0">
            <a:spAutoFit/>
          </a:bodyPr>
          <a:lstStyle/>
          <a:p>
            <a:pPr algn="ctr">
              <a:lnSpc>
                <a:spcPts val="3919"/>
              </a:lnSpc>
            </a:pPr>
            <a:r>
              <a:rPr lang="en-US" sz="2799">
                <a:solidFill>
                  <a:srgbClr val="8F4014"/>
                </a:solidFill>
                <a:latin typeface="Montserrat"/>
                <a:ea typeface="Montserrat"/>
                <a:cs typeface="Montserrat"/>
                <a:sym typeface="Montserrat"/>
              </a:rPr>
              <a:t>London Metropolitan University</a:t>
            </a:r>
          </a:p>
        </p:txBody>
      </p:sp>
      <p:sp>
        <p:nvSpPr>
          <p:cNvPr name="TextBox 16" id="16"/>
          <p:cNvSpPr txBox="true"/>
          <p:nvPr/>
        </p:nvSpPr>
        <p:spPr>
          <a:xfrm rot="0">
            <a:off x="14143595" y="8918608"/>
            <a:ext cx="3115705" cy="339692"/>
          </a:xfrm>
          <a:prstGeom prst="rect">
            <a:avLst/>
          </a:prstGeom>
        </p:spPr>
        <p:txBody>
          <a:bodyPr anchor="t" rtlCol="false" tIns="0" lIns="0" bIns="0" rIns="0">
            <a:spAutoFit/>
          </a:bodyPr>
          <a:lstStyle/>
          <a:p>
            <a:pPr algn="r">
              <a:lnSpc>
                <a:spcPts val="2800"/>
              </a:lnSpc>
            </a:pPr>
            <a:r>
              <a:rPr lang="en-US" sz="2000">
                <a:solidFill>
                  <a:srgbClr val="8F4014"/>
                </a:solidFill>
                <a:latin typeface="Montserrat"/>
                <a:ea typeface="Montserrat"/>
                <a:cs typeface="Montserrat"/>
                <a:sym typeface="Montserrat"/>
              </a:rPr>
              <a:t>Presented By : </a:t>
            </a:r>
          </a:p>
        </p:txBody>
      </p:sp>
      <p:sp>
        <p:nvSpPr>
          <p:cNvPr name="TextBox 17" id="17"/>
          <p:cNvSpPr txBox="true"/>
          <p:nvPr/>
        </p:nvSpPr>
        <p:spPr>
          <a:xfrm rot="0">
            <a:off x="11426243" y="9220200"/>
            <a:ext cx="5833057" cy="692150"/>
          </a:xfrm>
          <a:prstGeom prst="rect">
            <a:avLst/>
          </a:prstGeom>
        </p:spPr>
        <p:txBody>
          <a:bodyPr anchor="t" rtlCol="false" tIns="0" lIns="0" bIns="0" rIns="0">
            <a:spAutoFit/>
          </a:bodyPr>
          <a:lstStyle/>
          <a:p>
            <a:pPr algn="r">
              <a:lnSpc>
                <a:spcPts val="2800"/>
              </a:lnSpc>
            </a:pPr>
            <a:r>
              <a:rPr lang="en-US" sz="2000" b="true">
                <a:solidFill>
                  <a:srgbClr val="8F4014"/>
                </a:solidFill>
                <a:latin typeface="Montserrat Bold"/>
                <a:ea typeface="Montserrat Bold"/>
                <a:cs typeface="Montserrat Bold"/>
                <a:sym typeface="Montserrat Bold"/>
              </a:rPr>
              <a:t>Imogen Palllister </a:t>
            </a:r>
          </a:p>
          <a:p>
            <a:pPr algn="r">
              <a:lnSpc>
                <a:spcPts val="2800"/>
              </a:lnSpc>
            </a:pPr>
            <a:r>
              <a:rPr lang="en-US" sz="2000" b="true">
                <a:solidFill>
                  <a:srgbClr val="8F4014"/>
                </a:solidFill>
                <a:latin typeface="Montserrat Bold"/>
                <a:ea typeface="Montserrat Bold"/>
                <a:cs typeface="Montserrat Bold"/>
                <a:sym typeface="Montserrat Bold"/>
              </a:rPr>
              <a:t>B8a Pelvic Health Physiotherapist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544645"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false" flipV="false" rot="0">
            <a:off x="5832019" y="3128902"/>
            <a:ext cx="6414766" cy="5901585"/>
          </a:xfrm>
          <a:custGeom>
            <a:avLst/>
            <a:gdLst/>
            <a:ahLst/>
            <a:cxnLst/>
            <a:rect r="r" b="b" t="t" l="l"/>
            <a:pathLst>
              <a:path h="5901585" w="6414766">
                <a:moveTo>
                  <a:pt x="0" y="0"/>
                </a:moveTo>
                <a:lnTo>
                  <a:pt x="6414766" y="0"/>
                </a:lnTo>
                <a:lnTo>
                  <a:pt x="6414766" y="5901584"/>
                </a:lnTo>
                <a:lnTo>
                  <a:pt x="0" y="59015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998795" y="1281562"/>
            <a:ext cx="9666449"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Learning Outcomes</a:t>
            </a:r>
          </a:p>
        </p:txBody>
      </p:sp>
      <p:sp>
        <p:nvSpPr>
          <p:cNvPr name="TextBox 10" id="10"/>
          <p:cNvSpPr txBox="true"/>
          <p:nvPr/>
        </p:nvSpPr>
        <p:spPr>
          <a:xfrm rot="0">
            <a:off x="488617" y="3157870"/>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01</a:t>
            </a:r>
          </a:p>
        </p:txBody>
      </p:sp>
      <p:sp>
        <p:nvSpPr>
          <p:cNvPr name="TextBox 11" id="11"/>
          <p:cNvSpPr txBox="true"/>
          <p:nvPr/>
        </p:nvSpPr>
        <p:spPr>
          <a:xfrm rot="0">
            <a:off x="488617" y="4991366"/>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02</a:t>
            </a:r>
          </a:p>
        </p:txBody>
      </p:sp>
      <p:sp>
        <p:nvSpPr>
          <p:cNvPr name="TextBox 12" id="12"/>
          <p:cNvSpPr txBox="true"/>
          <p:nvPr/>
        </p:nvSpPr>
        <p:spPr>
          <a:xfrm rot="0">
            <a:off x="488617" y="6910588"/>
            <a:ext cx="1547171" cy="936592"/>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03</a:t>
            </a:r>
          </a:p>
        </p:txBody>
      </p:sp>
      <p:sp>
        <p:nvSpPr>
          <p:cNvPr name="TextBox 13" id="13"/>
          <p:cNvSpPr txBox="true"/>
          <p:nvPr/>
        </p:nvSpPr>
        <p:spPr>
          <a:xfrm rot="0">
            <a:off x="1048161" y="2334582"/>
            <a:ext cx="5785153" cy="389255"/>
          </a:xfrm>
          <a:prstGeom prst="rect">
            <a:avLst/>
          </a:prstGeom>
        </p:spPr>
        <p:txBody>
          <a:bodyPr anchor="t" rtlCol="false" tIns="0" lIns="0" bIns="0" rIns="0">
            <a:spAutoFit/>
          </a:bodyPr>
          <a:lstStyle/>
          <a:p>
            <a:pPr algn="l">
              <a:lnSpc>
                <a:spcPts val="3220"/>
              </a:lnSpc>
            </a:pPr>
            <a:r>
              <a:rPr lang="en-US" sz="2300">
                <a:solidFill>
                  <a:srgbClr val="8F4014"/>
                </a:solidFill>
                <a:latin typeface="Montserrat"/>
                <a:ea typeface="Montserrat"/>
                <a:cs typeface="Montserrat"/>
                <a:sym typeface="Montserrat"/>
              </a:rPr>
              <a:t>Key take home messages</a:t>
            </a:r>
          </a:p>
        </p:txBody>
      </p:sp>
      <p:sp>
        <p:nvSpPr>
          <p:cNvPr name="TextBox 14" id="14"/>
          <p:cNvSpPr txBox="true"/>
          <p:nvPr/>
        </p:nvSpPr>
        <p:spPr>
          <a:xfrm rot="0">
            <a:off x="13450499" y="4740300"/>
            <a:ext cx="232541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Application </a:t>
            </a:r>
          </a:p>
        </p:txBody>
      </p:sp>
      <p:sp>
        <p:nvSpPr>
          <p:cNvPr name="TextBox 15" id="15"/>
          <p:cNvSpPr txBox="true"/>
          <p:nvPr/>
        </p:nvSpPr>
        <p:spPr>
          <a:xfrm rot="0">
            <a:off x="12134720" y="6487017"/>
            <a:ext cx="364119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Treatment</a:t>
            </a:r>
          </a:p>
        </p:txBody>
      </p:sp>
      <p:sp>
        <p:nvSpPr>
          <p:cNvPr name="TextBox 16" id="16"/>
          <p:cNvSpPr txBox="true"/>
          <p:nvPr/>
        </p:nvSpPr>
        <p:spPr>
          <a:xfrm rot="0">
            <a:off x="13450499" y="7939296"/>
            <a:ext cx="232541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Application</a:t>
            </a:r>
          </a:p>
        </p:txBody>
      </p:sp>
      <p:sp>
        <p:nvSpPr>
          <p:cNvPr name="TextBox 17" id="17"/>
          <p:cNvSpPr txBox="true"/>
          <p:nvPr/>
        </p:nvSpPr>
        <p:spPr>
          <a:xfrm rot="0">
            <a:off x="2035788" y="3190623"/>
            <a:ext cx="2325414" cy="107315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 General considerations for assessment </a:t>
            </a:r>
          </a:p>
        </p:txBody>
      </p:sp>
      <p:sp>
        <p:nvSpPr>
          <p:cNvPr name="TextBox 18" id="18"/>
          <p:cNvSpPr txBox="true"/>
          <p:nvPr/>
        </p:nvSpPr>
        <p:spPr>
          <a:xfrm rot="0">
            <a:off x="2035788" y="4942187"/>
            <a:ext cx="232541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Subjective Ax </a:t>
            </a:r>
          </a:p>
        </p:txBody>
      </p:sp>
      <p:sp>
        <p:nvSpPr>
          <p:cNvPr name="TextBox 19" id="19"/>
          <p:cNvSpPr txBox="true"/>
          <p:nvPr/>
        </p:nvSpPr>
        <p:spPr>
          <a:xfrm rot="0">
            <a:off x="2035788" y="6814009"/>
            <a:ext cx="2325414" cy="368300"/>
          </a:xfrm>
          <a:prstGeom prst="rect">
            <a:avLst/>
          </a:prstGeom>
        </p:spPr>
        <p:txBody>
          <a:bodyPr anchor="t" rtlCol="false" tIns="0" lIns="0" bIns="0" rIns="0">
            <a:spAutoFit/>
          </a:bodyPr>
          <a:lstStyle/>
          <a:p>
            <a:pPr algn="r">
              <a:lnSpc>
                <a:spcPts val="2800"/>
              </a:lnSpc>
            </a:pPr>
            <a:r>
              <a:rPr lang="en-US" sz="2000">
                <a:solidFill>
                  <a:srgbClr val="8F4014"/>
                </a:solidFill>
                <a:latin typeface="Poppins"/>
                <a:ea typeface="Poppins"/>
                <a:cs typeface="Poppins"/>
                <a:sym typeface="Poppins"/>
              </a:rPr>
              <a:t>Objective Ax</a:t>
            </a:r>
          </a:p>
        </p:txBody>
      </p:sp>
      <p:sp>
        <p:nvSpPr>
          <p:cNvPr name="TextBox 20" id="20"/>
          <p:cNvSpPr txBox="true"/>
          <p:nvPr/>
        </p:nvSpPr>
        <p:spPr>
          <a:xfrm rot="0">
            <a:off x="15956889" y="4876759"/>
            <a:ext cx="1547171" cy="9366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04</a:t>
            </a:r>
          </a:p>
        </p:txBody>
      </p:sp>
      <p:sp>
        <p:nvSpPr>
          <p:cNvPr name="TextBox 21" id="21"/>
          <p:cNvSpPr txBox="true"/>
          <p:nvPr/>
        </p:nvSpPr>
        <p:spPr>
          <a:xfrm rot="0">
            <a:off x="15956889" y="6360000"/>
            <a:ext cx="1547171" cy="9366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05</a:t>
            </a:r>
          </a:p>
        </p:txBody>
      </p:sp>
      <p:sp>
        <p:nvSpPr>
          <p:cNvPr name="TextBox 22" id="22"/>
          <p:cNvSpPr txBox="true"/>
          <p:nvPr/>
        </p:nvSpPr>
        <p:spPr>
          <a:xfrm rot="0">
            <a:off x="15956889" y="7782285"/>
            <a:ext cx="1547171" cy="936625"/>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06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3711472" y="2698927"/>
            <a:ext cx="10865057" cy="4709815"/>
          </a:xfrm>
          <a:custGeom>
            <a:avLst/>
            <a:gdLst/>
            <a:ahLst/>
            <a:cxnLst/>
            <a:rect r="r" b="b" t="t" l="l"/>
            <a:pathLst>
              <a:path h="4709815" w="10865057">
                <a:moveTo>
                  <a:pt x="0" y="0"/>
                </a:moveTo>
                <a:lnTo>
                  <a:pt x="10865056" y="0"/>
                </a:lnTo>
                <a:lnTo>
                  <a:pt x="10865056" y="4709815"/>
                </a:lnTo>
                <a:lnTo>
                  <a:pt x="0" y="4709815"/>
                </a:lnTo>
                <a:lnTo>
                  <a:pt x="0" y="0"/>
                </a:lnTo>
                <a:close/>
              </a:path>
            </a:pathLst>
          </a:custGeom>
          <a:blipFill>
            <a:blip r:embed="rId3"/>
            <a:stretch>
              <a:fillRect l="0" t="0" r="0" b="0"/>
            </a:stretch>
          </a:blipFill>
        </p:spPr>
      </p:sp>
      <p:sp>
        <p:nvSpPr>
          <p:cNvPr name="TextBox 15" id="15"/>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
        <p:nvSpPr>
          <p:cNvPr name="Freeform 16" id="16"/>
          <p:cNvSpPr/>
          <p:nvPr/>
        </p:nvSpPr>
        <p:spPr>
          <a:xfrm flipH="false" flipV="false" rot="0">
            <a:off x="3863872" y="2851327"/>
            <a:ext cx="10865057" cy="4709815"/>
          </a:xfrm>
          <a:custGeom>
            <a:avLst/>
            <a:gdLst/>
            <a:ahLst/>
            <a:cxnLst/>
            <a:rect r="r" b="b" t="t" l="l"/>
            <a:pathLst>
              <a:path h="4709815" w="10865057">
                <a:moveTo>
                  <a:pt x="0" y="0"/>
                </a:moveTo>
                <a:lnTo>
                  <a:pt x="10865056" y="0"/>
                </a:lnTo>
                <a:lnTo>
                  <a:pt x="10865056" y="4709815"/>
                </a:lnTo>
                <a:lnTo>
                  <a:pt x="0" y="4709815"/>
                </a:lnTo>
                <a:lnTo>
                  <a:pt x="0" y="0"/>
                </a:lnTo>
                <a:close/>
              </a:path>
            </a:pathLst>
          </a:custGeom>
          <a:blipFill>
            <a:blip r:embed="rId3"/>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580697" y="1288635"/>
            <a:ext cx="8473253" cy="5479370"/>
          </a:xfrm>
          <a:custGeom>
            <a:avLst/>
            <a:gdLst/>
            <a:ahLst/>
            <a:cxnLst/>
            <a:rect r="r" b="b" t="t" l="l"/>
            <a:pathLst>
              <a:path h="5479370" w="8473253">
                <a:moveTo>
                  <a:pt x="0" y="0"/>
                </a:moveTo>
                <a:lnTo>
                  <a:pt x="8473254" y="0"/>
                </a:lnTo>
                <a:lnTo>
                  <a:pt x="8473254" y="5479370"/>
                </a:lnTo>
                <a:lnTo>
                  <a:pt x="0" y="5479370"/>
                </a:lnTo>
                <a:lnTo>
                  <a:pt x="0" y="0"/>
                </a:lnTo>
                <a:close/>
              </a:path>
            </a:pathLst>
          </a:custGeom>
          <a:blipFill>
            <a:blip r:embed="rId3"/>
            <a:stretch>
              <a:fillRect l="0" t="0" r="0" b="0"/>
            </a:stretch>
          </a:blipFill>
        </p:spPr>
      </p:sp>
      <p:sp>
        <p:nvSpPr>
          <p:cNvPr name="Freeform 15" id="15"/>
          <p:cNvSpPr/>
          <p:nvPr/>
        </p:nvSpPr>
        <p:spPr>
          <a:xfrm flipH="false" flipV="false" rot="0">
            <a:off x="7543099" y="5053834"/>
            <a:ext cx="10804726" cy="4656638"/>
          </a:xfrm>
          <a:custGeom>
            <a:avLst/>
            <a:gdLst/>
            <a:ahLst/>
            <a:cxnLst/>
            <a:rect r="r" b="b" t="t" l="l"/>
            <a:pathLst>
              <a:path h="4656638" w="10804726">
                <a:moveTo>
                  <a:pt x="0" y="0"/>
                </a:moveTo>
                <a:lnTo>
                  <a:pt x="10804726" y="0"/>
                </a:lnTo>
                <a:lnTo>
                  <a:pt x="10804726" y="4656638"/>
                </a:lnTo>
                <a:lnTo>
                  <a:pt x="0" y="4656638"/>
                </a:lnTo>
                <a:lnTo>
                  <a:pt x="0" y="0"/>
                </a:lnTo>
                <a:close/>
              </a:path>
            </a:pathLst>
          </a:custGeom>
          <a:blipFill>
            <a:blip r:embed="rId4"/>
            <a:stretch>
              <a:fillRect l="0" t="0" r="0" b="0"/>
            </a:stretch>
          </a:blipFill>
        </p:spPr>
      </p:sp>
      <p:sp>
        <p:nvSpPr>
          <p:cNvPr name="TextBox 16" id="16"/>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2580458" y="3803031"/>
            <a:ext cx="12946984" cy="3070112"/>
          </a:xfrm>
          <a:custGeom>
            <a:avLst/>
            <a:gdLst/>
            <a:ahLst/>
            <a:cxnLst/>
            <a:rect r="r" b="b" t="t" l="l"/>
            <a:pathLst>
              <a:path h="3070112" w="12946984">
                <a:moveTo>
                  <a:pt x="0" y="0"/>
                </a:moveTo>
                <a:lnTo>
                  <a:pt x="12946985" y="0"/>
                </a:lnTo>
                <a:lnTo>
                  <a:pt x="12946985" y="3070112"/>
                </a:lnTo>
                <a:lnTo>
                  <a:pt x="0" y="3070112"/>
                </a:lnTo>
                <a:lnTo>
                  <a:pt x="0" y="0"/>
                </a:lnTo>
                <a:close/>
              </a:path>
            </a:pathLst>
          </a:custGeom>
          <a:blipFill>
            <a:blip r:embed="rId3"/>
            <a:stretch>
              <a:fillRect l="0" t="0" r="0" b="0"/>
            </a:stretch>
          </a:blipFill>
        </p:spPr>
      </p:sp>
      <p:sp>
        <p:nvSpPr>
          <p:cNvPr name="TextBox 15" id="15"/>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3117072" y="3072190"/>
            <a:ext cx="12456236" cy="4609788"/>
          </a:xfrm>
          <a:custGeom>
            <a:avLst/>
            <a:gdLst/>
            <a:ahLst/>
            <a:cxnLst/>
            <a:rect r="r" b="b" t="t" l="l"/>
            <a:pathLst>
              <a:path h="4609788" w="12456236">
                <a:moveTo>
                  <a:pt x="0" y="0"/>
                </a:moveTo>
                <a:lnTo>
                  <a:pt x="12456237" y="0"/>
                </a:lnTo>
                <a:lnTo>
                  <a:pt x="12456237" y="4609789"/>
                </a:lnTo>
                <a:lnTo>
                  <a:pt x="0" y="4609789"/>
                </a:lnTo>
                <a:lnTo>
                  <a:pt x="0" y="0"/>
                </a:lnTo>
                <a:close/>
              </a:path>
            </a:pathLst>
          </a:custGeom>
          <a:blipFill>
            <a:blip r:embed="rId3"/>
            <a:stretch>
              <a:fillRect l="0" t="0" r="0" b="0"/>
            </a:stretch>
          </a:blipFill>
        </p:spPr>
      </p:sp>
      <p:sp>
        <p:nvSpPr>
          <p:cNvPr name="TextBox 15" id="15"/>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3115030" y="2056853"/>
            <a:ext cx="11877840" cy="6822241"/>
          </a:xfrm>
          <a:custGeom>
            <a:avLst/>
            <a:gdLst/>
            <a:ahLst/>
            <a:cxnLst/>
            <a:rect r="r" b="b" t="t" l="l"/>
            <a:pathLst>
              <a:path h="6822241" w="11877840">
                <a:moveTo>
                  <a:pt x="0" y="0"/>
                </a:moveTo>
                <a:lnTo>
                  <a:pt x="11877841" y="0"/>
                </a:lnTo>
                <a:lnTo>
                  <a:pt x="11877841" y="6822241"/>
                </a:lnTo>
                <a:lnTo>
                  <a:pt x="0" y="6822241"/>
                </a:lnTo>
                <a:lnTo>
                  <a:pt x="0" y="0"/>
                </a:lnTo>
                <a:close/>
              </a:path>
            </a:pathLst>
          </a:custGeom>
          <a:blipFill>
            <a:blip r:embed="rId3"/>
            <a:stretch>
              <a:fillRect l="0" t="0" r="0" b="0"/>
            </a:stretch>
          </a:blipFill>
        </p:spPr>
      </p:sp>
      <p:sp>
        <p:nvSpPr>
          <p:cNvPr name="TextBox 15" id="15"/>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2788374" y="1459168"/>
            <a:ext cx="11976418" cy="7984279"/>
          </a:xfrm>
          <a:custGeom>
            <a:avLst/>
            <a:gdLst/>
            <a:ahLst/>
            <a:cxnLst/>
            <a:rect r="r" b="b" t="t" l="l"/>
            <a:pathLst>
              <a:path h="7984279" w="11976418">
                <a:moveTo>
                  <a:pt x="0" y="0"/>
                </a:moveTo>
                <a:lnTo>
                  <a:pt x="11976418" y="0"/>
                </a:lnTo>
                <a:lnTo>
                  <a:pt x="11976418" y="7984279"/>
                </a:lnTo>
                <a:lnTo>
                  <a:pt x="0" y="7984279"/>
                </a:lnTo>
                <a:lnTo>
                  <a:pt x="0" y="0"/>
                </a:lnTo>
                <a:close/>
              </a:path>
            </a:pathLst>
          </a:custGeom>
          <a:blipFill>
            <a:blip r:embed="rId3"/>
            <a:stretch>
              <a:fillRect l="0" t="0" r="0" b="0"/>
            </a:stretch>
          </a:blipFill>
        </p:spPr>
      </p:sp>
      <p:sp>
        <p:nvSpPr>
          <p:cNvPr name="TextBox 15" id="15"/>
          <p:cNvSpPr txBox="true"/>
          <p:nvPr/>
        </p:nvSpPr>
        <p:spPr>
          <a:xfrm rot="0">
            <a:off x="267244" y="266700"/>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Subjective assessment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05023" y="3072190"/>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3182720" y="267207"/>
            <a:ext cx="17655514" cy="837565"/>
          </a:xfrm>
          <a:prstGeom prst="rect">
            <a:avLst/>
          </a:prstGeom>
        </p:spPr>
        <p:txBody>
          <a:bodyPr anchor="t" rtlCol="false" tIns="0" lIns="0" bIns="0" rIns="0">
            <a:spAutoFit/>
          </a:bodyPr>
          <a:lstStyle/>
          <a:p>
            <a:pPr algn="r">
              <a:lnSpc>
                <a:spcPts val="6859"/>
              </a:lnSpc>
            </a:pPr>
            <a:r>
              <a:rPr lang="en-US" sz="4899">
                <a:solidFill>
                  <a:srgbClr val="8F4014"/>
                </a:solidFill>
                <a:latin typeface="TAN Meringue"/>
                <a:ea typeface="TAN Meringue"/>
                <a:cs typeface="TAN Meringue"/>
                <a:sym typeface="TAN Meringue"/>
              </a:rPr>
              <a:t>Important points to remember! </a:t>
            </a:r>
          </a:p>
        </p:txBody>
      </p:sp>
      <p:sp>
        <p:nvSpPr>
          <p:cNvPr name="TextBox 15" id="15"/>
          <p:cNvSpPr txBox="true"/>
          <p:nvPr/>
        </p:nvSpPr>
        <p:spPr>
          <a:xfrm rot="0">
            <a:off x="267244" y="829700"/>
            <a:ext cx="16992056" cy="10115548"/>
          </a:xfrm>
          <a:prstGeom prst="rect">
            <a:avLst/>
          </a:prstGeom>
        </p:spPr>
        <p:txBody>
          <a:bodyPr anchor="t" rtlCol="false" tIns="0" lIns="0" bIns="0" rIns="0">
            <a:spAutoFit/>
          </a:bodyPr>
          <a:lstStyle/>
          <a:p>
            <a:pPr algn="l">
              <a:lnSpc>
                <a:spcPts val="4200"/>
              </a:lnSpc>
            </a:pPr>
          </a:p>
          <a:p>
            <a:pPr algn="l">
              <a:lnSpc>
                <a:spcPts val="4200"/>
              </a:lnSpc>
            </a:pPr>
            <a:r>
              <a:rPr lang="en-US" sz="3000">
                <a:solidFill>
                  <a:srgbClr val="8F4014"/>
                </a:solidFill>
                <a:latin typeface="Montserrat"/>
                <a:ea typeface="Montserrat"/>
                <a:cs typeface="Montserrat"/>
                <a:sym typeface="Montserrat"/>
              </a:rPr>
              <a:t>·Only ass</a:t>
            </a:r>
            <a:r>
              <a:rPr lang="en-US" sz="3000">
                <a:solidFill>
                  <a:srgbClr val="8F4014"/>
                </a:solidFill>
                <a:latin typeface="Montserrat"/>
                <a:ea typeface="Montserrat"/>
                <a:cs typeface="Montserrat"/>
                <a:sym typeface="Montserrat"/>
              </a:rPr>
              <a:t>ess after subjective assessment</a:t>
            </a:r>
          </a:p>
          <a:p>
            <a:pPr algn="l">
              <a:lnSpc>
                <a:spcPts val="4200"/>
              </a:lnSpc>
            </a:pPr>
            <a:r>
              <a:rPr lang="en-US" sz="3000">
                <a:solidFill>
                  <a:srgbClr val="8F4014"/>
                </a:solidFill>
                <a:latin typeface="Montserrat"/>
                <a:ea typeface="Montserrat"/>
                <a:cs typeface="Montserrat"/>
                <a:sym typeface="Montserrat"/>
              </a:rPr>
              <a:t>·Get informed consent </a:t>
            </a:r>
          </a:p>
          <a:p>
            <a:pPr algn="l">
              <a:lnSpc>
                <a:spcPts val="4200"/>
              </a:lnSpc>
            </a:pPr>
            <a:r>
              <a:rPr lang="en-US" sz="3000">
                <a:solidFill>
                  <a:srgbClr val="8F4014"/>
                </a:solidFill>
                <a:latin typeface="Montserrat"/>
                <a:ea typeface="Montserrat"/>
                <a:cs typeface="Montserrat"/>
                <a:sym typeface="Montserrat"/>
              </a:rPr>
              <a:t>·Respect and dignity is paramount</a:t>
            </a:r>
          </a:p>
          <a:p>
            <a:pPr algn="l">
              <a:lnSpc>
                <a:spcPts val="4200"/>
              </a:lnSpc>
            </a:pPr>
            <a:r>
              <a:rPr lang="en-US" sz="3000">
                <a:solidFill>
                  <a:srgbClr val="8F4014"/>
                </a:solidFill>
                <a:latin typeface="Montserrat"/>
                <a:ea typeface="Montserrat"/>
                <a:cs typeface="Montserrat"/>
                <a:sym typeface="Montserrat"/>
              </a:rPr>
              <a:t>·Toileting and cleansing facilities</a:t>
            </a:r>
          </a:p>
          <a:p>
            <a:pPr algn="l">
              <a:lnSpc>
                <a:spcPts val="4200"/>
              </a:lnSpc>
            </a:pPr>
            <a:r>
              <a:rPr lang="en-US" sz="3000">
                <a:solidFill>
                  <a:srgbClr val="8F4014"/>
                </a:solidFill>
                <a:latin typeface="Montserrat"/>
                <a:ea typeface="Montserrat"/>
                <a:cs typeface="Montserrat"/>
                <a:sym typeface="Montserrat"/>
              </a:rPr>
              <a:t>·No undue delay between undressing and assessment </a:t>
            </a:r>
          </a:p>
          <a:p>
            <a:pPr algn="l">
              <a:lnSpc>
                <a:spcPts val="4200"/>
              </a:lnSpc>
            </a:pPr>
            <a:r>
              <a:rPr lang="en-US" sz="3000">
                <a:solidFill>
                  <a:srgbClr val="8F4014"/>
                </a:solidFill>
                <a:latin typeface="Montserrat"/>
                <a:ea typeface="Montserrat"/>
                <a:cs typeface="Montserrat"/>
                <a:sym typeface="Montserrat"/>
              </a:rPr>
              <a:t>·No interruptions</a:t>
            </a:r>
          </a:p>
          <a:p>
            <a:pPr algn="l">
              <a:lnSpc>
                <a:spcPts val="4200"/>
              </a:lnSpc>
            </a:pPr>
            <a:r>
              <a:rPr lang="en-US" sz="3000">
                <a:solidFill>
                  <a:srgbClr val="8F4014"/>
                </a:solidFill>
                <a:latin typeface="Montserrat"/>
                <a:ea typeface="Montserrat"/>
                <a:cs typeface="Montserrat"/>
                <a:sym typeface="Montserrat"/>
              </a:rPr>
              <a:t>·Examiner to keep hair back/no jewellery, sleeves back and nails short</a:t>
            </a:r>
          </a:p>
          <a:p>
            <a:pPr algn="l">
              <a:lnSpc>
                <a:spcPts val="4200"/>
              </a:lnSpc>
            </a:pPr>
          </a:p>
          <a:p>
            <a:pPr algn="l">
              <a:lnSpc>
                <a:spcPts val="4200"/>
              </a:lnSpc>
            </a:pPr>
          </a:p>
          <a:p>
            <a:pPr algn="l">
              <a:lnSpc>
                <a:spcPts val="4200"/>
              </a:lnSpc>
            </a:pPr>
          </a:p>
          <a:p>
            <a:pPr algn="l">
              <a:lnSpc>
                <a:spcPts val="4200"/>
              </a:lnSpc>
            </a:pPr>
            <a:r>
              <a:rPr lang="en-US" sz="3000">
                <a:solidFill>
                  <a:srgbClr val="8F4014"/>
                </a:solidFill>
                <a:latin typeface="Montserrat"/>
                <a:ea typeface="Montserrat"/>
                <a:cs typeface="Montserrat"/>
                <a:sym typeface="Montserrat"/>
              </a:rPr>
              <a:t>Position of patient:</a:t>
            </a:r>
          </a:p>
          <a:p>
            <a:pPr algn="l">
              <a:lnSpc>
                <a:spcPts val="4200"/>
              </a:lnSpc>
            </a:pPr>
            <a:r>
              <a:rPr lang="en-US" sz="3000">
                <a:solidFill>
                  <a:srgbClr val="8F4014"/>
                </a:solidFill>
                <a:latin typeface="Montserrat"/>
                <a:ea typeface="Montserrat"/>
                <a:cs typeface="Montserrat"/>
                <a:sym typeface="Montserrat"/>
              </a:rPr>
              <a:t>Consent: </a:t>
            </a:r>
          </a:p>
          <a:p>
            <a:pPr algn="l">
              <a:lnSpc>
                <a:spcPts val="4200"/>
              </a:lnSpc>
            </a:pPr>
            <a:r>
              <a:rPr lang="en-US" sz="3000">
                <a:solidFill>
                  <a:srgbClr val="8F4014"/>
                </a:solidFill>
                <a:latin typeface="Montserrat"/>
                <a:ea typeface="Montserrat"/>
                <a:cs typeface="Montserrat"/>
                <a:sym typeface="Montserrat"/>
              </a:rPr>
              <a:t>Workspace:</a:t>
            </a:r>
          </a:p>
          <a:p>
            <a:pPr algn="l">
              <a:lnSpc>
                <a:spcPts val="4200"/>
              </a:lnSpc>
            </a:pPr>
            <a:r>
              <a:rPr lang="en-US" sz="3000">
                <a:solidFill>
                  <a:srgbClr val="8F4014"/>
                </a:solidFill>
                <a:latin typeface="Montserrat"/>
                <a:ea typeface="Montserrat"/>
                <a:cs typeface="Montserrat"/>
                <a:sym typeface="Montserrat"/>
              </a:rPr>
              <a:t>Infection control/prevention:</a:t>
            </a:r>
          </a:p>
          <a:p>
            <a:pPr algn="l">
              <a:lnSpc>
                <a:spcPts val="4200"/>
              </a:lnSpc>
            </a:pPr>
            <a:r>
              <a:rPr lang="en-US" sz="3000">
                <a:solidFill>
                  <a:srgbClr val="8F4014"/>
                </a:solidFill>
                <a:latin typeface="Montserrat"/>
                <a:ea typeface="Montserrat"/>
                <a:cs typeface="Montserrat"/>
                <a:sym typeface="Montserrat"/>
              </a:rPr>
              <a:t>Through the examination:</a:t>
            </a:r>
          </a:p>
          <a:p>
            <a:pPr algn="l">
              <a:lnSpc>
                <a:spcPts val="4200"/>
              </a:lnSpc>
            </a:pPr>
          </a:p>
          <a:p>
            <a:pPr algn="l">
              <a:lnSpc>
                <a:spcPts val="4200"/>
              </a:lnSpc>
            </a:pPr>
          </a:p>
          <a:p>
            <a:pPr algn="l">
              <a:lnSpc>
                <a:spcPts val="4200"/>
              </a:lnSpc>
            </a:pPr>
          </a:p>
        </p:txBody>
      </p:sp>
      <p:sp>
        <p:nvSpPr>
          <p:cNvPr name="Freeform 16" id="16"/>
          <p:cNvSpPr/>
          <p:nvPr/>
        </p:nvSpPr>
        <p:spPr>
          <a:xfrm flipH="false" flipV="false" rot="0">
            <a:off x="14472795" y="1684101"/>
            <a:ext cx="3462503" cy="8463896"/>
          </a:xfrm>
          <a:custGeom>
            <a:avLst/>
            <a:gdLst/>
            <a:ahLst/>
            <a:cxnLst/>
            <a:rect r="r" b="b" t="t" l="l"/>
            <a:pathLst>
              <a:path h="8463896" w="3462503">
                <a:moveTo>
                  <a:pt x="0" y="0"/>
                </a:moveTo>
                <a:lnTo>
                  <a:pt x="3462503" y="0"/>
                </a:lnTo>
                <a:lnTo>
                  <a:pt x="3462503" y="8463897"/>
                </a:lnTo>
                <a:lnTo>
                  <a:pt x="0" y="84638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4604011" y="2218154"/>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457611" y="309979"/>
            <a:ext cx="15848054" cy="190817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Objective Assessment - Internal examiantion</a:t>
            </a:r>
          </a:p>
        </p:txBody>
      </p:sp>
      <p:pic>
        <p:nvPicPr>
          <p:cNvPr name="Picture 12" id="12"/>
          <p:cNvPicPr>
            <a:picLocks noChangeAspect="true"/>
          </p:cNvPicPr>
          <p:nvPr>
            <a:videoFile r:link="rId4"/>
          </p:nvPr>
        </p:nvPicPr>
        <p:blipFill>
          <a:blip r:embed="rId3"/>
          <a:stretch>
            <a:fillRect/>
          </a:stretch>
        </p:blipFill>
        <p:spPr>
          <a:xfrm rot="0">
            <a:off x="3653314" y="2594280"/>
            <a:ext cx="10981372" cy="61722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0728001" y="2471971"/>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710887" y="4678351"/>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35443" y="7397074"/>
            <a:ext cx="6017114" cy="1897596"/>
            <a:chOff x="0" y="0"/>
            <a:chExt cx="1288659" cy="406400"/>
          </a:xfrm>
        </p:grpSpPr>
        <p:sp>
          <p:nvSpPr>
            <p:cNvPr name="Freeform 12" id="12"/>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Freeform 14" id="14"/>
          <p:cNvSpPr/>
          <p:nvPr/>
        </p:nvSpPr>
        <p:spPr>
          <a:xfrm flipH="false" flipV="false" rot="0">
            <a:off x="504485" y="2387345"/>
            <a:ext cx="10486345" cy="6870955"/>
          </a:xfrm>
          <a:custGeom>
            <a:avLst/>
            <a:gdLst/>
            <a:ahLst/>
            <a:cxnLst/>
            <a:rect r="r" b="b" t="t" l="l"/>
            <a:pathLst>
              <a:path h="6870955" w="10486345">
                <a:moveTo>
                  <a:pt x="0" y="0"/>
                </a:moveTo>
                <a:lnTo>
                  <a:pt x="10486346" y="0"/>
                </a:lnTo>
                <a:lnTo>
                  <a:pt x="10486346" y="6870955"/>
                </a:lnTo>
                <a:lnTo>
                  <a:pt x="0" y="6870955"/>
                </a:lnTo>
                <a:lnTo>
                  <a:pt x="0" y="0"/>
                </a:lnTo>
                <a:close/>
              </a:path>
            </a:pathLst>
          </a:custGeom>
          <a:blipFill>
            <a:blip r:embed="rId3"/>
            <a:stretch>
              <a:fillRect l="0" t="0" r="0" b="0"/>
            </a:stretch>
          </a:blipFill>
        </p:spPr>
      </p:sp>
      <p:sp>
        <p:nvSpPr>
          <p:cNvPr name="TextBox 15" id="15"/>
          <p:cNvSpPr txBox="true"/>
          <p:nvPr/>
        </p:nvSpPr>
        <p:spPr>
          <a:xfrm rot="0">
            <a:off x="356135" y="353338"/>
            <a:ext cx="8389438" cy="15621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Objective Assessment - Bladder </a:t>
            </a:r>
          </a:p>
        </p:txBody>
      </p:sp>
      <p:sp>
        <p:nvSpPr>
          <p:cNvPr name="TextBox 16" id="16"/>
          <p:cNvSpPr txBox="true"/>
          <p:nvPr/>
        </p:nvSpPr>
        <p:spPr>
          <a:xfrm rot="0">
            <a:off x="12554521" y="3790951"/>
            <a:ext cx="6024545" cy="2647948"/>
          </a:xfrm>
          <a:prstGeom prst="rect">
            <a:avLst/>
          </a:prstGeom>
        </p:spPr>
        <p:txBody>
          <a:bodyPr anchor="t" rtlCol="false" tIns="0" lIns="0" bIns="0" rIns="0">
            <a:spAutoFit/>
          </a:bodyPr>
          <a:lstStyle/>
          <a:p>
            <a:pPr algn="l" marL="647713" indent="-323856" lvl="1">
              <a:lnSpc>
                <a:spcPts val="4200"/>
              </a:lnSpc>
              <a:buFont typeface="Arial"/>
              <a:buChar char="•"/>
            </a:pPr>
            <a:r>
              <a:rPr lang="en-US" sz="3000">
                <a:solidFill>
                  <a:srgbClr val="8F4014"/>
                </a:solidFill>
                <a:latin typeface="TAN Meringue"/>
                <a:ea typeface="TAN Meringue"/>
                <a:cs typeface="TAN Meringue"/>
                <a:sym typeface="TAN Meringue"/>
              </a:rPr>
              <a:t>Bladder US</a:t>
            </a:r>
          </a:p>
          <a:p>
            <a:pPr algn="l" marL="647713" indent="-323856" lvl="1">
              <a:lnSpc>
                <a:spcPts val="4200"/>
              </a:lnSpc>
              <a:buFont typeface="Arial"/>
              <a:buChar char="•"/>
            </a:pPr>
            <a:r>
              <a:rPr lang="en-US" sz="3000">
                <a:solidFill>
                  <a:srgbClr val="8F4014"/>
                </a:solidFill>
                <a:latin typeface="TAN Meringue"/>
                <a:ea typeface="TAN Meringue"/>
                <a:cs typeface="TAN Meringue"/>
                <a:sym typeface="TAN Meringue"/>
              </a:rPr>
              <a:t>Pad Tests</a:t>
            </a:r>
          </a:p>
          <a:p>
            <a:pPr algn="l" marL="647713" indent="-323856" lvl="1">
              <a:lnSpc>
                <a:spcPts val="4200"/>
              </a:lnSpc>
              <a:buFont typeface="Arial"/>
              <a:buChar char="•"/>
            </a:pPr>
            <a:r>
              <a:rPr lang="en-US" sz="3000">
                <a:solidFill>
                  <a:srgbClr val="8F4014"/>
                </a:solidFill>
                <a:latin typeface="TAN Meringue"/>
                <a:ea typeface="TAN Meringue"/>
                <a:cs typeface="TAN Meringue"/>
                <a:sym typeface="TAN Meringue"/>
              </a:rPr>
              <a:t>Urinalysis</a:t>
            </a:r>
          </a:p>
          <a:p>
            <a:pPr algn="l" marL="647713" indent="-323856" lvl="1">
              <a:lnSpc>
                <a:spcPts val="4200"/>
              </a:lnSpc>
              <a:buFont typeface="Arial"/>
              <a:buChar char="•"/>
            </a:pPr>
            <a:r>
              <a:rPr lang="en-US" sz="3000">
                <a:solidFill>
                  <a:srgbClr val="8F4014"/>
                </a:solidFill>
                <a:latin typeface="TAN Meringue"/>
                <a:ea typeface="TAN Meringue"/>
                <a:cs typeface="TAN Meringue"/>
                <a:sym typeface="TAN Meringue"/>
              </a:rPr>
              <a:t>Urodynamics</a:t>
            </a:r>
          </a:p>
          <a:p>
            <a:pPr algn="l" marL="647713" indent="-323856" lvl="1">
              <a:lnSpc>
                <a:spcPts val="4200"/>
              </a:lnSpc>
              <a:buFont typeface="Arial"/>
              <a:buChar char="•"/>
            </a:pPr>
            <a:r>
              <a:rPr lang="en-US" sz="3000">
                <a:solidFill>
                  <a:srgbClr val="8F4014"/>
                </a:solidFill>
                <a:latin typeface="TAN Meringue"/>
                <a:ea typeface="TAN Meringue"/>
                <a:cs typeface="TAN Meringue"/>
                <a:sym typeface="TAN Meringue"/>
              </a:rPr>
              <a:t>Post residual Void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8677352" y="2129221"/>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5707747" y="7544466"/>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6049061" y="1538998"/>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414359" y="353129"/>
            <a:ext cx="14551709"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Objective Assessment DRAM</a:t>
            </a:r>
          </a:p>
        </p:txBody>
      </p:sp>
      <p:pic>
        <p:nvPicPr>
          <p:cNvPr name="Picture 12" id="12"/>
          <p:cNvPicPr>
            <a:picLocks noChangeAspect="true"/>
          </p:cNvPicPr>
          <p:nvPr>
            <a:videoFile r:link="rId4"/>
          </p:nvPr>
        </p:nvPicPr>
        <p:blipFill>
          <a:blip r:embed="rId3"/>
          <a:stretch>
            <a:fillRect/>
          </a:stretch>
        </p:blipFill>
        <p:spPr>
          <a:xfrm rot="0">
            <a:off x="3984695" y="2129221"/>
            <a:ext cx="10981372" cy="61722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710887" y="4678351"/>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35443" y="7397074"/>
            <a:ext cx="6017114" cy="1897596"/>
            <a:chOff x="0" y="0"/>
            <a:chExt cx="1288659" cy="406400"/>
          </a:xfrm>
        </p:grpSpPr>
        <p:sp>
          <p:nvSpPr>
            <p:cNvPr name="Freeform 12" id="12"/>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1028700" y="383777"/>
            <a:ext cx="15911667" cy="7620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Objective Assessment PGP</a:t>
            </a:r>
          </a:p>
        </p:txBody>
      </p:sp>
      <p:pic>
        <p:nvPicPr>
          <p:cNvPr name="Picture 15" id="15"/>
          <p:cNvPicPr>
            <a:picLocks noChangeAspect="true"/>
          </p:cNvPicPr>
          <p:nvPr>
            <a:videoFile r:link="rId4"/>
          </p:nvPr>
        </p:nvPicPr>
        <p:blipFill>
          <a:blip r:embed="rId3"/>
          <a:stretch>
            <a:fillRect/>
          </a:stretch>
        </p:blipFill>
        <p:spPr>
          <a:xfrm rot="0">
            <a:off x="1670271" y="1698865"/>
            <a:ext cx="6336720" cy="3561623"/>
          </a:xfrm>
          <a:prstGeom prst="rect">
            <a:avLst/>
          </a:prstGeom>
        </p:spPr>
      </p:pic>
      <p:pic>
        <p:nvPicPr>
          <p:cNvPr name="Picture 16" id="16"/>
          <p:cNvPicPr>
            <a:picLocks noChangeAspect="true"/>
          </p:cNvPicPr>
          <p:nvPr>
            <a:videoFile r:link="rId5"/>
          </p:nvPr>
        </p:nvPicPr>
        <p:blipFill>
          <a:blip r:embed="rId3"/>
          <a:stretch>
            <a:fillRect/>
          </a:stretch>
        </p:blipFill>
        <p:spPr>
          <a:xfrm rot="0">
            <a:off x="9904728" y="1698865"/>
            <a:ext cx="6336720" cy="3561623"/>
          </a:xfrm>
          <a:prstGeom prst="rect">
            <a:avLst/>
          </a:prstGeom>
        </p:spPr>
      </p:pic>
      <p:pic>
        <p:nvPicPr>
          <p:cNvPr name="Picture 17" id="17"/>
          <p:cNvPicPr>
            <a:picLocks noChangeAspect="true"/>
          </p:cNvPicPr>
          <p:nvPr>
            <a:videoFile r:link="rId6"/>
          </p:nvPr>
        </p:nvPicPr>
        <p:blipFill>
          <a:blip r:embed="rId3"/>
          <a:stretch>
            <a:fillRect/>
          </a:stretch>
        </p:blipFill>
        <p:spPr>
          <a:xfrm rot="0">
            <a:off x="1670271" y="5833340"/>
            <a:ext cx="6336720" cy="3561623"/>
          </a:xfrm>
          <a:prstGeom prst="rect">
            <a:avLst/>
          </a:prstGeom>
        </p:spPr>
      </p:pic>
      <p:sp>
        <p:nvSpPr>
          <p:cNvPr name="TextBox 18" id="18"/>
          <p:cNvSpPr txBox="true"/>
          <p:nvPr/>
        </p:nvSpPr>
        <p:spPr>
          <a:xfrm rot="0">
            <a:off x="5117255" y="6577924"/>
            <a:ext cx="15911667" cy="15621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Pubic Symphysis </a:t>
            </a:r>
          </a:p>
          <a:p>
            <a:pPr algn="ctr">
              <a:lnSpc>
                <a:spcPts val="6299"/>
              </a:lnSpc>
            </a:pPr>
            <a:r>
              <a:rPr lang="en-US" sz="4500">
                <a:solidFill>
                  <a:srgbClr val="8F4014"/>
                </a:solidFill>
                <a:latin typeface="TAN Meringue"/>
                <a:ea typeface="TAN Meringue"/>
                <a:cs typeface="TAN Meringue"/>
                <a:sym typeface="TAN Meringue"/>
              </a:rPr>
              <a:t>Palpation</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6105023" y="3064515"/>
            <a:ext cx="5897855" cy="5114569"/>
            <a:chOff x="0" y="0"/>
            <a:chExt cx="812800" cy="704850"/>
          </a:xfrm>
        </p:grpSpPr>
        <p:sp>
          <p:nvSpPr>
            <p:cNvPr name="Freeform 3" id="3"/>
            <p:cNvSpPr/>
            <p:nvPr/>
          </p:nvSpPr>
          <p:spPr>
            <a:xfrm flipH="false" flipV="false" rot="0">
              <a:off x="7037" y="0"/>
              <a:ext cx="798725" cy="703580"/>
            </a:xfrm>
            <a:custGeom>
              <a:avLst/>
              <a:gdLst/>
              <a:ahLst/>
              <a:cxnLst/>
              <a:rect r="r" b="b" t="t" l="l"/>
              <a:pathLst>
                <a:path h="703580" w="798725">
                  <a:moveTo>
                    <a:pt x="615694" y="22733"/>
                  </a:moveTo>
                  <a:lnTo>
                    <a:pt x="792632" y="329057"/>
                  </a:lnTo>
                  <a:cubicBezTo>
                    <a:pt x="800757" y="343123"/>
                    <a:pt x="800757" y="360457"/>
                    <a:pt x="792632" y="374523"/>
                  </a:cubicBezTo>
                  <a:lnTo>
                    <a:pt x="615694" y="680847"/>
                  </a:lnTo>
                  <a:cubicBezTo>
                    <a:pt x="607568" y="694915"/>
                    <a:pt x="592556" y="703580"/>
                    <a:pt x="576310" y="703580"/>
                  </a:cubicBezTo>
                  <a:lnTo>
                    <a:pt x="222416" y="703580"/>
                  </a:lnTo>
                  <a:cubicBezTo>
                    <a:pt x="206170" y="703580"/>
                    <a:pt x="191158" y="694915"/>
                    <a:pt x="183032" y="680847"/>
                  </a:cubicBezTo>
                  <a:lnTo>
                    <a:pt x="6094" y="374523"/>
                  </a:lnTo>
                  <a:cubicBezTo>
                    <a:pt x="-2031" y="360457"/>
                    <a:pt x="-2031" y="343123"/>
                    <a:pt x="6094" y="329057"/>
                  </a:cubicBezTo>
                  <a:lnTo>
                    <a:pt x="183032" y="22733"/>
                  </a:lnTo>
                  <a:cubicBezTo>
                    <a:pt x="191158" y="8665"/>
                    <a:pt x="206170" y="0"/>
                    <a:pt x="222416" y="0"/>
                  </a:cubicBezTo>
                  <a:lnTo>
                    <a:pt x="576310" y="0"/>
                  </a:lnTo>
                  <a:cubicBezTo>
                    <a:pt x="592556" y="0"/>
                    <a:pt x="607568" y="8665"/>
                    <a:pt x="615694" y="22733"/>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1622717" y="5053834"/>
            <a:ext cx="8822181" cy="7650520"/>
            <a:chOff x="0" y="0"/>
            <a:chExt cx="812800" cy="704850"/>
          </a:xfrm>
        </p:grpSpPr>
        <p:sp>
          <p:nvSpPr>
            <p:cNvPr name="Freeform 6" id="6"/>
            <p:cNvSpPr/>
            <p:nvPr/>
          </p:nvSpPr>
          <p:spPr>
            <a:xfrm flipH="false" flipV="false" rot="0">
              <a:off x="4705" y="0"/>
              <a:ext cx="803391" cy="703580"/>
            </a:xfrm>
            <a:custGeom>
              <a:avLst/>
              <a:gdLst/>
              <a:ahLst/>
              <a:cxnLst/>
              <a:rect r="r" b="b" t="t" l="l"/>
              <a:pathLst>
                <a:path h="703580" w="803391">
                  <a:moveTo>
                    <a:pt x="613674" y="15198"/>
                  </a:moveTo>
                  <a:lnTo>
                    <a:pt x="799316" y="336592"/>
                  </a:lnTo>
                  <a:cubicBezTo>
                    <a:pt x="804748" y="345996"/>
                    <a:pt x="804748" y="357584"/>
                    <a:pt x="799316" y="366988"/>
                  </a:cubicBezTo>
                  <a:lnTo>
                    <a:pt x="613674" y="688382"/>
                  </a:lnTo>
                  <a:cubicBezTo>
                    <a:pt x="608241" y="697787"/>
                    <a:pt x="598205" y="703580"/>
                    <a:pt x="587344" y="703580"/>
                  </a:cubicBezTo>
                  <a:lnTo>
                    <a:pt x="216046" y="703580"/>
                  </a:lnTo>
                  <a:cubicBezTo>
                    <a:pt x="205185" y="703580"/>
                    <a:pt x="195149" y="697787"/>
                    <a:pt x="189716" y="688382"/>
                  </a:cubicBezTo>
                  <a:lnTo>
                    <a:pt x="4074" y="366988"/>
                  </a:lnTo>
                  <a:cubicBezTo>
                    <a:pt x="-1358" y="357584"/>
                    <a:pt x="-1358" y="345996"/>
                    <a:pt x="4074" y="336592"/>
                  </a:cubicBezTo>
                  <a:lnTo>
                    <a:pt x="189716" y="15198"/>
                  </a:lnTo>
                  <a:cubicBezTo>
                    <a:pt x="195149" y="5793"/>
                    <a:pt x="205185" y="0"/>
                    <a:pt x="216046" y="0"/>
                  </a:cubicBezTo>
                  <a:lnTo>
                    <a:pt x="587344" y="0"/>
                  </a:lnTo>
                  <a:cubicBezTo>
                    <a:pt x="598205" y="0"/>
                    <a:pt x="608241" y="5793"/>
                    <a:pt x="613674" y="15198"/>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6105023" y="7941644"/>
            <a:ext cx="3463600" cy="3003604"/>
            <a:chOff x="0" y="0"/>
            <a:chExt cx="812800" cy="704850"/>
          </a:xfrm>
        </p:grpSpPr>
        <p:sp>
          <p:nvSpPr>
            <p:cNvPr name="Freeform 12" id="12"/>
            <p:cNvSpPr/>
            <p:nvPr/>
          </p:nvSpPr>
          <p:spPr>
            <a:xfrm flipH="false" flipV="false" rot="0">
              <a:off x="11983" y="0"/>
              <a:ext cx="788833" cy="703580"/>
            </a:xfrm>
            <a:custGeom>
              <a:avLst/>
              <a:gdLst/>
              <a:ahLst/>
              <a:cxnLst/>
              <a:rect r="r" b="b" t="t" l="l"/>
              <a:pathLst>
                <a:path h="703580" w="788833">
                  <a:moveTo>
                    <a:pt x="619977" y="38711"/>
                  </a:moveTo>
                  <a:lnTo>
                    <a:pt x="778457" y="313079"/>
                  </a:lnTo>
                  <a:cubicBezTo>
                    <a:pt x="792293" y="337032"/>
                    <a:pt x="792293" y="366548"/>
                    <a:pt x="778457" y="390501"/>
                  </a:cubicBezTo>
                  <a:lnTo>
                    <a:pt x="619977" y="664869"/>
                  </a:lnTo>
                  <a:cubicBezTo>
                    <a:pt x="606140" y="688824"/>
                    <a:pt x="580577" y="703580"/>
                    <a:pt x="552913" y="703580"/>
                  </a:cubicBezTo>
                  <a:lnTo>
                    <a:pt x="235921" y="703580"/>
                  </a:lnTo>
                  <a:cubicBezTo>
                    <a:pt x="208257" y="703580"/>
                    <a:pt x="182694" y="688824"/>
                    <a:pt x="168857" y="664869"/>
                  </a:cubicBezTo>
                  <a:lnTo>
                    <a:pt x="10377" y="390501"/>
                  </a:lnTo>
                  <a:cubicBezTo>
                    <a:pt x="-3459" y="366548"/>
                    <a:pt x="-3459" y="337032"/>
                    <a:pt x="10377" y="313079"/>
                  </a:cubicBezTo>
                  <a:lnTo>
                    <a:pt x="168857" y="38711"/>
                  </a:lnTo>
                  <a:cubicBezTo>
                    <a:pt x="182694" y="14756"/>
                    <a:pt x="208257" y="0"/>
                    <a:pt x="235921" y="0"/>
                  </a:cubicBezTo>
                  <a:lnTo>
                    <a:pt x="552913" y="0"/>
                  </a:lnTo>
                  <a:cubicBezTo>
                    <a:pt x="580577" y="0"/>
                    <a:pt x="606140" y="14756"/>
                    <a:pt x="619977" y="38711"/>
                  </a:cubicBezTo>
                  <a:close/>
                </a:path>
              </a:pathLst>
            </a:custGeom>
            <a:gradFill rotWithShape="true">
              <a:gsLst>
                <a:gs pos="0">
                  <a:srgbClr val="F7E9D3">
                    <a:alpha val="100000"/>
                  </a:srgbClr>
                </a:gs>
                <a:gs pos="100000">
                  <a:srgbClr val="FFFFFF">
                    <a:alpha val="100000"/>
                  </a:srgbClr>
                </a:gs>
              </a:gsLst>
              <a:lin ang="5400000"/>
            </a:gradFill>
          </p:spPr>
        </p:sp>
        <p:sp>
          <p:nvSpPr>
            <p:cNvPr name="TextBox 13" id="13"/>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7763441" y="4182391"/>
            <a:ext cx="20469930" cy="1439408"/>
          </a:xfrm>
          <a:prstGeom prst="rect">
            <a:avLst/>
          </a:prstGeom>
        </p:spPr>
        <p:txBody>
          <a:bodyPr anchor="t" rtlCol="false" tIns="0" lIns="0" bIns="0" rIns="0">
            <a:spAutoFit/>
          </a:bodyPr>
          <a:lstStyle/>
          <a:p>
            <a:pPr algn="r">
              <a:lnSpc>
                <a:spcPts val="11805"/>
              </a:lnSpc>
            </a:pPr>
            <a:r>
              <a:rPr lang="en-US" sz="8432">
                <a:solidFill>
                  <a:srgbClr val="8F4014"/>
                </a:solidFill>
                <a:latin typeface="TAN Meringue"/>
                <a:ea typeface="TAN Meringue"/>
                <a:cs typeface="TAN Meringue"/>
                <a:sym typeface="TAN Meringue"/>
              </a:rPr>
              <a:t>PRACTICAL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1479805" y="2642109"/>
            <a:ext cx="8905854" cy="7723080"/>
            <a:chOff x="0" y="0"/>
            <a:chExt cx="812800" cy="704850"/>
          </a:xfrm>
        </p:grpSpPr>
        <p:sp>
          <p:nvSpPr>
            <p:cNvPr name="Freeform 3" id="3"/>
            <p:cNvSpPr/>
            <p:nvPr/>
          </p:nvSpPr>
          <p:spPr>
            <a:xfrm flipH="false" flipV="false" rot="0">
              <a:off x="4660" y="0"/>
              <a:ext cx="803479" cy="703580"/>
            </a:xfrm>
            <a:custGeom>
              <a:avLst/>
              <a:gdLst/>
              <a:ahLst/>
              <a:cxnLst/>
              <a:rect r="r" b="b" t="t" l="l"/>
              <a:pathLst>
                <a:path h="703580" w="803479">
                  <a:moveTo>
                    <a:pt x="613636" y="15055"/>
                  </a:moveTo>
                  <a:lnTo>
                    <a:pt x="799444" y="336735"/>
                  </a:lnTo>
                  <a:cubicBezTo>
                    <a:pt x="804825" y="346050"/>
                    <a:pt x="804825" y="357530"/>
                    <a:pt x="799444" y="366845"/>
                  </a:cubicBezTo>
                  <a:lnTo>
                    <a:pt x="613636" y="688525"/>
                  </a:lnTo>
                  <a:cubicBezTo>
                    <a:pt x="608255" y="697841"/>
                    <a:pt x="598313" y="703580"/>
                    <a:pt x="587554" y="703580"/>
                  </a:cubicBezTo>
                  <a:lnTo>
                    <a:pt x="215926" y="703580"/>
                  </a:lnTo>
                  <a:cubicBezTo>
                    <a:pt x="205167" y="703580"/>
                    <a:pt x="195225" y="697841"/>
                    <a:pt x="189844" y="688525"/>
                  </a:cubicBezTo>
                  <a:lnTo>
                    <a:pt x="4036" y="366845"/>
                  </a:lnTo>
                  <a:cubicBezTo>
                    <a:pt x="-1345" y="357530"/>
                    <a:pt x="-1345" y="346050"/>
                    <a:pt x="4036" y="336735"/>
                  </a:cubicBezTo>
                  <a:lnTo>
                    <a:pt x="189844" y="15055"/>
                  </a:lnTo>
                  <a:cubicBezTo>
                    <a:pt x="195225" y="5739"/>
                    <a:pt x="205167" y="0"/>
                    <a:pt x="215926" y="0"/>
                  </a:cubicBezTo>
                  <a:lnTo>
                    <a:pt x="587554" y="0"/>
                  </a:lnTo>
                  <a:cubicBezTo>
                    <a:pt x="598313" y="0"/>
                    <a:pt x="608255" y="5739"/>
                    <a:pt x="613636" y="15055"/>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958029" y="8522872"/>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6796268" y="-1010221"/>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662327" y="686105"/>
            <a:ext cx="15559017" cy="936625"/>
          </a:xfrm>
          <a:prstGeom prst="rect">
            <a:avLst/>
          </a:prstGeom>
        </p:spPr>
        <p:txBody>
          <a:bodyPr anchor="t" rtlCol="false" tIns="0" lIns="0" bIns="0" rIns="0">
            <a:spAutoFit/>
          </a:bodyPr>
          <a:lstStyle/>
          <a:p>
            <a:pPr algn="l">
              <a:lnSpc>
                <a:spcPts val="7699"/>
              </a:lnSpc>
            </a:pPr>
            <a:r>
              <a:rPr lang="en-US" sz="5499">
                <a:solidFill>
                  <a:srgbClr val="8F4014"/>
                </a:solidFill>
                <a:latin typeface="TAN Meringue"/>
                <a:ea typeface="TAN Meringue"/>
                <a:cs typeface="TAN Meringue"/>
                <a:sym typeface="TAN Meringue"/>
              </a:rPr>
              <a:t>Treatment - Pelvic floor dysfunction</a:t>
            </a:r>
          </a:p>
        </p:txBody>
      </p:sp>
      <p:sp>
        <p:nvSpPr>
          <p:cNvPr name="TextBox 12" id="12"/>
          <p:cNvSpPr txBox="true"/>
          <p:nvPr/>
        </p:nvSpPr>
        <p:spPr>
          <a:xfrm rot="0">
            <a:off x="267244" y="1565580"/>
            <a:ext cx="16992056" cy="8515348"/>
          </a:xfrm>
          <a:prstGeom prst="rect">
            <a:avLst/>
          </a:prstGeom>
        </p:spPr>
        <p:txBody>
          <a:bodyPr anchor="t" rtlCol="false" tIns="0" lIns="0" bIns="0" rIns="0">
            <a:spAutoFit/>
          </a:bodyPr>
          <a:lstStyle/>
          <a:p>
            <a:pPr algn="l">
              <a:lnSpc>
                <a:spcPts val="4200"/>
              </a:lnSpc>
            </a:pPr>
          </a:p>
          <a:p>
            <a:pPr algn="l">
              <a:lnSpc>
                <a:spcPts val="4200"/>
              </a:lnSpc>
            </a:pPr>
            <a:r>
              <a:rPr lang="en-US" sz="3000">
                <a:solidFill>
                  <a:srgbClr val="8F4014"/>
                </a:solidFill>
                <a:latin typeface="Montserrat"/>
                <a:ea typeface="Montserrat"/>
                <a:cs typeface="Montserrat"/>
                <a:sym typeface="Montserrat"/>
              </a:rPr>
              <a:t>·Teaching of Pelvic Floor engagement </a:t>
            </a:r>
          </a:p>
          <a:p>
            <a:pPr algn="l">
              <a:lnSpc>
                <a:spcPts val="4200"/>
              </a:lnSpc>
            </a:pPr>
          </a:p>
          <a:p>
            <a:pPr algn="l">
              <a:lnSpc>
                <a:spcPts val="4200"/>
              </a:lnSpc>
            </a:pPr>
          </a:p>
          <a:p>
            <a:pPr algn="l">
              <a:lnSpc>
                <a:spcPts val="4200"/>
              </a:lnSpc>
            </a:pPr>
          </a:p>
          <a:p>
            <a:pPr algn="l">
              <a:lnSpc>
                <a:spcPts val="4200"/>
              </a:lnSpc>
            </a:pPr>
            <a:r>
              <a:rPr lang="en-US" sz="3000">
                <a:solidFill>
                  <a:srgbClr val="8F4014"/>
                </a:solidFill>
                <a:latin typeface="Montserrat"/>
                <a:ea typeface="Montserrat"/>
                <a:cs typeface="Montserrat"/>
                <a:sym typeface="Montserrat"/>
              </a:rPr>
              <a:t>Breathwork for the pelvic floor </a:t>
            </a:r>
          </a:p>
          <a:p>
            <a:pPr algn="l">
              <a:lnSpc>
                <a:spcPts val="4200"/>
              </a:lnSpc>
            </a:pPr>
          </a:p>
          <a:p>
            <a:pPr algn="l">
              <a:lnSpc>
                <a:spcPts val="4200"/>
              </a:lnSpc>
            </a:pPr>
          </a:p>
          <a:p>
            <a:pPr algn="l">
              <a:lnSpc>
                <a:spcPts val="4200"/>
              </a:lnSpc>
            </a:pPr>
          </a:p>
          <a:p>
            <a:pPr algn="l">
              <a:lnSpc>
                <a:spcPts val="4200"/>
              </a:lnSpc>
            </a:pPr>
          </a:p>
          <a:p>
            <a:pPr algn="l">
              <a:lnSpc>
                <a:spcPts val="4200"/>
              </a:lnSpc>
            </a:pPr>
          </a:p>
          <a:p>
            <a:pPr algn="l">
              <a:lnSpc>
                <a:spcPts val="4200"/>
              </a:lnSpc>
            </a:pPr>
          </a:p>
          <a:p>
            <a:pPr algn="l">
              <a:lnSpc>
                <a:spcPts val="4200"/>
              </a:lnSpc>
            </a:pPr>
            <a:r>
              <a:rPr lang="en-US" sz="3000">
                <a:solidFill>
                  <a:srgbClr val="8F4014"/>
                </a:solidFill>
                <a:latin typeface="Montserrat"/>
                <a:ea typeface="Montserrat"/>
                <a:cs typeface="Montserrat"/>
                <a:sym typeface="Montserrat"/>
              </a:rPr>
              <a:t>Lifting with pelvic floor engagement </a:t>
            </a:r>
          </a:p>
          <a:p>
            <a:pPr algn="l">
              <a:lnSpc>
                <a:spcPts val="4200"/>
              </a:lnSpc>
            </a:pPr>
          </a:p>
          <a:p>
            <a:pPr algn="l">
              <a:lnSpc>
                <a:spcPts val="4200"/>
              </a:lnSpc>
            </a:pPr>
          </a:p>
          <a:p>
            <a:pPr algn="l">
              <a:lnSpc>
                <a:spcPts val="4200"/>
              </a:lnSpc>
            </a:pPr>
          </a:p>
        </p:txBody>
      </p:sp>
      <p:pic>
        <p:nvPicPr>
          <p:cNvPr name="Picture 13" id="13"/>
          <p:cNvPicPr>
            <a:picLocks noChangeAspect="true"/>
          </p:cNvPicPr>
          <p:nvPr>
            <a:videoFile r:link="rId4"/>
          </p:nvPr>
        </p:nvPicPr>
        <p:blipFill>
          <a:blip r:embed="rId3"/>
          <a:stretch>
            <a:fillRect/>
          </a:stretch>
        </p:blipFill>
        <p:spPr>
          <a:xfrm rot="0">
            <a:off x="8520001" y="3298662"/>
            <a:ext cx="7412731" cy="4166406"/>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8677352" y="2129221"/>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10800000">
            <a:off x="5648025" y="7559397"/>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6049061" y="1538998"/>
            <a:ext cx="8313048" cy="7209004"/>
            <a:chOff x="0" y="0"/>
            <a:chExt cx="812800" cy="704850"/>
          </a:xfrm>
        </p:grpSpPr>
        <p:sp>
          <p:nvSpPr>
            <p:cNvPr name="Freeform 9" id="9"/>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0" id="10"/>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14416184" y="2157530"/>
            <a:ext cx="3871816" cy="11429714"/>
          </a:xfrm>
          <a:custGeom>
            <a:avLst/>
            <a:gdLst/>
            <a:ahLst/>
            <a:cxnLst/>
            <a:rect r="r" b="b" t="t" l="l"/>
            <a:pathLst>
              <a:path h="11429714" w="3871816">
                <a:moveTo>
                  <a:pt x="0" y="0"/>
                </a:moveTo>
                <a:lnTo>
                  <a:pt x="3871816" y="0"/>
                </a:lnTo>
                <a:lnTo>
                  <a:pt x="3871816" y="11429714"/>
                </a:lnTo>
                <a:lnTo>
                  <a:pt x="0" y="11429714"/>
                </a:lnTo>
                <a:lnTo>
                  <a:pt x="0" y="0"/>
                </a:lnTo>
                <a:close/>
              </a:path>
            </a:pathLst>
          </a:custGeom>
          <a:blipFill>
            <a:blip r:embed="rId3"/>
            <a:stretch>
              <a:fillRect l="0" t="0" r="0" b="0"/>
            </a:stretch>
          </a:blipFill>
        </p:spPr>
      </p:sp>
      <p:sp>
        <p:nvSpPr>
          <p:cNvPr name="Freeform 12" id="12"/>
          <p:cNvSpPr/>
          <p:nvPr/>
        </p:nvSpPr>
        <p:spPr>
          <a:xfrm flipH="false" flipV="false" rot="0">
            <a:off x="2263988" y="1538998"/>
            <a:ext cx="10872096" cy="4423371"/>
          </a:xfrm>
          <a:custGeom>
            <a:avLst/>
            <a:gdLst/>
            <a:ahLst/>
            <a:cxnLst/>
            <a:rect r="r" b="b" t="t" l="l"/>
            <a:pathLst>
              <a:path h="4423371" w="10872096">
                <a:moveTo>
                  <a:pt x="0" y="0"/>
                </a:moveTo>
                <a:lnTo>
                  <a:pt x="10872096" y="0"/>
                </a:lnTo>
                <a:lnTo>
                  <a:pt x="10872096" y="4423372"/>
                </a:lnTo>
                <a:lnTo>
                  <a:pt x="0" y="4423372"/>
                </a:lnTo>
                <a:lnTo>
                  <a:pt x="0" y="0"/>
                </a:lnTo>
                <a:close/>
              </a:path>
            </a:pathLst>
          </a:custGeom>
          <a:blipFill>
            <a:blip r:embed="rId4"/>
            <a:stretch>
              <a:fillRect l="0" t="0" r="0" b="0"/>
            </a:stretch>
          </a:blipFill>
        </p:spPr>
      </p:sp>
      <p:sp>
        <p:nvSpPr>
          <p:cNvPr name="TextBox 13" id="13"/>
          <p:cNvSpPr txBox="true"/>
          <p:nvPr/>
        </p:nvSpPr>
        <p:spPr>
          <a:xfrm rot="0">
            <a:off x="389443" y="595430"/>
            <a:ext cx="17397995" cy="762000"/>
          </a:xfrm>
          <a:prstGeom prst="rect">
            <a:avLst/>
          </a:prstGeom>
        </p:spPr>
        <p:txBody>
          <a:bodyPr anchor="t" rtlCol="false" tIns="0" lIns="0" bIns="0" rIns="0">
            <a:spAutoFit/>
          </a:bodyPr>
          <a:lstStyle/>
          <a:p>
            <a:pPr algn="l">
              <a:lnSpc>
                <a:spcPts val="6299"/>
              </a:lnSpc>
            </a:pPr>
            <a:r>
              <a:rPr lang="en-US" sz="4500">
                <a:solidFill>
                  <a:srgbClr val="8F4014"/>
                </a:solidFill>
                <a:latin typeface="TAN Meringue"/>
                <a:ea typeface="TAN Meringue"/>
                <a:cs typeface="TAN Meringue"/>
                <a:sym typeface="TAN Meringue"/>
              </a:rPr>
              <a:t>Treatment - Diastasis/PGP/MSK</a:t>
            </a:r>
          </a:p>
        </p:txBody>
      </p:sp>
      <p:sp>
        <p:nvSpPr>
          <p:cNvPr name="TextBox 14" id="14"/>
          <p:cNvSpPr txBox="true"/>
          <p:nvPr/>
        </p:nvSpPr>
        <p:spPr>
          <a:xfrm rot="0">
            <a:off x="5465046" y="6610352"/>
            <a:ext cx="16992056" cy="2647948"/>
          </a:xfrm>
          <a:prstGeom prst="rect">
            <a:avLst/>
          </a:prstGeom>
        </p:spPr>
        <p:txBody>
          <a:bodyPr anchor="t" rtlCol="false" tIns="0" lIns="0" bIns="0" rIns="0">
            <a:spAutoFit/>
          </a:bodyPr>
          <a:lstStyle/>
          <a:p>
            <a:pPr algn="l">
              <a:lnSpc>
                <a:spcPts val="4200"/>
              </a:lnSpc>
            </a:pPr>
            <a:r>
              <a:rPr lang="en-US" sz="3000">
                <a:solidFill>
                  <a:srgbClr val="8F4014"/>
                </a:solidFill>
                <a:latin typeface="TAN Meringue"/>
                <a:ea typeface="TAN Meringue"/>
                <a:cs typeface="TAN Meringue"/>
                <a:sym typeface="TAN Meringue"/>
              </a:rPr>
              <a:t>Education</a:t>
            </a:r>
          </a:p>
          <a:p>
            <a:pPr algn="l">
              <a:lnSpc>
                <a:spcPts val="4200"/>
              </a:lnSpc>
            </a:pPr>
            <a:r>
              <a:rPr lang="en-US" sz="3000">
                <a:solidFill>
                  <a:srgbClr val="8F4014"/>
                </a:solidFill>
                <a:latin typeface="TAN Meringue"/>
                <a:ea typeface="TAN Meringue"/>
                <a:cs typeface="TAN Meringue"/>
                <a:sym typeface="TAN Meringue"/>
              </a:rPr>
              <a:t>Activity Modification </a:t>
            </a:r>
          </a:p>
          <a:p>
            <a:pPr algn="l">
              <a:lnSpc>
                <a:spcPts val="4200"/>
              </a:lnSpc>
            </a:pPr>
          </a:p>
          <a:p>
            <a:pPr algn="l">
              <a:lnSpc>
                <a:spcPts val="4200"/>
              </a:lnSpc>
            </a:pPr>
            <a:r>
              <a:rPr lang="en-US" sz="3000">
                <a:solidFill>
                  <a:srgbClr val="8F4014"/>
                </a:solidFill>
                <a:latin typeface="TAN Meringue"/>
                <a:ea typeface="TAN Meringue"/>
                <a:cs typeface="TAN Meringue"/>
                <a:sym typeface="TAN Meringue"/>
              </a:rPr>
              <a:t>EXERCISE!</a:t>
            </a:r>
          </a:p>
          <a:p>
            <a:pPr algn="l">
              <a:lnSpc>
                <a:spcPts val="420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419700" y="1538998"/>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grpSp>
        <p:nvGrpSpPr>
          <p:cNvPr name="Group 11" id="11"/>
          <p:cNvGrpSpPr/>
          <p:nvPr/>
        </p:nvGrpSpPr>
        <p:grpSpPr>
          <a:xfrm rot="0">
            <a:off x="1028700" y="4711192"/>
            <a:ext cx="6017114" cy="5193740"/>
            <a:chOff x="0" y="0"/>
            <a:chExt cx="1288659" cy="1112321"/>
          </a:xfrm>
        </p:grpSpPr>
        <p:sp>
          <p:nvSpPr>
            <p:cNvPr name="Freeform 12" id="12"/>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3" id="13"/>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sp>
        <p:nvSpPr>
          <p:cNvPr name="TextBox 14" id="14"/>
          <p:cNvSpPr txBox="true"/>
          <p:nvPr/>
        </p:nvSpPr>
        <p:spPr>
          <a:xfrm rot="0">
            <a:off x="51341" y="458804"/>
            <a:ext cx="18236659" cy="762000"/>
          </a:xfrm>
          <a:prstGeom prst="rect">
            <a:avLst/>
          </a:prstGeom>
        </p:spPr>
        <p:txBody>
          <a:bodyPr anchor="t" rtlCol="false" tIns="0" lIns="0" bIns="0" rIns="0">
            <a:spAutoFit/>
          </a:bodyPr>
          <a:lstStyle/>
          <a:p>
            <a:pPr algn="ctr">
              <a:lnSpc>
                <a:spcPts val="6299"/>
              </a:lnSpc>
            </a:pPr>
            <a:r>
              <a:rPr lang="en-US" sz="4500">
                <a:solidFill>
                  <a:srgbClr val="8F4014"/>
                </a:solidFill>
                <a:latin typeface="TAN Meringue"/>
                <a:ea typeface="TAN Meringue"/>
                <a:cs typeface="TAN Meringue"/>
                <a:sym typeface="TAN Meringue"/>
              </a:rPr>
              <a:t>Treatment POP</a:t>
            </a:r>
          </a:p>
        </p:txBody>
      </p:sp>
      <p:grpSp>
        <p:nvGrpSpPr>
          <p:cNvPr name="Group 15" id="15"/>
          <p:cNvGrpSpPr/>
          <p:nvPr/>
        </p:nvGrpSpPr>
        <p:grpSpPr>
          <a:xfrm rot="0">
            <a:off x="6135443" y="4680392"/>
            <a:ext cx="6017114" cy="5193740"/>
            <a:chOff x="0" y="0"/>
            <a:chExt cx="1288659" cy="1112321"/>
          </a:xfrm>
        </p:grpSpPr>
        <p:sp>
          <p:nvSpPr>
            <p:cNvPr name="Freeform 16" id="16"/>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7" id="17"/>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1242186" y="4680392"/>
            <a:ext cx="6017114" cy="5193740"/>
            <a:chOff x="0" y="0"/>
            <a:chExt cx="1288659" cy="1112321"/>
          </a:xfrm>
        </p:grpSpPr>
        <p:sp>
          <p:nvSpPr>
            <p:cNvPr name="Freeform 19" id="19"/>
            <p:cNvSpPr/>
            <p:nvPr/>
          </p:nvSpPr>
          <p:spPr>
            <a:xfrm flipH="false" flipV="false" rot="0">
              <a:off x="0" y="0"/>
              <a:ext cx="1288659" cy="1112321"/>
            </a:xfrm>
            <a:custGeom>
              <a:avLst/>
              <a:gdLst/>
              <a:ahLst/>
              <a:cxnLst/>
              <a:rect r="r" b="b" t="t" l="l"/>
              <a:pathLst>
                <a:path h="1112321" w="1288659">
                  <a:moveTo>
                    <a:pt x="1085459" y="0"/>
                  </a:moveTo>
                  <a:cubicBezTo>
                    <a:pt x="1197684" y="0"/>
                    <a:pt x="1288659" y="249002"/>
                    <a:pt x="1288659" y="556160"/>
                  </a:cubicBezTo>
                  <a:cubicBezTo>
                    <a:pt x="1288659" y="863319"/>
                    <a:pt x="1197684" y="1112321"/>
                    <a:pt x="1085459" y="1112321"/>
                  </a:cubicBezTo>
                  <a:lnTo>
                    <a:pt x="203200" y="1112321"/>
                  </a:lnTo>
                  <a:cubicBezTo>
                    <a:pt x="90976" y="1112321"/>
                    <a:pt x="0" y="863319"/>
                    <a:pt x="0" y="556160"/>
                  </a:cubicBezTo>
                  <a:cubicBezTo>
                    <a:pt x="0" y="249002"/>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20" id="20"/>
            <p:cNvSpPr txBox="true"/>
            <p:nvPr/>
          </p:nvSpPr>
          <p:spPr>
            <a:xfrm>
              <a:off x="0" y="-66675"/>
              <a:ext cx="1288659" cy="1178996"/>
            </a:xfrm>
            <a:prstGeom prst="rect">
              <a:avLst/>
            </a:prstGeom>
          </p:spPr>
          <p:txBody>
            <a:bodyPr anchor="ctr" rtlCol="false" tIns="50800" lIns="50800" bIns="50800" rIns="50800"/>
            <a:lstStyle/>
            <a:p>
              <a:pPr algn="ctr">
                <a:lnSpc>
                  <a:spcPts val="2800"/>
                </a:lnSpc>
              </a:pPr>
            </a:p>
          </p:txBody>
        </p:sp>
      </p:grpSp>
      <p:pic>
        <p:nvPicPr>
          <p:cNvPr name="Picture 21" id="21"/>
          <p:cNvPicPr>
            <a:picLocks noChangeAspect="true"/>
          </p:cNvPicPr>
          <p:nvPr>
            <a:videoFile r:link="rId4"/>
          </p:nvPr>
        </p:nvPicPr>
        <p:blipFill>
          <a:blip r:embed="rId3"/>
          <a:stretch>
            <a:fillRect/>
          </a:stretch>
        </p:blipFill>
        <p:spPr>
          <a:xfrm rot="0">
            <a:off x="8765627" y="3124090"/>
            <a:ext cx="8797184" cy="4944553"/>
          </a:xfrm>
          <a:prstGeom prst="rect">
            <a:avLst/>
          </a:prstGeom>
        </p:spPr>
      </p:pic>
      <p:sp>
        <p:nvSpPr>
          <p:cNvPr name="TextBox 22" id="22"/>
          <p:cNvSpPr txBox="true"/>
          <p:nvPr/>
        </p:nvSpPr>
        <p:spPr>
          <a:xfrm rot="0">
            <a:off x="673643" y="3066940"/>
            <a:ext cx="16992056" cy="7448548"/>
          </a:xfrm>
          <a:prstGeom prst="rect">
            <a:avLst/>
          </a:prstGeom>
        </p:spPr>
        <p:txBody>
          <a:bodyPr anchor="t" rtlCol="false" tIns="0" lIns="0" bIns="0" rIns="0">
            <a:spAutoFit/>
          </a:bodyPr>
          <a:lstStyle/>
          <a:p>
            <a:pPr algn="l">
              <a:lnSpc>
                <a:spcPts val="4200"/>
              </a:lnSpc>
            </a:pPr>
            <a:r>
              <a:rPr lang="en-US" sz="3000">
                <a:solidFill>
                  <a:srgbClr val="8F4014"/>
                </a:solidFill>
                <a:latin typeface="TAN Meringue"/>
                <a:ea typeface="TAN Meringue"/>
                <a:cs typeface="TAN Meringue"/>
                <a:sym typeface="TAN Meringue"/>
              </a:rPr>
              <a:t>Activity modification/Exercise</a:t>
            </a:r>
          </a:p>
          <a:p>
            <a:pPr algn="l">
              <a:lnSpc>
                <a:spcPts val="4200"/>
              </a:lnSpc>
            </a:pPr>
          </a:p>
          <a:p>
            <a:pPr algn="l">
              <a:lnSpc>
                <a:spcPts val="4200"/>
              </a:lnSpc>
            </a:pPr>
            <a:r>
              <a:rPr lang="en-US" sz="3000">
                <a:solidFill>
                  <a:srgbClr val="8F4014"/>
                </a:solidFill>
                <a:latin typeface="TAN Meringue"/>
                <a:ea typeface="TAN Meringue"/>
                <a:cs typeface="TAN Meringue"/>
                <a:sym typeface="TAN Meringue"/>
              </a:rPr>
              <a:t>Hypopressive breathing </a:t>
            </a:r>
          </a:p>
          <a:p>
            <a:pPr algn="l">
              <a:lnSpc>
                <a:spcPts val="4200"/>
              </a:lnSpc>
            </a:pPr>
          </a:p>
          <a:p>
            <a:pPr algn="l">
              <a:lnSpc>
                <a:spcPts val="4200"/>
              </a:lnSpc>
            </a:pPr>
            <a:r>
              <a:rPr lang="en-US" sz="3000">
                <a:solidFill>
                  <a:srgbClr val="8F4014"/>
                </a:solidFill>
                <a:latin typeface="TAN Meringue"/>
                <a:ea typeface="TAN Meringue"/>
                <a:cs typeface="TAN Meringue"/>
                <a:sym typeface="TAN Meringue"/>
              </a:rPr>
              <a:t>PFMT</a:t>
            </a:r>
          </a:p>
          <a:p>
            <a:pPr algn="l">
              <a:lnSpc>
                <a:spcPts val="4200"/>
              </a:lnSpc>
            </a:pPr>
          </a:p>
          <a:p>
            <a:pPr algn="l">
              <a:lnSpc>
                <a:spcPts val="4200"/>
              </a:lnSpc>
            </a:pPr>
            <a:r>
              <a:rPr lang="en-US" sz="3000">
                <a:solidFill>
                  <a:srgbClr val="8F4014"/>
                </a:solidFill>
                <a:latin typeface="TAN Meringue"/>
                <a:ea typeface="TAN Meringue"/>
                <a:cs typeface="TAN Meringue"/>
                <a:sym typeface="TAN Meringue"/>
              </a:rPr>
              <a:t>Defecation Dynamics (downbreathing)</a:t>
            </a:r>
          </a:p>
          <a:p>
            <a:pPr algn="l">
              <a:lnSpc>
                <a:spcPts val="4200"/>
              </a:lnSpc>
            </a:pPr>
          </a:p>
          <a:p>
            <a:pPr algn="l">
              <a:lnSpc>
                <a:spcPts val="4200"/>
              </a:lnSpc>
            </a:pPr>
            <a:r>
              <a:rPr lang="en-US" sz="3000">
                <a:solidFill>
                  <a:srgbClr val="8F4014"/>
                </a:solidFill>
                <a:latin typeface="TAN Meringue"/>
                <a:ea typeface="TAN Meringue"/>
                <a:cs typeface="TAN Meringue"/>
                <a:sym typeface="TAN Meringue"/>
              </a:rPr>
              <a:t>Diet/fluid </a:t>
            </a:r>
          </a:p>
          <a:p>
            <a:pPr algn="l">
              <a:lnSpc>
                <a:spcPts val="4200"/>
              </a:lnSpc>
            </a:pPr>
          </a:p>
          <a:p>
            <a:pPr algn="l">
              <a:lnSpc>
                <a:spcPts val="4200"/>
              </a:lnSpc>
            </a:pPr>
          </a:p>
          <a:p>
            <a:pPr algn="l">
              <a:lnSpc>
                <a:spcPts val="4200"/>
              </a:lnSpc>
            </a:pPr>
          </a:p>
          <a:p>
            <a:pPr algn="l">
              <a:lnSpc>
                <a:spcPts val="4200"/>
              </a:lnSpc>
            </a:pPr>
          </a:p>
          <a:p>
            <a:pPr algn="l">
              <a:lnSpc>
                <a:spcPts val="4200"/>
              </a:lnSpc>
            </a:pP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419700" y="1538998"/>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7763441" y="4182391"/>
            <a:ext cx="20469930" cy="1439408"/>
          </a:xfrm>
          <a:prstGeom prst="rect">
            <a:avLst/>
          </a:prstGeom>
        </p:spPr>
        <p:txBody>
          <a:bodyPr anchor="t" rtlCol="false" tIns="0" lIns="0" bIns="0" rIns="0">
            <a:spAutoFit/>
          </a:bodyPr>
          <a:lstStyle/>
          <a:p>
            <a:pPr algn="r">
              <a:lnSpc>
                <a:spcPts val="11805"/>
              </a:lnSpc>
            </a:pPr>
            <a:r>
              <a:rPr lang="en-US" sz="8432">
                <a:solidFill>
                  <a:srgbClr val="8F4014"/>
                </a:solidFill>
                <a:latin typeface="TAN Meringue"/>
                <a:ea typeface="TAN Meringue"/>
                <a:cs typeface="TAN Meringue"/>
                <a:sym typeface="TAN Meringue"/>
              </a:rPr>
              <a:t>PRACTICAL</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545999" y="1538998"/>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2038541" y="2109563"/>
            <a:ext cx="7825641" cy="6786329"/>
            <a:chOff x="0" y="0"/>
            <a:chExt cx="812800" cy="704850"/>
          </a:xfrm>
        </p:grpSpPr>
        <p:sp>
          <p:nvSpPr>
            <p:cNvPr name="Freeform 6" id="6"/>
            <p:cNvSpPr/>
            <p:nvPr/>
          </p:nvSpPr>
          <p:spPr>
            <a:xfrm flipH="false" flipV="false" rot="0">
              <a:off x="5304" y="0"/>
              <a:ext cx="802192" cy="703580"/>
            </a:xfrm>
            <a:custGeom>
              <a:avLst/>
              <a:gdLst/>
              <a:ahLst/>
              <a:cxnLst/>
              <a:rect r="r" b="b" t="t" l="l"/>
              <a:pathLst>
                <a:path h="703580" w="802192">
                  <a:moveTo>
                    <a:pt x="614192" y="17133"/>
                  </a:moveTo>
                  <a:lnTo>
                    <a:pt x="797600" y="334657"/>
                  </a:lnTo>
                  <a:cubicBezTo>
                    <a:pt x="803723" y="345258"/>
                    <a:pt x="803723" y="358322"/>
                    <a:pt x="797600" y="368923"/>
                  </a:cubicBezTo>
                  <a:lnTo>
                    <a:pt x="614192" y="686447"/>
                  </a:lnTo>
                  <a:cubicBezTo>
                    <a:pt x="608068" y="697049"/>
                    <a:pt x="596754" y="703580"/>
                    <a:pt x="584510" y="703580"/>
                  </a:cubicBezTo>
                  <a:lnTo>
                    <a:pt x="217682" y="703580"/>
                  </a:lnTo>
                  <a:cubicBezTo>
                    <a:pt x="205438" y="703580"/>
                    <a:pt x="194124" y="697049"/>
                    <a:pt x="188000" y="686447"/>
                  </a:cubicBezTo>
                  <a:lnTo>
                    <a:pt x="4592" y="368923"/>
                  </a:lnTo>
                  <a:cubicBezTo>
                    <a:pt x="-1531" y="358322"/>
                    <a:pt x="-1531" y="345258"/>
                    <a:pt x="4592" y="334657"/>
                  </a:cubicBezTo>
                  <a:lnTo>
                    <a:pt x="188000" y="17133"/>
                  </a:lnTo>
                  <a:cubicBezTo>
                    <a:pt x="194124" y="6531"/>
                    <a:pt x="205438" y="0"/>
                    <a:pt x="217682" y="0"/>
                  </a:cubicBezTo>
                  <a:lnTo>
                    <a:pt x="584510" y="0"/>
                  </a:lnTo>
                  <a:cubicBezTo>
                    <a:pt x="596754" y="0"/>
                    <a:pt x="608068" y="6531"/>
                    <a:pt x="614192" y="17133"/>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1419700" y="1538998"/>
            <a:ext cx="6017114" cy="1897596"/>
            <a:chOff x="0" y="0"/>
            <a:chExt cx="1288659" cy="406400"/>
          </a:xfrm>
        </p:grpSpPr>
        <p:sp>
          <p:nvSpPr>
            <p:cNvPr name="Freeform 9" id="9"/>
            <p:cNvSpPr/>
            <p:nvPr/>
          </p:nvSpPr>
          <p:spPr>
            <a:xfrm flipH="false" flipV="false" rot="0">
              <a:off x="0" y="0"/>
              <a:ext cx="1288659" cy="406400"/>
            </a:xfrm>
            <a:custGeom>
              <a:avLst/>
              <a:gdLst/>
              <a:ahLst/>
              <a:cxnLst/>
              <a:rect r="r" b="b" t="t" l="l"/>
              <a:pathLst>
                <a:path h="406400" w="1288659">
                  <a:moveTo>
                    <a:pt x="1085459" y="0"/>
                  </a:moveTo>
                  <a:cubicBezTo>
                    <a:pt x="1197684" y="0"/>
                    <a:pt x="1288659" y="90976"/>
                    <a:pt x="1288659" y="203200"/>
                  </a:cubicBezTo>
                  <a:cubicBezTo>
                    <a:pt x="1288659" y="315424"/>
                    <a:pt x="1197684" y="406400"/>
                    <a:pt x="1085459"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7E9D3">
                    <a:alpha val="100000"/>
                  </a:srgbClr>
                </a:gs>
                <a:gs pos="100000">
                  <a:srgbClr val="FFFFFF">
                    <a:alpha val="100000"/>
                  </a:srgbClr>
                </a:gs>
              </a:gsLst>
              <a:lin ang="2700000"/>
            </a:gradFill>
          </p:spPr>
        </p:sp>
        <p:sp>
          <p:nvSpPr>
            <p:cNvPr name="TextBox 10" id="10"/>
            <p:cNvSpPr txBox="true"/>
            <p:nvPr/>
          </p:nvSpPr>
          <p:spPr>
            <a:xfrm>
              <a:off x="0" y="-66675"/>
              <a:ext cx="1288659" cy="473075"/>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16041672" y="228034"/>
            <a:ext cx="20469930" cy="1439408"/>
          </a:xfrm>
          <a:prstGeom prst="rect">
            <a:avLst/>
          </a:prstGeom>
        </p:spPr>
        <p:txBody>
          <a:bodyPr anchor="t" rtlCol="false" tIns="0" lIns="0" bIns="0" rIns="0">
            <a:spAutoFit/>
          </a:bodyPr>
          <a:lstStyle/>
          <a:p>
            <a:pPr algn="r">
              <a:lnSpc>
                <a:spcPts val="11805"/>
              </a:lnSpc>
            </a:pPr>
            <a:r>
              <a:rPr lang="en-US" sz="8432">
                <a:solidFill>
                  <a:srgbClr val="8F4014"/>
                </a:solidFill>
                <a:latin typeface="TAN Meringue"/>
                <a:ea typeface="TAN Meringue"/>
                <a:cs typeface="TAN Meringue"/>
                <a:sym typeface="TAN Meringue"/>
              </a:rPr>
              <a:t>Recap:</a:t>
            </a:r>
          </a:p>
        </p:txBody>
      </p:sp>
      <p:sp>
        <p:nvSpPr>
          <p:cNvPr name="TextBox 12" id="12"/>
          <p:cNvSpPr txBox="true"/>
          <p:nvPr/>
        </p:nvSpPr>
        <p:spPr>
          <a:xfrm rot="0">
            <a:off x="4195878" y="2838452"/>
            <a:ext cx="16992056" cy="7448548"/>
          </a:xfrm>
          <a:prstGeom prst="rect">
            <a:avLst/>
          </a:prstGeom>
        </p:spPr>
        <p:txBody>
          <a:bodyPr anchor="t" rtlCol="false" tIns="0" lIns="0" bIns="0" rIns="0">
            <a:spAutoFit/>
          </a:bodyPr>
          <a:lstStyle/>
          <a:p>
            <a:pPr algn="l">
              <a:lnSpc>
                <a:spcPts val="4200"/>
              </a:lnSpc>
            </a:pPr>
            <a:r>
              <a:rPr lang="en-US" sz="3000">
                <a:solidFill>
                  <a:srgbClr val="8F4014"/>
                </a:solidFill>
                <a:latin typeface="Montserrat"/>
                <a:ea typeface="Montserrat"/>
                <a:cs typeface="Montserrat"/>
                <a:sym typeface="Montserrat"/>
              </a:rPr>
              <a:t>Subjective questions - how to relate to MSK as well</a:t>
            </a:r>
          </a:p>
          <a:p>
            <a:pPr algn="l">
              <a:lnSpc>
                <a:spcPts val="4200"/>
              </a:lnSpc>
            </a:pPr>
          </a:p>
          <a:p>
            <a:pPr algn="l">
              <a:lnSpc>
                <a:spcPts val="4200"/>
              </a:lnSpc>
            </a:pPr>
            <a:r>
              <a:rPr lang="en-US" sz="3000">
                <a:solidFill>
                  <a:srgbClr val="8F4014"/>
                </a:solidFill>
                <a:latin typeface="Montserrat"/>
                <a:ea typeface="Montserrat"/>
                <a:cs typeface="Montserrat"/>
                <a:sym typeface="Montserrat"/>
              </a:rPr>
              <a:t>Considerations for intimate examination</a:t>
            </a:r>
          </a:p>
          <a:p>
            <a:pPr algn="l">
              <a:lnSpc>
                <a:spcPts val="4200"/>
              </a:lnSpc>
            </a:pPr>
          </a:p>
          <a:p>
            <a:pPr algn="l">
              <a:lnSpc>
                <a:spcPts val="4200"/>
              </a:lnSpc>
            </a:pPr>
            <a:r>
              <a:rPr lang="en-US" sz="3000">
                <a:solidFill>
                  <a:srgbClr val="8F4014"/>
                </a:solidFill>
                <a:latin typeface="Montserrat"/>
                <a:ea typeface="Montserrat"/>
                <a:cs typeface="Montserrat"/>
                <a:sym typeface="Montserrat"/>
              </a:rPr>
              <a:t>how to complete an internal examination - female</a:t>
            </a:r>
          </a:p>
          <a:p>
            <a:pPr algn="l">
              <a:lnSpc>
                <a:spcPts val="4200"/>
              </a:lnSpc>
            </a:pPr>
          </a:p>
          <a:p>
            <a:pPr algn="l">
              <a:lnSpc>
                <a:spcPts val="4200"/>
              </a:lnSpc>
            </a:pPr>
            <a:r>
              <a:rPr lang="en-US" sz="3000">
                <a:solidFill>
                  <a:srgbClr val="8F4014"/>
                </a:solidFill>
                <a:latin typeface="Montserrat"/>
                <a:ea typeface="Montserrat"/>
                <a:cs typeface="Montserrat"/>
                <a:sym typeface="Montserrat"/>
              </a:rPr>
              <a:t>how to assess : Urinary dysfunction, PGP, DRAM</a:t>
            </a:r>
          </a:p>
          <a:p>
            <a:pPr algn="l">
              <a:lnSpc>
                <a:spcPts val="4200"/>
              </a:lnSpc>
            </a:pPr>
          </a:p>
          <a:p>
            <a:pPr algn="l">
              <a:lnSpc>
                <a:spcPts val="4200"/>
              </a:lnSpc>
            </a:pPr>
            <a:r>
              <a:rPr lang="en-US" sz="3000">
                <a:solidFill>
                  <a:srgbClr val="8F4014"/>
                </a:solidFill>
                <a:latin typeface="Montserrat"/>
                <a:ea typeface="Montserrat"/>
                <a:cs typeface="Montserrat"/>
                <a:sym typeface="Montserrat"/>
              </a:rPr>
              <a:t>Practical treatment for PFD, PGP and DRAM, POP</a:t>
            </a:r>
          </a:p>
          <a:p>
            <a:pPr algn="l">
              <a:lnSpc>
                <a:spcPts val="4200"/>
              </a:lnSpc>
            </a:pPr>
          </a:p>
          <a:p>
            <a:pPr algn="l">
              <a:lnSpc>
                <a:spcPts val="4200"/>
              </a:lnSpc>
            </a:pPr>
          </a:p>
          <a:p>
            <a:pPr algn="l">
              <a:lnSpc>
                <a:spcPts val="4200"/>
              </a:lnSpc>
            </a:pPr>
          </a:p>
          <a:p>
            <a:pPr algn="l">
              <a:lnSpc>
                <a:spcPts val="4200"/>
              </a:lnSpc>
            </a:pPr>
          </a:p>
          <a:p>
            <a:pPr algn="l">
              <a:lnSpc>
                <a:spcPts val="420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9665" y="1206855"/>
            <a:ext cx="8313048" cy="7209004"/>
            <a:chOff x="0" y="0"/>
            <a:chExt cx="812800" cy="704850"/>
          </a:xfrm>
        </p:grpSpPr>
        <p:sp>
          <p:nvSpPr>
            <p:cNvPr name="Freeform 3" id="3"/>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0"/>
            </a:gradFill>
          </p:spPr>
        </p:sp>
        <p:sp>
          <p:nvSpPr>
            <p:cNvPr name="TextBox 4" id="4"/>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2814779" y="4921864"/>
            <a:ext cx="8313048" cy="7209004"/>
            <a:chOff x="0" y="0"/>
            <a:chExt cx="812800" cy="704850"/>
          </a:xfrm>
        </p:grpSpPr>
        <p:sp>
          <p:nvSpPr>
            <p:cNvPr name="Freeform 6" id="6"/>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7" id="7"/>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
        <p:nvSpPr>
          <p:cNvPr name="Freeform 8" id="8"/>
          <p:cNvSpPr/>
          <p:nvPr/>
        </p:nvSpPr>
        <p:spPr>
          <a:xfrm flipH="true" flipV="false" rot="0">
            <a:off x="1130494" y="393853"/>
            <a:ext cx="5680600" cy="9987868"/>
          </a:xfrm>
          <a:custGeom>
            <a:avLst/>
            <a:gdLst/>
            <a:ahLst/>
            <a:cxnLst/>
            <a:rect r="r" b="b" t="t" l="l"/>
            <a:pathLst>
              <a:path h="9987868" w="5680600">
                <a:moveTo>
                  <a:pt x="5680600" y="0"/>
                </a:moveTo>
                <a:lnTo>
                  <a:pt x="0" y="0"/>
                </a:lnTo>
                <a:lnTo>
                  <a:pt x="0" y="9987868"/>
                </a:lnTo>
                <a:lnTo>
                  <a:pt x="5680600" y="9987868"/>
                </a:lnTo>
                <a:lnTo>
                  <a:pt x="5680600" y="0"/>
                </a:lnTo>
                <a:close/>
              </a:path>
            </a:pathLst>
          </a:custGeom>
          <a:blipFill>
            <a:blip r:embed="rId3"/>
            <a:stretch>
              <a:fillRect l="0" t="0" r="0" b="0"/>
            </a:stretch>
          </a:blipFill>
        </p:spPr>
      </p:sp>
      <p:sp>
        <p:nvSpPr>
          <p:cNvPr name="Freeform 9" id="9"/>
          <p:cNvSpPr/>
          <p:nvPr/>
        </p:nvSpPr>
        <p:spPr>
          <a:xfrm flipH="false" flipV="false" rot="0">
            <a:off x="-170556" y="3267290"/>
            <a:ext cx="6981651" cy="9216701"/>
          </a:xfrm>
          <a:custGeom>
            <a:avLst/>
            <a:gdLst/>
            <a:ahLst/>
            <a:cxnLst/>
            <a:rect r="r" b="b" t="t" l="l"/>
            <a:pathLst>
              <a:path h="9216701" w="6981651">
                <a:moveTo>
                  <a:pt x="0" y="0"/>
                </a:moveTo>
                <a:lnTo>
                  <a:pt x="6981650" y="0"/>
                </a:lnTo>
                <a:lnTo>
                  <a:pt x="6981650" y="9216701"/>
                </a:lnTo>
                <a:lnTo>
                  <a:pt x="0" y="9216701"/>
                </a:lnTo>
                <a:lnTo>
                  <a:pt x="0" y="0"/>
                </a:lnTo>
                <a:close/>
              </a:path>
            </a:pathLst>
          </a:custGeom>
          <a:blipFill>
            <a:blip r:embed="rId4"/>
            <a:stretch>
              <a:fillRect l="0" t="0" r="0" b="0"/>
            </a:stretch>
          </a:blipFill>
        </p:spPr>
      </p:sp>
      <p:sp>
        <p:nvSpPr>
          <p:cNvPr name="Freeform 10" id="10"/>
          <p:cNvSpPr/>
          <p:nvPr/>
        </p:nvSpPr>
        <p:spPr>
          <a:xfrm flipH="false" flipV="false" rot="0">
            <a:off x="3537111" y="3267290"/>
            <a:ext cx="6547967" cy="8863577"/>
          </a:xfrm>
          <a:custGeom>
            <a:avLst/>
            <a:gdLst/>
            <a:ahLst/>
            <a:cxnLst/>
            <a:rect r="r" b="b" t="t" l="l"/>
            <a:pathLst>
              <a:path h="8863577" w="6547967">
                <a:moveTo>
                  <a:pt x="0" y="0"/>
                </a:moveTo>
                <a:lnTo>
                  <a:pt x="6547967" y="0"/>
                </a:lnTo>
                <a:lnTo>
                  <a:pt x="6547967" y="8863577"/>
                </a:lnTo>
                <a:lnTo>
                  <a:pt x="0" y="8863577"/>
                </a:lnTo>
                <a:lnTo>
                  <a:pt x="0" y="0"/>
                </a:lnTo>
                <a:close/>
              </a:path>
            </a:pathLst>
          </a:custGeom>
          <a:blipFill>
            <a:blip r:embed="rId5"/>
            <a:stretch>
              <a:fillRect l="0" t="0" r="0" b="0"/>
            </a:stretch>
          </a:blipFill>
        </p:spPr>
      </p:sp>
      <p:sp>
        <p:nvSpPr>
          <p:cNvPr name="TextBox 11" id="11"/>
          <p:cNvSpPr txBox="true"/>
          <p:nvPr/>
        </p:nvSpPr>
        <p:spPr>
          <a:xfrm rot="0">
            <a:off x="9774076" y="3804915"/>
            <a:ext cx="7485224" cy="1908109"/>
          </a:xfrm>
          <a:prstGeom prst="rect">
            <a:avLst/>
          </a:prstGeom>
        </p:spPr>
        <p:txBody>
          <a:bodyPr anchor="t" rtlCol="false" tIns="0" lIns="0" bIns="0" rIns="0">
            <a:spAutoFit/>
          </a:bodyPr>
          <a:lstStyle/>
          <a:p>
            <a:pPr algn="ctr">
              <a:lnSpc>
                <a:spcPts val="7699"/>
              </a:lnSpc>
            </a:pPr>
            <a:r>
              <a:rPr lang="en-US" sz="5499">
                <a:solidFill>
                  <a:srgbClr val="8F4014"/>
                </a:solidFill>
                <a:latin typeface="TAN Meringue"/>
                <a:ea typeface="TAN Meringue"/>
                <a:cs typeface="TAN Meringue"/>
                <a:sym typeface="TAN Meringue"/>
              </a:rPr>
              <a:t>Thank You for your attention</a:t>
            </a:r>
          </a:p>
        </p:txBody>
      </p:sp>
      <p:sp>
        <p:nvSpPr>
          <p:cNvPr name="TextBox 12" id="12"/>
          <p:cNvSpPr txBox="true"/>
          <p:nvPr/>
        </p:nvSpPr>
        <p:spPr>
          <a:xfrm rot="0">
            <a:off x="9837409" y="5905538"/>
            <a:ext cx="7421891" cy="967105"/>
          </a:xfrm>
          <a:prstGeom prst="rect">
            <a:avLst/>
          </a:prstGeom>
        </p:spPr>
        <p:txBody>
          <a:bodyPr anchor="t" rtlCol="false" tIns="0" lIns="0" bIns="0" rIns="0">
            <a:spAutoFit/>
          </a:bodyPr>
          <a:lstStyle/>
          <a:p>
            <a:pPr algn="ctr">
              <a:lnSpc>
                <a:spcPts val="3919"/>
              </a:lnSpc>
            </a:pPr>
            <a:r>
              <a:rPr lang="en-US" sz="2799">
                <a:solidFill>
                  <a:srgbClr val="8F4014"/>
                </a:solidFill>
                <a:latin typeface="Montserrat"/>
                <a:ea typeface="Montserrat"/>
                <a:cs typeface="Montserrat"/>
                <a:sym typeface="Montserrat"/>
              </a:rPr>
              <a:t>Imogen Pallister B8aPT </a:t>
            </a:r>
          </a:p>
          <a:p>
            <a:pPr algn="ctr">
              <a:lnSpc>
                <a:spcPts val="3919"/>
              </a:lnSpc>
            </a:pPr>
            <a:r>
              <a:rPr lang="en-US" sz="2799">
                <a:solidFill>
                  <a:srgbClr val="8F4014"/>
                </a:solidFill>
                <a:latin typeface="Montserrat"/>
                <a:ea typeface="Montserrat"/>
                <a:cs typeface="Montserrat"/>
                <a:sym typeface="Montserrat"/>
              </a:rPr>
              <a:t>Pelvic Health Physio Barts Health</a:t>
            </a:r>
          </a:p>
        </p:txBody>
      </p:sp>
      <p:sp>
        <p:nvSpPr>
          <p:cNvPr name="TextBox 13" id="13"/>
          <p:cNvSpPr txBox="true"/>
          <p:nvPr/>
        </p:nvSpPr>
        <p:spPr>
          <a:xfrm rot="0">
            <a:off x="14143595" y="9220200"/>
            <a:ext cx="3748676" cy="339725"/>
          </a:xfrm>
          <a:prstGeom prst="rect">
            <a:avLst/>
          </a:prstGeom>
        </p:spPr>
        <p:txBody>
          <a:bodyPr anchor="t" rtlCol="false" tIns="0" lIns="0" bIns="0" rIns="0">
            <a:spAutoFit/>
          </a:bodyPr>
          <a:lstStyle/>
          <a:p>
            <a:pPr algn="r">
              <a:lnSpc>
                <a:spcPts val="2800"/>
              </a:lnSpc>
            </a:pPr>
            <a:r>
              <a:rPr lang="en-US" sz="2000" b="true">
                <a:solidFill>
                  <a:srgbClr val="8F4014"/>
                </a:solidFill>
                <a:latin typeface="Montserrat Bold"/>
                <a:ea typeface="Montserrat Bold"/>
                <a:cs typeface="Montserrat Bold"/>
                <a:sym typeface="Montserrat Bold"/>
              </a:rPr>
              <a:t>imogen.pallister2@nhs.net</a:t>
            </a:r>
          </a:p>
        </p:txBody>
      </p:sp>
      <p:grpSp>
        <p:nvGrpSpPr>
          <p:cNvPr name="Group 14" id="14"/>
          <p:cNvGrpSpPr/>
          <p:nvPr/>
        </p:nvGrpSpPr>
        <p:grpSpPr>
          <a:xfrm rot="0">
            <a:off x="16796268" y="-1010221"/>
            <a:ext cx="8313048" cy="7209004"/>
            <a:chOff x="0" y="0"/>
            <a:chExt cx="812800" cy="704850"/>
          </a:xfrm>
        </p:grpSpPr>
        <p:sp>
          <p:nvSpPr>
            <p:cNvPr name="Freeform 15" id="15"/>
            <p:cNvSpPr/>
            <p:nvPr/>
          </p:nvSpPr>
          <p:spPr>
            <a:xfrm flipH="false" flipV="false" rot="0">
              <a:off x="4993" y="0"/>
              <a:ext cx="802814" cy="703580"/>
            </a:xfrm>
            <a:custGeom>
              <a:avLst/>
              <a:gdLst/>
              <a:ahLst/>
              <a:cxnLst/>
              <a:rect r="r" b="b" t="t" l="l"/>
              <a:pathLst>
                <a:path h="703580" w="802814">
                  <a:moveTo>
                    <a:pt x="613923" y="16129"/>
                  </a:moveTo>
                  <a:lnTo>
                    <a:pt x="798491" y="335661"/>
                  </a:lnTo>
                  <a:cubicBezTo>
                    <a:pt x="804255" y="345641"/>
                    <a:pt x="804255" y="357939"/>
                    <a:pt x="798491" y="367919"/>
                  </a:cubicBezTo>
                  <a:lnTo>
                    <a:pt x="613923" y="687451"/>
                  </a:lnTo>
                  <a:cubicBezTo>
                    <a:pt x="608158" y="697432"/>
                    <a:pt x="597507" y="703580"/>
                    <a:pt x="585981" y="703580"/>
                  </a:cubicBezTo>
                  <a:lnTo>
                    <a:pt x="216833" y="703580"/>
                  </a:lnTo>
                  <a:cubicBezTo>
                    <a:pt x="205307" y="703580"/>
                    <a:pt x="194656" y="697432"/>
                    <a:pt x="188891" y="687451"/>
                  </a:cubicBezTo>
                  <a:lnTo>
                    <a:pt x="4323" y="367919"/>
                  </a:lnTo>
                  <a:cubicBezTo>
                    <a:pt x="-1441" y="357939"/>
                    <a:pt x="-1441" y="345641"/>
                    <a:pt x="4323" y="335661"/>
                  </a:cubicBezTo>
                  <a:lnTo>
                    <a:pt x="188891" y="16129"/>
                  </a:lnTo>
                  <a:cubicBezTo>
                    <a:pt x="194656" y="6148"/>
                    <a:pt x="205307" y="0"/>
                    <a:pt x="216833" y="0"/>
                  </a:cubicBezTo>
                  <a:lnTo>
                    <a:pt x="585981" y="0"/>
                  </a:lnTo>
                  <a:cubicBezTo>
                    <a:pt x="597507" y="0"/>
                    <a:pt x="608158" y="6148"/>
                    <a:pt x="613923" y="16129"/>
                  </a:cubicBezTo>
                  <a:close/>
                </a:path>
              </a:pathLst>
            </a:custGeom>
            <a:gradFill rotWithShape="true">
              <a:gsLst>
                <a:gs pos="0">
                  <a:srgbClr val="F7E9D3">
                    <a:alpha val="100000"/>
                  </a:srgbClr>
                </a:gs>
                <a:gs pos="100000">
                  <a:srgbClr val="FFFFFF">
                    <a:alpha val="100000"/>
                  </a:srgbClr>
                </a:gs>
              </a:gsLst>
              <a:lin ang="5400000"/>
            </a:gradFill>
          </p:spPr>
        </p:sp>
        <p:sp>
          <p:nvSpPr>
            <p:cNvPr name="TextBox 16" id="16"/>
            <p:cNvSpPr txBox="true"/>
            <p:nvPr/>
          </p:nvSpPr>
          <p:spPr>
            <a:xfrm>
              <a:off x="148737" y="27614"/>
              <a:ext cx="515326" cy="581882"/>
            </a:xfrm>
            <a:prstGeom prst="rect">
              <a:avLst/>
            </a:prstGeom>
          </p:spPr>
          <p:txBody>
            <a:bodyPr anchor="ctr" rtlCol="false" tIns="50800" lIns="50800" bIns="50800" rIns="50800"/>
            <a:lstStyle/>
            <a:p>
              <a:pPr algn="ctr">
                <a:lnSpc>
                  <a:spcPts val="280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DAG6cwELlAw</dc:identifier>
  <dcterms:modified xsi:type="dcterms:W3CDTF">2011-08-01T06:04:30Z</dcterms:modified>
  <cp:revision>1</cp:revision>
  <dc:title>practical</dc:title>
</cp:coreProperties>
</file>