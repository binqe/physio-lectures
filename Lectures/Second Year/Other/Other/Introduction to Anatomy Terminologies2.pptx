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4"/>
  </p:sldMasterIdLst>
  <p:notesMasterIdLst>
    <p:notesMasterId r:id="rId29"/>
  </p:notesMasterIdLst>
  <p:sldIdLst>
    <p:sldId id="256" r:id="rId5"/>
    <p:sldId id="257" r:id="rId6"/>
    <p:sldId id="283" r:id="rId7"/>
    <p:sldId id="263" r:id="rId8"/>
    <p:sldId id="264" r:id="rId9"/>
    <p:sldId id="291" r:id="rId10"/>
    <p:sldId id="292" r:id="rId11"/>
    <p:sldId id="295" r:id="rId12"/>
    <p:sldId id="260" r:id="rId13"/>
    <p:sldId id="286" r:id="rId14"/>
    <p:sldId id="261" r:id="rId15"/>
    <p:sldId id="287" r:id="rId16"/>
    <p:sldId id="297" r:id="rId17"/>
    <p:sldId id="298" r:id="rId18"/>
    <p:sldId id="299" r:id="rId19"/>
    <p:sldId id="296" r:id="rId20"/>
    <p:sldId id="268" r:id="rId21"/>
    <p:sldId id="288" r:id="rId22"/>
    <p:sldId id="269" r:id="rId23"/>
    <p:sldId id="300" r:id="rId24"/>
    <p:sldId id="301" r:id="rId25"/>
    <p:sldId id="270" r:id="rId26"/>
    <p:sldId id="271" r:id="rId27"/>
    <p:sldId id="28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57" autoAdjust="0"/>
    <p:restoredTop sz="89777" autoAdjust="0"/>
  </p:normalViewPr>
  <p:slideViewPr>
    <p:cSldViewPr snapToGrid="0">
      <p:cViewPr varScale="1">
        <p:scale>
          <a:sx n="102" d="100"/>
          <a:sy n="102" d="100"/>
        </p:scale>
        <p:origin x="156" y="10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C6A27E-3807-4A4A-A560-31B75FDB3C35}" type="datetimeFigureOut">
              <a:rPr lang="en-GB" smtClean="0"/>
              <a:t>22/09/2024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38EBB1-BD05-49BB-BDAF-2E2DEAF409C4}" type="slidenum">
              <a:rPr lang="en-GB" smtClean="0"/>
              <a:t>‹#›</a:t>
            </a:fld>
            <a:endParaRPr lang="en-GB"/>
          </a:p>
        </p:txBody>
      </p:sp>
    </p:spTree>
    <p:extLst>
      <p:ext uri="{BB962C8B-B14F-4D97-AF65-F5344CB8AC3E}">
        <p14:creationId xmlns:p14="http://schemas.microsoft.com/office/powerpoint/2010/main" val="2459207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i="1" dirty="0">
                <a:effectLst/>
                <a:latin typeface="Arial" panose="020B0604020202020204" pitchFamily="34" charset="0"/>
                <a:cs typeface="Arial" panose="020B0604020202020204" pitchFamily="34" charset="0"/>
              </a:rPr>
              <a:t>Provide advice, guidance and support for students with a disability, a Specific Learning Difficulty (SpLD) such as Dyslexia or Dyspraxia, students who are Deaf or hearing impaired, blind or partially sighted students, students with chronic long-term health conditions and students with mental health difficulties.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i="1" dirty="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i="1" dirty="0">
                <a:effectLst/>
                <a:latin typeface="Arial" panose="020B0604020202020204" pitchFamily="34" charset="0"/>
                <a:ea typeface="Calibri" panose="020F0502020204030204" pitchFamily="34" charset="0"/>
                <a:cs typeface="Arial" panose="020B0604020202020204" pitchFamily="34" charset="0"/>
              </a:rPr>
              <a:t>DDS is part of Student Services: </a:t>
            </a:r>
            <a:endParaRPr lang="en-GB" sz="1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buFont typeface="Arial" panose="020B0604020202020204" pitchFamily="34" charset="0"/>
              <a:buChar char="-"/>
            </a:pPr>
            <a:r>
              <a:rPr lang="en-GB" sz="1800" i="1" dirty="0">
                <a:effectLst/>
                <a:latin typeface="Arial" panose="020B0604020202020204" pitchFamily="34" charset="0"/>
                <a:ea typeface="Calibri" panose="020F0502020204030204" pitchFamily="34" charset="0"/>
                <a:cs typeface="Arial" panose="020B0604020202020204" pitchFamily="34" charset="0"/>
              </a:rPr>
              <a:t>Counselling Team.</a:t>
            </a:r>
            <a:endParaRPr lang="en-GB" sz="1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buFont typeface="Arial" panose="020B0604020202020204" pitchFamily="34" charset="0"/>
              <a:buChar char="-"/>
            </a:pPr>
            <a:r>
              <a:rPr lang="en-GB" sz="1800" i="1" dirty="0">
                <a:effectLst/>
                <a:latin typeface="Arial" panose="020B0604020202020204" pitchFamily="34" charset="0"/>
                <a:ea typeface="Calibri" panose="020F0502020204030204" pitchFamily="34" charset="0"/>
                <a:cs typeface="Arial" panose="020B0604020202020204" pitchFamily="34" charset="0"/>
              </a:rPr>
              <a:t>Student Money and Accommodation Team (SMAA).</a:t>
            </a:r>
            <a:endParaRPr lang="en-GB" sz="1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buFont typeface="Arial" panose="020B0604020202020204" pitchFamily="34" charset="0"/>
              <a:buChar char="-"/>
            </a:pPr>
            <a:r>
              <a:rPr lang="en-GB" sz="1800" i="1" dirty="0">
                <a:effectLst/>
                <a:latin typeface="Arial" panose="020B0604020202020204" pitchFamily="34" charset="0"/>
                <a:ea typeface="Calibri" panose="020F0502020204030204" pitchFamily="34" charset="0"/>
                <a:cs typeface="Arial" panose="020B0604020202020204" pitchFamily="34" charset="0"/>
              </a:rPr>
              <a:t>International Support Team. </a:t>
            </a:r>
            <a:endParaRPr lang="en-GB" sz="1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buFont typeface="Arial" panose="020B0604020202020204" pitchFamily="34" charset="0"/>
              <a:buChar char="-"/>
            </a:pPr>
            <a:r>
              <a:rPr lang="en-GB" sz="1800" i="1" dirty="0">
                <a:effectLst/>
                <a:latin typeface="Arial" panose="020B0604020202020204" pitchFamily="34" charset="0"/>
                <a:ea typeface="Calibri" panose="020F0502020204030204" pitchFamily="34" charset="0"/>
                <a:cs typeface="Arial" panose="020B0604020202020204" pitchFamily="34" charset="0"/>
              </a:rPr>
              <a:t>Disabilities and Dyslexia Service (DDS).</a:t>
            </a:r>
            <a:endParaRPr lang="en-GB" sz="1800" dirty="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effectLst/>
              <a:latin typeface="Arial" panose="020B0604020202020204" pitchFamily="34" charset="0"/>
              <a:cs typeface="Arial" panose="020B0604020202020204" pitchFamily="34" charset="0"/>
            </a:endParaRPr>
          </a:p>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2</a:t>
            </a:fld>
            <a:endParaRPr lang="en-GB"/>
          </a:p>
        </p:txBody>
      </p:sp>
    </p:spTree>
    <p:extLst>
      <p:ext uri="{BB962C8B-B14F-4D97-AF65-F5344CB8AC3E}">
        <p14:creationId xmlns:p14="http://schemas.microsoft.com/office/powerpoint/2010/main" val="3912410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3</a:t>
            </a:fld>
            <a:endParaRPr lang="en-GB"/>
          </a:p>
        </p:txBody>
      </p:sp>
    </p:spTree>
    <p:extLst>
      <p:ext uri="{BB962C8B-B14F-4D97-AF65-F5344CB8AC3E}">
        <p14:creationId xmlns:p14="http://schemas.microsoft.com/office/powerpoint/2010/main" val="3555948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4</a:t>
            </a:fld>
            <a:endParaRPr lang="en-GB"/>
          </a:p>
        </p:txBody>
      </p:sp>
    </p:spTree>
    <p:extLst>
      <p:ext uri="{BB962C8B-B14F-4D97-AF65-F5344CB8AC3E}">
        <p14:creationId xmlns:p14="http://schemas.microsoft.com/office/powerpoint/2010/main" val="1547125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5</a:t>
            </a:fld>
            <a:endParaRPr lang="en-GB"/>
          </a:p>
        </p:txBody>
      </p:sp>
    </p:spTree>
    <p:extLst>
      <p:ext uri="{BB962C8B-B14F-4D97-AF65-F5344CB8AC3E}">
        <p14:creationId xmlns:p14="http://schemas.microsoft.com/office/powerpoint/2010/main" val="839446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6</a:t>
            </a:fld>
            <a:endParaRPr lang="en-GB"/>
          </a:p>
        </p:txBody>
      </p:sp>
    </p:spTree>
    <p:extLst>
      <p:ext uri="{BB962C8B-B14F-4D97-AF65-F5344CB8AC3E}">
        <p14:creationId xmlns:p14="http://schemas.microsoft.com/office/powerpoint/2010/main" val="928719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495354"/>
                </a:solidFill>
                <a:effectLst/>
                <a:highlight>
                  <a:srgbClr val="FFFFFF"/>
                </a:highlight>
                <a:latin typeface="PlutoSansLight"/>
              </a:rPr>
              <a:t>Directional terms and body planes allow us to describe the relationship between anatomical structures, for example, the wrist is distal to the elbow, the ears are lateral to the eyes, the nose is located in the midsagittal plane. They are a part of a universal language for understanding anatomy. Helps us avoid confusion and enhance communication between health professionals.</a:t>
            </a:r>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7</a:t>
            </a:fld>
            <a:endParaRPr lang="en-GB"/>
          </a:p>
        </p:txBody>
      </p:sp>
    </p:spTree>
    <p:extLst>
      <p:ext uri="{BB962C8B-B14F-4D97-AF65-F5344CB8AC3E}">
        <p14:creationId xmlns:p14="http://schemas.microsoft.com/office/powerpoint/2010/main" val="1551920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8</a:t>
            </a:fld>
            <a:endParaRPr lang="en-GB"/>
          </a:p>
        </p:txBody>
      </p:sp>
    </p:spTree>
    <p:extLst>
      <p:ext uri="{BB962C8B-B14F-4D97-AF65-F5344CB8AC3E}">
        <p14:creationId xmlns:p14="http://schemas.microsoft.com/office/powerpoint/2010/main" val="1039673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9</a:t>
            </a:fld>
            <a:endParaRPr lang="en-GB"/>
          </a:p>
        </p:txBody>
      </p:sp>
    </p:spTree>
    <p:extLst>
      <p:ext uri="{BB962C8B-B14F-4D97-AF65-F5344CB8AC3E}">
        <p14:creationId xmlns:p14="http://schemas.microsoft.com/office/powerpoint/2010/main" val="1118090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495354"/>
                </a:solidFill>
                <a:effectLst/>
                <a:highlight>
                  <a:srgbClr val="FFFFFF"/>
                </a:highlight>
                <a:latin typeface="PlutoSansLight"/>
              </a:rPr>
              <a:t>In Anatomy, we use specific terms to clearly communicate the location of structures within the human body. These are directional terms, regional terms and body planes. To avoid confusion and miscommunication, we always use a standard reference point for these terms; this reference point is the </a:t>
            </a:r>
            <a:r>
              <a:rPr lang="en-GB" b="0" i="0" dirty="0">
                <a:solidFill>
                  <a:srgbClr val="495354"/>
                </a:solidFill>
                <a:effectLst/>
                <a:highlight>
                  <a:srgbClr val="FFFFFF"/>
                </a:highlight>
                <a:latin typeface="var(--medium)"/>
              </a:rPr>
              <a:t>anatomical position</a:t>
            </a:r>
            <a:r>
              <a:rPr lang="en-GB" b="0" i="0" dirty="0">
                <a:solidFill>
                  <a:srgbClr val="495354"/>
                </a:solidFill>
                <a:effectLst/>
                <a:highlight>
                  <a:srgbClr val="FFFFFF"/>
                </a:highlight>
                <a:latin typeface="PlutoSansLight"/>
              </a:rPr>
              <a:t>. The anatomical position is when the body is standing erect, with the face looking forwards, the feet parallel, the arms hanging at the sides, the palms facing forwards and the thumbs pointing away from the body.</a:t>
            </a:r>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10</a:t>
            </a:fld>
            <a:endParaRPr lang="en-GB"/>
          </a:p>
        </p:txBody>
      </p:sp>
    </p:spTree>
    <p:extLst>
      <p:ext uri="{BB962C8B-B14F-4D97-AF65-F5344CB8AC3E}">
        <p14:creationId xmlns:p14="http://schemas.microsoft.com/office/powerpoint/2010/main" val="22817546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11</a:t>
            </a:fld>
            <a:endParaRPr lang="en-GB"/>
          </a:p>
        </p:txBody>
      </p:sp>
    </p:spTree>
    <p:extLst>
      <p:ext uri="{BB962C8B-B14F-4D97-AF65-F5344CB8AC3E}">
        <p14:creationId xmlns:p14="http://schemas.microsoft.com/office/powerpoint/2010/main" val="1353013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12</a:t>
            </a:fld>
            <a:endParaRPr lang="en-GB"/>
          </a:p>
        </p:txBody>
      </p:sp>
    </p:spTree>
    <p:extLst>
      <p:ext uri="{BB962C8B-B14F-4D97-AF65-F5344CB8AC3E}">
        <p14:creationId xmlns:p14="http://schemas.microsoft.com/office/powerpoint/2010/main" val="1881660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13</a:t>
            </a:fld>
            <a:endParaRPr lang="en-GB"/>
          </a:p>
        </p:txBody>
      </p:sp>
    </p:spTree>
    <p:extLst>
      <p:ext uri="{BB962C8B-B14F-4D97-AF65-F5344CB8AC3E}">
        <p14:creationId xmlns:p14="http://schemas.microsoft.com/office/powerpoint/2010/main" val="1260681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14</a:t>
            </a:fld>
            <a:endParaRPr lang="en-GB"/>
          </a:p>
        </p:txBody>
      </p:sp>
    </p:spTree>
    <p:extLst>
      <p:ext uri="{BB962C8B-B14F-4D97-AF65-F5344CB8AC3E}">
        <p14:creationId xmlns:p14="http://schemas.microsoft.com/office/powerpoint/2010/main" val="7870556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15</a:t>
            </a:fld>
            <a:endParaRPr lang="en-GB"/>
          </a:p>
        </p:txBody>
      </p:sp>
    </p:spTree>
    <p:extLst>
      <p:ext uri="{BB962C8B-B14F-4D97-AF65-F5344CB8AC3E}">
        <p14:creationId xmlns:p14="http://schemas.microsoft.com/office/powerpoint/2010/main" val="22875202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16</a:t>
            </a:fld>
            <a:endParaRPr lang="en-GB"/>
          </a:p>
        </p:txBody>
      </p:sp>
    </p:spTree>
    <p:extLst>
      <p:ext uri="{BB962C8B-B14F-4D97-AF65-F5344CB8AC3E}">
        <p14:creationId xmlns:p14="http://schemas.microsoft.com/office/powerpoint/2010/main" val="1980603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17</a:t>
            </a:fld>
            <a:endParaRPr lang="en-GB"/>
          </a:p>
        </p:txBody>
      </p:sp>
    </p:spTree>
    <p:extLst>
      <p:ext uri="{BB962C8B-B14F-4D97-AF65-F5344CB8AC3E}">
        <p14:creationId xmlns:p14="http://schemas.microsoft.com/office/powerpoint/2010/main" val="11923982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18</a:t>
            </a:fld>
            <a:endParaRPr lang="en-GB"/>
          </a:p>
        </p:txBody>
      </p:sp>
    </p:spTree>
    <p:extLst>
      <p:ext uri="{BB962C8B-B14F-4D97-AF65-F5344CB8AC3E}">
        <p14:creationId xmlns:p14="http://schemas.microsoft.com/office/powerpoint/2010/main" val="2129299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19</a:t>
            </a:fld>
            <a:endParaRPr lang="en-GB"/>
          </a:p>
        </p:txBody>
      </p:sp>
    </p:spTree>
    <p:extLst>
      <p:ext uri="{BB962C8B-B14F-4D97-AF65-F5344CB8AC3E}">
        <p14:creationId xmlns:p14="http://schemas.microsoft.com/office/powerpoint/2010/main" val="31011015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20</a:t>
            </a:fld>
            <a:endParaRPr lang="en-GB"/>
          </a:p>
        </p:txBody>
      </p:sp>
    </p:spTree>
    <p:extLst>
      <p:ext uri="{BB962C8B-B14F-4D97-AF65-F5344CB8AC3E}">
        <p14:creationId xmlns:p14="http://schemas.microsoft.com/office/powerpoint/2010/main" val="24419569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21</a:t>
            </a:fld>
            <a:endParaRPr lang="en-GB"/>
          </a:p>
        </p:txBody>
      </p:sp>
    </p:spTree>
    <p:extLst>
      <p:ext uri="{BB962C8B-B14F-4D97-AF65-F5344CB8AC3E}">
        <p14:creationId xmlns:p14="http://schemas.microsoft.com/office/powerpoint/2010/main" val="16695228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22</a:t>
            </a:fld>
            <a:endParaRPr lang="en-GB"/>
          </a:p>
        </p:txBody>
      </p:sp>
    </p:spTree>
    <p:extLst>
      <p:ext uri="{BB962C8B-B14F-4D97-AF65-F5344CB8AC3E}">
        <p14:creationId xmlns:p14="http://schemas.microsoft.com/office/powerpoint/2010/main" val="26279318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23</a:t>
            </a:fld>
            <a:endParaRPr lang="en-GB"/>
          </a:p>
        </p:txBody>
      </p:sp>
    </p:spTree>
    <p:extLst>
      <p:ext uri="{BB962C8B-B14F-4D97-AF65-F5344CB8AC3E}">
        <p14:creationId xmlns:p14="http://schemas.microsoft.com/office/powerpoint/2010/main" val="32144544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38EBB1-BD05-49BB-BDAF-2E2DEAF409C4}" type="slidenum">
              <a:rPr lang="en-GB" smtClean="0"/>
              <a:t>24</a:t>
            </a:fld>
            <a:endParaRPr lang="en-GB"/>
          </a:p>
        </p:txBody>
      </p:sp>
    </p:spTree>
    <p:extLst>
      <p:ext uri="{BB962C8B-B14F-4D97-AF65-F5344CB8AC3E}">
        <p14:creationId xmlns:p14="http://schemas.microsoft.com/office/powerpoint/2010/main" val="3442854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22849658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9/22/2024</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575088894"/>
      </p:ext>
    </p:extLst>
  </p:cSld>
  <p:clrMap bg1="dk1" tx1="lt1" bg2="dk2" tx2="lt2" accent1="accent1" accent2="accent2" accent3="accent3" accent4="accent4" accent5="accent5" accent6="accent6" hlink="hlink" folHlink="folHlink"/>
  <p:sldLayoutIdLst>
    <p:sldLayoutId id="2147483728" r:id="rId1"/>
  </p:sldLayoutIdLst>
  <p:hf sldNum="0" hdr="0" ftr="0" dt="0"/>
  <p:txStyles>
    <p:titleStyle>
      <a:lvl1pPr algn="ctr" defTabSz="457200" rtl="0" eaLnBrk="1" latinLnBrk="0" hangingPunct="1">
        <a:lnSpc>
          <a:spcPct val="90000"/>
        </a:lnSpc>
        <a:spcBef>
          <a:spcPct val="0"/>
        </a:spcBef>
        <a:buNone/>
        <a:defRPr sz="4800" i="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A4F770-ED4C-B604-4617-9DAC65CEC7FC}"/>
              </a:ext>
            </a:extLst>
          </p:cNvPr>
          <p:cNvSpPr>
            <a:spLocks noGrp="1"/>
          </p:cNvSpPr>
          <p:nvPr>
            <p:ph type="ctrTitle"/>
          </p:nvPr>
        </p:nvSpPr>
        <p:spPr/>
        <p:txBody>
          <a:bodyPr>
            <a:normAutofit fontScale="90000"/>
          </a:bodyPr>
          <a:lstStyle/>
          <a:p>
            <a:r>
              <a:rPr lang="en-GB" b="1" i="0" dirty="0"/>
              <a:t>INTRODUCTION TO ANATOMY, TERMINOLOGIES AND LEARNING</a:t>
            </a:r>
          </a:p>
        </p:txBody>
      </p:sp>
      <p:sp>
        <p:nvSpPr>
          <p:cNvPr id="5" name="TextBox 4">
            <a:extLst>
              <a:ext uri="{FF2B5EF4-FFF2-40B4-BE49-F238E27FC236}">
                <a16:creationId xmlns:a16="http://schemas.microsoft.com/office/drawing/2014/main" id="{A32FD89E-C22A-72E8-0DFF-C6FF047B34DB}"/>
              </a:ext>
            </a:extLst>
          </p:cNvPr>
          <p:cNvSpPr txBox="1"/>
          <p:nvPr/>
        </p:nvSpPr>
        <p:spPr>
          <a:xfrm>
            <a:off x="1507787" y="4591455"/>
            <a:ext cx="10389141" cy="646331"/>
          </a:xfrm>
          <a:prstGeom prst="rect">
            <a:avLst/>
          </a:prstGeom>
          <a:noFill/>
        </p:spPr>
        <p:txBody>
          <a:bodyPr wrap="square" rtlCol="0">
            <a:spAutoFit/>
          </a:bodyPr>
          <a:lstStyle/>
          <a:p>
            <a:r>
              <a:rPr lang="en-GB" dirty="0"/>
              <a:t>Ngozi Onuegbu PhD</a:t>
            </a:r>
          </a:p>
          <a:p>
            <a:r>
              <a:rPr lang="en-GB" dirty="0"/>
              <a:t>Module Lead</a:t>
            </a:r>
          </a:p>
        </p:txBody>
      </p:sp>
    </p:spTree>
    <p:extLst>
      <p:ext uri="{BB962C8B-B14F-4D97-AF65-F5344CB8AC3E}">
        <p14:creationId xmlns:p14="http://schemas.microsoft.com/office/powerpoint/2010/main" val="3816388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375040" y="319480"/>
            <a:ext cx="11211373" cy="738199"/>
          </a:xfrm>
        </p:spPr>
        <p:txBody>
          <a:bodyPr anchor="b">
            <a:noAutofit/>
          </a:bodyPr>
          <a:lstStyle/>
          <a:p>
            <a:pPr algn="l"/>
            <a:r>
              <a:rPr lang="en-GB" sz="3600" b="1" i="0" dirty="0">
                <a:solidFill>
                  <a:srgbClr val="FFFF00"/>
                </a:solidFill>
                <a:effectLst/>
                <a:latin typeface="Arial"/>
                <a:cs typeface="Arial"/>
              </a:rPr>
              <a:t>Objectives of the Session</a:t>
            </a:r>
            <a:endParaRPr lang="en-GB" sz="3600" b="1" i="0" dirty="0">
              <a:ln>
                <a:solidFill>
                  <a:srgbClr val="000000">
                    <a:lumMod val="75000"/>
                    <a:lumOff val="25000"/>
                    <a:alpha val="10000"/>
                  </a:srgbClr>
                </a:solidFill>
              </a:ln>
              <a:solidFill>
                <a:srgbClr val="FFFF00"/>
              </a:solidFill>
              <a:effectLst/>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369707" y="2367290"/>
            <a:ext cx="11503924" cy="3007679"/>
          </a:xfrm>
        </p:spPr>
        <p:txBody>
          <a:bodyPr>
            <a:normAutofit/>
          </a:bodyPr>
          <a:lstStyle/>
          <a:p>
            <a:pPr marL="342900" indent="-342900" algn="l">
              <a:buFont typeface="Arial" panose="020B0604020202020204" pitchFamily="34" charset="0"/>
              <a:buChar char="•"/>
            </a:pPr>
            <a:r>
              <a:rPr lang="en-GB" sz="2800" dirty="0">
                <a:effectLst/>
                <a:latin typeface="Arial"/>
                <a:cs typeface="Arial"/>
              </a:rPr>
              <a:t>Understand the basic principles of anatomy.</a:t>
            </a:r>
          </a:p>
          <a:p>
            <a:pPr marL="342900" indent="-342900" algn="l">
              <a:buFont typeface="Arial" panose="020B0604020202020204" pitchFamily="34" charset="0"/>
              <a:buChar char="•"/>
            </a:pPr>
            <a:r>
              <a:rPr lang="en-GB" sz="2800" dirty="0">
                <a:effectLst/>
                <a:latin typeface="Arial"/>
                <a:cs typeface="Arial"/>
              </a:rPr>
              <a:t>Learn common anatomical terminologies.</a:t>
            </a:r>
          </a:p>
          <a:p>
            <a:pPr marL="342900" indent="-342900" algn="l">
              <a:buFont typeface="Arial" panose="020B0604020202020204" pitchFamily="34" charset="0"/>
              <a:buChar char="•"/>
            </a:pPr>
            <a:r>
              <a:rPr lang="en-GB" sz="2800" dirty="0">
                <a:effectLst/>
                <a:latin typeface="Arial"/>
                <a:cs typeface="Arial"/>
              </a:rPr>
              <a:t>Be introduced to strategies for effective learning in anatomy.</a:t>
            </a:r>
            <a:endPar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a:p>
            <a:pPr algn="l"/>
            <a:endParaRPr lang="en-GB" sz="28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spTree>
    <p:extLst>
      <p:ext uri="{BB962C8B-B14F-4D97-AF65-F5344CB8AC3E}">
        <p14:creationId xmlns:p14="http://schemas.microsoft.com/office/powerpoint/2010/main" val="3449367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393897" y="295757"/>
            <a:ext cx="11211373" cy="738199"/>
          </a:xfrm>
        </p:spPr>
        <p:txBody>
          <a:bodyPr anchor="b">
            <a:noAutofit/>
          </a:bodyPr>
          <a:lstStyle/>
          <a:p>
            <a:pPr algn="l"/>
            <a:r>
              <a:rPr lang="en-GB" sz="3600" b="1" i="0" dirty="0">
                <a:solidFill>
                  <a:srgbClr val="FFFF00"/>
                </a:solidFill>
                <a:effectLst/>
                <a:latin typeface="Arial"/>
                <a:cs typeface="Arial"/>
              </a:rPr>
              <a:t>What is Anatomy?: </a:t>
            </a:r>
            <a:endParaRPr lang="en-GB" sz="3600" b="1" i="0" dirty="0">
              <a:ln>
                <a:solidFill>
                  <a:srgbClr val="000000">
                    <a:lumMod val="75000"/>
                    <a:lumOff val="25000"/>
                    <a:alpha val="10000"/>
                  </a:srgbClr>
                </a:solidFill>
              </a:ln>
              <a:solidFill>
                <a:srgbClr val="FFFF00"/>
              </a:solidFill>
              <a:effectLst/>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364520" y="1432874"/>
            <a:ext cx="11240750" cy="4595801"/>
          </a:xfrm>
        </p:spPr>
        <p:txBody>
          <a:bodyPr>
            <a:normAutofit fontScale="92500" lnSpcReduction="10000"/>
          </a:bodyPr>
          <a:lstStyle/>
          <a:p>
            <a:pPr marL="342900" indent="-342900" algn="l">
              <a:lnSpc>
                <a:spcPct val="120000"/>
              </a:lnSpc>
              <a:spcBef>
                <a:spcPts val="0"/>
              </a:spcBef>
              <a:spcAft>
                <a:spcPts val="0"/>
              </a:spcAft>
              <a:buFont typeface="Arial" panose="020B0604020202020204" pitchFamily="34" charset="0"/>
              <a:buChar char="•"/>
            </a:pPr>
            <a:r>
              <a:rPr lang="en-GB" sz="2800" b="1" dirty="0">
                <a:effectLst/>
                <a:latin typeface="Arial"/>
                <a:cs typeface="Arial"/>
              </a:rPr>
              <a:t>Definition:</a:t>
            </a:r>
          </a:p>
          <a:p>
            <a:pPr marL="800100" lvl="1" indent="-342900" algn="l">
              <a:lnSpc>
                <a:spcPct val="120000"/>
              </a:lnSpc>
              <a:spcBef>
                <a:spcPts val="0"/>
              </a:spcBef>
              <a:spcAft>
                <a:spcPts val="0"/>
              </a:spcAft>
              <a:buFont typeface="Arial" panose="020B0604020202020204" pitchFamily="34" charset="0"/>
              <a:buChar char="•"/>
            </a:pPr>
            <a:r>
              <a:rPr lang="en-GB" sz="2400" b="1" dirty="0">
                <a:effectLst/>
                <a:latin typeface="Arial"/>
                <a:cs typeface="Arial"/>
              </a:rPr>
              <a:t>Anatomy is the branch of biology concerned with the study of the structure of organisms and their parts.</a:t>
            </a:r>
          </a:p>
          <a:p>
            <a:pPr marL="342900" indent="-342900" algn="l">
              <a:lnSpc>
                <a:spcPct val="120000"/>
              </a:lnSpc>
              <a:spcBef>
                <a:spcPts val="0"/>
              </a:spcBef>
              <a:spcAft>
                <a:spcPts val="0"/>
              </a:spcAft>
              <a:buFont typeface="Arial" panose="020B0604020202020204" pitchFamily="34" charset="0"/>
              <a:buChar char="•"/>
            </a:pPr>
            <a:r>
              <a:rPr lang="en-GB" sz="2800" b="1" dirty="0">
                <a:effectLst/>
                <a:latin typeface="Arial"/>
                <a:cs typeface="Arial"/>
              </a:rPr>
              <a:t>Etymology: Derived </a:t>
            </a:r>
            <a:r>
              <a:rPr lang="en-GB" sz="2800" b="1" dirty="0" err="1">
                <a:effectLst/>
                <a:latin typeface="Arial"/>
                <a:cs typeface="Arial"/>
              </a:rPr>
              <a:t>formthe</a:t>
            </a:r>
            <a:r>
              <a:rPr lang="en-GB" sz="2800" b="1" dirty="0">
                <a:effectLst/>
                <a:latin typeface="Arial"/>
                <a:cs typeface="Arial"/>
              </a:rPr>
              <a:t> Greek word ‘</a:t>
            </a:r>
            <a:r>
              <a:rPr lang="en-GB" sz="2800" b="1" dirty="0" err="1">
                <a:effectLst/>
                <a:latin typeface="Arial"/>
                <a:cs typeface="Arial"/>
              </a:rPr>
              <a:t>anatome</a:t>
            </a:r>
            <a:r>
              <a:rPr lang="en-GB" sz="2800" b="1" dirty="0">
                <a:effectLst/>
                <a:latin typeface="Arial"/>
                <a:cs typeface="Arial"/>
              </a:rPr>
              <a:t>’ meaning dissection</a:t>
            </a:r>
          </a:p>
          <a:p>
            <a:pPr marL="342900" indent="-342900" algn="l">
              <a:lnSpc>
                <a:spcPct val="120000"/>
              </a:lnSpc>
              <a:spcBef>
                <a:spcPts val="0"/>
              </a:spcBef>
              <a:spcAft>
                <a:spcPts val="0"/>
              </a:spcAft>
              <a:buFont typeface="Arial" panose="020B0604020202020204" pitchFamily="34" charset="0"/>
              <a:buChar char="•"/>
            </a:pPr>
            <a:r>
              <a:rPr lang="en-GB" sz="2800" b="1" dirty="0">
                <a:effectLst/>
                <a:latin typeface="Arial"/>
                <a:cs typeface="Arial"/>
              </a:rPr>
              <a:t>Subdivisions of Anatomy:</a:t>
            </a:r>
          </a:p>
          <a:p>
            <a:pPr marL="800100" lvl="1" indent="-342900" algn="l">
              <a:lnSpc>
                <a:spcPct val="120000"/>
              </a:lnSpc>
              <a:spcBef>
                <a:spcPts val="0"/>
              </a:spcBef>
              <a:spcAft>
                <a:spcPts val="0"/>
              </a:spcAft>
              <a:buFont typeface="Arial" panose="020B0604020202020204" pitchFamily="34" charset="0"/>
              <a:buChar char="•"/>
            </a:pPr>
            <a:r>
              <a:rPr lang="en-GB" sz="2400" b="1" dirty="0">
                <a:effectLst/>
                <a:latin typeface="Arial"/>
                <a:cs typeface="Arial"/>
              </a:rPr>
              <a:t>Gross Anatomy: Study of structures visible to the naked eye.</a:t>
            </a:r>
          </a:p>
          <a:p>
            <a:pPr marL="1257300" lvl="2" indent="-342900" algn="l">
              <a:lnSpc>
                <a:spcPct val="120000"/>
              </a:lnSpc>
              <a:spcBef>
                <a:spcPts val="0"/>
              </a:spcBef>
              <a:spcAft>
                <a:spcPts val="0"/>
              </a:spcAft>
              <a:buFont typeface="Arial" panose="020B0604020202020204" pitchFamily="34" charset="0"/>
              <a:buChar char="•"/>
            </a:pPr>
            <a:r>
              <a:rPr lang="en-GB" sz="2200" b="1" dirty="0">
                <a:effectLst/>
                <a:latin typeface="Arial"/>
                <a:cs typeface="Arial"/>
              </a:rPr>
              <a:t>Limbs, Thorax, Pelvis and Perineum, Head and Neck, Neuroanatomy</a:t>
            </a:r>
          </a:p>
          <a:p>
            <a:pPr marL="800100" lvl="1" indent="-342900" algn="l">
              <a:lnSpc>
                <a:spcPct val="120000"/>
              </a:lnSpc>
              <a:spcBef>
                <a:spcPts val="0"/>
              </a:spcBef>
              <a:spcAft>
                <a:spcPts val="0"/>
              </a:spcAft>
              <a:buFont typeface="Arial" panose="020B0604020202020204" pitchFamily="34" charset="0"/>
              <a:buChar char="•"/>
            </a:pPr>
            <a:r>
              <a:rPr lang="en-GB" sz="2400" b="1" dirty="0">
                <a:effectLst/>
                <a:latin typeface="Arial"/>
                <a:cs typeface="Arial"/>
              </a:rPr>
              <a:t>Microscopic Anatomy: Study of structures at a microscopic level (histology).</a:t>
            </a:r>
          </a:p>
          <a:p>
            <a:pPr marL="800100" lvl="1" indent="-342900" algn="l">
              <a:lnSpc>
                <a:spcPct val="120000"/>
              </a:lnSpc>
              <a:spcBef>
                <a:spcPts val="0"/>
              </a:spcBef>
              <a:spcAft>
                <a:spcPts val="0"/>
              </a:spcAft>
              <a:buFont typeface="Arial" panose="020B0604020202020204" pitchFamily="34" charset="0"/>
              <a:buChar char="•"/>
            </a:pPr>
            <a:r>
              <a:rPr lang="en-GB" sz="2400" b="1" dirty="0">
                <a:effectLst/>
                <a:latin typeface="Arial"/>
                <a:cs typeface="Arial"/>
              </a:rPr>
              <a:t>Developmental Anatomy: Study of the growth and development of an organism (Embryology).</a:t>
            </a:r>
            <a:endParaRPr lang="en-GB" sz="1600" dirty="0">
              <a:effectLst/>
              <a:latin typeface="Arial" panose="020B0604020202020204" pitchFamily="34" charset="0"/>
              <a:cs typeface="Arial" panose="020B0604020202020204" pitchFamily="34" charset="0"/>
            </a:endParaRPr>
          </a:p>
          <a:p>
            <a:pPr algn="l">
              <a:lnSpc>
                <a:spcPct val="120000"/>
              </a:lnSpc>
              <a:spcBef>
                <a:spcPts val="0"/>
              </a:spcBef>
              <a:spcAft>
                <a:spcPts val="0"/>
              </a:spcAft>
            </a:pPr>
            <a:endParaRPr lang="en-GB" sz="2000" dirty="0">
              <a:effectLst/>
              <a:latin typeface="Arial" panose="020B0604020202020204" pitchFamily="34" charset="0"/>
              <a:cs typeface="Arial" panose="020B0604020202020204" pitchFamily="34" charset="0"/>
            </a:endParaRPr>
          </a:p>
          <a:p>
            <a:pPr algn="l">
              <a:lnSpc>
                <a:spcPct val="120000"/>
              </a:lnSpc>
              <a:spcBef>
                <a:spcPts val="0"/>
              </a:spcBef>
              <a:spcAft>
                <a:spcPts val="0"/>
              </a:spcAft>
            </a:pPr>
            <a:endParaRPr lang="en-GB" sz="2800" dirty="0">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spTree>
    <p:extLst>
      <p:ext uri="{BB962C8B-B14F-4D97-AF65-F5344CB8AC3E}">
        <p14:creationId xmlns:p14="http://schemas.microsoft.com/office/powerpoint/2010/main" val="368409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393897" y="389657"/>
            <a:ext cx="11211373" cy="738199"/>
          </a:xfrm>
        </p:spPr>
        <p:txBody>
          <a:bodyPr anchor="b">
            <a:noAutofit/>
          </a:bodyPr>
          <a:lstStyle/>
          <a:p>
            <a:pPr algn="l"/>
            <a:r>
              <a:rPr lang="en-GB" sz="3600" b="1" i="0" dirty="0">
                <a:solidFill>
                  <a:srgbClr val="FFFF00"/>
                </a:solidFill>
                <a:effectLst/>
                <a:latin typeface="Arial"/>
                <a:cs typeface="Arial"/>
              </a:rPr>
              <a:t>Levels of Structural Organization</a:t>
            </a:r>
            <a:endParaRPr lang="en-GB" sz="3600" b="1" i="0" dirty="0">
              <a:ln>
                <a:solidFill>
                  <a:srgbClr val="000000">
                    <a:lumMod val="75000"/>
                    <a:lumOff val="25000"/>
                    <a:alpha val="10000"/>
                  </a:srgbClr>
                </a:solidFill>
              </a:ln>
              <a:solidFill>
                <a:srgbClr val="FFFF00"/>
              </a:solidFill>
              <a:effectLst/>
              <a:latin typeface="Arial"/>
              <a:cs typeface="Arial"/>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pic>
        <p:nvPicPr>
          <p:cNvPr id="8" name="Picture 7">
            <a:extLst>
              <a:ext uri="{FF2B5EF4-FFF2-40B4-BE49-F238E27FC236}">
                <a16:creationId xmlns:a16="http://schemas.microsoft.com/office/drawing/2014/main" id="{A08FBE91-AF09-8005-D77A-10AD0B52E0CB}"/>
              </a:ext>
            </a:extLst>
          </p:cNvPr>
          <p:cNvPicPr>
            <a:picLocks noChangeAspect="1"/>
          </p:cNvPicPr>
          <p:nvPr/>
        </p:nvPicPr>
        <p:blipFill>
          <a:blip r:embed="rId4"/>
          <a:stretch>
            <a:fillRect/>
          </a:stretch>
        </p:blipFill>
        <p:spPr>
          <a:xfrm>
            <a:off x="586730" y="996113"/>
            <a:ext cx="6822015" cy="5566130"/>
          </a:xfrm>
          <a:prstGeom prst="rect">
            <a:avLst/>
          </a:prstGeom>
        </p:spPr>
      </p:pic>
    </p:spTree>
    <p:extLst>
      <p:ext uri="{BB962C8B-B14F-4D97-AF65-F5344CB8AC3E}">
        <p14:creationId xmlns:p14="http://schemas.microsoft.com/office/powerpoint/2010/main" val="565197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248754" y="260778"/>
            <a:ext cx="11211373" cy="1113151"/>
          </a:xfrm>
        </p:spPr>
        <p:txBody>
          <a:bodyPr anchor="b">
            <a:noAutofit/>
          </a:bodyPr>
          <a:lstStyle/>
          <a:p>
            <a:pPr algn="l"/>
            <a:r>
              <a:rPr lang="en-GB" sz="3600" b="1" i="0" dirty="0">
                <a:solidFill>
                  <a:srgbClr val="FFFF00"/>
                </a:solidFill>
                <a:effectLst/>
                <a:latin typeface="Arial"/>
                <a:cs typeface="Arial"/>
              </a:rPr>
              <a:t>Why Study Anatomy?</a:t>
            </a:r>
            <a:endParaRPr lang="en-GB" sz="3600" b="1" i="0" dirty="0">
              <a:ln>
                <a:solidFill>
                  <a:srgbClr val="000000">
                    <a:lumMod val="75000"/>
                    <a:lumOff val="25000"/>
                    <a:alpha val="10000"/>
                  </a:srgbClr>
                </a:solidFill>
              </a:ln>
              <a:solidFill>
                <a:srgbClr val="FFFF00"/>
              </a:solidFill>
              <a:effectLst/>
              <a:latin typeface="Arial"/>
              <a:cs typeface="Arial"/>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348792" y="1791093"/>
            <a:ext cx="11331017" cy="4336330"/>
          </a:xfrm>
        </p:spPr>
        <p:txBody>
          <a:bodyPr>
            <a:normAutofit/>
          </a:bodyPr>
          <a:lstStyle/>
          <a:p>
            <a:pPr algn="l"/>
            <a:r>
              <a:rPr lang="en-GB" sz="2800" dirty="0">
                <a:effectLst/>
                <a:latin typeface="Arial"/>
                <a:cs typeface="Arial"/>
              </a:rPr>
              <a:t>Understanding Human Structure:</a:t>
            </a:r>
          </a:p>
          <a:p>
            <a:pPr marL="342900" indent="-342900" algn="l">
              <a:buFont typeface="Arial" panose="020B0604020202020204" pitchFamily="34" charset="0"/>
              <a:buChar char="•"/>
            </a:pPr>
            <a:r>
              <a:rPr lang="en-GB" dirty="0">
                <a:effectLst/>
                <a:latin typeface="Arial"/>
                <a:cs typeface="Arial"/>
              </a:rPr>
              <a:t>Foundational knowledge for medical practice (physiotherapy).</a:t>
            </a:r>
          </a:p>
          <a:p>
            <a:pPr marL="342900" indent="-342900" algn="l">
              <a:buFont typeface="Arial" panose="020B0604020202020204" pitchFamily="34" charset="0"/>
              <a:buChar char="•"/>
            </a:pPr>
            <a:r>
              <a:rPr lang="en-GB" dirty="0">
                <a:effectLst/>
                <a:latin typeface="Arial"/>
                <a:cs typeface="Arial"/>
              </a:rPr>
              <a:t>Basis for understanding physiology and disease.</a:t>
            </a:r>
          </a:p>
          <a:p>
            <a:pPr marL="342900" indent="-342900" algn="l">
              <a:buFont typeface="Arial" panose="020B0604020202020204" pitchFamily="34" charset="0"/>
              <a:buChar char="•"/>
            </a:pPr>
            <a:r>
              <a:rPr lang="en-GB" dirty="0">
                <a:effectLst/>
                <a:latin typeface="Arial"/>
                <a:cs typeface="Arial"/>
              </a:rPr>
              <a:t>Helps in effective clinical reasoning, diagnosis and treatment planning.</a:t>
            </a:r>
          </a:p>
          <a:p>
            <a:pPr marL="342900" indent="-342900" algn="l">
              <a:buFont typeface="Arial" panose="020B0604020202020204" pitchFamily="34" charset="0"/>
              <a:buChar char="•"/>
            </a:pPr>
            <a:r>
              <a:rPr lang="en-GB" sz="2600" dirty="0">
                <a:latin typeface="Arial"/>
              </a:rPr>
              <a:t>Clinical Application: Essential in fields such as surgery, radiology, and physical therapy.</a:t>
            </a:r>
          </a:p>
          <a:p>
            <a:pPr marL="342900" indent="-342900" algn="l">
              <a:buFont typeface="Arial" panose="020B0604020202020204" pitchFamily="34" charset="0"/>
              <a:buChar char="•"/>
            </a:pPr>
            <a:r>
              <a:rPr lang="en-GB" sz="2600" dirty="0">
                <a:latin typeface="Arial"/>
              </a:rPr>
              <a:t>Case Example: Knowledge of the musculoskeletal system is crucial for treating fractures and dislocations</a:t>
            </a:r>
            <a:r>
              <a:rPr lang="en-GB" sz="2800" dirty="0">
                <a:solidFill>
                  <a:schemeClr val="accent3">
                    <a:lumMod val="60000"/>
                    <a:lumOff val="40000"/>
                  </a:schemeClr>
                </a:solidFill>
                <a:latin typeface="Arial"/>
              </a:rPr>
              <a:t>.</a:t>
            </a: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spTree>
    <p:extLst>
      <p:ext uri="{BB962C8B-B14F-4D97-AF65-F5344CB8AC3E}">
        <p14:creationId xmlns:p14="http://schemas.microsoft.com/office/powerpoint/2010/main" val="3254700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248754" y="260778"/>
            <a:ext cx="11211373" cy="1113151"/>
          </a:xfrm>
        </p:spPr>
        <p:txBody>
          <a:bodyPr anchor="b">
            <a:noAutofit/>
          </a:bodyPr>
          <a:lstStyle/>
          <a:p>
            <a:pPr algn="l"/>
            <a:r>
              <a:rPr lang="en-GB" sz="3600" b="1" i="0" dirty="0">
                <a:solidFill>
                  <a:srgbClr val="FFFF00"/>
                </a:solidFill>
                <a:effectLst/>
                <a:latin typeface="Arial"/>
                <a:cs typeface="Arial"/>
              </a:rPr>
              <a:t>Let’s Start at the Very Beginning?</a:t>
            </a:r>
            <a:endParaRPr lang="en-GB" sz="3600" b="1" i="0" dirty="0">
              <a:ln>
                <a:solidFill>
                  <a:srgbClr val="000000">
                    <a:lumMod val="75000"/>
                    <a:lumOff val="25000"/>
                    <a:alpha val="10000"/>
                  </a:srgbClr>
                </a:solidFill>
              </a:ln>
              <a:solidFill>
                <a:srgbClr val="FFFF00"/>
              </a:solidFill>
              <a:effectLst/>
              <a:latin typeface="Arial"/>
              <a:cs typeface="Arial"/>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248754" y="1659118"/>
            <a:ext cx="11054787" cy="4619134"/>
          </a:xfrm>
        </p:spPr>
        <p:txBody>
          <a:bodyPr>
            <a:normAutofit/>
          </a:bodyPr>
          <a:lstStyle/>
          <a:p>
            <a:pPr algn="l"/>
            <a:r>
              <a:rPr lang="en-GB" dirty="0">
                <a:solidFill>
                  <a:schemeClr val="accent3">
                    <a:lumMod val="60000"/>
                    <a:lumOff val="40000"/>
                  </a:schemeClr>
                </a:solidFill>
                <a:latin typeface="Arial"/>
              </a:rPr>
              <a:t>Anatomical Positions and Planes:</a:t>
            </a:r>
          </a:p>
          <a:p>
            <a:pPr marL="342900" indent="-342900" algn="l">
              <a:buFont typeface="Arial" panose="020B0604020202020204" pitchFamily="34" charset="0"/>
              <a:buChar char="•"/>
            </a:pPr>
            <a:r>
              <a:rPr lang="en-GB" dirty="0">
                <a:latin typeface="Arial"/>
              </a:rPr>
              <a:t>Anatomical Position: </a:t>
            </a:r>
          </a:p>
          <a:p>
            <a:pPr marL="800100" lvl="1" indent="-342900" algn="l">
              <a:buFont typeface="Arial" panose="020B0604020202020204" pitchFamily="34" charset="0"/>
              <a:buChar char="•"/>
            </a:pPr>
            <a:r>
              <a:rPr lang="en-GB" dirty="0">
                <a:latin typeface="Arial"/>
              </a:rPr>
              <a:t>Standing upright, arms at sides, palms facing forward, </a:t>
            </a:r>
          </a:p>
          <a:p>
            <a:pPr lvl="1" algn="l"/>
            <a:r>
              <a:rPr lang="en-GB" dirty="0">
                <a:latin typeface="Arial"/>
              </a:rPr>
              <a:t>feet slightly apart.</a:t>
            </a:r>
          </a:p>
          <a:p>
            <a:pPr marL="342900" indent="-342900" algn="l">
              <a:buFont typeface="Arial" panose="020B0604020202020204" pitchFamily="34" charset="0"/>
              <a:buChar char="•"/>
            </a:pPr>
            <a:r>
              <a:rPr lang="en-GB" dirty="0">
                <a:latin typeface="Arial"/>
              </a:rPr>
              <a:t>Body Planes:</a:t>
            </a:r>
          </a:p>
          <a:p>
            <a:pPr marL="800100" lvl="1" indent="-342900" algn="l">
              <a:buFont typeface="Arial" panose="020B0604020202020204" pitchFamily="34" charset="0"/>
              <a:buChar char="•"/>
            </a:pPr>
            <a:r>
              <a:rPr lang="en-GB" dirty="0">
                <a:latin typeface="Arial"/>
              </a:rPr>
              <a:t>Sagittal Plane: Divides the body into right and left parts.</a:t>
            </a:r>
          </a:p>
          <a:p>
            <a:pPr marL="800100" lvl="1" indent="-342900" algn="l">
              <a:buFont typeface="Arial" panose="020B0604020202020204" pitchFamily="34" charset="0"/>
              <a:buChar char="•"/>
            </a:pPr>
            <a:r>
              <a:rPr lang="en-GB" dirty="0">
                <a:latin typeface="Arial"/>
              </a:rPr>
              <a:t>Coronal (Frontal) Plane: Divides the body into anterior (front) and posterior (back) parts.</a:t>
            </a:r>
          </a:p>
          <a:p>
            <a:pPr marL="800100" lvl="1" indent="-342900" algn="l">
              <a:buFont typeface="Arial" panose="020B0604020202020204" pitchFamily="34" charset="0"/>
              <a:buChar char="•"/>
            </a:pPr>
            <a:r>
              <a:rPr lang="en-GB" dirty="0">
                <a:latin typeface="Arial"/>
              </a:rPr>
              <a:t>Transverse Plane: Divides the body into superior (upper) and inferior (lower) parts.</a:t>
            </a:r>
          </a:p>
          <a:p>
            <a:pPr lvl="1" algn="l"/>
            <a:r>
              <a:rPr lang="en-GB" i="1" dirty="0">
                <a:latin typeface="Arial"/>
              </a:rPr>
              <a:t>(Sagittal and Coronal run vertically to, and transverse runs parallel to the ground)</a:t>
            </a: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pic>
        <p:nvPicPr>
          <p:cNvPr id="2" name="Picture 1">
            <a:extLst>
              <a:ext uri="{FF2B5EF4-FFF2-40B4-BE49-F238E27FC236}">
                <a16:creationId xmlns:a16="http://schemas.microsoft.com/office/drawing/2014/main" id="{6F9ECCBA-A8A0-6101-ADEE-01CF7A781019}"/>
              </a:ext>
            </a:extLst>
          </p:cNvPr>
          <p:cNvPicPr>
            <a:picLocks noChangeAspect="1"/>
          </p:cNvPicPr>
          <p:nvPr/>
        </p:nvPicPr>
        <p:blipFill>
          <a:blip r:embed="rId4"/>
          <a:stretch>
            <a:fillRect/>
          </a:stretch>
        </p:blipFill>
        <p:spPr>
          <a:xfrm>
            <a:off x="7904747" y="198257"/>
            <a:ext cx="3922734" cy="3657967"/>
          </a:xfrm>
          <a:prstGeom prst="rect">
            <a:avLst/>
          </a:prstGeom>
        </p:spPr>
      </p:pic>
    </p:spTree>
    <p:extLst>
      <p:ext uri="{BB962C8B-B14F-4D97-AF65-F5344CB8AC3E}">
        <p14:creationId xmlns:p14="http://schemas.microsoft.com/office/powerpoint/2010/main" val="1358357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F2793A-D1C0-E4B4-1DF5-C24FD07ED29D}"/>
              </a:ext>
            </a:extLst>
          </p:cNvPr>
          <p:cNvPicPr>
            <a:picLocks noChangeAspect="1"/>
          </p:cNvPicPr>
          <p:nvPr/>
        </p:nvPicPr>
        <p:blipFill>
          <a:blip r:embed="rId3"/>
          <a:stretch>
            <a:fillRect/>
          </a:stretch>
        </p:blipFill>
        <p:spPr>
          <a:xfrm>
            <a:off x="5447576" y="693180"/>
            <a:ext cx="6086651" cy="5113421"/>
          </a:xfrm>
          <a:prstGeom prst="rect">
            <a:avLst/>
          </a:prstGeom>
        </p:spPr>
      </p:pic>
      <p:sp>
        <p:nvSpPr>
          <p:cNvPr id="2" name="TextBox 1">
            <a:extLst>
              <a:ext uri="{FF2B5EF4-FFF2-40B4-BE49-F238E27FC236}">
                <a16:creationId xmlns:a16="http://schemas.microsoft.com/office/drawing/2014/main" id="{00BC707F-E24B-ACC8-066A-1D3CEC50D681}"/>
              </a:ext>
            </a:extLst>
          </p:cNvPr>
          <p:cNvSpPr txBox="1"/>
          <p:nvPr/>
        </p:nvSpPr>
        <p:spPr>
          <a:xfrm>
            <a:off x="329937" y="1187777"/>
            <a:ext cx="4741683" cy="4801314"/>
          </a:xfrm>
          <a:prstGeom prst="rect">
            <a:avLst/>
          </a:prstGeom>
          <a:noFill/>
        </p:spPr>
        <p:txBody>
          <a:bodyPr wrap="square" rtlCol="0">
            <a:spAutoFit/>
          </a:bodyPr>
          <a:lstStyle/>
          <a:p>
            <a:r>
              <a:rPr lang="en-GB" dirty="0"/>
              <a:t>Cardinal Axes:</a:t>
            </a:r>
          </a:p>
          <a:p>
            <a:r>
              <a:rPr lang="en-GB" dirty="0"/>
              <a:t>(Imaginary lines that help us think about the body in 3-D)</a:t>
            </a:r>
          </a:p>
          <a:p>
            <a:endParaRPr lang="en-GB" dirty="0"/>
          </a:p>
          <a:p>
            <a:r>
              <a:rPr lang="en-GB" i="1" u="sng" dirty="0"/>
              <a:t>Useful for describing movements of the body</a:t>
            </a:r>
            <a:endParaRPr lang="en-GB" dirty="0"/>
          </a:p>
          <a:p>
            <a:pPr marL="285750" indent="-285750">
              <a:buFont typeface="Arial" panose="020B0604020202020204" pitchFamily="34" charset="0"/>
              <a:buChar char="•"/>
            </a:pPr>
            <a:r>
              <a:rPr lang="en-GB" dirty="0"/>
              <a:t>Horizontal (x-axis): points Medial-lateral e.g. Flexion/Extension of hinge joints (elbow and knee)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Longitudinal (y-axis): points Superior–inferior e.g. Movement of pivot joints AA joints, medial and lateral rotation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Sagittal (z-axis): Points Anterior-Posterior e.g. Abduction/ Adduction of ball and socket joints (hip/shoulder)</a:t>
            </a:r>
          </a:p>
          <a:p>
            <a:endParaRPr lang="en-GB" u="sng" dirty="0"/>
          </a:p>
        </p:txBody>
      </p:sp>
      <p:sp>
        <p:nvSpPr>
          <p:cNvPr id="3" name="TextBox 2">
            <a:extLst>
              <a:ext uri="{FF2B5EF4-FFF2-40B4-BE49-F238E27FC236}">
                <a16:creationId xmlns:a16="http://schemas.microsoft.com/office/drawing/2014/main" id="{5C343773-1498-580E-F2A7-6DD57D40FD1B}"/>
              </a:ext>
            </a:extLst>
          </p:cNvPr>
          <p:cNvSpPr txBox="1"/>
          <p:nvPr/>
        </p:nvSpPr>
        <p:spPr>
          <a:xfrm>
            <a:off x="5646656" y="5948313"/>
            <a:ext cx="5712643" cy="369332"/>
          </a:xfrm>
          <a:prstGeom prst="rect">
            <a:avLst/>
          </a:prstGeom>
          <a:noFill/>
        </p:spPr>
        <p:txBody>
          <a:bodyPr wrap="square" rtlCol="0">
            <a:spAutoFit/>
          </a:bodyPr>
          <a:lstStyle/>
          <a:p>
            <a:r>
              <a:rPr lang="en-GB" i="1" dirty="0"/>
              <a:t>The arrows in this diagram represent the axes.</a:t>
            </a:r>
          </a:p>
        </p:txBody>
      </p:sp>
    </p:spTree>
    <p:extLst>
      <p:ext uri="{BB962C8B-B14F-4D97-AF65-F5344CB8AC3E}">
        <p14:creationId xmlns:p14="http://schemas.microsoft.com/office/powerpoint/2010/main" val="782107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302469" y="278698"/>
            <a:ext cx="11211373" cy="738199"/>
          </a:xfrm>
        </p:spPr>
        <p:txBody>
          <a:bodyPr anchor="b">
            <a:noAutofit/>
          </a:bodyPr>
          <a:lstStyle/>
          <a:p>
            <a:pPr algn="l"/>
            <a:r>
              <a:rPr lang="en-GB" sz="4000" b="1" i="0" dirty="0">
                <a:solidFill>
                  <a:srgbClr val="FFFF00"/>
                </a:solidFill>
                <a:effectLst/>
                <a:latin typeface="Arial"/>
                <a:cs typeface="Arial"/>
              </a:rPr>
              <a:t> Anatomical Terminologies</a:t>
            </a:r>
            <a:endParaRPr lang="en-US" b="1" dirty="0">
              <a:ln>
                <a:solidFill>
                  <a:srgbClr val="000000">
                    <a:lumMod val="75000"/>
                    <a:lumOff val="25000"/>
                    <a:alpha val="10000"/>
                  </a:srgbClr>
                </a:solidFill>
              </a:ln>
              <a:effectLst>
                <a:outerShdw blurRad="9525" dist="25400" dir="14640000" algn="tl" rotWithShape="0">
                  <a:srgbClr val="000000">
                    <a:alpha val="30000"/>
                  </a:srgbClr>
                </a:outerShdw>
              </a:effectLst>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523995" y="1299198"/>
            <a:ext cx="10259591" cy="4836786"/>
          </a:xfrm>
        </p:spPr>
        <p:txBody>
          <a:bodyPr>
            <a:normAutofit fontScale="92500" lnSpcReduction="20000"/>
          </a:bodyPr>
          <a:lstStyle/>
          <a:p>
            <a:pPr algn="l"/>
            <a:r>
              <a:rPr lang="en-GB" sz="2800" dirty="0">
                <a:effectLst/>
                <a:latin typeface="Arial"/>
                <a:cs typeface="Arial"/>
              </a:rPr>
              <a:t>Directional Terms:</a:t>
            </a:r>
          </a:p>
          <a:p>
            <a:pPr marL="457200" indent="-457200" algn="l">
              <a:buFont typeface="Arial" panose="020B0604020202020204" pitchFamily="34" charset="0"/>
              <a:buChar char="•"/>
            </a:pPr>
            <a:r>
              <a:rPr lang="en-GB" sz="2800" dirty="0">
                <a:effectLst/>
                <a:latin typeface="Arial"/>
                <a:cs typeface="Arial"/>
              </a:rPr>
              <a:t>Superior (Cranial): Toward the head.</a:t>
            </a:r>
          </a:p>
          <a:p>
            <a:pPr marL="457200" indent="-457200" algn="l">
              <a:buFont typeface="Arial" panose="020B0604020202020204" pitchFamily="34" charset="0"/>
              <a:buChar char="•"/>
            </a:pPr>
            <a:r>
              <a:rPr lang="en-GB" sz="2800" dirty="0">
                <a:effectLst/>
                <a:latin typeface="Arial"/>
                <a:cs typeface="Arial"/>
              </a:rPr>
              <a:t>Inferior (Caudal): Away from the head.</a:t>
            </a:r>
          </a:p>
          <a:p>
            <a:pPr marL="457200" indent="-457200" algn="l">
              <a:buFont typeface="Arial" panose="020B0604020202020204" pitchFamily="34" charset="0"/>
              <a:buChar char="•"/>
            </a:pPr>
            <a:r>
              <a:rPr lang="en-GB" sz="2800" dirty="0">
                <a:effectLst/>
                <a:latin typeface="Arial"/>
                <a:cs typeface="Arial"/>
              </a:rPr>
              <a:t>Anterior (Ventral): Front of the body.</a:t>
            </a:r>
          </a:p>
          <a:p>
            <a:pPr marL="457200" indent="-457200" algn="l">
              <a:buFont typeface="Arial" panose="020B0604020202020204" pitchFamily="34" charset="0"/>
              <a:buChar char="•"/>
            </a:pPr>
            <a:r>
              <a:rPr lang="en-GB" sz="2800" dirty="0">
                <a:effectLst/>
                <a:latin typeface="Arial"/>
                <a:cs typeface="Arial"/>
              </a:rPr>
              <a:t>Posterior (Dorsal): Back of the body.</a:t>
            </a:r>
          </a:p>
          <a:p>
            <a:pPr marL="457200" indent="-457200" algn="l">
              <a:buFont typeface="Arial" panose="020B0604020202020204" pitchFamily="34" charset="0"/>
              <a:buChar char="•"/>
            </a:pPr>
            <a:r>
              <a:rPr lang="en-GB" sz="2800" dirty="0">
                <a:effectLst/>
                <a:latin typeface="Arial"/>
                <a:cs typeface="Arial"/>
              </a:rPr>
              <a:t>Medial: Toward the midline.</a:t>
            </a:r>
          </a:p>
          <a:p>
            <a:pPr marL="457200" indent="-457200" algn="l">
              <a:buFont typeface="Arial" panose="020B0604020202020204" pitchFamily="34" charset="0"/>
              <a:buChar char="•"/>
            </a:pPr>
            <a:r>
              <a:rPr lang="en-GB" sz="2800" dirty="0">
                <a:effectLst/>
                <a:latin typeface="Arial"/>
                <a:cs typeface="Arial"/>
              </a:rPr>
              <a:t>Lateral: Away from the midline.</a:t>
            </a:r>
          </a:p>
          <a:p>
            <a:pPr marL="457200" indent="-457200" algn="l">
              <a:buFont typeface="Arial" panose="020B0604020202020204" pitchFamily="34" charset="0"/>
              <a:buChar char="•"/>
            </a:pPr>
            <a:r>
              <a:rPr lang="en-GB" sz="2800" dirty="0">
                <a:effectLst/>
                <a:latin typeface="Arial"/>
                <a:cs typeface="Arial"/>
              </a:rPr>
              <a:t>Proximal: Closer to the origin of the body part.</a:t>
            </a:r>
          </a:p>
          <a:p>
            <a:pPr marL="457200" indent="-457200" algn="l">
              <a:buFont typeface="Arial" panose="020B0604020202020204" pitchFamily="34" charset="0"/>
              <a:buChar char="•"/>
            </a:pPr>
            <a:r>
              <a:rPr lang="en-GB" sz="2800" dirty="0">
                <a:effectLst/>
                <a:latin typeface="Arial"/>
                <a:cs typeface="Arial"/>
              </a:rPr>
              <a:t>Distal: Farther from the origin of the body part.</a:t>
            </a:r>
            <a:endParaRPr lang="en-GB" sz="28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pic>
        <p:nvPicPr>
          <p:cNvPr id="2" name="Picture 1">
            <a:extLst>
              <a:ext uri="{FF2B5EF4-FFF2-40B4-BE49-F238E27FC236}">
                <a16:creationId xmlns:a16="http://schemas.microsoft.com/office/drawing/2014/main" id="{877813C0-2881-9180-E3A3-828BF73057F6}"/>
              </a:ext>
            </a:extLst>
          </p:cNvPr>
          <p:cNvPicPr>
            <a:picLocks noChangeAspect="1"/>
          </p:cNvPicPr>
          <p:nvPr/>
        </p:nvPicPr>
        <p:blipFill>
          <a:blip r:embed="rId4"/>
          <a:stretch>
            <a:fillRect/>
          </a:stretch>
        </p:blipFill>
        <p:spPr>
          <a:xfrm>
            <a:off x="6969959" y="647797"/>
            <a:ext cx="4919572" cy="3763719"/>
          </a:xfrm>
          <a:prstGeom prst="rect">
            <a:avLst/>
          </a:prstGeom>
        </p:spPr>
      </p:pic>
    </p:spTree>
    <p:extLst>
      <p:ext uri="{BB962C8B-B14F-4D97-AF65-F5344CB8AC3E}">
        <p14:creationId xmlns:p14="http://schemas.microsoft.com/office/powerpoint/2010/main" val="2348754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302469" y="278698"/>
            <a:ext cx="11211373" cy="738199"/>
          </a:xfrm>
        </p:spPr>
        <p:txBody>
          <a:bodyPr anchor="b">
            <a:noAutofit/>
          </a:bodyPr>
          <a:lstStyle/>
          <a:p>
            <a:pPr algn="l"/>
            <a:r>
              <a:rPr lang="en-GB" sz="4000" b="1" i="0" dirty="0">
                <a:solidFill>
                  <a:srgbClr val="FFFF00"/>
                </a:solidFill>
                <a:effectLst/>
                <a:latin typeface="Arial"/>
                <a:cs typeface="Arial"/>
              </a:rPr>
              <a:t>A little Quizlet</a:t>
            </a:r>
            <a:endParaRPr lang="en-US" b="1" dirty="0">
              <a:ln>
                <a:solidFill>
                  <a:srgbClr val="000000">
                    <a:lumMod val="75000"/>
                    <a:lumOff val="25000"/>
                    <a:alpha val="10000"/>
                  </a:srgbClr>
                </a:solidFill>
              </a:ln>
              <a:effectLst>
                <a:outerShdw blurRad="9525" dist="25400" dir="14640000" algn="tl" rotWithShape="0">
                  <a:srgbClr val="000000">
                    <a:alpha val="30000"/>
                  </a:srgbClr>
                </a:outerShdw>
              </a:effectLst>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523995" y="1299198"/>
            <a:ext cx="10259591" cy="4836786"/>
          </a:xfrm>
        </p:spPr>
        <p:txBody>
          <a:bodyPr>
            <a:normAutofit/>
          </a:bodyPr>
          <a:lstStyle/>
          <a:p>
            <a:pPr marL="342900" indent="-342900" algn="l">
              <a:spcAft>
                <a:spcPts val="600"/>
              </a:spcAft>
              <a:buFont typeface="Arial" panose="020B0604020202020204" pitchFamily="34" charset="0"/>
              <a:buChar char="•"/>
            </a:pPr>
            <a:endParaRPr lang="en-GB" sz="2000" dirty="0">
              <a:effectLst/>
              <a:latin typeface="Arial" panose="020B0604020202020204" pitchFamily="34" charset="0"/>
              <a:cs typeface="Arial" panose="020B0604020202020204" pitchFamily="34" charset="0"/>
            </a:endParaRPr>
          </a:p>
          <a:p>
            <a:pPr marL="457200" indent="-457200" algn="l">
              <a:buFont typeface="Arial" panose="020B0604020202020204" pitchFamily="34" charset="0"/>
              <a:buChar char="•"/>
            </a:pPr>
            <a:r>
              <a:rPr lang="en-GB" sz="2800" dirty="0">
                <a:effectLst/>
                <a:latin typeface="Arial"/>
                <a:cs typeface="Arial"/>
              </a:rPr>
              <a:t>Name the joints your upper limb and lower limb.</a:t>
            </a:r>
            <a:endParaRPr lang="en-GB" sz="28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a:p>
            <a:pPr marL="457200" indent="-457200" algn="l">
              <a:buFont typeface="Arial" panose="020B0604020202020204" pitchFamily="34" charset="0"/>
              <a:buChar char="•"/>
            </a:pPr>
            <a:r>
              <a:rPr lang="en-GB" sz="2800" dirty="0">
                <a:ln>
                  <a:solidFill>
                    <a:srgbClr val="000000">
                      <a:lumMod val="75000"/>
                      <a:lumOff val="25000"/>
                      <a:alpha val="10000"/>
                    </a:srgbClr>
                  </a:solidFill>
                </a:ln>
                <a:effectLst/>
                <a:latin typeface="Arial"/>
                <a:cs typeface="Arial"/>
              </a:rPr>
              <a:t>Explain the relationship of each joint to the other joints in the same limb:</a:t>
            </a:r>
            <a:endParaRPr lang="en-GB" sz="28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a:p>
            <a:pPr marL="457200" indent="-457200" algn="l">
              <a:buFont typeface="Arial" panose="020B0604020202020204" pitchFamily="34" charset="0"/>
              <a:buChar char="•"/>
            </a:pPr>
            <a:endParaRPr lang="en-GB" sz="28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spTree>
    <p:extLst>
      <p:ext uri="{BB962C8B-B14F-4D97-AF65-F5344CB8AC3E}">
        <p14:creationId xmlns:p14="http://schemas.microsoft.com/office/powerpoint/2010/main" val="3143601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302469" y="278698"/>
            <a:ext cx="11211373" cy="738199"/>
          </a:xfrm>
        </p:spPr>
        <p:txBody>
          <a:bodyPr anchor="b">
            <a:noAutofit/>
          </a:bodyPr>
          <a:lstStyle/>
          <a:p>
            <a:pPr algn="l"/>
            <a:r>
              <a:rPr lang="en-GB" sz="4000" b="1" i="0" dirty="0">
                <a:solidFill>
                  <a:srgbClr val="FFFF00"/>
                </a:solidFill>
                <a:effectLst/>
                <a:latin typeface="Arial"/>
                <a:cs typeface="Arial"/>
              </a:rPr>
              <a:t>Regional Terminologies</a:t>
            </a:r>
            <a:endParaRPr lang="en-GB" sz="4000" b="1" i="0" dirty="0">
              <a:ln>
                <a:solidFill>
                  <a:srgbClr val="000000">
                    <a:lumMod val="75000"/>
                    <a:lumOff val="25000"/>
                    <a:alpha val="10000"/>
                  </a:srgbClr>
                </a:solidFill>
              </a:ln>
              <a:solidFill>
                <a:srgbClr val="FFFF00"/>
              </a:solidFill>
              <a:effectLst/>
              <a:latin typeface="Arial"/>
              <a:cs typeface="Arial"/>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302469" y="1432874"/>
            <a:ext cx="10849440" cy="4147794"/>
          </a:xfrm>
        </p:spPr>
        <p:txBody>
          <a:bodyPr>
            <a:normAutofit lnSpcReduction="10000"/>
          </a:bodyPr>
          <a:lstStyle/>
          <a:p>
            <a:pPr algn="l">
              <a:spcAft>
                <a:spcPts val="600"/>
              </a:spcAft>
            </a:pPr>
            <a:r>
              <a:rPr lang="en-GB" b="0" i="0" dirty="0">
                <a:solidFill>
                  <a:srgbClr val="495354"/>
                </a:solidFill>
                <a:effectLst/>
                <a:highlight>
                  <a:srgbClr val="FFFFFF"/>
                </a:highlight>
                <a:latin typeface="PlutoSansLight"/>
              </a:rPr>
              <a:t>organizes the body into several body parts or regions:</a:t>
            </a:r>
          </a:p>
          <a:p>
            <a:pPr algn="l">
              <a:spcAft>
                <a:spcPts val="600"/>
              </a:spcAft>
            </a:pPr>
            <a:r>
              <a:rPr lang="en-GB" dirty="0">
                <a:effectLst/>
                <a:latin typeface="Arial" panose="020B0604020202020204" pitchFamily="34" charset="0"/>
                <a:cs typeface="Arial" panose="020B0604020202020204" pitchFamily="34" charset="0"/>
              </a:rPr>
              <a:t>Body Regions:</a:t>
            </a:r>
          </a:p>
          <a:p>
            <a:pPr marL="342900" indent="-342900" algn="l">
              <a:spcAft>
                <a:spcPts val="600"/>
              </a:spcAft>
              <a:buFont typeface="Arial" panose="020B0604020202020204" pitchFamily="34" charset="0"/>
              <a:buChar char="•"/>
            </a:pPr>
            <a:r>
              <a:rPr lang="en-GB" dirty="0">
                <a:effectLst/>
                <a:latin typeface="Arial" panose="020B0604020202020204" pitchFamily="34" charset="0"/>
                <a:cs typeface="Arial" panose="020B0604020202020204" pitchFamily="34" charset="0"/>
              </a:rPr>
              <a:t>Cephalic (Head)</a:t>
            </a:r>
          </a:p>
          <a:p>
            <a:pPr marL="342900" indent="-342900" algn="l">
              <a:spcAft>
                <a:spcPts val="600"/>
              </a:spcAft>
              <a:buFont typeface="Arial" panose="020B0604020202020204" pitchFamily="34" charset="0"/>
              <a:buChar char="•"/>
            </a:pPr>
            <a:r>
              <a:rPr lang="en-GB" dirty="0">
                <a:effectLst/>
                <a:latin typeface="Arial" panose="020B0604020202020204" pitchFamily="34" charset="0"/>
                <a:cs typeface="Arial" panose="020B0604020202020204" pitchFamily="34" charset="0"/>
              </a:rPr>
              <a:t>Thoracic (Chest)</a:t>
            </a:r>
          </a:p>
          <a:p>
            <a:pPr marL="342900" indent="-342900" algn="l">
              <a:spcAft>
                <a:spcPts val="600"/>
              </a:spcAft>
              <a:buFont typeface="Arial" panose="020B0604020202020204" pitchFamily="34" charset="0"/>
              <a:buChar char="•"/>
            </a:pPr>
            <a:r>
              <a:rPr lang="en-GB" dirty="0">
                <a:effectLst/>
                <a:latin typeface="Arial" panose="020B0604020202020204" pitchFamily="34" charset="0"/>
                <a:cs typeface="Arial" panose="020B0604020202020204" pitchFamily="34" charset="0"/>
              </a:rPr>
              <a:t>Abdominal (Belly)</a:t>
            </a:r>
          </a:p>
          <a:p>
            <a:pPr marL="342900" indent="-342900" algn="l">
              <a:spcAft>
                <a:spcPts val="600"/>
              </a:spcAft>
              <a:buFont typeface="Arial" panose="020B0604020202020204" pitchFamily="34" charset="0"/>
              <a:buChar char="•"/>
            </a:pPr>
            <a:r>
              <a:rPr lang="en-GB" dirty="0">
                <a:effectLst/>
                <a:latin typeface="Arial" panose="020B0604020202020204" pitchFamily="34" charset="0"/>
                <a:cs typeface="Arial" panose="020B0604020202020204" pitchFamily="34" charset="0"/>
              </a:rPr>
              <a:t>Pelvic (Hip Area)</a:t>
            </a:r>
          </a:p>
          <a:p>
            <a:pPr marL="342900" indent="-342900" algn="l">
              <a:spcAft>
                <a:spcPts val="600"/>
              </a:spcAft>
              <a:buFont typeface="Arial" panose="020B0604020202020204" pitchFamily="34" charset="0"/>
              <a:buChar char="•"/>
            </a:pPr>
            <a:r>
              <a:rPr lang="en-GB" dirty="0">
                <a:effectLst/>
                <a:latin typeface="Arial" panose="020B0604020202020204" pitchFamily="34" charset="0"/>
                <a:cs typeface="Arial" panose="020B0604020202020204" pitchFamily="34" charset="0"/>
              </a:rPr>
              <a:t>Upper Limb (Arm and Forearm)</a:t>
            </a:r>
          </a:p>
          <a:p>
            <a:pPr marL="342900" indent="-342900" algn="l">
              <a:spcAft>
                <a:spcPts val="600"/>
              </a:spcAft>
              <a:buFont typeface="Arial" panose="020B0604020202020204" pitchFamily="34" charset="0"/>
              <a:buChar char="•"/>
            </a:pPr>
            <a:r>
              <a:rPr lang="en-GB" dirty="0">
                <a:effectLst/>
                <a:latin typeface="Arial" panose="020B0604020202020204" pitchFamily="34" charset="0"/>
                <a:cs typeface="Arial" panose="020B0604020202020204" pitchFamily="34" charset="0"/>
              </a:rPr>
              <a:t>Lower Limb (Thigh and Leg)</a:t>
            </a:r>
            <a:endParaRPr lang="en-GB" sz="3200" dirty="0">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pic>
        <p:nvPicPr>
          <p:cNvPr id="2" name="Picture 1">
            <a:extLst>
              <a:ext uri="{FF2B5EF4-FFF2-40B4-BE49-F238E27FC236}">
                <a16:creationId xmlns:a16="http://schemas.microsoft.com/office/drawing/2014/main" id="{EEF85527-EC63-C0F7-5521-4E74C4BD5472}"/>
              </a:ext>
            </a:extLst>
          </p:cNvPr>
          <p:cNvPicPr>
            <a:picLocks noChangeAspect="1"/>
          </p:cNvPicPr>
          <p:nvPr/>
        </p:nvPicPr>
        <p:blipFill>
          <a:blip r:embed="rId4"/>
          <a:stretch>
            <a:fillRect/>
          </a:stretch>
        </p:blipFill>
        <p:spPr>
          <a:xfrm>
            <a:off x="7797951" y="133464"/>
            <a:ext cx="4281753" cy="3211315"/>
          </a:xfrm>
          <a:prstGeom prst="rect">
            <a:avLst/>
          </a:prstGeom>
        </p:spPr>
      </p:pic>
      <p:pic>
        <p:nvPicPr>
          <p:cNvPr id="3" name="Picture 2">
            <a:extLst>
              <a:ext uri="{FF2B5EF4-FFF2-40B4-BE49-F238E27FC236}">
                <a16:creationId xmlns:a16="http://schemas.microsoft.com/office/drawing/2014/main" id="{E94DD8D7-C026-0CA2-EA05-B187C17A0A58}"/>
              </a:ext>
            </a:extLst>
          </p:cNvPr>
          <p:cNvPicPr>
            <a:picLocks noChangeAspect="1"/>
          </p:cNvPicPr>
          <p:nvPr/>
        </p:nvPicPr>
        <p:blipFill>
          <a:blip r:embed="rId5"/>
          <a:stretch>
            <a:fillRect/>
          </a:stretch>
        </p:blipFill>
        <p:spPr>
          <a:xfrm>
            <a:off x="5113420" y="2907306"/>
            <a:ext cx="4069718" cy="3950694"/>
          </a:xfrm>
          <a:prstGeom prst="rect">
            <a:avLst/>
          </a:prstGeom>
        </p:spPr>
      </p:pic>
    </p:spTree>
    <p:extLst>
      <p:ext uri="{BB962C8B-B14F-4D97-AF65-F5344CB8AC3E}">
        <p14:creationId xmlns:p14="http://schemas.microsoft.com/office/powerpoint/2010/main" val="752491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24F121B-3A28-FB55-F4A5-B2D75C7C6AE5}"/>
              </a:ext>
            </a:extLst>
          </p:cNvPr>
          <p:cNvSpPr/>
          <p:nvPr/>
        </p:nvSpPr>
        <p:spPr>
          <a:xfrm>
            <a:off x="9407951" y="0"/>
            <a:ext cx="2429394" cy="287517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254088" y="280800"/>
            <a:ext cx="11211373" cy="738199"/>
          </a:xfrm>
        </p:spPr>
        <p:txBody>
          <a:bodyPr anchor="b">
            <a:noAutofit/>
          </a:bodyPr>
          <a:lstStyle/>
          <a:p>
            <a:pPr algn="l"/>
            <a:r>
              <a:rPr lang="en-GB" sz="4000" b="1" i="0" dirty="0">
                <a:solidFill>
                  <a:srgbClr val="FFFF00"/>
                </a:solidFill>
                <a:effectLst/>
                <a:latin typeface="Arial"/>
                <a:cs typeface="Arial"/>
              </a:rPr>
              <a:t>Body Cavities and Regions:</a:t>
            </a:r>
            <a:endParaRPr lang="en-GB" sz="4000" b="1" i="0" dirty="0">
              <a:ln>
                <a:solidFill>
                  <a:srgbClr val="000000">
                    <a:lumMod val="75000"/>
                    <a:lumOff val="25000"/>
                    <a:alpha val="10000"/>
                  </a:srgbClr>
                </a:solidFill>
              </a:ln>
              <a:solidFill>
                <a:srgbClr val="FFFF00"/>
              </a:solidFill>
              <a:effectLst/>
              <a:latin typeface="Arial"/>
              <a:cs typeface="Arial"/>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393897" y="1364903"/>
            <a:ext cx="11443448" cy="4941808"/>
          </a:xfrm>
        </p:spPr>
        <p:txBody>
          <a:bodyPr>
            <a:normAutofit/>
          </a:bodyPr>
          <a:lstStyle/>
          <a:p>
            <a:pPr marL="457200" indent="-457200" algn="l">
              <a:buAutoNum type="arabicPeriod"/>
            </a:pPr>
            <a:r>
              <a:rPr lang="en-GB" sz="2000" dirty="0">
                <a:effectLst/>
                <a:latin typeface="Arial"/>
                <a:cs typeface="Arial"/>
              </a:rPr>
              <a:t>Dorsal Cavity: Includes cranial and spinal cavities.</a:t>
            </a:r>
          </a:p>
          <a:p>
            <a:pPr marL="457200" indent="-457200" algn="l">
              <a:buAutoNum type="arabicPeriod"/>
            </a:pPr>
            <a:r>
              <a:rPr lang="en-GB" sz="2000" dirty="0">
                <a:effectLst/>
                <a:latin typeface="Arial"/>
                <a:cs typeface="Arial"/>
              </a:rPr>
              <a:t>Ventral Cavity: Includes thoracic and abdominopelvic cavities.</a:t>
            </a:r>
          </a:p>
          <a:p>
            <a:pPr marL="457200" indent="-457200" algn="l">
              <a:buAutoNum type="arabicPeriod"/>
            </a:pPr>
            <a:endParaRPr lang="en-GB" sz="2000" dirty="0">
              <a:effectLst/>
              <a:latin typeface="Arial"/>
              <a:cs typeface="Arial"/>
            </a:endParaRPr>
          </a:p>
          <a:p>
            <a:pPr algn="l"/>
            <a:r>
              <a:rPr lang="en-GB" sz="2000" dirty="0">
                <a:effectLst/>
                <a:latin typeface="Arial"/>
                <a:cs typeface="Arial"/>
              </a:rPr>
              <a:t>Importance of Body Cavities: Provides space for organs and allows flexibility in movement.</a:t>
            </a:r>
          </a:p>
          <a:p>
            <a:pPr algn="l"/>
            <a:endPar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a:p>
            <a:pPr algn="l"/>
            <a:r>
              <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rPr>
              <a:t>Abdominal Regions (used for clinical purposes):</a:t>
            </a:r>
          </a:p>
          <a:p>
            <a:pPr algn="l"/>
            <a:r>
              <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rPr>
              <a:t>Epigastric, Umbilical, Hypogastric</a:t>
            </a:r>
          </a:p>
          <a:p>
            <a:pPr algn="l"/>
            <a:r>
              <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rPr>
              <a:t>Right and Left Hypochondriac, Lumbar, and Iliac</a:t>
            </a:r>
          </a:p>
          <a:p>
            <a:pPr algn="l"/>
            <a:r>
              <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rPr>
              <a:t>Example: The liver is primarily located in the right hypochondriac </a:t>
            </a:r>
          </a:p>
          <a:p>
            <a:pPr algn="l"/>
            <a:r>
              <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rPr>
              <a:t>			and epigastric regions. </a:t>
            </a:r>
            <a:r>
              <a:rPr lang="en-GB" sz="2000" i="1" dirty="0">
                <a:ln>
                  <a:solidFill>
                    <a:srgbClr val="000000">
                      <a:lumMod val="75000"/>
                      <a:lumOff val="25000"/>
                      <a:alpha val="10000"/>
                    </a:srgbClr>
                  </a:solidFill>
                </a:ln>
                <a:effectLst/>
                <a:latin typeface="Arial" panose="020B0604020202020204" pitchFamily="34" charset="0"/>
                <a:cs typeface="Arial" panose="020B0604020202020204" pitchFamily="34" charset="0"/>
              </a:rPr>
              <a:t>Useful for localising visceral and referred pain.</a:t>
            </a:r>
            <a:endPar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pic>
        <p:nvPicPr>
          <p:cNvPr id="2" name="Picture 1">
            <a:extLst>
              <a:ext uri="{FF2B5EF4-FFF2-40B4-BE49-F238E27FC236}">
                <a16:creationId xmlns:a16="http://schemas.microsoft.com/office/drawing/2014/main" id="{5A3C6C2D-FA4F-1C27-8F4B-633B7158DA79}"/>
              </a:ext>
            </a:extLst>
          </p:cNvPr>
          <p:cNvPicPr>
            <a:picLocks noChangeAspect="1"/>
          </p:cNvPicPr>
          <p:nvPr/>
        </p:nvPicPr>
        <p:blipFill>
          <a:blip r:embed="rId4"/>
          <a:stretch>
            <a:fillRect/>
          </a:stretch>
        </p:blipFill>
        <p:spPr>
          <a:xfrm>
            <a:off x="9436231" y="0"/>
            <a:ext cx="2361872" cy="2849993"/>
          </a:xfrm>
          <a:prstGeom prst="rect">
            <a:avLst/>
          </a:prstGeom>
        </p:spPr>
      </p:pic>
      <p:pic>
        <p:nvPicPr>
          <p:cNvPr id="7" name="Picture 6">
            <a:extLst>
              <a:ext uri="{FF2B5EF4-FFF2-40B4-BE49-F238E27FC236}">
                <a16:creationId xmlns:a16="http://schemas.microsoft.com/office/drawing/2014/main" id="{3F8A87D7-FB5C-733B-5593-711556C9D087}"/>
              </a:ext>
            </a:extLst>
          </p:cNvPr>
          <p:cNvPicPr>
            <a:picLocks noChangeAspect="1"/>
          </p:cNvPicPr>
          <p:nvPr/>
        </p:nvPicPr>
        <p:blipFill>
          <a:blip r:embed="rId5"/>
          <a:stretch>
            <a:fillRect/>
          </a:stretch>
        </p:blipFill>
        <p:spPr>
          <a:xfrm>
            <a:off x="9030457" y="3221079"/>
            <a:ext cx="2435003" cy="2435003"/>
          </a:xfrm>
          <a:prstGeom prst="rect">
            <a:avLst/>
          </a:prstGeom>
        </p:spPr>
      </p:pic>
    </p:spTree>
    <p:extLst>
      <p:ext uri="{BB962C8B-B14F-4D97-AF65-F5344CB8AC3E}">
        <p14:creationId xmlns:p14="http://schemas.microsoft.com/office/powerpoint/2010/main" val="1735256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302469" y="278698"/>
            <a:ext cx="11211373" cy="738199"/>
          </a:xfrm>
        </p:spPr>
        <p:txBody>
          <a:bodyPr anchor="b">
            <a:noAutofit/>
          </a:bodyPr>
          <a:lstStyle/>
          <a:p>
            <a:pPr algn="l"/>
            <a:r>
              <a:rPr lang="en-GB" sz="4000" b="1" i="0" dirty="0">
                <a:solidFill>
                  <a:srgbClr val="FFFF00"/>
                </a:solidFill>
                <a:effectLst/>
                <a:latin typeface="Arial"/>
                <a:cs typeface="Arial"/>
              </a:rPr>
              <a:t>Movement Terminologies</a:t>
            </a:r>
            <a:endParaRPr lang="en-US" dirty="0"/>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302469" y="2218409"/>
            <a:ext cx="10295876" cy="4171549"/>
          </a:xfrm>
        </p:spPr>
        <p:txBody>
          <a:bodyPr>
            <a:normAutofit/>
          </a:bodyPr>
          <a:lstStyle/>
          <a:p>
            <a:pPr algn="l"/>
            <a:r>
              <a:rPr lang="en-GB" dirty="0">
                <a:ln>
                  <a:solidFill>
                    <a:srgbClr val="000000">
                      <a:lumMod val="75000"/>
                      <a:lumOff val="25000"/>
                      <a:alpha val="10000"/>
                    </a:srgbClr>
                  </a:solidFill>
                </a:ln>
                <a:effectLst/>
                <a:latin typeface="Arial"/>
                <a:cs typeface="Arial"/>
              </a:rPr>
              <a:t>Examples:</a:t>
            </a:r>
          </a:p>
          <a:p>
            <a:pPr marL="342900" indent="-342900" algn="l">
              <a:buFont typeface="Arial" panose="020B0604020202020204" pitchFamily="34" charset="0"/>
              <a:buChar char="•"/>
            </a:pPr>
            <a:r>
              <a:rPr lang="en-GB" dirty="0">
                <a:ln>
                  <a:solidFill>
                    <a:srgbClr val="000000">
                      <a:lumMod val="75000"/>
                      <a:lumOff val="25000"/>
                      <a:alpha val="10000"/>
                    </a:srgbClr>
                  </a:solidFill>
                </a:ln>
                <a:effectLst/>
                <a:latin typeface="Arial"/>
                <a:cs typeface="Arial"/>
              </a:rPr>
              <a:t>Flexion vs Extension: Bending vs straightening a joint.</a:t>
            </a:r>
          </a:p>
          <a:p>
            <a:pPr marL="342900" indent="-342900" algn="l">
              <a:buFont typeface="Arial" panose="020B0604020202020204" pitchFamily="34" charset="0"/>
              <a:buChar char="•"/>
            </a:pPr>
            <a:r>
              <a:rPr lang="en-GB" dirty="0">
                <a:ln>
                  <a:solidFill>
                    <a:srgbClr val="000000">
                      <a:lumMod val="75000"/>
                      <a:lumOff val="25000"/>
                      <a:alpha val="10000"/>
                    </a:srgbClr>
                  </a:solidFill>
                </a:ln>
                <a:effectLst/>
                <a:latin typeface="Arial"/>
                <a:cs typeface="Arial"/>
              </a:rPr>
              <a:t>Abduction vs Adduction: Movement away from vs toward the midline.</a:t>
            </a:r>
          </a:p>
          <a:p>
            <a:pPr marL="342900" indent="-342900" algn="l">
              <a:buFont typeface="Arial" panose="020B0604020202020204" pitchFamily="34" charset="0"/>
              <a:buChar char="•"/>
            </a:pPr>
            <a:r>
              <a:rPr lang="en-GB" dirty="0">
                <a:ln>
                  <a:solidFill>
                    <a:srgbClr val="000000">
                      <a:lumMod val="75000"/>
                      <a:lumOff val="25000"/>
                      <a:alpha val="10000"/>
                    </a:srgbClr>
                  </a:solidFill>
                </a:ln>
                <a:effectLst/>
                <a:latin typeface="Arial"/>
                <a:cs typeface="Arial"/>
              </a:rPr>
              <a:t>Supination vs Pronation: Rotation of the forearm to face palm up vs palm down.</a:t>
            </a:r>
          </a:p>
          <a:p>
            <a:pPr algn="l"/>
            <a:r>
              <a:rPr lang="en-GB" dirty="0">
                <a:ln>
                  <a:solidFill>
                    <a:srgbClr val="000000">
                      <a:lumMod val="75000"/>
                      <a:lumOff val="25000"/>
                      <a:alpha val="10000"/>
                    </a:srgbClr>
                  </a:solidFill>
                </a:ln>
                <a:effectLst/>
                <a:latin typeface="Arial"/>
                <a:cs typeface="Arial"/>
              </a:rPr>
              <a:t>Example: Flexion of the knee occurs when bending the leg, and supination of the forearm happens when turning the palm upward.</a:t>
            </a:r>
            <a:endParaRPr lang="en-GB"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pic>
        <p:nvPicPr>
          <p:cNvPr id="2" name="Picture 1">
            <a:extLst>
              <a:ext uri="{FF2B5EF4-FFF2-40B4-BE49-F238E27FC236}">
                <a16:creationId xmlns:a16="http://schemas.microsoft.com/office/drawing/2014/main" id="{A5D76151-980B-AAEB-387E-6116C9741C2C}"/>
              </a:ext>
            </a:extLst>
          </p:cNvPr>
          <p:cNvPicPr>
            <a:picLocks noChangeAspect="1"/>
          </p:cNvPicPr>
          <p:nvPr/>
        </p:nvPicPr>
        <p:blipFill>
          <a:blip r:embed="rId4"/>
          <a:stretch>
            <a:fillRect/>
          </a:stretch>
        </p:blipFill>
        <p:spPr>
          <a:xfrm>
            <a:off x="8181474" y="0"/>
            <a:ext cx="4010526" cy="3208421"/>
          </a:xfrm>
          <a:prstGeom prst="rect">
            <a:avLst/>
          </a:prstGeom>
        </p:spPr>
      </p:pic>
    </p:spTree>
    <p:extLst>
      <p:ext uri="{BB962C8B-B14F-4D97-AF65-F5344CB8AC3E}">
        <p14:creationId xmlns:p14="http://schemas.microsoft.com/office/powerpoint/2010/main" val="3912670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pic>
        <p:nvPicPr>
          <p:cNvPr id="2" name="Picture 1">
            <a:extLst>
              <a:ext uri="{FF2B5EF4-FFF2-40B4-BE49-F238E27FC236}">
                <a16:creationId xmlns:a16="http://schemas.microsoft.com/office/drawing/2014/main" id="{A5D76151-980B-AAEB-387E-6116C9741C2C}"/>
              </a:ext>
            </a:extLst>
          </p:cNvPr>
          <p:cNvPicPr>
            <a:picLocks noChangeAspect="1"/>
          </p:cNvPicPr>
          <p:nvPr/>
        </p:nvPicPr>
        <p:blipFill>
          <a:blip r:embed="rId4"/>
          <a:stretch>
            <a:fillRect/>
          </a:stretch>
        </p:blipFill>
        <p:spPr>
          <a:xfrm>
            <a:off x="1155031" y="185286"/>
            <a:ext cx="8109282" cy="6487427"/>
          </a:xfrm>
          <a:prstGeom prst="rect">
            <a:avLst/>
          </a:prstGeom>
        </p:spPr>
      </p:pic>
    </p:spTree>
    <p:extLst>
      <p:ext uri="{BB962C8B-B14F-4D97-AF65-F5344CB8AC3E}">
        <p14:creationId xmlns:p14="http://schemas.microsoft.com/office/powerpoint/2010/main" val="2749589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pic>
        <p:nvPicPr>
          <p:cNvPr id="10" name="Picture 9">
            <a:extLst>
              <a:ext uri="{FF2B5EF4-FFF2-40B4-BE49-F238E27FC236}">
                <a16:creationId xmlns:a16="http://schemas.microsoft.com/office/drawing/2014/main" id="{398A1542-9A54-CBA7-2B1E-1C886613C667}"/>
              </a:ext>
            </a:extLst>
          </p:cNvPr>
          <p:cNvPicPr>
            <a:picLocks noChangeAspect="1"/>
          </p:cNvPicPr>
          <p:nvPr/>
        </p:nvPicPr>
        <p:blipFill>
          <a:blip r:embed="rId4"/>
          <a:stretch>
            <a:fillRect/>
          </a:stretch>
        </p:blipFill>
        <p:spPr>
          <a:xfrm>
            <a:off x="1116931" y="228600"/>
            <a:ext cx="8809494" cy="5919980"/>
          </a:xfrm>
          <a:prstGeom prst="rect">
            <a:avLst/>
          </a:prstGeom>
        </p:spPr>
      </p:pic>
      <p:sp>
        <p:nvSpPr>
          <p:cNvPr id="2" name="TextBox 1">
            <a:extLst>
              <a:ext uri="{FF2B5EF4-FFF2-40B4-BE49-F238E27FC236}">
                <a16:creationId xmlns:a16="http://schemas.microsoft.com/office/drawing/2014/main" id="{4DE2576F-738F-BBEE-01D0-66E616CF0249}"/>
              </a:ext>
            </a:extLst>
          </p:cNvPr>
          <p:cNvSpPr txBox="1"/>
          <p:nvPr/>
        </p:nvSpPr>
        <p:spPr>
          <a:xfrm>
            <a:off x="8568965" y="1322110"/>
            <a:ext cx="3374797" cy="1200329"/>
          </a:xfrm>
          <a:prstGeom prst="rect">
            <a:avLst/>
          </a:prstGeom>
          <a:solidFill>
            <a:schemeClr val="tx1"/>
          </a:solidFill>
          <a:ln>
            <a:solidFill>
              <a:schemeClr val="tx1"/>
            </a:solidFill>
          </a:ln>
        </p:spPr>
        <p:txBody>
          <a:bodyPr wrap="square" rtlCol="0">
            <a:spAutoFit/>
          </a:bodyPr>
          <a:lstStyle/>
          <a:p>
            <a:r>
              <a:rPr lang="en-GB" b="1" dirty="0">
                <a:solidFill>
                  <a:srgbClr val="FF0000"/>
                </a:solidFill>
              </a:rPr>
              <a:t>LET’S PLAY:</a:t>
            </a:r>
          </a:p>
          <a:p>
            <a:pPr marL="285750" indent="-285750">
              <a:buFont typeface="Arial" panose="020B0604020202020204" pitchFamily="34" charset="0"/>
              <a:buChar char="•"/>
            </a:pPr>
            <a:r>
              <a:rPr lang="en-GB" dirty="0">
                <a:solidFill>
                  <a:srgbClr val="FF0000"/>
                </a:solidFill>
              </a:rPr>
              <a:t>What movements are these?</a:t>
            </a:r>
          </a:p>
          <a:p>
            <a:pPr marL="285750" indent="-285750">
              <a:buFont typeface="Arial" panose="020B0604020202020204" pitchFamily="34" charset="0"/>
              <a:buChar char="•"/>
            </a:pPr>
            <a:r>
              <a:rPr lang="en-GB" dirty="0">
                <a:solidFill>
                  <a:srgbClr val="FF0000"/>
                </a:solidFill>
              </a:rPr>
              <a:t>What planes do they occur in?</a:t>
            </a:r>
          </a:p>
          <a:p>
            <a:pPr marL="285750" indent="-285750">
              <a:buFont typeface="Arial" panose="020B0604020202020204" pitchFamily="34" charset="0"/>
              <a:buChar char="•"/>
            </a:pPr>
            <a:r>
              <a:rPr lang="en-GB" dirty="0">
                <a:solidFill>
                  <a:srgbClr val="FF0000"/>
                </a:solidFill>
              </a:rPr>
              <a:t>What axis do they occur in?</a:t>
            </a:r>
          </a:p>
        </p:txBody>
      </p:sp>
    </p:spTree>
    <p:extLst>
      <p:ext uri="{BB962C8B-B14F-4D97-AF65-F5344CB8AC3E}">
        <p14:creationId xmlns:p14="http://schemas.microsoft.com/office/powerpoint/2010/main" val="1735242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pic>
        <p:nvPicPr>
          <p:cNvPr id="3" name="Picture 2">
            <a:extLst>
              <a:ext uri="{FF2B5EF4-FFF2-40B4-BE49-F238E27FC236}">
                <a16:creationId xmlns:a16="http://schemas.microsoft.com/office/drawing/2014/main" id="{C21F2E3D-6F62-0479-F0BC-B1C4E118A1E3}"/>
              </a:ext>
            </a:extLst>
          </p:cNvPr>
          <p:cNvPicPr>
            <a:picLocks noChangeAspect="1"/>
          </p:cNvPicPr>
          <p:nvPr/>
        </p:nvPicPr>
        <p:blipFill>
          <a:blip r:embed="rId4"/>
          <a:stretch>
            <a:fillRect/>
          </a:stretch>
        </p:blipFill>
        <p:spPr>
          <a:xfrm>
            <a:off x="3000375" y="842962"/>
            <a:ext cx="6191250" cy="5172075"/>
          </a:xfrm>
          <a:prstGeom prst="rect">
            <a:avLst/>
          </a:prstGeom>
        </p:spPr>
      </p:pic>
    </p:spTree>
    <p:extLst>
      <p:ext uri="{BB962C8B-B14F-4D97-AF65-F5344CB8AC3E}">
        <p14:creationId xmlns:p14="http://schemas.microsoft.com/office/powerpoint/2010/main" val="756305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302469" y="278698"/>
            <a:ext cx="11211373" cy="738199"/>
          </a:xfrm>
        </p:spPr>
        <p:txBody>
          <a:bodyPr anchor="b">
            <a:noAutofit/>
          </a:bodyPr>
          <a:lstStyle/>
          <a:p>
            <a:pPr algn="l"/>
            <a:r>
              <a:rPr lang="en-GB" sz="4000" b="1" i="0" dirty="0">
                <a:solidFill>
                  <a:srgbClr val="FFFF00"/>
                </a:solidFill>
                <a:effectLst/>
                <a:latin typeface="Arial"/>
                <a:cs typeface="Arial"/>
              </a:rPr>
              <a:t>Common Anatomical Abbreviations</a:t>
            </a:r>
            <a:endParaRPr lang="en-US" dirty="0"/>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487709" y="1541103"/>
            <a:ext cx="10295876" cy="4171549"/>
          </a:xfrm>
        </p:spPr>
        <p:txBody>
          <a:bodyPr>
            <a:normAutofit/>
          </a:bodyPr>
          <a:lstStyle/>
          <a:p>
            <a:pPr algn="l"/>
            <a:r>
              <a:rPr lang="en-GB" dirty="0">
                <a:ln>
                  <a:solidFill>
                    <a:srgbClr val="000000">
                      <a:lumMod val="75000"/>
                      <a:lumOff val="25000"/>
                      <a:alpha val="10000"/>
                    </a:srgbClr>
                  </a:solidFill>
                </a:ln>
                <a:effectLst/>
                <a:latin typeface="Arial"/>
                <a:cs typeface="Arial"/>
              </a:rPr>
              <a:t>Examples:</a:t>
            </a:r>
          </a:p>
          <a:p>
            <a:pPr algn="l"/>
            <a:r>
              <a:rPr lang="en-GB" dirty="0">
                <a:ln>
                  <a:solidFill>
                    <a:srgbClr val="000000">
                      <a:lumMod val="75000"/>
                      <a:lumOff val="25000"/>
                      <a:alpha val="10000"/>
                    </a:srgbClr>
                  </a:solidFill>
                </a:ln>
                <a:effectLst/>
                <a:latin typeface="Arial"/>
                <a:cs typeface="Arial"/>
              </a:rPr>
              <a:t>CNS: Central Nervous System</a:t>
            </a:r>
          </a:p>
          <a:p>
            <a:pPr algn="l"/>
            <a:r>
              <a:rPr lang="en-GB" dirty="0">
                <a:ln>
                  <a:solidFill>
                    <a:srgbClr val="000000">
                      <a:lumMod val="75000"/>
                      <a:lumOff val="25000"/>
                      <a:alpha val="10000"/>
                    </a:srgbClr>
                  </a:solidFill>
                </a:ln>
                <a:effectLst/>
                <a:latin typeface="Arial"/>
                <a:cs typeface="Arial"/>
              </a:rPr>
              <a:t>PNS: Peripheral Nervous System</a:t>
            </a:r>
          </a:p>
          <a:p>
            <a:pPr algn="l"/>
            <a:r>
              <a:rPr lang="en-GB" dirty="0">
                <a:ln>
                  <a:solidFill>
                    <a:srgbClr val="000000">
                      <a:lumMod val="75000"/>
                      <a:lumOff val="25000"/>
                      <a:alpha val="10000"/>
                    </a:srgbClr>
                  </a:solidFill>
                </a:ln>
                <a:effectLst/>
                <a:latin typeface="Arial"/>
                <a:cs typeface="Arial"/>
              </a:rPr>
              <a:t>GI: Gastrointestinal</a:t>
            </a:r>
          </a:p>
          <a:p>
            <a:pPr algn="l"/>
            <a:r>
              <a:rPr lang="en-GB" dirty="0">
                <a:ln>
                  <a:solidFill>
                    <a:srgbClr val="000000">
                      <a:lumMod val="75000"/>
                      <a:lumOff val="25000"/>
                      <a:alpha val="10000"/>
                    </a:srgbClr>
                  </a:solidFill>
                </a:ln>
                <a:effectLst/>
                <a:latin typeface="Arial"/>
                <a:cs typeface="Arial"/>
              </a:rPr>
              <a:t>CVS: Cardiovascular System</a:t>
            </a:r>
          </a:p>
          <a:p>
            <a:pPr algn="l"/>
            <a:r>
              <a:rPr lang="en-GB" dirty="0">
                <a:ln>
                  <a:solidFill>
                    <a:srgbClr val="000000">
                      <a:lumMod val="75000"/>
                      <a:lumOff val="25000"/>
                      <a:alpha val="10000"/>
                    </a:srgbClr>
                  </a:solidFill>
                </a:ln>
                <a:effectLst/>
                <a:latin typeface="Arial"/>
                <a:cs typeface="Arial"/>
              </a:rPr>
              <a:t>MSK: Musculoskeletal</a:t>
            </a:r>
            <a:endParaRPr lang="en-GB"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spTree>
    <p:extLst>
      <p:ext uri="{BB962C8B-B14F-4D97-AF65-F5344CB8AC3E}">
        <p14:creationId xmlns:p14="http://schemas.microsoft.com/office/powerpoint/2010/main" val="1171885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393897" y="199034"/>
            <a:ext cx="11211373" cy="738199"/>
          </a:xfrm>
        </p:spPr>
        <p:txBody>
          <a:bodyPr anchor="b">
            <a:noAutofit/>
          </a:bodyPr>
          <a:lstStyle/>
          <a:p>
            <a:pPr algn="l"/>
            <a:r>
              <a:rPr lang="en-GB" sz="3600" b="1" i="0" dirty="0">
                <a:solidFill>
                  <a:srgbClr val="FFFF00"/>
                </a:solidFill>
                <a:effectLst/>
                <a:latin typeface="Arial"/>
                <a:cs typeface="Arial"/>
              </a:rPr>
              <a:t>Anatomical Variability</a:t>
            </a:r>
            <a:endParaRPr lang="en-GB" sz="3600" b="1" i="0" dirty="0">
              <a:ln>
                <a:solidFill>
                  <a:srgbClr val="000000">
                    <a:lumMod val="75000"/>
                    <a:lumOff val="25000"/>
                    <a:alpha val="10000"/>
                  </a:srgbClr>
                </a:solidFill>
              </a:ln>
              <a:solidFill>
                <a:srgbClr val="FFFF00"/>
              </a:solidFill>
              <a:effectLst/>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393897" y="1034513"/>
            <a:ext cx="11433584" cy="5272771"/>
          </a:xfrm>
        </p:spPr>
        <p:txBody>
          <a:bodyPr>
            <a:normAutofit/>
          </a:bodyPr>
          <a:lstStyle/>
          <a:p>
            <a:pPr algn="l">
              <a:lnSpc>
                <a:spcPct val="150000"/>
              </a:lnSpc>
            </a:pPr>
            <a:r>
              <a:rPr lang="en-GB" sz="2000" dirty="0">
                <a:effectLst/>
                <a:latin typeface="Arial"/>
                <a:cs typeface="Arial"/>
              </a:rPr>
              <a:t>Importance of Anatomical Variations:</a:t>
            </a:r>
          </a:p>
          <a:p>
            <a:pPr marL="342900" indent="-342900" algn="l">
              <a:lnSpc>
                <a:spcPct val="150000"/>
              </a:lnSpc>
              <a:buFont typeface="Arial" panose="020B0604020202020204" pitchFamily="34" charset="0"/>
              <a:buChar char="•"/>
            </a:pPr>
            <a:r>
              <a:rPr lang="en-GB" sz="2000" dirty="0">
                <a:effectLst/>
                <a:latin typeface="Arial"/>
                <a:cs typeface="Arial"/>
              </a:rPr>
              <a:t>No two individuals are exactly alike anatomically.</a:t>
            </a:r>
          </a:p>
          <a:p>
            <a:pPr marL="342900" indent="-342900" algn="l">
              <a:lnSpc>
                <a:spcPct val="150000"/>
              </a:lnSpc>
              <a:buFont typeface="Arial" panose="020B0604020202020204" pitchFamily="34" charset="0"/>
              <a:buChar char="•"/>
            </a:pPr>
            <a:r>
              <a:rPr lang="en-GB" sz="2000" dirty="0">
                <a:effectLst/>
                <a:latin typeface="Arial"/>
                <a:cs typeface="Arial"/>
              </a:rPr>
              <a:t>Understanding common variations improves clinical diagnosis.</a:t>
            </a:r>
            <a:endPar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a:p>
            <a:pPr algn="l"/>
            <a:endPar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spTree>
    <p:extLst>
      <p:ext uri="{BB962C8B-B14F-4D97-AF65-F5344CB8AC3E}">
        <p14:creationId xmlns:p14="http://schemas.microsoft.com/office/powerpoint/2010/main" val="1060530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393897" y="199034"/>
            <a:ext cx="11211373" cy="738199"/>
          </a:xfrm>
        </p:spPr>
        <p:txBody>
          <a:bodyPr anchor="b">
            <a:noAutofit/>
          </a:bodyPr>
          <a:lstStyle/>
          <a:p>
            <a:pPr algn="l"/>
            <a:r>
              <a:rPr lang="en-GB" sz="3600" b="1" i="0" dirty="0">
                <a:solidFill>
                  <a:srgbClr val="FFFF00"/>
                </a:solidFill>
                <a:effectLst/>
                <a:latin typeface="Arial"/>
                <a:cs typeface="Arial"/>
              </a:rPr>
              <a:t>Learning Strategies in Anatomy</a:t>
            </a:r>
            <a:endParaRPr lang="en-GB" sz="3600" b="1" i="0" dirty="0">
              <a:ln>
                <a:solidFill>
                  <a:srgbClr val="000000">
                    <a:lumMod val="75000"/>
                    <a:lumOff val="25000"/>
                    <a:alpha val="10000"/>
                  </a:srgbClr>
                </a:solidFill>
              </a:ln>
              <a:solidFill>
                <a:srgbClr val="FFFF00"/>
              </a:solidFill>
              <a:effectLst/>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393897" y="1034513"/>
            <a:ext cx="11433584" cy="4607533"/>
          </a:xfrm>
        </p:spPr>
        <p:txBody>
          <a:bodyPr>
            <a:normAutofit/>
          </a:bodyPr>
          <a:lstStyle/>
          <a:p>
            <a:pPr marL="342900" indent="-342900" algn="l">
              <a:lnSpc>
                <a:spcPct val="150000"/>
              </a:lnSpc>
              <a:buFont typeface="Arial" panose="020B0604020202020204" pitchFamily="34" charset="0"/>
              <a:buChar char="•"/>
            </a:pPr>
            <a:r>
              <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rPr>
              <a:t>Active Learning: Engage in dissections for hands on experience with cadavers, lab </a:t>
            </a:r>
            <a:r>
              <a:rPr lang="en-GB" sz="2000" dirty="0" err="1">
                <a:ln>
                  <a:solidFill>
                    <a:srgbClr val="000000">
                      <a:lumMod val="75000"/>
                      <a:lumOff val="25000"/>
                      <a:alpha val="10000"/>
                    </a:srgbClr>
                  </a:solidFill>
                </a:ln>
                <a:effectLst/>
                <a:latin typeface="Arial" panose="020B0604020202020204" pitchFamily="34" charset="0"/>
                <a:cs typeface="Arial" panose="020B0604020202020204" pitchFamily="34" charset="0"/>
              </a:rPr>
              <a:t>practicals</a:t>
            </a:r>
            <a:r>
              <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rPr>
              <a:t>, and 3D anatomy tools.</a:t>
            </a:r>
          </a:p>
          <a:p>
            <a:pPr marL="342900" indent="-342900" algn="l">
              <a:lnSpc>
                <a:spcPct val="150000"/>
              </a:lnSpc>
              <a:buFont typeface="Arial" panose="020B0604020202020204" pitchFamily="34" charset="0"/>
              <a:buChar char="•"/>
            </a:pPr>
            <a:r>
              <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rPr>
              <a:t>Visual Learning: Use diagrams, videos, and apps to understand body structures.</a:t>
            </a:r>
          </a:p>
          <a:p>
            <a:pPr marL="342900" indent="-342900" algn="l">
              <a:lnSpc>
                <a:spcPct val="150000"/>
              </a:lnSpc>
              <a:buFont typeface="Arial" panose="020B0604020202020204" pitchFamily="34" charset="0"/>
              <a:buChar char="•"/>
            </a:pPr>
            <a:r>
              <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rPr>
              <a:t>Mnemonics: Employ mnemonic devices to remember anatomical terms (e.g., "Some Lovers Try Positions That They Can’t Handle" for carpal bones).</a:t>
            </a:r>
          </a:p>
          <a:p>
            <a:pPr marL="342900" indent="-342900" algn="l">
              <a:lnSpc>
                <a:spcPct val="150000"/>
              </a:lnSpc>
              <a:buFont typeface="Arial" panose="020B0604020202020204" pitchFamily="34" charset="0"/>
              <a:buChar char="•"/>
            </a:pPr>
            <a:r>
              <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rPr>
              <a:t>Spaced Repetition: Regular review of terms and concepts over time.</a:t>
            </a:r>
          </a:p>
          <a:p>
            <a:pPr marL="342900" indent="-342900" algn="l">
              <a:lnSpc>
                <a:spcPct val="150000"/>
              </a:lnSpc>
              <a:buFont typeface="Arial" panose="020B0604020202020204" pitchFamily="34" charset="0"/>
              <a:buChar char="•"/>
            </a:pPr>
            <a:r>
              <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rPr>
              <a:t>Case-Based Learning: Apply anatomical knowledge in clinical scenarios.</a:t>
            </a:r>
          </a:p>
          <a:p>
            <a:pPr algn="l">
              <a:lnSpc>
                <a:spcPct val="150000"/>
              </a:lnSpc>
            </a:pPr>
            <a:endPar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a:p>
            <a:pPr algn="l"/>
            <a:endPar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spTree>
    <p:extLst>
      <p:ext uri="{BB962C8B-B14F-4D97-AF65-F5344CB8AC3E}">
        <p14:creationId xmlns:p14="http://schemas.microsoft.com/office/powerpoint/2010/main" val="716478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393897" y="301818"/>
            <a:ext cx="11211373" cy="738199"/>
          </a:xfrm>
        </p:spPr>
        <p:txBody>
          <a:bodyPr anchor="b">
            <a:noAutofit/>
          </a:bodyPr>
          <a:lstStyle/>
          <a:p>
            <a:pPr algn="l"/>
            <a:r>
              <a:rPr lang="en-GB" sz="3600" b="1" i="0" dirty="0">
                <a:solidFill>
                  <a:srgbClr val="FFFF00"/>
                </a:solidFill>
                <a:effectLst/>
                <a:latin typeface="Arial"/>
                <a:cs typeface="Arial"/>
              </a:rPr>
              <a:t>Study Tips for Anatomy</a:t>
            </a:r>
            <a:endParaRPr lang="en-GB" sz="3600" b="1" i="0" dirty="0">
              <a:ln>
                <a:solidFill>
                  <a:srgbClr val="000000">
                    <a:lumMod val="75000"/>
                    <a:lumOff val="25000"/>
                    <a:alpha val="10000"/>
                  </a:srgbClr>
                </a:solidFill>
              </a:ln>
              <a:solidFill>
                <a:srgbClr val="FFFF00"/>
              </a:solidFill>
              <a:effectLst/>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393897" y="1426449"/>
            <a:ext cx="11433584" cy="4865595"/>
          </a:xfrm>
        </p:spPr>
        <p:txBody>
          <a:bodyPr>
            <a:normAutofit/>
          </a:bodyPr>
          <a:lstStyle/>
          <a:p>
            <a:pPr marL="342900" indent="-342900" algn="l">
              <a:lnSpc>
                <a:spcPct val="150000"/>
              </a:lnSpc>
              <a:buFont typeface="Arial" panose="020B0604020202020204" pitchFamily="34" charset="0"/>
              <a:buChar char="•"/>
            </a:pPr>
            <a:r>
              <a:rPr lang="en-GB" sz="2000" dirty="0">
                <a:effectLst/>
                <a:latin typeface="Arial"/>
                <a:cs typeface="Arial"/>
              </a:rPr>
              <a:t>Consistent, daily study sessions.</a:t>
            </a:r>
          </a:p>
          <a:p>
            <a:pPr marL="342900" indent="-342900" algn="l">
              <a:lnSpc>
                <a:spcPct val="150000"/>
              </a:lnSpc>
              <a:buFont typeface="Arial" panose="020B0604020202020204" pitchFamily="34" charset="0"/>
              <a:buChar char="•"/>
            </a:pPr>
            <a:r>
              <a:rPr lang="en-GB" sz="2000" dirty="0">
                <a:effectLst/>
                <a:latin typeface="Arial"/>
                <a:cs typeface="Arial"/>
              </a:rPr>
              <a:t>Use mnemonics for memorization.</a:t>
            </a:r>
          </a:p>
          <a:p>
            <a:pPr marL="342900" indent="-342900" algn="l">
              <a:lnSpc>
                <a:spcPct val="150000"/>
              </a:lnSpc>
              <a:buFont typeface="Arial" panose="020B0604020202020204" pitchFamily="34" charset="0"/>
              <a:buChar char="•"/>
            </a:pPr>
            <a:r>
              <a:rPr lang="en-GB" sz="2000" dirty="0">
                <a:effectLst/>
                <a:latin typeface="Arial"/>
                <a:cs typeface="Arial"/>
              </a:rPr>
              <a:t>Label diagrams repeatedly to reinforce knowledge.</a:t>
            </a:r>
          </a:p>
          <a:p>
            <a:pPr marL="342900" indent="-342900" algn="l">
              <a:lnSpc>
                <a:spcPct val="150000"/>
              </a:lnSpc>
              <a:buFont typeface="Arial" panose="020B0604020202020204" pitchFamily="34" charset="0"/>
              <a:buChar char="•"/>
            </a:pPr>
            <a:r>
              <a:rPr lang="en-GB" sz="2000" dirty="0">
                <a:effectLst/>
                <a:latin typeface="Arial"/>
                <a:cs typeface="Arial"/>
              </a:rPr>
              <a:t>Attend practical lab sessions and ask questions.</a:t>
            </a:r>
            <a:endPar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spTree>
    <p:extLst>
      <p:ext uri="{BB962C8B-B14F-4D97-AF65-F5344CB8AC3E}">
        <p14:creationId xmlns:p14="http://schemas.microsoft.com/office/powerpoint/2010/main" val="866089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393897" y="301818"/>
            <a:ext cx="11211373" cy="738199"/>
          </a:xfrm>
        </p:spPr>
        <p:txBody>
          <a:bodyPr anchor="b">
            <a:noAutofit/>
          </a:bodyPr>
          <a:lstStyle/>
          <a:p>
            <a:pPr algn="l"/>
            <a:r>
              <a:rPr lang="en-GB" sz="3600" b="1" i="0" dirty="0">
                <a:solidFill>
                  <a:srgbClr val="FFFF00"/>
                </a:solidFill>
                <a:effectLst/>
                <a:latin typeface="Arial"/>
                <a:cs typeface="Arial"/>
              </a:rPr>
              <a:t>Common Challenges in Learning Anatomy</a:t>
            </a:r>
            <a:endParaRPr lang="en-GB" sz="3600" b="1" i="0" dirty="0">
              <a:ln>
                <a:solidFill>
                  <a:srgbClr val="000000">
                    <a:lumMod val="75000"/>
                    <a:lumOff val="25000"/>
                    <a:alpha val="10000"/>
                  </a:srgbClr>
                </a:solidFill>
              </a:ln>
              <a:solidFill>
                <a:srgbClr val="FFFF00"/>
              </a:solidFill>
              <a:effectLst/>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393897" y="1426449"/>
            <a:ext cx="11433584" cy="4865595"/>
          </a:xfrm>
        </p:spPr>
        <p:txBody>
          <a:bodyPr>
            <a:normAutofit/>
          </a:bodyPr>
          <a:lstStyle/>
          <a:p>
            <a:pPr marL="342900" indent="-342900" algn="l">
              <a:lnSpc>
                <a:spcPct val="150000"/>
              </a:lnSpc>
              <a:buFont typeface="Arial" panose="020B0604020202020204" pitchFamily="34" charset="0"/>
              <a:buChar char="•"/>
            </a:pPr>
            <a:r>
              <a:rPr lang="en-GB" sz="2000" dirty="0">
                <a:effectLst/>
                <a:latin typeface="Arial"/>
                <a:cs typeface="Arial"/>
              </a:rPr>
              <a:t>Volume of Information: Memorizing a large amount of data can be overwhelming.</a:t>
            </a:r>
          </a:p>
          <a:p>
            <a:pPr marL="342900" indent="-342900" algn="l">
              <a:lnSpc>
                <a:spcPct val="150000"/>
              </a:lnSpc>
              <a:buFont typeface="Arial" panose="020B0604020202020204" pitchFamily="34" charset="0"/>
              <a:buChar char="•"/>
            </a:pPr>
            <a:r>
              <a:rPr lang="en-GB" sz="2000" dirty="0">
                <a:effectLst/>
                <a:latin typeface="Arial"/>
                <a:cs typeface="Arial"/>
              </a:rPr>
              <a:t>Understanding Spatial Relationships: Requires 3D thinking and practice.</a:t>
            </a:r>
          </a:p>
          <a:p>
            <a:pPr marL="342900" indent="-342900" algn="l">
              <a:lnSpc>
                <a:spcPct val="150000"/>
              </a:lnSpc>
              <a:buFont typeface="Arial" panose="020B0604020202020204" pitchFamily="34" charset="0"/>
              <a:buChar char="•"/>
            </a:pPr>
            <a:r>
              <a:rPr lang="en-GB" sz="2000" dirty="0">
                <a:effectLst/>
                <a:latin typeface="Arial"/>
                <a:cs typeface="Arial"/>
              </a:rPr>
              <a:t>Clinical Application: Integrating anatomy with physiology and pathology.</a:t>
            </a:r>
          </a:p>
          <a:p>
            <a:pPr marL="342900" indent="-342900" algn="l">
              <a:lnSpc>
                <a:spcPct val="150000"/>
              </a:lnSpc>
              <a:buFont typeface="Arial" panose="020B0604020202020204" pitchFamily="34" charset="0"/>
              <a:buChar char="•"/>
            </a:pPr>
            <a:endParaRPr lang="en-GB" sz="2000" dirty="0">
              <a:ln>
                <a:solidFill>
                  <a:srgbClr val="000000">
                    <a:lumMod val="75000"/>
                    <a:lumOff val="25000"/>
                    <a:alpha val="10000"/>
                  </a:srgbClr>
                </a:solidFill>
              </a:ln>
              <a:effectLst/>
              <a:latin typeface="Arial"/>
              <a:cs typeface="Arial"/>
            </a:endParaRPr>
          </a:p>
          <a:p>
            <a:pPr marL="342900" indent="-342900" algn="l">
              <a:lnSpc>
                <a:spcPct val="150000"/>
              </a:lnSpc>
              <a:buFont typeface="Arial" panose="020B0604020202020204" pitchFamily="34" charset="0"/>
              <a:buChar char="•"/>
            </a:pPr>
            <a:r>
              <a:rPr lang="en-GB" sz="2000" i="1" dirty="0">
                <a:ln>
                  <a:solidFill>
                    <a:srgbClr val="000000">
                      <a:lumMod val="75000"/>
                      <a:lumOff val="25000"/>
                      <a:alpha val="10000"/>
                    </a:srgbClr>
                  </a:solidFill>
                </a:ln>
                <a:effectLst/>
                <a:latin typeface="Arial"/>
                <a:cs typeface="Arial"/>
              </a:rPr>
              <a:t>To succeed, come up with your own unique strategies to overcome these challenges.</a:t>
            </a:r>
            <a:endParaRPr lang="en-GB" sz="2000" i="1"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spTree>
    <p:extLst>
      <p:ext uri="{BB962C8B-B14F-4D97-AF65-F5344CB8AC3E}">
        <p14:creationId xmlns:p14="http://schemas.microsoft.com/office/powerpoint/2010/main" val="2458075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393897" y="301818"/>
            <a:ext cx="11211373" cy="738199"/>
          </a:xfrm>
        </p:spPr>
        <p:txBody>
          <a:bodyPr anchor="b">
            <a:noAutofit/>
          </a:bodyPr>
          <a:lstStyle/>
          <a:p>
            <a:pPr algn="l"/>
            <a:r>
              <a:rPr lang="en-GB" sz="3600" b="1" i="0" dirty="0">
                <a:solidFill>
                  <a:srgbClr val="FFFF00"/>
                </a:solidFill>
                <a:effectLst/>
                <a:latin typeface="Arial"/>
                <a:cs typeface="Arial"/>
              </a:rPr>
              <a:t>Overcoming Challenges in Learning Anatomy</a:t>
            </a:r>
            <a:endParaRPr lang="en-GB" sz="3600" b="1" i="0" dirty="0">
              <a:ln>
                <a:solidFill>
                  <a:srgbClr val="000000">
                    <a:lumMod val="75000"/>
                    <a:lumOff val="25000"/>
                    <a:alpha val="10000"/>
                  </a:srgbClr>
                </a:solidFill>
              </a:ln>
              <a:solidFill>
                <a:srgbClr val="FFFF00"/>
              </a:solidFill>
              <a:effectLst/>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393897" y="1426449"/>
            <a:ext cx="11433584" cy="4865595"/>
          </a:xfrm>
        </p:spPr>
        <p:txBody>
          <a:bodyPr>
            <a:normAutofit/>
          </a:bodyPr>
          <a:lstStyle/>
          <a:p>
            <a:pPr marL="342900" indent="-342900" algn="l">
              <a:lnSpc>
                <a:spcPct val="150000"/>
              </a:lnSpc>
              <a:buFont typeface="Arial" panose="020B0604020202020204" pitchFamily="34" charset="0"/>
              <a:buChar char="•"/>
            </a:pPr>
            <a:r>
              <a:rPr lang="en-GB" sz="2000" dirty="0">
                <a:effectLst/>
                <a:latin typeface="Arial"/>
                <a:cs typeface="Arial"/>
              </a:rPr>
              <a:t>Study Groups: Collaborate with peers to discuss and clarify difficult concepts.</a:t>
            </a:r>
          </a:p>
          <a:p>
            <a:pPr marL="342900" indent="-342900" algn="l">
              <a:lnSpc>
                <a:spcPct val="150000"/>
              </a:lnSpc>
              <a:buFont typeface="Arial" panose="020B0604020202020204" pitchFamily="34" charset="0"/>
              <a:buChar char="•"/>
            </a:pPr>
            <a:r>
              <a:rPr lang="en-GB" sz="2000" dirty="0">
                <a:effectLst/>
                <a:latin typeface="Arial"/>
                <a:cs typeface="Arial"/>
              </a:rPr>
              <a:t>Regular Practice: Continually engage with materials through quizzes, apps, and lab sessions.</a:t>
            </a:r>
          </a:p>
          <a:p>
            <a:pPr marL="342900" indent="-342900" algn="l">
              <a:lnSpc>
                <a:spcPct val="150000"/>
              </a:lnSpc>
              <a:buFont typeface="Arial" panose="020B0604020202020204" pitchFamily="34" charset="0"/>
              <a:buChar char="•"/>
            </a:pPr>
            <a:r>
              <a:rPr lang="en-GB" sz="2000" dirty="0">
                <a:effectLst/>
                <a:latin typeface="Arial"/>
                <a:cs typeface="Arial"/>
              </a:rPr>
              <a:t>Integration with Clinical Practice: Relate anatomical knowledge to case studies and real-world patient care</a:t>
            </a:r>
            <a:r>
              <a:rPr lang="en-GB" sz="2000" i="1" dirty="0">
                <a:ln>
                  <a:solidFill>
                    <a:srgbClr val="000000">
                      <a:lumMod val="75000"/>
                      <a:lumOff val="25000"/>
                      <a:alpha val="10000"/>
                    </a:srgbClr>
                  </a:solidFill>
                </a:ln>
                <a:effectLst/>
                <a:latin typeface="Arial"/>
                <a:cs typeface="Arial"/>
              </a:rPr>
              <a:t>.</a:t>
            </a:r>
            <a:endParaRPr lang="en-GB" sz="2000" i="1"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spTree>
    <p:extLst>
      <p:ext uri="{BB962C8B-B14F-4D97-AF65-F5344CB8AC3E}">
        <p14:creationId xmlns:p14="http://schemas.microsoft.com/office/powerpoint/2010/main" val="2222806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393897" y="401178"/>
            <a:ext cx="11211373" cy="738199"/>
          </a:xfrm>
        </p:spPr>
        <p:txBody>
          <a:bodyPr anchor="b">
            <a:noAutofit/>
          </a:bodyPr>
          <a:lstStyle/>
          <a:p>
            <a:pPr algn="l"/>
            <a:r>
              <a:rPr lang="en-GB" sz="3600" b="1" i="0" dirty="0">
                <a:solidFill>
                  <a:srgbClr val="FFFF00"/>
                </a:solidFill>
                <a:effectLst/>
                <a:latin typeface="Arial"/>
                <a:cs typeface="Arial"/>
              </a:rPr>
              <a:t>Key Resources for Anatomy Learning</a:t>
            </a:r>
            <a:endParaRPr lang="en-GB" sz="3600" b="1" i="0" dirty="0">
              <a:ln>
                <a:solidFill>
                  <a:srgbClr val="000000">
                    <a:lumMod val="75000"/>
                    <a:lumOff val="25000"/>
                    <a:alpha val="10000"/>
                  </a:srgbClr>
                </a:solidFill>
              </a:ln>
              <a:solidFill>
                <a:srgbClr val="FFFF00"/>
              </a:solidFill>
              <a:effectLst/>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393897" y="1416822"/>
            <a:ext cx="11433584" cy="4870536"/>
          </a:xfrm>
        </p:spPr>
        <p:txBody>
          <a:bodyPr>
            <a:normAutofit/>
          </a:bodyPr>
          <a:lstStyle/>
          <a:p>
            <a:pPr algn="l">
              <a:lnSpc>
                <a:spcPct val="150000"/>
              </a:lnSpc>
            </a:pPr>
            <a:r>
              <a:rPr lang="en-GB" sz="2000" dirty="0">
                <a:effectLst/>
                <a:latin typeface="Arial"/>
                <a:cs typeface="Arial"/>
              </a:rPr>
              <a:t>Textbooks: Gray’s Anatomy, Clinically Oriented Anatomy (Moore) </a:t>
            </a:r>
            <a:r>
              <a:rPr lang="en-GB" sz="2000" i="1" dirty="0">
                <a:effectLst/>
                <a:latin typeface="Arial"/>
                <a:cs typeface="Arial"/>
              </a:rPr>
              <a:t>See Reading List</a:t>
            </a:r>
            <a:endParaRPr lang="en-GB" sz="2000" dirty="0">
              <a:effectLst/>
              <a:latin typeface="Arial"/>
              <a:cs typeface="Arial"/>
            </a:endParaRPr>
          </a:p>
          <a:p>
            <a:pPr algn="l">
              <a:lnSpc>
                <a:spcPct val="150000"/>
              </a:lnSpc>
            </a:pPr>
            <a:r>
              <a:rPr lang="en-GB" sz="2000" dirty="0">
                <a:effectLst/>
                <a:latin typeface="Arial"/>
                <a:cs typeface="Arial"/>
              </a:rPr>
              <a:t>3D Anatomy Apps: Visible Body, Complete Anatomy</a:t>
            </a:r>
          </a:p>
          <a:p>
            <a:pPr algn="l">
              <a:lnSpc>
                <a:spcPct val="150000"/>
              </a:lnSpc>
            </a:pPr>
            <a:r>
              <a:rPr lang="en-GB" sz="2000" dirty="0">
                <a:effectLst/>
                <a:latin typeface="Arial"/>
                <a:cs typeface="Arial"/>
              </a:rPr>
              <a:t>Websites and Online Platforms: </a:t>
            </a:r>
            <a:r>
              <a:rPr lang="en-GB" sz="2000" dirty="0" err="1">
                <a:effectLst/>
                <a:latin typeface="Arial"/>
                <a:cs typeface="Arial"/>
              </a:rPr>
              <a:t>TeachMeAnatomy</a:t>
            </a:r>
            <a:r>
              <a:rPr lang="en-GB" sz="2000" dirty="0">
                <a:effectLst/>
                <a:latin typeface="Arial"/>
                <a:cs typeface="Arial"/>
              </a:rPr>
              <a:t>, Khan Academy, </a:t>
            </a:r>
            <a:r>
              <a:rPr lang="en-GB" sz="2000" dirty="0" err="1">
                <a:effectLst/>
                <a:latin typeface="Arial"/>
                <a:cs typeface="Arial"/>
              </a:rPr>
              <a:t>Kenhub</a:t>
            </a:r>
            <a:r>
              <a:rPr lang="en-GB" sz="2000" dirty="0">
                <a:effectLst/>
                <a:latin typeface="Arial"/>
                <a:cs typeface="Arial"/>
              </a:rPr>
              <a:t>, Videos and Podcasts</a:t>
            </a:r>
            <a:endPar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spTree>
    <p:extLst>
      <p:ext uri="{BB962C8B-B14F-4D97-AF65-F5344CB8AC3E}">
        <p14:creationId xmlns:p14="http://schemas.microsoft.com/office/powerpoint/2010/main" val="151725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224564" y="282625"/>
            <a:ext cx="11211373" cy="738199"/>
          </a:xfrm>
        </p:spPr>
        <p:txBody>
          <a:bodyPr anchor="b">
            <a:noAutofit/>
          </a:bodyPr>
          <a:lstStyle/>
          <a:p>
            <a:pPr algn="l"/>
            <a:r>
              <a:rPr lang="en-GB" sz="3600" b="1" i="0" dirty="0">
                <a:solidFill>
                  <a:srgbClr val="FFFF00"/>
                </a:solidFill>
                <a:effectLst/>
                <a:latin typeface="Arial"/>
                <a:cs typeface="Arial"/>
              </a:rPr>
              <a:t>Conclusion</a:t>
            </a:r>
            <a:endParaRPr lang="en-GB" sz="3600" b="1" i="0" dirty="0">
              <a:ln>
                <a:solidFill>
                  <a:srgbClr val="000000">
                    <a:lumMod val="75000"/>
                    <a:lumOff val="25000"/>
                    <a:alpha val="10000"/>
                  </a:srgbClr>
                </a:solidFill>
              </a:ln>
              <a:solidFill>
                <a:srgbClr val="FFFF00"/>
              </a:solidFill>
              <a:effectLst/>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381802" y="1238998"/>
            <a:ext cx="11433584" cy="5624453"/>
          </a:xfrm>
        </p:spPr>
        <p:txBody>
          <a:bodyPr>
            <a:normAutofit/>
          </a:bodyPr>
          <a:lstStyle/>
          <a:p>
            <a:pPr algn="l">
              <a:lnSpc>
                <a:spcPct val="150000"/>
              </a:lnSpc>
            </a:pPr>
            <a:r>
              <a:rPr lang="en-GB" sz="2000" dirty="0">
                <a:effectLst/>
                <a:latin typeface="Arial"/>
                <a:cs typeface="Arial"/>
              </a:rPr>
              <a:t>Anatomy is fundamental for understanding the human body and its functions.</a:t>
            </a:r>
          </a:p>
          <a:p>
            <a:pPr algn="l">
              <a:lnSpc>
                <a:spcPct val="150000"/>
              </a:lnSpc>
            </a:pPr>
            <a:r>
              <a:rPr lang="en-GB" sz="2000" dirty="0">
                <a:effectLst/>
                <a:latin typeface="Arial"/>
                <a:cs typeface="Arial"/>
              </a:rPr>
              <a:t>Use anatomical terms to describe the body accurately.</a:t>
            </a:r>
          </a:p>
          <a:p>
            <a:pPr algn="l">
              <a:lnSpc>
                <a:spcPct val="150000"/>
              </a:lnSpc>
            </a:pPr>
            <a:r>
              <a:rPr lang="en-GB" sz="2000" dirty="0">
                <a:effectLst/>
                <a:latin typeface="Arial"/>
                <a:cs typeface="Arial"/>
              </a:rPr>
              <a:t>Apply active learning techniques to master the subject.</a:t>
            </a:r>
          </a:p>
          <a:p>
            <a:pPr algn="l">
              <a:lnSpc>
                <a:spcPct val="150000"/>
              </a:lnSpc>
            </a:pPr>
            <a:r>
              <a:rPr lang="en-GB" sz="2000" dirty="0">
                <a:effectLst/>
                <a:latin typeface="Arial"/>
                <a:cs typeface="Arial"/>
              </a:rPr>
              <a:t>Consistent study, using a variety of learning resources, is essential for success.</a:t>
            </a:r>
            <a:endParaRPr lang="en-GB" sz="2000" dirty="0">
              <a:ln>
                <a:solidFill>
                  <a:srgbClr val="000000">
                    <a:lumMod val="75000"/>
                    <a:lumOff val="25000"/>
                    <a:alpha val="10000"/>
                  </a:srgbClr>
                </a:solidFill>
              </a:ln>
              <a:effectLst/>
              <a:latin typeface="Arial" panose="020B0604020202020204" pitchFamily="34" charset="0"/>
              <a:cs typeface="Arial" panose="020B0604020202020204" pitchFamily="34" charset="0"/>
            </a:endParaRP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spTree>
    <p:extLst>
      <p:ext uri="{BB962C8B-B14F-4D97-AF65-F5344CB8AC3E}">
        <p14:creationId xmlns:p14="http://schemas.microsoft.com/office/powerpoint/2010/main" val="90427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847F59-5CC8-49D7-9297-49A947BF2886}"/>
              </a:ext>
            </a:extLst>
          </p:cNvPr>
          <p:cNvSpPr>
            <a:spLocks noGrp="1"/>
          </p:cNvSpPr>
          <p:nvPr>
            <p:ph type="ctrTitle"/>
          </p:nvPr>
        </p:nvSpPr>
        <p:spPr>
          <a:xfrm>
            <a:off x="176182" y="165023"/>
            <a:ext cx="11211373" cy="738199"/>
          </a:xfrm>
        </p:spPr>
        <p:txBody>
          <a:bodyPr anchor="b">
            <a:noAutofit/>
          </a:bodyPr>
          <a:lstStyle/>
          <a:p>
            <a:pPr algn="l"/>
            <a:r>
              <a:rPr lang="en-GB" sz="3600" b="1" i="0" dirty="0">
                <a:solidFill>
                  <a:srgbClr val="FFFF00"/>
                </a:solidFill>
                <a:effectLst/>
                <a:latin typeface="Arial"/>
                <a:cs typeface="Arial"/>
              </a:rPr>
              <a:t>References</a:t>
            </a:r>
            <a:endParaRPr lang="en-GB" sz="3600" b="1" i="0" dirty="0">
              <a:ln>
                <a:solidFill>
                  <a:srgbClr val="000000">
                    <a:lumMod val="75000"/>
                    <a:lumOff val="25000"/>
                    <a:alpha val="10000"/>
                  </a:srgbClr>
                </a:solidFill>
              </a:ln>
              <a:solidFill>
                <a:srgbClr val="FFFF00"/>
              </a:solidFill>
              <a:effectLst/>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8FAB5FA7-3DC1-4F96-95FC-D88691513ADA}"/>
              </a:ext>
            </a:extLst>
          </p:cNvPr>
          <p:cNvSpPr>
            <a:spLocks noGrp="1"/>
          </p:cNvSpPr>
          <p:nvPr>
            <p:ph type="subTitle" idx="1"/>
          </p:nvPr>
        </p:nvSpPr>
        <p:spPr>
          <a:xfrm>
            <a:off x="381802" y="1272109"/>
            <a:ext cx="11433584" cy="5765673"/>
          </a:xfrm>
        </p:spPr>
        <p:txBody>
          <a:bodyPr>
            <a:normAutofit/>
          </a:bodyPr>
          <a:lstStyle/>
          <a:p>
            <a:pPr marL="342900" indent="-342900" algn="l">
              <a:lnSpc>
                <a:spcPct val="120000"/>
              </a:lnSpc>
              <a:spcBef>
                <a:spcPts val="0"/>
              </a:spcBef>
              <a:spcAft>
                <a:spcPts val="0"/>
              </a:spcAft>
              <a:buFont typeface="Arial" panose="020B0604020202020204" pitchFamily="34" charset="0"/>
              <a:buChar char="•"/>
            </a:pPr>
            <a:r>
              <a:rPr lang="en-GB" sz="2000" dirty="0">
                <a:effectLst/>
                <a:latin typeface="Arial" panose="020B0604020202020204" pitchFamily="34" charset="0"/>
                <a:cs typeface="Arial" panose="020B0604020202020204" pitchFamily="34" charset="0"/>
              </a:rPr>
              <a:t>Drake, R. L., </a:t>
            </a:r>
            <a:r>
              <a:rPr lang="en-GB" sz="2000" dirty="0" err="1">
                <a:effectLst/>
                <a:latin typeface="Arial" panose="020B0604020202020204" pitchFamily="34" charset="0"/>
                <a:cs typeface="Arial" panose="020B0604020202020204" pitchFamily="34" charset="0"/>
              </a:rPr>
              <a:t>Vogl</a:t>
            </a:r>
            <a:r>
              <a:rPr lang="en-GB" sz="2000" dirty="0">
                <a:effectLst/>
                <a:latin typeface="Arial" panose="020B0604020202020204" pitchFamily="34" charset="0"/>
                <a:cs typeface="Arial" panose="020B0604020202020204" pitchFamily="34" charset="0"/>
              </a:rPr>
              <a:t>, A. W., &amp; Mitchell, A. W. M. (2019). Gray's Anatomy for Students. 4th ed. Philadelphia: Elsevier.</a:t>
            </a:r>
          </a:p>
          <a:p>
            <a:pPr marL="342900" indent="-342900" algn="l">
              <a:lnSpc>
                <a:spcPct val="120000"/>
              </a:lnSpc>
              <a:spcBef>
                <a:spcPts val="0"/>
              </a:spcBef>
              <a:spcAft>
                <a:spcPts val="0"/>
              </a:spcAft>
              <a:buFont typeface="Arial" panose="020B0604020202020204" pitchFamily="34" charset="0"/>
              <a:buChar char="•"/>
            </a:pPr>
            <a:r>
              <a:rPr lang="en-GB" sz="2000" dirty="0">
                <a:effectLst/>
                <a:latin typeface="Arial" panose="020B0604020202020204" pitchFamily="34" charset="0"/>
                <a:cs typeface="Arial" panose="020B0604020202020204" pitchFamily="34" charset="0"/>
              </a:rPr>
              <a:t>Moore, K. L., </a:t>
            </a:r>
            <a:r>
              <a:rPr lang="en-GB" sz="2000" dirty="0" err="1">
                <a:effectLst/>
                <a:latin typeface="Arial" panose="020B0604020202020204" pitchFamily="34" charset="0"/>
                <a:cs typeface="Arial" panose="020B0604020202020204" pitchFamily="34" charset="0"/>
              </a:rPr>
              <a:t>Dalley</a:t>
            </a:r>
            <a:r>
              <a:rPr lang="en-GB" sz="2000" dirty="0">
                <a:effectLst/>
                <a:latin typeface="Arial" panose="020B0604020202020204" pitchFamily="34" charset="0"/>
                <a:cs typeface="Arial" panose="020B0604020202020204" pitchFamily="34" charset="0"/>
              </a:rPr>
              <a:t>, A. F., &amp; </a:t>
            </a:r>
            <a:r>
              <a:rPr lang="en-GB" sz="2000" dirty="0" err="1">
                <a:effectLst/>
                <a:latin typeface="Arial" panose="020B0604020202020204" pitchFamily="34" charset="0"/>
                <a:cs typeface="Arial" panose="020B0604020202020204" pitchFamily="34" charset="0"/>
              </a:rPr>
              <a:t>Agur</a:t>
            </a:r>
            <a:r>
              <a:rPr lang="en-GB" sz="2000" dirty="0">
                <a:effectLst/>
                <a:latin typeface="Arial" panose="020B0604020202020204" pitchFamily="34" charset="0"/>
                <a:cs typeface="Arial" panose="020B0604020202020204" pitchFamily="34" charset="0"/>
              </a:rPr>
              <a:t>, A. M. R. (2018). Clinically Oriented Anatomy. 8th ed. Philadelphia: </a:t>
            </a:r>
          </a:p>
          <a:p>
            <a:pPr marL="342900" indent="-342900" algn="l">
              <a:lnSpc>
                <a:spcPct val="120000"/>
              </a:lnSpc>
              <a:spcBef>
                <a:spcPts val="0"/>
              </a:spcBef>
              <a:spcAft>
                <a:spcPts val="0"/>
              </a:spcAft>
              <a:buFont typeface="Arial" panose="020B0604020202020204" pitchFamily="34" charset="0"/>
              <a:buChar char="•"/>
            </a:pPr>
            <a:r>
              <a:rPr lang="en-GB" sz="2000" dirty="0">
                <a:effectLst/>
                <a:latin typeface="Arial" panose="020B0604020202020204" pitchFamily="34" charset="0"/>
                <a:cs typeface="Arial" panose="020B0604020202020204" pitchFamily="34" charset="0"/>
              </a:rPr>
              <a:t>Wolters </a:t>
            </a:r>
            <a:r>
              <a:rPr lang="en-GB" sz="2000" dirty="0" err="1">
                <a:effectLst/>
                <a:latin typeface="Arial" panose="020B0604020202020204" pitchFamily="34" charset="0"/>
                <a:cs typeface="Arial" panose="020B0604020202020204" pitchFamily="34" charset="0"/>
              </a:rPr>
              <a:t>Kluwer.Tortora</a:t>
            </a:r>
            <a:r>
              <a:rPr lang="en-GB" sz="2000" dirty="0">
                <a:effectLst/>
                <a:latin typeface="Arial" panose="020B0604020202020204" pitchFamily="34" charset="0"/>
                <a:cs typeface="Arial" panose="020B0604020202020204" pitchFamily="34" charset="0"/>
              </a:rPr>
              <a:t>, G. J., &amp; Nielsen, M. T. (2017). Principles of Human Anatomy. 14th ed. </a:t>
            </a:r>
          </a:p>
          <a:p>
            <a:pPr marL="342900" indent="-342900" algn="l">
              <a:lnSpc>
                <a:spcPct val="120000"/>
              </a:lnSpc>
              <a:spcBef>
                <a:spcPts val="0"/>
              </a:spcBef>
              <a:spcAft>
                <a:spcPts val="0"/>
              </a:spcAft>
              <a:buFont typeface="Arial" panose="020B0604020202020204" pitchFamily="34" charset="0"/>
              <a:buChar char="•"/>
            </a:pPr>
            <a:r>
              <a:rPr lang="en-GB" sz="2000" dirty="0">
                <a:effectLst/>
                <a:latin typeface="Arial" panose="020B0604020202020204" pitchFamily="34" charset="0"/>
                <a:cs typeface="Arial" panose="020B0604020202020204" pitchFamily="34" charset="0"/>
              </a:rPr>
              <a:t>Hoboken, NJ: </a:t>
            </a:r>
            <a:r>
              <a:rPr lang="en-GB" sz="2000" dirty="0" err="1">
                <a:effectLst/>
                <a:latin typeface="Arial" panose="020B0604020202020204" pitchFamily="34" charset="0"/>
                <a:cs typeface="Arial" panose="020B0604020202020204" pitchFamily="34" charset="0"/>
              </a:rPr>
              <a:t>Wiley.Netter</a:t>
            </a:r>
            <a:r>
              <a:rPr lang="en-GB" sz="2000" dirty="0">
                <a:effectLst/>
                <a:latin typeface="Arial" panose="020B0604020202020204" pitchFamily="34" charset="0"/>
                <a:cs typeface="Arial" panose="020B0604020202020204" pitchFamily="34" charset="0"/>
              </a:rPr>
              <a:t>, F. H. (2018). Atlas of Human Anatomy. 7th ed. Philadelphia: </a:t>
            </a:r>
          </a:p>
          <a:p>
            <a:pPr marL="342900" indent="-342900" algn="l">
              <a:lnSpc>
                <a:spcPct val="120000"/>
              </a:lnSpc>
              <a:spcBef>
                <a:spcPts val="0"/>
              </a:spcBef>
              <a:spcAft>
                <a:spcPts val="0"/>
              </a:spcAft>
              <a:buFont typeface="Arial" panose="020B0604020202020204" pitchFamily="34" charset="0"/>
              <a:buChar char="•"/>
            </a:pPr>
            <a:r>
              <a:rPr lang="en-GB" sz="2000" dirty="0" err="1">
                <a:effectLst/>
                <a:latin typeface="Arial" panose="020B0604020202020204" pitchFamily="34" charset="0"/>
                <a:cs typeface="Arial" panose="020B0604020202020204" pitchFamily="34" charset="0"/>
              </a:rPr>
              <a:t>Elsevier.Hansen</a:t>
            </a:r>
            <a:r>
              <a:rPr lang="en-GB" sz="2000" dirty="0">
                <a:effectLst/>
                <a:latin typeface="Arial" panose="020B0604020202020204" pitchFamily="34" charset="0"/>
                <a:cs typeface="Arial" panose="020B0604020202020204" pitchFamily="34" charset="0"/>
              </a:rPr>
              <a:t>, J. T. (2019). Netter’s Clinical Anatomy. 4th ed. Philadelphia: Elsevier</a:t>
            </a:r>
          </a:p>
        </p:txBody>
      </p:sp>
      <p:pic>
        <p:nvPicPr>
          <p:cNvPr id="6" name="Picture 5" descr="The London Metropolitan University Logo.  A circle of dots arranged such to appear like the rays of the sun.  Next to this image are the words - London Metropolitan University.  ">
            <a:extLst>
              <a:ext uri="{FF2B5EF4-FFF2-40B4-BE49-F238E27FC236}">
                <a16:creationId xmlns:a16="http://schemas.microsoft.com/office/drawing/2014/main" id="{4F7BD5D3-060A-4ACF-814D-292D0D06B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911" y="6028675"/>
            <a:ext cx="2078570" cy="533568"/>
          </a:xfrm>
          <a:prstGeom prst="rect">
            <a:avLst/>
          </a:prstGeom>
        </p:spPr>
      </p:pic>
    </p:spTree>
    <p:extLst>
      <p:ext uri="{BB962C8B-B14F-4D97-AF65-F5344CB8AC3E}">
        <p14:creationId xmlns:p14="http://schemas.microsoft.com/office/powerpoint/2010/main" val="40072162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AnalogousFromDarkSeed_2SEEDS">
      <a:dk1>
        <a:srgbClr val="000000"/>
      </a:dk1>
      <a:lt1>
        <a:srgbClr val="FFFFFF"/>
      </a:lt1>
      <a:dk2>
        <a:srgbClr val="243541"/>
      </a:dk2>
      <a:lt2>
        <a:srgbClr val="E8E4E2"/>
      </a:lt2>
      <a:accent1>
        <a:srgbClr val="3B80B1"/>
      </a:accent1>
      <a:accent2>
        <a:srgbClr val="46B2B2"/>
      </a:accent2>
      <a:accent3>
        <a:srgbClr val="4D61C3"/>
      </a:accent3>
      <a:accent4>
        <a:srgbClr val="B13B63"/>
      </a:accent4>
      <a:accent5>
        <a:srgbClr val="C3564D"/>
      </a:accent5>
      <a:accent6>
        <a:srgbClr val="B1763B"/>
      </a:accent6>
      <a:hlink>
        <a:srgbClr val="BA51C5"/>
      </a:hlink>
      <a:folHlink>
        <a:srgbClr val="7F7F7F"/>
      </a:folHlink>
    </a:clrScheme>
    <a:fontScheme name="Slate">
      <a:majorFont>
        <a:latin typeface="Goudy Old Style"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oudy Old Style"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BB57A6B9722DE4484E0FABA265746B5" ma:contentTypeVersion="15" ma:contentTypeDescription="Create a new document." ma:contentTypeScope="" ma:versionID="341e1f7a752c106204d1ebe5d3f3b305">
  <xsd:schema xmlns:xsd="http://www.w3.org/2001/XMLSchema" xmlns:xs="http://www.w3.org/2001/XMLSchema" xmlns:p="http://schemas.microsoft.com/office/2006/metadata/properties" xmlns:ns2="c19d9144-cbe3-4b5d-a710-46ada0e8ff40" xmlns:ns3="6c84a01b-aede-4370-8fa9-b7a959cab531" targetNamespace="http://schemas.microsoft.com/office/2006/metadata/properties" ma:root="true" ma:fieldsID="8019009bdd91a176b6846f2d186bc7fa" ns2:_="" ns3:_="">
    <xsd:import namespace="c19d9144-cbe3-4b5d-a710-46ada0e8ff40"/>
    <xsd:import namespace="6c84a01b-aede-4370-8fa9-b7a959cab53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LengthInSeconds" minOccurs="0"/>
                <xsd:element ref="ns2:MediaServiceLocatio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9d9144-cbe3-4b5d-a710-46ada0e8ff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Location" ma:index="13" nillable="true" ma:displayName="Location" ma:description="" ma:indexed="true"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8157f23b-4936-4da1-b1a0-d7d41e84edc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c84a01b-aede-4370-8fa9-b7a959cab53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0212087-951e-45e4-8ca2-10c3a363b24b}" ma:internalName="TaxCatchAll" ma:showField="CatchAllData" ma:web="6c84a01b-aede-4370-8fa9-b7a959cab531">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c84a01b-aede-4370-8fa9-b7a959cab531" xsi:nil="true"/>
    <lcf76f155ced4ddcb4097134ff3c332f xmlns="c19d9144-cbe3-4b5d-a710-46ada0e8ff4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371C023-518E-4E32-929B-269A28109D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9d9144-cbe3-4b5d-a710-46ada0e8ff40"/>
    <ds:schemaRef ds:uri="6c84a01b-aede-4370-8fa9-b7a959cab5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437F6A-1939-496A-84A6-B337BF1262F3}">
  <ds:schemaRefs>
    <ds:schemaRef ds:uri="http://schemas.microsoft.com/sharepoint/v3/contenttype/forms"/>
  </ds:schemaRefs>
</ds:datastoreItem>
</file>

<file path=customXml/itemProps3.xml><?xml version="1.0" encoding="utf-8"?>
<ds:datastoreItem xmlns:ds="http://schemas.openxmlformats.org/officeDocument/2006/customXml" ds:itemID="{83A94EE6-BB10-4C0A-AA1D-C5D9064202CF}">
  <ds:schemaRefs>
    <ds:schemaRef ds:uri="http://schemas.microsoft.com/office/2006/metadata/properties"/>
    <ds:schemaRef ds:uri="http://schemas.microsoft.com/office/infopath/2007/PartnerControls"/>
    <ds:schemaRef ds:uri="6c84a01b-aede-4370-8fa9-b7a959cab531"/>
    <ds:schemaRef ds:uri="c19d9144-cbe3-4b5d-a710-46ada0e8ff40"/>
  </ds:schemaRefs>
</ds:datastoreItem>
</file>

<file path=docProps/app.xml><?xml version="1.0" encoding="utf-8"?>
<Properties xmlns="http://schemas.openxmlformats.org/officeDocument/2006/extended-properties" xmlns:vt="http://schemas.openxmlformats.org/officeDocument/2006/docPropsVTypes">
  <TotalTime>0</TotalTime>
  <Words>1493</Words>
  <Application>Microsoft Office PowerPoint</Application>
  <PresentationFormat>Widescreen</PresentationFormat>
  <Paragraphs>167</Paragraphs>
  <Slides>24</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Goudy Old Style</vt:lpstr>
      <vt:lpstr>PlutoSansLight</vt:lpstr>
      <vt:lpstr>var(--medium)</vt:lpstr>
      <vt:lpstr>Wingdings 2</vt:lpstr>
      <vt:lpstr>SlateVTI</vt:lpstr>
      <vt:lpstr>INTRODUCTION TO ANATOMY, TERMINOLOGIES AND LEARNING</vt:lpstr>
      <vt:lpstr>Objectives of the Session</vt:lpstr>
      <vt:lpstr>What is Anatomy?: </vt:lpstr>
      <vt:lpstr>Levels of Structural Organization</vt:lpstr>
      <vt:lpstr>Why Study Anatomy?</vt:lpstr>
      <vt:lpstr>Let’s Start at the Very Beginning?</vt:lpstr>
      <vt:lpstr>PowerPoint Presentation</vt:lpstr>
      <vt:lpstr> Anatomical Terminologies</vt:lpstr>
      <vt:lpstr>A little Quizlet</vt:lpstr>
      <vt:lpstr>Regional Terminologies</vt:lpstr>
      <vt:lpstr>Body Cavities and Regions:</vt:lpstr>
      <vt:lpstr>Movement Terminologies</vt:lpstr>
      <vt:lpstr>PowerPoint Presentation</vt:lpstr>
      <vt:lpstr>PowerPoint Presentation</vt:lpstr>
      <vt:lpstr>PowerPoint Presentation</vt:lpstr>
      <vt:lpstr>Common Anatomical Abbreviations</vt:lpstr>
      <vt:lpstr>Anatomical Variability</vt:lpstr>
      <vt:lpstr>Learning Strategies in Anatomy</vt:lpstr>
      <vt:lpstr>Study Tips for Anatomy</vt:lpstr>
      <vt:lpstr>Common Challenges in Learning Anatomy</vt:lpstr>
      <vt:lpstr>Overcoming Challenges in Learning Anatomy</vt:lpstr>
      <vt:lpstr>Key Resources for Anatomy Learning</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strategy-based approach to learning</dc:title>
  <dc:creator>Paul Guyver</dc:creator>
  <cp:lastModifiedBy>Ngozi Onuegbu</cp:lastModifiedBy>
  <cp:revision>382</cp:revision>
  <dcterms:created xsi:type="dcterms:W3CDTF">2020-06-23T10:19:50Z</dcterms:created>
  <dcterms:modified xsi:type="dcterms:W3CDTF">2024-09-22T11:50:16Z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0x010100DBB57A6B9722DE4484E0FABA265746B5</vt:lpwstr>
  </property>
  <property fmtid="{D5CDD505-2E9C-101B-9397-08002B2CF9AE}" pid="3" name="MediaServiceImageTags">
    <vt:lpwstr/>
  </property>
</Properties>
</file>