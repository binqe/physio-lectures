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84" r:id="rId1"/>
  </p:sldMasterIdLst>
  <p:notesMasterIdLst>
    <p:notesMasterId r:id="rId40"/>
  </p:notesMasterIdLst>
  <p:sldIdLst>
    <p:sldId id="256" r:id="rId2"/>
    <p:sldId id="448" r:id="rId3"/>
    <p:sldId id="566" r:id="rId4"/>
    <p:sldId id="551" r:id="rId5"/>
    <p:sldId id="283" r:id="rId6"/>
    <p:sldId id="527" r:id="rId7"/>
    <p:sldId id="543" r:id="rId8"/>
    <p:sldId id="544" r:id="rId9"/>
    <p:sldId id="545" r:id="rId10"/>
    <p:sldId id="546" r:id="rId11"/>
    <p:sldId id="547" r:id="rId12"/>
    <p:sldId id="548" r:id="rId13"/>
    <p:sldId id="534" r:id="rId14"/>
    <p:sldId id="275" r:id="rId15"/>
    <p:sldId id="564" r:id="rId16"/>
    <p:sldId id="536" r:id="rId17"/>
    <p:sldId id="348" r:id="rId18"/>
    <p:sldId id="319" r:id="rId19"/>
    <p:sldId id="554" r:id="rId20"/>
    <p:sldId id="557" r:id="rId21"/>
    <p:sldId id="558" r:id="rId22"/>
    <p:sldId id="559" r:id="rId23"/>
    <p:sldId id="525" r:id="rId24"/>
    <p:sldId id="560" r:id="rId25"/>
    <p:sldId id="339" r:id="rId26"/>
    <p:sldId id="562" r:id="rId27"/>
    <p:sldId id="563" r:id="rId28"/>
    <p:sldId id="369" r:id="rId29"/>
    <p:sldId id="331" r:id="rId30"/>
    <p:sldId id="273" r:id="rId31"/>
    <p:sldId id="271" r:id="rId32"/>
    <p:sldId id="305" r:id="rId33"/>
    <p:sldId id="289" r:id="rId34"/>
    <p:sldId id="556" r:id="rId35"/>
    <p:sldId id="257" r:id="rId36"/>
    <p:sldId id="301" r:id="rId37"/>
    <p:sldId id="565" r:id="rId38"/>
    <p:sldId id="30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fshan Aghili" initials="AA" lastIdx="1" clrIdx="0">
    <p:extLst>
      <p:ext uri="{19B8F6BF-5375-455C-9EA6-DF929625EA0E}">
        <p15:presenceInfo xmlns:p15="http://schemas.microsoft.com/office/powerpoint/2012/main" userId="S::aghilia@staff.londonmet.ac.uk::2cc03047-5caf-43c7-a2ac-2d98a125a5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5325" autoAdjust="0"/>
  </p:normalViewPr>
  <p:slideViewPr>
    <p:cSldViewPr>
      <p:cViewPr varScale="1">
        <p:scale>
          <a:sx n="105" d="100"/>
          <a:sy n="105" d="100"/>
        </p:scale>
        <p:origin x="1632" y="114"/>
      </p:cViewPr>
      <p:guideLst>
        <p:guide orient="horz" pos="2160"/>
        <p:guide pos="2880"/>
      </p:guideLst>
    </p:cSldViewPr>
  </p:slideViewPr>
  <p:notesTextViewPr>
    <p:cViewPr>
      <p:scale>
        <a:sx n="100" d="100"/>
        <a:sy n="100" d="100"/>
      </p:scale>
      <p:origin x="0" y="0"/>
    </p:cViewPr>
  </p:notesTextViewPr>
  <p:sorterViewPr>
    <p:cViewPr>
      <p:scale>
        <a:sx n="116" d="100"/>
        <a:sy n="116" d="100"/>
      </p:scale>
      <p:origin x="0" y="-314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66246-E41A-4F09-ABBC-D8CAAABC734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3BB4BAB-FCFF-4DF4-BBC6-DE763D03D469}">
      <dgm:prSet/>
      <dgm:spPr/>
      <dgm:t>
        <a:bodyPr/>
        <a:lstStyle/>
        <a:p>
          <a:pPr>
            <a:lnSpc>
              <a:spcPct val="100000"/>
            </a:lnSpc>
          </a:pPr>
          <a:r>
            <a:rPr lang="en-GB" b="1"/>
            <a:t>Critically evaluate</a:t>
          </a:r>
          <a:r>
            <a:rPr lang="en-GB"/>
            <a:t> public health and nutrition interventions </a:t>
          </a:r>
          <a:endParaRPr lang="en-US"/>
        </a:p>
      </dgm:t>
    </dgm:pt>
    <dgm:pt modelId="{58478B8E-E3E5-42E5-BC3D-52BB1E9BD5A1}" type="parTrans" cxnId="{4197C90B-EF3E-4790-8B13-1C348E7D6A8C}">
      <dgm:prSet/>
      <dgm:spPr/>
      <dgm:t>
        <a:bodyPr/>
        <a:lstStyle/>
        <a:p>
          <a:endParaRPr lang="en-US"/>
        </a:p>
      </dgm:t>
    </dgm:pt>
    <dgm:pt modelId="{B0829634-7D33-4D24-8EA2-2F40013F87DA}" type="sibTrans" cxnId="{4197C90B-EF3E-4790-8B13-1C348E7D6A8C}">
      <dgm:prSet/>
      <dgm:spPr/>
      <dgm:t>
        <a:bodyPr/>
        <a:lstStyle/>
        <a:p>
          <a:endParaRPr lang="en-US"/>
        </a:p>
      </dgm:t>
    </dgm:pt>
    <dgm:pt modelId="{5383CE92-A23D-40C1-B4CE-487CD836E13C}">
      <dgm:prSet/>
      <dgm:spPr/>
      <dgm:t>
        <a:bodyPr/>
        <a:lstStyle/>
        <a:p>
          <a:pPr>
            <a:lnSpc>
              <a:spcPct val="100000"/>
            </a:lnSpc>
          </a:pPr>
          <a:r>
            <a:rPr lang="en-GB" b="1"/>
            <a:t>Differentiate and integrate</a:t>
          </a:r>
          <a:r>
            <a:rPr lang="en-GB"/>
            <a:t> clinical, community and population approaches </a:t>
          </a:r>
          <a:endParaRPr lang="en-US"/>
        </a:p>
      </dgm:t>
    </dgm:pt>
    <dgm:pt modelId="{CC281859-0A66-4708-B447-42857B4E33ED}" type="parTrans" cxnId="{EC2086B1-E6A0-4664-881E-F509D854642C}">
      <dgm:prSet/>
      <dgm:spPr/>
      <dgm:t>
        <a:bodyPr/>
        <a:lstStyle/>
        <a:p>
          <a:endParaRPr lang="en-US"/>
        </a:p>
      </dgm:t>
    </dgm:pt>
    <dgm:pt modelId="{23574CBB-2BC7-47AF-9762-6CC6ECD92C1D}" type="sibTrans" cxnId="{EC2086B1-E6A0-4664-881E-F509D854642C}">
      <dgm:prSet/>
      <dgm:spPr/>
      <dgm:t>
        <a:bodyPr/>
        <a:lstStyle/>
        <a:p>
          <a:endParaRPr lang="en-US"/>
        </a:p>
      </dgm:t>
    </dgm:pt>
    <dgm:pt modelId="{2830257C-7728-46FF-B59D-5F99B5A09038}">
      <dgm:prSet/>
      <dgm:spPr/>
      <dgm:t>
        <a:bodyPr/>
        <a:lstStyle/>
        <a:p>
          <a:pPr>
            <a:lnSpc>
              <a:spcPct val="100000"/>
            </a:lnSpc>
          </a:pPr>
          <a:r>
            <a:rPr lang="en-GB" b="1"/>
            <a:t>Apply systems thinking</a:t>
          </a:r>
          <a:r>
            <a:rPr lang="en-GB"/>
            <a:t> to nutrition‑related health challenges </a:t>
          </a:r>
          <a:endParaRPr lang="en-US"/>
        </a:p>
      </dgm:t>
    </dgm:pt>
    <dgm:pt modelId="{446D5ACC-DF68-4F32-8E1D-7C0A4F10B6AE}" type="parTrans" cxnId="{C48319C3-AAF2-4DE3-83CD-C0E531A982A0}">
      <dgm:prSet/>
      <dgm:spPr/>
      <dgm:t>
        <a:bodyPr/>
        <a:lstStyle/>
        <a:p>
          <a:endParaRPr lang="en-US"/>
        </a:p>
      </dgm:t>
    </dgm:pt>
    <dgm:pt modelId="{10C27035-A9A0-4E48-9B3B-B30298A92153}" type="sibTrans" cxnId="{C48319C3-AAF2-4DE3-83CD-C0E531A982A0}">
      <dgm:prSet/>
      <dgm:spPr/>
      <dgm:t>
        <a:bodyPr/>
        <a:lstStyle/>
        <a:p>
          <a:endParaRPr lang="en-US"/>
        </a:p>
      </dgm:t>
    </dgm:pt>
    <dgm:pt modelId="{E02740D8-4B69-4A3C-B152-A24F93B913C1}">
      <dgm:prSet/>
      <dgm:spPr/>
      <dgm:t>
        <a:bodyPr/>
        <a:lstStyle/>
        <a:p>
          <a:pPr>
            <a:lnSpc>
              <a:spcPct val="100000"/>
            </a:lnSpc>
          </a:pPr>
          <a:r>
            <a:rPr lang="en-GB" b="1"/>
            <a:t>Analyse the role of policy, power and inequality</a:t>
          </a:r>
          <a:r>
            <a:rPr lang="en-GB"/>
            <a:t> in shaping diet and health </a:t>
          </a:r>
          <a:endParaRPr lang="en-US"/>
        </a:p>
      </dgm:t>
    </dgm:pt>
    <dgm:pt modelId="{C2163939-02DF-4B0F-98BC-E7B77B47D442}" type="parTrans" cxnId="{73F458AB-7205-49D9-8F0A-C34BAD2C6BA8}">
      <dgm:prSet/>
      <dgm:spPr/>
      <dgm:t>
        <a:bodyPr/>
        <a:lstStyle/>
        <a:p>
          <a:endParaRPr lang="en-US"/>
        </a:p>
      </dgm:t>
    </dgm:pt>
    <dgm:pt modelId="{A7EF0D1B-8981-49F7-8CFF-9C4970A6CE79}" type="sibTrans" cxnId="{73F458AB-7205-49D9-8F0A-C34BAD2C6BA8}">
      <dgm:prSet/>
      <dgm:spPr/>
      <dgm:t>
        <a:bodyPr/>
        <a:lstStyle/>
        <a:p>
          <a:endParaRPr lang="en-US"/>
        </a:p>
      </dgm:t>
    </dgm:pt>
    <dgm:pt modelId="{E24ADCA6-9F2E-41B6-A18E-0DAB09AEDB2D}">
      <dgm:prSet/>
      <dgm:spPr/>
      <dgm:t>
        <a:bodyPr/>
        <a:lstStyle/>
        <a:p>
          <a:pPr>
            <a:lnSpc>
              <a:spcPct val="100000"/>
            </a:lnSpc>
          </a:pPr>
          <a:r>
            <a:rPr lang="en-GB" b="1"/>
            <a:t>Justify intervention choices</a:t>
          </a:r>
          <a:r>
            <a:rPr lang="en-GB"/>
            <a:t> using evidence and public health principles</a:t>
          </a:r>
          <a:endParaRPr lang="en-US"/>
        </a:p>
      </dgm:t>
    </dgm:pt>
    <dgm:pt modelId="{CEDFB630-E17F-4B8A-A8E2-D195A6E8C03D}" type="parTrans" cxnId="{96C84130-6E87-4E25-AED5-7E9940385909}">
      <dgm:prSet/>
      <dgm:spPr/>
      <dgm:t>
        <a:bodyPr/>
        <a:lstStyle/>
        <a:p>
          <a:endParaRPr lang="en-US"/>
        </a:p>
      </dgm:t>
    </dgm:pt>
    <dgm:pt modelId="{A4D2A82E-EF77-4BE3-A413-11A515970F71}" type="sibTrans" cxnId="{96C84130-6E87-4E25-AED5-7E9940385909}">
      <dgm:prSet/>
      <dgm:spPr/>
      <dgm:t>
        <a:bodyPr/>
        <a:lstStyle/>
        <a:p>
          <a:endParaRPr lang="en-US"/>
        </a:p>
      </dgm:t>
    </dgm:pt>
    <dgm:pt modelId="{DC6A028E-C938-4711-A3C6-DEB88CF0751A}" type="pres">
      <dgm:prSet presAssocID="{C9D66246-E41A-4F09-ABBC-D8CAAABC734B}" presName="root" presStyleCnt="0">
        <dgm:presLayoutVars>
          <dgm:dir/>
          <dgm:resizeHandles val="exact"/>
        </dgm:presLayoutVars>
      </dgm:prSet>
      <dgm:spPr/>
    </dgm:pt>
    <dgm:pt modelId="{72E3263A-25F4-4423-A0D3-29DA36EB16BA}" type="pres">
      <dgm:prSet presAssocID="{C3BB4BAB-FCFF-4DF4-BBC6-DE763D03D469}" presName="compNode" presStyleCnt="0"/>
      <dgm:spPr/>
    </dgm:pt>
    <dgm:pt modelId="{2EF2E96F-3C41-4116-BC64-CCA2DCE04DC0}" type="pres">
      <dgm:prSet presAssocID="{C3BB4BAB-FCFF-4DF4-BBC6-DE763D03D469}" presName="bgRect" presStyleLbl="bgShp" presStyleIdx="0" presStyleCnt="5"/>
      <dgm:spPr/>
    </dgm:pt>
    <dgm:pt modelId="{8CFCF72E-1B97-4611-B4C3-91924D0C820E}" type="pres">
      <dgm:prSet presAssocID="{C3BB4BAB-FCFF-4DF4-BBC6-DE763D03D46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pple"/>
        </a:ext>
      </dgm:extLst>
    </dgm:pt>
    <dgm:pt modelId="{8D9C3FD9-219C-4812-B36D-330CD32B9D7A}" type="pres">
      <dgm:prSet presAssocID="{C3BB4BAB-FCFF-4DF4-BBC6-DE763D03D469}" presName="spaceRect" presStyleCnt="0"/>
      <dgm:spPr/>
    </dgm:pt>
    <dgm:pt modelId="{B3E07C5F-6DDF-413B-A944-89A9AE40E27B}" type="pres">
      <dgm:prSet presAssocID="{C3BB4BAB-FCFF-4DF4-BBC6-DE763D03D469}" presName="parTx" presStyleLbl="revTx" presStyleIdx="0" presStyleCnt="5">
        <dgm:presLayoutVars>
          <dgm:chMax val="0"/>
          <dgm:chPref val="0"/>
        </dgm:presLayoutVars>
      </dgm:prSet>
      <dgm:spPr/>
    </dgm:pt>
    <dgm:pt modelId="{EE5C2543-0477-4A1D-B359-4E63C89529D7}" type="pres">
      <dgm:prSet presAssocID="{B0829634-7D33-4D24-8EA2-2F40013F87DA}" presName="sibTrans" presStyleCnt="0"/>
      <dgm:spPr/>
    </dgm:pt>
    <dgm:pt modelId="{0773EDCD-874D-4FD2-8D89-18473B7BCC80}" type="pres">
      <dgm:prSet presAssocID="{5383CE92-A23D-40C1-B4CE-487CD836E13C}" presName="compNode" presStyleCnt="0"/>
      <dgm:spPr/>
    </dgm:pt>
    <dgm:pt modelId="{5AFAB097-F50D-45A7-8EE7-CF76A48B2FB4}" type="pres">
      <dgm:prSet presAssocID="{5383CE92-A23D-40C1-B4CE-487CD836E13C}" presName="bgRect" presStyleLbl="bgShp" presStyleIdx="1" presStyleCnt="5"/>
      <dgm:spPr/>
    </dgm:pt>
    <dgm:pt modelId="{8D1E06CA-05E0-4D61-AF4D-FF1E6AA48149}" type="pres">
      <dgm:prSet presAssocID="{5383CE92-A23D-40C1-B4CE-487CD836E13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oup"/>
        </a:ext>
      </dgm:extLst>
    </dgm:pt>
    <dgm:pt modelId="{371DF79E-888D-47B5-97CE-E9A53101DC4D}" type="pres">
      <dgm:prSet presAssocID="{5383CE92-A23D-40C1-B4CE-487CD836E13C}" presName="spaceRect" presStyleCnt="0"/>
      <dgm:spPr/>
    </dgm:pt>
    <dgm:pt modelId="{0C2F7A17-B9C8-4CA4-B3F4-445106047BB5}" type="pres">
      <dgm:prSet presAssocID="{5383CE92-A23D-40C1-B4CE-487CD836E13C}" presName="parTx" presStyleLbl="revTx" presStyleIdx="1" presStyleCnt="5">
        <dgm:presLayoutVars>
          <dgm:chMax val="0"/>
          <dgm:chPref val="0"/>
        </dgm:presLayoutVars>
      </dgm:prSet>
      <dgm:spPr/>
    </dgm:pt>
    <dgm:pt modelId="{16BAE86B-85BD-48A1-8B19-C1F296DE240D}" type="pres">
      <dgm:prSet presAssocID="{23574CBB-2BC7-47AF-9762-6CC6ECD92C1D}" presName="sibTrans" presStyleCnt="0"/>
      <dgm:spPr/>
    </dgm:pt>
    <dgm:pt modelId="{4F24D46D-3F4D-47C8-ABA1-9178F5D39AD7}" type="pres">
      <dgm:prSet presAssocID="{2830257C-7728-46FF-B59D-5F99B5A09038}" presName="compNode" presStyleCnt="0"/>
      <dgm:spPr/>
    </dgm:pt>
    <dgm:pt modelId="{798334B3-20A1-407A-A0C3-3D9FAE079752}" type="pres">
      <dgm:prSet presAssocID="{2830257C-7728-46FF-B59D-5F99B5A09038}" presName="bgRect" presStyleLbl="bgShp" presStyleIdx="2" presStyleCnt="5"/>
      <dgm:spPr/>
    </dgm:pt>
    <dgm:pt modelId="{9812A3E2-291C-4287-BA12-AC17C7FF6C16}" type="pres">
      <dgm:prSet presAssocID="{2830257C-7728-46FF-B59D-5F99B5A0903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ruit Bowl"/>
        </a:ext>
      </dgm:extLst>
    </dgm:pt>
    <dgm:pt modelId="{8F52ACEA-0AFB-4A47-AA92-FEC45F4808CF}" type="pres">
      <dgm:prSet presAssocID="{2830257C-7728-46FF-B59D-5F99B5A09038}" presName="spaceRect" presStyleCnt="0"/>
      <dgm:spPr/>
    </dgm:pt>
    <dgm:pt modelId="{4204908B-5C72-4890-B892-9F793C7775AF}" type="pres">
      <dgm:prSet presAssocID="{2830257C-7728-46FF-B59D-5F99B5A09038}" presName="parTx" presStyleLbl="revTx" presStyleIdx="2" presStyleCnt="5">
        <dgm:presLayoutVars>
          <dgm:chMax val="0"/>
          <dgm:chPref val="0"/>
        </dgm:presLayoutVars>
      </dgm:prSet>
      <dgm:spPr/>
    </dgm:pt>
    <dgm:pt modelId="{EFA01137-053C-439C-932B-26CD4CAD8CAF}" type="pres">
      <dgm:prSet presAssocID="{10C27035-A9A0-4E48-9B3B-B30298A92153}" presName="sibTrans" presStyleCnt="0"/>
      <dgm:spPr/>
    </dgm:pt>
    <dgm:pt modelId="{83ED8800-9AB0-41ED-8B78-78D7953F9166}" type="pres">
      <dgm:prSet presAssocID="{E02740D8-4B69-4A3C-B152-A24F93B913C1}" presName="compNode" presStyleCnt="0"/>
      <dgm:spPr/>
    </dgm:pt>
    <dgm:pt modelId="{60C9B229-AC94-4624-B1A2-A548622952E2}" type="pres">
      <dgm:prSet presAssocID="{E02740D8-4B69-4A3C-B152-A24F93B913C1}" presName="bgRect" presStyleLbl="bgShp" presStyleIdx="3" presStyleCnt="5"/>
      <dgm:spPr/>
    </dgm:pt>
    <dgm:pt modelId="{3F62C41C-5997-4E25-B09A-10D8C89BFD74}" type="pres">
      <dgm:prSet presAssocID="{E02740D8-4B69-4A3C-B152-A24F93B913C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tor"/>
        </a:ext>
      </dgm:extLst>
    </dgm:pt>
    <dgm:pt modelId="{1F01964C-F4E7-4D10-A8E9-4FB0E41BD1E5}" type="pres">
      <dgm:prSet presAssocID="{E02740D8-4B69-4A3C-B152-A24F93B913C1}" presName="spaceRect" presStyleCnt="0"/>
      <dgm:spPr/>
    </dgm:pt>
    <dgm:pt modelId="{A504B648-4431-43EB-B8FB-FBBD3E574031}" type="pres">
      <dgm:prSet presAssocID="{E02740D8-4B69-4A3C-B152-A24F93B913C1}" presName="parTx" presStyleLbl="revTx" presStyleIdx="3" presStyleCnt="5">
        <dgm:presLayoutVars>
          <dgm:chMax val="0"/>
          <dgm:chPref val="0"/>
        </dgm:presLayoutVars>
      </dgm:prSet>
      <dgm:spPr/>
    </dgm:pt>
    <dgm:pt modelId="{2E6FE4DF-694C-4E80-A8CB-3E73B8FDE110}" type="pres">
      <dgm:prSet presAssocID="{A7EF0D1B-8981-49F7-8CFF-9C4970A6CE79}" presName="sibTrans" presStyleCnt="0"/>
      <dgm:spPr/>
    </dgm:pt>
    <dgm:pt modelId="{68158D49-C77D-4444-8BD9-AD50B6F226A1}" type="pres">
      <dgm:prSet presAssocID="{E24ADCA6-9F2E-41B6-A18E-0DAB09AEDB2D}" presName="compNode" presStyleCnt="0"/>
      <dgm:spPr/>
    </dgm:pt>
    <dgm:pt modelId="{B8799CD2-5A6E-4637-ACD4-F6ED569AD0E0}" type="pres">
      <dgm:prSet presAssocID="{E24ADCA6-9F2E-41B6-A18E-0DAB09AEDB2D}" presName="bgRect" presStyleLbl="bgShp" presStyleIdx="4" presStyleCnt="5"/>
      <dgm:spPr/>
    </dgm:pt>
    <dgm:pt modelId="{2164BE05-20BA-4727-88FC-CE47082A3ED9}" type="pres">
      <dgm:prSet presAssocID="{E24ADCA6-9F2E-41B6-A18E-0DAB09AEDB2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tethoscope"/>
        </a:ext>
      </dgm:extLst>
    </dgm:pt>
    <dgm:pt modelId="{3C366470-DA77-4008-BD62-D4C32C6E5853}" type="pres">
      <dgm:prSet presAssocID="{E24ADCA6-9F2E-41B6-A18E-0DAB09AEDB2D}" presName="spaceRect" presStyleCnt="0"/>
      <dgm:spPr/>
    </dgm:pt>
    <dgm:pt modelId="{C6304BAC-84C1-4F88-A59E-6BCB55D298DD}" type="pres">
      <dgm:prSet presAssocID="{E24ADCA6-9F2E-41B6-A18E-0DAB09AEDB2D}" presName="parTx" presStyleLbl="revTx" presStyleIdx="4" presStyleCnt="5">
        <dgm:presLayoutVars>
          <dgm:chMax val="0"/>
          <dgm:chPref val="0"/>
        </dgm:presLayoutVars>
      </dgm:prSet>
      <dgm:spPr/>
    </dgm:pt>
  </dgm:ptLst>
  <dgm:cxnLst>
    <dgm:cxn modelId="{4197C90B-EF3E-4790-8B13-1C348E7D6A8C}" srcId="{C9D66246-E41A-4F09-ABBC-D8CAAABC734B}" destId="{C3BB4BAB-FCFF-4DF4-BBC6-DE763D03D469}" srcOrd="0" destOrd="0" parTransId="{58478B8E-E3E5-42E5-BC3D-52BB1E9BD5A1}" sibTransId="{B0829634-7D33-4D24-8EA2-2F40013F87DA}"/>
    <dgm:cxn modelId="{96C84130-6E87-4E25-AED5-7E9940385909}" srcId="{C9D66246-E41A-4F09-ABBC-D8CAAABC734B}" destId="{E24ADCA6-9F2E-41B6-A18E-0DAB09AEDB2D}" srcOrd="4" destOrd="0" parTransId="{CEDFB630-E17F-4B8A-A8E2-D195A6E8C03D}" sibTransId="{A4D2A82E-EF77-4BE3-A413-11A515970F71}"/>
    <dgm:cxn modelId="{988F7681-2B19-46D3-90AF-0C7AE3146386}" type="presOf" srcId="{2830257C-7728-46FF-B59D-5F99B5A09038}" destId="{4204908B-5C72-4890-B892-9F793C7775AF}" srcOrd="0" destOrd="0" presId="urn:microsoft.com/office/officeart/2018/2/layout/IconVerticalSolidList"/>
    <dgm:cxn modelId="{BDD8DC9A-CBE0-48AE-A924-76B63A34110C}" type="presOf" srcId="{5383CE92-A23D-40C1-B4CE-487CD836E13C}" destId="{0C2F7A17-B9C8-4CA4-B3F4-445106047BB5}" srcOrd="0" destOrd="0" presId="urn:microsoft.com/office/officeart/2018/2/layout/IconVerticalSolidList"/>
    <dgm:cxn modelId="{73F458AB-7205-49D9-8F0A-C34BAD2C6BA8}" srcId="{C9D66246-E41A-4F09-ABBC-D8CAAABC734B}" destId="{E02740D8-4B69-4A3C-B152-A24F93B913C1}" srcOrd="3" destOrd="0" parTransId="{C2163939-02DF-4B0F-98BC-E7B77B47D442}" sibTransId="{A7EF0D1B-8981-49F7-8CFF-9C4970A6CE79}"/>
    <dgm:cxn modelId="{EC2086B1-E6A0-4664-881E-F509D854642C}" srcId="{C9D66246-E41A-4F09-ABBC-D8CAAABC734B}" destId="{5383CE92-A23D-40C1-B4CE-487CD836E13C}" srcOrd="1" destOrd="0" parTransId="{CC281859-0A66-4708-B447-42857B4E33ED}" sibTransId="{23574CBB-2BC7-47AF-9762-6CC6ECD92C1D}"/>
    <dgm:cxn modelId="{C48319C3-AAF2-4DE3-83CD-C0E531A982A0}" srcId="{C9D66246-E41A-4F09-ABBC-D8CAAABC734B}" destId="{2830257C-7728-46FF-B59D-5F99B5A09038}" srcOrd="2" destOrd="0" parTransId="{446D5ACC-DF68-4F32-8E1D-7C0A4F10B6AE}" sibTransId="{10C27035-A9A0-4E48-9B3B-B30298A92153}"/>
    <dgm:cxn modelId="{E41B6DC6-6864-4981-B93B-3DF89FC9DF8D}" type="presOf" srcId="{E02740D8-4B69-4A3C-B152-A24F93B913C1}" destId="{A504B648-4431-43EB-B8FB-FBBD3E574031}" srcOrd="0" destOrd="0" presId="urn:microsoft.com/office/officeart/2018/2/layout/IconVerticalSolidList"/>
    <dgm:cxn modelId="{47868CC8-DFC3-427B-B6B0-066FAF8AD657}" type="presOf" srcId="{C3BB4BAB-FCFF-4DF4-BBC6-DE763D03D469}" destId="{B3E07C5F-6DDF-413B-A944-89A9AE40E27B}" srcOrd="0" destOrd="0" presId="urn:microsoft.com/office/officeart/2018/2/layout/IconVerticalSolidList"/>
    <dgm:cxn modelId="{8E384AE9-7155-4387-987F-5BC68CE45B4F}" type="presOf" srcId="{C9D66246-E41A-4F09-ABBC-D8CAAABC734B}" destId="{DC6A028E-C938-4711-A3C6-DEB88CF0751A}" srcOrd="0" destOrd="0" presId="urn:microsoft.com/office/officeart/2018/2/layout/IconVerticalSolidList"/>
    <dgm:cxn modelId="{B3573AEE-4DF7-4D2C-BCED-969598947911}" type="presOf" srcId="{E24ADCA6-9F2E-41B6-A18E-0DAB09AEDB2D}" destId="{C6304BAC-84C1-4F88-A59E-6BCB55D298DD}" srcOrd="0" destOrd="0" presId="urn:microsoft.com/office/officeart/2018/2/layout/IconVerticalSolidList"/>
    <dgm:cxn modelId="{124D3C24-8000-434C-B503-8FB9F390D873}" type="presParOf" srcId="{DC6A028E-C938-4711-A3C6-DEB88CF0751A}" destId="{72E3263A-25F4-4423-A0D3-29DA36EB16BA}" srcOrd="0" destOrd="0" presId="urn:microsoft.com/office/officeart/2018/2/layout/IconVerticalSolidList"/>
    <dgm:cxn modelId="{7F9ED795-D389-40FA-9D49-3D4EB4761DA2}" type="presParOf" srcId="{72E3263A-25F4-4423-A0D3-29DA36EB16BA}" destId="{2EF2E96F-3C41-4116-BC64-CCA2DCE04DC0}" srcOrd="0" destOrd="0" presId="urn:microsoft.com/office/officeart/2018/2/layout/IconVerticalSolidList"/>
    <dgm:cxn modelId="{AFAD10C1-EE51-43E5-B4B3-7960DEC6E52A}" type="presParOf" srcId="{72E3263A-25F4-4423-A0D3-29DA36EB16BA}" destId="{8CFCF72E-1B97-4611-B4C3-91924D0C820E}" srcOrd="1" destOrd="0" presId="urn:microsoft.com/office/officeart/2018/2/layout/IconVerticalSolidList"/>
    <dgm:cxn modelId="{ADB0D646-CD66-42F8-8945-2158200B11C7}" type="presParOf" srcId="{72E3263A-25F4-4423-A0D3-29DA36EB16BA}" destId="{8D9C3FD9-219C-4812-B36D-330CD32B9D7A}" srcOrd="2" destOrd="0" presId="urn:microsoft.com/office/officeart/2018/2/layout/IconVerticalSolidList"/>
    <dgm:cxn modelId="{0FD7B7CC-238F-490F-BAD3-324ABC69AF73}" type="presParOf" srcId="{72E3263A-25F4-4423-A0D3-29DA36EB16BA}" destId="{B3E07C5F-6DDF-413B-A944-89A9AE40E27B}" srcOrd="3" destOrd="0" presId="urn:microsoft.com/office/officeart/2018/2/layout/IconVerticalSolidList"/>
    <dgm:cxn modelId="{650C432D-5D81-4C5C-BA7A-A12A112ADD4F}" type="presParOf" srcId="{DC6A028E-C938-4711-A3C6-DEB88CF0751A}" destId="{EE5C2543-0477-4A1D-B359-4E63C89529D7}" srcOrd="1" destOrd="0" presId="urn:microsoft.com/office/officeart/2018/2/layout/IconVerticalSolidList"/>
    <dgm:cxn modelId="{18A13256-E540-47B8-89DA-149AF30E268C}" type="presParOf" srcId="{DC6A028E-C938-4711-A3C6-DEB88CF0751A}" destId="{0773EDCD-874D-4FD2-8D89-18473B7BCC80}" srcOrd="2" destOrd="0" presId="urn:microsoft.com/office/officeart/2018/2/layout/IconVerticalSolidList"/>
    <dgm:cxn modelId="{82F979BF-10D6-412A-B392-EC9DC8AAF031}" type="presParOf" srcId="{0773EDCD-874D-4FD2-8D89-18473B7BCC80}" destId="{5AFAB097-F50D-45A7-8EE7-CF76A48B2FB4}" srcOrd="0" destOrd="0" presId="urn:microsoft.com/office/officeart/2018/2/layout/IconVerticalSolidList"/>
    <dgm:cxn modelId="{AA8FDA1E-305F-4EA0-84CE-18C02F70A8DC}" type="presParOf" srcId="{0773EDCD-874D-4FD2-8D89-18473B7BCC80}" destId="{8D1E06CA-05E0-4D61-AF4D-FF1E6AA48149}" srcOrd="1" destOrd="0" presId="urn:microsoft.com/office/officeart/2018/2/layout/IconVerticalSolidList"/>
    <dgm:cxn modelId="{7E4B0BB4-988C-4904-B5B4-F0722DB7C487}" type="presParOf" srcId="{0773EDCD-874D-4FD2-8D89-18473B7BCC80}" destId="{371DF79E-888D-47B5-97CE-E9A53101DC4D}" srcOrd="2" destOrd="0" presId="urn:microsoft.com/office/officeart/2018/2/layout/IconVerticalSolidList"/>
    <dgm:cxn modelId="{642FD29D-B519-40F7-BE5D-618DF065AE2F}" type="presParOf" srcId="{0773EDCD-874D-4FD2-8D89-18473B7BCC80}" destId="{0C2F7A17-B9C8-4CA4-B3F4-445106047BB5}" srcOrd="3" destOrd="0" presId="urn:microsoft.com/office/officeart/2018/2/layout/IconVerticalSolidList"/>
    <dgm:cxn modelId="{47B802CC-E0CE-434D-B5C4-567CCC8FA3F5}" type="presParOf" srcId="{DC6A028E-C938-4711-A3C6-DEB88CF0751A}" destId="{16BAE86B-85BD-48A1-8B19-C1F296DE240D}" srcOrd="3" destOrd="0" presId="urn:microsoft.com/office/officeart/2018/2/layout/IconVerticalSolidList"/>
    <dgm:cxn modelId="{42CBC68B-39FF-4B02-B518-28C99139A98C}" type="presParOf" srcId="{DC6A028E-C938-4711-A3C6-DEB88CF0751A}" destId="{4F24D46D-3F4D-47C8-ABA1-9178F5D39AD7}" srcOrd="4" destOrd="0" presId="urn:microsoft.com/office/officeart/2018/2/layout/IconVerticalSolidList"/>
    <dgm:cxn modelId="{D2F0FBEC-A66F-467F-BCEA-E1A7A9095A5B}" type="presParOf" srcId="{4F24D46D-3F4D-47C8-ABA1-9178F5D39AD7}" destId="{798334B3-20A1-407A-A0C3-3D9FAE079752}" srcOrd="0" destOrd="0" presId="urn:microsoft.com/office/officeart/2018/2/layout/IconVerticalSolidList"/>
    <dgm:cxn modelId="{A9A75ECB-C53A-45EA-8016-8015532EDA10}" type="presParOf" srcId="{4F24D46D-3F4D-47C8-ABA1-9178F5D39AD7}" destId="{9812A3E2-291C-4287-BA12-AC17C7FF6C16}" srcOrd="1" destOrd="0" presId="urn:microsoft.com/office/officeart/2018/2/layout/IconVerticalSolidList"/>
    <dgm:cxn modelId="{DED88E64-AF14-4F32-A60F-9523D66FDB82}" type="presParOf" srcId="{4F24D46D-3F4D-47C8-ABA1-9178F5D39AD7}" destId="{8F52ACEA-0AFB-4A47-AA92-FEC45F4808CF}" srcOrd="2" destOrd="0" presId="urn:microsoft.com/office/officeart/2018/2/layout/IconVerticalSolidList"/>
    <dgm:cxn modelId="{2EC55DF9-BAD0-4E76-965A-9C9607B2379B}" type="presParOf" srcId="{4F24D46D-3F4D-47C8-ABA1-9178F5D39AD7}" destId="{4204908B-5C72-4890-B892-9F793C7775AF}" srcOrd="3" destOrd="0" presId="urn:microsoft.com/office/officeart/2018/2/layout/IconVerticalSolidList"/>
    <dgm:cxn modelId="{DB176E4B-4B29-49B6-9BA0-E856A8B19045}" type="presParOf" srcId="{DC6A028E-C938-4711-A3C6-DEB88CF0751A}" destId="{EFA01137-053C-439C-932B-26CD4CAD8CAF}" srcOrd="5" destOrd="0" presId="urn:microsoft.com/office/officeart/2018/2/layout/IconVerticalSolidList"/>
    <dgm:cxn modelId="{457C1724-9D60-4485-8AF4-B9F5B412BE32}" type="presParOf" srcId="{DC6A028E-C938-4711-A3C6-DEB88CF0751A}" destId="{83ED8800-9AB0-41ED-8B78-78D7953F9166}" srcOrd="6" destOrd="0" presId="urn:microsoft.com/office/officeart/2018/2/layout/IconVerticalSolidList"/>
    <dgm:cxn modelId="{ACB04980-8CBF-4493-B202-9174E5026157}" type="presParOf" srcId="{83ED8800-9AB0-41ED-8B78-78D7953F9166}" destId="{60C9B229-AC94-4624-B1A2-A548622952E2}" srcOrd="0" destOrd="0" presId="urn:microsoft.com/office/officeart/2018/2/layout/IconVerticalSolidList"/>
    <dgm:cxn modelId="{92ED85F5-83C7-423B-A850-979EC23E4B61}" type="presParOf" srcId="{83ED8800-9AB0-41ED-8B78-78D7953F9166}" destId="{3F62C41C-5997-4E25-B09A-10D8C89BFD74}" srcOrd="1" destOrd="0" presId="urn:microsoft.com/office/officeart/2018/2/layout/IconVerticalSolidList"/>
    <dgm:cxn modelId="{61BE8C13-898B-4492-A65A-4361B99B8A30}" type="presParOf" srcId="{83ED8800-9AB0-41ED-8B78-78D7953F9166}" destId="{1F01964C-F4E7-4D10-A8E9-4FB0E41BD1E5}" srcOrd="2" destOrd="0" presId="urn:microsoft.com/office/officeart/2018/2/layout/IconVerticalSolidList"/>
    <dgm:cxn modelId="{86A80416-DFDF-4335-BC0A-05657AB15765}" type="presParOf" srcId="{83ED8800-9AB0-41ED-8B78-78D7953F9166}" destId="{A504B648-4431-43EB-B8FB-FBBD3E574031}" srcOrd="3" destOrd="0" presId="urn:microsoft.com/office/officeart/2018/2/layout/IconVerticalSolidList"/>
    <dgm:cxn modelId="{FB285791-CC25-4DF7-A67F-8E8AAB98A307}" type="presParOf" srcId="{DC6A028E-C938-4711-A3C6-DEB88CF0751A}" destId="{2E6FE4DF-694C-4E80-A8CB-3E73B8FDE110}" srcOrd="7" destOrd="0" presId="urn:microsoft.com/office/officeart/2018/2/layout/IconVerticalSolidList"/>
    <dgm:cxn modelId="{E74D8858-8E98-4A84-B732-84FF2168DFE6}" type="presParOf" srcId="{DC6A028E-C938-4711-A3C6-DEB88CF0751A}" destId="{68158D49-C77D-4444-8BD9-AD50B6F226A1}" srcOrd="8" destOrd="0" presId="urn:microsoft.com/office/officeart/2018/2/layout/IconVerticalSolidList"/>
    <dgm:cxn modelId="{8FC3F76D-2B54-4C93-B2E4-693597B41546}" type="presParOf" srcId="{68158D49-C77D-4444-8BD9-AD50B6F226A1}" destId="{B8799CD2-5A6E-4637-ACD4-F6ED569AD0E0}" srcOrd="0" destOrd="0" presId="urn:microsoft.com/office/officeart/2018/2/layout/IconVerticalSolidList"/>
    <dgm:cxn modelId="{16FB2413-5C70-4105-81B3-F95EE02EFBFF}" type="presParOf" srcId="{68158D49-C77D-4444-8BD9-AD50B6F226A1}" destId="{2164BE05-20BA-4727-88FC-CE47082A3ED9}" srcOrd="1" destOrd="0" presId="urn:microsoft.com/office/officeart/2018/2/layout/IconVerticalSolidList"/>
    <dgm:cxn modelId="{CCB3138D-FDF6-4EAF-9605-6D4D66CEC77F}" type="presParOf" srcId="{68158D49-C77D-4444-8BD9-AD50B6F226A1}" destId="{3C366470-DA77-4008-BD62-D4C32C6E5853}" srcOrd="2" destOrd="0" presId="urn:microsoft.com/office/officeart/2018/2/layout/IconVerticalSolidList"/>
    <dgm:cxn modelId="{C21ACFBE-D22A-4EEB-B1C5-4C576536D8F4}" type="presParOf" srcId="{68158D49-C77D-4444-8BD9-AD50B6F226A1}" destId="{C6304BAC-84C1-4F88-A59E-6BCB55D298D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BDD681-B889-4448-AB5E-1E9E3899A76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27B27AF-EC50-4934-8AE1-B4EC54D1B87C}">
      <dgm:prSet/>
      <dgm:spPr/>
      <dgm:t>
        <a:bodyPr/>
        <a:lstStyle/>
        <a:p>
          <a:r>
            <a:rPr lang="en-GB"/>
            <a:t>Environmental Health</a:t>
          </a:r>
          <a:endParaRPr lang="en-US"/>
        </a:p>
      </dgm:t>
    </dgm:pt>
    <dgm:pt modelId="{900C4CBC-3F75-46F2-8E13-08FFD4B62E73}" type="parTrans" cxnId="{D2301A4B-7D1E-4A71-9C04-2330C3E3704F}">
      <dgm:prSet/>
      <dgm:spPr/>
      <dgm:t>
        <a:bodyPr/>
        <a:lstStyle/>
        <a:p>
          <a:endParaRPr lang="en-US"/>
        </a:p>
      </dgm:t>
    </dgm:pt>
    <dgm:pt modelId="{8DC5BAC8-EC25-4806-9956-8E10BE249B24}" type="sibTrans" cxnId="{D2301A4B-7D1E-4A71-9C04-2330C3E3704F}">
      <dgm:prSet/>
      <dgm:spPr/>
      <dgm:t>
        <a:bodyPr/>
        <a:lstStyle/>
        <a:p>
          <a:endParaRPr lang="en-US"/>
        </a:p>
      </dgm:t>
    </dgm:pt>
    <dgm:pt modelId="{426408B3-7A80-4B88-99E1-AFEDB5EF5C3E}">
      <dgm:prSet/>
      <dgm:spPr/>
      <dgm:t>
        <a:bodyPr/>
        <a:lstStyle/>
        <a:p>
          <a:r>
            <a:rPr lang="en-GB"/>
            <a:t>Social and Behavioural Science</a:t>
          </a:r>
          <a:endParaRPr lang="en-US"/>
        </a:p>
      </dgm:t>
    </dgm:pt>
    <dgm:pt modelId="{8ABA6158-FD79-4DCC-AEBD-36B74117F17A}" type="parTrans" cxnId="{C1E6AF2E-E32D-481C-B0F8-53A6F5177C08}">
      <dgm:prSet/>
      <dgm:spPr/>
      <dgm:t>
        <a:bodyPr/>
        <a:lstStyle/>
        <a:p>
          <a:endParaRPr lang="en-US"/>
        </a:p>
      </dgm:t>
    </dgm:pt>
    <dgm:pt modelId="{6C264509-EC89-46DC-A711-643F5A328CF6}" type="sibTrans" cxnId="{C1E6AF2E-E32D-481C-B0F8-53A6F5177C08}">
      <dgm:prSet/>
      <dgm:spPr/>
      <dgm:t>
        <a:bodyPr/>
        <a:lstStyle/>
        <a:p>
          <a:endParaRPr lang="en-US"/>
        </a:p>
      </dgm:t>
    </dgm:pt>
    <dgm:pt modelId="{A36CD67E-FFE0-42A9-B41C-9B254CE30303}">
      <dgm:prSet/>
      <dgm:spPr/>
      <dgm:t>
        <a:bodyPr/>
        <a:lstStyle/>
        <a:p>
          <a:r>
            <a:rPr lang="en-GB"/>
            <a:t>Health policy</a:t>
          </a:r>
          <a:endParaRPr lang="en-US"/>
        </a:p>
      </dgm:t>
    </dgm:pt>
    <dgm:pt modelId="{628AB921-D32D-478F-8B15-0BE44CF5793D}" type="parTrans" cxnId="{0A762540-341D-4119-ADC2-0D31BA619051}">
      <dgm:prSet/>
      <dgm:spPr/>
      <dgm:t>
        <a:bodyPr/>
        <a:lstStyle/>
        <a:p>
          <a:endParaRPr lang="en-US"/>
        </a:p>
      </dgm:t>
    </dgm:pt>
    <dgm:pt modelId="{B3989178-450C-4530-A860-637CAE94D3CA}" type="sibTrans" cxnId="{0A762540-341D-4119-ADC2-0D31BA619051}">
      <dgm:prSet/>
      <dgm:spPr/>
      <dgm:t>
        <a:bodyPr/>
        <a:lstStyle/>
        <a:p>
          <a:endParaRPr lang="en-US"/>
        </a:p>
      </dgm:t>
    </dgm:pt>
    <dgm:pt modelId="{3E3D32BA-4E19-4E5A-9B63-A7201E9239C5}">
      <dgm:prSet/>
      <dgm:spPr/>
      <dgm:t>
        <a:bodyPr/>
        <a:lstStyle/>
        <a:p>
          <a:r>
            <a:rPr lang="en-GB"/>
            <a:t>Biostatistics</a:t>
          </a:r>
          <a:endParaRPr lang="en-US"/>
        </a:p>
      </dgm:t>
    </dgm:pt>
    <dgm:pt modelId="{B343F0CF-70F3-424F-9ED4-20B8C84BCFFB}" type="parTrans" cxnId="{258EE3ED-1317-490F-B6BD-051AE1B0F62A}">
      <dgm:prSet/>
      <dgm:spPr/>
      <dgm:t>
        <a:bodyPr/>
        <a:lstStyle/>
        <a:p>
          <a:endParaRPr lang="en-US"/>
        </a:p>
      </dgm:t>
    </dgm:pt>
    <dgm:pt modelId="{85220213-5B24-4AF6-A14E-6B8BE5A63226}" type="sibTrans" cxnId="{258EE3ED-1317-490F-B6BD-051AE1B0F62A}">
      <dgm:prSet/>
      <dgm:spPr/>
      <dgm:t>
        <a:bodyPr/>
        <a:lstStyle/>
        <a:p>
          <a:endParaRPr lang="en-US"/>
        </a:p>
      </dgm:t>
    </dgm:pt>
    <dgm:pt modelId="{53ABF3BF-10C7-4BDB-9E49-8DCAF35CA257}">
      <dgm:prSet/>
      <dgm:spPr/>
      <dgm:t>
        <a:bodyPr/>
        <a:lstStyle/>
        <a:p>
          <a:r>
            <a:rPr lang="en-GB"/>
            <a:t>Epidemiology</a:t>
          </a:r>
          <a:endParaRPr lang="en-US"/>
        </a:p>
      </dgm:t>
    </dgm:pt>
    <dgm:pt modelId="{3D3DA226-7D7D-4D67-A143-7C85150C6B7F}" type="parTrans" cxnId="{828CDF2B-E3AA-479E-BC5C-250BFD6DD401}">
      <dgm:prSet/>
      <dgm:spPr/>
      <dgm:t>
        <a:bodyPr/>
        <a:lstStyle/>
        <a:p>
          <a:endParaRPr lang="en-US"/>
        </a:p>
      </dgm:t>
    </dgm:pt>
    <dgm:pt modelId="{B7EC291B-C3EF-4422-8547-CC359C64A368}" type="sibTrans" cxnId="{828CDF2B-E3AA-479E-BC5C-250BFD6DD401}">
      <dgm:prSet/>
      <dgm:spPr/>
      <dgm:t>
        <a:bodyPr/>
        <a:lstStyle/>
        <a:p>
          <a:endParaRPr lang="en-US"/>
        </a:p>
      </dgm:t>
    </dgm:pt>
    <dgm:pt modelId="{36E642CB-BDCB-4262-9003-60F23683FFB2}" type="pres">
      <dgm:prSet presAssocID="{F8BDD681-B889-4448-AB5E-1E9E3899A768}" presName="linear" presStyleCnt="0">
        <dgm:presLayoutVars>
          <dgm:animLvl val="lvl"/>
          <dgm:resizeHandles val="exact"/>
        </dgm:presLayoutVars>
      </dgm:prSet>
      <dgm:spPr/>
    </dgm:pt>
    <dgm:pt modelId="{8081BD9E-5018-4727-9F8E-8A78E4BCA6C9}" type="pres">
      <dgm:prSet presAssocID="{627B27AF-EC50-4934-8AE1-B4EC54D1B87C}" presName="parentText" presStyleLbl="node1" presStyleIdx="0" presStyleCnt="5">
        <dgm:presLayoutVars>
          <dgm:chMax val="0"/>
          <dgm:bulletEnabled val="1"/>
        </dgm:presLayoutVars>
      </dgm:prSet>
      <dgm:spPr/>
    </dgm:pt>
    <dgm:pt modelId="{AACF033F-C4F9-4940-BADA-6BAAFFE4AE89}" type="pres">
      <dgm:prSet presAssocID="{8DC5BAC8-EC25-4806-9956-8E10BE249B24}" presName="spacer" presStyleCnt="0"/>
      <dgm:spPr/>
    </dgm:pt>
    <dgm:pt modelId="{588D591A-4EFC-4C2B-A7E9-A920D7CC6F04}" type="pres">
      <dgm:prSet presAssocID="{426408B3-7A80-4B88-99E1-AFEDB5EF5C3E}" presName="parentText" presStyleLbl="node1" presStyleIdx="1" presStyleCnt="5">
        <dgm:presLayoutVars>
          <dgm:chMax val="0"/>
          <dgm:bulletEnabled val="1"/>
        </dgm:presLayoutVars>
      </dgm:prSet>
      <dgm:spPr/>
    </dgm:pt>
    <dgm:pt modelId="{011F005A-D2B0-496B-BDD5-B4D6270F3F02}" type="pres">
      <dgm:prSet presAssocID="{6C264509-EC89-46DC-A711-643F5A328CF6}" presName="spacer" presStyleCnt="0"/>
      <dgm:spPr/>
    </dgm:pt>
    <dgm:pt modelId="{A49A4A3C-12BD-49A3-BF4A-442AE0024BD5}" type="pres">
      <dgm:prSet presAssocID="{A36CD67E-FFE0-42A9-B41C-9B254CE30303}" presName="parentText" presStyleLbl="node1" presStyleIdx="2" presStyleCnt="5">
        <dgm:presLayoutVars>
          <dgm:chMax val="0"/>
          <dgm:bulletEnabled val="1"/>
        </dgm:presLayoutVars>
      </dgm:prSet>
      <dgm:spPr/>
    </dgm:pt>
    <dgm:pt modelId="{79367B1E-B59F-4306-BEAA-F630B387C6B8}" type="pres">
      <dgm:prSet presAssocID="{B3989178-450C-4530-A860-637CAE94D3CA}" presName="spacer" presStyleCnt="0"/>
      <dgm:spPr/>
    </dgm:pt>
    <dgm:pt modelId="{88AC0C4C-1C4C-46FB-80E7-E83ADCE0030D}" type="pres">
      <dgm:prSet presAssocID="{3E3D32BA-4E19-4E5A-9B63-A7201E9239C5}" presName="parentText" presStyleLbl="node1" presStyleIdx="3" presStyleCnt="5">
        <dgm:presLayoutVars>
          <dgm:chMax val="0"/>
          <dgm:bulletEnabled val="1"/>
        </dgm:presLayoutVars>
      </dgm:prSet>
      <dgm:spPr/>
    </dgm:pt>
    <dgm:pt modelId="{7C5B011A-4407-4019-830F-72CF11CB3C07}" type="pres">
      <dgm:prSet presAssocID="{85220213-5B24-4AF6-A14E-6B8BE5A63226}" presName="spacer" presStyleCnt="0"/>
      <dgm:spPr/>
    </dgm:pt>
    <dgm:pt modelId="{F383A2C4-81C9-4F20-8525-C94925215BE0}" type="pres">
      <dgm:prSet presAssocID="{53ABF3BF-10C7-4BDB-9E49-8DCAF35CA257}" presName="parentText" presStyleLbl="node1" presStyleIdx="4" presStyleCnt="5">
        <dgm:presLayoutVars>
          <dgm:chMax val="0"/>
          <dgm:bulletEnabled val="1"/>
        </dgm:presLayoutVars>
      </dgm:prSet>
      <dgm:spPr/>
    </dgm:pt>
  </dgm:ptLst>
  <dgm:cxnLst>
    <dgm:cxn modelId="{828CDF2B-E3AA-479E-BC5C-250BFD6DD401}" srcId="{F8BDD681-B889-4448-AB5E-1E9E3899A768}" destId="{53ABF3BF-10C7-4BDB-9E49-8DCAF35CA257}" srcOrd="4" destOrd="0" parTransId="{3D3DA226-7D7D-4D67-A143-7C85150C6B7F}" sibTransId="{B7EC291B-C3EF-4422-8547-CC359C64A368}"/>
    <dgm:cxn modelId="{C1E6AF2E-E32D-481C-B0F8-53A6F5177C08}" srcId="{F8BDD681-B889-4448-AB5E-1E9E3899A768}" destId="{426408B3-7A80-4B88-99E1-AFEDB5EF5C3E}" srcOrd="1" destOrd="0" parTransId="{8ABA6158-FD79-4DCC-AEBD-36B74117F17A}" sibTransId="{6C264509-EC89-46DC-A711-643F5A328CF6}"/>
    <dgm:cxn modelId="{76269837-BA49-4905-A27C-E581BA77A1F3}" type="presOf" srcId="{627B27AF-EC50-4934-8AE1-B4EC54D1B87C}" destId="{8081BD9E-5018-4727-9F8E-8A78E4BCA6C9}" srcOrd="0" destOrd="0" presId="urn:microsoft.com/office/officeart/2005/8/layout/vList2"/>
    <dgm:cxn modelId="{0A762540-341D-4119-ADC2-0D31BA619051}" srcId="{F8BDD681-B889-4448-AB5E-1E9E3899A768}" destId="{A36CD67E-FFE0-42A9-B41C-9B254CE30303}" srcOrd="2" destOrd="0" parTransId="{628AB921-D32D-478F-8B15-0BE44CF5793D}" sibTransId="{B3989178-450C-4530-A860-637CAE94D3CA}"/>
    <dgm:cxn modelId="{5260F868-B851-4063-9842-FD80B4C14EEE}" type="presOf" srcId="{A36CD67E-FFE0-42A9-B41C-9B254CE30303}" destId="{A49A4A3C-12BD-49A3-BF4A-442AE0024BD5}" srcOrd="0" destOrd="0" presId="urn:microsoft.com/office/officeart/2005/8/layout/vList2"/>
    <dgm:cxn modelId="{D2301A4B-7D1E-4A71-9C04-2330C3E3704F}" srcId="{F8BDD681-B889-4448-AB5E-1E9E3899A768}" destId="{627B27AF-EC50-4934-8AE1-B4EC54D1B87C}" srcOrd="0" destOrd="0" parTransId="{900C4CBC-3F75-46F2-8E13-08FFD4B62E73}" sibTransId="{8DC5BAC8-EC25-4806-9956-8E10BE249B24}"/>
    <dgm:cxn modelId="{32D5C782-0549-4641-8ADC-B64118393608}" type="presOf" srcId="{53ABF3BF-10C7-4BDB-9E49-8DCAF35CA257}" destId="{F383A2C4-81C9-4F20-8525-C94925215BE0}" srcOrd="0" destOrd="0" presId="urn:microsoft.com/office/officeart/2005/8/layout/vList2"/>
    <dgm:cxn modelId="{32813287-9235-4AB2-B535-78B5D4E996AB}" type="presOf" srcId="{F8BDD681-B889-4448-AB5E-1E9E3899A768}" destId="{36E642CB-BDCB-4262-9003-60F23683FFB2}" srcOrd="0" destOrd="0" presId="urn:microsoft.com/office/officeart/2005/8/layout/vList2"/>
    <dgm:cxn modelId="{C5419189-B63A-40B4-8F72-CF5DDD8CC3C0}" type="presOf" srcId="{3E3D32BA-4E19-4E5A-9B63-A7201E9239C5}" destId="{88AC0C4C-1C4C-46FB-80E7-E83ADCE0030D}" srcOrd="0" destOrd="0" presId="urn:microsoft.com/office/officeart/2005/8/layout/vList2"/>
    <dgm:cxn modelId="{8483F9D1-9199-4EDF-B123-AF5BFFBAD793}" type="presOf" srcId="{426408B3-7A80-4B88-99E1-AFEDB5EF5C3E}" destId="{588D591A-4EFC-4C2B-A7E9-A920D7CC6F04}" srcOrd="0" destOrd="0" presId="urn:microsoft.com/office/officeart/2005/8/layout/vList2"/>
    <dgm:cxn modelId="{258EE3ED-1317-490F-B6BD-051AE1B0F62A}" srcId="{F8BDD681-B889-4448-AB5E-1E9E3899A768}" destId="{3E3D32BA-4E19-4E5A-9B63-A7201E9239C5}" srcOrd="3" destOrd="0" parTransId="{B343F0CF-70F3-424F-9ED4-20B8C84BCFFB}" sibTransId="{85220213-5B24-4AF6-A14E-6B8BE5A63226}"/>
    <dgm:cxn modelId="{963F0FDA-A5C1-4A32-9F98-EB7FCDFA879F}" type="presParOf" srcId="{36E642CB-BDCB-4262-9003-60F23683FFB2}" destId="{8081BD9E-5018-4727-9F8E-8A78E4BCA6C9}" srcOrd="0" destOrd="0" presId="urn:microsoft.com/office/officeart/2005/8/layout/vList2"/>
    <dgm:cxn modelId="{6869CE2C-8157-4215-9155-3D6D71EBD1E9}" type="presParOf" srcId="{36E642CB-BDCB-4262-9003-60F23683FFB2}" destId="{AACF033F-C4F9-4940-BADA-6BAAFFE4AE89}" srcOrd="1" destOrd="0" presId="urn:microsoft.com/office/officeart/2005/8/layout/vList2"/>
    <dgm:cxn modelId="{D341172F-3821-4B4B-86B2-A87EF3C7A3DA}" type="presParOf" srcId="{36E642CB-BDCB-4262-9003-60F23683FFB2}" destId="{588D591A-4EFC-4C2B-A7E9-A920D7CC6F04}" srcOrd="2" destOrd="0" presId="urn:microsoft.com/office/officeart/2005/8/layout/vList2"/>
    <dgm:cxn modelId="{9E6E0B09-FAA5-4962-A1C4-E0AF0A71C60A}" type="presParOf" srcId="{36E642CB-BDCB-4262-9003-60F23683FFB2}" destId="{011F005A-D2B0-496B-BDD5-B4D6270F3F02}" srcOrd="3" destOrd="0" presId="urn:microsoft.com/office/officeart/2005/8/layout/vList2"/>
    <dgm:cxn modelId="{5026B97F-9E1D-4960-A949-B19BAC216296}" type="presParOf" srcId="{36E642CB-BDCB-4262-9003-60F23683FFB2}" destId="{A49A4A3C-12BD-49A3-BF4A-442AE0024BD5}" srcOrd="4" destOrd="0" presId="urn:microsoft.com/office/officeart/2005/8/layout/vList2"/>
    <dgm:cxn modelId="{87145E0E-D760-4542-BA71-A29D5B327648}" type="presParOf" srcId="{36E642CB-BDCB-4262-9003-60F23683FFB2}" destId="{79367B1E-B59F-4306-BEAA-F630B387C6B8}" srcOrd="5" destOrd="0" presId="urn:microsoft.com/office/officeart/2005/8/layout/vList2"/>
    <dgm:cxn modelId="{5EF960C4-6CFC-494D-A16C-01F71F49675F}" type="presParOf" srcId="{36E642CB-BDCB-4262-9003-60F23683FFB2}" destId="{88AC0C4C-1C4C-46FB-80E7-E83ADCE0030D}" srcOrd="6" destOrd="0" presId="urn:microsoft.com/office/officeart/2005/8/layout/vList2"/>
    <dgm:cxn modelId="{B166CC55-7770-45C6-9F91-DF342661BC77}" type="presParOf" srcId="{36E642CB-BDCB-4262-9003-60F23683FFB2}" destId="{7C5B011A-4407-4019-830F-72CF11CB3C07}" srcOrd="7" destOrd="0" presId="urn:microsoft.com/office/officeart/2005/8/layout/vList2"/>
    <dgm:cxn modelId="{F6B89AF0-8973-4B4E-8A1C-E4AB7CB02C1C}" type="presParOf" srcId="{36E642CB-BDCB-4262-9003-60F23683FFB2}" destId="{F383A2C4-81C9-4F20-8525-C94925215BE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F2E96F-3C41-4116-BC64-CCA2DCE04DC0}">
      <dsp:nvSpPr>
        <dsp:cNvPr id="0" name=""/>
        <dsp:cNvSpPr/>
      </dsp:nvSpPr>
      <dsp:spPr>
        <a:xfrm>
          <a:off x="0" y="3399"/>
          <a:ext cx="78867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FCF72E-1B97-4611-B4C3-91924D0C820E}">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E07C5F-6DDF-413B-A944-89A9AE40E27B}">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kern="1200"/>
            <a:t>Critically evaluate</a:t>
          </a:r>
          <a:r>
            <a:rPr lang="en-GB" sz="1800" kern="1200"/>
            <a:t> public health and nutrition interventions </a:t>
          </a:r>
          <a:endParaRPr lang="en-US" sz="1800" kern="1200"/>
        </a:p>
      </dsp:txBody>
      <dsp:txXfrm>
        <a:off x="836323" y="3399"/>
        <a:ext cx="7050376" cy="724089"/>
      </dsp:txXfrm>
    </dsp:sp>
    <dsp:sp modelId="{5AFAB097-F50D-45A7-8EE7-CF76A48B2FB4}">
      <dsp:nvSpPr>
        <dsp:cNvPr id="0" name=""/>
        <dsp:cNvSpPr/>
      </dsp:nvSpPr>
      <dsp:spPr>
        <a:xfrm>
          <a:off x="0" y="908511"/>
          <a:ext cx="78867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1E06CA-05E0-4D61-AF4D-FF1E6AA48149}">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2F7A17-B9C8-4CA4-B3F4-445106047BB5}">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kern="1200"/>
            <a:t>Differentiate and integrate</a:t>
          </a:r>
          <a:r>
            <a:rPr lang="en-GB" sz="1800" kern="1200"/>
            <a:t> clinical, community and population approaches </a:t>
          </a:r>
          <a:endParaRPr lang="en-US" sz="1800" kern="1200"/>
        </a:p>
      </dsp:txBody>
      <dsp:txXfrm>
        <a:off x="836323" y="908511"/>
        <a:ext cx="7050376" cy="724089"/>
      </dsp:txXfrm>
    </dsp:sp>
    <dsp:sp modelId="{798334B3-20A1-407A-A0C3-3D9FAE079752}">
      <dsp:nvSpPr>
        <dsp:cNvPr id="0" name=""/>
        <dsp:cNvSpPr/>
      </dsp:nvSpPr>
      <dsp:spPr>
        <a:xfrm>
          <a:off x="0" y="1813624"/>
          <a:ext cx="78867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12A3E2-291C-4287-BA12-AC17C7FF6C16}">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4908B-5C72-4890-B892-9F793C7775AF}">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kern="1200"/>
            <a:t>Apply systems thinking</a:t>
          </a:r>
          <a:r>
            <a:rPr lang="en-GB" sz="1800" kern="1200"/>
            <a:t> to nutrition‑related health challenges </a:t>
          </a:r>
          <a:endParaRPr lang="en-US" sz="1800" kern="1200"/>
        </a:p>
      </dsp:txBody>
      <dsp:txXfrm>
        <a:off x="836323" y="1813624"/>
        <a:ext cx="7050376" cy="724089"/>
      </dsp:txXfrm>
    </dsp:sp>
    <dsp:sp modelId="{60C9B229-AC94-4624-B1A2-A548622952E2}">
      <dsp:nvSpPr>
        <dsp:cNvPr id="0" name=""/>
        <dsp:cNvSpPr/>
      </dsp:nvSpPr>
      <dsp:spPr>
        <a:xfrm>
          <a:off x="0" y="2718736"/>
          <a:ext cx="78867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2C41C-5997-4E25-B09A-10D8C89BFD74}">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04B648-4431-43EB-B8FB-FBBD3E574031}">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kern="1200"/>
            <a:t>Analyse the role of policy, power and inequality</a:t>
          </a:r>
          <a:r>
            <a:rPr lang="en-GB" sz="1800" kern="1200"/>
            <a:t> in shaping diet and health </a:t>
          </a:r>
          <a:endParaRPr lang="en-US" sz="1800" kern="1200"/>
        </a:p>
      </dsp:txBody>
      <dsp:txXfrm>
        <a:off x="836323" y="2718736"/>
        <a:ext cx="7050376" cy="724089"/>
      </dsp:txXfrm>
    </dsp:sp>
    <dsp:sp modelId="{B8799CD2-5A6E-4637-ACD4-F6ED569AD0E0}">
      <dsp:nvSpPr>
        <dsp:cNvPr id="0" name=""/>
        <dsp:cNvSpPr/>
      </dsp:nvSpPr>
      <dsp:spPr>
        <a:xfrm>
          <a:off x="0" y="3623848"/>
          <a:ext cx="78867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64BE05-20BA-4727-88FC-CE47082A3ED9}">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304BAC-84C1-4F88-A59E-6BCB55D298DD}">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b="1" kern="1200"/>
            <a:t>Justify intervention choices</a:t>
          </a:r>
          <a:r>
            <a:rPr lang="en-GB" sz="1800" kern="1200"/>
            <a:t> using evidence and public health principles</a:t>
          </a:r>
          <a:endParaRPr lang="en-US" sz="1800" kern="1200"/>
        </a:p>
      </dsp:txBody>
      <dsp:txXfrm>
        <a:off x="836323" y="3623848"/>
        <a:ext cx="7050376" cy="7240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81BD9E-5018-4727-9F8E-8A78E4BCA6C9}">
      <dsp:nvSpPr>
        <dsp:cNvPr id="0" name=""/>
        <dsp:cNvSpPr/>
      </dsp:nvSpPr>
      <dsp:spPr>
        <a:xfrm>
          <a:off x="0" y="6826"/>
          <a:ext cx="78867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Environmental Health</a:t>
          </a:r>
          <a:endParaRPr lang="en-US" sz="3300" kern="1200"/>
        </a:p>
      </dsp:txBody>
      <dsp:txXfrm>
        <a:off x="38638" y="45464"/>
        <a:ext cx="7809424" cy="714229"/>
      </dsp:txXfrm>
    </dsp:sp>
    <dsp:sp modelId="{588D591A-4EFC-4C2B-A7E9-A920D7CC6F04}">
      <dsp:nvSpPr>
        <dsp:cNvPr id="0" name=""/>
        <dsp:cNvSpPr/>
      </dsp:nvSpPr>
      <dsp:spPr>
        <a:xfrm>
          <a:off x="0" y="893371"/>
          <a:ext cx="78867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Social and Behavioural Science</a:t>
          </a:r>
          <a:endParaRPr lang="en-US" sz="3300" kern="1200"/>
        </a:p>
      </dsp:txBody>
      <dsp:txXfrm>
        <a:off x="38638" y="932009"/>
        <a:ext cx="7809424" cy="714229"/>
      </dsp:txXfrm>
    </dsp:sp>
    <dsp:sp modelId="{A49A4A3C-12BD-49A3-BF4A-442AE0024BD5}">
      <dsp:nvSpPr>
        <dsp:cNvPr id="0" name=""/>
        <dsp:cNvSpPr/>
      </dsp:nvSpPr>
      <dsp:spPr>
        <a:xfrm>
          <a:off x="0" y="1779916"/>
          <a:ext cx="78867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Health policy</a:t>
          </a:r>
          <a:endParaRPr lang="en-US" sz="3300" kern="1200"/>
        </a:p>
      </dsp:txBody>
      <dsp:txXfrm>
        <a:off x="38638" y="1818554"/>
        <a:ext cx="7809424" cy="714229"/>
      </dsp:txXfrm>
    </dsp:sp>
    <dsp:sp modelId="{88AC0C4C-1C4C-46FB-80E7-E83ADCE0030D}">
      <dsp:nvSpPr>
        <dsp:cNvPr id="0" name=""/>
        <dsp:cNvSpPr/>
      </dsp:nvSpPr>
      <dsp:spPr>
        <a:xfrm>
          <a:off x="0" y="2666461"/>
          <a:ext cx="78867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Biostatistics</a:t>
          </a:r>
          <a:endParaRPr lang="en-US" sz="3300" kern="1200"/>
        </a:p>
      </dsp:txBody>
      <dsp:txXfrm>
        <a:off x="38638" y="2705099"/>
        <a:ext cx="7809424" cy="714229"/>
      </dsp:txXfrm>
    </dsp:sp>
    <dsp:sp modelId="{F383A2C4-81C9-4F20-8525-C94925215BE0}">
      <dsp:nvSpPr>
        <dsp:cNvPr id="0" name=""/>
        <dsp:cNvSpPr/>
      </dsp:nvSpPr>
      <dsp:spPr>
        <a:xfrm>
          <a:off x="0" y="3553006"/>
          <a:ext cx="78867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Epidemiology</a:t>
          </a:r>
          <a:endParaRPr lang="en-US" sz="3300" kern="1200"/>
        </a:p>
      </dsp:txBody>
      <dsp:txXfrm>
        <a:off x="38638" y="3591644"/>
        <a:ext cx="7809424" cy="7142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B9F390-2682-43B1-A30F-50BFCC800740}" type="datetimeFigureOut">
              <a:rPr lang="en-US" smtClean="0"/>
              <a:pPr/>
              <a:t>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D2FFDC-3B7E-47E7-BF03-C68DF85CC744}" type="slidenum">
              <a:rPr lang="en-US" smtClean="0"/>
              <a:pPr/>
              <a:t>‹#›</a:t>
            </a:fld>
            <a:endParaRPr lang="en-US"/>
          </a:p>
        </p:txBody>
      </p:sp>
    </p:spTree>
    <p:extLst>
      <p:ext uri="{BB962C8B-B14F-4D97-AF65-F5344CB8AC3E}">
        <p14:creationId xmlns:p14="http://schemas.microsoft.com/office/powerpoint/2010/main" val="2257188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a:t>
            </a:fld>
            <a:endParaRPr lang="en-US"/>
          </a:p>
        </p:txBody>
      </p:sp>
    </p:spTree>
    <p:extLst>
      <p:ext uri="{BB962C8B-B14F-4D97-AF65-F5344CB8AC3E}">
        <p14:creationId xmlns:p14="http://schemas.microsoft.com/office/powerpoint/2010/main" val="1008685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917575" y="744538"/>
            <a:ext cx="4962525" cy="3722687"/>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61" name="Shape 161"/>
          <p:cNvSpPr txBox="1">
            <a:spLocks noGrp="1"/>
          </p:cNvSpPr>
          <p:nvPr>
            <p:ph type="body" idx="1"/>
          </p:nvPr>
        </p:nvSpPr>
        <p:spPr>
          <a:xfrm>
            <a:off x="679768" y="4715153"/>
            <a:ext cx="5438139" cy="4466987"/>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baseline="0" dirty="0">
              <a:solidFill>
                <a:schemeClr val="dk1"/>
              </a:solidFill>
              <a:latin typeface="+mn-lt"/>
              <a:ea typeface="Calibri"/>
              <a:cs typeface="Arial"/>
              <a:sym typeface="Calibri"/>
            </a:endParaRPr>
          </a:p>
        </p:txBody>
      </p:sp>
      <p:sp>
        <p:nvSpPr>
          <p:cNvPr id="162" name="Shape 162"/>
          <p:cNvSpPr txBox="1">
            <a:spLocks noGrp="1"/>
          </p:cNvSpPr>
          <p:nvPr>
            <p:ph type="sldNum" idx="12"/>
          </p:nvPr>
        </p:nvSpPr>
        <p:spPr>
          <a:xfrm>
            <a:off x="3850442" y="9428583"/>
            <a:ext cx="2945658" cy="496332"/>
          </a:xfrm>
          <a:prstGeom prst="rect">
            <a:avLst/>
          </a:prstGeom>
          <a:noFill/>
          <a:ln>
            <a:noFill/>
          </a:ln>
        </p:spPr>
        <p:txBody>
          <a:bodyPr lIns="91425" tIns="45700" rIns="91425" bIns="45700" anchor="b" anchorCtr="0">
            <a:noAutofit/>
          </a:bodyPr>
          <a:lstStyle/>
          <a:p>
            <a:pPr>
              <a:buSzPct val="25000"/>
            </a:pPr>
            <a:fld id="{00000000-1234-1234-1234-123412341234}" type="slidenum">
              <a:rPr lang="en-US">
                <a:solidFill>
                  <a:srgbClr val="000000"/>
                </a:solidFill>
              </a:rPr>
              <a:pPr>
                <a:buSzPct val="25000"/>
              </a:pPr>
              <a:t>2</a:t>
            </a:fld>
            <a:endParaRPr lang="en-US">
              <a:solidFill>
                <a:srgbClr val="000000"/>
              </a:solidFill>
            </a:endParaRPr>
          </a:p>
        </p:txBody>
      </p:sp>
    </p:spTree>
    <p:extLst>
      <p:ext uri="{BB962C8B-B14F-4D97-AF65-F5344CB8AC3E}">
        <p14:creationId xmlns:p14="http://schemas.microsoft.com/office/powerpoint/2010/main" val="671912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8</a:t>
            </a:fld>
            <a:endParaRPr lang="en-US"/>
          </a:p>
        </p:txBody>
      </p:sp>
    </p:spTree>
    <p:extLst>
      <p:ext uri="{BB962C8B-B14F-4D97-AF65-F5344CB8AC3E}">
        <p14:creationId xmlns:p14="http://schemas.microsoft.com/office/powerpoint/2010/main" val="2895480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10</a:t>
            </a:fld>
            <a:endParaRPr lang="en-US"/>
          </a:p>
        </p:txBody>
      </p:sp>
    </p:spTree>
    <p:extLst>
      <p:ext uri="{BB962C8B-B14F-4D97-AF65-F5344CB8AC3E}">
        <p14:creationId xmlns:p14="http://schemas.microsoft.com/office/powerpoint/2010/main" val="73014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13</a:t>
            </a:fld>
            <a:endParaRPr lang="en-US"/>
          </a:p>
        </p:txBody>
      </p:sp>
    </p:spTree>
    <p:extLst>
      <p:ext uri="{BB962C8B-B14F-4D97-AF65-F5344CB8AC3E}">
        <p14:creationId xmlns:p14="http://schemas.microsoft.com/office/powerpoint/2010/main" val="1733133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14</a:t>
            </a:fld>
            <a:endParaRPr lang="en-US"/>
          </a:p>
        </p:txBody>
      </p:sp>
    </p:spTree>
    <p:extLst>
      <p:ext uri="{BB962C8B-B14F-4D97-AF65-F5344CB8AC3E}">
        <p14:creationId xmlns:p14="http://schemas.microsoft.com/office/powerpoint/2010/main" val="469981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17</a:t>
            </a:fld>
            <a:endParaRPr lang="en-US"/>
          </a:p>
        </p:txBody>
      </p:sp>
    </p:spTree>
    <p:extLst>
      <p:ext uri="{BB962C8B-B14F-4D97-AF65-F5344CB8AC3E}">
        <p14:creationId xmlns:p14="http://schemas.microsoft.com/office/powerpoint/2010/main" val="992961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18</a:t>
            </a:fld>
            <a:endParaRPr lang="en-US"/>
          </a:p>
        </p:txBody>
      </p:sp>
    </p:spTree>
    <p:extLst>
      <p:ext uri="{BB962C8B-B14F-4D97-AF65-F5344CB8AC3E}">
        <p14:creationId xmlns:p14="http://schemas.microsoft.com/office/powerpoint/2010/main" val="59079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rgbClr val="C00000"/>
              </a:buClr>
              <a:buFont typeface="Arial" panose="020B0604020202020204" pitchFamily="34" charset="0"/>
              <a:buChar char="•"/>
            </a:pPr>
            <a:r>
              <a:rPr lang="en-GB" sz="1200" dirty="0"/>
              <a:t>Relatively new and </a:t>
            </a:r>
            <a:r>
              <a:rPr lang="en-GB" sz="1200" b="1" dirty="0"/>
              <a:t>evolving </a:t>
            </a:r>
            <a:r>
              <a:rPr lang="en-GB" sz="1200" dirty="0"/>
              <a:t>area of practice</a:t>
            </a:r>
          </a:p>
          <a:p>
            <a:pPr marL="342900" indent="-342900">
              <a:buClr>
                <a:srgbClr val="C00000"/>
              </a:buClr>
              <a:buFont typeface="Arial" panose="020B0604020202020204" pitchFamily="34" charset="0"/>
              <a:buChar char="•"/>
            </a:pPr>
            <a:endParaRPr lang="en-GB" sz="1200" dirty="0"/>
          </a:p>
          <a:p>
            <a:pPr marL="342900" indent="-342900">
              <a:buClr>
                <a:srgbClr val="C00000"/>
              </a:buClr>
              <a:buFont typeface="Arial" panose="020B0604020202020204" pitchFamily="34" charset="0"/>
              <a:buChar char="•"/>
            </a:pPr>
            <a:r>
              <a:rPr lang="en-GB" sz="1200" dirty="0"/>
              <a:t>Focused on solving nutrition problems &amp; developing </a:t>
            </a:r>
            <a:r>
              <a:rPr lang="en-GB" sz="1200" b="1" dirty="0"/>
              <a:t>interventions</a:t>
            </a:r>
            <a:r>
              <a:rPr lang="en-GB" sz="1200" dirty="0"/>
              <a:t> for populations</a:t>
            </a:r>
          </a:p>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20</a:t>
            </a:fld>
            <a:endParaRPr lang="en-US"/>
          </a:p>
        </p:txBody>
      </p:sp>
    </p:spTree>
    <p:extLst>
      <p:ext uri="{BB962C8B-B14F-4D97-AF65-F5344CB8AC3E}">
        <p14:creationId xmlns:p14="http://schemas.microsoft.com/office/powerpoint/2010/main" val="3577299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917575" y="744538"/>
            <a:ext cx="4962525" cy="3722687"/>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61" name="Shape 161"/>
          <p:cNvSpPr txBox="1">
            <a:spLocks noGrp="1"/>
          </p:cNvSpPr>
          <p:nvPr>
            <p:ph type="body" idx="1"/>
          </p:nvPr>
        </p:nvSpPr>
        <p:spPr>
          <a:xfrm>
            <a:off x="679768" y="4715153"/>
            <a:ext cx="5438139" cy="4466987"/>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baseline="0" dirty="0">
              <a:solidFill>
                <a:schemeClr val="dk1"/>
              </a:solidFill>
              <a:latin typeface="+mn-lt"/>
              <a:ea typeface="Calibri"/>
              <a:cs typeface="Arial"/>
              <a:sym typeface="Calibri"/>
            </a:endParaRPr>
          </a:p>
        </p:txBody>
      </p:sp>
      <p:sp>
        <p:nvSpPr>
          <p:cNvPr id="162" name="Shape 162"/>
          <p:cNvSpPr txBox="1">
            <a:spLocks noGrp="1"/>
          </p:cNvSpPr>
          <p:nvPr>
            <p:ph type="sldNum" idx="12"/>
          </p:nvPr>
        </p:nvSpPr>
        <p:spPr>
          <a:xfrm>
            <a:off x="3850442" y="9428583"/>
            <a:ext cx="2945658" cy="496332"/>
          </a:xfrm>
          <a:prstGeom prst="rect">
            <a:avLst/>
          </a:prstGeom>
          <a:noFill/>
          <a:ln>
            <a:noFill/>
          </a:ln>
        </p:spPr>
        <p:txBody>
          <a:bodyPr lIns="91425" tIns="45700" rIns="91425" bIns="45700" anchor="b" anchorCtr="0">
            <a:noAutofit/>
          </a:bodyPr>
          <a:lstStyle/>
          <a:p>
            <a:pPr>
              <a:buSzPct val="25000"/>
            </a:pPr>
            <a:fld id="{00000000-1234-1234-1234-123412341234}" type="slidenum">
              <a:rPr lang="en-US">
                <a:solidFill>
                  <a:srgbClr val="000000"/>
                </a:solidFill>
              </a:rPr>
              <a:pPr>
                <a:buSzPct val="25000"/>
              </a:pPr>
              <a:t>23</a:t>
            </a:fld>
            <a:endParaRPr lang="en-US">
              <a:solidFill>
                <a:srgbClr val="000000"/>
              </a:solidFill>
            </a:endParaRPr>
          </a:p>
        </p:txBody>
      </p:sp>
    </p:spTree>
    <p:extLst>
      <p:ext uri="{BB962C8B-B14F-4D97-AF65-F5344CB8AC3E}">
        <p14:creationId xmlns:p14="http://schemas.microsoft.com/office/powerpoint/2010/main" val="2951099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917575" y="744538"/>
            <a:ext cx="4962525" cy="3722687"/>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61" name="Shape 161"/>
          <p:cNvSpPr txBox="1">
            <a:spLocks noGrp="1"/>
          </p:cNvSpPr>
          <p:nvPr>
            <p:ph type="body" idx="1"/>
          </p:nvPr>
        </p:nvSpPr>
        <p:spPr>
          <a:xfrm>
            <a:off x="679768" y="4715153"/>
            <a:ext cx="5438139" cy="4466987"/>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baseline="0" dirty="0">
              <a:solidFill>
                <a:schemeClr val="dk1"/>
              </a:solidFill>
              <a:latin typeface="+mn-lt"/>
              <a:ea typeface="Calibri"/>
              <a:cs typeface="Arial"/>
              <a:sym typeface="Calibri"/>
            </a:endParaRPr>
          </a:p>
        </p:txBody>
      </p:sp>
      <p:sp>
        <p:nvSpPr>
          <p:cNvPr id="162" name="Shape 162"/>
          <p:cNvSpPr txBox="1">
            <a:spLocks noGrp="1"/>
          </p:cNvSpPr>
          <p:nvPr>
            <p:ph type="sldNum" idx="12"/>
          </p:nvPr>
        </p:nvSpPr>
        <p:spPr>
          <a:xfrm>
            <a:off x="3850442" y="9428583"/>
            <a:ext cx="2945658" cy="496332"/>
          </a:xfrm>
          <a:prstGeom prst="rect">
            <a:avLst/>
          </a:prstGeom>
          <a:noFill/>
          <a:ln>
            <a:noFill/>
          </a:ln>
        </p:spPr>
        <p:txBody>
          <a:bodyPr lIns="91425" tIns="45700" rIns="91425" bIns="45700" anchor="b" anchorCtr="0">
            <a:noAutofit/>
          </a:bodyPr>
          <a:lstStyle/>
          <a:p>
            <a:pPr>
              <a:buSzPct val="25000"/>
            </a:pPr>
            <a:fld id="{00000000-1234-1234-1234-123412341234}" type="slidenum">
              <a:rPr lang="en-US">
                <a:solidFill>
                  <a:srgbClr val="000000"/>
                </a:solidFill>
              </a:rPr>
              <a:pPr>
                <a:buSzPct val="25000"/>
              </a:pPr>
              <a:t>25</a:t>
            </a:fld>
            <a:endParaRPr lang="en-US">
              <a:solidFill>
                <a:srgbClr val="000000"/>
              </a:solidFill>
            </a:endParaRPr>
          </a:p>
        </p:txBody>
      </p:sp>
    </p:spTree>
    <p:extLst>
      <p:ext uri="{BB962C8B-B14F-4D97-AF65-F5344CB8AC3E}">
        <p14:creationId xmlns:p14="http://schemas.microsoft.com/office/powerpoint/2010/main" val="3454525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917575" y="744538"/>
            <a:ext cx="4962525" cy="3722687"/>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61" name="Shape 161"/>
          <p:cNvSpPr txBox="1">
            <a:spLocks noGrp="1"/>
          </p:cNvSpPr>
          <p:nvPr>
            <p:ph type="body" idx="1"/>
          </p:nvPr>
        </p:nvSpPr>
        <p:spPr>
          <a:xfrm>
            <a:off x="679768" y="4715153"/>
            <a:ext cx="5438139" cy="4466987"/>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baseline="0" dirty="0">
              <a:solidFill>
                <a:schemeClr val="dk1"/>
              </a:solidFill>
              <a:latin typeface="+mn-lt"/>
              <a:ea typeface="Calibri"/>
              <a:cs typeface="Arial"/>
              <a:sym typeface="Calibri"/>
            </a:endParaRPr>
          </a:p>
        </p:txBody>
      </p:sp>
      <p:sp>
        <p:nvSpPr>
          <p:cNvPr id="162" name="Shape 162"/>
          <p:cNvSpPr txBox="1">
            <a:spLocks noGrp="1"/>
          </p:cNvSpPr>
          <p:nvPr>
            <p:ph type="sldNum" idx="12"/>
          </p:nvPr>
        </p:nvSpPr>
        <p:spPr>
          <a:xfrm>
            <a:off x="3850442" y="9428583"/>
            <a:ext cx="2945658" cy="496332"/>
          </a:xfrm>
          <a:prstGeom prst="rect">
            <a:avLst/>
          </a:prstGeom>
          <a:noFill/>
          <a:ln>
            <a:noFill/>
          </a:ln>
        </p:spPr>
        <p:txBody>
          <a:bodyPr lIns="91425" tIns="45700" rIns="91425" bIns="45700" anchor="b" anchorCtr="0">
            <a:noAutofit/>
          </a:bodyPr>
          <a:lstStyle/>
          <a:p>
            <a:pPr>
              <a:buSzPct val="25000"/>
            </a:pPr>
            <a:fld id="{00000000-1234-1234-1234-123412341234}" type="slidenum">
              <a:rPr lang="en-US">
                <a:solidFill>
                  <a:srgbClr val="000000"/>
                </a:solidFill>
              </a:rPr>
              <a:pPr>
                <a:buSzPct val="25000"/>
              </a:pPr>
              <a:t>28</a:t>
            </a:fld>
            <a:endParaRPr lang="en-US">
              <a:solidFill>
                <a:srgbClr val="000000"/>
              </a:solidFill>
            </a:endParaRPr>
          </a:p>
        </p:txBody>
      </p:sp>
    </p:spTree>
    <p:extLst>
      <p:ext uri="{BB962C8B-B14F-4D97-AF65-F5344CB8AC3E}">
        <p14:creationId xmlns:p14="http://schemas.microsoft.com/office/powerpoint/2010/main" val="2626737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31</a:t>
            </a:fld>
            <a:endParaRPr lang="en-US"/>
          </a:p>
        </p:txBody>
      </p:sp>
    </p:spTree>
    <p:extLst>
      <p:ext uri="{BB962C8B-B14F-4D97-AF65-F5344CB8AC3E}">
        <p14:creationId xmlns:p14="http://schemas.microsoft.com/office/powerpoint/2010/main" val="3853446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D2FFDC-3B7E-47E7-BF03-C68DF85CC744}" type="slidenum">
              <a:rPr lang="en-US" smtClean="0"/>
              <a:pPr/>
              <a:t>34</a:t>
            </a:fld>
            <a:endParaRPr lang="en-US"/>
          </a:p>
        </p:txBody>
      </p:sp>
    </p:spTree>
    <p:extLst>
      <p:ext uri="{BB962C8B-B14F-4D97-AF65-F5344CB8AC3E}">
        <p14:creationId xmlns:p14="http://schemas.microsoft.com/office/powerpoint/2010/main" val="1252897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D2FFDC-3B7E-47E7-BF03-C68DF85CC744}" type="slidenum">
              <a:rPr lang="en-US" smtClean="0"/>
              <a:pPr/>
              <a:t>38</a:t>
            </a:fld>
            <a:endParaRPr lang="en-US"/>
          </a:p>
        </p:txBody>
      </p:sp>
    </p:spTree>
    <p:extLst>
      <p:ext uri="{BB962C8B-B14F-4D97-AF65-F5344CB8AC3E}">
        <p14:creationId xmlns:p14="http://schemas.microsoft.com/office/powerpoint/2010/main" val="4002103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B6FBD-AC2A-42F9-8C7D-F5217CB0579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0F4D21DB-C350-49A1-993F-562B1416488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327E458-1BDF-4974-814C-1A72B084B010}"/>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2C6264D9-E6BB-4066-BCFF-96AD794D6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8836A-8FF8-4662-AED1-081D037EEFF3}"/>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1668440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F887-F671-4D80-B06B-46F6BC26ED6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7A9D36-AB7D-4814-AA8D-C7E735CFF4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D6AFC0E-DF79-4F73-AEE9-91910304BB7A}"/>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9E88ED16-05A5-447A-8434-C5C00FA212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30C01-00FB-4384-B6C4-713E89DAB6D4}"/>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1253180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5FFD-929B-4610-A234-F0C415FE3E0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A21E442-42A4-4D6C-BAC8-E7228E4B3E7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074A8-FC08-423C-B69E-FEB50E1D2CE5}"/>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3058A25A-6186-4676-9913-ECBE29BB22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2759E-24CF-4256-8F49-272EBB62ABFF}"/>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3493481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4297-4B42-427B-AE6A-D33919C746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8CD308-86DB-4E80-80A4-EC3A4A1A594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7C0450-7D55-4912-B11C-DBAAFE8D41D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4A1C55-6138-44A6-B367-7FE9C0ADA90F}"/>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6" name="Footer Placeholder 5">
            <a:extLst>
              <a:ext uri="{FF2B5EF4-FFF2-40B4-BE49-F238E27FC236}">
                <a16:creationId xmlns:a16="http://schemas.microsoft.com/office/drawing/2014/main" id="{F580982B-09A2-47D3-A46C-913909CEE3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1A397-608A-4485-9152-58A01E31DF1D}"/>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406135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4CE6-E8FF-4CEC-BCF3-1656B9DE75AE}"/>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E9E2E8-7023-4860-9560-4D737FBF579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B03A8F2-0A96-4FEE-9A5C-AE2FAFFCBDF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8DB652C-D4E9-418C-92BC-B0F337A190C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4C2F1-472E-4A11-8400-4E153A0182C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C74A5C8-FC41-401F-B767-FE1E6252E656}"/>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8" name="Footer Placeholder 7">
            <a:extLst>
              <a:ext uri="{FF2B5EF4-FFF2-40B4-BE49-F238E27FC236}">
                <a16:creationId xmlns:a16="http://schemas.microsoft.com/office/drawing/2014/main" id="{30D05E46-8CF9-46A1-BD6A-AB3666B0C9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D3258D-F303-432F-9704-843F13C04EB5}"/>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254520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8FEDF-34DC-4D6F-888E-7B39570FD80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0E2119-8E09-4E90-ADBD-ECA177DA4E89}"/>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4" name="Footer Placeholder 3">
            <a:extLst>
              <a:ext uri="{FF2B5EF4-FFF2-40B4-BE49-F238E27FC236}">
                <a16:creationId xmlns:a16="http://schemas.microsoft.com/office/drawing/2014/main" id="{193946B7-157F-477E-89D7-80CD6753C1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0B84F6-322C-4604-A4D5-CCCAFAA3A393}"/>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4527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A3E48E-7483-425F-8158-B445D021F192}"/>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3" name="Footer Placeholder 2">
            <a:extLst>
              <a:ext uri="{FF2B5EF4-FFF2-40B4-BE49-F238E27FC236}">
                <a16:creationId xmlns:a16="http://schemas.microsoft.com/office/drawing/2014/main" id="{B08F4C0C-6CB6-4F53-9014-0907D859F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E20483-1FB5-433C-8D21-310A383E8D1F}"/>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3602425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94427-6322-4C58-A643-B46E7BC2990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49D42E3-2CCC-486D-A231-6DB3E5316DD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CBBDCF8-2D6D-4EB2-89E6-0FF6F25DBA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D81C2E0-AE08-4B11-BBED-3E02B3F80033}"/>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6" name="Footer Placeholder 5">
            <a:extLst>
              <a:ext uri="{FF2B5EF4-FFF2-40B4-BE49-F238E27FC236}">
                <a16:creationId xmlns:a16="http://schemas.microsoft.com/office/drawing/2014/main" id="{2AA4132A-D084-4FA0-BCDC-5699C76DB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CF63B7-7758-4F47-9096-990122E4A891}"/>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1310930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23D4-B7BE-45CA-ABB3-E9DFA67DE23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10AC96E-A637-42B6-BE36-B7685E51905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6ABC986B-FC35-4A3B-A375-D1DDF88396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442329C-4260-42F2-B7E4-050E855B0194}"/>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6" name="Footer Placeholder 5">
            <a:extLst>
              <a:ext uri="{FF2B5EF4-FFF2-40B4-BE49-F238E27FC236}">
                <a16:creationId xmlns:a16="http://schemas.microsoft.com/office/drawing/2014/main" id="{7E2EB18B-D003-4DCD-A882-2B84B6452A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F25FEA-7152-40AA-BAC1-D2740187643E}"/>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2663231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109F5-C66B-41FB-8CF1-8DB95F9A9F3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3FF010B-6A48-4EF5-9F58-252F013155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0F00FF-4475-4D47-9276-CDE4370432A9}"/>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B59D8A20-3BA5-47F5-8E38-D2D3DF9C81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35CCF-4BE0-4233-AA0A-5CF7B656022D}"/>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127386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1BF11-3DE2-41DE-9D75-17B8264DE80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29E598C-EE07-45C0-BB9B-2719EA6FD87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9BF378-AEE1-4819-A777-058BE7F4D5AD}"/>
              </a:ext>
            </a:extLst>
          </p:cNvPr>
          <p:cNvSpPr>
            <a:spLocks noGrp="1"/>
          </p:cNvSpPr>
          <p:nvPr>
            <p:ph type="dt" sz="half" idx="10"/>
          </p:nvPr>
        </p:nvSpPr>
        <p:spPr/>
        <p:txBody>
          <a:body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08C78B59-E42D-4C34-AAB2-F608F974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CBE302-705F-44E7-A963-7216A068D6FC}"/>
              </a:ext>
            </a:extLst>
          </p:cNvPr>
          <p:cNvSpPr>
            <a:spLocks noGrp="1"/>
          </p:cNvSpPr>
          <p:nvPr>
            <p:ph type="sldNum" sz="quarter" idx="12"/>
          </p:nvPr>
        </p:nvSpPr>
        <p:spPr/>
        <p:txBody>
          <a:bodyPr/>
          <a:lstStyle/>
          <a:p>
            <a:fld id="{E6094872-66EC-4F67-9B71-A7551EB632A6}" type="slidenum">
              <a:rPr lang="en-US" smtClean="0"/>
              <a:pPr/>
              <a:t>‹#›</a:t>
            </a:fld>
            <a:endParaRPr lang="en-US"/>
          </a:p>
        </p:txBody>
      </p:sp>
    </p:spTree>
    <p:extLst>
      <p:ext uri="{BB962C8B-B14F-4D97-AF65-F5344CB8AC3E}">
        <p14:creationId xmlns:p14="http://schemas.microsoft.com/office/powerpoint/2010/main" val="2920479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799466-8EBA-4E37-8049-F9ABE1BB920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4512438-3956-4F03-86FC-433702C12F3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37F55D-9F5E-4D8E-9106-83501EECC74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623CB7-EF8C-4C38-964A-67CCC1EE3A80}" type="datetimeFigureOut">
              <a:rPr lang="en-US" smtClean="0"/>
              <a:pPr/>
              <a:t>2/4/2026</a:t>
            </a:fld>
            <a:endParaRPr lang="en-US"/>
          </a:p>
        </p:txBody>
      </p:sp>
      <p:sp>
        <p:nvSpPr>
          <p:cNvPr id="5" name="Footer Placeholder 4">
            <a:extLst>
              <a:ext uri="{FF2B5EF4-FFF2-40B4-BE49-F238E27FC236}">
                <a16:creationId xmlns:a16="http://schemas.microsoft.com/office/drawing/2014/main" id="{2638DB93-A413-4DBE-9582-2BDAAE9127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90675F-991B-4D25-9B65-098A224E18C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094872-66EC-4F67-9B71-A7551EB632A6}" type="slidenum">
              <a:rPr lang="en-US" smtClean="0"/>
              <a:pPr/>
              <a:t>‹#›</a:t>
            </a:fld>
            <a:endParaRPr lang="en-US"/>
          </a:p>
        </p:txBody>
      </p:sp>
    </p:spTree>
    <p:extLst>
      <p:ext uri="{BB962C8B-B14F-4D97-AF65-F5344CB8AC3E}">
        <p14:creationId xmlns:p14="http://schemas.microsoft.com/office/powerpoint/2010/main" val="3367013051"/>
      </p:ext>
    </p:extLst>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bda.uk.com/specialist-groups-and-branches/public-health-specialist-group/what-do-public-health-dietitians-do.html" TargetMode="External"/><Relationship Id="rId4" Type="http://schemas.openxmlformats.org/officeDocument/2006/relationships/hyperlink" Target="https://www.associationfornutrition.org/careers-nutrition/becoming-nutritionist/career-profil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gov.uk/government/publications/tackling-obesity-government-strategy/tackling-obesity-empowering-adults-and-children-to-live-healthier-live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gov.uk/government/news/final-design-of-consistent-nutritional-labelling-system-given-green-light" TargetMode="External"/><Relationship Id="rId2" Type="http://schemas.openxmlformats.org/officeDocument/2006/relationships/hyperlink" Target="http://www.nhs.uk/Change4Life/Pages/change-for-life.aspx" TargetMode="External"/><Relationship Id="rId1" Type="http://schemas.openxmlformats.org/officeDocument/2006/relationships/slideLayout" Target="../slideLayouts/slideLayout2.xml"/><Relationship Id="rId4" Type="http://schemas.openxmlformats.org/officeDocument/2006/relationships/hyperlink" Target="https://www.gov.uk/government/publications/uk-physical-activity-guidelines"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png"/><Relationship Id="rId4" Type="http://schemas.openxmlformats.org/officeDocument/2006/relationships/image" Target="../media/image29.jpeg"/><Relationship Id="rId9" Type="http://schemas.openxmlformats.org/officeDocument/2006/relationships/hyperlink" Target="https://www.gov.uk/government/news/campaign-launched-to-help-public-get-healthy-this-summer"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nhs.uk/conditions/nhs-health-check/" TargetMode="External"/><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doi.org/10.1038/s41562-024-02032-1" TargetMode="External"/><Relationship Id="rId3" Type="http://schemas.openxmlformats.org/officeDocument/2006/relationships/hyperlink" Target="http://www.dh.gov.uk/en/Publicationsandstatistics/Publications/PublicationsPolicyAndGuidance/DH_121941" TargetMode="External"/><Relationship Id="rId7" Type="http://schemas.openxmlformats.org/officeDocument/2006/relationships/hyperlink" Target="http://www.marmotreview.or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www.dh.gov.uk/en/Publicationsandstatistics/Publications/PublicationsPolicyAndGuidance/DH_132358" TargetMode="External"/><Relationship Id="rId5" Type="http://schemas.openxmlformats.org/officeDocument/2006/relationships/hyperlink" Target="http://www.dh.gov.uk/prod_consum_dh/groups/dh_digitalassets/documents/digitalasset/dh_131897.pdf" TargetMode="External"/><Relationship Id="rId4" Type="http://schemas.openxmlformats.org/officeDocument/2006/relationships/hyperlink" Target="http://www.dh.gov.uk/en/Publicationsandstatistics/Publications/PublicationsPolicyAndGuidance/DH_1281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143002" y="1999615"/>
            <a:ext cx="6858000" cy="2764028"/>
          </a:xfrm>
        </p:spPr>
        <p:txBody>
          <a:bodyPr anchor="ctr">
            <a:normAutofit/>
          </a:bodyPr>
          <a:lstStyle/>
          <a:p>
            <a:r>
              <a:rPr lang="en-GB" sz="4400" b="1" i="1" dirty="0">
                <a:latin typeface="Arial" panose="020B0604020202020204" pitchFamily="34" charset="0"/>
                <a:cs typeface="Arial" panose="020B0604020202020204" pitchFamily="34" charset="0"/>
              </a:rPr>
              <a:t>Public Health Nutrition </a:t>
            </a:r>
            <a:br>
              <a:rPr lang="en-GB" sz="4400" dirty="0">
                <a:latin typeface="Arial" panose="020B0604020202020204" pitchFamily="34" charset="0"/>
                <a:cs typeface="Arial" panose="020B0604020202020204" pitchFamily="34" charset="0"/>
              </a:rPr>
            </a:br>
            <a:br>
              <a:rPr lang="en-GB" sz="4400">
                <a:latin typeface="Arial" panose="020B0604020202020204" pitchFamily="34" charset="0"/>
                <a:cs typeface="Arial" panose="020B0604020202020204" pitchFamily="34" charset="0"/>
              </a:rPr>
            </a:br>
            <a:r>
              <a:rPr lang="en-GB" sz="4400">
                <a:latin typeface="Arial" panose="020B0604020202020204" pitchFamily="34" charset="0"/>
                <a:cs typeface="Arial" panose="020B0604020202020204" pitchFamily="34" charset="0"/>
              </a:rPr>
              <a:t>NU5079/DT5079/PT5052</a:t>
            </a:r>
            <a:br>
              <a:rPr lang="en-US" sz="4400" dirty="0"/>
            </a:br>
            <a:endParaRPr lang="en-US" sz="4400" dirty="0"/>
          </a:p>
        </p:txBody>
      </p:sp>
      <p:sp>
        <p:nvSpPr>
          <p:cNvPr id="3" name="Subtitle 2"/>
          <p:cNvSpPr>
            <a:spLocks noGrp="1"/>
          </p:cNvSpPr>
          <p:nvPr>
            <p:ph type="subTitle" idx="1"/>
          </p:nvPr>
        </p:nvSpPr>
        <p:spPr>
          <a:xfrm>
            <a:off x="1475184" y="5645150"/>
            <a:ext cx="6193632" cy="631825"/>
          </a:xfrm>
        </p:spPr>
        <p:txBody>
          <a:bodyPr anchor="ctr">
            <a:normAutofit/>
          </a:bodyPr>
          <a:lstStyle/>
          <a:p>
            <a:r>
              <a:rPr lang="en-GB" sz="2400" dirty="0">
                <a:latin typeface="Arial" panose="020B0604020202020204" pitchFamily="34" charset="0"/>
                <a:cs typeface="Arial" panose="020B0604020202020204" pitchFamily="34" charset="0"/>
              </a:rPr>
              <a:t>Afshan Aghili</a:t>
            </a:r>
          </a:p>
          <a:p>
            <a:endParaRPr lang="en-US" sz="240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0"/>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39578"/>
            <a:ext cx="5813272" cy="1684638"/>
          </a:xfrm>
        </p:spPr>
        <p:txBody>
          <a:bodyPr>
            <a:normAutofit/>
          </a:bodyPr>
          <a:lstStyle/>
          <a:p>
            <a:r>
              <a:rPr lang="en-GB" sz="3500" b="1" i="1" dirty="0">
                <a:latin typeface="Arial" panose="020B0604020202020204" pitchFamily="34" charset="0"/>
                <a:cs typeface="Arial" panose="020B0604020202020204" pitchFamily="34" charset="0"/>
              </a:rPr>
              <a:t>Aims of the session:</a:t>
            </a:r>
          </a:p>
        </p:txBody>
      </p:sp>
      <p:sp>
        <p:nvSpPr>
          <p:cNvPr id="3" name="Text Placeholder 2"/>
          <p:cNvSpPr>
            <a:spLocks noGrp="1"/>
          </p:cNvSpPr>
          <p:nvPr>
            <p:ph idx="1"/>
          </p:nvPr>
        </p:nvSpPr>
        <p:spPr>
          <a:xfrm>
            <a:off x="628650" y="2132856"/>
            <a:ext cx="4485959" cy="3967263"/>
          </a:xfrm>
        </p:spPr>
        <p:txBody>
          <a:bodyPr>
            <a:normAutofit/>
          </a:bodyPr>
          <a:lstStyle/>
          <a:p>
            <a:pPr lvl="1">
              <a:buFont typeface="Arial" panose="020B0604020202020204" pitchFamily="34" charset="0"/>
              <a:buChar char="•"/>
            </a:pPr>
            <a:endParaRPr lang="en-GB" sz="1700" dirty="0"/>
          </a:p>
          <a:p>
            <a:pPr>
              <a:buClr>
                <a:srgbClr val="C00000"/>
              </a:buClr>
            </a:pPr>
            <a:r>
              <a:rPr lang="en-GB" sz="2400" dirty="0">
                <a:latin typeface="Arial" panose="020B0604020202020204" pitchFamily="34" charset="0"/>
                <a:cs typeface="Arial" panose="020B0604020202020204" pitchFamily="34" charset="0"/>
              </a:rPr>
              <a:t>Overview of historical perspectives of Public Health</a:t>
            </a:r>
          </a:p>
          <a:p>
            <a:pPr>
              <a:buClr>
                <a:srgbClr val="C00000"/>
              </a:buClr>
            </a:pPr>
            <a:r>
              <a:rPr lang="en-GB" sz="2400" dirty="0">
                <a:latin typeface="Arial" panose="020B0604020202020204" pitchFamily="34" charset="0"/>
                <a:cs typeface="Arial" panose="020B0604020202020204" pitchFamily="34" charset="0"/>
              </a:rPr>
              <a:t>Definitions of Public health</a:t>
            </a:r>
          </a:p>
          <a:p>
            <a:pPr>
              <a:buClr>
                <a:srgbClr val="C00000"/>
              </a:buClr>
            </a:pPr>
            <a:r>
              <a:rPr lang="en-GB" sz="2400" dirty="0">
                <a:latin typeface="Arial" panose="020B0604020202020204" pitchFamily="34" charset="0"/>
                <a:cs typeface="Arial" panose="020B0604020202020204" pitchFamily="34" charset="0"/>
              </a:rPr>
              <a:t>Role of Public Health Professionals</a:t>
            </a:r>
          </a:p>
          <a:p>
            <a:pPr>
              <a:buClr>
                <a:srgbClr val="C00000"/>
              </a:buClr>
            </a:pPr>
            <a:r>
              <a:rPr lang="en-GB" sz="2400" dirty="0">
                <a:latin typeface="Arial" panose="020B0604020202020204" pitchFamily="34" charset="0"/>
                <a:cs typeface="Arial" panose="020B0604020202020204" pitchFamily="34" charset="0"/>
              </a:rPr>
              <a:t>Role of Public Health Nutrition (PHN)</a:t>
            </a:r>
          </a:p>
          <a:p>
            <a:pPr>
              <a:buClr>
                <a:srgbClr val="C00000"/>
              </a:buClr>
            </a:pPr>
            <a:r>
              <a:rPr lang="en-GB" sz="2400" dirty="0">
                <a:latin typeface="Arial" panose="020B0604020202020204" pitchFamily="34" charset="0"/>
                <a:cs typeface="Arial" panose="020B0604020202020204" pitchFamily="34" charset="0"/>
              </a:rPr>
              <a:t>Discuss Public Health Campaigns</a:t>
            </a:r>
          </a:p>
          <a:p>
            <a:endParaRPr lang="en-GB" sz="1700" dirty="0"/>
          </a:p>
        </p:txBody>
      </p:sp>
      <p:pic>
        <p:nvPicPr>
          <p:cNvPr id="11" name="Picture 10" descr="London Metropolitan University logo - white with no background.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0643" y="1021486"/>
            <a:ext cx="3608155" cy="926769"/>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8651" y="2961503"/>
            <a:ext cx="2652131" cy="3138616"/>
          </a:xfrm>
          <a:prstGeom prst="rect">
            <a:avLst/>
          </a:prstGeom>
        </p:spPr>
      </p:pic>
    </p:spTree>
    <p:extLst>
      <p:ext uri="{BB962C8B-B14F-4D97-AF65-F5344CB8AC3E}">
        <p14:creationId xmlns:p14="http://schemas.microsoft.com/office/powerpoint/2010/main" val="1590743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7AEF-D849-76DF-30BE-DF910F4C28E4}"/>
              </a:ext>
            </a:extLst>
          </p:cNvPr>
          <p:cNvSpPr>
            <a:spLocks noGrp="1"/>
          </p:cNvSpPr>
          <p:nvPr>
            <p:ph type="title"/>
          </p:nvPr>
        </p:nvSpPr>
        <p:spPr/>
        <p:txBody>
          <a:bodyPr/>
          <a:lstStyle/>
          <a:p>
            <a:r>
              <a:rPr lang="en-001" b="1" i="1" dirty="0">
                <a:latin typeface="Arial" panose="020B0604020202020204" pitchFamily="34" charset="0"/>
                <a:cs typeface="Arial" panose="020B0604020202020204" pitchFamily="34" charset="0"/>
              </a:rPr>
              <a:t>Learning Outomes</a:t>
            </a:r>
          </a:p>
        </p:txBody>
      </p:sp>
      <p:sp>
        <p:nvSpPr>
          <p:cNvPr id="3" name="Content Placeholder 2">
            <a:extLst>
              <a:ext uri="{FF2B5EF4-FFF2-40B4-BE49-F238E27FC236}">
                <a16:creationId xmlns:a16="http://schemas.microsoft.com/office/drawing/2014/main" id="{E24FD3C8-F0A3-F98B-9D13-5B0DABBAC4B3}"/>
              </a:ext>
            </a:extLst>
          </p:cNvPr>
          <p:cNvSpPr>
            <a:spLocks noGrp="1"/>
          </p:cNvSpPr>
          <p:nvPr>
            <p:ph idx="1"/>
          </p:nvPr>
        </p:nvSpPr>
        <p:spPr/>
        <p:txBody>
          <a:bodyPr/>
          <a:lstStyle/>
          <a:p>
            <a:r>
              <a:rPr lang="en-GB" sz="2800" i="1" dirty="0"/>
              <a:t>By the end of this session, you should be able to: </a:t>
            </a:r>
          </a:p>
          <a:p>
            <a:pPr marL="0" indent="0">
              <a:buNone/>
            </a:pPr>
            <a:endParaRPr lang="en-GB" sz="2000" dirty="0"/>
          </a:p>
          <a:p>
            <a:pPr marL="457200" indent="-457200">
              <a:buFont typeface="+mj-lt"/>
              <a:buAutoNum type="arabicPeriod"/>
            </a:pPr>
            <a:r>
              <a:rPr lang="en-GB" sz="2800" dirty="0"/>
              <a:t>Have  knowledge of the commencement of PH and its historical progression.</a:t>
            </a:r>
          </a:p>
          <a:p>
            <a:pPr marL="457200" indent="-457200">
              <a:buFont typeface="+mj-lt"/>
              <a:buAutoNum type="arabicPeriod"/>
            </a:pPr>
            <a:endParaRPr lang="en-GB" sz="2800" dirty="0"/>
          </a:p>
          <a:p>
            <a:pPr marL="457200" indent="-457200">
              <a:buFont typeface="+mj-lt"/>
              <a:buAutoNum type="arabicPeriod"/>
            </a:pPr>
            <a:r>
              <a:rPr lang="en-GB" sz="2800" dirty="0"/>
              <a:t>Recognise the role of PH.</a:t>
            </a:r>
          </a:p>
          <a:p>
            <a:pPr marL="457200" indent="-457200">
              <a:buFont typeface="+mj-lt"/>
              <a:buAutoNum type="arabicPeriod"/>
            </a:pPr>
            <a:endParaRPr lang="en-GB" sz="2800" dirty="0"/>
          </a:p>
          <a:p>
            <a:pPr marL="457200" indent="-457200">
              <a:buFont typeface="+mj-lt"/>
              <a:buAutoNum type="arabicPeriod"/>
            </a:pPr>
            <a:r>
              <a:rPr lang="en-GB" sz="2800" dirty="0"/>
              <a:t>Understand the different modes of practice in PH.</a:t>
            </a:r>
          </a:p>
          <a:p>
            <a:endParaRPr lang="en-001" dirty="0"/>
          </a:p>
        </p:txBody>
      </p:sp>
    </p:spTree>
    <p:extLst>
      <p:ext uri="{BB962C8B-B14F-4D97-AF65-F5344CB8AC3E}">
        <p14:creationId xmlns:p14="http://schemas.microsoft.com/office/powerpoint/2010/main" val="1048631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C5AD-7EFE-4C60-8CB1-BF0D51C2F04E}"/>
              </a:ext>
            </a:extLst>
          </p:cNvPr>
          <p:cNvSpPr>
            <a:spLocks noGrp="1"/>
          </p:cNvSpPr>
          <p:nvPr>
            <p:ph type="title"/>
          </p:nvPr>
        </p:nvSpPr>
        <p:spPr/>
        <p:txBody>
          <a:bodyPr>
            <a:normAutofit fontScale="90000"/>
          </a:bodyPr>
          <a:lstStyle/>
          <a:p>
            <a:r>
              <a:rPr lang="en-GB" sz="3600" b="1" i="1" dirty="0">
                <a:latin typeface="Arial" panose="020B0604020202020204" pitchFamily="34" charset="0"/>
                <a:cs typeface="Arial" panose="020B0604020202020204" pitchFamily="34" charset="0"/>
              </a:rPr>
              <a:t>By the end of this module, you should be able to: </a:t>
            </a:r>
            <a:br>
              <a:rPr lang="en-US" sz="3600" dirty="0"/>
            </a:br>
            <a:endParaRPr lang="en-GB" sz="3600" i="1" dirty="0">
              <a:latin typeface="Arial" panose="020B0604020202020204" pitchFamily="34" charset="0"/>
              <a:cs typeface="Arial" panose="020B0604020202020204" pitchFamily="34" charset="0"/>
            </a:endParaRPr>
          </a:p>
        </p:txBody>
      </p:sp>
      <p:graphicFrame>
        <p:nvGraphicFramePr>
          <p:cNvPr id="5" name="Content Placeholder 2">
            <a:extLst>
              <a:ext uri="{FF2B5EF4-FFF2-40B4-BE49-F238E27FC236}">
                <a16:creationId xmlns:a16="http://schemas.microsoft.com/office/drawing/2014/main" id="{4FB5AF34-9412-F22B-100D-D2293B64DE40}"/>
              </a:ext>
            </a:extLst>
          </p:cNvPr>
          <p:cNvGraphicFramePr>
            <a:graphicFrameLocks noGrp="1"/>
          </p:cNvGraphicFramePr>
          <p:nvPr>
            <p:ph idx="1"/>
            <p:extLst>
              <p:ext uri="{D42A27DB-BD31-4B8C-83A1-F6EECF244321}">
                <p14:modId xmlns:p14="http://schemas.microsoft.com/office/powerpoint/2010/main" val="42858425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414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979" y="501017"/>
            <a:ext cx="8229600" cy="360040"/>
          </a:xfrm>
        </p:spPr>
        <p:txBody>
          <a:bodyPr>
            <a:noAutofit/>
          </a:bodyPr>
          <a:lstStyle/>
          <a:p>
            <a:r>
              <a:rPr lang="en-GB" sz="3600" b="1" i="1" dirty="0">
                <a:latin typeface="Arial" panose="020B0604020202020204" pitchFamily="34" charset="0"/>
                <a:cs typeface="Arial" panose="020B0604020202020204" pitchFamily="34" charset="0"/>
              </a:rPr>
              <a:t>Many definitions</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18487" y="938894"/>
            <a:ext cx="9014092" cy="4980211"/>
          </a:xfrm>
        </p:spPr>
        <p:txBody>
          <a:bodyPr>
            <a:normAutofit/>
          </a:bodyPr>
          <a:lstStyle/>
          <a:p>
            <a:pPr>
              <a:buNone/>
            </a:pPr>
            <a:endParaRPr lang="en-US" dirty="0"/>
          </a:p>
          <a:p>
            <a:pPr>
              <a:buClr>
                <a:srgbClr val="C00000"/>
              </a:buClr>
            </a:pPr>
            <a:r>
              <a:rPr lang="en-GB" altLang="en-US" sz="2400" dirty="0">
                <a:latin typeface="Arial" panose="020B0604020202020204" pitchFamily="34" charset="0"/>
                <a:cs typeface="Arial" panose="020B0604020202020204" pitchFamily="34" charset="0"/>
              </a:rPr>
              <a:t>“</a:t>
            </a:r>
            <a:r>
              <a:rPr lang="en-GB" altLang="en-US" sz="2400" i="1" dirty="0">
                <a:latin typeface="Arial" panose="020B0604020202020204" pitchFamily="34" charset="0"/>
                <a:cs typeface="Arial" panose="020B0604020202020204" pitchFamily="34" charset="0"/>
              </a:rPr>
              <a:t>The science and art of promoting and protecting health and wellbeing, preventing ill health and prolonging life through the organised efforts of society</a:t>
            </a:r>
            <a:r>
              <a:rPr lang="en-GB" altLang="en-US" sz="2400" dirty="0">
                <a:latin typeface="Arial" panose="020B0604020202020204" pitchFamily="34" charset="0"/>
                <a:cs typeface="Arial" panose="020B0604020202020204" pitchFamily="34" charset="0"/>
              </a:rPr>
              <a:t>" Faculty of PH</a:t>
            </a:r>
          </a:p>
          <a:p>
            <a:pPr>
              <a:buClr>
                <a:srgbClr val="C00000"/>
              </a:buClr>
            </a:pPr>
            <a:endParaRPr lang="en-GB" altLang="en-US" sz="2400" i="1" dirty="0"/>
          </a:p>
          <a:p>
            <a:pPr>
              <a:buClr>
                <a:srgbClr val="C00000"/>
              </a:buClr>
            </a:pPr>
            <a:r>
              <a:rPr lang="en-US" sz="2400" dirty="0">
                <a:latin typeface="Arial" panose="020B0604020202020204" pitchFamily="34" charset="0"/>
                <a:cs typeface="Arial" panose="020B0604020202020204" pitchFamily="34" charset="0"/>
              </a:rPr>
              <a:t>‘‘</a:t>
            </a:r>
            <a:r>
              <a:rPr lang="en-US" sz="2400" i="1" dirty="0">
                <a:latin typeface="Arial" panose="020B0604020202020204" pitchFamily="34" charset="0"/>
                <a:cs typeface="Arial" panose="020B0604020202020204" pitchFamily="34" charset="0"/>
              </a:rPr>
              <a:t>Public health is about helping people to stay healthy and protecting them from threats to their health. The government wants everyone to be able to make healthier choices, regardless of their circumstances, and to minimize the risk and impact of illness</a:t>
            </a:r>
            <a:r>
              <a:rPr lang="en-US" sz="2400" dirty="0">
                <a:latin typeface="Arial" panose="020B0604020202020204" pitchFamily="34" charset="0"/>
                <a:cs typeface="Arial" panose="020B0604020202020204" pitchFamily="34" charset="0"/>
              </a:rPr>
              <a:t>’’ PHE </a:t>
            </a:r>
          </a:p>
          <a:p>
            <a:endParaRPr lang="en-US" dirty="0"/>
          </a:p>
          <a:p>
            <a:endParaRPr lang="en-US" dirty="0"/>
          </a:p>
        </p:txBody>
      </p:sp>
      <p:pic>
        <p:nvPicPr>
          <p:cNvPr id="4" name="Picture 3">
            <a:extLst>
              <a:ext uri="{FF2B5EF4-FFF2-40B4-BE49-F238E27FC236}">
                <a16:creationId xmlns:a16="http://schemas.microsoft.com/office/drawing/2014/main" id="{53C64A1A-3DD0-4DD7-AEE9-C10AEF05408F}"/>
              </a:ext>
            </a:extLst>
          </p:cNvPr>
          <p:cNvPicPr>
            <a:picLocks noChangeAspect="1"/>
          </p:cNvPicPr>
          <p:nvPr/>
        </p:nvPicPr>
        <p:blipFill>
          <a:blip r:embed="rId2"/>
          <a:stretch>
            <a:fillRect/>
          </a:stretch>
        </p:blipFill>
        <p:spPr>
          <a:xfrm>
            <a:off x="118486" y="4725145"/>
            <a:ext cx="8907028" cy="1739849"/>
          </a:xfrm>
          <a:prstGeom prst="rect">
            <a:avLst/>
          </a:prstGeom>
        </p:spPr>
      </p:pic>
    </p:spTree>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7B529-8F2C-43CE-965A-329CFC6B4AD0}"/>
              </a:ext>
            </a:extLst>
          </p:cNvPr>
          <p:cNvSpPr>
            <a:spLocks noGrp="1"/>
          </p:cNvSpPr>
          <p:nvPr>
            <p:ph type="title"/>
          </p:nvPr>
        </p:nvSpPr>
        <p:spPr/>
        <p:txBody>
          <a:bodyPr>
            <a:normAutofit/>
          </a:bodyPr>
          <a:lstStyle/>
          <a:p>
            <a:r>
              <a:rPr lang="en-GB" sz="3600" b="1" i="1" dirty="0">
                <a:latin typeface="Arial" panose="020B0604020202020204" pitchFamily="34" charset="0"/>
                <a:cs typeface="Arial" panose="020B0604020202020204" pitchFamily="34" charset="0"/>
              </a:rPr>
              <a:t>Core Public Health Areas</a:t>
            </a:r>
          </a:p>
        </p:txBody>
      </p:sp>
      <p:graphicFrame>
        <p:nvGraphicFramePr>
          <p:cNvPr id="5" name="Content Placeholder 2">
            <a:extLst>
              <a:ext uri="{FF2B5EF4-FFF2-40B4-BE49-F238E27FC236}">
                <a16:creationId xmlns:a16="http://schemas.microsoft.com/office/drawing/2014/main" id="{9AACB701-3B84-859C-5837-B588467FAF00}"/>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0959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404C7-236C-461D-87BB-B51DBFEC0A88}"/>
              </a:ext>
            </a:extLst>
          </p:cNvPr>
          <p:cNvSpPr>
            <a:spLocks noGrp="1"/>
          </p:cNvSpPr>
          <p:nvPr>
            <p:ph type="title"/>
          </p:nvPr>
        </p:nvSpPr>
        <p:spPr>
          <a:xfrm>
            <a:off x="241588" y="133437"/>
            <a:ext cx="7886700" cy="1325563"/>
          </a:xfrm>
        </p:spPr>
        <p:txBody>
          <a:bodyPr>
            <a:normAutofit/>
          </a:bodyPr>
          <a:lstStyle/>
          <a:p>
            <a:r>
              <a:rPr lang="en-GB" sz="3600" b="1" i="1" dirty="0">
                <a:latin typeface="Arial" panose="020B0604020202020204" pitchFamily="34" charset="0"/>
                <a:cs typeface="Arial" panose="020B0604020202020204" pitchFamily="34" charset="0"/>
              </a:rPr>
              <a:t>Code of Hammurabi 1700</a:t>
            </a:r>
          </a:p>
        </p:txBody>
      </p:sp>
      <p:sp>
        <p:nvSpPr>
          <p:cNvPr id="3" name="Content Placeholder 2">
            <a:extLst>
              <a:ext uri="{FF2B5EF4-FFF2-40B4-BE49-F238E27FC236}">
                <a16:creationId xmlns:a16="http://schemas.microsoft.com/office/drawing/2014/main" id="{FF4C1FCC-5624-4938-ACFC-C022DE16B809}"/>
              </a:ext>
            </a:extLst>
          </p:cNvPr>
          <p:cNvSpPr>
            <a:spLocks noGrp="1"/>
          </p:cNvSpPr>
          <p:nvPr>
            <p:ph sz="half" idx="1"/>
          </p:nvPr>
        </p:nvSpPr>
        <p:spPr>
          <a:xfrm>
            <a:off x="628650" y="1825625"/>
            <a:ext cx="5455518" cy="4351338"/>
          </a:xfrm>
        </p:spPr>
        <p:txBody>
          <a:bodyPr>
            <a:normAutofit fontScale="92500" lnSpcReduction="20000"/>
          </a:bodyPr>
          <a:lstStyle/>
          <a:p>
            <a:r>
              <a:rPr lang="en-GB" sz="2600" dirty="0">
                <a:latin typeface="Arial" panose="020B0604020202020204" pitchFamily="34" charset="0"/>
                <a:cs typeface="Arial" panose="020B0604020202020204" pitchFamily="34" charset="0"/>
              </a:rPr>
              <a:t>Earliest legal codes</a:t>
            </a:r>
          </a:p>
          <a:p>
            <a:endParaRPr lang="en-GB" sz="2600" dirty="0">
              <a:latin typeface="Arial" panose="020B0604020202020204" pitchFamily="34" charset="0"/>
              <a:cs typeface="Arial" panose="020B0604020202020204" pitchFamily="34" charset="0"/>
            </a:endParaRPr>
          </a:p>
          <a:p>
            <a:r>
              <a:rPr lang="en-GB" sz="2600" dirty="0"/>
              <a:t>Addressed regulation of medical practice and professional accountability</a:t>
            </a:r>
            <a:r>
              <a:rPr lang="en-GB" sz="2600" dirty="0">
                <a:latin typeface="Arial" panose="020B0604020202020204" pitchFamily="34" charset="0"/>
                <a:cs typeface="Arial" panose="020B0604020202020204" pitchFamily="34" charset="0"/>
              </a:rPr>
              <a:t>!</a:t>
            </a:r>
          </a:p>
          <a:p>
            <a:pPr marL="0" indent="0">
              <a:buNone/>
            </a:pPr>
            <a:endParaRPr lang="en-GB" sz="2600" dirty="0">
              <a:latin typeface="Arial" panose="020B0604020202020204" pitchFamily="34" charset="0"/>
              <a:cs typeface="Arial" panose="020B0604020202020204" pitchFamily="34" charset="0"/>
            </a:endParaRPr>
          </a:p>
          <a:p>
            <a:r>
              <a:rPr lang="en-GB" sz="2600" dirty="0">
                <a:latin typeface="Arial" panose="020B0604020202020204" pitchFamily="34" charset="0"/>
                <a:cs typeface="Arial" panose="020B0604020202020204" pitchFamily="34" charset="0"/>
              </a:rPr>
              <a:t>Compares medical treatment to other professions</a:t>
            </a:r>
          </a:p>
          <a:p>
            <a:endParaRPr lang="en-GB" sz="2600" dirty="0">
              <a:latin typeface="Arial" panose="020B0604020202020204" pitchFamily="34" charset="0"/>
              <a:cs typeface="Arial" panose="020B0604020202020204" pitchFamily="34" charset="0"/>
            </a:endParaRPr>
          </a:p>
          <a:p>
            <a:r>
              <a:rPr lang="en-GB" sz="2600" dirty="0">
                <a:latin typeface="Arial" panose="020B0604020202020204" pitchFamily="34" charset="0"/>
                <a:cs typeface="Arial" panose="020B0604020202020204" pitchFamily="34" charset="0"/>
              </a:rPr>
              <a:t>States that a medical doctor not doing their job properly is as punishable as other professionals like blacksmiths not doing their job or a boat builder that builds an inadequate  boat which puts lives in danger.</a:t>
            </a:r>
          </a:p>
          <a:p>
            <a:endParaRPr lang="en-GB" dirty="0"/>
          </a:p>
          <a:p>
            <a:endParaRPr lang="en-GB" dirty="0"/>
          </a:p>
        </p:txBody>
      </p:sp>
      <p:pic>
        <p:nvPicPr>
          <p:cNvPr id="2052" name="Picture 4" descr="Code Of Babylonian King Hammurabi | MessageToEagle.com">
            <a:extLst>
              <a:ext uri="{FF2B5EF4-FFF2-40B4-BE49-F238E27FC236}">
                <a16:creationId xmlns:a16="http://schemas.microsoft.com/office/drawing/2014/main" id="{06D085EC-1323-436B-8354-246814277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984" y="133437"/>
            <a:ext cx="2890252" cy="2863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954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94834-AA87-4BC9-ACA5-D54B80C25FDD}"/>
              </a:ext>
            </a:extLst>
          </p:cNvPr>
          <p:cNvSpPr>
            <a:spLocks noGrp="1"/>
          </p:cNvSpPr>
          <p:nvPr>
            <p:ph type="title"/>
          </p:nvPr>
        </p:nvSpPr>
        <p:spPr>
          <a:xfrm>
            <a:off x="628650" y="365127"/>
            <a:ext cx="7886700" cy="831626"/>
          </a:xfrm>
        </p:spPr>
        <p:txBody>
          <a:bodyPr>
            <a:normAutofit/>
          </a:bodyPr>
          <a:lstStyle/>
          <a:p>
            <a:r>
              <a:rPr lang="en-GB" sz="3600" b="1" i="1" dirty="0">
                <a:latin typeface="Arial" panose="020B0604020202020204" pitchFamily="34" charset="0"/>
                <a:cs typeface="Arial" panose="020B0604020202020204" pitchFamily="34" charset="0"/>
              </a:rPr>
              <a:t>Ancient Greece 400 BC</a:t>
            </a:r>
          </a:p>
        </p:txBody>
      </p:sp>
      <p:sp>
        <p:nvSpPr>
          <p:cNvPr id="3" name="Content Placeholder 2">
            <a:extLst>
              <a:ext uri="{FF2B5EF4-FFF2-40B4-BE49-F238E27FC236}">
                <a16:creationId xmlns:a16="http://schemas.microsoft.com/office/drawing/2014/main" id="{593A94C2-5883-4EDE-BCCF-53F1F769CC05}"/>
              </a:ext>
            </a:extLst>
          </p:cNvPr>
          <p:cNvSpPr>
            <a:spLocks noGrp="1"/>
          </p:cNvSpPr>
          <p:nvPr>
            <p:ph sz="half" idx="1"/>
          </p:nvPr>
        </p:nvSpPr>
        <p:spPr>
          <a:xfrm>
            <a:off x="628650" y="1397346"/>
            <a:ext cx="5743550" cy="5272013"/>
          </a:xfrm>
        </p:spPr>
        <p:txBody>
          <a:bodyPr>
            <a:normAutofit/>
          </a:bodyPr>
          <a:lstStyle/>
          <a:p>
            <a:pPr marL="0" indent="0">
              <a:buNone/>
            </a:pPr>
            <a:r>
              <a:rPr lang="en-GB" b="1" dirty="0">
                <a:latin typeface="Arial" panose="020B0604020202020204" pitchFamily="34" charset="0"/>
                <a:cs typeface="Arial" panose="020B0604020202020204" pitchFamily="34" charset="0"/>
              </a:rPr>
              <a:t>Goddess Hygeia (goddess of health):</a:t>
            </a:r>
          </a:p>
          <a:p>
            <a:r>
              <a:rPr lang="en-GB" dirty="0">
                <a:latin typeface="Arial" panose="020B0604020202020204" pitchFamily="34" charset="0"/>
                <a:cs typeface="Arial" panose="020B0604020202020204" pitchFamily="34" charset="0"/>
              </a:rPr>
              <a:t>Cleanliness and hygiene resulted in good health. Dirt would result in ill health</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pPr marL="0" indent="0">
              <a:buNone/>
            </a:pPr>
            <a:r>
              <a:rPr lang="en-GB" b="1" dirty="0">
                <a:latin typeface="Arial" panose="020B0604020202020204" pitchFamily="34" charset="0"/>
                <a:cs typeface="Arial" panose="020B0604020202020204" pitchFamily="34" charset="0"/>
              </a:rPr>
              <a:t>Hippocrates- father of modern medicine:</a:t>
            </a:r>
          </a:p>
          <a:p>
            <a:r>
              <a:rPr lang="en-GB" dirty="0">
                <a:latin typeface="Arial" panose="020B0604020202020204" pitchFamily="34" charset="0"/>
                <a:cs typeface="Arial" panose="020B0604020202020204" pitchFamily="34" charset="0"/>
              </a:rPr>
              <a:t>First person to attribute disease to natural causes and not to superstition or a god…</a:t>
            </a:r>
          </a:p>
          <a:p>
            <a:r>
              <a:rPr lang="en-GB" dirty="0">
                <a:latin typeface="Arial" panose="020B0604020202020204" pitchFamily="34" charset="0"/>
                <a:cs typeface="Arial" panose="020B0604020202020204" pitchFamily="34" charset="0"/>
              </a:rPr>
              <a:t>Ethical code of conduct &amp; how medical practitioners had to hold themselves to a set of standards</a:t>
            </a:r>
          </a:p>
          <a:p>
            <a:r>
              <a:rPr lang="en-GB" dirty="0">
                <a:latin typeface="Arial" panose="020B0604020202020204" pitchFamily="34" charset="0"/>
                <a:cs typeface="Arial" panose="020B0604020202020204" pitchFamily="34" charset="0"/>
              </a:rPr>
              <a:t>Anyone graduating in medicine has to take the Hippocratic Oath</a:t>
            </a:r>
          </a:p>
          <a:p>
            <a:endParaRPr lang="en-GB" dirty="0"/>
          </a:p>
        </p:txBody>
      </p:sp>
      <p:pic>
        <p:nvPicPr>
          <p:cNvPr id="3074" name="Picture 2" descr="Science Source - Hygeia, Greek Goddess of Health">
            <a:extLst>
              <a:ext uri="{FF2B5EF4-FFF2-40B4-BE49-F238E27FC236}">
                <a16:creationId xmlns:a16="http://schemas.microsoft.com/office/drawing/2014/main" id="{D1863831-E495-462B-96DE-6A0C1894B253}"/>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579836" y="908720"/>
            <a:ext cx="1935514" cy="23234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D0AB53A-B78F-4412-8400-19231D28042B}"/>
              </a:ext>
            </a:extLst>
          </p:cNvPr>
          <p:cNvPicPr>
            <a:picLocks noChangeAspect="1"/>
          </p:cNvPicPr>
          <p:nvPr/>
        </p:nvPicPr>
        <p:blipFill>
          <a:blip r:embed="rId4"/>
          <a:stretch>
            <a:fillRect/>
          </a:stretch>
        </p:blipFill>
        <p:spPr>
          <a:xfrm>
            <a:off x="6518979" y="3573016"/>
            <a:ext cx="1973515" cy="2716163"/>
          </a:xfrm>
          <a:prstGeom prst="rect">
            <a:avLst/>
          </a:prstGeom>
        </p:spPr>
      </p:pic>
    </p:spTree>
    <p:extLst>
      <p:ext uri="{BB962C8B-B14F-4D97-AF65-F5344CB8AC3E}">
        <p14:creationId xmlns:p14="http://schemas.microsoft.com/office/powerpoint/2010/main" val="173538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9179-2D9B-4E58-9A24-B43F2C1A28EB}"/>
              </a:ext>
            </a:extLst>
          </p:cNvPr>
          <p:cNvSpPr>
            <a:spLocks noGrp="1"/>
          </p:cNvSpPr>
          <p:nvPr>
            <p:ph type="title"/>
          </p:nvPr>
        </p:nvSpPr>
        <p:spPr>
          <a:xfrm>
            <a:off x="628650" y="365127"/>
            <a:ext cx="7886700" cy="831626"/>
          </a:xfrm>
        </p:spPr>
        <p:txBody>
          <a:bodyPr>
            <a:normAutofit/>
          </a:bodyPr>
          <a:lstStyle/>
          <a:p>
            <a:r>
              <a:rPr lang="en-GB" sz="3600" b="1" i="1" dirty="0">
                <a:latin typeface="Arial" panose="020B0604020202020204" pitchFamily="34" charset="0"/>
                <a:cs typeface="Arial" panose="020B0604020202020204" pitchFamily="34" charset="0"/>
              </a:rPr>
              <a:t>Medieval period (5</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-15</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 AD)</a:t>
            </a:r>
          </a:p>
        </p:txBody>
      </p:sp>
      <p:sp>
        <p:nvSpPr>
          <p:cNvPr id="3" name="Content Placeholder 2">
            <a:extLst>
              <a:ext uri="{FF2B5EF4-FFF2-40B4-BE49-F238E27FC236}">
                <a16:creationId xmlns:a16="http://schemas.microsoft.com/office/drawing/2014/main" id="{C4F4197A-D4CC-4AEB-979F-C8B3C1BA3ABB}"/>
              </a:ext>
            </a:extLst>
          </p:cNvPr>
          <p:cNvSpPr>
            <a:spLocks noGrp="1"/>
          </p:cNvSpPr>
          <p:nvPr>
            <p:ph sz="half" idx="1"/>
          </p:nvPr>
        </p:nvSpPr>
        <p:spPr>
          <a:xfrm>
            <a:off x="628650" y="1196753"/>
            <a:ext cx="5887566" cy="4980210"/>
          </a:xfrm>
        </p:spPr>
        <p:txBody>
          <a:bodyPr>
            <a:normAutofit fontScale="92500" lnSpcReduction="10000"/>
          </a:bodyPr>
          <a:lstStyle/>
          <a:p>
            <a:r>
              <a:rPr lang="en-GB" sz="2600" dirty="0">
                <a:latin typeface="Arial" panose="020B0604020202020204" pitchFamily="34" charset="0"/>
                <a:cs typeface="Arial" panose="020B0604020202020204" pitchFamily="34" charset="0"/>
              </a:rPr>
              <a:t>City building in Europe </a:t>
            </a:r>
          </a:p>
          <a:p>
            <a:r>
              <a:rPr lang="en-GB" sz="2600" dirty="0">
                <a:latin typeface="Arial" panose="020B0604020202020204" pitchFamily="34" charset="0"/>
                <a:cs typeface="Arial" panose="020B0604020202020204" pitchFamily="34" charset="0"/>
              </a:rPr>
              <a:t>Overcrowding (housing)</a:t>
            </a:r>
          </a:p>
          <a:p>
            <a:r>
              <a:rPr lang="en-GB" sz="2600" dirty="0">
                <a:latin typeface="Arial" panose="020B0604020202020204" pitchFamily="34" charset="0"/>
                <a:cs typeface="Arial" panose="020B0604020202020204" pitchFamily="34" charset="0"/>
              </a:rPr>
              <a:t>Rubbish piling, not collected</a:t>
            </a:r>
          </a:p>
          <a:p>
            <a:r>
              <a:rPr lang="en-GB" sz="2600" dirty="0">
                <a:latin typeface="Arial" panose="020B0604020202020204" pitchFamily="34" charset="0"/>
                <a:cs typeface="Arial" panose="020B0604020202020204" pitchFamily="34" charset="0"/>
              </a:rPr>
              <a:t>No sewage systems</a:t>
            </a:r>
          </a:p>
          <a:p>
            <a:r>
              <a:rPr lang="en-GB" sz="2600" dirty="0">
                <a:latin typeface="Arial" panose="020B0604020202020204" pitchFamily="34" charset="0"/>
                <a:cs typeface="Arial" panose="020B0604020202020204" pitchFamily="34" charset="0"/>
              </a:rPr>
              <a:t>Unsanitary </a:t>
            </a:r>
          </a:p>
          <a:p>
            <a:r>
              <a:rPr lang="en-GB" sz="2600" b="1" dirty="0">
                <a:latin typeface="Arial" panose="020B0604020202020204" pitchFamily="34" charset="0"/>
                <a:cs typeface="Arial" panose="020B0604020202020204" pitchFamily="34" charset="0"/>
              </a:rPr>
              <a:t>POOR NUTRITION</a:t>
            </a:r>
          </a:p>
          <a:p>
            <a:r>
              <a:rPr lang="en-GB" sz="2600" dirty="0">
                <a:latin typeface="Arial" panose="020B0604020202020204" pitchFamily="34" charset="0"/>
                <a:cs typeface="Arial" panose="020B0604020202020204" pitchFamily="34" charset="0"/>
              </a:rPr>
              <a:t>Sickness increased </a:t>
            </a:r>
          </a:p>
          <a:p>
            <a:r>
              <a:rPr lang="en-GB" sz="2600" dirty="0">
                <a:latin typeface="Arial" panose="020B0604020202020204" pitchFamily="34" charset="0"/>
                <a:cs typeface="Arial" panose="020B0604020202020204" pitchFamily="34" charset="0"/>
              </a:rPr>
              <a:t>Sickness as punishment for sin (still believed in some parts)</a:t>
            </a:r>
          </a:p>
          <a:p>
            <a:r>
              <a:rPr lang="en-GB" sz="2600" dirty="0">
                <a:latin typeface="Arial" panose="020B0604020202020204" pitchFamily="34" charset="0"/>
                <a:cs typeface="Arial" panose="020B0604020202020204" pitchFamily="34" charset="0"/>
              </a:rPr>
              <a:t>Infectious diseases such as leprosy, typhus, smallpox..)  spread &amp; killed large numbers</a:t>
            </a:r>
          </a:p>
          <a:p>
            <a:r>
              <a:rPr lang="en-GB" sz="2600" dirty="0">
                <a:latin typeface="Arial" panose="020B0604020202020204" pitchFamily="34" charset="0"/>
                <a:cs typeface="Arial" panose="020B0604020202020204" pitchFamily="34" charset="0"/>
              </a:rPr>
              <a:t>War</a:t>
            </a:r>
          </a:p>
          <a:p>
            <a:endParaRPr lang="en-GB" dirty="0"/>
          </a:p>
        </p:txBody>
      </p:sp>
      <p:pic>
        <p:nvPicPr>
          <p:cNvPr id="4098" name="Picture 2" descr="How Europe's Population in the Middle Ages Doubled">
            <a:extLst>
              <a:ext uri="{FF2B5EF4-FFF2-40B4-BE49-F238E27FC236}">
                <a16:creationId xmlns:a16="http://schemas.microsoft.com/office/drawing/2014/main" id="{C291CC27-39DE-4142-8308-407831F45B30}"/>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660232" y="1196753"/>
            <a:ext cx="2333877" cy="2395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2846C-BA85-4D39-9E18-6DBB162D7C6C}"/>
              </a:ext>
            </a:extLst>
          </p:cNvPr>
          <p:cNvSpPr>
            <a:spLocks noGrp="1"/>
          </p:cNvSpPr>
          <p:nvPr>
            <p:ph type="title"/>
          </p:nvPr>
        </p:nvSpPr>
        <p:spPr>
          <a:xfrm>
            <a:off x="628650" y="365127"/>
            <a:ext cx="7886700" cy="831626"/>
          </a:xfrm>
        </p:spPr>
        <p:txBody>
          <a:bodyPr>
            <a:normAutofit/>
          </a:bodyPr>
          <a:lstStyle/>
          <a:p>
            <a:r>
              <a:rPr lang="en-GB" sz="3600" b="1" i="1" dirty="0">
                <a:latin typeface="Arial" panose="020B0604020202020204" pitchFamily="34" charset="0"/>
                <a:cs typeface="Arial" panose="020B0604020202020204" pitchFamily="34" charset="0"/>
              </a:rPr>
              <a:t>Golden Age 8-13</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 AD (Arab World)</a:t>
            </a:r>
          </a:p>
        </p:txBody>
      </p:sp>
      <p:sp>
        <p:nvSpPr>
          <p:cNvPr id="3" name="Content Placeholder 2">
            <a:extLst>
              <a:ext uri="{FF2B5EF4-FFF2-40B4-BE49-F238E27FC236}">
                <a16:creationId xmlns:a16="http://schemas.microsoft.com/office/drawing/2014/main" id="{34989400-3F5B-4427-B9E9-6B3DB8AF4363}"/>
              </a:ext>
            </a:extLst>
          </p:cNvPr>
          <p:cNvSpPr>
            <a:spLocks noGrp="1"/>
          </p:cNvSpPr>
          <p:nvPr>
            <p:ph sz="half" idx="1"/>
          </p:nvPr>
        </p:nvSpPr>
        <p:spPr>
          <a:xfrm>
            <a:off x="628650" y="1825625"/>
            <a:ext cx="5095478" cy="4351338"/>
          </a:xfrm>
        </p:spPr>
        <p:txBody>
          <a:bodyPr>
            <a:normAutofit/>
          </a:bodyPr>
          <a:lstStyle/>
          <a:p>
            <a:r>
              <a:rPr lang="en-GB" sz="2400" b="1" dirty="0">
                <a:latin typeface="Arial" panose="020B0604020202020204" pitchFamily="34" charset="0"/>
                <a:cs typeface="Arial" panose="020B0604020202020204" pitchFamily="34" charset="0"/>
              </a:rPr>
              <a:t>Avicenna</a:t>
            </a:r>
            <a:r>
              <a:rPr lang="en-GB" sz="2400" dirty="0">
                <a:latin typeface="Arial" panose="020B0604020202020204" pitchFamily="34" charset="0"/>
                <a:cs typeface="Arial" panose="020B0604020202020204" pitchFamily="34" charset="0"/>
              </a:rPr>
              <a:t> a book in medicine </a:t>
            </a:r>
          </a:p>
          <a:p>
            <a:r>
              <a:rPr lang="en-GB" sz="2400" b="1" dirty="0">
                <a:latin typeface="Arial" panose="020B0604020202020204" pitchFamily="34" charset="0"/>
                <a:cs typeface="Arial" panose="020B0604020202020204" pitchFamily="34" charset="0"/>
              </a:rPr>
              <a:t>Averroes</a:t>
            </a:r>
            <a:r>
              <a:rPr lang="en-GB" sz="2400" dirty="0">
                <a:latin typeface="Arial" panose="020B0604020202020204" pitchFamily="34" charset="0"/>
                <a:cs typeface="Arial" panose="020B0604020202020204" pitchFamily="34" charset="0"/>
              </a:rPr>
              <a:t> first person to talk about Parkinson’s disease</a:t>
            </a:r>
          </a:p>
          <a:p>
            <a:r>
              <a:rPr lang="en-GB" sz="2400" b="1" dirty="0">
                <a:latin typeface="Arial" panose="020B0604020202020204" pitchFamily="34" charset="0"/>
                <a:cs typeface="Arial" panose="020B0604020202020204" pitchFamily="34" charset="0"/>
              </a:rPr>
              <a:t>Maimonides </a:t>
            </a:r>
            <a:r>
              <a:rPr lang="en-GB" sz="2400" dirty="0">
                <a:latin typeface="Arial" panose="020B0604020202020204" pitchFamily="34" charset="0"/>
                <a:cs typeface="Arial" panose="020B0604020202020204" pitchFamily="34" charset="0"/>
              </a:rPr>
              <a:t>brilliant polymath who was first to mention healthy lifestyle &amp; longevity</a:t>
            </a:r>
          </a:p>
          <a:p>
            <a:r>
              <a:rPr lang="en-GB" sz="2400" dirty="0"/>
              <a:t>Early forms of medical case review and professional accountability</a:t>
            </a:r>
          </a:p>
          <a:p>
            <a:r>
              <a:rPr lang="en-GB" sz="2400" dirty="0">
                <a:latin typeface="Arial" panose="020B0604020202020204" pitchFamily="34" charset="0"/>
                <a:cs typeface="Arial" panose="020B0604020202020204" pitchFamily="34" charset="0"/>
              </a:rPr>
              <a:t>Started by a Syrian - medical notes &amp; outcomes to see if punishable or not</a:t>
            </a:r>
          </a:p>
          <a:p>
            <a:endParaRPr lang="en-GB" dirty="0"/>
          </a:p>
        </p:txBody>
      </p:sp>
      <p:pic>
        <p:nvPicPr>
          <p:cNvPr id="5122" name="Picture 2" descr="ISIS via Ibn Taymiyya and Avicenna">
            <a:extLst>
              <a:ext uri="{FF2B5EF4-FFF2-40B4-BE49-F238E27FC236}">
                <a16:creationId xmlns:a16="http://schemas.microsoft.com/office/drawing/2014/main" id="{C4E436C0-74AF-4A88-A003-B6C19DD80CC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940152" y="1412776"/>
            <a:ext cx="304839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98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8AEE-C083-4B01-AEC0-B988B5EF92FD}"/>
              </a:ext>
            </a:extLst>
          </p:cNvPr>
          <p:cNvSpPr>
            <a:spLocks noGrp="1"/>
          </p:cNvSpPr>
          <p:nvPr>
            <p:ph type="title"/>
          </p:nvPr>
        </p:nvSpPr>
        <p:spPr>
          <a:xfrm>
            <a:off x="685800" y="204875"/>
            <a:ext cx="7886700" cy="831626"/>
          </a:xfrm>
        </p:spPr>
        <p:txBody>
          <a:bodyPr>
            <a:normAutofit/>
          </a:bodyPr>
          <a:lstStyle/>
          <a:p>
            <a:r>
              <a:rPr lang="en-GB" sz="3600" b="1" i="1" dirty="0">
                <a:latin typeface="Arial" panose="020B0604020202020204" pitchFamily="34" charset="0"/>
                <a:cs typeface="Arial" panose="020B0604020202020204" pitchFamily="34" charset="0"/>
              </a:rPr>
              <a:t>Epidemics in Europe 14th-16</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C</a:t>
            </a:r>
          </a:p>
        </p:txBody>
      </p:sp>
      <p:sp>
        <p:nvSpPr>
          <p:cNvPr id="3" name="Content Placeholder 2">
            <a:extLst>
              <a:ext uri="{FF2B5EF4-FFF2-40B4-BE49-F238E27FC236}">
                <a16:creationId xmlns:a16="http://schemas.microsoft.com/office/drawing/2014/main" id="{92C2824E-3148-4A31-A565-2950884F0F4F}"/>
              </a:ext>
            </a:extLst>
          </p:cNvPr>
          <p:cNvSpPr>
            <a:spLocks noGrp="1"/>
          </p:cNvSpPr>
          <p:nvPr>
            <p:ph sz="half" idx="1"/>
          </p:nvPr>
        </p:nvSpPr>
        <p:spPr>
          <a:xfrm>
            <a:off x="611560" y="1196752"/>
            <a:ext cx="5743550" cy="4351338"/>
          </a:xfrm>
        </p:spPr>
        <p:txBody>
          <a:bodyPr>
            <a:normAutofit lnSpcReduction="10000"/>
          </a:bodyPr>
          <a:lstStyle/>
          <a:p>
            <a:pPr marL="0" indent="0">
              <a:buNone/>
            </a:pPr>
            <a:r>
              <a:rPr lang="en-GB" sz="2400" b="1" dirty="0">
                <a:latin typeface="Arial" panose="020B0604020202020204" pitchFamily="34" charset="0"/>
                <a:cs typeface="Arial" panose="020B0604020202020204" pitchFamily="34" charset="0"/>
              </a:rPr>
              <a:t>The Plague epidemic 14-17</a:t>
            </a:r>
            <a:r>
              <a:rPr lang="en-GB" sz="2400" b="1" baseline="30000" dirty="0">
                <a:latin typeface="Arial" panose="020B0604020202020204" pitchFamily="34" charset="0"/>
                <a:cs typeface="Arial" panose="020B0604020202020204" pitchFamily="34" charset="0"/>
              </a:rPr>
              <a:t>th</a:t>
            </a:r>
            <a:r>
              <a:rPr lang="en-GB" sz="2400" b="1" dirty="0">
                <a:latin typeface="Arial" panose="020B0604020202020204" pitchFamily="34" charset="0"/>
                <a:cs typeface="Arial" panose="020B0604020202020204" pitchFamily="34" charset="0"/>
              </a:rPr>
              <a:t> C:</a:t>
            </a:r>
          </a:p>
          <a:p>
            <a:endParaRPr lang="en-GB" sz="2400" b="1"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Start of epidemiology</a:t>
            </a:r>
          </a:p>
          <a:p>
            <a:r>
              <a:rPr lang="en-GB" sz="2400" dirty="0"/>
              <a:t>An estimated 75–200 million deaths across Europe, Asia and North Africa</a:t>
            </a:r>
            <a:endParaRPr lang="en-GB" sz="2400" dirty="0">
              <a:cs typeface="Arial" panose="020B0604020202020204" pitchFamily="34" charset="0"/>
            </a:endParaRPr>
          </a:p>
          <a:p>
            <a:r>
              <a:rPr lang="en-US" sz="2400" dirty="0">
                <a:latin typeface="Arial" panose="020B0604020202020204" pitchFamily="34" charset="0"/>
                <a:cs typeface="Arial" panose="020B0604020202020204" pitchFamily="34" charset="0"/>
              </a:rPr>
              <a:t>Quarantine- a public health policy that can be traced to the Black Death of the </a:t>
            </a:r>
            <a:r>
              <a:rPr lang="en-US" sz="2400" b="1" dirty="0">
                <a:latin typeface="Arial" panose="020B0604020202020204" pitchFamily="34" charset="0"/>
                <a:cs typeface="Arial" panose="020B0604020202020204" pitchFamily="34" charset="0"/>
              </a:rPr>
              <a:t>14th century</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Towns and cities developed systems of quarantine to isolate travelers and merchandise that came from places known to be infected </a:t>
            </a:r>
            <a:endParaRPr lang="en-GB" sz="2400" dirty="0">
              <a:latin typeface="Arial" panose="020B0604020202020204" pitchFamily="34" charset="0"/>
              <a:cs typeface="Arial" panose="020B0604020202020204" pitchFamily="34" charset="0"/>
            </a:endParaRPr>
          </a:p>
          <a:p>
            <a:endParaRPr lang="en-GB" dirty="0"/>
          </a:p>
        </p:txBody>
      </p:sp>
      <p:pic>
        <p:nvPicPr>
          <p:cNvPr id="6148" name="Picture 4" descr=" A 14-year-old boy in Idaho has been diagnosed with a case of the plague - though many people think it's a medieval disease, you can still catch it around the world">
            <a:extLst>
              <a:ext uri="{FF2B5EF4-FFF2-40B4-BE49-F238E27FC236}">
                <a16:creationId xmlns:a16="http://schemas.microsoft.com/office/drawing/2014/main" id="{0A40D3B7-E90F-45D9-A512-812CA07D7285}"/>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660232" y="1484784"/>
            <a:ext cx="2347489" cy="2746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886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4CFA-3970-4429-983B-6262AAFAD64E}"/>
              </a:ext>
            </a:extLst>
          </p:cNvPr>
          <p:cNvSpPr>
            <a:spLocks noGrp="1"/>
          </p:cNvSpPr>
          <p:nvPr>
            <p:ph type="title"/>
          </p:nvPr>
        </p:nvSpPr>
        <p:spPr>
          <a:xfrm>
            <a:off x="628650" y="365127"/>
            <a:ext cx="7886700" cy="687610"/>
          </a:xfrm>
        </p:spPr>
        <p:txBody>
          <a:bodyPr>
            <a:normAutofit/>
          </a:bodyPr>
          <a:lstStyle/>
          <a:p>
            <a:r>
              <a:rPr lang="en-GB" sz="3600" b="1" i="1" dirty="0">
                <a:latin typeface="Arial" panose="020B0604020202020204" pitchFamily="34" charset="0"/>
                <a:cs typeface="Arial" panose="020B0604020202020204" pitchFamily="34" charset="0"/>
              </a:rPr>
              <a:t>16-18</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 Century</a:t>
            </a:r>
          </a:p>
        </p:txBody>
      </p:sp>
      <p:sp>
        <p:nvSpPr>
          <p:cNvPr id="3" name="Content Placeholder 2">
            <a:extLst>
              <a:ext uri="{FF2B5EF4-FFF2-40B4-BE49-F238E27FC236}">
                <a16:creationId xmlns:a16="http://schemas.microsoft.com/office/drawing/2014/main" id="{BC06B8BE-A6D1-4157-BCAE-78F58CF027BD}"/>
              </a:ext>
            </a:extLst>
          </p:cNvPr>
          <p:cNvSpPr>
            <a:spLocks noGrp="1"/>
          </p:cNvSpPr>
          <p:nvPr>
            <p:ph sz="half" idx="1"/>
          </p:nvPr>
        </p:nvSpPr>
        <p:spPr>
          <a:xfrm>
            <a:off x="467544" y="1412776"/>
            <a:ext cx="5184576" cy="4351338"/>
          </a:xfrm>
        </p:spPr>
        <p:txBody>
          <a:bodyPr>
            <a:normAutofit lnSpcReduction="10000"/>
          </a:bodyPr>
          <a:lstStyle/>
          <a:p>
            <a:r>
              <a:rPr lang="en-GB" sz="2400" dirty="0">
                <a:latin typeface="Arial" panose="020B0604020202020204" pitchFamily="34" charset="0"/>
                <a:cs typeface="Arial" panose="020B0604020202020204" pitchFamily="34" charset="0"/>
              </a:rPr>
              <a:t>Spread of epidemics such as smallpox, measles, typhus, malaria across Europe</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Physiology, microscopy &amp; clinical medicine started to develop</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1700 first treatise on occupational diseases</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Industrial revolution: improved agriculture and </a:t>
            </a:r>
            <a:r>
              <a:rPr lang="en-GB" sz="2400" b="1" dirty="0">
                <a:latin typeface="Arial" panose="020B0604020202020204" pitchFamily="34" charset="0"/>
                <a:cs typeface="Arial" panose="020B0604020202020204" pitchFamily="34" charset="0"/>
              </a:rPr>
              <a:t>nutrition</a:t>
            </a:r>
          </a:p>
          <a:p>
            <a:endParaRPr lang="en-GB" sz="2400" b="1" dirty="0">
              <a:latin typeface="Arial" panose="020B0604020202020204" pitchFamily="34" charset="0"/>
              <a:cs typeface="Arial" panose="020B0604020202020204" pitchFamily="34" charset="0"/>
            </a:endParaRPr>
          </a:p>
          <a:p>
            <a:endParaRPr lang="en-GB" dirty="0"/>
          </a:p>
        </p:txBody>
      </p:sp>
      <p:pic>
        <p:nvPicPr>
          <p:cNvPr id="7170" name="Picture 2" descr="PDF) Bernardino Ramazzini and his treatise of the diseases of tradesmen">
            <a:extLst>
              <a:ext uri="{FF2B5EF4-FFF2-40B4-BE49-F238E27FC236}">
                <a16:creationId xmlns:a16="http://schemas.microsoft.com/office/drawing/2014/main" id="{88CFF17C-9B36-4429-B384-9979814F353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652120" y="365128"/>
            <a:ext cx="3528392" cy="3129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834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9CF27-41A7-4E8B-9940-96DA47DB9BCE}"/>
              </a:ext>
            </a:extLst>
          </p:cNvPr>
          <p:cNvSpPr>
            <a:spLocks noGrp="1"/>
          </p:cNvSpPr>
          <p:nvPr>
            <p:ph type="title"/>
          </p:nvPr>
        </p:nvSpPr>
        <p:spPr/>
        <p:txBody>
          <a:bodyPr>
            <a:normAutofit/>
          </a:bodyPr>
          <a:lstStyle/>
          <a:p>
            <a:r>
              <a:rPr lang="en-GB" sz="3600" b="1" i="1" dirty="0">
                <a:latin typeface="Arial" panose="020B0604020202020204" pitchFamily="34" charset="0"/>
                <a:cs typeface="Arial" panose="020B0604020202020204" pitchFamily="34" charset="0"/>
              </a:rPr>
              <a:t>19</a:t>
            </a:r>
            <a:r>
              <a:rPr lang="en-GB" sz="3600" b="1" i="1" baseline="30000" dirty="0">
                <a:latin typeface="Arial" panose="020B0604020202020204" pitchFamily="34" charset="0"/>
                <a:cs typeface="Arial" panose="020B0604020202020204" pitchFamily="34" charset="0"/>
              </a:rPr>
              <a:t>th</a:t>
            </a:r>
            <a:r>
              <a:rPr lang="en-GB" sz="3600" b="1" i="1" dirty="0">
                <a:latin typeface="Arial" panose="020B0604020202020204" pitchFamily="34" charset="0"/>
                <a:cs typeface="Arial" panose="020B0604020202020204" pitchFamily="34" charset="0"/>
              </a:rPr>
              <a:t> C Miasma &amp; Germ Theories</a:t>
            </a:r>
          </a:p>
        </p:txBody>
      </p:sp>
      <p:sp>
        <p:nvSpPr>
          <p:cNvPr id="3" name="Content Placeholder 2">
            <a:extLst>
              <a:ext uri="{FF2B5EF4-FFF2-40B4-BE49-F238E27FC236}">
                <a16:creationId xmlns:a16="http://schemas.microsoft.com/office/drawing/2014/main" id="{EDD42CB3-2A7F-43C5-9F7F-78C616BB0671}"/>
              </a:ext>
            </a:extLst>
          </p:cNvPr>
          <p:cNvSpPr>
            <a:spLocks noGrp="1"/>
          </p:cNvSpPr>
          <p:nvPr>
            <p:ph idx="1"/>
          </p:nvPr>
        </p:nvSpPr>
        <p:spPr>
          <a:xfrm>
            <a:off x="755576" y="1690689"/>
            <a:ext cx="7886700" cy="4667249"/>
          </a:xfrm>
        </p:spPr>
        <p:txBody>
          <a:bodyPr/>
          <a:lstStyle/>
          <a:p>
            <a:r>
              <a:rPr lang="en-GB" sz="2400" dirty="0">
                <a:latin typeface="Arial" panose="020B0604020202020204" pitchFamily="34" charset="0"/>
                <a:cs typeface="Arial" panose="020B0604020202020204" pitchFamily="34" charset="0"/>
              </a:rPr>
              <a:t>Miasma theory: miasma cause disease</a:t>
            </a:r>
          </a:p>
          <a:p>
            <a:r>
              <a:rPr lang="en-GB" sz="2400" dirty="0">
                <a:latin typeface="Arial" panose="020B0604020202020204" pitchFamily="34" charset="0"/>
                <a:cs typeface="Arial" panose="020B0604020202020204" pitchFamily="34" charset="0"/>
              </a:rPr>
              <a:t>Germ theory: specific microorganism cause disease </a:t>
            </a:r>
          </a:p>
          <a:p>
            <a:r>
              <a:rPr lang="en-GB" sz="2400" dirty="0">
                <a:latin typeface="Arial" panose="020B0604020202020204" pitchFamily="34" charset="0"/>
                <a:cs typeface="Arial" panose="020B0604020202020204" pitchFamily="34" charset="0"/>
              </a:rPr>
              <a:t>Koch (1890) bacteria led to disease (1890)</a:t>
            </a:r>
          </a:p>
          <a:p>
            <a:r>
              <a:rPr lang="en-GB" sz="2400" dirty="0">
                <a:latin typeface="Arial" panose="020B0604020202020204" pitchFamily="34" charset="0"/>
                <a:cs typeface="Arial" panose="020B0604020202020204" pitchFamily="34" charset="0"/>
              </a:rPr>
              <a:t>Louis Pasteur (1862) rejected the theory of spontaneous generation of life</a:t>
            </a:r>
          </a:p>
          <a:p>
            <a:r>
              <a:rPr lang="en-GB" sz="2400" dirty="0">
                <a:latin typeface="Arial" panose="020B0604020202020204" pitchFamily="34" charset="0"/>
                <a:cs typeface="Arial" panose="020B0604020202020204" pitchFamily="34" charset="0"/>
              </a:rPr>
              <a:t>John Snow (1854): Broad Street Pump- story of epidemiology: Cholera outbreak. Identified all cases on a map. Initially blamed the water pump. First example of modern epidemiology</a:t>
            </a:r>
          </a:p>
          <a:p>
            <a:r>
              <a:rPr lang="en-GB" sz="2400" dirty="0">
                <a:latin typeface="Arial" panose="020B0604020202020204" pitchFamily="34" charset="0"/>
                <a:cs typeface="Arial" panose="020B0604020202020204" pitchFamily="34" charset="0"/>
              </a:rPr>
              <a:t>Edward Jenner: (1796) Smallpox </a:t>
            </a:r>
            <a:r>
              <a:rPr lang="en-GB" sz="2400" b="1" dirty="0">
                <a:latin typeface="Arial" panose="020B0604020202020204" pitchFamily="34" charset="0"/>
                <a:cs typeface="Arial" panose="020B0604020202020204" pitchFamily="34" charset="0"/>
              </a:rPr>
              <a:t>vaccine</a:t>
            </a:r>
          </a:p>
          <a:p>
            <a:r>
              <a:rPr lang="en-GB" sz="2400" dirty="0">
                <a:latin typeface="Arial" panose="020B0604020202020204" pitchFamily="34" charset="0"/>
                <a:cs typeface="Arial" panose="020B0604020202020204" pitchFamily="34" charset="0"/>
              </a:rPr>
              <a:t>Louis Pasteur </a:t>
            </a:r>
            <a:r>
              <a:rPr lang="en-GB" sz="2400" b="1" dirty="0">
                <a:latin typeface="Arial" panose="020B0604020202020204" pitchFamily="34" charset="0"/>
                <a:cs typeface="Arial" panose="020B0604020202020204" pitchFamily="34" charset="0"/>
              </a:rPr>
              <a:t>vaccine</a:t>
            </a:r>
            <a:r>
              <a:rPr lang="en-GB" sz="2400" dirty="0">
                <a:latin typeface="Arial" panose="020B0604020202020204" pitchFamily="34" charset="0"/>
                <a:cs typeface="Arial" panose="020B0604020202020204" pitchFamily="34" charset="0"/>
              </a:rPr>
              <a:t> against rabies(1885)</a:t>
            </a:r>
          </a:p>
          <a:p>
            <a:endParaRPr lang="en-GB" dirty="0"/>
          </a:p>
          <a:p>
            <a:endParaRPr lang="en-GB" dirty="0"/>
          </a:p>
          <a:p>
            <a:endParaRPr lang="en-GB" dirty="0"/>
          </a:p>
        </p:txBody>
      </p:sp>
    </p:spTree>
    <p:extLst>
      <p:ext uri="{BB962C8B-B14F-4D97-AF65-F5344CB8AC3E}">
        <p14:creationId xmlns:p14="http://schemas.microsoft.com/office/powerpoint/2010/main" val="1950008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2" y="44624"/>
            <a:ext cx="6950596" cy="1325563"/>
          </a:xfrm>
        </p:spPr>
        <p:txBody>
          <a:bodyPr>
            <a:normAutofit/>
          </a:bodyPr>
          <a:lstStyle/>
          <a:p>
            <a:pPr algn="ctr"/>
            <a:r>
              <a:rPr lang="en-GB" sz="3600" b="1" i="1" dirty="0">
                <a:latin typeface="Arial" panose="020B0604020202020204" pitchFamily="34" charset="0"/>
                <a:cs typeface="Arial" panose="020B0604020202020204" pitchFamily="34" charset="0"/>
              </a:rPr>
              <a:t>Historical Perspective of Public Health in Britain</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2159" y="1396372"/>
            <a:ext cx="8496943" cy="2467471"/>
          </a:xfrm>
        </p:spPr>
        <p:txBody>
          <a:bodyPr>
            <a:normAutofit/>
          </a:bodyPr>
          <a:lstStyle/>
          <a:p>
            <a:pPr lvl="7">
              <a:buClr>
                <a:srgbClr val="C00000"/>
              </a:buClr>
            </a:pPr>
            <a:r>
              <a:rPr lang="en-US" sz="2400" dirty="0">
                <a:latin typeface="Arial" panose="020B0604020202020204" pitchFamily="34" charset="0"/>
                <a:cs typeface="Arial" panose="020B0604020202020204" pitchFamily="34" charset="0"/>
              </a:rPr>
              <a:t>The Sanitary Idea - in the 2</a:t>
            </a:r>
            <a:r>
              <a:rPr lang="en-US" sz="2400" baseline="30000" dirty="0">
                <a:latin typeface="Arial" panose="020B0604020202020204" pitchFamily="34" charset="0"/>
                <a:cs typeface="Arial" panose="020B0604020202020204" pitchFamily="34" charset="0"/>
              </a:rPr>
              <a:t>nd</a:t>
            </a:r>
            <a:r>
              <a:rPr lang="en-US" sz="2400" dirty="0">
                <a:latin typeface="Arial" panose="020B0604020202020204" pitchFamily="34" charset="0"/>
                <a:cs typeface="Arial" panose="020B0604020202020204" pitchFamily="34" charset="0"/>
              </a:rPr>
              <a:t> quarter of the  C19</a:t>
            </a:r>
            <a:r>
              <a:rPr lang="en-US" sz="2400" baseline="300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 </a:t>
            </a:r>
          </a:p>
          <a:p>
            <a:pPr lvl="7">
              <a:buClr>
                <a:srgbClr val="C00000"/>
              </a:buClr>
            </a:pPr>
            <a:r>
              <a:rPr lang="en-US" sz="2400" dirty="0">
                <a:latin typeface="Arial" panose="020B0604020202020204" pitchFamily="34" charset="0"/>
                <a:cs typeface="Arial" panose="020B0604020202020204" pitchFamily="34" charset="0"/>
              </a:rPr>
              <a:t>Commencement of a central public health administration which directed local authorities to provide drains, sewers, street cleaning…</a:t>
            </a:r>
          </a:p>
          <a:p>
            <a:pPr lvl="7">
              <a:buClr>
                <a:srgbClr val="C00000"/>
              </a:buClr>
            </a:pPr>
            <a:endParaRPr lang="en-US" sz="2400" dirty="0"/>
          </a:p>
        </p:txBody>
      </p:sp>
      <p:pic>
        <p:nvPicPr>
          <p:cNvPr id="4" name="Picture 3">
            <a:extLst>
              <a:ext uri="{FF2B5EF4-FFF2-40B4-BE49-F238E27FC236}">
                <a16:creationId xmlns:a16="http://schemas.microsoft.com/office/drawing/2014/main" id="{A79AB5D4-59FE-463B-BAF0-7C74F896277D}"/>
              </a:ext>
            </a:extLst>
          </p:cNvPr>
          <p:cNvPicPr>
            <a:picLocks noChangeAspect="1"/>
          </p:cNvPicPr>
          <p:nvPr/>
        </p:nvPicPr>
        <p:blipFill>
          <a:blip r:embed="rId3"/>
          <a:stretch>
            <a:fillRect/>
          </a:stretch>
        </p:blipFill>
        <p:spPr>
          <a:xfrm>
            <a:off x="179512" y="188640"/>
            <a:ext cx="1872208" cy="3135473"/>
          </a:xfrm>
          <a:prstGeom prst="rect">
            <a:avLst/>
          </a:prstGeom>
        </p:spPr>
      </p:pic>
      <p:sp>
        <p:nvSpPr>
          <p:cNvPr id="5" name="Title 1">
            <a:extLst>
              <a:ext uri="{FF2B5EF4-FFF2-40B4-BE49-F238E27FC236}">
                <a16:creationId xmlns:a16="http://schemas.microsoft.com/office/drawing/2014/main" id="{31C187B8-EA66-4CA7-A259-C50E3950A13A}"/>
              </a:ext>
            </a:extLst>
          </p:cNvPr>
          <p:cNvSpPr txBox="1">
            <a:spLocks/>
          </p:cNvSpPr>
          <p:nvPr/>
        </p:nvSpPr>
        <p:spPr>
          <a:xfrm>
            <a:off x="1151620" y="3573016"/>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GB" sz="3600" b="1" i="1" dirty="0">
                <a:solidFill>
                  <a:srgbClr val="008080"/>
                </a:solidFill>
                <a:latin typeface="Arial" panose="020B0604020202020204" pitchFamily="34" charset="0"/>
                <a:cs typeface="Arial" panose="020B0604020202020204" pitchFamily="34" charset="0"/>
              </a:rPr>
              <a:t>Globalisation of public health</a:t>
            </a:r>
            <a:br>
              <a:rPr lang="en-GB" sz="3600" b="1" i="1" dirty="0">
                <a:solidFill>
                  <a:srgbClr val="008080"/>
                </a:solidFill>
                <a:latin typeface="Arial" panose="020B0604020202020204" pitchFamily="34" charset="0"/>
                <a:cs typeface="Arial" panose="020B0604020202020204" pitchFamily="34" charset="0"/>
              </a:rPr>
            </a:br>
            <a:endParaRPr lang="en-GB" sz="3600" b="1" i="1" dirty="0">
              <a:solidFill>
                <a:srgbClr val="00808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3420CFD-B5BD-69A0-5B3D-3FD86CDA47C3}"/>
              </a:ext>
            </a:extLst>
          </p:cNvPr>
          <p:cNvSpPr txBox="1"/>
          <p:nvPr/>
        </p:nvSpPr>
        <p:spPr>
          <a:xfrm>
            <a:off x="359532" y="4437112"/>
            <a:ext cx="8604956" cy="1938992"/>
          </a:xfrm>
          <a:prstGeom prst="rect">
            <a:avLst/>
          </a:prstGeom>
          <a:noFill/>
        </p:spPr>
        <p:txBody>
          <a:bodyPr wrap="square">
            <a:spAutoFit/>
          </a:bodyPr>
          <a:lstStyle/>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Global threats to public health in the 19th C led to International Health Diplomacy</a:t>
            </a:r>
          </a:p>
          <a:p>
            <a:pPr marL="342900" indent="-342900">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Many international public health agreements were created between mid-19</a:t>
            </a:r>
            <a:r>
              <a:rPr lang="en-GB" sz="2400" baseline="30000" dirty="0">
                <a:latin typeface="Arial" panose="020B0604020202020204" pitchFamily="34" charset="0"/>
                <a:cs typeface="Arial" panose="020B0604020202020204" pitchFamily="34" charset="0"/>
              </a:rPr>
              <a:t>th</a:t>
            </a:r>
            <a:r>
              <a:rPr lang="en-GB" sz="2400" dirty="0">
                <a:latin typeface="Arial" panose="020B0604020202020204" pitchFamily="34" charset="0"/>
                <a:cs typeface="Arial" panose="020B0604020202020204" pitchFamily="34" charset="0"/>
              </a:rPr>
              <a:t>-mid 20</a:t>
            </a:r>
            <a:r>
              <a:rPr lang="en-GB" sz="2400" baseline="30000" dirty="0">
                <a:latin typeface="Arial" panose="020B0604020202020204" pitchFamily="34" charset="0"/>
                <a:cs typeface="Arial" panose="020B0604020202020204" pitchFamily="34" charset="0"/>
              </a:rPr>
              <a:t>th</a:t>
            </a:r>
            <a:r>
              <a:rPr lang="en-GB" sz="2400" dirty="0">
                <a:latin typeface="Arial" panose="020B0604020202020204" pitchFamily="34" charset="0"/>
                <a:cs typeface="Arial" panose="020B0604020202020204" pitchFamily="34" charset="0"/>
              </a:rPr>
              <a:t> C</a:t>
            </a:r>
          </a:p>
        </p:txBody>
      </p:sp>
    </p:spTree>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776F-DDBB-817F-348D-30FC89B45DF7}"/>
              </a:ext>
            </a:extLst>
          </p:cNvPr>
          <p:cNvSpPr>
            <a:spLocks noGrp="1"/>
          </p:cNvSpPr>
          <p:nvPr>
            <p:ph type="title"/>
          </p:nvPr>
        </p:nvSpPr>
        <p:spPr/>
        <p:txBody>
          <a:bodyPr>
            <a:normAutofit fontScale="90000"/>
          </a:bodyPr>
          <a:lstStyle/>
          <a:p>
            <a:r>
              <a:rPr lang="en-GB" b="1" i="1" dirty="0">
                <a:latin typeface="Arial" panose="020B0604020202020204" pitchFamily="34" charset="0"/>
                <a:cs typeface="Arial" panose="020B0604020202020204" pitchFamily="34" charset="0"/>
              </a:rPr>
              <a:t>Public Health: Key Historical Milestones</a:t>
            </a:r>
            <a:br>
              <a:rPr lang="en-GB" b="1" i="1" dirty="0">
                <a:latin typeface="Arial" panose="020B0604020202020204" pitchFamily="34" charset="0"/>
                <a:cs typeface="Arial" panose="020B0604020202020204" pitchFamily="34" charset="0"/>
              </a:rPr>
            </a:br>
            <a:endParaRPr lang="en-GB" b="1"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8939088-899E-B120-FE19-EBD86AD38FFD}"/>
              </a:ext>
            </a:extLst>
          </p:cNvPr>
          <p:cNvSpPr>
            <a:spLocks noGrp="1"/>
          </p:cNvSpPr>
          <p:nvPr>
            <p:ph idx="1"/>
          </p:nvPr>
        </p:nvSpPr>
        <p:spPr/>
        <p:txBody>
          <a:bodyPr>
            <a:normAutofit lnSpcReduction="10000"/>
          </a:bodyPr>
          <a:lstStyle/>
          <a:p>
            <a:pPr lvl="0"/>
            <a:r>
              <a:rPr lang="en-GB" b="1" dirty="0"/>
              <a:t>1700 BCE</a:t>
            </a:r>
            <a:r>
              <a:rPr lang="en-GB" dirty="0"/>
              <a:t> – Code of Hammurabi: early regulation of medical practice</a:t>
            </a:r>
          </a:p>
          <a:p>
            <a:pPr lvl="0"/>
            <a:r>
              <a:rPr lang="en-GB" b="1" dirty="0"/>
              <a:t>400 BCE</a:t>
            </a:r>
            <a:r>
              <a:rPr lang="en-GB" dirty="0"/>
              <a:t> – Hippocrates: disease attributed to natural causes</a:t>
            </a:r>
          </a:p>
          <a:p>
            <a:pPr lvl="0"/>
            <a:r>
              <a:rPr lang="en-GB" b="1" dirty="0"/>
              <a:t>8th–13th C</a:t>
            </a:r>
            <a:r>
              <a:rPr lang="en-GB" dirty="0"/>
              <a:t> – Islamic Golden Age: medical scholarship, early health ethics</a:t>
            </a:r>
          </a:p>
          <a:p>
            <a:pPr lvl="0"/>
            <a:r>
              <a:rPr lang="en-GB" b="1" dirty="0"/>
              <a:t>14th C</a:t>
            </a:r>
            <a:r>
              <a:rPr lang="en-GB" dirty="0"/>
              <a:t> – Black Death: emergence of quarantine and epidemiological thinking</a:t>
            </a:r>
          </a:p>
          <a:p>
            <a:pPr lvl="0"/>
            <a:r>
              <a:rPr lang="en-GB" b="1" dirty="0"/>
              <a:t>18th C</a:t>
            </a:r>
            <a:r>
              <a:rPr lang="en-GB" dirty="0"/>
              <a:t> – Jenner: vaccination and disease prevention</a:t>
            </a:r>
          </a:p>
          <a:p>
            <a:pPr lvl="0"/>
            <a:r>
              <a:rPr lang="en-GB" b="1" dirty="0"/>
              <a:t>19th C</a:t>
            </a:r>
            <a:r>
              <a:rPr lang="en-GB" dirty="0"/>
              <a:t> – Sanitary reform, germ theory (Pasteur, Koch), public health infrastructure</a:t>
            </a:r>
          </a:p>
          <a:p>
            <a:pPr lvl="0"/>
            <a:r>
              <a:rPr lang="en-GB" b="1" dirty="0"/>
              <a:t>20th C</a:t>
            </a:r>
            <a:r>
              <a:rPr lang="en-GB" dirty="0"/>
              <a:t> – Epidemiology, vaccination programmes, WHO, non‑communicable disease focus</a:t>
            </a:r>
          </a:p>
          <a:p>
            <a:pPr lvl="0"/>
            <a:r>
              <a:rPr lang="en-GB" b="1" dirty="0"/>
              <a:t>21st C</a:t>
            </a:r>
            <a:r>
              <a:rPr lang="en-GB" dirty="0"/>
              <a:t> – Systems approaches, health inequalities, commercial determinants of health</a:t>
            </a:r>
          </a:p>
          <a:p>
            <a:endParaRPr lang="en-GB" dirty="0"/>
          </a:p>
        </p:txBody>
      </p:sp>
    </p:spTree>
    <p:extLst>
      <p:ext uri="{BB962C8B-B14F-4D97-AF65-F5344CB8AC3E}">
        <p14:creationId xmlns:p14="http://schemas.microsoft.com/office/powerpoint/2010/main" val="166197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594F-B1F4-4A0A-AF10-CE714FB65087}"/>
              </a:ext>
            </a:extLst>
          </p:cNvPr>
          <p:cNvSpPr>
            <a:spLocks noGrp="1"/>
          </p:cNvSpPr>
          <p:nvPr>
            <p:ph type="title"/>
          </p:nvPr>
        </p:nvSpPr>
        <p:spPr>
          <a:xfrm>
            <a:off x="628650" y="157212"/>
            <a:ext cx="7886700" cy="1047650"/>
          </a:xfrm>
        </p:spPr>
        <p:txBody>
          <a:bodyPr>
            <a:noAutofit/>
          </a:bodyPr>
          <a:lstStyle/>
          <a:p>
            <a:pPr algn="ctr"/>
            <a:r>
              <a:rPr lang="en-GB" sz="3600" b="1" i="1" dirty="0">
                <a:latin typeface="Arial" panose="020B0604020202020204" pitchFamily="34" charset="0"/>
                <a:cs typeface="Arial" panose="020B0604020202020204" pitchFamily="34" charset="0"/>
              </a:rPr>
              <a:t>Major International Public Health Advancements:</a:t>
            </a:r>
          </a:p>
        </p:txBody>
      </p:sp>
      <p:sp>
        <p:nvSpPr>
          <p:cNvPr id="3" name="Content Placeholder 2">
            <a:extLst>
              <a:ext uri="{FF2B5EF4-FFF2-40B4-BE49-F238E27FC236}">
                <a16:creationId xmlns:a16="http://schemas.microsoft.com/office/drawing/2014/main" id="{F98AF427-1962-4170-B8E2-7E4321C45B13}"/>
              </a:ext>
            </a:extLst>
          </p:cNvPr>
          <p:cNvSpPr>
            <a:spLocks noGrp="1"/>
          </p:cNvSpPr>
          <p:nvPr>
            <p:ph idx="1"/>
          </p:nvPr>
        </p:nvSpPr>
        <p:spPr>
          <a:xfrm>
            <a:off x="628650" y="1340768"/>
            <a:ext cx="7886700" cy="4836195"/>
          </a:xfrm>
        </p:spPr>
        <p:txBody>
          <a:bodyPr>
            <a:normAutofit/>
          </a:bodyPr>
          <a:lstStyle/>
          <a:p>
            <a:r>
              <a:rPr lang="en-GB" dirty="0">
                <a:latin typeface="Arial" panose="020B0604020202020204" pitchFamily="34" charset="0"/>
                <a:cs typeface="Arial" panose="020B0604020202020204" pitchFamily="34" charset="0"/>
              </a:rPr>
              <a:t>1851: Conference on Cholera</a:t>
            </a:r>
          </a:p>
          <a:p>
            <a:r>
              <a:rPr lang="en-GB" dirty="0">
                <a:latin typeface="Arial" panose="020B0604020202020204" pitchFamily="34" charset="0"/>
                <a:cs typeface="Arial" panose="020B0604020202020204" pitchFamily="34" charset="0"/>
              </a:rPr>
              <a:t>1914: WW1, 1939: WW2 Holocaust</a:t>
            </a:r>
          </a:p>
          <a:p>
            <a:r>
              <a:rPr lang="en-GB" dirty="0">
                <a:latin typeface="Arial" panose="020B0604020202020204" pitchFamily="34" charset="0"/>
                <a:cs typeface="Arial" panose="020B0604020202020204" pitchFamily="34" charset="0"/>
              </a:rPr>
              <a:t>1940s: Introduction of community water fluoridation</a:t>
            </a:r>
          </a:p>
          <a:p>
            <a:r>
              <a:rPr lang="en-GB" dirty="0">
                <a:latin typeface="Arial" panose="020B0604020202020204" pitchFamily="34" charset="0"/>
                <a:cs typeface="Arial" panose="020B0604020202020204" pitchFamily="34" charset="0"/>
              </a:rPr>
              <a:t>1946: WHO set up</a:t>
            </a:r>
          </a:p>
          <a:p>
            <a:r>
              <a:rPr lang="en-GB" dirty="0">
                <a:latin typeface="Arial" panose="020B0604020202020204" pitchFamily="34" charset="0"/>
                <a:cs typeface="Arial" panose="020B0604020202020204" pitchFamily="34" charset="0"/>
              </a:rPr>
              <a:t>1948: Human Rights Declaration</a:t>
            </a:r>
          </a:p>
          <a:p>
            <a:r>
              <a:rPr lang="en-GB" dirty="0">
                <a:latin typeface="Arial" panose="020B0604020202020204" pitchFamily="34" charset="0"/>
                <a:cs typeface="Arial" panose="020B0604020202020204" pitchFamily="34" charset="0"/>
              </a:rPr>
              <a:t>1950: First reports linking tobacco &amp; lung cancer </a:t>
            </a:r>
          </a:p>
          <a:p>
            <a:r>
              <a:rPr lang="en-GB" dirty="0">
                <a:latin typeface="Arial" panose="020B0604020202020204" pitchFamily="34" charset="0"/>
                <a:cs typeface="Arial" panose="020B0604020202020204" pitchFamily="34" charset="0"/>
              </a:rPr>
              <a:t>1952: Polio Vaccine</a:t>
            </a:r>
          </a:p>
          <a:p>
            <a:r>
              <a:rPr lang="en-GB" dirty="0">
                <a:latin typeface="Arial" panose="020B0604020202020204" pitchFamily="34" charset="0"/>
                <a:cs typeface="Arial" panose="020B0604020202020204" pitchFamily="34" charset="0"/>
              </a:rPr>
              <a:t>1953: DNA Structure Watson &amp; Cricks</a:t>
            </a:r>
          </a:p>
          <a:p>
            <a:r>
              <a:rPr lang="en-GB" dirty="0">
                <a:latin typeface="Arial" panose="020B0604020202020204" pitchFamily="34" charset="0"/>
                <a:cs typeface="Arial" panose="020B0604020202020204" pitchFamily="34" charset="0"/>
              </a:rPr>
              <a:t>1954: Framingham study</a:t>
            </a:r>
          </a:p>
          <a:p>
            <a:r>
              <a:rPr lang="en-GB" dirty="0">
                <a:latin typeface="Arial" panose="020B0604020202020204" pitchFamily="34" charset="0"/>
                <a:cs typeface="Arial" panose="020B0604020202020204" pitchFamily="34" charset="0"/>
              </a:rPr>
              <a:t>1978: First IVF baby</a:t>
            </a:r>
          </a:p>
          <a:p>
            <a:r>
              <a:rPr lang="en-GB" dirty="0">
                <a:latin typeface="Arial" panose="020B0604020202020204" pitchFamily="34" charset="0"/>
                <a:cs typeface="Arial" panose="020B0604020202020204" pitchFamily="34" charset="0"/>
              </a:rPr>
              <a:t>1980s: Aids case recognised in US</a:t>
            </a:r>
          </a:p>
          <a:p>
            <a:r>
              <a:rPr lang="en-GB" dirty="0">
                <a:latin typeface="Arial" panose="020B0604020202020204" pitchFamily="34" charset="0"/>
                <a:cs typeface="Arial" panose="020B0604020202020204" pitchFamily="34" charset="0"/>
              </a:rPr>
              <a:t>1991: Folic Acid &amp; Neural Tube defects</a:t>
            </a:r>
          </a:p>
          <a:p>
            <a:endParaRPr lang="en-GB" dirty="0"/>
          </a:p>
          <a:p>
            <a:endParaRPr lang="en-GB" dirty="0"/>
          </a:p>
        </p:txBody>
      </p:sp>
    </p:spTree>
    <p:extLst>
      <p:ext uri="{BB962C8B-B14F-4D97-AF65-F5344CB8AC3E}">
        <p14:creationId xmlns:p14="http://schemas.microsoft.com/office/powerpoint/2010/main" val="626190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F82CC-99AA-4C20-9F4F-FB3A5CB72CAA}"/>
              </a:ext>
            </a:extLst>
          </p:cNvPr>
          <p:cNvSpPr>
            <a:spLocks noGrp="1"/>
          </p:cNvSpPr>
          <p:nvPr>
            <p:ph type="title"/>
          </p:nvPr>
        </p:nvSpPr>
        <p:spPr>
          <a:xfrm>
            <a:off x="395536" y="137282"/>
            <a:ext cx="7886700" cy="1325563"/>
          </a:xfrm>
        </p:spPr>
        <p:txBody>
          <a:bodyPr>
            <a:normAutofit/>
          </a:bodyPr>
          <a:lstStyle/>
          <a:p>
            <a:r>
              <a:rPr lang="en-GB" sz="3600" b="1" i="1" dirty="0">
                <a:latin typeface="Arial" panose="020B0604020202020204" pitchFamily="34" charset="0"/>
                <a:cs typeface="Arial" panose="020B0604020202020204" pitchFamily="34" charset="0"/>
              </a:rPr>
              <a:t>Progress in Public Health</a:t>
            </a:r>
          </a:p>
        </p:txBody>
      </p:sp>
      <p:sp>
        <p:nvSpPr>
          <p:cNvPr id="3" name="Content Placeholder 2">
            <a:extLst>
              <a:ext uri="{FF2B5EF4-FFF2-40B4-BE49-F238E27FC236}">
                <a16:creationId xmlns:a16="http://schemas.microsoft.com/office/drawing/2014/main" id="{AE51E262-881A-4D30-A0D4-67F40D1663ED}"/>
              </a:ext>
            </a:extLst>
          </p:cNvPr>
          <p:cNvSpPr>
            <a:spLocks noGrp="1"/>
          </p:cNvSpPr>
          <p:nvPr>
            <p:ph sz="half" idx="1"/>
          </p:nvPr>
        </p:nvSpPr>
        <p:spPr>
          <a:xfrm>
            <a:off x="628650" y="1825625"/>
            <a:ext cx="5311502" cy="4351338"/>
          </a:xfrm>
        </p:spPr>
        <p:txBody>
          <a:bodyPr>
            <a:normAutofit fontScale="92500" lnSpcReduction="10000"/>
          </a:bodyPr>
          <a:lstStyle/>
          <a:p>
            <a:pPr>
              <a:buClr>
                <a:srgbClr val="C00000"/>
              </a:buClr>
            </a:pPr>
            <a:r>
              <a:rPr lang="en-GB" sz="2400" dirty="0">
                <a:latin typeface="Arial" panose="020B0604020202020204" pitchFamily="34" charset="0"/>
                <a:cs typeface="Arial" panose="020B0604020202020204" pitchFamily="34" charset="0"/>
              </a:rPr>
              <a:t>Control of infectious disease</a:t>
            </a:r>
          </a:p>
          <a:p>
            <a:pPr>
              <a:buClr>
                <a:srgbClr val="C00000"/>
              </a:buClr>
            </a:pPr>
            <a:r>
              <a:rPr lang="en-GB" sz="2400" dirty="0">
                <a:latin typeface="Arial" panose="020B0604020202020204" pitchFamily="34" charset="0"/>
                <a:cs typeface="Arial" panose="020B0604020202020204" pitchFamily="34" charset="0"/>
              </a:rPr>
              <a:t>Immunization</a:t>
            </a:r>
          </a:p>
          <a:p>
            <a:pPr>
              <a:buClr>
                <a:srgbClr val="C00000"/>
              </a:buClr>
            </a:pPr>
            <a:r>
              <a:rPr lang="en-US" sz="2400" dirty="0">
                <a:latin typeface="Arial" panose="020B0604020202020204" pitchFamily="34" charset="0"/>
                <a:cs typeface="Arial" panose="020B0604020202020204" pitchFamily="34" charset="0"/>
              </a:rPr>
              <a:t>Eradication of many diseases </a:t>
            </a:r>
          </a:p>
          <a:p>
            <a:pPr>
              <a:buClr>
                <a:srgbClr val="C00000"/>
              </a:buClr>
            </a:pPr>
            <a:r>
              <a:rPr lang="en-US" sz="2400" b="1" dirty="0">
                <a:latin typeface="Arial" panose="020B0604020202020204" pitchFamily="34" charset="0"/>
                <a:cs typeface="Arial" panose="020B0604020202020204" pitchFamily="34" charset="0"/>
              </a:rPr>
              <a:t>Shift from communicable to non-communicable diseases</a:t>
            </a:r>
            <a:endParaRPr lang="en-GB" sz="2400" b="1" dirty="0">
              <a:latin typeface="Arial" panose="020B0604020202020204" pitchFamily="34" charset="0"/>
              <a:cs typeface="Arial" panose="020B0604020202020204" pitchFamily="34" charset="0"/>
            </a:endParaRPr>
          </a:p>
          <a:p>
            <a:pPr>
              <a:buClr>
                <a:srgbClr val="C00000"/>
              </a:buClr>
            </a:pPr>
            <a:r>
              <a:rPr lang="en-GB" sz="2400" dirty="0">
                <a:latin typeface="Arial" panose="020B0604020202020204" pitchFamily="34" charset="0"/>
                <a:cs typeface="Arial" panose="020B0604020202020204" pitchFamily="34" charset="0"/>
              </a:rPr>
              <a:t>Fluoridation of water</a:t>
            </a:r>
          </a:p>
          <a:p>
            <a:pPr>
              <a:buClr>
                <a:srgbClr val="C00000"/>
              </a:buClr>
            </a:pPr>
            <a:r>
              <a:rPr lang="en-GB" sz="2400" dirty="0">
                <a:latin typeface="Arial" panose="020B0604020202020204" pitchFamily="34" charset="0"/>
                <a:cs typeface="Arial" panose="020B0604020202020204" pitchFamily="34" charset="0"/>
              </a:rPr>
              <a:t>Family planning</a:t>
            </a:r>
          </a:p>
          <a:p>
            <a:pPr>
              <a:buClr>
                <a:srgbClr val="C00000"/>
              </a:buClr>
            </a:pPr>
            <a:r>
              <a:rPr lang="en-GB" sz="2400" dirty="0">
                <a:latin typeface="Arial" panose="020B0604020202020204" pitchFamily="34" charset="0"/>
                <a:cs typeface="Arial" panose="020B0604020202020204" pitchFamily="34" charset="0"/>
              </a:rPr>
              <a:t>Safer foods</a:t>
            </a:r>
          </a:p>
          <a:p>
            <a:pPr>
              <a:buClr>
                <a:srgbClr val="C00000"/>
              </a:buClr>
            </a:pPr>
            <a:r>
              <a:rPr lang="en-GB" sz="2400" dirty="0">
                <a:latin typeface="Arial" panose="020B0604020202020204" pitchFamily="34" charset="0"/>
                <a:cs typeface="Arial" panose="020B0604020202020204" pitchFamily="34" charset="0"/>
              </a:rPr>
              <a:t>Decline in CVD &amp; stroke</a:t>
            </a:r>
          </a:p>
          <a:p>
            <a:pPr>
              <a:buClr>
                <a:srgbClr val="C00000"/>
              </a:buClr>
            </a:pPr>
            <a:r>
              <a:rPr lang="en-GB" sz="2400" dirty="0">
                <a:latin typeface="Arial" panose="020B0604020202020204" pitchFamily="34" charset="0"/>
                <a:cs typeface="Arial" panose="020B0604020202020204" pitchFamily="34" charset="0"/>
              </a:rPr>
              <a:t>Decline in smoking</a:t>
            </a:r>
          </a:p>
          <a:p>
            <a:pPr>
              <a:buClr>
                <a:srgbClr val="C00000"/>
              </a:buClr>
            </a:pPr>
            <a:r>
              <a:rPr lang="en-GB" sz="2400" dirty="0">
                <a:latin typeface="Arial" panose="020B0604020202020204" pitchFamily="34" charset="0"/>
                <a:cs typeface="Arial" panose="020B0604020202020204" pitchFamily="34" charset="0"/>
              </a:rPr>
              <a:t>Motor vehicle safety</a:t>
            </a:r>
          </a:p>
          <a:p>
            <a:pPr>
              <a:buClr>
                <a:srgbClr val="C00000"/>
              </a:buClr>
            </a:pPr>
            <a:r>
              <a:rPr lang="en-GB" sz="2400" dirty="0">
                <a:latin typeface="Arial" panose="020B0604020202020204" pitchFamily="34" charset="0"/>
                <a:cs typeface="Arial" panose="020B0604020202020204" pitchFamily="34" charset="0"/>
              </a:rPr>
              <a:t>Workplace safety</a:t>
            </a:r>
          </a:p>
          <a:p>
            <a:endParaRPr lang="en-GB" dirty="0"/>
          </a:p>
        </p:txBody>
      </p:sp>
      <p:pic>
        <p:nvPicPr>
          <p:cNvPr id="5" name="Content Placeholder 4">
            <a:extLst>
              <a:ext uri="{FF2B5EF4-FFF2-40B4-BE49-F238E27FC236}">
                <a16:creationId xmlns:a16="http://schemas.microsoft.com/office/drawing/2014/main" id="{CE188434-216A-4F3C-8F94-4D56C28CB2C9}"/>
              </a:ext>
            </a:extLst>
          </p:cNvPr>
          <p:cNvPicPr>
            <a:picLocks noGrp="1" noChangeAspect="1"/>
          </p:cNvPicPr>
          <p:nvPr>
            <p:ph sz="half" idx="2"/>
          </p:nvPr>
        </p:nvPicPr>
        <p:blipFill>
          <a:blip r:embed="rId3"/>
          <a:stretch>
            <a:fillRect/>
          </a:stretch>
        </p:blipFill>
        <p:spPr>
          <a:xfrm>
            <a:off x="6383795" y="137282"/>
            <a:ext cx="2649967" cy="1669702"/>
          </a:xfrm>
          <a:prstGeom prst="rect">
            <a:avLst/>
          </a:prstGeom>
        </p:spPr>
      </p:pic>
      <p:pic>
        <p:nvPicPr>
          <p:cNvPr id="6" name="Picture 5">
            <a:extLst>
              <a:ext uri="{FF2B5EF4-FFF2-40B4-BE49-F238E27FC236}">
                <a16:creationId xmlns:a16="http://schemas.microsoft.com/office/drawing/2014/main" id="{7F81D48E-03A9-4385-B028-A3EBCE4D4B3B}"/>
              </a:ext>
            </a:extLst>
          </p:cNvPr>
          <p:cNvPicPr>
            <a:picLocks noChangeAspect="1"/>
          </p:cNvPicPr>
          <p:nvPr/>
        </p:nvPicPr>
        <p:blipFill>
          <a:blip r:embed="rId4"/>
          <a:stretch>
            <a:fillRect/>
          </a:stretch>
        </p:blipFill>
        <p:spPr>
          <a:xfrm>
            <a:off x="6484815" y="2221441"/>
            <a:ext cx="2447925" cy="1866900"/>
          </a:xfrm>
          <a:prstGeom prst="rect">
            <a:avLst/>
          </a:prstGeom>
        </p:spPr>
      </p:pic>
      <p:pic>
        <p:nvPicPr>
          <p:cNvPr id="7" name="Picture 6">
            <a:extLst>
              <a:ext uri="{FF2B5EF4-FFF2-40B4-BE49-F238E27FC236}">
                <a16:creationId xmlns:a16="http://schemas.microsoft.com/office/drawing/2014/main" id="{3240CE2C-1D20-4A70-979A-8139BE4CCC08}"/>
              </a:ext>
            </a:extLst>
          </p:cNvPr>
          <p:cNvPicPr>
            <a:picLocks noChangeAspect="1"/>
          </p:cNvPicPr>
          <p:nvPr/>
        </p:nvPicPr>
        <p:blipFill>
          <a:blip r:embed="rId5"/>
          <a:stretch>
            <a:fillRect/>
          </a:stretch>
        </p:blipFill>
        <p:spPr>
          <a:xfrm>
            <a:off x="6403854" y="4509120"/>
            <a:ext cx="2609850" cy="1752600"/>
          </a:xfrm>
          <a:prstGeom prst="rect">
            <a:avLst/>
          </a:prstGeom>
        </p:spPr>
      </p:pic>
    </p:spTree>
    <p:extLst>
      <p:ext uri="{BB962C8B-B14F-4D97-AF65-F5344CB8AC3E}">
        <p14:creationId xmlns:p14="http://schemas.microsoft.com/office/powerpoint/2010/main" val="3622489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i="1" dirty="0">
                <a:latin typeface="Arial" panose="020B0604020202020204" pitchFamily="34" charset="0"/>
                <a:cs typeface="Arial" panose="020B0604020202020204" pitchFamily="34" charset="0"/>
              </a:rPr>
              <a:t>What Does Public Health Do?</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lvl="0">
              <a:buClr>
                <a:srgbClr val="C00000"/>
              </a:buClr>
            </a:pPr>
            <a:r>
              <a:rPr lang="en-US" sz="2800" dirty="0">
                <a:latin typeface="Arial" panose="020B0604020202020204" pitchFamily="34" charset="0"/>
                <a:cs typeface="Arial" panose="020B0604020202020204" pitchFamily="34" charset="0"/>
              </a:rPr>
              <a:t>Improve health largely by promoting </a:t>
            </a:r>
            <a:r>
              <a:rPr lang="en-US" sz="2800" b="1" dirty="0">
                <a:latin typeface="Arial" panose="020B0604020202020204" pitchFamily="34" charset="0"/>
                <a:cs typeface="Arial" panose="020B0604020202020204" pitchFamily="34" charset="0"/>
              </a:rPr>
              <a:t>healthcare</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equity, quality &amp; accessibility</a:t>
            </a:r>
          </a:p>
          <a:p>
            <a:pPr lvl="0">
              <a:buClr>
                <a:srgbClr val="C00000"/>
              </a:buClr>
            </a:pPr>
            <a:endParaRPr lang="en-US" sz="2400" b="1" dirty="0"/>
          </a:p>
          <a:p>
            <a:endParaRPr lang="en-US" dirty="0"/>
          </a:p>
        </p:txBody>
      </p:sp>
      <p:pic>
        <p:nvPicPr>
          <p:cNvPr id="6" name="Content Placeholder 3">
            <a:extLst>
              <a:ext uri="{FF2B5EF4-FFF2-40B4-BE49-F238E27FC236}">
                <a16:creationId xmlns:a16="http://schemas.microsoft.com/office/drawing/2014/main" id="{14ABF2AE-431A-4393-A31F-37F3006DEE6F}"/>
              </a:ext>
            </a:extLst>
          </p:cNvPr>
          <p:cNvPicPr>
            <a:picLocks noChangeAspect="1"/>
          </p:cNvPicPr>
          <p:nvPr/>
        </p:nvPicPr>
        <p:blipFill>
          <a:blip r:embed="rId3"/>
          <a:stretch>
            <a:fillRect/>
          </a:stretch>
        </p:blipFill>
        <p:spPr>
          <a:xfrm>
            <a:off x="1763688" y="3284984"/>
            <a:ext cx="5010150" cy="20173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9AD825-86F3-3FA3-602E-117ACEA489A4}"/>
              </a:ext>
            </a:extLst>
          </p:cNvPr>
          <p:cNvPicPr>
            <a:picLocks noChangeAspect="1"/>
          </p:cNvPicPr>
          <p:nvPr/>
        </p:nvPicPr>
        <p:blipFill>
          <a:blip r:embed="rId2"/>
          <a:stretch>
            <a:fillRect/>
          </a:stretch>
        </p:blipFill>
        <p:spPr>
          <a:xfrm>
            <a:off x="0" y="180224"/>
            <a:ext cx="9144000" cy="6497552"/>
          </a:xfrm>
          <a:prstGeom prst="rect">
            <a:avLst/>
          </a:prstGeom>
        </p:spPr>
      </p:pic>
    </p:spTree>
    <p:extLst>
      <p:ext uri="{BB962C8B-B14F-4D97-AF65-F5344CB8AC3E}">
        <p14:creationId xmlns:p14="http://schemas.microsoft.com/office/powerpoint/2010/main" val="1940111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7BBE-5BF7-DCC1-2D4C-AA267CDC34B9}"/>
              </a:ext>
            </a:extLst>
          </p:cNvPr>
          <p:cNvSpPr>
            <a:spLocks noGrp="1"/>
          </p:cNvSpPr>
          <p:nvPr>
            <p:ph type="title"/>
          </p:nvPr>
        </p:nvSpPr>
        <p:spPr/>
        <p:txBody>
          <a:bodyPr/>
          <a:lstStyle/>
          <a:p>
            <a:r>
              <a:rPr lang="en-GB" b="1" i="1" dirty="0">
                <a:latin typeface="Arial" panose="020B0604020202020204" pitchFamily="34" charset="0"/>
                <a:cs typeface="Arial" panose="020B0604020202020204" pitchFamily="34" charset="0"/>
              </a:rPr>
              <a:t>What is Public Health Nutrition (PHN)?</a:t>
            </a:r>
            <a:br>
              <a:rPr lang="en-GB" i="1" dirty="0">
                <a:latin typeface="Arial" panose="020B0604020202020204" pitchFamily="34" charset="0"/>
                <a:cs typeface="Arial" panose="020B0604020202020204" pitchFamily="34" charset="0"/>
              </a:rPr>
            </a:br>
            <a:endParaRPr lang="en-GB"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77ECF8F-E6D2-3A7B-B98A-DE782E4E569B}"/>
              </a:ext>
            </a:extLst>
          </p:cNvPr>
          <p:cNvSpPr>
            <a:spLocks noGrp="1"/>
          </p:cNvSpPr>
          <p:nvPr>
            <p:ph idx="1"/>
          </p:nvPr>
        </p:nvSpPr>
        <p:spPr/>
        <p:txBody>
          <a:bodyPr/>
          <a:lstStyle/>
          <a:p>
            <a:r>
              <a:rPr lang="en-GB" sz="2800" b="1" dirty="0"/>
              <a:t>Public Health Nutrition</a:t>
            </a:r>
            <a:r>
              <a:rPr lang="en-GB" sz="2800" dirty="0"/>
              <a:t> is concerned with:</a:t>
            </a:r>
          </a:p>
          <a:p>
            <a:r>
              <a:rPr lang="en-GB" sz="2800" dirty="0"/>
              <a:t> the </a:t>
            </a:r>
            <a:r>
              <a:rPr lang="en-GB" sz="2800" b="1" dirty="0"/>
              <a:t>promotion, protection and maintenance of nutrition‑related health and wellbeing at population level</a:t>
            </a:r>
            <a:r>
              <a:rPr lang="en-GB" sz="2800" dirty="0"/>
              <a:t>, </a:t>
            </a:r>
          </a:p>
          <a:p>
            <a:r>
              <a:rPr lang="en-GB" sz="2800" dirty="0"/>
              <a:t>through </a:t>
            </a:r>
            <a:r>
              <a:rPr lang="en-GB" sz="2800" b="1" dirty="0"/>
              <a:t>policy, systems, environmental and behavioural interventions</a:t>
            </a:r>
            <a:r>
              <a:rPr lang="en-GB" sz="2800" dirty="0"/>
              <a:t>,</a:t>
            </a:r>
          </a:p>
          <a:p>
            <a:r>
              <a:rPr lang="en-GB" sz="2800" dirty="0"/>
              <a:t> informed by epidemiological evidence and social determinants of health.</a:t>
            </a:r>
          </a:p>
          <a:p>
            <a:endParaRPr lang="en-GB" dirty="0"/>
          </a:p>
        </p:txBody>
      </p:sp>
    </p:spTree>
    <p:extLst>
      <p:ext uri="{BB962C8B-B14F-4D97-AF65-F5344CB8AC3E}">
        <p14:creationId xmlns:p14="http://schemas.microsoft.com/office/powerpoint/2010/main" val="4127603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6D44D-196C-A7A7-8182-14C64568969B}"/>
              </a:ext>
            </a:extLst>
          </p:cNvPr>
          <p:cNvSpPr>
            <a:spLocks noGrp="1"/>
          </p:cNvSpPr>
          <p:nvPr>
            <p:ph type="title"/>
          </p:nvPr>
        </p:nvSpPr>
        <p:spPr/>
        <p:txBody>
          <a:bodyPr/>
          <a:lstStyle/>
          <a:p>
            <a:r>
              <a:rPr lang="en-GB" b="1" i="1" dirty="0">
                <a:latin typeface="Arial" panose="020B0604020202020204" pitchFamily="34" charset="0"/>
                <a:cs typeface="Arial" panose="020B0604020202020204" pitchFamily="34" charset="0"/>
              </a:rPr>
              <a:t>Key characteristics of PHN practice:</a:t>
            </a:r>
            <a:br>
              <a:rPr lang="en-GB" i="1" dirty="0">
                <a:latin typeface="Arial" panose="020B0604020202020204" pitchFamily="34" charset="0"/>
                <a:cs typeface="Arial" panose="020B0604020202020204" pitchFamily="34" charset="0"/>
              </a:rPr>
            </a:br>
            <a:endParaRPr lang="en-GB"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121963C-D300-A6B0-1257-CD6755161FC0}"/>
              </a:ext>
            </a:extLst>
          </p:cNvPr>
          <p:cNvSpPr>
            <a:spLocks noGrp="1"/>
          </p:cNvSpPr>
          <p:nvPr>
            <p:ph idx="1"/>
          </p:nvPr>
        </p:nvSpPr>
        <p:spPr/>
        <p:txBody>
          <a:bodyPr/>
          <a:lstStyle/>
          <a:p>
            <a:pPr lvl="0"/>
            <a:r>
              <a:rPr lang="en-GB" dirty="0"/>
              <a:t>Operates at </a:t>
            </a:r>
            <a:r>
              <a:rPr lang="en-GB" b="1" dirty="0"/>
              <a:t>population and sub‑population level</a:t>
            </a:r>
            <a:r>
              <a:rPr lang="en-GB" dirty="0"/>
              <a:t>, rather than individual care</a:t>
            </a:r>
          </a:p>
          <a:p>
            <a:pPr lvl="0"/>
            <a:r>
              <a:rPr lang="en-GB" dirty="0"/>
              <a:t>Addresses </a:t>
            </a:r>
            <a:r>
              <a:rPr lang="en-GB" b="1" dirty="0"/>
              <a:t>structural, social, economic and environmental determinants</a:t>
            </a:r>
            <a:r>
              <a:rPr lang="en-GB" dirty="0"/>
              <a:t> of diet and health</a:t>
            </a:r>
          </a:p>
          <a:p>
            <a:pPr lvl="0"/>
            <a:r>
              <a:rPr lang="en-GB" dirty="0"/>
              <a:t>Integrates </a:t>
            </a:r>
            <a:r>
              <a:rPr lang="en-GB" b="1" dirty="0"/>
              <a:t>nutrition science, public health, behavioural science and policy</a:t>
            </a:r>
            <a:endParaRPr lang="en-GB" dirty="0"/>
          </a:p>
          <a:p>
            <a:pPr lvl="0"/>
            <a:r>
              <a:rPr lang="en-GB" dirty="0"/>
              <a:t>Focuses on </a:t>
            </a:r>
            <a:r>
              <a:rPr lang="en-GB" b="1" dirty="0"/>
              <a:t>prevention, equity and sustainability</a:t>
            </a:r>
            <a:endParaRPr lang="en-GB" dirty="0"/>
          </a:p>
          <a:p>
            <a:pPr lvl="0"/>
            <a:r>
              <a:rPr lang="en-GB" dirty="0"/>
              <a:t>Requires </a:t>
            </a:r>
            <a:r>
              <a:rPr lang="en-GB" b="1" dirty="0"/>
              <a:t>intersectoral action</a:t>
            </a:r>
            <a:r>
              <a:rPr lang="en-GB" dirty="0"/>
              <a:t> (health, education, food systems, local government)</a:t>
            </a:r>
          </a:p>
          <a:p>
            <a:r>
              <a:rPr lang="en-GB" dirty="0"/>
              <a:t>PHN draws on principles of </a:t>
            </a:r>
            <a:r>
              <a:rPr lang="en-GB" b="1" dirty="0"/>
              <a:t>health promotion:</a:t>
            </a:r>
            <a:br>
              <a:rPr lang="en-GB" b="1" dirty="0"/>
            </a:br>
            <a:r>
              <a:rPr lang="en-GB" i="1" dirty="0"/>
              <a:t>“Enabling people and communities to increase control over the determinants of health and improve health outcomes.”</a:t>
            </a:r>
            <a:endParaRPr lang="en-GB" dirty="0"/>
          </a:p>
          <a:p>
            <a:pPr lvl="0"/>
            <a:endParaRPr lang="en-GB" dirty="0"/>
          </a:p>
          <a:p>
            <a:endParaRPr lang="en-GB" dirty="0"/>
          </a:p>
        </p:txBody>
      </p:sp>
    </p:spTree>
    <p:extLst>
      <p:ext uri="{BB962C8B-B14F-4D97-AF65-F5344CB8AC3E}">
        <p14:creationId xmlns:p14="http://schemas.microsoft.com/office/powerpoint/2010/main" val="3951481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E19D-CD53-4EBD-BCE5-C87478793378}"/>
              </a:ext>
            </a:extLst>
          </p:cNvPr>
          <p:cNvSpPr>
            <a:spLocks noGrp="1"/>
          </p:cNvSpPr>
          <p:nvPr>
            <p:ph type="title"/>
          </p:nvPr>
        </p:nvSpPr>
        <p:spPr/>
        <p:txBody>
          <a:bodyPr/>
          <a:lstStyle/>
          <a:p>
            <a:r>
              <a:rPr lang="en-GB" b="1" i="1" dirty="0">
                <a:latin typeface="Arial" panose="020B0604020202020204" pitchFamily="34" charset="0"/>
                <a:cs typeface="Arial" panose="020B0604020202020204" pitchFamily="34" charset="0"/>
              </a:rPr>
              <a:t>Prevention in Public Health Nutrition</a:t>
            </a:r>
            <a:br>
              <a:rPr lang="en-GB" i="1" dirty="0">
                <a:latin typeface="Arial" panose="020B0604020202020204" pitchFamily="34" charset="0"/>
                <a:cs typeface="Arial" panose="020B0604020202020204" pitchFamily="34" charset="0"/>
              </a:rPr>
            </a:br>
            <a:endParaRPr lang="en-GB" i="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6CDAB1-C598-3620-C9BC-88C72B514C8E}"/>
              </a:ext>
            </a:extLst>
          </p:cNvPr>
          <p:cNvSpPr>
            <a:spLocks noGrp="1"/>
          </p:cNvSpPr>
          <p:nvPr>
            <p:ph idx="1"/>
          </p:nvPr>
        </p:nvSpPr>
        <p:spPr/>
        <p:txBody>
          <a:bodyPr>
            <a:normAutofit/>
          </a:bodyPr>
          <a:lstStyle/>
          <a:p>
            <a:r>
              <a:rPr lang="en-GB" dirty="0"/>
              <a:t>In public health nutrition, </a:t>
            </a:r>
            <a:r>
              <a:rPr lang="en-GB" b="1" dirty="0"/>
              <a:t>prevention refers to interventions implemented </a:t>
            </a:r>
            <a:r>
              <a:rPr lang="en-GB" b="1" i="1" dirty="0"/>
              <a:t>before</a:t>
            </a:r>
            <a:r>
              <a:rPr lang="en-GB" b="1" dirty="0"/>
              <a:t> disease onset</a:t>
            </a:r>
            <a:r>
              <a:rPr lang="en-GB" dirty="0"/>
              <a:t>, targeting </a:t>
            </a:r>
            <a:r>
              <a:rPr lang="en-GB" b="1" dirty="0"/>
              <a:t>upstream determinants of diet and health</a:t>
            </a:r>
            <a:r>
              <a:rPr lang="en-GB" dirty="0"/>
              <a:t> rather than downstream treatment.</a:t>
            </a:r>
          </a:p>
          <a:p>
            <a:r>
              <a:rPr lang="en-GB" dirty="0"/>
              <a:t>Defining features:</a:t>
            </a:r>
          </a:p>
          <a:p>
            <a:pPr lvl="0"/>
            <a:r>
              <a:rPr lang="en-GB" dirty="0"/>
              <a:t>Implemented </a:t>
            </a:r>
            <a:r>
              <a:rPr lang="en-GB" b="1" dirty="0"/>
              <a:t>across whole populations or defined population groups</a:t>
            </a:r>
            <a:endParaRPr lang="en-GB" dirty="0"/>
          </a:p>
          <a:p>
            <a:pPr lvl="0"/>
            <a:r>
              <a:rPr lang="en-GB" dirty="0"/>
              <a:t>Focused on </a:t>
            </a:r>
            <a:r>
              <a:rPr lang="en-GB" b="1" dirty="0"/>
              <a:t>risk reduction, resilience and health‑enabling environments</a:t>
            </a:r>
            <a:endParaRPr lang="en-GB" dirty="0"/>
          </a:p>
          <a:p>
            <a:pPr lvl="0"/>
            <a:r>
              <a:rPr lang="en-GB" dirty="0"/>
              <a:t>Uses </a:t>
            </a:r>
            <a:r>
              <a:rPr lang="en-GB" b="1" dirty="0"/>
              <a:t>multiple, coordinated strategies</a:t>
            </a:r>
            <a:r>
              <a:rPr lang="en-GB" dirty="0"/>
              <a:t> (policy, education, regulation, environmental change)</a:t>
            </a:r>
          </a:p>
          <a:p>
            <a:pPr lvl="0"/>
            <a:r>
              <a:rPr lang="en-GB" dirty="0"/>
              <a:t>Prioritises </a:t>
            </a:r>
            <a:r>
              <a:rPr lang="en-GB" b="1" dirty="0"/>
              <a:t>equity and proportionate universalism</a:t>
            </a:r>
            <a:endParaRPr lang="en-GB" dirty="0"/>
          </a:p>
          <a:p>
            <a:pPr lvl="0"/>
            <a:r>
              <a:rPr lang="en-GB" dirty="0"/>
              <a:t>Evaluated over </a:t>
            </a:r>
            <a:r>
              <a:rPr lang="en-GB" b="1" dirty="0"/>
              <a:t>medium to long timeframes</a:t>
            </a:r>
            <a:endParaRPr lang="en-GB" dirty="0"/>
          </a:p>
          <a:p>
            <a:endParaRPr lang="en-GB" dirty="0"/>
          </a:p>
          <a:p>
            <a:endParaRPr lang="en-GB" dirty="0"/>
          </a:p>
        </p:txBody>
      </p:sp>
    </p:spTree>
    <p:extLst>
      <p:ext uri="{BB962C8B-B14F-4D97-AF65-F5344CB8AC3E}">
        <p14:creationId xmlns:p14="http://schemas.microsoft.com/office/powerpoint/2010/main" val="207018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1" name="Picture 10" descr="London Metropolitan University logo - white with no background.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4000" y="1208250"/>
            <a:ext cx="2160270" cy="555498"/>
          </a:xfrm>
          <a:prstGeom prst="rect">
            <a:avLst/>
          </a:prstGeom>
        </p:spPr>
      </p:pic>
      <p:sp>
        <p:nvSpPr>
          <p:cNvPr id="2" name="Title 1"/>
          <p:cNvSpPr>
            <a:spLocks noGrp="1"/>
          </p:cNvSpPr>
          <p:nvPr>
            <p:ph type="title"/>
          </p:nvPr>
        </p:nvSpPr>
        <p:spPr>
          <a:xfrm>
            <a:off x="628650" y="365127"/>
            <a:ext cx="7886700" cy="891974"/>
          </a:xfrm>
        </p:spPr>
        <p:txBody>
          <a:bodyPr>
            <a:normAutofit/>
          </a:bodyPr>
          <a:lstStyle/>
          <a:p>
            <a:r>
              <a:rPr lang="en-GB" sz="3600" b="1" i="1" dirty="0">
                <a:latin typeface="Arial" panose="020B0604020202020204" pitchFamily="34" charset="0"/>
                <a:cs typeface="Arial" panose="020B0604020202020204" pitchFamily="34" charset="0"/>
              </a:rPr>
              <a:t>Levels of Prevention </a:t>
            </a:r>
          </a:p>
        </p:txBody>
      </p:sp>
      <p:sp>
        <p:nvSpPr>
          <p:cNvPr id="6" name="Rectangle 3"/>
          <p:cNvSpPr>
            <a:spLocks noGrp="1" noChangeArrowheads="1"/>
          </p:cNvSpPr>
          <p:nvPr>
            <p:ph idx="1"/>
          </p:nvPr>
        </p:nvSpPr>
        <p:spPr>
          <a:xfrm>
            <a:off x="628650" y="1412776"/>
            <a:ext cx="7886700" cy="4764187"/>
          </a:xfrm>
        </p:spPr>
        <p:txBody>
          <a:bodyPr/>
          <a:lstStyle/>
          <a:p>
            <a:pPr lvl="1">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term ‘prevention’ is reserved for interventions that occur before the diagnosis of a condition/ disease is made</a:t>
            </a:r>
          </a:p>
          <a:p>
            <a:pPr lvl="1">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Levels of prevention – conventional classification</a:t>
            </a:r>
          </a:p>
          <a:p>
            <a:endParaRPr lang="en-GB" altLang="en-US" sz="2400" dirty="0"/>
          </a:p>
          <a:p>
            <a:endParaRPr lang="en-GB" altLang="en-US" dirty="0"/>
          </a:p>
          <a:p>
            <a:pPr marL="0" indent="0">
              <a:buNone/>
            </a:pPr>
            <a:endParaRPr lang="en-US" altLang="en-US" dirty="0"/>
          </a:p>
        </p:txBody>
      </p:sp>
      <p:pic>
        <p:nvPicPr>
          <p:cNvPr id="3" name="Picture 2"/>
          <p:cNvPicPr>
            <a:picLocks noChangeAspect="1"/>
          </p:cNvPicPr>
          <p:nvPr/>
        </p:nvPicPr>
        <p:blipFill>
          <a:blip r:embed="rId4"/>
          <a:stretch>
            <a:fillRect/>
          </a:stretch>
        </p:blipFill>
        <p:spPr>
          <a:xfrm>
            <a:off x="596980" y="3269636"/>
            <a:ext cx="7975798" cy="2907327"/>
          </a:xfrm>
          <a:prstGeom prst="rect">
            <a:avLst/>
          </a:prstGeom>
          <a:solidFill>
            <a:srgbClr val="FFFF00"/>
          </a:solidFill>
        </p:spPr>
      </p:pic>
    </p:spTree>
    <p:extLst>
      <p:ext uri="{BB962C8B-B14F-4D97-AF65-F5344CB8AC3E}">
        <p14:creationId xmlns:p14="http://schemas.microsoft.com/office/powerpoint/2010/main" val="1275977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437C80F-7CA7-C273-B580-263C9C43FB87}"/>
              </a:ext>
            </a:extLst>
          </p:cNvPr>
          <p:cNvSpPr txBox="1"/>
          <p:nvPr/>
        </p:nvSpPr>
        <p:spPr>
          <a:xfrm>
            <a:off x="756138" y="174032"/>
            <a:ext cx="7631723" cy="1111843"/>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500" b="1" i="1" kern="1200" dirty="0">
                <a:solidFill>
                  <a:schemeClr val="tx1"/>
                </a:solidFill>
                <a:effectLst/>
                <a:latin typeface="Arial" panose="020B0604020202020204" pitchFamily="34" charset="0"/>
                <a:ea typeface="+mj-ea"/>
                <a:cs typeface="Arial" panose="020B0604020202020204" pitchFamily="34" charset="0"/>
              </a:rPr>
              <a:t>Levels of Prevention in Public Health Nutrition</a:t>
            </a:r>
          </a:p>
        </p:txBody>
      </p:sp>
      <p:sp>
        <p:nvSpPr>
          <p:cNvPr id="5" name="Rectangle 1">
            <a:extLst>
              <a:ext uri="{FF2B5EF4-FFF2-40B4-BE49-F238E27FC236}">
                <a16:creationId xmlns:a16="http://schemas.microsoft.com/office/drawing/2014/main" id="{46C8E4CB-3DE9-7036-A4D7-8B7980FAD898}"/>
              </a:ext>
            </a:extLst>
          </p:cNvPr>
          <p:cNvSpPr>
            <a:spLocks noChangeArrowheads="1"/>
          </p:cNvSpPr>
          <p:nvPr/>
        </p:nvSpPr>
        <p:spPr bwMode="auto">
          <a:xfrm>
            <a:off x="756138" y="1459907"/>
            <a:ext cx="7631722" cy="76790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algn="ctr"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a:ln>
                  <a:noFill/>
                </a:ln>
                <a:effectLst/>
              </a:rPr>
              <a:t>Key distinction:</a:t>
            </a:r>
            <a:br>
              <a:rPr kumimoji="0" lang="en-US" altLang="en-US" sz="1600" b="0" i="0" u="none" strike="noStrike" cap="none" normalizeH="0" baseline="0">
                <a:ln>
                  <a:noFill/>
                </a:ln>
                <a:effectLst/>
              </a:rPr>
            </a:br>
            <a:r>
              <a:rPr kumimoji="0" lang="en-US" altLang="en-US" sz="1600" b="0" i="0" u="none" strike="noStrike" cap="none" normalizeH="0" baseline="0">
                <a:ln>
                  <a:noFill/>
                </a:ln>
                <a:effectLst/>
              </a:rPr>
              <a:t>Public Health Nutrition primarily operates at </a:t>
            </a:r>
            <a:r>
              <a:rPr kumimoji="0" lang="en-US" altLang="en-US" sz="1600" b="1" i="0" u="none" strike="noStrike" cap="none" normalizeH="0" baseline="0">
                <a:ln>
                  <a:noFill/>
                </a:ln>
                <a:effectLst/>
              </a:rPr>
              <a:t>primary and secondary prevention</a:t>
            </a:r>
            <a:r>
              <a:rPr kumimoji="0" lang="en-US" altLang="en-US" sz="1600" b="0" i="0" u="none" strike="noStrike" cap="none" normalizeH="0" baseline="0">
                <a:ln>
                  <a:noFill/>
                </a:ln>
                <a:effectLst/>
              </a:rPr>
              <a:t>, while </a:t>
            </a:r>
            <a:r>
              <a:rPr kumimoji="0" lang="en-US" altLang="en-US" sz="1600" b="1" i="0" u="none" strike="noStrike" cap="none" normalizeH="0" baseline="0">
                <a:ln>
                  <a:noFill/>
                </a:ln>
                <a:effectLst/>
              </a:rPr>
              <a:t>clinical dietetics</a:t>
            </a:r>
            <a:r>
              <a:rPr kumimoji="0" lang="en-US" altLang="en-US" sz="1600" b="0" i="0" u="none" strike="noStrike" cap="none" normalizeH="0" baseline="0">
                <a:ln>
                  <a:noFill/>
                </a:ln>
                <a:effectLst/>
              </a:rPr>
              <a:t> is predominantly tertiary.</a:t>
            </a:r>
          </a:p>
        </p:txBody>
      </p:sp>
      <p:graphicFrame>
        <p:nvGraphicFramePr>
          <p:cNvPr id="4" name="Table 3">
            <a:extLst>
              <a:ext uri="{FF2B5EF4-FFF2-40B4-BE49-F238E27FC236}">
                <a16:creationId xmlns:a16="http://schemas.microsoft.com/office/drawing/2014/main" id="{EE775116-4844-06E2-E8FC-7A530CBAC5ED}"/>
              </a:ext>
            </a:extLst>
          </p:cNvPr>
          <p:cNvGraphicFramePr>
            <a:graphicFrameLocks noGrp="1"/>
          </p:cNvGraphicFramePr>
          <p:nvPr>
            <p:extLst>
              <p:ext uri="{D42A27DB-BD31-4B8C-83A1-F6EECF244321}">
                <p14:modId xmlns:p14="http://schemas.microsoft.com/office/powerpoint/2010/main" val="1582934858"/>
              </p:ext>
            </p:extLst>
          </p:nvPr>
        </p:nvGraphicFramePr>
        <p:xfrm>
          <a:off x="1062408" y="2405149"/>
          <a:ext cx="7014612" cy="3899394"/>
        </p:xfrm>
        <a:graphic>
          <a:graphicData uri="http://schemas.openxmlformats.org/drawingml/2006/table">
            <a:tbl>
              <a:tblPr firstRow="1" firstCol="1" bandRow="1"/>
              <a:tblGrid>
                <a:gridCol w="1322733">
                  <a:extLst>
                    <a:ext uri="{9D8B030D-6E8A-4147-A177-3AD203B41FA5}">
                      <a16:colId xmlns:a16="http://schemas.microsoft.com/office/drawing/2014/main" val="2584944986"/>
                    </a:ext>
                  </a:extLst>
                </a:gridCol>
                <a:gridCol w="2655578">
                  <a:extLst>
                    <a:ext uri="{9D8B030D-6E8A-4147-A177-3AD203B41FA5}">
                      <a16:colId xmlns:a16="http://schemas.microsoft.com/office/drawing/2014/main" val="889254601"/>
                    </a:ext>
                  </a:extLst>
                </a:gridCol>
                <a:gridCol w="3036301">
                  <a:extLst>
                    <a:ext uri="{9D8B030D-6E8A-4147-A177-3AD203B41FA5}">
                      <a16:colId xmlns:a16="http://schemas.microsoft.com/office/drawing/2014/main" val="4275608242"/>
                    </a:ext>
                  </a:extLst>
                </a:gridCol>
              </a:tblGrid>
              <a:tr h="385833">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Level</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Focus</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Nutrition Examples</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369405892"/>
                  </a:ext>
                </a:extLst>
              </a:tr>
              <a:tr h="1269356">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Primary</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Prevent disease before it occurs</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Food reformulation (salt/sugar), fiscal policies, mandatory fortification, school food standards</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708562030"/>
                  </a:ext>
                </a:extLst>
              </a:tr>
              <a:tr h="1269356">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Secondary</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Early detection &amp; risk identification</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NHS Health Checks, gestational diabetes screening, childhood obesity surveillance</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875769279"/>
                  </a:ext>
                </a:extLst>
              </a:tr>
              <a:tr h="974849">
                <a:tc>
                  <a:txBody>
                    <a:bodyPr/>
                    <a:lstStyle/>
                    <a:p>
                      <a:pPr algn="l" fontAlgn="ctr">
                        <a:lnSpc>
                          <a:spcPct val="107000"/>
                        </a:lnSpc>
                        <a:spcAft>
                          <a:spcPts val="800"/>
                        </a:spcAft>
                        <a:buNone/>
                      </a:pPr>
                      <a:r>
                        <a:rPr lang="en-GB" sz="18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Tertiary</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Reduce complications of established disease</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800" b="0" i="0" u="none" strike="noStrike" kern="100">
                          <a:effectLst/>
                          <a:latin typeface="Aptos" panose="020B0004020202020204" pitchFamily="34" charset="0"/>
                          <a:ea typeface="Aptos" panose="020B0004020202020204" pitchFamily="34" charset="0"/>
                          <a:cs typeface="Times New Roman" panose="02020603050405020304" pitchFamily="18" charset="0"/>
                        </a:rPr>
                        <a:t>Dietetic management of diabetes, CVD rehabilitation programmes</a:t>
                      </a:r>
                      <a:endParaRPr lang="en-GB" sz="3000" b="0" i="0" u="none" strike="noStrike">
                        <a:effectLst/>
                        <a:latin typeface="Arial" panose="020B0604020202020204" pitchFamily="34" charset="0"/>
                      </a:endParaRPr>
                    </a:p>
                  </a:txBody>
                  <a:tcPr marL="15638" marR="15638" marT="15638" marB="15638"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071626570"/>
                  </a:ext>
                </a:extLst>
              </a:tr>
            </a:tbl>
          </a:graphicData>
        </a:graphic>
      </p:graphicFrame>
    </p:spTree>
    <p:extLst>
      <p:ext uri="{BB962C8B-B14F-4D97-AF65-F5344CB8AC3E}">
        <p14:creationId xmlns:p14="http://schemas.microsoft.com/office/powerpoint/2010/main" val="1612086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1" name="Picture 10" descr="London Metropolitan University logo - white with no background.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4000" y="1208250"/>
            <a:ext cx="2160270" cy="555498"/>
          </a:xfrm>
          <a:prstGeom prst="rect">
            <a:avLst/>
          </a:prstGeom>
        </p:spPr>
      </p:pic>
      <p:sp>
        <p:nvSpPr>
          <p:cNvPr id="2" name="Title 1"/>
          <p:cNvSpPr>
            <a:spLocks noGrp="1"/>
          </p:cNvSpPr>
          <p:nvPr>
            <p:ph type="title"/>
          </p:nvPr>
        </p:nvSpPr>
        <p:spPr>
          <a:xfrm>
            <a:off x="314325" y="123907"/>
            <a:ext cx="8515350" cy="1000838"/>
          </a:xfrm>
        </p:spPr>
        <p:txBody>
          <a:bodyPr>
            <a:normAutofit/>
          </a:bodyPr>
          <a:lstStyle/>
          <a:p>
            <a:r>
              <a:rPr lang="en-GB" sz="3600" b="1" i="1" dirty="0">
                <a:latin typeface="Arial" panose="020B0604020202020204" pitchFamily="34" charset="0"/>
                <a:cs typeface="Arial" panose="020B0604020202020204" pitchFamily="34" charset="0"/>
              </a:rPr>
              <a:t>Different Modes of Nutrition Practice</a:t>
            </a:r>
          </a:p>
        </p:txBody>
      </p:sp>
      <p:sp>
        <p:nvSpPr>
          <p:cNvPr id="6" name="Rectangle 3"/>
          <p:cNvSpPr>
            <a:spLocks noGrp="1" noChangeArrowheads="1"/>
          </p:cNvSpPr>
          <p:nvPr>
            <p:ph idx="1"/>
          </p:nvPr>
        </p:nvSpPr>
        <p:spPr>
          <a:xfrm>
            <a:off x="395536" y="1124745"/>
            <a:ext cx="7886700" cy="4618631"/>
          </a:xfrm>
        </p:spPr>
        <p:txBody>
          <a:bodyPr>
            <a:noAutofit/>
          </a:bodyPr>
          <a:lstStyle/>
          <a:p>
            <a:pPr lvl="1">
              <a:buClr>
                <a:srgbClr val="C00000"/>
              </a:buClr>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Clinical dietetics </a:t>
            </a:r>
            <a:r>
              <a:rPr lang="en-GB" altLang="en-US" sz="2400" dirty="0">
                <a:latin typeface="Arial" panose="020B0604020202020204" pitchFamily="34" charset="0"/>
                <a:cs typeface="Arial" panose="020B0604020202020204" pitchFamily="34" charset="0"/>
              </a:rPr>
              <a:t>utilises scientific principles and methods in the treatment of illness, by optimising the nutritional status of individuals in an </a:t>
            </a:r>
            <a:r>
              <a:rPr lang="en-GB" altLang="en-US" sz="2400" b="1" dirty="0">
                <a:latin typeface="Arial" panose="020B0604020202020204" pitchFamily="34" charset="0"/>
                <a:cs typeface="Arial" panose="020B0604020202020204" pitchFamily="34" charset="0"/>
              </a:rPr>
              <a:t>institutional environment</a:t>
            </a:r>
          </a:p>
          <a:p>
            <a:pPr lvl="1">
              <a:buClr>
                <a:srgbClr val="C00000"/>
              </a:buClr>
              <a:buFont typeface="Arial" panose="020B0604020202020204" pitchFamily="34" charset="0"/>
              <a:buChar char="•"/>
            </a:pPr>
            <a:endParaRPr lang="en-GB" altLang="en-US" sz="2400" b="1" dirty="0">
              <a:latin typeface="Arial" panose="020B0604020202020204" pitchFamily="34" charset="0"/>
              <a:cs typeface="Arial" panose="020B0604020202020204" pitchFamily="34" charset="0"/>
            </a:endParaRPr>
          </a:p>
          <a:p>
            <a:pPr lvl="1">
              <a:buClr>
                <a:srgbClr val="C00000"/>
              </a:buClr>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Community dietetics </a:t>
            </a:r>
            <a:r>
              <a:rPr lang="en-GB" altLang="en-US" sz="2400" dirty="0">
                <a:latin typeface="Arial" panose="020B0604020202020204" pitchFamily="34" charset="0"/>
                <a:cs typeface="Arial" panose="020B0604020202020204" pitchFamily="34" charset="0"/>
              </a:rPr>
              <a:t>utilises scientific principles and methods in the treatment of illness, by optimising the nutritional status of individuals in a </a:t>
            </a:r>
            <a:r>
              <a:rPr lang="en-GB" altLang="en-US" sz="2400" b="1" dirty="0">
                <a:latin typeface="Arial" panose="020B0604020202020204" pitchFamily="34" charset="0"/>
                <a:cs typeface="Arial" panose="020B0604020202020204" pitchFamily="34" charset="0"/>
              </a:rPr>
              <a:t>community setting</a:t>
            </a:r>
          </a:p>
          <a:p>
            <a:pPr lvl="1">
              <a:buClr>
                <a:srgbClr val="C00000"/>
              </a:buClr>
              <a:buFont typeface="Arial" panose="020B0604020202020204" pitchFamily="34" charset="0"/>
              <a:buChar char="•"/>
            </a:pPr>
            <a:endParaRPr lang="en-GB" altLang="en-US" sz="2400" b="1" dirty="0">
              <a:latin typeface="Arial" panose="020B0604020202020204" pitchFamily="34" charset="0"/>
              <a:cs typeface="Arial" panose="020B0604020202020204" pitchFamily="34" charset="0"/>
            </a:endParaRPr>
          </a:p>
          <a:p>
            <a:pPr lvl="1">
              <a:buClr>
                <a:srgbClr val="C00000"/>
              </a:buClr>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Community and Public Health Nutrition </a:t>
            </a:r>
            <a:r>
              <a:rPr lang="en-GB" altLang="en-US" sz="2400" dirty="0">
                <a:latin typeface="Arial" panose="020B0604020202020204" pitchFamily="34" charset="0"/>
                <a:cs typeface="Arial" panose="020B0604020202020204" pitchFamily="34" charset="0"/>
              </a:rPr>
              <a:t>utilises scientific principles and practice in the promotion and prevention of nutrition related illness, by optimising the nutritional status of </a:t>
            </a:r>
            <a:r>
              <a:rPr lang="en-GB" altLang="en-US" sz="2400" b="1" dirty="0">
                <a:latin typeface="Arial" panose="020B0604020202020204" pitchFamily="34" charset="0"/>
                <a:cs typeface="Arial" panose="020B0604020202020204" pitchFamily="34" charset="0"/>
              </a:rPr>
              <a:t>communities</a:t>
            </a:r>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sub-populations</a:t>
            </a:r>
            <a:r>
              <a:rPr lang="en-GB" altLang="en-US" sz="2400" dirty="0">
                <a:latin typeface="Arial" panose="020B0604020202020204" pitchFamily="34" charset="0"/>
                <a:cs typeface="Arial" panose="020B0604020202020204" pitchFamily="34" charset="0"/>
              </a:rPr>
              <a:t> &amp; </a:t>
            </a:r>
            <a:r>
              <a:rPr lang="en-GB" altLang="en-US" sz="2400" b="1" dirty="0">
                <a:latin typeface="Arial" panose="020B0604020202020204" pitchFamily="34" charset="0"/>
                <a:cs typeface="Arial" panose="020B0604020202020204" pitchFamily="34" charset="0"/>
              </a:rPr>
              <a:t>whole populations</a:t>
            </a:r>
          </a:p>
          <a:p>
            <a:endParaRPr lang="en-US" altLang="en-US" dirty="0"/>
          </a:p>
        </p:txBody>
      </p:sp>
    </p:spTree>
    <p:extLst>
      <p:ext uri="{BB962C8B-B14F-4D97-AF65-F5344CB8AC3E}">
        <p14:creationId xmlns:p14="http://schemas.microsoft.com/office/powerpoint/2010/main" val="21511298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A505-7AEC-6346-D38C-DF23978CDCCC}"/>
              </a:ext>
            </a:extLst>
          </p:cNvPr>
          <p:cNvSpPr>
            <a:spLocks noGrp="1"/>
          </p:cNvSpPr>
          <p:nvPr>
            <p:ph type="title"/>
          </p:nvPr>
        </p:nvSpPr>
        <p:spPr/>
        <p:txBody>
          <a:bodyPr/>
          <a:lstStyle/>
          <a:p>
            <a:r>
              <a:rPr lang="en-GB" b="1" i="1" dirty="0">
                <a:latin typeface="Arial" panose="020B0604020202020204" pitchFamily="34" charset="0"/>
                <a:cs typeface="Arial" panose="020B0604020202020204" pitchFamily="34" charset="0"/>
              </a:rPr>
              <a:t>Modes of Nutrition &amp; Dietetic Practice</a:t>
            </a:r>
          </a:p>
        </p:txBody>
      </p:sp>
      <p:sp>
        <p:nvSpPr>
          <p:cNvPr id="3" name="Content Placeholder 2">
            <a:extLst>
              <a:ext uri="{FF2B5EF4-FFF2-40B4-BE49-F238E27FC236}">
                <a16:creationId xmlns:a16="http://schemas.microsoft.com/office/drawing/2014/main" id="{A14E0F98-D505-76BD-0F19-243E5708010D}"/>
              </a:ext>
            </a:extLst>
          </p:cNvPr>
          <p:cNvSpPr>
            <a:spLocks noGrp="1"/>
          </p:cNvSpPr>
          <p:nvPr>
            <p:ph sz="half" idx="1"/>
          </p:nvPr>
        </p:nvSpPr>
        <p:spPr/>
        <p:txBody>
          <a:bodyPr>
            <a:normAutofit fontScale="92500" lnSpcReduction="10000"/>
          </a:bodyPr>
          <a:lstStyle/>
          <a:p>
            <a:r>
              <a:rPr lang="en-GB" b="1" dirty="0"/>
              <a:t>Clinical Dietetics</a:t>
            </a:r>
            <a:endParaRPr lang="en-GB" dirty="0"/>
          </a:p>
          <a:p>
            <a:pPr lvl="0"/>
            <a:r>
              <a:rPr lang="en-GB" dirty="0"/>
              <a:t>Individual‑level therapeutic nutrition care</a:t>
            </a:r>
          </a:p>
          <a:p>
            <a:pPr lvl="0"/>
            <a:r>
              <a:rPr lang="en-GB" dirty="0"/>
              <a:t>Predominantly </a:t>
            </a:r>
            <a:r>
              <a:rPr lang="en-GB" b="1" dirty="0"/>
              <a:t>tertiary prevention</a:t>
            </a:r>
            <a:endParaRPr lang="en-GB" dirty="0"/>
          </a:p>
          <a:p>
            <a:pPr lvl="0"/>
            <a:r>
              <a:rPr lang="en-GB" dirty="0"/>
              <a:t>Biomedical and clinical outcomes</a:t>
            </a:r>
          </a:p>
          <a:p>
            <a:pPr lvl="0"/>
            <a:r>
              <a:rPr lang="en-GB" dirty="0"/>
              <a:t>Typically delivered in </a:t>
            </a:r>
            <a:r>
              <a:rPr lang="en-GB" b="1" dirty="0"/>
              <a:t>healthcare settings</a:t>
            </a:r>
            <a:endParaRPr lang="en-GB" dirty="0"/>
          </a:p>
          <a:p>
            <a:r>
              <a:rPr lang="en-GB" b="1" dirty="0"/>
              <a:t>Community Dietetics</a:t>
            </a:r>
            <a:endParaRPr lang="en-GB" dirty="0"/>
          </a:p>
          <a:p>
            <a:pPr lvl="0"/>
            <a:r>
              <a:rPr lang="en-GB" dirty="0"/>
              <a:t>Individuals and small groups in community settings</a:t>
            </a:r>
          </a:p>
          <a:p>
            <a:pPr lvl="0"/>
            <a:r>
              <a:rPr lang="en-GB" dirty="0"/>
              <a:t>Mix of </a:t>
            </a:r>
            <a:r>
              <a:rPr lang="en-GB" b="1" dirty="0"/>
              <a:t>secondary and tertiary prevention</a:t>
            </a:r>
            <a:endParaRPr lang="en-GB" dirty="0"/>
          </a:p>
          <a:p>
            <a:pPr lvl="0"/>
            <a:r>
              <a:rPr lang="en-GB" dirty="0"/>
              <a:t>Focus on access, behaviour change and service delivery</a:t>
            </a:r>
          </a:p>
          <a:p>
            <a:endParaRPr lang="en-GB" dirty="0"/>
          </a:p>
        </p:txBody>
      </p:sp>
      <p:sp>
        <p:nvSpPr>
          <p:cNvPr id="4" name="Content Placeholder 3">
            <a:extLst>
              <a:ext uri="{FF2B5EF4-FFF2-40B4-BE49-F238E27FC236}">
                <a16:creationId xmlns:a16="http://schemas.microsoft.com/office/drawing/2014/main" id="{2E939627-B049-49EA-B5AA-F233CAE15D1B}"/>
              </a:ext>
            </a:extLst>
          </p:cNvPr>
          <p:cNvSpPr>
            <a:spLocks noGrp="1"/>
          </p:cNvSpPr>
          <p:nvPr>
            <p:ph sz="half" idx="2"/>
          </p:nvPr>
        </p:nvSpPr>
        <p:spPr/>
        <p:txBody>
          <a:bodyPr>
            <a:normAutofit fontScale="92500" lnSpcReduction="10000"/>
          </a:bodyPr>
          <a:lstStyle/>
          <a:p>
            <a:r>
              <a:rPr lang="en-GB" b="1" dirty="0"/>
              <a:t>Community &amp; Public Health Nutrition</a:t>
            </a:r>
            <a:endParaRPr lang="en-GB" dirty="0"/>
          </a:p>
          <a:p>
            <a:pPr lvl="0"/>
            <a:r>
              <a:rPr lang="en-GB" b="1" dirty="0"/>
              <a:t>Whole populations and sub‑populations</a:t>
            </a:r>
            <a:endParaRPr lang="en-GB" dirty="0"/>
          </a:p>
          <a:p>
            <a:pPr lvl="0"/>
            <a:r>
              <a:rPr lang="en-GB" dirty="0"/>
              <a:t>Primarily </a:t>
            </a:r>
            <a:r>
              <a:rPr lang="en-GB" b="1" dirty="0"/>
              <a:t>primary prevention</a:t>
            </a:r>
            <a:endParaRPr lang="en-GB" dirty="0"/>
          </a:p>
          <a:p>
            <a:pPr lvl="0"/>
            <a:r>
              <a:rPr lang="en-GB" dirty="0"/>
              <a:t>Focus on </a:t>
            </a:r>
            <a:r>
              <a:rPr lang="en-GB" b="1" dirty="0"/>
              <a:t>policy, environments, systems and inequalities</a:t>
            </a:r>
            <a:endParaRPr lang="en-GB" dirty="0"/>
          </a:p>
          <a:p>
            <a:pPr lvl="0"/>
            <a:r>
              <a:rPr lang="en-GB" dirty="0"/>
              <a:t>Delivered through </a:t>
            </a:r>
            <a:r>
              <a:rPr lang="en-GB" b="1" dirty="0"/>
              <a:t>multi‑sectoral partnerships</a:t>
            </a:r>
            <a:endParaRPr lang="en-GB" dirty="0"/>
          </a:p>
          <a:p>
            <a:endParaRPr lang="en-GB" dirty="0"/>
          </a:p>
        </p:txBody>
      </p:sp>
    </p:spTree>
    <p:extLst>
      <p:ext uri="{BB962C8B-B14F-4D97-AF65-F5344CB8AC3E}">
        <p14:creationId xmlns:p14="http://schemas.microsoft.com/office/powerpoint/2010/main" val="3102672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08CEC9-465B-5D90-3CB1-8B7068E66163}"/>
              </a:ext>
            </a:extLst>
          </p:cNvPr>
          <p:cNvGraphicFramePr>
            <a:graphicFrameLocks noGrp="1"/>
          </p:cNvGraphicFramePr>
          <p:nvPr>
            <p:extLst>
              <p:ext uri="{D42A27DB-BD31-4B8C-83A1-F6EECF244321}">
                <p14:modId xmlns:p14="http://schemas.microsoft.com/office/powerpoint/2010/main" val="1498345588"/>
              </p:ext>
            </p:extLst>
          </p:nvPr>
        </p:nvGraphicFramePr>
        <p:xfrm>
          <a:off x="482600" y="1589673"/>
          <a:ext cx="8178800" cy="3934403"/>
        </p:xfrm>
        <a:graphic>
          <a:graphicData uri="http://schemas.openxmlformats.org/drawingml/2006/table">
            <a:tbl>
              <a:tblPr firstRow="1" firstCol="1" bandRow="1"/>
              <a:tblGrid>
                <a:gridCol w="2106596">
                  <a:extLst>
                    <a:ext uri="{9D8B030D-6E8A-4147-A177-3AD203B41FA5}">
                      <a16:colId xmlns:a16="http://schemas.microsoft.com/office/drawing/2014/main" val="2122171923"/>
                    </a:ext>
                  </a:extLst>
                </a:gridCol>
                <a:gridCol w="2057057">
                  <a:extLst>
                    <a:ext uri="{9D8B030D-6E8A-4147-A177-3AD203B41FA5}">
                      <a16:colId xmlns:a16="http://schemas.microsoft.com/office/drawing/2014/main" val="1961794950"/>
                    </a:ext>
                  </a:extLst>
                </a:gridCol>
                <a:gridCol w="2037051">
                  <a:extLst>
                    <a:ext uri="{9D8B030D-6E8A-4147-A177-3AD203B41FA5}">
                      <a16:colId xmlns:a16="http://schemas.microsoft.com/office/drawing/2014/main" val="2390898889"/>
                    </a:ext>
                  </a:extLst>
                </a:gridCol>
                <a:gridCol w="1978096">
                  <a:extLst>
                    <a:ext uri="{9D8B030D-6E8A-4147-A177-3AD203B41FA5}">
                      <a16:colId xmlns:a16="http://schemas.microsoft.com/office/drawing/2014/main" val="642166065"/>
                    </a:ext>
                  </a:extLst>
                </a:gridCol>
              </a:tblGrid>
              <a:tr h="698240">
                <a:tc>
                  <a:txBody>
                    <a:bodyPr/>
                    <a:lstStyle/>
                    <a:p>
                      <a:pPr algn="l" fontAlgn="ctr">
                        <a:lnSpc>
                          <a:spcPct val="107000"/>
                        </a:lnSpc>
                        <a:spcAft>
                          <a:spcPts val="800"/>
                        </a:spcAft>
                        <a:buNone/>
                      </a:pPr>
                      <a:r>
                        <a:rPr lang="en-GB" sz="19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Dimension</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9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Clinical Dietetics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9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Community Dietetics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tc>
                  <a:txBody>
                    <a:bodyPr/>
                    <a:lstStyle/>
                    <a:p>
                      <a:pPr algn="l" fontAlgn="ctr">
                        <a:lnSpc>
                          <a:spcPct val="107000"/>
                        </a:lnSpc>
                        <a:spcAft>
                          <a:spcPts val="800"/>
                        </a:spcAft>
                        <a:buNone/>
                      </a:pPr>
                      <a:r>
                        <a:rPr lang="en-GB" sz="1900" b="1" i="0" u="none" strike="noStrike"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Public Health Nutrition</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750354161"/>
                  </a:ext>
                </a:extLst>
              </a:tr>
              <a:tr h="395984">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Unit of action</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Individual</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Individual / group</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Population</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4081217702"/>
                  </a:ext>
                </a:extLst>
              </a:tr>
              <a:tr h="698240">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Primary prevention role</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Limited</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Moderate</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Central</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71245314"/>
                  </a:ext>
                </a:extLst>
              </a:tr>
              <a:tr h="395984">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Dominant paradigm</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Illness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Risk management</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Health &amp; equity</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86071786"/>
                  </a:ext>
                </a:extLst>
              </a:tr>
              <a:tr h="698240">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Key drivers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Referral &amp; diagnosis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Community need</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Policy, evidence, population need</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399089389"/>
                  </a:ext>
                </a:extLst>
              </a:tr>
              <a:tr h="395984">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Outcome timeframe</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Short–medium</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Medium</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Medium–long</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460494211"/>
                  </a:ext>
                </a:extLst>
              </a:tr>
              <a:tr h="395984">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Workforce</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Dietitians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a:effectLst/>
                          <a:latin typeface="Aptos" panose="020B0004020202020204" pitchFamily="34" charset="0"/>
                          <a:ea typeface="Aptos" panose="020B0004020202020204" pitchFamily="34" charset="0"/>
                          <a:cs typeface="Times New Roman" panose="02020603050405020304" pitchFamily="18" charset="0"/>
                        </a:rPr>
                        <a:t>Dietitians</a:t>
                      </a:r>
                      <a:endParaRPr lang="en-GB" sz="3000" b="0" i="0" u="none" strike="noStrike">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l" fontAlgn="ctr">
                        <a:lnSpc>
                          <a:spcPct val="107000"/>
                        </a:lnSpc>
                        <a:spcAft>
                          <a:spcPts val="800"/>
                        </a:spcAft>
                        <a:buNone/>
                      </a:pPr>
                      <a:r>
                        <a:rPr lang="en-GB" sz="19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Multi‑disciplinary</a:t>
                      </a:r>
                      <a:endParaRPr lang="en-GB" sz="3000" b="0" i="0" u="none" strike="noStrike" dirty="0">
                        <a:effectLst/>
                        <a:latin typeface="Arial" panose="020B0604020202020204" pitchFamily="34" charset="0"/>
                      </a:endParaRPr>
                    </a:p>
                  </a:txBody>
                  <a:tcPr marL="16049" marR="16049" marT="16049" marB="16049"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02266981"/>
                  </a:ext>
                </a:extLst>
              </a:tr>
            </a:tbl>
          </a:graphicData>
        </a:graphic>
      </p:graphicFrame>
      <p:sp>
        <p:nvSpPr>
          <p:cNvPr id="4" name="TextBox 3">
            <a:extLst>
              <a:ext uri="{FF2B5EF4-FFF2-40B4-BE49-F238E27FC236}">
                <a16:creationId xmlns:a16="http://schemas.microsoft.com/office/drawing/2014/main" id="{BED9636E-C5FD-93AC-2EBF-B96E9B07ECA7}"/>
              </a:ext>
            </a:extLst>
          </p:cNvPr>
          <p:cNvSpPr txBox="1"/>
          <p:nvPr/>
        </p:nvSpPr>
        <p:spPr>
          <a:xfrm>
            <a:off x="827584" y="188640"/>
            <a:ext cx="7416824" cy="1139607"/>
          </a:xfrm>
          <a:prstGeom prst="rect">
            <a:avLst/>
          </a:prstGeom>
          <a:noFill/>
        </p:spPr>
        <p:txBody>
          <a:bodyPr wrap="square">
            <a:spAutoFit/>
          </a:bodyPr>
          <a:lstStyle/>
          <a:p>
            <a:pPr>
              <a:lnSpc>
                <a:spcPct val="107000"/>
              </a:lnSpc>
              <a:spcAft>
                <a:spcPts val="800"/>
              </a:spcAft>
              <a:buNone/>
            </a:pPr>
            <a:r>
              <a:rPr lang="en-GB" sz="3300" b="1" i="1" kern="100" dirty="0">
                <a:effectLst/>
                <a:latin typeface="Arial" panose="020B0604020202020204" pitchFamily="34" charset="0"/>
                <a:ea typeface="Aptos" panose="020B0004020202020204" pitchFamily="34" charset="0"/>
                <a:cs typeface="Arial" panose="020B0604020202020204" pitchFamily="34" charset="0"/>
              </a:rPr>
              <a:t>Comparing Modes of Nutrition Practice</a:t>
            </a:r>
            <a:endParaRPr lang="en-GB" sz="3300" i="1"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99119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1" name="Picture 10" descr="London Metropolitan University logo - white with no background.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4000" y="1208250"/>
            <a:ext cx="2160270" cy="555498"/>
          </a:xfrm>
          <a:prstGeom prst="rect">
            <a:avLst/>
          </a:prstGeom>
        </p:spPr>
      </p:pic>
      <p:sp>
        <p:nvSpPr>
          <p:cNvPr id="2" name="Title 1"/>
          <p:cNvSpPr>
            <a:spLocks noGrp="1"/>
          </p:cNvSpPr>
          <p:nvPr>
            <p:ph type="title"/>
          </p:nvPr>
        </p:nvSpPr>
        <p:spPr>
          <a:xfrm>
            <a:off x="319509" y="137688"/>
            <a:ext cx="8551862" cy="1325563"/>
          </a:xfrm>
        </p:spPr>
        <p:txBody>
          <a:bodyPr>
            <a:normAutofit/>
          </a:bodyPr>
          <a:lstStyle/>
          <a:p>
            <a:r>
              <a:rPr lang="en-GB" sz="3600" b="1" i="1" dirty="0">
                <a:latin typeface="Arial" panose="020B0604020202020204" pitchFamily="34" charset="0"/>
                <a:cs typeface="Arial" panose="020B0604020202020204" pitchFamily="34" charset="0"/>
              </a:rPr>
              <a:t>Public Health Nutrition Practitioners </a:t>
            </a:r>
          </a:p>
        </p:txBody>
      </p:sp>
      <p:sp>
        <p:nvSpPr>
          <p:cNvPr id="6" name="Rectangle 3"/>
          <p:cNvSpPr>
            <a:spLocks noGrp="1" noChangeArrowheads="1"/>
          </p:cNvSpPr>
          <p:nvPr>
            <p:ph idx="1"/>
          </p:nvPr>
        </p:nvSpPr>
        <p:spPr/>
        <p:txBody>
          <a:bodyPr/>
          <a:lstStyle/>
          <a:p>
            <a:endParaRPr lang="en-GB" altLang="en-US" dirty="0"/>
          </a:p>
          <a:p>
            <a:endParaRPr lang="en-GB" altLang="en-US" dirty="0"/>
          </a:p>
          <a:p>
            <a:pPr marL="0" indent="0">
              <a:buNone/>
            </a:pPr>
            <a:endParaRPr lang="en-US" altLang="en-US" dirty="0"/>
          </a:p>
        </p:txBody>
      </p:sp>
      <p:sp>
        <p:nvSpPr>
          <p:cNvPr id="4" name="Rectangle 3"/>
          <p:cNvSpPr/>
          <p:nvPr/>
        </p:nvSpPr>
        <p:spPr>
          <a:xfrm>
            <a:off x="395536" y="1268760"/>
            <a:ext cx="8475835" cy="6155531"/>
          </a:xfrm>
          <a:prstGeom prst="rect">
            <a:avLst/>
          </a:prstGeom>
        </p:spPr>
        <p:txBody>
          <a:bodyPr wrap="square">
            <a:spAutoFit/>
          </a:bodyPr>
          <a:lstStyle/>
          <a:p>
            <a:r>
              <a:rPr lang="en-GB" sz="2800" dirty="0">
                <a:latin typeface="Arial" panose="020B0604020202020204" pitchFamily="34" charset="0"/>
                <a:cs typeface="Arial" panose="020B0604020202020204" pitchFamily="34" charset="0"/>
              </a:rPr>
              <a:t>Registered Dietitians &amp; Nutritionists are qualified to translate the science of nutrition into safe, impartial, practical &amp; up to date food-based guidance for groups, &amp; to develop policies that promote good health</a:t>
            </a:r>
          </a:p>
          <a:p>
            <a:endParaRPr lang="en-GB"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PH nutritionists: </a:t>
            </a:r>
            <a:r>
              <a:rPr lang="en-GB" sz="2400" dirty="0">
                <a:latin typeface="Arial" panose="020B0604020202020204" pitchFamily="34" charset="0"/>
                <a:cs typeface="Arial" panose="020B0604020202020204" pitchFamily="34" charset="0"/>
                <a:hlinkClick r:id="rId4"/>
              </a:rPr>
              <a:t>https://www.associationfornutrition.org/careers-nutrition/becoming-nutritionist/career-profiles</a:t>
            </a:r>
            <a:endParaRPr lang="en-GB"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PH dietitians: </a:t>
            </a:r>
            <a:r>
              <a:rPr lang="en-GB" sz="2400" dirty="0">
                <a:latin typeface="Arial" panose="020B0604020202020204" pitchFamily="34" charset="0"/>
                <a:cs typeface="Arial" panose="020B0604020202020204" pitchFamily="34" charset="0"/>
                <a:hlinkClick r:id="rId5"/>
              </a:rPr>
              <a:t>https://www.bda.uk.com/specialist-groups-and-branches/public-health-specialist-group/what-do-public-health-dietitians-do.html</a:t>
            </a:r>
            <a:endParaRPr lang="en-GB" sz="2400" dirty="0">
              <a:latin typeface="Arial" panose="020B0604020202020204" pitchFamily="34" charset="0"/>
              <a:cs typeface="Arial" panose="020B0604020202020204" pitchFamily="34" charset="0"/>
            </a:endParaRPr>
          </a:p>
          <a:p>
            <a:endParaRPr lang="en-GB" sz="2800" dirty="0">
              <a:latin typeface="Arial" panose="020B0604020202020204" pitchFamily="34" charset="0"/>
              <a:cs typeface="Arial" panose="020B0604020202020204" pitchFamily="34" charset="0"/>
            </a:endParaRPr>
          </a:p>
          <a:p>
            <a:endParaRPr lang="en-GB" sz="3000" dirty="0"/>
          </a:p>
        </p:txBody>
      </p:sp>
    </p:spTree>
    <p:extLst>
      <p:ext uri="{BB962C8B-B14F-4D97-AF65-F5344CB8AC3E}">
        <p14:creationId xmlns:p14="http://schemas.microsoft.com/office/powerpoint/2010/main" val="2646990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886700" cy="1325563"/>
          </a:xfrm>
        </p:spPr>
        <p:txBody>
          <a:bodyPr>
            <a:normAutofit/>
          </a:bodyPr>
          <a:lstStyle/>
          <a:p>
            <a:r>
              <a:rPr lang="en-GB" sz="3600" b="1" i="1" dirty="0">
                <a:latin typeface="Arial" panose="020B0604020202020204" pitchFamily="34" charset="0"/>
                <a:cs typeface="Arial" panose="020B0604020202020204" pitchFamily="34" charset="0"/>
              </a:rPr>
              <a:t>Areas of interest to PHN</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39552" y="1412776"/>
            <a:ext cx="7886700" cy="4351338"/>
          </a:xfrm>
        </p:spPr>
        <p:txBody>
          <a:bodyPr>
            <a:normAutofit/>
          </a:bodyPr>
          <a:lstStyle/>
          <a:p>
            <a:pPr>
              <a:buClr>
                <a:srgbClr val="C00000"/>
              </a:buClr>
            </a:pPr>
            <a:r>
              <a:rPr lang="en-US" sz="2400" dirty="0">
                <a:latin typeface="Arial" panose="020B0604020202020204" pitchFamily="34" charset="0"/>
                <a:cs typeface="Arial" panose="020B0604020202020204" pitchFamily="34" charset="0"/>
              </a:rPr>
              <a:t>Social, behavioral, nutrition-related factors that affect health</a:t>
            </a:r>
          </a:p>
          <a:p>
            <a:pPr>
              <a:buClr>
                <a:srgbClr val="C00000"/>
              </a:buClr>
            </a:pPr>
            <a:endParaRPr lang="en-US" sz="2400" dirty="0">
              <a:latin typeface="Arial" panose="020B0604020202020204" pitchFamily="34" charset="0"/>
              <a:cs typeface="Arial" panose="020B0604020202020204" pitchFamily="34" charset="0"/>
            </a:endParaRPr>
          </a:p>
          <a:p>
            <a:pPr>
              <a:buClr>
                <a:srgbClr val="C00000"/>
              </a:buClr>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Design</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implementation</a:t>
            </a:r>
            <a:r>
              <a:rPr lang="en-US" sz="2400" dirty="0">
                <a:latin typeface="Arial" panose="020B0604020202020204" pitchFamily="34" charset="0"/>
                <a:cs typeface="Arial" panose="020B0604020202020204" pitchFamily="34" charset="0"/>
              </a:rPr>
              <a:t> &amp; </a:t>
            </a:r>
            <a:r>
              <a:rPr lang="en-US" sz="2400" b="1" dirty="0">
                <a:latin typeface="Arial" panose="020B0604020202020204" pitchFamily="34" charset="0"/>
                <a:cs typeface="Arial" panose="020B0604020202020204" pitchFamily="34" charset="0"/>
              </a:rPr>
              <a:t>evaluation</a:t>
            </a:r>
            <a:r>
              <a:rPr lang="en-US" sz="2400" dirty="0">
                <a:latin typeface="Arial" panose="020B0604020202020204" pitchFamily="34" charset="0"/>
                <a:cs typeface="Arial" panose="020B0604020202020204" pitchFamily="34" charset="0"/>
              </a:rPr>
              <a:t> of programs to improve the nutritional status of the population or subgroups in the population</a:t>
            </a:r>
          </a:p>
          <a:p>
            <a:pPr>
              <a:buClr>
                <a:srgbClr val="C00000"/>
              </a:buClr>
            </a:pPr>
            <a:endParaRPr lang="en-US" sz="2400" dirty="0">
              <a:latin typeface="Arial" panose="020B0604020202020204" pitchFamily="34" charset="0"/>
              <a:cs typeface="Arial" panose="020B0604020202020204" pitchFamily="34" charset="0"/>
            </a:endParaRPr>
          </a:p>
          <a:p>
            <a:pPr>
              <a:buClr>
                <a:srgbClr val="C00000"/>
              </a:buClr>
            </a:pPr>
            <a:r>
              <a:rPr lang="en-US" sz="2400" dirty="0">
                <a:latin typeface="Arial" panose="020B0604020202020204" pitchFamily="34" charset="0"/>
                <a:cs typeface="Arial" panose="020B0604020202020204" pitchFamily="34" charset="0"/>
              </a:rPr>
              <a:t> Nutrition and food policies which affect health</a:t>
            </a:r>
          </a:p>
          <a:p>
            <a:pPr>
              <a:buClr>
                <a:srgbClr val="C00000"/>
              </a:buClr>
            </a:pPr>
            <a:endParaRPr lang="en-US" sz="2400" dirty="0">
              <a:latin typeface="Arial" panose="020B0604020202020204" pitchFamily="34" charset="0"/>
              <a:cs typeface="Arial" panose="020B0604020202020204" pitchFamily="34" charset="0"/>
            </a:endParaRPr>
          </a:p>
          <a:p>
            <a:pPr>
              <a:buClr>
                <a:srgbClr val="C00000"/>
              </a:buClr>
            </a:pPr>
            <a:r>
              <a:rPr lang="en-US" sz="2400" dirty="0">
                <a:latin typeface="Arial" panose="020B0604020202020204" pitchFamily="34" charset="0"/>
                <a:cs typeface="Arial" panose="020B0604020202020204" pitchFamily="34" charset="0"/>
              </a:rPr>
              <a:t>Interventions to improve the nutritional status of those at risk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081" y="260648"/>
            <a:ext cx="8335838" cy="1325563"/>
          </a:xfrm>
        </p:spPr>
        <p:txBody>
          <a:bodyPr>
            <a:normAutofit/>
          </a:bodyPr>
          <a:lstStyle/>
          <a:p>
            <a:r>
              <a:rPr lang="en-GB" sz="3600" b="1" i="1" dirty="0">
                <a:latin typeface="Arial" panose="020B0604020202020204" pitchFamily="34" charset="0"/>
                <a:cs typeface="Arial" panose="020B0604020202020204" pitchFamily="34" charset="0"/>
              </a:rPr>
              <a:t>Major Areas of Public Health Practice</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lvl="0">
              <a:buClr>
                <a:srgbClr val="C00000"/>
              </a:buClr>
            </a:pPr>
            <a:r>
              <a:rPr lang="en-US" sz="2400" dirty="0">
                <a:latin typeface="Arial" panose="020B0604020202020204" pitchFamily="34" charset="0"/>
                <a:cs typeface="Arial" panose="020B0604020202020204" pitchFamily="34" charset="0"/>
              </a:rPr>
              <a:t>Surveillance &amp; assessment of the population's health &amp; wellbeing</a:t>
            </a:r>
          </a:p>
          <a:p>
            <a:pPr lvl="0">
              <a:buClr>
                <a:srgbClr val="C00000"/>
              </a:buClr>
            </a:pPr>
            <a:r>
              <a:rPr lang="en-US" sz="2400" dirty="0">
                <a:latin typeface="Arial" panose="020B0604020202020204" pitchFamily="34" charset="0"/>
                <a:cs typeface="Arial" panose="020B0604020202020204" pitchFamily="34" charset="0"/>
              </a:rPr>
              <a:t>Assessing the evidence of effectiveness of health &amp; healthcare interventions, programs and services</a:t>
            </a:r>
          </a:p>
          <a:p>
            <a:pPr lvl="0">
              <a:buClr>
                <a:srgbClr val="C00000"/>
              </a:buClr>
            </a:pPr>
            <a:r>
              <a:rPr lang="en-US" sz="2400" dirty="0">
                <a:latin typeface="Arial" panose="020B0604020202020204" pitchFamily="34" charset="0"/>
                <a:cs typeface="Arial" panose="020B0604020202020204" pitchFamily="34" charset="0"/>
              </a:rPr>
              <a:t>Strategic leadership &amp; collaborative working for health</a:t>
            </a:r>
          </a:p>
          <a:p>
            <a:pPr lvl="0">
              <a:buClr>
                <a:srgbClr val="C00000"/>
              </a:buClr>
            </a:pPr>
            <a:r>
              <a:rPr lang="en-US" sz="2400" dirty="0">
                <a:latin typeface="Arial" panose="020B0604020202020204" pitchFamily="34" charset="0"/>
                <a:cs typeface="Arial" panose="020B0604020202020204" pitchFamily="34" charset="0"/>
              </a:rPr>
              <a:t>Health Improvement, Health Protection</a:t>
            </a:r>
          </a:p>
          <a:p>
            <a:pPr lvl="0">
              <a:buClr>
                <a:srgbClr val="C00000"/>
              </a:buClr>
            </a:pPr>
            <a:r>
              <a:rPr lang="en-US" sz="2400" b="1" u="sng" dirty="0">
                <a:latin typeface="Arial" panose="020B0604020202020204" pitchFamily="34" charset="0"/>
                <a:cs typeface="Arial" panose="020B0604020202020204" pitchFamily="34" charset="0"/>
              </a:rPr>
              <a:t>Policy and strategy development and implementation </a:t>
            </a:r>
            <a:r>
              <a:rPr lang="en-US" sz="2400" dirty="0">
                <a:latin typeface="Arial" panose="020B0604020202020204" pitchFamily="34" charset="0"/>
                <a:cs typeface="Arial" panose="020B0604020202020204" pitchFamily="34" charset="0"/>
              </a:rPr>
              <a:t>(2010 Faculty of Public Health,2010)</a:t>
            </a:r>
          </a:p>
          <a:p>
            <a:endParaRPr lang="en-US" dirty="0"/>
          </a:p>
        </p:txBody>
      </p:sp>
    </p:spTree>
  </p:cSld>
  <p:clrMapOvr>
    <a:masterClrMapping/>
  </p:clrMapOvr>
  <p:transition>
    <p:wheel spokes="3"/>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640960" cy="1325563"/>
          </a:xfrm>
        </p:spPr>
        <p:txBody>
          <a:bodyPr>
            <a:normAutofit/>
          </a:bodyPr>
          <a:lstStyle/>
          <a:p>
            <a:pPr algn="ctr"/>
            <a:r>
              <a:rPr lang="en-US" sz="3600" b="1" i="1" dirty="0">
                <a:latin typeface="Arial" panose="020B0604020202020204" pitchFamily="34" charset="0"/>
                <a:cs typeface="Arial" panose="020B0604020202020204" pitchFamily="34" charset="0"/>
              </a:rPr>
              <a:t>Policy &amp; Strategy development &amp; implementation</a:t>
            </a:r>
          </a:p>
        </p:txBody>
      </p:sp>
      <p:sp>
        <p:nvSpPr>
          <p:cNvPr id="3" name="Content Placeholder 2"/>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Policy: </a:t>
            </a:r>
            <a:r>
              <a:rPr lang="en-US" sz="2400" dirty="0">
                <a:latin typeface="Arial" panose="020B0604020202020204" pitchFamily="34" charset="0"/>
                <a:cs typeface="Arial" panose="020B0604020202020204" pitchFamily="34" charset="0"/>
              </a:rPr>
              <a:t>Statement of what the government is trying to achieve and why. Specific principles adopted by organisations, teams etc often based on evidence but strongly influenced by politics, public opinion, and the media</a:t>
            </a:r>
          </a:p>
          <a:p>
            <a:pPr>
              <a:buNone/>
            </a:pPr>
            <a:r>
              <a:rPr lang="en-US" sz="2400" dirty="0">
                <a:latin typeface="Arial" panose="020B0604020202020204" pitchFamily="34" charset="0"/>
                <a:cs typeface="Arial" panose="020B0604020202020204" pitchFamily="34" charset="0"/>
              </a:rPr>
              <a:t> </a:t>
            </a:r>
          </a:p>
          <a:p>
            <a:r>
              <a:rPr lang="en-US" sz="2400" b="1" dirty="0">
                <a:latin typeface="Arial" panose="020B0604020202020204" pitchFamily="34" charset="0"/>
                <a:cs typeface="Arial" panose="020B0604020202020204" pitchFamily="34" charset="0"/>
              </a:rPr>
              <a:t>Strategy:  </a:t>
            </a:r>
            <a:r>
              <a:rPr lang="en-US" sz="2400" dirty="0">
                <a:latin typeface="Arial" panose="020B0604020202020204" pitchFamily="34" charset="0"/>
                <a:cs typeface="Arial" panose="020B0604020202020204" pitchFamily="34" charset="0"/>
              </a:rPr>
              <a:t>Steps that need to be taken for achieving the changes needed over long term.  Needs to be supported by evidence. The strategy sets out actions for various partners in public health system to support and develop policies, it is a formally planned set of actions to address a particular issue.</a:t>
            </a:r>
          </a:p>
          <a:p>
            <a:endParaRPr lang="en-US" dirty="0"/>
          </a:p>
          <a:p>
            <a:endParaRPr lang="en-US" dirty="0"/>
          </a:p>
        </p:txBody>
      </p:sp>
    </p:spTree>
  </p:cSld>
  <p:clrMapOvr>
    <a:masterClrMapping/>
  </p:clrMapOvr>
  <p:transition>
    <p:newsfla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886700" cy="759618"/>
          </a:xfrm>
        </p:spPr>
        <p:txBody>
          <a:bodyPr>
            <a:normAutofit/>
          </a:bodyPr>
          <a:lstStyle/>
          <a:p>
            <a:r>
              <a:rPr lang="en-GB" sz="3600" b="1" i="1" dirty="0">
                <a:latin typeface="Arial" panose="020B0604020202020204" pitchFamily="34" charset="0"/>
                <a:cs typeface="Arial" panose="020B0604020202020204" pitchFamily="34" charset="0"/>
              </a:rPr>
              <a:t>Policy</a:t>
            </a:r>
            <a:endParaRPr lang="en-US" sz="36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87524" y="1052736"/>
            <a:ext cx="8568952" cy="5344022"/>
          </a:xfrm>
        </p:spPr>
        <p:txBody>
          <a:bodyPr>
            <a:normAutofit fontScale="92500"/>
          </a:bodyPr>
          <a:lstStyle/>
          <a:p>
            <a:pPr>
              <a:buClr>
                <a:srgbClr val="C00000"/>
              </a:buClr>
            </a:pPr>
            <a:r>
              <a:rPr lang="en-US" sz="2400" dirty="0">
                <a:latin typeface="Arial" panose="020B0604020202020204" pitchFamily="34" charset="0"/>
                <a:cs typeface="Arial" panose="020B0604020202020204" pitchFamily="34" charset="0"/>
              </a:rPr>
              <a:t>In England, 63% of adults and 1 in 3 children leaving primary school are living with overweight or obesity</a:t>
            </a:r>
          </a:p>
          <a:p>
            <a:pPr>
              <a:buClr>
                <a:srgbClr val="C00000"/>
              </a:buClr>
            </a:pPr>
            <a:r>
              <a:rPr lang="en-US" sz="2400" dirty="0">
                <a:latin typeface="Arial" panose="020B0604020202020204" pitchFamily="34" charset="0"/>
                <a:cs typeface="Arial" panose="020B0604020202020204" pitchFamily="34" charset="0"/>
              </a:rPr>
              <a:t>Higher risk of type 2 diabetes, heart disease &amp; certain cancers. </a:t>
            </a:r>
          </a:p>
          <a:p>
            <a:pPr>
              <a:buClr>
                <a:srgbClr val="C00000"/>
              </a:buClr>
            </a:pPr>
            <a:r>
              <a:rPr lang="en-US" sz="2400" dirty="0">
                <a:latin typeface="Arial" panose="020B0604020202020204" pitchFamily="34" charset="0"/>
                <a:cs typeface="Arial" panose="020B0604020202020204" pitchFamily="34" charset="0"/>
              </a:rPr>
              <a:t>Excess weight can make it difficult to find and keep work, affect self-esteem and mental health…</a:t>
            </a:r>
          </a:p>
          <a:p>
            <a:pPr>
              <a:buClr>
                <a:srgbClr val="C00000"/>
              </a:buClr>
            </a:pPr>
            <a:r>
              <a:rPr lang="en-US" sz="2400" dirty="0">
                <a:latin typeface="Arial" panose="020B0604020202020204" pitchFamily="34" charset="0"/>
                <a:cs typeface="Arial" panose="020B0604020202020204" pitchFamily="34" charset="0"/>
              </a:rPr>
              <a:t>Health problems associated with being overweight or obese cost the NHS an estimated £6.1 billion every year.</a:t>
            </a:r>
          </a:p>
          <a:p>
            <a:pPr>
              <a:buClr>
                <a:srgbClr val="C00000"/>
              </a:buClr>
            </a:pPr>
            <a:r>
              <a:rPr lang="en-US" sz="2400" dirty="0">
                <a:latin typeface="Arial" panose="020B0604020202020204" pitchFamily="34" charset="0"/>
                <a:cs typeface="Arial" panose="020B0604020202020204" pitchFamily="34" charset="0"/>
              </a:rPr>
              <a:t>By 2030, government wants to see:</a:t>
            </a:r>
          </a:p>
          <a:p>
            <a:pPr marL="857250" lvl="1" indent="-514350">
              <a:buClr>
                <a:srgbClr val="C00000"/>
              </a:buClr>
              <a:buFont typeface="+mj-lt"/>
              <a:buAutoNum type="romanLcPeriod"/>
            </a:pPr>
            <a:r>
              <a:rPr lang="en-US" sz="2400" dirty="0">
                <a:latin typeface="Arial" panose="020B0604020202020204" pitchFamily="34" charset="0"/>
                <a:cs typeface="Arial" panose="020B0604020202020204" pitchFamily="34" charset="0"/>
              </a:rPr>
              <a:t>a downward trend in the level of excess weight in adults</a:t>
            </a:r>
          </a:p>
          <a:p>
            <a:pPr marL="857250" lvl="1" indent="-514350">
              <a:buClr>
                <a:srgbClr val="C00000"/>
              </a:buClr>
              <a:buFont typeface="+mj-lt"/>
              <a:buAutoNum type="romanLcPeriod"/>
            </a:pPr>
            <a:r>
              <a:rPr lang="en-US" sz="2400" dirty="0">
                <a:latin typeface="Arial" panose="020B0604020202020204" pitchFamily="34" charset="0"/>
                <a:cs typeface="Arial" panose="020B0604020202020204" pitchFamily="34" charset="0"/>
              </a:rPr>
              <a:t>Halve the number of children living with excess weight</a:t>
            </a:r>
          </a:p>
          <a:p>
            <a:pPr marL="857250" lvl="1" indent="-514350">
              <a:buClr>
                <a:srgbClr val="C00000"/>
              </a:buClr>
              <a:buFont typeface="+mj-lt"/>
              <a:buAutoNum type="romanLcPeriod"/>
            </a:pPr>
            <a:endParaRPr lang="en-US" sz="2400" dirty="0">
              <a:latin typeface="Arial" panose="020B0604020202020204" pitchFamily="34" charset="0"/>
              <a:cs typeface="Arial" panose="020B0604020202020204" pitchFamily="34" charset="0"/>
            </a:endParaRPr>
          </a:p>
          <a:p>
            <a:pPr marL="857250" lvl="1" indent="-514350">
              <a:buClr>
                <a:srgbClr val="C00000"/>
              </a:buClr>
              <a:buFont typeface="+mj-lt"/>
              <a:buAutoNum type="romanLcPeriod"/>
            </a:pPr>
            <a:endParaRPr lang="en-US" sz="2400" dirty="0">
              <a:latin typeface="Arial" panose="020B0604020202020204" pitchFamily="34" charset="0"/>
              <a:cs typeface="Arial" panose="020B0604020202020204" pitchFamily="34" charset="0"/>
            </a:endParaRPr>
          </a:p>
          <a:p>
            <a:pPr marL="342900" lvl="1" indent="0">
              <a:buClr>
                <a:srgbClr val="C00000"/>
              </a:buClr>
              <a:buNone/>
            </a:pPr>
            <a:r>
              <a:rPr lang="en-US" sz="2400" dirty="0">
                <a:latin typeface="Arial" panose="020B0604020202020204" pitchFamily="34" charset="0"/>
                <a:cs typeface="Arial" panose="020B0604020202020204" pitchFamily="34" charset="0"/>
                <a:hlinkClick r:id="rId2"/>
              </a:rPr>
              <a:t>https://www.gov.uk/government/publications/tackling-obesity-government-strategy/tackling-obesity-empowering-adults-and-children-to-live-healthier-lives</a:t>
            </a:r>
            <a:endParaRPr lang="en-US" sz="2400" dirty="0">
              <a:latin typeface="Arial" panose="020B0604020202020204" pitchFamily="34" charset="0"/>
              <a:cs typeface="Arial" panose="020B0604020202020204" pitchFamily="34" charset="0"/>
            </a:endParaRPr>
          </a:p>
          <a:p>
            <a:pPr marL="342900" lvl="1" indent="0">
              <a:buClr>
                <a:srgbClr val="C00000"/>
              </a:buClr>
              <a:buNone/>
            </a:pPr>
            <a:endParaRPr lang="en-US" sz="2400" dirty="0">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31626"/>
          </a:xfrm>
        </p:spPr>
        <p:txBody>
          <a:bodyPr>
            <a:normAutofit fontScale="90000"/>
          </a:bodyPr>
          <a:lstStyle/>
          <a:p>
            <a:r>
              <a:rPr lang="en-GB" sz="3600" b="1" i="1" dirty="0">
                <a:latin typeface="Arial" panose="020B0604020202020204" pitchFamily="34" charset="0"/>
                <a:cs typeface="Arial" panose="020B0604020202020204" pitchFamily="34" charset="0"/>
              </a:rPr>
              <a:t>Strategy</a:t>
            </a:r>
            <a:br>
              <a:rPr lang="en-US" b="1" dirty="0">
                <a:latin typeface="+mn-lt"/>
              </a:rPr>
            </a:br>
            <a:endParaRPr lang="en-US" dirty="0">
              <a:latin typeface="+mn-lt"/>
            </a:endParaRPr>
          </a:p>
        </p:txBody>
      </p:sp>
      <p:sp>
        <p:nvSpPr>
          <p:cNvPr id="3" name="Content Placeholder 2"/>
          <p:cNvSpPr>
            <a:spLocks noGrp="1"/>
          </p:cNvSpPr>
          <p:nvPr>
            <p:ph idx="1"/>
          </p:nvPr>
        </p:nvSpPr>
        <p:spPr>
          <a:xfrm>
            <a:off x="395536" y="980728"/>
            <a:ext cx="8424936" cy="5616624"/>
          </a:xfrm>
        </p:spPr>
        <p:txBody>
          <a:bodyPr>
            <a:normAutofit/>
          </a:bodyPr>
          <a:lstStyle/>
          <a:p>
            <a:pPr fontAlgn="base">
              <a:buNone/>
            </a:pPr>
            <a:r>
              <a:rPr lang="en-US" sz="2400" b="1" dirty="0">
                <a:latin typeface="Arial" panose="020B0604020202020204" pitchFamily="34" charset="0"/>
                <a:cs typeface="Arial" panose="020B0604020202020204" pitchFamily="34" charset="0"/>
              </a:rPr>
              <a:t>Helping people to make healthier choices</a:t>
            </a:r>
          </a:p>
          <a:p>
            <a:pPr>
              <a:buNone/>
            </a:pPr>
            <a:r>
              <a:rPr lang="en-US" sz="2400" dirty="0">
                <a:latin typeface="Arial" panose="020B0604020202020204" pitchFamily="34" charset="0"/>
                <a:cs typeface="Arial" panose="020B0604020202020204" pitchFamily="34" charset="0"/>
              </a:rPr>
              <a:t>Programs to encourage and help people to:</a:t>
            </a:r>
          </a:p>
          <a:p>
            <a:pPr lvl="0"/>
            <a:r>
              <a:rPr lang="en-US" sz="2400" dirty="0">
                <a:latin typeface="Arial" panose="020B0604020202020204" pitchFamily="34" charset="0"/>
                <a:cs typeface="Arial" panose="020B0604020202020204" pitchFamily="34" charset="0"/>
              </a:rPr>
              <a:t>Eat and drink more healthily</a:t>
            </a:r>
          </a:p>
          <a:p>
            <a:pPr lvl="0"/>
            <a:r>
              <a:rPr lang="en-US" sz="2400" dirty="0">
                <a:latin typeface="Arial" panose="020B0604020202020204" pitchFamily="34" charset="0"/>
                <a:cs typeface="Arial" panose="020B0604020202020204" pitchFamily="34" charset="0"/>
              </a:rPr>
              <a:t>Be more active</a:t>
            </a:r>
          </a:p>
          <a:p>
            <a:pPr lvl="0"/>
            <a:r>
              <a:rPr lang="en-US" sz="2400" dirty="0">
                <a:latin typeface="Arial" panose="020B0604020202020204" pitchFamily="34" charset="0"/>
                <a:cs typeface="Arial" panose="020B0604020202020204" pitchFamily="34" charset="0"/>
              </a:rPr>
              <a:t>Giving people advice on a healthy diet and physical activity through </a:t>
            </a:r>
            <a:r>
              <a:rPr lang="en-US" sz="2400" u="sng" dirty="0">
                <a:latin typeface="Arial" panose="020B0604020202020204" pitchFamily="34" charset="0"/>
                <a:cs typeface="Arial" panose="020B0604020202020204" pitchFamily="34" charset="0"/>
                <a:hlinkClick r:id="rId2"/>
              </a:rPr>
              <a:t>Change4Life programme</a:t>
            </a:r>
            <a:endParaRPr lang="en-US"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Improving labeling on food and drink to help people make healthy choices A </a:t>
            </a:r>
            <a:r>
              <a:rPr lang="en-US" sz="2400" u="sng" dirty="0">
                <a:latin typeface="Arial" panose="020B0604020202020204" pitchFamily="34" charset="0"/>
                <a:cs typeface="Arial" panose="020B0604020202020204" pitchFamily="34" charset="0"/>
                <a:hlinkClick r:id="rId3"/>
              </a:rPr>
              <a:t>consistent front of pack </a:t>
            </a:r>
            <a:r>
              <a:rPr lang="en-US" sz="2400" u="sng" dirty="0" err="1">
                <a:latin typeface="Arial" panose="020B0604020202020204" pitchFamily="34" charset="0"/>
                <a:cs typeface="Arial" panose="020B0604020202020204" pitchFamily="34" charset="0"/>
                <a:hlinkClick r:id="rId3"/>
              </a:rPr>
              <a:t>labelling</a:t>
            </a:r>
            <a:r>
              <a:rPr lang="en-US" sz="2400" u="sng" dirty="0">
                <a:latin typeface="Arial" panose="020B0604020202020204" pitchFamily="34" charset="0"/>
                <a:cs typeface="Arial" panose="020B0604020202020204" pitchFamily="34" charset="0"/>
                <a:hlinkClick r:id="rId3"/>
              </a:rPr>
              <a:t> system</a:t>
            </a:r>
            <a:r>
              <a:rPr lang="en-US" sz="2400" dirty="0">
                <a:latin typeface="Arial" panose="020B0604020202020204" pitchFamily="34" charset="0"/>
                <a:cs typeface="Arial" panose="020B0604020202020204" pitchFamily="34" charset="0"/>
              </a:rPr>
              <a:t> that makes it clear what is in food and drink</a:t>
            </a:r>
          </a:p>
          <a:p>
            <a:pPr lvl="0"/>
            <a:r>
              <a:rPr lang="en-US" sz="2400" dirty="0">
                <a:latin typeface="Arial" panose="020B0604020202020204" pitchFamily="34" charset="0"/>
                <a:cs typeface="Arial" panose="020B0604020202020204" pitchFamily="34" charset="0"/>
              </a:rPr>
              <a:t>Encouraging businesses on the high street to include calorie information on their menus so that people can make healthy choices</a:t>
            </a:r>
          </a:p>
          <a:p>
            <a:pPr lvl="0"/>
            <a:r>
              <a:rPr lang="en-US" sz="2400" dirty="0">
                <a:latin typeface="Arial" panose="020B0604020202020204" pitchFamily="34" charset="0"/>
                <a:cs typeface="Arial" panose="020B0604020202020204" pitchFamily="34" charset="0"/>
              </a:rPr>
              <a:t>Give people guidance on </a:t>
            </a:r>
            <a:r>
              <a:rPr lang="en-US" sz="2400" u="sng" dirty="0">
                <a:latin typeface="Arial" panose="020B0604020202020204" pitchFamily="34" charset="0"/>
                <a:cs typeface="Arial" panose="020B0604020202020204" pitchFamily="34" charset="0"/>
                <a:hlinkClick r:id="rId4"/>
              </a:rPr>
              <a:t>how much physical activity they should be doing</a:t>
            </a:r>
            <a:endParaRPr lang="en-US" sz="2400" dirty="0">
              <a:latin typeface="Arial" panose="020B0604020202020204" pitchFamily="34" charset="0"/>
              <a:cs typeface="Arial" panose="020B0604020202020204" pitchFamily="34" charset="0"/>
            </a:endParaRPr>
          </a:p>
          <a:p>
            <a:endParaRPr lang="en-US" dirty="0"/>
          </a:p>
        </p:txBody>
      </p:sp>
    </p:spTree>
  </p:cSld>
  <p:clrMapOvr>
    <a:masterClrMapping/>
  </p:clrMapOvr>
  <p:transition>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5E8EC0E-F427-A6AE-C972-2FFEAFD74D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188640"/>
            <a:ext cx="2784872" cy="2088654"/>
          </a:xfrm>
          <a:prstGeom prst="rect">
            <a:avLst/>
          </a:prstGeom>
          <a:noFill/>
          <a:extLst>
            <a:ext uri="{909E8E84-426E-40DD-AFC4-6F175D3DCCD1}">
              <a14:hiddenFill xmlns:a14="http://schemas.microsoft.com/office/drawing/2010/main">
                <a:solidFill>
                  <a:srgbClr val="FFFFFF"/>
                </a:solidFill>
              </a14:hiddenFill>
            </a:ext>
          </a:extLst>
        </p:spPr>
      </p:pic>
      <p:pic>
        <p:nvPicPr>
          <p:cNvPr id="2" name="Content Placeholder 3" descr="http://www.thetimes.co.uk/tto/multimedia/archive/00369/118965594_stop_smok_369134b.jpg">
            <a:extLst>
              <a:ext uri="{FF2B5EF4-FFF2-40B4-BE49-F238E27FC236}">
                <a16:creationId xmlns:a16="http://schemas.microsoft.com/office/drawing/2014/main" id="{34D4A7F7-B2EA-6AF2-24D7-D5868505D77C}"/>
              </a:ext>
            </a:extLst>
          </p:cNvPr>
          <p:cNvPicPr>
            <a:picLocks/>
          </p:cNvPicPr>
          <p:nvPr/>
        </p:nvPicPr>
        <p:blipFill>
          <a:blip r:embed="rId4" cstate="print"/>
          <a:stretch>
            <a:fillRect/>
          </a:stretch>
        </p:blipFill>
        <p:spPr bwMode="auto">
          <a:xfrm>
            <a:off x="645265" y="2544335"/>
            <a:ext cx="2784872" cy="1296145"/>
          </a:xfrm>
          <a:prstGeom prst="rect">
            <a:avLst/>
          </a:prstGeom>
          <a:noFill/>
          <a:ln w="9525">
            <a:noFill/>
            <a:miter lim="800000"/>
            <a:headEnd/>
            <a:tailEnd/>
          </a:ln>
        </p:spPr>
      </p:pic>
      <p:pic>
        <p:nvPicPr>
          <p:cNvPr id="1028" name="Picture 4" descr="Graphic from the Act F.A.S.T campaign">
            <a:extLst>
              <a:ext uri="{FF2B5EF4-FFF2-40B4-BE49-F238E27FC236}">
                <a16:creationId xmlns:a16="http://schemas.microsoft.com/office/drawing/2014/main" id="{6354C50B-4C89-292A-3FD5-B23560D4EF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080" y="188640"/>
            <a:ext cx="3501132" cy="1728191"/>
          </a:xfrm>
          <a:prstGeom prst="rect">
            <a:avLst/>
          </a:prstGeom>
          <a:noFill/>
          <a:extLst>
            <a:ext uri="{909E8E84-426E-40DD-AFC4-6F175D3DCCD1}">
              <a14:hiddenFill xmlns:a14="http://schemas.microsoft.com/office/drawing/2010/main">
                <a:solidFill>
                  <a:srgbClr val="FFFFFF"/>
                </a:solidFill>
              </a14:hiddenFill>
            </a:ext>
          </a:extLst>
        </p:spPr>
      </p:pic>
      <p:pic>
        <p:nvPicPr>
          <p:cNvPr id="3" name="Content Placeholder 3" descr="https://encrypted-tbn1.gstatic.com/images?q=tbn:ANd9GcSIuX5C7taPSYl-cv5walpW4qmPCHlv1cDi5dYinoSG1pvQzs7zaQ">
            <a:extLst>
              <a:ext uri="{FF2B5EF4-FFF2-40B4-BE49-F238E27FC236}">
                <a16:creationId xmlns:a16="http://schemas.microsoft.com/office/drawing/2014/main" id="{076E5FA1-D185-A40E-7E9A-92748C600032}"/>
              </a:ext>
            </a:extLst>
          </p:cNvPr>
          <p:cNvPicPr>
            <a:picLocks/>
          </p:cNvPicPr>
          <p:nvPr/>
        </p:nvPicPr>
        <p:blipFill>
          <a:blip r:embed="rId6" cstate="print"/>
          <a:srcRect/>
          <a:stretch>
            <a:fillRect/>
          </a:stretch>
        </p:blipFill>
        <p:spPr bwMode="auto">
          <a:xfrm>
            <a:off x="1115616" y="4221088"/>
            <a:ext cx="2016224" cy="539782"/>
          </a:xfrm>
          <a:prstGeom prst="rect">
            <a:avLst/>
          </a:prstGeom>
          <a:noFill/>
          <a:ln w="9525">
            <a:noFill/>
            <a:miter lim="800000"/>
            <a:headEnd/>
            <a:tailEnd/>
          </a:ln>
        </p:spPr>
      </p:pic>
      <p:pic>
        <p:nvPicPr>
          <p:cNvPr id="4" name="Content Placeholder 3" descr="https://encrypted-tbn2.gstatic.com/images?q=tbn:ANd9GcS_qrNYpU4FFdtADAhOSQ1c9sWCbldBsN6PvRDIDjTetVyalvFq">
            <a:extLst>
              <a:ext uri="{FF2B5EF4-FFF2-40B4-BE49-F238E27FC236}">
                <a16:creationId xmlns:a16="http://schemas.microsoft.com/office/drawing/2014/main" id="{6AC06417-E18C-9CB3-521F-7C31C6F5F316}"/>
              </a:ext>
            </a:extLst>
          </p:cNvPr>
          <p:cNvPicPr>
            <a:picLocks/>
          </p:cNvPicPr>
          <p:nvPr/>
        </p:nvPicPr>
        <p:blipFill>
          <a:blip r:embed="rId7" cstate="print"/>
          <a:srcRect/>
          <a:stretch>
            <a:fillRect/>
          </a:stretch>
        </p:blipFill>
        <p:spPr bwMode="auto">
          <a:xfrm>
            <a:off x="5724130" y="2237846"/>
            <a:ext cx="2311293" cy="1728192"/>
          </a:xfrm>
          <a:prstGeom prst="rect">
            <a:avLst/>
          </a:prstGeom>
          <a:noFill/>
          <a:ln w="9525">
            <a:noFill/>
            <a:miter lim="800000"/>
            <a:headEnd/>
            <a:tailEnd/>
          </a:ln>
        </p:spPr>
      </p:pic>
      <p:pic>
        <p:nvPicPr>
          <p:cNvPr id="1030" name="Picture 6" descr="When the 'nanny state' ruled: Strange appeal of bossy ad campaigns from the  1960s and 1970s | The Independent | The Independent">
            <a:extLst>
              <a:ext uri="{FF2B5EF4-FFF2-40B4-BE49-F238E27FC236}">
                <a16:creationId xmlns:a16="http://schemas.microsoft.com/office/drawing/2014/main" id="{0C07D361-96A7-315A-E425-C229602E3CB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04048" y="4400896"/>
            <a:ext cx="3501132" cy="20886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48919E-6475-D4B1-A93E-360E4D7D48F5}"/>
              </a:ext>
            </a:extLst>
          </p:cNvPr>
          <p:cNvSpPr txBox="1"/>
          <p:nvPr/>
        </p:nvSpPr>
        <p:spPr>
          <a:xfrm>
            <a:off x="671320" y="5192032"/>
            <a:ext cx="3144912" cy="1477328"/>
          </a:xfrm>
          <a:prstGeom prst="rect">
            <a:avLst/>
          </a:prstGeom>
          <a:noFill/>
        </p:spPr>
        <p:txBody>
          <a:bodyPr wrap="square">
            <a:spAutoFit/>
          </a:bodyPr>
          <a:lstStyle/>
          <a:p>
            <a:r>
              <a:rPr lang="en-US" dirty="0">
                <a:hlinkClick r:id="rId9"/>
              </a:rPr>
              <a:t>https://www.gov.uk/government/news/campaign-launched-to-help-public-get-healthy-this-summer</a:t>
            </a:r>
            <a:endParaRPr lang="en-US" dirty="0"/>
          </a:p>
          <a:p>
            <a:endParaRPr lang="en-US" dirty="0"/>
          </a:p>
        </p:txBody>
      </p:sp>
    </p:spTree>
    <p:extLst>
      <p:ext uri="{BB962C8B-B14F-4D97-AF65-F5344CB8AC3E}">
        <p14:creationId xmlns:p14="http://schemas.microsoft.com/office/powerpoint/2010/main" val="2228032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1110"/>
            <a:ext cx="7886700" cy="759618"/>
          </a:xfrm>
        </p:spPr>
        <p:txBody>
          <a:bodyPr>
            <a:normAutofit/>
          </a:bodyPr>
          <a:lstStyle/>
          <a:p>
            <a:r>
              <a:rPr lang="en-GB" sz="3600" b="1" i="1" dirty="0">
                <a:latin typeface="Arial" panose="020B0604020202020204" pitchFamily="34" charset="0"/>
                <a:cs typeface="Arial" panose="020B0604020202020204" pitchFamily="34" charset="0"/>
              </a:rPr>
              <a:t>Calorie Labelling</a:t>
            </a:r>
          </a:p>
        </p:txBody>
      </p:sp>
      <p:pic>
        <p:nvPicPr>
          <p:cNvPr id="4" name="Content Placeholder 3"/>
          <p:cNvPicPr>
            <a:picLocks noGrp="1" noChangeAspect="1"/>
          </p:cNvPicPr>
          <p:nvPr>
            <p:ph idx="1"/>
          </p:nvPr>
        </p:nvPicPr>
        <p:blipFill>
          <a:blip r:embed="rId2"/>
          <a:stretch>
            <a:fillRect/>
          </a:stretch>
        </p:blipFill>
        <p:spPr>
          <a:xfrm>
            <a:off x="179512" y="1079601"/>
            <a:ext cx="4680520" cy="2307667"/>
          </a:xfrm>
          <a:prstGeom prst="rect">
            <a:avLst/>
          </a:prstGeom>
        </p:spPr>
      </p:pic>
      <p:pic>
        <p:nvPicPr>
          <p:cNvPr id="5" name="Picture 4">
            <a:extLst>
              <a:ext uri="{FF2B5EF4-FFF2-40B4-BE49-F238E27FC236}">
                <a16:creationId xmlns:a16="http://schemas.microsoft.com/office/drawing/2014/main" id="{EB268F81-859B-3009-EB04-081F479D8103}"/>
              </a:ext>
            </a:extLst>
          </p:cNvPr>
          <p:cNvPicPr>
            <a:picLocks noChangeAspect="1"/>
          </p:cNvPicPr>
          <p:nvPr/>
        </p:nvPicPr>
        <p:blipFill>
          <a:blip r:embed="rId3"/>
          <a:stretch>
            <a:fillRect/>
          </a:stretch>
        </p:blipFill>
        <p:spPr>
          <a:xfrm>
            <a:off x="4922489" y="1209955"/>
            <a:ext cx="4041999" cy="2046957"/>
          </a:xfrm>
          <a:prstGeom prst="rect">
            <a:avLst/>
          </a:prstGeom>
        </p:spPr>
      </p:pic>
      <p:sp>
        <p:nvSpPr>
          <p:cNvPr id="6" name="TextBox 5">
            <a:extLst>
              <a:ext uri="{FF2B5EF4-FFF2-40B4-BE49-F238E27FC236}">
                <a16:creationId xmlns:a16="http://schemas.microsoft.com/office/drawing/2014/main" id="{01C59919-D161-C49D-1967-3D1B248CC070}"/>
              </a:ext>
            </a:extLst>
          </p:cNvPr>
          <p:cNvSpPr txBox="1"/>
          <p:nvPr/>
        </p:nvSpPr>
        <p:spPr>
          <a:xfrm>
            <a:off x="628650" y="3717032"/>
            <a:ext cx="7543750" cy="1754326"/>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Voluntary pledges, 2011, 17% in OHFS in England provided kcal information &amp; adherence to good practice guidance low </a:t>
            </a:r>
            <a:r>
              <a:rPr lang="en-GB" i="1" dirty="0">
                <a:latin typeface="Arial" panose="020B0604020202020204" pitchFamily="34" charset="0"/>
                <a:cs typeface="Arial" panose="020B0604020202020204" pitchFamily="34" charset="0"/>
              </a:rPr>
              <a:t>(Robinson et al, 2019) </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Mandatory action, no significant decrease in kcals bought or consumed in OHFS  England </a:t>
            </a:r>
            <a:r>
              <a:rPr lang="en-GB" i="1" dirty="0">
                <a:latin typeface="Arial" panose="020B0604020202020204" pitchFamily="34" charset="0"/>
                <a:cs typeface="Arial" panose="020B0604020202020204" pitchFamily="34" charset="0"/>
              </a:rPr>
              <a:t>(Polden et al, 2024)</a:t>
            </a:r>
          </a:p>
        </p:txBody>
      </p:sp>
    </p:spTree>
    <p:extLst>
      <p:ext uri="{BB962C8B-B14F-4D97-AF65-F5344CB8AC3E}">
        <p14:creationId xmlns:p14="http://schemas.microsoft.com/office/powerpoint/2010/main" val="1268074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6633"/>
            <a:ext cx="7886700" cy="1008112"/>
          </a:xfrm>
        </p:spPr>
        <p:txBody>
          <a:bodyPr>
            <a:normAutofit/>
          </a:bodyPr>
          <a:lstStyle/>
          <a:p>
            <a:r>
              <a:rPr lang="en-GB" sz="3600" b="1" i="1" dirty="0">
                <a:latin typeface="Arial" panose="020B0604020202020204" pitchFamily="34" charset="0"/>
                <a:cs typeface="Arial" panose="020B0604020202020204" pitchFamily="34" charset="0"/>
              </a:rPr>
              <a:t>NHS Health Check programme</a:t>
            </a:r>
            <a:endParaRPr lang="en-US" sz="3600" b="1" i="1" dirty="0">
              <a:latin typeface="Arial" panose="020B0604020202020204" pitchFamily="34" charset="0"/>
              <a:cs typeface="Arial" panose="020B0604020202020204" pitchFamily="34" charset="0"/>
            </a:endParaRPr>
          </a:p>
        </p:txBody>
      </p:sp>
      <p:pic>
        <p:nvPicPr>
          <p:cNvPr id="4" name="Content Placeholder 3" descr="http://www.easyhealth.org.uk/sites/default/files/Free%20NHS%20Health%20Check.png"/>
          <p:cNvPicPr>
            <a:picLocks noGrp="1"/>
          </p:cNvPicPr>
          <p:nvPr>
            <p:ph idx="1"/>
          </p:nvPr>
        </p:nvPicPr>
        <p:blipFill>
          <a:blip r:embed="rId2" cstate="print"/>
          <a:srcRect/>
          <a:stretch>
            <a:fillRect/>
          </a:stretch>
        </p:blipFill>
        <p:spPr bwMode="auto">
          <a:xfrm>
            <a:off x="395536" y="1234281"/>
            <a:ext cx="2880320" cy="4389437"/>
          </a:xfrm>
          <a:prstGeom prst="rect">
            <a:avLst/>
          </a:prstGeom>
          <a:noFill/>
          <a:ln w="9525">
            <a:noFill/>
            <a:miter lim="800000"/>
            <a:headEnd/>
            <a:tailEnd/>
          </a:ln>
        </p:spPr>
      </p:pic>
      <p:sp>
        <p:nvSpPr>
          <p:cNvPr id="5" name="Rectangle 4"/>
          <p:cNvSpPr/>
          <p:nvPr/>
        </p:nvSpPr>
        <p:spPr>
          <a:xfrm>
            <a:off x="3779912" y="1263816"/>
            <a:ext cx="5112568" cy="3785652"/>
          </a:xfrm>
          <a:prstGeom prst="rect">
            <a:avLst/>
          </a:prstGeom>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Legislative, national risk assessment, awareness &amp; management </a:t>
            </a:r>
            <a:r>
              <a:rPr lang="en-US" sz="2400" dirty="0" err="1">
                <a:latin typeface="Arial" panose="020B0604020202020204" pitchFamily="34" charset="0"/>
                <a:cs typeface="Arial" panose="020B0604020202020204" pitchFamily="34" charset="0"/>
              </a:rPr>
              <a:t>programme</a:t>
            </a:r>
            <a:r>
              <a:rPr lang="en-US" sz="24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Systematically targets the top seven causes of preventable deaths: high blood pressure, smoking, high cholesterol, obesity, poor diet, physical inactivity &amp; alcohol consumption </a:t>
            </a:r>
            <a:r>
              <a:rPr lang="en-US" sz="2400" i="1" dirty="0">
                <a:latin typeface="Arial" panose="020B0604020202020204" pitchFamily="34" charset="0"/>
                <a:cs typeface="Arial" panose="020B0604020202020204" pitchFamily="34" charset="0"/>
              </a:rPr>
              <a:t>(DH,2014) </a:t>
            </a:r>
          </a:p>
        </p:txBody>
      </p:sp>
      <p:sp>
        <p:nvSpPr>
          <p:cNvPr id="6" name="TextBox 5">
            <a:extLst>
              <a:ext uri="{FF2B5EF4-FFF2-40B4-BE49-F238E27FC236}">
                <a16:creationId xmlns:a16="http://schemas.microsoft.com/office/drawing/2014/main" id="{886C058D-C9AA-A50E-A5D1-7589ED13D62F}"/>
              </a:ext>
            </a:extLst>
          </p:cNvPr>
          <p:cNvSpPr txBox="1"/>
          <p:nvPr/>
        </p:nvSpPr>
        <p:spPr>
          <a:xfrm>
            <a:off x="4067944" y="5517232"/>
            <a:ext cx="4572000" cy="923330"/>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hlinkClick r:id="rId3"/>
              </a:rPr>
              <a:t>https://www.nhs.uk/conditions/nhs-health-check/</a:t>
            </a:r>
            <a:endParaRPr lang="en-GB" dirty="0">
              <a:latin typeface="Arial" panose="020B0604020202020204" pitchFamily="34" charset="0"/>
              <a:cs typeface="Arial" panose="020B0604020202020204" pitchFamily="34" charset="0"/>
            </a:endParaRPr>
          </a:p>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8588-B5CD-58C6-514B-68B05625AC30}"/>
              </a:ext>
            </a:extLst>
          </p:cNvPr>
          <p:cNvSpPr>
            <a:spLocks noGrp="1"/>
          </p:cNvSpPr>
          <p:nvPr>
            <p:ph type="title"/>
          </p:nvPr>
        </p:nvSpPr>
        <p:spPr/>
        <p:txBody>
          <a:bodyPr/>
          <a:lstStyle/>
          <a:p>
            <a:r>
              <a:rPr lang="en-GB" b="1" i="1" dirty="0">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3E819C95-29FF-2A86-E96A-212608E3BCC8}"/>
              </a:ext>
            </a:extLst>
          </p:cNvPr>
          <p:cNvSpPr>
            <a:spLocks noGrp="1"/>
          </p:cNvSpPr>
          <p:nvPr>
            <p:ph idx="1"/>
          </p:nvPr>
        </p:nvSpPr>
        <p:spPr/>
        <p:txBody>
          <a:bodyPr/>
          <a:lstStyle/>
          <a:p>
            <a:r>
              <a:rPr lang="en-GB" dirty="0"/>
              <a:t>Public Health Nutrition is a </a:t>
            </a:r>
            <a:r>
              <a:rPr lang="en-GB" b="1" dirty="0"/>
              <a:t>distinct, advanced area of practice</a:t>
            </a:r>
            <a:r>
              <a:rPr lang="en-GB" dirty="0"/>
              <a:t> addressing nutrition‑related health at </a:t>
            </a:r>
            <a:r>
              <a:rPr lang="en-GB" b="1" dirty="0"/>
              <a:t>population level</a:t>
            </a:r>
            <a:r>
              <a:rPr lang="en-GB" dirty="0"/>
              <a:t> </a:t>
            </a:r>
          </a:p>
          <a:p>
            <a:r>
              <a:rPr lang="en-GB" dirty="0"/>
              <a:t> It requires </a:t>
            </a:r>
            <a:r>
              <a:rPr lang="en-GB" b="1" dirty="0"/>
              <a:t>integration of nutrition science, epidemiology, policy, and social determinants of health</a:t>
            </a:r>
            <a:r>
              <a:rPr lang="en-GB" dirty="0"/>
              <a:t> </a:t>
            </a:r>
          </a:p>
          <a:p>
            <a:r>
              <a:rPr lang="en-GB" dirty="0"/>
              <a:t> Effective PHN practice moves </a:t>
            </a:r>
            <a:r>
              <a:rPr lang="en-GB" b="1" dirty="0"/>
              <a:t>upstream</a:t>
            </a:r>
            <a:r>
              <a:rPr lang="en-GB" dirty="0"/>
              <a:t>, focusing on </a:t>
            </a:r>
            <a:r>
              <a:rPr lang="en-GB" b="1" dirty="0"/>
              <a:t>prevention, equity and systems change</a:t>
            </a:r>
            <a:r>
              <a:rPr lang="en-GB" dirty="0"/>
              <a:t> </a:t>
            </a:r>
          </a:p>
          <a:p>
            <a:r>
              <a:rPr lang="en-GB" dirty="0"/>
              <a:t>Interventions must be </a:t>
            </a:r>
            <a:r>
              <a:rPr lang="en-GB" b="1" dirty="0"/>
              <a:t>critically evaluated</a:t>
            </a:r>
            <a:r>
              <a:rPr lang="en-GB" dirty="0"/>
              <a:t> in terms of impact, unintended consequences and who benefits </a:t>
            </a:r>
          </a:p>
          <a:p>
            <a:r>
              <a:rPr lang="en-GB" dirty="0"/>
              <a:t>Nutrition and dietetics professionals have a role beyond clinical care: </a:t>
            </a:r>
            <a:r>
              <a:rPr lang="en-GB" b="1" dirty="0"/>
              <a:t>influencing policy, environments and population health</a:t>
            </a:r>
            <a:r>
              <a:rPr lang="en-GB" dirty="0"/>
              <a:t> </a:t>
            </a:r>
          </a:p>
        </p:txBody>
      </p:sp>
    </p:spTree>
    <p:extLst>
      <p:ext uri="{BB962C8B-B14F-4D97-AF65-F5344CB8AC3E}">
        <p14:creationId xmlns:p14="http://schemas.microsoft.com/office/powerpoint/2010/main" val="2920377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b="1" i="1" dirty="0">
                <a:latin typeface="Arial" panose="020B0604020202020204" pitchFamily="34" charset="0"/>
                <a:cs typeface="Arial" panose="020B0604020202020204" pitchFamily="34" charset="0"/>
              </a:rPr>
              <a:t>References &amp; Further Reading</a:t>
            </a:r>
            <a:endParaRPr lang="en-US" sz="2800" b="1" i="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62500" lnSpcReduction="20000"/>
          </a:bodyPr>
          <a:lstStyle/>
          <a:p>
            <a:r>
              <a:rPr lang="en-US" sz="2400" dirty="0">
                <a:latin typeface="Arial" panose="020B0604020202020204" pitchFamily="34" charset="0"/>
                <a:cs typeface="Arial" panose="020B0604020202020204" pitchFamily="34" charset="0"/>
              </a:rPr>
              <a:t>Acheson D (1988) Public Health in England: The Report of the Committee of Inquiry into the Future Development to the Public Health Function, HMSO.</a:t>
            </a:r>
          </a:p>
          <a:p>
            <a:r>
              <a:rPr lang="en-US" sz="2400" dirty="0">
                <a:latin typeface="Arial" panose="020B0604020202020204" pitchFamily="34" charset="0"/>
                <a:cs typeface="Arial" panose="020B0604020202020204" pitchFamily="34" charset="0"/>
              </a:rPr>
              <a:t>DH(2010) Equity and Excellence: Liberating the NHS, TSO</a:t>
            </a:r>
          </a:p>
          <a:p>
            <a:pPr>
              <a:lnSpc>
                <a:spcPct val="80000"/>
              </a:lnSpc>
            </a:pPr>
            <a:r>
              <a:rPr lang="en-GB" altLang="en-US" sz="2400" dirty="0">
                <a:latin typeface="Arial" panose="020B0604020202020204" pitchFamily="34" charset="0"/>
                <a:cs typeface="Arial" panose="020B0604020202020204" pitchFamily="34" charset="0"/>
              </a:rPr>
              <a:t>DH(2010): Healthy lives, healthy people: Our strategy for public health in England. </a:t>
            </a:r>
            <a:r>
              <a:rPr lang="en-GB" altLang="en-US" sz="2400" dirty="0">
                <a:latin typeface="Arial" panose="020B0604020202020204" pitchFamily="34" charset="0"/>
                <a:cs typeface="Arial" panose="020B0604020202020204" pitchFamily="34" charset="0"/>
                <a:hlinkClick r:id="rId3"/>
              </a:rPr>
              <a:t>http://www.dh.gov.uk/en/Publicationsandstatistics/Publications/PublicationsPolicyAndGuidance/DH_121941</a:t>
            </a: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dirty="0">
                <a:latin typeface="Arial" panose="020B0604020202020204" pitchFamily="34" charset="0"/>
                <a:cs typeface="Arial" panose="020B0604020202020204" pitchFamily="34" charset="0"/>
              </a:rPr>
              <a:t>DH (2011) Healthy lives, healthy people. Update and way forward. </a:t>
            </a:r>
            <a:r>
              <a:rPr lang="en-GB" altLang="en-US" sz="2400" dirty="0">
                <a:latin typeface="Arial" panose="020B0604020202020204" pitchFamily="34" charset="0"/>
                <a:cs typeface="Arial" panose="020B0604020202020204" pitchFamily="34" charset="0"/>
                <a:hlinkClick r:id="rId4"/>
              </a:rPr>
              <a:t>http://www.dh.gov.uk/en/Publicationsandstatistics/Publications/PublicationsPolicyAndGuidance/DH_128120</a:t>
            </a: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dirty="0">
                <a:latin typeface="Arial" panose="020B0604020202020204" pitchFamily="34" charset="0"/>
                <a:cs typeface="Arial" panose="020B0604020202020204" pitchFamily="34" charset="0"/>
              </a:rPr>
              <a:t>DH (2011) The new public health system: summary. </a:t>
            </a:r>
            <a:r>
              <a:rPr lang="en-GB" altLang="en-US" sz="2400" dirty="0">
                <a:latin typeface="Arial" panose="020B0604020202020204" pitchFamily="34" charset="0"/>
                <a:cs typeface="Arial" panose="020B0604020202020204" pitchFamily="34" charset="0"/>
                <a:hlinkClick r:id="rId5"/>
              </a:rPr>
              <a:t>http://www.dh.gov.uk/prod_consum_dh/groups/dh_digitalassets/documents/digitalasset/dh_131897.pdf</a:t>
            </a: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dirty="0">
                <a:latin typeface="Arial" panose="020B0604020202020204" pitchFamily="34" charset="0"/>
                <a:cs typeface="Arial" panose="020B0604020202020204" pitchFamily="34" charset="0"/>
              </a:rPr>
              <a:t>DH (2012) Health lives, healthy people: Improving outcomes and  supporting transparency. </a:t>
            </a:r>
            <a:r>
              <a:rPr lang="en-GB" altLang="en-US" sz="2400" dirty="0">
                <a:latin typeface="Arial" panose="020B0604020202020204" pitchFamily="34" charset="0"/>
                <a:cs typeface="Arial" panose="020B0604020202020204" pitchFamily="34" charset="0"/>
                <a:hlinkClick r:id="rId6"/>
              </a:rPr>
              <a:t>http://www.dh.gov.uk/en/Publicationsandstatistics/Publications/PublicationsPolicyAndGuidance/DH_132358</a:t>
            </a: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dirty="0">
                <a:latin typeface="Arial" panose="020B0604020202020204" pitchFamily="34" charset="0"/>
                <a:cs typeface="Arial" panose="020B0604020202020204" pitchFamily="34" charset="0"/>
              </a:rPr>
              <a:t>Marmot, M (2010) Fair Society, Healthy Lives: strategic review of health inequalities in England post 2010. </a:t>
            </a:r>
            <a:r>
              <a:rPr lang="en-GB" altLang="en-US" sz="2400" dirty="0">
                <a:latin typeface="Arial" panose="020B0604020202020204" pitchFamily="34" charset="0"/>
                <a:cs typeface="Arial" panose="020B0604020202020204" pitchFamily="34" charset="0"/>
                <a:hlinkClick r:id="rId7"/>
              </a:rPr>
              <a:t>www.marmotreview.org</a:t>
            </a:r>
            <a:r>
              <a:rPr lang="en-GB" alt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Polden M et al (2024) </a:t>
            </a:r>
            <a:r>
              <a:rPr lang="en-GB" sz="2000" b="0" i="0" dirty="0">
                <a:solidFill>
                  <a:srgbClr val="222222"/>
                </a:solidFill>
                <a:effectLst/>
                <a:latin typeface="Arial" panose="020B0604020202020204" pitchFamily="34" charset="0"/>
                <a:cs typeface="Arial" panose="020B0604020202020204" pitchFamily="34" charset="0"/>
              </a:rPr>
              <a:t>Evaluating the association between the introduction of mandatory calorie labelling and energy consumed using observational data from the out-of-home food sector in England. </a:t>
            </a:r>
            <a:r>
              <a:rPr lang="en-GB" sz="2000" b="0" i="1" dirty="0">
                <a:solidFill>
                  <a:srgbClr val="222222"/>
                </a:solidFill>
                <a:effectLst/>
                <a:latin typeface="Arial" panose="020B0604020202020204" pitchFamily="34" charset="0"/>
                <a:cs typeface="Arial" panose="020B0604020202020204" pitchFamily="34" charset="0"/>
              </a:rPr>
              <a:t>Nat Hum </a:t>
            </a:r>
            <a:r>
              <a:rPr lang="en-GB" sz="2000" b="0" i="1" dirty="0" err="1">
                <a:solidFill>
                  <a:srgbClr val="222222"/>
                </a:solidFill>
                <a:effectLst/>
                <a:latin typeface="Arial" panose="020B0604020202020204" pitchFamily="34" charset="0"/>
                <a:cs typeface="Arial" panose="020B0604020202020204" pitchFamily="34" charset="0"/>
              </a:rPr>
              <a:t>Behav</a:t>
            </a:r>
            <a:r>
              <a:rPr lang="en-GB" sz="2000" b="0" i="0" dirty="0">
                <a:solidFill>
                  <a:srgbClr val="222222"/>
                </a:solidFill>
                <a:effectLst/>
                <a:latin typeface="Arial" panose="020B0604020202020204" pitchFamily="34" charset="0"/>
                <a:cs typeface="Arial" panose="020B0604020202020204" pitchFamily="34" charset="0"/>
              </a:rPr>
              <a:t> (2024). </a:t>
            </a:r>
            <a:r>
              <a:rPr lang="en-GB" sz="2000" b="0" i="0" dirty="0">
                <a:solidFill>
                  <a:srgbClr val="222222"/>
                </a:solidFill>
                <a:effectLst/>
                <a:latin typeface="Arial" panose="020B0604020202020204" pitchFamily="34" charset="0"/>
                <a:cs typeface="Arial" panose="020B0604020202020204" pitchFamily="34" charset="0"/>
                <a:hlinkClick r:id="rId8"/>
              </a:rPr>
              <a:t>https://doi.org/10.1038/s41562-024-02032-1</a:t>
            </a:r>
            <a:endParaRPr lang="en-GB" sz="2000" b="0" i="0" dirty="0">
              <a:solidFill>
                <a:srgbClr val="222222"/>
              </a:solidFill>
              <a:effectLst/>
              <a:latin typeface="Arial" panose="020B0604020202020204" pitchFamily="34" charset="0"/>
              <a:cs typeface="Arial" panose="020B0604020202020204" pitchFamily="34" charset="0"/>
            </a:endParaRPr>
          </a:p>
          <a:p>
            <a:r>
              <a:rPr lang="en-GB" sz="2000" dirty="0">
                <a:solidFill>
                  <a:srgbClr val="222222"/>
                </a:solidFill>
                <a:latin typeface="Arial" panose="020B0604020202020204" pitchFamily="34" charset="0"/>
                <a:cs typeface="Arial" panose="020B0604020202020204" pitchFamily="34" charset="0"/>
              </a:rPr>
              <a:t>Robinson E et al (2019)</a:t>
            </a:r>
            <a:r>
              <a:rPr lang="en-GB" sz="2000" b="0" i="0" dirty="0">
                <a:solidFill>
                  <a:srgbClr val="222222"/>
                </a:solidFill>
                <a:effectLst/>
                <a:latin typeface="Arial" panose="020B0604020202020204" pitchFamily="34" charset="0"/>
                <a:cs typeface="Arial" panose="020B0604020202020204" pitchFamily="34" charset="0"/>
              </a:rPr>
              <a:t> Point of choice kilocalorie labelling in the UK eating out of home sector: a descriptive study of major chains. </a:t>
            </a:r>
            <a:r>
              <a:rPr lang="en-GB" sz="2000" b="0" i="1" dirty="0">
                <a:solidFill>
                  <a:srgbClr val="222222"/>
                </a:solidFill>
                <a:effectLst/>
                <a:latin typeface="Arial" panose="020B0604020202020204" pitchFamily="34" charset="0"/>
                <a:cs typeface="Arial" panose="020B0604020202020204" pitchFamily="34" charset="0"/>
              </a:rPr>
              <a:t>BMC Public Health</a:t>
            </a:r>
            <a:r>
              <a:rPr lang="en-GB" sz="2000" b="0" i="0" dirty="0">
                <a:solidFill>
                  <a:srgbClr val="222222"/>
                </a:solidFill>
                <a:effectLst/>
                <a:latin typeface="Arial" panose="020B0604020202020204" pitchFamily="34" charset="0"/>
                <a:cs typeface="Arial" panose="020B0604020202020204" pitchFamily="34" charset="0"/>
              </a:rPr>
              <a:t> </a:t>
            </a:r>
            <a:r>
              <a:rPr lang="en-GB" sz="2000" b="1" i="0" dirty="0">
                <a:solidFill>
                  <a:srgbClr val="222222"/>
                </a:solidFill>
                <a:effectLst/>
                <a:latin typeface="Arial" panose="020B0604020202020204" pitchFamily="34" charset="0"/>
                <a:cs typeface="Arial" panose="020B0604020202020204" pitchFamily="34" charset="0"/>
              </a:rPr>
              <a:t>19</a:t>
            </a:r>
            <a:r>
              <a:rPr lang="en-GB" sz="2000" b="0" i="0" dirty="0">
                <a:solidFill>
                  <a:srgbClr val="222222"/>
                </a:solidFill>
                <a:effectLst/>
                <a:latin typeface="Arial" panose="020B0604020202020204" pitchFamily="34" charset="0"/>
                <a:cs typeface="Arial" panose="020B0604020202020204" pitchFamily="34" charset="0"/>
              </a:rPr>
              <a:t>, 1–6.</a:t>
            </a:r>
            <a:endParaRPr lang="en-US" sz="24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TotalTime>
  <Words>2610</Words>
  <Application>Microsoft Office PowerPoint</Application>
  <PresentationFormat>On-screen Show (4:3)</PresentationFormat>
  <Paragraphs>312</Paragraphs>
  <Slides>38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Arial</vt:lpstr>
      <vt:lpstr>Calibri</vt:lpstr>
      <vt:lpstr>Calibri Light</vt:lpstr>
      <vt:lpstr>Office Theme</vt:lpstr>
      <vt:lpstr>Public Health Nutrition   NU5079/DT5079/PT5052 </vt:lpstr>
      <vt:lpstr>Aims of the session:</vt:lpstr>
      <vt:lpstr>Learning Outomes</vt:lpstr>
      <vt:lpstr>By the end of this module, you should be able to:  </vt:lpstr>
      <vt:lpstr>Many definitions</vt:lpstr>
      <vt:lpstr>Core Public Health Areas</vt:lpstr>
      <vt:lpstr>Code of Hammurabi 1700</vt:lpstr>
      <vt:lpstr>Ancient Greece 400 BC</vt:lpstr>
      <vt:lpstr>Medieval period (5th-15th AD)</vt:lpstr>
      <vt:lpstr>Golden Age 8-13th AD (Arab World)</vt:lpstr>
      <vt:lpstr>Epidemics in Europe 14th-16thC</vt:lpstr>
      <vt:lpstr>16-18th Century</vt:lpstr>
      <vt:lpstr>19th C Miasma &amp; Germ Theories</vt:lpstr>
      <vt:lpstr>Historical Perspective of Public Health in Britain</vt:lpstr>
      <vt:lpstr>Public Health: Key Historical Milestones </vt:lpstr>
      <vt:lpstr>Major International Public Health Advancements:</vt:lpstr>
      <vt:lpstr>Progress in Public Health</vt:lpstr>
      <vt:lpstr>What Does Public Health Do?</vt:lpstr>
      <vt:lpstr>PowerPoint Presentation</vt:lpstr>
      <vt:lpstr>What is Public Health Nutrition (PHN)? </vt:lpstr>
      <vt:lpstr>Key characteristics of PHN practice: </vt:lpstr>
      <vt:lpstr>Prevention in Public Health Nutrition </vt:lpstr>
      <vt:lpstr>Levels of Prevention </vt:lpstr>
      <vt:lpstr>PowerPoint Presentation</vt:lpstr>
      <vt:lpstr>Different Modes of Nutrition Practice</vt:lpstr>
      <vt:lpstr>Modes of Nutrition &amp; Dietetic Practice</vt:lpstr>
      <vt:lpstr>PowerPoint Presentation</vt:lpstr>
      <vt:lpstr>Public Health Nutrition Practitioners </vt:lpstr>
      <vt:lpstr>Areas of interest to PHN</vt:lpstr>
      <vt:lpstr>Major Areas of Public Health Practice</vt:lpstr>
      <vt:lpstr>Policy &amp; Strategy development &amp; implementation</vt:lpstr>
      <vt:lpstr>Policy</vt:lpstr>
      <vt:lpstr>Strategy </vt:lpstr>
      <vt:lpstr>PowerPoint Presentation</vt:lpstr>
      <vt:lpstr>Calorie Labelling</vt:lpstr>
      <vt:lpstr>NHS Health Check programme</vt:lpstr>
      <vt:lpstr>Summary</vt:lpstr>
      <vt:lpstr>References &amp; Further Reading</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Bond</dc:creator>
  <cp:lastModifiedBy>Afshan Aghili</cp:lastModifiedBy>
  <cp:revision>148</cp:revision>
  <dcterms:created xsi:type="dcterms:W3CDTF">2015-09-16T10:54:07Z</dcterms:created>
  <dcterms:modified xsi:type="dcterms:W3CDTF">2026-02-04T11:44:19Z</dcterms:modified>
</cp:coreProperties>
</file>