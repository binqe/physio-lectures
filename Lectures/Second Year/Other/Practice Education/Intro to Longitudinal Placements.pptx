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4"/>
  </p:sldMasterIdLst>
  <p:notesMasterIdLst>
    <p:notesMasterId r:id="rId19"/>
  </p:notesMasterIdLst>
  <p:sldIdLst>
    <p:sldId id="256" r:id="rId5"/>
    <p:sldId id="257" r:id="rId6"/>
    <p:sldId id="283" r:id="rId7"/>
    <p:sldId id="292" r:id="rId8"/>
    <p:sldId id="263" r:id="rId9"/>
    <p:sldId id="264" r:id="rId10"/>
    <p:sldId id="260" r:id="rId11"/>
    <p:sldId id="286" r:id="rId12"/>
    <p:sldId id="293" r:id="rId13"/>
    <p:sldId id="261" r:id="rId14"/>
    <p:sldId id="291" r:id="rId15"/>
    <p:sldId id="287" r:id="rId16"/>
    <p:sldId id="294" r:id="rId17"/>
    <p:sldId id="28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7" autoAdjust="0"/>
    <p:restoredTop sz="86385" autoAdjust="0"/>
  </p:normalViewPr>
  <p:slideViewPr>
    <p:cSldViewPr snapToGrid="0">
      <p:cViewPr varScale="1">
        <p:scale>
          <a:sx n="98" d="100"/>
          <a:sy n="98" d="100"/>
        </p:scale>
        <p:origin x="27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6A27E-3807-4A4A-A560-31B75FDB3C35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8EBB1-BD05-49BB-BDAF-2E2DEAF409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20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 advice, guidance and support for students with a disability, a Specific Learning Difficulty (SpLD) such as Dyslexia or Dyspraxia, students who are Deaf or hearing impaired, blind or partially sighted students, students with chronic long-term health conditions and students with mental health difficulties.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i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DDS is part of Student Services: </a:t>
            </a:r>
            <a:endParaRPr lang="en-GB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Counselling Team.</a:t>
            </a:r>
            <a:endParaRPr lang="en-GB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Student Money and Accommodation Team (SMAA).</a:t>
            </a:r>
            <a:endParaRPr lang="en-GB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International Support Team. </a:t>
            </a:r>
            <a:endParaRPr lang="en-GB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Disabilities and Dyslexia Service (DDS).</a:t>
            </a:r>
            <a:endParaRPr lang="en-GB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410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948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561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125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446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90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754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191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013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198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660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87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8EBB1-BD05-49BB-BDAF-2E2DEAF409C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854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496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0888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800" i="1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3">
            <a:extLst>
              <a:ext uri="{FF2B5EF4-FFF2-40B4-BE49-F238E27FC236}">
                <a16:creationId xmlns:a16="http://schemas.microsoft.com/office/drawing/2014/main" id="{3D27E22C-32FB-4C71-BCE7-0E8266457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>
                  <a:alpha val="30000"/>
                </a:schemeClr>
              </a:gs>
              <a:gs pos="33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AF202A09-98E9-4481-AC0E-9BCE870A5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97" y="393917"/>
            <a:ext cx="2875724" cy="73819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AEBCF95-492C-41E0-BBD8-7730350A3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402" y="2682047"/>
            <a:ext cx="10345815" cy="184256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b">
            <a:noAutofit/>
          </a:bodyPr>
          <a:lstStyle/>
          <a:p>
            <a:pPr algn="l"/>
            <a:r>
              <a:rPr lang="en-GB" sz="44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Introduction to Longitudinal Placements:</a:t>
            </a:r>
            <a:br>
              <a:rPr lang="en-GB" sz="44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</a:br>
            <a:r>
              <a:rPr lang="en-GB" sz="44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(Expectations of Students) </a:t>
            </a:r>
            <a:br>
              <a:rPr lang="en-GB" sz="4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4400" b="1" i="0" dirty="0"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B9784D-EFE5-DD36-66C2-FC4E3FDB6B0C}"/>
              </a:ext>
            </a:extLst>
          </p:cNvPr>
          <p:cNvSpPr txBox="1">
            <a:spLocks/>
          </p:cNvSpPr>
          <p:nvPr/>
        </p:nvSpPr>
        <p:spPr>
          <a:xfrm>
            <a:off x="518283" y="5012157"/>
            <a:ext cx="10345815" cy="166101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i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GB" sz="2800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Ngozi Onuegbu PhD  </a:t>
            </a:r>
          </a:p>
          <a:p>
            <a:pPr algn="l"/>
            <a:r>
              <a:rPr lang="en-GB" sz="2800" b="1" i="0" dirty="0">
                <a:solidFill>
                  <a:schemeClr val="tx1"/>
                </a:solidFill>
                <a:effectLst/>
                <a:latin typeface="Arial"/>
                <a:cs typeface="Arial"/>
              </a:rPr>
              <a:t>PT5W50/PT4W50</a:t>
            </a:r>
            <a:br>
              <a:rPr lang="en-GB" sz="36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600" b="1" i="0" dirty="0"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38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040" y="319480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36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What will be covered today?</a:t>
            </a:r>
            <a:endParaRPr lang="en-GB" sz="3600" b="1" i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707" y="2367290"/>
            <a:ext cx="11503924" cy="300767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Overview of the Longitudinal placement model at London Metropolitan University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Importance of longitudinal placements in developing core skills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Expectations of students on Longitudinal placements</a:t>
            </a:r>
            <a:endParaRPr lang="en-GB" sz="200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280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897" y="295757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36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Structure of Longitudinal Placements</a:t>
            </a:r>
            <a:endParaRPr lang="en-GB" sz="36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896" y="1257701"/>
            <a:ext cx="11541941" cy="4770974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effectLst/>
                <a:latin typeface="Arial"/>
                <a:cs typeface="Arial"/>
              </a:rPr>
              <a:t>MSc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effectLst/>
                <a:latin typeface="Arial"/>
                <a:cs typeface="Arial"/>
              </a:rPr>
              <a:t>20 days spread across 1-day-per-week placement (Thursdays)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effectLst/>
                <a:latin typeface="Arial"/>
                <a:cs typeface="Arial"/>
              </a:rPr>
              <a:t>Starting with clinical simulation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effectLst/>
                <a:latin typeface="Arial"/>
                <a:cs typeface="Arial"/>
              </a:rPr>
              <a:t>Practical exposure to real-world healthcare settings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effectLst/>
                <a:latin typeface="Arial"/>
                <a:cs typeface="Arial"/>
              </a:rPr>
              <a:t>Weekly debriefs on longitudinal placements (Mandatory)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000" b="1" dirty="0">
              <a:effectLst/>
              <a:latin typeface="Arial"/>
              <a:cs typeface="Arial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000" b="1" dirty="0">
              <a:effectLst/>
              <a:latin typeface="Arial"/>
              <a:cs typeface="Arial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effectLst/>
                <a:latin typeface="Arial"/>
                <a:cs typeface="Arial"/>
              </a:rPr>
              <a:t>BSc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effectLst/>
                <a:latin typeface="Arial"/>
                <a:cs typeface="Arial"/>
              </a:rPr>
              <a:t>10 days spread across 1-day-per-week placement (Thursdays)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effectLst/>
                <a:latin typeface="Arial"/>
                <a:cs typeface="Arial"/>
              </a:rPr>
              <a:t>Starting with clinical simulation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effectLst/>
                <a:latin typeface="Arial"/>
                <a:cs typeface="Arial"/>
              </a:rPr>
              <a:t>Practical exposure to real-world healthcare settings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effectLst/>
                <a:latin typeface="Arial"/>
                <a:cs typeface="Arial"/>
              </a:rPr>
              <a:t>Weekly debriefs on longitudinal placements (Mandatory) </a:t>
            </a:r>
          </a:p>
          <a:p>
            <a: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1600" b="1" dirty="0">
              <a:effectLst/>
              <a:latin typeface="Arial"/>
              <a:cs typeface="Arial"/>
            </a:endParaRPr>
          </a:p>
          <a:p>
            <a: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1600" b="1" dirty="0">
              <a:effectLst/>
              <a:latin typeface="Arial"/>
              <a:cs typeface="Arial"/>
            </a:endParaRPr>
          </a:p>
          <a:p>
            <a: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effectLst/>
                <a:latin typeface="Arial"/>
                <a:cs typeface="Arial"/>
              </a:rPr>
              <a:t>Key Purpose: These placements offer a unique opportunity to develop core clinical and professional skills over time through a consistent clinical setting, emphasizing practical experience alongside academic learning (HCPC, 2013; CSP, 2011).</a:t>
            </a: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b="1" dirty="0">
              <a:effectLst/>
              <a:latin typeface="Arial"/>
              <a:cs typeface="Arial"/>
            </a:endParaRP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b="1" dirty="0">
              <a:effectLst/>
              <a:latin typeface="Arial"/>
              <a:cs typeface="Arial"/>
            </a:endParaRP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b="1" dirty="0">
              <a:effectLst/>
              <a:latin typeface="Arial"/>
              <a:cs typeface="Arial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GB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9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897" y="295758"/>
            <a:ext cx="11211373" cy="533568"/>
          </a:xfrm>
        </p:spPr>
        <p:txBody>
          <a:bodyPr anchor="b">
            <a:noAutofit/>
          </a:bodyPr>
          <a:lstStyle/>
          <a:p>
            <a:pPr algn="l"/>
            <a:r>
              <a:rPr lang="en-GB" sz="36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Structure of Longitudinal Placements</a:t>
            </a:r>
            <a:endParaRPr lang="en-GB" sz="36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741DD4-6C99-D973-1844-48641B245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657064"/>
              </p:ext>
            </p:extLst>
          </p:nvPr>
        </p:nvGraphicFramePr>
        <p:xfrm>
          <a:off x="807396" y="924128"/>
          <a:ext cx="8764621" cy="564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197">
                  <a:extLst>
                    <a:ext uri="{9D8B030D-6E8A-4147-A177-3AD203B41FA5}">
                      <a16:colId xmlns:a16="http://schemas.microsoft.com/office/drawing/2014/main" val="2861030163"/>
                    </a:ext>
                  </a:extLst>
                </a:gridCol>
                <a:gridCol w="5320649">
                  <a:extLst>
                    <a:ext uri="{9D8B030D-6E8A-4147-A177-3AD203B41FA5}">
                      <a16:colId xmlns:a16="http://schemas.microsoft.com/office/drawing/2014/main" val="415659473"/>
                    </a:ext>
                  </a:extLst>
                </a:gridCol>
                <a:gridCol w="1765775">
                  <a:extLst>
                    <a:ext uri="{9D8B030D-6E8A-4147-A177-3AD203B41FA5}">
                      <a16:colId xmlns:a16="http://schemas.microsoft.com/office/drawing/2014/main" val="2158871125"/>
                    </a:ext>
                  </a:extLst>
                </a:gridCol>
              </a:tblGrid>
              <a:tr h="449330">
                <a:tc>
                  <a:txBody>
                    <a:bodyPr/>
                    <a:lstStyle/>
                    <a:p>
                      <a:r>
                        <a:rPr lang="en-GB" sz="24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Description/Theme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093726"/>
                  </a:ext>
                </a:extLst>
              </a:tr>
              <a:tr h="357172"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09:00 -17:00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Longitudinal Placement Week 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Placement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5060770"/>
                  </a:ext>
                </a:extLst>
              </a:tr>
              <a:tr h="35717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14:00 -15:00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Debriefing from longitudinal placement: Placement Induction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Workshop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7825895"/>
                  </a:ext>
                </a:extLst>
              </a:tr>
              <a:tr h="357172"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09:00 -17:00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Longitudinal Placement Week 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Placement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0246934"/>
                  </a:ext>
                </a:extLst>
              </a:tr>
              <a:tr h="35717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14:00 -15:00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Debriefing from longitudinal placement: SWOC Analysis and LA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Workshop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44539533"/>
                  </a:ext>
                </a:extLst>
              </a:tr>
              <a:tr h="357172"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09:00 -17:00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Longitudinal Placement Week 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Placement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5686227"/>
                  </a:ext>
                </a:extLst>
              </a:tr>
              <a:tr h="49355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14:00 -15:00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Debriefing from longitudinal placement: Longitudinal Placement Management Plan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Workshop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1674004"/>
                  </a:ext>
                </a:extLst>
              </a:tr>
              <a:tr h="357172"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09:00 -17:00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Longitudinal Placement Week 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Placement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6819022"/>
                  </a:ext>
                </a:extLst>
              </a:tr>
              <a:tr h="49355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14:00 -15:00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Debriefing from longitudinal placement: Professionalism and Independent Learning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Workshop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0281973"/>
                  </a:ext>
                </a:extLst>
              </a:tr>
              <a:tr h="357172"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09:00 -17:00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Longitudinal Placement Week 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Placement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202548"/>
                  </a:ext>
                </a:extLst>
              </a:tr>
              <a:tr h="49355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14:00 -15:00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Debriefing from longitudinal placement: Challenges of SWOC and LA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Workshop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7458859"/>
                  </a:ext>
                </a:extLst>
              </a:tr>
              <a:tr h="357172"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09:00 -17:00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Longitudinal Placement Week 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Placement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8329509"/>
                  </a:ext>
                </a:extLst>
              </a:tr>
              <a:tr h="49355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14:00 -15:00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Debriefing from longitudinal placement: Reflections, Feedback, Organisation and Prioritisation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Workshop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16866253"/>
                  </a:ext>
                </a:extLst>
              </a:tr>
              <a:tr h="357172"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09:00 -17:00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Longitudinal Placement Week 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Placement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15833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94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897" y="389657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36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Focus and Objectives:</a:t>
            </a:r>
            <a:endParaRPr lang="en-GB" sz="36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" y="1624519"/>
            <a:ext cx="10739336" cy="484335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Focus: Placements focus on specialties like MSK, Neuro, respiratory care, and community services.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Goal: Build clinical skills gradually while concurrently applying classroom learning to real-world healthcare settings (HCPC, 2014).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 Skills Development: Students are expected to develop core competencies such as patient assessment, clinical reasoning, and treatment planning.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Interprofessional Learning: Exposure to various clinical specialities and multidisciplinary teams to foster teamwork and broaden clinical knowledge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Practical Experience: Students gain real-life experience, contributing to their clinical learning and professional development.</a:t>
            </a: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97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754" y="260778"/>
            <a:ext cx="11211373" cy="1113151"/>
          </a:xfrm>
        </p:spPr>
        <p:txBody>
          <a:bodyPr anchor="b">
            <a:noAutofit/>
          </a:bodyPr>
          <a:lstStyle/>
          <a:p>
            <a:pPr algn="l"/>
            <a:r>
              <a:rPr lang="en-GB" sz="36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Learning Outcomes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379" y="1848255"/>
            <a:ext cx="10924161" cy="3797138"/>
          </a:xfrm>
        </p:spPr>
        <p:txBody>
          <a:bodyPr>
            <a:normAutofit/>
          </a:bodyPr>
          <a:lstStyle/>
          <a:p>
            <a:pPr algn="l"/>
            <a:r>
              <a:rPr lang="en-GB" sz="2000" dirty="0">
                <a:effectLst/>
                <a:latin typeface="Arial"/>
                <a:cs typeface="Arial"/>
              </a:rPr>
              <a:t>Knowledge: Develop understanding of common patient problems and how they affect patient lifestyles and participation.</a:t>
            </a:r>
          </a:p>
          <a:p>
            <a:pPr algn="l"/>
            <a:endParaRPr lang="en-GB" sz="2000" dirty="0">
              <a:effectLst/>
              <a:latin typeface="Arial"/>
              <a:cs typeface="Arial"/>
            </a:endParaRPr>
          </a:p>
          <a:p>
            <a:pPr algn="l"/>
            <a:r>
              <a:rPr lang="en-GB" sz="2000" dirty="0">
                <a:effectLst/>
                <a:latin typeface="Arial"/>
                <a:cs typeface="Arial"/>
              </a:rPr>
              <a:t>Performance: Demonstrate ability to assess patients, plan treatment, and apply clinical reasoning effectively.</a:t>
            </a:r>
          </a:p>
          <a:p>
            <a:pPr algn="l"/>
            <a:endParaRPr lang="en-GB" sz="2000" dirty="0">
              <a:effectLst/>
              <a:latin typeface="Arial"/>
              <a:cs typeface="Arial"/>
            </a:endParaRPr>
          </a:p>
          <a:p>
            <a:pPr algn="l"/>
            <a:r>
              <a:rPr lang="en-GB" sz="2000" dirty="0">
                <a:effectLst/>
                <a:latin typeface="Arial"/>
                <a:cs typeface="Arial"/>
              </a:rPr>
              <a:t>Attitudes and Behaviours: Reflect professionalism in patient care, maintain respect for privacy and dignity, and seek continuous feedback for improvement.</a:t>
            </a:r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00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69" y="278698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40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Assessment</a:t>
            </a:r>
            <a:endParaRPr lang="en-US" b="1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effectLst>
                <a:outerShdw blurRad="9525" dist="25400" dir="1464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469" y="1196502"/>
            <a:ext cx="11525012" cy="4620638"/>
          </a:xfrm>
        </p:spPr>
        <p:txBody>
          <a:bodyPr>
            <a:norm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Arial"/>
                <a:cs typeface="Arial"/>
              </a:rPr>
              <a:t>CPAF Level 4(</a:t>
            </a:r>
            <a:r>
              <a:rPr lang="en-GB" sz="2800" dirty="0" err="1">
                <a:effectLst/>
                <a:latin typeface="Arial"/>
                <a:cs typeface="Arial"/>
              </a:rPr>
              <a:t>Bsc</a:t>
            </a:r>
            <a:r>
              <a:rPr lang="en-GB" sz="2800" dirty="0">
                <a:effectLst/>
                <a:latin typeface="Arial"/>
                <a:cs typeface="Arial"/>
              </a:rPr>
              <a:t>)/Level 5 (MSc): 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/>
                <a:cs typeface="Arial"/>
              </a:rPr>
              <a:t>The Common Placement Assessment Form (CPAF) evaluates student performance across learning domains like communication, clinical reasoning, and professionalism.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/>
                <a:cs typeface="Arial"/>
              </a:rPr>
              <a:t>Pass/Fail Evaluation: A minimum pass threshold of 40% is required across all domains, with regular feedback from practice educators.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Arial"/>
                <a:cs typeface="Arial"/>
              </a:rPr>
              <a:t>Failure Procedure: If a student's performance is unsatisfactory, a structured danger-of-failure process is initiated, involving meetings, action plans, and reviews to support improvement.</a:t>
            </a:r>
            <a:endParaRPr lang="en-GB" sz="240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01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69" y="278698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40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Support and Resources:</a:t>
            </a:r>
            <a:endParaRPr lang="en-GB" sz="40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468" y="1245140"/>
            <a:ext cx="11691735" cy="5194571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Placement preparation: Clinical simulations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Pre-Placement Reading: Students have access to reading materials and preparatory resources to help them succeed during placements.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 from Practice Educators: Each student is assigned a dedicated practice educator to guide them through the placement experience.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University Resources: Students are supported by the university through access to the library, clinical simulation labs, and online resources for continuous learning.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Themed weekly debrief sessions (mandatory)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 Tutor support: including a link tutor visit at half-way assessment</a:t>
            </a:r>
            <a:endParaRPr lang="en-GB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91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69" y="278698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40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Student Expectations:</a:t>
            </a:r>
            <a:endParaRPr lang="en-GB" sz="40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468" y="1245141"/>
            <a:ext cx="11662553" cy="4464996"/>
          </a:xfrm>
        </p:spPr>
        <p:txBody>
          <a:bodyPr>
            <a:norm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Professional Conduct: Students are expected to uphold professional standards, including confidentiality, maintaining fitness to practice, seeking informed consent, and showing respect for colleagues and patients (HCPC, 2013)..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Learning Contract: Students must complete a learning agreement with their practice educator, aligning placement learning goals with module objectives.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Active Engagement: Take initiative in learning, progressively moving from observation to hands-on patient care as placement progresses (Sorinola and Onuegbu, 2024).</a:t>
            </a:r>
            <a:endParaRPr lang="en-GB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7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88" y="280800"/>
            <a:ext cx="11573393" cy="1003251"/>
          </a:xfrm>
        </p:spPr>
        <p:txBody>
          <a:bodyPr anchor="b">
            <a:noAutofit/>
          </a:bodyPr>
          <a:lstStyle/>
          <a:p>
            <a:pPr algn="l"/>
            <a:r>
              <a:rPr lang="en-GB" sz="3200" b="1" i="0" dirty="0" err="1">
                <a:solidFill>
                  <a:srgbClr val="FFFF00"/>
                </a:solidFill>
                <a:effectLst/>
                <a:latin typeface="Arial"/>
                <a:cs typeface="Arial"/>
              </a:rPr>
              <a:t>Stengths</a:t>
            </a:r>
            <a:r>
              <a:rPr lang="en-GB" sz="32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 of LONGITUDINAL PLACEMENTS model:</a:t>
            </a:r>
            <a:endParaRPr lang="en-GB" sz="32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896" y="1364903"/>
            <a:ext cx="11045832" cy="3995037"/>
          </a:xfrm>
        </p:spPr>
        <p:txBody>
          <a:bodyPr>
            <a:normAutofit/>
          </a:bodyPr>
          <a:lstStyle/>
          <a:p>
            <a:pPr algn="l"/>
            <a:r>
              <a:rPr lang="en-GB" sz="2000" dirty="0">
                <a:effectLst/>
                <a:latin typeface="Arial"/>
                <a:cs typeface="Arial"/>
              </a:rPr>
              <a:t>Strengths</a:t>
            </a:r>
          </a:p>
          <a:p>
            <a:pPr marL="457200" indent="-457200" algn="l">
              <a:buAutoNum type="arabicPeriod"/>
            </a:pPr>
            <a:r>
              <a:rPr lang="en-GB" sz="2000" dirty="0">
                <a:effectLst/>
                <a:latin typeface="Arial"/>
                <a:cs typeface="Arial"/>
              </a:rPr>
              <a:t>Opportunity to apply knowledge and skills in clinical settings early on.</a:t>
            </a:r>
          </a:p>
          <a:p>
            <a:pPr marL="457200" indent="-457200" algn="l">
              <a:buAutoNum type="arabicPeriod"/>
            </a:pPr>
            <a:r>
              <a:rPr lang="en-GB" sz="2000" dirty="0">
                <a:effectLst/>
                <a:latin typeface="Arial"/>
                <a:cs typeface="Arial"/>
              </a:rPr>
              <a:t>Follow patients’ journey for a longer period</a:t>
            </a:r>
          </a:p>
          <a:p>
            <a:pPr marL="457200" indent="-457200" algn="l">
              <a:buAutoNum type="arabicPeriod"/>
            </a:pPr>
            <a:r>
              <a:rPr lang="en-GB" sz="2000" dirty="0">
                <a:effectLst/>
                <a:latin typeface="Arial"/>
                <a:cs typeface="Arial"/>
              </a:rPr>
              <a:t>Opened up under-utilised placement capacity</a:t>
            </a:r>
          </a:p>
          <a:p>
            <a:pPr marL="457200" indent="-457200" algn="l">
              <a:buAutoNum type="arabicPeriod"/>
            </a:pPr>
            <a:r>
              <a:rPr lang="en-GB" sz="2000" dirty="0">
                <a:effectLst/>
                <a:latin typeface="Arial"/>
                <a:cs typeface="Arial"/>
              </a:rPr>
              <a:t>Opportunities to shape students within a clinical setting</a:t>
            </a:r>
          </a:p>
          <a:p>
            <a:pPr marL="457200" indent="-457200" algn="l">
              <a:buAutoNum type="arabicPeriod"/>
            </a:pPr>
            <a:r>
              <a:rPr lang="en-GB" sz="2000" dirty="0">
                <a:effectLst/>
                <a:latin typeface="Arial"/>
                <a:cs typeface="Arial"/>
              </a:rPr>
              <a:t>Reduce overall placement requests for later on the course</a:t>
            </a: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5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88" y="280800"/>
            <a:ext cx="11573393" cy="1003251"/>
          </a:xfrm>
        </p:spPr>
        <p:txBody>
          <a:bodyPr anchor="b">
            <a:noAutofit/>
          </a:bodyPr>
          <a:lstStyle/>
          <a:p>
            <a:pPr algn="l"/>
            <a:r>
              <a:rPr lang="en-GB" sz="32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What to be mindful of:</a:t>
            </a:r>
            <a:endParaRPr lang="en-GB" sz="32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DA51F-2641-C5F7-AE3A-EC4DDBFBA61F}"/>
              </a:ext>
            </a:extLst>
          </p:cNvPr>
          <p:cNvSpPr txBox="1"/>
          <p:nvPr/>
        </p:nvSpPr>
        <p:spPr>
          <a:xfrm>
            <a:off x="554478" y="1381328"/>
            <a:ext cx="1111871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GB" sz="2400" dirty="0">
              <a:effectLst/>
              <a:latin typeface="Arial"/>
              <a:cs typeface="Arial"/>
            </a:endParaRPr>
          </a:p>
          <a:p>
            <a:pPr marL="457200" indent="-457200" algn="l">
              <a:buAutoNum type="arabicPeriod"/>
            </a:pPr>
            <a:r>
              <a:rPr lang="en-GB" sz="2400" dirty="0">
                <a:effectLst/>
                <a:latin typeface="Arial"/>
                <a:cs typeface="Arial"/>
              </a:rPr>
              <a:t>Students are in over a longer period</a:t>
            </a:r>
          </a:p>
          <a:p>
            <a:pPr marL="457200" indent="-457200" algn="l">
              <a:buAutoNum type="arabicPeriod"/>
            </a:pPr>
            <a:endParaRPr lang="en-GB" sz="2400" dirty="0">
              <a:effectLst/>
              <a:latin typeface="Arial"/>
              <a:cs typeface="Arial"/>
            </a:endParaRPr>
          </a:p>
          <a:p>
            <a:pPr marL="457200" indent="-457200" algn="l">
              <a:buAutoNum type="arabicPeriod"/>
            </a:pPr>
            <a:r>
              <a:rPr lang="en-GB" sz="2400" dirty="0">
                <a:effectLst/>
                <a:latin typeface="Arial"/>
                <a:cs typeface="Arial"/>
              </a:rPr>
              <a:t>Could be challenging for some clinical settings – e.g. ward based</a:t>
            </a:r>
          </a:p>
          <a:p>
            <a:pPr marL="457200" indent="-457200" algn="l">
              <a:buAutoNum type="arabicPeriod"/>
            </a:pPr>
            <a:endParaRPr lang="en-GB" sz="2400" dirty="0">
              <a:effectLst/>
              <a:latin typeface="Arial"/>
              <a:cs typeface="Arial"/>
            </a:endParaRPr>
          </a:p>
          <a:p>
            <a:pPr marL="457200" indent="-457200" algn="l">
              <a:buAutoNum type="arabicPeriod"/>
            </a:pPr>
            <a:r>
              <a:rPr lang="en-GB" sz="2400" dirty="0">
                <a:effectLst/>
                <a:latin typeface="Arial"/>
                <a:cs typeface="Arial"/>
              </a:rPr>
              <a:t>Could offer a different placement experience</a:t>
            </a:r>
          </a:p>
          <a:p>
            <a:pPr marL="457200" indent="-457200" algn="l">
              <a:buAutoNum type="arabicPeriod"/>
            </a:pPr>
            <a:endParaRPr lang="en-GB" sz="240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latin typeface="Arial"/>
              <a:cs typeface="Arial"/>
            </a:endParaRPr>
          </a:p>
          <a:p>
            <a:pPr marL="457200" indent="-457200" algn="l">
              <a:buAutoNum type="arabicPeriod"/>
            </a:pPr>
            <a:r>
              <a:rPr lang="en-GB" sz="2400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Innovative Novel Placement Idea: Optimise Link tutor and Practice educator support</a:t>
            </a:r>
            <a:endParaRPr lang="en-GB" sz="240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1667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69" y="278698"/>
            <a:ext cx="11211373" cy="738199"/>
          </a:xfrm>
        </p:spPr>
        <p:txBody>
          <a:bodyPr anchor="b">
            <a:noAutofit/>
          </a:bodyPr>
          <a:lstStyle/>
          <a:p>
            <a:pPr algn="l"/>
            <a:r>
              <a:rPr lang="en-GB" sz="40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Clinical simulation contents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FAB5FA7-3DC1-4F96-95FC-D88691513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469" y="1016897"/>
            <a:ext cx="5060479" cy="4695755"/>
          </a:xfrm>
        </p:spPr>
        <p:txBody>
          <a:bodyPr>
            <a:normAutofit/>
          </a:bodyPr>
          <a:lstStyle/>
          <a:p>
            <a:pPr algn="l"/>
            <a:r>
              <a:rPr lang="en-GB" b="1" u="sng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Clinical simulation group tasks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Learning Needs Assessment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Subjective History Taking/Problem lists identification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Prioritisation of clinical tasks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Clinical Reasoning tasks (MSK conditions)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Public Health Task</a:t>
            </a:r>
          </a:p>
          <a:p>
            <a:pPr algn="l"/>
            <a:endParaRPr lang="en-GB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F0E34C19-B8F1-A4F6-576C-335324ED2977}"/>
              </a:ext>
            </a:extLst>
          </p:cNvPr>
          <p:cNvSpPr txBox="1">
            <a:spLocks/>
          </p:cNvSpPr>
          <p:nvPr/>
        </p:nvSpPr>
        <p:spPr>
          <a:xfrm>
            <a:off x="5797685" y="1016897"/>
            <a:ext cx="5138299" cy="48481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u="sng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E-Learning for Health Learning Tasks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Safeguarding adults (Level 2) (SDL)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Safeguarding children (Level 2) SDL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Infection prevention and control (SDL)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Data Security Awareness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Making Every Contact Count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Completed Manual Handling Training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Basic Life Support Training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DBS Cleared</a:t>
            </a:r>
          </a:p>
          <a:p>
            <a:pPr algn="l"/>
            <a:r>
              <a:rPr lang="en-GB" dirty="0">
                <a:ln>
                  <a:solidFill>
                    <a:srgbClr val="000000">
                      <a:lumMod val="75000"/>
                      <a:lumOff val="25000"/>
                      <a:alpha val="10000"/>
                    </a:srgbClr>
                  </a:solidFill>
                </a:ln>
                <a:effectLst/>
                <a:latin typeface="Arial"/>
                <a:cs typeface="Arial"/>
              </a:rPr>
              <a:t>• Occupational Health Clearance</a:t>
            </a:r>
            <a:endParaRPr lang="en-GB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670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88" y="280800"/>
            <a:ext cx="11573393" cy="1003251"/>
          </a:xfrm>
        </p:spPr>
        <p:txBody>
          <a:bodyPr anchor="b">
            <a:noAutofit/>
          </a:bodyPr>
          <a:lstStyle/>
          <a:p>
            <a:pPr algn="l"/>
            <a:r>
              <a:rPr lang="en-GB" sz="32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References:</a:t>
            </a:r>
            <a:endParaRPr lang="en-GB" sz="32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/>
              <a:cs typeface="Arial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DA51F-2641-C5F7-AE3A-EC4DDBFBA61F}"/>
              </a:ext>
            </a:extLst>
          </p:cNvPr>
          <p:cNvSpPr txBox="1"/>
          <p:nvPr/>
        </p:nvSpPr>
        <p:spPr>
          <a:xfrm>
            <a:off x="364519" y="1381329"/>
            <a:ext cx="114629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effectLst/>
                <a:latin typeface="Arial"/>
                <a:cs typeface="Arial"/>
              </a:rPr>
              <a:t>Chartered Society of Physiotherapy (CSP), 2011. Code of professional values and behaviour. [online] Available at: https://www.csp.org.uk/publications/code-professional-values-behaviour [Accessed 6 September 2024].</a:t>
            </a:r>
          </a:p>
          <a:p>
            <a:pPr algn="l"/>
            <a:endParaRPr lang="en-GB" sz="2000" dirty="0">
              <a:latin typeface="Arial"/>
              <a:cs typeface="Arial"/>
            </a:endParaRPr>
          </a:p>
          <a:p>
            <a:pPr algn="l"/>
            <a:r>
              <a:rPr lang="en-GB" sz="2000" dirty="0">
                <a:effectLst/>
                <a:latin typeface="Arial"/>
                <a:cs typeface="Arial"/>
              </a:rPr>
              <a:t>Health and Care Professions Council (HCPC), 2013. Standards of conduct, performance and ethics. [online] Available at: https://www.hcpc-uk.org/standards/standards-of-conduct-performance-and-ethics/ [Accessed 6 September 2024].</a:t>
            </a:r>
          </a:p>
          <a:p>
            <a:pPr algn="l"/>
            <a:endParaRPr lang="en-GB" sz="2000" dirty="0">
              <a:latin typeface="Arial"/>
              <a:cs typeface="Arial"/>
            </a:endParaRPr>
          </a:p>
          <a:p>
            <a:pPr algn="l"/>
            <a:r>
              <a:rPr lang="en-GB" sz="2000" dirty="0">
                <a:effectLst/>
                <a:latin typeface="Arial"/>
                <a:cs typeface="Arial"/>
              </a:rPr>
              <a:t>Health and Care Professions Council (HCPC), 2014. Standards of education and training. [online] Available at: https://www.hcpc-uk.org/standards/standards-of-education-and-training/ [Accessed 6 September 2024].</a:t>
            </a:r>
          </a:p>
          <a:p>
            <a:pPr algn="l"/>
            <a:endParaRPr lang="en-GB" sz="2000" dirty="0">
              <a:latin typeface="Arial"/>
              <a:cs typeface="Arial"/>
            </a:endParaRPr>
          </a:p>
          <a:p>
            <a:pPr algn="l"/>
            <a:r>
              <a:rPr lang="en-GB" sz="2000" dirty="0">
                <a:effectLst/>
                <a:latin typeface="Arial"/>
                <a:cs typeface="Arial"/>
              </a:rPr>
              <a:t>Sorinola, I. and Onuegbu, N., 2024. Longitudinal Placement: Operational Principles. London Metropolitan University.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03016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847F59-5CC8-49D7-9297-49A947BF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108" y="2690801"/>
            <a:ext cx="11211373" cy="738199"/>
          </a:xfrm>
        </p:spPr>
        <p:txBody>
          <a:bodyPr anchor="b">
            <a:noAutofit/>
          </a:bodyPr>
          <a:lstStyle/>
          <a:p>
            <a:r>
              <a:rPr lang="en-GB" sz="3600" b="1" i="0" dirty="0">
                <a:solidFill>
                  <a:srgbClr val="FFFF00"/>
                </a:solidFill>
                <a:effectLst/>
                <a:latin typeface="Arial"/>
                <a:cs typeface="Arial"/>
              </a:rPr>
              <a:t>Any Questions? </a:t>
            </a:r>
            <a:endParaRPr lang="en-GB" sz="3600" b="1" i="0" dirty="0">
              <a:ln>
                <a:solidFill>
                  <a:srgbClr val="000000">
                    <a:lumMod val="75000"/>
                    <a:lumOff val="25000"/>
                    <a:alpha val="10000"/>
                  </a:srgbClr>
                </a:solidFill>
              </a:ln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he London Metropolitan University Logo.  A circle of dots arranged such to appear like the rays of the sun.  Next to this image are the words - London Metropolitan University.  ">
            <a:extLst>
              <a:ext uri="{FF2B5EF4-FFF2-40B4-BE49-F238E27FC236}">
                <a16:creationId xmlns:a16="http://schemas.microsoft.com/office/drawing/2014/main" id="{4F7BD5D3-060A-4ACF-814D-292D0D06B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11" y="6028675"/>
            <a:ext cx="2078570" cy="53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16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_2SEEDS">
      <a:dk1>
        <a:srgbClr val="000000"/>
      </a:dk1>
      <a:lt1>
        <a:srgbClr val="FFFFFF"/>
      </a:lt1>
      <a:dk2>
        <a:srgbClr val="243541"/>
      </a:dk2>
      <a:lt2>
        <a:srgbClr val="E8E4E2"/>
      </a:lt2>
      <a:accent1>
        <a:srgbClr val="3B80B1"/>
      </a:accent1>
      <a:accent2>
        <a:srgbClr val="46B2B2"/>
      </a:accent2>
      <a:accent3>
        <a:srgbClr val="4D61C3"/>
      </a:accent3>
      <a:accent4>
        <a:srgbClr val="B13B63"/>
      </a:accent4>
      <a:accent5>
        <a:srgbClr val="C3564D"/>
      </a:accent5>
      <a:accent6>
        <a:srgbClr val="B1763B"/>
      </a:accent6>
      <a:hlink>
        <a:srgbClr val="BA51C5"/>
      </a:hlink>
      <a:folHlink>
        <a:srgbClr val="7F7F7F"/>
      </a:folHlink>
    </a:clrScheme>
    <a:fontScheme name="Slate">
      <a:maj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c84a01b-aede-4370-8fa9-b7a959cab531" xsi:nil="true"/>
    <lcf76f155ced4ddcb4097134ff3c332f xmlns="c19d9144-cbe3-4b5d-a710-46ada0e8ff4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B57A6B9722DE4484E0FABA265746B5" ma:contentTypeVersion="15" ma:contentTypeDescription="Create a new document." ma:contentTypeScope="" ma:versionID="341e1f7a752c106204d1ebe5d3f3b305">
  <xsd:schema xmlns:xsd="http://www.w3.org/2001/XMLSchema" xmlns:xs="http://www.w3.org/2001/XMLSchema" xmlns:p="http://schemas.microsoft.com/office/2006/metadata/properties" xmlns:ns2="c19d9144-cbe3-4b5d-a710-46ada0e8ff40" xmlns:ns3="6c84a01b-aede-4370-8fa9-b7a959cab531" targetNamespace="http://schemas.microsoft.com/office/2006/metadata/properties" ma:root="true" ma:fieldsID="8019009bdd91a176b6846f2d186bc7fa" ns2:_="" ns3:_="">
    <xsd:import namespace="c19d9144-cbe3-4b5d-a710-46ada0e8ff40"/>
    <xsd:import namespace="6c84a01b-aede-4370-8fa9-b7a959cab5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d9144-cbe3-4b5d-a710-46ada0e8ff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157f23b-4936-4da1-b1a0-d7d41e84ed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4a01b-aede-4370-8fa9-b7a959cab53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0212087-951e-45e4-8ca2-10c3a363b24b}" ma:internalName="TaxCatchAll" ma:showField="CatchAllData" ma:web="6c84a01b-aede-4370-8fa9-b7a959cab5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A94EE6-BB10-4C0A-AA1D-C5D9064202CF}">
  <ds:schemaRefs>
    <ds:schemaRef ds:uri="http://schemas.microsoft.com/office/2006/metadata/properties"/>
    <ds:schemaRef ds:uri="http://schemas.microsoft.com/office/infopath/2007/PartnerControls"/>
    <ds:schemaRef ds:uri="6c84a01b-aede-4370-8fa9-b7a959cab531"/>
    <ds:schemaRef ds:uri="c19d9144-cbe3-4b5d-a710-46ada0e8ff40"/>
  </ds:schemaRefs>
</ds:datastoreItem>
</file>

<file path=customXml/itemProps2.xml><?xml version="1.0" encoding="utf-8"?>
<ds:datastoreItem xmlns:ds="http://schemas.openxmlformats.org/officeDocument/2006/customXml" ds:itemID="{E3437F6A-1939-496A-84A6-B337BF1262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71C023-518E-4E32-929B-269A28109D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9d9144-cbe3-4b5d-a710-46ada0e8ff40"/>
    <ds:schemaRef ds:uri="6c84a01b-aede-4370-8fa9-b7a959cab5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Microsoft Office PowerPoint</Application>
  <PresentationFormat>Widescreen</PresentationFormat>
  <Paragraphs>168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Goudy Old Style</vt:lpstr>
      <vt:lpstr>Wingdings 2</vt:lpstr>
      <vt:lpstr>SlateVTI</vt:lpstr>
      <vt:lpstr>Introduction to Longitudinal Placements: (Expectations of Students)  </vt:lpstr>
      <vt:lpstr>What will be covered today?</vt:lpstr>
      <vt:lpstr>Structure of Longitudinal Placements</vt:lpstr>
      <vt:lpstr>Structure of Longitudinal Placements</vt:lpstr>
      <vt:lpstr>Focus and Objectives:</vt:lpstr>
      <vt:lpstr>Learning Outcomes</vt:lpstr>
      <vt:lpstr>Assessment</vt:lpstr>
      <vt:lpstr>Support and Resources:</vt:lpstr>
      <vt:lpstr>Student Expectations:</vt:lpstr>
      <vt:lpstr>Stengths of LONGITUDINAL PLACEMENTS model:</vt:lpstr>
      <vt:lpstr>What to be mindful of:</vt:lpstr>
      <vt:lpstr>Clinical simulation contents</vt:lpstr>
      <vt:lpstr>References:</vt:lpstr>
      <vt:lpstr>Any Questions?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strategy-based approach to learning</dc:title>
  <dc:creator>Paul Guyver</dc:creator>
  <cp:lastModifiedBy>Ngozi Onuegbu</cp:lastModifiedBy>
  <cp:revision>372</cp:revision>
  <dcterms:created xsi:type="dcterms:W3CDTF">2020-06-23T10:19:50Z</dcterms:created>
  <dcterms:modified xsi:type="dcterms:W3CDTF">2024-09-13T12:50:08Z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0x010100DBB57A6B9722DE4484E0FABA265746B5</vt:lpwstr>
  </property>
  <property fmtid="{D5CDD505-2E9C-101B-9397-08002B2CF9AE}" pid="3" name="MediaServiceImageTags">
    <vt:lpwstr/>
  </property>
</Properties>
</file>