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4"/>
  </p:sldMasterIdLst>
  <p:notesMasterIdLst>
    <p:notesMasterId r:id="rId30"/>
  </p:notesMasterIdLst>
  <p:sldIdLst>
    <p:sldId id="295" r:id="rId5"/>
    <p:sldId id="257" r:id="rId6"/>
    <p:sldId id="302" r:id="rId7"/>
    <p:sldId id="283" r:id="rId8"/>
    <p:sldId id="258" r:id="rId9"/>
    <p:sldId id="297" r:id="rId10"/>
    <p:sldId id="303" r:id="rId11"/>
    <p:sldId id="263" r:id="rId12"/>
    <p:sldId id="304" r:id="rId13"/>
    <p:sldId id="264" r:id="rId14"/>
    <p:sldId id="260" r:id="rId15"/>
    <p:sldId id="286" r:id="rId16"/>
    <p:sldId id="293" r:id="rId17"/>
    <p:sldId id="305" r:id="rId18"/>
    <p:sldId id="261" r:id="rId19"/>
    <p:sldId id="306" r:id="rId20"/>
    <p:sldId id="291" r:id="rId21"/>
    <p:sldId id="307" r:id="rId22"/>
    <p:sldId id="298" r:id="rId23"/>
    <p:sldId id="299" r:id="rId24"/>
    <p:sldId id="300" r:id="rId25"/>
    <p:sldId id="301" r:id="rId26"/>
    <p:sldId id="287" r:id="rId27"/>
    <p:sldId id="294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7" autoAdjust="0"/>
    <p:restoredTop sz="96357" autoAdjust="0"/>
  </p:normalViewPr>
  <p:slideViewPr>
    <p:cSldViewPr snapToGrid="0">
      <p:cViewPr varScale="1">
        <p:scale>
          <a:sx n="103" d="100"/>
          <a:sy n="103" d="100"/>
        </p:scale>
        <p:origin x="114" y="2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79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7FF975-1184-424E-89AB-300E1E8D575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B846D5D-876D-419D-9271-36D8836B6860}">
      <dgm:prSet phldrT="[Text]"/>
      <dgm:spPr/>
      <dgm:t>
        <a:bodyPr/>
        <a:lstStyle/>
        <a:p>
          <a:r>
            <a:rPr lang="en-GB" dirty="0"/>
            <a:t>Who is in your Team?</a:t>
          </a:r>
        </a:p>
      </dgm:t>
    </dgm:pt>
    <dgm:pt modelId="{A47C894D-C434-4690-BA8E-3C04AB95ED2F}" type="parTrans" cxnId="{409BA104-7DCA-47B7-9A58-9FBA401F4756}">
      <dgm:prSet/>
      <dgm:spPr/>
      <dgm:t>
        <a:bodyPr/>
        <a:lstStyle/>
        <a:p>
          <a:endParaRPr lang="en-GB"/>
        </a:p>
      </dgm:t>
    </dgm:pt>
    <dgm:pt modelId="{E141E274-C46A-425C-B027-A1DE6897FA7A}" type="sibTrans" cxnId="{409BA104-7DCA-47B7-9A58-9FBA401F4756}">
      <dgm:prSet/>
      <dgm:spPr/>
      <dgm:t>
        <a:bodyPr/>
        <a:lstStyle/>
        <a:p>
          <a:endParaRPr lang="en-GB"/>
        </a:p>
      </dgm:t>
    </dgm:pt>
    <dgm:pt modelId="{44970969-E4D7-4372-A463-D9602E384B1C}">
      <dgm:prSet phldrT="[Text]"/>
      <dgm:spPr/>
      <dgm:t>
        <a:bodyPr/>
        <a:lstStyle/>
        <a:p>
          <a:r>
            <a:rPr lang="en-GB" dirty="0"/>
            <a:t>What are their roles?</a:t>
          </a:r>
        </a:p>
      </dgm:t>
    </dgm:pt>
    <dgm:pt modelId="{EC1FDF37-7420-4432-A41F-E3DA0407B501}" type="parTrans" cxnId="{4A61017F-2E84-46DC-9208-8B87F39CE483}">
      <dgm:prSet/>
      <dgm:spPr/>
      <dgm:t>
        <a:bodyPr/>
        <a:lstStyle/>
        <a:p>
          <a:endParaRPr lang="en-GB"/>
        </a:p>
      </dgm:t>
    </dgm:pt>
    <dgm:pt modelId="{22D31BE5-96F1-4500-9E10-316FBC84F01D}" type="sibTrans" cxnId="{4A61017F-2E84-46DC-9208-8B87F39CE483}">
      <dgm:prSet/>
      <dgm:spPr/>
      <dgm:t>
        <a:bodyPr/>
        <a:lstStyle/>
        <a:p>
          <a:endParaRPr lang="en-GB"/>
        </a:p>
      </dgm:t>
    </dgm:pt>
    <dgm:pt modelId="{DC98C25E-AFA8-4154-ACDC-79927EACC0E1}">
      <dgm:prSet phldrT="[Text]"/>
      <dgm:spPr/>
      <dgm:t>
        <a:bodyPr/>
        <a:lstStyle/>
        <a:p>
          <a:r>
            <a:rPr lang="en-GB" dirty="0"/>
            <a:t>How can you work together?</a:t>
          </a:r>
        </a:p>
      </dgm:t>
    </dgm:pt>
    <dgm:pt modelId="{0C243F6D-6E9C-4B93-A0EE-4ADC8AF3D237}" type="parTrans" cxnId="{A7273D84-DB6F-4489-AFBE-7CBFA057FBF5}">
      <dgm:prSet/>
      <dgm:spPr/>
      <dgm:t>
        <a:bodyPr/>
        <a:lstStyle/>
        <a:p>
          <a:endParaRPr lang="en-GB"/>
        </a:p>
      </dgm:t>
    </dgm:pt>
    <dgm:pt modelId="{74A66E3B-A61E-47C0-9510-BBBF51F0F8D5}" type="sibTrans" cxnId="{A7273D84-DB6F-4489-AFBE-7CBFA057FBF5}">
      <dgm:prSet/>
      <dgm:spPr/>
      <dgm:t>
        <a:bodyPr/>
        <a:lstStyle/>
        <a:p>
          <a:endParaRPr lang="en-GB"/>
        </a:p>
      </dgm:t>
    </dgm:pt>
    <dgm:pt modelId="{09F0AE0D-E951-427C-9E3D-68BCC90ADF47}" type="pres">
      <dgm:prSet presAssocID="{D17FF975-1184-424E-89AB-300E1E8D575A}" presName="linear" presStyleCnt="0">
        <dgm:presLayoutVars>
          <dgm:dir/>
          <dgm:animLvl val="lvl"/>
          <dgm:resizeHandles val="exact"/>
        </dgm:presLayoutVars>
      </dgm:prSet>
      <dgm:spPr/>
    </dgm:pt>
    <dgm:pt modelId="{45853462-9547-417A-B799-BEE159D77BB6}" type="pres">
      <dgm:prSet presAssocID="{7B846D5D-876D-419D-9271-36D8836B6860}" presName="parentLin" presStyleCnt="0"/>
      <dgm:spPr/>
    </dgm:pt>
    <dgm:pt modelId="{A51B6AEF-C193-4A2F-8261-2677957DC56F}" type="pres">
      <dgm:prSet presAssocID="{7B846D5D-876D-419D-9271-36D8836B6860}" presName="parentLeftMargin" presStyleLbl="node1" presStyleIdx="0" presStyleCnt="3"/>
      <dgm:spPr/>
    </dgm:pt>
    <dgm:pt modelId="{65B44640-18FF-43EE-8C20-462CFA9F8A6D}" type="pres">
      <dgm:prSet presAssocID="{7B846D5D-876D-419D-9271-36D8836B686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374304-A030-4784-8420-45D3125A63CB}" type="pres">
      <dgm:prSet presAssocID="{7B846D5D-876D-419D-9271-36D8836B6860}" presName="negativeSpace" presStyleCnt="0"/>
      <dgm:spPr/>
    </dgm:pt>
    <dgm:pt modelId="{9853E9A9-BD61-4051-A935-10F8186FC619}" type="pres">
      <dgm:prSet presAssocID="{7B846D5D-876D-419D-9271-36D8836B6860}" presName="childText" presStyleLbl="conFgAcc1" presStyleIdx="0" presStyleCnt="3">
        <dgm:presLayoutVars>
          <dgm:bulletEnabled val="1"/>
        </dgm:presLayoutVars>
      </dgm:prSet>
      <dgm:spPr/>
    </dgm:pt>
    <dgm:pt modelId="{7612FDB7-0AC1-4358-9EB9-4502105F84AD}" type="pres">
      <dgm:prSet presAssocID="{E141E274-C46A-425C-B027-A1DE6897FA7A}" presName="spaceBetweenRectangles" presStyleCnt="0"/>
      <dgm:spPr/>
    </dgm:pt>
    <dgm:pt modelId="{C9096FA0-CF7B-4988-8655-17A4934F036D}" type="pres">
      <dgm:prSet presAssocID="{44970969-E4D7-4372-A463-D9602E384B1C}" presName="parentLin" presStyleCnt="0"/>
      <dgm:spPr/>
    </dgm:pt>
    <dgm:pt modelId="{5E9D12EC-B3A8-4189-8CD3-10036C9EFF66}" type="pres">
      <dgm:prSet presAssocID="{44970969-E4D7-4372-A463-D9602E384B1C}" presName="parentLeftMargin" presStyleLbl="node1" presStyleIdx="0" presStyleCnt="3"/>
      <dgm:spPr/>
    </dgm:pt>
    <dgm:pt modelId="{5D7E722A-3B71-4556-9F62-C1AB742AFF1D}" type="pres">
      <dgm:prSet presAssocID="{44970969-E4D7-4372-A463-D9602E384B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7C893C-5FA2-47B6-BF54-0BC7A1B26965}" type="pres">
      <dgm:prSet presAssocID="{44970969-E4D7-4372-A463-D9602E384B1C}" presName="negativeSpace" presStyleCnt="0"/>
      <dgm:spPr/>
    </dgm:pt>
    <dgm:pt modelId="{445A20A4-A241-4193-951E-875FCEB43A64}" type="pres">
      <dgm:prSet presAssocID="{44970969-E4D7-4372-A463-D9602E384B1C}" presName="childText" presStyleLbl="conFgAcc1" presStyleIdx="1" presStyleCnt="3">
        <dgm:presLayoutVars>
          <dgm:bulletEnabled val="1"/>
        </dgm:presLayoutVars>
      </dgm:prSet>
      <dgm:spPr/>
    </dgm:pt>
    <dgm:pt modelId="{2F538E57-327A-47FF-BFA0-D6FAB0E20C5E}" type="pres">
      <dgm:prSet presAssocID="{22D31BE5-96F1-4500-9E10-316FBC84F01D}" presName="spaceBetweenRectangles" presStyleCnt="0"/>
      <dgm:spPr/>
    </dgm:pt>
    <dgm:pt modelId="{A3CC30D9-8038-4E1D-8B7C-EEE0AF604E2B}" type="pres">
      <dgm:prSet presAssocID="{DC98C25E-AFA8-4154-ACDC-79927EACC0E1}" presName="parentLin" presStyleCnt="0"/>
      <dgm:spPr/>
    </dgm:pt>
    <dgm:pt modelId="{A8C2C60F-090D-4C3B-B265-B1887801480D}" type="pres">
      <dgm:prSet presAssocID="{DC98C25E-AFA8-4154-ACDC-79927EACC0E1}" presName="parentLeftMargin" presStyleLbl="node1" presStyleIdx="1" presStyleCnt="3"/>
      <dgm:spPr/>
    </dgm:pt>
    <dgm:pt modelId="{8E9E642D-CC0C-4012-BB83-8E3C4118352A}" type="pres">
      <dgm:prSet presAssocID="{DC98C25E-AFA8-4154-ACDC-79927EACC0E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C278E6F-49DC-47B0-AAD6-BCD3472B8DFD}" type="pres">
      <dgm:prSet presAssocID="{DC98C25E-AFA8-4154-ACDC-79927EACC0E1}" presName="negativeSpace" presStyleCnt="0"/>
      <dgm:spPr/>
    </dgm:pt>
    <dgm:pt modelId="{D6BF4A22-F84E-4A04-B4A2-786823647706}" type="pres">
      <dgm:prSet presAssocID="{DC98C25E-AFA8-4154-ACDC-79927EACC0E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09BA104-7DCA-47B7-9A58-9FBA401F4756}" srcId="{D17FF975-1184-424E-89AB-300E1E8D575A}" destId="{7B846D5D-876D-419D-9271-36D8836B6860}" srcOrd="0" destOrd="0" parTransId="{A47C894D-C434-4690-BA8E-3C04AB95ED2F}" sibTransId="{E141E274-C46A-425C-B027-A1DE6897FA7A}"/>
    <dgm:cxn modelId="{D048ED18-0220-4E30-9C66-8818396BF391}" type="presOf" srcId="{7B846D5D-876D-419D-9271-36D8836B6860}" destId="{65B44640-18FF-43EE-8C20-462CFA9F8A6D}" srcOrd="1" destOrd="0" presId="urn:microsoft.com/office/officeart/2005/8/layout/list1"/>
    <dgm:cxn modelId="{3E20FE31-E732-4F95-A6A5-E8D2946330F3}" type="presOf" srcId="{DC98C25E-AFA8-4154-ACDC-79927EACC0E1}" destId="{A8C2C60F-090D-4C3B-B265-B1887801480D}" srcOrd="0" destOrd="0" presId="urn:microsoft.com/office/officeart/2005/8/layout/list1"/>
    <dgm:cxn modelId="{45994039-A7FC-46BB-86C8-31096B20B96D}" type="presOf" srcId="{44970969-E4D7-4372-A463-D9602E384B1C}" destId="{5D7E722A-3B71-4556-9F62-C1AB742AFF1D}" srcOrd="1" destOrd="0" presId="urn:microsoft.com/office/officeart/2005/8/layout/list1"/>
    <dgm:cxn modelId="{AD92063E-3803-40AA-8434-DF60658832F3}" type="presOf" srcId="{D17FF975-1184-424E-89AB-300E1E8D575A}" destId="{09F0AE0D-E951-427C-9E3D-68BCC90ADF47}" srcOrd="0" destOrd="0" presId="urn:microsoft.com/office/officeart/2005/8/layout/list1"/>
    <dgm:cxn modelId="{40C1B141-822E-4A59-BA99-9438BB68A78B}" type="presOf" srcId="{DC98C25E-AFA8-4154-ACDC-79927EACC0E1}" destId="{8E9E642D-CC0C-4012-BB83-8E3C4118352A}" srcOrd="1" destOrd="0" presId="urn:microsoft.com/office/officeart/2005/8/layout/list1"/>
    <dgm:cxn modelId="{4093694D-E55E-48D7-B784-A71A4DAFEFF2}" type="presOf" srcId="{44970969-E4D7-4372-A463-D9602E384B1C}" destId="{5E9D12EC-B3A8-4189-8CD3-10036C9EFF66}" srcOrd="0" destOrd="0" presId="urn:microsoft.com/office/officeart/2005/8/layout/list1"/>
    <dgm:cxn modelId="{4A61017F-2E84-46DC-9208-8B87F39CE483}" srcId="{D17FF975-1184-424E-89AB-300E1E8D575A}" destId="{44970969-E4D7-4372-A463-D9602E384B1C}" srcOrd="1" destOrd="0" parTransId="{EC1FDF37-7420-4432-A41F-E3DA0407B501}" sibTransId="{22D31BE5-96F1-4500-9E10-316FBC84F01D}"/>
    <dgm:cxn modelId="{A7273D84-DB6F-4489-AFBE-7CBFA057FBF5}" srcId="{D17FF975-1184-424E-89AB-300E1E8D575A}" destId="{DC98C25E-AFA8-4154-ACDC-79927EACC0E1}" srcOrd="2" destOrd="0" parTransId="{0C243F6D-6E9C-4B93-A0EE-4ADC8AF3D237}" sibTransId="{74A66E3B-A61E-47C0-9510-BBBF51F0F8D5}"/>
    <dgm:cxn modelId="{570B1FF4-473C-4719-8DCC-A97D71B70F0F}" type="presOf" srcId="{7B846D5D-876D-419D-9271-36D8836B6860}" destId="{A51B6AEF-C193-4A2F-8261-2677957DC56F}" srcOrd="0" destOrd="0" presId="urn:microsoft.com/office/officeart/2005/8/layout/list1"/>
    <dgm:cxn modelId="{E578CF50-AA43-4BEF-B8F0-2E2F5A23B611}" type="presParOf" srcId="{09F0AE0D-E951-427C-9E3D-68BCC90ADF47}" destId="{45853462-9547-417A-B799-BEE159D77BB6}" srcOrd="0" destOrd="0" presId="urn:microsoft.com/office/officeart/2005/8/layout/list1"/>
    <dgm:cxn modelId="{9CC114B1-5DF6-4CEE-9FBA-4A63EBBF57AC}" type="presParOf" srcId="{45853462-9547-417A-B799-BEE159D77BB6}" destId="{A51B6AEF-C193-4A2F-8261-2677957DC56F}" srcOrd="0" destOrd="0" presId="urn:microsoft.com/office/officeart/2005/8/layout/list1"/>
    <dgm:cxn modelId="{3D1D0C59-BE77-44E0-86E9-9702A15D9EB7}" type="presParOf" srcId="{45853462-9547-417A-B799-BEE159D77BB6}" destId="{65B44640-18FF-43EE-8C20-462CFA9F8A6D}" srcOrd="1" destOrd="0" presId="urn:microsoft.com/office/officeart/2005/8/layout/list1"/>
    <dgm:cxn modelId="{0D5EE2C3-2EBD-48C6-99A9-F703A217ABA6}" type="presParOf" srcId="{09F0AE0D-E951-427C-9E3D-68BCC90ADF47}" destId="{41374304-A030-4784-8420-45D3125A63CB}" srcOrd="1" destOrd="0" presId="urn:microsoft.com/office/officeart/2005/8/layout/list1"/>
    <dgm:cxn modelId="{03FB2F34-D238-4DB2-B9CE-C30D9058CB70}" type="presParOf" srcId="{09F0AE0D-E951-427C-9E3D-68BCC90ADF47}" destId="{9853E9A9-BD61-4051-A935-10F8186FC619}" srcOrd="2" destOrd="0" presId="urn:microsoft.com/office/officeart/2005/8/layout/list1"/>
    <dgm:cxn modelId="{2D54161D-3945-4E9E-BC60-1CA4CAF22230}" type="presParOf" srcId="{09F0AE0D-E951-427C-9E3D-68BCC90ADF47}" destId="{7612FDB7-0AC1-4358-9EB9-4502105F84AD}" srcOrd="3" destOrd="0" presId="urn:microsoft.com/office/officeart/2005/8/layout/list1"/>
    <dgm:cxn modelId="{A429D3CF-5E8E-4FA5-AAE1-F58AB06DE567}" type="presParOf" srcId="{09F0AE0D-E951-427C-9E3D-68BCC90ADF47}" destId="{C9096FA0-CF7B-4988-8655-17A4934F036D}" srcOrd="4" destOrd="0" presId="urn:microsoft.com/office/officeart/2005/8/layout/list1"/>
    <dgm:cxn modelId="{7CE77AFA-D609-4A57-8DE6-FDE59868E4E7}" type="presParOf" srcId="{C9096FA0-CF7B-4988-8655-17A4934F036D}" destId="{5E9D12EC-B3A8-4189-8CD3-10036C9EFF66}" srcOrd="0" destOrd="0" presId="urn:microsoft.com/office/officeart/2005/8/layout/list1"/>
    <dgm:cxn modelId="{3D6F3DA8-D463-4ACF-931A-63D02E69F3AE}" type="presParOf" srcId="{C9096FA0-CF7B-4988-8655-17A4934F036D}" destId="{5D7E722A-3B71-4556-9F62-C1AB742AFF1D}" srcOrd="1" destOrd="0" presId="urn:microsoft.com/office/officeart/2005/8/layout/list1"/>
    <dgm:cxn modelId="{BC1F523B-054C-4DCE-8DF0-07E0BE44D253}" type="presParOf" srcId="{09F0AE0D-E951-427C-9E3D-68BCC90ADF47}" destId="{597C893C-5FA2-47B6-BF54-0BC7A1B26965}" srcOrd="5" destOrd="0" presId="urn:microsoft.com/office/officeart/2005/8/layout/list1"/>
    <dgm:cxn modelId="{4515AF95-88AE-4B58-93F3-9286C5267A45}" type="presParOf" srcId="{09F0AE0D-E951-427C-9E3D-68BCC90ADF47}" destId="{445A20A4-A241-4193-951E-875FCEB43A64}" srcOrd="6" destOrd="0" presId="urn:microsoft.com/office/officeart/2005/8/layout/list1"/>
    <dgm:cxn modelId="{A001146A-667A-4708-AE58-9F044B8403BB}" type="presParOf" srcId="{09F0AE0D-E951-427C-9E3D-68BCC90ADF47}" destId="{2F538E57-327A-47FF-BFA0-D6FAB0E20C5E}" srcOrd="7" destOrd="0" presId="urn:microsoft.com/office/officeart/2005/8/layout/list1"/>
    <dgm:cxn modelId="{A5F76E07-F334-4281-8798-EB87976FEDA1}" type="presParOf" srcId="{09F0AE0D-E951-427C-9E3D-68BCC90ADF47}" destId="{A3CC30D9-8038-4E1D-8B7C-EEE0AF604E2B}" srcOrd="8" destOrd="0" presId="urn:microsoft.com/office/officeart/2005/8/layout/list1"/>
    <dgm:cxn modelId="{0ECA7E64-139B-49D4-8D1E-9D367FECD770}" type="presParOf" srcId="{A3CC30D9-8038-4E1D-8B7C-EEE0AF604E2B}" destId="{A8C2C60F-090D-4C3B-B265-B1887801480D}" srcOrd="0" destOrd="0" presId="urn:microsoft.com/office/officeart/2005/8/layout/list1"/>
    <dgm:cxn modelId="{F78BDEA9-C6E8-4F87-81DC-F6851405C4CD}" type="presParOf" srcId="{A3CC30D9-8038-4E1D-8B7C-EEE0AF604E2B}" destId="{8E9E642D-CC0C-4012-BB83-8E3C4118352A}" srcOrd="1" destOrd="0" presId="urn:microsoft.com/office/officeart/2005/8/layout/list1"/>
    <dgm:cxn modelId="{417710E6-2E75-4F76-B06A-C3A516718AC3}" type="presParOf" srcId="{09F0AE0D-E951-427C-9E3D-68BCC90ADF47}" destId="{BC278E6F-49DC-47B0-AAD6-BCD3472B8DFD}" srcOrd="9" destOrd="0" presId="urn:microsoft.com/office/officeart/2005/8/layout/list1"/>
    <dgm:cxn modelId="{BD8EABC2-D40D-4A27-A75E-9D758012C182}" type="presParOf" srcId="{09F0AE0D-E951-427C-9E3D-68BCC90ADF47}" destId="{D6BF4A22-F84E-4A04-B4A2-78682364770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53E9A9-BD61-4051-A935-10F8186FC619}">
      <dsp:nvSpPr>
        <dsp:cNvPr id="0" name=""/>
        <dsp:cNvSpPr/>
      </dsp:nvSpPr>
      <dsp:spPr>
        <a:xfrm>
          <a:off x="0" y="300692"/>
          <a:ext cx="234405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44640-18FF-43EE-8C20-462CFA9F8A6D}">
      <dsp:nvSpPr>
        <dsp:cNvPr id="0" name=""/>
        <dsp:cNvSpPr/>
      </dsp:nvSpPr>
      <dsp:spPr>
        <a:xfrm>
          <a:off x="117202" y="153092"/>
          <a:ext cx="1640839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20" tIns="0" rIns="6202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Who is in your Team?</a:t>
          </a:r>
        </a:p>
      </dsp:txBody>
      <dsp:txXfrm>
        <a:off x="131612" y="167502"/>
        <a:ext cx="1612019" cy="266380"/>
      </dsp:txXfrm>
    </dsp:sp>
    <dsp:sp modelId="{445A20A4-A241-4193-951E-875FCEB43A64}">
      <dsp:nvSpPr>
        <dsp:cNvPr id="0" name=""/>
        <dsp:cNvSpPr/>
      </dsp:nvSpPr>
      <dsp:spPr>
        <a:xfrm>
          <a:off x="0" y="754293"/>
          <a:ext cx="234405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E722A-3B71-4556-9F62-C1AB742AFF1D}">
      <dsp:nvSpPr>
        <dsp:cNvPr id="0" name=""/>
        <dsp:cNvSpPr/>
      </dsp:nvSpPr>
      <dsp:spPr>
        <a:xfrm>
          <a:off x="117202" y="606692"/>
          <a:ext cx="1640839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20" tIns="0" rIns="6202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What are their roles?</a:t>
          </a:r>
        </a:p>
      </dsp:txBody>
      <dsp:txXfrm>
        <a:off x="131612" y="621102"/>
        <a:ext cx="1612019" cy="266380"/>
      </dsp:txXfrm>
    </dsp:sp>
    <dsp:sp modelId="{D6BF4A22-F84E-4A04-B4A2-786823647706}">
      <dsp:nvSpPr>
        <dsp:cNvPr id="0" name=""/>
        <dsp:cNvSpPr/>
      </dsp:nvSpPr>
      <dsp:spPr>
        <a:xfrm>
          <a:off x="0" y="1207893"/>
          <a:ext cx="234405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E642D-CC0C-4012-BB83-8E3C4118352A}">
      <dsp:nvSpPr>
        <dsp:cNvPr id="0" name=""/>
        <dsp:cNvSpPr/>
      </dsp:nvSpPr>
      <dsp:spPr>
        <a:xfrm>
          <a:off x="117202" y="1060293"/>
          <a:ext cx="1640839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020" tIns="0" rIns="6202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How can you work together?</a:t>
          </a:r>
        </a:p>
      </dsp:txBody>
      <dsp:txXfrm>
        <a:off x="131612" y="1074703"/>
        <a:ext cx="1612019" cy="266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6A27E-3807-4A4A-A560-31B75FDB3C35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8EBB1-BD05-49BB-BDAF-2E2DEAF409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20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410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645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948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Identifying your own learning needs is really important. Why? Because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when you have done this, you are much more likely to change your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practice than if you were purely being ‘told what to do’. This process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can be challenging; but as it is personal to you, your motivation to learn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increases as a result.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166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As a student, your practice educator is there to guide and develop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you. They should provide you with regular feedback throughout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your placement and are key to helping you become a competent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physiotherapist. How you seek feedback, take it on board, reflect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and change your practice as a result is crucial.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125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Being organised means you are taking responsibility in planning your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own workload by prioritising the tasks that need to be completed first.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How can you do this? Think of it as a To-do list for the day; you may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want to rank the tasks in order of priority and add a deadline.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446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Communication is the most important skill of a physiotherapist.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It’s how we interact with people. When effective, it makes everybody’s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experience more positive; empowering others and building strong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relationships. When ineffective it does just the opposite.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90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Who is in your team? This may include your practice educator, other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therapists, other medical professionals, support workers, reception and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admin staff and so on. Take time to get to know their unique roles and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what they bring to the team. This will enable you to better understand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both their contributions as well as yours – no matter the setting.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754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Many factors affect the health of individuals and communities. ‘Health is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complex - many factors affect the health of individuals and communities.’ </a:t>
            </a:r>
            <a:endParaRPr lang="en-GB" dirty="0"/>
          </a:p>
          <a:p>
            <a:r>
              <a:rPr lang="en-GB" sz="1800" i="1" dirty="0">
                <a:solidFill>
                  <a:srgbClr val="894E99"/>
                </a:solidFill>
                <a:effectLst/>
                <a:latin typeface="FSAlbert-LightItalic"/>
              </a:rPr>
              <a:t>• Genetics </a:t>
            </a:r>
            <a:endParaRPr lang="en-GB" dirty="0"/>
          </a:p>
          <a:p>
            <a:r>
              <a:rPr lang="en-GB" sz="1800" i="1" dirty="0">
                <a:solidFill>
                  <a:srgbClr val="894E99"/>
                </a:solidFill>
                <a:effectLst/>
                <a:latin typeface="FSAlbert-LightItalic"/>
              </a:rPr>
              <a:t>• Ethnicity </a:t>
            </a:r>
            <a:endParaRPr lang="en-GB" dirty="0"/>
          </a:p>
          <a:p>
            <a:r>
              <a:rPr lang="en-GB" sz="1800" i="1" dirty="0">
                <a:solidFill>
                  <a:srgbClr val="894E99"/>
                </a:solidFill>
                <a:effectLst/>
                <a:latin typeface="FSAlbert-LightItalic"/>
              </a:rPr>
              <a:t>• The physical environment </a:t>
            </a:r>
            <a:endParaRPr lang="en-GB" dirty="0"/>
          </a:p>
          <a:p>
            <a:r>
              <a:rPr lang="en-GB" sz="1800" i="1" dirty="0">
                <a:solidFill>
                  <a:srgbClr val="894E99"/>
                </a:solidFill>
                <a:effectLst/>
                <a:latin typeface="FSAlbert-LightItalic"/>
              </a:rPr>
              <a:t>• The social environment </a:t>
            </a:r>
            <a:endParaRPr lang="en-GB" dirty="0"/>
          </a:p>
          <a:p>
            <a:r>
              <a:rPr lang="en-GB" sz="1800" i="1" dirty="0">
                <a:solidFill>
                  <a:srgbClr val="894E99"/>
                </a:solidFill>
                <a:effectLst/>
                <a:latin typeface="FSAlbert-LightItalic"/>
              </a:rPr>
              <a:t>• Health related behaviours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If we think about these determinants we can really begin to understand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the effect they can have on an individual’s health, the health of a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community and even the health of populations.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191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Think about what information you gather whilst on placement. This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may include subjective and objective assessments, literature searches,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polls, questionnaires and focus groups among many other examples.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This means that there is a lot of information for you to then analyse.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013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198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Reasoning is fundamental to physiotherapy practice and is a skill that we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will continue to develop as we learn and gain more experience. To put it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simply, this is your ability to analyse information, evaluate its meaning,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and decide the best course of action or intervention.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053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In a clinical placement, in person or remote, this includes your record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keeping – more commonly referred to as ‘patient notes’. Once qualified,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you will have a professional and legal obligation to keep an accurate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record of your interactions with patients. If no record is made, the law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may consider the events not to have happened.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This domain is also very relevant on a non-patient facing placement,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although it may be a bit trickier for you to picture how. We will explore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this together and discuss how we make sure our recorded information </a:t>
            </a:r>
            <a:endParaRPr lang="en-GB" dirty="0"/>
          </a:p>
          <a:p>
            <a:r>
              <a:rPr lang="en-GB" sz="1800" dirty="0">
                <a:solidFill>
                  <a:srgbClr val="2B2271"/>
                </a:solidFill>
                <a:effectLst/>
                <a:latin typeface="FSAlbert"/>
              </a:rPr>
              <a:t>is organised, understandable and accurate below.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657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168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101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660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87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854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49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6315-8720-EF67-46FF-97AEF6EFD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80F31-6747-C1A0-AC2D-521B13302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16B4F-32A4-7060-2AC4-C8497887B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FB781-DEC2-4156-82BA-5971F06E8CE6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EC458-F42E-568D-4F54-85EDAC94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CA4CD-54BD-88F8-E7D7-0CE69FC1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4CF3-6E09-4CEF-A289-7C99434506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995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0888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31" r:id="rId2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800" i="1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2CA733A-8D25-4E63-8273-CC14052E0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40ACD-DAF4-865A-38D3-32DCE1C2B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232" y="4406537"/>
            <a:ext cx="11297652" cy="1088336"/>
          </a:xfrm>
        </p:spPr>
        <p:txBody>
          <a:bodyPr>
            <a:noAutofit/>
          </a:bodyPr>
          <a:lstStyle/>
          <a:p>
            <a:r>
              <a:rPr lang="en-GB" i="0" dirty="0">
                <a:effectLst/>
                <a:latin typeface="Aptos" panose="020B0004020202020204" pitchFamily="34" charset="0"/>
              </a:rPr>
              <a:t>Exploring the CPAF Learning Domains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D4E3C-9693-62CC-293E-7750765ED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5601650"/>
            <a:ext cx="9440034" cy="6216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dirty="0">
                <a:latin typeface="Aptos" panose="020B0004020202020204" pitchFamily="34" charset="0"/>
              </a:rPr>
              <a:t>Ngozi Onuegbu PhD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Aptos" panose="020B0004020202020204" pitchFamily="34" charset="0"/>
              </a:rPr>
              <a:t>PT5W50/PT4W50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FB581C-2142-4222-9A3B-905AD6C0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5B3542-F40D-FD24-AB3F-391248A51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256350"/>
            <a:ext cx="5130799" cy="207797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50CB42-2459-4324-95ED-6936C456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609536"/>
            <a:ext cx="0" cy="137160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0F2E772-88BF-AAE0-1E1C-1957E9370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733" y="1282004"/>
            <a:ext cx="5130800" cy="2026665"/>
          </a:xfrm>
          <a:prstGeom prst="rect">
            <a:avLst/>
          </a:prstGeom>
        </p:spPr>
      </p:pic>
      <p:pic>
        <p:nvPicPr>
          <p:cNvPr id="4" name="Picture 3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FCE55F7F-4C02-1EF1-4CD6-D4F2C741C5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5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520" y="330120"/>
            <a:ext cx="11509112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Learning Objectives</a:t>
            </a:r>
            <a:endParaRPr lang="en-GB" sz="36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4519" y="1352145"/>
            <a:ext cx="11509112" cy="4747097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Develop students' understanding of assessment in clinical placements.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Strengthen students’ knowledge of under pinning pedagogical reasoning that drives practice education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Enhance understanding of the role of professionalism, feedback and reflection in physiotherapy education.</a:t>
            </a: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040" y="319480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What will be covered today?</a:t>
            </a:r>
            <a:endParaRPr lang="en-GB" sz="3600" b="1" i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4519" y="1352145"/>
            <a:ext cx="11509112" cy="4747097"/>
          </a:xfrm>
        </p:spPr>
        <p:txBody>
          <a:bodyPr>
            <a:normAutofit fontScale="85000" lnSpcReduction="20000"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Independent learning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Seeking, reflecting on and responding to feedback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Organisation and prioritisation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Communication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Working with others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Individuals, communities, and populations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Gathering and analysing information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Evidence based practice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Reasoning and intervention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>
                <a:effectLst/>
                <a:latin typeface="Arial"/>
                <a:cs typeface="Arial"/>
              </a:rPr>
              <a:t>Recording information</a:t>
            </a:r>
            <a:endParaRPr lang="en-GB" sz="280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4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897" y="752957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Introduction to Learning Domains in Physiotherapy Placements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04" y="1615044"/>
            <a:ext cx="11899075" cy="4413631"/>
          </a:xfrm>
        </p:spPr>
        <p:txBody>
          <a:bodyPr>
            <a:normAutofit lnSpcReduction="10000"/>
          </a:bodyPr>
          <a:lstStyle/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800" b="1" dirty="0">
                <a:effectLst/>
                <a:latin typeface="Arial"/>
                <a:cs typeface="Arial"/>
              </a:rPr>
              <a:t>Overview: 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Arial"/>
                <a:cs typeface="Arial"/>
              </a:rPr>
              <a:t>The Common Placement Assessment Form (CPAF) outlines 10 core learning domains assessing clinical and professional competencies during placements.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dirty="0">
              <a:effectLst/>
              <a:latin typeface="Arial"/>
              <a:cs typeface="Arial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800" b="1" dirty="0">
                <a:effectLst/>
                <a:latin typeface="Arial"/>
                <a:cs typeface="Arial"/>
              </a:rPr>
              <a:t>Framework: 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Arial"/>
                <a:cs typeface="Arial"/>
              </a:rPr>
              <a:t>These domains align with HCPC standards and CSP professional values, ensuring students are prepared for clinical practice (HCPC, 2023; CSP, 2011).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dirty="0">
              <a:effectLst/>
              <a:latin typeface="Arial"/>
              <a:cs typeface="Arial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800" b="1" dirty="0">
                <a:effectLst/>
                <a:latin typeface="Arial"/>
                <a:cs typeface="Arial"/>
              </a:rPr>
              <a:t>Pedagogical Insight: 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Arial"/>
                <a:cs typeface="Arial"/>
              </a:rPr>
              <a:t>Biggs' (1996) Constructive Alignment emphasizes the need to align learning objectives, teaching methods, and assessments in clinical placements.</a:t>
            </a:r>
            <a:endParaRPr lang="en-GB" sz="1600" b="1" dirty="0">
              <a:effectLst/>
              <a:latin typeface="Arial"/>
              <a:cs typeface="Arial"/>
            </a:endParaRP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dirty="0">
              <a:effectLst/>
              <a:latin typeface="Arial"/>
              <a:cs typeface="Arial"/>
            </a:endParaRP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dirty="0">
              <a:effectLst/>
              <a:latin typeface="Arial"/>
              <a:cs typeface="Arial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9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C304-4006-D181-DEC2-9B7B05156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i="0">
                <a:effectLst/>
                <a:latin typeface="Arial Black" panose="020B0A04020102020204" pitchFamily="34" charset="0"/>
              </a:rPr>
              <a:t>3 Key Learning Outcomes</a:t>
            </a:r>
            <a:endParaRPr lang="en-GB" i="0" dirty="0">
              <a:effectLst/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E0AC3-E3C5-89AB-6DC1-59A20CA3C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>
                <a:effectLst/>
                <a:latin typeface="Arial Black" panose="020B0A04020102020204" pitchFamily="34" charset="0"/>
              </a:rPr>
              <a:t>Personal Development</a:t>
            </a:r>
          </a:p>
          <a:p>
            <a:r>
              <a:rPr lang="en-GB">
                <a:effectLst/>
                <a:latin typeface="Arial Black" panose="020B0A04020102020204" pitchFamily="34" charset="0"/>
              </a:rPr>
              <a:t>Interpersonal Skills</a:t>
            </a:r>
          </a:p>
          <a:p>
            <a:r>
              <a:rPr lang="en-GB">
                <a:effectLst/>
                <a:latin typeface="Arial Black" panose="020B0A04020102020204" pitchFamily="34" charset="0"/>
              </a:rPr>
              <a:t>Decision Making and Implementation</a:t>
            </a:r>
            <a:endParaRPr lang="en-GB" dirty="0">
              <a:effectLst/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DA84B3-C93C-9CF5-126B-97033E49A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98" y="3811555"/>
            <a:ext cx="571500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37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3D9BD5-A493-4B97-963D-60135D533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F759AF4-E342-4E60-8A32-C44A328F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ln w="15875" cap="sq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0E7C3-291D-23FB-B42D-059DBED6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3" y="1023257"/>
            <a:ext cx="3732902" cy="4570457"/>
          </a:xfrm>
          <a:effectLst/>
        </p:spPr>
        <p:txBody>
          <a:bodyPr>
            <a:normAutofit/>
          </a:bodyPr>
          <a:lstStyle/>
          <a:p>
            <a:pPr algn="l"/>
            <a:r>
              <a:rPr lang="en-GB" i="0" dirty="0">
                <a:latin typeface="Aptos" panose="020B0004020202020204" pitchFamily="34" charset="0"/>
              </a:rPr>
              <a:t>Personal Development – Independent Learning</a:t>
            </a:r>
            <a:br>
              <a:rPr lang="en-GB" i="0" dirty="0">
                <a:latin typeface="Aptos" panose="020B0004020202020204" pitchFamily="34" charset="0"/>
              </a:rPr>
            </a:br>
            <a:endParaRPr lang="en-GB" i="0" dirty="0">
              <a:latin typeface="Aptos" panose="020B00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9B2805-6469-407A-A68A-BB85AC8A8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68371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05403-F13C-5E97-7319-581CAB95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09" y="673769"/>
            <a:ext cx="6571399" cy="5486400"/>
          </a:xfrm>
          <a:effectLst/>
        </p:spPr>
        <p:txBody>
          <a:bodyPr anchor="ctr">
            <a:normAutofit fontScale="92500" lnSpcReduction="10000"/>
          </a:bodyPr>
          <a:lstStyle/>
          <a:p>
            <a:r>
              <a:rPr lang="en-GB" sz="2800" dirty="0">
                <a:solidFill>
                  <a:schemeClr val="tx1"/>
                </a:solidFill>
                <a:latin typeface="Aptos" panose="020B0004020202020204" pitchFamily="34" charset="0"/>
              </a:rPr>
              <a:t>Competency: 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Aptos" panose="020B0004020202020204" pitchFamily="34" charset="0"/>
              </a:rPr>
              <a:t>Developing self-directed learning skills by actively seeking out learning opportunities and reflecting on clinical experiences.</a:t>
            </a:r>
          </a:p>
          <a:p>
            <a:r>
              <a:rPr lang="en-GB" sz="2800" dirty="0">
                <a:solidFill>
                  <a:schemeClr val="tx1"/>
                </a:solidFill>
                <a:latin typeface="Aptos" panose="020B0004020202020204" pitchFamily="34" charset="0"/>
              </a:rPr>
              <a:t>HCPC Guidelines: 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Aptos" panose="020B0004020202020204" pitchFamily="34" charset="0"/>
              </a:rPr>
              <a:t>HCPC (2023) emphasizes continual professional development and staying updated on physiotherapy advancements.</a:t>
            </a:r>
          </a:p>
          <a:p>
            <a:r>
              <a:rPr lang="en-GB" sz="2800" dirty="0">
                <a:solidFill>
                  <a:schemeClr val="tx1"/>
                </a:solidFill>
                <a:latin typeface="Aptos" panose="020B0004020202020204" pitchFamily="34" charset="0"/>
              </a:rPr>
              <a:t>Pedagogical Framework: 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Aptos" panose="020B0004020202020204" pitchFamily="34" charset="0"/>
              </a:rPr>
              <a:t>Kolb's (1984) Experiential Learning Cycle highlights "active experimentation," encouraging students to learn by doing in clinical environments.</a:t>
            </a:r>
          </a:p>
          <a:p>
            <a:endParaRPr lang="en-GB" sz="2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ED254-FC09-8B2C-7B34-313968C71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316" y="4800599"/>
            <a:ext cx="2123029" cy="160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77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CF7650-7342-48D6-999E-174C77B5F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356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2D286E-2458-46AD-B49E-911912F70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white and purple text on a white background&#10;&#10;Description automatically generated">
            <a:extLst>
              <a:ext uri="{FF2B5EF4-FFF2-40B4-BE49-F238E27FC236}">
                <a16:creationId xmlns:a16="http://schemas.microsoft.com/office/drawing/2014/main" id="{488C49CE-9F27-FB01-F38A-B7A09BC7E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85014" y="643467"/>
            <a:ext cx="902197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44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897" y="389657"/>
            <a:ext cx="11211373" cy="1011126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Personal Development – Seeking, Reflecting, and Responding to Feedback</a:t>
            </a:r>
            <a:endParaRPr lang="en-GB" sz="3600" b="1" i="0" dirty="0"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" y="1624519"/>
            <a:ext cx="11211372" cy="465954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Importance: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Feedback fosters critical self-reflection, ensuring students improve their clinical practices (HCPC, 2014).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Assessment: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Evaluates the ability to respond constructively to feedback and use it for skill development.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Pedagogical Insight: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Gibbs' (1988) Reflective Cycle supports a structured approach to reflection, crucial in healthcare for refining clinical practices.</a:t>
            </a:r>
            <a:endParaRPr lang="en-GB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9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0BD0B6B-A8B8-4BCA-9449-CB90DE123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356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0B1C-DA21-4877-A6BC-68469E675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B899A7-C6B6-0403-F6EB-8B23A6298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2106121"/>
            <a:ext cx="5372099" cy="2645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CA8A72-44B9-B294-AF95-E91C973781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26" b="3326"/>
          <a:stretch/>
        </p:blipFill>
        <p:spPr>
          <a:xfrm>
            <a:off x="6176433" y="2106121"/>
            <a:ext cx="5372099" cy="253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7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754" y="260778"/>
            <a:ext cx="11211373" cy="1113151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Personal Development – Organization and Prioritization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379" y="1373929"/>
            <a:ext cx="11448102" cy="3944519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Competency: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Effective time management and the ability to prioritize tasks are essential for patient care.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Assessment: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Students are evaluated on how they organize patient care and balance clinical responsibilities.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3">
                  <a:lumMod val="60000"/>
                  <a:lumOff val="40000"/>
                </a:schemeClr>
              </a:solidFill>
              <a:latin typeface="Arial"/>
            </a:endParaRPr>
          </a:p>
          <a:p>
            <a:pPr algn="l"/>
            <a:r>
              <a:rPr lang="en-GB" sz="2400" dirty="0">
                <a:effectLst/>
                <a:latin typeface="Arial"/>
                <a:cs typeface="Arial"/>
              </a:rPr>
              <a:t>CSP (2011) emphasizes prioritizing patient safety and treatment efficiency, while Moon (1999) supports reflective logs to improve organizational skills.</a:t>
            </a:r>
            <a:endParaRPr lang="en-GB" sz="2800" dirty="0">
              <a:solidFill>
                <a:schemeClr val="accent3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BE7928-02CB-6210-E497-C23371FD8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04" y="5514253"/>
            <a:ext cx="7058661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0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69" y="278698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40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Interpersonal Skills – Communication</a:t>
            </a:r>
            <a:endParaRPr lang="en-GB" sz="4000" b="1" i="0" dirty="0"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469" y="1196502"/>
            <a:ext cx="11525012" cy="4620638"/>
          </a:xfrm>
        </p:spPr>
        <p:txBody>
          <a:bodyPr>
            <a:norm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Competency: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Effective communication with patients and healthcare teams is essential for successful outcomes.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Assessment: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Evaluates clarity, empathy, and adaptability in verbal and non-verbal communication.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Theoretical Framework: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Vygotsky’s (1978) Social Development Theory highlights communication’s role in collaborative learning and development.</a:t>
            </a:r>
            <a:endParaRPr lang="en-GB" sz="280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4D0864-A44A-7174-3C09-A8BFF57D2B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938" t="6269" b="4411"/>
          <a:stretch/>
        </p:blipFill>
        <p:spPr>
          <a:xfrm>
            <a:off x="10664041" y="2410168"/>
            <a:ext cx="1225489" cy="1621464"/>
          </a:xfrm>
          <a:prstGeom prst="rect">
            <a:avLst/>
          </a:prstGeom>
          <a:scene3d>
            <a:camera prst="orthographicFront">
              <a:rot lat="0" lon="0" rev="20399999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143601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69" y="278698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40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 Interpersonal Skills – Working with Others</a:t>
            </a:r>
            <a:endParaRPr lang="en-GB" sz="4000" b="1" i="0" dirty="0"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468" y="1245140"/>
            <a:ext cx="11691735" cy="5194571"/>
          </a:xfrm>
        </p:spPr>
        <p:txBody>
          <a:bodyPr>
            <a:norm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Competency: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Collaboration in multidisciplinary teams is key to integrated patient care.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Assessment: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Evaluates teamwork, engagement in team meetings, and coordination with peers and other professionals.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Pedagogical Insight: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Bandura’s (1977) Social Learning Theory suggests that students learn by observing and collaborating with others, vital in healthcare.</a:t>
            </a:r>
            <a:endParaRPr lang="en-GB" sz="3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E6D0B31-E734-EA9C-AC9C-2087754D8C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1285074"/>
              </p:ext>
            </p:extLst>
          </p:nvPr>
        </p:nvGraphicFramePr>
        <p:xfrm>
          <a:off x="4411307" y="5222182"/>
          <a:ext cx="2344057" cy="1612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52491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69" y="278698"/>
            <a:ext cx="11211373" cy="1277728"/>
          </a:xfrm>
        </p:spPr>
        <p:txBody>
          <a:bodyPr anchor="b">
            <a:noAutofit/>
          </a:bodyPr>
          <a:lstStyle/>
          <a:p>
            <a:pPr algn="l"/>
            <a:r>
              <a:rPr lang="en-GB" sz="40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Interpersonal Skills – Individuals, Communities, and Populations</a:t>
            </a:r>
            <a:endParaRPr lang="en-GB" sz="4000" b="1" i="0" dirty="0"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468" y="1896893"/>
            <a:ext cx="11662553" cy="3813243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Competency: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Understanding health disparities and providing inclusive care.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Assessment: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Students must demonstrate adaptability to diverse patient needs, ensuring equitable care.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Pedagogical Reference: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Mezirow’s (1991) Transformative Learning theory stresses the importance of critical awareness in addressing public health challenges.</a:t>
            </a:r>
            <a:endParaRPr lang="en-GB" sz="3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7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CF7650-7342-48D6-999E-174C77B5F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356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2D286E-2458-46AD-B49E-911912F70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6633776-E34D-0B85-E2EF-E9E6EE6965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7572" y="643467"/>
            <a:ext cx="981685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45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1217260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Decision Making and Implementation – Gathering and Analysing Information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895" y="1702339"/>
            <a:ext cx="11433585" cy="3454677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000" dirty="0">
                <a:effectLst/>
                <a:latin typeface="Arial"/>
                <a:cs typeface="Arial"/>
              </a:rPr>
              <a:t>Competency: 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GB" sz="2600" dirty="0">
                <a:effectLst/>
                <a:latin typeface="Arial"/>
                <a:cs typeface="Arial"/>
              </a:rPr>
              <a:t>Ability to collect and assess patient data to guide interventions.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GB" sz="2600" dirty="0">
              <a:effectLst/>
              <a:latin typeface="Arial"/>
              <a:cs typeface="Arial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000" dirty="0">
                <a:effectLst/>
                <a:latin typeface="Arial"/>
                <a:cs typeface="Arial"/>
              </a:rPr>
              <a:t>Assessment: 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GB" sz="2600" dirty="0">
                <a:effectLst/>
                <a:latin typeface="Arial"/>
                <a:cs typeface="Arial"/>
              </a:rPr>
              <a:t>Evaluates students' ability to gather, analyse, and interpret patient 	information.</a:t>
            </a:r>
          </a:p>
          <a:p>
            <a:pPr algn="l"/>
            <a:endParaRPr lang="en-GB" sz="3000" dirty="0">
              <a:effectLst/>
              <a:latin typeface="Arial"/>
              <a:cs typeface="Arial"/>
            </a:endParaRPr>
          </a:p>
          <a:p>
            <a:pPr algn="l"/>
            <a:r>
              <a:rPr lang="en-GB" dirty="0">
                <a:effectLst/>
                <a:latin typeface="Arial"/>
                <a:cs typeface="Arial"/>
              </a:rPr>
              <a:t>Sackett et al. (1996) Evidence-Based Medicine underlines the importance of combining clinical data with research evidence for decision-making.</a:t>
            </a: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81F10-863A-015F-BFA2-C9C53C80D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967" y="5157016"/>
            <a:ext cx="7026885" cy="157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56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CF7650-7342-48D6-999E-174C77B5F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356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2D286E-2458-46AD-B49E-911912F70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D7AF3A-434C-5D59-251B-A9733D431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3445" y="643467"/>
            <a:ext cx="928511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91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1003251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Decision Making and Implementation – Evidence-Based Practice</a:t>
            </a:r>
            <a:endParaRPr lang="en-GB" sz="3200" b="1" i="0" dirty="0"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DA51F-2641-C5F7-AE3A-EC4DDBFBA61F}"/>
              </a:ext>
            </a:extLst>
          </p:cNvPr>
          <p:cNvSpPr txBox="1"/>
          <p:nvPr/>
        </p:nvSpPr>
        <p:spPr>
          <a:xfrm>
            <a:off x="554478" y="1381328"/>
            <a:ext cx="11118714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Competency: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Using research evidence to inform clinical interventions.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800" dirty="0">
              <a:effectLst/>
              <a:latin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Assessment: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Students must demonstrate integration of current research into their clinical decision-making.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800" dirty="0">
              <a:effectLst/>
              <a:latin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Pedagogical Framework: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Arial"/>
                <a:cs typeface="Arial"/>
              </a:rPr>
              <a:t>The Cochrane Collaboration (1999) promotes the use of systematic reviews to inform physiotherapy practices, ensuring evidence-based care.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16673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0DACFED-DFD9-4C03-9E95-FF6D8E639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8157" y="482600"/>
            <a:ext cx="11240496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CA5141-8120-4ADA-BCF1-3A4449FE6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8157" y="482600"/>
            <a:ext cx="11240496" cy="58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8C0633-DB11-18FE-63A9-E5C1B53AF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21" t="2527" r="10253"/>
          <a:stretch/>
        </p:blipFill>
        <p:spPr>
          <a:xfrm>
            <a:off x="1083234" y="804333"/>
            <a:ext cx="5947715" cy="5244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A1B5FA-99DB-B562-5B00-69BA44A13A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1" t="5856" r="7265" b="3896"/>
          <a:stretch/>
        </p:blipFill>
        <p:spPr>
          <a:xfrm>
            <a:off x="7083627" y="807321"/>
            <a:ext cx="4318483" cy="265550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655A5A-1DD8-9F15-B149-88D5241A9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089721" y="3589867"/>
            <a:ext cx="4318483" cy="226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79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1003251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Decision Making and Implementation – Clinical Reasoning and Intervention</a:t>
            </a:r>
            <a:endParaRPr lang="en-GB" sz="3200" b="1" i="0" dirty="0"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DA51F-2641-C5F7-AE3A-EC4DDBFBA61F}"/>
              </a:ext>
            </a:extLst>
          </p:cNvPr>
          <p:cNvSpPr txBox="1"/>
          <p:nvPr/>
        </p:nvSpPr>
        <p:spPr>
          <a:xfrm>
            <a:off x="476656" y="1284051"/>
            <a:ext cx="114883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Competency: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Demonstrating sound clinical reasoning to form treatment plans.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800" dirty="0">
              <a:effectLst/>
              <a:latin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Assessment: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Students are evaluated on their clinical decision-making and application of reasoning in patient interventions.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3200" dirty="0">
              <a:effectLst/>
              <a:latin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Pedagogical Insight: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Arial"/>
                <a:cs typeface="Arial"/>
              </a:rPr>
              <a:t>Schon’s (1983) Reflective Practitioner emphasizes reflective practice in clinical reasoning and decision-making, enabling students to refine their interventions.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35C43-7760-46CB-30E8-2ABA522996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99" t="7386" r="13966" b="6459"/>
          <a:stretch/>
        </p:blipFill>
        <p:spPr>
          <a:xfrm>
            <a:off x="7513305" y="5632935"/>
            <a:ext cx="1416215" cy="110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79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1003251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Decision Making and Implementation – Recording Information</a:t>
            </a:r>
            <a:endParaRPr lang="en-GB" sz="3200" b="1" i="0" dirty="0"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DA51F-2641-C5F7-AE3A-EC4DDBFBA61F}"/>
              </a:ext>
            </a:extLst>
          </p:cNvPr>
          <p:cNvSpPr txBox="1"/>
          <p:nvPr/>
        </p:nvSpPr>
        <p:spPr>
          <a:xfrm>
            <a:off x="554478" y="1381328"/>
            <a:ext cx="111187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Competency: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Accurate documentation of patient care, ensuring clarity and legal compliance.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3200" dirty="0">
              <a:effectLst/>
              <a:latin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Assessment: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Evaluates the completeness and professionalism of student documentation.</a:t>
            </a:r>
          </a:p>
          <a:p>
            <a:pPr algn="l"/>
            <a:endParaRPr lang="en-GB" sz="3200" dirty="0">
              <a:effectLst/>
              <a:latin typeface="Arial"/>
              <a:cs typeface="Arial"/>
            </a:endParaRPr>
          </a:p>
          <a:p>
            <a:pPr algn="l"/>
            <a:r>
              <a:rPr lang="en-GB" sz="2400" dirty="0">
                <a:effectLst/>
                <a:latin typeface="Arial"/>
                <a:cs typeface="Arial"/>
              </a:rPr>
              <a:t>HCPC (2023) highlights that clear, accurate, and timely record-keeping is a fundamental responsibility of healthcare professionals.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83DF6-B1E8-C0F2-67D3-E859884211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05" t="5768" r="8399" b="10156"/>
          <a:stretch/>
        </p:blipFill>
        <p:spPr>
          <a:xfrm>
            <a:off x="10130603" y="392888"/>
            <a:ext cx="1900975" cy="111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15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1003251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Professionalism and Learning Domains</a:t>
            </a:r>
            <a:endParaRPr lang="en-GB" sz="3200" b="1" i="0" dirty="0"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DA51F-2641-C5F7-AE3A-EC4DDBFBA61F}"/>
              </a:ext>
            </a:extLst>
          </p:cNvPr>
          <p:cNvSpPr txBox="1"/>
          <p:nvPr/>
        </p:nvSpPr>
        <p:spPr>
          <a:xfrm>
            <a:off x="554477" y="1381328"/>
            <a:ext cx="112730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Competency: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Demonstrating professionalism consistently across all domains.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800" dirty="0">
              <a:effectLst/>
              <a:latin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Assessment: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Students must show respect, accountability, and adherence to ethical and legal standards in clinical practice (HCPC, 2023).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800" dirty="0">
              <a:effectLst/>
              <a:latin typeface="Arial"/>
              <a:cs typeface="Arial"/>
            </a:endParaRPr>
          </a:p>
          <a:p>
            <a:pPr algn="l"/>
            <a:endParaRPr lang="en-GB" sz="2400" dirty="0">
              <a:effectLst/>
              <a:latin typeface="Arial"/>
              <a:cs typeface="Arial"/>
            </a:endParaRPr>
          </a:p>
          <a:p>
            <a:pPr algn="l"/>
            <a:r>
              <a:rPr lang="en-GB" sz="2400" dirty="0">
                <a:effectLst/>
                <a:latin typeface="Arial"/>
                <a:cs typeface="Arial"/>
              </a:rPr>
              <a:t>CSP (2011) and HCPC (2023) stress professional behaviours such as confidentiality, punctuality, and adherence to ethical guidelines.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347894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1003251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Continuous Feedback and Reflective Practice</a:t>
            </a: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DA51F-2641-C5F7-AE3A-EC4DDBFBA61F}"/>
              </a:ext>
            </a:extLst>
          </p:cNvPr>
          <p:cNvSpPr txBox="1"/>
          <p:nvPr/>
        </p:nvSpPr>
        <p:spPr>
          <a:xfrm>
            <a:off x="554477" y="1381328"/>
            <a:ext cx="113521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Competency: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Engaging with feedback for continuous self-improvement and professional growth.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3200" dirty="0">
              <a:effectLst/>
              <a:latin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Arial"/>
                <a:cs typeface="Arial"/>
              </a:rPr>
              <a:t>Assessment: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Continuous assessment is vital for developing self-reflection and integrating feedback to improve clinical practice (Kolb, 1984).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3200" dirty="0">
              <a:effectLst/>
              <a:latin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600" dirty="0">
                <a:effectLst/>
                <a:latin typeface="Arial"/>
                <a:cs typeface="Arial"/>
              </a:rPr>
              <a:t>Pedagogical Insight: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 err="1">
                <a:effectLst/>
                <a:latin typeface="Arial"/>
                <a:cs typeface="Arial"/>
              </a:rPr>
              <a:t>Boud</a:t>
            </a:r>
            <a:r>
              <a:rPr lang="en-GB" sz="1600" dirty="0">
                <a:effectLst/>
                <a:latin typeface="Arial"/>
                <a:cs typeface="Arial"/>
              </a:rPr>
              <a:t>, Keogh, and Walker (1985) argue that reflection turns clinical experience into learning opportunities, ensuring growth in professional practice.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640944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69" y="278698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4000" b="1" i="0">
                <a:solidFill>
                  <a:srgbClr val="FFFF00"/>
                </a:solidFill>
                <a:effectLst/>
                <a:latin typeface="Arial"/>
                <a:cs typeface="Arial"/>
              </a:rPr>
              <a:t>Conclusion</a:t>
            </a:r>
            <a:endParaRPr lang="en-GB" sz="4000" b="1" i="0" dirty="0"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469" y="1016897"/>
            <a:ext cx="11360995" cy="4695755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The CPAF Learning Domains offer a structured framework for evaluating physiotherapy students during placements, focusing on skills such as: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clinical reasoning,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teamwork,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communication, and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professional conduct.</a:t>
            </a:r>
            <a:endParaRPr lang="en-GB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70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769787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References:</a:t>
            </a:r>
            <a:endParaRPr lang="en-GB" sz="32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DA51F-2641-C5F7-AE3A-EC4DDBFBA61F}"/>
              </a:ext>
            </a:extLst>
          </p:cNvPr>
          <p:cNvSpPr txBox="1"/>
          <p:nvPr/>
        </p:nvSpPr>
        <p:spPr>
          <a:xfrm>
            <a:off x="364519" y="1381329"/>
            <a:ext cx="1146296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400" dirty="0" err="1">
                <a:effectLst/>
                <a:latin typeface="Arial"/>
                <a:cs typeface="Arial"/>
              </a:rPr>
              <a:t>Boud</a:t>
            </a:r>
            <a:r>
              <a:rPr lang="en-GB" sz="1400" dirty="0">
                <a:effectLst/>
                <a:latin typeface="Arial"/>
                <a:cs typeface="Arial"/>
              </a:rPr>
              <a:t>, D., Keogh, R. and Walker, D., 1985. Reflection: Turning Experience into Learning. London: Kogan Page.</a:t>
            </a:r>
          </a:p>
          <a:p>
            <a:pPr algn="l"/>
            <a:endParaRPr lang="en-GB" sz="1400" dirty="0">
              <a:effectLst/>
              <a:latin typeface="Arial"/>
              <a:cs typeface="Arial"/>
            </a:endParaRP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Chartered Society of Physiotherapy (CSP), 2011. Code of Professional Values and Behaviour. [online] Available at: https://www.csp.org.uk/publications/code-professional-values-behaviour [Accessed 9 September 2024].</a:t>
            </a:r>
          </a:p>
          <a:p>
            <a:pPr algn="l"/>
            <a:endParaRPr lang="en-GB" sz="1400" dirty="0">
              <a:effectLst/>
              <a:latin typeface="Arial"/>
              <a:cs typeface="Arial"/>
            </a:endParaRP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Gibbs, G., 1988. Learning by Doing: A Guide to Teaching and Learning Methods. Oxford: Oxford Polytechnic.</a:t>
            </a:r>
          </a:p>
          <a:p>
            <a:pPr algn="l"/>
            <a:endParaRPr lang="en-GB" sz="1400" dirty="0">
              <a:effectLst/>
              <a:latin typeface="Arial"/>
              <a:cs typeface="Arial"/>
            </a:endParaRP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Health and Care Professions Council (HCPC), 2014. Standards of Education and Training. [online] Available at: https://www.hcpc-uk.org/standards/standards-of-education-and-training/ [Accessed 9 September 2024].</a:t>
            </a:r>
          </a:p>
          <a:p>
            <a:pPr algn="l"/>
            <a:endParaRPr lang="en-GB" sz="1400" dirty="0">
              <a:effectLst/>
              <a:latin typeface="Arial"/>
              <a:cs typeface="Arial"/>
            </a:endParaRP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Health and Care Professions Council (HCPC), 2023. Standards of Conduct, Performance and Ethics. [online] Available at: https://www.hcpc-uk.org/standards/standards-of-conduct-performance-and-ethics/ [Accessed 9 September 2024].</a:t>
            </a:r>
          </a:p>
          <a:p>
            <a:pPr algn="l"/>
            <a:endParaRPr lang="en-GB" sz="1400" dirty="0">
              <a:effectLst/>
              <a:latin typeface="Arial"/>
              <a:cs typeface="Arial"/>
            </a:endParaRP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Kolb, D.A., 1984. Experiential Learning: Experience as the Source of Learning and Development. Englewood Cliffs, NJ: Prentice Hall.</a:t>
            </a:r>
          </a:p>
          <a:p>
            <a:pPr algn="l"/>
            <a:endParaRPr lang="en-GB" sz="1400" dirty="0">
              <a:effectLst/>
              <a:latin typeface="Arial"/>
              <a:cs typeface="Arial"/>
            </a:endParaRP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Mezirow, J., 1991. Transformative Dimensions of Adult Learning. San Francisco: Jossey-Bass.</a:t>
            </a:r>
          </a:p>
          <a:p>
            <a:pPr algn="l"/>
            <a:endParaRPr lang="en-GB" sz="1400" dirty="0">
              <a:effectLst/>
              <a:latin typeface="Arial"/>
              <a:cs typeface="Arial"/>
            </a:endParaRP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Sackett, D.L., Rosenberg, W.M.C., Gray, J.A.M., Haynes, R.B. and Richardson, W.S., 1996. Evidence-Based </a:t>
            </a: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Medicine: What It Is and What It Isn’t. BMJ, 312(7023), pp.71-72.</a:t>
            </a:r>
          </a:p>
          <a:p>
            <a:pPr algn="l"/>
            <a:endParaRPr lang="en-GB" sz="1400" dirty="0">
              <a:effectLst/>
              <a:latin typeface="Arial"/>
              <a:cs typeface="Arial"/>
            </a:endParaRP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Schon, D.A., 1983. The Reflective Practitioner: How Professionals Think in Action. London: Temple Smith.</a:t>
            </a:r>
          </a:p>
          <a:p>
            <a:pPr algn="l"/>
            <a:endParaRPr lang="en-GB" sz="1400" dirty="0">
              <a:effectLst/>
              <a:latin typeface="Arial"/>
              <a:cs typeface="Arial"/>
            </a:endParaRPr>
          </a:p>
          <a:p>
            <a:pPr algn="l"/>
            <a:r>
              <a:rPr lang="en-GB" sz="1400" dirty="0">
                <a:effectLst/>
                <a:latin typeface="Arial"/>
                <a:cs typeface="Arial"/>
              </a:rPr>
              <a:t>Vygotsky, L.S., 1978. Mind in Society: The Development of Higher Psychological Processes. Cambridge, MA: Harvard University Press.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03016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108" y="2690801"/>
            <a:ext cx="11211373" cy="738199"/>
          </a:xfrm>
        </p:spPr>
        <p:txBody>
          <a:bodyPr anchor="b">
            <a:noAutofit/>
          </a:bodyPr>
          <a:lstStyle/>
          <a:p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Any Questions? </a:t>
            </a:r>
            <a:endParaRPr lang="en-GB" sz="36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16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_2SEEDS">
      <a:dk1>
        <a:srgbClr val="000000"/>
      </a:dk1>
      <a:lt1>
        <a:srgbClr val="FFFFFF"/>
      </a:lt1>
      <a:dk2>
        <a:srgbClr val="243541"/>
      </a:dk2>
      <a:lt2>
        <a:srgbClr val="E8E4E2"/>
      </a:lt2>
      <a:accent1>
        <a:srgbClr val="3B80B1"/>
      </a:accent1>
      <a:accent2>
        <a:srgbClr val="46B2B2"/>
      </a:accent2>
      <a:accent3>
        <a:srgbClr val="4D61C3"/>
      </a:accent3>
      <a:accent4>
        <a:srgbClr val="B13B63"/>
      </a:accent4>
      <a:accent5>
        <a:srgbClr val="C3564D"/>
      </a:accent5>
      <a:accent6>
        <a:srgbClr val="B1763B"/>
      </a:accent6>
      <a:hlink>
        <a:srgbClr val="BA51C5"/>
      </a:hlink>
      <a:folHlink>
        <a:srgbClr val="7F7F7F"/>
      </a:folHlink>
    </a:clrScheme>
    <a:fontScheme name="Slate">
      <a:maj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84a01b-aede-4370-8fa9-b7a959cab531" xsi:nil="true"/>
    <lcf76f155ced4ddcb4097134ff3c332f xmlns="c19d9144-cbe3-4b5d-a710-46ada0e8ff4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B57A6B9722DE4484E0FABA265746B5" ma:contentTypeVersion="15" ma:contentTypeDescription="Create a new document." ma:contentTypeScope="" ma:versionID="341e1f7a752c106204d1ebe5d3f3b305">
  <xsd:schema xmlns:xsd="http://www.w3.org/2001/XMLSchema" xmlns:xs="http://www.w3.org/2001/XMLSchema" xmlns:p="http://schemas.microsoft.com/office/2006/metadata/properties" xmlns:ns2="c19d9144-cbe3-4b5d-a710-46ada0e8ff40" xmlns:ns3="6c84a01b-aede-4370-8fa9-b7a959cab531" targetNamespace="http://schemas.microsoft.com/office/2006/metadata/properties" ma:root="true" ma:fieldsID="8019009bdd91a176b6846f2d186bc7fa" ns2:_="" ns3:_="">
    <xsd:import namespace="c19d9144-cbe3-4b5d-a710-46ada0e8ff40"/>
    <xsd:import namespace="6c84a01b-aede-4370-8fa9-b7a959cab5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d9144-cbe3-4b5d-a710-46ada0e8ff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157f23b-4936-4da1-b1a0-d7d41e84ed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4a01b-aede-4370-8fa9-b7a959cab53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0212087-951e-45e4-8ca2-10c3a363b24b}" ma:internalName="TaxCatchAll" ma:showField="CatchAllData" ma:web="6c84a01b-aede-4370-8fa9-b7a959cab5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A94EE6-BB10-4C0A-AA1D-C5D9064202CF}">
  <ds:schemaRefs>
    <ds:schemaRef ds:uri="http://schemas.microsoft.com/office/2006/metadata/properties"/>
    <ds:schemaRef ds:uri="http://schemas.microsoft.com/office/infopath/2007/PartnerControls"/>
    <ds:schemaRef ds:uri="6c84a01b-aede-4370-8fa9-b7a959cab531"/>
    <ds:schemaRef ds:uri="c19d9144-cbe3-4b5d-a710-46ada0e8ff40"/>
  </ds:schemaRefs>
</ds:datastoreItem>
</file>

<file path=customXml/itemProps2.xml><?xml version="1.0" encoding="utf-8"?>
<ds:datastoreItem xmlns:ds="http://schemas.openxmlformats.org/officeDocument/2006/customXml" ds:itemID="{E3437F6A-1939-496A-84A6-B337BF1262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71C023-518E-4E32-929B-269A28109D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9d9144-cbe3-4b5d-a710-46ada0e8ff40"/>
    <ds:schemaRef ds:uri="6c84a01b-aede-4370-8fa9-b7a959cab5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1889</Words>
  <Application>Microsoft Office PowerPoint</Application>
  <PresentationFormat>Widescreen</PresentationFormat>
  <Paragraphs>227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Arial</vt:lpstr>
      <vt:lpstr>Arial Black</vt:lpstr>
      <vt:lpstr>Calibri</vt:lpstr>
      <vt:lpstr>FSAlbert</vt:lpstr>
      <vt:lpstr>FSAlbert-LightItalic</vt:lpstr>
      <vt:lpstr>Goudy Old Style</vt:lpstr>
      <vt:lpstr>Wingdings 2</vt:lpstr>
      <vt:lpstr>SlateVTI</vt:lpstr>
      <vt:lpstr>Exploring the CPAF Learning Domains</vt:lpstr>
      <vt:lpstr>Learning Objectives</vt:lpstr>
      <vt:lpstr>What will be covered today?</vt:lpstr>
      <vt:lpstr>Introduction to Learning Domains in Physiotherapy Placements</vt:lpstr>
      <vt:lpstr>3 Key Learning Outcomes</vt:lpstr>
      <vt:lpstr>Personal Development – Independent Learning </vt:lpstr>
      <vt:lpstr>PowerPoint Presentation</vt:lpstr>
      <vt:lpstr>Personal Development – Seeking, Reflecting, and Responding to Feedback</vt:lpstr>
      <vt:lpstr>PowerPoint Presentation</vt:lpstr>
      <vt:lpstr>Personal Development – Organization and Prioritization</vt:lpstr>
      <vt:lpstr>Interpersonal Skills – Communication</vt:lpstr>
      <vt:lpstr> Interpersonal Skills – Working with Others</vt:lpstr>
      <vt:lpstr>Interpersonal Skills – Individuals, Communities, and Populations</vt:lpstr>
      <vt:lpstr>PowerPoint Presentation</vt:lpstr>
      <vt:lpstr>Decision Making and Implementation – Gathering and Analysing Information</vt:lpstr>
      <vt:lpstr>PowerPoint Presentation</vt:lpstr>
      <vt:lpstr>Decision Making and Implementation – Evidence-Based Practice</vt:lpstr>
      <vt:lpstr>PowerPoint Presentation</vt:lpstr>
      <vt:lpstr>Decision Making and Implementation – Clinical Reasoning and Intervention</vt:lpstr>
      <vt:lpstr>Decision Making and Implementation – Recording Information</vt:lpstr>
      <vt:lpstr>Professionalism and Learning Domains</vt:lpstr>
      <vt:lpstr>Continuous Feedback and Reflective Practice</vt:lpstr>
      <vt:lpstr>Conclusion</vt:lpstr>
      <vt:lpstr>References:</vt:lpstr>
      <vt:lpstr>Any Questions?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strategy-based approach to learning</dc:title>
  <dc:creator>Paul Guyver</dc:creator>
  <cp:lastModifiedBy>Ngozi Onuegbu</cp:lastModifiedBy>
  <cp:revision>375</cp:revision>
  <dcterms:created xsi:type="dcterms:W3CDTF">2020-06-23T10:19:50Z</dcterms:created>
  <dcterms:modified xsi:type="dcterms:W3CDTF">2024-09-14T13:34:47Z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0x010100DBB57A6B9722DE4484E0FABA265746B5</vt:lpwstr>
  </property>
  <property fmtid="{D5CDD505-2E9C-101B-9397-08002B2CF9AE}" pid="3" name="MediaServiceImageTags">
    <vt:lpwstr/>
  </property>
</Properties>
</file>