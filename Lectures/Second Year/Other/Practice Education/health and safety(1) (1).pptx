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72" r:id="rId1"/>
  </p:sldMasterIdLst>
  <p:notesMasterIdLst>
    <p:notesMasterId r:id="rId33"/>
  </p:notesMasterIdLst>
  <p:sldIdLst>
    <p:sldId id="256" r:id="rId2"/>
    <p:sldId id="292" r:id="rId3"/>
    <p:sldId id="280" r:id="rId4"/>
    <p:sldId id="291" r:id="rId5"/>
    <p:sldId id="293" r:id="rId6"/>
    <p:sldId id="281" r:id="rId7"/>
    <p:sldId id="294" r:id="rId8"/>
    <p:sldId id="295" r:id="rId9"/>
    <p:sldId id="296" r:id="rId10"/>
    <p:sldId id="297" r:id="rId11"/>
    <p:sldId id="298" r:id="rId12"/>
    <p:sldId id="299" r:id="rId13"/>
    <p:sldId id="300" r:id="rId14"/>
    <p:sldId id="301" r:id="rId15"/>
    <p:sldId id="302" r:id="rId16"/>
    <p:sldId id="303" r:id="rId17"/>
    <p:sldId id="304" r:id="rId18"/>
    <p:sldId id="305" r:id="rId19"/>
    <p:sldId id="306" r:id="rId20"/>
    <p:sldId id="307" r:id="rId21"/>
    <p:sldId id="266" r:id="rId22"/>
    <p:sldId id="267" r:id="rId23"/>
    <p:sldId id="273" r:id="rId24"/>
    <p:sldId id="268" r:id="rId25"/>
    <p:sldId id="308" r:id="rId26"/>
    <p:sldId id="259" r:id="rId27"/>
    <p:sldId id="309" r:id="rId28"/>
    <p:sldId id="310" r:id="rId29"/>
    <p:sldId id="311" r:id="rId30"/>
    <p:sldId id="272" r:id="rId31"/>
    <p:sldId id="290" r:id="rId32"/>
  </p:sldIdLst>
  <p:sldSz cx="12192000" cy="6858000"/>
  <p:notesSz cx="6858000" cy="9144000"/>
  <p:embeddedFontLst>
    <p:embeddedFont>
      <p:font typeface="Calibri" panose="020F0502020204030204" pitchFamily="34" charset="0"/>
      <p:regular r:id="rId34"/>
      <p:bold r:id="rId35"/>
      <p:italic r:id="rId36"/>
      <p:boldItalic r:id="rId37"/>
    </p:embeddedFont>
    <p:embeddedFont>
      <p:font typeface="Cambria" panose="02040503050406030204" pitchFamily="18" charset="0"/>
      <p:regular r:id="rId38"/>
      <p:bold r:id="rId39"/>
      <p:italic r:id="rId40"/>
      <p:boldItalic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0D2B09-61F6-420A-9ADB-D0C4010DDB6D}" v="1" dt="2023-10-24T12:14:29.7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114" d="100"/>
          <a:sy n="114" d="100"/>
        </p:scale>
        <p:origin x="18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font" Target="fonts/font8.fntdata"/></Relationships>
</file>

<file path=ppt/diagrams/_rels/data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42BEFF-9A02-48E4-8643-AE10484118D1}"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AFA0F822-F14A-4D8B-B310-A3619C18ABC7}">
      <dgm:prSet/>
      <dgm:spPr/>
      <dgm:t>
        <a:bodyPr/>
        <a:lstStyle/>
        <a:p>
          <a:pPr>
            <a:lnSpc>
              <a:spcPct val="100000"/>
            </a:lnSpc>
          </a:pPr>
          <a:r>
            <a:rPr lang="en-GB" dirty="0">
              <a:latin typeface="Arial" panose="020B0604020202020204" pitchFamily="34" charset="0"/>
              <a:cs typeface="Arial" panose="020B0604020202020204" pitchFamily="34" charset="0"/>
            </a:rPr>
            <a:t>Part of health and safety is remembering to work within your scope of practice </a:t>
          </a:r>
          <a:endParaRPr lang="en-US" dirty="0">
            <a:latin typeface="Arial" panose="020B0604020202020204" pitchFamily="34" charset="0"/>
            <a:cs typeface="Arial" panose="020B0604020202020204" pitchFamily="34" charset="0"/>
          </a:endParaRPr>
        </a:p>
      </dgm:t>
    </dgm:pt>
    <dgm:pt modelId="{BABEDACE-188C-45B7-87FD-BF2D7CD96F31}" type="parTrans" cxnId="{F7AE2A4D-1AD0-4B6A-945B-2A3FA1757E71}">
      <dgm:prSet/>
      <dgm:spPr/>
      <dgm:t>
        <a:bodyPr/>
        <a:lstStyle/>
        <a:p>
          <a:endParaRPr lang="en-US"/>
        </a:p>
      </dgm:t>
    </dgm:pt>
    <dgm:pt modelId="{CE530CD6-80C5-4777-805A-EBD355AE6E68}" type="sibTrans" cxnId="{F7AE2A4D-1AD0-4B6A-945B-2A3FA1757E71}">
      <dgm:prSet/>
      <dgm:spPr/>
      <dgm:t>
        <a:bodyPr/>
        <a:lstStyle/>
        <a:p>
          <a:endParaRPr lang="en-US"/>
        </a:p>
      </dgm:t>
    </dgm:pt>
    <dgm:pt modelId="{E109E089-36BA-45C9-A71A-D5AF4D383AAF}">
      <dgm:prSet/>
      <dgm:spPr/>
      <dgm:t>
        <a:bodyPr/>
        <a:lstStyle/>
        <a:p>
          <a:pPr>
            <a:lnSpc>
              <a:spcPct val="100000"/>
            </a:lnSpc>
          </a:pPr>
          <a:r>
            <a:rPr lang="en-GB" dirty="0">
              <a:latin typeface="Arial" panose="020B0604020202020204" pitchFamily="34" charset="0"/>
              <a:cs typeface="Arial" panose="020B0604020202020204" pitchFamily="34" charset="0"/>
            </a:rPr>
            <a:t>Recognise and highlight if you do not feel prepared to do something / have never done something before </a:t>
          </a:r>
          <a:endParaRPr lang="en-US" dirty="0">
            <a:latin typeface="Arial" panose="020B0604020202020204" pitchFamily="34" charset="0"/>
            <a:cs typeface="Arial" panose="020B0604020202020204" pitchFamily="34" charset="0"/>
          </a:endParaRPr>
        </a:p>
      </dgm:t>
    </dgm:pt>
    <dgm:pt modelId="{36641A64-AFCE-4033-9E2C-B601DF676401}" type="parTrans" cxnId="{C46325A8-F13D-4EFB-A750-2D4BFE50E0B0}">
      <dgm:prSet/>
      <dgm:spPr/>
      <dgm:t>
        <a:bodyPr/>
        <a:lstStyle/>
        <a:p>
          <a:endParaRPr lang="en-US"/>
        </a:p>
      </dgm:t>
    </dgm:pt>
    <dgm:pt modelId="{1BB3A737-09F6-4123-A219-275F5511AB69}" type="sibTrans" cxnId="{C46325A8-F13D-4EFB-A750-2D4BFE50E0B0}">
      <dgm:prSet/>
      <dgm:spPr/>
      <dgm:t>
        <a:bodyPr/>
        <a:lstStyle/>
        <a:p>
          <a:endParaRPr lang="en-US"/>
        </a:p>
      </dgm:t>
    </dgm:pt>
    <dgm:pt modelId="{689225C9-3570-4A00-9489-CF08E9DFDF76}" type="pres">
      <dgm:prSet presAssocID="{5642BEFF-9A02-48E4-8643-AE10484118D1}" presName="root" presStyleCnt="0">
        <dgm:presLayoutVars>
          <dgm:dir/>
          <dgm:resizeHandles val="exact"/>
        </dgm:presLayoutVars>
      </dgm:prSet>
      <dgm:spPr/>
    </dgm:pt>
    <dgm:pt modelId="{54E023EA-C7F6-4E80-8CAC-847C429618A0}" type="pres">
      <dgm:prSet presAssocID="{AFA0F822-F14A-4D8B-B310-A3619C18ABC7}" presName="compNode" presStyleCnt="0"/>
      <dgm:spPr/>
    </dgm:pt>
    <dgm:pt modelId="{4DB6CF01-7892-44DE-8847-54AAED9F027B}" type="pres">
      <dgm:prSet presAssocID="{AFA0F822-F14A-4D8B-B310-A3619C18ABC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edical"/>
        </a:ext>
      </dgm:extLst>
    </dgm:pt>
    <dgm:pt modelId="{B5646006-C444-4E84-9734-43FE32399CFB}" type="pres">
      <dgm:prSet presAssocID="{AFA0F822-F14A-4D8B-B310-A3619C18ABC7}" presName="spaceRect" presStyleCnt="0"/>
      <dgm:spPr/>
    </dgm:pt>
    <dgm:pt modelId="{BECBBC7F-4E06-4BBB-9A58-9211BC82486C}" type="pres">
      <dgm:prSet presAssocID="{AFA0F822-F14A-4D8B-B310-A3619C18ABC7}" presName="textRect" presStyleLbl="revTx" presStyleIdx="0" presStyleCnt="2">
        <dgm:presLayoutVars>
          <dgm:chMax val="1"/>
          <dgm:chPref val="1"/>
        </dgm:presLayoutVars>
      </dgm:prSet>
      <dgm:spPr/>
    </dgm:pt>
    <dgm:pt modelId="{06A92D00-0A57-49FD-9755-D48B6A927FFC}" type="pres">
      <dgm:prSet presAssocID="{CE530CD6-80C5-4777-805A-EBD355AE6E68}" presName="sibTrans" presStyleCnt="0"/>
      <dgm:spPr/>
    </dgm:pt>
    <dgm:pt modelId="{088521B9-B4AE-4BD2-AEF2-A61C240D2843}" type="pres">
      <dgm:prSet presAssocID="{E109E089-36BA-45C9-A71A-D5AF4D383AAF}" presName="compNode" presStyleCnt="0"/>
      <dgm:spPr/>
    </dgm:pt>
    <dgm:pt modelId="{8A4A7DC7-41E6-4193-BB25-C29B3AF14FDB}" type="pres">
      <dgm:prSet presAssocID="{E109E089-36BA-45C9-A71A-D5AF4D383AA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Irritant"/>
        </a:ext>
      </dgm:extLst>
    </dgm:pt>
    <dgm:pt modelId="{89F14305-472A-4C82-A41B-85D472779B99}" type="pres">
      <dgm:prSet presAssocID="{E109E089-36BA-45C9-A71A-D5AF4D383AAF}" presName="spaceRect" presStyleCnt="0"/>
      <dgm:spPr/>
    </dgm:pt>
    <dgm:pt modelId="{918A0AD3-9D53-4A54-9A1A-ED13C0B5F39A}" type="pres">
      <dgm:prSet presAssocID="{E109E089-36BA-45C9-A71A-D5AF4D383AAF}" presName="textRect" presStyleLbl="revTx" presStyleIdx="1" presStyleCnt="2">
        <dgm:presLayoutVars>
          <dgm:chMax val="1"/>
          <dgm:chPref val="1"/>
        </dgm:presLayoutVars>
      </dgm:prSet>
      <dgm:spPr/>
    </dgm:pt>
  </dgm:ptLst>
  <dgm:cxnLst>
    <dgm:cxn modelId="{FDDD5E0B-E98F-4B86-BB05-C44204FD4F40}" type="presOf" srcId="{E109E089-36BA-45C9-A71A-D5AF4D383AAF}" destId="{918A0AD3-9D53-4A54-9A1A-ED13C0B5F39A}" srcOrd="0" destOrd="0" presId="urn:microsoft.com/office/officeart/2018/2/layout/IconLabelList"/>
    <dgm:cxn modelId="{F7AE2A4D-1AD0-4B6A-945B-2A3FA1757E71}" srcId="{5642BEFF-9A02-48E4-8643-AE10484118D1}" destId="{AFA0F822-F14A-4D8B-B310-A3619C18ABC7}" srcOrd="0" destOrd="0" parTransId="{BABEDACE-188C-45B7-87FD-BF2D7CD96F31}" sibTransId="{CE530CD6-80C5-4777-805A-EBD355AE6E68}"/>
    <dgm:cxn modelId="{C46325A8-F13D-4EFB-A750-2D4BFE50E0B0}" srcId="{5642BEFF-9A02-48E4-8643-AE10484118D1}" destId="{E109E089-36BA-45C9-A71A-D5AF4D383AAF}" srcOrd="1" destOrd="0" parTransId="{36641A64-AFCE-4033-9E2C-B601DF676401}" sibTransId="{1BB3A737-09F6-4123-A219-275F5511AB69}"/>
    <dgm:cxn modelId="{07FCB4C3-C562-4ACD-B350-5CCEB3390DFF}" type="presOf" srcId="{AFA0F822-F14A-4D8B-B310-A3619C18ABC7}" destId="{BECBBC7F-4E06-4BBB-9A58-9211BC82486C}" srcOrd="0" destOrd="0" presId="urn:microsoft.com/office/officeart/2018/2/layout/IconLabelList"/>
    <dgm:cxn modelId="{F87935EA-4316-49AD-B10A-1B666599CEF9}" type="presOf" srcId="{5642BEFF-9A02-48E4-8643-AE10484118D1}" destId="{689225C9-3570-4A00-9489-CF08E9DFDF76}" srcOrd="0" destOrd="0" presId="urn:microsoft.com/office/officeart/2018/2/layout/IconLabelList"/>
    <dgm:cxn modelId="{BC05BDA2-2887-4D49-A748-AD4E485CE0BF}" type="presParOf" srcId="{689225C9-3570-4A00-9489-CF08E9DFDF76}" destId="{54E023EA-C7F6-4E80-8CAC-847C429618A0}" srcOrd="0" destOrd="0" presId="urn:microsoft.com/office/officeart/2018/2/layout/IconLabelList"/>
    <dgm:cxn modelId="{1FD43B1B-1D97-46D1-AB9A-F3F8ADDCBB8A}" type="presParOf" srcId="{54E023EA-C7F6-4E80-8CAC-847C429618A0}" destId="{4DB6CF01-7892-44DE-8847-54AAED9F027B}" srcOrd="0" destOrd="0" presId="urn:microsoft.com/office/officeart/2018/2/layout/IconLabelList"/>
    <dgm:cxn modelId="{E6C38A66-10B4-4089-B19C-3F8FC4085762}" type="presParOf" srcId="{54E023EA-C7F6-4E80-8CAC-847C429618A0}" destId="{B5646006-C444-4E84-9734-43FE32399CFB}" srcOrd="1" destOrd="0" presId="urn:microsoft.com/office/officeart/2018/2/layout/IconLabelList"/>
    <dgm:cxn modelId="{DD1CF356-B1CD-46EA-AB7D-6957EC735A81}" type="presParOf" srcId="{54E023EA-C7F6-4E80-8CAC-847C429618A0}" destId="{BECBBC7F-4E06-4BBB-9A58-9211BC82486C}" srcOrd="2" destOrd="0" presId="urn:microsoft.com/office/officeart/2018/2/layout/IconLabelList"/>
    <dgm:cxn modelId="{4DCE12B1-F626-49CE-A792-4E6529213703}" type="presParOf" srcId="{689225C9-3570-4A00-9489-CF08E9DFDF76}" destId="{06A92D00-0A57-49FD-9755-D48B6A927FFC}" srcOrd="1" destOrd="0" presId="urn:microsoft.com/office/officeart/2018/2/layout/IconLabelList"/>
    <dgm:cxn modelId="{DF11C825-1A8C-42B2-80F4-E569BE7445C2}" type="presParOf" srcId="{689225C9-3570-4A00-9489-CF08E9DFDF76}" destId="{088521B9-B4AE-4BD2-AEF2-A61C240D2843}" srcOrd="2" destOrd="0" presId="urn:microsoft.com/office/officeart/2018/2/layout/IconLabelList"/>
    <dgm:cxn modelId="{CBBFE509-AA2B-4C1F-92D0-9EFA84EA5B1D}" type="presParOf" srcId="{088521B9-B4AE-4BD2-AEF2-A61C240D2843}" destId="{8A4A7DC7-41E6-4193-BB25-C29B3AF14FDB}" srcOrd="0" destOrd="0" presId="urn:microsoft.com/office/officeart/2018/2/layout/IconLabelList"/>
    <dgm:cxn modelId="{90F3AFD0-506E-43C1-B4C5-7295A474FA94}" type="presParOf" srcId="{088521B9-B4AE-4BD2-AEF2-A61C240D2843}" destId="{89F14305-472A-4C82-A41B-85D472779B99}" srcOrd="1" destOrd="0" presId="urn:microsoft.com/office/officeart/2018/2/layout/IconLabelList"/>
    <dgm:cxn modelId="{B9491C0D-0654-45E9-BD80-9E4EB8033EC1}" type="presParOf" srcId="{088521B9-B4AE-4BD2-AEF2-A61C240D2843}" destId="{918A0AD3-9D53-4A54-9A1A-ED13C0B5F39A}"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4B5A028-890E-4965-900D-D670D535BB3D}" type="doc">
      <dgm:prSet loTypeId="urn:microsoft.com/office/officeart/2005/8/layout/process5" loCatId="process" qsTypeId="urn:microsoft.com/office/officeart/2005/8/quickstyle/simple1" qsCatId="simple" csTypeId="urn:microsoft.com/office/officeart/2005/8/colors/accent0_3" csCatId="mainScheme" phldr="1"/>
      <dgm:spPr/>
      <dgm:t>
        <a:bodyPr/>
        <a:lstStyle/>
        <a:p>
          <a:endParaRPr lang="en-GB"/>
        </a:p>
      </dgm:t>
    </dgm:pt>
    <dgm:pt modelId="{FE0346DA-CE61-4173-8F43-E41D3EA36A48}">
      <dgm:prSet phldrT="[Text]" phldr="0" custT="1"/>
      <dgm:spPr/>
      <dgm:t>
        <a:bodyPr/>
        <a:lstStyle/>
        <a:p>
          <a:pPr rtl="0"/>
          <a:r>
            <a:rPr lang="en-GB" sz="1800" dirty="0">
              <a:latin typeface="Arial" panose="020B0604020202020204" pitchFamily="34" charset="0"/>
              <a:cs typeface="Arial" panose="020B0604020202020204" pitchFamily="34" charset="0"/>
            </a:rPr>
            <a:t>Incident occurs </a:t>
          </a:r>
        </a:p>
      </dgm:t>
    </dgm:pt>
    <dgm:pt modelId="{D4BCB56C-1479-4952-BE95-53E212B0CE5B}" type="parTrans" cxnId="{888B6072-C00B-403A-8981-3C8DB736551C}">
      <dgm:prSet/>
      <dgm:spPr/>
      <dgm:t>
        <a:bodyPr/>
        <a:lstStyle/>
        <a:p>
          <a:endParaRPr lang="en-GB" sz="1200">
            <a:latin typeface="Arial" panose="020B0604020202020204" pitchFamily="34" charset="0"/>
            <a:cs typeface="Arial" panose="020B0604020202020204" pitchFamily="34" charset="0"/>
          </a:endParaRPr>
        </a:p>
      </dgm:t>
    </dgm:pt>
    <dgm:pt modelId="{1E3E5D6F-4DC3-47E0-A8C7-FA2399C609D6}" type="sibTrans" cxnId="{888B6072-C00B-403A-8981-3C8DB736551C}">
      <dgm:prSet custT="1"/>
      <dgm:spPr/>
      <dgm:t>
        <a:bodyPr/>
        <a:lstStyle/>
        <a:p>
          <a:endParaRPr lang="en-GB" sz="1400">
            <a:latin typeface="Arial" panose="020B0604020202020204" pitchFamily="34" charset="0"/>
            <a:cs typeface="Arial" panose="020B0604020202020204" pitchFamily="34" charset="0"/>
          </a:endParaRPr>
        </a:p>
      </dgm:t>
    </dgm:pt>
    <dgm:pt modelId="{4311AD24-A212-415A-8CD1-1A8F8924FE1F}">
      <dgm:prSet phldrT="[Text]" phldr="0" custT="1"/>
      <dgm:spPr/>
      <dgm:t>
        <a:bodyPr/>
        <a:lstStyle/>
        <a:p>
          <a:pPr rtl="0"/>
          <a:r>
            <a:rPr lang="en-GB" sz="1800" dirty="0">
              <a:latin typeface="Arial" panose="020B0604020202020204" pitchFamily="34" charset="0"/>
              <a:cs typeface="Arial" panose="020B0604020202020204" pitchFamily="34" charset="0"/>
            </a:rPr>
            <a:t>Escalate to medical team and manager</a:t>
          </a:r>
        </a:p>
      </dgm:t>
    </dgm:pt>
    <dgm:pt modelId="{81793C66-509A-46C6-8CA7-01331C6E45C4}" type="parTrans" cxnId="{32C5AF76-7196-4BAA-B4E6-D9613CE48E34}">
      <dgm:prSet/>
      <dgm:spPr/>
      <dgm:t>
        <a:bodyPr/>
        <a:lstStyle/>
        <a:p>
          <a:endParaRPr lang="en-GB" sz="1200">
            <a:latin typeface="Arial" panose="020B0604020202020204" pitchFamily="34" charset="0"/>
            <a:cs typeface="Arial" panose="020B0604020202020204" pitchFamily="34" charset="0"/>
          </a:endParaRPr>
        </a:p>
      </dgm:t>
    </dgm:pt>
    <dgm:pt modelId="{E19F0174-CB6B-478E-BE50-1AA7FBAEAC66}" type="sibTrans" cxnId="{32C5AF76-7196-4BAA-B4E6-D9613CE48E34}">
      <dgm:prSet custT="1"/>
      <dgm:spPr/>
      <dgm:t>
        <a:bodyPr/>
        <a:lstStyle/>
        <a:p>
          <a:endParaRPr lang="en-GB" sz="1400">
            <a:latin typeface="Arial" panose="020B0604020202020204" pitchFamily="34" charset="0"/>
            <a:cs typeface="Arial" panose="020B0604020202020204" pitchFamily="34" charset="0"/>
          </a:endParaRPr>
        </a:p>
      </dgm:t>
    </dgm:pt>
    <dgm:pt modelId="{D352ABF0-6E7D-4B54-A964-5F938EF25513}">
      <dgm:prSet phldrT="[Text]" phldr="0" custT="1"/>
      <dgm:spPr/>
      <dgm:t>
        <a:bodyPr/>
        <a:lstStyle/>
        <a:p>
          <a:pPr rtl="0"/>
          <a:r>
            <a:rPr lang="en-GB" sz="1800" dirty="0">
              <a:latin typeface="Arial" panose="020B0604020202020204" pitchFamily="34" charset="0"/>
              <a:cs typeface="Arial" panose="020B0604020202020204" pitchFamily="34" charset="0"/>
            </a:rPr>
            <a:t>Investigation into incident </a:t>
          </a:r>
        </a:p>
      </dgm:t>
    </dgm:pt>
    <dgm:pt modelId="{D0D50F84-8C87-45D0-8F02-C4C25430BF08}" type="parTrans" cxnId="{24064669-40D1-4D81-9C2A-C74686A3ECFB}">
      <dgm:prSet/>
      <dgm:spPr/>
      <dgm:t>
        <a:bodyPr/>
        <a:lstStyle/>
        <a:p>
          <a:endParaRPr lang="en-GB" sz="1200">
            <a:latin typeface="Arial" panose="020B0604020202020204" pitchFamily="34" charset="0"/>
            <a:cs typeface="Arial" panose="020B0604020202020204" pitchFamily="34" charset="0"/>
          </a:endParaRPr>
        </a:p>
      </dgm:t>
    </dgm:pt>
    <dgm:pt modelId="{736F4F6A-A492-40A1-BD07-DB872FB76304}" type="sibTrans" cxnId="{24064669-40D1-4D81-9C2A-C74686A3ECFB}">
      <dgm:prSet custT="1"/>
      <dgm:spPr/>
      <dgm:t>
        <a:bodyPr/>
        <a:lstStyle/>
        <a:p>
          <a:endParaRPr lang="en-GB" sz="1400">
            <a:latin typeface="Arial" panose="020B0604020202020204" pitchFamily="34" charset="0"/>
            <a:cs typeface="Arial" panose="020B0604020202020204" pitchFamily="34" charset="0"/>
          </a:endParaRPr>
        </a:p>
      </dgm:t>
    </dgm:pt>
    <dgm:pt modelId="{1859026B-83B0-4858-BD1A-3001899060FF}">
      <dgm:prSet phldrT="[Text]" phldr="0" custT="1"/>
      <dgm:spPr/>
      <dgm:t>
        <a:bodyPr/>
        <a:lstStyle/>
        <a:p>
          <a:pPr rtl="0"/>
          <a:r>
            <a:rPr lang="en-GB" sz="1800" dirty="0">
              <a:latin typeface="Arial" panose="020B0604020202020204" pitchFamily="34" charset="0"/>
              <a:cs typeface="Arial" panose="020B0604020202020204" pitchFamily="34" charset="0"/>
            </a:rPr>
            <a:t>Reflection and analysis </a:t>
          </a:r>
        </a:p>
      </dgm:t>
    </dgm:pt>
    <dgm:pt modelId="{5CFA7B5D-3BFD-4931-9B77-9B7EB46F426C}" type="parTrans" cxnId="{B6740C5D-A47D-4435-8E27-3C1D8CB0781A}">
      <dgm:prSet/>
      <dgm:spPr/>
      <dgm:t>
        <a:bodyPr/>
        <a:lstStyle/>
        <a:p>
          <a:endParaRPr lang="en-GB" sz="1200">
            <a:latin typeface="Arial" panose="020B0604020202020204" pitchFamily="34" charset="0"/>
            <a:cs typeface="Arial" panose="020B0604020202020204" pitchFamily="34" charset="0"/>
          </a:endParaRPr>
        </a:p>
      </dgm:t>
    </dgm:pt>
    <dgm:pt modelId="{C45E9070-24E6-4372-B8AC-43A7E364DC02}" type="sibTrans" cxnId="{B6740C5D-A47D-4435-8E27-3C1D8CB0781A}">
      <dgm:prSet custT="1"/>
      <dgm:spPr/>
      <dgm:t>
        <a:bodyPr/>
        <a:lstStyle/>
        <a:p>
          <a:endParaRPr lang="en-GB" sz="1400">
            <a:latin typeface="Arial" panose="020B0604020202020204" pitchFamily="34" charset="0"/>
            <a:cs typeface="Arial" panose="020B0604020202020204" pitchFamily="34" charset="0"/>
          </a:endParaRPr>
        </a:p>
      </dgm:t>
    </dgm:pt>
    <dgm:pt modelId="{6A7B8D42-3C1E-47CB-9571-5BC101B50A15}">
      <dgm:prSet phldrT="[Text]" phldr="0" custT="1"/>
      <dgm:spPr/>
      <dgm:t>
        <a:bodyPr/>
        <a:lstStyle/>
        <a:p>
          <a:pPr rtl="0"/>
          <a:r>
            <a:rPr lang="en-GB" sz="1800" dirty="0">
              <a:latin typeface="Arial" panose="020B0604020202020204" pitchFamily="34" charset="0"/>
              <a:cs typeface="Arial" panose="020B0604020202020204" pitchFamily="34" charset="0"/>
            </a:rPr>
            <a:t>Plan and complete appropriate changes </a:t>
          </a:r>
        </a:p>
      </dgm:t>
    </dgm:pt>
    <dgm:pt modelId="{96B31297-8A72-4673-8B52-D6A166552328}" type="parTrans" cxnId="{80513E93-C90B-4622-B317-A36004C1321D}">
      <dgm:prSet/>
      <dgm:spPr/>
      <dgm:t>
        <a:bodyPr/>
        <a:lstStyle/>
        <a:p>
          <a:endParaRPr lang="en-GB" sz="1200">
            <a:latin typeface="Arial" panose="020B0604020202020204" pitchFamily="34" charset="0"/>
            <a:cs typeface="Arial" panose="020B0604020202020204" pitchFamily="34" charset="0"/>
          </a:endParaRPr>
        </a:p>
      </dgm:t>
    </dgm:pt>
    <dgm:pt modelId="{2248978F-7B58-4DC4-9AC5-16FD5802267E}" type="sibTrans" cxnId="{80513E93-C90B-4622-B317-A36004C1321D}">
      <dgm:prSet/>
      <dgm:spPr/>
      <dgm:t>
        <a:bodyPr/>
        <a:lstStyle/>
        <a:p>
          <a:endParaRPr lang="en-GB" sz="1200">
            <a:latin typeface="Arial" panose="020B0604020202020204" pitchFamily="34" charset="0"/>
            <a:cs typeface="Arial" panose="020B0604020202020204" pitchFamily="34" charset="0"/>
          </a:endParaRPr>
        </a:p>
      </dgm:t>
    </dgm:pt>
    <dgm:pt modelId="{E5429E16-0B9C-410C-B09F-A56D44460106}">
      <dgm:prSet phldr="0" custT="1"/>
      <dgm:spPr/>
      <dgm:t>
        <a:bodyPr/>
        <a:lstStyle/>
        <a:p>
          <a:pPr rtl="0"/>
          <a:r>
            <a:rPr lang="en-GB" sz="1800" dirty="0">
              <a:latin typeface="Arial" panose="020B0604020202020204" pitchFamily="34" charset="0"/>
              <a:cs typeface="Arial" panose="020B0604020202020204" pitchFamily="34" charset="0"/>
            </a:rPr>
            <a:t>Report incident on formal system </a:t>
          </a:r>
        </a:p>
      </dgm:t>
    </dgm:pt>
    <dgm:pt modelId="{CF57A896-585A-4489-9225-99F886E7B514}" type="parTrans" cxnId="{D4FD32F2-A36C-49B7-B965-2844DB6B5F00}">
      <dgm:prSet/>
      <dgm:spPr/>
      <dgm:t>
        <a:bodyPr/>
        <a:lstStyle/>
        <a:p>
          <a:endParaRPr lang="en-GB" sz="1200">
            <a:latin typeface="Arial" panose="020B0604020202020204" pitchFamily="34" charset="0"/>
            <a:cs typeface="Arial" panose="020B0604020202020204" pitchFamily="34" charset="0"/>
          </a:endParaRPr>
        </a:p>
      </dgm:t>
    </dgm:pt>
    <dgm:pt modelId="{82879A2E-D14B-4D88-B156-6358670909B8}" type="sibTrans" cxnId="{D4FD32F2-A36C-49B7-B965-2844DB6B5F00}">
      <dgm:prSet custT="1"/>
      <dgm:spPr/>
      <dgm:t>
        <a:bodyPr/>
        <a:lstStyle/>
        <a:p>
          <a:endParaRPr lang="en-GB" sz="1400">
            <a:latin typeface="Arial" panose="020B0604020202020204" pitchFamily="34" charset="0"/>
            <a:cs typeface="Arial" panose="020B0604020202020204" pitchFamily="34" charset="0"/>
          </a:endParaRPr>
        </a:p>
      </dgm:t>
    </dgm:pt>
    <dgm:pt modelId="{63BAE8A5-49E0-4BA7-B4C2-296AFF5A4927}" type="pres">
      <dgm:prSet presAssocID="{E4B5A028-890E-4965-900D-D670D535BB3D}" presName="diagram" presStyleCnt="0">
        <dgm:presLayoutVars>
          <dgm:dir/>
          <dgm:resizeHandles val="exact"/>
        </dgm:presLayoutVars>
      </dgm:prSet>
      <dgm:spPr/>
    </dgm:pt>
    <dgm:pt modelId="{7A916DC5-2207-4EF9-A3D2-CA0D5F00FA2B}" type="pres">
      <dgm:prSet presAssocID="{FE0346DA-CE61-4173-8F43-E41D3EA36A48}" presName="node" presStyleLbl="node1" presStyleIdx="0" presStyleCnt="6">
        <dgm:presLayoutVars>
          <dgm:bulletEnabled val="1"/>
        </dgm:presLayoutVars>
      </dgm:prSet>
      <dgm:spPr/>
    </dgm:pt>
    <dgm:pt modelId="{A8A10F55-CA90-4AA3-8CA4-2226FDF4685E}" type="pres">
      <dgm:prSet presAssocID="{1E3E5D6F-4DC3-47E0-A8C7-FA2399C609D6}" presName="sibTrans" presStyleLbl="sibTrans2D1" presStyleIdx="0" presStyleCnt="5"/>
      <dgm:spPr/>
    </dgm:pt>
    <dgm:pt modelId="{FAF239E2-1EED-4433-982D-28E163F62274}" type="pres">
      <dgm:prSet presAssocID="{1E3E5D6F-4DC3-47E0-A8C7-FA2399C609D6}" presName="connectorText" presStyleLbl="sibTrans2D1" presStyleIdx="0" presStyleCnt="5"/>
      <dgm:spPr/>
    </dgm:pt>
    <dgm:pt modelId="{6A9441EA-30C1-4E6C-8402-6E7DEED2369B}" type="pres">
      <dgm:prSet presAssocID="{4311AD24-A212-415A-8CD1-1A8F8924FE1F}" presName="node" presStyleLbl="node1" presStyleIdx="1" presStyleCnt="6">
        <dgm:presLayoutVars>
          <dgm:bulletEnabled val="1"/>
        </dgm:presLayoutVars>
      </dgm:prSet>
      <dgm:spPr/>
    </dgm:pt>
    <dgm:pt modelId="{0404C934-74A9-4744-B488-6B6D15629F8F}" type="pres">
      <dgm:prSet presAssocID="{E19F0174-CB6B-478E-BE50-1AA7FBAEAC66}" presName="sibTrans" presStyleLbl="sibTrans2D1" presStyleIdx="1" presStyleCnt="5"/>
      <dgm:spPr/>
    </dgm:pt>
    <dgm:pt modelId="{43CEF7BC-2F46-4121-BA5E-F95E0AE39E5A}" type="pres">
      <dgm:prSet presAssocID="{E19F0174-CB6B-478E-BE50-1AA7FBAEAC66}" presName="connectorText" presStyleLbl="sibTrans2D1" presStyleIdx="1" presStyleCnt="5"/>
      <dgm:spPr/>
    </dgm:pt>
    <dgm:pt modelId="{DD2233D7-6D02-42C5-B4F5-56F741238089}" type="pres">
      <dgm:prSet presAssocID="{E5429E16-0B9C-410C-B09F-A56D44460106}" presName="node" presStyleLbl="node1" presStyleIdx="2" presStyleCnt="6">
        <dgm:presLayoutVars>
          <dgm:bulletEnabled val="1"/>
        </dgm:presLayoutVars>
      </dgm:prSet>
      <dgm:spPr/>
    </dgm:pt>
    <dgm:pt modelId="{37A0E35D-D7CC-4614-AE17-7ED60AB9D130}" type="pres">
      <dgm:prSet presAssocID="{82879A2E-D14B-4D88-B156-6358670909B8}" presName="sibTrans" presStyleLbl="sibTrans2D1" presStyleIdx="2" presStyleCnt="5"/>
      <dgm:spPr/>
    </dgm:pt>
    <dgm:pt modelId="{AE8D0717-1C9D-4898-8057-C95B8A583A80}" type="pres">
      <dgm:prSet presAssocID="{82879A2E-D14B-4D88-B156-6358670909B8}" presName="connectorText" presStyleLbl="sibTrans2D1" presStyleIdx="2" presStyleCnt="5"/>
      <dgm:spPr/>
    </dgm:pt>
    <dgm:pt modelId="{A0FB346B-FFEF-476C-8BE3-D8EA33A40692}" type="pres">
      <dgm:prSet presAssocID="{D352ABF0-6E7D-4B54-A964-5F938EF25513}" presName="node" presStyleLbl="node1" presStyleIdx="3" presStyleCnt="6">
        <dgm:presLayoutVars>
          <dgm:bulletEnabled val="1"/>
        </dgm:presLayoutVars>
      </dgm:prSet>
      <dgm:spPr/>
    </dgm:pt>
    <dgm:pt modelId="{D4777F7F-5174-4CA3-80C5-F04F7F34C4DC}" type="pres">
      <dgm:prSet presAssocID="{736F4F6A-A492-40A1-BD07-DB872FB76304}" presName="sibTrans" presStyleLbl="sibTrans2D1" presStyleIdx="3" presStyleCnt="5"/>
      <dgm:spPr/>
    </dgm:pt>
    <dgm:pt modelId="{A7E61324-248C-4759-AEDB-7740689F3F75}" type="pres">
      <dgm:prSet presAssocID="{736F4F6A-A492-40A1-BD07-DB872FB76304}" presName="connectorText" presStyleLbl="sibTrans2D1" presStyleIdx="3" presStyleCnt="5"/>
      <dgm:spPr/>
    </dgm:pt>
    <dgm:pt modelId="{A386758F-9E52-402E-8053-84E9EE34ECD0}" type="pres">
      <dgm:prSet presAssocID="{1859026B-83B0-4858-BD1A-3001899060FF}" presName="node" presStyleLbl="node1" presStyleIdx="4" presStyleCnt="6">
        <dgm:presLayoutVars>
          <dgm:bulletEnabled val="1"/>
        </dgm:presLayoutVars>
      </dgm:prSet>
      <dgm:spPr/>
    </dgm:pt>
    <dgm:pt modelId="{4EBF99AD-EA7D-4A7B-AFCD-39D66CE965E5}" type="pres">
      <dgm:prSet presAssocID="{C45E9070-24E6-4372-B8AC-43A7E364DC02}" presName="sibTrans" presStyleLbl="sibTrans2D1" presStyleIdx="4" presStyleCnt="5"/>
      <dgm:spPr/>
    </dgm:pt>
    <dgm:pt modelId="{99D66F6C-D092-461D-92A6-1FAE3D2E8C99}" type="pres">
      <dgm:prSet presAssocID="{C45E9070-24E6-4372-B8AC-43A7E364DC02}" presName="connectorText" presStyleLbl="sibTrans2D1" presStyleIdx="4" presStyleCnt="5"/>
      <dgm:spPr/>
    </dgm:pt>
    <dgm:pt modelId="{9A37D23E-7458-4682-B724-9E2639A2D4CB}" type="pres">
      <dgm:prSet presAssocID="{6A7B8D42-3C1E-47CB-9571-5BC101B50A15}" presName="node" presStyleLbl="node1" presStyleIdx="5" presStyleCnt="6">
        <dgm:presLayoutVars>
          <dgm:bulletEnabled val="1"/>
        </dgm:presLayoutVars>
      </dgm:prSet>
      <dgm:spPr/>
    </dgm:pt>
  </dgm:ptLst>
  <dgm:cxnLst>
    <dgm:cxn modelId="{3A5FF604-06FD-400E-B196-C7FCF69E8C72}" type="presOf" srcId="{E5429E16-0B9C-410C-B09F-A56D44460106}" destId="{DD2233D7-6D02-42C5-B4F5-56F741238089}" srcOrd="0" destOrd="0" presId="urn:microsoft.com/office/officeart/2005/8/layout/process5"/>
    <dgm:cxn modelId="{24483B19-1113-45C5-9CA0-7F081B6E5E94}" type="presOf" srcId="{1E3E5D6F-4DC3-47E0-A8C7-FA2399C609D6}" destId="{A8A10F55-CA90-4AA3-8CA4-2226FDF4685E}" srcOrd="0" destOrd="0" presId="urn:microsoft.com/office/officeart/2005/8/layout/process5"/>
    <dgm:cxn modelId="{4D37CF1B-250E-4792-89DA-2AB4EEA9C675}" type="presOf" srcId="{1E3E5D6F-4DC3-47E0-A8C7-FA2399C609D6}" destId="{FAF239E2-1EED-4433-982D-28E163F62274}" srcOrd="1" destOrd="0" presId="urn:microsoft.com/office/officeart/2005/8/layout/process5"/>
    <dgm:cxn modelId="{5523651E-D9F8-47F0-A224-9263ECD4F366}" type="presOf" srcId="{82879A2E-D14B-4D88-B156-6358670909B8}" destId="{37A0E35D-D7CC-4614-AE17-7ED60AB9D130}" srcOrd="0" destOrd="0" presId="urn:microsoft.com/office/officeart/2005/8/layout/process5"/>
    <dgm:cxn modelId="{DB54A438-EA57-4666-9911-7EE4C5A1A894}" type="presOf" srcId="{82879A2E-D14B-4D88-B156-6358670909B8}" destId="{AE8D0717-1C9D-4898-8057-C95B8A583A80}" srcOrd="1" destOrd="0" presId="urn:microsoft.com/office/officeart/2005/8/layout/process5"/>
    <dgm:cxn modelId="{6235EC39-2C30-4EF8-A925-1DE019BE711F}" type="presOf" srcId="{736F4F6A-A492-40A1-BD07-DB872FB76304}" destId="{A7E61324-248C-4759-AEDB-7740689F3F75}" srcOrd="1" destOrd="0" presId="urn:microsoft.com/office/officeart/2005/8/layout/process5"/>
    <dgm:cxn modelId="{6422525C-1173-400B-8396-CFD878F3B070}" type="presOf" srcId="{E4B5A028-890E-4965-900D-D670D535BB3D}" destId="{63BAE8A5-49E0-4BA7-B4C2-296AFF5A4927}" srcOrd="0" destOrd="0" presId="urn:microsoft.com/office/officeart/2005/8/layout/process5"/>
    <dgm:cxn modelId="{B6740C5D-A47D-4435-8E27-3C1D8CB0781A}" srcId="{E4B5A028-890E-4965-900D-D670D535BB3D}" destId="{1859026B-83B0-4858-BD1A-3001899060FF}" srcOrd="4" destOrd="0" parTransId="{5CFA7B5D-3BFD-4931-9B77-9B7EB46F426C}" sibTransId="{C45E9070-24E6-4372-B8AC-43A7E364DC02}"/>
    <dgm:cxn modelId="{24064669-40D1-4D81-9C2A-C74686A3ECFB}" srcId="{E4B5A028-890E-4965-900D-D670D535BB3D}" destId="{D352ABF0-6E7D-4B54-A964-5F938EF25513}" srcOrd="3" destOrd="0" parTransId="{D0D50F84-8C87-45D0-8F02-C4C25430BF08}" sibTransId="{736F4F6A-A492-40A1-BD07-DB872FB76304}"/>
    <dgm:cxn modelId="{FABDD350-158E-449E-B7A2-36C69DE423A1}" type="presOf" srcId="{FE0346DA-CE61-4173-8F43-E41D3EA36A48}" destId="{7A916DC5-2207-4EF9-A3D2-CA0D5F00FA2B}" srcOrd="0" destOrd="0" presId="urn:microsoft.com/office/officeart/2005/8/layout/process5"/>
    <dgm:cxn modelId="{888B6072-C00B-403A-8981-3C8DB736551C}" srcId="{E4B5A028-890E-4965-900D-D670D535BB3D}" destId="{FE0346DA-CE61-4173-8F43-E41D3EA36A48}" srcOrd="0" destOrd="0" parTransId="{D4BCB56C-1479-4952-BE95-53E212B0CE5B}" sibTransId="{1E3E5D6F-4DC3-47E0-A8C7-FA2399C609D6}"/>
    <dgm:cxn modelId="{32C5AF76-7196-4BAA-B4E6-D9613CE48E34}" srcId="{E4B5A028-890E-4965-900D-D670D535BB3D}" destId="{4311AD24-A212-415A-8CD1-1A8F8924FE1F}" srcOrd="1" destOrd="0" parTransId="{81793C66-509A-46C6-8CA7-01331C6E45C4}" sibTransId="{E19F0174-CB6B-478E-BE50-1AA7FBAEAC66}"/>
    <dgm:cxn modelId="{D5857582-F416-467A-B8EA-F24ED287FA84}" type="presOf" srcId="{E19F0174-CB6B-478E-BE50-1AA7FBAEAC66}" destId="{43CEF7BC-2F46-4121-BA5E-F95E0AE39E5A}" srcOrd="1" destOrd="0" presId="urn:microsoft.com/office/officeart/2005/8/layout/process5"/>
    <dgm:cxn modelId="{80513E93-C90B-4622-B317-A36004C1321D}" srcId="{E4B5A028-890E-4965-900D-D670D535BB3D}" destId="{6A7B8D42-3C1E-47CB-9571-5BC101B50A15}" srcOrd="5" destOrd="0" parTransId="{96B31297-8A72-4673-8B52-D6A166552328}" sibTransId="{2248978F-7B58-4DC4-9AC5-16FD5802267E}"/>
    <dgm:cxn modelId="{9C7ED29D-5DB1-4D13-B16E-FE69F55E4DFF}" type="presOf" srcId="{E19F0174-CB6B-478E-BE50-1AA7FBAEAC66}" destId="{0404C934-74A9-4744-B488-6B6D15629F8F}" srcOrd="0" destOrd="0" presId="urn:microsoft.com/office/officeart/2005/8/layout/process5"/>
    <dgm:cxn modelId="{8C45A6A1-9E27-48E1-A5E3-3B8D8075A3ED}" type="presOf" srcId="{1859026B-83B0-4858-BD1A-3001899060FF}" destId="{A386758F-9E52-402E-8053-84E9EE34ECD0}" srcOrd="0" destOrd="0" presId="urn:microsoft.com/office/officeart/2005/8/layout/process5"/>
    <dgm:cxn modelId="{B69E53B0-8B61-4937-97A0-A70FB5CEFAB3}" type="presOf" srcId="{D352ABF0-6E7D-4B54-A964-5F938EF25513}" destId="{A0FB346B-FFEF-476C-8BE3-D8EA33A40692}" srcOrd="0" destOrd="0" presId="urn:microsoft.com/office/officeart/2005/8/layout/process5"/>
    <dgm:cxn modelId="{55D3D7BD-BEFD-4E12-A9D8-633BE74033CC}" type="presOf" srcId="{6A7B8D42-3C1E-47CB-9571-5BC101B50A15}" destId="{9A37D23E-7458-4682-B724-9E2639A2D4CB}" srcOrd="0" destOrd="0" presId="urn:microsoft.com/office/officeart/2005/8/layout/process5"/>
    <dgm:cxn modelId="{9E8EE3BE-45E7-4A01-8EFD-7E06AB6148CD}" type="presOf" srcId="{4311AD24-A212-415A-8CD1-1A8F8924FE1F}" destId="{6A9441EA-30C1-4E6C-8402-6E7DEED2369B}" srcOrd="0" destOrd="0" presId="urn:microsoft.com/office/officeart/2005/8/layout/process5"/>
    <dgm:cxn modelId="{065B3EDC-520C-499A-BFAA-369F72488F99}" type="presOf" srcId="{C45E9070-24E6-4372-B8AC-43A7E364DC02}" destId="{99D66F6C-D092-461D-92A6-1FAE3D2E8C99}" srcOrd="1" destOrd="0" presId="urn:microsoft.com/office/officeart/2005/8/layout/process5"/>
    <dgm:cxn modelId="{3A5187DD-FCB1-433E-84EE-F072E245DB9E}" type="presOf" srcId="{C45E9070-24E6-4372-B8AC-43A7E364DC02}" destId="{4EBF99AD-EA7D-4A7B-AFCD-39D66CE965E5}" srcOrd="0" destOrd="0" presId="urn:microsoft.com/office/officeart/2005/8/layout/process5"/>
    <dgm:cxn modelId="{6C6919E6-8632-4BDE-8C33-69ECE90827C8}" type="presOf" srcId="{736F4F6A-A492-40A1-BD07-DB872FB76304}" destId="{D4777F7F-5174-4CA3-80C5-F04F7F34C4DC}" srcOrd="0" destOrd="0" presId="urn:microsoft.com/office/officeart/2005/8/layout/process5"/>
    <dgm:cxn modelId="{D4FD32F2-A36C-49B7-B965-2844DB6B5F00}" srcId="{E4B5A028-890E-4965-900D-D670D535BB3D}" destId="{E5429E16-0B9C-410C-B09F-A56D44460106}" srcOrd="2" destOrd="0" parTransId="{CF57A896-585A-4489-9225-99F886E7B514}" sibTransId="{82879A2E-D14B-4D88-B156-6358670909B8}"/>
    <dgm:cxn modelId="{05DD616A-8F69-443A-A328-2A11940672E8}" type="presParOf" srcId="{63BAE8A5-49E0-4BA7-B4C2-296AFF5A4927}" destId="{7A916DC5-2207-4EF9-A3D2-CA0D5F00FA2B}" srcOrd="0" destOrd="0" presId="urn:microsoft.com/office/officeart/2005/8/layout/process5"/>
    <dgm:cxn modelId="{14513FBA-E96F-4401-905E-157E87015760}" type="presParOf" srcId="{63BAE8A5-49E0-4BA7-B4C2-296AFF5A4927}" destId="{A8A10F55-CA90-4AA3-8CA4-2226FDF4685E}" srcOrd="1" destOrd="0" presId="urn:microsoft.com/office/officeart/2005/8/layout/process5"/>
    <dgm:cxn modelId="{7E00BFFE-FD3F-4573-8579-578C18F50220}" type="presParOf" srcId="{A8A10F55-CA90-4AA3-8CA4-2226FDF4685E}" destId="{FAF239E2-1EED-4433-982D-28E163F62274}" srcOrd="0" destOrd="0" presId="urn:microsoft.com/office/officeart/2005/8/layout/process5"/>
    <dgm:cxn modelId="{40EFD140-2FEE-4E9B-B03C-A09EDF35793F}" type="presParOf" srcId="{63BAE8A5-49E0-4BA7-B4C2-296AFF5A4927}" destId="{6A9441EA-30C1-4E6C-8402-6E7DEED2369B}" srcOrd="2" destOrd="0" presId="urn:microsoft.com/office/officeart/2005/8/layout/process5"/>
    <dgm:cxn modelId="{6E7D16AF-2CE1-4DDC-9082-267AB8AD9BD9}" type="presParOf" srcId="{63BAE8A5-49E0-4BA7-B4C2-296AFF5A4927}" destId="{0404C934-74A9-4744-B488-6B6D15629F8F}" srcOrd="3" destOrd="0" presId="urn:microsoft.com/office/officeart/2005/8/layout/process5"/>
    <dgm:cxn modelId="{2B990004-C269-4B92-BA9A-279F43BA1148}" type="presParOf" srcId="{0404C934-74A9-4744-B488-6B6D15629F8F}" destId="{43CEF7BC-2F46-4121-BA5E-F95E0AE39E5A}" srcOrd="0" destOrd="0" presId="urn:microsoft.com/office/officeart/2005/8/layout/process5"/>
    <dgm:cxn modelId="{E190973B-8C8B-469A-AB5B-FF3EEFD62E3A}" type="presParOf" srcId="{63BAE8A5-49E0-4BA7-B4C2-296AFF5A4927}" destId="{DD2233D7-6D02-42C5-B4F5-56F741238089}" srcOrd="4" destOrd="0" presId="urn:microsoft.com/office/officeart/2005/8/layout/process5"/>
    <dgm:cxn modelId="{D4A0933C-5CE5-4A32-837E-F4C8A9DEA441}" type="presParOf" srcId="{63BAE8A5-49E0-4BA7-B4C2-296AFF5A4927}" destId="{37A0E35D-D7CC-4614-AE17-7ED60AB9D130}" srcOrd="5" destOrd="0" presId="urn:microsoft.com/office/officeart/2005/8/layout/process5"/>
    <dgm:cxn modelId="{B9B4A062-A9BF-488F-9A49-ECD33538A799}" type="presParOf" srcId="{37A0E35D-D7CC-4614-AE17-7ED60AB9D130}" destId="{AE8D0717-1C9D-4898-8057-C95B8A583A80}" srcOrd="0" destOrd="0" presId="urn:microsoft.com/office/officeart/2005/8/layout/process5"/>
    <dgm:cxn modelId="{AA7FBA48-88CC-4F1B-92DD-3343A5D26D01}" type="presParOf" srcId="{63BAE8A5-49E0-4BA7-B4C2-296AFF5A4927}" destId="{A0FB346B-FFEF-476C-8BE3-D8EA33A40692}" srcOrd="6" destOrd="0" presId="urn:microsoft.com/office/officeart/2005/8/layout/process5"/>
    <dgm:cxn modelId="{3ADCEA75-D8D6-41B3-8305-8C9DE7BA9AA9}" type="presParOf" srcId="{63BAE8A5-49E0-4BA7-B4C2-296AFF5A4927}" destId="{D4777F7F-5174-4CA3-80C5-F04F7F34C4DC}" srcOrd="7" destOrd="0" presId="urn:microsoft.com/office/officeart/2005/8/layout/process5"/>
    <dgm:cxn modelId="{9FB9B212-FBF9-45E6-85CB-01910AAD469D}" type="presParOf" srcId="{D4777F7F-5174-4CA3-80C5-F04F7F34C4DC}" destId="{A7E61324-248C-4759-AEDB-7740689F3F75}" srcOrd="0" destOrd="0" presId="urn:microsoft.com/office/officeart/2005/8/layout/process5"/>
    <dgm:cxn modelId="{FC2EE9A7-2BDB-4D51-90B5-5BB9E5B6A63B}" type="presParOf" srcId="{63BAE8A5-49E0-4BA7-B4C2-296AFF5A4927}" destId="{A386758F-9E52-402E-8053-84E9EE34ECD0}" srcOrd="8" destOrd="0" presId="urn:microsoft.com/office/officeart/2005/8/layout/process5"/>
    <dgm:cxn modelId="{14896CB9-A8BA-468D-824B-63A739F89924}" type="presParOf" srcId="{63BAE8A5-49E0-4BA7-B4C2-296AFF5A4927}" destId="{4EBF99AD-EA7D-4A7B-AFCD-39D66CE965E5}" srcOrd="9" destOrd="0" presId="urn:microsoft.com/office/officeart/2005/8/layout/process5"/>
    <dgm:cxn modelId="{721C15AA-517B-4AA1-9676-076F917C57E3}" type="presParOf" srcId="{4EBF99AD-EA7D-4A7B-AFCD-39D66CE965E5}" destId="{99D66F6C-D092-461D-92A6-1FAE3D2E8C99}" srcOrd="0" destOrd="0" presId="urn:microsoft.com/office/officeart/2005/8/layout/process5"/>
    <dgm:cxn modelId="{3E3D03B7-BB0A-4E54-B4A9-9192209A6076}" type="presParOf" srcId="{63BAE8A5-49E0-4BA7-B4C2-296AFF5A4927}" destId="{9A37D23E-7458-4682-B724-9E2639A2D4CB}" srcOrd="10"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B6CF01-7892-44DE-8847-54AAED9F027B}">
      <dsp:nvSpPr>
        <dsp:cNvPr id="0" name=""/>
        <dsp:cNvSpPr/>
      </dsp:nvSpPr>
      <dsp:spPr>
        <a:xfrm>
          <a:off x="1747800" y="608594"/>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CBBC7F-4E06-4BBB-9A58-9211BC82486C}">
      <dsp:nvSpPr>
        <dsp:cNvPr id="0" name=""/>
        <dsp:cNvSpPr/>
      </dsp:nvSpPr>
      <dsp:spPr>
        <a:xfrm>
          <a:off x="559800" y="3022742"/>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GB" sz="1600" kern="1200" dirty="0">
              <a:latin typeface="Arial" panose="020B0604020202020204" pitchFamily="34" charset="0"/>
              <a:cs typeface="Arial" panose="020B0604020202020204" pitchFamily="34" charset="0"/>
            </a:rPr>
            <a:t>Part of health and safety is remembering to work within your scope of practice </a:t>
          </a:r>
          <a:endParaRPr lang="en-US" sz="1600" kern="1200" dirty="0">
            <a:latin typeface="Arial" panose="020B0604020202020204" pitchFamily="34" charset="0"/>
            <a:cs typeface="Arial" panose="020B0604020202020204" pitchFamily="34" charset="0"/>
          </a:endParaRPr>
        </a:p>
      </dsp:txBody>
      <dsp:txXfrm>
        <a:off x="559800" y="3022742"/>
        <a:ext cx="4320000" cy="720000"/>
      </dsp:txXfrm>
    </dsp:sp>
    <dsp:sp modelId="{8A4A7DC7-41E6-4193-BB25-C29B3AF14FDB}">
      <dsp:nvSpPr>
        <dsp:cNvPr id="0" name=""/>
        <dsp:cNvSpPr/>
      </dsp:nvSpPr>
      <dsp:spPr>
        <a:xfrm>
          <a:off x="6823800" y="608594"/>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8A0AD3-9D53-4A54-9A1A-ED13C0B5F39A}">
      <dsp:nvSpPr>
        <dsp:cNvPr id="0" name=""/>
        <dsp:cNvSpPr/>
      </dsp:nvSpPr>
      <dsp:spPr>
        <a:xfrm>
          <a:off x="5635800" y="3022742"/>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GB" sz="1600" kern="1200" dirty="0">
              <a:latin typeface="Arial" panose="020B0604020202020204" pitchFamily="34" charset="0"/>
              <a:cs typeface="Arial" panose="020B0604020202020204" pitchFamily="34" charset="0"/>
            </a:rPr>
            <a:t>Recognise and highlight if you do not feel prepared to do something / have never done something before </a:t>
          </a:r>
          <a:endParaRPr lang="en-US" sz="1600" kern="1200" dirty="0">
            <a:latin typeface="Arial" panose="020B0604020202020204" pitchFamily="34" charset="0"/>
            <a:cs typeface="Arial" panose="020B0604020202020204" pitchFamily="34" charset="0"/>
          </a:endParaRPr>
        </a:p>
      </dsp:txBody>
      <dsp:txXfrm>
        <a:off x="5635800" y="3022742"/>
        <a:ext cx="432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916DC5-2207-4EF9-A3D2-CA0D5F00FA2B}">
      <dsp:nvSpPr>
        <dsp:cNvPr id="0" name=""/>
        <dsp:cNvSpPr/>
      </dsp:nvSpPr>
      <dsp:spPr>
        <a:xfrm>
          <a:off x="97043" y="2718"/>
          <a:ext cx="2716187" cy="162971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GB" sz="1800" kern="1200" dirty="0">
              <a:latin typeface="Arial" panose="020B0604020202020204" pitchFamily="34" charset="0"/>
              <a:cs typeface="Arial" panose="020B0604020202020204" pitchFamily="34" charset="0"/>
            </a:rPr>
            <a:t>Incident occurs </a:t>
          </a:r>
        </a:p>
      </dsp:txBody>
      <dsp:txXfrm>
        <a:off x="144776" y="50451"/>
        <a:ext cx="2620721" cy="1534246"/>
      </dsp:txXfrm>
    </dsp:sp>
    <dsp:sp modelId="{A8A10F55-CA90-4AA3-8CA4-2226FDF4685E}">
      <dsp:nvSpPr>
        <dsp:cNvPr id="0" name=""/>
        <dsp:cNvSpPr/>
      </dsp:nvSpPr>
      <dsp:spPr>
        <a:xfrm>
          <a:off x="3052255" y="480767"/>
          <a:ext cx="575831" cy="673614"/>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latin typeface="Arial" panose="020B0604020202020204" pitchFamily="34" charset="0"/>
            <a:cs typeface="Arial" panose="020B0604020202020204" pitchFamily="34" charset="0"/>
          </a:endParaRPr>
        </a:p>
      </dsp:txBody>
      <dsp:txXfrm>
        <a:off x="3052255" y="615490"/>
        <a:ext cx="403082" cy="404168"/>
      </dsp:txXfrm>
    </dsp:sp>
    <dsp:sp modelId="{6A9441EA-30C1-4E6C-8402-6E7DEED2369B}">
      <dsp:nvSpPr>
        <dsp:cNvPr id="0" name=""/>
        <dsp:cNvSpPr/>
      </dsp:nvSpPr>
      <dsp:spPr>
        <a:xfrm>
          <a:off x="3899706" y="2718"/>
          <a:ext cx="2716187" cy="162971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GB" sz="1800" kern="1200" dirty="0">
              <a:latin typeface="Arial" panose="020B0604020202020204" pitchFamily="34" charset="0"/>
              <a:cs typeface="Arial" panose="020B0604020202020204" pitchFamily="34" charset="0"/>
            </a:rPr>
            <a:t>Escalate to medical team and manager</a:t>
          </a:r>
        </a:p>
      </dsp:txBody>
      <dsp:txXfrm>
        <a:off x="3947439" y="50451"/>
        <a:ext cx="2620721" cy="1534246"/>
      </dsp:txXfrm>
    </dsp:sp>
    <dsp:sp modelId="{0404C934-74A9-4744-B488-6B6D15629F8F}">
      <dsp:nvSpPr>
        <dsp:cNvPr id="0" name=""/>
        <dsp:cNvSpPr/>
      </dsp:nvSpPr>
      <dsp:spPr>
        <a:xfrm>
          <a:off x="6854918" y="480767"/>
          <a:ext cx="575831" cy="673614"/>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latin typeface="Arial" panose="020B0604020202020204" pitchFamily="34" charset="0"/>
            <a:cs typeface="Arial" panose="020B0604020202020204" pitchFamily="34" charset="0"/>
          </a:endParaRPr>
        </a:p>
      </dsp:txBody>
      <dsp:txXfrm>
        <a:off x="6854918" y="615490"/>
        <a:ext cx="403082" cy="404168"/>
      </dsp:txXfrm>
    </dsp:sp>
    <dsp:sp modelId="{DD2233D7-6D02-42C5-B4F5-56F741238089}">
      <dsp:nvSpPr>
        <dsp:cNvPr id="0" name=""/>
        <dsp:cNvSpPr/>
      </dsp:nvSpPr>
      <dsp:spPr>
        <a:xfrm>
          <a:off x="7702368" y="2718"/>
          <a:ext cx="2716187" cy="162971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GB" sz="1800" kern="1200" dirty="0">
              <a:latin typeface="Arial" panose="020B0604020202020204" pitchFamily="34" charset="0"/>
              <a:cs typeface="Arial" panose="020B0604020202020204" pitchFamily="34" charset="0"/>
            </a:rPr>
            <a:t>Report incident on formal system </a:t>
          </a:r>
        </a:p>
      </dsp:txBody>
      <dsp:txXfrm>
        <a:off x="7750101" y="50451"/>
        <a:ext cx="2620721" cy="1534246"/>
      </dsp:txXfrm>
    </dsp:sp>
    <dsp:sp modelId="{37A0E35D-D7CC-4614-AE17-7ED60AB9D130}">
      <dsp:nvSpPr>
        <dsp:cNvPr id="0" name=""/>
        <dsp:cNvSpPr/>
      </dsp:nvSpPr>
      <dsp:spPr>
        <a:xfrm rot="5400000">
          <a:off x="8772546" y="1822564"/>
          <a:ext cx="575831" cy="673614"/>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latin typeface="Arial" panose="020B0604020202020204" pitchFamily="34" charset="0"/>
            <a:cs typeface="Arial" panose="020B0604020202020204" pitchFamily="34" charset="0"/>
          </a:endParaRPr>
        </a:p>
      </dsp:txBody>
      <dsp:txXfrm rot="-5400000">
        <a:off x="8858378" y="1871456"/>
        <a:ext cx="404168" cy="403082"/>
      </dsp:txXfrm>
    </dsp:sp>
    <dsp:sp modelId="{A0FB346B-FFEF-476C-8BE3-D8EA33A40692}">
      <dsp:nvSpPr>
        <dsp:cNvPr id="0" name=""/>
        <dsp:cNvSpPr/>
      </dsp:nvSpPr>
      <dsp:spPr>
        <a:xfrm>
          <a:off x="7702368" y="2718906"/>
          <a:ext cx="2716187" cy="162971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GB" sz="1800" kern="1200" dirty="0">
              <a:latin typeface="Arial" panose="020B0604020202020204" pitchFamily="34" charset="0"/>
              <a:cs typeface="Arial" panose="020B0604020202020204" pitchFamily="34" charset="0"/>
            </a:rPr>
            <a:t>Investigation into incident </a:t>
          </a:r>
        </a:p>
      </dsp:txBody>
      <dsp:txXfrm>
        <a:off x="7750101" y="2766639"/>
        <a:ext cx="2620721" cy="1534246"/>
      </dsp:txXfrm>
    </dsp:sp>
    <dsp:sp modelId="{D4777F7F-5174-4CA3-80C5-F04F7F34C4DC}">
      <dsp:nvSpPr>
        <dsp:cNvPr id="0" name=""/>
        <dsp:cNvSpPr/>
      </dsp:nvSpPr>
      <dsp:spPr>
        <a:xfrm rot="10800000">
          <a:off x="6887512" y="3196955"/>
          <a:ext cx="575831" cy="673614"/>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latin typeface="Arial" panose="020B0604020202020204" pitchFamily="34" charset="0"/>
            <a:cs typeface="Arial" panose="020B0604020202020204" pitchFamily="34" charset="0"/>
          </a:endParaRPr>
        </a:p>
      </dsp:txBody>
      <dsp:txXfrm rot="10800000">
        <a:off x="7060261" y="3331678"/>
        <a:ext cx="403082" cy="404168"/>
      </dsp:txXfrm>
    </dsp:sp>
    <dsp:sp modelId="{A386758F-9E52-402E-8053-84E9EE34ECD0}">
      <dsp:nvSpPr>
        <dsp:cNvPr id="0" name=""/>
        <dsp:cNvSpPr/>
      </dsp:nvSpPr>
      <dsp:spPr>
        <a:xfrm>
          <a:off x="3899706" y="2718906"/>
          <a:ext cx="2716187" cy="162971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GB" sz="1800" kern="1200" dirty="0">
              <a:latin typeface="Arial" panose="020B0604020202020204" pitchFamily="34" charset="0"/>
              <a:cs typeface="Arial" panose="020B0604020202020204" pitchFamily="34" charset="0"/>
            </a:rPr>
            <a:t>Reflection and analysis </a:t>
          </a:r>
        </a:p>
      </dsp:txBody>
      <dsp:txXfrm>
        <a:off x="3947439" y="2766639"/>
        <a:ext cx="2620721" cy="1534246"/>
      </dsp:txXfrm>
    </dsp:sp>
    <dsp:sp modelId="{4EBF99AD-EA7D-4A7B-AFCD-39D66CE965E5}">
      <dsp:nvSpPr>
        <dsp:cNvPr id="0" name=""/>
        <dsp:cNvSpPr/>
      </dsp:nvSpPr>
      <dsp:spPr>
        <a:xfrm rot="10800000">
          <a:off x="3084849" y="3196955"/>
          <a:ext cx="575831" cy="673614"/>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latin typeface="Arial" panose="020B0604020202020204" pitchFamily="34" charset="0"/>
            <a:cs typeface="Arial" panose="020B0604020202020204" pitchFamily="34" charset="0"/>
          </a:endParaRPr>
        </a:p>
      </dsp:txBody>
      <dsp:txXfrm rot="10800000">
        <a:off x="3257598" y="3331678"/>
        <a:ext cx="403082" cy="404168"/>
      </dsp:txXfrm>
    </dsp:sp>
    <dsp:sp modelId="{9A37D23E-7458-4682-B724-9E2639A2D4CB}">
      <dsp:nvSpPr>
        <dsp:cNvPr id="0" name=""/>
        <dsp:cNvSpPr/>
      </dsp:nvSpPr>
      <dsp:spPr>
        <a:xfrm>
          <a:off x="97043" y="2718906"/>
          <a:ext cx="2716187" cy="162971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GB" sz="1800" kern="1200" dirty="0">
              <a:latin typeface="Arial" panose="020B0604020202020204" pitchFamily="34" charset="0"/>
              <a:cs typeface="Arial" panose="020B0604020202020204" pitchFamily="34" charset="0"/>
            </a:rPr>
            <a:t>Plan and complete appropriate changes </a:t>
          </a:r>
        </a:p>
      </dsp:txBody>
      <dsp:txXfrm>
        <a:off x="144776" y="2766639"/>
        <a:ext cx="2620721" cy="1534246"/>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D07BE1-CC91-41CB-91C6-6946F71E328E}" type="datetimeFigureOut">
              <a:t>10/25/2023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00C0BF-B46E-4295-AEE8-E42E51784B12}" type="slidenum">
              <a:t>‹#›</a:t>
            </a:fld>
            <a:endParaRPr lang="en-GB"/>
          </a:p>
        </p:txBody>
      </p:sp>
    </p:spTree>
    <p:extLst>
      <p:ext uri="{BB962C8B-B14F-4D97-AF65-F5344CB8AC3E}">
        <p14:creationId xmlns:p14="http://schemas.microsoft.com/office/powerpoint/2010/main" val="62596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BB6982B-DF9A-1FF1-93ED-B4CFDC1849A9}"/>
              </a:ext>
            </a:extLst>
          </p:cNvPr>
          <p:cNvSpPr/>
          <p:nvPr/>
        </p:nvSpPr>
        <p:spPr>
          <a:xfrm>
            <a:off x="1" y="2887133"/>
            <a:ext cx="12192000" cy="39708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8CE2602-3CA0-38E5-41B0-B384623CA5DF}"/>
              </a:ext>
            </a:extLst>
          </p:cNvPr>
          <p:cNvSpPr>
            <a:spLocks noGrp="1"/>
          </p:cNvSpPr>
          <p:nvPr>
            <p:ph type="ctrTitle"/>
          </p:nvPr>
        </p:nvSpPr>
        <p:spPr>
          <a:xfrm>
            <a:off x="0" y="2965185"/>
            <a:ext cx="9144000" cy="2387600"/>
          </a:xfrm>
        </p:spPr>
        <p:txBody>
          <a:bodyPr anchor="b"/>
          <a:lstStyle>
            <a:lvl1pPr algn="l">
              <a:defRPr sz="6000">
                <a:solidFill>
                  <a:schemeClr val="bg1"/>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3F43682A-A1AB-B6CB-9103-BCB53ED40C59}"/>
              </a:ext>
            </a:extLst>
          </p:cNvPr>
          <p:cNvSpPr>
            <a:spLocks noGrp="1"/>
          </p:cNvSpPr>
          <p:nvPr>
            <p:ph type="subTitle" idx="1" hasCustomPrompt="1"/>
          </p:nvPr>
        </p:nvSpPr>
        <p:spPr>
          <a:xfrm>
            <a:off x="59267" y="6163734"/>
            <a:ext cx="4411134" cy="626533"/>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Isobel Davies </a:t>
            </a:r>
          </a:p>
        </p:txBody>
      </p:sp>
      <p:pic>
        <p:nvPicPr>
          <p:cNvPr id="8" name="Picture 7">
            <a:extLst>
              <a:ext uri="{FF2B5EF4-FFF2-40B4-BE49-F238E27FC236}">
                <a16:creationId xmlns:a16="http://schemas.microsoft.com/office/drawing/2014/main" id="{C13AD7B5-196D-B7AE-8987-C9434319E26A}"/>
              </a:ext>
            </a:extLst>
          </p:cNvPr>
          <p:cNvPicPr>
            <a:picLocks noChangeAspect="1"/>
          </p:cNvPicPr>
          <p:nvPr/>
        </p:nvPicPr>
        <p:blipFill>
          <a:blip r:embed="rId2"/>
          <a:stretch>
            <a:fillRect/>
          </a:stretch>
        </p:blipFill>
        <p:spPr>
          <a:xfrm>
            <a:off x="10414001" y="0"/>
            <a:ext cx="1777999" cy="1000124"/>
          </a:xfrm>
          <a:prstGeom prst="rect">
            <a:avLst/>
          </a:prstGeom>
        </p:spPr>
      </p:pic>
    </p:spTree>
    <p:extLst>
      <p:ext uri="{BB962C8B-B14F-4D97-AF65-F5344CB8AC3E}">
        <p14:creationId xmlns:p14="http://schemas.microsoft.com/office/powerpoint/2010/main" val="417920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AE6E5A8-1C06-D60B-70CA-D309FCB28D08}"/>
              </a:ext>
            </a:extLst>
          </p:cNvPr>
          <p:cNvSpPr/>
          <p:nvPr/>
        </p:nvSpPr>
        <p:spPr>
          <a:xfrm>
            <a:off x="0" y="14490"/>
            <a:ext cx="12192000" cy="169068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D9BD9620-0840-C4B1-AF6F-DD56DF7A7E6A}"/>
              </a:ext>
            </a:extLst>
          </p:cNvPr>
          <p:cNvSpPr>
            <a:spLocks noGrp="1"/>
          </p:cNvSpPr>
          <p:nvPr>
            <p:ph type="title"/>
          </p:nvPr>
        </p:nvSpPr>
        <p:spPr>
          <a:xfrm>
            <a:off x="0" y="379615"/>
            <a:ext cx="10515600" cy="1325563"/>
          </a:xfrm>
        </p:spPr>
        <p:txBody>
          <a:bodyPr/>
          <a:lstStyle>
            <a:lvl1pPr>
              <a:defRPr>
                <a:solidFill>
                  <a:schemeClr val="bg1"/>
                </a:solidFill>
              </a:defRPr>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4D874E31-07C2-31AD-FA63-685EA15A5468}"/>
              </a:ext>
            </a:extLst>
          </p:cNvPr>
          <p:cNvSpPr>
            <a:spLocks noGrp="1"/>
          </p:cNvSpPr>
          <p:nvPr>
            <p:ph idx="1"/>
          </p:nvPr>
        </p:nvSpPr>
        <p:spPr>
          <a:xfrm>
            <a:off x="838200" y="2313764"/>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1026" name="Picture 2" descr="London Metropolitan University | Diversity Abroad">
            <a:extLst>
              <a:ext uri="{FF2B5EF4-FFF2-40B4-BE49-F238E27FC236}">
                <a16:creationId xmlns:a16="http://schemas.microsoft.com/office/drawing/2014/main" id="{2C8BDD7A-1330-487C-FF88-28ED18CDBED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44521" y="6113896"/>
            <a:ext cx="1347479" cy="75795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676697B3-46FF-F729-55F0-8D65553CC0B9}"/>
              </a:ext>
            </a:extLst>
          </p:cNvPr>
          <p:cNvCxnSpPr>
            <a:cxnSpLocks/>
          </p:cNvCxnSpPr>
          <p:nvPr/>
        </p:nvCxnSpPr>
        <p:spPr>
          <a:xfrm>
            <a:off x="302508" y="1993805"/>
            <a:ext cx="2585071" cy="0"/>
          </a:xfrm>
          <a:prstGeom prst="line">
            <a:avLst/>
          </a:prstGeom>
          <a:ln w="57150"/>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545487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34280-D226-DC14-4714-F32FED72BB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4465485-9EF5-9139-DB1C-DD992D31B2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3B4C0F-1E63-482B-0959-FF548E261DCB}"/>
              </a:ext>
            </a:extLst>
          </p:cNvPr>
          <p:cNvSpPr>
            <a:spLocks noGrp="1"/>
          </p:cNvSpPr>
          <p:nvPr>
            <p:ph type="dt" sz="half" idx="10"/>
          </p:nvPr>
        </p:nvSpPr>
        <p:spPr/>
        <p:txBody>
          <a:bodyPr/>
          <a:lstStyle/>
          <a:p>
            <a:fld id="{846CE7D5-CF57-46EF-B807-FDD0502418D4}" type="datetimeFigureOut">
              <a:rPr lang="en-GB" smtClean="0"/>
              <a:t>25/10/2023</a:t>
            </a:fld>
            <a:endParaRPr lang="en-GB"/>
          </a:p>
        </p:txBody>
      </p:sp>
      <p:sp>
        <p:nvSpPr>
          <p:cNvPr id="5" name="Footer Placeholder 4">
            <a:extLst>
              <a:ext uri="{FF2B5EF4-FFF2-40B4-BE49-F238E27FC236}">
                <a16:creationId xmlns:a16="http://schemas.microsoft.com/office/drawing/2014/main" id="{9FCE5A6F-8CAA-D3A4-98AC-C0525D70CE3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F0D0565-40DA-A613-6B6A-772805D9BCA5}"/>
              </a:ext>
            </a:extLst>
          </p:cNvPr>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3640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473134-B677-1832-5CBC-48A6F612F4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906954F-E310-3BC8-BD78-8AC1FE4A15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7">
            <a:extLst>
              <a:ext uri="{FF2B5EF4-FFF2-40B4-BE49-F238E27FC236}">
                <a16:creationId xmlns:a16="http://schemas.microsoft.com/office/drawing/2014/main" id="{5A992008-0414-B2B9-91BD-C32B64F1CA41}"/>
              </a:ext>
            </a:extLst>
          </p:cNvPr>
          <p:cNvSpPr/>
          <p:nvPr/>
        </p:nvSpPr>
        <p:spPr>
          <a:xfrm>
            <a:off x="0" y="1"/>
            <a:ext cx="12192000" cy="132003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363F11F-9927-39C5-32EA-4B9CAF425391}"/>
              </a:ext>
            </a:extLst>
          </p:cNvPr>
          <p:cNvSpPr>
            <a:spLocks noGrp="1"/>
          </p:cNvSpPr>
          <p:nvPr>
            <p:ph type="title"/>
          </p:nvPr>
        </p:nvSpPr>
        <p:spPr>
          <a:xfrm>
            <a:off x="0" y="410368"/>
            <a:ext cx="10515600" cy="1325563"/>
          </a:xfrm>
        </p:spPr>
        <p:txBody>
          <a:bodyPr/>
          <a:lstStyle>
            <a:lvl1pPr>
              <a:defRPr>
                <a:solidFill>
                  <a:schemeClr val="bg1"/>
                </a:solidFill>
              </a:defRPr>
            </a:lvl1pPr>
          </a:lstStyle>
          <a:p>
            <a:r>
              <a:rPr lang="en-US"/>
              <a:t>Click to edit Master title style</a:t>
            </a:r>
            <a:endParaRPr lang="en-GB"/>
          </a:p>
        </p:txBody>
      </p:sp>
      <p:cxnSp>
        <p:nvCxnSpPr>
          <p:cNvPr id="10" name="Straight Connector 9">
            <a:extLst>
              <a:ext uri="{FF2B5EF4-FFF2-40B4-BE49-F238E27FC236}">
                <a16:creationId xmlns:a16="http://schemas.microsoft.com/office/drawing/2014/main" id="{B68D5258-C137-A48A-E8C4-B4C890119E4A}"/>
              </a:ext>
            </a:extLst>
          </p:cNvPr>
          <p:cNvCxnSpPr/>
          <p:nvPr/>
        </p:nvCxnSpPr>
        <p:spPr>
          <a:xfrm>
            <a:off x="653143" y="1629420"/>
            <a:ext cx="1395663" cy="0"/>
          </a:xfrm>
          <a:prstGeom prst="line">
            <a:avLst/>
          </a:prstGeom>
          <a:ln w="57150"/>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291EF0F5-898D-DE87-A9FE-E07843E5C128}"/>
              </a:ext>
            </a:extLst>
          </p:cNvPr>
          <p:cNvCxnSpPr/>
          <p:nvPr/>
        </p:nvCxnSpPr>
        <p:spPr>
          <a:xfrm>
            <a:off x="6172200" y="1603066"/>
            <a:ext cx="1395663" cy="0"/>
          </a:xfrm>
          <a:prstGeom prst="line">
            <a:avLst/>
          </a:prstGeom>
          <a:ln w="57150"/>
        </p:spPr>
        <p:style>
          <a:lnRef idx="3">
            <a:schemeClr val="dk1"/>
          </a:lnRef>
          <a:fillRef idx="0">
            <a:schemeClr val="dk1"/>
          </a:fillRef>
          <a:effectRef idx="2">
            <a:schemeClr val="dk1"/>
          </a:effectRef>
          <a:fontRef idx="minor">
            <a:schemeClr val="tx1"/>
          </a:fontRef>
        </p:style>
      </p:cxnSp>
      <p:pic>
        <p:nvPicPr>
          <p:cNvPr id="12" name="Picture 2" descr="London Metropolitan University | Diversity Abroad">
            <a:extLst>
              <a:ext uri="{FF2B5EF4-FFF2-40B4-BE49-F238E27FC236}">
                <a16:creationId xmlns:a16="http://schemas.microsoft.com/office/drawing/2014/main" id="{37D134CB-DDD9-BACD-8572-3E0007B7509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44521" y="6113896"/>
            <a:ext cx="1347479" cy="7579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5546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4F21A-5FDC-A103-4607-2D5A34AC218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5D65B5A-D728-06EB-16D4-57D9998230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B7B7AE-6006-3B3E-25AA-4EF8658446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894F1D8-68A0-62B8-7F86-D9A6250930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7A5C16-D31D-9CDA-C7F5-7CF3E0A193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CF18558-0A34-C95F-8B9B-72CEBB9F5879}"/>
              </a:ext>
            </a:extLst>
          </p:cNvPr>
          <p:cNvSpPr>
            <a:spLocks noGrp="1"/>
          </p:cNvSpPr>
          <p:nvPr>
            <p:ph type="dt" sz="half" idx="10"/>
          </p:nvPr>
        </p:nvSpPr>
        <p:spPr/>
        <p:txBody>
          <a:bodyPr/>
          <a:lstStyle/>
          <a:p>
            <a:fld id="{846CE7D5-CF57-46EF-B807-FDD0502418D4}" type="datetimeFigureOut">
              <a:rPr lang="en-GB" smtClean="0"/>
              <a:t>25/10/2023</a:t>
            </a:fld>
            <a:endParaRPr lang="en-GB"/>
          </a:p>
        </p:txBody>
      </p:sp>
      <p:sp>
        <p:nvSpPr>
          <p:cNvPr id="8" name="Footer Placeholder 7">
            <a:extLst>
              <a:ext uri="{FF2B5EF4-FFF2-40B4-BE49-F238E27FC236}">
                <a16:creationId xmlns:a16="http://schemas.microsoft.com/office/drawing/2014/main" id="{7DBF9368-A6AB-50C4-0A99-421BA7B02B3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6E7968D-184F-DAF1-8D7A-9C6838525EEA}"/>
              </a:ext>
            </a:extLst>
          </p:cNvPr>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4294077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9D2CD5-6D70-A517-2C17-0AB3588F5104}"/>
              </a:ext>
            </a:extLst>
          </p:cNvPr>
          <p:cNvSpPr/>
          <p:nvPr/>
        </p:nvSpPr>
        <p:spPr>
          <a:xfrm>
            <a:off x="0" y="0"/>
            <a:ext cx="12192000" cy="159504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638D7A53-80CA-4981-C062-1683F791BD24}"/>
              </a:ext>
            </a:extLst>
          </p:cNvPr>
          <p:cNvSpPr>
            <a:spLocks noGrp="1"/>
          </p:cNvSpPr>
          <p:nvPr>
            <p:ph type="title"/>
          </p:nvPr>
        </p:nvSpPr>
        <p:spPr>
          <a:xfrm>
            <a:off x="0" y="730250"/>
            <a:ext cx="10515600" cy="1325563"/>
          </a:xfrm>
        </p:spPr>
        <p:txBody>
          <a:bodyPr/>
          <a:lstStyle>
            <a:lvl1pPr>
              <a:defRPr>
                <a:solidFill>
                  <a:schemeClr val="bg1"/>
                </a:solidFill>
              </a:defRPr>
            </a:lvl1pPr>
          </a:lstStyle>
          <a:p>
            <a:r>
              <a:rPr lang="en-US"/>
              <a:t>Click to edit Master title style</a:t>
            </a:r>
            <a:endParaRPr lang="en-GB"/>
          </a:p>
        </p:txBody>
      </p:sp>
      <p:pic>
        <p:nvPicPr>
          <p:cNvPr id="7" name="Picture 2" descr="London Metropolitan University | Diversity Abroad">
            <a:extLst>
              <a:ext uri="{FF2B5EF4-FFF2-40B4-BE49-F238E27FC236}">
                <a16:creationId xmlns:a16="http://schemas.microsoft.com/office/drawing/2014/main" id="{D362AA3E-CCC7-1269-E609-D4BAA7FF225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44521" y="6113896"/>
            <a:ext cx="1347479" cy="7579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4714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2" descr="London Metropolitan University | Diversity Abroad">
            <a:extLst>
              <a:ext uri="{FF2B5EF4-FFF2-40B4-BE49-F238E27FC236}">
                <a16:creationId xmlns:a16="http://schemas.microsoft.com/office/drawing/2014/main" id="{01FF39F5-58B2-9749-4490-A944E6D4805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44521" y="6113896"/>
            <a:ext cx="1347479" cy="75795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A0818584-7CFB-C480-C31B-A997AF1B97F2}"/>
              </a:ext>
            </a:extLst>
          </p:cNvPr>
          <p:cNvSpPr/>
          <p:nvPr/>
        </p:nvSpPr>
        <p:spPr>
          <a:xfrm>
            <a:off x="0" y="0"/>
            <a:ext cx="4152614"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5E100234-438F-D4E5-C40F-5899A1940824}"/>
              </a:ext>
            </a:extLst>
          </p:cNvPr>
          <p:cNvSpPr txBox="1"/>
          <p:nvPr/>
        </p:nvSpPr>
        <p:spPr>
          <a:xfrm>
            <a:off x="4723254" y="2509444"/>
            <a:ext cx="6503928" cy="1569660"/>
          </a:xfrm>
          <a:prstGeom prst="rect">
            <a:avLst/>
          </a:prstGeom>
          <a:noFill/>
        </p:spPr>
        <p:txBody>
          <a:bodyPr wrap="square" rtlCol="0">
            <a:spAutoFit/>
          </a:bodyPr>
          <a:lstStyle/>
          <a:p>
            <a:r>
              <a:rPr lang="en-GB" sz="9600" dirty="0"/>
              <a:t>Questions? </a:t>
            </a:r>
          </a:p>
        </p:txBody>
      </p:sp>
    </p:spTree>
    <p:extLst>
      <p:ext uri="{BB962C8B-B14F-4D97-AF65-F5344CB8AC3E}">
        <p14:creationId xmlns:p14="http://schemas.microsoft.com/office/powerpoint/2010/main" val="2275413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07680-D097-392A-2C80-CB6D544959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39FABCE-ABAD-26CC-5ED5-2D9978684A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4802B6B-51B6-1C72-C0D4-85BABB30C8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E83551-AC8F-6E57-E9CC-AD59DF8ED2C3}"/>
              </a:ext>
            </a:extLst>
          </p:cNvPr>
          <p:cNvSpPr>
            <a:spLocks noGrp="1"/>
          </p:cNvSpPr>
          <p:nvPr>
            <p:ph type="dt" sz="half" idx="10"/>
          </p:nvPr>
        </p:nvSpPr>
        <p:spPr/>
        <p:txBody>
          <a:bodyPr/>
          <a:lstStyle/>
          <a:p>
            <a:fld id="{846CE7D5-CF57-46EF-B807-FDD0502418D4}" type="datetimeFigureOut">
              <a:rPr lang="en-GB" smtClean="0"/>
              <a:t>25/10/2023</a:t>
            </a:fld>
            <a:endParaRPr lang="en-GB"/>
          </a:p>
        </p:txBody>
      </p:sp>
      <p:sp>
        <p:nvSpPr>
          <p:cNvPr id="6" name="Footer Placeholder 5">
            <a:extLst>
              <a:ext uri="{FF2B5EF4-FFF2-40B4-BE49-F238E27FC236}">
                <a16:creationId xmlns:a16="http://schemas.microsoft.com/office/drawing/2014/main" id="{E6F80383-36AF-82AF-C0B8-FC513D97BAD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20E62E8-8F67-EF7C-4078-772AF2D1C046}"/>
              </a:ext>
            </a:extLst>
          </p:cNvPr>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628757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8E418-5AAC-8B12-F86C-7D5F305749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7BA5F73-AEF3-A735-ACB1-EC4144C2BC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a16="http://schemas.microsoft.com/office/drawing/2014/main" id="{33163162-E54B-A41F-A890-02A4CF7F88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381969-C652-2C8B-1456-69E9EC1C9526}"/>
              </a:ext>
            </a:extLst>
          </p:cNvPr>
          <p:cNvSpPr>
            <a:spLocks noGrp="1"/>
          </p:cNvSpPr>
          <p:nvPr>
            <p:ph type="dt" sz="half" idx="10"/>
          </p:nvPr>
        </p:nvSpPr>
        <p:spPr/>
        <p:txBody>
          <a:bodyPr/>
          <a:lstStyle/>
          <a:p>
            <a:fld id="{846CE7D5-CF57-46EF-B807-FDD0502418D4}" type="datetimeFigureOut">
              <a:rPr lang="en-GB" smtClean="0"/>
              <a:t>25/10/2023</a:t>
            </a:fld>
            <a:endParaRPr lang="en-GB"/>
          </a:p>
        </p:txBody>
      </p:sp>
      <p:sp>
        <p:nvSpPr>
          <p:cNvPr id="6" name="Footer Placeholder 5">
            <a:extLst>
              <a:ext uri="{FF2B5EF4-FFF2-40B4-BE49-F238E27FC236}">
                <a16:creationId xmlns:a16="http://schemas.microsoft.com/office/drawing/2014/main" id="{6AABAFAC-19E4-4E36-4352-2E9C3AE14AE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DB31C92-A389-0F28-8809-DFCF12D1B412}"/>
              </a:ext>
            </a:extLst>
          </p:cNvPr>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449333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6CB88-E83B-A9CB-3079-C114F778540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02B31A0-599C-9799-B87D-A10764F5A8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9F66BC0-DED9-C335-1EA1-AEC7F61A0CD3}"/>
              </a:ext>
            </a:extLst>
          </p:cNvPr>
          <p:cNvSpPr>
            <a:spLocks noGrp="1"/>
          </p:cNvSpPr>
          <p:nvPr>
            <p:ph type="dt" sz="half" idx="10"/>
          </p:nvPr>
        </p:nvSpPr>
        <p:spPr/>
        <p:txBody>
          <a:bodyPr/>
          <a:lstStyle/>
          <a:p>
            <a:fld id="{846CE7D5-CF57-46EF-B807-FDD0502418D4}" type="datetimeFigureOut">
              <a:rPr lang="en-GB" smtClean="0"/>
              <a:t>25/10/2023</a:t>
            </a:fld>
            <a:endParaRPr lang="en-GB"/>
          </a:p>
        </p:txBody>
      </p:sp>
      <p:sp>
        <p:nvSpPr>
          <p:cNvPr id="5" name="Footer Placeholder 4">
            <a:extLst>
              <a:ext uri="{FF2B5EF4-FFF2-40B4-BE49-F238E27FC236}">
                <a16:creationId xmlns:a16="http://schemas.microsoft.com/office/drawing/2014/main" id="{213B31ED-485B-570A-B6A9-92FEC618586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179BAED-3218-E2B1-01AC-872EAED60A70}"/>
              </a:ext>
            </a:extLst>
          </p:cNvPr>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618246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7EC147-AD87-B353-76C2-F84F682DA3E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191A306-2430-2820-252B-D79CB21BD6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DE111F2-2B28-E798-75C6-48F675F9D4DA}"/>
              </a:ext>
            </a:extLst>
          </p:cNvPr>
          <p:cNvSpPr>
            <a:spLocks noGrp="1"/>
          </p:cNvSpPr>
          <p:nvPr>
            <p:ph type="dt" sz="half" idx="10"/>
          </p:nvPr>
        </p:nvSpPr>
        <p:spPr/>
        <p:txBody>
          <a:bodyPr/>
          <a:lstStyle/>
          <a:p>
            <a:fld id="{846CE7D5-CF57-46EF-B807-FDD0502418D4}" type="datetimeFigureOut">
              <a:rPr lang="en-GB" smtClean="0"/>
              <a:t>25/10/2023</a:t>
            </a:fld>
            <a:endParaRPr lang="en-GB"/>
          </a:p>
        </p:txBody>
      </p:sp>
      <p:sp>
        <p:nvSpPr>
          <p:cNvPr id="5" name="Footer Placeholder 4">
            <a:extLst>
              <a:ext uri="{FF2B5EF4-FFF2-40B4-BE49-F238E27FC236}">
                <a16:creationId xmlns:a16="http://schemas.microsoft.com/office/drawing/2014/main" id="{F2CAF426-7023-1B3C-7641-AC3F4D68328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EECD85F-20D6-CCBD-D242-A391ECEE5ACA}"/>
              </a:ext>
            </a:extLst>
          </p:cNvPr>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752718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F20895-026B-8CFB-F502-E4F0A7B94E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5A23036-5526-D04B-964D-AC3050C51B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FE59C67-F8A2-CF36-A74C-69D3F89131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GB" smtClean="0"/>
              <a:t>25/10/2023</a:t>
            </a:fld>
            <a:endParaRPr lang="en-GB"/>
          </a:p>
        </p:txBody>
      </p:sp>
      <p:sp>
        <p:nvSpPr>
          <p:cNvPr id="5" name="Footer Placeholder 4">
            <a:extLst>
              <a:ext uri="{FF2B5EF4-FFF2-40B4-BE49-F238E27FC236}">
                <a16:creationId xmlns:a16="http://schemas.microsoft.com/office/drawing/2014/main" id="{8A6CB9F4-1217-A26D-853E-627FC71A09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7C53EC2E-6A5D-DEA6-DCCC-4CFDC2F309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60615470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www.youtube.com/watch?v=d3EPLfzNM_Q" TargetMode="Externa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youtube.com/watch?v=-GncQ_ed-9w"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csp.org.uk/publications/guidance-manual-handling-physiotherapy-4th-edition" TargetMode="External"/><Relationship Id="rId2" Type="http://schemas.openxmlformats.org/officeDocument/2006/relationships/hyperlink" Target="https://www.nhs.uk/every-mind-matters/mental-health-issues/" TargetMode="External"/><Relationship Id="rId1" Type="http://schemas.openxmlformats.org/officeDocument/2006/relationships/slideLayout" Target="../slideLayouts/slideLayout2.xml"/><Relationship Id="rId5" Type="http://schemas.openxmlformats.org/officeDocument/2006/relationships/hyperlink" Target="https://www.hse.gov.uk/statistics/causdis/stress.pdf" TargetMode="External"/><Relationship Id="rId4" Type="http://schemas.openxmlformats.org/officeDocument/2006/relationships/hyperlink" Target="https://www.nhs.uk/live-well/best-way-to-wash-your-hand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p>
            <a:r>
              <a:rPr lang="en-GB" b="1"/>
              <a:t>Health and Safety </a:t>
            </a:r>
          </a:p>
        </p:txBody>
      </p:sp>
      <p:sp>
        <p:nvSpPr>
          <p:cNvPr id="3" name="Subtitle 2"/>
          <p:cNvSpPr>
            <a:spLocks noGrp="1"/>
          </p:cNvSpPr>
          <p:nvPr>
            <p:ph type="body" idx="1"/>
          </p:nvPr>
        </p:nvSpPr>
        <p:spPr>
          <a:xfrm>
            <a:off x="831850" y="4589463"/>
            <a:ext cx="10515600" cy="1500187"/>
          </a:xfrm>
        </p:spPr>
        <p:txBody>
          <a:bodyPr vert="horz" lIns="91440" tIns="45720" rIns="91440" bIns="45720" rtlCol="0">
            <a:normAutofit/>
          </a:bodyPr>
          <a:lstStyle/>
          <a:p>
            <a:r>
              <a:rPr lang="en-GB"/>
              <a:t>Isobel Davies </a:t>
            </a:r>
          </a:p>
        </p:txBody>
      </p:sp>
    </p:spTree>
    <p:extLst>
      <p:ext uri="{BB962C8B-B14F-4D97-AF65-F5344CB8AC3E}">
        <p14:creationId xmlns:p14="http://schemas.microsoft.com/office/powerpoint/2010/main" val="10985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5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4889E-264A-BEE1-CDAB-20DC8F6CD327}"/>
              </a:ext>
            </a:extLst>
          </p:cNvPr>
          <p:cNvSpPr>
            <a:spLocks noGrp="1"/>
          </p:cNvSpPr>
          <p:nvPr>
            <p:ph type="title"/>
          </p:nvPr>
        </p:nvSpPr>
        <p:spPr>
          <a:xfrm>
            <a:off x="1156851" y="637762"/>
            <a:ext cx="9888496" cy="900131"/>
          </a:xfrm>
        </p:spPr>
        <p:txBody>
          <a:bodyPr anchor="t">
            <a:normAutofit/>
          </a:bodyPr>
          <a:lstStyle/>
          <a:p>
            <a:r>
              <a:rPr lang="en-GB" sz="4000" dirty="0">
                <a:solidFill>
                  <a:schemeClr val="bg1"/>
                </a:solidFill>
                <a:cs typeface="Calibri Light"/>
              </a:rPr>
              <a:t>Learning objectives</a:t>
            </a:r>
          </a:p>
        </p:txBody>
      </p:sp>
      <p:sp>
        <p:nvSpPr>
          <p:cNvPr id="3" name="Content Placeholder 2">
            <a:extLst>
              <a:ext uri="{FF2B5EF4-FFF2-40B4-BE49-F238E27FC236}">
                <a16:creationId xmlns:a16="http://schemas.microsoft.com/office/drawing/2014/main" id="{426A81B8-A950-FA6D-68CD-A845730CEDED}"/>
              </a:ext>
            </a:extLst>
          </p:cNvPr>
          <p:cNvSpPr>
            <a:spLocks noGrp="1"/>
          </p:cNvSpPr>
          <p:nvPr>
            <p:ph idx="1"/>
          </p:nvPr>
        </p:nvSpPr>
        <p:spPr>
          <a:xfrm>
            <a:off x="1155548" y="2217343"/>
            <a:ext cx="9880893" cy="3959619"/>
          </a:xfrm>
        </p:spPr>
        <p:txBody>
          <a:bodyPr vert="horz" lIns="91440" tIns="45720" rIns="91440" bIns="45720" rtlCol="0" anchor="t">
            <a:normAutofit fontScale="92500" lnSpcReduction="20000"/>
          </a:bodyPr>
          <a:lstStyle/>
          <a:p>
            <a:pPr>
              <a:lnSpc>
                <a:spcPct val="150000"/>
              </a:lnSpc>
            </a:pPr>
            <a:r>
              <a:rPr lang="en-GB" sz="2400" dirty="0">
                <a:latin typeface="Arial" panose="020B0604020202020204" pitchFamily="34" charset="0"/>
                <a:cs typeface="Arial" panose="020B0604020202020204" pitchFamily="34" charset="0"/>
              </a:rPr>
              <a:t>Understand risk assessments and how we should use them day to day </a:t>
            </a:r>
          </a:p>
          <a:p>
            <a:pPr>
              <a:lnSpc>
                <a:spcPct val="150000"/>
              </a:lnSpc>
            </a:pPr>
            <a:r>
              <a:rPr lang="en-GB" sz="2400" dirty="0">
                <a:latin typeface="Arial" panose="020B0604020202020204" pitchFamily="34" charset="0"/>
                <a:cs typeface="Arial" panose="020B0604020202020204" pitchFamily="34" charset="0"/>
              </a:rPr>
              <a:t>Understand manual handling Risk assessments</a:t>
            </a:r>
          </a:p>
          <a:p>
            <a:pPr>
              <a:lnSpc>
                <a:spcPct val="150000"/>
              </a:lnSpc>
            </a:pPr>
            <a:r>
              <a:rPr lang="en-GB" sz="2400" dirty="0">
                <a:latin typeface="Arial" panose="020B0604020202020204" pitchFamily="34" charset="0"/>
                <a:cs typeface="Arial" panose="020B0604020202020204" pitchFamily="34" charset="0"/>
              </a:rPr>
              <a:t>Learn about the CSP guidelines on Manual handling </a:t>
            </a:r>
          </a:p>
          <a:p>
            <a:pPr>
              <a:lnSpc>
                <a:spcPct val="150000"/>
              </a:lnSpc>
            </a:pPr>
            <a:r>
              <a:rPr lang="en-GB" sz="2400" dirty="0">
                <a:latin typeface="Arial" panose="020B0604020202020204" pitchFamily="34" charset="0"/>
                <a:cs typeface="Arial" panose="020B0604020202020204" pitchFamily="34" charset="0"/>
              </a:rPr>
              <a:t>Learn about hand washing and infection control guidelines </a:t>
            </a:r>
          </a:p>
          <a:p>
            <a:pPr>
              <a:lnSpc>
                <a:spcPct val="150000"/>
              </a:lnSpc>
            </a:pPr>
            <a:r>
              <a:rPr lang="en-GB" sz="2400" dirty="0">
                <a:latin typeface="Arial" panose="020B0604020202020204" pitchFamily="34" charset="0"/>
                <a:cs typeface="Arial" panose="020B0604020202020204" pitchFamily="34" charset="0"/>
              </a:rPr>
              <a:t>Learn about PPE </a:t>
            </a:r>
          </a:p>
          <a:p>
            <a:pPr>
              <a:lnSpc>
                <a:spcPct val="150000"/>
              </a:lnSpc>
            </a:pPr>
            <a:r>
              <a:rPr lang="en-GB" sz="2400" dirty="0">
                <a:latin typeface="Arial" panose="020B0604020202020204" pitchFamily="34" charset="0"/>
                <a:cs typeface="Arial" panose="020B0604020202020204" pitchFamily="34" charset="0"/>
              </a:rPr>
              <a:t>Learn about incident reporting </a:t>
            </a:r>
          </a:p>
          <a:p>
            <a:pPr>
              <a:lnSpc>
                <a:spcPct val="150000"/>
              </a:lnSpc>
            </a:pPr>
            <a:r>
              <a:rPr lang="en-GB" sz="2400" dirty="0">
                <a:latin typeface="Arial" panose="020B0604020202020204" pitchFamily="34" charset="0"/>
                <a:cs typeface="Arial" panose="020B0604020202020204" pitchFamily="34" charset="0"/>
              </a:rPr>
              <a:t>Health and wellbeing and you </a:t>
            </a:r>
          </a:p>
        </p:txBody>
      </p:sp>
    </p:spTree>
    <p:extLst>
      <p:ext uri="{BB962C8B-B14F-4D97-AF65-F5344CB8AC3E}">
        <p14:creationId xmlns:p14="http://schemas.microsoft.com/office/powerpoint/2010/main" val="3903589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4889E-264A-BEE1-CDAB-20DC8F6CD327}"/>
              </a:ext>
            </a:extLst>
          </p:cNvPr>
          <p:cNvSpPr>
            <a:spLocks noGrp="1"/>
          </p:cNvSpPr>
          <p:nvPr>
            <p:ph type="title"/>
          </p:nvPr>
        </p:nvSpPr>
        <p:spPr>
          <a:xfrm>
            <a:off x="1156851" y="637762"/>
            <a:ext cx="9888496" cy="900131"/>
          </a:xfrm>
        </p:spPr>
        <p:txBody>
          <a:bodyPr anchor="t">
            <a:normAutofit/>
          </a:bodyPr>
          <a:lstStyle/>
          <a:p>
            <a:r>
              <a:rPr lang="en-GB" sz="4000" dirty="0">
                <a:solidFill>
                  <a:schemeClr val="bg1"/>
                </a:solidFill>
                <a:cs typeface="Calibri Light"/>
              </a:rPr>
              <a:t>Hazard Vs  Risk ? </a:t>
            </a:r>
          </a:p>
        </p:txBody>
      </p:sp>
      <p:sp>
        <p:nvSpPr>
          <p:cNvPr id="3" name="Content Placeholder 2">
            <a:extLst>
              <a:ext uri="{FF2B5EF4-FFF2-40B4-BE49-F238E27FC236}">
                <a16:creationId xmlns:a16="http://schemas.microsoft.com/office/drawing/2014/main" id="{426A81B8-A950-FA6D-68CD-A845730CEDED}"/>
              </a:ext>
            </a:extLst>
          </p:cNvPr>
          <p:cNvSpPr>
            <a:spLocks noGrp="1"/>
          </p:cNvSpPr>
          <p:nvPr>
            <p:ph idx="1"/>
          </p:nvPr>
        </p:nvSpPr>
        <p:spPr>
          <a:xfrm>
            <a:off x="1155548" y="2217343"/>
            <a:ext cx="9880893" cy="3959619"/>
          </a:xfrm>
        </p:spPr>
        <p:txBody>
          <a:bodyPr vert="horz" lIns="91440" tIns="45720" rIns="91440" bIns="45720" rtlCol="0" anchor="t">
            <a:normAutofit/>
          </a:bodyPr>
          <a:lstStyle/>
          <a:p>
            <a:r>
              <a:rPr lang="en-GB" sz="2400" dirty="0">
                <a:cs typeface="Calibri"/>
              </a:rPr>
              <a:t>Hazard Vs risk </a:t>
            </a:r>
          </a:p>
          <a:p>
            <a:pPr marL="0" indent="0">
              <a:buNone/>
            </a:pPr>
            <a:endParaRPr lang="en-GB" dirty="0">
              <a:cs typeface="Calibri"/>
            </a:endParaRPr>
          </a:p>
          <a:p>
            <a:pPr lvl="1"/>
            <a:r>
              <a:rPr lang="en-GB" dirty="0">
                <a:cs typeface="Calibri"/>
              </a:rPr>
              <a:t>A hazard is something which has the potential to cause harm, for example : a chemical, working at a height or noise</a:t>
            </a:r>
          </a:p>
          <a:p>
            <a:pPr lvl="1"/>
            <a:endParaRPr lang="en-GB" dirty="0">
              <a:cs typeface="Calibri"/>
            </a:endParaRPr>
          </a:p>
          <a:p>
            <a:pPr marL="457200" lvl="1" indent="0">
              <a:buNone/>
            </a:pPr>
            <a:endParaRPr lang="en-GB" dirty="0">
              <a:cs typeface="Calibri"/>
            </a:endParaRPr>
          </a:p>
          <a:p>
            <a:pPr lvl="1"/>
            <a:r>
              <a:rPr lang="en-GB" dirty="0">
                <a:cs typeface="Calibri"/>
              </a:rPr>
              <a:t>A risk is the likelihood, whether low, medium or high, of that hazard causing a person harm </a:t>
            </a:r>
          </a:p>
          <a:p>
            <a:pPr marL="457200" lvl="1" indent="0">
              <a:buNone/>
            </a:pPr>
            <a:endParaRPr lang="en-GB" dirty="0">
              <a:cs typeface="Calibri"/>
            </a:endParaRPr>
          </a:p>
        </p:txBody>
      </p:sp>
    </p:spTree>
    <p:extLst>
      <p:ext uri="{BB962C8B-B14F-4D97-AF65-F5344CB8AC3E}">
        <p14:creationId xmlns:p14="http://schemas.microsoft.com/office/powerpoint/2010/main" val="114377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4889E-264A-BEE1-CDAB-20DC8F6CD327}"/>
              </a:ext>
            </a:extLst>
          </p:cNvPr>
          <p:cNvSpPr>
            <a:spLocks noGrp="1"/>
          </p:cNvSpPr>
          <p:nvPr>
            <p:ph type="title"/>
          </p:nvPr>
        </p:nvSpPr>
        <p:spPr>
          <a:xfrm>
            <a:off x="1156851" y="637762"/>
            <a:ext cx="9888496" cy="900131"/>
          </a:xfrm>
        </p:spPr>
        <p:txBody>
          <a:bodyPr anchor="t">
            <a:normAutofit/>
          </a:bodyPr>
          <a:lstStyle/>
          <a:p>
            <a:r>
              <a:rPr lang="en-GB" sz="4000" dirty="0">
                <a:solidFill>
                  <a:schemeClr val="bg1"/>
                </a:solidFill>
                <a:cs typeface="Calibri Light"/>
              </a:rPr>
              <a:t>Risk assessment</a:t>
            </a:r>
          </a:p>
        </p:txBody>
      </p:sp>
      <p:sp>
        <p:nvSpPr>
          <p:cNvPr id="3" name="Content Placeholder 2">
            <a:extLst>
              <a:ext uri="{FF2B5EF4-FFF2-40B4-BE49-F238E27FC236}">
                <a16:creationId xmlns:a16="http://schemas.microsoft.com/office/drawing/2014/main" id="{426A81B8-A950-FA6D-68CD-A845730CEDED}"/>
              </a:ext>
            </a:extLst>
          </p:cNvPr>
          <p:cNvSpPr>
            <a:spLocks noGrp="1"/>
          </p:cNvSpPr>
          <p:nvPr>
            <p:ph idx="1"/>
          </p:nvPr>
        </p:nvSpPr>
        <p:spPr>
          <a:xfrm>
            <a:off x="1155548" y="2217343"/>
            <a:ext cx="9880893" cy="3959619"/>
          </a:xfrm>
        </p:spPr>
        <p:txBody>
          <a:bodyPr vert="horz" lIns="91440" tIns="45720" rIns="91440" bIns="45720" rtlCol="0" anchor="t">
            <a:normAutofit fontScale="92500"/>
          </a:bodyPr>
          <a:lstStyle/>
          <a:p>
            <a:pPr>
              <a:lnSpc>
                <a:spcPct val="100000"/>
              </a:lnSpc>
            </a:pPr>
            <a:r>
              <a:rPr lang="en-GB" dirty="0">
                <a:cs typeface="Calibri"/>
              </a:rPr>
              <a:t>What is risk assessment ? </a:t>
            </a:r>
          </a:p>
          <a:p>
            <a:pPr lvl="1">
              <a:lnSpc>
                <a:spcPct val="100000"/>
              </a:lnSpc>
            </a:pPr>
            <a:r>
              <a:rPr lang="en-GB" dirty="0">
                <a:cs typeface="Calibri"/>
              </a:rPr>
              <a:t>A way of identifying hazards in the workplace ad taking steps to prevent harm </a:t>
            </a:r>
          </a:p>
          <a:p>
            <a:pPr>
              <a:lnSpc>
                <a:spcPct val="100000"/>
              </a:lnSpc>
            </a:pPr>
            <a:r>
              <a:rPr lang="en-GB" dirty="0">
                <a:cs typeface="Calibri"/>
              </a:rPr>
              <a:t>Why is it important ? </a:t>
            </a:r>
          </a:p>
          <a:p>
            <a:pPr lvl="1">
              <a:lnSpc>
                <a:spcPct val="100000"/>
              </a:lnSpc>
            </a:pPr>
            <a:r>
              <a:rPr lang="en-GB" dirty="0">
                <a:cs typeface="Calibri"/>
              </a:rPr>
              <a:t>To us ? </a:t>
            </a:r>
          </a:p>
          <a:p>
            <a:pPr lvl="1">
              <a:lnSpc>
                <a:spcPct val="100000"/>
              </a:lnSpc>
            </a:pPr>
            <a:r>
              <a:rPr lang="en-GB" dirty="0">
                <a:cs typeface="Calibri"/>
              </a:rPr>
              <a:t>To our patients </a:t>
            </a:r>
          </a:p>
          <a:p>
            <a:pPr lvl="1">
              <a:lnSpc>
                <a:spcPct val="100000"/>
              </a:lnSpc>
            </a:pPr>
            <a:endParaRPr lang="en-GB" dirty="0">
              <a:cs typeface="Calibri"/>
            </a:endParaRPr>
          </a:p>
          <a:p>
            <a:pPr>
              <a:lnSpc>
                <a:spcPct val="100000"/>
              </a:lnSpc>
            </a:pPr>
            <a:r>
              <a:rPr lang="en-GB" dirty="0">
                <a:cs typeface="Calibri"/>
              </a:rPr>
              <a:t>Every time you see a patient you should complete a mini risk assessment based on your subjective and objective assessments </a:t>
            </a:r>
          </a:p>
        </p:txBody>
      </p:sp>
    </p:spTree>
    <p:extLst>
      <p:ext uri="{BB962C8B-B14F-4D97-AF65-F5344CB8AC3E}">
        <p14:creationId xmlns:p14="http://schemas.microsoft.com/office/powerpoint/2010/main" val="314074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4889E-264A-BEE1-CDAB-20DC8F6CD327}"/>
              </a:ext>
            </a:extLst>
          </p:cNvPr>
          <p:cNvSpPr>
            <a:spLocks noGrp="1"/>
          </p:cNvSpPr>
          <p:nvPr>
            <p:ph type="title"/>
          </p:nvPr>
        </p:nvSpPr>
        <p:spPr>
          <a:xfrm>
            <a:off x="1156851" y="637762"/>
            <a:ext cx="9888496" cy="900131"/>
          </a:xfrm>
        </p:spPr>
        <p:txBody>
          <a:bodyPr anchor="t">
            <a:normAutofit/>
          </a:bodyPr>
          <a:lstStyle/>
          <a:p>
            <a:r>
              <a:rPr lang="en-GB" sz="4000" dirty="0">
                <a:solidFill>
                  <a:schemeClr val="bg1"/>
                </a:solidFill>
                <a:cs typeface="Calibri Light"/>
              </a:rPr>
              <a:t>Risk assessment - 5 steps</a:t>
            </a:r>
          </a:p>
        </p:txBody>
      </p:sp>
      <p:sp>
        <p:nvSpPr>
          <p:cNvPr id="7" name="Rectangle 6">
            <a:extLst>
              <a:ext uri="{FF2B5EF4-FFF2-40B4-BE49-F238E27FC236}">
                <a16:creationId xmlns:a16="http://schemas.microsoft.com/office/drawing/2014/main" id="{D4DBBD87-06F8-24C6-1DEB-411EDAF71E4E}"/>
              </a:ext>
            </a:extLst>
          </p:cNvPr>
          <p:cNvSpPr/>
          <p:nvPr/>
        </p:nvSpPr>
        <p:spPr>
          <a:xfrm>
            <a:off x="0" y="1688641"/>
            <a:ext cx="12191990" cy="51693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4" descr="Diagram&#10;&#10;Description automatically generated">
            <a:extLst>
              <a:ext uri="{FF2B5EF4-FFF2-40B4-BE49-F238E27FC236}">
                <a16:creationId xmlns:a16="http://schemas.microsoft.com/office/drawing/2014/main" id="{D56522EB-9D71-BB38-049C-880B6A5D671F}"/>
              </a:ext>
            </a:extLst>
          </p:cNvPr>
          <p:cNvPicPr>
            <a:picLocks noChangeAspect="1"/>
          </p:cNvPicPr>
          <p:nvPr/>
        </p:nvPicPr>
        <p:blipFill>
          <a:blip r:embed="rId2"/>
          <a:stretch>
            <a:fillRect/>
          </a:stretch>
        </p:blipFill>
        <p:spPr>
          <a:xfrm>
            <a:off x="1783080" y="1839389"/>
            <a:ext cx="8397240" cy="4712970"/>
          </a:xfrm>
          <a:prstGeom prst="rect">
            <a:avLst/>
          </a:prstGeom>
          <a:noFill/>
        </p:spPr>
      </p:pic>
    </p:spTree>
    <p:extLst>
      <p:ext uri="{BB962C8B-B14F-4D97-AF65-F5344CB8AC3E}">
        <p14:creationId xmlns:p14="http://schemas.microsoft.com/office/powerpoint/2010/main" val="3412385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ABCEE-9647-F080-741A-8FB1B063F7BA}"/>
              </a:ext>
            </a:extLst>
          </p:cNvPr>
          <p:cNvSpPr>
            <a:spLocks noGrp="1"/>
          </p:cNvSpPr>
          <p:nvPr>
            <p:ph type="title"/>
          </p:nvPr>
        </p:nvSpPr>
        <p:spPr>
          <a:xfrm>
            <a:off x="1156851" y="637762"/>
            <a:ext cx="9888496" cy="900131"/>
          </a:xfrm>
        </p:spPr>
        <p:txBody>
          <a:bodyPr anchor="t">
            <a:normAutofit/>
          </a:bodyPr>
          <a:lstStyle/>
          <a:p>
            <a:r>
              <a:rPr lang="en-GB" sz="4000">
                <a:solidFill>
                  <a:schemeClr val="bg1"/>
                </a:solidFill>
                <a:cs typeface="Calibri Light"/>
              </a:rPr>
              <a:t>Manual Handling </a:t>
            </a:r>
            <a:endParaRPr lang="en-GB" sz="4000">
              <a:solidFill>
                <a:schemeClr val="bg1"/>
              </a:solidFill>
            </a:endParaRPr>
          </a:p>
        </p:txBody>
      </p:sp>
      <p:sp>
        <p:nvSpPr>
          <p:cNvPr id="3" name="Content Placeholder 2">
            <a:extLst>
              <a:ext uri="{FF2B5EF4-FFF2-40B4-BE49-F238E27FC236}">
                <a16:creationId xmlns:a16="http://schemas.microsoft.com/office/drawing/2014/main" id="{F3D86C79-3AED-719D-742E-9749B649A70F}"/>
              </a:ext>
            </a:extLst>
          </p:cNvPr>
          <p:cNvSpPr>
            <a:spLocks noGrp="1"/>
          </p:cNvSpPr>
          <p:nvPr>
            <p:ph idx="1"/>
          </p:nvPr>
        </p:nvSpPr>
        <p:spPr>
          <a:xfrm>
            <a:off x="1155553" y="2260619"/>
            <a:ext cx="9880893" cy="3959619"/>
          </a:xfrm>
        </p:spPr>
        <p:txBody>
          <a:bodyPr vert="horz" lIns="91440" tIns="45720" rIns="91440" bIns="45720" rtlCol="0" anchor="t">
            <a:normAutofit/>
          </a:bodyPr>
          <a:lstStyle/>
          <a:p>
            <a:pPr>
              <a:lnSpc>
                <a:spcPct val="100000"/>
              </a:lnSpc>
            </a:pPr>
            <a:r>
              <a:rPr lang="en-GB" sz="2400" dirty="0">
                <a:cs typeface="Calibri"/>
              </a:rPr>
              <a:t>Can be both a risk and a hazard if not appropriately assessed </a:t>
            </a:r>
          </a:p>
          <a:p>
            <a:pPr lvl="1">
              <a:lnSpc>
                <a:spcPct val="100000"/>
              </a:lnSpc>
            </a:pPr>
            <a:r>
              <a:rPr lang="en-GB" dirty="0">
                <a:cs typeface="Calibri"/>
              </a:rPr>
              <a:t>We have a duty of care to complete appropriate MH </a:t>
            </a:r>
          </a:p>
          <a:p>
            <a:pPr lvl="1">
              <a:lnSpc>
                <a:spcPct val="100000"/>
              </a:lnSpc>
            </a:pPr>
            <a:r>
              <a:rPr lang="en-GB" dirty="0">
                <a:cs typeface="Calibri"/>
              </a:rPr>
              <a:t>It comes under both Scope of practice and fitness to practice </a:t>
            </a:r>
          </a:p>
          <a:p>
            <a:pPr lvl="1">
              <a:lnSpc>
                <a:spcPct val="100000"/>
              </a:lnSpc>
            </a:pPr>
            <a:r>
              <a:rPr lang="en-GB" dirty="0">
                <a:cs typeface="Calibri"/>
              </a:rPr>
              <a:t>You need to risk assess for both the patient and yourself </a:t>
            </a:r>
          </a:p>
          <a:p>
            <a:pPr lvl="1">
              <a:lnSpc>
                <a:spcPct val="100000"/>
              </a:lnSpc>
            </a:pPr>
            <a:r>
              <a:rPr lang="en-GB" dirty="0">
                <a:cs typeface="Calibri"/>
              </a:rPr>
              <a:t>Our risk assessment is used to inform the other members of the MDT who may not have the same knowledge or skills around manual handling or mobilising patients </a:t>
            </a:r>
          </a:p>
          <a:p>
            <a:pPr lvl="1">
              <a:lnSpc>
                <a:spcPct val="100000"/>
              </a:lnSpc>
            </a:pPr>
            <a:endParaRPr lang="en-GB" sz="2400" dirty="0">
              <a:cs typeface="Calibri"/>
            </a:endParaRPr>
          </a:p>
          <a:p>
            <a:pPr>
              <a:lnSpc>
                <a:spcPct val="100000"/>
              </a:lnSpc>
            </a:pPr>
            <a:r>
              <a:rPr lang="en-GB" dirty="0">
                <a:cs typeface="Calibri"/>
              </a:rPr>
              <a:t>Let's see what the CSP has to say on the matter</a:t>
            </a:r>
          </a:p>
          <a:p>
            <a:pPr>
              <a:lnSpc>
                <a:spcPct val="100000"/>
              </a:lnSpc>
            </a:pPr>
            <a:endParaRPr lang="en-GB" sz="2400" dirty="0">
              <a:cs typeface="Calibri"/>
            </a:endParaRPr>
          </a:p>
          <a:p>
            <a:pPr>
              <a:lnSpc>
                <a:spcPct val="100000"/>
              </a:lnSpc>
            </a:pPr>
            <a:endParaRPr lang="en-GB" dirty="0">
              <a:cs typeface="Calibri"/>
            </a:endParaRPr>
          </a:p>
        </p:txBody>
      </p:sp>
    </p:spTree>
    <p:extLst>
      <p:ext uri="{BB962C8B-B14F-4D97-AF65-F5344CB8AC3E}">
        <p14:creationId xmlns:p14="http://schemas.microsoft.com/office/powerpoint/2010/main" val="4104998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ABCEE-9647-F080-741A-8FB1B063F7BA}"/>
              </a:ext>
            </a:extLst>
          </p:cNvPr>
          <p:cNvSpPr>
            <a:spLocks noGrp="1"/>
          </p:cNvSpPr>
          <p:nvPr>
            <p:ph type="title"/>
          </p:nvPr>
        </p:nvSpPr>
        <p:spPr>
          <a:xfrm>
            <a:off x="1156851" y="637762"/>
            <a:ext cx="9888496" cy="900131"/>
          </a:xfrm>
        </p:spPr>
        <p:txBody>
          <a:bodyPr anchor="t">
            <a:normAutofit/>
          </a:bodyPr>
          <a:lstStyle/>
          <a:p>
            <a:r>
              <a:rPr lang="en-GB" sz="4000" dirty="0">
                <a:solidFill>
                  <a:schemeClr val="bg1"/>
                </a:solidFill>
                <a:cs typeface="Calibri Light"/>
              </a:rPr>
              <a:t>Manual Handling – CSP guidance </a:t>
            </a:r>
            <a:endParaRPr lang="en-GB" sz="4000" dirty="0">
              <a:solidFill>
                <a:schemeClr val="bg1"/>
              </a:solidFill>
            </a:endParaRPr>
          </a:p>
        </p:txBody>
      </p:sp>
      <p:sp>
        <p:nvSpPr>
          <p:cNvPr id="3" name="Content Placeholder 2">
            <a:extLst>
              <a:ext uri="{FF2B5EF4-FFF2-40B4-BE49-F238E27FC236}">
                <a16:creationId xmlns:a16="http://schemas.microsoft.com/office/drawing/2014/main" id="{F3D86C79-3AED-719D-742E-9749B649A70F}"/>
              </a:ext>
            </a:extLst>
          </p:cNvPr>
          <p:cNvSpPr>
            <a:spLocks noGrp="1"/>
          </p:cNvSpPr>
          <p:nvPr>
            <p:ph idx="1"/>
          </p:nvPr>
        </p:nvSpPr>
        <p:spPr>
          <a:xfrm>
            <a:off x="1155553" y="2260619"/>
            <a:ext cx="9880893" cy="3959619"/>
          </a:xfrm>
        </p:spPr>
        <p:txBody>
          <a:bodyPr vert="horz" lIns="91440" tIns="45720" rIns="91440" bIns="45720" rtlCol="0" anchor="t">
            <a:normAutofit fontScale="77500" lnSpcReduction="20000"/>
          </a:bodyPr>
          <a:lstStyle/>
          <a:p>
            <a:pPr marL="0" indent="0">
              <a:lnSpc>
                <a:spcPct val="120000"/>
              </a:lnSpc>
              <a:buNone/>
            </a:pPr>
            <a:r>
              <a:rPr lang="en-GB" i="1" dirty="0">
                <a:cs typeface="Calibri"/>
              </a:rPr>
              <a:t>"Principle 1.2 of the CSP Code(11) requires that a physiotherapist and associate perform only duties which they are </a:t>
            </a:r>
            <a:r>
              <a:rPr lang="en-GB" b="1" i="1" dirty="0">
                <a:solidFill>
                  <a:srgbClr val="FF0000"/>
                </a:solidFill>
                <a:cs typeface="Calibri"/>
              </a:rPr>
              <a:t>safe and competent to deliver</a:t>
            </a:r>
            <a:r>
              <a:rPr lang="en-GB" i="1" dirty="0">
                <a:cs typeface="Calibri"/>
              </a:rPr>
              <a:t>. The development of manual handling skills is based not only on knowledge and training but also on relevant and sometimes specific experience. When considering competence and safety in relation to the manual handling of patients, all physiotherapists must be as </a:t>
            </a:r>
            <a:r>
              <a:rPr lang="en-GB" b="1" i="1" dirty="0">
                <a:solidFill>
                  <a:srgbClr val="FF0000"/>
                </a:solidFill>
                <a:cs typeface="Calibri"/>
              </a:rPr>
              <a:t>realistic</a:t>
            </a:r>
            <a:r>
              <a:rPr lang="en-GB" i="1" dirty="0">
                <a:cs typeface="Calibri"/>
              </a:rPr>
              <a:t> and analytically </a:t>
            </a:r>
            <a:r>
              <a:rPr lang="en-GB" b="1" i="1" dirty="0">
                <a:solidFill>
                  <a:srgbClr val="FF0000"/>
                </a:solidFill>
                <a:cs typeface="Calibri"/>
              </a:rPr>
              <a:t>self-critical</a:t>
            </a:r>
            <a:r>
              <a:rPr lang="en-GB" i="1" dirty="0">
                <a:cs typeface="Calibri"/>
              </a:rPr>
              <a:t> as they would be in relation to any other aspect of their professional practice.</a:t>
            </a:r>
            <a:r>
              <a:rPr lang="en-GB" i="1" dirty="0">
                <a:ea typeface="+mn-lt"/>
                <a:cs typeface="+mn-lt"/>
              </a:rPr>
              <a:t> All members are empowered by this rule to say ‘no’ since it provides a rational basis for not proceeding with any task, including manual handling, which they consider to be </a:t>
            </a:r>
            <a:r>
              <a:rPr lang="en-GB" b="1" i="1" dirty="0">
                <a:solidFill>
                  <a:srgbClr val="FF0000"/>
                </a:solidFill>
                <a:ea typeface="+mn-lt"/>
                <a:cs typeface="+mn-lt"/>
              </a:rPr>
              <a:t>beyond their competence or ability to work safely</a:t>
            </a:r>
            <a:r>
              <a:rPr lang="en-GB" i="1" dirty="0">
                <a:ea typeface="+mn-lt"/>
                <a:cs typeface="+mn-lt"/>
              </a:rPr>
              <a:t>."</a:t>
            </a:r>
            <a:endParaRPr lang="en-GB" i="1" dirty="0"/>
          </a:p>
        </p:txBody>
      </p:sp>
    </p:spTree>
    <p:extLst>
      <p:ext uri="{BB962C8B-B14F-4D97-AF65-F5344CB8AC3E}">
        <p14:creationId xmlns:p14="http://schemas.microsoft.com/office/powerpoint/2010/main" val="188046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ABCEE-9647-F080-741A-8FB1B063F7BA}"/>
              </a:ext>
            </a:extLst>
          </p:cNvPr>
          <p:cNvSpPr>
            <a:spLocks noGrp="1"/>
          </p:cNvSpPr>
          <p:nvPr>
            <p:ph type="title"/>
          </p:nvPr>
        </p:nvSpPr>
        <p:spPr>
          <a:xfrm>
            <a:off x="1156851" y="637762"/>
            <a:ext cx="9888496" cy="900131"/>
          </a:xfrm>
        </p:spPr>
        <p:txBody>
          <a:bodyPr anchor="t">
            <a:normAutofit/>
          </a:bodyPr>
          <a:lstStyle/>
          <a:p>
            <a:r>
              <a:rPr lang="en-GB" sz="4000" dirty="0">
                <a:solidFill>
                  <a:schemeClr val="bg1"/>
                </a:solidFill>
                <a:cs typeface="Calibri Light"/>
              </a:rPr>
              <a:t>Manual Handling – CSP guidance </a:t>
            </a:r>
            <a:endParaRPr lang="en-GB" sz="4000" dirty="0">
              <a:solidFill>
                <a:schemeClr val="bg1"/>
              </a:solidFill>
            </a:endParaRPr>
          </a:p>
        </p:txBody>
      </p:sp>
      <p:sp>
        <p:nvSpPr>
          <p:cNvPr id="3" name="Content Placeholder 2">
            <a:extLst>
              <a:ext uri="{FF2B5EF4-FFF2-40B4-BE49-F238E27FC236}">
                <a16:creationId xmlns:a16="http://schemas.microsoft.com/office/drawing/2014/main" id="{F3D86C79-3AED-719D-742E-9749B649A70F}"/>
              </a:ext>
            </a:extLst>
          </p:cNvPr>
          <p:cNvSpPr>
            <a:spLocks noGrp="1"/>
          </p:cNvSpPr>
          <p:nvPr>
            <p:ph idx="1"/>
          </p:nvPr>
        </p:nvSpPr>
        <p:spPr>
          <a:xfrm>
            <a:off x="1155553" y="2260619"/>
            <a:ext cx="9880893" cy="3959619"/>
          </a:xfrm>
        </p:spPr>
        <p:txBody>
          <a:bodyPr vert="horz" lIns="91440" tIns="45720" rIns="91440" bIns="45720" rtlCol="0" anchor="t">
            <a:normAutofit fontScale="77500" lnSpcReduction="20000"/>
          </a:bodyPr>
          <a:lstStyle/>
          <a:p>
            <a:pPr marL="0" indent="0">
              <a:lnSpc>
                <a:spcPct val="120000"/>
              </a:lnSpc>
              <a:buNone/>
            </a:pPr>
            <a:r>
              <a:rPr lang="en-GB" dirty="0">
                <a:cs typeface="Calibri"/>
              </a:rPr>
              <a:t>"</a:t>
            </a:r>
            <a:r>
              <a:rPr lang="en-GB" i="1" dirty="0">
                <a:cs typeface="Calibri"/>
              </a:rPr>
              <a:t>Principles 3.2 and 3.3 of the code clearly state the </a:t>
            </a:r>
            <a:r>
              <a:rPr lang="en-GB" b="1" i="1" dirty="0">
                <a:cs typeface="Calibri"/>
              </a:rPr>
              <a:t>responsibility of the physiotherapist in considering the safety of other personnel and their competence in manual handling</a:t>
            </a:r>
            <a:r>
              <a:rPr lang="en-GB" i="1" dirty="0">
                <a:cs typeface="Calibri"/>
              </a:rPr>
              <a:t>, addressing the situation by carrying out an appropriate </a:t>
            </a:r>
            <a:r>
              <a:rPr lang="en-GB" b="1" i="1" dirty="0">
                <a:solidFill>
                  <a:srgbClr val="FF0000"/>
                </a:solidFill>
                <a:cs typeface="Calibri"/>
              </a:rPr>
              <a:t>risk assessment</a:t>
            </a:r>
            <a:r>
              <a:rPr lang="en-GB" i="1" dirty="0">
                <a:cs typeface="Calibri"/>
              </a:rPr>
              <a:t> and </a:t>
            </a:r>
            <a:r>
              <a:rPr lang="en-GB" b="1" i="1" dirty="0">
                <a:solidFill>
                  <a:srgbClr val="FF0000"/>
                </a:solidFill>
                <a:cs typeface="Calibri"/>
              </a:rPr>
              <a:t>documenting</a:t>
            </a:r>
            <a:r>
              <a:rPr lang="en-GB" i="1" dirty="0">
                <a:cs typeface="Calibri"/>
              </a:rPr>
              <a:t> the process, and explaining and engaging the patient in the risk and decision-making processes."</a:t>
            </a:r>
          </a:p>
          <a:p>
            <a:pPr marL="0" indent="0">
              <a:lnSpc>
                <a:spcPct val="120000"/>
              </a:lnSpc>
              <a:buNone/>
            </a:pPr>
            <a:endParaRPr lang="en-GB" i="1" dirty="0">
              <a:cs typeface="Calibri"/>
            </a:endParaRPr>
          </a:p>
          <a:p>
            <a:pPr marL="457200" indent="-457200">
              <a:lnSpc>
                <a:spcPct val="120000"/>
              </a:lnSpc>
            </a:pPr>
            <a:r>
              <a:rPr lang="en-GB" dirty="0">
                <a:cs typeface="Calibri"/>
              </a:rPr>
              <a:t>Members of the CSP will be covered by Personal indemnity insurance </a:t>
            </a:r>
            <a:r>
              <a:rPr lang="en-GB" sz="1200" dirty="0">
                <a:cs typeface="Calibri"/>
              </a:rPr>
              <a:t>(See CSP Information paper PD027 Insurance and physiotherapy practice. www.csp.org.uk/ publications/insurance-physiotherapy-practice)</a:t>
            </a:r>
          </a:p>
          <a:p>
            <a:pPr marL="457200" indent="-457200">
              <a:lnSpc>
                <a:spcPct val="120000"/>
              </a:lnSpc>
            </a:pPr>
            <a:r>
              <a:rPr lang="en-GB" sz="2400" dirty="0">
                <a:cs typeface="Calibri"/>
              </a:rPr>
              <a:t>"The PLI scheme covers individual for all activities that are within the scope of physiotherapy practice and this will include manual handling activities."</a:t>
            </a:r>
          </a:p>
        </p:txBody>
      </p:sp>
    </p:spTree>
    <p:extLst>
      <p:ext uri="{BB962C8B-B14F-4D97-AF65-F5344CB8AC3E}">
        <p14:creationId xmlns:p14="http://schemas.microsoft.com/office/powerpoint/2010/main" val="1706661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ABCEE-9647-F080-741A-8FB1B063F7BA}"/>
              </a:ext>
            </a:extLst>
          </p:cNvPr>
          <p:cNvSpPr>
            <a:spLocks noGrp="1"/>
          </p:cNvSpPr>
          <p:nvPr>
            <p:ph type="title"/>
          </p:nvPr>
        </p:nvSpPr>
        <p:spPr>
          <a:xfrm>
            <a:off x="1156851" y="637762"/>
            <a:ext cx="9888496" cy="900131"/>
          </a:xfrm>
        </p:spPr>
        <p:txBody>
          <a:bodyPr anchor="t">
            <a:normAutofit/>
          </a:bodyPr>
          <a:lstStyle/>
          <a:p>
            <a:r>
              <a:rPr lang="en-GB" sz="4000" dirty="0">
                <a:solidFill>
                  <a:schemeClr val="bg1"/>
                </a:solidFill>
                <a:cs typeface="Calibri Light"/>
              </a:rPr>
              <a:t>Manual Handling – The CSP and the law</a:t>
            </a:r>
            <a:endParaRPr lang="en-GB" sz="4000" dirty="0">
              <a:solidFill>
                <a:schemeClr val="bg1"/>
              </a:solidFill>
            </a:endParaRPr>
          </a:p>
        </p:txBody>
      </p:sp>
      <p:sp>
        <p:nvSpPr>
          <p:cNvPr id="3" name="Content Placeholder 2">
            <a:extLst>
              <a:ext uri="{FF2B5EF4-FFF2-40B4-BE49-F238E27FC236}">
                <a16:creationId xmlns:a16="http://schemas.microsoft.com/office/drawing/2014/main" id="{F3D86C79-3AED-719D-742E-9749B649A70F}"/>
              </a:ext>
            </a:extLst>
          </p:cNvPr>
          <p:cNvSpPr>
            <a:spLocks noGrp="1"/>
          </p:cNvSpPr>
          <p:nvPr>
            <p:ph idx="1"/>
          </p:nvPr>
        </p:nvSpPr>
        <p:spPr>
          <a:xfrm>
            <a:off x="1155553" y="2260619"/>
            <a:ext cx="9880893" cy="3959619"/>
          </a:xfrm>
        </p:spPr>
        <p:txBody>
          <a:bodyPr vert="horz" lIns="91440" tIns="45720" rIns="91440" bIns="45720" rtlCol="0" anchor="t">
            <a:normAutofit/>
          </a:bodyPr>
          <a:lstStyle/>
          <a:p>
            <a:pPr>
              <a:lnSpc>
                <a:spcPct val="100000"/>
              </a:lnSpc>
            </a:pPr>
            <a:r>
              <a:rPr lang="en-GB" dirty="0">
                <a:cs typeface="Calibri"/>
              </a:rPr>
              <a:t>The law as set out by : The health and safety at work act 1974 and The management of Health and Safety at work regulations 1999</a:t>
            </a:r>
          </a:p>
          <a:p>
            <a:pPr lvl="1">
              <a:lnSpc>
                <a:spcPct val="100000"/>
              </a:lnSpc>
            </a:pPr>
            <a:r>
              <a:rPr lang="en-GB" dirty="0">
                <a:cs typeface="Calibri"/>
              </a:rPr>
              <a:t>Your employer should provide you with the adequate training and equipment to safely complete the manual handling you must have to complete to do your job.</a:t>
            </a:r>
          </a:p>
          <a:p>
            <a:pPr lvl="1">
              <a:lnSpc>
                <a:spcPct val="100000"/>
              </a:lnSpc>
            </a:pPr>
            <a:r>
              <a:rPr lang="en-GB" dirty="0">
                <a:cs typeface="Calibri"/>
              </a:rPr>
              <a:t>If you haven't received the adequate training you should not be doing the  manual handling, if your employer is not fulfilling this it should be escalated to the CSP and a governing body. </a:t>
            </a:r>
          </a:p>
        </p:txBody>
      </p:sp>
    </p:spTree>
    <p:extLst>
      <p:ext uri="{BB962C8B-B14F-4D97-AF65-F5344CB8AC3E}">
        <p14:creationId xmlns:p14="http://schemas.microsoft.com/office/powerpoint/2010/main" val="116034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ABCEE-9647-F080-741A-8FB1B063F7BA}"/>
              </a:ext>
            </a:extLst>
          </p:cNvPr>
          <p:cNvSpPr>
            <a:spLocks noGrp="1"/>
          </p:cNvSpPr>
          <p:nvPr>
            <p:ph type="title"/>
          </p:nvPr>
        </p:nvSpPr>
        <p:spPr>
          <a:xfrm>
            <a:off x="1156851" y="637762"/>
            <a:ext cx="9888496" cy="900131"/>
          </a:xfrm>
        </p:spPr>
        <p:txBody>
          <a:bodyPr anchor="t">
            <a:normAutofit/>
          </a:bodyPr>
          <a:lstStyle/>
          <a:p>
            <a:r>
              <a:rPr lang="en-GB" sz="4000" dirty="0">
                <a:solidFill>
                  <a:schemeClr val="bg1"/>
                </a:solidFill>
                <a:cs typeface="Calibri Light"/>
              </a:rPr>
              <a:t>CSP guidance on risk assessment</a:t>
            </a:r>
            <a:endParaRPr lang="en-GB" sz="4000" dirty="0">
              <a:solidFill>
                <a:schemeClr val="bg1"/>
              </a:solidFill>
            </a:endParaRPr>
          </a:p>
        </p:txBody>
      </p:sp>
      <p:sp>
        <p:nvSpPr>
          <p:cNvPr id="3" name="Content Placeholder 2">
            <a:extLst>
              <a:ext uri="{FF2B5EF4-FFF2-40B4-BE49-F238E27FC236}">
                <a16:creationId xmlns:a16="http://schemas.microsoft.com/office/drawing/2014/main" id="{F3D86C79-3AED-719D-742E-9749B649A70F}"/>
              </a:ext>
            </a:extLst>
          </p:cNvPr>
          <p:cNvSpPr>
            <a:spLocks noGrp="1"/>
          </p:cNvSpPr>
          <p:nvPr>
            <p:ph idx="1"/>
          </p:nvPr>
        </p:nvSpPr>
        <p:spPr>
          <a:xfrm>
            <a:off x="1155553" y="2260619"/>
            <a:ext cx="9880893" cy="3959619"/>
          </a:xfrm>
        </p:spPr>
        <p:txBody>
          <a:bodyPr vert="horz" lIns="91440" tIns="45720" rIns="91440" bIns="45720" rtlCol="0" anchor="t">
            <a:normAutofit/>
          </a:bodyPr>
          <a:lstStyle/>
          <a:p>
            <a:pPr>
              <a:lnSpc>
                <a:spcPct val="100000"/>
              </a:lnSpc>
            </a:pPr>
            <a:r>
              <a:rPr lang="en-GB" dirty="0">
                <a:cs typeface="Calibri"/>
              </a:rPr>
              <a:t>Step 1: Avoidance:</a:t>
            </a:r>
            <a:endParaRPr lang="en-US" dirty="0"/>
          </a:p>
          <a:p>
            <a:pPr lvl="1">
              <a:lnSpc>
                <a:spcPct val="100000"/>
              </a:lnSpc>
            </a:pPr>
            <a:r>
              <a:rPr lang="en-GB" dirty="0">
                <a:cs typeface="Calibri"/>
              </a:rPr>
              <a:t>Any general risk assessment taking place under MHSWR 1999(15) will identify, or should already have identified, the range of hazardous manual handling tasks taking place or likely to take place in a particular department / specialist setting. </a:t>
            </a:r>
          </a:p>
          <a:p>
            <a:pPr lvl="1">
              <a:lnSpc>
                <a:spcPct val="100000"/>
              </a:lnSpc>
            </a:pPr>
            <a:r>
              <a:rPr lang="en-GB" dirty="0">
                <a:cs typeface="Calibri"/>
              </a:rPr>
              <a:t>Many of these tasks will not be related directly to patient rehabilitation and every reasonably practicable step must be taken to avoid them.</a:t>
            </a:r>
          </a:p>
        </p:txBody>
      </p:sp>
    </p:spTree>
    <p:extLst>
      <p:ext uri="{BB962C8B-B14F-4D97-AF65-F5344CB8AC3E}">
        <p14:creationId xmlns:p14="http://schemas.microsoft.com/office/powerpoint/2010/main" val="1063013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ABCEE-9647-F080-741A-8FB1B063F7BA}"/>
              </a:ext>
            </a:extLst>
          </p:cNvPr>
          <p:cNvSpPr>
            <a:spLocks noGrp="1"/>
          </p:cNvSpPr>
          <p:nvPr>
            <p:ph type="title"/>
          </p:nvPr>
        </p:nvSpPr>
        <p:spPr>
          <a:xfrm>
            <a:off x="1156851" y="637762"/>
            <a:ext cx="9888496" cy="900131"/>
          </a:xfrm>
        </p:spPr>
        <p:txBody>
          <a:bodyPr anchor="t">
            <a:normAutofit/>
          </a:bodyPr>
          <a:lstStyle/>
          <a:p>
            <a:r>
              <a:rPr lang="en-GB" sz="4000" dirty="0">
                <a:solidFill>
                  <a:schemeClr val="bg1"/>
                </a:solidFill>
                <a:cs typeface="Calibri Light"/>
              </a:rPr>
              <a:t>CSP guidance on risk assessment</a:t>
            </a:r>
            <a:endParaRPr lang="en-GB" sz="4000" dirty="0">
              <a:solidFill>
                <a:schemeClr val="bg1"/>
              </a:solidFill>
            </a:endParaRPr>
          </a:p>
        </p:txBody>
      </p:sp>
      <p:sp>
        <p:nvSpPr>
          <p:cNvPr id="3" name="Content Placeholder 2">
            <a:extLst>
              <a:ext uri="{FF2B5EF4-FFF2-40B4-BE49-F238E27FC236}">
                <a16:creationId xmlns:a16="http://schemas.microsoft.com/office/drawing/2014/main" id="{F3D86C79-3AED-719D-742E-9749B649A70F}"/>
              </a:ext>
            </a:extLst>
          </p:cNvPr>
          <p:cNvSpPr>
            <a:spLocks noGrp="1"/>
          </p:cNvSpPr>
          <p:nvPr>
            <p:ph idx="1"/>
          </p:nvPr>
        </p:nvSpPr>
        <p:spPr>
          <a:xfrm>
            <a:off x="1155553" y="2260619"/>
            <a:ext cx="9880893" cy="4419387"/>
          </a:xfrm>
        </p:spPr>
        <p:txBody>
          <a:bodyPr vert="horz" lIns="91440" tIns="45720" rIns="91440" bIns="45720" rtlCol="0" anchor="t">
            <a:normAutofit fontScale="70000" lnSpcReduction="20000"/>
          </a:bodyPr>
          <a:lstStyle/>
          <a:p>
            <a:pPr>
              <a:lnSpc>
                <a:spcPct val="120000"/>
              </a:lnSpc>
            </a:pPr>
            <a:r>
              <a:rPr lang="en-GB" dirty="0">
                <a:cs typeface="Calibri"/>
              </a:rPr>
              <a:t>Step 2: Risk assessment:</a:t>
            </a:r>
            <a:endParaRPr lang="en-US" dirty="0"/>
          </a:p>
          <a:p>
            <a:pPr lvl="1">
              <a:lnSpc>
                <a:spcPct val="120000"/>
              </a:lnSpc>
            </a:pPr>
            <a:r>
              <a:rPr lang="en-GB" dirty="0">
                <a:cs typeface="Calibri"/>
              </a:rPr>
              <a:t> There is an absolute requirement to assess the risks arising from manual handling operations that cannot reasonably practicably be avoided. </a:t>
            </a:r>
          </a:p>
          <a:p>
            <a:pPr lvl="2">
              <a:lnSpc>
                <a:spcPct val="120000"/>
              </a:lnSpc>
            </a:pPr>
            <a:r>
              <a:rPr lang="en-GB" dirty="0">
                <a:cs typeface="Calibri"/>
              </a:rPr>
              <a:t> Such risk assessments may be: </a:t>
            </a:r>
          </a:p>
          <a:p>
            <a:pPr lvl="3">
              <a:lnSpc>
                <a:spcPct val="120000"/>
              </a:lnSpc>
            </a:pPr>
            <a:r>
              <a:rPr lang="en-GB" dirty="0">
                <a:cs typeface="Calibri"/>
              </a:rPr>
              <a:t>generic, i.e. pertaining to groups or classes of routinely undertaken or foreseeable but unavoidable tasks such as, for example: routine transfers from wheelchair to treatment table, or the transport of certain items of equipment </a:t>
            </a:r>
          </a:p>
          <a:p>
            <a:pPr lvl="3">
              <a:lnSpc>
                <a:spcPct val="120000"/>
              </a:lnSpc>
            </a:pPr>
            <a:r>
              <a:rPr lang="en-GB" dirty="0">
                <a:cs typeface="Calibri"/>
              </a:rPr>
              <a:t> patient-specific, where the generic protocol is not appropriate to a particular patient at a particular time.</a:t>
            </a:r>
          </a:p>
          <a:p>
            <a:pPr lvl="1">
              <a:lnSpc>
                <a:spcPct val="120000"/>
              </a:lnSpc>
            </a:pPr>
            <a:r>
              <a:rPr lang="en-GB" dirty="0">
                <a:cs typeface="Calibri"/>
              </a:rPr>
              <a:t> In arriving at Step 2 the physiotherapist has already taken the decision that it is not reasonably practicable to avoid the manual handling task and has moved on to consider the extent of the risk potentially associated with carrying out the task. </a:t>
            </a:r>
          </a:p>
          <a:p>
            <a:pPr lvl="2">
              <a:lnSpc>
                <a:spcPct val="120000"/>
              </a:lnSpc>
            </a:pPr>
            <a:r>
              <a:rPr lang="en-GB" dirty="0">
                <a:cs typeface="Calibri"/>
              </a:rPr>
              <a:t>To avoid any doubt: </a:t>
            </a:r>
          </a:p>
          <a:p>
            <a:pPr lvl="3">
              <a:lnSpc>
                <a:spcPct val="120000"/>
              </a:lnSpc>
            </a:pPr>
            <a:r>
              <a:rPr lang="en-GB" dirty="0">
                <a:cs typeface="Calibri"/>
              </a:rPr>
              <a:t> Hazard – something (e.g. a circumstance or behaviour) with the potential to cause harm </a:t>
            </a:r>
          </a:p>
          <a:p>
            <a:pPr lvl="3">
              <a:lnSpc>
                <a:spcPct val="120000"/>
              </a:lnSpc>
            </a:pPr>
            <a:r>
              <a:rPr lang="en-GB" dirty="0">
                <a:cs typeface="Calibri"/>
              </a:rPr>
              <a:t> Risk – a notional consideration of the likelihood that a hazard will result in harm (to the handler, the patient or anyone else associated with the task) and of the severity or extent of that harm.</a:t>
            </a:r>
          </a:p>
          <a:p>
            <a:pPr lvl="1">
              <a:lnSpc>
                <a:spcPct val="120000"/>
              </a:lnSpc>
            </a:pPr>
            <a:r>
              <a:rPr lang="en-GB" dirty="0">
                <a:cs typeface="Calibri"/>
              </a:rPr>
              <a:t>When the guidance was set out in 2004 an acronym was created : </a:t>
            </a:r>
            <a:r>
              <a:rPr lang="en-GB" b="1" dirty="0">
                <a:cs typeface="Calibri"/>
              </a:rPr>
              <a:t>TILE</a:t>
            </a:r>
            <a:r>
              <a:rPr lang="en-GB" dirty="0">
                <a:cs typeface="Calibri"/>
              </a:rPr>
              <a:t> </a:t>
            </a:r>
          </a:p>
        </p:txBody>
      </p:sp>
    </p:spTree>
    <p:extLst>
      <p:ext uri="{BB962C8B-B14F-4D97-AF65-F5344CB8AC3E}">
        <p14:creationId xmlns:p14="http://schemas.microsoft.com/office/powerpoint/2010/main" val="494243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ABCEE-9647-F080-741A-8FB1B063F7BA}"/>
              </a:ext>
            </a:extLst>
          </p:cNvPr>
          <p:cNvSpPr>
            <a:spLocks noGrp="1"/>
          </p:cNvSpPr>
          <p:nvPr>
            <p:ph type="title"/>
          </p:nvPr>
        </p:nvSpPr>
        <p:spPr>
          <a:xfrm>
            <a:off x="1156851" y="637762"/>
            <a:ext cx="9888496" cy="900131"/>
          </a:xfrm>
        </p:spPr>
        <p:txBody>
          <a:bodyPr anchor="t">
            <a:normAutofit/>
          </a:bodyPr>
          <a:lstStyle/>
          <a:p>
            <a:r>
              <a:rPr lang="en-GB" sz="4000" dirty="0">
                <a:solidFill>
                  <a:schemeClr val="bg1"/>
                </a:solidFill>
                <a:cs typeface="Calibri Light"/>
              </a:rPr>
              <a:t>TILE</a:t>
            </a:r>
            <a:endParaRPr lang="en-GB" sz="4000" dirty="0">
              <a:solidFill>
                <a:schemeClr val="bg1"/>
              </a:solidFill>
            </a:endParaRPr>
          </a:p>
        </p:txBody>
      </p:sp>
      <p:sp>
        <p:nvSpPr>
          <p:cNvPr id="7" name="Arrow: Right 6">
            <a:extLst>
              <a:ext uri="{FF2B5EF4-FFF2-40B4-BE49-F238E27FC236}">
                <a16:creationId xmlns:a16="http://schemas.microsoft.com/office/drawing/2014/main" id="{B9014C29-5121-E852-EE2D-C29663915331}"/>
              </a:ext>
            </a:extLst>
          </p:cNvPr>
          <p:cNvSpPr/>
          <p:nvPr/>
        </p:nvSpPr>
        <p:spPr>
          <a:xfrm>
            <a:off x="967136" y="1992976"/>
            <a:ext cx="2273485" cy="944743"/>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latin typeface="Arial" panose="020B0604020202020204" pitchFamily="34" charset="0"/>
                <a:cs typeface="Arial" panose="020B0604020202020204" pitchFamily="34" charset="0"/>
              </a:rPr>
              <a:t>Task </a:t>
            </a:r>
          </a:p>
        </p:txBody>
      </p:sp>
      <p:sp>
        <p:nvSpPr>
          <p:cNvPr id="9" name="Arrow: Right 8">
            <a:extLst>
              <a:ext uri="{FF2B5EF4-FFF2-40B4-BE49-F238E27FC236}">
                <a16:creationId xmlns:a16="http://schemas.microsoft.com/office/drawing/2014/main" id="{EFC78782-F892-982D-D510-C776C77A6E16}"/>
              </a:ext>
            </a:extLst>
          </p:cNvPr>
          <p:cNvSpPr/>
          <p:nvPr/>
        </p:nvSpPr>
        <p:spPr>
          <a:xfrm>
            <a:off x="967136" y="3121024"/>
            <a:ext cx="2273485" cy="944743"/>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dirty="0">
                <a:latin typeface="Arial" panose="020B0604020202020204" pitchFamily="34" charset="0"/>
                <a:cs typeface="Arial" panose="020B0604020202020204" pitchFamily="34" charset="0"/>
              </a:rPr>
              <a:t>Individual </a:t>
            </a:r>
          </a:p>
        </p:txBody>
      </p:sp>
      <p:sp>
        <p:nvSpPr>
          <p:cNvPr id="11" name="Arrow: Right 10">
            <a:extLst>
              <a:ext uri="{FF2B5EF4-FFF2-40B4-BE49-F238E27FC236}">
                <a16:creationId xmlns:a16="http://schemas.microsoft.com/office/drawing/2014/main" id="{EAE0A1F3-9539-85C7-6AE5-5466CF8638BE}"/>
              </a:ext>
            </a:extLst>
          </p:cNvPr>
          <p:cNvSpPr/>
          <p:nvPr/>
        </p:nvSpPr>
        <p:spPr>
          <a:xfrm>
            <a:off x="967136" y="4249072"/>
            <a:ext cx="2276874" cy="943200"/>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dirty="0">
                <a:latin typeface="Arial" panose="020B0604020202020204" pitchFamily="34" charset="0"/>
                <a:cs typeface="Arial" panose="020B0604020202020204" pitchFamily="34" charset="0"/>
              </a:rPr>
              <a:t>Load </a:t>
            </a:r>
          </a:p>
        </p:txBody>
      </p:sp>
      <p:sp>
        <p:nvSpPr>
          <p:cNvPr id="13" name="Arrow: Right 12">
            <a:extLst>
              <a:ext uri="{FF2B5EF4-FFF2-40B4-BE49-F238E27FC236}">
                <a16:creationId xmlns:a16="http://schemas.microsoft.com/office/drawing/2014/main" id="{400A7887-9F0A-4DF1-22FB-104F934885D8}"/>
              </a:ext>
            </a:extLst>
          </p:cNvPr>
          <p:cNvSpPr/>
          <p:nvPr/>
        </p:nvSpPr>
        <p:spPr>
          <a:xfrm>
            <a:off x="971969" y="5375576"/>
            <a:ext cx="2273485" cy="975635"/>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dirty="0">
                <a:latin typeface="Arial" panose="020B0604020202020204" pitchFamily="34" charset="0"/>
                <a:cs typeface="Arial" panose="020B0604020202020204" pitchFamily="34" charset="0"/>
              </a:rPr>
              <a:t>Environment </a:t>
            </a:r>
          </a:p>
        </p:txBody>
      </p:sp>
      <p:sp>
        <p:nvSpPr>
          <p:cNvPr id="14" name="TextBox 13">
            <a:extLst>
              <a:ext uri="{FF2B5EF4-FFF2-40B4-BE49-F238E27FC236}">
                <a16:creationId xmlns:a16="http://schemas.microsoft.com/office/drawing/2014/main" id="{588CE42B-C386-84C6-45B2-C441CE0352ED}"/>
              </a:ext>
            </a:extLst>
          </p:cNvPr>
          <p:cNvSpPr txBox="1"/>
          <p:nvPr/>
        </p:nvSpPr>
        <p:spPr>
          <a:xfrm>
            <a:off x="3626724" y="2280681"/>
            <a:ext cx="675502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err="1">
                <a:latin typeface="Arial" panose="020B0604020202020204" pitchFamily="34" charset="0"/>
                <a:cs typeface="Arial" panose="020B0604020202020204" pitchFamily="34" charset="0"/>
              </a:rPr>
              <a:t>Eg.</a:t>
            </a:r>
            <a:r>
              <a:rPr lang="en-GB" dirty="0">
                <a:latin typeface="Arial" panose="020B0604020202020204" pitchFamily="34" charset="0"/>
                <a:cs typeface="Arial" panose="020B0604020202020204" pitchFamily="34" charset="0"/>
              </a:rPr>
              <a:t> Mobilising to and from toilet or sitting on the edge of the bed </a:t>
            </a:r>
          </a:p>
        </p:txBody>
      </p:sp>
      <p:sp>
        <p:nvSpPr>
          <p:cNvPr id="15" name="TextBox 14">
            <a:extLst>
              <a:ext uri="{FF2B5EF4-FFF2-40B4-BE49-F238E27FC236}">
                <a16:creationId xmlns:a16="http://schemas.microsoft.com/office/drawing/2014/main" id="{2406171C-4C82-15B2-7B08-15CC4749DA95}"/>
              </a:ext>
            </a:extLst>
          </p:cNvPr>
          <p:cNvSpPr txBox="1"/>
          <p:nvPr/>
        </p:nvSpPr>
        <p:spPr>
          <a:xfrm>
            <a:off x="3626724" y="5401728"/>
            <a:ext cx="667264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latin typeface="Arial" panose="020B0604020202020204" pitchFamily="34" charset="0"/>
                <a:cs typeface="Arial" panose="020B0604020202020204" pitchFamily="34" charset="0"/>
              </a:rPr>
              <a:t>The space in which the task is taking place. Taking into account things like footwear, lighting, space to complete task, attachments and any equipment you may need. </a:t>
            </a:r>
          </a:p>
        </p:txBody>
      </p:sp>
      <p:sp>
        <p:nvSpPr>
          <p:cNvPr id="16" name="TextBox 15">
            <a:extLst>
              <a:ext uri="{FF2B5EF4-FFF2-40B4-BE49-F238E27FC236}">
                <a16:creationId xmlns:a16="http://schemas.microsoft.com/office/drawing/2014/main" id="{68E2A611-E9A3-513E-EB52-EE7A5913E638}"/>
              </a:ext>
            </a:extLst>
          </p:cNvPr>
          <p:cNvSpPr txBox="1"/>
          <p:nvPr/>
        </p:nvSpPr>
        <p:spPr>
          <a:xfrm>
            <a:off x="3626724" y="4255317"/>
            <a:ext cx="668294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latin typeface="Arial" panose="020B0604020202020204" pitchFamily="34" charset="0"/>
                <a:cs typeface="Arial" panose="020B0604020202020204" pitchFamily="34" charset="0"/>
              </a:rPr>
              <a:t>The patient: What is their function, how much help do they need , do they have any behavioural problems </a:t>
            </a:r>
            <a:r>
              <a:rPr lang="en-GB" dirty="0" err="1">
                <a:latin typeface="Arial" panose="020B0604020202020204" pitchFamily="34" charset="0"/>
                <a:cs typeface="Arial" panose="020B0604020202020204" pitchFamily="34" charset="0"/>
              </a:rPr>
              <a:t>eg.</a:t>
            </a:r>
            <a:r>
              <a:rPr lang="en-GB" dirty="0">
                <a:latin typeface="Arial" panose="020B0604020202020204" pitchFamily="34" charset="0"/>
                <a:cs typeface="Arial" panose="020B0604020202020204" pitchFamily="34" charset="0"/>
              </a:rPr>
              <a:t> Impulsivity or aggression or hypoactive </a:t>
            </a:r>
            <a:r>
              <a:rPr lang="en-GB" dirty="0" err="1">
                <a:latin typeface="Arial" panose="020B0604020202020204" pitchFamily="34" charset="0"/>
                <a:cs typeface="Arial" panose="020B0604020202020204" pitchFamily="34" charset="0"/>
              </a:rPr>
              <a:t>delerium</a:t>
            </a:r>
            <a:r>
              <a:rPr lang="en-GB" dirty="0">
                <a:latin typeface="Arial" panose="020B0604020202020204" pitchFamily="34" charset="0"/>
                <a:cs typeface="Arial" panose="020B0604020202020204" pitchFamily="34" charset="0"/>
              </a:rPr>
              <a:t> </a:t>
            </a:r>
          </a:p>
        </p:txBody>
      </p:sp>
      <p:sp>
        <p:nvSpPr>
          <p:cNvPr id="17" name="TextBox 16">
            <a:extLst>
              <a:ext uri="{FF2B5EF4-FFF2-40B4-BE49-F238E27FC236}">
                <a16:creationId xmlns:a16="http://schemas.microsoft.com/office/drawing/2014/main" id="{1ABA8977-CE8C-5D22-B65C-2B32D8AB096F}"/>
              </a:ext>
            </a:extLst>
          </p:cNvPr>
          <p:cNvSpPr txBox="1"/>
          <p:nvPr/>
        </p:nvSpPr>
        <p:spPr>
          <a:xfrm>
            <a:off x="3626724" y="3262850"/>
            <a:ext cx="624016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latin typeface="Arial" panose="020B0604020202020204" pitchFamily="34" charset="0"/>
                <a:cs typeface="Arial" panose="020B0604020202020204" pitchFamily="34" charset="0"/>
              </a:rPr>
              <a:t>The person carrying out the task </a:t>
            </a:r>
            <a:r>
              <a:rPr lang="en-GB" dirty="0" err="1">
                <a:latin typeface="Arial" panose="020B0604020202020204" pitchFamily="34" charset="0"/>
                <a:cs typeface="Arial" panose="020B0604020202020204" pitchFamily="34" charset="0"/>
              </a:rPr>
              <a:t>i.e</a:t>
            </a:r>
            <a:r>
              <a:rPr lang="en-GB" dirty="0">
                <a:latin typeface="Arial" panose="020B0604020202020204" pitchFamily="34" charset="0"/>
                <a:cs typeface="Arial" panose="020B0604020202020204" pitchFamily="34" charset="0"/>
              </a:rPr>
              <a:t> : you. This should consider skill set, experience etc </a:t>
            </a:r>
          </a:p>
        </p:txBody>
      </p:sp>
    </p:spTree>
    <p:extLst>
      <p:ext uri="{BB962C8B-B14F-4D97-AF65-F5344CB8AC3E}">
        <p14:creationId xmlns:p14="http://schemas.microsoft.com/office/powerpoint/2010/main" val="3050302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ABCEE-9647-F080-741A-8FB1B063F7BA}"/>
              </a:ext>
            </a:extLst>
          </p:cNvPr>
          <p:cNvSpPr>
            <a:spLocks noGrp="1"/>
          </p:cNvSpPr>
          <p:nvPr>
            <p:ph type="title"/>
          </p:nvPr>
        </p:nvSpPr>
        <p:spPr>
          <a:xfrm>
            <a:off x="1156851" y="637762"/>
            <a:ext cx="9888496" cy="900131"/>
          </a:xfrm>
        </p:spPr>
        <p:txBody>
          <a:bodyPr anchor="t">
            <a:normAutofit/>
          </a:bodyPr>
          <a:lstStyle/>
          <a:p>
            <a:r>
              <a:rPr lang="en-GB" sz="4000" dirty="0">
                <a:solidFill>
                  <a:schemeClr val="bg1"/>
                </a:solidFill>
                <a:cs typeface="Calibri Light"/>
              </a:rPr>
              <a:t>Documenting TILE</a:t>
            </a:r>
            <a:endParaRPr lang="en-GB" sz="4000" dirty="0">
              <a:solidFill>
                <a:schemeClr val="bg1"/>
              </a:solidFill>
            </a:endParaRPr>
          </a:p>
        </p:txBody>
      </p:sp>
      <p:sp>
        <p:nvSpPr>
          <p:cNvPr id="6" name="Content Placeholder 2">
            <a:extLst>
              <a:ext uri="{FF2B5EF4-FFF2-40B4-BE49-F238E27FC236}">
                <a16:creationId xmlns:a16="http://schemas.microsoft.com/office/drawing/2014/main" id="{8ED71443-76AE-0DFE-D0C3-CB1D03670A3F}"/>
              </a:ext>
            </a:extLst>
          </p:cNvPr>
          <p:cNvSpPr>
            <a:spLocks noGrp="1"/>
          </p:cNvSpPr>
          <p:nvPr>
            <p:ph idx="1"/>
          </p:nvPr>
        </p:nvSpPr>
        <p:spPr>
          <a:xfrm>
            <a:off x="1155553" y="2260619"/>
            <a:ext cx="9880893" cy="3959619"/>
          </a:xfrm>
        </p:spPr>
        <p:txBody>
          <a:bodyPr vert="horz" lIns="91440" tIns="45720" rIns="91440" bIns="45720" rtlCol="0" anchor="t">
            <a:normAutofit fontScale="85000" lnSpcReduction="20000"/>
          </a:bodyPr>
          <a:lstStyle/>
          <a:p>
            <a:pPr>
              <a:lnSpc>
                <a:spcPct val="110000"/>
              </a:lnSpc>
            </a:pPr>
            <a:r>
              <a:rPr lang="en-GB" dirty="0">
                <a:cs typeface="Calibri"/>
              </a:rPr>
              <a:t>Should be included in your observation section of your SOAP notes as it part of your assessment </a:t>
            </a:r>
          </a:p>
          <a:p>
            <a:pPr>
              <a:lnSpc>
                <a:spcPct val="110000"/>
              </a:lnSpc>
            </a:pPr>
            <a:r>
              <a:rPr lang="en-GB" dirty="0">
                <a:cs typeface="Calibri"/>
              </a:rPr>
              <a:t>It should also be included in your analysis as a comment on that patients level of function </a:t>
            </a:r>
          </a:p>
          <a:p>
            <a:pPr lvl="1">
              <a:lnSpc>
                <a:spcPct val="110000"/>
              </a:lnSpc>
            </a:pPr>
            <a:r>
              <a:rPr lang="en-GB" dirty="0" err="1">
                <a:cs typeface="Calibri"/>
              </a:rPr>
              <a:t>Eg</a:t>
            </a:r>
            <a:r>
              <a:rPr lang="en-GB" dirty="0">
                <a:cs typeface="Calibri"/>
              </a:rPr>
              <a:t> : </a:t>
            </a:r>
          </a:p>
          <a:p>
            <a:pPr lvl="2">
              <a:lnSpc>
                <a:spcPct val="110000"/>
              </a:lnSpc>
            </a:pPr>
            <a:r>
              <a:rPr lang="en-GB" dirty="0">
                <a:cs typeface="Calibri"/>
              </a:rPr>
              <a:t>O/ A:E assessment </a:t>
            </a:r>
          </a:p>
          <a:p>
            <a:pPr marL="1371600" lvl="3" indent="0">
              <a:lnSpc>
                <a:spcPct val="110000"/>
              </a:lnSpc>
              <a:buNone/>
            </a:pPr>
            <a:r>
              <a:rPr lang="en-GB" dirty="0">
                <a:cs typeface="Calibri"/>
              </a:rPr>
              <a:t>TILE : Ao1 with Walking stick for mob</a:t>
            </a:r>
          </a:p>
          <a:p>
            <a:pPr marL="1371600" lvl="3" indent="0">
              <a:lnSpc>
                <a:spcPct val="110000"/>
              </a:lnSpc>
              <a:buNone/>
            </a:pPr>
            <a:r>
              <a:rPr lang="en-GB" dirty="0">
                <a:cs typeface="Calibri"/>
              </a:rPr>
              <a:t>Or </a:t>
            </a:r>
          </a:p>
          <a:p>
            <a:pPr marL="1371600" lvl="3" indent="0">
              <a:lnSpc>
                <a:spcPct val="110000"/>
              </a:lnSpc>
              <a:buNone/>
            </a:pPr>
            <a:r>
              <a:rPr lang="en-GB" dirty="0">
                <a:cs typeface="Calibri"/>
              </a:rPr>
              <a:t>TILE : Ao3 for </a:t>
            </a:r>
            <a:r>
              <a:rPr lang="en-GB" dirty="0" err="1">
                <a:cs typeface="Calibri"/>
              </a:rPr>
              <a:t>t.f</a:t>
            </a:r>
            <a:r>
              <a:rPr lang="en-GB" dirty="0">
                <a:cs typeface="Calibri"/>
              </a:rPr>
              <a:t> with sara steady </a:t>
            </a:r>
          </a:p>
          <a:p>
            <a:pPr marL="1028700" lvl="2" indent="-342900">
              <a:lnSpc>
                <a:spcPct val="110000"/>
              </a:lnSpc>
            </a:pPr>
            <a:r>
              <a:rPr lang="en-GB" dirty="0">
                <a:cs typeface="Calibri"/>
              </a:rPr>
              <a:t>A/ </a:t>
            </a:r>
            <a:r>
              <a:rPr lang="en-GB" dirty="0" err="1">
                <a:cs typeface="Calibri"/>
              </a:rPr>
              <a:t>pt</a:t>
            </a:r>
            <a:r>
              <a:rPr lang="en-GB" dirty="0">
                <a:cs typeface="Calibri"/>
              </a:rPr>
              <a:t> admitted to ICU with chest sepsis, in multi-organ failure. Currently off baseline for mobility secondary to prolonged bed rest, requiring heavy assistance of 2 to sit on the edge of the bed. Will require specialised seating to sit out safely. </a:t>
            </a:r>
          </a:p>
        </p:txBody>
      </p:sp>
    </p:spTree>
    <p:extLst>
      <p:ext uri="{BB962C8B-B14F-4D97-AF65-F5344CB8AC3E}">
        <p14:creationId xmlns:p14="http://schemas.microsoft.com/office/powerpoint/2010/main" val="1061482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ABCEE-9647-F080-741A-8FB1B063F7BA}"/>
              </a:ext>
            </a:extLst>
          </p:cNvPr>
          <p:cNvSpPr>
            <a:spLocks noGrp="1"/>
          </p:cNvSpPr>
          <p:nvPr>
            <p:ph type="title"/>
          </p:nvPr>
        </p:nvSpPr>
        <p:spPr>
          <a:xfrm>
            <a:off x="1156851" y="637762"/>
            <a:ext cx="9888496" cy="900131"/>
          </a:xfrm>
        </p:spPr>
        <p:txBody>
          <a:bodyPr anchor="t">
            <a:normAutofit/>
          </a:bodyPr>
          <a:lstStyle/>
          <a:p>
            <a:r>
              <a:rPr lang="en-GB" sz="4000" dirty="0">
                <a:solidFill>
                  <a:schemeClr val="bg1"/>
                </a:solidFill>
                <a:cs typeface="Calibri Light"/>
              </a:rPr>
              <a:t>Manual handling: TILE for yourself</a:t>
            </a:r>
            <a:endParaRPr lang="en-GB" sz="4000" dirty="0">
              <a:solidFill>
                <a:schemeClr val="bg1"/>
              </a:solidFill>
            </a:endParaRPr>
          </a:p>
        </p:txBody>
      </p:sp>
      <p:sp>
        <p:nvSpPr>
          <p:cNvPr id="6" name="Content Placeholder 2">
            <a:extLst>
              <a:ext uri="{FF2B5EF4-FFF2-40B4-BE49-F238E27FC236}">
                <a16:creationId xmlns:a16="http://schemas.microsoft.com/office/drawing/2014/main" id="{8ED71443-76AE-0DFE-D0C3-CB1D03670A3F}"/>
              </a:ext>
            </a:extLst>
          </p:cNvPr>
          <p:cNvSpPr>
            <a:spLocks noGrp="1"/>
          </p:cNvSpPr>
          <p:nvPr>
            <p:ph idx="1"/>
          </p:nvPr>
        </p:nvSpPr>
        <p:spPr>
          <a:xfrm>
            <a:off x="1155553" y="2260619"/>
            <a:ext cx="9880893" cy="3959619"/>
          </a:xfrm>
        </p:spPr>
        <p:txBody>
          <a:bodyPr vert="horz" lIns="91440" tIns="45720" rIns="91440" bIns="45720" rtlCol="0" anchor="t">
            <a:normAutofit/>
          </a:bodyPr>
          <a:lstStyle/>
          <a:p>
            <a:pPr>
              <a:lnSpc>
                <a:spcPct val="100000"/>
              </a:lnSpc>
            </a:pPr>
            <a:r>
              <a:rPr lang="en-GB" dirty="0">
                <a:cs typeface="Calibri"/>
              </a:rPr>
              <a:t>Remember to complete Manual handling with a patient you need </a:t>
            </a:r>
            <a:r>
              <a:rPr lang="en-GB" b="1" dirty="0">
                <a:cs typeface="Calibri"/>
              </a:rPr>
              <a:t>consent</a:t>
            </a:r>
          </a:p>
          <a:p>
            <a:pPr>
              <a:lnSpc>
                <a:spcPct val="100000"/>
              </a:lnSpc>
            </a:pPr>
            <a:r>
              <a:rPr lang="en-GB" dirty="0">
                <a:cs typeface="Calibri"/>
              </a:rPr>
              <a:t>Work within the legal framework AKA : in your scope of practice </a:t>
            </a:r>
          </a:p>
          <a:p>
            <a:pPr lvl="1">
              <a:lnSpc>
                <a:spcPct val="100000"/>
              </a:lnSpc>
            </a:pPr>
            <a:r>
              <a:rPr lang="en-GB" dirty="0">
                <a:cs typeface="Calibri"/>
              </a:rPr>
              <a:t>Keep up to date with our training </a:t>
            </a:r>
          </a:p>
          <a:p>
            <a:pPr lvl="1">
              <a:lnSpc>
                <a:spcPct val="100000"/>
              </a:lnSpc>
            </a:pPr>
            <a:r>
              <a:rPr lang="en-GB" dirty="0">
                <a:cs typeface="Calibri"/>
              </a:rPr>
              <a:t>Know your own limitations </a:t>
            </a:r>
          </a:p>
          <a:p>
            <a:pPr>
              <a:lnSpc>
                <a:spcPct val="100000"/>
              </a:lnSpc>
            </a:pPr>
            <a:r>
              <a:rPr lang="en-GB" dirty="0">
                <a:cs typeface="Calibri"/>
              </a:rPr>
              <a:t>Complete a risk assessment and document it clearly </a:t>
            </a:r>
          </a:p>
          <a:p>
            <a:pPr>
              <a:lnSpc>
                <a:spcPct val="100000"/>
              </a:lnSpc>
            </a:pPr>
            <a:r>
              <a:rPr lang="en-GB" dirty="0">
                <a:cs typeface="Calibri"/>
              </a:rPr>
              <a:t>Communicate your risk assessment to the MDT verbally </a:t>
            </a:r>
          </a:p>
        </p:txBody>
      </p:sp>
    </p:spTree>
    <p:extLst>
      <p:ext uri="{BB962C8B-B14F-4D97-AF65-F5344CB8AC3E}">
        <p14:creationId xmlns:p14="http://schemas.microsoft.com/office/powerpoint/2010/main" val="30904141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ABCEE-9647-F080-741A-8FB1B063F7BA}"/>
              </a:ext>
            </a:extLst>
          </p:cNvPr>
          <p:cNvSpPr>
            <a:spLocks noGrp="1"/>
          </p:cNvSpPr>
          <p:nvPr>
            <p:ph type="title"/>
          </p:nvPr>
        </p:nvSpPr>
        <p:spPr>
          <a:xfrm>
            <a:off x="1156851" y="637762"/>
            <a:ext cx="9888496" cy="900131"/>
          </a:xfrm>
        </p:spPr>
        <p:txBody>
          <a:bodyPr anchor="t">
            <a:normAutofit/>
          </a:bodyPr>
          <a:lstStyle/>
          <a:p>
            <a:r>
              <a:rPr lang="en-GB" sz="4000" dirty="0">
                <a:solidFill>
                  <a:schemeClr val="bg1"/>
                </a:solidFill>
                <a:cs typeface="Calibri Light"/>
              </a:rPr>
              <a:t>Risk assessment: lone working</a:t>
            </a:r>
            <a:endParaRPr lang="en-GB" sz="4000" dirty="0">
              <a:solidFill>
                <a:schemeClr val="bg1"/>
              </a:solidFill>
            </a:endParaRPr>
          </a:p>
        </p:txBody>
      </p:sp>
      <p:sp>
        <p:nvSpPr>
          <p:cNvPr id="6" name="Content Placeholder 2">
            <a:extLst>
              <a:ext uri="{FF2B5EF4-FFF2-40B4-BE49-F238E27FC236}">
                <a16:creationId xmlns:a16="http://schemas.microsoft.com/office/drawing/2014/main" id="{8ED71443-76AE-0DFE-D0C3-CB1D03670A3F}"/>
              </a:ext>
            </a:extLst>
          </p:cNvPr>
          <p:cNvSpPr>
            <a:spLocks noGrp="1"/>
          </p:cNvSpPr>
          <p:nvPr>
            <p:ph idx="1"/>
          </p:nvPr>
        </p:nvSpPr>
        <p:spPr>
          <a:xfrm>
            <a:off x="1155553" y="2260619"/>
            <a:ext cx="9880893" cy="3959619"/>
          </a:xfrm>
        </p:spPr>
        <p:txBody>
          <a:bodyPr vert="horz" lIns="91440" tIns="45720" rIns="91440" bIns="45720" rtlCol="0" anchor="t">
            <a:normAutofit/>
          </a:bodyPr>
          <a:lstStyle/>
          <a:p>
            <a:pPr marL="0" indent="0">
              <a:lnSpc>
                <a:spcPct val="100000"/>
              </a:lnSpc>
              <a:buNone/>
            </a:pPr>
            <a:r>
              <a:rPr lang="en-GB" dirty="0">
                <a:cs typeface="Calibri"/>
              </a:rPr>
              <a:t>" Those who work by themselves without close or direct supervision"</a:t>
            </a:r>
          </a:p>
          <a:p>
            <a:pPr>
              <a:lnSpc>
                <a:spcPct val="100000"/>
              </a:lnSpc>
            </a:pPr>
            <a:r>
              <a:rPr lang="en-GB" dirty="0">
                <a:cs typeface="Calibri"/>
              </a:rPr>
              <a:t>Increased risk from assault an accidents </a:t>
            </a:r>
          </a:p>
          <a:p>
            <a:pPr lvl="1">
              <a:lnSpc>
                <a:spcPct val="100000"/>
              </a:lnSpc>
            </a:pPr>
            <a:r>
              <a:rPr lang="en-GB" dirty="0">
                <a:cs typeface="Calibri"/>
              </a:rPr>
              <a:t>Employers should:</a:t>
            </a:r>
          </a:p>
          <a:p>
            <a:pPr lvl="2">
              <a:lnSpc>
                <a:spcPct val="100000"/>
              </a:lnSpc>
            </a:pPr>
            <a:r>
              <a:rPr lang="en-GB" dirty="0">
                <a:cs typeface="Calibri"/>
              </a:rPr>
              <a:t>Carry out a lone working risk </a:t>
            </a:r>
            <a:r>
              <a:rPr lang="en-GB" dirty="0" err="1">
                <a:cs typeface="Calibri"/>
              </a:rPr>
              <a:t>assesment</a:t>
            </a:r>
            <a:r>
              <a:rPr lang="en-GB" dirty="0">
                <a:cs typeface="Calibri"/>
              </a:rPr>
              <a:t> </a:t>
            </a:r>
          </a:p>
          <a:p>
            <a:pPr lvl="2">
              <a:lnSpc>
                <a:spcPct val="100000"/>
              </a:lnSpc>
            </a:pPr>
            <a:r>
              <a:rPr lang="en-GB" dirty="0">
                <a:cs typeface="Calibri"/>
              </a:rPr>
              <a:t>Implement a safe system of working- lone working devices </a:t>
            </a:r>
          </a:p>
          <a:p>
            <a:pPr lvl="2">
              <a:lnSpc>
                <a:spcPct val="100000"/>
              </a:lnSpc>
            </a:pPr>
            <a:r>
              <a:rPr lang="en-GB" dirty="0">
                <a:cs typeface="Calibri"/>
              </a:rPr>
              <a:t>Policy for lone working, outlining roles and responsibilities </a:t>
            </a:r>
          </a:p>
          <a:p>
            <a:pPr lvl="2">
              <a:lnSpc>
                <a:spcPct val="100000"/>
              </a:lnSpc>
            </a:pPr>
            <a:r>
              <a:rPr lang="en-GB" dirty="0">
                <a:cs typeface="Calibri"/>
              </a:rPr>
              <a:t>Provide training for managing violence and aggression </a:t>
            </a:r>
          </a:p>
          <a:p>
            <a:pPr lvl="2">
              <a:lnSpc>
                <a:spcPct val="100000"/>
              </a:lnSpc>
            </a:pPr>
            <a:r>
              <a:rPr lang="en-GB" dirty="0">
                <a:cs typeface="Calibri"/>
              </a:rPr>
              <a:t>Support those who have been involved / had a 'near-</a:t>
            </a:r>
            <a:r>
              <a:rPr lang="en-GB" dirty="0" err="1">
                <a:cs typeface="Calibri"/>
              </a:rPr>
              <a:t>miss'</a:t>
            </a:r>
            <a:endParaRPr lang="en-GB" dirty="0">
              <a:cs typeface="Calibri"/>
            </a:endParaRPr>
          </a:p>
        </p:txBody>
      </p:sp>
    </p:spTree>
    <p:extLst>
      <p:ext uri="{BB962C8B-B14F-4D97-AF65-F5344CB8AC3E}">
        <p14:creationId xmlns:p14="http://schemas.microsoft.com/office/powerpoint/2010/main" val="2414953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ABCEE-9647-F080-741A-8FB1B063F7BA}"/>
              </a:ext>
            </a:extLst>
          </p:cNvPr>
          <p:cNvSpPr>
            <a:spLocks noGrp="1"/>
          </p:cNvSpPr>
          <p:nvPr>
            <p:ph type="title"/>
          </p:nvPr>
        </p:nvSpPr>
        <p:spPr>
          <a:xfrm>
            <a:off x="1156851" y="637762"/>
            <a:ext cx="9888496" cy="900131"/>
          </a:xfrm>
        </p:spPr>
        <p:txBody>
          <a:bodyPr anchor="t">
            <a:normAutofit/>
          </a:bodyPr>
          <a:lstStyle/>
          <a:p>
            <a:r>
              <a:rPr lang="en-GB" sz="4000" dirty="0">
                <a:solidFill>
                  <a:schemeClr val="bg1"/>
                </a:solidFill>
                <a:cs typeface="Calibri Light"/>
              </a:rPr>
              <a:t>Risk assessment: equipment</a:t>
            </a:r>
            <a:endParaRPr lang="en-GB" sz="4000" dirty="0">
              <a:solidFill>
                <a:schemeClr val="bg1"/>
              </a:solidFill>
            </a:endParaRPr>
          </a:p>
        </p:txBody>
      </p:sp>
      <p:sp>
        <p:nvSpPr>
          <p:cNvPr id="6" name="Content Placeholder 2">
            <a:extLst>
              <a:ext uri="{FF2B5EF4-FFF2-40B4-BE49-F238E27FC236}">
                <a16:creationId xmlns:a16="http://schemas.microsoft.com/office/drawing/2014/main" id="{8ED71443-76AE-0DFE-D0C3-CB1D03670A3F}"/>
              </a:ext>
            </a:extLst>
          </p:cNvPr>
          <p:cNvSpPr>
            <a:spLocks noGrp="1"/>
          </p:cNvSpPr>
          <p:nvPr>
            <p:ph idx="1"/>
          </p:nvPr>
        </p:nvSpPr>
        <p:spPr>
          <a:xfrm>
            <a:off x="1155553" y="2260619"/>
            <a:ext cx="9880893" cy="3959619"/>
          </a:xfrm>
        </p:spPr>
        <p:txBody>
          <a:bodyPr vert="horz" lIns="91440" tIns="45720" rIns="91440" bIns="45720" rtlCol="0" anchor="t">
            <a:normAutofit fontScale="70000" lnSpcReduction="20000"/>
          </a:bodyPr>
          <a:lstStyle/>
          <a:p>
            <a:r>
              <a:rPr lang="en-GB" dirty="0">
                <a:cs typeface="Calibri"/>
              </a:rPr>
              <a:t>Equipment physios can range from : </a:t>
            </a:r>
          </a:p>
          <a:p>
            <a:pPr lvl="1"/>
            <a:r>
              <a:rPr lang="en-GB" dirty="0">
                <a:cs typeface="Calibri"/>
              </a:rPr>
              <a:t>Plinths </a:t>
            </a:r>
          </a:p>
          <a:p>
            <a:pPr lvl="1"/>
            <a:r>
              <a:rPr lang="en-GB" dirty="0">
                <a:cs typeface="Calibri"/>
              </a:rPr>
              <a:t>Electrotherapy machines or ultrasound machines</a:t>
            </a:r>
          </a:p>
          <a:p>
            <a:pPr lvl="1"/>
            <a:r>
              <a:rPr lang="en-GB" dirty="0">
                <a:cs typeface="Calibri"/>
              </a:rPr>
              <a:t>Cough assist machines </a:t>
            </a:r>
          </a:p>
          <a:p>
            <a:pPr lvl="1"/>
            <a:r>
              <a:rPr lang="en-GB" dirty="0">
                <a:cs typeface="Calibri"/>
              </a:rPr>
              <a:t>NIV machines </a:t>
            </a:r>
          </a:p>
          <a:p>
            <a:pPr lvl="1"/>
            <a:r>
              <a:rPr lang="en-GB" dirty="0">
                <a:cs typeface="Calibri"/>
              </a:rPr>
              <a:t>Mobility equipment : crutches and walking sticks </a:t>
            </a:r>
          </a:p>
          <a:p>
            <a:pPr lvl="1"/>
            <a:r>
              <a:rPr lang="en-GB" dirty="0">
                <a:cs typeface="Calibri"/>
              </a:rPr>
              <a:t>Manual handling equipment : hoists and sara </a:t>
            </a:r>
            <a:r>
              <a:rPr lang="en-GB" dirty="0" err="1">
                <a:cs typeface="Calibri"/>
              </a:rPr>
              <a:t>steadys</a:t>
            </a:r>
            <a:r>
              <a:rPr lang="en-GB" dirty="0">
                <a:cs typeface="Calibri"/>
              </a:rPr>
              <a:t> </a:t>
            </a:r>
          </a:p>
          <a:p>
            <a:r>
              <a:rPr lang="en-GB" dirty="0">
                <a:cs typeface="Calibri"/>
              </a:rPr>
              <a:t>The responsibility here is shared between the therapist and the employer </a:t>
            </a:r>
          </a:p>
          <a:p>
            <a:r>
              <a:rPr lang="en-GB" dirty="0">
                <a:cs typeface="Calibri"/>
              </a:rPr>
              <a:t>Must make sure all equipment is regularly serviced </a:t>
            </a:r>
          </a:p>
          <a:p>
            <a:pPr lvl="1"/>
            <a:r>
              <a:rPr lang="en-GB" dirty="0">
                <a:cs typeface="Calibri"/>
              </a:rPr>
              <a:t>Insurance </a:t>
            </a:r>
          </a:p>
          <a:p>
            <a:pPr lvl="1"/>
            <a:r>
              <a:rPr lang="en-GB" dirty="0">
                <a:cs typeface="Calibri"/>
              </a:rPr>
              <a:t>Safety of the patient </a:t>
            </a:r>
          </a:p>
          <a:p>
            <a:pPr lvl="1"/>
            <a:r>
              <a:rPr lang="en-GB" dirty="0">
                <a:cs typeface="Calibri"/>
              </a:rPr>
              <a:t>Safety of the therapist </a:t>
            </a:r>
          </a:p>
          <a:p>
            <a:r>
              <a:rPr lang="en-GB" dirty="0">
                <a:cs typeface="Calibri"/>
              </a:rPr>
              <a:t>Make sure that equipment is still  recommended in NICE guidelines or local guidelines </a:t>
            </a:r>
          </a:p>
        </p:txBody>
      </p:sp>
      <p:pic>
        <p:nvPicPr>
          <p:cNvPr id="3" name="Picture 4" descr="A picture containing sport&#10;&#10;Description automatically generated">
            <a:extLst>
              <a:ext uri="{FF2B5EF4-FFF2-40B4-BE49-F238E27FC236}">
                <a16:creationId xmlns:a16="http://schemas.microsoft.com/office/drawing/2014/main" id="{72901B2B-BC11-98EF-4215-5F8AE9154BFD}"/>
              </a:ext>
            </a:extLst>
          </p:cNvPr>
          <p:cNvPicPr>
            <a:picLocks noChangeAspect="1"/>
          </p:cNvPicPr>
          <p:nvPr/>
        </p:nvPicPr>
        <p:blipFill>
          <a:blip r:embed="rId2"/>
          <a:stretch>
            <a:fillRect/>
          </a:stretch>
        </p:blipFill>
        <p:spPr>
          <a:xfrm>
            <a:off x="10613762" y="3554527"/>
            <a:ext cx="1239795" cy="1239795"/>
          </a:xfrm>
          <a:prstGeom prst="rect">
            <a:avLst/>
          </a:prstGeom>
        </p:spPr>
      </p:pic>
      <p:pic>
        <p:nvPicPr>
          <p:cNvPr id="4" name="Picture 5" descr="Graphical user interface, application&#10;&#10;Description automatically generated">
            <a:extLst>
              <a:ext uri="{FF2B5EF4-FFF2-40B4-BE49-F238E27FC236}">
                <a16:creationId xmlns:a16="http://schemas.microsoft.com/office/drawing/2014/main" id="{48C8E574-4EA3-A365-E099-76717C459164}"/>
              </a:ext>
            </a:extLst>
          </p:cNvPr>
          <p:cNvPicPr>
            <a:picLocks noChangeAspect="1"/>
          </p:cNvPicPr>
          <p:nvPr/>
        </p:nvPicPr>
        <p:blipFill>
          <a:blip r:embed="rId3"/>
          <a:stretch>
            <a:fillRect/>
          </a:stretch>
        </p:blipFill>
        <p:spPr>
          <a:xfrm>
            <a:off x="10490194" y="5069698"/>
            <a:ext cx="1363363" cy="1373660"/>
          </a:xfrm>
          <a:prstGeom prst="rect">
            <a:avLst/>
          </a:prstGeom>
        </p:spPr>
      </p:pic>
      <p:pic>
        <p:nvPicPr>
          <p:cNvPr id="5" name="Picture 6" descr="A picture containing electronics, remote, controller, game&#10;&#10;Description automatically generated">
            <a:extLst>
              <a:ext uri="{FF2B5EF4-FFF2-40B4-BE49-F238E27FC236}">
                <a16:creationId xmlns:a16="http://schemas.microsoft.com/office/drawing/2014/main" id="{7965714E-251C-6279-702D-5C22FE3060DE}"/>
              </a:ext>
            </a:extLst>
          </p:cNvPr>
          <p:cNvPicPr>
            <a:picLocks noChangeAspect="1"/>
          </p:cNvPicPr>
          <p:nvPr/>
        </p:nvPicPr>
        <p:blipFill>
          <a:blip r:embed="rId4"/>
          <a:stretch>
            <a:fillRect/>
          </a:stretch>
        </p:blipFill>
        <p:spPr>
          <a:xfrm>
            <a:off x="10284248" y="1928143"/>
            <a:ext cx="1569309" cy="1171833"/>
          </a:xfrm>
          <a:prstGeom prst="rect">
            <a:avLst/>
          </a:prstGeom>
        </p:spPr>
      </p:pic>
      <p:pic>
        <p:nvPicPr>
          <p:cNvPr id="7" name="Picture 7" descr="A picture containing sport, sky, exercise device&#10;&#10;Description automatically generated">
            <a:extLst>
              <a:ext uri="{FF2B5EF4-FFF2-40B4-BE49-F238E27FC236}">
                <a16:creationId xmlns:a16="http://schemas.microsoft.com/office/drawing/2014/main" id="{7E74DA78-5222-B67B-2FE7-61F289ACC9E7}"/>
              </a:ext>
            </a:extLst>
          </p:cNvPr>
          <p:cNvPicPr>
            <a:picLocks noChangeAspect="1"/>
          </p:cNvPicPr>
          <p:nvPr/>
        </p:nvPicPr>
        <p:blipFill>
          <a:blip r:embed="rId5"/>
          <a:stretch>
            <a:fillRect/>
          </a:stretch>
        </p:blipFill>
        <p:spPr>
          <a:xfrm>
            <a:off x="8023020" y="1925326"/>
            <a:ext cx="1764956" cy="1306913"/>
          </a:xfrm>
          <a:prstGeom prst="rect">
            <a:avLst/>
          </a:prstGeom>
        </p:spPr>
      </p:pic>
    </p:spTree>
    <p:extLst>
      <p:ext uri="{BB962C8B-B14F-4D97-AF65-F5344CB8AC3E}">
        <p14:creationId xmlns:p14="http://schemas.microsoft.com/office/powerpoint/2010/main" val="2437787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ABCEE-9647-F080-741A-8FB1B063F7BA}"/>
              </a:ext>
            </a:extLst>
          </p:cNvPr>
          <p:cNvSpPr>
            <a:spLocks noGrp="1"/>
          </p:cNvSpPr>
          <p:nvPr>
            <p:ph type="title"/>
          </p:nvPr>
        </p:nvSpPr>
        <p:spPr>
          <a:xfrm>
            <a:off x="1156851" y="637762"/>
            <a:ext cx="9888496" cy="900131"/>
          </a:xfrm>
        </p:spPr>
        <p:txBody>
          <a:bodyPr anchor="t">
            <a:normAutofit/>
          </a:bodyPr>
          <a:lstStyle/>
          <a:p>
            <a:r>
              <a:rPr lang="en-GB" sz="4000" dirty="0">
                <a:solidFill>
                  <a:schemeClr val="bg1"/>
                </a:solidFill>
                <a:cs typeface="Calibri Light"/>
              </a:rPr>
              <a:t>Equipment: giving out walking</a:t>
            </a:r>
            <a:endParaRPr lang="en-GB" sz="4000" dirty="0">
              <a:solidFill>
                <a:schemeClr val="bg1"/>
              </a:solidFill>
            </a:endParaRPr>
          </a:p>
        </p:txBody>
      </p:sp>
      <p:sp>
        <p:nvSpPr>
          <p:cNvPr id="6" name="Content Placeholder 2">
            <a:extLst>
              <a:ext uri="{FF2B5EF4-FFF2-40B4-BE49-F238E27FC236}">
                <a16:creationId xmlns:a16="http://schemas.microsoft.com/office/drawing/2014/main" id="{8ED71443-76AE-0DFE-D0C3-CB1D03670A3F}"/>
              </a:ext>
            </a:extLst>
          </p:cNvPr>
          <p:cNvSpPr>
            <a:spLocks noGrp="1"/>
          </p:cNvSpPr>
          <p:nvPr>
            <p:ph idx="1"/>
          </p:nvPr>
        </p:nvSpPr>
        <p:spPr>
          <a:xfrm>
            <a:off x="1155553" y="2260619"/>
            <a:ext cx="9880893" cy="3959619"/>
          </a:xfrm>
        </p:spPr>
        <p:txBody>
          <a:bodyPr vert="horz" lIns="91440" tIns="45720" rIns="91440" bIns="45720" rtlCol="0" anchor="t">
            <a:normAutofit fontScale="85000" lnSpcReduction="20000"/>
          </a:bodyPr>
          <a:lstStyle/>
          <a:p>
            <a:pPr>
              <a:lnSpc>
                <a:spcPct val="110000"/>
              </a:lnSpc>
            </a:pPr>
            <a:r>
              <a:rPr lang="en-GB" dirty="0">
                <a:cs typeface="Calibri"/>
              </a:rPr>
              <a:t>Very common therapy intervention often overlooked </a:t>
            </a:r>
          </a:p>
          <a:p>
            <a:pPr>
              <a:lnSpc>
                <a:spcPct val="110000"/>
              </a:lnSpc>
            </a:pPr>
            <a:r>
              <a:rPr lang="en-GB" dirty="0">
                <a:cs typeface="Calibri"/>
              </a:rPr>
              <a:t>Before giving to the patient : </a:t>
            </a:r>
          </a:p>
          <a:p>
            <a:pPr lvl="1">
              <a:lnSpc>
                <a:spcPct val="110000"/>
              </a:lnSpc>
            </a:pPr>
            <a:r>
              <a:rPr lang="en-GB" dirty="0">
                <a:cs typeface="Calibri"/>
              </a:rPr>
              <a:t>Check the ferule </a:t>
            </a:r>
          </a:p>
          <a:p>
            <a:pPr lvl="1">
              <a:lnSpc>
                <a:spcPct val="110000"/>
              </a:lnSpc>
            </a:pPr>
            <a:r>
              <a:rPr lang="en-GB" dirty="0">
                <a:cs typeface="Calibri"/>
              </a:rPr>
              <a:t>Check the metal shaft / shafts of the aid </a:t>
            </a:r>
          </a:p>
          <a:p>
            <a:pPr lvl="1">
              <a:lnSpc>
                <a:spcPct val="110000"/>
              </a:lnSpc>
            </a:pPr>
            <a:r>
              <a:rPr lang="en-GB" dirty="0">
                <a:cs typeface="Calibri"/>
              </a:rPr>
              <a:t>Measure the patient for height modification : the handle of the aid should line up with their ulna styloid process </a:t>
            </a:r>
          </a:p>
          <a:p>
            <a:pPr>
              <a:lnSpc>
                <a:spcPct val="110000"/>
              </a:lnSpc>
            </a:pPr>
            <a:r>
              <a:rPr lang="en-GB" dirty="0">
                <a:cs typeface="Calibri"/>
              </a:rPr>
              <a:t>Documentation : </a:t>
            </a:r>
          </a:p>
          <a:p>
            <a:pPr lvl="1">
              <a:lnSpc>
                <a:spcPct val="110000"/>
              </a:lnSpc>
            </a:pPr>
            <a:r>
              <a:rPr lang="en-GB" dirty="0">
                <a:cs typeface="Calibri"/>
              </a:rPr>
              <a:t>The lot number of the walking aid should be included in your documentation as part of the HCPC and CSP standards</a:t>
            </a:r>
          </a:p>
          <a:p>
            <a:pPr lvl="1">
              <a:lnSpc>
                <a:spcPct val="110000"/>
              </a:lnSpc>
            </a:pPr>
            <a:r>
              <a:rPr lang="en-GB" dirty="0">
                <a:cs typeface="Calibri"/>
              </a:rPr>
              <a:t>This means that if the aids in that lot are recalled there is a record of who was given them </a:t>
            </a:r>
          </a:p>
        </p:txBody>
      </p:sp>
      <p:pic>
        <p:nvPicPr>
          <p:cNvPr id="9" name="Picture 5" descr="Diagram&#10;&#10;Description automatically generated">
            <a:extLst>
              <a:ext uri="{FF2B5EF4-FFF2-40B4-BE49-F238E27FC236}">
                <a16:creationId xmlns:a16="http://schemas.microsoft.com/office/drawing/2014/main" id="{73BD4BC6-4E62-491F-825F-0161F61426DB}"/>
              </a:ext>
            </a:extLst>
          </p:cNvPr>
          <p:cNvPicPr>
            <a:picLocks noChangeAspect="1"/>
          </p:cNvPicPr>
          <p:nvPr/>
        </p:nvPicPr>
        <p:blipFill>
          <a:blip r:embed="rId2"/>
          <a:stretch>
            <a:fillRect/>
          </a:stretch>
        </p:blipFill>
        <p:spPr>
          <a:xfrm>
            <a:off x="8930931" y="343063"/>
            <a:ext cx="2965622" cy="2992652"/>
          </a:xfrm>
          <a:prstGeom prst="rect">
            <a:avLst/>
          </a:prstGeom>
        </p:spPr>
      </p:pic>
      <p:pic>
        <p:nvPicPr>
          <p:cNvPr id="11" name="Picture 4">
            <a:extLst>
              <a:ext uri="{FF2B5EF4-FFF2-40B4-BE49-F238E27FC236}">
                <a16:creationId xmlns:a16="http://schemas.microsoft.com/office/drawing/2014/main" id="{5BE4CADD-AEA1-FC78-D52B-D5D13C2CB946}"/>
              </a:ext>
            </a:extLst>
          </p:cNvPr>
          <p:cNvPicPr>
            <a:picLocks noChangeAspect="1"/>
          </p:cNvPicPr>
          <p:nvPr/>
        </p:nvPicPr>
        <p:blipFill>
          <a:blip r:embed="rId3"/>
          <a:stretch>
            <a:fillRect/>
          </a:stretch>
        </p:blipFill>
        <p:spPr>
          <a:xfrm>
            <a:off x="7891" y="2675237"/>
            <a:ext cx="1136823" cy="1136823"/>
          </a:xfrm>
          <a:prstGeom prst="rect">
            <a:avLst/>
          </a:prstGeom>
        </p:spPr>
      </p:pic>
    </p:spTree>
    <p:extLst>
      <p:ext uri="{BB962C8B-B14F-4D97-AF65-F5344CB8AC3E}">
        <p14:creationId xmlns:p14="http://schemas.microsoft.com/office/powerpoint/2010/main" val="13464515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ABCEE-9647-F080-741A-8FB1B063F7BA}"/>
              </a:ext>
            </a:extLst>
          </p:cNvPr>
          <p:cNvSpPr>
            <a:spLocks noGrp="1"/>
          </p:cNvSpPr>
          <p:nvPr>
            <p:ph type="title"/>
          </p:nvPr>
        </p:nvSpPr>
        <p:spPr>
          <a:xfrm>
            <a:off x="1156851" y="637762"/>
            <a:ext cx="9888496" cy="900131"/>
          </a:xfrm>
        </p:spPr>
        <p:txBody>
          <a:bodyPr anchor="t">
            <a:normAutofit/>
          </a:bodyPr>
          <a:lstStyle/>
          <a:p>
            <a:r>
              <a:rPr lang="en-GB" sz="4000" dirty="0">
                <a:solidFill>
                  <a:schemeClr val="bg1"/>
                </a:solidFill>
                <a:cs typeface="Calibri Light"/>
              </a:rPr>
              <a:t>Scope of practice</a:t>
            </a:r>
            <a:endParaRPr lang="en-GB" sz="4000" dirty="0">
              <a:solidFill>
                <a:schemeClr val="bg1"/>
              </a:solidFill>
            </a:endParaRPr>
          </a:p>
        </p:txBody>
      </p:sp>
      <p:graphicFrame>
        <p:nvGraphicFramePr>
          <p:cNvPr id="5" name="Content Placeholder 2">
            <a:extLst>
              <a:ext uri="{FF2B5EF4-FFF2-40B4-BE49-F238E27FC236}">
                <a16:creationId xmlns:a16="http://schemas.microsoft.com/office/drawing/2014/main" id="{809A4692-AA12-5CBE-B899-EE34BB4BFBD2}"/>
              </a:ext>
            </a:extLst>
          </p:cNvPr>
          <p:cNvGraphicFramePr>
            <a:graphicFrameLocks noGrp="1"/>
          </p:cNvGraphicFramePr>
          <p:nvPr>
            <p:ph idx="1"/>
            <p:extLst>
              <p:ext uri="{D42A27DB-BD31-4B8C-83A1-F6EECF244321}">
                <p14:modId xmlns:p14="http://schemas.microsoft.com/office/powerpoint/2010/main" val="4139929271"/>
              </p:ext>
            </p:extLst>
          </p:nvPr>
        </p:nvGraphicFramePr>
        <p:xfrm>
          <a:off x="838200" y="2312988"/>
          <a:ext cx="10515600" cy="4351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26102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ABCEE-9647-F080-741A-8FB1B063F7BA}"/>
              </a:ext>
            </a:extLst>
          </p:cNvPr>
          <p:cNvSpPr>
            <a:spLocks noGrp="1"/>
          </p:cNvSpPr>
          <p:nvPr>
            <p:ph type="title"/>
          </p:nvPr>
        </p:nvSpPr>
        <p:spPr>
          <a:xfrm>
            <a:off x="1156851" y="637762"/>
            <a:ext cx="9888496" cy="900131"/>
          </a:xfrm>
        </p:spPr>
        <p:txBody>
          <a:bodyPr anchor="t">
            <a:normAutofit/>
          </a:bodyPr>
          <a:lstStyle/>
          <a:p>
            <a:r>
              <a:rPr lang="en-GB" sz="4000" dirty="0">
                <a:solidFill>
                  <a:schemeClr val="bg1"/>
                </a:solidFill>
                <a:cs typeface="Calibri Light"/>
              </a:rPr>
              <a:t>Infection control</a:t>
            </a:r>
            <a:endParaRPr lang="en-GB" sz="4000" dirty="0">
              <a:solidFill>
                <a:schemeClr val="bg1"/>
              </a:solidFill>
            </a:endParaRPr>
          </a:p>
        </p:txBody>
      </p:sp>
      <p:sp>
        <p:nvSpPr>
          <p:cNvPr id="6" name="Content Placeholder 2">
            <a:extLst>
              <a:ext uri="{FF2B5EF4-FFF2-40B4-BE49-F238E27FC236}">
                <a16:creationId xmlns:a16="http://schemas.microsoft.com/office/drawing/2014/main" id="{D72CFF90-FC4B-0B84-9F9F-A524795C1B0D}"/>
              </a:ext>
            </a:extLst>
          </p:cNvPr>
          <p:cNvSpPr>
            <a:spLocks noGrp="1"/>
          </p:cNvSpPr>
          <p:nvPr>
            <p:ph idx="1"/>
          </p:nvPr>
        </p:nvSpPr>
        <p:spPr>
          <a:xfrm>
            <a:off x="1155553" y="2260619"/>
            <a:ext cx="9880893" cy="3959619"/>
          </a:xfrm>
        </p:spPr>
        <p:txBody>
          <a:bodyPr vert="horz" lIns="91440" tIns="45720" rIns="91440" bIns="45720" rtlCol="0" anchor="t">
            <a:normAutofit/>
          </a:bodyPr>
          <a:lstStyle/>
          <a:p>
            <a:pPr>
              <a:lnSpc>
                <a:spcPct val="100000"/>
              </a:lnSpc>
            </a:pPr>
            <a:r>
              <a:rPr lang="en-GB" sz="2400" dirty="0">
                <a:cs typeface="Calibri"/>
              </a:rPr>
              <a:t>Hand washing </a:t>
            </a:r>
          </a:p>
          <a:p>
            <a:pPr>
              <a:lnSpc>
                <a:spcPct val="100000"/>
              </a:lnSpc>
            </a:pPr>
            <a:r>
              <a:rPr lang="en-GB" sz="2400" dirty="0">
                <a:cs typeface="Calibri"/>
              </a:rPr>
              <a:t>Clothing, watches, </a:t>
            </a:r>
            <a:r>
              <a:rPr lang="en-GB" sz="2400" dirty="0" err="1">
                <a:cs typeface="Calibri"/>
              </a:rPr>
              <a:t>jewlery</a:t>
            </a:r>
            <a:r>
              <a:rPr lang="en-GB" sz="2400" dirty="0">
                <a:cs typeface="Calibri"/>
              </a:rPr>
              <a:t> etc </a:t>
            </a:r>
          </a:p>
          <a:p>
            <a:pPr>
              <a:lnSpc>
                <a:spcPct val="100000"/>
              </a:lnSpc>
            </a:pPr>
            <a:r>
              <a:rPr lang="en-GB" sz="2400" dirty="0">
                <a:cs typeface="Calibri"/>
              </a:rPr>
              <a:t>PPE :</a:t>
            </a:r>
          </a:p>
          <a:p>
            <a:pPr lvl="1">
              <a:lnSpc>
                <a:spcPct val="100000"/>
              </a:lnSpc>
            </a:pPr>
            <a:r>
              <a:rPr lang="en-GB" dirty="0">
                <a:cs typeface="Calibri"/>
              </a:rPr>
              <a:t>Standard </a:t>
            </a:r>
            <a:r>
              <a:rPr lang="en-GB" dirty="0" err="1">
                <a:cs typeface="Calibri"/>
              </a:rPr>
              <a:t>ppe</a:t>
            </a:r>
            <a:r>
              <a:rPr lang="en-GB" dirty="0">
                <a:cs typeface="Calibri"/>
              </a:rPr>
              <a:t> </a:t>
            </a:r>
          </a:p>
          <a:p>
            <a:pPr lvl="1">
              <a:lnSpc>
                <a:spcPct val="100000"/>
              </a:lnSpc>
            </a:pPr>
            <a:r>
              <a:rPr lang="en-GB" dirty="0">
                <a:cs typeface="Calibri"/>
              </a:rPr>
              <a:t>Covid </a:t>
            </a:r>
            <a:r>
              <a:rPr lang="en-GB" dirty="0" err="1">
                <a:cs typeface="Calibri"/>
              </a:rPr>
              <a:t>ppe</a:t>
            </a:r>
            <a:endParaRPr lang="en-GB" dirty="0"/>
          </a:p>
        </p:txBody>
      </p:sp>
    </p:spTree>
    <p:extLst>
      <p:ext uri="{BB962C8B-B14F-4D97-AF65-F5344CB8AC3E}">
        <p14:creationId xmlns:p14="http://schemas.microsoft.com/office/powerpoint/2010/main" val="7908588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ABCEE-9647-F080-741A-8FB1B063F7BA}"/>
              </a:ext>
            </a:extLst>
          </p:cNvPr>
          <p:cNvSpPr>
            <a:spLocks noGrp="1"/>
          </p:cNvSpPr>
          <p:nvPr>
            <p:ph type="title"/>
          </p:nvPr>
        </p:nvSpPr>
        <p:spPr>
          <a:xfrm>
            <a:off x="1156851" y="637762"/>
            <a:ext cx="9888496" cy="900131"/>
          </a:xfrm>
        </p:spPr>
        <p:txBody>
          <a:bodyPr anchor="t">
            <a:normAutofit/>
          </a:bodyPr>
          <a:lstStyle/>
          <a:p>
            <a:r>
              <a:rPr lang="en-GB" sz="4000" dirty="0">
                <a:solidFill>
                  <a:schemeClr val="bg1"/>
                </a:solidFill>
                <a:cs typeface="Calibri Light"/>
              </a:rPr>
              <a:t>Hand washing </a:t>
            </a:r>
            <a:r>
              <a:rPr lang="en-GB" sz="2200" dirty="0">
                <a:ea typeface="+mj-lt"/>
                <a:cs typeface="+mj-lt"/>
                <a:hlinkClick r:id="rId2"/>
              </a:rPr>
              <a:t>How to wash your hands | NHS - YouTube</a:t>
            </a:r>
            <a:endParaRPr lang="en-GB" sz="4000" dirty="0">
              <a:solidFill>
                <a:schemeClr val="bg1"/>
              </a:solidFill>
            </a:endParaRPr>
          </a:p>
        </p:txBody>
      </p:sp>
      <p:grpSp>
        <p:nvGrpSpPr>
          <p:cNvPr id="9" name="Group 8">
            <a:extLst>
              <a:ext uri="{FF2B5EF4-FFF2-40B4-BE49-F238E27FC236}">
                <a16:creationId xmlns:a16="http://schemas.microsoft.com/office/drawing/2014/main" id="{A7827D50-A50A-920D-92A4-FE4796FD37A7}"/>
              </a:ext>
            </a:extLst>
          </p:cNvPr>
          <p:cNvGrpSpPr/>
          <p:nvPr/>
        </p:nvGrpSpPr>
        <p:grpSpPr>
          <a:xfrm>
            <a:off x="2479979" y="1870806"/>
            <a:ext cx="7232042" cy="4805029"/>
            <a:chOff x="2555946" y="1867911"/>
            <a:chExt cx="7232042" cy="4805029"/>
          </a:xfrm>
        </p:grpSpPr>
        <p:pic>
          <p:nvPicPr>
            <p:cNvPr id="5" name="Picture 7">
              <a:extLst>
                <a:ext uri="{FF2B5EF4-FFF2-40B4-BE49-F238E27FC236}">
                  <a16:creationId xmlns:a16="http://schemas.microsoft.com/office/drawing/2014/main" id="{78E4D159-62D9-9198-66D2-20D0AC78DFAE}"/>
                </a:ext>
              </a:extLst>
            </p:cNvPr>
            <p:cNvPicPr>
              <a:picLocks noChangeAspect="1"/>
            </p:cNvPicPr>
            <p:nvPr/>
          </p:nvPicPr>
          <p:blipFill>
            <a:blip r:embed="rId3"/>
            <a:stretch>
              <a:fillRect/>
            </a:stretch>
          </p:blipFill>
          <p:spPr>
            <a:xfrm>
              <a:off x="2555946" y="1867911"/>
              <a:ext cx="3257482" cy="4507555"/>
            </a:xfrm>
            <a:prstGeom prst="rect">
              <a:avLst/>
            </a:prstGeom>
          </p:spPr>
        </p:pic>
        <p:pic>
          <p:nvPicPr>
            <p:cNvPr id="7" name="Picture 8" descr="A picture containing diagram&#10;&#10;Description automatically generated">
              <a:extLst>
                <a:ext uri="{FF2B5EF4-FFF2-40B4-BE49-F238E27FC236}">
                  <a16:creationId xmlns:a16="http://schemas.microsoft.com/office/drawing/2014/main" id="{22B286B2-1504-4E0D-E563-49822A982214}"/>
                </a:ext>
              </a:extLst>
            </p:cNvPr>
            <p:cNvPicPr>
              <a:picLocks noChangeAspect="1"/>
            </p:cNvPicPr>
            <p:nvPr/>
          </p:nvPicPr>
          <p:blipFill>
            <a:blip r:embed="rId4"/>
            <a:stretch>
              <a:fillRect/>
            </a:stretch>
          </p:blipFill>
          <p:spPr>
            <a:xfrm>
              <a:off x="6401110" y="1870806"/>
              <a:ext cx="3386878" cy="4802134"/>
            </a:xfrm>
            <a:prstGeom prst="rect">
              <a:avLst/>
            </a:prstGeom>
          </p:spPr>
        </p:pic>
      </p:grpSp>
    </p:spTree>
    <p:extLst>
      <p:ext uri="{BB962C8B-B14F-4D97-AF65-F5344CB8AC3E}">
        <p14:creationId xmlns:p14="http://schemas.microsoft.com/office/powerpoint/2010/main" val="227686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0514C-69AF-BDD6-DDB5-46D98EC3828F}"/>
              </a:ext>
            </a:extLst>
          </p:cNvPr>
          <p:cNvSpPr>
            <a:spLocks noGrp="1"/>
          </p:cNvSpPr>
          <p:nvPr>
            <p:ph type="title"/>
          </p:nvPr>
        </p:nvSpPr>
        <p:spPr>
          <a:xfrm>
            <a:off x="1156851" y="637762"/>
            <a:ext cx="9888496" cy="900131"/>
          </a:xfrm>
        </p:spPr>
        <p:txBody>
          <a:bodyPr anchor="t">
            <a:normAutofit/>
          </a:bodyPr>
          <a:lstStyle/>
          <a:p>
            <a:r>
              <a:rPr lang="en-GB" sz="4000">
                <a:solidFill>
                  <a:schemeClr val="bg1"/>
                </a:solidFill>
                <a:cs typeface="Calibri Light"/>
              </a:rPr>
              <a:t>Preparing for a clinical environment </a:t>
            </a:r>
          </a:p>
        </p:txBody>
      </p:sp>
      <p:sp>
        <p:nvSpPr>
          <p:cNvPr id="3" name="Content Placeholder 2">
            <a:extLst>
              <a:ext uri="{FF2B5EF4-FFF2-40B4-BE49-F238E27FC236}">
                <a16:creationId xmlns:a16="http://schemas.microsoft.com/office/drawing/2014/main" id="{4F35BD7C-54CC-DE24-8ABD-A0F3B5A1204B}"/>
              </a:ext>
            </a:extLst>
          </p:cNvPr>
          <p:cNvSpPr>
            <a:spLocks noGrp="1"/>
          </p:cNvSpPr>
          <p:nvPr>
            <p:ph idx="1"/>
          </p:nvPr>
        </p:nvSpPr>
        <p:spPr>
          <a:xfrm>
            <a:off x="1155548" y="2217343"/>
            <a:ext cx="9880893" cy="3959619"/>
          </a:xfrm>
        </p:spPr>
        <p:txBody>
          <a:bodyPr vert="horz" lIns="91440" tIns="45720" rIns="91440" bIns="45720" rtlCol="0" anchor="t">
            <a:normAutofit fontScale="92500" lnSpcReduction="10000"/>
          </a:bodyPr>
          <a:lstStyle/>
          <a:p>
            <a:r>
              <a:rPr lang="en-GB" sz="2400" dirty="0">
                <a:cs typeface="Calibri"/>
              </a:rPr>
              <a:t>Uniform // </a:t>
            </a:r>
            <a:endParaRPr lang="en-US" dirty="0"/>
          </a:p>
          <a:p>
            <a:pPr lvl="1"/>
            <a:r>
              <a:rPr lang="en-GB" sz="2000" dirty="0">
                <a:cs typeface="Calibri"/>
              </a:rPr>
              <a:t>not travelling in uniform</a:t>
            </a:r>
          </a:p>
          <a:p>
            <a:pPr lvl="1"/>
            <a:r>
              <a:rPr lang="en-GB" sz="2000" dirty="0">
                <a:cs typeface="Calibri"/>
              </a:rPr>
              <a:t>Ensuring that uniform is clean on everyday </a:t>
            </a:r>
          </a:p>
          <a:p>
            <a:r>
              <a:rPr lang="en-GB" sz="2400" dirty="0">
                <a:cs typeface="Calibri"/>
              </a:rPr>
              <a:t>Bare below the elbows</a:t>
            </a:r>
          </a:p>
          <a:p>
            <a:r>
              <a:rPr lang="en-GB" sz="2400" dirty="0">
                <a:cs typeface="Calibri"/>
              </a:rPr>
              <a:t>Jewlery </a:t>
            </a:r>
          </a:p>
          <a:p>
            <a:pPr lvl="1"/>
            <a:r>
              <a:rPr lang="en-GB" dirty="0">
                <a:cs typeface="Calibri"/>
              </a:rPr>
              <a:t>Plain band only </a:t>
            </a:r>
          </a:p>
          <a:p>
            <a:pPr lvl="1"/>
            <a:r>
              <a:rPr lang="en-GB" dirty="0">
                <a:cs typeface="Calibri"/>
              </a:rPr>
              <a:t>Religious or medical Jewlery can be worn </a:t>
            </a:r>
          </a:p>
          <a:p>
            <a:pPr lvl="1"/>
            <a:r>
              <a:rPr lang="en-GB" dirty="0">
                <a:cs typeface="Calibri"/>
              </a:rPr>
              <a:t>No watches or activity trackers </a:t>
            </a:r>
          </a:p>
          <a:p>
            <a:pPr lvl="1"/>
            <a:r>
              <a:rPr lang="en-GB" dirty="0">
                <a:cs typeface="Calibri"/>
              </a:rPr>
              <a:t>Earrings : trust policy varies but generally small studs only </a:t>
            </a:r>
          </a:p>
          <a:p>
            <a:pPr lvl="1"/>
            <a:r>
              <a:rPr lang="en-GB" dirty="0">
                <a:cs typeface="Calibri"/>
              </a:rPr>
              <a:t>No necklaces</a:t>
            </a:r>
          </a:p>
          <a:p>
            <a:r>
              <a:rPr lang="en-GB" sz="2400" dirty="0">
                <a:cs typeface="Calibri"/>
              </a:rPr>
              <a:t>Hair off the collar </a:t>
            </a:r>
          </a:p>
          <a:p>
            <a:pPr lvl="1"/>
            <a:endParaRPr lang="en-GB" dirty="0">
              <a:cs typeface="Calibri"/>
            </a:endParaRPr>
          </a:p>
        </p:txBody>
      </p:sp>
    </p:spTree>
    <p:extLst>
      <p:ext uri="{BB962C8B-B14F-4D97-AF65-F5344CB8AC3E}">
        <p14:creationId xmlns:p14="http://schemas.microsoft.com/office/powerpoint/2010/main" val="765330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D534E-4BAB-618D-8332-C726062E46E0}"/>
              </a:ext>
            </a:extLst>
          </p:cNvPr>
          <p:cNvSpPr>
            <a:spLocks noGrp="1"/>
          </p:cNvSpPr>
          <p:nvPr>
            <p:ph type="title"/>
          </p:nvPr>
        </p:nvSpPr>
        <p:spPr>
          <a:xfrm>
            <a:off x="1156851" y="637762"/>
            <a:ext cx="9888496" cy="900131"/>
          </a:xfrm>
        </p:spPr>
        <p:txBody>
          <a:bodyPr anchor="t">
            <a:normAutofit/>
          </a:bodyPr>
          <a:lstStyle/>
          <a:p>
            <a:r>
              <a:rPr lang="en-GB" sz="4000" dirty="0">
                <a:solidFill>
                  <a:schemeClr val="bg1"/>
                </a:solidFill>
                <a:cs typeface="Calibri Light"/>
              </a:rPr>
              <a:t>PPE</a:t>
            </a:r>
          </a:p>
        </p:txBody>
      </p:sp>
      <p:sp>
        <p:nvSpPr>
          <p:cNvPr id="3" name="Content Placeholder 2">
            <a:extLst>
              <a:ext uri="{FF2B5EF4-FFF2-40B4-BE49-F238E27FC236}">
                <a16:creationId xmlns:a16="http://schemas.microsoft.com/office/drawing/2014/main" id="{43198521-F12F-336C-CEEB-F3B751972F43}"/>
              </a:ext>
            </a:extLst>
          </p:cNvPr>
          <p:cNvSpPr>
            <a:spLocks noGrp="1"/>
          </p:cNvSpPr>
          <p:nvPr>
            <p:ph idx="1"/>
          </p:nvPr>
        </p:nvSpPr>
        <p:spPr>
          <a:xfrm>
            <a:off x="1155548" y="2217343"/>
            <a:ext cx="9880893" cy="3959619"/>
          </a:xfrm>
        </p:spPr>
        <p:txBody>
          <a:bodyPr vert="horz" lIns="91440" tIns="45720" rIns="91440" bIns="45720" rtlCol="0" anchor="t">
            <a:normAutofit/>
          </a:bodyPr>
          <a:lstStyle/>
          <a:p>
            <a:r>
              <a:rPr lang="en-GB" sz="1900" dirty="0">
                <a:cs typeface="Calibri"/>
              </a:rPr>
              <a:t>Standard PPE </a:t>
            </a:r>
          </a:p>
          <a:p>
            <a:pPr lvl="1"/>
            <a:r>
              <a:rPr lang="en-GB" sz="1900" dirty="0">
                <a:cs typeface="Calibri"/>
              </a:rPr>
              <a:t>Gloves off campaign </a:t>
            </a:r>
          </a:p>
          <a:p>
            <a:pPr lvl="1"/>
            <a:r>
              <a:rPr lang="en-GB" sz="1900" dirty="0">
                <a:cs typeface="Calibri"/>
              </a:rPr>
              <a:t>Gloves and apron for contact with bodily fluids </a:t>
            </a:r>
          </a:p>
          <a:p>
            <a:r>
              <a:rPr lang="en-GB" sz="1900" dirty="0">
                <a:cs typeface="Calibri"/>
              </a:rPr>
              <a:t>COVID and other infectious diseases </a:t>
            </a:r>
          </a:p>
          <a:p>
            <a:pPr lvl="1"/>
            <a:r>
              <a:rPr lang="en-GB" sz="1900" dirty="0">
                <a:cs typeface="Calibri"/>
              </a:rPr>
              <a:t>Gowns </a:t>
            </a:r>
          </a:p>
          <a:p>
            <a:pPr lvl="1"/>
            <a:r>
              <a:rPr lang="en-GB" sz="1900" dirty="0">
                <a:cs typeface="Calibri"/>
              </a:rPr>
              <a:t>Gloves </a:t>
            </a:r>
          </a:p>
          <a:p>
            <a:pPr lvl="1"/>
            <a:r>
              <a:rPr lang="en-GB" sz="1900" dirty="0">
                <a:cs typeface="Calibri"/>
              </a:rPr>
              <a:t>Visors </a:t>
            </a:r>
          </a:p>
          <a:p>
            <a:pPr lvl="1"/>
            <a:r>
              <a:rPr lang="en-GB" sz="1900" dirty="0">
                <a:cs typeface="Calibri"/>
              </a:rPr>
              <a:t>FFP3 masks </a:t>
            </a:r>
          </a:p>
          <a:p>
            <a:pPr lvl="1"/>
            <a:r>
              <a:rPr lang="en-GB" sz="1900" dirty="0">
                <a:cs typeface="Calibri"/>
              </a:rPr>
              <a:t>Reusable masks </a:t>
            </a:r>
          </a:p>
          <a:p>
            <a:pPr marL="457200" lvl="1" indent="0">
              <a:buNone/>
            </a:pPr>
            <a:endParaRPr lang="en-GB" sz="1900">
              <a:ea typeface="+mn-lt"/>
              <a:cs typeface="+mn-lt"/>
            </a:endParaRPr>
          </a:p>
          <a:p>
            <a:pPr marL="457200" lvl="1" indent="0">
              <a:buNone/>
            </a:pPr>
            <a:r>
              <a:rPr lang="en-GB" sz="1900" dirty="0">
                <a:ea typeface="+mn-lt"/>
                <a:cs typeface="+mn-lt"/>
                <a:hlinkClick r:id="rId2"/>
              </a:rPr>
              <a:t>COVID-19: Donning and doffing of Personal Protective Equipment in Health and Social Care Settings - YouTube</a:t>
            </a:r>
            <a:endParaRPr lang="en-GB" sz="1900" dirty="0"/>
          </a:p>
        </p:txBody>
      </p:sp>
    </p:spTree>
    <p:extLst>
      <p:ext uri="{BB962C8B-B14F-4D97-AF65-F5344CB8AC3E}">
        <p14:creationId xmlns:p14="http://schemas.microsoft.com/office/powerpoint/2010/main" val="24330014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Diagram&#10;&#10;Description automatically generated">
            <a:extLst>
              <a:ext uri="{FF2B5EF4-FFF2-40B4-BE49-F238E27FC236}">
                <a16:creationId xmlns:a16="http://schemas.microsoft.com/office/drawing/2014/main" id="{D8185398-D5A4-8046-4F4E-CEA84648C344}"/>
              </a:ext>
            </a:extLst>
          </p:cNvPr>
          <p:cNvPicPr>
            <a:picLocks noChangeAspect="1"/>
          </p:cNvPicPr>
          <p:nvPr/>
        </p:nvPicPr>
        <p:blipFill>
          <a:blip r:embed="rId2"/>
          <a:stretch>
            <a:fillRect/>
          </a:stretch>
        </p:blipFill>
        <p:spPr>
          <a:xfrm>
            <a:off x="1446363" y="353446"/>
            <a:ext cx="4339086" cy="6151109"/>
          </a:xfrm>
          <a:prstGeom prst="rect">
            <a:avLst/>
          </a:prstGeom>
        </p:spPr>
      </p:pic>
      <p:pic>
        <p:nvPicPr>
          <p:cNvPr id="5" name="Picture 5" descr="Diagram&#10;&#10;Description automatically generated">
            <a:extLst>
              <a:ext uri="{FF2B5EF4-FFF2-40B4-BE49-F238E27FC236}">
                <a16:creationId xmlns:a16="http://schemas.microsoft.com/office/drawing/2014/main" id="{DF68C9C6-6F3B-259B-EB22-715B0EA60C25}"/>
              </a:ext>
            </a:extLst>
          </p:cNvPr>
          <p:cNvPicPr>
            <a:picLocks noChangeAspect="1"/>
          </p:cNvPicPr>
          <p:nvPr/>
        </p:nvPicPr>
        <p:blipFill>
          <a:blip r:embed="rId3"/>
          <a:stretch>
            <a:fillRect/>
          </a:stretch>
        </p:blipFill>
        <p:spPr>
          <a:xfrm>
            <a:off x="6734265" y="360243"/>
            <a:ext cx="4531923" cy="6396307"/>
          </a:xfrm>
          <a:prstGeom prst="rect">
            <a:avLst/>
          </a:prstGeom>
        </p:spPr>
      </p:pic>
    </p:spTree>
    <p:extLst>
      <p:ext uri="{BB962C8B-B14F-4D97-AF65-F5344CB8AC3E}">
        <p14:creationId xmlns:p14="http://schemas.microsoft.com/office/powerpoint/2010/main" val="28172947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289D3-9F12-72F7-36D9-D447AFE35657}"/>
              </a:ext>
            </a:extLst>
          </p:cNvPr>
          <p:cNvSpPr>
            <a:spLocks noGrp="1"/>
          </p:cNvSpPr>
          <p:nvPr>
            <p:ph type="title"/>
          </p:nvPr>
        </p:nvSpPr>
        <p:spPr>
          <a:xfrm>
            <a:off x="1156851" y="637762"/>
            <a:ext cx="9888496" cy="900131"/>
          </a:xfrm>
        </p:spPr>
        <p:txBody>
          <a:bodyPr anchor="t">
            <a:normAutofit/>
          </a:bodyPr>
          <a:lstStyle/>
          <a:p>
            <a:r>
              <a:rPr lang="en-GB" sz="4000">
                <a:solidFill>
                  <a:schemeClr val="bg1"/>
                </a:solidFill>
                <a:cs typeface="Calibri Light"/>
              </a:rPr>
              <a:t>Incident reporting </a:t>
            </a:r>
            <a:endParaRPr lang="en-GB" sz="4000">
              <a:solidFill>
                <a:schemeClr val="bg1"/>
              </a:solidFill>
            </a:endParaRPr>
          </a:p>
        </p:txBody>
      </p:sp>
      <p:sp>
        <p:nvSpPr>
          <p:cNvPr id="3" name="Content Placeholder 2">
            <a:extLst>
              <a:ext uri="{FF2B5EF4-FFF2-40B4-BE49-F238E27FC236}">
                <a16:creationId xmlns:a16="http://schemas.microsoft.com/office/drawing/2014/main" id="{9C604B0A-A49A-31C6-8397-5D05367B82E7}"/>
              </a:ext>
            </a:extLst>
          </p:cNvPr>
          <p:cNvSpPr>
            <a:spLocks noGrp="1"/>
          </p:cNvSpPr>
          <p:nvPr>
            <p:ph idx="1"/>
          </p:nvPr>
        </p:nvSpPr>
        <p:spPr>
          <a:xfrm>
            <a:off x="1155548" y="2217343"/>
            <a:ext cx="9880893" cy="3959619"/>
          </a:xfrm>
        </p:spPr>
        <p:txBody>
          <a:bodyPr vert="horz" lIns="91440" tIns="45720" rIns="91440" bIns="45720" rtlCol="0">
            <a:normAutofit/>
          </a:bodyPr>
          <a:lstStyle/>
          <a:p>
            <a:r>
              <a:rPr lang="en-GB" sz="2400">
                <a:cs typeface="Calibri"/>
              </a:rPr>
              <a:t>Escalate </a:t>
            </a:r>
          </a:p>
          <a:p>
            <a:r>
              <a:rPr lang="en-GB" sz="2400">
                <a:cs typeface="Calibri"/>
              </a:rPr>
              <a:t>Report near misses </a:t>
            </a:r>
          </a:p>
          <a:p>
            <a:r>
              <a:rPr lang="en-GB" sz="2400">
                <a:cs typeface="Calibri"/>
              </a:rPr>
              <a:t>No blame culture / culture of reflection and learning </a:t>
            </a:r>
          </a:p>
        </p:txBody>
      </p:sp>
    </p:spTree>
    <p:extLst>
      <p:ext uri="{BB962C8B-B14F-4D97-AF65-F5344CB8AC3E}">
        <p14:creationId xmlns:p14="http://schemas.microsoft.com/office/powerpoint/2010/main" val="4881804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289D3-9F12-72F7-36D9-D447AFE35657}"/>
              </a:ext>
            </a:extLst>
          </p:cNvPr>
          <p:cNvSpPr>
            <a:spLocks noGrp="1"/>
          </p:cNvSpPr>
          <p:nvPr>
            <p:ph type="title"/>
          </p:nvPr>
        </p:nvSpPr>
        <p:spPr>
          <a:xfrm>
            <a:off x="1156851" y="637762"/>
            <a:ext cx="9888496" cy="900131"/>
          </a:xfrm>
        </p:spPr>
        <p:txBody>
          <a:bodyPr anchor="t">
            <a:normAutofit/>
          </a:bodyPr>
          <a:lstStyle/>
          <a:p>
            <a:r>
              <a:rPr lang="en-GB" sz="4000" dirty="0">
                <a:solidFill>
                  <a:schemeClr val="bg1"/>
                </a:solidFill>
                <a:cs typeface="Calibri Light"/>
              </a:rPr>
              <a:t>Incident process </a:t>
            </a:r>
            <a:endParaRPr lang="en-GB" sz="4000" dirty="0">
              <a:solidFill>
                <a:schemeClr val="bg1"/>
              </a:solidFill>
            </a:endParaRPr>
          </a:p>
        </p:txBody>
      </p:sp>
      <p:graphicFrame>
        <p:nvGraphicFramePr>
          <p:cNvPr id="6" name="Diagram 8">
            <a:extLst>
              <a:ext uri="{FF2B5EF4-FFF2-40B4-BE49-F238E27FC236}">
                <a16:creationId xmlns:a16="http://schemas.microsoft.com/office/drawing/2014/main" id="{BFCB1123-C060-0725-F755-49ECC0E3F997}"/>
              </a:ext>
            </a:extLst>
          </p:cNvPr>
          <p:cNvGraphicFramePr>
            <a:graphicFrameLocks noGrp="1"/>
          </p:cNvGraphicFramePr>
          <p:nvPr>
            <p:ph idx="1"/>
            <p:extLst>
              <p:ext uri="{D42A27DB-BD31-4B8C-83A1-F6EECF244321}">
                <p14:modId xmlns:p14="http://schemas.microsoft.com/office/powerpoint/2010/main" val="832860374"/>
              </p:ext>
            </p:extLst>
          </p:nvPr>
        </p:nvGraphicFramePr>
        <p:xfrm>
          <a:off x="838195" y="2281569"/>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340851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FC359-C992-1CF4-F06D-D58DB710E2F6}"/>
              </a:ext>
            </a:extLst>
          </p:cNvPr>
          <p:cNvSpPr>
            <a:spLocks noGrp="1"/>
          </p:cNvSpPr>
          <p:nvPr>
            <p:ph type="title"/>
          </p:nvPr>
        </p:nvSpPr>
        <p:spPr>
          <a:xfrm>
            <a:off x="1156851" y="637762"/>
            <a:ext cx="9888496" cy="900131"/>
          </a:xfrm>
        </p:spPr>
        <p:txBody>
          <a:bodyPr anchor="t">
            <a:normAutofit/>
          </a:bodyPr>
          <a:lstStyle/>
          <a:p>
            <a:r>
              <a:rPr lang="en-GB" sz="4000">
                <a:solidFill>
                  <a:schemeClr val="bg1"/>
                </a:solidFill>
                <a:cs typeface="Calibri Light"/>
              </a:rPr>
              <a:t>Health and wellbeing : looking after you </a:t>
            </a:r>
            <a:endParaRPr lang="en-GB" sz="4000">
              <a:solidFill>
                <a:schemeClr val="bg1"/>
              </a:solidFill>
            </a:endParaRPr>
          </a:p>
        </p:txBody>
      </p:sp>
      <p:sp>
        <p:nvSpPr>
          <p:cNvPr id="3" name="Content Placeholder 2">
            <a:extLst>
              <a:ext uri="{FF2B5EF4-FFF2-40B4-BE49-F238E27FC236}">
                <a16:creationId xmlns:a16="http://schemas.microsoft.com/office/drawing/2014/main" id="{3D9D3865-2860-5C29-C702-C07D6C0DEB52}"/>
              </a:ext>
            </a:extLst>
          </p:cNvPr>
          <p:cNvSpPr>
            <a:spLocks noGrp="1"/>
          </p:cNvSpPr>
          <p:nvPr>
            <p:ph idx="1"/>
          </p:nvPr>
        </p:nvSpPr>
        <p:spPr>
          <a:xfrm>
            <a:off x="1155548" y="2217343"/>
            <a:ext cx="9880893" cy="3959619"/>
          </a:xfrm>
        </p:spPr>
        <p:txBody>
          <a:bodyPr vert="horz" lIns="91440" tIns="45720" rIns="91440" bIns="45720" rtlCol="0" anchor="t">
            <a:normAutofit/>
          </a:bodyPr>
          <a:lstStyle/>
          <a:p>
            <a:r>
              <a:rPr lang="en-GB" sz="2400" dirty="0">
                <a:cs typeface="Calibri"/>
              </a:rPr>
              <a:t>Part of fitness to practice is ensuring you are physically and mentally able to care for your patients</a:t>
            </a:r>
          </a:p>
          <a:p>
            <a:pPr lvl="1"/>
            <a:r>
              <a:rPr lang="en-GB" sz="2000" dirty="0">
                <a:cs typeface="Calibri"/>
              </a:rPr>
              <a:t>Reporting injuries to your line manager </a:t>
            </a:r>
          </a:p>
          <a:p>
            <a:pPr lvl="1"/>
            <a:r>
              <a:rPr lang="en-GB" sz="2000" dirty="0">
                <a:cs typeface="Calibri"/>
              </a:rPr>
              <a:t>Reporting long term/ chronic conditions to occupational health </a:t>
            </a:r>
          </a:p>
          <a:p>
            <a:pPr lvl="1"/>
            <a:r>
              <a:rPr lang="en-GB" sz="2000" dirty="0">
                <a:cs typeface="Calibri"/>
              </a:rPr>
              <a:t>Skin and hand health through occupational health </a:t>
            </a:r>
          </a:p>
          <a:p>
            <a:pPr lvl="1"/>
            <a:r>
              <a:rPr lang="en-GB" sz="2000" dirty="0">
                <a:cs typeface="Calibri"/>
              </a:rPr>
              <a:t>Vaccinations </a:t>
            </a:r>
          </a:p>
          <a:p>
            <a:pPr lvl="1"/>
            <a:r>
              <a:rPr lang="en-GB" sz="2000" dirty="0">
                <a:cs typeface="Calibri"/>
              </a:rPr>
              <a:t>Safe practice at work to protect your own health : PPE, hand hygiene, safe manual handling </a:t>
            </a:r>
          </a:p>
          <a:p>
            <a:pPr lvl="1"/>
            <a:r>
              <a:rPr lang="en-GB" sz="2000" dirty="0">
                <a:cs typeface="Calibri"/>
              </a:rPr>
              <a:t>Recognising changes in your mental health </a:t>
            </a:r>
          </a:p>
          <a:p>
            <a:pPr lvl="1"/>
            <a:r>
              <a:rPr lang="en-GB" sz="2000" dirty="0">
                <a:cs typeface="Calibri"/>
              </a:rPr>
              <a:t>Having a good work life balance </a:t>
            </a:r>
          </a:p>
          <a:p>
            <a:endParaRPr lang="en-GB" sz="2400">
              <a:cs typeface="Calibri"/>
            </a:endParaRPr>
          </a:p>
        </p:txBody>
      </p:sp>
    </p:spTree>
    <p:extLst>
      <p:ext uri="{BB962C8B-B14F-4D97-AF65-F5344CB8AC3E}">
        <p14:creationId xmlns:p14="http://schemas.microsoft.com/office/powerpoint/2010/main" val="32896554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FC359-C992-1CF4-F06D-D58DB710E2F6}"/>
              </a:ext>
            </a:extLst>
          </p:cNvPr>
          <p:cNvSpPr>
            <a:spLocks noGrp="1"/>
          </p:cNvSpPr>
          <p:nvPr>
            <p:ph type="title"/>
          </p:nvPr>
        </p:nvSpPr>
        <p:spPr>
          <a:xfrm>
            <a:off x="1156851" y="637762"/>
            <a:ext cx="9888496" cy="900131"/>
          </a:xfrm>
        </p:spPr>
        <p:txBody>
          <a:bodyPr anchor="t">
            <a:normAutofit/>
          </a:bodyPr>
          <a:lstStyle/>
          <a:p>
            <a:r>
              <a:rPr lang="en-GB" sz="4000" dirty="0">
                <a:solidFill>
                  <a:schemeClr val="bg1"/>
                </a:solidFill>
                <a:cs typeface="Calibri Light"/>
              </a:rPr>
              <a:t>Mental health</a:t>
            </a:r>
            <a:endParaRPr lang="en-GB" sz="4000" dirty="0">
              <a:solidFill>
                <a:schemeClr val="bg1"/>
              </a:solidFill>
            </a:endParaRPr>
          </a:p>
        </p:txBody>
      </p:sp>
      <p:sp>
        <p:nvSpPr>
          <p:cNvPr id="3" name="Content Placeholder 2">
            <a:extLst>
              <a:ext uri="{FF2B5EF4-FFF2-40B4-BE49-F238E27FC236}">
                <a16:creationId xmlns:a16="http://schemas.microsoft.com/office/drawing/2014/main" id="{3D9D3865-2860-5C29-C702-C07D6C0DEB52}"/>
              </a:ext>
            </a:extLst>
          </p:cNvPr>
          <p:cNvSpPr>
            <a:spLocks noGrp="1"/>
          </p:cNvSpPr>
          <p:nvPr>
            <p:ph idx="1"/>
          </p:nvPr>
        </p:nvSpPr>
        <p:spPr>
          <a:xfrm>
            <a:off x="1155553" y="2260619"/>
            <a:ext cx="9880893" cy="3959619"/>
          </a:xfrm>
        </p:spPr>
        <p:txBody>
          <a:bodyPr vert="horz" lIns="91440" tIns="45720" rIns="91440" bIns="45720" rtlCol="0" anchor="t">
            <a:normAutofit/>
          </a:bodyPr>
          <a:lstStyle/>
          <a:p>
            <a:pPr>
              <a:lnSpc>
                <a:spcPct val="100000"/>
              </a:lnSpc>
            </a:pPr>
            <a:r>
              <a:rPr lang="en-GB" sz="2400" dirty="0">
                <a:ea typeface="+mn-lt"/>
                <a:cs typeface="+mn-lt"/>
              </a:rPr>
              <a:t>"822,000 workers suffering from work-related stress, depression or anxiety (new or long-standing) in 2020/21."</a:t>
            </a:r>
          </a:p>
          <a:p>
            <a:pPr>
              <a:lnSpc>
                <a:spcPct val="100000"/>
              </a:lnSpc>
            </a:pPr>
            <a:r>
              <a:rPr lang="en-GB" sz="2400" dirty="0">
                <a:cs typeface="Calibri" panose="020F0502020204030204"/>
              </a:rPr>
              <a:t>Recognise changes in your own mental health and address them with whoever you feel safe disclosing this to</a:t>
            </a:r>
          </a:p>
          <a:p>
            <a:pPr>
              <a:lnSpc>
                <a:spcPct val="100000"/>
              </a:lnSpc>
            </a:pPr>
            <a:r>
              <a:rPr lang="en-GB" sz="2400" dirty="0">
                <a:cs typeface="Calibri" panose="020F0502020204030204"/>
              </a:rPr>
              <a:t>Self-referral to Mental health services through the NHS: talking therapies </a:t>
            </a:r>
          </a:p>
          <a:p>
            <a:pPr>
              <a:lnSpc>
                <a:spcPct val="100000"/>
              </a:lnSpc>
            </a:pPr>
            <a:r>
              <a:rPr lang="en-GB" sz="2400" dirty="0">
                <a:cs typeface="Calibri" panose="020F0502020204030204"/>
              </a:rPr>
              <a:t>Private companies : private healthcare or apps like better help </a:t>
            </a:r>
          </a:p>
        </p:txBody>
      </p:sp>
      <p:pic>
        <p:nvPicPr>
          <p:cNvPr id="4" name="Picture 4" descr="A picture containing logo&#10;&#10;Description automatically generated">
            <a:extLst>
              <a:ext uri="{FF2B5EF4-FFF2-40B4-BE49-F238E27FC236}">
                <a16:creationId xmlns:a16="http://schemas.microsoft.com/office/drawing/2014/main" id="{09355117-5721-8968-72F2-145AD9E91C55}"/>
              </a:ext>
            </a:extLst>
          </p:cNvPr>
          <p:cNvPicPr>
            <a:picLocks noChangeAspect="1"/>
          </p:cNvPicPr>
          <p:nvPr/>
        </p:nvPicPr>
        <p:blipFill>
          <a:blip r:embed="rId2"/>
          <a:stretch>
            <a:fillRect/>
          </a:stretch>
        </p:blipFill>
        <p:spPr>
          <a:xfrm>
            <a:off x="3700435" y="5374099"/>
            <a:ext cx="1815763" cy="1299268"/>
          </a:xfrm>
          <a:prstGeom prst="rect">
            <a:avLst/>
          </a:prstGeom>
        </p:spPr>
      </p:pic>
      <p:pic>
        <p:nvPicPr>
          <p:cNvPr id="5" name="Picture 5" descr="Logo, company name&#10;&#10;Description automatically generated">
            <a:extLst>
              <a:ext uri="{FF2B5EF4-FFF2-40B4-BE49-F238E27FC236}">
                <a16:creationId xmlns:a16="http://schemas.microsoft.com/office/drawing/2014/main" id="{5894B576-DDA4-70CB-E164-41936CE28DB4}"/>
              </a:ext>
            </a:extLst>
          </p:cNvPr>
          <p:cNvPicPr>
            <a:picLocks noChangeAspect="1"/>
          </p:cNvPicPr>
          <p:nvPr/>
        </p:nvPicPr>
        <p:blipFill>
          <a:blip r:embed="rId3"/>
          <a:stretch>
            <a:fillRect/>
          </a:stretch>
        </p:blipFill>
        <p:spPr>
          <a:xfrm>
            <a:off x="6301887" y="5374099"/>
            <a:ext cx="1348748" cy="1348748"/>
          </a:xfrm>
          <a:prstGeom prst="rect">
            <a:avLst/>
          </a:prstGeom>
        </p:spPr>
      </p:pic>
    </p:spTree>
    <p:extLst>
      <p:ext uri="{BB962C8B-B14F-4D97-AF65-F5344CB8AC3E}">
        <p14:creationId xmlns:p14="http://schemas.microsoft.com/office/powerpoint/2010/main" val="34675863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FC359-C992-1CF4-F06D-D58DB710E2F6}"/>
              </a:ext>
            </a:extLst>
          </p:cNvPr>
          <p:cNvSpPr>
            <a:spLocks noGrp="1"/>
          </p:cNvSpPr>
          <p:nvPr>
            <p:ph type="title"/>
          </p:nvPr>
        </p:nvSpPr>
        <p:spPr>
          <a:xfrm>
            <a:off x="1156851" y="637762"/>
            <a:ext cx="9888496" cy="900131"/>
          </a:xfrm>
        </p:spPr>
        <p:txBody>
          <a:bodyPr anchor="t">
            <a:normAutofit/>
          </a:bodyPr>
          <a:lstStyle/>
          <a:p>
            <a:r>
              <a:rPr lang="en-GB" sz="4000" dirty="0">
                <a:solidFill>
                  <a:schemeClr val="bg1"/>
                </a:solidFill>
                <a:cs typeface="Calibri Light"/>
              </a:rPr>
              <a:t>Recognising mental health changes</a:t>
            </a:r>
            <a:endParaRPr lang="en-GB" sz="4000" dirty="0">
              <a:solidFill>
                <a:schemeClr val="bg1"/>
              </a:solidFill>
            </a:endParaRPr>
          </a:p>
        </p:txBody>
      </p:sp>
      <p:sp>
        <p:nvSpPr>
          <p:cNvPr id="9" name="Content Placeholder 2">
            <a:extLst>
              <a:ext uri="{FF2B5EF4-FFF2-40B4-BE49-F238E27FC236}">
                <a16:creationId xmlns:a16="http://schemas.microsoft.com/office/drawing/2014/main" id="{935232D1-62AB-F174-88D6-C2D9BD0214F2}"/>
              </a:ext>
            </a:extLst>
          </p:cNvPr>
          <p:cNvSpPr>
            <a:spLocks noGrp="1"/>
          </p:cNvSpPr>
          <p:nvPr>
            <p:ph idx="1"/>
          </p:nvPr>
        </p:nvSpPr>
        <p:spPr>
          <a:xfrm>
            <a:off x="1156851" y="2309942"/>
            <a:ext cx="3443070" cy="4413121"/>
          </a:xfrm>
        </p:spPr>
        <p:txBody>
          <a:bodyPr vert="horz" lIns="91440" tIns="45720" rIns="91440" bIns="45720" rtlCol="0" anchor="t">
            <a:noAutofit/>
          </a:bodyPr>
          <a:lstStyle/>
          <a:p>
            <a:pPr marL="0" indent="0">
              <a:buNone/>
            </a:pPr>
            <a:r>
              <a:rPr lang="en-GB" sz="1000" b="1" dirty="0">
                <a:cs typeface="Calibri"/>
              </a:rPr>
              <a:t>Anxiety : </a:t>
            </a:r>
          </a:p>
          <a:p>
            <a:pPr>
              <a:buFont typeface="Arial"/>
              <a:buChar char="•"/>
            </a:pPr>
            <a:r>
              <a:rPr lang="en-GB" sz="1000" dirty="0">
                <a:ea typeface="+mn-lt"/>
                <a:cs typeface="+mn-lt"/>
              </a:rPr>
              <a:t>feel tired, on edge, restless or irritable</a:t>
            </a:r>
            <a:endParaRPr lang="en-GB" sz="1000" dirty="0">
              <a:cs typeface="Calibri"/>
            </a:endParaRPr>
          </a:p>
          <a:p>
            <a:pPr>
              <a:buFont typeface="Arial"/>
              <a:buChar char="•"/>
            </a:pPr>
            <a:r>
              <a:rPr lang="en-GB" sz="1000" dirty="0">
                <a:ea typeface="+mn-lt"/>
                <a:cs typeface="+mn-lt"/>
              </a:rPr>
              <a:t>feel a sense of dread</a:t>
            </a:r>
            <a:endParaRPr lang="en-GB" sz="1000" dirty="0">
              <a:cs typeface="Calibri"/>
            </a:endParaRPr>
          </a:p>
          <a:p>
            <a:pPr>
              <a:buFont typeface="Arial"/>
              <a:buChar char="•"/>
            </a:pPr>
            <a:r>
              <a:rPr lang="en-GB" sz="1000" dirty="0">
                <a:ea typeface="+mn-lt"/>
                <a:cs typeface="+mn-lt"/>
              </a:rPr>
              <a:t>be unable to concentrate or make decisions</a:t>
            </a:r>
            <a:endParaRPr lang="en-GB" sz="1000" dirty="0">
              <a:cs typeface="Calibri"/>
            </a:endParaRPr>
          </a:p>
          <a:p>
            <a:pPr>
              <a:buFont typeface="Arial"/>
              <a:buChar char="•"/>
            </a:pPr>
            <a:r>
              <a:rPr lang="en-GB" sz="1000" dirty="0">
                <a:ea typeface="+mn-lt"/>
                <a:cs typeface="+mn-lt"/>
              </a:rPr>
              <a:t>have trouble sleeping</a:t>
            </a:r>
            <a:endParaRPr lang="en-GB" sz="1000" dirty="0">
              <a:cs typeface="Calibri"/>
            </a:endParaRPr>
          </a:p>
          <a:p>
            <a:pPr>
              <a:buFont typeface="Arial"/>
              <a:buChar char="•"/>
            </a:pPr>
            <a:r>
              <a:rPr lang="en-GB" sz="1000" dirty="0">
                <a:ea typeface="+mn-lt"/>
                <a:cs typeface="+mn-lt"/>
              </a:rPr>
              <a:t>feel sick, dizzy, sweaty or short of breath</a:t>
            </a:r>
            <a:endParaRPr lang="en-GB" sz="1000" dirty="0">
              <a:cs typeface="Calibri"/>
            </a:endParaRPr>
          </a:p>
          <a:p>
            <a:pPr>
              <a:buFont typeface="Arial"/>
              <a:buChar char="•"/>
            </a:pPr>
            <a:r>
              <a:rPr lang="en-GB" sz="1000" dirty="0">
                <a:ea typeface="+mn-lt"/>
                <a:cs typeface="+mn-lt"/>
              </a:rPr>
              <a:t>be shaky or trembly</a:t>
            </a:r>
            <a:endParaRPr lang="en-GB" sz="1000" dirty="0">
              <a:cs typeface="Calibri"/>
            </a:endParaRPr>
          </a:p>
          <a:p>
            <a:pPr>
              <a:buFont typeface="Arial"/>
              <a:buChar char="•"/>
            </a:pPr>
            <a:r>
              <a:rPr lang="en-GB" sz="1000" dirty="0">
                <a:ea typeface="+mn-lt"/>
                <a:cs typeface="+mn-lt"/>
              </a:rPr>
              <a:t>get headaches or tummy aches</a:t>
            </a:r>
            <a:endParaRPr lang="en-GB" sz="1000" dirty="0">
              <a:cs typeface="Calibri"/>
            </a:endParaRPr>
          </a:p>
          <a:p>
            <a:pPr>
              <a:buFont typeface="Arial"/>
              <a:buChar char="•"/>
            </a:pPr>
            <a:r>
              <a:rPr lang="en-GB" sz="1000" dirty="0">
                <a:ea typeface="+mn-lt"/>
                <a:cs typeface="+mn-lt"/>
              </a:rPr>
              <a:t>avoid situations or put off doing things you are worried about</a:t>
            </a:r>
            <a:endParaRPr lang="en-GB" sz="1000" dirty="0">
              <a:cs typeface="Calibri"/>
            </a:endParaRPr>
          </a:p>
          <a:p>
            <a:pPr>
              <a:buFont typeface="Arial"/>
              <a:buChar char="•"/>
            </a:pPr>
            <a:r>
              <a:rPr lang="en-GB" sz="1000" dirty="0">
                <a:ea typeface="+mn-lt"/>
                <a:cs typeface="+mn-lt"/>
              </a:rPr>
              <a:t>have difficulty falling or staying asleep</a:t>
            </a:r>
            <a:endParaRPr lang="en-GB" sz="1000" dirty="0">
              <a:cs typeface="Calibri"/>
            </a:endParaRPr>
          </a:p>
          <a:p>
            <a:pPr>
              <a:buFont typeface="Arial"/>
              <a:buChar char="•"/>
            </a:pPr>
            <a:r>
              <a:rPr lang="en-GB" sz="1000" dirty="0">
                <a:ea typeface="+mn-lt"/>
                <a:cs typeface="+mn-lt"/>
              </a:rPr>
              <a:t>experience a noticeably strong, fast or irregular heartbeat</a:t>
            </a:r>
            <a:endParaRPr lang="en-GB" sz="1000" dirty="0">
              <a:cs typeface="Calibri"/>
            </a:endParaRPr>
          </a:p>
          <a:p>
            <a:pPr>
              <a:buFont typeface="Arial"/>
              <a:buChar char="•"/>
            </a:pPr>
            <a:r>
              <a:rPr lang="en-GB" sz="1000" dirty="0">
                <a:ea typeface="+mn-lt"/>
                <a:cs typeface="+mn-lt"/>
              </a:rPr>
              <a:t>have pins and needles</a:t>
            </a:r>
            <a:endParaRPr lang="en-GB" sz="1000" dirty="0">
              <a:cs typeface="Calibri"/>
            </a:endParaRPr>
          </a:p>
          <a:p>
            <a:pPr>
              <a:buFont typeface="Arial"/>
              <a:buChar char="•"/>
            </a:pPr>
            <a:r>
              <a:rPr lang="en-GB" sz="1000" dirty="0">
                <a:ea typeface="+mn-lt"/>
                <a:cs typeface="+mn-lt"/>
              </a:rPr>
              <a:t>have a dry mouth</a:t>
            </a:r>
            <a:endParaRPr lang="en-GB" sz="1000" dirty="0">
              <a:cs typeface="Calibri"/>
            </a:endParaRPr>
          </a:p>
          <a:p>
            <a:pPr>
              <a:buFont typeface="Arial"/>
              <a:buChar char="•"/>
            </a:pPr>
            <a:r>
              <a:rPr lang="en-GB" sz="1000" dirty="0">
                <a:ea typeface="+mn-lt"/>
                <a:cs typeface="+mn-lt"/>
              </a:rPr>
              <a:t>sweat excessively</a:t>
            </a:r>
            <a:endParaRPr lang="en-GB" sz="1000" dirty="0">
              <a:cs typeface="Calibri"/>
            </a:endParaRPr>
          </a:p>
          <a:p>
            <a:pPr>
              <a:buFont typeface="Arial"/>
              <a:buChar char="•"/>
            </a:pPr>
            <a:r>
              <a:rPr lang="en-GB" sz="1000" dirty="0">
                <a:ea typeface="+mn-lt"/>
                <a:cs typeface="+mn-lt"/>
              </a:rPr>
              <a:t>repeatedly check things or seek assurance from others</a:t>
            </a:r>
            <a:endParaRPr lang="en-GB" sz="1000" dirty="0">
              <a:cs typeface="Calibri" panose="020F0502020204030204"/>
            </a:endParaRPr>
          </a:p>
          <a:p>
            <a:pPr marL="0" indent="0">
              <a:buNone/>
            </a:pPr>
            <a:endParaRPr lang="en-GB" sz="1000" dirty="0">
              <a:cs typeface="Calibri" panose="020F0502020204030204"/>
            </a:endParaRPr>
          </a:p>
        </p:txBody>
      </p:sp>
      <p:sp>
        <p:nvSpPr>
          <p:cNvPr id="11" name="Content Placeholder 3">
            <a:extLst>
              <a:ext uri="{FF2B5EF4-FFF2-40B4-BE49-F238E27FC236}">
                <a16:creationId xmlns:a16="http://schemas.microsoft.com/office/drawing/2014/main" id="{025DFE48-F538-9B93-645F-023A8E52CF88}"/>
              </a:ext>
            </a:extLst>
          </p:cNvPr>
          <p:cNvSpPr txBox="1">
            <a:spLocks/>
          </p:cNvSpPr>
          <p:nvPr/>
        </p:nvSpPr>
        <p:spPr>
          <a:xfrm>
            <a:off x="4980811" y="2309942"/>
            <a:ext cx="3173628" cy="441312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Font typeface="Arial" panose="020B0604020202020204" pitchFamily="34" charset="0"/>
              <a:buNone/>
            </a:pPr>
            <a:r>
              <a:rPr lang="en-GB" sz="1000" b="1" dirty="0">
                <a:latin typeface="Arial" panose="020B0604020202020204" pitchFamily="34" charset="0"/>
                <a:cs typeface="Arial" panose="020B0604020202020204" pitchFamily="34" charset="0"/>
              </a:rPr>
              <a:t>Depression :</a:t>
            </a:r>
          </a:p>
          <a:p>
            <a:pPr marL="0" indent="0">
              <a:lnSpc>
                <a:spcPct val="110000"/>
              </a:lnSpc>
              <a:buFont typeface="Arial" panose="020B0604020202020204" pitchFamily="34" charset="0"/>
              <a:buNone/>
            </a:pPr>
            <a:r>
              <a:rPr lang="en-GB" sz="1000" dirty="0">
                <a:latin typeface="Arial" panose="020B0604020202020204" pitchFamily="34" charset="0"/>
                <a:cs typeface="Arial" panose="020B0604020202020204" pitchFamily="34" charset="0"/>
              </a:rPr>
              <a:t>Feeling low may cause someone to stop doing the things they like, cut themselves off from loved ones or have difficulty sleeping. Other signs include feeling:</a:t>
            </a:r>
          </a:p>
          <a:p>
            <a:pPr>
              <a:lnSpc>
                <a:spcPct val="110000"/>
              </a:lnSpc>
            </a:pPr>
            <a:r>
              <a:rPr lang="en-GB" sz="1000" dirty="0">
                <a:latin typeface="Arial" panose="020B0604020202020204" pitchFamily="34" charset="0"/>
                <a:cs typeface="Arial" panose="020B0604020202020204" pitchFamily="34" charset="0"/>
              </a:rPr>
              <a:t>sad</a:t>
            </a:r>
          </a:p>
          <a:p>
            <a:pPr>
              <a:lnSpc>
                <a:spcPct val="110000"/>
              </a:lnSpc>
            </a:pPr>
            <a:r>
              <a:rPr lang="en-GB" sz="1000" dirty="0">
                <a:latin typeface="Arial" panose="020B0604020202020204" pitchFamily="34" charset="0"/>
                <a:cs typeface="Arial" panose="020B0604020202020204" pitchFamily="34" charset="0"/>
              </a:rPr>
              <a:t>worried, anxious or panicked</a:t>
            </a:r>
          </a:p>
          <a:p>
            <a:pPr>
              <a:lnSpc>
                <a:spcPct val="110000"/>
              </a:lnSpc>
            </a:pPr>
            <a:r>
              <a:rPr lang="en-GB" sz="1000" dirty="0">
                <a:latin typeface="Arial" panose="020B0604020202020204" pitchFamily="34" charset="0"/>
                <a:cs typeface="Arial" panose="020B0604020202020204" pitchFamily="34" charset="0"/>
              </a:rPr>
              <a:t>tired</a:t>
            </a:r>
          </a:p>
          <a:p>
            <a:pPr>
              <a:lnSpc>
                <a:spcPct val="110000"/>
              </a:lnSpc>
            </a:pPr>
            <a:r>
              <a:rPr lang="en-GB" sz="1000" dirty="0">
                <a:latin typeface="Arial" panose="020B0604020202020204" pitchFamily="34" charset="0"/>
                <a:cs typeface="Arial" panose="020B0604020202020204" pitchFamily="34" charset="0"/>
              </a:rPr>
              <a:t>less confident</a:t>
            </a:r>
          </a:p>
          <a:p>
            <a:pPr>
              <a:lnSpc>
                <a:spcPct val="110000"/>
              </a:lnSpc>
            </a:pPr>
            <a:r>
              <a:rPr lang="en-GB" sz="1000" dirty="0">
                <a:latin typeface="Arial" panose="020B0604020202020204" pitchFamily="34" charset="0"/>
                <a:cs typeface="Arial" panose="020B0604020202020204" pitchFamily="34" charset="0"/>
              </a:rPr>
              <a:t>frustrated, irritated or angry</a:t>
            </a:r>
          </a:p>
          <a:p>
            <a:pPr marL="0" indent="0">
              <a:lnSpc>
                <a:spcPct val="110000"/>
              </a:lnSpc>
              <a:buFont typeface="Arial" panose="020B0604020202020204" pitchFamily="34" charset="0"/>
              <a:buNone/>
            </a:pPr>
            <a:endParaRPr lang="en-GB" sz="1000" dirty="0">
              <a:latin typeface="Arial" panose="020B0604020202020204" pitchFamily="34" charset="0"/>
              <a:cs typeface="Arial" panose="020B0604020202020204" pitchFamily="34" charset="0"/>
            </a:endParaRPr>
          </a:p>
        </p:txBody>
      </p:sp>
      <p:sp>
        <p:nvSpPr>
          <p:cNvPr id="13" name="Content Placeholder 2">
            <a:extLst>
              <a:ext uri="{FF2B5EF4-FFF2-40B4-BE49-F238E27FC236}">
                <a16:creationId xmlns:a16="http://schemas.microsoft.com/office/drawing/2014/main" id="{CF6DB00B-B6C2-34A2-AF50-BB8730AFC681}"/>
              </a:ext>
            </a:extLst>
          </p:cNvPr>
          <p:cNvSpPr txBox="1">
            <a:spLocks/>
          </p:cNvSpPr>
          <p:nvPr/>
        </p:nvSpPr>
        <p:spPr>
          <a:xfrm>
            <a:off x="8637887" y="2309942"/>
            <a:ext cx="3070655" cy="441312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lang="en-GB" sz="1000" b="1" dirty="0">
                <a:latin typeface="Arial" panose="020B0604020202020204" pitchFamily="34" charset="0"/>
                <a:cs typeface="Arial" panose="020B0604020202020204" pitchFamily="34" charset="0"/>
              </a:rPr>
              <a:t>Burnout : </a:t>
            </a:r>
          </a:p>
          <a:p>
            <a:pPr>
              <a:lnSpc>
                <a:spcPct val="130000"/>
              </a:lnSpc>
            </a:pPr>
            <a:r>
              <a:rPr lang="en-GB" sz="1000" dirty="0">
                <a:latin typeface="Arial" panose="020B0604020202020204" pitchFamily="34" charset="0"/>
                <a:cs typeface="Arial" panose="020B0604020202020204" pitchFamily="34" charset="0"/>
              </a:rPr>
              <a:t>feel overwhelmed</a:t>
            </a:r>
          </a:p>
          <a:p>
            <a:pPr>
              <a:lnSpc>
                <a:spcPct val="130000"/>
              </a:lnSpc>
            </a:pPr>
            <a:r>
              <a:rPr lang="en-GB" sz="1000" dirty="0">
                <a:latin typeface="Arial" panose="020B0604020202020204" pitchFamily="34" charset="0"/>
                <a:cs typeface="Arial" panose="020B0604020202020204" pitchFamily="34" charset="0"/>
              </a:rPr>
              <a:t>have racing thoughts or difficulty concentrating</a:t>
            </a:r>
          </a:p>
          <a:p>
            <a:pPr>
              <a:lnSpc>
                <a:spcPct val="130000"/>
              </a:lnSpc>
            </a:pPr>
            <a:r>
              <a:rPr lang="en-GB" sz="1000" dirty="0">
                <a:latin typeface="Arial" panose="020B0604020202020204" pitchFamily="34" charset="0"/>
                <a:cs typeface="Arial" panose="020B0604020202020204" pitchFamily="34" charset="0"/>
              </a:rPr>
              <a:t>be irritable</a:t>
            </a:r>
          </a:p>
          <a:p>
            <a:pPr>
              <a:lnSpc>
                <a:spcPct val="130000"/>
              </a:lnSpc>
            </a:pPr>
            <a:r>
              <a:rPr lang="en-GB" sz="1000" dirty="0">
                <a:latin typeface="Arial" panose="020B0604020202020204" pitchFamily="34" charset="0"/>
                <a:cs typeface="Arial" panose="020B0604020202020204" pitchFamily="34" charset="0"/>
              </a:rPr>
              <a:t>feel constantly worried, anxious or scared</a:t>
            </a:r>
          </a:p>
          <a:p>
            <a:pPr>
              <a:lnSpc>
                <a:spcPct val="130000"/>
              </a:lnSpc>
            </a:pPr>
            <a:r>
              <a:rPr lang="en-GB" sz="1000" dirty="0">
                <a:latin typeface="Arial" panose="020B0604020202020204" pitchFamily="34" charset="0"/>
                <a:cs typeface="Arial" panose="020B0604020202020204" pitchFamily="34" charset="0"/>
              </a:rPr>
              <a:t>feel a lack of self-confidence</a:t>
            </a:r>
          </a:p>
          <a:p>
            <a:pPr>
              <a:lnSpc>
                <a:spcPct val="130000"/>
              </a:lnSpc>
            </a:pPr>
            <a:r>
              <a:rPr lang="en-GB" sz="1000" dirty="0">
                <a:latin typeface="Arial" panose="020B0604020202020204" pitchFamily="34" charset="0"/>
                <a:cs typeface="Arial" panose="020B0604020202020204" pitchFamily="34" charset="0"/>
              </a:rPr>
              <a:t>have trouble sleeping or feel tired all the time</a:t>
            </a:r>
          </a:p>
          <a:p>
            <a:pPr>
              <a:lnSpc>
                <a:spcPct val="130000"/>
              </a:lnSpc>
            </a:pPr>
            <a:r>
              <a:rPr lang="en-GB" sz="1000" dirty="0">
                <a:latin typeface="Arial" panose="020B0604020202020204" pitchFamily="34" charset="0"/>
                <a:cs typeface="Arial" panose="020B0604020202020204" pitchFamily="34" charset="0"/>
              </a:rPr>
              <a:t>avoid things or people you are having problems with</a:t>
            </a:r>
          </a:p>
          <a:p>
            <a:pPr>
              <a:lnSpc>
                <a:spcPct val="130000"/>
              </a:lnSpc>
            </a:pPr>
            <a:r>
              <a:rPr lang="en-GB" sz="1000" dirty="0">
                <a:latin typeface="Arial" panose="020B0604020202020204" pitchFamily="34" charset="0"/>
                <a:cs typeface="Arial" panose="020B0604020202020204" pitchFamily="34" charset="0"/>
              </a:rPr>
              <a:t>be eating more or less than usual</a:t>
            </a:r>
          </a:p>
          <a:p>
            <a:pPr>
              <a:lnSpc>
                <a:spcPct val="130000"/>
              </a:lnSpc>
            </a:pPr>
            <a:r>
              <a:rPr lang="en-GB" sz="1000" dirty="0">
                <a:latin typeface="Arial" panose="020B0604020202020204" pitchFamily="34" charset="0"/>
                <a:cs typeface="Arial" panose="020B0604020202020204" pitchFamily="34" charset="0"/>
              </a:rPr>
              <a:t>drink or smoke more than usual</a:t>
            </a:r>
          </a:p>
          <a:p>
            <a:pPr marL="0" indent="0">
              <a:buNone/>
            </a:pPr>
            <a:endParaRPr lang="en-GB" sz="1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72355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FC359-C992-1CF4-F06D-D58DB710E2F6}"/>
              </a:ext>
            </a:extLst>
          </p:cNvPr>
          <p:cNvSpPr>
            <a:spLocks noGrp="1"/>
          </p:cNvSpPr>
          <p:nvPr>
            <p:ph type="title"/>
          </p:nvPr>
        </p:nvSpPr>
        <p:spPr>
          <a:xfrm>
            <a:off x="1156851" y="637762"/>
            <a:ext cx="9888496" cy="900131"/>
          </a:xfrm>
        </p:spPr>
        <p:txBody>
          <a:bodyPr anchor="t">
            <a:normAutofit/>
          </a:bodyPr>
          <a:lstStyle/>
          <a:p>
            <a:r>
              <a:rPr lang="en-GB" sz="4000" dirty="0">
                <a:solidFill>
                  <a:schemeClr val="bg1"/>
                </a:solidFill>
                <a:cs typeface="Calibri Light"/>
              </a:rPr>
              <a:t>Self-care</a:t>
            </a:r>
            <a:endParaRPr lang="en-GB" sz="4000" dirty="0">
              <a:solidFill>
                <a:schemeClr val="bg1"/>
              </a:solidFill>
            </a:endParaRPr>
          </a:p>
        </p:txBody>
      </p:sp>
      <p:sp>
        <p:nvSpPr>
          <p:cNvPr id="15" name="Content Placeholder 2">
            <a:extLst>
              <a:ext uri="{FF2B5EF4-FFF2-40B4-BE49-F238E27FC236}">
                <a16:creationId xmlns:a16="http://schemas.microsoft.com/office/drawing/2014/main" id="{064C11EE-C69D-CD07-EFA4-7DADCBAE46CB}"/>
              </a:ext>
            </a:extLst>
          </p:cNvPr>
          <p:cNvSpPr>
            <a:spLocks noGrp="1"/>
          </p:cNvSpPr>
          <p:nvPr>
            <p:ph idx="1"/>
          </p:nvPr>
        </p:nvSpPr>
        <p:spPr>
          <a:xfrm>
            <a:off x="1155553" y="2260619"/>
            <a:ext cx="9880893" cy="3959619"/>
          </a:xfrm>
        </p:spPr>
        <p:txBody>
          <a:bodyPr vert="horz" lIns="91440" tIns="45720" rIns="91440" bIns="45720" rtlCol="0" anchor="t">
            <a:normAutofit/>
          </a:bodyPr>
          <a:lstStyle/>
          <a:p>
            <a:pPr>
              <a:lnSpc>
                <a:spcPct val="100000"/>
              </a:lnSpc>
            </a:pPr>
            <a:r>
              <a:rPr lang="en-GB" dirty="0">
                <a:cs typeface="Calibri"/>
              </a:rPr>
              <a:t>Not just having a bath with a glass of wine and a facemask </a:t>
            </a:r>
          </a:p>
          <a:p>
            <a:pPr>
              <a:lnSpc>
                <a:spcPct val="100000"/>
              </a:lnSpc>
            </a:pPr>
            <a:r>
              <a:rPr lang="en-GB" dirty="0">
                <a:cs typeface="Calibri"/>
              </a:rPr>
              <a:t>Self – care is anything that helps to balance your mood : </a:t>
            </a:r>
          </a:p>
          <a:p>
            <a:pPr lvl="1">
              <a:lnSpc>
                <a:spcPct val="100000"/>
              </a:lnSpc>
            </a:pPr>
            <a:r>
              <a:rPr lang="en-GB" dirty="0">
                <a:cs typeface="Calibri"/>
              </a:rPr>
              <a:t>Exercise or moving your body : doesn't have to be vigorous </a:t>
            </a:r>
          </a:p>
          <a:p>
            <a:pPr lvl="1">
              <a:lnSpc>
                <a:spcPct val="100000"/>
              </a:lnSpc>
            </a:pPr>
            <a:r>
              <a:rPr lang="en-GB" dirty="0">
                <a:cs typeface="Calibri"/>
              </a:rPr>
              <a:t>Being out in nature </a:t>
            </a:r>
          </a:p>
          <a:p>
            <a:pPr lvl="1">
              <a:lnSpc>
                <a:spcPct val="100000"/>
              </a:lnSpc>
            </a:pPr>
            <a:r>
              <a:rPr lang="en-GB" dirty="0">
                <a:cs typeface="Calibri"/>
              </a:rPr>
              <a:t>Reflecting or journaling </a:t>
            </a:r>
          </a:p>
          <a:p>
            <a:pPr lvl="1">
              <a:lnSpc>
                <a:spcPct val="100000"/>
              </a:lnSpc>
            </a:pPr>
            <a:r>
              <a:rPr lang="en-GB" dirty="0">
                <a:cs typeface="Calibri"/>
              </a:rPr>
              <a:t>Hobbies </a:t>
            </a:r>
          </a:p>
          <a:p>
            <a:pPr lvl="1">
              <a:lnSpc>
                <a:spcPct val="100000"/>
              </a:lnSpc>
            </a:pPr>
            <a:r>
              <a:rPr lang="en-GB" dirty="0">
                <a:cs typeface="Calibri"/>
              </a:rPr>
              <a:t>Taking regular annual leave </a:t>
            </a:r>
          </a:p>
          <a:p>
            <a:pPr lvl="1">
              <a:lnSpc>
                <a:spcPct val="100000"/>
              </a:lnSpc>
            </a:pPr>
            <a:r>
              <a:rPr lang="en-GB" dirty="0">
                <a:cs typeface="Calibri"/>
              </a:rPr>
              <a:t>Taking time away from technology and social media </a:t>
            </a:r>
          </a:p>
        </p:txBody>
      </p:sp>
      <p:pic>
        <p:nvPicPr>
          <p:cNvPr id="3" name="Picture 4" descr="A picture containing wall, indoor, counter&#10;&#10;Description automatically generated">
            <a:extLst>
              <a:ext uri="{FF2B5EF4-FFF2-40B4-BE49-F238E27FC236}">
                <a16:creationId xmlns:a16="http://schemas.microsoft.com/office/drawing/2014/main" id="{68D57033-FA16-DB26-83CE-D73DF697B69A}"/>
              </a:ext>
            </a:extLst>
          </p:cNvPr>
          <p:cNvPicPr>
            <a:picLocks noChangeAspect="1"/>
          </p:cNvPicPr>
          <p:nvPr/>
        </p:nvPicPr>
        <p:blipFill>
          <a:blip r:embed="rId2"/>
          <a:stretch>
            <a:fillRect/>
          </a:stretch>
        </p:blipFill>
        <p:spPr>
          <a:xfrm>
            <a:off x="10213204" y="275967"/>
            <a:ext cx="1507526" cy="1507526"/>
          </a:xfrm>
          <a:prstGeom prst="rect">
            <a:avLst/>
          </a:prstGeom>
        </p:spPr>
      </p:pic>
      <p:sp>
        <p:nvSpPr>
          <p:cNvPr id="4" name="&quot;Not Allowed&quot; Symbol 3">
            <a:extLst>
              <a:ext uri="{FF2B5EF4-FFF2-40B4-BE49-F238E27FC236}">
                <a16:creationId xmlns:a16="http://schemas.microsoft.com/office/drawing/2014/main" id="{4F489A29-39C3-0BB4-9D0E-ED3CCD3D7EEA}"/>
              </a:ext>
            </a:extLst>
          </p:cNvPr>
          <p:cNvSpPr/>
          <p:nvPr/>
        </p:nvSpPr>
        <p:spPr>
          <a:xfrm>
            <a:off x="9675686" y="98853"/>
            <a:ext cx="2533132" cy="1853511"/>
          </a:xfrm>
          <a:prstGeom prst="noSmoking">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8333122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AED72-9FC7-BC40-48FB-702209CBC781}"/>
              </a:ext>
            </a:extLst>
          </p:cNvPr>
          <p:cNvSpPr>
            <a:spLocks noGrp="1"/>
          </p:cNvSpPr>
          <p:nvPr>
            <p:ph type="title"/>
          </p:nvPr>
        </p:nvSpPr>
        <p:spPr/>
        <p:txBody>
          <a:bodyPr/>
          <a:lstStyle/>
          <a:p>
            <a:r>
              <a:rPr lang="en-GB" dirty="0">
                <a:cs typeface="Calibri Light"/>
              </a:rPr>
              <a:t>References </a:t>
            </a:r>
            <a:endParaRPr lang="en-GB" dirty="0"/>
          </a:p>
        </p:txBody>
      </p:sp>
      <p:sp>
        <p:nvSpPr>
          <p:cNvPr id="3" name="Content Placeholder 2">
            <a:extLst>
              <a:ext uri="{FF2B5EF4-FFF2-40B4-BE49-F238E27FC236}">
                <a16:creationId xmlns:a16="http://schemas.microsoft.com/office/drawing/2014/main" id="{40E6E83D-363D-B741-048D-DE929CA2F312}"/>
              </a:ext>
            </a:extLst>
          </p:cNvPr>
          <p:cNvSpPr>
            <a:spLocks noGrp="1"/>
          </p:cNvSpPr>
          <p:nvPr>
            <p:ph idx="1"/>
          </p:nvPr>
        </p:nvSpPr>
        <p:spPr/>
        <p:txBody>
          <a:bodyPr vert="horz" lIns="91440" tIns="45720" rIns="91440" bIns="45720" rtlCol="0" anchor="t">
            <a:normAutofit fontScale="92500" lnSpcReduction="10000"/>
          </a:bodyPr>
          <a:lstStyle/>
          <a:p>
            <a:r>
              <a:rPr lang="en-GB" dirty="0">
                <a:ea typeface="+mn-lt"/>
                <a:cs typeface="+mn-lt"/>
              </a:rPr>
              <a:t>(no date) </a:t>
            </a:r>
            <a:r>
              <a:rPr lang="en-GB" i="1" dirty="0">
                <a:ea typeface="+mn-lt"/>
                <a:cs typeface="+mn-lt"/>
              </a:rPr>
              <a:t>NHS choices</a:t>
            </a:r>
            <a:r>
              <a:rPr lang="en-GB" dirty="0">
                <a:ea typeface="+mn-lt"/>
                <a:cs typeface="+mn-lt"/>
              </a:rPr>
              <a:t>. NHS. Available at: </a:t>
            </a:r>
            <a:r>
              <a:rPr lang="en-GB" dirty="0">
                <a:ea typeface="+mn-lt"/>
                <a:cs typeface="+mn-lt"/>
                <a:hlinkClick r:id="rId2"/>
              </a:rPr>
              <a:t>https://www.nhs.uk/every-mind-matters/mental-health-issues/</a:t>
            </a:r>
            <a:r>
              <a:rPr lang="en-GB" dirty="0">
                <a:ea typeface="+mn-lt"/>
                <a:cs typeface="+mn-lt"/>
              </a:rPr>
              <a:t> (Accessed: November 1, 2022). </a:t>
            </a:r>
            <a:endParaRPr lang="en-GB">
              <a:cs typeface="Calibri" panose="020F0502020204030204"/>
            </a:endParaRPr>
          </a:p>
          <a:p>
            <a:r>
              <a:rPr lang="en-GB" i="1" dirty="0">
                <a:ea typeface="+mn-lt"/>
                <a:cs typeface="+mn-lt"/>
              </a:rPr>
              <a:t>Guidance on manual handling in Physiotherapy (4th edition)</a:t>
            </a:r>
            <a:r>
              <a:rPr lang="en-GB" dirty="0">
                <a:ea typeface="+mn-lt"/>
                <a:cs typeface="+mn-lt"/>
              </a:rPr>
              <a:t> (no date) </a:t>
            </a:r>
            <a:r>
              <a:rPr lang="en-GB" i="1" dirty="0">
                <a:ea typeface="+mn-lt"/>
                <a:cs typeface="+mn-lt"/>
              </a:rPr>
              <a:t>The Chartered Society of Physiotherapy</a:t>
            </a:r>
            <a:r>
              <a:rPr lang="en-GB" dirty="0">
                <a:ea typeface="+mn-lt"/>
                <a:cs typeface="+mn-lt"/>
              </a:rPr>
              <a:t>. Available at: </a:t>
            </a:r>
            <a:r>
              <a:rPr lang="en-GB" dirty="0">
                <a:ea typeface="+mn-lt"/>
                <a:cs typeface="+mn-lt"/>
                <a:hlinkClick r:id="rId3"/>
              </a:rPr>
              <a:t>https://www.csp.org.uk/publications/guidance-manual-handling-physiotherapy-4th-edition</a:t>
            </a:r>
            <a:r>
              <a:rPr lang="en-GB" dirty="0">
                <a:ea typeface="+mn-lt"/>
                <a:cs typeface="+mn-lt"/>
              </a:rPr>
              <a:t> (Accessed: November 1, 2022). </a:t>
            </a:r>
            <a:endParaRPr lang="en-GB" dirty="0">
              <a:cs typeface="Calibri"/>
            </a:endParaRPr>
          </a:p>
          <a:p>
            <a:r>
              <a:rPr lang="en-GB" dirty="0">
                <a:ea typeface="+mn-lt"/>
                <a:cs typeface="+mn-lt"/>
              </a:rPr>
              <a:t>(no date) </a:t>
            </a:r>
            <a:r>
              <a:rPr lang="en-GB" i="1" dirty="0">
                <a:ea typeface="+mn-lt"/>
                <a:cs typeface="+mn-lt"/>
              </a:rPr>
              <a:t>NHS choices</a:t>
            </a:r>
            <a:r>
              <a:rPr lang="en-GB" dirty="0">
                <a:ea typeface="+mn-lt"/>
                <a:cs typeface="+mn-lt"/>
              </a:rPr>
              <a:t>. NHS. Available at: </a:t>
            </a:r>
            <a:r>
              <a:rPr lang="en-GB" dirty="0">
                <a:ea typeface="+mn-lt"/>
                <a:cs typeface="+mn-lt"/>
                <a:hlinkClick r:id="rId4"/>
              </a:rPr>
              <a:t>https://www.nhs.uk/live-well/best-way-to-wash-your-hands/</a:t>
            </a:r>
            <a:r>
              <a:rPr lang="en-GB" dirty="0">
                <a:ea typeface="+mn-lt"/>
                <a:cs typeface="+mn-lt"/>
              </a:rPr>
              <a:t> (Accessed: November 1, 2022). </a:t>
            </a:r>
            <a:endParaRPr lang="en-GB" dirty="0">
              <a:cs typeface="Calibri"/>
            </a:endParaRPr>
          </a:p>
          <a:p>
            <a:r>
              <a:rPr lang="en-GB" i="1" dirty="0">
                <a:ea typeface="+mn-lt"/>
                <a:cs typeface="+mn-lt"/>
              </a:rPr>
              <a:t>Work-related stress, anxiety or depression statistics in great ... - </a:t>
            </a:r>
            <a:r>
              <a:rPr lang="en-GB" i="1" dirty="0" err="1">
                <a:ea typeface="+mn-lt"/>
                <a:cs typeface="+mn-lt"/>
              </a:rPr>
              <a:t>hse</a:t>
            </a:r>
            <a:r>
              <a:rPr lang="en-GB" dirty="0">
                <a:ea typeface="+mn-lt"/>
                <a:cs typeface="+mn-lt"/>
              </a:rPr>
              <a:t> (no date). Available at: </a:t>
            </a:r>
            <a:r>
              <a:rPr lang="en-GB" dirty="0">
                <a:ea typeface="+mn-lt"/>
                <a:cs typeface="+mn-lt"/>
                <a:hlinkClick r:id="rId5"/>
              </a:rPr>
              <a:t>https://www.hse.gov.uk/statistics/causdis/stress.pdf</a:t>
            </a:r>
            <a:r>
              <a:rPr lang="en-GB" dirty="0">
                <a:ea typeface="+mn-lt"/>
                <a:cs typeface="+mn-lt"/>
              </a:rPr>
              <a:t> (Accessed: November 1, 2022). </a:t>
            </a:r>
            <a:endParaRPr lang="en-GB" dirty="0">
              <a:cs typeface="Calibri"/>
            </a:endParaRPr>
          </a:p>
          <a:p>
            <a:endParaRPr lang="en-GB" dirty="0">
              <a:cs typeface="Calibri"/>
            </a:endParaRPr>
          </a:p>
          <a:p>
            <a:endParaRPr lang="en-GB" dirty="0">
              <a:cs typeface="Calibri"/>
            </a:endParaRPr>
          </a:p>
        </p:txBody>
      </p:sp>
    </p:spTree>
    <p:extLst>
      <p:ext uri="{BB962C8B-B14F-4D97-AF65-F5344CB8AC3E}">
        <p14:creationId xmlns:p14="http://schemas.microsoft.com/office/powerpoint/2010/main" val="18821380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11238-0484-91BD-BF06-85ECE4187AFE}"/>
              </a:ext>
            </a:extLst>
          </p:cNvPr>
          <p:cNvSpPr>
            <a:spLocks noGrp="1"/>
          </p:cNvSpPr>
          <p:nvPr>
            <p:ph type="title"/>
          </p:nvPr>
        </p:nvSpPr>
        <p:spPr>
          <a:xfrm>
            <a:off x="6985519" y="1007707"/>
            <a:ext cx="4256314" cy="4519094"/>
          </a:xfrm>
        </p:spPr>
        <p:txBody>
          <a:bodyPr>
            <a:normAutofit/>
          </a:bodyPr>
          <a:lstStyle/>
          <a:p>
            <a:r>
              <a:rPr lang="en-GB" sz="5400" b="1" dirty="0">
                <a:latin typeface="Arial" panose="020B0604020202020204" pitchFamily="34" charset="0"/>
                <a:cs typeface="Arial" panose="020B0604020202020204" pitchFamily="34" charset="0"/>
              </a:rPr>
              <a:t>Questions </a:t>
            </a:r>
          </a:p>
        </p:txBody>
      </p:sp>
    </p:spTree>
    <p:extLst>
      <p:ext uri="{BB962C8B-B14F-4D97-AF65-F5344CB8AC3E}">
        <p14:creationId xmlns:p14="http://schemas.microsoft.com/office/powerpoint/2010/main" val="3458786216"/>
      </p:ext>
    </p:extLst>
  </p:cSld>
  <p:clrMapOvr>
    <a:masterClrMapping/>
  </p:clrMapOvr>
</p:sld>
</file>

<file path=ppt/theme/theme1.xml><?xml version="1.0" encoding="utf-8"?>
<a:theme xmlns:a="http://schemas.openxmlformats.org/drawingml/2006/main" name="Theme for Uni slides">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 for Uni slides" id="{3BAF991C-92CF-4FF6-B660-4D76B81CF402}" vid="{D4EDB978-12AA-4E92-8633-D41A8F5BC3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 for Uni slides</Template>
  <TotalTime>0</TotalTime>
  <Words>2146</Words>
  <Application>Microsoft Office PowerPoint</Application>
  <PresentationFormat>Widescreen</PresentationFormat>
  <Paragraphs>224</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Cambria</vt:lpstr>
      <vt:lpstr>Arial</vt:lpstr>
      <vt:lpstr>Calibri</vt:lpstr>
      <vt:lpstr>Theme for Uni slides</vt:lpstr>
      <vt:lpstr>Health and Safety </vt:lpstr>
      <vt:lpstr>Learning objectives</vt:lpstr>
      <vt:lpstr>Hazard Vs  Risk ? </vt:lpstr>
      <vt:lpstr>Risk assessment</vt:lpstr>
      <vt:lpstr>Risk assessment - 5 steps</vt:lpstr>
      <vt:lpstr>Manual Handling </vt:lpstr>
      <vt:lpstr>Manual Handling – CSP guidance </vt:lpstr>
      <vt:lpstr>Manual Handling – CSP guidance </vt:lpstr>
      <vt:lpstr>Manual Handling – The CSP and the law</vt:lpstr>
      <vt:lpstr>CSP guidance on risk assessment</vt:lpstr>
      <vt:lpstr>CSP guidance on risk assessment</vt:lpstr>
      <vt:lpstr>TILE</vt:lpstr>
      <vt:lpstr>Documenting TILE</vt:lpstr>
      <vt:lpstr>Manual handling: TILE for yourself</vt:lpstr>
      <vt:lpstr>Risk assessment: lone working</vt:lpstr>
      <vt:lpstr>Risk assessment: equipment</vt:lpstr>
      <vt:lpstr>Equipment: giving out walking</vt:lpstr>
      <vt:lpstr>Scope of practice</vt:lpstr>
      <vt:lpstr>Infection control</vt:lpstr>
      <vt:lpstr>Hand washing How to wash your hands | NHS - YouTube</vt:lpstr>
      <vt:lpstr>Preparing for a clinical environment </vt:lpstr>
      <vt:lpstr>PPE</vt:lpstr>
      <vt:lpstr>PowerPoint Presentation</vt:lpstr>
      <vt:lpstr>Incident reporting </vt:lpstr>
      <vt:lpstr>Incident process </vt:lpstr>
      <vt:lpstr>Health and wellbeing : looking after you </vt:lpstr>
      <vt:lpstr>Mental health</vt:lpstr>
      <vt:lpstr>Recognising mental health changes</vt:lpstr>
      <vt:lpstr>Self-care</vt:lpstr>
      <vt:lpstr>References </vt:lpstr>
      <vt:lpstr>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Isobel Davies</cp:lastModifiedBy>
  <cp:revision>730</cp:revision>
  <dcterms:created xsi:type="dcterms:W3CDTF">2022-10-27T15:44:02Z</dcterms:created>
  <dcterms:modified xsi:type="dcterms:W3CDTF">2023-10-25T09:35:13Z</dcterms:modified>
</cp:coreProperties>
</file>