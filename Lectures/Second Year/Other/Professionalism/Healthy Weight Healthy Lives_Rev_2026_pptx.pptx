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7" r:id="rId9"/>
    <p:sldId id="270" r:id="rId10"/>
    <p:sldId id="271" r:id="rId11"/>
    <p:sldId id="272" r:id="rId12"/>
    <p:sldId id="273" r:id="rId13"/>
    <p:sldId id="275" r:id="rId14"/>
    <p:sldId id="276" r:id="rId15"/>
    <p:sldId id="277" r:id="rId16"/>
    <p:sldId id="279" r:id="rId17"/>
    <p:sldId id="280" r:id="rId18"/>
    <p:sldId id="281" r:id="rId19"/>
    <p:sldId id="283" r:id="rId20"/>
    <p:sldId id="284" r:id="rId21"/>
    <p:sldId id="285" r:id="rId22"/>
    <p:sldId id="263" r:id="rId23"/>
    <p:sldId id="286" r:id="rId24"/>
    <p:sldId id="288" r:id="rId25"/>
    <p:sldId id="289" r:id="rId26"/>
    <p:sldId id="290" r:id="rId27"/>
    <p:sldId id="293" r:id="rId28"/>
    <p:sldId id="304" r:id="rId29"/>
    <p:sldId id="296" r:id="rId30"/>
    <p:sldId id="297" r:id="rId31"/>
    <p:sldId id="298" r:id="rId32"/>
    <p:sldId id="308" r:id="rId33"/>
    <p:sldId id="310" r:id="rId34"/>
    <p:sldId id="268" r:id="rId35"/>
    <p:sldId id="314" r:id="rId36"/>
    <p:sldId id="316" r:id="rId37"/>
    <p:sldId id="318" r:id="rId38"/>
    <p:sldId id="320" r:id="rId39"/>
    <p:sldId id="274" r:id="rId40"/>
    <p:sldId id="323" r:id="rId41"/>
    <p:sldId id="300" r:id="rId42"/>
    <p:sldId id="301" r:id="rId43"/>
    <p:sldId id="302" r:id="rId44"/>
    <p:sldId id="303" r:id="rId45"/>
    <p:sldId id="299" r:id="rId46"/>
  </p:sldIdLst>
  <p:sldSz cx="9144000" cy="6858000" type="screen4x3"/>
  <p:notesSz cx="6858000" cy="9144000"/>
  <p:embeddedFontLst>
    <p:embeddedFont>
      <p:font typeface="Arial Bold" panose="020B0704020202020204" pitchFamily="34" charset="0"/>
      <p:regular r:id="rId48"/>
      <p:bold r:id="rId49"/>
    </p:embeddedFont>
    <p:embeddedFont>
      <p:font typeface="Arial Bold Italics" panose="020B0604020202020204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9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4D405-290C-4AB0-8ABF-51CAABEEEA65}" v="8" dt="2025-03-20T12:42:24.74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563" autoAdjust="0"/>
  </p:normalViewPr>
  <p:slideViewPr>
    <p:cSldViewPr>
      <p:cViewPr varScale="1">
        <p:scale>
          <a:sx n="101" d="100"/>
          <a:sy n="101" d="100"/>
        </p:scale>
        <p:origin x="121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7EC360-C23F-4798-AF59-EAD961A57B5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CF08E2-D758-4AEF-80B5-F7A477FDD106}">
      <dgm:prSet/>
      <dgm:spPr/>
      <dgm:t>
        <a:bodyPr/>
        <a:lstStyle/>
        <a:p>
          <a:r>
            <a:rPr lang="en-GB"/>
            <a:t>Launched as England’s </a:t>
          </a:r>
          <a:r>
            <a:rPr lang="en-GB" b="1"/>
            <a:t>first national social marketing campaign</a:t>
          </a:r>
          <a:r>
            <a:rPr lang="en-GB"/>
            <a:t> to reduce obesity.</a:t>
          </a:r>
          <a:endParaRPr lang="en-US"/>
        </a:p>
      </dgm:t>
    </dgm:pt>
    <dgm:pt modelId="{8D0D3EEB-3022-4651-8F13-0957C48E149B}" type="parTrans" cxnId="{2906048E-D296-4344-BDA8-35B6F298C003}">
      <dgm:prSet/>
      <dgm:spPr/>
      <dgm:t>
        <a:bodyPr/>
        <a:lstStyle/>
        <a:p>
          <a:endParaRPr lang="en-US"/>
        </a:p>
      </dgm:t>
    </dgm:pt>
    <dgm:pt modelId="{B5037062-F5EF-431E-BEC8-850D92AE77B7}" type="sibTrans" cxnId="{2906048E-D296-4344-BDA8-35B6F298C003}">
      <dgm:prSet/>
      <dgm:spPr/>
      <dgm:t>
        <a:bodyPr/>
        <a:lstStyle/>
        <a:p>
          <a:endParaRPr lang="en-US"/>
        </a:p>
      </dgm:t>
    </dgm:pt>
    <dgm:pt modelId="{42D6B237-483F-40E0-91FB-EC7447C2BE07}">
      <dgm:prSet/>
      <dgm:spPr/>
      <dgm:t>
        <a:bodyPr/>
        <a:lstStyle/>
        <a:p>
          <a:r>
            <a:rPr lang="en-GB"/>
            <a:t>Built partly on HWHL goals; prevention‑oriented, focusing on changing lifestyles, diet and activity at family level.</a:t>
          </a:r>
          <a:endParaRPr lang="en-US"/>
        </a:p>
      </dgm:t>
    </dgm:pt>
    <dgm:pt modelId="{E36EC0E3-00A3-4016-A6F4-3C4E87AE2F81}" type="parTrans" cxnId="{CC70A3C0-4E64-4C02-BB0A-31903ABE0E6A}">
      <dgm:prSet/>
      <dgm:spPr/>
      <dgm:t>
        <a:bodyPr/>
        <a:lstStyle/>
        <a:p>
          <a:endParaRPr lang="en-US"/>
        </a:p>
      </dgm:t>
    </dgm:pt>
    <dgm:pt modelId="{2178FCBB-2536-422C-A818-2444DBBED040}" type="sibTrans" cxnId="{CC70A3C0-4E64-4C02-BB0A-31903ABE0E6A}">
      <dgm:prSet/>
      <dgm:spPr/>
      <dgm:t>
        <a:bodyPr/>
        <a:lstStyle/>
        <a:p>
          <a:endParaRPr lang="en-US"/>
        </a:p>
      </dgm:t>
    </dgm:pt>
    <dgm:pt modelId="{C0E8E125-4C7C-4306-A40D-5E189D673258}">
      <dgm:prSet/>
      <dgm:spPr/>
      <dgm:t>
        <a:bodyPr/>
        <a:lstStyle/>
        <a:p>
          <a:r>
            <a:rPr lang="en-GB"/>
            <a:t>Target audience: families with children under 11 (expanded in later years).</a:t>
          </a:r>
          <a:endParaRPr lang="en-US"/>
        </a:p>
      </dgm:t>
    </dgm:pt>
    <dgm:pt modelId="{AB20941A-3142-48F7-81F2-396275A24250}" type="parTrans" cxnId="{3109FCC9-F2B4-4735-9B92-6D66156603CC}">
      <dgm:prSet/>
      <dgm:spPr/>
      <dgm:t>
        <a:bodyPr/>
        <a:lstStyle/>
        <a:p>
          <a:endParaRPr lang="en-US"/>
        </a:p>
      </dgm:t>
    </dgm:pt>
    <dgm:pt modelId="{72F596D9-2636-43F5-9EBA-42301E9FD0E7}" type="sibTrans" cxnId="{3109FCC9-F2B4-4735-9B92-6D66156603CC}">
      <dgm:prSet/>
      <dgm:spPr/>
      <dgm:t>
        <a:bodyPr/>
        <a:lstStyle/>
        <a:p>
          <a:endParaRPr lang="en-US"/>
        </a:p>
      </dgm:t>
    </dgm:pt>
    <dgm:pt modelId="{99261BAF-955A-41DE-82AE-712952C5941C}" type="pres">
      <dgm:prSet presAssocID="{737EC360-C23F-4798-AF59-EAD961A57B54}" presName="linear" presStyleCnt="0">
        <dgm:presLayoutVars>
          <dgm:animLvl val="lvl"/>
          <dgm:resizeHandles val="exact"/>
        </dgm:presLayoutVars>
      </dgm:prSet>
      <dgm:spPr/>
    </dgm:pt>
    <dgm:pt modelId="{0396F228-C2F8-4127-B0F9-5C624785838C}" type="pres">
      <dgm:prSet presAssocID="{72CF08E2-D758-4AEF-80B5-F7A477FDD10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FAAAB2D-5CC6-4BBF-8F09-6E5B4CDE182F}" type="pres">
      <dgm:prSet presAssocID="{B5037062-F5EF-431E-BEC8-850D92AE77B7}" presName="spacer" presStyleCnt="0"/>
      <dgm:spPr/>
    </dgm:pt>
    <dgm:pt modelId="{6E73797A-127E-43FA-BC7B-BB652997D564}" type="pres">
      <dgm:prSet presAssocID="{42D6B237-483F-40E0-91FB-EC7447C2BE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9D75994-DC9A-4452-B8DD-64F6694ACDAF}" type="pres">
      <dgm:prSet presAssocID="{2178FCBB-2536-422C-A818-2444DBBED040}" presName="spacer" presStyleCnt="0"/>
      <dgm:spPr/>
    </dgm:pt>
    <dgm:pt modelId="{40FEF69A-BE47-4053-BD31-348406AA55D0}" type="pres">
      <dgm:prSet presAssocID="{C0E8E125-4C7C-4306-A40D-5E189D67325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B29C202-2F06-4F99-A2BD-E2885823D39D}" type="presOf" srcId="{72CF08E2-D758-4AEF-80B5-F7A477FDD106}" destId="{0396F228-C2F8-4127-B0F9-5C624785838C}" srcOrd="0" destOrd="0" presId="urn:microsoft.com/office/officeart/2005/8/layout/vList2"/>
    <dgm:cxn modelId="{28A43153-D9B0-428D-A9FE-94139F067403}" type="presOf" srcId="{42D6B237-483F-40E0-91FB-EC7447C2BE07}" destId="{6E73797A-127E-43FA-BC7B-BB652997D564}" srcOrd="0" destOrd="0" presId="urn:microsoft.com/office/officeart/2005/8/layout/vList2"/>
    <dgm:cxn modelId="{4D6C3975-799C-4FA6-8DD1-BACC19472DCC}" type="presOf" srcId="{C0E8E125-4C7C-4306-A40D-5E189D673258}" destId="{40FEF69A-BE47-4053-BD31-348406AA55D0}" srcOrd="0" destOrd="0" presId="urn:microsoft.com/office/officeart/2005/8/layout/vList2"/>
    <dgm:cxn modelId="{2906048E-D296-4344-BDA8-35B6F298C003}" srcId="{737EC360-C23F-4798-AF59-EAD961A57B54}" destId="{72CF08E2-D758-4AEF-80B5-F7A477FDD106}" srcOrd="0" destOrd="0" parTransId="{8D0D3EEB-3022-4651-8F13-0957C48E149B}" sibTransId="{B5037062-F5EF-431E-BEC8-850D92AE77B7}"/>
    <dgm:cxn modelId="{51F27796-055E-4D7F-A61B-73A430782492}" type="presOf" srcId="{737EC360-C23F-4798-AF59-EAD961A57B54}" destId="{99261BAF-955A-41DE-82AE-712952C5941C}" srcOrd="0" destOrd="0" presId="urn:microsoft.com/office/officeart/2005/8/layout/vList2"/>
    <dgm:cxn modelId="{CC70A3C0-4E64-4C02-BB0A-31903ABE0E6A}" srcId="{737EC360-C23F-4798-AF59-EAD961A57B54}" destId="{42D6B237-483F-40E0-91FB-EC7447C2BE07}" srcOrd="1" destOrd="0" parTransId="{E36EC0E3-00A3-4016-A6F4-3C4E87AE2F81}" sibTransId="{2178FCBB-2536-422C-A818-2444DBBED040}"/>
    <dgm:cxn modelId="{3109FCC9-F2B4-4735-9B92-6D66156603CC}" srcId="{737EC360-C23F-4798-AF59-EAD961A57B54}" destId="{C0E8E125-4C7C-4306-A40D-5E189D673258}" srcOrd="2" destOrd="0" parTransId="{AB20941A-3142-48F7-81F2-396275A24250}" sibTransId="{72F596D9-2636-43F5-9EBA-42301E9FD0E7}"/>
    <dgm:cxn modelId="{40B306E8-11FD-4448-B002-462F61E58564}" type="presParOf" srcId="{99261BAF-955A-41DE-82AE-712952C5941C}" destId="{0396F228-C2F8-4127-B0F9-5C624785838C}" srcOrd="0" destOrd="0" presId="urn:microsoft.com/office/officeart/2005/8/layout/vList2"/>
    <dgm:cxn modelId="{B7A819B1-0D8E-4DFC-B8DD-83A42304DA0B}" type="presParOf" srcId="{99261BAF-955A-41DE-82AE-712952C5941C}" destId="{6FAAAB2D-5CC6-4BBF-8F09-6E5B4CDE182F}" srcOrd="1" destOrd="0" presId="urn:microsoft.com/office/officeart/2005/8/layout/vList2"/>
    <dgm:cxn modelId="{0BDACF5B-8CAA-4640-AEC0-ECEAB55B4229}" type="presParOf" srcId="{99261BAF-955A-41DE-82AE-712952C5941C}" destId="{6E73797A-127E-43FA-BC7B-BB652997D564}" srcOrd="2" destOrd="0" presId="urn:microsoft.com/office/officeart/2005/8/layout/vList2"/>
    <dgm:cxn modelId="{BA07EFB3-EDB6-44C9-ACE1-4416859146D4}" type="presParOf" srcId="{99261BAF-955A-41DE-82AE-712952C5941C}" destId="{D9D75994-DC9A-4452-B8DD-64F6694ACDAF}" srcOrd="3" destOrd="0" presId="urn:microsoft.com/office/officeart/2005/8/layout/vList2"/>
    <dgm:cxn modelId="{57E2B1F5-282C-47DA-972E-70A9EF62443D}" type="presParOf" srcId="{99261BAF-955A-41DE-82AE-712952C5941C}" destId="{40FEF69A-BE47-4053-BD31-348406AA55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A34F2D-BAD7-47CA-8750-C7AD988E508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7E7F25-9B84-41BC-9084-7FC3B35745ED}">
      <dgm:prSet/>
      <dgm:spPr/>
      <dgm:t>
        <a:bodyPr/>
        <a:lstStyle/>
        <a:p>
          <a:r>
            <a:rPr lang="en-GB"/>
            <a:t>New NCMP data showed obesity prevalence in Reception and Year 6 remained high.</a:t>
          </a:r>
          <a:endParaRPr lang="en-US"/>
        </a:p>
      </dgm:t>
    </dgm:pt>
    <dgm:pt modelId="{2D0F17BB-E4B2-4A0A-8055-939C36C17E5D}" type="parTrans" cxnId="{B5915459-7FFC-485B-86D3-B88BC4D321B7}">
      <dgm:prSet/>
      <dgm:spPr/>
      <dgm:t>
        <a:bodyPr/>
        <a:lstStyle/>
        <a:p>
          <a:endParaRPr lang="en-US"/>
        </a:p>
      </dgm:t>
    </dgm:pt>
    <dgm:pt modelId="{334F284B-5449-4F14-9A69-9A7D2F552A78}" type="sibTrans" cxnId="{B5915459-7FFC-485B-86D3-B88BC4D321B7}">
      <dgm:prSet/>
      <dgm:spPr/>
      <dgm:t>
        <a:bodyPr/>
        <a:lstStyle/>
        <a:p>
          <a:endParaRPr lang="en-US"/>
        </a:p>
      </dgm:t>
    </dgm:pt>
    <dgm:pt modelId="{93345487-375C-4DCB-A9F8-1BBF833CD1D9}">
      <dgm:prSet/>
      <dgm:spPr/>
      <dgm:t>
        <a:bodyPr/>
        <a:lstStyle/>
        <a:p>
          <a:r>
            <a:rPr lang="en-GB"/>
            <a:t>Increased disparities by ethnicity and deprivation.</a:t>
          </a:r>
          <a:endParaRPr lang="en-US"/>
        </a:p>
      </dgm:t>
    </dgm:pt>
    <dgm:pt modelId="{8B1A25BD-0A68-4770-B6FA-97C8FD65B484}" type="parTrans" cxnId="{681D41EA-2872-4AF4-95C1-688E5E4557ED}">
      <dgm:prSet/>
      <dgm:spPr/>
      <dgm:t>
        <a:bodyPr/>
        <a:lstStyle/>
        <a:p>
          <a:endParaRPr lang="en-US"/>
        </a:p>
      </dgm:t>
    </dgm:pt>
    <dgm:pt modelId="{C3E2CADF-E25B-4064-B564-FDD0F0A44F2E}" type="sibTrans" cxnId="{681D41EA-2872-4AF4-95C1-688E5E4557ED}">
      <dgm:prSet/>
      <dgm:spPr/>
      <dgm:t>
        <a:bodyPr/>
        <a:lstStyle/>
        <a:p>
          <a:endParaRPr lang="en-US"/>
        </a:p>
      </dgm:t>
    </dgm:pt>
    <dgm:pt modelId="{DDDBD223-CFC2-476B-B34C-1B2FF42A074B}" type="pres">
      <dgm:prSet presAssocID="{D6A34F2D-BAD7-47CA-8750-C7AD988E508A}" presName="vert0" presStyleCnt="0">
        <dgm:presLayoutVars>
          <dgm:dir/>
          <dgm:animOne val="branch"/>
          <dgm:animLvl val="lvl"/>
        </dgm:presLayoutVars>
      </dgm:prSet>
      <dgm:spPr/>
    </dgm:pt>
    <dgm:pt modelId="{72C9CE59-9236-4BA2-8878-E852B13DF188}" type="pres">
      <dgm:prSet presAssocID="{FE7E7F25-9B84-41BC-9084-7FC3B35745ED}" presName="thickLine" presStyleLbl="alignNode1" presStyleIdx="0" presStyleCnt="2"/>
      <dgm:spPr/>
    </dgm:pt>
    <dgm:pt modelId="{CD1AA6AD-9FDC-4293-AE4F-29F8B781EA6D}" type="pres">
      <dgm:prSet presAssocID="{FE7E7F25-9B84-41BC-9084-7FC3B35745ED}" presName="horz1" presStyleCnt="0"/>
      <dgm:spPr/>
    </dgm:pt>
    <dgm:pt modelId="{F55535EB-CEE4-4090-B5FB-741AB25FF171}" type="pres">
      <dgm:prSet presAssocID="{FE7E7F25-9B84-41BC-9084-7FC3B35745ED}" presName="tx1" presStyleLbl="revTx" presStyleIdx="0" presStyleCnt="2"/>
      <dgm:spPr/>
    </dgm:pt>
    <dgm:pt modelId="{88206C20-E0C7-4F41-986D-A6F365156CA9}" type="pres">
      <dgm:prSet presAssocID="{FE7E7F25-9B84-41BC-9084-7FC3B35745ED}" presName="vert1" presStyleCnt="0"/>
      <dgm:spPr/>
    </dgm:pt>
    <dgm:pt modelId="{F82F2501-A353-4204-B32F-DAA09625858A}" type="pres">
      <dgm:prSet presAssocID="{93345487-375C-4DCB-A9F8-1BBF833CD1D9}" presName="thickLine" presStyleLbl="alignNode1" presStyleIdx="1" presStyleCnt="2"/>
      <dgm:spPr/>
    </dgm:pt>
    <dgm:pt modelId="{FA4FFC7D-7AD9-4B13-AC22-88E0FFB2ED6F}" type="pres">
      <dgm:prSet presAssocID="{93345487-375C-4DCB-A9F8-1BBF833CD1D9}" presName="horz1" presStyleCnt="0"/>
      <dgm:spPr/>
    </dgm:pt>
    <dgm:pt modelId="{E0D76384-0C85-4C7B-89DF-94B2DE0B71EA}" type="pres">
      <dgm:prSet presAssocID="{93345487-375C-4DCB-A9F8-1BBF833CD1D9}" presName="tx1" presStyleLbl="revTx" presStyleIdx="1" presStyleCnt="2"/>
      <dgm:spPr/>
    </dgm:pt>
    <dgm:pt modelId="{3B19B9FC-FA2E-42AE-AD3B-F7593E9C3D60}" type="pres">
      <dgm:prSet presAssocID="{93345487-375C-4DCB-A9F8-1BBF833CD1D9}" presName="vert1" presStyleCnt="0"/>
      <dgm:spPr/>
    </dgm:pt>
  </dgm:ptLst>
  <dgm:cxnLst>
    <dgm:cxn modelId="{7FB21D29-8CAA-43C8-B8D3-6EC8D8B7D71C}" type="presOf" srcId="{FE7E7F25-9B84-41BC-9084-7FC3B35745ED}" destId="{F55535EB-CEE4-4090-B5FB-741AB25FF171}" srcOrd="0" destOrd="0" presId="urn:microsoft.com/office/officeart/2008/layout/LinedList"/>
    <dgm:cxn modelId="{80C1D750-A144-46A9-A11D-1F742F1815EF}" type="presOf" srcId="{93345487-375C-4DCB-A9F8-1BBF833CD1D9}" destId="{E0D76384-0C85-4C7B-89DF-94B2DE0B71EA}" srcOrd="0" destOrd="0" presId="urn:microsoft.com/office/officeart/2008/layout/LinedList"/>
    <dgm:cxn modelId="{CDED2674-3342-441F-BA73-9A6EBECBE541}" type="presOf" srcId="{D6A34F2D-BAD7-47CA-8750-C7AD988E508A}" destId="{DDDBD223-CFC2-476B-B34C-1B2FF42A074B}" srcOrd="0" destOrd="0" presId="urn:microsoft.com/office/officeart/2008/layout/LinedList"/>
    <dgm:cxn modelId="{B5915459-7FFC-485B-86D3-B88BC4D321B7}" srcId="{D6A34F2D-BAD7-47CA-8750-C7AD988E508A}" destId="{FE7E7F25-9B84-41BC-9084-7FC3B35745ED}" srcOrd="0" destOrd="0" parTransId="{2D0F17BB-E4B2-4A0A-8055-939C36C17E5D}" sibTransId="{334F284B-5449-4F14-9A69-9A7D2F552A78}"/>
    <dgm:cxn modelId="{681D41EA-2872-4AF4-95C1-688E5E4557ED}" srcId="{D6A34F2D-BAD7-47CA-8750-C7AD988E508A}" destId="{93345487-375C-4DCB-A9F8-1BBF833CD1D9}" srcOrd="1" destOrd="0" parTransId="{8B1A25BD-0A68-4770-B6FA-97C8FD65B484}" sibTransId="{C3E2CADF-E25B-4064-B564-FDD0F0A44F2E}"/>
    <dgm:cxn modelId="{33AD19A5-70CC-4385-99CE-CAE26759D33B}" type="presParOf" srcId="{DDDBD223-CFC2-476B-B34C-1B2FF42A074B}" destId="{72C9CE59-9236-4BA2-8878-E852B13DF188}" srcOrd="0" destOrd="0" presId="urn:microsoft.com/office/officeart/2008/layout/LinedList"/>
    <dgm:cxn modelId="{DA8606A1-E215-4DDC-9911-D64769C4F450}" type="presParOf" srcId="{DDDBD223-CFC2-476B-B34C-1B2FF42A074B}" destId="{CD1AA6AD-9FDC-4293-AE4F-29F8B781EA6D}" srcOrd="1" destOrd="0" presId="urn:microsoft.com/office/officeart/2008/layout/LinedList"/>
    <dgm:cxn modelId="{0CEE03B6-8B36-4FEC-9B8A-46FBBBF9DCFE}" type="presParOf" srcId="{CD1AA6AD-9FDC-4293-AE4F-29F8B781EA6D}" destId="{F55535EB-CEE4-4090-B5FB-741AB25FF171}" srcOrd="0" destOrd="0" presId="urn:microsoft.com/office/officeart/2008/layout/LinedList"/>
    <dgm:cxn modelId="{8A839FFE-5F62-4D33-8FC3-D294D1740AE1}" type="presParOf" srcId="{CD1AA6AD-9FDC-4293-AE4F-29F8B781EA6D}" destId="{88206C20-E0C7-4F41-986D-A6F365156CA9}" srcOrd="1" destOrd="0" presId="urn:microsoft.com/office/officeart/2008/layout/LinedList"/>
    <dgm:cxn modelId="{626EFA4F-E03C-4F8C-9E44-AE31F2AA939C}" type="presParOf" srcId="{DDDBD223-CFC2-476B-B34C-1B2FF42A074B}" destId="{F82F2501-A353-4204-B32F-DAA09625858A}" srcOrd="2" destOrd="0" presId="urn:microsoft.com/office/officeart/2008/layout/LinedList"/>
    <dgm:cxn modelId="{96AEF1EC-C3D0-49FD-B1A6-A59151DAAD42}" type="presParOf" srcId="{DDDBD223-CFC2-476B-B34C-1B2FF42A074B}" destId="{FA4FFC7D-7AD9-4B13-AC22-88E0FFB2ED6F}" srcOrd="3" destOrd="0" presId="urn:microsoft.com/office/officeart/2008/layout/LinedList"/>
    <dgm:cxn modelId="{6D300013-E41F-48E4-9787-51A09D090ADE}" type="presParOf" srcId="{FA4FFC7D-7AD9-4B13-AC22-88E0FFB2ED6F}" destId="{E0D76384-0C85-4C7B-89DF-94B2DE0B71EA}" srcOrd="0" destOrd="0" presId="urn:microsoft.com/office/officeart/2008/layout/LinedList"/>
    <dgm:cxn modelId="{509D2B18-8995-45FD-93CA-767783DA4DCD}" type="presParOf" srcId="{FA4FFC7D-7AD9-4B13-AC22-88E0FFB2ED6F}" destId="{3B19B9FC-FA2E-42AE-AD3B-F7593E9C3D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6E25D1-89A7-480F-AA4D-38C73385937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E25BEF-01BF-4993-A369-84BD94241359}">
      <dgm:prSet/>
      <dgm:spPr/>
      <dgm:t>
        <a:bodyPr/>
        <a:lstStyle/>
        <a:p>
          <a:r>
            <a:rPr lang="en-GB"/>
            <a:t>Restrictions on junk‑food advertising and high‑caffeine energy drinks.</a:t>
          </a:r>
          <a:endParaRPr lang="en-US"/>
        </a:p>
      </dgm:t>
    </dgm:pt>
    <dgm:pt modelId="{24F7F173-4369-401D-ADB9-FDC641A0223E}" type="parTrans" cxnId="{0CBA284D-94B9-4295-8632-73C1F9A51D1D}">
      <dgm:prSet/>
      <dgm:spPr/>
      <dgm:t>
        <a:bodyPr/>
        <a:lstStyle/>
        <a:p>
          <a:endParaRPr lang="en-US"/>
        </a:p>
      </dgm:t>
    </dgm:pt>
    <dgm:pt modelId="{BF0CD76F-0E78-4376-9D69-E2A882D73531}" type="sibTrans" cxnId="{0CBA284D-94B9-4295-8632-73C1F9A51D1D}">
      <dgm:prSet/>
      <dgm:spPr/>
      <dgm:t>
        <a:bodyPr/>
        <a:lstStyle/>
        <a:p>
          <a:endParaRPr lang="en-US"/>
        </a:p>
      </dgm:t>
    </dgm:pt>
    <dgm:pt modelId="{E288683A-A65B-4576-A44F-EB9A9500C965}">
      <dgm:prSet/>
      <dgm:spPr/>
      <dgm:t>
        <a:bodyPr/>
        <a:lstStyle/>
        <a:p>
          <a:r>
            <a:rPr lang="en-GB"/>
            <a:t>Expansion of free school meals and universal free breakfast clubs.</a:t>
          </a:r>
          <a:endParaRPr lang="en-US"/>
        </a:p>
      </dgm:t>
    </dgm:pt>
    <dgm:pt modelId="{0FCA6901-38BF-46A6-9ECE-EC169C590081}" type="parTrans" cxnId="{EF4C4A57-69CA-4FF9-8AEE-53B23CAC02EC}">
      <dgm:prSet/>
      <dgm:spPr/>
      <dgm:t>
        <a:bodyPr/>
        <a:lstStyle/>
        <a:p>
          <a:endParaRPr lang="en-US"/>
        </a:p>
      </dgm:t>
    </dgm:pt>
    <dgm:pt modelId="{4C902389-4176-4ADE-BA6B-796427088AA3}" type="sibTrans" cxnId="{EF4C4A57-69CA-4FF9-8AEE-53B23CAC02EC}">
      <dgm:prSet/>
      <dgm:spPr/>
      <dgm:t>
        <a:bodyPr/>
        <a:lstStyle/>
        <a:p>
          <a:endParaRPr lang="en-US"/>
        </a:p>
      </dgm:t>
    </dgm:pt>
    <dgm:pt modelId="{0648D779-D9CB-49FD-8EC3-A0709FFA3452}">
      <dgm:prSet/>
      <dgm:spPr/>
      <dgm:t>
        <a:bodyPr/>
        <a:lstStyle/>
        <a:p>
          <a:r>
            <a:rPr lang="en-GB"/>
            <a:t>Aim: reverse childhood obesity trends and reduce inequality gaps.</a:t>
          </a:r>
          <a:endParaRPr lang="en-US"/>
        </a:p>
      </dgm:t>
    </dgm:pt>
    <dgm:pt modelId="{BFF1C9DD-1919-4A56-8365-597343DA9839}" type="parTrans" cxnId="{58E069E5-AD2C-41CF-9311-AF9F931531E7}">
      <dgm:prSet/>
      <dgm:spPr/>
      <dgm:t>
        <a:bodyPr/>
        <a:lstStyle/>
        <a:p>
          <a:endParaRPr lang="en-US"/>
        </a:p>
      </dgm:t>
    </dgm:pt>
    <dgm:pt modelId="{EA53C228-0175-4C2B-8F08-9EB06F05CA62}" type="sibTrans" cxnId="{58E069E5-AD2C-41CF-9311-AF9F931531E7}">
      <dgm:prSet/>
      <dgm:spPr/>
      <dgm:t>
        <a:bodyPr/>
        <a:lstStyle/>
        <a:p>
          <a:endParaRPr lang="en-US"/>
        </a:p>
      </dgm:t>
    </dgm:pt>
    <dgm:pt modelId="{4C0FADC0-E0DE-444A-913C-03E6200E977D}" type="pres">
      <dgm:prSet presAssocID="{E16E25D1-89A7-480F-AA4D-38C73385937F}" presName="vert0" presStyleCnt="0">
        <dgm:presLayoutVars>
          <dgm:dir/>
          <dgm:animOne val="branch"/>
          <dgm:animLvl val="lvl"/>
        </dgm:presLayoutVars>
      </dgm:prSet>
      <dgm:spPr/>
    </dgm:pt>
    <dgm:pt modelId="{586315CF-030F-4D0E-8624-9A3DA98F8DE2}" type="pres">
      <dgm:prSet presAssocID="{D9E25BEF-01BF-4993-A369-84BD94241359}" presName="thickLine" presStyleLbl="alignNode1" presStyleIdx="0" presStyleCnt="3"/>
      <dgm:spPr/>
    </dgm:pt>
    <dgm:pt modelId="{4302FE0D-A807-45DF-B8F6-AD1007066C0B}" type="pres">
      <dgm:prSet presAssocID="{D9E25BEF-01BF-4993-A369-84BD94241359}" presName="horz1" presStyleCnt="0"/>
      <dgm:spPr/>
    </dgm:pt>
    <dgm:pt modelId="{550DBA7A-359D-4233-8568-CBE7134C1C7D}" type="pres">
      <dgm:prSet presAssocID="{D9E25BEF-01BF-4993-A369-84BD94241359}" presName="tx1" presStyleLbl="revTx" presStyleIdx="0" presStyleCnt="3"/>
      <dgm:spPr/>
    </dgm:pt>
    <dgm:pt modelId="{408244F4-0C66-4C53-A264-234FA2B26A25}" type="pres">
      <dgm:prSet presAssocID="{D9E25BEF-01BF-4993-A369-84BD94241359}" presName="vert1" presStyleCnt="0"/>
      <dgm:spPr/>
    </dgm:pt>
    <dgm:pt modelId="{31D9C7A2-8F2C-4E75-9582-04946A5773AB}" type="pres">
      <dgm:prSet presAssocID="{E288683A-A65B-4576-A44F-EB9A9500C965}" presName="thickLine" presStyleLbl="alignNode1" presStyleIdx="1" presStyleCnt="3"/>
      <dgm:spPr/>
    </dgm:pt>
    <dgm:pt modelId="{0C380C8D-59DA-496A-96AD-6180DC150718}" type="pres">
      <dgm:prSet presAssocID="{E288683A-A65B-4576-A44F-EB9A9500C965}" presName="horz1" presStyleCnt="0"/>
      <dgm:spPr/>
    </dgm:pt>
    <dgm:pt modelId="{6CBADDBF-BB0A-4663-AEDA-1B3129AE9019}" type="pres">
      <dgm:prSet presAssocID="{E288683A-A65B-4576-A44F-EB9A9500C965}" presName="tx1" presStyleLbl="revTx" presStyleIdx="1" presStyleCnt="3"/>
      <dgm:spPr/>
    </dgm:pt>
    <dgm:pt modelId="{A029B64C-AB6D-40E0-AB73-C95E9568714B}" type="pres">
      <dgm:prSet presAssocID="{E288683A-A65B-4576-A44F-EB9A9500C965}" presName="vert1" presStyleCnt="0"/>
      <dgm:spPr/>
    </dgm:pt>
    <dgm:pt modelId="{02543181-4429-4F9F-9E91-1629D6B36CA2}" type="pres">
      <dgm:prSet presAssocID="{0648D779-D9CB-49FD-8EC3-A0709FFA3452}" presName="thickLine" presStyleLbl="alignNode1" presStyleIdx="2" presStyleCnt="3"/>
      <dgm:spPr/>
    </dgm:pt>
    <dgm:pt modelId="{DA96EA45-F5CE-484F-BE5A-D6A4C28CBE8C}" type="pres">
      <dgm:prSet presAssocID="{0648D779-D9CB-49FD-8EC3-A0709FFA3452}" presName="horz1" presStyleCnt="0"/>
      <dgm:spPr/>
    </dgm:pt>
    <dgm:pt modelId="{3FE7F4B7-9A52-4762-BF2F-5A8373B5A10E}" type="pres">
      <dgm:prSet presAssocID="{0648D779-D9CB-49FD-8EC3-A0709FFA3452}" presName="tx1" presStyleLbl="revTx" presStyleIdx="2" presStyleCnt="3"/>
      <dgm:spPr/>
    </dgm:pt>
    <dgm:pt modelId="{F0BEEB9B-1D79-4A2B-AC0D-DDD9B7F779DF}" type="pres">
      <dgm:prSet presAssocID="{0648D779-D9CB-49FD-8EC3-A0709FFA3452}" presName="vert1" presStyleCnt="0"/>
      <dgm:spPr/>
    </dgm:pt>
  </dgm:ptLst>
  <dgm:cxnLst>
    <dgm:cxn modelId="{0CBA284D-94B9-4295-8632-73C1F9A51D1D}" srcId="{E16E25D1-89A7-480F-AA4D-38C73385937F}" destId="{D9E25BEF-01BF-4993-A369-84BD94241359}" srcOrd="0" destOrd="0" parTransId="{24F7F173-4369-401D-ADB9-FDC641A0223E}" sibTransId="{BF0CD76F-0E78-4376-9D69-E2A882D73531}"/>
    <dgm:cxn modelId="{D328D351-4FE5-437B-91FD-A8237FCB9E12}" type="presOf" srcId="{D9E25BEF-01BF-4993-A369-84BD94241359}" destId="{550DBA7A-359D-4233-8568-CBE7134C1C7D}" srcOrd="0" destOrd="0" presId="urn:microsoft.com/office/officeart/2008/layout/LinedList"/>
    <dgm:cxn modelId="{EF4C4A57-69CA-4FF9-8AEE-53B23CAC02EC}" srcId="{E16E25D1-89A7-480F-AA4D-38C73385937F}" destId="{E288683A-A65B-4576-A44F-EB9A9500C965}" srcOrd="1" destOrd="0" parTransId="{0FCA6901-38BF-46A6-9ECE-EC169C590081}" sibTransId="{4C902389-4176-4ADE-BA6B-796427088AA3}"/>
    <dgm:cxn modelId="{6CB669AF-0FBE-441B-AF82-1770DBCA5E74}" type="presOf" srcId="{E16E25D1-89A7-480F-AA4D-38C73385937F}" destId="{4C0FADC0-E0DE-444A-913C-03E6200E977D}" srcOrd="0" destOrd="0" presId="urn:microsoft.com/office/officeart/2008/layout/LinedList"/>
    <dgm:cxn modelId="{BF135FD3-0BD0-415E-941C-1B6939B85E41}" type="presOf" srcId="{0648D779-D9CB-49FD-8EC3-A0709FFA3452}" destId="{3FE7F4B7-9A52-4762-BF2F-5A8373B5A10E}" srcOrd="0" destOrd="0" presId="urn:microsoft.com/office/officeart/2008/layout/LinedList"/>
    <dgm:cxn modelId="{58E069E5-AD2C-41CF-9311-AF9F931531E7}" srcId="{E16E25D1-89A7-480F-AA4D-38C73385937F}" destId="{0648D779-D9CB-49FD-8EC3-A0709FFA3452}" srcOrd="2" destOrd="0" parTransId="{BFF1C9DD-1919-4A56-8365-597343DA9839}" sibTransId="{EA53C228-0175-4C2B-8F08-9EB06F05CA62}"/>
    <dgm:cxn modelId="{1A2436E7-2B42-4D25-91EE-264FCFC3343A}" type="presOf" srcId="{E288683A-A65B-4576-A44F-EB9A9500C965}" destId="{6CBADDBF-BB0A-4663-AEDA-1B3129AE9019}" srcOrd="0" destOrd="0" presId="urn:microsoft.com/office/officeart/2008/layout/LinedList"/>
    <dgm:cxn modelId="{E09258DE-4656-4FB3-ABB0-1D778907BD75}" type="presParOf" srcId="{4C0FADC0-E0DE-444A-913C-03E6200E977D}" destId="{586315CF-030F-4D0E-8624-9A3DA98F8DE2}" srcOrd="0" destOrd="0" presId="urn:microsoft.com/office/officeart/2008/layout/LinedList"/>
    <dgm:cxn modelId="{C13AB226-D885-4C50-B198-F0A1C4E42961}" type="presParOf" srcId="{4C0FADC0-E0DE-444A-913C-03E6200E977D}" destId="{4302FE0D-A807-45DF-B8F6-AD1007066C0B}" srcOrd="1" destOrd="0" presId="urn:microsoft.com/office/officeart/2008/layout/LinedList"/>
    <dgm:cxn modelId="{5B4635FD-1A29-47FF-9442-042EF135D1B8}" type="presParOf" srcId="{4302FE0D-A807-45DF-B8F6-AD1007066C0B}" destId="{550DBA7A-359D-4233-8568-CBE7134C1C7D}" srcOrd="0" destOrd="0" presId="urn:microsoft.com/office/officeart/2008/layout/LinedList"/>
    <dgm:cxn modelId="{05A58783-A641-4473-B57C-708B97061904}" type="presParOf" srcId="{4302FE0D-A807-45DF-B8F6-AD1007066C0B}" destId="{408244F4-0C66-4C53-A264-234FA2B26A25}" srcOrd="1" destOrd="0" presId="urn:microsoft.com/office/officeart/2008/layout/LinedList"/>
    <dgm:cxn modelId="{585BDF99-EAB6-4004-B750-24CA7072936C}" type="presParOf" srcId="{4C0FADC0-E0DE-444A-913C-03E6200E977D}" destId="{31D9C7A2-8F2C-4E75-9582-04946A5773AB}" srcOrd="2" destOrd="0" presId="urn:microsoft.com/office/officeart/2008/layout/LinedList"/>
    <dgm:cxn modelId="{8D5DDCCF-FD17-419D-ABD2-CBDAB2BEBF5A}" type="presParOf" srcId="{4C0FADC0-E0DE-444A-913C-03E6200E977D}" destId="{0C380C8D-59DA-496A-96AD-6180DC150718}" srcOrd="3" destOrd="0" presId="urn:microsoft.com/office/officeart/2008/layout/LinedList"/>
    <dgm:cxn modelId="{EDDB0258-7902-4C82-914A-6E1E47474222}" type="presParOf" srcId="{0C380C8D-59DA-496A-96AD-6180DC150718}" destId="{6CBADDBF-BB0A-4663-AEDA-1B3129AE9019}" srcOrd="0" destOrd="0" presId="urn:microsoft.com/office/officeart/2008/layout/LinedList"/>
    <dgm:cxn modelId="{03D3CC4D-9C5B-4287-8C17-095FA26FBDC2}" type="presParOf" srcId="{0C380C8D-59DA-496A-96AD-6180DC150718}" destId="{A029B64C-AB6D-40E0-AB73-C95E9568714B}" srcOrd="1" destOrd="0" presId="urn:microsoft.com/office/officeart/2008/layout/LinedList"/>
    <dgm:cxn modelId="{335D3489-526E-4737-8446-516A45212A35}" type="presParOf" srcId="{4C0FADC0-E0DE-444A-913C-03E6200E977D}" destId="{02543181-4429-4F9F-9E91-1629D6B36CA2}" srcOrd="4" destOrd="0" presId="urn:microsoft.com/office/officeart/2008/layout/LinedList"/>
    <dgm:cxn modelId="{1715A1EC-5422-4E69-A392-551461DDD8EC}" type="presParOf" srcId="{4C0FADC0-E0DE-444A-913C-03E6200E977D}" destId="{DA96EA45-F5CE-484F-BE5A-D6A4C28CBE8C}" srcOrd="5" destOrd="0" presId="urn:microsoft.com/office/officeart/2008/layout/LinedList"/>
    <dgm:cxn modelId="{36FAE56B-71C1-453B-B934-9ADB70DC1F73}" type="presParOf" srcId="{DA96EA45-F5CE-484F-BE5A-D6A4C28CBE8C}" destId="{3FE7F4B7-9A52-4762-BF2F-5A8373B5A10E}" srcOrd="0" destOrd="0" presId="urn:microsoft.com/office/officeart/2008/layout/LinedList"/>
    <dgm:cxn modelId="{DBCA30C0-CCED-448E-B1D3-9CD35242269A}" type="presParOf" srcId="{DA96EA45-F5CE-484F-BE5A-D6A4C28CBE8C}" destId="{F0BEEB9B-1D79-4A2B-AC0D-DDD9B7F779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6F228-C2F8-4127-B0F9-5C624785838C}">
      <dsp:nvSpPr>
        <dsp:cNvPr id="0" name=""/>
        <dsp:cNvSpPr/>
      </dsp:nvSpPr>
      <dsp:spPr>
        <a:xfrm>
          <a:off x="0" y="38246"/>
          <a:ext cx="4697730" cy="176139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Launched as England’s </a:t>
          </a:r>
          <a:r>
            <a:rPr lang="en-GB" sz="2500" b="1" kern="1200"/>
            <a:t>first national social marketing campaign</a:t>
          </a:r>
          <a:r>
            <a:rPr lang="en-GB" sz="2500" kern="1200"/>
            <a:t> to reduce obesity.</a:t>
          </a:r>
          <a:endParaRPr lang="en-US" sz="2500" kern="1200"/>
        </a:p>
      </dsp:txBody>
      <dsp:txXfrm>
        <a:off x="85984" y="124230"/>
        <a:ext cx="4525762" cy="1589430"/>
      </dsp:txXfrm>
    </dsp:sp>
    <dsp:sp modelId="{6E73797A-127E-43FA-BC7B-BB652997D564}">
      <dsp:nvSpPr>
        <dsp:cNvPr id="0" name=""/>
        <dsp:cNvSpPr/>
      </dsp:nvSpPr>
      <dsp:spPr>
        <a:xfrm>
          <a:off x="0" y="1871644"/>
          <a:ext cx="4697730" cy="176139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Built partly on HWHL goals; prevention‑oriented, focusing on changing lifestyles, diet and activity at family level.</a:t>
          </a:r>
          <a:endParaRPr lang="en-US" sz="2500" kern="1200"/>
        </a:p>
      </dsp:txBody>
      <dsp:txXfrm>
        <a:off x="85984" y="1957628"/>
        <a:ext cx="4525762" cy="1589430"/>
      </dsp:txXfrm>
    </dsp:sp>
    <dsp:sp modelId="{40FEF69A-BE47-4053-BD31-348406AA55D0}">
      <dsp:nvSpPr>
        <dsp:cNvPr id="0" name=""/>
        <dsp:cNvSpPr/>
      </dsp:nvSpPr>
      <dsp:spPr>
        <a:xfrm>
          <a:off x="0" y="3705043"/>
          <a:ext cx="4697730" cy="176139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Target audience: families with children under 11 (expanded in later years).</a:t>
          </a:r>
          <a:endParaRPr lang="en-US" sz="2500" kern="1200"/>
        </a:p>
      </dsp:txBody>
      <dsp:txXfrm>
        <a:off x="85984" y="3791027"/>
        <a:ext cx="4525762" cy="15894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9CE59-9236-4BA2-8878-E852B13DF188}">
      <dsp:nvSpPr>
        <dsp:cNvPr id="0" name=""/>
        <dsp:cNvSpPr/>
      </dsp:nvSpPr>
      <dsp:spPr>
        <a:xfrm>
          <a:off x="0" y="0"/>
          <a:ext cx="5212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5535EB-CEE4-4090-B5FB-741AB25FF171}">
      <dsp:nvSpPr>
        <dsp:cNvPr id="0" name=""/>
        <dsp:cNvSpPr/>
      </dsp:nvSpPr>
      <dsp:spPr>
        <a:xfrm>
          <a:off x="0" y="0"/>
          <a:ext cx="5212080" cy="2169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New NCMP data showed obesity prevalence in Reception and Year 6 remained high.</a:t>
          </a:r>
          <a:endParaRPr lang="en-US" sz="3400" kern="1200"/>
        </a:p>
      </dsp:txBody>
      <dsp:txXfrm>
        <a:off x="0" y="0"/>
        <a:ext cx="5212080" cy="2169989"/>
      </dsp:txXfrm>
    </dsp:sp>
    <dsp:sp modelId="{F82F2501-A353-4204-B32F-DAA09625858A}">
      <dsp:nvSpPr>
        <dsp:cNvPr id="0" name=""/>
        <dsp:cNvSpPr/>
      </dsp:nvSpPr>
      <dsp:spPr>
        <a:xfrm>
          <a:off x="0" y="2169989"/>
          <a:ext cx="521208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76384-0C85-4C7B-89DF-94B2DE0B71EA}">
      <dsp:nvSpPr>
        <dsp:cNvPr id="0" name=""/>
        <dsp:cNvSpPr/>
      </dsp:nvSpPr>
      <dsp:spPr>
        <a:xfrm>
          <a:off x="0" y="2169989"/>
          <a:ext cx="5212080" cy="2169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Increased disparities by ethnicity and deprivation.</a:t>
          </a:r>
          <a:endParaRPr lang="en-US" sz="3400" kern="1200"/>
        </a:p>
      </dsp:txBody>
      <dsp:txXfrm>
        <a:off x="0" y="2169989"/>
        <a:ext cx="5212080" cy="2169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315CF-030F-4D0E-8624-9A3DA98F8DE2}">
      <dsp:nvSpPr>
        <dsp:cNvPr id="0" name=""/>
        <dsp:cNvSpPr/>
      </dsp:nvSpPr>
      <dsp:spPr>
        <a:xfrm>
          <a:off x="0" y="2119"/>
          <a:ext cx="521208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DBA7A-359D-4233-8568-CBE7134C1C7D}">
      <dsp:nvSpPr>
        <dsp:cNvPr id="0" name=""/>
        <dsp:cNvSpPr/>
      </dsp:nvSpPr>
      <dsp:spPr>
        <a:xfrm>
          <a:off x="0" y="2119"/>
          <a:ext cx="5212080" cy="1445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Restrictions on junk‑food advertising and high‑caffeine energy drinks.</a:t>
          </a:r>
          <a:endParaRPr lang="en-US" sz="2900" kern="1200"/>
        </a:p>
      </dsp:txBody>
      <dsp:txXfrm>
        <a:off x="0" y="2119"/>
        <a:ext cx="5212080" cy="1445246"/>
      </dsp:txXfrm>
    </dsp:sp>
    <dsp:sp modelId="{31D9C7A2-8F2C-4E75-9582-04946A5773AB}">
      <dsp:nvSpPr>
        <dsp:cNvPr id="0" name=""/>
        <dsp:cNvSpPr/>
      </dsp:nvSpPr>
      <dsp:spPr>
        <a:xfrm>
          <a:off x="0" y="1447366"/>
          <a:ext cx="5212080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ADDBF-BB0A-4663-AEDA-1B3129AE9019}">
      <dsp:nvSpPr>
        <dsp:cNvPr id="0" name=""/>
        <dsp:cNvSpPr/>
      </dsp:nvSpPr>
      <dsp:spPr>
        <a:xfrm>
          <a:off x="0" y="1447366"/>
          <a:ext cx="5212080" cy="1445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Expansion of free school meals and universal free breakfast clubs.</a:t>
          </a:r>
          <a:endParaRPr lang="en-US" sz="2900" kern="1200"/>
        </a:p>
      </dsp:txBody>
      <dsp:txXfrm>
        <a:off x="0" y="1447366"/>
        <a:ext cx="5212080" cy="1445246"/>
      </dsp:txXfrm>
    </dsp:sp>
    <dsp:sp modelId="{02543181-4429-4F9F-9E91-1629D6B36CA2}">
      <dsp:nvSpPr>
        <dsp:cNvPr id="0" name=""/>
        <dsp:cNvSpPr/>
      </dsp:nvSpPr>
      <dsp:spPr>
        <a:xfrm>
          <a:off x="0" y="2892612"/>
          <a:ext cx="521208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7F4B7-9A52-4762-BF2F-5A8373B5A10E}">
      <dsp:nvSpPr>
        <dsp:cNvPr id="0" name=""/>
        <dsp:cNvSpPr/>
      </dsp:nvSpPr>
      <dsp:spPr>
        <a:xfrm>
          <a:off x="0" y="2892612"/>
          <a:ext cx="5212080" cy="1445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Aim: reverse childhood obesity trends and reduce inequality gaps.</a:t>
          </a:r>
          <a:endParaRPr lang="en-US" sz="2900" kern="1200"/>
        </a:p>
      </dsp:txBody>
      <dsp:txXfrm>
        <a:off x="0" y="2892612"/>
        <a:ext cx="5212080" cy="1445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7BF95-D55B-4054-AE8D-D5CF39FE8D6E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8C9C0-D720-4771-9EE0-3FEF05FE0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46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26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778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Funding: </a:t>
            </a:r>
            <a:r>
              <a:rPr lang="en-GB" b="1" dirty="0"/>
              <a:t>£372 million (2008–2011)</a:t>
            </a:r>
            <a:r>
              <a:rPr lang="en-GB" dirty="0"/>
              <a:t> to promote and maintain healthy weight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799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607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449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7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8C9C0-D720-4771-9EE0-3FEF05FE0687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8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ssets.publishing.service.gov.uk/media/5a759da7e5274a4368298a4f/07-1184x-tackling-obesities-future-choices-report.pdf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legislation.gov.uk/ukia/2008/9/pdfs/ukia_20080009_en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hyperlink" Target="https://www.healthyschools.org.uk/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7.svg"/><Relationship Id="rId7" Type="http://schemas.openxmlformats.org/officeDocument/2006/relationships/image" Target="../media/image3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9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hecarolinewalkertrust.org.uk/pdfs/Ev2008_carolynSummerbell.pdf" TargetMode="External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https:/www.nhs.uk/live-well/healthy-weight/start-the-nhs-weight-loss-plan/" TargetMode="External"/><Relationship Id="rId4" Type="http://schemas.openxmlformats.org/officeDocument/2006/relationships/image" Target="../media/image4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ustainweb.org/reports/the_irresponsibility_deal/" TargetMode="External"/><Relationship Id="rId4" Type="http://schemas.openxmlformats.org/officeDocument/2006/relationships/hyperlink" Target="https://www.gov.uk/government/news/public-health-responsibility-dea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publications/childhood-obesity-a-plan-for-action" TargetMode="Externa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society/2016/aug/18/childhood-obesity-strategy-not-even-an-e-for-effort" TargetMode="External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theguardian.com/commentisfree/2018/feb/11/the-guardian-view-on-childhood-obesity-forget-small-steps-tackle-big-food" TargetMode="External"/><Relationship Id="rId4" Type="http://schemas.openxmlformats.org/officeDocument/2006/relationships/image" Target="../media/image5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.uk/government/news/government-acts-to-tackle-rising-childhood-obesity-epidemic" TargetMode="Externa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overnment/news/government-acts-to-tackle-rising-childhood-obesity-epidemic" TargetMode="External"/><Relationship Id="rId2" Type="http://schemas.openxmlformats.org/officeDocument/2006/relationships/hyperlink" Target="https://www.thensmc.com/resources/showcase/change4life" TargetMode="Externa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navigator.health.org.uk/theme/healthy-weight-healthy-lives-cross-government-strategy-england-document" TargetMode="External"/><Relationship Id="rId2" Type="http://schemas.openxmlformats.org/officeDocument/2006/relationships/hyperlink" Target="https://data.parliament.uk/DepositedPapers/Files/DEP2008-2168/DEP2008-2168.pdf" TargetMode="Externa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nsmc.com/resources/showcase/change4life" TargetMode="External"/><Relationship Id="rId2" Type="http://schemas.openxmlformats.org/officeDocument/2006/relationships/hyperlink" Target="https://navigator.health.org.uk/theme/healthy-weight-healthy-lives-cross-government-strategy-england-document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v.uk/government/news/government-acts-to-tackle-rising-childhood-obesity-epidemic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ealthmedia.blog.gov.uk/2023/06/07/government-plans-to-tackle-obesity-in-england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ealthmedia.blog.gov.uk/2024/12/06/here-are-the-facts-about-our-junk-food-ban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odfoundation.org.uk/press-release/one-third-bogof-and-multibuy-deals-are-unhealthy-food-just-38-fruit-and-veg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.org.uk/features-and-opinion/blogs/labour-s-first-100-days-in-health-and-care-polic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021580" cy="3764280"/>
          </a:xfrm>
          <a:custGeom>
            <a:avLst/>
            <a:gdLst/>
            <a:ahLst/>
            <a:cxnLst/>
            <a:rect l="l" t="t" r="r" b="b"/>
            <a:pathLst>
              <a:path w="5021580" h="3764280">
                <a:moveTo>
                  <a:pt x="0" y="0"/>
                </a:moveTo>
                <a:lnTo>
                  <a:pt x="5021580" y="0"/>
                </a:lnTo>
                <a:lnTo>
                  <a:pt x="5021580" y="3764280"/>
                </a:lnTo>
                <a:lnTo>
                  <a:pt x="0" y="3764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6431280" y="0"/>
            <a:ext cx="2712720" cy="3825240"/>
          </a:xfrm>
          <a:custGeom>
            <a:avLst/>
            <a:gdLst/>
            <a:ahLst/>
            <a:cxnLst/>
            <a:rect l="l" t="t" r="r" b="b"/>
            <a:pathLst>
              <a:path w="2712720" h="3825240">
                <a:moveTo>
                  <a:pt x="0" y="0"/>
                </a:moveTo>
                <a:lnTo>
                  <a:pt x="2712720" y="0"/>
                </a:lnTo>
                <a:lnTo>
                  <a:pt x="2712720" y="3825240"/>
                </a:lnTo>
                <a:lnTo>
                  <a:pt x="0" y="3825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193280" y="4122420"/>
            <a:ext cx="1950720" cy="2735580"/>
          </a:xfrm>
          <a:custGeom>
            <a:avLst/>
            <a:gdLst/>
            <a:ahLst/>
            <a:cxnLst/>
            <a:rect l="l" t="t" r="r" b="b"/>
            <a:pathLst>
              <a:path w="1950720" h="2735580">
                <a:moveTo>
                  <a:pt x="0" y="0"/>
                </a:moveTo>
                <a:lnTo>
                  <a:pt x="1950720" y="0"/>
                </a:lnTo>
                <a:lnTo>
                  <a:pt x="1950720" y="2735580"/>
                </a:lnTo>
                <a:lnTo>
                  <a:pt x="0" y="273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7620" y="4107180"/>
            <a:ext cx="1950720" cy="2743200"/>
          </a:xfrm>
          <a:custGeom>
            <a:avLst/>
            <a:gdLst/>
            <a:ahLst/>
            <a:cxnLst/>
            <a:rect l="l" t="t" r="r" b="b"/>
            <a:pathLst>
              <a:path w="1950720" h="2743200">
                <a:moveTo>
                  <a:pt x="0" y="0"/>
                </a:moveTo>
                <a:lnTo>
                  <a:pt x="1950720" y="0"/>
                </a:lnTo>
                <a:lnTo>
                  <a:pt x="1950720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045208" y="4019731"/>
            <a:ext cx="5159950" cy="225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2798" b="1" dirty="0">
                <a:solidFill>
                  <a:schemeClr val="accent1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Healthy Weight, Healthy Lives</a:t>
            </a:r>
          </a:p>
          <a:p>
            <a:pPr algn="ctr">
              <a:lnSpc>
                <a:spcPts val="3479"/>
              </a:lnSpc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Childhood Obesity Strategy Tackling Obesity</a:t>
            </a:r>
          </a:p>
          <a:p>
            <a:pPr algn="ctr">
              <a:lnSpc>
                <a:spcPts val="3479"/>
              </a:lnSpc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Afshan Aghili</a:t>
            </a:r>
          </a:p>
          <a:p>
            <a:pPr algn="ctr">
              <a:lnSpc>
                <a:spcPts val="3479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With thanks to Hilda Mulrooney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83480" y="1402080"/>
            <a:ext cx="3947160" cy="4991100"/>
          </a:xfrm>
          <a:custGeom>
            <a:avLst/>
            <a:gdLst/>
            <a:ahLst/>
            <a:cxnLst/>
            <a:rect l="l" t="t" r="r" b="b"/>
            <a:pathLst>
              <a:path w="3947160" h="4991100">
                <a:moveTo>
                  <a:pt x="0" y="0"/>
                </a:moveTo>
                <a:lnTo>
                  <a:pt x="3947160" y="0"/>
                </a:lnTo>
                <a:lnTo>
                  <a:pt x="3947160" y="4991100"/>
                </a:lnTo>
                <a:lnTo>
                  <a:pt x="0" y="499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881502" y="353816"/>
            <a:ext cx="5517232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Aims &amp;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9918" y="3711407"/>
            <a:ext cx="3810714" cy="40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Examine Foresight,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3122" y="4137841"/>
            <a:ext cx="3267961" cy="1765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Healthy Weight, Healthy Lives &amp; Childhood Obesity</a:t>
            </a:r>
          </a:p>
          <a:p>
            <a:pPr algn="l">
              <a:lnSpc>
                <a:spcPts val="3917"/>
              </a:lnSpc>
            </a:pPr>
            <a:r>
              <a:rPr lang="en-US" sz="2798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Strategy reports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9918" y="1833458"/>
            <a:ext cx="4060355" cy="40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Review and evaluate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3122" y="2260178"/>
            <a:ext cx="4010835" cy="91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795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UK obesity policy</a:t>
            </a:r>
          </a:p>
          <a:p>
            <a:pPr algn="l">
              <a:lnSpc>
                <a:spcPts val="3917"/>
              </a:lnSpc>
            </a:pPr>
            <a:r>
              <a:rPr lang="en-US" sz="2798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70220" y="1531620"/>
            <a:ext cx="3535680" cy="4998720"/>
          </a:xfrm>
          <a:custGeom>
            <a:avLst/>
            <a:gdLst/>
            <a:ahLst/>
            <a:cxnLst/>
            <a:rect l="l" t="t" r="r" b="b"/>
            <a:pathLst>
              <a:path w="3535680" h="4998720">
                <a:moveTo>
                  <a:pt x="0" y="0"/>
                </a:moveTo>
                <a:lnTo>
                  <a:pt x="3535680" y="0"/>
                </a:lnTo>
                <a:lnTo>
                  <a:pt x="3535680" y="4998720"/>
                </a:lnTo>
                <a:lnTo>
                  <a:pt x="0" y="4998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131819" y="362674"/>
            <a:ext cx="4982880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6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5442" y="1418949"/>
            <a:ext cx="4302604" cy="44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6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By the end of this session,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8342" y="1815189"/>
            <a:ext cx="3511106" cy="44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6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will be able to: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2642" y="2275370"/>
            <a:ext cx="3935816" cy="39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name the key obesity policy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9459" y="2625890"/>
            <a:ext cx="3480406" cy="75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strategy documents in England and the UK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2642" y="3307594"/>
            <a:ext cx="4345581" cy="488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3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describe the approaches taken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9459" y="3839632"/>
            <a:ext cx="3487407" cy="665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formulate the Foresight</a:t>
            </a:r>
          </a:p>
          <a:p>
            <a:pPr algn="l">
              <a:lnSpc>
                <a:spcPts val="3831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 (systems mapping)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2642" y="4521622"/>
            <a:ext cx="4137003" cy="40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describe the five key strategy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9459" y="4871857"/>
            <a:ext cx="3664715" cy="76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3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areas of the Healthy Weight Healthy Lives report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2642" y="5562076"/>
            <a:ext cx="4432316" cy="497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23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critique current obesity policy 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9459" y="6112621"/>
            <a:ext cx="2655465" cy="297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23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England and the UK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1980" y="1470660"/>
            <a:ext cx="3489960" cy="4922520"/>
          </a:xfrm>
          <a:custGeom>
            <a:avLst/>
            <a:gdLst/>
            <a:ahLst/>
            <a:cxnLst/>
            <a:rect l="l" t="t" r="r" b="b"/>
            <a:pathLst>
              <a:path w="3489960" h="4922520">
                <a:moveTo>
                  <a:pt x="0" y="0"/>
                </a:moveTo>
                <a:lnTo>
                  <a:pt x="3489960" y="0"/>
                </a:lnTo>
                <a:lnTo>
                  <a:pt x="3489960" y="4922520"/>
                </a:lnTo>
                <a:lnTo>
                  <a:pt x="0" y="4922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4846320" y="1402080"/>
            <a:ext cx="3764280" cy="1988820"/>
          </a:xfrm>
          <a:custGeom>
            <a:avLst/>
            <a:gdLst/>
            <a:ahLst/>
            <a:cxnLst/>
            <a:rect l="l" t="t" r="r" b="b"/>
            <a:pathLst>
              <a:path w="3764280" h="1988820">
                <a:moveTo>
                  <a:pt x="0" y="0"/>
                </a:moveTo>
                <a:lnTo>
                  <a:pt x="3764280" y="0"/>
                </a:lnTo>
                <a:lnTo>
                  <a:pt x="3764280" y="1988820"/>
                </a:lnTo>
                <a:lnTo>
                  <a:pt x="0" y="1988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379477" y="4543"/>
            <a:ext cx="6300607" cy="136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4"/>
              </a:lnSpc>
            </a:pPr>
            <a:r>
              <a:rPr lang="en-US" sz="3995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Tackling Obesity in England February 2001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77566" y="3496066"/>
            <a:ext cx="4632617" cy="816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NAO scrutinises public spending</a:t>
            </a:r>
          </a:p>
          <a:p>
            <a:pPr algn="l">
              <a:lnSpc>
                <a:spcPts val="2651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Statutory role to report 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20714" y="4251741"/>
            <a:ext cx="3588448" cy="71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23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economy, efficiency and effectiveness of govt. depts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77566" y="4925063"/>
            <a:ext cx="3931596" cy="719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3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Report prepared for House of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1980" y="1607820"/>
            <a:ext cx="3489960" cy="4937760"/>
          </a:xfrm>
          <a:custGeom>
            <a:avLst/>
            <a:gdLst/>
            <a:ahLst/>
            <a:cxnLst/>
            <a:rect l="l" t="t" r="r" b="b"/>
            <a:pathLst>
              <a:path w="3489960" h="4937760">
                <a:moveTo>
                  <a:pt x="0" y="0"/>
                </a:moveTo>
                <a:lnTo>
                  <a:pt x="3489960" y="0"/>
                </a:lnTo>
                <a:lnTo>
                  <a:pt x="3489960" y="4937760"/>
                </a:lnTo>
                <a:lnTo>
                  <a:pt x="0" y="4937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522733" y="-9173"/>
            <a:ext cx="6378369" cy="1621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4"/>
              </a:lnSpc>
            </a:pPr>
            <a:r>
              <a:rPr lang="en-US" sz="3995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Tackling Obesity in England</a:t>
            </a:r>
          </a:p>
          <a:p>
            <a:pPr algn="ctr">
              <a:lnSpc>
                <a:spcPts val="3360"/>
              </a:lnSpc>
            </a:pPr>
            <a:r>
              <a:rPr lang="en-US" sz="2795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main findings and recommendations – cross-govt policy to</a:t>
            </a:r>
            <a:r>
              <a:rPr lang="en-US" sz="2795" b="1" i="1" spc="2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prevent</a:t>
            </a:r>
            <a:r>
              <a:rPr lang="en-US" sz="2795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obesity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35954" y="1507084"/>
            <a:ext cx="90859" cy="490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7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51422" y="1659484"/>
            <a:ext cx="2517296" cy="33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upon existing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78854" y="1949034"/>
            <a:ext cx="3780339" cy="62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partnerships to develop cohesive strategies for prevention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35954" y="2528535"/>
            <a:ext cx="3986108" cy="33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Establish cross-govt group 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78854" y="2810485"/>
            <a:ext cx="2978544" cy="6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coordinate all research on obesity and its prevention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5954" y="3412465"/>
            <a:ext cx="3764356" cy="33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Walking and cycling initiatives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8854" y="3716969"/>
            <a:ext cx="1297410" cy="33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20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targets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35954" y="4022312"/>
            <a:ext cx="3679527" cy="63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Targets for sport participation and active leisure pursuits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35954" y="4644104"/>
            <a:ext cx="3966439" cy="63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School-based physical activity</a:t>
            </a:r>
          </a:p>
          <a:p>
            <a:pPr algn="l">
              <a:lnSpc>
                <a:spcPts val="2360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Nutrition initiatives with industry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78854" y="5266153"/>
            <a:ext cx="1442876" cy="338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caterers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35954" y="5546617"/>
            <a:ext cx="1716119" cy="37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School food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41720" y="2049780"/>
            <a:ext cx="2575560" cy="3619500"/>
          </a:xfrm>
          <a:custGeom>
            <a:avLst/>
            <a:gdLst/>
            <a:ahLst/>
            <a:cxnLst/>
            <a:rect l="l" t="t" r="r" b="b"/>
            <a:pathLst>
              <a:path w="2575560" h="3619500">
                <a:moveTo>
                  <a:pt x="0" y="0"/>
                </a:moveTo>
                <a:lnTo>
                  <a:pt x="2575560" y="0"/>
                </a:lnTo>
                <a:lnTo>
                  <a:pt x="2575560" y="3619500"/>
                </a:lnTo>
                <a:lnTo>
                  <a:pt x="0" y="361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859780" y="106680"/>
            <a:ext cx="3238500" cy="1775460"/>
          </a:xfrm>
          <a:custGeom>
            <a:avLst/>
            <a:gdLst/>
            <a:ahLst/>
            <a:cxnLst/>
            <a:rect l="l" t="t" r="r" b="b"/>
            <a:pathLst>
              <a:path w="3238500" h="1775460">
                <a:moveTo>
                  <a:pt x="0" y="0"/>
                </a:moveTo>
                <a:lnTo>
                  <a:pt x="3238500" y="0"/>
                </a:lnTo>
                <a:lnTo>
                  <a:pt x="3238500" y="1775460"/>
                </a:lnTo>
                <a:lnTo>
                  <a:pt x="0" y="1775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89865" y="322164"/>
            <a:ext cx="5520252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6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The National Picture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357" y="1349788"/>
            <a:ext cx="3397758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Government Office for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9257" y="1715548"/>
            <a:ext cx="4199249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Science Foresight Programme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6357" y="2043303"/>
            <a:ext cx="3476977" cy="51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Foresight projects give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257" y="2609755"/>
            <a:ext cx="4141422" cy="1052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36"/>
              </a:lnSpc>
            </a:pP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evidence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policy-makers to</a:t>
            </a:r>
          </a:p>
          <a:p>
            <a:pPr algn="just">
              <a:lnSpc>
                <a:spcPts val="3924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 them make</a:t>
            </a:r>
            <a:r>
              <a:rPr lang="en-US" sz="24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policies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</a:t>
            </a:r>
          </a:p>
          <a:p>
            <a:pPr algn="just">
              <a:lnSpc>
                <a:spcPts val="19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more resilient to the future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6357" y="3497732"/>
            <a:ext cx="3898297" cy="59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Report published October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9257" y="4206392"/>
            <a:ext cx="4162558" cy="629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2007 – in response to growing</a:t>
            </a:r>
          </a:p>
          <a:p>
            <a:pPr algn="l">
              <a:lnSpc>
                <a:spcPts val="4704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concern over obesity levels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6357" y="4927721"/>
            <a:ext cx="4529176" cy="350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Foresight – tackling obesities: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9257" y="5170199"/>
            <a:ext cx="1931308" cy="473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3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choices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8E8CCB-2769-D6E5-94E9-4031CDBBF19A}"/>
              </a:ext>
            </a:extLst>
          </p:cNvPr>
          <p:cNvSpPr txBox="1"/>
          <p:nvPr/>
        </p:nvSpPr>
        <p:spPr>
          <a:xfrm>
            <a:off x="759257" y="5889505"/>
            <a:ext cx="73095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6"/>
              </a:rPr>
              <a:t>https://assets.publishing.service.gov.uk/media/5a759da7e5274a4368298a4f/07-1184x-tackling-obesities-future-choices-report.pdf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17820" y="1546860"/>
            <a:ext cx="3726180" cy="2621280"/>
          </a:xfrm>
          <a:custGeom>
            <a:avLst/>
            <a:gdLst/>
            <a:ahLst/>
            <a:cxnLst/>
            <a:rect l="l" t="t" r="r" b="b"/>
            <a:pathLst>
              <a:path w="3726180" h="2621280">
                <a:moveTo>
                  <a:pt x="0" y="0"/>
                </a:moveTo>
                <a:lnTo>
                  <a:pt x="3726180" y="0"/>
                </a:lnTo>
                <a:lnTo>
                  <a:pt x="3726180" y="2621280"/>
                </a:lnTo>
                <a:lnTo>
                  <a:pt x="0" y="262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859780" y="4274820"/>
            <a:ext cx="2933700" cy="2446020"/>
          </a:xfrm>
          <a:custGeom>
            <a:avLst/>
            <a:gdLst/>
            <a:ahLst/>
            <a:cxnLst/>
            <a:rect l="l" t="t" r="r" b="b"/>
            <a:pathLst>
              <a:path w="2933700" h="2446020">
                <a:moveTo>
                  <a:pt x="0" y="0"/>
                </a:moveTo>
                <a:lnTo>
                  <a:pt x="2933700" y="0"/>
                </a:lnTo>
                <a:lnTo>
                  <a:pt x="2933700" y="2446020"/>
                </a:lnTo>
                <a:lnTo>
                  <a:pt x="0" y="2446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180844" y="368170"/>
            <a:ext cx="4883334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Systems Mapping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339" y="1262282"/>
            <a:ext cx="5112010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System – structured set of objects/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2239" y="1628299"/>
            <a:ext cx="4857388" cy="791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attributes with relationship between them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3922" y="2390018"/>
            <a:ext cx="5287127" cy="122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Captures complexity</a:t>
            </a:r>
          </a:p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Examines relationship between objects &amp; their relative importance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0520" y="4168140"/>
            <a:ext cx="5012741" cy="1836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System mapping; 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process of creating visual tools describing the system &amp; interrelationships within it</a:t>
            </a:r>
          </a:p>
          <a:p>
            <a:pPr algn="l">
              <a:lnSpc>
                <a:spcPts val="2928"/>
              </a:lnSpc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 algn="l">
              <a:lnSpc>
                <a:spcPts val="2928"/>
              </a:lnSpc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Causal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22520" y="1546860"/>
            <a:ext cx="4221480" cy="5311140"/>
          </a:xfrm>
          <a:custGeom>
            <a:avLst/>
            <a:gdLst/>
            <a:ahLst/>
            <a:cxnLst/>
            <a:rect l="l" t="t" r="r" b="b"/>
            <a:pathLst>
              <a:path w="4221480" h="5311140">
                <a:moveTo>
                  <a:pt x="0" y="0"/>
                </a:moveTo>
                <a:lnTo>
                  <a:pt x="4221480" y="0"/>
                </a:lnTo>
                <a:lnTo>
                  <a:pt x="4221480" y="5311140"/>
                </a:lnTo>
                <a:lnTo>
                  <a:pt x="0" y="5311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598933" y="502539"/>
            <a:ext cx="6063767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Seven thematic clusters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108" y="1603086"/>
            <a:ext cx="370789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4" b="1" spc="2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Biology</a:t>
            </a:r>
            <a:r>
              <a:rPr lang="en-US" sz="2004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genetics, RMR, body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1845" y="1907886"/>
            <a:ext cx="3680155" cy="9497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composition</a:t>
            </a:r>
          </a:p>
          <a:p>
            <a:pPr algn="l">
              <a:lnSpc>
                <a:spcPts val="3450"/>
              </a:lnSpc>
            </a:pPr>
            <a:r>
              <a:rPr lang="en-US" sz="2004" b="1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Individual activity </a:t>
            </a: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domestic,</a:t>
            </a:r>
          </a:p>
          <a:p>
            <a:pPr algn="l">
              <a:lnSpc>
                <a:spcPts val="1350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work, recreational, transport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6488" y="2759421"/>
            <a:ext cx="3206228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2004" b="1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Activity environment </a:t>
            </a: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6488" y="3378174"/>
            <a:ext cx="3680155" cy="898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3"/>
              </a:lnSpc>
            </a:pPr>
            <a:r>
              <a:rPr lang="en-US" sz="200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facilitate/obstruct</a:t>
            </a:r>
          </a:p>
          <a:p>
            <a:pPr algn="l">
              <a:lnSpc>
                <a:spcPts val="4769"/>
              </a:lnSpc>
            </a:pPr>
            <a:r>
              <a:rPr lang="en-US" sz="2004" b="1" spc="2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Food consumption </a:t>
            </a:r>
            <a:r>
              <a:rPr lang="en-US" sz="2004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energy</a:t>
            </a:r>
          </a:p>
          <a:p>
            <a:pPr algn="l">
              <a:lnSpc>
                <a:spcPts val="1002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density, portion size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8680" y="4072604"/>
            <a:ext cx="4053840" cy="520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2004" b="1" spc="2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Food production </a:t>
            </a:r>
            <a:r>
              <a:rPr lang="en-US" sz="2004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growth,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1844" y="4729829"/>
            <a:ext cx="3756355" cy="898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2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profit, efficiency</a:t>
            </a:r>
          </a:p>
          <a:p>
            <a:pPr algn="l">
              <a:lnSpc>
                <a:spcPts val="4767"/>
              </a:lnSpc>
            </a:pPr>
            <a:r>
              <a:rPr lang="en-US" sz="2004" b="1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Individual psychology </a:t>
            </a: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self-</a:t>
            </a:r>
          </a:p>
          <a:p>
            <a:pPr algn="l">
              <a:lnSpc>
                <a:spcPts val="1002"/>
              </a:lnSpc>
            </a:pPr>
            <a:r>
              <a:rPr lang="en-US" sz="2004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esteem, stress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5632" y="5416163"/>
            <a:ext cx="3854787" cy="52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5"/>
              </a:lnSpc>
            </a:pPr>
            <a:r>
              <a:rPr lang="en-US" sz="2004" dirty="0">
                <a:solidFill>
                  <a:srgbClr val="5691A8"/>
                </a:solidFill>
                <a:latin typeface="Arial Bold"/>
                <a:ea typeface="Arial Bold"/>
                <a:cs typeface="Arial Bold"/>
                <a:sym typeface="Arial Bold"/>
              </a:rPr>
              <a:t>Societal influences</a:t>
            </a:r>
            <a:r>
              <a:rPr lang="en-US" sz="2004" dirty="0">
                <a:solidFill>
                  <a:srgbClr val="5691A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education,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1845" y="6073388"/>
            <a:ext cx="1981305" cy="214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media, tv viewing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70220" y="1249680"/>
            <a:ext cx="3451860" cy="4899660"/>
          </a:xfrm>
          <a:custGeom>
            <a:avLst/>
            <a:gdLst/>
            <a:ahLst/>
            <a:cxnLst/>
            <a:rect l="l" t="t" r="r" b="b"/>
            <a:pathLst>
              <a:path w="3451860" h="4899660">
                <a:moveTo>
                  <a:pt x="0" y="0"/>
                </a:moveTo>
                <a:lnTo>
                  <a:pt x="3451860" y="0"/>
                </a:lnTo>
                <a:lnTo>
                  <a:pt x="3451860" y="4899660"/>
                </a:lnTo>
                <a:lnTo>
                  <a:pt x="0" y="4899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548030" y="368170"/>
            <a:ext cx="8156724" cy="158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Healthy Weight, Healthy Lives</a:t>
            </a:r>
          </a:p>
          <a:p>
            <a:pPr algn="l">
              <a:lnSpc>
                <a:spcPts val="3363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Published January 2008</a:t>
            </a:r>
          </a:p>
          <a:p>
            <a:pPr algn="l">
              <a:lnSpc>
                <a:spcPts val="287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Govt cross-departmental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2095211"/>
            <a:ext cx="3521212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strategy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tackle obesity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030" y="2950369"/>
            <a:ext cx="3843604" cy="711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Using evidence base and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235" y="3773329"/>
            <a:ext cx="4559294" cy="254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recommendations from Foresight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030" y="4012844"/>
            <a:ext cx="4963763" cy="1416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Concise compared with Foresight</a:t>
            </a:r>
          </a:p>
          <a:p>
            <a:pPr algn="l">
              <a:lnSpc>
                <a:spcPts val="6000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86BE5-5488-89E4-3CD8-41E4741F9A90}"/>
              </a:ext>
            </a:extLst>
          </p:cNvPr>
          <p:cNvSpPr txBox="1"/>
          <p:nvPr/>
        </p:nvSpPr>
        <p:spPr>
          <a:xfrm>
            <a:off x="548030" y="5499943"/>
            <a:ext cx="4638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https://www.legislation.gov.uk/ukia/2008/9/pdfs/ukia_20080009_en.pdf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380" y="1470660"/>
            <a:ext cx="8313420" cy="5196840"/>
          </a:xfrm>
          <a:custGeom>
            <a:avLst/>
            <a:gdLst/>
            <a:ahLst/>
            <a:cxnLst/>
            <a:rect l="l" t="t" r="r" b="b"/>
            <a:pathLst>
              <a:path w="8313420" h="5196840">
                <a:moveTo>
                  <a:pt x="0" y="0"/>
                </a:moveTo>
                <a:lnTo>
                  <a:pt x="8313420" y="0"/>
                </a:lnTo>
                <a:lnTo>
                  <a:pt x="8313420" y="5196840"/>
                </a:lnTo>
                <a:lnTo>
                  <a:pt x="0" y="5196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758647" y="511721"/>
            <a:ext cx="7788850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Healthy Weight, Healthy Lives 2008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9560"/>
            <a:ext cx="3649980" cy="2758440"/>
          </a:xfrm>
          <a:custGeom>
            <a:avLst/>
            <a:gdLst/>
            <a:ahLst/>
            <a:cxnLst/>
            <a:rect l="l" t="t" r="r" b="b"/>
            <a:pathLst>
              <a:path w="3649980" h="2758440">
                <a:moveTo>
                  <a:pt x="0" y="0"/>
                </a:moveTo>
                <a:lnTo>
                  <a:pt x="3649980" y="0"/>
                </a:lnTo>
                <a:lnTo>
                  <a:pt x="3649980" y="2758440"/>
                </a:lnTo>
                <a:lnTo>
                  <a:pt x="0" y="2758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4983480" y="4107180"/>
            <a:ext cx="4137660" cy="2750820"/>
          </a:xfrm>
          <a:custGeom>
            <a:avLst/>
            <a:gdLst/>
            <a:ahLst/>
            <a:cxnLst/>
            <a:rect l="l" t="t" r="r" b="b"/>
            <a:pathLst>
              <a:path w="4137660" h="2750820">
                <a:moveTo>
                  <a:pt x="0" y="0"/>
                </a:moveTo>
                <a:lnTo>
                  <a:pt x="4137660" y="0"/>
                </a:lnTo>
                <a:lnTo>
                  <a:pt x="4137660" y="2750820"/>
                </a:lnTo>
                <a:lnTo>
                  <a:pt x="0" y="275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759866" y="327069"/>
            <a:ext cx="7770019" cy="123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What questions should be considered when devising obesity strategy?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5442" y="1801511"/>
            <a:ext cx="8518998" cy="92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9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Should individuals be targeted? </a:t>
            </a:r>
          </a:p>
          <a:p>
            <a:pPr algn="l">
              <a:lnSpc>
                <a:spcPts val="3599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Should food environment be targeted? (eg retailers,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8342" y="2753725"/>
            <a:ext cx="3872570" cy="36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24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manufacturers, producers)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5442" y="2973343"/>
            <a:ext cx="5851522" cy="1059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Target all parts of a food system?</a:t>
            </a:r>
          </a:p>
          <a:p>
            <a:pPr algn="l">
              <a:lnSpc>
                <a:spcPts val="2391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What about the physical environment?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12080" y="1325880"/>
            <a:ext cx="3909060" cy="5532120"/>
          </a:xfrm>
          <a:custGeom>
            <a:avLst/>
            <a:gdLst/>
            <a:ahLst/>
            <a:cxnLst/>
            <a:rect l="l" t="t" r="r" b="b"/>
            <a:pathLst>
              <a:path w="3909060" h="5532120">
                <a:moveTo>
                  <a:pt x="0" y="0"/>
                </a:moveTo>
                <a:lnTo>
                  <a:pt x="3909060" y="0"/>
                </a:lnTo>
                <a:lnTo>
                  <a:pt x="3909060" y="5532120"/>
                </a:lnTo>
                <a:lnTo>
                  <a:pt x="0" y="5532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548640" y="368170"/>
            <a:ext cx="8155191" cy="296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4404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Healthy Weight, Healthy Lives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 main policy areas. To: </a:t>
            </a:r>
          </a:p>
          <a:p>
            <a:pPr algn="l">
              <a:lnSpc>
                <a:spcPts val="3359"/>
              </a:lnSpc>
            </a:pPr>
            <a:endParaRPr lang="en-US" sz="24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promote children’s health 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promote healthy food 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build physical activity into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845" y="3356896"/>
            <a:ext cx="1155240" cy="340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lives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3551206"/>
            <a:ext cx="4416057" cy="10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promote health at work</a:t>
            </a:r>
          </a:p>
          <a:p>
            <a:pPr algn="l">
              <a:lnSpc>
                <a:spcPts val="2164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provide effective treatment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845" y="4463948"/>
            <a:ext cx="3571113" cy="94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support for those with obesity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609600"/>
            <a:ext cx="8763000" cy="6248400"/>
          </a:xfrm>
          <a:custGeom>
            <a:avLst/>
            <a:gdLst/>
            <a:ahLst/>
            <a:cxnLst/>
            <a:rect l="l" t="t" r="r" b="b"/>
            <a:pathLst>
              <a:path w="8968740" h="6858000">
                <a:moveTo>
                  <a:pt x="0" y="0"/>
                </a:moveTo>
                <a:lnTo>
                  <a:pt x="8968740" y="0"/>
                </a:lnTo>
                <a:lnTo>
                  <a:pt x="89687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Freeform 3"/>
          <p:cNvSpPr/>
          <p:nvPr/>
        </p:nvSpPr>
        <p:spPr>
          <a:xfrm>
            <a:off x="-25209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D3B99-0289-3537-5A25-B70AD8108278}"/>
              </a:ext>
            </a:extLst>
          </p:cNvPr>
          <p:cNvSpPr txBox="1"/>
          <p:nvPr/>
        </p:nvSpPr>
        <p:spPr>
          <a:xfrm>
            <a:off x="762000" y="-15984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accent1">
                    <a:lumMod val="50000"/>
                  </a:schemeClr>
                </a:solidFill>
              </a:rPr>
              <a:t>1. To promote children’s 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941820" y="2650205"/>
            <a:ext cx="2087880" cy="525780"/>
          </a:xfrm>
          <a:custGeom>
            <a:avLst/>
            <a:gdLst/>
            <a:ahLst/>
            <a:cxnLst/>
            <a:rect l="l" t="t" r="r" b="b"/>
            <a:pathLst>
              <a:path w="2087880" h="525780">
                <a:moveTo>
                  <a:pt x="0" y="0"/>
                </a:moveTo>
                <a:lnTo>
                  <a:pt x="2087880" y="0"/>
                </a:lnTo>
                <a:lnTo>
                  <a:pt x="2087880" y="525780"/>
                </a:lnTo>
                <a:lnTo>
                  <a:pt x="0" y="52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6941820" y="998220"/>
            <a:ext cx="2103120" cy="1417320"/>
          </a:xfrm>
          <a:custGeom>
            <a:avLst/>
            <a:gdLst/>
            <a:ahLst/>
            <a:cxnLst/>
            <a:rect l="l" t="t" r="r" b="b"/>
            <a:pathLst>
              <a:path w="2103120" h="1417320">
                <a:moveTo>
                  <a:pt x="0" y="0"/>
                </a:moveTo>
                <a:lnTo>
                  <a:pt x="2103120" y="0"/>
                </a:lnTo>
                <a:lnTo>
                  <a:pt x="2103120" y="1417320"/>
                </a:lnTo>
                <a:lnTo>
                  <a:pt x="0" y="141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334000" y="3413762"/>
            <a:ext cx="3749040" cy="3436618"/>
          </a:xfrm>
          <a:custGeom>
            <a:avLst/>
            <a:gdLst/>
            <a:ahLst/>
            <a:cxnLst/>
            <a:rect l="l" t="t" r="r" b="b"/>
            <a:pathLst>
              <a:path w="4274820" h="3718560">
                <a:moveTo>
                  <a:pt x="0" y="0"/>
                </a:moveTo>
                <a:lnTo>
                  <a:pt x="4274820" y="0"/>
                </a:lnTo>
                <a:lnTo>
                  <a:pt x="4274820" y="3718560"/>
                </a:lnTo>
                <a:lnTo>
                  <a:pt x="0" y="37185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44524" y="109414"/>
            <a:ext cx="6984235" cy="1361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7"/>
              </a:lnSpc>
            </a:pPr>
            <a:r>
              <a:rPr lang="en-US" sz="3998" dirty="0">
                <a:solidFill>
                  <a:srgbClr val="000000"/>
                </a:solidFill>
                <a:latin typeface="Arial "/>
                <a:ea typeface="Arial Bold"/>
                <a:cs typeface="Arial Bold"/>
                <a:sym typeface="Arial Bold"/>
              </a:rPr>
              <a:t>The National Healthy School </a:t>
            </a:r>
            <a:r>
              <a:rPr lang="en-US" sz="3998" dirty="0" err="1">
                <a:solidFill>
                  <a:srgbClr val="000000"/>
                </a:solidFill>
                <a:latin typeface="Arial "/>
                <a:ea typeface="Arial Bold"/>
                <a:cs typeface="Arial Bold"/>
                <a:sym typeface="Arial Bold"/>
              </a:rPr>
              <a:t>Programme</a:t>
            </a:r>
            <a:endParaRPr lang="en-US" sz="3998" dirty="0">
              <a:solidFill>
                <a:srgbClr val="000000"/>
              </a:solidFill>
              <a:latin typeface="Arial "/>
              <a:ea typeface="Arial Bold"/>
              <a:cs typeface="Arial Bold"/>
              <a:sym typeface="Arial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4391" y="4309358"/>
            <a:ext cx="6591252" cy="170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activity in schools </a:t>
            </a:r>
          </a:p>
          <a:p>
            <a:pPr algn="l">
              <a:lnSpc>
                <a:spcPts val="3363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meals</a:t>
            </a:r>
          </a:p>
          <a:p>
            <a:pPr algn="l">
              <a:lnSpc>
                <a:spcPts val="3363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https://www.healthyschools.org.uk/</a:t>
            </a:r>
            <a:endParaRPr lang="en-US" sz="2402" dirty="0">
              <a:solidFill>
                <a:srgbClr val="009898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363"/>
              </a:lnSpc>
            </a:pPr>
            <a:endParaRPr lang="en-US" sz="2402" dirty="0">
              <a:solidFill>
                <a:srgbClr val="0098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4391" y="1661541"/>
            <a:ext cx="3954285" cy="83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London Borough has a</a:t>
            </a:r>
          </a:p>
          <a:p>
            <a:pPr algn="just">
              <a:lnSpc>
                <a:spcPts val="600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Healthy Schools Coordinator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4391" y="2589181"/>
            <a:ext cx="3849205" cy="144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in schools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programme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5524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travel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3380" y="4154424"/>
            <a:ext cx="3787902" cy="13078"/>
          </a:xfrm>
          <a:custGeom>
            <a:avLst/>
            <a:gdLst/>
            <a:ahLst/>
            <a:cxnLst/>
            <a:rect l="l" t="t" r="r" b="b"/>
            <a:pathLst>
              <a:path w="3787902" h="13078">
                <a:moveTo>
                  <a:pt x="0" y="0"/>
                </a:moveTo>
                <a:lnTo>
                  <a:pt x="3787902" y="0"/>
                </a:lnTo>
                <a:lnTo>
                  <a:pt x="3787902" y="13078"/>
                </a:lnTo>
                <a:lnTo>
                  <a:pt x="0" y="13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059680" y="4107180"/>
            <a:ext cx="2141220" cy="2750820"/>
          </a:xfrm>
          <a:custGeom>
            <a:avLst/>
            <a:gdLst/>
            <a:ahLst/>
            <a:cxnLst/>
            <a:rect l="l" t="t" r="r" b="b"/>
            <a:pathLst>
              <a:path w="2141220" h="2750820">
                <a:moveTo>
                  <a:pt x="0" y="0"/>
                </a:moveTo>
                <a:lnTo>
                  <a:pt x="2141220" y="0"/>
                </a:lnTo>
                <a:lnTo>
                  <a:pt x="2141220" y="2750820"/>
                </a:lnTo>
                <a:lnTo>
                  <a:pt x="0" y="2750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223760" y="4137660"/>
            <a:ext cx="1821180" cy="2415540"/>
          </a:xfrm>
          <a:custGeom>
            <a:avLst/>
            <a:gdLst/>
            <a:ahLst/>
            <a:cxnLst/>
            <a:rect l="l" t="t" r="r" b="b"/>
            <a:pathLst>
              <a:path w="1821180" h="2415540">
                <a:moveTo>
                  <a:pt x="0" y="0"/>
                </a:moveTo>
                <a:lnTo>
                  <a:pt x="1821180" y="0"/>
                </a:lnTo>
                <a:lnTo>
                  <a:pt x="1821180" y="2415540"/>
                </a:lnTo>
                <a:lnTo>
                  <a:pt x="0" y="2415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4328160"/>
            <a:ext cx="4953000" cy="2529840"/>
          </a:xfrm>
          <a:custGeom>
            <a:avLst/>
            <a:gdLst/>
            <a:ahLst/>
            <a:cxnLst/>
            <a:rect l="l" t="t" r="r" b="b"/>
            <a:pathLst>
              <a:path w="4953000" h="2529840">
                <a:moveTo>
                  <a:pt x="0" y="0"/>
                </a:moveTo>
                <a:lnTo>
                  <a:pt x="4953000" y="0"/>
                </a:lnTo>
                <a:lnTo>
                  <a:pt x="4953000" y="2529840"/>
                </a:lnTo>
                <a:lnTo>
                  <a:pt x="0" y="2529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4770120" y="1188720"/>
            <a:ext cx="4236720" cy="2827020"/>
          </a:xfrm>
          <a:custGeom>
            <a:avLst/>
            <a:gdLst/>
            <a:ahLst/>
            <a:cxnLst/>
            <a:rect l="l" t="t" r="r" b="b"/>
            <a:pathLst>
              <a:path w="4236720" h="2827020">
                <a:moveTo>
                  <a:pt x="0" y="0"/>
                </a:moveTo>
                <a:lnTo>
                  <a:pt x="4236720" y="0"/>
                </a:lnTo>
                <a:lnTo>
                  <a:pt x="4236720" y="2827020"/>
                </a:lnTo>
                <a:lnTo>
                  <a:pt x="0" y="28270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535554" y="410185"/>
            <a:ext cx="6125585" cy="655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5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2. To promote healthy food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9690" y="1418749"/>
            <a:ext cx="3977345" cy="39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Healthy food code of good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2590" y="1784223"/>
            <a:ext cx="1089670" cy="397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8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9690" y="2123218"/>
            <a:ext cx="4220461" cy="39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Manage proliferation of fast-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2590" y="2461165"/>
            <a:ext cx="382189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food outlets in certain areas e.g. outside schools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9690" y="3155213"/>
            <a:ext cx="4344819" cy="43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Restrictions on advertising of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2590" y="3578123"/>
            <a:ext cx="3845052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unhealthy foods to children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6355080" y="1036320"/>
            <a:ext cx="2628900" cy="1112520"/>
          </a:xfrm>
          <a:custGeom>
            <a:avLst/>
            <a:gdLst/>
            <a:ahLst/>
            <a:cxnLst/>
            <a:rect l="l" t="t" r="r" b="b"/>
            <a:pathLst>
              <a:path w="2628900" h="1112520">
                <a:moveTo>
                  <a:pt x="0" y="0"/>
                </a:moveTo>
                <a:lnTo>
                  <a:pt x="2628900" y="0"/>
                </a:lnTo>
                <a:lnTo>
                  <a:pt x="2628900" y="1112520"/>
                </a:lnTo>
                <a:lnTo>
                  <a:pt x="0" y="111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6088380" y="2202180"/>
            <a:ext cx="2842260" cy="1394460"/>
          </a:xfrm>
          <a:custGeom>
            <a:avLst/>
            <a:gdLst/>
            <a:ahLst/>
            <a:cxnLst/>
            <a:rect l="l" t="t" r="r" b="b"/>
            <a:pathLst>
              <a:path w="2842260" h="1394460">
                <a:moveTo>
                  <a:pt x="0" y="0"/>
                </a:moveTo>
                <a:lnTo>
                  <a:pt x="2842260" y="0"/>
                </a:lnTo>
                <a:lnTo>
                  <a:pt x="2842260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4564380" y="1036320"/>
            <a:ext cx="1737360" cy="1127760"/>
          </a:xfrm>
          <a:custGeom>
            <a:avLst/>
            <a:gdLst/>
            <a:ahLst/>
            <a:cxnLst/>
            <a:rect l="l" t="t" r="r" b="b"/>
            <a:pathLst>
              <a:path w="1737360" h="1127760">
                <a:moveTo>
                  <a:pt x="0" y="0"/>
                </a:moveTo>
                <a:lnTo>
                  <a:pt x="1737360" y="0"/>
                </a:lnTo>
                <a:lnTo>
                  <a:pt x="1737360" y="1127760"/>
                </a:lnTo>
                <a:lnTo>
                  <a:pt x="0" y="112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4678680" y="5021580"/>
            <a:ext cx="2766060" cy="1836420"/>
          </a:xfrm>
          <a:custGeom>
            <a:avLst/>
            <a:gdLst/>
            <a:ahLst/>
            <a:cxnLst/>
            <a:rect l="l" t="t" r="r" b="b"/>
            <a:pathLst>
              <a:path w="2766060" h="1836420">
                <a:moveTo>
                  <a:pt x="0" y="0"/>
                </a:moveTo>
                <a:lnTo>
                  <a:pt x="2766060" y="0"/>
                </a:lnTo>
                <a:lnTo>
                  <a:pt x="2766060" y="1836420"/>
                </a:lnTo>
                <a:lnTo>
                  <a:pt x="0" y="1836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6065520" y="3627120"/>
            <a:ext cx="2865120" cy="1379220"/>
          </a:xfrm>
          <a:custGeom>
            <a:avLst/>
            <a:gdLst/>
            <a:ahLst/>
            <a:cxnLst/>
            <a:rect l="l" t="t" r="r" b="b"/>
            <a:pathLst>
              <a:path w="2865120" h="1379220">
                <a:moveTo>
                  <a:pt x="0" y="0"/>
                </a:moveTo>
                <a:lnTo>
                  <a:pt x="2865120" y="0"/>
                </a:lnTo>
                <a:lnTo>
                  <a:pt x="2865120" y="1379220"/>
                </a:lnTo>
                <a:lnTo>
                  <a:pt x="0" y="1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7490460" y="5646420"/>
            <a:ext cx="1607820" cy="1211580"/>
          </a:xfrm>
          <a:custGeom>
            <a:avLst/>
            <a:gdLst/>
            <a:ahLst/>
            <a:cxnLst/>
            <a:rect l="l" t="t" r="r" b="b"/>
            <a:pathLst>
              <a:path w="1607820" h="1211580">
                <a:moveTo>
                  <a:pt x="0" y="0"/>
                </a:moveTo>
                <a:lnTo>
                  <a:pt x="1607820" y="0"/>
                </a:lnTo>
                <a:lnTo>
                  <a:pt x="1607820" y="1211580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620573" y="174288"/>
            <a:ext cx="8225380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3. To build physical activity into our lives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3517" y="1219105"/>
            <a:ext cx="3286458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Invest in ‘walking into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6722" y="1584865"/>
            <a:ext cx="2342940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health’ campaign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517" y="1950625"/>
            <a:ext cx="3797256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Healthy Towns – EPODE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0838" y="3695725"/>
            <a:ext cx="3865655" cy="39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Entertainment technology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3731" y="4005028"/>
            <a:ext cx="3537042" cy="757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industry – manage sedentary time in children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3517" y="4645943"/>
            <a:ext cx="3105207" cy="39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Review approach 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6722" y="4983604"/>
            <a:ext cx="3537109" cy="764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activity and sport with 2012 legacy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517" y="5691378"/>
            <a:ext cx="4054297" cy="408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Whole systems approach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6722" y="2268474"/>
            <a:ext cx="846353" cy="4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2CB02F-5ED5-78AA-A6DC-1B717CFAAB2D}"/>
              </a:ext>
            </a:extLst>
          </p:cNvPr>
          <p:cNvSpPr txBox="1"/>
          <p:nvPr/>
        </p:nvSpPr>
        <p:spPr>
          <a:xfrm>
            <a:off x="553517" y="2794173"/>
            <a:ext cx="4638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8"/>
              </a:rPr>
              <a:t>http://www.thecarolinewalkertrust.org.uk/pdfs/Ev2008_carolynSummerbell.pdf</a:t>
            </a:r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3200" y="1376752"/>
            <a:ext cx="2491740" cy="3324787"/>
          </a:xfrm>
          <a:custGeom>
            <a:avLst/>
            <a:gdLst/>
            <a:ahLst/>
            <a:cxnLst/>
            <a:rect l="l" t="t" r="r" b="b"/>
            <a:pathLst>
              <a:path w="3070860" h="3436620">
                <a:moveTo>
                  <a:pt x="0" y="0"/>
                </a:moveTo>
                <a:lnTo>
                  <a:pt x="3070860" y="0"/>
                </a:lnTo>
                <a:lnTo>
                  <a:pt x="3070860" y="3436620"/>
                </a:lnTo>
                <a:lnTo>
                  <a:pt x="0" y="343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6774180" y="68580"/>
            <a:ext cx="2362200" cy="1013460"/>
          </a:xfrm>
          <a:custGeom>
            <a:avLst/>
            <a:gdLst/>
            <a:ahLst/>
            <a:cxnLst/>
            <a:rect l="l" t="t" r="r" b="b"/>
            <a:pathLst>
              <a:path w="2362200" h="1013460">
                <a:moveTo>
                  <a:pt x="0" y="0"/>
                </a:moveTo>
                <a:lnTo>
                  <a:pt x="2362200" y="0"/>
                </a:lnTo>
                <a:lnTo>
                  <a:pt x="2362200" y="1013460"/>
                </a:lnTo>
                <a:lnTo>
                  <a:pt x="0" y="1013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2860" y="4716780"/>
            <a:ext cx="9121140" cy="2141220"/>
          </a:xfrm>
          <a:custGeom>
            <a:avLst/>
            <a:gdLst/>
            <a:ahLst/>
            <a:cxnLst/>
            <a:rect l="l" t="t" r="r" b="b"/>
            <a:pathLst>
              <a:path w="9121140" h="2141220">
                <a:moveTo>
                  <a:pt x="0" y="0"/>
                </a:moveTo>
                <a:lnTo>
                  <a:pt x="9121140" y="0"/>
                </a:lnTo>
                <a:lnTo>
                  <a:pt x="9121140" y="2141220"/>
                </a:lnTo>
                <a:lnTo>
                  <a:pt x="0" y="214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27686" y="393764"/>
            <a:ext cx="6528797" cy="63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3998">
                <a:solidFill>
                  <a:srgbClr val="FE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39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promote health at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5138" y="912524"/>
            <a:ext cx="108814" cy="46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318" y="978589"/>
            <a:ext cx="538368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4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work with employers &amp; employer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9700" y="1364257"/>
            <a:ext cx="5488700" cy="1796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400" b="1" i="1" dirty="0" err="1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organisations</a:t>
            </a:r>
            <a:r>
              <a:rPr lang="en-US" sz="24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to develop pilots - how companies can best promote wellness among their staff &amp; make healthy workplaces part of their core business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5138" y="3066564"/>
            <a:ext cx="4886306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6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2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Wellbeing assessments for NHS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8038" y="3432867"/>
            <a:ext cx="183276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4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employees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5138" y="3798627"/>
            <a:ext cx="537606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2400" b="1" i="1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Explore financial incentives 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8038" y="4164387"/>
            <a:ext cx="454340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sz="2400" dirty="0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encourage healthy living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103620" y="1325880"/>
            <a:ext cx="3017520" cy="5532120"/>
          </a:xfrm>
          <a:custGeom>
            <a:avLst/>
            <a:gdLst/>
            <a:ahLst/>
            <a:cxnLst/>
            <a:rect l="l" t="t" r="r" b="b"/>
            <a:pathLst>
              <a:path w="3017520" h="5532120">
                <a:moveTo>
                  <a:pt x="0" y="0"/>
                </a:moveTo>
                <a:lnTo>
                  <a:pt x="3017520" y="0"/>
                </a:lnTo>
                <a:lnTo>
                  <a:pt x="3017520" y="5532120"/>
                </a:lnTo>
                <a:lnTo>
                  <a:pt x="0" y="5532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3474720" y="4084320"/>
            <a:ext cx="2727960" cy="2659380"/>
          </a:xfrm>
          <a:custGeom>
            <a:avLst/>
            <a:gdLst/>
            <a:ahLst/>
            <a:cxnLst/>
            <a:rect l="l" t="t" r="r" b="b"/>
            <a:pathLst>
              <a:path w="2727960" h="2659380">
                <a:moveTo>
                  <a:pt x="0" y="0"/>
                </a:moveTo>
                <a:lnTo>
                  <a:pt x="2727960" y="0"/>
                </a:lnTo>
                <a:lnTo>
                  <a:pt x="2727960" y="2659380"/>
                </a:lnTo>
                <a:lnTo>
                  <a:pt x="0" y="2659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868680" y="4107180"/>
            <a:ext cx="1950720" cy="2727960"/>
          </a:xfrm>
          <a:custGeom>
            <a:avLst/>
            <a:gdLst/>
            <a:ahLst/>
            <a:cxnLst/>
            <a:rect l="l" t="t" r="r" b="b"/>
            <a:pathLst>
              <a:path w="1950720" h="2727960">
                <a:moveTo>
                  <a:pt x="0" y="0"/>
                </a:moveTo>
                <a:lnTo>
                  <a:pt x="1950720" y="0"/>
                </a:lnTo>
                <a:lnTo>
                  <a:pt x="1950720" y="2727960"/>
                </a:lnTo>
                <a:lnTo>
                  <a:pt x="0" y="2727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861974" y="96022"/>
            <a:ext cx="7520149" cy="123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3602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5. To provide effective treatment and support for those with obesity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2142" y="3585715"/>
            <a:ext cx="4161425" cy="4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services through extra funding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9242" y="1570101"/>
            <a:ext cx="4811201" cy="45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NHS Choices website to provide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2142" y="1974628"/>
            <a:ext cx="5119726" cy="88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personalised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advice on diet, activity and healthy weight</a:t>
            </a:r>
            <a:endParaRPr lang="en-US" sz="1403" spc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5" tooltip="http://https:/www.nhs.uk/live-well/healthy-weight/start-the-nhs-weight-loss-plan/"/>
            </a:endParaRPr>
          </a:p>
          <a:p>
            <a:pPr algn="l">
              <a:lnSpc>
                <a:spcPts val="769"/>
              </a:lnSpc>
            </a:pPr>
            <a:endParaRPr lang="en-US" sz="1403" spc="1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5" tooltip="http://https:/www.nhs.uk/live-well/healthy-weight/start-the-nhs-weight-loss-plan/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2525" y="3066625"/>
            <a:ext cx="5743184" cy="58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Commission more weight management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64080"/>
            <a:ext cx="9144000" cy="3947160"/>
          </a:xfrm>
          <a:custGeom>
            <a:avLst/>
            <a:gdLst/>
            <a:ahLst/>
            <a:cxnLst/>
            <a:rect l="l" t="t" r="r" b="b"/>
            <a:pathLst>
              <a:path w="9144000" h="3947160">
                <a:moveTo>
                  <a:pt x="0" y="0"/>
                </a:moveTo>
                <a:lnTo>
                  <a:pt x="9144000" y="0"/>
                </a:lnTo>
                <a:lnTo>
                  <a:pt x="9144000" y="3947160"/>
                </a:lnTo>
                <a:lnTo>
                  <a:pt x="0" y="3947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772363" y="159934"/>
            <a:ext cx="7768647" cy="123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Map of major sectors that must play a role in tackling excess weight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98920" y="1112520"/>
            <a:ext cx="2293620" cy="5417820"/>
          </a:xfrm>
          <a:custGeom>
            <a:avLst/>
            <a:gdLst/>
            <a:ahLst/>
            <a:cxnLst/>
            <a:rect l="l" t="t" r="r" b="b"/>
            <a:pathLst>
              <a:path w="2293620" h="5417820">
                <a:moveTo>
                  <a:pt x="0" y="0"/>
                </a:moveTo>
                <a:lnTo>
                  <a:pt x="2293620" y="0"/>
                </a:lnTo>
                <a:lnTo>
                  <a:pt x="2293620" y="5417820"/>
                </a:lnTo>
                <a:lnTo>
                  <a:pt x="0" y="5417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3459480" y="1188720"/>
            <a:ext cx="2628900" cy="3413760"/>
          </a:xfrm>
          <a:custGeom>
            <a:avLst/>
            <a:gdLst/>
            <a:ahLst/>
            <a:cxnLst/>
            <a:rect l="l" t="t" r="r" b="b"/>
            <a:pathLst>
              <a:path w="2628900" h="3413760">
                <a:moveTo>
                  <a:pt x="0" y="0"/>
                </a:moveTo>
                <a:lnTo>
                  <a:pt x="2628900" y="0"/>
                </a:lnTo>
                <a:lnTo>
                  <a:pt x="2628900" y="3413760"/>
                </a:lnTo>
                <a:lnTo>
                  <a:pt x="0" y="341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236220" y="1112520"/>
            <a:ext cx="3185160" cy="5745480"/>
          </a:xfrm>
          <a:custGeom>
            <a:avLst/>
            <a:gdLst/>
            <a:ahLst/>
            <a:cxnLst/>
            <a:rect l="l" t="t" r="r" b="b"/>
            <a:pathLst>
              <a:path w="3185160" h="5745480">
                <a:moveTo>
                  <a:pt x="0" y="0"/>
                </a:moveTo>
                <a:lnTo>
                  <a:pt x="3185160" y="0"/>
                </a:lnTo>
                <a:lnTo>
                  <a:pt x="3185160" y="5745480"/>
                </a:lnTo>
                <a:lnTo>
                  <a:pt x="0" y="5745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63503" y="-63503"/>
            <a:ext cx="9270997" cy="6984997"/>
          </a:xfrm>
          <a:custGeom>
            <a:avLst/>
            <a:gdLst/>
            <a:ahLst/>
            <a:cxnLst/>
            <a:rect l="l" t="t" r="r" b="b"/>
            <a:pathLst>
              <a:path w="9270997" h="6984997">
                <a:moveTo>
                  <a:pt x="0" y="0"/>
                </a:moveTo>
                <a:lnTo>
                  <a:pt x="9270997" y="0"/>
                </a:lnTo>
                <a:lnTo>
                  <a:pt x="9270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0586" y="448608"/>
            <a:ext cx="8144494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HWHL additional resources and reports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26380" y="1508760"/>
            <a:ext cx="3794760" cy="5349240"/>
          </a:xfrm>
          <a:custGeom>
            <a:avLst/>
            <a:gdLst/>
            <a:ahLst/>
            <a:cxnLst/>
            <a:rect l="l" t="t" r="r" b="b"/>
            <a:pathLst>
              <a:path w="3794760" h="5349240">
                <a:moveTo>
                  <a:pt x="0" y="0"/>
                </a:moveTo>
                <a:lnTo>
                  <a:pt x="3794760" y="0"/>
                </a:lnTo>
                <a:lnTo>
                  <a:pt x="3794760" y="5349240"/>
                </a:lnTo>
                <a:lnTo>
                  <a:pt x="0" y="5349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842162" y="362674"/>
            <a:ext cx="7612151" cy="72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6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Healthy Lives, Healthy People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5442" y="1565500"/>
            <a:ext cx="4287850" cy="110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Public health strategy for </a:t>
            </a:r>
            <a:r>
              <a:rPr lang="en-US" sz="200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England </a:t>
            </a:r>
          </a:p>
          <a:p>
            <a:pPr algn="l">
              <a:lnSpc>
                <a:spcPts val="2897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November 2010 </a:t>
            </a:r>
          </a:p>
          <a:p>
            <a:pPr algn="l">
              <a:lnSpc>
                <a:spcPts val="2897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Shift in how public health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8342" y="2692498"/>
            <a:ext cx="2578560" cy="30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2004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challenges are tackled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5442" y="2880331"/>
            <a:ext cx="4244207" cy="477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Obesity part of wider public health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8342" y="3451831"/>
            <a:ext cx="737911" cy="214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2"/>
              </a:lnSpc>
            </a:pPr>
            <a:r>
              <a:rPr lang="en-US" sz="2004" spc="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5442" y="3470367"/>
            <a:ext cx="3908727" cy="557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9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Plan to make local government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9433" y="4112809"/>
            <a:ext cx="4693920" cy="561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2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local at the heart of improving</a:t>
            </a:r>
          </a:p>
          <a:p>
            <a:pPr algn="l">
              <a:lnSpc>
                <a:spcPts val="3917"/>
              </a:lnSpc>
            </a:pPr>
            <a:r>
              <a:rPr lang="en-US" sz="2004" spc="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5442" y="4721581"/>
            <a:ext cx="3973468" cy="287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New integrated service–Public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8342" y="4930835"/>
            <a:ext cx="1773955" cy="38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0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England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5442" y="5292642"/>
            <a:ext cx="4166140" cy="135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Work through Responsibility Deal</a:t>
            </a:r>
          </a:p>
          <a:p>
            <a:pPr algn="l">
              <a:lnSpc>
                <a:spcPts val="2036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food, alcohol, PA, health at</a:t>
            </a:r>
          </a:p>
          <a:p>
            <a:pPr algn="l">
              <a:lnSpc>
                <a:spcPts val="2901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&amp; </a:t>
            </a:r>
            <a:r>
              <a:rPr lang="en-US" sz="2004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behaviour</a:t>
            </a: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change</a:t>
            </a:r>
          </a:p>
          <a:p>
            <a:pPr algn="l">
              <a:lnSpc>
                <a:spcPts val="2901"/>
              </a:lnSpc>
            </a:pPr>
            <a:r>
              <a:rPr lang="en-US" sz="2004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Introduction of Change4Life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5442" y="6268860"/>
            <a:ext cx="90964" cy="395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0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C8932C-B2D5-64A7-5691-DCB19859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GB" sz="3500" b="1" dirty="0">
                <a:solidFill>
                  <a:schemeClr val="accent1">
                    <a:lumMod val="50000"/>
                  </a:schemeClr>
                </a:solidFill>
              </a:rPr>
              <a:t>2009 – Change4Life</a:t>
            </a:r>
            <a:br>
              <a:rPr lang="en-GB" sz="3500" dirty="0">
                <a:solidFill>
                  <a:schemeClr val="accent1">
                    <a:lumMod val="50000"/>
                  </a:schemeClr>
                </a:solidFill>
              </a:rPr>
            </a:br>
            <a:endParaRPr lang="en-GB" sz="35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2154832-E990-461B-936A-6F5639091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31914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1035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59680" y="1402080"/>
            <a:ext cx="3642360" cy="5143500"/>
          </a:xfrm>
          <a:custGeom>
            <a:avLst/>
            <a:gdLst/>
            <a:ahLst/>
            <a:cxnLst/>
            <a:rect l="l" t="t" r="r" b="b"/>
            <a:pathLst>
              <a:path w="3642360" h="5143500">
                <a:moveTo>
                  <a:pt x="0" y="0"/>
                </a:moveTo>
                <a:lnTo>
                  <a:pt x="3642360" y="0"/>
                </a:lnTo>
                <a:lnTo>
                  <a:pt x="364236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862279" y="174288"/>
            <a:ext cx="7562879" cy="123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Healthy Lives, Healthy People – a call to action on obesity in England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9339" y="2008975"/>
            <a:ext cx="4110514" cy="53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New national ambitions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6539" y="2557043"/>
            <a:ext cx="3382861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a sustained downward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3356" y="2922803"/>
            <a:ext cx="3450584" cy="1157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national trend in the level of excess weight in children by 2020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6539" y="4010816"/>
            <a:ext cx="3726656" cy="162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a downward trend in the</a:t>
            </a:r>
          </a:p>
          <a:p>
            <a:pPr algn="l">
              <a:lnSpc>
                <a:spcPts val="1958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level of excess weight</a:t>
            </a:r>
          </a:p>
          <a:p>
            <a:pPr algn="l">
              <a:lnSpc>
                <a:spcPts val="3801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averaged across all adults</a:t>
            </a:r>
          </a:p>
          <a:p>
            <a:pPr algn="l">
              <a:lnSpc>
                <a:spcPts val="3363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2020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58082" y="6462484"/>
            <a:ext cx="1375058" cy="346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October 2011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880" y="0"/>
            <a:ext cx="4328160" cy="1897380"/>
          </a:xfrm>
          <a:custGeom>
            <a:avLst/>
            <a:gdLst/>
            <a:ahLst/>
            <a:cxnLst/>
            <a:rect l="l" t="t" r="r" b="b"/>
            <a:pathLst>
              <a:path w="4328160" h="1897380">
                <a:moveTo>
                  <a:pt x="0" y="0"/>
                </a:moveTo>
                <a:lnTo>
                  <a:pt x="4328160" y="0"/>
                </a:lnTo>
                <a:lnTo>
                  <a:pt x="4328160" y="1897380"/>
                </a:lnTo>
                <a:lnTo>
                  <a:pt x="0" y="1897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5417820" y="274320"/>
            <a:ext cx="3459480" cy="4861560"/>
          </a:xfrm>
          <a:custGeom>
            <a:avLst/>
            <a:gdLst/>
            <a:ahLst/>
            <a:cxnLst/>
            <a:rect l="l" t="t" r="r" b="b"/>
            <a:pathLst>
              <a:path w="3459480" h="4861560">
                <a:moveTo>
                  <a:pt x="0" y="0"/>
                </a:moveTo>
                <a:lnTo>
                  <a:pt x="3459480" y="0"/>
                </a:lnTo>
                <a:lnTo>
                  <a:pt x="3459480" y="4861560"/>
                </a:lnTo>
                <a:lnTo>
                  <a:pt x="0" y="4861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85293" y="2073431"/>
            <a:ext cx="4952952" cy="53086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Voluntary pledges from food industry to reduce portion sizes, energy, total fat, saturated fat, sugar and salt in food products; front of pack labelling; out of home</a:t>
            </a:r>
          </a:p>
          <a:p>
            <a:pPr algn="just">
              <a:lnSpc>
                <a:spcPts val="3363"/>
              </a:lnSpc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calorie labelling</a:t>
            </a:r>
          </a:p>
          <a:p>
            <a:pPr algn="just">
              <a:lnSpc>
                <a:spcPts val="3363"/>
              </a:lnSpc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https://www.gov.uk/government/news/public-health-responsibility-deal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363"/>
              </a:lnSpc>
            </a:pP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363"/>
              </a:lnSpc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https://www.sustainweb.org/reports/the_irresponsibility_deal/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363"/>
              </a:lnSpc>
            </a:pPr>
            <a:endParaRPr lang="en-US" sz="240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363"/>
              </a:lnSpc>
            </a:pPr>
            <a:endParaRPr lang="en-US" sz="2402" dirty="0">
              <a:solidFill>
                <a:srgbClr val="00989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238245" y="5321979"/>
            <a:ext cx="3899059" cy="941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20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Initiative quietly ‘parked’ at end of 2015 after govt. admitted it had no</a:t>
            </a:r>
          </a:p>
          <a:p>
            <a:pPr algn="l">
              <a:lnSpc>
                <a:spcPts val="2808"/>
              </a:lnSpc>
            </a:pPr>
            <a:r>
              <a:rPr lang="en-US" sz="200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‘teeth’ to fight powerful food lobby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4983480" y="1341120"/>
            <a:ext cx="3924300" cy="5455920"/>
          </a:xfrm>
          <a:custGeom>
            <a:avLst/>
            <a:gdLst/>
            <a:ahLst/>
            <a:cxnLst/>
            <a:rect l="l" t="t" r="r" b="b"/>
            <a:pathLst>
              <a:path w="3924300" h="5455920">
                <a:moveTo>
                  <a:pt x="0" y="0"/>
                </a:moveTo>
                <a:lnTo>
                  <a:pt x="3924300" y="0"/>
                </a:lnTo>
                <a:lnTo>
                  <a:pt x="3924300" y="5455920"/>
                </a:lnTo>
                <a:lnTo>
                  <a:pt x="0" y="5455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594360" y="452923"/>
            <a:ext cx="8113043" cy="585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Arial "/>
                <a:ea typeface="Arial Bold"/>
                <a:cs typeface="Arial Bold"/>
                <a:sym typeface="Arial Bold"/>
              </a:rPr>
              <a:t>2016 UK Childhood Obesity Strategy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8640" y="1592990"/>
            <a:ext cx="4029856" cy="41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Finally published in August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1845" y="1959007"/>
            <a:ext cx="3471805" cy="79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2016 after several delays and plenty of promises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8640" y="2680621"/>
            <a:ext cx="3613566" cy="2945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8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Only 13 pages in length</a:t>
            </a:r>
          </a:p>
          <a:p>
            <a:pPr algn="l">
              <a:lnSpc>
                <a:spcPts val="3938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38"/>
              </a:lnSpc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https://www.gov.uk/government/publications/childhood-obesity-a-plan-for-action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38"/>
              </a:lnSpc>
            </a:pP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05" y="14324"/>
            <a:ext cx="5092795" cy="3567076"/>
          </a:xfrm>
          <a:custGeom>
            <a:avLst/>
            <a:gdLst/>
            <a:ahLst/>
            <a:cxnLst/>
            <a:rect l="l" t="t" r="r" b="b"/>
            <a:pathLst>
              <a:path w="9144000" h="6438900">
                <a:moveTo>
                  <a:pt x="0" y="0"/>
                </a:moveTo>
                <a:lnTo>
                  <a:pt x="9144000" y="0"/>
                </a:lnTo>
                <a:lnTo>
                  <a:pt x="9144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F97DA-D70D-BDD3-954A-5D9CB9BAC3F6}"/>
              </a:ext>
            </a:extLst>
          </p:cNvPr>
          <p:cNvSpPr txBox="1"/>
          <p:nvPr/>
        </p:nvSpPr>
        <p:spPr>
          <a:xfrm>
            <a:off x="5486400" y="1593276"/>
            <a:ext cx="3200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https://www.theguardian.com/society/2016/aug/18/childhood-obesity-strategy-not-even-an-e-for-effort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3" name="Freeform 2"/>
          <p:cNvSpPr/>
          <p:nvPr/>
        </p:nvSpPr>
        <p:spPr>
          <a:xfrm>
            <a:off x="16042" y="3657600"/>
            <a:ext cx="5089357" cy="3186076"/>
          </a:xfrm>
          <a:custGeom>
            <a:avLst/>
            <a:gdLst/>
            <a:ahLst/>
            <a:cxnLst/>
            <a:rect l="l" t="t" r="r" b="b"/>
            <a:pathLst>
              <a:path w="8854440" h="6545580">
                <a:moveTo>
                  <a:pt x="0" y="0"/>
                </a:moveTo>
                <a:lnTo>
                  <a:pt x="8854440" y="0"/>
                </a:lnTo>
                <a:lnTo>
                  <a:pt x="8854440" y="6545580"/>
                </a:lnTo>
                <a:lnTo>
                  <a:pt x="0" y="654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34813-8DC8-A9C2-94D1-5E7067798E6C}"/>
              </a:ext>
            </a:extLst>
          </p:cNvPr>
          <p:cNvSpPr txBox="1"/>
          <p:nvPr/>
        </p:nvSpPr>
        <p:spPr>
          <a:xfrm>
            <a:off x="5455462" y="4249062"/>
            <a:ext cx="3383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https://www.theguardian.com/commentisfree/2018/feb/11/the-guardian-view-on-childhood-obesity-forget-small-steps-tackle-big-food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54380"/>
            <a:ext cx="9121140" cy="6103620"/>
          </a:xfrm>
          <a:custGeom>
            <a:avLst/>
            <a:gdLst/>
            <a:ahLst/>
            <a:cxnLst/>
            <a:rect l="l" t="t" r="r" b="b"/>
            <a:pathLst>
              <a:path w="9121140" h="6103620">
                <a:moveTo>
                  <a:pt x="0" y="0"/>
                </a:moveTo>
                <a:lnTo>
                  <a:pt x="9121140" y="0"/>
                </a:lnTo>
                <a:lnTo>
                  <a:pt x="9121140" y="6103620"/>
                </a:lnTo>
                <a:lnTo>
                  <a:pt x="0" y="6103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2A62-5A91-469C-0811-80107FA4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Brief Critique of Foresight/ HWHL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5E17-F78B-B620-30C7-BE2365414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Focus on individual behaviour change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‘Softer’ options targeted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Voluntary codes of practice &amp; easier to target behaviour change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Less targeting of upstream drivers (e.g. retailers, food industry, agriculture(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Little political will to take on food industry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68056-1C95-1E9B-04A7-740F0AAB89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Effectiveness of behaviour change?</a:t>
            </a:r>
          </a:p>
          <a:p>
            <a:r>
              <a:rPr lang="en-GB" dirty="0"/>
              <a:t>++ food energy available within the food environment – greater energy consumption &amp; waste</a:t>
            </a:r>
          </a:p>
          <a:p>
            <a:r>
              <a:rPr lang="en-GB" dirty="0"/>
              <a:t>Increasing awareness of importance of environment vs. individual</a:t>
            </a:r>
          </a:p>
          <a:p>
            <a:r>
              <a:rPr lang="en-GB" dirty="0"/>
              <a:t>? Political will to address ‘wicked’ problems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640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669280"/>
          </a:xfrm>
          <a:custGeom>
            <a:avLst/>
            <a:gdLst/>
            <a:ahLst/>
            <a:cxnLst/>
            <a:rect l="l" t="t" r="r" b="b"/>
            <a:pathLst>
              <a:path w="9144000" h="5669280">
                <a:moveTo>
                  <a:pt x="0" y="0"/>
                </a:moveTo>
                <a:lnTo>
                  <a:pt x="9144000" y="0"/>
                </a:lnTo>
                <a:lnTo>
                  <a:pt x="9144000" y="5669280"/>
                </a:lnTo>
                <a:lnTo>
                  <a:pt x="0" y="5669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63503" y="-63503"/>
            <a:ext cx="9270997" cy="6984997"/>
          </a:xfrm>
          <a:custGeom>
            <a:avLst/>
            <a:gdLst/>
            <a:ahLst/>
            <a:cxnLst/>
            <a:rect l="l" t="t" r="r" b="b"/>
            <a:pathLst>
              <a:path w="9270997" h="6984997">
                <a:moveTo>
                  <a:pt x="0" y="0"/>
                </a:moveTo>
                <a:lnTo>
                  <a:pt x="9270997" y="0"/>
                </a:lnTo>
                <a:lnTo>
                  <a:pt x="9270997" y="6984997"/>
                </a:lnTo>
                <a:lnTo>
                  <a:pt x="0" y="69849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70967" y="5787028"/>
            <a:ext cx="6026896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9898"/>
                </a:solidFill>
                <a:latin typeface="Arial"/>
                <a:ea typeface="Arial"/>
                <a:cs typeface="Arial"/>
                <a:sym typeface="Arial"/>
              </a:rPr>
              <a:t>https://onlinelibrary.wiley.com/doi/10.1111/1468-0009.12498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38700" cy="6858000"/>
          </a:xfrm>
          <a:custGeom>
            <a:avLst/>
            <a:gdLst/>
            <a:ahLst/>
            <a:cxnLst/>
            <a:rect l="l" t="t" r="r" b="b"/>
            <a:pathLst>
              <a:path w="4838700" h="6858000">
                <a:moveTo>
                  <a:pt x="0" y="0"/>
                </a:moveTo>
                <a:lnTo>
                  <a:pt x="4838700" y="0"/>
                </a:lnTo>
                <a:lnTo>
                  <a:pt x="48387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5386073" y="207607"/>
            <a:ext cx="3399330" cy="45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4"/>
              </a:lnSpc>
            </a:pPr>
            <a:r>
              <a:rPr lang="en-US" sz="2795" spc="2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Published June 2018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88893" y="3621434"/>
            <a:ext cx="2538774" cy="40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400" spc="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Achieved through: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3293" y="3996338"/>
            <a:ext cx="2680468" cy="188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400" spc="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sugar reduction calorie reduction advertising and promotions</a:t>
            </a:r>
          </a:p>
          <a:p>
            <a:pPr algn="l">
              <a:lnSpc>
                <a:spcPts val="3363"/>
              </a:lnSpc>
            </a:pPr>
            <a:r>
              <a:rPr lang="en-US" sz="2402" spc="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areas schools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88893" y="1066705"/>
            <a:ext cx="3837327" cy="2236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Sets a national ambition to halve childhood obesity and significantly reduce the gap in obesity between children from the most and least</a:t>
            </a: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deprived areas by 2030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060180" cy="6682740"/>
          </a:xfrm>
          <a:custGeom>
            <a:avLst/>
            <a:gdLst/>
            <a:ahLst/>
            <a:cxnLst/>
            <a:rect l="l" t="t" r="r" b="b"/>
            <a:pathLst>
              <a:path w="9060180" h="6682740">
                <a:moveTo>
                  <a:pt x="0" y="0"/>
                </a:moveTo>
                <a:lnTo>
                  <a:pt x="9060180" y="0"/>
                </a:lnTo>
                <a:lnTo>
                  <a:pt x="9060180" y="6682740"/>
                </a:lnTo>
                <a:lnTo>
                  <a:pt x="0" y="668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2360676" y="1608858"/>
            <a:ext cx="2535612" cy="34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Published 27th July 2020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A529-84CA-B3A6-2708-DF8F12C4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1268729"/>
            <a:ext cx="2619756" cy="4341114"/>
          </a:xfrm>
        </p:spPr>
        <p:txBody>
          <a:bodyPr anchor="ctr">
            <a:normAutofit/>
          </a:bodyPr>
          <a:lstStyle/>
          <a:p>
            <a: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 "/>
              </a:rPr>
              <a:t>2024–2025 – Rising concern &amp; new data</a:t>
            </a:r>
            <a:br>
              <a:rPr lang="en-GB" sz="3000" b="1" dirty="0">
                <a:solidFill>
                  <a:schemeClr val="accent1">
                    <a:lumMod val="50000"/>
                  </a:schemeClr>
                </a:solidFill>
                <a:latin typeface="Arial "/>
              </a:rPr>
            </a:br>
            <a:endParaRPr lang="en-GB" sz="3000" b="1" dirty="0">
              <a:solidFill>
                <a:schemeClr val="accent1">
                  <a:lumMod val="50000"/>
                </a:schemeClr>
              </a:solidFill>
              <a:latin typeface="Arial 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B8E31A-E912-CD62-B0EE-FAFB1FFFDD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56185" y="1268730"/>
          <a:ext cx="5212080" cy="4339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4233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48CF-CA23-5DB0-FEBA-FE44D650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1268729"/>
            <a:ext cx="2619756" cy="4341114"/>
          </a:xfrm>
        </p:spPr>
        <p:txBody>
          <a:bodyPr anchor="ctr">
            <a:normAutofit/>
          </a:bodyPr>
          <a:lstStyle/>
          <a:p>
            <a:r>
              <a:rPr lang="en-GB" sz="3000" b="1" dirty="0">
                <a:solidFill>
                  <a:schemeClr val="accent1">
                    <a:lumMod val="50000"/>
                  </a:schemeClr>
                </a:solidFill>
              </a:rPr>
              <a:t>2025 – New Government Prevention Measures</a:t>
            </a:r>
            <a:br>
              <a:rPr lang="en-GB" sz="3000" dirty="0">
                <a:solidFill>
                  <a:schemeClr val="accent1">
                    <a:lumMod val="50000"/>
                  </a:schemeClr>
                </a:solidFill>
              </a:rPr>
            </a:br>
            <a:endParaRPr lang="en-GB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ADE98-C510-8078-BE06-0F0B7D0CC1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56185" y="1268730"/>
          <a:ext cx="5212080" cy="4339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5886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C7DB-4D9E-BE69-E682-21EAD0B9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401" y="533400"/>
            <a:ext cx="4437128" cy="1921764"/>
          </a:xfrm>
        </p:spPr>
        <p:txBody>
          <a:bodyPr anchor="b">
            <a:normAutofit fontScale="90000"/>
          </a:bodyPr>
          <a:lstStyle/>
          <a:p>
            <a:r>
              <a:rPr lang="en-GB" sz="4000" b="1" dirty="0"/>
              <a:t>Local Use of HWHL Branding (Ongoing into 2022+)</a:t>
            </a:r>
            <a:br>
              <a:rPr lang="en-GB" sz="2325" b="1" dirty="0"/>
            </a:br>
            <a:endParaRPr lang="en-GB" sz="2325" b="1" dirty="0"/>
          </a:p>
        </p:txBody>
      </p:sp>
      <p:pic>
        <p:nvPicPr>
          <p:cNvPr id="5" name="Picture 4" descr="Periodic table illustration">
            <a:extLst>
              <a:ext uri="{FF2B5EF4-FFF2-40B4-BE49-F238E27FC236}">
                <a16:creationId xmlns:a16="http://schemas.microsoft.com/office/drawing/2014/main" id="{E821C662-3C2F-84E6-567F-87FA9A4E9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1" r="24890"/>
          <a:stretch>
            <a:fillRect/>
          </a:stretch>
        </p:blipFill>
        <p:spPr>
          <a:xfrm>
            <a:off x="15" y="857257"/>
            <a:ext cx="3682731" cy="51434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92A8C-F52D-D57A-64F5-E3C051EA8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401" y="2514600"/>
            <a:ext cx="4437127" cy="3071309"/>
          </a:xfrm>
        </p:spPr>
        <p:txBody>
          <a:bodyPr>
            <a:normAutofit lnSpcReduction="10000"/>
          </a:bodyPr>
          <a:lstStyle/>
          <a:p>
            <a:endParaRPr lang="en-GB" sz="1350" dirty="0"/>
          </a:p>
          <a:p>
            <a:pPr lvl="0"/>
            <a:r>
              <a:rPr lang="en-GB" sz="2400" dirty="0"/>
              <a:t>Some councils (e.g., North Yorkshire) continue to use a </a:t>
            </a:r>
            <a:r>
              <a:rPr lang="en-GB" sz="2400" i="1" dirty="0"/>
              <a:t>Healthy Weight, Healthy Lives Strategy</a:t>
            </a:r>
            <a:r>
              <a:rPr lang="en-GB" sz="2400" dirty="0"/>
              <a:t> framework locally.</a:t>
            </a:r>
          </a:p>
          <a:p>
            <a:r>
              <a:rPr lang="en-GB" sz="2400" dirty="0"/>
              <a:t>These local frameworks </a:t>
            </a:r>
            <a:r>
              <a:rPr lang="en-GB" sz="2400" b="1" dirty="0"/>
              <a:t>do not represent a continuation of the national HWHL strategy</a:t>
            </a:r>
            <a:r>
              <a:rPr lang="en-GB" sz="2400" dirty="0"/>
              <a:t>, but are adaptations. </a:t>
            </a:r>
          </a:p>
        </p:txBody>
      </p:sp>
    </p:spTree>
    <p:extLst>
      <p:ext uri="{BB962C8B-B14F-4D97-AF65-F5344CB8AC3E}">
        <p14:creationId xmlns:p14="http://schemas.microsoft.com/office/powerpoint/2010/main" val="30784616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F44E8-66C3-96CA-ACA6-EEC02831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82844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GB" sz="36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GB" sz="3600" b="1" dirty="0">
                <a:solidFill>
                  <a:schemeClr val="accent1">
                    <a:lumMod val="50000"/>
                  </a:schemeClr>
                </a:solidFill>
              </a:rPr>
              <a:t>Comparison: Healthy Weight, Healthy Lives (2008) vs. Current Policies (2025–26)</a:t>
            </a:r>
            <a:br>
              <a:rPr lang="en-GB" sz="3600" b="1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en-GB" sz="25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GB" sz="3100" b="1" dirty="0">
                <a:solidFill>
                  <a:schemeClr val="accent1">
                    <a:lumMod val="50000"/>
                  </a:schemeClr>
                </a:solidFill>
              </a:rPr>
              <a:t>1. Strategic Focus:</a:t>
            </a:r>
            <a:br>
              <a:rPr lang="en-GB" sz="3100" b="1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en-GB" sz="3100" dirty="0"/>
            </a:br>
            <a:endParaRPr lang="en-GB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6404A-A91A-F034-0599-C68832286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398626"/>
            <a:ext cx="3868820" cy="3730460"/>
          </a:xfrm>
        </p:spPr>
        <p:txBody>
          <a:bodyPr>
            <a:normAutofit fontScale="92500" lnSpcReduction="10000"/>
          </a:bodyPr>
          <a:lstStyle/>
          <a:p>
            <a:r>
              <a:rPr lang="en-GB" sz="2000" b="1" dirty="0"/>
              <a:t>Healthy Weight, Healthy Lives (2008)</a:t>
            </a:r>
            <a:endParaRPr lang="en-GB" sz="2000" dirty="0"/>
          </a:p>
          <a:p>
            <a:pPr lvl="0"/>
            <a:r>
              <a:rPr lang="en-GB" sz="2000" dirty="0"/>
              <a:t>Emphasis on </a:t>
            </a:r>
            <a:r>
              <a:rPr lang="en-GB" sz="2000" b="1" dirty="0"/>
              <a:t>reversing national obesity trends</a:t>
            </a:r>
            <a:r>
              <a:rPr lang="en-GB" sz="2000" dirty="0"/>
              <a:t>, focusing strongly on children.</a:t>
            </a:r>
          </a:p>
          <a:p>
            <a:pPr lvl="0"/>
            <a:r>
              <a:rPr lang="en-GB" sz="2000" dirty="0"/>
              <a:t>Multi‑sector: schools, food industry, workplaces, NHS.</a:t>
            </a:r>
          </a:p>
          <a:p>
            <a:pPr lvl="0"/>
            <a:r>
              <a:rPr lang="en-GB" sz="2000" dirty="0"/>
              <a:t>Prevention was important, but treatment/support also included.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17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7BC11-3F9C-5013-F1B8-C9C8B7697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1865" y="2398626"/>
            <a:ext cx="3873484" cy="37304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b="1" dirty="0"/>
              <a:t>Current Policies (2025–26)</a:t>
            </a:r>
            <a:endParaRPr lang="en-GB" sz="2000" dirty="0"/>
          </a:p>
          <a:p>
            <a:pPr lvl="0"/>
            <a:r>
              <a:rPr lang="en-GB" sz="2000" dirty="0"/>
              <a:t>Focus on </a:t>
            </a:r>
            <a:r>
              <a:rPr lang="en-GB" sz="2000" b="1" dirty="0"/>
              <a:t>preventing childhood obesity</a:t>
            </a:r>
            <a:r>
              <a:rPr lang="en-GB" sz="2000" dirty="0"/>
              <a:t>, reducing inequalities, and improving healthy environments (schools, advertising regulation).</a:t>
            </a:r>
          </a:p>
          <a:p>
            <a:pPr lvl="0"/>
            <a:r>
              <a:rPr lang="en-GB" sz="2000" dirty="0"/>
              <a:t>Policies are more </a:t>
            </a:r>
            <a:r>
              <a:rPr lang="en-GB" sz="2000" b="1" dirty="0"/>
              <a:t>structural and regulatory</a:t>
            </a:r>
            <a:r>
              <a:rPr lang="en-GB" sz="2000" dirty="0"/>
              <a:t> than the 2008 strategy.</a:t>
            </a:r>
          </a:p>
          <a:p>
            <a:pPr lvl="0"/>
            <a:r>
              <a:rPr lang="en-GB" sz="2000" dirty="0"/>
              <a:t>Government rhetoric emphasises not “looking away” as children become unhealthier.</a:t>
            </a:r>
          </a:p>
          <a:p>
            <a:pPr marL="0" indent="0">
              <a:buNone/>
            </a:pPr>
            <a:r>
              <a:rPr lang="en-GB" sz="1700" dirty="0"/>
              <a:t> </a:t>
            </a:r>
          </a:p>
          <a:p>
            <a:endParaRPr lang="en-GB" sz="1700" dirty="0"/>
          </a:p>
        </p:txBody>
      </p:sp>
    </p:spTree>
    <p:extLst>
      <p:ext uri="{BB962C8B-B14F-4D97-AF65-F5344CB8AC3E}">
        <p14:creationId xmlns:p14="http://schemas.microsoft.com/office/powerpoint/2010/main" val="59701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8929C-43C2-654D-1152-90368729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2. Primary Targets</a:t>
            </a:r>
            <a:br>
              <a:rPr lang="en-GB" dirty="0">
                <a:solidFill>
                  <a:schemeClr val="accent1">
                    <a:lumMod val="50000"/>
                  </a:schemeClr>
                </a:solidFill>
              </a:rPr>
            </a:b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F2178-745A-DCFC-0B57-776B289E52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HWHL (2008)</a:t>
            </a:r>
            <a:endParaRPr lang="en-GB" dirty="0"/>
          </a:p>
          <a:p>
            <a:pPr lvl="0"/>
            <a:r>
              <a:rPr lang="en-GB" dirty="0"/>
              <a:t>Reduce childhood obesity to </a:t>
            </a:r>
            <a:r>
              <a:rPr lang="en-GB" b="1" dirty="0"/>
              <a:t>2000 levels by 2020</a:t>
            </a:r>
            <a:r>
              <a:rPr lang="en-GB" dirty="0"/>
              <a:t>.</a:t>
            </a:r>
          </a:p>
          <a:p>
            <a:r>
              <a:rPr lang="en-GB" dirty="0"/>
              <a:t>Address adult obesity through activity, food environment and workplace health.</a:t>
            </a:r>
            <a:br>
              <a:rPr lang="en-GB" dirty="0"/>
            </a:b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F0902-E373-5D25-2388-483417E87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2025–26 Policies</a:t>
            </a:r>
            <a:endParaRPr lang="en-GB" dirty="0"/>
          </a:p>
          <a:p>
            <a:pPr lvl="0"/>
            <a:r>
              <a:rPr lang="en-GB" dirty="0"/>
              <a:t>Reverse increasing obesity rates </a:t>
            </a:r>
            <a:r>
              <a:rPr lang="en-GB" b="1" dirty="0"/>
              <a:t>post‑pandemic</a:t>
            </a:r>
            <a:r>
              <a:rPr lang="en-GB" dirty="0"/>
              <a:t>, especially in early‑years and primary school children.</a:t>
            </a:r>
          </a:p>
          <a:p>
            <a:pPr lvl="0"/>
            <a:r>
              <a:rPr lang="en-GB" dirty="0"/>
              <a:t>Close widening </a:t>
            </a:r>
            <a:r>
              <a:rPr lang="en-GB" b="1" dirty="0"/>
              <a:t>deprivation gaps</a:t>
            </a:r>
            <a:r>
              <a:rPr lang="en-GB" dirty="0"/>
              <a:t> in childhood obesity.</a:t>
            </a:r>
            <a:br>
              <a:rPr lang="en-GB" dirty="0"/>
            </a:br>
            <a:r>
              <a:rPr lang="en-GB" u="sng" dirty="0">
                <a:hlinkClick r:id="rId2"/>
              </a:rPr>
              <a:t>[gov.uk]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1039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3AC1-7FE7-A235-0903-2E61B47A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3. Methods of Intervention</a:t>
            </a:r>
            <a:br>
              <a:rPr lang="en-GB" dirty="0">
                <a:solidFill>
                  <a:schemeClr val="accent1">
                    <a:lumMod val="50000"/>
                  </a:schemeClr>
                </a:solidFill>
              </a:rPr>
            </a:b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E23D1-CC43-99FE-7F6C-B6A198A534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HWHL (2008)</a:t>
            </a:r>
            <a:endParaRPr lang="en-GB" dirty="0"/>
          </a:p>
          <a:p>
            <a:pPr lvl="0"/>
            <a:r>
              <a:rPr lang="en-GB" dirty="0"/>
              <a:t>Behaviour change messaging.</a:t>
            </a:r>
          </a:p>
          <a:p>
            <a:pPr lvl="0"/>
            <a:r>
              <a:rPr lang="en-GB" dirty="0"/>
              <a:t>Investment in early‑years programmes.</a:t>
            </a:r>
          </a:p>
          <a:p>
            <a:pPr lvl="0"/>
            <a:r>
              <a:rPr lang="en-GB" dirty="0"/>
              <a:t>Encouraging physical activity through infrastructure (e.g., cycle lanes). </a:t>
            </a:r>
            <a:r>
              <a:rPr lang="en-GB" u="sng" dirty="0">
                <a:hlinkClick r:id="rId2"/>
              </a:rPr>
              <a:t>[thensmc.com]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40FA4-A824-E855-B114-DCAF4DC234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Current Strategies (2025–26)</a:t>
            </a:r>
            <a:endParaRPr lang="en-GB" dirty="0"/>
          </a:p>
          <a:p>
            <a:pPr lvl="0"/>
            <a:r>
              <a:rPr lang="en-GB" b="1" dirty="0"/>
              <a:t>Regulatory focus</a:t>
            </a:r>
            <a:r>
              <a:rPr lang="en-GB" dirty="0"/>
              <a:t>: limits on advertising of junk food, restrictions on high‑caffeine energy drinks.</a:t>
            </a:r>
          </a:p>
          <a:p>
            <a:pPr lvl="0"/>
            <a:r>
              <a:rPr lang="en-GB" b="1" dirty="0"/>
              <a:t>School‑based nutrition interventions</a:t>
            </a:r>
            <a:r>
              <a:rPr lang="en-GB" dirty="0"/>
              <a:t>: expanded free school meals, universal breakfast clubs.</a:t>
            </a:r>
          </a:p>
          <a:p>
            <a:pPr lvl="0"/>
            <a:r>
              <a:rPr lang="en-GB" dirty="0"/>
              <a:t>Tackling structural inequality. </a:t>
            </a:r>
            <a:r>
              <a:rPr lang="en-GB" u="sng" dirty="0">
                <a:hlinkClick r:id="rId3"/>
              </a:rPr>
              <a:t>[gov.uk]</a:t>
            </a:r>
            <a:endParaRPr lang="en-GB" dirty="0"/>
          </a:p>
          <a:p>
            <a:r>
              <a:rPr lang="en-GB" dirty="0"/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360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B03D-D13E-3A10-B220-BA9267FF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4. Governance &amp; Implementation</a:t>
            </a:r>
            <a:br>
              <a:rPr lang="en-GB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GB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6F436-B413-7CA3-FEC4-65F9404BF7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b="1" dirty="0"/>
              <a:t>HWHL (2008)</a:t>
            </a:r>
            <a:endParaRPr lang="en-GB" dirty="0"/>
          </a:p>
          <a:p>
            <a:pPr lvl="0"/>
            <a:r>
              <a:rPr lang="en-GB" dirty="0"/>
              <a:t>Strong cross‑government collaboration, with a formal strategy document.</a:t>
            </a:r>
          </a:p>
          <a:p>
            <a:pPr lvl="0"/>
            <a:r>
              <a:rPr lang="en-GB" dirty="0"/>
              <a:t>Nationally coordinated and centrally funded. </a:t>
            </a:r>
            <a:r>
              <a:rPr lang="en-GB" u="sng" dirty="0">
                <a:hlinkClick r:id="rId2"/>
              </a:rPr>
              <a:t>[data.parliament.uk]</a:t>
            </a:r>
            <a:r>
              <a:rPr lang="en-GB" dirty="0"/>
              <a:t>, </a:t>
            </a:r>
            <a:r>
              <a:rPr lang="en-GB" u="sng" dirty="0">
                <a:hlinkClick r:id="rId3"/>
              </a:rPr>
              <a:t>[navigator....lth.org.uk]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E9922-645A-50E6-21A7-F67783C4EE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GB" b="1" dirty="0"/>
          </a:p>
          <a:p>
            <a:r>
              <a:rPr lang="en-GB" b="1" dirty="0"/>
              <a:t>2025–26 Policies</a:t>
            </a:r>
            <a:endParaRPr lang="en-GB" dirty="0"/>
          </a:p>
          <a:p>
            <a:pPr lvl="0"/>
            <a:r>
              <a:rPr lang="en-GB" dirty="0"/>
              <a:t>Currently implemented through </a:t>
            </a:r>
            <a:r>
              <a:rPr lang="en-GB" b="1" dirty="0"/>
              <a:t>Department of Health and Social Care</a:t>
            </a:r>
            <a:r>
              <a:rPr lang="en-GB" dirty="0"/>
              <a:t>, NHS England, and Department for Education.</a:t>
            </a:r>
          </a:p>
          <a:p>
            <a:pPr lvl="0"/>
            <a:r>
              <a:rPr lang="en-GB" dirty="0"/>
              <a:t>No single unified national obesity strategy branded like HWHL — more modular policy measures.</a:t>
            </a:r>
          </a:p>
          <a:p>
            <a:r>
              <a:rPr lang="en-GB" dirty="0"/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5270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E6BD-2A21-9070-5E6B-0EAB0771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5. Status &amp; Legacy</a:t>
            </a:r>
            <a:br>
              <a:rPr lang="en-GB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GB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569D5-F21A-95D3-6C88-A046976B15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HWHL</a:t>
            </a:r>
            <a:endParaRPr lang="en-GB" dirty="0"/>
          </a:p>
          <a:p>
            <a:pPr lvl="0"/>
            <a:r>
              <a:rPr lang="en-GB" b="1" dirty="0"/>
              <a:t>No longer an active national strategy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Ended after the 2008–2011 funding window.</a:t>
            </a:r>
          </a:p>
          <a:p>
            <a:pPr lvl="0"/>
            <a:r>
              <a:rPr lang="en-GB" dirty="0"/>
              <a:t>Lives on in local frameworks and influenced later campaigns like Change4Life.</a:t>
            </a:r>
            <a:br>
              <a:rPr lang="en-GB" dirty="0"/>
            </a:br>
            <a:r>
              <a:rPr lang="en-GB" u="sng" dirty="0">
                <a:hlinkClick r:id="rId2"/>
              </a:rPr>
              <a:t>[navigator....lth.org.uk]</a:t>
            </a:r>
            <a:r>
              <a:rPr lang="en-GB" dirty="0"/>
              <a:t>, </a:t>
            </a:r>
            <a:r>
              <a:rPr lang="en-GB" u="sng" dirty="0">
                <a:hlinkClick r:id="rId3"/>
              </a:rPr>
              <a:t>[thensmc.com]</a:t>
            </a:r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6C45F-BD10-DEB7-CDAA-428A132D0B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2025–26 Policies</a:t>
            </a:r>
            <a:endParaRPr lang="en-GB" dirty="0"/>
          </a:p>
          <a:p>
            <a:pPr lvl="0"/>
            <a:r>
              <a:rPr lang="en-GB" dirty="0"/>
              <a:t>Represent the </a:t>
            </a:r>
            <a:r>
              <a:rPr lang="en-GB" b="1" dirty="0"/>
              <a:t>current national response</a:t>
            </a:r>
            <a:r>
              <a:rPr lang="en-GB" dirty="0"/>
              <a:t> to obesity.</a:t>
            </a:r>
          </a:p>
          <a:p>
            <a:pPr lvl="0"/>
            <a:r>
              <a:rPr lang="en-GB" dirty="0"/>
              <a:t>Stronger regulatory and inequality‑focused approaches. </a:t>
            </a:r>
            <a:r>
              <a:rPr lang="en-GB" u="sng" dirty="0">
                <a:hlinkClick r:id="rId4"/>
              </a:rPr>
              <a:t>[gov.uk]</a:t>
            </a:r>
            <a:endParaRPr lang="en-GB" dirty="0"/>
          </a:p>
          <a:p>
            <a:r>
              <a:rPr lang="en-GB" dirty="0"/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275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5BD81B6-1D90-A8E3-18FB-8DFA68781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206" y="4793026"/>
            <a:ext cx="49221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13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E5AFA1-A4A4-8198-C999-D3034A8C1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820968"/>
              </p:ext>
            </p:extLst>
          </p:nvPr>
        </p:nvGraphicFramePr>
        <p:xfrm>
          <a:off x="482600" y="1741128"/>
          <a:ext cx="8178800" cy="3375745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296700">
                  <a:extLst>
                    <a:ext uri="{9D8B030D-6E8A-4147-A177-3AD203B41FA5}">
                      <a16:colId xmlns:a16="http://schemas.microsoft.com/office/drawing/2014/main" val="4173301081"/>
                    </a:ext>
                  </a:extLst>
                </a:gridCol>
                <a:gridCol w="3266463">
                  <a:extLst>
                    <a:ext uri="{9D8B030D-6E8A-4147-A177-3AD203B41FA5}">
                      <a16:colId xmlns:a16="http://schemas.microsoft.com/office/drawing/2014/main" val="3607653522"/>
                    </a:ext>
                  </a:extLst>
                </a:gridCol>
                <a:gridCol w="3615637">
                  <a:extLst>
                    <a:ext uri="{9D8B030D-6E8A-4147-A177-3AD203B41FA5}">
                      <a16:colId xmlns:a16="http://schemas.microsoft.com/office/drawing/2014/main" val="480577697"/>
                    </a:ext>
                  </a:extLst>
                </a:gridCol>
              </a:tblGrid>
              <a:tr h="4141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Aspect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HWHL (2008)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Current Policy (2025–26)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extLst>
                  <a:ext uri="{0D108BD9-81ED-4DB2-BD59-A6C34878D82A}">
                    <a16:rowId xmlns:a16="http://schemas.microsoft.com/office/drawing/2014/main" val="1297895702"/>
                  </a:ext>
                </a:extLst>
              </a:tr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Type of strategy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Single unified national strategy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Set of policies; not a unified branded strategy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extLst>
                  <a:ext uri="{0D108BD9-81ED-4DB2-BD59-A6C34878D82A}">
                    <a16:rowId xmlns:a16="http://schemas.microsoft.com/office/drawing/2014/main" val="2357502874"/>
                  </a:ext>
                </a:extLst>
              </a:tr>
              <a:tr h="10667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Focus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Childhood obesity, behaviour change, multisector action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Childhood obesity, inequality reduction, structural regulation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extLst>
                  <a:ext uri="{0D108BD9-81ED-4DB2-BD59-A6C34878D82A}">
                    <a16:rowId xmlns:a16="http://schemas.microsoft.com/office/drawing/2014/main" val="3057894417"/>
                  </a:ext>
                </a:extLst>
              </a:tr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Approach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Education, partnerships, promotion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Regulation, school food expansion, targeted support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extLst>
                  <a:ext uri="{0D108BD9-81ED-4DB2-BD59-A6C34878D82A}">
                    <a16:rowId xmlns:a16="http://schemas.microsoft.com/office/drawing/2014/main" val="2622706599"/>
                  </a:ext>
                </a:extLst>
              </a:tr>
              <a:tr h="4141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Status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Ended nationally after 2011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Active &amp; ongoing</a:t>
                      </a:r>
                      <a:endParaRPr lang="en-GB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4295" marR="14295" marT="14295" marB="14295" anchor="ctr"/>
                </a:tc>
                <a:extLst>
                  <a:ext uri="{0D108BD9-81ED-4DB2-BD59-A6C34878D82A}">
                    <a16:rowId xmlns:a16="http://schemas.microsoft.com/office/drawing/2014/main" val="3494407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801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78EFA-6B3C-91BD-FF9B-042744EAC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42"/>
            <a:ext cx="615211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F617E-ABA7-2DA6-5E76-48D5499CED98}"/>
              </a:ext>
            </a:extLst>
          </p:cNvPr>
          <p:cNvSpPr txBox="1"/>
          <p:nvPr/>
        </p:nvSpPr>
        <p:spPr>
          <a:xfrm>
            <a:off x="6324600" y="2972310"/>
            <a:ext cx="259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https://healthmedia.blog.gov.uk/2023/06/07/government-plans-to-tackle-obesity-in-england/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761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FA73FC-7C16-7648-B0AF-87FE07E9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0"/>
            <a:ext cx="592859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52C632-75CD-5F1C-647A-8ADD055F4B7C}"/>
              </a:ext>
            </a:extLst>
          </p:cNvPr>
          <p:cNvSpPr txBox="1"/>
          <p:nvPr/>
        </p:nvSpPr>
        <p:spPr>
          <a:xfrm>
            <a:off x="6621839" y="3334466"/>
            <a:ext cx="22935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https://healthmedia.blog.gov.uk/2024/12/06/here-are-the-facts-about-our-junk-food-ban/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491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8F505-A05C-57CB-B731-1A33ECF2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1" y="3438"/>
            <a:ext cx="584963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05B02-61BB-6430-D40B-AC71DED456E7}"/>
              </a:ext>
            </a:extLst>
          </p:cNvPr>
          <p:cNvSpPr txBox="1"/>
          <p:nvPr/>
        </p:nvSpPr>
        <p:spPr>
          <a:xfrm>
            <a:off x="6096000" y="304800"/>
            <a:ext cx="281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0E7E6-EE72-8B92-DBEE-F4A8C401C1BE}"/>
              </a:ext>
            </a:extLst>
          </p:cNvPr>
          <p:cNvSpPr txBox="1"/>
          <p:nvPr/>
        </p:nvSpPr>
        <p:spPr>
          <a:xfrm>
            <a:off x="6324600" y="1600200"/>
            <a:ext cx="2743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One third BOGOF on unhealthy products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https://foodfoundation.org.uk/press-release/one-third-bogof-and-multibuy-deals-are-unhealthy-food-just-38-fruit-and-veg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914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8A05A3-8581-E0F0-9F1C-EBDEF54C1759}"/>
              </a:ext>
            </a:extLst>
          </p:cNvPr>
          <p:cNvSpPr txBox="1"/>
          <p:nvPr/>
        </p:nvSpPr>
        <p:spPr>
          <a:xfrm>
            <a:off x="6558738" y="2286000"/>
            <a:ext cx="2667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https://www.health.org.uk/features-and-opinion/blogs/labour-s-first-100-days-in-health-and-care-policy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2E2AD-FB5D-C556-EC8E-4CB161F3C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28" y="381000"/>
            <a:ext cx="6300672" cy="564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588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32762" y="2255520"/>
            <a:ext cx="4111238" cy="3398520"/>
          </a:xfrm>
          <a:custGeom>
            <a:avLst/>
            <a:gdLst/>
            <a:ahLst/>
            <a:cxnLst/>
            <a:rect l="l" t="t" r="r" b="b"/>
            <a:pathLst>
              <a:path w="4503420" h="3398520">
                <a:moveTo>
                  <a:pt x="0" y="0"/>
                </a:moveTo>
                <a:lnTo>
                  <a:pt x="4503420" y="0"/>
                </a:lnTo>
                <a:lnTo>
                  <a:pt x="4503420" y="3398520"/>
                </a:lnTo>
                <a:lnTo>
                  <a:pt x="0" y="3398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0" y="-2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15747" y="416509"/>
            <a:ext cx="8488280" cy="642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sz="3902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Summary, conclusions and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0967" y="1472851"/>
            <a:ext cx="4238082" cy="34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25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Obesity policy in the UK has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3867" y="1838611"/>
            <a:ext cx="4111238" cy="72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been in place for several years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0502" y="2778431"/>
            <a:ext cx="4162196" cy="2952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focus on individuals; traditionally less on the food system &amp; physical environment  </a:t>
            </a:r>
          </a:p>
          <a:p>
            <a:pPr algn="l">
              <a:lnSpc>
                <a:spcPts val="2900"/>
              </a:lnSpc>
            </a:pPr>
            <a:endParaRPr lang="en-US" sz="2402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900" algn="l">
              <a:lnSpc>
                <a:spcPts val="2900"/>
              </a:lnSpc>
              <a:buFont typeface="Arial" panose="020B0604020202020204" pitchFamily="34" charset="0"/>
              <a:buChar char="•"/>
            </a:pPr>
            <a:r>
              <a:rPr lang="en-US" sz="240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focuses more on ‘soft’ targets than prevalence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0967" y="5606872"/>
            <a:ext cx="4688567" cy="54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4922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clear evidence of impact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2011</Words>
  <Application>Microsoft Office PowerPoint</Application>
  <PresentationFormat>On-screen Show (4:3)</PresentationFormat>
  <Paragraphs>300</Paragraphs>
  <Slides>45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Aptos</vt:lpstr>
      <vt:lpstr>Arial</vt:lpstr>
      <vt:lpstr>Calibri</vt:lpstr>
      <vt:lpstr>Arial Bold Italics</vt:lpstr>
      <vt:lpstr>Arial Bold</vt:lpstr>
      <vt:lpstr>Arial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2009 – Change4Life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Brief Critique of Foresight/ HWHL</vt:lpstr>
      <vt:lpstr>PowerPoint Presentation</vt:lpstr>
      <vt:lpstr>PowerPoint Presentation</vt:lpstr>
      <vt:lpstr>PowerPoint Presentation</vt:lpstr>
      <vt:lpstr>2024–2025 – Rising concern &amp; new data </vt:lpstr>
      <vt:lpstr>2025 – New Government Prevention Measures </vt:lpstr>
      <vt:lpstr>Local Use of HWHL Branding (Ongoing into 2022+) </vt:lpstr>
      <vt:lpstr> Comparison: Healthy Weight, Healthy Lives (2008) vs. Current Policies (2025–26)  1. Strategic Focus:  </vt:lpstr>
      <vt:lpstr>2. Primary Targets </vt:lpstr>
      <vt:lpstr>3. Methods of Intervention </vt:lpstr>
      <vt:lpstr>4. Governance &amp; Implementation </vt:lpstr>
      <vt:lpstr>5. Status &amp; Legacy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TW8 Healthy Weight Healthy Lives.pdf</dc:title>
  <dc:creator>Hilda Mulrooney</dc:creator>
  <cp:lastModifiedBy>Afshan Aghili</cp:lastModifiedBy>
  <cp:revision>7</cp:revision>
  <dcterms:created xsi:type="dcterms:W3CDTF">2006-08-16T00:00:00Z</dcterms:created>
  <dcterms:modified xsi:type="dcterms:W3CDTF">2026-03-23T12:59:23Z</dcterms:modified>
  <dc:identifier>DAGiKC3NJHU</dc:identifier>
</cp:coreProperties>
</file>