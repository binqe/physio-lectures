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27EE3-8480-47EA-8EE0-E809AB9CEC06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0FDA2-A82F-4C73-94E9-165380A23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53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A980-2715-6721-5176-3ECAB31EE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E94D4-A5EA-35B2-CC97-38A9F10FE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401AB-D7C3-8A9F-43B3-A0904624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1C4D7-2E54-56D9-4BAE-BE7E66BC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7A443-3184-0CD5-A73B-8621FEB4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4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4DCF-720E-E508-F27E-141831D3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A3D7-1563-9534-BACD-A99110C3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5E4E-0C04-DE20-0016-CEFCBACB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27C18-E721-02A8-4BE3-3FA220CD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43F36-25E7-4683-443D-79F50A60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1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2D17-F8A8-21D6-C39C-16DE2ADC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3F5AD-AF23-DB87-4E8C-4B316DF93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E7E4-2C9A-F02B-6471-56DED602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6C181-1704-B363-8D41-329668D1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FA2AB-3415-6050-0647-691401B3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7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D974-5DF2-B8B4-8F01-D1D3EFFA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937D-491C-C049-D711-201781DD9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67AE0-10AF-384E-B491-71EE12A44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B73A1-B76C-F8DF-C476-1905A9F2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3BDC3-9E6F-6C9F-4F79-0E696F65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A8D3E-AB8D-2F44-EE2F-85EF973E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8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6F03-D146-3DF6-3A54-83026AD7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236A7-6FFE-D428-190D-C13796B0A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8B2E0-3838-3C66-AF28-634954544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BE87B-BC8C-6D9E-BE7B-3EB98A1A9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03AE2-EA15-17FA-A27D-E39516280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2CD77-C784-78BE-0B95-9EF804F0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AB262-155B-D34B-D2C9-24A07F89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52150-D97D-7369-46FA-53F2BA67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00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8F84-1DC3-542A-72F3-73D44375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D0BC0-BC7C-5DAE-341D-DB8E9262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81C03-8177-42B5-0D7A-E41BC4BC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04C93-3BD3-33C1-8D21-9615B720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05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C20D3-8FCA-DDDC-1D5C-925B546D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CEDC4-C26A-A320-B468-57D51A5A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61BBE-05C5-0343-9314-F159499C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6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DCBF-90AE-9323-A0C9-BAED3C98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FA024-54BC-20A3-3257-E9BB3A73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D2671-B3FB-F793-63C1-5E0C95C66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89598-7272-88DB-FC95-4CC11D2D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D464-DA4D-BD56-B6A7-B31CC4DE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00B01-60F5-6978-03A3-B7E90F79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98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3FA2-69D0-6C1F-47F4-8130E427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99CE2-C483-F0F1-905A-5D4BC64EC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6C80B-95C8-6A45-77DE-F50E74E39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3C6F0-C826-357E-B122-E668FC2C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031FA-B751-9AC8-82F6-CAB65407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67767-7B70-0896-C3F0-91096C20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43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B6FF-11E7-F68E-CAA5-619E6585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22A88-B535-629A-3D06-5BEE7A57D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F0D24-EADD-DE3E-C02E-14A3898C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00419-669B-B001-97F3-A4CF57E5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76A4-0852-CA18-759B-878366C8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44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E6482-A7E4-91BE-BD5E-2DE6811DD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A966C-8E29-1E3D-2890-A2D2A66C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8690F-D526-2EC4-368F-26E53486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B1174-AD6E-CBB8-1DB3-65E2CEAA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8AC06-4CEF-28CC-9A16-B4BF3B3E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9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A54C3-B494-29F3-F058-254971C2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356E3-51D1-D571-028B-3FE77F45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5A35-0EC1-C246-1B9F-0D38100C3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93C49-1AC4-4547-87AF-3A5D5D2E4981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E99CF-99B2-DEFB-CB3D-21F7493C1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6248-20CB-EAD1-B449-CC647AD0F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065EC-E74F-4B8C-AE07-F810C4FAB5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93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9DD7-B6D1-22D1-76AF-67AC301F1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Professionalism: Roles and Responsibilities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2CB3B-61C4-57B1-2BFB-F6EFDBE41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Ngozi Onuegbu PhD</a:t>
            </a:r>
          </a:p>
          <a:p>
            <a:r>
              <a:rPr lang="en-GB" dirty="0"/>
              <a:t>PT5W50/PT4W50</a:t>
            </a:r>
          </a:p>
        </p:txBody>
      </p:sp>
    </p:spTree>
    <p:extLst>
      <p:ext uri="{BB962C8B-B14F-4D97-AF65-F5344CB8AC3E}">
        <p14:creationId xmlns:p14="http://schemas.microsoft.com/office/powerpoint/2010/main" val="318789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AE3A-E6EB-8148-B05B-5D257B6F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of Induction Week Conversations: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BE80-0127-F96D-22EE-534F98A9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does Professionalism mean to you?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5E905-FBFA-280A-C96B-E8C67ADC1F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52"/>
          <a:stretch/>
        </p:blipFill>
        <p:spPr>
          <a:xfrm>
            <a:off x="9834465" y="1690688"/>
            <a:ext cx="1909665" cy="194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4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92D6-448E-F32A-BAE9-521433E5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Might you be assessed 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293BF-A9AD-FCE2-8A41-9E1C9CDD7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119" y="1984246"/>
            <a:ext cx="371866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5B3FC-6B5D-5DEA-63F4-415A8DAAA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029" y="1690688"/>
            <a:ext cx="5451372" cy="32354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4D24C-8D2A-1D5F-E8FF-43DA6E419FEA}"/>
              </a:ext>
            </a:extLst>
          </p:cNvPr>
          <p:cNvSpPr txBox="1"/>
          <p:nvPr/>
        </p:nvSpPr>
        <p:spPr>
          <a:xfrm>
            <a:off x="5533053" y="5113176"/>
            <a:ext cx="4889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96155B"/>
                </a:solidFill>
                <a:effectLst/>
                <a:latin typeface="FSAlbert-Bold"/>
              </a:rPr>
              <a:t>Who sets the standards?</a:t>
            </a:r>
          </a:p>
          <a:p>
            <a:r>
              <a:rPr lang="en-GB" sz="1800" b="1" dirty="0">
                <a:solidFill>
                  <a:srgbClr val="2B2271"/>
                </a:solidFill>
                <a:effectLst/>
                <a:latin typeface="FSAlbert-Bold"/>
              </a:rPr>
              <a:t>Health and Care Professions Council (HCPC)?</a:t>
            </a:r>
          </a:p>
          <a:p>
            <a:r>
              <a:rPr lang="en-GB" b="1" dirty="0">
                <a:solidFill>
                  <a:srgbClr val="2B2271"/>
                </a:solidFill>
                <a:latin typeface="FSAlbert-Bold"/>
              </a:rPr>
              <a:t>Chartered Society for Physiotherapy (CSP)?</a:t>
            </a:r>
            <a:endParaRPr lang="en-GB" b="1" dirty="0">
              <a:solidFill>
                <a:srgbClr val="96155B"/>
              </a:solidFill>
              <a:latin typeface="FSAlbert-Bold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433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AE3A-E6EB-8148-B05B-5D257B6F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Regulations and Professionalism: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BE80-0127-F96D-22EE-534F98A9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Health and Care Professions Council (HCPC) is the regulator for Physiotherapy  profession. </a:t>
            </a:r>
          </a:p>
          <a:p>
            <a:endParaRPr lang="en-GB" dirty="0"/>
          </a:p>
          <a:p>
            <a:r>
              <a:rPr lang="en-GB" dirty="0"/>
              <a:t>Their Standards of Conduct, Performance and Ethics set out the expectations of how we should behave and what the public should expect from us. </a:t>
            </a:r>
          </a:p>
          <a:p>
            <a:endParaRPr lang="en-GB" dirty="0"/>
          </a:p>
          <a:p>
            <a:r>
              <a:rPr lang="en-GB" dirty="0"/>
              <a:t>They are an essential read, alongside their guidance document aimed specifically for students, helping you to understand the importance of your responsibilities and role (HCPC, 2023) .</a:t>
            </a:r>
          </a:p>
        </p:txBody>
      </p:sp>
    </p:spTree>
    <p:extLst>
      <p:ext uri="{BB962C8B-B14F-4D97-AF65-F5344CB8AC3E}">
        <p14:creationId xmlns:p14="http://schemas.microsoft.com/office/powerpoint/2010/main" val="226832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AE3A-E6EB-8148-B05B-5D257B6F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Guidance and Professionalism: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BE80-0127-F96D-22EE-534F98A9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The CSP is the professional body who offer valuable guidance to the physiotherapy profession. </a:t>
            </a:r>
          </a:p>
          <a:p>
            <a:endParaRPr lang="en-GB" dirty="0"/>
          </a:p>
          <a:p>
            <a:r>
              <a:rPr lang="en-GB" dirty="0"/>
              <a:t>Their Code of Members Professional Values and Behaviour document sets out their expected standards of behaviour (CSP, 2011).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4B6C3-CAD8-9D97-72EF-36D8338B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663" y="4001294"/>
            <a:ext cx="4059433" cy="24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8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7754-0552-3EBA-BDEA-4E3ED8B0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Professional Behaviours and Responsibilities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BD57-8798-2A10-10F5-B0E90271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Professional behaviour is integral to a student physiotherapist’s development and future practice.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Aligns with the </a:t>
            </a:r>
            <a:r>
              <a:rPr lang="en-GB" b="1" dirty="0"/>
              <a:t>Health and Care Professions Council (HCPC)</a:t>
            </a:r>
            <a:r>
              <a:rPr lang="en-GB" dirty="0"/>
              <a:t> standards and </a:t>
            </a:r>
            <a:r>
              <a:rPr lang="en-GB" b="1" dirty="0"/>
              <a:t>Chartered Society of Physiotherapy (CSP)</a:t>
            </a:r>
            <a:r>
              <a:rPr lang="en-GB" dirty="0"/>
              <a:t> guidelines (HCPC, 2023; CSP, 2011).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key aspect of demonstrating competence in clinical placements.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855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07FC-5329-5A22-D3B2-EC1C3348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774" y="2557909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7030A0"/>
                </a:solidFill>
              </a:rPr>
              <a:t>Key Professional Standards</a:t>
            </a:r>
          </a:p>
        </p:txBody>
      </p:sp>
    </p:spTree>
    <p:extLst>
      <p:ext uri="{BB962C8B-B14F-4D97-AF65-F5344CB8AC3E}">
        <p14:creationId xmlns:p14="http://schemas.microsoft.com/office/powerpoint/2010/main" val="132530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0BD0-764B-4387-B650-35EA2A4E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Practice Safely and Effectively: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C24E9-0B05-D730-5C75-7F72B1AC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Stay within your knowledge and scope of practice (HCPC, 2014).</a:t>
            </a:r>
          </a:p>
          <a:p>
            <a:r>
              <a:rPr lang="en-GB" dirty="0"/>
              <a:t>Seek help or guidance when needed to ensure patient safety.</a:t>
            </a:r>
          </a:p>
          <a:p>
            <a:r>
              <a:rPr lang="en-GB" i="1" dirty="0"/>
              <a:t>Example: </a:t>
            </a:r>
          </a:p>
          <a:p>
            <a:pPr lvl="1"/>
            <a:r>
              <a:rPr lang="en-GB" i="1" dirty="0"/>
              <a:t>Speak up if unsure about a treatment or request clarification from your educator.</a:t>
            </a:r>
          </a:p>
          <a:p>
            <a:pPr lvl="1"/>
            <a:r>
              <a:rPr lang="en-GB" i="1" dirty="0"/>
              <a:t>Contacting your PE when unsure about anything.</a:t>
            </a:r>
          </a:p>
          <a:p>
            <a:endParaRPr lang="en-GB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97EBC-365B-B673-1A26-9EB6F390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3" y="4887702"/>
            <a:ext cx="7744906" cy="1724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CD313C-3386-0E5F-E764-7DD4771A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32" y="4297783"/>
            <a:ext cx="3021175" cy="201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7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D244-D36D-F9D3-0004-FE2EFC5D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Promote and Protect the Interests of Others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2DB62-4510-99B3-ACE4-1731B3203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Respect patient dignity and involve them in decision-making.</a:t>
            </a:r>
          </a:p>
          <a:p>
            <a:r>
              <a:rPr lang="en-GB" dirty="0"/>
              <a:t>Practice inclusivity and avoid discrimination (CSP, 2011).</a:t>
            </a:r>
          </a:p>
          <a:p>
            <a:r>
              <a:rPr lang="en-GB" dirty="0"/>
              <a:t>Example: </a:t>
            </a:r>
          </a:p>
          <a:p>
            <a:pPr lvl="1"/>
            <a:r>
              <a:rPr lang="en-GB" i="1" dirty="0"/>
              <a:t>Adapt assessments to accommodate individual patient needs, such as cultural preferences or mobility restrictions.</a:t>
            </a:r>
          </a:p>
          <a:p>
            <a:pPr lvl="1"/>
            <a:endParaRPr lang="en-GB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723F6-D7D8-6DBD-4A77-8341D77FE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30" y="4443967"/>
            <a:ext cx="7182852" cy="152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AC9185-1DD6-17CD-CF90-1D7CB15550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277"/>
          <a:stretch/>
        </p:blipFill>
        <p:spPr>
          <a:xfrm>
            <a:off x="8383330" y="4611399"/>
            <a:ext cx="3302840" cy="152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8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FFC4-578E-62F4-A3EF-F10C2C1D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Risk Assessment and Reporting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0DA1C-8F42-1159-C230-359E3ACD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Assess risks and take steps to limit harm to yourself, patients, and colleagues.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Report any safety concerns promptly to your practice educator (HCPC, 2014).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</a:t>
            </a:r>
          </a:p>
          <a:p>
            <a:pPr lvl="1"/>
            <a:r>
              <a:rPr lang="en-GB" i="1" dirty="0"/>
              <a:t>Identify trip hazards before mobilizing a patient.</a:t>
            </a:r>
          </a:p>
          <a:p>
            <a:pPr lvl="1"/>
            <a:r>
              <a:rPr lang="en-GB" i="1" dirty="0"/>
              <a:t>Regular breaks form computer, ensure computer set-up is ergonomically friendly</a:t>
            </a:r>
          </a:p>
          <a:p>
            <a:pPr lvl="1"/>
            <a:endParaRPr lang="en-GB" i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F4247-A806-190E-71FC-7272AAA61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26" y="5568821"/>
            <a:ext cx="6220414" cy="743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E9E8AD-1196-C602-38BF-519C25347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47" y="5647566"/>
            <a:ext cx="4930296" cy="8453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76B8F-4781-BC5B-4AA1-E565D9EFA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966" y="148461"/>
            <a:ext cx="2592507" cy="172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3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881C-0B8F-1884-D03D-741A5109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Confidentiality and Professional Boundaries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7246-5208-5F0A-EA38-60FD00787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patient confidentiality in all settings.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Avoid discussing patient details in public or on social media (HCPC, 2023).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</a:t>
            </a:r>
          </a:p>
          <a:p>
            <a:pPr lvl="1"/>
            <a:r>
              <a:rPr lang="en-GB" i="1" dirty="0"/>
              <a:t>Be mindful of what is shared during discussions outside of the clinical setting.</a:t>
            </a:r>
          </a:p>
          <a:p>
            <a:pPr lvl="1"/>
            <a:r>
              <a:rPr lang="en-GB" i="1" dirty="0"/>
              <a:t>Discussing concerns with PE.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1622A-EE4F-7C45-795F-1A2BB964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28" y="5035372"/>
            <a:ext cx="7659169" cy="1276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17C805-C72D-41AD-FC14-89407C580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402" y="4422710"/>
            <a:ext cx="2992794" cy="199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9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0E0F-D8C0-3F82-F97B-315EC29B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Dress Code and Punctuality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57023-7AEF-56CA-35B6-15AFE0C2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Follow organizational standards for dress, appearance, and hygiene.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 you are punctual and prepared for placement activities (CSP, 2011).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</a:t>
            </a:r>
          </a:p>
          <a:p>
            <a:pPr lvl="1"/>
            <a:r>
              <a:rPr lang="en-GB" i="1" dirty="0"/>
              <a:t>Arrive on time with necessary materials and be dressed according to placement site protocols.</a:t>
            </a:r>
          </a:p>
          <a:p>
            <a:pPr lvl="1"/>
            <a:r>
              <a:rPr lang="en-GB" i="1" dirty="0">
                <a:effectLst/>
                <a:latin typeface="FSAlbert-LightItalic"/>
              </a:rPr>
              <a:t>Making sure that hair is tied back and does not cover your face</a:t>
            </a:r>
            <a:endParaRPr lang="en-GB" sz="3200" i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1AA0-CD3B-2944-4A39-105971476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9" y="5483912"/>
            <a:ext cx="5717219" cy="909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0BFAA-CDF3-3C93-43DA-F3F545E54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33" y="5478742"/>
            <a:ext cx="6098167" cy="459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4BECD-717C-5A7F-48C0-80F82E340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467" y="136930"/>
            <a:ext cx="3002124" cy="16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35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E41B-C752-94E6-844F-3D4E6D58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GB" b="1" dirty="0"/>
              <a:t>Continuous Self-Reflection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3942-24FE-C890-57C8-D7FA5FF26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10" y="1110343"/>
            <a:ext cx="10588690" cy="47680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feedback and self-reflection to improve professional behaviour.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Engage in reflective practice to identify areas for growth (Gibbs, 1988).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 </a:t>
            </a:r>
          </a:p>
          <a:p>
            <a:pPr lvl="1"/>
            <a:r>
              <a:rPr lang="en-GB" i="1" dirty="0"/>
              <a:t>Reflect on feedback received during clinical sessions and apply it in future practices.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46D6A-B4F2-8401-7BEF-1819871D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760" y="4326596"/>
            <a:ext cx="3730690" cy="2145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D0CE2B-CC63-945D-5E44-4F73FB0E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302" y="4222706"/>
            <a:ext cx="1706978" cy="2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91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CD81-8CAC-5C15-F6D1-BA206BD8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How Professionalism is Assessed in Physiotherapy Placements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0532-94D2-C111-71CB-69F608E8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Assessment Tool:</a:t>
            </a:r>
            <a:r>
              <a:rPr lang="en-GB" dirty="0"/>
              <a:t> The Common Placement Assessment Form (CPAF) is used to evaluate student professionalism.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Key Domains:</a:t>
            </a:r>
            <a:r>
              <a:rPr lang="en-GB" dirty="0"/>
              <a:t> Professionalism is assessed under various domains such as communication, ethical practice, patient confidentiality, and teamwork (HCPC, 2023).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Feedback from Educators:</a:t>
            </a:r>
            <a:r>
              <a:rPr lang="en-GB" dirty="0"/>
              <a:t> Practice educators provide ongoing feedback on professional behaviour throughout the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Midway and Final Assessments:</a:t>
            </a:r>
            <a:r>
              <a:rPr lang="en-GB" dirty="0"/>
              <a:t> Professionalism is formally evaluated at the midway and final points of placement to ensure students meet required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Pass/Fail Criteria:</a:t>
            </a:r>
            <a:r>
              <a:rPr lang="en-GB" dirty="0"/>
              <a:t> Students must demonstrate professional behaviour to meet the minimum threshold for passing the placement.</a:t>
            </a:r>
          </a:p>
          <a:p>
            <a:r>
              <a:rPr lang="en-GB" b="1" dirty="0"/>
              <a:t>Example:</a:t>
            </a:r>
            <a:r>
              <a:rPr lang="en-GB" dirty="0"/>
              <a:t> </a:t>
            </a:r>
          </a:p>
          <a:p>
            <a:pPr lvl="1"/>
            <a:r>
              <a:rPr lang="en-GB" i="1" dirty="0"/>
              <a:t>Maintaining patient confidentiality, showing respect, and adhering to dress codes are essential behaviours that educators assess during placement.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D025-CB9D-D855-1E39-7981CB21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2CF2-9CE7-66B5-4222-41EC583D6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Chartered Society of Physiotherapy (CSP), 2011. </a:t>
            </a:r>
            <a:r>
              <a:rPr lang="en-GB" i="1" dirty="0"/>
              <a:t>Code of Professional Values and Behaviour</a:t>
            </a:r>
            <a:r>
              <a:rPr lang="en-GB" dirty="0"/>
              <a:t>. [online] Available at: https://www.csp.org.uk/publications/code-professional-values-behaviour [Accessed 7 September 2024].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Health and Care Professions Council (HCPC), 2014. </a:t>
            </a:r>
            <a:r>
              <a:rPr lang="en-GB" i="1" dirty="0"/>
              <a:t>Standards of Education and Training</a:t>
            </a:r>
            <a:r>
              <a:rPr lang="en-GB" dirty="0"/>
              <a:t>. [online] Available at: https://www.hcpc-uk.org/standards/standards-of-education-and-training/ [Accessed 7 September 2024].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Health and Care Professions Council (HCPC), 2023. </a:t>
            </a:r>
            <a:r>
              <a:rPr lang="en-GB" i="1" dirty="0"/>
              <a:t>Standards of Conduct, Performance and Ethics</a:t>
            </a:r>
            <a:r>
              <a:rPr lang="en-GB" dirty="0"/>
              <a:t>. [online] Available at: https://www.hcpc-uk.org/standards/standards-of-conduct-performance-and-ethics/ [Accessed 7 September 2024].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Gibbs, G., 1988. </a:t>
            </a:r>
            <a:r>
              <a:rPr lang="en-GB" i="1" dirty="0"/>
              <a:t>Learning by Doing: A Guide to Teaching and Learning Methods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212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FSAlbert-Bold</vt:lpstr>
      <vt:lpstr>FSAlbert-LightItalic</vt:lpstr>
      <vt:lpstr>Office Theme</vt:lpstr>
      <vt:lpstr>Professionalism: Roles and Responsibilities</vt:lpstr>
      <vt:lpstr>Recap of Induction Week Conversations:</vt:lpstr>
      <vt:lpstr>What Might you be assessed on?</vt:lpstr>
      <vt:lpstr>Regulations and Professionalism:</vt:lpstr>
      <vt:lpstr>Guidance and Professionalism:</vt:lpstr>
      <vt:lpstr>Professional Behaviours and Responsibilities</vt:lpstr>
      <vt:lpstr>Key Professional Standards</vt:lpstr>
      <vt:lpstr>Practice Safely and Effectively:</vt:lpstr>
      <vt:lpstr>Promote and Protect the Interests of Others</vt:lpstr>
      <vt:lpstr>Risk Assessment and Reporting</vt:lpstr>
      <vt:lpstr>Confidentiality and Professional Boundaries</vt:lpstr>
      <vt:lpstr>Dress Code and Punctuality</vt:lpstr>
      <vt:lpstr>Continuous Self-Reflection</vt:lpstr>
      <vt:lpstr>How Professionalism is Assessed in Physiotherapy Placements</vt:lpstr>
      <vt:lpstr>References: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Ngozi Onuegbu</dc:creator>
  <cp:lastModifiedBy>Ngozi Onuegbu</cp:lastModifiedBy>
  <cp:revision>2</cp:revision>
  <dcterms:created xsi:type="dcterms:W3CDTF">2024-09-13T07:33:10Z</dcterms:created>
  <dcterms:modified xsi:type="dcterms:W3CDTF">2024-09-13T14:09:19Z</dcterms:modified>
</cp:coreProperties>
</file>