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37"/>
  </p:notesMasterIdLst>
  <p:sldIdLst>
    <p:sldId id="562" r:id="rId2"/>
    <p:sldId id="563" r:id="rId3"/>
    <p:sldId id="526" r:id="rId4"/>
    <p:sldId id="527" r:id="rId5"/>
    <p:sldId id="564" r:id="rId6"/>
    <p:sldId id="534" r:id="rId7"/>
    <p:sldId id="565" r:id="rId8"/>
    <p:sldId id="487" r:id="rId9"/>
    <p:sldId id="525" r:id="rId10"/>
    <p:sldId id="516" r:id="rId11"/>
    <p:sldId id="537" r:id="rId12"/>
    <p:sldId id="498" r:id="rId13"/>
    <p:sldId id="521" r:id="rId14"/>
    <p:sldId id="524" r:id="rId15"/>
    <p:sldId id="511" r:id="rId16"/>
    <p:sldId id="517" r:id="rId17"/>
    <p:sldId id="523" r:id="rId18"/>
    <p:sldId id="509" r:id="rId19"/>
    <p:sldId id="538" r:id="rId20"/>
    <p:sldId id="528" r:id="rId21"/>
    <p:sldId id="552" r:id="rId22"/>
    <p:sldId id="535" r:id="rId23"/>
    <p:sldId id="540" r:id="rId24"/>
    <p:sldId id="541" r:id="rId25"/>
    <p:sldId id="553" r:id="rId26"/>
    <p:sldId id="560" r:id="rId27"/>
    <p:sldId id="555" r:id="rId28"/>
    <p:sldId id="542" r:id="rId29"/>
    <p:sldId id="569" r:id="rId30"/>
    <p:sldId id="556" r:id="rId31"/>
    <p:sldId id="567" r:id="rId32"/>
    <p:sldId id="548" r:id="rId33"/>
    <p:sldId id="549" r:id="rId34"/>
    <p:sldId id="561" r:id="rId35"/>
    <p:sldId id="568" r:id="rId36"/>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FEF5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3779" autoAdjust="0"/>
  </p:normalViewPr>
  <p:slideViewPr>
    <p:cSldViewPr snapToGrid="0">
      <p:cViewPr varScale="1">
        <p:scale>
          <a:sx n="93" d="100"/>
          <a:sy n="93" d="100"/>
        </p:scale>
        <p:origin x="216" y="432"/>
      </p:cViewPr>
      <p:guideLst/>
    </p:cSldViewPr>
  </p:slideViewPr>
  <p:notesTextViewPr>
    <p:cViewPr>
      <p:scale>
        <a:sx n="125" d="100"/>
        <a:sy n="125" d="100"/>
      </p:scale>
      <p:origin x="0" y="0"/>
    </p:cViewPr>
  </p:notesTextViewPr>
  <p:sorterViewPr>
    <p:cViewPr varScale="1">
      <p:scale>
        <a:sx n="1" d="1"/>
        <a:sy n="1" d="1"/>
      </p:scale>
      <p:origin x="0" y="-26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E009B7C-AD2E-4946-B783-BFDCB6AB993A}" type="datetimeFigureOut">
              <a:rPr lang="en-GB" smtClean="0"/>
              <a:t>09/02/2026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C585A7C-DB08-4467-958C-483CF8791E5F}" type="slidenum">
              <a:rPr lang="en-GB" smtClean="0"/>
              <a:t>‹#›</a:t>
            </a:fld>
            <a:endParaRPr lang="en-GB"/>
          </a:p>
        </p:txBody>
      </p:sp>
    </p:spTree>
    <p:extLst>
      <p:ext uri="{BB962C8B-B14F-4D97-AF65-F5344CB8AC3E}">
        <p14:creationId xmlns:p14="http://schemas.microsoft.com/office/powerpoint/2010/main" val="390139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Formulation of health: ‘the ability to adapt and to self manage’?</a:t>
            </a:r>
            <a:endParaRPr lang="en-GB" dirty="0"/>
          </a:p>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5</a:t>
            </a:fld>
            <a:endParaRPr lang="en-GB"/>
          </a:p>
        </p:txBody>
      </p:sp>
    </p:spTree>
    <p:extLst>
      <p:ext uri="{BB962C8B-B14F-4D97-AF65-F5344CB8AC3E}">
        <p14:creationId xmlns:p14="http://schemas.microsoft.com/office/powerpoint/2010/main" val="2252882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Health is multi-factorial &amp; influenced by factors such as:</a:t>
            </a:r>
          </a:p>
          <a:p>
            <a:r>
              <a:rPr lang="en-GB" dirty="0"/>
              <a:t>Genetics/family history of disease</a:t>
            </a:r>
          </a:p>
          <a:p>
            <a:r>
              <a:rPr lang="en-GB" dirty="0"/>
              <a:t>Behaviour/lifestyle e.g. smoking, alcohol, diet, physical activity, sexual behaviours, drug taking</a:t>
            </a:r>
          </a:p>
          <a:p>
            <a:r>
              <a:rPr lang="en-GB" dirty="0"/>
              <a:t>Economic e.g. poverty, employment status, access to employment opportunities, quality &amp; security of employment, housing stability &amp; quality (homelessness)</a:t>
            </a:r>
          </a:p>
          <a:p>
            <a:r>
              <a:rPr lang="en-GB" dirty="0"/>
              <a:t>Environmental e.g. living conditions, pollution, access to green spaces, crime, transport</a:t>
            </a:r>
          </a:p>
          <a:p>
            <a:r>
              <a:rPr lang="en-GB" dirty="0"/>
              <a:t>Social e.g. education, social inclusion or exclusion</a:t>
            </a:r>
          </a:p>
          <a:p>
            <a:r>
              <a:rPr lang="en-GB" dirty="0"/>
              <a:t>Cultural factors e.g. cultural norms</a:t>
            </a:r>
          </a:p>
          <a:p>
            <a:r>
              <a:rPr lang="en-GB" dirty="0"/>
              <a:t>Psychological e.g. ability to manage stress</a:t>
            </a:r>
          </a:p>
        </p:txBody>
      </p:sp>
      <p:sp>
        <p:nvSpPr>
          <p:cNvPr id="4" name="Slide Number Placeholder 3"/>
          <p:cNvSpPr>
            <a:spLocks noGrp="1"/>
          </p:cNvSpPr>
          <p:nvPr>
            <p:ph type="sldNum" sz="quarter" idx="5"/>
          </p:nvPr>
        </p:nvSpPr>
        <p:spPr/>
        <p:txBody>
          <a:bodyPr/>
          <a:lstStyle/>
          <a:p>
            <a:fld id="{4C585A7C-DB08-4467-958C-483CF8791E5F}" type="slidenum">
              <a:rPr lang="en-GB" smtClean="0"/>
              <a:t>7</a:t>
            </a:fld>
            <a:endParaRPr lang="en-GB"/>
          </a:p>
        </p:txBody>
      </p:sp>
    </p:spTree>
    <p:extLst>
      <p:ext uri="{BB962C8B-B14F-4D97-AF65-F5344CB8AC3E}">
        <p14:creationId xmlns:p14="http://schemas.microsoft.com/office/powerpoint/2010/main" val="2721065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C585A7C-DB08-4467-958C-483CF8791E5F}" type="slidenum">
              <a:rPr lang="en-GB" smtClean="0"/>
              <a:t>8</a:t>
            </a:fld>
            <a:endParaRPr lang="en-GB"/>
          </a:p>
        </p:txBody>
      </p:sp>
    </p:spTree>
    <p:extLst>
      <p:ext uri="{BB962C8B-B14F-4D97-AF65-F5344CB8AC3E}">
        <p14:creationId xmlns:p14="http://schemas.microsoft.com/office/powerpoint/2010/main" val="1542635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‘The Commission calls on the WHO and all governments to lead global action on the social determinants of health with the aim of achieving health equity. It is essential that governments, civil society, WHO, and other global organizations now come together in taking action to improve the lives of the world’s citizens. Achieving health equity within a generation is achievable, it is the right thing to do, and now is the right time to do it.’</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4C585A7C-DB08-4467-958C-483CF8791E5F}" type="slidenum">
              <a:rPr lang="en-GB" smtClean="0"/>
              <a:t>12</a:t>
            </a:fld>
            <a:endParaRPr lang="en-GB"/>
          </a:p>
        </p:txBody>
      </p:sp>
    </p:spTree>
    <p:extLst>
      <p:ext uri="{BB962C8B-B14F-4D97-AF65-F5344CB8AC3E}">
        <p14:creationId xmlns:p14="http://schemas.microsoft.com/office/powerpoint/2010/main" val="3317041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50000"/>
              </a:spcBef>
              <a:buClr>
                <a:schemeClr val="accent2"/>
              </a:buClr>
              <a:buSzTx/>
              <a:buFont typeface="Arial" panose="020B0604020202020204" pitchFamily="34" charset="0"/>
              <a:buChar char="•"/>
            </a:pPr>
            <a:r>
              <a:rPr lang="en-GB" altLang="en-US" dirty="0">
                <a:solidFill>
                  <a:schemeClr val="tx1"/>
                </a:solidFill>
              </a:rPr>
              <a:t>monitor progress towards nationally set targets re diet and health</a:t>
            </a:r>
          </a:p>
          <a:p>
            <a:endParaRPr lang="en-GB" dirty="0"/>
          </a:p>
        </p:txBody>
      </p:sp>
      <p:sp>
        <p:nvSpPr>
          <p:cNvPr id="4" name="Slide Number Placeholder 3"/>
          <p:cNvSpPr>
            <a:spLocks noGrp="1"/>
          </p:cNvSpPr>
          <p:nvPr>
            <p:ph type="sldNum" sz="quarter" idx="10"/>
          </p:nvPr>
        </p:nvSpPr>
        <p:spPr/>
        <p:txBody>
          <a:bodyPr/>
          <a:lstStyle/>
          <a:p>
            <a:fld id="{4C585A7C-DB08-4467-958C-483CF8791E5F}" type="slidenum">
              <a:rPr lang="en-GB" smtClean="0"/>
              <a:t>15</a:t>
            </a:fld>
            <a:endParaRPr lang="en-GB"/>
          </a:p>
        </p:txBody>
      </p:sp>
    </p:spTree>
    <p:extLst>
      <p:ext uri="{BB962C8B-B14F-4D97-AF65-F5344CB8AC3E}">
        <p14:creationId xmlns:p14="http://schemas.microsoft.com/office/powerpoint/2010/main" val="3687150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Review of the ‘causes of causes’</a:t>
            </a:r>
          </a:p>
          <a:p>
            <a:pPr>
              <a:buClr>
                <a:srgbClr val="C00000"/>
              </a:buClr>
            </a:pPr>
            <a:r>
              <a:rPr lang="en-US" sz="1200" dirty="0">
                <a:latin typeface="Arial" panose="020B0604020202020204" pitchFamily="34" charset="0"/>
                <a:cs typeface="Arial" panose="020B0604020202020204" pitchFamily="34" charset="0"/>
              </a:rPr>
              <a:t>The review, is an invaluable resource to assist with developing priorities for JHWS.</a:t>
            </a:r>
          </a:p>
          <a:p>
            <a:pPr>
              <a:buClr>
                <a:srgbClr val="C00000"/>
              </a:buClr>
            </a:pPr>
            <a:r>
              <a:rPr lang="en-US" sz="1200" dirty="0">
                <a:latin typeface="Arial" panose="020B0604020202020204" pitchFamily="34" charset="0"/>
                <a:cs typeface="Arial" panose="020B0604020202020204" pitchFamily="34" charset="0"/>
              </a:rPr>
              <a:t>Focusing on most disadvantaged will not be sufficient - need ‘proportionate universalism’</a:t>
            </a:r>
          </a:p>
          <a:p>
            <a:pPr>
              <a:buClr>
                <a:srgbClr val="C00000"/>
              </a:buClr>
            </a:pPr>
            <a:r>
              <a:rPr lang="en-US" sz="1200" dirty="0">
                <a:latin typeface="Arial" panose="020B0604020202020204" pitchFamily="34" charset="0"/>
                <a:cs typeface="Arial" panose="020B0604020202020204" pitchFamily="34" charset="0"/>
              </a:rPr>
              <a:t> Reducing health inequalities vital to economy - cost of inaction</a:t>
            </a:r>
          </a:p>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16</a:t>
            </a:fld>
            <a:endParaRPr lang="en-GB"/>
          </a:p>
        </p:txBody>
      </p:sp>
    </p:spTree>
    <p:extLst>
      <p:ext uri="{BB962C8B-B14F-4D97-AF65-F5344CB8AC3E}">
        <p14:creationId xmlns:p14="http://schemas.microsoft.com/office/powerpoint/2010/main" val="1284969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C585A7C-DB08-4467-958C-483CF8791E5F}" type="slidenum">
              <a:rPr lang="en-GB" smtClean="0"/>
              <a:t>18</a:t>
            </a:fld>
            <a:endParaRPr lang="en-GB"/>
          </a:p>
        </p:txBody>
      </p:sp>
    </p:spTree>
    <p:extLst>
      <p:ext uri="{BB962C8B-B14F-4D97-AF65-F5344CB8AC3E}">
        <p14:creationId xmlns:p14="http://schemas.microsoft.com/office/powerpoint/2010/main" val="3216581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585A7C-DB08-4467-958C-483CF8791E5F}" type="slidenum">
              <a:rPr lang="en-GB" smtClean="0"/>
              <a:t>19</a:t>
            </a:fld>
            <a:endParaRPr lang="en-GB"/>
          </a:p>
        </p:txBody>
      </p:sp>
    </p:spTree>
    <p:extLst>
      <p:ext uri="{BB962C8B-B14F-4D97-AF65-F5344CB8AC3E}">
        <p14:creationId xmlns:p14="http://schemas.microsoft.com/office/powerpoint/2010/main" val="3418929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585A7C-DB08-4467-958C-483CF8791E5F}" type="slidenum">
              <a:rPr lang="en-GB" smtClean="0"/>
              <a:t>20</a:t>
            </a:fld>
            <a:endParaRPr lang="en-GB"/>
          </a:p>
        </p:txBody>
      </p:sp>
    </p:spTree>
    <p:extLst>
      <p:ext uri="{BB962C8B-B14F-4D97-AF65-F5344CB8AC3E}">
        <p14:creationId xmlns:p14="http://schemas.microsoft.com/office/powerpoint/2010/main" val="3091367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OHID: so that everyone can expect to live more of life in good health, and on levelling up health disparities to break the link between background and prospects for a healthy life.</a:t>
            </a:r>
          </a:p>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21</a:t>
            </a:fld>
            <a:endParaRPr lang="en-GB"/>
          </a:p>
        </p:txBody>
      </p:sp>
    </p:spTree>
    <p:extLst>
      <p:ext uri="{BB962C8B-B14F-4D97-AF65-F5344CB8AC3E}">
        <p14:creationId xmlns:p14="http://schemas.microsoft.com/office/powerpoint/2010/main" val="11739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dirty="0">
                <a:solidFill>
                  <a:srgbClr val="444444"/>
                </a:solidFill>
                <a:effectLst/>
                <a:latin typeface="Arial" panose="020B0604020202020204" pitchFamily="34" charset="0"/>
                <a:cs typeface="Arial" panose="020B0604020202020204" pitchFamily="34" charset="0"/>
              </a:rPr>
              <a:t>Set out the Government’s goals for improving </a:t>
            </a:r>
            <a:r>
              <a:rPr lang="en-GB" sz="1200" dirty="0">
                <a:solidFill>
                  <a:srgbClr val="444444"/>
                </a:solidFill>
                <a:latin typeface="Arial" panose="020B0604020202020204" pitchFamily="34" charset="0"/>
                <a:cs typeface="Arial" panose="020B0604020202020204" pitchFamily="34" charset="0"/>
              </a:rPr>
              <a:t>&amp;</a:t>
            </a:r>
            <a:r>
              <a:rPr lang="en-GB" sz="1200" b="0" i="0" dirty="0">
                <a:solidFill>
                  <a:srgbClr val="444444"/>
                </a:solidFill>
                <a:effectLst/>
                <a:latin typeface="Arial" panose="020B0604020202020204" pitchFamily="34" charset="0"/>
                <a:cs typeface="Arial" panose="020B0604020202020204" pitchFamily="34" charset="0"/>
              </a:rPr>
              <a:t> protecting the nations’ health</a:t>
            </a:r>
          </a:p>
          <a:p>
            <a:endParaRPr lang="en-GB" sz="1200" b="0" i="0" dirty="0">
              <a:solidFill>
                <a:srgbClr val="444444"/>
              </a:solidFill>
              <a:effectLst/>
              <a:latin typeface="Arial" panose="020B0604020202020204" pitchFamily="34" charset="0"/>
              <a:cs typeface="Arial" panose="020B0604020202020204" pitchFamily="34" charset="0"/>
            </a:endParaRPr>
          </a:p>
          <a:p>
            <a:r>
              <a:rPr lang="en-GB" sz="1200" b="0" i="0" dirty="0">
                <a:solidFill>
                  <a:srgbClr val="444444"/>
                </a:solidFill>
                <a:effectLst/>
                <a:latin typeface="Arial" panose="020B0604020202020204" pitchFamily="34" charset="0"/>
                <a:cs typeface="Arial" panose="020B0604020202020204" pitchFamily="34" charset="0"/>
              </a:rPr>
              <a:t> Narrow health inequalities through improving the health of the poorest, fastest</a:t>
            </a:r>
          </a:p>
          <a:p>
            <a:endParaRPr lang="en-GB" sz="1200" b="0" i="0" dirty="0">
              <a:solidFill>
                <a:srgbClr val="444444"/>
              </a:solidFill>
              <a:effectLst/>
              <a:latin typeface="Arial" panose="020B0604020202020204" pitchFamily="34" charset="0"/>
              <a:cs typeface="Arial" panose="020B0604020202020204" pitchFamily="34" charset="0"/>
            </a:endParaRPr>
          </a:p>
          <a:p>
            <a:r>
              <a:rPr lang="en-GB" sz="1200" dirty="0">
                <a:solidFill>
                  <a:srgbClr val="444444"/>
                </a:solidFill>
                <a:latin typeface="Arial" panose="020B0604020202020204" pitchFamily="34" charset="0"/>
                <a:cs typeface="Arial" panose="020B0604020202020204" pitchFamily="34" charset="0"/>
              </a:rPr>
              <a:t>H</a:t>
            </a:r>
            <a:r>
              <a:rPr lang="en-GB" sz="1200" b="0" i="0" dirty="0">
                <a:solidFill>
                  <a:srgbClr val="444444"/>
                </a:solidFill>
                <a:effectLst/>
                <a:latin typeface="Arial" panose="020B0604020202020204" pitchFamily="34" charset="0"/>
                <a:cs typeface="Arial" panose="020B0604020202020204" pitchFamily="34" charset="0"/>
              </a:rPr>
              <a:t>ave a mechanism for transparency </a:t>
            </a:r>
            <a:r>
              <a:rPr lang="en-GB" sz="1200" dirty="0">
                <a:solidFill>
                  <a:srgbClr val="444444"/>
                </a:solidFill>
                <a:latin typeface="Arial" panose="020B0604020202020204" pitchFamily="34" charset="0"/>
                <a:cs typeface="Arial" panose="020B0604020202020204" pitchFamily="34" charset="0"/>
              </a:rPr>
              <a:t>&amp;</a:t>
            </a:r>
            <a:r>
              <a:rPr lang="en-GB" sz="1200" b="0" i="0" dirty="0">
                <a:solidFill>
                  <a:srgbClr val="444444"/>
                </a:solidFill>
                <a:effectLst/>
                <a:latin typeface="Arial" panose="020B0604020202020204" pitchFamily="34" charset="0"/>
                <a:cs typeface="Arial" panose="020B0604020202020204" pitchFamily="34" charset="0"/>
              </a:rPr>
              <a:t> accountability nationally &amp; locally for health improvement </a:t>
            </a:r>
            <a:r>
              <a:rPr lang="en-GB" sz="1200" dirty="0">
                <a:solidFill>
                  <a:srgbClr val="444444"/>
                </a:solidFill>
                <a:latin typeface="Arial" panose="020B0604020202020204" pitchFamily="34" charset="0"/>
                <a:cs typeface="Arial" panose="020B0604020202020204" pitchFamily="34" charset="0"/>
              </a:rPr>
              <a:t>&amp;</a:t>
            </a:r>
            <a:r>
              <a:rPr lang="en-GB" sz="1200" b="0" i="0" dirty="0">
                <a:solidFill>
                  <a:srgbClr val="444444"/>
                </a:solidFill>
                <a:effectLst/>
                <a:latin typeface="Arial" panose="020B0604020202020204" pitchFamily="34" charset="0"/>
                <a:cs typeface="Arial" panose="020B0604020202020204" pitchFamily="34" charset="0"/>
              </a:rPr>
              <a:t> protection </a:t>
            </a:r>
            <a:r>
              <a:rPr lang="en-GB" sz="1200" dirty="0">
                <a:solidFill>
                  <a:srgbClr val="444444"/>
                </a:solidFill>
                <a:latin typeface="Arial" panose="020B0604020202020204" pitchFamily="34" charset="0"/>
                <a:cs typeface="Arial" panose="020B0604020202020204" pitchFamily="34" charset="0"/>
              </a:rPr>
              <a:t>&amp;</a:t>
            </a:r>
            <a:r>
              <a:rPr lang="en-GB" sz="1200" b="0" i="0" dirty="0">
                <a:solidFill>
                  <a:srgbClr val="444444"/>
                </a:solidFill>
                <a:effectLst/>
                <a:latin typeface="Arial" panose="020B0604020202020204" pitchFamily="34" charset="0"/>
                <a:cs typeface="Arial" panose="020B0604020202020204" pitchFamily="34" charset="0"/>
              </a:rPr>
              <a:t> inequality reduction</a:t>
            </a:r>
          </a:p>
          <a:p>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25</a:t>
            </a:fld>
            <a:endParaRPr lang="en-GB"/>
          </a:p>
        </p:txBody>
      </p:sp>
    </p:spTree>
    <p:extLst>
      <p:ext uri="{BB962C8B-B14F-4D97-AF65-F5344CB8AC3E}">
        <p14:creationId xmlns:p14="http://schemas.microsoft.com/office/powerpoint/2010/main" val="869795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Overarching indicators reported at birth and at age 65 years</a:t>
            </a:r>
          </a:p>
        </p:txBody>
      </p:sp>
      <p:sp>
        <p:nvSpPr>
          <p:cNvPr id="4" name="Slide Number Placeholder 3"/>
          <p:cNvSpPr>
            <a:spLocks noGrp="1"/>
          </p:cNvSpPr>
          <p:nvPr>
            <p:ph type="sldNum" sz="quarter" idx="5"/>
          </p:nvPr>
        </p:nvSpPr>
        <p:spPr/>
        <p:txBody>
          <a:bodyPr/>
          <a:lstStyle/>
          <a:p>
            <a:fld id="{4C585A7C-DB08-4467-958C-483CF8791E5F}" type="slidenum">
              <a:rPr lang="en-GB" smtClean="0"/>
              <a:t>26</a:t>
            </a:fld>
            <a:endParaRPr lang="en-GB"/>
          </a:p>
        </p:txBody>
      </p:sp>
    </p:spTree>
    <p:extLst>
      <p:ext uri="{BB962C8B-B14F-4D97-AF65-F5344CB8AC3E}">
        <p14:creationId xmlns:p14="http://schemas.microsoft.com/office/powerpoint/2010/main" val="2525620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ensure they remain fit for purpose</a:t>
            </a:r>
          </a:p>
        </p:txBody>
      </p:sp>
      <p:sp>
        <p:nvSpPr>
          <p:cNvPr id="4" name="Slide Number Placeholder 3"/>
          <p:cNvSpPr>
            <a:spLocks noGrp="1"/>
          </p:cNvSpPr>
          <p:nvPr>
            <p:ph type="sldNum" sz="quarter" idx="5"/>
          </p:nvPr>
        </p:nvSpPr>
        <p:spPr/>
        <p:txBody>
          <a:bodyPr/>
          <a:lstStyle/>
          <a:p>
            <a:fld id="{4C585A7C-DB08-4467-958C-483CF8791E5F}" type="slidenum">
              <a:rPr lang="en-GB" smtClean="0"/>
              <a:t>27</a:t>
            </a:fld>
            <a:endParaRPr lang="en-GB"/>
          </a:p>
        </p:txBody>
      </p:sp>
    </p:spTree>
    <p:extLst>
      <p:ext uri="{BB962C8B-B14F-4D97-AF65-F5344CB8AC3E}">
        <p14:creationId xmlns:p14="http://schemas.microsoft.com/office/powerpoint/2010/main" val="3587920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https://assets.publishing.service.gov.uk/government/uploads/system/uploads/attachment_data/file/862264/At_a_glance_document2.pdf</a:t>
            </a:r>
          </a:p>
          <a:p>
            <a:r>
              <a:rPr lang="en-GB" dirty="0"/>
              <a:t>https://</a:t>
            </a:r>
            <a:r>
              <a:rPr lang="en-GB" dirty="0" err="1"/>
              <a:t>fingertips.phe.org.uk</a:t>
            </a:r>
            <a:r>
              <a:rPr lang="en-GB" dirty="0"/>
              <a:t>/documents/Public%20Health%20Outcomes%20Framework%20at%20a%20glance%20-%20England%20February%202022.html</a:t>
            </a:r>
          </a:p>
        </p:txBody>
      </p:sp>
      <p:sp>
        <p:nvSpPr>
          <p:cNvPr id="4" name="Slide Number Placeholder 3"/>
          <p:cNvSpPr>
            <a:spLocks noGrp="1"/>
          </p:cNvSpPr>
          <p:nvPr>
            <p:ph type="sldNum" sz="quarter" idx="5"/>
          </p:nvPr>
        </p:nvSpPr>
        <p:spPr/>
        <p:txBody>
          <a:bodyPr/>
          <a:lstStyle/>
          <a:p>
            <a:fld id="{4C585A7C-DB08-4467-958C-483CF8791E5F}" type="slidenum">
              <a:rPr lang="en-GB" smtClean="0"/>
              <a:t>30</a:t>
            </a:fld>
            <a:endParaRPr lang="en-GB"/>
          </a:p>
        </p:txBody>
      </p:sp>
    </p:spTree>
    <p:extLst>
      <p:ext uri="{BB962C8B-B14F-4D97-AF65-F5344CB8AC3E}">
        <p14:creationId xmlns:p14="http://schemas.microsoft.com/office/powerpoint/2010/main" val="2661595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 </a:t>
            </a:r>
            <a:r>
              <a:rPr lang="en-IN" sz="1200" dirty="0"/>
              <a:t>Demonstrate improvements in </a:t>
            </a:r>
            <a:r>
              <a:rPr lang="en-IN" sz="1200" dirty="0" err="1"/>
              <a:t>ph</a:t>
            </a:r>
            <a:r>
              <a:rPr lang="en-IN" sz="1200" dirty="0"/>
              <a:t> outcomes through achieving progress against </a:t>
            </a:r>
          </a:p>
          <a:p>
            <a:r>
              <a:rPr lang="en-IN" sz="1200" dirty="0"/>
              <a:t>MECC: Making every contact count</a:t>
            </a:r>
            <a:endParaRPr lang="en-GB" dirty="0"/>
          </a:p>
        </p:txBody>
      </p:sp>
      <p:sp>
        <p:nvSpPr>
          <p:cNvPr id="4" name="Slide Number Placeholder 3"/>
          <p:cNvSpPr>
            <a:spLocks noGrp="1"/>
          </p:cNvSpPr>
          <p:nvPr>
            <p:ph type="sldNum" sz="quarter" idx="5"/>
          </p:nvPr>
        </p:nvSpPr>
        <p:spPr/>
        <p:txBody>
          <a:bodyPr/>
          <a:lstStyle/>
          <a:p>
            <a:fld id="{4C585A7C-DB08-4467-958C-483CF8791E5F}" type="slidenum">
              <a:rPr lang="en-GB" smtClean="0"/>
              <a:t>31</a:t>
            </a:fld>
            <a:endParaRPr lang="en-GB"/>
          </a:p>
        </p:txBody>
      </p:sp>
    </p:spTree>
    <p:extLst>
      <p:ext uri="{BB962C8B-B14F-4D97-AF65-F5344CB8AC3E}">
        <p14:creationId xmlns:p14="http://schemas.microsoft.com/office/powerpoint/2010/main" val="315722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670AE0-F218-4AB8-8CC1-CAB51B99369D}" type="datetimeFigureOut">
              <a:rPr lang="en-US" altLang="en-US" smtClean="0"/>
              <a:pPr/>
              <a:t>2/9/26</a:t>
            </a:fld>
            <a:endParaRPr lang="en-GB" altLang="en-US"/>
          </a:p>
        </p:txBody>
      </p:sp>
      <p:sp>
        <p:nvSpPr>
          <p:cNvPr id="5" name="Footer Placeholder 4"/>
          <p:cNvSpPr>
            <a:spLocks noGrp="1"/>
          </p:cNvSpPr>
          <p:nvPr>
            <p:ph type="ftr" sz="quarter" idx="11"/>
          </p:nvPr>
        </p:nvSpPr>
        <p:spPr/>
        <p:txBody>
          <a:bodyPr/>
          <a:lstStyle/>
          <a:p>
            <a:endParaRPr lang="en-GB" altLang="en-US"/>
          </a:p>
        </p:txBody>
      </p:sp>
      <p:sp>
        <p:nvSpPr>
          <p:cNvPr id="6" name="Slide Number Placeholder 5"/>
          <p:cNvSpPr>
            <a:spLocks noGrp="1"/>
          </p:cNvSpPr>
          <p:nvPr>
            <p:ph type="sldNum" sz="quarter" idx="12"/>
          </p:nvPr>
        </p:nvSpPr>
        <p:spPr/>
        <p:txBody>
          <a:bodyPr/>
          <a:lstStyle/>
          <a:p>
            <a:fld id="{9B3DB496-B70C-4C55-8CA3-655F8018B857}" type="slidenum">
              <a:rPr lang="en-GB" altLang="en-US" smtClean="0"/>
              <a:pPr/>
              <a:t>‹#›</a:t>
            </a:fld>
            <a:endParaRPr lang="en-GB" altLang="en-US"/>
          </a:p>
        </p:txBody>
      </p:sp>
    </p:spTree>
    <p:extLst>
      <p:ext uri="{BB962C8B-B14F-4D97-AF65-F5344CB8AC3E}">
        <p14:creationId xmlns:p14="http://schemas.microsoft.com/office/powerpoint/2010/main" val="383387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smtClean="0"/>
              <a:pPr>
                <a:buSzPct val="25000"/>
              </a:pPr>
              <a:t>‹#›</a:t>
            </a:fld>
            <a:endParaRPr lang="en-US"/>
          </a:p>
        </p:txBody>
      </p:sp>
    </p:spTree>
    <p:extLst>
      <p:ext uri="{BB962C8B-B14F-4D97-AF65-F5344CB8AC3E}">
        <p14:creationId xmlns:p14="http://schemas.microsoft.com/office/powerpoint/2010/main" val="958029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288087086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fld id="{BB61EF65-EBFD-42B4-9A82-26B9DF8E0593}" type="slidenum">
              <a:rPr lang="en-GB" altLang="en-US" smtClean="0"/>
              <a:pPr/>
              <a:t>‹#›</a:t>
            </a:fld>
            <a:endParaRPr lang="en-GB" altLang="en-US"/>
          </a:p>
        </p:txBody>
      </p:sp>
    </p:spTree>
    <p:extLst>
      <p:ext uri="{BB962C8B-B14F-4D97-AF65-F5344CB8AC3E}">
        <p14:creationId xmlns:p14="http://schemas.microsoft.com/office/powerpoint/2010/main" val="2895155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8" name="Footer Placeholder 7"/>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9" name="Slide Number Placeholder 8"/>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40260558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4" name="Footer Placeholder 3"/>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5" name="Slide Number Placeholder 4"/>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20317073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0B3B1-DF8D-C847-9338-7CE881A69E9A}" type="datetimeFigureOut">
              <a:rPr lang="en-US" smtClean="0"/>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4456AB-E51A-7840-8B46-6217996643B7}" type="slidenum">
              <a:rPr lang="en-US" smtClean="0"/>
              <a:t>‹#›</a:t>
            </a:fld>
            <a:endParaRPr lang="en-US"/>
          </a:p>
        </p:txBody>
      </p:sp>
    </p:spTree>
    <p:extLst>
      <p:ext uri="{BB962C8B-B14F-4D97-AF65-F5344CB8AC3E}">
        <p14:creationId xmlns:p14="http://schemas.microsoft.com/office/powerpoint/2010/main" val="4028820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6" name="Footer Placeholder 5"/>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7" name="Slide Number Placeholder 6"/>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35765470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6" name="Footer Placeholder 5"/>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7" name="Slide Number Placeholder 6"/>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10080979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2621366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sz="1400" kern="0">
              <a:solidFill>
                <a:srgbClr val="000000"/>
              </a:solidFill>
              <a:cs typeface="Arial"/>
              <a:sym typeface="Arial"/>
              <a:rtl val="0"/>
            </a:endParaRPr>
          </a:p>
        </p:txBody>
      </p:sp>
      <p:sp>
        <p:nvSpPr>
          <p:cNvPr id="5" name="Footer Placeholder 4"/>
          <p:cNvSpPr>
            <a:spLocks noGrp="1"/>
          </p:cNvSpPr>
          <p:nvPr>
            <p:ph type="ftr" sz="quarter" idx="11"/>
          </p:nvPr>
        </p:nvSpPr>
        <p:spPr/>
        <p:txBody>
          <a:bodyPr/>
          <a:lstStyle/>
          <a:p>
            <a:endParaRPr lang="en-GB" sz="1400" kern="0">
              <a:solidFill>
                <a:srgbClr val="000000"/>
              </a:solidFill>
              <a:cs typeface="Arial"/>
              <a:sym typeface="Arial"/>
              <a:rtl val="0"/>
            </a:endParaRPr>
          </a:p>
        </p:txBody>
      </p:sp>
      <p:sp>
        <p:nvSpPr>
          <p:cNvPr id="6" name="Slide Number Placeholder 5"/>
          <p:cNvSpPr>
            <a:spLocks noGrp="1"/>
          </p:cNvSpPr>
          <p:nvPr>
            <p:ph type="sldNum" sz="quarter" idx="12"/>
          </p:nvPr>
        </p:nvSpPr>
        <p:spPr/>
        <p:txBody>
          <a:body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271337978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sz="1400" kern="0">
              <a:solidFill>
                <a:srgbClr val="000000"/>
              </a:solidFill>
              <a:cs typeface="Arial"/>
              <a:sym typeface="Arial"/>
              <a:rtl val="0"/>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sz="1400" kern="0">
              <a:solidFill>
                <a:srgbClr val="000000"/>
              </a:solidFill>
              <a:cs typeface="Arial"/>
              <a:sym typeface="Arial"/>
              <a:rtl val="0"/>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buSzPct val="25000"/>
            </a:pPr>
            <a:fld id="{00000000-1234-1234-1234-123412341234}" type="slidenum">
              <a:rPr lang="en-US" kern="0" smtClean="0">
                <a:rtl val="0"/>
              </a:rPr>
              <a:pPr>
                <a:buSzPct val="25000"/>
              </a:pPr>
              <a:t>‹#›</a:t>
            </a:fld>
            <a:endParaRPr lang="en-US" kern="0">
              <a:rtl val="0"/>
            </a:endParaRPr>
          </a:p>
        </p:txBody>
      </p:sp>
    </p:spTree>
    <p:extLst>
      <p:ext uri="{BB962C8B-B14F-4D97-AF65-F5344CB8AC3E}">
        <p14:creationId xmlns:p14="http://schemas.microsoft.com/office/powerpoint/2010/main" val="295445965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science.org/doi/epdf/10.1126/science.adn5421"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assets.publishing.service.gov.uk/media/5a759e7c40f0b67b3d5c7e6f/ih.pdf"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hyperlink" Target="https://www.parliament.uk/globalassets/documents/fair-society-healthy-lives-full-report.pd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0.gif"/><Relationship Id="rId4" Type="http://schemas.openxmlformats.org/officeDocument/2006/relationships/hyperlink" Target="https://www.gov.uk/government/organisations/public-health-england"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gov.uk/government/organisations/uk-health-security-agency" TargetMode="External"/><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hyperlink" Target="https://www.gov.uk/government/organisations/office-for-health-improvement-and-dispariti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gov.uk/government/consultations/health-and-social-care-statistical-outputs/outcome/health-and-social-care-statistical-outputs-consultation-response#overarching-health-and-social-care-output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hyperlink" Target="https://fingertips.phe.org.uk/documents/Public%20Health%20Outcomes%20Framework%20at%20a%20glance%20-England%20November%202025.html" TargetMode="Externa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 y="485637"/>
            <a:ext cx="5455917" cy="3641824"/>
          </a:xfrm>
          <a:prstGeom prst="rect">
            <a:avLst/>
          </a:prstGeom>
        </p:spPr>
      </p:pic>
      <p:pic>
        <p:nvPicPr>
          <p:cNvPr id="4"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6043" y="717514"/>
            <a:ext cx="5455917" cy="3178071"/>
          </a:xfrm>
          <a:prstGeom prst="rect">
            <a:avLst/>
          </a:prstGeom>
        </p:spPr>
      </p:pic>
      <p:sp>
        <p:nvSpPr>
          <p:cNvPr id="2" name="TextBox 1">
            <a:extLst>
              <a:ext uri="{FF2B5EF4-FFF2-40B4-BE49-F238E27FC236}">
                <a16:creationId xmlns:a16="http://schemas.microsoft.com/office/drawing/2014/main" id="{D0FC79C1-2AA7-8124-FAA5-BE795BA1A17E}"/>
              </a:ext>
            </a:extLst>
          </p:cNvPr>
          <p:cNvSpPr txBox="1"/>
          <p:nvPr/>
        </p:nvSpPr>
        <p:spPr>
          <a:xfrm>
            <a:off x="2096429" y="4672361"/>
            <a:ext cx="9132849" cy="1354217"/>
          </a:xfrm>
          <a:prstGeom prst="rect">
            <a:avLst/>
          </a:prstGeom>
          <a:noFill/>
        </p:spPr>
        <p:txBody>
          <a:bodyPr wrap="square" rtlCol="0">
            <a:spAutoFit/>
          </a:bodyPr>
          <a:lstStyle/>
          <a:p>
            <a:r>
              <a:rPr lang="en-GB" sz="3600" b="1" i="1" dirty="0">
                <a:solidFill>
                  <a:srgbClr val="008080"/>
                </a:solidFill>
                <a:latin typeface="Arial" panose="020B0604020202020204" pitchFamily="34" charset="0"/>
                <a:cs typeface="Arial" panose="020B0604020202020204" pitchFamily="34" charset="0"/>
              </a:rPr>
              <a:t>Public Health Infrastructure &amp; Functions</a:t>
            </a:r>
          </a:p>
          <a:p>
            <a:pPr algn="ctr"/>
            <a:r>
              <a:rPr lang="en-GB" sz="2800" dirty="0">
                <a:latin typeface="Arial" panose="020B0604020202020204" pitchFamily="34" charset="0"/>
                <a:cs typeface="Arial" panose="020B0604020202020204" pitchFamily="34" charset="0"/>
              </a:rPr>
              <a:t>Dr Hilda Mulrooney (with thanks to </a:t>
            </a:r>
            <a:r>
              <a:rPr lang="en-GB" sz="2800">
                <a:latin typeface="Arial" panose="020B0604020202020204" pitchFamily="34" charset="0"/>
                <a:cs typeface="Arial" panose="020B0604020202020204" pitchFamily="34" charset="0"/>
              </a:rPr>
              <a:t>Afshan Aghili)</a:t>
            </a:r>
            <a:endParaRPr lang="en-GB" sz="2800"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658494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8EEAAC-40BB-84C4-98A7-A4E68148D594}"/>
              </a:ext>
            </a:extLst>
          </p:cNvPr>
          <p:cNvSpPr txBox="1"/>
          <p:nvPr/>
        </p:nvSpPr>
        <p:spPr>
          <a:xfrm>
            <a:off x="1393902" y="1059366"/>
            <a:ext cx="8441474" cy="4955203"/>
          </a:xfrm>
          <a:prstGeom prst="rect">
            <a:avLst/>
          </a:prstGeom>
          <a:noFill/>
        </p:spPr>
        <p:txBody>
          <a:bodyPr wrap="square" rtlCol="0">
            <a:spAutoFit/>
          </a:bodyPr>
          <a:lstStyle/>
          <a:p>
            <a:r>
              <a:rPr lang="en-GB" sz="3600" b="1" i="1" dirty="0">
                <a:solidFill>
                  <a:srgbClr val="008080"/>
                </a:solidFill>
                <a:latin typeface="Arial" panose="020B0604020202020204" pitchFamily="34" charset="0"/>
                <a:cs typeface="Arial" panose="020B0604020202020204" pitchFamily="34" charset="0"/>
              </a:rPr>
              <a:t>Aims of lecture today</a:t>
            </a:r>
          </a:p>
          <a:p>
            <a:endParaRPr lang="en-GB" sz="2800" dirty="0">
              <a:latin typeface="Arial" panose="020B0604020202020204" pitchFamily="34" charset="0"/>
              <a:cs typeface="Arial" panose="020B0604020202020204" pitchFamily="34" charset="0"/>
            </a:endParaRPr>
          </a:p>
          <a:p>
            <a:r>
              <a:rPr lang="en-GB" sz="2800" b="1" u="sng" dirty="0">
                <a:latin typeface="Arial" panose="020B0604020202020204" pitchFamily="34" charset="0"/>
                <a:cs typeface="Arial" panose="020B0604020202020204" pitchFamily="34" charset="0"/>
              </a:rPr>
              <a:t>Introduce you to:</a:t>
            </a:r>
          </a:p>
          <a:p>
            <a:endParaRPr lang="en-GB" sz="2800" dirty="0">
              <a:latin typeface="Arial" panose="020B0604020202020204" pitchFamily="34" charset="0"/>
              <a:cs typeface="Arial" panose="020B0604020202020204" pitchFamily="34" charset="0"/>
            </a:endParaRPr>
          </a:p>
          <a:p>
            <a:endParaRPr lang="en-GB"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The role of Public Health England (UK Health Security Agency)</a:t>
            </a:r>
          </a:p>
          <a:p>
            <a:pPr marL="457200" indent="-457200">
              <a:buFont typeface="Arial" panose="020B0604020202020204" pitchFamily="34" charset="0"/>
              <a:buChar char="•"/>
            </a:pPr>
            <a:endParaRPr lang="en-GB"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Public health infrastructure &amp; functions</a:t>
            </a:r>
          </a:p>
          <a:p>
            <a:pPr marL="457200" indent="-457200">
              <a:buFont typeface="Arial" panose="020B0604020202020204" pitchFamily="34" charset="0"/>
              <a:buChar char="•"/>
            </a:pPr>
            <a:endParaRPr lang="en-GB"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Public health outcomes framework</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7197" y="147973"/>
            <a:ext cx="2872172" cy="3388994"/>
          </a:xfrm>
          <a:prstGeom prst="rect">
            <a:avLst/>
          </a:prstGeom>
        </p:spPr>
      </p:pic>
    </p:spTree>
    <p:extLst>
      <p:ext uri="{BB962C8B-B14F-4D97-AF65-F5344CB8AC3E}">
        <p14:creationId xmlns:p14="http://schemas.microsoft.com/office/powerpoint/2010/main" val="960500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2E7EB-D9E2-4202-B689-5D758F677F7A}"/>
              </a:ext>
            </a:extLst>
          </p:cNvPr>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Learning Outcomes</a:t>
            </a:r>
          </a:p>
        </p:txBody>
      </p:sp>
      <p:sp>
        <p:nvSpPr>
          <p:cNvPr id="3" name="Content Placeholder 2">
            <a:extLst>
              <a:ext uri="{FF2B5EF4-FFF2-40B4-BE49-F238E27FC236}">
                <a16:creationId xmlns:a16="http://schemas.microsoft.com/office/drawing/2014/main" id="{D05AEBC5-17EE-40E3-AE81-870157ED9F5E}"/>
              </a:ext>
            </a:extLst>
          </p:cNvPr>
          <p:cNvSpPr>
            <a:spLocks noGrp="1"/>
          </p:cNvSpPr>
          <p:nvPr>
            <p:ph idx="1"/>
          </p:nvPr>
        </p:nvSpPr>
        <p:spPr/>
        <p:txBody>
          <a:bodyPr/>
          <a:lstStyle/>
          <a:p>
            <a:r>
              <a:rPr lang="en-GB" b="1" dirty="0">
                <a:latin typeface="Arial" panose="020B0604020202020204" pitchFamily="34" charset="0"/>
                <a:cs typeface="Arial" panose="020B0604020202020204" pitchFamily="34" charset="0"/>
              </a:rPr>
              <a:t>Gain understanding of the role of Public Health:</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Its core functions &amp; Public Health Outcome Framework (PHOF)</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Recognise the wider determinants of health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Recognise the reports related to health inequalities </a:t>
            </a:r>
          </a:p>
          <a:p>
            <a:endParaRPr lang="en-GB" dirty="0"/>
          </a:p>
        </p:txBody>
      </p:sp>
    </p:spTree>
    <p:extLst>
      <p:ext uri="{BB962C8B-B14F-4D97-AF65-F5344CB8AC3E}">
        <p14:creationId xmlns:p14="http://schemas.microsoft.com/office/powerpoint/2010/main" val="3435378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9ADE-C968-4A6B-BED4-1D3658D33F14}"/>
              </a:ext>
            </a:extLst>
          </p:cNvPr>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What is Health?</a:t>
            </a:r>
          </a:p>
        </p:txBody>
      </p:sp>
      <p:sp>
        <p:nvSpPr>
          <p:cNvPr id="3" name="Content Placeholder 2">
            <a:extLst>
              <a:ext uri="{FF2B5EF4-FFF2-40B4-BE49-F238E27FC236}">
                <a16:creationId xmlns:a16="http://schemas.microsoft.com/office/drawing/2014/main" id="{7D4E8B1A-35B0-42E9-855B-E220D620065A}"/>
              </a:ext>
            </a:extLst>
          </p:cNvPr>
          <p:cNvSpPr>
            <a:spLocks noGrp="1"/>
          </p:cNvSpPr>
          <p:nvPr>
            <p:ph idx="1"/>
          </p:nvPr>
        </p:nvSpPr>
        <p:spPr/>
        <p:txBody>
          <a:bodyPr/>
          <a:lstStyle/>
          <a:p>
            <a:pPr marL="0" indent="0">
              <a:buNone/>
            </a:pPr>
            <a:r>
              <a:rPr lang="en-US" dirty="0">
                <a:solidFill>
                  <a:srgbClr val="000000"/>
                </a:solidFill>
                <a:latin typeface="Arial" panose="020B0604020202020204" pitchFamily="34" charset="0"/>
                <a:cs typeface="Arial" panose="020B0604020202020204" pitchFamily="34" charset="0"/>
              </a:rPr>
              <a:t>The WHO definition of health, formulated in 1948, described health as:</a:t>
            </a:r>
          </a:p>
          <a:p>
            <a:pPr marL="0" indent="0">
              <a:buNone/>
            </a:pPr>
            <a:endParaRPr lang="en-US" dirty="0">
              <a:solidFill>
                <a:srgbClr val="000000"/>
              </a:solidFill>
              <a:latin typeface="Arial" panose="020B0604020202020204" pitchFamily="34" charset="0"/>
              <a:cs typeface="Arial" panose="020B0604020202020204" pitchFamily="34" charset="0"/>
            </a:endParaRPr>
          </a:p>
          <a:p>
            <a:pPr lvl="1">
              <a:buClr>
                <a:srgbClr val="C00000"/>
              </a:buClr>
              <a:buFont typeface="Arial" panose="020B0604020202020204" pitchFamily="34" charset="0"/>
              <a:buChar char="•"/>
            </a:pPr>
            <a:r>
              <a:rPr lang="en-US" sz="2800" dirty="0">
                <a:solidFill>
                  <a:srgbClr val="000000"/>
                </a:solidFill>
                <a:latin typeface="Arial" panose="020B0604020202020204" pitchFamily="34" charset="0"/>
                <a:cs typeface="Arial" panose="020B0604020202020204" pitchFamily="34" charset="0"/>
              </a:rPr>
              <a:t>“a state of complete physical, mental and social well-being and not merely the absence of disease or infirmity”</a:t>
            </a:r>
          </a:p>
          <a:p>
            <a:pPr marL="457200" lvl="1" indent="0">
              <a:buClr>
                <a:srgbClr val="C00000"/>
              </a:buClr>
              <a:buNone/>
            </a:pPr>
            <a:endParaRPr lang="en-US" sz="2800" dirty="0">
              <a:solidFill>
                <a:srgbClr val="000000"/>
              </a:solidFill>
              <a:latin typeface="Arial" panose="020B0604020202020204" pitchFamily="34" charset="0"/>
              <a:cs typeface="Arial" panose="020B0604020202020204" pitchFamily="34" charset="0"/>
            </a:endParaRPr>
          </a:p>
          <a:p>
            <a:pPr lvl="1">
              <a:buClr>
                <a:srgbClr val="C00000"/>
              </a:buClr>
              <a:buFont typeface="Arial" panose="020B0604020202020204" pitchFamily="34" charset="0"/>
              <a:buChar char="•"/>
            </a:pPr>
            <a:r>
              <a:rPr lang="en-GB" sz="2800" dirty="0">
                <a:solidFill>
                  <a:srgbClr val="000000"/>
                </a:solidFill>
                <a:latin typeface="Arial" panose="020B0604020202020204" pitchFamily="34" charset="0"/>
                <a:cs typeface="Arial" panose="020B0604020202020204" pitchFamily="34" charset="0"/>
              </a:rPr>
              <a:t>Much criticism over this definition as </a:t>
            </a:r>
            <a:r>
              <a:rPr lang="en-US" sz="2800" dirty="0">
                <a:solidFill>
                  <a:srgbClr val="000000"/>
                </a:solidFill>
                <a:latin typeface="Arial" panose="020B0604020202020204" pitchFamily="34" charset="0"/>
                <a:cs typeface="Arial" panose="020B0604020202020204" pitchFamily="34" charset="0"/>
              </a:rPr>
              <a:t>the requirement for complete health “would leave most of us unhealthy most of the time”</a:t>
            </a:r>
          </a:p>
          <a:p>
            <a:endParaRPr lang="en-GB" dirty="0"/>
          </a:p>
        </p:txBody>
      </p:sp>
    </p:spTree>
    <p:extLst>
      <p:ext uri="{BB962C8B-B14F-4D97-AF65-F5344CB8AC3E}">
        <p14:creationId xmlns:p14="http://schemas.microsoft.com/office/powerpoint/2010/main" val="3873531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282390" y="1650380"/>
            <a:ext cx="10281425" cy="384818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00000"/>
              </a:buClr>
              <a:buNone/>
            </a:pPr>
            <a:r>
              <a:rPr lang="en-GB" altLang="en-US" sz="3600" b="1" i="1" dirty="0">
                <a:solidFill>
                  <a:srgbClr val="008080"/>
                </a:solidFill>
                <a:latin typeface="Arial" panose="020B0604020202020204" pitchFamily="34" charset="0"/>
                <a:cs typeface="Arial" panose="020B0604020202020204" pitchFamily="34" charset="0"/>
              </a:rPr>
              <a:t>More recent definition</a:t>
            </a:r>
          </a:p>
          <a:p>
            <a:pPr marL="0" indent="0">
              <a:buClr>
                <a:srgbClr val="C00000"/>
              </a:buClr>
              <a:buNone/>
            </a:pPr>
            <a:endParaRPr lang="en-GB" altLang="en-US" b="1" dirty="0">
              <a:latin typeface="Arial" panose="020B0604020202020204" pitchFamily="34" charset="0"/>
              <a:cs typeface="Arial" panose="020B0604020202020204" pitchFamily="34" charset="0"/>
            </a:endParaRPr>
          </a:p>
          <a:p>
            <a:pPr marL="0" indent="0">
              <a:buClr>
                <a:srgbClr val="C00000"/>
              </a:buClr>
              <a:buNone/>
            </a:pPr>
            <a:endParaRPr lang="en-GB" altLang="en-US" b="1" dirty="0">
              <a:latin typeface="Arial" panose="020B0604020202020204" pitchFamily="34" charset="0"/>
              <a:cs typeface="Arial" panose="020B0604020202020204" pitchFamily="34" charset="0"/>
            </a:endParaRPr>
          </a:p>
          <a:p>
            <a:pPr marL="0" indent="0">
              <a:buClr>
                <a:srgbClr val="C00000"/>
              </a:buClr>
              <a:buNone/>
            </a:pPr>
            <a:r>
              <a:rPr lang="en-GB" altLang="en-US" b="1" dirty="0">
                <a:latin typeface="Arial" panose="020B0604020202020204" pitchFamily="34" charset="0"/>
                <a:cs typeface="Arial" panose="020B0604020202020204" pitchFamily="34" charset="0"/>
              </a:rPr>
              <a:t>Health includes:</a:t>
            </a:r>
          </a:p>
          <a:p>
            <a:pPr marL="0" indent="0">
              <a:buClr>
                <a:srgbClr val="C00000"/>
              </a:buClr>
            </a:pPr>
            <a:endParaRPr lang="en-GB" altLang="en-US" dirty="0">
              <a:latin typeface="Arial" panose="020B0604020202020204" pitchFamily="34" charset="0"/>
              <a:cs typeface="Arial" panose="020B0604020202020204" pitchFamily="34" charset="0"/>
            </a:endParaRPr>
          </a:p>
          <a:p>
            <a:pPr lvl="2">
              <a:buClr>
                <a:srgbClr val="C00000"/>
              </a:buClr>
            </a:pPr>
            <a:r>
              <a:rPr lang="en-GB" altLang="en-US" sz="2800" dirty="0">
                <a:latin typeface="Arial" panose="020B0604020202020204" pitchFamily="34" charset="0"/>
                <a:cs typeface="Arial" panose="020B0604020202020204" pitchFamily="34" charset="0"/>
              </a:rPr>
              <a:t>Physical Health, </a:t>
            </a:r>
          </a:p>
          <a:p>
            <a:pPr lvl="2">
              <a:buClr>
                <a:srgbClr val="C00000"/>
              </a:buClr>
            </a:pPr>
            <a:r>
              <a:rPr lang="en-GB" altLang="en-US" sz="2800" dirty="0">
                <a:latin typeface="Arial" panose="020B0604020202020204" pitchFamily="34" charset="0"/>
                <a:cs typeface="Arial" panose="020B0604020202020204" pitchFamily="34" charset="0"/>
              </a:rPr>
              <a:t>Mental Health and </a:t>
            </a:r>
          </a:p>
          <a:p>
            <a:pPr lvl="2">
              <a:buClr>
                <a:srgbClr val="C00000"/>
              </a:buClr>
            </a:pPr>
            <a:r>
              <a:rPr lang="en-GB" altLang="en-US" sz="2800" dirty="0">
                <a:latin typeface="Arial" panose="020B0604020202020204" pitchFamily="34" charset="0"/>
                <a:cs typeface="Arial" panose="020B0604020202020204" pitchFamily="34" charset="0"/>
              </a:rPr>
              <a:t>Wellbeing</a:t>
            </a:r>
          </a:p>
          <a:p>
            <a:pPr marL="0" indent="0">
              <a:buFont typeface="Arial" panose="020B0604020202020204" pitchFamily="34" charset="0"/>
              <a:buNone/>
            </a:pPr>
            <a:endParaRPr lang="en-GB" sz="2400" dirty="0"/>
          </a:p>
        </p:txBody>
      </p:sp>
    </p:spTree>
    <p:extLst>
      <p:ext uri="{BB962C8B-B14F-4D97-AF65-F5344CB8AC3E}">
        <p14:creationId xmlns:p14="http://schemas.microsoft.com/office/powerpoint/2010/main" val="378284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3D20-7F1B-4907-80E3-E10653D8B94C}"/>
              </a:ext>
            </a:extLst>
          </p:cNvPr>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What is wellbeing?</a:t>
            </a:r>
            <a:endParaRPr lang="en-GB" sz="3600"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BD52A9D-C3A0-4837-B643-868613B1407E}"/>
              </a:ext>
            </a:extLst>
          </p:cNvPr>
          <p:cNvSpPr>
            <a:spLocks noGrp="1"/>
          </p:cNvSpPr>
          <p:nvPr>
            <p:ph sz="half" idx="1"/>
          </p:nvPr>
        </p:nvSpPr>
        <p:spPr>
          <a:xfrm>
            <a:off x="6742770" y="1613191"/>
            <a:ext cx="5181600" cy="4351338"/>
          </a:xfrm>
        </p:spPr>
        <p:txBody>
          <a:bodyPr/>
          <a:lstStyle/>
          <a:p>
            <a:pPr>
              <a:buNone/>
            </a:pPr>
            <a:r>
              <a:rPr lang="en-GB" altLang="en-US" b="1" u="sng" dirty="0">
                <a:latin typeface="Arial" panose="020B0604020202020204" pitchFamily="34" charset="0"/>
                <a:cs typeface="Arial" panose="020B0604020202020204" pitchFamily="34" charset="0"/>
              </a:rPr>
              <a:t>Benefits:</a:t>
            </a:r>
          </a:p>
          <a:p>
            <a:pPr>
              <a:buNone/>
            </a:pPr>
            <a:endParaRPr lang="en-GB" altLang="en-US" dirty="0">
              <a:latin typeface="Arial" panose="020B0604020202020204" pitchFamily="34" charset="0"/>
              <a:cs typeface="Arial" panose="020B0604020202020204" pitchFamily="34" charset="0"/>
            </a:endParaRP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Reduced health risk</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Reduced mortality</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Improved educational outcomes</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Increased productivity at work</a:t>
            </a:r>
          </a:p>
          <a:p>
            <a:endParaRPr lang="en-GB" dirty="0"/>
          </a:p>
        </p:txBody>
      </p:sp>
      <p:sp>
        <p:nvSpPr>
          <p:cNvPr id="4" name="Content Placeholder 3">
            <a:extLst>
              <a:ext uri="{FF2B5EF4-FFF2-40B4-BE49-F238E27FC236}">
                <a16:creationId xmlns:a16="http://schemas.microsoft.com/office/drawing/2014/main" id="{7DDD38A3-4321-4A34-8680-A7445CF61C68}"/>
              </a:ext>
            </a:extLst>
          </p:cNvPr>
          <p:cNvSpPr>
            <a:spLocks noGrp="1"/>
          </p:cNvSpPr>
          <p:nvPr>
            <p:ph sz="half" idx="2"/>
          </p:nvPr>
        </p:nvSpPr>
        <p:spPr>
          <a:xfrm>
            <a:off x="685800" y="1631196"/>
            <a:ext cx="5181600" cy="4351338"/>
          </a:xfrm>
        </p:spPr>
        <p:txBody>
          <a:bodyPr/>
          <a:lstStyle/>
          <a:p>
            <a:pPr marL="0" indent="0" fontAlgn="base">
              <a:buNone/>
            </a:pPr>
            <a:r>
              <a:rPr lang="en-US" sz="2800" b="1" u="sng" dirty="0">
                <a:latin typeface="Arial" panose="020B0604020202020204" pitchFamily="34" charset="0"/>
                <a:cs typeface="Arial" panose="020B0604020202020204" pitchFamily="34" charset="0"/>
              </a:rPr>
              <a:t>Wellbeing includes:</a:t>
            </a:r>
          </a:p>
          <a:p>
            <a:pPr marL="0" indent="0" fontAlgn="base">
              <a:buNone/>
            </a:pPr>
            <a:endParaRPr lang="en-US" sz="2800" dirty="0">
              <a:latin typeface="Arial" panose="020B0604020202020204" pitchFamily="34" charset="0"/>
              <a:cs typeface="Arial" panose="020B0604020202020204" pitchFamily="34" charset="0"/>
            </a:endParaRPr>
          </a:p>
          <a:p>
            <a:pPr fontAlgn="base">
              <a:buClr>
                <a:srgbClr val="C00000"/>
              </a:buClr>
            </a:pPr>
            <a:r>
              <a:rPr lang="en-US" sz="2800" dirty="0">
                <a:latin typeface="Arial" panose="020B0604020202020204" pitchFamily="34" charset="0"/>
                <a:cs typeface="Arial" panose="020B0604020202020204" pitchFamily="34" charset="0"/>
              </a:rPr>
              <a:t>How we feel</a:t>
            </a:r>
          </a:p>
          <a:p>
            <a:pPr fontAlgn="base">
              <a:buClr>
                <a:srgbClr val="C00000"/>
              </a:buClr>
            </a:pPr>
            <a:r>
              <a:rPr lang="en-US" sz="2800" dirty="0">
                <a:latin typeface="Arial" panose="020B0604020202020204" pitchFamily="34" charset="0"/>
                <a:cs typeface="Arial" panose="020B0604020202020204" pitchFamily="34" charset="0"/>
              </a:rPr>
              <a:t>How we think</a:t>
            </a:r>
          </a:p>
          <a:p>
            <a:pPr fontAlgn="base">
              <a:buClr>
                <a:srgbClr val="C00000"/>
              </a:buClr>
            </a:pPr>
            <a:r>
              <a:rPr lang="en-US" sz="2800" dirty="0">
                <a:latin typeface="Arial" panose="020B0604020202020204" pitchFamily="34" charset="0"/>
                <a:cs typeface="Arial" panose="020B0604020202020204" pitchFamily="34" charset="0"/>
              </a:rPr>
              <a:t>Relationships</a:t>
            </a:r>
          </a:p>
          <a:p>
            <a:pPr fontAlgn="base">
              <a:buClr>
                <a:srgbClr val="C00000"/>
              </a:buClr>
            </a:pPr>
            <a:r>
              <a:rPr lang="en-US" sz="2800" dirty="0">
                <a:latin typeface="Arial" panose="020B0604020202020204" pitchFamily="34" charset="0"/>
                <a:cs typeface="Arial" panose="020B0604020202020204" pitchFamily="34" charset="0"/>
              </a:rPr>
              <a:t>Meaning &amp; Purpose </a:t>
            </a:r>
            <a:r>
              <a:rPr lang="en-US" sz="2400" i="1" dirty="0">
                <a:latin typeface="Arial" panose="020B0604020202020204" pitchFamily="34" charset="0"/>
                <a:cs typeface="Arial" panose="020B0604020202020204" pitchFamily="34" charset="0"/>
              </a:rPr>
              <a:t>(</a:t>
            </a:r>
            <a:r>
              <a:rPr lang="en-US" sz="2400" i="1" dirty="0" err="1">
                <a:latin typeface="Arial" panose="020B0604020202020204" pitchFamily="34" charset="0"/>
                <a:cs typeface="Arial" panose="020B0604020202020204" pitchFamily="34" charset="0"/>
              </a:rPr>
              <a:t>Friedli</a:t>
            </a:r>
            <a:r>
              <a:rPr lang="en-US" sz="2400" i="1" dirty="0">
                <a:latin typeface="Arial" panose="020B0604020202020204" pitchFamily="34" charset="0"/>
                <a:cs typeface="Arial" panose="020B0604020202020204" pitchFamily="34" charset="0"/>
              </a:rPr>
              <a:t> 2009)</a:t>
            </a:r>
          </a:p>
          <a:p>
            <a:endParaRPr lang="en-GB" dirty="0"/>
          </a:p>
        </p:txBody>
      </p:sp>
    </p:spTree>
    <p:extLst>
      <p:ext uri="{BB962C8B-B14F-4D97-AF65-F5344CB8AC3E}">
        <p14:creationId xmlns:p14="http://schemas.microsoft.com/office/powerpoint/2010/main" val="1784325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47B0360-F90E-D214-7B05-9B58E60DBA4F}"/>
              </a:ext>
            </a:extLst>
          </p:cNvPr>
          <p:cNvPicPr>
            <a:picLocks noChangeAspect="1"/>
          </p:cNvPicPr>
          <p:nvPr/>
        </p:nvPicPr>
        <p:blipFill>
          <a:blip r:embed="rId3"/>
          <a:stretch>
            <a:fillRect/>
          </a:stretch>
        </p:blipFill>
        <p:spPr>
          <a:xfrm>
            <a:off x="1447802" y="-48395"/>
            <a:ext cx="9556595" cy="6954788"/>
          </a:xfrm>
          <a:prstGeom prst="rect">
            <a:avLst/>
          </a:prstGeom>
        </p:spPr>
      </p:pic>
      <p:sp>
        <p:nvSpPr>
          <p:cNvPr id="10" name="TextBox 9">
            <a:extLst>
              <a:ext uri="{FF2B5EF4-FFF2-40B4-BE49-F238E27FC236}">
                <a16:creationId xmlns:a16="http://schemas.microsoft.com/office/drawing/2014/main" id="{13401A5C-F557-1669-D84C-92A4F78538BF}"/>
              </a:ext>
            </a:extLst>
          </p:cNvPr>
          <p:cNvSpPr txBox="1"/>
          <p:nvPr/>
        </p:nvSpPr>
        <p:spPr>
          <a:xfrm>
            <a:off x="4772723" y="1144710"/>
            <a:ext cx="1215482"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Age</a:t>
            </a:r>
          </a:p>
        </p:txBody>
      </p:sp>
      <p:sp>
        <p:nvSpPr>
          <p:cNvPr id="11" name="TextBox 10">
            <a:extLst>
              <a:ext uri="{FF2B5EF4-FFF2-40B4-BE49-F238E27FC236}">
                <a16:creationId xmlns:a16="http://schemas.microsoft.com/office/drawing/2014/main" id="{AF33A9DE-1F5D-F3BD-8C9D-3AA011B0232D}"/>
              </a:ext>
            </a:extLst>
          </p:cNvPr>
          <p:cNvSpPr txBox="1"/>
          <p:nvPr/>
        </p:nvSpPr>
        <p:spPr>
          <a:xfrm>
            <a:off x="6527183" y="1107391"/>
            <a:ext cx="1775771" cy="954107"/>
          </a:xfrm>
          <a:prstGeom prst="rect">
            <a:avLst/>
          </a:prstGeom>
          <a:noFill/>
        </p:spPr>
        <p:txBody>
          <a:bodyPr wrap="square" lIns="91440" tIns="45720" rIns="91440" bIns="45720" rtlCol="0" anchor="t">
            <a:spAutoFit/>
          </a:bodyPr>
          <a:lstStyle/>
          <a:p>
            <a:r>
              <a:rPr lang="en-GB" sz="2800" dirty="0">
                <a:latin typeface="Arial"/>
                <a:cs typeface="Arial"/>
              </a:rPr>
              <a:t>Genetics/ history</a:t>
            </a:r>
            <a:endParaRPr lang="en-GB" sz="2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E8F4F0E-A917-C5ED-68EB-686A63ED1ADA}"/>
              </a:ext>
            </a:extLst>
          </p:cNvPr>
          <p:cNvSpPr txBox="1"/>
          <p:nvPr/>
        </p:nvSpPr>
        <p:spPr>
          <a:xfrm>
            <a:off x="7560961" y="2343850"/>
            <a:ext cx="1974636" cy="954107"/>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Behaviour/ lifestyle</a:t>
            </a:r>
          </a:p>
        </p:txBody>
      </p:sp>
      <p:sp>
        <p:nvSpPr>
          <p:cNvPr id="13" name="TextBox 12">
            <a:extLst>
              <a:ext uri="{FF2B5EF4-FFF2-40B4-BE49-F238E27FC236}">
                <a16:creationId xmlns:a16="http://schemas.microsoft.com/office/drawing/2014/main" id="{9F572387-F645-6E53-B7F1-8A3A0597C8BF}"/>
              </a:ext>
            </a:extLst>
          </p:cNvPr>
          <p:cNvSpPr txBox="1"/>
          <p:nvPr/>
        </p:nvSpPr>
        <p:spPr>
          <a:xfrm>
            <a:off x="7812081" y="3897149"/>
            <a:ext cx="1828365"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Economic</a:t>
            </a:r>
          </a:p>
        </p:txBody>
      </p:sp>
      <p:sp>
        <p:nvSpPr>
          <p:cNvPr id="14" name="TextBox 13">
            <a:extLst>
              <a:ext uri="{FF2B5EF4-FFF2-40B4-BE49-F238E27FC236}">
                <a16:creationId xmlns:a16="http://schemas.microsoft.com/office/drawing/2014/main" id="{76838B29-C16A-418F-C41B-F5E328A70806}"/>
              </a:ext>
            </a:extLst>
          </p:cNvPr>
          <p:cNvSpPr txBox="1"/>
          <p:nvPr/>
        </p:nvSpPr>
        <p:spPr>
          <a:xfrm>
            <a:off x="2823117" y="2597134"/>
            <a:ext cx="2189356"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Environment</a:t>
            </a:r>
          </a:p>
        </p:txBody>
      </p:sp>
      <p:sp>
        <p:nvSpPr>
          <p:cNvPr id="15" name="TextBox 14">
            <a:extLst>
              <a:ext uri="{FF2B5EF4-FFF2-40B4-BE49-F238E27FC236}">
                <a16:creationId xmlns:a16="http://schemas.microsoft.com/office/drawing/2014/main" id="{F34513A1-AFC8-5B26-4799-7D78922BF8DC}"/>
              </a:ext>
            </a:extLst>
          </p:cNvPr>
          <p:cNvSpPr txBox="1"/>
          <p:nvPr/>
        </p:nvSpPr>
        <p:spPr>
          <a:xfrm>
            <a:off x="3164438" y="3880220"/>
            <a:ext cx="1215482"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Social</a:t>
            </a:r>
          </a:p>
        </p:txBody>
      </p:sp>
      <p:sp>
        <p:nvSpPr>
          <p:cNvPr id="16" name="TextBox 15">
            <a:extLst>
              <a:ext uri="{FF2B5EF4-FFF2-40B4-BE49-F238E27FC236}">
                <a16:creationId xmlns:a16="http://schemas.microsoft.com/office/drawing/2014/main" id="{D5540567-3C01-B13D-DCD1-E2C81A36DF89}"/>
              </a:ext>
            </a:extLst>
          </p:cNvPr>
          <p:cNvSpPr txBox="1"/>
          <p:nvPr/>
        </p:nvSpPr>
        <p:spPr>
          <a:xfrm>
            <a:off x="4326674" y="5424916"/>
            <a:ext cx="1661531"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Cultural</a:t>
            </a:r>
          </a:p>
        </p:txBody>
      </p:sp>
      <p:sp>
        <p:nvSpPr>
          <p:cNvPr id="17" name="TextBox 16">
            <a:extLst>
              <a:ext uri="{FF2B5EF4-FFF2-40B4-BE49-F238E27FC236}">
                <a16:creationId xmlns:a16="http://schemas.microsoft.com/office/drawing/2014/main" id="{68303BA8-3E02-24C9-EFFC-5F1C2A854CEC}"/>
              </a:ext>
            </a:extLst>
          </p:cNvPr>
          <p:cNvSpPr txBox="1"/>
          <p:nvPr/>
        </p:nvSpPr>
        <p:spPr>
          <a:xfrm>
            <a:off x="6284700" y="5401771"/>
            <a:ext cx="2582377" cy="523220"/>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Psychological</a:t>
            </a:r>
          </a:p>
        </p:txBody>
      </p:sp>
      <p:sp>
        <p:nvSpPr>
          <p:cNvPr id="18" name="TextBox 17">
            <a:extLst>
              <a:ext uri="{FF2B5EF4-FFF2-40B4-BE49-F238E27FC236}">
                <a16:creationId xmlns:a16="http://schemas.microsoft.com/office/drawing/2014/main" id="{04953F1A-8B71-D140-257E-DAB65E29F253}"/>
              </a:ext>
            </a:extLst>
          </p:cNvPr>
          <p:cNvSpPr txBox="1"/>
          <p:nvPr/>
        </p:nvSpPr>
        <p:spPr>
          <a:xfrm>
            <a:off x="494371" y="267547"/>
            <a:ext cx="3196683" cy="1200329"/>
          </a:xfrm>
          <a:prstGeom prst="rect">
            <a:avLst/>
          </a:prstGeom>
          <a:noFill/>
        </p:spPr>
        <p:txBody>
          <a:bodyPr wrap="square" rtlCol="0">
            <a:spAutoFit/>
          </a:bodyPr>
          <a:lstStyle/>
          <a:p>
            <a:r>
              <a:rPr lang="en-GB" sz="3600" b="1" i="1" dirty="0">
                <a:solidFill>
                  <a:srgbClr val="008080"/>
                </a:solidFill>
                <a:latin typeface="Arial" panose="020B0604020202020204" pitchFamily="34" charset="0"/>
                <a:cs typeface="Arial" panose="020B0604020202020204" pitchFamily="34" charset="0"/>
              </a:rPr>
              <a:t>Influences on health</a:t>
            </a:r>
          </a:p>
        </p:txBody>
      </p:sp>
    </p:spTree>
    <p:extLst>
      <p:ext uri="{BB962C8B-B14F-4D97-AF65-F5344CB8AC3E}">
        <p14:creationId xmlns:p14="http://schemas.microsoft.com/office/powerpoint/2010/main" val="270820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Widely Used Terms in PH</a:t>
            </a:r>
          </a:p>
        </p:txBody>
      </p:sp>
      <p:sp>
        <p:nvSpPr>
          <p:cNvPr id="3" name="Content Placeholder 2"/>
          <p:cNvSpPr>
            <a:spLocks noGrp="1"/>
          </p:cNvSpPr>
          <p:nvPr>
            <p:ph idx="1"/>
          </p:nvPr>
        </p:nvSpPr>
        <p:spPr/>
        <p:txBody>
          <a:bodyPr>
            <a:normAutofit/>
          </a:bodyPr>
          <a:lstStyle/>
          <a:p>
            <a:pPr marL="749808" lvl="1" indent="-457200">
              <a:buClr>
                <a:srgbClr val="C00000"/>
              </a:buClr>
            </a:pPr>
            <a:endParaRPr lang="en-IN" sz="3200" dirty="0">
              <a:solidFill>
                <a:schemeClr val="tx1">
                  <a:lumMod val="50000"/>
                  <a:lumOff val="50000"/>
                </a:schemeClr>
              </a:solidFill>
            </a:endParaRPr>
          </a:p>
          <a:p>
            <a:pPr marL="749808" lvl="1" indent="-457200">
              <a:buClr>
                <a:srgbClr val="C00000"/>
              </a:buClr>
            </a:pPr>
            <a:r>
              <a:rPr lang="en-IN" sz="2800" dirty="0">
                <a:latin typeface="Arial" panose="020B0604020202020204" pitchFamily="34" charset="0"/>
                <a:cs typeface="Arial" panose="020B0604020202020204" pitchFamily="34" charset="0"/>
              </a:rPr>
              <a:t>Social determinants of health</a:t>
            </a:r>
          </a:p>
          <a:p>
            <a:pPr marL="749808" lvl="1" indent="-457200">
              <a:buClr>
                <a:srgbClr val="C00000"/>
              </a:buClr>
            </a:pPr>
            <a:r>
              <a:rPr lang="en-IN" sz="2800" dirty="0">
                <a:latin typeface="Arial" panose="020B0604020202020204" pitchFamily="34" charset="0"/>
                <a:cs typeface="Arial" panose="020B0604020202020204" pitchFamily="34" charset="0"/>
              </a:rPr>
              <a:t>Health inequalities</a:t>
            </a:r>
            <a:endParaRPr lang="en-US" sz="2800" dirty="0">
              <a:latin typeface="Arial" panose="020B0604020202020204" pitchFamily="34" charset="0"/>
              <a:cs typeface="Arial" panose="020B0604020202020204" pitchFamily="34" charset="0"/>
            </a:endParaRPr>
          </a:p>
          <a:p>
            <a:pPr marL="749808" lvl="1" indent="-457200">
              <a:buClr>
                <a:srgbClr val="C00000"/>
              </a:buClr>
            </a:pPr>
            <a:r>
              <a:rPr lang="en-IN" sz="2800" dirty="0">
                <a:latin typeface="Arial" panose="020B0604020202020204" pitchFamily="34" charset="0"/>
                <a:cs typeface="Arial" panose="020B0604020202020204" pitchFamily="34" charset="0"/>
              </a:rPr>
              <a:t>Life course </a:t>
            </a:r>
          </a:p>
          <a:p>
            <a:pPr marL="749808" lvl="1" indent="-457200">
              <a:buClr>
                <a:srgbClr val="C00000"/>
              </a:buClr>
            </a:pPr>
            <a:r>
              <a:rPr lang="en-IN" sz="2800" b="1" dirty="0">
                <a:latin typeface="Arial" panose="020B0604020202020204" pitchFamily="34" charset="0"/>
                <a:cs typeface="Arial" panose="020B0604020202020204" pitchFamily="34" charset="0"/>
              </a:rPr>
              <a:t>Public Health Outcomes Framework (PHOF)</a:t>
            </a:r>
            <a:endParaRPr lang="en-GB"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463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38AE9-27C9-4706-B584-D5FE3E8BBF22}"/>
              </a:ext>
            </a:extLst>
          </p:cNvPr>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Health Inequalities defined</a:t>
            </a:r>
          </a:p>
        </p:txBody>
      </p:sp>
      <p:sp>
        <p:nvSpPr>
          <p:cNvPr id="3" name="Content Placeholder 2">
            <a:extLst>
              <a:ext uri="{FF2B5EF4-FFF2-40B4-BE49-F238E27FC236}">
                <a16:creationId xmlns:a16="http://schemas.microsoft.com/office/drawing/2014/main" id="{CE871E35-B9EC-41D7-8678-38130161BD9B}"/>
              </a:ext>
            </a:extLst>
          </p:cNvPr>
          <p:cNvSpPr>
            <a:spLocks noGrp="1"/>
          </p:cNvSpPr>
          <p:nvPr>
            <p:ph idx="1"/>
          </p:nvPr>
        </p:nvSpPr>
        <p:spPr/>
        <p:txBody>
          <a:bodyPr/>
          <a:lstStyle/>
          <a:p>
            <a:pPr>
              <a:buClr>
                <a:srgbClr val="C00000"/>
              </a:buClr>
            </a:pPr>
            <a:r>
              <a:rPr lang="en-GB" dirty="0">
                <a:latin typeface="Arial" panose="020B0604020202020204" pitchFamily="34" charset="0"/>
                <a:cs typeface="Arial" panose="020B0604020202020204" pitchFamily="34" charset="0"/>
              </a:rPr>
              <a:t>“Differences in health status or in the distribution of health determinants between different population groups.”</a:t>
            </a:r>
          </a:p>
          <a:p>
            <a:pPr>
              <a:buClr>
                <a:srgbClr val="C00000"/>
              </a:buClr>
            </a:pPr>
            <a:endParaRPr lang="en-GB" dirty="0">
              <a:latin typeface="Arial" panose="020B0604020202020204" pitchFamily="34" charset="0"/>
              <a:cs typeface="Arial" panose="020B0604020202020204" pitchFamily="34" charset="0"/>
            </a:endParaRPr>
          </a:p>
          <a:p>
            <a:pPr>
              <a:buClr>
                <a:srgbClr val="C00000"/>
              </a:buClr>
            </a:pPr>
            <a:r>
              <a:rPr lang="en-GB" dirty="0">
                <a:latin typeface="Arial" panose="020B0604020202020204" pitchFamily="34" charset="0"/>
                <a:cs typeface="Arial" panose="020B0604020202020204" pitchFamily="34" charset="0"/>
              </a:rPr>
              <a:t>WHO believes: </a:t>
            </a:r>
          </a:p>
          <a:p>
            <a:pPr marL="0" indent="0">
              <a:buClr>
                <a:srgbClr val="C00000"/>
              </a:buClr>
              <a:buNone/>
            </a:pPr>
            <a:r>
              <a:rPr lang="en-GB" dirty="0">
                <a:latin typeface="Arial" panose="020B0604020202020204" pitchFamily="34" charset="0"/>
                <a:cs typeface="Arial" panose="020B0604020202020204" pitchFamily="34" charset="0"/>
              </a:rPr>
              <a:t>“avoidable health inequalities arise because of inequalities in society and in the conditions in which we are born, grow, live work and age, and the systems put in place to deal with illness. The conditions in which people live and die are, in turn, shaped by political, social and economic forces.”</a:t>
            </a:r>
          </a:p>
        </p:txBody>
      </p:sp>
    </p:spTree>
    <p:extLst>
      <p:ext uri="{BB962C8B-B14F-4D97-AF65-F5344CB8AC3E}">
        <p14:creationId xmlns:p14="http://schemas.microsoft.com/office/powerpoint/2010/main" val="827820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4E69C1-0D13-4EF8-A8F5-D3B9C41C2AD9}"/>
              </a:ext>
            </a:extLst>
          </p:cNvPr>
          <p:cNvSpPr/>
          <p:nvPr/>
        </p:nvSpPr>
        <p:spPr>
          <a:xfrm rot="10800000" flipV="1">
            <a:off x="1176617" y="1211105"/>
            <a:ext cx="9332259" cy="3970318"/>
          </a:xfrm>
          <a:prstGeom prst="rect">
            <a:avLst/>
          </a:prstGeom>
        </p:spPr>
        <p:txBody>
          <a:bodyPr wrap="square">
            <a:spAutoFit/>
          </a:bodyPr>
          <a:lstStyle/>
          <a:p>
            <a:pPr marL="749808" lvl="1" indent="-457200">
              <a:buClr>
                <a:srgbClr val="C00000"/>
              </a:buClr>
              <a:buFont typeface="Arial" panose="020B0604020202020204" pitchFamily="34" charset="0"/>
              <a:buChar char="•"/>
            </a:pPr>
            <a:r>
              <a:rPr lang="en-IN" sz="2800" b="1" dirty="0">
                <a:latin typeface="Arial" panose="020B0604020202020204" pitchFamily="34" charset="0"/>
                <a:cs typeface="Arial" panose="020B0604020202020204" pitchFamily="34" charset="0"/>
              </a:rPr>
              <a:t>Social determinants of health </a:t>
            </a:r>
            <a:r>
              <a:rPr lang="en-IN" sz="2800" dirty="0">
                <a:latin typeface="Arial" panose="020B0604020202020204" pitchFamily="34" charset="0"/>
                <a:cs typeface="Arial" panose="020B0604020202020204" pitchFamily="34" charset="0"/>
              </a:rPr>
              <a:t>– the social and economic conditions in which people are born, grow, live, work and age, including the health system. </a:t>
            </a:r>
          </a:p>
          <a:p>
            <a:pPr marL="749808" lvl="1" indent="-457200">
              <a:buClr>
                <a:srgbClr val="C00000"/>
              </a:buClr>
              <a:buFont typeface="Arial" panose="020B0604020202020204" pitchFamily="34" charset="0"/>
              <a:buChar char="•"/>
            </a:pPr>
            <a:endParaRPr lang="en-IN" sz="2800" dirty="0">
              <a:latin typeface="Arial" panose="020B0604020202020204" pitchFamily="34" charset="0"/>
              <a:cs typeface="Arial" panose="020B0604020202020204" pitchFamily="34" charset="0"/>
            </a:endParaRPr>
          </a:p>
          <a:p>
            <a:pPr marL="292608" lvl="1">
              <a:buClr>
                <a:srgbClr val="C00000"/>
              </a:buClr>
            </a:pPr>
            <a:endParaRPr lang="en-IN" sz="2800" dirty="0">
              <a:latin typeface="Arial" panose="020B0604020202020204" pitchFamily="34" charset="0"/>
              <a:cs typeface="Arial" panose="020B0604020202020204" pitchFamily="34" charset="0"/>
            </a:endParaRPr>
          </a:p>
          <a:p>
            <a:pPr marL="749808" lvl="1" indent="-457200">
              <a:buClr>
                <a:srgbClr val="C00000"/>
              </a:buClr>
              <a:buFont typeface="Arial" panose="020B0604020202020204" pitchFamily="34" charset="0"/>
              <a:buChar char="•"/>
            </a:pPr>
            <a:r>
              <a:rPr lang="en-IN" sz="2800" b="1" dirty="0">
                <a:latin typeface="Arial" panose="020B0604020202020204" pitchFamily="34" charset="0"/>
                <a:cs typeface="Arial" panose="020B0604020202020204" pitchFamily="34" charset="0"/>
              </a:rPr>
              <a:t>Health inequalities </a:t>
            </a:r>
            <a:r>
              <a:rPr lang="en-IN" sz="2800" dirty="0">
                <a:latin typeface="Arial" panose="020B0604020202020204" pitchFamily="34" charset="0"/>
                <a:cs typeface="Arial" panose="020B0604020202020204" pitchFamily="34" charset="0"/>
              </a:rPr>
              <a:t>– differences in the health (and increasingly wellbeing) experienced by different groups in a community which are avoidable and therefore held to be unacceptable. </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1732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AD659-B009-4E2E-B7EF-F792C113F9E3}"/>
              </a:ext>
            </a:extLst>
          </p:cNvPr>
          <p:cNvSpPr>
            <a:spLocks noGrp="1"/>
          </p:cNvSpPr>
          <p:nvPr>
            <p:ph type="title"/>
          </p:nvPr>
        </p:nvSpPr>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Life Course</a:t>
            </a:r>
          </a:p>
        </p:txBody>
      </p:sp>
      <p:sp>
        <p:nvSpPr>
          <p:cNvPr id="3" name="Content Placeholder 2">
            <a:extLst>
              <a:ext uri="{FF2B5EF4-FFF2-40B4-BE49-F238E27FC236}">
                <a16:creationId xmlns:a16="http://schemas.microsoft.com/office/drawing/2014/main" id="{815787B4-3343-4E1F-BADD-4A5F6ACB7337}"/>
              </a:ext>
            </a:extLst>
          </p:cNvPr>
          <p:cNvSpPr>
            <a:spLocks noGrp="1"/>
          </p:cNvSpPr>
          <p:nvPr>
            <p:ph sz="half" idx="1"/>
          </p:nvPr>
        </p:nvSpPr>
        <p:spPr>
          <a:xfrm>
            <a:off x="280638" y="1967164"/>
            <a:ext cx="11329638" cy="4351338"/>
          </a:xfrm>
        </p:spPr>
        <p:txBody>
          <a:bodyPr>
            <a:normAutofit fontScale="92500" lnSpcReduction="10000"/>
          </a:bodyPr>
          <a:lstStyle/>
          <a:p>
            <a:pPr marL="457200" lvl="1" indent="0">
              <a:buClr>
                <a:srgbClr val="C00000"/>
              </a:buClr>
              <a:buNone/>
            </a:pPr>
            <a:r>
              <a:rPr lang="en-IN" sz="3000" dirty="0">
                <a:latin typeface="Arial" panose="020B0604020202020204" pitchFamily="34" charset="0"/>
                <a:cs typeface="Arial" panose="020B0604020202020204" pitchFamily="34" charset="0"/>
              </a:rPr>
              <a:t>An approach to health emphasising the overall effects of an individual’s experience across their life span:</a:t>
            </a:r>
          </a:p>
          <a:p>
            <a:pPr lvl="1">
              <a:buClr>
                <a:srgbClr val="C00000"/>
              </a:buClr>
            </a:pPr>
            <a:endParaRPr lang="en-IN" sz="3000" dirty="0">
              <a:latin typeface="Arial" panose="020B0604020202020204" pitchFamily="34" charset="0"/>
              <a:cs typeface="Arial" panose="020B0604020202020204" pitchFamily="34" charset="0"/>
            </a:endParaRPr>
          </a:p>
          <a:p>
            <a:pPr lvl="1">
              <a:buClr>
                <a:srgbClr val="C00000"/>
              </a:buClr>
            </a:pPr>
            <a:r>
              <a:rPr lang="en-IN" sz="3000" dirty="0">
                <a:latin typeface="Arial" panose="020B0604020202020204" pitchFamily="34" charset="0"/>
                <a:cs typeface="Arial" panose="020B0604020202020204" pitchFamily="34" charset="0"/>
              </a:rPr>
              <a:t>maintenance of health &amp; prevention of disease, </a:t>
            </a:r>
          </a:p>
          <a:p>
            <a:pPr lvl="1">
              <a:buClr>
                <a:srgbClr val="C00000"/>
              </a:buClr>
            </a:pPr>
            <a:endParaRPr lang="en-IN" sz="3000" dirty="0">
              <a:latin typeface="Arial" panose="020B0604020202020204" pitchFamily="34" charset="0"/>
              <a:cs typeface="Arial" panose="020B0604020202020204" pitchFamily="34" charset="0"/>
            </a:endParaRPr>
          </a:p>
          <a:p>
            <a:pPr lvl="1">
              <a:buClr>
                <a:srgbClr val="C00000"/>
              </a:buClr>
            </a:pPr>
            <a:r>
              <a:rPr lang="en-IN" sz="3000" dirty="0">
                <a:latin typeface="Arial" panose="020B0604020202020204" pitchFamily="34" charset="0"/>
                <a:cs typeface="Arial" panose="020B0604020202020204" pitchFamily="34" charset="0"/>
              </a:rPr>
              <a:t>poor economic &amp; social conditions in the very early years can adversely impact individuals’ growth and development</a:t>
            </a:r>
          </a:p>
          <a:p>
            <a:pPr lvl="1">
              <a:buClr>
                <a:srgbClr val="C00000"/>
              </a:buClr>
            </a:pPr>
            <a:endParaRPr lang="en-IN" sz="3000" dirty="0">
              <a:latin typeface="Arial" panose="020B0604020202020204" pitchFamily="34" charset="0"/>
              <a:cs typeface="Arial" panose="020B0604020202020204" pitchFamily="34" charset="0"/>
            </a:endParaRPr>
          </a:p>
          <a:p>
            <a:pPr lvl="1">
              <a:buClr>
                <a:srgbClr val="C00000"/>
              </a:buClr>
            </a:pPr>
            <a:r>
              <a:rPr lang="en-IN" sz="3000" dirty="0">
                <a:latin typeface="Arial" panose="020B0604020202020204" pitchFamily="34" charset="0"/>
                <a:cs typeface="Arial" panose="020B0604020202020204" pitchFamily="34" charset="0"/>
              </a:rPr>
              <a:t>increase risk of disease &amp; ill health in later life &amp; life expectancy </a:t>
            </a:r>
            <a:r>
              <a:rPr lang="en-IN" sz="2600" i="1" dirty="0">
                <a:latin typeface="Arial" panose="020B0604020202020204" pitchFamily="34" charset="0"/>
                <a:cs typeface="Arial" panose="020B0604020202020204" pitchFamily="34" charset="0"/>
              </a:rPr>
              <a:t>(e.g. </a:t>
            </a:r>
            <a:r>
              <a:rPr lang="en-IN" sz="2600" i="1" dirty="0" err="1">
                <a:latin typeface="Arial" panose="020B0604020202020204" pitchFamily="34" charset="0"/>
                <a:cs typeface="Arial" panose="020B0604020202020204" pitchFamily="34" charset="0"/>
              </a:rPr>
              <a:t>Gracner</a:t>
            </a:r>
            <a:r>
              <a:rPr lang="en-IN" sz="2600" i="1" dirty="0">
                <a:latin typeface="Arial" panose="020B0604020202020204" pitchFamily="34" charset="0"/>
                <a:cs typeface="Arial" panose="020B0604020202020204" pitchFamily="34" charset="0"/>
              </a:rPr>
              <a:t> et al, 2024 </a:t>
            </a:r>
            <a:r>
              <a:rPr lang="en-IN" sz="2600" i="1" dirty="0">
                <a:latin typeface="Arial" panose="020B0604020202020204" pitchFamily="34" charset="0"/>
                <a:cs typeface="Arial" panose="020B0604020202020204" pitchFamily="34" charset="0"/>
                <a:hlinkClick r:id="rId2"/>
              </a:rPr>
              <a:t>https://www.science.org/doi/epdf/10.1126/science.adn5421</a:t>
            </a:r>
            <a:r>
              <a:rPr lang="en-IN" sz="2600" i="1" dirty="0">
                <a:latin typeface="Arial" panose="020B0604020202020204" pitchFamily="34" charset="0"/>
                <a:cs typeface="Arial" panose="020B0604020202020204" pitchFamily="34" charset="0"/>
              </a:rPr>
              <a:t>)</a:t>
            </a:r>
          </a:p>
          <a:p>
            <a:pPr marL="457200" lvl="1" indent="0">
              <a:buClr>
                <a:srgbClr val="C00000"/>
              </a:buClr>
              <a:buNone/>
            </a:pPr>
            <a:endParaRPr lang="en-IN" sz="2600" i="1" dirty="0">
              <a:latin typeface="Arial" panose="020B0604020202020204" pitchFamily="34" charset="0"/>
              <a:cs typeface="Arial" panose="020B0604020202020204" pitchFamily="34" charset="0"/>
            </a:endParaRPr>
          </a:p>
          <a:p>
            <a:endParaRPr lang="en-GB" dirty="0"/>
          </a:p>
        </p:txBody>
      </p:sp>
      <p:pic>
        <p:nvPicPr>
          <p:cNvPr id="6" name="Content Placeholder 5">
            <a:extLst>
              <a:ext uri="{FF2B5EF4-FFF2-40B4-BE49-F238E27FC236}">
                <a16:creationId xmlns:a16="http://schemas.microsoft.com/office/drawing/2014/main" id="{786CE36E-19DE-436E-993D-3D4A2B4DC82B}"/>
              </a:ext>
            </a:extLst>
          </p:cNvPr>
          <p:cNvPicPr>
            <a:picLocks noGrp="1" noChangeAspect="1"/>
          </p:cNvPicPr>
          <p:nvPr>
            <p:ph sz="half" idx="2"/>
          </p:nvPr>
        </p:nvPicPr>
        <p:blipFill>
          <a:blip r:embed="rId3"/>
          <a:stretch>
            <a:fillRect/>
          </a:stretch>
        </p:blipFill>
        <p:spPr>
          <a:xfrm>
            <a:off x="8843573" y="88648"/>
            <a:ext cx="2933973" cy="1878516"/>
          </a:xfrm>
        </p:spPr>
      </p:pic>
    </p:spTree>
    <p:extLst>
      <p:ext uri="{BB962C8B-B14F-4D97-AF65-F5344CB8AC3E}">
        <p14:creationId xmlns:p14="http://schemas.microsoft.com/office/powerpoint/2010/main" val="397213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E2E0AFE-704B-4CB8-AB9D-D44727875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3" y="321176"/>
            <a:ext cx="575911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1516" y="640263"/>
            <a:ext cx="4911826" cy="1344975"/>
          </a:xfrm>
        </p:spPr>
        <p:txBody>
          <a:bodyPr vert="horz" lIns="91440" tIns="45720" rIns="91440" bIns="45720" rtlCol="0" anchor="ctr">
            <a:normAutofit/>
          </a:bodyPr>
          <a:lstStyle/>
          <a:p>
            <a:r>
              <a:rPr lang="en-US" altLang="en-US" sz="3600" b="1" i="1" dirty="0">
                <a:solidFill>
                  <a:srgbClr val="008080"/>
                </a:solidFill>
                <a:latin typeface="Arial" panose="020B0604020202020204" pitchFamily="34" charset="0"/>
                <a:cs typeface="Arial" panose="020B0604020202020204" pitchFamily="34" charset="0"/>
              </a:rPr>
              <a:t>Health Inequalities</a:t>
            </a:r>
          </a:p>
        </p:txBody>
      </p:sp>
      <p:sp>
        <p:nvSpPr>
          <p:cNvPr id="3" name="Content Placeholder 2"/>
          <p:cNvSpPr>
            <a:spLocks noGrp="1"/>
          </p:cNvSpPr>
          <p:nvPr>
            <p:ph sz="half" idx="1"/>
          </p:nvPr>
        </p:nvSpPr>
        <p:spPr>
          <a:xfrm>
            <a:off x="568713" y="2121762"/>
            <a:ext cx="5164630" cy="3626917"/>
          </a:xfrm>
        </p:spPr>
        <p:txBody>
          <a:bodyPr vert="horz" lIns="91440" tIns="45720" rIns="91440" bIns="45720" rtlCol="0">
            <a:normAutofit/>
          </a:bodyPr>
          <a:lstStyle/>
          <a:p>
            <a:pPr lvl="1">
              <a:buClr>
                <a:srgbClr val="C00000"/>
              </a:buClr>
            </a:pPr>
            <a:r>
              <a:rPr lang="en-US" altLang="en-US" sz="2800" dirty="0">
                <a:latin typeface="Arial" panose="020B0604020202020204" pitchFamily="34" charset="0"/>
                <a:cs typeface="Arial" panose="020B0604020202020204" pitchFamily="34" charset="0"/>
              </a:rPr>
              <a:t>Black Report (1980)</a:t>
            </a:r>
          </a:p>
          <a:p>
            <a:pPr lvl="1">
              <a:buClr>
                <a:srgbClr val="C00000"/>
              </a:buClr>
            </a:pPr>
            <a:r>
              <a:rPr lang="en-US" altLang="en-US" sz="2800" dirty="0">
                <a:latin typeface="Arial" panose="020B0604020202020204" pitchFamily="34" charset="0"/>
                <a:cs typeface="Arial" panose="020B0604020202020204" pitchFamily="34" charset="0"/>
              </a:rPr>
              <a:t>Acheson report (1998)</a:t>
            </a:r>
          </a:p>
          <a:p>
            <a:pPr lvl="1">
              <a:buClr>
                <a:srgbClr val="C00000"/>
              </a:buClr>
            </a:pPr>
            <a:r>
              <a:rPr lang="en-US" altLang="en-US" sz="2800" dirty="0">
                <a:latin typeface="Arial" panose="020B0604020202020204" pitchFamily="34" charset="0"/>
                <a:cs typeface="Arial" panose="020B0604020202020204" pitchFamily="34" charset="0"/>
              </a:rPr>
              <a:t>Commission on the Social Determinants of Health (WHO, 2008).</a:t>
            </a:r>
          </a:p>
          <a:p>
            <a:pPr lvl="1">
              <a:buClr>
                <a:srgbClr val="C00000"/>
              </a:buClr>
            </a:pPr>
            <a:r>
              <a:rPr lang="en-US" altLang="en-US" sz="2800" b="1" dirty="0">
                <a:latin typeface="Arial" panose="020B0604020202020204" pitchFamily="34" charset="0"/>
                <a:cs typeface="Arial" panose="020B0604020202020204" pitchFamily="34" charset="0"/>
              </a:rPr>
              <a:t>Marmot Report (2010)</a:t>
            </a:r>
          </a:p>
          <a:p>
            <a:pPr marL="0" lvl="1" indent="0">
              <a:buNone/>
            </a:pPr>
            <a:r>
              <a:rPr lang="en-US" dirty="0"/>
              <a:t> </a:t>
            </a:r>
          </a:p>
        </p:txBody>
      </p:sp>
      <p:pic>
        <p:nvPicPr>
          <p:cNvPr id="7" name="Picture 2" descr="http://ecx.images-amazon.com/images/I/51QOZwbqkfL._SY344_BO1,204,203,200_.jpg"/>
          <p:cNvPicPr>
            <a:picLocks noChangeAspect="1" noChangeArrowheads="1"/>
          </p:cNvPicPr>
          <p:nvPr/>
        </p:nvPicPr>
        <p:blipFill>
          <a:blip r:embed="rId3" cstate="print"/>
          <a:stretch>
            <a:fillRect/>
          </a:stretch>
        </p:blipFill>
        <p:spPr bwMode="auto">
          <a:xfrm>
            <a:off x="6988335" y="321176"/>
            <a:ext cx="1456540" cy="2190287"/>
          </a:xfrm>
          <a:prstGeom prst="rect">
            <a:avLst/>
          </a:prstGeom>
          <a:noFill/>
        </p:spPr>
      </p:pic>
      <p:pic>
        <p:nvPicPr>
          <p:cNvPr id="6" name="Picture 2" descr="http://www.bridgingthegap.scot.nhs.uk/media/1060/inequalities_in_health_176x251.jpg"/>
          <p:cNvPicPr>
            <a:picLocks noGrp="1" noChangeAspect="1" noChangeArrowheads="1"/>
          </p:cNvPicPr>
          <p:nvPr>
            <p:ph sz="half" idx="2"/>
          </p:nvPr>
        </p:nvPicPr>
        <p:blipFill>
          <a:blip r:embed="rId4" cstate="print"/>
          <a:stretch>
            <a:fillRect/>
          </a:stretch>
        </p:blipFill>
        <p:spPr bwMode="auto">
          <a:xfrm>
            <a:off x="9826371" y="321733"/>
            <a:ext cx="1535428" cy="2189730"/>
          </a:xfrm>
          <a:prstGeom prst="rect">
            <a:avLst/>
          </a:prstGeom>
          <a:noFill/>
        </p:spPr>
      </p:pic>
      <p:pic>
        <p:nvPicPr>
          <p:cNvPr id="4" name="Picture 3">
            <a:extLst>
              <a:ext uri="{FF2B5EF4-FFF2-40B4-BE49-F238E27FC236}">
                <a16:creationId xmlns:a16="http://schemas.microsoft.com/office/drawing/2014/main" id="{DBAA3F64-D1D7-4EEA-B341-B1702FD80006}"/>
              </a:ext>
            </a:extLst>
          </p:cNvPr>
          <p:cNvPicPr>
            <a:picLocks noChangeAspect="1"/>
          </p:cNvPicPr>
          <p:nvPr/>
        </p:nvPicPr>
        <p:blipFill>
          <a:blip r:embed="rId5"/>
          <a:stretch>
            <a:fillRect/>
          </a:stretch>
        </p:blipFill>
        <p:spPr>
          <a:xfrm>
            <a:off x="7941546" y="2810760"/>
            <a:ext cx="2427600" cy="3407159"/>
          </a:xfrm>
          <a:prstGeom prst="rect">
            <a:avLst/>
          </a:prstGeom>
        </p:spPr>
      </p:pic>
    </p:spTree>
    <p:extLst>
      <p:ext uri="{BB962C8B-B14F-4D97-AF65-F5344CB8AC3E}">
        <p14:creationId xmlns:p14="http://schemas.microsoft.com/office/powerpoint/2010/main" val="151864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697" y="142101"/>
            <a:ext cx="9643946" cy="1051079"/>
          </a:xfrm>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The Black Report - did it deserve attention?</a:t>
            </a:r>
          </a:p>
        </p:txBody>
      </p:sp>
      <p:sp>
        <p:nvSpPr>
          <p:cNvPr id="3" name="Content Placeholder 2"/>
          <p:cNvSpPr>
            <a:spLocks noGrp="1"/>
          </p:cNvSpPr>
          <p:nvPr>
            <p:ph sz="half" idx="1"/>
          </p:nvPr>
        </p:nvSpPr>
        <p:spPr>
          <a:xfrm>
            <a:off x="358697" y="1442966"/>
            <a:ext cx="11294327" cy="5272933"/>
          </a:xfrm>
        </p:spPr>
        <p:txBody>
          <a:bodyPr>
            <a:normAutofit fontScale="70000" lnSpcReduction="20000"/>
          </a:bodyPr>
          <a:lstStyle/>
          <a:p>
            <a:pPr>
              <a:buClr>
                <a:srgbClr val="C00000"/>
              </a:buClr>
            </a:pPr>
            <a:r>
              <a:rPr lang="en-GB" sz="4000" dirty="0">
                <a:latin typeface="Arial" panose="020B0604020202020204" pitchFamily="34" charset="0"/>
                <a:cs typeface="Arial" panose="020B0604020202020204" pitchFamily="34" charset="0"/>
              </a:rPr>
              <a:t>Published by Dept. of Health &amp; Social Security (1980)</a:t>
            </a:r>
          </a:p>
          <a:p>
            <a:pPr>
              <a:buClr>
                <a:srgbClr val="C00000"/>
              </a:buClr>
            </a:pPr>
            <a:r>
              <a:rPr lang="en-GB" sz="4000" dirty="0">
                <a:latin typeface="Arial" panose="020B0604020202020204" pitchFamily="34" charset="0"/>
                <a:cs typeface="Arial" panose="020B0604020202020204" pitchFamily="34" charset="0"/>
              </a:rPr>
              <a:t>Written by the expert committee into health inequality</a:t>
            </a:r>
          </a:p>
          <a:p>
            <a:pPr>
              <a:buClr>
                <a:srgbClr val="C00000"/>
              </a:buClr>
            </a:pPr>
            <a:r>
              <a:rPr lang="en-GB" sz="4000" dirty="0">
                <a:latin typeface="Arial" panose="020B0604020202020204" pitchFamily="34" charset="0"/>
                <a:cs typeface="Arial" panose="020B0604020202020204" pitchFamily="34" charset="0"/>
              </a:rPr>
              <a:t>Chaired by Sir Douglas Black (President of RCP)</a:t>
            </a:r>
          </a:p>
          <a:p>
            <a:pPr>
              <a:buClr>
                <a:srgbClr val="C00000"/>
              </a:buClr>
            </a:pPr>
            <a:r>
              <a:rPr lang="en-GB" sz="4000" dirty="0">
                <a:latin typeface="Arial" panose="020B0604020202020204" pitchFamily="34" charset="0"/>
                <a:cs typeface="Arial" panose="020B0604020202020204" pitchFamily="34" charset="0"/>
              </a:rPr>
              <a:t>Described unequal distribution of ill-health and death</a:t>
            </a:r>
          </a:p>
          <a:p>
            <a:pPr>
              <a:buClr>
                <a:srgbClr val="C00000"/>
              </a:buClr>
            </a:pPr>
            <a:r>
              <a:rPr lang="en-GB" sz="4000" dirty="0">
                <a:latin typeface="Arial" panose="020B0604020202020204" pitchFamily="34" charset="0"/>
                <a:cs typeface="Arial" panose="020B0604020202020204" pitchFamily="34" charset="0"/>
              </a:rPr>
              <a:t>Inequalities have been widening since establishment of NHS(1948) </a:t>
            </a:r>
          </a:p>
          <a:p>
            <a:pPr>
              <a:buClr>
                <a:srgbClr val="C00000"/>
              </a:buClr>
            </a:pPr>
            <a:r>
              <a:rPr lang="en-GB" sz="4000" dirty="0">
                <a:latin typeface="Arial" panose="020B0604020202020204" pitchFamily="34" charset="0"/>
                <a:cs typeface="Arial" panose="020B0604020202020204" pitchFamily="34" charset="0"/>
              </a:rPr>
              <a:t>Inequalities attributable to social inequalities influencing health</a:t>
            </a:r>
          </a:p>
          <a:p>
            <a:pPr>
              <a:buClr>
                <a:srgbClr val="C00000"/>
              </a:buClr>
            </a:pPr>
            <a:r>
              <a:rPr lang="en-GB" sz="4000" dirty="0">
                <a:latin typeface="Arial" panose="020B0604020202020204" pitchFamily="34" charset="0"/>
                <a:cs typeface="Arial" panose="020B0604020202020204" pitchFamily="34" charset="0"/>
              </a:rPr>
              <a:t>Include: income, education, housing, diet, employment, work conditions </a:t>
            </a:r>
          </a:p>
          <a:p>
            <a:pPr>
              <a:buClr>
                <a:srgbClr val="C00000"/>
              </a:buClr>
            </a:pPr>
            <a:r>
              <a:rPr lang="en-GB" sz="4000" dirty="0">
                <a:latin typeface="Arial" panose="020B0604020202020204" pitchFamily="34" charset="0"/>
                <a:cs typeface="Arial" panose="020B0604020202020204" pitchFamily="34" charset="0"/>
              </a:rPr>
              <a:t>Recommended wide strategy of social policy measures</a:t>
            </a:r>
          </a:p>
          <a:p>
            <a:pPr>
              <a:buClr>
                <a:srgbClr val="C00000"/>
              </a:buClr>
            </a:pPr>
            <a:r>
              <a:rPr lang="en-GB" sz="4000" dirty="0">
                <a:latin typeface="Arial" panose="020B0604020202020204" pitchFamily="34" charset="0"/>
                <a:cs typeface="Arial" panose="020B0604020202020204" pitchFamily="34" charset="0"/>
              </a:rPr>
              <a:t>Report heavily criticised by government Secretary of State for Social Services</a:t>
            </a:r>
          </a:p>
          <a:p>
            <a:pPr>
              <a:buClr>
                <a:srgbClr val="C00000"/>
              </a:buClr>
            </a:pPr>
            <a:r>
              <a:rPr lang="en-GB" sz="4000" dirty="0">
                <a:latin typeface="Arial" panose="020B0604020202020204" pitchFamily="34" charset="0"/>
                <a:cs typeface="Arial" panose="020B0604020202020204" pitchFamily="34" charset="0"/>
              </a:rPr>
              <a:t>Very few copies printed</a:t>
            </a:r>
          </a:p>
          <a:p>
            <a:endParaRPr lang="en-GB" dirty="0"/>
          </a:p>
        </p:txBody>
      </p:sp>
      <p:pic>
        <p:nvPicPr>
          <p:cNvPr id="5" name="Content Placeholder 4"/>
          <p:cNvPicPr>
            <a:picLocks noGrp="1" noChangeAspect="1"/>
          </p:cNvPicPr>
          <p:nvPr>
            <p:ph sz="half" idx="2"/>
          </p:nvPr>
        </p:nvPicPr>
        <p:blipFill>
          <a:blip r:embed="rId2"/>
          <a:stretch>
            <a:fillRect/>
          </a:stretch>
        </p:blipFill>
        <p:spPr>
          <a:xfrm>
            <a:off x="10426390" y="136634"/>
            <a:ext cx="1507979" cy="2113091"/>
          </a:xfrm>
          <a:prstGeom prst="rect">
            <a:avLst/>
          </a:prstGeom>
        </p:spPr>
      </p:pic>
    </p:spTree>
    <p:extLst>
      <p:ext uri="{BB962C8B-B14F-4D97-AF65-F5344CB8AC3E}">
        <p14:creationId xmlns:p14="http://schemas.microsoft.com/office/powerpoint/2010/main" val="4083573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0F91F-8364-4DFC-BBC9-1F8D3A2DCF41}"/>
              </a:ext>
            </a:extLst>
          </p:cNvPr>
          <p:cNvSpPr>
            <a:spLocks noGrp="1"/>
          </p:cNvSpPr>
          <p:nvPr>
            <p:ph type="title"/>
          </p:nvPr>
        </p:nvSpPr>
        <p:spPr/>
        <p:txBody>
          <a:bodyPr>
            <a:normAutofit/>
          </a:bodyPr>
          <a:lstStyle/>
          <a:p>
            <a:r>
              <a:rPr lang="en-US" altLang="en-US" sz="3600" b="1" i="1" dirty="0">
                <a:solidFill>
                  <a:srgbClr val="008080"/>
                </a:solidFill>
                <a:latin typeface="Arial" panose="020B0604020202020204" pitchFamily="34" charset="0"/>
                <a:cs typeface="Arial" panose="020B0604020202020204" pitchFamily="34" charset="0"/>
              </a:rPr>
              <a:t>Acheson report (1998)</a:t>
            </a:r>
            <a:br>
              <a:rPr lang="en-US" altLang="en-US" sz="3600" b="1" i="1" dirty="0">
                <a:solidFill>
                  <a:srgbClr val="008080"/>
                </a:solidFill>
                <a:latin typeface="Arial" panose="020B0604020202020204" pitchFamily="34" charset="0"/>
                <a:cs typeface="Arial" panose="020B0604020202020204" pitchFamily="34" charset="0"/>
              </a:rPr>
            </a:br>
            <a:endParaRPr lang="en-GB" sz="3600" b="1"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41E1F52-7856-4E47-9142-EAACA0486E58}"/>
              </a:ext>
            </a:extLst>
          </p:cNvPr>
          <p:cNvSpPr>
            <a:spLocks noGrp="1"/>
          </p:cNvSpPr>
          <p:nvPr>
            <p:ph sz="half" idx="1"/>
          </p:nvPr>
        </p:nvSpPr>
        <p:spPr>
          <a:xfrm>
            <a:off x="367990" y="1137424"/>
            <a:ext cx="5651810" cy="5575609"/>
          </a:xfrm>
        </p:spPr>
        <p:txBody>
          <a:bodyPr>
            <a:normAutofit fontScale="85000" lnSpcReduction="10000"/>
          </a:bodyPr>
          <a:lstStyle/>
          <a:p>
            <a:pPr>
              <a:buClr>
                <a:srgbClr val="C00000"/>
              </a:buClr>
            </a:pPr>
            <a:r>
              <a:rPr lang="en-GB" sz="3300" dirty="0">
                <a:latin typeface="Arial" panose="020B0604020202020204" pitchFamily="34" charset="0"/>
                <a:cs typeface="Arial" panose="020B0604020202020204" pitchFamily="34" charset="0"/>
              </a:rPr>
              <a:t>Independent inquiry into health inequalities </a:t>
            </a:r>
          </a:p>
          <a:p>
            <a:pPr>
              <a:buClr>
                <a:srgbClr val="C00000"/>
              </a:buClr>
            </a:pPr>
            <a:r>
              <a:rPr lang="en-GB" sz="3300" dirty="0">
                <a:latin typeface="Arial" panose="020B0604020202020204" pitchFamily="34" charset="0"/>
                <a:cs typeface="Arial" panose="020B0604020202020204" pitchFamily="34" charset="0"/>
              </a:rPr>
              <a:t>Purpose of inquiry was to inform the government's public health strategy and their policies within ‘‘Our Healthier Nation’’ paper</a:t>
            </a:r>
          </a:p>
          <a:p>
            <a:pPr>
              <a:buClr>
                <a:srgbClr val="C00000"/>
              </a:buClr>
            </a:pPr>
            <a:r>
              <a:rPr lang="en-GB" sz="3300" dirty="0">
                <a:latin typeface="Arial" panose="020B0604020202020204" pitchFamily="34" charset="0"/>
                <a:cs typeface="Arial" panose="020B0604020202020204" pitchFamily="34" charset="0"/>
              </a:rPr>
              <a:t>The Report concluded that the </a:t>
            </a:r>
            <a:r>
              <a:rPr lang="en-GB" sz="3300" i="1" dirty="0">
                <a:latin typeface="Arial" panose="020B0604020202020204" pitchFamily="34" charset="0"/>
                <a:cs typeface="Arial" panose="020B0604020202020204" pitchFamily="34" charset="0"/>
              </a:rPr>
              <a:t>‘weight of scientific evidence supports a socio-economic explanation of health inequalities’</a:t>
            </a:r>
            <a:endParaRPr lang="en-GB" sz="3300" dirty="0">
              <a:latin typeface="Arial" panose="020B0604020202020204" pitchFamily="34" charset="0"/>
              <a:cs typeface="Arial" panose="020B0604020202020204" pitchFamily="34" charset="0"/>
            </a:endParaRPr>
          </a:p>
          <a:p>
            <a:endParaRPr lang="en-GB" dirty="0"/>
          </a:p>
          <a:p>
            <a:pPr marL="0" indent="0">
              <a:buNone/>
            </a:pPr>
            <a:r>
              <a:rPr lang="en-GB" dirty="0">
                <a:latin typeface="Arial" panose="020B0604020202020204" pitchFamily="34" charset="0"/>
                <a:cs typeface="Arial" panose="020B0604020202020204" pitchFamily="34" charset="0"/>
                <a:hlinkClick r:id="rId2"/>
              </a:rPr>
              <a:t>https://assets.publishing.service.gov.uk/media/5a759e7c40f0b67b3d5c7e6f/ih.pdf</a:t>
            </a:r>
            <a:endParaRPr lang="en-GB" dirty="0">
              <a:latin typeface="Arial" panose="020B0604020202020204" pitchFamily="34" charset="0"/>
              <a:cs typeface="Arial" panose="020B0604020202020204" pitchFamily="34" charset="0"/>
            </a:endParaRPr>
          </a:p>
          <a:p>
            <a:endParaRPr lang="en-GB" dirty="0"/>
          </a:p>
          <a:p>
            <a:endParaRPr lang="en-GB" dirty="0"/>
          </a:p>
        </p:txBody>
      </p:sp>
      <p:sp>
        <p:nvSpPr>
          <p:cNvPr id="4" name="Content Placeholder 3">
            <a:extLst>
              <a:ext uri="{FF2B5EF4-FFF2-40B4-BE49-F238E27FC236}">
                <a16:creationId xmlns:a16="http://schemas.microsoft.com/office/drawing/2014/main" id="{26AFA891-435F-4F36-8ABB-B16CDB88B521}"/>
              </a:ext>
            </a:extLst>
          </p:cNvPr>
          <p:cNvSpPr>
            <a:spLocks noGrp="1"/>
          </p:cNvSpPr>
          <p:nvPr>
            <p:ph sz="half" idx="2"/>
          </p:nvPr>
        </p:nvSpPr>
        <p:spPr>
          <a:xfrm>
            <a:off x="6311590" y="2322785"/>
            <a:ext cx="5754030" cy="5092776"/>
          </a:xfrm>
        </p:spPr>
        <p:txBody>
          <a:bodyPr>
            <a:normAutofit fontScale="85000" lnSpcReduction="10000"/>
          </a:bodyPr>
          <a:lstStyle/>
          <a:p>
            <a:pPr>
              <a:buClr>
                <a:srgbClr val="C00000"/>
              </a:buClr>
            </a:pPr>
            <a:r>
              <a:rPr lang="en-GB" sz="3300" i="1" dirty="0">
                <a:latin typeface="Arial" panose="020B0604020202020204" pitchFamily="34" charset="0"/>
                <a:cs typeface="Arial" panose="020B0604020202020204" pitchFamily="34" charset="0"/>
              </a:rPr>
              <a:t>‘Poverty, low wages and occupational stress, unemployment, poor housing, environmental pollution, poor education, limited access to transport and shops, crime and disorder, and a lack of recreational facilities have had an impact on people’s health’ </a:t>
            </a:r>
            <a:endParaRPr lang="en-GB" sz="3300" dirty="0">
              <a:latin typeface="Arial" panose="020B0604020202020204" pitchFamily="34" charset="0"/>
              <a:cs typeface="Arial" panose="020B0604020202020204" pitchFamily="34" charset="0"/>
            </a:endParaRPr>
          </a:p>
          <a:p>
            <a:pPr marL="0" indent="0">
              <a:buNone/>
            </a:pPr>
            <a:r>
              <a:rPr lang="en-GB" sz="3000" dirty="0">
                <a:latin typeface="Arial" panose="020B0604020202020204" pitchFamily="34" charset="0"/>
                <a:cs typeface="Arial" panose="020B0604020202020204" pitchFamily="34" charset="0"/>
              </a:rPr>
              <a:t>						</a:t>
            </a:r>
            <a:r>
              <a:rPr lang="en-GB" i="1" dirty="0">
                <a:latin typeface="Arial" panose="020B0604020202020204" pitchFamily="34" charset="0"/>
                <a:cs typeface="Arial" panose="020B0604020202020204" pitchFamily="34" charset="0"/>
              </a:rPr>
              <a:t>(Acheson 1998)</a:t>
            </a:r>
          </a:p>
          <a:p>
            <a:endParaRPr lang="en-GB" dirty="0"/>
          </a:p>
        </p:txBody>
      </p:sp>
      <p:pic>
        <p:nvPicPr>
          <p:cNvPr id="5" name="Picture 4">
            <a:extLst>
              <a:ext uri="{FF2B5EF4-FFF2-40B4-BE49-F238E27FC236}">
                <a16:creationId xmlns:a16="http://schemas.microsoft.com/office/drawing/2014/main" id="{4DA57A61-F662-4EAC-BBC7-009FD1887057}"/>
              </a:ext>
            </a:extLst>
          </p:cNvPr>
          <p:cNvPicPr>
            <a:picLocks noChangeAspect="1"/>
          </p:cNvPicPr>
          <p:nvPr/>
        </p:nvPicPr>
        <p:blipFill>
          <a:blip r:embed="rId3"/>
          <a:stretch>
            <a:fillRect/>
          </a:stretch>
        </p:blipFill>
        <p:spPr>
          <a:xfrm>
            <a:off x="10525413" y="165893"/>
            <a:ext cx="1428750" cy="1724025"/>
          </a:xfrm>
          <a:prstGeom prst="rect">
            <a:avLst/>
          </a:prstGeom>
        </p:spPr>
      </p:pic>
    </p:spTree>
    <p:extLst>
      <p:ext uri="{BB962C8B-B14F-4D97-AF65-F5344CB8AC3E}">
        <p14:creationId xmlns:p14="http://schemas.microsoft.com/office/powerpoint/2010/main" val="2393180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sz="3600" b="1" i="1" dirty="0">
                <a:solidFill>
                  <a:srgbClr val="008080"/>
                </a:solidFill>
                <a:latin typeface="Arial" panose="020B0604020202020204" pitchFamily="34" charset="0"/>
                <a:cs typeface="Arial" panose="020B0604020202020204" pitchFamily="34" charset="0"/>
              </a:rPr>
              <a:t>Key Public Health Policy Papers</a:t>
            </a:r>
            <a:br>
              <a:rPr lang="en-GB" altLang="en-US" b="1" dirty="0">
                <a:solidFill>
                  <a:schemeClr val="tx1">
                    <a:lumMod val="50000"/>
                    <a:lumOff val="50000"/>
                  </a:schemeClr>
                </a:solidFill>
                <a:latin typeface="+mn-lt"/>
              </a:rPr>
            </a:br>
            <a:endParaRPr lang="en-GB" b="1" dirty="0">
              <a:solidFill>
                <a:schemeClr val="tx1">
                  <a:lumMod val="50000"/>
                  <a:lumOff val="50000"/>
                </a:schemeClr>
              </a:solidFill>
              <a:latin typeface="+mn-lt"/>
            </a:endParaRPr>
          </a:p>
        </p:txBody>
      </p:sp>
      <p:sp>
        <p:nvSpPr>
          <p:cNvPr id="3" name="Content Placeholder 2"/>
          <p:cNvSpPr>
            <a:spLocks noGrp="1"/>
          </p:cNvSpPr>
          <p:nvPr>
            <p:ph idx="1"/>
          </p:nvPr>
        </p:nvSpPr>
        <p:spPr>
          <a:xfrm>
            <a:off x="256478" y="1398494"/>
            <a:ext cx="11719932" cy="3496235"/>
          </a:xfrm>
        </p:spPr>
        <p:txBody>
          <a:bodyPr/>
          <a:lstStyle/>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Health of the Nation (DH, 1992)</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Saving lives. Our healthier Nation (1999)</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Choosing Health: Making healthy choices easier (2004)</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Healthy Weight, Healthy Lives (DH, 2008)</a:t>
            </a:r>
          </a:p>
          <a:p>
            <a:pPr lvl="1">
              <a:buClr>
                <a:srgbClr val="C00000"/>
              </a:buClr>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Healthy lives, healthy people (2011)- led to fundamental change in approach of PH</a:t>
            </a:r>
          </a:p>
          <a:p>
            <a:pPr>
              <a:buFont typeface="Arial" panose="020B0604020202020204" pitchFamily="34" charset="0"/>
              <a:buChar char="•"/>
            </a:pPr>
            <a:endParaRPr lang="en-US" dirty="0"/>
          </a:p>
          <a:p>
            <a:pPr>
              <a:buFont typeface="Arial" panose="020B0604020202020204" pitchFamily="34" charset="0"/>
              <a:buChar char="•"/>
            </a:pPr>
            <a:endParaRPr lang="en-GB" dirty="0"/>
          </a:p>
        </p:txBody>
      </p:sp>
      <p:pic>
        <p:nvPicPr>
          <p:cNvPr id="4" name="Picture 3"/>
          <p:cNvPicPr>
            <a:picLocks noChangeAspect="1"/>
          </p:cNvPicPr>
          <p:nvPr/>
        </p:nvPicPr>
        <p:blipFill>
          <a:blip r:embed="rId3"/>
          <a:stretch>
            <a:fillRect/>
          </a:stretch>
        </p:blipFill>
        <p:spPr>
          <a:xfrm>
            <a:off x="1268808" y="4551059"/>
            <a:ext cx="1684962" cy="1941816"/>
          </a:xfrm>
          <a:prstGeom prst="rect">
            <a:avLst/>
          </a:prstGeom>
        </p:spPr>
      </p:pic>
      <p:pic>
        <p:nvPicPr>
          <p:cNvPr id="5" name="Picture 4"/>
          <p:cNvPicPr>
            <a:picLocks noChangeAspect="1"/>
          </p:cNvPicPr>
          <p:nvPr/>
        </p:nvPicPr>
        <p:blipFill>
          <a:blip r:embed="rId4"/>
          <a:stretch>
            <a:fillRect/>
          </a:stretch>
        </p:blipFill>
        <p:spPr>
          <a:xfrm>
            <a:off x="4071681" y="4331470"/>
            <a:ext cx="1872377" cy="2206852"/>
          </a:xfrm>
          <a:prstGeom prst="rect">
            <a:avLst/>
          </a:prstGeom>
        </p:spPr>
      </p:pic>
      <p:pic>
        <p:nvPicPr>
          <p:cNvPr id="2052" name="Picture 4" descr="Related im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5260" y="3990955"/>
            <a:ext cx="1438381" cy="2440342"/>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999999">
            <a:extLst>
              <a:ext uri="{FF2B5EF4-FFF2-40B4-BE49-F238E27FC236}">
                <a16:creationId xmlns:a16="http://schemas.microsoft.com/office/drawing/2014/main" id="{6F08BECB-BF7E-4873-8978-D28F8A6D40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3962400" cy="9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C4AF6DC-25FB-49BF-BA38-B552D3BA53CC}"/>
              </a:ext>
            </a:extLst>
          </p:cNvPr>
          <p:cNvPicPr>
            <a:picLocks noChangeAspect="1"/>
          </p:cNvPicPr>
          <p:nvPr/>
        </p:nvPicPr>
        <p:blipFill>
          <a:blip r:embed="rId7"/>
          <a:stretch>
            <a:fillRect/>
          </a:stretch>
        </p:blipFill>
        <p:spPr>
          <a:xfrm>
            <a:off x="9864843" y="3990955"/>
            <a:ext cx="2070679" cy="2501920"/>
          </a:xfrm>
          <a:prstGeom prst="rect">
            <a:avLst/>
          </a:prstGeom>
        </p:spPr>
      </p:pic>
    </p:spTree>
    <p:extLst>
      <p:ext uri="{BB962C8B-B14F-4D97-AF65-F5344CB8AC3E}">
        <p14:creationId xmlns:p14="http://schemas.microsoft.com/office/powerpoint/2010/main" val="1897936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28852-7BA1-469B-AA76-63BF3DB796EA}"/>
              </a:ext>
            </a:extLst>
          </p:cNvPr>
          <p:cNvSpPr>
            <a:spLocks noGrp="1"/>
          </p:cNvSpPr>
          <p:nvPr>
            <p:ph type="title"/>
          </p:nvPr>
        </p:nvSpPr>
        <p:spPr>
          <a:xfrm>
            <a:off x="753666" y="193085"/>
            <a:ext cx="6586491" cy="1178515"/>
          </a:xfrm>
        </p:spPr>
        <p:txBody>
          <a:bodyPr>
            <a:normAutofit/>
          </a:bodyPr>
          <a:lstStyle/>
          <a:p>
            <a:r>
              <a:rPr lang="en-IN" sz="3600" b="1" i="1" dirty="0">
                <a:solidFill>
                  <a:srgbClr val="008080"/>
                </a:solidFill>
                <a:latin typeface="Arial" panose="020B0604020202020204" pitchFamily="34" charset="0"/>
                <a:cs typeface="Arial" panose="020B0604020202020204" pitchFamily="34" charset="0"/>
              </a:rPr>
              <a:t>Fair Society, Healthy Lives</a:t>
            </a:r>
            <a:endParaRPr lang="en-GB" sz="3600"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38B2C2E-4254-46FF-B741-00A8D2846C08}"/>
              </a:ext>
            </a:extLst>
          </p:cNvPr>
          <p:cNvSpPr>
            <a:spLocks noGrp="1"/>
          </p:cNvSpPr>
          <p:nvPr>
            <p:ph idx="1"/>
          </p:nvPr>
        </p:nvSpPr>
        <p:spPr>
          <a:xfrm>
            <a:off x="448206" y="1079090"/>
            <a:ext cx="6586489" cy="5221349"/>
          </a:xfrm>
        </p:spPr>
        <p:txBody>
          <a:bodyPr>
            <a:normAutofit fontScale="92500" lnSpcReduction="10000"/>
          </a:bodyPr>
          <a:lstStyle/>
          <a:p>
            <a:endParaRPr lang="en-GB" sz="2400" dirty="0"/>
          </a:p>
          <a:p>
            <a:r>
              <a:rPr lang="en-IN" sz="3000" dirty="0">
                <a:latin typeface="Arial" panose="020B0604020202020204" pitchFamily="34" charset="0"/>
                <a:cs typeface="Arial" panose="020B0604020202020204" pitchFamily="34" charset="0"/>
              </a:rPr>
              <a:t>2010 review of health inequalities by Michael Marmot</a:t>
            </a:r>
          </a:p>
          <a:p>
            <a:r>
              <a:rPr lang="en-IN" sz="3000" dirty="0">
                <a:latin typeface="Arial" panose="020B0604020202020204" pitchFamily="34" charset="0"/>
                <a:cs typeface="Arial" panose="020B0604020202020204" pitchFamily="34" charset="0"/>
              </a:rPr>
              <a:t>Strongly advocates  life course approach to population health, health improvement and tackling health inequalities, </a:t>
            </a:r>
          </a:p>
          <a:p>
            <a:r>
              <a:rPr lang="en-IN" sz="3000" dirty="0">
                <a:latin typeface="Arial" panose="020B0604020202020204" pitchFamily="34" charset="0"/>
                <a:cs typeface="Arial" panose="020B0604020202020204" pitchFamily="34" charset="0"/>
              </a:rPr>
              <a:t>First five years of life being the highest priority</a:t>
            </a:r>
          </a:p>
          <a:p>
            <a:pPr marL="0" indent="0">
              <a:buNone/>
            </a:pPr>
            <a:endParaRPr lang="en-IN" sz="3000" dirty="0">
              <a:latin typeface="Arial" panose="020B0604020202020204" pitchFamily="34" charset="0"/>
              <a:cs typeface="Arial" panose="020B0604020202020204" pitchFamily="34" charset="0"/>
            </a:endParaRPr>
          </a:p>
          <a:p>
            <a:pPr marL="0" indent="0">
              <a:buNone/>
            </a:pPr>
            <a:r>
              <a:rPr lang="en-IN" sz="3000" dirty="0">
                <a:latin typeface="Arial" panose="020B0604020202020204" pitchFamily="34" charset="0"/>
                <a:cs typeface="Arial" panose="020B0604020202020204" pitchFamily="34" charset="0"/>
                <a:hlinkClick r:id="rId3"/>
              </a:rPr>
              <a:t>https://www.parliament.uk/globalassets/documents/fair-society-healthy-lives-full-report.pdf</a:t>
            </a:r>
            <a:endParaRPr lang="en-IN" sz="3000" dirty="0">
              <a:latin typeface="Arial" panose="020B0604020202020204" pitchFamily="34" charset="0"/>
              <a:cs typeface="Arial" panose="020B0604020202020204" pitchFamily="34" charset="0"/>
            </a:endParaRPr>
          </a:p>
          <a:p>
            <a:pPr marL="0" indent="0">
              <a:buNone/>
            </a:pPr>
            <a:endParaRPr lang="en-IN" sz="3200" dirty="0"/>
          </a:p>
          <a:p>
            <a:pPr marL="0" indent="0">
              <a:buNone/>
            </a:pPr>
            <a:endParaRPr lang="en-GB" sz="3200" dirty="0"/>
          </a:p>
        </p:txBody>
      </p:sp>
      <p:pic>
        <p:nvPicPr>
          <p:cNvPr id="4" name="Picture 3">
            <a:extLst>
              <a:ext uri="{FF2B5EF4-FFF2-40B4-BE49-F238E27FC236}">
                <a16:creationId xmlns:a16="http://schemas.microsoft.com/office/drawing/2014/main" id="{CAE26E1C-2C92-4650-9598-3B97522B8B70}"/>
              </a:ext>
            </a:extLst>
          </p:cNvPr>
          <p:cNvPicPr>
            <a:picLocks noChangeAspect="1"/>
          </p:cNvPicPr>
          <p:nvPr/>
        </p:nvPicPr>
        <p:blipFill rotWithShape="1">
          <a:blip r:embed="rId4"/>
          <a:srcRect r="4461"/>
          <a:stretch/>
        </p:blipFill>
        <p:spPr>
          <a:xfrm>
            <a:off x="7556408" y="10"/>
            <a:ext cx="4635591" cy="6857990"/>
          </a:xfrm>
          <a:prstGeom prst="rect">
            <a:avLst/>
          </a:prstGeom>
          <a:effectLst/>
        </p:spPr>
      </p:pic>
    </p:spTree>
    <p:extLst>
      <p:ext uri="{BB962C8B-B14F-4D97-AF65-F5344CB8AC3E}">
        <p14:creationId xmlns:p14="http://schemas.microsoft.com/office/powerpoint/2010/main" val="510645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48993" y="468351"/>
            <a:ext cx="6340994" cy="6195207"/>
          </a:xfrm>
        </p:spPr>
        <p:txBody>
          <a:bodyPr>
            <a:normAutofit/>
          </a:bodyPr>
          <a:lstStyle/>
          <a:p>
            <a:pPr marL="0" indent="0">
              <a:buNone/>
            </a:pPr>
            <a:r>
              <a:rPr lang="en-GB" sz="2600" dirty="0">
                <a:solidFill>
                  <a:schemeClr val="bg1">
                    <a:lumMod val="50000"/>
                  </a:schemeClr>
                </a:solidFill>
                <a:latin typeface="Arial" panose="020B0604020202020204" pitchFamily="34" charset="0"/>
                <a:cs typeface="Arial" panose="020B0604020202020204" pitchFamily="34" charset="0"/>
              </a:rPr>
              <a:t> </a:t>
            </a:r>
            <a:r>
              <a:rPr lang="en-GB" sz="2600" dirty="0">
                <a:latin typeface="Arial" panose="020B0604020202020204" pitchFamily="34" charset="0"/>
                <a:cs typeface="Arial" panose="020B0604020202020204" pitchFamily="34" charset="0"/>
              </a:rPr>
              <a:t>'</a:t>
            </a:r>
            <a:r>
              <a:rPr lang="en-GB" sz="2600" b="1" dirty="0">
                <a:latin typeface="Arial" panose="020B0604020202020204" pitchFamily="34" charset="0"/>
                <a:cs typeface="Arial" panose="020B0604020202020204" pitchFamily="34" charset="0"/>
              </a:rPr>
              <a:t>Fair Society Healthy Lives</a:t>
            </a:r>
            <a:r>
              <a:rPr lang="en-GB" sz="2600" dirty="0">
                <a:latin typeface="Arial" panose="020B0604020202020204" pitchFamily="34" charset="0"/>
                <a:cs typeface="Arial" panose="020B0604020202020204" pitchFamily="34" charset="0"/>
              </a:rPr>
              <a:t>’ (2010)</a:t>
            </a:r>
          </a:p>
          <a:p>
            <a:pPr marL="0" indent="0">
              <a:buNone/>
            </a:pPr>
            <a:r>
              <a:rPr lang="en-GB" sz="2600" dirty="0">
                <a:latin typeface="Arial" panose="020B0604020202020204" pitchFamily="34" charset="0"/>
                <a:cs typeface="Arial" panose="020B0604020202020204" pitchFamily="34" charset="0"/>
              </a:rPr>
              <a:t>Action on six policy objectives needed:</a:t>
            </a:r>
          </a:p>
          <a:p>
            <a:pPr marL="457200" indent="-457200">
              <a:buFont typeface="+mj-lt"/>
              <a:buAutoNum type="arabicPeriod"/>
            </a:pPr>
            <a:r>
              <a:rPr lang="en-GB" sz="2600" dirty="0">
                <a:latin typeface="Arial" panose="020B0604020202020204" pitchFamily="34" charset="0"/>
                <a:cs typeface="Arial" panose="020B0604020202020204" pitchFamily="34" charset="0"/>
              </a:rPr>
              <a:t>Every child the best start in life</a:t>
            </a:r>
          </a:p>
          <a:p>
            <a:pPr marL="457200" indent="-457200">
              <a:buFont typeface="+mj-lt"/>
              <a:buAutoNum type="arabicPeriod"/>
            </a:pPr>
            <a:r>
              <a:rPr lang="en-GB" sz="2600" dirty="0">
                <a:latin typeface="Arial" panose="020B0604020202020204" pitchFamily="34" charset="0"/>
                <a:cs typeface="Arial" panose="020B0604020202020204" pitchFamily="34" charset="0"/>
              </a:rPr>
              <a:t>Enable all children, young people and adults to maximise their capabilities &amp; have control over their lives</a:t>
            </a:r>
          </a:p>
          <a:p>
            <a:pPr marL="457200" indent="-457200">
              <a:buFont typeface="+mj-lt"/>
              <a:buAutoNum type="arabicPeriod"/>
            </a:pPr>
            <a:r>
              <a:rPr lang="en-GB" sz="2600" dirty="0">
                <a:latin typeface="Arial" panose="020B0604020202020204" pitchFamily="34" charset="0"/>
                <a:cs typeface="Arial" panose="020B0604020202020204" pitchFamily="34" charset="0"/>
              </a:rPr>
              <a:t>Create fair employment &amp; good work for all</a:t>
            </a:r>
          </a:p>
          <a:p>
            <a:pPr marL="457200" indent="-457200">
              <a:buFont typeface="+mj-lt"/>
              <a:buAutoNum type="arabicPeriod"/>
            </a:pPr>
            <a:r>
              <a:rPr lang="en-GB" sz="2600" dirty="0">
                <a:latin typeface="Arial" panose="020B0604020202020204" pitchFamily="34" charset="0"/>
                <a:cs typeface="Arial" panose="020B0604020202020204" pitchFamily="34" charset="0"/>
              </a:rPr>
              <a:t>Ensure healthy standard of living for all</a:t>
            </a:r>
          </a:p>
          <a:p>
            <a:pPr marL="457200" indent="-457200">
              <a:buFont typeface="+mj-lt"/>
              <a:buAutoNum type="arabicPeriod"/>
            </a:pPr>
            <a:r>
              <a:rPr lang="en-GB" sz="2600" dirty="0">
                <a:latin typeface="Arial" panose="020B0604020202020204" pitchFamily="34" charset="0"/>
                <a:cs typeface="Arial" panose="020B0604020202020204" pitchFamily="34" charset="0"/>
              </a:rPr>
              <a:t>Create and develop healthy &amp; sustainable places and communities</a:t>
            </a:r>
          </a:p>
          <a:p>
            <a:pPr marL="457200" indent="-457200">
              <a:buFont typeface="+mj-lt"/>
              <a:buAutoNum type="arabicPeriod"/>
            </a:pPr>
            <a:r>
              <a:rPr lang="en-GB" sz="2600" dirty="0">
                <a:latin typeface="Arial" panose="020B0604020202020204" pitchFamily="34" charset="0"/>
                <a:cs typeface="Arial" panose="020B0604020202020204" pitchFamily="34" charset="0"/>
              </a:rPr>
              <a:t>Strengthen the role &amp; impact of ill-health prevention</a:t>
            </a:r>
          </a:p>
          <a:p>
            <a:endParaRPr lang="en-GB" sz="1300" dirty="0"/>
          </a:p>
        </p:txBody>
      </p:sp>
      <p:sp>
        <p:nvSpPr>
          <p:cNvPr id="4" name="Content Placeholder 3"/>
          <p:cNvSpPr>
            <a:spLocks noGrp="1"/>
          </p:cNvSpPr>
          <p:nvPr>
            <p:ph sz="half" idx="2"/>
          </p:nvPr>
        </p:nvSpPr>
        <p:spPr>
          <a:xfrm>
            <a:off x="7013733" y="668377"/>
            <a:ext cx="4763813" cy="8773144"/>
          </a:xfrm>
        </p:spPr>
        <p:txBody>
          <a:bodyPr>
            <a:normAutofit/>
          </a:bodyPr>
          <a:lstStyle/>
          <a:p>
            <a:pPr>
              <a:buClr>
                <a:srgbClr val="C00000"/>
              </a:buClr>
            </a:pPr>
            <a:r>
              <a:rPr lang="en-GB" sz="2400" dirty="0">
                <a:latin typeface="Arial" panose="020B0604020202020204" pitchFamily="34" charset="0"/>
                <a:cs typeface="Arial" panose="020B0604020202020204" pitchFamily="34" charset="0"/>
              </a:rPr>
              <a:t>Government's 2011 public health white paper welcomed the review</a:t>
            </a:r>
          </a:p>
          <a:p>
            <a:pPr>
              <a:buClr>
                <a:srgbClr val="C00000"/>
              </a:buClr>
            </a:pPr>
            <a:r>
              <a:rPr lang="en-GB" sz="2400" dirty="0">
                <a:latin typeface="Arial" panose="020B0604020202020204" pitchFamily="34" charset="0"/>
                <a:cs typeface="Arial" panose="020B0604020202020204" pitchFamily="34" charset="0"/>
              </a:rPr>
              <a:t>Put reduction of health inequalities at  centre of public health aims</a:t>
            </a:r>
          </a:p>
          <a:p>
            <a:pPr>
              <a:buClr>
                <a:srgbClr val="C00000"/>
              </a:buClr>
            </a:pPr>
            <a:r>
              <a:rPr lang="en-GB" sz="2400" dirty="0">
                <a:latin typeface="Arial" panose="020B0604020202020204" pitchFamily="34" charset="0"/>
                <a:cs typeface="Arial" panose="020B0604020202020204" pitchFamily="34" charset="0"/>
              </a:rPr>
              <a:t>based strategy on the Marmot review's recommendations</a:t>
            </a:r>
          </a:p>
          <a:p>
            <a:pPr>
              <a:buClr>
                <a:srgbClr val="C00000"/>
              </a:buClr>
            </a:pPr>
            <a:r>
              <a:rPr lang="en-GB" sz="2400" b="1" dirty="0">
                <a:latin typeface="Arial" panose="020B0604020202020204" pitchFamily="34" charset="0"/>
                <a:cs typeface="Arial" panose="020B0604020202020204" pitchFamily="34" charset="0"/>
              </a:rPr>
              <a:t>PHOF greatly influenced by the Marmot review</a:t>
            </a:r>
          </a:p>
        </p:txBody>
      </p:sp>
      <p:pic>
        <p:nvPicPr>
          <p:cNvPr id="6" name="Picture 5">
            <a:extLst>
              <a:ext uri="{FF2B5EF4-FFF2-40B4-BE49-F238E27FC236}">
                <a16:creationId xmlns:a16="http://schemas.microsoft.com/office/drawing/2014/main" id="{CDAB4E74-AF6C-42CD-B85E-314ED50DE29C}"/>
              </a:ext>
            </a:extLst>
          </p:cNvPr>
          <p:cNvPicPr>
            <a:picLocks noChangeAspect="1"/>
          </p:cNvPicPr>
          <p:nvPr/>
        </p:nvPicPr>
        <p:blipFill>
          <a:blip r:embed="rId2"/>
          <a:stretch>
            <a:fillRect/>
          </a:stretch>
        </p:blipFill>
        <p:spPr>
          <a:xfrm>
            <a:off x="9163240" y="4465926"/>
            <a:ext cx="1504121" cy="1723697"/>
          </a:xfrm>
          <a:prstGeom prst="rect">
            <a:avLst/>
          </a:prstGeom>
        </p:spPr>
      </p:pic>
    </p:spTree>
    <p:extLst>
      <p:ext uri="{BB962C8B-B14F-4D97-AF65-F5344CB8AC3E}">
        <p14:creationId xmlns:p14="http://schemas.microsoft.com/office/powerpoint/2010/main" val="496550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192"/>
            <a:ext cx="10515600" cy="1325563"/>
          </a:xfrm>
        </p:spPr>
        <p:txBody>
          <a:bodyPr>
            <a:normAutofit/>
          </a:bodyPr>
          <a:lstStyle/>
          <a:p>
            <a:r>
              <a:rPr lang="en-IN" sz="3600" b="1" i="1" dirty="0">
                <a:solidFill>
                  <a:srgbClr val="008080"/>
                </a:solidFill>
                <a:latin typeface="Arial" panose="020B0604020202020204" pitchFamily="34" charset="0"/>
                <a:cs typeface="Arial" panose="020B0604020202020204" pitchFamily="34" charset="0"/>
              </a:rPr>
              <a:t>Proportionate Universalism</a:t>
            </a:r>
            <a:endParaRPr lang="en-GB" sz="3600" b="1" i="1" dirty="0">
              <a:solidFill>
                <a:srgbClr val="00808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82082" y="1310481"/>
            <a:ext cx="11227419" cy="4351338"/>
          </a:xfrm>
        </p:spPr>
        <p:txBody>
          <a:bodyPr/>
          <a:lstStyle/>
          <a:p>
            <a:pPr>
              <a:buClr>
                <a:srgbClr val="C00000"/>
              </a:buClr>
            </a:pPr>
            <a:r>
              <a:rPr lang="en-IN" dirty="0">
                <a:latin typeface="Arial" panose="020B0604020202020204" pitchFamily="34" charset="0"/>
                <a:cs typeface="Arial" panose="020B0604020202020204" pitchFamily="34" charset="0"/>
              </a:rPr>
              <a:t>Sole focus on most disadvantaged will not reduce health inequalities sufficiently. </a:t>
            </a:r>
          </a:p>
          <a:p>
            <a:pPr>
              <a:buClr>
                <a:srgbClr val="C00000"/>
              </a:buClr>
            </a:pPr>
            <a:r>
              <a:rPr lang="en-IN" dirty="0">
                <a:latin typeface="Arial" panose="020B0604020202020204" pitchFamily="34" charset="0"/>
                <a:cs typeface="Arial" panose="020B0604020202020204" pitchFamily="34" charset="0"/>
              </a:rPr>
              <a:t>To reduce the steepness of social gradient in health, actions must be universal, at scale &amp; intensity proportionate to level of disadvantage </a:t>
            </a:r>
          </a:p>
          <a:p>
            <a:endParaRPr lang="en-GB" dirty="0"/>
          </a:p>
        </p:txBody>
      </p:sp>
      <p:pic>
        <p:nvPicPr>
          <p:cNvPr id="4" name="Picture 3"/>
          <p:cNvPicPr>
            <a:picLocks noChangeAspect="1"/>
          </p:cNvPicPr>
          <p:nvPr/>
        </p:nvPicPr>
        <p:blipFill>
          <a:blip r:embed="rId3"/>
          <a:stretch>
            <a:fillRect/>
          </a:stretch>
        </p:blipFill>
        <p:spPr>
          <a:xfrm>
            <a:off x="2157197" y="3831838"/>
            <a:ext cx="7551506" cy="2621964"/>
          </a:xfrm>
          <a:prstGeom prst="rect">
            <a:avLst/>
          </a:prstGeom>
        </p:spPr>
      </p:pic>
    </p:spTree>
    <p:extLst>
      <p:ext uri="{BB962C8B-B14F-4D97-AF65-F5344CB8AC3E}">
        <p14:creationId xmlns:p14="http://schemas.microsoft.com/office/powerpoint/2010/main" val="3371039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2448-84B6-46B8-9866-2AE42A6CB39C}"/>
              </a:ext>
            </a:extLst>
          </p:cNvPr>
          <p:cNvSpPr>
            <a:spLocks noGrp="1"/>
          </p:cNvSpPr>
          <p:nvPr>
            <p:ph type="title"/>
          </p:nvPr>
        </p:nvSpPr>
        <p:spPr>
          <a:xfrm>
            <a:off x="481360" y="231311"/>
            <a:ext cx="11495049" cy="1325563"/>
          </a:xfrm>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Economic &amp; health costs of inaction in England </a:t>
            </a:r>
          </a:p>
        </p:txBody>
      </p:sp>
      <p:sp>
        <p:nvSpPr>
          <p:cNvPr id="3" name="Content Placeholder 2">
            <a:extLst>
              <a:ext uri="{FF2B5EF4-FFF2-40B4-BE49-F238E27FC236}">
                <a16:creationId xmlns:a16="http://schemas.microsoft.com/office/drawing/2014/main" id="{A5626347-AF19-4EA5-ADBA-C8669EA19BAF}"/>
              </a:ext>
            </a:extLst>
          </p:cNvPr>
          <p:cNvSpPr>
            <a:spLocks noGrp="1"/>
          </p:cNvSpPr>
          <p:nvPr>
            <p:ph idx="1"/>
          </p:nvPr>
        </p:nvSpPr>
        <p:spPr>
          <a:xfrm>
            <a:off x="615175" y="1379576"/>
            <a:ext cx="10515600" cy="4351338"/>
          </a:xfrm>
        </p:spPr>
        <p:txBody>
          <a:bodyPr>
            <a:normAutofit lnSpcReduction="10000"/>
          </a:bodyPr>
          <a:lstStyle/>
          <a:p>
            <a:r>
              <a:rPr lang="en-GB" dirty="0">
                <a:latin typeface="Arial" panose="020B0604020202020204" pitchFamily="34" charset="0"/>
                <a:cs typeface="Arial" panose="020B0604020202020204" pitchFamily="34" charset="0"/>
              </a:rPr>
              <a:t>Productivity losses of £31-33B</a:t>
            </a:r>
          </a:p>
          <a:p>
            <a:r>
              <a:rPr lang="en-GB" dirty="0">
                <a:latin typeface="Arial" panose="020B0604020202020204" pitchFamily="34" charset="0"/>
                <a:cs typeface="Arial" panose="020B0604020202020204" pitchFamily="34" charset="0"/>
              </a:rPr>
              <a:t>Reduced tax revenue and higher welfare payments of £20-32B </a:t>
            </a:r>
          </a:p>
          <a:p>
            <a:r>
              <a:rPr lang="en-GB" dirty="0">
                <a:latin typeface="Arial" panose="020B0604020202020204" pitchFamily="34" charset="0"/>
                <a:cs typeface="Arial" panose="020B0604020202020204" pitchFamily="34" charset="0"/>
              </a:rPr>
              <a:t>Increased treatment costs well in excess of £5B</a:t>
            </a:r>
          </a:p>
          <a:p>
            <a:r>
              <a:rPr lang="en-GB" dirty="0">
                <a:latin typeface="Arial" panose="020B0604020202020204" pitchFamily="34" charset="0"/>
                <a:cs typeface="Arial" panose="020B0604020202020204" pitchFamily="34" charset="0"/>
              </a:rPr>
              <a:t>Britain considered European nation with highest level of obesity</a:t>
            </a:r>
          </a:p>
          <a:p>
            <a:r>
              <a:rPr lang="en-GB" dirty="0">
                <a:latin typeface="Arial" panose="020B0604020202020204" pitchFamily="34" charset="0"/>
                <a:cs typeface="Arial" panose="020B0604020202020204" pitchFamily="34" charset="0"/>
              </a:rPr>
              <a:t>Worsening health inequalities between rich &amp; poor</a:t>
            </a:r>
          </a:p>
          <a:p>
            <a:r>
              <a:rPr lang="en-GB" dirty="0">
                <a:latin typeface="Arial" panose="020B0604020202020204" pitchFamily="34" charset="0"/>
                <a:cs typeface="Arial" panose="020B0604020202020204" pitchFamily="34" charset="0"/>
              </a:rPr>
              <a:t>High rates of STDs</a:t>
            </a:r>
          </a:p>
          <a:p>
            <a:r>
              <a:rPr lang="en-GB" dirty="0">
                <a:latin typeface="Arial" panose="020B0604020202020204" pitchFamily="34" charset="0"/>
                <a:cs typeface="Arial" panose="020B0604020202020204" pitchFamily="34" charset="0"/>
              </a:rPr>
              <a:t>Large population of drug users</a:t>
            </a:r>
          </a:p>
          <a:p>
            <a:r>
              <a:rPr lang="en-GB" dirty="0">
                <a:latin typeface="Arial" panose="020B0604020202020204" pitchFamily="34" charset="0"/>
                <a:cs typeface="Arial" panose="020B0604020202020204" pitchFamily="34" charset="0"/>
              </a:rPr>
              <a:t>Increasing levels of alcohol-related harm</a:t>
            </a:r>
          </a:p>
          <a:p>
            <a:r>
              <a:rPr lang="en-GB" dirty="0">
                <a:latin typeface="Arial" panose="020B0604020202020204" pitchFamily="34" charset="0"/>
                <a:cs typeface="Arial" panose="020B0604020202020204" pitchFamily="34" charset="0"/>
              </a:rPr>
              <a:t>Smoking responsible for &gt;80,000 lives lost pa</a:t>
            </a:r>
          </a:p>
          <a:p>
            <a:endParaRPr lang="en-US" dirty="0">
              <a:latin typeface="Arial" panose="020B0604020202020204" pitchFamily="34" charset="0"/>
              <a:cs typeface="Arial" panose="020B0604020202020204" pitchFamily="34" charset="0"/>
            </a:endParaRPr>
          </a:p>
          <a:p>
            <a:endParaRPr lang="en-US" sz="3200" dirty="0"/>
          </a:p>
          <a:p>
            <a:endParaRPr lang="en-US" dirty="0"/>
          </a:p>
          <a:p>
            <a:endParaRPr lang="en-GB" dirty="0"/>
          </a:p>
        </p:txBody>
      </p:sp>
    </p:spTree>
    <p:extLst>
      <p:ext uri="{BB962C8B-B14F-4D97-AF65-F5344CB8AC3E}">
        <p14:creationId xmlns:p14="http://schemas.microsoft.com/office/powerpoint/2010/main" val="1959126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E9F972B-ED7A-455A-8BC8-EA91DD798F5A}"/>
              </a:ext>
            </a:extLst>
          </p:cNvPr>
          <p:cNvSpPr>
            <a:spLocks noGrp="1"/>
          </p:cNvSpPr>
          <p:nvPr>
            <p:ph type="title"/>
          </p:nvPr>
        </p:nvSpPr>
        <p:spPr>
          <a:xfrm>
            <a:off x="6392584" y="501651"/>
            <a:ext cx="4434720" cy="1716255"/>
          </a:xfrm>
        </p:spPr>
        <p:txBody>
          <a:bodyPr vert="horz" lIns="91440" tIns="45720" rIns="91440" bIns="45720" rtlCol="0" anchor="b">
            <a:normAutofit/>
          </a:bodyPr>
          <a:lstStyle/>
          <a:p>
            <a:r>
              <a:rPr lang="en-US" sz="3600" b="1" i="1" dirty="0">
                <a:solidFill>
                  <a:srgbClr val="008080"/>
                </a:solidFill>
                <a:latin typeface="Arial" panose="020B0604020202020204" pitchFamily="34" charset="0"/>
                <a:cs typeface="Arial" panose="020B0604020202020204" pitchFamily="34" charset="0"/>
              </a:rPr>
              <a:t>Public Health Pledge </a:t>
            </a:r>
            <a:br>
              <a:rPr lang="en-US" sz="2400" dirty="0"/>
            </a:br>
            <a:endParaRPr lang="en-US" sz="3900" b="1" dirty="0"/>
          </a:p>
        </p:txBody>
      </p:sp>
      <p:sp>
        <p:nvSpPr>
          <p:cNvPr id="12" name="Rectangle 11">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DF2700F1-AFAA-72A3-F187-8480183531DF}"/>
              </a:ext>
            </a:extLst>
          </p:cNvPr>
          <p:cNvPicPr>
            <a:picLocks noChangeAspect="1"/>
          </p:cNvPicPr>
          <p:nvPr/>
        </p:nvPicPr>
        <p:blipFill>
          <a:blip r:embed="rId3"/>
          <a:stretch>
            <a:fillRect/>
          </a:stretch>
        </p:blipFill>
        <p:spPr>
          <a:xfrm>
            <a:off x="1351910" y="663679"/>
            <a:ext cx="4281815" cy="2220738"/>
          </a:xfrm>
          <a:prstGeom prst="rect">
            <a:avLst/>
          </a:prstGeom>
        </p:spPr>
      </p:pic>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Content Placeholder 3">
            <a:extLst>
              <a:ext uri="{FF2B5EF4-FFF2-40B4-BE49-F238E27FC236}">
                <a16:creationId xmlns:a16="http://schemas.microsoft.com/office/drawing/2014/main" id="{921FB252-0E7E-4DD9-A097-883A3FA1C555}"/>
              </a:ext>
            </a:extLst>
          </p:cNvPr>
          <p:cNvSpPr>
            <a:spLocks noGrp="1"/>
          </p:cNvSpPr>
          <p:nvPr>
            <p:ph sz="half" idx="2"/>
          </p:nvPr>
        </p:nvSpPr>
        <p:spPr>
          <a:xfrm>
            <a:off x="6392583" y="1864660"/>
            <a:ext cx="4434721" cy="4491690"/>
          </a:xfrm>
        </p:spPr>
        <p:txBody>
          <a:bodyPr vert="horz" lIns="91440" tIns="45720" rIns="91440" bIns="45720" rtlCol="0" anchor="t">
            <a:normAutofit/>
          </a:bodyPr>
          <a:lstStyle/>
          <a:p>
            <a:pPr marL="0" indent="0">
              <a:buNone/>
            </a:pPr>
            <a:r>
              <a:rPr lang="en-US" dirty="0">
                <a:latin typeface="Arial" panose="020B0604020202020204" pitchFamily="34" charset="0"/>
                <a:cs typeface="Arial" panose="020B0604020202020204" pitchFamily="34" charset="0"/>
              </a:rPr>
              <a:t>‘We protect and improve the nation's health and wellbeing and reduce health inequalities’(</a:t>
            </a:r>
            <a:r>
              <a:rPr lang="en-US" dirty="0">
                <a:latin typeface="Arial" panose="020B0604020202020204" pitchFamily="34" charset="0"/>
                <a:cs typeface="Arial" panose="020B0604020202020204" pitchFamily="34" charset="0"/>
                <a:hlinkClick r:id="rId4"/>
              </a:rPr>
              <a:t>https://www.gov.uk/government/organisations/public-health-England</a:t>
            </a:r>
            <a:r>
              <a:rPr lang="en-US" dirty="0">
                <a:latin typeface="Arial" panose="020B0604020202020204" pitchFamily="34" charset="0"/>
                <a:cs typeface="Arial" panose="020B0604020202020204" pitchFamily="34" charset="0"/>
              </a:rPr>
              <a:t>)</a:t>
            </a:r>
          </a:p>
          <a:p>
            <a:pPr marL="0" indent="0">
              <a:buNone/>
            </a:pPr>
            <a:endParaRPr lang="en-US" dirty="0"/>
          </a:p>
          <a:p>
            <a:endParaRPr lang="en-US" sz="2000" dirty="0"/>
          </a:p>
        </p:txBody>
      </p:sp>
      <p:pic>
        <p:nvPicPr>
          <p:cNvPr id="5" name="Content Placeholder 4" descr="Image result for public health england">
            <a:extLst>
              <a:ext uri="{FF2B5EF4-FFF2-40B4-BE49-F238E27FC236}">
                <a16:creationId xmlns:a16="http://schemas.microsoft.com/office/drawing/2014/main" id="{D6D03BA7-3052-457A-9DDB-DA4583540B1C}"/>
              </a:ext>
            </a:extLst>
          </p:cNvPr>
          <p:cNvPicPr>
            <a:picLocks noGrp="1" noChangeAspect="1" noChangeArrowheads="1"/>
          </p:cNvPicPr>
          <p:nvPr>
            <p:ph sz="half" idx="1"/>
          </p:nvPr>
        </p:nvPicPr>
        <p:blipFill>
          <a:blip r:embed="rId5">
            <a:extLst>
              <a:ext uri="{28A0092B-C50C-407E-A947-70E740481C1C}">
                <a14:useLocalDpi xmlns:a14="http://schemas.microsoft.com/office/drawing/2010/main" val="0"/>
              </a:ext>
            </a:extLst>
          </a:blip>
          <a:stretch>
            <a:fillRect/>
          </a:stretch>
        </p:blipFill>
        <p:spPr bwMode="auto">
          <a:xfrm>
            <a:off x="654351" y="3990383"/>
            <a:ext cx="4281815" cy="215803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2574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6B75D-245C-4C70-9DEE-302859A20608}"/>
              </a:ext>
            </a:extLst>
          </p:cNvPr>
          <p:cNvSpPr>
            <a:spLocks noGrp="1"/>
          </p:cNvSpPr>
          <p:nvPr>
            <p:ph type="title"/>
          </p:nvPr>
        </p:nvSpPr>
        <p:spPr>
          <a:xfrm>
            <a:off x="503664" y="365124"/>
            <a:ext cx="3810623" cy="1325563"/>
          </a:xfrm>
        </p:spPr>
        <p:txBody>
          <a:bodyPr>
            <a:normAutofit/>
          </a:bodyPr>
          <a:lstStyle/>
          <a:p>
            <a:pPr algn="ctr"/>
            <a:r>
              <a:rPr lang="en-GB" sz="3600" b="1" i="1" dirty="0">
                <a:solidFill>
                  <a:srgbClr val="008080"/>
                </a:solidFill>
                <a:latin typeface="Arial" panose="020B0604020202020204" pitchFamily="34" charset="0"/>
                <a:cs typeface="Arial" panose="020B0604020202020204" pitchFamily="34" charset="0"/>
              </a:rPr>
              <a:t>Public Health in England</a:t>
            </a:r>
          </a:p>
        </p:txBody>
      </p:sp>
      <p:sp>
        <p:nvSpPr>
          <p:cNvPr id="3" name="Content Placeholder 2">
            <a:extLst>
              <a:ext uri="{FF2B5EF4-FFF2-40B4-BE49-F238E27FC236}">
                <a16:creationId xmlns:a16="http://schemas.microsoft.com/office/drawing/2014/main" id="{22856B98-A517-425B-AF82-36BE153B5974}"/>
              </a:ext>
            </a:extLst>
          </p:cNvPr>
          <p:cNvSpPr>
            <a:spLocks noGrp="1"/>
          </p:cNvSpPr>
          <p:nvPr>
            <p:ph idx="1"/>
          </p:nvPr>
        </p:nvSpPr>
        <p:spPr>
          <a:xfrm>
            <a:off x="334537" y="1825625"/>
            <a:ext cx="11675837" cy="4351338"/>
          </a:xfrm>
        </p:spPr>
        <p:txBody>
          <a:bodyPr>
            <a:noAutofit/>
          </a:bodyPr>
          <a:lstStyle/>
          <a:p>
            <a:r>
              <a:rPr lang="en-GB" b="0" i="0" dirty="0">
                <a:solidFill>
                  <a:srgbClr val="202122"/>
                </a:solidFill>
                <a:effectLst/>
                <a:latin typeface="Arial" panose="020B0604020202020204" pitchFamily="34" charset="0"/>
              </a:rPr>
              <a:t>Public Health England (PHE) – established April 2013; executive agency sponsored by DHSC</a:t>
            </a:r>
          </a:p>
          <a:p>
            <a:r>
              <a:rPr lang="en-GB" dirty="0">
                <a:solidFill>
                  <a:srgbClr val="202122"/>
                </a:solidFill>
                <a:latin typeface="Arial" panose="020B0604020202020204" pitchFamily="34" charset="0"/>
              </a:rPr>
              <a:t>S</a:t>
            </a:r>
            <a:r>
              <a:rPr lang="en-GB" b="0" i="0" dirty="0">
                <a:solidFill>
                  <a:srgbClr val="202122"/>
                </a:solidFill>
                <a:effectLst/>
                <a:latin typeface="Arial" panose="020B0604020202020204" pitchFamily="34" charset="0"/>
              </a:rPr>
              <a:t>et PH outcomes for local authorities</a:t>
            </a:r>
          </a:p>
          <a:p>
            <a:r>
              <a:rPr lang="en-GB" dirty="0">
                <a:solidFill>
                  <a:srgbClr val="0B0C0C"/>
                </a:solidFill>
                <a:latin typeface="Arial" panose="020B0604020202020204" pitchFamily="34" charset="0"/>
                <a:cs typeface="Arial" panose="020B0604020202020204" pitchFamily="34" charset="0"/>
              </a:rPr>
              <a:t>R</a:t>
            </a:r>
            <a:r>
              <a:rPr lang="en-GB" b="0" i="0" dirty="0">
                <a:solidFill>
                  <a:srgbClr val="0B0C0C"/>
                </a:solidFill>
                <a:effectLst/>
                <a:latin typeface="Arial" panose="020B0604020202020204" pitchFamily="34" charset="0"/>
                <a:cs typeface="Arial" panose="020B0604020202020204" pitchFamily="34" charset="0"/>
              </a:rPr>
              <a:t>eplaced by </a:t>
            </a:r>
            <a:r>
              <a:rPr lang="en-GB" b="0" i="0" dirty="0">
                <a:solidFill>
                  <a:srgbClr val="39836E"/>
                </a:solidFill>
                <a:effectLst/>
                <a:latin typeface="Arial" panose="020B0604020202020204" pitchFamily="34" charset="0"/>
                <a:cs typeface="Arial" panose="020B0604020202020204" pitchFamily="34" charset="0"/>
                <a:hlinkClick r:id="rId3"/>
              </a:rPr>
              <a:t>UK Health Security Agency</a:t>
            </a:r>
            <a:r>
              <a:rPr lang="en-GB" b="0" i="0" dirty="0">
                <a:solidFill>
                  <a:srgbClr val="0B0C0C"/>
                </a:solidFill>
                <a:effectLst/>
                <a:latin typeface="Arial" panose="020B0604020202020204" pitchFamily="34" charset="0"/>
                <a:cs typeface="Arial" panose="020B0604020202020204" pitchFamily="34" charset="0"/>
              </a:rPr>
              <a:t> &amp;</a:t>
            </a:r>
          </a:p>
          <a:p>
            <a:pPr marL="0" indent="0">
              <a:buNone/>
            </a:pPr>
            <a:r>
              <a:rPr lang="en-GB" b="0" i="0" dirty="0">
                <a:solidFill>
                  <a:srgbClr val="0B0C0C"/>
                </a:solidFill>
                <a:effectLst/>
                <a:latin typeface="Arial" panose="020B0604020202020204" pitchFamily="34" charset="0"/>
                <a:cs typeface="Arial" panose="020B0604020202020204" pitchFamily="34" charset="0"/>
              </a:rPr>
              <a:t> </a:t>
            </a:r>
            <a:r>
              <a:rPr lang="en-GB" b="0" i="0" dirty="0">
                <a:solidFill>
                  <a:srgbClr val="39836E"/>
                </a:solidFill>
                <a:effectLst/>
                <a:latin typeface="Arial" panose="020B0604020202020204" pitchFamily="34" charset="0"/>
                <a:cs typeface="Arial" panose="020B0604020202020204" pitchFamily="34" charset="0"/>
                <a:hlinkClick r:id="rId4"/>
              </a:rPr>
              <a:t>Office for Health Improvement and Disparities</a:t>
            </a:r>
            <a:r>
              <a:rPr lang="en-GB" b="0" i="0" dirty="0">
                <a:solidFill>
                  <a:srgbClr val="39836E"/>
                </a:solidFill>
                <a:effectLst/>
                <a:latin typeface="Arial" panose="020B0604020202020204" pitchFamily="34" charset="0"/>
                <a:cs typeface="Arial" panose="020B0604020202020204" pitchFamily="34" charset="0"/>
              </a:rPr>
              <a:t> </a:t>
            </a:r>
            <a:r>
              <a:rPr lang="en-GB" b="0" i="0" dirty="0">
                <a:effectLst/>
                <a:latin typeface="Arial" panose="020B0604020202020204" pitchFamily="34" charset="0"/>
                <a:cs typeface="Arial" panose="020B0604020202020204" pitchFamily="34" charset="0"/>
              </a:rPr>
              <a:t>in April 2021, executive agencies of DHSC</a:t>
            </a:r>
            <a:endParaRPr lang="en-GB" b="0" i="0" dirty="0">
              <a:solidFill>
                <a:srgbClr val="202122"/>
              </a:solidFill>
              <a:effectLst/>
              <a:latin typeface="Arial" panose="020B0604020202020204" pitchFamily="34" charset="0"/>
            </a:endParaRPr>
          </a:p>
          <a:p>
            <a:r>
              <a:rPr lang="en-GB" b="1" i="0" dirty="0">
                <a:solidFill>
                  <a:srgbClr val="202122"/>
                </a:solidFill>
                <a:effectLst/>
                <a:latin typeface="Arial" panose="020B0604020202020204" pitchFamily="34" charset="0"/>
              </a:rPr>
              <a:t>UK Health Security Agency</a:t>
            </a:r>
            <a:r>
              <a:rPr lang="en-GB" b="0" i="0" dirty="0">
                <a:solidFill>
                  <a:srgbClr val="202122"/>
                </a:solidFill>
                <a:effectLst/>
                <a:latin typeface="Arial" panose="020B0604020202020204" pitchFamily="34" charset="0"/>
              </a:rPr>
              <a:t> (</a:t>
            </a:r>
            <a:r>
              <a:rPr lang="en-GB" b="1" i="0" dirty="0">
                <a:solidFill>
                  <a:srgbClr val="202122"/>
                </a:solidFill>
                <a:effectLst/>
                <a:latin typeface="Arial" panose="020B0604020202020204" pitchFamily="34" charset="0"/>
              </a:rPr>
              <a:t>UKHSA</a:t>
            </a:r>
            <a:r>
              <a:rPr lang="en-GB" b="0" i="0" dirty="0">
                <a:solidFill>
                  <a:srgbClr val="202122"/>
                </a:solidFill>
                <a:effectLst/>
                <a:latin typeface="Arial" panose="020B0604020202020204" pitchFamily="34" charset="0"/>
              </a:rPr>
              <a:t>) -</a:t>
            </a:r>
            <a:r>
              <a:rPr lang="en-GB" dirty="0">
                <a:solidFill>
                  <a:srgbClr val="202122"/>
                </a:solidFill>
                <a:latin typeface="Arial" panose="020B0604020202020204" pitchFamily="34" charset="0"/>
              </a:rPr>
              <a:t> </a:t>
            </a:r>
            <a:r>
              <a:rPr lang="en-GB" b="0" i="0" dirty="0">
                <a:solidFill>
                  <a:srgbClr val="202122"/>
                </a:solidFill>
                <a:effectLst/>
                <a:latin typeface="Arial" panose="020B0604020202020204" pitchFamily="34" charset="0"/>
              </a:rPr>
              <a:t>responsible for public health protection and infectious disease capability</a:t>
            </a:r>
          </a:p>
          <a:p>
            <a:r>
              <a:rPr lang="en-GB" b="1" i="0" dirty="0">
                <a:solidFill>
                  <a:srgbClr val="0B0C0C"/>
                </a:solidFill>
                <a:effectLst/>
                <a:latin typeface="Arial" panose="020B0604020202020204" pitchFamily="34" charset="0"/>
                <a:cs typeface="Arial" panose="020B0604020202020204" pitchFamily="34" charset="0"/>
              </a:rPr>
              <a:t>Office for Health Improvement and Disparities (OHID) </a:t>
            </a:r>
            <a:r>
              <a:rPr lang="en-GB" b="0" i="0" dirty="0">
                <a:solidFill>
                  <a:srgbClr val="0B0C0C"/>
                </a:solidFill>
                <a:effectLst/>
                <a:latin typeface="Arial" panose="020B0604020202020204" pitchFamily="34" charset="0"/>
                <a:cs typeface="Arial" panose="020B0604020202020204" pitchFamily="34" charset="0"/>
              </a:rPr>
              <a:t>focus on improving the nation’s health</a:t>
            </a:r>
            <a:endParaRPr lang="en-GB" dirty="0">
              <a:solidFill>
                <a:srgbClr val="202122"/>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46B48DA-2E1E-427D-AADF-8A4EAE8CF09F}"/>
              </a:ext>
            </a:extLst>
          </p:cNvPr>
          <p:cNvPicPr>
            <a:picLocks noChangeAspect="1"/>
          </p:cNvPicPr>
          <p:nvPr/>
        </p:nvPicPr>
        <p:blipFill>
          <a:blip r:embed="rId5"/>
          <a:stretch>
            <a:fillRect/>
          </a:stretch>
        </p:blipFill>
        <p:spPr>
          <a:xfrm>
            <a:off x="6977000" y="379290"/>
            <a:ext cx="2542035" cy="913140"/>
          </a:xfrm>
          <a:prstGeom prst="rect">
            <a:avLst/>
          </a:prstGeom>
        </p:spPr>
      </p:pic>
      <p:pic>
        <p:nvPicPr>
          <p:cNvPr id="5" name="Picture 4">
            <a:extLst>
              <a:ext uri="{FF2B5EF4-FFF2-40B4-BE49-F238E27FC236}">
                <a16:creationId xmlns:a16="http://schemas.microsoft.com/office/drawing/2014/main" id="{08155224-AAE3-409A-963D-07650E7233C9}"/>
              </a:ext>
            </a:extLst>
          </p:cNvPr>
          <p:cNvPicPr>
            <a:picLocks noChangeAspect="1"/>
          </p:cNvPicPr>
          <p:nvPr/>
        </p:nvPicPr>
        <p:blipFill>
          <a:blip r:embed="rId6"/>
          <a:stretch>
            <a:fillRect/>
          </a:stretch>
        </p:blipFill>
        <p:spPr>
          <a:xfrm>
            <a:off x="9824224" y="365124"/>
            <a:ext cx="2023847" cy="890506"/>
          </a:xfrm>
          <a:prstGeom prst="rect">
            <a:avLst/>
          </a:prstGeom>
        </p:spPr>
      </p:pic>
      <p:pic>
        <p:nvPicPr>
          <p:cNvPr id="8" name="Content Placeholder 7">
            <a:extLst>
              <a:ext uri="{FF2B5EF4-FFF2-40B4-BE49-F238E27FC236}">
                <a16:creationId xmlns:a16="http://schemas.microsoft.com/office/drawing/2014/main" id="{EF624907-87B9-493B-878A-A3D7157F986C}"/>
              </a:ext>
            </a:extLst>
          </p:cNvPr>
          <p:cNvPicPr>
            <a:picLocks noChangeAspect="1"/>
          </p:cNvPicPr>
          <p:nvPr/>
        </p:nvPicPr>
        <p:blipFill>
          <a:blip r:embed="rId7"/>
          <a:stretch>
            <a:fillRect/>
          </a:stretch>
        </p:blipFill>
        <p:spPr>
          <a:xfrm>
            <a:off x="4954012" y="66865"/>
            <a:ext cx="1717799" cy="1228344"/>
          </a:xfrm>
          <a:prstGeom prst="rect">
            <a:avLst/>
          </a:prstGeom>
        </p:spPr>
      </p:pic>
      <p:pic>
        <p:nvPicPr>
          <p:cNvPr id="6" name="Content Placeholder 7">
            <a:extLst>
              <a:ext uri="{FF2B5EF4-FFF2-40B4-BE49-F238E27FC236}">
                <a16:creationId xmlns:a16="http://schemas.microsoft.com/office/drawing/2014/main" id="{DF92D0E5-2C75-71D8-0ADD-C203394D47B5}"/>
              </a:ext>
            </a:extLst>
          </p:cNvPr>
          <p:cNvPicPr>
            <a:picLocks noChangeAspect="1"/>
          </p:cNvPicPr>
          <p:nvPr/>
        </p:nvPicPr>
        <p:blipFill>
          <a:blip r:embed="rId7"/>
          <a:stretch>
            <a:fillRect/>
          </a:stretch>
        </p:blipFill>
        <p:spPr>
          <a:xfrm>
            <a:off x="10292575" y="99494"/>
            <a:ext cx="1717799" cy="1228344"/>
          </a:xfrm>
          <a:prstGeom prst="rect">
            <a:avLst/>
          </a:prstGeom>
        </p:spPr>
      </p:pic>
      <p:pic>
        <p:nvPicPr>
          <p:cNvPr id="7" name="Content Placeholder 7">
            <a:extLst>
              <a:ext uri="{FF2B5EF4-FFF2-40B4-BE49-F238E27FC236}">
                <a16:creationId xmlns:a16="http://schemas.microsoft.com/office/drawing/2014/main" id="{425BF70C-9E13-A335-3CD2-0FFA6ABF2835}"/>
              </a:ext>
            </a:extLst>
          </p:cNvPr>
          <p:cNvPicPr>
            <a:picLocks noChangeAspect="1"/>
          </p:cNvPicPr>
          <p:nvPr/>
        </p:nvPicPr>
        <p:blipFill>
          <a:blip r:embed="rId7"/>
          <a:stretch>
            <a:fillRect/>
          </a:stretch>
        </p:blipFill>
        <p:spPr>
          <a:xfrm>
            <a:off x="10444975" y="251894"/>
            <a:ext cx="1717799" cy="1228344"/>
          </a:xfrm>
          <a:prstGeom prst="rect">
            <a:avLst/>
          </a:prstGeom>
        </p:spPr>
      </p:pic>
    </p:spTree>
    <p:extLst>
      <p:ext uri="{BB962C8B-B14F-4D97-AF65-F5344CB8AC3E}">
        <p14:creationId xmlns:p14="http://schemas.microsoft.com/office/powerpoint/2010/main" val="765246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45C96-B48C-4375-9FAB-4718B771767D}"/>
              </a:ext>
            </a:extLst>
          </p:cNvPr>
          <p:cNvSpPr>
            <a:spLocks noGrp="1"/>
          </p:cNvSpPr>
          <p:nvPr>
            <p:ph type="title"/>
          </p:nvPr>
        </p:nvSpPr>
        <p:spPr>
          <a:xfrm>
            <a:off x="762000" y="18256"/>
            <a:ext cx="10515600" cy="1029960"/>
          </a:xfrm>
        </p:spPr>
        <p:txBody>
          <a:bodyPr>
            <a:normAutofit/>
          </a:bodyPr>
          <a:lstStyle/>
          <a:p>
            <a:r>
              <a:rPr lang="en-US" sz="3600" b="1" i="1" dirty="0">
                <a:solidFill>
                  <a:srgbClr val="008080"/>
                </a:solidFill>
                <a:latin typeface="Arial" panose="020B0604020202020204" pitchFamily="34" charset="0"/>
                <a:cs typeface="Arial" panose="020B0604020202020204" pitchFamily="34" charset="0"/>
              </a:rPr>
              <a:t>Core Functions of Public Health </a:t>
            </a:r>
            <a:endParaRPr lang="en-GB" sz="3600" b="1"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348FA86-CC4C-4D1C-A7EA-FC69A917AA4C}"/>
              </a:ext>
            </a:extLst>
          </p:cNvPr>
          <p:cNvSpPr>
            <a:spLocks noGrp="1"/>
          </p:cNvSpPr>
          <p:nvPr>
            <p:ph sz="half" idx="1"/>
          </p:nvPr>
        </p:nvSpPr>
        <p:spPr>
          <a:xfrm>
            <a:off x="648629" y="1048216"/>
            <a:ext cx="5181600" cy="5352584"/>
          </a:xfrm>
        </p:spPr>
        <p:txBody>
          <a:bodyPr>
            <a:normAutofit/>
          </a:bodyPr>
          <a:lstStyle/>
          <a:p>
            <a:pPr lvl="1">
              <a:buNone/>
            </a:pPr>
            <a:r>
              <a:rPr lang="en-GB" sz="3000" b="1" dirty="0">
                <a:latin typeface="Arial" panose="020B0604020202020204" pitchFamily="34" charset="0"/>
                <a:cs typeface="Arial" panose="020B0604020202020204" pitchFamily="34" charset="0"/>
              </a:rPr>
              <a:t>Key Areas of Public Health Practice:</a:t>
            </a:r>
          </a:p>
          <a:p>
            <a:pPr lvl="1">
              <a:buNone/>
            </a:pPr>
            <a:endParaRPr lang="en-GB" sz="3000" dirty="0">
              <a:latin typeface="Arial" panose="020B0604020202020204" pitchFamily="34" charset="0"/>
              <a:cs typeface="Arial" panose="020B0604020202020204" pitchFamily="34" charset="0"/>
            </a:endParaRPr>
          </a:p>
          <a:p>
            <a:pPr lvl="1">
              <a:buClr>
                <a:srgbClr val="C00000"/>
              </a:buClr>
            </a:pPr>
            <a:r>
              <a:rPr lang="en-GB" altLang="en-US" sz="3000" b="1" dirty="0">
                <a:latin typeface="Arial" panose="020B0604020202020204" pitchFamily="34" charset="0"/>
                <a:cs typeface="Arial" panose="020B0604020202020204" pitchFamily="34" charset="0"/>
              </a:rPr>
              <a:t>Health protection</a:t>
            </a:r>
          </a:p>
          <a:p>
            <a:pPr marL="292608" lvl="1" indent="0">
              <a:buClr>
                <a:srgbClr val="C00000"/>
              </a:buClr>
              <a:buNone/>
            </a:pPr>
            <a:r>
              <a:rPr lang="en-GB" altLang="en-US" sz="3000" dirty="0">
                <a:latin typeface="Arial" panose="020B0604020202020204" pitchFamily="34" charset="0"/>
                <a:cs typeface="Arial" panose="020B0604020202020204" pitchFamily="34" charset="0"/>
              </a:rPr>
              <a:t>Infectious diseases, chemicals &amp; poisons, radiation, emergency response, environmental health hazards</a:t>
            </a:r>
          </a:p>
          <a:p>
            <a:endParaRPr lang="en-GB" dirty="0"/>
          </a:p>
        </p:txBody>
      </p:sp>
      <p:sp>
        <p:nvSpPr>
          <p:cNvPr id="4" name="Content Placeholder 3">
            <a:extLst>
              <a:ext uri="{FF2B5EF4-FFF2-40B4-BE49-F238E27FC236}">
                <a16:creationId xmlns:a16="http://schemas.microsoft.com/office/drawing/2014/main" id="{0D13596B-06E2-4A06-9468-A6B920182779}"/>
              </a:ext>
            </a:extLst>
          </p:cNvPr>
          <p:cNvSpPr>
            <a:spLocks noGrp="1"/>
          </p:cNvSpPr>
          <p:nvPr>
            <p:ph sz="half" idx="2"/>
          </p:nvPr>
        </p:nvSpPr>
        <p:spPr>
          <a:xfrm>
            <a:off x="6172199" y="1048216"/>
            <a:ext cx="5759605" cy="5128747"/>
          </a:xfrm>
        </p:spPr>
        <p:txBody>
          <a:bodyPr>
            <a:normAutofit/>
          </a:bodyPr>
          <a:lstStyle/>
          <a:p>
            <a:pPr lvl="1">
              <a:buClr>
                <a:srgbClr val="C00000"/>
              </a:buClr>
            </a:pPr>
            <a:r>
              <a:rPr lang="en-GB" altLang="en-US" sz="2800" b="1" dirty="0">
                <a:latin typeface="Arial" panose="020B0604020202020204" pitchFamily="34" charset="0"/>
                <a:cs typeface="Arial" panose="020B0604020202020204" pitchFamily="34" charset="0"/>
              </a:rPr>
              <a:t>Health &amp; Social Care Quality</a:t>
            </a:r>
          </a:p>
          <a:p>
            <a:pPr marL="292608" lvl="1" indent="0">
              <a:buClr>
                <a:srgbClr val="C00000"/>
              </a:buClr>
              <a:buNone/>
            </a:pPr>
            <a:r>
              <a:rPr lang="en-GB" altLang="en-US" sz="2800" dirty="0">
                <a:latin typeface="Arial" panose="020B0604020202020204" pitchFamily="34" charset="0"/>
                <a:cs typeface="Arial" panose="020B0604020202020204" pitchFamily="34" charset="0"/>
              </a:rPr>
              <a:t>Clinical effectiveness, efficiency, service planning, audit &amp; evaluation, clinical governance.</a:t>
            </a:r>
          </a:p>
          <a:p>
            <a:pPr marL="749808" lvl="1" indent="-457200">
              <a:buClr>
                <a:srgbClr val="C00000"/>
              </a:buClr>
            </a:pPr>
            <a:endParaRPr lang="en-GB" altLang="en-US" sz="2800" dirty="0">
              <a:latin typeface="Arial" panose="020B0604020202020204" pitchFamily="34" charset="0"/>
              <a:cs typeface="Arial" panose="020B0604020202020204" pitchFamily="34" charset="0"/>
            </a:endParaRPr>
          </a:p>
          <a:p>
            <a:pPr lvl="1">
              <a:buClr>
                <a:srgbClr val="C00000"/>
              </a:buClr>
            </a:pPr>
            <a:r>
              <a:rPr lang="en-GB" altLang="en-US" sz="2800" b="1" dirty="0">
                <a:latin typeface="Arial" panose="020B0604020202020204" pitchFamily="34" charset="0"/>
                <a:cs typeface="Arial" panose="020B0604020202020204" pitchFamily="34" charset="0"/>
              </a:rPr>
              <a:t>Health Improvement</a:t>
            </a:r>
          </a:p>
          <a:p>
            <a:pPr marL="292608" lvl="1" indent="0">
              <a:buClr>
                <a:srgbClr val="C00000"/>
              </a:buClr>
              <a:buNone/>
            </a:pPr>
            <a:r>
              <a:rPr lang="en-GB" altLang="en-US" sz="2800" dirty="0">
                <a:latin typeface="Arial" panose="020B0604020202020204" pitchFamily="34" charset="0"/>
                <a:cs typeface="Arial" panose="020B0604020202020204" pitchFamily="34" charset="0"/>
              </a:rPr>
              <a:t>Inequalities, education, housing, employment, family/community, lifestyles, surveillance &amp; monitoring of specific diseases &amp; risk factors</a:t>
            </a:r>
          </a:p>
          <a:p>
            <a:endParaRPr lang="en-GB" dirty="0"/>
          </a:p>
        </p:txBody>
      </p:sp>
    </p:spTree>
    <p:extLst>
      <p:ext uri="{BB962C8B-B14F-4D97-AF65-F5344CB8AC3E}">
        <p14:creationId xmlns:p14="http://schemas.microsoft.com/office/powerpoint/2010/main" val="1192239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21922-EBBC-4539-B532-591A6A159BA6}"/>
              </a:ext>
            </a:extLst>
          </p:cNvPr>
          <p:cNvSpPr>
            <a:spLocks noGrp="1"/>
          </p:cNvSpPr>
          <p:nvPr>
            <p:ph type="title"/>
          </p:nvPr>
        </p:nvSpPr>
        <p:spPr/>
        <p:txBody>
          <a:bodyPr/>
          <a:lstStyle/>
          <a:p>
            <a:r>
              <a:rPr lang="en-GB" sz="3600" b="1" i="1" dirty="0">
                <a:solidFill>
                  <a:srgbClr val="008080"/>
                </a:solidFill>
                <a:latin typeface="Arial" panose="020B0604020202020204" pitchFamily="34" charset="0"/>
                <a:cs typeface="Arial" panose="020B0604020202020204" pitchFamily="34" charset="0"/>
              </a:rPr>
              <a:t>PH strategic responsibility for:</a:t>
            </a:r>
            <a:br>
              <a:rPr lang="en-GB" b="1" dirty="0">
                <a:latin typeface="+mn-lt"/>
              </a:rPr>
            </a:br>
            <a:endParaRPr lang="en-GB" b="1" dirty="0">
              <a:latin typeface="+mn-lt"/>
            </a:endParaRPr>
          </a:p>
        </p:txBody>
      </p:sp>
      <p:sp>
        <p:nvSpPr>
          <p:cNvPr id="3" name="Content Placeholder 2">
            <a:extLst>
              <a:ext uri="{FF2B5EF4-FFF2-40B4-BE49-F238E27FC236}">
                <a16:creationId xmlns:a16="http://schemas.microsoft.com/office/drawing/2014/main" id="{AD0DB1D8-CD0A-40FA-9798-4351BE8F86EB}"/>
              </a:ext>
            </a:extLst>
          </p:cNvPr>
          <p:cNvSpPr>
            <a:spLocks noGrp="1"/>
          </p:cNvSpPr>
          <p:nvPr>
            <p:ph idx="1"/>
          </p:nvPr>
        </p:nvSpPr>
        <p:spPr/>
        <p:txBody>
          <a:bodyPr/>
          <a:lstStyle/>
          <a:p>
            <a:pPr lvl="2">
              <a:buClr>
                <a:srgbClr val="C00000"/>
              </a:buClr>
              <a:buFont typeface="Arial" panose="020B0604020202020204" pitchFamily="34" charset="0"/>
              <a:buChar char="•"/>
            </a:pPr>
            <a:r>
              <a:rPr lang="en-GB" sz="2800" dirty="0">
                <a:latin typeface="Arial" panose="020B0604020202020204" pitchFamily="34" charset="0"/>
                <a:cs typeface="Arial" panose="020B0604020202020204" pitchFamily="34" charset="0"/>
              </a:rPr>
              <a:t>Public Health Emergencies</a:t>
            </a:r>
          </a:p>
          <a:p>
            <a:pPr lvl="2">
              <a:buClr>
                <a:srgbClr val="C00000"/>
              </a:buClr>
              <a:buFont typeface="Arial" panose="020B0604020202020204" pitchFamily="34" charset="0"/>
              <a:buChar char="•"/>
            </a:pPr>
            <a:r>
              <a:rPr lang="en-GB" sz="2800" dirty="0">
                <a:latin typeface="Arial" panose="020B0604020202020204" pitchFamily="34" charset="0"/>
                <a:cs typeface="Arial" panose="020B0604020202020204" pitchFamily="34" charset="0"/>
              </a:rPr>
              <a:t>Health and Wellbeing Priorities </a:t>
            </a:r>
          </a:p>
          <a:p>
            <a:pPr lvl="2">
              <a:buClr>
                <a:srgbClr val="C00000"/>
              </a:buClr>
              <a:buFont typeface="Arial" panose="020B0604020202020204" pitchFamily="34" charset="0"/>
              <a:buChar char="•"/>
            </a:pPr>
            <a:r>
              <a:rPr lang="en-GB" sz="2800" dirty="0">
                <a:latin typeface="Arial" panose="020B0604020202020204" pitchFamily="34" charset="0"/>
                <a:cs typeface="Arial" panose="020B0604020202020204" pitchFamily="34" charset="0"/>
              </a:rPr>
              <a:t>Health Protection</a:t>
            </a:r>
          </a:p>
          <a:p>
            <a:pPr lvl="2">
              <a:buClr>
                <a:srgbClr val="C00000"/>
              </a:buClr>
              <a:buFont typeface="Arial" panose="020B0604020202020204" pitchFamily="34" charset="0"/>
              <a:buChar char="•"/>
            </a:pPr>
            <a:r>
              <a:rPr lang="en-GB" sz="2800" dirty="0">
                <a:latin typeface="Arial" panose="020B0604020202020204" pitchFamily="34" charset="0"/>
                <a:cs typeface="Arial" panose="020B0604020202020204" pitchFamily="34" charset="0"/>
              </a:rPr>
              <a:t>Data and Knowledge Gateway</a:t>
            </a:r>
          </a:p>
          <a:p>
            <a:pPr lvl="2">
              <a:buClr>
                <a:srgbClr val="C00000"/>
              </a:buClr>
              <a:buFont typeface="Arial" panose="020B0604020202020204" pitchFamily="34" charset="0"/>
              <a:buChar char="•"/>
            </a:pPr>
            <a:r>
              <a:rPr lang="en-GB" sz="2800" b="1" dirty="0">
                <a:latin typeface="Arial" panose="020B0604020202020204" pitchFamily="34" charset="0"/>
                <a:cs typeface="Arial" panose="020B0604020202020204" pitchFamily="34" charset="0"/>
              </a:rPr>
              <a:t>Public Health Outcomes Framework</a:t>
            </a:r>
          </a:p>
          <a:p>
            <a:endParaRPr lang="en-GB" dirty="0"/>
          </a:p>
        </p:txBody>
      </p:sp>
    </p:spTree>
    <p:extLst>
      <p:ext uri="{BB962C8B-B14F-4D97-AF65-F5344CB8AC3E}">
        <p14:creationId xmlns:p14="http://schemas.microsoft.com/office/powerpoint/2010/main" val="4251539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FC32-EF75-4D06-91C9-57C9EDF2B6DA}"/>
              </a:ext>
            </a:extLst>
          </p:cNvPr>
          <p:cNvSpPr>
            <a:spLocks noGrp="1"/>
          </p:cNvSpPr>
          <p:nvPr>
            <p:ph type="title"/>
          </p:nvPr>
        </p:nvSpPr>
        <p:spPr/>
        <p:txBody>
          <a:bodyPr>
            <a:normAutofit/>
          </a:bodyPr>
          <a:lstStyle/>
          <a:p>
            <a:pPr algn="ctr"/>
            <a:r>
              <a:rPr lang="en-GB" sz="3600" b="1" i="1" dirty="0">
                <a:solidFill>
                  <a:srgbClr val="008080"/>
                </a:solidFill>
                <a:latin typeface="Arial" panose="020B0604020202020204" pitchFamily="34" charset="0"/>
                <a:cs typeface="Arial" panose="020B0604020202020204" pitchFamily="34" charset="0"/>
              </a:rPr>
              <a:t>What is Public Health Outcomes Framework (PHOF)?</a:t>
            </a:r>
          </a:p>
        </p:txBody>
      </p:sp>
      <p:sp>
        <p:nvSpPr>
          <p:cNvPr id="3" name="Content Placeholder 2">
            <a:extLst>
              <a:ext uri="{FF2B5EF4-FFF2-40B4-BE49-F238E27FC236}">
                <a16:creationId xmlns:a16="http://schemas.microsoft.com/office/drawing/2014/main" id="{DD5DDD82-7817-463F-98F9-302FB6DECD40}"/>
              </a:ext>
            </a:extLst>
          </p:cNvPr>
          <p:cNvSpPr>
            <a:spLocks noGrp="1"/>
          </p:cNvSpPr>
          <p:nvPr>
            <p:ph idx="1"/>
          </p:nvPr>
        </p:nvSpPr>
        <p:spPr>
          <a:xfrm>
            <a:off x="501805" y="1825625"/>
            <a:ext cx="11195824" cy="4351338"/>
          </a:xfrm>
        </p:spPr>
        <p:txBody>
          <a:bodyPr>
            <a:normAutofit fontScale="92500" lnSpcReduction="10000"/>
          </a:bodyPr>
          <a:lstStyle/>
          <a:p>
            <a:pPr marL="109537" lvl="0" indent="0" fontAlgn="base">
              <a:spcBef>
                <a:spcPts val="400"/>
              </a:spcBef>
              <a:spcAft>
                <a:spcPct val="0"/>
              </a:spcAft>
              <a:buClr>
                <a:srgbClr val="C00000"/>
              </a:buClr>
              <a:buSzPct val="68000"/>
              <a:buNone/>
              <a:defRPr/>
            </a:pPr>
            <a:r>
              <a:rPr lang="en-GB" altLang="en-US" sz="3000" b="1" u="sng" dirty="0">
                <a:latin typeface="Arial" panose="020B0604020202020204" pitchFamily="34" charset="0"/>
                <a:cs typeface="Arial" panose="020B0604020202020204" pitchFamily="34" charset="0"/>
              </a:rPr>
              <a:t>Integrated and professional PH system:</a:t>
            </a:r>
          </a:p>
          <a:p>
            <a:pPr marL="109537" lvl="0" indent="0" fontAlgn="base">
              <a:spcBef>
                <a:spcPts val="400"/>
              </a:spcBef>
              <a:spcAft>
                <a:spcPct val="0"/>
              </a:spcAft>
              <a:buClr>
                <a:srgbClr val="C00000"/>
              </a:buClr>
              <a:buSzPct val="68000"/>
              <a:buNone/>
              <a:defRPr/>
            </a:pPr>
            <a:endParaRPr lang="en-GB" altLang="en-US" sz="3000" dirty="0">
              <a:latin typeface="Arial" panose="020B0604020202020204" pitchFamily="34" charset="0"/>
              <a:cs typeface="Arial" panose="020B0604020202020204" pitchFamily="34" charset="0"/>
            </a:endParaRPr>
          </a:p>
          <a:p>
            <a:pPr marL="735013" lvl="1" indent="-342900" fontAlgn="base">
              <a:spcBef>
                <a:spcPts val="325"/>
              </a:spcBef>
              <a:spcAft>
                <a:spcPct val="0"/>
              </a:spcAft>
              <a:buClr>
                <a:srgbClr val="C00000"/>
              </a:buClr>
              <a:defRPr/>
            </a:pPr>
            <a:r>
              <a:rPr lang="en-GB" altLang="en-US" sz="3000" dirty="0">
                <a:latin typeface="Arial" panose="020B0604020202020204" pitchFamily="34" charset="0"/>
                <a:cs typeface="Arial" panose="020B0604020202020204" pitchFamily="34" charset="0"/>
              </a:rPr>
              <a:t>Increase accountability for the improvement and protection of the public’s health</a:t>
            </a:r>
          </a:p>
          <a:p>
            <a:pPr marL="735013" lvl="1" indent="-342900" fontAlgn="base">
              <a:spcBef>
                <a:spcPts val="325"/>
              </a:spcBef>
              <a:spcAft>
                <a:spcPct val="0"/>
              </a:spcAft>
              <a:buClr>
                <a:srgbClr val="C00000"/>
              </a:buClr>
              <a:defRPr/>
            </a:pPr>
            <a:r>
              <a:rPr lang="en-GB" altLang="en-US" sz="3000" dirty="0">
                <a:latin typeface="Arial" panose="020B0604020202020204" pitchFamily="34" charset="0"/>
                <a:cs typeface="Arial" panose="020B0604020202020204" pitchFamily="34" charset="0"/>
              </a:rPr>
              <a:t>Local responsibility and localism to tackle specific health needs of their populations</a:t>
            </a:r>
          </a:p>
          <a:p>
            <a:pPr marL="735013" lvl="1" indent="-342900" fontAlgn="base">
              <a:spcBef>
                <a:spcPts val="325"/>
              </a:spcBef>
              <a:spcAft>
                <a:spcPct val="0"/>
              </a:spcAft>
              <a:buClr>
                <a:srgbClr val="C00000"/>
              </a:buClr>
              <a:defRPr/>
            </a:pPr>
            <a:r>
              <a:rPr lang="en-GB" altLang="en-US" sz="3000" dirty="0">
                <a:latin typeface="Arial" panose="020B0604020202020204" pitchFamily="34" charset="0"/>
                <a:cs typeface="Arial" panose="020B0604020202020204" pitchFamily="34" charset="0"/>
              </a:rPr>
              <a:t>Central government responsibility of protecting population’s health and safeguarding against health threats</a:t>
            </a:r>
          </a:p>
          <a:p>
            <a:pPr marL="735013" lvl="1" indent="-342900" fontAlgn="base">
              <a:spcBef>
                <a:spcPts val="325"/>
              </a:spcBef>
              <a:spcAft>
                <a:spcPct val="0"/>
              </a:spcAft>
              <a:buClr>
                <a:srgbClr val="C00000"/>
              </a:buClr>
              <a:defRPr/>
            </a:pPr>
            <a:endParaRPr lang="en-GB" altLang="en-US" sz="3000" dirty="0">
              <a:latin typeface="Arial" panose="020B0604020202020204" pitchFamily="34" charset="0"/>
              <a:cs typeface="Arial" panose="020B0604020202020204" pitchFamily="34" charset="0"/>
            </a:endParaRPr>
          </a:p>
          <a:p>
            <a:pPr marL="735013" lvl="1" indent="-342900" fontAlgn="base">
              <a:spcBef>
                <a:spcPts val="325"/>
              </a:spcBef>
              <a:spcAft>
                <a:spcPct val="0"/>
              </a:spcAft>
              <a:buClr>
                <a:srgbClr val="C00000"/>
              </a:buClr>
              <a:defRPr/>
            </a:pPr>
            <a:r>
              <a:rPr lang="en-GB" sz="3000" b="0" i="0" dirty="0">
                <a:effectLst/>
                <a:latin typeface="Arial" panose="020B0604020202020204" pitchFamily="34" charset="0"/>
                <a:cs typeface="Arial" panose="020B0604020202020204" pitchFamily="34" charset="0"/>
              </a:rPr>
              <a:t>The outcome framework will set out how success in public health will be measured both nationally and locally</a:t>
            </a:r>
          </a:p>
          <a:p>
            <a:pPr marL="735013" lvl="1" indent="-342900" fontAlgn="base">
              <a:spcBef>
                <a:spcPts val="325"/>
              </a:spcBef>
              <a:spcAft>
                <a:spcPct val="0"/>
              </a:spcAft>
              <a:buClr>
                <a:srgbClr val="C00000"/>
              </a:buClr>
              <a:defRPr/>
            </a:pPr>
            <a:endParaRPr lang="en-GB" altLang="en-US" sz="2800"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1003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3875F-18C3-4D65-BC56-87B164DBC36C}"/>
              </a:ext>
            </a:extLst>
          </p:cNvPr>
          <p:cNvSpPr>
            <a:spLocks noGrp="1"/>
          </p:cNvSpPr>
          <p:nvPr>
            <p:ph type="title"/>
          </p:nvPr>
        </p:nvSpPr>
        <p:spPr/>
        <p:txBody>
          <a:bodyPr/>
          <a:lstStyle/>
          <a:p>
            <a:r>
              <a:rPr lang="en-GB" sz="3600" b="1" i="1" dirty="0">
                <a:solidFill>
                  <a:srgbClr val="008080"/>
                </a:solidFill>
                <a:effectLst/>
                <a:latin typeface="Arial"/>
                <a:cs typeface="Arial"/>
              </a:rPr>
              <a:t>Public Health Outcomes Framework</a:t>
            </a:r>
            <a:r>
              <a:rPr lang="en-GB" sz="3600" b="1" i="1" dirty="0">
                <a:solidFill>
                  <a:srgbClr val="008080"/>
                </a:solidFill>
                <a:latin typeface="Arial"/>
                <a:cs typeface="Arial"/>
              </a:rPr>
              <a:t> (PHOF)</a:t>
            </a:r>
            <a:br>
              <a:rPr lang="en-GB" b="1" i="0" dirty="0">
                <a:solidFill>
                  <a:srgbClr val="0B0C0C"/>
                </a:solidFill>
                <a:effectLst/>
                <a:latin typeface="GDS Transport"/>
              </a:rPr>
            </a:br>
            <a:endParaRPr lang="en-GB" dirty="0"/>
          </a:p>
        </p:txBody>
      </p:sp>
      <p:sp>
        <p:nvSpPr>
          <p:cNvPr id="3" name="Content Placeholder 2">
            <a:extLst>
              <a:ext uri="{FF2B5EF4-FFF2-40B4-BE49-F238E27FC236}">
                <a16:creationId xmlns:a16="http://schemas.microsoft.com/office/drawing/2014/main" id="{F72DCBB4-95D7-4C1C-9183-E38D8F064BDF}"/>
              </a:ext>
            </a:extLst>
          </p:cNvPr>
          <p:cNvSpPr>
            <a:spLocks noGrp="1"/>
          </p:cNvSpPr>
          <p:nvPr>
            <p:ph idx="1"/>
          </p:nvPr>
        </p:nvSpPr>
        <p:spPr>
          <a:xfrm>
            <a:off x="345688" y="1165938"/>
            <a:ext cx="11664176" cy="5469038"/>
          </a:xfrm>
        </p:spPr>
        <p:txBody>
          <a:bodyPr>
            <a:normAutofit/>
          </a:bodyPr>
          <a:lstStyle/>
          <a:p>
            <a:r>
              <a:rPr lang="en-GB" dirty="0">
                <a:solidFill>
                  <a:srgbClr val="0B0C0C"/>
                </a:solidFill>
                <a:latin typeface="Arial" panose="020B0604020202020204" pitchFamily="34" charset="0"/>
                <a:cs typeface="Arial" panose="020B0604020202020204" pitchFamily="34" charset="0"/>
              </a:rPr>
              <a:t>Established 2013; reviewed every 3 yrs; v</a:t>
            </a:r>
            <a:r>
              <a:rPr lang="en-GB" b="0" i="0" dirty="0">
                <a:solidFill>
                  <a:srgbClr val="0B0C0C"/>
                </a:solidFill>
                <a:effectLst/>
                <a:latin typeface="Arial" panose="020B0604020202020204" pitchFamily="34" charset="0"/>
                <a:cs typeface="Arial" panose="020B0604020202020204" pitchFamily="34" charset="0"/>
              </a:rPr>
              <a:t>ision for public health</a:t>
            </a:r>
          </a:p>
          <a:p>
            <a:pPr marL="0" indent="0">
              <a:buNone/>
            </a:pPr>
            <a:endParaRPr lang="en-GB" b="0" i="0" dirty="0">
              <a:solidFill>
                <a:srgbClr val="0B0C0C"/>
              </a:solidFill>
              <a:effectLst/>
              <a:latin typeface="Arial" panose="020B0604020202020204" pitchFamily="34" charset="0"/>
              <a:cs typeface="Arial" panose="020B0604020202020204" pitchFamily="34" charset="0"/>
            </a:endParaRPr>
          </a:p>
          <a:p>
            <a:pPr algn="l"/>
            <a:r>
              <a:rPr lang="en-GB" dirty="0">
                <a:solidFill>
                  <a:srgbClr val="0B0C0C"/>
                </a:solidFill>
                <a:latin typeface="Arial" panose="020B0604020202020204" pitchFamily="34" charset="0"/>
                <a:cs typeface="Arial" panose="020B0604020202020204" pitchFamily="34" charset="0"/>
              </a:rPr>
              <a:t>F</a:t>
            </a:r>
            <a:r>
              <a:rPr lang="en-GB" b="0" i="0" dirty="0">
                <a:solidFill>
                  <a:srgbClr val="0B0C0C"/>
                </a:solidFill>
                <a:effectLst/>
                <a:latin typeface="Arial" panose="020B0604020202020204" pitchFamily="34" charset="0"/>
                <a:cs typeface="Arial" panose="020B0604020202020204" pitchFamily="34" charset="0"/>
              </a:rPr>
              <a:t>ocus on two high level outcomes to achieve across &amp; beyond the public health system:</a:t>
            </a:r>
          </a:p>
          <a:p>
            <a:pPr marL="0" indent="0" algn="l">
              <a:buNone/>
            </a:pPr>
            <a:r>
              <a:rPr lang="en-GB" b="1" i="0" dirty="0">
                <a:solidFill>
                  <a:srgbClr val="00B092"/>
                </a:solidFill>
                <a:effectLst/>
                <a:latin typeface="Arial" panose="020B0604020202020204" pitchFamily="34" charset="0"/>
                <a:cs typeface="Arial" panose="020B0604020202020204" pitchFamily="34" charset="0"/>
              </a:rPr>
              <a:t>1.  Increased healthy life expectancy</a:t>
            </a:r>
            <a:br>
              <a:rPr lang="en-GB" b="1" i="0" dirty="0">
                <a:solidFill>
                  <a:srgbClr val="00B092"/>
                </a:solidFill>
                <a:effectLst/>
                <a:latin typeface="Arial" panose="020B0604020202020204" pitchFamily="34" charset="0"/>
                <a:cs typeface="Arial" panose="020B0604020202020204" pitchFamily="34" charset="0"/>
              </a:rPr>
            </a:br>
            <a:br>
              <a:rPr lang="en-GB" b="1" i="0" dirty="0">
                <a:solidFill>
                  <a:srgbClr val="00B092"/>
                </a:solidFill>
                <a:effectLst/>
                <a:latin typeface="Arial" panose="020B0604020202020204" pitchFamily="34" charset="0"/>
                <a:cs typeface="Arial" panose="020B0604020202020204" pitchFamily="34" charset="0"/>
              </a:rPr>
            </a:br>
            <a:r>
              <a:rPr lang="en-GB" b="1" i="0" dirty="0">
                <a:solidFill>
                  <a:srgbClr val="00B092"/>
                </a:solidFill>
                <a:effectLst/>
                <a:latin typeface="Arial" panose="020B0604020202020204" pitchFamily="34" charset="0"/>
                <a:cs typeface="Arial" panose="020B0604020202020204" pitchFamily="34" charset="0"/>
              </a:rPr>
              <a:t>2.  Reduced differences in life expectancy and healthy life expectancy between communities</a:t>
            </a:r>
          </a:p>
          <a:p>
            <a:pPr marL="0" indent="0" algn="l">
              <a:buNone/>
            </a:pPr>
            <a:endParaRPr lang="en-GB" b="1" i="0" dirty="0">
              <a:solidFill>
                <a:srgbClr val="00B092"/>
              </a:solidFill>
              <a:effectLst/>
              <a:latin typeface="Arial" panose="020B0604020202020204" pitchFamily="34" charset="0"/>
              <a:cs typeface="Arial" panose="020B0604020202020204" pitchFamily="34" charset="0"/>
            </a:endParaRPr>
          </a:p>
          <a:p>
            <a:pPr algn="l"/>
            <a:r>
              <a:rPr lang="en-GB" dirty="0">
                <a:solidFill>
                  <a:srgbClr val="0B0C0C"/>
                </a:solidFill>
                <a:latin typeface="Arial" panose="020B0604020202020204" pitchFamily="34" charset="0"/>
                <a:cs typeface="Arial" panose="020B0604020202020204" pitchFamily="34" charset="0"/>
              </a:rPr>
              <a:t>O</a:t>
            </a:r>
            <a:r>
              <a:rPr lang="en-GB" b="0" i="0" dirty="0">
                <a:solidFill>
                  <a:srgbClr val="0B0C0C"/>
                </a:solidFill>
                <a:effectLst/>
                <a:latin typeface="Arial" panose="020B0604020202020204" pitchFamily="34" charset="0"/>
                <a:cs typeface="Arial" panose="020B0604020202020204" pitchFamily="34" charset="0"/>
              </a:rPr>
              <a:t>utcomes cover </a:t>
            </a:r>
            <a:r>
              <a:rPr lang="en-GB" b="1" u="sng" dirty="0">
                <a:solidFill>
                  <a:srgbClr val="0B0C0C"/>
                </a:solidFill>
                <a:latin typeface="Arial" panose="020B0604020202020204" pitchFamily="34" charset="0"/>
                <a:cs typeface="Arial" panose="020B0604020202020204" pitchFamily="34" charset="0"/>
              </a:rPr>
              <a:t>length of life </a:t>
            </a:r>
            <a:r>
              <a:rPr lang="en-GB" dirty="0">
                <a:solidFill>
                  <a:srgbClr val="0B0C0C"/>
                </a:solidFill>
                <a:latin typeface="Arial" panose="020B0604020202020204" pitchFamily="34" charset="0"/>
                <a:cs typeface="Arial" panose="020B0604020202020204" pitchFamily="34" charset="0"/>
              </a:rPr>
              <a:t>and </a:t>
            </a:r>
            <a:r>
              <a:rPr lang="en-GB" b="1" u="sng" dirty="0">
                <a:solidFill>
                  <a:srgbClr val="0B0C0C"/>
                </a:solidFill>
                <a:latin typeface="Arial" panose="020B0604020202020204" pitchFamily="34" charset="0"/>
                <a:cs typeface="Arial" panose="020B0604020202020204" pitchFamily="34" charset="0"/>
              </a:rPr>
              <a:t>how</a:t>
            </a:r>
            <a:r>
              <a:rPr lang="en-GB" b="1" i="0" u="sng" dirty="0">
                <a:solidFill>
                  <a:srgbClr val="0B0C0C"/>
                </a:solidFill>
                <a:effectLst/>
                <a:latin typeface="Arial" panose="020B0604020202020204" pitchFamily="34" charset="0"/>
                <a:cs typeface="Arial" panose="020B0604020202020204" pitchFamily="34" charset="0"/>
              </a:rPr>
              <a:t> well </a:t>
            </a:r>
            <a:r>
              <a:rPr lang="en-GB" b="1" u="sng" dirty="0">
                <a:solidFill>
                  <a:srgbClr val="0B0C0C"/>
                </a:solidFill>
                <a:latin typeface="Arial" panose="020B0604020202020204" pitchFamily="34" charset="0"/>
                <a:cs typeface="Arial" panose="020B0604020202020204" pitchFamily="34" charset="0"/>
              </a:rPr>
              <a:t>people</a:t>
            </a:r>
            <a:r>
              <a:rPr lang="en-GB" b="1" i="0" u="sng" dirty="0">
                <a:solidFill>
                  <a:srgbClr val="0B0C0C"/>
                </a:solidFill>
                <a:effectLst/>
                <a:latin typeface="Arial" panose="020B0604020202020204" pitchFamily="34" charset="0"/>
                <a:cs typeface="Arial" panose="020B0604020202020204" pitchFamily="34" charset="0"/>
              </a:rPr>
              <a:t> live </a:t>
            </a:r>
            <a:r>
              <a:rPr lang="en-GB" b="0" i="0" dirty="0">
                <a:solidFill>
                  <a:srgbClr val="0B0C0C"/>
                </a:solidFill>
                <a:effectLst/>
                <a:latin typeface="Arial" panose="020B0604020202020204" pitchFamily="34" charset="0"/>
                <a:cs typeface="Arial" panose="020B0604020202020204" pitchFamily="34" charset="0"/>
              </a:rPr>
              <a:t>at all stages of life</a:t>
            </a:r>
          </a:p>
          <a:p>
            <a:endParaRPr lang="en-GB" dirty="0"/>
          </a:p>
        </p:txBody>
      </p:sp>
    </p:spTree>
    <p:extLst>
      <p:ext uri="{BB962C8B-B14F-4D97-AF65-F5344CB8AC3E}">
        <p14:creationId xmlns:p14="http://schemas.microsoft.com/office/powerpoint/2010/main" val="1401846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FFB1-8D85-4780-8616-C40D78B7D5DC}"/>
              </a:ext>
            </a:extLst>
          </p:cNvPr>
          <p:cNvSpPr>
            <a:spLocks noGrp="1"/>
          </p:cNvSpPr>
          <p:nvPr>
            <p:ph type="title"/>
          </p:nvPr>
        </p:nvSpPr>
        <p:spPr>
          <a:xfrm>
            <a:off x="838200" y="365126"/>
            <a:ext cx="10515600" cy="928416"/>
          </a:xfrm>
        </p:spPr>
        <p:txBody>
          <a:bodyPr>
            <a:normAutofit/>
          </a:bodyPr>
          <a:lstStyle/>
          <a:p>
            <a:r>
              <a:rPr lang="en-GB" sz="3600" b="1" i="1" dirty="0">
                <a:solidFill>
                  <a:srgbClr val="008080"/>
                </a:solidFill>
                <a:latin typeface="Arial" panose="020B0604020202020204" pitchFamily="34" charset="0"/>
                <a:cs typeface="Arial" panose="020B0604020202020204" pitchFamily="34" charset="0"/>
              </a:rPr>
              <a:t>Domains</a:t>
            </a:r>
          </a:p>
        </p:txBody>
      </p:sp>
      <p:sp>
        <p:nvSpPr>
          <p:cNvPr id="3" name="Content Placeholder 2">
            <a:extLst>
              <a:ext uri="{FF2B5EF4-FFF2-40B4-BE49-F238E27FC236}">
                <a16:creationId xmlns:a16="http://schemas.microsoft.com/office/drawing/2014/main" id="{F0A6E32C-C276-45D7-A2A5-DAE2239F350D}"/>
              </a:ext>
            </a:extLst>
          </p:cNvPr>
          <p:cNvSpPr>
            <a:spLocks noGrp="1"/>
          </p:cNvSpPr>
          <p:nvPr>
            <p:ph idx="1"/>
          </p:nvPr>
        </p:nvSpPr>
        <p:spPr>
          <a:xfrm>
            <a:off x="278779" y="2762327"/>
            <a:ext cx="11452303" cy="4351338"/>
          </a:xfrm>
        </p:spPr>
        <p:txBody>
          <a:bodyPr>
            <a:normAutofit/>
          </a:bodyPr>
          <a:lstStyle/>
          <a:p>
            <a:r>
              <a:rPr lang="en-GB" b="1" dirty="0">
                <a:solidFill>
                  <a:srgbClr val="444444"/>
                </a:solidFill>
                <a:latin typeface="Arial" panose="020B0604020202020204" pitchFamily="34" charset="0"/>
                <a:cs typeface="Arial" panose="020B0604020202020204" pitchFamily="34" charset="0"/>
              </a:rPr>
              <a:t>W</a:t>
            </a:r>
            <a:r>
              <a:rPr lang="en-GB" b="1" i="0" dirty="0">
                <a:solidFill>
                  <a:srgbClr val="444444"/>
                </a:solidFill>
                <a:effectLst/>
                <a:latin typeface="Arial" panose="020B0604020202020204" pitchFamily="34" charset="0"/>
                <a:cs typeface="Arial" panose="020B0604020202020204" pitchFamily="34" charset="0"/>
              </a:rPr>
              <a:t>ider determinants of health</a:t>
            </a:r>
            <a:r>
              <a:rPr lang="en-GB" b="0" i="0" dirty="0">
                <a:solidFill>
                  <a:srgbClr val="444444"/>
                </a:solidFill>
                <a:effectLst/>
                <a:latin typeface="Arial" panose="020B0604020202020204" pitchFamily="34" charset="0"/>
                <a:cs typeface="Arial" panose="020B0604020202020204" pitchFamily="34" charset="0"/>
              </a:rPr>
              <a:t>: Tackling factors which affect health, wellbeing </a:t>
            </a:r>
            <a:r>
              <a:rPr lang="en-GB" dirty="0">
                <a:solidFill>
                  <a:srgbClr val="444444"/>
                </a:solidFill>
                <a:latin typeface="Arial" panose="020B0604020202020204" pitchFamily="34" charset="0"/>
                <a:cs typeface="Arial" panose="020B0604020202020204" pitchFamily="34" charset="0"/>
              </a:rPr>
              <a:t>&amp;</a:t>
            </a:r>
            <a:r>
              <a:rPr lang="en-GB" b="0" i="0" dirty="0">
                <a:solidFill>
                  <a:srgbClr val="444444"/>
                </a:solidFill>
                <a:effectLst/>
                <a:latin typeface="Arial" panose="020B0604020202020204" pitchFamily="34" charset="0"/>
                <a:cs typeface="Arial" panose="020B0604020202020204" pitchFamily="34" charset="0"/>
              </a:rPr>
              <a:t> health inequalities</a:t>
            </a:r>
          </a:p>
          <a:p>
            <a:r>
              <a:rPr lang="en-GB" b="1" i="0" dirty="0">
                <a:solidFill>
                  <a:srgbClr val="444444"/>
                </a:solidFill>
                <a:effectLst/>
                <a:latin typeface="Arial" panose="020B0604020202020204" pitchFamily="34" charset="0"/>
                <a:cs typeface="Arial" panose="020B0604020202020204" pitchFamily="34" charset="0"/>
              </a:rPr>
              <a:t>Health Improvement</a:t>
            </a:r>
            <a:r>
              <a:rPr lang="en-GB" b="0" i="0" dirty="0">
                <a:solidFill>
                  <a:srgbClr val="444444"/>
                </a:solidFill>
                <a:effectLst/>
                <a:latin typeface="Arial" panose="020B0604020202020204" pitchFamily="34" charset="0"/>
                <a:cs typeface="Arial" panose="020B0604020202020204" pitchFamily="34" charset="0"/>
              </a:rPr>
              <a:t>: Helping people to live healthy lifestyles, make healthy choices and reduce health inequalities. </a:t>
            </a:r>
          </a:p>
          <a:p>
            <a:r>
              <a:rPr lang="en-GB" b="1" dirty="0">
                <a:solidFill>
                  <a:srgbClr val="444444"/>
                </a:solidFill>
                <a:latin typeface="Arial" panose="020B0604020202020204" pitchFamily="34" charset="0"/>
                <a:cs typeface="Arial" panose="020B0604020202020204" pitchFamily="34" charset="0"/>
              </a:rPr>
              <a:t>Health Protection: </a:t>
            </a:r>
            <a:r>
              <a:rPr lang="en-GB" dirty="0">
                <a:solidFill>
                  <a:srgbClr val="444444"/>
                </a:solidFill>
                <a:latin typeface="Arial" panose="020B0604020202020204" pitchFamily="34" charset="0"/>
                <a:cs typeface="Arial" panose="020B0604020202020204" pitchFamily="34" charset="0"/>
              </a:rPr>
              <a:t>P</a:t>
            </a:r>
            <a:r>
              <a:rPr lang="en-GB" dirty="0">
                <a:latin typeface="Arial" panose="020B0604020202020204" pitchFamily="34" charset="0"/>
                <a:cs typeface="Arial" panose="020B0604020202020204" pitchFamily="34" charset="0"/>
              </a:rPr>
              <a:t>opulation’s health is protected from major incidents &amp; other threats, whilst reducing health inequalities</a:t>
            </a:r>
            <a:endParaRPr lang="en-GB" b="0" i="0" dirty="0">
              <a:solidFill>
                <a:srgbClr val="444444"/>
              </a:solidFill>
              <a:effectLst/>
              <a:latin typeface="Arial" panose="020B0604020202020204" pitchFamily="34" charset="0"/>
              <a:cs typeface="Arial" panose="020B0604020202020204" pitchFamily="34" charset="0"/>
            </a:endParaRPr>
          </a:p>
          <a:p>
            <a:r>
              <a:rPr lang="en-GB" b="1" i="0" dirty="0">
                <a:solidFill>
                  <a:srgbClr val="444444"/>
                </a:solidFill>
                <a:effectLst/>
                <a:latin typeface="Arial" panose="020B0604020202020204" pitchFamily="34" charset="0"/>
                <a:cs typeface="Arial" panose="020B0604020202020204" pitchFamily="34" charset="0"/>
              </a:rPr>
              <a:t>Healthy life expectancy and preventable mortality</a:t>
            </a:r>
            <a:r>
              <a:rPr lang="en-GB" b="0" i="0" dirty="0">
                <a:solidFill>
                  <a:srgbClr val="444444"/>
                </a:solidFill>
                <a:effectLst/>
                <a:latin typeface="Arial" panose="020B0604020202020204" pitchFamily="34" charset="0"/>
                <a:cs typeface="Arial" panose="020B0604020202020204" pitchFamily="34" charset="0"/>
              </a:rPr>
              <a:t>: Preventing people from dying prematurely </a:t>
            </a:r>
            <a:r>
              <a:rPr lang="en-GB" dirty="0">
                <a:solidFill>
                  <a:srgbClr val="444444"/>
                </a:solidFill>
                <a:latin typeface="Arial" panose="020B0604020202020204" pitchFamily="34" charset="0"/>
                <a:cs typeface="Arial" panose="020B0604020202020204" pitchFamily="34" charset="0"/>
              </a:rPr>
              <a:t>&amp;</a:t>
            </a:r>
            <a:r>
              <a:rPr lang="en-GB" b="0" i="0" dirty="0">
                <a:solidFill>
                  <a:srgbClr val="444444"/>
                </a:solidFill>
                <a:effectLst/>
                <a:latin typeface="Arial" panose="020B0604020202020204" pitchFamily="34" charset="0"/>
                <a:cs typeface="Arial" panose="020B0604020202020204" pitchFamily="34" charset="0"/>
              </a:rPr>
              <a:t> reduce health inequalities</a:t>
            </a:r>
            <a:endParaRPr lang="en-GB"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4DDB0BFF-A64C-4B40-BD4A-D41CDDE4DBD5}"/>
              </a:ext>
            </a:extLst>
          </p:cNvPr>
          <p:cNvPicPr>
            <a:picLocks noChangeAspect="1"/>
          </p:cNvPicPr>
          <p:nvPr/>
        </p:nvPicPr>
        <p:blipFill>
          <a:blip r:embed="rId3"/>
          <a:stretch>
            <a:fillRect/>
          </a:stretch>
        </p:blipFill>
        <p:spPr>
          <a:xfrm>
            <a:off x="4090638" y="0"/>
            <a:ext cx="7640444" cy="2283989"/>
          </a:xfrm>
          <a:prstGeom prst="rect">
            <a:avLst/>
          </a:prstGeom>
        </p:spPr>
      </p:pic>
    </p:spTree>
    <p:extLst>
      <p:ext uri="{BB962C8B-B14F-4D97-AF65-F5344CB8AC3E}">
        <p14:creationId xmlns:p14="http://schemas.microsoft.com/office/powerpoint/2010/main" val="129954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926B-2356-4657-A422-E95DB3428053}"/>
              </a:ext>
            </a:extLst>
          </p:cNvPr>
          <p:cNvSpPr>
            <a:spLocks noGrp="1"/>
          </p:cNvSpPr>
          <p:nvPr>
            <p:ph type="title"/>
          </p:nvPr>
        </p:nvSpPr>
        <p:spPr/>
        <p:txBody>
          <a:bodyPr/>
          <a:lstStyle/>
          <a:p>
            <a:r>
              <a:rPr lang="en-GB" sz="3600" b="1" i="1" dirty="0">
                <a:solidFill>
                  <a:srgbClr val="008080"/>
                </a:solidFill>
                <a:effectLst/>
                <a:latin typeface="Arial" panose="020B0604020202020204" pitchFamily="34" charset="0"/>
                <a:cs typeface="Arial" panose="020B0604020202020204" pitchFamily="34" charset="0"/>
              </a:rPr>
              <a:t>PHOF Indicators </a:t>
            </a:r>
            <a:br>
              <a:rPr lang="en-GB" b="1" i="0" dirty="0">
                <a:solidFill>
                  <a:srgbClr val="000000"/>
                </a:solidFill>
                <a:effectLst/>
                <a:latin typeface="GDS Transport"/>
              </a:rPr>
            </a:br>
            <a:endParaRPr lang="en-GB" dirty="0"/>
          </a:p>
        </p:txBody>
      </p:sp>
      <p:sp>
        <p:nvSpPr>
          <p:cNvPr id="3" name="Content Placeholder 2">
            <a:extLst>
              <a:ext uri="{FF2B5EF4-FFF2-40B4-BE49-F238E27FC236}">
                <a16:creationId xmlns:a16="http://schemas.microsoft.com/office/drawing/2014/main" id="{2683A6ED-DE24-47F7-A01E-B9F7718DAB39}"/>
              </a:ext>
            </a:extLst>
          </p:cNvPr>
          <p:cNvSpPr>
            <a:spLocks noGrp="1"/>
          </p:cNvSpPr>
          <p:nvPr>
            <p:ph idx="1"/>
          </p:nvPr>
        </p:nvSpPr>
        <p:spPr>
          <a:xfrm>
            <a:off x="465826" y="1078302"/>
            <a:ext cx="10887974" cy="5414573"/>
          </a:xfrm>
        </p:spPr>
        <p:txBody>
          <a:bodyPr>
            <a:normAutofit lnSpcReduction="10000"/>
          </a:bodyPr>
          <a:lstStyle/>
          <a:p>
            <a:pPr algn="l"/>
            <a:r>
              <a:rPr lang="en-GB" dirty="0">
                <a:solidFill>
                  <a:srgbClr val="0B0C0C"/>
                </a:solidFill>
                <a:latin typeface="Arial" panose="020B0604020202020204" pitchFamily="34" charset="0"/>
                <a:cs typeface="Arial" panose="020B0604020202020204" pitchFamily="34" charset="0"/>
              </a:rPr>
              <a:t>S</a:t>
            </a:r>
            <a:r>
              <a:rPr lang="en-GB" b="0" i="0" dirty="0">
                <a:solidFill>
                  <a:srgbClr val="0B0C0C"/>
                </a:solidFill>
                <a:effectLst/>
                <a:latin typeface="Arial" panose="020B0604020202020204" pitchFamily="34" charset="0"/>
                <a:cs typeface="Arial" panose="020B0604020202020204" pitchFamily="34" charset="0"/>
              </a:rPr>
              <a:t>et of supporting indicators within each domain to help understand the progress being made</a:t>
            </a:r>
          </a:p>
          <a:p>
            <a:pPr algn="l"/>
            <a:r>
              <a:rPr lang="en-GB" b="0" i="0" dirty="0">
                <a:solidFill>
                  <a:srgbClr val="0B0C0C"/>
                </a:solidFill>
                <a:effectLst/>
                <a:latin typeface="Arial" panose="020B0604020202020204" pitchFamily="34" charset="0"/>
                <a:cs typeface="Arial" panose="020B0604020202020204" pitchFamily="34" charset="0"/>
              </a:rPr>
              <a:t>Indicators cover the full spectrum of public health </a:t>
            </a:r>
            <a:r>
              <a:rPr lang="en-GB" dirty="0">
                <a:solidFill>
                  <a:srgbClr val="0B0C0C"/>
                </a:solidFill>
                <a:latin typeface="Arial" panose="020B0604020202020204" pitchFamily="34" charset="0"/>
                <a:cs typeface="Arial" panose="020B0604020202020204" pitchFamily="34" charset="0"/>
              </a:rPr>
              <a:t>&amp;</a:t>
            </a:r>
            <a:r>
              <a:rPr lang="en-GB" b="0" i="0" dirty="0">
                <a:solidFill>
                  <a:srgbClr val="0B0C0C"/>
                </a:solidFill>
                <a:effectLst/>
                <a:latin typeface="Arial" panose="020B0604020202020204" pitchFamily="34" charset="0"/>
                <a:cs typeface="Arial" panose="020B0604020202020204" pitchFamily="34" charset="0"/>
              </a:rPr>
              <a:t> what can be realistically measured</a:t>
            </a:r>
          </a:p>
          <a:p>
            <a:pPr algn="l"/>
            <a:r>
              <a:rPr lang="en-GB" b="0" i="0" dirty="0">
                <a:solidFill>
                  <a:srgbClr val="0B0C0C"/>
                </a:solidFill>
                <a:effectLst/>
                <a:latin typeface="Arial" panose="020B0604020202020204" pitchFamily="34" charset="0"/>
                <a:cs typeface="Arial" panose="020B0604020202020204" pitchFamily="34" charset="0"/>
              </a:rPr>
              <a:t>Every 3 years consultations take place on changes to the indicators; revised framework based on the findings is published</a:t>
            </a:r>
          </a:p>
          <a:p>
            <a:r>
              <a:rPr lang="en-GB" dirty="0">
                <a:solidFill>
                  <a:srgbClr val="0B0C0C"/>
                </a:solidFill>
                <a:latin typeface="Arial" panose="020B0604020202020204" pitchFamily="34" charset="0"/>
                <a:cs typeface="Arial" panose="020B0604020202020204" pitchFamily="34" charset="0"/>
              </a:rPr>
              <a:t>Wide consultation on health &amp; social care statistical outputs (including PHOF) published 2024 (</a:t>
            </a:r>
            <a:r>
              <a:rPr lang="en-GB" dirty="0">
                <a:solidFill>
                  <a:srgbClr val="0B0C0C"/>
                </a:solidFill>
                <a:latin typeface="Arial" panose="020B0604020202020204" pitchFamily="34" charset="0"/>
                <a:cs typeface="Arial" panose="020B0604020202020204" pitchFamily="34" charset="0"/>
                <a:hlinkClick r:id="rId3"/>
              </a:rPr>
              <a:t>https://www.gov.uk/government/consultations/health-and-social-care-statistical-outputs/outcome/health-and-social-care-statistical-outputs-consultation-response#overarching-health-and-social-care-outputs</a:t>
            </a:r>
            <a:r>
              <a:rPr lang="en-GB" dirty="0">
                <a:solidFill>
                  <a:srgbClr val="0B0C0C"/>
                </a:solidFill>
                <a:latin typeface="Arial" panose="020B0604020202020204" pitchFamily="34" charset="0"/>
                <a:cs typeface="Arial" panose="020B0604020202020204" pitchFamily="34" charset="0"/>
              </a:rPr>
              <a:t>) </a:t>
            </a:r>
            <a:endParaRPr lang="en-GB" b="0" i="0" dirty="0">
              <a:solidFill>
                <a:srgbClr val="0B0C0C"/>
              </a:solidFill>
              <a:effectLst/>
              <a:latin typeface="Arial" panose="020B0604020202020204" pitchFamily="34" charset="0"/>
              <a:cs typeface="Arial" panose="020B0604020202020204" pitchFamily="34" charset="0"/>
            </a:endParaRPr>
          </a:p>
          <a:p>
            <a:pPr algn="l"/>
            <a:r>
              <a:rPr lang="en-GB" dirty="0">
                <a:solidFill>
                  <a:srgbClr val="0B0C0C"/>
                </a:solidFill>
                <a:latin typeface="Arial" panose="020B0604020202020204" pitchFamily="34" charset="0"/>
                <a:cs typeface="Arial" panose="020B0604020202020204" pitchFamily="34" charset="0"/>
              </a:rPr>
              <a:t>Last PHOF update report November 2025</a:t>
            </a:r>
            <a:endParaRPr lang="en-GB" b="0" i="0" dirty="0">
              <a:solidFill>
                <a:srgbClr val="0B0C0C"/>
              </a:solidFill>
              <a:effectLst/>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201012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3F9F5-FF23-4202-B549-3CC91806F6BB}"/>
              </a:ext>
            </a:extLst>
          </p:cNvPr>
          <p:cNvSpPr>
            <a:spLocks noGrp="1"/>
          </p:cNvSpPr>
          <p:nvPr>
            <p:ph type="title"/>
          </p:nvPr>
        </p:nvSpPr>
        <p:spPr/>
        <p:txBody>
          <a:bodyPr>
            <a:normAutofit/>
          </a:bodyPr>
          <a:lstStyle/>
          <a:p>
            <a:r>
              <a:rPr lang="en-US" sz="3600" b="1" i="1" dirty="0">
                <a:solidFill>
                  <a:srgbClr val="008080"/>
                </a:solidFill>
                <a:latin typeface="Arial" panose="020B0604020202020204" pitchFamily="34" charset="0"/>
                <a:cs typeface="Arial" panose="020B0604020202020204" pitchFamily="34" charset="0"/>
              </a:rPr>
              <a:t>What is an indicator?</a:t>
            </a:r>
            <a:endParaRPr lang="en-GB" sz="3600" b="1"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A33FE98-543D-4B2B-BB0F-DC821966736C}"/>
              </a:ext>
            </a:extLst>
          </p:cNvPr>
          <p:cNvSpPr>
            <a:spLocks noGrp="1"/>
          </p:cNvSpPr>
          <p:nvPr>
            <p:ph sz="half" idx="1"/>
          </p:nvPr>
        </p:nvSpPr>
        <p:spPr>
          <a:xfrm>
            <a:off x="346493" y="1730645"/>
            <a:ext cx="6054033" cy="4351338"/>
          </a:xfrm>
        </p:spPr>
        <p:txBody>
          <a:bodyPr>
            <a:normAutofit/>
          </a:bodyPr>
          <a:lstStyle/>
          <a:p>
            <a:pPr marL="342900" indent="-228600" defTabSz="914400">
              <a:lnSpc>
                <a:spcPct val="90000"/>
              </a:lnSpc>
              <a:spcBef>
                <a:spcPct val="20000"/>
              </a:spcBef>
              <a:spcAft>
                <a:spcPct val="20000"/>
              </a:spcAft>
              <a:buClr>
                <a:srgbClr val="C00000"/>
              </a:buClr>
              <a:buFont typeface="Arial" panose="020B0604020202020204" pitchFamily="34" charset="0"/>
              <a:buChar char="•"/>
              <a:defRPr/>
            </a:pPr>
            <a:r>
              <a:rPr lang="en-US" sz="2800" dirty="0">
                <a:latin typeface="Arial" panose="020B0604020202020204" pitchFamily="34" charset="0"/>
                <a:cs typeface="Arial" panose="020B0604020202020204" pitchFamily="34" charset="0"/>
              </a:rPr>
              <a:t>Specific, observable </a:t>
            </a:r>
            <a:r>
              <a:rPr lang="en-US" dirty="0">
                <a:latin typeface="Arial" panose="020B0604020202020204" pitchFamily="34" charset="0"/>
                <a:cs typeface="Arial" panose="020B0604020202020204" pitchFamily="34" charset="0"/>
              </a:rPr>
              <a:t>&amp;</a:t>
            </a:r>
            <a:r>
              <a:rPr lang="en-US" sz="2800" dirty="0">
                <a:latin typeface="Arial" panose="020B0604020202020204" pitchFamily="34" charset="0"/>
                <a:cs typeface="Arial" panose="020B0604020202020204" pitchFamily="34" charset="0"/>
              </a:rPr>
              <a:t> measurable characteristic</a:t>
            </a:r>
          </a:p>
          <a:p>
            <a:pPr marL="342900" indent="-228600" defTabSz="914400">
              <a:lnSpc>
                <a:spcPct val="90000"/>
              </a:lnSpc>
              <a:spcBef>
                <a:spcPct val="20000"/>
              </a:spcBef>
              <a:spcAft>
                <a:spcPct val="20000"/>
              </a:spcAft>
              <a:buClr>
                <a:srgbClr val="C00000"/>
              </a:buClr>
              <a:buFont typeface="Arial" panose="020B0604020202020204" pitchFamily="34" charset="0"/>
              <a:buChar char="•"/>
              <a:defRPr/>
            </a:pPr>
            <a:r>
              <a:rPr lang="en-US" sz="28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a:t>
            </a:r>
            <a:r>
              <a:rPr lang="en-US" sz="2800" dirty="0">
                <a:latin typeface="Arial" panose="020B0604020202020204" pitchFamily="34" charset="0"/>
                <a:cs typeface="Arial" panose="020B0604020202020204" pitchFamily="34" charset="0"/>
              </a:rPr>
              <a:t>sed to show changes/ progress  made towards achieving specific outcome</a:t>
            </a:r>
          </a:p>
          <a:p>
            <a:pPr marL="342900" indent="-228600" defTabSz="914400">
              <a:lnSpc>
                <a:spcPct val="90000"/>
              </a:lnSpc>
              <a:spcBef>
                <a:spcPct val="20000"/>
              </a:spcBef>
              <a:spcAft>
                <a:spcPct val="20000"/>
              </a:spcAft>
              <a:buClr>
                <a:srgbClr val="C00000"/>
              </a:buClr>
              <a:buFont typeface="Arial" panose="020B0604020202020204" pitchFamily="34" charset="0"/>
              <a:buChar char="•"/>
              <a:defRPr/>
            </a:pPr>
            <a:r>
              <a:rPr lang="en-US" sz="2800" dirty="0">
                <a:latin typeface="Arial" panose="020B0604020202020204" pitchFamily="34" charset="0"/>
                <a:cs typeface="Arial" panose="020B0604020202020204" pitchFamily="34" charset="0"/>
              </a:rPr>
              <a:t>Needs precise, unambiguous definition to describe clearly </a:t>
            </a:r>
            <a:r>
              <a:rPr lang="en-US" dirty="0">
                <a:latin typeface="Arial" panose="020B0604020202020204" pitchFamily="34" charset="0"/>
                <a:cs typeface="Arial" panose="020B0604020202020204" pitchFamily="34" charset="0"/>
              </a:rPr>
              <a:t>&amp;</a:t>
            </a:r>
            <a:r>
              <a:rPr lang="en-US" sz="2800" dirty="0">
                <a:latin typeface="Arial" panose="020B0604020202020204" pitchFamily="34" charset="0"/>
                <a:cs typeface="Arial" panose="020B0604020202020204" pitchFamily="34" charset="0"/>
              </a:rPr>
              <a:t> exactly what is being measured</a:t>
            </a:r>
            <a:endParaRPr lang="en-GB"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E16D7FC-216B-4821-B02E-D60F881EEDDD}"/>
              </a:ext>
            </a:extLst>
          </p:cNvPr>
          <p:cNvPicPr>
            <a:picLocks noChangeAspect="1"/>
          </p:cNvPicPr>
          <p:nvPr/>
        </p:nvPicPr>
        <p:blipFill>
          <a:blip r:embed="rId2"/>
          <a:stretch>
            <a:fillRect/>
          </a:stretch>
        </p:blipFill>
        <p:spPr>
          <a:xfrm>
            <a:off x="7520648" y="1465523"/>
            <a:ext cx="2267909" cy="585267"/>
          </a:xfrm>
          <a:prstGeom prst="rect">
            <a:avLst/>
          </a:prstGeom>
        </p:spPr>
      </p:pic>
      <p:sp>
        <p:nvSpPr>
          <p:cNvPr id="14" name="Content Placeholder 13">
            <a:extLst>
              <a:ext uri="{FF2B5EF4-FFF2-40B4-BE49-F238E27FC236}">
                <a16:creationId xmlns:a16="http://schemas.microsoft.com/office/drawing/2014/main" id="{235E5E22-EF3C-4510-8FA2-83D962155807}"/>
              </a:ext>
            </a:extLst>
          </p:cNvPr>
          <p:cNvSpPr>
            <a:spLocks noGrp="1"/>
          </p:cNvSpPr>
          <p:nvPr>
            <p:ph sz="half" idx="2"/>
          </p:nvPr>
        </p:nvSpPr>
        <p:spPr>
          <a:xfrm>
            <a:off x="6495416" y="1690688"/>
            <a:ext cx="5564311" cy="5150074"/>
          </a:xfrm>
        </p:spPr>
        <p:txBody>
          <a:bodyPr>
            <a:normAutofit/>
          </a:bodyPr>
          <a:lstStyle/>
          <a:p>
            <a:pPr marL="566928">
              <a:buClr>
                <a:srgbClr val="C00000"/>
              </a:buClr>
              <a:defRPr/>
            </a:pPr>
            <a:r>
              <a:rPr lang="en-US" dirty="0">
                <a:latin typeface="Arial" panose="020B0604020202020204" pitchFamily="34" charset="0"/>
                <a:cs typeface="Arial" panose="020B0604020202020204" pitchFamily="34" charset="0"/>
              </a:rPr>
              <a:t>Selected via consultations with wide group of stakeholders &amp; experts</a:t>
            </a:r>
          </a:p>
          <a:p>
            <a:pPr marL="566928">
              <a:buClr>
                <a:srgbClr val="C00000"/>
              </a:buClr>
              <a:defRPr/>
            </a:pPr>
            <a:r>
              <a:rPr lang="en-US" dirty="0">
                <a:latin typeface="Arial" panose="020B0604020202020204" pitchFamily="34" charset="0"/>
                <a:cs typeface="Arial" panose="020B0604020202020204" pitchFamily="34" charset="0"/>
              </a:rPr>
              <a:t>Robust criteria for inclusion  agreed via consultations &amp; expert input</a:t>
            </a:r>
          </a:p>
          <a:p>
            <a:pPr marL="566928">
              <a:buClr>
                <a:srgbClr val="C00000"/>
              </a:buClr>
              <a:defRPr/>
            </a:pPr>
            <a:r>
              <a:rPr lang="en-US" dirty="0">
                <a:latin typeface="Arial" panose="020B0604020202020204" pitchFamily="34" charset="0"/>
                <a:cs typeface="Arial" panose="020B0604020202020204" pitchFamily="34" charset="0"/>
              </a:rPr>
              <a:t>Life course approach an integral part of design of each domain; indicators within that domain required to cover all stages of life</a:t>
            </a:r>
          </a:p>
          <a:p>
            <a:endParaRPr lang="en-GB" dirty="0"/>
          </a:p>
        </p:txBody>
      </p:sp>
      <p:pic>
        <p:nvPicPr>
          <p:cNvPr id="16" name="Picture 15">
            <a:extLst>
              <a:ext uri="{FF2B5EF4-FFF2-40B4-BE49-F238E27FC236}">
                <a16:creationId xmlns:a16="http://schemas.microsoft.com/office/drawing/2014/main" id="{5F6BD79C-76E0-4233-9561-BF3E3A160B35}"/>
              </a:ext>
            </a:extLst>
          </p:cNvPr>
          <p:cNvPicPr>
            <a:picLocks noChangeAspect="1"/>
          </p:cNvPicPr>
          <p:nvPr/>
        </p:nvPicPr>
        <p:blipFill>
          <a:blip r:embed="rId3"/>
          <a:stretch>
            <a:fillRect/>
          </a:stretch>
        </p:blipFill>
        <p:spPr>
          <a:xfrm>
            <a:off x="10358682" y="17238"/>
            <a:ext cx="1623534" cy="1448285"/>
          </a:xfrm>
          <a:prstGeom prst="rect">
            <a:avLst/>
          </a:prstGeom>
        </p:spPr>
      </p:pic>
    </p:spTree>
    <p:extLst>
      <p:ext uri="{BB962C8B-B14F-4D97-AF65-F5344CB8AC3E}">
        <p14:creationId xmlns:p14="http://schemas.microsoft.com/office/powerpoint/2010/main" val="2190581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medical framework&#10;&#10;Description automatically generated">
            <a:extLst>
              <a:ext uri="{FF2B5EF4-FFF2-40B4-BE49-F238E27FC236}">
                <a16:creationId xmlns:a16="http://schemas.microsoft.com/office/drawing/2014/main" id="{0740068B-CA08-A66C-8696-4687DA102F18}"/>
              </a:ext>
            </a:extLst>
          </p:cNvPr>
          <p:cNvPicPr>
            <a:picLocks noChangeAspect="1"/>
          </p:cNvPicPr>
          <p:nvPr/>
        </p:nvPicPr>
        <p:blipFill>
          <a:blip r:embed="rId2"/>
          <a:stretch>
            <a:fillRect/>
          </a:stretch>
        </p:blipFill>
        <p:spPr>
          <a:xfrm>
            <a:off x="976423" y="0"/>
            <a:ext cx="10239153" cy="6858000"/>
          </a:xfrm>
          <a:prstGeom prst="rect">
            <a:avLst/>
          </a:prstGeom>
        </p:spPr>
      </p:pic>
    </p:spTree>
    <p:extLst>
      <p:ext uri="{BB962C8B-B14F-4D97-AF65-F5344CB8AC3E}">
        <p14:creationId xmlns:p14="http://schemas.microsoft.com/office/powerpoint/2010/main" val="2913200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9387A87-091A-D81C-AAF8-8A1BB7E80CC4}"/>
              </a:ext>
            </a:extLst>
          </p:cNvPr>
          <p:cNvSpPr txBox="1"/>
          <p:nvPr/>
        </p:nvSpPr>
        <p:spPr>
          <a:xfrm>
            <a:off x="557561" y="356839"/>
            <a:ext cx="5084956" cy="1200329"/>
          </a:xfrm>
          <a:prstGeom prst="rect">
            <a:avLst/>
          </a:prstGeom>
          <a:noFill/>
        </p:spPr>
        <p:txBody>
          <a:bodyPr wrap="square" rtlCol="0">
            <a:spAutoFit/>
          </a:bodyPr>
          <a:lstStyle/>
          <a:p>
            <a:r>
              <a:rPr lang="en-GB" sz="3600" b="1" i="1" dirty="0">
                <a:solidFill>
                  <a:srgbClr val="008080"/>
                </a:solidFill>
                <a:latin typeface="Arial" panose="020B0604020202020204" pitchFamily="34" charset="0"/>
                <a:cs typeface="Arial" panose="020B0604020202020204" pitchFamily="34" charset="0"/>
              </a:rPr>
              <a:t>Examples of current indicators</a:t>
            </a:r>
          </a:p>
        </p:txBody>
      </p:sp>
      <p:pic>
        <p:nvPicPr>
          <p:cNvPr id="3" name="Picture 2">
            <a:extLst>
              <a:ext uri="{FF2B5EF4-FFF2-40B4-BE49-F238E27FC236}">
                <a16:creationId xmlns:a16="http://schemas.microsoft.com/office/drawing/2014/main" id="{AC9602D8-C02C-37F3-A61F-C56BBB132454}"/>
              </a:ext>
            </a:extLst>
          </p:cNvPr>
          <p:cNvPicPr>
            <a:picLocks noChangeAspect="1"/>
          </p:cNvPicPr>
          <p:nvPr/>
        </p:nvPicPr>
        <p:blipFill>
          <a:blip r:embed="rId3"/>
          <a:stretch>
            <a:fillRect/>
          </a:stretch>
        </p:blipFill>
        <p:spPr>
          <a:xfrm>
            <a:off x="119725" y="1810933"/>
            <a:ext cx="5448397" cy="3571950"/>
          </a:xfrm>
          <a:prstGeom prst="rect">
            <a:avLst/>
          </a:prstGeom>
        </p:spPr>
      </p:pic>
      <p:pic>
        <p:nvPicPr>
          <p:cNvPr id="6" name="Picture 5">
            <a:extLst>
              <a:ext uri="{FF2B5EF4-FFF2-40B4-BE49-F238E27FC236}">
                <a16:creationId xmlns:a16="http://schemas.microsoft.com/office/drawing/2014/main" id="{1D439126-47E8-290A-B1C4-B885DBBA81BB}"/>
              </a:ext>
            </a:extLst>
          </p:cNvPr>
          <p:cNvPicPr>
            <a:picLocks noChangeAspect="1"/>
          </p:cNvPicPr>
          <p:nvPr/>
        </p:nvPicPr>
        <p:blipFill>
          <a:blip r:embed="rId4"/>
          <a:stretch>
            <a:fillRect/>
          </a:stretch>
        </p:blipFill>
        <p:spPr>
          <a:xfrm>
            <a:off x="6186042" y="646982"/>
            <a:ext cx="5765194" cy="4057384"/>
          </a:xfrm>
          <a:prstGeom prst="rect">
            <a:avLst/>
          </a:prstGeom>
        </p:spPr>
      </p:pic>
      <p:sp>
        <p:nvSpPr>
          <p:cNvPr id="11" name="TextBox 10">
            <a:extLst>
              <a:ext uri="{FF2B5EF4-FFF2-40B4-BE49-F238E27FC236}">
                <a16:creationId xmlns:a16="http://schemas.microsoft.com/office/drawing/2014/main" id="{7592D9E6-4800-E1AE-EB75-C20A814FD720}"/>
              </a:ext>
            </a:extLst>
          </p:cNvPr>
          <p:cNvSpPr txBox="1"/>
          <p:nvPr/>
        </p:nvSpPr>
        <p:spPr>
          <a:xfrm>
            <a:off x="5525831" y="5300832"/>
            <a:ext cx="6097904" cy="1292662"/>
          </a:xfrm>
          <a:prstGeom prst="rect">
            <a:avLst/>
          </a:prstGeom>
          <a:noFill/>
        </p:spPr>
        <p:txBody>
          <a:bodyPr wrap="square">
            <a:spAutoFit/>
          </a:bodyPr>
          <a:lstStyle/>
          <a:p>
            <a:r>
              <a:rPr lang="en-GB" sz="2000" i="1" dirty="0">
                <a:latin typeface="Arial" panose="020B0604020202020204" pitchFamily="34" charset="0"/>
                <a:cs typeface="Arial" panose="020B0604020202020204" pitchFamily="34" charset="0"/>
                <a:hlinkClick r:id="rId5"/>
              </a:rPr>
              <a:t>https://fingertips.phe.org.uk/documents/Public%20Health%20Outcomes%20Framework%20at%20a%20glance%20-England%20November%202025.html</a:t>
            </a:r>
            <a:endParaRPr lang="en-GB" sz="2000" i="1"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3068693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18BB5-8348-57F6-AC6D-76FFEF4C301C}"/>
              </a:ext>
            </a:extLst>
          </p:cNvPr>
          <p:cNvSpPr>
            <a:spLocks noGrp="1"/>
          </p:cNvSpPr>
          <p:nvPr>
            <p:ph type="title"/>
          </p:nvPr>
        </p:nvSpPr>
        <p:spPr>
          <a:xfrm>
            <a:off x="916469" y="65163"/>
            <a:ext cx="11275531" cy="849238"/>
          </a:xfrm>
        </p:spPr>
        <p:txBody>
          <a:bodyPr>
            <a:normAutofit/>
          </a:bodyPr>
          <a:lstStyle/>
          <a:p>
            <a:pPr algn="ctr"/>
            <a:r>
              <a:rPr lang="en-GB" sz="3600" b="1" i="1" dirty="0">
                <a:solidFill>
                  <a:srgbClr val="008080"/>
                </a:solidFill>
                <a:latin typeface="Arial" panose="020B0604020202020204" pitchFamily="34" charset="0"/>
                <a:cs typeface="Arial" panose="020B0604020202020204" pitchFamily="34" charset="0"/>
              </a:rPr>
              <a:t>PHOF, local authorities &amp; the NHS</a:t>
            </a:r>
          </a:p>
        </p:txBody>
      </p:sp>
      <p:sp>
        <p:nvSpPr>
          <p:cNvPr id="3" name="Content Placeholder 2">
            <a:extLst>
              <a:ext uri="{FF2B5EF4-FFF2-40B4-BE49-F238E27FC236}">
                <a16:creationId xmlns:a16="http://schemas.microsoft.com/office/drawing/2014/main" id="{AE810FB0-3FA3-D8BD-ED0C-1F65E58849E3}"/>
              </a:ext>
            </a:extLst>
          </p:cNvPr>
          <p:cNvSpPr>
            <a:spLocks noGrp="1"/>
          </p:cNvSpPr>
          <p:nvPr>
            <p:ph sz="half" idx="1"/>
          </p:nvPr>
        </p:nvSpPr>
        <p:spPr>
          <a:xfrm>
            <a:off x="232913" y="914401"/>
            <a:ext cx="6120844" cy="6021237"/>
          </a:xfrm>
        </p:spPr>
        <p:txBody>
          <a:bodyPr vert="horz" lIns="91440" tIns="45720" rIns="91440" bIns="45720" rtlCol="0" anchor="t">
            <a:normAutofit fontScale="77500" lnSpcReduction="20000"/>
          </a:bodyPr>
          <a:lstStyle/>
          <a:p>
            <a:pPr marL="457200" lvl="1" indent="0">
              <a:lnSpc>
                <a:spcPct val="120000"/>
              </a:lnSpc>
              <a:spcBef>
                <a:spcPts val="0"/>
              </a:spcBef>
              <a:buClr>
                <a:srgbClr val="C00000"/>
              </a:buClr>
              <a:buNone/>
            </a:pPr>
            <a:r>
              <a:rPr lang="en-IN" sz="3600" b="1" u="sng" dirty="0">
                <a:latin typeface="Arial"/>
                <a:cs typeface="Arial"/>
              </a:rPr>
              <a:t>Local authorities</a:t>
            </a:r>
            <a:r>
              <a:rPr lang="en-IN" sz="3600" dirty="0">
                <a:latin typeface="Arial"/>
                <a:cs typeface="Arial"/>
              </a:rPr>
              <a:t>:</a:t>
            </a:r>
          </a:p>
          <a:p>
            <a:pPr marL="457200" lvl="1" indent="0">
              <a:lnSpc>
                <a:spcPct val="120000"/>
              </a:lnSpc>
              <a:spcBef>
                <a:spcPts val="0"/>
              </a:spcBef>
              <a:buClr>
                <a:srgbClr val="C00000"/>
              </a:buClr>
              <a:buNone/>
            </a:pPr>
            <a:endParaRPr lang="en-IN" sz="3600" dirty="0">
              <a:latin typeface="Arial"/>
              <a:cs typeface="Arial"/>
            </a:endParaRPr>
          </a:p>
          <a:p>
            <a:pPr lvl="1">
              <a:lnSpc>
                <a:spcPct val="120000"/>
              </a:lnSpc>
              <a:spcBef>
                <a:spcPts val="0"/>
              </a:spcBef>
              <a:buClr>
                <a:srgbClr val="C00000"/>
              </a:buClr>
              <a:buFont typeface="Arial" panose="020B0604020202020204" pitchFamily="34" charset="0"/>
              <a:buChar char="•"/>
            </a:pPr>
            <a:r>
              <a:rPr lang="en-IN" sz="3600" dirty="0">
                <a:latin typeface="Arial"/>
                <a:cs typeface="Arial"/>
              </a:rPr>
              <a:t>Indicators that best reflect local health needs (set out in JSNA and reflected in the Joint Health and Wellbeing Strategy)</a:t>
            </a:r>
            <a:endParaRPr lang="en-IN" sz="3600" dirty="0">
              <a:latin typeface="Arial" panose="020B0604020202020204" pitchFamily="34" charset="0"/>
              <a:cs typeface="Arial" panose="020B0604020202020204" pitchFamily="34" charset="0"/>
            </a:endParaRPr>
          </a:p>
          <a:p>
            <a:pPr lvl="1">
              <a:lnSpc>
                <a:spcPct val="120000"/>
              </a:lnSpc>
              <a:spcBef>
                <a:spcPts val="0"/>
              </a:spcBef>
              <a:buClr>
                <a:srgbClr val="C00000"/>
              </a:buClr>
              <a:buFont typeface="Arial" panose="020B0604020202020204" pitchFamily="34" charset="0"/>
              <a:buChar char="•"/>
            </a:pPr>
            <a:r>
              <a:rPr lang="en-IN" sz="3600" dirty="0">
                <a:latin typeface="Arial" panose="020B0604020202020204" pitchFamily="34" charset="0"/>
                <a:cs typeface="Arial" panose="020B0604020202020204" pitchFamily="34" charset="0"/>
              </a:rPr>
              <a:t>PHOF: essential tool for driving local sector-led improvement (provides data in PHOF for benchmarking)</a:t>
            </a:r>
          </a:p>
          <a:p>
            <a:pPr lvl="1">
              <a:lnSpc>
                <a:spcPct val="120000"/>
              </a:lnSpc>
              <a:spcBef>
                <a:spcPts val="0"/>
              </a:spcBef>
              <a:buClr>
                <a:srgbClr val="C00000"/>
              </a:buClr>
              <a:buFont typeface="Arial" panose="020B0604020202020204" pitchFamily="34" charset="0"/>
              <a:buChar char="•"/>
            </a:pPr>
            <a:r>
              <a:rPr lang="en-US" sz="3600" dirty="0">
                <a:latin typeface="Arial" panose="020B0604020202020204" pitchFamily="34" charset="0"/>
                <a:cs typeface="Arial" panose="020B0604020202020204" pitchFamily="34" charset="0"/>
              </a:rPr>
              <a:t>Accountability at local level with CCG</a:t>
            </a:r>
            <a:endParaRPr lang="en-GB" sz="3600" dirty="0">
              <a:latin typeface="Arial" panose="020B0604020202020204" pitchFamily="34" charset="0"/>
              <a:cs typeface="Arial" panose="020B0604020202020204" pitchFamily="34" charset="0"/>
            </a:endParaRPr>
          </a:p>
          <a:p>
            <a:endParaRPr lang="en-GB" dirty="0"/>
          </a:p>
        </p:txBody>
      </p:sp>
      <p:sp>
        <p:nvSpPr>
          <p:cNvPr id="4" name="Content Placeholder 3">
            <a:extLst>
              <a:ext uri="{FF2B5EF4-FFF2-40B4-BE49-F238E27FC236}">
                <a16:creationId xmlns:a16="http://schemas.microsoft.com/office/drawing/2014/main" id="{D815FA82-A442-398F-E4B3-FFEE019FCA8A}"/>
              </a:ext>
            </a:extLst>
          </p:cNvPr>
          <p:cNvSpPr>
            <a:spLocks noGrp="1"/>
          </p:cNvSpPr>
          <p:nvPr>
            <p:ph sz="half" idx="2"/>
          </p:nvPr>
        </p:nvSpPr>
        <p:spPr>
          <a:xfrm>
            <a:off x="6621579" y="914401"/>
            <a:ext cx="5455401" cy="5878436"/>
          </a:xfrm>
        </p:spPr>
        <p:txBody>
          <a:bodyPr>
            <a:normAutofit fontScale="77500" lnSpcReduction="20000"/>
          </a:bodyPr>
          <a:lstStyle/>
          <a:p>
            <a:pPr marL="457200" lvl="1" indent="0">
              <a:lnSpc>
                <a:spcPct val="120000"/>
              </a:lnSpc>
              <a:spcBef>
                <a:spcPts val="0"/>
              </a:spcBef>
              <a:buClr>
                <a:srgbClr val="C00000"/>
              </a:buClr>
              <a:buNone/>
            </a:pPr>
            <a:r>
              <a:rPr lang="en-IN" sz="3600" b="1" u="sng" dirty="0">
                <a:latin typeface="Arial" panose="020B0604020202020204" pitchFamily="34" charset="0"/>
                <a:cs typeface="Arial" panose="020B0604020202020204" pitchFamily="34" charset="0"/>
              </a:rPr>
              <a:t>NHS:</a:t>
            </a:r>
          </a:p>
          <a:p>
            <a:pPr marL="914400" lvl="1" indent="-457200">
              <a:lnSpc>
                <a:spcPct val="120000"/>
              </a:lnSpc>
              <a:spcBef>
                <a:spcPts val="0"/>
              </a:spcBef>
              <a:buClr>
                <a:srgbClr val="C00000"/>
              </a:buClr>
              <a:buFont typeface="Arial" panose="020B0604020202020204" pitchFamily="34" charset="0"/>
              <a:buChar char="•"/>
            </a:pPr>
            <a:r>
              <a:rPr lang="en-IN" sz="3600" dirty="0">
                <a:latin typeface="Arial" panose="020B0604020202020204" pitchFamily="34" charset="0"/>
                <a:cs typeface="Arial" panose="020B0604020202020204" pitchFamily="34" charset="0"/>
              </a:rPr>
              <a:t>Delivering specific health programmes e.g. immunisations/ screening, providing health improvement advice (MECC) &amp; </a:t>
            </a:r>
            <a:r>
              <a:rPr lang="en-IN" sz="3600" dirty="0">
                <a:latin typeface="Arial" panose="020B0604020202020204" pitchFamily="34" charset="0"/>
                <a:cs typeface="Arial" panose="020B0604020202020204" pitchFamily="34" charset="0"/>
                <a:sym typeface="Symbol" panose="05050102010706020507" pitchFamily="18" charset="2"/>
              </a:rPr>
              <a:t></a:t>
            </a:r>
            <a:r>
              <a:rPr lang="en-IN" sz="3600" dirty="0">
                <a:latin typeface="Arial" panose="020B0604020202020204" pitchFamily="34" charset="0"/>
                <a:cs typeface="Arial" panose="020B0604020202020204" pitchFamily="34" charset="0"/>
              </a:rPr>
              <a:t> preventable mortality </a:t>
            </a:r>
          </a:p>
          <a:p>
            <a:pPr marL="914400" lvl="1" indent="-457200">
              <a:lnSpc>
                <a:spcPct val="120000"/>
              </a:lnSpc>
              <a:spcBef>
                <a:spcPts val="0"/>
              </a:spcBef>
              <a:buClr>
                <a:srgbClr val="C00000"/>
              </a:buClr>
              <a:buFont typeface="Arial" panose="020B0604020202020204" pitchFamily="34" charset="0"/>
              <a:buChar char="•"/>
            </a:pPr>
            <a:r>
              <a:rPr lang="en-IN" sz="3600" dirty="0">
                <a:latin typeface="Arial" panose="020B0604020202020204" pitchFamily="34" charset="0"/>
                <a:cs typeface="Arial" panose="020B0604020202020204" pitchFamily="34" charset="0"/>
              </a:rPr>
              <a:t>Example: Aim to deliver improvements against cancer screening coverage (Domain 2)  &amp; premature mortality (Domain 4)</a:t>
            </a:r>
            <a:endParaRPr lang="en-IN" sz="3600" b="1"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4257493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5D3E-4F7A-49EB-B73E-42EA66C62AC5}"/>
              </a:ext>
            </a:extLst>
          </p:cNvPr>
          <p:cNvSpPr>
            <a:spLocks noGrp="1"/>
          </p:cNvSpPr>
          <p:nvPr>
            <p:ph type="title"/>
          </p:nvPr>
        </p:nvSpPr>
        <p:spPr>
          <a:xfrm>
            <a:off x="60385" y="158091"/>
            <a:ext cx="11921706" cy="877079"/>
          </a:xfrm>
        </p:spPr>
        <p:txBody>
          <a:bodyPr>
            <a:normAutofit fontScale="90000"/>
          </a:bodyPr>
          <a:lstStyle/>
          <a:p>
            <a:pPr algn="ctr"/>
            <a:br>
              <a:rPr lang="en-GB" sz="4400" b="1" kern="0" dirty="0">
                <a:solidFill>
                  <a:schemeClr val="tx1"/>
                </a:solidFill>
                <a:latin typeface="+mn-lt"/>
              </a:rPr>
            </a:br>
            <a:r>
              <a:rPr lang="en-GB" sz="4000" b="1" i="1" kern="0" dirty="0">
                <a:solidFill>
                  <a:srgbClr val="008080"/>
                </a:solidFill>
                <a:latin typeface="Arial" panose="020B0604020202020204" pitchFamily="34" charset="0"/>
                <a:cs typeface="Arial" panose="020B0604020202020204" pitchFamily="34" charset="0"/>
              </a:rPr>
              <a:t>Domain 1: Improving wider determinants of health</a:t>
            </a:r>
            <a:br>
              <a:rPr lang="en-GB" sz="4400" b="1" kern="0" dirty="0">
                <a:solidFill>
                  <a:schemeClr val="tx1"/>
                </a:solidFill>
                <a:latin typeface="+mj-lt"/>
              </a:rPr>
            </a:br>
            <a:endParaRPr lang="en-GB" dirty="0"/>
          </a:p>
        </p:txBody>
      </p:sp>
      <p:sp>
        <p:nvSpPr>
          <p:cNvPr id="3" name="Content Placeholder 2">
            <a:extLst>
              <a:ext uri="{FF2B5EF4-FFF2-40B4-BE49-F238E27FC236}">
                <a16:creationId xmlns:a16="http://schemas.microsoft.com/office/drawing/2014/main" id="{110044B1-1E67-4B35-A6DD-725948750FFE}"/>
              </a:ext>
            </a:extLst>
          </p:cNvPr>
          <p:cNvSpPr>
            <a:spLocks noGrp="1"/>
          </p:cNvSpPr>
          <p:nvPr>
            <p:ph idx="1"/>
          </p:nvPr>
        </p:nvSpPr>
        <p:spPr>
          <a:xfrm>
            <a:off x="424132" y="947212"/>
            <a:ext cx="11921705" cy="5450772"/>
          </a:xfrm>
        </p:spPr>
        <p:txBody>
          <a:bodyPr>
            <a:normAutofit fontScale="77500" lnSpcReduction="20000"/>
          </a:bodyPr>
          <a:lstStyle/>
          <a:p>
            <a:pPr>
              <a:lnSpc>
                <a:spcPct val="90000"/>
              </a:lnSpc>
              <a:buClr>
                <a:srgbClr val="C00000"/>
              </a:buClr>
            </a:pPr>
            <a:endParaRPr lang="en-GB" altLang="en-US" sz="2800" kern="0" dirty="0"/>
          </a:p>
          <a:p>
            <a:pPr>
              <a:lnSpc>
                <a:spcPct val="120000"/>
              </a:lnSpc>
              <a:buClr>
                <a:srgbClr val="C00000"/>
              </a:buClr>
            </a:pPr>
            <a:r>
              <a:rPr lang="en-US" altLang="en-US" sz="3600" dirty="0">
                <a:solidFill>
                  <a:schemeClr val="tx1"/>
                </a:solidFill>
                <a:latin typeface="Arial" panose="020B0604020202020204" pitchFamily="34" charset="0"/>
                <a:cs typeface="Arial" panose="020B0604020202020204" pitchFamily="34" charset="0"/>
              </a:rPr>
              <a:t>Objective: Improvement against wider factors that affect health, wellbeing &amp; health inequalities</a:t>
            </a:r>
          </a:p>
          <a:p>
            <a:pPr>
              <a:lnSpc>
                <a:spcPct val="120000"/>
              </a:lnSpc>
              <a:buClr>
                <a:srgbClr val="C00000"/>
              </a:buClr>
            </a:pPr>
            <a:endParaRPr lang="en-GB" altLang="en-US" sz="3600" kern="0" dirty="0">
              <a:latin typeface="Arial" panose="020B0604020202020204" pitchFamily="34" charset="0"/>
              <a:cs typeface="Arial" panose="020B0604020202020204" pitchFamily="34" charset="0"/>
            </a:endParaRPr>
          </a:p>
          <a:p>
            <a:pPr>
              <a:lnSpc>
                <a:spcPct val="120000"/>
              </a:lnSpc>
              <a:buClr>
                <a:srgbClr val="C00000"/>
              </a:buClr>
            </a:pPr>
            <a:r>
              <a:rPr lang="en-GB" altLang="en-US" sz="3600" kern="0" dirty="0">
                <a:latin typeface="Arial" panose="020B0604020202020204" pitchFamily="34" charset="0"/>
                <a:cs typeface="Arial" panose="020B0604020202020204" pitchFamily="34" charset="0"/>
              </a:rPr>
              <a:t>Indicators included have a significant impact on health &amp; wellbeing (Marmot report)</a:t>
            </a:r>
          </a:p>
          <a:p>
            <a:pPr>
              <a:lnSpc>
                <a:spcPct val="120000"/>
              </a:lnSpc>
              <a:buClr>
                <a:srgbClr val="C00000"/>
              </a:buClr>
            </a:pPr>
            <a:endParaRPr lang="en-GB" altLang="en-US" sz="3600" kern="0" dirty="0">
              <a:latin typeface="Arial" panose="020B0604020202020204" pitchFamily="34" charset="0"/>
              <a:cs typeface="Arial" panose="020B0604020202020204" pitchFamily="34" charset="0"/>
            </a:endParaRPr>
          </a:p>
          <a:p>
            <a:pPr>
              <a:lnSpc>
                <a:spcPct val="120000"/>
              </a:lnSpc>
              <a:buClr>
                <a:srgbClr val="C00000"/>
              </a:buClr>
            </a:pPr>
            <a:r>
              <a:rPr lang="en-GB" altLang="en-US" sz="3600" kern="0" dirty="0">
                <a:latin typeface="Arial" panose="020B0604020202020204" pitchFamily="34" charset="0"/>
                <a:cs typeface="Arial" panose="020B0604020202020204" pitchFamily="34" charset="0"/>
              </a:rPr>
              <a:t>Cross-agency working essential to meets these outcomes. include:</a:t>
            </a:r>
          </a:p>
          <a:p>
            <a:pPr marL="635000" lvl="1" indent="0">
              <a:lnSpc>
                <a:spcPct val="120000"/>
              </a:lnSpc>
              <a:buClr>
                <a:srgbClr val="C00000"/>
              </a:buClr>
              <a:buNone/>
            </a:pPr>
            <a:r>
              <a:rPr lang="en-GB" altLang="en-US" sz="3600" kern="0" dirty="0">
                <a:latin typeface="Arial" panose="020B0604020202020204" pitchFamily="34" charset="0"/>
                <a:cs typeface="Arial" panose="020B0604020202020204" pitchFamily="34" charset="0"/>
              </a:rPr>
              <a:t>LA with the partners (social services/ NHS/etc); Police and criminal justice system; Schools; Employers; Business &amp; voluntary sector</a:t>
            </a:r>
            <a:endParaRPr lang="en-GB" sz="3600" dirty="0"/>
          </a:p>
        </p:txBody>
      </p:sp>
    </p:spTree>
    <p:extLst>
      <p:ext uri="{BB962C8B-B14F-4D97-AF65-F5344CB8AC3E}">
        <p14:creationId xmlns:p14="http://schemas.microsoft.com/office/powerpoint/2010/main" val="3407801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68418-80A0-4F85-8EBA-C8726A8FE20E}"/>
              </a:ext>
            </a:extLst>
          </p:cNvPr>
          <p:cNvSpPr>
            <a:spLocks noGrp="1"/>
          </p:cNvSpPr>
          <p:nvPr>
            <p:ph type="title"/>
          </p:nvPr>
        </p:nvSpPr>
        <p:spPr>
          <a:xfrm>
            <a:off x="984849" y="97706"/>
            <a:ext cx="10515600" cy="1325563"/>
          </a:xfrm>
        </p:spPr>
        <p:txBody>
          <a:bodyPr>
            <a:normAutofit/>
          </a:bodyPr>
          <a:lstStyle/>
          <a:p>
            <a:pPr algn="ctr"/>
            <a:r>
              <a:rPr lang="en-US" sz="3600" b="1" i="1" kern="1200" dirty="0">
                <a:solidFill>
                  <a:srgbClr val="008080"/>
                </a:solidFill>
                <a:latin typeface="Arial" panose="020B0604020202020204" pitchFamily="34" charset="0"/>
                <a:cs typeface="Arial" panose="020B0604020202020204" pitchFamily="34" charset="0"/>
              </a:rPr>
              <a:t>Domain 2: Health improvement</a:t>
            </a:r>
            <a:endParaRPr lang="en-GB" sz="3600" i="1" dirty="0">
              <a:solidFill>
                <a:srgbClr val="00808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0A6CFB5-6756-451D-8A9A-783A99FC0F64}"/>
              </a:ext>
            </a:extLst>
          </p:cNvPr>
          <p:cNvSpPr>
            <a:spLocks noGrp="1"/>
          </p:cNvSpPr>
          <p:nvPr>
            <p:ph sz="half" idx="1"/>
          </p:nvPr>
        </p:nvSpPr>
        <p:spPr>
          <a:xfrm>
            <a:off x="588034" y="1523700"/>
            <a:ext cx="5181600" cy="4351338"/>
          </a:xfrm>
        </p:spPr>
        <p:txBody>
          <a:bodyPr/>
          <a:lstStyle/>
          <a:p>
            <a:pPr indent="-228600" defTabSz="914400">
              <a:lnSpc>
                <a:spcPct val="100000"/>
              </a:lnSpc>
              <a:spcBef>
                <a:spcPts val="0"/>
              </a:spcBef>
              <a:buClr>
                <a:srgbClr val="C00000"/>
              </a:buClr>
              <a:buFont typeface="Arial" panose="020B0604020202020204" pitchFamily="34" charset="0"/>
              <a:buChar char="•"/>
            </a:pPr>
            <a:r>
              <a:rPr lang="en-US" altLang="en-US" sz="2800" dirty="0">
                <a:solidFill>
                  <a:schemeClr val="tx1"/>
                </a:solidFill>
                <a:latin typeface="Arial" panose="020B0604020202020204" pitchFamily="34" charset="0"/>
                <a:cs typeface="Arial" panose="020B0604020202020204" pitchFamily="34" charset="0"/>
              </a:rPr>
              <a:t>Focused on actions to help people make healthy choices </a:t>
            </a:r>
            <a:r>
              <a:rPr lang="en-US" altLang="en-US" dirty="0">
                <a:latin typeface="Arial" panose="020B0604020202020204" pitchFamily="34" charset="0"/>
                <a:cs typeface="Arial" panose="020B0604020202020204" pitchFamily="34" charset="0"/>
              </a:rPr>
              <a:t>&amp;</a:t>
            </a:r>
            <a:r>
              <a:rPr lang="en-US" altLang="en-US" sz="2800" dirty="0">
                <a:solidFill>
                  <a:schemeClr val="tx1"/>
                </a:solidFill>
                <a:latin typeface="Arial" panose="020B0604020202020204" pitchFamily="34" charset="0"/>
                <a:cs typeface="Arial" panose="020B0604020202020204" pitchFamily="34" charset="0"/>
              </a:rPr>
              <a:t> lead healthy lifestyles</a:t>
            </a:r>
          </a:p>
          <a:p>
            <a:pPr indent="-228600" defTabSz="914400">
              <a:lnSpc>
                <a:spcPct val="100000"/>
              </a:lnSpc>
              <a:spcBef>
                <a:spcPts val="0"/>
              </a:spcBef>
              <a:buClr>
                <a:srgbClr val="C00000"/>
              </a:buClr>
              <a:buFont typeface="Arial" panose="020B0604020202020204" pitchFamily="34" charset="0"/>
              <a:buChar char="•"/>
            </a:pPr>
            <a:r>
              <a:rPr lang="en-US" altLang="en-US" sz="2800" dirty="0">
                <a:solidFill>
                  <a:schemeClr val="tx1"/>
                </a:solidFill>
                <a:latin typeface="Arial" panose="020B0604020202020204" pitchFamily="34" charset="0"/>
                <a:cs typeface="Arial" panose="020B0604020202020204" pitchFamily="34" charset="0"/>
              </a:rPr>
              <a:t>Based on health improvement programs commissioned by LA’s</a:t>
            </a:r>
          </a:p>
          <a:p>
            <a:pPr indent="-228600" defTabSz="914400">
              <a:lnSpc>
                <a:spcPct val="100000"/>
              </a:lnSpc>
              <a:spcBef>
                <a:spcPts val="0"/>
              </a:spcBef>
              <a:buClr>
                <a:srgbClr val="C00000"/>
              </a:buClr>
              <a:buFont typeface="Arial" panose="020B0604020202020204" pitchFamily="34" charset="0"/>
              <a:buChar char="•"/>
            </a:pPr>
            <a:r>
              <a:rPr lang="en-US" altLang="en-US" sz="2800" dirty="0">
                <a:solidFill>
                  <a:schemeClr val="tx1"/>
                </a:solidFill>
                <a:latin typeface="Arial" panose="020B0604020202020204" pitchFamily="34" charset="0"/>
                <a:cs typeface="Arial" panose="020B0604020202020204" pitchFamily="34" charset="0"/>
              </a:rPr>
              <a:t>Some programs led by NHS e.g. screening service</a:t>
            </a:r>
          </a:p>
          <a:p>
            <a:endParaRPr lang="en-GB" dirty="0"/>
          </a:p>
        </p:txBody>
      </p:sp>
      <p:sp>
        <p:nvSpPr>
          <p:cNvPr id="4" name="Content Placeholder 3">
            <a:extLst>
              <a:ext uri="{FF2B5EF4-FFF2-40B4-BE49-F238E27FC236}">
                <a16:creationId xmlns:a16="http://schemas.microsoft.com/office/drawing/2014/main" id="{F1197780-C657-4013-B6A2-FCE94E3615F1}"/>
              </a:ext>
            </a:extLst>
          </p:cNvPr>
          <p:cNvSpPr>
            <a:spLocks noGrp="1"/>
          </p:cNvSpPr>
          <p:nvPr>
            <p:ph sz="half" idx="2"/>
          </p:nvPr>
        </p:nvSpPr>
        <p:spPr/>
        <p:txBody>
          <a:bodyPr/>
          <a:lstStyle/>
          <a:p>
            <a:pPr indent="-228600" defTabSz="914400">
              <a:lnSpc>
                <a:spcPct val="100000"/>
              </a:lnSpc>
              <a:spcBef>
                <a:spcPts val="0"/>
              </a:spcBef>
              <a:buClr>
                <a:srgbClr val="C00000"/>
              </a:buClr>
              <a:buFont typeface="Arial" panose="020B0604020202020204" pitchFamily="34" charset="0"/>
              <a:buChar char="•"/>
            </a:pPr>
            <a:r>
              <a:rPr lang="en-US" altLang="en-US" sz="2800" dirty="0">
                <a:solidFill>
                  <a:schemeClr val="tx1"/>
                </a:solidFill>
                <a:latin typeface="Arial" panose="020B0604020202020204" pitchFamily="34" charset="0"/>
                <a:cs typeface="Arial" panose="020B0604020202020204" pitchFamily="34" charset="0"/>
              </a:rPr>
              <a:t>Indicators ordered by impact through </a:t>
            </a:r>
            <a:r>
              <a:rPr lang="en-US" altLang="en-US" sz="2800" dirty="0" err="1">
                <a:solidFill>
                  <a:schemeClr val="tx1"/>
                </a:solidFill>
                <a:latin typeface="Arial" panose="020B0604020202020204" pitchFamily="34" charset="0"/>
                <a:cs typeface="Arial" panose="020B0604020202020204" pitchFamily="34" charset="0"/>
              </a:rPr>
              <a:t>lifecourse</a:t>
            </a:r>
            <a:endParaRPr lang="en-US" altLang="en-US" sz="2800" dirty="0">
              <a:solidFill>
                <a:schemeClr val="tx1"/>
              </a:solidFill>
              <a:latin typeface="Arial" panose="020B0604020202020204" pitchFamily="34" charset="0"/>
              <a:cs typeface="Arial" panose="020B0604020202020204" pitchFamily="34" charset="0"/>
            </a:endParaRPr>
          </a:p>
          <a:p>
            <a:pPr indent="-228600" defTabSz="914400">
              <a:lnSpc>
                <a:spcPct val="100000"/>
              </a:lnSpc>
              <a:spcBef>
                <a:spcPts val="0"/>
              </a:spcBef>
              <a:buClr>
                <a:srgbClr val="C00000"/>
              </a:buClr>
              <a:buFont typeface="Arial" panose="020B0604020202020204" pitchFamily="34" charset="0"/>
              <a:buChar char="•"/>
            </a:pPr>
            <a:r>
              <a:rPr lang="en-US" altLang="en-US" sz="2800" dirty="0">
                <a:solidFill>
                  <a:schemeClr val="tx1"/>
                </a:solidFill>
                <a:latin typeface="Arial" panose="020B0604020202020204" pitchFamily="34" charset="0"/>
                <a:cs typeface="Arial" panose="020B0604020202020204" pitchFamily="34" charset="0"/>
              </a:rPr>
              <a:t>Many indicators linked to nutrition </a:t>
            </a:r>
          </a:p>
          <a:p>
            <a:pPr indent="-228600" defTabSz="914400">
              <a:lnSpc>
                <a:spcPct val="90000"/>
              </a:lnSpc>
              <a:buClr>
                <a:srgbClr val="C00000"/>
              </a:buClr>
              <a:buFont typeface="Arial" panose="020B0604020202020204" pitchFamily="34" charset="0"/>
              <a:buChar char="•"/>
            </a:pPr>
            <a:endParaRPr lang="en-US" altLang="en-US" sz="2800" dirty="0">
              <a:solidFill>
                <a:schemeClr val="tx1"/>
              </a:solidFill>
              <a:latin typeface="+mn-lt"/>
              <a:ea typeface="+mn-ea"/>
              <a:cs typeface="+mn-cs"/>
            </a:endParaRPr>
          </a:p>
          <a:p>
            <a:pPr indent="-228600" defTabSz="914400">
              <a:lnSpc>
                <a:spcPct val="90000"/>
              </a:lnSpc>
              <a:buClr>
                <a:srgbClr val="C00000"/>
              </a:buClr>
              <a:buFont typeface="Arial" panose="020B0604020202020204" pitchFamily="34" charset="0"/>
              <a:buChar char="•"/>
            </a:pPr>
            <a:endParaRPr lang="en-US" altLang="en-US" dirty="0"/>
          </a:p>
          <a:p>
            <a:pPr indent="-228600" defTabSz="914400">
              <a:lnSpc>
                <a:spcPct val="90000"/>
              </a:lnSpc>
              <a:buClr>
                <a:srgbClr val="C00000"/>
              </a:buClr>
              <a:buFont typeface="Arial" panose="020B0604020202020204" pitchFamily="34" charset="0"/>
              <a:buChar char="•"/>
            </a:pPr>
            <a:endParaRPr lang="en-US" altLang="en-US" sz="2800" dirty="0">
              <a:solidFill>
                <a:schemeClr val="tx1"/>
              </a:solidFill>
              <a:latin typeface="+mn-lt"/>
              <a:ea typeface="+mn-ea"/>
              <a:cs typeface="+mn-cs"/>
            </a:endParaRPr>
          </a:p>
          <a:p>
            <a:endParaRPr lang="en-GB" dirty="0"/>
          </a:p>
        </p:txBody>
      </p:sp>
    </p:spTree>
    <p:extLst>
      <p:ext uri="{BB962C8B-B14F-4D97-AF65-F5344CB8AC3E}">
        <p14:creationId xmlns:p14="http://schemas.microsoft.com/office/powerpoint/2010/main" val="1877000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E3B66-9C81-475F-8B92-83D9BFF61C8A}"/>
              </a:ext>
            </a:extLst>
          </p:cNvPr>
          <p:cNvSpPr>
            <a:spLocks noGrp="1"/>
          </p:cNvSpPr>
          <p:nvPr>
            <p:ph type="title"/>
          </p:nvPr>
        </p:nvSpPr>
        <p:spPr>
          <a:xfrm>
            <a:off x="704385" y="175554"/>
            <a:ext cx="10515600" cy="1117987"/>
          </a:xfrm>
        </p:spPr>
        <p:txBody>
          <a:bodyPr>
            <a:normAutofit/>
          </a:bodyPr>
          <a:lstStyle/>
          <a:p>
            <a:pPr algn="ctr"/>
            <a:r>
              <a:rPr lang="en-GB" sz="3600" b="1" i="1" dirty="0">
                <a:solidFill>
                  <a:srgbClr val="008080"/>
                </a:solidFill>
                <a:latin typeface="Arial" panose="020B0604020202020204" pitchFamily="34" charset="0"/>
                <a:cs typeface="Arial" panose="020B0604020202020204" pitchFamily="34" charset="0"/>
              </a:rPr>
              <a:t>Domain 3: </a:t>
            </a:r>
            <a:r>
              <a:rPr lang="en-US" sz="3600" b="1" i="1" kern="1200" dirty="0">
                <a:solidFill>
                  <a:srgbClr val="008080"/>
                </a:solidFill>
                <a:latin typeface="Arial" panose="020B0604020202020204" pitchFamily="34" charset="0"/>
                <a:cs typeface="Arial" panose="020B0604020202020204" pitchFamily="34" charset="0"/>
              </a:rPr>
              <a:t>Health Protection</a:t>
            </a:r>
            <a:r>
              <a:rPr lang="en-GB" sz="3600" b="1" i="1" dirty="0">
                <a:solidFill>
                  <a:srgbClr val="008080"/>
                </a:solidFill>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D6D08A5E-2269-485C-A8C5-68FFFC279E2C}"/>
              </a:ext>
            </a:extLst>
          </p:cNvPr>
          <p:cNvSpPr>
            <a:spLocks noGrp="1"/>
          </p:cNvSpPr>
          <p:nvPr>
            <p:ph idx="1"/>
          </p:nvPr>
        </p:nvSpPr>
        <p:spPr>
          <a:xfrm>
            <a:off x="704384" y="1293540"/>
            <a:ext cx="11487615" cy="2135459"/>
          </a:xfrm>
        </p:spPr>
        <p:txBody>
          <a:bodyPr>
            <a:normAutofit lnSpcReduction="10000"/>
          </a:bodyPr>
          <a:lstStyle/>
          <a:p>
            <a:pPr>
              <a:lnSpc>
                <a:spcPct val="120000"/>
              </a:lnSpc>
              <a:spcBef>
                <a:spcPts val="0"/>
              </a:spcBef>
            </a:pPr>
            <a:r>
              <a:rPr lang="en-GB" dirty="0">
                <a:latin typeface="Arial" panose="020B0604020202020204" pitchFamily="34" charset="0"/>
                <a:cs typeface="Arial" panose="020B0604020202020204" pitchFamily="34" charset="0"/>
              </a:rPr>
              <a:t>Focused on essential actions to protect the public’s health</a:t>
            </a:r>
          </a:p>
          <a:p>
            <a:pPr>
              <a:lnSpc>
                <a:spcPct val="120000"/>
              </a:lnSpc>
              <a:spcBef>
                <a:spcPts val="0"/>
              </a:spcBef>
            </a:pPr>
            <a:r>
              <a:rPr lang="en-GB" dirty="0">
                <a:latin typeface="Arial" panose="020B0604020202020204" pitchFamily="34" charset="0"/>
                <a:cs typeface="Arial" panose="020B0604020202020204" pitchFamily="34" charset="0"/>
              </a:rPr>
              <a:t>NHS &amp; LA’s - role in protecting their population’s health</a:t>
            </a:r>
          </a:p>
          <a:p>
            <a:endParaRPr lang="en-GB" dirty="0"/>
          </a:p>
          <a:p>
            <a:pPr marL="0" indent="0">
              <a:buNone/>
            </a:pPr>
            <a:r>
              <a:rPr lang="en-GB" dirty="0"/>
              <a:t>                                                                             </a:t>
            </a:r>
            <a:endParaRPr lang="en-GB" b="1" u="sng" dirty="0">
              <a:solidFill>
                <a:schemeClr val="accent1"/>
              </a:solidFill>
            </a:endParaRPr>
          </a:p>
        </p:txBody>
      </p:sp>
      <p:sp>
        <p:nvSpPr>
          <p:cNvPr id="4" name="Title 1">
            <a:extLst>
              <a:ext uri="{FF2B5EF4-FFF2-40B4-BE49-F238E27FC236}">
                <a16:creationId xmlns:a16="http://schemas.microsoft.com/office/drawing/2014/main" id="{BF176DE5-E998-404C-BE72-9FDA1DE1A6F0}"/>
              </a:ext>
            </a:extLst>
          </p:cNvPr>
          <p:cNvSpPr txBox="1">
            <a:spLocks/>
          </p:cNvSpPr>
          <p:nvPr/>
        </p:nvSpPr>
        <p:spPr>
          <a:xfrm>
            <a:off x="615175" y="3084870"/>
            <a:ext cx="10515600" cy="1325563"/>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i="1" dirty="0">
                <a:solidFill>
                  <a:srgbClr val="008080"/>
                </a:solidFill>
                <a:latin typeface="Arial" panose="020B0604020202020204" pitchFamily="34" charset="0"/>
                <a:cs typeface="Arial" panose="020B0604020202020204" pitchFamily="34" charset="0"/>
              </a:rPr>
              <a:t>Domain 4: Healthcare &amp; preventing premature mortality</a:t>
            </a:r>
            <a:br>
              <a:rPr lang="en-US" b="1" dirty="0">
                <a:solidFill>
                  <a:srgbClr val="303030"/>
                </a:solidFill>
              </a:rPr>
            </a:br>
            <a:endParaRPr lang="en-GB" dirty="0"/>
          </a:p>
        </p:txBody>
      </p:sp>
      <p:sp>
        <p:nvSpPr>
          <p:cNvPr id="5" name="Content Placeholder 2">
            <a:extLst>
              <a:ext uri="{FF2B5EF4-FFF2-40B4-BE49-F238E27FC236}">
                <a16:creationId xmlns:a16="http://schemas.microsoft.com/office/drawing/2014/main" id="{76C9CB5E-115C-46D7-83C8-8572C7CD9D69}"/>
              </a:ext>
            </a:extLst>
          </p:cNvPr>
          <p:cNvSpPr txBox="1">
            <a:spLocks/>
          </p:cNvSpPr>
          <p:nvPr/>
        </p:nvSpPr>
        <p:spPr>
          <a:xfrm>
            <a:off x="213731" y="4506777"/>
            <a:ext cx="1114936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457200">
              <a:lnSpc>
                <a:spcPct val="100000"/>
              </a:lnSpc>
              <a:spcBef>
                <a:spcPts val="0"/>
              </a:spcBef>
              <a:buClr>
                <a:schemeClr val="accent2"/>
              </a:buClr>
            </a:pPr>
            <a:r>
              <a:rPr lang="en-US" altLang="en-US" dirty="0">
                <a:latin typeface="Arial" panose="020B0604020202020204" pitchFamily="34" charset="0"/>
                <a:cs typeface="Arial" panose="020B0604020202020204" pitchFamily="34" charset="0"/>
              </a:rPr>
              <a:t>Indicators delivered by the whole public health system, including LA, PHE, NHS</a:t>
            </a:r>
          </a:p>
          <a:p>
            <a:pPr marL="571500" indent="-457200">
              <a:lnSpc>
                <a:spcPct val="100000"/>
              </a:lnSpc>
              <a:spcBef>
                <a:spcPts val="0"/>
              </a:spcBef>
              <a:buClr>
                <a:schemeClr val="accent2"/>
              </a:buClr>
            </a:pPr>
            <a:r>
              <a:rPr lang="en-US" altLang="en-US" dirty="0">
                <a:latin typeface="Arial" panose="020B0604020202020204" pitchFamily="34" charset="0"/>
                <a:cs typeface="Arial" panose="020B0604020202020204" pitchFamily="34" charset="0"/>
              </a:rPr>
              <a:t>Shared indicators with NHS outcome framework to ensure integration</a:t>
            </a:r>
          </a:p>
          <a:p>
            <a:pPr marL="114300" indent="0">
              <a:buClr>
                <a:schemeClr val="accent2"/>
              </a:buClr>
              <a:buFont typeface="Arial" panose="020B0604020202020204" pitchFamily="34" charset="0"/>
              <a:buNone/>
            </a:pPr>
            <a:endParaRPr lang="en-US" altLang="en-US" dirty="0"/>
          </a:p>
          <a:p>
            <a:pPr marL="114300" indent="0">
              <a:buClr>
                <a:schemeClr val="accent2"/>
              </a:buClr>
              <a:buFont typeface="Arial" panose="020B0604020202020204" pitchFamily="34" charset="0"/>
              <a:buNone/>
            </a:pPr>
            <a:r>
              <a:rPr lang="en-US" altLang="en-US" b="1" dirty="0">
                <a:solidFill>
                  <a:schemeClr val="accent1"/>
                </a:solidFill>
              </a:rPr>
              <a:t>                                                                                                 </a:t>
            </a:r>
            <a:r>
              <a:rPr lang="en-US" altLang="en-US" b="1" u="sng" dirty="0">
                <a:solidFill>
                  <a:schemeClr val="accent1"/>
                </a:solidFill>
              </a:rPr>
              <a:t> </a:t>
            </a:r>
          </a:p>
          <a:p>
            <a:endParaRPr lang="en-GB" dirty="0"/>
          </a:p>
        </p:txBody>
      </p:sp>
    </p:spTree>
    <p:extLst>
      <p:ext uri="{BB962C8B-B14F-4D97-AF65-F5344CB8AC3E}">
        <p14:creationId xmlns:p14="http://schemas.microsoft.com/office/powerpoint/2010/main" val="4150379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71528" y="471131"/>
            <a:ext cx="5244301" cy="71973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i="1" dirty="0">
                <a:solidFill>
                  <a:srgbClr val="008080"/>
                </a:solidFill>
                <a:latin typeface="Arial" panose="020B0604020202020204" pitchFamily="34" charset="0"/>
                <a:cs typeface="Arial" panose="020B0604020202020204" pitchFamily="34" charset="0"/>
              </a:rPr>
              <a:t>PHOF: Future Steps</a:t>
            </a:r>
            <a:endParaRPr lang="en-GB" sz="3600" b="1" i="1" dirty="0">
              <a:solidFill>
                <a:srgbClr val="008080"/>
              </a:solidFill>
              <a:latin typeface="Arial" panose="020B0604020202020204" pitchFamily="34" charset="0"/>
              <a:cs typeface="Arial" panose="020B0604020202020204" pitchFamily="34" charset="0"/>
            </a:endParaRPr>
          </a:p>
        </p:txBody>
      </p:sp>
      <p:sp>
        <p:nvSpPr>
          <p:cNvPr id="3" name="Content Placeholder 2"/>
          <p:cNvSpPr txBox="1">
            <a:spLocks/>
          </p:cNvSpPr>
          <p:nvPr/>
        </p:nvSpPr>
        <p:spPr>
          <a:xfrm>
            <a:off x="643023" y="1303010"/>
            <a:ext cx="10905953" cy="3468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C00000"/>
              </a:buClr>
            </a:pPr>
            <a:r>
              <a:rPr lang="en-IN" sz="2800" dirty="0">
                <a:latin typeface="Arial" panose="020B0604020202020204" pitchFamily="34" charset="0"/>
                <a:cs typeface="Arial" panose="020B0604020202020204" pitchFamily="34" charset="0"/>
              </a:rPr>
              <a:t>Last update included data for 49 indicators</a:t>
            </a:r>
          </a:p>
          <a:p>
            <a:pPr lvl="1">
              <a:buClr>
                <a:srgbClr val="C00000"/>
              </a:buClr>
            </a:pPr>
            <a:r>
              <a:rPr lang="en-IN" sz="2800" dirty="0">
                <a:latin typeface="Arial" panose="020B0604020202020204" pitchFamily="34" charset="0"/>
                <a:cs typeface="Arial" panose="020B0604020202020204" pitchFamily="34" charset="0"/>
              </a:rPr>
              <a:t>Next update due Feb 2026</a:t>
            </a:r>
          </a:p>
          <a:p>
            <a:pPr lvl="1">
              <a:buClr>
                <a:srgbClr val="C00000"/>
              </a:buClr>
            </a:pPr>
            <a:endParaRPr lang="en-IN" sz="2800" dirty="0">
              <a:latin typeface="Arial" panose="020B0604020202020204" pitchFamily="34" charset="0"/>
              <a:cs typeface="Arial" panose="020B0604020202020204" pitchFamily="34" charset="0"/>
            </a:endParaRPr>
          </a:p>
          <a:p>
            <a:pPr lvl="1">
              <a:buClr>
                <a:srgbClr val="C00000"/>
              </a:buClr>
            </a:pPr>
            <a:endParaRPr lang="en-IN" sz="2800" dirty="0">
              <a:latin typeface="Arial" panose="020B0604020202020204" pitchFamily="34" charset="0"/>
              <a:cs typeface="Arial" panose="020B0604020202020204" pitchFamily="34" charset="0"/>
            </a:endParaRPr>
          </a:p>
          <a:p>
            <a:pPr lvl="1">
              <a:buClr>
                <a:srgbClr val="C00000"/>
              </a:buClr>
            </a:pPr>
            <a:endParaRPr lang="en-IN" sz="2800" dirty="0">
              <a:latin typeface="Arial" panose="020B0604020202020204" pitchFamily="34" charset="0"/>
              <a:cs typeface="Arial" panose="020B0604020202020204" pitchFamily="34" charset="0"/>
            </a:endParaRPr>
          </a:p>
          <a:p>
            <a:pPr marL="457200" lvl="1" indent="0">
              <a:buClr>
                <a:srgbClr val="C00000"/>
              </a:buClr>
              <a:buNone/>
            </a:pPr>
            <a:r>
              <a:rPr lang="en-IN" sz="3600" b="1" i="1" dirty="0">
                <a:solidFill>
                  <a:srgbClr val="008080"/>
                </a:solidFill>
                <a:latin typeface="Arial" panose="020B0604020202020204" pitchFamily="34" charset="0"/>
                <a:cs typeface="Arial" panose="020B0604020202020204" pitchFamily="34" charset="0"/>
              </a:rPr>
              <a:t>Consider:</a:t>
            </a:r>
          </a:p>
          <a:p>
            <a:pPr marL="457200" lvl="1" indent="0">
              <a:buClr>
                <a:srgbClr val="C00000"/>
              </a:buClr>
              <a:buNone/>
            </a:pPr>
            <a:endParaRPr lang="en-IN" sz="3600" b="1" i="1" dirty="0">
              <a:solidFill>
                <a:srgbClr val="008080"/>
              </a:solidFill>
              <a:latin typeface="Arial" panose="020B0604020202020204" pitchFamily="34" charset="0"/>
              <a:cs typeface="Arial" panose="020B0604020202020204" pitchFamily="34" charset="0"/>
            </a:endParaRPr>
          </a:p>
          <a:p>
            <a:pPr lvl="1">
              <a:buClr>
                <a:srgbClr val="C00000"/>
              </a:buClr>
            </a:pPr>
            <a:r>
              <a:rPr lang="en-IN" sz="2800" dirty="0">
                <a:latin typeface="Arial" panose="020B0604020202020204" pitchFamily="34" charset="0"/>
                <a:cs typeface="Arial" panose="020B0604020202020204" pitchFamily="34" charset="0"/>
              </a:rPr>
              <a:t>Is it sufficiently robust?</a:t>
            </a:r>
          </a:p>
          <a:p>
            <a:pPr lvl="1">
              <a:buClr>
                <a:srgbClr val="C00000"/>
              </a:buClr>
            </a:pPr>
            <a:r>
              <a:rPr lang="en-IN" sz="2800" dirty="0">
                <a:latin typeface="Arial" panose="020B0604020202020204" pitchFamily="34" charset="0"/>
                <a:cs typeface="Arial" panose="020B0604020202020204" pitchFamily="34" charset="0"/>
              </a:rPr>
              <a:t>Are any indicators missing?</a:t>
            </a:r>
          </a:p>
          <a:p>
            <a:pPr lvl="1">
              <a:buClr>
                <a:srgbClr val="C00000"/>
              </a:buClr>
            </a:pPr>
            <a:r>
              <a:rPr lang="en-IN" sz="2800" dirty="0">
                <a:latin typeface="Arial" panose="020B0604020202020204" pitchFamily="34" charset="0"/>
                <a:cs typeface="Arial" panose="020B0604020202020204" pitchFamily="34" charset="0"/>
              </a:rPr>
              <a:t>What do you think of the frequency of updates?</a:t>
            </a:r>
          </a:p>
        </p:txBody>
      </p:sp>
    </p:spTree>
    <p:extLst>
      <p:ext uri="{BB962C8B-B14F-4D97-AF65-F5344CB8AC3E}">
        <p14:creationId xmlns:p14="http://schemas.microsoft.com/office/powerpoint/2010/main" val="2549765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TM16401371[[fn=Atlas]]</Template>
  <TotalTime>0</TotalTime>
  <Words>2449</Words>
  <Application>Microsoft Macintosh PowerPoint</Application>
  <PresentationFormat>Widescreen</PresentationFormat>
  <Paragraphs>344</Paragraphs>
  <Slides>35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GDS Transport</vt:lpstr>
      <vt:lpstr>Arial</vt:lpstr>
      <vt:lpstr>Calibri</vt:lpstr>
      <vt:lpstr>Calibri Light</vt:lpstr>
      <vt:lpstr>Office Theme</vt:lpstr>
      <vt:lpstr>PowerPoint Presentation</vt:lpstr>
      <vt:lpstr>PowerPoint Presentation</vt:lpstr>
      <vt:lpstr>Learning Outcomes</vt:lpstr>
      <vt:lpstr>What is Health?</vt:lpstr>
      <vt:lpstr>PowerPoint Presentation</vt:lpstr>
      <vt:lpstr>What is wellbeing?</vt:lpstr>
      <vt:lpstr>PowerPoint Presentation</vt:lpstr>
      <vt:lpstr>Widely Used Terms in PH</vt:lpstr>
      <vt:lpstr>Health Inequalities defined</vt:lpstr>
      <vt:lpstr>PowerPoint Presentation</vt:lpstr>
      <vt:lpstr>Life Course</vt:lpstr>
      <vt:lpstr>Health Inequalities</vt:lpstr>
      <vt:lpstr>The Black Report - did it deserve attention?</vt:lpstr>
      <vt:lpstr>Acheson report (1998) </vt:lpstr>
      <vt:lpstr>Key Public Health Policy Papers </vt:lpstr>
      <vt:lpstr>Fair Society, Healthy Lives</vt:lpstr>
      <vt:lpstr>PowerPoint Presentation</vt:lpstr>
      <vt:lpstr>Proportionate Universalism</vt:lpstr>
      <vt:lpstr>Economic &amp; health costs of inaction in England </vt:lpstr>
      <vt:lpstr>Public Health Pledge  </vt:lpstr>
      <vt:lpstr>Public Health in England</vt:lpstr>
      <vt:lpstr>Core Functions of Public Health </vt:lpstr>
      <vt:lpstr>PH strategic responsibility for: </vt:lpstr>
      <vt:lpstr>What is Public Health Outcomes Framework (PHOF)?</vt:lpstr>
      <vt:lpstr>Public Health Outcomes Framework (PHOF) </vt:lpstr>
      <vt:lpstr>Domains</vt:lpstr>
      <vt:lpstr>PHOF Indicators  </vt:lpstr>
      <vt:lpstr>What is an indicator?</vt:lpstr>
      <vt:lpstr>PowerPoint Presentation</vt:lpstr>
      <vt:lpstr>PowerPoint Presentation</vt:lpstr>
      <vt:lpstr>PHOF, local authorities &amp; the NHS</vt:lpstr>
      <vt:lpstr> Domain 1: Improving wider determinants of health </vt:lpstr>
      <vt:lpstr>Domain 2: Health improvement</vt:lpstr>
      <vt:lpstr>Domain 3: Health Protection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Policy</dc:title>
  <dc:creator>Arman Camyab</dc:creator>
  <cp:lastModifiedBy>Afshan Aghili</cp:lastModifiedBy>
  <cp:revision>34</cp:revision>
  <dcterms:created xsi:type="dcterms:W3CDTF">2018-10-08T20:22:16Z</dcterms:created>
  <dcterms:modified xsi:type="dcterms:W3CDTF">2026-02-09T14:03:22Z</dcterms:modified>
</cp:coreProperties>
</file>