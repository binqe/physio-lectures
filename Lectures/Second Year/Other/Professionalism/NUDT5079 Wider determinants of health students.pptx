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9"/>
  </p:notesMasterIdLst>
  <p:handoutMasterIdLst>
    <p:handoutMasterId r:id="rId30"/>
  </p:handoutMasterIdLst>
  <p:sldIdLst>
    <p:sldId id="256" r:id="rId6"/>
    <p:sldId id="316" r:id="rId7"/>
    <p:sldId id="398" r:id="rId8"/>
    <p:sldId id="387" r:id="rId9"/>
    <p:sldId id="389" r:id="rId10"/>
    <p:sldId id="344" r:id="rId11"/>
    <p:sldId id="341" r:id="rId12"/>
    <p:sldId id="392" r:id="rId13"/>
    <p:sldId id="370" r:id="rId14"/>
    <p:sldId id="318" r:id="rId15"/>
    <p:sldId id="396" r:id="rId16"/>
    <p:sldId id="353" r:id="rId17"/>
    <p:sldId id="406" r:id="rId18"/>
    <p:sldId id="405" r:id="rId19"/>
    <p:sldId id="407" r:id="rId20"/>
    <p:sldId id="403" r:id="rId21"/>
    <p:sldId id="267" r:id="rId22"/>
    <p:sldId id="268" r:id="rId23"/>
    <p:sldId id="394" r:id="rId24"/>
    <p:sldId id="404" r:id="rId25"/>
    <p:sldId id="271" r:id="rId26"/>
    <p:sldId id="408" r:id="rId27"/>
    <p:sldId id="409" r:id="rId28"/>
  </p:sldIdLst>
  <p:sldSz cx="9144000" cy="6858000" type="screen4x3"/>
  <p:notesSz cx="6797675" cy="99266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64ADB-E862-4FD7-AB4D-787FA194C029}" v="5" dt="2026-02-14T16:51:59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>
      <p:cViewPr varScale="1">
        <p:scale>
          <a:sx n="96" d="100"/>
          <a:sy n="96" d="100"/>
        </p:scale>
        <p:origin x="9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lda Mulrooney" userId="b2ba6598-7cca-468a-b27c-471fd5c45ba4" providerId="ADAL" clId="{E9A81658-0A0B-415F-8ED5-01004A65F262}"/>
    <pc:docChg chg="custSel addSld delSld modSld">
      <pc:chgData name="Hilda Mulrooney" userId="b2ba6598-7cca-468a-b27c-471fd5c45ba4" providerId="ADAL" clId="{E9A81658-0A0B-415F-8ED5-01004A65F262}" dt="2026-02-14T16:52:05.558" v="35" actId="47"/>
      <pc:docMkLst>
        <pc:docMk/>
      </pc:docMkLst>
      <pc:sldChg chg="modSp mod">
        <pc:chgData name="Hilda Mulrooney" userId="b2ba6598-7cca-468a-b27c-471fd5c45ba4" providerId="ADAL" clId="{E9A81658-0A0B-415F-8ED5-01004A65F262}" dt="2026-02-14T09:29:35.285" v="29" actId="1076"/>
        <pc:sldMkLst>
          <pc:docMk/>
          <pc:sldMk cId="0" sldId="353"/>
        </pc:sldMkLst>
        <pc:spChg chg="mod">
          <ac:chgData name="Hilda Mulrooney" userId="b2ba6598-7cca-468a-b27c-471fd5c45ba4" providerId="ADAL" clId="{E9A81658-0A0B-415F-8ED5-01004A65F262}" dt="2026-02-14T09:29:35.285" v="29" actId="1076"/>
          <ac:spMkLst>
            <pc:docMk/>
            <pc:sldMk cId="0" sldId="353"/>
            <ac:spMk id="18437" creationId="{00000000-0000-0000-0000-000000000000}"/>
          </ac:spMkLst>
        </pc:spChg>
      </pc:sldChg>
      <pc:sldChg chg="del">
        <pc:chgData name="Hilda Mulrooney" userId="b2ba6598-7cca-468a-b27c-471fd5c45ba4" providerId="ADAL" clId="{E9A81658-0A0B-415F-8ED5-01004A65F262}" dt="2026-02-14T16:52:05.558" v="35" actId="47"/>
        <pc:sldMkLst>
          <pc:docMk/>
          <pc:sldMk cId="0" sldId="386"/>
        </pc:sldMkLst>
      </pc:sldChg>
      <pc:sldChg chg="del">
        <pc:chgData name="Hilda Mulrooney" userId="b2ba6598-7cca-468a-b27c-471fd5c45ba4" providerId="ADAL" clId="{E9A81658-0A0B-415F-8ED5-01004A65F262}" dt="2026-02-14T16:52:03.933" v="34" actId="47"/>
        <pc:sldMkLst>
          <pc:docMk/>
          <pc:sldMk cId="1854395218" sldId="401"/>
        </pc:sldMkLst>
      </pc:sldChg>
      <pc:sldChg chg="add modNotesTx">
        <pc:chgData name="Hilda Mulrooney" userId="b2ba6598-7cca-468a-b27c-471fd5c45ba4" providerId="ADAL" clId="{E9A81658-0A0B-415F-8ED5-01004A65F262}" dt="2026-02-14T16:51:17.300" v="31" actId="6549"/>
        <pc:sldMkLst>
          <pc:docMk/>
          <pc:sldMk cId="235690775" sldId="405"/>
        </pc:sldMkLst>
      </pc:sldChg>
      <pc:sldChg chg="add">
        <pc:chgData name="Hilda Mulrooney" userId="b2ba6598-7cca-468a-b27c-471fd5c45ba4" providerId="ADAL" clId="{E9A81658-0A0B-415F-8ED5-01004A65F262}" dt="2026-02-14T16:51:06.742" v="30"/>
        <pc:sldMkLst>
          <pc:docMk/>
          <pc:sldMk cId="4288829834" sldId="406"/>
        </pc:sldMkLst>
      </pc:sldChg>
      <pc:sldChg chg="add modNotesTx">
        <pc:chgData name="Hilda Mulrooney" userId="b2ba6598-7cca-468a-b27c-471fd5c45ba4" providerId="ADAL" clId="{E9A81658-0A0B-415F-8ED5-01004A65F262}" dt="2026-02-14T16:51:22.647" v="32" actId="6549"/>
        <pc:sldMkLst>
          <pc:docMk/>
          <pc:sldMk cId="3727890973" sldId="407"/>
        </pc:sldMkLst>
      </pc:sldChg>
      <pc:sldChg chg="add">
        <pc:chgData name="Hilda Mulrooney" userId="b2ba6598-7cca-468a-b27c-471fd5c45ba4" providerId="ADAL" clId="{E9A81658-0A0B-415F-8ED5-01004A65F262}" dt="2026-02-14T16:51:59.210" v="33"/>
        <pc:sldMkLst>
          <pc:docMk/>
          <pc:sldMk cId="0" sldId="408"/>
        </pc:sldMkLst>
      </pc:sldChg>
      <pc:sldChg chg="add">
        <pc:chgData name="Hilda Mulrooney" userId="b2ba6598-7cca-468a-b27c-471fd5c45ba4" providerId="ADAL" clId="{E9A81658-0A0B-415F-8ED5-01004A65F262}" dt="2026-02-14T16:51:59.210" v="33"/>
        <pc:sldMkLst>
          <pc:docMk/>
          <pc:sldMk cId="482793576" sldId="4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46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63088"/>
            <a:ext cx="2946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63088"/>
            <a:ext cx="2946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9F601E9-BD72-4D73-B192-BEB525DF34D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6643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732373-FF58-4A8B-B91C-DFEFECA059F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806300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20041E-BE85-40E9-85AB-E72E196AC069}" type="slidenum">
              <a:rPr lang="en-GB" altLang="en-US" smtClean="0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06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67D3DF-D2E9-4103-A3DE-025D6EBB8C42}" type="slidenum">
              <a:rPr lang="en-GB" altLang="en-US" smtClean="0"/>
              <a:pPr>
                <a:spcBef>
                  <a:spcPct val="0"/>
                </a:spcBef>
              </a:pPr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895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D496D4F0-D732-33D7-1CE0-C6089131EB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4B2AFEC-C049-9060-1B52-1BB6B6912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E95DE053-6D08-E88C-58C0-CFDB18AB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03E8388-4D94-4D34-9CF0-DDE00A4AB746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41C6D126-A795-E346-A784-D0101A1DCA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A426AF7C-DCE3-91E5-EAAF-F20970B2B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DC67D74E-D713-DEDF-C874-59E517EDA8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B6F5AE-64AB-4A84-94B8-C285B19A2C37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32373-FF58-4A8B-B91C-DFEFECA059F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02928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32373-FF58-4A8B-B91C-DFEFECA059F1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739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F7EDBAF-36FA-4F9C-A91B-51CF57AA8400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816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3AA1C-5561-48BE-9768-08298209EB86}" type="slidenum">
              <a:rPr lang="en-GB" altLang="en-US" smtClean="0"/>
              <a:pPr>
                <a:spcBef>
                  <a:spcPct val="0"/>
                </a:spcBef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3464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600F8E-4AE4-4891-9AD9-2F1A52B27D8A}" type="slidenum">
              <a:rPr lang="en-GB" altLang="en-US" smtClean="0"/>
              <a:pPr>
                <a:spcBef>
                  <a:spcPct val="0"/>
                </a:spcBef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3848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0377CF-610E-4B84-8373-BB588BEAEEED}" type="slidenum">
              <a:rPr lang="en-GB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019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sz="1100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2B6B3F-0E91-4D7C-BB8D-9FA15706A97F}" type="slidenum">
              <a:rPr lang="en-GB" altLang="en-US" smtClean="0"/>
              <a:pPr>
                <a:spcBef>
                  <a:spcPct val="0"/>
                </a:spcBef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9046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32373-FF58-4A8B-B91C-DFEFECA059F1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862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32373-FF58-4A8B-B91C-DFEFECA059F1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1870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C4464B82-6837-8ECF-9E52-7889BBF336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1C93CA0F-5590-DD3F-C9B7-0EE075EA0B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23B04702-4B41-9943-0375-1FB31BA1C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2B4C46-45A7-4CB4-B3B9-38AF269E120D}" type="slidenum">
              <a:rPr lang="en-GB" altLang="en-US" smtClean="0"/>
              <a:pPr>
                <a:spcBef>
                  <a:spcPct val="0"/>
                </a:spcBef>
              </a:pPr>
              <a:t>17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D5ADBE8F-4CE5-E2AF-61FD-FCCDDB194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CC45568A-CA25-401B-5F8A-9D41CEBBFA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E3FE3A3-6DB7-3620-AFD9-89AAC2A0A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45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17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8988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61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33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305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7788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19B2D3-325B-4211-B435-AC1E0F1C79FB}" type="slidenum">
              <a:rPr lang="en-GB" altLang="en-US" smtClean="0"/>
              <a:pPr>
                <a:spcBef>
                  <a:spcPct val="0"/>
                </a:spcBef>
              </a:pPr>
              <a:t>18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655406-600D-4DCF-9362-CCB48D5015C2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8120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32373-FF58-4A8B-B91C-DFEFECA059F1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2280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A22D25-38C9-4AC9-ADC9-124AC50CE901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4737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BD13B-68D6-4B57-B054-1D67039F777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789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5773E-8E10-409E-8A7B-A8163A909DD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3115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1386D-48F9-45BF-A35D-590170A99DC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206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E626A-5C40-43E6-AA48-A5FC66FCD6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411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216A2-392B-4B49-93F5-3B51A103E05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603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3E797-F677-4EB8-8592-1F285265C0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745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A88AC-C57B-4C25-97BE-244FE33A4A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428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F1C14-D7F7-40FD-9257-AD899193A67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749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8B35B-37FC-49E3-A133-E9E454A7558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858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38C74-2475-40C6-894E-EBFB2D3B498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001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B692E-F322-426F-8382-1BCE1530EDD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8723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E6144-D75B-4A57-9792-E5215C959A6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73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0A595-CDF1-44FB-8DF5-856EB665C12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26561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5A35-F7E9-4681-BFF7-310499AF70B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96718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348A6-61B1-4F25-BD9B-3EE7187634F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4875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D0B430-2974-4F99-B25A-962D8C2B6C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10754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62A0F-8C16-4DE5-A1E1-6E95B8EE692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8040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EF32A-B4EA-4256-BF61-8FD77AA3D91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0682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6E5D7-7D8E-4D6F-8D6A-5BF3EF035A5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759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05810-37A2-4182-9263-3F96D43105A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7147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72CDC-3770-4697-976B-3362479FFA8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3015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FEA82-03FD-4AE2-9173-633B811015D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291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9E18CB0-CAB3-413F-AE27-6EEAD076A91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029AF5-E1D3-4EC5-9544-05741D6633E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hyperlink" Target="http://www.huffingtonpost.co.uk/entry/grenfell-tower-tale-two-kensingtons-borough-extreme-rich-poor_uk_594269e9e4b003d5948d5116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.org.uk/reports-and-analysis/reports/build-back-fairer-the-covid-19-marmot-re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oodfoundation.org.uk/news/feed-future-campaign" TargetMode="External"/><Relationship Id="rId4" Type="http://schemas.openxmlformats.org/officeDocument/2006/relationships/hyperlink" Target="https://www.instituteofhealthequity.org/resources-reports/fuel-poverty-cold-homes-and-health-inequalities-in-the-uk/read-the-report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bc.co.uk/programmes/p047t7v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hSQBwBndR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ingsfund.org.uk/insight-and-analysis/long-reads/forecasted-doubling-health-care-spending" TargetMode="External"/><Relationship Id="rId4" Type="http://schemas.openxmlformats.org/officeDocument/2006/relationships/hyperlink" Target="https://www.bbc.co.uk/sounds/play/m0019k6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mcp.co.uk/wp-content/uploads/2017/03/Hard-to-reach-workbook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alth.org.uk/sites/default/files/2020-12/Build-back-fairer--Exec-summary.pdf" TargetMode="External"/><Relationship Id="rId3" Type="http://schemas.openxmlformats.org/officeDocument/2006/relationships/hyperlink" Target="https://www.kingsfund.org.uk/insight-and-analysis/long-reads/what-is-prevention-in-health" TargetMode="External"/><Relationship Id="rId7" Type="http://schemas.openxmlformats.org/officeDocument/2006/relationships/hyperlink" Target="https://www.local.gov.uk/marmot-review-report-fair-society-healthy-liv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ncsct.co.uk/library/view/pdf/stop-smoking-services-and-health-inequalities.pdf" TargetMode="External"/><Relationship Id="rId5" Type="http://schemas.openxmlformats.org/officeDocument/2006/relationships/hyperlink" Target="https://fingertips.phe.org.uk/static-reports/obesity-physical-activity-nutrition/national-child-measurement-programme-2024-2025-academic-year.html" TargetMode="External"/><Relationship Id="rId4" Type="http://schemas.openxmlformats.org/officeDocument/2006/relationships/hyperlink" Target="https://www.bsuh.nhs.uk/library/wp-content/uploads/sites/8/2020/09/The-NHS-plan-2000.pdf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alth.org.uk/" TargetMode="External"/><Relationship Id="rId3" Type="http://schemas.openxmlformats.org/officeDocument/2006/relationships/hyperlink" Target="https://www.gov.uk/government/statistics/smoking-profile-october-2024-update/smoking-profile-for-england-statistical-commentary-october-2024-update" TargetMode="External"/><Relationship Id="rId7" Type="http://schemas.openxmlformats.org/officeDocument/2006/relationships/hyperlink" Target="https://apps.who.int/iris/bitstream/handle/10665/108082/9289012870-eng.pdf?sequence=1&amp;isAllowed=y" TargetMode="External"/><Relationship Id="rId2" Type="http://schemas.openxmlformats.org/officeDocument/2006/relationships/hyperlink" Target="https://digital.nhs.uk/data-and-information/publications/statistical/health-survey-for-england/2022-part-2/adult-overweight-and-obesit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ssets.publishing.service.gov.uk/government/uploads/system/uploads/attachment_data/file/908434/Disparities_in_the_risk_and_outcomes_of_COVID_August_2020_update.pdf" TargetMode="External"/><Relationship Id="rId5" Type="http://schemas.openxmlformats.org/officeDocument/2006/relationships/hyperlink" Target="https://fingertips.phe.org.uk/static-reports/health-profile-for-england/hpfe_report.html" TargetMode="External"/><Relationship Id="rId4" Type="http://schemas.openxmlformats.org/officeDocument/2006/relationships/hyperlink" Target="https://www.ons.gov.uk/peoplepopulationandcommunity/healthandsocialcare/healthinequalities/bulletins/healthylifeexpectancybynationalareadeprivationenglandandwales/between2013to2015and2020to2022" TargetMode="External"/><Relationship Id="rId9" Type="http://schemas.openxmlformats.org/officeDocument/2006/relationships/hyperlink" Target="https://fingertips.phe.org.uk/profile/wider-determina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76288" y="1160824"/>
            <a:ext cx="7772400" cy="1470025"/>
          </a:xfrm>
        </p:spPr>
        <p:txBody>
          <a:bodyPr/>
          <a:lstStyle/>
          <a:p>
            <a:pPr eaLnBrk="1" hangingPunct="1"/>
            <a:r>
              <a:rPr lang="en-GB" altLang="en-US" sz="3600" b="1" i="1" dirty="0">
                <a:solidFill>
                  <a:schemeClr val="hlink"/>
                </a:solidFill>
              </a:rPr>
              <a:t>Wider determinants of health</a:t>
            </a:r>
            <a:r>
              <a:rPr lang="en-GB" altLang="en-US" sz="3600" dirty="0"/>
              <a:t> </a:t>
            </a:r>
            <a:br>
              <a:rPr lang="en-GB" altLang="en-US" sz="3600" dirty="0"/>
            </a:br>
            <a:br>
              <a:rPr lang="en-GB" altLang="en-US" sz="3200" dirty="0"/>
            </a:br>
            <a:r>
              <a:rPr lang="en-GB" altLang="en-US" sz="3200" dirty="0"/>
              <a:t>NU/DT5079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688" y="5157192"/>
            <a:ext cx="6400800" cy="838200"/>
          </a:xfrm>
        </p:spPr>
        <p:txBody>
          <a:bodyPr/>
          <a:lstStyle/>
          <a:p>
            <a:pPr eaLnBrk="1" hangingPunct="1"/>
            <a:r>
              <a:rPr lang="en-GB" altLang="en-US" sz="2800" dirty="0" err="1"/>
              <a:t>Dr.</a:t>
            </a:r>
            <a:r>
              <a:rPr lang="en-GB" altLang="en-US" sz="2800" dirty="0"/>
              <a:t> Hilda Mulrooney,</a:t>
            </a:r>
          </a:p>
          <a:p>
            <a:pPr eaLnBrk="1" hangingPunct="1"/>
            <a:r>
              <a:rPr lang="en-GB" altLang="en-US" sz="2800" dirty="0"/>
              <a:t>Reader in Nutrition &amp; Health</a:t>
            </a:r>
            <a:endParaRPr lang="en-GB" altLang="en-US" dirty="0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928688" y="2852936"/>
            <a:ext cx="76200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i="1" dirty="0"/>
              <a:t>‘No injustice is greater than the inequalities in health that scar our nation’</a:t>
            </a:r>
            <a:endParaRPr lang="en-GB" altLang="en-US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dirty="0"/>
              <a:t>					(DH, 2000)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143000" y="1412776"/>
            <a:ext cx="6858000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3600" b="1" i="1" dirty="0">
                <a:solidFill>
                  <a:schemeClr val="hlink"/>
                </a:solidFill>
              </a:rPr>
              <a:t>Key points we will cover:</a:t>
            </a:r>
            <a:endParaRPr lang="en-GB" altLang="en-US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GB" altLang="en-US" sz="2400" dirty="0"/>
          </a:p>
          <a:p>
            <a:pPr eaLnBrk="1" hangingPunct="1">
              <a:spcBef>
                <a:spcPct val="50000"/>
              </a:spcBef>
            </a:pPr>
            <a:r>
              <a:rPr lang="en-GB" altLang="en-US" sz="2800" dirty="0"/>
              <a:t> Health inequalities: what they are &amp; how they relate to disease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800" dirty="0"/>
              <a:t> Wider/social determinants of health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GB" altLang="en-US" sz="24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836613"/>
            <a:ext cx="3992563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755650" y="190500"/>
            <a:ext cx="5688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3600" b="1" i="1">
                <a:solidFill>
                  <a:srgbClr val="009999"/>
                </a:solidFill>
              </a:rPr>
              <a:t>Covid 19 deaths by…. </a:t>
            </a:r>
          </a:p>
        </p:txBody>
      </p:sp>
      <p:pic>
        <p:nvPicPr>
          <p:cNvPr id="922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813" y="831850"/>
            <a:ext cx="4257675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937000"/>
            <a:ext cx="3490912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4302125"/>
            <a:ext cx="4057650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6"/>
          <p:cNvSpPr txBox="1">
            <a:spLocks noChangeArrowheads="1"/>
          </p:cNvSpPr>
          <p:nvPr/>
        </p:nvSpPr>
        <p:spPr bwMode="auto">
          <a:xfrm>
            <a:off x="2987675" y="2133600"/>
            <a:ext cx="1044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Age</a:t>
            </a:r>
          </a:p>
        </p:txBody>
      </p:sp>
      <p:sp>
        <p:nvSpPr>
          <p:cNvPr id="9224" name="TextBox 7"/>
          <p:cNvSpPr txBox="1">
            <a:spLocks noChangeArrowheads="1"/>
          </p:cNvSpPr>
          <p:nvPr/>
        </p:nvSpPr>
        <p:spPr bwMode="auto">
          <a:xfrm>
            <a:off x="7812088" y="981075"/>
            <a:ext cx="1168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Place</a:t>
            </a:r>
          </a:p>
        </p:txBody>
      </p:sp>
      <p:sp>
        <p:nvSpPr>
          <p:cNvPr id="9225" name="TextBox 8"/>
          <p:cNvSpPr txBox="1">
            <a:spLocks noChangeArrowheads="1"/>
          </p:cNvSpPr>
          <p:nvPr/>
        </p:nvSpPr>
        <p:spPr bwMode="auto">
          <a:xfrm>
            <a:off x="6443663" y="6389688"/>
            <a:ext cx="1368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Ethnicity</a:t>
            </a:r>
          </a:p>
        </p:txBody>
      </p:sp>
      <p:sp>
        <p:nvSpPr>
          <p:cNvPr id="9226" name="TextBox 9"/>
          <p:cNvSpPr txBox="1">
            <a:spLocks noChangeArrowheads="1"/>
          </p:cNvSpPr>
          <p:nvPr/>
        </p:nvSpPr>
        <p:spPr bwMode="auto">
          <a:xfrm>
            <a:off x="2987675" y="5084763"/>
            <a:ext cx="1512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Deprivation</a:t>
            </a:r>
          </a:p>
        </p:txBody>
      </p:sp>
      <p:sp>
        <p:nvSpPr>
          <p:cNvPr id="9227" name="TextBox 1"/>
          <p:cNvSpPr txBox="1">
            <a:spLocks noChangeArrowheads="1"/>
          </p:cNvSpPr>
          <p:nvPr/>
        </p:nvSpPr>
        <p:spPr bwMode="auto">
          <a:xfrm>
            <a:off x="7668344" y="6398181"/>
            <a:ext cx="17844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dirty="0"/>
              <a:t>(</a:t>
            </a:r>
            <a:r>
              <a:rPr lang="en-GB" altLang="en-US" sz="1800" i="1" dirty="0"/>
              <a:t>PHE, 2020</a:t>
            </a:r>
            <a:r>
              <a:rPr lang="en-GB" altLang="en-US" sz="1800" dirty="0"/>
              <a:t>)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Box 3">
            <a:extLst>
              <a:ext uri="{FF2B5EF4-FFF2-40B4-BE49-F238E27FC236}">
                <a16:creationId xmlns:a16="http://schemas.microsoft.com/office/drawing/2014/main" id="{DA3FDB3A-6E85-C6B7-1664-7FFA8EC1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6237288"/>
            <a:ext cx="2665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i="1" dirty="0"/>
              <a:t>(ONS, 2025)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CD05D8C-4CCA-6586-F8A7-9001C8FA8296}"/>
              </a:ext>
            </a:extLst>
          </p:cNvPr>
          <p:cNvSpPr txBox="1">
            <a:spLocks noChangeArrowheads="1"/>
          </p:cNvSpPr>
          <p:nvPr/>
        </p:nvSpPr>
        <p:spPr>
          <a:xfrm>
            <a:off x="357188" y="0"/>
            <a:ext cx="8786812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i="1" kern="0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Inequalities reduce life expectancy &amp; disability-free life expectancy</a:t>
            </a:r>
            <a:endParaRPr lang="en-GB" altLang="en-US" sz="40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ADC1E-855A-D052-9725-3CDFA588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786" y="1772816"/>
            <a:ext cx="4237214" cy="2685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0C4B90-0517-B2A2-A42F-50AE97055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1807399"/>
            <a:ext cx="4991986" cy="3243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3">
            <a:extLst>
              <a:ext uri="{FF2B5EF4-FFF2-40B4-BE49-F238E27FC236}">
                <a16:creationId xmlns:a16="http://schemas.microsoft.com/office/drawing/2014/main" id="{7CF7DA19-A18A-DDCF-7C2C-607534E8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070" y="6182022"/>
            <a:ext cx="5061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i="1" dirty="0"/>
              <a:t>(PHE, 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BDF20-7F6E-E3EE-91F3-9C2164652CA5}"/>
              </a:ext>
            </a:extLst>
          </p:cNvPr>
          <p:cNvSpPr txBox="1"/>
          <p:nvPr/>
        </p:nvSpPr>
        <p:spPr>
          <a:xfrm>
            <a:off x="827088" y="214313"/>
            <a:ext cx="7273925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600" b="1" i="1" dirty="0">
                <a:solidFill>
                  <a:schemeClr val="accent1">
                    <a:lumMod val="50000"/>
                  </a:schemeClr>
                </a:solidFill>
              </a:rPr>
              <a:t>Early years educational outcomes by deprivation decile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97931-9344-1F02-E0F2-A021A8BC8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14" y="1485852"/>
            <a:ext cx="8316912" cy="4624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3BD9979D-CBB5-A40A-3482-B1CBF10D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8"/>
            <a:ext cx="8229600" cy="1143000"/>
          </a:xfrm>
        </p:spPr>
        <p:txBody>
          <a:bodyPr/>
          <a:lstStyle/>
          <a:p>
            <a:r>
              <a:rPr lang="en-GB" altLang="en-US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 waist circumference, England</a:t>
            </a: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9867776F-8A3D-023D-E038-BF5C675EA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6021288"/>
            <a:ext cx="29865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i="1" dirty="0">
                <a:latin typeface="Arial" panose="020B0604020202020204" pitchFamily="34" charset="0"/>
              </a:rPr>
              <a:t>(NHS Digital, 2024)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C0144-AD96-0956-2E10-6106B6C5C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13620"/>
            <a:ext cx="8249622" cy="4030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Box 5">
            <a:extLst>
              <a:ext uri="{FF2B5EF4-FFF2-40B4-BE49-F238E27FC236}">
                <a16:creationId xmlns:a16="http://schemas.microsoft.com/office/drawing/2014/main" id="{D4797208-D3E4-EFCC-9DE3-B9BD53344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6165850"/>
            <a:ext cx="2266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sz="2400" i="1" dirty="0"/>
              <a:t>(DHSC, 2025)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FAD33-10BD-CA87-8754-BF0362E0F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2400"/>
            <a:ext cx="6012160" cy="3186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AA7C03-95EC-73AC-3760-671CDB46D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338619"/>
            <a:ext cx="6372200" cy="34831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4B8F93-48FD-DEF6-9E12-A732A29A6DE6}"/>
              </a:ext>
            </a:extLst>
          </p:cNvPr>
          <p:cNvSpPr txBox="1"/>
          <p:nvPr/>
        </p:nvSpPr>
        <p:spPr>
          <a:xfrm>
            <a:off x="6983760" y="548680"/>
            <a:ext cx="1908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Obesity prevalence by deprivation decile in a) Reception &amp; b) Year 6 children in 2024/5 school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68F52-9D6E-6626-701B-2E36A0516CDC}"/>
              </a:ext>
            </a:extLst>
          </p:cNvPr>
          <p:cNvSpPr txBox="1"/>
          <p:nvPr/>
        </p:nvSpPr>
        <p:spPr>
          <a:xfrm>
            <a:off x="251520" y="11247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07844-D9C9-C561-3B9D-CD085A9B6CF4}"/>
              </a:ext>
            </a:extLst>
          </p:cNvPr>
          <p:cNvSpPr txBox="1"/>
          <p:nvPr/>
        </p:nvSpPr>
        <p:spPr>
          <a:xfrm>
            <a:off x="211966" y="454267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img.huffingtonpost.com/asset/5942b0c815000021004e6865.jpeg?ops=scalefit_970_noupsca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574" y="188640"/>
            <a:ext cx="4842563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1"/>
          <p:cNvSpPr>
            <a:spLocks noChangeArrowheads="1"/>
          </p:cNvSpPr>
          <p:nvPr/>
        </p:nvSpPr>
        <p:spPr bwMode="auto">
          <a:xfrm>
            <a:off x="395536" y="5710480"/>
            <a:ext cx="86391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hlinkClick r:id="rId4"/>
              </a:rPr>
              <a:t>http://www.huffingtonpost.co.uk/entry/grenfell-tower-tale-two-kensingtons-borough-extreme-rich-poor_uk_594269e9e4b003d5948d5116</a:t>
            </a:r>
            <a:endParaRPr lang="en-GB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/>
          </a:p>
        </p:txBody>
      </p:sp>
      <p:sp>
        <p:nvSpPr>
          <p:cNvPr id="20484" name="TextBox 1"/>
          <p:cNvSpPr txBox="1">
            <a:spLocks noChangeArrowheads="1"/>
          </p:cNvSpPr>
          <p:nvPr/>
        </p:nvSpPr>
        <p:spPr bwMode="auto">
          <a:xfrm>
            <a:off x="2480982" y="3861048"/>
            <a:ext cx="66673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/>
              <a:t>Grenfell Tower: in most deprived 30% for health deprivation &amp; disability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/>
              <a:t>Notting Hill: in least deprived 10% for health deprivation &amp; disability</a:t>
            </a:r>
          </a:p>
        </p:txBody>
      </p:sp>
      <p:pic>
        <p:nvPicPr>
          <p:cNvPr id="18435" name="Picture 3" descr="A bed with a blanket on it">
            <a:extLst>
              <a:ext uri="{FF2B5EF4-FFF2-40B4-BE49-F238E27FC236}">
                <a16:creationId xmlns:a16="http://schemas.microsoft.com/office/drawing/2014/main" id="{212A067B-3790-700F-A7F9-A98D5B9EF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2339975" cy="519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395536" y="332656"/>
            <a:ext cx="8640960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‘The fact that in England today people in different social circumstances experience </a:t>
            </a:r>
            <a:r>
              <a:rPr lang="en-GB" altLang="en-US" sz="2800" b="1" dirty="0"/>
              <a:t>avoidable</a:t>
            </a:r>
            <a:r>
              <a:rPr lang="en-GB" altLang="en-US" sz="2800" dirty="0"/>
              <a:t> differences in health, well-being &amp; length of life is, quite simply, unfair.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Creating a fairer society is fundamental to improving the health of the whole population &amp; ensuring a fairer distribution of good health’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2400" i="1" dirty="0"/>
              <a:t>(The Marmot Review, 2010)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ACE687-93FE-0B92-EE29-85E79179B6A0}"/>
              </a:ext>
            </a:extLst>
          </p:cNvPr>
          <p:cNvSpPr txBox="1"/>
          <p:nvPr/>
        </p:nvSpPr>
        <p:spPr>
          <a:xfrm>
            <a:off x="125119" y="4518417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Build back fairer Marmot review (2020): </a:t>
            </a:r>
            <a:r>
              <a:rPr lang="en-GB" dirty="0">
                <a:hlinkClick r:id="rId3"/>
              </a:rPr>
              <a:t>https://www.health.org.uk/reports-and-analysis/reports/build-back-fairer-the-covid-19-marmot-review</a:t>
            </a:r>
            <a:endParaRPr lang="en-GB" dirty="0"/>
          </a:p>
          <a:p>
            <a:endParaRPr lang="en-GB" dirty="0"/>
          </a:p>
          <a:p>
            <a:r>
              <a:rPr lang="en-GB" dirty="0"/>
              <a:t>Fuel poverty Marmot review (2022): </a:t>
            </a:r>
            <a:r>
              <a:rPr lang="en-GB" dirty="0">
                <a:hlinkClick r:id="rId4"/>
              </a:rPr>
              <a:t>https://www.instituteofhealthequity.org/resources-reports/fuel-poverty-cold-homes-and-health-inequalities-in-the-uk/read-the-report.pdf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55075-3D4D-915F-9DAC-9802C7C3DBDE}"/>
              </a:ext>
            </a:extLst>
          </p:cNvPr>
          <p:cNvSpPr txBox="1"/>
          <p:nvPr/>
        </p:nvSpPr>
        <p:spPr>
          <a:xfrm>
            <a:off x="125119" y="6263190"/>
            <a:ext cx="712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Feed the Future campaign | Food Foundation</a:t>
            </a:r>
            <a:endParaRPr lang="en-GB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-429952" y="141428"/>
            <a:ext cx="1007851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3400" b="1" i="1" dirty="0">
                <a:solidFill>
                  <a:schemeClr val="hlink"/>
                </a:solidFill>
              </a:rPr>
              <a:t>What are the wider determinants of health?</a:t>
            </a:r>
            <a:endParaRPr lang="en-GB" altLang="en-US" sz="3400" dirty="0"/>
          </a:p>
        </p:txBody>
      </p:sp>
      <p:sp>
        <p:nvSpPr>
          <p:cNvPr id="14340" name="TextBox 8"/>
          <p:cNvSpPr txBox="1">
            <a:spLocks noChangeArrowheads="1"/>
          </p:cNvSpPr>
          <p:nvPr/>
        </p:nvSpPr>
        <p:spPr bwMode="auto">
          <a:xfrm>
            <a:off x="323850" y="1143000"/>
            <a:ext cx="842486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</a:pPr>
            <a:r>
              <a:rPr lang="en-GB" altLang="en-US" sz="2800" dirty="0"/>
              <a:t>Factors which shape the conditions in which we live</a:t>
            </a:r>
          </a:p>
          <a:p>
            <a:pPr marL="457200" indent="-457200" eaLnBrk="1" hangingPunct="1">
              <a:spcBef>
                <a:spcPct val="0"/>
              </a:spcBef>
            </a:pPr>
            <a:endParaRPr lang="en-GB" altLang="en-US" sz="2800" dirty="0"/>
          </a:p>
          <a:p>
            <a:pPr marL="457200" indent="-457200" eaLnBrk="1" hangingPunct="1">
              <a:spcBef>
                <a:spcPct val="0"/>
              </a:spcBef>
            </a:pPr>
            <a:r>
              <a:rPr lang="en-GB" altLang="en-US" sz="2800" dirty="0"/>
              <a:t>Diverse: social, economic , political, environmental, &amp; cultural factors </a:t>
            </a:r>
          </a:p>
          <a:p>
            <a:pPr marL="457200" indent="-457200" eaLnBrk="1" hangingPunct="1">
              <a:spcBef>
                <a:spcPct val="0"/>
              </a:spcBef>
            </a:pPr>
            <a:endParaRPr lang="en-GB" altLang="en-US" sz="2800" dirty="0"/>
          </a:p>
          <a:p>
            <a:pPr marL="457200" indent="-457200" eaLnBrk="1" hangingPunct="1">
              <a:spcBef>
                <a:spcPct val="0"/>
              </a:spcBef>
            </a:pPr>
            <a:r>
              <a:rPr lang="en-GB" altLang="en-US" sz="2800" dirty="0"/>
              <a:t>Influence people’s mental and physical health Systematic variation in these factors constitutes social inequality, an important driver of health inequalities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Is obesity really the new smoking? </a:t>
            </a:r>
          </a:p>
        </p:txBody>
      </p:sp>
      <p:sp>
        <p:nvSpPr>
          <p:cNvPr id="14341" name="Rectangle 1"/>
          <p:cNvSpPr>
            <a:spLocks noChangeArrowheads="1"/>
          </p:cNvSpPr>
          <p:nvPr/>
        </p:nvSpPr>
        <p:spPr bwMode="auto">
          <a:xfrm>
            <a:off x="452525" y="6237312"/>
            <a:ext cx="83899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 dirty="0"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http://www.bbc.co.uk/programmes/p047t7v6</a:t>
            </a:r>
            <a:endParaRPr lang="en-GB" altLang="en-US" sz="2400" i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66936"/>
            <a:ext cx="786765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DE7616-9278-A8B1-5F45-B921546CCA9C}"/>
              </a:ext>
            </a:extLst>
          </p:cNvPr>
          <p:cNvSpPr txBox="1"/>
          <p:nvPr/>
        </p:nvSpPr>
        <p:spPr>
          <a:xfrm>
            <a:off x="107504" y="116632"/>
            <a:ext cx="9036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‘What has been spoiled through man’s fault can be made good again through man’s work’ </a:t>
            </a:r>
          </a:p>
          <a:p>
            <a:pPr algn="ctr"/>
            <a:r>
              <a:rPr lang="en-GB" sz="2400" dirty="0"/>
              <a:t>I-Ching (Book of Changes)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9" y="333375"/>
            <a:ext cx="41767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3600" b="1" i="1" dirty="0">
                <a:solidFill>
                  <a:schemeClr val="accent5">
                    <a:lumMod val="50000"/>
                  </a:schemeClr>
                </a:solidFill>
                <a:latin typeface="Arial" charset="0"/>
                <a:cs typeface="Arial" charset="0"/>
              </a:rPr>
              <a:t>Wider determinants of health</a:t>
            </a:r>
          </a:p>
        </p:txBody>
      </p:sp>
      <p:sp>
        <p:nvSpPr>
          <p:cNvPr id="18435" name="TextBox 3"/>
          <p:cNvSpPr txBox="1">
            <a:spLocks noChangeArrowheads="1"/>
          </p:cNvSpPr>
          <p:nvPr/>
        </p:nvSpPr>
        <p:spPr bwMode="auto">
          <a:xfrm>
            <a:off x="495357" y="329318"/>
            <a:ext cx="799306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Social gradient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Stress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Early life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Social exclusion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Work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Unemployment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Social support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Addiction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Food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 dirty="0"/>
              <a:t> Transport  </a:t>
            </a:r>
            <a:r>
              <a:rPr lang="en-GB" altLang="en-US" sz="2400" i="1" dirty="0"/>
              <a:t>(WHO, 2003)</a:t>
            </a: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395536" y="4730523"/>
            <a:ext cx="8912921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dirty="0">
                <a:hlinkClick r:id="rId3"/>
              </a:rPr>
              <a:t>https://www.youtube.com/watch?v=3hSQBwBndR8</a:t>
            </a:r>
            <a:r>
              <a:rPr lang="en-GB" altLang="en-US" sz="1800" dirty="0"/>
              <a:t> Housing crisis (3m)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dirty="0">
                <a:hlinkClick r:id="rId4"/>
              </a:rPr>
              <a:t>https://www.bbc.co.uk/sounds/play/m0019k6y</a:t>
            </a:r>
            <a:r>
              <a:rPr lang="en-GB" altLang="en-US" sz="1800" dirty="0"/>
              <a:t> Food Poverty podcast (29m)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dirty="0"/>
              <a:t>Long read King’s Fund: </a:t>
            </a:r>
            <a:r>
              <a:rPr lang="en-GB" altLang="en-US" sz="1800" dirty="0">
                <a:hlinkClick r:id="rId5"/>
              </a:rPr>
              <a:t>https://www.kingsfund.org.uk/insight-and-analysis/long-reads/forecasted-doubling-health-care-spending</a:t>
            </a: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and a dotted line&#10;&#10;AI-generated content may be incorrect.">
            <a:extLst>
              <a:ext uri="{FF2B5EF4-FFF2-40B4-BE49-F238E27FC236}">
                <a16:creationId xmlns:a16="http://schemas.microsoft.com/office/drawing/2014/main" id="{0A05268C-0181-C0BB-D3FF-748B69942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3460"/>
            <a:ext cx="4973811" cy="2855058"/>
          </a:xfrm>
          <a:prstGeom prst="rect">
            <a:avLst/>
          </a:prstGeom>
        </p:spPr>
      </p:pic>
      <p:pic>
        <p:nvPicPr>
          <p:cNvPr id="5" name="Picture 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E89ECC2B-B27C-B633-B8F9-96703D284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6" y="3339719"/>
            <a:ext cx="5552137" cy="3046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0174EE-220D-A960-A902-04290FC0E685}"/>
              </a:ext>
            </a:extLst>
          </p:cNvPr>
          <p:cNvSpPr txBox="1"/>
          <p:nvPr/>
        </p:nvSpPr>
        <p:spPr>
          <a:xfrm>
            <a:off x="5846667" y="764704"/>
            <a:ext cx="2808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Current smokers, England, adults, 2011-2023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1ACF4-6204-8648-4191-0A2D733E6C23}"/>
              </a:ext>
            </a:extLst>
          </p:cNvPr>
          <p:cNvSpPr txBox="1"/>
          <p:nvPr/>
        </p:nvSpPr>
        <p:spPr>
          <a:xfrm>
            <a:off x="5633273" y="3429000"/>
            <a:ext cx="32351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OR of smoking in routine &amp; manual labour group compared with others, England, adults, 2011-2023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E9F56-0E1C-6D3F-B99E-1A218DD1BA33}"/>
              </a:ext>
            </a:extLst>
          </p:cNvPr>
          <p:cNvSpPr txBox="1"/>
          <p:nvPr/>
        </p:nvSpPr>
        <p:spPr>
          <a:xfrm>
            <a:off x="6948264" y="6165304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(OHID, 2024)</a:t>
            </a:r>
          </a:p>
        </p:txBody>
      </p:sp>
    </p:spTree>
    <p:extLst>
      <p:ext uri="{BB962C8B-B14F-4D97-AF65-F5344CB8AC3E}">
        <p14:creationId xmlns:p14="http://schemas.microsoft.com/office/powerpoint/2010/main" val="428882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sease&#10;&#10;AI-generated content may be incorrect.">
            <a:extLst>
              <a:ext uri="{FF2B5EF4-FFF2-40B4-BE49-F238E27FC236}">
                <a16:creationId xmlns:a16="http://schemas.microsoft.com/office/drawing/2014/main" id="{BA9868AC-F7DC-DDAB-9275-8B235D876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333030"/>
            <a:ext cx="8477686" cy="5162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C3DFD1-690E-2B67-C8B9-9EFA29EB4791}"/>
              </a:ext>
            </a:extLst>
          </p:cNvPr>
          <p:cNvSpPr txBox="1"/>
          <p:nvPr/>
        </p:nvSpPr>
        <p:spPr>
          <a:xfrm>
            <a:off x="4932040" y="626581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(Arnold &amp; Holden, 2025)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B8D56-2F78-506A-F938-B11FC61A714B}"/>
              </a:ext>
            </a:extLst>
          </p:cNvPr>
          <p:cNvSpPr txBox="1"/>
          <p:nvPr/>
        </p:nvSpPr>
        <p:spPr>
          <a:xfrm>
            <a:off x="647564" y="116632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solidFill>
                  <a:srgbClr val="009999"/>
                </a:solidFill>
              </a:rPr>
              <a:t>Examples of prevention types for lung cancer</a:t>
            </a:r>
          </a:p>
        </p:txBody>
      </p:sp>
    </p:spTree>
    <p:extLst>
      <p:ext uri="{BB962C8B-B14F-4D97-AF65-F5344CB8AC3E}">
        <p14:creationId xmlns:p14="http://schemas.microsoft.com/office/powerpoint/2010/main" val="235690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FFDB3A-0825-3AFA-2B30-6B2D60FE6D99}"/>
              </a:ext>
            </a:extLst>
          </p:cNvPr>
          <p:cNvSpPr txBox="1"/>
          <p:nvPr/>
        </p:nvSpPr>
        <p:spPr>
          <a:xfrm>
            <a:off x="755576" y="1340768"/>
            <a:ext cx="79928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Stopping smoking more difficult for disadvantaged groups</a:t>
            </a:r>
          </a:p>
          <a:p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Lack of social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Higher nicotine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Challenging life circumstances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Factors relating to the services themselves</a:t>
            </a:r>
          </a:p>
          <a:p>
            <a:endParaRPr lang="en-GB" sz="2800" dirty="0"/>
          </a:p>
          <a:p>
            <a:r>
              <a:rPr lang="en-GB" sz="2800" dirty="0"/>
              <a:t>				</a:t>
            </a:r>
            <a:r>
              <a:rPr lang="en-GB" sz="2400" i="1" dirty="0"/>
              <a:t>(Hiscock &amp; Bauld, 2025)</a:t>
            </a:r>
          </a:p>
        </p:txBody>
      </p:sp>
    </p:spTree>
    <p:extLst>
      <p:ext uri="{BB962C8B-B14F-4D97-AF65-F5344CB8AC3E}">
        <p14:creationId xmlns:p14="http://schemas.microsoft.com/office/powerpoint/2010/main" val="372789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2A0BA-CBD7-D071-EA00-6E6D2FD3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4" y="1556792"/>
            <a:ext cx="8684792" cy="44388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6123E-619D-B261-D193-D446AD3C83AF}"/>
              </a:ext>
            </a:extLst>
          </p:cNvPr>
          <p:cNvSpPr txBox="1"/>
          <p:nvPr/>
        </p:nvSpPr>
        <p:spPr>
          <a:xfrm>
            <a:off x="863588" y="260648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solidFill>
                  <a:srgbClr val="009999"/>
                </a:solidFill>
              </a:rPr>
              <a:t>Overlap with UN Sustainable Development Goals (SDGs)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F0EBD-9B45-1D5B-7710-3E52E49B45C2}"/>
              </a:ext>
            </a:extLst>
          </p:cNvPr>
          <p:cNvSpPr txBox="1"/>
          <p:nvPr/>
        </p:nvSpPr>
        <p:spPr>
          <a:xfrm>
            <a:off x="4342396" y="6091501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hlinkClick r:id="rId3"/>
              </a:rPr>
              <a:t>https://sdgs.un.org/goals</a:t>
            </a:r>
            <a:endParaRPr lang="en-GB" sz="2400" i="1" dirty="0"/>
          </a:p>
          <a:p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667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423A15E7-F453-A0A9-BD4C-A3E00309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914400"/>
            <a:ext cx="70485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>
            <a:extLst>
              <a:ext uri="{FF2B5EF4-FFF2-40B4-BE49-F238E27FC236}">
                <a16:creationId xmlns:a16="http://schemas.microsoft.com/office/drawing/2014/main" id="{BDD51519-6F19-5747-F001-B04EF3856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6070600"/>
            <a:ext cx="4554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</a:rPr>
              <a:t>(Butland et al, 2007: www.foresight.gov.uk)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8879E-4412-F104-419B-453F6C804CA4}"/>
              </a:ext>
            </a:extLst>
          </p:cNvPr>
          <p:cNvSpPr txBox="1"/>
          <p:nvPr/>
        </p:nvSpPr>
        <p:spPr>
          <a:xfrm>
            <a:off x="500063" y="214313"/>
            <a:ext cx="55721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 i="1" dirty="0">
                <a:solidFill>
                  <a:srgbClr val="009999"/>
                </a:solidFill>
              </a:rPr>
              <a:t>Very complex….</a:t>
            </a:r>
          </a:p>
        </p:txBody>
      </p:sp>
      <p:sp>
        <p:nvSpPr>
          <p:cNvPr id="27653" name="TextBox 1">
            <a:extLst>
              <a:ext uri="{FF2B5EF4-FFF2-40B4-BE49-F238E27FC236}">
                <a16:creationId xmlns:a16="http://schemas.microsoft.com/office/drawing/2014/main" id="{D0B639DA-1F2D-DB0C-703E-BDDAF9620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40413"/>
            <a:ext cx="38925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‘</a:t>
            </a:r>
            <a:r>
              <a:rPr lang="en-GB" altLang="en-US" sz="2400">
                <a:latin typeface="Arial" panose="020B0604020202020204" pitchFamily="34" charset="0"/>
              </a:rPr>
              <a:t>Inevitable &amp; largely involuntary consequence</a:t>
            </a:r>
            <a:r>
              <a:rPr lang="en-GB" altLang="en-US" sz="1800">
                <a:latin typeface="Arial" panose="020B0604020202020204" pitchFamily="34" charset="0"/>
              </a:rPr>
              <a:t>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048A8868-3FC4-24D3-ED2F-94300545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404813"/>
            <a:ext cx="7134225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>
            <a:extLst>
              <a:ext uri="{FF2B5EF4-FFF2-40B4-BE49-F238E27FC236}">
                <a16:creationId xmlns:a16="http://schemas.microsoft.com/office/drawing/2014/main" id="{A0CC5087-8A1C-F171-D4AF-EA438A0A5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6215063"/>
            <a:ext cx="4552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</a:rPr>
              <a:t>(Butland et al, 2007: www.foresight.gov.uk)</a:t>
            </a:r>
          </a:p>
        </p:txBody>
      </p:sp>
      <p:sp>
        <p:nvSpPr>
          <p:cNvPr id="29700" name="TextBox 1">
            <a:extLst>
              <a:ext uri="{FF2B5EF4-FFF2-40B4-BE49-F238E27FC236}">
                <a16:creationId xmlns:a16="http://schemas.microsoft.com/office/drawing/2014/main" id="{B4C9915C-6F7A-35D8-347B-61F64C8CA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707063"/>
            <a:ext cx="3673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‘</a:t>
            </a:r>
            <a:r>
              <a:rPr lang="en-GB" altLang="en-US" sz="2000">
                <a:latin typeface="Arial" panose="020B0604020202020204" pitchFamily="34" charset="0"/>
              </a:rPr>
              <a:t>Complex web of environmental, physiological &amp; behavioural factors’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057"/>
            <a:ext cx="6967537" cy="618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5795963" y="6021388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i="1"/>
              <a:t>(Herman et al, 2014)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DEC74-320E-3F03-D489-CCF8D442C18C}"/>
              </a:ext>
            </a:extLst>
          </p:cNvPr>
          <p:cNvSpPr txBox="1"/>
          <p:nvPr/>
        </p:nvSpPr>
        <p:spPr>
          <a:xfrm>
            <a:off x="251520" y="5952361"/>
            <a:ext cx="3816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Access to opportunities, resources, support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AEC4-1677-C909-2641-CE9187ED0A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Marginalised groups, hard to hear, seldom heard groups of people </a:t>
            </a:r>
          </a:p>
          <a:p>
            <a:r>
              <a:rPr lang="en-GB" dirty="0"/>
              <a:t>Homeless, refugees, travelling communities, learning disabilities</a:t>
            </a:r>
          </a:p>
          <a:p>
            <a:r>
              <a:rPr lang="en-GB" dirty="0"/>
              <a:t>Older people, those not speaking/reading English, offenders 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D56B1-49A8-B007-58DD-BCD949FA5D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Lack of awareness of opportunities</a:t>
            </a:r>
          </a:p>
          <a:p>
            <a:r>
              <a:rPr lang="en-GB" dirty="0"/>
              <a:t>Impairment/inaccessibility </a:t>
            </a:r>
          </a:p>
          <a:p>
            <a:r>
              <a:rPr lang="en-GB" dirty="0"/>
              <a:t>Cultural differences: age, gender, timing, locations</a:t>
            </a:r>
          </a:p>
          <a:p>
            <a:r>
              <a:rPr lang="en-GB" dirty="0"/>
              <a:t>Expectations </a:t>
            </a:r>
          </a:p>
          <a:p>
            <a:r>
              <a:rPr lang="en-GB" dirty="0"/>
              <a:t>Trust</a:t>
            </a:r>
          </a:p>
          <a:p>
            <a:r>
              <a:rPr lang="en-GB" dirty="0"/>
              <a:t>Time </a:t>
            </a:r>
          </a:p>
          <a:p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CF6C6A-C1EC-4A72-A4BA-E694C128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sz="3600" b="1" i="1" dirty="0">
                <a:solidFill>
                  <a:srgbClr val="009999"/>
                </a:solidFill>
              </a:rPr>
              <a:t>Reaching some groups is more challenging…</a:t>
            </a:r>
          </a:p>
        </p:txBody>
      </p:sp>
    </p:spTree>
    <p:extLst>
      <p:ext uri="{BB962C8B-B14F-4D97-AF65-F5344CB8AC3E}">
        <p14:creationId xmlns:p14="http://schemas.microsoft.com/office/powerpoint/2010/main" val="3092773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6C6A-C1EC-4A72-A4BA-E694C128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1" dirty="0">
                <a:solidFill>
                  <a:srgbClr val="009999"/>
                </a:solidFill>
              </a:rPr>
              <a:t>Questions to ask: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378B-B18D-4DFF-88DB-174E1B18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385763" indent="-385763">
              <a:buAutoNum type="arabicPeriod"/>
            </a:pPr>
            <a:r>
              <a:rPr lang="en-GB" sz="2800" dirty="0"/>
              <a:t>How can I engage the target population?</a:t>
            </a:r>
          </a:p>
          <a:p>
            <a:pPr marL="385763" indent="-385763">
              <a:buAutoNum type="arabicPeriod"/>
            </a:pPr>
            <a:endParaRPr lang="en-GB" sz="2800" dirty="0"/>
          </a:p>
          <a:p>
            <a:pPr marL="385763" indent="-385763">
              <a:buAutoNum type="arabicPeriod"/>
            </a:pPr>
            <a:r>
              <a:rPr lang="en-GB" sz="2800" dirty="0"/>
              <a:t>What will help &amp; hinder?</a:t>
            </a:r>
          </a:p>
          <a:p>
            <a:pPr marL="385763" indent="-385763">
              <a:buAutoNum type="arabicPeriod"/>
            </a:pPr>
            <a:endParaRPr lang="en-GB" sz="2800" dirty="0"/>
          </a:p>
          <a:p>
            <a:pPr marL="385763" indent="-385763">
              <a:buAutoNum type="arabicPeriod"/>
            </a:pPr>
            <a:r>
              <a:rPr lang="en-GB" sz="2800" dirty="0"/>
              <a:t>What will support them?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65379-30FA-7E43-BA53-BA3B018DED16}"/>
              </a:ext>
            </a:extLst>
          </p:cNvPr>
          <p:cNvSpPr txBox="1"/>
          <p:nvPr/>
        </p:nvSpPr>
        <p:spPr>
          <a:xfrm>
            <a:off x="489857" y="5454131"/>
            <a:ext cx="8712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Helpful workbook: </a:t>
            </a:r>
            <a:r>
              <a:rPr lang="en-GB" sz="2400" dirty="0">
                <a:solidFill>
                  <a:srgbClr val="0099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https://lmcp.co.uk/wp-content/uploads/2017/03/Hard-to-reach-workbook.pdf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247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/>
          <a:lstStyle/>
          <a:p>
            <a:pPr>
              <a:defRPr/>
            </a:pPr>
            <a:r>
              <a:rPr lang="en-GB" sz="2800" b="1" i="1" dirty="0">
                <a:solidFill>
                  <a:schemeClr val="accent5">
                    <a:lumMod val="50000"/>
                  </a:schemeClr>
                </a:solidFill>
              </a:rPr>
              <a:t>References</a:t>
            </a:r>
          </a:p>
        </p:txBody>
      </p:sp>
      <p:sp>
        <p:nvSpPr>
          <p:cNvPr id="51203" name="TextBox 3"/>
          <p:cNvSpPr txBox="1">
            <a:spLocks noChangeArrowheads="1"/>
          </p:cNvSpPr>
          <p:nvPr/>
        </p:nvSpPr>
        <p:spPr bwMode="auto">
          <a:xfrm>
            <a:off x="48085" y="467968"/>
            <a:ext cx="9097962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n-lt"/>
              </a:rPr>
              <a:t>Arnold S &amp; Holden J (2025) </a:t>
            </a:r>
            <a:r>
              <a:rPr lang="en-GB" sz="1800" i="1" dirty="0">
                <a:latin typeface="+mn-lt"/>
              </a:rPr>
              <a:t>What is prevention in health?</a:t>
            </a:r>
            <a:r>
              <a:rPr lang="en-GB" sz="1800" dirty="0">
                <a:latin typeface="+mn-lt"/>
              </a:rPr>
              <a:t> King’s Fund long read. </a:t>
            </a:r>
            <a:r>
              <a:rPr lang="en-GB" sz="1800" dirty="0">
                <a:latin typeface="+mn-lt"/>
                <a:hlinkClick r:id="rId3"/>
              </a:rPr>
              <a:t>https://www.kingsfund.org.uk/insight-and-analysis/long-reads/what-is-prevention-in-health</a:t>
            </a:r>
            <a:endParaRPr lang="en-GB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Butland B et al (2007) </a:t>
            </a:r>
            <a:r>
              <a:rPr lang="en-GB" altLang="en-US" sz="1800" i="1" dirty="0">
                <a:solidFill>
                  <a:srgbClr val="000000"/>
                </a:solidFill>
                <a:latin typeface="+mj-lt"/>
              </a:rPr>
              <a:t>Tackling Obesities: Future Choices</a:t>
            </a: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. Project Report. Foresight: London.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DH (2000) </a:t>
            </a:r>
            <a:r>
              <a:rPr lang="en-GB" altLang="en-US" sz="1800" i="1" dirty="0">
                <a:solidFill>
                  <a:srgbClr val="000000"/>
                </a:solidFill>
                <a:latin typeface="+mj-lt"/>
              </a:rPr>
              <a:t>NHS Plan: A Plan for investment, a plan for reform</a:t>
            </a: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GB" altLang="en-US" sz="1800" dirty="0">
                <a:solidFill>
                  <a:srgbClr val="000000"/>
                </a:solidFill>
                <a:latin typeface="+mj-lt"/>
                <a:hlinkClick r:id="rId4"/>
              </a:rPr>
              <a:t>https://www.bsuh.nhs.uk/library/wp-content/uploads/sites/8/2020/09/The-NHS-plan-2000.pdf</a:t>
            </a:r>
            <a:endParaRPr lang="en-GB" altLang="en-US" sz="180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DHSC (2025) </a:t>
            </a:r>
            <a:r>
              <a:rPr lang="en-GB" sz="1800" i="1" dirty="0"/>
              <a:t>National Child Measurement Programme annual report, academic year 2024 to 2025.</a:t>
            </a:r>
            <a:r>
              <a:rPr lang="en-GB" sz="1800" dirty="0"/>
              <a:t> </a:t>
            </a:r>
            <a:r>
              <a:rPr lang="en-GB" altLang="en-US" sz="1800" dirty="0">
                <a:solidFill>
                  <a:srgbClr val="000000"/>
                </a:solidFill>
                <a:latin typeface="+mj-lt"/>
                <a:hlinkClick r:id="rId5"/>
              </a:rPr>
              <a:t>https://fingertips.phe.org.uk/static-reports/obesity-physical-activity-nutrition/national-child-measurement-programme-2024-2025-academic-year.html</a:t>
            </a:r>
            <a:endParaRPr lang="en-GB" altLang="en-US" sz="180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sz="1800" dirty="0">
                <a:solidFill>
                  <a:srgbClr val="000000"/>
                </a:solidFill>
                <a:latin typeface="+mj-lt"/>
                <a:cs typeface="+mn-cs"/>
              </a:rPr>
              <a:t>Herman DR et al (2014) </a:t>
            </a:r>
            <a:r>
              <a:rPr lang="en-GB" sz="1800" i="1" dirty="0">
                <a:solidFill>
                  <a:srgbClr val="000000"/>
                </a:solidFill>
                <a:latin typeface="+mj-lt"/>
                <a:cs typeface="+mn-cs"/>
              </a:rPr>
              <a:t>Life Course Perspective: Evidence for the Role of Nutrition.</a:t>
            </a:r>
            <a:r>
              <a:rPr lang="en-GB" sz="1800" dirty="0">
                <a:solidFill>
                  <a:srgbClr val="000000"/>
                </a:solidFill>
                <a:latin typeface="+mj-lt"/>
                <a:cs typeface="+mn-cs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+mj-lt"/>
                <a:cs typeface="+mn-cs"/>
              </a:rPr>
              <a:t>Matern</a:t>
            </a:r>
            <a:r>
              <a:rPr lang="en-GB" sz="1800" b="1" dirty="0">
                <a:solidFill>
                  <a:srgbClr val="000000"/>
                </a:solidFill>
                <a:latin typeface="+mj-lt"/>
                <a:cs typeface="+mn-cs"/>
              </a:rPr>
              <a:t>. Child Health J </a:t>
            </a:r>
            <a:r>
              <a:rPr lang="en-GB" sz="1800" u="sng" dirty="0">
                <a:solidFill>
                  <a:srgbClr val="000000"/>
                </a:solidFill>
                <a:latin typeface="+mj-lt"/>
                <a:cs typeface="+mn-cs"/>
              </a:rPr>
              <a:t>18</a:t>
            </a:r>
            <a:r>
              <a:rPr lang="en-GB" sz="1800" dirty="0">
                <a:solidFill>
                  <a:srgbClr val="000000"/>
                </a:solidFill>
                <a:latin typeface="+mj-lt"/>
                <a:cs typeface="+mn-cs"/>
              </a:rPr>
              <a:t>: 450-61. </a:t>
            </a: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</a:rPr>
              <a:t>Hiscock R &amp; Bauld L (2025) </a:t>
            </a:r>
            <a:r>
              <a:rPr lang="en-GB" sz="1800" i="1" dirty="0"/>
              <a:t>Stop Smoking Services and Health Inequalities.</a:t>
            </a:r>
            <a:r>
              <a:rPr lang="en-GB" sz="1800" dirty="0"/>
              <a:t> NCSCT Briefing 10. </a:t>
            </a:r>
            <a:r>
              <a:rPr lang="en-GB" sz="1800" dirty="0">
                <a:hlinkClick r:id="rId6"/>
              </a:rPr>
              <a:t>https://www.ncsct.co.uk/library/view/pdf/stop-smoking-services-and-health-inequalities.pdf</a:t>
            </a:r>
            <a:endParaRPr lang="en-GB" sz="1800" dirty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Marmot M (2010)  </a:t>
            </a:r>
            <a:r>
              <a:rPr lang="en-GB" altLang="en-US" sz="1800" i="1" dirty="0">
                <a:solidFill>
                  <a:srgbClr val="000000"/>
                </a:solidFill>
                <a:latin typeface="+mj-lt"/>
              </a:rPr>
              <a:t>Fair Society, Healthy Lives</a:t>
            </a: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GB" altLang="en-US" sz="1800" dirty="0">
                <a:solidFill>
                  <a:srgbClr val="000000"/>
                </a:solidFill>
                <a:latin typeface="+mj-lt"/>
                <a:hlinkClick r:id="rId7"/>
              </a:rPr>
              <a:t>https://www.local.gov.uk/marmot-review-report-fair-society-healthy-lives</a:t>
            </a:r>
            <a:endParaRPr lang="en-GB" altLang="en-US" sz="180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Marmot M et al (2020). </a:t>
            </a:r>
            <a:r>
              <a:rPr lang="en-GB" altLang="en-US" sz="1800" i="1" dirty="0">
                <a:solidFill>
                  <a:srgbClr val="000000"/>
                </a:solidFill>
                <a:latin typeface="+mj-lt"/>
              </a:rPr>
              <a:t>Build Back Fairer: The COVID-19 Marmot Review. The Pandemic, Socioeconomic and Health Inequalities in England</a:t>
            </a:r>
            <a:r>
              <a:rPr lang="en-GB" altLang="en-US" sz="1800" dirty="0">
                <a:solidFill>
                  <a:srgbClr val="000000"/>
                </a:solidFill>
                <a:latin typeface="+mj-lt"/>
              </a:rPr>
              <a:t>. London: Institute of Health Equity. Executive summary. </a:t>
            </a:r>
            <a:r>
              <a:rPr lang="en-GB" altLang="en-US" sz="1800" dirty="0">
                <a:solidFill>
                  <a:srgbClr val="000000"/>
                </a:solidFill>
                <a:latin typeface="+mj-lt"/>
                <a:hlinkClick r:id="rId8"/>
              </a:rPr>
              <a:t>https://www.health.org.uk/sites/default/files/2020-12/Build-back-fairer--Exec-summary.pdf</a:t>
            </a:r>
            <a:endParaRPr lang="en-GB" altLang="en-US" sz="18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C4234-0D47-6491-79CF-9436F2831830}"/>
              </a:ext>
            </a:extLst>
          </p:cNvPr>
          <p:cNvSpPr txBox="1"/>
          <p:nvPr/>
        </p:nvSpPr>
        <p:spPr>
          <a:xfrm>
            <a:off x="107504" y="188640"/>
            <a:ext cx="882098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altLang="en-US" dirty="0">
                <a:solidFill>
                  <a:srgbClr val="000000"/>
                </a:solidFill>
              </a:rPr>
              <a:t>NHS Digital (2024) </a:t>
            </a:r>
            <a:r>
              <a:rPr lang="en-GB" altLang="en-US" i="1" dirty="0">
                <a:solidFill>
                  <a:srgbClr val="000000"/>
                </a:solidFill>
              </a:rPr>
              <a:t>Health Survey for England 2022 Part 2.  </a:t>
            </a:r>
            <a:r>
              <a:rPr lang="en-GB" altLang="en-US" dirty="0">
                <a:solidFill>
                  <a:srgbClr val="000000"/>
                </a:solidFill>
                <a:hlinkClick r:id="rId2"/>
              </a:rPr>
              <a:t>https://digital.nhs.uk/data-and-information/publications/statistical/health-survey-for-england/2022-part-2/adult-overweight-and-obesity</a:t>
            </a:r>
            <a:endParaRPr lang="en-GB" altLang="en-US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OHID (2024) </a:t>
            </a:r>
            <a:r>
              <a:rPr lang="en-GB" i="1" dirty="0"/>
              <a:t>Smoking profile for England: statistical commentary, October 2024 update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https://www.gov.uk/government/statistics/smoking-profile-october-2024-update/smoking-profile-for-england-statistical-commentary-october-2024-update</a:t>
            </a:r>
            <a:endParaRPr lang="en-GB" dirty="0"/>
          </a:p>
          <a:p>
            <a:pPr eaLnBrk="1" hangingPunct="1"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ONS (2025) </a:t>
            </a:r>
            <a:r>
              <a:rPr lang="en-GB" i="1" dirty="0"/>
              <a:t>Healthy life expectancy by national area deprivation, England and Wales: between 2013 to 2015 and 2020 to 2022.</a:t>
            </a:r>
            <a:r>
              <a:rPr kumimoji="0" lang="en-GB" altLang="en-US" sz="18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lang="en-GB" altLang="en-US" i="1" dirty="0">
                <a:solidFill>
                  <a:srgbClr val="000000"/>
                </a:solidFill>
                <a:latin typeface="Arial"/>
                <a:hlinkClick r:id="rId4"/>
              </a:rPr>
              <a:t>https://www.ons.gov.uk/peoplepopulationandcommunity/healthandsocialcare/healthinequalities/bulletins/healthylifeexpectancybynationalareadeprivationenglandandwales/between2013to2015and2020to2022</a:t>
            </a:r>
            <a:endParaRPr lang="en-GB" altLang="en-US" i="1" dirty="0">
              <a:solidFill>
                <a:srgbClr val="000000"/>
              </a:solidFill>
              <a:latin typeface="Arial"/>
            </a:endParaRPr>
          </a:p>
          <a:p>
            <a:pPr lvl="0" eaLnBrk="1" hangingPunct="1"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PHE (2021) </a:t>
            </a:r>
            <a:r>
              <a:rPr kumimoji="0" lang="en-GB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Health profile for England 2021.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hlinkClick r:id="rId5"/>
              </a:rPr>
              <a:t>https://fingertips.phe.org.uk/static-reports/health-profile-for-england/hpfe_report.html</a:t>
            </a: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800" dirty="0">
                <a:solidFill>
                  <a:prstClr val="black"/>
                </a:solidFill>
                <a:latin typeface="+mj-lt"/>
                <a:cs typeface="+mn-cs"/>
              </a:rPr>
              <a:t>PHE (2020) </a:t>
            </a:r>
            <a:r>
              <a:rPr lang="en-GB" altLang="en-US" sz="1800" i="1" dirty="0">
                <a:solidFill>
                  <a:prstClr val="black"/>
                </a:solidFill>
                <a:latin typeface="+mj-lt"/>
                <a:cs typeface="+mn-cs"/>
              </a:rPr>
              <a:t>Disparities in the risk &amp; outcomes of Covid 19</a:t>
            </a:r>
            <a:r>
              <a:rPr lang="en-GB" altLang="en-US" sz="1800" dirty="0">
                <a:solidFill>
                  <a:prstClr val="black"/>
                </a:solidFill>
                <a:latin typeface="+mj-lt"/>
                <a:cs typeface="+mn-cs"/>
              </a:rPr>
              <a:t>. </a:t>
            </a:r>
            <a:r>
              <a:rPr lang="en-GB" sz="1800" dirty="0">
                <a:hlinkClick r:id="rId6"/>
              </a:rPr>
              <a:t>https://assets.publishing.service.gov.uk/government/uploads/system/uploads/attachment_data/file/908434/Disparities_in_the_risk_and_outcomes_of_COVID_August_2020_update.pdf</a:t>
            </a:r>
            <a:endParaRPr lang="en-GB" sz="1800" dirty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800" dirty="0">
                <a:latin typeface="+mj-lt"/>
              </a:rPr>
              <a:t>WHO (2003) </a:t>
            </a:r>
            <a:r>
              <a:rPr lang="en-GB" altLang="en-US" sz="1800" i="1" dirty="0">
                <a:latin typeface="+mj-lt"/>
              </a:rPr>
              <a:t>Social Determinants of Health, the Solids Facts</a:t>
            </a:r>
            <a:r>
              <a:rPr lang="en-GB" altLang="en-US" sz="1800" dirty="0">
                <a:latin typeface="+mj-lt"/>
              </a:rPr>
              <a:t>, 2</a:t>
            </a:r>
            <a:r>
              <a:rPr lang="en-GB" altLang="en-US" sz="1800" baseline="30000" dirty="0">
                <a:latin typeface="+mj-lt"/>
              </a:rPr>
              <a:t>nd</a:t>
            </a:r>
            <a:r>
              <a:rPr lang="en-GB" altLang="en-US" sz="1800" dirty="0">
                <a:latin typeface="+mj-lt"/>
              </a:rPr>
              <a:t> edition. </a:t>
            </a:r>
            <a:r>
              <a:rPr lang="en-GB" altLang="en-US" sz="1800" dirty="0">
                <a:latin typeface="+mj-lt"/>
                <a:hlinkClick r:id="rId7"/>
              </a:rPr>
              <a:t>https://apps.who.int/iris/bitstream/handle/10665/108082/9289012870-eng.pdf?sequence=1&amp;isAllowed=y</a:t>
            </a:r>
            <a:endParaRPr lang="en-GB" altLang="en-US" sz="1800" dirty="0">
              <a:latin typeface="+mj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Useful information: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hlinkClick r:id="rId8"/>
              </a:rPr>
              <a:t>https://www.health.org.uk/</a:t>
            </a: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hlinkClick r:id="rId9"/>
              </a:rPr>
              <a:t>https://fingertips.phe.org.uk/profile/wider-determinants</a:t>
            </a:r>
            <a:endParaRPr lang="en-GB" altLang="en-US" dirty="0">
              <a:solidFill>
                <a:srgbClr val="000000"/>
              </a:solidFill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935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AB25DD07A14B459809CCDAF6E35F4B" ma:contentTypeVersion="5" ma:contentTypeDescription="Create a new document." ma:contentTypeScope="" ma:versionID="e5c48a4786961b2f4194cca9db7ee5ff">
  <xsd:schema xmlns:xsd="http://www.w3.org/2001/XMLSchema" xmlns:xs="http://www.w3.org/2001/XMLSchema" xmlns:p="http://schemas.microsoft.com/office/2006/metadata/properties" xmlns:ns3="9d0b5a7c-d7b6-4d90-a90e-bc934b9acac6" targetNamespace="http://schemas.microsoft.com/office/2006/metadata/properties" ma:root="true" ma:fieldsID="75880082e09436941adb75e64d9aaec0" ns3:_="">
    <xsd:import namespace="9d0b5a7c-d7b6-4d90-a90e-bc934b9aca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b5a7c-d7b6-4d90-a90e-bc934b9ac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0b5a7c-d7b6-4d90-a90e-bc934b9acac6" xsi:nil="true"/>
  </documentManagement>
</p:properties>
</file>

<file path=customXml/itemProps1.xml><?xml version="1.0" encoding="utf-8"?>
<ds:datastoreItem xmlns:ds="http://schemas.openxmlformats.org/officeDocument/2006/customXml" ds:itemID="{7C81C225-1F6F-44FD-BBBF-C202A8F547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4337E1-E910-48EB-9CF8-DFC5D9722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0b5a7c-d7b6-4d90-a90e-bc934b9ac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CDD026-36D6-4F1D-BA47-48AEFCE38DB1}">
  <ds:schemaRefs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d0b5a7c-d7b6-4d90-a90e-bc934b9acac6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</Words>
  <Application>Microsoft Office PowerPoint</Application>
  <PresentationFormat>On-screen Show (4:3)</PresentationFormat>
  <Paragraphs>146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Symbol</vt:lpstr>
      <vt:lpstr>Times New Roman</vt:lpstr>
      <vt:lpstr>Default Design</vt:lpstr>
      <vt:lpstr>1_Default Design</vt:lpstr>
      <vt:lpstr>Wider determinants of health   NU/DT5079 </vt:lpstr>
      <vt:lpstr>PowerPoint Presentation</vt:lpstr>
      <vt:lpstr>PowerPoint Presentation</vt:lpstr>
      <vt:lpstr>PowerPoint Presentation</vt:lpstr>
      <vt:lpstr>PowerPoint Presentation</vt:lpstr>
      <vt:lpstr>Adult waist circumference, England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Reaching some groups is more challenging…</vt:lpstr>
      <vt:lpstr>Questions to ask:  </vt:lpstr>
      <vt:lpstr>References</vt:lpstr>
      <vt:lpstr>PowerPoint Presentation</vt:lpstr>
    </vt:vector>
  </TitlesOfParts>
  <Company>Kingston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inequalities</dc:title>
  <dc:creator>KU14809</dc:creator>
  <cp:lastModifiedBy>Hilda Mulrooney</cp:lastModifiedBy>
  <cp:revision>222</cp:revision>
  <cp:lastPrinted>2018-08-28T08:35:29Z</cp:lastPrinted>
  <dcterms:created xsi:type="dcterms:W3CDTF">2005-10-17T10:46:56Z</dcterms:created>
  <dcterms:modified xsi:type="dcterms:W3CDTF">2026-02-14T16:52:08Z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551598-29da-492a-8b9f-8358cd43dd03_Enabled">
    <vt:lpwstr>True</vt:lpwstr>
  </property>
  <property fmtid="{D5CDD505-2E9C-101B-9397-08002B2CF9AE}" pid="3" name="MSIP_Label_3b551598-29da-492a-8b9f-8358cd43dd03_SiteId">
    <vt:lpwstr>c9ef029c-18cf-4016-86d3-93cf8e94ff94</vt:lpwstr>
  </property>
  <property fmtid="{D5CDD505-2E9C-101B-9397-08002B2CF9AE}" pid="4" name="MSIP_Label_3b551598-29da-492a-8b9f-8358cd43dd03_Owner">
    <vt:lpwstr>KU48101@kingston.ac.uk</vt:lpwstr>
  </property>
  <property fmtid="{D5CDD505-2E9C-101B-9397-08002B2CF9AE}" pid="5" name="MSIP_Label_3b551598-29da-492a-8b9f-8358cd43dd03_SetDate">
    <vt:lpwstr>2020-08-14T14:44:50.8748298Z</vt:lpwstr>
  </property>
  <property fmtid="{D5CDD505-2E9C-101B-9397-08002B2CF9AE}" pid="6" name="MSIP_Label_3b551598-29da-492a-8b9f-8358cd43dd03_Name">
    <vt:lpwstr>General</vt:lpwstr>
  </property>
  <property fmtid="{D5CDD505-2E9C-101B-9397-08002B2CF9AE}" pid="7" name="MSIP_Label_3b551598-29da-492a-8b9f-8358cd43dd03_Application">
    <vt:lpwstr>Microsoft Azure Information Protection</vt:lpwstr>
  </property>
  <property fmtid="{D5CDD505-2E9C-101B-9397-08002B2CF9AE}" pid="8" name="MSIP_Label_3b551598-29da-492a-8b9f-8358cd43dd03_ActionId">
    <vt:lpwstr>dbe32df8-42cb-4642-af9c-cede412c3726</vt:lpwstr>
  </property>
  <property fmtid="{D5CDD505-2E9C-101B-9397-08002B2CF9AE}" pid="9" name="MSIP_Label_3b551598-29da-492a-8b9f-8358cd43dd03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0x010100A9AB25DD07A14B459809CCDAF6E35F4B</vt:lpwstr>
  </property>
</Properties>
</file>