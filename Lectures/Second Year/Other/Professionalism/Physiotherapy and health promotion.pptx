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7" r:id="rId30"/>
    <p:sldId id="284" r:id="rId31"/>
    <p:sldId id="285" r:id="rId32"/>
    <p:sldId id="286"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C7BC7-9A27-4DF9-9A14-BCC94DD231C6}" v="64" dt="2026-03-18T10:46:49.7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7918" autoAdjust="0"/>
  </p:normalViewPr>
  <p:slideViewPr>
    <p:cSldViewPr snapToGrid="0">
      <p:cViewPr varScale="1">
        <p:scale>
          <a:sx n="75" d="100"/>
          <a:sy n="75" d="100"/>
        </p:scale>
        <p:origin x="195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97A380-F638-4365-8D19-5D25FB60BDB6}" type="doc">
      <dgm:prSet loTypeId="urn:microsoft.com/office/officeart/2005/8/layout/hProcess9" loCatId="process" qsTypeId="urn:microsoft.com/office/officeart/2005/8/quickstyle/simple1" qsCatId="simple" csTypeId="urn:microsoft.com/office/officeart/2005/8/colors/accent0_2" csCatId="mainScheme" phldr="1"/>
      <dgm:spPr/>
      <dgm:t>
        <a:bodyPr/>
        <a:lstStyle/>
        <a:p>
          <a:endParaRPr lang="en-GB"/>
        </a:p>
      </dgm:t>
    </dgm:pt>
    <dgm:pt modelId="{BFF7D402-0EA2-4ABF-AB22-FFE42A50AEDE}">
      <dgm:prSet phldrT="[Text]" phldr="0"/>
      <dgm:spPr/>
      <dgm:t>
        <a:bodyPr/>
        <a:lstStyle/>
        <a:p>
          <a:r>
            <a:rPr lang="en-GB" dirty="0"/>
            <a:t>Low back pain </a:t>
          </a:r>
        </a:p>
      </dgm:t>
    </dgm:pt>
    <dgm:pt modelId="{45FF1412-47E5-4490-BBEF-78607F76387D}" type="parTrans" cxnId="{BFE02AAA-EDCC-417F-8A84-AA0800C1AFF8}">
      <dgm:prSet/>
      <dgm:spPr/>
      <dgm:t>
        <a:bodyPr/>
        <a:lstStyle/>
        <a:p>
          <a:endParaRPr lang="en-GB"/>
        </a:p>
      </dgm:t>
    </dgm:pt>
    <dgm:pt modelId="{B9275935-B5D8-4FD1-B0F3-CD25F185C68B}" type="sibTrans" cxnId="{BFE02AAA-EDCC-417F-8A84-AA0800C1AFF8}">
      <dgm:prSet/>
      <dgm:spPr/>
      <dgm:t>
        <a:bodyPr/>
        <a:lstStyle/>
        <a:p>
          <a:endParaRPr lang="en-GB"/>
        </a:p>
      </dgm:t>
    </dgm:pt>
    <dgm:pt modelId="{836FD4FF-4FB4-4A76-849C-967DB79189CB}">
      <dgm:prSet phldrT="[Text]"/>
      <dgm:spPr/>
      <dgm:t>
        <a:bodyPr/>
        <a:lstStyle/>
        <a:p>
          <a:r>
            <a:rPr lang="en-GB" dirty="0"/>
            <a:t>Long term sickness. Chronic inactivity </a:t>
          </a:r>
        </a:p>
      </dgm:t>
    </dgm:pt>
    <dgm:pt modelId="{30BF7828-8675-4E64-95A4-8ACD1444C454}" type="parTrans" cxnId="{290EB90F-A4FA-4414-BEB6-79F3E82B10D7}">
      <dgm:prSet/>
      <dgm:spPr/>
      <dgm:t>
        <a:bodyPr/>
        <a:lstStyle/>
        <a:p>
          <a:endParaRPr lang="en-GB"/>
        </a:p>
      </dgm:t>
    </dgm:pt>
    <dgm:pt modelId="{642E3AFD-3F61-48E7-A989-926ED0D9ECF1}" type="sibTrans" cxnId="{290EB90F-A4FA-4414-BEB6-79F3E82B10D7}">
      <dgm:prSet/>
      <dgm:spPr/>
      <dgm:t>
        <a:bodyPr/>
        <a:lstStyle/>
        <a:p>
          <a:endParaRPr lang="en-GB"/>
        </a:p>
      </dgm:t>
    </dgm:pt>
    <dgm:pt modelId="{F44E3D62-8F4B-4810-B5C5-532C3BA1E378}">
      <dgm:prSet phldrT="[Text]" phldr="0"/>
      <dgm:spPr/>
      <dgm:t>
        <a:bodyPr/>
        <a:lstStyle/>
        <a:p>
          <a:r>
            <a:rPr lang="en-GB" dirty="0"/>
            <a:t>Physiotherapy intervention : </a:t>
          </a:r>
        </a:p>
        <a:p>
          <a:r>
            <a:rPr lang="en-GB" dirty="0"/>
            <a:t>- Therapy</a:t>
          </a:r>
        </a:p>
        <a:p>
          <a:r>
            <a:rPr lang="en-GB" dirty="0"/>
            <a:t>-Behaviour change </a:t>
          </a:r>
        </a:p>
        <a:p>
          <a:r>
            <a:rPr lang="en-GB" dirty="0"/>
            <a:t>-Education </a:t>
          </a:r>
        </a:p>
      </dgm:t>
    </dgm:pt>
    <dgm:pt modelId="{E65778CE-D6E2-4313-B6A2-268D5CC59A3E}" type="parTrans" cxnId="{3BDFA9F0-8CA5-4019-8117-9A2E54BFCB78}">
      <dgm:prSet/>
      <dgm:spPr/>
      <dgm:t>
        <a:bodyPr/>
        <a:lstStyle/>
        <a:p>
          <a:endParaRPr lang="en-GB"/>
        </a:p>
      </dgm:t>
    </dgm:pt>
    <dgm:pt modelId="{407B134B-5DFE-48AD-979F-3E1A47CECC08}" type="sibTrans" cxnId="{3BDFA9F0-8CA5-4019-8117-9A2E54BFCB78}">
      <dgm:prSet/>
      <dgm:spPr/>
      <dgm:t>
        <a:bodyPr/>
        <a:lstStyle/>
        <a:p>
          <a:endParaRPr lang="en-GB"/>
        </a:p>
      </dgm:t>
    </dgm:pt>
    <dgm:pt modelId="{11A3B7E5-B0F0-46C4-9966-549260F641D6}">
      <dgm:prSet/>
      <dgm:spPr/>
      <dgm:t>
        <a:bodyPr/>
        <a:lstStyle/>
        <a:p>
          <a:r>
            <a:rPr lang="en-GB" dirty="0"/>
            <a:t>Patient avoids movement. </a:t>
          </a:r>
        </a:p>
      </dgm:t>
    </dgm:pt>
    <dgm:pt modelId="{EA9660DD-51DB-4091-AB11-E71E11CC49EC}" type="parTrans" cxnId="{82580280-67AD-413C-8D07-2EA71E67B45F}">
      <dgm:prSet/>
      <dgm:spPr/>
      <dgm:t>
        <a:bodyPr/>
        <a:lstStyle/>
        <a:p>
          <a:endParaRPr lang="en-GB"/>
        </a:p>
      </dgm:t>
    </dgm:pt>
    <dgm:pt modelId="{3F39AAFE-867B-432D-A5F5-F839ADFE7039}" type="sibTrans" cxnId="{82580280-67AD-413C-8D07-2EA71E67B45F}">
      <dgm:prSet/>
      <dgm:spPr/>
      <dgm:t>
        <a:bodyPr/>
        <a:lstStyle/>
        <a:p>
          <a:endParaRPr lang="en-GB"/>
        </a:p>
      </dgm:t>
    </dgm:pt>
    <dgm:pt modelId="{B523FA8A-00FC-44B6-9CD0-70099A212C99}">
      <dgm:prSet/>
      <dgm:spPr/>
      <dgm:t>
        <a:bodyPr/>
        <a:lstStyle/>
        <a:p>
          <a:r>
            <a:rPr lang="en-GB" dirty="0"/>
            <a:t>Promote return to work and create sustainable plan to support normal function </a:t>
          </a:r>
        </a:p>
      </dgm:t>
    </dgm:pt>
    <dgm:pt modelId="{74B1DC31-A06D-4C51-96B1-59223797AF88}" type="parTrans" cxnId="{E715659A-B1FD-45D4-B2A9-34C7EFD8EAEA}">
      <dgm:prSet/>
      <dgm:spPr/>
      <dgm:t>
        <a:bodyPr/>
        <a:lstStyle/>
        <a:p>
          <a:endParaRPr lang="en-GB"/>
        </a:p>
      </dgm:t>
    </dgm:pt>
    <dgm:pt modelId="{D5A822D5-F3C1-43F6-9F56-480C998F893B}" type="sibTrans" cxnId="{E715659A-B1FD-45D4-B2A9-34C7EFD8EAEA}">
      <dgm:prSet/>
      <dgm:spPr/>
      <dgm:t>
        <a:bodyPr/>
        <a:lstStyle/>
        <a:p>
          <a:endParaRPr lang="en-GB"/>
        </a:p>
      </dgm:t>
    </dgm:pt>
    <dgm:pt modelId="{86086B0A-AEEC-48C6-8770-14BBC61CA24E}" type="pres">
      <dgm:prSet presAssocID="{7397A380-F638-4365-8D19-5D25FB60BDB6}" presName="CompostProcess" presStyleCnt="0">
        <dgm:presLayoutVars>
          <dgm:dir/>
          <dgm:resizeHandles val="exact"/>
        </dgm:presLayoutVars>
      </dgm:prSet>
      <dgm:spPr/>
    </dgm:pt>
    <dgm:pt modelId="{B65EBD05-3F22-43D8-9668-1B8CC651CDF9}" type="pres">
      <dgm:prSet presAssocID="{7397A380-F638-4365-8D19-5D25FB60BDB6}" presName="arrow" presStyleLbl="bgShp" presStyleIdx="0" presStyleCnt="1"/>
      <dgm:spPr/>
    </dgm:pt>
    <dgm:pt modelId="{412CC60A-0C31-4301-9D65-938E58D983DB}" type="pres">
      <dgm:prSet presAssocID="{7397A380-F638-4365-8D19-5D25FB60BDB6}" presName="linearProcess" presStyleCnt="0"/>
      <dgm:spPr/>
    </dgm:pt>
    <dgm:pt modelId="{8E83D3CF-884C-4709-B121-C720693B38F3}" type="pres">
      <dgm:prSet presAssocID="{BFF7D402-0EA2-4ABF-AB22-FFE42A50AEDE}" presName="textNode" presStyleLbl="node1" presStyleIdx="0" presStyleCnt="5">
        <dgm:presLayoutVars>
          <dgm:bulletEnabled val="1"/>
        </dgm:presLayoutVars>
      </dgm:prSet>
      <dgm:spPr/>
    </dgm:pt>
    <dgm:pt modelId="{303C9AB9-2081-4320-8801-853DA7A3C8C1}" type="pres">
      <dgm:prSet presAssocID="{B9275935-B5D8-4FD1-B0F3-CD25F185C68B}" presName="sibTrans" presStyleCnt="0"/>
      <dgm:spPr/>
    </dgm:pt>
    <dgm:pt modelId="{F2E75A76-B066-4E4E-A8BE-0A54DD8B8263}" type="pres">
      <dgm:prSet presAssocID="{11A3B7E5-B0F0-46C4-9966-549260F641D6}" presName="textNode" presStyleLbl="node1" presStyleIdx="1" presStyleCnt="5">
        <dgm:presLayoutVars>
          <dgm:bulletEnabled val="1"/>
        </dgm:presLayoutVars>
      </dgm:prSet>
      <dgm:spPr/>
    </dgm:pt>
    <dgm:pt modelId="{60AC708F-7C34-45BB-882C-96DBD370C998}" type="pres">
      <dgm:prSet presAssocID="{3F39AAFE-867B-432D-A5F5-F839ADFE7039}" presName="sibTrans" presStyleCnt="0"/>
      <dgm:spPr/>
    </dgm:pt>
    <dgm:pt modelId="{189F9547-06D0-4680-94D7-8E649D9870C0}" type="pres">
      <dgm:prSet presAssocID="{836FD4FF-4FB4-4A76-849C-967DB79189CB}" presName="textNode" presStyleLbl="node1" presStyleIdx="2" presStyleCnt="5">
        <dgm:presLayoutVars>
          <dgm:bulletEnabled val="1"/>
        </dgm:presLayoutVars>
      </dgm:prSet>
      <dgm:spPr/>
    </dgm:pt>
    <dgm:pt modelId="{A7092EEB-8EC9-4B61-9773-5DC263637A0D}" type="pres">
      <dgm:prSet presAssocID="{642E3AFD-3F61-48E7-A989-926ED0D9ECF1}" presName="sibTrans" presStyleCnt="0"/>
      <dgm:spPr/>
    </dgm:pt>
    <dgm:pt modelId="{4CE7BF3C-93B8-425D-9A2F-062168FF1476}" type="pres">
      <dgm:prSet presAssocID="{F44E3D62-8F4B-4810-B5C5-532C3BA1E378}" presName="textNode" presStyleLbl="node1" presStyleIdx="3" presStyleCnt="5">
        <dgm:presLayoutVars>
          <dgm:bulletEnabled val="1"/>
        </dgm:presLayoutVars>
      </dgm:prSet>
      <dgm:spPr/>
    </dgm:pt>
    <dgm:pt modelId="{7F16F837-E6A1-4D5A-8806-CBBBF4700A7C}" type="pres">
      <dgm:prSet presAssocID="{407B134B-5DFE-48AD-979F-3E1A47CECC08}" presName="sibTrans" presStyleCnt="0"/>
      <dgm:spPr/>
    </dgm:pt>
    <dgm:pt modelId="{B50C358B-4153-4407-A438-CA1DF7A689E6}" type="pres">
      <dgm:prSet presAssocID="{B523FA8A-00FC-44B6-9CD0-70099A212C99}" presName="textNode" presStyleLbl="node1" presStyleIdx="4" presStyleCnt="5">
        <dgm:presLayoutVars>
          <dgm:bulletEnabled val="1"/>
        </dgm:presLayoutVars>
      </dgm:prSet>
      <dgm:spPr/>
    </dgm:pt>
  </dgm:ptLst>
  <dgm:cxnLst>
    <dgm:cxn modelId="{290EB90F-A4FA-4414-BEB6-79F3E82B10D7}" srcId="{7397A380-F638-4365-8D19-5D25FB60BDB6}" destId="{836FD4FF-4FB4-4A76-849C-967DB79189CB}" srcOrd="2" destOrd="0" parTransId="{30BF7828-8675-4E64-95A4-8ACD1444C454}" sibTransId="{642E3AFD-3F61-48E7-A989-926ED0D9ECF1}"/>
    <dgm:cxn modelId="{82580280-67AD-413C-8D07-2EA71E67B45F}" srcId="{7397A380-F638-4365-8D19-5D25FB60BDB6}" destId="{11A3B7E5-B0F0-46C4-9966-549260F641D6}" srcOrd="1" destOrd="0" parTransId="{EA9660DD-51DB-4091-AB11-E71E11CC49EC}" sibTransId="{3F39AAFE-867B-432D-A5F5-F839ADFE7039}"/>
    <dgm:cxn modelId="{EFA9B895-A61B-4201-8F5E-FC1A2A709309}" type="presOf" srcId="{836FD4FF-4FB4-4A76-849C-967DB79189CB}" destId="{189F9547-06D0-4680-94D7-8E649D9870C0}" srcOrd="0" destOrd="0" presId="urn:microsoft.com/office/officeart/2005/8/layout/hProcess9"/>
    <dgm:cxn modelId="{CBDBCA95-A5B3-4F16-AB00-CB02CF5074AB}" type="presOf" srcId="{BFF7D402-0EA2-4ABF-AB22-FFE42A50AEDE}" destId="{8E83D3CF-884C-4709-B121-C720693B38F3}" srcOrd="0" destOrd="0" presId="urn:microsoft.com/office/officeart/2005/8/layout/hProcess9"/>
    <dgm:cxn modelId="{E715659A-B1FD-45D4-B2A9-34C7EFD8EAEA}" srcId="{7397A380-F638-4365-8D19-5D25FB60BDB6}" destId="{B523FA8A-00FC-44B6-9CD0-70099A212C99}" srcOrd="4" destOrd="0" parTransId="{74B1DC31-A06D-4C51-96B1-59223797AF88}" sibTransId="{D5A822D5-F3C1-43F6-9F56-480C998F893B}"/>
    <dgm:cxn modelId="{BFE02AAA-EDCC-417F-8A84-AA0800C1AFF8}" srcId="{7397A380-F638-4365-8D19-5D25FB60BDB6}" destId="{BFF7D402-0EA2-4ABF-AB22-FFE42A50AEDE}" srcOrd="0" destOrd="0" parTransId="{45FF1412-47E5-4490-BBEF-78607F76387D}" sibTransId="{B9275935-B5D8-4FD1-B0F3-CD25F185C68B}"/>
    <dgm:cxn modelId="{2F039AAB-7240-47AD-9FB6-D38C7DF28F55}" type="presOf" srcId="{7397A380-F638-4365-8D19-5D25FB60BDB6}" destId="{86086B0A-AEEC-48C6-8770-14BBC61CA24E}" srcOrd="0" destOrd="0" presId="urn:microsoft.com/office/officeart/2005/8/layout/hProcess9"/>
    <dgm:cxn modelId="{F0F469B8-FBE9-416E-9461-2C5433B220DD}" type="presOf" srcId="{11A3B7E5-B0F0-46C4-9966-549260F641D6}" destId="{F2E75A76-B066-4E4E-A8BE-0A54DD8B8263}" srcOrd="0" destOrd="0" presId="urn:microsoft.com/office/officeart/2005/8/layout/hProcess9"/>
    <dgm:cxn modelId="{CE77E1E9-BAB1-4C0D-9D1F-5D3FEEE2A370}" type="presOf" srcId="{F44E3D62-8F4B-4810-B5C5-532C3BA1E378}" destId="{4CE7BF3C-93B8-425D-9A2F-062168FF1476}" srcOrd="0" destOrd="0" presId="urn:microsoft.com/office/officeart/2005/8/layout/hProcess9"/>
    <dgm:cxn modelId="{3BDFA9F0-8CA5-4019-8117-9A2E54BFCB78}" srcId="{7397A380-F638-4365-8D19-5D25FB60BDB6}" destId="{F44E3D62-8F4B-4810-B5C5-532C3BA1E378}" srcOrd="3" destOrd="0" parTransId="{E65778CE-D6E2-4313-B6A2-268D5CC59A3E}" sibTransId="{407B134B-5DFE-48AD-979F-3E1A47CECC08}"/>
    <dgm:cxn modelId="{A59ABDF3-A1EB-43E3-A3ED-B878B3AB5280}" type="presOf" srcId="{B523FA8A-00FC-44B6-9CD0-70099A212C99}" destId="{B50C358B-4153-4407-A438-CA1DF7A689E6}" srcOrd="0" destOrd="0" presId="urn:microsoft.com/office/officeart/2005/8/layout/hProcess9"/>
    <dgm:cxn modelId="{556637E8-6EC4-4A85-AE3F-AF07AF4A85A3}" type="presParOf" srcId="{86086B0A-AEEC-48C6-8770-14BBC61CA24E}" destId="{B65EBD05-3F22-43D8-9668-1B8CC651CDF9}" srcOrd="0" destOrd="0" presId="urn:microsoft.com/office/officeart/2005/8/layout/hProcess9"/>
    <dgm:cxn modelId="{CFC67A33-BE62-4F32-94AF-C96F8EE84B59}" type="presParOf" srcId="{86086B0A-AEEC-48C6-8770-14BBC61CA24E}" destId="{412CC60A-0C31-4301-9D65-938E58D983DB}" srcOrd="1" destOrd="0" presId="urn:microsoft.com/office/officeart/2005/8/layout/hProcess9"/>
    <dgm:cxn modelId="{3A410645-9977-412E-BAAC-35CBB910E667}" type="presParOf" srcId="{412CC60A-0C31-4301-9D65-938E58D983DB}" destId="{8E83D3CF-884C-4709-B121-C720693B38F3}" srcOrd="0" destOrd="0" presId="urn:microsoft.com/office/officeart/2005/8/layout/hProcess9"/>
    <dgm:cxn modelId="{B4AB6420-93A9-45E3-93D5-5129A11D47AB}" type="presParOf" srcId="{412CC60A-0C31-4301-9D65-938E58D983DB}" destId="{303C9AB9-2081-4320-8801-853DA7A3C8C1}" srcOrd="1" destOrd="0" presId="urn:microsoft.com/office/officeart/2005/8/layout/hProcess9"/>
    <dgm:cxn modelId="{C4AD08FC-4FB7-49E0-932F-DEAE9C457D48}" type="presParOf" srcId="{412CC60A-0C31-4301-9D65-938E58D983DB}" destId="{F2E75A76-B066-4E4E-A8BE-0A54DD8B8263}" srcOrd="2" destOrd="0" presId="urn:microsoft.com/office/officeart/2005/8/layout/hProcess9"/>
    <dgm:cxn modelId="{B30DADB0-98BA-4B1A-9278-09614DCE5E48}" type="presParOf" srcId="{412CC60A-0C31-4301-9D65-938E58D983DB}" destId="{60AC708F-7C34-45BB-882C-96DBD370C998}" srcOrd="3" destOrd="0" presId="urn:microsoft.com/office/officeart/2005/8/layout/hProcess9"/>
    <dgm:cxn modelId="{2599C3B3-A6D8-4ABF-9D34-6EF73DD16B80}" type="presParOf" srcId="{412CC60A-0C31-4301-9D65-938E58D983DB}" destId="{189F9547-06D0-4680-94D7-8E649D9870C0}" srcOrd="4" destOrd="0" presId="urn:microsoft.com/office/officeart/2005/8/layout/hProcess9"/>
    <dgm:cxn modelId="{03524C2C-2070-44BB-9D21-7BBCA9AA65D5}" type="presParOf" srcId="{412CC60A-0C31-4301-9D65-938E58D983DB}" destId="{A7092EEB-8EC9-4B61-9773-5DC263637A0D}" srcOrd="5" destOrd="0" presId="urn:microsoft.com/office/officeart/2005/8/layout/hProcess9"/>
    <dgm:cxn modelId="{D420B8ED-EE16-490A-9EC9-C945FF60A575}" type="presParOf" srcId="{412CC60A-0C31-4301-9D65-938E58D983DB}" destId="{4CE7BF3C-93B8-425D-9A2F-062168FF1476}" srcOrd="6" destOrd="0" presId="urn:microsoft.com/office/officeart/2005/8/layout/hProcess9"/>
    <dgm:cxn modelId="{45BC51E7-825A-4484-8953-25B167FF0461}" type="presParOf" srcId="{412CC60A-0C31-4301-9D65-938E58D983DB}" destId="{7F16F837-E6A1-4D5A-8806-CBBBF4700A7C}" srcOrd="7" destOrd="0" presId="urn:microsoft.com/office/officeart/2005/8/layout/hProcess9"/>
    <dgm:cxn modelId="{A56016A1-412F-4038-95D5-3A0CBD059FD1}" type="presParOf" srcId="{412CC60A-0C31-4301-9D65-938E58D983DB}" destId="{B50C358B-4153-4407-A438-CA1DF7A689E6}"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13BAA9-3366-45D5-8B45-86A68BAC3B99}" type="doc">
      <dgm:prSet loTypeId="urn:microsoft.com/office/officeart/2005/8/layout/hProcess9" loCatId="process" qsTypeId="urn:microsoft.com/office/officeart/2005/8/quickstyle/simple1" qsCatId="simple" csTypeId="urn:microsoft.com/office/officeart/2005/8/colors/accent0_3" csCatId="mainScheme" phldr="1"/>
      <dgm:spPr/>
      <dgm:t>
        <a:bodyPr/>
        <a:lstStyle/>
        <a:p>
          <a:endParaRPr lang="en-GB"/>
        </a:p>
      </dgm:t>
    </dgm:pt>
    <dgm:pt modelId="{EFDA78B1-630D-4E3C-A926-5EE8AEC63DCD}">
      <dgm:prSet phldrT="[Text]" phldr="0"/>
      <dgm:spPr/>
      <dgm:t>
        <a:bodyPr/>
        <a:lstStyle/>
        <a:p>
          <a:r>
            <a:rPr lang="en-GB" dirty="0"/>
            <a:t>COPD patient with breathlessness  </a:t>
          </a:r>
        </a:p>
      </dgm:t>
    </dgm:pt>
    <dgm:pt modelId="{9284F7B9-0DB6-4CFB-B7D3-BDC90B77D37E}" type="parTrans" cxnId="{E3AD088A-F514-4327-A10D-9B35F0131147}">
      <dgm:prSet/>
      <dgm:spPr/>
      <dgm:t>
        <a:bodyPr/>
        <a:lstStyle/>
        <a:p>
          <a:endParaRPr lang="en-GB"/>
        </a:p>
      </dgm:t>
    </dgm:pt>
    <dgm:pt modelId="{8F198CA5-DB4E-4107-BFBA-ECF0E5BE11F8}" type="sibTrans" cxnId="{E3AD088A-F514-4327-A10D-9B35F0131147}">
      <dgm:prSet/>
      <dgm:spPr/>
      <dgm:t>
        <a:bodyPr/>
        <a:lstStyle/>
        <a:p>
          <a:endParaRPr lang="en-GB"/>
        </a:p>
      </dgm:t>
    </dgm:pt>
    <dgm:pt modelId="{9C84AE7E-A9C2-4306-84DF-9A300D1EB54B}">
      <dgm:prSet phldrT="[Text]" phldr="0"/>
      <dgm:spPr/>
      <dgm:t>
        <a:bodyPr/>
        <a:lstStyle/>
        <a:p>
          <a:r>
            <a:rPr lang="en-GB" dirty="0"/>
            <a:t>Avoiding activity, worsening function, anxiety towards exercise </a:t>
          </a:r>
        </a:p>
      </dgm:t>
    </dgm:pt>
    <dgm:pt modelId="{E2D9EF2D-415B-4E5E-95F9-1060CCBF28C3}" type="parTrans" cxnId="{15040253-27FF-40E0-B2CB-147F717BEAD5}">
      <dgm:prSet/>
      <dgm:spPr/>
      <dgm:t>
        <a:bodyPr/>
        <a:lstStyle/>
        <a:p>
          <a:endParaRPr lang="en-GB"/>
        </a:p>
      </dgm:t>
    </dgm:pt>
    <dgm:pt modelId="{CC697C41-0645-4388-B886-AD859ED6A872}" type="sibTrans" cxnId="{15040253-27FF-40E0-B2CB-147F717BEAD5}">
      <dgm:prSet/>
      <dgm:spPr/>
      <dgm:t>
        <a:bodyPr/>
        <a:lstStyle/>
        <a:p>
          <a:endParaRPr lang="en-GB"/>
        </a:p>
      </dgm:t>
    </dgm:pt>
    <dgm:pt modelId="{48D6D5F2-9571-4CB9-92BF-4ED3D5EB83FC}">
      <dgm:prSet phldrT="[Text]" phldr="0"/>
      <dgm:spPr/>
      <dgm:t>
        <a:bodyPr/>
        <a:lstStyle/>
        <a:p>
          <a:r>
            <a:rPr lang="en-GB" dirty="0"/>
            <a:t>Pulmonary rehab : </a:t>
          </a:r>
        </a:p>
        <a:p>
          <a:r>
            <a:rPr lang="en-GB" dirty="0"/>
            <a:t>- Education </a:t>
          </a:r>
        </a:p>
        <a:p>
          <a:r>
            <a:rPr lang="en-GB" dirty="0"/>
            <a:t>-Exercise </a:t>
          </a:r>
        </a:p>
        <a:p>
          <a:r>
            <a:rPr lang="en-GB" dirty="0"/>
            <a:t>-Smoking cessation referral </a:t>
          </a:r>
        </a:p>
        <a:p>
          <a:r>
            <a:rPr lang="en-GB" dirty="0"/>
            <a:t>-Reinforce health beliefs </a:t>
          </a:r>
        </a:p>
      </dgm:t>
    </dgm:pt>
    <dgm:pt modelId="{83248BAF-B4B1-4059-8301-9F84D881C3AB}" type="parTrans" cxnId="{A0408BE8-E7FA-49CA-83D4-4E484EAD1333}">
      <dgm:prSet/>
      <dgm:spPr/>
      <dgm:t>
        <a:bodyPr/>
        <a:lstStyle/>
        <a:p>
          <a:endParaRPr lang="en-GB"/>
        </a:p>
      </dgm:t>
    </dgm:pt>
    <dgm:pt modelId="{049E5976-9B6B-4EF1-91A7-5CA0C920E647}" type="sibTrans" cxnId="{A0408BE8-E7FA-49CA-83D4-4E484EAD1333}">
      <dgm:prSet/>
      <dgm:spPr/>
      <dgm:t>
        <a:bodyPr/>
        <a:lstStyle/>
        <a:p>
          <a:endParaRPr lang="en-GB"/>
        </a:p>
      </dgm:t>
    </dgm:pt>
    <dgm:pt modelId="{E54CA764-0793-44F0-BB0C-7D6CE6605BC0}">
      <dgm:prSet/>
      <dgm:spPr/>
      <dgm:t>
        <a:bodyPr/>
        <a:lstStyle/>
        <a:p>
          <a:r>
            <a:rPr lang="en-GB" dirty="0"/>
            <a:t>Improved function and self-management </a:t>
          </a:r>
        </a:p>
      </dgm:t>
    </dgm:pt>
    <dgm:pt modelId="{104183FC-79A0-4D50-BB77-5EB3065D963B}" type="parTrans" cxnId="{7E6BF393-EFB0-4324-81B9-FA8C81FAA211}">
      <dgm:prSet/>
      <dgm:spPr/>
      <dgm:t>
        <a:bodyPr/>
        <a:lstStyle/>
        <a:p>
          <a:endParaRPr lang="en-GB"/>
        </a:p>
      </dgm:t>
    </dgm:pt>
    <dgm:pt modelId="{D23C5D3E-6C73-41E0-B7B0-31177F07FFBB}" type="sibTrans" cxnId="{7E6BF393-EFB0-4324-81B9-FA8C81FAA211}">
      <dgm:prSet/>
      <dgm:spPr/>
      <dgm:t>
        <a:bodyPr/>
        <a:lstStyle/>
        <a:p>
          <a:endParaRPr lang="en-GB"/>
        </a:p>
      </dgm:t>
    </dgm:pt>
    <dgm:pt modelId="{168B521E-0826-4853-9757-02F57A7567C4}">
      <dgm:prSet/>
      <dgm:spPr/>
      <dgm:t>
        <a:bodyPr/>
        <a:lstStyle/>
        <a:p>
          <a:r>
            <a:rPr lang="en-GB" dirty="0"/>
            <a:t>Reduced breathlessness and exacerbation risk </a:t>
          </a:r>
        </a:p>
      </dgm:t>
    </dgm:pt>
    <dgm:pt modelId="{C27BEFFE-FFD4-45E2-B192-7D431EADFC22}" type="parTrans" cxnId="{36A4231A-068C-4E59-AC27-08557C959E3E}">
      <dgm:prSet/>
      <dgm:spPr/>
      <dgm:t>
        <a:bodyPr/>
        <a:lstStyle/>
        <a:p>
          <a:endParaRPr lang="en-GB"/>
        </a:p>
      </dgm:t>
    </dgm:pt>
    <dgm:pt modelId="{C6C24A13-5A95-4D38-A5FA-541F641AEB5B}" type="sibTrans" cxnId="{36A4231A-068C-4E59-AC27-08557C959E3E}">
      <dgm:prSet/>
      <dgm:spPr/>
      <dgm:t>
        <a:bodyPr/>
        <a:lstStyle/>
        <a:p>
          <a:endParaRPr lang="en-GB"/>
        </a:p>
      </dgm:t>
    </dgm:pt>
    <dgm:pt modelId="{D826035B-9FA6-4437-80F0-F96762EA61F2}" type="pres">
      <dgm:prSet presAssocID="{CB13BAA9-3366-45D5-8B45-86A68BAC3B99}" presName="CompostProcess" presStyleCnt="0">
        <dgm:presLayoutVars>
          <dgm:dir/>
          <dgm:resizeHandles val="exact"/>
        </dgm:presLayoutVars>
      </dgm:prSet>
      <dgm:spPr/>
    </dgm:pt>
    <dgm:pt modelId="{B80B5D39-614E-4C9C-BB43-0BCBFAA997D1}" type="pres">
      <dgm:prSet presAssocID="{CB13BAA9-3366-45D5-8B45-86A68BAC3B99}" presName="arrow" presStyleLbl="bgShp" presStyleIdx="0" presStyleCnt="1"/>
      <dgm:spPr/>
    </dgm:pt>
    <dgm:pt modelId="{49D9E5F0-A3CB-48DE-B282-1044F20079B0}" type="pres">
      <dgm:prSet presAssocID="{CB13BAA9-3366-45D5-8B45-86A68BAC3B99}" presName="linearProcess" presStyleCnt="0"/>
      <dgm:spPr/>
    </dgm:pt>
    <dgm:pt modelId="{A1F1F19C-29E5-414D-89DF-3E8C03A5FBE8}" type="pres">
      <dgm:prSet presAssocID="{EFDA78B1-630D-4E3C-A926-5EE8AEC63DCD}" presName="textNode" presStyleLbl="node1" presStyleIdx="0" presStyleCnt="5">
        <dgm:presLayoutVars>
          <dgm:bulletEnabled val="1"/>
        </dgm:presLayoutVars>
      </dgm:prSet>
      <dgm:spPr/>
    </dgm:pt>
    <dgm:pt modelId="{A8C12FF4-9F3F-4731-BA67-872FCEE67C8E}" type="pres">
      <dgm:prSet presAssocID="{8F198CA5-DB4E-4107-BFBA-ECF0E5BE11F8}" presName="sibTrans" presStyleCnt="0"/>
      <dgm:spPr/>
    </dgm:pt>
    <dgm:pt modelId="{CF1F1F68-9996-4C97-8872-931584A906AD}" type="pres">
      <dgm:prSet presAssocID="{9C84AE7E-A9C2-4306-84DF-9A300D1EB54B}" presName="textNode" presStyleLbl="node1" presStyleIdx="1" presStyleCnt="5">
        <dgm:presLayoutVars>
          <dgm:bulletEnabled val="1"/>
        </dgm:presLayoutVars>
      </dgm:prSet>
      <dgm:spPr/>
    </dgm:pt>
    <dgm:pt modelId="{2A02947E-8F3D-4752-A256-6596EAF84B33}" type="pres">
      <dgm:prSet presAssocID="{CC697C41-0645-4388-B886-AD859ED6A872}" presName="sibTrans" presStyleCnt="0"/>
      <dgm:spPr/>
    </dgm:pt>
    <dgm:pt modelId="{36D843DA-F6AE-432E-A53B-7BEF5D483879}" type="pres">
      <dgm:prSet presAssocID="{48D6D5F2-9571-4CB9-92BF-4ED3D5EB83FC}" presName="textNode" presStyleLbl="node1" presStyleIdx="2" presStyleCnt="5">
        <dgm:presLayoutVars>
          <dgm:bulletEnabled val="1"/>
        </dgm:presLayoutVars>
      </dgm:prSet>
      <dgm:spPr/>
    </dgm:pt>
    <dgm:pt modelId="{16B9EFDE-733D-4892-AA8A-5A026970F2E3}" type="pres">
      <dgm:prSet presAssocID="{049E5976-9B6B-4EF1-91A7-5CA0C920E647}" presName="sibTrans" presStyleCnt="0"/>
      <dgm:spPr/>
    </dgm:pt>
    <dgm:pt modelId="{4D7DA5C3-5BC7-4C5C-9195-86B1DBEBE22F}" type="pres">
      <dgm:prSet presAssocID="{E54CA764-0793-44F0-BB0C-7D6CE6605BC0}" presName="textNode" presStyleLbl="node1" presStyleIdx="3" presStyleCnt="5">
        <dgm:presLayoutVars>
          <dgm:bulletEnabled val="1"/>
        </dgm:presLayoutVars>
      </dgm:prSet>
      <dgm:spPr/>
    </dgm:pt>
    <dgm:pt modelId="{57A9492B-29F9-4430-9D42-C2CFC6C80D09}" type="pres">
      <dgm:prSet presAssocID="{D23C5D3E-6C73-41E0-B7B0-31177F07FFBB}" presName="sibTrans" presStyleCnt="0"/>
      <dgm:spPr/>
    </dgm:pt>
    <dgm:pt modelId="{6743E837-DBB8-407F-B6C8-37EAD43F7EDC}" type="pres">
      <dgm:prSet presAssocID="{168B521E-0826-4853-9757-02F57A7567C4}" presName="textNode" presStyleLbl="node1" presStyleIdx="4" presStyleCnt="5">
        <dgm:presLayoutVars>
          <dgm:bulletEnabled val="1"/>
        </dgm:presLayoutVars>
      </dgm:prSet>
      <dgm:spPr/>
    </dgm:pt>
  </dgm:ptLst>
  <dgm:cxnLst>
    <dgm:cxn modelId="{2FC7F900-9266-4AC7-87EB-060575AA9D05}" type="presOf" srcId="{EFDA78B1-630D-4E3C-A926-5EE8AEC63DCD}" destId="{A1F1F19C-29E5-414D-89DF-3E8C03A5FBE8}" srcOrd="0" destOrd="0" presId="urn:microsoft.com/office/officeart/2005/8/layout/hProcess9"/>
    <dgm:cxn modelId="{36A4231A-068C-4E59-AC27-08557C959E3E}" srcId="{CB13BAA9-3366-45D5-8B45-86A68BAC3B99}" destId="{168B521E-0826-4853-9757-02F57A7567C4}" srcOrd="4" destOrd="0" parTransId="{C27BEFFE-FFD4-45E2-B192-7D431EADFC22}" sibTransId="{C6C24A13-5A95-4D38-A5FA-541F641AEB5B}"/>
    <dgm:cxn modelId="{9499A638-6064-4EB8-A4EC-952857728941}" type="presOf" srcId="{9C84AE7E-A9C2-4306-84DF-9A300D1EB54B}" destId="{CF1F1F68-9996-4C97-8872-931584A906AD}" srcOrd="0" destOrd="0" presId="urn:microsoft.com/office/officeart/2005/8/layout/hProcess9"/>
    <dgm:cxn modelId="{3BC86C48-D06C-4D20-ACD0-2733F949FDC6}" type="presOf" srcId="{CB13BAA9-3366-45D5-8B45-86A68BAC3B99}" destId="{D826035B-9FA6-4437-80F0-F96762EA61F2}" srcOrd="0" destOrd="0" presId="urn:microsoft.com/office/officeart/2005/8/layout/hProcess9"/>
    <dgm:cxn modelId="{15040253-27FF-40E0-B2CB-147F717BEAD5}" srcId="{CB13BAA9-3366-45D5-8B45-86A68BAC3B99}" destId="{9C84AE7E-A9C2-4306-84DF-9A300D1EB54B}" srcOrd="1" destOrd="0" parTransId="{E2D9EF2D-415B-4E5E-95F9-1060CCBF28C3}" sibTransId="{CC697C41-0645-4388-B886-AD859ED6A872}"/>
    <dgm:cxn modelId="{8BD0F958-A060-4F69-A22F-FD9E02DA1A6C}" type="presOf" srcId="{E54CA764-0793-44F0-BB0C-7D6CE6605BC0}" destId="{4D7DA5C3-5BC7-4C5C-9195-86B1DBEBE22F}" srcOrd="0" destOrd="0" presId="urn:microsoft.com/office/officeart/2005/8/layout/hProcess9"/>
    <dgm:cxn modelId="{E3AD088A-F514-4327-A10D-9B35F0131147}" srcId="{CB13BAA9-3366-45D5-8B45-86A68BAC3B99}" destId="{EFDA78B1-630D-4E3C-A926-5EE8AEC63DCD}" srcOrd="0" destOrd="0" parTransId="{9284F7B9-0DB6-4CFB-B7D3-BDC90B77D37E}" sibTransId="{8F198CA5-DB4E-4107-BFBA-ECF0E5BE11F8}"/>
    <dgm:cxn modelId="{7E6BF393-EFB0-4324-81B9-FA8C81FAA211}" srcId="{CB13BAA9-3366-45D5-8B45-86A68BAC3B99}" destId="{E54CA764-0793-44F0-BB0C-7D6CE6605BC0}" srcOrd="3" destOrd="0" parTransId="{104183FC-79A0-4D50-BB77-5EB3065D963B}" sibTransId="{D23C5D3E-6C73-41E0-B7B0-31177F07FFBB}"/>
    <dgm:cxn modelId="{542B15B0-48EB-4EA5-B135-1716C4A6373C}" type="presOf" srcId="{48D6D5F2-9571-4CB9-92BF-4ED3D5EB83FC}" destId="{36D843DA-F6AE-432E-A53B-7BEF5D483879}" srcOrd="0" destOrd="0" presId="urn:microsoft.com/office/officeart/2005/8/layout/hProcess9"/>
    <dgm:cxn modelId="{24E8FEE3-FBE2-41FA-83DA-9F5F055BE25D}" type="presOf" srcId="{168B521E-0826-4853-9757-02F57A7567C4}" destId="{6743E837-DBB8-407F-B6C8-37EAD43F7EDC}" srcOrd="0" destOrd="0" presId="urn:microsoft.com/office/officeart/2005/8/layout/hProcess9"/>
    <dgm:cxn modelId="{A0408BE8-E7FA-49CA-83D4-4E484EAD1333}" srcId="{CB13BAA9-3366-45D5-8B45-86A68BAC3B99}" destId="{48D6D5F2-9571-4CB9-92BF-4ED3D5EB83FC}" srcOrd="2" destOrd="0" parTransId="{83248BAF-B4B1-4059-8301-9F84D881C3AB}" sibTransId="{049E5976-9B6B-4EF1-91A7-5CA0C920E647}"/>
    <dgm:cxn modelId="{09E22E1D-B429-49B7-8BB8-69ECE90B36F5}" type="presParOf" srcId="{D826035B-9FA6-4437-80F0-F96762EA61F2}" destId="{B80B5D39-614E-4C9C-BB43-0BCBFAA997D1}" srcOrd="0" destOrd="0" presId="urn:microsoft.com/office/officeart/2005/8/layout/hProcess9"/>
    <dgm:cxn modelId="{8FCDFAE8-A819-47F8-A548-669858B86DAD}" type="presParOf" srcId="{D826035B-9FA6-4437-80F0-F96762EA61F2}" destId="{49D9E5F0-A3CB-48DE-B282-1044F20079B0}" srcOrd="1" destOrd="0" presId="urn:microsoft.com/office/officeart/2005/8/layout/hProcess9"/>
    <dgm:cxn modelId="{9CD3AD9E-50FD-474C-8811-BD1D11B6D86A}" type="presParOf" srcId="{49D9E5F0-A3CB-48DE-B282-1044F20079B0}" destId="{A1F1F19C-29E5-414D-89DF-3E8C03A5FBE8}" srcOrd="0" destOrd="0" presId="urn:microsoft.com/office/officeart/2005/8/layout/hProcess9"/>
    <dgm:cxn modelId="{A3F68AC2-2C81-47CB-8534-B717046CD963}" type="presParOf" srcId="{49D9E5F0-A3CB-48DE-B282-1044F20079B0}" destId="{A8C12FF4-9F3F-4731-BA67-872FCEE67C8E}" srcOrd="1" destOrd="0" presId="urn:microsoft.com/office/officeart/2005/8/layout/hProcess9"/>
    <dgm:cxn modelId="{D2EE44F8-1494-4616-B06D-BD9C1BA79571}" type="presParOf" srcId="{49D9E5F0-A3CB-48DE-B282-1044F20079B0}" destId="{CF1F1F68-9996-4C97-8872-931584A906AD}" srcOrd="2" destOrd="0" presId="urn:microsoft.com/office/officeart/2005/8/layout/hProcess9"/>
    <dgm:cxn modelId="{4A9A2D7F-7D46-4F69-B183-FEA74B4BFA0B}" type="presParOf" srcId="{49D9E5F0-A3CB-48DE-B282-1044F20079B0}" destId="{2A02947E-8F3D-4752-A256-6596EAF84B33}" srcOrd="3" destOrd="0" presId="urn:microsoft.com/office/officeart/2005/8/layout/hProcess9"/>
    <dgm:cxn modelId="{38D5DAA4-2D91-4751-B03F-8474A47E8C98}" type="presParOf" srcId="{49D9E5F0-A3CB-48DE-B282-1044F20079B0}" destId="{36D843DA-F6AE-432E-A53B-7BEF5D483879}" srcOrd="4" destOrd="0" presId="urn:microsoft.com/office/officeart/2005/8/layout/hProcess9"/>
    <dgm:cxn modelId="{154966BA-647A-44E2-B39B-2D18B938B2F4}" type="presParOf" srcId="{49D9E5F0-A3CB-48DE-B282-1044F20079B0}" destId="{16B9EFDE-733D-4892-AA8A-5A026970F2E3}" srcOrd="5" destOrd="0" presId="urn:microsoft.com/office/officeart/2005/8/layout/hProcess9"/>
    <dgm:cxn modelId="{C26202F0-7B71-48BD-8E27-0FD03932BD29}" type="presParOf" srcId="{49D9E5F0-A3CB-48DE-B282-1044F20079B0}" destId="{4D7DA5C3-5BC7-4C5C-9195-86B1DBEBE22F}" srcOrd="6" destOrd="0" presId="urn:microsoft.com/office/officeart/2005/8/layout/hProcess9"/>
    <dgm:cxn modelId="{C767C097-50D8-4945-A1CE-525E6C60CC8F}" type="presParOf" srcId="{49D9E5F0-A3CB-48DE-B282-1044F20079B0}" destId="{57A9492B-29F9-4430-9D42-C2CFC6C80D09}" srcOrd="7" destOrd="0" presId="urn:microsoft.com/office/officeart/2005/8/layout/hProcess9"/>
    <dgm:cxn modelId="{5D3FB775-1F2F-440E-BE50-85CAE1811F57}" type="presParOf" srcId="{49D9E5F0-A3CB-48DE-B282-1044F20079B0}" destId="{6743E837-DBB8-407F-B6C8-37EAD43F7ED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EBD05-3F22-43D8-9668-1B8CC651CDF9}">
      <dsp:nvSpPr>
        <dsp:cNvPr id="0" name=""/>
        <dsp:cNvSpPr/>
      </dsp:nvSpPr>
      <dsp:spPr>
        <a:xfrm>
          <a:off x="788669" y="0"/>
          <a:ext cx="8938260" cy="4351337"/>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83D3CF-884C-4709-B121-C720693B38F3}">
      <dsp:nvSpPr>
        <dsp:cNvPr id="0" name=""/>
        <dsp:cNvSpPr/>
      </dsp:nvSpPr>
      <dsp:spPr>
        <a:xfrm>
          <a:off x="4621" y="1305401"/>
          <a:ext cx="2020453" cy="1740534"/>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Low back pain </a:t>
          </a:r>
        </a:p>
      </dsp:txBody>
      <dsp:txXfrm>
        <a:off x="89587" y="1390367"/>
        <a:ext cx="1850521" cy="1570602"/>
      </dsp:txXfrm>
    </dsp:sp>
    <dsp:sp modelId="{F2E75A76-B066-4E4E-A8BE-0A54DD8B8263}">
      <dsp:nvSpPr>
        <dsp:cNvPr id="0" name=""/>
        <dsp:cNvSpPr/>
      </dsp:nvSpPr>
      <dsp:spPr>
        <a:xfrm>
          <a:off x="2126097" y="1305401"/>
          <a:ext cx="2020453" cy="1740534"/>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Patient avoids movement. </a:t>
          </a:r>
        </a:p>
      </dsp:txBody>
      <dsp:txXfrm>
        <a:off x="2211063" y="1390367"/>
        <a:ext cx="1850521" cy="1570602"/>
      </dsp:txXfrm>
    </dsp:sp>
    <dsp:sp modelId="{189F9547-06D0-4680-94D7-8E649D9870C0}">
      <dsp:nvSpPr>
        <dsp:cNvPr id="0" name=""/>
        <dsp:cNvSpPr/>
      </dsp:nvSpPr>
      <dsp:spPr>
        <a:xfrm>
          <a:off x="4247573" y="1305401"/>
          <a:ext cx="2020453" cy="1740534"/>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Long term sickness. Chronic inactivity </a:t>
          </a:r>
        </a:p>
      </dsp:txBody>
      <dsp:txXfrm>
        <a:off x="4332539" y="1390367"/>
        <a:ext cx="1850521" cy="1570602"/>
      </dsp:txXfrm>
    </dsp:sp>
    <dsp:sp modelId="{4CE7BF3C-93B8-425D-9A2F-062168FF1476}">
      <dsp:nvSpPr>
        <dsp:cNvPr id="0" name=""/>
        <dsp:cNvSpPr/>
      </dsp:nvSpPr>
      <dsp:spPr>
        <a:xfrm>
          <a:off x="6369049" y="1305401"/>
          <a:ext cx="2020453" cy="1740534"/>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Physiotherapy intervention : </a:t>
          </a:r>
        </a:p>
        <a:p>
          <a:pPr marL="0" lvl="0" indent="0" algn="ctr" defTabSz="711200">
            <a:lnSpc>
              <a:spcPct val="90000"/>
            </a:lnSpc>
            <a:spcBef>
              <a:spcPct val="0"/>
            </a:spcBef>
            <a:spcAft>
              <a:spcPct val="35000"/>
            </a:spcAft>
            <a:buNone/>
          </a:pPr>
          <a:r>
            <a:rPr lang="en-GB" sz="1600" kern="1200" dirty="0"/>
            <a:t>- Therapy</a:t>
          </a:r>
        </a:p>
        <a:p>
          <a:pPr marL="0" lvl="0" indent="0" algn="ctr" defTabSz="711200">
            <a:lnSpc>
              <a:spcPct val="90000"/>
            </a:lnSpc>
            <a:spcBef>
              <a:spcPct val="0"/>
            </a:spcBef>
            <a:spcAft>
              <a:spcPct val="35000"/>
            </a:spcAft>
            <a:buNone/>
          </a:pPr>
          <a:r>
            <a:rPr lang="en-GB" sz="1600" kern="1200" dirty="0"/>
            <a:t>-Behaviour change </a:t>
          </a:r>
        </a:p>
        <a:p>
          <a:pPr marL="0" lvl="0" indent="0" algn="ctr" defTabSz="711200">
            <a:lnSpc>
              <a:spcPct val="90000"/>
            </a:lnSpc>
            <a:spcBef>
              <a:spcPct val="0"/>
            </a:spcBef>
            <a:spcAft>
              <a:spcPct val="35000"/>
            </a:spcAft>
            <a:buNone/>
          </a:pPr>
          <a:r>
            <a:rPr lang="en-GB" sz="1600" kern="1200" dirty="0"/>
            <a:t>-Education </a:t>
          </a:r>
        </a:p>
      </dsp:txBody>
      <dsp:txXfrm>
        <a:off x="6454015" y="1390367"/>
        <a:ext cx="1850521" cy="1570602"/>
      </dsp:txXfrm>
    </dsp:sp>
    <dsp:sp modelId="{B50C358B-4153-4407-A438-CA1DF7A689E6}">
      <dsp:nvSpPr>
        <dsp:cNvPr id="0" name=""/>
        <dsp:cNvSpPr/>
      </dsp:nvSpPr>
      <dsp:spPr>
        <a:xfrm>
          <a:off x="8490525" y="1305401"/>
          <a:ext cx="2020453" cy="1740534"/>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Promote return to work and create sustainable plan to support normal function </a:t>
          </a:r>
        </a:p>
      </dsp:txBody>
      <dsp:txXfrm>
        <a:off x="8575491" y="1390367"/>
        <a:ext cx="1850521" cy="15706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B5D39-614E-4C9C-BB43-0BCBFAA997D1}">
      <dsp:nvSpPr>
        <dsp:cNvPr id="0" name=""/>
        <dsp:cNvSpPr/>
      </dsp:nvSpPr>
      <dsp:spPr>
        <a:xfrm>
          <a:off x="788669" y="0"/>
          <a:ext cx="8938260" cy="4351337"/>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F1F19C-29E5-414D-89DF-3E8C03A5FBE8}">
      <dsp:nvSpPr>
        <dsp:cNvPr id="0" name=""/>
        <dsp:cNvSpPr/>
      </dsp:nvSpPr>
      <dsp:spPr>
        <a:xfrm>
          <a:off x="4621" y="1305401"/>
          <a:ext cx="2020453" cy="1740534"/>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COPD patient with breathlessness  </a:t>
          </a:r>
        </a:p>
      </dsp:txBody>
      <dsp:txXfrm>
        <a:off x="89587" y="1390367"/>
        <a:ext cx="1850521" cy="1570602"/>
      </dsp:txXfrm>
    </dsp:sp>
    <dsp:sp modelId="{CF1F1F68-9996-4C97-8872-931584A906AD}">
      <dsp:nvSpPr>
        <dsp:cNvPr id="0" name=""/>
        <dsp:cNvSpPr/>
      </dsp:nvSpPr>
      <dsp:spPr>
        <a:xfrm>
          <a:off x="2126097" y="1305401"/>
          <a:ext cx="2020453" cy="1740534"/>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Avoiding activity, worsening function, anxiety towards exercise </a:t>
          </a:r>
        </a:p>
      </dsp:txBody>
      <dsp:txXfrm>
        <a:off x="2211063" y="1390367"/>
        <a:ext cx="1850521" cy="1570602"/>
      </dsp:txXfrm>
    </dsp:sp>
    <dsp:sp modelId="{36D843DA-F6AE-432E-A53B-7BEF5D483879}">
      <dsp:nvSpPr>
        <dsp:cNvPr id="0" name=""/>
        <dsp:cNvSpPr/>
      </dsp:nvSpPr>
      <dsp:spPr>
        <a:xfrm>
          <a:off x="4247573" y="1305401"/>
          <a:ext cx="2020453" cy="1740534"/>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Pulmonary rehab : </a:t>
          </a:r>
        </a:p>
        <a:p>
          <a:pPr marL="0" lvl="0" indent="0" algn="ctr" defTabSz="577850">
            <a:lnSpc>
              <a:spcPct val="90000"/>
            </a:lnSpc>
            <a:spcBef>
              <a:spcPct val="0"/>
            </a:spcBef>
            <a:spcAft>
              <a:spcPct val="35000"/>
            </a:spcAft>
            <a:buNone/>
          </a:pPr>
          <a:r>
            <a:rPr lang="en-GB" sz="1300" kern="1200" dirty="0"/>
            <a:t>- Education </a:t>
          </a:r>
        </a:p>
        <a:p>
          <a:pPr marL="0" lvl="0" indent="0" algn="ctr" defTabSz="577850">
            <a:lnSpc>
              <a:spcPct val="90000"/>
            </a:lnSpc>
            <a:spcBef>
              <a:spcPct val="0"/>
            </a:spcBef>
            <a:spcAft>
              <a:spcPct val="35000"/>
            </a:spcAft>
            <a:buNone/>
          </a:pPr>
          <a:r>
            <a:rPr lang="en-GB" sz="1300" kern="1200" dirty="0"/>
            <a:t>-Exercise </a:t>
          </a:r>
        </a:p>
        <a:p>
          <a:pPr marL="0" lvl="0" indent="0" algn="ctr" defTabSz="577850">
            <a:lnSpc>
              <a:spcPct val="90000"/>
            </a:lnSpc>
            <a:spcBef>
              <a:spcPct val="0"/>
            </a:spcBef>
            <a:spcAft>
              <a:spcPct val="35000"/>
            </a:spcAft>
            <a:buNone/>
          </a:pPr>
          <a:r>
            <a:rPr lang="en-GB" sz="1300" kern="1200" dirty="0"/>
            <a:t>-Smoking cessation referral </a:t>
          </a:r>
        </a:p>
        <a:p>
          <a:pPr marL="0" lvl="0" indent="0" algn="ctr" defTabSz="577850">
            <a:lnSpc>
              <a:spcPct val="90000"/>
            </a:lnSpc>
            <a:spcBef>
              <a:spcPct val="0"/>
            </a:spcBef>
            <a:spcAft>
              <a:spcPct val="35000"/>
            </a:spcAft>
            <a:buNone/>
          </a:pPr>
          <a:r>
            <a:rPr lang="en-GB" sz="1300" kern="1200" dirty="0"/>
            <a:t>-Reinforce health beliefs </a:t>
          </a:r>
        </a:p>
      </dsp:txBody>
      <dsp:txXfrm>
        <a:off x="4332539" y="1390367"/>
        <a:ext cx="1850521" cy="1570602"/>
      </dsp:txXfrm>
    </dsp:sp>
    <dsp:sp modelId="{4D7DA5C3-5BC7-4C5C-9195-86B1DBEBE22F}">
      <dsp:nvSpPr>
        <dsp:cNvPr id="0" name=""/>
        <dsp:cNvSpPr/>
      </dsp:nvSpPr>
      <dsp:spPr>
        <a:xfrm>
          <a:off x="6369049" y="1305401"/>
          <a:ext cx="2020453" cy="1740534"/>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Improved function and self-management </a:t>
          </a:r>
        </a:p>
      </dsp:txBody>
      <dsp:txXfrm>
        <a:off x="6454015" y="1390367"/>
        <a:ext cx="1850521" cy="1570602"/>
      </dsp:txXfrm>
    </dsp:sp>
    <dsp:sp modelId="{6743E837-DBB8-407F-B6C8-37EAD43F7EDC}">
      <dsp:nvSpPr>
        <dsp:cNvPr id="0" name=""/>
        <dsp:cNvSpPr/>
      </dsp:nvSpPr>
      <dsp:spPr>
        <a:xfrm>
          <a:off x="8490525" y="1305401"/>
          <a:ext cx="2020453" cy="1740534"/>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Reduced breathlessness and exacerbation risk </a:t>
          </a:r>
        </a:p>
      </dsp:txBody>
      <dsp:txXfrm>
        <a:off x="8575491" y="1390367"/>
        <a:ext cx="1850521" cy="157060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99BE61-3FF7-4D20-821B-C061CDA1785F}" type="datetimeFigureOut">
              <a:rPr lang="en-GB" smtClean="0"/>
              <a:t>25/03/2026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59C08F-68F8-4EB1-945C-5F7838548AFD}" type="slidenum">
              <a:rPr lang="en-GB" smtClean="0"/>
              <a:t>‹#›</a:t>
            </a:fld>
            <a:endParaRPr lang="en-GB"/>
          </a:p>
        </p:txBody>
      </p:sp>
    </p:spTree>
    <p:extLst>
      <p:ext uri="{BB962C8B-B14F-4D97-AF65-F5344CB8AC3E}">
        <p14:creationId xmlns:p14="http://schemas.microsoft.com/office/powerpoint/2010/main" val="418623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Major causes of illness/disability (low back pain, OA, COPD, stroke) are strongly influenced by modifiable risk factors: physical inactivity (28% of UK adults inactive), smoking, obesity, alcohol.​</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Physiotherapists routinely work with these conditions across multiple contacts/settings, giving repeated opportunities to address risk factors as part of normal care.​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Health services face rising multimorbidity/ageing population pressure – all clinicians, including physios, expected to contribute to prevention/health promotion.​</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Your skills (exercise prescription, education, behaviour change, self-management) are central to tackling these public-health challenges</a:t>
            </a:r>
          </a:p>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6</a:t>
            </a:fld>
            <a:endParaRPr lang="en-GB"/>
          </a:p>
        </p:txBody>
      </p:sp>
    </p:spTree>
    <p:extLst>
      <p:ext uri="{BB962C8B-B14F-4D97-AF65-F5344CB8AC3E}">
        <p14:creationId xmlns:p14="http://schemas.microsoft.com/office/powerpoint/2010/main" val="3865109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MSK outpatient</a:t>
            </a:r>
            <a:r>
              <a:rPr lang="en-GB" sz="1200" b="0" i="0" kern="1200" dirty="0">
                <a:solidFill>
                  <a:schemeClr val="tx1"/>
                </a:solidFill>
                <a:effectLst/>
                <a:latin typeface="+mn-lt"/>
                <a:ea typeface="+mn-ea"/>
                <a:cs typeface="+mn-cs"/>
              </a:rPr>
              <a:t>: Recurrent low back pain patient avoiding movement/off work long-term → beyond manual therapy/exercises, address pain beliefs, promote staying active, explore return-to-work support, signpost community PA options.​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Pulmonary rehab</a:t>
            </a:r>
            <a:r>
              <a:rPr lang="en-GB" sz="1200" b="0" i="0" kern="1200" dirty="0">
                <a:solidFill>
                  <a:schemeClr val="tx1"/>
                </a:solidFill>
                <a:effectLst/>
                <a:latin typeface="+mn-lt"/>
                <a:ea typeface="+mn-ea"/>
                <a:cs typeface="+mn-cs"/>
              </a:rPr>
              <a:t>: COPD group → combine exercise training with smoking cessation support, breathing/pacing education, vaccines → lowers exacerbation risk.​</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Neuro/older adults</a:t>
            </a:r>
            <a:r>
              <a:rPr lang="en-GB" sz="1200" b="0" i="0" kern="1200" dirty="0">
                <a:solidFill>
                  <a:schemeClr val="tx1"/>
                </a:solidFill>
                <a:effectLst/>
                <a:latin typeface="+mn-lt"/>
                <a:ea typeface="+mn-ea"/>
                <a:cs typeface="+mn-cs"/>
              </a:rPr>
              <a:t>: Post-stroke or frequent falls → strength/balance training, environmental modifications, confidence building → reduces hospital admissions.</a:t>
            </a:r>
          </a:p>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7</a:t>
            </a:fld>
            <a:endParaRPr lang="en-GB"/>
          </a:p>
        </p:txBody>
      </p:sp>
    </p:spTree>
    <p:extLst>
      <p:ext uri="{BB962C8B-B14F-4D97-AF65-F5344CB8AC3E}">
        <p14:creationId xmlns:p14="http://schemas.microsoft.com/office/powerpoint/2010/main" val="776544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Pulmonary rehab</a:t>
            </a:r>
            <a:r>
              <a:rPr lang="en-GB" sz="1200" b="0" i="0" kern="1200" dirty="0">
                <a:solidFill>
                  <a:schemeClr val="tx1"/>
                </a:solidFill>
                <a:effectLst/>
                <a:latin typeface="+mn-lt"/>
                <a:ea typeface="+mn-ea"/>
                <a:cs typeface="+mn-cs"/>
              </a:rPr>
              <a:t>: COPD group → combine exercise training with smoking cessation support, breathing/pacing education, vaccines → lowers exacerbation risk.​</a:t>
            </a:r>
          </a:p>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8</a:t>
            </a:fld>
            <a:endParaRPr lang="en-GB"/>
          </a:p>
        </p:txBody>
      </p:sp>
    </p:spTree>
    <p:extLst>
      <p:ext uri="{BB962C8B-B14F-4D97-AF65-F5344CB8AC3E}">
        <p14:creationId xmlns:p14="http://schemas.microsoft.com/office/powerpoint/2010/main" val="2743481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Primary</a:t>
            </a:r>
            <a:r>
              <a:rPr lang="en-GB" sz="1200" b="0" i="0" kern="1200" dirty="0">
                <a:solidFill>
                  <a:schemeClr val="tx1"/>
                </a:solidFill>
                <a:effectLst/>
                <a:latin typeface="+mn-lt"/>
                <a:ea typeface="+mn-ea"/>
                <a:cs typeface="+mn-cs"/>
              </a:rPr>
              <a:t> (stop before starts): workplace ergonomics reducing back injuries; community exercise for diabetes/CVD risk; walking/cycling campaigns.​</a:t>
            </a:r>
          </a:p>
          <a:p>
            <a:r>
              <a:rPr lang="en-GB" sz="1200" b="1" i="0" kern="1200" dirty="0">
                <a:solidFill>
                  <a:schemeClr val="tx1"/>
                </a:solidFill>
                <a:effectLst/>
                <a:latin typeface="+mn-lt"/>
                <a:ea typeface="+mn-ea"/>
                <a:cs typeface="+mn-cs"/>
              </a:rPr>
              <a:t>Secondary</a:t>
            </a:r>
            <a:r>
              <a:rPr lang="en-GB" sz="1200" b="0" i="0" kern="1200" dirty="0">
                <a:solidFill>
                  <a:schemeClr val="tx1"/>
                </a:solidFill>
                <a:effectLst/>
                <a:latin typeface="+mn-lt"/>
                <a:ea typeface="+mn-ea"/>
                <a:cs typeface="+mn-cs"/>
              </a:rPr>
              <a:t> (early intervention): early MSK access prevents chronicity; breathlessness → pulmonary rehab referral; falls risk screening.​</a:t>
            </a:r>
          </a:p>
          <a:p>
            <a:r>
              <a:rPr lang="en-GB" sz="1200" b="1" i="0" kern="1200" dirty="0">
                <a:solidFill>
                  <a:schemeClr val="tx1"/>
                </a:solidFill>
                <a:effectLst/>
                <a:latin typeface="+mn-lt"/>
                <a:ea typeface="+mn-ea"/>
                <a:cs typeface="+mn-cs"/>
              </a:rPr>
              <a:t>Tertiary</a:t>
            </a:r>
            <a:r>
              <a:rPr lang="en-GB" sz="1200" b="0" i="0" kern="1200" dirty="0">
                <a:solidFill>
                  <a:schemeClr val="tx1"/>
                </a:solidFill>
                <a:effectLst/>
                <a:latin typeface="+mn-lt"/>
                <a:ea typeface="+mn-ea"/>
                <a:cs typeface="+mn-cs"/>
              </a:rPr>
              <a:t> (reduce impact): stroke rehab maximising independence; COPD/heart failure management; chronic pain programmes reducing disability.</a:t>
            </a:r>
          </a:p>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9</a:t>
            </a:fld>
            <a:endParaRPr lang="en-GB"/>
          </a:p>
        </p:txBody>
      </p:sp>
    </p:spTree>
    <p:extLst>
      <p:ext uri="{BB962C8B-B14F-4D97-AF65-F5344CB8AC3E}">
        <p14:creationId xmlns:p14="http://schemas.microsoft.com/office/powerpoint/2010/main" val="274464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"Public health" happens in routine consultations – asking about activity/smoking/falls risk, helping set goals, signposting local support = legitimate physiotherapy.​</a:t>
            </a:r>
          </a:p>
          <a:p>
            <a:r>
              <a:rPr lang="en-GB" sz="1200" b="0" i="0" kern="1200" dirty="0">
                <a:solidFill>
                  <a:schemeClr val="tx1"/>
                </a:solidFill>
                <a:effectLst/>
                <a:latin typeface="+mn-lt"/>
                <a:ea typeface="+mn-ea"/>
                <a:cs typeface="+mn-cs"/>
              </a:rPr>
              <a:t>Ignoring major risk factors (smoking in COPD, inactivity in </a:t>
            </a:r>
            <a:r>
              <a:rPr lang="en-GB" sz="1200" b="0" i="0" kern="1200" dirty="0" err="1">
                <a:solidFill>
                  <a:schemeClr val="tx1"/>
                </a:solidFill>
                <a:effectLst/>
                <a:latin typeface="+mn-lt"/>
                <a:ea typeface="+mn-ea"/>
                <a:cs typeface="+mn-cs"/>
              </a:rPr>
              <a:t>diabetes+OA</a:t>
            </a:r>
            <a:r>
              <a:rPr lang="en-GB" sz="1200" b="0" i="0" kern="1200" dirty="0">
                <a:solidFill>
                  <a:schemeClr val="tx1"/>
                </a:solidFill>
                <a:effectLst/>
                <a:latin typeface="+mn-lt"/>
                <a:ea typeface="+mn-ea"/>
                <a:cs typeface="+mn-cs"/>
              </a:rPr>
              <a:t>) compromises rehab outcomes, hard to justify professionally.​</a:t>
            </a:r>
          </a:p>
          <a:p>
            <a:r>
              <a:rPr lang="en-GB" sz="1200" b="0" i="0" kern="1200" dirty="0">
                <a:solidFill>
                  <a:schemeClr val="tx1"/>
                </a:solidFill>
                <a:effectLst/>
                <a:latin typeface="+mn-lt"/>
                <a:ea typeface="+mn-ea"/>
                <a:cs typeface="+mn-cs"/>
              </a:rPr>
              <a:t>HCPC </a:t>
            </a:r>
            <a:r>
              <a:rPr lang="en-GB" sz="1200" b="0" i="0" kern="1200" dirty="0" err="1">
                <a:solidFill>
                  <a:schemeClr val="tx1"/>
                </a:solidFill>
                <a:effectLst/>
                <a:latin typeface="+mn-lt"/>
                <a:ea typeface="+mn-ea"/>
                <a:cs typeface="+mn-cs"/>
              </a:rPr>
              <a:t>SoP</a:t>
            </a:r>
            <a:r>
              <a:rPr lang="en-GB" sz="1200" b="0" i="0" kern="1200" dirty="0">
                <a:solidFill>
                  <a:schemeClr val="tx1"/>
                </a:solidFill>
                <a:effectLst/>
                <a:latin typeface="+mn-lt"/>
                <a:ea typeface="+mn-ea"/>
                <a:cs typeface="+mn-cs"/>
              </a:rPr>
              <a:t> 15.1-15.3 + CSP health inequalities emphasis = regulatory/professional mandate.</a:t>
            </a:r>
          </a:p>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10</a:t>
            </a:fld>
            <a:endParaRPr lang="en-GB"/>
          </a:p>
        </p:txBody>
      </p:sp>
    </p:spTree>
    <p:extLst>
      <p:ext uri="{BB962C8B-B14F-4D97-AF65-F5344CB8AC3E}">
        <p14:creationId xmlns:p14="http://schemas.microsoft.com/office/powerpoint/2010/main" val="592372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Physiotherapy‑led public health interventions, such as brief advice on behaviour change and integrated health promotion, show consistent positive effects on patient outcomes like pain reduction, functional improvement and reduced sick leave. </a:t>
            </a:r>
          </a:p>
        </p:txBody>
      </p:sp>
      <p:sp>
        <p:nvSpPr>
          <p:cNvPr id="4" name="Slide Number Placeholder 3"/>
          <p:cNvSpPr>
            <a:spLocks noGrp="1"/>
          </p:cNvSpPr>
          <p:nvPr>
            <p:ph type="sldNum" sz="quarter" idx="5"/>
          </p:nvPr>
        </p:nvSpPr>
        <p:spPr/>
        <p:txBody>
          <a:bodyPr/>
          <a:lstStyle/>
          <a:p>
            <a:fld id="{E259C08F-68F8-4EB1-945C-5F7838548AFD}" type="slidenum">
              <a:rPr lang="en-GB" smtClean="0"/>
              <a:t>12</a:t>
            </a:fld>
            <a:endParaRPr lang="en-GB"/>
          </a:p>
        </p:txBody>
      </p:sp>
    </p:spTree>
    <p:extLst>
      <p:ext uri="{BB962C8B-B14F-4D97-AF65-F5344CB8AC3E}">
        <p14:creationId xmlns:p14="http://schemas.microsoft.com/office/powerpoint/2010/main" val="718628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 well‑delivered </a:t>
            </a:r>
            <a:r>
              <a:rPr lang="en-GB" sz="1200" b="1" i="0" kern="1200" dirty="0">
                <a:solidFill>
                  <a:schemeClr val="tx1"/>
                </a:solidFill>
                <a:effectLst/>
                <a:latin typeface="+mn-lt"/>
                <a:ea typeface="+mn-ea"/>
                <a:cs typeface="+mn-cs"/>
              </a:rPr>
              <a:t>brief advice session</a:t>
            </a:r>
            <a:r>
              <a:rPr lang="en-GB" sz="1200" b="0" i="0" kern="1200" dirty="0">
                <a:solidFill>
                  <a:schemeClr val="tx1"/>
                </a:solidFill>
                <a:effectLst/>
                <a:latin typeface="+mn-lt"/>
                <a:ea typeface="+mn-ea"/>
                <a:cs typeface="+mn-cs"/>
              </a:rPr>
              <a:t> can be as powerful as a longer course of treatment for many patients</a:t>
            </a:r>
          </a:p>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15</a:t>
            </a:fld>
            <a:endParaRPr lang="en-GB"/>
          </a:p>
        </p:txBody>
      </p:sp>
    </p:spTree>
    <p:extLst>
      <p:ext uri="{BB962C8B-B14F-4D97-AF65-F5344CB8AC3E}">
        <p14:creationId xmlns:p14="http://schemas.microsoft.com/office/powerpoint/2010/main" val="1611665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sz="1200" b="0" i="0" kern="1200" dirty="0">
                <a:solidFill>
                  <a:schemeClr val="tx1"/>
                </a:solidFill>
                <a:effectLst/>
                <a:latin typeface="+mn-lt"/>
                <a:ea typeface="+mn-ea"/>
                <a:cs typeface="+mn-cs"/>
              </a:rPr>
              <a:t>Individually, choose one example from your SDL where a physio was doing something that looks like </a:t>
            </a:r>
            <a:r>
              <a:rPr lang="en-GB" sz="1200" b="1" i="0" kern="1200" dirty="0">
                <a:solidFill>
                  <a:schemeClr val="tx1"/>
                </a:solidFill>
                <a:effectLst/>
                <a:latin typeface="+mn-lt"/>
                <a:ea typeface="+mn-ea"/>
                <a:cs typeface="+mn-cs"/>
              </a:rPr>
              <a:t>public health</a:t>
            </a:r>
            <a:r>
              <a:rPr lang="en-GB" sz="1200" b="0" i="0" kern="1200" dirty="0">
                <a:solidFill>
                  <a:schemeClr val="tx1"/>
                </a:solidFill>
                <a:effectLst/>
                <a:latin typeface="+mn-lt"/>
                <a:ea typeface="+mn-ea"/>
                <a:cs typeface="+mn-cs"/>
              </a:rPr>
              <a:t> – e.g. a falls class, smoking advice, activity promotion, education group.</a:t>
            </a:r>
          </a:p>
          <a:p>
            <a:pPr lvl="1"/>
            <a:r>
              <a:rPr lang="en-GB" sz="1200" b="0" i="0" kern="1200" dirty="0">
                <a:solidFill>
                  <a:schemeClr val="tx1"/>
                </a:solidFill>
                <a:effectLst/>
                <a:latin typeface="+mn-lt"/>
                <a:ea typeface="+mn-ea"/>
                <a:cs typeface="+mn-cs"/>
              </a:rPr>
              <a:t>Now, in pairs, answer: </a:t>
            </a:r>
            <a:r>
              <a:rPr lang="en-GB" sz="1200" b="0" i="1" kern="1200" dirty="0">
                <a:solidFill>
                  <a:schemeClr val="tx1"/>
                </a:solidFill>
                <a:effectLst/>
                <a:latin typeface="+mn-lt"/>
                <a:ea typeface="+mn-ea"/>
                <a:cs typeface="+mn-cs"/>
              </a:rPr>
              <a:t>Which HCPC standards are being demonstrated here?</a:t>
            </a:r>
            <a:r>
              <a:rPr lang="en-GB" sz="1200" b="0" i="0" kern="1200" dirty="0">
                <a:solidFill>
                  <a:schemeClr val="tx1"/>
                </a:solidFill>
                <a:effectLst/>
                <a:latin typeface="+mn-lt"/>
                <a:ea typeface="+mn-ea"/>
                <a:cs typeface="+mn-cs"/>
              </a:rPr>
              <a:t> Start with 15.1, 15.2 and 15.3, but you can add others (communication, partnership, evidence‑based practice).</a:t>
            </a:r>
          </a:p>
          <a:p>
            <a:r>
              <a:rPr lang="en-GB" sz="1200" b="0" i="0" kern="1200" dirty="0">
                <a:solidFill>
                  <a:schemeClr val="tx1"/>
                </a:solidFill>
                <a:effectLst/>
                <a:latin typeface="+mn-lt"/>
                <a:ea typeface="+mn-ea"/>
                <a:cs typeface="+mn-cs"/>
              </a:rPr>
              <a:t>After 2–3 minutes, take a few examples and map them out loud:</a:t>
            </a:r>
          </a:p>
          <a:p>
            <a:pPr lvl="1"/>
            <a:r>
              <a:rPr lang="en-GB" sz="1200" b="0" i="0" kern="1200" dirty="0">
                <a:solidFill>
                  <a:schemeClr val="tx1"/>
                </a:solidFill>
                <a:effectLst/>
                <a:latin typeface="+mn-lt"/>
                <a:ea typeface="+mn-ea"/>
                <a:cs typeface="+mn-cs"/>
              </a:rPr>
              <a:t>Example: “Pulmonary rehab with smoking‑cessation advice.”</a:t>
            </a:r>
          </a:p>
          <a:p>
            <a:pPr lvl="2"/>
            <a:r>
              <a:rPr lang="en-GB" sz="1200" b="0" i="0" kern="1200" dirty="0">
                <a:solidFill>
                  <a:schemeClr val="tx1"/>
                </a:solidFill>
                <a:effectLst/>
                <a:latin typeface="+mn-lt"/>
                <a:ea typeface="+mn-ea"/>
                <a:cs typeface="+mn-cs"/>
              </a:rPr>
              <a:t>You: “That clearly fits 15.1 (health promotion), 15.3 (empowering self‑management), and touches 15.2 if they tailored advice to what was realistic for that person.”</a:t>
            </a:r>
          </a:p>
          <a:p>
            <a:pPr lvl="1"/>
            <a:r>
              <a:rPr lang="en-GB" sz="1200" b="0" i="0" kern="1200" dirty="0">
                <a:solidFill>
                  <a:schemeClr val="tx1"/>
                </a:solidFill>
                <a:effectLst/>
                <a:latin typeface="+mn-lt"/>
                <a:ea typeface="+mn-ea"/>
                <a:cs typeface="+mn-cs"/>
              </a:rPr>
              <a:t>Example: “Community exercise group in a deprived area.”</a:t>
            </a:r>
          </a:p>
          <a:p>
            <a:pPr lvl="2"/>
            <a:r>
              <a:rPr lang="en-GB" sz="1200" b="0" i="0" kern="1200" dirty="0">
                <a:solidFill>
                  <a:schemeClr val="tx1"/>
                </a:solidFill>
                <a:effectLst/>
                <a:latin typeface="+mn-lt"/>
                <a:ea typeface="+mn-ea"/>
                <a:cs typeface="+mn-cs"/>
              </a:rPr>
              <a:t>You: “Again 15.1, plus 15.2 (wider determinants/inequalities).”</a:t>
            </a:r>
          </a:p>
          <a:p>
            <a:br>
              <a:rPr lang="en-GB" dirty="0"/>
            </a:br>
            <a:endParaRPr lang="en-GB" dirty="0"/>
          </a:p>
          <a:p>
            <a:r>
              <a:rPr lang="en-GB" sz="1200" b="1" i="0" kern="1200" dirty="0">
                <a:solidFill>
                  <a:schemeClr val="tx1"/>
                </a:solidFill>
                <a:effectLst/>
                <a:latin typeface="+mn-lt"/>
                <a:ea typeface="+mn-ea"/>
                <a:cs typeface="+mn-cs"/>
              </a:rPr>
              <a:t>What you emphasise to them</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“Notice that </a:t>
            </a:r>
            <a:r>
              <a:rPr lang="en-GB" sz="1200" b="1" i="0" kern="1200" dirty="0">
                <a:solidFill>
                  <a:schemeClr val="tx1"/>
                </a:solidFill>
                <a:effectLst/>
                <a:latin typeface="+mn-lt"/>
                <a:ea typeface="+mn-ea"/>
                <a:cs typeface="+mn-cs"/>
              </a:rPr>
              <a:t>you’ve already found real‑world examples</a:t>
            </a:r>
            <a:r>
              <a:rPr lang="en-GB" sz="1200" b="0" i="0" kern="1200" dirty="0">
                <a:solidFill>
                  <a:schemeClr val="tx1"/>
                </a:solidFill>
                <a:effectLst/>
                <a:latin typeface="+mn-lt"/>
                <a:ea typeface="+mn-ea"/>
                <a:cs typeface="+mn-cs"/>
              </a:rPr>
              <a:t> of physios meeting HCPC’s public‑health standards – this isn’t abstract.”</a:t>
            </a:r>
          </a:p>
          <a:p>
            <a:r>
              <a:rPr lang="en-GB" sz="1200" b="0" i="0" kern="1200" dirty="0">
                <a:solidFill>
                  <a:schemeClr val="tx1"/>
                </a:solidFill>
                <a:effectLst/>
                <a:latin typeface="+mn-lt"/>
                <a:ea typeface="+mn-ea"/>
                <a:cs typeface="+mn-cs"/>
              </a:rPr>
              <a:t>“The rest of today’s session (HCPC/CSP slides and MECC activity) is about making you more deliberate and confident in doing this yourselves on placement.”</a:t>
            </a:r>
          </a:p>
          <a:p>
            <a:endParaRPr lang="en-GB" b="1" dirty="0"/>
          </a:p>
        </p:txBody>
      </p:sp>
      <p:sp>
        <p:nvSpPr>
          <p:cNvPr id="4" name="Slide Number Placeholder 3"/>
          <p:cNvSpPr>
            <a:spLocks noGrp="1"/>
          </p:cNvSpPr>
          <p:nvPr>
            <p:ph type="sldNum" sz="quarter" idx="5"/>
          </p:nvPr>
        </p:nvSpPr>
        <p:spPr/>
        <p:txBody>
          <a:bodyPr/>
          <a:lstStyle/>
          <a:p>
            <a:fld id="{E259C08F-68F8-4EB1-945C-5F7838548AFD}" type="slidenum">
              <a:rPr lang="en-GB" smtClean="0"/>
              <a:t>24</a:t>
            </a:fld>
            <a:endParaRPr lang="en-GB"/>
          </a:p>
        </p:txBody>
      </p:sp>
    </p:spTree>
    <p:extLst>
      <p:ext uri="{BB962C8B-B14F-4D97-AF65-F5344CB8AC3E}">
        <p14:creationId xmlns:p14="http://schemas.microsoft.com/office/powerpoint/2010/main" val="4219319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27</a:t>
            </a:fld>
            <a:endParaRPr lang="en-GB"/>
          </a:p>
        </p:txBody>
      </p:sp>
    </p:spTree>
    <p:extLst>
      <p:ext uri="{BB962C8B-B14F-4D97-AF65-F5344CB8AC3E}">
        <p14:creationId xmlns:p14="http://schemas.microsoft.com/office/powerpoint/2010/main" val="2127137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31</a:t>
            </a:fld>
            <a:endParaRPr lang="en-GB"/>
          </a:p>
        </p:txBody>
      </p:sp>
    </p:spTree>
    <p:extLst>
      <p:ext uri="{BB962C8B-B14F-4D97-AF65-F5344CB8AC3E}">
        <p14:creationId xmlns:p14="http://schemas.microsoft.com/office/powerpoint/2010/main" val="3824361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32</a:t>
            </a:fld>
            <a:endParaRPr lang="en-GB"/>
          </a:p>
        </p:txBody>
      </p:sp>
    </p:spTree>
    <p:extLst>
      <p:ext uri="{BB962C8B-B14F-4D97-AF65-F5344CB8AC3E}">
        <p14:creationId xmlns:p14="http://schemas.microsoft.com/office/powerpoint/2010/main" val="774524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259C08F-68F8-4EB1-945C-5F7838548AFD}" type="slidenum">
              <a:rPr lang="en-GB" smtClean="0"/>
              <a:t>37</a:t>
            </a:fld>
            <a:endParaRPr lang="en-GB"/>
          </a:p>
        </p:txBody>
      </p:sp>
    </p:spTree>
    <p:extLst>
      <p:ext uri="{BB962C8B-B14F-4D97-AF65-F5344CB8AC3E}">
        <p14:creationId xmlns:p14="http://schemas.microsoft.com/office/powerpoint/2010/main" val="21627996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B6982B-DF9A-1FF1-93ED-B4CFDC1849A9}"/>
              </a:ext>
            </a:extLst>
          </p:cNvPr>
          <p:cNvSpPr/>
          <p:nvPr/>
        </p:nvSpPr>
        <p:spPr>
          <a:xfrm>
            <a:off x="1" y="2887133"/>
            <a:ext cx="12192000" cy="39708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8CE2602-3CA0-38E5-41B0-B384623CA5DF}"/>
              </a:ext>
            </a:extLst>
          </p:cNvPr>
          <p:cNvSpPr>
            <a:spLocks noGrp="1"/>
          </p:cNvSpPr>
          <p:nvPr>
            <p:ph type="ctrTitle"/>
          </p:nvPr>
        </p:nvSpPr>
        <p:spPr>
          <a:xfrm>
            <a:off x="0" y="2965185"/>
            <a:ext cx="9144000" cy="2387600"/>
          </a:xfrm>
        </p:spPr>
        <p:txBody>
          <a:bodyPr anchor="b"/>
          <a:lstStyle>
            <a:lvl1pPr algn="l">
              <a:defRPr sz="600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3F43682A-A1AB-B6CB-9103-BCB53ED40C59}"/>
              </a:ext>
            </a:extLst>
          </p:cNvPr>
          <p:cNvSpPr>
            <a:spLocks noGrp="1"/>
          </p:cNvSpPr>
          <p:nvPr>
            <p:ph type="subTitle" idx="1" hasCustomPrompt="1"/>
          </p:nvPr>
        </p:nvSpPr>
        <p:spPr>
          <a:xfrm>
            <a:off x="59267" y="6163734"/>
            <a:ext cx="4411134" cy="6265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Isobel Davies </a:t>
            </a:r>
          </a:p>
        </p:txBody>
      </p:sp>
      <p:pic>
        <p:nvPicPr>
          <p:cNvPr id="8" name="Picture 7">
            <a:extLst>
              <a:ext uri="{FF2B5EF4-FFF2-40B4-BE49-F238E27FC236}">
                <a16:creationId xmlns:a16="http://schemas.microsoft.com/office/drawing/2014/main" id="{C13AD7B5-196D-B7AE-8987-C9434319E26A}"/>
              </a:ext>
            </a:extLst>
          </p:cNvPr>
          <p:cNvPicPr>
            <a:picLocks noChangeAspect="1"/>
          </p:cNvPicPr>
          <p:nvPr/>
        </p:nvPicPr>
        <p:blipFill>
          <a:blip r:embed="rId2"/>
          <a:stretch>
            <a:fillRect/>
          </a:stretch>
        </p:blipFill>
        <p:spPr>
          <a:xfrm>
            <a:off x="10414001" y="0"/>
            <a:ext cx="1777999" cy="1000124"/>
          </a:xfrm>
          <a:prstGeom prst="rect">
            <a:avLst/>
          </a:prstGeom>
        </p:spPr>
      </p:pic>
    </p:spTree>
    <p:extLst>
      <p:ext uri="{BB962C8B-B14F-4D97-AF65-F5344CB8AC3E}">
        <p14:creationId xmlns:p14="http://schemas.microsoft.com/office/powerpoint/2010/main" val="3614157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E6E5A8-1C06-D60B-70CA-D309FCB28D08}"/>
              </a:ext>
            </a:extLst>
          </p:cNvPr>
          <p:cNvSpPr/>
          <p:nvPr/>
        </p:nvSpPr>
        <p:spPr>
          <a:xfrm>
            <a:off x="0" y="14490"/>
            <a:ext cx="12192000" cy="16906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9BD9620-0840-C4B1-AF6F-DD56DF7A7E6A}"/>
              </a:ext>
            </a:extLst>
          </p:cNvPr>
          <p:cNvSpPr>
            <a:spLocks noGrp="1"/>
          </p:cNvSpPr>
          <p:nvPr>
            <p:ph type="title"/>
          </p:nvPr>
        </p:nvSpPr>
        <p:spPr>
          <a:xfrm>
            <a:off x="0" y="379615"/>
            <a:ext cx="10515600" cy="1325563"/>
          </a:xfrm>
        </p:spPr>
        <p:txBody>
          <a:bodyPr/>
          <a:lstStyle>
            <a:lvl1pPr>
              <a:defRPr>
                <a:solidFill>
                  <a:schemeClr val="bg1"/>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4D874E31-07C2-31AD-FA63-685EA15A5468}"/>
              </a:ext>
            </a:extLst>
          </p:cNvPr>
          <p:cNvSpPr>
            <a:spLocks noGrp="1"/>
          </p:cNvSpPr>
          <p:nvPr>
            <p:ph idx="1"/>
          </p:nvPr>
        </p:nvSpPr>
        <p:spPr>
          <a:xfrm>
            <a:off x="838200" y="2313764"/>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London Metropolitan University | Diversity Abroad">
            <a:extLst>
              <a:ext uri="{FF2B5EF4-FFF2-40B4-BE49-F238E27FC236}">
                <a16:creationId xmlns:a16="http://schemas.microsoft.com/office/drawing/2014/main" id="{2C8BDD7A-1330-487C-FF88-28ED18CDBE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676697B3-46FF-F729-55F0-8D65553CC0B9}"/>
              </a:ext>
            </a:extLst>
          </p:cNvPr>
          <p:cNvCxnSpPr>
            <a:cxnSpLocks/>
          </p:cNvCxnSpPr>
          <p:nvPr/>
        </p:nvCxnSpPr>
        <p:spPr>
          <a:xfrm>
            <a:off x="302508" y="1993805"/>
            <a:ext cx="2585071" cy="0"/>
          </a:xfrm>
          <a:prstGeom prst="line">
            <a:avLst/>
          </a:prstGeom>
          <a:ln w="571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16769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4280-D226-DC14-4714-F32FED72BB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4465485-9EF5-9139-DB1C-DD992D31B2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B4C0F-1E63-482B-0959-FF548E261DCB}"/>
              </a:ext>
            </a:extLst>
          </p:cNvPr>
          <p:cNvSpPr>
            <a:spLocks noGrp="1"/>
          </p:cNvSpPr>
          <p:nvPr>
            <p:ph type="dt" sz="half" idx="10"/>
          </p:nvPr>
        </p:nvSpPr>
        <p:spPr/>
        <p:txBody>
          <a:bodyPr/>
          <a:lstStyle/>
          <a:p>
            <a:fld id="{01BC331C-9C15-4EBF-B28C-C496046A8A37}" type="datetimeFigureOut">
              <a:rPr lang="en-GB" smtClean="0"/>
              <a:t>25/03/2026</a:t>
            </a:fld>
            <a:endParaRPr lang="en-GB"/>
          </a:p>
        </p:txBody>
      </p:sp>
      <p:sp>
        <p:nvSpPr>
          <p:cNvPr id="5" name="Footer Placeholder 4">
            <a:extLst>
              <a:ext uri="{FF2B5EF4-FFF2-40B4-BE49-F238E27FC236}">
                <a16:creationId xmlns:a16="http://schemas.microsoft.com/office/drawing/2014/main" id="{9FCE5A6F-8CAA-D3A4-98AC-C0525D70CE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0D0565-40DA-A613-6B6A-772805D9BCA5}"/>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173070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73134-B677-1832-5CBC-48A6F612F4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906954F-E310-3BC8-BD78-8AC1FE4A15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7">
            <a:extLst>
              <a:ext uri="{FF2B5EF4-FFF2-40B4-BE49-F238E27FC236}">
                <a16:creationId xmlns:a16="http://schemas.microsoft.com/office/drawing/2014/main" id="{5A992008-0414-B2B9-91BD-C32B64F1CA41}"/>
              </a:ext>
            </a:extLst>
          </p:cNvPr>
          <p:cNvSpPr/>
          <p:nvPr/>
        </p:nvSpPr>
        <p:spPr>
          <a:xfrm>
            <a:off x="0" y="1"/>
            <a:ext cx="12192000" cy="132003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363F11F-9927-39C5-32EA-4B9CAF425391}"/>
              </a:ext>
            </a:extLst>
          </p:cNvPr>
          <p:cNvSpPr>
            <a:spLocks noGrp="1"/>
          </p:cNvSpPr>
          <p:nvPr>
            <p:ph type="title"/>
          </p:nvPr>
        </p:nvSpPr>
        <p:spPr>
          <a:xfrm>
            <a:off x="0" y="410368"/>
            <a:ext cx="10515600" cy="1325563"/>
          </a:xfrm>
        </p:spPr>
        <p:txBody>
          <a:bodyPr/>
          <a:lstStyle>
            <a:lvl1pPr>
              <a:defRPr>
                <a:solidFill>
                  <a:schemeClr val="bg1"/>
                </a:solidFill>
              </a:defRPr>
            </a:lvl1pPr>
          </a:lstStyle>
          <a:p>
            <a:r>
              <a:rPr lang="en-US"/>
              <a:t>Click to edit Master title style</a:t>
            </a:r>
            <a:endParaRPr lang="en-GB"/>
          </a:p>
        </p:txBody>
      </p:sp>
      <p:cxnSp>
        <p:nvCxnSpPr>
          <p:cNvPr id="10" name="Straight Connector 9">
            <a:extLst>
              <a:ext uri="{FF2B5EF4-FFF2-40B4-BE49-F238E27FC236}">
                <a16:creationId xmlns:a16="http://schemas.microsoft.com/office/drawing/2014/main" id="{B68D5258-C137-A48A-E8C4-B4C890119E4A}"/>
              </a:ext>
            </a:extLst>
          </p:cNvPr>
          <p:cNvCxnSpPr/>
          <p:nvPr/>
        </p:nvCxnSpPr>
        <p:spPr>
          <a:xfrm>
            <a:off x="653143" y="1629420"/>
            <a:ext cx="1395663" cy="0"/>
          </a:xfrm>
          <a:prstGeom prst="line">
            <a:avLst/>
          </a:prstGeom>
          <a:ln w="5715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291EF0F5-898D-DE87-A9FE-E07843E5C128}"/>
              </a:ext>
            </a:extLst>
          </p:cNvPr>
          <p:cNvCxnSpPr/>
          <p:nvPr/>
        </p:nvCxnSpPr>
        <p:spPr>
          <a:xfrm>
            <a:off x="6172200" y="1603066"/>
            <a:ext cx="1395663" cy="0"/>
          </a:xfrm>
          <a:prstGeom prst="line">
            <a:avLst/>
          </a:prstGeom>
          <a:ln w="57150"/>
        </p:spPr>
        <p:style>
          <a:lnRef idx="3">
            <a:schemeClr val="dk1"/>
          </a:lnRef>
          <a:fillRef idx="0">
            <a:schemeClr val="dk1"/>
          </a:fillRef>
          <a:effectRef idx="2">
            <a:schemeClr val="dk1"/>
          </a:effectRef>
          <a:fontRef idx="minor">
            <a:schemeClr val="tx1"/>
          </a:fontRef>
        </p:style>
      </p:cxnSp>
      <p:pic>
        <p:nvPicPr>
          <p:cNvPr id="12" name="Picture 2" descr="London Metropolitan University | Diversity Abroad">
            <a:extLst>
              <a:ext uri="{FF2B5EF4-FFF2-40B4-BE49-F238E27FC236}">
                <a16:creationId xmlns:a16="http://schemas.microsoft.com/office/drawing/2014/main" id="{37D134CB-DDD9-BACD-8572-3E0007B750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48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4F21A-5FDC-A103-4607-2D5A34AC218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D65B5A-D728-06EB-16D4-57D9998230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7B7AE-6006-3B3E-25AA-4EF8658446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894F1D8-68A0-62B8-7F86-D9A6250930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7A5C16-D31D-9CDA-C7F5-7CF3E0A193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CF18558-0A34-C95F-8B9B-72CEBB9F5879}"/>
              </a:ext>
            </a:extLst>
          </p:cNvPr>
          <p:cNvSpPr>
            <a:spLocks noGrp="1"/>
          </p:cNvSpPr>
          <p:nvPr>
            <p:ph type="dt" sz="half" idx="10"/>
          </p:nvPr>
        </p:nvSpPr>
        <p:spPr/>
        <p:txBody>
          <a:bodyPr/>
          <a:lstStyle/>
          <a:p>
            <a:fld id="{01BC331C-9C15-4EBF-B28C-C496046A8A37}" type="datetimeFigureOut">
              <a:rPr lang="en-GB" smtClean="0"/>
              <a:t>25/03/2026</a:t>
            </a:fld>
            <a:endParaRPr lang="en-GB"/>
          </a:p>
        </p:txBody>
      </p:sp>
      <p:sp>
        <p:nvSpPr>
          <p:cNvPr id="8" name="Footer Placeholder 7">
            <a:extLst>
              <a:ext uri="{FF2B5EF4-FFF2-40B4-BE49-F238E27FC236}">
                <a16:creationId xmlns:a16="http://schemas.microsoft.com/office/drawing/2014/main" id="{7DBF9368-A6AB-50C4-0A99-421BA7B02B3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6E7968D-184F-DAF1-8D7A-9C6838525EEA}"/>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215771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9D2CD5-6D70-A517-2C17-0AB3588F5104}"/>
              </a:ext>
            </a:extLst>
          </p:cNvPr>
          <p:cNvSpPr/>
          <p:nvPr/>
        </p:nvSpPr>
        <p:spPr>
          <a:xfrm>
            <a:off x="0" y="0"/>
            <a:ext cx="12192000" cy="159504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8D7A53-80CA-4981-C062-1683F791BD24}"/>
              </a:ext>
            </a:extLst>
          </p:cNvPr>
          <p:cNvSpPr>
            <a:spLocks noGrp="1"/>
          </p:cNvSpPr>
          <p:nvPr>
            <p:ph type="title"/>
          </p:nvPr>
        </p:nvSpPr>
        <p:spPr>
          <a:xfrm>
            <a:off x="0" y="730250"/>
            <a:ext cx="10515600" cy="1325563"/>
          </a:xfrm>
        </p:spPr>
        <p:txBody>
          <a:bodyPr/>
          <a:lstStyle>
            <a:lvl1pPr>
              <a:defRPr>
                <a:solidFill>
                  <a:schemeClr val="bg1"/>
                </a:solidFill>
              </a:defRPr>
            </a:lvl1pPr>
          </a:lstStyle>
          <a:p>
            <a:r>
              <a:rPr lang="en-US"/>
              <a:t>Click to edit Master title style</a:t>
            </a:r>
            <a:endParaRPr lang="en-GB"/>
          </a:p>
        </p:txBody>
      </p:sp>
      <p:pic>
        <p:nvPicPr>
          <p:cNvPr id="7" name="Picture 2" descr="London Metropolitan University | Diversity Abroad">
            <a:extLst>
              <a:ext uri="{FF2B5EF4-FFF2-40B4-BE49-F238E27FC236}">
                <a16:creationId xmlns:a16="http://schemas.microsoft.com/office/drawing/2014/main" id="{D362AA3E-CCC7-1269-E609-D4BAA7FF22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687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descr="London Metropolitan University | Diversity Abroad">
            <a:extLst>
              <a:ext uri="{FF2B5EF4-FFF2-40B4-BE49-F238E27FC236}">
                <a16:creationId xmlns:a16="http://schemas.microsoft.com/office/drawing/2014/main" id="{01FF39F5-58B2-9749-4490-A944E6D480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0818584-7CFB-C480-C31B-A997AF1B97F2}"/>
              </a:ext>
            </a:extLst>
          </p:cNvPr>
          <p:cNvSpPr/>
          <p:nvPr/>
        </p:nvSpPr>
        <p:spPr>
          <a:xfrm>
            <a:off x="0" y="0"/>
            <a:ext cx="4152614"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E100234-438F-D4E5-C40F-5899A1940824}"/>
              </a:ext>
            </a:extLst>
          </p:cNvPr>
          <p:cNvSpPr txBox="1"/>
          <p:nvPr/>
        </p:nvSpPr>
        <p:spPr>
          <a:xfrm>
            <a:off x="4723254" y="2509444"/>
            <a:ext cx="6503928" cy="1569660"/>
          </a:xfrm>
          <a:prstGeom prst="rect">
            <a:avLst/>
          </a:prstGeom>
          <a:noFill/>
        </p:spPr>
        <p:txBody>
          <a:bodyPr wrap="square" rtlCol="0">
            <a:spAutoFit/>
          </a:bodyPr>
          <a:lstStyle/>
          <a:p>
            <a:r>
              <a:rPr lang="en-GB" sz="9600" dirty="0"/>
              <a:t>Questions? </a:t>
            </a:r>
          </a:p>
        </p:txBody>
      </p:sp>
    </p:spTree>
    <p:extLst>
      <p:ext uri="{BB962C8B-B14F-4D97-AF65-F5344CB8AC3E}">
        <p14:creationId xmlns:p14="http://schemas.microsoft.com/office/powerpoint/2010/main" val="4161361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7680-D097-392A-2C80-CB6D544959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39FABCE-ABAD-26CC-5ED5-2D997868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802B6B-51B6-1C72-C0D4-85BABB30C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E83551-AC8F-6E57-E9CC-AD59DF8ED2C3}"/>
              </a:ext>
            </a:extLst>
          </p:cNvPr>
          <p:cNvSpPr>
            <a:spLocks noGrp="1"/>
          </p:cNvSpPr>
          <p:nvPr>
            <p:ph type="dt" sz="half" idx="10"/>
          </p:nvPr>
        </p:nvSpPr>
        <p:spPr/>
        <p:txBody>
          <a:bodyPr/>
          <a:lstStyle/>
          <a:p>
            <a:fld id="{01BC331C-9C15-4EBF-B28C-C496046A8A37}" type="datetimeFigureOut">
              <a:rPr lang="en-GB" smtClean="0"/>
              <a:t>25/03/2026</a:t>
            </a:fld>
            <a:endParaRPr lang="en-GB"/>
          </a:p>
        </p:txBody>
      </p:sp>
      <p:sp>
        <p:nvSpPr>
          <p:cNvPr id="6" name="Footer Placeholder 5">
            <a:extLst>
              <a:ext uri="{FF2B5EF4-FFF2-40B4-BE49-F238E27FC236}">
                <a16:creationId xmlns:a16="http://schemas.microsoft.com/office/drawing/2014/main" id="{E6F80383-36AF-82AF-C0B8-FC513D97BA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0E62E8-8F67-EF7C-4078-772AF2D1C046}"/>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47644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8E418-5AAC-8B12-F86C-7D5F305749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7BA5F73-AEF3-A735-ACB1-EC4144C2BC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33163162-E54B-A41F-A890-02A4CF7F88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1969-C652-2C8B-1456-69E9EC1C9526}"/>
              </a:ext>
            </a:extLst>
          </p:cNvPr>
          <p:cNvSpPr>
            <a:spLocks noGrp="1"/>
          </p:cNvSpPr>
          <p:nvPr>
            <p:ph type="dt" sz="half" idx="10"/>
          </p:nvPr>
        </p:nvSpPr>
        <p:spPr/>
        <p:txBody>
          <a:bodyPr/>
          <a:lstStyle/>
          <a:p>
            <a:fld id="{01BC331C-9C15-4EBF-B28C-C496046A8A37}" type="datetimeFigureOut">
              <a:rPr lang="en-GB" smtClean="0"/>
              <a:t>25/03/2026</a:t>
            </a:fld>
            <a:endParaRPr lang="en-GB"/>
          </a:p>
        </p:txBody>
      </p:sp>
      <p:sp>
        <p:nvSpPr>
          <p:cNvPr id="6" name="Footer Placeholder 5">
            <a:extLst>
              <a:ext uri="{FF2B5EF4-FFF2-40B4-BE49-F238E27FC236}">
                <a16:creationId xmlns:a16="http://schemas.microsoft.com/office/drawing/2014/main" id="{6AABAFAC-19E4-4E36-4352-2E9C3AE14A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B31C92-A389-0F28-8809-DFCF12D1B412}"/>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67765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CB88-E83B-A9CB-3079-C114F778540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02B31A0-599C-9799-B87D-A10764F5A8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F66BC0-DED9-C335-1EA1-AEC7F61A0CD3}"/>
              </a:ext>
            </a:extLst>
          </p:cNvPr>
          <p:cNvSpPr>
            <a:spLocks noGrp="1"/>
          </p:cNvSpPr>
          <p:nvPr>
            <p:ph type="dt" sz="half" idx="10"/>
          </p:nvPr>
        </p:nvSpPr>
        <p:spPr/>
        <p:txBody>
          <a:bodyPr/>
          <a:lstStyle/>
          <a:p>
            <a:fld id="{01BC331C-9C15-4EBF-B28C-C496046A8A37}" type="datetimeFigureOut">
              <a:rPr lang="en-GB" smtClean="0"/>
              <a:t>25/03/2026</a:t>
            </a:fld>
            <a:endParaRPr lang="en-GB"/>
          </a:p>
        </p:txBody>
      </p:sp>
      <p:sp>
        <p:nvSpPr>
          <p:cNvPr id="5" name="Footer Placeholder 4">
            <a:extLst>
              <a:ext uri="{FF2B5EF4-FFF2-40B4-BE49-F238E27FC236}">
                <a16:creationId xmlns:a16="http://schemas.microsoft.com/office/drawing/2014/main" id="{213B31ED-485B-570A-B6A9-92FEC61858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79BAED-3218-E2B1-01AC-872EAED60A70}"/>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937876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7EC147-AD87-B353-76C2-F84F682DA3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191A306-2430-2820-252B-D79CB21BD6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E111F2-2B28-E798-75C6-48F675F9D4DA}"/>
              </a:ext>
            </a:extLst>
          </p:cNvPr>
          <p:cNvSpPr>
            <a:spLocks noGrp="1"/>
          </p:cNvSpPr>
          <p:nvPr>
            <p:ph type="dt" sz="half" idx="10"/>
          </p:nvPr>
        </p:nvSpPr>
        <p:spPr/>
        <p:txBody>
          <a:bodyPr/>
          <a:lstStyle/>
          <a:p>
            <a:fld id="{01BC331C-9C15-4EBF-B28C-C496046A8A37}" type="datetimeFigureOut">
              <a:rPr lang="en-GB" smtClean="0"/>
              <a:t>25/03/2026</a:t>
            </a:fld>
            <a:endParaRPr lang="en-GB"/>
          </a:p>
        </p:txBody>
      </p:sp>
      <p:sp>
        <p:nvSpPr>
          <p:cNvPr id="5" name="Footer Placeholder 4">
            <a:extLst>
              <a:ext uri="{FF2B5EF4-FFF2-40B4-BE49-F238E27FC236}">
                <a16:creationId xmlns:a16="http://schemas.microsoft.com/office/drawing/2014/main" id="{F2CAF426-7023-1B3C-7641-AC3F4D6832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ECD85F-20D6-CCBD-D242-A391ECEE5ACA}"/>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4076897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F20895-026B-8CFB-F502-E4F0A7B94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5A23036-5526-D04B-964D-AC3050C51B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E59C67-F8A2-CF36-A74C-69D3F89131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BC331C-9C15-4EBF-B28C-C496046A8A37}" type="datetimeFigureOut">
              <a:rPr lang="en-GB" smtClean="0"/>
              <a:t>25/03/2026</a:t>
            </a:fld>
            <a:endParaRPr lang="en-GB"/>
          </a:p>
        </p:txBody>
      </p:sp>
      <p:sp>
        <p:nvSpPr>
          <p:cNvPr id="5" name="Footer Placeholder 4">
            <a:extLst>
              <a:ext uri="{FF2B5EF4-FFF2-40B4-BE49-F238E27FC236}">
                <a16:creationId xmlns:a16="http://schemas.microsoft.com/office/drawing/2014/main" id="{8A6CB9F4-1217-A26D-853E-627FC71A0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C53EC2E-6A5D-DEA6-DCCC-4CFDC2F30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A190A-0A17-4259-A608-575D6F13E893}" type="slidenum">
              <a:rPr lang="en-GB" smtClean="0"/>
              <a:t>‹#›</a:t>
            </a:fld>
            <a:endParaRPr lang="en-GB"/>
          </a:p>
        </p:txBody>
      </p:sp>
    </p:spTree>
    <p:extLst>
      <p:ext uri="{BB962C8B-B14F-4D97-AF65-F5344CB8AC3E}">
        <p14:creationId xmlns:p14="http://schemas.microsoft.com/office/powerpoint/2010/main" val="2683717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hcpc-uk.org/standards/standards-of-proficiency/physiotherapist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www.csp.org.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90B72-D56A-B5CF-0952-EA6A346393FC}"/>
              </a:ext>
            </a:extLst>
          </p:cNvPr>
          <p:cNvSpPr>
            <a:spLocks noGrp="1"/>
          </p:cNvSpPr>
          <p:nvPr>
            <p:ph type="ctrTitle"/>
          </p:nvPr>
        </p:nvSpPr>
        <p:spPr/>
        <p:txBody>
          <a:bodyPr/>
          <a:lstStyle/>
          <a:p>
            <a:r>
              <a:rPr lang="en-GB" dirty="0"/>
              <a:t>Physiotherapy and health promotion </a:t>
            </a:r>
          </a:p>
        </p:txBody>
      </p:sp>
      <p:sp>
        <p:nvSpPr>
          <p:cNvPr id="3" name="Subtitle 2">
            <a:extLst>
              <a:ext uri="{FF2B5EF4-FFF2-40B4-BE49-F238E27FC236}">
                <a16:creationId xmlns:a16="http://schemas.microsoft.com/office/drawing/2014/main" id="{00BB5801-D479-488B-BB41-95269E7C73C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43296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1B0FF-15DB-DE46-60E4-70AC0C26A2A5}"/>
              </a:ext>
            </a:extLst>
          </p:cNvPr>
          <p:cNvSpPr>
            <a:spLocks noGrp="1"/>
          </p:cNvSpPr>
          <p:nvPr>
            <p:ph type="title"/>
          </p:nvPr>
        </p:nvSpPr>
        <p:spPr/>
        <p:txBody>
          <a:bodyPr/>
          <a:lstStyle/>
          <a:p>
            <a:r>
              <a:rPr lang="en-GB" dirty="0"/>
              <a:t>By the end of this lecture you should </a:t>
            </a:r>
          </a:p>
        </p:txBody>
      </p:sp>
      <p:sp>
        <p:nvSpPr>
          <p:cNvPr id="3" name="Content Placeholder 2">
            <a:extLst>
              <a:ext uri="{FF2B5EF4-FFF2-40B4-BE49-F238E27FC236}">
                <a16:creationId xmlns:a16="http://schemas.microsoft.com/office/drawing/2014/main" id="{D2DD7871-2C95-B9A1-3C9D-9BF20CFB352D}"/>
              </a:ext>
            </a:extLst>
          </p:cNvPr>
          <p:cNvSpPr>
            <a:spLocks noGrp="1"/>
          </p:cNvSpPr>
          <p:nvPr>
            <p:ph idx="1"/>
          </p:nvPr>
        </p:nvSpPr>
        <p:spPr/>
        <p:txBody>
          <a:bodyPr>
            <a:normAutofit lnSpcReduction="10000"/>
          </a:bodyPr>
          <a:lstStyle/>
          <a:p>
            <a:r>
              <a:rPr lang="en-GB" dirty="0"/>
              <a:t>Describe how physiotherapists contribute to health promotion and prevention across common conditions relevant to their practice (e.g. MSK, respiratory, LTCs).</a:t>
            </a:r>
          </a:p>
          <a:p>
            <a:r>
              <a:rPr lang="en-GB" dirty="0"/>
              <a:t>Explain what HCPC </a:t>
            </a:r>
            <a:r>
              <a:rPr lang="en-GB" dirty="0" err="1"/>
              <a:t>SoP</a:t>
            </a:r>
            <a:r>
              <a:rPr lang="en-GB" dirty="0"/>
              <a:t> 15.1–15.3 require of physiotherapists in relation to public health and behaviour change.</a:t>
            </a:r>
          </a:p>
          <a:p>
            <a:r>
              <a:rPr lang="en-GB" dirty="0"/>
              <a:t>Identify how CSP frames physiotherapists as part of the wider public health workforce, including links to the Public Health Skills and Knowledge Framework (PHSKF).​</a:t>
            </a:r>
          </a:p>
          <a:p>
            <a:r>
              <a:rPr lang="en-GB" dirty="0"/>
              <a:t>Apply the </a:t>
            </a:r>
            <a:r>
              <a:rPr lang="en-GB" b="1" dirty="0"/>
              <a:t>Making Every Contact Count</a:t>
            </a:r>
            <a:r>
              <a:rPr lang="en-GB" dirty="0"/>
              <a:t> (MECC) idea to simple physiotherapy case scenarios and outline a brief health‑promoting conversation they could have.</a:t>
            </a:r>
          </a:p>
          <a:p>
            <a:endParaRPr lang="en-GB" dirty="0"/>
          </a:p>
        </p:txBody>
      </p:sp>
    </p:spTree>
    <p:extLst>
      <p:ext uri="{BB962C8B-B14F-4D97-AF65-F5344CB8AC3E}">
        <p14:creationId xmlns:p14="http://schemas.microsoft.com/office/powerpoint/2010/main" val="121073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E632E-2521-9D82-B395-BBCFE27A7D97}"/>
              </a:ext>
            </a:extLst>
          </p:cNvPr>
          <p:cNvSpPr>
            <a:spLocks noGrp="1"/>
          </p:cNvSpPr>
          <p:nvPr>
            <p:ph type="title"/>
          </p:nvPr>
        </p:nvSpPr>
        <p:spPr/>
        <p:txBody>
          <a:bodyPr/>
          <a:lstStyle/>
          <a:p>
            <a:r>
              <a:rPr lang="en-GB" dirty="0"/>
              <a:t>Where this fits in the module </a:t>
            </a:r>
          </a:p>
        </p:txBody>
      </p:sp>
      <p:sp>
        <p:nvSpPr>
          <p:cNvPr id="3" name="Content Placeholder 2">
            <a:extLst>
              <a:ext uri="{FF2B5EF4-FFF2-40B4-BE49-F238E27FC236}">
                <a16:creationId xmlns:a16="http://schemas.microsoft.com/office/drawing/2014/main" id="{52AB2546-CA78-1A64-EB38-961BE50A3802}"/>
              </a:ext>
            </a:extLst>
          </p:cNvPr>
          <p:cNvSpPr>
            <a:spLocks noGrp="1"/>
          </p:cNvSpPr>
          <p:nvPr>
            <p:ph idx="1"/>
          </p:nvPr>
        </p:nvSpPr>
        <p:spPr/>
        <p:txBody>
          <a:bodyPr/>
          <a:lstStyle/>
          <a:p>
            <a:r>
              <a:rPr lang="en-GB" dirty="0"/>
              <a:t>This session builds on your SDL task on physiotherapists and public health.</a:t>
            </a:r>
          </a:p>
          <a:p>
            <a:pPr marL="0" indent="0">
              <a:buNone/>
            </a:pPr>
            <a:endParaRPr lang="en-GB" dirty="0"/>
          </a:p>
          <a:p>
            <a:r>
              <a:rPr lang="en-GB" dirty="0"/>
              <a:t>It links to earlier sessions </a:t>
            </a:r>
          </a:p>
          <a:p>
            <a:endParaRPr lang="en-GB" dirty="0"/>
          </a:p>
          <a:p>
            <a:r>
              <a:rPr lang="en-GB" dirty="0"/>
              <a:t>It prepares you for clinical placements and your assessment and reflective practice (contemporary practice, HCPC/CSP, communication).</a:t>
            </a:r>
          </a:p>
          <a:p>
            <a:pPr marL="0" indent="0">
              <a:buNone/>
            </a:pPr>
            <a:endParaRPr lang="en-GB" dirty="0"/>
          </a:p>
        </p:txBody>
      </p:sp>
    </p:spTree>
    <p:extLst>
      <p:ext uri="{BB962C8B-B14F-4D97-AF65-F5344CB8AC3E}">
        <p14:creationId xmlns:p14="http://schemas.microsoft.com/office/powerpoint/2010/main" val="1845780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D887-6C43-8946-438D-DC7B5B19F5B3}"/>
              </a:ext>
            </a:extLst>
          </p:cNvPr>
          <p:cNvSpPr>
            <a:spLocks noGrp="1"/>
          </p:cNvSpPr>
          <p:nvPr>
            <p:ph type="title"/>
          </p:nvPr>
        </p:nvSpPr>
        <p:spPr/>
        <p:txBody>
          <a:bodyPr/>
          <a:lstStyle/>
          <a:p>
            <a:r>
              <a:rPr lang="en-GB" dirty="0"/>
              <a:t>SDL recap </a:t>
            </a:r>
          </a:p>
        </p:txBody>
      </p:sp>
      <p:sp>
        <p:nvSpPr>
          <p:cNvPr id="3" name="Content Placeholder 2">
            <a:extLst>
              <a:ext uri="{FF2B5EF4-FFF2-40B4-BE49-F238E27FC236}">
                <a16:creationId xmlns:a16="http://schemas.microsoft.com/office/drawing/2014/main" id="{DFC643D4-EEA9-6348-2CAE-45F9429D24CD}"/>
              </a:ext>
            </a:extLst>
          </p:cNvPr>
          <p:cNvSpPr>
            <a:spLocks noGrp="1"/>
          </p:cNvSpPr>
          <p:nvPr>
            <p:ph idx="1"/>
          </p:nvPr>
        </p:nvSpPr>
        <p:spPr/>
        <p:txBody>
          <a:bodyPr/>
          <a:lstStyle/>
          <a:p>
            <a:r>
              <a:rPr lang="en-GB" dirty="0"/>
              <a:t>You explored examples of physiotherapists acting in ways that promote health or prevent ill health.</a:t>
            </a:r>
          </a:p>
          <a:p>
            <a:r>
              <a:rPr lang="en-GB" dirty="0"/>
              <a:t>You identified settings (e.g. MSK, respiratory, neuro, community) where physios influence population health.</a:t>
            </a:r>
          </a:p>
          <a:p>
            <a:r>
              <a:rPr lang="en-GB" dirty="0"/>
              <a:t>You generated questions about what “counts” as public health in physiotherapy.</a:t>
            </a:r>
          </a:p>
        </p:txBody>
      </p:sp>
    </p:spTree>
    <p:extLst>
      <p:ext uri="{BB962C8B-B14F-4D97-AF65-F5344CB8AC3E}">
        <p14:creationId xmlns:p14="http://schemas.microsoft.com/office/powerpoint/2010/main" val="3755790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F934E-E794-D2D2-67E4-74ED69ABDFBC}"/>
              </a:ext>
            </a:extLst>
          </p:cNvPr>
          <p:cNvSpPr>
            <a:spLocks noGrp="1"/>
          </p:cNvSpPr>
          <p:nvPr>
            <p:ph type="title"/>
          </p:nvPr>
        </p:nvSpPr>
        <p:spPr/>
        <p:txBody>
          <a:bodyPr/>
          <a:lstStyle/>
          <a:p>
            <a:r>
              <a:rPr lang="en-GB" dirty="0"/>
              <a:t>SDL recap: Pair-share </a:t>
            </a:r>
          </a:p>
        </p:txBody>
      </p:sp>
      <p:sp>
        <p:nvSpPr>
          <p:cNvPr id="3" name="Content Placeholder 2">
            <a:extLst>
              <a:ext uri="{FF2B5EF4-FFF2-40B4-BE49-F238E27FC236}">
                <a16:creationId xmlns:a16="http://schemas.microsoft.com/office/drawing/2014/main" id="{DD22DCC6-2711-02FD-EF95-8559975F7582}"/>
              </a:ext>
            </a:extLst>
          </p:cNvPr>
          <p:cNvSpPr>
            <a:spLocks noGrp="1"/>
          </p:cNvSpPr>
          <p:nvPr>
            <p:ph idx="1"/>
          </p:nvPr>
        </p:nvSpPr>
        <p:spPr/>
        <p:txBody>
          <a:bodyPr/>
          <a:lstStyle/>
          <a:p>
            <a:pPr marL="0" indent="0">
              <a:buNone/>
            </a:pPr>
            <a:r>
              <a:rPr lang="en-GB" dirty="0"/>
              <a:t>Instructions:</a:t>
            </a:r>
          </a:p>
          <a:p>
            <a:r>
              <a:rPr lang="en-GB" dirty="0"/>
              <a:t>Turn to the person next to you.</a:t>
            </a:r>
          </a:p>
          <a:p>
            <a:r>
              <a:rPr lang="en-GB" dirty="0"/>
              <a:t>Share:</a:t>
            </a:r>
          </a:p>
          <a:p>
            <a:pPr lvl="1"/>
            <a:r>
              <a:rPr lang="en-GB" dirty="0"/>
              <a:t>One example from your SDL where a physio contributed to public health.</a:t>
            </a:r>
          </a:p>
          <a:p>
            <a:pPr lvl="1"/>
            <a:r>
              <a:rPr lang="en-GB" dirty="0"/>
              <a:t>One question you still have about the physio–public health role e.g. </a:t>
            </a:r>
            <a:br>
              <a:rPr lang="en-GB" dirty="0"/>
            </a:br>
            <a:r>
              <a:rPr lang="en-GB" dirty="0"/>
              <a:t>“What are physios already doing that looks like public health?”</a:t>
            </a:r>
          </a:p>
          <a:p>
            <a:pPr lvl="1"/>
            <a:endParaRPr lang="en-GB" dirty="0"/>
          </a:p>
          <a:p>
            <a:r>
              <a:rPr lang="en-GB" dirty="0"/>
              <a:t>Post your insights on the </a:t>
            </a:r>
            <a:r>
              <a:rPr lang="en-GB" dirty="0" err="1"/>
              <a:t>padlet</a:t>
            </a:r>
            <a:r>
              <a:rPr lang="en-GB" dirty="0"/>
              <a:t> </a:t>
            </a:r>
          </a:p>
          <a:p>
            <a:endParaRPr lang="en-GB" dirty="0"/>
          </a:p>
        </p:txBody>
      </p:sp>
    </p:spTree>
    <p:extLst>
      <p:ext uri="{BB962C8B-B14F-4D97-AF65-F5344CB8AC3E}">
        <p14:creationId xmlns:p14="http://schemas.microsoft.com/office/powerpoint/2010/main" val="289363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AC181-17EB-93AA-0003-DB55FFB29561}"/>
              </a:ext>
            </a:extLst>
          </p:cNvPr>
          <p:cNvSpPr>
            <a:spLocks noGrp="1"/>
          </p:cNvSpPr>
          <p:nvPr>
            <p:ph type="title"/>
          </p:nvPr>
        </p:nvSpPr>
        <p:spPr/>
        <p:txBody>
          <a:bodyPr/>
          <a:lstStyle/>
          <a:p>
            <a:r>
              <a:rPr lang="en-GB" dirty="0"/>
              <a:t>Why talk about Public health in Physio </a:t>
            </a:r>
          </a:p>
        </p:txBody>
      </p:sp>
      <p:sp>
        <p:nvSpPr>
          <p:cNvPr id="6" name="Rectangle: Rounded Corners 5">
            <a:extLst>
              <a:ext uri="{FF2B5EF4-FFF2-40B4-BE49-F238E27FC236}">
                <a16:creationId xmlns:a16="http://schemas.microsoft.com/office/drawing/2014/main" id="{21CBE902-45D9-8B76-ECF7-20E915D49371}"/>
              </a:ext>
            </a:extLst>
          </p:cNvPr>
          <p:cNvSpPr/>
          <p:nvPr/>
        </p:nvSpPr>
        <p:spPr>
          <a:xfrm>
            <a:off x="736600" y="2305050"/>
            <a:ext cx="4902200" cy="914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Modifiable risk factors and their influence on long term conditions </a:t>
            </a:r>
          </a:p>
        </p:txBody>
      </p:sp>
      <p:sp>
        <p:nvSpPr>
          <p:cNvPr id="7" name="Rectangle: Rounded Corners 6">
            <a:extLst>
              <a:ext uri="{FF2B5EF4-FFF2-40B4-BE49-F238E27FC236}">
                <a16:creationId xmlns:a16="http://schemas.microsoft.com/office/drawing/2014/main" id="{D8AD4878-1F21-9566-2E72-A695E3030BE5}"/>
              </a:ext>
            </a:extLst>
          </p:cNvPr>
          <p:cNvSpPr/>
          <p:nvPr/>
        </p:nvSpPr>
        <p:spPr>
          <a:xfrm>
            <a:off x="736600" y="3463925"/>
            <a:ext cx="4902200" cy="914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Physiotherapy setting and opportunity </a:t>
            </a:r>
          </a:p>
        </p:txBody>
      </p:sp>
      <p:sp>
        <p:nvSpPr>
          <p:cNvPr id="8" name="Rectangle: Rounded Corners 7">
            <a:extLst>
              <a:ext uri="{FF2B5EF4-FFF2-40B4-BE49-F238E27FC236}">
                <a16:creationId xmlns:a16="http://schemas.microsoft.com/office/drawing/2014/main" id="{54BCE054-EF6D-B6AC-FBDA-96A4D26F2C8C}"/>
              </a:ext>
            </a:extLst>
          </p:cNvPr>
          <p:cNvSpPr/>
          <p:nvPr/>
        </p:nvSpPr>
        <p:spPr>
          <a:xfrm>
            <a:off x="736600" y="4622800"/>
            <a:ext cx="4902200" cy="914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Ageing population </a:t>
            </a:r>
          </a:p>
        </p:txBody>
      </p:sp>
      <p:sp>
        <p:nvSpPr>
          <p:cNvPr id="9" name="Rectangle: Rounded Corners 8">
            <a:extLst>
              <a:ext uri="{FF2B5EF4-FFF2-40B4-BE49-F238E27FC236}">
                <a16:creationId xmlns:a16="http://schemas.microsoft.com/office/drawing/2014/main" id="{3A5A132B-1BA0-97FF-8D2F-E313E6F09213}"/>
              </a:ext>
            </a:extLst>
          </p:cNvPr>
          <p:cNvSpPr/>
          <p:nvPr/>
        </p:nvSpPr>
        <p:spPr>
          <a:xfrm>
            <a:off x="736600" y="5781675"/>
            <a:ext cx="4902200" cy="914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Physiotherapy skills </a:t>
            </a:r>
          </a:p>
        </p:txBody>
      </p:sp>
      <p:pic>
        <p:nvPicPr>
          <p:cNvPr id="11" name="Graphic 10" descr="Cycling with solid fill">
            <a:extLst>
              <a:ext uri="{FF2B5EF4-FFF2-40B4-BE49-F238E27FC236}">
                <a16:creationId xmlns:a16="http://schemas.microsoft.com/office/drawing/2014/main" id="{EE5AF99F-37F6-06D6-B4E3-C2AFCE1DB5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55100" y="2305050"/>
            <a:ext cx="914400" cy="914400"/>
          </a:xfrm>
          <a:prstGeom prst="rect">
            <a:avLst/>
          </a:prstGeom>
        </p:spPr>
      </p:pic>
      <p:pic>
        <p:nvPicPr>
          <p:cNvPr id="13" name="Graphic 12" descr="Chat with solid fill">
            <a:extLst>
              <a:ext uri="{FF2B5EF4-FFF2-40B4-BE49-F238E27FC236}">
                <a16:creationId xmlns:a16="http://schemas.microsoft.com/office/drawing/2014/main" id="{94460777-6060-C1F3-CA40-BE30802B5C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3200" y="3476625"/>
            <a:ext cx="914400" cy="914400"/>
          </a:xfrm>
          <a:prstGeom prst="rect">
            <a:avLst/>
          </a:prstGeom>
        </p:spPr>
      </p:pic>
      <p:pic>
        <p:nvPicPr>
          <p:cNvPr id="15" name="Graphic 14" descr="Woman with cane with solid fill">
            <a:extLst>
              <a:ext uri="{FF2B5EF4-FFF2-40B4-BE49-F238E27FC236}">
                <a16:creationId xmlns:a16="http://schemas.microsoft.com/office/drawing/2014/main" id="{9BDA22B5-A760-80FE-0836-D861766630B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93200" y="4391025"/>
            <a:ext cx="914400" cy="914400"/>
          </a:xfrm>
          <a:prstGeom prst="rect">
            <a:avLst/>
          </a:prstGeom>
        </p:spPr>
      </p:pic>
      <p:pic>
        <p:nvPicPr>
          <p:cNvPr id="19" name="Graphic 18" descr="Care with solid fill">
            <a:extLst>
              <a:ext uri="{FF2B5EF4-FFF2-40B4-BE49-F238E27FC236}">
                <a16:creationId xmlns:a16="http://schemas.microsoft.com/office/drawing/2014/main" id="{252650F2-7C5A-4EF5-53CF-E8381E2B300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93200" y="5807075"/>
            <a:ext cx="914400" cy="914400"/>
          </a:xfrm>
          <a:prstGeom prst="rect">
            <a:avLst/>
          </a:prstGeom>
        </p:spPr>
      </p:pic>
    </p:spTree>
    <p:extLst>
      <p:ext uri="{BB962C8B-B14F-4D97-AF65-F5344CB8AC3E}">
        <p14:creationId xmlns:p14="http://schemas.microsoft.com/office/powerpoint/2010/main" val="14705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D3B5B-1F0C-9E74-6244-10AC987FBC2F}"/>
              </a:ext>
            </a:extLst>
          </p:cNvPr>
          <p:cNvSpPr>
            <a:spLocks noGrp="1"/>
          </p:cNvSpPr>
          <p:nvPr>
            <p:ph type="title"/>
          </p:nvPr>
        </p:nvSpPr>
        <p:spPr/>
        <p:txBody>
          <a:bodyPr/>
          <a:lstStyle/>
          <a:p>
            <a:r>
              <a:rPr lang="en-GB" dirty="0"/>
              <a:t>Examples from practice: MSK Practice  </a:t>
            </a:r>
          </a:p>
        </p:txBody>
      </p:sp>
      <p:graphicFrame>
        <p:nvGraphicFramePr>
          <p:cNvPr id="7" name="Content Placeholder 6">
            <a:extLst>
              <a:ext uri="{FF2B5EF4-FFF2-40B4-BE49-F238E27FC236}">
                <a16:creationId xmlns:a16="http://schemas.microsoft.com/office/drawing/2014/main" id="{690659DE-63C2-0813-7742-D9B2014135BB}"/>
              </a:ext>
            </a:extLst>
          </p:cNvPr>
          <p:cNvGraphicFramePr>
            <a:graphicFrameLocks noGrp="1"/>
          </p:cNvGraphicFramePr>
          <p:nvPr>
            <p:ph idx="1"/>
            <p:extLst>
              <p:ext uri="{D42A27DB-BD31-4B8C-83A1-F6EECF244321}">
                <p14:modId xmlns:p14="http://schemas.microsoft.com/office/powerpoint/2010/main" val="1250970357"/>
              </p:ext>
            </p:extLst>
          </p:nvPr>
        </p:nvGraphicFramePr>
        <p:xfrm>
          <a:off x="838200" y="2312988"/>
          <a:ext cx="105156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6405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48E5-FE71-7BCB-C973-0964A55718A1}"/>
              </a:ext>
            </a:extLst>
          </p:cNvPr>
          <p:cNvSpPr>
            <a:spLocks noGrp="1"/>
          </p:cNvSpPr>
          <p:nvPr>
            <p:ph type="title"/>
          </p:nvPr>
        </p:nvSpPr>
        <p:spPr/>
        <p:txBody>
          <a:bodyPr/>
          <a:lstStyle/>
          <a:p>
            <a:r>
              <a:rPr lang="en-GB" dirty="0"/>
              <a:t>Patient Examples: </a:t>
            </a:r>
            <a:r>
              <a:rPr lang="en-GB" dirty="0" err="1"/>
              <a:t>Resp</a:t>
            </a:r>
            <a:r>
              <a:rPr lang="en-GB" dirty="0"/>
              <a:t> </a:t>
            </a:r>
          </a:p>
        </p:txBody>
      </p:sp>
      <p:graphicFrame>
        <p:nvGraphicFramePr>
          <p:cNvPr id="4" name="Content Placeholder 3">
            <a:extLst>
              <a:ext uri="{FF2B5EF4-FFF2-40B4-BE49-F238E27FC236}">
                <a16:creationId xmlns:a16="http://schemas.microsoft.com/office/drawing/2014/main" id="{CCEED631-86F8-FCF2-070F-E796FB8989F6}"/>
              </a:ext>
            </a:extLst>
          </p:cNvPr>
          <p:cNvGraphicFramePr>
            <a:graphicFrameLocks noGrp="1"/>
          </p:cNvGraphicFramePr>
          <p:nvPr>
            <p:ph idx="1"/>
            <p:extLst>
              <p:ext uri="{D42A27DB-BD31-4B8C-83A1-F6EECF244321}">
                <p14:modId xmlns:p14="http://schemas.microsoft.com/office/powerpoint/2010/main" val="1310164673"/>
              </p:ext>
            </p:extLst>
          </p:nvPr>
        </p:nvGraphicFramePr>
        <p:xfrm>
          <a:off x="838200" y="2312988"/>
          <a:ext cx="105156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47265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EA0FD7-E0BD-2F8D-F1AB-B79BABE6EBF8}"/>
              </a:ext>
            </a:extLst>
          </p:cNvPr>
          <p:cNvSpPr>
            <a:spLocks noGrp="1"/>
          </p:cNvSpPr>
          <p:nvPr>
            <p:ph sz="half" idx="1"/>
          </p:nvPr>
        </p:nvSpPr>
        <p:spPr>
          <a:xfrm>
            <a:off x="838200" y="1825625"/>
            <a:ext cx="5181600" cy="4351338"/>
          </a:xfrm>
        </p:spPr>
        <p:txBody>
          <a:bodyPr>
            <a:normAutofit/>
          </a:bodyPr>
          <a:lstStyle/>
          <a:p>
            <a:r>
              <a:rPr lang="en-GB" dirty="0"/>
              <a:t>Primary care</a:t>
            </a:r>
          </a:p>
          <a:p>
            <a:pPr lvl="1"/>
            <a:r>
              <a:rPr lang="en-GB" sz="2800"/>
              <a:t>Stop before it starts </a:t>
            </a:r>
          </a:p>
          <a:p>
            <a:endParaRPr lang="en-GB" dirty="0"/>
          </a:p>
          <a:p>
            <a:r>
              <a:rPr lang="en-GB" dirty="0"/>
              <a:t>Secondary care</a:t>
            </a:r>
          </a:p>
          <a:p>
            <a:pPr lvl="1"/>
            <a:r>
              <a:rPr lang="en-GB" sz="2800"/>
              <a:t>Early intervention </a:t>
            </a:r>
          </a:p>
          <a:p>
            <a:pPr lvl="1"/>
            <a:endParaRPr lang="en-GB" sz="2800"/>
          </a:p>
          <a:p>
            <a:r>
              <a:rPr lang="en-GB" dirty="0"/>
              <a:t>Tertiary care </a:t>
            </a:r>
          </a:p>
          <a:p>
            <a:pPr lvl="1"/>
            <a:r>
              <a:rPr lang="en-GB" sz="2800"/>
              <a:t>Reduce impact </a:t>
            </a:r>
          </a:p>
        </p:txBody>
      </p:sp>
      <p:pic>
        <p:nvPicPr>
          <p:cNvPr id="7" name="Picture 6" descr="Machine gears">
            <a:extLst>
              <a:ext uri="{FF2B5EF4-FFF2-40B4-BE49-F238E27FC236}">
                <a16:creationId xmlns:a16="http://schemas.microsoft.com/office/drawing/2014/main" id="{121F48CA-85CB-C28D-084F-2CCCB37E8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2271935"/>
            <a:ext cx="5181600" cy="3458718"/>
          </a:xfrm>
          <a:prstGeom prst="rect">
            <a:avLst/>
          </a:prstGeom>
          <a:noFill/>
        </p:spPr>
      </p:pic>
      <p:sp>
        <p:nvSpPr>
          <p:cNvPr id="2" name="Title 1">
            <a:extLst>
              <a:ext uri="{FF2B5EF4-FFF2-40B4-BE49-F238E27FC236}">
                <a16:creationId xmlns:a16="http://schemas.microsoft.com/office/drawing/2014/main" id="{FB948F23-105E-F744-CB8D-B362B3D3A708}"/>
              </a:ext>
            </a:extLst>
          </p:cNvPr>
          <p:cNvSpPr>
            <a:spLocks noGrp="1"/>
          </p:cNvSpPr>
          <p:nvPr>
            <p:ph type="title"/>
          </p:nvPr>
        </p:nvSpPr>
        <p:spPr>
          <a:xfrm>
            <a:off x="0" y="410368"/>
            <a:ext cx="10515600" cy="1325563"/>
          </a:xfrm>
        </p:spPr>
        <p:txBody>
          <a:bodyPr anchor="ctr">
            <a:normAutofit/>
          </a:bodyPr>
          <a:lstStyle/>
          <a:p>
            <a:r>
              <a:rPr lang="en-GB" dirty="0"/>
              <a:t>Prevention across levels </a:t>
            </a:r>
          </a:p>
        </p:txBody>
      </p:sp>
    </p:spTree>
    <p:extLst>
      <p:ext uri="{BB962C8B-B14F-4D97-AF65-F5344CB8AC3E}">
        <p14:creationId xmlns:p14="http://schemas.microsoft.com/office/powerpoint/2010/main" val="2650064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01F718-A0B5-3897-C6D2-0DD46A500F9D}"/>
              </a:ext>
            </a:extLst>
          </p:cNvPr>
          <p:cNvSpPr>
            <a:spLocks noGrp="1"/>
          </p:cNvSpPr>
          <p:nvPr>
            <p:ph sz="half" idx="1"/>
          </p:nvPr>
        </p:nvSpPr>
        <p:spPr>
          <a:xfrm>
            <a:off x="838200" y="1825625"/>
            <a:ext cx="5181600" cy="4351338"/>
          </a:xfrm>
        </p:spPr>
        <p:txBody>
          <a:bodyPr>
            <a:normAutofit/>
          </a:bodyPr>
          <a:lstStyle/>
          <a:p>
            <a:r>
              <a:rPr lang="en-GB" dirty="0"/>
              <a:t>Should be a routine part of EVERY consultation </a:t>
            </a:r>
          </a:p>
          <a:p>
            <a:endParaRPr lang="en-GB" dirty="0"/>
          </a:p>
          <a:p>
            <a:r>
              <a:rPr lang="en-GB" dirty="0"/>
              <a:t>Ignoring major risk factors can lead to poor outcomes </a:t>
            </a:r>
          </a:p>
          <a:p>
            <a:endParaRPr lang="en-GB" dirty="0"/>
          </a:p>
          <a:p>
            <a:r>
              <a:rPr lang="en-GB" dirty="0"/>
              <a:t>HCPC SOP 15.1-15.3 </a:t>
            </a:r>
          </a:p>
        </p:txBody>
      </p:sp>
      <p:pic>
        <p:nvPicPr>
          <p:cNvPr id="6" name="Picture 5" descr="Doctor and patient">
            <a:extLst>
              <a:ext uri="{FF2B5EF4-FFF2-40B4-BE49-F238E27FC236}">
                <a16:creationId xmlns:a16="http://schemas.microsoft.com/office/drawing/2014/main" id="{F6DA1145-3582-7A50-374B-4CB1C9ACD91F}"/>
              </a:ext>
            </a:extLst>
          </p:cNvPr>
          <p:cNvPicPr>
            <a:picLocks noChangeAspect="1"/>
          </p:cNvPicPr>
          <p:nvPr/>
        </p:nvPicPr>
        <p:blipFill>
          <a:blip r:embed="rId3">
            <a:extLst>
              <a:ext uri="{28A0092B-C50C-407E-A947-70E740481C1C}">
                <a14:useLocalDpi xmlns:a14="http://schemas.microsoft.com/office/drawing/2010/main" val="0"/>
              </a:ext>
            </a:extLst>
          </a:blip>
          <a:srcRect l="17382" r="3131" b="-1"/>
          <a:stretch>
            <a:fillRect/>
          </a:stretch>
        </p:blipFill>
        <p:spPr>
          <a:xfrm>
            <a:off x="6172200" y="1825625"/>
            <a:ext cx="5181600" cy="4351338"/>
          </a:xfrm>
          <a:prstGeom prst="rect">
            <a:avLst/>
          </a:prstGeom>
          <a:noFill/>
        </p:spPr>
      </p:pic>
      <p:sp>
        <p:nvSpPr>
          <p:cNvPr id="4" name="Title 3">
            <a:extLst>
              <a:ext uri="{FF2B5EF4-FFF2-40B4-BE49-F238E27FC236}">
                <a16:creationId xmlns:a16="http://schemas.microsoft.com/office/drawing/2014/main" id="{445B481F-82B7-0076-C986-5C6B81DED89B}"/>
              </a:ext>
            </a:extLst>
          </p:cNvPr>
          <p:cNvSpPr>
            <a:spLocks noGrp="1"/>
          </p:cNvSpPr>
          <p:nvPr>
            <p:ph type="title"/>
          </p:nvPr>
        </p:nvSpPr>
        <p:spPr>
          <a:xfrm>
            <a:off x="0" y="410368"/>
            <a:ext cx="10515600" cy="1325563"/>
          </a:xfrm>
        </p:spPr>
        <p:txBody>
          <a:bodyPr anchor="ctr">
            <a:normAutofit/>
          </a:bodyPr>
          <a:lstStyle/>
          <a:p>
            <a:r>
              <a:rPr lang="en-GB" dirty="0"/>
              <a:t>“not an add-on” </a:t>
            </a:r>
          </a:p>
        </p:txBody>
      </p:sp>
    </p:spTree>
    <p:extLst>
      <p:ext uri="{BB962C8B-B14F-4D97-AF65-F5344CB8AC3E}">
        <p14:creationId xmlns:p14="http://schemas.microsoft.com/office/powerpoint/2010/main" val="681262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1833AC-24AD-7DC7-96E8-93D2336BA964}"/>
              </a:ext>
            </a:extLst>
          </p:cNvPr>
          <p:cNvSpPr>
            <a:spLocks noGrp="1"/>
          </p:cNvSpPr>
          <p:nvPr>
            <p:ph sz="half" idx="1"/>
          </p:nvPr>
        </p:nvSpPr>
        <p:spPr>
          <a:xfrm>
            <a:off x="838200" y="1825625"/>
            <a:ext cx="10896600" cy="4351338"/>
          </a:xfrm>
        </p:spPr>
        <p:txBody>
          <a:bodyPr/>
          <a:lstStyle/>
          <a:p>
            <a:pPr marL="0" indent="0">
              <a:buNone/>
            </a:pPr>
            <a:endParaRPr lang="en-GB" dirty="0"/>
          </a:p>
          <a:p>
            <a:r>
              <a:rPr lang="en-GB" dirty="0"/>
              <a:t>In pairs : </a:t>
            </a:r>
          </a:p>
          <a:p>
            <a:pPr lvl="1"/>
            <a:r>
              <a:rPr lang="en-GB" dirty="0"/>
              <a:t>Last placement/simulation: identify a moment where brief conversation could've influenced health behaviour? What stopped it/what helped?“</a:t>
            </a:r>
          </a:p>
          <a:p>
            <a:pPr lvl="1"/>
            <a:endParaRPr lang="en-GB" dirty="0"/>
          </a:p>
          <a:p>
            <a:pPr lvl="1"/>
            <a:r>
              <a:rPr lang="en-GB" dirty="0"/>
              <a:t>Discuss with your partner </a:t>
            </a:r>
          </a:p>
        </p:txBody>
      </p:sp>
      <p:sp>
        <p:nvSpPr>
          <p:cNvPr id="4" name="Title 3">
            <a:extLst>
              <a:ext uri="{FF2B5EF4-FFF2-40B4-BE49-F238E27FC236}">
                <a16:creationId xmlns:a16="http://schemas.microsoft.com/office/drawing/2014/main" id="{A1119A11-5D8C-330C-D871-4EA9AEAA7C02}"/>
              </a:ext>
            </a:extLst>
          </p:cNvPr>
          <p:cNvSpPr>
            <a:spLocks noGrp="1"/>
          </p:cNvSpPr>
          <p:nvPr>
            <p:ph type="title"/>
          </p:nvPr>
        </p:nvSpPr>
        <p:spPr/>
        <p:txBody>
          <a:bodyPr/>
          <a:lstStyle/>
          <a:p>
            <a:r>
              <a:rPr lang="en-GB" dirty="0"/>
              <a:t>Reflection question </a:t>
            </a:r>
          </a:p>
        </p:txBody>
      </p:sp>
    </p:spTree>
    <p:extLst>
      <p:ext uri="{BB962C8B-B14F-4D97-AF65-F5344CB8AC3E}">
        <p14:creationId xmlns:p14="http://schemas.microsoft.com/office/powerpoint/2010/main" val="2272666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EF90EE-D4DB-ABAD-B023-4B8124A52D6C}"/>
              </a:ext>
            </a:extLst>
          </p:cNvPr>
          <p:cNvSpPr>
            <a:spLocks noGrp="1"/>
          </p:cNvSpPr>
          <p:nvPr>
            <p:ph sz="half" idx="1"/>
          </p:nvPr>
        </p:nvSpPr>
        <p:spPr/>
        <p:txBody>
          <a:bodyPr>
            <a:normAutofit/>
          </a:bodyPr>
          <a:lstStyle/>
          <a:p>
            <a:r>
              <a:rPr lang="en-GB" dirty="0"/>
              <a:t>Physiotherapy interventions: </a:t>
            </a:r>
          </a:p>
          <a:p>
            <a:pPr lvl="1"/>
            <a:r>
              <a:rPr lang="en-GB" dirty="0"/>
              <a:t>Brief advice </a:t>
            </a:r>
          </a:p>
          <a:p>
            <a:pPr lvl="1"/>
            <a:r>
              <a:rPr lang="en-GB" dirty="0"/>
              <a:t>Behaviour change </a:t>
            </a:r>
          </a:p>
          <a:p>
            <a:pPr lvl="1"/>
            <a:r>
              <a:rPr lang="en-GB" dirty="0"/>
              <a:t>Integrated health promotion</a:t>
            </a:r>
          </a:p>
        </p:txBody>
      </p:sp>
      <p:sp>
        <p:nvSpPr>
          <p:cNvPr id="3" name="Content Placeholder 2">
            <a:extLst>
              <a:ext uri="{FF2B5EF4-FFF2-40B4-BE49-F238E27FC236}">
                <a16:creationId xmlns:a16="http://schemas.microsoft.com/office/drawing/2014/main" id="{E18D60C6-AF97-9760-24D4-7A9AA6254809}"/>
              </a:ext>
            </a:extLst>
          </p:cNvPr>
          <p:cNvSpPr>
            <a:spLocks noGrp="1"/>
          </p:cNvSpPr>
          <p:nvPr>
            <p:ph sz="half" idx="2"/>
          </p:nvPr>
        </p:nvSpPr>
        <p:spPr/>
        <p:txBody>
          <a:bodyPr>
            <a:normAutofit/>
          </a:bodyPr>
          <a:lstStyle/>
          <a:p>
            <a:pPr marL="0" indent="0">
              <a:buNone/>
            </a:pPr>
            <a:r>
              <a:rPr lang="en-GB" dirty="0"/>
              <a:t>Results: </a:t>
            </a:r>
          </a:p>
          <a:p>
            <a:pPr lvl="1"/>
            <a:r>
              <a:rPr lang="en-GB" dirty="0"/>
              <a:t>Pain reduction </a:t>
            </a:r>
          </a:p>
          <a:p>
            <a:pPr lvl="1"/>
            <a:r>
              <a:rPr lang="en-GB" dirty="0"/>
              <a:t>Functional improvements </a:t>
            </a:r>
          </a:p>
          <a:p>
            <a:pPr lvl="1"/>
            <a:r>
              <a:rPr lang="en-GB" dirty="0"/>
              <a:t>Reduced sick leave </a:t>
            </a:r>
          </a:p>
          <a:p>
            <a:pPr lvl="1"/>
            <a:r>
              <a:rPr lang="en-GB" dirty="0"/>
              <a:t>Improved outcomes </a:t>
            </a:r>
          </a:p>
        </p:txBody>
      </p:sp>
      <p:sp>
        <p:nvSpPr>
          <p:cNvPr id="4" name="Title 3">
            <a:extLst>
              <a:ext uri="{FF2B5EF4-FFF2-40B4-BE49-F238E27FC236}">
                <a16:creationId xmlns:a16="http://schemas.microsoft.com/office/drawing/2014/main" id="{8AF0D2CF-7AE6-7CC6-8EA7-00DB5821891F}"/>
              </a:ext>
            </a:extLst>
          </p:cNvPr>
          <p:cNvSpPr>
            <a:spLocks noGrp="1"/>
          </p:cNvSpPr>
          <p:nvPr>
            <p:ph type="title"/>
          </p:nvPr>
        </p:nvSpPr>
        <p:spPr/>
        <p:txBody>
          <a:bodyPr/>
          <a:lstStyle/>
          <a:p>
            <a:r>
              <a:rPr lang="en-GB" dirty="0"/>
              <a:t>Why it matters </a:t>
            </a:r>
          </a:p>
        </p:txBody>
      </p:sp>
    </p:spTree>
    <p:extLst>
      <p:ext uri="{BB962C8B-B14F-4D97-AF65-F5344CB8AC3E}">
        <p14:creationId xmlns:p14="http://schemas.microsoft.com/office/powerpoint/2010/main" val="4261009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5D3615-7A3D-C984-2B8F-428CF62D2491}"/>
              </a:ext>
            </a:extLst>
          </p:cNvPr>
          <p:cNvSpPr>
            <a:spLocks noGrp="1"/>
          </p:cNvSpPr>
          <p:nvPr>
            <p:ph sz="half" idx="1"/>
          </p:nvPr>
        </p:nvSpPr>
        <p:spPr/>
        <p:txBody>
          <a:bodyPr>
            <a:normAutofit/>
          </a:bodyPr>
          <a:lstStyle/>
          <a:p>
            <a:r>
              <a:rPr lang="en-GB" dirty="0"/>
              <a:t>Short consultations on smoking or physical activity increase:</a:t>
            </a:r>
          </a:p>
          <a:p>
            <a:pPr lvl="1"/>
            <a:r>
              <a:rPr lang="en-GB" dirty="0"/>
              <a:t>Quit attempts and successful quitting</a:t>
            </a:r>
          </a:p>
          <a:p>
            <a:pPr lvl="1"/>
            <a:r>
              <a:rPr lang="en-GB" dirty="0"/>
              <a:t>The proportion of adults reaching physical‑activity recommendations</a:t>
            </a:r>
          </a:p>
          <a:p>
            <a:pPr lvl="1"/>
            <a:endParaRPr lang="en-GB" dirty="0"/>
          </a:p>
        </p:txBody>
      </p:sp>
      <p:sp>
        <p:nvSpPr>
          <p:cNvPr id="3" name="Content Placeholder 2">
            <a:extLst>
              <a:ext uri="{FF2B5EF4-FFF2-40B4-BE49-F238E27FC236}">
                <a16:creationId xmlns:a16="http://schemas.microsoft.com/office/drawing/2014/main" id="{1CA4CD94-A816-3B3D-A4B8-6B092009D716}"/>
              </a:ext>
            </a:extLst>
          </p:cNvPr>
          <p:cNvSpPr>
            <a:spLocks noGrp="1"/>
          </p:cNvSpPr>
          <p:nvPr>
            <p:ph sz="half" idx="2"/>
          </p:nvPr>
        </p:nvSpPr>
        <p:spPr>
          <a:xfrm>
            <a:off x="6172202" y="2915123"/>
            <a:ext cx="5181600" cy="1861158"/>
          </a:xfrm>
        </p:spPr>
        <p:txBody>
          <a:bodyPr>
            <a:normAutofit/>
          </a:bodyPr>
          <a:lstStyle/>
          <a:p>
            <a:pPr marL="0" indent="0">
              <a:buNone/>
            </a:pPr>
            <a:r>
              <a:rPr lang="en-GB" dirty="0"/>
              <a:t>The key: advice is </a:t>
            </a:r>
            <a:r>
              <a:rPr lang="en-GB" b="1" dirty="0"/>
              <a:t>specific, structured and behaviour‑focused</a:t>
            </a:r>
            <a:r>
              <a:rPr lang="en-GB" dirty="0"/>
              <a:t>, not just “you should be healthier”</a:t>
            </a:r>
          </a:p>
          <a:p>
            <a:endParaRPr lang="en-GB" dirty="0"/>
          </a:p>
        </p:txBody>
      </p:sp>
      <p:sp>
        <p:nvSpPr>
          <p:cNvPr id="4" name="Title 3">
            <a:extLst>
              <a:ext uri="{FF2B5EF4-FFF2-40B4-BE49-F238E27FC236}">
                <a16:creationId xmlns:a16="http://schemas.microsoft.com/office/drawing/2014/main" id="{E453CE0F-149B-355D-156A-B7009A372AB4}"/>
              </a:ext>
            </a:extLst>
          </p:cNvPr>
          <p:cNvSpPr>
            <a:spLocks noGrp="1"/>
          </p:cNvSpPr>
          <p:nvPr>
            <p:ph type="title"/>
          </p:nvPr>
        </p:nvSpPr>
        <p:spPr>
          <a:xfrm>
            <a:off x="243191" y="89355"/>
            <a:ext cx="10515600" cy="1325563"/>
          </a:xfrm>
        </p:spPr>
        <p:txBody>
          <a:bodyPr/>
          <a:lstStyle/>
          <a:p>
            <a:r>
              <a:rPr lang="en-GB" dirty="0"/>
              <a:t>Brief advice CAN make a difference </a:t>
            </a:r>
          </a:p>
        </p:txBody>
      </p:sp>
    </p:spTree>
    <p:extLst>
      <p:ext uri="{BB962C8B-B14F-4D97-AF65-F5344CB8AC3E}">
        <p14:creationId xmlns:p14="http://schemas.microsoft.com/office/powerpoint/2010/main" val="3000405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24A102-66E4-B83F-2BBD-62F86EDEB4E0}"/>
              </a:ext>
            </a:extLst>
          </p:cNvPr>
          <p:cNvSpPr>
            <a:spLocks noGrp="1"/>
          </p:cNvSpPr>
          <p:nvPr>
            <p:ph sz="half" idx="1"/>
          </p:nvPr>
        </p:nvSpPr>
        <p:spPr/>
        <p:txBody>
          <a:bodyPr>
            <a:normAutofit lnSpcReduction="10000"/>
          </a:bodyPr>
          <a:lstStyle/>
          <a:p>
            <a:r>
              <a:rPr lang="en-GB" dirty="0"/>
              <a:t>Physios regularly see people with pain, long‑term conditions and pre/post surgery.</a:t>
            </a:r>
          </a:p>
          <a:p>
            <a:r>
              <a:rPr lang="en-GB" dirty="0"/>
              <a:t>A brief but well‑timed conversation about </a:t>
            </a:r>
            <a:r>
              <a:rPr lang="en-GB" b="1" dirty="0"/>
              <a:t>smoking, activity, weight or alcohol</a:t>
            </a:r>
            <a:r>
              <a:rPr lang="en-GB" dirty="0"/>
              <a:t> can:</a:t>
            </a:r>
          </a:p>
          <a:p>
            <a:pPr lvl="1"/>
            <a:r>
              <a:rPr lang="en-GB" dirty="0"/>
              <a:t>Trigger meaningful behaviour change</a:t>
            </a:r>
          </a:p>
          <a:p>
            <a:pPr lvl="1"/>
            <a:r>
              <a:rPr lang="en-GB" dirty="0"/>
              <a:t>Enhance the impact of the physical treatment you provide</a:t>
            </a:r>
          </a:p>
          <a:p>
            <a:endParaRPr lang="en-GB" dirty="0"/>
          </a:p>
        </p:txBody>
      </p:sp>
      <p:pic>
        <p:nvPicPr>
          <p:cNvPr id="6" name="Content Placeholder 5" descr="Directional sign with colorful arrows">
            <a:extLst>
              <a:ext uri="{FF2B5EF4-FFF2-40B4-BE49-F238E27FC236}">
                <a16:creationId xmlns:a16="http://schemas.microsoft.com/office/drawing/2014/main" id="{F1BF01B3-7CC5-5A76-D5C5-626E9450B9F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273931"/>
            <a:ext cx="5181600" cy="3454725"/>
          </a:xfrm>
        </p:spPr>
      </p:pic>
      <p:sp>
        <p:nvSpPr>
          <p:cNvPr id="4" name="Title 3">
            <a:extLst>
              <a:ext uri="{FF2B5EF4-FFF2-40B4-BE49-F238E27FC236}">
                <a16:creationId xmlns:a16="http://schemas.microsoft.com/office/drawing/2014/main" id="{F8D9EFD8-35C5-03CB-8947-374E992D492E}"/>
              </a:ext>
            </a:extLst>
          </p:cNvPr>
          <p:cNvSpPr>
            <a:spLocks noGrp="1"/>
          </p:cNvSpPr>
          <p:nvPr>
            <p:ph type="title"/>
          </p:nvPr>
        </p:nvSpPr>
        <p:spPr/>
        <p:txBody>
          <a:bodyPr/>
          <a:lstStyle/>
          <a:p>
            <a:r>
              <a:rPr lang="en-GB" dirty="0"/>
              <a:t>Why it matters </a:t>
            </a:r>
          </a:p>
        </p:txBody>
      </p:sp>
    </p:spTree>
    <p:extLst>
      <p:ext uri="{BB962C8B-B14F-4D97-AF65-F5344CB8AC3E}">
        <p14:creationId xmlns:p14="http://schemas.microsoft.com/office/powerpoint/2010/main" val="891381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B5674B-B943-C8C6-BE5F-00B9E9423FDD}"/>
              </a:ext>
            </a:extLst>
          </p:cNvPr>
          <p:cNvSpPr>
            <a:spLocks noGrp="1"/>
          </p:cNvSpPr>
          <p:nvPr>
            <p:ph sz="half" idx="1"/>
          </p:nvPr>
        </p:nvSpPr>
        <p:spPr/>
        <p:txBody>
          <a:bodyPr/>
          <a:lstStyle/>
          <a:p>
            <a:r>
              <a:rPr lang="en-GB" dirty="0"/>
              <a:t>In low back pain, a </a:t>
            </a:r>
            <a:r>
              <a:rPr lang="en-GB" b="1" dirty="0"/>
              <a:t>single physio session</a:t>
            </a:r>
            <a:r>
              <a:rPr lang="en-GB" dirty="0"/>
              <a:t> with assessment and clear advice to stay active plus a written leaflet can:</a:t>
            </a:r>
          </a:p>
          <a:p>
            <a:pPr lvl="1"/>
            <a:r>
              <a:rPr lang="en-GB" dirty="0"/>
              <a:t>Produce similar long‑term outcomes (pain and disability) to multiple routine physiotherapy sessions</a:t>
            </a:r>
          </a:p>
          <a:p>
            <a:endParaRPr lang="en-GB" dirty="0"/>
          </a:p>
        </p:txBody>
      </p:sp>
      <p:pic>
        <p:nvPicPr>
          <p:cNvPr id="6" name="Content Placeholder 5" descr="Chiropractor treating patient's leg">
            <a:extLst>
              <a:ext uri="{FF2B5EF4-FFF2-40B4-BE49-F238E27FC236}">
                <a16:creationId xmlns:a16="http://schemas.microsoft.com/office/drawing/2014/main" id="{5D0B24CF-1EF9-C7AB-2476-612589AAF36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273241"/>
            <a:ext cx="5181600" cy="3456106"/>
          </a:xfrm>
        </p:spPr>
      </p:pic>
      <p:sp>
        <p:nvSpPr>
          <p:cNvPr id="4" name="Title 3">
            <a:extLst>
              <a:ext uri="{FF2B5EF4-FFF2-40B4-BE49-F238E27FC236}">
                <a16:creationId xmlns:a16="http://schemas.microsoft.com/office/drawing/2014/main" id="{78676655-8E2E-0B31-039F-BE392BF9C5D1}"/>
              </a:ext>
            </a:extLst>
          </p:cNvPr>
          <p:cNvSpPr>
            <a:spLocks noGrp="1"/>
          </p:cNvSpPr>
          <p:nvPr>
            <p:ph type="title"/>
          </p:nvPr>
        </p:nvSpPr>
        <p:spPr/>
        <p:txBody>
          <a:bodyPr/>
          <a:lstStyle/>
          <a:p>
            <a:r>
              <a:rPr lang="en-GB" dirty="0"/>
              <a:t>Brief advice and LBP outcomes</a:t>
            </a:r>
          </a:p>
        </p:txBody>
      </p:sp>
    </p:spTree>
    <p:extLst>
      <p:ext uri="{BB962C8B-B14F-4D97-AF65-F5344CB8AC3E}">
        <p14:creationId xmlns:p14="http://schemas.microsoft.com/office/powerpoint/2010/main" val="181390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B64E21-3F57-BB40-F9B7-057E7B976C0C}"/>
              </a:ext>
            </a:extLst>
          </p:cNvPr>
          <p:cNvSpPr>
            <a:spLocks noGrp="1"/>
          </p:cNvSpPr>
          <p:nvPr>
            <p:ph sz="half" idx="1"/>
          </p:nvPr>
        </p:nvSpPr>
        <p:spPr/>
        <p:txBody>
          <a:bodyPr>
            <a:normAutofit fontScale="92500" lnSpcReduction="10000"/>
          </a:bodyPr>
          <a:lstStyle/>
          <a:p>
            <a:r>
              <a:rPr lang="en-GB" dirty="0"/>
              <a:t>When patients understand </a:t>
            </a:r>
            <a:r>
              <a:rPr lang="en-GB" b="1" dirty="0"/>
              <a:t>why</a:t>
            </a:r>
            <a:r>
              <a:rPr lang="en-GB" dirty="0"/>
              <a:t> and </a:t>
            </a:r>
            <a:r>
              <a:rPr lang="en-GB" b="1" dirty="0"/>
              <a:t>how</a:t>
            </a:r>
            <a:r>
              <a:rPr lang="en-GB" dirty="0"/>
              <a:t> to exercise, they are more likely to adhere.</a:t>
            </a:r>
          </a:p>
          <a:p>
            <a:r>
              <a:rPr lang="en-GB" dirty="0"/>
              <a:t>Better adherence is linked to:</a:t>
            </a:r>
          </a:p>
          <a:p>
            <a:pPr lvl="1"/>
            <a:r>
              <a:rPr lang="en-GB" dirty="0"/>
              <a:t>Reduced pain and stiffness</a:t>
            </a:r>
          </a:p>
          <a:p>
            <a:pPr lvl="1"/>
            <a:r>
              <a:rPr lang="en-GB" dirty="0"/>
              <a:t>Improved strength and daily function</a:t>
            </a:r>
          </a:p>
          <a:p>
            <a:r>
              <a:rPr lang="en-GB" dirty="0"/>
              <a:t>So your public‑health role (education, coaching, problem‑solving barriers) is central to clinical outcomes</a:t>
            </a:r>
          </a:p>
          <a:p>
            <a:endParaRPr lang="en-GB" dirty="0"/>
          </a:p>
        </p:txBody>
      </p:sp>
      <p:pic>
        <p:nvPicPr>
          <p:cNvPr id="6" name="Content Placeholder 5" descr="Group of people doing push ups">
            <a:extLst>
              <a:ext uri="{FF2B5EF4-FFF2-40B4-BE49-F238E27FC236}">
                <a16:creationId xmlns:a16="http://schemas.microsoft.com/office/drawing/2014/main" id="{C3BA77E6-E054-EB88-6732-0B44C4D8FF9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272375"/>
            <a:ext cx="5181600" cy="3457837"/>
          </a:xfrm>
        </p:spPr>
      </p:pic>
      <p:sp>
        <p:nvSpPr>
          <p:cNvPr id="4" name="Title 3">
            <a:extLst>
              <a:ext uri="{FF2B5EF4-FFF2-40B4-BE49-F238E27FC236}">
                <a16:creationId xmlns:a16="http://schemas.microsoft.com/office/drawing/2014/main" id="{F20CCF30-A867-0043-01D2-4F493A0A2A97}"/>
              </a:ext>
            </a:extLst>
          </p:cNvPr>
          <p:cNvSpPr>
            <a:spLocks noGrp="1"/>
          </p:cNvSpPr>
          <p:nvPr>
            <p:ph type="title"/>
          </p:nvPr>
        </p:nvSpPr>
        <p:spPr>
          <a:xfrm>
            <a:off x="-107004" y="137994"/>
            <a:ext cx="12072026" cy="1325563"/>
          </a:xfrm>
        </p:spPr>
        <p:txBody>
          <a:bodyPr/>
          <a:lstStyle/>
          <a:p>
            <a:r>
              <a:rPr lang="en-GB" b="1" dirty="0"/>
              <a:t>Adherence, self‑management and outcomes</a:t>
            </a:r>
            <a:endParaRPr lang="en-GB" dirty="0"/>
          </a:p>
        </p:txBody>
      </p:sp>
    </p:spTree>
    <p:extLst>
      <p:ext uri="{BB962C8B-B14F-4D97-AF65-F5344CB8AC3E}">
        <p14:creationId xmlns:p14="http://schemas.microsoft.com/office/powerpoint/2010/main" val="908525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DA27FC-1DD6-2DB0-3B2E-2DDFFC923CD3}"/>
              </a:ext>
            </a:extLst>
          </p:cNvPr>
          <p:cNvSpPr>
            <a:spLocks noGrp="1"/>
          </p:cNvSpPr>
          <p:nvPr>
            <p:ph sz="half" idx="1"/>
          </p:nvPr>
        </p:nvSpPr>
        <p:spPr/>
        <p:txBody>
          <a:bodyPr>
            <a:normAutofit lnSpcReduction="10000"/>
          </a:bodyPr>
          <a:lstStyle/>
          <a:p>
            <a:r>
              <a:rPr lang="en-GB" dirty="0"/>
              <a:t>Short pre‑operative programmes (often a few physio sessions) that include:</a:t>
            </a:r>
          </a:p>
          <a:p>
            <a:pPr lvl="1"/>
            <a:r>
              <a:rPr lang="en-GB" dirty="0"/>
              <a:t>Targeted exercise</a:t>
            </a:r>
          </a:p>
          <a:p>
            <a:pPr lvl="1"/>
            <a:r>
              <a:rPr lang="en-GB" dirty="0"/>
              <a:t>Education and goal‑setting</a:t>
            </a:r>
          </a:p>
          <a:p>
            <a:pPr lvl="1"/>
            <a:r>
              <a:rPr lang="en-GB" dirty="0"/>
              <a:t>Behaviour‑change support</a:t>
            </a:r>
          </a:p>
          <a:p>
            <a:r>
              <a:rPr lang="en-GB" dirty="0"/>
              <a:t>These programmes improve early post‑operative function after hip, knee and spine surgery compared with usual care</a:t>
            </a:r>
          </a:p>
          <a:p>
            <a:endParaRPr lang="en-GB" dirty="0"/>
          </a:p>
        </p:txBody>
      </p:sp>
      <p:pic>
        <p:nvPicPr>
          <p:cNvPr id="6" name="Content Placeholder 5" descr="Doctors wearing masks">
            <a:extLst>
              <a:ext uri="{FF2B5EF4-FFF2-40B4-BE49-F238E27FC236}">
                <a16:creationId xmlns:a16="http://schemas.microsoft.com/office/drawing/2014/main" id="{B820246C-50EB-E8DA-A082-A5EEDC65634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274602"/>
            <a:ext cx="5181600" cy="3453384"/>
          </a:xfrm>
        </p:spPr>
      </p:pic>
      <p:sp>
        <p:nvSpPr>
          <p:cNvPr id="4" name="Title 3">
            <a:extLst>
              <a:ext uri="{FF2B5EF4-FFF2-40B4-BE49-F238E27FC236}">
                <a16:creationId xmlns:a16="http://schemas.microsoft.com/office/drawing/2014/main" id="{09127997-F23D-CC4C-05E2-6234E26DC5BC}"/>
              </a:ext>
            </a:extLst>
          </p:cNvPr>
          <p:cNvSpPr>
            <a:spLocks noGrp="1"/>
          </p:cNvSpPr>
          <p:nvPr>
            <p:ph type="title"/>
          </p:nvPr>
        </p:nvSpPr>
        <p:spPr/>
        <p:txBody>
          <a:bodyPr/>
          <a:lstStyle/>
          <a:p>
            <a:r>
              <a:rPr lang="en-GB" b="1" dirty="0"/>
              <a:t>Prehabilitation: small dose, big impact</a:t>
            </a:r>
            <a:endParaRPr lang="en-GB" dirty="0"/>
          </a:p>
        </p:txBody>
      </p:sp>
    </p:spTree>
    <p:extLst>
      <p:ext uri="{BB962C8B-B14F-4D97-AF65-F5344CB8AC3E}">
        <p14:creationId xmlns:p14="http://schemas.microsoft.com/office/powerpoint/2010/main" val="2877675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0583C5-335E-9B0D-51B2-294258F5B247}"/>
              </a:ext>
            </a:extLst>
          </p:cNvPr>
          <p:cNvSpPr>
            <a:spLocks noGrp="1"/>
          </p:cNvSpPr>
          <p:nvPr>
            <p:ph sz="half" idx="1"/>
          </p:nvPr>
        </p:nvSpPr>
        <p:spPr/>
        <p:txBody>
          <a:bodyPr/>
          <a:lstStyle/>
          <a:p>
            <a:r>
              <a:rPr lang="en-GB" dirty="0"/>
              <a:t>Your role is not just exercises after surgery:</a:t>
            </a:r>
          </a:p>
          <a:p>
            <a:pPr lvl="1"/>
            <a:r>
              <a:rPr lang="en-GB" dirty="0"/>
              <a:t>Before surgery: </a:t>
            </a:r>
            <a:r>
              <a:rPr lang="en-GB" b="1" dirty="0"/>
              <a:t>screen</a:t>
            </a:r>
            <a:r>
              <a:rPr lang="en-GB" dirty="0"/>
              <a:t> for smoking/inactivity, give brief advice, signpost support</a:t>
            </a:r>
          </a:p>
          <a:p>
            <a:pPr lvl="1"/>
            <a:r>
              <a:rPr lang="en-GB" dirty="0"/>
              <a:t>After surgery: reinforce </a:t>
            </a:r>
            <a:r>
              <a:rPr lang="en-GB" b="1" dirty="0"/>
              <a:t>activity guidelines</a:t>
            </a:r>
            <a:r>
              <a:rPr lang="en-GB" dirty="0"/>
              <a:t>, encourage safe progression and adherence</a:t>
            </a:r>
          </a:p>
          <a:p>
            <a:r>
              <a:rPr lang="en-GB" dirty="0"/>
              <a:t>Each brief conversation is a chance to improve recovery and reduce complications</a:t>
            </a:r>
          </a:p>
          <a:p>
            <a:pPr marL="0" indent="0">
              <a:buNone/>
            </a:pPr>
            <a:endParaRPr lang="en-GB" dirty="0"/>
          </a:p>
        </p:txBody>
      </p:sp>
      <p:pic>
        <p:nvPicPr>
          <p:cNvPr id="6" name="Content Placeholder 5" descr="Physiotherapist treating man">
            <a:extLst>
              <a:ext uri="{FF2B5EF4-FFF2-40B4-BE49-F238E27FC236}">
                <a16:creationId xmlns:a16="http://schemas.microsoft.com/office/drawing/2014/main" id="{8B235C4B-9BCE-4055-6F2E-0F512EB6EA1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77085"/>
            <a:ext cx="5181600" cy="3848417"/>
          </a:xfrm>
        </p:spPr>
      </p:pic>
      <p:sp>
        <p:nvSpPr>
          <p:cNvPr id="4" name="Title 3">
            <a:extLst>
              <a:ext uri="{FF2B5EF4-FFF2-40B4-BE49-F238E27FC236}">
                <a16:creationId xmlns:a16="http://schemas.microsoft.com/office/drawing/2014/main" id="{5BBB0EB2-45E2-58BD-D8F5-B1BCA825225A}"/>
              </a:ext>
            </a:extLst>
          </p:cNvPr>
          <p:cNvSpPr>
            <a:spLocks noGrp="1"/>
          </p:cNvSpPr>
          <p:nvPr>
            <p:ph type="title"/>
          </p:nvPr>
        </p:nvSpPr>
        <p:spPr/>
        <p:txBody>
          <a:bodyPr/>
          <a:lstStyle/>
          <a:p>
            <a:r>
              <a:rPr lang="en-GB" b="1" dirty="0"/>
              <a:t>“Public health” in the surgical pathway</a:t>
            </a:r>
            <a:endParaRPr lang="en-GB" dirty="0"/>
          </a:p>
        </p:txBody>
      </p:sp>
    </p:spTree>
    <p:extLst>
      <p:ext uri="{BB962C8B-B14F-4D97-AF65-F5344CB8AC3E}">
        <p14:creationId xmlns:p14="http://schemas.microsoft.com/office/powerpoint/2010/main" val="548286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011434-411F-266D-A26D-21B8061F2757}"/>
              </a:ext>
            </a:extLst>
          </p:cNvPr>
          <p:cNvSpPr>
            <a:spLocks noGrp="1"/>
          </p:cNvSpPr>
          <p:nvPr>
            <p:ph sz="half" idx="1"/>
          </p:nvPr>
        </p:nvSpPr>
        <p:spPr/>
        <p:txBody>
          <a:bodyPr>
            <a:normAutofit fontScale="92500" lnSpcReduction="10000"/>
          </a:bodyPr>
          <a:lstStyle/>
          <a:p>
            <a:r>
              <a:rPr lang="en-GB" dirty="0"/>
              <a:t>Brief physical‑activity counselling during or after PR focuses on:</a:t>
            </a:r>
          </a:p>
          <a:p>
            <a:pPr lvl="1"/>
            <a:r>
              <a:rPr lang="en-GB" dirty="0"/>
              <a:t>Setting realistic walking/step goals</a:t>
            </a:r>
          </a:p>
          <a:p>
            <a:pPr lvl="1"/>
            <a:r>
              <a:rPr lang="en-GB" dirty="0"/>
              <a:t>Problem‑solving barriers (fatigue, fear, environment)</a:t>
            </a:r>
          </a:p>
          <a:p>
            <a:r>
              <a:rPr lang="en-GB" dirty="0"/>
              <a:t>Even when changes in daily step count are modest, counselling can help people </a:t>
            </a:r>
            <a:r>
              <a:rPr lang="en-GB" b="1" dirty="0"/>
              <a:t>sustain</a:t>
            </a:r>
            <a:r>
              <a:rPr lang="en-GB" dirty="0"/>
              <a:t> gains in confidence and exercise tolerance achieved in rehab</a:t>
            </a:r>
          </a:p>
          <a:p>
            <a:pPr marL="0" indent="0">
              <a:buNone/>
            </a:pPr>
            <a:endParaRPr lang="en-GB" dirty="0"/>
          </a:p>
        </p:txBody>
      </p:sp>
      <p:sp>
        <p:nvSpPr>
          <p:cNvPr id="3" name="Content Placeholder 2">
            <a:extLst>
              <a:ext uri="{FF2B5EF4-FFF2-40B4-BE49-F238E27FC236}">
                <a16:creationId xmlns:a16="http://schemas.microsoft.com/office/drawing/2014/main" id="{F90B6674-2578-4EDF-A7FB-1F3716077F5D}"/>
              </a:ext>
            </a:extLst>
          </p:cNvPr>
          <p:cNvSpPr>
            <a:spLocks noGrp="1"/>
          </p:cNvSpPr>
          <p:nvPr>
            <p:ph sz="half" idx="2"/>
          </p:nvPr>
        </p:nvSpPr>
        <p:spPr/>
        <p:txBody>
          <a:bodyPr>
            <a:normAutofit fontScale="92500" lnSpcReduction="10000"/>
          </a:bodyPr>
          <a:lstStyle/>
          <a:p>
            <a:r>
              <a:rPr lang="en-GB" dirty="0"/>
              <a:t>In COPD, patients who </a:t>
            </a:r>
            <a:r>
              <a:rPr lang="en-GB" b="1" dirty="0"/>
              <a:t>stop smoking</a:t>
            </a:r>
            <a:r>
              <a:rPr lang="en-GB" dirty="0"/>
              <a:t> and complete PR tend to:</a:t>
            </a:r>
          </a:p>
          <a:p>
            <a:pPr lvl="1"/>
            <a:r>
              <a:rPr lang="en-GB" dirty="0"/>
              <a:t>Walk further</a:t>
            </a:r>
          </a:p>
          <a:p>
            <a:pPr lvl="1"/>
            <a:r>
              <a:rPr lang="en-GB" dirty="0"/>
              <a:t>Have fewer exacerbations</a:t>
            </a:r>
          </a:p>
          <a:p>
            <a:pPr lvl="1"/>
            <a:r>
              <a:rPr lang="en-GB" dirty="0"/>
              <a:t>Report better quality of life</a:t>
            </a:r>
          </a:p>
          <a:p>
            <a:r>
              <a:rPr lang="en-GB" dirty="0"/>
              <a:t>Brief smoking‑cessation conversations during physio contacts (Ask–Advise–Offer support) increase the chance that patients will attempt and maintain quitting</a:t>
            </a:r>
          </a:p>
          <a:p>
            <a:pPr marL="0" indent="0">
              <a:buNone/>
            </a:pPr>
            <a:endParaRPr lang="en-GB" dirty="0"/>
          </a:p>
        </p:txBody>
      </p:sp>
      <p:sp>
        <p:nvSpPr>
          <p:cNvPr id="4" name="Title 3">
            <a:extLst>
              <a:ext uri="{FF2B5EF4-FFF2-40B4-BE49-F238E27FC236}">
                <a16:creationId xmlns:a16="http://schemas.microsoft.com/office/drawing/2014/main" id="{D653F9D1-5C66-3805-CAB8-BF56D1DAF686}"/>
              </a:ext>
            </a:extLst>
          </p:cNvPr>
          <p:cNvSpPr>
            <a:spLocks noGrp="1"/>
          </p:cNvSpPr>
          <p:nvPr>
            <p:ph type="title"/>
          </p:nvPr>
        </p:nvSpPr>
        <p:spPr>
          <a:xfrm>
            <a:off x="0" y="18255"/>
            <a:ext cx="12192000" cy="1325563"/>
          </a:xfrm>
        </p:spPr>
        <p:txBody>
          <a:bodyPr/>
          <a:lstStyle/>
          <a:p>
            <a:r>
              <a:rPr lang="en-GB" b="1" dirty="0"/>
              <a:t>Activity and smoking cessation counselling in COPD</a:t>
            </a:r>
            <a:endParaRPr lang="en-GB" dirty="0"/>
          </a:p>
        </p:txBody>
      </p:sp>
    </p:spTree>
    <p:extLst>
      <p:ext uri="{BB962C8B-B14F-4D97-AF65-F5344CB8AC3E}">
        <p14:creationId xmlns:p14="http://schemas.microsoft.com/office/powerpoint/2010/main" val="1673094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6F9C52-3CBC-AB1D-A5C9-34B3309E3BDD}"/>
              </a:ext>
            </a:extLst>
          </p:cNvPr>
          <p:cNvSpPr>
            <a:spLocks noGrp="1"/>
          </p:cNvSpPr>
          <p:nvPr>
            <p:ph sz="half" idx="1"/>
          </p:nvPr>
        </p:nvSpPr>
        <p:spPr/>
        <p:txBody>
          <a:bodyPr>
            <a:normAutofit fontScale="92500" lnSpcReduction="20000"/>
          </a:bodyPr>
          <a:lstStyle/>
          <a:p>
            <a:r>
              <a:rPr lang="en-GB" dirty="0"/>
              <a:t>Brief, structured </a:t>
            </a:r>
            <a:r>
              <a:rPr lang="en-GB" b="1" dirty="0"/>
              <a:t>smoking‑cessation advice</a:t>
            </a:r>
            <a:r>
              <a:rPr lang="en-GB" dirty="0"/>
              <a:t>:</a:t>
            </a:r>
          </a:p>
          <a:p>
            <a:pPr lvl="1"/>
            <a:r>
              <a:rPr lang="en-GB" dirty="0"/>
              <a:t>More quit attempts and higher quit rates → better surgical and COPD outcomes</a:t>
            </a:r>
          </a:p>
          <a:p>
            <a:r>
              <a:rPr lang="en-GB" dirty="0"/>
              <a:t>Brief, structured </a:t>
            </a:r>
            <a:r>
              <a:rPr lang="en-GB" b="1" dirty="0"/>
              <a:t>exercise advice aligned with guidelines</a:t>
            </a:r>
            <a:r>
              <a:rPr lang="en-GB" dirty="0"/>
              <a:t>:</a:t>
            </a:r>
          </a:p>
          <a:p>
            <a:pPr lvl="1"/>
            <a:r>
              <a:rPr lang="en-GB" dirty="0"/>
              <a:t>Better pain relief, function and recovery in MSK and post‑operative patients</a:t>
            </a:r>
          </a:p>
          <a:p>
            <a:r>
              <a:rPr lang="en-GB" dirty="0"/>
              <a:t>These conversations are short, repeatable and fit naturally into physio contacts</a:t>
            </a:r>
          </a:p>
          <a:p>
            <a:endParaRPr lang="en-GB" dirty="0"/>
          </a:p>
        </p:txBody>
      </p:sp>
      <p:pic>
        <p:nvPicPr>
          <p:cNvPr id="6" name="Content Placeholder 5" descr="Two people with speech bubbles">
            <a:extLst>
              <a:ext uri="{FF2B5EF4-FFF2-40B4-BE49-F238E27FC236}">
                <a16:creationId xmlns:a16="http://schemas.microsoft.com/office/drawing/2014/main" id="{1501F991-70D4-C0F4-63D3-C0324745DC5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35779" y="1825625"/>
            <a:ext cx="3254441" cy="4351338"/>
          </a:xfrm>
        </p:spPr>
      </p:pic>
      <p:sp>
        <p:nvSpPr>
          <p:cNvPr id="4" name="Title 3">
            <a:extLst>
              <a:ext uri="{FF2B5EF4-FFF2-40B4-BE49-F238E27FC236}">
                <a16:creationId xmlns:a16="http://schemas.microsoft.com/office/drawing/2014/main" id="{0B3E265D-5158-DDE6-7985-9F335403BD0C}"/>
              </a:ext>
            </a:extLst>
          </p:cNvPr>
          <p:cNvSpPr>
            <a:spLocks noGrp="1"/>
          </p:cNvSpPr>
          <p:nvPr>
            <p:ph type="title"/>
          </p:nvPr>
        </p:nvSpPr>
        <p:spPr/>
        <p:txBody>
          <a:bodyPr/>
          <a:lstStyle/>
          <a:p>
            <a:r>
              <a:rPr lang="en-GB" b="1" dirty="0"/>
              <a:t>Key messages for practice</a:t>
            </a:r>
            <a:endParaRPr lang="en-GB" dirty="0"/>
          </a:p>
        </p:txBody>
      </p:sp>
    </p:spTree>
    <p:extLst>
      <p:ext uri="{BB962C8B-B14F-4D97-AF65-F5344CB8AC3E}">
        <p14:creationId xmlns:p14="http://schemas.microsoft.com/office/powerpoint/2010/main" val="420388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0E8863-F040-EB21-DBB2-5EA6054CD3DC}"/>
              </a:ext>
            </a:extLst>
          </p:cNvPr>
          <p:cNvSpPr>
            <a:spLocks noGrp="1"/>
          </p:cNvSpPr>
          <p:nvPr>
            <p:ph type="title"/>
          </p:nvPr>
        </p:nvSpPr>
        <p:spPr/>
        <p:txBody>
          <a:bodyPr/>
          <a:lstStyle/>
          <a:p>
            <a:r>
              <a:rPr lang="en-GB" dirty="0"/>
              <a:t>Breaking down the HCPC jargon </a:t>
            </a:r>
          </a:p>
        </p:txBody>
      </p:sp>
      <p:sp>
        <p:nvSpPr>
          <p:cNvPr id="6" name="Content Placeholder 5">
            <a:extLst>
              <a:ext uri="{FF2B5EF4-FFF2-40B4-BE49-F238E27FC236}">
                <a16:creationId xmlns:a16="http://schemas.microsoft.com/office/drawing/2014/main" id="{6381191F-EEF1-DB4D-A403-5119FB5901DC}"/>
              </a:ext>
            </a:extLst>
          </p:cNvPr>
          <p:cNvSpPr>
            <a:spLocks noGrp="1"/>
          </p:cNvSpPr>
          <p:nvPr>
            <p:ph idx="1"/>
          </p:nvPr>
        </p:nvSpPr>
        <p:spPr/>
        <p:txBody>
          <a:bodyPr/>
          <a:lstStyle/>
          <a:p>
            <a:pPr marL="0" indent="0">
              <a:buNone/>
            </a:pPr>
            <a:r>
              <a:rPr lang="en-GB" dirty="0"/>
              <a:t>"15.1 understand the role of their profession in health promotion, health education and preventing ill health".</a:t>
            </a:r>
          </a:p>
          <a:p>
            <a:pPr marL="0" indent="0">
              <a:buNone/>
            </a:pPr>
            <a:endParaRPr lang="en-GB" dirty="0"/>
          </a:p>
          <a:p>
            <a:r>
              <a:rPr lang="en-GB" dirty="0"/>
              <a:t>Understand physio prevents problems occurring/worsening (exercise prevents falls, CVD risk).​</a:t>
            </a:r>
          </a:p>
          <a:p>
            <a:r>
              <a:rPr lang="en-GB" dirty="0"/>
              <a:t>Health education = helping people understand condition + behaviour links (activity, smoking impact rehab).​</a:t>
            </a:r>
          </a:p>
          <a:p>
            <a:r>
              <a:rPr lang="en-GB" dirty="0"/>
              <a:t>Routine opportunity-seeking = core competence</a:t>
            </a:r>
          </a:p>
          <a:p>
            <a:pPr marL="0" indent="0">
              <a:buNone/>
            </a:pPr>
            <a:endParaRPr lang="en-GB" dirty="0"/>
          </a:p>
        </p:txBody>
      </p:sp>
    </p:spTree>
    <p:extLst>
      <p:ext uri="{BB962C8B-B14F-4D97-AF65-F5344CB8AC3E}">
        <p14:creationId xmlns:p14="http://schemas.microsoft.com/office/powerpoint/2010/main" val="2223536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3467B-E211-5D0F-C948-18C5E6513BBA}"/>
              </a:ext>
            </a:extLst>
          </p:cNvPr>
          <p:cNvSpPr>
            <a:spLocks noGrp="1"/>
          </p:cNvSpPr>
          <p:nvPr>
            <p:ph type="title"/>
          </p:nvPr>
        </p:nvSpPr>
        <p:spPr/>
        <p:txBody>
          <a:bodyPr/>
          <a:lstStyle/>
          <a:p>
            <a:r>
              <a:rPr lang="en-GB" dirty="0"/>
              <a:t>Breaking down the HCPC jargon </a:t>
            </a:r>
          </a:p>
        </p:txBody>
      </p:sp>
      <p:sp>
        <p:nvSpPr>
          <p:cNvPr id="3" name="Content Placeholder 2">
            <a:extLst>
              <a:ext uri="{FF2B5EF4-FFF2-40B4-BE49-F238E27FC236}">
                <a16:creationId xmlns:a16="http://schemas.microsoft.com/office/drawing/2014/main" id="{B67D8F78-B3D9-01CE-E28A-85DCE3BE8273}"/>
              </a:ext>
            </a:extLst>
          </p:cNvPr>
          <p:cNvSpPr>
            <a:spLocks noGrp="1"/>
          </p:cNvSpPr>
          <p:nvPr>
            <p:ph idx="1"/>
          </p:nvPr>
        </p:nvSpPr>
        <p:spPr/>
        <p:txBody>
          <a:bodyPr/>
          <a:lstStyle/>
          <a:p>
            <a:pPr marL="0" indent="0">
              <a:buNone/>
            </a:pPr>
            <a:r>
              <a:rPr lang="en-GB" dirty="0"/>
              <a:t>"15.2 understand how </a:t>
            </a:r>
            <a:r>
              <a:rPr lang="en-GB" b="1" dirty="0"/>
              <a:t>social, economic and environmental factors</a:t>
            </a:r>
            <a:r>
              <a:rPr lang="en-GB" dirty="0"/>
              <a:t> (wider determinants of health) can influence health/wellbeing".​</a:t>
            </a:r>
          </a:p>
          <a:p>
            <a:r>
              <a:rPr lang="en-GB" b="1" dirty="0"/>
              <a:t>Social</a:t>
            </a:r>
            <a:r>
              <a:rPr lang="en-GB" dirty="0"/>
              <a:t>: caring responsibilities, isolation, cultural pain beliefs.​</a:t>
            </a:r>
          </a:p>
          <a:p>
            <a:r>
              <a:rPr lang="en-GB" b="1" dirty="0"/>
              <a:t>Economic</a:t>
            </a:r>
            <a:r>
              <a:rPr lang="en-GB" dirty="0"/>
              <a:t>: low income, travel costs, insecure work.​</a:t>
            </a:r>
          </a:p>
          <a:p>
            <a:r>
              <a:rPr lang="en-GB" b="1" dirty="0"/>
              <a:t>Environmental</a:t>
            </a:r>
            <a:r>
              <a:rPr lang="en-GB" dirty="0"/>
              <a:t>: unsafe neighbourhoods, poor housing, no green space.​</a:t>
            </a:r>
          </a:p>
          <a:p>
            <a:r>
              <a:rPr lang="en-GB" dirty="0"/>
              <a:t>Same exercise programme won't work for everyone – adapt to real context.</a:t>
            </a:r>
          </a:p>
          <a:p>
            <a:endParaRPr lang="en-GB" dirty="0"/>
          </a:p>
        </p:txBody>
      </p:sp>
    </p:spTree>
    <p:extLst>
      <p:ext uri="{BB962C8B-B14F-4D97-AF65-F5344CB8AC3E}">
        <p14:creationId xmlns:p14="http://schemas.microsoft.com/office/powerpoint/2010/main" val="3765800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105E-2874-1C17-90B6-2677A9D254F7}"/>
              </a:ext>
            </a:extLst>
          </p:cNvPr>
          <p:cNvSpPr>
            <a:spLocks noGrp="1"/>
          </p:cNvSpPr>
          <p:nvPr>
            <p:ph type="title"/>
          </p:nvPr>
        </p:nvSpPr>
        <p:spPr/>
        <p:txBody>
          <a:bodyPr/>
          <a:lstStyle/>
          <a:p>
            <a:r>
              <a:rPr lang="en-GB" dirty="0"/>
              <a:t>Breaking down the HCPC Jargon </a:t>
            </a:r>
          </a:p>
        </p:txBody>
      </p:sp>
      <p:sp>
        <p:nvSpPr>
          <p:cNvPr id="3" name="Content Placeholder 2">
            <a:extLst>
              <a:ext uri="{FF2B5EF4-FFF2-40B4-BE49-F238E27FC236}">
                <a16:creationId xmlns:a16="http://schemas.microsoft.com/office/drawing/2014/main" id="{AF38CEFB-C4FE-7565-FEDD-2874C27B41B3}"/>
              </a:ext>
            </a:extLst>
          </p:cNvPr>
          <p:cNvSpPr>
            <a:spLocks noGrp="1"/>
          </p:cNvSpPr>
          <p:nvPr>
            <p:ph idx="1"/>
          </p:nvPr>
        </p:nvSpPr>
        <p:spPr/>
        <p:txBody>
          <a:bodyPr/>
          <a:lstStyle/>
          <a:p>
            <a:pPr marL="0" indent="0">
              <a:buNone/>
            </a:pPr>
            <a:r>
              <a:rPr lang="en-GB" dirty="0"/>
              <a:t>"15.3 </a:t>
            </a:r>
            <a:r>
              <a:rPr lang="en-GB" b="1" dirty="0"/>
              <a:t>empower and enable individuals</a:t>
            </a:r>
            <a:r>
              <a:rPr lang="en-GB" dirty="0"/>
              <a:t> (service users/colleagues) to play part in managing own health".​</a:t>
            </a:r>
          </a:p>
          <a:p>
            <a:pPr marL="0" indent="0">
              <a:buNone/>
            </a:pPr>
            <a:endParaRPr lang="en-GB" dirty="0"/>
          </a:p>
          <a:p>
            <a:r>
              <a:rPr lang="en-GB" dirty="0"/>
              <a:t>Collaborative goal-setting vs imposing agenda.​</a:t>
            </a:r>
          </a:p>
          <a:p>
            <a:r>
              <a:rPr lang="en-GB" dirty="0"/>
              <a:t>Self-management strategies (pacing, graded activity, flare-up plans).​</a:t>
            </a:r>
          </a:p>
          <a:p>
            <a:r>
              <a:rPr lang="en-GB" dirty="0"/>
              <a:t>Community resource use (walking groups, online programmes) for sustained change.​</a:t>
            </a:r>
          </a:p>
          <a:p>
            <a:r>
              <a:rPr lang="en-GB" dirty="0"/>
              <a:t>Small individual changes × many people = population impact</a:t>
            </a:r>
          </a:p>
          <a:p>
            <a:endParaRPr lang="en-GB" dirty="0"/>
          </a:p>
        </p:txBody>
      </p:sp>
    </p:spTree>
    <p:extLst>
      <p:ext uri="{BB962C8B-B14F-4D97-AF65-F5344CB8AC3E}">
        <p14:creationId xmlns:p14="http://schemas.microsoft.com/office/powerpoint/2010/main" val="1370253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41EBFF2-EC8A-688E-D28C-0393E42744DA}"/>
              </a:ext>
            </a:extLst>
          </p:cNvPr>
          <p:cNvSpPr>
            <a:spLocks noGrp="1"/>
          </p:cNvSpPr>
          <p:nvPr>
            <p:ph sz="half" idx="1"/>
          </p:nvPr>
        </p:nvSpPr>
        <p:spPr/>
        <p:txBody>
          <a:bodyPr/>
          <a:lstStyle/>
          <a:p>
            <a:r>
              <a:rPr lang="en-GB" dirty="0"/>
              <a:t>Pick </a:t>
            </a:r>
            <a:r>
              <a:rPr lang="en-GB" b="1" dirty="0"/>
              <a:t>one example</a:t>
            </a:r>
            <a:r>
              <a:rPr lang="en-GB" dirty="0"/>
              <a:t> where a physiotherapist was promoting health or preventing ill health.</a:t>
            </a:r>
          </a:p>
          <a:p>
            <a:r>
              <a:rPr lang="en-GB" dirty="0"/>
              <a:t>In pairs, decide which </a:t>
            </a:r>
            <a:r>
              <a:rPr lang="en-GB" b="1" dirty="0"/>
              <a:t>HCPC Standards of Proficiency</a:t>
            </a:r>
            <a:r>
              <a:rPr lang="en-GB" dirty="0"/>
              <a:t> this example demonstrates</a:t>
            </a:r>
          </a:p>
          <a:p>
            <a:pPr marL="0" indent="0">
              <a:buNone/>
            </a:pPr>
            <a:endParaRPr lang="en-GB" dirty="0"/>
          </a:p>
        </p:txBody>
      </p:sp>
      <p:sp>
        <p:nvSpPr>
          <p:cNvPr id="5" name="Content Placeholder 4">
            <a:extLst>
              <a:ext uri="{FF2B5EF4-FFF2-40B4-BE49-F238E27FC236}">
                <a16:creationId xmlns:a16="http://schemas.microsoft.com/office/drawing/2014/main" id="{7B1FBC3D-1427-4D02-8B73-135B555A8ACC}"/>
              </a:ext>
            </a:extLst>
          </p:cNvPr>
          <p:cNvSpPr>
            <a:spLocks noGrp="1"/>
          </p:cNvSpPr>
          <p:nvPr>
            <p:ph sz="half" idx="2"/>
          </p:nvPr>
        </p:nvSpPr>
        <p:spPr/>
        <p:txBody>
          <a:bodyPr/>
          <a:lstStyle/>
          <a:p>
            <a:pPr marL="0" indent="0">
              <a:buNone/>
            </a:pPr>
            <a:r>
              <a:rPr lang="en-GB" dirty="0"/>
              <a:t>Example from my SDL: ___________________________</a:t>
            </a:r>
          </a:p>
          <a:p>
            <a:r>
              <a:rPr lang="en-GB" dirty="0"/>
              <a:t>HCPC standards it links to:</a:t>
            </a:r>
          </a:p>
          <a:p>
            <a:pPr lvl="1"/>
            <a:r>
              <a:rPr lang="en-GB" dirty="0"/>
              <a:t>15.1 Health promotion / preventing ill health</a:t>
            </a:r>
          </a:p>
          <a:p>
            <a:pPr lvl="1"/>
            <a:r>
              <a:rPr lang="en-GB" dirty="0"/>
              <a:t>15.2 Wider determinants of health</a:t>
            </a:r>
          </a:p>
          <a:p>
            <a:pPr lvl="1"/>
            <a:r>
              <a:rPr lang="en-GB" dirty="0"/>
              <a:t>15.3 Empowering and enabling individuals</a:t>
            </a:r>
          </a:p>
          <a:p>
            <a:pPr lvl="1"/>
            <a:r>
              <a:rPr lang="en-GB" dirty="0"/>
              <a:t>Other (e.g. communication, partnership with service users)</a:t>
            </a:r>
          </a:p>
          <a:p>
            <a:endParaRPr lang="en-GB" dirty="0"/>
          </a:p>
        </p:txBody>
      </p:sp>
      <p:sp>
        <p:nvSpPr>
          <p:cNvPr id="2" name="Title 1">
            <a:extLst>
              <a:ext uri="{FF2B5EF4-FFF2-40B4-BE49-F238E27FC236}">
                <a16:creationId xmlns:a16="http://schemas.microsoft.com/office/drawing/2014/main" id="{D664C1E6-97D1-4B4D-B3E8-8504867CD6D4}"/>
              </a:ext>
            </a:extLst>
          </p:cNvPr>
          <p:cNvSpPr>
            <a:spLocks noGrp="1"/>
          </p:cNvSpPr>
          <p:nvPr>
            <p:ph type="title"/>
          </p:nvPr>
        </p:nvSpPr>
        <p:spPr/>
        <p:txBody>
          <a:bodyPr/>
          <a:lstStyle/>
          <a:p>
            <a:r>
              <a:rPr lang="en-GB" dirty="0"/>
              <a:t>Linking in your SDL work </a:t>
            </a:r>
          </a:p>
        </p:txBody>
      </p:sp>
    </p:spTree>
    <p:extLst>
      <p:ext uri="{BB962C8B-B14F-4D97-AF65-F5344CB8AC3E}">
        <p14:creationId xmlns:p14="http://schemas.microsoft.com/office/powerpoint/2010/main" val="1881013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A1C727-D7CA-83E7-A7A9-6AC56F6719A6}"/>
              </a:ext>
            </a:extLst>
          </p:cNvPr>
          <p:cNvSpPr>
            <a:spLocks noGrp="1"/>
          </p:cNvSpPr>
          <p:nvPr>
            <p:ph sz="half" idx="1"/>
          </p:nvPr>
        </p:nvSpPr>
        <p:spPr>
          <a:xfrm>
            <a:off x="838200" y="1825625"/>
            <a:ext cx="5181600" cy="4351338"/>
          </a:xfrm>
        </p:spPr>
        <p:txBody>
          <a:bodyPr>
            <a:normAutofit/>
          </a:bodyPr>
          <a:lstStyle/>
          <a:p>
            <a:r>
              <a:rPr lang="en-GB" sz="2600"/>
              <a:t>MECC is about using routine health and care interactions to support people to make healthier choices.</a:t>
            </a:r>
          </a:p>
          <a:p>
            <a:r>
              <a:rPr lang="en-GB" sz="2600"/>
              <a:t>It focuses on brief, opportunistic conversations about topics like smoking, physical activity, diet, alcohol and mental wellbeing.</a:t>
            </a:r>
          </a:p>
          <a:p>
            <a:r>
              <a:rPr lang="en-GB" sz="2600"/>
              <a:t>Fits naturally into physio assessments and reviews</a:t>
            </a:r>
          </a:p>
          <a:p>
            <a:endParaRPr lang="en-GB" sz="2600"/>
          </a:p>
        </p:txBody>
      </p:sp>
      <p:pic>
        <p:nvPicPr>
          <p:cNvPr id="1026" name="Picture 2" descr="Making every contact count ...">
            <a:extLst>
              <a:ext uri="{FF2B5EF4-FFF2-40B4-BE49-F238E27FC236}">
                <a16:creationId xmlns:a16="http://schemas.microsoft.com/office/drawing/2014/main" id="{3DBBDD57-50D8-19C4-7739-C171626FE00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172200" y="2386605"/>
            <a:ext cx="5181600" cy="3229377"/>
          </a:xfrm>
          <a:prstGeom prst="rect">
            <a:avLst/>
          </a:prstGeom>
          <a:solidFill>
            <a:srgbClr val="FFFFFF"/>
          </a:solidFill>
        </p:spPr>
      </p:pic>
      <p:sp>
        <p:nvSpPr>
          <p:cNvPr id="4" name="Title 3">
            <a:extLst>
              <a:ext uri="{FF2B5EF4-FFF2-40B4-BE49-F238E27FC236}">
                <a16:creationId xmlns:a16="http://schemas.microsoft.com/office/drawing/2014/main" id="{03870015-A2EF-6D7B-B949-A50560CF0D31}"/>
              </a:ext>
            </a:extLst>
          </p:cNvPr>
          <p:cNvSpPr>
            <a:spLocks noGrp="1"/>
          </p:cNvSpPr>
          <p:nvPr>
            <p:ph type="title"/>
          </p:nvPr>
        </p:nvSpPr>
        <p:spPr>
          <a:xfrm>
            <a:off x="0" y="410368"/>
            <a:ext cx="10515600" cy="1325563"/>
          </a:xfrm>
        </p:spPr>
        <p:txBody>
          <a:bodyPr anchor="ctr">
            <a:normAutofit/>
          </a:bodyPr>
          <a:lstStyle/>
          <a:p>
            <a:r>
              <a:rPr lang="en-GB" dirty="0"/>
              <a:t>Making every contact count (MECC) </a:t>
            </a:r>
          </a:p>
        </p:txBody>
      </p:sp>
    </p:spTree>
    <p:extLst>
      <p:ext uri="{BB962C8B-B14F-4D97-AF65-F5344CB8AC3E}">
        <p14:creationId xmlns:p14="http://schemas.microsoft.com/office/powerpoint/2010/main" val="862640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FD4385-E72A-DBE3-D53F-A9E8C59B9162}"/>
              </a:ext>
            </a:extLst>
          </p:cNvPr>
          <p:cNvSpPr>
            <a:spLocks noGrp="1"/>
          </p:cNvSpPr>
          <p:nvPr>
            <p:ph sz="half" idx="1"/>
          </p:nvPr>
        </p:nvSpPr>
        <p:spPr>
          <a:xfrm>
            <a:off x="838200" y="1825625"/>
            <a:ext cx="5181600" cy="4351338"/>
          </a:xfrm>
        </p:spPr>
        <p:txBody>
          <a:bodyPr>
            <a:normAutofit/>
          </a:bodyPr>
          <a:lstStyle/>
          <a:p>
            <a:r>
              <a:rPr lang="en-GB" dirty="0"/>
              <a:t>Person‑centred and non‑judgemental.</a:t>
            </a:r>
          </a:p>
          <a:p>
            <a:r>
              <a:rPr lang="en-GB" dirty="0"/>
              <a:t>Brief (often 30 seconds to a few minutes).</a:t>
            </a:r>
          </a:p>
          <a:p>
            <a:r>
              <a:rPr lang="en-GB" dirty="0"/>
              <a:t>Uses open questions to explore readiness and priorities.</a:t>
            </a:r>
          </a:p>
          <a:p>
            <a:r>
              <a:rPr lang="en-GB" dirty="0"/>
              <a:t>Offers simple, realistic next steps and/or signposting.</a:t>
            </a:r>
          </a:p>
        </p:txBody>
      </p:sp>
      <p:pic>
        <p:nvPicPr>
          <p:cNvPr id="3074" name="Picture 2" descr="MECC Moments | Making Every Contact Count">
            <a:extLst>
              <a:ext uri="{FF2B5EF4-FFF2-40B4-BE49-F238E27FC236}">
                <a16:creationId xmlns:a16="http://schemas.microsoft.com/office/drawing/2014/main" id="{25172BA9-9675-95F8-DF00-06DB29C0BAA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7423151" y="1825625"/>
            <a:ext cx="2679698" cy="4351338"/>
          </a:xfrm>
          <a:prstGeom prst="rect">
            <a:avLst/>
          </a:prstGeom>
          <a:solidFill>
            <a:srgbClr val="FFFFFF"/>
          </a:solidFill>
        </p:spPr>
      </p:pic>
      <p:sp>
        <p:nvSpPr>
          <p:cNvPr id="4" name="Title 3">
            <a:extLst>
              <a:ext uri="{FF2B5EF4-FFF2-40B4-BE49-F238E27FC236}">
                <a16:creationId xmlns:a16="http://schemas.microsoft.com/office/drawing/2014/main" id="{8482E7C4-B202-8A29-2612-57664D484453}"/>
              </a:ext>
            </a:extLst>
          </p:cNvPr>
          <p:cNvSpPr>
            <a:spLocks noGrp="1"/>
          </p:cNvSpPr>
          <p:nvPr>
            <p:ph type="title"/>
          </p:nvPr>
        </p:nvSpPr>
        <p:spPr>
          <a:xfrm>
            <a:off x="0" y="410368"/>
            <a:ext cx="10515600" cy="1325563"/>
          </a:xfrm>
        </p:spPr>
        <p:txBody>
          <a:bodyPr anchor="ctr">
            <a:normAutofit/>
          </a:bodyPr>
          <a:lstStyle/>
          <a:p>
            <a:r>
              <a:rPr lang="en-GB" dirty="0"/>
              <a:t>Key features of MECC</a:t>
            </a:r>
          </a:p>
        </p:txBody>
      </p:sp>
    </p:spTree>
    <p:extLst>
      <p:ext uri="{BB962C8B-B14F-4D97-AF65-F5344CB8AC3E}">
        <p14:creationId xmlns:p14="http://schemas.microsoft.com/office/powerpoint/2010/main" val="3253704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E7BB9E-84AF-361B-4387-B355CA720FD0}"/>
              </a:ext>
            </a:extLst>
          </p:cNvPr>
          <p:cNvSpPr>
            <a:spLocks noGrp="1"/>
          </p:cNvSpPr>
          <p:nvPr>
            <p:ph sz="half" idx="1"/>
          </p:nvPr>
        </p:nvSpPr>
        <p:spPr>
          <a:xfrm>
            <a:off x="838200" y="1825625"/>
            <a:ext cx="5181600" cy="4351338"/>
          </a:xfrm>
        </p:spPr>
        <p:txBody>
          <a:bodyPr>
            <a:normAutofit/>
          </a:bodyPr>
          <a:lstStyle/>
          <a:p>
            <a:r>
              <a:rPr lang="en-GB" sz="2600"/>
              <a:t>Demonstrates HCPC standards on health promotion, wider determinants and empowering individuals.</a:t>
            </a:r>
          </a:p>
          <a:p>
            <a:r>
              <a:rPr lang="en-GB" sz="2600"/>
              <a:t>Aligns with CSP’s emphasis on health‑promoting practice and behaviour change skills.</a:t>
            </a:r>
          </a:p>
          <a:p>
            <a:r>
              <a:rPr lang="en-GB" sz="2600"/>
              <a:t>A practical way to show, on placement, that you understand your public‑health role.</a:t>
            </a:r>
          </a:p>
          <a:p>
            <a:endParaRPr lang="en-GB" sz="2600"/>
          </a:p>
        </p:txBody>
      </p:sp>
      <p:pic>
        <p:nvPicPr>
          <p:cNvPr id="2050" name="Picture 2" descr="MECC Moments | Making Every Contact Count">
            <a:extLst>
              <a:ext uri="{FF2B5EF4-FFF2-40B4-BE49-F238E27FC236}">
                <a16:creationId xmlns:a16="http://schemas.microsoft.com/office/drawing/2014/main" id="{6F12D91C-D79F-20AC-D3C3-C0759C14E61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6172200" y="2705894"/>
            <a:ext cx="5181600" cy="2590800"/>
          </a:xfrm>
          <a:prstGeom prst="rect">
            <a:avLst/>
          </a:prstGeom>
          <a:solidFill>
            <a:srgbClr val="FFFFFF"/>
          </a:solidFill>
        </p:spPr>
      </p:pic>
      <p:sp>
        <p:nvSpPr>
          <p:cNvPr id="4" name="Title 3">
            <a:extLst>
              <a:ext uri="{FF2B5EF4-FFF2-40B4-BE49-F238E27FC236}">
                <a16:creationId xmlns:a16="http://schemas.microsoft.com/office/drawing/2014/main" id="{091A50F9-BCE1-3B09-BC71-AB9AC64D0814}"/>
              </a:ext>
            </a:extLst>
          </p:cNvPr>
          <p:cNvSpPr>
            <a:spLocks noGrp="1"/>
          </p:cNvSpPr>
          <p:nvPr>
            <p:ph type="title"/>
          </p:nvPr>
        </p:nvSpPr>
        <p:spPr>
          <a:xfrm>
            <a:off x="0" y="410368"/>
            <a:ext cx="10515600" cy="1325563"/>
          </a:xfrm>
        </p:spPr>
        <p:txBody>
          <a:bodyPr anchor="ctr">
            <a:normAutofit/>
          </a:bodyPr>
          <a:lstStyle/>
          <a:p>
            <a:r>
              <a:rPr lang="en-GB" dirty="0"/>
              <a:t>MECC and HCPC/CSP </a:t>
            </a:r>
          </a:p>
        </p:txBody>
      </p:sp>
    </p:spTree>
    <p:extLst>
      <p:ext uri="{BB962C8B-B14F-4D97-AF65-F5344CB8AC3E}">
        <p14:creationId xmlns:p14="http://schemas.microsoft.com/office/powerpoint/2010/main" val="14126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011446-0668-6FBF-C26D-CCCE68739B7C}"/>
              </a:ext>
            </a:extLst>
          </p:cNvPr>
          <p:cNvSpPr>
            <a:spLocks noGrp="1"/>
          </p:cNvSpPr>
          <p:nvPr>
            <p:ph type="title"/>
          </p:nvPr>
        </p:nvSpPr>
        <p:spPr/>
        <p:txBody>
          <a:bodyPr/>
          <a:lstStyle/>
          <a:p>
            <a:r>
              <a:rPr lang="en-GB" dirty="0"/>
              <a:t>MECC role play </a:t>
            </a:r>
          </a:p>
        </p:txBody>
      </p:sp>
      <p:sp>
        <p:nvSpPr>
          <p:cNvPr id="5" name="Content Placeholder 4">
            <a:extLst>
              <a:ext uri="{FF2B5EF4-FFF2-40B4-BE49-F238E27FC236}">
                <a16:creationId xmlns:a16="http://schemas.microsoft.com/office/drawing/2014/main" id="{F053692C-6B2C-6284-46CA-36BB67BAEE45}"/>
              </a:ext>
            </a:extLst>
          </p:cNvPr>
          <p:cNvSpPr>
            <a:spLocks noGrp="1"/>
          </p:cNvSpPr>
          <p:nvPr>
            <p:ph idx="1"/>
          </p:nvPr>
        </p:nvSpPr>
        <p:spPr>
          <a:xfrm>
            <a:off x="2107095" y="2174616"/>
            <a:ext cx="7977809" cy="677914"/>
          </a:xfrm>
        </p:spPr>
        <p:txBody>
          <a:bodyPr>
            <a:normAutofit fontScale="92500"/>
          </a:bodyPr>
          <a:lstStyle/>
          <a:p>
            <a:pPr marL="0" indent="0">
              <a:buNone/>
            </a:pPr>
            <a:r>
              <a:rPr lang="en-GB" b="1" dirty="0"/>
              <a:t>“Designing a brief health‑promoting conversation”</a:t>
            </a:r>
          </a:p>
        </p:txBody>
      </p:sp>
      <p:sp>
        <p:nvSpPr>
          <p:cNvPr id="6" name="TextBox 5">
            <a:extLst>
              <a:ext uri="{FF2B5EF4-FFF2-40B4-BE49-F238E27FC236}">
                <a16:creationId xmlns:a16="http://schemas.microsoft.com/office/drawing/2014/main" id="{71AC1CF2-C697-DE44-1FBE-5A8BF55B720D}"/>
              </a:ext>
            </a:extLst>
          </p:cNvPr>
          <p:cNvSpPr txBox="1"/>
          <p:nvPr/>
        </p:nvSpPr>
        <p:spPr>
          <a:xfrm>
            <a:off x="616226" y="3538330"/>
            <a:ext cx="10783957" cy="1477328"/>
          </a:xfrm>
          <a:prstGeom prst="rect">
            <a:avLst/>
          </a:prstGeom>
          <a:noFill/>
        </p:spPr>
        <p:txBody>
          <a:bodyPr wrap="square" rtlCol="0">
            <a:spAutoFit/>
          </a:bodyPr>
          <a:lstStyle/>
          <a:p>
            <a:pPr marL="285750" indent="-285750">
              <a:buFont typeface="Arial" panose="020B0604020202020204" pitchFamily="34" charset="0"/>
              <a:buChar char="•"/>
            </a:pPr>
            <a:r>
              <a:rPr lang="en-GB" dirty="0"/>
              <a:t>Work in groups of 3–4.</a:t>
            </a:r>
          </a:p>
          <a:p>
            <a:pPr marL="285750" indent="-285750">
              <a:buFont typeface="Arial" panose="020B0604020202020204" pitchFamily="34" charset="0"/>
              <a:buChar char="•"/>
            </a:pPr>
            <a:r>
              <a:rPr lang="en-GB" dirty="0"/>
              <a:t>Each group receives a short case scenario.</a:t>
            </a:r>
          </a:p>
          <a:p>
            <a:pPr marL="285750" indent="-285750">
              <a:buFont typeface="Arial" panose="020B0604020202020204" pitchFamily="34" charset="0"/>
              <a:buChar char="•"/>
            </a:pPr>
            <a:r>
              <a:rPr lang="en-GB" dirty="0"/>
              <a:t>Your task: choose one behaviour‑change opportunity and plan a 3–4 line MECC‑style conversation.</a:t>
            </a:r>
          </a:p>
          <a:p>
            <a:pPr marL="285750" indent="-285750">
              <a:buFont typeface="Arial" panose="020B0604020202020204" pitchFamily="34" charset="0"/>
              <a:buChar char="•"/>
            </a:pPr>
            <a:r>
              <a:rPr lang="en-GB" dirty="0"/>
              <a:t>You will then link your conversation back to specific HCPC standards.</a:t>
            </a:r>
          </a:p>
          <a:p>
            <a:endParaRPr lang="en-GB" dirty="0"/>
          </a:p>
        </p:txBody>
      </p:sp>
    </p:spTree>
    <p:extLst>
      <p:ext uri="{BB962C8B-B14F-4D97-AF65-F5344CB8AC3E}">
        <p14:creationId xmlns:p14="http://schemas.microsoft.com/office/powerpoint/2010/main" val="916063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A53E8-D781-3F8C-459A-9827BA824A59}"/>
              </a:ext>
            </a:extLst>
          </p:cNvPr>
          <p:cNvSpPr>
            <a:spLocks noGrp="1"/>
          </p:cNvSpPr>
          <p:nvPr>
            <p:ph type="title"/>
          </p:nvPr>
        </p:nvSpPr>
        <p:spPr/>
        <p:txBody>
          <a:bodyPr/>
          <a:lstStyle/>
          <a:p>
            <a:r>
              <a:rPr lang="en-GB" dirty="0"/>
              <a:t>Task breakdown </a:t>
            </a:r>
          </a:p>
        </p:txBody>
      </p:sp>
      <p:sp>
        <p:nvSpPr>
          <p:cNvPr id="3" name="Content Placeholder 2">
            <a:extLst>
              <a:ext uri="{FF2B5EF4-FFF2-40B4-BE49-F238E27FC236}">
                <a16:creationId xmlns:a16="http://schemas.microsoft.com/office/drawing/2014/main" id="{61D78469-7400-B705-CA82-0E82B27F0FD2}"/>
              </a:ext>
            </a:extLst>
          </p:cNvPr>
          <p:cNvSpPr>
            <a:spLocks noGrp="1"/>
          </p:cNvSpPr>
          <p:nvPr>
            <p:ph idx="1"/>
          </p:nvPr>
        </p:nvSpPr>
        <p:spPr/>
        <p:txBody>
          <a:bodyPr/>
          <a:lstStyle/>
          <a:p>
            <a:pPr marL="0" indent="0">
              <a:buNone/>
            </a:pPr>
            <a:r>
              <a:rPr lang="en-GB" dirty="0"/>
              <a:t>Step 1: Identify one main public‑health focus (e.g. smoking, physical activity, falls risk, weight management).</a:t>
            </a:r>
          </a:p>
          <a:p>
            <a:pPr marL="0" indent="0">
              <a:buNone/>
            </a:pPr>
            <a:r>
              <a:rPr lang="en-GB" dirty="0"/>
              <a:t>Step 2: Draft a 3–4 line conversation that:</a:t>
            </a:r>
          </a:p>
          <a:p>
            <a:pPr lvl="1"/>
            <a:r>
              <a:rPr lang="en-GB" dirty="0"/>
              <a:t>Asks permission to talk about it.</a:t>
            </a:r>
          </a:p>
          <a:p>
            <a:pPr lvl="1"/>
            <a:r>
              <a:rPr lang="en-GB" dirty="0"/>
              <a:t>Uses at least one open question.</a:t>
            </a:r>
          </a:p>
          <a:p>
            <a:pPr lvl="1"/>
            <a:r>
              <a:rPr lang="en-GB" dirty="0"/>
              <a:t>Offers one realistic next step or signpost (e.g. local service, leaflet, website).</a:t>
            </a:r>
          </a:p>
          <a:p>
            <a:pPr marL="0" indent="0">
              <a:buNone/>
            </a:pPr>
            <a:r>
              <a:rPr lang="en-GB" dirty="0"/>
              <a:t>Step 3: Under your script, list the HCPC standards you think you are meeting (e.g. 15.1, 15.2, 15.3; communication; partnership with service users).</a:t>
            </a:r>
          </a:p>
          <a:p>
            <a:endParaRPr lang="en-GB" dirty="0"/>
          </a:p>
        </p:txBody>
      </p:sp>
    </p:spTree>
    <p:extLst>
      <p:ext uri="{BB962C8B-B14F-4D97-AF65-F5344CB8AC3E}">
        <p14:creationId xmlns:p14="http://schemas.microsoft.com/office/powerpoint/2010/main" val="1146847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B5D1-59E8-D146-A30D-09D2B4B6A6C4}"/>
              </a:ext>
            </a:extLst>
          </p:cNvPr>
          <p:cNvSpPr>
            <a:spLocks noGrp="1"/>
          </p:cNvSpPr>
          <p:nvPr>
            <p:ph type="title"/>
          </p:nvPr>
        </p:nvSpPr>
        <p:spPr/>
        <p:txBody>
          <a:bodyPr/>
          <a:lstStyle/>
          <a:p>
            <a:r>
              <a:rPr lang="en-GB" dirty="0"/>
              <a:t>Case A </a:t>
            </a:r>
          </a:p>
        </p:txBody>
      </p:sp>
      <p:sp>
        <p:nvSpPr>
          <p:cNvPr id="3" name="Content Placeholder 2">
            <a:extLst>
              <a:ext uri="{FF2B5EF4-FFF2-40B4-BE49-F238E27FC236}">
                <a16:creationId xmlns:a16="http://schemas.microsoft.com/office/drawing/2014/main" id="{77A9DC48-FE75-636E-8FCC-DCD395C6EE6B}"/>
              </a:ext>
            </a:extLst>
          </p:cNvPr>
          <p:cNvSpPr>
            <a:spLocks noGrp="1"/>
          </p:cNvSpPr>
          <p:nvPr>
            <p:ph idx="1"/>
          </p:nvPr>
        </p:nvSpPr>
        <p:spPr/>
        <p:txBody>
          <a:bodyPr/>
          <a:lstStyle/>
          <a:p>
            <a:r>
              <a:rPr lang="en-GB" dirty="0"/>
              <a:t>“45‑year‑old warehouse worker with recurrent low back pain.</a:t>
            </a:r>
          </a:p>
          <a:p>
            <a:pPr lvl="1"/>
            <a:r>
              <a:rPr lang="en-GB" dirty="0"/>
              <a:t>Smokes 10–15 cigarettes/day.</a:t>
            </a:r>
          </a:p>
          <a:p>
            <a:pPr lvl="1"/>
            <a:r>
              <a:rPr lang="en-GB" dirty="0"/>
              <a:t>Reports very little physical activity outside work.</a:t>
            </a:r>
          </a:p>
          <a:p>
            <a:pPr lvl="1"/>
            <a:r>
              <a:rPr lang="en-GB" dirty="0"/>
              <a:t>BMI in the obese range.</a:t>
            </a:r>
          </a:p>
          <a:p>
            <a:pPr lvl="1"/>
            <a:r>
              <a:rPr lang="en-GB" dirty="0"/>
              <a:t>Worried about taking time off for exercises.”</a:t>
            </a:r>
          </a:p>
          <a:p>
            <a:r>
              <a:rPr lang="en-GB" dirty="0"/>
              <a:t>Prompt: “Which behaviour would you focus on in this contact? Why?”</a:t>
            </a:r>
          </a:p>
          <a:p>
            <a:pPr marL="0" indent="0">
              <a:buNone/>
            </a:pPr>
            <a:endParaRPr lang="en-GB" dirty="0"/>
          </a:p>
        </p:txBody>
      </p:sp>
    </p:spTree>
    <p:extLst>
      <p:ext uri="{BB962C8B-B14F-4D97-AF65-F5344CB8AC3E}">
        <p14:creationId xmlns:p14="http://schemas.microsoft.com/office/powerpoint/2010/main" val="1325794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910-36D7-F3A8-5499-2969708F2425}"/>
              </a:ext>
            </a:extLst>
          </p:cNvPr>
          <p:cNvSpPr>
            <a:spLocks noGrp="1"/>
          </p:cNvSpPr>
          <p:nvPr>
            <p:ph type="title"/>
          </p:nvPr>
        </p:nvSpPr>
        <p:spPr/>
        <p:txBody>
          <a:bodyPr/>
          <a:lstStyle/>
          <a:p>
            <a:r>
              <a:rPr lang="en-GB" dirty="0"/>
              <a:t>Case B </a:t>
            </a:r>
          </a:p>
        </p:txBody>
      </p:sp>
      <p:sp>
        <p:nvSpPr>
          <p:cNvPr id="3" name="Content Placeholder 2">
            <a:extLst>
              <a:ext uri="{FF2B5EF4-FFF2-40B4-BE49-F238E27FC236}">
                <a16:creationId xmlns:a16="http://schemas.microsoft.com/office/drawing/2014/main" id="{043A1F52-236B-3570-854D-938D17A18D9E}"/>
              </a:ext>
            </a:extLst>
          </p:cNvPr>
          <p:cNvSpPr>
            <a:spLocks noGrp="1"/>
          </p:cNvSpPr>
          <p:nvPr>
            <p:ph idx="1"/>
          </p:nvPr>
        </p:nvSpPr>
        <p:spPr/>
        <p:txBody>
          <a:bodyPr/>
          <a:lstStyle/>
          <a:p>
            <a:r>
              <a:rPr lang="en-GB" dirty="0"/>
              <a:t>“60‑year‑old with COPD referred to pulmonary rehab.</a:t>
            </a:r>
          </a:p>
          <a:p>
            <a:pPr lvl="1"/>
            <a:r>
              <a:rPr lang="en-GB" dirty="0"/>
              <a:t>Breathless walking to the shops.</a:t>
            </a:r>
          </a:p>
          <a:p>
            <a:pPr lvl="1"/>
            <a:r>
              <a:rPr lang="en-GB" dirty="0"/>
              <a:t>Anxious about exercise worsening breathlessness.</a:t>
            </a:r>
          </a:p>
          <a:p>
            <a:pPr lvl="1"/>
            <a:r>
              <a:rPr lang="en-GB" dirty="0"/>
              <a:t>Unsure about attending group sessions.”</a:t>
            </a:r>
          </a:p>
          <a:p>
            <a:r>
              <a:rPr lang="en-GB" dirty="0"/>
              <a:t>Prompt: “How could you use a brief conversation to promote confidence and physical activity?”</a:t>
            </a:r>
          </a:p>
          <a:p>
            <a:pPr marL="0" indent="0">
              <a:buNone/>
            </a:pPr>
            <a:endParaRPr lang="en-GB" dirty="0"/>
          </a:p>
        </p:txBody>
      </p:sp>
    </p:spTree>
    <p:extLst>
      <p:ext uri="{BB962C8B-B14F-4D97-AF65-F5344CB8AC3E}">
        <p14:creationId xmlns:p14="http://schemas.microsoft.com/office/powerpoint/2010/main" val="2368774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F8FFF-74CB-4EC8-6E5F-105DB94A2DD8}"/>
              </a:ext>
            </a:extLst>
          </p:cNvPr>
          <p:cNvSpPr>
            <a:spLocks noGrp="1"/>
          </p:cNvSpPr>
          <p:nvPr>
            <p:ph type="title"/>
          </p:nvPr>
        </p:nvSpPr>
        <p:spPr/>
        <p:txBody>
          <a:bodyPr/>
          <a:lstStyle/>
          <a:p>
            <a:r>
              <a:rPr lang="en-GB" dirty="0"/>
              <a:t>Case C</a:t>
            </a:r>
          </a:p>
        </p:txBody>
      </p:sp>
      <p:sp>
        <p:nvSpPr>
          <p:cNvPr id="3" name="Content Placeholder 2">
            <a:extLst>
              <a:ext uri="{FF2B5EF4-FFF2-40B4-BE49-F238E27FC236}">
                <a16:creationId xmlns:a16="http://schemas.microsoft.com/office/drawing/2014/main" id="{204F6742-7673-5ADB-3794-A45D1059A612}"/>
              </a:ext>
            </a:extLst>
          </p:cNvPr>
          <p:cNvSpPr>
            <a:spLocks noGrp="1"/>
          </p:cNvSpPr>
          <p:nvPr>
            <p:ph idx="1"/>
          </p:nvPr>
        </p:nvSpPr>
        <p:spPr/>
        <p:txBody>
          <a:bodyPr/>
          <a:lstStyle/>
          <a:p>
            <a:r>
              <a:rPr lang="en-GB" dirty="0"/>
              <a:t>“55‑year‑old post‑stroke, now at home.</a:t>
            </a:r>
          </a:p>
          <a:p>
            <a:pPr lvl="1"/>
            <a:r>
              <a:rPr lang="en-GB" dirty="0"/>
              <a:t>Spends most of the day sitting.</a:t>
            </a:r>
          </a:p>
          <a:p>
            <a:pPr lvl="1"/>
            <a:r>
              <a:rPr lang="en-GB" dirty="0"/>
              <a:t>Says they ‘don’t know where to start’ with activity.</a:t>
            </a:r>
          </a:p>
          <a:p>
            <a:pPr lvl="1"/>
            <a:r>
              <a:rPr lang="en-GB" dirty="0"/>
              <a:t>Feels embarrassed about going out alone.”</a:t>
            </a:r>
          </a:p>
          <a:p>
            <a:r>
              <a:rPr lang="en-GB" dirty="0"/>
              <a:t>Prompt: “What small, realistic next step could you help them identify?”</a:t>
            </a:r>
          </a:p>
          <a:p>
            <a:pPr marL="0" indent="0">
              <a:buNone/>
            </a:pPr>
            <a:endParaRPr lang="en-GB" dirty="0"/>
          </a:p>
        </p:txBody>
      </p:sp>
    </p:spTree>
    <p:extLst>
      <p:ext uri="{BB962C8B-B14F-4D97-AF65-F5344CB8AC3E}">
        <p14:creationId xmlns:p14="http://schemas.microsoft.com/office/powerpoint/2010/main" val="842965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2FB35-A46B-6BF4-9BA1-715C4C1DDB2A}"/>
              </a:ext>
            </a:extLst>
          </p:cNvPr>
          <p:cNvSpPr>
            <a:spLocks noGrp="1"/>
          </p:cNvSpPr>
          <p:nvPr>
            <p:ph type="title"/>
          </p:nvPr>
        </p:nvSpPr>
        <p:spPr/>
        <p:txBody>
          <a:bodyPr/>
          <a:lstStyle/>
          <a:p>
            <a:r>
              <a:rPr lang="en-GB" dirty="0"/>
              <a:t>Reflection </a:t>
            </a:r>
          </a:p>
        </p:txBody>
      </p:sp>
      <p:sp>
        <p:nvSpPr>
          <p:cNvPr id="3" name="Content Placeholder 2">
            <a:extLst>
              <a:ext uri="{FF2B5EF4-FFF2-40B4-BE49-F238E27FC236}">
                <a16:creationId xmlns:a16="http://schemas.microsoft.com/office/drawing/2014/main" id="{9230C8DC-61C4-8148-6581-68B40D0C7A7F}"/>
              </a:ext>
            </a:extLst>
          </p:cNvPr>
          <p:cNvSpPr>
            <a:spLocks noGrp="1"/>
          </p:cNvSpPr>
          <p:nvPr>
            <p:ph idx="1"/>
          </p:nvPr>
        </p:nvSpPr>
        <p:spPr>
          <a:xfrm>
            <a:off x="530086" y="2445026"/>
            <a:ext cx="11307417" cy="3140765"/>
          </a:xfrm>
        </p:spPr>
        <p:txBody>
          <a:bodyPr>
            <a:normAutofit fontScale="92500" lnSpcReduction="10000"/>
          </a:bodyPr>
          <a:lstStyle/>
          <a:p>
            <a:r>
              <a:rPr lang="en-GB" dirty="0"/>
              <a:t>“What worked well in that conversation?”</a:t>
            </a:r>
          </a:p>
          <a:p>
            <a:pPr marL="0" indent="0">
              <a:buNone/>
            </a:pPr>
            <a:endParaRPr lang="en-GB" dirty="0"/>
          </a:p>
          <a:p>
            <a:r>
              <a:rPr lang="en-GB" dirty="0"/>
              <a:t>“How might the person feel hearing that?”</a:t>
            </a:r>
          </a:p>
          <a:p>
            <a:endParaRPr lang="en-GB" dirty="0"/>
          </a:p>
          <a:p>
            <a:r>
              <a:rPr lang="en-GB" dirty="0"/>
              <a:t>“What might get in the way of doing this on placement?”</a:t>
            </a:r>
          </a:p>
          <a:p>
            <a:endParaRPr lang="en-GB" dirty="0"/>
          </a:p>
          <a:p>
            <a:r>
              <a:rPr lang="en-GB" dirty="0"/>
              <a:t>“What could help?”</a:t>
            </a:r>
          </a:p>
          <a:p>
            <a:endParaRPr lang="en-GB" dirty="0"/>
          </a:p>
        </p:txBody>
      </p:sp>
    </p:spTree>
    <p:extLst>
      <p:ext uri="{BB962C8B-B14F-4D97-AF65-F5344CB8AC3E}">
        <p14:creationId xmlns:p14="http://schemas.microsoft.com/office/powerpoint/2010/main" val="3989119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A8F04-7337-F24D-4A30-EBCABC465A04}"/>
              </a:ext>
            </a:extLst>
          </p:cNvPr>
          <p:cNvSpPr>
            <a:spLocks noGrp="1"/>
          </p:cNvSpPr>
          <p:nvPr>
            <p:ph sz="half" idx="1"/>
          </p:nvPr>
        </p:nvSpPr>
        <p:spPr>
          <a:xfrm>
            <a:off x="838200" y="1825625"/>
            <a:ext cx="5181600" cy="4351338"/>
          </a:xfrm>
        </p:spPr>
        <p:txBody>
          <a:bodyPr>
            <a:normAutofit/>
          </a:bodyPr>
          <a:lstStyle/>
          <a:p>
            <a:r>
              <a:rPr lang="en-GB" sz="2600" dirty="0"/>
              <a:t>Physiotherapists are part of the public health workforce, not just “treatment providers”.</a:t>
            </a:r>
          </a:p>
          <a:p>
            <a:r>
              <a:rPr lang="en-GB" sz="2600" dirty="0"/>
              <a:t>HCPC and CSP expect you to promote health, understand wider determinants and empower patients.</a:t>
            </a:r>
          </a:p>
          <a:p>
            <a:r>
              <a:rPr lang="en-GB" sz="2600" dirty="0"/>
              <a:t>MECC‑style brief conversations are a practical way to live out these expectations in day‑to‑day practice.</a:t>
            </a:r>
          </a:p>
          <a:p>
            <a:endParaRPr lang="en-GB" sz="2600" dirty="0"/>
          </a:p>
        </p:txBody>
      </p:sp>
      <p:pic>
        <p:nvPicPr>
          <p:cNvPr id="5" name="Content Placeholder 4" descr="Two blank speech balloons">
            <a:extLst>
              <a:ext uri="{FF2B5EF4-FFF2-40B4-BE49-F238E27FC236}">
                <a16:creationId xmlns:a16="http://schemas.microsoft.com/office/drawing/2014/main" id="{AC23D656-93C1-A73E-6AA3-3D51422CE2D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382044"/>
            <a:ext cx="5181600" cy="3238500"/>
          </a:xfrm>
        </p:spPr>
      </p:pic>
      <p:sp>
        <p:nvSpPr>
          <p:cNvPr id="2" name="Title 1">
            <a:extLst>
              <a:ext uri="{FF2B5EF4-FFF2-40B4-BE49-F238E27FC236}">
                <a16:creationId xmlns:a16="http://schemas.microsoft.com/office/drawing/2014/main" id="{16CA628D-47B1-2581-7136-421699241D2A}"/>
              </a:ext>
            </a:extLst>
          </p:cNvPr>
          <p:cNvSpPr>
            <a:spLocks noGrp="1"/>
          </p:cNvSpPr>
          <p:nvPr>
            <p:ph type="title"/>
          </p:nvPr>
        </p:nvSpPr>
        <p:spPr>
          <a:xfrm>
            <a:off x="0" y="410368"/>
            <a:ext cx="10515600" cy="1325563"/>
          </a:xfrm>
        </p:spPr>
        <p:txBody>
          <a:bodyPr anchor="ctr">
            <a:normAutofit/>
          </a:bodyPr>
          <a:lstStyle/>
          <a:p>
            <a:r>
              <a:rPr lang="en-GB" dirty="0"/>
              <a:t>Key take-home messages </a:t>
            </a:r>
          </a:p>
        </p:txBody>
      </p:sp>
    </p:spTree>
    <p:extLst>
      <p:ext uri="{BB962C8B-B14F-4D97-AF65-F5344CB8AC3E}">
        <p14:creationId xmlns:p14="http://schemas.microsoft.com/office/powerpoint/2010/main" val="1540402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FC6169-64A2-B0B9-204E-5304C0A4008A}"/>
              </a:ext>
            </a:extLst>
          </p:cNvPr>
          <p:cNvSpPr>
            <a:spLocks noGrp="1"/>
          </p:cNvSpPr>
          <p:nvPr>
            <p:ph sz="half" idx="1"/>
          </p:nvPr>
        </p:nvSpPr>
        <p:spPr/>
        <p:txBody>
          <a:bodyPr/>
          <a:lstStyle/>
          <a:p>
            <a:r>
              <a:rPr lang="en-GB" dirty="0"/>
              <a:t>Asking about activity levels and collaboratively setting one extra‑walk goal.</a:t>
            </a:r>
          </a:p>
          <a:p>
            <a:r>
              <a:rPr lang="en-GB" dirty="0"/>
              <a:t>Briefly raising smoking or alcohol if relevant to rehab and offering signposting.</a:t>
            </a:r>
          </a:p>
          <a:p>
            <a:r>
              <a:rPr lang="en-GB" dirty="0"/>
              <a:t>Adapting advice to the person’s social and environmental context.</a:t>
            </a:r>
          </a:p>
          <a:p>
            <a:endParaRPr lang="en-GB" dirty="0"/>
          </a:p>
        </p:txBody>
      </p:sp>
      <p:pic>
        <p:nvPicPr>
          <p:cNvPr id="6" name="Content Placeholder 5" descr="Woman sitting in hospital bed">
            <a:extLst>
              <a:ext uri="{FF2B5EF4-FFF2-40B4-BE49-F238E27FC236}">
                <a16:creationId xmlns:a16="http://schemas.microsoft.com/office/drawing/2014/main" id="{E5690845-3711-04FC-B2D8-3893E3844ED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274094"/>
            <a:ext cx="5181600" cy="3454400"/>
          </a:xfrm>
        </p:spPr>
      </p:pic>
      <p:sp>
        <p:nvSpPr>
          <p:cNvPr id="4" name="Title 3">
            <a:extLst>
              <a:ext uri="{FF2B5EF4-FFF2-40B4-BE49-F238E27FC236}">
                <a16:creationId xmlns:a16="http://schemas.microsoft.com/office/drawing/2014/main" id="{0275B7EE-7B81-E63D-1EC4-7C22A20A9CE4}"/>
              </a:ext>
            </a:extLst>
          </p:cNvPr>
          <p:cNvSpPr>
            <a:spLocks noGrp="1"/>
          </p:cNvSpPr>
          <p:nvPr>
            <p:ph type="title"/>
          </p:nvPr>
        </p:nvSpPr>
        <p:spPr/>
        <p:txBody>
          <a:bodyPr/>
          <a:lstStyle/>
          <a:p>
            <a:r>
              <a:rPr lang="en-GB" dirty="0"/>
              <a:t>From classroom to placement </a:t>
            </a:r>
          </a:p>
        </p:txBody>
      </p:sp>
    </p:spTree>
    <p:extLst>
      <p:ext uri="{BB962C8B-B14F-4D97-AF65-F5344CB8AC3E}">
        <p14:creationId xmlns:p14="http://schemas.microsoft.com/office/powerpoint/2010/main" val="1446241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EB5840-05D3-6A67-39B5-7B3082D7AC2D}"/>
              </a:ext>
            </a:extLst>
          </p:cNvPr>
          <p:cNvSpPr>
            <a:spLocks noGrp="1"/>
          </p:cNvSpPr>
          <p:nvPr>
            <p:ph type="title"/>
          </p:nvPr>
        </p:nvSpPr>
        <p:spPr/>
        <p:txBody>
          <a:bodyPr/>
          <a:lstStyle/>
          <a:p>
            <a:r>
              <a:rPr lang="en-GB" dirty="0"/>
              <a:t>Final reflection </a:t>
            </a:r>
          </a:p>
        </p:txBody>
      </p:sp>
      <p:sp>
        <p:nvSpPr>
          <p:cNvPr id="2" name="Content Placeholder 1">
            <a:extLst>
              <a:ext uri="{FF2B5EF4-FFF2-40B4-BE49-F238E27FC236}">
                <a16:creationId xmlns:a16="http://schemas.microsoft.com/office/drawing/2014/main" id="{A0778F38-CDC7-CABE-0F6B-9DB1E5816874}"/>
              </a:ext>
            </a:extLst>
          </p:cNvPr>
          <p:cNvSpPr>
            <a:spLocks noGrp="1"/>
          </p:cNvSpPr>
          <p:nvPr>
            <p:ph idx="1"/>
          </p:nvPr>
        </p:nvSpPr>
        <p:spPr>
          <a:xfrm>
            <a:off x="838200" y="3429000"/>
            <a:ext cx="10515600" cy="4351338"/>
          </a:xfrm>
        </p:spPr>
        <p:txBody>
          <a:bodyPr/>
          <a:lstStyle/>
          <a:p>
            <a:pPr marL="0" indent="0">
              <a:buNone/>
            </a:pPr>
            <a:r>
              <a:rPr lang="en-GB" dirty="0"/>
              <a:t>“After today’s session and your SDL, what is ONE concrete action you could take on your next placement to ‘make every contact count’ as a physiotherapist?”</a:t>
            </a:r>
          </a:p>
          <a:p>
            <a:endParaRPr lang="en-GB" dirty="0"/>
          </a:p>
        </p:txBody>
      </p:sp>
    </p:spTree>
    <p:extLst>
      <p:ext uri="{BB962C8B-B14F-4D97-AF65-F5344CB8AC3E}">
        <p14:creationId xmlns:p14="http://schemas.microsoft.com/office/powerpoint/2010/main" val="1702397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7F18-A063-EACA-93F3-3FE058E7CCBA}"/>
              </a:ext>
            </a:extLst>
          </p:cNvPr>
          <p:cNvSpPr>
            <a:spLocks noGrp="1"/>
          </p:cNvSpPr>
          <p:nvPr>
            <p:ph type="title"/>
          </p:nvPr>
        </p:nvSpPr>
        <p:spPr/>
        <p:txBody>
          <a:bodyPr/>
          <a:lstStyle/>
          <a:p>
            <a:r>
              <a:rPr lang="en-GB" dirty="0"/>
              <a:t>References </a:t>
            </a:r>
          </a:p>
        </p:txBody>
      </p:sp>
      <p:sp>
        <p:nvSpPr>
          <p:cNvPr id="4" name="Rectangle 1">
            <a:extLst>
              <a:ext uri="{FF2B5EF4-FFF2-40B4-BE49-F238E27FC236}">
                <a16:creationId xmlns:a16="http://schemas.microsoft.com/office/drawing/2014/main" id="{0C49347A-0910-5F5D-21B8-5391AE0FE27C}"/>
              </a:ext>
            </a:extLst>
          </p:cNvPr>
          <p:cNvSpPr>
            <a:spLocks noGrp="1" noChangeArrowheads="1"/>
          </p:cNvSpPr>
          <p:nvPr>
            <p:ph idx="1"/>
          </p:nvPr>
        </p:nvSpPr>
        <p:spPr bwMode="auto">
          <a:xfrm>
            <a:off x="303944" y="2231959"/>
            <a:ext cx="11533560"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HCPC and CSP Standards</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Health and Care Professions Council (HCPC). (2023). </a:t>
            </a:r>
            <a:r>
              <a:rPr kumimoji="0" lang="en-US" altLang="en-US" sz="1050" b="0" i="1" u="none" strike="noStrike" cap="none" normalizeH="0" baseline="0" dirty="0">
                <a:ln>
                  <a:noFill/>
                </a:ln>
                <a:solidFill>
                  <a:schemeClr val="tx1"/>
                </a:solidFill>
                <a:effectLst/>
                <a:latin typeface="Arial" panose="020B0604020202020204" pitchFamily="34" charset="0"/>
              </a:rPr>
              <a:t>Standards of proficiency: Physiotherapists</a:t>
            </a:r>
            <a:r>
              <a:rPr kumimoji="0" lang="en-US" altLang="en-US" sz="1050" b="0" i="0" u="none" strike="noStrike" cap="none" normalizeH="0" baseline="0" dirty="0">
                <a:ln>
                  <a:noFill/>
                </a:ln>
                <a:solidFill>
                  <a:schemeClr val="tx1"/>
                </a:solidFill>
                <a:effectLst/>
                <a:latin typeface="Arial" panose="020B0604020202020204" pitchFamily="34" charset="0"/>
              </a:rPr>
              <a:t>. Available at: </a:t>
            </a:r>
            <a:r>
              <a:rPr kumimoji="0" lang="en-US" altLang="en-US" sz="1050" b="0" i="0" u="none" strike="noStrike" cap="none" normalizeH="0" baseline="0" dirty="0">
                <a:ln>
                  <a:noFill/>
                </a:ln>
                <a:solidFill>
                  <a:schemeClr val="tx1"/>
                </a:solidFill>
                <a:effectLst/>
                <a:latin typeface="Arial" panose="020B0604020202020204" pitchFamily="34" charset="0"/>
                <a:hlinkClick r:id="rId3"/>
              </a:rPr>
              <a:t>https://www.hcpc-uk.org/standards/standards-of-proficiency/physiotherapists/</a:t>
            </a:r>
            <a:r>
              <a:rPr kumimoji="0" lang="en-US" altLang="en-US" sz="1050" b="0" i="0" u="none" strike="noStrike" cap="none" normalizeH="0" baseline="0" dirty="0">
                <a:ln>
                  <a:noFill/>
                </a:ln>
                <a:solidFill>
                  <a:schemeClr val="tx1"/>
                </a:solidFill>
                <a:effectLst/>
                <a:latin typeface="Arial" panose="020B0604020202020204" pitchFamily="34" charset="0"/>
              </a:rPr>
              <a:t> [Accessed 18 March 2026].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Chartered Society of Physiotherapy (CSP). </a:t>
            </a:r>
            <a:r>
              <a:rPr kumimoji="0" lang="en-US" altLang="en-US" sz="1050" b="0" i="1" u="none" strike="noStrike" cap="none" normalizeH="0" baseline="0" dirty="0">
                <a:ln>
                  <a:noFill/>
                </a:ln>
                <a:solidFill>
                  <a:schemeClr val="tx1"/>
                </a:solidFill>
                <a:effectLst/>
                <a:latin typeface="Arial" panose="020B0604020202020204" pitchFamily="34" charset="0"/>
              </a:rPr>
              <a:t>Physios say… Physiotherapy: promoting and improving public health and wellbeing</a:t>
            </a:r>
            <a:r>
              <a:rPr kumimoji="0" lang="en-US" altLang="en-US" sz="1050" b="0" i="0" u="none" strike="noStrike" cap="none" normalizeH="0" baseline="0" dirty="0">
                <a:ln>
                  <a:noFill/>
                </a:ln>
                <a:solidFill>
                  <a:schemeClr val="tx1"/>
                </a:solidFill>
                <a:effectLst/>
                <a:latin typeface="Arial" panose="020B0604020202020204" pitchFamily="34" charset="0"/>
              </a:rPr>
              <a:t>. Available at: </a:t>
            </a:r>
            <a:r>
              <a:rPr kumimoji="0" lang="en-US" altLang="en-US" sz="1050" b="0" i="0" u="none" strike="noStrike" cap="none" normalizeH="0" baseline="0" dirty="0">
                <a:ln>
                  <a:noFill/>
                </a:ln>
                <a:solidFill>
                  <a:schemeClr val="tx1"/>
                </a:solidFill>
                <a:effectLst/>
                <a:latin typeface="Arial" panose="020B0604020202020204" pitchFamily="34" charset="0"/>
                <a:hlinkClick r:id="rId4"/>
              </a:rPr>
              <a:t>https://www.csp.org.uk</a:t>
            </a:r>
            <a:r>
              <a:rPr kumimoji="0" lang="en-US" altLang="en-US" sz="1050" b="0" i="0" u="none" strike="noStrike" cap="none" normalizeH="0" baseline="0" dirty="0">
                <a:ln>
                  <a:noFill/>
                </a:ln>
                <a:solidFill>
                  <a:schemeClr val="tx1"/>
                </a:solidFill>
                <a:effectLst/>
                <a:latin typeface="Arial" panose="020B0604020202020204" pitchFamily="34" charset="0"/>
              </a:rPr>
              <a:t> [Accessed 18 March 2026].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Evidence: Pain and MSK Outcomes</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Frost, H., Lamb, S.E., Doll, H.A., Carver, P.T. and Stewart-Brown, S. (2004). </a:t>
            </a:r>
            <a:r>
              <a:rPr kumimoji="0" lang="en-US" altLang="en-US" sz="1050" b="0" i="0" u="none" strike="noStrike" cap="none" normalizeH="0" baseline="0" dirty="0" err="1">
                <a:ln>
                  <a:noFill/>
                </a:ln>
                <a:solidFill>
                  <a:schemeClr val="tx1"/>
                </a:solidFill>
                <a:effectLst/>
                <a:latin typeface="Arial" panose="020B0604020202020204" pitchFamily="34" charset="0"/>
              </a:rPr>
              <a:t>Randomised</a:t>
            </a:r>
            <a:r>
              <a:rPr kumimoji="0" lang="en-US" altLang="en-US" sz="1050" b="0" i="0" u="none" strike="noStrike" cap="none" normalizeH="0" baseline="0" dirty="0">
                <a:ln>
                  <a:noFill/>
                </a:ln>
                <a:solidFill>
                  <a:schemeClr val="tx1"/>
                </a:solidFill>
                <a:effectLst/>
                <a:latin typeface="Arial" panose="020B0604020202020204" pitchFamily="34" charset="0"/>
              </a:rPr>
              <a:t> controlled trial of physiotherapy compared with advice for low back pain. </a:t>
            </a:r>
            <a:r>
              <a:rPr kumimoji="0" lang="en-US" altLang="en-US" sz="1050" b="0" i="1" u="none" strike="noStrike" cap="none" normalizeH="0" baseline="0" dirty="0">
                <a:ln>
                  <a:noFill/>
                </a:ln>
                <a:solidFill>
                  <a:schemeClr val="tx1"/>
                </a:solidFill>
                <a:effectLst/>
                <a:latin typeface="Arial" panose="020B0604020202020204" pitchFamily="34" charset="0"/>
              </a:rPr>
              <a:t>BMJ</a:t>
            </a:r>
            <a:r>
              <a:rPr kumimoji="0" lang="en-US" altLang="en-US" sz="1050" b="0" i="0" u="none" strike="noStrike" cap="none" normalizeH="0" baseline="0" dirty="0">
                <a:ln>
                  <a:noFill/>
                </a:ln>
                <a:solidFill>
                  <a:schemeClr val="tx1"/>
                </a:solidFill>
                <a:effectLst/>
                <a:latin typeface="Arial" panose="020B0604020202020204" pitchFamily="34" charset="0"/>
              </a:rPr>
              <a:t>, 329(7468), p.708.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err="1">
                <a:ln>
                  <a:noFill/>
                </a:ln>
                <a:solidFill>
                  <a:schemeClr val="tx1"/>
                </a:solidFill>
                <a:effectLst/>
                <a:latin typeface="Arial" panose="020B0604020202020204" pitchFamily="34" charset="0"/>
              </a:rPr>
              <a:t>Sandborgh</a:t>
            </a:r>
            <a:r>
              <a:rPr kumimoji="0" lang="en-US" altLang="en-US" sz="1050" b="0" i="0" u="none" strike="noStrike" cap="none" normalizeH="0" baseline="0" dirty="0">
                <a:ln>
                  <a:noFill/>
                </a:ln>
                <a:solidFill>
                  <a:schemeClr val="tx1"/>
                </a:solidFill>
                <a:effectLst/>
                <a:latin typeface="Arial" panose="020B0604020202020204" pitchFamily="34" charset="0"/>
              </a:rPr>
              <a:t>, M., Lindell, M., </a:t>
            </a:r>
            <a:r>
              <a:rPr kumimoji="0" lang="en-US" altLang="en-US" sz="1050" b="0" i="0" u="none" strike="noStrike" cap="none" normalizeH="0" baseline="0" dirty="0" err="1">
                <a:ln>
                  <a:noFill/>
                </a:ln>
                <a:solidFill>
                  <a:schemeClr val="tx1"/>
                </a:solidFill>
                <a:effectLst/>
                <a:latin typeface="Arial" panose="020B0604020202020204" pitchFamily="34" charset="0"/>
              </a:rPr>
              <a:t>Dannapfel</a:t>
            </a:r>
            <a:r>
              <a:rPr kumimoji="0" lang="en-US" altLang="en-US" sz="1050" b="0" i="0" u="none" strike="noStrike" cap="none" normalizeH="0" baseline="0" dirty="0">
                <a:ln>
                  <a:noFill/>
                </a:ln>
                <a:solidFill>
                  <a:schemeClr val="tx1"/>
                </a:solidFill>
                <a:effectLst/>
                <a:latin typeface="Arial" panose="020B0604020202020204" pitchFamily="34" charset="0"/>
              </a:rPr>
              <a:t>, P., Almqvist, L., Rutberg, H. and Eskilsson, T. (2021). Physiotherapist‑led rehabilitation for patients with chronic musculoskeletal pain. </a:t>
            </a:r>
            <a:r>
              <a:rPr kumimoji="0" lang="en-US" altLang="en-US" sz="1050" b="0" i="1" u="none" strike="noStrike" cap="none" normalizeH="0" baseline="0" dirty="0">
                <a:ln>
                  <a:noFill/>
                </a:ln>
                <a:solidFill>
                  <a:schemeClr val="tx1"/>
                </a:solidFill>
                <a:effectLst/>
                <a:latin typeface="Arial" panose="020B0604020202020204" pitchFamily="34" charset="0"/>
              </a:rPr>
              <a:t>BMC Musculoskeletal Disorders</a:t>
            </a:r>
            <a:r>
              <a:rPr kumimoji="0" lang="en-US" altLang="en-US" sz="1050" b="0" i="0" u="none" strike="noStrike" cap="none" normalizeH="0" baseline="0" dirty="0">
                <a:ln>
                  <a:noFill/>
                </a:ln>
                <a:solidFill>
                  <a:schemeClr val="tx1"/>
                </a:solidFill>
                <a:effectLst/>
                <a:latin typeface="Arial" panose="020B0604020202020204" pitchFamily="34" charset="0"/>
              </a:rPr>
              <a:t>, 22(1), p.12.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Evidence: Smoking Cessation and Exercise</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Wang, D., Wang, P., Lan, K. and Zhang, Y. (2023). Effect of exercise intervention on smoking cessation: a meta‑analysis. </a:t>
            </a:r>
            <a:r>
              <a:rPr kumimoji="0" lang="en-US" altLang="en-US" sz="1050" b="0" i="1" u="none" strike="noStrike" cap="none" normalizeH="0" baseline="0" dirty="0">
                <a:ln>
                  <a:noFill/>
                </a:ln>
                <a:solidFill>
                  <a:schemeClr val="tx1"/>
                </a:solidFill>
                <a:effectLst/>
                <a:latin typeface="Arial" panose="020B0604020202020204" pitchFamily="34" charset="0"/>
              </a:rPr>
              <a:t>Frontiers in Physiology</a:t>
            </a:r>
            <a:r>
              <a:rPr kumimoji="0" lang="en-US" altLang="en-US" sz="1050" b="0" i="0" u="none" strike="noStrike" cap="none" normalizeH="0" baseline="0" dirty="0">
                <a:ln>
                  <a:noFill/>
                </a:ln>
                <a:solidFill>
                  <a:schemeClr val="tx1"/>
                </a:solidFill>
                <a:effectLst/>
                <a:latin typeface="Arial" panose="020B0604020202020204" pitchFamily="34" charset="0"/>
              </a:rPr>
              <a:t>, 14:1221898.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Evidence: Making Every Contact Count (MECC)</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Andy, U., </a:t>
            </a:r>
            <a:r>
              <a:rPr kumimoji="0" lang="en-US" altLang="en-US" sz="1050" b="0" i="0" u="none" strike="noStrike" cap="none" normalizeH="0" baseline="0" dirty="0" err="1">
                <a:ln>
                  <a:noFill/>
                </a:ln>
                <a:solidFill>
                  <a:schemeClr val="tx1"/>
                </a:solidFill>
                <a:effectLst/>
                <a:latin typeface="Arial" panose="020B0604020202020204" pitchFamily="34" charset="0"/>
              </a:rPr>
              <a:t>Ogunbayo</a:t>
            </a:r>
            <a:r>
              <a:rPr kumimoji="0" lang="en-US" altLang="en-US" sz="1050" b="0" i="0" u="none" strike="noStrike" cap="none" normalizeH="0" baseline="0" dirty="0">
                <a:ln>
                  <a:noFill/>
                </a:ln>
                <a:solidFill>
                  <a:schemeClr val="tx1"/>
                </a:solidFill>
                <a:effectLst/>
                <a:latin typeface="Arial" panose="020B0604020202020204" pitchFamily="34" charset="0"/>
              </a:rPr>
              <a:t>, O.J., Clifford, R., Bull, E. and Peckham, E. (2025). Increasing confidence and competence in supporting </a:t>
            </a:r>
            <a:r>
              <a:rPr kumimoji="0" lang="en-US" altLang="en-US" sz="1050" b="0" i="0" u="none" strike="noStrike" cap="none" normalizeH="0" baseline="0" dirty="0" err="1">
                <a:ln>
                  <a:noFill/>
                </a:ln>
                <a:solidFill>
                  <a:schemeClr val="tx1"/>
                </a:solidFill>
                <a:effectLst/>
                <a:latin typeface="Arial" panose="020B0604020202020204" pitchFamily="34" charset="0"/>
              </a:rPr>
              <a:t>behaviour</a:t>
            </a:r>
            <a:r>
              <a:rPr kumimoji="0" lang="en-US" altLang="en-US" sz="1050" b="0" i="0" u="none" strike="noStrike" cap="none" normalizeH="0" baseline="0" dirty="0">
                <a:ln>
                  <a:noFill/>
                </a:ln>
                <a:solidFill>
                  <a:schemeClr val="tx1"/>
                </a:solidFill>
                <a:effectLst/>
                <a:latin typeface="Arial" panose="020B0604020202020204" pitchFamily="34" charset="0"/>
              </a:rPr>
              <a:t> change in physiotherapy practice using Making Every Contact Count Healthy Conversation Skills: a before and after evaluation. </a:t>
            </a:r>
            <a:r>
              <a:rPr kumimoji="0" lang="en-US" altLang="en-US" sz="1050" b="0" i="1" u="none" strike="noStrike" cap="none" normalizeH="0" baseline="0" dirty="0">
                <a:ln>
                  <a:noFill/>
                </a:ln>
                <a:solidFill>
                  <a:schemeClr val="tx1"/>
                </a:solidFill>
                <a:effectLst/>
                <a:latin typeface="Arial" panose="020B0604020202020204" pitchFamily="34" charset="0"/>
              </a:rPr>
              <a:t>Musculoskeletal Science and Practice</a:t>
            </a:r>
            <a:r>
              <a:rPr kumimoji="0" lang="en-US" altLang="en-US" sz="1050" b="0" i="0" u="none" strike="noStrike" cap="none" normalizeH="0" baseline="0" dirty="0">
                <a:ln>
                  <a:noFill/>
                </a:ln>
                <a:solidFill>
                  <a:schemeClr val="tx1"/>
                </a:solidFill>
                <a:effectLst/>
                <a:latin typeface="Arial" panose="020B0604020202020204" pitchFamily="34" charset="0"/>
              </a:rPr>
              <a:t>, 75, 103227.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Evidence: Surgical Outcomes and Prehabilitation</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Moyer, R., </a:t>
            </a:r>
            <a:r>
              <a:rPr kumimoji="0" lang="en-US" altLang="en-US" sz="1050" b="0" i="0" u="none" strike="noStrike" cap="none" normalizeH="0" baseline="0" dirty="0" err="1">
                <a:ln>
                  <a:noFill/>
                </a:ln>
                <a:solidFill>
                  <a:schemeClr val="tx1"/>
                </a:solidFill>
                <a:effectLst/>
                <a:latin typeface="Arial" panose="020B0604020202020204" pitchFamily="34" charset="0"/>
              </a:rPr>
              <a:t>Ikert</a:t>
            </a:r>
            <a:r>
              <a:rPr kumimoji="0" lang="en-US" altLang="en-US" sz="1050" b="0" i="0" u="none" strike="noStrike" cap="none" normalizeH="0" baseline="0" dirty="0">
                <a:ln>
                  <a:noFill/>
                </a:ln>
                <a:solidFill>
                  <a:schemeClr val="tx1"/>
                </a:solidFill>
                <a:effectLst/>
                <a:latin typeface="Arial" panose="020B0604020202020204" pitchFamily="34" charset="0"/>
              </a:rPr>
              <a:t>, K., Long, K. and Marsh, J. (2023). Prehabilitation for patients undergoing orthopedic surgery: a systematic review and meta‑analysis. </a:t>
            </a:r>
            <a:r>
              <a:rPr kumimoji="0" lang="en-US" altLang="en-US" sz="1050" b="0" i="1" u="none" strike="noStrike" cap="none" normalizeH="0" baseline="0" dirty="0">
                <a:ln>
                  <a:noFill/>
                </a:ln>
                <a:solidFill>
                  <a:schemeClr val="tx1"/>
                </a:solidFill>
                <a:effectLst/>
                <a:latin typeface="Arial" panose="020B0604020202020204" pitchFamily="34" charset="0"/>
              </a:rPr>
              <a:t>JAMA Network Open</a:t>
            </a:r>
            <a:r>
              <a:rPr kumimoji="0" lang="en-US" altLang="en-US" sz="1050" b="0" i="0" u="none" strike="noStrike" cap="none" normalizeH="0" baseline="0" dirty="0">
                <a:ln>
                  <a:noFill/>
                </a:ln>
                <a:solidFill>
                  <a:schemeClr val="tx1"/>
                </a:solidFill>
                <a:effectLst/>
                <a:latin typeface="Arial" panose="020B0604020202020204" pitchFamily="34" charset="0"/>
              </a:rPr>
              <a:t>, 6(4), e2239938.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Evidence: COPD, Pulmonary Rehabilitation and Exercise Tolerance</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Foglio, K., Bianchi, L., </a:t>
            </a:r>
            <a:r>
              <a:rPr kumimoji="0" lang="en-US" altLang="en-US" sz="1050" b="0" i="0" u="none" strike="noStrike" cap="none" normalizeH="0" baseline="0" dirty="0" err="1">
                <a:ln>
                  <a:noFill/>
                </a:ln>
                <a:solidFill>
                  <a:schemeClr val="tx1"/>
                </a:solidFill>
                <a:effectLst/>
                <a:latin typeface="Arial" panose="020B0604020202020204" pitchFamily="34" charset="0"/>
              </a:rPr>
              <a:t>Bruletti</a:t>
            </a:r>
            <a:r>
              <a:rPr kumimoji="0" lang="en-US" altLang="en-US" sz="1050" b="0" i="0" u="none" strike="noStrike" cap="none" normalizeH="0" baseline="0" dirty="0">
                <a:ln>
                  <a:noFill/>
                </a:ln>
                <a:solidFill>
                  <a:schemeClr val="tx1"/>
                </a:solidFill>
                <a:effectLst/>
                <a:latin typeface="Arial" panose="020B0604020202020204" pitchFamily="34" charset="0"/>
              </a:rPr>
              <a:t>, G., Battista, L., Pagani, M. and Ambrosino, N. (2009). Effects of pulmonary rehabilitation on exercise capacity in patients with COPD: a number needed to treat analysis. </a:t>
            </a:r>
            <a:r>
              <a:rPr kumimoji="0" lang="en-US" altLang="en-US" sz="1050" b="0" i="1" u="none" strike="noStrike" cap="none" normalizeH="0" baseline="0" dirty="0">
                <a:ln>
                  <a:noFill/>
                </a:ln>
                <a:solidFill>
                  <a:schemeClr val="tx1"/>
                </a:solidFill>
                <a:effectLst/>
                <a:latin typeface="Arial" panose="020B0604020202020204" pitchFamily="34" charset="0"/>
              </a:rPr>
              <a:t>International Journal of COPD</a:t>
            </a:r>
            <a:r>
              <a:rPr kumimoji="0" lang="en-US" altLang="en-US" sz="1050" b="0" i="0" u="none" strike="noStrike" cap="none" normalizeH="0" baseline="0" dirty="0">
                <a:ln>
                  <a:noFill/>
                </a:ln>
                <a:solidFill>
                  <a:schemeClr val="tx1"/>
                </a:solidFill>
                <a:effectLst/>
                <a:latin typeface="Arial" panose="020B0604020202020204" pitchFamily="34" charset="0"/>
              </a:rPr>
              <a:t>, 4, pp.315–319.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Burtin, C., Langer, D., van </a:t>
            </a:r>
            <a:r>
              <a:rPr kumimoji="0" lang="en-US" altLang="en-US" sz="1050" b="0" i="0" u="none" strike="noStrike" cap="none" normalizeH="0" baseline="0" dirty="0" err="1">
                <a:ln>
                  <a:noFill/>
                </a:ln>
                <a:solidFill>
                  <a:schemeClr val="tx1"/>
                </a:solidFill>
                <a:effectLst/>
                <a:latin typeface="Arial" panose="020B0604020202020204" pitchFamily="34" charset="0"/>
              </a:rPr>
              <a:t>Remoortel</a:t>
            </a:r>
            <a:r>
              <a:rPr kumimoji="0" lang="en-US" altLang="en-US" sz="1050" b="0" i="0" u="none" strike="noStrike" cap="none" normalizeH="0" baseline="0" dirty="0">
                <a:ln>
                  <a:noFill/>
                </a:ln>
                <a:solidFill>
                  <a:schemeClr val="tx1"/>
                </a:solidFill>
                <a:effectLst/>
                <a:latin typeface="Arial" panose="020B0604020202020204" pitchFamily="34" charset="0"/>
              </a:rPr>
              <a:t>, H., Demeyer, H., Gosselink, R., Decramer, M. and </a:t>
            </a:r>
            <a:r>
              <a:rPr kumimoji="0" lang="en-US" altLang="en-US" sz="1050" b="0" i="0" u="none" strike="noStrike" cap="none" normalizeH="0" baseline="0" dirty="0" err="1">
                <a:ln>
                  <a:noFill/>
                </a:ln>
                <a:solidFill>
                  <a:schemeClr val="tx1"/>
                </a:solidFill>
                <a:effectLst/>
                <a:latin typeface="Arial" panose="020B0604020202020204" pitchFamily="34" charset="0"/>
              </a:rPr>
              <a:t>Troosters</a:t>
            </a:r>
            <a:r>
              <a:rPr kumimoji="0" lang="en-US" altLang="en-US" sz="1050" b="0" i="0" u="none" strike="noStrike" cap="none" normalizeH="0" baseline="0" dirty="0">
                <a:ln>
                  <a:noFill/>
                </a:ln>
                <a:solidFill>
                  <a:schemeClr val="tx1"/>
                </a:solidFill>
                <a:effectLst/>
                <a:latin typeface="Arial" panose="020B0604020202020204" pitchFamily="34" charset="0"/>
              </a:rPr>
              <a:t>, T. (2015). Physical activity counselling during pulmonary rehabilitation in patients with COPD: a </a:t>
            </a:r>
            <a:r>
              <a:rPr kumimoji="0" lang="en-US" altLang="en-US" sz="1050" b="0" i="0" u="none" strike="noStrike" cap="none" normalizeH="0" baseline="0" dirty="0" err="1">
                <a:ln>
                  <a:noFill/>
                </a:ln>
                <a:solidFill>
                  <a:schemeClr val="tx1"/>
                </a:solidFill>
                <a:effectLst/>
                <a:latin typeface="Arial" panose="020B0604020202020204" pitchFamily="34" charset="0"/>
              </a:rPr>
              <a:t>randomised</a:t>
            </a:r>
            <a:r>
              <a:rPr kumimoji="0" lang="en-US" altLang="en-US" sz="1050" b="0" i="0" u="none" strike="noStrike" cap="none" normalizeH="0" baseline="0" dirty="0">
                <a:ln>
                  <a:noFill/>
                </a:ln>
                <a:solidFill>
                  <a:schemeClr val="tx1"/>
                </a:solidFill>
                <a:effectLst/>
                <a:latin typeface="Arial" panose="020B0604020202020204" pitchFamily="34" charset="0"/>
              </a:rPr>
              <a:t> controlled trial. </a:t>
            </a:r>
            <a:r>
              <a:rPr kumimoji="0" lang="en-US" altLang="en-US" sz="1050" b="0" i="1" u="none" strike="noStrike" cap="none" normalizeH="0" baseline="0" dirty="0">
                <a:ln>
                  <a:noFill/>
                </a:ln>
                <a:solidFill>
                  <a:schemeClr val="tx1"/>
                </a:solidFill>
                <a:effectLst/>
                <a:latin typeface="Arial" panose="020B0604020202020204" pitchFamily="34" charset="0"/>
              </a:rPr>
              <a:t>PLOS ONE</a:t>
            </a:r>
            <a:r>
              <a:rPr kumimoji="0" lang="en-US" altLang="en-US" sz="1050" b="0" i="0" u="none" strike="noStrike" cap="none" normalizeH="0" baseline="0" dirty="0">
                <a:ln>
                  <a:noFill/>
                </a:ln>
                <a:solidFill>
                  <a:schemeClr val="tx1"/>
                </a:solidFill>
                <a:effectLst/>
                <a:latin typeface="Arial" panose="020B0604020202020204" pitchFamily="34" charset="0"/>
              </a:rPr>
              <a:t>, 10(12), e0144989.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Evidence: Physiotherapy and Public Health Strategy</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1" u="none" strike="noStrike" cap="none" normalizeH="0" baseline="0" dirty="0">
                <a:ln>
                  <a:noFill/>
                </a:ln>
                <a:solidFill>
                  <a:schemeClr val="tx1"/>
                </a:solidFill>
                <a:effectLst/>
                <a:latin typeface="Arial" panose="020B0604020202020204" pitchFamily="34" charset="0"/>
              </a:rPr>
              <a:t>Physiotherapy – an effective but underutilized strategy for strengthening public health</a:t>
            </a:r>
            <a:r>
              <a:rPr kumimoji="0" lang="en-US" altLang="en-US" sz="1050" b="0" i="0" u="none" strike="noStrike" cap="none" normalizeH="0" baseline="0" dirty="0">
                <a:ln>
                  <a:noFill/>
                </a:ln>
                <a:solidFill>
                  <a:schemeClr val="tx1"/>
                </a:solidFill>
                <a:effectLst/>
                <a:latin typeface="Arial" panose="020B0604020202020204" pitchFamily="34" charset="0"/>
              </a:rPr>
              <a:t>. (2025). </a:t>
            </a:r>
            <a:r>
              <a:rPr kumimoji="0" lang="en-US" altLang="en-US" sz="1050" b="0" i="1" u="none" strike="noStrike" cap="none" normalizeH="0" baseline="0" dirty="0">
                <a:ln>
                  <a:noFill/>
                </a:ln>
                <a:solidFill>
                  <a:schemeClr val="tx1"/>
                </a:solidFill>
                <a:effectLst/>
                <a:latin typeface="Arial" panose="020B0604020202020204" pitchFamily="34" charset="0"/>
              </a:rPr>
              <a:t>International Journal of Translational Medical Research and Public Health</a:t>
            </a:r>
            <a:r>
              <a:rPr kumimoji="0" lang="en-US" altLang="en-US" sz="1050" b="0" i="0" u="none" strike="noStrike" cap="none" normalizeH="0" baseline="0" dirty="0">
                <a:ln>
                  <a:noFill/>
                </a:ln>
                <a:solidFill>
                  <a:schemeClr val="tx1"/>
                </a:solidFill>
                <a:effectLst/>
                <a:latin typeface="Arial" panose="020B0604020202020204" pitchFamily="34" charset="0"/>
              </a:rPr>
              <a:t>, 9(1).</a:t>
            </a:r>
          </a:p>
        </p:txBody>
      </p:sp>
    </p:spTree>
    <p:extLst>
      <p:ext uri="{BB962C8B-B14F-4D97-AF65-F5344CB8AC3E}">
        <p14:creationId xmlns:p14="http://schemas.microsoft.com/office/powerpoint/2010/main" val="313557223"/>
      </p:ext>
    </p:extLst>
  </p:cSld>
  <p:clrMapOvr>
    <a:masterClrMapping/>
  </p:clrMapOvr>
</p:sld>
</file>

<file path=ppt/theme/theme1.xml><?xml version="1.0" encoding="utf-8"?>
<a:theme xmlns:a="http://schemas.openxmlformats.org/drawingml/2006/main" name="Theme for Uni slides">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for Uni slides" id="{3BAF991C-92CF-4FF6-B660-4D76B81CF402}" vid="{D4EDB978-12AA-4E92-8633-D41A8F5BC3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 for Uni slides</Template>
  <TotalTime>0</TotalTime>
  <Words>3046</Words>
  <Application>Microsoft Office PowerPoint</Application>
  <PresentationFormat>Widescreen</PresentationFormat>
  <Paragraphs>278</Paragraphs>
  <Slides>37</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Aptos</vt:lpstr>
      <vt:lpstr>Arial</vt:lpstr>
      <vt:lpstr>Cambria</vt:lpstr>
      <vt:lpstr>Theme for Uni slides</vt:lpstr>
      <vt:lpstr>Physiotherapy and health promotion </vt:lpstr>
      <vt:lpstr>By the end of this lecture you should </vt:lpstr>
      <vt:lpstr>Where this fits in the module </vt:lpstr>
      <vt:lpstr>SDL recap </vt:lpstr>
      <vt:lpstr>SDL recap: Pair-share </vt:lpstr>
      <vt:lpstr>Why talk about Public health in Physio </vt:lpstr>
      <vt:lpstr>Examples from practice: MSK Practice  </vt:lpstr>
      <vt:lpstr>Patient Examples: Resp </vt:lpstr>
      <vt:lpstr>Prevention across levels </vt:lpstr>
      <vt:lpstr>“not an add-on” </vt:lpstr>
      <vt:lpstr>Reflection question </vt:lpstr>
      <vt:lpstr>Why it matters </vt:lpstr>
      <vt:lpstr>Brief advice CAN make a difference </vt:lpstr>
      <vt:lpstr>Why it matters </vt:lpstr>
      <vt:lpstr>Brief advice and LBP outcomes</vt:lpstr>
      <vt:lpstr>Adherence, self‑management and outcomes</vt:lpstr>
      <vt:lpstr>Prehabilitation: small dose, big impact</vt:lpstr>
      <vt:lpstr>“Public health” in the surgical pathway</vt:lpstr>
      <vt:lpstr>Activity and smoking cessation counselling in COPD</vt:lpstr>
      <vt:lpstr>Key messages for practice</vt:lpstr>
      <vt:lpstr>Breaking down the HCPC jargon </vt:lpstr>
      <vt:lpstr>Breaking down the HCPC jargon </vt:lpstr>
      <vt:lpstr>Breaking down the HCPC Jargon </vt:lpstr>
      <vt:lpstr>Linking in your SDL work </vt:lpstr>
      <vt:lpstr>Making every contact count (MECC) </vt:lpstr>
      <vt:lpstr>Key features of MECC</vt:lpstr>
      <vt:lpstr>MECC and HCPC/CSP </vt:lpstr>
      <vt:lpstr>MECC role play </vt:lpstr>
      <vt:lpstr>Task breakdown </vt:lpstr>
      <vt:lpstr>Case A </vt:lpstr>
      <vt:lpstr>Case B </vt:lpstr>
      <vt:lpstr>Case C</vt:lpstr>
      <vt:lpstr>Reflection </vt:lpstr>
      <vt:lpstr>Key take-home messages </vt:lpstr>
      <vt:lpstr>From classroom to placement </vt:lpstr>
      <vt:lpstr>Final reflection </vt:lpstr>
      <vt:lpstr>References </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Isobel Davies</dc:creator>
  <cp:lastModifiedBy>Isobel Davies</cp:lastModifiedBy>
  <cp:revision>2</cp:revision>
  <dcterms:created xsi:type="dcterms:W3CDTF">2026-03-04T14:10:02Z</dcterms:created>
  <dcterms:modified xsi:type="dcterms:W3CDTF">2026-03-25T13:33:43Z</dcterms:modified>
</cp:coreProperties>
</file>