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64" r:id="rId5"/>
    <p:sldId id="260" r:id="rId6"/>
    <p:sldId id="261" r:id="rId7"/>
    <p:sldId id="262" r:id="rId8"/>
    <p:sldId id="263" r:id="rId9"/>
    <p:sldId id="269" r:id="rId10"/>
    <p:sldId id="292" r:id="rId11"/>
    <p:sldId id="272" r:id="rId12"/>
    <p:sldId id="290" r:id="rId13"/>
    <p:sldId id="296" r:id="rId14"/>
    <p:sldId id="273" r:id="rId15"/>
    <p:sldId id="293" r:id="rId16"/>
    <p:sldId id="295" r:id="rId17"/>
    <p:sldId id="274" r:id="rId18"/>
    <p:sldId id="297" r:id="rId19"/>
    <p:sldId id="299" r:id="rId20"/>
    <p:sldId id="277" r:id="rId21"/>
    <p:sldId id="278" r:id="rId22"/>
    <p:sldId id="300" r:id="rId23"/>
    <p:sldId id="301" r:id="rId24"/>
    <p:sldId id="302" r:id="rId25"/>
    <p:sldId id="303" r:id="rId26"/>
    <p:sldId id="304" r:id="rId27"/>
    <p:sldId id="265" r:id="rId28"/>
    <p:sldId id="305" r:id="rId29"/>
    <p:sldId id="307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323" r:id="rId38"/>
    <p:sldId id="32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3E9C6D-CEFC-44E4-B435-6D943FF76F41}" type="doc">
      <dgm:prSet loTypeId="urn:microsoft.com/office/officeart/2005/8/layout/vProcess5" loCatId="process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A9F69497-26A0-4A5F-9F1E-5991210924EE}">
      <dgm:prSet/>
      <dgm:spPr/>
      <dgm:t>
        <a:bodyPr/>
        <a:lstStyle/>
        <a:p>
          <a:r>
            <a:rPr lang="en-US"/>
            <a:t>Biopsychosocial model</a:t>
          </a:r>
        </a:p>
      </dgm:t>
    </dgm:pt>
    <dgm:pt modelId="{4FAAF4B7-0EAB-45AD-BD01-699BDE3E54AB}" type="parTrans" cxnId="{6221DC5C-82D4-41F9-9F65-DB9BA4F9083A}">
      <dgm:prSet/>
      <dgm:spPr/>
      <dgm:t>
        <a:bodyPr/>
        <a:lstStyle/>
        <a:p>
          <a:endParaRPr lang="en-US"/>
        </a:p>
      </dgm:t>
    </dgm:pt>
    <dgm:pt modelId="{2638441E-333F-4EC6-A76B-A177183698CE}" type="sibTrans" cxnId="{6221DC5C-82D4-41F9-9F65-DB9BA4F9083A}">
      <dgm:prSet/>
      <dgm:spPr/>
      <dgm:t>
        <a:bodyPr/>
        <a:lstStyle/>
        <a:p>
          <a:endParaRPr lang="en-US"/>
        </a:p>
      </dgm:t>
    </dgm:pt>
    <dgm:pt modelId="{CA3D6B72-706A-44A1-B545-00D2D1FF539F}">
      <dgm:prSet/>
      <dgm:spPr/>
      <dgm:t>
        <a:bodyPr/>
        <a:lstStyle/>
        <a:p>
          <a:r>
            <a:rPr lang="en-US" dirty="0">
              <a:solidFill>
                <a:schemeClr val="tx2">
                  <a:lumMod val="20000"/>
                  <a:lumOff val="80000"/>
                </a:schemeClr>
              </a:solidFill>
            </a:rPr>
            <a:t>What do we think?</a:t>
          </a:r>
        </a:p>
      </dgm:t>
    </dgm:pt>
    <dgm:pt modelId="{4FA64E55-DF79-4FD6-8DE1-141940FC4484}" type="parTrans" cxnId="{CF4AEE49-C8C9-4812-BCEC-067128B204DC}">
      <dgm:prSet/>
      <dgm:spPr/>
      <dgm:t>
        <a:bodyPr/>
        <a:lstStyle/>
        <a:p>
          <a:endParaRPr lang="en-US"/>
        </a:p>
      </dgm:t>
    </dgm:pt>
    <dgm:pt modelId="{E3C8C128-E693-4169-AE27-C51AD9CC5796}" type="sibTrans" cxnId="{CF4AEE49-C8C9-4812-BCEC-067128B204DC}">
      <dgm:prSet/>
      <dgm:spPr/>
      <dgm:t>
        <a:bodyPr/>
        <a:lstStyle/>
        <a:p>
          <a:endParaRPr lang="en-US"/>
        </a:p>
      </dgm:t>
    </dgm:pt>
    <dgm:pt modelId="{63F22E89-DFF6-457C-AC75-460522AF797B}">
      <dgm:prSet/>
      <dgm:spPr/>
      <dgm:t>
        <a:bodyPr/>
        <a:lstStyle/>
        <a:p>
          <a:r>
            <a:rPr lang="en-US" dirty="0">
              <a:solidFill>
                <a:schemeClr val="accent2">
                  <a:lumMod val="40000"/>
                  <a:lumOff val="60000"/>
                </a:schemeClr>
              </a:solidFill>
            </a:rPr>
            <a:t>Are his objections still valid today?</a:t>
          </a:r>
        </a:p>
      </dgm:t>
    </dgm:pt>
    <dgm:pt modelId="{09C0BE61-A3BB-4FCB-BC1F-C504EC2FC5CD}" type="parTrans" cxnId="{C6E8442B-104D-445B-B463-C69AA624C0D1}">
      <dgm:prSet/>
      <dgm:spPr/>
      <dgm:t>
        <a:bodyPr/>
        <a:lstStyle/>
        <a:p>
          <a:endParaRPr lang="en-US"/>
        </a:p>
      </dgm:t>
    </dgm:pt>
    <dgm:pt modelId="{C7D7B5FD-40C3-4A7E-BA1B-675C4C928D35}" type="sibTrans" cxnId="{C6E8442B-104D-445B-B463-C69AA624C0D1}">
      <dgm:prSet/>
      <dgm:spPr/>
      <dgm:t>
        <a:bodyPr/>
        <a:lstStyle/>
        <a:p>
          <a:endParaRPr lang="en-US"/>
        </a:p>
      </dgm:t>
    </dgm:pt>
    <dgm:pt modelId="{4B90FAF6-2258-458D-A948-0AECD1254DFF}" type="pres">
      <dgm:prSet presAssocID="{183E9C6D-CEFC-44E4-B435-6D943FF76F41}" presName="outerComposite" presStyleCnt="0">
        <dgm:presLayoutVars>
          <dgm:chMax val="5"/>
          <dgm:dir/>
          <dgm:resizeHandles val="exact"/>
        </dgm:presLayoutVars>
      </dgm:prSet>
      <dgm:spPr/>
    </dgm:pt>
    <dgm:pt modelId="{A1CD4D49-6E3E-426D-A7B8-0959F8CFCC98}" type="pres">
      <dgm:prSet presAssocID="{183E9C6D-CEFC-44E4-B435-6D943FF76F41}" presName="dummyMaxCanvas" presStyleCnt="0">
        <dgm:presLayoutVars/>
      </dgm:prSet>
      <dgm:spPr/>
    </dgm:pt>
    <dgm:pt modelId="{C89731A4-ABB9-40A6-9ED0-97E345BBBC26}" type="pres">
      <dgm:prSet presAssocID="{183E9C6D-CEFC-44E4-B435-6D943FF76F41}" presName="ThreeNodes_1" presStyleLbl="node1" presStyleIdx="0" presStyleCnt="3">
        <dgm:presLayoutVars>
          <dgm:bulletEnabled val="1"/>
        </dgm:presLayoutVars>
      </dgm:prSet>
      <dgm:spPr/>
    </dgm:pt>
    <dgm:pt modelId="{DF5CA355-99BC-45F3-AD1F-4A7B93752F2B}" type="pres">
      <dgm:prSet presAssocID="{183E9C6D-CEFC-44E4-B435-6D943FF76F41}" presName="ThreeNodes_2" presStyleLbl="node1" presStyleIdx="1" presStyleCnt="3">
        <dgm:presLayoutVars>
          <dgm:bulletEnabled val="1"/>
        </dgm:presLayoutVars>
      </dgm:prSet>
      <dgm:spPr/>
    </dgm:pt>
    <dgm:pt modelId="{5090CB2D-1B03-4D0D-B7DB-CB63E2982CF7}" type="pres">
      <dgm:prSet presAssocID="{183E9C6D-CEFC-44E4-B435-6D943FF76F41}" presName="ThreeNodes_3" presStyleLbl="node1" presStyleIdx="2" presStyleCnt="3">
        <dgm:presLayoutVars>
          <dgm:bulletEnabled val="1"/>
        </dgm:presLayoutVars>
      </dgm:prSet>
      <dgm:spPr/>
    </dgm:pt>
    <dgm:pt modelId="{F6FC90E6-CDA8-416D-BA32-3254C91BFEC6}" type="pres">
      <dgm:prSet presAssocID="{183E9C6D-CEFC-44E4-B435-6D943FF76F41}" presName="ThreeConn_1-2" presStyleLbl="fgAccFollowNode1" presStyleIdx="0" presStyleCnt="2">
        <dgm:presLayoutVars>
          <dgm:bulletEnabled val="1"/>
        </dgm:presLayoutVars>
      </dgm:prSet>
      <dgm:spPr/>
    </dgm:pt>
    <dgm:pt modelId="{B23F9278-ECB1-4B92-AC21-6E8B9AC75384}" type="pres">
      <dgm:prSet presAssocID="{183E9C6D-CEFC-44E4-B435-6D943FF76F41}" presName="ThreeConn_2-3" presStyleLbl="fgAccFollowNode1" presStyleIdx="1" presStyleCnt="2">
        <dgm:presLayoutVars>
          <dgm:bulletEnabled val="1"/>
        </dgm:presLayoutVars>
      </dgm:prSet>
      <dgm:spPr/>
    </dgm:pt>
    <dgm:pt modelId="{41F0A53E-41B0-4C23-87FE-9D488A2A9EF2}" type="pres">
      <dgm:prSet presAssocID="{183E9C6D-CEFC-44E4-B435-6D943FF76F41}" presName="ThreeNodes_1_text" presStyleLbl="node1" presStyleIdx="2" presStyleCnt="3">
        <dgm:presLayoutVars>
          <dgm:bulletEnabled val="1"/>
        </dgm:presLayoutVars>
      </dgm:prSet>
      <dgm:spPr/>
    </dgm:pt>
    <dgm:pt modelId="{78510C22-52C3-438B-9E34-9C9BA9F812DE}" type="pres">
      <dgm:prSet presAssocID="{183E9C6D-CEFC-44E4-B435-6D943FF76F41}" presName="ThreeNodes_2_text" presStyleLbl="node1" presStyleIdx="2" presStyleCnt="3">
        <dgm:presLayoutVars>
          <dgm:bulletEnabled val="1"/>
        </dgm:presLayoutVars>
      </dgm:prSet>
      <dgm:spPr/>
    </dgm:pt>
    <dgm:pt modelId="{34A90438-FE62-4094-8111-4CE4A59FB03B}" type="pres">
      <dgm:prSet presAssocID="{183E9C6D-CEFC-44E4-B435-6D943FF76F4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D26F3823-5C3F-46B3-81C9-9B77D70B11BA}" type="presOf" srcId="{63F22E89-DFF6-457C-AC75-460522AF797B}" destId="{5090CB2D-1B03-4D0D-B7DB-CB63E2982CF7}" srcOrd="0" destOrd="0" presId="urn:microsoft.com/office/officeart/2005/8/layout/vProcess5"/>
    <dgm:cxn modelId="{C6E8442B-104D-445B-B463-C69AA624C0D1}" srcId="{183E9C6D-CEFC-44E4-B435-6D943FF76F41}" destId="{63F22E89-DFF6-457C-AC75-460522AF797B}" srcOrd="2" destOrd="0" parTransId="{09C0BE61-A3BB-4FCB-BC1F-C504EC2FC5CD}" sibTransId="{C7D7B5FD-40C3-4A7E-BA1B-675C4C928D35}"/>
    <dgm:cxn modelId="{44CE9239-F864-4287-9F56-65240C5DBE11}" type="presOf" srcId="{CA3D6B72-706A-44A1-B545-00D2D1FF539F}" destId="{78510C22-52C3-438B-9E34-9C9BA9F812DE}" srcOrd="1" destOrd="0" presId="urn:microsoft.com/office/officeart/2005/8/layout/vProcess5"/>
    <dgm:cxn modelId="{6221DC5C-82D4-41F9-9F65-DB9BA4F9083A}" srcId="{183E9C6D-CEFC-44E4-B435-6D943FF76F41}" destId="{A9F69497-26A0-4A5F-9F1E-5991210924EE}" srcOrd="0" destOrd="0" parTransId="{4FAAF4B7-0EAB-45AD-BD01-699BDE3E54AB}" sibTransId="{2638441E-333F-4EC6-A76B-A177183698CE}"/>
    <dgm:cxn modelId="{CF4AEE49-C8C9-4812-BCEC-067128B204DC}" srcId="{183E9C6D-CEFC-44E4-B435-6D943FF76F41}" destId="{CA3D6B72-706A-44A1-B545-00D2D1FF539F}" srcOrd="1" destOrd="0" parTransId="{4FA64E55-DF79-4FD6-8DE1-141940FC4484}" sibTransId="{E3C8C128-E693-4169-AE27-C51AD9CC5796}"/>
    <dgm:cxn modelId="{AD75DA4B-C91C-46B5-BA52-A3F108611D09}" type="presOf" srcId="{A9F69497-26A0-4A5F-9F1E-5991210924EE}" destId="{C89731A4-ABB9-40A6-9ED0-97E345BBBC26}" srcOrd="0" destOrd="0" presId="urn:microsoft.com/office/officeart/2005/8/layout/vProcess5"/>
    <dgm:cxn modelId="{83C99977-F5D6-467C-93E2-D5F5BFE9847D}" type="presOf" srcId="{2638441E-333F-4EC6-A76B-A177183698CE}" destId="{F6FC90E6-CDA8-416D-BA32-3254C91BFEC6}" srcOrd="0" destOrd="0" presId="urn:microsoft.com/office/officeart/2005/8/layout/vProcess5"/>
    <dgm:cxn modelId="{70CBCE57-4026-4371-A632-9655657DE8C6}" type="presOf" srcId="{A9F69497-26A0-4A5F-9F1E-5991210924EE}" destId="{41F0A53E-41B0-4C23-87FE-9D488A2A9EF2}" srcOrd="1" destOrd="0" presId="urn:microsoft.com/office/officeart/2005/8/layout/vProcess5"/>
    <dgm:cxn modelId="{67509EA6-1CC4-4D62-87FD-5C08CBBD91B0}" type="presOf" srcId="{63F22E89-DFF6-457C-AC75-460522AF797B}" destId="{34A90438-FE62-4094-8111-4CE4A59FB03B}" srcOrd="1" destOrd="0" presId="urn:microsoft.com/office/officeart/2005/8/layout/vProcess5"/>
    <dgm:cxn modelId="{5030ABDA-5B7A-480F-818F-E1806EB9C31C}" type="presOf" srcId="{183E9C6D-CEFC-44E4-B435-6D943FF76F41}" destId="{4B90FAF6-2258-458D-A948-0AECD1254DFF}" srcOrd="0" destOrd="0" presId="urn:microsoft.com/office/officeart/2005/8/layout/vProcess5"/>
    <dgm:cxn modelId="{720C78F1-2E41-4D4B-B87E-4425E559D289}" type="presOf" srcId="{E3C8C128-E693-4169-AE27-C51AD9CC5796}" destId="{B23F9278-ECB1-4B92-AC21-6E8B9AC75384}" srcOrd="0" destOrd="0" presId="urn:microsoft.com/office/officeart/2005/8/layout/vProcess5"/>
    <dgm:cxn modelId="{F6ED54F4-7B05-4DF4-8541-54E37680706D}" type="presOf" srcId="{CA3D6B72-706A-44A1-B545-00D2D1FF539F}" destId="{DF5CA355-99BC-45F3-AD1F-4A7B93752F2B}" srcOrd="0" destOrd="0" presId="urn:microsoft.com/office/officeart/2005/8/layout/vProcess5"/>
    <dgm:cxn modelId="{199AF7D4-093B-47D0-AA09-A8CF77685D2F}" type="presParOf" srcId="{4B90FAF6-2258-458D-A948-0AECD1254DFF}" destId="{A1CD4D49-6E3E-426D-A7B8-0959F8CFCC98}" srcOrd="0" destOrd="0" presId="urn:microsoft.com/office/officeart/2005/8/layout/vProcess5"/>
    <dgm:cxn modelId="{ED5C6739-D27C-4DA0-AED5-720AC6CA4969}" type="presParOf" srcId="{4B90FAF6-2258-458D-A948-0AECD1254DFF}" destId="{C89731A4-ABB9-40A6-9ED0-97E345BBBC26}" srcOrd="1" destOrd="0" presId="urn:microsoft.com/office/officeart/2005/8/layout/vProcess5"/>
    <dgm:cxn modelId="{B7AAE19B-7C44-498E-AF0C-DDBA9EF37B6B}" type="presParOf" srcId="{4B90FAF6-2258-458D-A948-0AECD1254DFF}" destId="{DF5CA355-99BC-45F3-AD1F-4A7B93752F2B}" srcOrd="2" destOrd="0" presId="urn:microsoft.com/office/officeart/2005/8/layout/vProcess5"/>
    <dgm:cxn modelId="{6966398A-8E88-44CA-886F-42356C9FFBEB}" type="presParOf" srcId="{4B90FAF6-2258-458D-A948-0AECD1254DFF}" destId="{5090CB2D-1B03-4D0D-B7DB-CB63E2982CF7}" srcOrd="3" destOrd="0" presId="urn:microsoft.com/office/officeart/2005/8/layout/vProcess5"/>
    <dgm:cxn modelId="{8BDB9F81-4D8F-4A87-8371-2F1BDDD47BFA}" type="presParOf" srcId="{4B90FAF6-2258-458D-A948-0AECD1254DFF}" destId="{F6FC90E6-CDA8-416D-BA32-3254C91BFEC6}" srcOrd="4" destOrd="0" presId="urn:microsoft.com/office/officeart/2005/8/layout/vProcess5"/>
    <dgm:cxn modelId="{D2426BC8-3F02-4A4F-BB47-489DCA262D3C}" type="presParOf" srcId="{4B90FAF6-2258-458D-A948-0AECD1254DFF}" destId="{B23F9278-ECB1-4B92-AC21-6E8B9AC75384}" srcOrd="5" destOrd="0" presId="urn:microsoft.com/office/officeart/2005/8/layout/vProcess5"/>
    <dgm:cxn modelId="{14F81889-0078-44E8-864D-9BC18C50FF03}" type="presParOf" srcId="{4B90FAF6-2258-458D-A948-0AECD1254DFF}" destId="{41F0A53E-41B0-4C23-87FE-9D488A2A9EF2}" srcOrd="6" destOrd="0" presId="urn:microsoft.com/office/officeart/2005/8/layout/vProcess5"/>
    <dgm:cxn modelId="{44A0C339-3018-4E53-93CB-1655957E4B73}" type="presParOf" srcId="{4B90FAF6-2258-458D-A948-0AECD1254DFF}" destId="{78510C22-52C3-438B-9E34-9C9BA9F812DE}" srcOrd="7" destOrd="0" presId="urn:microsoft.com/office/officeart/2005/8/layout/vProcess5"/>
    <dgm:cxn modelId="{7123FC2F-1986-41CD-84D6-6B20E4E05A4F}" type="presParOf" srcId="{4B90FAF6-2258-458D-A948-0AECD1254DFF}" destId="{34A90438-FE62-4094-8111-4CE4A59FB03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731A4-ABB9-40A6-9ED0-97E345BBBC26}">
      <dsp:nvSpPr>
        <dsp:cNvPr id="0" name=""/>
        <dsp:cNvSpPr/>
      </dsp:nvSpPr>
      <dsp:spPr>
        <a:xfrm>
          <a:off x="0" y="0"/>
          <a:ext cx="6671310" cy="1433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Biopsychosocial model</a:t>
          </a:r>
        </a:p>
      </dsp:txBody>
      <dsp:txXfrm>
        <a:off x="41983" y="41983"/>
        <a:ext cx="5124561" cy="1349432"/>
      </dsp:txXfrm>
    </dsp:sp>
    <dsp:sp modelId="{DF5CA355-99BC-45F3-AD1F-4A7B93752F2B}">
      <dsp:nvSpPr>
        <dsp:cNvPr id="0" name=""/>
        <dsp:cNvSpPr/>
      </dsp:nvSpPr>
      <dsp:spPr>
        <a:xfrm>
          <a:off x="588644" y="1672297"/>
          <a:ext cx="6671310" cy="1433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>
              <a:solidFill>
                <a:schemeClr val="tx2">
                  <a:lumMod val="20000"/>
                  <a:lumOff val="80000"/>
                </a:schemeClr>
              </a:solidFill>
            </a:rPr>
            <a:t>What do we think?</a:t>
          </a:r>
        </a:p>
      </dsp:txBody>
      <dsp:txXfrm>
        <a:off x="630627" y="1714280"/>
        <a:ext cx="5066990" cy="1349432"/>
      </dsp:txXfrm>
    </dsp:sp>
    <dsp:sp modelId="{5090CB2D-1B03-4D0D-B7DB-CB63E2982CF7}">
      <dsp:nvSpPr>
        <dsp:cNvPr id="0" name=""/>
        <dsp:cNvSpPr/>
      </dsp:nvSpPr>
      <dsp:spPr>
        <a:xfrm>
          <a:off x="1177289" y="3344595"/>
          <a:ext cx="6671310" cy="1433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>
              <a:solidFill>
                <a:schemeClr val="accent2">
                  <a:lumMod val="40000"/>
                  <a:lumOff val="60000"/>
                </a:schemeClr>
              </a:solidFill>
            </a:rPr>
            <a:t>Are his objections still valid today?</a:t>
          </a:r>
        </a:p>
      </dsp:txBody>
      <dsp:txXfrm>
        <a:off x="1219272" y="3386578"/>
        <a:ext cx="5066990" cy="1349432"/>
      </dsp:txXfrm>
    </dsp:sp>
    <dsp:sp modelId="{F6FC90E6-CDA8-416D-BA32-3254C91BFEC6}">
      <dsp:nvSpPr>
        <dsp:cNvPr id="0" name=""/>
        <dsp:cNvSpPr/>
      </dsp:nvSpPr>
      <dsp:spPr>
        <a:xfrm>
          <a:off x="5739601" y="1086993"/>
          <a:ext cx="931708" cy="93170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949235" y="1086993"/>
        <a:ext cx="512440" cy="701110"/>
      </dsp:txXfrm>
    </dsp:sp>
    <dsp:sp modelId="{B23F9278-ECB1-4B92-AC21-6E8B9AC75384}">
      <dsp:nvSpPr>
        <dsp:cNvPr id="0" name=""/>
        <dsp:cNvSpPr/>
      </dsp:nvSpPr>
      <dsp:spPr>
        <a:xfrm>
          <a:off x="6328246" y="2749735"/>
          <a:ext cx="931708" cy="93170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537880" y="2749735"/>
        <a:ext cx="512440" cy="7011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5529C-A975-4E17-B19C-55A8649F1E9C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877B93-EC68-410C-83F9-0628F863A6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698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Health beliefs and behaviour, models, evidence, symptom perception and health seeking, impact of and response to life threatening and long-term conditions, adherence/nonadherence to interventions e.g., exercise.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Stress and resilience, mental health</a:t>
            </a:r>
          </a:p>
          <a:p>
            <a:pPr algn="l"/>
            <a:r>
              <a:rPr lang="en-GB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Sociology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Social determinants of health and global health challenges such as class, ethnicity, sexuality, power differential.</a:t>
            </a:r>
          </a:p>
          <a:p>
            <a:pPr algn="l"/>
            <a:r>
              <a:rPr lang="en-GB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Pathology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Response of muscle, bone and nervous tissue to injury, disuse, and exercise.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877B93-EC68-410C-83F9-0628F863A67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2703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In-class assessments carried out through the semester as a part of the learning and teaching strategy of the course. This will provide formative opportunities to students and account for 0% of the module mark. </a:t>
            </a:r>
          </a:p>
          <a:p>
            <a:r>
              <a:rPr lang="en-GB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2-hour paper focused on the knowledge and understanding of aspects of human anatomy, physiology and social science taught in the module as it applies to physiotherapy practice.</a:t>
            </a:r>
          </a:p>
          <a:p>
            <a:r>
              <a:rPr lang="en-GB" b="0" i="0" dirty="0">
                <a:solidFill>
                  <a:srgbClr val="000000"/>
                </a:solidFill>
                <a:effectLst/>
                <a:latin typeface="WordVisi_MSFontService"/>
              </a:rPr>
              <a:t>Students are expected to attend at least 80% of scheduled sessions for the module.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877B93-EC68-410C-83F9-0628F863A67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95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6E77C-D393-685E-8DB5-F65E03892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C3C60-1F9F-3465-603B-A87A7AB49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E8304-D583-5B78-FEAD-E2E3734B9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D3383-6747-4F19-B5D9-11532E8EBF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B4448-2696-8BAE-767C-3EC54CEFE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E3568-B5F9-74CE-DF69-D5A02C12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2616-2181-4D9D-A53F-A2F6BFFA5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106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F21C4-8134-50DD-BA62-71129B189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13A5A-9427-7971-84BF-413664FC1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53996-1D5C-875D-3907-2E47D7F48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D3383-6747-4F19-B5D9-11532E8EBF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B6AB3-6720-B037-2CAE-7C4322CE3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BE647-568D-20AE-BCAE-CB5CCAC91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2616-2181-4D9D-A53F-A2F6BFFA5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942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5BD5F-20D5-512B-6902-3E99EB726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C0FA0-0BFC-674E-7880-07EC1DC53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81DA4-5AE3-D562-325B-06E99F665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D3383-6747-4F19-B5D9-11532E8EBF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3332B-C5F6-BBF4-C48E-6BC00F9BD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D8351-C705-4BC6-CE20-7F2D431BB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2616-2181-4D9D-A53F-A2F6BFFA5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92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7EB1E-013A-E351-631A-29C50ABC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A770F-B262-EA94-7B35-2AFD9832E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D587C-6BEE-6A7C-39F2-72CCB380A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761FA-D080-DFE3-7284-0B61D19B2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D3383-6747-4F19-B5D9-11532E8EBF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685AB-3346-E8DA-2E2C-ECC14426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59202-8BD3-C010-D6E6-EC282E8C1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2616-2181-4D9D-A53F-A2F6BFFA5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184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AF69C-4035-D1EB-BA68-C1E9FEE48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51BD3-6CF9-DB5E-01B6-3D1B5FFC9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0E7C5-93CB-A7A5-B822-77A2D93E5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AFF10-D556-4E7A-9357-D6E41AB2B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F6AA24-8B01-25F1-05CE-F5CA2B0CA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2AA3E1-D1C1-DF60-D971-E46C59E9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D3383-6747-4F19-B5D9-11532E8EBF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2B95E8-89A7-4342-08D3-92858B075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3FF59-6C43-1AE3-18E4-5D1DF5A7B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2616-2181-4D9D-A53F-A2F6BFFA5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011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8DBC-8C14-5FA4-862F-766A254C6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1705C-B97C-E374-99D0-A3750E1F9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D3383-6747-4F19-B5D9-11532E8EBF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02EDE-2FFD-B30C-2750-F1AF8C2DD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8B5C4-0212-0646-AF00-618EC3C9A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2616-2181-4D9D-A53F-A2F6BFFA5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20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48FE75-CD77-43D0-6D66-65B7AEF65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D3383-6747-4F19-B5D9-11532E8EBF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39C44-493D-9D9E-BC9B-5FA0CEB35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20D52-00A2-9888-9092-95C70D708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2616-2181-4D9D-A53F-A2F6BFFA5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388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446D3-8A8C-10D2-9D78-4D3A3CE3F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FB3B9-365B-B757-2FAC-E42DE1EFF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CAAF-CE61-769D-BCCD-0772371CA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874948-74B2-A667-973F-4CFC956D6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D3383-6747-4F19-B5D9-11532E8EBF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ECACE-2725-E635-F10A-8A9B96601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C479D-0D43-63D4-5609-65A66E1CC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2616-2181-4D9D-A53F-A2F6BFFA5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108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CC254-8264-809E-D17A-390C1608F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BDEB25-BCF1-60C7-A692-1E8BBC494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03E11A-6D32-1854-C880-2314F21DC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7B1BF-0B76-53EF-8A64-8BD33F61D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D3383-6747-4F19-B5D9-11532E8EBF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C835E-0423-5B8A-BA9D-44197F1D6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3895F-27DD-2D8A-B6D1-14CD51646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2616-2181-4D9D-A53F-A2F6BFFA5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669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A6BE-63C7-D833-08F6-CC55DF93E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5D643D-BD4E-B759-DD1B-AC8EE6318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45A0A-AFF5-796D-7776-8B39FA15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D3383-6747-4F19-B5D9-11532E8EBF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F5245-97BE-5A07-7E7C-C9413809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67A17-2B7F-191B-40FA-A8BAF6F37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2616-2181-4D9D-A53F-A2F6BFFA5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24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C2BDDD-02D9-6A1D-622F-79F5F27826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7F62A-1A4C-2AF4-9D50-2A736632D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C5860-5050-167C-91BB-1B354DAD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D3383-6747-4F19-B5D9-11532E8EBF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6D28B-FD81-4C02-9D2C-3A9D01B6F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ECF84-3D14-6585-B401-B88DF2A6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2616-2181-4D9D-A53F-A2F6BFFA5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252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661529" y="1243965"/>
            <a:ext cx="3651250" cy="3743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5315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C32AD-2965-8F72-87B1-1955C5502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0DB46-726C-4E8A-B3DE-4F0DF37CE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63C8F-3661-2E44-0203-C5A6A48E8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D3383-6747-4F19-B5D9-11532E8EBF5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D1C5A-B55F-C7A6-F3BD-A6C370484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2E6C8-01D0-89FF-DCC6-18CBD17B3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52616-2181-4D9D-A53F-A2F6BFFA5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934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jpeg"/><Relationship Id="rId9" Type="http://schemas.microsoft.com/office/2007/relationships/diagramDrawing" Target="../diagrams/drawing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3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3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3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mailto:n.onuegbu@londonmet.ac.uk" TargetMode="Externa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.co/kgs/8fyYS7" TargetMode="External"/><Relationship Id="rId2" Type="http://schemas.openxmlformats.org/officeDocument/2006/relationships/hyperlink" Target="https://www.annfammed.org/content/annalsfm/2/6/576.full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F7D49-6B32-831E-96C2-F756BA0942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sz="6000" spc="-5" dirty="0">
                <a:latin typeface="Arial Black" panose="020B0A04020102020204"/>
                <a:cs typeface="Arial Black" panose="020B0A04020102020204"/>
              </a:rPr>
              <a:t>INTRODUCTION TO  THE MODULE AND THE  BI</a:t>
            </a:r>
            <a:r>
              <a:rPr lang="en-GB" sz="6000" dirty="0">
                <a:latin typeface="Arial Black" panose="020B0A04020102020204"/>
                <a:cs typeface="Arial Black" panose="020B0A04020102020204"/>
              </a:rPr>
              <a:t>O</a:t>
            </a:r>
            <a:r>
              <a:rPr lang="en-GB" sz="6000" spc="-5" dirty="0">
                <a:latin typeface="Arial Black" panose="020B0A04020102020204"/>
                <a:cs typeface="Arial Black" panose="020B0A04020102020204"/>
              </a:rPr>
              <a:t>PSYC</a:t>
            </a:r>
            <a:r>
              <a:rPr lang="en-GB" sz="6000" dirty="0">
                <a:latin typeface="Arial Black" panose="020B0A04020102020204"/>
                <a:cs typeface="Arial Black" panose="020B0A04020102020204"/>
              </a:rPr>
              <a:t>HO</a:t>
            </a:r>
            <a:r>
              <a:rPr lang="en-GB" sz="6000" spc="-5" dirty="0">
                <a:latin typeface="Arial Black" panose="020B0A04020102020204"/>
                <a:cs typeface="Arial Black" panose="020B0A04020102020204"/>
              </a:rPr>
              <a:t>S</a:t>
            </a:r>
            <a:r>
              <a:rPr lang="en-GB" sz="6000" dirty="0">
                <a:latin typeface="Arial Black" panose="020B0A04020102020204"/>
                <a:cs typeface="Arial Black" panose="020B0A04020102020204"/>
              </a:rPr>
              <a:t>O</a:t>
            </a:r>
            <a:r>
              <a:rPr lang="en-GB" sz="6000" spc="-5" dirty="0">
                <a:latin typeface="Arial Black" panose="020B0A04020102020204"/>
                <a:cs typeface="Arial Black" panose="020B0A04020102020204"/>
              </a:rPr>
              <a:t>CIAL  MODEL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EEA93-C0C2-F0CA-7994-52BA175938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Ngozi Onuegbu PhD</a:t>
            </a:r>
          </a:p>
          <a:p>
            <a:r>
              <a:rPr lang="en-GB" dirty="0"/>
              <a:t>Module Lead: PT7001; PT4050</a:t>
            </a:r>
          </a:p>
        </p:txBody>
      </p:sp>
    </p:spTree>
    <p:extLst>
      <p:ext uri="{BB962C8B-B14F-4D97-AF65-F5344CB8AC3E}">
        <p14:creationId xmlns:p14="http://schemas.microsoft.com/office/powerpoint/2010/main" val="3019767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57F15-D15A-1027-91C0-5D5ECF94C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kern="1200" spc="-3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Applied </a:t>
            </a:r>
            <a:r>
              <a:rPr lang="en-GB" sz="4400" kern="1200" spc="-6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Sciences </a:t>
            </a:r>
            <a:r>
              <a:rPr lang="en-GB" sz="4400" kern="1200" spc="-16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for </a:t>
            </a:r>
            <a:r>
              <a:rPr lang="en-GB" sz="4400" kern="1200" spc="-13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Physiotherapy </a:t>
            </a:r>
            <a:r>
              <a:rPr lang="en-GB" sz="4400" kern="1200" spc="-6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Practice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2449B-B850-8BB2-1B8F-3227B7069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9720" indent="-288290" defTabSz="575945">
              <a:buFont typeface="Arial" panose="020B0604020202020204"/>
              <a:buChar char="•"/>
              <a:tabLst>
                <a:tab pos="299085" algn="l"/>
                <a:tab pos="299720" algn="l"/>
              </a:tabLst>
            </a:pPr>
            <a:r>
              <a:rPr lang="en-GB" sz="2800" kern="1200" spc="-6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Module </a:t>
            </a:r>
            <a:r>
              <a:rPr lang="en-GB" sz="2800" kern="1200" spc="-13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contents </a:t>
            </a:r>
            <a:r>
              <a:rPr lang="en-GB" sz="2800" kern="1200" spc="-3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– aims and</a:t>
            </a:r>
            <a:r>
              <a:rPr lang="en-GB" sz="2800" kern="1200" spc="63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 </a:t>
            </a:r>
            <a:r>
              <a:rPr lang="en-GB" sz="2800" kern="1200" spc="-6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objectives</a:t>
            </a:r>
            <a:endParaRPr lang="en-GB" sz="2800" kern="1200" dirty="0">
              <a:solidFill>
                <a:schemeClr val="tx1"/>
              </a:solidFill>
              <a:latin typeface="Calibri" panose="020F0502020204030204"/>
              <a:ea typeface="+mn-ea"/>
              <a:cs typeface="Calibri" panose="020F0502020204030204"/>
            </a:endParaRPr>
          </a:p>
          <a:p>
            <a:pPr marL="299720" indent="-288290" defTabSz="575945">
              <a:buFont typeface="Arial" panose="020B0604020202020204"/>
              <a:buChar char="•"/>
              <a:tabLst>
                <a:tab pos="299085" algn="l"/>
                <a:tab pos="299720" algn="l"/>
              </a:tabLst>
            </a:pPr>
            <a:r>
              <a:rPr lang="en-GB" sz="2800" kern="1200" spc="-3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Module </a:t>
            </a:r>
            <a:r>
              <a:rPr lang="en-GB" sz="2800" kern="1200" spc="-6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delivery: </a:t>
            </a:r>
            <a:r>
              <a:rPr lang="en-GB" spc="-9" dirty="0">
                <a:latin typeface="Calibri" panose="020F0502020204030204"/>
                <a:cs typeface="Calibri" panose="020F0502020204030204"/>
              </a:rPr>
              <a:t>H</a:t>
            </a:r>
            <a:r>
              <a:rPr lang="en-GB" sz="2800" kern="1200" spc="-9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ow </a:t>
            </a:r>
            <a:r>
              <a:rPr lang="en-GB" sz="2800" kern="1200" spc="-3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will the </a:t>
            </a:r>
            <a:r>
              <a:rPr lang="en-GB" sz="2800" kern="1200" spc="-13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course </a:t>
            </a:r>
            <a:r>
              <a:rPr lang="en-GB" sz="2800" kern="1200" spc="-3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be</a:t>
            </a:r>
            <a:r>
              <a:rPr lang="en-GB" sz="2800" kern="1200" spc="69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 </a:t>
            </a:r>
            <a:r>
              <a:rPr lang="en-GB" sz="2800" kern="1200" spc="-9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delivered?</a:t>
            </a:r>
            <a:endParaRPr lang="en-GB" sz="2800" kern="1200" dirty="0">
              <a:solidFill>
                <a:schemeClr val="tx1"/>
              </a:solidFill>
              <a:latin typeface="Calibri" panose="020F0502020204030204"/>
              <a:ea typeface="+mn-ea"/>
              <a:cs typeface="Calibri" panose="020F0502020204030204"/>
            </a:endParaRPr>
          </a:p>
          <a:p>
            <a:pPr marL="299720" indent="-288290" defTabSz="575945">
              <a:buFont typeface="Arial" panose="020B0604020202020204"/>
              <a:buChar char="•"/>
              <a:tabLst>
                <a:tab pos="299085" algn="l"/>
                <a:tab pos="299720" algn="l"/>
              </a:tabLst>
            </a:pPr>
            <a:r>
              <a:rPr lang="en-GB" sz="2800" kern="1200" spc="-3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Module assessment: </a:t>
            </a:r>
            <a:r>
              <a:rPr lang="en-GB" spc="-9" dirty="0">
                <a:latin typeface="Calibri" panose="020F0502020204030204"/>
                <a:cs typeface="Calibri" panose="020F0502020204030204"/>
              </a:rPr>
              <a:t>H</a:t>
            </a:r>
            <a:r>
              <a:rPr lang="en-GB" sz="2800" kern="1200" spc="-9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ow </a:t>
            </a:r>
            <a:r>
              <a:rPr lang="en-GB" sz="2800" kern="1200" spc="-3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will </a:t>
            </a:r>
            <a:r>
              <a:rPr lang="en-GB" sz="2800" kern="1200" spc="-13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you </a:t>
            </a:r>
            <a:r>
              <a:rPr lang="en-GB" sz="2800" kern="1200" spc="-3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be</a:t>
            </a:r>
            <a:r>
              <a:rPr lang="en-GB" sz="2800" kern="1200" spc="69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 </a:t>
            </a:r>
            <a:r>
              <a:rPr lang="en-GB" sz="2800" kern="1200" spc="-3" dirty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rPr>
              <a:t>assessed?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864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61057-926B-AC81-0219-F74EE7682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272" y="365126"/>
            <a:ext cx="10865528" cy="315912"/>
          </a:xfrm>
        </p:spPr>
        <p:txBody>
          <a:bodyPr>
            <a:normAutofit fontScale="90000"/>
          </a:bodyPr>
          <a:lstStyle/>
          <a:p>
            <a:r>
              <a:rPr lang="en-GB" dirty="0"/>
              <a:t>Module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31CA8-6DA9-5B6E-CA0A-FF0DFE240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474" y="905522"/>
            <a:ext cx="11025326" cy="5271441"/>
          </a:xfrm>
        </p:spPr>
        <p:txBody>
          <a:bodyPr>
            <a:normAutofit fontScale="85000" lnSpcReduction="10000"/>
          </a:bodyPr>
          <a:lstStyle/>
          <a:p>
            <a:r>
              <a:rPr lang="en-GB" dirty="0">
                <a:solidFill>
                  <a:srgbClr val="444444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A</a:t>
            </a:r>
            <a:r>
              <a:rPr lang="en-GB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natomy </a:t>
            </a:r>
          </a:p>
          <a:p>
            <a:pPr lvl="1"/>
            <a:r>
              <a:rPr lang="en-GB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Central nervous system (CNS) functional anatomy (cortex, cerebral blood flow, brainstem &amp; cranial nerves, ascending &amp; descending systems, basal ganglia, cerebellum), Peripheral nervous system structure and function (somatic and autonomic).</a:t>
            </a:r>
          </a:p>
          <a:p>
            <a:pPr lvl="1"/>
            <a:r>
              <a:rPr lang="en-GB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Musculoskeletal anatomy: upper &amp; lower quadrants – joints and musculature</a:t>
            </a:r>
          </a:p>
          <a:p>
            <a:pPr lvl="1"/>
            <a:r>
              <a:rPr lang="en-GB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Cardiorespiratory anatomy: thoracic cage, respiratory muscles, lungs and pleura, heart, and coverings.</a:t>
            </a:r>
          </a:p>
          <a:p>
            <a:pPr lvl="1"/>
            <a:endParaRPr lang="en-GB" b="0" i="0" dirty="0">
              <a:solidFill>
                <a:srgbClr val="444444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GB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Physiology</a:t>
            </a:r>
            <a:r>
              <a:rPr lang="en-GB" dirty="0">
                <a:solidFill>
                  <a:srgbClr val="444444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:</a:t>
            </a:r>
          </a:p>
          <a:p>
            <a:pPr lvl="1"/>
            <a:r>
              <a:rPr lang="en-GB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Human movement, motor control and motor learning; muscle physiology (skeletal and smooth muscle), biomechanical principles of human movement; exercise physiology; lung biomechanics, function, carriage of oxygen, gas exchange, respiratory drive</a:t>
            </a:r>
            <a:r>
              <a:rPr lang="en-GB" dirty="0">
                <a:solidFill>
                  <a:srgbClr val="444444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</a:p>
          <a:p>
            <a:r>
              <a:rPr lang="en-GB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Psychological and Social aspects of human sciences to deal with issues affecting health and wellbeing, within a biopsychosocial context</a:t>
            </a:r>
          </a:p>
          <a:p>
            <a:endParaRPr lang="en-GB" b="0" i="0" dirty="0">
              <a:solidFill>
                <a:srgbClr val="444444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GB" dirty="0">
                <a:solidFill>
                  <a:srgbClr val="444444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Pathology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8827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4E745-6F2B-AABF-6E2D-F8FB38BE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E74C7-4664-9EA9-5027-0B4D1F31A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Develop a systematic understanding of biological and biomechanical sciences that underpin health and well-being in individuals and populations. 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161719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Gain a detailed understanding of human tissue at the cellular and tissue level, encompassing their structure, function, and organization. </a:t>
            </a:r>
            <a:endParaRPr lang="en-GB" sz="1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Demonstrate an understanding of biological and biomechanical knowledge to interpret the signs and symptoms seen in individuals affected by dysfunction in contemporary practice. 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Explore scientific concepts on how common problems may affect human function using the biopsychosocial model.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9455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AC2C0-40F4-A893-3325-52BBEA24D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will the Module be delivered?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E66B0-7BE0-C101-A68A-E2C97C3C8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415" marR="1012825">
              <a:lnSpc>
                <a:spcPct val="100000"/>
              </a:lnSpc>
            </a:pPr>
            <a:r>
              <a:rPr lang="en-GB" sz="2800" spc="-5" dirty="0">
                <a:latin typeface="Calibri" panose="020F0502020204030204"/>
                <a:cs typeface="Calibri" panose="020F0502020204030204"/>
              </a:rPr>
              <a:t>The module will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run </a:t>
            </a:r>
            <a:r>
              <a:rPr lang="en-GB" sz="2800" spc="-25" dirty="0">
                <a:latin typeface="Calibri" panose="020F0502020204030204"/>
                <a:cs typeface="Calibri" panose="020F0502020204030204"/>
              </a:rPr>
              <a:t>for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the whole of </a:t>
            </a:r>
            <a:r>
              <a:rPr lang="en-GB" sz="2800" spc="-15" dirty="0">
                <a:latin typeface="Calibri" panose="020F0502020204030204"/>
                <a:cs typeface="Calibri" panose="020F0502020204030204"/>
              </a:rPr>
              <a:t>your </a:t>
            </a:r>
            <a:r>
              <a:rPr lang="en-GB" sz="2800" spc="-25" dirty="0">
                <a:latin typeface="Calibri" panose="020F0502020204030204"/>
                <a:cs typeface="Calibri" panose="020F0502020204030204"/>
              </a:rPr>
              <a:t>first 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academic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800" spc="-70" dirty="0">
                <a:latin typeface="Calibri" panose="020F0502020204030204"/>
                <a:cs typeface="Calibri" panose="020F0502020204030204"/>
              </a:rPr>
              <a:t>year:</a:t>
            </a:r>
          </a:p>
          <a:p>
            <a:pPr marL="475615" marR="1012825" lvl="1">
              <a:lnSpc>
                <a:spcPct val="100000"/>
              </a:lnSpc>
            </a:pPr>
            <a:r>
              <a:rPr lang="en-GB" spc="-70" dirty="0">
                <a:latin typeface="Calibri" panose="020F0502020204030204"/>
                <a:cs typeface="Calibri" panose="020F0502020204030204"/>
              </a:rPr>
              <a:t>MSc: PT7001: Year Long</a:t>
            </a:r>
          </a:p>
          <a:p>
            <a:pPr marL="475615" marR="1012825" lvl="1">
              <a:lnSpc>
                <a:spcPct val="100000"/>
              </a:lnSpc>
            </a:pPr>
            <a:r>
              <a:rPr lang="en-GB" spc="-70" dirty="0">
                <a:latin typeface="Calibri" panose="020F0502020204030204"/>
                <a:cs typeface="Calibri" panose="020F0502020204030204"/>
              </a:rPr>
              <a:t>BSc: PT4050 (Autumn) and PT4054 (Spring)</a:t>
            </a:r>
            <a:endParaRPr lang="en-GB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GB" sz="2900" dirty="0">
              <a:latin typeface="Times New Roman" panose="02020603050405020304"/>
              <a:cs typeface="Times New Roman" panose="02020603050405020304"/>
            </a:endParaRPr>
          </a:p>
          <a:p>
            <a:pPr marL="18415" marR="467995">
              <a:lnSpc>
                <a:spcPct val="100000"/>
              </a:lnSpc>
            </a:pPr>
            <a:r>
              <a:rPr lang="en-GB" sz="2800" spc="-15" dirty="0">
                <a:latin typeface="Calibri" panose="020F0502020204030204"/>
                <a:cs typeface="Calibri" panose="020F0502020204030204"/>
              </a:rPr>
              <a:t>Modes of learning:</a:t>
            </a:r>
          </a:p>
          <a:p>
            <a:pPr marL="475615" marR="467995" lvl="1">
              <a:lnSpc>
                <a:spcPct val="100000"/>
              </a:lnSpc>
            </a:pPr>
            <a:r>
              <a:rPr lang="en-GB" spc="-10" dirty="0">
                <a:latin typeface="Calibri" panose="020F0502020204030204"/>
                <a:cs typeface="Calibri" panose="020F0502020204030204"/>
              </a:rPr>
              <a:t>lectures, </a:t>
            </a:r>
            <a:r>
              <a:rPr lang="en-GB" spc="-15" dirty="0">
                <a:latin typeface="Calibri" panose="020F0502020204030204"/>
                <a:cs typeface="Calibri" panose="020F0502020204030204"/>
              </a:rPr>
              <a:t>seminars, group </a:t>
            </a:r>
            <a:r>
              <a:rPr lang="en-GB" spc="-50" dirty="0">
                <a:latin typeface="Calibri" panose="020F0502020204030204"/>
                <a:cs typeface="Calibri" panose="020F0502020204030204"/>
              </a:rPr>
              <a:t>study, </a:t>
            </a:r>
            <a:r>
              <a:rPr lang="en-GB" spc="-5" dirty="0">
                <a:latin typeface="Calibri" panose="020F0502020204030204"/>
                <a:cs typeface="Calibri" panose="020F0502020204030204"/>
              </a:rPr>
              <a:t>self- </a:t>
            </a:r>
            <a:r>
              <a:rPr lang="en-GB" spc="-15" dirty="0">
                <a:latin typeface="Calibri" panose="020F0502020204030204"/>
                <a:cs typeface="Calibri" panose="020F0502020204030204"/>
              </a:rPr>
              <a:t>directed</a:t>
            </a:r>
            <a:r>
              <a:rPr lang="en-GB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pc="-5" dirty="0">
                <a:latin typeface="Calibri" panose="020F0502020204030204"/>
                <a:cs typeface="Calibri" panose="020F0502020204030204"/>
              </a:rPr>
              <a:t>learning.</a:t>
            </a:r>
            <a:endParaRPr lang="en-GB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en-GB" sz="2900" dirty="0">
              <a:latin typeface="Times New Roman" panose="02020603050405020304"/>
              <a:cs typeface="Times New Roman" panose="02020603050405020304"/>
            </a:endParaRPr>
          </a:p>
          <a:p>
            <a:pPr marL="18415" marR="5080">
              <a:lnSpc>
                <a:spcPct val="100000"/>
              </a:lnSpc>
            </a:pPr>
            <a:r>
              <a:rPr lang="en-GB" sz="2800" spc="-15" dirty="0">
                <a:latin typeface="Calibri" panose="020F0502020204030204"/>
                <a:cs typeface="Calibri" panose="020F0502020204030204"/>
              </a:rPr>
              <a:t>Read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the </a:t>
            </a:r>
            <a:r>
              <a:rPr lang="en-GB" sz="2800" spc="-5" dirty="0">
                <a:highlight>
                  <a:srgbClr val="FFFF00"/>
                </a:highlight>
                <a:latin typeface="Calibri" panose="020F0502020204030204"/>
                <a:cs typeface="Calibri" panose="020F0502020204030204"/>
              </a:rPr>
              <a:t>module specifications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it has all the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full </a:t>
            </a:r>
            <a:r>
              <a:rPr lang="en-GB" sz="2800" spc="-20" dirty="0">
                <a:latin typeface="Calibri" panose="020F0502020204030204"/>
                <a:cs typeface="Calibri" panose="020F0502020204030204"/>
              </a:rPr>
              <a:t>content 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and </a:t>
            </a:r>
            <a:r>
              <a:rPr lang="en-GB" sz="2800" spc="-15" dirty="0">
                <a:latin typeface="Calibri" panose="020F0502020204030204"/>
                <a:cs typeface="Calibri" panose="020F0502020204030204"/>
              </a:rPr>
              <a:t>structure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of the</a:t>
            </a:r>
            <a:r>
              <a:rPr lang="en-GB" sz="280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module.</a:t>
            </a:r>
            <a:endParaRPr lang="en-GB" sz="2800" dirty="0">
              <a:latin typeface="Calibri" panose="020F0502020204030204"/>
              <a:cs typeface="Calibri" panose="020F0502020204030204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7509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C0A1-A422-42D4-BCA1-E729B0A6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will you be assessed?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56C8E-5FAA-C5DD-4523-D3EFB678E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MSc: Formative and Summative Assessments</a:t>
            </a:r>
          </a:p>
          <a:p>
            <a:pPr lvl="1"/>
            <a:r>
              <a:rPr lang="en-GB" dirty="0"/>
              <a:t>Biopsychosocial essays and Written exams</a:t>
            </a:r>
          </a:p>
          <a:p>
            <a:r>
              <a:rPr lang="en-GB" dirty="0"/>
              <a:t>BSc: In course, written exams, attendance</a:t>
            </a:r>
          </a:p>
          <a:p>
            <a:endParaRPr lang="en-GB" dirty="0"/>
          </a:p>
          <a:p>
            <a:r>
              <a:rPr lang="en-GB" sz="2800" i="1" spc="-15" dirty="0">
                <a:latin typeface="Calibri" panose="020F0502020204030204"/>
                <a:cs typeface="Calibri" panose="020F0502020204030204"/>
              </a:rPr>
              <a:t>Read </a:t>
            </a:r>
            <a:r>
              <a:rPr lang="en-GB" sz="2800" i="1" spc="-5" dirty="0">
                <a:latin typeface="Calibri" panose="020F0502020204030204"/>
                <a:cs typeface="Calibri" panose="020F0502020204030204"/>
              </a:rPr>
              <a:t>the </a:t>
            </a:r>
            <a:r>
              <a:rPr lang="en-GB" sz="2800" i="1" spc="-5" dirty="0">
                <a:highlight>
                  <a:srgbClr val="FFFF00"/>
                </a:highlight>
                <a:latin typeface="Calibri" panose="020F0502020204030204"/>
                <a:cs typeface="Calibri" panose="020F0502020204030204"/>
              </a:rPr>
              <a:t>module specifications </a:t>
            </a:r>
            <a:r>
              <a:rPr lang="en-GB" sz="2800" i="1" spc="-5" dirty="0">
                <a:latin typeface="Calibri" panose="020F0502020204030204"/>
                <a:cs typeface="Calibri" panose="020F0502020204030204"/>
              </a:rPr>
              <a:t>it has all the </a:t>
            </a:r>
            <a:r>
              <a:rPr lang="en-GB" sz="2800" i="1" spc="-10" dirty="0">
                <a:latin typeface="Calibri" panose="020F0502020204030204"/>
                <a:cs typeface="Calibri" panose="020F0502020204030204"/>
              </a:rPr>
              <a:t>full </a:t>
            </a:r>
            <a:r>
              <a:rPr lang="en-GB" sz="2800" i="1" spc="-20" dirty="0">
                <a:latin typeface="Calibri" panose="020F0502020204030204"/>
                <a:cs typeface="Calibri" panose="020F0502020204030204"/>
              </a:rPr>
              <a:t>content  </a:t>
            </a:r>
            <a:r>
              <a:rPr lang="en-GB" sz="2800" i="1" spc="-5" dirty="0">
                <a:latin typeface="Calibri" panose="020F0502020204030204"/>
                <a:cs typeface="Calibri" panose="020F0502020204030204"/>
              </a:rPr>
              <a:t>and </a:t>
            </a:r>
            <a:r>
              <a:rPr lang="en-GB" sz="2800" i="1" spc="-15" dirty="0">
                <a:latin typeface="Calibri" panose="020F0502020204030204"/>
                <a:cs typeface="Calibri" panose="020F0502020204030204"/>
              </a:rPr>
              <a:t>structure </a:t>
            </a:r>
            <a:r>
              <a:rPr lang="en-GB" sz="2800" i="1" spc="-5" dirty="0">
                <a:latin typeface="Calibri" panose="020F0502020204030204"/>
                <a:cs typeface="Calibri" panose="020F0502020204030204"/>
              </a:rPr>
              <a:t>of the</a:t>
            </a:r>
            <a:r>
              <a:rPr lang="en-GB" sz="2800" i="1" spc="6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800" i="1" spc="-5" dirty="0">
                <a:latin typeface="Calibri" panose="020F0502020204030204"/>
                <a:cs typeface="Calibri" panose="020F0502020204030204"/>
              </a:rPr>
              <a:t>module.</a:t>
            </a:r>
            <a:endParaRPr lang="en-GB" sz="2800" i="1" dirty="0">
              <a:latin typeface="Calibri" panose="020F0502020204030204"/>
              <a:cs typeface="Calibri" panose="020F0502020204030204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0056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62426-C0AD-069E-1882-BA5F736BC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Important Study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66A3B-77BD-C75C-EB6D-9DC619231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Self-directed learning</a:t>
            </a:r>
          </a:p>
          <a:p>
            <a:r>
              <a:rPr lang="en-GB" dirty="0"/>
              <a:t>Group discussions</a:t>
            </a:r>
          </a:p>
          <a:p>
            <a:r>
              <a:rPr lang="en-GB" dirty="0"/>
              <a:t>Personal learning strategies</a:t>
            </a:r>
          </a:p>
          <a:p>
            <a:r>
              <a:rPr lang="en-GB" dirty="0">
                <a:highlight>
                  <a:srgbClr val="FFFF00"/>
                </a:highlight>
              </a:rPr>
              <a:t>Optimise!!!!</a:t>
            </a:r>
          </a:p>
        </p:txBody>
      </p:sp>
    </p:spTree>
    <p:extLst>
      <p:ext uri="{BB962C8B-B14F-4D97-AF65-F5344CB8AC3E}">
        <p14:creationId xmlns:p14="http://schemas.microsoft.com/office/powerpoint/2010/main" val="674016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08317-EEDF-75F7-6CE0-1E3751288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Biopsychosocial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9ADBD-35B0-437B-9909-58457A203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i="1" dirty="0">
                <a:solidFill>
                  <a:srgbClr val="7030A0"/>
                </a:solidFill>
              </a:rPr>
              <a:t>What do you know or understand of the term: Biopsychosocial?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i="1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i="1" dirty="0">
                <a:solidFill>
                  <a:srgbClr val="7030A0"/>
                </a:solidFill>
              </a:rPr>
              <a:t>Have you utilized it in your practice before? How?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i="1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i="1" dirty="0">
                <a:solidFill>
                  <a:srgbClr val="7030A0"/>
                </a:solidFill>
              </a:rPr>
              <a:t>Are there any hindrances from applying it to your practice?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9909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1905" y="582548"/>
            <a:ext cx="762635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Applied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Sciences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for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Physiotherapy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Practice</a:t>
            </a:r>
            <a:r>
              <a:rPr sz="280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(PT7001)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53400" y="2781300"/>
            <a:ext cx="4038600" cy="4076700"/>
          </a:xfrm>
          <a:custGeom>
            <a:avLst/>
            <a:gdLst/>
            <a:ahLst/>
            <a:cxnLst/>
            <a:rect l="l" t="t" r="r" b="b"/>
            <a:pathLst>
              <a:path w="4038600" h="4076700">
                <a:moveTo>
                  <a:pt x="0" y="4076700"/>
                </a:moveTo>
                <a:lnTo>
                  <a:pt x="4038600" y="4076700"/>
                </a:lnTo>
                <a:lnTo>
                  <a:pt x="4038600" y="0"/>
                </a:lnTo>
                <a:lnTo>
                  <a:pt x="0" y="0"/>
                </a:lnTo>
                <a:lnTo>
                  <a:pt x="0" y="407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24200" y="381000"/>
            <a:ext cx="7962900" cy="609600"/>
          </a:xfrm>
          <a:custGeom>
            <a:avLst/>
            <a:gdLst/>
            <a:ahLst/>
            <a:cxnLst/>
            <a:rect l="l" t="t" r="r" b="b"/>
            <a:pathLst>
              <a:path w="7962900" h="609600">
                <a:moveTo>
                  <a:pt x="0" y="609600"/>
                </a:moveTo>
                <a:lnTo>
                  <a:pt x="7962900" y="609600"/>
                </a:lnTo>
                <a:lnTo>
                  <a:pt x="79629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203194" y="403606"/>
            <a:ext cx="37680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Biopsychosocial</a:t>
            </a:r>
            <a:r>
              <a:rPr sz="3200" spc="-30" dirty="0"/>
              <a:t> </a:t>
            </a:r>
            <a:r>
              <a:rPr sz="3200" dirty="0"/>
              <a:t>model</a:t>
            </a:r>
            <a:endParaRPr sz="3200"/>
          </a:p>
        </p:txBody>
      </p:sp>
      <p:sp>
        <p:nvSpPr>
          <p:cNvPr id="12" name="object 12"/>
          <p:cNvSpPr txBox="1"/>
          <p:nvPr/>
        </p:nvSpPr>
        <p:spPr>
          <a:xfrm>
            <a:off x="3603497" y="5547461"/>
            <a:ext cx="40906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 panose="020F0502020204030204"/>
                <a:cs typeface="Calibri" panose="020F0502020204030204"/>
              </a:rPr>
              <a:t>George Engel, </a:t>
            </a:r>
            <a:r>
              <a:rPr sz="2400" b="1" spc="-20" dirty="0">
                <a:latin typeface="Calibri" panose="020F0502020204030204"/>
                <a:cs typeface="Calibri" panose="020F0502020204030204"/>
              </a:rPr>
              <a:t>M.D. </a:t>
            </a:r>
            <a:r>
              <a:rPr sz="2400" b="1" spc="-5" dirty="0">
                <a:latin typeface="Calibri" panose="020F0502020204030204"/>
                <a:cs typeface="Calibri" panose="020F0502020204030204"/>
              </a:rPr>
              <a:t>(1913–1999)  </a:t>
            </a:r>
            <a:r>
              <a:rPr sz="2400" b="1" spc="-15" dirty="0">
                <a:latin typeface="Calibri" panose="020F0502020204030204"/>
                <a:cs typeface="Calibri" panose="020F0502020204030204"/>
              </a:rPr>
              <a:t>Psychiatrist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11082" y="1491742"/>
            <a:ext cx="2815590" cy="2586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874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Engel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G. The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need 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for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new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medical 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model: a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challenge 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for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biomedicine.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Science.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1977;</a:t>
            </a:r>
            <a:r>
              <a:rPr sz="2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196: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129–136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9329" y="1491742"/>
            <a:ext cx="3124200" cy="38315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153400" y="2781300"/>
            <a:ext cx="4038600" cy="4076700"/>
          </a:xfrm>
          <a:custGeom>
            <a:avLst/>
            <a:gdLst/>
            <a:ahLst/>
            <a:cxnLst/>
            <a:rect l="l" t="t" r="r" b="b"/>
            <a:pathLst>
              <a:path w="4038600" h="4076700">
                <a:moveTo>
                  <a:pt x="0" y="4076700"/>
                </a:moveTo>
                <a:lnTo>
                  <a:pt x="4038600" y="4076700"/>
                </a:lnTo>
                <a:lnTo>
                  <a:pt x="4038600" y="0"/>
                </a:lnTo>
                <a:lnTo>
                  <a:pt x="0" y="0"/>
                </a:lnTo>
                <a:lnTo>
                  <a:pt x="0" y="407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77376" y="481074"/>
            <a:ext cx="8873580" cy="383630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350" dirty="0">
              <a:latin typeface="Times New Roman" panose="02020603050405020304"/>
              <a:cs typeface="Times New Roman" panose="02020603050405020304"/>
            </a:endParaRPr>
          </a:p>
          <a:p>
            <a:pPr marL="18415">
              <a:lnSpc>
                <a:spcPct val="100000"/>
              </a:lnSpc>
              <a:spcBef>
                <a:spcPts val="5"/>
              </a:spcBef>
            </a:pPr>
            <a:r>
              <a:rPr lang="en-GB" sz="2800" spc="-5" dirty="0">
                <a:latin typeface="Calibri" panose="020F0502020204030204"/>
                <a:cs typeface="Calibri" panose="020F0502020204030204"/>
              </a:rPr>
              <a:t>Old model:</a:t>
            </a:r>
            <a:endParaRPr sz="280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 dirty="0">
              <a:latin typeface="Times New Roman" panose="02020603050405020304"/>
              <a:cs typeface="Times New Roman" panose="02020603050405020304"/>
            </a:endParaRPr>
          </a:p>
          <a:p>
            <a:pPr marL="475615" indent="-457835">
              <a:lnSpc>
                <a:spcPct val="100000"/>
              </a:lnSpc>
              <a:buChar char="-"/>
              <a:tabLst>
                <a:tab pos="475615" algn="l"/>
                <a:tab pos="476250" algn="l"/>
              </a:tabLst>
            </a:pPr>
            <a:r>
              <a:rPr lang="en-GB" sz="2800" spc="-20" dirty="0">
                <a:latin typeface="Calibri" panose="020F0502020204030204"/>
                <a:cs typeface="Calibri" panose="020F0502020204030204"/>
              </a:rPr>
              <a:t>Medical/Biomedical</a:t>
            </a:r>
          </a:p>
          <a:p>
            <a:pPr marL="475615" indent="-457835">
              <a:lnSpc>
                <a:spcPct val="100000"/>
              </a:lnSpc>
              <a:buChar char="-"/>
              <a:tabLst>
                <a:tab pos="475615" algn="l"/>
                <a:tab pos="476250" algn="l"/>
              </a:tabLst>
            </a:pPr>
            <a:endParaRPr lang="en-GB" sz="2800" spc="-20" dirty="0">
              <a:latin typeface="Calibri" panose="020F0502020204030204"/>
              <a:cs typeface="Calibri" panose="020F0502020204030204"/>
            </a:endParaRPr>
          </a:p>
          <a:p>
            <a:pPr marL="475615" indent="-457835">
              <a:lnSpc>
                <a:spcPct val="100000"/>
              </a:lnSpc>
              <a:buChar char="-"/>
              <a:tabLst>
                <a:tab pos="475615" algn="l"/>
                <a:tab pos="476250" algn="l"/>
              </a:tabLst>
            </a:pPr>
            <a:r>
              <a:rPr lang="en-GB" sz="2800" spc="-20" dirty="0">
                <a:latin typeface="Calibri" panose="020F0502020204030204"/>
                <a:cs typeface="Calibri" panose="020F0502020204030204"/>
              </a:rPr>
              <a:t>Engel’s query:</a:t>
            </a:r>
          </a:p>
          <a:p>
            <a:pPr marL="932815" lvl="1" indent="-457835">
              <a:buChar char="-"/>
              <a:tabLst>
                <a:tab pos="475615" algn="l"/>
                <a:tab pos="476250" algn="l"/>
              </a:tabLst>
            </a:pPr>
            <a:r>
              <a:rPr lang="en-GB" sz="2800" spc="-20" dirty="0">
                <a:latin typeface="Calibri" panose="020F0502020204030204"/>
                <a:cs typeface="Calibri" panose="020F0502020204030204"/>
              </a:rPr>
              <a:t>Dualistic</a:t>
            </a:r>
          </a:p>
          <a:p>
            <a:pPr marL="932815" lvl="1" indent="-457835">
              <a:buChar char="-"/>
              <a:tabLst>
                <a:tab pos="475615" algn="l"/>
                <a:tab pos="476250" algn="l"/>
              </a:tabLst>
            </a:pPr>
            <a:r>
              <a:rPr lang="en-GB" sz="2800" spc="-20" dirty="0">
                <a:latin typeface="Calibri" panose="020F0502020204030204"/>
                <a:cs typeface="Calibri" panose="020F0502020204030204"/>
              </a:rPr>
              <a:t>Reductionist</a:t>
            </a:r>
          </a:p>
          <a:p>
            <a:pPr marL="932815" lvl="1" indent="-457835">
              <a:buChar char="-"/>
              <a:tabLst>
                <a:tab pos="475615" algn="l"/>
                <a:tab pos="476250" algn="l"/>
              </a:tabLst>
            </a:pPr>
            <a:r>
              <a:rPr lang="en-GB" sz="2800" spc="-20" dirty="0">
                <a:latin typeface="Calibri" panose="020F0502020204030204"/>
                <a:cs typeface="Calibri" panose="020F0502020204030204"/>
              </a:rPr>
              <a:t>Exclusionist</a:t>
            </a:r>
            <a:endParaRPr sz="28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1905" y="582548"/>
            <a:ext cx="762635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Applied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Sciences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for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Physiotherapy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Practice</a:t>
            </a:r>
            <a:r>
              <a:rPr sz="280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(PT7001)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53400" y="2781300"/>
            <a:ext cx="4038600" cy="4076700"/>
          </a:xfrm>
          <a:custGeom>
            <a:avLst/>
            <a:gdLst/>
            <a:ahLst/>
            <a:cxnLst/>
            <a:rect l="l" t="t" r="r" b="b"/>
            <a:pathLst>
              <a:path w="4038600" h="4076700">
                <a:moveTo>
                  <a:pt x="0" y="4076700"/>
                </a:moveTo>
                <a:lnTo>
                  <a:pt x="4038600" y="4076700"/>
                </a:lnTo>
                <a:lnTo>
                  <a:pt x="4038600" y="0"/>
                </a:lnTo>
                <a:lnTo>
                  <a:pt x="0" y="0"/>
                </a:lnTo>
                <a:lnTo>
                  <a:pt x="0" y="407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24200" y="381000"/>
            <a:ext cx="7962900" cy="609600"/>
          </a:xfrm>
          <a:custGeom>
            <a:avLst/>
            <a:gdLst/>
            <a:ahLst/>
            <a:cxnLst/>
            <a:rect l="l" t="t" r="r" b="b"/>
            <a:pathLst>
              <a:path w="7962900" h="609600">
                <a:moveTo>
                  <a:pt x="0" y="609600"/>
                </a:moveTo>
                <a:lnTo>
                  <a:pt x="7962900" y="609600"/>
                </a:lnTo>
                <a:lnTo>
                  <a:pt x="79629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203194" y="403606"/>
            <a:ext cx="37680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Biopsychosocial</a:t>
            </a:r>
            <a:r>
              <a:rPr sz="3200" spc="-30" dirty="0"/>
              <a:t> </a:t>
            </a:r>
            <a:r>
              <a:rPr sz="3200" dirty="0"/>
              <a:t>model</a:t>
            </a:r>
            <a:endParaRPr sz="3200"/>
          </a:p>
        </p:txBody>
      </p:sp>
      <p:sp>
        <p:nvSpPr>
          <p:cNvPr id="11" name="object 11"/>
          <p:cNvSpPr txBox="1"/>
          <p:nvPr/>
        </p:nvSpPr>
        <p:spPr>
          <a:xfrm>
            <a:off x="2669794" y="1942287"/>
            <a:ext cx="4432300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 panose="020F0502020204030204"/>
                <a:cs typeface="Calibri" panose="020F0502020204030204"/>
              </a:rPr>
              <a:t>Mind-Body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Duality </a:t>
            </a:r>
            <a:r>
              <a:rPr sz="2000" dirty="0">
                <a:latin typeface="Calibri" panose="020F0502020204030204"/>
                <a:cs typeface="Calibri" panose="020F0502020204030204"/>
              </a:rPr>
              <a:t>-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The biomedical </a:t>
            </a:r>
            <a:r>
              <a:rPr sz="2000" dirty="0">
                <a:latin typeface="Calibri" panose="020F0502020204030204"/>
                <a:cs typeface="Calibri" panose="020F0502020204030204"/>
              </a:rPr>
              <a:t>model  lends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itself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000" dirty="0">
                <a:latin typeface="Calibri" panose="020F0502020204030204"/>
                <a:cs typeface="Calibri" panose="020F0502020204030204"/>
              </a:rPr>
              <a:t>a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dualistic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separation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of  mind </a:t>
            </a:r>
            <a:r>
              <a:rPr sz="2000" dirty="0">
                <a:latin typeface="Calibri" panose="020F0502020204030204"/>
                <a:cs typeface="Calibri" panose="020F0502020204030204"/>
              </a:rPr>
              <a:t>and body </a:t>
            </a:r>
            <a:r>
              <a:rPr sz="2000" i="1" spc="-5" dirty="0">
                <a:latin typeface="Calibri" panose="020F0502020204030204"/>
                <a:cs typeface="Calibri" panose="020F0502020204030204"/>
              </a:rPr>
              <a:t>(mind-body duality)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. </a:t>
            </a:r>
            <a:r>
              <a:rPr sz="2000" dirty="0">
                <a:latin typeface="Calibri" panose="020F0502020204030204"/>
                <a:cs typeface="Calibri" panose="020F0502020204030204"/>
              </a:rPr>
              <a:t>A 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greater focus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on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 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biological/biochemical causes </a:t>
            </a:r>
            <a:r>
              <a:rPr sz="2000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illness.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Reductionism </a:t>
            </a:r>
            <a:r>
              <a:rPr sz="2000" dirty="0">
                <a:latin typeface="Calibri" panose="020F0502020204030204"/>
                <a:cs typeface="Calibri" panose="020F0502020204030204"/>
              </a:rPr>
              <a:t>– </a:t>
            </a:r>
            <a:r>
              <a:rPr sz="2000" i="1" spc="-5" dirty="0">
                <a:latin typeface="Calibri" panose="020F0502020204030204"/>
                <a:cs typeface="Calibri" panose="020F0502020204030204"/>
              </a:rPr>
              <a:t>“the philosophic view</a:t>
            </a:r>
            <a:r>
              <a:rPr sz="2000" i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i="1" dirty="0">
                <a:latin typeface="Calibri" panose="020F0502020204030204"/>
                <a:cs typeface="Calibri" panose="020F0502020204030204"/>
              </a:rPr>
              <a:t>that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i="1" spc="-10" dirty="0">
                <a:latin typeface="Calibri" panose="020F0502020204030204"/>
                <a:cs typeface="Calibri" panose="020F0502020204030204"/>
              </a:rPr>
              <a:t>complex </a:t>
            </a:r>
            <a:r>
              <a:rPr sz="2000" i="1" spc="-5" dirty="0">
                <a:latin typeface="Calibri" panose="020F0502020204030204"/>
                <a:cs typeface="Calibri" panose="020F0502020204030204"/>
              </a:rPr>
              <a:t>phenomena are</a:t>
            </a:r>
            <a:r>
              <a:rPr sz="2000" i="1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i="1" spc="-5" dirty="0">
                <a:latin typeface="Calibri" panose="020F0502020204030204"/>
                <a:cs typeface="Calibri" panose="020F0502020204030204"/>
              </a:rPr>
              <a:t>ultimately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i="1" spc="-5" dirty="0">
                <a:latin typeface="Calibri" panose="020F0502020204030204"/>
                <a:cs typeface="Calibri" panose="020F0502020204030204"/>
              </a:rPr>
              <a:t>derived from </a:t>
            </a:r>
            <a:r>
              <a:rPr sz="2000" i="1" dirty="0">
                <a:latin typeface="Calibri" panose="020F0502020204030204"/>
                <a:cs typeface="Calibri" panose="020F0502020204030204"/>
              </a:rPr>
              <a:t>a </a:t>
            </a:r>
            <a:r>
              <a:rPr sz="2000" i="1" spc="-5" dirty="0">
                <a:latin typeface="Calibri" panose="020F0502020204030204"/>
                <a:cs typeface="Calibri" panose="020F0502020204030204"/>
              </a:rPr>
              <a:t>single primary</a:t>
            </a:r>
            <a:r>
              <a:rPr sz="2000" i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i="1" spc="-5" dirty="0">
                <a:latin typeface="Calibri" panose="020F0502020204030204"/>
                <a:cs typeface="Calibri" panose="020F0502020204030204"/>
              </a:rPr>
              <a:t>principle”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11539" y="4765363"/>
            <a:ext cx="58419" cy="46990"/>
          </a:xfrm>
          <a:custGeom>
            <a:avLst/>
            <a:gdLst/>
            <a:ahLst/>
            <a:cxnLst/>
            <a:rect l="l" t="t" r="r" b="b"/>
            <a:pathLst>
              <a:path w="58419" h="46989">
                <a:moveTo>
                  <a:pt x="14406" y="0"/>
                </a:moveTo>
                <a:lnTo>
                  <a:pt x="0" y="34771"/>
                </a:lnTo>
                <a:lnTo>
                  <a:pt x="29368" y="46936"/>
                </a:lnTo>
                <a:lnTo>
                  <a:pt x="58176" y="18129"/>
                </a:lnTo>
                <a:lnTo>
                  <a:pt x="144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34427" y="457408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4">
                <a:moveTo>
                  <a:pt x="37643" y="0"/>
                </a:moveTo>
                <a:lnTo>
                  <a:pt x="22990" y="2958"/>
                </a:lnTo>
                <a:lnTo>
                  <a:pt x="11025" y="11024"/>
                </a:lnTo>
                <a:lnTo>
                  <a:pt x="2958" y="22989"/>
                </a:lnTo>
                <a:lnTo>
                  <a:pt x="0" y="37641"/>
                </a:lnTo>
                <a:lnTo>
                  <a:pt x="1186" y="43517"/>
                </a:lnTo>
                <a:lnTo>
                  <a:pt x="43518" y="1186"/>
                </a:lnTo>
                <a:lnTo>
                  <a:pt x="376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34427" y="457408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4">
                <a:moveTo>
                  <a:pt x="37643" y="0"/>
                </a:moveTo>
                <a:lnTo>
                  <a:pt x="22990" y="2958"/>
                </a:lnTo>
                <a:lnTo>
                  <a:pt x="11025" y="11024"/>
                </a:lnTo>
                <a:lnTo>
                  <a:pt x="2958" y="22989"/>
                </a:lnTo>
                <a:lnTo>
                  <a:pt x="0" y="37641"/>
                </a:lnTo>
                <a:lnTo>
                  <a:pt x="1186" y="43517"/>
                </a:lnTo>
                <a:lnTo>
                  <a:pt x="43518" y="1186"/>
                </a:lnTo>
                <a:lnTo>
                  <a:pt x="376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92367" y="4246623"/>
            <a:ext cx="267335" cy="506730"/>
          </a:xfrm>
          <a:custGeom>
            <a:avLst/>
            <a:gdLst/>
            <a:ahLst/>
            <a:cxnLst/>
            <a:rect l="l" t="t" r="r" b="b"/>
            <a:pathLst>
              <a:path w="267335" h="506729">
                <a:moveTo>
                  <a:pt x="162763" y="40464"/>
                </a:moveTo>
                <a:lnTo>
                  <a:pt x="3720" y="423444"/>
                </a:lnTo>
                <a:lnTo>
                  <a:pt x="0" y="437942"/>
                </a:lnTo>
                <a:lnTo>
                  <a:pt x="73" y="452616"/>
                </a:lnTo>
                <a:lnTo>
                  <a:pt x="3852" y="466584"/>
                </a:lnTo>
                <a:lnTo>
                  <a:pt x="11248" y="478965"/>
                </a:lnTo>
                <a:lnTo>
                  <a:pt x="896" y="503432"/>
                </a:lnTo>
                <a:lnTo>
                  <a:pt x="7869" y="506348"/>
                </a:lnTo>
                <a:lnTo>
                  <a:pt x="127609" y="386611"/>
                </a:lnTo>
                <a:lnTo>
                  <a:pt x="123238" y="365099"/>
                </a:lnTo>
                <a:lnTo>
                  <a:pt x="127693" y="343176"/>
                </a:lnTo>
                <a:lnTo>
                  <a:pt x="139824" y="325223"/>
                </a:lnTo>
                <a:lnTo>
                  <a:pt x="157778" y="313092"/>
                </a:lnTo>
                <a:lnTo>
                  <a:pt x="179703" y="308637"/>
                </a:lnTo>
                <a:lnTo>
                  <a:pt x="205585" y="308637"/>
                </a:lnTo>
                <a:lnTo>
                  <a:pt x="222192" y="292030"/>
                </a:lnTo>
                <a:lnTo>
                  <a:pt x="190996" y="266290"/>
                </a:lnTo>
                <a:lnTo>
                  <a:pt x="267224" y="82787"/>
                </a:lnTo>
                <a:lnTo>
                  <a:pt x="240873" y="72460"/>
                </a:lnTo>
                <a:lnTo>
                  <a:pt x="249691" y="50816"/>
                </a:lnTo>
                <a:lnTo>
                  <a:pt x="189113" y="50816"/>
                </a:lnTo>
                <a:lnTo>
                  <a:pt x="162763" y="40464"/>
                </a:lnTo>
                <a:close/>
              </a:path>
              <a:path w="267335" h="506729">
                <a:moveTo>
                  <a:pt x="205585" y="308637"/>
                </a:moveTo>
                <a:lnTo>
                  <a:pt x="179703" y="308637"/>
                </a:lnTo>
                <a:lnTo>
                  <a:pt x="201214" y="313008"/>
                </a:lnTo>
                <a:lnTo>
                  <a:pt x="205585" y="308637"/>
                </a:lnTo>
                <a:close/>
              </a:path>
              <a:path w="267335" h="506729">
                <a:moveTo>
                  <a:pt x="209817" y="0"/>
                </a:moveTo>
                <a:lnTo>
                  <a:pt x="189113" y="50816"/>
                </a:lnTo>
                <a:lnTo>
                  <a:pt x="249691" y="50816"/>
                </a:lnTo>
                <a:lnTo>
                  <a:pt x="261577" y="21643"/>
                </a:lnTo>
                <a:lnTo>
                  <a:pt x="2098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56575" y="2252024"/>
            <a:ext cx="524510" cy="441959"/>
          </a:xfrm>
          <a:custGeom>
            <a:avLst/>
            <a:gdLst/>
            <a:ahLst/>
            <a:cxnLst/>
            <a:rect l="l" t="t" r="r" b="b"/>
            <a:pathLst>
              <a:path w="524510" h="441960">
                <a:moveTo>
                  <a:pt x="524011" y="384561"/>
                </a:moveTo>
                <a:lnTo>
                  <a:pt x="313233" y="384561"/>
                </a:lnTo>
                <a:lnTo>
                  <a:pt x="313233" y="441713"/>
                </a:lnTo>
                <a:lnTo>
                  <a:pt x="466857" y="441713"/>
                </a:lnTo>
                <a:lnTo>
                  <a:pt x="524011" y="384561"/>
                </a:lnTo>
                <a:close/>
              </a:path>
              <a:path w="524510" h="441960">
                <a:moveTo>
                  <a:pt x="456118" y="141669"/>
                </a:moveTo>
                <a:lnTo>
                  <a:pt x="398964" y="141669"/>
                </a:lnTo>
                <a:lnTo>
                  <a:pt x="398964" y="384561"/>
                </a:lnTo>
                <a:lnTo>
                  <a:pt x="456118" y="384561"/>
                </a:lnTo>
                <a:lnTo>
                  <a:pt x="456118" y="141669"/>
                </a:lnTo>
                <a:close/>
              </a:path>
              <a:path w="524510" h="441960">
                <a:moveTo>
                  <a:pt x="129851" y="0"/>
                </a:moveTo>
                <a:lnTo>
                  <a:pt x="84522" y="2422"/>
                </a:lnTo>
                <a:lnTo>
                  <a:pt x="43690" y="22245"/>
                </a:lnTo>
                <a:lnTo>
                  <a:pt x="14636" y="55047"/>
                </a:lnTo>
                <a:lnTo>
                  <a:pt x="0" y="96348"/>
                </a:lnTo>
                <a:lnTo>
                  <a:pt x="2422" y="141669"/>
                </a:lnTo>
                <a:lnTo>
                  <a:pt x="22247" y="182505"/>
                </a:lnTo>
                <a:lnTo>
                  <a:pt x="55050" y="211561"/>
                </a:lnTo>
                <a:lnTo>
                  <a:pt x="96353" y="226198"/>
                </a:lnTo>
                <a:lnTo>
                  <a:pt x="141676" y="223776"/>
                </a:lnTo>
                <a:lnTo>
                  <a:pt x="170031" y="212219"/>
                </a:lnTo>
                <a:lnTo>
                  <a:pt x="193930" y="193920"/>
                </a:lnTo>
                <a:lnTo>
                  <a:pt x="212229" y="170023"/>
                </a:lnTo>
                <a:lnTo>
                  <a:pt x="223787" y="141669"/>
                </a:lnTo>
                <a:lnTo>
                  <a:pt x="456118" y="141669"/>
                </a:lnTo>
                <a:lnTo>
                  <a:pt x="456118" y="84518"/>
                </a:lnTo>
                <a:lnTo>
                  <a:pt x="223787" y="84517"/>
                </a:lnTo>
                <a:lnTo>
                  <a:pt x="203962" y="43688"/>
                </a:lnTo>
                <a:lnTo>
                  <a:pt x="171157" y="14635"/>
                </a:lnTo>
                <a:lnTo>
                  <a:pt x="1298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69808" y="2779464"/>
            <a:ext cx="67945" cy="57150"/>
          </a:xfrm>
          <a:custGeom>
            <a:avLst/>
            <a:gdLst/>
            <a:ahLst/>
            <a:cxnLst/>
            <a:rect l="l" t="t" r="r" b="b"/>
            <a:pathLst>
              <a:path w="67944" h="57150">
                <a:moveTo>
                  <a:pt x="67893" y="0"/>
                </a:moveTo>
                <a:lnTo>
                  <a:pt x="0" y="0"/>
                </a:lnTo>
                <a:lnTo>
                  <a:pt x="0" y="57151"/>
                </a:lnTo>
                <a:lnTo>
                  <a:pt x="10739" y="57151"/>
                </a:lnTo>
                <a:lnTo>
                  <a:pt x="678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9205" y="481075"/>
            <a:ext cx="7651750" cy="430887"/>
          </a:xfrm>
        </p:spPr>
        <p:txBody>
          <a:bodyPr>
            <a:normAutofit fontScale="90000"/>
          </a:bodyPr>
          <a:lstStyle/>
          <a:p>
            <a:r>
              <a:rPr lang="en-GB" dirty="0"/>
              <a:t>Need for a Paradigm Shift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8155" y="1342390"/>
            <a:ext cx="9695688" cy="2154436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/>
              <a:t>Biopsychosocial Model: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 err="1"/>
              <a:t>Melzack</a:t>
            </a:r>
            <a:r>
              <a:rPr lang="en-GB" sz="2800" dirty="0"/>
              <a:t> and Wall’s Pain Gate Theory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/>
              <a:t>ICF Model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23588"/>
          <a:stretch>
            <a:fillRect/>
          </a:stretch>
        </p:blipFill>
        <p:spPr>
          <a:xfrm>
            <a:off x="7895843" y="610543"/>
            <a:ext cx="3048000" cy="3140364"/>
          </a:xfrm>
          <a:prstGeom prst="rect">
            <a:avLst/>
          </a:prstGeom>
        </p:spPr>
      </p:pic>
      <p:pic>
        <p:nvPicPr>
          <p:cNvPr id="1026" name="Picture 2" descr="ICF - Chapter 1: The ICF and the Biopsychosocial Model of Health (ebook) -  Mac Keith Pres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22" r="7120" b="16666"/>
          <a:stretch>
            <a:fillRect/>
          </a:stretch>
        </p:blipFill>
        <p:spPr bwMode="auto">
          <a:xfrm>
            <a:off x="3733801" y="2819400"/>
            <a:ext cx="4210236" cy="3881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59BB-5AFF-5A71-D39D-B3CF207C2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25 Years Later: Principles, Practice and Scientific </a:t>
            </a:r>
            <a:r>
              <a:rPr lang="en-GB" dirty="0" err="1"/>
              <a:t>Ebquiry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F7EAF-44E3-833B-BCBB-CD18E9F56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GB" dirty="0"/>
          </a:p>
          <a:p>
            <a:r>
              <a:rPr lang="en-GB" b="1" dirty="0"/>
              <a:t>Holistic Approach</a:t>
            </a:r>
            <a:r>
              <a:rPr lang="en-GB" dirty="0"/>
              <a:t>: George Engel introduced the biopsychosocial model as a holistic alternative to the biomedical model, emphasizing the need to consider biological, psychological, and social dimensions simultaneously to truly understand and address a patient’s suffering.</a:t>
            </a:r>
          </a:p>
          <a:p>
            <a:r>
              <a:rPr lang="en-GB" b="1" dirty="0"/>
              <a:t>Critique of Biomedical Model</a:t>
            </a:r>
            <a:r>
              <a:rPr lang="en-GB" dirty="0"/>
              <a:t>: Engel critiqued the reductionist and specialized approach of the biomedical model, which tends to dehumanize patients by treating them as objects and neglecting the subjective experience of illness.</a:t>
            </a:r>
          </a:p>
          <a:p>
            <a:r>
              <a:rPr lang="en-GB" b="1" dirty="0"/>
              <a:t>New Medical Paradigm: </a:t>
            </a:r>
            <a:r>
              <a:rPr lang="en-GB" dirty="0"/>
              <a:t>The biopsychosocial model was proposed as a new medical paradigm that includes the patient's subjective experience with objective biomedical data, promoting a more comprehensive and naturalistic model of causation, and transforming the patient-clinician relationship to empower patients.</a:t>
            </a:r>
          </a:p>
          <a:p>
            <a:r>
              <a:rPr lang="en-GB" b="1" dirty="0"/>
              <a:t>Integration with Evidence-Based Medicine</a:t>
            </a:r>
            <a:r>
              <a:rPr lang="en-GB" dirty="0"/>
              <a:t>: The article explores how the biopsychosocial model interfaces with evidence-based medicine, emphasizing the importance of integrating both approaches to improve patient care.</a:t>
            </a:r>
          </a:p>
          <a:p>
            <a:r>
              <a:rPr lang="en-GB" b="1" dirty="0"/>
              <a:t>Scientific and Ideological Shifts: </a:t>
            </a:r>
            <a:r>
              <a:rPr lang="en-GB" dirty="0"/>
              <a:t>Engel’s model responded to shifts in science from exclusively analytic approaches to more contextual and cross-disciplinary perspectives. His approach not only proposed a scientific change but also advocated for a fundamental ideological shift towards re-humanizing medical practice.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96252-6E08-600B-6560-936EBD71C0D9}"/>
              </a:ext>
            </a:extLst>
          </p:cNvPr>
          <p:cNvSpPr txBox="1"/>
          <p:nvPr/>
        </p:nvSpPr>
        <p:spPr>
          <a:xfrm>
            <a:off x="1003177" y="6329779"/>
            <a:ext cx="5601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Engel (1977); 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Borrell-</a:t>
            </a:r>
            <a:r>
              <a:rPr lang="en-GB" sz="1800" spc="-10" dirty="0" err="1">
                <a:latin typeface="Calibri" panose="020F0502020204030204"/>
                <a:cs typeface="Calibri" panose="020F0502020204030204"/>
              </a:rPr>
              <a:t>Carrió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 (2004)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5380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1905" y="582548"/>
            <a:ext cx="762635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Applied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Sciences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for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Physiotherapy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Practice</a:t>
            </a:r>
            <a:r>
              <a:rPr sz="280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(PT7001)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53400" y="2781300"/>
            <a:ext cx="4038600" cy="4076700"/>
          </a:xfrm>
          <a:custGeom>
            <a:avLst/>
            <a:gdLst/>
            <a:ahLst/>
            <a:cxnLst/>
            <a:rect l="l" t="t" r="r" b="b"/>
            <a:pathLst>
              <a:path w="4038600" h="4076700">
                <a:moveTo>
                  <a:pt x="0" y="4076700"/>
                </a:moveTo>
                <a:lnTo>
                  <a:pt x="4038600" y="4076700"/>
                </a:lnTo>
                <a:lnTo>
                  <a:pt x="4038600" y="0"/>
                </a:lnTo>
                <a:lnTo>
                  <a:pt x="0" y="0"/>
                </a:lnTo>
                <a:lnTo>
                  <a:pt x="0" y="407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24200" y="381000"/>
            <a:ext cx="7962900" cy="609600"/>
          </a:xfrm>
          <a:custGeom>
            <a:avLst/>
            <a:gdLst/>
            <a:ahLst/>
            <a:cxnLst/>
            <a:rect l="l" t="t" r="r" b="b"/>
            <a:pathLst>
              <a:path w="7962900" h="609600">
                <a:moveTo>
                  <a:pt x="0" y="609600"/>
                </a:moveTo>
                <a:lnTo>
                  <a:pt x="7962900" y="609600"/>
                </a:lnTo>
                <a:lnTo>
                  <a:pt x="79629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203194" y="403606"/>
            <a:ext cx="37680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Biopsychosocial</a:t>
            </a:r>
            <a:r>
              <a:rPr sz="3200" spc="-30" dirty="0"/>
              <a:t> </a:t>
            </a:r>
            <a:r>
              <a:rPr sz="3200" dirty="0"/>
              <a:t>model</a:t>
            </a:r>
            <a:endParaRPr sz="3200"/>
          </a:p>
        </p:txBody>
      </p:sp>
      <p:sp>
        <p:nvSpPr>
          <p:cNvPr id="11" name="object 11"/>
          <p:cNvSpPr/>
          <p:nvPr/>
        </p:nvSpPr>
        <p:spPr>
          <a:xfrm>
            <a:off x="7391400" y="1207008"/>
            <a:ext cx="0" cy="4216400"/>
          </a:xfrm>
          <a:custGeom>
            <a:avLst/>
            <a:gdLst/>
            <a:ahLst/>
            <a:cxnLst/>
            <a:rect l="l" t="t" r="r" b="b"/>
            <a:pathLst>
              <a:path h="4216400">
                <a:moveTo>
                  <a:pt x="0" y="0"/>
                </a:moveTo>
                <a:lnTo>
                  <a:pt x="0" y="421640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69794" y="1217167"/>
            <a:ext cx="4432300" cy="50828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Biomedical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Approach</a:t>
            </a:r>
            <a:endParaRPr sz="2800" dirty="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2360"/>
              </a:spcBef>
            </a:pPr>
            <a:r>
              <a:rPr sz="2000" dirty="0">
                <a:latin typeface="Calibri" panose="020F0502020204030204"/>
                <a:cs typeface="Calibri" panose="020F0502020204030204"/>
              </a:rPr>
              <a:t>Mind-Body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Duality </a:t>
            </a:r>
            <a:r>
              <a:rPr sz="2000" dirty="0">
                <a:latin typeface="Calibri" panose="020F0502020204030204"/>
                <a:cs typeface="Calibri" panose="020F0502020204030204"/>
              </a:rPr>
              <a:t>-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The biomedical </a:t>
            </a:r>
            <a:r>
              <a:rPr sz="2000" dirty="0">
                <a:latin typeface="Calibri" panose="020F0502020204030204"/>
                <a:cs typeface="Calibri" panose="020F0502020204030204"/>
              </a:rPr>
              <a:t>model  lends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itself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000" dirty="0">
                <a:latin typeface="Calibri" panose="020F0502020204030204"/>
                <a:cs typeface="Calibri" panose="020F0502020204030204"/>
              </a:rPr>
              <a:t>a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dualistic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separation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of  mind </a:t>
            </a:r>
            <a:r>
              <a:rPr sz="2000" dirty="0">
                <a:latin typeface="Calibri" panose="020F0502020204030204"/>
                <a:cs typeface="Calibri" panose="020F0502020204030204"/>
              </a:rPr>
              <a:t>and body </a:t>
            </a:r>
            <a:r>
              <a:rPr sz="2000" i="1" spc="-5" dirty="0">
                <a:latin typeface="Calibri" panose="020F0502020204030204"/>
                <a:cs typeface="Calibri" panose="020F0502020204030204"/>
              </a:rPr>
              <a:t>(mind-body duality)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. </a:t>
            </a:r>
            <a:r>
              <a:rPr sz="2000" dirty="0">
                <a:latin typeface="Calibri" panose="020F0502020204030204"/>
                <a:cs typeface="Calibri" panose="020F0502020204030204"/>
              </a:rPr>
              <a:t>A 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greater focus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on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 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biological/biochemical causes </a:t>
            </a:r>
            <a:r>
              <a:rPr sz="2000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illness.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5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Reductionism </a:t>
            </a:r>
            <a:r>
              <a:rPr sz="2000" dirty="0">
                <a:latin typeface="Calibri" panose="020F0502020204030204"/>
                <a:cs typeface="Calibri" panose="020F0502020204030204"/>
              </a:rPr>
              <a:t>– </a:t>
            </a:r>
            <a:r>
              <a:rPr sz="2000" i="1" spc="-5" dirty="0">
                <a:latin typeface="Calibri" panose="020F0502020204030204"/>
                <a:cs typeface="Calibri" panose="020F0502020204030204"/>
              </a:rPr>
              <a:t>“the philosophic view</a:t>
            </a:r>
            <a:r>
              <a:rPr sz="2000" i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i="1" dirty="0">
                <a:latin typeface="Calibri" panose="020F0502020204030204"/>
                <a:cs typeface="Calibri" panose="020F0502020204030204"/>
              </a:rPr>
              <a:t>that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i="1" spc="-10" dirty="0">
                <a:latin typeface="Calibri" panose="020F0502020204030204"/>
                <a:cs typeface="Calibri" panose="020F0502020204030204"/>
              </a:rPr>
              <a:t>complex </a:t>
            </a:r>
            <a:r>
              <a:rPr sz="2000" i="1" spc="-5" dirty="0">
                <a:latin typeface="Calibri" panose="020F0502020204030204"/>
                <a:cs typeface="Calibri" panose="020F0502020204030204"/>
              </a:rPr>
              <a:t>phenomena are</a:t>
            </a:r>
            <a:r>
              <a:rPr sz="2000" i="1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i="1" spc="-5" dirty="0">
                <a:latin typeface="Calibri" panose="020F0502020204030204"/>
                <a:cs typeface="Calibri" panose="020F0502020204030204"/>
              </a:rPr>
              <a:t>ultimately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i="1" spc="-5" dirty="0">
                <a:latin typeface="Calibri" panose="020F0502020204030204"/>
                <a:cs typeface="Calibri" panose="020F0502020204030204"/>
              </a:rPr>
              <a:t>derived from </a:t>
            </a:r>
            <a:r>
              <a:rPr sz="2000" i="1" dirty="0">
                <a:latin typeface="Calibri" panose="020F0502020204030204"/>
                <a:cs typeface="Calibri" panose="020F0502020204030204"/>
              </a:rPr>
              <a:t>a </a:t>
            </a:r>
            <a:r>
              <a:rPr sz="2000" i="1" spc="-5" dirty="0">
                <a:latin typeface="Calibri" panose="020F0502020204030204"/>
                <a:cs typeface="Calibri" panose="020F0502020204030204"/>
              </a:rPr>
              <a:t>single primary</a:t>
            </a:r>
            <a:r>
              <a:rPr sz="2000" i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i="1" spc="-5" dirty="0">
                <a:latin typeface="Calibri" panose="020F0502020204030204"/>
                <a:cs typeface="Calibri" panose="020F0502020204030204"/>
              </a:rPr>
              <a:t>principle”</a:t>
            </a:r>
            <a:endParaRPr lang="en-GB" sz="2000" i="1" spc="-5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GB" sz="2000" i="1" spc="-5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GB" sz="2000" spc="-5" dirty="0">
                <a:latin typeface="Calibri" panose="020F0502020204030204"/>
                <a:cs typeface="Calibri" panose="020F0502020204030204"/>
              </a:rPr>
              <a:t>Exclusionist</a:t>
            </a:r>
            <a:r>
              <a:rPr lang="en-GB" sz="2000" i="1" spc="-5" dirty="0">
                <a:latin typeface="Calibri" panose="020F0502020204030204"/>
                <a:cs typeface="Calibri" panose="020F0502020204030204"/>
              </a:rPr>
              <a:t>: That the existing model excluded psychological and sociological perspectives of health and disease.</a:t>
            </a:r>
            <a:endParaRPr sz="20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Engel’s</a:t>
            </a:r>
            <a:r>
              <a:rPr dirty="0"/>
              <a:t> </a:t>
            </a:r>
            <a:r>
              <a:rPr spc="-10" dirty="0"/>
              <a:t>Objections</a:t>
            </a:r>
          </a:p>
          <a:p>
            <a:pPr marL="12700" marR="5080">
              <a:lnSpc>
                <a:spcPct val="100000"/>
              </a:lnSpc>
              <a:spcBef>
                <a:spcPts val="1915"/>
              </a:spcBef>
            </a:pPr>
            <a:r>
              <a:rPr sz="2000" spc="-5" dirty="0"/>
              <a:t>This approach </a:t>
            </a:r>
            <a:r>
              <a:rPr sz="2000" dirty="0"/>
              <a:t>places </a:t>
            </a:r>
            <a:r>
              <a:rPr sz="2000" spc="-5" dirty="0"/>
              <a:t>less emphasis  of </a:t>
            </a:r>
            <a:r>
              <a:rPr sz="2000" dirty="0"/>
              <a:t>the </a:t>
            </a:r>
            <a:r>
              <a:rPr sz="2000" spc="-15" dirty="0"/>
              <a:t>effects </a:t>
            </a:r>
            <a:r>
              <a:rPr sz="2000" spc="-5" dirty="0"/>
              <a:t>of </a:t>
            </a:r>
            <a:r>
              <a:rPr sz="2000" dirty="0"/>
              <a:t>the </a:t>
            </a:r>
            <a:r>
              <a:rPr sz="2000" spc="-5" dirty="0"/>
              <a:t>mind  </a:t>
            </a:r>
            <a:r>
              <a:rPr sz="2000" spc="-10" dirty="0"/>
              <a:t>(psychology) </a:t>
            </a:r>
            <a:r>
              <a:rPr sz="2000" spc="-5" dirty="0"/>
              <a:t>can </a:t>
            </a:r>
            <a:r>
              <a:rPr sz="2000" spc="-20" dirty="0"/>
              <a:t>have </a:t>
            </a:r>
            <a:r>
              <a:rPr sz="2000" spc="-5" dirty="0"/>
              <a:t>on </a:t>
            </a:r>
            <a:r>
              <a:rPr sz="2000" dirty="0"/>
              <a:t>the</a:t>
            </a:r>
            <a:r>
              <a:rPr sz="2000" spc="-35" dirty="0"/>
              <a:t> </a:t>
            </a:r>
            <a:r>
              <a:rPr sz="2000" spc="-25" dirty="0"/>
              <a:t>body.</a:t>
            </a:r>
            <a:endParaRPr sz="2000"/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" dirty="0"/>
              <a:t>Somatic disease </a:t>
            </a:r>
            <a:r>
              <a:rPr sz="2000" spc="-15" dirty="0"/>
              <a:t>versus</a:t>
            </a:r>
            <a:r>
              <a:rPr sz="2000" spc="35" dirty="0"/>
              <a:t> </a:t>
            </a:r>
            <a:r>
              <a:rPr sz="2000" spc="-10" dirty="0"/>
              <a:t>mental</a:t>
            </a:r>
            <a:endParaRPr sz="2000"/>
          </a:p>
          <a:p>
            <a:pPr marL="12700">
              <a:lnSpc>
                <a:spcPct val="100000"/>
              </a:lnSpc>
            </a:pPr>
            <a:r>
              <a:rPr sz="2000" spc="-5" dirty="0"/>
              <a:t>disease</a:t>
            </a:r>
            <a:endParaRPr sz="2000"/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 panose="02020603050405020304"/>
              <a:cs typeface="Times New Roman" panose="02020603050405020304"/>
            </a:endParaRPr>
          </a:p>
          <a:p>
            <a:pPr marL="12700" marR="231140" algn="just">
              <a:lnSpc>
                <a:spcPct val="100000"/>
              </a:lnSpc>
            </a:pPr>
            <a:r>
              <a:rPr sz="2000" spc="-5" dirty="0"/>
              <a:t>Results </a:t>
            </a:r>
            <a:r>
              <a:rPr sz="2000" dirty="0"/>
              <a:t>in an </a:t>
            </a:r>
            <a:r>
              <a:rPr sz="2000" spc="-45" dirty="0"/>
              <a:t>‘cold’, </a:t>
            </a:r>
            <a:r>
              <a:rPr sz="2000" spc="-10" dirty="0"/>
              <a:t>dispassionate  </a:t>
            </a:r>
            <a:r>
              <a:rPr sz="2000" dirty="0"/>
              <a:t>and </a:t>
            </a:r>
            <a:r>
              <a:rPr sz="2000" spc="-10" dirty="0"/>
              <a:t>overly objective </a:t>
            </a:r>
            <a:r>
              <a:rPr sz="2000" spc="-5" dirty="0"/>
              <a:t>approach </a:t>
            </a:r>
            <a:r>
              <a:rPr sz="2000" spc="-15" dirty="0"/>
              <a:t>to  </a:t>
            </a:r>
            <a:r>
              <a:rPr sz="2000" spc="-10" dirty="0"/>
              <a:t>working </a:t>
            </a:r>
            <a:r>
              <a:rPr sz="2000" spc="-5" dirty="0"/>
              <a:t>with</a:t>
            </a:r>
            <a:r>
              <a:rPr sz="2000" dirty="0"/>
              <a:t> </a:t>
            </a:r>
            <a:r>
              <a:rPr sz="2000" spc="-5" dirty="0"/>
              <a:t>people.</a:t>
            </a:r>
            <a:endParaRPr sz="2000"/>
          </a:p>
        </p:txBody>
      </p:sp>
      <p:sp>
        <p:nvSpPr>
          <p:cNvPr id="14" name="object 14"/>
          <p:cNvSpPr/>
          <p:nvPr/>
        </p:nvSpPr>
        <p:spPr>
          <a:xfrm>
            <a:off x="1711539" y="4765363"/>
            <a:ext cx="58419" cy="46990"/>
          </a:xfrm>
          <a:custGeom>
            <a:avLst/>
            <a:gdLst/>
            <a:ahLst/>
            <a:cxnLst/>
            <a:rect l="l" t="t" r="r" b="b"/>
            <a:pathLst>
              <a:path w="58419" h="46989">
                <a:moveTo>
                  <a:pt x="14406" y="0"/>
                </a:moveTo>
                <a:lnTo>
                  <a:pt x="0" y="34771"/>
                </a:lnTo>
                <a:lnTo>
                  <a:pt x="29368" y="46936"/>
                </a:lnTo>
                <a:lnTo>
                  <a:pt x="58176" y="18129"/>
                </a:lnTo>
                <a:lnTo>
                  <a:pt x="144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34427" y="457408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4">
                <a:moveTo>
                  <a:pt x="37643" y="0"/>
                </a:moveTo>
                <a:lnTo>
                  <a:pt x="22990" y="2958"/>
                </a:lnTo>
                <a:lnTo>
                  <a:pt x="11025" y="11024"/>
                </a:lnTo>
                <a:lnTo>
                  <a:pt x="2958" y="22989"/>
                </a:lnTo>
                <a:lnTo>
                  <a:pt x="0" y="37641"/>
                </a:lnTo>
                <a:lnTo>
                  <a:pt x="1186" y="43517"/>
                </a:lnTo>
                <a:lnTo>
                  <a:pt x="43518" y="1186"/>
                </a:lnTo>
                <a:lnTo>
                  <a:pt x="376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34427" y="457408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4">
                <a:moveTo>
                  <a:pt x="37643" y="0"/>
                </a:moveTo>
                <a:lnTo>
                  <a:pt x="22990" y="2958"/>
                </a:lnTo>
                <a:lnTo>
                  <a:pt x="11025" y="11024"/>
                </a:lnTo>
                <a:lnTo>
                  <a:pt x="2958" y="22989"/>
                </a:lnTo>
                <a:lnTo>
                  <a:pt x="0" y="37641"/>
                </a:lnTo>
                <a:lnTo>
                  <a:pt x="1186" y="43517"/>
                </a:lnTo>
                <a:lnTo>
                  <a:pt x="43518" y="1186"/>
                </a:lnTo>
                <a:lnTo>
                  <a:pt x="376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92367" y="4246623"/>
            <a:ext cx="267335" cy="506730"/>
          </a:xfrm>
          <a:custGeom>
            <a:avLst/>
            <a:gdLst/>
            <a:ahLst/>
            <a:cxnLst/>
            <a:rect l="l" t="t" r="r" b="b"/>
            <a:pathLst>
              <a:path w="267335" h="506729">
                <a:moveTo>
                  <a:pt x="162763" y="40464"/>
                </a:moveTo>
                <a:lnTo>
                  <a:pt x="3720" y="423444"/>
                </a:lnTo>
                <a:lnTo>
                  <a:pt x="0" y="437942"/>
                </a:lnTo>
                <a:lnTo>
                  <a:pt x="73" y="452616"/>
                </a:lnTo>
                <a:lnTo>
                  <a:pt x="3852" y="466584"/>
                </a:lnTo>
                <a:lnTo>
                  <a:pt x="11248" y="478965"/>
                </a:lnTo>
                <a:lnTo>
                  <a:pt x="896" y="503432"/>
                </a:lnTo>
                <a:lnTo>
                  <a:pt x="7869" y="506348"/>
                </a:lnTo>
                <a:lnTo>
                  <a:pt x="127609" y="386611"/>
                </a:lnTo>
                <a:lnTo>
                  <a:pt x="123238" y="365099"/>
                </a:lnTo>
                <a:lnTo>
                  <a:pt x="127693" y="343176"/>
                </a:lnTo>
                <a:lnTo>
                  <a:pt x="139824" y="325223"/>
                </a:lnTo>
                <a:lnTo>
                  <a:pt x="157778" y="313092"/>
                </a:lnTo>
                <a:lnTo>
                  <a:pt x="179703" y="308637"/>
                </a:lnTo>
                <a:lnTo>
                  <a:pt x="205585" y="308637"/>
                </a:lnTo>
                <a:lnTo>
                  <a:pt x="222192" y="292030"/>
                </a:lnTo>
                <a:lnTo>
                  <a:pt x="190996" y="266290"/>
                </a:lnTo>
                <a:lnTo>
                  <a:pt x="267224" y="82787"/>
                </a:lnTo>
                <a:lnTo>
                  <a:pt x="240873" y="72460"/>
                </a:lnTo>
                <a:lnTo>
                  <a:pt x="249691" y="50816"/>
                </a:lnTo>
                <a:lnTo>
                  <a:pt x="189113" y="50816"/>
                </a:lnTo>
                <a:lnTo>
                  <a:pt x="162763" y="40464"/>
                </a:lnTo>
                <a:close/>
              </a:path>
              <a:path w="267335" h="506729">
                <a:moveTo>
                  <a:pt x="205585" y="308637"/>
                </a:moveTo>
                <a:lnTo>
                  <a:pt x="179703" y="308637"/>
                </a:lnTo>
                <a:lnTo>
                  <a:pt x="201214" y="313008"/>
                </a:lnTo>
                <a:lnTo>
                  <a:pt x="205585" y="308637"/>
                </a:lnTo>
                <a:close/>
              </a:path>
              <a:path w="267335" h="506729">
                <a:moveTo>
                  <a:pt x="209817" y="0"/>
                </a:moveTo>
                <a:lnTo>
                  <a:pt x="189113" y="50816"/>
                </a:lnTo>
                <a:lnTo>
                  <a:pt x="249691" y="50816"/>
                </a:lnTo>
                <a:lnTo>
                  <a:pt x="261577" y="21643"/>
                </a:lnTo>
                <a:lnTo>
                  <a:pt x="2098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356575" y="2252024"/>
            <a:ext cx="524510" cy="441959"/>
          </a:xfrm>
          <a:custGeom>
            <a:avLst/>
            <a:gdLst/>
            <a:ahLst/>
            <a:cxnLst/>
            <a:rect l="l" t="t" r="r" b="b"/>
            <a:pathLst>
              <a:path w="524510" h="441960">
                <a:moveTo>
                  <a:pt x="524011" y="384561"/>
                </a:moveTo>
                <a:lnTo>
                  <a:pt x="313233" y="384561"/>
                </a:lnTo>
                <a:lnTo>
                  <a:pt x="313233" y="441713"/>
                </a:lnTo>
                <a:lnTo>
                  <a:pt x="466857" y="441713"/>
                </a:lnTo>
                <a:lnTo>
                  <a:pt x="524011" y="384561"/>
                </a:lnTo>
                <a:close/>
              </a:path>
              <a:path w="524510" h="441960">
                <a:moveTo>
                  <a:pt x="456118" y="141669"/>
                </a:moveTo>
                <a:lnTo>
                  <a:pt x="398964" y="141669"/>
                </a:lnTo>
                <a:lnTo>
                  <a:pt x="398964" y="384561"/>
                </a:lnTo>
                <a:lnTo>
                  <a:pt x="456118" y="384561"/>
                </a:lnTo>
                <a:lnTo>
                  <a:pt x="456118" y="141669"/>
                </a:lnTo>
                <a:close/>
              </a:path>
              <a:path w="524510" h="441960">
                <a:moveTo>
                  <a:pt x="129851" y="0"/>
                </a:moveTo>
                <a:lnTo>
                  <a:pt x="84522" y="2422"/>
                </a:lnTo>
                <a:lnTo>
                  <a:pt x="43690" y="22245"/>
                </a:lnTo>
                <a:lnTo>
                  <a:pt x="14636" y="55047"/>
                </a:lnTo>
                <a:lnTo>
                  <a:pt x="0" y="96348"/>
                </a:lnTo>
                <a:lnTo>
                  <a:pt x="2422" y="141669"/>
                </a:lnTo>
                <a:lnTo>
                  <a:pt x="22247" y="182505"/>
                </a:lnTo>
                <a:lnTo>
                  <a:pt x="55050" y="211561"/>
                </a:lnTo>
                <a:lnTo>
                  <a:pt x="96353" y="226198"/>
                </a:lnTo>
                <a:lnTo>
                  <a:pt x="141676" y="223776"/>
                </a:lnTo>
                <a:lnTo>
                  <a:pt x="170031" y="212219"/>
                </a:lnTo>
                <a:lnTo>
                  <a:pt x="193930" y="193920"/>
                </a:lnTo>
                <a:lnTo>
                  <a:pt x="212229" y="170023"/>
                </a:lnTo>
                <a:lnTo>
                  <a:pt x="223787" y="141669"/>
                </a:lnTo>
                <a:lnTo>
                  <a:pt x="456118" y="141669"/>
                </a:lnTo>
                <a:lnTo>
                  <a:pt x="456118" y="84518"/>
                </a:lnTo>
                <a:lnTo>
                  <a:pt x="223787" y="84517"/>
                </a:lnTo>
                <a:lnTo>
                  <a:pt x="203962" y="43688"/>
                </a:lnTo>
                <a:lnTo>
                  <a:pt x="171157" y="14635"/>
                </a:lnTo>
                <a:lnTo>
                  <a:pt x="1298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69808" y="2779464"/>
            <a:ext cx="67945" cy="57150"/>
          </a:xfrm>
          <a:custGeom>
            <a:avLst/>
            <a:gdLst/>
            <a:ahLst/>
            <a:cxnLst/>
            <a:rect l="l" t="t" r="r" b="b"/>
            <a:pathLst>
              <a:path w="67944" h="57150">
                <a:moveTo>
                  <a:pt x="67893" y="0"/>
                </a:moveTo>
                <a:lnTo>
                  <a:pt x="0" y="0"/>
                </a:lnTo>
                <a:lnTo>
                  <a:pt x="0" y="57151"/>
                </a:lnTo>
                <a:lnTo>
                  <a:pt x="10739" y="57151"/>
                </a:lnTo>
                <a:lnTo>
                  <a:pt x="678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51A9-D1FD-2894-E248-4D1E45A1C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Let’s talk about Pain as a medical condition!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4E378-CBFB-77C6-2ECC-C97F74459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2388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634" y="643467"/>
            <a:ext cx="8162732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3400" y="1066800"/>
            <a:ext cx="2514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Social</a:t>
            </a:r>
          </a:p>
          <a:p>
            <a:r>
              <a:rPr lang="en-GB" dirty="0"/>
              <a:t>____________________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Psycho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____________________</a:t>
            </a:r>
          </a:p>
          <a:p>
            <a:r>
              <a:rPr lang="en-GB" dirty="0"/>
              <a:t>Bio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1905" y="582548"/>
            <a:ext cx="762635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Applied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Sciences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for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Physiotherapy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Practice</a:t>
            </a:r>
            <a:r>
              <a:rPr sz="280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(PT7001)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53400" y="2781300"/>
            <a:ext cx="4038600" cy="4076700"/>
          </a:xfrm>
          <a:custGeom>
            <a:avLst/>
            <a:gdLst/>
            <a:ahLst/>
            <a:cxnLst/>
            <a:rect l="l" t="t" r="r" b="b"/>
            <a:pathLst>
              <a:path w="4038600" h="4076700">
                <a:moveTo>
                  <a:pt x="0" y="4076700"/>
                </a:moveTo>
                <a:lnTo>
                  <a:pt x="4038600" y="4076700"/>
                </a:lnTo>
                <a:lnTo>
                  <a:pt x="4038600" y="0"/>
                </a:lnTo>
                <a:lnTo>
                  <a:pt x="0" y="0"/>
                </a:lnTo>
                <a:lnTo>
                  <a:pt x="0" y="407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24200" y="381000"/>
            <a:ext cx="7962900" cy="609600"/>
          </a:xfrm>
          <a:custGeom>
            <a:avLst/>
            <a:gdLst/>
            <a:ahLst/>
            <a:cxnLst/>
            <a:rect l="l" t="t" r="r" b="b"/>
            <a:pathLst>
              <a:path w="7962900" h="609600">
                <a:moveTo>
                  <a:pt x="0" y="609600"/>
                </a:moveTo>
                <a:lnTo>
                  <a:pt x="7962900" y="609600"/>
                </a:lnTo>
                <a:lnTo>
                  <a:pt x="79629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0"/>
          <p:cNvGraphicFramePr/>
          <p:nvPr>
            <p:extLst>
              <p:ext uri="{D42A27DB-BD31-4B8C-83A1-F6EECF244321}">
                <p14:modId xmlns:p14="http://schemas.microsoft.com/office/powerpoint/2010/main" val="239229165"/>
              </p:ext>
            </p:extLst>
          </p:nvPr>
        </p:nvGraphicFramePr>
        <p:xfrm>
          <a:off x="2362200" y="403606"/>
          <a:ext cx="7848600" cy="4777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524000" y="990600"/>
          <a:ext cx="9372600" cy="5029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8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982">
                <a:tc>
                  <a:txBody>
                    <a:bodyPr/>
                    <a:lstStyle/>
                    <a:p>
                      <a:r>
                        <a:rPr lang="en-GB" dirty="0"/>
                        <a:t>Medical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Biopsychosocial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46">
                <a:tc>
                  <a:txBody>
                    <a:bodyPr/>
                    <a:lstStyle/>
                    <a:p>
                      <a:r>
                        <a:rPr lang="en-GB" dirty="0"/>
                        <a:t>Pain, disability, sickness, incapacity for work: entirely a consequence of pathology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Partly a matter of the health condition, but also how the individual, thinks, feels or behaves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7093">
                <a:tc>
                  <a:txBody>
                    <a:bodyPr/>
                    <a:lstStyle/>
                    <a:p>
                      <a:r>
                        <a:rPr lang="en-GB" dirty="0"/>
                        <a:t>Out of the individual’s control/little or no responsibility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Individual shares some responsibility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7093">
                <a:tc>
                  <a:txBody>
                    <a:bodyPr/>
                    <a:lstStyle/>
                    <a:p>
                      <a:r>
                        <a:rPr lang="en-GB" dirty="0"/>
                        <a:t>Health condition and recovery </a:t>
                      </a:r>
                      <a:r>
                        <a:rPr lang="en-GB" dirty="0">
                          <a:sym typeface="Wingdings" panose="05000000000000000000" pitchFamily="2" charset="2"/>
                        </a:rPr>
                        <a:t> Health Care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Partly a matter of health care, but also effort and behaviour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7093">
                <a:tc>
                  <a:txBody>
                    <a:bodyPr/>
                    <a:lstStyle/>
                    <a:p>
                      <a:r>
                        <a:rPr lang="en-GB" dirty="0"/>
                        <a:t>Patient is passive recipient of health 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Active participant in recovery and rehabilitation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7093">
                <a:tc>
                  <a:txBody>
                    <a:bodyPr/>
                    <a:lstStyle/>
                    <a:p>
                      <a:r>
                        <a:rPr lang="en-GB" dirty="0"/>
                        <a:t>Relief of pain will automatically cure disability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Management must relieve pain and at same time prevent disability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36693-B424-A8F8-4540-C6F0526F1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>
                <a:latin typeface="Calibri" panose="020F0502020204030204"/>
                <a:cs typeface="Calibri" panose="020F0502020204030204"/>
              </a:rPr>
              <a:t>A </a:t>
            </a:r>
            <a:r>
              <a:rPr lang="en-GB" sz="4400" spc="-5" dirty="0">
                <a:latin typeface="Calibri" panose="020F0502020204030204"/>
                <a:cs typeface="Calibri" panose="020F0502020204030204"/>
              </a:rPr>
              <a:t>new</a:t>
            </a:r>
            <a:r>
              <a:rPr lang="en-GB" sz="4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4400" dirty="0">
                <a:latin typeface="Calibri" panose="020F0502020204030204"/>
                <a:cs typeface="Calibri" panose="020F0502020204030204"/>
              </a:rPr>
              <a:t>model?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EB60A-C01C-9A7C-0496-140AD6AF9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indent="-342900">
              <a:lnSpc>
                <a:spcPct val="100000"/>
              </a:lnSpc>
              <a:spcBef>
                <a:spcPts val="6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GB" sz="2800" dirty="0">
                <a:latin typeface="Calibri" panose="020F0502020204030204"/>
                <a:cs typeface="Calibri" panose="020F0502020204030204"/>
              </a:rPr>
              <a:t>A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new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model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should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include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psychosocial</a:t>
            </a:r>
            <a:r>
              <a:rPr lang="en-GB" sz="2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800" spc="-20" dirty="0">
                <a:latin typeface="Calibri" panose="020F0502020204030204"/>
                <a:cs typeface="Calibri" panose="020F0502020204030204"/>
              </a:rPr>
              <a:t>factors.</a:t>
            </a:r>
            <a:endParaRPr lang="en-GB" sz="2800" dirty="0">
              <a:latin typeface="Calibri" panose="020F0502020204030204"/>
              <a:cs typeface="Calibri" panose="020F0502020204030204"/>
            </a:endParaRPr>
          </a:p>
          <a:p>
            <a:pPr marL="355600" marR="320675" indent="-342900">
              <a:lnSpc>
                <a:spcPct val="130000"/>
              </a:lnSpc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GB" sz="2800" spc="-5" dirty="0">
                <a:latin typeface="Calibri" panose="020F0502020204030204"/>
                <a:cs typeface="Calibri" panose="020F0502020204030204"/>
              </a:rPr>
              <a:t>Biochemical (molecular/cellular biology) should be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considered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as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one  </a:t>
            </a:r>
            <a:r>
              <a:rPr lang="en-GB" sz="2800" spc="-15" dirty="0">
                <a:latin typeface="Calibri" panose="020F0502020204030204"/>
                <a:cs typeface="Calibri" panose="020F0502020204030204"/>
              </a:rPr>
              <a:t>factor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–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not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the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only</a:t>
            </a:r>
            <a:r>
              <a:rPr lang="en-GB" sz="2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800" spc="-50" dirty="0">
                <a:latin typeface="Calibri" panose="020F0502020204030204"/>
                <a:cs typeface="Calibri" panose="020F0502020204030204"/>
              </a:rPr>
              <a:t>factor.</a:t>
            </a:r>
            <a:endParaRPr lang="en-GB" sz="2800" dirty="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GB" sz="2800" spc="-10" dirty="0">
                <a:latin typeface="Calibri" panose="020F0502020204030204"/>
                <a:cs typeface="Calibri" panose="020F0502020204030204"/>
              </a:rPr>
              <a:t>Consideration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psychological,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social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and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cultural</a:t>
            </a:r>
            <a:r>
              <a:rPr lang="en-GB"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800" spc="-20" dirty="0">
                <a:latin typeface="Calibri" panose="020F0502020204030204"/>
                <a:cs typeface="Calibri" panose="020F0502020204030204"/>
              </a:rPr>
              <a:t>factors.</a:t>
            </a:r>
            <a:endParaRPr lang="en-GB" sz="2800" dirty="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GB" sz="2800" i="1" spc="-5" dirty="0">
                <a:latin typeface="Calibri" panose="020F0502020204030204"/>
                <a:cs typeface="Calibri" panose="020F0502020204030204"/>
              </a:rPr>
              <a:t>…scientifically rational approach </a:t>
            </a:r>
            <a:r>
              <a:rPr lang="en-GB" sz="2800" i="1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lang="en-GB" sz="2800" i="1" spc="-5" dirty="0">
                <a:latin typeface="Calibri" panose="020F0502020204030204"/>
                <a:cs typeface="Calibri" panose="020F0502020204030204"/>
              </a:rPr>
              <a:t>behavioural and </a:t>
            </a:r>
            <a:r>
              <a:rPr lang="en-GB" sz="2800" i="1" spc="-10" dirty="0">
                <a:latin typeface="Calibri" panose="020F0502020204030204"/>
                <a:cs typeface="Calibri" panose="020F0502020204030204"/>
              </a:rPr>
              <a:t>psychosocial</a:t>
            </a:r>
            <a:r>
              <a:rPr lang="en-GB" sz="2800" i="1" spc="10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800" i="1" spc="-15" dirty="0">
                <a:latin typeface="Calibri" panose="020F0502020204030204"/>
                <a:cs typeface="Calibri" panose="020F0502020204030204"/>
              </a:rPr>
              <a:t>data…</a:t>
            </a:r>
            <a:endParaRPr lang="en-GB" sz="2800" dirty="0">
              <a:latin typeface="Calibri" panose="020F0502020204030204"/>
              <a:cs typeface="Calibri" panose="020F0502020204030204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095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1905" y="582548"/>
            <a:ext cx="762635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Applied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Sciences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for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Physiotherapy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Practice</a:t>
            </a:r>
            <a:r>
              <a:rPr sz="280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(PT7001)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53400" y="2781300"/>
            <a:ext cx="4038600" cy="4076700"/>
          </a:xfrm>
          <a:custGeom>
            <a:avLst/>
            <a:gdLst/>
            <a:ahLst/>
            <a:cxnLst/>
            <a:rect l="l" t="t" r="r" b="b"/>
            <a:pathLst>
              <a:path w="4038600" h="4076700">
                <a:moveTo>
                  <a:pt x="0" y="4076700"/>
                </a:moveTo>
                <a:lnTo>
                  <a:pt x="4038600" y="4076700"/>
                </a:lnTo>
                <a:lnTo>
                  <a:pt x="4038600" y="0"/>
                </a:lnTo>
                <a:lnTo>
                  <a:pt x="0" y="0"/>
                </a:lnTo>
                <a:lnTo>
                  <a:pt x="0" y="407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24200" y="381000"/>
            <a:ext cx="7962900" cy="609600"/>
          </a:xfrm>
          <a:custGeom>
            <a:avLst/>
            <a:gdLst/>
            <a:ahLst/>
            <a:cxnLst/>
            <a:rect l="l" t="t" r="r" b="b"/>
            <a:pathLst>
              <a:path w="7962900" h="609600">
                <a:moveTo>
                  <a:pt x="0" y="609600"/>
                </a:moveTo>
                <a:lnTo>
                  <a:pt x="7962900" y="609600"/>
                </a:lnTo>
                <a:lnTo>
                  <a:pt x="79629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203194" y="403606"/>
            <a:ext cx="37680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Biopsychosocial</a:t>
            </a:r>
            <a:r>
              <a:rPr sz="3200" spc="-30" dirty="0"/>
              <a:t> </a:t>
            </a:r>
            <a:r>
              <a:rPr sz="3200" dirty="0"/>
              <a:t>model</a:t>
            </a:r>
            <a:endParaRPr sz="3200"/>
          </a:p>
        </p:txBody>
      </p:sp>
      <p:sp>
        <p:nvSpPr>
          <p:cNvPr id="11" name="object 11"/>
          <p:cNvSpPr txBox="1"/>
          <p:nvPr/>
        </p:nvSpPr>
        <p:spPr>
          <a:xfrm>
            <a:off x="2784094" y="1375663"/>
            <a:ext cx="7701280" cy="38375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3200" b="1" spc="-15" dirty="0">
                <a:latin typeface="Calibri" panose="020F0502020204030204"/>
                <a:cs typeface="Calibri" panose="020F0502020204030204"/>
              </a:rPr>
              <a:t>Can you</a:t>
            </a:r>
            <a:r>
              <a:rPr sz="32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latin typeface="Calibri" panose="020F0502020204030204"/>
                <a:cs typeface="Calibri" panose="020F0502020204030204"/>
              </a:rPr>
              <a:t>think of some </a:t>
            </a:r>
            <a:r>
              <a:rPr sz="3200" b="1" spc="-10" dirty="0">
                <a:latin typeface="Calibri" panose="020F0502020204030204"/>
                <a:cs typeface="Calibri" panose="020F0502020204030204"/>
              </a:rPr>
              <a:t>examples</a:t>
            </a:r>
            <a:r>
              <a:rPr sz="32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latin typeface="Calibri" panose="020F0502020204030204"/>
                <a:cs typeface="Calibri" panose="020F0502020204030204"/>
              </a:rPr>
              <a:t>where:</a:t>
            </a:r>
            <a:endParaRPr sz="320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 </a:t>
            </a:r>
            <a:r>
              <a:rPr sz="280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biological </a:t>
            </a:r>
            <a:r>
              <a:rPr sz="2800" b="1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factor </a:t>
            </a:r>
            <a:r>
              <a:rPr sz="280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can </a:t>
            </a:r>
            <a:r>
              <a:rPr sz="2800" b="1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affect </a:t>
            </a:r>
            <a:r>
              <a:rPr sz="2800" b="1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800" b="1" i="1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psychosocial:</a:t>
            </a:r>
            <a:endParaRPr sz="2800" i="1" dirty="0">
              <a:solidFill>
                <a:srgbClr val="FF0000"/>
              </a:solidFill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00" i="1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 </a:t>
            </a:r>
            <a:r>
              <a:rPr sz="2800" b="1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psychological factor </a:t>
            </a:r>
            <a:r>
              <a:rPr sz="280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which can </a:t>
            </a:r>
            <a:r>
              <a:rPr sz="2800" b="1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affect </a:t>
            </a:r>
            <a:r>
              <a:rPr sz="2800" b="1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biological and </a:t>
            </a:r>
            <a:r>
              <a:rPr sz="280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social</a:t>
            </a:r>
            <a:r>
              <a:rPr sz="2800" b="1" i="1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aspects:</a:t>
            </a:r>
            <a:endParaRPr sz="2800" i="1" dirty="0">
              <a:solidFill>
                <a:srgbClr val="FF0000"/>
              </a:solidFill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00" i="1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 </a:t>
            </a:r>
            <a:r>
              <a:rPr sz="280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social </a:t>
            </a:r>
            <a:r>
              <a:rPr sz="2800" b="1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factor </a:t>
            </a:r>
            <a:r>
              <a:rPr sz="280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which can </a:t>
            </a:r>
            <a:r>
              <a:rPr sz="2800" b="1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affect </a:t>
            </a:r>
            <a:r>
              <a:rPr sz="2800" b="1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biological and </a:t>
            </a:r>
            <a:r>
              <a:rPr sz="2800" b="1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psychological</a:t>
            </a:r>
            <a:r>
              <a:rPr sz="2800" b="1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components</a:t>
            </a:r>
            <a:r>
              <a:rPr sz="2000" b="1" spc="-5" dirty="0">
                <a:latin typeface="Calibri" panose="020F0502020204030204"/>
                <a:cs typeface="Calibri" panose="020F0502020204030204"/>
              </a:rPr>
              <a:t>:</a:t>
            </a:r>
            <a:endParaRPr sz="20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1905" y="582548"/>
            <a:ext cx="762635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Applied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Sciences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for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Physiotherapy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Practice</a:t>
            </a:r>
            <a:r>
              <a:rPr sz="280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(PT7001)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53400" y="2781300"/>
            <a:ext cx="4038600" cy="4076700"/>
          </a:xfrm>
          <a:custGeom>
            <a:avLst/>
            <a:gdLst/>
            <a:ahLst/>
            <a:cxnLst/>
            <a:rect l="l" t="t" r="r" b="b"/>
            <a:pathLst>
              <a:path w="4038600" h="4076700">
                <a:moveTo>
                  <a:pt x="0" y="4076700"/>
                </a:moveTo>
                <a:lnTo>
                  <a:pt x="4038600" y="4076700"/>
                </a:lnTo>
                <a:lnTo>
                  <a:pt x="4038600" y="0"/>
                </a:lnTo>
                <a:lnTo>
                  <a:pt x="0" y="0"/>
                </a:lnTo>
                <a:lnTo>
                  <a:pt x="0" y="407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24200" y="381000"/>
            <a:ext cx="7962900" cy="609600"/>
          </a:xfrm>
          <a:custGeom>
            <a:avLst/>
            <a:gdLst/>
            <a:ahLst/>
            <a:cxnLst/>
            <a:rect l="l" t="t" r="r" b="b"/>
            <a:pathLst>
              <a:path w="7962900" h="609600">
                <a:moveTo>
                  <a:pt x="0" y="609600"/>
                </a:moveTo>
                <a:lnTo>
                  <a:pt x="7962900" y="609600"/>
                </a:lnTo>
                <a:lnTo>
                  <a:pt x="79629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203194" y="403606"/>
            <a:ext cx="39014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Determinants </a:t>
            </a:r>
            <a:r>
              <a:rPr sz="3200" spc="-5" dirty="0"/>
              <a:t>of</a:t>
            </a:r>
            <a:r>
              <a:rPr sz="3200" spc="-40" dirty="0"/>
              <a:t> </a:t>
            </a:r>
            <a:r>
              <a:rPr sz="3200" spc="-5" dirty="0"/>
              <a:t>Health</a:t>
            </a:r>
            <a:endParaRPr sz="3200"/>
          </a:p>
        </p:txBody>
      </p:sp>
      <p:sp>
        <p:nvSpPr>
          <p:cNvPr id="11" name="object 11"/>
          <p:cNvSpPr/>
          <p:nvPr/>
        </p:nvSpPr>
        <p:spPr>
          <a:xfrm>
            <a:off x="2726435" y="1386839"/>
            <a:ext cx="6739127" cy="45567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FAD2A-7DAD-136B-3289-80662FE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this fit into the module aim?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CF69F-CE7D-206B-713E-15BE33F9F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75615" marR="275590" indent="-457200">
              <a:lnSpc>
                <a:spcPct val="100000"/>
              </a:lnSpc>
              <a:buFont typeface="Arial" panose="020B0604020202020204"/>
              <a:buChar char="•"/>
              <a:tabLst>
                <a:tab pos="475615" algn="l"/>
                <a:tab pos="476250" algn="l"/>
              </a:tabLst>
            </a:pPr>
            <a:r>
              <a:rPr lang="en-GB" sz="2800" spc="-10" dirty="0">
                <a:latin typeface="Calibri" panose="020F0502020204030204"/>
                <a:cs typeface="Calibri" panose="020F0502020204030204"/>
              </a:rPr>
              <a:t>Develop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&amp;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apply knowledge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&amp; </a:t>
            </a:r>
            <a:r>
              <a:rPr lang="en-GB" sz="2800" spc="-15" dirty="0">
                <a:latin typeface="Calibri" panose="020F0502020204030204"/>
                <a:cs typeface="Calibri" panose="020F0502020204030204"/>
              </a:rPr>
              <a:t>understanding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of 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sciences which </a:t>
            </a:r>
            <a:r>
              <a:rPr lang="en-GB" sz="2800" spc="-20" dirty="0">
                <a:latin typeface="Calibri" panose="020F0502020204030204"/>
                <a:cs typeface="Calibri" panose="020F0502020204030204"/>
              </a:rPr>
              <a:t>affect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health and</a:t>
            </a:r>
            <a:r>
              <a:rPr lang="en-GB" sz="280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wellbeing:</a:t>
            </a:r>
            <a:endParaRPr lang="en-GB" sz="2800" dirty="0">
              <a:latin typeface="Calibri" panose="020F0502020204030204"/>
              <a:cs typeface="Calibri" panose="020F0502020204030204"/>
            </a:endParaRPr>
          </a:p>
          <a:p>
            <a:pPr marL="932815" lvl="1" indent="-457835">
              <a:lnSpc>
                <a:spcPct val="100000"/>
              </a:lnSpc>
              <a:spcBef>
                <a:spcPts val="5"/>
              </a:spcBef>
              <a:buFont typeface="Arial" panose="020B0604020202020204"/>
              <a:buChar char="•"/>
              <a:tabLst>
                <a:tab pos="932815" algn="l"/>
                <a:tab pos="933450" algn="l"/>
              </a:tabLst>
            </a:pPr>
            <a:r>
              <a:rPr lang="en-GB" sz="2800" spc="-5" dirty="0">
                <a:latin typeface="Calibri" panose="020F0502020204030204"/>
                <a:cs typeface="Calibri" panose="020F0502020204030204"/>
              </a:rPr>
              <a:t>Biology – </a:t>
            </a:r>
            <a:r>
              <a:rPr lang="en-GB" sz="2800" spc="-20" dirty="0">
                <a:latin typeface="Calibri" panose="020F0502020204030204"/>
                <a:cs typeface="Calibri" panose="020F0502020204030204"/>
              </a:rPr>
              <a:t>Anatomy, Physiology, Pathology, Pharmacology</a:t>
            </a:r>
            <a:endParaRPr lang="en-GB" sz="2800" dirty="0">
              <a:latin typeface="Calibri" panose="020F0502020204030204"/>
              <a:cs typeface="Calibri" panose="020F0502020204030204"/>
            </a:endParaRPr>
          </a:p>
          <a:p>
            <a:pPr marL="932815" lvl="1" indent="-457835">
              <a:lnSpc>
                <a:spcPct val="100000"/>
              </a:lnSpc>
              <a:buFont typeface="Arial" panose="020B0604020202020204"/>
              <a:buChar char="•"/>
              <a:tabLst>
                <a:tab pos="932815" algn="l"/>
                <a:tab pos="933450" algn="l"/>
              </a:tabLst>
            </a:pPr>
            <a:r>
              <a:rPr lang="en-GB" sz="2800" spc="-5" dirty="0">
                <a:latin typeface="Calibri" panose="020F0502020204030204"/>
                <a:cs typeface="Calibri" panose="020F0502020204030204"/>
              </a:rPr>
              <a:t>Social</a:t>
            </a:r>
            <a:r>
              <a:rPr lang="en-GB" sz="2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Aspects</a:t>
            </a:r>
            <a:endParaRPr lang="en-GB" sz="2800" dirty="0">
              <a:latin typeface="Calibri" panose="020F0502020204030204"/>
              <a:cs typeface="Calibri" panose="020F0502020204030204"/>
            </a:endParaRPr>
          </a:p>
          <a:p>
            <a:pPr marL="932815" lvl="1" indent="-457835">
              <a:lnSpc>
                <a:spcPct val="100000"/>
              </a:lnSpc>
              <a:buFont typeface="Arial" panose="020B0604020202020204"/>
              <a:buChar char="•"/>
              <a:tabLst>
                <a:tab pos="932815" algn="l"/>
                <a:tab pos="933450" algn="l"/>
              </a:tabLst>
            </a:pPr>
            <a:r>
              <a:rPr lang="en-GB" sz="2800" spc="-20" dirty="0">
                <a:latin typeface="Calibri" panose="020F0502020204030204"/>
                <a:cs typeface="Calibri" panose="020F0502020204030204"/>
              </a:rPr>
              <a:t>Psychology</a:t>
            </a:r>
            <a:endParaRPr lang="en-GB" sz="2800" dirty="0">
              <a:latin typeface="Calibri" panose="020F0502020204030204"/>
              <a:cs typeface="Calibri" panose="020F0502020204030204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1061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8095" y="2726435"/>
            <a:ext cx="3803904" cy="4131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73023"/>
            <a:ext cx="2743199" cy="6050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11905" y="582548"/>
            <a:ext cx="7626350" cy="1129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Applied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Sciences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for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Physiotherapy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Practice</a:t>
            </a:r>
            <a:r>
              <a:rPr sz="280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(PT7001)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>
              <a:latin typeface="Times New Roman" panose="02020603050405020304"/>
              <a:cs typeface="Times New Roman" panose="02020603050405020304"/>
            </a:endParaRPr>
          </a:p>
          <a:p>
            <a:pPr marL="5715">
              <a:lnSpc>
                <a:spcPct val="100000"/>
              </a:lnSpc>
            </a:pPr>
            <a:r>
              <a:rPr sz="2800" spc="-20" dirty="0">
                <a:latin typeface="Calibri" panose="020F0502020204030204"/>
                <a:cs typeface="Calibri" panose="020F0502020204030204"/>
              </a:rPr>
              <a:t>Part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 –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Introduction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to</a:t>
            </a:r>
            <a:r>
              <a:rPr sz="2800" spc="9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Module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191" y="0"/>
            <a:ext cx="12179935" cy="6858000"/>
          </a:xfrm>
          <a:custGeom>
            <a:avLst/>
            <a:gdLst/>
            <a:ahLst/>
            <a:cxnLst/>
            <a:rect l="l" t="t" r="r" b="b"/>
            <a:pathLst>
              <a:path w="12179935" h="6858000">
                <a:moveTo>
                  <a:pt x="12179808" y="6857998"/>
                </a:moveTo>
                <a:lnTo>
                  <a:pt x="12179808" y="0"/>
                </a:lnTo>
                <a:lnTo>
                  <a:pt x="0" y="0"/>
                </a:lnTo>
                <a:lnTo>
                  <a:pt x="0" y="6857998"/>
                </a:lnTo>
                <a:lnTo>
                  <a:pt x="12179808" y="685799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74691" y="1706879"/>
            <a:ext cx="1804670" cy="1804670"/>
          </a:xfrm>
          <a:custGeom>
            <a:avLst/>
            <a:gdLst/>
            <a:ahLst/>
            <a:cxnLst/>
            <a:rect l="l" t="t" r="r" b="b"/>
            <a:pathLst>
              <a:path w="1804670" h="1804670">
                <a:moveTo>
                  <a:pt x="902208" y="0"/>
                </a:moveTo>
                <a:lnTo>
                  <a:pt x="854297" y="1250"/>
                </a:lnTo>
                <a:lnTo>
                  <a:pt x="807038" y="4961"/>
                </a:lnTo>
                <a:lnTo>
                  <a:pt x="760491" y="11069"/>
                </a:lnTo>
                <a:lnTo>
                  <a:pt x="714720" y="19512"/>
                </a:lnTo>
                <a:lnTo>
                  <a:pt x="669787" y="30228"/>
                </a:lnTo>
                <a:lnTo>
                  <a:pt x="625754" y="43155"/>
                </a:lnTo>
                <a:lnTo>
                  <a:pt x="582684" y="58229"/>
                </a:lnTo>
                <a:lnTo>
                  <a:pt x="540639" y="75389"/>
                </a:lnTo>
                <a:lnTo>
                  <a:pt x="499681" y="94572"/>
                </a:lnTo>
                <a:lnTo>
                  <a:pt x="459873" y="115717"/>
                </a:lnTo>
                <a:lnTo>
                  <a:pt x="421277" y="138759"/>
                </a:lnTo>
                <a:lnTo>
                  <a:pt x="383956" y="163638"/>
                </a:lnTo>
                <a:lnTo>
                  <a:pt x="347972" y="190290"/>
                </a:lnTo>
                <a:lnTo>
                  <a:pt x="313388" y="218653"/>
                </a:lnTo>
                <a:lnTo>
                  <a:pt x="280264" y="248666"/>
                </a:lnTo>
                <a:lnTo>
                  <a:pt x="248666" y="280264"/>
                </a:lnTo>
                <a:lnTo>
                  <a:pt x="218653" y="313388"/>
                </a:lnTo>
                <a:lnTo>
                  <a:pt x="190290" y="347972"/>
                </a:lnTo>
                <a:lnTo>
                  <a:pt x="163638" y="383956"/>
                </a:lnTo>
                <a:lnTo>
                  <a:pt x="138759" y="421277"/>
                </a:lnTo>
                <a:lnTo>
                  <a:pt x="115717" y="459873"/>
                </a:lnTo>
                <a:lnTo>
                  <a:pt x="94572" y="499681"/>
                </a:lnTo>
                <a:lnTo>
                  <a:pt x="75389" y="540639"/>
                </a:lnTo>
                <a:lnTo>
                  <a:pt x="58229" y="582684"/>
                </a:lnTo>
                <a:lnTo>
                  <a:pt x="43155" y="625754"/>
                </a:lnTo>
                <a:lnTo>
                  <a:pt x="30228" y="669787"/>
                </a:lnTo>
                <a:lnTo>
                  <a:pt x="19512" y="714720"/>
                </a:lnTo>
                <a:lnTo>
                  <a:pt x="11069" y="760491"/>
                </a:lnTo>
                <a:lnTo>
                  <a:pt x="4961" y="807038"/>
                </a:lnTo>
                <a:lnTo>
                  <a:pt x="1250" y="854297"/>
                </a:lnTo>
                <a:lnTo>
                  <a:pt x="0" y="902208"/>
                </a:lnTo>
                <a:lnTo>
                  <a:pt x="1250" y="950118"/>
                </a:lnTo>
                <a:lnTo>
                  <a:pt x="4961" y="997377"/>
                </a:lnTo>
                <a:lnTo>
                  <a:pt x="11069" y="1043924"/>
                </a:lnTo>
                <a:lnTo>
                  <a:pt x="19512" y="1089695"/>
                </a:lnTo>
                <a:lnTo>
                  <a:pt x="30228" y="1134628"/>
                </a:lnTo>
                <a:lnTo>
                  <a:pt x="43155" y="1178661"/>
                </a:lnTo>
                <a:lnTo>
                  <a:pt x="58229" y="1221731"/>
                </a:lnTo>
                <a:lnTo>
                  <a:pt x="75389" y="1263776"/>
                </a:lnTo>
                <a:lnTo>
                  <a:pt x="94572" y="1304734"/>
                </a:lnTo>
                <a:lnTo>
                  <a:pt x="115717" y="1344542"/>
                </a:lnTo>
                <a:lnTo>
                  <a:pt x="138759" y="1383138"/>
                </a:lnTo>
                <a:lnTo>
                  <a:pt x="163638" y="1420459"/>
                </a:lnTo>
                <a:lnTo>
                  <a:pt x="190290" y="1456443"/>
                </a:lnTo>
                <a:lnTo>
                  <a:pt x="218653" y="1491027"/>
                </a:lnTo>
                <a:lnTo>
                  <a:pt x="248666" y="1524151"/>
                </a:lnTo>
                <a:lnTo>
                  <a:pt x="280264" y="1555749"/>
                </a:lnTo>
                <a:lnTo>
                  <a:pt x="313388" y="1585762"/>
                </a:lnTo>
                <a:lnTo>
                  <a:pt x="347972" y="1614125"/>
                </a:lnTo>
                <a:lnTo>
                  <a:pt x="383956" y="1640777"/>
                </a:lnTo>
                <a:lnTo>
                  <a:pt x="421277" y="1665656"/>
                </a:lnTo>
                <a:lnTo>
                  <a:pt x="459873" y="1688698"/>
                </a:lnTo>
                <a:lnTo>
                  <a:pt x="499681" y="1709843"/>
                </a:lnTo>
                <a:lnTo>
                  <a:pt x="540639" y="1729026"/>
                </a:lnTo>
                <a:lnTo>
                  <a:pt x="582684" y="1746186"/>
                </a:lnTo>
                <a:lnTo>
                  <a:pt x="625754" y="1761260"/>
                </a:lnTo>
                <a:lnTo>
                  <a:pt x="669787" y="1774187"/>
                </a:lnTo>
                <a:lnTo>
                  <a:pt x="714720" y="1784903"/>
                </a:lnTo>
                <a:lnTo>
                  <a:pt x="760491" y="1793346"/>
                </a:lnTo>
                <a:lnTo>
                  <a:pt x="807038" y="1799454"/>
                </a:lnTo>
                <a:lnTo>
                  <a:pt x="854297" y="1803165"/>
                </a:lnTo>
                <a:lnTo>
                  <a:pt x="902208" y="1804416"/>
                </a:lnTo>
                <a:lnTo>
                  <a:pt x="950118" y="1803165"/>
                </a:lnTo>
                <a:lnTo>
                  <a:pt x="997377" y="1799454"/>
                </a:lnTo>
                <a:lnTo>
                  <a:pt x="1043924" y="1793346"/>
                </a:lnTo>
                <a:lnTo>
                  <a:pt x="1089695" y="1784903"/>
                </a:lnTo>
                <a:lnTo>
                  <a:pt x="1134628" y="1774187"/>
                </a:lnTo>
                <a:lnTo>
                  <a:pt x="1178661" y="1761260"/>
                </a:lnTo>
                <a:lnTo>
                  <a:pt x="1221731" y="1746186"/>
                </a:lnTo>
                <a:lnTo>
                  <a:pt x="1263776" y="1729026"/>
                </a:lnTo>
                <a:lnTo>
                  <a:pt x="1304734" y="1709843"/>
                </a:lnTo>
                <a:lnTo>
                  <a:pt x="1344542" y="1688698"/>
                </a:lnTo>
                <a:lnTo>
                  <a:pt x="1383138" y="1665656"/>
                </a:lnTo>
                <a:lnTo>
                  <a:pt x="1420459" y="1640777"/>
                </a:lnTo>
                <a:lnTo>
                  <a:pt x="1456443" y="1614125"/>
                </a:lnTo>
                <a:lnTo>
                  <a:pt x="1491027" y="1585762"/>
                </a:lnTo>
                <a:lnTo>
                  <a:pt x="1524151" y="1555749"/>
                </a:lnTo>
                <a:lnTo>
                  <a:pt x="1555749" y="1524151"/>
                </a:lnTo>
                <a:lnTo>
                  <a:pt x="1585762" y="1491027"/>
                </a:lnTo>
                <a:lnTo>
                  <a:pt x="1614125" y="1456443"/>
                </a:lnTo>
                <a:lnTo>
                  <a:pt x="1640777" y="1420459"/>
                </a:lnTo>
                <a:lnTo>
                  <a:pt x="1665656" y="1383138"/>
                </a:lnTo>
                <a:lnTo>
                  <a:pt x="1688698" y="1344542"/>
                </a:lnTo>
                <a:lnTo>
                  <a:pt x="1709843" y="1304734"/>
                </a:lnTo>
                <a:lnTo>
                  <a:pt x="1729026" y="1263776"/>
                </a:lnTo>
                <a:lnTo>
                  <a:pt x="1746186" y="1221731"/>
                </a:lnTo>
                <a:lnTo>
                  <a:pt x="1761260" y="1178661"/>
                </a:lnTo>
                <a:lnTo>
                  <a:pt x="1774187" y="1134628"/>
                </a:lnTo>
                <a:lnTo>
                  <a:pt x="1784903" y="1089695"/>
                </a:lnTo>
                <a:lnTo>
                  <a:pt x="1793346" y="1043924"/>
                </a:lnTo>
                <a:lnTo>
                  <a:pt x="1799454" y="997377"/>
                </a:lnTo>
                <a:lnTo>
                  <a:pt x="1803165" y="950118"/>
                </a:lnTo>
                <a:lnTo>
                  <a:pt x="1804415" y="902208"/>
                </a:lnTo>
                <a:lnTo>
                  <a:pt x="1803165" y="854297"/>
                </a:lnTo>
                <a:lnTo>
                  <a:pt x="1799454" y="807038"/>
                </a:lnTo>
                <a:lnTo>
                  <a:pt x="1793346" y="760491"/>
                </a:lnTo>
                <a:lnTo>
                  <a:pt x="1784903" y="714720"/>
                </a:lnTo>
                <a:lnTo>
                  <a:pt x="1774187" y="669787"/>
                </a:lnTo>
                <a:lnTo>
                  <a:pt x="1761260" y="625754"/>
                </a:lnTo>
                <a:lnTo>
                  <a:pt x="1746186" y="582684"/>
                </a:lnTo>
                <a:lnTo>
                  <a:pt x="1729026" y="540639"/>
                </a:lnTo>
                <a:lnTo>
                  <a:pt x="1709843" y="499681"/>
                </a:lnTo>
                <a:lnTo>
                  <a:pt x="1688698" y="459873"/>
                </a:lnTo>
                <a:lnTo>
                  <a:pt x="1665656" y="421277"/>
                </a:lnTo>
                <a:lnTo>
                  <a:pt x="1640777" y="383956"/>
                </a:lnTo>
                <a:lnTo>
                  <a:pt x="1614125" y="347972"/>
                </a:lnTo>
                <a:lnTo>
                  <a:pt x="1585762" y="313388"/>
                </a:lnTo>
                <a:lnTo>
                  <a:pt x="1555749" y="280264"/>
                </a:lnTo>
                <a:lnTo>
                  <a:pt x="1524151" y="248666"/>
                </a:lnTo>
                <a:lnTo>
                  <a:pt x="1491027" y="218653"/>
                </a:lnTo>
                <a:lnTo>
                  <a:pt x="1456443" y="190290"/>
                </a:lnTo>
                <a:lnTo>
                  <a:pt x="1420459" y="163638"/>
                </a:lnTo>
                <a:lnTo>
                  <a:pt x="1383138" y="138759"/>
                </a:lnTo>
                <a:lnTo>
                  <a:pt x="1344542" y="115717"/>
                </a:lnTo>
                <a:lnTo>
                  <a:pt x="1304734" y="94572"/>
                </a:lnTo>
                <a:lnTo>
                  <a:pt x="1263776" y="75389"/>
                </a:lnTo>
                <a:lnTo>
                  <a:pt x="1221731" y="58229"/>
                </a:lnTo>
                <a:lnTo>
                  <a:pt x="1178661" y="43155"/>
                </a:lnTo>
                <a:lnTo>
                  <a:pt x="1134628" y="30228"/>
                </a:lnTo>
                <a:lnTo>
                  <a:pt x="1089695" y="19512"/>
                </a:lnTo>
                <a:lnTo>
                  <a:pt x="1043924" y="11069"/>
                </a:lnTo>
                <a:lnTo>
                  <a:pt x="997377" y="4961"/>
                </a:lnTo>
                <a:lnTo>
                  <a:pt x="950118" y="1250"/>
                </a:lnTo>
                <a:lnTo>
                  <a:pt x="902208" y="0"/>
                </a:lnTo>
                <a:close/>
              </a:path>
            </a:pathLst>
          </a:custGeom>
          <a:solidFill>
            <a:srgbClr val="FFD966">
              <a:alpha val="4313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74691" y="3142488"/>
            <a:ext cx="1804670" cy="1803400"/>
          </a:xfrm>
          <a:custGeom>
            <a:avLst/>
            <a:gdLst/>
            <a:ahLst/>
            <a:cxnLst/>
            <a:rect l="l" t="t" r="r" b="b"/>
            <a:pathLst>
              <a:path w="1804670" h="1803400">
                <a:moveTo>
                  <a:pt x="902208" y="0"/>
                </a:moveTo>
                <a:lnTo>
                  <a:pt x="854297" y="1249"/>
                </a:lnTo>
                <a:lnTo>
                  <a:pt x="807038" y="4956"/>
                </a:lnTo>
                <a:lnTo>
                  <a:pt x="760491" y="11059"/>
                </a:lnTo>
                <a:lnTo>
                  <a:pt x="714720" y="19494"/>
                </a:lnTo>
                <a:lnTo>
                  <a:pt x="669787" y="30200"/>
                </a:lnTo>
                <a:lnTo>
                  <a:pt x="625754" y="43115"/>
                </a:lnTo>
                <a:lnTo>
                  <a:pt x="582684" y="58175"/>
                </a:lnTo>
                <a:lnTo>
                  <a:pt x="540639" y="75320"/>
                </a:lnTo>
                <a:lnTo>
                  <a:pt x="499681" y="94485"/>
                </a:lnTo>
                <a:lnTo>
                  <a:pt x="459873" y="115610"/>
                </a:lnTo>
                <a:lnTo>
                  <a:pt x="421277" y="138632"/>
                </a:lnTo>
                <a:lnTo>
                  <a:pt x="383956" y="163488"/>
                </a:lnTo>
                <a:lnTo>
                  <a:pt x="347972" y="190117"/>
                </a:lnTo>
                <a:lnTo>
                  <a:pt x="313388" y="218455"/>
                </a:lnTo>
                <a:lnTo>
                  <a:pt x="280264" y="248441"/>
                </a:lnTo>
                <a:lnTo>
                  <a:pt x="248666" y="280012"/>
                </a:lnTo>
                <a:lnTo>
                  <a:pt x="218653" y="313107"/>
                </a:lnTo>
                <a:lnTo>
                  <a:pt x="190290" y="347661"/>
                </a:lnTo>
                <a:lnTo>
                  <a:pt x="163638" y="383615"/>
                </a:lnTo>
                <a:lnTo>
                  <a:pt x="138759" y="420904"/>
                </a:lnTo>
                <a:lnTo>
                  <a:pt x="115717" y="459467"/>
                </a:lnTo>
                <a:lnTo>
                  <a:pt x="94572" y="499242"/>
                </a:lnTo>
                <a:lnTo>
                  <a:pt x="75389" y="540165"/>
                </a:lnTo>
                <a:lnTo>
                  <a:pt x="58229" y="582176"/>
                </a:lnTo>
                <a:lnTo>
                  <a:pt x="43155" y="625211"/>
                </a:lnTo>
                <a:lnTo>
                  <a:pt x="30228" y="669208"/>
                </a:lnTo>
                <a:lnTo>
                  <a:pt x="19512" y="714105"/>
                </a:lnTo>
                <a:lnTo>
                  <a:pt x="11069" y="759839"/>
                </a:lnTo>
                <a:lnTo>
                  <a:pt x="4961" y="806349"/>
                </a:lnTo>
                <a:lnTo>
                  <a:pt x="1250" y="853572"/>
                </a:lnTo>
                <a:lnTo>
                  <a:pt x="0" y="901445"/>
                </a:lnTo>
                <a:lnTo>
                  <a:pt x="1250" y="949319"/>
                </a:lnTo>
                <a:lnTo>
                  <a:pt x="4961" y="996542"/>
                </a:lnTo>
                <a:lnTo>
                  <a:pt x="11069" y="1043052"/>
                </a:lnTo>
                <a:lnTo>
                  <a:pt x="19512" y="1088786"/>
                </a:lnTo>
                <a:lnTo>
                  <a:pt x="30228" y="1133683"/>
                </a:lnTo>
                <a:lnTo>
                  <a:pt x="43155" y="1177680"/>
                </a:lnTo>
                <a:lnTo>
                  <a:pt x="58229" y="1220715"/>
                </a:lnTo>
                <a:lnTo>
                  <a:pt x="75389" y="1262726"/>
                </a:lnTo>
                <a:lnTo>
                  <a:pt x="94572" y="1303649"/>
                </a:lnTo>
                <a:lnTo>
                  <a:pt x="115717" y="1343424"/>
                </a:lnTo>
                <a:lnTo>
                  <a:pt x="138759" y="1381987"/>
                </a:lnTo>
                <a:lnTo>
                  <a:pt x="163638" y="1419276"/>
                </a:lnTo>
                <a:lnTo>
                  <a:pt x="190290" y="1455230"/>
                </a:lnTo>
                <a:lnTo>
                  <a:pt x="218653" y="1489784"/>
                </a:lnTo>
                <a:lnTo>
                  <a:pt x="248666" y="1522879"/>
                </a:lnTo>
                <a:lnTo>
                  <a:pt x="280264" y="1554450"/>
                </a:lnTo>
                <a:lnTo>
                  <a:pt x="313388" y="1584436"/>
                </a:lnTo>
                <a:lnTo>
                  <a:pt x="347972" y="1612774"/>
                </a:lnTo>
                <a:lnTo>
                  <a:pt x="383956" y="1639403"/>
                </a:lnTo>
                <a:lnTo>
                  <a:pt x="421277" y="1664259"/>
                </a:lnTo>
                <a:lnTo>
                  <a:pt x="459873" y="1687281"/>
                </a:lnTo>
                <a:lnTo>
                  <a:pt x="499681" y="1708406"/>
                </a:lnTo>
                <a:lnTo>
                  <a:pt x="540639" y="1727571"/>
                </a:lnTo>
                <a:lnTo>
                  <a:pt x="582684" y="1744716"/>
                </a:lnTo>
                <a:lnTo>
                  <a:pt x="625754" y="1759776"/>
                </a:lnTo>
                <a:lnTo>
                  <a:pt x="669787" y="1772691"/>
                </a:lnTo>
                <a:lnTo>
                  <a:pt x="714720" y="1783397"/>
                </a:lnTo>
                <a:lnTo>
                  <a:pt x="760491" y="1791832"/>
                </a:lnTo>
                <a:lnTo>
                  <a:pt x="807038" y="1797935"/>
                </a:lnTo>
                <a:lnTo>
                  <a:pt x="854297" y="1801642"/>
                </a:lnTo>
                <a:lnTo>
                  <a:pt x="902208" y="1802892"/>
                </a:lnTo>
                <a:lnTo>
                  <a:pt x="950118" y="1801642"/>
                </a:lnTo>
                <a:lnTo>
                  <a:pt x="997377" y="1797935"/>
                </a:lnTo>
                <a:lnTo>
                  <a:pt x="1043924" y="1791832"/>
                </a:lnTo>
                <a:lnTo>
                  <a:pt x="1089695" y="1783397"/>
                </a:lnTo>
                <a:lnTo>
                  <a:pt x="1134628" y="1772691"/>
                </a:lnTo>
                <a:lnTo>
                  <a:pt x="1178661" y="1759776"/>
                </a:lnTo>
                <a:lnTo>
                  <a:pt x="1221731" y="1744716"/>
                </a:lnTo>
                <a:lnTo>
                  <a:pt x="1263776" y="1727571"/>
                </a:lnTo>
                <a:lnTo>
                  <a:pt x="1304734" y="1708406"/>
                </a:lnTo>
                <a:lnTo>
                  <a:pt x="1344542" y="1687281"/>
                </a:lnTo>
                <a:lnTo>
                  <a:pt x="1383138" y="1664259"/>
                </a:lnTo>
                <a:lnTo>
                  <a:pt x="1420459" y="1639403"/>
                </a:lnTo>
                <a:lnTo>
                  <a:pt x="1456443" y="1612774"/>
                </a:lnTo>
                <a:lnTo>
                  <a:pt x="1491027" y="1584436"/>
                </a:lnTo>
                <a:lnTo>
                  <a:pt x="1524151" y="1554450"/>
                </a:lnTo>
                <a:lnTo>
                  <a:pt x="1555749" y="1522879"/>
                </a:lnTo>
                <a:lnTo>
                  <a:pt x="1585762" y="1489784"/>
                </a:lnTo>
                <a:lnTo>
                  <a:pt x="1614125" y="1455230"/>
                </a:lnTo>
                <a:lnTo>
                  <a:pt x="1640777" y="1419276"/>
                </a:lnTo>
                <a:lnTo>
                  <a:pt x="1665656" y="1381987"/>
                </a:lnTo>
                <a:lnTo>
                  <a:pt x="1688698" y="1343424"/>
                </a:lnTo>
                <a:lnTo>
                  <a:pt x="1709843" y="1303649"/>
                </a:lnTo>
                <a:lnTo>
                  <a:pt x="1729026" y="1262726"/>
                </a:lnTo>
                <a:lnTo>
                  <a:pt x="1746186" y="1220715"/>
                </a:lnTo>
                <a:lnTo>
                  <a:pt x="1761260" y="1177680"/>
                </a:lnTo>
                <a:lnTo>
                  <a:pt x="1774187" y="1133683"/>
                </a:lnTo>
                <a:lnTo>
                  <a:pt x="1784903" y="1088786"/>
                </a:lnTo>
                <a:lnTo>
                  <a:pt x="1793346" y="1043052"/>
                </a:lnTo>
                <a:lnTo>
                  <a:pt x="1799454" y="996542"/>
                </a:lnTo>
                <a:lnTo>
                  <a:pt x="1803165" y="949319"/>
                </a:lnTo>
                <a:lnTo>
                  <a:pt x="1804415" y="901445"/>
                </a:lnTo>
                <a:lnTo>
                  <a:pt x="1803165" y="853572"/>
                </a:lnTo>
                <a:lnTo>
                  <a:pt x="1799454" y="806349"/>
                </a:lnTo>
                <a:lnTo>
                  <a:pt x="1793346" y="759839"/>
                </a:lnTo>
                <a:lnTo>
                  <a:pt x="1784903" y="714105"/>
                </a:lnTo>
                <a:lnTo>
                  <a:pt x="1774187" y="669208"/>
                </a:lnTo>
                <a:lnTo>
                  <a:pt x="1761260" y="625211"/>
                </a:lnTo>
                <a:lnTo>
                  <a:pt x="1746186" y="582176"/>
                </a:lnTo>
                <a:lnTo>
                  <a:pt x="1729026" y="540165"/>
                </a:lnTo>
                <a:lnTo>
                  <a:pt x="1709843" y="499242"/>
                </a:lnTo>
                <a:lnTo>
                  <a:pt x="1688698" y="459467"/>
                </a:lnTo>
                <a:lnTo>
                  <a:pt x="1665656" y="420904"/>
                </a:lnTo>
                <a:lnTo>
                  <a:pt x="1640777" y="383615"/>
                </a:lnTo>
                <a:lnTo>
                  <a:pt x="1614125" y="347661"/>
                </a:lnTo>
                <a:lnTo>
                  <a:pt x="1585762" y="313107"/>
                </a:lnTo>
                <a:lnTo>
                  <a:pt x="1555749" y="280012"/>
                </a:lnTo>
                <a:lnTo>
                  <a:pt x="1524151" y="248441"/>
                </a:lnTo>
                <a:lnTo>
                  <a:pt x="1491027" y="218455"/>
                </a:lnTo>
                <a:lnTo>
                  <a:pt x="1456443" y="190117"/>
                </a:lnTo>
                <a:lnTo>
                  <a:pt x="1420459" y="163488"/>
                </a:lnTo>
                <a:lnTo>
                  <a:pt x="1383138" y="138632"/>
                </a:lnTo>
                <a:lnTo>
                  <a:pt x="1344542" y="115610"/>
                </a:lnTo>
                <a:lnTo>
                  <a:pt x="1304734" y="94485"/>
                </a:lnTo>
                <a:lnTo>
                  <a:pt x="1263776" y="75320"/>
                </a:lnTo>
                <a:lnTo>
                  <a:pt x="1221731" y="58175"/>
                </a:lnTo>
                <a:lnTo>
                  <a:pt x="1178661" y="43115"/>
                </a:lnTo>
                <a:lnTo>
                  <a:pt x="1134628" y="30200"/>
                </a:lnTo>
                <a:lnTo>
                  <a:pt x="1089695" y="19494"/>
                </a:lnTo>
                <a:lnTo>
                  <a:pt x="1043924" y="11059"/>
                </a:lnTo>
                <a:lnTo>
                  <a:pt x="997377" y="4956"/>
                </a:lnTo>
                <a:lnTo>
                  <a:pt x="950118" y="1249"/>
                </a:lnTo>
                <a:lnTo>
                  <a:pt x="902208" y="0"/>
                </a:lnTo>
                <a:close/>
              </a:path>
            </a:pathLst>
          </a:custGeom>
          <a:solidFill>
            <a:srgbClr val="A9D18E">
              <a:alpha val="4313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96000" y="2424683"/>
            <a:ext cx="1803400" cy="1804670"/>
          </a:xfrm>
          <a:custGeom>
            <a:avLst/>
            <a:gdLst/>
            <a:ahLst/>
            <a:cxnLst/>
            <a:rect l="l" t="t" r="r" b="b"/>
            <a:pathLst>
              <a:path w="1803400" h="1804670">
                <a:moveTo>
                  <a:pt x="901446" y="0"/>
                </a:moveTo>
                <a:lnTo>
                  <a:pt x="853572" y="1250"/>
                </a:lnTo>
                <a:lnTo>
                  <a:pt x="806349" y="4961"/>
                </a:lnTo>
                <a:lnTo>
                  <a:pt x="759839" y="11069"/>
                </a:lnTo>
                <a:lnTo>
                  <a:pt x="714105" y="19512"/>
                </a:lnTo>
                <a:lnTo>
                  <a:pt x="669208" y="30228"/>
                </a:lnTo>
                <a:lnTo>
                  <a:pt x="625211" y="43155"/>
                </a:lnTo>
                <a:lnTo>
                  <a:pt x="582176" y="58229"/>
                </a:lnTo>
                <a:lnTo>
                  <a:pt x="540165" y="75389"/>
                </a:lnTo>
                <a:lnTo>
                  <a:pt x="499242" y="94572"/>
                </a:lnTo>
                <a:lnTo>
                  <a:pt x="459467" y="115717"/>
                </a:lnTo>
                <a:lnTo>
                  <a:pt x="420904" y="138759"/>
                </a:lnTo>
                <a:lnTo>
                  <a:pt x="383615" y="163638"/>
                </a:lnTo>
                <a:lnTo>
                  <a:pt x="347661" y="190290"/>
                </a:lnTo>
                <a:lnTo>
                  <a:pt x="313107" y="218653"/>
                </a:lnTo>
                <a:lnTo>
                  <a:pt x="280012" y="248666"/>
                </a:lnTo>
                <a:lnTo>
                  <a:pt x="248441" y="280264"/>
                </a:lnTo>
                <a:lnTo>
                  <a:pt x="218455" y="313388"/>
                </a:lnTo>
                <a:lnTo>
                  <a:pt x="190117" y="347972"/>
                </a:lnTo>
                <a:lnTo>
                  <a:pt x="163488" y="383956"/>
                </a:lnTo>
                <a:lnTo>
                  <a:pt x="138632" y="421277"/>
                </a:lnTo>
                <a:lnTo>
                  <a:pt x="115610" y="459873"/>
                </a:lnTo>
                <a:lnTo>
                  <a:pt x="94485" y="499681"/>
                </a:lnTo>
                <a:lnTo>
                  <a:pt x="75320" y="540639"/>
                </a:lnTo>
                <a:lnTo>
                  <a:pt x="58175" y="582684"/>
                </a:lnTo>
                <a:lnTo>
                  <a:pt x="43115" y="625754"/>
                </a:lnTo>
                <a:lnTo>
                  <a:pt x="30200" y="669787"/>
                </a:lnTo>
                <a:lnTo>
                  <a:pt x="19494" y="714720"/>
                </a:lnTo>
                <a:lnTo>
                  <a:pt x="11059" y="760491"/>
                </a:lnTo>
                <a:lnTo>
                  <a:pt x="4956" y="807038"/>
                </a:lnTo>
                <a:lnTo>
                  <a:pt x="1249" y="854297"/>
                </a:lnTo>
                <a:lnTo>
                  <a:pt x="0" y="902207"/>
                </a:lnTo>
                <a:lnTo>
                  <a:pt x="1249" y="950118"/>
                </a:lnTo>
                <a:lnTo>
                  <a:pt x="4956" y="997377"/>
                </a:lnTo>
                <a:lnTo>
                  <a:pt x="11059" y="1043924"/>
                </a:lnTo>
                <a:lnTo>
                  <a:pt x="19494" y="1089695"/>
                </a:lnTo>
                <a:lnTo>
                  <a:pt x="30200" y="1134628"/>
                </a:lnTo>
                <a:lnTo>
                  <a:pt x="43115" y="1178661"/>
                </a:lnTo>
                <a:lnTo>
                  <a:pt x="58175" y="1221731"/>
                </a:lnTo>
                <a:lnTo>
                  <a:pt x="75320" y="1263776"/>
                </a:lnTo>
                <a:lnTo>
                  <a:pt x="94485" y="1304734"/>
                </a:lnTo>
                <a:lnTo>
                  <a:pt x="115610" y="1344542"/>
                </a:lnTo>
                <a:lnTo>
                  <a:pt x="138632" y="1383138"/>
                </a:lnTo>
                <a:lnTo>
                  <a:pt x="163488" y="1420459"/>
                </a:lnTo>
                <a:lnTo>
                  <a:pt x="190117" y="1456443"/>
                </a:lnTo>
                <a:lnTo>
                  <a:pt x="218455" y="1491027"/>
                </a:lnTo>
                <a:lnTo>
                  <a:pt x="248441" y="1524151"/>
                </a:lnTo>
                <a:lnTo>
                  <a:pt x="280012" y="1555749"/>
                </a:lnTo>
                <a:lnTo>
                  <a:pt x="313107" y="1585762"/>
                </a:lnTo>
                <a:lnTo>
                  <a:pt x="347661" y="1614125"/>
                </a:lnTo>
                <a:lnTo>
                  <a:pt x="383615" y="1640777"/>
                </a:lnTo>
                <a:lnTo>
                  <a:pt x="420904" y="1665656"/>
                </a:lnTo>
                <a:lnTo>
                  <a:pt x="459467" y="1688698"/>
                </a:lnTo>
                <a:lnTo>
                  <a:pt x="499242" y="1709843"/>
                </a:lnTo>
                <a:lnTo>
                  <a:pt x="540165" y="1729026"/>
                </a:lnTo>
                <a:lnTo>
                  <a:pt x="582176" y="1746186"/>
                </a:lnTo>
                <a:lnTo>
                  <a:pt x="625211" y="1761260"/>
                </a:lnTo>
                <a:lnTo>
                  <a:pt x="669208" y="1774187"/>
                </a:lnTo>
                <a:lnTo>
                  <a:pt x="714105" y="1784903"/>
                </a:lnTo>
                <a:lnTo>
                  <a:pt x="759839" y="1793346"/>
                </a:lnTo>
                <a:lnTo>
                  <a:pt x="806349" y="1799454"/>
                </a:lnTo>
                <a:lnTo>
                  <a:pt x="853572" y="1803165"/>
                </a:lnTo>
                <a:lnTo>
                  <a:pt x="901446" y="1804415"/>
                </a:lnTo>
                <a:lnTo>
                  <a:pt x="949319" y="1803165"/>
                </a:lnTo>
                <a:lnTo>
                  <a:pt x="996542" y="1799454"/>
                </a:lnTo>
                <a:lnTo>
                  <a:pt x="1043052" y="1793346"/>
                </a:lnTo>
                <a:lnTo>
                  <a:pt x="1088786" y="1784903"/>
                </a:lnTo>
                <a:lnTo>
                  <a:pt x="1133683" y="1774187"/>
                </a:lnTo>
                <a:lnTo>
                  <a:pt x="1177680" y="1761260"/>
                </a:lnTo>
                <a:lnTo>
                  <a:pt x="1220715" y="1746186"/>
                </a:lnTo>
                <a:lnTo>
                  <a:pt x="1262726" y="1729026"/>
                </a:lnTo>
                <a:lnTo>
                  <a:pt x="1303649" y="1709843"/>
                </a:lnTo>
                <a:lnTo>
                  <a:pt x="1343424" y="1688698"/>
                </a:lnTo>
                <a:lnTo>
                  <a:pt x="1381987" y="1665656"/>
                </a:lnTo>
                <a:lnTo>
                  <a:pt x="1419276" y="1640777"/>
                </a:lnTo>
                <a:lnTo>
                  <a:pt x="1455230" y="1614125"/>
                </a:lnTo>
                <a:lnTo>
                  <a:pt x="1489784" y="1585762"/>
                </a:lnTo>
                <a:lnTo>
                  <a:pt x="1522879" y="1555749"/>
                </a:lnTo>
                <a:lnTo>
                  <a:pt x="1554450" y="1524151"/>
                </a:lnTo>
                <a:lnTo>
                  <a:pt x="1584436" y="1491027"/>
                </a:lnTo>
                <a:lnTo>
                  <a:pt x="1612774" y="1456443"/>
                </a:lnTo>
                <a:lnTo>
                  <a:pt x="1639403" y="1420459"/>
                </a:lnTo>
                <a:lnTo>
                  <a:pt x="1664259" y="1383138"/>
                </a:lnTo>
                <a:lnTo>
                  <a:pt x="1687281" y="1344542"/>
                </a:lnTo>
                <a:lnTo>
                  <a:pt x="1708406" y="1304734"/>
                </a:lnTo>
                <a:lnTo>
                  <a:pt x="1727571" y="1263776"/>
                </a:lnTo>
                <a:lnTo>
                  <a:pt x="1744716" y="1221731"/>
                </a:lnTo>
                <a:lnTo>
                  <a:pt x="1759776" y="1178661"/>
                </a:lnTo>
                <a:lnTo>
                  <a:pt x="1772691" y="1134628"/>
                </a:lnTo>
                <a:lnTo>
                  <a:pt x="1783397" y="1089695"/>
                </a:lnTo>
                <a:lnTo>
                  <a:pt x="1791832" y="1043924"/>
                </a:lnTo>
                <a:lnTo>
                  <a:pt x="1797935" y="997377"/>
                </a:lnTo>
                <a:lnTo>
                  <a:pt x="1801642" y="950118"/>
                </a:lnTo>
                <a:lnTo>
                  <a:pt x="1802892" y="902207"/>
                </a:lnTo>
                <a:lnTo>
                  <a:pt x="1801642" y="854297"/>
                </a:lnTo>
                <a:lnTo>
                  <a:pt x="1797935" y="807038"/>
                </a:lnTo>
                <a:lnTo>
                  <a:pt x="1791832" y="760491"/>
                </a:lnTo>
                <a:lnTo>
                  <a:pt x="1783397" y="714720"/>
                </a:lnTo>
                <a:lnTo>
                  <a:pt x="1772691" y="669787"/>
                </a:lnTo>
                <a:lnTo>
                  <a:pt x="1759776" y="625754"/>
                </a:lnTo>
                <a:lnTo>
                  <a:pt x="1744716" y="582684"/>
                </a:lnTo>
                <a:lnTo>
                  <a:pt x="1727571" y="540639"/>
                </a:lnTo>
                <a:lnTo>
                  <a:pt x="1708406" y="499681"/>
                </a:lnTo>
                <a:lnTo>
                  <a:pt x="1687281" y="459873"/>
                </a:lnTo>
                <a:lnTo>
                  <a:pt x="1664259" y="421277"/>
                </a:lnTo>
                <a:lnTo>
                  <a:pt x="1639403" y="383956"/>
                </a:lnTo>
                <a:lnTo>
                  <a:pt x="1612774" y="347972"/>
                </a:lnTo>
                <a:lnTo>
                  <a:pt x="1584436" y="313388"/>
                </a:lnTo>
                <a:lnTo>
                  <a:pt x="1554450" y="280264"/>
                </a:lnTo>
                <a:lnTo>
                  <a:pt x="1522879" y="248666"/>
                </a:lnTo>
                <a:lnTo>
                  <a:pt x="1489784" y="218653"/>
                </a:lnTo>
                <a:lnTo>
                  <a:pt x="1455230" y="190290"/>
                </a:lnTo>
                <a:lnTo>
                  <a:pt x="1419276" y="163638"/>
                </a:lnTo>
                <a:lnTo>
                  <a:pt x="1381987" y="138759"/>
                </a:lnTo>
                <a:lnTo>
                  <a:pt x="1343424" y="115717"/>
                </a:lnTo>
                <a:lnTo>
                  <a:pt x="1303649" y="94572"/>
                </a:lnTo>
                <a:lnTo>
                  <a:pt x="1262726" y="75389"/>
                </a:lnTo>
                <a:lnTo>
                  <a:pt x="1220715" y="58229"/>
                </a:lnTo>
                <a:lnTo>
                  <a:pt x="1177680" y="43155"/>
                </a:lnTo>
                <a:lnTo>
                  <a:pt x="1133683" y="30228"/>
                </a:lnTo>
                <a:lnTo>
                  <a:pt x="1088786" y="19512"/>
                </a:lnTo>
                <a:lnTo>
                  <a:pt x="1043052" y="11069"/>
                </a:lnTo>
                <a:lnTo>
                  <a:pt x="996542" y="4961"/>
                </a:lnTo>
                <a:lnTo>
                  <a:pt x="949319" y="1250"/>
                </a:lnTo>
                <a:lnTo>
                  <a:pt x="901446" y="0"/>
                </a:lnTo>
                <a:close/>
              </a:path>
            </a:pathLst>
          </a:custGeom>
          <a:solidFill>
            <a:srgbClr val="B4C6E7">
              <a:alpha val="4313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118608" y="2462606"/>
            <a:ext cx="2335530" cy="1717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211580" algn="ctr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latin typeface="Calibri" panose="020F0502020204030204"/>
                <a:cs typeface="Calibri" panose="020F0502020204030204"/>
              </a:rPr>
              <a:t>P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sy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ch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logi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al</a:t>
            </a:r>
            <a:endParaRPr sz="160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00" dirty="0">
              <a:latin typeface="Times New Roman" panose="02020603050405020304"/>
              <a:cs typeface="Times New Roman" panose="02020603050405020304"/>
            </a:endParaRPr>
          </a:p>
          <a:p>
            <a:pPr marL="1437005">
              <a:lnSpc>
                <a:spcPct val="10000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Bio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ogi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c</a:t>
            </a:r>
            <a:r>
              <a:rPr sz="1800" dirty="0">
                <a:latin typeface="Calibri" panose="020F0502020204030204"/>
                <a:cs typeface="Calibri" panose="020F0502020204030204"/>
              </a:rPr>
              <a:t>al</a:t>
            </a:r>
          </a:p>
          <a:p>
            <a:pPr>
              <a:lnSpc>
                <a:spcPct val="100000"/>
              </a:lnSpc>
            </a:pP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R="1209675" algn="ctr">
              <a:lnSpc>
                <a:spcPct val="100000"/>
              </a:lnSpc>
              <a:spcBef>
                <a:spcPts val="1420"/>
              </a:spcBef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Social</a:t>
            </a:r>
            <a:endParaRPr sz="18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8095" y="2726435"/>
            <a:ext cx="3803904" cy="4131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73023"/>
            <a:ext cx="2743199" cy="6050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11905" y="582548"/>
            <a:ext cx="7626350" cy="1129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Applied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Sciences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for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Physiotherapy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Practice</a:t>
            </a:r>
            <a:r>
              <a:rPr sz="280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(PT7001)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>
              <a:latin typeface="Times New Roman" panose="02020603050405020304"/>
              <a:cs typeface="Times New Roman" panose="02020603050405020304"/>
            </a:endParaRPr>
          </a:p>
          <a:p>
            <a:pPr marL="5715">
              <a:lnSpc>
                <a:spcPct val="100000"/>
              </a:lnSpc>
            </a:pPr>
            <a:r>
              <a:rPr sz="2800" spc="-20" dirty="0">
                <a:latin typeface="Calibri" panose="020F0502020204030204"/>
                <a:cs typeface="Calibri" panose="020F0502020204030204"/>
              </a:rPr>
              <a:t>Part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 –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Introduction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to</a:t>
            </a:r>
            <a:r>
              <a:rPr sz="2800" spc="9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Module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191" y="0"/>
            <a:ext cx="12179935" cy="6858000"/>
          </a:xfrm>
          <a:custGeom>
            <a:avLst/>
            <a:gdLst/>
            <a:ahLst/>
            <a:cxnLst/>
            <a:rect l="l" t="t" r="r" b="b"/>
            <a:pathLst>
              <a:path w="12179935" h="6858000">
                <a:moveTo>
                  <a:pt x="12179808" y="6857998"/>
                </a:moveTo>
                <a:lnTo>
                  <a:pt x="12179808" y="0"/>
                </a:lnTo>
                <a:lnTo>
                  <a:pt x="0" y="0"/>
                </a:lnTo>
                <a:lnTo>
                  <a:pt x="0" y="6857998"/>
                </a:lnTo>
                <a:lnTo>
                  <a:pt x="12179808" y="685799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74691" y="1706879"/>
            <a:ext cx="1804670" cy="1804670"/>
          </a:xfrm>
          <a:custGeom>
            <a:avLst/>
            <a:gdLst/>
            <a:ahLst/>
            <a:cxnLst/>
            <a:rect l="l" t="t" r="r" b="b"/>
            <a:pathLst>
              <a:path w="1804670" h="1804670">
                <a:moveTo>
                  <a:pt x="902208" y="0"/>
                </a:moveTo>
                <a:lnTo>
                  <a:pt x="854297" y="1250"/>
                </a:lnTo>
                <a:lnTo>
                  <a:pt x="807038" y="4961"/>
                </a:lnTo>
                <a:lnTo>
                  <a:pt x="760491" y="11069"/>
                </a:lnTo>
                <a:lnTo>
                  <a:pt x="714720" y="19512"/>
                </a:lnTo>
                <a:lnTo>
                  <a:pt x="669787" y="30228"/>
                </a:lnTo>
                <a:lnTo>
                  <a:pt x="625754" y="43155"/>
                </a:lnTo>
                <a:lnTo>
                  <a:pt x="582684" y="58229"/>
                </a:lnTo>
                <a:lnTo>
                  <a:pt x="540639" y="75389"/>
                </a:lnTo>
                <a:lnTo>
                  <a:pt x="499681" y="94572"/>
                </a:lnTo>
                <a:lnTo>
                  <a:pt x="459873" y="115717"/>
                </a:lnTo>
                <a:lnTo>
                  <a:pt x="421277" y="138759"/>
                </a:lnTo>
                <a:lnTo>
                  <a:pt x="383956" y="163638"/>
                </a:lnTo>
                <a:lnTo>
                  <a:pt x="347972" y="190290"/>
                </a:lnTo>
                <a:lnTo>
                  <a:pt x="313388" y="218653"/>
                </a:lnTo>
                <a:lnTo>
                  <a:pt x="280264" y="248666"/>
                </a:lnTo>
                <a:lnTo>
                  <a:pt x="248666" y="280264"/>
                </a:lnTo>
                <a:lnTo>
                  <a:pt x="218653" y="313388"/>
                </a:lnTo>
                <a:lnTo>
                  <a:pt x="190290" y="347972"/>
                </a:lnTo>
                <a:lnTo>
                  <a:pt x="163638" y="383956"/>
                </a:lnTo>
                <a:lnTo>
                  <a:pt x="138759" y="421277"/>
                </a:lnTo>
                <a:lnTo>
                  <a:pt x="115717" y="459873"/>
                </a:lnTo>
                <a:lnTo>
                  <a:pt x="94572" y="499681"/>
                </a:lnTo>
                <a:lnTo>
                  <a:pt x="75389" y="540639"/>
                </a:lnTo>
                <a:lnTo>
                  <a:pt x="58229" y="582684"/>
                </a:lnTo>
                <a:lnTo>
                  <a:pt x="43155" y="625754"/>
                </a:lnTo>
                <a:lnTo>
                  <a:pt x="30228" y="669787"/>
                </a:lnTo>
                <a:lnTo>
                  <a:pt x="19512" y="714720"/>
                </a:lnTo>
                <a:lnTo>
                  <a:pt x="11069" y="760491"/>
                </a:lnTo>
                <a:lnTo>
                  <a:pt x="4961" y="807038"/>
                </a:lnTo>
                <a:lnTo>
                  <a:pt x="1250" y="854297"/>
                </a:lnTo>
                <a:lnTo>
                  <a:pt x="0" y="902208"/>
                </a:lnTo>
                <a:lnTo>
                  <a:pt x="1250" y="950118"/>
                </a:lnTo>
                <a:lnTo>
                  <a:pt x="4961" y="997377"/>
                </a:lnTo>
                <a:lnTo>
                  <a:pt x="11069" y="1043924"/>
                </a:lnTo>
                <a:lnTo>
                  <a:pt x="19512" y="1089695"/>
                </a:lnTo>
                <a:lnTo>
                  <a:pt x="30228" y="1134628"/>
                </a:lnTo>
                <a:lnTo>
                  <a:pt x="43155" y="1178661"/>
                </a:lnTo>
                <a:lnTo>
                  <a:pt x="58229" y="1221731"/>
                </a:lnTo>
                <a:lnTo>
                  <a:pt x="75389" y="1263776"/>
                </a:lnTo>
                <a:lnTo>
                  <a:pt x="94572" y="1304734"/>
                </a:lnTo>
                <a:lnTo>
                  <a:pt x="115717" y="1344542"/>
                </a:lnTo>
                <a:lnTo>
                  <a:pt x="138759" y="1383138"/>
                </a:lnTo>
                <a:lnTo>
                  <a:pt x="163638" y="1420459"/>
                </a:lnTo>
                <a:lnTo>
                  <a:pt x="190290" y="1456443"/>
                </a:lnTo>
                <a:lnTo>
                  <a:pt x="218653" y="1491027"/>
                </a:lnTo>
                <a:lnTo>
                  <a:pt x="248666" y="1524151"/>
                </a:lnTo>
                <a:lnTo>
                  <a:pt x="280264" y="1555749"/>
                </a:lnTo>
                <a:lnTo>
                  <a:pt x="313388" y="1585762"/>
                </a:lnTo>
                <a:lnTo>
                  <a:pt x="347972" y="1614125"/>
                </a:lnTo>
                <a:lnTo>
                  <a:pt x="383956" y="1640777"/>
                </a:lnTo>
                <a:lnTo>
                  <a:pt x="421277" y="1665656"/>
                </a:lnTo>
                <a:lnTo>
                  <a:pt x="459873" y="1688698"/>
                </a:lnTo>
                <a:lnTo>
                  <a:pt x="499681" y="1709843"/>
                </a:lnTo>
                <a:lnTo>
                  <a:pt x="540639" y="1729026"/>
                </a:lnTo>
                <a:lnTo>
                  <a:pt x="582684" y="1746186"/>
                </a:lnTo>
                <a:lnTo>
                  <a:pt x="625754" y="1761260"/>
                </a:lnTo>
                <a:lnTo>
                  <a:pt x="669787" y="1774187"/>
                </a:lnTo>
                <a:lnTo>
                  <a:pt x="714720" y="1784903"/>
                </a:lnTo>
                <a:lnTo>
                  <a:pt x="760491" y="1793346"/>
                </a:lnTo>
                <a:lnTo>
                  <a:pt x="807038" y="1799454"/>
                </a:lnTo>
                <a:lnTo>
                  <a:pt x="854297" y="1803165"/>
                </a:lnTo>
                <a:lnTo>
                  <a:pt x="902208" y="1804416"/>
                </a:lnTo>
                <a:lnTo>
                  <a:pt x="950118" y="1803165"/>
                </a:lnTo>
                <a:lnTo>
                  <a:pt x="997377" y="1799454"/>
                </a:lnTo>
                <a:lnTo>
                  <a:pt x="1043924" y="1793346"/>
                </a:lnTo>
                <a:lnTo>
                  <a:pt x="1089695" y="1784903"/>
                </a:lnTo>
                <a:lnTo>
                  <a:pt x="1134628" y="1774187"/>
                </a:lnTo>
                <a:lnTo>
                  <a:pt x="1178661" y="1761260"/>
                </a:lnTo>
                <a:lnTo>
                  <a:pt x="1221731" y="1746186"/>
                </a:lnTo>
                <a:lnTo>
                  <a:pt x="1263776" y="1729026"/>
                </a:lnTo>
                <a:lnTo>
                  <a:pt x="1304734" y="1709843"/>
                </a:lnTo>
                <a:lnTo>
                  <a:pt x="1344542" y="1688698"/>
                </a:lnTo>
                <a:lnTo>
                  <a:pt x="1383138" y="1665656"/>
                </a:lnTo>
                <a:lnTo>
                  <a:pt x="1420459" y="1640777"/>
                </a:lnTo>
                <a:lnTo>
                  <a:pt x="1456443" y="1614125"/>
                </a:lnTo>
                <a:lnTo>
                  <a:pt x="1491027" y="1585762"/>
                </a:lnTo>
                <a:lnTo>
                  <a:pt x="1524151" y="1555749"/>
                </a:lnTo>
                <a:lnTo>
                  <a:pt x="1555749" y="1524151"/>
                </a:lnTo>
                <a:lnTo>
                  <a:pt x="1585762" y="1491027"/>
                </a:lnTo>
                <a:lnTo>
                  <a:pt x="1614125" y="1456443"/>
                </a:lnTo>
                <a:lnTo>
                  <a:pt x="1640777" y="1420459"/>
                </a:lnTo>
                <a:lnTo>
                  <a:pt x="1665656" y="1383138"/>
                </a:lnTo>
                <a:lnTo>
                  <a:pt x="1688698" y="1344542"/>
                </a:lnTo>
                <a:lnTo>
                  <a:pt x="1709843" y="1304734"/>
                </a:lnTo>
                <a:lnTo>
                  <a:pt x="1729026" y="1263776"/>
                </a:lnTo>
                <a:lnTo>
                  <a:pt x="1746186" y="1221731"/>
                </a:lnTo>
                <a:lnTo>
                  <a:pt x="1761260" y="1178661"/>
                </a:lnTo>
                <a:lnTo>
                  <a:pt x="1774187" y="1134628"/>
                </a:lnTo>
                <a:lnTo>
                  <a:pt x="1784903" y="1089695"/>
                </a:lnTo>
                <a:lnTo>
                  <a:pt x="1793346" y="1043924"/>
                </a:lnTo>
                <a:lnTo>
                  <a:pt x="1799454" y="997377"/>
                </a:lnTo>
                <a:lnTo>
                  <a:pt x="1803165" y="950118"/>
                </a:lnTo>
                <a:lnTo>
                  <a:pt x="1804415" y="902208"/>
                </a:lnTo>
                <a:lnTo>
                  <a:pt x="1803165" y="854297"/>
                </a:lnTo>
                <a:lnTo>
                  <a:pt x="1799454" y="807038"/>
                </a:lnTo>
                <a:lnTo>
                  <a:pt x="1793346" y="760491"/>
                </a:lnTo>
                <a:lnTo>
                  <a:pt x="1784903" y="714720"/>
                </a:lnTo>
                <a:lnTo>
                  <a:pt x="1774187" y="669787"/>
                </a:lnTo>
                <a:lnTo>
                  <a:pt x="1761260" y="625754"/>
                </a:lnTo>
                <a:lnTo>
                  <a:pt x="1746186" y="582684"/>
                </a:lnTo>
                <a:lnTo>
                  <a:pt x="1729026" y="540639"/>
                </a:lnTo>
                <a:lnTo>
                  <a:pt x="1709843" y="499681"/>
                </a:lnTo>
                <a:lnTo>
                  <a:pt x="1688698" y="459873"/>
                </a:lnTo>
                <a:lnTo>
                  <a:pt x="1665656" y="421277"/>
                </a:lnTo>
                <a:lnTo>
                  <a:pt x="1640777" y="383956"/>
                </a:lnTo>
                <a:lnTo>
                  <a:pt x="1614125" y="347972"/>
                </a:lnTo>
                <a:lnTo>
                  <a:pt x="1585762" y="313388"/>
                </a:lnTo>
                <a:lnTo>
                  <a:pt x="1555749" y="280264"/>
                </a:lnTo>
                <a:lnTo>
                  <a:pt x="1524151" y="248666"/>
                </a:lnTo>
                <a:lnTo>
                  <a:pt x="1491027" y="218653"/>
                </a:lnTo>
                <a:lnTo>
                  <a:pt x="1456443" y="190290"/>
                </a:lnTo>
                <a:lnTo>
                  <a:pt x="1420459" y="163638"/>
                </a:lnTo>
                <a:lnTo>
                  <a:pt x="1383138" y="138759"/>
                </a:lnTo>
                <a:lnTo>
                  <a:pt x="1344542" y="115717"/>
                </a:lnTo>
                <a:lnTo>
                  <a:pt x="1304734" y="94572"/>
                </a:lnTo>
                <a:lnTo>
                  <a:pt x="1263776" y="75389"/>
                </a:lnTo>
                <a:lnTo>
                  <a:pt x="1221731" y="58229"/>
                </a:lnTo>
                <a:lnTo>
                  <a:pt x="1178661" y="43155"/>
                </a:lnTo>
                <a:lnTo>
                  <a:pt x="1134628" y="30228"/>
                </a:lnTo>
                <a:lnTo>
                  <a:pt x="1089695" y="19512"/>
                </a:lnTo>
                <a:lnTo>
                  <a:pt x="1043924" y="11069"/>
                </a:lnTo>
                <a:lnTo>
                  <a:pt x="997377" y="4961"/>
                </a:lnTo>
                <a:lnTo>
                  <a:pt x="950118" y="1250"/>
                </a:lnTo>
                <a:lnTo>
                  <a:pt x="902208" y="0"/>
                </a:lnTo>
                <a:close/>
              </a:path>
            </a:pathLst>
          </a:custGeom>
          <a:solidFill>
            <a:srgbClr val="FFD966">
              <a:alpha val="4313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74691" y="3142488"/>
            <a:ext cx="1804670" cy="1803400"/>
          </a:xfrm>
          <a:custGeom>
            <a:avLst/>
            <a:gdLst/>
            <a:ahLst/>
            <a:cxnLst/>
            <a:rect l="l" t="t" r="r" b="b"/>
            <a:pathLst>
              <a:path w="1804670" h="1803400">
                <a:moveTo>
                  <a:pt x="902208" y="0"/>
                </a:moveTo>
                <a:lnTo>
                  <a:pt x="854297" y="1249"/>
                </a:lnTo>
                <a:lnTo>
                  <a:pt x="807038" y="4956"/>
                </a:lnTo>
                <a:lnTo>
                  <a:pt x="760491" y="11059"/>
                </a:lnTo>
                <a:lnTo>
                  <a:pt x="714720" y="19494"/>
                </a:lnTo>
                <a:lnTo>
                  <a:pt x="669787" y="30200"/>
                </a:lnTo>
                <a:lnTo>
                  <a:pt x="625754" y="43115"/>
                </a:lnTo>
                <a:lnTo>
                  <a:pt x="582684" y="58175"/>
                </a:lnTo>
                <a:lnTo>
                  <a:pt x="540639" y="75320"/>
                </a:lnTo>
                <a:lnTo>
                  <a:pt x="499681" y="94485"/>
                </a:lnTo>
                <a:lnTo>
                  <a:pt x="459873" y="115610"/>
                </a:lnTo>
                <a:lnTo>
                  <a:pt x="421277" y="138632"/>
                </a:lnTo>
                <a:lnTo>
                  <a:pt x="383956" y="163488"/>
                </a:lnTo>
                <a:lnTo>
                  <a:pt x="347972" y="190117"/>
                </a:lnTo>
                <a:lnTo>
                  <a:pt x="313388" y="218455"/>
                </a:lnTo>
                <a:lnTo>
                  <a:pt x="280264" y="248441"/>
                </a:lnTo>
                <a:lnTo>
                  <a:pt x="248666" y="280012"/>
                </a:lnTo>
                <a:lnTo>
                  <a:pt x="218653" y="313107"/>
                </a:lnTo>
                <a:lnTo>
                  <a:pt x="190290" y="347661"/>
                </a:lnTo>
                <a:lnTo>
                  <a:pt x="163638" y="383615"/>
                </a:lnTo>
                <a:lnTo>
                  <a:pt x="138759" y="420904"/>
                </a:lnTo>
                <a:lnTo>
                  <a:pt x="115717" y="459467"/>
                </a:lnTo>
                <a:lnTo>
                  <a:pt x="94572" y="499242"/>
                </a:lnTo>
                <a:lnTo>
                  <a:pt x="75389" y="540165"/>
                </a:lnTo>
                <a:lnTo>
                  <a:pt x="58229" y="582176"/>
                </a:lnTo>
                <a:lnTo>
                  <a:pt x="43155" y="625211"/>
                </a:lnTo>
                <a:lnTo>
                  <a:pt x="30228" y="669208"/>
                </a:lnTo>
                <a:lnTo>
                  <a:pt x="19512" y="714105"/>
                </a:lnTo>
                <a:lnTo>
                  <a:pt x="11069" y="759839"/>
                </a:lnTo>
                <a:lnTo>
                  <a:pt x="4961" y="806349"/>
                </a:lnTo>
                <a:lnTo>
                  <a:pt x="1250" y="853572"/>
                </a:lnTo>
                <a:lnTo>
                  <a:pt x="0" y="901445"/>
                </a:lnTo>
                <a:lnTo>
                  <a:pt x="1250" y="949319"/>
                </a:lnTo>
                <a:lnTo>
                  <a:pt x="4961" y="996542"/>
                </a:lnTo>
                <a:lnTo>
                  <a:pt x="11069" y="1043052"/>
                </a:lnTo>
                <a:lnTo>
                  <a:pt x="19512" y="1088786"/>
                </a:lnTo>
                <a:lnTo>
                  <a:pt x="30228" y="1133683"/>
                </a:lnTo>
                <a:lnTo>
                  <a:pt x="43155" y="1177680"/>
                </a:lnTo>
                <a:lnTo>
                  <a:pt x="58229" y="1220715"/>
                </a:lnTo>
                <a:lnTo>
                  <a:pt x="75389" y="1262726"/>
                </a:lnTo>
                <a:lnTo>
                  <a:pt x="94572" y="1303649"/>
                </a:lnTo>
                <a:lnTo>
                  <a:pt x="115717" y="1343424"/>
                </a:lnTo>
                <a:lnTo>
                  <a:pt x="138759" y="1381987"/>
                </a:lnTo>
                <a:lnTo>
                  <a:pt x="163638" y="1419276"/>
                </a:lnTo>
                <a:lnTo>
                  <a:pt x="190290" y="1455230"/>
                </a:lnTo>
                <a:lnTo>
                  <a:pt x="218653" y="1489784"/>
                </a:lnTo>
                <a:lnTo>
                  <a:pt x="248666" y="1522879"/>
                </a:lnTo>
                <a:lnTo>
                  <a:pt x="280264" y="1554450"/>
                </a:lnTo>
                <a:lnTo>
                  <a:pt x="313388" y="1584436"/>
                </a:lnTo>
                <a:lnTo>
                  <a:pt x="347972" y="1612774"/>
                </a:lnTo>
                <a:lnTo>
                  <a:pt x="383956" y="1639403"/>
                </a:lnTo>
                <a:lnTo>
                  <a:pt x="421277" y="1664259"/>
                </a:lnTo>
                <a:lnTo>
                  <a:pt x="459873" y="1687281"/>
                </a:lnTo>
                <a:lnTo>
                  <a:pt x="499681" y="1708406"/>
                </a:lnTo>
                <a:lnTo>
                  <a:pt x="540639" y="1727571"/>
                </a:lnTo>
                <a:lnTo>
                  <a:pt x="582684" y="1744716"/>
                </a:lnTo>
                <a:lnTo>
                  <a:pt x="625754" y="1759776"/>
                </a:lnTo>
                <a:lnTo>
                  <a:pt x="669787" y="1772691"/>
                </a:lnTo>
                <a:lnTo>
                  <a:pt x="714720" y="1783397"/>
                </a:lnTo>
                <a:lnTo>
                  <a:pt x="760491" y="1791832"/>
                </a:lnTo>
                <a:lnTo>
                  <a:pt x="807038" y="1797935"/>
                </a:lnTo>
                <a:lnTo>
                  <a:pt x="854297" y="1801642"/>
                </a:lnTo>
                <a:lnTo>
                  <a:pt x="902208" y="1802892"/>
                </a:lnTo>
                <a:lnTo>
                  <a:pt x="950118" y="1801642"/>
                </a:lnTo>
                <a:lnTo>
                  <a:pt x="997377" y="1797935"/>
                </a:lnTo>
                <a:lnTo>
                  <a:pt x="1043924" y="1791832"/>
                </a:lnTo>
                <a:lnTo>
                  <a:pt x="1089695" y="1783397"/>
                </a:lnTo>
                <a:lnTo>
                  <a:pt x="1134628" y="1772691"/>
                </a:lnTo>
                <a:lnTo>
                  <a:pt x="1178661" y="1759776"/>
                </a:lnTo>
                <a:lnTo>
                  <a:pt x="1221731" y="1744716"/>
                </a:lnTo>
                <a:lnTo>
                  <a:pt x="1263776" y="1727571"/>
                </a:lnTo>
                <a:lnTo>
                  <a:pt x="1304734" y="1708406"/>
                </a:lnTo>
                <a:lnTo>
                  <a:pt x="1344542" y="1687281"/>
                </a:lnTo>
                <a:lnTo>
                  <a:pt x="1383138" y="1664259"/>
                </a:lnTo>
                <a:lnTo>
                  <a:pt x="1420459" y="1639403"/>
                </a:lnTo>
                <a:lnTo>
                  <a:pt x="1456443" y="1612774"/>
                </a:lnTo>
                <a:lnTo>
                  <a:pt x="1491027" y="1584436"/>
                </a:lnTo>
                <a:lnTo>
                  <a:pt x="1524151" y="1554450"/>
                </a:lnTo>
                <a:lnTo>
                  <a:pt x="1555749" y="1522879"/>
                </a:lnTo>
                <a:lnTo>
                  <a:pt x="1585762" y="1489784"/>
                </a:lnTo>
                <a:lnTo>
                  <a:pt x="1614125" y="1455230"/>
                </a:lnTo>
                <a:lnTo>
                  <a:pt x="1640777" y="1419276"/>
                </a:lnTo>
                <a:lnTo>
                  <a:pt x="1665656" y="1381987"/>
                </a:lnTo>
                <a:lnTo>
                  <a:pt x="1688698" y="1343424"/>
                </a:lnTo>
                <a:lnTo>
                  <a:pt x="1709843" y="1303649"/>
                </a:lnTo>
                <a:lnTo>
                  <a:pt x="1729026" y="1262726"/>
                </a:lnTo>
                <a:lnTo>
                  <a:pt x="1746186" y="1220715"/>
                </a:lnTo>
                <a:lnTo>
                  <a:pt x="1761260" y="1177680"/>
                </a:lnTo>
                <a:lnTo>
                  <a:pt x="1774187" y="1133683"/>
                </a:lnTo>
                <a:lnTo>
                  <a:pt x="1784903" y="1088786"/>
                </a:lnTo>
                <a:lnTo>
                  <a:pt x="1793346" y="1043052"/>
                </a:lnTo>
                <a:lnTo>
                  <a:pt x="1799454" y="996542"/>
                </a:lnTo>
                <a:lnTo>
                  <a:pt x="1803165" y="949319"/>
                </a:lnTo>
                <a:lnTo>
                  <a:pt x="1804415" y="901445"/>
                </a:lnTo>
                <a:lnTo>
                  <a:pt x="1803165" y="853572"/>
                </a:lnTo>
                <a:lnTo>
                  <a:pt x="1799454" y="806349"/>
                </a:lnTo>
                <a:lnTo>
                  <a:pt x="1793346" y="759839"/>
                </a:lnTo>
                <a:lnTo>
                  <a:pt x="1784903" y="714105"/>
                </a:lnTo>
                <a:lnTo>
                  <a:pt x="1774187" y="669208"/>
                </a:lnTo>
                <a:lnTo>
                  <a:pt x="1761260" y="625211"/>
                </a:lnTo>
                <a:lnTo>
                  <a:pt x="1746186" y="582176"/>
                </a:lnTo>
                <a:lnTo>
                  <a:pt x="1729026" y="540165"/>
                </a:lnTo>
                <a:lnTo>
                  <a:pt x="1709843" y="499242"/>
                </a:lnTo>
                <a:lnTo>
                  <a:pt x="1688698" y="459467"/>
                </a:lnTo>
                <a:lnTo>
                  <a:pt x="1665656" y="420904"/>
                </a:lnTo>
                <a:lnTo>
                  <a:pt x="1640777" y="383615"/>
                </a:lnTo>
                <a:lnTo>
                  <a:pt x="1614125" y="347661"/>
                </a:lnTo>
                <a:lnTo>
                  <a:pt x="1585762" y="313107"/>
                </a:lnTo>
                <a:lnTo>
                  <a:pt x="1555749" y="280012"/>
                </a:lnTo>
                <a:lnTo>
                  <a:pt x="1524151" y="248441"/>
                </a:lnTo>
                <a:lnTo>
                  <a:pt x="1491027" y="218455"/>
                </a:lnTo>
                <a:lnTo>
                  <a:pt x="1456443" y="190117"/>
                </a:lnTo>
                <a:lnTo>
                  <a:pt x="1420459" y="163488"/>
                </a:lnTo>
                <a:lnTo>
                  <a:pt x="1383138" y="138632"/>
                </a:lnTo>
                <a:lnTo>
                  <a:pt x="1344542" y="115610"/>
                </a:lnTo>
                <a:lnTo>
                  <a:pt x="1304734" y="94485"/>
                </a:lnTo>
                <a:lnTo>
                  <a:pt x="1263776" y="75320"/>
                </a:lnTo>
                <a:lnTo>
                  <a:pt x="1221731" y="58175"/>
                </a:lnTo>
                <a:lnTo>
                  <a:pt x="1178661" y="43115"/>
                </a:lnTo>
                <a:lnTo>
                  <a:pt x="1134628" y="30200"/>
                </a:lnTo>
                <a:lnTo>
                  <a:pt x="1089695" y="19494"/>
                </a:lnTo>
                <a:lnTo>
                  <a:pt x="1043924" y="11059"/>
                </a:lnTo>
                <a:lnTo>
                  <a:pt x="997377" y="4956"/>
                </a:lnTo>
                <a:lnTo>
                  <a:pt x="950118" y="1249"/>
                </a:lnTo>
                <a:lnTo>
                  <a:pt x="902208" y="0"/>
                </a:lnTo>
                <a:close/>
              </a:path>
            </a:pathLst>
          </a:custGeom>
          <a:solidFill>
            <a:srgbClr val="A9D18E">
              <a:alpha val="4313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96000" y="2424683"/>
            <a:ext cx="1803400" cy="1804670"/>
          </a:xfrm>
          <a:custGeom>
            <a:avLst/>
            <a:gdLst/>
            <a:ahLst/>
            <a:cxnLst/>
            <a:rect l="l" t="t" r="r" b="b"/>
            <a:pathLst>
              <a:path w="1803400" h="1804670">
                <a:moveTo>
                  <a:pt x="901446" y="0"/>
                </a:moveTo>
                <a:lnTo>
                  <a:pt x="853572" y="1250"/>
                </a:lnTo>
                <a:lnTo>
                  <a:pt x="806349" y="4961"/>
                </a:lnTo>
                <a:lnTo>
                  <a:pt x="759839" y="11069"/>
                </a:lnTo>
                <a:lnTo>
                  <a:pt x="714105" y="19512"/>
                </a:lnTo>
                <a:lnTo>
                  <a:pt x="669208" y="30228"/>
                </a:lnTo>
                <a:lnTo>
                  <a:pt x="625211" y="43155"/>
                </a:lnTo>
                <a:lnTo>
                  <a:pt x="582176" y="58229"/>
                </a:lnTo>
                <a:lnTo>
                  <a:pt x="540165" y="75389"/>
                </a:lnTo>
                <a:lnTo>
                  <a:pt x="499242" y="94572"/>
                </a:lnTo>
                <a:lnTo>
                  <a:pt x="459467" y="115717"/>
                </a:lnTo>
                <a:lnTo>
                  <a:pt x="420904" y="138759"/>
                </a:lnTo>
                <a:lnTo>
                  <a:pt x="383615" y="163638"/>
                </a:lnTo>
                <a:lnTo>
                  <a:pt x="347661" y="190290"/>
                </a:lnTo>
                <a:lnTo>
                  <a:pt x="313107" y="218653"/>
                </a:lnTo>
                <a:lnTo>
                  <a:pt x="280012" y="248666"/>
                </a:lnTo>
                <a:lnTo>
                  <a:pt x="248441" y="280264"/>
                </a:lnTo>
                <a:lnTo>
                  <a:pt x="218455" y="313388"/>
                </a:lnTo>
                <a:lnTo>
                  <a:pt x="190117" y="347972"/>
                </a:lnTo>
                <a:lnTo>
                  <a:pt x="163488" y="383956"/>
                </a:lnTo>
                <a:lnTo>
                  <a:pt x="138632" y="421277"/>
                </a:lnTo>
                <a:lnTo>
                  <a:pt x="115610" y="459873"/>
                </a:lnTo>
                <a:lnTo>
                  <a:pt x="94485" y="499681"/>
                </a:lnTo>
                <a:lnTo>
                  <a:pt x="75320" y="540639"/>
                </a:lnTo>
                <a:lnTo>
                  <a:pt x="58175" y="582684"/>
                </a:lnTo>
                <a:lnTo>
                  <a:pt x="43115" y="625754"/>
                </a:lnTo>
                <a:lnTo>
                  <a:pt x="30200" y="669787"/>
                </a:lnTo>
                <a:lnTo>
                  <a:pt x="19494" y="714720"/>
                </a:lnTo>
                <a:lnTo>
                  <a:pt x="11059" y="760491"/>
                </a:lnTo>
                <a:lnTo>
                  <a:pt x="4956" y="807038"/>
                </a:lnTo>
                <a:lnTo>
                  <a:pt x="1249" y="854297"/>
                </a:lnTo>
                <a:lnTo>
                  <a:pt x="0" y="902207"/>
                </a:lnTo>
                <a:lnTo>
                  <a:pt x="1249" y="950118"/>
                </a:lnTo>
                <a:lnTo>
                  <a:pt x="4956" y="997377"/>
                </a:lnTo>
                <a:lnTo>
                  <a:pt x="11059" y="1043924"/>
                </a:lnTo>
                <a:lnTo>
                  <a:pt x="19494" y="1089695"/>
                </a:lnTo>
                <a:lnTo>
                  <a:pt x="30200" y="1134628"/>
                </a:lnTo>
                <a:lnTo>
                  <a:pt x="43115" y="1178661"/>
                </a:lnTo>
                <a:lnTo>
                  <a:pt x="58175" y="1221731"/>
                </a:lnTo>
                <a:lnTo>
                  <a:pt x="75320" y="1263776"/>
                </a:lnTo>
                <a:lnTo>
                  <a:pt x="94485" y="1304734"/>
                </a:lnTo>
                <a:lnTo>
                  <a:pt x="115610" y="1344542"/>
                </a:lnTo>
                <a:lnTo>
                  <a:pt x="138632" y="1383138"/>
                </a:lnTo>
                <a:lnTo>
                  <a:pt x="163488" y="1420459"/>
                </a:lnTo>
                <a:lnTo>
                  <a:pt x="190117" y="1456443"/>
                </a:lnTo>
                <a:lnTo>
                  <a:pt x="218455" y="1491027"/>
                </a:lnTo>
                <a:lnTo>
                  <a:pt x="248441" y="1524151"/>
                </a:lnTo>
                <a:lnTo>
                  <a:pt x="280012" y="1555749"/>
                </a:lnTo>
                <a:lnTo>
                  <a:pt x="313107" y="1585762"/>
                </a:lnTo>
                <a:lnTo>
                  <a:pt x="347661" y="1614125"/>
                </a:lnTo>
                <a:lnTo>
                  <a:pt x="383615" y="1640777"/>
                </a:lnTo>
                <a:lnTo>
                  <a:pt x="420904" y="1665656"/>
                </a:lnTo>
                <a:lnTo>
                  <a:pt x="459467" y="1688698"/>
                </a:lnTo>
                <a:lnTo>
                  <a:pt x="499242" y="1709843"/>
                </a:lnTo>
                <a:lnTo>
                  <a:pt x="540165" y="1729026"/>
                </a:lnTo>
                <a:lnTo>
                  <a:pt x="582176" y="1746186"/>
                </a:lnTo>
                <a:lnTo>
                  <a:pt x="625211" y="1761260"/>
                </a:lnTo>
                <a:lnTo>
                  <a:pt x="669208" y="1774187"/>
                </a:lnTo>
                <a:lnTo>
                  <a:pt x="714105" y="1784903"/>
                </a:lnTo>
                <a:lnTo>
                  <a:pt x="759839" y="1793346"/>
                </a:lnTo>
                <a:lnTo>
                  <a:pt x="806349" y="1799454"/>
                </a:lnTo>
                <a:lnTo>
                  <a:pt x="853572" y="1803165"/>
                </a:lnTo>
                <a:lnTo>
                  <a:pt x="901446" y="1804415"/>
                </a:lnTo>
                <a:lnTo>
                  <a:pt x="949319" y="1803165"/>
                </a:lnTo>
                <a:lnTo>
                  <a:pt x="996542" y="1799454"/>
                </a:lnTo>
                <a:lnTo>
                  <a:pt x="1043052" y="1793346"/>
                </a:lnTo>
                <a:lnTo>
                  <a:pt x="1088786" y="1784903"/>
                </a:lnTo>
                <a:lnTo>
                  <a:pt x="1133683" y="1774187"/>
                </a:lnTo>
                <a:lnTo>
                  <a:pt x="1177680" y="1761260"/>
                </a:lnTo>
                <a:lnTo>
                  <a:pt x="1220715" y="1746186"/>
                </a:lnTo>
                <a:lnTo>
                  <a:pt x="1262726" y="1729026"/>
                </a:lnTo>
                <a:lnTo>
                  <a:pt x="1303649" y="1709843"/>
                </a:lnTo>
                <a:lnTo>
                  <a:pt x="1343424" y="1688698"/>
                </a:lnTo>
                <a:lnTo>
                  <a:pt x="1381987" y="1665656"/>
                </a:lnTo>
                <a:lnTo>
                  <a:pt x="1419276" y="1640777"/>
                </a:lnTo>
                <a:lnTo>
                  <a:pt x="1455230" y="1614125"/>
                </a:lnTo>
                <a:lnTo>
                  <a:pt x="1489784" y="1585762"/>
                </a:lnTo>
                <a:lnTo>
                  <a:pt x="1522879" y="1555749"/>
                </a:lnTo>
                <a:lnTo>
                  <a:pt x="1554450" y="1524151"/>
                </a:lnTo>
                <a:lnTo>
                  <a:pt x="1584436" y="1491027"/>
                </a:lnTo>
                <a:lnTo>
                  <a:pt x="1612774" y="1456443"/>
                </a:lnTo>
                <a:lnTo>
                  <a:pt x="1639403" y="1420459"/>
                </a:lnTo>
                <a:lnTo>
                  <a:pt x="1664259" y="1383138"/>
                </a:lnTo>
                <a:lnTo>
                  <a:pt x="1687281" y="1344542"/>
                </a:lnTo>
                <a:lnTo>
                  <a:pt x="1708406" y="1304734"/>
                </a:lnTo>
                <a:lnTo>
                  <a:pt x="1727571" y="1263776"/>
                </a:lnTo>
                <a:lnTo>
                  <a:pt x="1744716" y="1221731"/>
                </a:lnTo>
                <a:lnTo>
                  <a:pt x="1759776" y="1178661"/>
                </a:lnTo>
                <a:lnTo>
                  <a:pt x="1772691" y="1134628"/>
                </a:lnTo>
                <a:lnTo>
                  <a:pt x="1783397" y="1089695"/>
                </a:lnTo>
                <a:lnTo>
                  <a:pt x="1791832" y="1043924"/>
                </a:lnTo>
                <a:lnTo>
                  <a:pt x="1797935" y="997377"/>
                </a:lnTo>
                <a:lnTo>
                  <a:pt x="1801642" y="950118"/>
                </a:lnTo>
                <a:lnTo>
                  <a:pt x="1802892" y="902207"/>
                </a:lnTo>
                <a:lnTo>
                  <a:pt x="1801642" y="854297"/>
                </a:lnTo>
                <a:lnTo>
                  <a:pt x="1797935" y="807038"/>
                </a:lnTo>
                <a:lnTo>
                  <a:pt x="1791832" y="760491"/>
                </a:lnTo>
                <a:lnTo>
                  <a:pt x="1783397" y="714720"/>
                </a:lnTo>
                <a:lnTo>
                  <a:pt x="1772691" y="669787"/>
                </a:lnTo>
                <a:lnTo>
                  <a:pt x="1759776" y="625754"/>
                </a:lnTo>
                <a:lnTo>
                  <a:pt x="1744716" y="582684"/>
                </a:lnTo>
                <a:lnTo>
                  <a:pt x="1727571" y="540639"/>
                </a:lnTo>
                <a:lnTo>
                  <a:pt x="1708406" y="499681"/>
                </a:lnTo>
                <a:lnTo>
                  <a:pt x="1687281" y="459873"/>
                </a:lnTo>
                <a:lnTo>
                  <a:pt x="1664259" y="421277"/>
                </a:lnTo>
                <a:lnTo>
                  <a:pt x="1639403" y="383956"/>
                </a:lnTo>
                <a:lnTo>
                  <a:pt x="1612774" y="347972"/>
                </a:lnTo>
                <a:lnTo>
                  <a:pt x="1584436" y="313388"/>
                </a:lnTo>
                <a:lnTo>
                  <a:pt x="1554450" y="280264"/>
                </a:lnTo>
                <a:lnTo>
                  <a:pt x="1522879" y="248666"/>
                </a:lnTo>
                <a:lnTo>
                  <a:pt x="1489784" y="218653"/>
                </a:lnTo>
                <a:lnTo>
                  <a:pt x="1455230" y="190290"/>
                </a:lnTo>
                <a:lnTo>
                  <a:pt x="1419276" y="163638"/>
                </a:lnTo>
                <a:lnTo>
                  <a:pt x="1381987" y="138759"/>
                </a:lnTo>
                <a:lnTo>
                  <a:pt x="1343424" y="115717"/>
                </a:lnTo>
                <a:lnTo>
                  <a:pt x="1303649" y="94572"/>
                </a:lnTo>
                <a:lnTo>
                  <a:pt x="1262726" y="75389"/>
                </a:lnTo>
                <a:lnTo>
                  <a:pt x="1220715" y="58229"/>
                </a:lnTo>
                <a:lnTo>
                  <a:pt x="1177680" y="43155"/>
                </a:lnTo>
                <a:lnTo>
                  <a:pt x="1133683" y="30228"/>
                </a:lnTo>
                <a:lnTo>
                  <a:pt x="1088786" y="19512"/>
                </a:lnTo>
                <a:lnTo>
                  <a:pt x="1043052" y="11069"/>
                </a:lnTo>
                <a:lnTo>
                  <a:pt x="996542" y="4961"/>
                </a:lnTo>
                <a:lnTo>
                  <a:pt x="949319" y="1250"/>
                </a:lnTo>
                <a:lnTo>
                  <a:pt x="901446" y="0"/>
                </a:lnTo>
                <a:close/>
              </a:path>
            </a:pathLst>
          </a:custGeom>
          <a:solidFill>
            <a:srgbClr val="B4C6E7">
              <a:alpha val="4313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118608" y="2462606"/>
            <a:ext cx="2335530" cy="1717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211580" algn="ctr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latin typeface="Calibri" panose="020F0502020204030204"/>
                <a:cs typeface="Calibri" panose="020F0502020204030204"/>
              </a:rPr>
              <a:t>P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sy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ch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logi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al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437005">
              <a:lnSpc>
                <a:spcPct val="10000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Bio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ogi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c</a:t>
            </a:r>
            <a:r>
              <a:rPr sz="1800" dirty="0">
                <a:latin typeface="Calibri" panose="020F0502020204030204"/>
                <a:cs typeface="Calibri" panose="020F0502020204030204"/>
              </a:rPr>
              <a:t>al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R="1209675" algn="ctr">
              <a:lnSpc>
                <a:spcPct val="100000"/>
              </a:lnSpc>
              <a:spcBef>
                <a:spcPts val="1420"/>
              </a:spcBef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Social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20997" y="1393825"/>
            <a:ext cx="882650" cy="622935"/>
          </a:xfrm>
          <a:custGeom>
            <a:avLst/>
            <a:gdLst/>
            <a:ahLst/>
            <a:cxnLst/>
            <a:rect l="l" t="t" r="r" b="b"/>
            <a:pathLst>
              <a:path w="882650" h="622935">
                <a:moveTo>
                  <a:pt x="0" y="0"/>
                </a:moveTo>
                <a:lnTo>
                  <a:pt x="882396" y="622808"/>
                </a:lnTo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59308" y="719327"/>
            <a:ext cx="3225165" cy="1346200"/>
          </a:xfrm>
          <a:prstGeom prst="rect">
            <a:avLst/>
          </a:prstGeom>
          <a:solidFill>
            <a:srgbClr val="FFF1CC"/>
          </a:solidFill>
          <a:ln w="12700">
            <a:solidFill>
              <a:srgbClr val="2E528F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766445">
              <a:lnSpc>
                <a:spcPct val="100000"/>
              </a:lnSpc>
              <a:spcBef>
                <a:spcPts val="860"/>
              </a:spcBef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Health</a:t>
            </a:r>
            <a:r>
              <a:rPr sz="1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Psychology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471170" indent="-287655">
              <a:lnSpc>
                <a:spcPct val="100000"/>
              </a:lnSpc>
              <a:buFont typeface="Arial" panose="020B0604020202020204"/>
              <a:buChar char="•"/>
              <a:tabLst>
                <a:tab pos="469900" algn="l"/>
                <a:tab pos="47180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Core 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Psychological</a:t>
            </a:r>
            <a:r>
              <a:rPr sz="1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Theories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845820" lvl="1" indent="-287020">
              <a:lnSpc>
                <a:spcPct val="100000"/>
              </a:lnSpc>
              <a:buFont typeface="Arial" panose="020B0604020202020204"/>
              <a:buChar char="•"/>
              <a:tabLst>
                <a:tab pos="845185" algn="l"/>
                <a:tab pos="846455" algn="l"/>
              </a:tabLst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Human</a:t>
            </a:r>
            <a:r>
              <a:rPr sz="1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Functioning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371600" lvl="2" indent="-287020">
              <a:lnSpc>
                <a:spcPct val="100000"/>
              </a:lnSpc>
              <a:buFont typeface="Arial" panose="020B0604020202020204"/>
              <a:buChar char="•"/>
              <a:tabLst>
                <a:tab pos="1371600" algn="l"/>
                <a:tab pos="137223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Lifespan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8095" y="2726435"/>
            <a:ext cx="3803904" cy="4131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73023"/>
            <a:ext cx="2743199" cy="6050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11905" y="582548"/>
            <a:ext cx="7626350" cy="1129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Applied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Sciences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for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Physiotherapy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Practice</a:t>
            </a:r>
            <a:r>
              <a:rPr sz="280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(PT7001)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>
              <a:latin typeface="Times New Roman" panose="02020603050405020304"/>
              <a:cs typeface="Times New Roman" panose="02020603050405020304"/>
            </a:endParaRPr>
          </a:p>
          <a:p>
            <a:pPr marL="5715">
              <a:lnSpc>
                <a:spcPct val="100000"/>
              </a:lnSpc>
            </a:pPr>
            <a:r>
              <a:rPr sz="2800" spc="-20" dirty="0">
                <a:latin typeface="Calibri" panose="020F0502020204030204"/>
                <a:cs typeface="Calibri" panose="020F0502020204030204"/>
              </a:rPr>
              <a:t>Part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 –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Introduction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to</a:t>
            </a:r>
            <a:r>
              <a:rPr sz="2800" spc="9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Module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191" y="0"/>
            <a:ext cx="12179935" cy="6858000"/>
          </a:xfrm>
          <a:custGeom>
            <a:avLst/>
            <a:gdLst/>
            <a:ahLst/>
            <a:cxnLst/>
            <a:rect l="l" t="t" r="r" b="b"/>
            <a:pathLst>
              <a:path w="12179935" h="6858000">
                <a:moveTo>
                  <a:pt x="12179808" y="6857998"/>
                </a:moveTo>
                <a:lnTo>
                  <a:pt x="12179808" y="0"/>
                </a:lnTo>
                <a:lnTo>
                  <a:pt x="0" y="0"/>
                </a:lnTo>
                <a:lnTo>
                  <a:pt x="0" y="6857998"/>
                </a:lnTo>
                <a:lnTo>
                  <a:pt x="12179808" y="685799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74691" y="1706879"/>
            <a:ext cx="1804670" cy="1804670"/>
          </a:xfrm>
          <a:custGeom>
            <a:avLst/>
            <a:gdLst/>
            <a:ahLst/>
            <a:cxnLst/>
            <a:rect l="l" t="t" r="r" b="b"/>
            <a:pathLst>
              <a:path w="1804670" h="1804670">
                <a:moveTo>
                  <a:pt x="902208" y="0"/>
                </a:moveTo>
                <a:lnTo>
                  <a:pt x="854297" y="1250"/>
                </a:lnTo>
                <a:lnTo>
                  <a:pt x="807038" y="4961"/>
                </a:lnTo>
                <a:lnTo>
                  <a:pt x="760491" y="11069"/>
                </a:lnTo>
                <a:lnTo>
                  <a:pt x="714720" y="19512"/>
                </a:lnTo>
                <a:lnTo>
                  <a:pt x="669787" y="30228"/>
                </a:lnTo>
                <a:lnTo>
                  <a:pt x="625754" y="43155"/>
                </a:lnTo>
                <a:lnTo>
                  <a:pt x="582684" y="58229"/>
                </a:lnTo>
                <a:lnTo>
                  <a:pt x="540639" y="75389"/>
                </a:lnTo>
                <a:lnTo>
                  <a:pt x="499681" y="94572"/>
                </a:lnTo>
                <a:lnTo>
                  <a:pt x="459873" y="115717"/>
                </a:lnTo>
                <a:lnTo>
                  <a:pt x="421277" y="138759"/>
                </a:lnTo>
                <a:lnTo>
                  <a:pt x="383956" y="163638"/>
                </a:lnTo>
                <a:lnTo>
                  <a:pt x="347972" y="190290"/>
                </a:lnTo>
                <a:lnTo>
                  <a:pt x="313388" y="218653"/>
                </a:lnTo>
                <a:lnTo>
                  <a:pt x="280264" y="248666"/>
                </a:lnTo>
                <a:lnTo>
                  <a:pt x="248666" y="280264"/>
                </a:lnTo>
                <a:lnTo>
                  <a:pt x="218653" y="313388"/>
                </a:lnTo>
                <a:lnTo>
                  <a:pt x="190290" y="347972"/>
                </a:lnTo>
                <a:lnTo>
                  <a:pt x="163638" y="383956"/>
                </a:lnTo>
                <a:lnTo>
                  <a:pt x="138759" y="421277"/>
                </a:lnTo>
                <a:lnTo>
                  <a:pt x="115717" y="459873"/>
                </a:lnTo>
                <a:lnTo>
                  <a:pt x="94572" y="499681"/>
                </a:lnTo>
                <a:lnTo>
                  <a:pt x="75389" y="540639"/>
                </a:lnTo>
                <a:lnTo>
                  <a:pt x="58229" y="582684"/>
                </a:lnTo>
                <a:lnTo>
                  <a:pt x="43155" y="625754"/>
                </a:lnTo>
                <a:lnTo>
                  <a:pt x="30228" y="669787"/>
                </a:lnTo>
                <a:lnTo>
                  <a:pt x="19512" y="714720"/>
                </a:lnTo>
                <a:lnTo>
                  <a:pt x="11069" y="760491"/>
                </a:lnTo>
                <a:lnTo>
                  <a:pt x="4961" y="807038"/>
                </a:lnTo>
                <a:lnTo>
                  <a:pt x="1250" y="854297"/>
                </a:lnTo>
                <a:lnTo>
                  <a:pt x="0" y="902208"/>
                </a:lnTo>
                <a:lnTo>
                  <a:pt x="1250" y="950118"/>
                </a:lnTo>
                <a:lnTo>
                  <a:pt x="4961" y="997377"/>
                </a:lnTo>
                <a:lnTo>
                  <a:pt x="11069" y="1043924"/>
                </a:lnTo>
                <a:lnTo>
                  <a:pt x="19512" y="1089695"/>
                </a:lnTo>
                <a:lnTo>
                  <a:pt x="30228" y="1134628"/>
                </a:lnTo>
                <a:lnTo>
                  <a:pt x="43155" y="1178661"/>
                </a:lnTo>
                <a:lnTo>
                  <a:pt x="58229" y="1221731"/>
                </a:lnTo>
                <a:lnTo>
                  <a:pt x="75389" y="1263776"/>
                </a:lnTo>
                <a:lnTo>
                  <a:pt x="94572" y="1304734"/>
                </a:lnTo>
                <a:lnTo>
                  <a:pt x="115717" y="1344542"/>
                </a:lnTo>
                <a:lnTo>
                  <a:pt x="138759" y="1383138"/>
                </a:lnTo>
                <a:lnTo>
                  <a:pt x="163638" y="1420459"/>
                </a:lnTo>
                <a:lnTo>
                  <a:pt x="190290" y="1456443"/>
                </a:lnTo>
                <a:lnTo>
                  <a:pt x="218653" y="1491027"/>
                </a:lnTo>
                <a:lnTo>
                  <a:pt x="248666" y="1524151"/>
                </a:lnTo>
                <a:lnTo>
                  <a:pt x="280264" y="1555749"/>
                </a:lnTo>
                <a:lnTo>
                  <a:pt x="313388" y="1585762"/>
                </a:lnTo>
                <a:lnTo>
                  <a:pt x="347972" y="1614125"/>
                </a:lnTo>
                <a:lnTo>
                  <a:pt x="383956" y="1640777"/>
                </a:lnTo>
                <a:lnTo>
                  <a:pt x="421277" y="1665656"/>
                </a:lnTo>
                <a:lnTo>
                  <a:pt x="459873" y="1688698"/>
                </a:lnTo>
                <a:lnTo>
                  <a:pt x="499681" y="1709843"/>
                </a:lnTo>
                <a:lnTo>
                  <a:pt x="540639" y="1729026"/>
                </a:lnTo>
                <a:lnTo>
                  <a:pt x="582684" y="1746186"/>
                </a:lnTo>
                <a:lnTo>
                  <a:pt x="625754" y="1761260"/>
                </a:lnTo>
                <a:lnTo>
                  <a:pt x="669787" y="1774187"/>
                </a:lnTo>
                <a:lnTo>
                  <a:pt x="714720" y="1784903"/>
                </a:lnTo>
                <a:lnTo>
                  <a:pt x="760491" y="1793346"/>
                </a:lnTo>
                <a:lnTo>
                  <a:pt x="807038" y="1799454"/>
                </a:lnTo>
                <a:lnTo>
                  <a:pt x="854297" y="1803165"/>
                </a:lnTo>
                <a:lnTo>
                  <a:pt x="902208" y="1804416"/>
                </a:lnTo>
                <a:lnTo>
                  <a:pt x="950118" y="1803165"/>
                </a:lnTo>
                <a:lnTo>
                  <a:pt x="997377" y="1799454"/>
                </a:lnTo>
                <a:lnTo>
                  <a:pt x="1043924" y="1793346"/>
                </a:lnTo>
                <a:lnTo>
                  <a:pt x="1089695" y="1784903"/>
                </a:lnTo>
                <a:lnTo>
                  <a:pt x="1134628" y="1774187"/>
                </a:lnTo>
                <a:lnTo>
                  <a:pt x="1178661" y="1761260"/>
                </a:lnTo>
                <a:lnTo>
                  <a:pt x="1221731" y="1746186"/>
                </a:lnTo>
                <a:lnTo>
                  <a:pt x="1263776" y="1729026"/>
                </a:lnTo>
                <a:lnTo>
                  <a:pt x="1304734" y="1709843"/>
                </a:lnTo>
                <a:lnTo>
                  <a:pt x="1344542" y="1688698"/>
                </a:lnTo>
                <a:lnTo>
                  <a:pt x="1383138" y="1665656"/>
                </a:lnTo>
                <a:lnTo>
                  <a:pt x="1420459" y="1640777"/>
                </a:lnTo>
                <a:lnTo>
                  <a:pt x="1456443" y="1614125"/>
                </a:lnTo>
                <a:lnTo>
                  <a:pt x="1491027" y="1585762"/>
                </a:lnTo>
                <a:lnTo>
                  <a:pt x="1524151" y="1555749"/>
                </a:lnTo>
                <a:lnTo>
                  <a:pt x="1555749" y="1524151"/>
                </a:lnTo>
                <a:lnTo>
                  <a:pt x="1585762" y="1491027"/>
                </a:lnTo>
                <a:lnTo>
                  <a:pt x="1614125" y="1456443"/>
                </a:lnTo>
                <a:lnTo>
                  <a:pt x="1640777" y="1420459"/>
                </a:lnTo>
                <a:lnTo>
                  <a:pt x="1665656" y="1383138"/>
                </a:lnTo>
                <a:lnTo>
                  <a:pt x="1688698" y="1344542"/>
                </a:lnTo>
                <a:lnTo>
                  <a:pt x="1709843" y="1304734"/>
                </a:lnTo>
                <a:lnTo>
                  <a:pt x="1729026" y="1263776"/>
                </a:lnTo>
                <a:lnTo>
                  <a:pt x="1746186" y="1221731"/>
                </a:lnTo>
                <a:lnTo>
                  <a:pt x="1761260" y="1178661"/>
                </a:lnTo>
                <a:lnTo>
                  <a:pt x="1774187" y="1134628"/>
                </a:lnTo>
                <a:lnTo>
                  <a:pt x="1784903" y="1089695"/>
                </a:lnTo>
                <a:lnTo>
                  <a:pt x="1793346" y="1043924"/>
                </a:lnTo>
                <a:lnTo>
                  <a:pt x="1799454" y="997377"/>
                </a:lnTo>
                <a:lnTo>
                  <a:pt x="1803165" y="950118"/>
                </a:lnTo>
                <a:lnTo>
                  <a:pt x="1804415" y="902208"/>
                </a:lnTo>
                <a:lnTo>
                  <a:pt x="1803165" y="854297"/>
                </a:lnTo>
                <a:lnTo>
                  <a:pt x="1799454" y="807038"/>
                </a:lnTo>
                <a:lnTo>
                  <a:pt x="1793346" y="760491"/>
                </a:lnTo>
                <a:lnTo>
                  <a:pt x="1784903" y="714720"/>
                </a:lnTo>
                <a:lnTo>
                  <a:pt x="1774187" y="669787"/>
                </a:lnTo>
                <a:lnTo>
                  <a:pt x="1761260" y="625754"/>
                </a:lnTo>
                <a:lnTo>
                  <a:pt x="1746186" y="582684"/>
                </a:lnTo>
                <a:lnTo>
                  <a:pt x="1729026" y="540639"/>
                </a:lnTo>
                <a:lnTo>
                  <a:pt x="1709843" y="499681"/>
                </a:lnTo>
                <a:lnTo>
                  <a:pt x="1688698" y="459873"/>
                </a:lnTo>
                <a:lnTo>
                  <a:pt x="1665656" y="421277"/>
                </a:lnTo>
                <a:lnTo>
                  <a:pt x="1640777" y="383956"/>
                </a:lnTo>
                <a:lnTo>
                  <a:pt x="1614125" y="347972"/>
                </a:lnTo>
                <a:lnTo>
                  <a:pt x="1585762" y="313388"/>
                </a:lnTo>
                <a:lnTo>
                  <a:pt x="1555749" y="280264"/>
                </a:lnTo>
                <a:lnTo>
                  <a:pt x="1524151" y="248666"/>
                </a:lnTo>
                <a:lnTo>
                  <a:pt x="1491027" y="218653"/>
                </a:lnTo>
                <a:lnTo>
                  <a:pt x="1456443" y="190290"/>
                </a:lnTo>
                <a:lnTo>
                  <a:pt x="1420459" y="163638"/>
                </a:lnTo>
                <a:lnTo>
                  <a:pt x="1383138" y="138759"/>
                </a:lnTo>
                <a:lnTo>
                  <a:pt x="1344542" y="115717"/>
                </a:lnTo>
                <a:lnTo>
                  <a:pt x="1304734" y="94572"/>
                </a:lnTo>
                <a:lnTo>
                  <a:pt x="1263776" y="75389"/>
                </a:lnTo>
                <a:lnTo>
                  <a:pt x="1221731" y="58229"/>
                </a:lnTo>
                <a:lnTo>
                  <a:pt x="1178661" y="43155"/>
                </a:lnTo>
                <a:lnTo>
                  <a:pt x="1134628" y="30228"/>
                </a:lnTo>
                <a:lnTo>
                  <a:pt x="1089695" y="19512"/>
                </a:lnTo>
                <a:lnTo>
                  <a:pt x="1043924" y="11069"/>
                </a:lnTo>
                <a:lnTo>
                  <a:pt x="997377" y="4961"/>
                </a:lnTo>
                <a:lnTo>
                  <a:pt x="950118" y="1250"/>
                </a:lnTo>
                <a:lnTo>
                  <a:pt x="902208" y="0"/>
                </a:lnTo>
                <a:close/>
              </a:path>
            </a:pathLst>
          </a:custGeom>
          <a:solidFill>
            <a:srgbClr val="FFD966">
              <a:alpha val="4313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74691" y="3142488"/>
            <a:ext cx="1804670" cy="1803400"/>
          </a:xfrm>
          <a:custGeom>
            <a:avLst/>
            <a:gdLst/>
            <a:ahLst/>
            <a:cxnLst/>
            <a:rect l="l" t="t" r="r" b="b"/>
            <a:pathLst>
              <a:path w="1804670" h="1803400">
                <a:moveTo>
                  <a:pt x="902208" y="0"/>
                </a:moveTo>
                <a:lnTo>
                  <a:pt x="854297" y="1249"/>
                </a:lnTo>
                <a:lnTo>
                  <a:pt x="807038" y="4956"/>
                </a:lnTo>
                <a:lnTo>
                  <a:pt x="760491" y="11059"/>
                </a:lnTo>
                <a:lnTo>
                  <a:pt x="714720" y="19494"/>
                </a:lnTo>
                <a:lnTo>
                  <a:pt x="669787" y="30200"/>
                </a:lnTo>
                <a:lnTo>
                  <a:pt x="625754" y="43115"/>
                </a:lnTo>
                <a:lnTo>
                  <a:pt x="582684" y="58175"/>
                </a:lnTo>
                <a:lnTo>
                  <a:pt x="540639" y="75320"/>
                </a:lnTo>
                <a:lnTo>
                  <a:pt x="499681" y="94485"/>
                </a:lnTo>
                <a:lnTo>
                  <a:pt x="459873" y="115610"/>
                </a:lnTo>
                <a:lnTo>
                  <a:pt x="421277" y="138632"/>
                </a:lnTo>
                <a:lnTo>
                  <a:pt x="383956" y="163488"/>
                </a:lnTo>
                <a:lnTo>
                  <a:pt x="347972" y="190117"/>
                </a:lnTo>
                <a:lnTo>
                  <a:pt x="313388" y="218455"/>
                </a:lnTo>
                <a:lnTo>
                  <a:pt x="280264" y="248441"/>
                </a:lnTo>
                <a:lnTo>
                  <a:pt x="248666" y="280012"/>
                </a:lnTo>
                <a:lnTo>
                  <a:pt x="218653" y="313107"/>
                </a:lnTo>
                <a:lnTo>
                  <a:pt x="190290" y="347661"/>
                </a:lnTo>
                <a:lnTo>
                  <a:pt x="163638" y="383615"/>
                </a:lnTo>
                <a:lnTo>
                  <a:pt x="138759" y="420904"/>
                </a:lnTo>
                <a:lnTo>
                  <a:pt x="115717" y="459467"/>
                </a:lnTo>
                <a:lnTo>
                  <a:pt x="94572" y="499242"/>
                </a:lnTo>
                <a:lnTo>
                  <a:pt x="75389" y="540165"/>
                </a:lnTo>
                <a:lnTo>
                  <a:pt x="58229" y="582176"/>
                </a:lnTo>
                <a:lnTo>
                  <a:pt x="43155" y="625211"/>
                </a:lnTo>
                <a:lnTo>
                  <a:pt x="30228" y="669208"/>
                </a:lnTo>
                <a:lnTo>
                  <a:pt x="19512" y="714105"/>
                </a:lnTo>
                <a:lnTo>
                  <a:pt x="11069" y="759839"/>
                </a:lnTo>
                <a:lnTo>
                  <a:pt x="4961" y="806349"/>
                </a:lnTo>
                <a:lnTo>
                  <a:pt x="1250" y="853572"/>
                </a:lnTo>
                <a:lnTo>
                  <a:pt x="0" y="901445"/>
                </a:lnTo>
                <a:lnTo>
                  <a:pt x="1250" y="949319"/>
                </a:lnTo>
                <a:lnTo>
                  <a:pt x="4961" y="996542"/>
                </a:lnTo>
                <a:lnTo>
                  <a:pt x="11069" y="1043052"/>
                </a:lnTo>
                <a:lnTo>
                  <a:pt x="19512" y="1088786"/>
                </a:lnTo>
                <a:lnTo>
                  <a:pt x="30228" y="1133683"/>
                </a:lnTo>
                <a:lnTo>
                  <a:pt x="43155" y="1177680"/>
                </a:lnTo>
                <a:lnTo>
                  <a:pt x="58229" y="1220715"/>
                </a:lnTo>
                <a:lnTo>
                  <a:pt x="75389" y="1262726"/>
                </a:lnTo>
                <a:lnTo>
                  <a:pt x="94572" y="1303649"/>
                </a:lnTo>
                <a:lnTo>
                  <a:pt x="115717" y="1343424"/>
                </a:lnTo>
                <a:lnTo>
                  <a:pt x="138759" y="1381987"/>
                </a:lnTo>
                <a:lnTo>
                  <a:pt x="163638" y="1419276"/>
                </a:lnTo>
                <a:lnTo>
                  <a:pt x="190290" y="1455230"/>
                </a:lnTo>
                <a:lnTo>
                  <a:pt x="218653" y="1489784"/>
                </a:lnTo>
                <a:lnTo>
                  <a:pt x="248666" y="1522879"/>
                </a:lnTo>
                <a:lnTo>
                  <a:pt x="280264" y="1554450"/>
                </a:lnTo>
                <a:lnTo>
                  <a:pt x="313388" y="1584436"/>
                </a:lnTo>
                <a:lnTo>
                  <a:pt x="347972" y="1612774"/>
                </a:lnTo>
                <a:lnTo>
                  <a:pt x="383956" y="1639403"/>
                </a:lnTo>
                <a:lnTo>
                  <a:pt x="421277" y="1664259"/>
                </a:lnTo>
                <a:lnTo>
                  <a:pt x="459873" y="1687281"/>
                </a:lnTo>
                <a:lnTo>
                  <a:pt x="499681" y="1708406"/>
                </a:lnTo>
                <a:lnTo>
                  <a:pt x="540639" y="1727571"/>
                </a:lnTo>
                <a:lnTo>
                  <a:pt x="582684" y="1744716"/>
                </a:lnTo>
                <a:lnTo>
                  <a:pt x="625754" y="1759776"/>
                </a:lnTo>
                <a:lnTo>
                  <a:pt x="669787" y="1772691"/>
                </a:lnTo>
                <a:lnTo>
                  <a:pt x="714720" y="1783397"/>
                </a:lnTo>
                <a:lnTo>
                  <a:pt x="760491" y="1791832"/>
                </a:lnTo>
                <a:lnTo>
                  <a:pt x="807038" y="1797935"/>
                </a:lnTo>
                <a:lnTo>
                  <a:pt x="854297" y="1801642"/>
                </a:lnTo>
                <a:lnTo>
                  <a:pt x="902208" y="1802892"/>
                </a:lnTo>
                <a:lnTo>
                  <a:pt x="950118" y="1801642"/>
                </a:lnTo>
                <a:lnTo>
                  <a:pt x="997377" y="1797935"/>
                </a:lnTo>
                <a:lnTo>
                  <a:pt x="1043924" y="1791832"/>
                </a:lnTo>
                <a:lnTo>
                  <a:pt x="1089695" y="1783397"/>
                </a:lnTo>
                <a:lnTo>
                  <a:pt x="1134628" y="1772691"/>
                </a:lnTo>
                <a:lnTo>
                  <a:pt x="1178661" y="1759776"/>
                </a:lnTo>
                <a:lnTo>
                  <a:pt x="1221731" y="1744716"/>
                </a:lnTo>
                <a:lnTo>
                  <a:pt x="1263776" y="1727571"/>
                </a:lnTo>
                <a:lnTo>
                  <a:pt x="1304734" y="1708406"/>
                </a:lnTo>
                <a:lnTo>
                  <a:pt x="1344542" y="1687281"/>
                </a:lnTo>
                <a:lnTo>
                  <a:pt x="1383138" y="1664259"/>
                </a:lnTo>
                <a:lnTo>
                  <a:pt x="1420459" y="1639403"/>
                </a:lnTo>
                <a:lnTo>
                  <a:pt x="1456443" y="1612774"/>
                </a:lnTo>
                <a:lnTo>
                  <a:pt x="1491027" y="1584436"/>
                </a:lnTo>
                <a:lnTo>
                  <a:pt x="1524151" y="1554450"/>
                </a:lnTo>
                <a:lnTo>
                  <a:pt x="1555749" y="1522879"/>
                </a:lnTo>
                <a:lnTo>
                  <a:pt x="1585762" y="1489784"/>
                </a:lnTo>
                <a:lnTo>
                  <a:pt x="1614125" y="1455230"/>
                </a:lnTo>
                <a:lnTo>
                  <a:pt x="1640777" y="1419276"/>
                </a:lnTo>
                <a:lnTo>
                  <a:pt x="1665656" y="1381987"/>
                </a:lnTo>
                <a:lnTo>
                  <a:pt x="1688698" y="1343424"/>
                </a:lnTo>
                <a:lnTo>
                  <a:pt x="1709843" y="1303649"/>
                </a:lnTo>
                <a:lnTo>
                  <a:pt x="1729026" y="1262726"/>
                </a:lnTo>
                <a:lnTo>
                  <a:pt x="1746186" y="1220715"/>
                </a:lnTo>
                <a:lnTo>
                  <a:pt x="1761260" y="1177680"/>
                </a:lnTo>
                <a:lnTo>
                  <a:pt x="1774187" y="1133683"/>
                </a:lnTo>
                <a:lnTo>
                  <a:pt x="1784903" y="1088786"/>
                </a:lnTo>
                <a:lnTo>
                  <a:pt x="1793346" y="1043052"/>
                </a:lnTo>
                <a:lnTo>
                  <a:pt x="1799454" y="996542"/>
                </a:lnTo>
                <a:lnTo>
                  <a:pt x="1803165" y="949319"/>
                </a:lnTo>
                <a:lnTo>
                  <a:pt x="1804415" y="901445"/>
                </a:lnTo>
                <a:lnTo>
                  <a:pt x="1803165" y="853572"/>
                </a:lnTo>
                <a:lnTo>
                  <a:pt x="1799454" y="806349"/>
                </a:lnTo>
                <a:lnTo>
                  <a:pt x="1793346" y="759839"/>
                </a:lnTo>
                <a:lnTo>
                  <a:pt x="1784903" y="714105"/>
                </a:lnTo>
                <a:lnTo>
                  <a:pt x="1774187" y="669208"/>
                </a:lnTo>
                <a:lnTo>
                  <a:pt x="1761260" y="625211"/>
                </a:lnTo>
                <a:lnTo>
                  <a:pt x="1746186" y="582176"/>
                </a:lnTo>
                <a:lnTo>
                  <a:pt x="1729026" y="540165"/>
                </a:lnTo>
                <a:lnTo>
                  <a:pt x="1709843" y="499242"/>
                </a:lnTo>
                <a:lnTo>
                  <a:pt x="1688698" y="459467"/>
                </a:lnTo>
                <a:lnTo>
                  <a:pt x="1665656" y="420904"/>
                </a:lnTo>
                <a:lnTo>
                  <a:pt x="1640777" y="383615"/>
                </a:lnTo>
                <a:lnTo>
                  <a:pt x="1614125" y="347661"/>
                </a:lnTo>
                <a:lnTo>
                  <a:pt x="1585762" y="313107"/>
                </a:lnTo>
                <a:lnTo>
                  <a:pt x="1555749" y="280012"/>
                </a:lnTo>
                <a:lnTo>
                  <a:pt x="1524151" y="248441"/>
                </a:lnTo>
                <a:lnTo>
                  <a:pt x="1491027" y="218455"/>
                </a:lnTo>
                <a:lnTo>
                  <a:pt x="1456443" y="190117"/>
                </a:lnTo>
                <a:lnTo>
                  <a:pt x="1420459" y="163488"/>
                </a:lnTo>
                <a:lnTo>
                  <a:pt x="1383138" y="138632"/>
                </a:lnTo>
                <a:lnTo>
                  <a:pt x="1344542" y="115610"/>
                </a:lnTo>
                <a:lnTo>
                  <a:pt x="1304734" y="94485"/>
                </a:lnTo>
                <a:lnTo>
                  <a:pt x="1263776" y="75320"/>
                </a:lnTo>
                <a:lnTo>
                  <a:pt x="1221731" y="58175"/>
                </a:lnTo>
                <a:lnTo>
                  <a:pt x="1178661" y="43115"/>
                </a:lnTo>
                <a:lnTo>
                  <a:pt x="1134628" y="30200"/>
                </a:lnTo>
                <a:lnTo>
                  <a:pt x="1089695" y="19494"/>
                </a:lnTo>
                <a:lnTo>
                  <a:pt x="1043924" y="11059"/>
                </a:lnTo>
                <a:lnTo>
                  <a:pt x="997377" y="4956"/>
                </a:lnTo>
                <a:lnTo>
                  <a:pt x="950118" y="1249"/>
                </a:lnTo>
                <a:lnTo>
                  <a:pt x="902208" y="0"/>
                </a:lnTo>
                <a:close/>
              </a:path>
            </a:pathLst>
          </a:custGeom>
          <a:solidFill>
            <a:srgbClr val="A9D18E">
              <a:alpha val="4313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96000" y="2424683"/>
            <a:ext cx="1803400" cy="1804670"/>
          </a:xfrm>
          <a:custGeom>
            <a:avLst/>
            <a:gdLst/>
            <a:ahLst/>
            <a:cxnLst/>
            <a:rect l="l" t="t" r="r" b="b"/>
            <a:pathLst>
              <a:path w="1803400" h="1804670">
                <a:moveTo>
                  <a:pt x="901446" y="0"/>
                </a:moveTo>
                <a:lnTo>
                  <a:pt x="853572" y="1250"/>
                </a:lnTo>
                <a:lnTo>
                  <a:pt x="806349" y="4961"/>
                </a:lnTo>
                <a:lnTo>
                  <a:pt x="759839" y="11069"/>
                </a:lnTo>
                <a:lnTo>
                  <a:pt x="714105" y="19512"/>
                </a:lnTo>
                <a:lnTo>
                  <a:pt x="669208" y="30228"/>
                </a:lnTo>
                <a:lnTo>
                  <a:pt x="625211" y="43155"/>
                </a:lnTo>
                <a:lnTo>
                  <a:pt x="582176" y="58229"/>
                </a:lnTo>
                <a:lnTo>
                  <a:pt x="540165" y="75389"/>
                </a:lnTo>
                <a:lnTo>
                  <a:pt x="499242" y="94572"/>
                </a:lnTo>
                <a:lnTo>
                  <a:pt x="459467" y="115717"/>
                </a:lnTo>
                <a:lnTo>
                  <a:pt x="420904" y="138759"/>
                </a:lnTo>
                <a:lnTo>
                  <a:pt x="383615" y="163638"/>
                </a:lnTo>
                <a:lnTo>
                  <a:pt x="347661" y="190290"/>
                </a:lnTo>
                <a:lnTo>
                  <a:pt x="313107" y="218653"/>
                </a:lnTo>
                <a:lnTo>
                  <a:pt x="280012" y="248666"/>
                </a:lnTo>
                <a:lnTo>
                  <a:pt x="248441" y="280264"/>
                </a:lnTo>
                <a:lnTo>
                  <a:pt x="218455" y="313388"/>
                </a:lnTo>
                <a:lnTo>
                  <a:pt x="190117" y="347972"/>
                </a:lnTo>
                <a:lnTo>
                  <a:pt x="163488" y="383956"/>
                </a:lnTo>
                <a:lnTo>
                  <a:pt x="138632" y="421277"/>
                </a:lnTo>
                <a:lnTo>
                  <a:pt x="115610" y="459873"/>
                </a:lnTo>
                <a:lnTo>
                  <a:pt x="94485" y="499681"/>
                </a:lnTo>
                <a:lnTo>
                  <a:pt x="75320" y="540639"/>
                </a:lnTo>
                <a:lnTo>
                  <a:pt x="58175" y="582684"/>
                </a:lnTo>
                <a:lnTo>
                  <a:pt x="43115" y="625754"/>
                </a:lnTo>
                <a:lnTo>
                  <a:pt x="30200" y="669787"/>
                </a:lnTo>
                <a:lnTo>
                  <a:pt x="19494" y="714720"/>
                </a:lnTo>
                <a:lnTo>
                  <a:pt x="11059" y="760491"/>
                </a:lnTo>
                <a:lnTo>
                  <a:pt x="4956" y="807038"/>
                </a:lnTo>
                <a:lnTo>
                  <a:pt x="1249" y="854297"/>
                </a:lnTo>
                <a:lnTo>
                  <a:pt x="0" y="902207"/>
                </a:lnTo>
                <a:lnTo>
                  <a:pt x="1249" y="950118"/>
                </a:lnTo>
                <a:lnTo>
                  <a:pt x="4956" y="997377"/>
                </a:lnTo>
                <a:lnTo>
                  <a:pt x="11059" y="1043924"/>
                </a:lnTo>
                <a:lnTo>
                  <a:pt x="19494" y="1089695"/>
                </a:lnTo>
                <a:lnTo>
                  <a:pt x="30200" y="1134628"/>
                </a:lnTo>
                <a:lnTo>
                  <a:pt x="43115" y="1178661"/>
                </a:lnTo>
                <a:lnTo>
                  <a:pt x="58175" y="1221731"/>
                </a:lnTo>
                <a:lnTo>
                  <a:pt x="75320" y="1263776"/>
                </a:lnTo>
                <a:lnTo>
                  <a:pt x="94485" y="1304734"/>
                </a:lnTo>
                <a:lnTo>
                  <a:pt x="115610" y="1344542"/>
                </a:lnTo>
                <a:lnTo>
                  <a:pt x="138632" y="1383138"/>
                </a:lnTo>
                <a:lnTo>
                  <a:pt x="163488" y="1420459"/>
                </a:lnTo>
                <a:lnTo>
                  <a:pt x="190117" y="1456443"/>
                </a:lnTo>
                <a:lnTo>
                  <a:pt x="218455" y="1491027"/>
                </a:lnTo>
                <a:lnTo>
                  <a:pt x="248441" y="1524151"/>
                </a:lnTo>
                <a:lnTo>
                  <a:pt x="280012" y="1555749"/>
                </a:lnTo>
                <a:lnTo>
                  <a:pt x="313107" y="1585762"/>
                </a:lnTo>
                <a:lnTo>
                  <a:pt x="347661" y="1614125"/>
                </a:lnTo>
                <a:lnTo>
                  <a:pt x="383615" y="1640777"/>
                </a:lnTo>
                <a:lnTo>
                  <a:pt x="420904" y="1665656"/>
                </a:lnTo>
                <a:lnTo>
                  <a:pt x="459467" y="1688698"/>
                </a:lnTo>
                <a:lnTo>
                  <a:pt x="499242" y="1709843"/>
                </a:lnTo>
                <a:lnTo>
                  <a:pt x="540165" y="1729026"/>
                </a:lnTo>
                <a:lnTo>
                  <a:pt x="582176" y="1746186"/>
                </a:lnTo>
                <a:lnTo>
                  <a:pt x="625211" y="1761260"/>
                </a:lnTo>
                <a:lnTo>
                  <a:pt x="669208" y="1774187"/>
                </a:lnTo>
                <a:lnTo>
                  <a:pt x="714105" y="1784903"/>
                </a:lnTo>
                <a:lnTo>
                  <a:pt x="759839" y="1793346"/>
                </a:lnTo>
                <a:lnTo>
                  <a:pt x="806349" y="1799454"/>
                </a:lnTo>
                <a:lnTo>
                  <a:pt x="853572" y="1803165"/>
                </a:lnTo>
                <a:lnTo>
                  <a:pt x="901446" y="1804415"/>
                </a:lnTo>
                <a:lnTo>
                  <a:pt x="949319" y="1803165"/>
                </a:lnTo>
                <a:lnTo>
                  <a:pt x="996542" y="1799454"/>
                </a:lnTo>
                <a:lnTo>
                  <a:pt x="1043052" y="1793346"/>
                </a:lnTo>
                <a:lnTo>
                  <a:pt x="1088786" y="1784903"/>
                </a:lnTo>
                <a:lnTo>
                  <a:pt x="1133683" y="1774187"/>
                </a:lnTo>
                <a:lnTo>
                  <a:pt x="1177680" y="1761260"/>
                </a:lnTo>
                <a:lnTo>
                  <a:pt x="1220715" y="1746186"/>
                </a:lnTo>
                <a:lnTo>
                  <a:pt x="1262726" y="1729026"/>
                </a:lnTo>
                <a:lnTo>
                  <a:pt x="1303649" y="1709843"/>
                </a:lnTo>
                <a:lnTo>
                  <a:pt x="1343424" y="1688698"/>
                </a:lnTo>
                <a:lnTo>
                  <a:pt x="1381987" y="1665656"/>
                </a:lnTo>
                <a:lnTo>
                  <a:pt x="1419276" y="1640777"/>
                </a:lnTo>
                <a:lnTo>
                  <a:pt x="1455230" y="1614125"/>
                </a:lnTo>
                <a:lnTo>
                  <a:pt x="1489784" y="1585762"/>
                </a:lnTo>
                <a:lnTo>
                  <a:pt x="1522879" y="1555749"/>
                </a:lnTo>
                <a:lnTo>
                  <a:pt x="1554450" y="1524151"/>
                </a:lnTo>
                <a:lnTo>
                  <a:pt x="1584436" y="1491027"/>
                </a:lnTo>
                <a:lnTo>
                  <a:pt x="1612774" y="1456443"/>
                </a:lnTo>
                <a:lnTo>
                  <a:pt x="1639403" y="1420459"/>
                </a:lnTo>
                <a:lnTo>
                  <a:pt x="1664259" y="1383138"/>
                </a:lnTo>
                <a:lnTo>
                  <a:pt x="1687281" y="1344542"/>
                </a:lnTo>
                <a:lnTo>
                  <a:pt x="1708406" y="1304734"/>
                </a:lnTo>
                <a:lnTo>
                  <a:pt x="1727571" y="1263776"/>
                </a:lnTo>
                <a:lnTo>
                  <a:pt x="1744716" y="1221731"/>
                </a:lnTo>
                <a:lnTo>
                  <a:pt x="1759776" y="1178661"/>
                </a:lnTo>
                <a:lnTo>
                  <a:pt x="1772691" y="1134628"/>
                </a:lnTo>
                <a:lnTo>
                  <a:pt x="1783397" y="1089695"/>
                </a:lnTo>
                <a:lnTo>
                  <a:pt x="1791832" y="1043924"/>
                </a:lnTo>
                <a:lnTo>
                  <a:pt x="1797935" y="997377"/>
                </a:lnTo>
                <a:lnTo>
                  <a:pt x="1801642" y="950118"/>
                </a:lnTo>
                <a:lnTo>
                  <a:pt x="1802892" y="902207"/>
                </a:lnTo>
                <a:lnTo>
                  <a:pt x="1801642" y="854297"/>
                </a:lnTo>
                <a:lnTo>
                  <a:pt x="1797935" y="807038"/>
                </a:lnTo>
                <a:lnTo>
                  <a:pt x="1791832" y="760491"/>
                </a:lnTo>
                <a:lnTo>
                  <a:pt x="1783397" y="714720"/>
                </a:lnTo>
                <a:lnTo>
                  <a:pt x="1772691" y="669787"/>
                </a:lnTo>
                <a:lnTo>
                  <a:pt x="1759776" y="625754"/>
                </a:lnTo>
                <a:lnTo>
                  <a:pt x="1744716" y="582684"/>
                </a:lnTo>
                <a:lnTo>
                  <a:pt x="1727571" y="540639"/>
                </a:lnTo>
                <a:lnTo>
                  <a:pt x="1708406" y="499681"/>
                </a:lnTo>
                <a:lnTo>
                  <a:pt x="1687281" y="459873"/>
                </a:lnTo>
                <a:lnTo>
                  <a:pt x="1664259" y="421277"/>
                </a:lnTo>
                <a:lnTo>
                  <a:pt x="1639403" y="383956"/>
                </a:lnTo>
                <a:lnTo>
                  <a:pt x="1612774" y="347972"/>
                </a:lnTo>
                <a:lnTo>
                  <a:pt x="1584436" y="313388"/>
                </a:lnTo>
                <a:lnTo>
                  <a:pt x="1554450" y="280264"/>
                </a:lnTo>
                <a:lnTo>
                  <a:pt x="1522879" y="248666"/>
                </a:lnTo>
                <a:lnTo>
                  <a:pt x="1489784" y="218653"/>
                </a:lnTo>
                <a:lnTo>
                  <a:pt x="1455230" y="190290"/>
                </a:lnTo>
                <a:lnTo>
                  <a:pt x="1419276" y="163638"/>
                </a:lnTo>
                <a:lnTo>
                  <a:pt x="1381987" y="138759"/>
                </a:lnTo>
                <a:lnTo>
                  <a:pt x="1343424" y="115717"/>
                </a:lnTo>
                <a:lnTo>
                  <a:pt x="1303649" y="94572"/>
                </a:lnTo>
                <a:lnTo>
                  <a:pt x="1262726" y="75389"/>
                </a:lnTo>
                <a:lnTo>
                  <a:pt x="1220715" y="58229"/>
                </a:lnTo>
                <a:lnTo>
                  <a:pt x="1177680" y="43155"/>
                </a:lnTo>
                <a:lnTo>
                  <a:pt x="1133683" y="30228"/>
                </a:lnTo>
                <a:lnTo>
                  <a:pt x="1088786" y="19512"/>
                </a:lnTo>
                <a:lnTo>
                  <a:pt x="1043052" y="11069"/>
                </a:lnTo>
                <a:lnTo>
                  <a:pt x="996542" y="4961"/>
                </a:lnTo>
                <a:lnTo>
                  <a:pt x="949319" y="1250"/>
                </a:lnTo>
                <a:lnTo>
                  <a:pt x="901446" y="0"/>
                </a:lnTo>
                <a:close/>
              </a:path>
            </a:pathLst>
          </a:custGeom>
          <a:solidFill>
            <a:srgbClr val="B4C6E7">
              <a:alpha val="4313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118608" y="2462606"/>
            <a:ext cx="2335530" cy="1717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211580" algn="ctr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latin typeface="Calibri" panose="020F0502020204030204"/>
                <a:cs typeface="Calibri" panose="020F0502020204030204"/>
              </a:rPr>
              <a:t>P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sy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ch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logi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al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437005">
              <a:lnSpc>
                <a:spcPct val="10000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Bio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ogi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c</a:t>
            </a:r>
            <a:r>
              <a:rPr sz="1800" dirty="0">
                <a:latin typeface="Calibri" panose="020F0502020204030204"/>
                <a:cs typeface="Calibri" panose="020F0502020204030204"/>
              </a:rPr>
              <a:t>al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R="1209675" algn="ctr">
              <a:lnSpc>
                <a:spcPct val="100000"/>
              </a:lnSpc>
              <a:spcBef>
                <a:spcPts val="1420"/>
              </a:spcBef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Social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25340" y="4612513"/>
            <a:ext cx="743585" cy="367665"/>
          </a:xfrm>
          <a:custGeom>
            <a:avLst/>
            <a:gdLst/>
            <a:ahLst/>
            <a:cxnLst/>
            <a:rect l="l" t="t" r="r" b="b"/>
            <a:pathLst>
              <a:path w="743585" h="367664">
                <a:moveTo>
                  <a:pt x="0" y="367284"/>
                </a:moveTo>
                <a:lnTo>
                  <a:pt x="743076" y="0"/>
                </a:lnTo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23900" y="4381500"/>
            <a:ext cx="3226435" cy="1346200"/>
          </a:xfrm>
          <a:prstGeom prst="rect">
            <a:avLst/>
          </a:prstGeom>
          <a:solidFill>
            <a:srgbClr val="E1EFD9"/>
          </a:solidFill>
          <a:ln w="12700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950"/>
              </a:lnSpc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Sociology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86385" indent="-286385">
              <a:lnSpc>
                <a:spcPct val="100000"/>
              </a:lnSpc>
              <a:buFont typeface="Arial" panose="020B0604020202020204"/>
              <a:buChar char="•"/>
              <a:tabLst>
                <a:tab pos="286385" algn="l"/>
                <a:tab pos="627380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Understanding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health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illness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59205" lvl="1" indent="-287020">
              <a:lnSpc>
                <a:spcPct val="100000"/>
              </a:lnSpc>
              <a:buFont typeface="Arial" panose="020B0604020202020204"/>
              <a:buChar char="•"/>
              <a:tabLst>
                <a:tab pos="1259205" algn="l"/>
                <a:tab pos="1259840" algn="l"/>
              </a:tabLst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individuals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05865" indent="-287020">
              <a:lnSpc>
                <a:spcPct val="100000"/>
              </a:lnSpc>
              <a:buFont typeface="Arial" panose="020B0604020202020204"/>
              <a:buChar char="•"/>
              <a:tabLst>
                <a:tab pos="1205865" algn="l"/>
                <a:tab pos="1206500" algn="l"/>
              </a:tabLst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populations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20997" y="1393825"/>
            <a:ext cx="882650" cy="622935"/>
          </a:xfrm>
          <a:custGeom>
            <a:avLst/>
            <a:gdLst/>
            <a:ahLst/>
            <a:cxnLst/>
            <a:rect l="l" t="t" r="r" b="b"/>
            <a:pathLst>
              <a:path w="882650" h="622935">
                <a:moveTo>
                  <a:pt x="0" y="0"/>
                </a:moveTo>
                <a:lnTo>
                  <a:pt x="882396" y="622808"/>
                </a:lnTo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59308" y="719327"/>
            <a:ext cx="3225165" cy="1346200"/>
          </a:xfrm>
          <a:prstGeom prst="rect">
            <a:avLst/>
          </a:prstGeom>
          <a:solidFill>
            <a:srgbClr val="FFF1CC"/>
          </a:solidFill>
          <a:ln w="12700">
            <a:solidFill>
              <a:srgbClr val="2E528F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766445">
              <a:lnSpc>
                <a:spcPct val="100000"/>
              </a:lnSpc>
              <a:spcBef>
                <a:spcPts val="860"/>
              </a:spcBef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Health</a:t>
            </a:r>
            <a:r>
              <a:rPr sz="1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Psychology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471170" indent="-287655">
              <a:lnSpc>
                <a:spcPct val="100000"/>
              </a:lnSpc>
              <a:buFont typeface="Arial" panose="020B0604020202020204"/>
              <a:buChar char="•"/>
              <a:tabLst>
                <a:tab pos="469900" algn="l"/>
                <a:tab pos="47180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Core 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Psychological</a:t>
            </a:r>
            <a:r>
              <a:rPr sz="1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Theories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845820" lvl="1" indent="-287020">
              <a:lnSpc>
                <a:spcPct val="100000"/>
              </a:lnSpc>
              <a:buFont typeface="Arial" panose="020B0604020202020204"/>
              <a:buChar char="•"/>
              <a:tabLst>
                <a:tab pos="845185" algn="l"/>
                <a:tab pos="846455" algn="l"/>
              </a:tabLst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Human</a:t>
            </a:r>
            <a:r>
              <a:rPr sz="1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Functioning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371600" lvl="2" indent="-287020">
              <a:lnSpc>
                <a:spcPct val="100000"/>
              </a:lnSpc>
              <a:buFont typeface="Arial" panose="020B0604020202020204"/>
              <a:buChar char="•"/>
              <a:tabLst>
                <a:tab pos="1371600" algn="l"/>
                <a:tab pos="137223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Lifespan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8095" y="2726435"/>
            <a:ext cx="3803904" cy="4131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73023"/>
            <a:ext cx="2743199" cy="6050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11905" y="582548"/>
            <a:ext cx="7626350" cy="1129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Applied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Sciences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for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Physiotherapy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Practice</a:t>
            </a:r>
            <a:r>
              <a:rPr sz="280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(PT7001)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>
              <a:latin typeface="Times New Roman" panose="02020603050405020304"/>
              <a:cs typeface="Times New Roman" panose="02020603050405020304"/>
            </a:endParaRPr>
          </a:p>
          <a:p>
            <a:pPr marL="5715">
              <a:lnSpc>
                <a:spcPct val="100000"/>
              </a:lnSpc>
            </a:pPr>
            <a:r>
              <a:rPr sz="2800" spc="-20" dirty="0">
                <a:latin typeface="Calibri" panose="020F0502020204030204"/>
                <a:cs typeface="Calibri" panose="020F0502020204030204"/>
              </a:rPr>
              <a:t>Part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 –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Introduction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to</a:t>
            </a:r>
            <a:r>
              <a:rPr sz="2800" spc="9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Module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191" y="0"/>
            <a:ext cx="12179935" cy="6858000"/>
          </a:xfrm>
          <a:custGeom>
            <a:avLst/>
            <a:gdLst/>
            <a:ahLst/>
            <a:cxnLst/>
            <a:rect l="l" t="t" r="r" b="b"/>
            <a:pathLst>
              <a:path w="12179935" h="6858000">
                <a:moveTo>
                  <a:pt x="12179808" y="6857998"/>
                </a:moveTo>
                <a:lnTo>
                  <a:pt x="12179808" y="0"/>
                </a:lnTo>
                <a:lnTo>
                  <a:pt x="0" y="0"/>
                </a:lnTo>
                <a:lnTo>
                  <a:pt x="0" y="6857998"/>
                </a:lnTo>
                <a:lnTo>
                  <a:pt x="12179808" y="685799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74691" y="1706879"/>
            <a:ext cx="1804670" cy="1804670"/>
          </a:xfrm>
          <a:custGeom>
            <a:avLst/>
            <a:gdLst/>
            <a:ahLst/>
            <a:cxnLst/>
            <a:rect l="l" t="t" r="r" b="b"/>
            <a:pathLst>
              <a:path w="1804670" h="1804670">
                <a:moveTo>
                  <a:pt x="902208" y="0"/>
                </a:moveTo>
                <a:lnTo>
                  <a:pt x="854297" y="1250"/>
                </a:lnTo>
                <a:lnTo>
                  <a:pt x="807038" y="4961"/>
                </a:lnTo>
                <a:lnTo>
                  <a:pt x="760491" y="11069"/>
                </a:lnTo>
                <a:lnTo>
                  <a:pt x="714720" y="19512"/>
                </a:lnTo>
                <a:lnTo>
                  <a:pt x="669787" y="30228"/>
                </a:lnTo>
                <a:lnTo>
                  <a:pt x="625754" y="43155"/>
                </a:lnTo>
                <a:lnTo>
                  <a:pt x="582684" y="58229"/>
                </a:lnTo>
                <a:lnTo>
                  <a:pt x="540639" y="75389"/>
                </a:lnTo>
                <a:lnTo>
                  <a:pt x="499681" y="94572"/>
                </a:lnTo>
                <a:lnTo>
                  <a:pt x="459873" y="115717"/>
                </a:lnTo>
                <a:lnTo>
                  <a:pt x="421277" y="138759"/>
                </a:lnTo>
                <a:lnTo>
                  <a:pt x="383956" y="163638"/>
                </a:lnTo>
                <a:lnTo>
                  <a:pt x="347972" y="190290"/>
                </a:lnTo>
                <a:lnTo>
                  <a:pt x="313388" y="218653"/>
                </a:lnTo>
                <a:lnTo>
                  <a:pt x="280264" y="248666"/>
                </a:lnTo>
                <a:lnTo>
                  <a:pt x="248666" y="280264"/>
                </a:lnTo>
                <a:lnTo>
                  <a:pt x="218653" y="313388"/>
                </a:lnTo>
                <a:lnTo>
                  <a:pt x="190290" y="347972"/>
                </a:lnTo>
                <a:lnTo>
                  <a:pt x="163638" y="383956"/>
                </a:lnTo>
                <a:lnTo>
                  <a:pt x="138759" y="421277"/>
                </a:lnTo>
                <a:lnTo>
                  <a:pt x="115717" y="459873"/>
                </a:lnTo>
                <a:lnTo>
                  <a:pt x="94572" y="499681"/>
                </a:lnTo>
                <a:lnTo>
                  <a:pt x="75389" y="540639"/>
                </a:lnTo>
                <a:lnTo>
                  <a:pt x="58229" y="582684"/>
                </a:lnTo>
                <a:lnTo>
                  <a:pt x="43155" y="625754"/>
                </a:lnTo>
                <a:lnTo>
                  <a:pt x="30228" y="669787"/>
                </a:lnTo>
                <a:lnTo>
                  <a:pt x="19512" y="714720"/>
                </a:lnTo>
                <a:lnTo>
                  <a:pt x="11069" y="760491"/>
                </a:lnTo>
                <a:lnTo>
                  <a:pt x="4961" y="807038"/>
                </a:lnTo>
                <a:lnTo>
                  <a:pt x="1250" y="854297"/>
                </a:lnTo>
                <a:lnTo>
                  <a:pt x="0" y="902208"/>
                </a:lnTo>
                <a:lnTo>
                  <a:pt x="1250" y="950118"/>
                </a:lnTo>
                <a:lnTo>
                  <a:pt x="4961" y="997377"/>
                </a:lnTo>
                <a:lnTo>
                  <a:pt x="11069" y="1043924"/>
                </a:lnTo>
                <a:lnTo>
                  <a:pt x="19512" y="1089695"/>
                </a:lnTo>
                <a:lnTo>
                  <a:pt x="30228" y="1134628"/>
                </a:lnTo>
                <a:lnTo>
                  <a:pt x="43155" y="1178661"/>
                </a:lnTo>
                <a:lnTo>
                  <a:pt x="58229" y="1221731"/>
                </a:lnTo>
                <a:lnTo>
                  <a:pt x="75389" y="1263776"/>
                </a:lnTo>
                <a:lnTo>
                  <a:pt x="94572" y="1304734"/>
                </a:lnTo>
                <a:lnTo>
                  <a:pt x="115717" y="1344542"/>
                </a:lnTo>
                <a:lnTo>
                  <a:pt x="138759" y="1383138"/>
                </a:lnTo>
                <a:lnTo>
                  <a:pt x="163638" y="1420459"/>
                </a:lnTo>
                <a:lnTo>
                  <a:pt x="190290" y="1456443"/>
                </a:lnTo>
                <a:lnTo>
                  <a:pt x="218653" y="1491027"/>
                </a:lnTo>
                <a:lnTo>
                  <a:pt x="248666" y="1524151"/>
                </a:lnTo>
                <a:lnTo>
                  <a:pt x="280264" y="1555749"/>
                </a:lnTo>
                <a:lnTo>
                  <a:pt x="313388" y="1585762"/>
                </a:lnTo>
                <a:lnTo>
                  <a:pt x="347972" y="1614125"/>
                </a:lnTo>
                <a:lnTo>
                  <a:pt x="383956" y="1640777"/>
                </a:lnTo>
                <a:lnTo>
                  <a:pt x="421277" y="1665656"/>
                </a:lnTo>
                <a:lnTo>
                  <a:pt x="459873" y="1688698"/>
                </a:lnTo>
                <a:lnTo>
                  <a:pt x="499681" y="1709843"/>
                </a:lnTo>
                <a:lnTo>
                  <a:pt x="540639" y="1729026"/>
                </a:lnTo>
                <a:lnTo>
                  <a:pt x="582684" y="1746186"/>
                </a:lnTo>
                <a:lnTo>
                  <a:pt x="625754" y="1761260"/>
                </a:lnTo>
                <a:lnTo>
                  <a:pt x="669787" y="1774187"/>
                </a:lnTo>
                <a:lnTo>
                  <a:pt x="714720" y="1784903"/>
                </a:lnTo>
                <a:lnTo>
                  <a:pt x="760491" y="1793346"/>
                </a:lnTo>
                <a:lnTo>
                  <a:pt x="807038" y="1799454"/>
                </a:lnTo>
                <a:lnTo>
                  <a:pt x="854297" y="1803165"/>
                </a:lnTo>
                <a:lnTo>
                  <a:pt x="902208" y="1804416"/>
                </a:lnTo>
                <a:lnTo>
                  <a:pt x="950118" y="1803165"/>
                </a:lnTo>
                <a:lnTo>
                  <a:pt x="997377" y="1799454"/>
                </a:lnTo>
                <a:lnTo>
                  <a:pt x="1043924" y="1793346"/>
                </a:lnTo>
                <a:lnTo>
                  <a:pt x="1089695" y="1784903"/>
                </a:lnTo>
                <a:lnTo>
                  <a:pt x="1134628" y="1774187"/>
                </a:lnTo>
                <a:lnTo>
                  <a:pt x="1178661" y="1761260"/>
                </a:lnTo>
                <a:lnTo>
                  <a:pt x="1221731" y="1746186"/>
                </a:lnTo>
                <a:lnTo>
                  <a:pt x="1263776" y="1729026"/>
                </a:lnTo>
                <a:lnTo>
                  <a:pt x="1304734" y="1709843"/>
                </a:lnTo>
                <a:lnTo>
                  <a:pt x="1344542" y="1688698"/>
                </a:lnTo>
                <a:lnTo>
                  <a:pt x="1383138" y="1665656"/>
                </a:lnTo>
                <a:lnTo>
                  <a:pt x="1420459" y="1640777"/>
                </a:lnTo>
                <a:lnTo>
                  <a:pt x="1456443" y="1614125"/>
                </a:lnTo>
                <a:lnTo>
                  <a:pt x="1491027" y="1585762"/>
                </a:lnTo>
                <a:lnTo>
                  <a:pt x="1524151" y="1555749"/>
                </a:lnTo>
                <a:lnTo>
                  <a:pt x="1555749" y="1524151"/>
                </a:lnTo>
                <a:lnTo>
                  <a:pt x="1585762" y="1491027"/>
                </a:lnTo>
                <a:lnTo>
                  <a:pt x="1614125" y="1456443"/>
                </a:lnTo>
                <a:lnTo>
                  <a:pt x="1640777" y="1420459"/>
                </a:lnTo>
                <a:lnTo>
                  <a:pt x="1665656" y="1383138"/>
                </a:lnTo>
                <a:lnTo>
                  <a:pt x="1688698" y="1344542"/>
                </a:lnTo>
                <a:lnTo>
                  <a:pt x="1709843" y="1304734"/>
                </a:lnTo>
                <a:lnTo>
                  <a:pt x="1729026" y="1263776"/>
                </a:lnTo>
                <a:lnTo>
                  <a:pt x="1746186" y="1221731"/>
                </a:lnTo>
                <a:lnTo>
                  <a:pt x="1761260" y="1178661"/>
                </a:lnTo>
                <a:lnTo>
                  <a:pt x="1774187" y="1134628"/>
                </a:lnTo>
                <a:lnTo>
                  <a:pt x="1784903" y="1089695"/>
                </a:lnTo>
                <a:lnTo>
                  <a:pt x="1793346" y="1043924"/>
                </a:lnTo>
                <a:lnTo>
                  <a:pt x="1799454" y="997377"/>
                </a:lnTo>
                <a:lnTo>
                  <a:pt x="1803165" y="950118"/>
                </a:lnTo>
                <a:lnTo>
                  <a:pt x="1804415" y="902208"/>
                </a:lnTo>
                <a:lnTo>
                  <a:pt x="1803165" y="854297"/>
                </a:lnTo>
                <a:lnTo>
                  <a:pt x="1799454" y="807038"/>
                </a:lnTo>
                <a:lnTo>
                  <a:pt x="1793346" y="760491"/>
                </a:lnTo>
                <a:lnTo>
                  <a:pt x="1784903" y="714720"/>
                </a:lnTo>
                <a:lnTo>
                  <a:pt x="1774187" y="669787"/>
                </a:lnTo>
                <a:lnTo>
                  <a:pt x="1761260" y="625754"/>
                </a:lnTo>
                <a:lnTo>
                  <a:pt x="1746186" y="582684"/>
                </a:lnTo>
                <a:lnTo>
                  <a:pt x="1729026" y="540639"/>
                </a:lnTo>
                <a:lnTo>
                  <a:pt x="1709843" y="499681"/>
                </a:lnTo>
                <a:lnTo>
                  <a:pt x="1688698" y="459873"/>
                </a:lnTo>
                <a:lnTo>
                  <a:pt x="1665656" y="421277"/>
                </a:lnTo>
                <a:lnTo>
                  <a:pt x="1640777" y="383956"/>
                </a:lnTo>
                <a:lnTo>
                  <a:pt x="1614125" y="347972"/>
                </a:lnTo>
                <a:lnTo>
                  <a:pt x="1585762" y="313388"/>
                </a:lnTo>
                <a:lnTo>
                  <a:pt x="1555749" y="280264"/>
                </a:lnTo>
                <a:lnTo>
                  <a:pt x="1524151" y="248666"/>
                </a:lnTo>
                <a:lnTo>
                  <a:pt x="1491027" y="218653"/>
                </a:lnTo>
                <a:lnTo>
                  <a:pt x="1456443" y="190290"/>
                </a:lnTo>
                <a:lnTo>
                  <a:pt x="1420459" y="163638"/>
                </a:lnTo>
                <a:lnTo>
                  <a:pt x="1383138" y="138759"/>
                </a:lnTo>
                <a:lnTo>
                  <a:pt x="1344542" y="115717"/>
                </a:lnTo>
                <a:lnTo>
                  <a:pt x="1304734" y="94572"/>
                </a:lnTo>
                <a:lnTo>
                  <a:pt x="1263776" y="75389"/>
                </a:lnTo>
                <a:lnTo>
                  <a:pt x="1221731" y="58229"/>
                </a:lnTo>
                <a:lnTo>
                  <a:pt x="1178661" y="43155"/>
                </a:lnTo>
                <a:lnTo>
                  <a:pt x="1134628" y="30228"/>
                </a:lnTo>
                <a:lnTo>
                  <a:pt x="1089695" y="19512"/>
                </a:lnTo>
                <a:lnTo>
                  <a:pt x="1043924" y="11069"/>
                </a:lnTo>
                <a:lnTo>
                  <a:pt x="997377" y="4961"/>
                </a:lnTo>
                <a:lnTo>
                  <a:pt x="950118" y="1250"/>
                </a:lnTo>
                <a:lnTo>
                  <a:pt x="902208" y="0"/>
                </a:lnTo>
                <a:close/>
              </a:path>
            </a:pathLst>
          </a:custGeom>
          <a:solidFill>
            <a:srgbClr val="FFD966">
              <a:alpha val="4313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18608" y="2462606"/>
            <a:ext cx="11156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latin typeface="Calibri" panose="020F0502020204030204"/>
                <a:cs typeface="Calibri" panose="020F0502020204030204"/>
              </a:rPr>
              <a:t>P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sy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ch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logi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al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74691" y="3142488"/>
            <a:ext cx="1804670" cy="1803400"/>
          </a:xfrm>
          <a:custGeom>
            <a:avLst/>
            <a:gdLst/>
            <a:ahLst/>
            <a:cxnLst/>
            <a:rect l="l" t="t" r="r" b="b"/>
            <a:pathLst>
              <a:path w="1804670" h="1803400">
                <a:moveTo>
                  <a:pt x="902208" y="0"/>
                </a:moveTo>
                <a:lnTo>
                  <a:pt x="854297" y="1249"/>
                </a:lnTo>
                <a:lnTo>
                  <a:pt x="807038" y="4956"/>
                </a:lnTo>
                <a:lnTo>
                  <a:pt x="760491" y="11059"/>
                </a:lnTo>
                <a:lnTo>
                  <a:pt x="714720" y="19494"/>
                </a:lnTo>
                <a:lnTo>
                  <a:pt x="669787" y="30200"/>
                </a:lnTo>
                <a:lnTo>
                  <a:pt x="625754" y="43115"/>
                </a:lnTo>
                <a:lnTo>
                  <a:pt x="582684" y="58175"/>
                </a:lnTo>
                <a:lnTo>
                  <a:pt x="540639" y="75320"/>
                </a:lnTo>
                <a:lnTo>
                  <a:pt x="499681" y="94485"/>
                </a:lnTo>
                <a:lnTo>
                  <a:pt x="459873" y="115610"/>
                </a:lnTo>
                <a:lnTo>
                  <a:pt x="421277" y="138632"/>
                </a:lnTo>
                <a:lnTo>
                  <a:pt x="383956" y="163488"/>
                </a:lnTo>
                <a:lnTo>
                  <a:pt x="347972" y="190117"/>
                </a:lnTo>
                <a:lnTo>
                  <a:pt x="313388" y="218455"/>
                </a:lnTo>
                <a:lnTo>
                  <a:pt x="280264" y="248441"/>
                </a:lnTo>
                <a:lnTo>
                  <a:pt x="248666" y="280012"/>
                </a:lnTo>
                <a:lnTo>
                  <a:pt x="218653" y="313107"/>
                </a:lnTo>
                <a:lnTo>
                  <a:pt x="190290" y="347661"/>
                </a:lnTo>
                <a:lnTo>
                  <a:pt x="163638" y="383615"/>
                </a:lnTo>
                <a:lnTo>
                  <a:pt x="138759" y="420904"/>
                </a:lnTo>
                <a:lnTo>
                  <a:pt x="115717" y="459467"/>
                </a:lnTo>
                <a:lnTo>
                  <a:pt x="94572" y="499242"/>
                </a:lnTo>
                <a:lnTo>
                  <a:pt x="75389" y="540165"/>
                </a:lnTo>
                <a:lnTo>
                  <a:pt x="58229" y="582176"/>
                </a:lnTo>
                <a:lnTo>
                  <a:pt x="43155" y="625211"/>
                </a:lnTo>
                <a:lnTo>
                  <a:pt x="30228" y="669208"/>
                </a:lnTo>
                <a:lnTo>
                  <a:pt x="19512" y="714105"/>
                </a:lnTo>
                <a:lnTo>
                  <a:pt x="11069" y="759839"/>
                </a:lnTo>
                <a:lnTo>
                  <a:pt x="4961" y="806349"/>
                </a:lnTo>
                <a:lnTo>
                  <a:pt x="1250" y="853572"/>
                </a:lnTo>
                <a:lnTo>
                  <a:pt x="0" y="901445"/>
                </a:lnTo>
                <a:lnTo>
                  <a:pt x="1250" y="949319"/>
                </a:lnTo>
                <a:lnTo>
                  <a:pt x="4961" y="996542"/>
                </a:lnTo>
                <a:lnTo>
                  <a:pt x="11069" y="1043052"/>
                </a:lnTo>
                <a:lnTo>
                  <a:pt x="19512" y="1088786"/>
                </a:lnTo>
                <a:lnTo>
                  <a:pt x="30228" y="1133683"/>
                </a:lnTo>
                <a:lnTo>
                  <a:pt x="43155" y="1177680"/>
                </a:lnTo>
                <a:lnTo>
                  <a:pt x="58229" y="1220715"/>
                </a:lnTo>
                <a:lnTo>
                  <a:pt x="75389" y="1262726"/>
                </a:lnTo>
                <a:lnTo>
                  <a:pt x="94572" y="1303649"/>
                </a:lnTo>
                <a:lnTo>
                  <a:pt x="115717" y="1343424"/>
                </a:lnTo>
                <a:lnTo>
                  <a:pt x="138759" y="1381987"/>
                </a:lnTo>
                <a:lnTo>
                  <a:pt x="163638" y="1419276"/>
                </a:lnTo>
                <a:lnTo>
                  <a:pt x="190290" y="1455230"/>
                </a:lnTo>
                <a:lnTo>
                  <a:pt x="218653" y="1489784"/>
                </a:lnTo>
                <a:lnTo>
                  <a:pt x="248666" y="1522879"/>
                </a:lnTo>
                <a:lnTo>
                  <a:pt x="280264" y="1554450"/>
                </a:lnTo>
                <a:lnTo>
                  <a:pt x="313388" y="1584436"/>
                </a:lnTo>
                <a:lnTo>
                  <a:pt x="347972" y="1612774"/>
                </a:lnTo>
                <a:lnTo>
                  <a:pt x="383956" y="1639403"/>
                </a:lnTo>
                <a:lnTo>
                  <a:pt x="421277" y="1664259"/>
                </a:lnTo>
                <a:lnTo>
                  <a:pt x="459873" y="1687281"/>
                </a:lnTo>
                <a:lnTo>
                  <a:pt x="499681" y="1708406"/>
                </a:lnTo>
                <a:lnTo>
                  <a:pt x="540639" y="1727571"/>
                </a:lnTo>
                <a:lnTo>
                  <a:pt x="582684" y="1744716"/>
                </a:lnTo>
                <a:lnTo>
                  <a:pt x="625754" y="1759776"/>
                </a:lnTo>
                <a:lnTo>
                  <a:pt x="669787" y="1772691"/>
                </a:lnTo>
                <a:lnTo>
                  <a:pt x="714720" y="1783397"/>
                </a:lnTo>
                <a:lnTo>
                  <a:pt x="760491" y="1791832"/>
                </a:lnTo>
                <a:lnTo>
                  <a:pt x="807038" y="1797935"/>
                </a:lnTo>
                <a:lnTo>
                  <a:pt x="854297" y="1801642"/>
                </a:lnTo>
                <a:lnTo>
                  <a:pt x="902208" y="1802892"/>
                </a:lnTo>
                <a:lnTo>
                  <a:pt x="950118" y="1801642"/>
                </a:lnTo>
                <a:lnTo>
                  <a:pt x="997377" y="1797935"/>
                </a:lnTo>
                <a:lnTo>
                  <a:pt x="1043924" y="1791832"/>
                </a:lnTo>
                <a:lnTo>
                  <a:pt x="1089695" y="1783397"/>
                </a:lnTo>
                <a:lnTo>
                  <a:pt x="1134628" y="1772691"/>
                </a:lnTo>
                <a:lnTo>
                  <a:pt x="1178661" y="1759776"/>
                </a:lnTo>
                <a:lnTo>
                  <a:pt x="1221731" y="1744716"/>
                </a:lnTo>
                <a:lnTo>
                  <a:pt x="1263776" y="1727571"/>
                </a:lnTo>
                <a:lnTo>
                  <a:pt x="1304734" y="1708406"/>
                </a:lnTo>
                <a:lnTo>
                  <a:pt x="1344542" y="1687281"/>
                </a:lnTo>
                <a:lnTo>
                  <a:pt x="1383138" y="1664259"/>
                </a:lnTo>
                <a:lnTo>
                  <a:pt x="1420459" y="1639403"/>
                </a:lnTo>
                <a:lnTo>
                  <a:pt x="1456443" y="1612774"/>
                </a:lnTo>
                <a:lnTo>
                  <a:pt x="1491027" y="1584436"/>
                </a:lnTo>
                <a:lnTo>
                  <a:pt x="1524151" y="1554450"/>
                </a:lnTo>
                <a:lnTo>
                  <a:pt x="1555749" y="1522879"/>
                </a:lnTo>
                <a:lnTo>
                  <a:pt x="1585762" y="1489784"/>
                </a:lnTo>
                <a:lnTo>
                  <a:pt x="1614125" y="1455230"/>
                </a:lnTo>
                <a:lnTo>
                  <a:pt x="1640777" y="1419276"/>
                </a:lnTo>
                <a:lnTo>
                  <a:pt x="1665656" y="1381987"/>
                </a:lnTo>
                <a:lnTo>
                  <a:pt x="1688698" y="1343424"/>
                </a:lnTo>
                <a:lnTo>
                  <a:pt x="1709843" y="1303649"/>
                </a:lnTo>
                <a:lnTo>
                  <a:pt x="1729026" y="1262726"/>
                </a:lnTo>
                <a:lnTo>
                  <a:pt x="1746186" y="1220715"/>
                </a:lnTo>
                <a:lnTo>
                  <a:pt x="1761260" y="1177680"/>
                </a:lnTo>
                <a:lnTo>
                  <a:pt x="1774187" y="1133683"/>
                </a:lnTo>
                <a:lnTo>
                  <a:pt x="1784903" y="1088786"/>
                </a:lnTo>
                <a:lnTo>
                  <a:pt x="1793346" y="1043052"/>
                </a:lnTo>
                <a:lnTo>
                  <a:pt x="1799454" y="996542"/>
                </a:lnTo>
                <a:lnTo>
                  <a:pt x="1803165" y="949319"/>
                </a:lnTo>
                <a:lnTo>
                  <a:pt x="1804415" y="901445"/>
                </a:lnTo>
                <a:lnTo>
                  <a:pt x="1803165" y="853572"/>
                </a:lnTo>
                <a:lnTo>
                  <a:pt x="1799454" y="806349"/>
                </a:lnTo>
                <a:lnTo>
                  <a:pt x="1793346" y="759839"/>
                </a:lnTo>
                <a:lnTo>
                  <a:pt x="1784903" y="714105"/>
                </a:lnTo>
                <a:lnTo>
                  <a:pt x="1774187" y="669208"/>
                </a:lnTo>
                <a:lnTo>
                  <a:pt x="1761260" y="625211"/>
                </a:lnTo>
                <a:lnTo>
                  <a:pt x="1746186" y="582176"/>
                </a:lnTo>
                <a:lnTo>
                  <a:pt x="1729026" y="540165"/>
                </a:lnTo>
                <a:lnTo>
                  <a:pt x="1709843" y="499242"/>
                </a:lnTo>
                <a:lnTo>
                  <a:pt x="1688698" y="459467"/>
                </a:lnTo>
                <a:lnTo>
                  <a:pt x="1665656" y="420904"/>
                </a:lnTo>
                <a:lnTo>
                  <a:pt x="1640777" y="383615"/>
                </a:lnTo>
                <a:lnTo>
                  <a:pt x="1614125" y="347661"/>
                </a:lnTo>
                <a:lnTo>
                  <a:pt x="1585762" y="313107"/>
                </a:lnTo>
                <a:lnTo>
                  <a:pt x="1555749" y="280012"/>
                </a:lnTo>
                <a:lnTo>
                  <a:pt x="1524151" y="248441"/>
                </a:lnTo>
                <a:lnTo>
                  <a:pt x="1491027" y="218455"/>
                </a:lnTo>
                <a:lnTo>
                  <a:pt x="1456443" y="190117"/>
                </a:lnTo>
                <a:lnTo>
                  <a:pt x="1420459" y="163488"/>
                </a:lnTo>
                <a:lnTo>
                  <a:pt x="1383138" y="138632"/>
                </a:lnTo>
                <a:lnTo>
                  <a:pt x="1344542" y="115610"/>
                </a:lnTo>
                <a:lnTo>
                  <a:pt x="1304734" y="94485"/>
                </a:lnTo>
                <a:lnTo>
                  <a:pt x="1263776" y="75320"/>
                </a:lnTo>
                <a:lnTo>
                  <a:pt x="1221731" y="58175"/>
                </a:lnTo>
                <a:lnTo>
                  <a:pt x="1178661" y="43115"/>
                </a:lnTo>
                <a:lnTo>
                  <a:pt x="1134628" y="30200"/>
                </a:lnTo>
                <a:lnTo>
                  <a:pt x="1089695" y="19494"/>
                </a:lnTo>
                <a:lnTo>
                  <a:pt x="1043924" y="11059"/>
                </a:lnTo>
                <a:lnTo>
                  <a:pt x="997377" y="4956"/>
                </a:lnTo>
                <a:lnTo>
                  <a:pt x="950118" y="1249"/>
                </a:lnTo>
                <a:lnTo>
                  <a:pt x="902208" y="0"/>
                </a:lnTo>
                <a:close/>
              </a:path>
            </a:pathLst>
          </a:custGeom>
          <a:solidFill>
            <a:srgbClr val="A9D18E">
              <a:alpha val="4313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397500" y="3880230"/>
            <a:ext cx="560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Soc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1800" dirty="0">
                <a:latin typeface="Calibri" panose="020F0502020204030204"/>
                <a:cs typeface="Calibri" panose="020F0502020204030204"/>
              </a:rPr>
              <a:t>al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96000" y="2424683"/>
            <a:ext cx="1803400" cy="1804670"/>
          </a:xfrm>
          <a:custGeom>
            <a:avLst/>
            <a:gdLst/>
            <a:ahLst/>
            <a:cxnLst/>
            <a:rect l="l" t="t" r="r" b="b"/>
            <a:pathLst>
              <a:path w="1803400" h="1804670">
                <a:moveTo>
                  <a:pt x="901446" y="0"/>
                </a:moveTo>
                <a:lnTo>
                  <a:pt x="853572" y="1250"/>
                </a:lnTo>
                <a:lnTo>
                  <a:pt x="806349" y="4961"/>
                </a:lnTo>
                <a:lnTo>
                  <a:pt x="759839" y="11069"/>
                </a:lnTo>
                <a:lnTo>
                  <a:pt x="714105" y="19512"/>
                </a:lnTo>
                <a:lnTo>
                  <a:pt x="669208" y="30228"/>
                </a:lnTo>
                <a:lnTo>
                  <a:pt x="625211" y="43155"/>
                </a:lnTo>
                <a:lnTo>
                  <a:pt x="582176" y="58229"/>
                </a:lnTo>
                <a:lnTo>
                  <a:pt x="540165" y="75389"/>
                </a:lnTo>
                <a:lnTo>
                  <a:pt x="499242" y="94572"/>
                </a:lnTo>
                <a:lnTo>
                  <a:pt x="459467" y="115717"/>
                </a:lnTo>
                <a:lnTo>
                  <a:pt x="420904" y="138759"/>
                </a:lnTo>
                <a:lnTo>
                  <a:pt x="383615" y="163638"/>
                </a:lnTo>
                <a:lnTo>
                  <a:pt x="347661" y="190290"/>
                </a:lnTo>
                <a:lnTo>
                  <a:pt x="313107" y="218653"/>
                </a:lnTo>
                <a:lnTo>
                  <a:pt x="280012" y="248666"/>
                </a:lnTo>
                <a:lnTo>
                  <a:pt x="248441" y="280264"/>
                </a:lnTo>
                <a:lnTo>
                  <a:pt x="218455" y="313388"/>
                </a:lnTo>
                <a:lnTo>
                  <a:pt x="190117" y="347972"/>
                </a:lnTo>
                <a:lnTo>
                  <a:pt x="163488" y="383956"/>
                </a:lnTo>
                <a:lnTo>
                  <a:pt x="138632" y="421277"/>
                </a:lnTo>
                <a:lnTo>
                  <a:pt x="115610" y="459873"/>
                </a:lnTo>
                <a:lnTo>
                  <a:pt x="94485" y="499681"/>
                </a:lnTo>
                <a:lnTo>
                  <a:pt x="75320" y="540639"/>
                </a:lnTo>
                <a:lnTo>
                  <a:pt x="58175" y="582684"/>
                </a:lnTo>
                <a:lnTo>
                  <a:pt x="43115" y="625754"/>
                </a:lnTo>
                <a:lnTo>
                  <a:pt x="30200" y="669787"/>
                </a:lnTo>
                <a:lnTo>
                  <a:pt x="19494" y="714720"/>
                </a:lnTo>
                <a:lnTo>
                  <a:pt x="11059" y="760491"/>
                </a:lnTo>
                <a:lnTo>
                  <a:pt x="4956" y="807038"/>
                </a:lnTo>
                <a:lnTo>
                  <a:pt x="1249" y="854297"/>
                </a:lnTo>
                <a:lnTo>
                  <a:pt x="0" y="902207"/>
                </a:lnTo>
                <a:lnTo>
                  <a:pt x="1249" y="950118"/>
                </a:lnTo>
                <a:lnTo>
                  <a:pt x="4956" y="997377"/>
                </a:lnTo>
                <a:lnTo>
                  <a:pt x="11059" y="1043924"/>
                </a:lnTo>
                <a:lnTo>
                  <a:pt x="19494" y="1089695"/>
                </a:lnTo>
                <a:lnTo>
                  <a:pt x="30200" y="1134628"/>
                </a:lnTo>
                <a:lnTo>
                  <a:pt x="43115" y="1178661"/>
                </a:lnTo>
                <a:lnTo>
                  <a:pt x="58175" y="1221731"/>
                </a:lnTo>
                <a:lnTo>
                  <a:pt x="75320" y="1263776"/>
                </a:lnTo>
                <a:lnTo>
                  <a:pt x="94485" y="1304734"/>
                </a:lnTo>
                <a:lnTo>
                  <a:pt x="115610" y="1344542"/>
                </a:lnTo>
                <a:lnTo>
                  <a:pt x="138632" y="1383138"/>
                </a:lnTo>
                <a:lnTo>
                  <a:pt x="163488" y="1420459"/>
                </a:lnTo>
                <a:lnTo>
                  <a:pt x="190117" y="1456443"/>
                </a:lnTo>
                <a:lnTo>
                  <a:pt x="218455" y="1491027"/>
                </a:lnTo>
                <a:lnTo>
                  <a:pt x="248441" y="1524151"/>
                </a:lnTo>
                <a:lnTo>
                  <a:pt x="280012" y="1555749"/>
                </a:lnTo>
                <a:lnTo>
                  <a:pt x="313107" y="1585762"/>
                </a:lnTo>
                <a:lnTo>
                  <a:pt x="347661" y="1614125"/>
                </a:lnTo>
                <a:lnTo>
                  <a:pt x="383615" y="1640777"/>
                </a:lnTo>
                <a:lnTo>
                  <a:pt x="420904" y="1665656"/>
                </a:lnTo>
                <a:lnTo>
                  <a:pt x="459467" y="1688698"/>
                </a:lnTo>
                <a:lnTo>
                  <a:pt x="499242" y="1709843"/>
                </a:lnTo>
                <a:lnTo>
                  <a:pt x="540165" y="1729026"/>
                </a:lnTo>
                <a:lnTo>
                  <a:pt x="582176" y="1746186"/>
                </a:lnTo>
                <a:lnTo>
                  <a:pt x="625211" y="1761260"/>
                </a:lnTo>
                <a:lnTo>
                  <a:pt x="669208" y="1774187"/>
                </a:lnTo>
                <a:lnTo>
                  <a:pt x="714105" y="1784903"/>
                </a:lnTo>
                <a:lnTo>
                  <a:pt x="759839" y="1793346"/>
                </a:lnTo>
                <a:lnTo>
                  <a:pt x="806349" y="1799454"/>
                </a:lnTo>
                <a:lnTo>
                  <a:pt x="853572" y="1803165"/>
                </a:lnTo>
                <a:lnTo>
                  <a:pt x="901446" y="1804415"/>
                </a:lnTo>
                <a:lnTo>
                  <a:pt x="949319" y="1803165"/>
                </a:lnTo>
                <a:lnTo>
                  <a:pt x="996542" y="1799454"/>
                </a:lnTo>
                <a:lnTo>
                  <a:pt x="1043052" y="1793346"/>
                </a:lnTo>
                <a:lnTo>
                  <a:pt x="1088786" y="1784903"/>
                </a:lnTo>
                <a:lnTo>
                  <a:pt x="1133683" y="1774187"/>
                </a:lnTo>
                <a:lnTo>
                  <a:pt x="1177680" y="1761260"/>
                </a:lnTo>
                <a:lnTo>
                  <a:pt x="1220715" y="1746186"/>
                </a:lnTo>
                <a:lnTo>
                  <a:pt x="1262726" y="1729026"/>
                </a:lnTo>
                <a:lnTo>
                  <a:pt x="1303649" y="1709843"/>
                </a:lnTo>
                <a:lnTo>
                  <a:pt x="1343424" y="1688698"/>
                </a:lnTo>
                <a:lnTo>
                  <a:pt x="1381987" y="1665656"/>
                </a:lnTo>
                <a:lnTo>
                  <a:pt x="1419276" y="1640777"/>
                </a:lnTo>
                <a:lnTo>
                  <a:pt x="1455230" y="1614125"/>
                </a:lnTo>
                <a:lnTo>
                  <a:pt x="1489784" y="1585762"/>
                </a:lnTo>
                <a:lnTo>
                  <a:pt x="1522879" y="1555749"/>
                </a:lnTo>
                <a:lnTo>
                  <a:pt x="1554450" y="1524151"/>
                </a:lnTo>
                <a:lnTo>
                  <a:pt x="1584436" y="1491027"/>
                </a:lnTo>
                <a:lnTo>
                  <a:pt x="1612774" y="1456443"/>
                </a:lnTo>
                <a:lnTo>
                  <a:pt x="1639403" y="1420459"/>
                </a:lnTo>
                <a:lnTo>
                  <a:pt x="1664259" y="1383138"/>
                </a:lnTo>
                <a:lnTo>
                  <a:pt x="1687281" y="1344542"/>
                </a:lnTo>
                <a:lnTo>
                  <a:pt x="1708406" y="1304734"/>
                </a:lnTo>
                <a:lnTo>
                  <a:pt x="1727571" y="1263776"/>
                </a:lnTo>
                <a:lnTo>
                  <a:pt x="1744716" y="1221731"/>
                </a:lnTo>
                <a:lnTo>
                  <a:pt x="1759776" y="1178661"/>
                </a:lnTo>
                <a:lnTo>
                  <a:pt x="1772691" y="1134628"/>
                </a:lnTo>
                <a:lnTo>
                  <a:pt x="1783397" y="1089695"/>
                </a:lnTo>
                <a:lnTo>
                  <a:pt x="1791832" y="1043924"/>
                </a:lnTo>
                <a:lnTo>
                  <a:pt x="1797935" y="997377"/>
                </a:lnTo>
                <a:lnTo>
                  <a:pt x="1801642" y="950118"/>
                </a:lnTo>
                <a:lnTo>
                  <a:pt x="1802892" y="902207"/>
                </a:lnTo>
                <a:lnTo>
                  <a:pt x="1801642" y="854297"/>
                </a:lnTo>
                <a:lnTo>
                  <a:pt x="1797935" y="807038"/>
                </a:lnTo>
                <a:lnTo>
                  <a:pt x="1791832" y="760491"/>
                </a:lnTo>
                <a:lnTo>
                  <a:pt x="1783397" y="714720"/>
                </a:lnTo>
                <a:lnTo>
                  <a:pt x="1772691" y="669787"/>
                </a:lnTo>
                <a:lnTo>
                  <a:pt x="1759776" y="625754"/>
                </a:lnTo>
                <a:lnTo>
                  <a:pt x="1744716" y="582684"/>
                </a:lnTo>
                <a:lnTo>
                  <a:pt x="1727571" y="540639"/>
                </a:lnTo>
                <a:lnTo>
                  <a:pt x="1708406" y="499681"/>
                </a:lnTo>
                <a:lnTo>
                  <a:pt x="1687281" y="459873"/>
                </a:lnTo>
                <a:lnTo>
                  <a:pt x="1664259" y="421277"/>
                </a:lnTo>
                <a:lnTo>
                  <a:pt x="1639403" y="383956"/>
                </a:lnTo>
                <a:lnTo>
                  <a:pt x="1612774" y="347972"/>
                </a:lnTo>
                <a:lnTo>
                  <a:pt x="1584436" y="313388"/>
                </a:lnTo>
                <a:lnTo>
                  <a:pt x="1554450" y="280264"/>
                </a:lnTo>
                <a:lnTo>
                  <a:pt x="1522879" y="248666"/>
                </a:lnTo>
                <a:lnTo>
                  <a:pt x="1489784" y="218653"/>
                </a:lnTo>
                <a:lnTo>
                  <a:pt x="1455230" y="190290"/>
                </a:lnTo>
                <a:lnTo>
                  <a:pt x="1419276" y="163638"/>
                </a:lnTo>
                <a:lnTo>
                  <a:pt x="1381987" y="138759"/>
                </a:lnTo>
                <a:lnTo>
                  <a:pt x="1343424" y="115717"/>
                </a:lnTo>
                <a:lnTo>
                  <a:pt x="1303649" y="94572"/>
                </a:lnTo>
                <a:lnTo>
                  <a:pt x="1262726" y="75389"/>
                </a:lnTo>
                <a:lnTo>
                  <a:pt x="1220715" y="58229"/>
                </a:lnTo>
                <a:lnTo>
                  <a:pt x="1177680" y="43155"/>
                </a:lnTo>
                <a:lnTo>
                  <a:pt x="1133683" y="30228"/>
                </a:lnTo>
                <a:lnTo>
                  <a:pt x="1088786" y="19512"/>
                </a:lnTo>
                <a:lnTo>
                  <a:pt x="1043052" y="11069"/>
                </a:lnTo>
                <a:lnTo>
                  <a:pt x="996542" y="4961"/>
                </a:lnTo>
                <a:lnTo>
                  <a:pt x="949319" y="1250"/>
                </a:lnTo>
                <a:lnTo>
                  <a:pt x="901446" y="0"/>
                </a:lnTo>
                <a:close/>
              </a:path>
            </a:pathLst>
          </a:custGeom>
          <a:solidFill>
            <a:srgbClr val="B4C6E7">
              <a:alpha val="4313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543293" y="3162427"/>
            <a:ext cx="911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Bio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ogi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c</a:t>
            </a:r>
            <a:r>
              <a:rPr sz="1800" dirty="0">
                <a:latin typeface="Calibri" panose="020F0502020204030204"/>
                <a:cs typeface="Calibri" panose="020F0502020204030204"/>
              </a:rPr>
              <a:t>al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25340" y="4612513"/>
            <a:ext cx="743585" cy="367665"/>
          </a:xfrm>
          <a:custGeom>
            <a:avLst/>
            <a:gdLst/>
            <a:ahLst/>
            <a:cxnLst/>
            <a:rect l="l" t="t" r="r" b="b"/>
            <a:pathLst>
              <a:path w="743585" h="367664">
                <a:moveTo>
                  <a:pt x="0" y="367284"/>
                </a:moveTo>
                <a:lnTo>
                  <a:pt x="743076" y="0"/>
                </a:lnTo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23900" y="4381500"/>
            <a:ext cx="3226435" cy="1346200"/>
          </a:xfrm>
          <a:prstGeom prst="rect">
            <a:avLst/>
          </a:prstGeom>
          <a:solidFill>
            <a:srgbClr val="E1EFD9"/>
          </a:solidFill>
          <a:ln w="12700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950"/>
              </a:lnSpc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Sociology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86385" indent="-286385">
              <a:lnSpc>
                <a:spcPct val="100000"/>
              </a:lnSpc>
              <a:buFont typeface="Arial" panose="020B0604020202020204"/>
              <a:buChar char="•"/>
              <a:tabLst>
                <a:tab pos="286385" algn="l"/>
                <a:tab pos="627380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Understanding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health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illness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59205" lvl="1" indent="-287020">
              <a:lnSpc>
                <a:spcPct val="100000"/>
              </a:lnSpc>
              <a:buFont typeface="Arial" panose="020B0604020202020204"/>
              <a:buChar char="•"/>
              <a:tabLst>
                <a:tab pos="1259205" algn="l"/>
                <a:tab pos="1259840" algn="l"/>
              </a:tabLst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individuals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05865" indent="-287020">
              <a:lnSpc>
                <a:spcPct val="100000"/>
              </a:lnSpc>
              <a:buFont typeface="Arial" panose="020B0604020202020204"/>
              <a:buChar char="•"/>
              <a:tabLst>
                <a:tab pos="1205865" algn="l"/>
                <a:tab pos="1206500" algn="l"/>
              </a:tabLst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populations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20997" y="1393825"/>
            <a:ext cx="882650" cy="622935"/>
          </a:xfrm>
          <a:custGeom>
            <a:avLst/>
            <a:gdLst/>
            <a:ahLst/>
            <a:cxnLst/>
            <a:rect l="l" t="t" r="r" b="b"/>
            <a:pathLst>
              <a:path w="882650" h="622935">
                <a:moveTo>
                  <a:pt x="0" y="0"/>
                </a:moveTo>
                <a:lnTo>
                  <a:pt x="882396" y="622808"/>
                </a:lnTo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59308" y="719327"/>
            <a:ext cx="3225165" cy="1346200"/>
          </a:xfrm>
          <a:prstGeom prst="rect">
            <a:avLst/>
          </a:prstGeom>
          <a:solidFill>
            <a:srgbClr val="FFF1CC"/>
          </a:solidFill>
          <a:ln w="12700">
            <a:solidFill>
              <a:srgbClr val="2E528F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766445">
              <a:lnSpc>
                <a:spcPct val="100000"/>
              </a:lnSpc>
              <a:spcBef>
                <a:spcPts val="860"/>
              </a:spcBef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Health</a:t>
            </a:r>
            <a:r>
              <a:rPr sz="1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Psychology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471170" indent="-287655">
              <a:lnSpc>
                <a:spcPct val="100000"/>
              </a:lnSpc>
              <a:buFont typeface="Arial" panose="020B0604020202020204"/>
              <a:buChar char="•"/>
              <a:tabLst>
                <a:tab pos="469900" algn="l"/>
                <a:tab pos="47180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Core 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Psychological</a:t>
            </a:r>
            <a:r>
              <a:rPr sz="1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Theories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845820" lvl="1" indent="-287020">
              <a:lnSpc>
                <a:spcPct val="100000"/>
              </a:lnSpc>
              <a:buFont typeface="Arial" panose="020B0604020202020204"/>
              <a:buChar char="•"/>
              <a:tabLst>
                <a:tab pos="845185" algn="l"/>
                <a:tab pos="846455" algn="l"/>
              </a:tabLst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Human</a:t>
            </a:r>
            <a:r>
              <a:rPr sz="1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Functioning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371600" lvl="2" indent="-287020">
              <a:lnSpc>
                <a:spcPct val="100000"/>
              </a:lnSpc>
              <a:buFont typeface="Arial" panose="020B0604020202020204"/>
              <a:buChar char="•"/>
              <a:tabLst>
                <a:tab pos="1371600" algn="l"/>
                <a:tab pos="137223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Lifespan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034908" y="3313557"/>
            <a:ext cx="424180" cy="1905"/>
          </a:xfrm>
          <a:custGeom>
            <a:avLst/>
            <a:gdLst/>
            <a:ahLst/>
            <a:cxnLst/>
            <a:rect l="l" t="t" r="r" b="b"/>
            <a:pathLst>
              <a:path w="424179" h="1904">
                <a:moveTo>
                  <a:pt x="423799" y="0"/>
                </a:moveTo>
                <a:lnTo>
                  <a:pt x="0" y="1650"/>
                </a:lnTo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560307" y="1784604"/>
            <a:ext cx="3453765" cy="2959735"/>
          </a:xfrm>
          <a:prstGeom prst="rect">
            <a:avLst/>
          </a:prstGeom>
          <a:solidFill>
            <a:srgbClr val="DAE2F3"/>
          </a:solidFill>
          <a:ln w="12700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 panose="02020603050405020304"/>
              <a:cs typeface="Times New Roman" panose="02020603050405020304"/>
            </a:endParaRPr>
          </a:p>
          <a:p>
            <a:pPr marL="1283970">
              <a:lnSpc>
                <a:spcPct val="100000"/>
              </a:lnSpc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Biological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86715" indent="-287020">
              <a:lnSpc>
                <a:spcPct val="100000"/>
              </a:lnSpc>
              <a:spcBef>
                <a:spcPts val="5"/>
              </a:spcBef>
              <a:buFont typeface="Arial" panose="020B0604020202020204"/>
              <a:buChar char="•"/>
              <a:tabLst>
                <a:tab pos="386715" algn="l"/>
                <a:tab pos="387350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Anatomy (structural,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functional)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409575" marR="114300" indent="-409575">
              <a:lnSpc>
                <a:spcPct val="100000"/>
              </a:lnSpc>
              <a:buFont typeface="Arial" panose="020B0604020202020204"/>
              <a:buChar char="•"/>
              <a:tabLst>
                <a:tab pos="409575" algn="l"/>
                <a:tab pos="40957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Physiology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(muscle,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respiratory, 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digestive,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skeletal,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468755" marR="493395" indent="-683260">
              <a:lnSpc>
                <a:spcPct val="100000"/>
              </a:lnSpc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cardiovascular,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nervous  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systems)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773430" lvl="1" indent="-287020">
              <a:lnSpc>
                <a:spcPct val="100000"/>
              </a:lnSpc>
              <a:buFont typeface="Arial" panose="020B0604020202020204"/>
              <a:buChar char="•"/>
              <a:tabLst>
                <a:tab pos="773430" algn="l"/>
                <a:tab pos="77406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Pathology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(and</a:t>
            </a:r>
            <a:r>
              <a:rPr sz="1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healing)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8095" y="2726435"/>
            <a:ext cx="3803904" cy="4131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73023"/>
            <a:ext cx="2743199" cy="6050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11905" y="582548"/>
            <a:ext cx="7626350" cy="1129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Applied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Sciences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for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Physiotherapy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Practice</a:t>
            </a:r>
            <a:r>
              <a:rPr sz="280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(PT7001)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>
              <a:latin typeface="Times New Roman" panose="02020603050405020304"/>
              <a:cs typeface="Times New Roman" panose="02020603050405020304"/>
            </a:endParaRPr>
          </a:p>
          <a:p>
            <a:pPr marL="5715">
              <a:lnSpc>
                <a:spcPct val="100000"/>
              </a:lnSpc>
            </a:pPr>
            <a:r>
              <a:rPr sz="2800" spc="-20" dirty="0">
                <a:latin typeface="Calibri" panose="020F0502020204030204"/>
                <a:cs typeface="Calibri" panose="020F0502020204030204"/>
              </a:rPr>
              <a:t>Part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 –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Introduction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to</a:t>
            </a:r>
            <a:r>
              <a:rPr sz="2800" spc="9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Module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191" y="0"/>
            <a:ext cx="12179935" cy="6858000"/>
          </a:xfrm>
          <a:custGeom>
            <a:avLst/>
            <a:gdLst/>
            <a:ahLst/>
            <a:cxnLst/>
            <a:rect l="l" t="t" r="r" b="b"/>
            <a:pathLst>
              <a:path w="12179935" h="6858000">
                <a:moveTo>
                  <a:pt x="12179808" y="6857998"/>
                </a:moveTo>
                <a:lnTo>
                  <a:pt x="12179808" y="0"/>
                </a:lnTo>
                <a:lnTo>
                  <a:pt x="0" y="0"/>
                </a:lnTo>
                <a:lnTo>
                  <a:pt x="0" y="6857998"/>
                </a:lnTo>
                <a:lnTo>
                  <a:pt x="12179808" y="685799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74691" y="1706879"/>
            <a:ext cx="1804670" cy="1804670"/>
          </a:xfrm>
          <a:custGeom>
            <a:avLst/>
            <a:gdLst/>
            <a:ahLst/>
            <a:cxnLst/>
            <a:rect l="l" t="t" r="r" b="b"/>
            <a:pathLst>
              <a:path w="1804670" h="1804670">
                <a:moveTo>
                  <a:pt x="902208" y="0"/>
                </a:moveTo>
                <a:lnTo>
                  <a:pt x="854297" y="1250"/>
                </a:lnTo>
                <a:lnTo>
                  <a:pt x="807038" y="4961"/>
                </a:lnTo>
                <a:lnTo>
                  <a:pt x="760491" y="11069"/>
                </a:lnTo>
                <a:lnTo>
                  <a:pt x="714720" y="19512"/>
                </a:lnTo>
                <a:lnTo>
                  <a:pt x="669787" y="30228"/>
                </a:lnTo>
                <a:lnTo>
                  <a:pt x="625754" y="43155"/>
                </a:lnTo>
                <a:lnTo>
                  <a:pt x="582684" y="58229"/>
                </a:lnTo>
                <a:lnTo>
                  <a:pt x="540639" y="75389"/>
                </a:lnTo>
                <a:lnTo>
                  <a:pt x="499681" y="94572"/>
                </a:lnTo>
                <a:lnTo>
                  <a:pt x="459873" y="115717"/>
                </a:lnTo>
                <a:lnTo>
                  <a:pt x="421277" y="138759"/>
                </a:lnTo>
                <a:lnTo>
                  <a:pt x="383956" y="163638"/>
                </a:lnTo>
                <a:lnTo>
                  <a:pt x="347972" y="190290"/>
                </a:lnTo>
                <a:lnTo>
                  <a:pt x="313388" y="218653"/>
                </a:lnTo>
                <a:lnTo>
                  <a:pt x="280264" y="248666"/>
                </a:lnTo>
                <a:lnTo>
                  <a:pt x="248666" y="280264"/>
                </a:lnTo>
                <a:lnTo>
                  <a:pt x="218653" y="313388"/>
                </a:lnTo>
                <a:lnTo>
                  <a:pt x="190290" y="347972"/>
                </a:lnTo>
                <a:lnTo>
                  <a:pt x="163638" y="383956"/>
                </a:lnTo>
                <a:lnTo>
                  <a:pt x="138759" y="421277"/>
                </a:lnTo>
                <a:lnTo>
                  <a:pt x="115717" y="459873"/>
                </a:lnTo>
                <a:lnTo>
                  <a:pt x="94572" y="499681"/>
                </a:lnTo>
                <a:lnTo>
                  <a:pt x="75389" y="540639"/>
                </a:lnTo>
                <a:lnTo>
                  <a:pt x="58229" y="582684"/>
                </a:lnTo>
                <a:lnTo>
                  <a:pt x="43155" y="625754"/>
                </a:lnTo>
                <a:lnTo>
                  <a:pt x="30228" y="669787"/>
                </a:lnTo>
                <a:lnTo>
                  <a:pt x="19512" y="714720"/>
                </a:lnTo>
                <a:lnTo>
                  <a:pt x="11069" y="760491"/>
                </a:lnTo>
                <a:lnTo>
                  <a:pt x="4961" y="807038"/>
                </a:lnTo>
                <a:lnTo>
                  <a:pt x="1250" y="854297"/>
                </a:lnTo>
                <a:lnTo>
                  <a:pt x="0" y="902208"/>
                </a:lnTo>
                <a:lnTo>
                  <a:pt x="1250" y="950118"/>
                </a:lnTo>
                <a:lnTo>
                  <a:pt x="4961" y="997377"/>
                </a:lnTo>
                <a:lnTo>
                  <a:pt x="11069" y="1043924"/>
                </a:lnTo>
                <a:lnTo>
                  <a:pt x="19512" y="1089695"/>
                </a:lnTo>
                <a:lnTo>
                  <a:pt x="30228" y="1134628"/>
                </a:lnTo>
                <a:lnTo>
                  <a:pt x="43155" y="1178661"/>
                </a:lnTo>
                <a:lnTo>
                  <a:pt x="58229" y="1221731"/>
                </a:lnTo>
                <a:lnTo>
                  <a:pt x="75389" y="1263776"/>
                </a:lnTo>
                <a:lnTo>
                  <a:pt x="94572" y="1304734"/>
                </a:lnTo>
                <a:lnTo>
                  <a:pt x="115717" y="1344542"/>
                </a:lnTo>
                <a:lnTo>
                  <a:pt x="138759" y="1383138"/>
                </a:lnTo>
                <a:lnTo>
                  <a:pt x="163638" y="1420459"/>
                </a:lnTo>
                <a:lnTo>
                  <a:pt x="190290" y="1456443"/>
                </a:lnTo>
                <a:lnTo>
                  <a:pt x="218653" y="1491027"/>
                </a:lnTo>
                <a:lnTo>
                  <a:pt x="248666" y="1524151"/>
                </a:lnTo>
                <a:lnTo>
                  <a:pt x="280264" y="1555749"/>
                </a:lnTo>
                <a:lnTo>
                  <a:pt x="313388" y="1585762"/>
                </a:lnTo>
                <a:lnTo>
                  <a:pt x="347972" y="1614125"/>
                </a:lnTo>
                <a:lnTo>
                  <a:pt x="383956" y="1640777"/>
                </a:lnTo>
                <a:lnTo>
                  <a:pt x="421277" y="1665656"/>
                </a:lnTo>
                <a:lnTo>
                  <a:pt x="459873" y="1688698"/>
                </a:lnTo>
                <a:lnTo>
                  <a:pt x="499681" y="1709843"/>
                </a:lnTo>
                <a:lnTo>
                  <a:pt x="540639" y="1729026"/>
                </a:lnTo>
                <a:lnTo>
                  <a:pt x="582684" y="1746186"/>
                </a:lnTo>
                <a:lnTo>
                  <a:pt x="625754" y="1761260"/>
                </a:lnTo>
                <a:lnTo>
                  <a:pt x="669787" y="1774187"/>
                </a:lnTo>
                <a:lnTo>
                  <a:pt x="714720" y="1784903"/>
                </a:lnTo>
                <a:lnTo>
                  <a:pt x="760491" y="1793346"/>
                </a:lnTo>
                <a:lnTo>
                  <a:pt x="807038" y="1799454"/>
                </a:lnTo>
                <a:lnTo>
                  <a:pt x="854297" y="1803165"/>
                </a:lnTo>
                <a:lnTo>
                  <a:pt x="902208" y="1804416"/>
                </a:lnTo>
                <a:lnTo>
                  <a:pt x="950118" y="1803165"/>
                </a:lnTo>
                <a:lnTo>
                  <a:pt x="997377" y="1799454"/>
                </a:lnTo>
                <a:lnTo>
                  <a:pt x="1043924" y="1793346"/>
                </a:lnTo>
                <a:lnTo>
                  <a:pt x="1089695" y="1784903"/>
                </a:lnTo>
                <a:lnTo>
                  <a:pt x="1134628" y="1774187"/>
                </a:lnTo>
                <a:lnTo>
                  <a:pt x="1178661" y="1761260"/>
                </a:lnTo>
                <a:lnTo>
                  <a:pt x="1221731" y="1746186"/>
                </a:lnTo>
                <a:lnTo>
                  <a:pt x="1263776" y="1729026"/>
                </a:lnTo>
                <a:lnTo>
                  <a:pt x="1304734" y="1709843"/>
                </a:lnTo>
                <a:lnTo>
                  <a:pt x="1344542" y="1688698"/>
                </a:lnTo>
                <a:lnTo>
                  <a:pt x="1383138" y="1665656"/>
                </a:lnTo>
                <a:lnTo>
                  <a:pt x="1420459" y="1640777"/>
                </a:lnTo>
                <a:lnTo>
                  <a:pt x="1456443" y="1614125"/>
                </a:lnTo>
                <a:lnTo>
                  <a:pt x="1491027" y="1585762"/>
                </a:lnTo>
                <a:lnTo>
                  <a:pt x="1524151" y="1555749"/>
                </a:lnTo>
                <a:lnTo>
                  <a:pt x="1555749" y="1524151"/>
                </a:lnTo>
                <a:lnTo>
                  <a:pt x="1585762" y="1491027"/>
                </a:lnTo>
                <a:lnTo>
                  <a:pt x="1614125" y="1456443"/>
                </a:lnTo>
                <a:lnTo>
                  <a:pt x="1640777" y="1420459"/>
                </a:lnTo>
                <a:lnTo>
                  <a:pt x="1665656" y="1383138"/>
                </a:lnTo>
                <a:lnTo>
                  <a:pt x="1688698" y="1344542"/>
                </a:lnTo>
                <a:lnTo>
                  <a:pt x="1709843" y="1304734"/>
                </a:lnTo>
                <a:lnTo>
                  <a:pt x="1729026" y="1263776"/>
                </a:lnTo>
                <a:lnTo>
                  <a:pt x="1746186" y="1221731"/>
                </a:lnTo>
                <a:lnTo>
                  <a:pt x="1761260" y="1178661"/>
                </a:lnTo>
                <a:lnTo>
                  <a:pt x="1774187" y="1134628"/>
                </a:lnTo>
                <a:lnTo>
                  <a:pt x="1784903" y="1089695"/>
                </a:lnTo>
                <a:lnTo>
                  <a:pt x="1793346" y="1043924"/>
                </a:lnTo>
                <a:lnTo>
                  <a:pt x="1799454" y="997377"/>
                </a:lnTo>
                <a:lnTo>
                  <a:pt x="1803165" y="950118"/>
                </a:lnTo>
                <a:lnTo>
                  <a:pt x="1804415" y="902208"/>
                </a:lnTo>
                <a:lnTo>
                  <a:pt x="1803165" y="854297"/>
                </a:lnTo>
                <a:lnTo>
                  <a:pt x="1799454" y="807038"/>
                </a:lnTo>
                <a:lnTo>
                  <a:pt x="1793346" y="760491"/>
                </a:lnTo>
                <a:lnTo>
                  <a:pt x="1784903" y="714720"/>
                </a:lnTo>
                <a:lnTo>
                  <a:pt x="1774187" y="669787"/>
                </a:lnTo>
                <a:lnTo>
                  <a:pt x="1761260" y="625754"/>
                </a:lnTo>
                <a:lnTo>
                  <a:pt x="1746186" y="582684"/>
                </a:lnTo>
                <a:lnTo>
                  <a:pt x="1729026" y="540639"/>
                </a:lnTo>
                <a:lnTo>
                  <a:pt x="1709843" y="499681"/>
                </a:lnTo>
                <a:lnTo>
                  <a:pt x="1688698" y="459873"/>
                </a:lnTo>
                <a:lnTo>
                  <a:pt x="1665656" y="421277"/>
                </a:lnTo>
                <a:lnTo>
                  <a:pt x="1640777" y="383956"/>
                </a:lnTo>
                <a:lnTo>
                  <a:pt x="1614125" y="347972"/>
                </a:lnTo>
                <a:lnTo>
                  <a:pt x="1585762" y="313388"/>
                </a:lnTo>
                <a:lnTo>
                  <a:pt x="1555749" y="280264"/>
                </a:lnTo>
                <a:lnTo>
                  <a:pt x="1524151" y="248666"/>
                </a:lnTo>
                <a:lnTo>
                  <a:pt x="1491027" y="218653"/>
                </a:lnTo>
                <a:lnTo>
                  <a:pt x="1456443" y="190290"/>
                </a:lnTo>
                <a:lnTo>
                  <a:pt x="1420459" y="163638"/>
                </a:lnTo>
                <a:lnTo>
                  <a:pt x="1383138" y="138759"/>
                </a:lnTo>
                <a:lnTo>
                  <a:pt x="1344542" y="115717"/>
                </a:lnTo>
                <a:lnTo>
                  <a:pt x="1304734" y="94572"/>
                </a:lnTo>
                <a:lnTo>
                  <a:pt x="1263776" y="75389"/>
                </a:lnTo>
                <a:lnTo>
                  <a:pt x="1221731" y="58229"/>
                </a:lnTo>
                <a:lnTo>
                  <a:pt x="1178661" y="43155"/>
                </a:lnTo>
                <a:lnTo>
                  <a:pt x="1134628" y="30228"/>
                </a:lnTo>
                <a:lnTo>
                  <a:pt x="1089695" y="19512"/>
                </a:lnTo>
                <a:lnTo>
                  <a:pt x="1043924" y="11069"/>
                </a:lnTo>
                <a:lnTo>
                  <a:pt x="997377" y="4961"/>
                </a:lnTo>
                <a:lnTo>
                  <a:pt x="950118" y="1250"/>
                </a:lnTo>
                <a:lnTo>
                  <a:pt x="902208" y="0"/>
                </a:lnTo>
                <a:close/>
              </a:path>
            </a:pathLst>
          </a:custGeom>
          <a:solidFill>
            <a:srgbClr val="FFD966">
              <a:alpha val="4313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18608" y="2462606"/>
            <a:ext cx="11156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latin typeface="Calibri" panose="020F0502020204030204"/>
                <a:cs typeface="Calibri" panose="020F0502020204030204"/>
              </a:rPr>
              <a:t>P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sy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ch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logi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al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74691" y="3142488"/>
            <a:ext cx="1804670" cy="1803400"/>
          </a:xfrm>
          <a:custGeom>
            <a:avLst/>
            <a:gdLst/>
            <a:ahLst/>
            <a:cxnLst/>
            <a:rect l="l" t="t" r="r" b="b"/>
            <a:pathLst>
              <a:path w="1804670" h="1803400">
                <a:moveTo>
                  <a:pt x="902208" y="0"/>
                </a:moveTo>
                <a:lnTo>
                  <a:pt x="854297" y="1249"/>
                </a:lnTo>
                <a:lnTo>
                  <a:pt x="807038" y="4956"/>
                </a:lnTo>
                <a:lnTo>
                  <a:pt x="760491" y="11059"/>
                </a:lnTo>
                <a:lnTo>
                  <a:pt x="714720" y="19494"/>
                </a:lnTo>
                <a:lnTo>
                  <a:pt x="669787" y="30200"/>
                </a:lnTo>
                <a:lnTo>
                  <a:pt x="625754" y="43115"/>
                </a:lnTo>
                <a:lnTo>
                  <a:pt x="582684" y="58175"/>
                </a:lnTo>
                <a:lnTo>
                  <a:pt x="540639" y="75320"/>
                </a:lnTo>
                <a:lnTo>
                  <a:pt x="499681" y="94485"/>
                </a:lnTo>
                <a:lnTo>
                  <a:pt x="459873" y="115610"/>
                </a:lnTo>
                <a:lnTo>
                  <a:pt x="421277" y="138632"/>
                </a:lnTo>
                <a:lnTo>
                  <a:pt x="383956" y="163488"/>
                </a:lnTo>
                <a:lnTo>
                  <a:pt x="347972" y="190117"/>
                </a:lnTo>
                <a:lnTo>
                  <a:pt x="313388" y="218455"/>
                </a:lnTo>
                <a:lnTo>
                  <a:pt x="280264" y="248441"/>
                </a:lnTo>
                <a:lnTo>
                  <a:pt x="248666" y="280012"/>
                </a:lnTo>
                <a:lnTo>
                  <a:pt x="218653" y="313107"/>
                </a:lnTo>
                <a:lnTo>
                  <a:pt x="190290" y="347661"/>
                </a:lnTo>
                <a:lnTo>
                  <a:pt x="163638" y="383615"/>
                </a:lnTo>
                <a:lnTo>
                  <a:pt x="138759" y="420904"/>
                </a:lnTo>
                <a:lnTo>
                  <a:pt x="115717" y="459467"/>
                </a:lnTo>
                <a:lnTo>
                  <a:pt x="94572" y="499242"/>
                </a:lnTo>
                <a:lnTo>
                  <a:pt x="75389" y="540165"/>
                </a:lnTo>
                <a:lnTo>
                  <a:pt x="58229" y="582176"/>
                </a:lnTo>
                <a:lnTo>
                  <a:pt x="43155" y="625211"/>
                </a:lnTo>
                <a:lnTo>
                  <a:pt x="30228" y="669208"/>
                </a:lnTo>
                <a:lnTo>
                  <a:pt x="19512" y="714105"/>
                </a:lnTo>
                <a:lnTo>
                  <a:pt x="11069" y="759839"/>
                </a:lnTo>
                <a:lnTo>
                  <a:pt x="4961" y="806349"/>
                </a:lnTo>
                <a:lnTo>
                  <a:pt x="1250" y="853572"/>
                </a:lnTo>
                <a:lnTo>
                  <a:pt x="0" y="901445"/>
                </a:lnTo>
                <a:lnTo>
                  <a:pt x="1250" y="949319"/>
                </a:lnTo>
                <a:lnTo>
                  <a:pt x="4961" y="996542"/>
                </a:lnTo>
                <a:lnTo>
                  <a:pt x="11069" y="1043052"/>
                </a:lnTo>
                <a:lnTo>
                  <a:pt x="19512" y="1088786"/>
                </a:lnTo>
                <a:lnTo>
                  <a:pt x="30228" y="1133683"/>
                </a:lnTo>
                <a:lnTo>
                  <a:pt x="43155" y="1177680"/>
                </a:lnTo>
                <a:lnTo>
                  <a:pt x="58229" y="1220715"/>
                </a:lnTo>
                <a:lnTo>
                  <a:pt x="75389" y="1262726"/>
                </a:lnTo>
                <a:lnTo>
                  <a:pt x="94572" y="1303649"/>
                </a:lnTo>
                <a:lnTo>
                  <a:pt x="115717" y="1343424"/>
                </a:lnTo>
                <a:lnTo>
                  <a:pt x="138759" y="1381987"/>
                </a:lnTo>
                <a:lnTo>
                  <a:pt x="163638" y="1419276"/>
                </a:lnTo>
                <a:lnTo>
                  <a:pt x="190290" y="1455230"/>
                </a:lnTo>
                <a:lnTo>
                  <a:pt x="218653" y="1489784"/>
                </a:lnTo>
                <a:lnTo>
                  <a:pt x="248666" y="1522879"/>
                </a:lnTo>
                <a:lnTo>
                  <a:pt x="280264" y="1554450"/>
                </a:lnTo>
                <a:lnTo>
                  <a:pt x="313388" y="1584436"/>
                </a:lnTo>
                <a:lnTo>
                  <a:pt x="347972" y="1612774"/>
                </a:lnTo>
                <a:lnTo>
                  <a:pt x="383956" y="1639403"/>
                </a:lnTo>
                <a:lnTo>
                  <a:pt x="421277" y="1664259"/>
                </a:lnTo>
                <a:lnTo>
                  <a:pt x="459873" y="1687281"/>
                </a:lnTo>
                <a:lnTo>
                  <a:pt x="499681" y="1708406"/>
                </a:lnTo>
                <a:lnTo>
                  <a:pt x="540639" y="1727571"/>
                </a:lnTo>
                <a:lnTo>
                  <a:pt x="582684" y="1744716"/>
                </a:lnTo>
                <a:lnTo>
                  <a:pt x="625754" y="1759776"/>
                </a:lnTo>
                <a:lnTo>
                  <a:pt x="669787" y="1772691"/>
                </a:lnTo>
                <a:lnTo>
                  <a:pt x="714720" y="1783397"/>
                </a:lnTo>
                <a:lnTo>
                  <a:pt x="760491" y="1791832"/>
                </a:lnTo>
                <a:lnTo>
                  <a:pt x="807038" y="1797935"/>
                </a:lnTo>
                <a:lnTo>
                  <a:pt x="854297" y="1801642"/>
                </a:lnTo>
                <a:lnTo>
                  <a:pt x="902208" y="1802892"/>
                </a:lnTo>
                <a:lnTo>
                  <a:pt x="950118" y="1801642"/>
                </a:lnTo>
                <a:lnTo>
                  <a:pt x="997377" y="1797935"/>
                </a:lnTo>
                <a:lnTo>
                  <a:pt x="1043924" y="1791832"/>
                </a:lnTo>
                <a:lnTo>
                  <a:pt x="1089695" y="1783397"/>
                </a:lnTo>
                <a:lnTo>
                  <a:pt x="1134628" y="1772691"/>
                </a:lnTo>
                <a:lnTo>
                  <a:pt x="1178661" y="1759776"/>
                </a:lnTo>
                <a:lnTo>
                  <a:pt x="1221731" y="1744716"/>
                </a:lnTo>
                <a:lnTo>
                  <a:pt x="1263776" y="1727571"/>
                </a:lnTo>
                <a:lnTo>
                  <a:pt x="1304734" y="1708406"/>
                </a:lnTo>
                <a:lnTo>
                  <a:pt x="1344542" y="1687281"/>
                </a:lnTo>
                <a:lnTo>
                  <a:pt x="1383138" y="1664259"/>
                </a:lnTo>
                <a:lnTo>
                  <a:pt x="1420459" y="1639403"/>
                </a:lnTo>
                <a:lnTo>
                  <a:pt x="1456443" y="1612774"/>
                </a:lnTo>
                <a:lnTo>
                  <a:pt x="1491027" y="1584436"/>
                </a:lnTo>
                <a:lnTo>
                  <a:pt x="1524151" y="1554450"/>
                </a:lnTo>
                <a:lnTo>
                  <a:pt x="1555749" y="1522879"/>
                </a:lnTo>
                <a:lnTo>
                  <a:pt x="1585762" y="1489784"/>
                </a:lnTo>
                <a:lnTo>
                  <a:pt x="1614125" y="1455230"/>
                </a:lnTo>
                <a:lnTo>
                  <a:pt x="1640777" y="1419276"/>
                </a:lnTo>
                <a:lnTo>
                  <a:pt x="1665656" y="1381987"/>
                </a:lnTo>
                <a:lnTo>
                  <a:pt x="1688698" y="1343424"/>
                </a:lnTo>
                <a:lnTo>
                  <a:pt x="1709843" y="1303649"/>
                </a:lnTo>
                <a:lnTo>
                  <a:pt x="1729026" y="1262726"/>
                </a:lnTo>
                <a:lnTo>
                  <a:pt x="1746186" y="1220715"/>
                </a:lnTo>
                <a:lnTo>
                  <a:pt x="1761260" y="1177680"/>
                </a:lnTo>
                <a:lnTo>
                  <a:pt x="1774187" y="1133683"/>
                </a:lnTo>
                <a:lnTo>
                  <a:pt x="1784903" y="1088786"/>
                </a:lnTo>
                <a:lnTo>
                  <a:pt x="1793346" y="1043052"/>
                </a:lnTo>
                <a:lnTo>
                  <a:pt x="1799454" y="996542"/>
                </a:lnTo>
                <a:lnTo>
                  <a:pt x="1803165" y="949319"/>
                </a:lnTo>
                <a:lnTo>
                  <a:pt x="1804415" y="901445"/>
                </a:lnTo>
                <a:lnTo>
                  <a:pt x="1803165" y="853572"/>
                </a:lnTo>
                <a:lnTo>
                  <a:pt x="1799454" y="806349"/>
                </a:lnTo>
                <a:lnTo>
                  <a:pt x="1793346" y="759839"/>
                </a:lnTo>
                <a:lnTo>
                  <a:pt x="1784903" y="714105"/>
                </a:lnTo>
                <a:lnTo>
                  <a:pt x="1774187" y="669208"/>
                </a:lnTo>
                <a:lnTo>
                  <a:pt x="1761260" y="625211"/>
                </a:lnTo>
                <a:lnTo>
                  <a:pt x="1746186" y="582176"/>
                </a:lnTo>
                <a:lnTo>
                  <a:pt x="1729026" y="540165"/>
                </a:lnTo>
                <a:lnTo>
                  <a:pt x="1709843" y="499242"/>
                </a:lnTo>
                <a:lnTo>
                  <a:pt x="1688698" y="459467"/>
                </a:lnTo>
                <a:lnTo>
                  <a:pt x="1665656" y="420904"/>
                </a:lnTo>
                <a:lnTo>
                  <a:pt x="1640777" y="383615"/>
                </a:lnTo>
                <a:lnTo>
                  <a:pt x="1614125" y="347661"/>
                </a:lnTo>
                <a:lnTo>
                  <a:pt x="1585762" y="313107"/>
                </a:lnTo>
                <a:lnTo>
                  <a:pt x="1555749" y="280012"/>
                </a:lnTo>
                <a:lnTo>
                  <a:pt x="1524151" y="248441"/>
                </a:lnTo>
                <a:lnTo>
                  <a:pt x="1491027" y="218455"/>
                </a:lnTo>
                <a:lnTo>
                  <a:pt x="1456443" y="190117"/>
                </a:lnTo>
                <a:lnTo>
                  <a:pt x="1420459" y="163488"/>
                </a:lnTo>
                <a:lnTo>
                  <a:pt x="1383138" y="138632"/>
                </a:lnTo>
                <a:lnTo>
                  <a:pt x="1344542" y="115610"/>
                </a:lnTo>
                <a:lnTo>
                  <a:pt x="1304734" y="94485"/>
                </a:lnTo>
                <a:lnTo>
                  <a:pt x="1263776" y="75320"/>
                </a:lnTo>
                <a:lnTo>
                  <a:pt x="1221731" y="58175"/>
                </a:lnTo>
                <a:lnTo>
                  <a:pt x="1178661" y="43115"/>
                </a:lnTo>
                <a:lnTo>
                  <a:pt x="1134628" y="30200"/>
                </a:lnTo>
                <a:lnTo>
                  <a:pt x="1089695" y="19494"/>
                </a:lnTo>
                <a:lnTo>
                  <a:pt x="1043924" y="11059"/>
                </a:lnTo>
                <a:lnTo>
                  <a:pt x="997377" y="4956"/>
                </a:lnTo>
                <a:lnTo>
                  <a:pt x="950118" y="1249"/>
                </a:lnTo>
                <a:lnTo>
                  <a:pt x="902208" y="0"/>
                </a:lnTo>
                <a:close/>
              </a:path>
            </a:pathLst>
          </a:custGeom>
          <a:solidFill>
            <a:srgbClr val="A9D18E">
              <a:alpha val="4313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397500" y="3880230"/>
            <a:ext cx="560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Soc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1800" dirty="0">
                <a:latin typeface="Calibri" panose="020F0502020204030204"/>
                <a:cs typeface="Calibri" panose="020F0502020204030204"/>
              </a:rPr>
              <a:t>al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96000" y="2424683"/>
            <a:ext cx="1803400" cy="1804670"/>
          </a:xfrm>
          <a:custGeom>
            <a:avLst/>
            <a:gdLst/>
            <a:ahLst/>
            <a:cxnLst/>
            <a:rect l="l" t="t" r="r" b="b"/>
            <a:pathLst>
              <a:path w="1803400" h="1804670">
                <a:moveTo>
                  <a:pt x="901446" y="0"/>
                </a:moveTo>
                <a:lnTo>
                  <a:pt x="853572" y="1250"/>
                </a:lnTo>
                <a:lnTo>
                  <a:pt x="806349" y="4961"/>
                </a:lnTo>
                <a:lnTo>
                  <a:pt x="759839" y="11069"/>
                </a:lnTo>
                <a:lnTo>
                  <a:pt x="714105" y="19512"/>
                </a:lnTo>
                <a:lnTo>
                  <a:pt x="669208" y="30228"/>
                </a:lnTo>
                <a:lnTo>
                  <a:pt x="625211" y="43155"/>
                </a:lnTo>
                <a:lnTo>
                  <a:pt x="582176" y="58229"/>
                </a:lnTo>
                <a:lnTo>
                  <a:pt x="540165" y="75389"/>
                </a:lnTo>
                <a:lnTo>
                  <a:pt x="499242" y="94572"/>
                </a:lnTo>
                <a:lnTo>
                  <a:pt x="459467" y="115717"/>
                </a:lnTo>
                <a:lnTo>
                  <a:pt x="420904" y="138759"/>
                </a:lnTo>
                <a:lnTo>
                  <a:pt x="383615" y="163638"/>
                </a:lnTo>
                <a:lnTo>
                  <a:pt x="347661" y="190290"/>
                </a:lnTo>
                <a:lnTo>
                  <a:pt x="313107" y="218653"/>
                </a:lnTo>
                <a:lnTo>
                  <a:pt x="280012" y="248666"/>
                </a:lnTo>
                <a:lnTo>
                  <a:pt x="248441" y="280264"/>
                </a:lnTo>
                <a:lnTo>
                  <a:pt x="218455" y="313388"/>
                </a:lnTo>
                <a:lnTo>
                  <a:pt x="190117" y="347972"/>
                </a:lnTo>
                <a:lnTo>
                  <a:pt x="163488" y="383956"/>
                </a:lnTo>
                <a:lnTo>
                  <a:pt x="138632" y="421277"/>
                </a:lnTo>
                <a:lnTo>
                  <a:pt x="115610" y="459873"/>
                </a:lnTo>
                <a:lnTo>
                  <a:pt x="94485" y="499681"/>
                </a:lnTo>
                <a:lnTo>
                  <a:pt x="75320" y="540639"/>
                </a:lnTo>
                <a:lnTo>
                  <a:pt x="58175" y="582684"/>
                </a:lnTo>
                <a:lnTo>
                  <a:pt x="43115" y="625754"/>
                </a:lnTo>
                <a:lnTo>
                  <a:pt x="30200" y="669787"/>
                </a:lnTo>
                <a:lnTo>
                  <a:pt x="19494" y="714720"/>
                </a:lnTo>
                <a:lnTo>
                  <a:pt x="11059" y="760491"/>
                </a:lnTo>
                <a:lnTo>
                  <a:pt x="4956" y="807038"/>
                </a:lnTo>
                <a:lnTo>
                  <a:pt x="1249" y="854297"/>
                </a:lnTo>
                <a:lnTo>
                  <a:pt x="0" y="902207"/>
                </a:lnTo>
                <a:lnTo>
                  <a:pt x="1249" y="950118"/>
                </a:lnTo>
                <a:lnTo>
                  <a:pt x="4956" y="997377"/>
                </a:lnTo>
                <a:lnTo>
                  <a:pt x="11059" y="1043924"/>
                </a:lnTo>
                <a:lnTo>
                  <a:pt x="19494" y="1089695"/>
                </a:lnTo>
                <a:lnTo>
                  <a:pt x="30200" y="1134628"/>
                </a:lnTo>
                <a:lnTo>
                  <a:pt x="43115" y="1178661"/>
                </a:lnTo>
                <a:lnTo>
                  <a:pt x="58175" y="1221731"/>
                </a:lnTo>
                <a:lnTo>
                  <a:pt x="75320" y="1263776"/>
                </a:lnTo>
                <a:lnTo>
                  <a:pt x="94485" y="1304734"/>
                </a:lnTo>
                <a:lnTo>
                  <a:pt x="115610" y="1344542"/>
                </a:lnTo>
                <a:lnTo>
                  <a:pt x="138632" y="1383138"/>
                </a:lnTo>
                <a:lnTo>
                  <a:pt x="163488" y="1420459"/>
                </a:lnTo>
                <a:lnTo>
                  <a:pt x="190117" y="1456443"/>
                </a:lnTo>
                <a:lnTo>
                  <a:pt x="218455" y="1491027"/>
                </a:lnTo>
                <a:lnTo>
                  <a:pt x="248441" y="1524151"/>
                </a:lnTo>
                <a:lnTo>
                  <a:pt x="280012" y="1555749"/>
                </a:lnTo>
                <a:lnTo>
                  <a:pt x="313107" y="1585762"/>
                </a:lnTo>
                <a:lnTo>
                  <a:pt x="347661" y="1614125"/>
                </a:lnTo>
                <a:lnTo>
                  <a:pt x="383615" y="1640777"/>
                </a:lnTo>
                <a:lnTo>
                  <a:pt x="420904" y="1665656"/>
                </a:lnTo>
                <a:lnTo>
                  <a:pt x="459467" y="1688698"/>
                </a:lnTo>
                <a:lnTo>
                  <a:pt x="499242" y="1709843"/>
                </a:lnTo>
                <a:lnTo>
                  <a:pt x="540165" y="1729026"/>
                </a:lnTo>
                <a:lnTo>
                  <a:pt x="582176" y="1746186"/>
                </a:lnTo>
                <a:lnTo>
                  <a:pt x="625211" y="1761260"/>
                </a:lnTo>
                <a:lnTo>
                  <a:pt x="669208" y="1774187"/>
                </a:lnTo>
                <a:lnTo>
                  <a:pt x="714105" y="1784903"/>
                </a:lnTo>
                <a:lnTo>
                  <a:pt x="759839" y="1793346"/>
                </a:lnTo>
                <a:lnTo>
                  <a:pt x="806349" y="1799454"/>
                </a:lnTo>
                <a:lnTo>
                  <a:pt x="853572" y="1803165"/>
                </a:lnTo>
                <a:lnTo>
                  <a:pt x="901446" y="1804415"/>
                </a:lnTo>
                <a:lnTo>
                  <a:pt x="949319" y="1803165"/>
                </a:lnTo>
                <a:lnTo>
                  <a:pt x="996542" y="1799454"/>
                </a:lnTo>
                <a:lnTo>
                  <a:pt x="1043052" y="1793346"/>
                </a:lnTo>
                <a:lnTo>
                  <a:pt x="1088786" y="1784903"/>
                </a:lnTo>
                <a:lnTo>
                  <a:pt x="1133683" y="1774187"/>
                </a:lnTo>
                <a:lnTo>
                  <a:pt x="1177680" y="1761260"/>
                </a:lnTo>
                <a:lnTo>
                  <a:pt x="1220715" y="1746186"/>
                </a:lnTo>
                <a:lnTo>
                  <a:pt x="1262726" y="1729026"/>
                </a:lnTo>
                <a:lnTo>
                  <a:pt x="1303649" y="1709843"/>
                </a:lnTo>
                <a:lnTo>
                  <a:pt x="1343424" y="1688698"/>
                </a:lnTo>
                <a:lnTo>
                  <a:pt x="1381987" y="1665656"/>
                </a:lnTo>
                <a:lnTo>
                  <a:pt x="1419276" y="1640777"/>
                </a:lnTo>
                <a:lnTo>
                  <a:pt x="1455230" y="1614125"/>
                </a:lnTo>
                <a:lnTo>
                  <a:pt x="1489784" y="1585762"/>
                </a:lnTo>
                <a:lnTo>
                  <a:pt x="1522879" y="1555749"/>
                </a:lnTo>
                <a:lnTo>
                  <a:pt x="1554450" y="1524151"/>
                </a:lnTo>
                <a:lnTo>
                  <a:pt x="1584436" y="1491027"/>
                </a:lnTo>
                <a:lnTo>
                  <a:pt x="1612774" y="1456443"/>
                </a:lnTo>
                <a:lnTo>
                  <a:pt x="1639403" y="1420459"/>
                </a:lnTo>
                <a:lnTo>
                  <a:pt x="1664259" y="1383138"/>
                </a:lnTo>
                <a:lnTo>
                  <a:pt x="1687281" y="1344542"/>
                </a:lnTo>
                <a:lnTo>
                  <a:pt x="1708406" y="1304734"/>
                </a:lnTo>
                <a:lnTo>
                  <a:pt x="1727571" y="1263776"/>
                </a:lnTo>
                <a:lnTo>
                  <a:pt x="1744716" y="1221731"/>
                </a:lnTo>
                <a:lnTo>
                  <a:pt x="1759776" y="1178661"/>
                </a:lnTo>
                <a:lnTo>
                  <a:pt x="1772691" y="1134628"/>
                </a:lnTo>
                <a:lnTo>
                  <a:pt x="1783397" y="1089695"/>
                </a:lnTo>
                <a:lnTo>
                  <a:pt x="1791832" y="1043924"/>
                </a:lnTo>
                <a:lnTo>
                  <a:pt x="1797935" y="997377"/>
                </a:lnTo>
                <a:lnTo>
                  <a:pt x="1801642" y="950118"/>
                </a:lnTo>
                <a:lnTo>
                  <a:pt x="1802892" y="902207"/>
                </a:lnTo>
                <a:lnTo>
                  <a:pt x="1801642" y="854297"/>
                </a:lnTo>
                <a:lnTo>
                  <a:pt x="1797935" y="807038"/>
                </a:lnTo>
                <a:lnTo>
                  <a:pt x="1791832" y="760491"/>
                </a:lnTo>
                <a:lnTo>
                  <a:pt x="1783397" y="714720"/>
                </a:lnTo>
                <a:lnTo>
                  <a:pt x="1772691" y="669787"/>
                </a:lnTo>
                <a:lnTo>
                  <a:pt x="1759776" y="625754"/>
                </a:lnTo>
                <a:lnTo>
                  <a:pt x="1744716" y="582684"/>
                </a:lnTo>
                <a:lnTo>
                  <a:pt x="1727571" y="540639"/>
                </a:lnTo>
                <a:lnTo>
                  <a:pt x="1708406" y="499681"/>
                </a:lnTo>
                <a:lnTo>
                  <a:pt x="1687281" y="459873"/>
                </a:lnTo>
                <a:lnTo>
                  <a:pt x="1664259" y="421277"/>
                </a:lnTo>
                <a:lnTo>
                  <a:pt x="1639403" y="383956"/>
                </a:lnTo>
                <a:lnTo>
                  <a:pt x="1612774" y="347972"/>
                </a:lnTo>
                <a:lnTo>
                  <a:pt x="1584436" y="313388"/>
                </a:lnTo>
                <a:lnTo>
                  <a:pt x="1554450" y="280264"/>
                </a:lnTo>
                <a:lnTo>
                  <a:pt x="1522879" y="248666"/>
                </a:lnTo>
                <a:lnTo>
                  <a:pt x="1489784" y="218653"/>
                </a:lnTo>
                <a:lnTo>
                  <a:pt x="1455230" y="190290"/>
                </a:lnTo>
                <a:lnTo>
                  <a:pt x="1419276" y="163638"/>
                </a:lnTo>
                <a:lnTo>
                  <a:pt x="1381987" y="138759"/>
                </a:lnTo>
                <a:lnTo>
                  <a:pt x="1343424" y="115717"/>
                </a:lnTo>
                <a:lnTo>
                  <a:pt x="1303649" y="94572"/>
                </a:lnTo>
                <a:lnTo>
                  <a:pt x="1262726" y="75389"/>
                </a:lnTo>
                <a:lnTo>
                  <a:pt x="1220715" y="58229"/>
                </a:lnTo>
                <a:lnTo>
                  <a:pt x="1177680" y="43155"/>
                </a:lnTo>
                <a:lnTo>
                  <a:pt x="1133683" y="30228"/>
                </a:lnTo>
                <a:lnTo>
                  <a:pt x="1088786" y="19512"/>
                </a:lnTo>
                <a:lnTo>
                  <a:pt x="1043052" y="11069"/>
                </a:lnTo>
                <a:lnTo>
                  <a:pt x="996542" y="4961"/>
                </a:lnTo>
                <a:lnTo>
                  <a:pt x="949319" y="1250"/>
                </a:lnTo>
                <a:lnTo>
                  <a:pt x="901446" y="0"/>
                </a:lnTo>
                <a:close/>
              </a:path>
            </a:pathLst>
          </a:custGeom>
          <a:solidFill>
            <a:srgbClr val="B4C6E7">
              <a:alpha val="4313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543293" y="3162427"/>
            <a:ext cx="911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Bio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ogi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c</a:t>
            </a:r>
            <a:r>
              <a:rPr sz="1800" dirty="0">
                <a:latin typeface="Calibri" panose="020F0502020204030204"/>
                <a:cs typeface="Calibri" panose="020F0502020204030204"/>
              </a:rPr>
              <a:t>al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25340" y="4612513"/>
            <a:ext cx="743585" cy="367665"/>
          </a:xfrm>
          <a:custGeom>
            <a:avLst/>
            <a:gdLst/>
            <a:ahLst/>
            <a:cxnLst/>
            <a:rect l="l" t="t" r="r" b="b"/>
            <a:pathLst>
              <a:path w="743585" h="367664">
                <a:moveTo>
                  <a:pt x="0" y="367284"/>
                </a:moveTo>
                <a:lnTo>
                  <a:pt x="743076" y="0"/>
                </a:lnTo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23900" y="4381500"/>
            <a:ext cx="3226435" cy="1346200"/>
          </a:xfrm>
          <a:prstGeom prst="rect">
            <a:avLst/>
          </a:prstGeom>
          <a:solidFill>
            <a:srgbClr val="E1EFD9"/>
          </a:solidFill>
          <a:ln w="12700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950"/>
              </a:lnSpc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Sociology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86385" indent="-286385">
              <a:lnSpc>
                <a:spcPct val="100000"/>
              </a:lnSpc>
              <a:buFont typeface="Arial" panose="020B0604020202020204"/>
              <a:buChar char="•"/>
              <a:tabLst>
                <a:tab pos="286385" algn="l"/>
                <a:tab pos="627380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Understanding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health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illness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59205" lvl="1" indent="-287020">
              <a:lnSpc>
                <a:spcPct val="100000"/>
              </a:lnSpc>
              <a:buFont typeface="Arial" panose="020B0604020202020204"/>
              <a:buChar char="•"/>
              <a:tabLst>
                <a:tab pos="1259205" algn="l"/>
                <a:tab pos="1259840" algn="l"/>
              </a:tabLst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individuals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05865" indent="-287020">
              <a:lnSpc>
                <a:spcPct val="100000"/>
              </a:lnSpc>
              <a:buFont typeface="Arial" panose="020B0604020202020204"/>
              <a:buChar char="•"/>
              <a:tabLst>
                <a:tab pos="1205865" algn="l"/>
                <a:tab pos="1206500" algn="l"/>
              </a:tabLst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populations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20997" y="1393825"/>
            <a:ext cx="882650" cy="622935"/>
          </a:xfrm>
          <a:custGeom>
            <a:avLst/>
            <a:gdLst/>
            <a:ahLst/>
            <a:cxnLst/>
            <a:rect l="l" t="t" r="r" b="b"/>
            <a:pathLst>
              <a:path w="882650" h="622935">
                <a:moveTo>
                  <a:pt x="0" y="0"/>
                </a:moveTo>
                <a:lnTo>
                  <a:pt x="882396" y="622808"/>
                </a:lnTo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59308" y="719327"/>
            <a:ext cx="3225165" cy="1346200"/>
          </a:xfrm>
          <a:prstGeom prst="rect">
            <a:avLst/>
          </a:prstGeom>
          <a:solidFill>
            <a:srgbClr val="FFF1CC"/>
          </a:solidFill>
          <a:ln w="12700">
            <a:solidFill>
              <a:srgbClr val="2E528F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766445">
              <a:lnSpc>
                <a:spcPct val="100000"/>
              </a:lnSpc>
              <a:spcBef>
                <a:spcPts val="860"/>
              </a:spcBef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Health</a:t>
            </a:r>
            <a:r>
              <a:rPr sz="1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Psychology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471170" indent="-287655">
              <a:lnSpc>
                <a:spcPct val="100000"/>
              </a:lnSpc>
              <a:buFont typeface="Arial" panose="020B0604020202020204"/>
              <a:buChar char="•"/>
              <a:tabLst>
                <a:tab pos="469900" algn="l"/>
                <a:tab pos="47180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Core 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Psychological</a:t>
            </a:r>
            <a:r>
              <a:rPr sz="1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Theories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845820" lvl="1" indent="-287020">
              <a:lnSpc>
                <a:spcPct val="100000"/>
              </a:lnSpc>
              <a:buFont typeface="Arial" panose="020B0604020202020204"/>
              <a:buChar char="•"/>
              <a:tabLst>
                <a:tab pos="845185" algn="l"/>
                <a:tab pos="846455" algn="l"/>
              </a:tabLst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Human</a:t>
            </a:r>
            <a:r>
              <a:rPr sz="1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Functioning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371600" lvl="2" indent="-287020">
              <a:lnSpc>
                <a:spcPct val="100000"/>
              </a:lnSpc>
              <a:buFont typeface="Arial" panose="020B0604020202020204"/>
              <a:buChar char="•"/>
              <a:tabLst>
                <a:tab pos="1371600" algn="l"/>
                <a:tab pos="137223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Lifespan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034908" y="3313557"/>
            <a:ext cx="424180" cy="1905"/>
          </a:xfrm>
          <a:custGeom>
            <a:avLst/>
            <a:gdLst/>
            <a:ahLst/>
            <a:cxnLst/>
            <a:rect l="l" t="t" r="r" b="b"/>
            <a:pathLst>
              <a:path w="424179" h="1904">
                <a:moveTo>
                  <a:pt x="423799" y="0"/>
                </a:moveTo>
                <a:lnTo>
                  <a:pt x="0" y="1650"/>
                </a:lnTo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560307" y="1784604"/>
            <a:ext cx="3453765" cy="2959735"/>
          </a:xfrm>
          <a:prstGeom prst="rect">
            <a:avLst/>
          </a:prstGeom>
          <a:solidFill>
            <a:srgbClr val="DAE2F3"/>
          </a:solidFill>
          <a:ln w="12700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 panose="02020603050405020304"/>
              <a:cs typeface="Times New Roman" panose="02020603050405020304"/>
            </a:endParaRPr>
          </a:p>
          <a:p>
            <a:pPr marL="1283970">
              <a:lnSpc>
                <a:spcPct val="100000"/>
              </a:lnSpc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Biological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86715" indent="-287020">
              <a:lnSpc>
                <a:spcPct val="100000"/>
              </a:lnSpc>
              <a:spcBef>
                <a:spcPts val="5"/>
              </a:spcBef>
              <a:buFont typeface="Arial" panose="020B0604020202020204"/>
              <a:buChar char="•"/>
              <a:tabLst>
                <a:tab pos="386715" algn="l"/>
                <a:tab pos="387350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Anatomy (structural,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functional)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409575" marR="114300" indent="-409575">
              <a:lnSpc>
                <a:spcPct val="100000"/>
              </a:lnSpc>
              <a:buFont typeface="Arial" panose="020B0604020202020204"/>
              <a:buChar char="•"/>
              <a:tabLst>
                <a:tab pos="409575" algn="l"/>
                <a:tab pos="40957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Physiology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(muscle,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respiratory, 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digestive,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skeletal,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468755" marR="493395" indent="-683260">
              <a:lnSpc>
                <a:spcPct val="100000"/>
              </a:lnSpc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cardiovascular,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nervous  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systems)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773430" lvl="1" indent="-287020">
              <a:lnSpc>
                <a:spcPct val="100000"/>
              </a:lnSpc>
              <a:buFont typeface="Arial" panose="020B0604020202020204"/>
              <a:buChar char="•"/>
              <a:tabLst>
                <a:tab pos="773430" algn="l"/>
                <a:tab pos="77406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Pathology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(and</a:t>
            </a:r>
            <a:r>
              <a:rPr sz="1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healing)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7754" y="179068"/>
            <a:ext cx="11798935" cy="6565900"/>
          </a:xfrm>
          <a:custGeom>
            <a:avLst/>
            <a:gdLst/>
            <a:ahLst/>
            <a:cxnLst/>
            <a:rect l="l" t="t" r="r" b="b"/>
            <a:pathLst>
              <a:path w="11798935" h="6565900">
                <a:moveTo>
                  <a:pt x="0" y="6565392"/>
                </a:moveTo>
                <a:lnTo>
                  <a:pt x="11798808" y="6565392"/>
                </a:lnTo>
                <a:lnTo>
                  <a:pt x="11798808" y="0"/>
                </a:lnTo>
                <a:lnTo>
                  <a:pt x="0" y="0"/>
                </a:lnTo>
                <a:lnTo>
                  <a:pt x="0" y="6565392"/>
                </a:lnTo>
                <a:close/>
              </a:path>
            </a:pathLst>
          </a:custGeom>
          <a:ln w="34925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198356" y="6233261"/>
            <a:ext cx="2785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Calibri" panose="020F0502020204030204"/>
                <a:cs typeface="Calibri" panose="020F0502020204030204"/>
              </a:rPr>
              <a:t>HEALTH </a:t>
            </a:r>
            <a:r>
              <a:rPr sz="2400" dirty="0">
                <a:latin typeface="Calibri" panose="020F0502020204030204"/>
                <a:cs typeface="Calibri" panose="020F0502020204030204"/>
              </a:rPr>
              <a:t>&amp;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WELLBEING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835D-A6D6-A2FE-6E17-2C99C09D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this fit into the module aim?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5AE76-5ACA-4442-05C2-B693F9884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238125" algn="l"/>
              </a:tabLst>
            </a:pPr>
            <a:r>
              <a:rPr lang="en-GB" sz="2800" spc="-5" dirty="0">
                <a:latin typeface="Calibri" panose="020F0502020204030204"/>
                <a:cs typeface="Calibri" panose="020F0502020204030204"/>
              </a:rPr>
              <a:t>Discuss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the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components of human </a:t>
            </a:r>
            <a:r>
              <a:rPr lang="en-GB" sz="2800" spc="-25" dirty="0">
                <a:latin typeface="Calibri" panose="020F0502020204030204"/>
                <a:cs typeface="Calibri" panose="020F0502020204030204"/>
              </a:rPr>
              <a:t>anatomy,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physiology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and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behavioural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science 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including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the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dynamic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relationships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of human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structure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and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function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as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related to 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the </a:t>
            </a:r>
            <a:r>
              <a:rPr lang="en-GB" sz="2800" spc="-20" dirty="0">
                <a:latin typeface="Calibri" panose="020F0502020204030204"/>
                <a:cs typeface="Calibri" panose="020F0502020204030204"/>
              </a:rPr>
              <a:t>neuromuscular,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musculoskeletal, </a:t>
            </a:r>
            <a:r>
              <a:rPr lang="en-GB" sz="2800" spc="-20" dirty="0">
                <a:latin typeface="Calibri" panose="020F0502020204030204"/>
                <a:cs typeface="Calibri" panose="020F0502020204030204"/>
              </a:rPr>
              <a:t>cardiovascular,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and </a:t>
            </a:r>
            <a:r>
              <a:rPr lang="en-GB" sz="2800" spc="-15" dirty="0">
                <a:latin typeface="Calibri" panose="020F0502020204030204"/>
                <a:cs typeface="Calibri" panose="020F0502020204030204"/>
              </a:rPr>
              <a:t>respiratory</a:t>
            </a:r>
            <a:r>
              <a:rPr lang="en-GB" sz="2800" spc="10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800" spc="-15" dirty="0">
                <a:latin typeface="Calibri" panose="020F0502020204030204"/>
                <a:cs typeface="Calibri" panose="020F0502020204030204"/>
              </a:rPr>
              <a:t>systems.</a:t>
            </a:r>
            <a:endParaRPr lang="en-GB" sz="2800" dirty="0">
              <a:latin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100000"/>
              </a:lnSpc>
              <a:spcBef>
                <a:spcPts val="30"/>
              </a:spcBef>
              <a:buFont typeface="+mj-lt"/>
              <a:buAutoNum type="arabicPeriod"/>
            </a:pPr>
            <a:endParaRPr lang="en-GB" sz="2800" dirty="0">
              <a:latin typeface="Times New Roman" panose="02020603050405020304"/>
              <a:cs typeface="Times New Roman" panose="02020603050405020304"/>
            </a:endParaRPr>
          </a:p>
          <a:p>
            <a:pPr marL="355600" marR="216535" indent="-342900">
              <a:lnSpc>
                <a:spcPct val="100000"/>
              </a:lnSpc>
              <a:spcBef>
                <a:spcPts val="5"/>
              </a:spcBef>
              <a:buFont typeface="+mj-lt"/>
              <a:buAutoNum type="arabicPeriod"/>
              <a:tabLst>
                <a:tab pos="238125" algn="l"/>
              </a:tabLst>
            </a:pPr>
            <a:r>
              <a:rPr lang="en-GB" sz="2800" spc="-5" dirty="0">
                <a:latin typeface="Calibri" panose="020F0502020204030204"/>
                <a:cs typeface="Calibri" panose="020F0502020204030204"/>
              </a:rPr>
              <a:t>Apply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a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biopsychosocial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model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to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identify possible dimensions of human  functioning that </a:t>
            </a:r>
            <a:r>
              <a:rPr lang="en-GB" sz="2800" spc="-15" dirty="0">
                <a:latin typeface="Calibri" panose="020F0502020204030204"/>
                <a:cs typeface="Calibri" panose="020F0502020204030204"/>
              </a:rPr>
              <a:t>may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be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implicated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in individuals with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dysfunction related to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the  </a:t>
            </a:r>
            <a:r>
              <a:rPr lang="en-GB" sz="2800" spc="-20" dirty="0">
                <a:latin typeface="Calibri" panose="020F0502020204030204"/>
                <a:cs typeface="Calibri" panose="020F0502020204030204"/>
              </a:rPr>
              <a:t>neuromuscular,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musculoskeletal, </a:t>
            </a:r>
            <a:r>
              <a:rPr lang="en-GB" sz="2800" spc="-20" dirty="0">
                <a:latin typeface="Calibri" panose="020F0502020204030204"/>
                <a:cs typeface="Calibri" panose="020F0502020204030204"/>
              </a:rPr>
              <a:t>cardiovascular,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and </a:t>
            </a:r>
            <a:r>
              <a:rPr lang="en-GB" sz="2800" spc="-15" dirty="0">
                <a:latin typeface="Calibri" panose="020F0502020204030204"/>
                <a:cs typeface="Calibri" panose="020F0502020204030204"/>
              </a:rPr>
              <a:t>respiratory systems, 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including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the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social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and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cultural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influences on health of individuals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and 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populations.</a:t>
            </a:r>
            <a:endParaRPr lang="en-GB" sz="2800" dirty="0">
              <a:latin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100000"/>
              </a:lnSpc>
              <a:spcBef>
                <a:spcPts val="35"/>
              </a:spcBef>
              <a:buFont typeface="+mj-lt"/>
              <a:buAutoNum type="arabicPeriod"/>
            </a:pPr>
            <a:endParaRPr lang="en-GB" sz="2800" dirty="0">
              <a:latin typeface="Times New Roman" panose="02020603050405020304"/>
              <a:cs typeface="Times New Roman" panose="02020603050405020304"/>
            </a:endParaRPr>
          </a:p>
          <a:p>
            <a:pPr marL="354965" indent="-342900">
              <a:lnSpc>
                <a:spcPct val="100000"/>
              </a:lnSpc>
              <a:buFont typeface="+mj-lt"/>
              <a:buAutoNum type="arabicPeriod"/>
              <a:tabLst>
                <a:tab pos="238760" algn="l"/>
              </a:tabLst>
            </a:pPr>
            <a:r>
              <a:rPr lang="en-GB" sz="2800" spc="-5" dirty="0">
                <a:latin typeface="Calibri" panose="020F0502020204030204"/>
                <a:cs typeface="Calibri" panose="020F0502020204030204"/>
              </a:rPr>
              <a:t>Discuss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the </a:t>
            </a:r>
            <a:r>
              <a:rPr lang="en-GB" sz="2800" spc="-15" dirty="0">
                <a:latin typeface="Calibri" panose="020F0502020204030204"/>
                <a:cs typeface="Calibri" panose="020F0502020204030204"/>
              </a:rPr>
              <a:t>effect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of pathological processes underlying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common</a:t>
            </a:r>
            <a:r>
              <a:rPr lang="en-GB" sz="280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clinical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conditions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seen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in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contemporary</a:t>
            </a:r>
            <a:r>
              <a:rPr lang="en-GB" sz="280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practice</a:t>
            </a:r>
            <a:endParaRPr lang="en-GB" sz="2800" dirty="0">
              <a:latin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100000"/>
              </a:lnSpc>
              <a:spcBef>
                <a:spcPts val="35"/>
              </a:spcBef>
              <a:buFont typeface="+mj-lt"/>
              <a:buAutoNum type="arabicPeriod"/>
            </a:pPr>
            <a:endParaRPr lang="en-GB" sz="2800" dirty="0">
              <a:latin typeface="Times New Roman" panose="02020603050405020304"/>
              <a:cs typeface="Times New Roman" panose="02020603050405020304"/>
            </a:endParaRPr>
          </a:p>
          <a:p>
            <a:pPr marL="355600" marR="899160" indent="-342900">
              <a:lnSpc>
                <a:spcPct val="100000"/>
              </a:lnSpc>
              <a:buFont typeface="+mj-lt"/>
              <a:buAutoNum type="arabicPeriod"/>
              <a:tabLst>
                <a:tab pos="238125" algn="l"/>
              </a:tabLst>
            </a:pPr>
            <a:r>
              <a:rPr lang="en-GB" sz="2800" spc="-5" dirty="0">
                <a:latin typeface="Calibri" panose="020F0502020204030204"/>
                <a:cs typeface="Calibri" panose="020F0502020204030204"/>
              </a:rPr>
              <a:t>Justify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the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rationale </a:t>
            </a:r>
            <a:r>
              <a:rPr lang="en-GB" sz="2800" spc="-15" dirty="0">
                <a:latin typeface="Calibri" panose="020F0502020204030204"/>
                <a:cs typeface="Calibri" panose="020F0502020204030204"/>
              </a:rPr>
              <a:t>for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interventions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using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a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biopsychosocial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model </a:t>
            </a:r>
            <a:r>
              <a:rPr lang="en-GB" sz="2800" spc="-10" dirty="0">
                <a:latin typeface="Calibri" panose="020F0502020204030204"/>
                <a:cs typeface="Calibri" panose="020F0502020204030204"/>
              </a:rPr>
              <a:t>to 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optimise health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and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functioning in individuals </a:t>
            </a:r>
            <a:r>
              <a:rPr lang="en-GB" sz="2800" dirty="0">
                <a:latin typeface="Calibri" panose="020F0502020204030204"/>
                <a:cs typeface="Calibri" panose="020F0502020204030204"/>
              </a:rPr>
              <a:t>and</a:t>
            </a:r>
            <a:r>
              <a:rPr lang="en-GB" sz="2800" spc="12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800" spc="-5" dirty="0">
                <a:latin typeface="Calibri" panose="020F0502020204030204"/>
                <a:cs typeface="Calibri" panose="020F0502020204030204"/>
              </a:rPr>
              <a:t>populations.</a:t>
            </a:r>
            <a:endParaRPr lang="en-GB" sz="2800" dirty="0">
              <a:latin typeface="Calibri" panose="020F0502020204030204"/>
              <a:cs typeface="Calibri" panose="020F0502020204030204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8101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9205" y="481075"/>
            <a:ext cx="7651750" cy="492443"/>
          </a:xfrm>
        </p:spPr>
        <p:txBody>
          <a:bodyPr>
            <a:normAutofit fontScale="90000"/>
          </a:bodyPr>
          <a:lstStyle/>
          <a:p>
            <a:r>
              <a:rPr lang="en-GB" sz="3200" b="1" dirty="0">
                <a:solidFill>
                  <a:schemeClr val="accent6">
                    <a:lumMod val="50000"/>
                  </a:schemeClr>
                </a:solidFill>
              </a:rPr>
              <a:t>A Case of 2 Rotator Cuffs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914400" y="1143000"/>
          <a:ext cx="10744200" cy="5029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7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en-GB" sz="3600" dirty="0"/>
                        <a:t>Case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/>
                        <a:t>Case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GB" sz="2000" dirty="0"/>
                        <a:t>36-year-old male, right rotator cuff tear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36-year-old male, right rotator cuff tear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GB" sz="2000" dirty="0"/>
                        <a:t>Difficulty elevating arm beyond 90 degrees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Difficulty elevating arm beyond 90 degrees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GB" sz="2000" dirty="0"/>
                        <a:t>Manager within local council’s housing department – still  in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Self-employed fisherman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GB" sz="2000" dirty="0"/>
                        <a:t>Married with a young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Single, lives with parents, but on waiting list for council house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dirty="0"/>
                        <a:t>Runs local children’s football club and has a strong social network with other parents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No specific social network, longstanding history of depression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53400" y="2781300"/>
            <a:ext cx="4038600" cy="4076700"/>
          </a:xfrm>
          <a:custGeom>
            <a:avLst/>
            <a:gdLst/>
            <a:ahLst/>
            <a:cxnLst/>
            <a:rect l="l" t="t" r="r" b="b"/>
            <a:pathLst>
              <a:path w="4038600" h="4076700">
                <a:moveTo>
                  <a:pt x="0" y="4076700"/>
                </a:moveTo>
                <a:lnTo>
                  <a:pt x="4038600" y="4076700"/>
                </a:lnTo>
                <a:lnTo>
                  <a:pt x="4038600" y="0"/>
                </a:lnTo>
                <a:lnTo>
                  <a:pt x="0" y="0"/>
                </a:lnTo>
                <a:lnTo>
                  <a:pt x="0" y="407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01266" y="1077213"/>
            <a:ext cx="9384030" cy="5154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Short Case Study</a:t>
            </a:r>
            <a:r>
              <a:rPr sz="28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(anonymised):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Mr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French </a:t>
            </a:r>
            <a:r>
              <a:rPr sz="2000" dirty="0">
                <a:latin typeface="Calibri" panose="020F0502020204030204"/>
                <a:cs typeface="Calibri" panose="020F0502020204030204"/>
              </a:rPr>
              <a:t>- 60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years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old, </a:t>
            </a:r>
            <a:r>
              <a:rPr sz="2000" dirty="0">
                <a:latin typeface="Calibri" panose="020F0502020204030204"/>
                <a:cs typeface="Calibri" panose="020F0502020204030204"/>
              </a:rPr>
              <a:t>5’10 (178cm), 95kg (15</a:t>
            </a:r>
            <a:r>
              <a:rPr sz="20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stones).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 marR="518795">
              <a:lnSpc>
                <a:spcPct val="100000"/>
              </a:lnSpc>
            </a:pPr>
            <a:r>
              <a:rPr sz="2000" b="1" spc="-10" dirty="0">
                <a:latin typeface="Calibri" panose="020F0502020204030204"/>
                <a:cs typeface="Calibri" panose="020F0502020204030204"/>
              </a:rPr>
              <a:t>Presenting </a:t>
            </a:r>
            <a:r>
              <a:rPr sz="2000" b="1" spc="-5" dirty="0">
                <a:latin typeface="Calibri" panose="020F0502020204030204"/>
                <a:cs typeface="Calibri" panose="020F0502020204030204"/>
              </a:rPr>
              <a:t>condition: </a:t>
            </a:r>
            <a:r>
              <a:rPr sz="2000" dirty="0">
                <a:latin typeface="Calibri" panose="020F0502020204030204"/>
                <a:cs typeface="Calibri" panose="020F0502020204030204"/>
              </a:rPr>
              <a:t>Neck &amp;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upper </a:t>
            </a:r>
            <a:r>
              <a:rPr sz="2000" dirty="0">
                <a:latin typeface="Calibri" panose="020F0502020204030204"/>
                <a:cs typeface="Calibri" panose="020F0502020204030204"/>
              </a:rPr>
              <a:t>back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pain, pain between </a:t>
            </a:r>
            <a:r>
              <a:rPr sz="2000" dirty="0">
                <a:latin typeface="Calibri" panose="020F0502020204030204"/>
                <a:cs typeface="Calibri" panose="020F0502020204030204"/>
              </a:rPr>
              <a:t>shoulder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blades </a:t>
            </a:r>
            <a:r>
              <a:rPr sz="2000" dirty="0">
                <a:latin typeface="Calibri" panose="020F0502020204030204"/>
                <a:cs typeface="Calibri" panose="020F0502020204030204"/>
              </a:rPr>
              <a:t>&amp;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some  shoulder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pain.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</a:pPr>
            <a:r>
              <a:rPr sz="2000" b="1" spc="-10" dirty="0">
                <a:latin typeface="Calibri" panose="020F0502020204030204"/>
                <a:cs typeface="Calibri" panose="020F0502020204030204"/>
              </a:rPr>
              <a:t>History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of </a:t>
            </a:r>
            <a:r>
              <a:rPr sz="2000" b="1" spc="-5" dirty="0">
                <a:latin typeface="Calibri" panose="020F0502020204030204"/>
                <a:cs typeface="Calibri" panose="020F0502020204030204"/>
              </a:rPr>
              <a:t>presenting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condition: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Has had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these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pains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for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over </a:t>
            </a:r>
            <a:r>
              <a:rPr sz="2000" dirty="0">
                <a:latin typeface="Calibri" panose="020F0502020204030204"/>
                <a:cs typeface="Calibri" panose="020F0502020204030204"/>
              </a:rPr>
              <a:t>10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years,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has had three 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steroid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injections in his upper back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(between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shoulder blades). This </a:t>
            </a:r>
            <a:r>
              <a:rPr sz="2000" dirty="0">
                <a:latin typeface="Calibri" panose="020F0502020204030204"/>
                <a:cs typeface="Calibri" panose="020F0502020204030204"/>
              </a:rPr>
              <a:t>is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affecting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his </a:t>
            </a:r>
            <a:r>
              <a:rPr sz="2000" dirty="0">
                <a:latin typeface="Calibri" panose="020F0502020204030204"/>
                <a:cs typeface="Calibri" panose="020F0502020204030204"/>
              </a:rPr>
              <a:t>gym 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training.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alibri" panose="020F0502020204030204"/>
                <a:cs typeface="Calibri" panose="020F0502020204030204"/>
              </a:rPr>
              <a:t>Mechanism of Injury: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Client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not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sure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alibri" panose="020F0502020204030204"/>
                <a:cs typeface="Calibri" panose="020F0502020204030204"/>
              </a:rPr>
              <a:t>Diagnostic imaging: </a:t>
            </a:r>
            <a:r>
              <a:rPr sz="2000" dirty="0">
                <a:latin typeface="Calibri" panose="020F0502020204030204"/>
                <a:cs typeface="Calibri" panose="020F0502020204030204"/>
              </a:rPr>
              <a:t>He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has wear </a:t>
            </a:r>
            <a:r>
              <a:rPr sz="20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tear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 the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lower neck, but didn’t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have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his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scans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available.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alibri" panose="020F0502020204030204"/>
                <a:cs typeface="Calibri" panose="020F0502020204030204"/>
              </a:rPr>
              <a:t>How </a:t>
            </a:r>
            <a:r>
              <a:rPr sz="2000" b="1" spc="-10" dirty="0">
                <a:latin typeface="Calibri" panose="020F0502020204030204"/>
                <a:cs typeface="Calibri" panose="020F0502020204030204"/>
              </a:rPr>
              <a:t>severe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is the pain: </a:t>
            </a:r>
            <a:r>
              <a:rPr sz="2000" dirty="0">
                <a:latin typeface="Calibri" panose="020F0502020204030204"/>
                <a:cs typeface="Calibri" panose="020F0502020204030204"/>
              </a:rPr>
              <a:t>7/10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at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worst, </a:t>
            </a:r>
            <a:r>
              <a:rPr sz="2000" dirty="0">
                <a:latin typeface="Calibri" panose="020F0502020204030204"/>
                <a:cs typeface="Calibri" panose="020F0502020204030204"/>
              </a:rPr>
              <a:t>2/10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at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best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Calibri" panose="020F0502020204030204"/>
                <a:cs typeface="Calibri" panose="020F0502020204030204"/>
              </a:rPr>
              <a:t>Nature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of pain: </a:t>
            </a:r>
            <a:r>
              <a:rPr sz="2000" dirty="0">
                <a:latin typeface="Calibri" panose="020F0502020204030204"/>
                <a:cs typeface="Calibri" panose="020F0502020204030204"/>
              </a:rPr>
              <a:t>Dull ache,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sometimes gets headaches with dull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ache.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alibri" panose="020F0502020204030204"/>
                <a:cs typeface="Calibri" panose="020F0502020204030204"/>
              </a:rPr>
              <a:t>Irritability: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Comes </a:t>
            </a:r>
            <a:r>
              <a:rPr sz="2000" dirty="0">
                <a:latin typeface="Calibri" panose="020F0502020204030204"/>
                <a:cs typeface="Calibri" panose="020F0502020204030204"/>
              </a:rPr>
              <a:t>on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after </a:t>
            </a:r>
            <a:r>
              <a:rPr sz="2000" dirty="0">
                <a:latin typeface="Calibri" panose="020F0502020204030204"/>
                <a:cs typeface="Calibri" panose="020F0502020204030204"/>
              </a:rPr>
              <a:t>a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few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hours </a:t>
            </a:r>
            <a:r>
              <a:rPr sz="2000" dirty="0">
                <a:latin typeface="Calibri" panose="020F0502020204030204"/>
                <a:cs typeface="Calibri" panose="020F0502020204030204"/>
              </a:rPr>
              <a:t>of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sitting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at </a:t>
            </a:r>
            <a:r>
              <a:rPr sz="2000" dirty="0">
                <a:latin typeface="Calibri" panose="020F0502020204030204"/>
                <a:cs typeface="Calibri" panose="020F0502020204030204"/>
              </a:rPr>
              <a:t>a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desk,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then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doesn’t go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away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alibri" panose="020F0502020204030204"/>
                <a:cs typeface="Calibri" panose="020F0502020204030204"/>
              </a:rPr>
              <a:t>Functional </a:t>
            </a:r>
            <a:r>
              <a:rPr sz="2000" b="1" spc="-5" dirty="0">
                <a:latin typeface="Calibri" panose="020F0502020204030204"/>
                <a:cs typeface="Calibri" panose="020F0502020204030204"/>
              </a:rPr>
              <a:t>Scale (patient</a:t>
            </a:r>
            <a:r>
              <a:rPr sz="2000" b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5" dirty="0">
                <a:latin typeface="Calibri" panose="020F0502020204030204"/>
                <a:cs typeface="Calibri" panose="020F0502020204030204"/>
              </a:rPr>
              <a:t>specific):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927100">
              <a:lnSpc>
                <a:spcPct val="100000"/>
              </a:lnSpc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client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scores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being </a:t>
            </a:r>
            <a:r>
              <a:rPr sz="2000" dirty="0">
                <a:latin typeface="Calibri" panose="020F0502020204030204"/>
                <a:cs typeface="Calibri" panose="020F0502020204030204"/>
              </a:rPr>
              <a:t>able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do desk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work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at </a:t>
            </a:r>
            <a:r>
              <a:rPr sz="2000" dirty="0">
                <a:latin typeface="Calibri" panose="020F0502020204030204"/>
                <a:cs typeface="Calibri" panose="020F0502020204030204"/>
              </a:rPr>
              <a:t>4/10, and gym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train </a:t>
            </a:r>
            <a:r>
              <a:rPr sz="2000" dirty="0">
                <a:latin typeface="Calibri" panose="020F0502020204030204"/>
                <a:cs typeface="Calibri" panose="020F0502020204030204"/>
              </a:rPr>
              <a:t>5/10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5FD8E00-4B4A-68B8-25DE-9D941B803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53400" y="2781300"/>
            <a:ext cx="4038600" cy="4076700"/>
          </a:xfrm>
          <a:custGeom>
            <a:avLst/>
            <a:gdLst/>
            <a:ahLst/>
            <a:cxnLst/>
            <a:rect l="l" t="t" r="r" b="b"/>
            <a:pathLst>
              <a:path w="4038600" h="4076700">
                <a:moveTo>
                  <a:pt x="0" y="4076700"/>
                </a:moveTo>
                <a:lnTo>
                  <a:pt x="4038600" y="4076700"/>
                </a:lnTo>
                <a:lnTo>
                  <a:pt x="4038600" y="0"/>
                </a:lnTo>
                <a:lnTo>
                  <a:pt x="0" y="0"/>
                </a:lnTo>
                <a:lnTo>
                  <a:pt x="0" y="407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01266" y="1077213"/>
            <a:ext cx="9380855" cy="2715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Short Case Study</a:t>
            </a:r>
            <a:r>
              <a:rPr sz="28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(anonymised):</a:t>
            </a:r>
            <a:endParaRPr sz="280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Mr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French </a:t>
            </a:r>
            <a:r>
              <a:rPr sz="2000" dirty="0">
                <a:latin typeface="Calibri" panose="020F0502020204030204"/>
                <a:cs typeface="Calibri" panose="020F0502020204030204"/>
              </a:rPr>
              <a:t>- 60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years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old, </a:t>
            </a:r>
            <a:r>
              <a:rPr sz="2000" dirty="0">
                <a:latin typeface="Calibri" panose="020F0502020204030204"/>
                <a:cs typeface="Calibri" panose="020F0502020204030204"/>
              </a:rPr>
              <a:t>5’10 (178cm), 95kg (15</a:t>
            </a:r>
            <a:r>
              <a:rPr sz="20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stones).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b="1" spc="-15" dirty="0">
                <a:latin typeface="Calibri" panose="020F0502020204030204"/>
                <a:cs typeface="Calibri" panose="020F0502020204030204"/>
              </a:rPr>
              <a:t>Past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Medical </a:t>
            </a:r>
            <a:r>
              <a:rPr sz="2000" b="1" spc="-5" dirty="0">
                <a:latin typeface="Calibri" panose="020F0502020204030204"/>
                <a:cs typeface="Calibri" panose="020F0502020204030204"/>
              </a:rPr>
              <a:t>History: </a:t>
            </a:r>
            <a:r>
              <a:rPr sz="2000" dirty="0">
                <a:latin typeface="Calibri" panose="020F0502020204030204"/>
                <a:cs typeface="Calibri" panose="020F0502020204030204"/>
              </a:rPr>
              <a:t>Nothing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significant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to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this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case.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</a:pPr>
            <a:r>
              <a:rPr sz="2000" b="1" spc="-10" dirty="0">
                <a:latin typeface="Calibri" panose="020F0502020204030204"/>
                <a:cs typeface="Calibri" panose="020F0502020204030204"/>
              </a:rPr>
              <a:t>History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of </a:t>
            </a:r>
            <a:r>
              <a:rPr sz="2000" b="1" spc="-5" dirty="0">
                <a:latin typeface="Calibri" panose="020F0502020204030204"/>
                <a:cs typeface="Calibri" panose="020F0502020204030204"/>
              </a:rPr>
              <a:t>presenting condition: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Has had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these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pains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for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over </a:t>
            </a:r>
            <a:r>
              <a:rPr sz="2000" dirty="0">
                <a:latin typeface="Calibri" panose="020F0502020204030204"/>
                <a:cs typeface="Calibri" panose="020F0502020204030204"/>
              </a:rPr>
              <a:t>10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years, </a:t>
            </a:r>
            <a:r>
              <a:rPr sz="2000" dirty="0">
                <a:latin typeface="Calibri" panose="020F0502020204030204"/>
                <a:cs typeface="Calibri" panose="020F0502020204030204"/>
              </a:rPr>
              <a:t>has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had three 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steroid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injections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in </a:t>
            </a:r>
            <a:r>
              <a:rPr sz="2000" dirty="0">
                <a:latin typeface="Calibri" panose="020F0502020204030204"/>
                <a:cs typeface="Calibri" panose="020F0502020204030204"/>
              </a:rPr>
              <a:t>his upper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back (between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shoulder blades). This </a:t>
            </a:r>
            <a:r>
              <a:rPr sz="2000" dirty="0">
                <a:latin typeface="Calibri" panose="020F0502020204030204"/>
                <a:cs typeface="Calibri" panose="020F0502020204030204"/>
              </a:rPr>
              <a:t>is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affecting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his 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gym 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training.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latin typeface="Calibri" panose="020F0502020204030204"/>
                <a:cs typeface="Calibri" panose="020F0502020204030204"/>
              </a:rPr>
              <a:t>Medication:</a:t>
            </a:r>
            <a:r>
              <a:rPr sz="20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Nil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58600" y="2781300"/>
            <a:ext cx="533400" cy="4076700"/>
          </a:xfrm>
          <a:custGeom>
            <a:avLst/>
            <a:gdLst/>
            <a:ahLst/>
            <a:cxnLst/>
            <a:rect l="l" t="t" r="r" b="b"/>
            <a:pathLst>
              <a:path w="533400" h="4076700">
                <a:moveTo>
                  <a:pt x="0" y="4076700"/>
                </a:moveTo>
                <a:lnTo>
                  <a:pt x="533400" y="4076700"/>
                </a:lnTo>
                <a:lnTo>
                  <a:pt x="533400" y="0"/>
                </a:lnTo>
                <a:lnTo>
                  <a:pt x="0" y="0"/>
                </a:lnTo>
                <a:lnTo>
                  <a:pt x="0" y="407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01266" y="844065"/>
            <a:ext cx="10067290" cy="4230645"/>
          </a:xfrm>
          <a:prstGeom prst="rect">
            <a:avLst/>
          </a:prstGeom>
        </p:spPr>
        <p:txBody>
          <a:bodyPr vert="horz" wrap="square" lIns="0" tIns="245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30"/>
              </a:spcBef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Short Case Study</a:t>
            </a:r>
            <a:r>
              <a:rPr sz="28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(anonymised):</a:t>
            </a:r>
            <a:endParaRPr sz="28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More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information: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Consultant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said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surgery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might help </a:t>
            </a:r>
            <a:r>
              <a:rPr sz="2000" dirty="0">
                <a:latin typeface="Calibri" panose="020F0502020204030204"/>
                <a:cs typeface="Calibri" panose="020F0502020204030204"/>
              </a:rPr>
              <a:t>with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his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symptoms, </a:t>
            </a:r>
            <a:r>
              <a:rPr sz="2000" dirty="0">
                <a:latin typeface="Calibri" panose="020F0502020204030204"/>
                <a:cs typeface="Calibri" panose="020F0502020204030204"/>
              </a:rPr>
              <a:t>but the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risks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of damage </a:t>
            </a:r>
            <a:r>
              <a:rPr sz="2000" dirty="0">
                <a:latin typeface="Calibri" panose="020F0502020204030204"/>
                <a:cs typeface="Calibri" panose="020F0502020204030204"/>
              </a:rPr>
              <a:t>is high,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so</a:t>
            </a:r>
            <a:r>
              <a:rPr sz="200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he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355600">
              <a:lnSpc>
                <a:spcPct val="100000"/>
              </a:lnSpc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doesn’t recommend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surgery.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355600" marR="67310" indent="-342900">
              <a:lnSpc>
                <a:spcPct val="100000"/>
              </a:lnSpc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Has been </a:t>
            </a:r>
            <a:r>
              <a:rPr sz="2000" dirty="0">
                <a:latin typeface="Calibri" panose="020F0502020204030204"/>
                <a:cs typeface="Calibri" panose="020F0502020204030204"/>
              </a:rPr>
              <a:t>gym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training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for </a:t>
            </a:r>
            <a:r>
              <a:rPr sz="2000" dirty="0">
                <a:latin typeface="Calibri" panose="020F0502020204030204"/>
                <a:cs typeface="Calibri" panose="020F0502020204030204"/>
              </a:rPr>
              <a:t>30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years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of his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life (several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times </a:t>
            </a:r>
            <a:r>
              <a:rPr sz="2000" dirty="0">
                <a:latin typeface="Calibri" panose="020F0502020204030204"/>
                <a:cs typeface="Calibri" panose="020F0502020204030204"/>
              </a:rPr>
              <a:t>a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week,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strength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training). Can  bench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press </a:t>
            </a:r>
            <a:r>
              <a:rPr sz="2000" dirty="0">
                <a:latin typeface="Calibri" panose="020F0502020204030204"/>
                <a:cs typeface="Calibri" panose="020F0502020204030204"/>
              </a:rPr>
              <a:t>120kg.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Does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total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body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workouts,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sometimes </a:t>
            </a:r>
            <a:r>
              <a:rPr sz="2000" dirty="0">
                <a:latin typeface="Calibri" panose="020F0502020204030204"/>
                <a:cs typeface="Calibri" panose="020F0502020204030204"/>
              </a:rPr>
              <a:t>struggles with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lat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pull-downs (as he  gets shoulder pain). Has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always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been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heavy </a:t>
            </a:r>
            <a:r>
              <a:rPr sz="2000" dirty="0">
                <a:latin typeface="Calibri" panose="020F0502020204030204"/>
                <a:cs typeface="Calibri" panose="020F0502020204030204"/>
              </a:rPr>
              <a:t>and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strong.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355600" marR="5080" indent="-342900">
              <a:lnSpc>
                <a:spcPct val="100000"/>
              </a:lnSpc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Gym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training </a:t>
            </a:r>
            <a:r>
              <a:rPr sz="2000" dirty="0">
                <a:latin typeface="Calibri" panose="020F0502020204030204"/>
                <a:cs typeface="Calibri" panose="020F0502020204030204"/>
              </a:rPr>
              <a:t>is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really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important to </a:t>
            </a:r>
            <a:r>
              <a:rPr sz="2000" dirty="0">
                <a:latin typeface="Calibri" panose="020F0502020204030204"/>
                <a:cs typeface="Calibri" panose="020F0502020204030204"/>
              </a:rPr>
              <a:t>Mr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French. He has </a:t>
            </a:r>
            <a:r>
              <a:rPr sz="2000" dirty="0">
                <a:latin typeface="Calibri" panose="020F0502020204030204"/>
                <a:cs typeface="Calibri" panose="020F0502020204030204"/>
              </a:rPr>
              <a:t>a gym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at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his house, </a:t>
            </a:r>
            <a:r>
              <a:rPr sz="2000" dirty="0">
                <a:latin typeface="Calibri" panose="020F0502020204030204"/>
                <a:cs typeface="Calibri" panose="020F0502020204030204"/>
              </a:rPr>
              <a:t>but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he has </a:t>
            </a:r>
            <a:r>
              <a:rPr sz="2000" dirty="0">
                <a:latin typeface="Calibri" panose="020F0502020204030204"/>
                <a:cs typeface="Calibri" panose="020F0502020204030204"/>
              </a:rPr>
              <a:t>also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been  training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 the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same </a:t>
            </a:r>
            <a:r>
              <a:rPr sz="2000" dirty="0">
                <a:latin typeface="Calibri" panose="020F0502020204030204"/>
                <a:cs typeface="Calibri" panose="020F0502020204030204"/>
              </a:rPr>
              <a:t>gym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for </a:t>
            </a:r>
            <a:r>
              <a:rPr sz="2000" dirty="0">
                <a:latin typeface="Calibri" panose="020F0502020204030204"/>
                <a:cs typeface="Calibri" panose="020F0502020204030204"/>
              </a:rPr>
              <a:t>15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years+, </a:t>
            </a:r>
            <a:r>
              <a:rPr sz="20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he has </a:t>
            </a:r>
            <a:r>
              <a:rPr sz="2000" dirty="0">
                <a:latin typeface="Calibri" panose="020F0502020204030204"/>
                <a:cs typeface="Calibri" panose="020F0502020204030204"/>
              </a:rPr>
              <a:t>made a lot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of friends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there.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GP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told 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him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to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stop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training.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He </a:t>
            </a:r>
            <a:r>
              <a:rPr sz="2000" dirty="0">
                <a:latin typeface="Calibri" panose="020F0502020204030204"/>
                <a:cs typeface="Calibri" panose="020F0502020204030204"/>
              </a:rPr>
              <a:t>is a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website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designer </a:t>
            </a:r>
            <a:r>
              <a:rPr sz="20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graphic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designer,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his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work </a:t>
            </a:r>
            <a:r>
              <a:rPr sz="2000" dirty="0">
                <a:latin typeface="Calibri" panose="020F0502020204030204"/>
                <a:cs typeface="Calibri" panose="020F0502020204030204"/>
              </a:rPr>
              <a:t>is</a:t>
            </a:r>
            <a:r>
              <a:rPr sz="20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affected.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Sometimes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drinks </a:t>
            </a:r>
            <a:r>
              <a:rPr sz="2000" dirty="0">
                <a:latin typeface="Calibri" panose="020F0502020204030204"/>
                <a:cs typeface="Calibri" panose="020F0502020204030204"/>
              </a:rPr>
              <a:t>wine when the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pain </a:t>
            </a:r>
            <a:r>
              <a:rPr sz="2000" dirty="0">
                <a:latin typeface="Calibri" panose="020F0502020204030204"/>
                <a:cs typeface="Calibri" panose="020F0502020204030204"/>
              </a:rPr>
              <a:t>is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bad.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53400" y="2781300"/>
            <a:ext cx="4038600" cy="4076700"/>
          </a:xfrm>
          <a:custGeom>
            <a:avLst/>
            <a:gdLst/>
            <a:ahLst/>
            <a:cxnLst/>
            <a:rect l="l" t="t" r="r" b="b"/>
            <a:pathLst>
              <a:path w="4038600" h="4076700">
                <a:moveTo>
                  <a:pt x="0" y="4076700"/>
                </a:moveTo>
                <a:lnTo>
                  <a:pt x="4038600" y="4076700"/>
                </a:lnTo>
                <a:lnTo>
                  <a:pt x="4038600" y="0"/>
                </a:lnTo>
                <a:lnTo>
                  <a:pt x="0" y="0"/>
                </a:lnTo>
                <a:lnTo>
                  <a:pt x="0" y="407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305047" y="1255267"/>
            <a:ext cx="61753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Short Case Study (anonymised):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Mr</a:t>
            </a:r>
            <a:r>
              <a:rPr sz="2800" spc="1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French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60849" y="1991969"/>
            <a:ext cx="2212273" cy="4822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53400" y="2781300"/>
            <a:ext cx="4038600" cy="4076700"/>
          </a:xfrm>
          <a:custGeom>
            <a:avLst/>
            <a:gdLst/>
            <a:ahLst/>
            <a:cxnLst/>
            <a:rect l="l" t="t" r="r" b="b"/>
            <a:pathLst>
              <a:path w="4038600" h="4076700">
                <a:moveTo>
                  <a:pt x="0" y="4076700"/>
                </a:moveTo>
                <a:lnTo>
                  <a:pt x="4038600" y="4076700"/>
                </a:lnTo>
                <a:lnTo>
                  <a:pt x="4038600" y="0"/>
                </a:lnTo>
                <a:lnTo>
                  <a:pt x="0" y="0"/>
                </a:lnTo>
                <a:lnTo>
                  <a:pt x="0" y="407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305047" y="1255267"/>
            <a:ext cx="61753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Short Case Study (anonymised):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Mr</a:t>
            </a:r>
            <a:r>
              <a:rPr sz="2800" spc="1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French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1856" y="1245108"/>
            <a:ext cx="2561844" cy="50413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219450" y="2132964"/>
          <a:ext cx="7607299" cy="2966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69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5" dirty="0">
                          <a:latin typeface="Calibri" panose="020F0502020204030204"/>
                          <a:cs typeface="Calibri" panose="020F0502020204030204"/>
                        </a:rPr>
                        <a:t>Factors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 panose="020F0502020204030204"/>
                          <a:cs typeface="Calibri" panose="020F0502020204030204"/>
                        </a:rPr>
                        <a:t>Bio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latin typeface="Calibri" panose="020F0502020204030204"/>
                          <a:cs typeface="Calibri" panose="020F0502020204030204"/>
                        </a:rPr>
                        <a:t>Psych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 panose="020F0502020204030204"/>
                          <a:cs typeface="Calibri" panose="020F0502020204030204"/>
                        </a:rPr>
                        <a:t>Social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5" dirty="0">
                          <a:latin typeface="Calibri" panose="020F0502020204030204"/>
                          <a:cs typeface="Calibri" panose="020F0502020204030204"/>
                        </a:rPr>
                        <a:t>Pain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Work</a:t>
                      </a:r>
                      <a:r>
                        <a:rPr sz="1800" spc="-15" dirty="0">
                          <a:latin typeface="Calibri" panose="020F0502020204030204"/>
                          <a:cs typeface="Calibri" panose="020F0502020204030204"/>
                        </a:rPr>
                        <a:t> (affected)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Gym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 panose="020F0502020204030204"/>
                          <a:cs typeface="Calibri" panose="020F0502020204030204"/>
                        </a:rPr>
                        <a:t>Friends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Alcohol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 panose="020F0502020204030204"/>
                          <a:cs typeface="Calibri" panose="020F0502020204030204"/>
                        </a:rPr>
                        <a:t>Sleep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 panose="020F0502020204030204"/>
                          <a:cs typeface="Calibri" panose="020F0502020204030204"/>
                        </a:rPr>
                        <a:t>Friends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53400" y="2781300"/>
            <a:ext cx="4038600" cy="4076700"/>
          </a:xfrm>
          <a:custGeom>
            <a:avLst/>
            <a:gdLst/>
            <a:ahLst/>
            <a:cxnLst/>
            <a:rect l="l" t="t" r="r" b="b"/>
            <a:pathLst>
              <a:path w="4038600" h="4076700">
                <a:moveTo>
                  <a:pt x="0" y="4076700"/>
                </a:moveTo>
                <a:lnTo>
                  <a:pt x="4038600" y="4076700"/>
                </a:lnTo>
                <a:lnTo>
                  <a:pt x="4038600" y="0"/>
                </a:lnTo>
                <a:lnTo>
                  <a:pt x="0" y="0"/>
                </a:lnTo>
                <a:lnTo>
                  <a:pt x="0" y="407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865357" y="6375298"/>
            <a:ext cx="333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00" b="1" spc="10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9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6375298"/>
            <a:ext cx="1791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Calibri Light" panose="020F0302020204030204"/>
                <a:cs typeface="Calibri Light" panose="020F0302020204030204"/>
              </a:rPr>
              <a:t>2</a:t>
            </a:r>
            <a:r>
              <a:rPr sz="1800" b="0" spc="17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1800" b="0" dirty="0">
                <a:latin typeface="Calibri Light" panose="020F0302020204030204"/>
                <a:cs typeface="Calibri Light" panose="020F0302020204030204"/>
              </a:rPr>
              <a:t>6</a:t>
            </a:r>
            <a:r>
              <a:rPr sz="1800" b="0" spc="180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1800" b="0" dirty="0">
                <a:latin typeface="Calibri Light" panose="020F0302020204030204"/>
                <a:cs typeface="Calibri Light" panose="020F0302020204030204"/>
              </a:rPr>
              <a:t>/</a:t>
            </a:r>
            <a:r>
              <a:rPr sz="1800" b="0" spc="17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1800" b="0" dirty="0">
                <a:latin typeface="Calibri Light" panose="020F0302020204030204"/>
                <a:cs typeface="Calibri Light" panose="020F0302020204030204"/>
              </a:rPr>
              <a:t>0</a:t>
            </a:r>
            <a:r>
              <a:rPr sz="1800" b="0" spc="16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1800" b="0" dirty="0">
                <a:latin typeface="Calibri Light" panose="020F0302020204030204"/>
                <a:cs typeface="Calibri Light" panose="020F0302020204030204"/>
              </a:rPr>
              <a:t>9</a:t>
            </a:r>
            <a:r>
              <a:rPr sz="1800" b="0" spc="16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1800" b="0" dirty="0">
                <a:latin typeface="Calibri Light" panose="020F0302020204030204"/>
                <a:cs typeface="Calibri Light" panose="020F0302020204030204"/>
              </a:rPr>
              <a:t>/</a:t>
            </a:r>
            <a:r>
              <a:rPr sz="1800" b="0" spc="160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1800" b="0" dirty="0">
                <a:latin typeface="Calibri Light" panose="020F0302020204030204"/>
                <a:cs typeface="Calibri Light" panose="020F0302020204030204"/>
              </a:rPr>
              <a:t>2</a:t>
            </a:r>
            <a:r>
              <a:rPr sz="1800" b="0" spc="16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1800" b="0" dirty="0">
                <a:latin typeface="Calibri Light" panose="020F0302020204030204"/>
                <a:cs typeface="Calibri Light" panose="020F0302020204030204"/>
              </a:rPr>
              <a:t>0</a:t>
            </a:r>
            <a:r>
              <a:rPr sz="1800" b="0" spc="16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1800" b="0" dirty="0">
                <a:latin typeface="Calibri Light" panose="020F0302020204030204"/>
                <a:cs typeface="Calibri Light" panose="020F0302020204030204"/>
              </a:rPr>
              <a:t>2</a:t>
            </a:r>
            <a:r>
              <a:rPr sz="1800" b="0" spc="16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1800" b="0" dirty="0">
                <a:latin typeface="Calibri Light" panose="020F0302020204030204"/>
                <a:cs typeface="Calibri Light" panose="020F0302020204030204"/>
              </a:rPr>
              <a:t>2</a:t>
            </a:r>
            <a:endParaRPr sz="180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6038" y="6375298"/>
            <a:ext cx="2362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72540" algn="l"/>
              </a:tabLst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I  R V  I</a:t>
            </a:r>
            <a:r>
              <a:rPr sz="1800" b="1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N</a:t>
            </a:r>
            <a:r>
              <a:rPr sz="1800" b="1" spc="19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D	S I H</a:t>
            </a:r>
            <a:r>
              <a:rPr sz="1800" b="1" spc="-1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O T A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85694" y="1592960"/>
            <a:ext cx="696595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Approach: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12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sessions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over </a:t>
            </a:r>
            <a:r>
              <a:rPr sz="1800" dirty="0">
                <a:latin typeface="Calibri" panose="020F0502020204030204"/>
                <a:cs typeface="Calibri" panose="020F0502020204030204"/>
              </a:rPr>
              <a:t>18</a:t>
            </a:r>
            <a:r>
              <a:rPr sz="1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weeks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Arial" panose="020B0604020202020204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6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in </a:t>
            </a:r>
            <a:r>
              <a:rPr sz="1800" dirty="0">
                <a:latin typeface="Calibri" panose="020F0502020204030204"/>
                <a:cs typeface="Calibri" panose="020F0502020204030204"/>
              </a:rPr>
              <a:t>4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weeks (once+ </a:t>
            </a:r>
            <a:r>
              <a:rPr sz="1800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week)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Arial" panose="020B0604020202020204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4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in </a:t>
            </a:r>
            <a:r>
              <a:rPr sz="1800" dirty="0">
                <a:latin typeface="Calibri" panose="020F0502020204030204"/>
                <a:cs typeface="Calibri" panose="020F0502020204030204"/>
              </a:rPr>
              <a:t>8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weeks (once every other</a:t>
            </a:r>
            <a:r>
              <a:rPr sz="18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week)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Arial" panose="020B0604020202020204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2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in </a:t>
            </a:r>
            <a:r>
              <a:rPr sz="1800" dirty="0">
                <a:latin typeface="Calibri" panose="020F0502020204030204"/>
                <a:cs typeface="Calibri" panose="020F0502020204030204"/>
              </a:rPr>
              <a:t>6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weeks (once every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third</a:t>
            </a:r>
            <a:r>
              <a:rPr sz="18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week)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 panose="020F0502020204030204"/>
                <a:cs typeface="Calibri" panose="020F0502020204030204"/>
              </a:rPr>
              <a:t>Expectations: </a:t>
            </a:r>
            <a:r>
              <a:rPr sz="1800" dirty="0">
                <a:latin typeface="Calibri" panose="020F0502020204030204"/>
                <a:cs typeface="Calibri" panose="020F0502020204030204"/>
              </a:rPr>
              <a:t>It 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may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not be possible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to eliminate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pain, but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we can</a:t>
            </a:r>
            <a:r>
              <a:rPr sz="1800" spc="10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improve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function.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Manual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Therapy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(lots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of it) </a:t>
            </a:r>
            <a:r>
              <a:rPr sz="1800" dirty="0">
                <a:latin typeface="Calibri" panose="020F0502020204030204"/>
                <a:cs typeface="Calibri" panose="020F0502020204030204"/>
              </a:rPr>
              <a:t>-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regain strength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through</a:t>
            </a:r>
            <a:r>
              <a:rPr sz="18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range.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 panose="020F0502020204030204"/>
                <a:cs typeface="Calibri" panose="020F0502020204030204"/>
              </a:rPr>
              <a:t>Supervised gym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5" dirty="0">
                <a:latin typeface="Calibri" panose="020F0502020204030204"/>
                <a:cs typeface="Calibri" panose="020F0502020204030204"/>
              </a:rPr>
              <a:t>session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.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Home </a:t>
            </a:r>
            <a:r>
              <a:rPr sz="1800" b="1" spc="-5" dirty="0">
                <a:latin typeface="Calibri" panose="020F0502020204030204"/>
                <a:cs typeface="Calibri" panose="020F0502020204030204"/>
              </a:rPr>
              <a:t>visit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ergonomic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assessment.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 marR="65405">
              <a:lnSpc>
                <a:spcPct val="100000"/>
              </a:lnSpc>
            </a:pPr>
            <a:r>
              <a:rPr sz="1800" b="1" spc="-5" dirty="0">
                <a:latin typeface="Calibri" panose="020F0502020204030204"/>
                <a:cs typeface="Calibri" panose="020F0502020204030204"/>
              </a:rPr>
              <a:t>Movement analysis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focus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on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strength through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full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range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of movement. 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Activity </a:t>
            </a:r>
            <a:r>
              <a:rPr sz="1800" b="1" spc="-5" dirty="0">
                <a:latin typeface="Calibri" panose="020F0502020204030204"/>
                <a:cs typeface="Calibri" panose="020F0502020204030204"/>
              </a:rPr>
              <a:t>Modification </a:t>
            </a:r>
            <a:r>
              <a:rPr sz="1800" dirty="0">
                <a:latin typeface="Calibri" panose="020F0502020204030204"/>
                <a:cs typeface="Calibri" panose="020F0502020204030204"/>
              </a:rPr>
              <a:t>-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Reducing </a:t>
            </a:r>
            <a:r>
              <a:rPr sz="1800" dirty="0">
                <a:latin typeface="Calibri" panose="020F0502020204030204"/>
                <a:cs typeface="Calibri" panose="020F0502020204030204"/>
              </a:rPr>
              <a:t>number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strength training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sessions, but 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encourage attendance to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 gym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by alternating with swimming </a:t>
            </a:r>
            <a:r>
              <a:rPr sz="1800" dirty="0">
                <a:latin typeface="Calibri" panose="020F0502020204030204"/>
                <a:cs typeface="Calibri" panose="020F0502020204030204"/>
              </a:rPr>
              <a:t>sessions. 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Sleep</a:t>
            </a:r>
            <a:r>
              <a:rPr sz="18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posture.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Discussion </a:t>
            </a:r>
            <a:r>
              <a:rPr sz="1800" dirty="0">
                <a:latin typeface="Calibri" panose="020F0502020204030204"/>
                <a:cs typeface="Calibri" panose="020F0502020204030204"/>
              </a:rPr>
              <a:t>about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alcohol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quality of sleep. </a:t>
            </a:r>
            <a:r>
              <a:rPr sz="1800" dirty="0">
                <a:latin typeface="Calibri" panose="020F0502020204030204"/>
                <a:cs typeface="Calibri" panose="020F0502020204030204"/>
              </a:rPr>
              <a:t>Use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of home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gym.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52627" y="495300"/>
            <a:ext cx="2189988" cy="57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53400" y="2781300"/>
            <a:ext cx="4038600" cy="4076700"/>
          </a:xfrm>
          <a:custGeom>
            <a:avLst/>
            <a:gdLst/>
            <a:ahLst/>
            <a:cxnLst/>
            <a:rect l="l" t="t" r="r" b="b"/>
            <a:pathLst>
              <a:path w="4038600" h="4076700">
                <a:moveTo>
                  <a:pt x="0" y="4076700"/>
                </a:moveTo>
                <a:lnTo>
                  <a:pt x="4038600" y="4076700"/>
                </a:lnTo>
                <a:lnTo>
                  <a:pt x="4038600" y="0"/>
                </a:lnTo>
                <a:lnTo>
                  <a:pt x="0" y="0"/>
                </a:lnTo>
                <a:lnTo>
                  <a:pt x="0" y="407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062227"/>
            <a:ext cx="2743199" cy="50825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0907" y="3989831"/>
            <a:ext cx="2641092" cy="28681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4508" y="178307"/>
            <a:ext cx="2489200" cy="1041400"/>
          </a:xfrm>
          <a:custGeom>
            <a:avLst/>
            <a:gdLst/>
            <a:ahLst/>
            <a:cxnLst/>
            <a:rect l="l" t="t" r="r" b="b"/>
            <a:pathLst>
              <a:path w="2489200" h="1041400">
                <a:moveTo>
                  <a:pt x="0" y="1040892"/>
                </a:moveTo>
                <a:lnTo>
                  <a:pt x="2488692" y="1040892"/>
                </a:lnTo>
                <a:lnTo>
                  <a:pt x="2488692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90800" y="1658109"/>
            <a:ext cx="5359908" cy="51998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17494" y="1204341"/>
            <a:ext cx="8018145" cy="4652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Short Case Study (anonymised):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Mr</a:t>
            </a:r>
            <a:r>
              <a:rPr sz="2800" spc="1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French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700">
              <a:latin typeface="Times New Roman" panose="02020603050405020304"/>
              <a:cs typeface="Times New Roman" panose="02020603050405020304"/>
            </a:endParaRPr>
          </a:p>
          <a:p>
            <a:pPr marL="4889500" marR="179705">
              <a:lnSpc>
                <a:spcPct val="100000"/>
              </a:lnSpc>
            </a:pPr>
            <a:r>
              <a:rPr sz="2400" b="1" dirty="0">
                <a:latin typeface="Calibri" panose="020F0502020204030204"/>
                <a:cs typeface="Calibri" panose="020F0502020204030204"/>
              </a:rPr>
              <a:t>How 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severe 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is </a:t>
            </a:r>
            <a:r>
              <a:rPr sz="2400" b="1" spc="-5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b="1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5" dirty="0">
                <a:latin typeface="Calibri" panose="020F0502020204030204"/>
                <a:cs typeface="Calibri" panose="020F0502020204030204"/>
              </a:rPr>
              <a:t>pain: 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4/10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at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worst,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0/10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at 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best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889500" marR="169545">
              <a:lnSpc>
                <a:spcPct val="100000"/>
              </a:lnSpc>
            </a:pPr>
            <a:r>
              <a:rPr sz="2400" b="1" spc="-5" dirty="0">
                <a:latin typeface="Calibri" panose="020F0502020204030204"/>
                <a:cs typeface="Calibri" panose="020F0502020204030204"/>
              </a:rPr>
              <a:t>Irritability: </a:t>
            </a:r>
            <a:r>
              <a:rPr sz="2400" dirty="0">
                <a:latin typeface="Calibri" panose="020F0502020204030204"/>
                <a:cs typeface="Calibri" panose="020F0502020204030204"/>
              </a:rPr>
              <a:t>No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change</a:t>
            </a:r>
            <a:r>
              <a:rPr sz="24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– 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but he doesn’t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wait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for 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pain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develop.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889500" marR="5080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latin typeface="Calibri" panose="020F0502020204030204"/>
                <a:cs typeface="Calibri" panose="020F0502020204030204"/>
              </a:rPr>
              <a:t>Functional Scale</a:t>
            </a:r>
            <a:r>
              <a:rPr sz="2400" b="1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(patient  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specific):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889500" marR="264795">
              <a:lnSpc>
                <a:spcPct val="100000"/>
              </a:lnSpc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Desk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work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at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9/10,</a:t>
            </a:r>
            <a:r>
              <a:rPr sz="24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 gym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train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9/10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146FFD-9167-343D-1187-8D1C9F7B5675}"/>
              </a:ext>
            </a:extLst>
          </p:cNvPr>
          <p:cNvSpPr txBox="1"/>
          <p:nvPr/>
        </p:nvSpPr>
        <p:spPr>
          <a:xfrm>
            <a:off x="2438400" y="1752600"/>
            <a:ext cx="82296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Contact:</a:t>
            </a:r>
          </a:p>
          <a:p>
            <a:endParaRPr lang="en-GB" sz="2000" b="1" dirty="0"/>
          </a:p>
          <a:p>
            <a:r>
              <a:rPr lang="en-GB" sz="2000" dirty="0"/>
              <a:t>Module Lead: Ngozi Onuegbu PhD</a:t>
            </a:r>
          </a:p>
          <a:p>
            <a:endParaRPr lang="en-GB" sz="2000" dirty="0"/>
          </a:p>
          <a:p>
            <a:r>
              <a:rPr lang="en-GB" sz="2000" dirty="0"/>
              <a:t>Email: </a:t>
            </a:r>
            <a:r>
              <a:rPr lang="en-GB" sz="2000" dirty="0">
                <a:hlinkClick r:id="rId2"/>
              </a:rPr>
              <a:t>n.onuegbu@londonmet.ac.uk</a:t>
            </a:r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6913987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149EA-FC38-2D9D-4823-F345175E8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1763" y="481075"/>
            <a:ext cx="8829192" cy="430887"/>
          </a:xfrm>
        </p:spPr>
        <p:txBody>
          <a:bodyPr>
            <a:normAutofit fontScale="90000"/>
          </a:bodyPr>
          <a:lstStyle/>
          <a:p>
            <a:r>
              <a:rPr lang="en-GB" dirty="0"/>
              <a:t>References</a:t>
            </a:r>
          </a:p>
        </p:txBody>
      </p:sp>
      <p:sp>
        <p:nvSpPr>
          <p:cNvPr id="4" name="object 13">
            <a:extLst>
              <a:ext uri="{FF2B5EF4-FFF2-40B4-BE49-F238E27FC236}">
                <a16:creationId xmlns:a16="http://schemas.microsoft.com/office/drawing/2014/main" id="{6227B7E7-EA86-1EF5-C6AC-F86103695D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7452" y="994299"/>
            <a:ext cx="11718525" cy="59787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763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/>
              <a:t>Borrell-Carrió, </a:t>
            </a:r>
            <a:r>
              <a:rPr sz="1800" spc="-60" dirty="0"/>
              <a:t>F., </a:t>
            </a:r>
            <a:r>
              <a:rPr sz="1800" spc="-5" dirty="0"/>
              <a:t>Suchman, </a:t>
            </a:r>
            <a:r>
              <a:rPr sz="1800" spc="5" dirty="0"/>
              <a:t>A. </a:t>
            </a:r>
            <a:r>
              <a:rPr sz="1800" spc="-5" dirty="0"/>
              <a:t>L., </a:t>
            </a:r>
            <a:r>
              <a:rPr sz="1800" dirty="0"/>
              <a:t>&amp; </a:t>
            </a:r>
            <a:r>
              <a:rPr sz="1800" spc="-10" dirty="0"/>
              <a:t>Epstein, </a:t>
            </a:r>
            <a:r>
              <a:rPr sz="1800" dirty="0"/>
              <a:t>R. M. </a:t>
            </a:r>
            <a:r>
              <a:rPr sz="1800" spc="-5" dirty="0"/>
              <a:t>(2004). The </a:t>
            </a:r>
            <a:r>
              <a:rPr sz="1800" spc="-10" dirty="0"/>
              <a:t>biopsychosocial </a:t>
            </a:r>
            <a:r>
              <a:rPr sz="1800" dirty="0"/>
              <a:t>model 25  </a:t>
            </a:r>
            <a:r>
              <a:rPr sz="1800" spc="-15" dirty="0"/>
              <a:t>years </a:t>
            </a:r>
            <a:r>
              <a:rPr sz="1800" spc="-10" dirty="0"/>
              <a:t>later: principles, practice, </a:t>
            </a:r>
            <a:r>
              <a:rPr sz="1800" dirty="0"/>
              <a:t>and </a:t>
            </a:r>
            <a:r>
              <a:rPr sz="1800" spc="-5" dirty="0"/>
              <a:t>scientific </a:t>
            </a:r>
            <a:r>
              <a:rPr sz="1800" spc="-20" dirty="0"/>
              <a:t>inquiry. </a:t>
            </a:r>
            <a:r>
              <a:rPr sz="1800" spc="-5" dirty="0"/>
              <a:t>The </a:t>
            </a:r>
            <a:r>
              <a:rPr sz="1800" dirty="0"/>
              <a:t>Annals </a:t>
            </a:r>
            <a:r>
              <a:rPr sz="1800" spc="-5" dirty="0"/>
              <a:t>of </a:t>
            </a:r>
            <a:r>
              <a:rPr sz="1800" spc="-10" dirty="0"/>
              <a:t>Family </a:t>
            </a:r>
            <a:r>
              <a:rPr sz="1800" spc="-5" dirty="0"/>
              <a:t>Medicine, 2(6),  576-582.</a:t>
            </a:r>
          </a:p>
          <a:p>
            <a:pPr marL="1357630">
              <a:lnSpc>
                <a:spcPct val="100000"/>
              </a:lnSpc>
            </a:pPr>
            <a:r>
              <a:rPr sz="1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2"/>
              </a:rPr>
              <a:t>https://www.annfammed.org/content/annalsfm/2/6/576.full.pdf</a:t>
            </a:r>
            <a:endParaRPr sz="1800" u="heavy" spc="-10" dirty="0">
              <a:solidFill>
                <a:srgbClr val="0462C1"/>
              </a:solidFill>
              <a:uFill>
                <a:solidFill>
                  <a:srgbClr val="0462C1"/>
                </a:solidFill>
              </a:uFill>
            </a:endParaRPr>
          </a:p>
          <a:p>
            <a:pPr marL="1344930">
              <a:lnSpc>
                <a:spcPct val="100000"/>
              </a:lnSpc>
              <a:spcBef>
                <a:spcPts val="10"/>
              </a:spcBef>
            </a:pPr>
            <a:endParaRPr lang="en-GB" sz="1400" dirty="0">
              <a:latin typeface="Times New Roman" panose="02020603050405020304"/>
              <a:cs typeface="Times New Roman" panose="02020603050405020304"/>
            </a:endParaRPr>
          </a:p>
          <a:p>
            <a:pPr marL="1357630" rtl="0">
              <a:lnSpc>
                <a:spcPct val="100000"/>
              </a:lnSpc>
            </a:pPr>
            <a:r>
              <a:rPr lang="en-GB" sz="1800" spc="-5" dirty="0">
                <a:latin typeface="Calibri" panose="020F0502020204030204"/>
                <a:cs typeface="Calibri" panose="020F0502020204030204"/>
              </a:rPr>
              <a:t>Porter S. (2017). Psychologically Informed Physiotherapy: Embedding Psychological Perspectives within clinical management. Elsevier. London</a:t>
            </a:r>
          </a:p>
          <a:p>
            <a:pPr marL="1357630" rtl="0">
              <a:lnSpc>
                <a:spcPct val="100000"/>
              </a:lnSpc>
            </a:pPr>
            <a:endParaRPr lang="en-GB" sz="1800" spc="-5" dirty="0"/>
          </a:p>
          <a:p>
            <a:pPr marL="1357630" rtl="0">
              <a:lnSpc>
                <a:spcPct val="100000"/>
              </a:lnSpc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Engel, G. L. </a:t>
            </a:r>
            <a:r>
              <a:rPr sz="1800" dirty="0">
                <a:latin typeface="Calibri" panose="020F0502020204030204"/>
                <a:cs typeface="Calibri" panose="020F0502020204030204"/>
              </a:rPr>
              <a:t>(1977).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The </a:t>
            </a:r>
            <a:r>
              <a:rPr sz="1800" dirty="0">
                <a:latin typeface="Calibri" panose="020F0502020204030204"/>
                <a:cs typeface="Calibri" panose="020F0502020204030204"/>
              </a:rPr>
              <a:t>need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for </a:t>
            </a:r>
            <a:r>
              <a:rPr sz="1800" dirty="0">
                <a:latin typeface="Calibri" panose="020F0502020204030204"/>
                <a:cs typeface="Calibri" panose="020F0502020204030204"/>
              </a:rPr>
              <a:t>a new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medical model: </a:t>
            </a:r>
            <a:r>
              <a:rPr sz="1800" dirty="0">
                <a:latin typeface="Calibri" panose="020F0502020204030204"/>
                <a:cs typeface="Calibri" panose="020F0502020204030204"/>
              </a:rPr>
              <a:t>a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challenge</a:t>
            </a:r>
            <a:r>
              <a:rPr sz="1800" spc="-1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for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biomedicine. Science, </a:t>
            </a:r>
            <a:r>
              <a:rPr sz="1800" dirty="0">
                <a:latin typeface="Calibri" panose="020F0502020204030204"/>
                <a:cs typeface="Calibri" panose="020F0502020204030204"/>
              </a:rPr>
              <a:t>196(4286),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129-136.</a:t>
            </a:r>
            <a:endParaRPr lang="en-GB" sz="1800" spc="-5" dirty="0">
              <a:latin typeface="Calibri" panose="020F0502020204030204"/>
              <a:cs typeface="Calibri" panose="020F0502020204030204"/>
            </a:endParaRPr>
          </a:p>
          <a:p>
            <a:pPr marL="1357630" rtl="0">
              <a:lnSpc>
                <a:spcPct val="100000"/>
              </a:lnSpc>
            </a:pPr>
            <a:r>
              <a:rPr lang="en-GB" sz="1800" spc="-5" dirty="0">
                <a:latin typeface="Calibri" panose="020F0502020204030204"/>
                <a:cs typeface="Calibri" panose="020F0502020204030204"/>
              </a:rPr>
              <a:t>Minuchin, S., Rosman, B.L. &amp; Baker, L., 1978. Psychosomatic Families: Anorexia Nervosa in Context. Cambridge, MA: Harvard University Press.</a:t>
            </a:r>
          </a:p>
          <a:p>
            <a:pPr marL="1357630" rtl="0">
              <a:lnSpc>
                <a:spcPct val="100000"/>
              </a:lnSpc>
            </a:pPr>
            <a:r>
              <a:rPr lang="en-GB" sz="1800" spc="-5" dirty="0">
                <a:latin typeface="Calibri" panose="020F0502020204030204"/>
                <a:cs typeface="Calibri" panose="020F0502020204030204"/>
              </a:rPr>
              <a:t>Kiel, L.D. &amp; Elliott, E., eds., 1996. Chaos Theory in the Social Sciences: Foundations and Applications. Ann Arbor, MI: University of Michigan Press.</a:t>
            </a:r>
          </a:p>
          <a:p>
            <a:pPr marL="1357630" rtl="0">
              <a:lnSpc>
                <a:spcPct val="100000"/>
              </a:lnSpc>
            </a:pPr>
            <a:r>
              <a:rPr lang="en-GB" sz="1800" spc="-5" dirty="0">
                <a:latin typeface="Calibri" panose="020F0502020204030204"/>
                <a:cs typeface="Calibri" panose="020F0502020204030204"/>
              </a:rPr>
              <a:t>von </a:t>
            </a:r>
            <a:r>
              <a:rPr lang="en-GB" sz="1800" spc="-5" dirty="0" err="1">
                <a:latin typeface="Calibri" panose="020F0502020204030204"/>
                <a:cs typeface="Calibri" panose="020F0502020204030204"/>
              </a:rPr>
              <a:t>Bertalanffy</a:t>
            </a:r>
            <a:r>
              <a:rPr lang="en-GB" sz="1800" spc="-5" dirty="0">
                <a:latin typeface="Calibri" panose="020F0502020204030204"/>
                <a:cs typeface="Calibri" panose="020F0502020204030204"/>
              </a:rPr>
              <a:t>, L., 1975. Perspectives on General System Theory: Scientific-Philosophical Studies. New York, NY: George </a:t>
            </a:r>
            <a:r>
              <a:rPr lang="en-GB" sz="1800" spc="-5" dirty="0" err="1">
                <a:latin typeface="Calibri" panose="020F0502020204030204"/>
                <a:cs typeface="Calibri" panose="020F0502020204030204"/>
              </a:rPr>
              <a:t>Braziller</a:t>
            </a:r>
            <a:r>
              <a:rPr lang="en-GB" sz="1800" spc="-5" dirty="0">
                <a:latin typeface="Calibri" panose="020F0502020204030204"/>
                <a:cs typeface="Calibri" panose="020F0502020204030204"/>
              </a:rPr>
              <a:t>, Inc.</a:t>
            </a:r>
          </a:p>
          <a:p>
            <a:pPr marL="1129030" marR="1276350" indent="0">
              <a:lnSpc>
                <a:spcPct val="135000"/>
              </a:lnSpc>
              <a:buNone/>
            </a:pPr>
            <a:endParaRPr lang="en-GB" sz="1800" u="heavy" spc="-10" dirty="0">
              <a:solidFill>
                <a:srgbClr val="0462C1"/>
              </a:solidFill>
              <a:uFill>
                <a:solidFill>
                  <a:srgbClr val="0462C1"/>
                </a:solidFill>
              </a:uFill>
              <a:hlinkClick r:id="rId3"/>
            </a:endParaRPr>
          </a:p>
          <a:p>
            <a:pPr marL="1357630" marR="1276350">
              <a:lnSpc>
                <a:spcPct val="135000"/>
              </a:lnSpc>
            </a:pPr>
            <a:endParaRPr sz="1800" u="heavy" spc="-10" dirty="0">
              <a:solidFill>
                <a:srgbClr val="0462C1"/>
              </a:solidFill>
              <a:uFill>
                <a:solidFill>
                  <a:srgbClr val="0462C1"/>
                </a:solidFill>
              </a:uFill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1285438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2589</Words>
  <Application>Microsoft Office PowerPoint</Application>
  <PresentationFormat>Widescreen</PresentationFormat>
  <Paragraphs>353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Aptos</vt:lpstr>
      <vt:lpstr>Aptos Display</vt:lpstr>
      <vt:lpstr>Arial</vt:lpstr>
      <vt:lpstr>Arial</vt:lpstr>
      <vt:lpstr>Arial Black</vt:lpstr>
      <vt:lpstr>Calibri</vt:lpstr>
      <vt:lpstr>Calibri Light</vt:lpstr>
      <vt:lpstr>Times New Roman</vt:lpstr>
      <vt:lpstr>Wingdings</vt:lpstr>
      <vt:lpstr>WordVisi_MSFontService</vt:lpstr>
      <vt:lpstr>Office Theme</vt:lpstr>
      <vt:lpstr>INTRODUCTION TO  THE MODULE AND THE  BIOPSYCHOSOCIAL  MODEL</vt:lpstr>
      <vt:lpstr>Applied Sciences for Physiotherapy Practice</vt:lpstr>
      <vt:lpstr>Module Content</vt:lpstr>
      <vt:lpstr>Objectives</vt:lpstr>
      <vt:lpstr>How will the Module be delivered?</vt:lpstr>
      <vt:lpstr>How will you be assessed?</vt:lpstr>
      <vt:lpstr>Important Study Tips</vt:lpstr>
      <vt:lpstr>Biopsychosocial Model</vt:lpstr>
      <vt:lpstr>Biopsychosocial model</vt:lpstr>
      <vt:lpstr>PowerPoint Presentation</vt:lpstr>
      <vt:lpstr>Biopsychosocial model</vt:lpstr>
      <vt:lpstr>Need for a Paradigm Shift</vt:lpstr>
      <vt:lpstr>25 Years Later: Principles, Practice and Scientific Ebquiry</vt:lpstr>
      <vt:lpstr>Biopsychosocial model</vt:lpstr>
      <vt:lpstr>Let’s talk about Pain as a medical condition!</vt:lpstr>
      <vt:lpstr>PowerPoint Presentation</vt:lpstr>
      <vt:lpstr>PowerPoint Presentation</vt:lpstr>
      <vt:lpstr>PowerPoint Presentation</vt:lpstr>
      <vt:lpstr>A new model?</vt:lpstr>
      <vt:lpstr>Biopsychosocial model</vt:lpstr>
      <vt:lpstr>Determinants of Health</vt:lpstr>
      <vt:lpstr>How does this fit into the module aim?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does this fit into the module aim?</vt:lpstr>
      <vt:lpstr>A Case of 2 Rotator Cuffs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>London Metropolitan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Ngozi Onuegbu</dc:creator>
  <cp:lastModifiedBy>Ngozi Onuegbu</cp:lastModifiedBy>
  <cp:revision>1</cp:revision>
  <dcterms:created xsi:type="dcterms:W3CDTF">2024-09-12T12:05:27Z</dcterms:created>
  <dcterms:modified xsi:type="dcterms:W3CDTF">2024-09-12T13:14:34Z</dcterms:modified>
</cp:coreProperties>
</file>