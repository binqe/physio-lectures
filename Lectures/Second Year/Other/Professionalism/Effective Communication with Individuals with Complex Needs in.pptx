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603" r:id="rId2"/>
    <p:sldId id="2562" r:id="rId3"/>
    <p:sldId id="2564" r:id="rId4"/>
    <p:sldId id="2565" r:id="rId5"/>
    <p:sldId id="2566" r:id="rId6"/>
    <p:sldId id="2568" r:id="rId7"/>
    <p:sldId id="2569" r:id="rId8"/>
    <p:sldId id="2570" r:id="rId9"/>
    <p:sldId id="2572" r:id="rId10"/>
    <p:sldId id="2573" r:id="rId11"/>
    <p:sldId id="2574" r:id="rId12"/>
    <p:sldId id="2576" r:id="rId13"/>
    <p:sldId id="2577" r:id="rId14"/>
    <p:sldId id="2578" r:id="rId15"/>
    <p:sldId id="2580" r:id="rId16"/>
    <p:sldId id="2581" r:id="rId17"/>
    <p:sldId id="2582" r:id="rId18"/>
    <p:sldId id="2584" r:id="rId19"/>
    <p:sldId id="2585" r:id="rId20"/>
    <p:sldId id="2586" r:id="rId21"/>
    <p:sldId id="2588" r:id="rId22"/>
    <p:sldId id="2589" r:id="rId23"/>
    <p:sldId id="2590" r:id="rId24"/>
    <p:sldId id="2592" r:id="rId25"/>
    <p:sldId id="2593" r:id="rId26"/>
    <p:sldId id="2594" r:id="rId27"/>
    <p:sldId id="2596" r:id="rId28"/>
    <p:sldId id="2597" r:id="rId29"/>
    <p:sldId id="2598" r:id="rId30"/>
    <p:sldId id="2600" r:id="rId31"/>
    <p:sldId id="2601" r:id="rId32"/>
    <p:sldId id="2602" r:id="rId33"/>
    <p:sldId id="260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10" autoAdjust="0"/>
  </p:normalViewPr>
  <p:slideViewPr>
    <p:cSldViewPr snapToGrid="0">
      <p:cViewPr varScale="1">
        <p:scale>
          <a:sx n="54" d="100"/>
          <a:sy n="54" d="100"/>
        </p:scale>
        <p:origin x="114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3E99BE-F651-4E72-AE00-4D689F62BF65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5D314694-B98D-4A46-BD9D-09C3D8F196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Assessing Communication Needs</a:t>
          </a:r>
        </a:p>
      </dgm:t>
    </dgm:pt>
    <dgm:pt modelId="{2D506EF7-F7D0-41FD-ABE4-FD595950BC66}" type="parTrans" cxnId="{50B34910-E5DF-481B-9C22-96E6DE61360A}">
      <dgm:prSet/>
      <dgm:spPr/>
      <dgm:t>
        <a:bodyPr/>
        <a:lstStyle/>
        <a:p>
          <a:endParaRPr lang="en-GB"/>
        </a:p>
      </dgm:t>
    </dgm:pt>
    <dgm:pt modelId="{A2431B3E-51A9-408E-A98D-C1B0C4FCC269}" type="sibTrans" cxnId="{50B34910-E5DF-481B-9C22-96E6DE61360A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GB"/>
        </a:p>
      </dgm:t>
    </dgm:pt>
    <dgm:pt modelId="{333A61B1-AA1E-433E-A82F-26DA5BE23F3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Identify the requirements and constraints of the situation to determine the best communication method.</a:t>
          </a:r>
        </a:p>
      </dgm:t>
    </dgm:pt>
    <dgm:pt modelId="{E33B9410-1144-4938-93AB-9F3923CD182F}" type="parTrans" cxnId="{8FC036E6-2DC1-4121-A253-505808E140E8}">
      <dgm:prSet/>
      <dgm:spPr/>
      <dgm:t>
        <a:bodyPr/>
        <a:lstStyle/>
        <a:p>
          <a:endParaRPr lang="en-GB"/>
        </a:p>
      </dgm:t>
    </dgm:pt>
    <dgm:pt modelId="{3424DCFA-76FC-4397-B15B-53D0651582CC}" type="sibTrans" cxnId="{8FC036E6-2DC1-4121-A253-505808E140E8}">
      <dgm:prSet/>
      <dgm:spPr/>
      <dgm:t>
        <a:bodyPr/>
        <a:lstStyle/>
        <a:p>
          <a:endParaRPr lang="en-GB"/>
        </a:p>
      </dgm:t>
    </dgm:pt>
    <dgm:pt modelId="{36E18E8A-032A-4AB6-9795-06C1EC3CB91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Choosing Communication Methods</a:t>
          </a:r>
        </a:p>
      </dgm:t>
    </dgm:pt>
    <dgm:pt modelId="{97860024-F408-41C8-9180-828864447DCD}" type="parTrans" cxnId="{9AA36487-1279-4B5D-AAAC-2FCCCD1ECB80}">
      <dgm:prSet/>
      <dgm:spPr/>
      <dgm:t>
        <a:bodyPr/>
        <a:lstStyle/>
        <a:p>
          <a:endParaRPr lang="en-GB"/>
        </a:p>
      </dgm:t>
    </dgm:pt>
    <dgm:pt modelId="{B5ACDDCB-2557-47CE-BB53-A661A8F6906C}" type="sibTrans" cxnId="{9AA36487-1279-4B5D-AAAC-2FCCCD1ECB8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GB"/>
        </a:p>
      </dgm:t>
    </dgm:pt>
    <dgm:pt modelId="{2AE13C36-D6A2-40E2-8710-4496EB245E6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Select communication approaches that fit the complexity and audience of the case.</a:t>
          </a:r>
        </a:p>
      </dgm:t>
    </dgm:pt>
    <dgm:pt modelId="{35DDD6EE-4C15-4C6C-8363-FC401EE11B7E}" type="parTrans" cxnId="{BC4D1220-114E-4C7E-B161-78DF8D7CCFDD}">
      <dgm:prSet/>
      <dgm:spPr/>
      <dgm:t>
        <a:bodyPr/>
        <a:lstStyle/>
        <a:p>
          <a:endParaRPr lang="en-GB"/>
        </a:p>
      </dgm:t>
    </dgm:pt>
    <dgm:pt modelId="{BF8CECC1-E216-4C24-8C50-55E936F455F8}" type="sibTrans" cxnId="{BC4D1220-114E-4C7E-B161-78DF8D7CCFDD}">
      <dgm:prSet/>
      <dgm:spPr/>
      <dgm:t>
        <a:bodyPr/>
        <a:lstStyle/>
        <a:p>
          <a:endParaRPr lang="en-GB"/>
        </a:p>
      </dgm:t>
    </dgm:pt>
    <dgm:pt modelId="{E1466E2F-A2CA-4997-8A19-A9A74B71680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Justifying Communication Choices</a:t>
          </a:r>
        </a:p>
      </dgm:t>
    </dgm:pt>
    <dgm:pt modelId="{339F9563-7B1A-46DC-9B15-11C3A0246571}" type="parTrans" cxnId="{590A4249-1F21-4615-97E2-B2C20A2C68F3}">
      <dgm:prSet/>
      <dgm:spPr/>
      <dgm:t>
        <a:bodyPr/>
        <a:lstStyle/>
        <a:p>
          <a:endParaRPr lang="en-GB"/>
        </a:p>
      </dgm:t>
    </dgm:pt>
    <dgm:pt modelId="{160CA0D0-7866-4C63-9896-096BF9B01354}" type="sibTrans" cxnId="{590A4249-1F21-4615-97E2-B2C20A2C68F3}">
      <dgm:prSet/>
      <dgm:spPr/>
      <dgm:t>
        <a:bodyPr/>
        <a:lstStyle/>
        <a:p>
          <a:endParaRPr lang="en-GB"/>
        </a:p>
      </dgm:t>
    </dgm:pt>
    <dgm:pt modelId="{D5237CF4-C6B9-4CF0-8A7F-41D3D4B977C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Provide clear reasons explaining why selected methods are appropriate for effective information exchange.</a:t>
          </a:r>
        </a:p>
      </dgm:t>
    </dgm:pt>
    <dgm:pt modelId="{309D200A-B5E9-4062-9F62-500EF2493B50}" type="parTrans" cxnId="{4D8ED62D-7EE9-4341-934E-5DDB3A15E639}">
      <dgm:prSet/>
      <dgm:spPr/>
      <dgm:t>
        <a:bodyPr/>
        <a:lstStyle/>
        <a:p>
          <a:endParaRPr lang="en-GB"/>
        </a:p>
      </dgm:t>
    </dgm:pt>
    <dgm:pt modelId="{10C129DF-D77C-44B9-A20D-33FE0D3E853E}" type="sibTrans" cxnId="{4D8ED62D-7EE9-4341-934E-5DDB3A15E639}">
      <dgm:prSet/>
      <dgm:spPr/>
      <dgm:t>
        <a:bodyPr/>
        <a:lstStyle/>
        <a:p>
          <a:endParaRPr lang="en-GB"/>
        </a:p>
      </dgm:t>
    </dgm:pt>
    <dgm:pt modelId="{F7F90A50-29AE-43B5-ADD0-85A15B9D4607}" type="pres">
      <dgm:prSet presAssocID="{513E99BE-F651-4E72-AE00-4D689F62BF65}" presName="Root" presStyleCnt="0">
        <dgm:presLayoutVars>
          <dgm:dir/>
          <dgm:resizeHandles val="exact"/>
        </dgm:presLayoutVars>
      </dgm:prSet>
      <dgm:spPr/>
    </dgm:pt>
    <dgm:pt modelId="{B8AFBE70-E94A-4096-A55E-0DEE96D25897}" type="pres">
      <dgm:prSet presAssocID="{5D314694-B98D-4A46-BD9D-09C3D8F196BC}" presName="Composite" presStyleCnt="0"/>
      <dgm:spPr/>
    </dgm:pt>
    <dgm:pt modelId="{948A6118-4B13-45A2-9C97-41EEA429F6F9}" type="pres">
      <dgm:prSet presAssocID="{5D314694-B98D-4A46-BD9D-09C3D8F196BC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4" r="2115" b="-2"/>
          <a:stretch/>
        </a:blipFill>
      </dgm:spPr>
      <dgm:extLst>
        <a:ext uri="{E40237B7-FDA0-4F09-8148-C483321AD2D9}">
          <dgm14:cNvPr xmlns:dgm14="http://schemas.microsoft.com/office/drawing/2010/diagram" id="0" name="" descr="Young businessman examining stats at the office"/>
        </a:ext>
      </dgm:extLst>
    </dgm:pt>
    <dgm:pt modelId="{86290AFD-B0E1-4B8F-B063-420A4E40E48D}" type="pres">
      <dgm:prSet presAssocID="{5D314694-B98D-4A46-BD9D-09C3D8F196BC}" presName="Subtitle" presStyleLbl="revTx" presStyleIdx="0" presStyleCnt="6">
        <dgm:presLayoutVars>
          <dgm:chMax val="0"/>
          <dgm:bulletEnabled/>
        </dgm:presLayoutVars>
      </dgm:prSet>
      <dgm:spPr/>
    </dgm:pt>
    <dgm:pt modelId="{724B940B-D9B4-461A-B98D-126F6F1B27C6}" type="pres">
      <dgm:prSet presAssocID="{5D314694-B98D-4A46-BD9D-09C3D8F196BC}" presName="Description" presStyleLbl="revTx" presStyleIdx="1" presStyleCnt="6">
        <dgm:presLayoutVars>
          <dgm:bulletEnabled/>
        </dgm:presLayoutVars>
      </dgm:prSet>
      <dgm:spPr/>
    </dgm:pt>
    <dgm:pt modelId="{E0F6A3DC-F976-41ED-B265-C6E6DA26E062}" type="pres">
      <dgm:prSet presAssocID="{A2431B3E-51A9-408E-A98D-C1B0C4FCC269}" presName="sibTrans" presStyleLbl="sibTrans2D1" presStyleIdx="0" presStyleCnt="0"/>
      <dgm:spPr/>
    </dgm:pt>
    <dgm:pt modelId="{7DBF34A6-65B5-49A7-A606-4ABE1E8DF3DA}" type="pres">
      <dgm:prSet presAssocID="{36E18E8A-032A-4AB6-9795-06C1EC3CB91A}" presName="Composite" presStyleCnt="0"/>
      <dgm:spPr/>
    </dgm:pt>
    <dgm:pt modelId="{13AFE486-C730-4D65-8E3A-0F417791D4C3}" type="pres">
      <dgm:prSet presAssocID="{36E18E8A-032A-4AB6-9795-06C1EC3CB91A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6" r="22736" b="3"/>
          <a:stretch/>
        </a:blipFill>
      </dgm:spPr>
      <dgm:extLst>
        <a:ext uri="{E40237B7-FDA0-4F09-8148-C483321AD2D9}">
          <dgm14:cNvPr xmlns:dgm14="http://schemas.microsoft.com/office/drawing/2010/diagram" id="0" name="" descr="White speech bubble shaped post it notes with communication symbols on red background.  Horizontal composition with copy space."/>
        </a:ext>
      </dgm:extLst>
    </dgm:pt>
    <dgm:pt modelId="{3366D019-5A70-4D28-93F8-FFF874D1395E}" type="pres">
      <dgm:prSet presAssocID="{36E18E8A-032A-4AB6-9795-06C1EC3CB91A}" presName="Subtitle" presStyleLbl="revTx" presStyleIdx="2" presStyleCnt="6">
        <dgm:presLayoutVars>
          <dgm:chMax val="0"/>
          <dgm:bulletEnabled/>
        </dgm:presLayoutVars>
      </dgm:prSet>
      <dgm:spPr/>
    </dgm:pt>
    <dgm:pt modelId="{15C0D461-EEE0-407F-9B8A-1CE7C93F2D32}" type="pres">
      <dgm:prSet presAssocID="{36E18E8A-032A-4AB6-9795-06C1EC3CB91A}" presName="Description" presStyleLbl="revTx" presStyleIdx="3" presStyleCnt="6">
        <dgm:presLayoutVars>
          <dgm:bulletEnabled/>
        </dgm:presLayoutVars>
      </dgm:prSet>
      <dgm:spPr/>
    </dgm:pt>
    <dgm:pt modelId="{C5E9AF7A-DDCD-407C-B672-2881C7923B5B}" type="pres">
      <dgm:prSet presAssocID="{B5ACDDCB-2557-47CE-BB53-A661A8F6906C}" presName="sibTrans" presStyleLbl="sibTrans2D1" presStyleIdx="0" presStyleCnt="0"/>
      <dgm:spPr/>
    </dgm:pt>
    <dgm:pt modelId="{8DD2E51B-058B-4BEA-A5B2-4684276AFDA3}" type="pres">
      <dgm:prSet presAssocID="{E1466E2F-A2CA-4997-8A19-A9A74B716803}" presName="Composite" presStyleCnt="0"/>
      <dgm:spPr/>
    </dgm:pt>
    <dgm:pt modelId="{F867DCFD-FF2C-41A4-8B78-9D1E2EA06B36}" type="pres">
      <dgm:prSet presAssocID="{E1466E2F-A2CA-4997-8A19-A9A74B716803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2" r="-5" b="-4"/>
          <a:stretch/>
        </a:blipFill>
      </dgm:spPr>
      <dgm:extLst>
        <a:ext uri="{E40237B7-FDA0-4F09-8148-C483321AD2D9}">
          <dgm14:cNvPr xmlns:dgm14="http://schemas.microsoft.com/office/drawing/2010/diagram" id="0" name="" descr="Shot of a pregnant businesswoman using a whiteboard while giving a presentation in an office"/>
        </a:ext>
      </dgm:extLst>
    </dgm:pt>
    <dgm:pt modelId="{0EB8AE16-7F6A-426C-9D56-961753976E2F}" type="pres">
      <dgm:prSet presAssocID="{E1466E2F-A2CA-4997-8A19-A9A74B716803}" presName="Subtitle" presStyleLbl="revTx" presStyleIdx="4" presStyleCnt="6">
        <dgm:presLayoutVars>
          <dgm:chMax val="0"/>
          <dgm:bulletEnabled/>
        </dgm:presLayoutVars>
      </dgm:prSet>
      <dgm:spPr/>
    </dgm:pt>
    <dgm:pt modelId="{37B25460-8701-44DC-B0F2-A1F3987F8F16}" type="pres">
      <dgm:prSet presAssocID="{E1466E2F-A2CA-4997-8A19-A9A74B716803}" presName="Description" presStyleLbl="revTx" presStyleIdx="5" presStyleCnt="6">
        <dgm:presLayoutVars>
          <dgm:bulletEnabled/>
        </dgm:presLayoutVars>
      </dgm:prSet>
      <dgm:spPr/>
    </dgm:pt>
  </dgm:ptLst>
  <dgm:cxnLst>
    <dgm:cxn modelId="{50B34910-E5DF-481B-9C22-96E6DE61360A}" srcId="{513E99BE-F651-4E72-AE00-4D689F62BF65}" destId="{5D314694-B98D-4A46-BD9D-09C3D8F196BC}" srcOrd="0" destOrd="0" parTransId="{2D506EF7-F7D0-41FD-ABE4-FD595950BC66}" sibTransId="{A2431B3E-51A9-408E-A98D-C1B0C4FCC269}"/>
    <dgm:cxn modelId="{40AD6C11-5D67-46EE-B9A2-E2C09B62FBCE}" type="presOf" srcId="{2AE13C36-D6A2-40E2-8710-4496EB245E6F}" destId="{15C0D461-EEE0-407F-9B8A-1CE7C93F2D32}" srcOrd="0" destOrd="0" presId="urn:microsoft.com/office/officeart/2024/3/layout/verticalVisualTextBlock1"/>
    <dgm:cxn modelId="{B4B96017-FCC8-4B19-B2AC-28E761F5AB01}" type="presOf" srcId="{B5ACDDCB-2557-47CE-BB53-A661A8F6906C}" destId="{C5E9AF7A-DDCD-407C-B672-2881C7923B5B}" srcOrd="0" destOrd="0" presId="urn:microsoft.com/office/officeart/2024/3/layout/verticalVisualTextBlock1"/>
    <dgm:cxn modelId="{BC4D1220-114E-4C7E-B161-78DF8D7CCFDD}" srcId="{36E18E8A-032A-4AB6-9795-06C1EC3CB91A}" destId="{2AE13C36-D6A2-40E2-8710-4496EB245E6F}" srcOrd="0" destOrd="0" parTransId="{35DDD6EE-4C15-4C6C-8363-FC401EE11B7E}" sibTransId="{BF8CECC1-E216-4C24-8C50-55E936F455F8}"/>
    <dgm:cxn modelId="{4D8ED62D-7EE9-4341-934E-5DDB3A15E639}" srcId="{E1466E2F-A2CA-4997-8A19-A9A74B716803}" destId="{D5237CF4-C6B9-4CF0-8A7F-41D3D4B977CE}" srcOrd="0" destOrd="0" parTransId="{309D200A-B5E9-4062-9F62-500EF2493B50}" sibTransId="{10C129DF-D77C-44B9-A20D-33FE0D3E853E}"/>
    <dgm:cxn modelId="{D6080C3A-35BE-4A23-9C8D-848AD5F6405B}" type="presOf" srcId="{A2431B3E-51A9-408E-A98D-C1B0C4FCC269}" destId="{E0F6A3DC-F976-41ED-B265-C6E6DA26E062}" srcOrd="0" destOrd="0" presId="urn:microsoft.com/office/officeart/2024/3/layout/verticalVisualTextBlock1"/>
    <dgm:cxn modelId="{590A4249-1F21-4615-97E2-B2C20A2C68F3}" srcId="{513E99BE-F651-4E72-AE00-4D689F62BF65}" destId="{E1466E2F-A2CA-4997-8A19-A9A74B716803}" srcOrd="2" destOrd="0" parTransId="{339F9563-7B1A-46DC-9B15-11C3A0246571}" sibTransId="{160CA0D0-7866-4C63-9896-096BF9B01354}"/>
    <dgm:cxn modelId="{97CBC04A-B8FC-45BE-9F58-3465D5502399}" type="presOf" srcId="{333A61B1-AA1E-433E-A82F-26DA5BE23F3B}" destId="{724B940B-D9B4-461A-B98D-126F6F1B27C6}" srcOrd="0" destOrd="0" presId="urn:microsoft.com/office/officeart/2024/3/layout/verticalVisualTextBlock1"/>
    <dgm:cxn modelId="{9BB88376-8E0A-409C-9400-7A05744AE317}" type="presOf" srcId="{E1466E2F-A2CA-4997-8A19-A9A74B716803}" destId="{0EB8AE16-7F6A-426C-9D56-961753976E2F}" srcOrd="0" destOrd="0" presId="urn:microsoft.com/office/officeart/2024/3/layout/verticalVisualTextBlock1"/>
    <dgm:cxn modelId="{9AA36487-1279-4B5D-AAAC-2FCCCD1ECB80}" srcId="{513E99BE-F651-4E72-AE00-4D689F62BF65}" destId="{36E18E8A-032A-4AB6-9795-06C1EC3CB91A}" srcOrd="1" destOrd="0" parTransId="{97860024-F408-41C8-9180-828864447DCD}" sibTransId="{B5ACDDCB-2557-47CE-BB53-A661A8F6906C}"/>
    <dgm:cxn modelId="{6A451492-8E93-4631-B5BA-1425C0B91EE7}" type="presOf" srcId="{513E99BE-F651-4E72-AE00-4D689F62BF65}" destId="{F7F90A50-29AE-43B5-ADD0-85A15B9D4607}" srcOrd="0" destOrd="0" presId="urn:microsoft.com/office/officeart/2024/3/layout/verticalVisualTextBlock1"/>
    <dgm:cxn modelId="{E6024BC1-9BAA-409E-BAC8-5ACA89E4DA17}" type="presOf" srcId="{36E18E8A-032A-4AB6-9795-06C1EC3CB91A}" destId="{3366D019-5A70-4D28-93F8-FFF874D1395E}" srcOrd="0" destOrd="0" presId="urn:microsoft.com/office/officeart/2024/3/layout/verticalVisualTextBlock1"/>
    <dgm:cxn modelId="{BC2EB5C9-12EB-4483-AF86-448C55239626}" type="presOf" srcId="{5D314694-B98D-4A46-BD9D-09C3D8F196BC}" destId="{86290AFD-B0E1-4B8F-B063-420A4E40E48D}" srcOrd="0" destOrd="0" presId="urn:microsoft.com/office/officeart/2024/3/layout/verticalVisualTextBlock1"/>
    <dgm:cxn modelId="{B3A3D2D8-6826-4068-B147-518F9F513F3F}" type="presOf" srcId="{D5237CF4-C6B9-4CF0-8A7F-41D3D4B977CE}" destId="{37B25460-8701-44DC-B0F2-A1F3987F8F16}" srcOrd="0" destOrd="0" presId="urn:microsoft.com/office/officeart/2024/3/layout/verticalVisualTextBlock1"/>
    <dgm:cxn modelId="{8FC036E6-2DC1-4121-A253-505808E140E8}" srcId="{5D314694-B98D-4A46-BD9D-09C3D8F196BC}" destId="{333A61B1-AA1E-433E-A82F-26DA5BE23F3B}" srcOrd="0" destOrd="0" parTransId="{E33B9410-1144-4938-93AB-9F3923CD182F}" sibTransId="{3424DCFA-76FC-4397-B15B-53D0651582CC}"/>
    <dgm:cxn modelId="{4E433D7C-F8FB-478D-A5CA-FD1CD3B6B8F2}" type="presParOf" srcId="{F7F90A50-29AE-43B5-ADD0-85A15B9D4607}" destId="{B8AFBE70-E94A-4096-A55E-0DEE96D25897}" srcOrd="0" destOrd="0" presId="urn:microsoft.com/office/officeart/2024/3/layout/verticalVisualTextBlock1"/>
    <dgm:cxn modelId="{3F6FAE70-6D15-4589-BB40-EB202BF7C061}" type="presParOf" srcId="{B8AFBE70-E94A-4096-A55E-0DEE96D25897}" destId="{948A6118-4B13-45A2-9C97-41EEA429F6F9}" srcOrd="0" destOrd="0" presId="urn:microsoft.com/office/officeart/2024/3/layout/verticalVisualTextBlock1"/>
    <dgm:cxn modelId="{B701601D-A783-44EF-A4E8-9DF057D88106}" type="presParOf" srcId="{B8AFBE70-E94A-4096-A55E-0DEE96D25897}" destId="{86290AFD-B0E1-4B8F-B063-420A4E40E48D}" srcOrd="1" destOrd="0" presId="urn:microsoft.com/office/officeart/2024/3/layout/verticalVisualTextBlock1"/>
    <dgm:cxn modelId="{59CCD064-42B8-45E3-AD10-E8A3326F502B}" type="presParOf" srcId="{B8AFBE70-E94A-4096-A55E-0DEE96D25897}" destId="{724B940B-D9B4-461A-B98D-126F6F1B27C6}" srcOrd="2" destOrd="0" presId="urn:microsoft.com/office/officeart/2024/3/layout/verticalVisualTextBlock1"/>
    <dgm:cxn modelId="{1FB24ACA-EF53-4AB0-87A7-60786E071955}" type="presParOf" srcId="{F7F90A50-29AE-43B5-ADD0-85A15B9D4607}" destId="{E0F6A3DC-F976-41ED-B265-C6E6DA26E062}" srcOrd="1" destOrd="0" presId="urn:microsoft.com/office/officeart/2024/3/layout/verticalVisualTextBlock1"/>
    <dgm:cxn modelId="{1035F2EE-4501-4411-8E40-F21057CB98DD}" type="presParOf" srcId="{F7F90A50-29AE-43B5-ADD0-85A15B9D4607}" destId="{7DBF34A6-65B5-49A7-A606-4ABE1E8DF3DA}" srcOrd="2" destOrd="0" presId="urn:microsoft.com/office/officeart/2024/3/layout/verticalVisualTextBlock1"/>
    <dgm:cxn modelId="{625C5C2A-5976-4268-88C7-52101029D461}" type="presParOf" srcId="{7DBF34A6-65B5-49A7-A606-4ABE1E8DF3DA}" destId="{13AFE486-C730-4D65-8E3A-0F417791D4C3}" srcOrd="0" destOrd="0" presId="urn:microsoft.com/office/officeart/2024/3/layout/verticalVisualTextBlock1"/>
    <dgm:cxn modelId="{7605551F-E07B-470C-8EDA-DD736E913987}" type="presParOf" srcId="{7DBF34A6-65B5-49A7-A606-4ABE1E8DF3DA}" destId="{3366D019-5A70-4D28-93F8-FFF874D1395E}" srcOrd="1" destOrd="0" presId="urn:microsoft.com/office/officeart/2024/3/layout/verticalVisualTextBlock1"/>
    <dgm:cxn modelId="{C0A38C31-1A3C-4D20-9414-25CE76EB4A00}" type="presParOf" srcId="{7DBF34A6-65B5-49A7-A606-4ABE1E8DF3DA}" destId="{15C0D461-EEE0-407F-9B8A-1CE7C93F2D32}" srcOrd="2" destOrd="0" presId="urn:microsoft.com/office/officeart/2024/3/layout/verticalVisualTextBlock1"/>
    <dgm:cxn modelId="{A4DA41FA-C127-4823-960C-91D5B4F32377}" type="presParOf" srcId="{F7F90A50-29AE-43B5-ADD0-85A15B9D4607}" destId="{C5E9AF7A-DDCD-407C-B672-2881C7923B5B}" srcOrd="3" destOrd="0" presId="urn:microsoft.com/office/officeart/2024/3/layout/verticalVisualTextBlock1"/>
    <dgm:cxn modelId="{EDCFE74E-D90A-488F-A07A-537022EFD863}" type="presParOf" srcId="{F7F90A50-29AE-43B5-ADD0-85A15B9D4607}" destId="{8DD2E51B-058B-4BEA-A5B2-4684276AFDA3}" srcOrd="4" destOrd="0" presId="urn:microsoft.com/office/officeart/2024/3/layout/verticalVisualTextBlock1"/>
    <dgm:cxn modelId="{B2B0AA5D-1E1B-4658-A0B2-363CAD81280D}" type="presParOf" srcId="{8DD2E51B-058B-4BEA-A5B2-4684276AFDA3}" destId="{F867DCFD-FF2C-41A4-8B78-9D1E2EA06B36}" srcOrd="0" destOrd="0" presId="urn:microsoft.com/office/officeart/2024/3/layout/verticalVisualTextBlock1"/>
    <dgm:cxn modelId="{B2F2FC64-055A-4C05-8357-5D9EC03835CE}" type="presParOf" srcId="{8DD2E51B-058B-4BEA-A5B2-4684276AFDA3}" destId="{0EB8AE16-7F6A-426C-9D56-961753976E2F}" srcOrd="1" destOrd="0" presId="urn:microsoft.com/office/officeart/2024/3/layout/verticalVisualTextBlock1"/>
    <dgm:cxn modelId="{9A50966B-8071-4BA6-9AD2-E130506D19FB}" type="presParOf" srcId="{8DD2E51B-058B-4BEA-A5B2-4684276AFDA3}" destId="{37B25460-8701-44DC-B0F2-A1F3987F8F16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A6118-4B13-45A2-9C97-41EEA429F6F9}">
      <dsp:nvSpPr>
        <dsp:cNvPr id="0" name=""/>
        <dsp:cNvSpPr/>
      </dsp:nvSpPr>
      <dsp:spPr>
        <a:xfrm>
          <a:off x="0" y="0"/>
          <a:ext cx="1681599" cy="16815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4" r="2115" b="-2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290AFD-B0E1-4B8F-B063-420A4E40E48D}">
      <dsp:nvSpPr>
        <dsp:cNvPr id="0" name=""/>
        <dsp:cNvSpPr/>
      </dsp:nvSpPr>
      <dsp:spPr>
        <a:xfrm>
          <a:off x="1861599" y="0"/>
          <a:ext cx="4280134" cy="361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/>
            <a:t>Assessing Communication Needs</a:t>
          </a:r>
        </a:p>
      </dsp:txBody>
      <dsp:txXfrm>
        <a:off x="1861599" y="0"/>
        <a:ext cx="4280134" cy="361146"/>
      </dsp:txXfrm>
    </dsp:sp>
    <dsp:sp modelId="{724B940B-D9B4-461A-B98D-126F6F1B27C6}">
      <dsp:nvSpPr>
        <dsp:cNvPr id="0" name=""/>
        <dsp:cNvSpPr/>
      </dsp:nvSpPr>
      <dsp:spPr>
        <a:xfrm>
          <a:off x="1861599" y="361146"/>
          <a:ext cx="4280134" cy="132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Identify the requirements and constraints of the situation to determine the best communication method.</a:t>
          </a:r>
        </a:p>
      </dsp:txBody>
      <dsp:txXfrm>
        <a:off x="1861599" y="361146"/>
        <a:ext cx="4280134" cy="1320453"/>
      </dsp:txXfrm>
    </dsp:sp>
    <dsp:sp modelId="{13AFE486-C730-4D65-8E3A-0F417791D4C3}">
      <dsp:nvSpPr>
        <dsp:cNvPr id="0" name=""/>
        <dsp:cNvSpPr/>
      </dsp:nvSpPr>
      <dsp:spPr>
        <a:xfrm>
          <a:off x="0" y="1816127"/>
          <a:ext cx="1681599" cy="1681599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6" r="22736" b="3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66D019-5A70-4D28-93F8-FFF874D1395E}">
      <dsp:nvSpPr>
        <dsp:cNvPr id="0" name=""/>
        <dsp:cNvSpPr/>
      </dsp:nvSpPr>
      <dsp:spPr>
        <a:xfrm>
          <a:off x="1861599" y="1816127"/>
          <a:ext cx="4280134" cy="361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/>
            <a:t>Choosing Communication Methods</a:t>
          </a:r>
        </a:p>
      </dsp:txBody>
      <dsp:txXfrm>
        <a:off x="1861599" y="1816127"/>
        <a:ext cx="4280134" cy="361146"/>
      </dsp:txXfrm>
    </dsp:sp>
    <dsp:sp modelId="{15C0D461-EEE0-407F-9B8A-1CE7C93F2D32}">
      <dsp:nvSpPr>
        <dsp:cNvPr id="0" name=""/>
        <dsp:cNvSpPr/>
      </dsp:nvSpPr>
      <dsp:spPr>
        <a:xfrm>
          <a:off x="1861599" y="2177274"/>
          <a:ext cx="4280134" cy="132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Select communication approaches that fit the complexity and audience of the case.</a:t>
          </a:r>
        </a:p>
      </dsp:txBody>
      <dsp:txXfrm>
        <a:off x="1861599" y="2177274"/>
        <a:ext cx="4280134" cy="1320453"/>
      </dsp:txXfrm>
    </dsp:sp>
    <dsp:sp modelId="{F867DCFD-FF2C-41A4-8B78-9D1E2EA06B36}">
      <dsp:nvSpPr>
        <dsp:cNvPr id="0" name=""/>
        <dsp:cNvSpPr/>
      </dsp:nvSpPr>
      <dsp:spPr>
        <a:xfrm>
          <a:off x="0" y="3632255"/>
          <a:ext cx="1681599" cy="16815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2" r="-5" b="-4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B8AE16-7F6A-426C-9D56-961753976E2F}">
      <dsp:nvSpPr>
        <dsp:cNvPr id="0" name=""/>
        <dsp:cNvSpPr/>
      </dsp:nvSpPr>
      <dsp:spPr>
        <a:xfrm>
          <a:off x="1861599" y="3632255"/>
          <a:ext cx="4280134" cy="361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/>
            <a:t>Justifying Communication Choices</a:t>
          </a:r>
        </a:p>
      </dsp:txBody>
      <dsp:txXfrm>
        <a:off x="1861599" y="3632255"/>
        <a:ext cx="4280134" cy="361146"/>
      </dsp:txXfrm>
    </dsp:sp>
    <dsp:sp modelId="{37B25460-8701-44DC-B0F2-A1F3987F8F16}">
      <dsp:nvSpPr>
        <dsp:cNvPr id="0" name=""/>
        <dsp:cNvSpPr/>
      </dsp:nvSpPr>
      <dsp:spPr>
        <a:xfrm>
          <a:off x="1861599" y="3993402"/>
          <a:ext cx="4280134" cy="132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Provide clear reasons explaining why selected methods are appropriate for effective information exchange.</a:t>
          </a:r>
        </a:p>
      </dsp:txBody>
      <dsp:txXfrm>
        <a:off x="1861599" y="3993402"/>
        <a:ext cx="4280134" cy="1320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14B41-0533-402B-ACBA-F2F6AFB1D5A7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437394-6E20-4862-8C24-B0459A59D4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054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BB15CD-38E2-4D0A-AB22-229EC722EDA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344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727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523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912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776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668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85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767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775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376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737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779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863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777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077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487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759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395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339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475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817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847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294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7435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38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6639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219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8886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9850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814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6680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B15CD-38E2-4D0A-AB22-229EC722EDA6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56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1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45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83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3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3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8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9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1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73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652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776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accent6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nd/3.0/" TargetMode="External"/><Relationship Id="rId4" Type="http://schemas.openxmlformats.org/officeDocument/2006/relationships/hyperlink" Target="http://blog.gvsig.org/2015/11/03/11gvsig-code-sprin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85229-text-photography-question-interrogation-communication-stock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6" name="Picture 5" descr="A group of people with different colored icons&#10;&#10;AI-generated content may be incorrect.">
            <a:extLst>
              <a:ext uri="{FF2B5EF4-FFF2-40B4-BE49-F238E27FC236}">
                <a16:creationId xmlns:a16="http://schemas.microsoft.com/office/drawing/2014/main" id="{567ECF52-8EBA-3DE2-1A86-8EB34277F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1910" b="382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AF66B7C-69F6-439C-A508-14C94AF6B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961948" y="0"/>
            <a:ext cx="7230052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0F82-4B6D-C810-F5BF-357136E96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2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b="1" kern="1200" dirty="0">
                <a:solidFill>
                  <a:srgbClr val="FFFFFF"/>
                </a:solidFill>
              </a:rPr>
              <a:t>Effective Communication with Individuals with Complex Needs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4889BEB-3261-0F00-6CB9-BADDD5E87289}"/>
              </a:ext>
            </a:extLst>
          </p:cNvPr>
          <p:cNvSpPr txBox="1">
            <a:spLocks/>
          </p:cNvSpPr>
          <p:nvPr/>
        </p:nvSpPr>
        <p:spPr>
          <a:xfrm>
            <a:off x="6269925" y="5586480"/>
            <a:ext cx="4892949" cy="8129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Tx/>
              <a:buNone/>
              <a:tabLst/>
              <a:defRPr/>
            </a:pPr>
            <a:r>
              <a:rPr kumimoji="0" lang="en-US" sz="2400" b="1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Lubna Syed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6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43B9DB-DA4A-8FA4-CD41-33169AED4933}"/>
              </a:ext>
            </a:extLst>
          </p:cNvPr>
          <p:cNvSpPr txBox="1"/>
          <p:nvPr/>
        </p:nvSpPr>
        <p:spPr>
          <a:xfrm>
            <a:off x="9695803" y="6657945"/>
            <a:ext cx="249619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ndview Display"/>
                <a:ea typeface="+mn-ea"/>
                <a:cs typeface="+mn-cs"/>
                <a:hlinkClick r:id="rId4" tooltip="http://blog.gvsig.org/2015/11/03/11gvsig-code-spr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 by Unknown Author is licensed under </a:t>
            </a: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ndview Display"/>
                <a:ea typeface="+mn-ea"/>
                <a:cs typeface="+mn-cs"/>
                <a:hlinkClick r:id="rId5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A6E60C-0DE5-30EE-89E2-9263E1F83706}"/>
              </a:ext>
            </a:extLst>
          </p:cNvPr>
          <p:cNvSpPr txBox="1">
            <a:spLocks/>
          </p:cNvSpPr>
          <p:nvPr/>
        </p:nvSpPr>
        <p:spPr>
          <a:xfrm>
            <a:off x="7226103" y="4454744"/>
            <a:ext cx="3701704" cy="8129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Tx/>
              <a:buNone/>
              <a:tabLst/>
              <a:defRPr/>
            </a:pPr>
            <a:r>
              <a:rPr kumimoji="0" lang="en-US" sz="2800" b="1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PT5051</a:t>
            </a:r>
          </a:p>
        </p:txBody>
      </p:sp>
    </p:spTree>
    <p:extLst>
      <p:ext uri="{BB962C8B-B14F-4D97-AF65-F5344CB8AC3E}">
        <p14:creationId xmlns:p14="http://schemas.microsoft.com/office/powerpoint/2010/main" val="33793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EE42F0-2470-417A-8666-6E3266FEB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9671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5" name="Content Placeholder 4" descr="Portrait of Business executives and medical workers standing on white background">
            <a:extLst>
              <a:ext uri="{FF2B5EF4-FFF2-40B4-BE49-F238E27FC236}">
                <a16:creationId xmlns:a16="http://schemas.microsoft.com/office/drawing/2014/main" id="{49AFF978-92FA-490D-AB1C-BDFAB54423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alphaModFix amt="40000"/>
          </a:blip>
          <a:srcRect l="34831" r="19919" b="1"/>
          <a:stretch>
            <a:fillRect/>
          </a:stretch>
        </p:blipFill>
        <p:spPr>
          <a:xfrm>
            <a:off x="2553" y="10"/>
            <a:ext cx="569416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E7DF16-0D5F-5E21-9DE2-32125F34A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20" y="1583827"/>
            <a:ext cx="4023360" cy="4111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Today's Presentation Agenda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0DD1AA-9FC9-0AF2-B563-CA13C179F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720" y="604092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B5052-F51A-F2BF-64C9-C6387DAC12A5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245353" y="667512"/>
            <a:ext cx="5285656" cy="56304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Foundations of Advanced Communication in Physiotherapy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Understanding Complex Communication Needs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Barriers to Communication in Individuals with Complex Needs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Communication Strategies and Tools</a:t>
            </a:r>
          </a:p>
          <a:p>
            <a:pPr>
              <a:lnSpc>
                <a:spcPct val="110000"/>
              </a:lnSpc>
            </a:pPr>
            <a:r>
              <a:rPr lang="en-US" sz="1700" dirty="0" err="1"/>
              <a:t>Utilising</a:t>
            </a:r>
            <a:r>
              <a:rPr lang="en-US" sz="1700" dirty="0"/>
              <a:t> Augmentative and Alternative Communication (AAC)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Ethical, Cultural, and Professional Considerations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Applying Evidence-Based Communication Frameworks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Adapting Communication for Individual Needs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Reflecting on Communication Style and Its Impact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Collaborative Communication with Teams and Carers</a:t>
            </a:r>
          </a:p>
        </p:txBody>
      </p:sp>
    </p:spTree>
    <p:extLst>
      <p:ext uri="{BB962C8B-B14F-4D97-AF65-F5344CB8AC3E}">
        <p14:creationId xmlns:p14="http://schemas.microsoft.com/office/powerpoint/2010/main" val="17540441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83D71-C0C8-47EB-607E-78F95E64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Key principles of therapeutic communication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4E25B-CA77-FC6A-9F5A-7D605369BA55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Active Listening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Engaging fully by listening attentively to patient concerns to build understanding and trust.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Empathy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Demonstrating understanding and compassion to support patients' emotional and physical needs.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Clarity and Respect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Communicating clearly and respectfully to foster engagement and cooperation during treatment.</a:t>
            </a:r>
          </a:p>
        </p:txBody>
      </p:sp>
      <p:pic>
        <p:nvPicPr>
          <p:cNvPr id="5" name="Content Placeholder 4" descr="Nurse or Female Doctor in Uniform With Stethoscope Checking Health Condition of Senior Female Patient at Home Visit. Family Doctor Checking Elderly Woman Using Stethoscope">
            <a:extLst>
              <a:ext uri="{FF2B5EF4-FFF2-40B4-BE49-F238E27FC236}">
                <a16:creationId xmlns:a16="http://schemas.microsoft.com/office/drawing/2014/main" id="{6A4E7B8E-31C3-4A96-9BEB-4D0234AB85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7247" r="17747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7787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CAD85-9244-B0CD-3C7F-56C6FADE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/>
              <a:t>The role of communication in physiotherapy outcomes</a:t>
            </a:r>
          </a:p>
        </p:txBody>
      </p:sp>
      <p:pic>
        <p:nvPicPr>
          <p:cNvPr id="5" name="Content Placeholder 4" descr="Young sportsman talking with male physical therapist in his office, having a medical interview.">
            <a:extLst>
              <a:ext uri="{FF2B5EF4-FFF2-40B4-BE49-F238E27FC236}">
                <a16:creationId xmlns:a16="http://schemas.microsoft.com/office/drawing/2014/main" id="{82C6593D-2BCF-4D1C-B1E2-239AF0007E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9822" r="677" b="1"/>
          <a:stretch>
            <a:fillRect/>
          </a:stretch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6DF1D-96BC-5E96-F044-14C37898311E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Enhances Patient Understanding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Clear communication helps patients better understand their treatment plans and goals.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Improves Treatment Adherence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Effective communication encourages patients to follow prescribed therapies consistently.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Increases Patient Satisfaction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Good communication leads to higher patient satisfaction and trust in physiotherapy care.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Supports Rehabilitation Success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Enhanced communication contributes to better rehabilitation outcomes and overall health improvements.</a:t>
            </a:r>
          </a:p>
        </p:txBody>
      </p:sp>
    </p:spTree>
    <p:extLst>
      <p:ext uri="{BB962C8B-B14F-4D97-AF65-F5344CB8AC3E}">
        <p14:creationId xmlns:p14="http://schemas.microsoft.com/office/powerpoint/2010/main" val="6390421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9012F8-7AEF-9A36-8420-F3A41FFA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The importance of patient-centred care</a:t>
            </a:r>
          </a:p>
        </p:txBody>
      </p:sp>
      <p:pic>
        <p:nvPicPr>
          <p:cNvPr id="5" name="Content Placeholder 4" descr="Doctor Explaining Results of Medical Tests">
            <a:extLst>
              <a:ext uri="{FF2B5EF4-FFF2-40B4-BE49-F238E27FC236}">
                <a16:creationId xmlns:a16="http://schemas.microsoft.com/office/drawing/2014/main" id="{11634832-9EE9-411F-B346-7DBEBB8BF4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5154" r="39780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8F86B-0F3B-EDDC-853D-648B1ACAA00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Respecting Individual Preferences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Patient-centred care honours unique patient needs and preferences to provide personalised healthcare.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Tailored Communication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Effective communication is adapted to each patient to enhance understanding and collaboration.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Building Therapeutic Relationships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Patient-centred approaches foster trust and motivation, improving health outcomes.</a:t>
            </a:r>
          </a:p>
        </p:txBody>
      </p:sp>
    </p:spTree>
    <p:extLst>
      <p:ext uri="{BB962C8B-B14F-4D97-AF65-F5344CB8AC3E}">
        <p14:creationId xmlns:p14="http://schemas.microsoft.com/office/powerpoint/2010/main" val="2798814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ABBE0-5646-2DA6-189E-D606AE38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Defining complex needs: cognitive, sensory, emotional, and language barriers</a:t>
            </a:r>
          </a:p>
        </p:txBody>
      </p:sp>
      <p:pic>
        <p:nvPicPr>
          <p:cNvPr id="5" name="Content Placeholder 4" descr="blackboard concept: a human brain on a blackboard. left and right side of the brain">
            <a:extLst>
              <a:ext uri="{FF2B5EF4-FFF2-40B4-BE49-F238E27FC236}">
                <a16:creationId xmlns:a16="http://schemas.microsoft.com/office/drawing/2014/main" id="{C611C4D0-1203-44BC-B49D-CE3B53C621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1839"/>
          <a:stretch>
            <a:fillRect/>
          </a:stretch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BB03A-1B31-195A-EF80-BFA8D7A675E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Cognitive and Understanding Difficulties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Complex needs often involve challenges in understanding information requiring tailored support methods.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Sensory Processing Issues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Sensory barriers affect how individuals process environmental stimuli, needing adapted environments.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Emotional Regulation Challenges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Emotional barriers impact regulation and expression of feelings, requiring specialised emotional support.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Language Comprehension and Expression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Language barriers involve difficulties in comprehension and expression, needing specialised communication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10189773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57F22-DB68-894F-B7D6-B348943F4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Common causes of communication challenges</a:t>
            </a:r>
          </a:p>
        </p:txBody>
      </p:sp>
      <p:pic>
        <p:nvPicPr>
          <p:cNvPr id="5" name="Content Placeholder 4" descr="Cross EGC Heart rate">
            <a:extLst>
              <a:ext uri="{FF2B5EF4-FFF2-40B4-BE49-F238E27FC236}">
                <a16:creationId xmlns:a16="http://schemas.microsoft.com/office/drawing/2014/main" id="{DDD2C959-9A41-4831-9FD5-066B214FB2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479" r="8020" b="1"/>
          <a:stretch>
            <a:fillRect/>
          </a:stretch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04780-B18A-C40E-95DC-5C15B6FE37C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Neurological Conditions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Neurological conditions can affect speech, comprehension, and communication abilities in physiotherapy settings.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Sensory Impairments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Sensory impairments like hearing or vision loss create barriers to effective communication during therapy.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Mental Health Issues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Mental health conditions can influence how patients express and understand information in treatment.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Language Diversity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Diverse language backgrounds may cause misunderstandings and require tailored communication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40633410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18362-4139-8EEC-CF92-59AC14F36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100"/>
              <a:t>Personalising your approach: recognising individual differences</a:t>
            </a:r>
          </a:p>
        </p:txBody>
      </p:sp>
      <p:pic>
        <p:nvPicPr>
          <p:cNvPr id="5" name="Content Placeholder 4" descr="Studio shot of a group of attractive young businesswomen laughing together while sitting in line against a grey background">
            <a:extLst>
              <a:ext uri="{FF2B5EF4-FFF2-40B4-BE49-F238E27FC236}">
                <a16:creationId xmlns:a16="http://schemas.microsoft.com/office/drawing/2014/main" id="{2613C351-934D-433B-9519-D6194EDE55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0841" r="25122" b="-1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3F8FC-7A47-C8FD-F905-74F7ADA7B43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Adapt to Unique Abilities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Tailor communication strategies to accommodate individual skills and abilities for better understanding.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Respect Cultural Differences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Consider cultural backgrounds to foster respectful and effective communication.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Enhance Engagement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Personalising communication improves inclusivity and active participation in diverse contexts.</a:t>
            </a:r>
          </a:p>
        </p:txBody>
      </p:sp>
    </p:spTree>
    <p:extLst>
      <p:ext uri="{BB962C8B-B14F-4D97-AF65-F5344CB8AC3E}">
        <p14:creationId xmlns:p14="http://schemas.microsoft.com/office/powerpoint/2010/main" val="24354858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85FBB-BCE7-01F3-6AC8-4DAA7EBB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Cognitive and intellectual barriers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4D3BE-CB18-BE7A-1561-D4B29025497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Impact on Attention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Cognitive impairments reduce the ability to focus and sustain attention, hindering effective communication.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Memory Challenges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Memory impairments affect the ability to retain and recall information, disrupting learning and communication.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Comprehension Issues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Difficulties in understanding spoken or written information complicate the exchange of meaningful messages.</a:t>
            </a:r>
          </a:p>
        </p:txBody>
      </p:sp>
      <p:pic>
        <p:nvPicPr>
          <p:cNvPr id="5" name="Content Placeholder 4" descr="Digital art of brain">
            <a:extLst>
              <a:ext uri="{FF2B5EF4-FFF2-40B4-BE49-F238E27FC236}">
                <a16:creationId xmlns:a16="http://schemas.microsoft.com/office/drawing/2014/main" id="{B21B93A9-E104-4F3F-9EAE-93E323F8C5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0822" r="22824" b="-2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4373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E7D12-4B9B-69D7-3443-62CA8DCC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400"/>
              <a:t>Sensory and physical impairments</a:t>
            </a:r>
          </a:p>
        </p:txBody>
      </p:sp>
      <p:pic>
        <p:nvPicPr>
          <p:cNvPr id="5" name="Content Placeholder 4" descr="The human is always plugged">
            <a:extLst>
              <a:ext uri="{FF2B5EF4-FFF2-40B4-BE49-F238E27FC236}">
                <a16:creationId xmlns:a16="http://schemas.microsoft.com/office/drawing/2014/main" id="{66C166CE-0448-4169-B41F-8E97664EB0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20834" r="-1" b="5332"/>
          <a:stretch>
            <a:fillRect/>
          </a:stretch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256B6-4AFB-73A2-2D36-1BA38DFDB9EA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Hearing Loss Challenges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Hearing loss restricts traditional communication, often requiring devices like hearing aids or sign language.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Vision Impairments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Visual impairments limit communication access, needing tools like braille and screen readers.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Speech Difficulties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Speech impairments require alternative communication methods such as speech-generating devices.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Motor Limitations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Motor impairments affect physical interaction, prompting use of adaptive technologies and assistive devices.</a:t>
            </a:r>
          </a:p>
        </p:txBody>
      </p:sp>
    </p:spTree>
    <p:extLst>
      <p:ext uri="{BB962C8B-B14F-4D97-AF65-F5344CB8AC3E}">
        <p14:creationId xmlns:p14="http://schemas.microsoft.com/office/powerpoint/2010/main" val="28461136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2E12F-8F28-3342-05B1-06B42CD9D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Emotional, psychological, and language-related challenges</a:t>
            </a:r>
          </a:p>
        </p:txBody>
      </p:sp>
      <p:pic>
        <p:nvPicPr>
          <p:cNvPr id="5" name="Content Placeholder 4" descr="A male doctor sits down with a senior woman as he asks her a series of questions to gain her medical history.  He is wearing a white lab coat, has a stethoscope around his neck and is recording the answers on a clipboard in his hands.">
            <a:extLst>
              <a:ext uri="{FF2B5EF4-FFF2-40B4-BE49-F238E27FC236}">
                <a16:creationId xmlns:a16="http://schemas.microsoft.com/office/drawing/2014/main" id="{9F35588E-2576-4D4B-9C6B-D15BDA257B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5466" r="39467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384EA-4D65-13C9-96B2-6A86BCDFFF6D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Emotional Barriers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Anxiety and mood disorders can prevent patients from expressing themselves openly to clinicians.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Language Differences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Differences in language can create misunderstandings, requiring clinicians to use clear and simple communication.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Need for Empathy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Clinicians must demonstrate empathy and sensitivity to overcome communication challenges and build trust.</a:t>
            </a:r>
          </a:p>
        </p:txBody>
      </p:sp>
    </p:spTree>
    <p:extLst>
      <p:ext uri="{BB962C8B-B14F-4D97-AF65-F5344CB8AC3E}">
        <p14:creationId xmlns:p14="http://schemas.microsoft.com/office/powerpoint/2010/main" val="32997231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BC779-9D11-0676-18BC-86D1C160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100"/>
              <a:t>Active listening and demonstrating empathy</a:t>
            </a:r>
          </a:p>
        </p:txBody>
      </p:sp>
      <p:pic>
        <p:nvPicPr>
          <p:cNvPr id="5" name="Content Placeholder 4" descr="Male Engineer is Sitting in the Control Room with a Headphones and Doing Quality Control on his Computer. Mechanic Engineer is in His Office and is Communicating with his Colleagues.">
            <a:extLst>
              <a:ext uri="{FF2B5EF4-FFF2-40B4-BE49-F238E27FC236}">
                <a16:creationId xmlns:a16="http://schemas.microsoft.com/office/drawing/2014/main" id="{F46CA085-E40D-47CF-BA58-3111647CBF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16996" b="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4B29D-F256-ABDF-C25F-BC62F3CAE178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Principles of Active Listening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Active listening requires full concentration and understanding to respond effectively during communication.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Role of Empathy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Empathy helps to build trust and rapport by understanding others’ feelings and perspectives.</a:t>
            </a:r>
          </a:p>
        </p:txBody>
      </p:sp>
    </p:spTree>
    <p:extLst>
      <p:ext uri="{BB962C8B-B14F-4D97-AF65-F5344CB8AC3E}">
        <p14:creationId xmlns:p14="http://schemas.microsoft.com/office/powerpoint/2010/main" val="36483040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228E-D290-C063-B855-EF2CA9F6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Adapting verbal and non-verbal communication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E4BCD-1AE8-60B3-75A4-D7FB4515F01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Simplifying Language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Use simple and clear language to ensure understanding and avoid confusion.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Using Gestures and Visual Cues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Incorporate clear gestures and visual aids to complement verbal communication.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Adjusting Tone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Modify tone of voice to match the listener's needs and preferences for better connection.</a:t>
            </a:r>
          </a:p>
        </p:txBody>
      </p:sp>
      <p:pic>
        <p:nvPicPr>
          <p:cNvPr id="5" name="Content Placeholder 4" descr="&quot;Portrait of casual business executive of Middle Eastern, Indian or Pakistani ethnicity isolated on white.&quot;">
            <a:extLst>
              <a:ext uri="{FF2B5EF4-FFF2-40B4-BE49-F238E27FC236}">
                <a16:creationId xmlns:a16="http://schemas.microsoft.com/office/drawing/2014/main" id="{1DE54D3B-B797-42EA-A90C-1033DD9299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-1" b="19301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5752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D4E6D-1ECE-1B55-DF92-5D4D8C27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Augmentative and alternative communication (AAC) methods</a:t>
            </a:r>
          </a:p>
        </p:txBody>
      </p:sp>
      <p:pic>
        <p:nvPicPr>
          <p:cNvPr id="5" name="Content Placeholder 4" descr="Disassembled electronic device on the table">
            <a:extLst>
              <a:ext uri="{FF2B5EF4-FFF2-40B4-BE49-F238E27FC236}">
                <a16:creationId xmlns:a16="http://schemas.microsoft.com/office/drawing/2014/main" id="{82F42213-7664-4D22-B613-08F372D265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7358" r="9638" b="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26953-36C0-FA87-1CDC-C70788206840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AAC Tools and Techniques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AAC uses pictures, symbols, and technology to support or replace spoken communication effectively.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Purpose of AAC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AAC provides alternative ways for individuals to communicate when verbal speech is limited or unavailable.</a:t>
            </a:r>
          </a:p>
        </p:txBody>
      </p:sp>
    </p:spTree>
    <p:extLst>
      <p:ext uri="{BB962C8B-B14F-4D97-AF65-F5344CB8AC3E}">
        <p14:creationId xmlns:p14="http://schemas.microsoft.com/office/powerpoint/2010/main" val="451392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63A80-1154-88B9-B77D-B1F24F58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Visual aids and communication boards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8521C-B752-5696-7196-AEE65445E69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74304" y="2275468"/>
            <a:ext cx="4922521" cy="230706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Use of Pictures and Symbols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Pictures and symbols serve as essential tools for expressing needs and facilitating communication effectively.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Enhancing Interaction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Communication boards increase participation by helping individuals understand and respond to instructions clearly.</a:t>
            </a:r>
          </a:p>
        </p:txBody>
      </p:sp>
      <p:pic>
        <p:nvPicPr>
          <p:cNvPr id="5" name="Content Placeholder 4" descr="Seven Heads walk trail markers Dunworley Wild Atlantic Way County Cork Ireland">
            <a:extLst>
              <a:ext uri="{FF2B5EF4-FFF2-40B4-BE49-F238E27FC236}">
                <a16:creationId xmlns:a16="http://schemas.microsoft.com/office/drawing/2014/main" id="{1A9A0118-E9D5-494A-9061-52BA697075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8646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3378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291A4-F02C-14D4-C4D1-FF975AEB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300"/>
              <a:t>Assistive technology: devices and software</a:t>
            </a:r>
          </a:p>
        </p:txBody>
      </p:sp>
      <p:pic>
        <p:nvPicPr>
          <p:cNvPr id="5" name="Content Placeholder 4" descr="Close of the future in customer care reps.">
            <a:extLst>
              <a:ext uri="{FF2B5EF4-FFF2-40B4-BE49-F238E27FC236}">
                <a16:creationId xmlns:a16="http://schemas.microsoft.com/office/drawing/2014/main" id="{64ECE3A8-4732-4BEF-BE49-E7DB778A48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20413" b="-1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982BC-36D1-43DC-BB92-482ACC34EB3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Speech-Generating Devices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Speech-generating tools help individuals with speech impairments communicate effectively and independently.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Specialised Communication Apps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Specialised apps provide customised communication solutions for people with physical or speech challenges.</a:t>
            </a:r>
          </a:p>
        </p:txBody>
      </p:sp>
    </p:spTree>
    <p:extLst>
      <p:ext uri="{BB962C8B-B14F-4D97-AF65-F5344CB8AC3E}">
        <p14:creationId xmlns:p14="http://schemas.microsoft.com/office/powerpoint/2010/main" val="14297669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3C9E6-8EAD-2863-C2B9-DEBE6758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600"/>
              <a:t>Role of interpreters and support staff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32A78-B283-3F17-6C10-5B44A5DBC08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78" y="2176036"/>
            <a:ext cx="6357621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b="1" dirty="0"/>
              <a:t>Bridging Communication Gaps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dirty="0"/>
              <a:t>Interpreters and communication assistants enable effective interaction between people with different communication needs.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b="1" dirty="0"/>
              <a:t>Supporting Diverse Needs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dirty="0"/>
              <a:t>Support staff help individuals access information and services by providing tailored communication assistance.</a:t>
            </a:r>
          </a:p>
        </p:txBody>
      </p:sp>
      <p:pic>
        <p:nvPicPr>
          <p:cNvPr id="5" name="Content Placeholder 4" descr="Female hands counting">
            <a:extLst>
              <a:ext uri="{FF2B5EF4-FFF2-40B4-BE49-F238E27FC236}">
                <a16:creationId xmlns:a16="http://schemas.microsoft.com/office/drawing/2014/main" id="{817EC2DA-0C78-4FE0-B8C0-95451B9397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6033" r="22249" b="1"/>
          <a:stretch>
            <a:fillRect/>
          </a:stretch>
        </p:blipFill>
        <p:spPr>
          <a:xfrm>
            <a:off x="7290819" y="1450340"/>
            <a:ext cx="4269516" cy="350519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4605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FFB0F-2DB3-E2D6-4CF6-7EB7966F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Respecting autonomy and informed consent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FB69B-14B3-F592-C746-D9195C7B528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662420" cy="4123944"/>
          </a:xfrm>
        </p:spPr>
        <p:txBody>
          <a:bodyPr>
            <a:no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b="1" dirty="0"/>
              <a:t>Patient Understanding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dirty="0"/>
              <a:t>Patients must clearly understand their treatment options to make informed decisions about their care.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b="1" dirty="0"/>
              <a:t>Respecting Patient Rights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dirty="0"/>
              <a:t>Respecting autonomy upholds patients' rights to choose or refuse medical treatments based on personal values.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b="1" dirty="0"/>
              <a:t>Ethical Medical Practice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dirty="0"/>
              <a:t>Informed consent is a cornerstone of ethical practice ensuring transparent and honest communication in healthcare.</a:t>
            </a:r>
          </a:p>
        </p:txBody>
      </p:sp>
      <p:pic>
        <p:nvPicPr>
          <p:cNvPr id="5" name="Content Placeholder 4" descr="Doctor and patient">
            <a:extLst>
              <a:ext uri="{FF2B5EF4-FFF2-40B4-BE49-F238E27FC236}">
                <a16:creationId xmlns:a16="http://schemas.microsoft.com/office/drawing/2014/main" id="{05B09021-B874-4702-AD8D-716B058BAD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9622" r="15372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981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39BE5-4EC9-CDF5-CE47-B117093F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Cultural sensitivity and overcoming bias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5594D-A056-78D0-C9CB-BACE1330482A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Acknowledging Cultural Differences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Recognising and respecting cultural diversity is essential for building trust in relationships.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Avoiding Assumptions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Avoiding stereotypes and assumptions promotes clearer, effective communication across cultures.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Building Trust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Trust grows when cultural differences are acknowledged and valued in conversations.</a:t>
            </a:r>
          </a:p>
        </p:txBody>
      </p:sp>
      <p:pic>
        <p:nvPicPr>
          <p:cNvPr id="5" name="Content Placeholder 4" descr="Mature woman greeting granddaughter through window during quarantine at home">
            <a:extLst>
              <a:ext uri="{FF2B5EF4-FFF2-40B4-BE49-F238E27FC236}">
                <a16:creationId xmlns:a16="http://schemas.microsoft.com/office/drawing/2014/main" id="{F0A18592-8CE5-47DA-BF22-C0DE0506F1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40126" r="4867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9104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ED8FE-FFFE-584E-47FF-40CBB1594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/>
              <a:t>Professional boundaries and safeguarding</a:t>
            </a:r>
          </a:p>
        </p:txBody>
      </p:sp>
      <p:pic>
        <p:nvPicPr>
          <p:cNvPr id="5" name="Content Placeholder 4" descr="Coronavirus and a man with a medical mask (Covid -19) Conceptual image for viral pneumonia, flu, MERS-CoV, SARS, Adenoviruses and other respiratory viruses">
            <a:extLst>
              <a:ext uri="{FF2B5EF4-FFF2-40B4-BE49-F238E27FC236}">
                <a16:creationId xmlns:a16="http://schemas.microsoft.com/office/drawing/2014/main" id="{97BDFD65-0D12-4A31-9272-4C0172EC30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-1" b="7300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A0E02-8307-82A0-8F94-4EC2BF308FFD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Importance of Clear Boundaries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Clear boundaries help maintain professionalism and protect both patients and clinicians during interactions.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Ensuring Safety and Respect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Boundaries ensure interactions are safe, respectful, and uphold the dignity of all parties involved.</a:t>
            </a:r>
          </a:p>
        </p:txBody>
      </p:sp>
    </p:spTree>
    <p:extLst>
      <p:ext uri="{BB962C8B-B14F-4D97-AF65-F5344CB8AC3E}">
        <p14:creationId xmlns:p14="http://schemas.microsoft.com/office/powerpoint/2010/main" val="29649340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29A92-78E2-31E1-A894-F8327214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/>
              <a:t>Introduction to evidence-based frameworks</a:t>
            </a:r>
          </a:p>
        </p:txBody>
      </p:sp>
      <p:pic>
        <p:nvPicPr>
          <p:cNvPr id="5" name="Content Placeholder 4" descr="Social network">
            <a:extLst>
              <a:ext uri="{FF2B5EF4-FFF2-40B4-BE49-F238E27FC236}">
                <a16:creationId xmlns:a16="http://schemas.microsoft.com/office/drawing/2014/main" id="{5DE1D52F-EFC4-4FCC-96C4-65D89A7DB74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9599" r="7397" b="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CC4E0-6076-02D5-5A90-CE29FB479BB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Structured Communication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Frameworks offer organised methods for effective communication based on researched principles.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Research Foundation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Evidence-based frameworks rely on research and best practices to guide communication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11335400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954AD-61C9-A50E-7355-4BA31105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Using frameworks in clinical practice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B89C7-8BBE-1611-1FB1-A98752604B5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Tailored Communication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Frameworks enable personalised communication strategies to meet individual patient needs effectively.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Systematic Approach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Using frameworks ensures a structured and consistent approach to clinical communication.</a:t>
            </a:r>
          </a:p>
        </p:txBody>
      </p:sp>
      <p:pic>
        <p:nvPicPr>
          <p:cNvPr id="5" name="Content Placeholder 4" descr="an asian malay male doctor sitting in the hospital lounge relaxing and reading his digital tablet">
            <a:extLst>
              <a:ext uri="{FF2B5EF4-FFF2-40B4-BE49-F238E27FC236}">
                <a16:creationId xmlns:a16="http://schemas.microsoft.com/office/drawing/2014/main" id="{B121CE15-6FDD-4E77-B8B5-5572202D50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9000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8389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C9FBA-F8BF-E670-6CFE-79ED6B99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3100"/>
              <a:t>Case study: Selecting and justifying communication methods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CCC03A7C-E92B-4DF6-958A-2B0F01D361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96011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410186" y="1010097"/>
          <a:ext cx="6141734" cy="5314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489921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200D4-510D-5CAE-B5D6-42E6FB1A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300"/>
              <a:t>Assessing cognitive and emotional status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C5F58-083D-B1ED-1020-BF559C0C053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Mental State Understanding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Assessing cognitive and emotional status helps tailor communication to the patient's needs effectively.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Communication Adaptation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Knowledge of patient's mental state guides the approach and complexity of interactions.</a:t>
            </a:r>
          </a:p>
        </p:txBody>
      </p:sp>
      <p:pic>
        <p:nvPicPr>
          <p:cNvPr id="5" name="Content Placeholder 4" descr="Doctor listening to patient's heartbeat during home visit - wearing face mask">
            <a:extLst>
              <a:ext uri="{FF2B5EF4-FFF2-40B4-BE49-F238E27FC236}">
                <a16:creationId xmlns:a16="http://schemas.microsoft.com/office/drawing/2014/main" id="{6F5DA747-0FEC-43C5-AD27-620C4A96B1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8695" r="2" b="2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9577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56D3D-D7E7-7F95-27DC-B295447E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Modifying communication for physical limitations</a:t>
            </a:r>
          </a:p>
        </p:txBody>
      </p:sp>
      <p:pic>
        <p:nvPicPr>
          <p:cNvPr id="5" name="Content Placeholder 4" descr="Woman Scolding Little Boy">
            <a:extLst>
              <a:ext uri="{FF2B5EF4-FFF2-40B4-BE49-F238E27FC236}">
                <a16:creationId xmlns:a16="http://schemas.microsoft.com/office/drawing/2014/main" id="{0BF009D7-7B13-46B8-942F-27BB2636F7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498" r="1" b="1"/>
          <a:stretch>
            <a:fillRect/>
          </a:stretch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AD0B7-151C-E088-05C9-4DAFCD70191A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Speech Impairment Adaptations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Techniques like clear speech and alternative communication aids help people with speech impairments communicate effectively.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Hearing Impairment Accommodations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Using sign language, hearing aids, and visual cues supports communication for those with hearing impairments.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Vision Impairment Adjustments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Employing large print, braille, and audio materials enables effective communication for individuals with vision impairments.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Motor Impairment Support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Adapting communication methods with assistive technologies aids people with motor impairments in interaction.</a:t>
            </a:r>
          </a:p>
        </p:txBody>
      </p:sp>
    </p:spTree>
    <p:extLst>
      <p:ext uri="{BB962C8B-B14F-4D97-AF65-F5344CB8AC3E}">
        <p14:creationId xmlns:p14="http://schemas.microsoft.com/office/powerpoint/2010/main" val="28103577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051B1-1836-8549-9BC1-E7C5EBA0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Tailoring communication to patient preferences</a:t>
            </a:r>
          </a:p>
        </p:txBody>
      </p:sp>
      <p:pic>
        <p:nvPicPr>
          <p:cNvPr id="5" name="Content Placeholder 4" descr="Young male doctor checking a patient's pulse">
            <a:extLst>
              <a:ext uri="{FF2B5EF4-FFF2-40B4-BE49-F238E27FC236}">
                <a16:creationId xmlns:a16="http://schemas.microsoft.com/office/drawing/2014/main" id="{A0828575-A0D4-495C-A51F-0A940CE9FE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7528" r="17406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C3252-193B-7BE4-6744-38AE3A36AAD0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Preferred Language Use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Using the patient’s preferred language enhances understanding and fosters trust.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Adapted Communication Format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Presenting information in an accessible format ensures patients receive messages clearly.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Pace Adjustment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Adjusting the pace of communication helps patients feel comfortable and engaged.</a:t>
            </a:r>
          </a:p>
        </p:txBody>
      </p:sp>
    </p:spTree>
    <p:extLst>
      <p:ext uri="{BB962C8B-B14F-4D97-AF65-F5344CB8AC3E}">
        <p14:creationId xmlns:p14="http://schemas.microsoft.com/office/powerpoint/2010/main" val="35920321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6691A-18E6-765A-660C-22C0DBBC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300"/>
              <a:t>Self-assessment and reflective practice</a:t>
            </a:r>
          </a:p>
        </p:txBody>
      </p:sp>
      <p:pic>
        <p:nvPicPr>
          <p:cNvPr id="5" name="Content Placeholder 4" descr="Young Graffiti Artist Drawing a Sketch on a City Street.">
            <a:extLst>
              <a:ext uri="{FF2B5EF4-FFF2-40B4-BE49-F238E27FC236}">
                <a16:creationId xmlns:a16="http://schemas.microsoft.com/office/drawing/2014/main" id="{0183F914-B6AC-4D2C-87F4-D500F92523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9842" b="-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C8E31-802A-F893-E533-B02EA2C2E46A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Continuous Improvement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Regular reflection fosters ongoing development in communication skills and personal growth.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Awareness of Biases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Self-assessment helps identify and understand personal biases to improve interactions.</a:t>
            </a:r>
          </a:p>
        </p:txBody>
      </p:sp>
    </p:spTree>
    <p:extLst>
      <p:ext uri="{BB962C8B-B14F-4D97-AF65-F5344CB8AC3E}">
        <p14:creationId xmlns:p14="http://schemas.microsoft.com/office/powerpoint/2010/main" val="22882453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A9A67-E0ED-D8E1-0022-3A2ED05F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Recognising the impact on therapeutic relationships</a:t>
            </a:r>
          </a:p>
        </p:txBody>
      </p:sp>
      <p:pic>
        <p:nvPicPr>
          <p:cNvPr id="5" name="Content Placeholder 4" descr="A young Hispanic female nurse walks the halls of a hospital carrying a patient chart.  She is dressed casually in a white t-shirt, is wearing a name badge and has a stethoscope around her neck.  She is smiling as she heads to meet with her patient.">
            <a:extLst>
              <a:ext uri="{FF2B5EF4-FFF2-40B4-BE49-F238E27FC236}">
                <a16:creationId xmlns:a16="http://schemas.microsoft.com/office/drawing/2014/main" id="{402FD38D-FCF5-4BF8-9846-C73AED3B75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8091" r="16843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C4936-F255-70C7-733C-524F3BA2F78E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Building Trust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Effective communication fosters trust between healthcare providers and patients, enhancing cooperation.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Establishing Rapport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Good communication helps develop rapport, making patients feel understood and comfortable.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Enhancing Patient Success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Strong therapeutic relationships improve patient outcomes through better cooperation and adherence.</a:t>
            </a:r>
          </a:p>
        </p:txBody>
      </p:sp>
    </p:spTree>
    <p:extLst>
      <p:ext uri="{BB962C8B-B14F-4D97-AF65-F5344CB8AC3E}">
        <p14:creationId xmlns:p14="http://schemas.microsoft.com/office/powerpoint/2010/main" val="32685298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C19DD-2392-D899-6241-138FE24BE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Improving patient outcomes through better communication</a:t>
            </a:r>
          </a:p>
        </p:txBody>
      </p:sp>
      <p:pic>
        <p:nvPicPr>
          <p:cNvPr id="5" name="Content Placeholder 4" descr="The doctor works at the doctor's office">
            <a:extLst>
              <a:ext uri="{FF2B5EF4-FFF2-40B4-BE49-F238E27FC236}">
                <a16:creationId xmlns:a16="http://schemas.microsoft.com/office/drawing/2014/main" id="{0C88F2E7-98E4-42C3-90EF-EE309C78F5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5652" r="9281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66236-A414-51DD-CF8B-D95C40A910D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Reducing Misunderstandings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Effective communication minimizes patient misunderstandings, ensuring clearer instructions and better care.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Increasing Adherence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Good communication encourages patients to follow treatment plans, improving health outcomes.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Positive Recovery Influence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Enhanced communication supports faster, more effective patient recovery and wellbeing.</a:t>
            </a:r>
          </a:p>
        </p:txBody>
      </p:sp>
    </p:spTree>
    <p:extLst>
      <p:ext uri="{BB962C8B-B14F-4D97-AF65-F5344CB8AC3E}">
        <p14:creationId xmlns:p14="http://schemas.microsoft.com/office/powerpoint/2010/main" val="9710609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A421E-F5E5-76C6-916D-BF199D44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Working with multidisciplinary teams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C723A-13AC-90E0-6B44-0BDE03A99333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Importance of Clear Communication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Effective communication ensures all team members understand goals and responsibilities.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Coordinated Care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Collaboration among diverse experts leads to better coordinated and comprehensive care.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Shared Decision-Making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Involving all stakeholders supports informed and collective decisions for optimal outcomes.</a:t>
            </a:r>
          </a:p>
        </p:txBody>
      </p:sp>
      <p:pic>
        <p:nvPicPr>
          <p:cNvPr id="5" name="Content Placeholder 4" descr="People talking">
            <a:extLst>
              <a:ext uri="{FF2B5EF4-FFF2-40B4-BE49-F238E27FC236}">
                <a16:creationId xmlns:a16="http://schemas.microsoft.com/office/drawing/2014/main" id="{88A98FED-8048-4552-99E0-5CDE69D1B0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4277" r="10716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0449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1603C-F9ED-C887-EDA5-FE0A051D4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/>
              <a:t>Engaging family and carers in communication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DAA96-303F-E1E6-1292-83A2B9188569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Support through Carer Involvement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Involving family and carers enhances support to meet patient's holistic needs effectively.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Improved Understanding Beyond Clinics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Engagement with carers aids understanding of patient needs outside clinical environments.</a:t>
            </a:r>
          </a:p>
        </p:txBody>
      </p:sp>
      <p:pic>
        <p:nvPicPr>
          <p:cNvPr id="5" name="Content Placeholder 4" descr="Women consoling each other at a grief counselling session.">
            <a:extLst>
              <a:ext uri="{FF2B5EF4-FFF2-40B4-BE49-F238E27FC236}">
                <a16:creationId xmlns:a16="http://schemas.microsoft.com/office/drawing/2014/main" id="{5184D043-5A5A-45F2-B3E5-FA2AC1F3DC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17902" r="-1" b="-1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9003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DDC5E-202E-D59D-B4D3-CFDFDE33F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500" dirty="0"/>
              <a:t>Ensuring continuity of care through shared information</a:t>
            </a:r>
          </a:p>
        </p:txBody>
      </p:sp>
      <p:pic>
        <p:nvPicPr>
          <p:cNvPr id="5" name="Content Placeholder 4" descr="Close-up of male doctor using touchpad">
            <a:extLst>
              <a:ext uri="{FF2B5EF4-FFF2-40B4-BE49-F238E27FC236}">
                <a16:creationId xmlns:a16="http://schemas.microsoft.com/office/drawing/2014/main" id="{9391CD7A-6C86-42DD-8FA1-56F3B4C38C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680" r="22021" b="1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F94E8-954A-87BE-A52B-25F5092539D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Accurate Information Exchange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Sharing precise patient data reduces medical errors and improves overall treatment quality.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Consistent Treatment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Consistent information sharing ensures continuity and reliability in patient care over time.</a:t>
            </a:r>
          </a:p>
        </p:txBody>
      </p:sp>
    </p:spTree>
    <p:extLst>
      <p:ext uri="{BB962C8B-B14F-4D97-AF65-F5344CB8AC3E}">
        <p14:creationId xmlns:p14="http://schemas.microsoft.com/office/powerpoint/2010/main" val="15021079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next to a question mark&#10;&#10;AI-generated content may be incorrect.">
            <a:extLst>
              <a:ext uri="{FF2B5EF4-FFF2-40B4-BE49-F238E27FC236}">
                <a16:creationId xmlns:a16="http://schemas.microsoft.com/office/drawing/2014/main" id="{0E3286B8-DED8-400C-7C30-0C04A9AF7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4886" y="0"/>
            <a:ext cx="5024576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7DCA06A-A62E-4592-3E9F-281E09F5ED25}"/>
              </a:ext>
            </a:extLst>
          </p:cNvPr>
          <p:cNvSpPr txBox="1">
            <a:spLocks/>
          </p:cNvSpPr>
          <p:nvPr/>
        </p:nvSpPr>
        <p:spPr>
          <a:xfrm>
            <a:off x="7068024" y="3084615"/>
            <a:ext cx="4117210" cy="6887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dirty="0"/>
              <a:t>Any Question</a:t>
            </a:r>
          </a:p>
        </p:txBody>
      </p:sp>
    </p:spTree>
    <p:extLst>
      <p:ext uri="{BB962C8B-B14F-4D97-AF65-F5344CB8AC3E}">
        <p14:creationId xmlns:p14="http://schemas.microsoft.com/office/powerpoint/2010/main" val="14647846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2836</TotalTime>
  <Words>1658</Words>
  <Application>Microsoft Office PowerPoint</Application>
  <PresentationFormat>Widescreen</PresentationFormat>
  <Paragraphs>275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Bierstadt</vt:lpstr>
      <vt:lpstr>Grandview Display</vt:lpstr>
      <vt:lpstr>DashVTI</vt:lpstr>
      <vt:lpstr>Effective Communication with Individuals with Complex Needs</vt:lpstr>
      <vt:lpstr>Today's Presentation Agenda</vt:lpstr>
      <vt:lpstr>Key principles of therapeutic communication</vt:lpstr>
      <vt:lpstr>The role of communication in physiotherapy outcomes</vt:lpstr>
      <vt:lpstr>The importance of patient-centred care</vt:lpstr>
      <vt:lpstr>Defining complex needs: cognitive, sensory, emotional, and language barriers</vt:lpstr>
      <vt:lpstr>Common causes of communication challenges</vt:lpstr>
      <vt:lpstr>Personalising your approach: recognising individual differences</vt:lpstr>
      <vt:lpstr>Cognitive and intellectual barriers</vt:lpstr>
      <vt:lpstr>Sensory and physical impairments</vt:lpstr>
      <vt:lpstr>Emotional, psychological, and language-related challenges</vt:lpstr>
      <vt:lpstr>Active listening and demonstrating empathy</vt:lpstr>
      <vt:lpstr>Adapting verbal and non-verbal communication</vt:lpstr>
      <vt:lpstr>Augmentative and alternative communication (AAC) methods</vt:lpstr>
      <vt:lpstr>Visual aids and communication boards</vt:lpstr>
      <vt:lpstr>Assistive technology: devices and software</vt:lpstr>
      <vt:lpstr>Role of interpreters and support staff</vt:lpstr>
      <vt:lpstr>Respecting autonomy and informed consent</vt:lpstr>
      <vt:lpstr>Cultural sensitivity and overcoming bias</vt:lpstr>
      <vt:lpstr>Professional boundaries and safeguarding</vt:lpstr>
      <vt:lpstr>Introduction to evidence-based frameworks</vt:lpstr>
      <vt:lpstr>Using frameworks in clinical practice</vt:lpstr>
      <vt:lpstr>Case study: Selecting and justifying communication methods</vt:lpstr>
      <vt:lpstr>Assessing cognitive and emotional status</vt:lpstr>
      <vt:lpstr>Modifying communication for physical limitations</vt:lpstr>
      <vt:lpstr>Tailoring communication to patient preferences</vt:lpstr>
      <vt:lpstr>Self-assessment and reflective practice</vt:lpstr>
      <vt:lpstr>Recognising the impact on therapeutic relationships</vt:lpstr>
      <vt:lpstr>Improving patient outcomes through better communication</vt:lpstr>
      <vt:lpstr>Working with multidisciplinary teams</vt:lpstr>
      <vt:lpstr>Engaging family and carers in communication</vt:lpstr>
      <vt:lpstr>Ensuring continuity of care through shared information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Lubna Syed</dc:creator>
  <cp:lastModifiedBy>Lubna Syed</cp:lastModifiedBy>
  <cp:revision>8</cp:revision>
  <dcterms:created xsi:type="dcterms:W3CDTF">2025-11-05T08:43:07Z</dcterms:created>
  <dcterms:modified xsi:type="dcterms:W3CDTF">2025-11-11T07:23:17Z</dcterms:modified>
</cp:coreProperties>
</file>