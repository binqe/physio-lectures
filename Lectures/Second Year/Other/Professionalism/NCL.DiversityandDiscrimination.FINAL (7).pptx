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0"/>
  </p:notesMasterIdLst>
  <p:sldIdLst>
    <p:sldId id="257" r:id="rId5"/>
    <p:sldId id="258" r:id="rId6"/>
    <p:sldId id="310" r:id="rId7"/>
    <p:sldId id="263" r:id="rId8"/>
    <p:sldId id="259" r:id="rId9"/>
    <p:sldId id="269" r:id="rId10"/>
    <p:sldId id="539" r:id="rId11"/>
    <p:sldId id="266" r:id="rId12"/>
    <p:sldId id="335" r:id="rId13"/>
    <p:sldId id="532" r:id="rId14"/>
    <p:sldId id="323" r:id="rId15"/>
    <p:sldId id="533" r:id="rId16"/>
    <p:sldId id="332" r:id="rId17"/>
    <p:sldId id="534" r:id="rId18"/>
    <p:sldId id="324" r:id="rId19"/>
    <p:sldId id="535" r:id="rId20"/>
    <p:sldId id="329" r:id="rId21"/>
    <p:sldId id="536" r:id="rId22"/>
    <p:sldId id="491" r:id="rId23"/>
    <p:sldId id="540" r:id="rId24"/>
    <p:sldId id="525" r:id="rId25"/>
    <p:sldId id="541" r:id="rId26"/>
    <p:sldId id="509" r:id="rId27"/>
    <p:sldId id="538" r:id="rId28"/>
    <p:sldId id="326" r:id="rId2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1D2C11-69AD-8304-6E42-ADEFE239541A}" name="SHAH, Rakhee (BRUNSWICK PARK MEDICAL PRACTICE)" initials="SP" userId="S::rakheeshah@nhs.net::58d9f443-8119-4c96-baf4-33d6a816c6bf" providerId="AD"/>
  <p188:author id="{29BDA376-1B66-DC3F-627A-B4A4DDEADCBE}" name="IBBERSON, Rachel (NHS CAMDEN CCG)" initials="IC" userId="S::ribberson@nhs.net::c3520d83-f05b-4232-8818-27a788d4e86f" providerId="AD"/>
  <p188:author id="{3BBCCE81-638F-643E-5594-5851925102F5}" name="HALE, Chaima (HAMPSTEAD GROUP PRACTICE)" initials="HP" userId="S::chaima.hale1@nhs.net::63c4230e-20fd-48b4-a7e3-098b7c7e557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F3BBD8-8C58-CD44-4823-3AF77879605D}" v="24" dt="2023-09-15T08:42:46.463"/>
    <p1510:client id="{5D4121E5-3A36-8DE8-A3E7-6AEAD90286D2}" v="2" dt="2023-09-08T12:11:50.175"/>
    <p1510:client id="{6EE4EDC8-AEF7-4099-88BE-62656AA75A9A}" v="2" dt="2023-05-12T13:31:33.378"/>
    <p1510:client id="{7F60F343-9BAE-43CE-861B-DC6C1D73887B}" v="184" dt="2023-04-25T18:25:43.201"/>
    <p1510:client id="{AAB98023-D3D8-4D28-9C04-5464E1F67185}" v="28" dt="2023-05-19T10:35:43.424"/>
    <p1510:client id="{B9C4A127-CA32-49D2-B55E-8D77D53D3205}" v="1" dt="2023-06-06T16:25:04.946"/>
    <p1510:client id="{DB381B6D-9F85-4B3A-816B-E18BCFB505A7}" v="49" dt="2023-06-09T07:24:24.615"/>
    <p1510:client id="{EF4A5FE6-0DF5-65BC-7096-C7B3873DC3D2}" v="57" dt="2023-09-08T12:08:57.0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55629" autoAdjust="0"/>
  </p:normalViewPr>
  <p:slideViewPr>
    <p:cSldViewPr snapToGrid="0">
      <p:cViewPr varScale="1">
        <p:scale>
          <a:sx n="37" d="100"/>
          <a:sy n="37" d="100"/>
        </p:scale>
        <p:origin x="1720"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979318-88F4-47DE-AD6D-7DAD189E340E}"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GB"/>
        </a:p>
      </dgm:t>
    </dgm:pt>
    <dgm:pt modelId="{43354D17-EC06-4968-95C1-8559BCC22522}" type="pres">
      <dgm:prSet presAssocID="{9C979318-88F4-47DE-AD6D-7DAD189E340E}" presName="Name0" presStyleCnt="0">
        <dgm:presLayoutVars>
          <dgm:dir/>
          <dgm:resizeHandles val="exact"/>
        </dgm:presLayoutVars>
      </dgm:prSet>
      <dgm:spPr/>
    </dgm:pt>
  </dgm:ptLst>
  <dgm:cxnLst>
    <dgm:cxn modelId="{0D3CA411-0905-472F-AB3B-CDBA7472598B}" type="presOf" srcId="{9C979318-88F4-47DE-AD6D-7DAD189E340E}" destId="{43354D17-EC06-4968-95C1-8559BCC22522}" srcOrd="0"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415C5E-8BE9-4A85-9789-61FBB46C3000}"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5125ADE-CC01-4AF2-AFEA-CB805F633521}">
      <dgm:prSet custT="1"/>
      <dgm:spPr/>
      <dgm:t>
        <a:bodyPr/>
        <a:lstStyle/>
        <a:p>
          <a:r>
            <a:rPr lang="en-GB" sz="3200" dirty="0"/>
            <a:t>The Equality Act (2010) protects these categories:</a:t>
          </a:r>
          <a:endParaRPr lang="en-US" sz="3200" dirty="0"/>
        </a:p>
      </dgm:t>
    </dgm:pt>
    <dgm:pt modelId="{BA5AE3CC-9C24-40F2-B73C-734149314BB8}" type="parTrans" cxnId="{FC3B5DC9-30A7-4519-A820-EBFFE93344F1}">
      <dgm:prSet/>
      <dgm:spPr/>
      <dgm:t>
        <a:bodyPr/>
        <a:lstStyle/>
        <a:p>
          <a:endParaRPr lang="en-US"/>
        </a:p>
      </dgm:t>
    </dgm:pt>
    <dgm:pt modelId="{9F75246F-A369-49A8-B672-3E231713AF3E}" type="sibTrans" cxnId="{FC3B5DC9-30A7-4519-A820-EBFFE93344F1}">
      <dgm:prSet/>
      <dgm:spPr/>
      <dgm:t>
        <a:bodyPr/>
        <a:lstStyle/>
        <a:p>
          <a:endParaRPr lang="en-US"/>
        </a:p>
      </dgm:t>
    </dgm:pt>
    <dgm:pt modelId="{9B083AE1-2B77-401D-AA94-0E38E2F75EB0}">
      <dgm:prSet/>
      <dgm:spPr/>
      <dgm:t>
        <a:bodyPr/>
        <a:lstStyle/>
        <a:p>
          <a:r>
            <a:rPr lang="en-GB" dirty="0"/>
            <a:t>Age</a:t>
          </a:r>
          <a:endParaRPr lang="en-US" dirty="0"/>
        </a:p>
      </dgm:t>
    </dgm:pt>
    <dgm:pt modelId="{F1E5A670-73E1-4B20-8A57-7D6FC05BD819}" type="parTrans" cxnId="{1EA0D5ED-20C9-41D0-972E-EA3DEEE26ED0}">
      <dgm:prSet/>
      <dgm:spPr/>
      <dgm:t>
        <a:bodyPr/>
        <a:lstStyle/>
        <a:p>
          <a:endParaRPr lang="en-US"/>
        </a:p>
      </dgm:t>
    </dgm:pt>
    <dgm:pt modelId="{06CA0A57-46DF-49EE-B6E5-6B76F04CEE14}" type="sibTrans" cxnId="{1EA0D5ED-20C9-41D0-972E-EA3DEEE26ED0}">
      <dgm:prSet/>
      <dgm:spPr/>
      <dgm:t>
        <a:bodyPr/>
        <a:lstStyle/>
        <a:p>
          <a:endParaRPr lang="en-US"/>
        </a:p>
      </dgm:t>
    </dgm:pt>
    <dgm:pt modelId="{3E93895D-66A1-432C-AF70-E4A98A6B15AD}">
      <dgm:prSet/>
      <dgm:spPr/>
      <dgm:t>
        <a:bodyPr/>
        <a:lstStyle/>
        <a:p>
          <a:r>
            <a:rPr lang="en-GB" dirty="0"/>
            <a:t>Disability</a:t>
          </a:r>
          <a:endParaRPr lang="en-US" dirty="0"/>
        </a:p>
      </dgm:t>
    </dgm:pt>
    <dgm:pt modelId="{9BD9E635-AFE6-42DF-BE8F-86E26AFAB9C9}" type="parTrans" cxnId="{BE08DBF3-5E2E-4FD3-B609-734785129DCF}">
      <dgm:prSet/>
      <dgm:spPr/>
      <dgm:t>
        <a:bodyPr/>
        <a:lstStyle/>
        <a:p>
          <a:endParaRPr lang="en-US"/>
        </a:p>
      </dgm:t>
    </dgm:pt>
    <dgm:pt modelId="{0255A55C-1874-4745-BA71-B0FB08A7F4C9}" type="sibTrans" cxnId="{BE08DBF3-5E2E-4FD3-B609-734785129DCF}">
      <dgm:prSet/>
      <dgm:spPr/>
      <dgm:t>
        <a:bodyPr/>
        <a:lstStyle/>
        <a:p>
          <a:endParaRPr lang="en-US"/>
        </a:p>
      </dgm:t>
    </dgm:pt>
    <dgm:pt modelId="{88196062-9138-4B95-A046-50F674442BCA}">
      <dgm:prSet/>
      <dgm:spPr/>
      <dgm:t>
        <a:bodyPr/>
        <a:lstStyle/>
        <a:p>
          <a:r>
            <a:rPr lang="en-GB" dirty="0"/>
            <a:t>Gender reassignment</a:t>
          </a:r>
          <a:endParaRPr lang="en-US" dirty="0"/>
        </a:p>
      </dgm:t>
    </dgm:pt>
    <dgm:pt modelId="{74162EE5-ADB8-47A7-885F-C3E4E5B690C8}" type="parTrans" cxnId="{28C8429A-B4FE-4ADA-A544-867F1684B5B3}">
      <dgm:prSet/>
      <dgm:spPr/>
      <dgm:t>
        <a:bodyPr/>
        <a:lstStyle/>
        <a:p>
          <a:endParaRPr lang="en-US"/>
        </a:p>
      </dgm:t>
    </dgm:pt>
    <dgm:pt modelId="{DBC62F03-3E26-43C7-92F3-3BAE77BC8E75}" type="sibTrans" cxnId="{28C8429A-B4FE-4ADA-A544-867F1684B5B3}">
      <dgm:prSet/>
      <dgm:spPr/>
      <dgm:t>
        <a:bodyPr/>
        <a:lstStyle/>
        <a:p>
          <a:endParaRPr lang="en-US"/>
        </a:p>
      </dgm:t>
    </dgm:pt>
    <dgm:pt modelId="{96E95A1F-7895-4B7D-91CB-B5C01323C49A}">
      <dgm:prSet/>
      <dgm:spPr/>
      <dgm:t>
        <a:bodyPr/>
        <a:lstStyle/>
        <a:p>
          <a:r>
            <a:rPr lang="en-GB" dirty="0"/>
            <a:t>Marriage and civil partnership</a:t>
          </a:r>
          <a:endParaRPr lang="en-US" dirty="0"/>
        </a:p>
      </dgm:t>
    </dgm:pt>
    <dgm:pt modelId="{95AA5F3A-5939-40BE-B3CF-1F8843B46A0C}" type="parTrans" cxnId="{68093669-E553-4D5E-8866-A6D917EC3479}">
      <dgm:prSet/>
      <dgm:spPr/>
      <dgm:t>
        <a:bodyPr/>
        <a:lstStyle/>
        <a:p>
          <a:endParaRPr lang="en-US"/>
        </a:p>
      </dgm:t>
    </dgm:pt>
    <dgm:pt modelId="{23203971-66E9-43C5-9F2E-81020B998E23}" type="sibTrans" cxnId="{68093669-E553-4D5E-8866-A6D917EC3479}">
      <dgm:prSet/>
      <dgm:spPr/>
      <dgm:t>
        <a:bodyPr/>
        <a:lstStyle/>
        <a:p>
          <a:endParaRPr lang="en-US"/>
        </a:p>
      </dgm:t>
    </dgm:pt>
    <dgm:pt modelId="{7895B51D-EE4A-47C3-8F4F-145752FA205D}">
      <dgm:prSet/>
      <dgm:spPr/>
      <dgm:t>
        <a:bodyPr/>
        <a:lstStyle/>
        <a:p>
          <a:r>
            <a:rPr lang="en-GB" dirty="0"/>
            <a:t>Pregnancy and maternity</a:t>
          </a:r>
          <a:endParaRPr lang="en-US" dirty="0"/>
        </a:p>
      </dgm:t>
    </dgm:pt>
    <dgm:pt modelId="{3B697C8D-87BE-4FB5-8035-7D2D9A9F52FA}" type="parTrans" cxnId="{804FC95F-761D-4278-9F56-5E76B7D9CF9C}">
      <dgm:prSet/>
      <dgm:spPr/>
      <dgm:t>
        <a:bodyPr/>
        <a:lstStyle/>
        <a:p>
          <a:endParaRPr lang="en-US"/>
        </a:p>
      </dgm:t>
    </dgm:pt>
    <dgm:pt modelId="{879FF646-39C0-4BCC-ABC4-3734567B4838}" type="sibTrans" cxnId="{804FC95F-761D-4278-9F56-5E76B7D9CF9C}">
      <dgm:prSet/>
      <dgm:spPr/>
      <dgm:t>
        <a:bodyPr/>
        <a:lstStyle/>
        <a:p>
          <a:endParaRPr lang="en-US"/>
        </a:p>
      </dgm:t>
    </dgm:pt>
    <dgm:pt modelId="{96845DFC-03A2-4CF3-B3CF-779689B48C7F}">
      <dgm:prSet/>
      <dgm:spPr/>
      <dgm:t>
        <a:bodyPr/>
        <a:lstStyle/>
        <a:p>
          <a:r>
            <a:rPr lang="en-GB" dirty="0"/>
            <a:t>Race</a:t>
          </a:r>
          <a:endParaRPr lang="en-US" dirty="0"/>
        </a:p>
      </dgm:t>
    </dgm:pt>
    <dgm:pt modelId="{A4F3D0DD-6DC4-4C72-A598-5E4C71A16703}" type="parTrans" cxnId="{AAD75668-A5AA-4E80-AD15-A8FA223FEC4E}">
      <dgm:prSet/>
      <dgm:spPr/>
      <dgm:t>
        <a:bodyPr/>
        <a:lstStyle/>
        <a:p>
          <a:endParaRPr lang="en-US"/>
        </a:p>
      </dgm:t>
    </dgm:pt>
    <dgm:pt modelId="{F81CD55A-277E-49F6-96ED-A734C1B76DD3}" type="sibTrans" cxnId="{AAD75668-A5AA-4E80-AD15-A8FA223FEC4E}">
      <dgm:prSet/>
      <dgm:spPr/>
      <dgm:t>
        <a:bodyPr/>
        <a:lstStyle/>
        <a:p>
          <a:endParaRPr lang="en-US"/>
        </a:p>
      </dgm:t>
    </dgm:pt>
    <dgm:pt modelId="{F5F92AB1-10B2-450A-98DC-5BC325CA5809}">
      <dgm:prSet/>
      <dgm:spPr/>
      <dgm:t>
        <a:bodyPr/>
        <a:lstStyle/>
        <a:p>
          <a:r>
            <a:rPr lang="en-GB" dirty="0"/>
            <a:t>Religion or belief</a:t>
          </a:r>
          <a:endParaRPr lang="en-US" dirty="0"/>
        </a:p>
      </dgm:t>
    </dgm:pt>
    <dgm:pt modelId="{4D28A04A-071B-4FD6-8EFF-AAA2CD4BFCE0}" type="parTrans" cxnId="{1D8632F8-6AA6-445E-BFCD-4CA483301F95}">
      <dgm:prSet/>
      <dgm:spPr/>
      <dgm:t>
        <a:bodyPr/>
        <a:lstStyle/>
        <a:p>
          <a:endParaRPr lang="en-US"/>
        </a:p>
      </dgm:t>
    </dgm:pt>
    <dgm:pt modelId="{F74AEB29-5BFB-4CFC-AC9C-26FCC11ABB38}" type="sibTrans" cxnId="{1D8632F8-6AA6-445E-BFCD-4CA483301F95}">
      <dgm:prSet/>
      <dgm:spPr/>
      <dgm:t>
        <a:bodyPr/>
        <a:lstStyle/>
        <a:p>
          <a:endParaRPr lang="en-US"/>
        </a:p>
      </dgm:t>
    </dgm:pt>
    <dgm:pt modelId="{31286EC7-B41B-4A57-AE10-E063C2CB6C65}">
      <dgm:prSet/>
      <dgm:spPr/>
      <dgm:t>
        <a:bodyPr/>
        <a:lstStyle/>
        <a:p>
          <a:pPr rtl="0"/>
          <a:r>
            <a:rPr lang="en-GB" dirty="0"/>
            <a:t>Sex</a:t>
          </a:r>
          <a:r>
            <a:rPr lang="en-GB" dirty="0">
              <a:latin typeface="Calibri"/>
            </a:rPr>
            <a:t> </a:t>
          </a:r>
          <a:endParaRPr lang="en-US" dirty="0">
            <a:latin typeface="Calibri"/>
          </a:endParaRPr>
        </a:p>
      </dgm:t>
    </dgm:pt>
    <dgm:pt modelId="{87E2F71B-7902-428B-B185-CAFC75623BFC}" type="parTrans" cxnId="{FA3AD130-A275-42D9-9279-3CCF453A64BE}">
      <dgm:prSet/>
      <dgm:spPr/>
      <dgm:t>
        <a:bodyPr/>
        <a:lstStyle/>
        <a:p>
          <a:endParaRPr lang="en-US"/>
        </a:p>
      </dgm:t>
    </dgm:pt>
    <dgm:pt modelId="{9396D139-DEE4-41A3-B272-6C0A79CC1798}" type="sibTrans" cxnId="{FA3AD130-A275-42D9-9279-3CCF453A64BE}">
      <dgm:prSet/>
      <dgm:spPr/>
      <dgm:t>
        <a:bodyPr/>
        <a:lstStyle/>
        <a:p>
          <a:endParaRPr lang="en-US"/>
        </a:p>
      </dgm:t>
    </dgm:pt>
    <dgm:pt modelId="{AF4740F9-FC6B-4491-90C2-BCF122021372}">
      <dgm:prSet phldr="0"/>
      <dgm:spPr/>
      <dgm:t>
        <a:bodyPr/>
        <a:lstStyle/>
        <a:p>
          <a:r>
            <a:rPr lang="en-GB" dirty="0">
              <a:latin typeface="Calibri"/>
            </a:rPr>
            <a:t>Sexual</a:t>
          </a:r>
          <a:r>
            <a:rPr lang="en-GB" dirty="0"/>
            <a:t> orientation</a:t>
          </a:r>
        </a:p>
      </dgm:t>
    </dgm:pt>
    <dgm:pt modelId="{DE490299-944D-4204-B3E3-A9D32C10242A}" type="parTrans" cxnId="{CD6F2EFF-BC1A-4E51-8E9E-6C2F6AA687AD}">
      <dgm:prSet/>
      <dgm:spPr/>
    </dgm:pt>
    <dgm:pt modelId="{9FF8E49B-8CE6-461D-8595-DC00135B1612}" type="sibTrans" cxnId="{CD6F2EFF-BC1A-4E51-8E9E-6C2F6AA687AD}">
      <dgm:prSet/>
      <dgm:spPr/>
    </dgm:pt>
    <dgm:pt modelId="{E5B22956-7D7A-4C67-B02A-5914635AF153}" type="pres">
      <dgm:prSet presAssocID="{D7415C5E-8BE9-4A85-9789-61FBB46C3000}" presName="vert0" presStyleCnt="0">
        <dgm:presLayoutVars>
          <dgm:dir/>
          <dgm:animOne val="branch"/>
          <dgm:animLvl val="lvl"/>
        </dgm:presLayoutVars>
      </dgm:prSet>
      <dgm:spPr/>
    </dgm:pt>
    <dgm:pt modelId="{458421A3-6E9D-43E9-ADD3-64F6B9616BD5}" type="pres">
      <dgm:prSet presAssocID="{45125ADE-CC01-4AF2-AFEA-CB805F633521}" presName="thickLine" presStyleLbl="alignNode1" presStyleIdx="0" presStyleCnt="1"/>
      <dgm:spPr/>
    </dgm:pt>
    <dgm:pt modelId="{314FB10D-2244-4099-B39B-23F80A7022F4}" type="pres">
      <dgm:prSet presAssocID="{45125ADE-CC01-4AF2-AFEA-CB805F633521}" presName="horz1" presStyleCnt="0"/>
      <dgm:spPr/>
    </dgm:pt>
    <dgm:pt modelId="{3444F920-04F6-4171-A056-2667E5F58FAA}" type="pres">
      <dgm:prSet presAssocID="{45125ADE-CC01-4AF2-AFEA-CB805F633521}" presName="tx1" presStyleLbl="revTx" presStyleIdx="0" presStyleCnt="10"/>
      <dgm:spPr/>
    </dgm:pt>
    <dgm:pt modelId="{6FECADC1-B03E-4FD6-940E-6B6B0F9E4869}" type="pres">
      <dgm:prSet presAssocID="{45125ADE-CC01-4AF2-AFEA-CB805F633521}" presName="vert1" presStyleCnt="0"/>
      <dgm:spPr/>
    </dgm:pt>
    <dgm:pt modelId="{B7523616-B9DE-44FF-A055-26E9395B821F}" type="pres">
      <dgm:prSet presAssocID="{9B083AE1-2B77-401D-AA94-0E38E2F75EB0}" presName="vertSpace2a" presStyleCnt="0"/>
      <dgm:spPr/>
    </dgm:pt>
    <dgm:pt modelId="{5FA79A98-9926-4C35-A738-80CC869838CB}" type="pres">
      <dgm:prSet presAssocID="{9B083AE1-2B77-401D-AA94-0E38E2F75EB0}" presName="horz2" presStyleCnt="0"/>
      <dgm:spPr/>
    </dgm:pt>
    <dgm:pt modelId="{2E9DF142-296B-469A-AE4E-BBF1A3884421}" type="pres">
      <dgm:prSet presAssocID="{9B083AE1-2B77-401D-AA94-0E38E2F75EB0}" presName="horzSpace2" presStyleCnt="0"/>
      <dgm:spPr/>
    </dgm:pt>
    <dgm:pt modelId="{0FF175E5-C6C3-40DE-AC01-B0D666EF1585}" type="pres">
      <dgm:prSet presAssocID="{9B083AE1-2B77-401D-AA94-0E38E2F75EB0}" presName="tx2" presStyleLbl="revTx" presStyleIdx="1" presStyleCnt="10"/>
      <dgm:spPr/>
    </dgm:pt>
    <dgm:pt modelId="{189D82C6-5DE3-43E1-88A9-D1C07C1FECA4}" type="pres">
      <dgm:prSet presAssocID="{9B083AE1-2B77-401D-AA94-0E38E2F75EB0}" presName="vert2" presStyleCnt="0"/>
      <dgm:spPr/>
    </dgm:pt>
    <dgm:pt modelId="{65F11C0E-8770-4AB1-BB59-3C495190BF77}" type="pres">
      <dgm:prSet presAssocID="{9B083AE1-2B77-401D-AA94-0E38E2F75EB0}" presName="thinLine2b" presStyleLbl="callout" presStyleIdx="0" presStyleCnt="9"/>
      <dgm:spPr/>
    </dgm:pt>
    <dgm:pt modelId="{FD75D4FF-907E-40E3-9D85-F0E6E20F97D3}" type="pres">
      <dgm:prSet presAssocID="{9B083AE1-2B77-401D-AA94-0E38E2F75EB0}" presName="vertSpace2b" presStyleCnt="0"/>
      <dgm:spPr/>
    </dgm:pt>
    <dgm:pt modelId="{A60A9073-FA31-4020-87E6-6445D512794D}" type="pres">
      <dgm:prSet presAssocID="{3E93895D-66A1-432C-AF70-E4A98A6B15AD}" presName="horz2" presStyleCnt="0"/>
      <dgm:spPr/>
    </dgm:pt>
    <dgm:pt modelId="{01C0C9F4-5662-4B4E-9291-475D4A03362F}" type="pres">
      <dgm:prSet presAssocID="{3E93895D-66A1-432C-AF70-E4A98A6B15AD}" presName="horzSpace2" presStyleCnt="0"/>
      <dgm:spPr/>
    </dgm:pt>
    <dgm:pt modelId="{33D7E3CF-C30A-495F-A359-E0CC7A9192EC}" type="pres">
      <dgm:prSet presAssocID="{3E93895D-66A1-432C-AF70-E4A98A6B15AD}" presName="tx2" presStyleLbl="revTx" presStyleIdx="2" presStyleCnt="10"/>
      <dgm:spPr/>
    </dgm:pt>
    <dgm:pt modelId="{92205943-E778-41E6-997B-652DFCAF9261}" type="pres">
      <dgm:prSet presAssocID="{3E93895D-66A1-432C-AF70-E4A98A6B15AD}" presName="vert2" presStyleCnt="0"/>
      <dgm:spPr/>
    </dgm:pt>
    <dgm:pt modelId="{3D1D97EF-1664-4C9B-8B32-699AA3F3D2DE}" type="pres">
      <dgm:prSet presAssocID="{3E93895D-66A1-432C-AF70-E4A98A6B15AD}" presName="thinLine2b" presStyleLbl="callout" presStyleIdx="1" presStyleCnt="9"/>
      <dgm:spPr/>
    </dgm:pt>
    <dgm:pt modelId="{62D5C288-BD45-48CA-A7A6-0AB9C75A5824}" type="pres">
      <dgm:prSet presAssocID="{3E93895D-66A1-432C-AF70-E4A98A6B15AD}" presName="vertSpace2b" presStyleCnt="0"/>
      <dgm:spPr/>
    </dgm:pt>
    <dgm:pt modelId="{11C2BECC-4FB2-4BD0-9573-84B39A06A819}" type="pres">
      <dgm:prSet presAssocID="{88196062-9138-4B95-A046-50F674442BCA}" presName="horz2" presStyleCnt="0"/>
      <dgm:spPr/>
    </dgm:pt>
    <dgm:pt modelId="{5A4B6A1B-454E-4A96-900C-02679AD7AD06}" type="pres">
      <dgm:prSet presAssocID="{88196062-9138-4B95-A046-50F674442BCA}" presName="horzSpace2" presStyleCnt="0"/>
      <dgm:spPr/>
    </dgm:pt>
    <dgm:pt modelId="{3AC625F2-F07E-487D-BBA1-C1964108F5AF}" type="pres">
      <dgm:prSet presAssocID="{88196062-9138-4B95-A046-50F674442BCA}" presName="tx2" presStyleLbl="revTx" presStyleIdx="3" presStyleCnt="10"/>
      <dgm:spPr/>
    </dgm:pt>
    <dgm:pt modelId="{9759783E-D8BC-45B3-9B7A-DD3C2CC54981}" type="pres">
      <dgm:prSet presAssocID="{88196062-9138-4B95-A046-50F674442BCA}" presName="vert2" presStyleCnt="0"/>
      <dgm:spPr/>
    </dgm:pt>
    <dgm:pt modelId="{8FF4AA4B-C71D-4351-910D-162604114DF1}" type="pres">
      <dgm:prSet presAssocID="{88196062-9138-4B95-A046-50F674442BCA}" presName="thinLine2b" presStyleLbl="callout" presStyleIdx="2" presStyleCnt="9"/>
      <dgm:spPr/>
    </dgm:pt>
    <dgm:pt modelId="{829121ED-3674-47D0-910A-A8901A391648}" type="pres">
      <dgm:prSet presAssocID="{88196062-9138-4B95-A046-50F674442BCA}" presName="vertSpace2b" presStyleCnt="0"/>
      <dgm:spPr/>
    </dgm:pt>
    <dgm:pt modelId="{F37B82EE-BE56-4380-990E-19AC54724B89}" type="pres">
      <dgm:prSet presAssocID="{96E95A1F-7895-4B7D-91CB-B5C01323C49A}" presName="horz2" presStyleCnt="0"/>
      <dgm:spPr/>
    </dgm:pt>
    <dgm:pt modelId="{91C891B5-9A95-4BDD-9AC8-084E50B939D2}" type="pres">
      <dgm:prSet presAssocID="{96E95A1F-7895-4B7D-91CB-B5C01323C49A}" presName="horzSpace2" presStyleCnt="0"/>
      <dgm:spPr/>
    </dgm:pt>
    <dgm:pt modelId="{A3297189-00CD-4B03-B7ED-8AE093B3E10D}" type="pres">
      <dgm:prSet presAssocID="{96E95A1F-7895-4B7D-91CB-B5C01323C49A}" presName="tx2" presStyleLbl="revTx" presStyleIdx="4" presStyleCnt="10"/>
      <dgm:spPr/>
    </dgm:pt>
    <dgm:pt modelId="{52F57912-181A-4202-BEA1-4C10BFE8313F}" type="pres">
      <dgm:prSet presAssocID="{96E95A1F-7895-4B7D-91CB-B5C01323C49A}" presName="vert2" presStyleCnt="0"/>
      <dgm:spPr/>
    </dgm:pt>
    <dgm:pt modelId="{BEF469B3-F7DC-4446-B374-DBCEC99612CB}" type="pres">
      <dgm:prSet presAssocID="{96E95A1F-7895-4B7D-91CB-B5C01323C49A}" presName="thinLine2b" presStyleLbl="callout" presStyleIdx="3" presStyleCnt="9"/>
      <dgm:spPr/>
    </dgm:pt>
    <dgm:pt modelId="{4B5AAACD-3329-4C01-8327-2C5D34CCDB2A}" type="pres">
      <dgm:prSet presAssocID="{96E95A1F-7895-4B7D-91CB-B5C01323C49A}" presName="vertSpace2b" presStyleCnt="0"/>
      <dgm:spPr/>
    </dgm:pt>
    <dgm:pt modelId="{DF943A0C-6427-4E74-81A2-5CAD1127CA6F}" type="pres">
      <dgm:prSet presAssocID="{7895B51D-EE4A-47C3-8F4F-145752FA205D}" presName="horz2" presStyleCnt="0"/>
      <dgm:spPr/>
    </dgm:pt>
    <dgm:pt modelId="{7A66AB13-4AB1-40C1-B0CC-6B02C3C8D55D}" type="pres">
      <dgm:prSet presAssocID="{7895B51D-EE4A-47C3-8F4F-145752FA205D}" presName="horzSpace2" presStyleCnt="0"/>
      <dgm:spPr/>
    </dgm:pt>
    <dgm:pt modelId="{0EC1034C-FAB1-409B-A7BE-F9898ADEDA79}" type="pres">
      <dgm:prSet presAssocID="{7895B51D-EE4A-47C3-8F4F-145752FA205D}" presName="tx2" presStyleLbl="revTx" presStyleIdx="5" presStyleCnt="10"/>
      <dgm:spPr/>
    </dgm:pt>
    <dgm:pt modelId="{475AA2FE-7034-47EA-A279-C01F866F3D0A}" type="pres">
      <dgm:prSet presAssocID="{7895B51D-EE4A-47C3-8F4F-145752FA205D}" presName="vert2" presStyleCnt="0"/>
      <dgm:spPr/>
    </dgm:pt>
    <dgm:pt modelId="{DF275D76-8FC3-496D-95D6-2BC4B10B642E}" type="pres">
      <dgm:prSet presAssocID="{7895B51D-EE4A-47C3-8F4F-145752FA205D}" presName="thinLine2b" presStyleLbl="callout" presStyleIdx="4" presStyleCnt="9"/>
      <dgm:spPr/>
    </dgm:pt>
    <dgm:pt modelId="{60454D86-2BF9-459D-9265-ADAD985E1F51}" type="pres">
      <dgm:prSet presAssocID="{7895B51D-EE4A-47C3-8F4F-145752FA205D}" presName="vertSpace2b" presStyleCnt="0"/>
      <dgm:spPr/>
    </dgm:pt>
    <dgm:pt modelId="{AC01E0EA-A7D8-408B-880A-10393F969456}" type="pres">
      <dgm:prSet presAssocID="{96845DFC-03A2-4CF3-B3CF-779689B48C7F}" presName="horz2" presStyleCnt="0"/>
      <dgm:spPr/>
    </dgm:pt>
    <dgm:pt modelId="{3E4C6C54-BAB5-4FF4-A43B-0DEC465CBB22}" type="pres">
      <dgm:prSet presAssocID="{96845DFC-03A2-4CF3-B3CF-779689B48C7F}" presName="horzSpace2" presStyleCnt="0"/>
      <dgm:spPr/>
    </dgm:pt>
    <dgm:pt modelId="{3063C12E-142D-4029-9FF0-02EAF08AF558}" type="pres">
      <dgm:prSet presAssocID="{96845DFC-03A2-4CF3-B3CF-779689B48C7F}" presName="tx2" presStyleLbl="revTx" presStyleIdx="6" presStyleCnt="10"/>
      <dgm:spPr/>
    </dgm:pt>
    <dgm:pt modelId="{D4905914-B19B-4E80-B16C-BF85D0770EDF}" type="pres">
      <dgm:prSet presAssocID="{96845DFC-03A2-4CF3-B3CF-779689B48C7F}" presName="vert2" presStyleCnt="0"/>
      <dgm:spPr/>
    </dgm:pt>
    <dgm:pt modelId="{4A92B7B5-952A-4F66-8240-E428EF5F48F6}" type="pres">
      <dgm:prSet presAssocID="{96845DFC-03A2-4CF3-B3CF-779689B48C7F}" presName="thinLine2b" presStyleLbl="callout" presStyleIdx="5" presStyleCnt="9"/>
      <dgm:spPr/>
    </dgm:pt>
    <dgm:pt modelId="{30696C37-3103-4320-B41B-282BE3A24D25}" type="pres">
      <dgm:prSet presAssocID="{96845DFC-03A2-4CF3-B3CF-779689B48C7F}" presName="vertSpace2b" presStyleCnt="0"/>
      <dgm:spPr/>
    </dgm:pt>
    <dgm:pt modelId="{3D334D95-ECF5-41F5-A1B5-8DBB4873AB8F}" type="pres">
      <dgm:prSet presAssocID="{F5F92AB1-10B2-450A-98DC-5BC325CA5809}" presName="horz2" presStyleCnt="0"/>
      <dgm:spPr/>
    </dgm:pt>
    <dgm:pt modelId="{0A15F4CA-A2CA-40AE-8BDA-4F0E78AB9FC7}" type="pres">
      <dgm:prSet presAssocID="{F5F92AB1-10B2-450A-98DC-5BC325CA5809}" presName="horzSpace2" presStyleCnt="0"/>
      <dgm:spPr/>
    </dgm:pt>
    <dgm:pt modelId="{BC0F2313-288D-45DF-8C9A-B0DB5A61393A}" type="pres">
      <dgm:prSet presAssocID="{F5F92AB1-10B2-450A-98DC-5BC325CA5809}" presName="tx2" presStyleLbl="revTx" presStyleIdx="7" presStyleCnt="10"/>
      <dgm:spPr/>
    </dgm:pt>
    <dgm:pt modelId="{F5E2C3B4-DC16-4186-883C-9EA88D73D17A}" type="pres">
      <dgm:prSet presAssocID="{F5F92AB1-10B2-450A-98DC-5BC325CA5809}" presName="vert2" presStyleCnt="0"/>
      <dgm:spPr/>
    </dgm:pt>
    <dgm:pt modelId="{326937C7-6545-481C-9834-26EFC6A7078F}" type="pres">
      <dgm:prSet presAssocID="{F5F92AB1-10B2-450A-98DC-5BC325CA5809}" presName="thinLine2b" presStyleLbl="callout" presStyleIdx="6" presStyleCnt="9"/>
      <dgm:spPr/>
    </dgm:pt>
    <dgm:pt modelId="{A88FB34D-74F5-448B-BA64-571F3B785791}" type="pres">
      <dgm:prSet presAssocID="{F5F92AB1-10B2-450A-98DC-5BC325CA5809}" presName="vertSpace2b" presStyleCnt="0"/>
      <dgm:spPr/>
    </dgm:pt>
    <dgm:pt modelId="{80F8C076-6A30-411B-9655-1765CA322829}" type="pres">
      <dgm:prSet presAssocID="{31286EC7-B41B-4A57-AE10-E063C2CB6C65}" presName="horz2" presStyleCnt="0"/>
      <dgm:spPr/>
    </dgm:pt>
    <dgm:pt modelId="{C519D764-A083-42F3-946E-E388081A2B13}" type="pres">
      <dgm:prSet presAssocID="{31286EC7-B41B-4A57-AE10-E063C2CB6C65}" presName="horzSpace2" presStyleCnt="0"/>
      <dgm:spPr/>
    </dgm:pt>
    <dgm:pt modelId="{A0D688AE-9FBE-4CEB-9C75-77E529A385C8}" type="pres">
      <dgm:prSet presAssocID="{31286EC7-B41B-4A57-AE10-E063C2CB6C65}" presName="tx2" presStyleLbl="revTx" presStyleIdx="8" presStyleCnt="10"/>
      <dgm:spPr/>
    </dgm:pt>
    <dgm:pt modelId="{0324E9B6-BD84-4079-B349-94AB35D3AB29}" type="pres">
      <dgm:prSet presAssocID="{31286EC7-B41B-4A57-AE10-E063C2CB6C65}" presName="vert2" presStyleCnt="0"/>
      <dgm:spPr/>
    </dgm:pt>
    <dgm:pt modelId="{46A85631-7BF3-411D-8964-A6F560985DCA}" type="pres">
      <dgm:prSet presAssocID="{31286EC7-B41B-4A57-AE10-E063C2CB6C65}" presName="thinLine2b" presStyleLbl="callout" presStyleIdx="7" presStyleCnt="9"/>
      <dgm:spPr/>
    </dgm:pt>
    <dgm:pt modelId="{2E196DDA-A8A0-4388-A3C8-C8EABC33CEC4}" type="pres">
      <dgm:prSet presAssocID="{31286EC7-B41B-4A57-AE10-E063C2CB6C65}" presName="vertSpace2b" presStyleCnt="0"/>
      <dgm:spPr/>
    </dgm:pt>
    <dgm:pt modelId="{2E610067-8710-4E89-BB34-51283D8B171D}" type="pres">
      <dgm:prSet presAssocID="{AF4740F9-FC6B-4491-90C2-BCF122021372}" presName="horz2" presStyleCnt="0"/>
      <dgm:spPr/>
    </dgm:pt>
    <dgm:pt modelId="{F350F987-F529-414A-9BAD-0D6B28BAF199}" type="pres">
      <dgm:prSet presAssocID="{AF4740F9-FC6B-4491-90C2-BCF122021372}" presName="horzSpace2" presStyleCnt="0"/>
      <dgm:spPr/>
    </dgm:pt>
    <dgm:pt modelId="{FE4B034F-828E-40FB-96EF-50E02EF7FC7A}" type="pres">
      <dgm:prSet presAssocID="{AF4740F9-FC6B-4491-90C2-BCF122021372}" presName="tx2" presStyleLbl="revTx" presStyleIdx="9" presStyleCnt="10"/>
      <dgm:spPr/>
    </dgm:pt>
    <dgm:pt modelId="{3AF1BEE8-62E5-4202-837D-93D75C0EBD49}" type="pres">
      <dgm:prSet presAssocID="{AF4740F9-FC6B-4491-90C2-BCF122021372}" presName="vert2" presStyleCnt="0"/>
      <dgm:spPr/>
    </dgm:pt>
    <dgm:pt modelId="{72D46C10-A97B-4766-B905-EA99BFA28A6D}" type="pres">
      <dgm:prSet presAssocID="{AF4740F9-FC6B-4491-90C2-BCF122021372}" presName="thinLine2b" presStyleLbl="callout" presStyleIdx="8" presStyleCnt="9"/>
      <dgm:spPr/>
    </dgm:pt>
    <dgm:pt modelId="{87A78123-D6EA-47D7-A421-8B6D254E480D}" type="pres">
      <dgm:prSet presAssocID="{AF4740F9-FC6B-4491-90C2-BCF122021372}" presName="vertSpace2b" presStyleCnt="0"/>
      <dgm:spPr/>
    </dgm:pt>
  </dgm:ptLst>
  <dgm:cxnLst>
    <dgm:cxn modelId="{5CE4440F-97C3-46B8-8F86-AC83CABA0D85}" type="presOf" srcId="{3E93895D-66A1-432C-AF70-E4A98A6B15AD}" destId="{33D7E3CF-C30A-495F-A359-E0CC7A9192EC}" srcOrd="0" destOrd="0" presId="urn:microsoft.com/office/officeart/2008/layout/LinedList"/>
    <dgm:cxn modelId="{FA3AD130-A275-42D9-9279-3CCF453A64BE}" srcId="{45125ADE-CC01-4AF2-AFEA-CB805F633521}" destId="{31286EC7-B41B-4A57-AE10-E063C2CB6C65}" srcOrd="7" destOrd="0" parTransId="{87E2F71B-7902-428B-B185-CAFC75623BFC}" sibTransId="{9396D139-DEE4-41A3-B272-6C0A79CC1798}"/>
    <dgm:cxn modelId="{804FC95F-761D-4278-9F56-5E76B7D9CF9C}" srcId="{45125ADE-CC01-4AF2-AFEA-CB805F633521}" destId="{7895B51D-EE4A-47C3-8F4F-145752FA205D}" srcOrd="4" destOrd="0" parTransId="{3B697C8D-87BE-4FB5-8035-7D2D9A9F52FA}" sibTransId="{879FF646-39C0-4BCC-ABC4-3734567B4838}"/>
    <dgm:cxn modelId="{CB6D2F42-CD7E-4B41-8071-FB78C75E3314}" type="presOf" srcId="{96E95A1F-7895-4B7D-91CB-B5C01323C49A}" destId="{A3297189-00CD-4B03-B7ED-8AE093B3E10D}" srcOrd="0" destOrd="0" presId="urn:microsoft.com/office/officeart/2008/layout/LinedList"/>
    <dgm:cxn modelId="{AAD75668-A5AA-4E80-AD15-A8FA223FEC4E}" srcId="{45125ADE-CC01-4AF2-AFEA-CB805F633521}" destId="{96845DFC-03A2-4CF3-B3CF-779689B48C7F}" srcOrd="5" destOrd="0" parTransId="{A4F3D0DD-6DC4-4C72-A598-5E4C71A16703}" sibTransId="{F81CD55A-277E-49F6-96ED-A734C1B76DD3}"/>
    <dgm:cxn modelId="{68093669-E553-4D5E-8866-A6D917EC3479}" srcId="{45125ADE-CC01-4AF2-AFEA-CB805F633521}" destId="{96E95A1F-7895-4B7D-91CB-B5C01323C49A}" srcOrd="3" destOrd="0" parTransId="{95AA5F3A-5939-40BE-B3CF-1F8843B46A0C}" sibTransId="{23203971-66E9-43C5-9F2E-81020B998E23}"/>
    <dgm:cxn modelId="{5819F057-E19E-4C04-B2E8-9A1C71A92815}" type="presOf" srcId="{AF4740F9-FC6B-4491-90C2-BCF122021372}" destId="{FE4B034F-828E-40FB-96EF-50E02EF7FC7A}" srcOrd="0" destOrd="0" presId="urn:microsoft.com/office/officeart/2008/layout/LinedList"/>
    <dgm:cxn modelId="{F50FB28C-0033-445B-BE88-016AA6709066}" type="presOf" srcId="{D7415C5E-8BE9-4A85-9789-61FBB46C3000}" destId="{E5B22956-7D7A-4C67-B02A-5914635AF153}" srcOrd="0" destOrd="0" presId="urn:microsoft.com/office/officeart/2008/layout/LinedList"/>
    <dgm:cxn modelId="{28C8429A-B4FE-4ADA-A544-867F1684B5B3}" srcId="{45125ADE-CC01-4AF2-AFEA-CB805F633521}" destId="{88196062-9138-4B95-A046-50F674442BCA}" srcOrd="2" destOrd="0" parTransId="{74162EE5-ADB8-47A7-885F-C3E4E5B690C8}" sibTransId="{DBC62F03-3E26-43C7-92F3-3BAE77BC8E75}"/>
    <dgm:cxn modelId="{B64DD5B0-3F9B-4A9C-B58D-A620DF78E30E}" type="presOf" srcId="{F5F92AB1-10B2-450A-98DC-5BC325CA5809}" destId="{BC0F2313-288D-45DF-8C9A-B0DB5A61393A}" srcOrd="0" destOrd="0" presId="urn:microsoft.com/office/officeart/2008/layout/LinedList"/>
    <dgm:cxn modelId="{534E86B2-C187-40A9-A348-67F9C38C80D7}" type="presOf" srcId="{31286EC7-B41B-4A57-AE10-E063C2CB6C65}" destId="{A0D688AE-9FBE-4CEB-9C75-77E529A385C8}" srcOrd="0" destOrd="0" presId="urn:microsoft.com/office/officeart/2008/layout/LinedList"/>
    <dgm:cxn modelId="{FC3B5DC9-30A7-4519-A820-EBFFE93344F1}" srcId="{D7415C5E-8BE9-4A85-9789-61FBB46C3000}" destId="{45125ADE-CC01-4AF2-AFEA-CB805F633521}" srcOrd="0" destOrd="0" parTransId="{BA5AE3CC-9C24-40F2-B73C-734149314BB8}" sibTransId="{9F75246F-A369-49A8-B672-3E231713AF3E}"/>
    <dgm:cxn modelId="{F73A4ECB-5F48-4BC0-AB87-CB654A4E9B28}" type="presOf" srcId="{9B083AE1-2B77-401D-AA94-0E38E2F75EB0}" destId="{0FF175E5-C6C3-40DE-AC01-B0D666EF1585}" srcOrd="0" destOrd="0" presId="urn:microsoft.com/office/officeart/2008/layout/LinedList"/>
    <dgm:cxn modelId="{82AA98CE-A30C-4776-8FDC-3EA17942624F}" type="presOf" srcId="{45125ADE-CC01-4AF2-AFEA-CB805F633521}" destId="{3444F920-04F6-4171-A056-2667E5F58FAA}" srcOrd="0" destOrd="0" presId="urn:microsoft.com/office/officeart/2008/layout/LinedList"/>
    <dgm:cxn modelId="{E53E73D1-403D-4DE9-9471-7BAE22E8B89D}" type="presOf" srcId="{96845DFC-03A2-4CF3-B3CF-779689B48C7F}" destId="{3063C12E-142D-4029-9FF0-02EAF08AF558}" srcOrd="0" destOrd="0" presId="urn:microsoft.com/office/officeart/2008/layout/LinedList"/>
    <dgm:cxn modelId="{610C07D7-39D3-4A18-A189-E46228193B94}" type="presOf" srcId="{88196062-9138-4B95-A046-50F674442BCA}" destId="{3AC625F2-F07E-487D-BBA1-C1964108F5AF}" srcOrd="0" destOrd="0" presId="urn:microsoft.com/office/officeart/2008/layout/LinedList"/>
    <dgm:cxn modelId="{1EA0D5ED-20C9-41D0-972E-EA3DEEE26ED0}" srcId="{45125ADE-CC01-4AF2-AFEA-CB805F633521}" destId="{9B083AE1-2B77-401D-AA94-0E38E2F75EB0}" srcOrd="0" destOrd="0" parTransId="{F1E5A670-73E1-4B20-8A57-7D6FC05BD819}" sibTransId="{06CA0A57-46DF-49EE-B6E5-6B76F04CEE14}"/>
    <dgm:cxn modelId="{926732EF-5EA5-4074-AE02-77AFC4F406E1}" type="presOf" srcId="{7895B51D-EE4A-47C3-8F4F-145752FA205D}" destId="{0EC1034C-FAB1-409B-A7BE-F9898ADEDA79}" srcOrd="0" destOrd="0" presId="urn:microsoft.com/office/officeart/2008/layout/LinedList"/>
    <dgm:cxn modelId="{BE08DBF3-5E2E-4FD3-B609-734785129DCF}" srcId="{45125ADE-CC01-4AF2-AFEA-CB805F633521}" destId="{3E93895D-66A1-432C-AF70-E4A98A6B15AD}" srcOrd="1" destOrd="0" parTransId="{9BD9E635-AFE6-42DF-BE8F-86E26AFAB9C9}" sibTransId="{0255A55C-1874-4745-BA71-B0FB08A7F4C9}"/>
    <dgm:cxn modelId="{1D8632F8-6AA6-445E-BFCD-4CA483301F95}" srcId="{45125ADE-CC01-4AF2-AFEA-CB805F633521}" destId="{F5F92AB1-10B2-450A-98DC-5BC325CA5809}" srcOrd="6" destOrd="0" parTransId="{4D28A04A-071B-4FD6-8EFF-AAA2CD4BFCE0}" sibTransId="{F74AEB29-5BFB-4CFC-AC9C-26FCC11ABB38}"/>
    <dgm:cxn modelId="{CD6F2EFF-BC1A-4E51-8E9E-6C2F6AA687AD}" srcId="{45125ADE-CC01-4AF2-AFEA-CB805F633521}" destId="{AF4740F9-FC6B-4491-90C2-BCF122021372}" srcOrd="8" destOrd="0" parTransId="{DE490299-944D-4204-B3E3-A9D32C10242A}" sibTransId="{9FF8E49B-8CE6-461D-8595-DC00135B1612}"/>
    <dgm:cxn modelId="{49D7AEE1-2F8D-4B6A-A3FC-69EFC6D39CFA}" type="presParOf" srcId="{E5B22956-7D7A-4C67-B02A-5914635AF153}" destId="{458421A3-6E9D-43E9-ADD3-64F6B9616BD5}" srcOrd="0" destOrd="0" presId="urn:microsoft.com/office/officeart/2008/layout/LinedList"/>
    <dgm:cxn modelId="{39EEE510-0AA8-45D1-9E8E-AFCBCDE87363}" type="presParOf" srcId="{E5B22956-7D7A-4C67-B02A-5914635AF153}" destId="{314FB10D-2244-4099-B39B-23F80A7022F4}" srcOrd="1" destOrd="0" presId="urn:microsoft.com/office/officeart/2008/layout/LinedList"/>
    <dgm:cxn modelId="{EE524C64-B586-48C9-8E36-406C40697992}" type="presParOf" srcId="{314FB10D-2244-4099-B39B-23F80A7022F4}" destId="{3444F920-04F6-4171-A056-2667E5F58FAA}" srcOrd="0" destOrd="0" presId="urn:microsoft.com/office/officeart/2008/layout/LinedList"/>
    <dgm:cxn modelId="{6B472CF5-99D4-419E-BBB7-E2FCB21F50CB}" type="presParOf" srcId="{314FB10D-2244-4099-B39B-23F80A7022F4}" destId="{6FECADC1-B03E-4FD6-940E-6B6B0F9E4869}" srcOrd="1" destOrd="0" presId="urn:microsoft.com/office/officeart/2008/layout/LinedList"/>
    <dgm:cxn modelId="{C03C1F00-35CF-4AB4-AE60-5917B21C1A90}" type="presParOf" srcId="{6FECADC1-B03E-4FD6-940E-6B6B0F9E4869}" destId="{B7523616-B9DE-44FF-A055-26E9395B821F}" srcOrd="0" destOrd="0" presId="urn:microsoft.com/office/officeart/2008/layout/LinedList"/>
    <dgm:cxn modelId="{A4931546-B514-4E9A-994B-C7779D54E188}" type="presParOf" srcId="{6FECADC1-B03E-4FD6-940E-6B6B0F9E4869}" destId="{5FA79A98-9926-4C35-A738-80CC869838CB}" srcOrd="1" destOrd="0" presId="urn:microsoft.com/office/officeart/2008/layout/LinedList"/>
    <dgm:cxn modelId="{F43C0F66-07A6-4888-9C53-A8E276F9F2EF}" type="presParOf" srcId="{5FA79A98-9926-4C35-A738-80CC869838CB}" destId="{2E9DF142-296B-469A-AE4E-BBF1A3884421}" srcOrd="0" destOrd="0" presId="urn:microsoft.com/office/officeart/2008/layout/LinedList"/>
    <dgm:cxn modelId="{C02D6B8B-BABA-4CC5-95D5-38327E19036E}" type="presParOf" srcId="{5FA79A98-9926-4C35-A738-80CC869838CB}" destId="{0FF175E5-C6C3-40DE-AC01-B0D666EF1585}" srcOrd="1" destOrd="0" presId="urn:microsoft.com/office/officeart/2008/layout/LinedList"/>
    <dgm:cxn modelId="{D930868D-8D2D-428A-82F1-EE94CBA10234}" type="presParOf" srcId="{5FA79A98-9926-4C35-A738-80CC869838CB}" destId="{189D82C6-5DE3-43E1-88A9-D1C07C1FECA4}" srcOrd="2" destOrd="0" presId="urn:microsoft.com/office/officeart/2008/layout/LinedList"/>
    <dgm:cxn modelId="{D9724DF4-E83B-4827-A658-0E393B8944E5}" type="presParOf" srcId="{6FECADC1-B03E-4FD6-940E-6B6B0F9E4869}" destId="{65F11C0E-8770-4AB1-BB59-3C495190BF77}" srcOrd="2" destOrd="0" presId="urn:microsoft.com/office/officeart/2008/layout/LinedList"/>
    <dgm:cxn modelId="{C3DF2277-15E6-4B77-8F9F-5FD3747C2AC3}" type="presParOf" srcId="{6FECADC1-B03E-4FD6-940E-6B6B0F9E4869}" destId="{FD75D4FF-907E-40E3-9D85-F0E6E20F97D3}" srcOrd="3" destOrd="0" presId="urn:microsoft.com/office/officeart/2008/layout/LinedList"/>
    <dgm:cxn modelId="{5F7C564E-0531-45DC-B76B-AB08A98BF779}" type="presParOf" srcId="{6FECADC1-B03E-4FD6-940E-6B6B0F9E4869}" destId="{A60A9073-FA31-4020-87E6-6445D512794D}" srcOrd="4" destOrd="0" presId="urn:microsoft.com/office/officeart/2008/layout/LinedList"/>
    <dgm:cxn modelId="{04B1F0D7-A036-4424-8A6E-9CC3B535A848}" type="presParOf" srcId="{A60A9073-FA31-4020-87E6-6445D512794D}" destId="{01C0C9F4-5662-4B4E-9291-475D4A03362F}" srcOrd="0" destOrd="0" presId="urn:microsoft.com/office/officeart/2008/layout/LinedList"/>
    <dgm:cxn modelId="{B85CFE7E-9709-4F49-B65F-8B0E9C927E57}" type="presParOf" srcId="{A60A9073-FA31-4020-87E6-6445D512794D}" destId="{33D7E3CF-C30A-495F-A359-E0CC7A9192EC}" srcOrd="1" destOrd="0" presId="urn:microsoft.com/office/officeart/2008/layout/LinedList"/>
    <dgm:cxn modelId="{BDD8DA2A-42D3-4E92-B733-40785AC41C5C}" type="presParOf" srcId="{A60A9073-FA31-4020-87E6-6445D512794D}" destId="{92205943-E778-41E6-997B-652DFCAF9261}" srcOrd="2" destOrd="0" presId="urn:microsoft.com/office/officeart/2008/layout/LinedList"/>
    <dgm:cxn modelId="{A37334D1-ECFD-4B9A-B3A1-269A8284A956}" type="presParOf" srcId="{6FECADC1-B03E-4FD6-940E-6B6B0F9E4869}" destId="{3D1D97EF-1664-4C9B-8B32-699AA3F3D2DE}" srcOrd="5" destOrd="0" presId="urn:microsoft.com/office/officeart/2008/layout/LinedList"/>
    <dgm:cxn modelId="{66480AB8-3CEA-4B29-B79C-AA697A050247}" type="presParOf" srcId="{6FECADC1-B03E-4FD6-940E-6B6B0F9E4869}" destId="{62D5C288-BD45-48CA-A7A6-0AB9C75A5824}" srcOrd="6" destOrd="0" presId="urn:microsoft.com/office/officeart/2008/layout/LinedList"/>
    <dgm:cxn modelId="{6D4F9999-02CA-4778-BCEB-5D9E9DD3C336}" type="presParOf" srcId="{6FECADC1-B03E-4FD6-940E-6B6B0F9E4869}" destId="{11C2BECC-4FB2-4BD0-9573-84B39A06A819}" srcOrd="7" destOrd="0" presId="urn:microsoft.com/office/officeart/2008/layout/LinedList"/>
    <dgm:cxn modelId="{58C6A55A-B445-4568-999F-C84832B6A47B}" type="presParOf" srcId="{11C2BECC-4FB2-4BD0-9573-84B39A06A819}" destId="{5A4B6A1B-454E-4A96-900C-02679AD7AD06}" srcOrd="0" destOrd="0" presId="urn:microsoft.com/office/officeart/2008/layout/LinedList"/>
    <dgm:cxn modelId="{14D2419F-A592-4D00-A4FB-14B3DA78775D}" type="presParOf" srcId="{11C2BECC-4FB2-4BD0-9573-84B39A06A819}" destId="{3AC625F2-F07E-487D-BBA1-C1964108F5AF}" srcOrd="1" destOrd="0" presId="urn:microsoft.com/office/officeart/2008/layout/LinedList"/>
    <dgm:cxn modelId="{51F52230-1400-4122-9523-26ED6AF8C9C4}" type="presParOf" srcId="{11C2BECC-4FB2-4BD0-9573-84B39A06A819}" destId="{9759783E-D8BC-45B3-9B7A-DD3C2CC54981}" srcOrd="2" destOrd="0" presId="urn:microsoft.com/office/officeart/2008/layout/LinedList"/>
    <dgm:cxn modelId="{03888793-17CD-43A7-AC1B-731AAEE60422}" type="presParOf" srcId="{6FECADC1-B03E-4FD6-940E-6B6B0F9E4869}" destId="{8FF4AA4B-C71D-4351-910D-162604114DF1}" srcOrd="8" destOrd="0" presId="urn:microsoft.com/office/officeart/2008/layout/LinedList"/>
    <dgm:cxn modelId="{9B43FF68-5231-4478-99BA-291C0164C2D3}" type="presParOf" srcId="{6FECADC1-B03E-4FD6-940E-6B6B0F9E4869}" destId="{829121ED-3674-47D0-910A-A8901A391648}" srcOrd="9" destOrd="0" presId="urn:microsoft.com/office/officeart/2008/layout/LinedList"/>
    <dgm:cxn modelId="{842E45E0-4E25-411A-A129-CA10D99F02BD}" type="presParOf" srcId="{6FECADC1-B03E-4FD6-940E-6B6B0F9E4869}" destId="{F37B82EE-BE56-4380-990E-19AC54724B89}" srcOrd="10" destOrd="0" presId="urn:microsoft.com/office/officeart/2008/layout/LinedList"/>
    <dgm:cxn modelId="{41E6D2D9-E05F-47C9-B58D-5D44863F2471}" type="presParOf" srcId="{F37B82EE-BE56-4380-990E-19AC54724B89}" destId="{91C891B5-9A95-4BDD-9AC8-084E50B939D2}" srcOrd="0" destOrd="0" presId="urn:microsoft.com/office/officeart/2008/layout/LinedList"/>
    <dgm:cxn modelId="{2BE80F05-9091-423C-B6DF-E6A45757F6D0}" type="presParOf" srcId="{F37B82EE-BE56-4380-990E-19AC54724B89}" destId="{A3297189-00CD-4B03-B7ED-8AE093B3E10D}" srcOrd="1" destOrd="0" presId="urn:microsoft.com/office/officeart/2008/layout/LinedList"/>
    <dgm:cxn modelId="{366084DE-8229-4655-A269-E0D83B8F1045}" type="presParOf" srcId="{F37B82EE-BE56-4380-990E-19AC54724B89}" destId="{52F57912-181A-4202-BEA1-4C10BFE8313F}" srcOrd="2" destOrd="0" presId="urn:microsoft.com/office/officeart/2008/layout/LinedList"/>
    <dgm:cxn modelId="{6A3708B8-FEF2-4536-A1F3-CB7F43E88F8F}" type="presParOf" srcId="{6FECADC1-B03E-4FD6-940E-6B6B0F9E4869}" destId="{BEF469B3-F7DC-4446-B374-DBCEC99612CB}" srcOrd="11" destOrd="0" presId="urn:microsoft.com/office/officeart/2008/layout/LinedList"/>
    <dgm:cxn modelId="{5BDFCE1A-7059-4020-B920-5D1619A49C83}" type="presParOf" srcId="{6FECADC1-B03E-4FD6-940E-6B6B0F9E4869}" destId="{4B5AAACD-3329-4C01-8327-2C5D34CCDB2A}" srcOrd="12" destOrd="0" presId="urn:microsoft.com/office/officeart/2008/layout/LinedList"/>
    <dgm:cxn modelId="{7FF5E7E0-7CDC-4914-82C7-2AB1EB16E2E7}" type="presParOf" srcId="{6FECADC1-B03E-4FD6-940E-6B6B0F9E4869}" destId="{DF943A0C-6427-4E74-81A2-5CAD1127CA6F}" srcOrd="13" destOrd="0" presId="urn:microsoft.com/office/officeart/2008/layout/LinedList"/>
    <dgm:cxn modelId="{0F755CF7-8B8E-45EF-8744-B0C96D0B828B}" type="presParOf" srcId="{DF943A0C-6427-4E74-81A2-5CAD1127CA6F}" destId="{7A66AB13-4AB1-40C1-B0CC-6B02C3C8D55D}" srcOrd="0" destOrd="0" presId="urn:microsoft.com/office/officeart/2008/layout/LinedList"/>
    <dgm:cxn modelId="{87FE8AC4-2471-4444-B612-BD1F34D0FD89}" type="presParOf" srcId="{DF943A0C-6427-4E74-81A2-5CAD1127CA6F}" destId="{0EC1034C-FAB1-409B-A7BE-F9898ADEDA79}" srcOrd="1" destOrd="0" presId="urn:microsoft.com/office/officeart/2008/layout/LinedList"/>
    <dgm:cxn modelId="{39B43C94-DBC1-40DF-8DDB-92EE9FEFE5BD}" type="presParOf" srcId="{DF943A0C-6427-4E74-81A2-5CAD1127CA6F}" destId="{475AA2FE-7034-47EA-A279-C01F866F3D0A}" srcOrd="2" destOrd="0" presId="urn:microsoft.com/office/officeart/2008/layout/LinedList"/>
    <dgm:cxn modelId="{BFBA8CBB-A60C-45CA-AC52-EE3D7125C182}" type="presParOf" srcId="{6FECADC1-B03E-4FD6-940E-6B6B0F9E4869}" destId="{DF275D76-8FC3-496D-95D6-2BC4B10B642E}" srcOrd="14" destOrd="0" presId="urn:microsoft.com/office/officeart/2008/layout/LinedList"/>
    <dgm:cxn modelId="{DB371D5A-3906-4460-864C-2D333561C866}" type="presParOf" srcId="{6FECADC1-B03E-4FD6-940E-6B6B0F9E4869}" destId="{60454D86-2BF9-459D-9265-ADAD985E1F51}" srcOrd="15" destOrd="0" presId="urn:microsoft.com/office/officeart/2008/layout/LinedList"/>
    <dgm:cxn modelId="{C0211A22-16DD-4905-9236-F8B42DB1C163}" type="presParOf" srcId="{6FECADC1-B03E-4FD6-940E-6B6B0F9E4869}" destId="{AC01E0EA-A7D8-408B-880A-10393F969456}" srcOrd="16" destOrd="0" presId="urn:microsoft.com/office/officeart/2008/layout/LinedList"/>
    <dgm:cxn modelId="{52591158-6813-4B82-AD95-E74E1A89702D}" type="presParOf" srcId="{AC01E0EA-A7D8-408B-880A-10393F969456}" destId="{3E4C6C54-BAB5-4FF4-A43B-0DEC465CBB22}" srcOrd="0" destOrd="0" presId="urn:microsoft.com/office/officeart/2008/layout/LinedList"/>
    <dgm:cxn modelId="{292659DD-FD50-45AE-9D74-DF8CB78BC767}" type="presParOf" srcId="{AC01E0EA-A7D8-408B-880A-10393F969456}" destId="{3063C12E-142D-4029-9FF0-02EAF08AF558}" srcOrd="1" destOrd="0" presId="urn:microsoft.com/office/officeart/2008/layout/LinedList"/>
    <dgm:cxn modelId="{F7EB9558-2325-44E6-AE96-9859DA66A08E}" type="presParOf" srcId="{AC01E0EA-A7D8-408B-880A-10393F969456}" destId="{D4905914-B19B-4E80-B16C-BF85D0770EDF}" srcOrd="2" destOrd="0" presId="urn:microsoft.com/office/officeart/2008/layout/LinedList"/>
    <dgm:cxn modelId="{CF07AC4D-F09C-46F5-B593-FBDF617233E5}" type="presParOf" srcId="{6FECADC1-B03E-4FD6-940E-6B6B0F9E4869}" destId="{4A92B7B5-952A-4F66-8240-E428EF5F48F6}" srcOrd="17" destOrd="0" presId="urn:microsoft.com/office/officeart/2008/layout/LinedList"/>
    <dgm:cxn modelId="{914EE41E-9897-4A31-9CF1-2A9EF7A4D3E4}" type="presParOf" srcId="{6FECADC1-B03E-4FD6-940E-6B6B0F9E4869}" destId="{30696C37-3103-4320-B41B-282BE3A24D25}" srcOrd="18" destOrd="0" presId="urn:microsoft.com/office/officeart/2008/layout/LinedList"/>
    <dgm:cxn modelId="{5DDD1635-A516-4211-AE08-37AE186E5837}" type="presParOf" srcId="{6FECADC1-B03E-4FD6-940E-6B6B0F9E4869}" destId="{3D334D95-ECF5-41F5-A1B5-8DBB4873AB8F}" srcOrd="19" destOrd="0" presId="urn:microsoft.com/office/officeart/2008/layout/LinedList"/>
    <dgm:cxn modelId="{8BF1298F-1D47-405A-B01D-4CB0328C5844}" type="presParOf" srcId="{3D334D95-ECF5-41F5-A1B5-8DBB4873AB8F}" destId="{0A15F4CA-A2CA-40AE-8BDA-4F0E78AB9FC7}" srcOrd="0" destOrd="0" presId="urn:microsoft.com/office/officeart/2008/layout/LinedList"/>
    <dgm:cxn modelId="{4314D09B-275E-4C8E-AE9B-28327A3A813E}" type="presParOf" srcId="{3D334D95-ECF5-41F5-A1B5-8DBB4873AB8F}" destId="{BC0F2313-288D-45DF-8C9A-B0DB5A61393A}" srcOrd="1" destOrd="0" presId="urn:microsoft.com/office/officeart/2008/layout/LinedList"/>
    <dgm:cxn modelId="{844A6D80-F409-42D4-9B60-BE373008BBB4}" type="presParOf" srcId="{3D334D95-ECF5-41F5-A1B5-8DBB4873AB8F}" destId="{F5E2C3B4-DC16-4186-883C-9EA88D73D17A}" srcOrd="2" destOrd="0" presId="urn:microsoft.com/office/officeart/2008/layout/LinedList"/>
    <dgm:cxn modelId="{E58BCBDB-FC8F-43CF-96C2-3BE560F8B74C}" type="presParOf" srcId="{6FECADC1-B03E-4FD6-940E-6B6B0F9E4869}" destId="{326937C7-6545-481C-9834-26EFC6A7078F}" srcOrd="20" destOrd="0" presId="urn:microsoft.com/office/officeart/2008/layout/LinedList"/>
    <dgm:cxn modelId="{C1A4011D-73E4-4D6F-851C-DF4C14F879D2}" type="presParOf" srcId="{6FECADC1-B03E-4FD6-940E-6B6B0F9E4869}" destId="{A88FB34D-74F5-448B-BA64-571F3B785791}" srcOrd="21" destOrd="0" presId="urn:microsoft.com/office/officeart/2008/layout/LinedList"/>
    <dgm:cxn modelId="{D2764925-3C77-425F-8234-A4953BCBCE5C}" type="presParOf" srcId="{6FECADC1-B03E-4FD6-940E-6B6B0F9E4869}" destId="{80F8C076-6A30-411B-9655-1765CA322829}" srcOrd="22" destOrd="0" presId="urn:microsoft.com/office/officeart/2008/layout/LinedList"/>
    <dgm:cxn modelId="{BA63C717-70B0-4B29-8EF0-DB7F334614A8}" type="presParOf" srcId="{80F8C076-6A30-411B-9655-1765CA322829}" destId="{C519D764-A083-42F3-946E-E388081A2B13}" srcOrd="0" destOrd="0" presId="urn:microsoft.com/office/officeart/2008/layout/LinedList"/>
    <dgm:cxn modelId="{8B0D35D0-233E-4E75-BB03-9DAD4E783639}" type="presParOf" srcId="{80F8C076-6A30-411B-9655-1765CA322829}" destId="{A0D688AE-9FBE-4CEB-9C75-77E529A385C8}" srcOrd="1" destOrd="0" presId="urn:microsoft.com/office/officeart/2008/layout/LinedList"/>
    <dgm:cxn modelId="{BDBCCF24-7CBA-46EF-ADE7-3C740F4BFC07}" type="presParOf" srcId="{80F8C076-6A30-411B-9655-1765CA322829}" destId="{0324E9B6-BD84-4079-B349-94AB35D3AB29}" srcOrd="2" destOrd="0" presId="urn:microsoft.com/office/officeart/2008/layout/LinedList"/>
    <dgm:cxn modelId="{FBA5BD23-29CF-4128-B6E7-BE9E3AEEE69E}" type="presParOf" srcId="{6FECADC1-B03E-4FD6-940E-6B6B0F9E4869}" destId="{46A85631-7BF3-411D-8964-A6F560985DCA}" srcOrd="23" destOrd="0" presId="urn:microsoft.com/office/officeart/2008/layout/LinedList"/>
    <dgm:cxn modelId="{22BECD93-5190-4A80-8995-E38027E86ADE}" type="presParOf" srcId="{6FECADC1-B03E-4FD6-940E-6B6B0F9E4869}" destId="{2E196DDA-A8A0-4388-A3C8-C8EABC33CEC4}" srcOrd="24" destOrd="0" presId="urn:microsoft.com/office/officeart/2008/layout/LinedList"/>
    <dgm:cxn modelId="{4229359A-8546-48B0-A0CE-F978EFC6E8F7}" type="presParOf" srcId="{6FECADC1-B03E-4FD6-940E-6B6B0F9E4869}" destId="{2E610067-8710-4E89-BB34-51283D8B171D}" srcOrd="25" destOrd="0" presId="urn:microsoft.com/office/officeart/2008/layout/LinedList"/>
    <dgm:cxn modelId="{082D8F53-484B-49B3-A71E-ED3E3072A2F2}" type="presParOf" srcId="{2E610067-8710-4E89-BB34-51283D8B171D}" destId="{F350F987-F529-414A-9BAD-0D6B28BAF199}" srcOrd="0" destOrd="0" presId="urn:microsoft.com/office/officeart/2008/layout/LinedList"/>
    <dgm:cxn modelId="{45EBB874-EB8B-4AC0-B6E5-1570EEC1881A}" type="presParOf" srcId="{2E610067-8710-4E89-BB34-51283D8B171D}" destId="{FE4B034F-828E-40FB-96EF-50E02EF7FC7A}" srcOrd="1" destOrd="0" presId="urn:microsoft.com/office/officeart/2008/layout/LinedList"/>
    <dgm:cxn modelId="{14540873-8440-45B2-B1E4-F15DD631C2BC}" type="presParOf" srcId="{2E610067-8710-4E89-BB34-51283D8B171D}" destId="{3AF1BEE8-62E5-4202-837D-93D75C0EBD49}" srcOrd="2" destOrd="0" presId="urn:microsoft.com/office/officeart/2008/layout/LinedList"/>
    <dgm:cxn modelId="{CDA6B915-B24C-4D69-B568-9A2CD30D85B2}" type="presParOf" srcId="{6FECADC1-B03E-4FD6-940E-6B6B0F9E4869}" destId="{72D46C10-A97B-4766-B905-EA99BFA28A6D}" srcOrd="26" destOrd="0" presId="urn:microsoft.com/office/officeart/2008/layout/LinedList"/>
    <dgm:cxn modelId="{56097B12-3E70-4453-A64D-C2DF643E13B1}" type="presParOf" srcId="{6FECADC1-B03E-4FD6-940E-6B6B0F9E4869}" destId="{87A78123-D6EA-47D7-A421-8B6D254E480D}" srcOrd="27" destOrd="0" presId="urn:microsoft.com/office/officeart/2008/layout/LinedList"/>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A450BA-BF56-43EB-A2D3-EF8C04564EFF}" type="doc">
      <dgm:prSet loTypeId="urn:microsoft.com/office/officeart/2016/7/layout/LinearBlockProcessNumbered" loCatId="process" qsTypeId="urn:microsoft.com/office/officeart/2005/8/quickstyle/simple4" qsCatId="simple" csTypeId="urn:microsoft.com/office/officeart/2005/8/colors/accent2_2" csCatId="accent2" phldr="1"/>
      <dgm:spPr/>
      <dgm:t>
        <a:bodyPr/>
        <a:lstStyle/>
        <a:p>
          <a:endParaRPr lang="en-US"/>
        </a:p>
      </dgm:t>
    </dgm:pt>
    <dgm:pt modelId="{1C0F2968-3757-4BD1-9893-91E12382CF99}">
      <dgm:prSet/>
      <dgm:spPr>
        <a:gradFill flip="none" rotWithShape="0">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2700000" scaled="1"/>
          <a:tileRect/>
        </a:gradFill>
      </dgm:spPr>
      <dgm:t>
        <a:bodyPr/>
        <a:lstStyle/>
        <a:p>
          <a:r>
            <a:rPr lang="en-GB"/>
            <a:t>Improve teacher-learner relationships – equitable access and opportunities</a:t>
          </a:r>
          <a:endParaRPr lang="en-US"/>
        </a:p>
      </dgm:t>
    </dgm:pt>
    <dgm:pt modelId="{8BED905D-CA1E-4FF8-BF73-9B692B21E656}" type="parTrans" cxnId="{E8DF2B56-C366-46D2-B702-1784A493D7A5}">
      <dgm:prSet/>
      <dgm:spPr/>
      <dgm:t>
        <a:bodyPr/>
        <a:lstStyle/>
        <a:p>
          <a:endParaRPr lang="en-US"/>
        </a:p>
      </dgm:t>
    </dgm:pt>
    <dgm:pt modelId="{D66D9CB8-148F-4E2B-BA3E-3F82CA4F23EC}" type="sibTrans" cxnId="{E8DF2B56-C366-46D2-B702-1784A493D7A5}">
      <dgm:prSet phldrT="01" phldr="0"/>
      <dgm:spPr/>
      <dgm:t>
        <a:bodyPr/>
        <a:lstStyle/>
        <a:p>
          <a:r>
            <a:rPr lang="en-US"/>
            <a:t>01</a:t>
          </a:r>
          <a:endParaRPr lang="en-US" dirty="0"/>
        </a:p>
      </dgm:t>
    </dgm:pt>
    <dgm:pt modelId="{72645FCA-90F8-49EE-8D70-D01782FE6574}">
      <dgm:prSet/>
      <dgm:spPr>
        <a:gradFill flip="none" rotWithShape="0">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2700000" scaled="1"/>
          <a:tileRect/>
        </a:gradFill>
      </dgm:spPr>
      <dgm:t>
        <a:bodyPr/>
        <a:lstStyle/>
        <a:p>
          <a:r>
            <a:rPr lang="en-GB"/>
            <a:t>Encourage mixed peer relationships</a:t>
          </a:r>
          <a:endParaRPr lang="en-US"/>
        </a:p>
      </dgm:t>
    </dgm:pt>
    <dgm:pt modelId="{A7C9A281-4365-413D-96B2-D1E87176BAB5}" type="parTrans" cxnId="{F0E61267-1CA8-45EF-88BE-AF9B43F7AFED}">
      <dgm:prSet/>
      <dgm:spPr/>
      <dgm:t>
        <a:bodyPr/>
        <a:lstStyle/>
        <a:p>
          <a:endParaRPr lang="en-US"/>
        </a:p>
      </dgm:t>
    </dgm:pt>
    <dgm:pt modelId="{B63DD429-704F-41E2-A646-1CFE8DCA8779}" type="sibTrans" cxnId="{F0E61267-1CA8-45EF-88BE-AF9B43F7AFED}">
      <dgm:prSet phldrT="02" phldr="0"/>
      <dgm:spPr/>
      <dgm:t>
        <a:bodyPr/>
        <a:lstStyle/>
        <a:p>
          <a:r>
            <a:rPr lang="en-US"/>
            <a:t>02</a:t>
          </a:r>
        </a:p>
      </dgm:t>
    </dgm:pt>
    <dgm:pt modelId="{6BBAF9DA-880D-484A-AD60-D5769DC7633A}">
      <dgm:prSet/>
      <dgm:spPr>
        <a:gradFill flip="none" rotWithShape="0">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2700000" scaled="1"/>
          <a:tileRect/>
        </a:gradFill>
      </dgm:spPr>
      <dgm:t>
        <a:bodyPr/>
        <a:lstStyle/>
        <a:p>
          <a:r>
            <a:rPr lang="en-GB" dirty="0"/>
            <a:t>Value Diversity -  not tolerating racism</a:t>
          </a:r>
          <a:endParaRPr lang="en-US" dirty="0"/>
        </a:p>
      </dgm:t>
    </dgm:pt>
    <dgm:pt modelId="{DF7CA747-74A4-4A3A-8152-CD52CFF55620}" type="parTrans" cxnId="{1E57AB7C-5342-4908-B4B0-AF9B9D84D66E}">
      <dgm:prSet/>
      <dgm:spPr/>
      <dgm:t>
        <a:bodyPr/>
        <a:lstStyle/>
        <a:p>
          <a:endParaRPr lang="en-US"/>
        </a:p>
      </dgm:t>
    </dgm:pt>
    <dgm:pt modelId="{671632AA-72D9-40B1-88D4-7481BC34BD3A}" type="sibTrans" cxnId="{1E57AB7C-5342-4908-B4B0-AF9B9D84D66E}">
      <dgm:prSet phldrT="03" phldr="0"/>
      <dgm:spPr/>
      <dgm:t>
        <a:bodyPr/>
        <a:lstStyle/>
        <a:p>
          <a:r>
            <a:rPr lang="en-US"/>
            <a:t>03</a:t>
          </a:r>
        </a:p>
      </dgm:t>
    </dgm:pt>
    <dgm:pt modelId="{1053627A-F083-4C58-A4F2-1DF11E3978B1}" type="pres">
      <dgm:prSet presAssocID="{E5A450BA-BF56-43EB-A2D3-EF8C04564EFF}" presName="Name0" presStyleCnt="0">
        <dgm:presLayoutVars>
          <dgm:animLvl val="lvl"/>
          <dgm:resizeHandles val="exact"/>
        </dgm:presLayoutVars>
      </dgm:prSet>
      <dgm:spPr/>
    </dgm:pt>
    <dgm:pt modelId="{8625916E-B97A-47F5-B982-8D342FA383C6}" type="pres">
      <dgm:prSet presAssocID="{1C0F2968-3757-4BD1-9893-91E12382CF99}" presName="compositeNode" presStyleCnt="0">
        <dgm:presLayoutVars>
          <dgm:bulletEnabled val="1"/>
        </dgm:presLayoutVars>
      </dgm:prSet>
      <dgm:spPr/>
    </dgm:pt>
    <dgm:pt modelId="{A99949C1-920A-45A6-BBC6-99C04EC13E8E}" type="pres">
      <dgm:prSet presAssocID="{1C0F2968-3757-4BD1-9893-91E12382CF99}" presName="bgRect" presStyleLbl="alignNode1" presStyleIdx="0" presStyleCnt="3"/>
      <dgm:spPr/>
    </dgm:pt>
    <dgm:pt modelId="{4FC769E5-C337-4B14-9AF6-58C81EEB3DF2}" type="pres">
      <dgm:prSet presAssocID="{D66D9CB8-148F-4E2B-BA3E-3F82CA4F23EC}" presName="sibTransNodeRect" presStyleLbl="alignNode1" presStyleIdx="0" presStyleCnt="3">
        <dgm:presLayoutVars>
          <dgm:chMax val="0"/>
          <dgm:bulletEnabled val="1"/>
        </dgm:presLayoutVars>
      </dgm:prSet>
      <dgm:spPr/>
    </dgm:pt>
    <dgm:pt modelId="{BECE9054-AC51-48F3-8F58-3B0FE04FA1C0}" type="pres">
      <dgm:prSet presAssocID="{1C0F2968-3757-4BD1-9893-91E12382CF99}" presName="nodeRect" presStyleLbl="alignNode1" presStyleIdx="0" presStyleCnt="3">
        <dgm:presLayoutVars>
          <dgm:bulletEnabled val="1"/>
        </dgm:presLayoutVars>
      </dgm:prSet>
      <dgm:spPr/>
    </dgm:pt>
    <dgm:pt modelId="{F0226FCB-0F9A-4A63-8CB5-2E43959A7441}" type="pres">
      <dgm:prSet presAssocID="{D66D9CB8-148F-4E2B-BA3E-3F82CA4F23EC}" presName="sibTrans" presStyleCnt="0"/>
      <dgm:spPr/>
    </dgm:pt>
    <dgm:pt modelId="{734A69E9-7EB7-48B6-8905-E5434B7643B2}" type="pres">
      <dgm:prSet presAssocID="{72645FCA-90F8-49EE-8D70-D01782FE6574}" presName="compositeNode" presStyleCnt="0">
        <dgm:presLayoutVars>
          <dgm:bulletEnabled val="1"/>
        </dgm:presLayoutVars>
      </dgm:prSet>
      <dgm:spPr/>
    </dgm:pt>
    <dgm:pt modelId="{3A7BE2AA-0D9A-4BEC-9B1D-3EBE323AE35C}" type="pres">
      <dgm:prSet presAssocID="{72645FCA-90F8-49EE-8D70-D01782FE6574}" presName="bgRect" presStyleLbl="alignNode1" presStyleIdx="1" presStyleCnt="3"/>
      <dgm:spPr/>
    </dgm:pt>
    <dgm:pt modelId="{3DB61D71-C6BE-4E86-8EBD-852BA4F43A33}" type="pres">
      <dgm:prSet presAssocID="{B63DD429-704F-41E2-A646-1CFE8DCA8779}" presName="sibTransNodeRect" presStyleLbl="alignNode1" presStyleIdx="1" presStyleCnt="3">
        <dgm:presLayoutVars>
          <dgm:chMax val="0"/>
          <dgm:bulletEnabled val="1"/>
        </dgm:presLayoutVars>
      </dgm:prSet>
      <dgm:spPr/>
    </dgm:pt>
    <dgm:pt modelId="{3C2779BB-9E6C-41C9-8D90-7D98CC0F84E0}" type="pres">
      <dgm:prSet presAssocID="{72645FCA-90F8-49EE-8D70-D01782FE6574}" presName="nodeRect" presStyleLbl="alignNode1" presStyleIdx="1" presStyleCnt="3">
        <dgm:presLayoutVars>
          <dgm:bulletEnabled val="1"/>
        </dgm:presLayoutVars>
      </dgm:prSet>
      <dgm:spPr/>
    </dgm:pt>
    <dgm:pt modelId="{3AA9F702-9DD1-46F3-BD2E-C41DBF5F8AA7}" type="pres">
      <dgm:prSet presAssocID="{B63DD429-704F-41E2-A646-1CFE8DCA8779}" presName="sibTrans" presStyleCnt="0"/>
      <dgm:spPr/>
    </dgm:pt>
    <dgm:pt modelId="{D3C7C928-AE69-4EF6-8F1B-4CAB95548998}" type="pres">
      <dgm:prSet presAssocID="{6BBAF9DA-880D-484A-AD60-D5769DC7633A}" presName="compositeNode" presStyleCnt="0">
        <dgm:presLayoutVars>
          <dgm:bulletEnabled val="1"/>
        </dgm:presLayoutVars>
      </dgm:prSet>
      <dgm:spPr/>
    </dgm:pt>
    <dgm:pt modelId="{5604F5EE-A598-4F38-9D03-1D993C493566}" type="pres">
      <dgm:prSet presAssocID="{6BBAF9DA-880D-484A-AD60-D5769DC7633A}" presName="bgRect" presStyleLbl="alignNode1" presStyleIdx="2" presStyleCnt="3"/>
      <dgm:spPr/>
    </dgm:pt>
    <dgm:pt modelId="{F01012CD-153B-4746-AD0E-36B8EF5B3333}" type="pres">
      <dgm:prSet presAssocID="{671632AA-72D9-40B1-88D4-7481BC34BD3A}" presName="sibTransNodeRect" presStyleLbl="alignNode1" presStyleIdx="2" presStyleCnt="3">
        <dgm:presLayoutVars>
          <dgm:chMax val="0"/>
          <dgm:bulletEnabled val="1"/>
        </dgm:presLayoutVars>
      </dgm:prSet>
      <dgm:spPr/>
    </dgm:pt>
    <dgm:pt modelId="{02D2774E-1059-4DC1-B41F-84DC971B0775}" type="pres">
      <dgm:prSet presAssocID="{6BBAF9DA-880D-484A-AD60-D5769DC7633A}" presName="nodeRect" presStyleLbl="alignNode1" presStyleIdx="2" presStyleCnt="3">
        <dgm:presLayoutVars>
          <dgm:bulletEnabled val="1"/>
        </dgm:presLayoutVars>
      </dgm:prSet>
      <dgm:spPr/>
    </dgm:pt>
  </dgm:ptLst>
  <dgm:cxnLst>
    <dgm:cxn modelId="{54198C18-0450-4653-BF0E-AAA8D25CD25B}" type="presOf" srcId="{6BBAF9DA-880D-484A-AD60-D5769DC7633A}" destId="{02D2774E-1059-4DC1-B41F-84DC971B0775}" srcOrd="1" destOrd="0" presId="urn:microsoft.com/office/officeart/2016/7/layout/LinearBlockProcessNumbered"/>
    <dgm:cxn modelId="{26D64A28-3BE2-4281-8235-A73BB92B22C5}" type="presOf" srcId="{1C0F2968-3757-4BD1-9893-91E12382CF99}" destId="{BECE9054-AC51-48F3-8F58-3B0FE04FA1C0}" srcOrd="1" destOrd="0" presId="urn:microsoft.com/office/officeart/2016/7/layout/LinearBlockProcessNumbered"/>
    <dgm:cxn modelId="{C75BBA2E-8767-4180-AAC4-BB9842DB02BC}" type="presOf" srcId="{671632AA-72D9-40B1-88D4-7481BC34BD3A}" destId="{F01012CD-153B-4746-AD0E-36B8EF5B3333}" srcOrd="0" destOrd="0" presId="urn:microsoft.com/office/officeart/2016/7/layout/LinearBlockProcessNumbered"/>
    <dgm:cxn modelId="{F0E61267-1CA8-45EF-88BE-AF9B43F7AFED}" srcId="{E5A450BA-BF56-43EB-A2D3-EF8C04564EFF}" destId="{72645FCA-90F8-49EE-8D70-D01782FE6574}" srcOrd="1" destOrd="0" parTransId="{A7C9A281-4365-413D-96B2-D1E87176BAB5}" sibTransId="{B63DD429-704F-41E2-A646-1CFE8DCA8779}"/>
    <dgm:cxn modelId="{B03E6353-218D-4B2C-B4D9-0FAED5AB1FD2}" type="presOf" srcId="{72645FCA-90F8-49EE-8D70-D01782FE6574}" destId="{3A7BE2AA-0D9A-4BEC-9B1D-3EBE323AE35C}" srcOrd="0" destOrd="0" presId="urn:microsoft.com/office/officeart/2016/7/layout/LinearBlockProcessNumbered"/>
    <dgm:cxn modelId="{E8DF2B56-C366-46D2-B702-1784A493D7A5}" srcId="{E5A450BA-BF56-43EB-A2D3-EF8C04564EFF}" destId="{1C0F2968-3757-4BD1-9893-91E12382CF99}" srcOrd="0" destOrd="0" parTransId="{8BED905D-CA1E-4FF8-BF73-9B692B21E656}" sibTransId="{D66D9CB8-148F-4E2B-BA3E-3F82CA4F23EC}"/>
    <dgm:cxn modelId="{1E57AB7C-5342-4908-B4B0-AF9B9D84D66E}" srcId="{E5A450BA-BF56-43EB-A2D3-EF8C04564EFF}" destId="{6BBAF9DA-880D-484A-AD60-D5769DC7633A}" srcOrd="2" destOrd="0" parTransId="{DF7CA747-74A4-4A3A-8152-CD52CFF55620}" sibTransId="{671632AA-72D9-40B1-88D4-7481BC34BD3A}"/>
    <dgm:cxn modelId="{96B95BC6-ACA0-4E85-B1A3-A5DE3511E5B9}" type="presOf" srcId="{D66D9CB8-148F-4E2B-BA3E-3F82CA4F23EC}" destId="{4FC769E5-C337-4B14-9AF6-58C81EEB3DF2}" srcOrd="0" destOrd="0" presId="urn:microsoft.com/office/officeart/2016/7/layout/LinearBlockProcessNumbered"/>
    <dgm:cxn modelId="{7322AADF-2E2E-47EB-92BC-BDDA672055DF}" type="presOf" srcId="{B63DD429-704F-41E2-A646-1CFE8DCA8779}" destId="{3DB61D71-C6BE-4E86-8EBD-852BA4F43A33}" srcOrd="0" destOrd="0" presId="urn:microsoft.com/office/officeart/2016/7/layout/LinearBlockProcessNumbered"/>
    <dgm:cxn modelId="{8535FFF9-19D8-4C10-BFA8-F461A75AE3C7}" type="presOf" srcId="{72645FCA-90F8-49EE-8D70-D01782FE6574}" destId="{3C2779BB-9E6C-41C9-8D90-7D98CC0F84E0}" srcOrd="1" destOrd="0" presId="urn:microsoft.com/office/officeart/2016/7/layout/LinearBlockProcessNumbered"/>
    <dgm:cxn modelId="{FBD947FB-EC24-44AD-8783-C4185394594B}" type="presOf" srcId="{E5A450BA-BF56-43EB-A2D3-EF8C04564EFF}" destId="{1053627A-F083-4C58-A4F2-1DF11E3978B1}" srcOrd="0" destOrd="0" presId="urn:microsoft.com/office/officeart/2016/7/layout/LinearBlockProcessNumbered"/>
    <dgm:cxn modelId="{704B7EFB-7545-4CDE-8B7A-60CC19F62D36}" type="presOf" srcId="{1C0F2968-3757-4BD1-9893-91E12382CF99}" destId="{A99949C1-920A-45A6-BBC6-99C04EC13E8E}" srcOrd="0" destOrd="0" presId="urn:microsoft.com/office/officeart/2016/7/layout/LinearBlockProcessNumbered"/>
    <dgm:cxn modelId="{598BF2FC-4044-4E1D-AC53-CC08C6FBAA60}" type="presOf" srcId="{6BBAF9DA-880D-484A-AD60-D5769DC7633A}" destId="{5604F5EE-A598-4F38-9D03-1D993C493566}" srcOrd="0" destOrd="0" presId="urn:microsoft.com/office/officeart/2016/7/layout/LinearBlockProcessNumbered"/>
    <dgm:cxn modelId="{79559CD3-75EB-4FD1-A905-C09D6A3D92BE}" type="presParOf" srcId="{1053627A-F083-4C58-A4F2-1DF11E3978B1}" destId="{8625916E-B97A-47F5-B982-8D342FA383C6}" srcOrd="0" destOrd="0" presId="urn:microsoft.com/office/officeart/2016/7/layout/LinearBlockProcessNumbered"/>
    <dgm:cxn modelId="{CBA1F30E-0F68-4737-8C64-FC6A65614D45}" type="presParOf" srcId="{8625916E-B97A-47F5-B982-8D342FA383C6}" destId="{A99949C1-920A-45A6-BBC6-99C04EC13E8E}" srcOrd="0" destOrd="0" presId="urn:microsoft.com/office/officeart/2016/7/layout/LinearBlockProcessNumbered"/>
    <dgm:cxn modelId="{C8FAE864-25A6-46C6-A1AC-1EDEE418B640}" type="presParOf" srcId="{8625916E-B97A-47F5-B982-8D342FA383C6}" destId="{4FC769E5-C337-4B14-9AF6-58C81EEB3DF2}" srcOrd="1" destOrd="0" presId="urn:microsoft.com/office/officeart/2016/7/layout/LinearBlockProcessNumbered"/>
    <dgm:cxn modelId="{3753559B-E615-4FC6-9C03-409E10FF1462}" type="presParOf" srcId="{8625916E-B97A-47F5-B982-8D342FA383C6}" destId="{BECE9054-AC51-48F3-8F58-3B0FE04FA1C0}" srcOrd="2" destOrd="0" presId="urn:microsoft.com/office/officeart/2016/7/layout/LinearBlockProcessNumbered"/>
    <dgm:cxn modelId="{54B1A74A-FAF3-469C-84F7-C71DACF8DE08}" type="presParOf" srcId="{1053627A-F083-4C58-A4F2-1DF11E3978B1}" destId="{F0226FCB-0F9A-4A63-8CB5-2E43959A7441}" srcOrd="1" destOrd="0" presId="urn:microsoft.com/office/officeart/2016/7/layout/LinearBlockProcessNumbered"/>
    <dgm:cxn modelId="{A7F0A9B2-E45D-4ABB-8FFF-A6337462B10B}" type="presParOf" srcId="{1053627A-F083-4C58-A4F2-1DF11E3978B1}" destId="{734A69E9-7EB7-48B6-8905-E5434B7643B2}" srcOrd="2" destOrd="0" presId="urn:microsoft.com/office/officeart/2016/7/layout/LinearBlockProcessNumbered"/>
    <dgm:cxn modelId="{1F4D742B-91B0-4D2E-9BA2-2683298D0FBF}" type="presParOf" srcId="{734A69E9-7EB7-48B6-8905-E5434B7643B2}" destId="{3A7BE2AA-0D9A-4BEC-9B1D-3EBE323AE35C}" srcOrd="0" destOrd="0" presId="urn:microsoft.com/office/officeart/2016/7/layout/LinearBlockProcessNumbered"/>
    <dgm:cxn modelId="{475F3DCB-1BD1-48BE-B535-1F862995F057}" type="presParOf" srcId="{734A69E9-7EB7-48B6-8905-E5434B7643B2}" destId="{3DB61D71-C6BE-4E86-8EBD-852BA4F43A33}" srcOrd="1" destOrd="0" presId="urn:microsoft.com/office/officeart/2016/7/layout/LinearBlockProcessNumbered"/>
    <dgm:cxn modelId="{12ED44DC-47C7-4DFF-A989-C7D6F65CC73D}" type="presParOf" srcId="{734A69E9-7EB7-48B6-8905-E5434B7643B2}" destId="{3C2779BB-9E6C-41C9-8D90-7D98CC0F84E0}" srcOrd="2" destOrd="0" presId="urn:microsoft.com/office/officeart/2016/7/layout/LinearBlockProcessNumbered"/>
    <dgm:cxn modelId="{1AF4BBEC-59EC-46E8-8B36-74FA06F63E73}" type="presParOf" srcId="{1053627A-F083-4C58-A4F2-1DF11E3978B1}" destId="{3AA9F702-9DD1-46F3-BD2E-C41DBF5F8AA7}" srcOrd="3" destOrd="0" presId="urn:microsoft.com/office/officeart/2016/7/layout/LinearBlockProcessNumbered"/>
    <dgm:cxn modelId="{6E15B1A2-00B9-4A88-B889-712FF77564CC}" type="presParOf" srcId="{1053627A-F083-4C58-A4F2-1DF11E3978B1}" destId="{D3C7C928-AE69-4EF6-8F1B-4CAB95548998}" srcOrd="4" destOrd="0" presId="urn:microsoft.com/office/officeart/2016/7/layout/LinearBlockProcessNumbered"/>
    <dgm:cxn modelId="{2884086D-5100-4865-9637-A52E3623793D}" type="presParOf" srcId="{D3C7C928-AE69-4EF6-8F1B-4CAB95548998}" destId="{5604F5EE-A598-4F38-9D03-1D993C493566}" srcOrd="0" destOrd="0" presId="urn:microsoft.com/office/officeart/2016/7/layout/LinearBlockProcessNumbered"/>
    <dgm:cxn modelId="{828F6216-4565-4CDC-BEAE-0F098BD0AE6A}" type="presParOf" srcId="{D3C7C928-AE69-4EF6-8F1B-4CAB95548998}" destId="{F01012CD-153B-4746-AD0E-36B8EF5B3333}" srcOrd="1" destOrd="0" presId="urn:microsoft.com/office/officeart/2016/7/layout/LinearBlockProcessNumbered"/>
    <dgm:cxn modelId="{62E792C2-05DB-4BA2-89A8-CDC808488643}" type="presParOf" srcId="{D3C7C928-AE69-4EF6-8F1B-4CAB95548998}" destId="{02D2774E-1059-4DC1-B41F-84DC971B0775}" srcOrd="2" destOrd="0" presId="urn:microsoft.com/office/officeart/2016/7/layout/LinearBlockProcessNumbered"/>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9079A1-9939-4D6C-843F-F2FD2AC11E1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GB"/>
        </a:p>
      </dgm:t>
    </dgm:pt>
    <dgm:pt modelId="{62ADFD35-F616-45FE-BDDB-DB4E0AED2D39}">
      <dgm:prSet phldrT="[Text]" phldr="0"/>
      <dgm:spPr/>
      <dgm:t>
        <a:bodyPr/>
        <a:lstStyle/>
        <a:p>
          <a:pPr rtl="0"/>
          <a:r>
            <a:rPr lang="en-GB" dirty="0">
              <a:latin typeface="Calibri"/>
            </a:rPr>
            <a:t>DIRECT – say something, call them out if safe to do so</a:t>
          </a:r>
          <a:endParaRPr lang="en-GB" dirty="0"/>
        </a:p>
      </dgm:t>
    </dgm:pt>
    <dgm:pt modelId="{7517158E-B15A-40FE-B363-216A0B6D1F51}" type="parTrans" cxnId="{178C2CB7-97E7-41F5-AFE9-B82C34D3A1F9}">
      <dgm:prSet/>
      <dgm:spPr/>
      <dgm:t>
        <a:bodyPr/>
        <a:lstStyle/>
        <a:p>
          <a:endParaRPr lang="en-GB"/>
        </a:p>
      </dgm:t>
    </dgm:pt>
    <dgm:pt modelId="{19868646-0D3E-445E-829D-88593B1523CF}" type="sibTrans" cxnId="{178C2CB7-97E7-41F5-AFE9-B82C34D3A1F9}">
      <dgm:prSet/>
      <dgm:spPr/>
      <dgm:t>
        <a:bodyPr/>
        <a:lstStyle/>
        <a:p>
          <a:endParaRPr lang="en-GB"/>
        </a:p>
      </dgm:t>
    </dgm:pt>
    <dgm:pt modelId="{CFB7DBDE-381F-4E00-8361-CD75FD0D5F02}">
      <dgm:prSet phldrT="[Text]" phldr="0"/>
      <dgm:spPr/>
      <dgm:t>
        <a:bodyPr/>
        <a:lstStyle/>
        <a:p>
          <a:pPr rtl="0"/>
          <a:r>
            <a:rPr lang="en-GB" dirty="0">
              <a:latin typeface="Calibri"/>
            </a:rPr>
            <a:t>DISTRACT – interrupt, get the 'victim' to come with you</a:t>
          </a:r>
          <a:endParaRPr lang="en-GB" dirty="0"/>
        </a:p>
      </dgm:t>
    </dgm:pt>
    <dgm:pt modelId="{B53D118E-39B0-4D6E-9C71-4B1DF252F865}" type="parTrans" cxnId="{5DA270EC-1A5A-4A52-87B7-09361B33A244}">
      <dgm:prSet/>
      <dgm:spPr/>
      <dgm:t>
        <a:bodyPr/>
        <a:lstStyle/>
        <a:p>
          <a:endParaRPr lang="en-GB"/>
        </a:p>
      </dgm:t>
    </dgm:pt>
    <dgm:pt modelId="{33671B1E-B412-44FE-99DE-60FE4326A118}" type="sibTrans" cxnId="{5DA270EC-1A5A-4A52-87B7-09361B33A244}">
      <dgm:prSet/>
      <dgm:spPr/>
      <dgm:t>
        <a:bodyPr/>
        <a:lstStyle/>
        <a:p>
          <a:endParaRPr lang="en-GB"/>
        </a:p>
      </dgm:t>
    </dgm:pt>
    <dgm:pt modelId="{9E6CF54E-F432-48F8-9D41-A1209CF3FB13}">
      <dgm:prSet phldrT="[Text]" phldr="0"/>
      <dgm:spPr/>
      <dgm:t>
        <a:bodyPr/>
        <a:lstStyle/>
        <a:p>
          <a:pPr rtl="0"/>
          <a:r>
            <a:rPr lang="en-GB" dirty="0">
              <a:latin typeface="Calibri"/>
            </a:rPr>
            <a:t>DELAY – check they are ok afterwards, never too late</a:t>
          </a:r>
          <a:endParaRPr lang="en-GB" dirty="0"/>
        </a:p>
      </dgm:t>
    </dgm:pt>
    <dgm:pt modelId="{950017AB-D820-49B9-9F23-8CA05DD8BEC8}" type="parTrans" cxnId="{9AF52433-10A5-4D19-BAA9-C49283282235}">
      <dgm:prSet/>
      <dgm:spPr/>
      <dgm:t>
        <a:bodyPr/>
        <a:lstStyle/>
        <a:p>
          <a:endParaRPr lang="en-GB"/>
        </a:p>
      </dgm:t>
    </dgm:pt>
    <dgm:pt modelId="{4E3A6A07-E2F2-4088-A269-EF3F30CC11DE}" type="sibTrans" cxnId="{9AF52433-10A5-4D19-BAA9-C49283282235}">
      <dgm:prSet/>
      <dgm:spPr/>
      <dgm:t>
        <a:bodyPr/>
        <a:lstStyle/>
        <a:p>
          <a:endParaRPr lang="en-GB"/>
        </a:p>
      </dgm:t>
    </dgm:pt>
    <dgm:pt modelId="{78F200EB-527A-4C9D-9B3F-AE5EB4ECC96C}">
      <dgm:prSet phldrT="[Text]" phldr="0"/>
      <dgm:spPr/>
      <dgm:t>
        <a:bodyPr/>
        <a:lstStyle/>
        <a:p>
          <a:pPr rtl="0"/>
          <a:r>
            <a:rPr lang="en-GB" dirty="0">
              <a:latin typeface="Calibri"/>
            </a:rPr>
            <a:t>DELEGATE – get someone else to help e.g. Speak up Guardian</a:t>
          </a:r>
          <a:endParaRPr lang="en-GB" dirty="0"/>
        </a:p>
      </dgm:t>
    </dgm:pt>
    <dgm:pt modelId="{5283259D-C969-498D-973D-EE5AEAB7CABE}" type="parTrans" cxnId="{795F16FB-C3A6-4849-BE19-FC25BEACD0D0}">
      <dgm:prSet/>
      <dgm:spPr/>
      <dgm:t>
        <a:bodyPr/>
        <a:lstStyle/>
        <a:p>
          <a:endParaRPr lang="en-GB"/>
        </a:p>
      </dgm:t>
    </dgm:pt>
    <dgm:pt modelId="{B89E9F91-6588-4C3C-AF2B-73144D167CDF}" type="sibTrans" cxnId="{795F16FB-C3A6-4849-BE19-FC25BEACD0D0}">
      <dgm:prSet/>
      <dgm:spPr/>
      <dgm:t>
        <a:bodyPr/>
        <a:lstStyle/>
        <a:p>
          <a:endParaRPr lang="en-GB"/>
        </a:p>
      </dgm:t>
    </dgm:pt>
    <dgm:pt modelId="{9940EF9A-D7E6-4F73-ADCA-9F17276F81FA}">
      <dgm:prSet phldrT="[Text]" phldr="0"/>
      <dgm:spPr/>
      <dgm:t>
        <a:bodyPr/>
        <a:lstStyle/>
        <a:p>
          <a:r>
            <a:rPr lang="en-GB" dirty="0">
              <a:latin typeface="Calibri"/>
            </a:rPr>
            <a:t>DOCUMENT</a:t>
          </a:r>
          <a:endParaRPr lang="en-GB" dirty="0"/>
        </a:p>
      </dgm:t>
    </dgm:pt>
    <dgm:pt modelId="{B2DA8289-1291-4E23-AA1B-A82AC2D2A51D}" type="parTrans" cxnId="{16430BF9-69C5-4F21-B569-F5B79DA005DC}">
      <dgm:prSet/>
      <dgm:spPr/>
      <dgm:t>
        <a:bodyPr/>
        <a:lstStyle/>
        <a:p>
          <a:endParaRPr lang="en-GB"/>
        </a:p>
      </dgm:t>
    </dgm:pt>
    <dgm:pt modelId="{F07B253D-7B62-4531-BBEB-5A8C0CA6FAD6}" type="sibTrans" cxnId="{16430BF9-69C5-4F21-B569-F5B79DA005DC}">
      <dgm:prSet/>
      <dgm:spPr/>
      <dgm:t>
        <a:bodyPr/>
        <a:lstStyle/>
        <a:p>
          <a:endParaRPr lang="en-GB"/>
        </a:p>
      </dgm:t>
    </dgm:pt>
    <dgm:pt modelId="{8C5C4594-A53C-4B83-8900-D08CA7D46598}" type="pres">
      <dgm:prSet presAssocID="{F09079A1-9939-4D6C-843F-F2FD2AC11E18}" presName="diagram" presStyleCnt="0">
        <dgm:presLayoutVars>
          <dgm:dir/>
          <dgm:resizeHandles val="exact"/>
        </dgm:presLayoutVars>
      </dgm:prSet>
      <dgm:spPr/>
    </dgm:pt>
    <dgm:pt modelId="{083E30AE-5347-4863-9B97-288DD4ED0A2E}" type="pres">
      <dgm:prSet presAssocID="{62ADFD35-F616-45FE-BDDB-DB4E0AED2D39}" presName="node" presStyleLbl="node1" presStyleIdx="0" presStyleCnt="5">
        <dgm:presLayoutVars>
          <dgm:bulletEnabled val="1"/>
        </dgm:presLayoutVars>
      </dgm:prSet>
      <dgm:spPr/>
    </dgm:pt>
    <dgm:pt modelId="{002D926F-0E8E-4027-9A1B-D272EA4B29C5}" type="pres">
      <dgm:prSet presAssocID="{19868646-0D3E-445E-829D-88593B1523CF}" presName="sibTrans" presStyleCnt="0"/>
      <dgm:spPr/>
    </dgm:pt>
    <dgm:pt modelId="{3953CE32-9A45-417C-B970-C98D40F8C1C1}" type="pres">
      <dgm:prSet presAssocID="{CFB7DBDE-381F-4E00-8361-CD75FD0D5F02}" presName="node" presStyleLbl="node1" presStyleIdx="1" presStyleCnt="5">
        <dgm:presLayoutVars>
          <dgm:bulletEnabled val="1"/>
        </dgm:presLayoutVars>
      </dgm:prSet>
      <dgm:spPr/>
    </dgm:pt>
    <dgm:pt modelId="{09E9CF58-5AAF-4C52-8E09-E013A52788CD}" type="pres">
      <dgm:prSet presAssocID="{33671B1E-B412-44FE-99DE-60FE4326A118}" presName="sibTrans" presStyleCnt="0"/>
      <dgm:spPr/>
    </dgm:pt>
    <dgm:pt modelId="{8AD21C48-3CA1-48A1-B4E3-3F4896244517}" type="pres">
      <dgm:prSet presAssocID="{9E6CF54E-F432-48F8-9D41-A1209CF3FB13}" presName="node" presStyleLbl="node1" presStyleIdx="2" presStyleCnt="5">
        <dgm:presLayoutVars>
          <dgm:bulletEnabled val="1"/>
        </dgm:presLayoutVars>
      </dgm:prSet>
      <dgm:spPr/>
    </dgm:pt>
    <dgm:pt modelId="{DFBDD4DD-C55F-436E-A96A-2C94147C26F4}" type="pres">
      <dgm:prSet presAssocID="{4E3A6A07-E2F2-4088-A269-EF3F30CC11DE}" presName="sibTrans" presStyleCnt="0"/>
      <dgm:spPr/>
    </dgm:pt>
    <dgm:pt modelId="{2E235E6D-A4CC-427C-8C0B-A1B89F587A2A}" type="pres">
      <dgm:prSet presAssocID="{78F200EB-527A-4C9D-9B3F-AE5EB4ECC96C}" presName="node" presStyleLbl="node1" presStyleIdx="3" presStyleCnt="5">
        <dgm:presLayoutVars>
          <dgm:bulletEnabled val="1"/>
        </dgm:presLayoutVars>
      </dgm:prSet>
      <dgm:spPr/>
    </dgm:pt>
    <dgm:pt modelId="{91582C3F-AB58-4239-8725-0EB76385F455}" type="pres">
      <dgm:prSet presAssocID="{B89E9F91-6588-4C3C-AF2B-73144D167CDF}" presName="sibTrans" presStyleCnt="0"/>
      <dgm:spPr/>
    </dgm:pt>
    <dgm:pt modelId="{8E6C2551-0D00-4CF5-8BC4-305876A8DDD0}" type="pres">
      <dgm:prSet presAssocID="{9940EF9A-D7E6-4F73-ADCA-9F17276F81FA}" presName="node" presStyleLbl="node1" presStyleIdx="4" presStyleCnt="5">
        <dgm:presLayoutVars>
          <dgm:bulletEnabled val="1"/>
        </dgm:presLayoutVars>
      </dgm:prSet>
      <dgm:spPr/>
    </dgm:pt>
  </dgm:ptLst>
  <dgm:cxnLst>
    <dgm:cxn modelId="{0E043B13-9813-4D75-A966-787ED190A75C}" type="presOf" srcId="{9E6CF54E-F432-48F8-9D41-A1209CF3FB13}" destId="{8AD21C48-3CA1-48A1-B4E3-3F4896244517}" srcOrd="0" destOrd="0" presId="urn:microsoft.com/office/officeart/2005/8/layout/default"/>
    <dgm:cxn modelId="{D5A1C531-2654-4781-9B84-D1414B059EC4}" type="presOf" srcId="{62ADFD35-F616-45FE-BDDB-DB4E0AED2D39}" destId="{083E30AE-5347-4863-9B97-288DD4ED0A2E}" srcOrd="0" destOrd="0" presId="urn:microsoft.com/office/officeart/2005/8/layout/default"/>
    <dgm:cxn modelId="{9AF52433-10A5-4D19-BAA9-C49283282235}" srcId="{F09079A1-9939-4D6C-843F-F2FD2AC11E18}" destId="{9E6CF54E-F432-48F8-9D41-A1209CF3FB13}" srcOrd="2" destOrd="0" parTransId="{950017AB-D820-49B9-9F23-8CA05DD8BEC8}" sibTransId="{4E3A6A07-E2F2-4088-A269-EF3F30CC11DE}"/>
    <dgm:cxn modelId="{D6FF7581-8706-4650-90E0-61ECA50E31FD}" type="presOf" srcId="{78F200EB-527A-4C9D-9B3F-AE5EB4ECC96C}" destId="{2E235E6D-A4CC-427C-8C0B-A1B89F587A2A}" srcOrd="0" destOrd="0" presId="urn:microsoft.com/office/officeart/2005/8/layout/default"/>
    <dgm:cxn modelId="{E1BEC58A-53F2-4A10-81EE-2B864E66CCF8}" type="presOf" srcId="{CFB7DBDE-381F-4E00-8361-CD75FD0D5F02}" destId="{3953CE32-9A45-417C-B970-C98D40F8C1C1}" srcOrd="0" destOrd="0" presId="urn:microsoft.com/office/officeart/2005/8/layout/default"/>
    <dgm:cxn modelId="{178C2CB7-97E7-41F5-AFE9-B82C34D3A1F9}" srcId="{F09079A1-9939-4D6C-843F-F2FD2AC11E18}" destId="{62ADFD35-F616-45FE-BDDB-DB4E0AED2D39}" srcOrd="0" destOrd="0" parTransId="{7517158E-B15A-40FE-B363-216A0B6D1F51}" sibTransId="{19868646-0D3E-445E-829D-88593B1523CF}"/>
    <dgm:cxn modelId="{25F3C9CD-DB2B-4713-9BBE-7F461A12EAC5}" type="presOf" srcId="{F09079A1-9939-4D6C-843F-F2FD2AC11E18}" destId="{8C5C4594-A53C-4B83-8900-D08CA7D46598}" srcOrd="0" destOrd="0" presId="urn:microsoft.com/office/officeart/2005/8/layout/default"/>
    <dgm:cxn modelId="{D025B8D5-C500-442B-AE2C-B7A261B72295}" type="presOf" srcId="{9940EF9A-D7E6-4F73-ADCA-9F17276F81FA}" destId="{8E6C2551-0D00-4CF5-8BC4-305876A8DDD0}" srcOrd="0" destOrd="0" presId="urn:microsoft.com/office/officeart/2005/8/layout/default"/>
    <dgm:cxn modelId="{5DA270EC-1A5A-4A52-87B7-09361B33A244}" srcId="{F09079A1-9939-4D6C-843F-F2FD2AC11E18}" destId="{CFB7DBDE-381F-4E00-8361-CD75FD0D5F02}" srcOrd="1" destOrd="0" parTransId="{B53D118E-39B0-4D6E-9C71-4B1DF252F865}" sibTransId="{33671B1E-B412-44FE-99DE-60FE4326A118}"/>
    <dgm:cxn modelId="{16430BF9-69C5-4F21-B569-F5B79DA005DC}" srcId="{F09079A1-9939-4D6C-843F-F2FD2AC11E18}" destId="{9940EF9A-D7E6-4F73-ADCA-9F17276F81FA}" srcOrd="4" destOrd="0" parTransId="{B2DA8289-1291-4E23-AA1B-A82AC2D2A51D}" sibTransId="{F07B253D-7B62-4531-BBEB-5A8C0CA6FAD6}"/>
    <dgm:cxn modelId="{795F16FB-C3A6-4849-BE19-FC25BEACD0D0}" srcId="{F09079A1-9939-4D6C-843F-F2FD2AC11E18}" destId="{78F200EB-527A-4C9D-9B3F-AE5EB4ECC96C}" srcOrd="3" destOrd="0" parTransId="{5283259D-C969-498D-973D-EE5AEAB7CABE}" sibTransId="{B89E9F91-6588-4C3C-AF2B-73144D167CDF}"/>
    <dgm:cxn modelId="{F4A4C0E7-8C9D-4750-84C2-99A3D58BAC64}" type="presParOf" srcId="{8C5C4594-A53C-4B83-8900-D08CA7D46598}" destId="{083E30AE-5347-4863-9B97-288DD4ED0A2E}" srcOrd="0" destOrd="0" presId="urn:microsoft.com/office/officeart/2005/8/layout/default"/>
    <dgm:cxn modelId="{DFCFE53A-D22A-468F-9CB6-F23F4E7ADCED}" type="presParOf" srcId="{8C5C4594-A53C-4B83-8900-D08CA7D46598}" destId="{002D926F-0E8E-4027-9A1B-D272EA4B29C5}" srcOrd="1" destOrd="0" presId="urn:microsoft.com/office/officeart/2005/8/layout/default"/>
    <dgm:cxn modelId="{26A93E10-3E79-43D1-BC5D-8F6E2FB4BA46}" type="presParOf" srcId="{8C5C4594-A53C-4B83-8900-D08CA7D46598}" destId="{3953CE32-9A45-417C-B970-C98D40F8C1C1}" srcOrd="2" destOrd="0" presId="urn:microsoft.com/office/officeart/2005/8/layout/default"/>
    <dgm:cxn modelId="{0062682A-32AC-4F2F-B1C5-CFFBF24A963A}" type="presParOf" srcId="{8C5C4594-A53C-4B83-8900-D08CA7D46598}" destId="{09E9CF58-5AAF-4C52-8E09-E013A52788CD}" srcOrd="3" destOrd="0" presId="urn:microsoft.com/office/officeart/2005/8/layout/default"/>
    <dgm:cxn modelId="{15B74467-1CC0-4355-AAC4-86EAAE6AA377}" type="presParOf" srcId="{8C5C4594-A53C-4B83-8900-D08CA7D46598}" destId="{8AD21C48-3CA1-48A1-B4E3-3F4896244517}" srcOrd="4" destOrd="0" presId="urn:microsoft.com/office/officeart/2005/8/layout/default"/>
    <dgm:cxn modelId="{860679BA-234C-4758-807E-11AF273CBAD3}" type="presParOf" srcId="{8C5C4594-A53C-4B83-8900-D08CA7D46598}" destId="{DFBDD4DD-C55F-436E-A96A-2C94147C26F4}" srcOrd="5" destOrd="0" presId="urn:microsoft.com/office/officeart/2005/8/layout/default"/>
    <dgm:cxn modelId="{ECC6C38E-EA80-4A32-933C-70F8F6B0F342}" type="presParOf" srcId="{8C5C4594-A53C-4B83-8900-D08CA7D46598}" destId="{2E235E6D-A4CC-427C-8C0B-A1B89F587A2A}" srcOrd="6" destOrd="0" presId="urn:microsoft.com/office/officeart/2005/8/layout/default"/>
    <dgm:cxn modelId="{6131DAE3-1281-4FC1-873A-45603EC9FFEB}" type="presParOf" srcId="{8C5C4594-A53C-4B83-8900-D08CA7D46598}" destId="{91582C3F-AB58-4239-8725-0EB76385F455}" srcOrd="7" destOrd="0" presId="urn:microsoft.com/office/officeart/2005/8/layout/default"/>
    <dgm:cxn modelId="{7299B63D-A6F7-47D2-B569-8323AC1C1050}" type="presParOf" srcId="{8C5C4594-A53C-4B83-8900-D08CA7D46598}" destId="{8E6C2551-0D00-4CF5-8BC4-305876A8DDD0}"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421A3-6E9D-43E9-ADD3-64F6B9616BD5}">
      <dsp:nvSpPr>
        <dsp:cNvPr id="0" name=""/>
        <dsp:cNvSpPr/>
      </dsp:nvSpPr>
      <dsp:spPr>
        <a:xfrm>
          <a:off x="0" y="0"/>
          <a:ext cx="1156652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44F920-04F6-4171-A056-2667E5F58FAA}">
      <dsp:nvSpPr>
        <dsp:cNvPr id="0" name=""/>
        <dsp:cNvSpPr/>
      </dsp:nvSpPr>
      <dsp:spPr>
        <a:xfrm>
          <a:off x="0" y="0"/>
          <a:ext cx="2313305" cy="45259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GB" sz="3200" kern="1200" dirty="0"/>
            <a:t>The Equality Act (2010) protects these categories:</a:t>
          </a:r>
          <a:endParaRPr lang="en-US" sz="3200" kern="1200" dirty="0"/>
        </a:p>
      </dsp:txBody>
      <dsp:txXfrm>
        <a:off x="0" y="0"/>
        <a:ext cx="2313305" cy="4525963"/>
      </dsp:txXfrm>
    </dsp:sp>
    <dsp:sp modelId="{0FF175E5-C6C3-40DE-AC01-B0D666EF1585}">
      <dsp:nvSpPr>
        <dsp:cNvPr id="0" name=""/>
        <dsp:cNvSpPr/>
      </dsp:nvSpPr>
      <dsp:spPr>
        <a:xfrm>
          <a:off x="2486802" y="23812"/>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t>Age</a:t>
          </a:r>
          <a:endParaRPr lang="en-US" sz="2200" kern="1200" dirty="0"/>
        </a:p>
      </dsp:txBody>
      <dsp:txXfrm>
        <a:off x="2486802" y="23812"/>
        <a:ext cx="9079722" cy="476242"/>
      </dsp:txXfrm>
    </dsp:sp>
    <dsp:sp modelId="{65F11C0E-8770-4AB1-BB59-3C495190BF77}">
      <dsp:nvSpPr>
        <dsp:cNvPr id="0" name=""/>
        <dsp:cNvSpPr/>
      </dsp:nvSpPr>
      <dsp:spPr>
        <a:xfrm>
          <a:off x="2313305" y="500054"/>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3D7E3CF-C30A-495F-A359-E0CC7A9192EC}">
      <dsp:nvSpPr>
        <dsp:cNvPr id="0" name=""/>
        <dsp:cNvSpPr/>
      </dsp:nvSpPr>
      <dsp:spPr>
        <a:xfrm>
          <a:off x="2486802" y="523866"/>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t>Disability</a:t>
          </a:r>
          <a:endParaRPr lang="en-US" sz="2200" kern="1200" dirty="0"/>
        </a:p>
      </dsp:txBody>
      <dsp:txXfrm>
        <a:off x="2486802" y="523866"/>
        <a:ext cx="9079722" cy="476242"/>
      </dsp:txXfrm>
    </dsp:sp>
    <dsp:sp modelId="{3D1D97EF-1664-4C9B-8B32-699AA3F3D2DE}">
      <dsp:nvSpPr>
        <dsp:cNvPr id="0" name=""/>
        <dsp:cNvSpPr/>
      </dsp:nvSpPr>
      <dsp:spPr>
        <a:xfrm>
          <a:off x="2313305" y="1000109"/>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C625F2-F07E-487D-BBA1-C1964108F5AF}">
      <dsp:nvSpPr>
        <dsp:cNvPr id="0" name=""/>
        <dsp:cNvSpPr/>
      </dsp:nvSpPr>
      <dsp:spPr>
        <a:xfrm>
          <a:off x="2486802" y="1023921"/>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t>Gender reassignment</a:t>
          </a:r>
          <a:endParaRPr lang="en-US" sz="2200" kern="1200" dirty="0"/>
        </a:p>
      </dsp:txBody>
      <dsp:txXfrm>
        <a:off x="2486802" y="1023921"/>
        <a:ext cx="9079722" cy="476242"/>
      </dsp:txXfrm>
    </dsp:sp>
    <dsp:sp modelId="{8FF4AA4B-C71D-4351-910D-162604114DF1}">
      <dsp:nvSpPr>
        <dsp:cNvPr id="0" name=""/>
        <dsp:cNvSpPr/>
      </dsp:nvSpPr>
      <dsp:spPr>
        <a:xfrm>
          <a:off x="2313305" y="1500164"/>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297189-00CD-4B03-B7ED-8AE093B3E10D}">
      <dsp:nvSpPr>
        <dsp:cNvPr id="0" name=""/>
        <dsp:cNvSpPr/>
      </dsp:nvSpPr>
      <dsp:spPr>
        <a:xfrm>
          <a:off x="2486802" y="1523976"/>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t>Marriage and civil partnership</a:t>
          </a:r>
          <a:endParaRPr lang="en-US" sz="2200" kern="1200" dirty="0"/>
        </a:p>
      </dsp:txBody>
      <dsp:txXfrm>
        <a:off x="2486802" y="1523976"/>
        <a:ext cx="9079722" cy="476242"/>
      </dsp:txXfrm>
    </dsp:sp>
    <dsp:sp modelId="{BEF469B3-F7DC-4446-B374-DBCEC99612CB}">
      <dsp:nvSpPr>
        <dsp:cNvPr id="0" name=""/>
        <dsp:cNvSpPr/>
      </dsp:nvSpPr>
      <dsp:spPr>
        <a:xfrm>
          <a:off x="2313305" y="2000219"/>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C1034C-FAB1-409B-A7BE-F9898ADEDA79}">
      <dsp:nvSpPr>
        <dsp:cNvPr id="0" name=""/>
        <dsp:cNvSpPr/>
      </dsp:nvSpPr>
      <dsp:spPr>
        <a:xfrm>
          <a:off x="2486802" y="2024031"/>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t>Pregnancy and maternity</a:t>
          </a:r>
          <a:endParaRPr lang="en-US" sz="2200" kern="1200" dirty="0"/>
        </a:p>
      </dsp:txBody>
      <dsp:txXfrm>
        <a:off x="2486802" y="2024031"/>
        <a:ext cx="9079722" cy="476242"/>
      </dsp:txXfrm>
    </dsp:sp>
    <dsp:sp modelId="{DF275D76-8FC3-496D-95D6-2BC4B10B642E}">
      <dsp:nvSpPr>
        <dsp:cNvPr id="0" name=""/>
        <dsp:cNvSpPr/>
      </dsp:nvSpPr>
      <dsp:spPr>
        <a:xfrm>
          <a:off x="2313305" y="2500274"/>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063C12E-142D-4029-9FF0-02EAF08AF558}">
      <dsp:nvSpPr>
        <dsp:cNvPr id="0" name=""/>
        <dsp:cNvSpPr/>
      </dsp:nvSpPr>
      <dsp:spPr>
        <a:xfrm>
          <a:off x="2486802" y="2524086"/>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t>Race</a:t>
          </a:r>
          <a:endParaRPr lang="en-US" sz="2200" kern="1200" dirty="0"/>
        </a:p>
      </dsp:txBody>
      <dsp:txXfrm>
        <a:off x="2486802" y="2524086"/>
        <a:ext cx="9079722" cy="476242"/>
      </dsp:txXfrm>
    </dsp:sp>
    <dsp:sp modelId="{4A92B7B5-952A-4F66-8240-E428EF5F48F6}">
      <dsp:nvSpPr>
        <dsp:cNvPr id="0" name=""/>
        <dsp:cNvSpPr/>
      </dsp:nvSpPr>
      <dsp:spPr>
        <a:xfrm>
          <a:off x="2313305" y="3000328"/>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C0F2313-288D-45DF-8C9A-B0DB5A61393A}">
      <dsp:nvSpPr>
        <dsp:cNvPr id="0" name=""/>
        <dsp:cNvSpPr/>
      </dsp:nvSpPr>
      <dsp:spPr>
        <a:xfrm>
          <a:off x="2486802" y="3024141"/>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t>Religion or belief</a:t>
          </a:r>
          <a:endParaRPr lang="en-US" sz="2200" kern="1200" dirty="0"/>
        </a:p>
      </dsp:txBody>
      <dsp:txXfrm>
        <a:off x="2486802" y="3024141"/>
        <a:ext cx="9079722" cy="476242"/>
      </dsp:txXfrm>
    </dsp:sp>
    <dsp:sp modelId="{326937C7-6545-481C-9834-26EFC6A7078F}">
      <dsp:nvSpPr>
        <dsp:cNvPr id="0" name=""/>
        <dsp:cNvSpPr/>
      </dsp:nvSpPr>
      <dsp:spPr>
        <a:xfrm>
          <a:off x="2313305" y="3500383"/>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D688AE-9FBE-4CEB-9C75-77E529A385C8}">
      <dsp:nvSpPr>
        <dsp:cNvPr id="0" name=""/>
        <dsp:cNvSpPr/>
      </dsp:nvSpPr>
      <dsp:spPr>
        <a:xfrm>
          <a:off x="2486802" y="3524195"/>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GB" sz="2200" kern="1200" dirty="0"/>
            <a:t>Sex</a:t>
          </a:r>
          <a:r>
            <a:rPr lang="en-GB" sz="2200" kern="1200" dirty="0">
              <a:latin typeface="Calibri"/>
            </a:rPr>
            <a:t> </a:t>
          </a:r>
          <a:endParaRPr lang="en-US" sz="2200" kern="1200" dirty="0">
            <a:latin typeface="Calibri"/>
          </a:endParaRPr>
        </a:p>
      </dsp:txBody>
      <dsp:txXfrm>
        <a:off x="2486802" y="3524195"/>
        <a:ext cx="9079722" cy="476242"/>
      </dsp:txXfrm>
    </dsp:sp>
    <dsp:sp modelId="{46A85631-7BF3-411D-8964-A6F560985DCA}">
      <dsp:nvSpPr>
        <dsp:cNvPr id="0" name=""/>
        <dsp:cNvSpPr/>
      </dsp:nvSpPr>
      <dsp:spPr>
        <a:xfrm>
          <a:off x="2313305" y="4000438"/>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4B034F-828E-40FB-96EF-50E02EF7FC7A}">
      <dsp:nvSpPr>
        <dsp:cNvPr id="0" name=""/>
        <dsp:cNvSpPr/>
      </dsp:nvSpPr>
      <dsp:spPr>
        <a:xfrm>
          <a:off x="2486802" y="4024250"/>
          <a:ext cx="9079722" cy="476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GB" sz="2200" kern="1200" dirty="0">
              <a:latin typeface="Calibri"/>
            </a:rPr>
            <a:t>Sexual</a:t>
          </a:r>
          <a:r>
            <a:rPr lang="en-GB" sz="2200" kern="1200" dirty="0"/>
            <a:t> orientation</a:t>
          </a:r>
        </a:p>
      </dsp:txBody>
      <dsp:txXfrm>
        <a:off x="2486802" y="4024250"/>
        <a:ext cx="9079722" cy="476242"/>
      </dsp:txXfrm>
    </dsp:sp>
    <dsp:sp modelId="{72D46C10-A97B-4766-B905-EA99BFA28A6D}">
      <dsp:nvSpPr>
        <dsp:cNvPr id="0" name=""/>
        <dsp:cNvSpPr/>
      </dsp:nvSpPr>
      <dsp:spPr>
        <a:xfrm>
          <a:off x="2313305" y="4500493"/>
          <a:ext cx="9253220"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9949C1-920A-45A6-BBC6-99C04EC13E8E}">
      <dsp:nvSpPr>
        <dsp:cNvPr id="0" name=""/>
        <dsp:cNvSpPr/>
      </dsp:nvSpPr>
      <dsp:spPr>
        <a:xfrm>
          <a:off x="903" y="67149"/>
          <a:ext cx="3659720" cy="4391664"/>
        </a:xfrm>
        <a:prstGeom prst="rect">
          <a:avLst/>
        </a:prstGeom>
        <a:gradFill flip="none" rotWithShape="0">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2700000" scaled="1"/>
          <a:tileRect/>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61499" tIns="0" rIns="361499" bIns="330200" numCol="1" spcCol="1270" anchor="t" anchorCtr="0">
          <a:noAutofit/>
        </a:bodyPr>
        <a:lstStyle/>
        <a:p>
          <a:pPr marL="0" lvl="0" indent="0" algn="l" defTabSz="1155700">
            <a:lnSpc>
              <a:spcPct val="90000"/>
            </a:lnSpc>
            <a:spcBef>
              <a:spcPct val="0"/>
            </a:spcBef>
            <a:spcAft>
              <a:spcPct val="35000"/>
            </a:spcAft>
            <a:buNone/>
          </a:pPr>
          <a:r>
            <a:rPr lang="en-GB" sz="2600" kern="1200"/>
            <a:t>Improve teacher-learner relationships – equitable access and opportunities</a:t>
          </a:r>
          <a:endParaRPr lang="en-US" sz="2600" kern="1200"/>
        </a:p>
      </dsp:txBody>
      <dsp:txXfrm>
        <a:off x="903" y="1823815"/>
        <a:ext cx="3659720" cy="2634998"/>
      </dsp:txXfrm>
    </dsp:sp>
    <dsp:sp modelId="{4FC769E5-C337-4B14-9AF6-58C81EEB3DF2}">
      <dsp:nvSpPr>
        <dsp:cNvPr id="0" name=""/>
        <dsp:cNvSpPr/>
      </dsp:nvSpPr>
      <dsp:spPr>
        <a:xfrm>
          <a:off x="903" y="67149"/>
          <a:ext cx="3659720" cy="1756665"/>
        </a:xfrm>
        <a:prstGeom prst="rect">
          <a:avLst/>
        </a:prstGeom>
        <a:noFill/>
        <a:ln w="9525" cap="flat" cmpd="sng" algn="ctr">
          <a:noFill/>
          <a:prstDash val="solid"/>
        </a:ln>
        <a:effectLst>
          <a:outerShdw blurRad="40000" dist="23000" dir="5400000" rotWithShape="0">
            <a:srgbClr val="000000">
              <a:alpha val="3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61499" tIns="165100" rIns="361499"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903" y="67149"/>
        <a:ext cx="3659720" cy="1756665"/>
      </dsp:txXfrm>
    </dsp:sp>
    <dsp:sp modelId="{3A7BE2AA-0D9A-4BEC-9B1D-3EBE323AE35C}">
      <dsp:nvSpPr>
        <dsp:cNvPr id="0" name=""/>
        <dsp:cNvSpPr/>
      </dsp:nvSpPr>
      <dsp:spPr>
        <a:xfrm>
          <a:off x="3953402" y="67149"/>
          <a:ext cx="3659720" cy="4391664"/>
        </a:xfrm>
        <a:prstGeom prst="rect">
          <a:avLst/>
        </a:prstGeom>
        <a:gradFill flip="none" rotWithShape="0">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lin ang="2700000" scaled="1"/>
          <a:tileRect/>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61499" tIns="0" rIns="361499" bIns="330200" numCol="1" spcCol="1270" anchor="t" anchorCtr="0">
          <a:noAutofit/>
        </a:bodyPr>
        <a:lstStyle/>
        <a:p>
          <a:pPr marL="0" lvl="0" indent="0" algn="l" defTabSz="1155700">
            <a:lnSpc>
              <a:spcPct val="90000"/>
            </a:lnSpc>
            <a:spcBef>
              <a:spcPct val="0"/>
            </a:spcBef>
            <a:spcAft>
              <a:spcPct val="35000"/>
            </a:spcAft>
            <a:buNone/>
          </a:pPr>
          <a:r>
            <a:rPr lang="en-GB" sz="2600" kern="1200"/>
            <a:t>Encourage mixed peer relationships</a:t>
          </a:r>
          <a:endParaRPr lang="en-US" sz="2600" kern="1200"/>
        </a:p>
      </dsp:txBody>
      <dsp:txXfrm>
        <a:off x="3953402" y="1823815"/>
        <a:ext cx="3659720" cy="2634998"/>
      </dsp:txXfrm>
    </dsp:sp>
    <dsp:sp modelId="{3DB61D71-C6BE-4E86-8EBD-852BA4F43A33}">
      <dsp:nvSpPr>
        <dsp:cNvPr id="0" name=""/>
        <dsp:cNvSpPr/>
      </dsp:nvSpPr>
      <dsp:spPr>
        <a:xfrm>
          <a:off x="3953402" y="67149"/>
          <a:ext cx="3659720" cy="1756665"/>
        </a:xfrm>
        <a:prstGeom prst="rect">
          <a:avLst/>
        </a:prstGeom>
        <a:noFill/>
        <a:ln w="9525" cap="flat" cmpd="sng" algn="ctr">
          <a:noFill/>
          <a:prstDash val="solid"/>
        </a:ln>
        <a:effectLst>
          <a:outerShdw blurRad="40000" dist="23000" dir="5400000" rotWithShape="0">
            <a:srgbClr val="000000">
              <a:alpha val="3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61499" tIns="165100" rIns="361499"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953402" y="67149"/>
        <a:ext cx="3659720" cy="1756665"/>
      </dsp:txXfrm>
    </dsp:sp>
    <dsp:sp modelId="{5604F5EE-A598-4F38-9D03-1D993C493566}">
      <dsp:nvSpPr>
        <dsp:cNvPr id="0" name=""/>
        <dsp:cNvSpPr/>
      </dsp:nvSpPr>
      <dsp:spPr>
        <a:xfrm>
          <a:off x="7905900" y="67149"/>
          <a:ext cx="3659720" cy="4391664"/>
        </a:xfrm>
        <a:prstGeom prst="rect">
          <a:avLst/>
        </a:prstGeom>
        <a:gradFill flip="none" rotWithShape="0">
          <a:gsLst>
            <a:gs pos="0">
              <a:schemeClr val="accent6">
                <a:lumMod val="75000"/>
                <a:shade val="30000"/>
                <a:satMod val="115000"/>
              </a:schemeClr>
            </a:gs>
            <a:gs pos="50000">
              <a:schemeClr val="accent6">
                <a:lumMod val="75000"/>
                <a:shade val="67500"/>
                <a:satMod val="115000"/>
              </a:schemeClr>
            </a:gs>
            <a:gs pos="100000">
              <a:schemeClr val="accent6">
                <a:lumMod val="75000"/>
                <a:shade val="100000"/>
                <a:satMod val="115000"/>
              </a:schemeClr>
            </a:gs>
          </a:gsLst>
          <a:lin ang="2700000" scaled="1"/>
          <a:tileRect/>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61499" tIns="0" rIns="361499" bIns="330200" numCol="1" spcCol="1270" anchor="t" anchorCtr="0">
          <a:noAutofit/>
        </a:bodyPr>
        <a:lstStyle/>
        <a:p>
          <a:pPr marL="0" lvl="0" indent="0" algn="l" defTabSz="1155700">
            <a:lnSpc>
              <a:spcPct val="90000"/>
            </a:lnSpc>
            <a:spcBef>
              <a:spcPct val="0"/>
            </a:spcBef>
            <a:spcAft>
              <a:spcPct val="35000"/>
            </a:spcAft>
            <a:buNone/>
          </a:pPr>
          <a:r>
            <a:rPr lang="en-GB" sz="2600" kern="1200" dirty="0"/>
            <a:t>Value Diversity -  not tolerating racism</a:t>
          </a:r>
          <a:endParaRPr lang="en-US" sz="2600" kern="1200" dirty="0"/>
        </a:p>
      </dsp:txBody>
      <dsp:txXfrm>
        <a:off x="7905900" y="1823815"/>
        <a:ext cx="3659720" cy="2634998"/>
      </dsp:txXfrm>
    </dsp:sp>
    <dsp:sp modelId="{F01012CD-153B-4746-AD0E-36B8EF5B3333}">
      <dsp:nvSpPr>
        <dsp:cNvPr id="0" name=""/>
        <dsp:cNvSpPr/>
      </dsp:nvSpPr>
      <dsp:spPr>
        <a:xfrm>
          <a:off x="7905900" y="67149"/>
          <a:ext cx="3659720" cy="1756665"/>
        </a:xfrm>
        <a:prstGeom prst="rect">
          <a:avLst/>
        </a:prstGeom>
        <a:noFill/>
        <a:ln w="9525" cap="flat" cmpd="sng" algn="ctr">
          <a:noFill/>
          <a:prstDash val="solid"/>
        </a:ln>
        <a:effectLst>
          <a:outerShdw blurRad="40000" dist="23000" dir="5400000" rotWithShape="0">
            <a:srgbClr val="000000">
              <a:alpha val="35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61499" tIns="165100" rIns="361499"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905900" y="67149"/>
        <a:ext cx="3659720" cy="17566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3E30AE-5347-4863-9B97-288DD4ED0A2E}">
      <dsp:nvSpPr>
        <dsp:cNvPr id="0" name=""/>
        <dsp:cNvSpPr/>
      </dsp:nvSpPr>
      <dsp:spPr>
        <a:xfrm>
          <a:off x="216872" y="1635"/>
          <a:ext cx="3478993" cy="2087396"/>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dirty="0">
              <a:latin typeface="Calibri"/>
            </a:rPr>
            <a:t>DIRECT – say something, call them out if safe to do so</a:t>
          </a:r>
          <a:endParaRPr lang="en-GB" sz="3200" kern="1200" dirty="0"/>
        </a:p>
      </dsp:txBody>
      <dsp:txXfrm>
        <a:off x="216872" y="1635"/>
        <a:ext cx="3478993" cy="2087396"/>
      </dsp:txXfrm>
    </dsp:sp>
    <dsp:sp modelId="{3953CE32-9A45-417C-B970-C98D40F8C1C1}">
      <dsp:nvSpPr>
        <dsp:cNvPr id="0" name=""/>
        <dsp:cNvSpPr/>
      </dsp:nvSpPr>
      <dsp:spPr>
        <a:xfrm>
          <a:off x="4043765" y="1635"/>
          <a:ext cx="3478993" cy="2087396"/>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dirty="0">
              <a:latin typeface="Calibri"/>
            </a:rPr>
            <a:t>DISTRACT – interrupt, get the 'victim' to come with you</a:t>
          </a:r>
          <a:endParaRPr lang="en-GB" sz="3200" kern="1200" dirty="0"/>
        </a:p>
      </dsp:txBody>
      <dsp:txXfrm>
        <a:off x="4043765" y="1635"/>
        <a:ext cx="3478993" cy="2087396"/>
      </dsp:txXfrm>
    </dsp:sp>
    <dsp:sp modelId="{8AD21C48-3CA1-48A1-B4E3-3F4896244517}">
      <dsp:nvSpPr>
        <dsp:cNvPr id="0" name=""/>
        <dsp:cNvSpPr/>
      </dsp:nvSpPr>
      <dsp:spPr>
        <a:xfrm>
          <a:off x="7870658" y="1635"/>
          <a:ext cx="3478993" cy="2087396"/>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dirty="0">
              <a:latin typeface="Calibri"/>
            </a:rPr>
            <a:t>DELAY – check they are ok afterwards, never too late</a:t>
          </a:r>
          <a:endParaRPr lang="en-GB" sz="3200" kern="1200" dirty="0"/>
        </a:p>
      </dsp:txBody>
      <dsp:txXfrm>
        <a:off x="7870658" y="1635"/>
        <a:ext cx="3478993" cy="2087396"/>
      </dsp:txXfrm>
    </dsp:sp>
    <dsp:sp modelId="{2E235E6D-A4CC-427C-8C0B-A1B89F587A2A}">
      <dsp:nvSpPr>
        <dsp:cNvPr id="0" name=""/>
        <dsp:cNvSpPr/>
      </dsp:nvSpPr>
      <dsp:spPr>
        <a:xfrm>
          <a:off x="2130318" y="2436931"/>
          <a:ext cx="3478993" cy="2087396"/>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rtl="0">
            <a:lnSpc>
              <a:spcPct val="90000"/>
            </a:lnSpc>
            <a:spcBef>
              <a:spcPct val="0"/>
            </a:spcBef>
            <a:spcAft>
              <a:spcPct val="35000"/>
            </a:spcAft>
            <a:buNone/>
          </a:pPr>
          <a:r>
            <a:rPr lang="en-GB" sz="3200" kern="1200" dirty="0">
              <a:latin typeface="Calibri"/>
            </a:rPr>
            <a:t>DELEGATE – get someone else to help e.g. Speak up Guardian</a:t>
          </a:r>
          <a:endParaRPr lang="en-GB" sz="3200" kern="1200" dirty="0"/>
        </a:p>
      </dsp:txBody>
      <dsp:txXfrm>
        <a:off x="2130318" y="2436931"/>
        <a:ext cx="3478993" cy="2087396"/>
      </dsp:txXfrm>
    </dsp:sp>
    <dsp:sp modelId="{8E6C2551-0D00-4CF5-8BC4-305876A8DDD0}">
      <dsp:nvSpPr>
        <dsp:cNvPr id="0" name=""/>
        <dsp:cNvSpPr/>
      </dsp:nvSpPr>
      <dsp:spPr>
        <a:xfrm>
          <a:off x="5957212" y="2436931"/>
          <a:ext cx="3478993" cy="2087396"/>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GB" sz="3200" kern="1200" dirty="0">
              <a:latin typeface="Calibri"/>
            </a:rPr>
            <a:t>DOCUMENT</a:t>
          </a:r>
          <a:endParaRPr lang="en-GB" sz="3200" kern="1200" dirty="0"/>
        </a:p>
      </dsp:txBody>
      <dsp:txXfrm>
        <a:off x="5957212" y="2436931"/>
        <a:ext cx="3478993" cy="2087396"/>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AE09DE-8933-4487-8A66-B7352AEB9845}" type="datetimeFigureOut">
              <a:t>9/15/2023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E0E144-4893-4FD2-A20D-6D41F15B781C}" type="slidenum">
              <a:t>‹#›</a:t>
            </a:fld>
            <a:endParaRPr lang="en-GB"/>
          </a:p>
        </p:txBody>
      </p:sp>
    </p:spTree>
    <p:extLst>
      <p:ext uri="{BB962C8B-B14F-4D97-AF65-F5344CB8AC3E}">
        <p14:creationId xmlns:p14="http://schemas.microsoft.com/office/powerpoint/2010/main" val="336842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Digital_object_identifier"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ncbi.nlm.nih.gov/pubmed/17516773" TargetMode="External"/><Relationship Id="rId5" Type="http://schemas.openxmlformats.org/officeDocument/2006/relationships/hyperlink" Target="https://en.wikipedia.org/wiki/PubMed_Identifier" TargetMode="External"/><Relationship Id="rId4" Type="http://schemas.openxmlformats.org/officeDocument/2006/relationships/hyperlink" Target="https://doi.org/10.1037/0003-066x.62.4.271"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i.org/10.1186/1741-7015-11-244"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en.wikipedia.org/wiki/Digital_object_identifier" TargetMode="External"/><Relationship Id="rId2" Type="http://schemas.openxmlformats.org/officeDocument/2006/relationships/slide" Target="../slides/slide23.xml"/><Relationship Id="rId1" Type="http://schemas.openxmlformats.org/officeDocument/2006/relationships/notesMaster" Target="../notesMasters/notesMaster1.xml"/><Relationship Id="rId6" Type="http://schemas.openxmlformats.org/officeDocument/2006/relationships/hyperlink" Target="https://www.ncbi.nlm.nih.gov/pubmed/17516773" TargetMode="External"/><Relationship Id="rId5" Type="http://schemas.openxmlformats.org/officeDocument/2006/relationships/hyperlink" Target="https://en.wikipedia.org/wiki/PubMed_Identifier" TargetMode="External"/><Relationship Id="rId4" Type="http://schemas.openxmlformats.org/officeDocument/2006/relationships/hyperlink" Target="https://doi.org/10.1037/0003-066x.62.4.271"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Speaker to introduce themselves and the session</a:t>
            </a:r>
          </a:p>
        </p:txBody>
      </p:sp>
      <p:sp>
        <p:nvSpPr>
          <p:cNvPr id="4" name="Slide Number Placeholder 3"/>
          <p:cNvSpPr>
            <a:spLocks noGrp="1"/>
          </p:cNvSpPr>
          <p:nvPr>
            <p:ph type="sldNum" sz="quarter" idx="5"/>
          </p:nvPr>
        </p:nvSpPr>
        <p:spPr/>
        <p:txBody>
          <a:bodyPr/>
          <a:lstStyle/>
          <a:p>
            <a:fld id="{2CEBDD67-43FD-4D34-98AA-92F6604577EE}" type="slidenum">
              <a:rPr lang="en-GB" smtClean="0"/>
              <a:t>1</a:t>
            </a:fld>
            <a:endParaRPr lang="en-GB"/>
          </a:p>
        </p:txBody>
      </p:sp>
    </p:spTree>
    <p:extLst>
      <p:ext uri="{BB962C8B-B14F-4D97-AF65-F5344CB8AC3E}">
        <p14:creationId xmlns:p14="http://schemas.microsoft.com/office/powerpoint/2010/main" val="1092831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45 min session, small group work</a:t>
            </a:r>
          </a:p>
        </p:txBody>
      </p:sp>
      <p:sp>
        <p:nvSpPr>
          <p:cNvPr id="4" name="Slide Number Placeholder 3"/>
          <p:cNvSpPr>
            <a:spLocks noGrp="1"/>
          </p:cNvSpPr>
          <p:nvPr>
            <p:ph type="sldNum" sz="quarter" idx="5"/>
          </p:nvPr>
        </p:nvSpPr>
        <p:spPr/>
        <p:txBody>
          <a:bodyPr/>
          <a:lstStyle/>
          <a:p>
            <a:fld id="{2CEBDD67-43FD-4D34-98AA-92F6604577EE}" type="slidenum">
              <a:rPr lang="en-GB" smtClean="0"/>
              <a:t>2</a:t>
            </a:fld>
            <a:endParaRPr lang="en-GB"/>
          </a:p>
        </p:txBody>
      </p:sp>
    </p:spTree>
    <p:extLst>
      <p:ext uri="{BB962C8B-B14F-4D97-AF65-F5344CB8AC3E}">
        <p14:creationId xmlns:p14="http://schemas.microsoft.com/office/powerpoint/2010/main" val="511678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Brave Spaces as maintaining Psychological Safety tricky sometimes, I don't know what you bring. We are aware this may be uncomfortable, difficult at times and bring things up for you personally or professionally. Look after yourselves, I am here afterwards or via email or step out if you need to.</a:t>
            </a:r>
            <a:endParaRPr lang="en-US" dirty="0"/>
          </a:p>
          <a:p>
            <a:endParaRPr lang="en-GB" dirty="0"/>
          </a:p>
          <a:p>
            <a:r>
              <a:rPr lang="en-GB"/>
              <a:t>We will all get it wrong, it’s ok to apologise, learn and try again. </a:t>
            </a:r>
            <a:endParaRPr lang="en-US">
              <a:cs typeface="Calibri"/>
            </a:endParaRPr>
          </a:p>
          <a:p>
            <a:endParaRPr lang="en-GB" dirty="0">
              <a:cs typeface="Calibri"/>
            </a:endParaRPr>
          </a:p>
          <a:p>
            <a:r>
              <a:rPr lang="en-GB" dirty="0"/>
              <a:t>We may ask you to park certain issues if this is not the forum to discuss it and speak to you 1:1 after the session if you need to</a:t>
            </a:r>
            <a:endParaRPr lang="en-US" dirty="0"/>
          </a:p>
          <a:p>
            <a:r>
              <a:rPr lang="en-GB" dirty="0"/>
              <a:t>We need names and an agreement not to share personal details of sensitive material/stories shared here</a:t>
            </a:r>
            <a:endParaRPr lang="en-US" dirty="0"/>
          </a:p>
          <a:p>
            <a:r>
              <a:rPr lang="en-GB" dirty="0"/>
              <a:t>We need to know who you are and we need an identifiable name or we may need to remove you from this webinar</a:t>
            </a:r>
            <a:endParaRPr lang="en-US" dirty="0"/>
          </a:p>
          <a:p>
            <a:endParaRPr lang="en-GB" dirty="0"/>
          </a:p>
          <a:p>
            <a:r>
              <a:rPr lang="en-GB" dirty="0"/>
              <a:t>You can use the chat function and one of us will monitor it and raise your hand too!</a:t>
            </a:r>
            <a:endParaRPr lang="en-US" dirty="0"/>
          </a:p>
          <a:p>
            <a:endParaRPr lang="en-GB" dirty="0"/>
          </a:p>
        </p:txBody>
      </p:sp>
      <p:sp>
        <p:nvSpPr>
          <p:cNvPr id="4" name="Slide Number Placeholder 3"/>
          <p:cNvSpPr>
            <a:spLocks noGrp="1"/>
          </p:cNvSpPr>
          <p:nvPr>
            <p:ph type="sldNum" sz="quarter" idx="5"/>
          </p:nvPr>
        </p:nvSpPr>
        <p:spPr/>
        <p:txBody>
          <a:bodyPr/>
          <a:lstStyle/>
          <a:p>
            <a:fld id="{2CEBDD67-43FD-4D34-98AA-92F6604577EE}" type="slidenum">
              <a:rPr lang="en-GB" smtClean="0"/>
              <a:t>3</a:t>
            </a:fld>
            <a:endParaRPr lang="en-GB"/>
          </a:p>
        </p:txBody>
      </p:sp>
    </p:spTree>
    <p:extLst>
      <p:ext uri="{BB962C8B-B14F-4D97-AF65-F5344CB8AC3E}">
        <p14:creationId xmlns:p14="http://schemas.microsoft.com/office/powerpoint/2010/main" val="706744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Covid19, Recession and the climate crisis are all public health issues we as educators need to tackle. Who do ALL these issues affect more, minority ethnic staff and people and those from lower socioeconomic demographics e.g. less access to greener spaces, exposed to more pollution if you are deprived, more likely to be black or brown  - so focus of the talk today is racial discrimination for our staff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Reference for this pic?</a:t>
            </a:r>
          </a:p>
          <a:p>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4</a:t>
            </a:fld>
            <a:endParaRPr lang="en-GB"/>
          </a:p>
        </p:txBody>
      </p:sp>
    </p:spTree>
    <p:extLst>
      <p:ext uri="{BB962C8B-B14F-4D97-AF65-F5344CB8AC3E}">
        <p14:creationId xmlns:p14="http://schemas.microsoft.com/office/powerpoint/2010/main" val="2579477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a:t>Pan London Primary Care WRES (Workforce Race Equality Survey) March 2022</a:t>
            </a:r>
          </a:p>
          <a:p>
            <a:pPr algn="l"/>
            <a:r>
              <a:rPr lang="en-GB" dirty="0"/>
              <a:t>1,000 colleagues </a:t>
            </a:r>
          </a:p>
          <a:p>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5</a:t>
            </a:fld>
            <a:endParaRPr lang="en-GB"/>
          </a:p>
        </p:txBody>
      </p:sp>
    </p:spTree>
    <p:extLst>
      <p:ext uri="{BB962C8B-B14F-4D97-AF65-F5344CB8AC3E}">
        <p14:creationId xmlns:p14="http://schemas.microsoft.com/office/powerpoint/2010/main" val="1361549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GB" dirty="0"/>
              <a:t>Ask the group to guess these categories type in chat of call out all nine of these protected characteristics </a:t>
            </a:r>
          </a:p>
          <a:p>
            <a:endParaRPr lang="en-GB" dirty="0">
              <a:cs typeface="Calibri"/>
            </a:endParaRPr>
          </a:p>
        </p:txBody>
      </p:sp>
      <p:sp>
        <p:nvSpPr>
          <p:cNvPr id="4" name="Slide Number Placeholder 3"/>
          <p:cNvSpPr>
            <a:spLocks noGrp="1"/>
          </p:cNvSpPr>
          <p:nvPr>
            <p:ph type="sldNum" sz="quarter" idx="5"/>
          </p:nvPr>
        </p:nvSpPr>
        <p:spPr/>
        <p:txBody>
          <a:bodyPr/>
          <a:lstStyle/>
          <a:p>
            <a:fld id="{2CEBDD67-43FD-4D34-98AA-92F6604577EE}" type="slidenum">
              <a:rPr lang="en-GB" smtClean="0"/>
              <a:t>6</a:t>
            </a:fld>
            <a:endParaRPr lang="en-GB"/>
          </a:p>
        </p:txBody>
      </p:sp>
    </p:spTree>
    <p:extLst>
      <p:ext uri="{BB962C8B-B14F-4D97-AF65-F5344CB8AC3E}">
        <p14:creationId xmlns:p14="http://schemas.microsoft.com/office/powerpoint/2010/main" val="2027238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cs typeface="Calibri"/>
              </a:rPr>
              <a:t>Working on the basis you all understand these terms – we can go through briefly to begin with if helpful. There is also a brilliant short e-module on the RCGP website (you don't need to be a member) that covers these on Allyship with examples </a:t>
            </a:r>
            <a:r>
              <a:rPr lang="en-GB" dirty="0"/>
              <a:t>https://elearning.rcgp.org.uk/course/view.php?id=559</a:t>
            </a:r>
          </a:p>
          <a:p>
            <a:endParaRPr lang="en-GB" dirty="0"/>
          </a:p>
          <a:p>
            <a:r>
              <a:rPr lang="en-GB" dirty="0"/>
              <a:t>All humans have bias/stereotypes we cannot avoid it. https://www.unconsciousbiasproject.org/resources/explain-unconscious-bias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Discrimination may be personal maybe internalised racism/misogyny/colourism, interpersonal, When a racial group’s collective prejudice is backed by legal authority and institutional control it is transformed into institutional and structural racism. Racism is a structure, not an event. </a:t>
            </a:r>
            <a:r>
              <a:rPr lang="en-GB" dirty="0">
                <a:latin typeface="+mn-lt"/>
              </a:rPr>
              <a:t>It is not enough not to discriminate - we need to be anti-discriminatory and anti-racist.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r>
              <a:rPr lang="en-GB" dirty="0"/>
              <a:t>Microaggressions - Common example where are you from? What’s the intention behind it? How do you determine the intention? Often subtle – acid rain/lots of little cuts – easier to spot overt racism</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i="1" dirty="0"/>
              <a:t>Sue DW, Capodilupo CM, Torino GC, Bucceri JM, Holder AM, Nadal KL, Esquilin M (2007). "Racial microaggressions in everyday life: implications for clinical practice". The American Psychologist. </a:t>
            </a:r>
            <a:r>
              <a:rPr lang="en-GB" sz="1200" b="1" i="1" dirty="0"/>
              <a:t>62</a:t>
            </a:r>
            <a:r>
              <a:rPr lang="en-GB" sz="1200" i="1" dirty="0"/>
              <a:t> (4): 271–86. </a:t>
            </a:r>
            <a:r>
              <a:rPr lang="en-GB" sz="1200" u="sng" dirty="0">
                <a:hlinkClick r:id="rId3" tooltip="Digital object identifier"/>
              </a:rPr>
              <a:t>doi</a:t>
            </a:r>
            <a:r>
              <a:rPr lang="en-GB" sz="1200" i="1" dirty="0"/>
              <a:t>:</a:t>
            </a:r>
            <a:r>
              <a:rPr lang="en-GB" sz="1200" u="sng" dirty="0">
                <a:hlinkClick r:id="rId4"/>
              </a:rPr>
              <a:t>10.1037/0003-066x.62.4.271</a:t>
            </a:r>
            <a:r>
              <a:rPr lang="en-GB" sz="1200" i="1" dirty="0"/>
              <a:t>. </a:t>
            </a:r>
            <a:r>
              <a:rPr lang="en-GB" sz="1200" u="sng" dirty="0">
                <a:hlinkClick r:id="rId5" tooltip="PubMed Identifier"/>
              </a:rPr>
              <a:t>PMID</a:t>
            </a:r>
            <a:r>
              <a:rPr lang="en-GB" sz="1200" i="1" dirty="0"/>
              <a:t> </a:t>
            </a:r>
            <a:r>
              <a:rPr lang="en-GB" sz="1200" u="sng" dirty="0">
                <a:hlinkClick r:id="rId6"/>
              </a:rPr>
              <a:t>17516773</a:t>
            </a:r>
            <a:r>
              <a:rPr lang="en-GB" i="1" dirty="0"/>
              <a:t>.</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endParaRPr lang="en-GB" dirty="0"/>
          </a:p>
          <a:p>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E2099291-49EF-4B7A-A720-86BED43D938C}" type="slidenum">
              <a:rPr lang="en-GB" smtClean="0"/>
              <a:pPr/>
              <a:t>7</a:t>
            </a:fld>
            <a:endParaRPr lang="en-GB"/>
          </a:p>
        </p:txBody>
      </p:sp>
    </p:spTree>
    <p:extLst>
      <p:ext uri="{BB962C8B-B14F-4D97-AF65-F5344CB8AC3E}">
        <p14:creationId xmlns:p14="http://schemas.microsoft.com/office/powerpoint/2010/main" val="3046038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Kimberley Crenshaw definition of Intersectionality first use in black women. </a:t>
            </a:r>
          </a:p>
          <a:p>
            <a:endParaRPr lang="en-GB" dirty="0"/>
          </a:p>
          <a:p>
            <a:r>
              <a:rPr lang="en-GB" dirty="0"/>
              <a:t>We want our colleagues and supervisees to be able to bring their whole selves to work and recognise that there may be many forms of exclusion based on discrimination.</a:t>
            </a:r>
          </a:p>
          <a:p>
            <a:endParaRPr lang="en-GB" dirty="0"/>
          </a:p>
          <a:p>
            <a:br>
              <a:rPr lang="en-US" dirty="0">
                <a:cs typeface="+mn-lt"/>
              </a:rPr>
            </a:br>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8</a:t>
            </a:fld>
            <a:endParaRPr lang="en-GB"/>
          </a:p>
        </p:txBody>
      </p:sp>
    </p:spTree>
    <p:extLst>
      <p:ext uri="{BB962C8B-B14F-4D97-AF65-F5344CB8AC3E}">
        <p14:creationId xmlns:p14="http://schemas.microsoft.com/office/powerpoint/2010/main" val="3286775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this of SOCIAL GGRRAAACCEEESSS model (John </a:t>
            </a:r>
            <a:r>
              <a:rPr lang="en-GB" dirty="0" err="1"/>
              <a:t>Burhnam</a:t>
            </a:r>
            <a:r>
              <a:rPr lang="en-GB" dirty="0"/>
              <a:t>, Alison Roper-Hall and colleagues – 1992). The importance of feeling safe and bringing our whole selves to work, becomes clearer when we talk about our identity and the identity of others. Social graces is a framework which helps us to think about more broadly about identity and power.  Alison Roper-Hall and John Burnham came up with the Social GRACES in the 1990s. They thought it was a disgrace that many clinicians did not think broadly about identity and power differences</a:t>
            </a:r>
            <a:endParaRPr lang="en-US" dirty="0"/>
          </a:p>
          <a:p>
            <a:endParaRPr lang="en-GB" dirty="0">
              <a:cs typeface="Calibri"/>
            </a:endParaRPr>
          </a:p>
          <a:p>
            <a:r>
              <a:rPr lang="en-GB" dirty="0"/>
              <a:t>To consider our own privileges (situational advantages) and disadvantages – let’s do this 4 mins in pairs, only share what you feel comfortable with – facilitator(s) to go first with examples. Specific examples don’t need to be shared themes, how easy or not was it, have you every thought about your own privileges e.g. able bodied, class, colour</a:t>
            </a:r>
          </a:p>
          <a:p>
            <a:br>
              <a:rPr lang="en-US" dirty="0">
                <a:cs typeface="+mn-lt"/>
              </a:rPr>
            </a:br>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9</a:t>
            </a:fld>
            <a:endParaRPr lang="en-GB"/>
          </a:p>
        </p:txBody>
      </p:sp>
    </p:spTree>
    <p:extLst>
      <p:ext uri="{BB962C8B-B14F-4D97-AF65-F5344CB8AC3E}">
        <p14:creationId xmlns:p14="http://schemas.microsoft.com/office/powerpoint/2010/main" val="811902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mn-lt"/>
              </a:rPr>
              <a:t>Whose voices are heard and seen in your </a:t>
            </a:r>
            <a:r>
              <a:rPr lang="en-US" dirty="0" err="1">
                <a:cs typeface="+mn-lt"/>
              </a:rPr>
              <a:t>organisations</a:t>
            </a:r>
            <a:r>
              <a:rPr lang="en-US" dirty="0">
                <a:cs typeface="+mn-lt"/>
              </a:rPr>
              <a:t>, practices? </a:t>
            </a:r>
            <a:r>
              <a:rPr lang="en-US" dirty="0"/>
              <a:t>Who is included and who maybe excluded?</a:t>
            </a:r>
            <a:endParaRPr lang="en-US" dirty="0">
              <a:cs typeface="+mn-lt"/>
            </a:endParaRPr>
          </a:p>
          <a:p>
            <a:endParaRPr lang="en-US" dirty="0">
              <a:cs typeface="+mn-lt"/>
            </a:endParaRPr>
          </a:p>
          <a:p>
            <a:r>
              <a:rPr lang="en-US" dirty="0"/>
              <a:t>Some are visible and spoken about and others, particularly when it feels like a unsafe environment, may be hidden and unspoken.</a:t>
            </a:r>
            <a:endParaRPr lang="en-US" dirty="0">
              <a:cs typeface="Calibri"/>
            </a:endParaRPr>
          </a:p>
          <a:p>
            <a:endParaRPr lang="en-US" dirty="0">
              <a:cs typeface="+mn-lt"/>
            </a:endParaRPr>
          </a:p>
          <a:p>
            <a:br>
              <a:rPr lang="en-US" dirty="0">
                <a:cs typeface="+mn-lt"/>
              </a:rPr>
            </a:br>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10</a:t>
            </a:fld>
            <a:endParaRPr lang="en-GB"/>
          </a:p>
        </p:txBody>
      </p:sp>
    </p:spTree>
    <p:extLst>
      <p:ext uri="{BB962C8B-B14F-4D97-AF65-F5344CB8AC3E}">
        <p14:creationId xmlns:p14="http://schemas.microsoft.com/office/powerpoint/2010/main" val="575814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cs typeface="+mn-lt"/>
              </a:rPr>
            </a:br>
            <a:r>
              <a:rPr lang="en-GB" dirty="0">
                <a:latin typeface="+mn-lt"/>
              </a:rPr>
              <a:t>The Stonewall “LGBT In Britain – University Report” showed that 42% of LGBTQIA+ students hid their identity at university for fear of discrimination.</a:t>
            </a:r>
          </a:p>
          <a:p>
            <a:endParaRPr lang="en-US" dirty="0"/>
          </a:p>
          <a:p>
            <a:br>
              <a:rPr lang="en-US" dirty="0">
                <a:cs typeface="+mn-lt"/>
              </a:rPr>
            </a:br>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11</a:t>
            </a:fld>
            <a:endParaRPr lang="en-GB"/>
          </a:p>
        </p:txBody>
      </p:sp>
    </p:spTree>
    <p:extLst>
      <p:ext uri="{BB962C8B-B14F-4D97-AF65-F5344CB8AC3E}">
        <p14:creationId xmlns:p14="http://schemas.microsoft.com/office/powerpoint/2010/main" val="3161390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cs typeface="+mn-lt"/>
              </a:rPr>
              <a:t>?? Likely to be similar data in Primary Care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endParaRPr lang="en-US" dirty="0"/>
          </a:p>
          <a:p>
            <a:br>
              <a:rPr lang="en-US" dirty="0">
                <a:cs typeface="+mn-lt"/>
              </a:rPr>
            </a:br>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12</a:t>
            </a:fld>
            <a:endParaRPr lang="en-GB"/>
          </a:p>
        </p:txBody>
      </p:sp>
    </p:spTree>
    <p:extLst>
      <p:ext uri="{BB962C8B-B14F-4D97-AF65-F5344CB8AC3E}">
        <p14:creationId xmlns:p14="http://schemas.microsoft.com/office/powerpoint/2010/main" val="2862057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cs typeface="Calibri"/>
              </a:rPr>
              <a:t>1 min video in the link if you prefer to use that instead</a:t>
            </a:r>
          </a:p>
          <a:p>
            <a:endParaRPr lang="en-GB" dirty="0">
              <a:cs typeface="Calibri"/>
            </a:endParaRPr>
          </a:p>
          <a:p>
            <a:r>
              <a:rPr lang="en-GB" dirty="0">
                <a:cs typeface="Calibri"/>
              </a:rPr>
              <a:t>1</a:t>
            </a:r>
            <a:r>
              <a:rPr lang="en-GB" baseline="30000" dirty="0">
                <a:cs typeface="Calibri"/>
              </a:rPr>
              <a:t>st</a:t>
            </a:r>
            <a:r>
              <a:rPr lang="en-GB" dirty="0">
                <a:cs typeface="Calibri"/>
              </a:rPr>
              <a:t> pic is from the GMC</a:t>
            </a:r>
          </a:p>
          <a:p>
            <a:r>
              <a:rPr lang="en-GB" dirty="0">
                <a:cs typeface="Calibri"/>
              </a:rPr>
              <a:t>2</a:t>
            </a:r>
            <a:r>
              <a:rPr lang="en-GB" baseline="30000" dirty="0">
                <a:cs typeface="Calibri"/>
              </a:rPr>
              <a:t>nd</a:t>
            </a:r>
            <a:r>
              <a:rPr lang="en-GB" dirty="0">
                <a:cs typeface="Calibri"/>
              </a:rPr>
              <a:t> pic Uni of Hull awarding gap – focus on institutions rather than individuals</a:t>
            </a:r>
          </a:p>
        </p:txBody>
      </p:sp>
      <p:sp>
        <p:nvSpPr>
          <p:cNvPr id="4" name="Slide Number Placeholder 3"/>
          <p:cNvSpPr>
            <a:spLocks noGrp="1"/>
          </p:cNvSpPr>
          <p:nvPr>
            <p:ph type="sldNum" sz="quarter" idx="5"/>
          </p:nvPr>
        </p:nvSpPr>
        <p:spPr/>
        <p:txBody>
          <a:bodyPr/>
          <a:lstStyle/>
          <a:p>
            <a:fld id="{2CEBDD67-43FD-4D34-98AA-92F6604577EE}" type="slidenum">
              <a:rPr lang="en-GB" smtClean="0"/>
              <a:t>13</a:t>
            </a:fld>
            <a:endParaRPr lang="en-GB"/>
          </a:p>
        </p:txBody>
      </p:sp>
    </p:spTree>
    <p:extLst>
      <p:ext uri="{BB962C8B-B14F-4D97-AF65-F5344CB8AC3E}">
        <p14:creationId xmlns:p14="http://schemas.microsoft.com/office/powerpoint/2010/main" val="12588358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cs typeface="Calibri"/>
              </a:rPr>
              <a:t>Often people think just of international medical graduates but disparities for those born here too</a:t>
            </a:r>
          </a:p>
        </p:txBody>
      </p:sp>
      <p:sp>
        <p:nvSpPr>
          <p:cNvPr id="4" name="Slide Number Placeholder 3"/>
          <p:cNvSpPr>
            <a:spLocks noGrp="1"/>
          </p:cNvSpPr>
          <p:nvPr>
            <p:ph type="sldNum" sz="quarter" idx="5"/>
          </p:nvPr>
        </p:nvSpPr>
        <p:spPr/>
        <p:txBody>
          <a:bodyPr/>
          <a:lstStyle/>
          <a:p>
            <a:fld id="{2CEBDD67-43FD-4D34-98AA-92F6604577EE}" type="slidenum">
              <a:rPr lang="en-GB" smtClean="0"/>
              <a:t>14</a:t>
            </a:fld>
            <a:endParaRPr lang="en-GB"/>
          </a:p>
        </p:txBody>
      </p:sp>
    </p:spTree>
    <p:extLst>
      <p:ext uri="{BB962C8B-B14F-4D97-AF65-F5344CB8AC3E}">
        <p14:creationId xmlns:p14="http://schemas.microsoft.com/office/powerpoint/2010/main" val="4036700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As primary care educators we can focus on all three of these areas.</a:t>
            </a:r>
            <a:endParaRPr lang="en-US"/>
          </a:p>
          <a:p>
            <a:endParaRPr lang="en-GB"/>
          </a:p>
          <a:p>
            <a:r>
              <a:rPr lang="en-GB"/>
              <a:t>To address DA – </a:t>
            </a:r>
            <a:r>
              <a:rPr lang="en-GB" b="1" dirty="0"/>
              <a:t>move away from the deficit model approach – system levels approaches/institutional responsibility. </a:t>
            </a:r>
            <a:r>
              <a:rPr lang="en-GB" sz="1200" b="1" dirty="0">
                <a:solidFill>
                  <a:srgbClr val="002060"/>
                </a:solidFill>
              </a:rPr>
              <a:t>Stop blaming learners - poor fit to research findings, stigmatises learners, diverts resources away from solutions</a:t>
            </a:r>
            <a:endParaRPr lang="en-GB" dirty="0">
              <a:cs typeface="Calibri"/>
            </a:endParaRPr>
          </a:p>
          <a:p>
            <a:pPr marL="0" indent="0">
              <a:buNone/>
            </a:pPr>
            <a:endParaRPr lang="en-GB" sz="1200" b="1" dirty="0">
              <a:solidFill>
                <a:srgbClr val="002060"/>
              </a:solidFill>
            </a:endParaRPr>
          </a:p>
          <a:p>
            <a:r>
              <a:rPr lang="en-GB" sz="1200" dirty="0">
                <a:solidFill>
                  <a:srgbClr val="002060"/>
                </a:solidFill>
              </a:rPr>
              <a:t>Diversity, fair hiring processes, reverse mentoring, in exams?</a:t>
            </a:r>
          </a:p>
          <a:p>
            <a:r>
              <a:rPr lang="en-GB" sz="1200" dirty="0">
                <a:solidFill>
                  <a:srgbClr val="002060"/>
                </a:solidFill>
              </a:rPr>
              <a:t>BMA Charter against Racial Harassment</a:t>
            </a:r>
          </a:p>
          <a:p>
            <a:r>
              <a:rPr lang="en-GB" sz="1200" dirty="0">
                <a:solidFill>
                  <a:srgbClr val="002060"/>
                </a:solidFill>
              </a:rPr>
              <a:t>Monitoring – WRES</a:t>
            </a:r>
          </a:p>
          <a:p>
            <a:r>
              <a:rPr lang="en-GB" sz="1200" dirty="0">
                <a:solidFill>
                  <a:srgbClr val="002060"/>
                </a:solidFill>
              </a:rPr>
              <a:t>Policies</a:t>
            </a:r>
          </a:p>
          <a:p>
            <a:endParaRPr lang="en-GB" sz="1200" dirty="0">
              <a:solidFill>
                <a:srgbClr val="002060"/>
              </a:solidFill>
            </a:endParaRPr>
          </a:p>
          <a:p>
            <a:pPr marL="457200" indent="-457200">
              <a:spcBef>
                <a:spcPts val="1800"/>
              </a:spcBef>
              <a:buFont typeface="+mj-lt"/>
              <a:buAutoNum type="arabicPeriod"/>
            </a:pPr>
            <a:r>
              <a:rPr lang="en-GB" dirty="0">
                <a:latin typeface="+mn-lt"/>
              </a:rPr>
              <a:t>Woolf Katherine, Potts Henry W </a:t>
            </a:r>
            <a:r>
              <a:rPr lang="en-GB" dirty="0" err="1">
                <a:latin typeface="+mn-lt"/>
              </a:rPr>
              <a:t>W</a:t>
            </a:r>
            <a:r>
              <a:rPr lang="en-GB" dirty="0">
                <a:latin typeface="+mn-lt"/>
              </a:rPr>
              <a:t>, McManus I C. Ethnicity and academic performance in UK trained doctors and medical students: systematic review and meta-analysis </a:t>
            </a:r>
            <a:r>
              <a:rPr lang="en-GB" i="1" dirty="0">
                <a:latin typeface="+mn-lt"/>
              </a:rPr>
              <a:t>BMJ </a:t>
            </a:r>
            <a:r>
              <a:rPr lang="en-GB" dirty="0">
                <a:latin typeface="+mn-lt"/>
              </a:rPr>
              <a:t>2011; 342 :d901</a:t>
            </a:r>
          </a:p>
          <a:p>
            <a:pPr marL="457200" indent="-457200">
              <a:spcBef>
                <a:spcPts val="1800"/>
              </a:spcBef>
              <a:buFont typeface="+mj-lt"/>
              <a:buAutoNum type="arabicPeriod"/>
            </a:pPr>
            <a:r>
              <a:rPr lang="en-GB" dirty="0">
                <a:latin typeface="+mn-lt"/>
              </a:rPr>
              <a:t>McManus, I.C., Dewberry, C., Nicholson, S. </a:t>
            </a:r>
            <a:r>
              <a:rPr lang="en-GB" i="1" dirty="0">
                <a:latin typeface="+mn-lt"/>
              </a:rPr>
              <a:t>et al.</a:t>
            </a:r>
            <a:r>
              <a:rPr lang="en-GB" dirty="0">
                <a:latin typeface="+mn-lt"/>
              </a:rPr>
              <a:t> The UKCAT-12 study: educational attainment, aptitude test performance, demographic and socio-economic contextual factors as predictors of first year outcome in a cross-sectional collaborative study of 12 UK medical schools. </a:t>
            </a:r>
            <a:r>
              <a:rPr lang="en-GB" i="1" dirty="0">
                <a:latin typeface="+mn-lt"/>
              </a:rPr>
              <a:t>BMC Med</a:t>
            </a:r>
            <a:r>
              <a:rPr lang="en-GB" dirty="0">
                <a:latin typeface="+mn-lt"/>
              </a:rPr>
              <a:t> </a:t>
            </a:r>
            <a:r>
              <a:rPr lang="en-GB" b="1" dirty="0">
                <a:latin typeface="+mn-lt"/>
              </a:rPr>
              <a:t>11, </a:t>
            </a:r>
            <a:r>
              <a:rPr lang="en-GB" dirty="0">
                <a:latin typeface="+mn-lt"/>
              </a:rPr>
              <a:t>244 (2013). </a:t>
            </a:r>
            <a:r>
              <a:rPr lang="en-GB" dirty="0">
                <a:latin typeface="+mn-lt"/>
                <a:hlinkClick r:id="rId3"/>
              </a:rPr>
              <a:t>https://doi.org/10.1186/1741-7015-11-244</a:t>
            </a:r>
            <a:endParaRPr lang="en-GB" dirty="0">
              <a:latin typeface="+mn-lt"/>
            </a:endParaRPr>
          </a:p>
          <a:p>
            <a:endParaRPr lang="en-US" dirty="0"/>
          </a:p>
          <a:p>
            <a:br>
              <a:rPr lang="en-US" dirty="0">
                <a:cs typeface="+mn-lt"/>
              </a:rPr>
            </a:br>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15</a:t>
            </a:fld>
            <a:endParaRPr lang="en-GB"/>
          </a:p>
        </p:txBody>
      </p:sp>
    </p:spTree>
    <p:extLst>
      <p:ext uri="{BB962C8B-B14F-4D97-AF65-F5344CB8AC3E}">
        <p14:creationId xmlns:p14="http://schemas.microsoft.com/office/powerpoint/2010/main" val="12115348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Let’s practice speaking up, what do we say and how?</a:t>
            </a:r>
          </a:p>
          <a:p>
            <a:endParaRPr lang="en-GB" dirty="0"/>
          </a:p>
        </p:txBody>
      </p:sp>
      <p:sp>
        <p:nvSpPr>
          <p:cNvPr id="4" name="Slide Number Placeholder 3"/>
          <p:cNvSpPr>
            <a:spLocks noGrp="1"/>
          </p:cNvSpPr>
          <p:nvPr>
            <p:ph type="sldNum" sz="quarter" idx="5"/>
          </p:nvPr>
        </p:nvSpPr>
        <p:spPr/>
        <p:txBody>
          <a:bodyPr/>
          <a:lstStyle/>
          <a:p>
            <a:fld id="{70E0E144-4893-4FD2-A20D-6D41F15B781C}" type="slidenum">
              <a:rPr lang="en-GB" smtClean="0"/>
              <a:t>16</a:t>
            </a:fld>
            <a:endParaRPr lang="en-GB"/>
          </a:p>
        </p:txBody>
      </p:sp>
    </p:spTree>
    <p:extLst>
      <p:ext uri="{BB962C8B-B14F-4D97-AF65-F5344CB8AC3E}">
        <p14:creationId xmlns:p14="http://schemas.microsoft.com/office/powerpoint/2010/main" val="1511556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mn-lt"/>
              </a:rPr>
              <a:t>4min Being an Ally video if you click Speaking up</a:t>
            </a:r>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Think about the language you might use, what would you actually say?</a:t>
            </a:r>
          </a:p>
          <a:p>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002060"/>
                </a:solidFill>
              </a:rPr>
              <a:t>A 42 year old black male patient calls to ask for a medical certificate for a flare of his OA hip (secondary to polio as a child, awaiting another Orthopaedic review). He mentions in passing not being believed about his pain and racism in previous workplaces. </a:t>
            </a:r>
            <a:r>
              <a:rPr lang="en-GB" sz="1200" b="1" dirty="0">
                <a:solidFill>
                  <a:srgbClr val="002060"/>
                </a:solidFill>
              </a:rPr>
              <a:t>What do you need to consider and discuss with him?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i="0" kern="1200" dirty="0">
              <a:solidFill>
                <a:srgbClr val="00206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mn-lt"/>
              </a:rPr>
              <a:t>A Pakistani female patient at your  practice who has a borderline personality disorder (PD) diagnosis and not worked most of her adult life, is seeing a coach the GP referred her. She is applying for jobs. She asks you if it’s possible not to put her PD diagnosis down on the application form. </a:t>
            </a:r>
            <a:r>
              <a:rPr lang="en-GB" b="1" dirty="0">
                <a:latin typeface="+mn-lt"/>
              </a:rPr>
              <a:t>What are the issues for this patent and what questions and answers do you need to help support her?</a:t>
            </a:r>
            <a:endParaRPr lang="en-GB"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endParaRPr lang="en-GB" sz="1200" b="0" i="0" kern="1200" dirty="0">
              <a:solidFill>
                <a:schemeClr val="tx1"/>
              </a:solidFill>
              <a:effectLst/>
              <a:latin typeface="+mn-lt"/>
              <a:ea typeface="+mn-ea"/>
              <a:cs typeface="+mn-cs"/>
            </a:endParaRPr>
          </a:p>
          <a:p>
            <a:pPr marL="228600" indent="-228600">
              <a:buAutoNum type="arabicPeriod"/>
            </a:pPr>
            <a:r>
              <a:rPr lang="en-GB" sz="1200" b="0" i="0" kern="1200" dirty="0">
                <a:solidFill>
                  <a:schemeClr val="tx1"/>
                </a:solidFill>
                <a:effectLst/>
                <a:latin typeface="+mn-lt"/>
                <a:ea typeface="+mn-ea"/>
                <a:cs typeface="+mn-cs"/>
              </a:rPr>
              <a:t>Ask why is this discrimination? Remember the GMC guidance – Duty of Care</a:t>
            </a:r>
          </a:p>
          <a:p>
            <a:endParaRPr lang="en-GB" sz="1200" b="0" i="0" kern="1200" dirty="0">
              <a:solidFill>
                <a:schemeClr val="tx1"/>
              </a:solidFill>
              <a:effectLst/>
              <a:latin typeface="+mn-lt"/>
              <a:ea typeface="+mn-ea"/>
              <a:cs typeface="+mn-cs"/>
            </a:endParaRPr>
          </a:p>
          <a:p>
            <a:pPr lvl="1"/>
            <a:r>
              <a:rPr lang="en-GB" sz="1200" b="0" i="0" kern="1200" dirty="0">
                <a:solidFill>
                  <a:schemeClr val="tx1"/>
                </a:solidFill>
                <a:effectLst/>
                <a:latin typeface="+mn-lt"/>
                <a:ea typeface="+mn-ea"/>
                <a:cs typeface="+mn-cs"/>
              </a:rPr>
              <a:t>Things to consider - In rare circumstances, the trust between you and a patient may break down, for example, if the patient has:</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been violent, threatening or </a:t>
            </a:r>
            <a:r>
              <a:rPr lang="en-GB" sz="1200" b="1" i="0" kern="1200" dirty="0">
                <a:solidFill>
                  <a:schemeClr val="tx1"/>
                </a:solidFill>
                <a:effectLst/>
                <a:latin typeface="+mn-lt"/>
                <a:ea typeface="+mn-ea"/>
                <a:cs typeface="+mn-cs"/>
              </a:rPr>
              <a:t>abusive</a:t>
            </a:r>
            <a:r>
              <a:rPr lang="en-GB" sz="1200" b="0" i="0" kern="1200" dirty="0">
                <a:solidFill>
                  <a:schemeClr val="tx1"/>
                </a:solidFill>
                <a:effectLst/>
                <a:latin typeface="+mn-lt"/>
                <a:ea typeface="+mn-ea"/>
                <a:cs typeface="+mn-cs"/>
              </a:rPr>
              <a:t> to you or a colleague</a:t>
            </a:r>
            <a:r>
              <a:rPr lang="en-GB" sz="1200" b="0" i="0" kern="1200" baseline="30000" dirty="0">
                <a:solidFill>
                  <a:schemeClr val="tx1"/>
                </a:solidFill>
                <a:effectLst/>
                <a:latin typeface="+mn-lt"/>
                <a:ea typeface="+mn-ea"/>
                <a:cs typeface="+mn-cs"/>
              </a:rPr>
              <a:t>2</a:t>
            </a:r>
            <a:r>
              <a:rPr lang="en-GB" sz="1200" b="0" i="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stolen from you or the premises</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persistently acted inconsiderately or unreasonably</a:t>
            </a:r>
          </a:p>
          <a:p>
            <a:pPr marL="628650" lvl="1" indent="-171450">
              <a:buFont typeface="Arial" panose="020B0604020202020204" pitchFamily="34" charset="0"/>
              <a:buChar char="•"/>
            </a:pPr>
            <a:r>
              <a:rPr lang="en-GB" sz="1200" b="0" i="0" kern="1200" dirty="0">
                <a:solidFill>
                  <a:schemeClr val="tx1"/>
                </a:solidFill>
                <a:effectLst/>
                <a:latin typeface="+mn-lt"/>
                <a:ea typeface="+mn-ea"/>
                <a:cs typeface="+mn-cs"/>
              </a:rPr>
              <a:t>made a sexual advance to you.</a:t>
            </a:r>
          </a:p>
          <a:p>
            <a:pPr marL="628650" lvl="1" indent="-171450">
              <a:buFont typeface="Arial" panose="020B0604020202020204" pitchFamily="34" charset="0"/>
              <a:buChar char="•"/>
            </a:pPr>
            <a:endParaRPr lang="en-GB" sz="1200" b="0" i="0" kern="1200" dirty="0">
              <a:solidFill>
                <a:schemeClr val="tx1"/>
              </a:solidFill>
              <a:effectLst/>
              <a:latin typeface="+mn-lt"/>
              <a:ea typeface="+mn-ea"/>
              <a:cs typeface="+mn-cs"/>
            </a:endParaRPr>
          </a:p>
          <a:p>
            <a:pPr marL="0" lvl="0" indent="0">
              <a:buFont typeface="Arial" panose="020B0604020202020204" pitchFamily="34" charset="0"/>
              <a:buNone/>
            </a:pPr>
            <a:r>
              <a:rPr lang="en-GB" sz="1200" b="0" i="0" kern="1200" dirty="0">
                <a:solidFill>
                  <a:schemeClr val="tx1"/>
                </a:solidFill>
                <a:effectLst/>
                <a:latin typeface="+mn-lt"/>
                <a:ea typeface="+mn-ea"/>
                <a:cs typeface="+mn-cs"/>
              </a:rPr>
              <a:t>2. Microaggression, believe your colleague the student and the impact on her. Is your senior colleague aware of what they are doing? Can they address this (keep practicing), who is the right person to have a word with them?</a:t>
            </a:r>
          </a:p>
          <a:p>
            <a:pPr marL="0" lvl="0" indent="0">
              <a:buFont typeface="Arial" panose="020B0604020202020204" pitchFamily="34" charset="0"/>
              <a:buNone/>
            </a:pPr>
            <a:endParaRPr lang="en-GB" sz="1200" b="0" i="0" kern="1200" dirty="0">
              <a:solidFill>
                <a:schemeClr val="tx1"/>
              </a:solidFill>
              <a:effectLst/>
              <a:latin typeface="+mn-lt"/>
              <a:ea typeface="+mn-ea"/>
              <a:cs typeface="+mn-cs"/>
            </a:endParaRPr>
          </a:p>
          <a:p>
            <a:pPr marL="0" lvl="0" indent="0">
              <a:buFont typeface="Arial" panose="020B0604020202020204" pitchFamily="34" charset="0"/>
              <a:buNone/>
            </a:pPr>
            <a:r>
              <a:rPr lang="en-GB" sz="1200" b="0" i="0" kern="1200" dirty="0">
                <a:solidFill>
                  <a:schemeClr val="tx1"/>
                </a:solidFill>
                <a:effectLst/>
                <a:latin typeface="+mn-lt"/>
                <a:ea typeface="+mn-ea"/>
                <a:cs typeface="+mn-cs"/>
              </a:rPr>
              <a:t>3. Prejudice or discrimination</a:t>
            </a:r>
          </a:p>
          <a:p>
            <a:br>
              <a:rPr lang="en-US" dirty="0">
                <a:cs typeface="+mn-lt"/>
              </a:rPr>
            </a:br>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17</a:t>
            </a:fld>
            <a:endParaRPr lang="en-GB"/>
          </a:p>
        </p:txBody>
      </p:sp>
    </p:spTree>
    <p:extLst>
      <p:ext uri="{BB962C8B-B14F-4D97-AF65-F5344CB8AC3E}">
        <p14:creationId xmlns:p14="http://schemas.microsoft.com/office/powerpoint/2010/main" val="30748000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18</a:t>
            </a:fld>
            <a:endParaRPr lang="en-GB"/>
          </a:p>
        </p:txBody>
      </p:sp>
    </p:spTree>
    <p:extLst>
      <p:ext uri="{BB962C8B-B14F-4D97-AF65-F5344CB8AC3E}">
        <p14:creationId xmlns:p14="http://schemas.microsoft.com/office/powerpoint/2010/main" val="403406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Click on the image to play the video…</a:t>
            </a:r>
          </a:p>
          <a:p>
            <a:endParaRPr lang="en-GB" b="1" dirty="0"/>
          </a:p>
          <a:p>
            <a:r>
              <a:rPr lang="en-GB" b="1" dirty="0"/>
              <a:t>Make the invisible, visible.</a:t>
            </a:r>
            <a:r>
              <a:rPr lang="en-GB" dirty="0"/>
              <a:t> </a:t>
            </a:r>
          </a:p>
          <a:p>
            <a:r>
              <a:rPr lang="en-GB" dirty="0"/>
              <a:t>Sometimes the offender is not aware that they have said something offensive, so it needs to be made visible </a:t>
            </a:r>
          </a:p>
          <a:p>
            <a:endParaRPr lang="en-GB" dirty="0"/>
          </a:p>
          <a:p>
            <a:r>
              <a:rPr lang="en-GB" b="1" dirty="0"/>
              <a:t>Educate the offender</a:t>
            </a:r>
            <a:r>
              <a:rPr lang="en-GB" dirty="0"/>
              <a:t>. Focus on the impact of what has been said rather than the intention. When you focus on the intention you can lose the argument</a:t>
            </a:r>
            <a:endParaRPr lang="en-GB" dirty="0">
              <a:cs typeface="Calibri"/>
            </a:endParaRPr>
          </a:p>
          <a:p>
            <a:r>
              <a:rPr lang="en-GB" dirty="0"/>
              <a:t>  </a:t>
            </a:r>
            <a:endParaRPr lang="en-GB" dirty="0">
              <a:cs typeface="Calibri"/>
            </a:endParaRPr>
          </a:p>
          <a:p>
            <a:r>
              <a:rPr lang="en-GB" b="1" dirty="0"/>
              <a:t>Disarm the microaggression - </a:t>
            </a:r>
            <a:r>
              <a:rPr lang="en-GB" dirty="0"/>
              <a:t>Immediately steer the conversation, joke or remark to being very clear that this is offensive is modelling good behaviour to others that may be present</a:t>
            </a:r>
            <a:r>
              <a:rPr lang="en-GB" b="1" dirty="0"/>
              <a:t>.</a:t>
            </a:r>
            <a:r>
              <a:rPr lang="en-GB" dirty="0"/>
              <a:t> The other person that made the comment can then be spoken to in another meeting </a:t>
            </a:r>
          </a:p>
          <a:p>
            <a:r>
              <a:rPr lang="en-GB" dirty="0"/>
              <a:t>(Rogers 2020) </a:t>
            </a:r>
          </a:p>
          <a:p>
            <a:endParaRPr lang="en-GB" dirty="0"/>
          </a:p>
          <a:p>
            <a:r>
              <a:rPr lang="en-GB" b="1" dirty="0"/>
              <a:t>Ask if the person affected is OK and needs anything from you</a:t>
            </a:r>
          </a:p>
          <a:p>
            <a:endParaRPr lang="en-GB" dirty="0"/>
          </a:p>
          <a:p>
            <a:r>
              <a:rPr lang="en-GB" dirty="0"/>
              <a:t>Click on the video</a:t>
            </a:r>
          </a:p>
          <a:p>
            <a:endParaRPr lang="en-GB" dirty="0">
              <a:cs typeface="Calibri"/>
            </a:endParaRPr>
          </a:p>
          <a:p>
            <a:endParaRPr lang="en-GB" dirty="0">
              <a:cs typeface="Calibri"/>
            </a:endParaRPr>
          </a:p>
        </p:txBody>
      </p:sp>
      <p:sp>
        <p:nvSpPr>
          <p:cNvPr id="4" name="Slide Number Placeholder 3"/>
          <p:cNvSpPr>
            <a:spLocks noGrp="1"/>
          </p:cNvSpPr>
          <p:nvPr>
            <p:ph type="sldNum" sz="quarter" idx="5"/>
          </p:nvPr>
        </p:nvSpPr>
        <p:spPr/>
        <p:txBody>
          <a:bodyPr/>
          <a:lstStyle/>
          <a:p>
            <a:fld id="{74F2894E-87D5-4B29-B593-7FB7EEC36BD5}" type="slidenum">
              <a:rPr lang="en-GB" smtClean="0"/>
              <a:t>19</a:t>
            </a:fld>
            <a:endParaRPr lang="en-GB"/>
          </a:p>
        </p:txBody>
      </p:sp>
    </p:spTree>
    <p:extLst>
      <p:ext uri="{BB962C8B-B14F-4D97-AF65-F5344CB8AC3E}">
        <p14:creationId xmlns:p14="http://schemas.microsoft.com/office/powerpoint/2010/main" val="1248647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Brief notes, anonymous and named reporting </a:t>
            </a:r>
          </a:p>
        </p:txBody>
      </p:sp>
      <p:sp>
        <p:nvSpPr>
          <p:cNvPr id="4" name="Slide Number Placeholder 3"/>
          <p:cNvSpPr>
            <a:spLocks noGrp="1"/>
          </p:cNvSpPr>
          <p:nvPr>
            <p:ph type="sldNum" sz="quarter" idx="5"/>
          </p:nvPr>
        </p:nvSpPr>
        <p:spPr/>
        <p:txBody>
          <a:bodyPr/>
          <a:lstStyle/>
          <a:p>
            <a:fld id="{E2099291-49EF-4B7A-A720-86BED43D938C}" type="slidenum">
              <a:rPr lang="en-GB" smtClean="0"/>
              <a:pPr/>
              <a:t>21</a:t>
            </a:fld>
            <a:endParaRPr lang="en-GB"/>
          </a:p>
        </p:txBody>
      </p:sp>
    </p:spTree>
    <p:extLst>
      <p:ext uri="{BB962C8B-B14F-4D97-AF65-F5344CB8AC3E}">
        <p14:creationId xmlns:p14="http://schemas.microsoft.com/office/powerpoint/2010/main" val="4223014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Zero tolerance approach slide from the RCGP Allyship </a:t>
            </a:r>
            <a:r>
              <a:rPr lang="en-US" dirty="0" err="1">
                <a:cs typeface="Calibri"/>
              </a:rPr>
              <a:t>ELearning</a:t>
            </a:r>
            <a:r>
              <a:rPr lang="en-US" dirty="0">
                <a:cs typeface="Calibri"/>
              </a:rPr>
              <a:t> Module – a patient cannot request to see a non-white Dr</a:t>
            </a:r>
          </a:p>
        </p:txBody>
      </p:sp>
      <p:sp>
        <p:nvSpPr>
          <p:cNvPr id="4" name="Slide Number Placeholder 3"/>
          <p:cNvSpPr>
            <a:spLocks noGrp="1"/>
          </p:cNvSpPr>
          <p:nvPr>
            <p:ph type="sldNum" sz="quarter" idx="5"/>
          </p:nvPr>
        </p:nvSpPr>
        <p:spPr/>
        <p:txBody>
          <a:bodyPr/>
          <a:lstStyle/>
          <a:p>
            <a:fld id="{70E0E144-4893-4FD2-A20D-6D41F15B781C}" type="slidenum">
              <a:rPr lang="en-GB"/>
              <a:t>22</a:t>
            </a:fld>
            <a:endParaRPr lang="en-GB"/>
          </a:p>
        </p:txBody>
      </p:sp>
    </p:spTree>
    <p:extLst>
      <p:ext uri="{BB962C8B-B14F-4D97-AF65-F5344CB8AC3E}">
        <p14:creationId xmlns:p14="http://schemas.microsoft.com/office/powerpoint/2010/main" val="32610496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Pairs or shout out or type into chat – discuss prejudice (as above attitude), bias (we all have these unconscious or not), discriminations and microaggression (actions)</a:t>
            </a:r>
          </a:p>
          <a:p>
            <a:endParaRPr lang="en-GB" dirty="0"/>
          </a:p>
          <a:p>
            <a:r>
              <a:rPr lang="en-GB" dirty="0"/>
              <a:t>All humans have bias/stereotypes we cannot avoid it. https://www.unconsciousbiasproject.org/resources/explain-unconscious-bias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Discrimination may be personal maybe internalised racism/misogyny/colourism, interpersonal, When a racial group’s collective prejudice is backed by legal authority and institutional control it is transformed into institutional and structural racism. Racism is a structure, not an event. </a:t>
            </a:r>
            <a:r>
              <a:rPr lang="en-GB" dirty="0">
                <a:latin typeface="+mn-lt"/>
              </a:rPr>
              <a:t>It is not enough not to discriminate - we need to be anti-discriminatory and anti-racist.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r>
              <a:rPr lang="en-GB" dirty="0"/>
              <a:t>Microaggressions - Common example where are you from? What’s the intention behind it? How do you determine the intention? Often subtle – acid rain/lots of little cuts – easier to spot overt racism</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i="1" dirty="0"/>
              <a:t>Sue DW, </a:t>
            </a:r>
            <a:r>
              <a:rPr lang="en-GB" sz="1200" i="1" dirty="0" err="1"/>
              <a:t>Capodilupo</a:t>
            </a:r>
            <a:r>
              <a:rPr lang="en-GB" sz="1200" i="1" dirty="0"/>
              <a:t> CM, Torino GC, </a:t>
            </a:r>
            <a:r>
              <a:rPr lang="en-GB" sz="1200" i="1" dirty="0" err="1"/>
              <a:t>Bucceri</a:t>
            </a:r>
            <a:r>
              <a:rPr lang="en-GB" sz="1200" i="1" dirty="0"/>
              <a:t> JM, Holder AM, Nadal KL, </a:t>
            </a:r>
            <a:r>
              <a:rPr lang="en-GB" sz="1200" i="1" dirty="0" err="1"/>
              <a:t>Esquilin</a:t>
            </a:r>
            <a:r>
              <a:rPr lang="en-GB" sz="1200" i="1" dirty="0"/>
              <a:t> M (2007). "Racial microaggressions in everyday life: implications for clinical practice". The American Psychologist. </a:t>
            </a:r>
            <a:r>
              <a:rPr lang="en-GB" sz="1200" b="1" i="1" dirty="0"/>
              <a:t>62</a:t>
            </a:r>
            <a:r>
              <a:rPr lang="en-GB" sz="1200" i="1" dirty="0"/>
              <a:t> (4): 271–86. </a:t>
            </a:r>
            <a:r>
              <a:rPr lang="en-GB" sz="1200" u="sng" dirty="0">
                <a:hlinkClick r:id="rId3" tooltip="Digital object identifier"/>
              </a:rPr>
              <a:t>doi</a:t>
            </a:r>
            <a:r>
              <a:rPr lang="en-GB" sz="1200" i="1" dirty="0"/>
              <a:t>:</a:t>
            </a:r>
            <a:r>
              <a:rPr lang="en-GB" sz="1200" u="sng" dirty="0">
                <a:hlinkClick r:id="rId4"/>
              </a:rPr>
              <a:t>10.1037/0003-066x.62.4.271</a:t>
            </a:r>
            <a:r>
              <a:rPr lang="en-GB" sz="1200" i="1" dirty="0"/>
              <a:t>. </a:t>
            </a:r>
            <a:r>
              <a:rPr lang="en-GB" sz="1200" u="sng" dirty="0">
                <a:hlinkClick r:id="rId5" tooltip="PubMed Identifier"/>
              </a:rPr>
              <a:t>PMID</a:t>
            </a:r>
            <a:r>
              <a:rPr lang="en-GB" sz="1200" i="1" dirty="0"/>
              <a:t> </a:t>
            </a:r>
            <a:r>
              <a:rPr lang="en-GB" sz="1200" u="sng" dirty="0">
                <a:hlinkClick r:id="rId6"/>
              </a:rPr>
              <a:t>17516773</a:t>
            </a:r>
            <a:r>
              <a:rPr lang="en-GB" i="1" dirty="0"/>
              <a:t>.</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endParaRPr lang="en-GB" dirty="0"/>
          </a:p>
          <a:p>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E2099291-49EF-4B7A-A720-86BED43D938C}" type="slidenum">
              <a:rPr lang="en-GB" smtClean="0"/>
              <a:pPr/>
              <a:t>22</a:t>
            </a:fld>
            <a:endParaRPr lang="en-GB"/>
          </a:p>
        </p:txBody>
      </p:sp>
    </p:spTree>
    <p:extLst>
      <p:ext uri="{BB962C8B-B14F-4D97-AF65-F5344CB8AC3E}">
        <p14:creationId xmlns:p14="http://schemas.microsoft.com/office/powerpoint/2010/main" val="3105726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My summary - </a:t>
            </a:r>
            <a:r>
              <a:rPr lang="en-GB" dirty="0">
                <a:latin typeface="+mn-lt"/>
              </a:rPr>
              <a:t>It is not enough not to discriminate - we need to be anti-discriminatory and anti-racist.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pPr marL="457200" indent="-457200">
              <a:buFont typeface="+mj-lt"/>
              <a:buAutoNum type="arabicPeriod"/>
            </a:pPr>
            <a:r>
              <a:rPr lang="en-GB" sz="1200" dirty="0"/>
              <a:t>What did you learn from this session?</a:t>
            </a:r>
          </a:p>
          <a:p>
            <a:pPr marL="457200" indent="-457200">
              <a:buFont typeface="+mj-lt"/>
              <a:buAutoNum type="arabicPeriod"/>
            </a:pPr>
            <a:r>
              <a:rPr lang="en-GB" sz="1200" dirty="0"/>
              <a:t>What will you try yourself?</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latin typeface="+mn-lt"/>
            </a:endParaRPr>
          </a:p>
          <a:p>
            <a:endParaRPr lang="en-GB" dirty="0"/>
          </a:p>
        </p:txBody>
      </p:sp>
      <p:sp>
        <p:nvSpPr>
          <p:cNvPr id="4" name="Slide Number Placeholder 3"/>
          <p:cNvSpPr>
            <a:spLocks noGrp="1"/>
          </p:cNvSpPr>
          <p:nvPr>
            <p:ph type="sldNum" sz="quarter" idx="5"/>
          </p:nvPr>
        </p:nvSpPr>
        <p:spPr/>
        <p:txBody>
          <a:bodyPr/>
          <a:lstStyle/>
          <a:p>
            <a:fld id="{70E0E144-4893-4FD2-A20D-6D41F15B781C}" type="slidenum">
              <a:rPr lang="en-GB" smtClean="0"/>
              <a:t>23</a:t>
            </a:fld>
            <a:endParaRPr lang="en-GB"/>
          </a:p>
        </p:txBody>
      </p:sp>
    </p:spTree>
    <p:extLst>
      <p:ext uri="{BB962C8B-B14F-4D97-AF65-F5344CB8AC3E}">
        <p14:creationId xmlns:p14="http://schemas.microsoft.com/office/powerpoint/2010/main" val="5777315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EBDD67-43FD-4D34-98AA-92F6604577EE}" type="slidenum">
              <a:rPr lang="en-GB" smtClean="0"/>
              <a:t>24</a:t>
            </a:fld>
            <a:endParaRPr lang="en-GB"/>
          </a:p>
        </p:txBody>
      </p:sp>
    </p:spTree>
    <p:extLst>
      <p:ext uri="{BB962C8B-B14F-4D97-AF65-F5344CB8AC3E}">
        <p14:creationId xmlns:p14="http://schemas.microsoft.com/office/powerpoint/2010/main" val="907945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99145" y="2130426"/>
            <a:ext cx="11369524" cy="1470025"/>
          </a:xfrm>
        </p:spPr>
        <p:txBody>
          <a:bodyPr/>
          <a:lstStyle/>
          <a:p>
            <a:r>
              <a:rPr lang="en-US"/>
              <a:t>Click to edit Master title style</a:t>
            </a:r>
          </a:p>
        </p:txBody>
      </p:sp>
      <p:sp>
        <p:nvSpPr>
          <p:cNvPr id="3" name="Subtitle 2"/>
          <p:cNvSpPr>
            <a:spLocks noGrp="1"/>
          </p:cNvSpPr>
          <p:nvPr>
            <p:ph type="subTitle" idx="1"/>
          </p:nvPr>
        </p:nvSpPr>
        <p:spPr>
          <a:xfrm>
            <a:off x="399145" y="3886200"/>
            <a:ext cx="11369524" cy="1752600"/>
          </a:xfrm>
        </p:spPr>
        <p:txBody>
          <a:bodyPr>
            <a:normAutofit/>
          </a:bodyPr>
          <a:lstStyle>
            <a:lvl1pPr marL="0" indent="0" algn="l">
              <a:buNone/>
              <a:defRPr sz="2200">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D84313-61A9-4130-8F51-4DDAD899638B}" type="datetime1">
              <a:rPr lang="en-GB" smtClean="0"/>
              <a:t>15/09/2023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291244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2E0201-D474-44D4-8281-9D47305897DD}" type="datetime1">
              <a:rPr lang="en-GB" smtClean="0"/>
              <a:t>15/09/2023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1039648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28180" y="979715"/>
            <a:ext cx="5072440" cy="1275804"/>
          </a:xfrm>
        </p:spPr>
        <p:txBody>
          <a:bodyPr anchor="t">
            <a:noAutofit/>
          </a:bodyPr>
          <a:lstStyle>
            <a:lvl1pPr algn="l">
              <a:lnSpc>
                <a:spcPct val="70000"/>
              </a:lnSpc>
              <a:defRPr sz="4000" b="0" kern="900" cap="all">
                <a:solidFill>
                  <a:schemeClr val="accent2"/>
                </a:solidFill>
                <a:latin typeface="+mj-lt"/>
              </a:defRPr>
            </a:lvl1pPr>
          </a:lstStyle>
          <a:p>
            <a:r>
              <a:rPr lang="en-US"/>
              <a:t>Click to edit Master title style</a:t>
            </a:r>
          </a:p>
        </p:txBody>
      </p:sp>
      <p:sp>
        <p:nvSpPr>
          <p:cNvPr id="3" name="Text Placeholder 2"/>
          <p:cNvSpPr>
            <a:spLocks noGrp="1"/>
          </p:cNvSpPr>
          <p:nvPr>
            <p:ph type="body" idx="1"/>
          </p:nvPr>
        </p:nvSpPr>
        <p:spPr>
          <a:xfrm>
            <a:off x="7148287" y="3129643"/>
            <a:ext cx="4589236" cy="3044144"/>
          </a:xfrm>
        </p:spPr>
        <p:txBody>
          <a:bodyPr anchor="b">
            <a:normAutofit/>
          </a:bodyPr>
          <a:lstStyle>
            <a:lvl1pPr marL="0" indent="0" algn="r">
              <a:lnSpc>
                <a:spcPct val="70000"/>
              </a:lnSpc>
              <a:spcBef>
                <a:spcPts val="0"/>
              </a:spcBef>
              <a:buNone/>
              <a:defRPr sz="2200" b="1">
                <a:solidFill>
                  <a:schemeClr val="accent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10"/>
          </p:nvPr>
        </p:nvSpPr>
        <p:spPr/>
        <p:txBody>
          <a:bodyPr/>
          <a:lstStyle/>
          <a:p>
            <a:fld id="{082A8366-5C17-42D5-A027-5FCAE01DD942}" type="datetime1">
              <a:rPr lang="en-GB" smtClean="0"/>
              <a:t>15/09/2023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3473613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CE41AD-9C6B-4F7D-949E-A825E27B5526}" type="datetime1">
              <a:rPr lang="en-GB" smtClean="0"/>
              <a:t>15/09/2023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3665417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FE82130-1D01-441E-8E65-3EFC6DCA8035}" type="datetime1">
              <a:rPr lang="en-GB" smtClean="0"/>
              <a:t>15/09/2023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356745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C20372-12BA-4917-84B4-1DED51620F8E}" type="datetime1">
              <a:rPr lang="en-GB" smtClean="0"/>
              <a:t>15/09/2023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927602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8C8463-5B42-4A01-B7BF-7B283483111B}" type="datetime1">
              <a:rPr lang="en-GB" smtClean="0"/>
              <a:t>15/09/2023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2911636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88016E-57FA-40C5-81D1-0D2EB8641BC2}" type="datetime1">
              <a:rPr lang="en-GB" smtClean="0"/>
              <a:t>15/09/2023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4067378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E7138D-EDEB-46B5-88A0-7EA6E3439A0E}" type="datetime1">
              <a:rPr lang="en-GB" smtClean="0"/>
              <a:t>15/09/2023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2614782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C5CDD4-6962-494A-9741-B70F204902EF}" type="datetime1">
              <a:rPr lang="en-GB" smtClean="0"/>
              <a:t>15/09/2023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3034669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BA9DF8F-C3F1-4E25-8C29-C4347E47C594}" type="datetime1">
              <a:rPr lang="en-GB" smtClean="0"/>
              <a:t>15/09/2023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BF4E40D-C085-49AA-8AFB-C76DB291F2FC}" type="slidenum">
              <a:rPr lang="en-GB" smtClean="0"/>
              <a:t>‹#›</a:t>
            </a:fld>
            <a:endParaRPr lang="en-GB"/>
          </a:p>
        </p:txBody>
      </p:sp>
    </p:spTree>
    <p:extLst>
      <p:ext uri="{BB962C8B-B14F-4D97-AF65-F5344CB8AC3E}">
        <p14:creationId xmlns:p14="http://schemas.microsoft.com/office/powerpoint/2010/main" val="930174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7086" y="944387"/>
            <a:ext cx="11566159" cy="505816"/>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38795" y="1600201"/>
            <a:ext cx="11566159"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8AE8D3-6FD7-43B4-BB6F-5B8E116CA67E}" type="datetime1">
              <a:rPr lang="en-GB" smtClean="0"/>
              <a:t>15/09/2023</a:t>
            </a:fld>
            <a:endParaRPr lang="en-GB"/>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F4E40D-C085-49AA-8AFB-C76DB291F2FC}" type="slidenum">
              <a:rPr lang="en-GB" smtClean="0"/>
              <a:t>‹#›</a:t>
            </a:fld>
            <a:endParaRPr lang="en-GB"/>
          </a:p>
        </p:txBody>
      </p:sp>
    </p:spTree>
    <p:extLst>
      <p:ext uri="{BB962C8B-B14F-4D97-AF65-F5344CB8AC3E}">
        <p14:creationId xmlns:p14="http://schemas.microsoft.com/office/powerpoint/2010/main" val="19565182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457189" rtl="0" eaLnBrk="1" latinLnBrk="0" hangingPunct="1">
        <a:spcBef>
          <a:spcPct val="0"/>
        </a:spcBef>
        <a:buNone/>
        <a:defRPr sz="3200" kern="1200" spc="-100">
          <a:solidFill>
            <a:schemeClr val="accent1"/>
          </a:solidFill>
          <a:latin typeface="+mj-lt"/>
          <a:ea typeface="+mj-ea"/>
          <a:cs typeface="+mj-cs"/>
        </a:defRPr>
      </a:lvl1pPr>
    </p:titleStyle>
    <p:bodyStyle>
      <a:lvl1pPr marL="180970" indent="-180970" algn="l" defTabSz="457189" rtl="0" eaLnBrk="1" latinLnBrk="0" hangingPunct="1">
        <a:spcBef>
          <a:spcPts val="0"/>
        </a:spcBef>
        <a:buClr>
          <a:schemeClr val="accent1"/>
        </a:buClr>
        <a:buFont typeface="Arial"/>
        <a:buNone/>
        <a:defRPr sz="2200" kern="1200">
          <a:solidFill>
            <a:schemeClr val="tx1"/>
          </a:solidFill>
          <a:latin typeface="+mn-lt"/>
          <a:ea typeface="+mn-ea"/>
          <a:cs typeface="+mn-cs"/>
        </a:defRPr>
      </a:lvl1pPr>
      <a:lvl2pPr marL="427028" indent="-209545" algn="l" defTabSz="457189" rtl="0" eaLnBrk="1" latinLnBrk="0" hangingPunct="1">
        <a:spcBef>
          <a:spcPts val="0"/>
        </a:spcBef>
        <a:buClr>
          <a:schemeClr val="accent1"/>
        </a:buClr>
        <a:buFont typeface="Arial"/>
        <a:buChar char="•"/>
        <a:defRPr sz="2000" kern="1200">
          <a:solidFill>
            <a:schemeClr val="tx1"/>
          </a:solidFill>
          <a:latin typeface="+mn-lt"/>
          <a:ea typeface="+mn-ea"/>
          <a:cs typeface="+mn-cs"/>
        </a:defRPr>
      </a:lvl2pPr>
      <a:lvl3pPr marL="634984" indent="-190495" algn="l" defTabSz="457189" rtl="0" eaLnBrk="1" latinLnBrk="0" hangingPunct="1">
        <a:spcBef>
          <a:spcPts val="0"/>
        </a:spcBef>
        <a:buClr>
          <a:schemeClr val="accent1"/>
        </a:buClr>
        <a:buFont typeface="Arial"/>
        <a:buChar char="•"/>
        <a:defRPr sz="2000" kern="1200">
          <a:solidFill>
            <a:schemeClr val="tx1"/>
          </a:solidFill>
          <a:latin typeface="+mn-lt"/>
          <a:ea typeface="+mn-ea"/>
          <a:cs typeface="+mn-cs"/>
        </a:defRPr>
      </a:lvl3pPr>
      <a:lvl4pPr marL="906440" indent="-217483" algn="l" defTabSz="457189" rtl="0" eaLnBrk="1" latinLnBrk="0" hangingPunct="1">
        <a:spcBef>
          <a:spcPts val="0"/>
        </a:spcBef>
        <a:buClr>
          <a:schemeClr val="accent1"/>
        </a:buClr>
        <a:buFont typeface="Arial"/>
        <a:buChar char="•"/>
        <a:defRPr sz="2000" kern="1200">
          <a:solidFill>
            <a:schemeClr val="tx1"/>
          </a:solidFill>
          <a:latin typeface="+mn-lt"/>
          <a:ea typeface="+mn-ea"/>
          <a:cs typeface="+mn-cs"/>
        </a:defRPr>
      </a:lvl4pPr>
      <a:lvl5pPr marL="1133446" indent="-217483" algn="l" defTabSz="457189" rtl="0" eaLnBrk="1" latinLnBrk="0" hangingPunct="1">
        <a:spcBef>
          <a:spcPts val="0"/>
        </a:spcBef>
        <a:buClr>
          <a:schemeClr val="accent1"/>
        </a:buClr>
        <a:buFont typeface="Arial"/>
        <a:buChar char="•"/>
        <a:defRPr sz="2000" kern="1200">
          <a:solidFill>
            <a:schemeClr val="tx1"/>
          </a:solidFill>
          <a:latin typeface="+mn-lt"/>
          <a:ea typeface="+mn-ea"/>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image" Target="../media/image5.png"/><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0" Type="http://schemas.openxmlformats.org/officeDocument/2006/relationships/diagramData" Target="../diagrams/data2.xml"/><Relationship Id="rId4" Type="http://schemas.openxmlformats.org/officeDocument/2006/relationships/image" Target="../media/image3.png"/><Relationship Id="rId9" Type="http://schemas.microsoft.com/office/2007/relationships/diagramDrawing" Target="../diagrams/drawing1.xml"/><Relationship Id="rId14" Type="http://schemas.microsoft.com/office/2007/relationships/diagramDrawing" Target="../diagrams/drawing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notesSlide" Target="../notesSlides/notesSlide13.xml"/><Relationship Id="rId7" Type="http://schemas.openxmlformats.org/officeDocument/2006/relationships/image" Target="../media/image17.jpg"/><Relationship Id="rId2" Type="http://schemas.openxmlformats.org/officeDocument/2006/relationships/slideLayout" Target="../slideLayouts/slideLayout4.xml"/><Relationship Id="rId1" Type="http://schemas.openxmlformats.org/officeDocument/2006/relationships/video" Target="https://www.youtube.com/embed/TjR9log14Hs?feature=oembed" TargetMode="External"/><Relationship Id="rId6" Type="http://schemas.openxmlformats.org/officeDocument/2006/relationships/hyperlink" Target="https://www.youtube.com/watch?v=TjR9log14Hs&amp;app=desktop" TargetMode="External"/><Relationship Id="rId5" Type="http://schemas.openxmlformats.org/officeDocument/2006/relationships/image" Target="../media/image5.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5.png"/><Relationship Id="rId7" Type="http://schemas.openxmlformats.org/officeDocument/2006/relationships/diagramQuickStyle" Target="../diagrams/quickStyle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3.png"/><Relationship Id="rId9" Type="http://schemas.microsoft.com/office/2007/relationships/diagramDrawing" Target="../diagrams/drawing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www.youtube.com/watch?v=EJW3wjy9gSI" TargetMode="Externa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hyperlink" Target="https://www.youtube.com/watch?v=OSsPfbup0ac&amp;list=PLMN8FhZPExI7Wba3NlSlDQCN18x7vrqVT&amp;index=4"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hyperlink" Target="https://www.mentimeter.com/app/presentation/alj49sm1w9jbdj5r8eochar9f6to4tty/jmrhj76dxpob" TargetMode="External"/><Relationship Id="rId4" Type="http://schemas.openxmlformats.org/officeDocument/2006/relationships/image" Target="../media/image26.jp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elearning.rcgp.org.uk/course/view.php?id=559"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www.gmc-uk.org/education/standards-guidance-and-curricula/projects/differential-attainment" TargetMode="External"/><Relationship Id="rId5" Type="http://schemas.openxmlformats.org/officeDocument/2006/relationships/hyperlink" Target="https://podcasts.apple.com/gb/podcast/primary-care-uk/id1611882444?i=1000567707098"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18457"/>
          </a:schemeClr>
        </a:solidFill>
        <a:effectLst/>
      </p:bgPr>
    </p:bg>
    <p:spTree>
      <p:nvGrpSpPr>
        <p:cNvPr id="1" name=""/>
        <p:cNvGrpSpPr/>
        <p:nvPr/>
      </p:nvGrpSpPr>
      <p:grpSpPr>
        <a:xfrm>
          <a:off x="0" y="0"/>
          <a:ext cx="0" cy="0"/>
          <a:chOff x="0" y="0"/>
          <a:chExt cx="0" cy="0"/>
        </a:xfrm>
      </p:grpSpPr>
      <p:pic>
        <p:nvPicPr>
          <p:cNvPr id="6" name="Picture 5" descr="Icon&#10;&#10;Description automatically generated with medium confidence">
            <a:extLst>
              <a:ext uri="{FF2B5EF4-FFF2-40B4-BE49-F238E27FC236}">
                <a16:creationId xmlns:a16="http://schemas.microsoft.com/office/drawing/2014/main" id="{CF2C84CB-6A47-C848-8EE1-47D9A66C6DD7}"/>
              </a:ext>
            </a:extLst>
          </p:cNvPr>
          <p:cNvPicPr>
            <a:picLocks noChangeAspect="1"/>
          </p:cNvPicPr>
          <p:nvPr/>
        </p:nvPicPr>
        <p:blipFill rotWithShape="1">
          <a:blip r:embed="rId3" cstate="print">
            <a:alphaModFix amt="5000"/>
            <a:extLst>
              <a:ext uri="{28A0092B-C50C-407E-A947-70E740481C1C}">
                <a14:useLocalDpi xmlns:a14="http://schemas.microsoft.com/office/drawing/2010/main" val="0"/>
              </a:ext>
            </a:extLst>
          </a:blip>
          <a:srcRect t="26932" r="13099" b="13361"/>
          <a:stretch/>
        </p:blipFill>
        <p:spPr>
          <a:xfrm>
            <a:off x="2116730" y="1"/>
            <a:ext cx="10075271" cy="6858001"/>
          </a:xfrm>
          <a:prstGeom prst="rect">
            <a:avLst/>
          </a:prstGeom>
        </p:spPr>
      </p:pic>
      <p:pic>
        <p:nvPicPr>
          <p:cNvPr id="3" name="Picture 2" descr="A picture containing shape&#10;&#10;Description automatically generated">
            <a:extLst>
              <a:ext uri="{FF2B5EF4-FFF2-40B4-BE49-F238E27FC236}">
                <a16:creationId xmlns:a16="http://schemas.microsoft.com/office/drawing/2014/main" id="{33EFDA96-5476-BA49-B26B-BC26DE00C5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49842" y="4894942"/>
            <a:ext cx="2540394" cy="1945319"/>
          </a:xfrm>
          <a:prstGeom prst="rect">
            <a:avLst/>
          </a:prstGeom>
        </p:spPr>
      </p:pic>
      <p:cxnSp>
        <p:nvCxnSpPr>
          <p:cNvPr id="13" name="Straight Connector 12">
            <a:extLst>
              <a:ext uri="{FF2B5EF4-FFF2-40B4-BE49-F238E27FC236}">
                <a16:creationId xmlns:a16="http://schemas.microsoft.com/office/drawing/2014/main" id="{9FF9E353-0EFE-654F-B854-23BDB8E145DC}"/>
              </a:ext>
            </a:extLst>
          </p:cNvPr>
          <p:cNvCxnSpPr>
            <a:cxnSpLocks/>
          </p:cNvCxnSpPr>
          <p:nvPr/>
        </p:nvCxnSpPr>
        <p:spPr>
          <a:xfrm flipH="1">
            <a:off x="335361" y="6056740"/>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E9C3DDF0-9A84-DA4C-9E42-5F33230576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7944" y="6308949"/>
            <a:ext cx="2670976" cy="321540"/>
          </a:xfrm>
          <a:prstGeom prst="rect">
            <a:avLst/>
          </a:prstGeom>
        </p:spPr>
      </p:pic>
      <p:sp>
        <p:nvSpPr>
          <p:cNvPr id="10" name="Title 1">
            <a:extLst>
              <a:ext uri="{FF2B5EF4-FFF2-40B4-BE49-F238E27FC236}">
                <a16:creationId xmlns:a16="http://schemas.microsoft.com/office/drawing/2014/main" id="{6A653827-C9F2-BF4D-91E3-8CB310661DA8}"/>
              </a:ext>
            </a:extLst>
          </p:cNvPr>
          <p:cNvSpPr txBox="1">
            <a:spLocks/>
          </p:cNvSpPr>
          <p:nvPr/>
        </p:nvSpPr>
        <p:spPr>
          <a:xfrm>
            <a:off x="441533" y="559721"/>
            <a:ext cx="10499357" cy="1574315"/>
          </a:xfrm>
          <a:prstGeom prst="rect">
            <a:avLst/>
          </a:prstGeom>
        </p:spPr>
        <p:txBody>
          <a:bodyPr vert="horz" lIns="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pPr>
            <a:r>
              <a:rPr lang="en-GB" sz="4250" b="1" dirty="0">
                <a:solidFill>
                  <a:schemeClr val="accent1"/>
                </a:solidFill>
                <a:latin typeface="Calibri"/>
                <a:ea typeface="Calibri" panose="020F0502020204030204" pitchFamily="34" charset="0"/>
                <a:cs typeface="Calibri"/>
              </a:rPr>
              <a:t>Celebrating Diversity and Tackling Discrimination in our workforce – Session for NCL Educators</a:t>
            </a:r>
          </a:p>
          <a:p>
            <a:pPr algn="l">
              <a:lnSpc>
                <a:spcPct val="80000"/>
              </a:lnSpc>
            </a:pPr>
            <a:endParaRPr lang="en-GB" sz="4250" b="1" dirty="0">
              <a:solidFill>
                <a:schemeClr val="accent1"/>
              </a:solidFill>
              <a:latin typeface="Calibri"/>
              <a:ea typeface="Calibri" panose="020F0502020204030204" pitchFamily="34" charset="0"/>
              <a:cs typeface="Calibri"/>
            </a:endParaRPr>
          </a:p>
        </p:txBody>
      </p:sp>
      <p:sp>
        <p:nvSpPr>
          <p:cNvPr id="11" name="TextBox 10">
            <a:extLst>
              <a:ext uri="{FF2B5EF4-FFF2-40B4-BE49-F238E27FC236}">
                <a16:creationId xmlns:a16="http://schemas.microsoft.com/office/drawing/2014/main" id="{8B0CE6C9-4730-074D-9C83-A349061A5B64}"/>
              </a:ext>
            </a:extLst>
          </p:cNvPr>
          <p:cNvSpPr txBox="1"/>
          <p:nvPr/>
        </p:nvSpPr>
        <p:spPr>
          <a:xfrm>
            <a:off x="332321" y="5344904"/>
            <a:ext cx="7895909" cy="923330"/>
          </a:xfrm>
          <a:prstGeom prst="rect">
            <a:avLst/>
          </a:prstGeom>
          <a:noFill/>
        </p:spPr>
        <p:txBody>
          <a:bodyPr wrap="square" lIns="0" tIns="45720" rIns="91440" bIns="45720" numCol="1" spcCol="144000" rtlCol="0" anchor="t">
            <a:spAutoFit/>
          </a:bodyPr>
          <a:lstStyle/>
          <a:p>
            <a:pPr fontAlgn="base">
              <a:lnSpc>
                <a:spcPct val="90000"/>
              </a:lnSpc>
            </a:pPr>
            <a:r>
              <a:rPr lang="en-GB" sz="3200" b="1" dirty="0">
                <a:ea typeface="Calibri"/>
                <a:cs typeface="Calibri"/>
              </a:rPr>
              <a:t>Training Hub Faculty Programme Directors</a:t>
            </a:r>
            <a:endParaRPr lang="en-GB" sz="3200" b="1" dirty="0">
              <a:ea typeface="Calibri" panose="020F0502020204030204" pitchFamily="34" charset="0"/>
              <a:cs typeface="Calibri"/>
            </a:endParaRPr>
          </a:p>
          <a:p>
            <a:pPr>
              <a:lnSpc>
                <a:spcPct val="90000"/>
              </a:lnSpc>
            </a:pPr>
            <a:endParaRPr lang="en-GB" sz="2800" b="1">
              <a:solidFill>
                <a:schemeClr val="bg2"/>
              </a:solidFill>
              <a:ea typeface="Calibri" panose="020F0502020204030204" pitchFamily="34" charset="0"/>
              <a:cs typeface="Calibri"/>
            </a:endParaRPr>
          </a:p>
        </p:txBody>
      </p:sp>
      <p:sp>
        <p:nvSpPr>
          <p:cNvPr id="12" name="Title 1">
            <a:extLst>
              <a:ext uri="{FF2B5EF4-FFF2-40B4-BE49-F238E27FC236}">
                <a16:creationId xmlns:a16="http://schemas.microsoft.com/office/drawing/2014/main" id="{8667FB7C-D55A-E44A-A344-080A9817C584}"/>
              </a:ext>
            </a:extLst>
          </p:cNvPr>
          <p:cNvSpPr txBox="1">
            <a:spLocks/>
          </p:cNvSpPr>
          <p:nvPr/>
        </p:nvSpPr>
        <p:spPr>
          <a:xfrm>
            <a:off x="382002" y="3429000"/>
            <a:ext cx="6745720" cy="2012027"/>
          </a:xfrm>
          <a:prstGeom prst="rect">
            <a:avLst/>
          </a:prstGeom>
        </p:spPr>
        <p:txBody>
          <a:bodyPr vert="horz" lIns="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lnSpc>
                <a:spcPct val="90000"/>
              </a:lnSpc>
            </a:pPr>
            <a:r>
              <a:rPr lang="en-GB" sz="2650" b="1" spc="-67" dirty="0">
                <a:solidFill>
                  <a:schemeClr val="bg2"/>
                </a:solidFill>
              </a:rPr>
              <a:t>Hosted by  NCL Faculty of Educators in partnership with NCL Training Hub. Thanks to colleagues from DIMAH (Diversity in Medicine and Healthcare) and the Medical Schools Council (MSC)EDI Alliance for resources</a:t>
            </a:r>
            <a:endParaRPr lang="en-GB" sz="2667" b="1" spc="-67" dirty="0">
              <a:solidFill>
                <a:schemeClr val="bg2"/>
              </a:solidFill>
            </a:endParaRPr>
          </a:p>
        </p:txBody>
      </p:sp>
      <p:sp>
        <p:nvSpPr>
          <p:cNvPr id="17" name="Title 1">
            <a:extLst>
              <a:ext uri="{FF2B5EF4-FFF2-40B4-BE49-F238E27FC236}">
                <a16:creationId xmlns:a16="http://schemas.microsoft.com/office/drawing/2014/main" id="{1ACDD080-EA8D-9145-89CC-4FBEFA9EEF03}"/>
              </a:ext>
            </a:extLst>
          </p:cNvPr>
          <p:cNvSpPr txBox="1">
            <a:spLocks/>
          </p:cNvSpPr>
          <p:nvPr/>
        </p:nvSpPr>
        <p:spPr>
          <a:xfrm>
            <a:off x="382002" y="327561"/>
            <a:ext cx="3625369" cy="322236"/>
          </a:xfrm>
          <a:prstGeom prst="rect">
            <a:avLst/>
          </a:prstGeom>
        </p:spPr>
        <p:txBody>
          <a:bodyPr vert="horz" lIns="0" tIns="45720" rIns="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pPr>
            <a:r>
              <a:rPr lang="en-GB" sz="1450" b="1" spc="-27">
                <a:solidFill>
                  <a:schemeClr val="bg2"/>
                </a:solidFill>
                <a:latin typeface="Calibri"/>
                <a:ea typeface="Calibri" panose="020F0502020204030204" pitchFamily="34" charset="0"/>
                <a:cs typeface="Times New Roman"/>
              </a:rPr>
              <a:t>2023</a:t>
            </a:r>
            <a:endParaRPr lang="en-GB" sz="1450" b="1" spc="-27">
              <a:solidFill>
                <a:schemeClr val="bg2"/>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E02A3C88-39B0-9E8B-47D6-D0A537F86B46}"/>
              </a:ext>
            </a:extLst>
          </p:cNvPr>
          <p:cNvPicPr>
            <a:picLocks noChangeAspect="1"/>
          </p:cNvPicPr>
          <p:nvPr/>
        </p:nvPicPr>
        <p:blipFill>
          <a:blip r:embed="rId6"/>
          <a:stretch>
            <a:fillRect/>
          </a:stretch>
        </p:blipFill>
        <p:spPr>
          <a:xfrm>
            <a:off x="9096765" y="2072786"/>
            <a:ext cx="2719878" cy="2707971"/>
          </a:xfrm>
          <a:prstGeom prst="rect">
            <a:avLst/>
          </a:prstGeom>
        </p:spPr>
      </p:pic>
    </p:spTree>
    <p:extLst>
      <p:ext uri="{BB962C8B-B14F-4D97-AF65-F5344CB8AC3E}">
        <p14:creationId xmlns:p14="http://schemas.microsoft.com/office/powerpoint/2010/main" val="3075711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335360" y="698848"/>
            <a:ext cx="9630275" cy="466783"/>
          </a:xfrm>
          <a:prstGeom prst="rect">
            <a:avLst/>
          </a:prstGeom>
        </p:spPr>
        <p:txBody>
          <a:bodyPr vert="horz" lIns="0" tIns="45720" rIns="91440" bIns="45720" rtlCol="0" anchor="b"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000" spc="-67" dirty="0">
                <a:solidFill>
                  <a:schemeClr val="accent1"/>
                </a:solidFill>
                <a:ea typeface="+mj-lt"/>
                <a:cs typeface="+mj-lt"/>
              </a:rPr>
              <a:t>Learning Objectives </a:t>
            </a:r>
            <a:endParaRPr lang="en-US" sz="4000" dirty="0">
              <a:solidFill>
                <a:schemeClr val="accent1"/>
              </a:solidFill>
              <a:cs typeface="Calibri"/>
            </a:endParaRPr>
          </a:p>
          <a:p>
            <a:pPr algn="l">
              <a:lnSpc>
                <a:spcPct val="80000"/>
              </a:lnSpc>
            </a:pPr>
            <a:endParaRPr lang="en-GB" sz="2650" b="1" spc="-67" dirty="0">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9C25FC5D-C61B-F044-BC2C-AE609283E8AB}"/>
              </a:ext>
            </a:extLst>
          </p:cNvPr>
          <p:cNvSpPr txBox="1"/>
          <p:nvPr/>
        </p:nvSpPr>
        <p:spPr>
          <a:xfrm>
            <a:off x="490159" y="1398998"/>
            <a:ext cx="11211681" cy="5262979"/>
          </a:xfrm>
          <a:prstGeom prst="rect">
            <a:avLst/>
          </a:prstGeom>
          <a:noFill/>
        </p:spPr>
        <p:txBody>
          <a:bodyPr wrap="square" lIns="0" tIns="45720" rIns="91440" bIns="45720" numCol="1" spcCol="144000" rtlCol="0" anchor="t">
            <a:spAutoFit/>
          </a:bodyPr>
          <a:lstStyle/>
          <a:p>
            <a:pPr marL="0" indent="0">
              <a:buNone/>
            </a:pPr>
            <a:r>
              <a:rPr lang="en-GB" sz="2800" dirty="0"/>
              <a:t>By the end of the session you will have:</a:t>
            </a:r>
          </a:p>
          <a:p>
            <a:pPr marL="0" indent="0">
              <a:buNone/>
            </a:pPr>
            <a:endParaRPr lang="en-GB" sz="2800" dirty="0">
              <a:cs typeface="Calibri"/>
            </a:endParaRPr>
          </a:p>
          <a:p>
            <a:pPr marL="342900" indent="-342900">
              <a:buFont typeface="Arial" panose="020B0604020202020204" pitchFamily="34" charset="0"/>
              <a:buChar char="•"/>
            </a:pPr>
            <a:r>
              <a:rPr lang="en-GB" sz="2800" dirty="0">
                <a:latin typeface="+mn-lt"/>
                <a:ea typeface="Arial" charset="0"/>
                <a:cs typeface="Arial"/>
              </a:rPr>
              <a:t>An awareness of the impact of racial discrimination on peers and colleagues</a:t>
            </a:r>
            <a:r>
              <a:rPr lang="en-GB" sz="2800" dirty="0">
                <a:ea typeface="Arial" charset="0"/>
                <a:cs typeface="Arial"/>
              </a:rPr>
              <a:t> through an intersectional lens</a:t>
            </a:r>
            <a:endParaRPr lang="en-GB" sz="2800" dirty="0">
              <a:latin typeface="+mn-lt"/>
              <a:ea typeface="Arial" charset="0"/>
              <a:cs typeface="Arial" charset="0"/>
            </a:endParaRPr>
          </a:p>
          <a:p>
            <a:pPr marL="342900" indent="-342900">
              <a:buFont typeface="Arial" charset="0"/>
              <a:buChar char="•"/>
            </a:pPr>
            <a:r>
              <a:rPr lang="en-GB" sz="2800" dirty="0">
                <a:latin typeface="+mn-lt"/>
                <a:ea typeface="Arial" charset="0"/>
                <a:cs typeface="Arial" charset="0"/>
              </a:rPr>
              <a:t>Understood w</a:t>
            </a:r>
            <a:r>
              <a:rPr lang="en-GB" sz="2800" dirty="0">
                <a:latin typeface="+mn-lt"/>
                <a:ea typeface="Arial" charset="0"/>
                <a:cs typeface="Arial"/>
              </a:rPr>
              <a:t>hat Differential Attainment is and consider what we do to address it</a:t>
            </a:r>
            <a:endParaRPr lang="en-GB" sz="2800" dirty="0">
              <a:latin typeface="+mn-lt"/>
              <a:ea typeface="Arial" charset="0"/>
              <a:cs typeface="Arial" charset="0"/>
            </a:endParaRPr>
          </a:p>
          <a:p>
            <a:pPr marL="342900" indent="-342900">
              <a:buFont typeface="Arial" panose="020B0604020202020204" pitchFamily="34" charset="0"/>
              <a:buChar char="•"/>
            </a:pPr>
            <a:r>
              <a:rPr lang="en-GB" sz="2800" dirty="0">
                <a:latin typeface="+mn-lt"/>
                <a:ea typeface="Arial" charset="0"/>
                <a:cs typeface="Arial" charset="0"/>
              </a:rPr>
              <a:t>Considered and understood the terms - unconscious bias, prejudice, discrimination and microaggressions, privilege and disadvantage</a:t>
            </a:r>
          </a:p>
          <a:p>
            <a:pPr marL="342900" indent="-342900">
              <a:buFont typeface="Arial" panose="020B0604020202020204" pitchFamily="34" charset="0"/>
              <a:buChar char="•"/>
            </a:pPr>
            <a:r>
              <a:rPr lang="en-GB" sz="2800" dirty="0">
                <a:latin typeface="+mn-lt"/>
                <a:ea typeface="Arial" charset="0"/>
                <a:cs typeface="Arial" charset="0"/>
              </a:rPr>
              <a:t>Practiced language and approaches to deal with </a:t>
            </a:r>
            <a:r>
              <a:rPr lang="en-GB" sz="2800" dirty="0">
                <a:ea typeface="Arial" charset="0"/>
                <a:cs typeface="Arial" charset="0"/>
              </a:rPr>
              <a:t>prejudice and discrimination</a:t>
            </a:r>
            <a:r>
              <a:rPr lang="en-GB" sz="2800" dirty="0">
                <a:latin typeface="+mn-lt"/>
                <a:ea typeface="Arial" charset="0"/>
                <a:cs typeface="Arial" charset="0"/>
              </a:rPr>
              <a:t> and be an ally</a:t>
            </a:r>
          </a:p>
          <a:p>
            <a:pPr marL="342900" indent="-342900">
              <a:buFont typeface="Arial" panose="020B0604020202020204" pitchFamily="34" charset="0"/>
              <a:buChar char="•"/>
            </a:pPr>
            <a:endParaRPr lang="en-GB" sz="2800" dirty="0">
              <a:latin typeface="+mn-lt"/>
              <a:ea typeface="Arial" charset="0"/>
              <a:cs typeface="Arial" charset="0"/>
            </a:endParaRPr>
          </a:p>
          <a:p>
            <a:pPr marL="0" indent="0">
              <a:buNone/>
            </a:pPr>
            <a:endParaRPr lang="en-GB" sz="2800" dirty="0">
              <a:solidFill>
                <a:schemeClr val="tx2"/>
              </a:solidFill>
            </a:endParaRPr>
          </a:p>
        </p:txBody>
      </p: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Tree>
    <p:extLst>
      <p:ext uri="{BB962C8B-B14F-4D97-AF65-F5344CB8AC3E}">
        <p14:creationId xmlns:p14="http://schemas.microsoft.com/office/powerpoint/2010/main" val="1228695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335360" y="755714"/>
            <a:ext cx="9630275" cy="466783"/>
          </a:xfrm>
          <a:prstGeom prst="rect">
            <a:avLst/>
          </a:prstGeom>
        </p:spPr>
        <p:txBody>
          <a:bodyPr vert="horz" lIns="0" tIns="45720" rIns="91440" bIns="45720" rtlCol="0" anchor="b"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000" spc="-67" dirty="0">
                <a:solidFill>
                  <a:schemeClr val="accent1"/>
                </a:solidFill>
                <a:ea typeface="+mj-lt"/>
                <a:cs typeface="+mj-lt"/>
              </a:rPr>
              <a:t>Discussion Guidelines</a:t>
            </a:r>
            <a:endParaRPr lang="en-US" sz="3200" dirty="0">
              <a:solidFill>
                <a:schemeClr val="accent1"/>
              </a:solidFill>
              <a:cs typeface="Calibri"/>
            </a:endParaRPr>
          </a:p>
          <a:p>
            <a:pPr algn="l">
              <a:lnSpc>
                <a:spcPct val="80000"/>
              </a:lnSpc>
            </a:pPr>
            <a:endParaRPr lang="en-GB" sz="2650" b="1" spc="-67" dirty="0">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9C25FC5D-C61B-F044-BC2C-AE609283E8AB}"/>
              </a:ext>
            </a:extLst>
          </p:cNvPr>
          <p:cNvSpPr txBox="1"/>
          <p:nvPr/>
        </p:nvSpPr>
        <p:spPr>
          <a:xfrm>
            <a:off x="818278" y="1238976"/>
            <a:ext cx="10670300" cy="3785652"/>
          </a:xfrm>
          <a:prstGeom prst="rect">
            <a:avLst/>
          </a:prstGeom>
          <a:noFill/>
        </p:spPr>
        <p:txBody>
          <a:bodyPr wrap="square" lIns="0" tIns="45720" rIns="91440" bIns="45720" numCol="1" spcCol="144000" rtlCol="0" anchor="t">
            <a:spAutoFit/>
          </a:bodyPr>
          <a:lstStyle/>
          <a:p>
            <a:pPr marL="342900" indent="-342900">
              <a:buFont typeface="Arial" panose="020B0604020202020204" pitchFamily="34" charset="0"/>
              <a:buChar char="•"/>
            </a:pPr>
            <a:r>
              <a:rPr lang="en-GB" sz="2400" b="1" dirty="0">
                <a:latin typeface="Georgia"/>
              </a:rPr>
              <a:t>Safe space – share only what you feel comfortable sharing</a:t>
            </a:r>
          </a:p>
          <a:p>
            <a:pPr marL="342900" indent="-342900">
              <a:buFont typeface="Arial" panose="020B0604020202020204" pitchFamily="34" charset="0"/>
              <a:buChar char="•"/>
            </a:pPr>
            <a:r>
              <a:rPr lang="en-GB" sz="2400" dirty="0">
                <a:latin typeface="Georgia"/>
              </a:rPr>
              <a:t>Confidentiality</a:t>
            </a:r>
          </a:p>
          <a:p>
            <a:pPr marL="342900" indent="-342900">
              <a:buFont typeface="Arial" panose="020B0604020202020204" pitchFamily="34" charset="0"/>
              <a:buChar char="•"/>
            </a:pPr>
            <a:r>
              <a:rPr lang="en-GB" sz="2400" dirty="0">
                <a:latin typeface="Georgia"/>
              </a:rPr>
              <a:t>Assumption of good intention</a:t>
            </a:r>
          </a:p>
          <a:p>
            <a:pPr marL="342900" indent="-342900">
              <a:buFont typeface="Arial" panose="020B0604020202020204" pitchFamily="34" charset="0"/>
              <a:buChar char="•"/>
            </a:pPr>
            <a:r>
              <a:rPr lang="en-GB" sz="2400" dirty="0">
                <a:latin typeface="Georgia"/>
              </a:rPr>
              <a:t>Respect the options of others – even if you don't agree</a:t>
            </a:r>
          </a:p>
          <a:p>
            <a:pPr marL="342900" indent="-342900">
              <a:buFont typeface="Arial" panose="020B0604020202020204" pitchFamily="34" charset="0"/>
              <a:buChar char="•"/>
            </a:pPr>
            <a:r>
              <a:rPr lang="en-GB" sz="2400" dirty="0">
                <a:latin typeface="Georgia"/>
              </a:rPr>
              <a:t>No right or wrong answers</a:t>
            </a:r>
          </a:p>
          <a:p>
            <a:pPr marL="342900" indent="-342900">
              <a:buFont typeface="Arial" panose="020B0604020202020204" pitchFamily="34" charset="0"/>
              <a:buChar char="•"/>
            </a:pPr>
            <a:r>
              <a:rPr lang="en-GB" sz="2400" dirty="0">
                <a:latin typeface="Georgia"/>
              </a:rPr>
              <a:t>Open mind </a:t>
            </a:r>
          </a:p>
          <a:p>
            <a:pPr marL="342900" indent="-342900">
              <a:buFont typeface="Arial" panose="020B0604020202020204" pitchFamily="34" charset="0"/>
              <a:buChar char="•"/>
            </a:pPr>
            <a:r>
              <a:rPr lang="en-GB" sz="2400" dirty="0">
                <a:latin typeface="Georgia"/>
              </a:rPr>
              <a:t>Challenge ideas/not people</a:t>
            </a:r>
          </a:p>
          <a:p>
            <a:pPr marL="342900" indent="-342900">
              <a:buFont typeface="Arial" panose="020B0604020202020204" pitchFamily="34" charset="0"/>
              <a:buChar char="•"/>
            </a:pPr>
            <a:r>
              <a:rPr lang="en-GB" sz="2400" dirty="0">
                <a:latin typeface="Georgia"/>
              </a:rPr>
              <a:t>Monitoring input – make sure everyone gets a voice and no one monopolises the conversation/discussion </a:t>
            </a:r>
          </a:p>
          <a:p>
            <a:pPr marL="342900" indent="-342900">
              <a:buFont typeface="Arial" panose="020B0604020202020204" pitchFamily="34" charset="0"/>
              <a:buChar char="•"/>
            </a:pPr>
            <a:r>
              <a:rPr lang="en-GB" sz="2400" b="1" dirty="0">
                <a:latin typeface="Georgia"/>
              </a:rPr>
              <a:t>Learning together </a:t>
            </a:r>
            <a:r>
              <a:rPr lang="en-GB" sz="2400" dirty="0">
                <a:latin typeface="Georgia"/>
              </a:rPr>
              <a:t>in a supportive environment</a:t>
            </a:r>
          </a:p>
        </p:txBody>
      </p: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4" name="TextBox 3">
            <a:extLst>
              <a:ext uri="{FF2B5EF4-FFF2-40B4-BE49-F238E27FC236}">
                <a16:creationId xmlns:a16="http://schemas.microsoft.com/office/drawing/2014/main" id="{E41819B0-1C58-DAD9-6297-54D9A46EC7BB}"/>
              </a:ext>
            </a:extLst>
          </p:cNvPr>
          <p:cNvSpPr txBox="1"/>
          <p:nvPr/>
        </p:nvSpPr>
        <p:spPr>
          <a:xfrm>
            <a:off x="1721922" y="6330864"/>
            <a:ext cx="8066313" cy="369332"/>
          </a:xfrm>
          <a:prstGeom prst="rect">
            <a:avLst/>
          </a:prstGeom>
          <a:noFill/>
        </p:spPr>
        <p:txBody>
          <a:bodyPr wrap="square">
            <a:spAutoFit/>
          </a:bodyPr>
          <a:lstStyle/>
          <a:p>
            <a:r>
              <a:rPr lang="en-GB" dirty="0">
                <a:solidFill>
                  <a:schemeClr val="accent3"/>
                </a:solidFill>
              </a:rPr>
              <a:t>https://internal.kcl.ac.uk/ioppn/diversity/Race-Equality/race-discussion-toolkit</a:t>
            </a:r>
          </a:p>
        </p:txBody>
      </p:sp>
    </p:spTree>
    <p:extLst>
      <p:ext uri="{BB962C8B-B14F-4D97-AF65-F5344CB8AC3E}">
        <p14:creationId xmlns:p14="http://schemas.microsoft.com/office/powerpoint/2010/main" val="3384948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335360" y="554166"/>
            <a:ext cx="9630275" cy="378050"/>
          </a:xfrm>
          <a:prstGeom prst="rect">
            <a:avLst/>
          </a:prstGeom>
        </p:spPr>
        <p:txBody>
          <a:bodyPr vert="horz" lIns="0" tIns="45720" rIns="91440" bIns="45720" rtlCol="0" anchor="b"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4000" dirty="0">
                <a:solidFill>
                  <a:schemeClr val="accent1"/>
                </a:solidFill>
                <a:ea typeface="+mj-lt"/>
                <a:cs typeface="+mj-lt"/>
              </a:rPr>
              <a:t>A Triple Pandemic</a:t>
            </a:r>
            <a:endParaRPr lang="en-US" dirty="0">
              <a:solidFill>
                <a:schemeClr val="accent1"/>
              </a:solidFill>
              <a:cs typeface="Calibri"/>
            </a:endParaRPr>
          </a:p>
        </p:txBody>
      </p: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pic>
        <p:nvPicPr>
          <p:cNvPr id="14" name="Picture 13">
            <a:extLst>
              <a:ext uri="{FF2B5EF4-FFF2-40B4-BE49-F238E27FC236}">
                <a16:creationId xmlns:a16="http://schemas.microsoft.com/office/drawing/2014/main" id="{1C473B8F-DFF7-3660-1B60-F86EF507D465}"/>
              </a:ext>
            </a:extLst>
          </p:cNvPr>
          <p:cNvPicPr>
            <a:picLocks noChangeAspect="1"/>
          </p:cNvPicPr>
          <p:nvPr/>
        </p:nvPicPr>
        <p:blipFill>
          <a:blip r:embed="rId5"/>
          <a:stretch>
            <a:fillRect/>
          </a:stretch>
        </p:blipFill>
        <p:spPr>
          <a:xfrm>
            <a:off x="1871763" y="1089220"/>
            <a:ext cx="8576799" cy="4856400"/>
          </a:xfrm>
          <a:prstGeom prst="rect">
            <a:avLst/>
          </a:prstGeom>
        </p:spPr>
      </p:pic>
    </p:spTree>
    <p:extLst>
      <p:ext uri="{BB962C8B-B14F-4D97-AF65-F5344CB8AC3E}">
        <p14:creationId xmlns:p14="http://schemas.microsoft.com/office/powerpoint/2010/main" val="293776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Icon&#10;&#10;Description automatically generated with medium confidence">
            <a:extLst>
              <a:ext uri="{FF2B5EF4-FFF2-40B4-BE49-F238E27FC236}">
                <a16:creationId xmlns:a16="http://schemas.microsoft.com/office/drawing/2014/main" id="{BB499FD1-F56A-184D-9290-4855E7BA1F52}"/>
              </a:ext>
            </a:extLst>
          </p:cNvPr>
          <p:cNvPicPr>
            <a:picLocks noChangeAspect="1"/>
          </p:cNvPicPr>
          <p:nvPr/>
        </p:nvPicPr>
        <p:blipFill rotWithShape="1">
          <a:blip r:embed="rId3" cstate="print">
            <a:alphaModFix amt="30000"/>
            <a:extLst>
              <a:ext uri="{28A0092B-C50C-407E-A947-70E740481C1C}">
                <a14:useLocalDpi xmlns:a14="http://schemas.microsoft.com/office/drawing/2010/main" val="0"/>
              </a:ext>
            </a:extLst>
          </a:blip>
          <a:srcRect l="-2" t="29943" r="24125" b="10349"/>
          <a:stretch/>
        </p:blipFill>
        <p:spPr>
          <a:xfrm>
            <a:off x="3394894" y="1"/>
            <a:ext cx="8797105" cy="68580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736916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335360" y="760129"/>
            <a:ext cx="9630275" cy="1272143"/>
          </a:xfrm>
          <a:prstGeom prst="rect">
            <a:avLst/>
          </a:prstGeom>
        </p:spPr>
        <p:txBody>
          <a:bodyPr vert="horz" lIns="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pPr>
            <a:endParaRPr lang="en-GB" sz="4250" b="1">
              <a:solidFill>
                <a:schemeClr val="accent1"/>
              </a:solidFill>
              <a:latin typeface="Calibri" panose="020F0502020204030204" pitchFamily="34" charset="0"/>
              <a:ea typeface="Calibri" panose="020F0502020204030204" pitchFamily="34" charset="0"/>
              <a:cs typeface="Calibri"/>
            </a:endParaRPr>
          </a:p>
        </p:txBody>
      </p:sp>
      <p:sp>
        <p:nvSpPr>
          <p:cNvPr id="12" name="TextBox 11">
            <a:extLst>
              <a:ext uri="{FF2B5EF4-FFF2-40B4-BE49-F238E27FC236}">
                <a16:creationId xmlns:a16="http://schemas.microsoft.com/office/drawing/2014/main" id="{9C25FC5D-C61B-F044-BC2C-AE609283E8AB}"/>
              </a:ext>
            </a:extLst>
          </p:cNvPr>
          <p:cNvSpPr txBox="1"/>
          <p:nvPr/>
        </p:nvSpPr>
        <p:spPr>
          <a:xfrm>
            <a:off x="335361" y="3251285"/>
            <a:ext cx="4981991" cy="502766"/>
          </a:xfrm>
          <a:prstGeom prst="rect">
            <a:avLst/>
          </a:prstGeom>
          <a:noFill/>
        </p:spPr>
        <p:txBody>
          <a:bodyPr wrap="square" lIns="0" tIns="45720" rIns="91440" bIns="45720" numCol="1" spcCol="144000" rtlCol="0" anchor="t">
            <a:spAutoFit/>
          </a:bodyPr>
          <a:lstStyle/>
          <a:p>
            <a:endParaRPr lang="en-US" sz="2667" b="1">
              <a:solidFill>
                <a:srgbClr val="000000"/>
              </a:solidFill>
              <a:latin typeface="Calibri" panose="020F0502020204030204" pitchFamily="34" charset="0"/>
              <a:ea typeface="Calibri" panose="020F0502020204030204" pitchFamily="34" charset="0"/>
              <a:cs typeface="Calibri"/>
            </a:endParaRPr>
          </a:p>
        </p:txBody>
      </p:sp>
      <p:sp>
        <p:nvSpPr>
          <p:cNvPr id="3" name="Title 2">
            <a:extLst>
              <a:ext uri="{FF2B5EF4-FFF2-40B4-BE49-F238E27FC236}">
                <a16:creationId xmlns:a16="http://schemas.microsoft.com/office/drawing/2014/main" id="{038DEF65-25C5-619E-E395-315898BD2CAC}"/>
              </a:ext>
            </a:extLst>
          </p:cNvPr>
          <p:cNvSpPr>
            <a:spLocks noGrp="1"/>
          </p:cNvSpPr>
          <p:nvPr>
            <p:ph type="title"/>
          </p:nvPr>
        </p:nvSpPr>
        <p:spPr>
          <a:xfrm>
            <a:off x="217086" y="692834"/>
            <a:ext cx="11566159" cy="757369"/>
          </a:xfrm>
        </p:spPr>
        <p:txBody>
          <a:bodyPr>
            <a:normAutofit/>
          </a:bodyPr>
          <a:lstStyle/>
          <a:p>
            <a:r>
              <a:rPr lang="en-GB" sz="4000" dirty="0"/>
              <a:t>Racism in Healthcare</a:t>
            </a:r>
          </a:p>
        </p:txBody>
      </p:sp>
      <p:sp>
        <p:nvSpPr>
          <p:cNvPr id="4" name="Content Placeholder 3">
            <a:extLst>
              <a:ext uri="{FF2B5EF4-FFF2-40B4-BE49-F238E27FC236}">
                <a16:creationId xmlns:a16="http://schemas.microsoft.com/office/drawing/2014/main" id="{3D78F804-FD5D-5401-41C0-26866C4305FA}"/>
              </a:ext>
            </a:extLst>
          </p:cNvPr>
          <p:cNvSpPr>
            <a:spLocks noGrp="1"/>
          </p:cNvSpPr>
          <p:nvPr>
            <p:ph idx="1"/>
          </p:nvPr>
        </p:nvSpPr>
        <p:spPr/>
        <p:txBody>
          <a:bodyPr/>
          <a:lstStyle/>
          <a:p>
            <a:pPr marL="0" indent="0"/>
            <a:r>
              <a:rPr lang="en-GB" sz="2800" b="1" dirty="0">
                <a:solidFill>
                  <a:schemeClr val="accent1"/>
                </a:solidFill>
              </a:rPr>
              <a:t>Pan London Primary Care  WRES launched March 2023</a:t>
            </a:r>
          </a:p>
          <a:p>
            <a:pPr marL="0" indent="0"/>
            <a:endParaRPr lang="en-GB" sz="3200" dirty="0"/>
          </a:p>
          <a:p>
            <a:pPr marL="0" indent="0"/>
            <a:r>
              <a:rPr lang="en-GB" sz="2800" b="0" i="0" u="none" strike="noStrike" baseline="0" dirty="0">
                <a:solidFill>
                  <a:srgbClr val="000000"/>
                </a:solidFill>
              </a:rPr>
              <a:t>Ethnicity was the most common characteristic associated with harassment</a:t>
            </a:r>
          </a:p>
          <a:p>
            <a:pPr marL="0" indent="0"/>
            <a:r>
              <a:rPr lang="en-GB" sz="2800" b="0" i="0" u="none" strike="noStrike" baseline="0" dirty="0">
                <a:solidFill>
                  <a:srgbClr val="000000"/>
                </a:solidFill>
              </a:rPr>
              <a:t>and discrimination in primary care, above gender, age, religion, and          disability.</a:t>
            </a:r>
          </a:p>
          <a:p>
            <a:pPr marL="0" indent="0"/>
            <a:endParaRPr lang="en-GB" sz="2800" dirty="0">
              <a:solidFill>
                <a:srgbClr val="000000"/>
              </a:solidFill>
            </a:endParaRPr>
          </a:p>
          <a:p>
            <a:pPr marL="0" indent="0"/>
            <a:r>
              <a:rPr lang="en-GB" sz="2800" b="1" i="0" u="none" strike="noStrike" baseline="0" dirty="0">
                <a:solidFill>
                  <a:srgbClr val="000000"/>
                </a:solidFill>
              </a:rPr>
              <a:t>1 in 3 of those surveyed reported racial discrimination or harassment from patients in the past 12 months (30%) and about 1 in 5 from staff they worked with (18%)</a:t>
            </a:r>
            <a:r>
              <a:rPr lang="en-GB" sz="2800" b="0" i="0" u="none" strike="noStrike" baseline="0" dirty="0">
                <a:solidFill>
                  <a:srgbClr val="000000"/>
                </a:solidFill>
              </a:rPr>
              <a:t>. The proportions were similar amongst GP partners and salaried GPs, nursing, and administrative staff. </a:t>
            </a:r>
          </a:p>
          <a:p>
            <a:endParaRPr lang="en-GB" dirty="0"/>
          </a:p>
        </p:txBody>
      </p:sp>
    </p:spTree>
    <p:extLst>
      <p:ext uri="{BB962C8B-B14F-4D97-AF65-F5344CB8AC3E}">
        <p14:creationId xmlns:p14="http://schemas.microsoft.com/office/powerpoint/2010/main" val="912509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298638" y="205223"/>
            <a:ext cx="10098424" cy="1182630"/>
          </a:xfrm>
          <a:prstGeom prst="rect">
            <a:avLst/>
          </a:prstGeom>
        </p:spPr>
        <p:txBody>
          <a:bodyPr vert="horz" lIns="0" tIns="45720" rIns="91440" bIns="45720" rtlCol="0" anchor="b"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600" dirty="0">
                <a:solidFill>
                  <a:schemeClr val="accent1"/>
                </a:solidFill>
                <a:ea typeface="+mj-lt"/>
                <a:cs typeface="+mj-lt"/>
              </a:rPr>
              <a:t>Protected Characteristics</a:t>
            </a:r>
            <a:endParaRPr lang="en-US" sz="3600" dirty="0">
              <a:solidFill>
                <a:schemeClr val="accent1"/>
              </a:solidFill>
              <a:cs typeface="Calibri"/>
            </a:endParaRPr>
          </a:p>
          <a:p>
            <a:pPr algn="l"/>
            <a:endParaRPr lang="en-US" sz="3200" dirty="0">
              <a:cs typeface="Calibri"/>
            </a:endParaRPr>
          </a:p>
        </p:txBody>
      </p: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graphicFrame>
        <p:nvGraphicFramePr>
          <p:cNvPr id="3" name="Content Placeholder 4">
            <a:extLst>
              <a:ext uri="{FF2B5EF4-FFF2-40B4-BE49-F238E27FC236}">
                <a16:creationId xmlns:a16="http://schemas.microsoft.com/office/drawing/2014/main" id="{BA14F7BF-D336-7A62-BA99-D01D62E303E4}"/>
              </a:ext>
            </a:extLst>
          </p:cNvPr>
          <p:cNvGraphicFramePr>
            <a:graphicFrameLocks noGrp="1"/>
          </p:cNvGraphicFramePr>
          <p:nvPr>
            <p:extLst>
              <p:ext uri="{D42A27DB-BD31-4B8C-83A1-F6EECF244321}">
                <p14:modId xmlns:p14="http://schemas.microsoft.com/office/powerpoint/2010/main" val="3717433126"/>
              </p:ext>
            </p:extLst>
          </p:nvPr>
        </p:nvGraphicFramePr>
        <p:xfrm>
          <a:off x="298057" y="1557391"/>
          <a:ext cx="11052818" cy="44060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8" name="Content Placeholder 2">
            <a:extLst>
              <a:ext uri="{FF2B5EF4-FFF2-40B4-BE49-F238E27FC236}">
                <a16:creationId xmlns:a16="http://schemas.microsoft.com/office/drawing/2014/main" id="{BD162212-A187-F836-41DC-95A10848FF95}"/>
              </a:ext>
            </a:extLst>
          </p:cNvPr>
          <p:cNvGraphicFramePr>
            <a:graphicFrameLocks noGrp="1"/>
          </p:cNvGraphicFramePr>
          <p:nvPr>
            <p:ph idx="1"/>
            <p:extLst>
              <p:ext uri="{D42A27DB-BD31-4B8C-83A1-F6EECF244321}">
                <p14:modId xmlns:p14="http://schemas.microsoft.com/office/powerpoint/2010/main" val="1430417416"/>
              </p:ext>
            </p:extLst>
          </p:nvPr>
        </p:nvGraphicFramePr>
        <p:xfrm>
          <a:off x="238125" y="1600200"/>
          <a:ext cx="11566525" cy="4525963"/>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2284864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598F7B-2309-45DC-B908-AE0AA149DDA7}"/>
              </a:ext>
            </a:extLst>
          </p:cNvPr>
          <p:cNvPicPr>
            <a:picLocks noChangeAspect="1"/>
          </p:cNvPicPr>
          <p:nvPr/>
        </p:nvPicPr>
        <p:blipFill>
          <a:blip r:embed="rId3"/>
          <a:stretch>
            <a:fillRect/>
          </a:stretch>
        </p:blipFill>
        <p:spPr>
          <a:xfrm>
            <a:off x="10648130" y="1450203"/>
            <a:ext cx="1171636" cy="1118460"/>
          </a:xfrm>
          <a:prstGeom prst="rect">
            <a:avLst/>
          </a:prstGeom>
        </p:spPr>
      </p:pic>
      <p:sp>
        <p:nvSpPr>
          <p:cNvPr id="2" name="Title 1"/>
          <p:cNvSpPr>
            <a:spLocks noGrp="1"/>
          </p:cNvSpPr>
          <p:nvPr>
            <p:ph type="title"/>
          </p:nvPr>
        </p:nvSpPr>
        <p:spPr>
          <a:xfrm>
            <a:off x="312920" y="204042"/>
            <a:ext cx="11566159" cy="861136"/>
          </a:xfrm>
        </p:spPr>
        <p:txBody>
          <a:bodyPr anchor="t">
            <a:noAutofit/>
          </a:bodyPr>
          <a:lstStyle/>
          <a:p>
            <a:pPr algn="ctr"/>
            <a:r>
              <a:rPr lang="en-GB" dirty="0">
                <a:solidFill>
                  <a:srgbClr val="002060"/>
                </a:solidFill>
              </a:rPr>
              <a:t>Glossary</a:t>
            </a:r>
          </a:p>
        </p:txBody>
      </p:sp>
      <p:sp>
        <p:nvSpPr>
          <p:cNvPr id="3" name="Content Placeholder 2"/>
          <p:cNvSpPr>
            <a:spLocks noGrp="1"/>
          </p:cNvSpPr>
          <p:nvPr>
            <p:ph idx="1"/>
          </p:nvPr>
        </p:nvSpPr>
        <p:spPr>
          <a:xfrm>
            <a:off x="312920" y="1089220"/>
            <a:ext cx="10335210" cy="5588780"/>
          </a:xfrm>
        </p:spPr>
        <p:txBody>
          <a:bodyPr>
            <a:normAutofit fontScale="92500" lnSpcReduction="20000"/>
          </a:bodyPr>
          <a:lstStyle/>
          <a:p>
            <a:pPr marL="342900" indent="-342900">
              <a:spcAft>
                <a:spcPts val="600"/>
              </a:spcAft>
              <a:buFont typeface="Arial" panose="020B0604020202020204" pitchFamily="34" charset="0"/>
              <a:buChar char="•"/>
            </a:pPr>
            <a:r>
              <a:rPr lang="en-GB" b="1" dirty="0">
                <a:latin typeface="+mn-lt"/>
              </a:rPr>
              <a:t>Unconscious Bias </a:t>
            </a:r>
            <a:r>
              <a:rPr lang="en-GB" dirty="0">
                <a:latin typeface="+mn-lt"/>
              </a:rPr>
              <a:t>prejudice in favour of or against one thing, person or group compared with another. It can manifest in how we judge and evaluate others, or how we act towards members of different groups. We all have bias and stereotypes we cannot avoid it.</a:t>
            </a:r>
          </a:p>
          <a:p>
            <a:pPr marL="342900" indent="-342900">
              <a:spcAft>
                <a:spcPts val="600"/>
              </a:spcAft>
              <a:buFont typeface="Arial" panose="020B0604020202020204" pitchFamily="34" charset="0"/>
              <a:buChar char="•"/>
            </a:pPr>
            <a:endParaRPr lang="en-GB" dirty="0"/>
          </a:p>
          <a:p>
            <a:pPr marL="342900" indent="-342900">
              <a:spcAft>
                <a:spcPts val="600"/>
              </a:spcAft>
              <a:buFont typeface="Arial" panose="020B0604020202020204" pitchFamily="34" charset="0"/>
              <a:buChar char="•"/>
            </a:pPr>
            <a:r>
              <a:rPr lang="en-GB" b="1" dirty="0"/>
              <a:t>Prejudice </a:t>
            </a:r>
            <a:r>
              <a:rPr lang="en-GB" dirty="0"/>
              <a:t>is pre-judgement about another person based on the social group(s) to which that person belongs. Consists of thoughts and feelings, including stereotypes, attitudes and generalizations that are based on little or no experience and then projected onto everyone from that group.</a:t>
            </a:r>
            <a:endParaRPr lang="en-GB" dirty="0">
              <a:latin typeface="+mn-lt"/>
            </a:endParaRPr>
          </a:p>
          <a:p>
            <a:pPr marL="342900" indent="-342900">
              <a:spcAft>
                <a:spcPts val="600"/>
              </a:spcAft>
              <a:buFont typeface="Arial" panose="020B0604020202020204" pitchFamily="34" charset="0"/>
              <a:buChar char="•"/>
            </a:pPr>
            <a:endParaRPr lang="en-GB" dirty="0">
              <a:latin typeface="+mn-lt"/>
            </a:endParaRPr>
          </a:p>
          <a:p>
            <a:pPr marL="342900" indent="-342900">
              <a:spcAft>
                <a:spcPts val="600"/>
              </a:spcAft>
              <a:buFont typeface="Arial" panose="020B0604020202020204" pitchFamily="34" charset="0"/>
              <a:buChar char="•"/>
            </a:pPr>
            <a:r>
              <a:rPr lang="en-GB" b="1" dirty="0">
                <a:latin typeface="+mn-lt"/>
              </a:rPr>
              <a:t>Discrimination </a:t>
            </a:r>
            <a:r>
              <a:rPr lang="en-GB" dirty="0">
                <a:latin typeface="+mn-lt"/>
              </a:rPr>
              <a:t>is action based on prejudice. These actions include ignoring, exclusion, threats, ridicule, slander and violence. </a:t>
            </a:r>
            <a:r>
              <a:rPr lang="en-GB" dirty="0"/>
              <a:t>Discrimination may be personal maybe internalised racism/misogyny/colourism, interpersonal, When a racial group’s collective prejudice is backed by legal authority and institutional control it is transformed into institutional and structural racism. Racism is a structure, not an event. </a:t>
            </a:r>
            <a:endParaRPr lang="en-GB" dirty="0">
              <a:latin typeface="+mn-lt"/>
            </a:endParaRPr>
          </a:p>
          <a:p>
            <a:pPr marL="342900" indent="-342900">
              <a:spcAft>
                <a:spcPts val="600"/>
              </a:spcAft>
              <a:buFont typeface="Arial" panose="020B0604020202020204" pitchFamily="34" charset="0"/>
              <a:buChar char="•"/>
            </a:pPr>
            <a:endParaRPr lang="en-GB" dirty="0">
              <a:latin typeface="+mn-lt"/>
            </a:endParaRPr>
          </a:p>
          <a:p>
            <a:pPr marL="342900" indent="-342900">
              <a:spcAft>
                <a:spcPts val="600"/>
              </a:spcAft>
              <a:buFont typeface="Arial" panose="020B0604020202020204" pitchFamily="34" charset="0"/>
              <a:buChar char="•"/>
            </a:pPr>
            <a:r>
              <a:rPr lang="en-GB" b="1" dirty="0">
                <a:latin typeface="+mn-lt"/>
              </a:rPr>
              <a:t>Micro aggressions </a:t>
            </a:r>
            <a:r>
              <a:rPr lang="en-GB" dirty="0">
                <a:latin typeface="+mn-lt"/>
              </a:rPr>
              <a:t>have been defined as brief and common daily verbal, behavioural, and environmental communications, whether intentional or unintentional, that transmit hostile, derogatory, or negative messages to a target person because they belong to a stigmatized group. Can result in </a:t>
            </a:r>
            <a:r>
              <a:rPr lang="en-GB" b="1" dirty="0">
                <a:latin typeface="+mn-lt"/>
              </a:rPr>
              <a:t>othering</a:t>
            </a:r>
            <a:r>
              <a:rPr lang="en-GB" dirty="0">
                <a:latin typeface="+mn-lt"/>
              </a:rPr>
              <a:t>, a sense of not belonging. </a:t>
            </a:r>
          </a:p>
          <a:p>
            <a:pPr>
              <a:spcAft>
                <a:spcPts val="600"/>
              </a:spcAft>
            </a:pPr>
            <a:endParaRPr lang="en-GB" dirty="0">
              <a:latin typeface="+mn-lt"/>
            </a:endParaRPr>
          </a:p>
          <a:p>
            <a:pPr>
              <a:spcAft>
                <a:spcPts val="600"/>
              </a:spcAft>
            </a:pPr>
            <a:endParaRPr lang="en-GB" b="1" dirty="0">
              <a:latin typeface="+mn-lt"/>
            </a:endParaRPr>
          </a:p>
          <a:p>
            <a:pPr>
              <a:spcAft>
                <a:spcPts val="600"/>
              </a:spcAft>
            </a:pPr>
            <a:endParaRPr lang="en-GB" dirty="0"/>
          </a:p>
        </p:txBody>
      </p:sp>
      <p:pic>
        <p:nvPicPr>
          <p:cNvPr id="4" name="Picture 3">
            <a:extLst>
              <a:ext uri="{FF2B5EF4-FFF2-40B4-BE49-F238E27FC236}">
                <a16:creationId xmlns:a16="http://schemas.microsoft.com/office/drawing/2014/main" id="{B57359DA-B5F9-0EB2-04BE-82D37C7813DB}"/>
              </a:ext>
            </a:extLst>
          </p:cNvPr>
          <p:cNvPicPr>
            <a:picLocks noChangeAspect="1"/>
          </p:cNvPicPr>
          <p:nvPr/>
        </p:nvPicPr>
        <p:blipFill>
          <a:blip r:embed="rId4"/>
          <a:stretch>
            <a:fillRect/>
          </a:stretch>
        </p:blipFill>
        <p:spPr>
          <a:xfrm>
            <a:off x="10417564" y="124306"/>
            <a:ext cx="1402202" cy="1072989"/>
          </a:xfrm>
          <a:prstGeom prst="rect">
            <a:avLst/>
          </a:prstGeom>
        </p:spPr>
      </p:pic>
      <p:pic>
        <p:nvPicPr>
          <p:cNvPr id="5" name="Picture 4">
            <a:extLst>
              <a:ext uri="{FF2B5EF4-FFF2-40B4-BE49-F238E27FC236}">
                <a16:creationId xmlns:a16="http://schemas.microsoft.com/office/drawing/2014/main" id="{DB25695A-352C-D65D-9717-EBF4ECC8B6E1}"/>
              </a:ext>
            </a:extLst>
          </p:cNvPr>
          <p:cNvPicPr>
            <a:picLocks noChangeAspect="1"/>
          </p:cNvPicPr>
          <p:nvPr/>
        </p:nvPicPr>
        <p:blipFill>
          <a:blip r:embed="rId5"/>
          <a:stretch>
            <a:fillRect/>
          </a:stretch>
        </p:blipFill>
        <p:spPr>
          <a:xfrm>
            <a:off x="9508079" y="6379614"/>
            <a:ext cx="2280102" cy="274344"/>
          </a:xfrm>
          <a:prstGeom prst="rect">
            <a:avLst/>
          </a:prstGeom>
        </p:spPr>
      </p:pic>
    </p:spTree>
    <p:extLst>
      <p:ext uri="{BB962C8B-B14F-4D97-AF65-F5344CB8AC3E}">
        <p14:creationId xmlns:p14="http://schemas.microsoft.com/office/powerpoint/2010/main" val="1716318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382002" y="164244"/>
            <a:ext cx="10026186" cy="767971"/>
          </a:xfrm>
        </p:spPr>
        <p:txBody>
          <a:bodyPr>
            <a:normAutofit/>
          </a:bodyPr>
          <a:lstStyle/>
          <a:p>
            <a:pPr algn="ctr"/>
            <a:r>
              <a:rPr lang="en-GB" sz="4000" dirty="0"/>
              <a:t>Intersectionality</a:t>
            </a:r>
          </a:p>
        </p:txBody>
      </p:sp>
      <p:pic>
        <p:nvPicPr>
          <p:cNvPr id="12" name="Content Placeholder 13" descr="Text&#10;&#10;Description automatically generated">
            <a:extLst>
              <a:ext uri="{FF2B5EF4-FFF2-40B4-BE49-F238E27FC236}">
                <a16:creationId xmlns:a16="http://schemas.microsoft.com/office/drawing/2014/main" id="{6FA960F0-BE99-BE88-49EE-C63BE0593474}"/>
              </a:ext>
            </a:extLst>
          </p:cNvPr>
          <p:cNvPicPr>
            <a:picLocks noChangeAspect="1"/>
          </p:cNvPicPr>
          <p:nvPr/>
        </p:nvPicPr>
        <p:blipFill>
          <a:blip r:embed="rId5"/>
          <a:stretch>
            <a:fillRect/>
          </a:stretch>
        </p:blipFill>
        <p:spPr>
          <a:xfrm>
            <a:off x="335774" y="2018366"/>
            <a:ext cx="11856226" cy="3171539"/>
          </a:xfrm>
          <a:prstGeom prst="rect">
            <a:avLst/>
          </a:prstGeom>
          <a:noFill/>
        </p:spPr>
      </p:pic>
    </p:spTree>
    <p:extLst>
      <p:ext uri="{BB962C8B-B14F-4D97-AF65-F5344CB8AC3E}">
        <p14:creationId xmlns:p14="http://schemas.microsoft.com/office/powerpoint/2010/main" val="3467893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217086" y="205223"/>
            <a:ext cx="11566159" cy="1244980"/>
          </a:xfrm>
        </p:spPr>
        <p:txBody>
          <a:bodyPr>
            <a:normAutofit/>
          </a:bodyPr>
          <a:lstStyle/>
          <a:p>
            <a:r>
              <a:rPr lang="en-GB" sz="3600" dirty="0"/>
              <a:t>Intersectionality - Exercise 1</a:t>
            </a:r>
          </a:p>
        </p:txBody>
      </p:sp>
      <p:pic>
        <p:nvPicPr>
          <p:cNvPr id="2" name="Content Placeholder 10" descr="Chart, bubble chart&#10;&#10;Description automatically generated">
            <a:extLst>
              <a:ext uri="{FF2B5EF4-FFF2-40B4-BE49-F238E27FC236}">
                <a16:creationId xmlns:a16="http://schemas.microsoft.com/office/drawing/2014/main" id="{CC556765-FC36-4941-6D01-9AC0C071A4BB}"/>
              </a:ext>
            </a:extLst>
          </p:cNvPr>
          <p:cNvPicPr>
            <a:picLocks noGrp="1" noChangeAspect="1"/>
          </p:cNvPicPr>
          <p:nvPr>
            <p:ph idx="1"/>
          </p:nvPr>
        </p:nvPicPr>
        <p:blipFill>
          <a:blip r:embed="rId5"/>
          <a:stretch>
            <a:fillRect/>
          </a:stretch>
        </p:blipFill>
        <p:spPr>
          <a:xfrm>
            <a:off x="408755" y="1052272"/>
            <a:ext cx="7023318" cy="4922887"/>
          </a:xfrm>
          <a:prstGeom prst="rect">
            <a:avLst/>
          </a:prstGeom>
        </p:spPr>
      </p:pic>
      <p:sp>
        <p:nvSpPr>
          <p:cNvPr id="13" name="TextBox 12">
            <a:extLst>
              <a:ext uri="{FF2B5EF4-FFF2-40B4-BE49-F238E27FC236}">
                <a16:creationId xmlns:a16="http://schemas.microsoft.com/office/drawing/2014/main" id="{E2052866-8CCF-38CA-791F-C93B851B2ACC}"/>
              </a:ext>
            </a:extLst>
          </p:cNvPr>
          <p:cNvSpPr txBox="1"/>
          <p:nvPr/>
        </p:nvSpPr>
        <p:spPr>
          <a:xfrm>
            <a:off x="0" y="6285222"/>
            <a:ext cx="8927433" cy="307777"/>
          </a:xfrm>
          <a:prstGeom prst="rect">
            <a:avLst/>
          </a:prstGeom>
          <a:noFill/>
        </p:spPr>
        <p:txBody>
          <a:bodyPr wrap="square">
            <a:spAutoFit/>
          </a:bodyPr>
          <a:lstStyle/>
          <a:p>
            <a:pPr algn="r"/>
            <a:r>
              <a:rPr lang="en-GB" sz="1400" dirty="0"/>
              <a:t>https://diversity-inclusion-speakers.com/news/top-10-lists/intersectionality-what-it-is-who-to-book/</a:t>
            </a:r>
          </a:p>
        </p:txBody>
      </p:sp>
      <p:pic>
        <p:nvPicPr>
          <p:cNvPr id="3" name="Picture 2">
            <a:extLst>
              <a:ext uri="{FF2B5EF4-FFF2-40B4-BE49-F238E27FC236}">
                <a16:creationId xmlns:a16="http://schemas.microsoft.com/office/drawing/2014/main" id="{335D2F3A-43B7-7A0C-A2DD-70E181254BD2}"/>
              </a:ext>
            </a:extLst>
          </p:cNvPr>
          <p:cNvPicPr>
            <a:picLocks noChangeAspect="1"/>
          </p:cNvPicPr>
          <p:nvPr/>
        </p:nvPicPr>
        <p:blipFill>
          <a:blip r:embed="rId6"/>
          <a:stretch>
            <a:fillRect/>
          </a:stretch>
        </p:blipFill>
        <p:spPr>
          <a:xfrm>
            <a:off x="6871991" y="1604218"/>
            <a:ext cx="4716787" cy="4042960"/>
          </a:xfrm>
          <a:prstGeom prst="rect">
            <a:avLst/>
          </a:prstGeom>
        </p:spPr>
      </p:pic>
    </p:spTree>
    <p:extLst>
      <p:ext uri="{BB962C8B-B14F-4D97-AF65-F5344CB8AC3E}">
        <p14:creationId xmlns:p14="http://schemas.microsoft.com/office/powerpoint/2010/main" val="1124041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217086" y="205223"/>
            <a:ext cx="11566159" cy="1244980"/>
          </a:xfrm>
        </p:spPr>
        <p:txBody>
          <a:bodyPr>
            <a:normAutofit/>
          </a:bodyPr>
          <a:lstStyle/>
          <a:p>
            <a:r>
              <a:rPr lang="en-GB" sz="3600" dirty="0"/>
              <a:t>Intersectionality - Exercise 1</a:t>
            </a:r>
          </a:p>
        </p:txBody>
      </p:sp>
      <p:sp>
        <p:nvSpPr>
          <p:cNvPr id="13" name="TextBox 12">
            <a:extLst>
              <a:ext uri="{FF2B5EF4-FFF2-40B4-BE49-F238E27FC236}">
                <a16:creationId xmlns:a16="http://schemas.microsoft.com/office/drawing/2014/main" id="{E2052866-8CCF-38CA-791F-C93B851B2ACC}"/>
              </a:ext>
            </a:extLst>
          </p:cNvPr>
          <p:cNvSpPr txBox="1"/>
          <p:nvPr/>
        </p:nvSpPr>
        <p:spPr>
          <a:xfrm>
            <a:off x="0" y="6285222"/>
            <a:ext cx="8927433" cy="307777"/>
          </a:xfrm>
          <a:prstGeom prst="rect">
            <a:avLst/>
          </a:prstGeom>
          <a:noFill/>
        </p:spPr>
        <p:txBody>
          <a:bodyPr wrap="square">
            <a:spAutoFit/>
          </a:bodyPr>
          <a:lstStyle/>
          <a:p>
            <a:pPr algn="r"/>
            <a:r>
              <a:rPr lang="en-GB" sz="1400" dirty="0"/>
              <a:t>https://diversity-inclusion-speakers.com/news/top-10-lists/intersectionality-what-it-is-who-to-book/</a:t>
            </a:r>
          </a:p>
        </p:txBody>
      </p:sp>
      <p:pic>
        <p:nvPicPr>
          <p:cNvPr id="6" name="Picture 2" descr="Diagram&#10;&#10;Description automatically generated">
            <a:extLst>
              <a:ext uri="{FF2B5EF4-FFF2-40B4-BE49-F238E27FC236}">
                <a16:creationId xmlns:a16="http://schemas.microsoft.com/office/drawing/2014/main" id="{99FF4A04-81EA-12CC-1CA0-D34F94C6358E}"/>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tretch>
            <a:fillRect/>
          </a:stretch>
        </p:blipFill>
        <p:spPr bwMode="auto">
          <a:xfrm>
            <a:off x="2340936" y="1092755"/>
            <a:ext cx="7180187" cy="4554423"/>
          </a:xfrm>
          <a:prstGeom prst="rect">
            <a:avLst/>
          </a:prstGeom>
          <a:solidFill>
            <a:srgbClr val="FFFFFF"/>
          </a:solidFill>
        </p:spPr>
      </p:pic>
      <p:pic>
        <p:nvPicPr>
          <p:cNvPr id="8" name="Picture 7">
            <a:extLst>
              <a:ext uri="{FF2B5EF4-FFF2-40B4-BE49-F238E27FC236}">
                <a16:creationId xmlns:a16="http://schemas.microsoft.com/office/drawing/2014/main" id="{EE2B0DF1-D1F2-2FF4-1A6A-9D9FC853F693}"/>
              </a:ext>
            </a:extLst>
          </p:cNvPr>
          <p:cNvPicPr>
            <a:picLocks noChangeAspect="1"/>
          </p:cNvPicPr>
          <p:nvPr/>
        </p:nvPicPr>
        <p:blipFill>
          <a:blip r:embed="rId6"/>
          <a:stretch>
            <a:fillRect/>
          </a:stretch>
        </p:blipFill>
        <p:spPr>
          <a:xfrm>
            <a:off x="4516595" y="2617321"/>
            <a:ext cx="2317556" cy="1623358"/>
          </a:xfrm>
          <a:prstGeom prst="rect">
            <a:avLst/>
          </a:prstGeom>
        </p:spPr>
      </p:pic>
    </p:spTree>
    <p:extLst>
      <p:ext uri="{BB962C8B-B14F-4D97-AF65-F5344CB8AC3E}">
        <p14:creationId xmlns:p14="http://schemas.microsoft.com/office/powerpoint/2010/main" val="3539746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625841" y="319537"/>
            <a:ext cx="6903672" cy="648460"/>
          </a:xfrm>
        </p:spPr>
        <p:txBody>
          <a:bodyPr>
            <a:normAutofit fontScale="90000"/>
          </a:bodyPr>
          <a:lstStyle/>
          <a:p>
            <a:r>
              <a:rPr lang="en-GB" sz="3600" dirty="0">
                <a:solidFill>
                  <a:srgbClr val="002060"/>
                </a:solidFill>
              </a:rPr>
              <a:t>Sexual Orientation and Gender Identity </a:t>
            </a:r>
            <a:br>
              <a:rPr lang="en-GB" sz="3600" dirty="0"/>
            </a:br>
            <a:br>
              <a:rPr lang="en-GB" sz="3600" dirty="0"/>
            </a:br>
            <a:br>
              <a:rPr lang="en-GB" sz="3600" dirty="0"/>
            </a:br>
            <a:endParaRPr lang="en-GB" sz="3600" dirty="0"/>
          </a:p>
        </p:txBody>
      </p:sp>
      <p:sp>
        <p:nvSpPr>
          <p:cNvPr id="8" name="Content Placeholder 7">
            <a:extLst>
              <a:ext uri="{FF2B5EF4-FFF2-40B4-BE49-F238E27FC236}">
                <a16:creationId xmlns:a16="http://schemas.microsoft.com/office/drawing/2014/main" id="{C38EC539-E135-F811-EA91-86E2406392B5}"/>
              </a:ext>
            </a:extLst>
          </p:cNvPr>
          <p:cNvSpPr>
            <a:spLocks noGrp="1"/>
          </p:cNvSpPr>
          <p:nvPr>
            <p:ph sz="half" idx="1"/>
          </p:nvPr>
        </p:nvSpPr>
        <p:spPr>
          <a:xfrm>
            <a:off x="609600" y="1387853"/>
            <a:ext cx="5384800" cy="4738311"/>
          </a:xfrm>
        </p:spPr>
        <p:txBody>
          <a:bodyPr>
            <a:normAutofit fontScale="77500" lnSpcReduction="20000"/>
          </a:bodyPr>
          <a:lstStyle/>
          <a:p>
            <a:pPr marL="457200" indent="-457200">
              <a:buFont typeface="Arial" panose="020B0604020202020204" pitchFamily="34" charset="0"/>
              <a:buChar char="•"/>
            </a:pPr>
            <a:r>
              <a:rPr lang="en-GB" sz="2800" dirty="0">
                <a:ea typeface="Times New Roman" panose="02020603050405020304" pitchFamily="18" charset="0"/>
              </a:rPr>
              <a:t>Many LGBQT+ people do not feel comfortable to be open about their sexuality and gender in the workplace.</a:t>
            </a:r>
          </a:p>
          <a:p>
            <a:pPr marL="457200" indent="-457200">
              <a:buFont typeface="Arial" panose="020B0604020202020204" pitchFamily="34" charset="0"/>
              <a:buChar char="•"/>
            </a:pPr>
            <a:endParaRPr lang="en-GB" sz="2800" dirty="0">
              <a:ea typeface="Times New Roman" panose="02020603050405020304" pitchFamily="18" charset="0"/>
            </a:endParaRPr>
          </a:p>
          <a:p>
            <a:pPr marL="457200" indent="-457200">
              <a:buFont typeface="Arial" panose="020B0604020202020204" pitchFamily="34" charset="0"/>
              <a:buChar char="•"/>
            </a:pPr>
            <a:r>
              <a:rPr lang="en-GB" sz="2800" dirty="0">
                <a:ea typeface="Times New Roman" panose="02020603050405020304" pitchFamily="18" charset="0"/>
              </a:rPr>
              <a:t>Homophobic and bi-phobic views still exist within medicine and transphobia more widely recognised as an issue.</a:t>
            </a:r>
          </a:p>
          <a:p>
            <a:pPr marL="457200" indent="-457200">
              <a:buFont typeface="Arial" panose="020B0604020202020204" pitchFamily="34" charset="0"/>
              <a:buChar char="•"/>
            </a:pPr>
            <a:endParaRPr lang="en-GB" sz="2800" dirty="0">
              <a:ea typeface="Times New Roman" panose="02020603050405020304" pitchFamily="18" charset="0"/>
            </a:endParaRPr>
          </a:p>
          <a:p>
            <a:pPr marL="457200" indent="-457200">
              <a:buFont typeface="Arial" panose="020B0604020202020204" pitchFamily="34" charset="0"/>
              <a:buChar char="•"/>
            </a:pPr>
            <a:r>
              <a:rPr lang="en-GB" sz="2800" dirty="0">
                <a:ea typeface="Times New Roman" panose="02020603050405020304" pitchFamily="18" charset="0"/>
              </a:rPr>
              <a:t>“Low level” microaggressions, jokes and banter continue to be widely experienced. </a:t>
            </a:r>
          </a:p>
          <a:p>
            <a:pPr marL="457200" indent="-457200">
              <a:buFont typeface="Arial" panose="020B0604020202020204" pitchFamily="34" charset="0"/>
              <a:buChar char="•"/>
            </a:pPr>
            <a:endParaRPr lang="en-GB" sz="2800" dirty="0">
              <a:ea typeface="Times New Roman" panose="02020603050405020304" pitchFamily="18" charset="0"/>
            </a:endParaRPr>
          </a:p>
          <a:p>
            <a:pPr marL="457200" indent="-457200">
              <a:buFont typeface="Arial" panose="020B0604020202020204" pitchFamily="34" charset="0"/>
              <a:buChar char="•"/>
            </a:pPr>
            <a:r>
              <a:rPr lang="en-GB" sz="2800" dirty="0">
                <a:ea typeface="Times New Roman" panose="02020603050405020304" pitchFamily="18" charset="0"/>
              </a:rPr>
              <a:t>Discrimination and harassment persist and are common. Most incidents go unreported.</a:t>
            </a:r>
            <a:endParaRPr lang="en-GB" sz="2800" dirty="0">
              <a:ea typeface="Calibri" panose="020F0502020204030204" pitchFamily="34" charset="0"/>
            </a:endParaRPr>
          </a:p>
          <a:p>
            <a:pPr>
              <a:buNone/>
            </a:pPr>
            <a:endParaRPr lang="en-GB" dirty="0"/>
          </a:p>
        </p:txBody>
      </p:sp>
      <p:pic>
        <p:nvPicPr>
          <p:cNvPr id="2" name="Content Placeholder 7" descr="A picture containing diagram&#10;&#10;Description automatically generated">
            <a:extLst>
              <a:ext uri="{FF2B5EF4-FFF2-40B4-BE49-F238E27FC236}">
                <a16:creationId xmlns:a16="http://schemas.microsoft.com/office/drawing/2014/main" id="{D5D800E8-06B3-021C-28E0-162FF5DB09DE}"/>
              </a:ext>
            </a:extLst>
          </p:cNvPr>
          <p:cNvPicPr>
            <a:picLocks noGrp="1" noChangeAspect="1"/>
          </p:cNvPicPr>
          <p:nvPr>
            <p:ph sz="half" idx="2"/>
          </p:nvPr>
        </p:nvPicPr>
        <p:blipFill>
          <a:blip r:embed="rId5"/>
          <a:stretch>
            <a:fillRect/>
          </a:stretch>
        </p:blipFill>
        <p:spPr>
          <a:xfrm>
            <a:off x="6924836" y="1183565"/>
            <a:ext cx="3158802" cy="4525963"/>
          </a:xfrm>
          <a:ln w="19050">
            <a:solidFill>
              <a:srgbClr val="C00000"/>
            </a:solidFill>
          </a:ln>
        </p:spPr>
      </p:pic>
    </p:spTree>
    <p:extLst>
      <p:ext uri="{BB962C8B-B14F-4D97-AF65-F5344CB8AC3E}">
        <p14:creationId xmlns:p14="http://schemas.microsoft.com/office/powerpoint/2010/main" val="2494683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625841" y="319537"/>
            <a:ext cx="6903672" cy="648460"/>
          </a:xfrm>
        </p:spPr>
        <p:txBody>
          <a:bodyPr>
            <a:normAutofit fontScale="90000"/>
          </a:bodyPr>
          <a:lstStyle/>
          <a:p>
            <a:r>
              <a:rPr lang="en-GB" sz="3600" dirty="0">
                <a:solidFill>
                  <a:srgbClr val="002060"/>
                </a:solidFill>
              </a:rPr>
              <a:t>Active Inclusions – Challenging Exclusions </a:t>
            </a:r>
            <a:br>
              <a:rPr lang="en-GB" sz="3600" dirty="0"/>
            </a:br>
            <a:br>
              <a:rPr lang="en-GB" sz="3600" dirty="0"/>
            </a:br>
            <a:br>
              <a:rPr lang="en-GB" sz="3600" dirty="0"/>
            </a:br>
            <a:endParaRPr lang="en-GB" sz="3600" dirty="0"/>
          </a:p>
        </p:txBody>
      </p:sp>
      <p:sp>
        <p:nvSpPr>
          <p:cNvPr id="8" name="Content Placeholder 7">
            <a:extLst>
              <a:ext uri="{FF2B5EF4-FFF2-40B4-BE49-F238E27FC236}">
                <a16:creationId xmlns:a16="http://schemas.microsoft.com/office/drawing/2014/main" id="{C38EC539-E135-F811-EA91-86E2406392B5}"/>
              </a:ext>
            </a:extLst>
          </p:cNvPr>
          <p:cNvSpPr>
            <a:spLocks noGrp="1"/>
          </p:cNvSpPr>
          <p:nvPr>
            <p:ph sz="half" idx="1"/>
          </p:nvPr>
        </p:nvSpPr>
        <p:spPr>
          <a:xfrm>
            <a:off x="609600" y="1387853"/>
            <a:ext cx="5384800" cy="4738311"/>
          </a:xfrm>
        </p:spPr>
        <p:txBody>
          <a:bodyPr>
            <a:normAutofit fontScale="85000" lnSpcReduction="10000"/>
          </a:bodyPr>
          <a:lstStyle/>
          <a:p>
            <a:pPr marL="457200" indent="-457200">
              <a:buFont typeface="Arial" panose="020B0604020202020204" pitchFamily="34" charset="0"/>
              <a:buChar char="•"/>
            </a:pPr>
            <a:r>
              <a:rPr lang="en-GB" dirty="0">
                <a:latin typeface="+mn-lt"/>
              </a:rPr>
              <a:t>The National Union of Students (2018) found one in three Muslim students experienced some form of abuse or crime at their place of study, and that female and LGBTQIA+ Muslim students were even more vulnerable.</a:t>
            </a:r>
          </a:p>
          <a:p>
            <a:pPr marL="0" indent="0"/>
            <a:endParaRPr lang="en-GB" dirty="0">
              <a:latin typeface="+mn-lt"/>
            </a:endParaRPr>
          </a:p>
          <a:p>
            <a:pPr marL="457200" indent="-457200">
              <a:buFont typeface="Arial" panose="020B0604020202020204" pitchFamily="34" charset="0"/>
              <a:buChar char="•"/>
            </a:pPr>
            <a:r>
              <a:rPr lang="en-GB" dirty="0">
                <a:latin typeface="+mn-lt"/>
              </a:rPr>
              <a:t>The experiences of disabled students in higher education - many continue to feel excluded within teaching, learning and social environments, in addition to increased bureaucratic and financial pressures</a:t>
            </a:r>
            <a:r>
              <a:rPr lang="en-GB" dirty="0"/>
              <a:t>.</a:t>
            </a:r>
            <a:endParaRPr lang="en-GB" dirty="0">
              <a:latin typeface="+mn-lt"/>
            </a:endParaRPr>
          </a:p>
          <a:p>
            <a:endParaRPr lang="en-GB" dirty="0">
              <a:latin typeface="+mn-lt"/>
            </a:endParaRPr>
          </a:p>
          <a:p>
            <a:endParaRPr lang="en-GB" dirty="0">
              <a:latin typeface="+mn-lt"/>
            </a:endParaRPr>
          </a:p>
          <a:p>
            <a:endParaRPr lang="en-GB" dirty="0">
              <a:latin typeface="+mn-lt"/>
            </a:endParaRPr>
          </a:p>
          <a:p>
            <a:endParaRPr lang="en-GB" dirty="0">
              <a:latin typeface="+mn-lt"/>
            </a:endParaRPr>
          </a:p>
          <a:p>
            <a:pPr>
              <a:buNone/>
            </a:pPr>
            <a:endParaRPr lang="en-GB" dirty="0"/>
          </a:p>
        </p:txBody>
      </p:sp>
      <p:pic>
        <p:nvPicPr>
          <p:cNvPr id="6" name="Content Placeholder 9" descr="Website, sunburst chart&#10;&#10;Description automatically generated">
            <a:extLst>
              <a:ext uri="{FF2B5EF4-FFF2-40B4-BE49-F238E27FC236}">
                <a16:creationId xmlns:a16="http://schemas.microsoft.com/office/drawing/2014/main" id="{AC1F8756-7C32-DFE3-9923-35CACEC9C188}"/>
              </a:ext>
            </a:extLst>
          </p:cNvPr>
          <p:cNvPicPr>
            <a:picLocks noChangeAspect="1"/>
          </p:cNvPicPr>
          <p:nvPr/>
        </p:nvPicPr>
        <p:blipFill>
          <a:blip r:embed="rId5"/>
          <a:stretch>
            <a:fillRect/>
          </a:stretch>
        </p:blipFill>
        <p:spPr>
          <a:xfrm>
            <a:off x="6461615" y="1100896"/>
            <a:ext cx="3846386" cy="4851151"/>
          </a:xfrm>
          <a:prstGeom prst="rect">
            <a:avLst/>
          </a:prstGeom>
          <a:ln w="19050">
            <a:solidFill>
              <a:srgbClr val="C00000"/>
            </a:solidFill>
          </a:ln>
        </p:spPr>
      </p:pic>
    </p:spTree>
    <p:extLst>
      <p:ext uri="{BB962C8B-B14F-4D97-AF65-F5344CB8AC3E}">
        <p14:creationId xmlns:p14="http://schemas.microsoft.com/office/powerpoint/2010/main" val="448926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Icon&#10;&#10;Description automatically generated with medium confidence">
            <a:extLst>
              <a:ext uri="{FF2B5EF4-FFF2-40B4-BE49-F238E27FC236}">
                <a16:creationId xmlns:a16="http://schemas.microsoft.com/office/drawing/2014/main" id="{BB499FD1-F56A-184D-9290-4855E7BA1F52}"/>
              </a:ext>
            </a:extLst>
          </p:cNvPr>
          <p:cNvPicPr>
            <a:picLocks noChangeAspect="1"/>
          </p:cNvPicPr>
          <p:nvPr/>
        </p:nvPicPr>
        <p:blipFill rotWithShape="1">
          <a:blip r:embed="rId4" cstate="print">
            <a:alphaModFix amt="30000"/>
            <a:extLst>
              <a:ext uri="{28A0092B-C50C-407E-A947-70E740481C1C}">
                <a14:useLocalDpi xmlns:a14="http://schemas.microsoft.com/office/drawing/2010/main" val="0"/>
              </a:ext>
            </a:extLst>
          </a:blip>
          <a:srcRect l="-2" t="29943" r="24125" b="10349"/>
          <a:stretch/>
        </p:blipFill>
        <p:spPr>
          <a:xfrm>
            <a:off x="3394894" y="1"/>
            <a:ext cx="8797105" cy="68580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736916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335360" y="760129"/>
            <a:ext cx="9630275" cy="1272143"/>
          </a:xfrm>
          <a:prstGeom prst="rect">
            <a:avLst/>
          </a:prstGeom>
        </p:spPr>
        <p:txBody>
          <a:bodyPr vert="horz" lIns="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pPr>
            <a:endParaRPr lang="en-GB" sz="4250" b="1">
              <a:solidFill>
                <a:schemeClr val="accent1"/>
              </a:solidFill>
              <a:latin typeface="Calibri" panose="020F0502020204030204" pitchFamily="34" charset="0"/>
              <a:ea typeface="Calibri" panose="020F0502020204030204" pitchFamily="34" charset="0"/>
              <a:cs typeface="Calibri"/>
            </a:endParaRPr>
          </a:p>
        </p:txBody>
      </p:sp>
      <p:sp>
        <p:nvSpPr>
          <p:cNvPr id="12" name="TextBox 11">
            <a:extLst>
              <a:ext uri="{FF2B5EF4-FFF2-40B4-BE49-F238E27FC236}">
                <a16:creationId xmlns:a16="http://schemas.microsoft.com/office/drawing/2014/main" id="{9C25FC5D-C61B-F044-BC2C-AE609283E8AB}"/>
              </a:ext>
            </a:extLst>
          </p:cNvPr>
          <p:cNvSpPr txBox="1"/>
          <p:nvPr/>
        </p:nvSpPr>
        <p:spPr>
          <a:xfrm>
            <a:off x="335361" y="3251285"/>
            <a:ext cx="4981991" cy="502766"/>
          </a:xfrm>
          <a:prstGeom prst="rect">
            <a:avLst/>
          </a:prstGeom>
          <a:noFill/>
        </p:spPr>
        <p:txBody>
          <a:bodyPr wrap="square" lIns="0" tIns="45720" rIns="91440" bIns="45720" numCol="1" spcCol="144000" rtlCol="0" anchor="t">
            <a:spAutoFit/>
          </a:bodyPr>
          <a:lstStyle/>
          <a:p>
            <a:endParaRPr lang="en-US" sz="2667" b="1">
              <a:solidFill>
                <a:srgbClr val="000000"/>
              </a:solidFill>
              <a:latin typeface="Calibri" panose="020F0502020204030204" pitchFamily="34" charset="0"/>
              <a:ea typeface="Calibri" panose="020F0502020204030204" pitchFamily="34" charset="0"/>
              <a:cs typeface="Calibri"/>
            </a:endParaRPr>
          </a:p>
        </p:txBody>
      </p:sp>
      <p:sp>
        <p:nvSpPr>
          <p:cNvPr id="2" name="Title 1">
            <a:extLst>
              <a:ext uri="{FF2B5EF4-FFF2-40B4-BE49-F238E27FC236}">
                <a16:creationId xmlns:a16="http://schemas.microsoft.com/office/drawing/2014/main" id="{B745BB33-FB67-CEF5-809B-81103A156D5C}"/>
              </a:ext>
            </a:extLst>
          </p:cNvPr>
          <p:cNvSpPr>
            <a:spLocks noGrp="1"/>
          </p:cNvSpPr>
          <p:nvPr>
            <p:ph type="title"/>
          </p:nvPr>
        </p:nvSpPr>
        <p:spPr/>
        <p:txBody>
          <a:bodyPr>
            <a:noAutofit/>
          </a:bodyPr>
          <a:lstStyle/>
          <a:p>
            <a:r>
              <a:rPr lang="en-GB" sz="3600" dirty="0">
                <a:hlinkClick r:id="rId6"/>
              </a:rPr>
              <a:t>What is Differential Attainment?</a:t>
            </a:r>
            <a:endParaRPr lang="en-GB" sz="3600" dirty="0"/>
          </a:p>
        </p:txBody>
      </p:sp>
      <p:pic>
        <p:nvPicPr>
          <p:cNvPr id="6" name="Content Placeholder 5" descr="A screenshot of a cell phone&#10;&#10;Description automatically generated with medium confidence">
            <a:extLst>
              <a:ext uri="{FF2B5EF4-FFF2-40B4-BE49-F238E27FC236}">
                <a16:creationId xmlns:a16="http://schemas.microsoft.com/office/drawing/2014/main" id="{88877F6E-4109-C6AB-443F-E83C764F061D}"/>
              </a:ext>
            </a:extLst>
          </p:cNvPr>
          <p:cNvPicPr>
            <a:picLocks noGrp="1" noChangeAspect="1"/>
          </p:cNvPicPr>
          <p:nvPr>
            <p:ph sz="half" idx="2"/>
          </p:nvPr>
        </p:nvPicPr>
        <p:blipFill rotWithShape="1">
          <a:blip r:embed="rId7">
            <a:extLst>
              <a:ext uri="{28A0092B-C50C-407E-A947-70E740481C1C}">
                <a14:useLocalDpi xmlns:a14="http://schemas.microsoft.com/office/drawing/2010/main" val="0"/>
              </a:ext>
            </a:extLst>
          </a:blip>
          <a:srcRect t="13427"/>
          <a:stretch/>
        </p:blipFill>
        <p:spPr>
          <a:xfrm>
            <a:off x="6633286" y="1625206"/>
            <a:ext cx="4612250" cy="4472657"/>
          </a:xfrm>
          <a:ln>
            <a:solidFill>
              <a:srgbClr val="002060"/>
            </a:solidFill>
          </a:ln>
        </p:spPr>
      </p:pic>
      <p:pic>
        <p:nvPicPr>
          <p:cNvPr id="7" name="Online Media 6" title="What is differential attainment? Dr Wiley shares her view">
            <a:hlinkClick r:id="" action="ppaction://media"/>
            <a:extLst>
              <a:ext uri="{FF2B5EF4-FFF2-40B4-BE49-F238E27FC236}">
                <a16:creationId xmlns:a16="http://schemas.microsoft.com/office/drawing/2014/main" id="{15F5525D-E2BB-0A3E-E98E-9CB22A62FBEA}"/>
              </a:ext>
            </a:extLst>
          </p:cNvPr>
          <p:cNvPicPr>
            <a:picLocks noGrp="1" noRot="1" noChangeAspect="1"/>
          </p:cNvPicPr>
          <p:nvPr>
            <p:ph sz="half" idx="1"/>
            <a:videoFile r:link="rId1"/>
          </p:nvPr>
        </p:nvPicPr>
        <p:blipFill>
          <a:blip r:embed="rId8"/>
          <a:stretch>
            <a:fillRect/>
          </a:stretch>
        </p:blipFill>
        <p:spPr>
          <a:xfrm>
            <a:off x="757208" y="1947398"/>
            <a:ext cx="5348376" cy="3831566"/>
          </a:xfrm>
        </p:spPr>
      </p:pic>
    </p:spTree>
    <p:extLst>
      <p:ext uri="{BB962C8B-B14F-4D97-AF65-F5344CB8AC3E}">
        <p14:creationId xmlns:p14="http://schemas.microsoft.com/office/powerpoint/2010/main" val="2687541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Icon&#10;&#10;Description automatically generated with medium confidence">
            <a:extLst>
              <a:ext uri="{FF2B5EF4-FFF2-40B4-BE49-F238E27FC236}">
                <a16:creationId xmlns:a16="http://schemas.microsoft.com/office/drawing/2014/main" id="{BB499FD1-F56A-184D-9290-4855E7BA1F52}"/>
              </a:ext>
            </a:extLst>
          </p:cNvPr>
          <p:cNvPicPr>
            <a:picLocks noChangeAspect="1"/>
          </p:cNvPicPr>
          <p:nvPr/>
        </p:nvPicPr>
        <p:blipFill rotWithShape="1">
          <a:blip r:embed="rId3" cstate="print">
            <a:alphaModFix amt="30000"/>
            <a:extLst>
              <a:ext uri="{28A0092B-C50C-407E-A947-70E740481C1C}">
                <a14:useLocalDpi xmlns:a14="http://schemas.microsoft.com/office/drawing/2010/main" val="0"/>
              </a:ext>
            </a:extLst>
          </a:blip>
          <a:srcRect l="-2" t="29943" r="24125" b="10349"/>
          <a:stretch/>
        </p:blipFill>
        <p:spPr>
          <a:xfrm>
            <a:off x="3394894" y="1"/>
            <a:ext cx="8797105" cy="68580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736916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335360" y="760129"/>
            <a:ext cx="9630275" cy="1272143"/>
          </a:xfrm>
          <a:prstGeom prst="rect">
            <a:avLst/>
          </a:prstGeom>
        </p:spPr>
        <p:txBody>
          <a:bodyPr vert="horz" lIns="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pPr>
            <a:endParaRPr lang="en-GB" sz="4250" b="1">
              <a:solidFill>
                <a:schemeClr val="accent1"/>
              </a:solidFill>
              <a:latin typeface="Calibri" panose="020F0502020204030204" pitchFamily="34" charset="0"/>
              <a:ea typeface="Calibri" panose="020F0502020204030204" pitchFamily="34" charset="0"/>
              <a:cs typeface="Calibri"/>
            </a:endParaRPr>
          </a:p>
        </p:txBody>
      </p:sp>
      <p:sp>
        <p:nvSpPr>
          <p:cNvPr id="12" name="TextBox 11">
            <a:extLst>
              <a:ext uri="{FF2B5EF4-FFF2-40B4-BE49-F238E27FC236}">
                <a16:creationId xmlns:a16="http://schemas.microsoft.com/office/drawing/2014/main" id="{9C25FC5D-C61B-F044-BC2C-AE609283E8AB}"/>
              </a:ext>
            </a:extLst>
          </p:cNvPr>
          <p:cNvSpPr txBox="1"/>
          <p:nvPr/>
        </p:nvSpPr>
        <p:spPr>
          <a:xfrm>
            <a:off x="335361" y="3251285"/>
            <a:ext cx="4981991" cy="502766"/>
          </a:xfrm>
          <a:prstGeom prst="rect">
            <a:avLst/>
          </a:prstGeom>
          <a:noFill/>
        </p:spPr>
        <p:txBody>
          <a:bodyPr wrap="square" lIns="0" tIns="45720" rIns="91440" bIns="45720" numCol="1" spcCol="144000" rtlCol="0" anchor="t">
            <a:spAutoFit/>
          </a:bodyPr>
          <a:lstStyle/>
          <a:p>
            <a:endParaRPr lang="en-US" sz="2667" b="1">
              <a:solidFill>
                <a:srgbClr val="000000"/>
              </a:solidFill>
              <a:latin typeface="Calibri" panose="020F0502020204030204" pitchFamily="34" charset="0"/>
              <a:ea typeface="Calibri" panose="020F0502020204030204" pitchFamily="34" charset="0"/>
              <a:cs typeface="Calibri"/>
            </a:endParaRPr>
          </a:p>
        </p:txBody>
      </p:sp>
      <p:sp>
        <p:nvSpPr>
          <p:cNvPr id="2" name="Title 1">
            <a:extLst>
              <a:ext uri="{FF2B5EF4-FFF2-40B4-BE49-F238E27FC236}">
                <a16:creationId xmlns:a16="http://schemas.microsoft.com/office/drawing/2014/main" id="{B745BB33-FB67-CEF5-809B-81103A156D5C}"/>
              </a:ext>
            </a:extLst>
          </p:cNvPr>
          <p:cNvSpPr>
            <a:spLocks noGrp="1"/>
          </p:cNvSpPr>
          <p:nvPr>
            <p:ph type="title"/>
          </p:nvPr>
        </p:nvSpPr>
        <p:spPr>
          <a:xfrm>
            <a:off x="100014" y="388040"/>
            <a:ext cx="11779066" cy="646835"/>
          </a:xfrm>
        </p:spPr>
        <p:txBody>
          <a:bodyPr>
            <a:noAutofit/>
          </a:bodyPr>
          <a:lstStyle/>
          <a:p>
            <a:r>
              <a:rPr lang="en-GB" sz="3600" dirty="0"/>
              <a:t>GMC Report Tacking Disadvantage in Medical Education – Postgraduate Outcomes by Ethnicity</a:t>
            </a:r>
            <a:br>
              <a:rPr lang="en-GB" sz="3600" dirty="0"/>
            </a:br>
            <a:endParaRPr lang="en-GB" sz="3600" dirty="0"/>
          </a:p>
        </p:txBody>
      </p:sp>
      <p:sp>
        <p:nvSpPr>
          <p:cNvPr id="5" name="Content Placeholder 4">
            <a:extLst>
              <a:ext uri="{FF2B5EF4-FFF2-40B4-BE49-F238E27FC236}">
                <a16:creationId xmlns:a16="http://schemas.microsoft.com/office/drawing/2014/main" id="{C64895FD-DD2D-A86C-A5D4-94175E5BAB16}"/>
              </a:ext>
            </a:extLst>
          </p:cNvPr>
          <p:cNvSpPr>
            <a:spLocks noGrp="1"/>
          </p:cNvSpPr>
          <p:nvPr>
            <p:ph idx="1"/>
          </p:nvPr>
        </p:nvSpPr>
        <p:spPr>
          <a:xfrm>
            <a:off x="785813" y="2143126"/>
            <a:ext cx="11019141" cy="3983038"/>
          </a:xfrm>
        </p:spPr>
        <p:txBody>
          <a:bodyPr/>
          <a:lstStyle/>
          <a:p>
            <a:pPr marL="342900" indent="-342900">
              <a:buFont typeface="Arial" panose="020B0604020202020204" pitchFamily="34" charset="0"/>
              <a:buChar char="•"/>
            </a:pPr>
            <a:r>
              <a:rPr lang="en-GB" sz="2800" dirty="0"/>
              <a:t>Disparities in exam pass rates - Speciality exams 79% white trainees, 68% Asian, 62% Black UK grads</a:t>
            </a:r>
          </a:p>
          <a:p>
            <a:pPr marL="0" indent="0"/>
            <a:endParaRPr lang="en-GB" sz="2800" dirty="0"/>
          </a:p>
          <a:p>
            <a:pPr marL="342900" indent="-342900">
              <a:buFont typeface="Arial" panose="020B0604020202020204" pitchFamily="34" charset="0"/>
              <a:buChar char="•"/>
            </a:pPr>
            <a:r>
              <a:rPr lang="en-GB" sz="2800" dirty="0"/>
              <a:t>These disparities compounded by socio-economic status</a:t>
            </a:r>
          </a:p>
          <a:p>
            <a:pPr marL="0" indent="0"/>
            <a:endParaRPr lang="en-GB" sz="2800" dirty="0"/>
          </a:p>
          <a:p>
            <a:pPr marL="342900" indent="-342900">
              <a:buFont typeface="Arial" panose="020B0604020202020204" pitchFamily="34" charset="0"/>
              <a:buChar char="•"/>
            </a:pPr>
            <a:r>
              <a:rPr lang="en-GB" sz="2800" dirty="0"/>
              <a:t>Higher proportion of white trainees offered posts than those from other ethnic minorities</a:t>
            </a:r>
          </a:p>
          <a:p>
            <a:pPr marL="0" indent="0"/>
            <a:endParaRPr lang="en-GB" dirty="0"/>
          </a:p>
        </p:txBody>
      </p:sp>
    </p:spTree>
    <p:extLst>
      <p:ext uri="{BB962C8B-B14F-4D97-AF65-F5344CB8AC3E}">
        <p14:creationId xmlns:p14="http://schemas.microsoft.com/office/powerpoint/2010/main" val="4036998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217086" y="319537"/>
            <a:ext cx="11566159" cy="1130666"/>
          </a:xfrm>
        </p:spPr>
        <p:txBody>
          <a:bodyPr>
            <a:noAutofit/>
          </a:bodyPr>
          <a:lstStyle/>
          <a:p>
            <a:r>
              <a:rPr lang="en-GB" sz="4000" dirty="0">
                <a:solidFill>
                  <a:srgbClr val="002060"/>
                </a:solidFill>
              </a:rPr>
              <a:t>Improve the learning environment </a:t>
            </a:r>
          </a:p>
        </p:txBody>
      </p:sp>
      <p:graphicFrame>
        <p:nvGraphicFramePr>
          <p:cNvPr id="12" name="Content Placeholder 3">
            <a:extLst>
              <a:ext uri="{FF2B5EF4-FFF2-40B4-BE49-F238E27FC236}">
                <a16:creationId xmlns:a16="http://schemas.microsoft.com/office/drawing/2014/main" id="{7061D4FA-6161-9899-62EB-240AB63B8B29}"/>
              </a:ext>
            </a:extLst>
          </p:cNvPr>
          <p:cNvGraphicFramePr>
            <a:graphicFrameLocks noGrp="1"/>
          </p:cNvGraphicFramePr>
          <p:nvPr>
            <p:ph idx="1"/>
            <p:extLst>
              <p:ext uri="{D42A27DB-BD31-4B8C-83A1-F6EECF244321}">
                <p14:modId xmlns:p14="http://schemas.microsoft.com/office/powerpoint/2010/main" val="665241010"/>
              </p:ext>
            </p:extLst>
          </p:nvPr>
        </p:nvGraphicFramePr>
        <p:xfrm>
          <a:off x="238125" y="1600200"/>
          <a:ext cx="11566525" cy="45259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042609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0E471-88F3-C9A4-5239-CEA25BDFFA89}"/>
              </a:ext>
            </a:extLst>
          </p:cNvPr>
          <p:cNvSpPr>
            <a:spLocks noGrp="1"/>
          </p:cNvSpPr>
          <p:nvPr>
            <p:ph type="title"/>
          </p:nvPr>
        </p:nvSpPr>
        <p:spPr>
          <a:xfrm>
            <a:off x="174223" y="353325"/>
            <a:ext cx="11566159" cy="505816"/>
          </a:xfrm>
        </p:spPr>
        <p:txBody>
          <a:bodyPr anchor="t">
            <a:noAutofit/>
          </a:bodyPr>
          <a:lstStyle/>
          <a:p>
            <a:pPr algn="ctr">
              <a:lnSpc>
                <a:spcPct val="90000"/>
              </a:lnSpc>
            </a:pPr>
            <a:r>
              <a:rPr lang="en-GB" sz="3600" dirty="0"/>
              <a:t>Exercise 2 – Let’s work through some scenarios</a:t>
            </a:r>
          </a:p>
        </p:txBody>
      </p:sp>
      <p:pic>
        <p:nvPicPr>
          <p:cNvPr id="5" name="Content Placeholder 4">
            <a:extLst>
              <a:ext uri="{FF2B5EF4-FFF2-40B4-BE49-F238E27FC236}">
                <a16:creationId xmlns:a16="http://schemas.microsoft.com/office/drawing/2014/main" id="{7C461E54-96A5-05D8-69BE-B9A56B137EED}"/>
              </a:ext>
            </a:extLst>
          </p:cNvPr>
          <p:cNvPicPr>
            <a:picLocks noGrp="1" noChangeAspect="1"/>
          </p:cNvPicPr>
          <p:nvPr>
            <p:ph sz="half" idx="2"/>
          </p:nvPr>
        </p:nvPicPr>
        <p:blipFill>
          <a:blip r:embed="rId3"/>
          <a:stretch>
            <a:fillRect/>
          </a:stretch>
        </p:blipFill>
        <p:spPr>
          <a:xfrm>
            <a:off x="3570584" y="0"/>
            <a:ext cx="8621416" cy="6858000"/>
          </a:xfrm>
          <a:prstGeom prst="rect">
            <a:avLst/>
          </a:prstGeom>
        </p:spPr>
      </p:pic>
      <p:pic>
        <p:nvPicPr>
          <p:cNvPr id="3" name="Picture 2">
            <a:extLst>
              <a:ext uri="{FF2B5EF4-FFF2-40B4-BE49-F238E27FC236}">
                <a16:creationId xmlns:a16="http://schemas.microsoft.com/office/drawing/2014/main" id="{F4DE9FB5-8838-2FED-CA4C-B1C949FD6945}"/>
              </a:ext>
            </a:extLst>
          </p:cNvPr>
          <p:cNvPicPr>
            <a:picLocks noChangeAspect="1"/>
          </p:cNvPicPr>
          <p:nvPr/>
        </p:nvPicPr>
        <p:blipFill>
          <a:blip r:embed="rId4"/>
          <a:stretch>
            <a:fillRect/>
          </a:stretch>
        </p:blipFill>
        <p:spPr>
          <a:xfrm>
            <a:off x="1083791" y="1212466"/>
            <a:ext cx="3945409" cy="5341476"/>
          </a:xfrm>
          <a:prstGeom prst="rect">
            <a:avLst/>
          </a:prstGeom>
          <a:ln>
            <a:solidFill>
              <a:schemeClr val="accent5">
                <a:lumMod val="20000"/>
                <a:lumOff val="80000"/>
              </a:schemeClr>
            </a:solidFill>
          </a:ln>
        </p:spPr>
      </p:pic>
    </p:spTree>
    <p:extLst>
      <p:ext uri="{BB962C8B-B14F-4D97-AF65-F5344CB8AC3E}">
        <p14:creationId xmlns:p14="http://schemas.microsoft.com/office/powerpoint/2010/main" val="1222814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51599" y="34560"/>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217086" y="205223"/>
            <a:ext cx="11566159" cy="726991"/>
          </a:xfrm>
        </p:spPr>
        <p:txBody>
          <a:bodyPr>
            <a:normAutofit/>
          </a:bodyPr>
          <a:lstStyle/>
          <a:p>
            <a:pPr algn="ctr"/>
            <a:r>
              <a:rPr lang="en-GB" sz="3600" dirty="0"/>
              <a:t>Scenarios and </a:t>
            </a:r>
            <a:r>
              <a:rPr lang="en-GB" sz="3600" dirty="0">
                <a:hlinkClick r:id="rId5"/>
              </a:rPr>
              <a:t>Speaking Up</a:t>
            </a:r>
            <a:endParaRPr lang="en-GB" sz="3600" dirty="0"/>
          </a:p>
        </p:txBody>
      </p:sp>
      <p:sp>
        <p:nvSpPr>
          <p:cNvPr id="8" name="Content Placeholder 7">
            <a:extLst>
              <a:ext uri="{FF2B5EF4-FFF2-40B4-BE49-F238E27FC236}">
                <a16:creationId xmlns:a16="http://schemas.microsoft.com/office/drawing/2014/main" id="{C38EC539-E135-F811-EA91-86E2406392B5}"/>
              </a:ext>
            </a:extLst>
          </p:cNvPr>
          <p:cNvSpPr>
            <a:spLocks noGrp="1"/>
          </p:cNvSpPr>
          <p:nvPr>
            <p:ph idx="1"/>
          </p:nvPr>
        </p:nvSpPr>
        <p:spPr/>
        <p:txBody>
          <a:bodyPr>
            <a:normAutofit/>
          </a:bodyPr>
          <a:lstStyle/>
          <a:p>
            <a:r>
              <a:rPr lang="en-GB" sz="2800" dirty="0">
                <a:ea typeface="+mn-lt"/>
                <a:cs typeface="+mn-lt"/>
              </a:rPr>
              <a:t>  </a:t>
            </a:r>
            <a:endParaRPr lang="en-GB" dirty="0"/>
          </a:p>
        </p:txBody>
      </p:sp>
      <p:sp>
        <p:nvSpPr>
          <p:cNvPr id="10" name="Content Placeholder 9">
            <a:extLst>
              <a:ext uri="{FF2B5EF4-FFF2-40B4-BE49-F238E27FC236}">
                <a16:creationId xmlns:a16="http://schemas.microsoft.com/office/drawing/2014/main" id="{245E58AD-971A-CA70-E3AA-9079E00EC9EA}"/>
              </a:ext>
            </a:extLst>
          </p:cNvPr>
          <p:cNvSpPr>
            <a:spLocks noGrp="1"/>
          </p:cNvSpPr>
          <p:nvPr>
            <p:ph sz="half" idx="4294967295"/>
          </p:nvPr>
        </p:nvSpPr>
        <p:spPr>
          <a:xfrm>
            <a:off x="6807200" y="1600200"/>
            <a:ext cx="5384800" cy="4525963"/>
          </a:xfrm>
        </p:spPr>
        <p:txBody>
          <a:bodyPr>
            <a:normAutofit/>
          </a:bodyPr>
          <a:lstStyle/>
          <a:p>
            <a:pPr marL="457200" indent="-457200">
              <a:buFont typeface="Arial" panose="020B0604020202020204" pitchFamily="34" charset="0"/>
              <a:buChar char="•"/>
            </a:pPr>
            <a:endParaRPr lang="en-US" sz="2800" b="1" dirty="0">
              <a:cs typeface="Calibri"/>
            </a:endParaRPr>
          </a:p>
          <a:p>
            <a:endParaRPr lang="en-GB" sz="3800" dirty="0">
              <a:ea typeface="+mn-lt"/>
              <a:cs typeface="+mn-lt"/>
            </a:endParaRPr>
          </a:p>
          <a:p>
            <a:endParaRPr lang="en-GB" sz="3800" dirty="0">
              <a:ea typeface="+mn-lt"/>
              <a:cs typeface="+mn-lt"/>
            </a:endParaRPr>
          </a:p>
          <a:p>
            <a:pPr marL="0" indent="0"/>
            <a:endParaRPr lang="en-US" sz="2800" dirty="0">
              <a:cs typeface="Calibri"/>
            </a:endParaRPr>
          </a:p>
          <a:p>
            <a:endParaRPr lang="en-GB" dirty="0"/>
          </a:p>
        </p:txBody>
      </p:sp>
      <p:sp>
        <p:nvSpPr>
          <p:cNvPr id="3" name="TextBox 2">
            <a:extLst>
              <a:ext uri="{FF2B5EF4-FFF2-40B4-BE49-F238E27FC236}">
                <a16:creationId xmlns:a16="http://schemas.microsoft.com/office/drawing/2014/main" id="{B37B883E-0B76-E11A-6424-9070FD7785C8}"/>
              </a:ext>
            </a:extLst>
          </p:cNvPr>
          <p:cNvSpPr txBox="1"/>
          <p:nvPr/>
        </p:nvSpPr>
        <p:spPr>
          <a:xfrm>
            <a:off x="516731" y="1273539"/>
            <a:ext cx="11158538" cy="4832092"/>
          </a:xfrm>
          <a:prstGeom prst="rect">
            <a:avLst/>
          </a:prstGeom>
          <a:noFill/>
        </p:spPr>
        <p:txBody>
          <a:bodyPr wrap="square">
            <a:spAutoFit/>
          </a:bodyPr>
          <a:lstStyle/>
          <a:p>
            <a:pPr marL="457200" indent="-457200">
              <a:buAutoNum type="arabicPeriod"/>
            </a:pPr>
            <a:r>
              <a:rPr lang="en-GB" sz="2200" dirty="0">
                <a:solidFill>
                  <a:srgbClr val="002060"/>
                </a:solidFill>
              </a:rPr>
              <a:t>A patient says they don’t want to see the black Dr/nurse at your practice and wishes to see another Dr/nurse. She is the only Dr/nurse at your practice this afternoon. If you are not white yourself the patient also keeps asking you “</a:t>
            </a:r>
            <a:r>
              <a:rPr lang="en-GB" sz="2200" i="1" dirty="0">
                <a:solidFill>
                  <a:srgbClr val="002060"/>
                </a:solidFill>
              </a:rPr>
              <a:t>where are you from?” </a:t>
            </a:r>
            <a:r>
              <a:rPr lang="en-GB" sz="2200" b="1" i="1" dirty="0">
                <a:solidFill>
                  <a:srgbClr val="002060"/>
                </a:solidFill>
              </a:rPr>
              <a:t> </a:t>
            </a:r>
            <a:r>
              <a:rPr lang="en-GB" sz="2200" b="1" dirty="0">
                <a:solidFill>
                  <a:srgbClr val="002060"/>
                </a:solidFill>
              </a:rPr>
              <a:t>What would you do or say? Do you have any local policies to support this?</a:t>
            </a:r>
          </a:p>
          <a:p>
            <a:pPr marL="457200" indent="-457200">
              <a:buAutoNum type="arabicPeriod"/>
            </a:pPr>
            <a:endParaRPr lang="en-GB" sz="2200" b="1" i="1" dirty="0">
              <a:solidFill>
                <a:srgbClr val="002060"/>
              </a:solidFill>
            </a:endParaRPr>
          </a:p>
          <a:p>
            <a:pPr marL="457200" indent="-457200">
              <a:buAutoNum type="arabicPeriod"/>
            </a:pPr>
            <a:r>
              <a:rPr lang="en-GB" sz="2200" dirty="0">
                <a:solidFill>
                  <a:srgbClr val="002060"/>
                </a:solidFill>
              </a:rPr>
              <a:t>A senior colleague keeps mispronouncing a new Pharmacy student’s name &amp; in the end just ignores her. The student asks you if you have noticed, it is really upsetting her. </a:t>
            </a:r>
            <a:r>
              <a:rPr lang="en-GB" sz="2200" b="1" dirty="0">
                <a:solidFill>
                  <a:srgbClr val="002060"/>
                </a:solidFill>
              </a:rPr>
              <a:t>What do you say to the Pharmacy Student? How would you tackle this with the senior colleague if you think this is appropriate?</a:t>
            </a:r>
          </a:p>
          <a:p>
            <a:pPr marL="457200" indent="-457200">
              <a:buAutoNum type="arabicPeriod"/>
            </a:pPr>
            <a:endParaRPr lang="en-GB" sz="2200" b="1" dirty="0">
              <a:solidFill>
                <a:srgbClr val="002060"/>
              </a:solidFill>
              <a:cs typeface="Calibri"/>
            </a:endParaRPr>
          </a:p>
          <a:p>
            <a:pPr marL="457200" indent="-457200">
              <a:buAutoNum type="arabicPeriod"/>
            </a:pPr>
            <a:r>
              <a:rPr lang="en-GB" sz="2200" dirty="0">
                <a:solidFill>
                  <a:srgbClr val="002060"/>
                </a:solidFill>
                <a:cs typeface="Calibri"/>
              </a:rPr>
              <a:t>You ask a colleague how they are before your shift ends. They complains about “these patients coming from abroad to get free treatment on the NHS!” They mention the patient has asked to put his name down at Johnny which is different to his given name on his documents</a:t>
            </a:r>
            <a:r>
              <a:rPr lang="en-GB" sz="2200" b="1" dirty="0">
                <a:solidFill>
                  <a:srgbClr val="002060"/>
                </a:solidFill>
                <a:cs typeface="Calibri"/>
              </a:rPr>
              <a:t>. How would you respond? How would you respond? What would you say next?</a:t>
            </a:r>
          </a:p>
        </p:txBody>
      </p:sp>
    </p:spTree>
    <p:extLst>
      <p:ext uri="{BB962C8B-B14F-4D97-AF65-F5344CB8AC3E}">
        <p14:creationId xmlns:p14="http://schemas.microsoft.com/office/powerpoint/2010/main" val="26721281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114746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971872-3400-E64F-B64A-A83213536EBB}"/>
              </a:ext>
            </a:extLst>
          </p:cNvPr>
          <p:cNvCxnSpPr>
            <a:cxnSpLocks/>
          </p:cNvCxnSpPr>
          <p:nvPr/>
        </p:nvCxnSpPr>
        <p:spPr>
          <a:xfrm flipH="1">
            <a:off x="338590" y="932215"/>
            <a:ext cx="1009183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B3BC41A-C58C-694B-8BF4-95040841B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
        <p:nvSpPr>
          <p:cNvPr id="7" name="Title 6">
            <a:extLst>
              <a:ext uri="{FF2B5EF4-FFF2-40B4-BE49-F238E27FC236}">
                <a16:creationId xmlns:a16="http://schemas.microsoft.com/office/drawing/2014/main" id="{2ECFCCC6-8711-BCEA-9B48-B4F0C2612F8D}"/>
              </a:ext>
            </a:extLst>
          </p:cNvPr>
          <p:cNvSpPr>
            <a:spLocks noGrp="1"/>
          </p:cNvSpPr>
          <p:nvPr>
            <p:ph type="title"/>
          </p:nvPr>
        </p:nvSpPr>
        <p:spPr>
          <a:xfrm>
            <a:off x="217086" y="205223"/>
            <a:ext cx="11566159" cy="726991"/>
          </a:xfrm>
        </p:spPr>
        <p:txBody>
          <a:bodyPr>
            <a:normAutofit/>
          </a:bodyPr>
          <a:lstStyle/>
          <a:p>
            <a:pPr algn="ctr"/>
            <a:r>
              <a:rPr lang="en-GB" sz="3600" dirty="0"/>
              <a:t>How would you respond to this?</a:t>
            </a:r>
          </a:p>
        </p:txBody>
      </p:sp>
      <p:sp>
        <p:nvSpPr>
          <p:cNvPr id="8" name="Content Placeholder 7">
            <a:extLst>
              <a:ext uri="{FF2B5EF4-FFF2-40B4-BE49-F238E27FC236}">
                <a16:creationId xmlns:a16="http://schemas.microsoft.com/office/drawing/2014/main" id="{C38EC539-E135-F811-EA91-86E2406392B5}"/>
              </a:ext>
            </a:extLst>
          </p:cNvPr>
          <p:cNvSpPr>
            <a:spLocks noGrp="1"/>
          </p:cNvSpPr>
          <p:nvPr>
            <p:ph idx="1"/>
          </p:nvPr>
        </p:nvSpPr>
        <p:spPr>
          <a:xfrm>
            <a:off x="217086" y="1600200"/>
            <a:ext cx="11566159" cy="4525963"/>
          </a:xfrm>
        </p:spPr>
        <p:txBody>
          <a:bodyPr>
            <a:normAutofit fontScale="85000" lnSpcReduction="20000"/>
          </a:bodyPr>
          <a:lstStyle/>
          <a:p>
            <a:pPr algn="ctr"/>
            <a:r>
              <a:rPr lang="en-GB" sz="2800" dirty="0"/>
              <a:t>Step 1: </a:t>
            </a:r>
            <a:r>
              <a:rPr lang="en-GB" sz="2800" dirty="0">
                <a:solidFill>
                  <a:srgbClr val="FF0000"/>
                </a:solidFill>
              </a:rPr>
              <a:t>Reiterate. Restate </a:t>
            </a:r>
            <a:r>
              <a:rPr lang="en-GB" sz="2800" dirty="0"/>
              <a:t>what you heard. This step enables you to reflect on what you have heard as opposed to what you think you may have heard. Repeating what you have heard limits miscommunication and misinformation.</a:t>
            </a:r>
            <a:endParaRPr lang="en-US" sz="2800" dirty="0"/>
          </a:p>
          <a:p>
            <a:pPr algn="ctr"/>
            <a:endParaRPr lang="en-US" sz="2800" dirty="0"/>
          </a:p>
          <a:p>
            <a:pPr algn="ctr"/>
            <a:r>
              <a:rPr lang="en-GB" sz="2800" dirty="0"/>
              <a:t>Step 2: </a:t>
            </a:r>
            <a:r>
              <a:rPr lang="en-GB" sz="2800" dirty="0">
                <a:solidFill>
                  <a:srgbClr val="FF0000"/>
                </a:solidFill>
              </a:rPr>
              <a:t>Contemplate. </a:t>
            </a:r>
            <a:r>
              <a:rPr lang="en-GB" sz="2800" dirty="0"/>
              <a:t>Count to 10 before responding. Gives you time to think about your response / what you want to say. May also help to diffuse conflict </a:t>
            </a:r>
          </a:p>
          <a:p>
            <a:pPr algn="ctr"/>
            <a:endParaRPr lang="en-GB" sz="2800" dirty="0"/>
          </a:p>
          <a:p>
            <a:pPr algn="ctr"/>
            <a:r>
              <a:rPr lang="en-GB" sz="2800" dirty="0"/>
              <a:t>Step 3: </a:t>
            </a:r>
            <a:r>
              <a:rPr lang="en-GB" sz="2800" dirty="0">
                <a:solidFill>
                  <a:srgbClr val="FF0000"/>
                </a:solidFill>
              </a:rPr>
              <a:t>Breathe. </a:t>
            </a:r>
            <a:r>
              <a:rPr lang="en-GB" sz="2800" dirty="0"/>
              <a:t>We often hold our breath in difficult situations, so take a few breaths to help to settle emotions and thoughts </a:t>
            </a:r>
          </a:p>
          <a:p>
            <a:pPr algn="ctr"/>
            <a:endParaRPr lang="en-GB" sz="2800" dirty="0"/>
          </a:p>
          <a:p>
            <a:pPr algn="ctr"/>
            <a:r>
              <a:rPr lang="en-GB" sz="2800" dirty="0"/>
              <a:t>Step 4: </a:t>
            </a:r>
            <a:r>
              <a:rPr lang="en-GB" sz="2800" dirty="0">
                <a:solidFill>
                  <a:srgbClr val="FF0000"/>
                </a:solidFill>
              </a:rPr>
              <a:t>Communicate.</a:t>
            </a:r>
            <a:r>
              <a:rPr lang="en-GB" sz="2800" dirty="0"/>
              <a:t> Speak clearly and thoughtfully. Focus on the negative statement rather than the person who said it. Make it clear that you disagree with the statement </a:t>
            </a:r>
          </a:p>
          <a:p>
            <a:pPr algn="ctr"/>
            <a:endParaRPr lang="en-GB" sz="2800" dirty="0"/>
          </a:p>
          <a:p>
            <a:pPr algn="ctr"/>
            <a:r>
              <a:rPr lang="en-GB" sz="2800" dirty="0"/>
              <a:t>www.tolerance.org</a:t>
            </a:r>
          </a:p>
        </p:txBody>
      </p:sp>
      <p:sp>
        <p:nvSpPr>
          <p:cNvPr id="10" name="Content Placeholder 9">
            <a:extLst>
              <a:ext uri="{FF2B5EF4-FFF2-40B4-BE49-F238E27FC236}">
                <a16:creationId xmlns:a16="http://schemas.microsoft.com/office/drawing/2014/main" id="{245E58AD-971A-CA70-E3AA-9079E00EC9EA}"/>
              </a:ext>
            </a:extLst>
          </p:cNvPr>
          <p:cNvSpPr>
            <a:spLocks noGrp="1"/>
          </p:cNvSpPr>
          <p:nvPr>
            <p:ph sz="half" idx="4294967295"/>
          </p:nvPr>
        </p:nvSpPr>
        <p:spPr>
          <a:xfrm>
            <a:off x="6807200" y="1600200"/>
            <a:ext cx="5384800" cy="4525963"/>
          </a:xfrm>
        </p:spPr>
        <p:txBody>
          <a:bodyPr>
            <a:normAutofit/>
          </a:bodyPr>
          <a:lstStyle/>
          <a:p>
            <a:pPr marL="457200" indent="-457200">
              <a:buFont typeface="Arial" panose="020B0604020202020204" pitchFamily="34" charset="0"/>
              <a:buChar char="•"/>
            </a:pPr>
            <a:endParaRPr lang="en-US" sz="2800" b="1" dirty="0">
              <a:cs typeface="Calibri"/>
            </a:endParaRPr>
          </a:p>
          <a:p>
            <a:endParaRPr lang="en-GB" sz="3800" dirty="0">
              <a:ea typeface="+mn-lt"/>
              <a:cs typeface="+mn-lt"/>
            </a:endParaRPr>
          </a:p>
          <a:p>
            <a:endParaRPr lang="en-GB" sz="3800" dirty="0">
              <a:ea typeface="+mn-lt"/>
              <a:cs typeface="+mn-lt"/>
            </a:endParaRPr>
          </a:p>
          <a:p>
            <a:pPr marL="0" indent="0"/>
            <a:endParaRPr lang="en-US" sz="2800" dirty="0">
              <a:cs typeface="Calibri"/>
            </a:endParaRPr>
          </a:p>
          <a:p>
            <a:endParaRPr lang="en-GB" dirty="0"/>
          </a:p>
        </p:txBody>
      </p:sp>
    </p:spTree>
    <p:extLst>
      <p:ext uri="{BB962C8B-B14F-4D97-AF65-F5344CB8AC3E}">
        <p14:creationId xmlns:p14="http://schemas.microsoft.com/office/powerpoint/2010/main" val="505120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4000" y="122491"/>
            <a:ext cx="8424000" cy="720000"/>
          </a:xfrm>
        </p:spPr>
        <p:txBody>
          <a:bodyPr>
            <a:normAutofit/>
          </a:bodyPr>
          <a:lstStyle/>
          <a:p>
            <a:pPr algn="ctr"/>
            <a:r>
              <a:rPr lang="en-US" dirty="0">
                <a:solidFill>
                  <a:srgbClr val="002060"/>
                </a:solidFill>
                <a:latin typeface="+mj-lt"/>
                <a:cs typeface="Calibri Light"/>
              </a:rPr>
              <a:t>Finding the right words and phrases</a:t>
            </a:r>
            <a:endParaRPr lang="en-US" dirty="0">
              <a:solidFill>
                <a:srgbClr val="002060"/>
              </a:solidFill>
              <a:latin typeface="+mj-lt"/>
            </a:endParaRPr>
          </a:p>
        </p:txBody>
      </p:sp>
      <p:sp>
        <p:nvSpPr>
          <p:cNvPr id="5" name="Speech Bubble: Oval 4">
            <a:extLst>
              <a:ext uri="{FF2B5EF4-FFF2-40B4-BE49-F238E27FC236}">
                <a16:creationId xmlns:a16="http://schemas.microsoft.com/office/drawing/2014/main" id="{C9475EAC-D6C3-4DC7-B4DD-5BA4FC31BA45}"/>
              </a:ext>
            </a:extLst>
          </p:cNvPr>
          <p:cNvSpPr/>
          <p:nvPr/>
        </p:nvSpPr>
        <p:spPr>
          <a:xfrm>
            <a:off x="6250613" y="2679467"/>
            <a:ext cx="2159000" cy="1948800"/>
          </a:xfrm>
          <a:prstGeom prst="wedgeEllipseCallout">
            <a:avLst>
              <a:gd name="adj1" fmla="val 62108"/>
              <a:gd name="adj2" fmla="val 54894"/>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TextBox 7">
            <a:extLst>
              <a:ext uri="{FF2B5EF4-FFF2-40B4-BE49-F238E27FC236}">
                <a16:creationId xmlns:a16="http://schemas.microsoft.com/office/drawing/2014/main" id="{927CF25C-B230-4488-9AE9-0D0A117C3E6E}"/>
              </a:ext>
            </a:extLst>
          </p:cNvPr>
          <p:cNvSpPr txBox="1"/>
          <p:nvPr/>
        </p:nvSpPr>
        <p:spPr>
          <a:xfrm>
            <a:off x="8602606" y="1233206"/>
            <a:ext cx="1625600" cy="1264642"/>
          </a:xfrm>
          <a:prstGeom prst="rect">
            <a:avLst/>
          </a:prstGeom>
          <a:noFill/>
        </p:spPr>
        <p:txBody>
          <a:bodyPr wrap="square" rtlCol="0" anchor="t">
            <a:spAutoFit/>
          </a:bodyPr>
          <a:lstStyle/>
          <a:p>
            <a:pPr algn="ctr">
              <a:lnSpc>
                <a:spcPct val="107000"/>
              </a:lnSpc>
              <a:spcAft>
                <a:spcPts val="800"/>
              </a:spcAft>
            </a:pPr>
            <a:r>
              <a:rPr lang="en-GB" b="1" i="1" dirty="0">
                <a:latin typeface="Calibri"/>
                <a:ea typeface="Calibri" panose="020F0502020204030204" pitchFamily="34" charset="0"/>
                <a:cs typeface="Times New Roman"/>
              </a:rPr>
              <a:t>"It is not funny to me; it is a racist comment"</a:t>
            </a:r>
            <a:endParaRPr lang="en-GB" b="1" i="1" dirty="0">
              <a:latin typeface="Calibri"/>
              <a:ea typeface="Calibri" panose="020F0502020204030204" pitchFamily="34" charset="0"/>
              <a:cs typeface="Times New Roman" panose="02020603050405020304" pitchFamily="18" charset="0"/>
            </a:endParaRPr>
          </a:p>
        </p:txBody>
      </p:sp>
      <p:sp>
        <p:nvSpPr>
          <p:cNvPr id="9" name="Speech Bubble: Oval 8">
            <a:extLst>
              <a:ext uri="{FF2B5EF4-FFF2-40B4-BE49-F238E27FC236}">
                <a16:creationId xmlns:a16="http://schemas.microsoft.com/office/drawing/2014/main" id="{E38489B5-307E-4F36-8A68-534CF9B7DDC0}"/>
              </a:ext>
            </a:extLst>
          </p:cNvPr>
          <p:cNvSpPr/>
          <p:nvPr/>
        </p:nvSpPr>
        <p:spPr>
          <a:xfrm>
            <a:off x="8363714" y="2740046"/>
            <a:ext cx="2851150" cy="1122981"/>
          </a:xfrm>
          <a:prstGeom prst="wedgeEllipseCallout">
            <a:avLst>
              <a:gd name="adj1" fmla="val 16459"/>
              <a:gd name="adj2" fmla="val 86547"/>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B10055DD-D43B-4FBB-8F06-DF18599C332E}"/>
              </a:ext>
            </a:extLst>
          </p:cNvPr>
          <p:cNvSpPr txBox="1"/>
          <p:nvPr/>
        </p:nvSpPr>
        <p:spPr>
          <a:xfrm>
            <a:off x="8669512" y="2965578"/>
            <a:ext cx="2003183" cy="671915"/>
          </a:xfrm>
          <a:prstGeom prst="rect">
            <a:avLst/>
          </a:prstGeom>
          <a:noFill/>
        </p:spPr>
        <p:txBody>
          <a:bodyPr wrap="square" rtlCol="0" anchor="t">
            <a:spAutoFit/>
          </a:bodyPr>
          <a:lstStyle/>
          <a:p>
            <a:pPr algn="ctr">
              <a:lnSpc>
                <a:spcPct val="107000"/>
              </a:lnSpc>
              <a:spcAft>
                <a:spcPts val="800"/>
              </a:spcAft>
            </a:pPr>
            <a:r>
              <a:rPr lang="en-GB" i="1" dirty="0">
                <a:latin typeface="Calibri"/>
                <a:ea typeface="Calibri" panose="020F0502020204030204" pitchFamily="34" charset="0"/>
                <a:cs typeface="Times New Roman"/>
              </a:rPr>
              <a:t>"</a:t>
            </a:r>
            <a:r>
              <a:rPr lang="en-GB" b="1" i="1" dirty="0">
                <a:latin typeface="Calibri"/>
                <a:ea typeface="Calibri" panose="020F0502020204030204" pitchFamily="34" charset="0"/>
                <a:cs typeface="Times New Roman"/>
              </a:rPr>
              <a:t>Racial jokes are unacceptable"</a:t>
            </a:r>
            <a:endParaRPr lang="en-GB" b="1" i="1" dirty="0">
              <a:latin typeface="Calibri"/>
              <a:ea typeface="Calibri" panose="020F0502020204030204" pitchFamily="34" charset="0"/>
              <a:cs typeface="Times New Roman" panose="02020603050405020304" pitchFamily="18" charset="0"/>
            </a:endParaRPr>
          </a:p>
        </p:txBody>
      </p:sp>
      <p:sp>
        <p:nvSpPr>
          <p:cNvPr id="12" name="Speech Bubble: Oval 11">
            <a:extLst>
              <a:ext uri="{FF2B5EF4-FFF2-40B4-BE49-F238E27FC236}">
                <a16:creationId xmlns:a16="http://schemas.microsoft.com/office/drawing/2014/main" id="{AD6E9B72-EC97-455A-9B36-F1F7502FF06B}"/>
              </a:ext>
            </a:extLst>
          </p:cNvPr>
          <p:cNvSpPr/>
          <p:nvPr/>
        </p:nvSpPr>
        <p:spPr>
          <a:xfrm>
            <a:off x="8341101" y="896563"/>
            <a:ext cx="2159000" cy="1669728"/>
          </a:xfrm>
          <a:prstGeom prst="wedgeEllipseCallout">
            <a:avLst>
              <a:gd name="adj1" fmla="val 53285"/>
              <a:gd name="adj2" fmla="val 51852"/>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Speech Bubble: Oval 12">
            <a:extLst>
              <a:ext uri="{FF2B5EF4-FFF2-40B4-BE49-F238E27FC236}">
                <a16:creationId xmlns:a16="http://schemas.microsoft.com/office/drawing/2014/main" id="{B9FAF394-89EF-4003-B75C-47DAEF70F91A}"/>
              </a:ext>
            </a:extLst>
          </p:cNvPr>
          <p:cNvSpPr/>
          <p:nvPr/>
        </p:nvSpPr>
        <p:spPr>
          <a:xfrm>
            <a:off x="4478787" y="4196363"/>
            <a:ext cx="2726100" cy="1962762"/>
          </a:xfrm>
          <a:prstGeom prst="wedgeEllipseCallout">
            <a:avLst>
              <a:gd name="adj1" fmla="val -59657"/>
              <a:gd name="adj2" fmla="val 63261"/>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Speech Bubble: Oval 13">
            <a:extLst>
              <a:ext uri="{FF2B5EF4-FFF2-40B4-BE49-F238E27FC236}">
                <a16:creationId xmlns:a16="http://schemas.microsoft.com/office/drawing/2014/main" id="{27FCDC33-E288-461C-AF51-7C837B5BF8D8}"/>
              </a:ext>
            </a:extLst>
          </p:cNvPr>
          <p:cNvSpPr/>
          <p:nvPr/>
        </p:nvSpPr>
        <p:spPr>
          <a:xfrm>
            <a:off x="7339625" y="4462256"/>
            <a:ext cx="2726100" cy="1845275"/>
          </a:xfrm>
          <a:prstGeom prst="wedgeEllipseCallout">
            <a:avLst>
              <a:gd name="adj1" fmla="val -44592"/>
              <a:gd name="adj2" fmla="val 52176"/>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C0B6B37D-1929-41CE-8B96-48B0D74A7BB7}"/>
              </a:ext>
            </a:extLst>
          </p:cNvPr>
          <p:cNvSpPr txBox="1"/>
          <p:nvPr/>
        </p:nvSpPr>
        <p:spPr>
          <a:xfrm>
            <a:off x="6410009" y="3214438"/>
            <a:ext cx="1828800" cy="1264642"/>
          </a:xfrm>
          <a:prstGeom prst="rect">
            <a:avLst/>
          </a:prstGeom>
          <a:noFill/>
        </p:spPr>
        <p:txBody>
          <a:bodyPr wrap="square" rtlCol="0" anchor="t">
            <a:spAutoFit/>
          </a:bodyPr>
          <a:lstStyle/>
          <a:p>
            <a:pPr algn="ctr">
              <a:lnSpc>
                <a:spcPct val="107000"/>
              </a:lnSpc>
              <a:spcAft>
                <a:spcPts val="800"/>
              </a:spcAft>
            </a:pPr>
            <a:r>
              <a:rPr lang="en-GB" b="1" i="1" dirty="0">
                <a:latin typeface="Calibri"/>
                <a:ea typeface="Calibri" panose="020F0502020204030204" pitchFamily="34" charset="0"/>
                <a:cs typeface="Times New Roman"/>
              </a:rPr>
              <a:t>"I have no idea if you realise the impact of those words"</a:t>
            </a:r>
            <a:endParaRPr lang="en-GB" b="1" i="1" dirty="0">
              <a:latin typeface="Calibri"/>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3CBF5936-658A-4D9B-B043-57849B858B44}"/>
              </a:ext>
            </a:extLst>
          </p:cNvPr>
          <p:cNvSpPr txBox="1"/>
          <p:nvPr/>
        </p:nvSpPr>
        <p:spPr>
          <a:xfrm>
            <a:off x="4766071" y="4468357"/>
            <a:ext cx="2091099" cy="1477328"/>
          </a:xfrm>
          <a:prstGeom prst="rect">
            <a:avLst/>
          </a:prstGeom>
          <a:noFill/>
        </p:spPr>
        <p:txBody>
          <a:bodyPr wrap="square" rtlCol="0" anchor="t">
            <a:spAutoFit/>
          </a:bodyPr>
          <a:lstStyle/>
          <a:p>
            <a:pPr algn="ctr"/>
            <a:r>
              <a:rPr lang="en-GB" b="1" i="1" dirty="0">
                <a:latin typeface="Calibri"/>
                <a:cs typeface="Times New Roman"/>
              </a:rPr>
              <a:t>That sounds racist to me; if you continue to talk like that, I will have to leave"</a:t>
            </a:r>
            <a:endParaRPr lang="en-US" b="1" dirty="0"/>
          </a:p>
        </p:txBody>
      </p:sp>
      <p:sp>
        <p:nvSpPr>
          <p:cNvPr id="18" name="TextBox 17">
            <a:extLst>
              <a:ext uri="{FF2B5EF4-FFF2-40B4-BE49-F238E27FC236}">
                <a16:creationId xmlns:a16="http://schemas.microsoft.com/office/drawing/2014/main" id="{18EEA495-F964-4BA2-86F6-BE53B1F5A4BD}"/>
              </a:ext>
            </a:extLst>
          </p:cNvPr>
          <p:cNvSpPr txBox="1"/>
          <p:nvPr/>
        </p:nvSpPr>
        <p:spPr>
          <a:xfrm>
            <a:off x="7492171" y="4479080"/>
            <a:ext cx="2440204" cy="1678786"/>
          </a:xfrm>
          <a:prstGeom prst="rect">
            <a:avLst/>
          </a:prstGeom>
          <a:noFill/>
        </p:spPr>
        <p:txBody>
          <a:bodyPr wrap="square" rtlCol="0" anchor="t">
            <a:spAutoFit/>
          </a:bodyPr>
          <a:lstStyle/>
          <a:p>
            <a:pPr>
              <a:lnSpc>
                <a:spcPct val="107000"/>
              </a:lnSpc>
              <a:spcAft>
                <a:spcPts val="800"/>
              </a:spcAft>
            </a:pPr>
            <a:endParaRPr lang="en-GB" i="1"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GB" b="1" i="1" dirty="0">
                <a:latin typeface="Calibri"/>
                <a:cs typeface="Calibri"/>
              </a:rPr>
              <a:t>"We respect all people and do not tolerate those words  or phrases"</a:t>
            </a:r>
            <a:endParaRPr lang="en-GB" b="1" dirty="0">
              <a:latin typeface="Calibri"/>
              <a:cs typeface="Calibri"/>
            </a:endParaRPr>
          </a:p>
        </p:txBody>
      </p:sp>
      <p:sp>
        <p:nvSpPr>
          <p:cNvPr id="19" name="Speech Bubble: Oval 18">
            <a:extLst>
              <a:ext uri="{FF2B5EF4-FFF2-40B4-BE49-F238E27FC236}">
                <a16:creationId xmlns:a16="http://schemas.microsoft.com/office/drawing/2014/main" id="{C1D5E0C4-E3C8-4105-83AA-F35D836B8303}"/>
              </a:ext>
            </a:extLst>
          </p:cNvPr>
          <p:cNvSpPr/>
          <p:nvPr/>
        </p:nvSpPr>
        <p:spPr>
          <a:xfrm>
            <a:off x="6227150" y="906148"/>
            <a:ext cx="2053250" cy="1755490"/>
          </a:xfrm>
          <a:prstGeom prst="wedgeEllipseCallout">
            <a:avLst>
              <a:gd name="adj1" fmla="val -59657"/>
              <a:gd name="adj2" fmla="val 63261"/>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CD1FEBB2-DD6E-45D6-8A94-08CF38AE9CF2}"/>
              </a:ext>
            </a:extLst>
          </p:cNvPr>
          <p:cNvSpPr txBox="1"/>
          <p:nvPr/>
        </p:nvSpPr>
        <p:spPr>
          <a:xfrm>
            <a:off x="6376359" y="1084053"/>
            <a:ext cx="1811203" cy="1264642"/>
          </a:xfrm>
          <a:prstGeom prst="rect">
            <a:avLst/>
          </a:prstGeom>
          <a:noFill/>
        </p:spPr>
        <p:txBody>
          <a:bodyPr wrap="square" rtlCol="0" anchor="t">
            <a:spAutoFit/>
          </a:bodyPr>
          <a:lstStyle/>
          <a:p>
            <a:pPr algn="ctr">
              <a:lnSpc>
                <a:spcPct val="107000"/>
              </a:lnSpc>
              <a:spcAft>
                <a:spcPts val="800"/>
              </a:spcAft>
            </a:pPr>
            <a:r>
              <a:rPr lang="en-GB" b="1" i="1" dirty="0">
                <a:latin typeface="Calibri"/>
                <a:ea typeface="Calibri" panose="020F0502020204030204" pitchFamily="34" charset="0"/>
                <a:cs typeface="Times New Roman"/>
              </a:rPr>
              <a:t>"That comment has made me feel very uncomfortable"</a:t>
            </a:r>
            <a:endParaRPr lang="en-GB" b="1" i="1" dirty="0">
              <a:latin typeface="Calibri"/>
              <a:ea typeface="Calibri" panose="020F0502020204030204" pitchFamily="34" charset="0"/>
              <a:cs typeface="Times New Roman" panose="02020603050405020304" pitchFamily="18" charset="0"/>
            </a:endParaRPr>
          </a:p>
        </p:txBody>
      </p:sp>
      <p:sp>
        <p:nvSpPr>
          <p:cNvPr id="22" name="Content Placeholder 19">
            <a:extLst>
              <a:ext uri="{FF2B5EF4-FFF2-40B4-BE49-F238E27FC236}">
                <a16:creationId xmlns:a16="http://schemas.microsoft.com/office/drawing/2014/main" id="{BABD2F5C-995A-4DA7-BDB3-766B4FC8D0C5}"/>
              </a:ext>
            </a:extLst>
          </p:cNvPr>
          <p:cNvSpPr txBox="1">
            <a:spLocks/>
          </p:cNvSpPr>
          <p:nvPr/>
        </p:nvSpPr>
        <p:spPr>
          <a:xfrm>
            <a:off x="3935315" y="1562385"/>
            <a:ext cx="2506356" cy="2411946"/>
          </a:xfrm>
          <a:prstGeom prst="wedgeEllipseCallout">
            <a:avLst>
              <a:gd name="adj1" fmla="val 48596"/>
              <a:gd name="adj2" fmla="val 59244"/>
            </a:avLst>
          </a:prstGeom>
          <a:noFill/>
          <a:ln w="9525" cap="flat" cmpd="sng" algn="ctr">
            <a:solidFill>
              <a:srgbClr val="FF0000"/>
            </a:solidFill>
            <a:prstDash val="solid"/>
          </a:ln>
          <a:effectLst/>
        </p:spPr>
        <p:style>
          <a:lnRef idx="1">
            <a:schemeClr val="accent1"/>
          </a:lnRef>
          <a:fillRef idx="3">
            <a:schemeClr val="accent1"/>
          </a:fillRef>
          <a:effectRef idx="2">
            <a:schemeClr val="accent1"/>
          </a:effectRef>
          <a:fontRef idx="minor">
            <a:schemeClr val="lt1"/>
          </a:fontRef>
        </p:style>
        <p:txBody>
          <a:bodyPr vert="horz" lIns="0" tIns="0" rIns="0" bIns="0" rtlCol="0" anchor="ctr">
            <a:normAutofit/>
          </a:bodyPr>
          <a:lstStyle>
            <a:lvl1pPr marL="269875"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lt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lt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lt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lt1"/>
                </a:solidFill>
                <a:latin typeface="+mn-lt"/>
                <a:ea typeface="+mn-ea"/>
                <a:cs typeface="+mn-cs"/>
              </a:defRPr>
            </a:lvl9pPr>
          </a:lstStyle>
          <a:p>
            <a:pPr marL="0" indent="0" algn="ctr">
              <a:lnSpc>
                <a:spcPct val="107000"/>
              </a:lnSpc>
              <a:spcAft>
                <a:spcPts val="800"/>
              </a:spcAft>
              <a:buNone/>
            </a:pPr>
            <a:r>
              <a:rPr lang="en-GB" sz="1800" b="1" i="1" dirty="0">
                <a:solidFill>
                  <a:schemeClr val="tx1"/>
                </a:solidFill>
                <a:latin typeface="Calibri"/>
                <a:ea typeface="Calibri" panose="020F0502020204030204" pitchFamily="34" charset="0"/>
                <a:cs typeface="Times New Roman"/>
              </a:rPr>
              <a:t>"I find what you just said offensive, can we talk about it please"</a:t>
            </a:r>
            <a:endParaRPr lang="en-US" b="1" dirty="0">
              <a:solidFill>
                <a:schemeClr val="tx1"/>
              </a:solidFill>
            </a:endParaRPr>
          </a:p>
        </p:txBody>
      </p:sp>
      <p:sp>
        <p:nvSpPr>
          <p:cNvPr id="23" name="Content Placeholder 19">
            <a:extLst>
              <a:ext uri="{FF2B5EF4-FFF2-40B4-BE49-F238E27FC236}">
                <a16:creationId xmlns:a16="http://schemas.microsoft.com/office/drawing/2014/main" id="{621207D7-9AB1-43F5-ADE4-C0BF5720A039}"/>
              </a:ext>
            </a:extLst>
          </p:cNvPr>
          <p:cNvSpPr txBox="1">
            <a:spLocks/>
          </p:cNvSpPr>
          <p:nvPr/>
        </p:nvSpPr>
        <p:spPr>
          <a:xfrm>
            <a:off x="1653741" y="1084054"/>
            <a:ext cx="2281574" cy="2341713"/>
          </a:xfrm>
          <a:prstGeom prst="wedgeEllipseCallout">
            <a:avLst>
              <a:gd name="adj1" fmla="val 48596"/>
              <a:gd name="adj2" fmla="val 59244"/>
            </a:avLst>
          </a:prstGeom>
          <a:noFill/>
          <a:ln w="9525" cap="flat" cmpd="sng" algn="ctr">
            <a:solidFill>
              <a:srgbClr val="FF0000"/>
            </a:solidFill>
            <a:prstDash val="solid"/>
          </a:ln>
          <a:effectLst/>
        </p:spPr>
        <p:style>
          <a:lnRef idx="1">
            <a:schemeClr val="accent1"/>
          </a:lnRef>
          <a:fillRef idx="3">
            <a:schemeClr val="accent1"/>
          </a:fillRef>
          <a:effectRef idx="2">
            <a:schemeClr val="accent1"/>
          </a:effectRef>
          <a:fontRef idx="minor">
            <a:schemeClr val="lt1"/>
          </a:fontRef>
        </p:style>
        <p:txBody>
          <a:bodyPr vert="horz" lIns="0" tIns="0" rIns="0" bIns="0" rtlCol="0" anchor="ctr">
            <a:normAutofit/>
          </a:bodyPr>
          <a:lstStyle>
            <a:lvl1pPr marL="269875"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1pPr>
            <a:lvl2pPr marL="539750"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2pPr>
            <a:lvl3pPr marL="809625"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3pPr>
            <a:lvl4pPr marL="1079500" indent="-269875"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4pPr>
            <a:lvl5pPr marL="1341438" indent="-261938" algn="l" defTabSz="457200" rtl="0" eaLnBrk="1" latinLnBrk="0" hangingPunct="1">
              <a:lnSpc>
                <a:spcPct val="120000"/>
              </a:lnSpc>
              <a:spcBef>
                <a:spcPts val="0"/>
              </a:spcBef>
              <a:buClr>
                <a:srgbClr val="0A2D50"/>
              </a:buClr>
              <a:buFont typeface="Arial"/>
              <a:buChar char="•"/>
              <a:defRPr sz="2000" kern="1200">
                <a:solidFill>
                  <a:schemeClr val="lt1"/>
                </a:solidFill>
                <a:latin typeface="Georgia"/>
                <a:ea typeface="+mn-ea"/>
                <a:cs typeface="Georgia"/>
              </a:defRPr>
            </a:lvl5pPr>
            <a:lvl6pPr marL="2514600" indent="-228600" algn="l" defTabSz="457200" rtl="0" eaLnBrk="1" latinLnBrk="0" hangingPunct="1">
              <a:spcBef>
                <a:spcPct val="20000"/>
              </a:spcBef>
              <a:buFont typeface="Arial"/>
              <a:buChar char="•"/>
              <a:defRPr sz="2000" kern="1200">
                <a:solidFill>
                  <a:schemeClr val="lt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lt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lt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lt1"/>
                </a:solidFill>
                <a:latin typeface="+mn-lt"/>
                <a:ea typeface="+mn-ea"/>
                <a:cs typeface="+mn-cs"/>
              </a:defRPr>
            </a:lvl9pPr>
          </a:lstStyle>
          <a:p>
            <a:pPr marL="0" indent="0" algn="ctr">
              <a:lnSpc>
                <a:spcPct val="107000"/>
              </a:lnSpc>
              <a:spcAft>
                <a:spcPts val="800"/>
              </a:spcAft>
              <a:buNone/>
            </a:pPr>
            <a:r>
              <a:rPr lang="en-GB" sz="1800" b="1" i="1" dirty="0">
                <a:solidFill>
                  <a:schemeClr val="tx1"/>
                </a:solidFill>
                <a:latin typeface="Calibri"/>
                <a:ea typeface="Calibri" panose="020F0502020204030204" pitchFamily="34" charset="0"/>
                <a:cs typeface="Times New Roman"/>
              </a:rPr>
              <a:t>“What do you think he would think if he heard you calling him that"?</a:t>
            </a:r>
            <a:endParaRPr lang="en-US" b="1" dirty="0">
              <a:solidFill>
                <a:schemeClr val="tx1"/>
              </a:solidFill>
            </a:endParaRPr>
          </a:p>
        </p:txBody>
      </p:sp>
      <p:pic>
        <p:nvPicPr>
          <p:cNvPr id="3" name="HowToRespondToSomeoneBeingRacist">
            <a:hlinkClick r:id="" action="ppaction://media"/>
            <a:extLst>
              <a:ext uri="{FF2B5EF4-FFF2-40B4-BE49-F238E27FC236}">
                <a16:creationId xmlns:a16="http://schemas.microsoft.com/office/drawing/2014/main" id="{5B3C20B4-65C7-08B0-8F79-3CF1E3779D0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21791" y="3214438"/>
            <a:ext cx="1942721" cy="3453726"/>
          </a:xfrm>
          <a:prstGeom prst="rect">
            <a:avLst/>
          </a:prstGeom>
        </p:spPr>
      </p:pic>
      <p:pic>
        <p:nvPicPr>
          <p:cNvPr id="4" name="Picture 3">
            <a:extLst>
              <a:ext uri="{FF2B5EF4-FFF2-40B4-BE49-F238E27FC236}">
                <a16:creationId xmlns:a16="http://schemas.microsoft.com/office/drawing/2014/main" id="{7C9A2F1C-45D7-30AD-6830-A46F91B79A26}"/>
              </a:ext>
            </a:extLst>
          </p:cNvPr>
          <p:cNvPicPr>
            <a:picLocks noChangeAspect="1"/>
          </p:cNvPicPr>
          <p:nvPr/>
        </p:nvPicPr>
        <p:blipFill>
          <a:blip r:embed="rId6"/>
          <a:stretch>
            <a:fillRect/>
          </a:stretch>
        </p:blipFill>
        <p:spPr>
          <a:xfrm>
            <a:off x="10614727" y="217117"/>
            <a:ext cx="1402202" cy="1072989"/>
          </a:xfrm>
          <a:prstGeom prst="rect">
            <a:avLst/>
          </a:prstGeom>
        </p:spPr>
      </p:pic>
      <p:pic>
        <p:nvPicPr>
          <p:cNvPr id="6" name="Picture 5">
            <a:extLst>
              <a:ext uri="{FF2B5EF4-FFF2-40B4-BE49-F238E27FC236}">
                <a16:creationId xmlns:a16="http://schemas.microsoft.com/office/drawing/2014/main" id="{A01F3B87-2495-97BB-0810-39861FC8BD2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521123" y="6378284"/>
            <a:ext cx="2280168" cy="274493"/>
          </a:xfrm>
          <a:prstGeom prst="rect">
            <a:avLst/>
          </a:prstGeom>
        </p:spPr>
      </p:pic>
    </p:spTree>
    <p:extLst>
      <p:ext uri="{BB962C8B-B14F-4D97-AF65-F5344CB8AC3E}">
        <p14:creationId xmlns:p14="http://schemas.microsoft.com/office/powerpoint/2010/main" val="182741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651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65A98-9BD2-9D8F-0256-ABB3C47655BE}"/>
              </a:ext>
            </a:extLst>
          </p:cNvPr>
          <p:cNvSpPr>
            <a:spLocks noGrp="1"/>
          </p:cNvSpPr>
          <p:nvPr>
            <p:ph type="title"/>
          </p:nvPr>
        </p:nvSpPr>
        <p:spPr/>
        <p:txBody>
          <a:bodyPr>
            <a:normAutofit fontScale="90000"/>
          </a:bodyPr>
          <a:lstStyle/>
          <a:p>
            <a:r>
              <a:rPr lang="en-GB" dirty="0">
                <a:cs typeface="Calibri"/>
              </a:rPr>
              <a:t>The 5Ds Active Bystander</a:t>
            </a:r>
            <a:endParaRPr lang="en-GB" dirty="0"/>
          </a:p>
        </p:txBody>
      </p:sp>
      <p:graphicFrame>
        <p:nvGraphicFramePr>
          <p:cNvPr id="5" name="Content Placeholder 4">
            <a:extLst>
              <a:ext uri="{FF2B5EF4-FFF2-40B4-BE49-F238E27FC236}">
                <a16:creationId xmlns:a16="http://schemas.microsoft.com/office/drawing/2014/main" id="{34D30387-1126-9362-C221-1B0615C5EE20}"/>
              </a:ext>
            </a:extLst>
          </p:cNvPr>
          <p:cNvGraphicFramePr>
            <a:graphicFrameLocks noGrp="1"/>
          </p:cNvGraphicFramePr>
          <p:nvPr>
            <p:ph idx="1"/>
            <p:extLst>
              <p:ext uri="{D42A27DB-BD31-4B8C-83A1-F6EECF244321}">
                <p14:modId xmlns:p14="http://schemas.microsoft.com/office/powerpoint/2010/main" val="3527483390"/>
              </p:ext>
            </p:extLst>
          </p:nvPr>
        </p:nvGraphicFramePr>
        <p:xfrm>
          <a:off x="238125" y="1600200"/>
          <a:ext cx="11566525"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C0FDEAC-4B70-612B-128A-2EF408893AD9}"/>
              </a:ext>
            </a:extLst>
          </p:cNvPr>
          <p:cNvSpPr>
            <a:spLocks noGrp="1"/>
          </p:cNvSpPr>
          <p:nvPr>
            <p:ph type="sldNum" sz="quarter" idx="12"/>
          </p:nvPr>
        </p:nvSpPr>
        <p:spPr/>
        <p:txBody>
          <a:bodyPr/>
          <a:lstStyle/>
          <a:p>
            <a:fld id="{DBF4E40D-C085-49AA-8AFB-C76DB291F2FC}" type="slidenum">
              <a:rPr lang="en-GB" smtClean="0"/>
              <a:t>20</a:t>
            </a:fld>
            <a:endParaRPr lang="en-GB"/>
          </a:p>
        </p:txBody>
      </p:sp>
      <p:pic>
        <p:nvPicPr>
          <p:cNvPr id="673" name="Picture 672" descr="A colorful map of a person&#10;&#10;Description automatically generated">
            <a:extLst>
              <a:ext uri="{FF2B5EF4-FFF2-40B4-BE49-F238E27FC236}">
                <a16:creationId xmlns:a16="http://schemas.microsoft.com/office/drawing/2014/main" id="{F6B175B2-C9A7-5FBE-3702-09FFC52D7912}"/>
              </a:ext>
            </a:extLst>
          </p:cNvPr>
          <p:cNvPicPr>
            <a:picLocks noChangeAspect="1"/>
          </p:cNvPicPr>
          <p:nvPr/>
        </p:nvPicPr>
        <p:blipFill>
          <a:blip r:embed="rId7"/>
          <a:stretch>
            <a:fillRect/>
          </a:stretch>
        </p:blipFill>
        <p:spPr>
          <a:xfrm>
            <a:off x="10614727" y="217117"/>
            <a:ext cx="1402202" cy="1072989"/>
          </a:xfrm>
          <a:prstGeom prst="rect">
            <a:avLst/>
          </a:prstGeom>
        </p:spPr>
      </p:pic>
    </p:spTree>
    <p:extLst>
      <p:ext uri="{BB962C8B-B14F-4D97-AF65-F5344CB8AC3E}">
        <p14:creationId xmlns:p14="http://schemas.microsoft.com/office/powerpoint/2010/main" val="410839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C4567-0337-0815-E35B-2387CBF43649}"/>
              </a:ext>
            </a:extLst>
          </p:cNvPr>
          <p:cNvSpPr>
            <a:spLocks noGrp="1"/>
          </p:cNvSpPr>
          <p:nvPr>
            <p:ph type="title"/>
          </p:nvPr>
        </p:nvSpPr>
        <p:spPr>
          <a:xfrm>
            <a:off x="174223" y="217141"/>
            <a:ext cx="11566159" cy="505816"/>
          </a:xfrm>
        </p:spPr>
        <p:txBody>
          <a:bodyPr>
            <a:noAutofit/>
          </a:bodyPr>
          <a:lstStyle/>
          <a:p>
            <a:pPr algn="ctr"/>
            <a:r>
              <a:rPr lang="en-GB" sz="3600" dirty="0">
                <a:solidFill>
                  <a:srgbClr val="002060"/>
                </a:solidFill>
              </a:rPr>
              <a:t>Recording and Reporting</a:t>
            </a:r>
          </a:p>
        </p:txBody>
      </p:sp>
      <p:pic>
        <p:nvPicPr>
          <p:cNvPr id="6" name="Content Placeholder 5" descr="Table&#10;&#10;Description automatically generated">
            <a:extLst>
              <a:ext uri="{FF2B5EF4-FFF2-40B4-BE49-F238E27FC236}">
                <a16:creationId xmlns:a16="http://schemas.microsoft.com/office/drawing/2014/main" id="{6173F9A3-6118-76F9-E1FA-B75EBA606DA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771627" y="1142561"/>
            <a:ext cx="8648746" cy="4274965"/>
          </a:xfrm>
          <a:prstGeom prst="rect">
            <a:avLst/>
          </a:prstGeom>
        </p:spPr>
      </p:pic>
      <p:sp>
        <p:nvSpPr>
          <p:cNvPr id="10" name="Content Placeholder 2">
            <a:extLst>
              <a:ext uri="{FF2B5EF4-FFF2-40B4-BE49-F238E27FC236}">
                <a16:creationId xmlns:a16="http://schemas.microsoft.com/office/drawing/2014/main" id="{275004D2-0817-C425-9F6C-A76ECE406CC6}"/>
              </a:ext>
            </a:extLst>
          </p:cNvPr>
          <p:cNvSpPr>
            <a:spLocks noGrp="1"/>
          </p:cNvSpPr>
          <p:nvPr>
            <p:ph sz="half" idx="2"/>
          </p:nvPr>
        </p:nvSpPr>
        <p:spPr>
          <a:xfrm>
            <a:off x="6704204" y="3631979"/>
            <a:ext cx="4612472" cy="2406625"/>
          </a:xfrm>
          <a:solidFill>
            <a:schemeClr val="tx1">
              <a:lumMod val="65000"/>
              <a:lumOff val="35000"/>
            </a:schemeClr>
          </a:solidFill>
        </p:spPr>
        <p:txBody>
          <a:bodyPr vert="horz" lIns="68580" tIns="34290" rIns="68580" bIns="34290" rtlCol="0" anchor="ctr">
            <a:normAutofit/>
          </a:bodyPr>
          <a:lstStyle/>
          <a:p>
            <a:pPr algn="ctr"/>
            <a:r>
              <a:rPr lang="en-US" sz="1800" dirty="0">
                <a:solidFill>
                  <a:srgbClr val="FFFFFF"/>
                </a:solidFill>
                <a:ea typeface="Calibri"/>
                <a:cs typeface="Calibri"/>
              </a:rPr>
              <a:t>1. Seek Support</a:t>
            </a:r>
          </a:p>
          <a:p>
            <a:pPr algn="ctr"/>
            <a:r>
              <a:rPr lang="en-US" sz="1800" dirty="0">
                <a:solidFill>
                  <a:srgbClr val="FFFFFF"/>
                </a:solidFill>
                <a:ea typeface="Calibri"/>
                <a:cs typeface="Calibri"/>
              </a:rPr>
              <a:t>2. Keep a record (factual, dates, who, when, where, what, how you felt)</a:t>
            </a:r>
          </a:p>
          <a:p>
            <a:pPr algn="ctr"/>
            <a:r>
              <a:rPr lang="en-US" sz="1800" dirty="0">
                <a:solidFill>
                  <a:srgbClr val="FFFFFF"/>
                </a:solidFill>
                <a:ea typeface="Calibri"/>
                <a:cs typeface="Calibri"/>
              </a:rPr>
              <a:t>3. Challenge behaviour (If possible, </a:t>
            </a:r>
            <a:r>
              <a:rPr lang="en-US" sz="1800" dirty="0">
                <a:solidFill>
                  <a:schemeClr val="bg1"/>
                </a:solidFill>
                <a:ea typeface="Calibri"/>
                <a:cs typeface="Calibri"/>
                <a:hlinkClick r:id="rId4">
                  <a:extLst>
                    <a:ext uri="{A12FA001-AC4F-418D-AE19-62706E023703}">
                      <ahyp:hlinkClr xmlns:ahyp="http://schemas.microsoft.com/office/drawing/2018/hyperlinkcolor" val="tx"/>
                    </a:ext>
                  </a:extLst>
                </a:hlinkClick>
              </a:rPr>
              <a:t>active bystander</a:t>
            </a:r>
            <a:r>
              <a:rPr lang="en-US" sz="1800" dirty="0">
                <a:solidFill>
                  <a:srgbClr val="FFFFFF"/>
                </a:solidFill>
                <a:ea typeface="Calibri"/>
                <a:cs typeface="Calibri"/>
              </a:rPr>
              <a:t>)</a:t>
            </a:r>
          </a:p>
          <a:p>
            <a:pPr algn="ctr"/>
            <a:r>
              <a:rPr lang="en-US" sz="1800" dirty="0">
                <a:solidFill>
                  <a:srgbClr val="FFFFFF"/>
                </a:solidFill>
                <a:ea typeface="Calibri"/>
                <a:cs typeface="Calibri"/>
              </a:rPr>
              <a:t>4. Report behaviour</a:t>
            </a:r>
          </a:p>
        </p:txBody>
      </p:sp>
      <p:sp>
        <p:nvSpPr>
          <p:cNvPr id="11" name="TextBox 10">
            <a:extLst>
              <a:ext uri="{FF2B5EF4-FFF2-40B4-BE49-F238E27FC236}">
                <a16:creationId xmlns:a16="http://schemas.microsoft.com/office/drawing/2014/main" id="{E938E4A1-8004-6235-3516-191DA6C2706F}"/>
              </a:ext>
            </a:extLst>
          </p:cNvPr>
          <p:cNvSpPr txBox="1"/>
          <p:nvPr/>
        </p:nvSpPr>
        <p:spPr>
          <a:xfrm>
            <a:off x="514327" y="5715439"/>
            <a:ext cx="3096822" cy="646331"/>
          </a:xfrm>
          <a:prstGeom prst="rect">
            <a:avLst/>
          </a:prstGeom>
          <a:noFill/>
        </p:spPr>
        <p:txBody>
          <a:bodyPr wrap="square" rtlCol="0">
            <a:spAutoFit/>
          </a:bodyPr>
          <a:lstStyle/>
          <a:p>
            <a:pPr marL="342900" indent="-342900" algn="ctr">
              <a:buFont typeface="+mj-lt"/>
              <a:buAutoNum type="arabicPeriod"/>
            </a:pPr>
            <a:r>
              <a:rPr lang="en-GB" dirty="0">
                <a:solidFill>
                  <a:srgbClr val="002060"/>
                </a:solidFill>
              </a:rPr>
              <a:t>EDI LEADS</a:t>
            </a:r>
          </a:p>
          <a:p>
            <a:pPr marL="342900" indent="-342900" algn="ctr">
              <a:buFont typeface="+mj-lt"/>
              <a:buAutoNum type="arabicPeriod"/>
            </a:pPr>
            <a:r>
              <a:rPr lang="en-GB" dirty="0">
                <a:solidFill>
                  <a:srgbClr val="002060"/>
                </a:solidFill>
              </a:rPr>
              <a:t>SPEAK UP GUARDIANS</a:t>
            </a:r>
          </a:p>
        </p:txBody>
      </p:sp>
      <p:pic>
        <p:nvPicPr>
          <p:cNvPr id="3" name="Picture 2">
            <a:extLst>
              <a:ext uri="{FF2B5EF4-FFF2-40B4-BE49-F238E27FC236}">
                <a16:creationId xmlns:a16="http://schemas.microsoft.com/office/drawing/2014/main" id="{AFD72C62-9F9B-EAD0-E3BA-5C9A5EF0607A}"/>
              </a:ext>
            </a:extLst>
          </p:cNvPr>
          <p:cNvPicPr>
            <a:picLocks noChangeAspect="1"/>
          </p:cNvPicPr>
          <p:nvPr/>
        </p:nvPicPr>
        <p:blipFill>
          <a:blip r:embed="rId5"/>
          <a:stretch>
            <a:fillRect/>
          </a:stretch>
        </p:blipFill>
        <p:spPr>
          <a:xfrm>
            <a:off x="10507074" y="186462"/>
            <a:ext cx="1402202" cy="1072989"/>
          </a:xfrm>
          <a:prstGeom prst="rect">
            <a:avLst/>
          </a:prstGeom>
        </p:spPr>
      </p:pic>
      <p:pic>
        <p:nvPicPr>
          <p:cNvPr id="4" name="Picture 3">
            <a:extLst>
              <a:ext uri="{FF2B5EF4-FFF2-40B4-BE49-F238E27FC236}">
                <a16:creationId xmlns:a16="http://schemas.microsoft.com/office/drawing/2014/main" id="{DD4AC7E8-949D-899F-8841-724954F58606}"/>
              </a:ext>
            </a:extLst>
          </p:cNvPr>
          <p:cNvPicPr>
            <a:picLocks noChangeAspect="1"/>
          </p:cNvPicPr>
          <p:nvPr/>
        </p:nvPicPr>
        <p:blipFill>
          <a:blip r:embed="rId6"/>
          <a:stretch>
            <a:fillRect/>
          </a:stretch>
        </p:blipFill>
        <p:spPr>
          <a:xfrm>
            <a:off x="9280322" y="6361770"/>
            <a:ext cx="2280102" cy="274344"/>
          </a:xfrm>
          <a:prstGeom prst="rect">
            <a:avLst/>
          </a:prstGeom>
        </p:spPr>
      </p:pic>
    </p:spTree>
    <p:extLst>
      <p:ext uri="{BB962C8B-B14F-4D97-AF65-F5344CB8AC3E}">
        <p14:creationId xmlns:p14="http://schemas.microsoft.com/office/powerpoint/2010/main" val="10168801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BA213-3FB3-79A3-EE09-158DC45BDD50}"/>
              </a:ext>
            </a:extLst>
          </p:cNvPr>
          <p:cNvSpPr>
            <a:spLocks noGrp="1"/>
          </p:cNvSpPr>
          <p:nvPr>
            <p:ph type="title"/>
          </p:nvPr>
        </p:nvSpPr>
        <p:spPr>
          <a:xfrm>
            <a:off x="217086" y="268652"/>
            <a:ext cx="4995707" cy="1181551"/>
          </a:xfrm>
        </p:spPr>
        <p:txBody>
          <a:bodyPr>
            <a:noAutofit/>
          </a:bodyPr>
          <a:lstStyle/>
          <a:p>
            <a:r>
              <a:rPr lang="en-GB" sz="4000" b="1" dirty="0">
                <a:cs typeface="Calibri"/>
              </a:rPr>
              <a:t>The Bottom Line is...</a:t>
            </a:r>
            <a:endParaRPr lang="en-GB" sz="4000" b="1" dirty="0"/>
          </a:p>
        </p:txBody>
      </p:sp>
      <p:pic>
        <p:nvPicPr>
          <p:cNvPr id="6" name="Content Placeholder 5" descr="A screenshot of a computer&#10;&#10;Description automatically generated">
            <a:extLst>
              <a:ext uri="{FF2B5EF4-FFF2-40B4-BE49-F238E27FC236}">
                <a16:creationId xmlns:a16="http://schemas.microsoft.com/office/drawing/2014/main" id="{B4C9A905-46C7-5D9E-0B72-B22036B3A7AF}"/>
              </a:ext>
            </a:extLst>
          </p:cNvPr>
          <p:cNvPicPr>
            <a:picLocks noGrp="1" noChangeAspect="1"/>
          </p:cNvPicPr>
          <p:nvPr>
            <p:ph idx="1"/>
          </p:nvPr>
        </p:nvPicPr>
        <p:blipFill rotWithShape="1">
          <a:blip r:embed="rId3"/>
          <a:srcRect l="-1042" t="12381" r="208" b="-643"/>
          <a:stretch/>
        </p:blipFill>
        <p:spPr>
          <a:xfrm>
            <a:off x="1768391" y="1355787"/>
            <a:ext cx="8391918" cy="4828609"/>
          </a:xfrm>
        </p:spPr>
      </p:pic>
      <p:sp>
        <p:nvSpPr>
          <p:cNvPr id="5" name="Slide Number Placeholder 4">
            <a:extLst>
              <a:ext uri="{FF2B5EF4-FFF2-40B4-BE49-F238E27FC236}">
                <a16:creationId xmlns:a16="http://schemas.microsoft.com/office/drawing/2014/main" id="{26E12705-8655-C4BC-ECAE-4B821FD88DDF}"/>
              </a:ext>
            </a:extLst>
          </p:cNvPr>
          <p:cNvSpPr>
            <a:spLocks noGrp="1"/>
          </p:cNvSpPr>
          <p:nvPr>
            <p:ph type="sldNum" sz="quarter" idx="12"/>
          </p:nvPr>
        </p:nvSpPr>
        <p:spPr/>
        <p:txBody>
          <a:bodyPr/>
          <a:lstStyle/>
          <a:p>
            <a:fld id="{DBF4E40D-C085-49AA-8AFB-C76DB291F2FC}" type="slidenum">
              <a:rPr lang="en-GB" smtClean="0"/>
              <a:t>22</a:t>
            </a:fld>
            <a:endParaRPr lang="en-GB"/>
          </a:p>
        </p:txBody>
      </p:sp>
      <p:pic>
        <p:nvPicPr>
          <p:cNvPr id="8" name="Picture 7" descr="A logo of a person&amp;#39;s head&#10;&#10;Description automatically generated">
            <a:extLst>
              <a:ext uri="{FF2B5EF4-FFF2-40B4-BE49-F238E27FC236}">
                <a16:creationId xmlns:a16="http://schemas.microsoft.com/office/drawing/2014/main" id="{2B450D88-277C-D6AA-6506-5B8C90A2A635}"/>
              </a:ext>
            </a:extLst>
          </p:cNvPr>
          <p:cNvPicPr>
            <a:picLocks noChangeAspect="1"/>
          </p:cNvPicPr>
          <p:nvPr/>
        </p:nvPicPr>
        <p:blipFill>
          <a:blip r:embed="rId4"/>
          <a:stretch>
            <a:fillRect/>
          </a:stretch>
        </p:blipFill>
        <p:spPr>
          <a:xfrm>
            <a:off x="10507074" y="186462"/>
            <a:ext cx="1402202" cy="1072989"/>
          </a:xfrm>
          <a:prstGeom prst="rect">
            <a:avLst/>
          </a:prstGeom>
        </p:spPr>
      </p:pic>
    </p:spTree>
    <p:extLst>
      <p:ext uri="{BB962C8B-B14F-4D97-AF65-F5344CB8AC3E}">
        <p14:creationId xmlns:p14="http://schemas.microsoft.com/office/powerpoint/2010/main" val="1071717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598F7B-2309-45DC-B908-AE0AA149DDA7}"/>
              </a:ext>
            </a:extLst>
          </p:cNvPr>
          <p:cNvPicPr>
            <a:picLocks noChangeAspect="1"/>
          </p:cNvPicPr>
          <p:nvPr/>
        </p:nvPicPr>
        <p:blipFill>
          <a:blip r:embed="rId3"/>
          <a:stretch>
            <a:fillRect/>
          </a:stretch>
        </p:blipFill>
        <p:spPr>
          <a:xfrm>
            <a:off x="10648130" y="1450203"/>
            <a:ext cx="1171636" cy="1118460"/>
          </a:xfrm>
          <a:prstGeom prst="rect">
            <a:avLst/>
          </a:prstGeom>
        </p:spPr>
      </p:pic>
      <p:sp>
        <p:nvSpPr>
          <p:cNvPr id="2" name="Title 1"/>
          <p:cNvSpPr>
            <a:spLocks noGrp="1"/>
          </p:cNvSpPr>
          <p:nvPr>
            <p:ph type="title"/>
          </p:nvPr>
        </p:nvSpPr>
        <p:spPr>
          <a:xfrm>
            <a:off x="312920" y="204042"/>
            <a:ext cx="11566159" cy="861136"/>
          </a:xfrm>
        </p:spPr>
        <p:txBody>
          <a:bodyPr anchor="t">
            <a:noAutofit/>
          </a:bodyPr>
          <a:lstStyle/>
          <a:p>
            <a:pPr algn="ctr"/>
            <a:r>
              <a:rPr lang="en-GB" dirty="0">
                <a:solidFill>
                  <a:srgbClr val="002060"/>
                </a:solidFill>
              </a:rPr>
              <a:t>Glossary</a:t>
            </a:r>
          </a:p>
        </p:txBody>
      </p:sp>
      <p:sp>
        <p:nvSpPr>
          <p:cNvPr id="3" name="Content Placeholder 2"/>
          <p:cNvSpPr>
            <a:spLocks noGrp="1"/>
          </p:cNvSpPr>
          <p:nvPr>
            <p:ph idx="1"/>
          </p:nvPr>
        </p:nvSpPr>
        <p:spPr>
          <a:xfrm>
            <a:off x="312920" y="1089220"/>
            <a:ext cx="10335210" cy="5588780"/>
          </a:xfrm>
        </p:spPr>
        <p:txBody>
          <a:bodyPr>
            <a:normAutofit fontScale="92500" lnSpcReduction="20000"/>
          </a:bodyPr>
          <a:lstStyle/>
          <a:p>
            <a:pPr marL="342900" indent="-342900">
              <a:spcAft>
                <a:spcPts val="600"/>
              </a:spcAft>
              <a:buFont typeface="Arial" panose="020B0604020202020204" pitchFamily="34" charset="0"/>
              <a:buChar char="•"/>
            </a:pPr>
            <a:r>
              <a:rPr lang="en-GB" b="1" dirty="0">
                <a:latin typeface="+mn-lt"/>
              </a:rPr>
              <a:t>Unconscious Bias </a:t>
            </a:r>
            <a:r>
              <a:rPr lang="en-GB" dirty="0">
                <a:latin typeface="+mn-lt"/>
              </a:rPr>
              <a:t>prejudice in favour of or against one thing, person or group compared with another. It can manifest in how we judge and evaluate others, or how we act towards members of different groups. We all have bias and stereotypes we cannot avoid it.</a:t>
            </a:r>
          </a:p>
          <a:p>
            <a:pPr marL="342900" indent="-342900">
              <a:spcAft>
                <a:spcPts val="600"/>
              </a:spcAft>
              <a:buFont typeface="Arial" panose="020B0604020202020204" pitchFamily="34" charset="0"/>
              <a:buChar char="•"/>
            </a:pPr>
            <a:endParaRPr lang="en-GB" dirty="0"/>
          </a:p>
          <a:p>
            <a:pPr marL="342900" indent="-342900">
              <a:spcAft>
                <a:spcPts val="600"/>
              </a:spcAft>
              <a:buFont typeface="Arial" panose="020B0604020202020204" pitchFamily="34" charset="0"/>
              <a:buChar char="•"/>
            </a:pPr>
            <a:r>
              <a:rPr lang="en-GB" b="1" dirty="0"/>
              <a:t>Prejudice </a:t>
            </a:r>
            <a:r>
              <a:rPr lang="en-GB" dirty="0"/>
              <a:t>is pre-judgement about another person based on the social group(s) to which that person belongs. Consists of thoughts and feelings, including stereotypes, attitudes and generalizations that are based on little or no experience and then projected onto everyone from that group.</a:t>
            </a:r>
            <a:endParaRPr lang="en-GB" dirty="0">
              <a:latin typeface="+mn-lt"/>
            </a:endParaRPr>
          </a:p>
          <a:p>
            <a:pPr marL="342900" indent="-342900">
              <a:spcAft>
                <a:spcPts val="600"/>
              </a:spcAft>
              <a:buFont typeface="Arial" panose="020B0604020202020204" pitchFamily="34" charset="0"/>
              <a:buChar char="•"/>
            </a:pPr>
            <a:endParaRPr lang="en-GB" dirty="0">
              <a:latin typeface="+mn-lt"/>
            </a:endParaRPr>
          </a:p>
          <a:p>
            <a:pPr marL="342900" indent="-342900">
              <a:spcAft>
                <a:spcPts val="600"/>
              </a:spcAft>
              <a:buFont typeface="Arial" panose="020B0604020202020204" pitchFamily="34" charset="0"/>
              <a:buChar char="•"/>
            </a:pPr>
            <a:r>
              <a:rPr lang="en-GB" b="1" dirty="0">
                <a:latin typeface="+mn-lt"/>
              </a:rPr>
              <a:t>Discrimination </a:t>
            </a:r>
            <a:r>
              <a:rPr lang="en-GB" dirty="0">
                <a:latin typeface="+mn-lt"/>
              </a:rPr>
              <a:t>is action based on prejudice. These actions include ignoring, exclusion, threats, ridicule, slander and violence. </a:t>
            </a:r>
            <a:r>
              <a:rPr lang="en-GB" dirty="0"/>
              <a:t>Discrimination may be personal maybe internalised racism/misogyny/colourism, interpersonal, When a racial group’s collective prejudice is backed by legal authority and institutional control it is transformed into institutional and structural racism. Racism is a structure, not an event. </a:t>
            </a:r>
            <a:endParaRPr lang="en-GB" dirty="0">
              <a:latin typeface="+mn-lt"/>
            </a:endParaRPr>
          </a:p>
          <a:p>
            <a:pPr marL="342900" indent="-342900">
              <a:spcAft>
                <a:spcPts val="600"/>
              </a:spcAft>
              <a:buFont typeface="Arial" panose="020B0604020202020204" pitchFamily="34" charset="0"/>
              <a:buChar char="•"/>
            </a:pPr>
            <a:endParaRPr lang="en-GB" dirty="0">
              <a:latin typeface="+mn-lt"/>
            </a:endParaRPr>
          </a:p>
          <a:p>
            <a:pPr marL="342900" indent="-342900">
              <a:spcAft>
                <a:spcPts val="600"/>
              </a:spcAft>
              <a:buFont typeface="Arial" panose="020B0604020202020204" pitchFamily="34" charset="0"/>
              <a:buChar char="•"/>
            </a:pPr>
            <a:r>
              <a:rPr lang="en-GB" b="1" dirty="0">
                <a:latin typeface="+mn-lt"/>
              </a:rPr>
              <a:t>Micro aggressions </a:t>
            </a:r>
            <a:r>
              <a:rPr lang="en-GB" dirty="0">
                <a:latin typeface="+mn-lt"/>
              </a:rPr>
              <a:t>have been defined as brief and common daily verbal, behavioural, and environmental communications, whether intentional or unintentional, that transmit hostile, derogatory, or negative messages to a target person because they belong to a stigmatized group. Can result in </a:t>
            </a:r>
            <a:r>
              <a:rPr lang="en-GB" b="1" dirty="0">
                <a:latin typeface="+mn-lt"/>
              </a:rPr>
              <a:t>othering</a:t>
            </a:r>
            <a:r>
              <a:rPr lang="en-GB" dirty="0">
                <a:latin typeface="+mn-lt"/>
              </a:rPr>
              <a:t>, a sense of not belonging. </a:t>
            </a:r>
          </a:p>
          <a:p>
            <a:pPr>
              <a:spcAft>
                <a:spcPts val="600"/>
              </a:spcAft>
            </a:pPr>
            <a:endParaRPr lang="en-GB" dirty="0">
              <a:latin typeface="+mn-lt"/>
            </a:endParaRPr>
          </a:p>
          <a:p>
            <a:pPr>
              <a:spcAft>
                <a:spcPts val="600"/>
              </a:spcAft>
            </a:pPr>
            <a:endParaRPr lang="en-GB" b="1" dirty="0">
              <a:latin typeface="+mn-lt"/>
            </a:endParaRPr>
          </a:p>
          <a:p>
            <a:pPr>
              <a:spcAft>
                <a:spcPts val="600"/>
              </a:spcAft>
            </a:pPr>
            <a:endParaRPr lang="en-GB" dirty="0"/>
          </a:p>
        </p:txBody>
      </p:sp>
      <p:pic>
        <p:nvPicPr>
          <p:cNvPr id="4" name="Picture 3">
            <a:extLst>
              <a:ext uri="{FF2B5EF4-FFF2-40B4-BE49-F238E27FC236}">
                <a16:creationId xmlns:a16="http://schemas.microsoft.com/office/drawing/2014/main" id="{B57359DA-B5F9-0EB2-04BE-82D37C7813DB}"/>
              </a:ext>
            </a:extLst>
          </p:cNvPr>
          <p:cNvPicPr>
            <a:picLocks noChangeAspect="1"/>
          </p:cNvPicPr>
          <p:nvPr/>
        </p:nvPicPr>
        <p:blipFill>
          <a:blip r:embed="rId4"/>
          <a:stretch>
            <a:fillRect/>
          </a:stretch>
        </p:blipFill>
        <p:spPr>
          <a:xfrm>
            <a:off x="10417564" y="124306"/>
            <a:ext cx="1402202" cy="1072989"/>
          </a:xfrm>
          <a:prstGeom prst="rect">
            <a:avLst/>
          </a:prstGeom>
        </p:spPr>
      </p:pic>
      <p:pic>
        <p:nvPicPr>
          <p:cNvPr id="5" name="Picture 4">
            <a:extLst>
              <a:ext uri="{FF2B5EF4-FFF2-40B4-BE49-F238E27FC236}">
                <a16:creationId xmlns:a16="http://schemas.microsoft.com/office/drawing/2014/main" id="{DB25695A-352C-D65D-9717-EBF4ECC8B6E1}"/>
              </a:ext>
            </a:extLst>
          </p:cNvPr>
          <p:cNvPicPr>
            <a:picLocks noChangeAspect="1"/>
          </p:cNvPicPr>
          <p:nvPr/>
        </p:nvPicPr>
        <p:blipFill>
          <a:blip r:embed="rId5"/>
          <a:stretch>
            <a:fillRect/>
          </a:stretch>
        </p:blipFill>
        <p:spPr>
          <a:xfrm>
            <a:off x="9508079" y="6379614"/>
            <a:ext cx="2280102" cy="274344"/>
          </a:xfrm>
          <a:prstGeom prst="rect">
            <a:avLst/>
          </a:prstGeom>
        </p:spPr>
      </p:pic>
    </p:spTree>
    <p:extLst>
      <p:ext uri="{BB962C8B-B14F-4D97-AF65-F5344CB8AC3E}">
        <p14:creationId xmlns:p14="http://schemas.microsoft.com/office/powerpoint/2010/main" val="3101978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0E471-88F3-C9A4-5239-CEA25BDFFA89}"/>
              </a:ext>
            </a:extLst>
          </p:cNvPr>
          <p:cNvSpPr>
            <a:spLocks noGrp="1"/>
          </p:cNvSpPr>
          <p:nvPr>
            <p:ph type="title"/>
          </p:nvPr>
        </p:nvSpPr>
        <p:spPr>
          <a:xfrm>
            <a:off x="369485" y="1224951"/>
            <a:ext cx="5059072" cy="1940328"/>
          </a:xfrm>
        </p:spPr>
        <p:txBody>
          <a:bodyPr anchor="t">
            <a:normAutofit fontScale="90000"/>
          </a:bodyPr>
          <a:lstStyle/>
          <a:p>
            <a:pPr algn="ctr">
              <a:lnSpc>
                <a:spcPct val="90000"/>
              </a:lnSpc>
            </a:pPr>
            <a:r>
              <a:rPr lang="en-GB" sz="3600" dirty="0">
                <a:latin typeface="+mn-lt"/>
              </a:rPr>
              <a:t>It is not enough not to discriminate - we need to be anti-discriminatory, anti-racist and allies</a:t>
            </a:r>
            <a:br>
              <a:rPr lang="en-GB" sz="3600" dirty="0">
                <a:latin typeface="+mn-lt"/>
              </a:rPr>
            </a:br>
            <a:r>
              <a:rPr lang="en-GB" sz="3600" dirty="0"/>
              <a:t> </a:t>
            </a:r>
          </a:p>
        </p:txBody>
      </p:sp>
      <p:pic>
        <p:nvPicPr>
          <p:cNvPr id="5" name="Content Placeholder 4">
            <a:extLst>
              <a:ext uri="{FF2B5EF4-FFF2-40B4-BE49-F238E27FC236}">
                <a16:creationId xmlns:a16="http://schemas.microsoft.com/office/drawing/2014/main" id="{7C461E54-96A5-05D8-69BE-B9A56B137EED}"/>
              </a:ext>
            </a:extLst>
          </p:cNvPr>
          <p:cNvPicPr>
            <a:picLocks noGrp="1" noChangeAspect="1"/>
          </p:cNvPicPr>
          <p:nvPr>
            <p:ph sz="half" idx="2"/>
          </p:nvPr>
        </p:nvPicPr>
        <p:blipFill>
          <a:blip r:embed="rId3"/>
          <a:stretch>
            <a:fillRect/>
          </a:stretch>
        </p:blipFill>
        <p:spPr>
          <a:xfrm>
            <a:off x="3570584" y="0"/>
            <a:ext cx="8621416" cy="6858000"/>
          </a:xfrm>
          <a:prstGeom prst="rect">
            <a:avLst/>
          </a:prstGeom>
        </p:spPr>
      </p:pic>
      <p:sp>
        <p:nvSpPr>
          <p:cNvPr id="10" name="Slide Number Placeholder 3">
            <a:extLst>
              <a:ext uri="{FF2B5EF4-FFF2-40B4-BE49-F238E27FC236}">
                <a16:creationId xmlns:a16="http://schemas.microsoft.com/office/drawing/2014/main" id="{8713B72F-6450-D8F0-CFB3-8A1568D6B576}"/>
              </a:ext>
            </a:extLst>
          </p:cNvPr>
          <p:cNvSpPr>
            <a:spLocks noGrp="1"/>
          </p:cNvSpPr>
          <p:nvPr>
            <p:ph type="sldNum" sz="quarter" idx="12"/>
          </p:nvPr>
        </p:nvSpPr>
        <p:spPr>
          <a:xfrm>
            <a:off x="8737600" y="6356351"/>
            <a:ext cx="2844800" cy="365125"/>
          </a:xfrm>
        </p:spPr>
        <p:txBody>
          <a:bodyPr anchor="ctr">
            <a:normAutofit/>
          </a:bodyPr>
          <a:lstStyle/>
          <a:p>
            <a:pPr>
              <a:spcAft>
                <a:spcPts val="600"/>
              </a:spcAft>
            </a:pPr>
            <a:fld id="{DBF4E40D-C085-49AA-8AFB-C76DB291F2FC}" type="slidenum">
              <a:rPr lang="en-GB" smtClean="0"/>
              <a:pPr>
                <a:spcAft>
                  <a:spcPts val="600"/>
                </a:spcAft>
              </a:pPr>
              <a:t>24</a:t>
            </a:fld>
            <a:endParaRPr lang="en-GB"/>
          </a:p>
        </p:txBody>
      </p:sp>
      <p:pic>
        <p:nvPicPr>
          <p:cNvPr id="7" name="Picture 6">
            <a:extLst>
              <a:ext uri="{FF2B5EF4-FFF2-40B4-BE49-F238E27FC236}">
                <a16:creationId xmlns:a16="http://schemas.microsoft.com/office/drawing/2014/main" id="{1FC5B037-B8F9-C229-9607-DF87A3263806}"/>
              </a:ext>
            </a:extLst>
          </p:cNvPr>
          <p:cNvPicPr>
            <a:picLocks noChangeAspect="1"/>
          </p:cNvPicPr>
          <p:nvPr/>
        </p:nvPicPr>
        <p:blipFill>
          <a:blip r:embed="rId4">
            <a:extLst>
              <a:ext uri="{28A0092B-C50C-407E-A947-70E740481C1C}">
                <a14:useLocalDpi xmlns:a14="http://schemas.microsoft.com/office/drawing/2010/main" val="0"/>
              </a:ext>
            </a:extLst>
          </a:blip>
          <a:srcRect t="1459" b="1459"/>
          <a:stretch/>
        </p:blipFill>
        <p:spPr>
          <a:xfrm>
            <a:off x="5580957" y="431474"/>
            <a:ext cx="6333893" cy="6134217"/>
          </a:xfrm>
          <a:prstGeom prst="rect">
            <a:avLst/>
          </a:prstGeom>
        </p:spPr>
      </p:pic>
      <p:sp>
        <p:nvSpPr>
          <p:cNvPr id="3" name="Title 1">
            <a:extLst>
              <a:ext uri="{FF2B5EF4-FFF2-40B4-BE49-F238E27FC236}">
                <a16:creationId xmlns:a16="http://schemas.microsoft.com/office/drawing/2014/main" id="{065CB4AC-AB63-556F-C87F-4B881A1D8C47}"/>
              </a:ext>
            </a:extLst>
          </p:cNvPr>
          <p:cNvSpPr txBox="1">
            <a:spLocks/>
          </p:cNvSpPr>
          <p:nvPr/>
        </p:nvSpPr>
        <p:spPr>
          <a:xfrm>
            <a:off x="217086" y="381887"/>
            <a:ext cx="5363871" cy="653283"/>
          </a:xfrm>
          <a:prstGeom prst="rect">
            <a:avLst/>
          </a:prstGeom>
        </p:spPr>
        <p:txBody>
          <a:bodyPr vert="horz" lIns="0" tIns="45720" rIns="91440" bIns="45720" rtlCol="0" anchor="b" anchorCtr="0">
            <a:noAutofit/>
          </a:bodyPr>
          <a:lstStyle>
            <a:lvl1pPr algn="ctr" defTabSz="914400" rtl="0" eaLnBrk="1" latinLnBrk="0" hangingPunct="1">
              <a:spcBef>
                <a:spcPct val="0"/>
              </a:spcBef>
              <a:buNone/>
              <a:defRPr sz="4400" kern="1200" spc="-100">
                <a:solidFill>
                  <a:schemeClr val="tx1"/>
                </a:solidFill>
                <a:latin typeface="+mj-lt"/>
                <a:ea typeface="+mj-ea"/>
                <a:cs typeface="+mj-cs"/>
              </a:defRPr>
            </a:lvl1pPr>
          </a:lstStyle>
          <a:p>
            <a:r>
              <a:rPr lang="en-GB" sz="4000" spc="-67" dirty="0">
                <a:solidFill>
                  <a:schemeClr val="accent1"/>
                </a:solidFill>
                <a:latin typeface="Calibri"/>
                <a:ea typeface="Calibri"/>
                <a:cs typeface="Calibri"/>
                <a:hlinkClick r:id="rId5"/>
              </a:rPr>
              <a:t>Summary &amp; Evaluation</a:t>
            </a:r>
            <a:endParaRPr lang="en-GB" sz="4000" spc="-67" dirty="0">
              <a:solidFill>
                <a:schemeClr val="accent1"/>
              </a:solidFill>
              <a:latin typeface="Calibri"/>
              <a:ea typeface="Calibri"/>
              <a:cs typeface="Calibri"/>
            </a:endParaRPr>
          </a:p>
        </p:txBody>
      </p:sp>
      <p:pic>
        <p:nvPicPr>
          <p:cNvPr id="4" name="Picture 3">
            <a:extLst>
              <a:ext uri="{FF2B5EF4-FFF2-40B4-BE49-F238E27FC236}">
                <a16:creationId xmlns:a16="http://schemas.microsoft.com/office/drawing/2014/main" id="{7D8B131E-3230-421F-007A-FEEC4617B623}"/>
              </a:ext>
            </a:extLst>
          </p:cNvPr>
          <p:cNvPicPr>
            <a:picLocks noChangeAspect="1"/>
          </p:cNvPicPr>
          <p:nvPr/>
        </p:nvPicPr>
        <p:blipFill>
          <a:blip r:embed="rId6"/>
          <a:stretch>
            <a:fillRect/>
          </a:stretch>
        </p:blipFill>
        <p:spPr>
          <a:xfrm>
            <a:off x="1321985" y="3322943"/>
            <a:ext cx="3339002" cy="3339002"/>
          </a:xfrm>
          <a:prstGeom prst="rect">
            <a:avLst/>
          </a:prstGeom>
        </p:spPr>
      </p:pic>
    </p:spTree>
    <p:extLst>
      <p:ext uri="{BB962C8B-B14F-4D97-AF65-F5344CB8AC3E}">
        <p14:creationId xmlns:p14="http://schemas.microsoft.com/office/powerpoint/2010/main" val="3985194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Icon&#10;&#10;Description automatically generated with medium confidence">
            <a:extLst>
              <a:ext uri="{FF2B5EF4-FFF2-40B4-BE49-F238E27FC236}">
                <a16:creationId xmlns:a16="http://schemas.microsoft.com/office/drawing/2014/main" id="{BB499FD1-F56A-184D-9290-4855E7BA1F52}"/>
              </a:ext>
            </a:extLst>
          </p:cNvPr>
          <p:cNvPicPr>
            <a:picLocks noChangeAspect="1"/>
          </p:cNvPicPr>
          <p:nvPr/>
        </p:nvPicPr>
        <p:blipFill rotWithShape="1">
          <a:blip r:embed="rId3" cstate="print">
            <a:alphaModFix amt="30000"/>
            <a:extLst>
              <a:ext uri="{28A0092B-C50C-407E-A947-70E740481C1C}">
                <a14:useLocalDpi xmlns:a14="http://schemas.microsoft.com/office/drawing/2010/main" val="0"/>
              </a:ext>
            </a:extLst>
          </a:blip>
          <a:srcRect l="-2" t="29943" r="24125" b="10349"/>
          <a:stretch/>
        </p:blipFill>
        <p:spPr>
          <a:xfrm>
            <a:off x="3394894" y="1"/>
            <a:ext cx="8797105" cy="68580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C1B9B20E-B891-F34B-B43C-B26393403B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08188" y="319537"/>
            <a:ext cx="1401811" cy="1068316"/>
          </a:xfrm>
          <a:prstGeom prst="rect">
            <a:avLst/>
          </a:prstGeom>
        </p:spPr>
      </p:pic>
      <p:cxnSp>
        <p:nvCxnSpPr>
          <p:cNvPr id="28" name="Straight Connector 27">
            <a:extLst>
              <a:ext uri="{FF2B5EF4-FFF2-40B4-BE49-F238E27FC236}">
                <a16:creationId xmlns:a16="http://schemas.microsoft.com/office/drawing/2014/main" id="{7F733BDC-CB12-0A4A-BD85-550B057B2EB3}"/>
              </a:ext>
            </a:extLst>
          </p:cNvPr>
          <p:cNvCxnSpPr>
            <a:cxnSpLocks/>
          </p:cNvCxnSpPr>
          <p:nvPr/>
        </p:nvCxnSpPr>
        <p:spPr>
          <a:xfrm flipH="1">
            <a:off x="335361" y="6165165"/>
            <a:ext cx="7369163"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87BC5969-61AE-2540-BD05-1A80D2BA7AFB}"/>
              </a:ext>
            </a:extLst>
          </p:cNvPr>
          <p:cNvSpPr txBox="1">
            <a:spLocks/>
          </p:cNvSpPr>
          <p:nvPr/>
        </p:nvSpPr>
        <p:spPr>
          <a:xfrm>
            <a:off x="335360" y="760129"/>
            <a:ext cx="9630275" cy="1272143"/>
          </a:xfrm>
          <a:prstGeom prst="rect">
            <a:avLst/>
          </a:prstGeom>
        </p:spPr>
        <p:txBody>
          <a:bodyPr vert="horz" lIns="0" tIns="45720" rIns="91440" bIns="4572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pPr>
            <a:endParaRPr lang="en-GB" sz="4250" b="1">
              <a:solidFill>
                <a:schemeClr val="accent1"/>
              </a:solidFill>
              <a:latin typeface="Calibri" panose="020F0502020204030204" pitchFamily="34" charset="0"/>
              <a:ea typeface="Calibri" panose="020F0502020204030204" pitchFamily="34" charset="0"/>
              <a:cs typeface="Calibri"/>
            </a:endParaRPr>
          </a:p>
        </p:txBody>
      </p:sp>
      <p:sp>
        <p:nvSpPr>
          <p:cNvPr id="12" name="TextBox 11">
            <a:extLst>
              <a:ext uri="{FF2B5EF4-FFF2-40B4-BE49-F238E27FC236}">
                <a16:creationId xmlns:a16="http://schemas.microsoft.com/office/drawing/2014/main" id="{9C25FC5D-C61B-F044-BC2C-AE609283E8AB}"/>
              </a:ext>
            </a:extLst>
          </p:cNvPr>
          <p:cNvSpPr txBox="1"/>
          <p:nvPr/>
        </p:nvSpPr>
        <p:spPr>
          <a:xfrm>
            <a:off x="335361" y="3251285"/>
            <a:ext cx="4981991" cy="502766"/>
          </a:xfrm>
          <a:prstGeom prst="rect">
            <a:avLst/>
          </a:prstGeom>
          <a:noFill/>
        </p:spPr>
        <p:txBody>
          <a:bodyPr wrap="square" lIns="0" tIns="45720" rIns="91440" bIns="45720" numCol="1" spcCol="144000" rtlCol="0" anchor="t">
            <a:spAutoFit/>
          </a:bodyPr>
          <a:lstStyle/>
          <a:p>
            <a:endParaRPr lang="en-US" sz="2667" b="1">
              <a:solidFill>
                <a:srgbClr val="000000"/>
              </a:solidFill>
              <a:latin typeface="Calibri" panose="020F0502020204030204" pitchFamily="34" charset="0"/>
              <a:ea typeface="Calibri" panose="020F0502020204030204" pitchFamily="34" charset="0"/>
              <a:cs typeface="Calibri"/>
            </a:endParaRPr>
          </a:p>
        </p:txBody>
      </p:sp>
      <p:sp>
        <p:nvSpPr>
          <p:cNvPr id="2" name="Title 1">
            <a:extLst>
              <a:ext uri="{FF2B5EF4-FFF2-40B4-BE49-F238E27FC236}">
                <a16:creationId xmlns:a16="http://schemas.microsoft.com/office/drawing/2014/main" id="{F0576D86-06B5-1F7A-D0A8-3F4E52BD67EF}"/>
              </a:ext>
            </a:extLst>
          </p:cNvPr>
          <p:cNvSpPr>
            <a:spLocks noGrp="1"/>
          </p:cNvSpPr>
          <p:nvPr>
            <p:ph type="title"/>
          </p:nvPr>
        </p:nvSpPr>
        <p:spPr>
          <a:xfrm>
            <a:off x="216051" y="731836"/>
            <a:ext cx="11566159" cy="505816"/>
          </a:xfrm>
        </p:spPr>
        <p:txBody>
          <a:bodyPr>
            <a:normAutofit fontScale="90000"/>
          </a:bodyPr>
          <a:lstStyle/>
          <a:p>
            <a:pPr algn="ctr"/>
            <a:r>
              <a:rPr lang="en-GB" sz="4000" dirty="0"/>
              <a:t>Further Reading and Resources</a:t>
            </a:r>
            <a:endParaRPr lang="en-GB" dirty="0"/>
          </a:p>
        </p:txBody>
      </p:sp>
      <p:sp>
        <p:nvSpPr>
          <p:cNvPr id="11" name="Content Placeholder 10">
            <a:extLst>
              <a:ext uri="{FF2B5EF4-FFF2-40B4-BE49-F238E27FC236}">
                <a16:creationId xmlns:a16="http://schemas.microsoft.com/office/drawing/2014/main" id="{682D500A-C6FE-0981-3A0A-ABF2ECBE7B4E}"/>
              </a:ext>
            </a:extLst>
          </p:cNvPr>
          <p:cNvSpPr>
            <a:spLocks noGrp="1"/>
          </p:cNvSpPr>
          <p:nvPr>
            <p:ph idx="1"/>
          </p:nvPr>
        </p:nvSpPr>
        <p:spPr/>
        <p:txBody>
          <a:bodyPr vert="horz" lIns="91440" tIns="45720" rIns="91440" bIns="45720" rtlCol="0" anchor="t">
            <a:normAutofit fontScale="92500" lnSpcReduction="20000"/>
          </a:bodyPr>
          <a:lstStyle/>
          <a:p>
            <a:pPr marL="457200" indent="-457200">
              <a:spcBef>
                <a:spcPts val="1800"/>
              </a:spcBef>
              <a:buFont typeface="+mj-lt"/>
              <a:buAutoNum type="arabicPeriod"/>
            </a:pPr>
            <a:r>
              <a:rPr lang="en-GB" sz="2000" dirty="0">
                <a:effectLst/>
                <a:ea typeface="Calibri" panose="020F0502020204030204" pitchFamily="34" charset="0"/>
                <a:cs typeface="Times New Roman"/>
              </a:rPr>
              <a:t>Burnham, J. (2013). Developments in Social GGRRAAACCEEESSS: visible-invisible, voiced-unvoiced. In I. Krause (Ed.), Cultural Reflexivity. London: </a:t>
            </a:r>
            <a:r>
              <a:rPr lang="en-GB" sz="2000" err="1">
                <a:effectLst/>
                <a:ea typeface="Calibri" panose="020F0502020204030204" pitchFamily="34" charset="0"/>
                <a:cs typeface="Times New Roman"/>
              </a:rPr>
              <a:t>Karnac</a:t>
            </a:r>
            <a:endParaRPr lang="en-GB" sz="2000">
              <a:effectLst/>
              <a:ea typeface="Calibri" panose="020F0502020204030204" pitchFamily="34" charset="0"/>
              <a:cs typeface="Times New Roman"/>
            </a:endParaRPr>
          </a:p>
          <a:p>
            <a:pPr marL="457200" indent="-457200">
              <a:spcBef>
                <a:spcPts val="1800"/>
              </a:spcBef>
              <a:buFont typeface="+mj-lt"/>
              <a:buAutoNum type="arabicPeriod"/>
            </a:pPr>
            <a:r>
              <a:rPr lang="en-GB" sz="2000" dirty="0">
                <a:effectLst/>
                <a:ea typeface="Calibri" panose="020F0502020204030204" pitchFamily="34" charset="0"/>
                <a:cs typeface="Times New Roman" panose="02020603050405020304" pitchFamily="18" charset="0"/>
              </a:rPr>
              <a:t>Podcast on </a:t>
            </a:r>
            <a:r>
              <a:rPr lang="en-GB" sz="2000" dirty="0">
                <a:effectLst/>
                <a:ea typeface="Calibri" panose="020F0502020204030204" pitchFamily="34" charset="0"/>
                <a:cs typeface="Times New Roman" panose="02020603050405020304" pitchFamily="18" charset="0"/>
                <a:hlinkClick r:id="rId5"/>
              </a:rPr>
              <a:t>Racial Discrimination in Primary Care </a:t>
            </a:r>
            <a:r>
              <a:rPr lang="en-GB" sz="2000" dirty="0">
                <a:effectLst/>
                <a:ea typeface="Calibri" panose="020F0502020204030204" pitchFamily="34" charset="0"/>
                <a:cs typeface="Times New Roman" panose="02020603050405020304" pitchFamily="18" charset="0"/>
              </a:rPr>
              <a:t>with the WRES Team and Munir Adams</a:t>
            </a:r>
          </a:p>
          <a:p>
            <a:pPr marL="457200" indent="-457200">
              <a:spcBef>
                <a:spcPts val="1800"/>
              </a:spcBef>
              <a:buFont typeface="+mj-lt"/>
              <a:buAutoNum type="arabicPeriod"/>
            </a:pPr>
            <a:r>
              <a:rPr lang="en-GB" sz="2000" dirty="0">
                <a:hlinkClick r:id="rId6"/>
              </a:rPr>
              <a:t>https://www.gmc-uk.org/education/standards-guidance-and-curricula/projects/differential-attainment</a:t>
            </a:r>
            <a:endParaRPr lang="en-GB" sz="2000" dirty="0"/>
          </a:p>
          <a:p>
            <a:pPr marL="457200" indent="-457200">
              <a:spcBef>
                <a:spcPts val="1800"/>
              </a:spcBef>
              <a:buFont typeface="+mj-lt"/>
              <a:buAutoNum type="arabicPeriod"/>
            </a:pPr>
            <a:r>
              <a:rPr lang="en-GB" sz="2000" dirty="0"/>
              <a:t>Woolf Katherine, Potts Henry W </a:t>
            </a:r>
            <a:r>
              <a:rPr lang="en-GB" sz="2000" err="1"/>
              <a:t>W</a:t>
            </a:r>
            <a:r>
              <a:rPr lang="en-GB" sz="2000" dirty="0"/>
              <a:t>, McManus I C. Ethnicity and academic performance in UK trained doctors and medical students: systematic review and meta-analysis </a:t>
            </a:r>
            <a:r>
              <a:rPr lang="en-GB" sz="2000" i="1" dirty="0"/>
              <a:t>BMJ </a:t>
            </a:r>
            <a:r>
              <a:rPr lang="en-GB" sz="2000" dirty="0"/>
              <a:t>2011; 342 :d901</a:t>
            </a:r>
          </a:p>
          <a:p>
            <a:pPr marL="457200" indent="-457200">
              <a:spcBef>
                <a:spcPts val="1800"/>
              </a:spcBef>
              <a:buFont typeface="+mj-lt"/>
              <a:buAutoNum type="arabicPeriod"/>
            </a:pPr>
            <a:r>
              <a:rPr lang="en-GB" sz="2000" dirty="0">
                <a:cs typeface="Arial"/>
              </a:rPr>
              <a:t>J</a:t>
            </a:r>
            <a:r>
              <a:rPr lang="en-GB" sz="2000" dirty="0"/>
              <a:t>ones, Alana C.; Nichols, Alana C. JD, MD; McNicholas, Carmel M. PhD; Stanford, Fatima C. MD, MPH, MPA Admissions Is Not Enough, Academic Medicine: November 3, 2020 - Volume Publish Ahead of Print - Issue - </a:t>
            </a:r>
            <a:r>
              <a:rPr lang="en-GB" sz="2000" err="1"/>
              <a:t>doi</a:t>
            </a:r>
            <a:r>
              <a:rPr lang="en-GB" sz="2000" dirty="0"/>
              <a:t>: 10.1097/ACM.0000000000003837</a:t>
            </a:r>
          </a:p>
          <a:p>
            <a:pPr marL="457200" indent="-457200">
              <a:spcBef>
                <a:spcPts val="1800"/>
              </a:spcBef>
              <a:buFont typeface="+mj-lt"/>
              <a:buAutoNum type="arabicPeriod"/>
            </a:pPr>
            <a:r>
              <a:rPr lang="en-GB" sz="2000" dirty="0"/>
              <a:t>Follow Racial Equity Insights and Blair Imani on Instagram also the author of Read This to Get Smarter About Race, Class, Gender, Disability &amp; More</a:t>
            </a:r>
          </a:p>
          <a:p>
            <a:pPr marL="457200" indent="-457200">
              <a:spcBef>
                <a:spcPts val="1800"/>
              </a:spcBef>
              <a:buAutoNum type="arabicPeriod"/>
            </a:pPr>
            <a:r>
              <a:rPr lang="en-GB" sz="2000" dirty="0">
                <a:solidFill>
                  <a:srgbClr val="000000"/>
                </a:solidFill>
                <a:cs typeface="Calibri"/>
                <a:hlinkClick r:id="rId7"/>
              </a:rPr>
              <a:t>Allyship</a:t>
            </a:r>
            <a:r>
              <a:rPr lang="en-GB" sz="2000">
                <a:solidFill>
                  <a:srgbClr val="000000"/>
                </a:solidFill>
                <a:cs typeface="Calibri"/>
              </a:rPr>
              <a:t> RCGP E-Learning Module (30mins) - you don't need to be a member to access this </a:t>
            </a:r>
          </a:p>
          <a:p>
            <a:pPr marL="0" indent="0"/>
            <a:endParaRPr lang="en-GB" sz="2000" dirty="0">
              <a:solidFill>
                <a:schemeClr val="accent1">
                  <a:lumMod val="50000"/>
                </a:schemeClr>
              </a:solidFill>
              <a:cs typeface="Calibri"/>
            </a:endParaRPr>
          </a:p>
        </p:txBody>
      </p:sp>
    </p:spTree>
    <p:extLst>
      <p:ext uri="{BB962C8B-B14F-4D97-AF65-F5344CB8AC3E}">
        <p14:creationId xmlns:p14="http://schemas.microsoft.com/office/powerpoint/2010/main" val="1088186236"/>
      </p:ext>
    </p:extLst>
  </p:cSld>
  <p:clrMapOvr>
    <a:masterClrMapping/>
  </p:clrMapOvr>
</p:sld>
</file>

<file path=ppt/theme/theme1.xml><?xml version="1.0" encoding="utf-8"?>
<a:theme xmlns:a="http://schemas.openxmlformats.org/drawingml/2006/main" name="NHSP theme 1a">
  <a:themeElements>
    <a:clrScheme name="hub3">
      <a:dk1>
        <a:srgbClr val="000000"/>
      </a:dk1>
      <a:lt1>
        <a:srgbClr val="FFFFFF"/>
      </a:lt1>
      <a:dk2>
        <a:srgbClr val="445055"/>
      </a:dk2>
      <a:lt2>
        <a:srgbClr val="969C9D"/>
      </a:lt2>
      <a:accent1>
        <a:srgbClr val="2B1B9F"/>
      </a:accent1>
      <a:accent2>
        <a:srgbClr val="EE7203"/>
      </a:accent2>
      <a:accent3>
        <a:srgbClr val="831F82"/>
      </a:accent3>
      <a:accent4>
        <a:srgbClr val="E5BC00"/>
      </a:accent4>
      <a:accent5>
        <a:srgbClr val="86BC25"/>
      </a:accent5>
      <a:accent6>
        <a:srgbClr val="CB170F"/>
      </a:accent6>
      <a:hlink>
        <a:srgbClr val="2B1B9F"/>
      </a:hlink>
      <a:folHlink>
        <a:srgbClr val="87989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CLhub template X6" id="{5C2B42FD-12DD-D04C-A5D9-F3ADD659C888}" vid="{1151C1E6-03F7-6E4A-990A-C615BC8394BA}"/>
    </a:ext>
  </a:extLst>
</a:theme>
</file>

<file path=ppt/theme/theme2.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9fbcfc72-ee3a-41c1-b2b0-e231e5781bcf" xsi:nil="true"/>
    <_ip_UnifiedCompliancePolicyProperties xmlns="http://schemas.microsoft.com/sharepoint/v3" xsi:nil="true"/>
    <lcf76f155ced4ddcb4097134ff3c332f xmlns="7d173de7-ad61-46d3-908c-4d55cffddb8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DD089B721C7FD45A215B71F9D673B17" ma:contentTypeVersion="19" ma:contentTypeDescription="Create a new document." ma:contentTypeScope="" ma:versionID="6758a3098af213a5391e0284cf7bbdaf">
  <xsd:schema xmlns:xsd="http://www.w3.org/2001/XMLSchema" xmlns:xs="http://www.w3.org/2001/XMLSchema" xmlns:p="http://schemas.microsoft.com/office/2006/metadata/properties" xmlns:ns1="http://schemas.microsoft.com/sharepoint/v3" xmlns:ns2="7d173de7-ad61-46d3-908c-4d55cffddb81" xmlns:ns3="9fbcfc72-ee3a-41c1-b2b0-e231e5781bcf" targetNamespace="http://schemas.microsoft.com/office/2006/metadata/properties" ma:root="true" ma:fieldsID="2a336ce0cbb7533ecfe8111f3ab95ea4" ns1:_="" ns2:_="" ns3:_="">
    <xsd:import namespace="http://schemas.microsoft.com/sharepoint/v3"/>
    <xsd:import namespace="7d173de7-ad61-46d3-908c-4d55cffddb81"/>
    <xsd:import namespace="9fbcfc72-ee3a-41c1-b2b0-e231e5781bc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173de7-ad61-46d3-908c-4d55cffddb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MediaServiceLocation" ma:index="22" nillable="true" ma:displayName="Location" ma:internalName="MediaServiceLocation" ma:readOnly="true">
      <xsd:simpleType>
        <xsd:restriction base="dms:Text"/>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c8d5fda-b97d-42c6-97e2-f76465e161c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bcfc72-ee3a-41c1-b2b0-e231e5781bcf"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52068aa2-809f-41fd-b7c3-2ca5fd45f5d2}" ma:internalName="TaxCatchAll" ma:showField="CatchAllData" ma:web="9fbcfc72-ee3a-41c1-b2b0-e231e5781b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18FE96-C364-4E96-B12A-1CDFE433BD79}">
  <ds:schemaRefs>
    <ds:schemaRef ds:uri="7d173de7-ad61-46d3-908c-4d55cffddb81"/>
    <ds:schemaRef ds:uri="9fbcfc72-ee3a-41c1-b2b0-e231e5781bcf"/>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FDD4F0D5-6E74-4276-9A94-7011B825A90F}">
  <ds:schemaRefs>
    <ds:schemaRef ds:uri="http://schemas.microsoft.com/sharepoint/v3/contenttype/forms"/>
  </ds:schemaRefs>
</ds:datastoreItem>
</file>

<file path=customXml/itemProps3.xml><?xml version="1.0" encoding="utf-8"?>
<ds:datastoreItem xmlns:ds="http://schemas.openxmlformats.org/officeDocument/2006/customXml" ds:itemID="{81B0E3C6-B3F0-48FF-9BB3-E90AE9790D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d173de7-ad61-46d3-908c-4d55cffddb81"/>
    <ds:schemaRef ds:uri="9fbcfc72-ee3a-41c1-b2b0-e231e5781b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549</TotalTime>
  <Words>2940</Words>
  <Application>Microsoft Office PowerPoint</Application>
  <PresentationFormat>Widescreen</PresentationFormat>
  <Paragraphs>265</Paragraphs>
  <Slides>25</Slides>
  <Notes>24</Notes>
  <HiddenSlides>2</HiddenSlides>
  <MMClips>1</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NHSP theme 1a</vt:lpstr>
      <vt:lpstr>PowerPoint Presentation</vt:lpstr>
      <vt:lpstr>PowerPoint Presentation</vt:lpstr>
      <vt:lpstr>PowerPoint Presentation</vt:lpstr>
      <vt:lpstr>PowerPoint Presentation</vt:lpstr>
      <vt:lpstr>Racism in Healthcare</vt:lpstr>
      <vt:lpstr>PowerPoint Presentation</vt:lpstr>
      <vt:lpstr>Glossary</vt:lpstr>
      <vt:lpstr>Intersectionality</vt:lpstr>
      <vt:lpstr>Intersectionality - Exercise 1</vt:lpstr>
      <vt:lpstr>Intersectionality - Exercise 1</vt:lpstr>
      <vt:lpstr>Sexual Orientation and Gender Identity    </vt:lpstr>
      <vt:lpstr>Active Inclusions – Challenging Exclusions    </vt:lpstr>
      <vt:lpstr>What is Differential Attainment?</vt:lpstr>
      <vt:lpstr>GMC Report Tacking Disadvantage in Medical Education – Postgraduate Outcomes by Ethnicity </vt:lpstr>
      <vt:lpstr>Improve the learning environment </vt:lpstr>
      <vt:lpstr>Exercise 2 – Let’s work through some scenarios</vt:lpstr>
      <vt:lpstr>Scenarios and Speaking Up</vt:lpstr>
      <vt:lpstr>How would you respond to this?</vt:lpstr>
      <vt:lpstr>Finding the right words and phrases</vt:lpstr>
      <vt:lpstr>The 5Ds Active Bystander</vt:lpstr>
      <vt:lpstr>Recording and Reporting</vt:lpstr>
      <vt:lpstr>The Bottom Line is...</vt:lpstr>
      <vt:lpstr>Glossary</vt:lpstr>
      <vt:lpstr>It is not enough not to discriminate - we need to be anti-discriminatory, anti-racist and allies  </vt:lpstr>
      <vt:lpstr>Further Reading and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Rini Paul</dc:creator>
  <cp:lastModifiedBy>Rini Paul</cp:lastModifiedBy>
  <cp:revision>163</cp:revision>
  <dcterms:created xsi:type="dcterms:W3CDTF">2022-11-27T19:19:51Z</dcterms:created>
  <dcterms:modified xsi:type="dcterms:W3CDTF">2023-09-15T08:42:55Z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0x0101007DD089B721C7FD45A215B71F9D673B17</vt:lpwstr>
  </property>
  <property fmtid="{D5CDD505-2E9C-101B-9397-08002B2CF9AE}" pid="3" name="MediaServiceImageTags">
    <vt:lpwstr/>
  </property>
</Properties>
</file>