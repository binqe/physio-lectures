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303" r:id="rId5"/>
    <p:sldId id="302" r:id="rId6"/>
    <p:sldId id="271" r:id="rId7"/>
    <p:sldId id="290" r:id="rId8"/>
    <p:sldId id="293" r:id="rId9"/>
    <p:sldId id="294" r:id="rId10"/>
    <p:sldId id="295" r:id="rId11"/>
    <p:sldId id="296" r:id="rId12"/>
    <p:sldId id="297" r:id="rId13"/>
    <p:sldId id="285" r:id="rId14"/>
    <p:sldId id="262" r:id="rId15"/>
    <p:sldId id="258" r:id="rId16"/>
    <p:sldId id="260" r:id="rId17"/>
    <p:sldId id="263" r:id="rId18"/>
    <p:sldId id="264" r:id="rId19"/>
    <p:sldId id="265" r:id="rId20"/>
    <p:sldId id="266" r:id="rId21"/>
    <p:sldId id="270" r:id="rId22"/>
    <p:sldId id="267" r:id="rId23"/>
    <p:sldId id="269" r:id="rId24"/>
    <p:sldId id="299" r:id="rId25"/>
    <p:sldId id="298" r:id="rId26"/>
    <p:sldId id="300" r:id="rId27"/>
    <p:sldId id="301" r:id="rId28"/>
    <p:sldId id="261" r:id="rId29"/>
    <p:sldId id="26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370F4-D108-4E11-8384-B22C97C0B537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393F8-4283-43B8-A4E0-14CF0DAA80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96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584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959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45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EB9-52DE-4C71-A2B7-5AD213234AA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32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EB9-52DE-4C71-A2B7-5AD213234AA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09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05EB9-52DE-4C71-A2B7-5AD213234AA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993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90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913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982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686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158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554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424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041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977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33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121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334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213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393F8-4283-43B8-A4E0-14CF0DAA801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375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AE0E-3E95-D142-8F04-86F4D38A3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F00A3-C85C-15B8-2D3A-6B1FBB851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D94D1-5488-920D-A215-F6C21D81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ABD6F-823D-C5D0-061D-322AE701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FAC41-9CDD-E374-06DA-B7204012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23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3AE2-AE41-8899-C6A1-A3E19FEB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E1BF-D585-0742-F811-CEBC52BDE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0DFF1-1514-54DA-68ED-CD25144B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8D4CD-AD3E-4CC4-B343-005D85EC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4A4F2-F637-D0CA-FE36-F755C8F9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90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DF53-AA7D-0B03-F793-F2943A07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CCAEA-DC8A-4B09-BF6C-0F663E10F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E8AF8-C723-A63C-B6C7-87392E3F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C16D3-01BB-D64A-66EB-5729758B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05A4-95F6-D318-5E92-BED499D0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5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274B-882A-CF0F-8C01-7F056102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C7357-73A3-70DB-3928-73A505C3A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1E285-400E-2676-6189-B37181E3B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4A9AB-E6BF-E52C-731C-38FF1329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0CC0A-8490-B60A-414D-E17FB066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DCBE2-DB14-047A-2C38-A599DF31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71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2793-1EFE-2502-F4E1-9BCA4B9A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D5BA-7026-27C2-D480-47E73283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EA18-D97B-D6D1-4BFE-1C98EC843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AE63E-3CDF-E414-933E-563C940E6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0B93B-2F24-88E3-A54A-C6FC9D9E1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9A115-1062-7244-B6E0-DE84954D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1D7775-C03B-3DEB-4105-AA859D7F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878A7-6593-BCA5-11C4-AAA86CB4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26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5621-FEA8-EEAC-6F63-A8F9140C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FDC63-B14C-3F54-1D5E-6BE9FC3F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5C94F-522B-F36D-50D3-44739A08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94D58-6EB4-58B4-A1C5-E2D19628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63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C2F385-8C94-C06F-F6AF-9D7C0F37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68AF0-1F79-C05A-8D15-01F2550A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EA416-56A9-1169-B61C-8BCACC4B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58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6BDC5-FD63-4BF6-2E05-AF29AFBE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46068-667A-85E2-9114-1DBF00246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90EDD-1080-7A02-8709-E6595C234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3C683-A72D-B7F6-89E4-415507FF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A1060-3E0C-ABC5-CC1D-0FDB895F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AF199-64CB-535F-BE9C-7CE18441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97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CC37-5D8A-72EC-5AA4-2822D07B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5DDB4-03EA-5C0A-1717-FF1E45FF6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5085C-8139-F0DF-5027-F90247297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6366D-8193-7606-F422-A96E8640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7249C-BFCA-8C66-7B62-95B2F1C10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717A5-F5EA-8A7F-E061-A07E9F8F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6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3048-405A-9E21-52F9-F633CBCB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15052-9C13-ED3D-6EBF-E2F96280E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9752F-3AD4-4E5B-7214-B4B77AB9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164DA-50C9-50A7-21DA-D82AC076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9E86A-E11E-E095-33E9-EA37AF66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9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7EAD1-B192-62E5-C2A9-19D8DA667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DE481-E242-3700-BB41-E6FF1EBF8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9FBF3-2525-4330-EA85-5CB40C2D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5BA9A-1363-85C2-D4E7-B8EE778D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D79A0-0779-4D95-634C-B9735AB1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76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A5462-1166-EF1F-7E32-7CA5051F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C3E27-FE37-C076-94DE-42EF399B1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1BA24-ABE2-2127-10BF-87DC5F132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DDC5A-E887-4707-BD9D-A77BD0A4662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41DCC-6104-AC63-C5AF-C85AEAD9D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7473C-1D38-B18B-0059-AA306D73D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B4A6F-1A9B-4C66-9539-4DBA906C96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31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nsmc.com/resources/showcase/change4lif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BnLC4ti8cA&amp;t=12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nhs.uk/healthier-families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archive.nationalarchives.gov.uk/ukgwa/20130104160351/http:/responsibilitydeal.dh.gov.uk/2011/12/20/food-pledge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publications/tackling-obesity-government-strategy/tackling-obesity-empowering-adults-and-children-to-live-healthier-lives" TargetMode="External"/><Relationship Id="rId7" Type="http://schemas.openxmlformats.org/officeDocument/2006/relationships/hyperlink" Target="https://www.bbc.co.uk/news/articles/cq5y2vzlyld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v.uk/government/publications/restricting-advertising-of-less-healthy-food-or-drink-on-tv-and-online-products-in-scope/restricting-advertising-of-less-healthy-food-or-drink-on-tv-and-online-products-in-scope" TargetMode="External"/><Relationship Id="rId5" Type="http://schemas.openxmlformats.org/officeDocument/2006/relationships/hyperlink" Target="https://www.legislation.gov.uk/uksi/2021/1368/introduction" TargetMode="External"/><Relationship Id="rId4" Type="http://schemas.openxmlformats.org/officeDocument/2006/relationships/hyperlink" Target="https://www.legislation.gov.uk/uksi/2021/909/introduction/mad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speeches/the-kings-speech-202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ov.uk/government/consultations/banning-the-sale-of-high-caffeine-energy-drinks-to-children/banning-the-sale-of-high-caffeine-energy-drinks-to-children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ssets.publishing.service.gov.uk/media/5a7f7cc3ed915d74e622ac2a/SACN_Carbohydrates_and_Health.pdf" TargetMode="External"/><Relationship Id="rId7" Type="http://schemas.openxmlformats.org/officeDocument/2006/relationships/hyperlink" Target="https://assets.publishing.service.gov.uk/media/5b0294f1ed915d539354c67e/Sugar_reduction_juice_and_milk_based_drinks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ssets.publishing.service.gov.uk/media/5a82e02740f0b62305b94cea/Sugar_reduction_achieving_the_20_.pdf" TargetMode="External"/><Relationship Id="rId5" Type="http://schemas.openxmlformats.org/officeDocument/2006/relationships/hyperlink" Target="https://assets.publishing.service.gov.uk/media/5a80d8a5e5274a2e87dbc24e/Childhood_obesity_2016__2__acc.pdf" TargetMode="External"/><Relationship Id="rId4" Type="http://schemas.openxmlformats.org/officeDocument/2006/relationships/hyperlink" Target="https://assets.publishing.service.gov.uk/media/5a7f928c40f0b623026904b7/Sugar_reduction_The_evidence_for_action.pd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ssets.publishing.service.gov.uk/media/5a80d8a5e5274a2e87dbc24e/Childhood_obesity_2016__2__acc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hyperlink" Target="https://assets.publishing.service.gov.uk/media/5f560e4de90e0709942be6dd/Calorie_reduction_guidelines-Technical_report_070920-FINAL.pdf" TargetMode="External"/><Relationship Id="rId4" Type="http://schemas.openxmlformats.org/officeDocument/2006/relationships/hyperlink" Target="https://assets.publishing.service.gov.uk/media/5cd414fc40f0b6604ae7d35b/Calories_Evidence_Document.pd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publications/soft-drinks-industry-levy/soft-drinks-industry-lev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ov.uk/government/consultations/strengthening-the-soft-drinks-industry-levy/outcome/strengthening-the-soft-drinks-industry-levy-summary-of-response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and.nhs.uk/ourwork/prevention/obesity/digital-weight-management-programme/" TargetMode="External"/><Relationship Id="rId7" Type="http://schemas.openxmlformats.org/officeDocument/2006/relationships/hyperlink" Target="https://www.nhs.uk/better-health/lose-weight/#downloa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hs.uk/healthier-families/food-facts/nhs-food-scanner-app/" TargetMode="External"/><Relationship Id="rId5" Type="http://schemas.openxmlformats.org/officeDocument/2006/relationships/hyperlink" Target="https://www.nhs.uk/better-health/get-active/get-running-with-couch-to-5k/" TargetMode="External"/><Relationship Id="rId4" Type="http://schemas.openxmlformats.org/officeDocument/2006/relationships/hyperlink" Target="https://preventing-diabetes.co.uk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ks.nice.org.uk/topics/obesity/prescribing-information/orlistat/" TargetMode="External"/><Relationship Id="rId7" Type="http://schemas.openxmlformats.org/officeDocument/2006/relationships/hyperlink" Target="https://bnf.nice.org.uk/drugs/liraglutide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ks.nice.org.uk/topics/obesity/prescribing-information/tirzepatide/" TargetMode="External"/><Relationship Id="rId5" Type="http://schemas.openxmlformats.org/officeDocument/2006/relationships/hyperlink" Target="https://www.nice.org.uk/guidance/ta1026/chapter/1-Recommendations" TargetMode="External"/><Relationship Id="rId4" Type="http://schemas.openxmlformats.org/officeDocument/2006/relationships/hyperlink" Target="https://www.nice.org.uk/guidance/ta875/chapter/1-Recommendations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news/mhra-urges-public-to-avoid-illegal-online-weight-loss-medicines-this-new-year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briefings.files.parliament.uk/documents/CBP-9049/CBP-9049.pdf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osf.io/preprints/osf/j6b8p_v1" TargetMode="External"/><Relationship Id="rId4" Type="http://schemas.openxmlformats.org/officeDocument/2006/relationships/hyperlink" Target="https://assets.publishing.service.gov.uk/media/5a7baa68e5274a7318b9020a/dh_130488.pdf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publications/calorie-reduction-programme-industry-progress-2017-to-2021/calorie-reduction-programme-industry-progress-2017-to-2021" TargetMode="External"/><Relationship Id="rId7" Type="http://schemas.openxmlformats.org/officeDocument/2006/relationships/hyperlink" Target="https://assets.publishing.service.gov.uk/media/5a7b8811ed915d4147620fb2/07-1177-obesity-system-atlas.pdf" TargetMode="External"/><Relationship Id="rId2" Type="http://schemas.openxmlformats.org/officeDocument/2006/relationships/hyperlink" Target="https://osf.io/preprints/osf/3xjtv_v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mmonslibrary.parliament.uk/research-briefings/sn03336/" TargetMode="External"/><Relationship Id="rId5" Type="http://schemas.openxmlformats.org/officeDocument/2006/relationships/hyperlink" Target="https://doi.org/10.1136/bmjnph-2023-000714" TargetMode="External"/><Relationship Id="rId4" Type="http://schemas.openxmlformats.org/officeDocument/2006/relationships/hyperlink" Target="https://assets.publishing.service.gov.uk/media/6388cd71d3bf7f328c0ded27/Sugar-reduction-and-reformulation-progress-report-2015-to-202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0266-CF1A-7DFF-B767-6F6F619D3A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health approaches &amp; implications in weight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E916F-C7CE-7698-FBA8-0F8277A2B4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NU.DT 5079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Dr Hilda Mulrooney</a:t>
            </a:r>
          </a:p>
        </p:txBody>
      </p:sp>
    </p:spTree>
    <p:extLst>
      <p:ext uri="{BB962C8B-B14F-4D97-AF65-F5344CB8AC3E}">
        <p14:creationId xmlns:p14="http://schemas.microsoft.com/office/powerpoint/2010/main" val="183884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913FC8-E4E7-2849-36D9-CA4F47F0CD56}"/>
              </a:ext>
            </a:extLst>
          </p:cNvPr>
          <p:cNvSpPr txBox="1"/>
          <p:nvPr/>
        </p:nvSpPr>
        <p:spPr>
          <a:xfrm>
            <a:off x="948775" y="749395"/>
            <a:ext cx="99827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What we will cover: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u="sng" dirty="0"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why approaches to weight management are needed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u="sng" dirty="0">
                <a:latin typeface="Arial" panose="020B0604020202020204" pitchFamily="34" charset="0"/>
                <a:cs typeface="Arial" panose="020B0604020202020204" pitchFamily="34" charset="0"/>
              </a:rPr>
              <a:t>Consideration of different approaches: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Education &amp; social movement (e.g. Change4Life)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Partnership (e.g. Responsibility Deal)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Regulation (e.g. SDIL, marketing, advertising)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Reformulation (e.g. sugar, calories)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Medication </a:t>
            </a:r>
          </a:p>
        </p:txBody>
      </p:sp>
    </p:spTree>
    <p:extLst>
      <p:ext uri="{BB962C8B-B14F-4D97-AF65-F5344CB8AC3E}">
        <p14:creationId xmlns:p14="http://schemas.microsoft.com/office/powerpoint/2010/main" val="400224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4C4110-660D-5D1C-F04D-1E8F84D8FB3F}"/>
              </a:ext>
            </a:extLst>
          </p:cNvPr>
          <p:cNvSpPr txBox="1"/>
          <p:nvPr/>
        </p:nvSpPr>
        <p:spPr>
          <a:xfrm>
            <a:off x="1168782" y="123754"/>
            <a:ext cx="9645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Context: adults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4CC30-462E-71AF-6F43-0AFD240CB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57" y="899113"/>
            <a:ext cx="6607836" cy="25298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39669F-A39E-50B1-09D9-87946A68F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021" y="3749910"/>
            <a:ext cx="6304278" cy="27717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BC53AC-5873-9264-2089-16D9093A9C11}"/>
              </a:ext>
            </a:extLst>
          </p:cNvPr>
          <p:cNvSpPr txBox="1"/>
          <p:nvPr/>
        </p:nvSpPr>
        <p:spPr>
          <a:xfrm>
            <a:off x="621260" y="5728054"/>
            <a:ext cx="4700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Stiebahl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, 2025)</a:t>
            </a:r>
          </a:p>
        </p:txBody>
      </p:sp>
    </p:spTree>
    <p:extLst>
      <p:ext uri="{BB962C8B-B14F-4D97-AF65-F5344CB8AC3E}">
        <p14:creationId xmlns:p14="http://schemas.microsoft.com/office/powerpoint/2010/main" val="2993960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1215B4-5549-1C8F-FE6D-A9BF2CF5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5" y="798765"/>
            <a:ext cx="7669762" cy="30159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4B3F3A-49A7-A8DB-1EC0-0B6A11ABE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904005"/>
            <a:ext cx="5922889" cy="28302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1754C5-000B-0030-04B9-4C84DEF55270}"/>
              </a:ext>
            </a:extLst>
          </p:cNvPr>
          <p:cNvSpPr txBox="1"/>
          <p:nvPr/>
        </p:nvSpPr>
        <p:spPr>
          <a:xfrm>
            <a:off x="1168782" y="123754"/>
            <a:ext cx="9645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Context: children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504AD-0113-7BB8-DF1B-014087124078}"/>
              </a:ext>
            </a:extLst>
          </p:cNvPr>
          <p:cNvSpPr txBox="1"/>
          <p:nvPr/>
        </p:nvSpPr>
        <p:spPr>
          <a:xfrm>
            <a:off x="600635" y="5135765"/>
            <a:ext cx="4700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Stiebahl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, 2025)</a:t>
            </a:r>
          </a:p>
        </p:txBody>
      </p:sp>
    </p:spTree>
    <p:extLst>
      <p:ext uri="{BB962C8B-B14F-4D97-AF65-F5344CB8AC3E}">
        <p14:creationId xmlns:p14="http://schemas.microsoft.com/office/powerpoint/2010/main" val="4087953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317AE-D50C-7277-9E4A-0AE4C614D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897" y="293843"/>
            <a:ext cx="7987194" cy="5571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EE4D64-5D7A-5064-1508-F64DE7120BEA}"/>
              </a:ext>
            </a:extLst>
          </p:cNvPr>
          <p:cNvSpPr txBox="1"/>
          <p:nvPr/>
        </p:nvSpPr>
        <p:spPr>
          <a:xfrm>
            <a:off x="7234517" y="6102492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(Vandenbroeck et al, 2007)</a:t>
            </a:r>
          </a:p>
        </p:txBody>
      </p:sp>
    </p:spTree>
    <p:extLst>
      <p:ext uri="{BB962C8B-B14F-4D97-AF65-F5344CB8AC3E}">
        <p14:creationId xmlns:p14="http://schemas.microsoft.com/office/powerpoint/2010/main" val="216339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F55E-B62D-456A-AA23-6F05891B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2510E-6F30-4A71-9E7B-3F92F8F8A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607654"/>
            <a:ext cx="10909300" cy="510479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First ever social marketing campaign to ↓ obesity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A society-wide movement that aims to prevent people from becoming overweight by encouraging then to eat better and move more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”; launched 2009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Annual campaigns and subsidiary campaigns e.g.:</a:t>
            </a:r>
          </a:p>
          <a:p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Swap when you shop app</a:t>
            </a:r>
          </a:p>
          <a:p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10-minute shake up app</a:t>
            </a:r>
          </a:p>
          <a:p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Be Food Smart</a:t>
            </a:r>
          </a:p>
          <a:p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Sugar Smart 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https://www.thensmc.com/resources/showcase/change4life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The Change4Life brand logo. | Download Scientific Diagram">
            <a:extLst>
              <a:ext uri="{FF2B5EF4-FFF2-40B4-BE49-F238E27FC236}">
                <a16:creationId xmlns:a16="http://schemas.microsoft.com/office/drawing/2014/main" id="{7671FE8A-FC4E-F258-2DD9-0F3604040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1999" y="145554"/>
            <a:ext cx="2371725" cy="146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89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8 ways to Change4Life poster | Change4life | Pinterest">
            <a:extLst>
              <a:ext uri="{FF2B5EF4-FFF2-40B4-BE49-F238E27FC236}">
                <a16:creationId xmlns:a16="http://schemas.microsoft.com/office/drawing/2014/main" id="{745D8C26-6A04-C0D6-196E-C76271AC3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13" y="0"/>
            <a:ext cx="4751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9A9283-F502-A40E-437C-5B4DEC69D9F8}"/>
              </a:ext>
            </a:extLst>
          </p:cNvPr>
          <p:cNvSpPr txBox="1"/>
          <p:nvPr/>
        </p:nvSpPr>
        <p:spPr>
          <a:xfrm>
            <a:off x="254000" y="1659285"/>
            <a:ext cx="6680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Reframe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the issue - raise awareness of weight &amp; associated health issues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Personalise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the issue - weight gain may be an issue for “MY” family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Root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behaviours – 8 desired behaviours (children)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Inspire change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support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people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77DB9E-B44A-DA47-E5A9-AE62F3B5C18C}"/>
              </a:ext>
            </a:extLst>
          </p:cNvPr>
          <p:cNvSpPr txBox="1"/>
          <p:nvPr/>
        </p:nvSpPr>
        <p:spPr>
          <a:xfrm>
            <a:off x="723900" y="685800"/>
            <a:ext cx="591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386292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47C6-AB76-EFA1-4B29-B7AEED01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032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b="1" i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of Change4Life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278C9-2171-E0F1-5444-21413F195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271590"/>
            <a:ext cx="5664200" cy="528161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Target: parents of children aged 5-11 years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3"/>
              </a:rPr>
              <a:t>https://www.youtube.com/watch?v=zBnLC4ti8cA&amp;t=12s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Y2: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Start4Life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sister brand to promote healthy habits from birth</a:t>
            </a:r>
          </a:p>
          <a:p>
            <a:pPr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Target audience now includes adults</a:t>
            </a:r>
          </a:p>
          <a:p>
            <a:pPr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 </a:t>
            </a:r>
            <a:r>
              <a:rPr lang="en-GB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Health, Better Families </a:t>
            </a:r>
            <a:r>
              <a:rPr lang="en-GB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https://www.nhs.uk/healthier-families/</a:t>
            </a:r>
            <a:endParaRPr lang="en-GB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7DE12-DF33-72C6-FD0F-5C0F05688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8900" y="1271590"/>
            <a:ext cx="5753100" cy="52816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u="sng" dirty="0">
                <a:latin typeface="Arial" panose="020B0604020202020204" pitchFamily="34" charset="0"/>
                <a:cs typeface="Arial" panose="020B0604020202020204" pitchFamily="34" charset="0"/>
              </a:rPr>
              <a:t>Cost:  </a:t>
            </a:r>
          </a:p>
          <a:p>
            <a:pPr lvl="1"/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Originally £75 million over 3 years but annual budget cut to £10.9 million</a:t>
            </a:r>
          </a:p>
          <a:p>
            <a:pPr marL="0" indent="0">
              <a:buNone/>
            </a:pPr>
            <a:r>
              <a:rPr lang="en-GB" b="1" u="sng" dirty="0">
                <a:latin typeface="Arial" panose="020B0604020202020204" pitchFamily="34" charset="0"/>
                <a:cs typeface="Arial" panose="020B0604020202020204" pitchFamily="34" charset="0"/>
              </a:rPr>
              <a:t>Partners: </a:t>
            </a:r>
          </a:p>
          <a:p>
            <a:pPr lvl="1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NGOs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:  CRUK, Diabetes UK, BHF</a:t>
            </a:r>
          </a:p>
          <a:p>
            <a:pPr lvl="1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Commercial: 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Tesco, Asda, PepsiCo, 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Kelloggs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Media: 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ITV</a:t>
            </a:r>
          </a:p>
          <a:p>
            <a:pPr lvl="1"/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Industrial groups: 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Association of Convenience stores and fitness industry association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8607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1877B-867C-482C-9A4E-81F0E3577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88" y="1386243"/>
            <a:ext cx="5393457" cy="823912"/>
          </a:xfrm>
        </p:spPr>
        <p:txBody>
          <a:bodyPr>
            <a:noAutofit/>
          </a:bodyPr>
          <a:lstStyle/>
          <a:p>
            <a:r>
              <a:rPr lang="en-GB" sz="2800" i="1" dirty="0">
                <a:latin typeface="Arial"/>
                <a:cs typeface="Arial"/>
              </a:rPr>
              <a:t>Change4Life: 5 desirable adult behaviours (diet) &amp; 1 PA</a:t>
            </a:r>
            <a:endParaRPr lang="en-GB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A1124-64D5-429C-9DD9-D4CF88B974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Portion swap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Snack swap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5-a-day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Fibre swap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150 active minutes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Drink swap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44C9F1-C55F-496E-AAA0-F56751694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2800" y="1382739"/>
            <a:ext cx="5991781" cy="823912"/>
          </a:xfrm>
        </p:spPr>
        <p:txBody>
          <a:bodyPr>
            <a:noAutofit/>
          </a:bodyPr>
          <a:lstStyle/>
          <a:p>
            <a:r>
              <a:rPr lang="en-GB" sz="2800" i="1" dirty="0">
                <a:latin typeface="Arial"/>
                <a:cs typeface="Arial"/>
              </a:rPr>
              <a:t>Start4Life: 6 desirable behaviours for infants/mothers (5 diet &amp; 1 PA)</a:t>
            </a:r>
            <a:endParaRPr lang="en-GB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989709-BAA2-42B0-89CB-2A5F493CF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40400" cy="3684588"/>
          </a:xfrm>
        </p:spPr>
        <p:txBody>
          <a:bodyPr>
            <a:no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Initiate breastfeeding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Continued breastfeeding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Delayed weaning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Wide range of age-appropriate foods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Avoid added sugar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Physical activity for babies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7B566-BB6B-6F13-54F4-3CE87B60AC06}"/>
              </a:ext>
            </a:extLst>
          </p:cNvPr>
          <p:cNvSpPr txBox="1"/>
          <p:nvPr/>
        </p:nvSpPr>
        <p:spPr>
          <a:xfrm>
            <a:off x="839788" y="457200"/>
            <a:ext cx="10387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Desirable behaviours</a:t>
            </a:r>
          </a:p>
        </p:txBody>
      </p:sp>
    </p:spTree>
    <p:extLst>
      <p:ext uri="{BB962C8B-B14F-4D97-AF65-F5344CB8AC3E}">
        <p14:creationId xmlns:p14="http://schemas.microsoft.com/office/powerpoint/2010/main" val="24891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3947F9-0134-4CE5-8C68-159285108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"/>
            <a:ext cx="10515600" cy="901700"/>
          </a:xfrm>
        </p:spPr>
        <p:txBody>
          <a:bodyPr>
            <a:normAutofit/>
          </a:bodyPr>
          <a:lstStyle/>
          <a:p>
            <a:pPr algn="ctr"/>
            <a:r>
              <a:rPr lang="en-GB" sz="3600" b="1" i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outcomes of Change4Life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D90C5F9-BDDA-4684-9B8B-9F32E1270C8B}"/>
              </a:ext>
            </a:extLst>
          </p:cNvPr>
          <p:cNvGraphicFramePr>
            <a:graphicFrameLocks noGrp="1"/>
          </p:cNvGraphicFramePr>
          <p:nvPr/>
        </p:nvGraphicFramePr>
        <p:xfrm>
          <a:off x="209551" y="901701"/>
          <a:ext cx="11772898" cy="58390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97049">
                  <a:extLst>
                    <a:ext uri="{9D8B030D-6E8A-4147-A177-3AD203B41FA5}">
                      <a16:colId xmlns:a16="http://schemas.microsoft.com/office/drawing/2014/main" val="1429293621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2876038782"/>
                    </a:ext>
                  </a:extLst>
                </a:gridCol>
                <a:gridCol w="4883151">
                  <a:extLst>
                    <a:ext uri="{9D8B030D-6E8A-4147-A177-3AD203B41FA5}">
                      <a16:colId xmlns:a16="http://schemas.microsoft.com/office/drawing/2014/main" val="3444140487"/>
                    </a:ext>
                  </a:extLst>
                </a:gridCol>
                <a:gridCol w="2184398">
                  <a:extLst>
                    <a:ext uri="{9D8B030D-6E8A-4147-A177-3AD203B41FA5}">
                      <a16:colId xmlns:a16="http://schemas.microsoft.com/office/drawing/2014/main" val="1180772842"/>
                    </a:ext>
                  </a:extLst>
                </a:gridCol>
              </a:tblGrid>
              <a:tr h="769792">
                <a:tc>
                  <a:txBody>
                    <a:bodyPr/>
                    <a:lstStyle/>
                    <a:p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Increase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 unhealthy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Promote healthy behaviour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054633"/>
                  </a:ext>
                </a:extLst>
              </a:tr>
              <a:tr h="964373">
                <a:tc rowSpan="4"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GB" sz="2000" dirty="0">
                          <a:latin typeface="Arial"/>
                          <a:cs typeface="Arial"/>
                        </a:rPr>
                        <a:t>Be aware of the risk of consuming high levels of fat &amp; sugar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GB" sz="2000" dirty="0">
                          <a:latin typeface="Arial"/>
                          <a:cs typeface="Arial"/>
                        </a:rPr>
                        <a:t>Understand health risks of poor diet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 overall calorie intake and develop healthier eating habits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Increase fruit and vegetable intake (5-a-day)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232205"/>
                  </a:ext>
                </a:extLst>
              </a:tr>
              <a:tr h="964373"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 frequency of snacking, instead opt for regular balanced meals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496099"/>
                  </a:ext>
                </a:extLst>
              </a:tr>
              <a:tr h="741825"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 foods high in fat, particularly high in 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249787"/>
                  </a:ext>
                </a:extLst>
              </a:tr>
              <a:tr h="741825"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 foods and drinks high in added sugar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790679"/>
                  </a:ext>
                </a:extLst>
              </a:tr>
              <a:tr h="964373"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/>
                          <a:cs typeface="Arial"/>
                        </a:rPr>
                        <a:t>Health &amp; personal benefits of being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prolonged periods of inactivity or sedentary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Increase regular physical activity, especially parent/child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0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06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60DB-857B-4BA9-8B08-CCB4F913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300" y="136525"/>
            <a:ext cx="10515600" cy="917575"/>
          </a:xfrm>
        </p:spPr>
        <p:txBody>
          <a:bodyPr>
            <a:normAutofit/>
          </a:bodyPr>
          <a:lstStyle/>
          <a:p>
            <a:pPr algn="ctr"/>
            <a:r>
              <a:rPr lang="en-GB" sz="3600" b="1" i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Suitable evidence of outcomes?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5B5C9F1-E2BE-40CB-9698-08A54FF156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4150" y="1054100"/>
          <a:ext cx="11823700" cy="5486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51700">
                  <a:extLst>
                    <a:ext uri="{9D8B030D-6E8A-4147-A177-3AD203B41FA5}">
                      <a16:colId xmlns:a16="http://schemas.microsoft.com/office/drawing/2014/main" val="271955994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94930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2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Awareness of risk of high fat intake &amp; health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research (e.g. Kantar)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48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calorie intake and develop healthy eating habits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frequency of snacking &amp; opt for regular balanced meals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foods high in fat (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saturated fat)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foods/drinks high in added sugar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fruit and veg 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/>
                          <a:cs typeface="Arial"/>
                        </a:rPr>
                        <a:t>PHOF </a:t>
                      </a:r>
                    </a:p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NDNS</a:t>
                      </a:r>
                    </a:p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DEFRA (household consumption)</a:t>
                      </a:r>
                    </a:p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 Survey for England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9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 activity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sedentary behaviour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physical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/>
                          <a:cs typeface="Arial"/>
                        </a:rPr>
                        <a:t>PHOF 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 Survey for England</a:t>
                      </a:r>
                    </a:p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Sport England </a:t>
                      </a:r>
                      <a:r>
                        <a:rPr lang="en-GB" sz="24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 Lives 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039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2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C19EE-DAFE-D289-D410-FE25A4597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24" y="748144"/>
            <a:ext cx="9539373" cy="4931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EAF4CD-F44A-889A-95AB-9DE4F0CAB78D}"/>
              </a:ext>
            </a:extLst>
          </p:cNvPr>
          <p:cNvSpPr txBox="1"/>
          <p:nvPr/>
        </p:nvSpPr>
        <p:spPr>
          <a:xfrm>
            <a:off x="8478982" y="5679173"/>
            <a:ext cx="280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(DH, 2011)</a:t>
            </a:r>
          </a:p>
        </p:txBody>
      </p:sp>
    </p:spTree>
    <p:extLst>
      <p:ext uri="{BB962C8B-B14F-4D97-AF65-F5344CB8AC3E}">
        <p14:creationId xmlns:p14="http://schemas.microsoft.com/office/powerpoint/2010/main" val="3286328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42A6-CC9A-498A-8381-57343028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19"/>
            <a:ext cx="10515600" cy="783224"/>
          </a:xfrm>
        </p:spPr>
        <p:txBody>
          <a:bodyPr>
            <a:normAutofit/>
          </a:bodyPr>
          <a:lstStyle/>
          <a:p>
            <a:pPr algn="ctr"/>
            <a:r>
              <a:rPr lang="en-GB" sz="3600" b="1" i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achievements vs outcome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5330EA3-31C2-4B89-96A4-4C860FEC74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748908"/>
          <a:ext cx="12192000" cy="60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0">
                  <a:extLst>
                    <a:ext uri="{9D8B030D-6E8A-4147-A177-3AD203B41FA5}">
                      <a16:colId xmlns:a16="http://schemas.microsoft.com/office/drawing/2014/main" val="3454587777"/>
                    </a:ext>
                  </a:extLst>
                </a:gridCol>
                <a:gridCol w="6375400">
                  <a:extLst>
                    <a:ext uri="{9D8B030D-6E8A-4147-A177-3AD203B41FA5}">
                      <a16:colId xmlns:a16="http://schemas.microsoft.com/office/drawing/2014/main" val="1259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Desired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36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Awareness of risk of high dietary fat &amp; health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400,000 joined in first year</a:t>
                      </a:r>
                    </a:p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brand/logo awareness</a:t>
                      </a:r>
                    </a:p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proportions report “thinking” about diet/PA &amp; health</a:t>
                      </a:r>
                    </a:p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25% report taking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01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Dietary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calorie intake &amp; develop healthy eating habits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frequency of snacking &amp; opt for regular balanced meals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foods high in fat (</a:t>
                      </a:r>
                      <a:r>
                        <a:rPr lang="en-GB" sz="2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</a:t>
                      </a: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sat fat)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↓ foods/drinks high in added sugar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fruit and veg 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Child EI ↓ but ↑ obesity in children &amp; adults</a:t>
                      </a:r>
                    </a:p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Snack foods contribute same energy to diet</a:t>
                      </a:r>
                    </a:p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Proportion of fat is same but saturated fat has ↓ in children (0.4% in 8 years)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00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 activity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sedentary behaviour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 physical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Sedentary behaviour ↓ in adults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90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701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7FD524-6FC5-1593-1453-9AA991913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9" y="1045029"/>
            <a:ext cx="7559812" cy="1805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011CF0-46D0-44BD-6D48-6FF093DE1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55" y="3866865"/>
            <a:ext cx="7055262" cy="2286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A674A-A66F-DBF8-F9AB-9E2C5146E2CC}"/>
              </a:ext>
            </a:extLst>
          </p:cNvPr>
          <p:cNvSpPr txBox="1"/>
          <p:nvPr/>
        </p:nvSpPr>
        <p:spPr>
          <a:xfrm>
            <a:off x="7500830" y="4132915"/>
            <a:ext cx="4173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Systems approach, where the intervention is also part of the system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(Knai et al, 2018)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DEB76-ABC9-EFC9-2D40-E19842A41157}"/>
              </a:ext>
            </a:extLst>
          </p:cNvPr>
          <p:cNvSpPr txBox="1"/>
          <p:nvPr/>
        </p:nvSpPr>
        <p:spPr>
          <a:xfrm>
            <a:off x="7590208" y="1182532"/>
            <a:ext cx="32932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Conventional concept of a public health intervention</a:t>
            </a:r>
          </a:p>
        </p:txBody>
      </p:sp>
    </p:spTree>
    <p:extLst>
      <p:ext uri="{BB962C8B-B14F-4D97-AF65-F5344CB8AC3E}">
        <p14:creationId xmlns:p14="http://schemas.microsoft.com/office/powerpoint/2010/main" val="3446522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1D7BA1-211C-E50F-5F18-AA3BEDA261BA}"/>
              </a:ext>
            </a:extLst>
          </p:cNvPr>
          <p:cNvSpPr txBox="1"/>
          <p:nvPr/>
        </p:nvSpPr>
        <p:spPr>
          <a:xfrm>
            <a:off x="990028" y="206256"/>
            <a:ext cx="9645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Partnership: Responsibility Deal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22878-AF1D-618D-5F29-304B76284DF8}"/>
              </a:ext>
            </a:extLst>
          </p:cNvPr>
          <p:cNvSpPr txBox="1"/>
          <p:nvPr/>
        </p:nvSpPr>
        <p:spPr>
          <a:xfrm>
            <a:off x="234902" y="962527"/>
            <a:ext cx="11722195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Launched in 2011 (Coalition Government)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Aimed to get businesses working in partnership towards health &amp; wellbeing targets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Pledges: alcohol, food, health @ work, physical activity &amp; behaviour change</a:t>
            </a:r>
          </a:p>
          <a:p>
            <a:endParaRPr lang="en-GB" sz="26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600" b="1" u="sng" dirty="0">
                <a:latin typeface="Arial" panose="020B0604020202020204" pitchFamily="34" charset="0"/>
                <a:cs typeface="Arial" panose="020B0604020202020204" pitchFamily="34" charset="0"/>
              </a:rPr>
              <a:t>Food pledges: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Action to reduce salt (e.g. reformulation, chef training, salt availability)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Action to reduce calories (e.g. reformulation, portion sizes, education, marketing)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Action to encourage fruit &amp; vegetable consumption (positive environment)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Calorie information provision in out-of-home setting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Exclusion of artificial trans fats</a:t>
            </a:r>
          </a:p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https://webarchive.nationalarchives.gov.uk/ukgwa/20130104160351/http://responsibilitydeal.dh.gov.uk/2011/12/20/food-pledges/</a:t>
            </a:r>
            <a:endParaRPr lang="en-GB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i="1" dirty="0"/>
          </a:p>
          <a:p>
            <a:endParaRPr lang="en-GB" sz="2400" i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8247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9E05E-EE81-C942-147C-B15999EDC74C}"/>
              </a:ext>
            </a:extLst>
          </p:cNvPr>
          <p:cNvSpPr txBox="1"/>
          <p:nvPr/>
        </p:nvSpPr>
        <p:spPr>
          <a:xfrm>
            <a:off x="1231265" y="295399"/>
            <a:ext cx="8772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ED6F1-6571-8D30-B919-F6E05FE9FFF9}"/>
              </a:ext>
            </a:extLst>
          </p:cNvPr>
          <p:cNvSpPr txBox="1"/>
          <p:nvPr/>
        </p:nvSpPr>
        <p:spPr>
          <a:xfrm>
            <a:off x="784311" y="1038823"/>
            <a:ext cx="1036778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Government claimed success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Review found limited evidence: business as usual &amp; pledges made were not those which would be most effective in improving diets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(Knai et al, 2015)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28F7B-5021-2888-9C9F-1EF339892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06" y="3327531"/>
            <a:ext cx="6398999" cy="2911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79762F-F92A-BB04-F96D-F167677F1ED0}"/>
              </a:ext>
            </a:extLst>
          </p:cNvPr>
          <p:cNvSpPr txBox="1"/>
          <p:nvPr/>
        </p:nvSpPr>
        <p:spPr>
          <a:xfrm>
            <a:off x="7606452" y="5549153"/>
            <a:ext cx="4585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(Knai et al, 2018)</a:t>
            </a:r>
          </a:p>
        </p:txBody>
      </p:sp>
    </p:spTree>
    <p:extLst>
      <p:ext uri="{BB962C8B-B14F-4D97-AF65-F5344CB8AC3E}">
        <p14:creationId xmlns:p14="http://schemas.microsoft.com/office/powerpoint/2010/main" val="3983343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15A74A-DAC1-99EA-31B8-F429D75E220F}"/>
              </a:ext>
            </a:extLst>
          </p:cNvPr>
          <p:cNvSpPr txBox="1"/>
          <p:nvPr/>
        </p:nvSpPr>
        <p:spPr>
          <a:xfrm rot="10800000" flipH="1" flipV="1">
            <a:off x="693496" y="79579"/>
            <a:ext cx="8869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F21D0-E6D5-2BF8-A6A8-48B579C5726E}"/>
              </a:ext>
            </a:extLst>
          </p:cNvPr>
          <p:cNvSpPr txBox="1"/>
          <p:nvPr/>
        </p:nvSpPr>
        <p:spPr>
          <a:xfrm>
            <a:off x="307092" y="657159"/>
            <a:ext cx="1157781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Calorie labelling (out of home):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Commitment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July 2020;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Legislation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July 2021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Introduced April 2022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Small reduction in average energy content of menu items (replacement of higher calorie with lower calorie items)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(Essman et al, 2025)</a:t>
            </a:r>
          </a:p>
          <a:p>
            <a:r>
              <a:rPr lang="en-GB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Promotion (volume price) &amp; placement of HFSS: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Commitment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July 2020, planned implementation April 2022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Delayed until October 2022;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Legislation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December 2021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May 2022 delay to volume price promotions until October 2023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June 2023, delay until October 2025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Location promotions came into effect October 2022</a:t>
            </a:r>
          </a:p>
          <a:p>
            <a:r>
              <a:rPr lang="en-GB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Junk food ads on TV and online: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Scope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June 2025; from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5 Jan 2026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315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BE791E-8283-4B51-88A4-BCE941DC13A4}"/>
              </a:ext>
            </a:extLst>
          </p:cNvPr>
          <p:cNvSpPr txBox="1"/>
          <p:nvPr/>
        </p:nvSpPr>
        <p:spPr>
          <a:xfrm>
            <a:off x="178755" y="75628"/>
            <a:ext cx="11770321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Location promotions: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Impact of location regulation: reduction in HFSS in-store sales by 0.63%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Jenneson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 et al, 2025)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Lack of awareness of shoppers; supportive but importance of affordability emphasised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Kininmonth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 et al, 2025a)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Stakeholders supportive but concerns about complexity of interpretation &amp; implementation and practical issues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Kininmonth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 et al, 2025b)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Potential impact on reformulation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(Dhuria et al, 2025)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Banning sales of high-caffeine energy drinks to &lt;16 years: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Commitment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July 2024;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Consultation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closed November 2025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861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C19F9-671B-A699-602B-4A7701BDC190}"/>
              </a:ext>
            </a:extLst>
          </p:cNvPr>
          <p:cNvSpPr txBox="1"/>
          <p:nvPr/>
        </p:nvSpPr>
        <p:spPr>
          <a:xfrm>
            <a:off x="694394" y="302508"/>
            <a:ext cx="9817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Reformulation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2BFB7-D6A4-BBDA-9435-B14DC5BE5AA4}"/>
              </a:ext>
            </a:extLst>
          </p:cNvPr>
          <p:cNvSpPr txBox="1"/>
          <p:nvPr/>
        </p:nvSpPr>
        <p:spPr>
          <a:xfrm>
            <a:off x="694394" y="1141281"/>
            <a:ext cx="107115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SACN (2015)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recommended sugar reduction to ≤5% daily EI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PHE (2015)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recommended: sugar reduction programme, restrictions on advertising &amp; promotions, tax on high sugar food &amp; drink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Sugar reduction programme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(2016): challenged industry to reduce sugar in foods that contribute most to children’s intakes (&lt;18 years) by 20% by 2020.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Guidelines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published 2017.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2018: juice &amp; milk-based drinks added. Challenge: reduce sugar by 5% &amp; 20% respectively from baseline by mid-2021.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Guidelines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published 2018. </a:t>
            </a:r>
          </a:p>
        </p:txBody>
      </p:sp>
    </p:spTree>
    <p:extLst>
      <p:ext uri="{BB962C8B-B14F-4D97-AF65-F5344CB8AC3E}">
        <p14:creationId xmlns:p14="http://schemas.microsoft.com/office/powerpoint/2010/main" val="1486738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8BF3FF-234F-50AB-F137-D15FE42A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31" y="430307"/>
            <a:ext cx="9646547" cy="55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50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C734D-D645-D2D9-6BD1-CE8DAC14D79F}"/>
              </a:ext>
            </a:extLst>
          </p:cNvPr>
          <p:cNvSpPr txBox="1"/>
          <p:nvPr/>
        </p:nvSpPr>
        <p:spPr>
          <a:xfrm>
            <a:off x="660019" y="214057"/>
            <a:ext cx="11323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of SDIL &amp; sugar reformulation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858F5-067C-9DF0-3512-AB2F98092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30" y="1228800"/>
            <a:ext cx="3856291" cy="47865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96B07C-7CAC-1D45-63F1-C1F9B23D1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488" y="1047998"/>
            <a:ext cx="3856292" cy="4878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11750A-344F-F42E-7385-1DBEE64850D1}"/>
              </a:ext>
            </a:extLst>
          </p:cNvPr>
          <p:cNvSpPr txBox="1"/>
          <p:nvPr/>
        </p:nvSpPr>
        <p:spPr>
          <a:xfrm>
            <a:off x="8092096" y="983215"/>
            <a:ext cx="376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-3.5% &amp; -1% (2015-2019)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7E7A1-AAC8-1FAA-4D1E-19DDD8310AA2}"/>
              </a:ext>
            </a:extLst>
          </p:cNvPr>
          <p:cNvSpPr txBox="1"/>
          <p:nvPr/>
        </p:nvSpPr>
        <p:spPr>
          <a:xfrm>
            <a:off x="1821924" y="983192"/>
            <a:ext cx="3698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-44.7%  &amp; -44.8% (2015-2020 &amp; 2017-2020)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373068-170D-7D88-891C-BD70F24E423E}"/>
              </a:ext>
            </a:extLst>
          </p:cNvPr>
          <p:cNvSpPr txBox="1"/>
          <p:nvPr/>
        </p:nvSpPr>
        <p:spPr>
          <a:xfrm>
            <a:off x="2915080" y="6297672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(Hashem et al, 2024; OHID, 2022)</a:t>
            </a:r>
          </a:p>
        </p:txBody>
      </p:sp>
    </p:spTree>
    <p:extLst>
      <p:ext uri="{BB962C8B-B14F-4D97-AF65-F5344CB8AC3E}">
        <p14:creationId xmlns:p14="http://schemas.microsoft.com/office/powerpoint/2010/main" val="60273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713C7-B180-4923-635B-E0B43A9E0BFF}"/>
              </a:ext>
            </a:extLst>
          </p:cNvPr>
          <p:cNvSpPr txBox="1"/>
          <p:nvPr/>
        </p:nvSpPr>
        <p:spPr>
          <a:xfrm>
            <a:off x="810934" y="163252"/>
            <a:ext cx="1016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Calorie reduction programme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85A76-B48F-FDF1-4646-06A36A2B3575}"/>
              </a:ext>
            </a:extLst>
          </p:cNvPr>
          <p:cNvSpPr txBox="1"/>
          <p:nvPr/>
        </p:nvSpPr>
        <p:spPr>
          <a:xfrm>
            <a:off x="694393" y="935089"/>
            <a:ext cx="101615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Intention to set out calorie reduction announced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2016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PHE commissioned 2017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PHE (2018) -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evidence, ambition, scope &amp; timeline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PHE (2020) –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guidelines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for industry published 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FD4C4-51FE-7075-0D56-C7E74D3FF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001" y="2913529"/>
            <a:ext cx="5960193" cy="3944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4A01E8-771C-D1F9-AFD3-3FD3FD5343CD}"/>
              </a:ext>
            </a:extLst>
          </p:cNvPr>
          <p:cNvSpPr txBox="1"/>
          <p:nvPr/>
        </p:nvSpPr>
        <p:spPr>
          <a:xfrm>
            <a:off x="7858340" y="5788908"/>
            <a:ext cx="3471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(OHID, 2024)</a:t>
            </a:r>
          </a:p>
        </p:txBody>
      </p:sp>
    </p:spTree>
    <p:extLst>
      <p:ext uri="{BB962C8B-B14F-4D97-AF65-F5344CB8AC3E}">
        <p14:creationId xmlns:p14="http://schemas.microsoft.com/office/powerpoint/2010/main" val="102370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1888B-2590-139B-519D-AA82F6DA1E97}"/>
              </a:ext>
            </a:extLst>
          </p:cNvPr>
          <p:cNvSpPr txBox="1"/>
          <p:nvPr/>
        </p:nvSpPr>
        <p:spPr>
          <a:xfrm>
            <a:off x="433137" y="275008"/>
            <a:ext cx="11048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 Drinks Industry Levy (SDIL)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6393F-B25C-C10E-8069-74F9B3BC376A}"/>
              </a:ext>
            </a:extLst>
          </p:cNvPr>
          <p:cNvSpPr txBox="1"/>
          <p:nvPr/>
        </p:nvSpPr>
        <p:spPr>
          <a:xfrm>
            <a:off x="220006" y="990028"/>
            <a:ext cx="1157781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Announced 2016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; effective 2018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Three categories: drinks &lt;5g sugar/100mls,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5-8g sugar/100 </a:t>
            </a:r>
            <a:r>
              <a:rPr lang="en-GB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mls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&amp; drinks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≥8g/100mls sugar/100mls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Decision to extend scope &amp; reduce cut-off to 4.5g/100mls from Jan 2028 made Nov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2025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b="1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Impact:</a:t>
            </a:r>
            <a:endParaRPr lang="en-GB" sz="2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2015-2019: 65% of drinks &gt;5g/100mls reformulated to &lt;5g/100mls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47% reduction in sugar in soft drinks in scope of levy 2015-2024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12% reduction hospital admissions for dental caries tooth extractions children 0-18years; 0-4yrs: 28.6% reduction &amp; 5-9yrs: 5.5% reduction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(Rogers et al, 2023)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651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E0523-3113-D35D-50F3-172B8754F6CC}"/>
              </a:ext>
            </a:extLst>
          </p:cNvPr>
          <p:cNvSpPr txBox="1"/>
          <p:nvPr/>
        </p:nvSpPr>
        <p:spPr>
          <a:xfrm>
            <a:off x="818147" y="501889"/>
            <a:ext cx="10333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 loss programmes &amp; support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B7ACA-731A-6B9B-3826-4112913CD609}"/>
              </a:ext>
            </a:extLst>
          </p:cNvPr>
          <p:cNvSpPr txBox="1"/>
          <p:nvPr/>
        </p:nvSpPr>
        <p:spPr>
          <a:xfrm>
            <a:off x="646269" y="1732547"/>
            <a:ext cx="1018902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NHS Digital Weight Management Programme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NHS Diabetes Prevention Programme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(Healthier You)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NHS Couch to 5K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NHS Food Scanner app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NHS Weight Plan app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9168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95F9C-6AC1-EAC7-922E-14AAA10A3A84}"/>
              </a:ext>
            </a:extLst>
          </p:cNvPr>
          <p:cNvSpPr txBox="1"/>
          <p:nvPr/>
        </p:nvSpPr>
        <p:spPr>
          <a:xfrm>
            <a:off x="520223" y="233693"/>
            <a:ext cx="11151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Obesity medication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BD8C53-AEC0-4903-726D-1F3F7B15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839685"/>
              </p:ext>
            </p:extLst>
          </p:nvPr>
        </p:nvGraphicFramePr>
        <p:xfrm>
          <a:off x="261257" y="1234517"/>
          <a:ext cx="1166948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897">
                  <a:extLst>
                    <a:ext uri="{9D8B030D-6E8A-4147-A177-3AD203B41FA5}">
                      <a16:colId xmlns:a16="http://schemas.microsoft.com/office/drawing/2014/main" val="213594452"/>
                    </a:ext>
                  </a:extLst>
                </a:gridCol>
                <a:gridCol w="2061640">
                  <a:extLst>
                    <a:ext uri="{9D8B030D-6E8A-4147-A177-3AD203B41FA5}">
                      <a16:colId xmlns:a16="http://schemas.microsoft.com/office/drawing/2014/main" val="181712217"/>
                    </a:ext>
                  </a:extLst>
                </a:gridCol>
                <a:gridCol w="2770700">
                  <a:extLst>
                    <a:ext uri="{9D8B030D-6E8A-4147-A177-3AD203B41FA5}">
                      <a16:colId xmlns:a16="http://schemas.microsoft.com/office/drawing/2014/main" val="4075438230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1023476042"/>
                    </a:ext>
                  </a:extLst>
                </a:gridCol>
                <a:gridCol w="2543820">
                  <a:extLst>
                    <a:ext uri="{9D8B030D-6E8A-4147-A177-3AD203B41FA5}">
                      <a16:colId xmlns:a16="http://schemas.microsoft.com/office/drawing/2014/main" val="95447712"/>
                    </a:ext>
                  </a:extLst>
                </a:gridCol>
              </a:tblGrid>
              <a:tr h="251732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Dose/frequency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60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Orlistat (prescription)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Xenical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120mg/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tds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Lipase inhibitor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 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gut absorption of dietary fat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17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Orlistat (OTC)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60mg/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tds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Lipase inhibitor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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gut absorption of dietary fat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1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Semaglutide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(prescription)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Wegovy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GLP-1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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appetite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34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5"/>
                        </a:rPr>
                        <a:t>Tirzepatide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(prescription)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Mounjaro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1/week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GLP-1 &amp; GIP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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hyperglycaemia,</a:t>
                      </a:r>
                    </a:p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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appetite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93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Liraglutide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(prescription)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Saxenda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GLP-1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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appetite</a:t>
                      </a:r>
                      <a:endParaRPr lang="en-GB" sz="24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490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637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0D0548-C939-C7EF-B603-732172E34A27}"/>
              </a:ext>
            </a:extLst>
          </p:cNvPr>
          <p:cNvSpPr txBox="1"/>
          <p:nvPr/>
        </p:nvSpPr>
        <p:spPr>
          <a:xfrm>
            <a:off x="495014" y="584391"/>
            <a:ext cx="108490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ST regulation for LT conditions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Access &amp; availability –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MHRA warning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Nutritional issues</a:t>
            </a:r>
          </a:p>
        </p:txBody>
      </p:sp>
    </p:spTree>
    <p:extLst>
      <p:ext uri="{BB962C8B-B14F-4D97-AF65-F5344CB8AC3E}">
        <p14:creationId xmlns:p14="http://schemas.microsoft.com/office/powerpoint/2010/main" val="2667347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0786A3-83CB-2734-E164-1406B2D21ECE}"/>
              </a:ext>
            </a:extLst>
          </p:cNvPr>
          <p:cNvSpPr txBox="1"/>
          <p:nvPr/>
        </p:nvSpPr>
        <p:spPr>
          <a:xfrm>
            <a:off x="1065654" y="873149"/>
            <a:ext cx="103609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Multiple different approaches being taken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Traditionally most rely on individual behavioural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Previously action to change obesogenic environment voluntary (limited impact)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Regulatory effects shown to have more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New treatments for excess weight  have issues - nutritional impacts, ST availability, accessibility &amp;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No single approach will be enough </a:t>
            </a:r>
          </a:p>
        </p:txBody>
      </p:sp>
    </p:spTree>
    <p:extLst>
      <p:ext uri="{BB962C8B-B14F-4D97-AF65-F5344CB8AC3E}">
        <p14:creationId xmlns:p14="http://schemas.microsoft.com/office/powerpoint/2010/main" val="2107062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D7476-5483-54D3-DF41-4992FD2FF728}"/>
              </a:ext>
            </a:extLst>
          </p:cNvPr>
          <p:cNvSpPr txBox="1"/>
          <p:nvPr/>
        </p:nvSpPr>
        <p:spPr>
          <a:xfrm>
            <a:off x="680643" y="0"/>
            <a:ext cx="965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i="1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B0CC5-34B2-06BC-763C-DB566F32C682}"/>
              </a:ext>
            </a:extLst>
          </p:cNvPr>
          <p:cNvSpPr txBox="1"/>
          <p:nvPr/>
        </p:nvSpPr>
        <p:spPr>
          <a:xfrm>
            <a:off x="144379" y="646331"/>
            <a:ext cx="11591567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Balogun B et al (2023).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Obesity Policy in England.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House of Commons Library Research Briefing.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https://researchbriefings.files.parliament.uk/documents/CBP-9049/CBP-9049.pdf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DH (2011)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Change4Life Three Year Social Marketing Strategy.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https://assets.publishing.service.gov.uk/media/5a7baa68e5274a7318b9020a/dh_130488.pdf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Dhuria P et al (2025). </a:t>
            </a:r>
            <a:r>
              <a:rPr lang="en-GB" sz="2000" dirty="0"/>
              <a:t>“It will sort of drive us to rethink our approach to high fat salt sugar products”‑ a qualitative analysis of businesses’ reactions to the landmark Food (Promotion and Placement) Regulations in England. BMC Medicine 23: 576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Essman M et al (2025).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Changes in energy content of menu items at out-of-home food outlets in England after calorie labelling policy implementation: a pre–post analysis (2021–2022)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BMJ Public Health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3: e001905</a:t>
            </a:r>
          </a:p>
          <a:p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Hardy A &amp; Assher J (2011) 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Recipe for success with Change4Life.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Q1:24-27. 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Hashem KM et al (2024).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Outcomes of sugar reduction policies, United Kingdom of Great Britain and Northern Ireland.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Bull World Health Organ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.102(6): 432-439.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Jenneson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VL et al (2025)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Did High in Fat, Sugar, and Salt (HFSS) product placement legislation in England lead to reduced HFSS purchases? An interrupted time series analysis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OSF Preprints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https://osf.io/preprints/osf/j6b8p_v1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Kininmonth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AR et al (2025a).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Customer awareness and perceptions of the high in fat, sugar, and salt (HFSS) placement legislation and impacts on self-reported food purchasing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Food Policy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135: 102941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244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B7D7B2-C801-C16B-4CF4-D33DCD1E39E9}"/>
              </a:ext>
            </a:extLst>
          </p:cNvPr>
          <p:cNvSpPr txBox="1"/>
          <p:nvPr/>
        </p:nvSpPr>
        <p:spPr>
          <a:xfrm>
            <a:off x="165463" y="215234"/>
            <a:ext cx="11712570" cy="830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Kininmonth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AR et al (2025b).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“It was a force for good but...”: a mixed-methods evaluation of the implementation of the High in Fat, Sugar and Salt (HFSS) legislation in England.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OSF Preprints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https://osf.io/preprints/osf/3xjtv_v1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Knai C et al (2018).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The Public Health Responsibility Deal: Using a Systems-Level Analysis to Understand the Lack of Impact on Alcohol, Food, Physical Activity, and Workplace Health Sub-systems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Int J Env Res &amp; Public Health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15: 2895.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Knai C et al (2015).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Has a public–private partnership resulted in action on healthier diets in England? An analysis of the Public Health Responsibility Deal food pledges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Food Policy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54: 1-10. 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OHID (2024).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Calorie reduction programme: industry progress 2017 to 2021.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https://www.gov.uk/government/publications/calorie-reduction-programme-industry-progress-2017-to-2021/calorie-reduction-programme-industry-progress-2017-to-2021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OHID (2022).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Sugar reduction – industry progress 2015 to 2020.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https://assets.publishing.service.gov.uk/media/6388cd71d3bf7f328c0ded27/Sugar-reduction-and-reformulation-progress-report-2015-to-2020.pdf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Rogers NT et al (2023).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Estimated impact of the UK soft drinks industry levy on childhood hospital admissions for carious tooth extractions: interrupted time series analysis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BMJ Nutrition, Prevention &amp; Health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e000714.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https://doi.org/10.1136/bmjnph-2023-000714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Stiebahl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 (2025). Obesity statistics. Research briefing. House of Commons Library.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https://commonslibrary.parliament.uk/research-briefings/sn03336/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Vandenbroeck IP et al (2007). 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Tackling Obesities: Future Choices – Obesity System Atlas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https://assets.publishing.service.gov.uk/media/5a7b8811ed915d4147620fb2/07-1177-obesity-system-atlas.pdf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/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411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2226</Words>
  <Application>Microsoft Office PowerPoint</Application>
  <PresentationFormat>Widescreen</PresentationFormat>
  <Paragraphs>292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Public health approaches &amp; implications in weight management</vt:lpstr>
      <vt:lpstr>PowerPoint Presentation</vt:lpstr>
      <vt:lpstr>PowerPoint Presentation</vt:lpstr>
      <vt:lpstr>PowerPoint Presentation</vt:lpstr>
      <vt:lpstr>PowerPoint Presentation</vt:lpstr>
      <vt:lpstr>Context</vt:lpstr>
      <vt:lpstr>PowerPoint Presentation</vt:lpstr>
      <vt:lpstr>Evolution of Change4Life</vt:lpstr>
      <vt:lpstr>PowerPoint Presentation</vt:lpstr>
      <vt:lpstr>Desired outcomes of Change4Life</vt:lpstr>
      <vt:lpstr>Suitable evidence of outcomes?</vt:lpstr>
      <vt:lpstr>PowerPoint Presentation</vt:lpstr>
      <vt:lpstr>Summary of achievements vs outcome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Hilda Mulrooney</dc:creator>
  <cp:lastModifiedBy>Hilda Mulrooney</cp:lastModifiedBy>
  <cp:revision>3</cp:revision>
  <dcterms:created xsi:type="dcterms:W3CDTF">2026-01-01T14:24:55Z</dcterms:created>
  <dcterms:modified xsi:type="dcterms:W3CDTF">2026-01-05T16:53:24Z</dcterms:modified>
</cp:coreProperties>
</file>