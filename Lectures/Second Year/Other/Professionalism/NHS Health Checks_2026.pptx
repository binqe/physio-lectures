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57"/>
  </p:notesMasterIdLst>
  <p:sldIdLst>
    <p:sldId id="353" r:id="rId2"/>
    <p:sldId id="257" r:id="rId3"/>
    <p:sldId id="323" r:id="rId4"/>
    <p:sldId id="321" r:id="rId5"/>
    <p:sldId id="331" r:id="rId6"/>
    <p:sldId id="332" r:id="rId7"/>
    <p:sldId id="342" r:id="rId8"/>
    <p:sldId id="326" r:id="rId9"/>
    <p:sldId id="344" r:id="rId10"/>
    <p:sldId id="293" r:id="rId11"/>
    <p:sldId id="319" r:id="rId12"/>
    <p:sldId id="318" r:id="rId13"/>
    <p:sldId id="336" r:id="rId14"/>
    <p:sldId id="338" r:id="rId15"/>
    <p:sldId id="339" r:id="rId16"/>
    <p:sldId id="341" r:id="rId17"/>
    <p:sldId id="327" r:id="rId18"/>
    <p:sldId id="295" r:id="rId19"/>
    <p:sldId id="296" r:id="rId20"/>
    <p:sldId id="311" r:id="rId21"/>
    <p:sldId id="297" r:id="rId22"/>
    <p:sldId id="298" r:id="rId23"/>
    <p:sldId id="299" r:id="rId24"/>
    <p:sldId id="259" r:id="rId25"/>
    <p:sldId id="317" r:id="rId26"/>
    <p:sldId id="345" r:id="rId27"/>
    <p:sldId id="263" r:id="rId28"/>
    <p:sldId id="346" r:id="rId29"/>
    <p:sldId id="347" r:id="rId30"/>
    <p:sldId id="303" r:id="rId31"/>
    <p:sldId id="348" r:id="rId32"/>
    <p:sldId id="306" r:id="rId33"/>
    <p:sldId id="266" r:id="rId34"/>
    <p:sldId id="268" r:id="rId35"/>
    <p:sldId id="307" r:id="rId36"/>
    <p:sldId id="271" r:id="rId37"/>
    <p:sldId id="272" r:id="rId38"/>
    <p:sldId id="308" r:id="rId39"/>
    <p:sldId id="274" r:id="rId40"/>
    <p:sldId id="309" r:id="rId41"/>
    <p:sldId id="310" r:id="rId42"/>
    <p:sldId id="349" r:id="rId43"/>
    <p:sldId id="350" r:id="rId44"/>
    <p:sldId id="280" r:id="rId45"/>
    <p:sldId id="351" r:id="rId46"/>
    <p:sldId id="281" r:id="rId47"/>
    <p:sldId id="282" r:id="rId48"/>
    <p:sldId id="352" r:id="rId49"/>
    <p:sldId id="315" r:id="rId50"/>
    <p:sldId id="316" r:id="rId51"/>
    <p:sldId id="287" r:id="rId52"/>
    <p:sldId id="288" r:id="rId53"/>
    <p:sldId id="289" r:id="rId54"/>
    <p:sldId id="290" r:id="rId55"/>
    <p:sldId id="291" r:id="rId56"/>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01" autoAdjust="0"/>
    <p:restoredTop sz="91152" autoAdjust="0"/>
  </p:normalViewPr>
  <p:slideViewPr>
    <p:cSldViewPr snapToGrid="0">
      <p:cViewPr>
        <p:scale>
          <a:sx n="91" d="100"/>
          <a:sy n="91" d="100"/>
        </p:scale>
        <p:origin x="1536" y="704"/>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diagrams/_rels/data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svg"/><Relationship Id="rId1" Type="http://schemas.openxmlformats.org/officeDocument/2006/relationships/image" Target="../media/image52.png"/><Relationship Id="rId4" Type="http://schemas.openxmlformats.org/officeDocument/2006/relationships/image" Target="../media/image55.svg"/></Relationships>
</file>

<file path=ppt/diagrams/_rels/data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svg"/><Relationship Id="rId1" Type="http://schemas.openxmlformats.org/officeDocument/2006/relationships/image" Target="../media/image56.png"/><Relationship Id="rId6" Type="http://schemas.openxmlformats.org/officeDocument/2006/relationships/image" Target="../media/image61.svg"/><Relationship Id="rId5" Type="http://schemas.openxmlformats.org/officeDocument/2006/relationships/image" Target="../media/image60.png"/><Relationship Id="rId4" Type="http://schemas.openxmlformats.org/officeDocument/2006/relationships/image" Target="../media/image59.svg"/></Relationships>
</file>

<file path=ppt/diagrams/_rels/drawing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svg"/><Relationship Id="rId1" Type="http://schemas.openxmlformats.org/officeDocument/2006/relationships/image" Target="../media/image52.png"/><Relationship Id="rId4" Type="http://schemas.openxmlformats.org/officeDocument/2006/relationships/image" Target="../media/image55.svg"/></Relationships>
</file>

<file path=ppt/diagrams/_rels/drawing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svg"/><Relationship Id="rId1" Type="http://schemas.openxmlformats.org/officeDocument/2006/relationships/image" Target="../media/image56.png"/><Relationship Id="rId6" Type="http://schemas.openxmlformats.org/officeDocument/2006/relationships/image" Target="../media/image61.svg"/><Relationship Id="rId5" Type="http://schemas.openxmlformats.org/officeDocument/2006/relationships/image" Target="../media/image60.png"/><Relationship Id="rId4" Type="http://schemas.openxmlformats.org/officeDocument/2006/relationships/image" Target="../media/image59.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60A043-43BD-4C03-971E-AE4C3ED10B2C}" type="doc">
      <dgm:prSet loTypeId="urn:microsoft.com/office/officeart/2008/layout/LinedList" loCatId="list" qsTypeId="urn:microsoft.com/office/officeart/2005/8/quickstyle/simple3" qsCatId="simple" csTypeId="urn:microsoft.com/office/officeart/2005/8/colors/accent2_2" csCatId="accent2"/>
      <dgm:spPr/>
      <dgm:t>
        <a:bodyPr/>
        <a:lstStyle/>
        <a:p>
          <a:endParaRPr lang="en-US"/>
        </a:p>
      </dgm:t>
    </dgm:pt>
    <dgm:pt modelId="{513C7D92-9245-4839-BFA5-FC4C0BEBC792}">
      <dgm:prSet/>
      <dgm:spPr/>
      <dgm:t>
        <a:bodyPr/>
        <a:lstStyle/>
        <a:p>
          <a:r>
            <a:rPr lang="en-US" dirty="0"/>
            <a:t>Risk factors such as smoking, dyslipidaemia, hypertension, diabetes, abdominal obesity, adverse diet, physical inactivity and psychosocial factors account for 90% of the risk of myocardial infarction worldwide (Yusuf et al., 2004) </a:t>
          </a:r>
        </a:p>
      </dgm:t>
    </dgm:pt>
    <dgm:pt modelId="{2754591C-7A67-4144-97B4-65FF79A60FBD}" type="parTrans" cxnId="{C0173FDC-BB7D-4BF5-BB3A-2F5B673F14FE}">
      <dgm:prSet/>
      <dgm:spPr/>
      <dgm:t>
        <a:bodyPr/>
        <a:lstStyle/>
        <a:p>
          <a:endParaRPr lang="en-US"/>
        </a:p>
      </dgm:t>
    </dgm:pt>
    <dgm:pt modelId="{02AE9914-719C-4399-934B-54FA9D59DB9C}" type="sibTrans" cxnId="{C0173FDC-BB7D-4BF5-BB3A-2F5B673F14FE}">
      <dgm:prSet/>
      <dgm:spPr/>
      <dgm:t>
        <a:bodyPr/>
        <a:lstStyle/>
        <a:p>
          <a:endParaRPr lang="en-US"/>
        </a:p>
      </dgm:t>
    </dgm:pt>
    <dgm:pt modelId="{9CEF1C38-9717-4EB2-A308-FCE87CC7E473}">
      <dgm:prSet/>
      <dgm:spPr/>
      <dgm:t>
        <a:bodyPr/>
        <a:lstStyle/>
        <a:p>
          <a:r>
            <a:rPr lang="en-US" dirty="0"/>
            <a:t>Detection and prevention of these risk factors in populations can have substantial benefits in reducing the burden caused by CVD (Yusuf et al., 2004)</a:t>
          </a:r>
        </a:p>
      </dgm:t>
    </dgm:pt>
    <dgm:pt modelId="{95D346B5-F5D9-4229-BB16-5BC80826697C}" type="parTrans" cxnId="{454250D5-2550-467D-A0F9-3ACF54F7D1A1}">
      <dgm:prSet/>
      <dgm:spPr/>
      <dgm:t>
        <a:bodyPr/>
        <a:lstStyle/>
        <a:p>
          <a:endParaRPr lang="en-US"/>
        </a:p>
      </dgm:t>
    </dgm:pt>
    <dgm:pt modelId="{E8126455-3C0E-4012-8D6F-2BF34C83CFFE}" type="sibTrans" cxnId="{454250D5-2550-467D-A0F9-3ACF54F7D1A1}">
      <dgm:prSet/>
      <dgm:spPr/>
      <dgm:t>
        <a:bodyPr/>
        <a:lstStyle/>
        <a:p>
          <a:endParaRPr lang="en-US"/>
        </a:p>
      </dgm:t>
    </dgm:pt>
    <dgm:pt modelId="{30467F68-19C2-436C-8C36-FA18AAA249E3}" type="pres">
      <dgm:prSet presAssocID="{8160A043-43BD-4C03-971E-AE4C3ED10B2C}" presName="vert0" presStyleCnt="0">
        <dgm:presLayoutVars>
          <dgm:dir/>
          <dgm:animOne val="branch"/>
          <dgm:animLvl val="lvl"/>
        </dgm:presLayoutVars>
      </dgm:prSet>
      <dgm:spPr/>
    </dgm:pt>
    <dgm:pt modelId="{59900ED9-272F-40DF-8EEA-758F07940E3F}" type="pres">
      <dgm:prSet presAssocID="{513C7D92-9245-4839-BFA5-FC4C0BEBC792}" presName="thickLine" presStyleLbl="alignNode1" presStyleIdx="0" presStyleCnt="2"/>
      <dgm:spPr/>
    </dgm:pt>
    <dgm:pt modelId="{B606B0BB-1E59-4681-8D09-0B17327F726A}" type="pres">
      <dgm:prSet presAssocID="{513C7D92-9245-4839-BFA5-FC4C0BEBC792}" presName="horz1" presStyleCnt="0"/>
      <dgm:spPr/>
    </dgm:pt>
    <dgm:pt modelId="{7C3985C6-CB87-4E03-8A54-D6ED12F26BF6}" type="pres">
      <dgm:prSet presAssocID="{513C7D92-9245-4839-BFA5-FC4C0BEBC792}" presName="tx1" presStyleLbl="revTx" presStyleIdx="0" presStyleCnt="2"/>
      <dgm:spPr/>
    </dgm:pt>
    <dgm:pt modelId="{9A2958D3-1818-4340-A5F3-702191EA9E71}" type="pres">
      <dgm:prSet presAssocID="{513C7D92-9245-4839-BFA5-FC4C0BEBC792}" presName="vert1" presStyleCnt="0"/>
      <dgm:spPr/>
    </dgm:pt>
    <dgm:pt modelId="{11D38FD7-F121-4D1F-8BD0-0557A94D8CB0}" type="pres">
      <dgm:prSet presAssocID="{9CEF1C38-9717-4EB2-A308-FCE87CC7E473}" presName="thickLine" presStyleLbl="alignNode1" presStyleIdx="1" presStyleCnt="2"/>
      <dgm:spPr/>
    </dgm:pt>
    <dgm:pt modelId="{9C55B50D-8E13-41CE-8FC1-5222B2B42D99}" type="pres">
      <dgm:prSet presAssocID="{9CEF1C38-9717-4EB2-A308-FCE87CC7E473}" presName="horz1" presStyleCnt="0"/>
      <dgm:spPr/>
    </dgm:pt>
    <dgm:pt modelId="{163D9791-37DA-460B-BF87-16D0CBDAD399}" type="pres">
      <dgm:prSet presAssocID="{9CEF1C38-9717-4EB2-A308-FCE87CC7E473}" presName="tx1" presStyleLbl="revTx" presStyleIdx="1" presStyleCnt="2"/>
      <dgm:spPr/>
    </dgm:pt>
    <dgm:pt modelId="{A4429A2F-F7C0-4BC8-82FA-52B43F88176E}" type="pres">
      <dgm:prSet presAssocID="{9CEF1C38-9717-4EB2-A308-FCE87CC7E473}" presName="vert1" presStyleCnt="0"/>
      <dgm:spPr/>
    </dgm:pt>
  </dgm:ptLst>
  <dgm:cxnLst>
    <dgm:cxn modelId="{A7693304-DAE1-4CF0-8BC0-AD5347326B23}" type="presOf" srcId="{8160A043-43BD-4C03-971E-AE4C3ED10B2C}" destId="{30467F68-19C2-436C-8C36-FA18AAA249E3}" srcOrd="0" destOrd="0" presId="urn:microsoft.com/office/officeart/2008/layout/LinedList"/>
    <dgm:cxn modelId="{C85A3C8C-0734-4D1F-97D8-42F8431525D2}" type="presOf" srcId="{9CEF1C38-9717-4EB2-A308-FCE87CC7E473}" destId="{163D9791-37DA-460B-BF87-16D0CBDAD399}" srcOrd="0" destOrd="0" presId="urn:microsoft.com/office/officeart/2008/layout/LinedList"/>
    <dgm:cxn modelId="{454250D5-2550-467D-A0F9-3ACF54F7D1A1}" srcId="{8160A043-43BD-4C03-971E-AE4C3ED10B2C}" destId="{9CEF1C38-9717-4EB2-A308-FCE87CC7E473}" srcOrd="1" destOrd="0" parTransId="{95D346B5-F5D9-4229-BB16-5BC80826697C}" sibTransId="{E8126455-3C0E-4012-8D6F-2BF34C83CFFE}"/>
    <dgm:cxn modelId="{C0173FDC-BB7D-4BF5-BB3A-2F5B673F14FE}" srcId="{8160A043-43BD-4C03-971E-AE4C3ED10B2C}" destId="{513C7D92-9245-4839-BFA5-FC4C0BEBC792}" srcOrd="0" destOrd="0" parTransId="{2754591C-7A67-4144-97B4-65FF79A60FBD}" sibTransId="{02AE9914-719C-4399-934B-54FA9D59DB9C}"/>
    <dgm:cxn modelId="{A1D42CFC-27B8-4E8F-8C76-49D53A6B46F5}" type="presOf" srcId="{513C7D92-9245-4839-BFA5-FC4C0BEBC792}" destId="{7C3985C6-CB87-4E03-8A54-D6ED12F26BF6}" srcOrd="0" destOrd="0" presId="urn:microsoft.com/office/officeart/2008/layout/LinedList"/>
    <dgm:cxn modelId="{91A6EE5D-DAF5-40BD-9C11-45F53849E1C3}" type="presParOf" srcId="{30467F68-19C2-436C-8C36-FA18AAA249E3}" destId="{59900ED9-272F-40DF-8EEA-758F07940E3F}" srcOrd="0" destOrd="0" presId="urn:microsoft.com/office/officeart/2008/layout/LinedList"/>
    <dgm:cxn modelId="{156E8335-EF45-4B4F-B86A-1524F0C5E321}" type="presParOf" srcId="{30467F68-19C2-436C-8C36-FA18AAA249E3}" destId="{B606B0BB-1E59-4681-8D09-0B17327F726A}" srcOrd="1" destOrd="0" presId="urn:microsoft.com/office/officeart/2008/layout/LinedList"/>
    <dgm:cxn modelId="{9EBB4770-E4DF-4531-963D-9A366E3C2CD9}" type="presParOf" srcId="{B606B0BB-1E59-4681-8D09-0B17327F726A}" destId="{7C3985C6-CB87-4E03-8A54-D6ED12F26BF6}" srcOrd="0" destOrd="0" presId="urn:microsoft.com/office/officeart/2008/layout/LinedList"/>
    <dgm:cxn modelId="{30D217FC-7807-4CF2-93BE-2F3B781C07B7}" type="presParOf" srcId="{B606B0BB-1E59-4681-8D09-0B17327F726A}" destId="{9A2958D3-1818-4340-A5F3-702191EA9E71}" srcOrd="1" destOrd="0" presId="urn:microsoft.com/office/officeart/2008/layout/LinedList"/>
    <dgm:cxn modelId="{A67FF7AA-E07C-422C-945E-3CBC4543E5D5}" type="presParOf" srcId="{30467F68-19C2-436C-8C36-FA18AAA249E3}" destId="{11D38FD7-F121-4D1F-8BD0-0557A94D8CB0}" srcOrd="2" destOrd="0" presId="urn:microsoft.com/office/officeart/2008/layout/LinedList"/>
    <dgm:cxn modelId="{2665B824-F3B5-4794-A01E-A6CBD5F66EBD}" type="presParOf" srcId="{30467F68-19C2-436C-8C36-FA18AAA249E3}" destId="{9C55B50D-8E13-41CE-8FC1-5222B2B42D99}" srcOrd="3" destOrd="0" presId="urn:microsoft.com/office/officeart/2008/layout/LinedList"/>
    <dgm:cxn modelId="{8A4FD32B-78D9-4DC8-BDCB-8FA0A7A553DB}" type="presParOf" srcId="{9C55B50D-8E13-41CE-8FC1-5222B2B42D99}" destId="{163D9791-37DA-460B-BF87-16D0CBDAD399}" srcOrd="0" destOrd="0" presId="urn:microsoft.com/office/officeart/2008/layout/LinedList"/>
    <dgm:cxn modelId="{B5B01E07-04F0-427C-A9A8-0D20182036D2}" type="presParOf" srcId="{9C55B50D-8E13-41CE-8FC1-5222B2B42D99}" destId="{A4429A2F-F7C0-4BC8-82FA-52B43F88176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FDA6D1-EA8E-4766-8378-C76CDEADD98D}" type="doc">
      <dgm:prSet loTypeId="urn:microsoft.com/office/officeart/2005/8/layout/bProcess2" loCatId="process" qsTypeId="urn:microsoft.com/office/officeart/2005/8/quickstyle/simple5" qsCatId="simple" csTypeId="urn:microsoft.com/office/officeart/2005/8/colors/accent1_2" csCatId="accent1"/>
      <dgm:spPr/>
      <dgm:t>
        <a:bodyPr/>
        <a:lstStyle/>
        <a:p>
          <a:endParaRPr lang="en-US"/>
        </a:p>
      </dgm:t>
    </dgm:pt>
    <dgm:pt modelId="{955B5D31-4FA5-4369-9BCD-FC8EC39A7D2E}">
      <dgm:prSet/>
      <dgm:spPr/>
      <dgm:t>
        <a:bodyPr/>
        <a:lstStyle/>
        <a:p>
          <a:r>
            <a:rPr lang="en-US" dirty="0"/>
            <a:t>Treatment: appropriate/immediate i.e. access to medical care, defibrillators</a:t>
          </a:r>
        </a:p>
      </dgm:t>
    </dgm:pt>
    <dgm:pt modelId="{F5DA122D-1A8C-4D45-A1CC-6E1B773FD1C7}" type="parTrans" cxnId="{04A949B9-4090-44C0-9123-26C806EA1D8F}">
      <dgm:prSet/>
      <dgm:spPr/>
      <dgm:t>
        <a:bodyPr/>
        <a:lstStyle/>
        <a:p>
          <a:endParaRPr lang="en-US"/>
        </a:p>
      </dgm:t>
    </dgm:pt>
    <dgm:pt modelId="{5B64FBD8-84C7-4B10-B61C-512F3DEB5D01}" type="sibTrans" cxnId="{04A949B9-4090-44C0-9123-26C806EA1D8F}">
      <dgm:prSet/>
      <dgm:spPr/>
      <dgm:t>
        <a:bodyPr/>
        <a:lstStyle/>
        <a:p>
          <a:endParaRPr lang="en-US"/>
        </a:p>
      </dgm:t>
    </dgm:pt>
    <dgm:pt modelId="{EA93084E-0161-49FC-BA56-25FDB71D07CA}">
      <dgm:prSet/>
      <dgm:spPr/>
      <dgm:t>
        <a:bodyPr/>
        <a:lstStyle/>
        <a:p>
          <a:r>
            <a:rPr lang="en-US" dirty="0"/>
            <a:t>Counselling and physical rehabilitation after a heart attack</a:t>
          </a:r>
        </a:p>
      </dgm:t>
    </dgm:pt>
    <dgm:pt modelId="{3D448F09-F8AF-4C2A-AB43-0A30D0DAE681}" type="parTrans" cxnId="{4A59A728-2F1E-471C-8729-8915117DD042}">
      <dgm:prSet/>
      <dgm:spPr/>
      <dgm:t>
        <a:bodyPr/>
        <a:lstStyle/>
        <a:p>
          <a:endParaRPr lang="en-US"/>
        </a:p>
      </dgm:t>
    </dgm:pt>
    <dgm:pt modelId="{9DB95850-222F-43A8-9DCA-CFCB83527825}" type="sibTrans" cxnId="{4A59A728-2F1E-471C-8729-8915117DD042}">
      <dgm:prSet/>
      <dgm:spPr/>
      <dgm:t>
        <a:bodyPr/>
        <a:lstStyle/>
        <a:p>
          <a:endParaRPr lang="en-US"/>
        </a:p>
      </dgm:t>
    </dgm:pt>
    <dgm:pt modelId="{7AEC3701-4ADD-409A-A9CC-31D2044F0ECC}" type="pres">
      <dgm:prSet presAssocID="{51FDA6D1-EA8E-4766-8378-C76CDEADD98D}" presName="diagram" presStyleCnt="0">
        <dgm:presLayoutVars>
          <dgm:dir/>
          <dgm:resizeHandles/>
        </dgm:presLayoutVars>
      </dgm:prSet>
      <dgm:spPr/>
    </dgm:pt>
    <dgm:pt modelId="{2D638C8A-E708-4729-9B42-5B23B6128D9A}" type="pres">
      <dgm:prSet presAssocID="{955B5D31-4FA5-4369-9BCD-FC8EC39A7D2E}" presName="firstNode" presStyleLbl="node1" presStyleIdx="0" presStyleCnt="2">
        <dgm:presLayoutVars>
          <dgm:bulletEnabled val="1"/>
        </dgm:presLayoutVars>
      </dgm:prSet>
      <dgm:spPr/>
    </dgm:pt>
    <dgm:pt modelId="{7CC851A9-F4E7-4C18-BDDB-1A2031101023}" type="pres">
      <dgm:prSet presAssocID="{5B64FBD8-84C7-4B10-B61C-512F3DEB5D01}" presName="sibTrans" presStyleLbl="sibTrans2D1" presStyleIdx="0" presStyleCnt="1"/>
      <dgm:spPr/>
    </dgm:pt>
    <dgm:pt modelId="{AA6CDEDC-3E71-4667-86D0-E5F5448653FF}" type="pres">
      <dgm:prSet presAssocID="{EA93084E-0161-49FC-BA56-25FDB71D07CA}" presName="lastNode" presStyleLbl="node1" presStyleIdx="1" presStyleCnt="2">
        <dgm:presLayoutVars>
          <dgm:bulletEnabled val="1"/>
        </dgm:presLayoutVars>
      </dgm:prSet>
      <dgm:spPr/>
    </dgm:pt>
  </dgm:ptLst>
  <dgm:cxnLst>
    <dgm:cxn modelId="{DBCC851E-B859-43D6-A218-760A8CC88618}" type="presOf" srcId="{51FDA6D1-EA8E-4766-8378-C76CDEADD98D}" destId="{7AEC3701-4ADD-409A-A9CC-31D2044F0ECC}" srcOrd="0" destOrd="0" presId="urn:microsoft.com/office/officeart/2005/8/layout/bProcess2"/>
    <dgm:cxn modelId="{4A59A728-2F1E-471C-8729-8915117DD042}" srcId="{51FDA6D1-EA8E-4766-8378-C76CDEADD98D}" destId="{EA93084E-0161-49FC-BA56-25FDB71D07CA}" srcOrd="1" destOrd="0" parTransId="{3D448F09-F8AF-4C2A-AB43-0A30D0DAE681}" sibTransId="{9DB95850-222F-43A8-9DCA-CFCB83527825}"/>
    <dgm:cxn modelId="{42E6CC3F-D5BE-4258-B9A3-7F19367A5720}" type="presOf" srcId="{955B5D31-4FA5-4369-9BCD-FC8EC39A7D2E}" destId="{2D638C8A-E708-4729-9B42-5B23B6128D9A}" srcOrd="0" destOrd="0" presId="urn:microsoft.com/office/officeart/2005/8/layout/bProcess2"/>
    <dgm:cxn modelId="{0D829285-7185-40B2-A521-10B61CF7F601}" type="presOf" srcId="{5B64FBD8-84C7-4B10-B61C-512F3DEB5D01}" destId="{7CC851A9-F4E7-4C18-BDDB-1A2031101023}" srcOrd="0" destOrd="0" presId="urn:microsoft.com/office/officeart/2005/8/layout/bProcess2"/>
    <dgm:cxn modelId="{04A949B9-4090-44C0-9123-26C806EA1D8F}" srcId="{51FDA6D1-EA8E-4766-8378-C76CDEADD98D}" destId="{955B5D31-4FA5-4369-9BCD-FC8EC39A7D2E}" srcOrd="0" destOrd="0" parTransId="{F5DA122D-1A8C-4D45-A1CC-6E1B773FD1C7}" sibTransId="{5B64FBD8-84C7-4B10-B61C-512F3DEB5D01}"/>
    <dgm:cxn modelId="{49EF8EE9-D1EC-4FC5-9630-2CEDA3885896}" type="presOf" srcId="{EA93084E-0161-49FC-BA56-25FDB71D07CA}" destId="{AA6CDEDC-3E71-4667-86D0-E5F5448653FF}" srcOrd="0" destOrd="0" presId="urn:microsoft.com/office/officeart/2005/8/layout/bProcess2"/>
    <dgm:cxn modelId="{D455629B-73A8-4FED-A551-5C7AC6333FCF}" type="presParOf" srcId="{7AEC3701-4ADD-409A-A9CC-31D2044F0ECC}" destId="{2D638C8A-E708-4729-9B42-5B23B6128D9A}" srcOrd="0" destOrd="0" presId="urn:microsoft.com/office/officeart/2005/8/layout/bProcess2"/>
    <dgm:cxn modelId="{85D31640-0FD1-4CEA-8416-F4E5107B2A71}" type="presParOf" srcId="{7AEC3701-4ADD-409A-A9CC-31D2044F0ECC}" destId="{7CC851A9-F4E7-4C18-BDDB-1A2031101023}" srcOrd="1" destOrd="0" presId="urn:microsoft.com/office/officeart/2005/8/layout/bProcess2"/>
    <dgm:cxn modelId="{5C673E0D-E499-444B-ADDE-E0F3344B8B46}" type="presParOf" srcId="{7AEC3701-4ADD-409A-A9CC-31D2044F0ECC}" destId="{AA6CDEDC-3E71-4667-86D0-E5F5448653FF}" srcOrd="2" destOrd="0" presId="urn:microsoft.com/office/officeart/2005/8/layout/b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82C08C4-DE7E-43A2-9FE1-45EC5B285AA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0D149530-73A3-495E-9F0F-3B56738E9B7E}">
      <dgm:prSet/>
      <dgm:spPr/>
      <dgm:t>
        <a:bodyPr/>
        <a:lstStyle/>
        <a:p>
          <a:r>
            <a:rPr lang="en-US" dirty="0"/>
            <a:t>Prior to the interview each participant was informed about the objective of the evaluation and advised that the interview would be confidential and would last no longer than 10 minutes (median time was 8 minutes)</a:t>
          </a:r>
        </a:p>
      </dgm:t>
    </dgm:pt>
    <dgm:pt modelId="{377E2E95-F0C9-41B5-9507-4A0CB89CC2DF}" type="parTrans" cxnId="{7A6FFBF5-CA59-4EF0-9B1B-40CD8B971CF0}">
      <dgm:prSet/>
      <dgm:spPr/>
      <dgm:t>
        <a:bodyPr/>
        <a:lstStyle/>
        <a:p>
          <a:endParaRPr lang="en-US"/>
        </a:p>
      </dgm:t>
    </dgm:pt>
    <dgm:pt modelId="{D681E1E3-17F5-4B03-82AF-8885AB53A5CB}" type="sibTrans" cxnId="{7A6FFBF5-CA59-4EF0-9B1B-40CD8B971CF0}">
      <dgm:prSet/>
      <dgm:spPr/>
      <dgm:t>
        <a:bodyPr/>
        <a:lstStyle/>
        <a:p>
          <a:endParaRPr lang="en-US"/>
        </a:p>
      </dgm:t>
    </dgm:pt>
    <dgm:pt modelId="{4A0E3C82-3332-4438-9742-441762CAA404}">
      <dgm:prSet/>
      <dgm:spPr/>
      <dgm:t>
        <a:bodyPr/>
        <a:lstStyle/>
        <a:p>
          <a:r>
            <a:rPr lang="en-US" dirty="0"/>
            <a:t>Subjects completed the NHS consent form to the service provider indicating their willingness or otherwise to take part in the evaluation study</a:t>
          </a:r>
        </a:p>
      </dgm:t>
    </dgm:pt>
    <dgm:pt modelId="{B517EDAB-FFBA-46D2-ABC5-3E2AA87859EA}" type="parTrans" cxnId="{D5CD91D4-5337-44F0-BBC7-444F895D817C}">
      <dgm:prSet/>
      <dgm:spPr/>
      <dgm:t>
        <a:bodyPr/>
        <a:lstStyle/>
        <a:p>
          <a:endParaRPr lang="en-US"/>
        </a:p>
      </dgm:t>
    </dgm:pt>
    <dgm:pt modelId="{2C3EC9C6-B6A0-495E-8972-F02230501886}" type="sibTrans" cxnId="{D5CD91D4-5337-44F0-BBC7-444F895D817C}">
      <dgm:prSet/>
      <dgm:spPr/>
      <dgm:t>
        <a:bodyPr/>
        <a:lstStyle/>
        <a:p>
          <a:endParaRPr lang="en-US"/>
        </a:p>
      </dgm:t>
    </dgm:pt>
    <dgm:pt modelId="{1C3DA7ED-AB70-4E29-8F54-41861FE57FFA}">
      <dgm:prSet/>
      <dgm:spPr/>
      <dgm:t>
        <a:bodyPr/>
        <a:lstStyle/>
        <a:p>
          <a:r>
            <a:rPr lang="en-US" dirty="0"/>
            <a:t>Consenting participants were approached directly by the researcher and invited to be interviewed at the intervention site after completion of their health checks</a:t>
          </a:r>
        </a:p>
      </dgm:t>
    </dgm:pt>
    <dgm:pt modelId="{29C21606-1202-4484-889D-79E3902EDF6D}" type="parTrans" cxnId="{654F7757-B4FB-4EA5-9E8D-E0124511BB67}">
      <dgm:prSet/>
      <dgm:spPr/>
      <dgm:t>
        <a:bodyPr/>
        <a:lstStyle/>
        <a:p>
          <a:endParaRPr lang="en-US"/>
        </a:p>
      </dgm:t>
    </dgm:pt>
    <dgm:pt modelId="{44E24B56-0A6C-4B27-B161-CA39F6365027}" type="sibTrans" cxnId="{654F7757-B4FB-4EA5-9E8D-E0124511BB67}">
      <dgm:prSet/>
      <dgm:spPr/>
      <dgm:t>
        <a:bodyPr/>
        <a:lstStyle/>
        <a:p>
          <a:endParaRPr lang="en-US"/>
        </a:p>
      </dgm:t>
    </dgm:pt>
    <dgm:pt modelId="{1A7235F1-F0F1-844C-84B4-71CE3BDCD2A9}" type="pres">
      <dgm:prSet presAssocID="{F82C08C4-DE7E-43A2-9FE1-45EC5B285AAC}" presName="linear" presStyleCnt="0">
        <dgm:presLayoutVars>
          <dgm:animLvl val="lvl"/>
          <dgm:resizeHandles val="exact"/>
        </dgm:presLayoutVars>
      </dgm:prSet>
      <dgm:spPr/>
    </dgm:pt>
    <dgm:pt modelId="{362EF9D0-BE09-3643-91DD-B908A12F63CE}" type="pres">
      <dgm:prSet presAssocID="{0D149530-73A3-495E-9F0F-3B56738E9B7E}" presName="parentText" presStyleLbl="node1" presStyleIdx="0" presStyleCnt="3">
        <dgm:presLayoutVars>
          <dgm:chMax val="0"/>
          <dgm:bulletEnabled val="1"/>
        </dgm:presLayoutVars>
      </dgm:prSet>
      <dgm:spPr/>
    </dgm:pt>
    <dgm:pt modelId="{2CEDADAF-9068-F848-B67A-C8E9B54E6842}" type="pres">
      <dgm:prSet presAssocID="{D681E1E3-17F5-4B03-82AF-8885AB53A5CB}" presName="spacer" presStyleCnt="0"/>
      <dgm:spPr/>
    </dgm:pt>
    <dgm:pt modelId="{DCED417E-EA9E-EE43-8ECA-61AA7152FA60}" type="pres">
      <dgm:prSet presAssocID="{4A0E3C82-3332-4438-9742-441762CAA404}" presName="parentText" presStyleLbl="node1" presStyleIdx="1" presStyleCnt="3">
        <dgm:presLayoutVars>
          <dgm:chMax val="0"/>
          <dgm:bulletEnabled val="1"/>
        </dgm:presLayoutVars>
      </dgm:prSet>
      <dgm:spPr/>
    </dgm:pt>
    <dgm:pt modelId="{95A772D2-4E7D-D245-950C-D56A45E6788F}" type="pres">
      <dgm:prSet presAssocID="{2C3EC9C6-B6A0-495E-8972-F02230501886}" presName="spacer" presStyleCnt="0"/>
      <dgm:spPr/>
    </dgm:pt>
    <dgm:pt modelId="{7E05FF49-E437-824B-8921-354C56943BC2}" type="pres">
      <dgm:prSet presAssocID="{1C3DA7ED-AB70-4E29-8F54-41861FE57FFA}" presName="parentText" presStyleLbl="node1" presStyleIdx="2" presStyleCnt="3">
        <dgm:presLayoutVars>
          <dgm:chMax val="0"/>
          <dgm:bulletEnabled val="1"/>
        </dgm:presLayoutVars>
      </dgm:prSet>
      <dgm:spPr/>
    </dgm:pt>
  </dgm:ptLst>
  <dgm:cxnLst>
    <dgm:cxn modelId="{3495DB1B-A654-AA4A-8D2C-3F03C6D6EC85}" type="presOf" srcId="{4A0E3C82-3332-4438-9742-441762CAA404}" destId="{DCED417E-EA9E-EE43-8ECA-61AA7152FA60}" srcOrd="0" destOrd="0" presId="urn:microsoft.com/office/officeart/2005/8/layout/vList2"/>
    <dgm:cxn modelId="{8B4E2531-4A61-E649-9945-4785D10F5F27}" type="presOf" srcId="{0D149530-73A3-495E-9F0F-3B56738E9B7E}" destId="{362EF9D0-BE09-3643-91DD-B908A12F63CE}" srcOrd="0" destOrd="0" presId="urn:microsoft.com/office/officeart/2005/8/layout/vList2"/>
    <dgm:cxn modelId="{654F7757-B4FB-4EA5-9E8D-E0124511BB67}" srcId="{F82C08C4-DE7E-43A2-9FE1-45EC5B285AAC}" destId="{1C3DA7ED-AB70-4E29-8F54-41861FE57FFA}" srcOrd="2" destOrd="0" parTransId="{29C21606-1202-4484-889D-79E3902EDF6D}" sibTransId="{44E24B56-0A6C-4B27-B161-CA39F6365027}"/>
    <dgm:cxn modelId="{A09F40A8-AA9E-2B4E-9660-AB607F91C3AB}" type="presOf" srcId="{1C3DA7ED-AB70-4E29-8F54-41861FE57FFA}" destId="{7E05FF49-E437-824B-8921-354C56943BC2}" srcOrd="0" destOrd="0" presId="urn:microsoft.com/office/officeart/2005/8/layout/vList2"/>
    <dgm:cxn modelId="{D5CD91D4-5337-44F0-BBC7-444F895D817C}" srcId="{F82C08C4-DE7E-43A2-9FE1-45EC5B285AAC}" destId="{4A0E3C82-3332-4438-9742-441762CAA404}" srcOrd="1" destOrd="0" parTransId="{B517EDAB-FFBA-46D2-ABC5-3E2AA87859EA}" sibTransId="{2C3EC9C6-B6A0-495E-8972-F02230501886}"/>
    <dgm:cxn modelId="{70B6F8E4-69FC-E04A-890F-94B8B445C03F}" type="presOf" srcId="{F82C08C4-DE7E-43A2-9FE1-45EC5B285AAC}" destId="{1A7235F1-F0F1-844C-84B4-71CE3BDCD2A9}" srcOrd="0" destOrd="0" presId="urn:microsoft.com/office/officeart/2005/8/layout/vList2"/>
    <dgm:cxn modelId="{7A6FFBF5-CA59-4EF0-9B1B-40CD8B971CF0}" srcId="{F82C08C4-DE7E-43A2-9FE1-45EC5B285AAC}" destId="{0D149530-73A3-495E-9F0F-3B56738E9B7E}" srcOrd="0" destOrd="0" parTransId="{377E2E95-F0C9-41B5-9507-4A0CB89CC2DF}" sibTransId="{D681E1E3-17F5-4B03-82AF-8885AB53A5CB}"/>
    <dgm:cxn modelId="{55A2170B-FA5A-D045-AAF6-DE8B957848CF}" type="presParOf" srcId="{1A7235F1-F0F1-844C-84B4-71CE3BDCD2A9}" destId="{362EF9D0-BE09-3643-91DD-B908A12F63CE}" srcOrd="0" destOrd="0" presId="urn:microsoft.com/office/officeart/2005/8/layout/vList2"/>
    <dgm:cxn modelId="{B4DB51A4-A2A3-9441-9DD9-7635BD48D98E}" type="presParOf" srcId="{1A7235F1-F0F1-844C-84B4-71CE3BDCD2A9}" destId="{2CEDADAF-9068-F848-B67A-C8E9B54E6842}" srcOrd="1" destOrd="0" presId="urn:microsoft.com/office/officeart/2005/8/layout/vList2"/>
    <dgm:cxn modelId="{E4F20E0B-55E2-794D-826A-DCEEE4AEA849}" type="presParOf" srcId="{1A7235F1-F0F1-844C-84B4-71CE3BDCD2A9}" destId="{DCED417E-EA9E-EE43-8ECA-61AA7152FA60}" srcOrd="2" destOrd="0" presId="urn:microsoft.com/office/officeart/2005/8/layout/vList2"/>
    <dgm:cxn modelId="{9AEBA2ED-3CE5-C649-B019-3A1445EE9674}" type="presParOf" srcId="{1A7235F1-F0F1-844C-84B4-71CE3BDCD2A9}" destId="{95A772D2-4E7D-D245-950C-D56A45E6788F}" srcOrd="3" destOrd="0" presId="urn:microsoft.com/office/officeart/2005/8/layout/vList2"/>
    <dgm:cxn modelId="{6045183B-959E-E143-A4A4-37B3E08B57E0}" type="presParOf" srcId="{1A7235F1-F0F1-844C-84B4-71CE3BDCD2A9}" destId="{7E05FF49-E437-824B-8921-354C56943BC2}"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DD6E8A9-F716-469A-B822-FC188FEA246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12216AED-5D07-499B-AE1F-7CCB2D146ECC}">
      <dgm:prSet/>
      <dgm:spPr/>
      <dgm:t>
        <a:bodyPr/>
        <a:lstStyle/>
        <a:p>
          <a:r>
            <a:rPr lang="en-GB" dirty="0"/>
            <a:t>100 participants were involved in the pilot evaluation of the Islington NHSHC</a:t>
          </a:r>
          <a:endParaRPr lang="en-US" dirty="0"/>
        </a:p>
      </dgm:t>
    </dgm:pt>
    <dgm:pt modelId="{F93E2F39-080B-4960-9BD9-18A528F367D9}" type="parTrans" cxnId="{7BC5F487-5ED1-4A08-8949-679A3AD7EB27}">
      <dgm:prSet/>
      <dgm:spPr/>
      <dgm:t>
        <a:bodyPr/>
        <a:lstStyle/>
        <a:p>
          <a:endParaRPr lang="en-US"/>
        </a:p>
      </dgm:t>
    </dgm:pt>
    <dgm:pt modelId="{DB551DBD-FD71-40A0-8086-2BC19BB43A0A}" type="sibTrans" cxnId="{7BC5F487-5ED1-4A08-8949-679A3AD7EB27}">
      <dgm:prSet/>
      <dgm:spPr/>
      <dgm:t>
        <a:bodyPr/>
        <a:lstStyle/>
        <a:p>
          <a:endParaRPr lang="en-US"/>
        </a:p>
      </dgm:t>
    </dgm:pt>
    <dgm:pt modelId="{727AEA39-B951-458E-9B42-3D89B230D6BF}">
      <dgm:prSet/>
      <dgm:spPr/>
      <dgm:t>
        <a:bodyPr/>
        <a:lstStyle/>
        <a:p>
          <a:r>
            <a:rPr lang="en-GB" dirty="0"/>
            <a:t>Representative in terms of age and level of employment </a:t>
          </a:r>
          <a:endParaRPr lang="en-US" dirty="0"/>
        </a:p>
      </dgm:t>
    </dgm:pt>
    <dgm:pt modelId="{2755CDE1-6307-44B0-B199-30EBC0D0F9D2}" type="parTrans" cxnId="{A7DEB6C5-FD50-472B-8CF5-F49251653CDB}">
      <dgm:prSet/>
      <dgm:spPr/>
      <dgm:t>
        <a:bodyPr/>
        <a:lstStyle/>
        <a:p>
          <a:endParaRPr lang="en-US"/>
        </a:p>
      </dgm:t>
    </dgm:pt>
    <dgm:pt modelId="{A3E14B80-91BA-4AD6-819B-44BB725C2539}" type="sibTrans" cxnId="{A7DEB6C5-FD50-472B-8CF5-F49251653CDB}">
      <dgm:prSet/>
      <dgm:spPr/>
      <dgm:t>
        <a:bodyPr/>
        <a:lstStyle/>
        <a:p>
          <a:endParaRPr lang="en-US"/>
        </a:p>
      </dgm:t>
    </dgm:pt>
    <dgm:pt modelId="{F6EDC06A-34D8-46CA-97D1-9F8375CE5BEA}">
      <dgm:prSet/>
      <dgm:spPr/>
      <dgm:t>
        <a:bodyPr/>
        <a:lstStyle/>
        <a:p>
          <a:r>
            <a:rPr lang="en-US" dirty="0"/>
            <a:t>A disproportionately higher number of females (69%) took part in the survey reflecting higher number of female subjects who had health checks</a:t>
          </a:r>
        </a:p>
      </dgm:t>
    </dgm:pt>
    <dgm:pt modelId="{83A0F277-0AA4-44FD-B73A-898F1E1E6AD0}" type="parTrans" cxnId="{C056122D-CBEF-48E5-8968-706592979364}">
      <dgm:prSet/>
      <dgm:spPr/>
      <dgm:t>
        <a:bodyPr/>
        <a:lstStyle/>
        <a:p>
          <a:endParaRPr lang="en-US"/>
        </a:p>
      </dgm:t>
    </dgm:pt>
    <dgm:pt modelId="{9425633E-E847-41F6-ACCF-32DFC7C18120}" type="sibTrans" cxnId="{C056122D-CBEF-48E5-8968-706592979364}">
      <dgm:prSet/>
      <dgm:spPr/>
      <dgm:t>
        <a:bodyPr/>
        <a:lstStyle/>
        <a:p>
          <a:endParaRPr lang="en-US"/>
        </a:p>
      </dgm:t>
    </dgm:pt>
    <dgm:pt modelId="{DED4BA29-9114-4399-B8A9-86BF4F727053}">
      <dgm:prSet/>
      <dgm:spPr/>
      <dgm:t>
        <a:bodyPr/>
        <a:lstStyle/>
        <a:p>
          <a:r>
            <a:rPr lang="en-US" dirty="0"/>
            <a:t>Over-representation of English participants (54%)</a:t>
          </a:r>
        </a:p>
      </dgm:t>
    </dgm:pt>
    <dgm:pt modelId="{57692CBA-BE3D-413A-8CD5-94DEE63B6051}" type="parTrans" cxnId="{CD1E8B0C-F33C-4A38-994B-F6CA3F0CEAC3}">
      <dgm:prSet/>
      <dgm:spPr/>
      <dgm:t>
        <a:bodyPr/>
        <a:lstStyle/>
        <a:p>
          <a:endParaRPr lang="en-US"/>
        </a:p>
      </dgm:t>
    </dgm:pt>
    <dgm:pt modelId="{E162B4E5-C3B4-407B-B6F4-4351FCE77A6C}" type="sibTrans" cxnId="{CD1E8B0C-F33C-4A38-994B-F6CA3F0CEAC3}">
      <dgm:prSet/>
      <dgm:spPr/>
      <dgm:t>
        <a:bodyPr/>
        <a:lstStyle/>
        <a:p>
          <a:endParaRPr lang="en-US"/>
        </a:p>
      </dgm:t>
    </dgm:pt>
    <dgm:pt modelId="{96F110EC-09DB-7E42-B700-D1E33B1C3281}" type="pres">
      <dgm:prSet presAssocID="{DDD6E8A9-F716-469A-B822-FC188FEA246D}" presName="linear" presStyleCnt="0">
        <dgm:presLayoutVars>
          <dgm:animLvl val="lvl"/>
          <dgm:resizeHandles val="exact"/>
        </dgm:presLayoutVars>
      </dgm:prSet>
      <dgm:spPr/>
    </dgm:pt>
    <dgm:pt modelId="{C8838CBC-8E38-E24F-9B86-94805136BDBB}" type="pres">
      <dgm:prSet presAssocID="{12216AED-5D07-499B-AE1F-7CCB2D146ECC}" presName="parentText" presStyleLbl="node1" presStyleIdx="0" presStyleCnt="4">
        <dgm:presLayoutVars>
          <dgm:chMax val="0"/>
          <dgm:bulletEnabled val="1"/>
        </dgm:presLayoutVars>
      </dgm:prSet>
      <dgm:spPr/>
    </dgm:pt>
    <dgm:pt modelId="{024E7F98-862E-B24E-AA0F-3B1871157E64}" type="pres">
      <dgm:prSet presAssocID="{DB551DBD-FD71-40A0-8086-2BC19BB43A0A}" presName="spacer" presStyleCnt="0"/>
      <dgm:spPr/>
    </dgm:pt>
    <dgm:pt modelId="{72F3AD58-EB6A-9D4B-978F-3A2A14DCB9CA}" type="pres">
      <dgm:prSet presAssocID="{727AEA39-B951-458E-9B42-3D89B230D6BF}" presName="parentText" presStyleLbl="node1" presStyleIdx="1" presStyleCnt="4">
        <dgm:presLayoutVars>
          <dgm:chMax val="0"/>
          <dgm:bulletEnabled val="1"/>
        </dgm:presLayoutVars>
      </dgm:prSet>
      <dgm:spPr/>
    </dgm:pt>
    <dgm:pt modelId="{FB575E1D-B002-7D46-BD6D-BB302D6D6D73}" type="pres">
      <dgm:prSet presAssocID="{A3E14B80-91BA-4AD6-819B-44BB725C2539}" presName="spacer" presStyleCnt="0"/>
      <dgm:spPr/>
    </dgm:pt>
    <dgm:pt modelId="{3B2E3FFC-9A5B-8245-8F9C-25CB6341DBE5}" type="pres">
      <dgm:prSet presAssocID="{F6EDC06A-34D8-46CA-97D1-9F8375CE5BEA}" presName="parentText" presStyleLbl="node1" presStyleIdx="2" presStyleCnt="4">
        <dgm:presLayoutVars>
          <dgm:chMax val="0"/>
          <dgm:bulletEnabled val="1"/>
        </dgm:presLayoutVars>
      </dgm:prSet>
      <dgm:spPr/>
    </dgm:pt>
    <dgm:pt modelId="{61445C6B-BA6E-2140-A03E-72D8C356F341}" type="pres">
      <dgm:prSet presAssocID="{9425633E-E847-41F6-ACCF-32DFC7C18120}" presName="spacer" presStyleCnt="0"/>
      <dgm:spPr/>
    </dgm:pt>
    <dgm:pt modelId="{5947F0F2-AE80-7E40-B680-3BC7D448E01B}" type="pres">
      <dgm:prSet presAssocID="{DED4BA29-9114-4399-B8A9-86BF4F727053}" presName="parentText" presStyleLbl="node1" presStyleIdx="3" presStyleCnt="4">
        <dgm:presLayoutVars>
          <dgm:chMax val="0"/>
          <dgm:bulletEnabled val="1"/>
        </dgm:presLayoutVars>
      </dgm:prSet>
      <dgm:spPr/>
    </dgm:pt>
  </dgm:ptLst>
  <dgm:cxnLst>
    <dgm:cxn modelId="{CD1E8B0C-F33C-4A38-994B-F6CA3F0CEAC3}" srcId="{DDD6E8A9-F716-469A-B822-FC188FEA246D}" destId="{DED4BA29-9114-4399-B8A9-86BF4F727053}" srcOrd="3" destOrd="0" parTransId="{57692CBA-BE3D-413A-8CD5-94DEE63B6051}" sibTransId="{E162B4E5-C3B4-407B-B6F4-4351FCE77A6C}"/>
    <dgm:cxn modelId="{C77CA112-6E3E-404D-B598-7D427B6991BB}" type="presOf" srcId="{727AEA39-B951-458E-9B42-3D89B230D6BF}" destId="{72F3AD58-EB6A-9D4B-978F-3A2A14DCB9CA}" srcOrd="0" destOrd="0" presId="urn:microsoft.com/office/officeart/2005/8/layout/vList2"/>
    <dgm:cxn modelId="{A55B9528-0756-CD4C-A342-AF829F5F440D}" type="presOf" srcId="{F6EDC06A-34D8-46CA-97D1-9F8375CE5BEA}" destId="{3B2E3FFC-9A5B-8245-8F9C-25CB6341DBE5}" srcOrd="0" destOrd="0" presId="urn:microsoft.com/office/officeart/2005/8/layout/vList2"/>
    <dgm:cxn modelId="{C056122D-CBEF-48E5-8968-706592979364}" srcId="{DDD6E8A9-F716-469A-B822-FC188FEA246D}" destId="{F6EDC06A-34D8-46CA-97D1-9F8375CE5BEA}" srcOrd="2" destOrd="0" parTransId="{83A0F277-0AA4-44FD-B73A-898F1E1E6AD0}" sibTransId="{9425633E-E847-41F6-ACCF-32DFC7C18120}"/>
    <dgm:cxn modelId="{BEACD06C-FFBC-7E4C-B672-3EC71C6D88D1}" type="presOf" srcId="{DED4BA29-9114-4399-B8A9-86BF4F727053}" destId="{5947F0F2-AE80-7E40-B680-3BC7D448E01B}" srcOrd="0" destOrd="0" presId="urn:microsoft.com/office/officeart/2005/8/layout/vList2"/>
    <dgm:cxn modelId="{7BC5F487-5ED1-4A08-8949-679A3AD7EB27}" srcId="{DDD6E8A9-F716-469A-B822-FC188FEA246D}" destId="{12216AED-5D07-499B-AE1F-7CCB2D146ECC}" srcOrd="0" destOrd="0" parTransId="{F93E2F39-080B-4960-9BD9-18A528F367D9}" sibTransId="{DB551DBD-FD71-40A0-8086-2BC19BB43A0A}"/>
    <dgm:cxn modelId="{A7DEB6C5-FD50-472B-8CF5-F49251653CDB}" srcId="{DDD6E8A9-F716-469A-B822-FC188FEA246D}" destId="{727AEA39-B951-458E-9B42-3D89B230D6BF}" srcOrd="1" destOrd="0" parTransId="{2755CDE1-6307-44B0-B199-30EBC0D0F9D2}" sibTransId="{A3E14B80-91BA-4AD6-819B-44BB725C2539}"/>
    <dgm:cxn modelId="{40DC5BC8-C09E-1E42-BD56-73BD286598E0}" type="presOf" srcId="{DDD6E8A9-F716-469A-B822-FC188FEA246D}" destId="{96F110EC-09DB-7E42-B700-D1E33B1C3281}" srcOrd="0" destOrd="0" presId="urn:microsoft.com/office/officeart/2005/8/layout/vList2"/>
    <dgm:cxn modelId="{ACC4E5E1-B80F-7F40-B9BB-8D7CBC35038D}" type="presOf" srcId="{12216AED-5D07-499B-AE1F-7CCB2D146ECC}" destId="{C8838CBC-8E38-E24F-9B86-94805136BDBB}" srcOrd="0" destOrd="0" presId="urn:microsoft.com/office/officeart/2005/8/layout/vList2"/>
    <dgm:cxn modelId="{903AA846-25B3-264F-9B1E-002099D75380}" type="presParOf" srcId="{96F110EC-09DB-7E42-B700-D1E33B1C3281}" destId="{C8838CBC-8E38-E24F-9B86-94805136BDBB}" srcOrd="0" destOrd="0" presId="urn:microsoft.com/office/officeart/2005/8/layout/vList2"/>
    <dgm:cxn modelId="{1FFA2659-1F21-B948-8B46-1C8D0F873219}" type="presParOf" srcId="{96F110EC-09DB-7E42-B700-D1E33B1C3281}" destId="{024E7F98-862E-B24E-AA0F-3B1871157E64}" srcOrd="1" destOrd="0" presId="urn:microsoft.com/office/officeart/2005/8/layout/vList2"/>
    <dgm:cxn modelId="{287EF9D9-B7BF-5848-AA14-27A1B13EE73F}" type="presParOf" srcId="{96F110EC-09DB-7E42-B700-D1E33B1C3281}" destId="{72F3AD58-EB6A-9D4B-978F-3A2A14DCB9CA}" srcOrd="2" destOrd="0" presId="urn:microsoft.com/office/officeart/2005/8/layout/vList2"/>
    <dgm:cxn modelId="{BEE7CA08-D5B2-1147-B374-2DA98FC4C84B}" type="presParOf" srcId="{96F110EC-09DB-7E42-B700-D1E33B1C3281}" destId="{FB575E1D-B002-7D46-BD6D-BB302D6D6D73}" srcOrd="3" destOrd="0" presId="urn:microsoft.com/office/officeart/2005/8/layout/vList2"/>
    <dgm:cxn modelId="{4A713DC3-9C91-3F4F-BF4A-67869098B344}" type="presParOf" srcId="{96F110EC-09DB-7E42-B700-D1E33B1C3281}" destId="{3B2E3FFC-9A5B-8245-8F9C-25CB6341DBE5}" srcOrd="4" destOrd="0" presId="urn:microsoft.com/office/officeart/2005/8/layout/vList2"/>
    <dgm:cxn modelId="{D5D232A1-42C5-2D4F-A5C9-EEEC6AEB2F41}" type="presParOf" srcId="{96F110EC-09DB-7E42-B700-D1E33B1C3281}" destId="{61445C6B-BA6E-2140-A03E-72D8C356F341}" srcOrd="5" destOrd="0" presId="urn:microsoft.com/office/officeart/2005/8/layout/vList2"/>
    <dgm:cxn modelId="{5B2EDBB6-4677-1748-AEBC-F01ED4049B52}" type="presParOf" srcId="{96F110EC-09DB-7E42-B700-D1E33B1C3281}" destId="{5947F0F2-AE80-7E40-B680-3BC7D448E01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DA99418-C7C5-4FA8-ADEA-F4BCC00585CC}" type="doc">
      <dgm:prSet loTypeId="urn:microsoft.com/office/officeart/2005/8/layout/process4" loCatId="process" qsTypeId="urn:microsoft.com/office/officeart/2005/8/quickstyle/simple1" qsCatId="simple" csTypeId="urn:microsoft.com/office/officeart/2005/8/colors/accent1_2" csCatId="accent1"/>
      <dgm:spPr/>
      <dgm:t>
        <a:bodyPr/>
        <a:lstStyle/>
        <a:p>
          <a:endParaRPr lang="en-US"/>
        </a:p>
      </dgm:t>
    </dgm:pt>
    <dgm:pt modelId="{03298440-E670-461B-A756-91E813602F50}">
      <dgm:prSet/>
      <dgm:spPr/>
      <dgm:t>
        <a:bodyPr/>
        <a:lstStyle/>
        <a:p>
          <a:r>
            <a:rPr lang="en-US" dirty="0"/>
            <a:t>The community Health Checks were accessed by a representative population of the Islington borough, with good engagement of the black and minority ethnic groups </a:t>
          </a:r>
        </a:p>
      </dgm:t>
    </dgm:pt>
    <dgm:pt modelId="{20DEA40C-B1BD-423B-A04F-806E5645D8DC}" type="parTrans" cxnId="{A477F21E-B92A-4103-B6A6-1999CC172EA5}">
      <dgm:prSet/>
      <dgm:spPr/>
      <dgm:t>
        <a:bodyPr/>
        <a:lstStyle/>
        <a:p>
          <a:endParaRPr lang="en-US"/>
        </a:p>
      </dgm:t>
    </dgm:pt>
    <dgm:pt modelId="{462EB764-231F-409F-94BF-C64AEC147BD1}" type="sibTrans" cxnId="{A477F21E-B92A-4103-B6A6-1999CC172EA5}">
      <dgm:prSet/>
      <dgm:spPr/>
      <dgm:t>
        <a:bodyPr/>
        <a:lstStyle/>
        <a:p>
          <a:endParaRPr lang="en-US"/>
        </a:p>
      </dgm:t>
    </dgm:pt>
    <dgm:pt modelId="{64D3D572-1FE8-4070-A418-26B9500FEFC4}">
      <dgm:prSet/>
      <dgm:spPr/>
      <dgm:t>
        <a:bodyPr/>
        <a:lstStyle/>
        <a:p>
          <a:r>
            <a:rPr lang="en-US" dirty="0"/>
            <a:t>The NHS Health Checks program was able to identify participants who were   not registered with a GP and those who had elevated risk factors for cardiovascular events </a:t>
          </a:r>
        </a:p>
      </dgm:t>
    </dgm:pt>
    <dgm:pt modelId="{F1865601-54CB-4B6B-A294-F4ADAED9AC92}" type="parTrans" cxnId="{06771459-1FB6-4E2C-81B3-3737C60E4F21}">
      <dgm:prSet/>
      <dgm:spPr/>
      <dgm:t>
        <a:bodyPr/>
        <a:lstStyle/>
        <a:p>
          <a:endParaRPr lang="en-US"/>
        </a:p>
      </dgm:t>
    </dgm:pt>
    <dgm:pt modelId="{E47CC4C6-0515-4972-AF28-7A541355DBF1}" type="sibTrans" cxnId="{06771459-1FB6-4E2C-81B3-3737C60E4F21}">
      <dgm:prSet/>
      <dgm:spPr/>
      <dgm:t>
        <a:bodyPr/>
        <a:lstStyle/>
        <a:p>
          <a:endParaRPr lang="en-US"/>
        </a:p>
      </dgm:t>
    </dgm:pt>
    <dgm:pt modelId="{17D5C8C0-BB7D-D148-AD24-E7334D850652}" type="pres">
      <dgm:prSet presAssocID="{EDA99418-C7C5-4FA8-ADEA-F4BCC00585CC}" presName="Name0" presStyleCnt="0">
        <dgm:presLayoutVars>
          <dgm:dir/>
          <dgm:animLvl val="lvl"/>
          <dgm:resizeHandles val="exact"/>
        </dgm:presLayoutVars>
      </dgm:prSet>
      <dgm:spPr/>
    </dgm:pt>
    <dgm:pt modelId="{276E1174-8AEF-A743-A054-6C8CEDC831B1}" type="pres">
      <dgm:prSet presAssocID="{64D3D572-1FE8-4070-A418-26B9500FEFC4}" presName="boxAndChildren" presStyleCnt="0"/>
      <dgm:spPr/>
    </dgm:pt>
    <dgm:pt modelId="{0B1A631C-6FF5-5947-9A86-E000E84964A3}" type="pres">
      <dgm:prSet presAssocID="{64D3D572-1FE8-4070-A418-26B9500FEFC4}" presName="parentTextBox" presStyleLbl="node1" presStyleIdx="0" presStyleCnt="2"/>
      <dgm:spPr/>
    </dgm:pt>
    <dgm:pt modelId="{0150BC5A-1AAD-9640-AE02-474544CF2D21}" type="pres">
      <dgm:prSet presAssocID="{462EB764-231F-409F-94BF-C64AEC147BD1}" presName="sp" presStyleCnt="0"/>
      <dgm:spPr/>
    </dgm:pt>
    <dgm:pt modelId="{7E1FE7D8-A00F-4745-BF8B-96AE5D06AA55}" type="pres">
      <dgm:prSet presAssocID="{03298440-E670-461B-A756-91E813602F50}" presName="arrowAndChildren" presStyleCnt="0"/>
      <dgm:spPr/>
    </dgm:pt>
    <dgm:pt modelId="{D0A611CA-19F3-794A-A5A4-E70A99EE1B66}" type="pres">
      <dgm:prSet presAssocID="{03298440-E670-461B-A756-91E813602F50}" presName="parentTextArrow" presStyleLbl="node1" presStyleIdx="1" presStyleCnt="2"/>
      <dgm:spPr/>
    </dgm:pt>
  </dgm:ptLst>
  <dgm:cxnLst>
    <dgm:cxn modelId="{A477F21E-B92A-4103-B6A6-1999CC172EA5}" srcId="{EDA99418-C7C5-4FA8-ADEA-F4BCC00585CC}" destId="{03298440-E670-461B-A756-91E813602F50}" srcOrd="0" destOrd="0" parTransId="{20DEA40C-B1BD-423B-A04F-806E5645D8DC}" sibTransId="{462EB764-231F-409F-94BF-C64AEC147BD1}"/>
    <dgm:cxn modelId="{878E144F-87E1-F84C-B48F-DEB1C98CC91A}" type="presOf" srcId="{EDA99418-C7C5-4FA8-ADEA-F4BCC00585CC}" destId="{17D5C8C0-BB7D-D148-AD24-E7334D850652}" srcOrd="0" destOrd="0" presId="urn:microsoft.com/office/officeart/2005/8/layout/process4"/>
    <dgm:cxn modelId="{06771459-1FB6-4E2C-81B3-3737C60E4F21}" srcId="{EDA99418-C7C5-4FA8-ADEA-F4BCC00585CC}" destId="{64D3D572-1FE8-4070-A418-26B9500FEFC4}" srcOrd="1" destOrd="0" parTransId="{F1865601-54CB-4B6B-A294-F4ADAED9AC92}" sibTransId="{E47CC4C6-0515-4972-AF28-7A541355DBF1}"/>
    <dgm:cxn modelId="{1BD9F27F-A5B7-6E42-90B0-4A27EA08A0E0}" type="presOf" srcId="{03298440-E670-461B-A756-91E813602F50}" destId="{D0A611CA-19F3-794A-A5A4-E70A99EE1B66}" srcOrd="0" destOrd="0" presId="urn:microsoft.com/office/officeart/2005/8/layout/process4"/>
    <dgm:cxn modelId="{F24D94C1-0BAD-2E44-8997-C94C6ACB939A}" type="presOf" srcId="{64D3D572-1FE8-4070-A418-26B9500FEFC4}" destId="{0B1A631C-6FF5-5947-9A86-E000E84964A3}" srcOrd="0" destOrd="0" presId="urn:microsoft.com/office/officeart/2005/8/layout/process4"/>
    <dgm:cxn modelId="{C6F190D2-5EC6-8244-9682-E4A4ED404B19}" type="presParOf" srcId="{17D5C8C0-BB7D-D148-AD24-E7334D850652}" destId="{276E1174-8AEF-A743-A054-6C8CEDC831B1}" srcOrd="0" destOrd="0" presId="urn:microsoft.com/office/officeart/2005/8/layout/process4"/>
    <dgm:cxn modelId="{D65CDE09-0E5B-6D40-A956-42AE31ABA635}" type="presParOf" srcId="{276E1174-8AEF-A743-A054-6C8CEDC831B1}" destId="{0B1A631C-6FF5-5947-9A86-E000E84964A3}" srcOrd="0" destOrd="0" presId="urn:microsoft.com/office/officeart/2005/8/layout/process4"/>
    <dgm:cxn modelId="{7E9B1AFB-BC36-0740-8660-8C79FA646C88}" type="presParOf" srcId="{17D5C8C0-BB7D-D148-AD24-E7334D850652}" destId="{0150BC5A-1AAD-9640-AE02-474544CF2D21}" srcOrd="1" destOrd="0" presId="urn:microsoft.com/office/officeart/2005/8/layout/process4"/>
    <dgm:cxn modelId="{B07D15C8-E6CF-D943-B4BE-43F92C44CAD0}" type="presParOf" srcId="{17D5C8C0-BB7D-D148-AD24-E7334D850652}" destId="{7E1FE7D8-A00F-4745-BF8B-96AE5D06AA55}" srcOrd="2" destOrd="0" presId="urn:microsoft.com/office/officeart/2005/8/layout/process4"/>
    <dgm:cxn modelId="{78DBA8B0-898C-E949-8B7C-31481775958A}" type="presParOf" srcId="{7E1FE7D8-A00F-4745-BF8B-96AE5D06AA55}" destId="{D0A611CA-19F3-794A-A5A4-E70A99EE1B66}"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BBEFDA1-D314-45B0-90A8-687C0D80764D}"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E1A9AB50-5690-4461-84A0-CDDCFDDF1045}">
      <dgm:prSet/>
      <dgm:spPr/>
      <dgm:t>
        <a:bodyPr/>
        <a:lstStyle/>
        <a:p>
          <a:r>
            <a:rPr lang="en-US" dirty="0"/>
            <a:t>The concept of ‘overall risk’ was difficult for  some participants to grasp (n=34) , reporting confusion in the post-check evaluation interview</a:t>
          </a:r>
        </a:p>
      </dgm:t>
    </dgm:pt>
    <dgm:pt modelId="{4E67CC59-5AE3-4257-9AEC-5BC9FEA65786}" type="parTrans" cxnId="{C92702EF-8D1E-4C3E-9D86-CFFB10C832C0}">
      <dgm:prSet/>
      <dgm:spPr/>
      <dgm:t>
        <a:bodyPr/>
        <a:lstStyle/>
        <a:p>
          <a:endParaRPr lang="en-US"/>
        </a:p>
      </dgm:t>
    </dgm:pt>
    <dgm:pt modelId="{879C6262-A6C5-4538-9EE1-CAA230C6B8A9}" type="sibTrans" cxnId="{C92702EF-8D1E-4C3E-9D86-CFFB10C832C0}">
      <dgm:prSet/>
      <dgm:spPr/>
      <dgm:t>
        <a:bodyPr/>
        <a:lstStyle/>
        <a:p>
          <a:endParaRPr lang="en-US"/>
        </a:p>
      </dgm:t>
    </dgm:pt>
    <dgm:pt modelId="{2EE64BF0-CBE0-4155-AEED-6A9E215A3791}">
      <dgm:prSet/>
      <dgm:spPr/>
      <dgm:t>
        <a:bodyPr/>
        <a:lstStyle/>
        <a:p>
          <a:r>
            <a:rPr lang="en-US" dirty="0"/>
            <a:t>The 12-month follow-up evaluation showed that 79%  of those referred to their GP had visited the surgery and  62% were given a formal diagnosis</a:t>
          </a:r>
        </a:p>
      </dgm:t>
    </dgm:pt>
    <dgm:pt modelId="{A8F8CA3E-381B-413F-A33C-5C80F34D2F80}" type="parTrans" cxnId="{E43C9B46-82DC-4D6E-9EB8-AEB6374A3CAD}">
      <dgm:prSet/>
      <dgm:spPr/>
      <dgm:t>
        <a:bodyPr/>
        <a:lstStyle/>
        <a:p>
          <a:endParaRPr lang="en-US"/>
        </a:p>
      </dgm:t>
    </dgm:pt>
    <dgm:pt modelId="{29624298-0441-4CD5-B083-91BE058BFFA5}" type="sibTrans" cxnId="{E43C9B46-82DC-4D6E-9EB8-AEB6374A3CAD}">
      <dgm:prSet/>
      <dgm:spPr/>
      <dgm:t>
        <a:bodyPr/>
        <a:lstStyle/>
        <a:p>
          <a:endParaRPr lang="en-US"/>
        </a:p>
      </dgm:t>
    </dgm:pt>
    <dgm:pt modelId="{4B2B96C9-CDD6-4EEC-AE63-973B448C47D0}" type="pres">
      <dgm:prSet presAssocID="{1BBEFDA1-D314-45B0-90A8-687C0D80764D}" presName="root" presStyleCnt="0">
        <dgm:presLayoutVars>
          <dgm:dir/>
          <dgm:resizeHandles val="exact"/>
        </dgm:presLayoutVars>
      </dgm:prSet>
      <dgm:spPr/>
    </dgm:pt>
    <dgm:pt modelId="{B6A9E1C0-CEB5-4C55-A087-97D98F316395}" type="pres">
      <dgm:prSet presAssocID="{E1A9AB50-5690-4461-84A0-CDDCFDDF1045}" presName="compNode" presStyleCnt="0"/>
      <dgm:spPr/>
    </dgm:pt>
    <dgm:pt modelId="{17D2E626-D7B4-491A-AD9C-9BED9527CAB5}" type="pres">
      <dgm:prSet presAssocID="{E1A9AB50-5690-4461-84A0-CDDCFDDF1045}" presName="bgRect" presStyleLbl="bgShp" presStyleIdx="0" presStyleCnt="2"/>
      <dgm:spPr/>
    </dgm:pt>
    <dgm:pt modelId="{417EC4D8-FE53-4C27-AFB3-86D361B28E00}" type="pres">
      <dgm:prSet presAssocID="{E1A9AB50-5690-4461-84A0-CDDCFDDF104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F144600D-15E1-44AF-9C32-6D11951EDE01}" type="pres">
      <dgm:prSet presAssocID="{E1A9AB50-5690-4461-84A0-CDDCFDDF1045}" presName="spaceRect" presStyleCnt="0"/>
      <dgm:spPr/>
    </dgm:pt>
    <dgm:pt modelId="{A2B2EDC4-7C4C-4723-8924-75BCBF48842D}" type="pres">
      <dgm:prSet presAssocID="{E1A9AB50-5690-4461-84A0-CDDCFDDF1045}" presName="parTx" presStyleLbl="revTx" presStyleIdx="0" presStyleCnt="2">
        <dgm:presLayoutVars>
          <dgm:chMax val="0"/>
          <dgm:chPref val="0"/>
        </dgm:presLayoutVars>
      </dgm:prSet>
      <dgm:spPr/>
    </dgm:pt>
    <dgm:pt modelId="{7CF6D753-CEDB-43BA-A052-2898C1D65F95}" type="pres">
      <dgm:prSet presAssocID="{879C6262-A6C5-4538-9EE1-CAA230C6B8A9}" presName="sibTrans" presStyleCnt="0"/>
      <dgm:spPr/>
    </dgm:pt>
    <dgm:pt modelId="{612BC921-681B-486A-A65B-6E70513C6EBF}" type="pres">
      <dgm:prSet presAssocID="{2EE64BF0-CBE0-4155-AEED-6A9E215A3791}" presName="compNode" presStyleCnt="0"/>
      <dgm:spPr/>
    </dgm:pt>
    <dgm:pt modelId="{AB8FD905-3E31-4385-985E-F9CFE4DCF37F}" type="pres">
      <dgm:prSet presAssocID="{2EE64BF0-CBE0-4155-AEED-6A9E215A3791}" presName="bgRect" presStyleLbl="bgShp" presStyleIdx="1" presStyleCnt="2"/>
      <dgm:spPr/>
    </dgm:pt>
    <dgm:pt modelId="{CAB721DB-1ACC-4B1C-A926-087257480BA6}" type="pres">
      <dgm:prSet presAssocID="{2EE64BF0-CBE0-4155-AEED-6A9E215A379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ethoscope"/>
        </a:ext>
      </dgm:extLst>
    </dgm:pt>
    <dgm:pt modelId="{E19CBC9F-CF32-496E-8517-F9A7F2B564B4}" type="pres">
      <dgm:prSet presAssocID="{2EE64BF0-CBE0-4155-AEED-6A9E215A3791}" presName="spaceRect" presStyleCnt="0"/>
      <dgm:spPr/>
    </dgm:pt>
    <dgm:pt modelId="{A595C40D-778D-4605-B1A1-3BD919904E04}" type="pres">
      <dgm:prSet presAssocID="{2EE64BF0-CBE0-4155-AEED-6A9E215A3791}" presName="parTx" presStyleLbl="revTx" presStyleIdx="1" presStyleCnt="2">
        <dgm:presLayoutVars>
          <dgm:chMax val="0"/>
          <dgm:chPref val="0"/>
        </dgm:presLayoutVars>
      </dgm:prSet>
      <dgm:spPr/>
    </dgm:pt>
  </dgm:ptLst>
  <dgm:cxnLst>
    <dgm:cxn modelId="{A16BEE01-61E5-419F-8A36-40A678D37D56}" type="presOf" srcId="{2EE64BF0-CBE0-4155-AEED-6A9E215A3791}" destId="{A595C40D-778D-4605-B1A1-3BD919904E04}" srcOrd="0" destOrd="0" presId="urn:microsoft.com/office/officeart/2018/2/layout/IconVerticalSolidList"/>
    <dgm:cxn modelId="{E43C9B46-82DC-4D6E-9EB8-AEB6374A3CAD}" srcId="{1BBEFDA1-D314-45B0-90A8-687C0D80764D}" destId="{2EE64BF0-CBE0-4155-AEED-6A9E215A3791}" srcOrd="1" destOrd="0" parTransId="{A8F8CA3E-381B-413F-A33C-5C80F34D2F80}" sibTransId="{29624298-0441-4CD5-B083-91BE058BFFA5}"/>
    <dgm:cxn modelId="{4C589398-50A3-4478-99AB-8006C3FE6FE8}" type="presOf" srcId="{1BBEFDA1-D314-45B0-90A8-687C0D80764D}" destId="{4B2B96C9-CDD6-4EEC-AE63-973B448C47D0}" srcOrd="0" destOrd="0" presId="urn:microsoft.com/office/officeart/2018/2/layout/IconVerticalSolidList"/>
    <dgm:cxn modelId="{5C202699-F508-4913-B3E4-803F4F595BC2}" type="presOf" srcId="{E1A9AB50-5690-4461-84A0-CDDCFDDF1045}" destId="{A2B2EDC4-7C4C-4723-8924-75BCBF48842D}" srcOrd="0" destOrd="0" presId="urn:microsoft.com/office/officeart/2018/2/layout/IconVerticalSolidList"/>
    <dgm:cxn modelId="{C92702EF-8D1E-4C3E-9D86-CFFB10C832C0}" srcId="{1BBEFDA1-D314-45B0-90A8-687C0D80764D}" destId="{E1A9AB50-5690-4461-84A0-CDDCFDDF1045}" srcOrd="0" destOrd="0" parTransId="{4E67CC59-5AE3-4257-9AEC-5BC9FEA65786}" sibTransId="{879C6262-A6C5-4538-9EE1-CAA230C6B8A9}"/>
    <dgm:cxn modelId="{D3E09F09-D8C3-4C69-85EB-2A376D61B572}" type="presParOf" srcId="{4B2B96C9-CDD6-4EEC-AE63-973B448C47D0}" destId="{B6A9E1C0-CEB5-4C55-A087-97D98F316395}" srcOrd="0" destOrd="0" presId="urn:microsoft.com/office/officeart/2018/2/layout/IconVerticalSolidList"/>
    <dgm:cxn modelId="{5DD7E2A7-543F-44BE-AD88-4657599F933B}" type="presParOf" srcId="{B6A9E1C0-CEB5-4C55-A087-97D98F316395}" destId="{17D2E626-D7B4-491A-AD9C-9BED9527CAB5}" srcOrd="0" destOrd="0" presId="urn:microsoft.com/office/officeart/2018/2/layout/IconVerticalSolidList"/>
    <dgm:cxn modelId="{D3AD799B-BE9F-4B1C-9E22-C23DB819EC15}" type="presParOf" srcId="{B6A9E1C0-CEB5-4C55-A087-97D98F316395}" destId="{417EC4D8-FE53-4C27-AFB3-86D361B28E00}" srcOrd="1" destOrd="0" presId="urn:microsoft.com/office/officeart/2018/2/layout/IconVerticalSolidList"/>
    <dgm:cxn modelId="{3BD63E2E-B33F-4B39-AA05-974C80B8ECB1}" type="presParOf" srcId="{B6A9E1C0-CEB5-4C55-A087-97D98F316395}" destId="{F144600D-15E1-44AF-9C32-6D11951EDE01}" srcOrd="2" destOrd="0" presId="urn:microsoft.com/office/officeart/2018/2/layout/IconVerticalSolidList"/>
    <dgm:cxn modelId="{BE346406-3780-47B0-9CD2-F189DD4A36DF}" type="presParOf" srcId="{B6A9E1C0-CEB5-4C55-A087-97D98F316395}" destId="{A2B2EDC4-7C4C-4723-8924-75BCBF48842D}" srcOrd="3" destOrd="0" presId="urn:microsoft.com/office/officeart/2018/2/layout/IconVerticalSolidList"/>
    <dgm:cxn modelId="{EBAA5DB0-0821-4C1A-A3DC-1C6451F00F19}" type="presParOf" srcId="{4B2B96C9-CDD6-4EEC-AE63-973B448C47D0}" destId="{7CF6D753-CEDB-43BA-A052-2898C1D65F95}" srcOrd="1" destOrd="0" presId="urn:microsoft.com/office/officeart/2018/2/layout/IconVerticalSolidList"/>
    <dgm:cxn modelId="{09039346-1AB0-4540-81D5-67C2F56B6B3E}" type="presParOf" srcId="{4B2B96C9-CDD6-4EEC-AE63-973B448C47D0}" destId="{612BC921-681B-486A-A65B-6E70513C6EBF}" srcOrd="2" destOrd="0" presId="urn:microsoft.com/office/officeart/2018/2/layout/IconVerticalSolidList"/>
    <dgm:cxn modelId="{E8124B2D-0CC1-4AD0-8F68-4350FDC96057}" type="presParOf" srcId="{612BC921-681B-486A-A65B-6E70513C6EBF}" destId="{AB8FD905-3E31-4385-985E-F9CFE4DCF37F}" srcOrd="0" destOrd="0" presId="urn:microsoft.com/office/officeart/2018/2/layout/IconVerticalSolidList"/>
    <dgm:cxn modelId="{A91ECC57-C813-49A0-AE89-FB8BC175C48C}" type="presParOf" srcId="{612BC921-681B-486A-A65B-6E70513C6EBF}" destId="{CAB721DB-1ACC-4B1C-A926-087257480BA6}" srcOrd="1" destOrd="0" presId="urn:microsoft.com/office/officeart/2018/2/layout/IconVerticalSolidList"/>
    <dgm:cxn modelId="{44EFE988-9529-4C44-AF26-369C54AA676A}" type="presParOf" srcId="{612BC921-681B-486A-A65B-6E70513C6EBF}" destId="{E19CBC9F-CF32-496E-8517-F9A7F2B564B4}" srcOrd="2" destOrd="0" presId="urn:microsoft.com/office/officeart/2018/2/layout/IconVerticalSolidList"/>
    <dgm:cxn modelId="{5891B83F-7B31-449B-BA0C-B1F32CB09EEA}" type="presParOf" srcId="{612BC921-681B-486A-A65B-6E70513C6EBF}" destId="{A595C40D-778D-4605-B1A1-3BD919904E0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61B0150-0DC6-4F17-8817-4310193F24DD}" type="doc">
      <dgm:prSet loTypeId="urn:microsoft.com/office/officeart/2008/layout/LinedList" loCatId="list" qsTypeId="urn:microsoft.com/office/officeart/2005/8/quickstyle/simple1" qsCatId="simple" csTypeId="urn:microsoft.com/office/officeart/2005/8/colors/accent2_2" csCatId="accent2" phldr="1"/>
      <dgm:spPr/>
      <dgm:t>
        <a:bodyPr/>
        <a:lstStyle/>
        <a:p>
          <a:endParaRPr lang="en-US"/>
        </a:p>
      </dgm:t>
    </dgm:pt>
    <dgm:pt modelId="{2E21AA51-8D43-4940-89B3-DFE0325451C6}">
      <dgm:prSet/>
      <dgm:spPr/>
      <dgm:t>
        <a:bodyPr/>
        <a:lstStyle/>
        <a:p>
          <a:r>
            <a:rPr lang="en-001" b="1"/>
            <a:t>Limitations of Self‑Reported Data</a:t>
          </a:r>
          <a:endParaRPr lang="en-001"/>
        </a:p>
        <a:p>
          <a:pPr>
            <a:buSzPts val="1000"/>
            <a:buFont typeface="Symbol" pitchFamily="2" charset="2"/>
            <a:buChar char=""/>
          </a:pPr>
          <a:r>
            <a:rPr lang="en-001"/>
            <a:t>Self-reported information is prone to recall bias and social desirability bias, which can reduce accuracy when assessing lifestyle behaviours and health risks.</a:t>
          </a:r>
        </a:p>
        <a:p>
          <a:pPr>
            <a:buSzPts val="1000"/>
            <a:buFont typeface="Symbol" pitchFamily="2" charset="2"/>
            <a:buChar char=""/>
          </a:pPr>
          <a:r>
            <a:rPr lang="en-001"/>
            <a:t>Questionnaires often exclude objective clinical measurements, limiting the ability to fully assess cardiovascular risk.</a:t>
          </a:r>
          <a:endParaRPr lang="en-US" dirty="0"/>
        </a:p>
      </dgm:t>
    </dgm:pt>
    <dgm:pt modelId="{53C4EC88-502B-487F-BFAA-5A65408A87DA}" type="parTrans" cxnId="{C5262EF5-4F36-40B7-B130-739E065BBF2C}">
      <dgm:prSet/>
      <dgm:spPr/>
      <dgm:t>
        <a:bodyPr/>
        <a:lstStyle/>
        <a:p>
          <a:endParaRPr lang="en-US"/>
        </a:p>
      </dgm:t>
    </dgm:pt>
    <dgm:pt modelId="{21C2BAB0-D1B4-4BF5-A0C7-204102626C51}" type="sibTrans" cxnId="{C5262EF5-4F36-40B7-B130-739E065BBF2C}">
      <dgm:prSet/>
      <dgm:spPr/>
      <dgm:t>
        <a:bodyPr/>
        <a:lstStyle/>
        <a:p>
          <a:endParaRPr lang="en-US"/>
        </a:p>
      </dgm:t>
    </dgm:pt>
    <dgm:pt modelId="{CC05A01D-7A02-4BC1-B0DF-9897F6367D15}">
      <dgm:prSet/>
      <dgm:spPr/>
      <dgm:t>
        <a:bodyPr/>
        <a:lstStyle/>
        <a:p>
          <a:r>
            <a:rPr lang="en-001" b="1"/>
            <a:t>Evidence of Underreporting</a:t>
          </a:r>
          <a:endParaRPr lang="en-001"/>
        </a:p>
        <a:p>
          <a:pPr>
            <a:buSzPts val="1000"/>
            <a:buFont typeface="Symbol" pitchFamily="2" charset="2"/>
            <a:buChar char=""/>
          </a:pPr>
          <a:r>
            <a:rPr lang="en-001"/>
            <a:t>Previous research has shown substantial underreporting of key CVD risk factors, particularly smoking, when self-reports were compared with objective measures (O’Loughlin et al., 1995).</a:t>
          </a:r>
        </a:p>
        <a:p>
          <a:pPr>
            <a:buSzPts val="1000"/>
            <a:buFont typeface="Symbol" pitchFamily="2" charset="2"/>
            <a:buChar char=""/>
          </a:pPr>
          <a:r>
            <a:rPr lang="en-001"/>
            <a:t>Underreporting can reduce the sensitivity of the evaluation, leading to misclassification of individuals' true risk status.</a:t>
          </a:r>
          <a:endParaRPr lang="en-US" dirty="0"/>
        </a:p>
      </dgm:t>
    </dgm:pt>
    <dgm:pt modelId="{80C92EA5-79C1-43F2-BBB4-A87025D56F11}" type="parTrans" cxnId="{EE646814-39F5-4E1C-8DFA-AA6EDB9AF9DB}">
      <dgm:prSet/>
      <dgm:spPr/>
      <dgm:t>
        <a:bodyPr/>
        <a:lstStyle/>
        <a:p>
          <a:endParaRPr lang="en-US"/>
        </a:p>
      </dgm:t>
    </dgm:pt>
    <dgm:pt modelId="{DE6397C4-69E2-4C54-949A-411A1B6AA58C}" type="sibTrans" cxnId="{EE646814-39F5-4E1C-8DFA-AA6EDB9AF9DB}">
      <dgm:prSet/>
      <dgm:spPr/>
      <dgm:t>
        <a:bodyPr/>
        <a:lstStyle/>
        <a:p>
          <a:endParaRPr lang="en-US"/>
        </a:p>
      </dgm:t>
    </dgm:pt>
    <dgm:pt modelId="{910D9443-14F4-4BB3-AEDD-4F0D2DDFC8B6}">
      <dgm:prSet/>
      <dgm:spPr/>
      <dgm:t>
        <a:bodyPr/>
        <a:lstStyle/>
        <a:p>
          <a:r>
            <a:rPr lang="en-001" b="1"/>
            <a:t>Impact on Validity</a:t>
          </a:r>
          <a:endParaRPr lang="en-001"/>
        </a:p>
        <a:p>
          <a:pPr>
            <a:buSzPts val="1000"/>
            <a:buFont typeface="Symbol" pitchFamily="2" charset="2"/>
            <a:buChar char=""/>
          </a:pPr>
          <a:r>
            <a:rPr lang="en-001"/>
            <a:t>Without objective clinical data, misclassification of risk factors is more likely, which can undermine the validity and reliability of evaluation findings.</a:t>
          </a:r>
        </a:p>
        <a:p>
          <a:pPr>
            <a:buSzPts val="1000"/>
            <a:buFont typeface="Symbol" pitchFamily="2" charset="2"/>
            <a:buChar char=""/>
          </a:pPr>
          <a:r>
            <a:rPr lang="en-001"/>
            <a:t>This limits researchers’ ability to draw accurate conclusions about the programme’s effectiveness.</a:t>
          </a:r>
          <a:endParaRPr lang="en-US" dirty="0"/>
        </a:p>
      </dgm:t>
    </dgm:pt>
    <dgm:pt modelId="{347291A4-DE49-43E5-BC83-6B990B58E805}" type="parTrans" cxnId="{E9D56BB3-E402-432E-B79E-4F8E3522F226}">
      <dgm:prSet/>
      <dgm:spPr/>
      <dgm:t>
        <a:bodyPr/>
        <a:lstStyle/>
        <a:p>
          <a:endParaRPr lang="en-US"/>
        </a:p>
      </dgm:t>
    </dgm:pt>
    <dgm:pt modelId="{22542F1C-F9B9-4CFB-926D-8CF8A1905344}" type="sibTrans" cxnId="{E9D56BB3-E402-432E-B79E-4F8E3522F226}">
      <dgm:prSet/>
      <dgm:spPr/>
      <dgm:t>
        <a:bodyPr/>
        <a:lstStyle/>
        <a:p>
          <a:endParaRPr lang="en-US"/>
        </a:p>
      </dgm:t>
    </dgm:pt>
    <dgm:pt modelId="{DFE4289B-5C09-334F-89F5-E844180B264C}" type="pres">
      <dgm:prSet presAssocID="{C61B0150-0DC6-4F17-8817-4310193F24DD}" presName="vert0" presStyleCnt="0">
        <dgm:presLayoutVars>
          <dgm:dir/>
          <dgm:animOne val="branch"/>
          <dgm:animLvl val="lvl"/>
        </dgm:presLayoutVars>
      </dgm:prSet>
      <dgm:spPr/>
    </dgm:pt>
    <dgm:pt modelId="{92A7CE5B-3313-734E-9F15-62323CE8B2C4}" type="pres">
      <dgm:prSet presAssocID="{2E21AA51-8D43-4940-89B3-DFE0325451C6}" presName="thickLine" presStyleLbl="alignNode1" presStyleIdx="0" presStyleCnt="3"/>
      <dgm:spPr/>
    </dgm:pt>
    <dgm:pt modelId="{2D7D2B86-A237-CF40-ACC4-77028917FA85}" type="pres">
      <dgm:prSet presAssocID="{2E21AA51-8D43-4940-89B3-DFE0325451C6}" presName="horz1" presStyleCnt="0"/>
      <dgm:spPr/>
    </dgm:pt>
    <dgm:pt modelId="{459E6216-B303-F247-A2FD-E7D5AE925C66}" type="pres">
      <dgm:prSet presAssocID="{2E21AA51-8D43-4940-89B3-DFE0325451C6}" presName="tx1" presStyleLbl="revTx" presStyleIdx="0" presStyleCnt="3"/>
      <dgm:spPr/>
    </dgm:pt>
    <dgm:pt modelId="{99522584-86AF-6840-AFB4-71661E46EDE1}" type="pres">
      <dgm:prSet presAssocID="{2E21AA51-8D43-4940-89B3-DFE0325451C6}" presName="vert1" presStyleCnt="0"/>
      <dgm:spPr/>
    </dgm:pt>
    <dgm:pt modelId="{F3D1E8F9-02A6-1143-8313-018C0B28AC2F}" type="pres">
      <dgm:prSet presAssocID="{CC05A01D-7A02-4BC1-B0DF-9897F6367D15}" presName="thickLine" presStyleLbl="alignNode1" presStyleIdx="1" presStyleCnt="3"/>
      <dgm:spPr/>
    </dgm:pt>
    <dgm:pt modelId="{6EFD3BF2-A419-134B-B608-415215B2A3F3}" type="pres">
      <dgm:prSet presAssocID="{CC05A01D-7A02-4BC1-B0DF-9897F6367D15}" presName="horz1" presStyleCnt="0"/>
      <dgm:spPr/>
    </dgm:pt>
    <dgm:pt modelId="{8B3B84FF-4DDD-804C-A42F-5B9560A0FE40}" type="pres">
      <dgm:prSet presAssocID="{CC05A01D-7A02-4BC1-B0DF-9897F6367D15}" presName="tx1" presStyleLbl="revTx" presStyleIdx="1" presStyleCnt="3"/>
      <dgm:spPr/>
    </dgm:pt>
    <dgm:pt modelId="{9B95113A-181B-6A40-BD64-0A8799370357}" type="pres">
      <dgm:prSet presAssocID="{CC05A01D-7A02-4BC1-B0DF-9897F6367D15}" presName="vert1" presStyleCnt="0"/>
      <dgm:spPr/>
    </dgm:pt>
    <dgm:pt modelId="{76A34A6D-25A5-CE49-9637-4C637C7F6A34}" type="pres">
      <dgm:prSet presAssocID="{910D9443-14F4-4BB3-AEDD-4F0D2DDFC8B6}" presName="thickLine" presStyleLbl="alignNode1" presStyleIdx="2" presStyleCnt="3"/>
      <dgm:spPr/>
    </dgm:pt>
    <dgm:pt modelId="{FD9F26D7-5CD9-6C4E-85AD-10B34C2A7A8E}" type="pres">
      <dgm:prSet presAssocID="{910D9443-14F4-4BB3-AEDD-4F0D2DDFC8B6}" presName="horz1" presStyleCnt="0"/>
      <dgm:spPr/>
    </dgm:pt>
    <dgm:pt modelId="{AA1AB6D2-683F-AE49-A1A9-33967F1D904D}" type="pres">
      <dgm:prSet presAssocID="{910D9443-14F4-4BB3-AEDD-4F0D2DDFC8B6}" presName="tx1" presStyleLbl="revTx" presStyleIdx="2" presStyleCnt="3"/>
      <dgm:spPr/>
    </dgm:pt>
    <dgm:pt modelId="{401E738B-EE2F-1940-9976-1F270AFF8751}" type="pres">
      <dgm:prSet presAssocID="{910D9443-14F4-4BB3-AEDD-4F0D2DDFC8B6}" presName="vert1" presStyleCnt="0"/>
      <dgm:spPr/>
    </dgm:pt>
  </dgm:ptLst>
  <dgm:cxnLst>
    <dgm:cxn modelId="{EE646814-39F5-4E1C-8DFA-AA6EDB9AF9DB}" srcId="{C61B0150-0DC6-4F17-8817-4310193F24DD}" destId="{CC05A01D-7A02-4BC1-B0DF-9897F6367D15}" srcOrd="1" destOrd="0" parTransId="{80C92EA5-79C1-43F2-BBB4-A87025D56F11}" sibTransId="{DE6397C4-69E2-4C54-949A-411A1B6AA58C}"/>
    <dgm:cxn modelId="{B823E865-98C7-8F43-A0D2-69AFD070F26C}" type="presOf" srcId="{910D9443-14F4-4BB3-AEDD-4F0D2DDFC8B6}" destId="{AA1AB6D2-683F-AE49-A1A9-33967F1D904D}" srcOrd="0" destOrd="0" presId="urn:microsoft.com/office/officeart/2008/layout/LinedList"/>
    <dgm:cxn modelId="{D7BAC079-CA9F-2E4E-9B8B-5CD96D6E7366}" type="presOf" srcId="{C61B0150-0DC6-4F17-8817-4310193F24DD}" destId="{DFE4289B-5C09-334F-89F5-E844180B264C}" srcOrd="0" destOrd="0" presId="urn:microsoft.com/office/officeart/2008/layout/LinedList"/>
    <dgm:cxn modelId="{DDFB5784-E8F9-0548-AE89-7AD418DDB859}" type="presOf" srcId="{2E21AA51-8D43-4940-89B3-DFE0325451C6}" destId="{459E6216-B303-F247-A2FD-E7D5AE925C66}" srcOrd="0" destOrd="0" presId="urn:microsoft.com/office/officeart/2008/layout/LinedList"/>
    <dgm:cxn modelId="{F8D853A1-2450-A84C-AA24-04F5050DED52}" type="presOf" srcId="{CC05A01D-7A02-4BC1-B0DF-9897F6367D15}" destId="{8B3B84FF-4DDD-804C-A42F-5B9560A0FE40}" srcOrd="0" destOrd="0" presId="urn:microsoft.com/office/officeart/2008/layout/LinedList"/>
    <dgm:cxn modelId="{E9D56BB3-E402-432E-B79E-4F8E3522F226}" srcId="{C61B0150-0DC6-4F17-8817-4310193F24DD}" destId="{910D9443-14F4-4BB3-AEDD-4F0D2DDFC8B6}" srcOrd="2" destOrd="0" parTransId="{347291A4-DE49-43E5-BC83-6B990B58E805}" sibTransId="{22542F1C-F9B9-4CFB-926D-8CF8A1905344}"/>
    <dgm:cxn modelId="{C5262EF5-4F36-40B7-B130-739E065BBF2C}" srcId="{C61B0150-0DC6-4F17-8817-4310193F24DD}" destId="{2E21AA51-8D43-4940-89B3-DFE0325451C6}" srcOrd="0" destOrd="0" parTransId="{53C4EC88-502B-487F-BFAA-5A65408A87DA}" sibTransId="{21C2BAB0-D1B4-4BF5-A0C7-204102626C51}"/>
    <dgm:cxn modelId="{7A8BF24B-F8B1-7D4D-9A75-F162CBF18737}" type="presParOf" srcId="{DFE4289B-5C09-334F-89F5-E844180B264C}" destId="{92A7CE5B-3313-734E-9F15-62323CE8B2C4}" srcOrd="0" destOrd="0" presId="urn:microsoft.com/office/officeart/2008/layout/LinedList"/>
    <dgm:cxn modelId="{B77AFE79-05F6-1D4E-9B9B-72C712A1606F}" type="presParOf" srcId="{DFE4289B-5C09-334F-89F5-E844180B264C}" destId="{2D7D2B86-A237-CF40-ACC4-77028917FA85}" srcOrd="1" destOrd="0" presId="urn:microsoft.com/office/officeart/2008/layout/LinedList"/>
    <dgm:cxn modelId="{03EDA701-0A02-D545-B33B-47DF2FFC970C}" type="presParOf" srcId="{2D7D2B86-A237-CF40-ACC4-77028917FA85}" destId="{459E6216-B303-F247-A2FD-E7D5AE925C66}" srcOrd="0" destOrd="0" presId="urn:microsoft.com/office/officeart/2008/layout/LinedList"/>
    <dgm:cxn modelId="{B952FD00-135E-154B-BD87-5F0518A76176}" type="presParOf" srcId="{2D7D2B86-A237-CF40-ACC4-77028917FA85}" destId="{99522584-86AF-6840-AFB4-71661E46EDE1}" srcOrd="1" destOrd="0" presId="urn:microsoft.com/office/officeart/2008/layout/LinedList"/>
    <dgm:cxn modelId="{A78C670D-563A-3F40-8A14-DC478E66CA1C}" type="presParOf" srcId="{DFE4289B-5C09-334F-89F5-E844180B264C}" destId="{F3D1E8F9-02A6-1143-8313-018C0B28AC2F}" srcOrd="2" destOrd="0" presId="urn:microsoft.com/office/officeart/2008/layout/LinedList"/>
    <dgm:cxn modelId="{8978944B-0D6A-9941-8DC8-38BECF508773}" type="presParOf" srcId="{DFE4289B-5C09-334F-89F5-E844180B264C}" destId="{6EFD3BF2-A419-134B-B608-415215B2A3F3}" srcOrd="3" destOrd="0" presId="urn:microsoft.com/office/officeart/2008/layout/LinedList"/>
    <dgm:cxn modelId="{49171638-F244-C540-822B-B048E9C4A9F8}" type="presParOf" srcId="{6EFD3BF2-A419-134B-B608-415215B2A3F3}" destId="{8B3B84FF-4DDD-804C-A42F-5B9560A0FE40}" srcOrd="0" destOrd="0" presId="urn:microsoft.com/office/officeart/2008/layout/LinedList"/>
    <dgm:cxn modelId="{3693A4CC-277F-DA4B-BE8F-6F1514BB99EF}" type="presParOf" srcId="{6EFD3BF2-A419-134B-B608-415215B2A3F3}" destId="{9B95113A-181B-6A40-BD64-0A8799370357}" srcOrd="1" destOrd="0" presId="urn:microsoft.com/office/officeart/2008/layout/LinedList"/>
    <dgm:cxn modelId="{102060C0-4DF2-8B48-9F10-7A6887A382B7}" type="presParOf" srcId="{DFE4289B-5C09-334F-89F5-E844180B264C}" destId="{76A34A6D-25A5-CE49-9637-4C637C7F6A34}" srcOrd="4" destOrd="0" presId="urn:microsoft.com/office/officeart/2008/layout/LinedList"/>
    <dgm:cxn modelId="{CB51DB4E-E189-3247-A219-03796D53AF49}" type="presParOf" srcId="{DFE4289B-5C09-334F-89F5-E844180B264C}" destId="{FD9F26D7-5CD9-6C4E-85AD-10B34C2A7A8E}" srcOrd="5" destOrd="0" presId="urn:microsoft.com/office/officeart/2008/layout/LinedList"/>
    <dgm:cxn modelId="{E7F6399F-714E-4440-99A4-6692A00B45A1}" type="presParOf" srcId="{FD9F26D7-5CD9-6C4E-85AD-10B34C2A7A8E}" destId="{AA1AB6D2-683F-AE49-A1A9-33967F1D904D}" srcOrd="0" destOrd="0" presId="urn:microsoft.com/office/officeart/2008/layout/LinedList"/>
    <dgm:cxn modelId="{C4FAA2BB-613E-6548-8CC6-28105F4CD65B}" type="presParOf" srcId="{FD9F26D7-5CD9-6C4E-85AD-10B34C2A7A8E}" destId="{401E738B-EE2F-1940-9976-1F270AFF875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0303653-76DD-41CC-962A-2B0F0ED09B6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7CFA944-9531-45DA-B67C-757CD7704F38}">
      <dgm:prSet/>
      <dgm:spPr/>
      <dgm:t>
        <a:bodyPr/>
        <a:lstStyle/>
        <a:p>
          <a:pPr>
            <a:lnSpc>
              <a:spcPct val="100000"/>
            </a:lnSpc>
          </a:pPr>
          <a:r>
            <a:rPr lang="en-US" dirty="0"/>
            <a:t>Use of validated measures on self-reported behaviour can help reduce the bias which is inherent in these types of evaluations</a:t>
          </a:r>
        </a:p>
      </dgm:t>
    </dgm:pt>
    <dgm:pt modelId="{97365DE9-09CD-42EF-9DBE-799AAAF7C7E1}" type="parTrans" cxnId="{D3D60447-C3D4-43D9-9C06-38F3A17966D0}">
      <dgm:prSet/>
      <dgm:spPr/>
      <dgm:t>
        <a:bodyPr/>
        <a:lstStyle/>
        <a:p>
          <a:endParaRPr lang="en-US"/>
        </a:p>
      </dgm:t>
    </dgm:pt>
    <dgm:pt modelId="{CA2F553B-7286-4210-BEBD-9BBC19F30726}" type="sibTrans" cxnId="{D3D60447-C3D4-43D9-9C06-38F3A17966D0}">
      <dgm:prSet/>
      <dgm:spPr/>
      <dgm:t>
        <a:bodyPr/>
        <a:lstStyle/>
        <a:p>
          <a:endParaRPr lang="en-US"/>
        </a:p>
      </dgm:t>
    </dgm:pt>
    <dgm:pt modelId="{FDAA5B2D-2E19-46BA-9B0D-723D2CCCC767}">
      <dgm:prSet/>
      <dgm:spPr/>
      <dgm:t>
        <a:bodyPr/>
        <a:lstStyle/>
        <a:p>
          <a:pPr>
            <a:lnSpc>
              <a:spcPct val="100000"/>
            </a:lnSpc>
          </a:pPr>
          <a:r>
            <a:rPr lang="en-US" dirty="0"/>
            <a:t>As no data was collected from those who refused to undergo health checks, not able to assess demographic details and deduce reasons which prevent individuals from taking part in health checks</a:t>
          </a:r>
        </a:p>
      </dgm:t>
    </dgm:pt>
    <dgm:pt modelId="{8CA2A15A-7677-449A-ACF8-4B711E2D0C48}" type="parTrans" cxnId="{2C93D0AA-3685-441C-87C1-D1F889D78F08}">
      <dgm:prSet/>
      <dgm:spPr/>
      <dgm:t>
        <a:bodyPr/>
        <a:lstStyle/>
        <a:p>
          <a:endParaRPr lang="en-US"/>
        </a:p>
      </dgm:t>
    </dgm:pt>
    <dgm:pt modelId="{37104BFF-8073-4A4B-ACA1-4C2F8D9AE662}" type="sibTrans" cxnId="{2C93D0AA-3685-441C-87C1-D1F889D78F08}">
      <dgm:prSet/>
      <dgm:spPr/>
      <dgm:t>
        <a:bodyPr/>
        <a:lstStyle/>
        <a:p>
          <a:endParaRPr lang="en-US"/>
        </a:p>
      </dgm:t>
    </dgm:pt>
    <dgm:pt modelId="{7D16FAAF-577B-44F9-8991-E1DD7ECAC775}">
      <dgm:prSet/>
      <dgm:spPr/>
      <dgm:t>
        <a:bodyPr/>
        <a:lstStyle/>
        <a:p>
          <a:pPr>
            <a:lnSpc>
              <a:spcPct val="100000"/>
            </a:lnSpc>
          </a:pPr>
          <a:r>
            <a:rPr lang="en-US" dirty="0"/>
            <a:t>This type of information can be useful in addressing barriers which prevent any such intervention reaching certain groups of the population</a:t>
          </a:r>
        </a:p>
      </dgm:t>
    </dgm:pt>
    <dgm:pt modelId="{B673AA62-D621-4747-A6DB-8816DBA5DDF4}" type="parTrans" cxnId="{2E436757-EFB7-47BE-B259-E3F8D8C8738D}">
      <dgm:prSet/>
      <dgm:spPr/>
      <dgm:t>
        <a:bodyPr/>
        <a:lstStyle/>
        <a:p>
          <a:endParaRPr lang="en-US"/>
        </a:p>
      </dgm:t>
    </dgm:pt>
    <dgm:pt modelId="{25B98099-BB6E-4ED9-AE1D-6E703A5C78FD}" type="sibTrans" cxnId="{2E436757-EFB7-47BE-B259-E3F8D8C8738D}">
      <dgm:prSet/>
      <dgm:spPr/>
      <dgm:t>
        <a:bodyPr/>
        <a:lstStyle/>
        <a:p>
          <a:endParaRPr lang="en-US"/>
        </a:p>
      </dgm:t>
    </dgm:pt>
    <dgm:pt modelId="{558B117B-98DF-495C-85C3-582D9CB4EC99}" type="pres">
      <dgm:prSet presAssocID="{80303653-76DD-41CC-962A-2B0F0ED09B68}" presName="root" presStyleCnt="0">
        <dgm:presLayoutVars>
          <dgm:dir/>
          <dgm:resizeHandles val="exact"/>
        </dgm:presLayoutVars>
      </dgm:prSet>
      <dgm:spPr/>
    </dgm:pt>
    <dgm:pt modelId="{90AC9212-5EBE-42E9-83D9-4A0D9372107A}" type="pres">
      <dgm:prSet presAssocID="{E7CFA944-9531-45DA-B67C-757CD7704F38}" presName="compNode" presStyleCnt="0"/>
      <dgm:spPr/>
    </dgm:pt>
    <dgm:pt modelId="{5D8B90B5-3ADA-4CE2-978E-5B0D582E50AA}" type="pres">
      <dgm:prSet presAssocID="{E7CFA944-9531-45DA-B67C-757CD7704F38}" presName="bgRect" presStyleLbl="bgShp" presStyleIdx="0" presStyleCnt="3"/>
      <dgm:spPr/>
    </dgm:pt>
    <dgm:pt modelId="{EFF2E165-E45A-4729-A33F-03C0D0EDD4C9}" type="pres">
      <dgm:prSet presAssocID="{E7CFA944-9531-45DA-B67C-757CD7704F3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llet"/>
        </a:ext>
      </dgm:extLst>
    </dgm:pt>
    <dgm:pt modelId="{67DB0DB3-B6CC-4DE8-BE00-CFFF6A52EBC1}" type="pres">
      <dgm:prSet presAssocID="{E7CFA944-9531-45DA-B67C-757CD7704F38}" presName="spaceRect" presStyleCnt="0"/>
      <dgm:spPr/>
    </dgm:pt>
    <dgm:pt modelId="{15B74FCA-1359-4A2B-83F5-D7A594BCA537}" type="pres">
      <dgm:prSet presAssocID="{E7CFA944-9531-45DA-B67C-757CD7704F38}" presName="parTx" presStyleLbl="revTx" presStyleIdx="0" presStyleCnt="3">
        <dgm:presLayoutVars>
          <dgm:chMax val="0"/>
          <dgm:chPref val="0"/>
        </dgm:presLayoutVars>
      </dgm:prSet>
      <dgm:spPr/>
    </dgm:pt>
    <dgm:pt modelId="{2BE09D20-098A-4520-8294-553761D3F1F9}" type="pres">
      <dgm:prSet presAssocID="{CA2F553B-7286-4210-BEBD-9BBC19F30726}" presName="sibTrans" presStyleCnt="0"/>
      <dgm:spPr/>
    </dgm:pt>
    <dgm:pt modelId="{333E009A-8324-4B30-B58A-79F2C2FB161E}" type="pres">
      <dgm:prSet presAssocID="{FDAA5B2D-2E19-46BA-9B0D-723D2CCCC767}" presName="compNode" presStyleCnt="0"/>
      <dgm:spPr/>
    </dgm:pt>
    <dgm:pt modelId="{878CFB08-9103-473A-B0CD-03AE4C49BD24}" type="pres">
      <dgm:prSet presAssocID="{FDAA5B2D-2E19-46BA-9B0D-723D2CCCC767}" presName="bgRect" presStyleLbl="bgShp" presStyleIdx="1" presStyleCnt="3"/>
      <dgm:spPr/>
    </dgm:pt>
    <dgm:pt modelId="{47243963-4C6A-4D7E-AF73-99B84D801FC4}" type="pres">
      <dgm:prSet presAssocID="{FDAA5B2D-2E19-46BA-9B0D-723D2CCCC76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ethoscope"/>
        </a:ext>
      </dgm:extLst>
    </dgm:pt>
    <dgm:pt modelId="{EB38DE13-8FF1-42CF-9192-F713487FCA2D}" type="pres">
      <dgm:prSet presAssocID="{FDAA5B2D-2E19-46BA-9B0D-723D2CCCC767}" presName="spaceRect" presStyleCnt="0"/>
      <dgm:spPr/>
    </dgm:pt>
    <dgm:pt modelId="{D5766FC5-CEB5-4F0E-BC47-6A2F74D4F20A}" type="pres">
      <dgm:prSet presAssocID="{FDAA5B2D-2E19-46BA-9B0D-723D2CCCC767}" presName="parTx" presStyleLbl="revTx" presStyleIdx="1" presStyleCnt="3">
        <dgm:presLayoutVars>
          <dgm:chMax val="0"/>
          <dgm:chPref val="0"/>
        </dgm:presLayoutVars>
      </dgm:prSet>
      <dgm:spPr/>
    </dgm:pt>
    <dgm:pt modelId="{175D8FAA-1E85-49AF-89AD-E9AC912ACB46}" type="pres">
      <dgm:prSet presAssocID="{37104BFF-8073-4A4B-ACA1-4C2F8D9AE662}" presName="sibTrans" presStyleCnt="0"/>
      <dgm:spPr/>
    </dgm:pt>
    <dgm:pt modelId="{9E74A6B7-0202-4D3B-B2B3-A77E8D0C5624}" type="pres">
      <dgm:prSet presAssocID="{7D16FAAF-577B-44F9-8991-E1DD7ECAC775}" presName="compNode" presStyleCnt="0"/>
      <dgm:spPr/>
    </dgm:pt>
    <dgm:pt modelId="{D689D6C0-4C48-415C-AAF7-45AB1FC20762}" type="pres">
      <dgm:prSet presAssocID="{7D16FAAF-577B-44F9-8991-E1DD7ECAC775}" presName="bgRect" presStyleLbl="bgShp" presStyleIdx="2" presStyleCnt="3"/>
      <dgm:spPr/>
    </dgm:pt>
    <dgm:pt modelId="{A3B6472D-15EE-4C57-AD66-EFC1E3549830}" type="pres">
      <dgm:prSet presAssocID="{7D16FAAF-577B-44F9-8991-E1DD7ECAC77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eam"/>
        </a:ext>
      </dgm:extLst>
    </dgm:pt>
    <dgm:pt modelId="{7DDBBFC8-8CAE-47DE-9DD9-3F826B6A4EB1}" type="pres">
      <dgm:prSet presAssocID="{7D16FAAF-577B-44F9-8991-E1DD7ECAC775}" presName="spaceRect" presStyleCnt="0"/>
      <dgm:spPr/>
    </dgm:pt>
    <dgm:pt modelId="{D1533F76-FD8D-4810-9F3B-42D973F42006}" type="pres">
      <dgm:prSet presAssocID="{7D16FAAF-577B-44F9-8991-E1DD7ECAC775}" presName="parTx" presStyleLbl="revTx" presStyleIdx="2" presStyleCnt="3">
        <dgm:presLayoutVars>
          <dgm:chMax val="0"/>
          <dgm:chPref val="0"/>
        </dgm:presLayoutVars>
      </dgm:prSet>
      <dgm:spPr/>
    </dgm:pt>
  </dgm:ptLst>
  <dgm:cxnLst>
    <dgm:cxn modelId="{FACA892B-9D74-443B-ACC8-C81DFFE4DD05}" type="presOf" srcId="{FDAA5B2D-2E19-46BA-9B0D-723D2CCCC767}" destId="{D5766FC5-CEB5-4F0E-BC47-6A2F74D4F20A}" srcOrd="0" destOrd="0" presId="urn:microsoft.com/office/officeart/2018/2/layout/IconVerticalSolidList"/>
    <dgm:cxn modelId="{D3D60447-C3D4-43D9-9C06-38F3A17966D0}" srcId="{80303653-76DD-41CC-962A-2B0F0ED09B68}" destId="{E7CFA944-9531-45DA-B67C-757CD7704F38}" srcOrd="0" destOrd="0" parTransId="{97365DE9-09CD-42EF-9DBE-799AAAF7C7E1}" sibTransId="{CA2F553B-7286-4210-BEBD-9BBC19F30726}"/>
    <dgm:cxn modelId="{2E436757-EFB7-47BE-B259-E3F8D8C8738D}" srcId="{80303653-76DD-41CC-962A-2B0F0ED09B68}" destId="{7D16FAAF-577B-44F9-8991-E1DD7ECAC775}" srcOrd="2" destOrd="0" parTransId="{B673AA62-D621-4747-A6DB-8816DBA5DDF4}" sibTransId="{25B98099-BB6E-4ED9-AE1D-6E703A5C78FD}"/>
    <dgm:cxn modelId="{4AC2CBAA-5A2A-4747-A032-A1E23E712B1C}" type="presOf" srcId="{7D16FAAF-577B-44F9-8991-E1DD7ECAC775}" destId="{D1533F76-FD8D-4810-9F3B-42D973F42006}" srcOrd="0" destOrd="0" presId="urn:microsoft.com/office/officeart/2018/2/layout/IconVerticalSolidList"/>
    <dgm:cxn modelId="{2C93D0AA-3685-441C-87C1-D1F889D78F08}" srcId="{80303653-76DD-41CC-962A-2B0F0ED09B68}" destId="{FDAA5B2D-2E19-46BA-9B0D-723D2CCCC767}" srcOrd="1" destOrd="0" parTransId="{8CA2A15A-7677-449A-ACF8-4B711E2D0C48}" sibTransId="{37104BFF-8073-4A4B-ACA1-4C2F8D9AE662}"/>
    <dgm:cxn modelId="{D81415B4-6DB5-4300-8A98-236CFA481370}" type="presOf" srcId="{E7CFA944-9531-45DA-B67C-757CD7704F38}" destId="{15B74FCA-1359-4A2B-83F5-D7A594BCA537}" srcOrd="0" destOrd="0" presId="urn:microsoft.com/office/officeart/2018/2/layout/IconVerticalSolidList"/>
    <dgm:cxn modelId="{964E29D3-0BAD-4086-B3A1-60367C5A9740}" type="presOf" srcId="{80303653-76DD-41CC-962A-2B0F0ED09B68}" destId="{558B117B-98DF-495C-85C3-582D9CB4EC99}" srcOrd="0" destOrd="0" presId="urn:microsoft.com/office/officeart/2018/2/layout/IconVerticalSolidList"/>
    <dgm:cxn modelId="{B17CE30B-AC94-4012-BE88-5825A0201763}" type="presParOf" srcId="{558B117B-98DF-495C-85C3-582D9CB4EC99}" destId="{90AC9212-5EBE-42E9-83D9-4A0D9372107A}" srcOrd="0" destOrd="0" presId="urn:microsoft.com/office/officeart/2018/2/layout/IconVerticalSolidList"/>
    <dgm:cxn modelId="{AE327FCB-9BA3-4B2E-96D0-8F0E11CCC69B}" type="presParOf" srcId="{90AC9212-5EBE-42E9-83D9-4A0D9372107A}" destId="{5D8B90B5-3ADA-4CE2-978E-5B0D582E50AA}" srcOrd="0" destOrd="0" presId="urn:microsoft.com/office/officeart/2018/2/layout/IconVerticalSolidList"/>
    <dgm:cxn modelId="{969B8AED-D3E1-4949-B526-C47993061F98}" type="presParOf" srcId="{90AC9212-5EBE-42E9-83D9-4A0D9372107A}" destId="{EFF2E165-E45A-4729-A33F-03C0D0EDD4C9}" srcOrd="1" destOrd="0" presId="urn:microsoft.com/office/officeart/2018/2/layout/IconVerticalSolidList"/>
    <dgm:cxn modelId="{7180471F-F610-4A42-8919-26EDC77DD2A4}" type="presParOf" srcId="{90AC9212-5EBE-42E9-83D9-4A0D9372107A}" destId="{67DB0DB3-B6CC-4DE8-BE00-CFFF6A52EBC1}" srcOrd="2" destOrd="0" presId="urn:microsoft.com/office/officeart/2018/2/layout/IconVerticalSolidList"/>
    <dgm:cxn modelId="{F2A9FD81-A4C9-4379-B635-61D308A0A167}" type="presParOf" srcId="{90AC9212-5EBE-42E9-83D9-4A0D9372107A}" destId="{15B74FCA-1359-4A2B-83F5-D7A594BCA537}" srcOrd="3" destOrd="0" presId="urn:microsoft.com/office/officeart/2018/2/layout/IconVerticalSolidList"/>
    <dgm:cxn modelId="{4279B224-4694-4F89-A19C-977E3AB0A0C0}" type="presParOf" srcId="{558B117B-98DF-495C-85C3-582D9CB4EC99}" destId="{2BE09D20-098A-4520-8294-553761D3F1F9}" srcOrd="1" destOrd="0" presId="urn:microsoft.com/office/officeart/2018/2/layout/IconVerticalSolidList"/>
    <dgm:cxn modelId="{AB37FB2F-2415-4DC9-A9FF-B013B47B13B6}" type="presParOf" srcId="{558B117B-98DF-495C-85C3-582D9CB4EC99}" destId="{333E009A-8324-4B30-B58A-79F2C2FB161E}" srcOrd="2" destOrd="0" presId="urn:microsoft.com/office/officeart/2018/2/layout/IconVerticalSolidList"/>
    <dgm:cxn modelId="{CB87EEBF-F498-4D27-B250-56D974C9DB13}" type="presParOf" srcId="{333E009A-8324-4B30-B58A-79F2C2FB161E}" destId="{878CFB08-9103-473A-B0CD-03AE4C49BD24}" srcOrd="0" destOrd="0" presId="urn:microsoft.com/office/officeart/2018/2/layout/IconVerticalSolidList"/>
    <dgm:cxn modelId="{72BDFC55-238B-495F-A394-B67004BA03F9}" type="presParOf" srcId="{333E009A-8324-4B30-B58A-79F2C2FB161E}" destId="{47243963-4C6A-4D7E-AF73-99B84D801FC4}" srcOrd="1" destOrd="0" presId="urn:microsoft.com/office/officeart/2018/2/layout/IconVerticalSolidList"/>
    <dgm:cxn modelId="{79DD5718-5E52-4ACC-908E-5EBE61325F0D}" type="presParOf" srcId="{333E009A-8324-4B30-B58A-79F2C2FB161E}" destId="{EB38DE13-8FF1-42CF-9192-F713487FCA2D}" srcOrd="2" destOrd="0" presId="urn:microsoft.com/office/officeart/2018/2/layout/IconVerticalSolidList"/>
    <dgm:cxn modelId="{CFC2D7B1-A483-4833-836F-FB9E97DC9463}" type="presParOf" srcId="{333E009A-8324-4B30-B58A-79F2C2FB161E}" destId="{D5766FC5-CEB5-4F0E-BC47-6A2F74D4F20A}" srcOrd="3" destOrd="0" presId="urn:microsoft.com/office/officeart/2018/2/layout/IconVerticalSolidList"/>
    <dgm:cxn modelId="{3D8160C3-56C0-4DCB-8A2B-502294EE83E7}" type="presParOf" srcId="{558B117B-98DF-495C-85C3-582D9CB4EC99}" destId="{175D8FAA-1E85-49AF-89AD-E9AC912ACB46}" srcOrd="3" destOrd="0" presId="urn:microsoft.com/office/officeart/2018/2/layout/IconVerticalSolidList"/>
    <dgm:cxn modelId="{6981D733-DB3F-40AC-8F58-DB71D9840893}" type="presParOf" srcId="{558B117B-98DF-495C-85C3-582D9CB4EC99}" destId="{9E74A6B7-0202-4D3B-B2B3-A77E8D0C5624}" srcOrd="4" destOrd="0" presId="urn:microsoft.com/office/officeart/2018/2/layout/IconVerticalSolidList"/>
    <dgm:cxn modelId="{F14CD16F-9317-4A2F-A62B-6BF8C89FF56A}" type="presParOf" srcId="{9E74A6B7-0202-4D3B-B2B3-A77E8D0C5624}" destId="{D689D6C0-4C48-415C-AAF7-45AB1FC20762}" srcOrd="0" destOrd="0" presId="urn:microsoft.com/office/officeart/2018/2/layout/IconVerticalSolidList"/>
    <dgm:cxn modelId="{DA870873-7314-4418-91D9-AD3BBF36AADB}" type="presParOf" srcId="{9E74A6B7-0202-4D3B-B2B3-A77E8D0C5624}" destId="{A3B6472D-15EE-4C57-AD66-EFC1E3549830}" srcOrd="1" destOrd="0" presId="urn:microsoft.com/office/officeart/2018/2/layout/IconVerticalSolidList"/>
    <dgm:cxn modelId="{98A6DDEC-9A95-417B-B3F0-98DBD213CD47}" type="presParOf" srcId="{9E74A6B7-0202-4D3B-B2B3-A77E8D0C5624}" destId="{7DDBBFC8-8CAE-47DE-9DD9-3F826B6A4EB1}" srcOrd="2" destOrd="0" presId="urn:microsoft.com/office/officeart/2018/2/layout/IconVerticalSolidList"/>
    <dgm:cxn modelId="{114F78E6-EB13-4041-8876-BD89DE785C2B}" type="presParOf" srcId="{9E74A6B7-0202-4D3B-B2B3-A77E8D0C5624}" destId="{D1533F76-FD8D-4810-9F3B-42D973F4200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57EF021-98CF-49B0-BCE8-26C4F1D3A64D}" type="doc">
      <dgm:prSet loTypeId="urn:microsoft.com/office/officeart/2016/7/layout/VerticalDownArrowProcess" loCatId="process" qsTypeId="urn:microsoft.com/office/officeart/2005/8/quickstyle/simple4" qsCatId="simple" csTypeId="urn:microsoft.com/office/officeart/2005/8/colors/colorful5" csCatId="colorful" phldr="1"/>
      <dgm:spPr/>
      <dgm:t>
        <a:bodyPr/>
        <a:lstStyle/>
        <a:p>
          <a:endParaRPr lang="en-US"/>
        </a:p>
      </dgm:t>
    </dgm:pt>
    <dgm:pt modelId="{571FB35C-108D-4F31-B172-9B4D8B126D38}">
      <dgm:prSet/>
      <dgm:spPr/>
      <dgm:t>
        <a:bodyPr/>
        <a:lstStyle/>
        <a:p>
          <a:r>
            <a:rPr lang="en-US" dirty="0"/>
            <a:t>Widen</a:t>
          </a:r>
        </a:p>
      </dgm:t>
    </dgm:pt>
    <dgm:pt modelId="{023DB3A8-3513-43A9-900D-FC4A82C78A8E}" type="parTrans" cxnId="{A5C8CC87-81F2-437D-B153-2AA721702AC1}">
      <dgm:prSet/>
      <dgm:spPr/>
      <dgm:t>
        <a:bodyPr/>
        <a:lstStyle/>
        <a:p>
          <a:endParaRPr lang="en-US"/>
        </a:p>
      </dgm:t>
    </dgm:pt>
    <dgm:pt modelId="{F76432EB-E74D-4900-B673-A58376793FDF}" type="sibTrans" cxnId="{A5C8CC87-81F2-437D-B153-2AA721702AC1}">
      <dgm:prSet/>
      <dgm:spPr/>
      <dgm:t>
        <a:bodyPr/>
        <a:lstStyle/>
        <a:p>
          <a:endParaRPr lang="en-US"/>
        </a:p>
      </dgm:t>
    </dgm:pt>
    <dgm:pt modelId="{912FDA77-EECE-4A8B-B075-E4E4AB530710}">
      <dgm:prSet custT="1"/>
      <dgm:spPr/>
      <dgm:t>
        <a:bodyPr/>
        <a:lstStyle/>
        <a:p>
          <a:r>
            <a:rPr lang="en-US" sz="2400" dirty="0"/>
            <a:t>Widen the scope of locations of the opportunistic community health checks throughout the Islington borough</a:t>
          </a:r>
        </a:p>
      </dgm:t>
    </dgm:pt>
    <dgm:pt modelId="{1DB069F9-4467-473E-8AA4-0A337454C56D}" type="parTrans" cxnId="{F0FE4369-A6E6-4B3E-8043-707006C6C445}">
      <dgm:prSet/>
      <dgm:spPr/>
      <dgm:t>
        <a:bodyPr/>
        <a:lstStyle/>
        <a:p>
          <a:endParaRPr lang="en-US"/>
        </a:p>
      </dgm:t>
    </dgm:pt>
    <dgm:pt modelId="{46798A1D-87B3-48E1-ACA3-0BB687992146}" type="sibTrans" cxnId="{F0FE4369-A6E6-4B3E-8043-707006C6C445}">
      <dgm:prSet/>
      <dgm:spPr/>
      <dgm:t>
        <a:bodyPr/>
        <a:lstStyle/>
        <a:p>
          <a:endParaRPr lang="en-US"/>
        </a:p>
      </dgm:t>
    </dgm:pt>
    <dgm:pt modelId="{96AAF9F4-B3E6-4763-BBF9-61B2859C0AB5}">
      <dgm:prSet/>
      <dgm:spPr/>
      <dgm:t>
        <a:bodyPr/>
        <a:lstStyle/>
        <a:p>
          <a:r>
            <a:rPr lang="en-US" dirty="0"/>
            <a:t>Improve</a:t>
          </a:r>
        </a:p>
      </dgm:t>
    </dgm:pt>
    <dgm:pt modelId="{A31899A9-C496-4DC2-B78A-630D224A25D2}" type="parTrans" cxnId="{52D1D09B-5A74-428B-8572-8D5CEC77A6A0}">
      <dgm:prSet/>
      <dgm:spPr/>
      <dgm:t>
        <a:bodyPr/>
        <a:lstStyle/>
        <a:p>
          <a:endParaRPr lang="en-US"/>
        </a:p>
      </dgm:t>
    </dgm:pt>
    <dgm:pt modelId="{33E76364-88BB-4CDB-89B5-8D5F1F8CD81F}" type="sibTrans" cxnId="{52D1D09B-5A74-428B-8572-8D5CEC77A6A0}">
      <dgm:prSet/>
      <dgm:spPr/>
      <dgm:t>
        <a:bodyPr/>
        <a:lstStyle/>
        <a:p>
          <a:endParaRPr lang="en-US"/>
        </a:p>
      </dgm:t>
    </dgm:pt>
    <dgm:pt modelId="{D20B53D1-7DDA-4CAC-8107-FDB08E31AB96}">
      <dgm:prSet custT="1"/>
      <dgm:spPr/>
      <dgm:t>
        <a:bodyPr/>
        <a:lstStyle/>
        <a:p>
          <a:r>
            <a:rPr lang="en-US" sz="2400" dirty="0"/>
            <a:t>Improve level of awareness of the health checks by advertising locally e.g., flyers through letterboxes, posters and adverts in local newspapers</a:t>
          </a:r>
        </a:p>
      </dgm:t>
    </dgm:pt>
    <dgm:pt modelId="{CD1BD375-2FC9-4644-9302-F23E47B35F7C}" type="parTrans" cxnId="{6E5CB363-D09C-4C7A-BD8E-ABC1E5E83430}">
      <dgm:prSet/>
      <dgm:spPr/>
      <dgm:t>
        <a:bodyPr/>
        <a:lstStyle/>
        <a:p>
          <a:endParaRPr lang="en-US"/>
        </a:p>
      </dgm:t>
    </dgm:pt>
    <dgm:pt modelId="{568898AD-BAC5-4CF2-B9A2-DBAB35AAA7D9}" type="sibTrans" cxnId="{6E5CB363-D09C-4C7A-BD8E-ABC1E5E83430}">
      <dgm:prSet/>
      <dgm:spPr/>
      <dgm:t>
        <a:bodyPr/>
        <a:lstStyle/>
        <a:p>
          <a:endParaRPr lang="en-US"/>
        </a:p>
      </dgm:t>
    </dgm:pt>
    <dgm:pt modelId="{41830E0C-07C1-4976-9FC5-365BB3A83821}">
      <dgm:prSet/>
      <dgm:spPr/>
      <dgm:t>
        <a:bodyPr/>
        <a:lstStyle/>
        <a:p>
          <a:r>
            <a:rPr lang="en-US" dirty="0"/>
            <a:t>Utilize</a:t>
          </a:r>
        </a:p>
      </dgm:t>
    </dgm:pt>
    <dgm:pt modelId="{C33C8B94-2891-4FE5-B2CD-63C68ECFFFD0}" type="parTrans" cxnId="{4D467385-0235-4503-9999-18B93893CBB3}">
      <dgm:prSet/>
      <dgm:spPr/>
      <dgm:t>
        <a:bodyPr/>
        <a:lstStyle/>
        <a:p>
          <a:endParaRPr lang="en-US"/>
        </a:p>
      </dgm:t>
    </dgm:pt>
    <dgm:pt modelId="{7EB4CF7A-665B-4A64-97AC-13637F5DCF88}" type="sibTrans" cxnId="{4D467385-0235-4503-9999-18B93893CBB3}">
      <dgm:prSet/>
      <dgm:spPr/>
      <dgm:t>
        <a:bodyPr/>
        <a:lstStyle/>
        <a:p>
          <a:endParaRPr lang="en-US"/>
        </a:p>
      </dgm:t>
    </dgm:pt>
    <dgm:pt modelId="{9139CDDA-B048-4F3A-87FA-0B34A3FE78CC}">
      <dgm:prSet custT="1"/>
      <dgm:spPr/>
      <dgm:t>
        <a:bodyPr/>
        <a:lstStyle/>
        <a:p>
          <a:r>
            <a:rPr lang="en-US" sz="2400" dirty="0"/>
            <a:t>Utilize the services offered by lifestyle and behaviour modification professionals in a better capacity</a:t>
          </a:r>
        </a:p>
      </dgm:t>
    </dgm:pt>
    <dgm:pt modelId="{4568D987-C335-4062-AFFD-3FC850C3CD58}" type="parTrans" cxnId="{ADDFBCB7-73E2-4C9C-8870-B868AA279E96}">
      <dgm:prSet/>
      <dgm:spPr/>
      <dgm:t>
        <a:bodyPr/>
        <a:lstStyle/>
        <a:p>
          <a:endParaRPr lang="en-US"/>
        </a:p>
      </dgm:t>
    </dgm:pt>
    <dgm:pt modelId="{867DD4FF-9539-4CD3-81DD-0C38133F2C51}" type="sibTrans" cxnId="{ADDFBCB7-73E2-4C9C-8870-B868AA279E96}">
      <dgm:prSet/>
      <dgm:spPr/>
      <dgm:t>
        <a:bodyPr/>
        <a:lstStyle/>
        <a:p>
          <a:endParaRPr lang="en-US"/>
        </a:p>
      </dgm:t>
    </dgm:pt>
    <dgm:pt modelId="{CFA2C895-DFB9-4000-AB16-533B90A77B5D}">
      <dgm:prSet/>
      <dgm:spPr/>
      <dgm:t>
        <a:bodyPr/>
        <a:lstStyle/>
        <a:p>
          <a:r>
            <a:rPr lang="en-US" dirty="0"/>
            <a:t>Continue</a:t>
          </a:r>
        </a:p>
      </dgm:t>
    </dgm:pt>
    <dgm:pt modelId="{903E2DE6-33D6-4752-97DD-5D24788DE938}" type="parTrans" cxnId="{2BD8F900-1112-4BF0-942D-0195627A5701}">
      <dgm:prSet/>
      <dgm:spPr/>
      <dgm:t>
        <a:bodyPr/>
        <a:lstStyle/>
        <a:p>
          <a:endParaRPr lang="en-US"/>
        </a:p>
      </dgm:t>
    </dgm:pt>
    <dgm:pt modelId="{580849E0-77DF-4074-98F8-C0E61CA52860}" type="sibTrans" cxnId="{2BD8F900-1112-4BF0-942D-0195627A5701}">
      <dgm:prSet/>
      <dgm:spPr/>
      <dgm:t>
        <a:bodyPr/>
        <a:lstStyle/>
        <a:p>
          <a:endParaRPr lang="en-US"/>
        </a:p>
      </dgm:t>
    </dgm:pt>
    <dgm:pt modelId="{13F91B2A-A7A7-42CD-A17D-4CDFCBD303E8}">
      <dgm:prSet custT="1"/>
      <dgm:spPr/>
      <dgm:t>
        <a:bodyPr/>
        <a:lstStyle/>
        <a:p>
          <a:r>
            <a:rPr lang="en-US" sz="2400" dirty="0"/>
            <a:t>Continue with follow-ups of the health checks to monitor success and identify barriers</a:t>
          </a:r>
        </a:p>
      </dgm:t>
    </dgm:pt>
    <dgm:pt modelId="{F597226F-8A0F-4A6F-BED5-A3852981D99A}" type="parTrans" cxnId="{18A2546F-8793-4F6A-B49C-60CD9E81950B}">
      <dgm:prSet/>
      <dgm:spPr/>
      <dgm:t>
        <a:bodyPr/>
        <a:lstStyle/>
        <a:p>
          <a:endParaRPr lang="en-US"/>
        </a:p>
      </dgm:t>
    </dgm:pt>
    <dgm:pt modelId="{2ADB5B77-2576-4FB3-83AF-426ADB6E7C71}" type="sibTrans" cxnId="{18A2546F-8793-4F6A-B49C-60CD9E81950B}">
      <dgm:prSet/>
      <dgm:spPr/>
      <dgm:t>
        <a:bodyPr/>
        <a:lstStyle/>
        <a:p>
          <a:endParaRPr lang="en-US"/>
        </a:p>
      </dgm:t>
    </dgm:pt>
    <dgm:pt modelId="{B21EACA1-BA97-4A26-8E2B-0DB9E9439ACD}" type="pres">
      <dgm:prSet presAssocID="{F57EF021-98CF-49B0-BCE8-26C4F1D3A64D}" presName="Name0" presStyleCnt="0">
        <dgm:presLayoutVars>
          <dgm:dir/>
          <dgm:animLvl val="lvl"/>
          <dgm:resizeHandles val="exact"/>
        </dgm:presLayoutVars>
      </dgm:prSet>
      <dgm:spPr/>
    </dgm:pt>
    <dgm:pt modelId="{64A0713B-82F2-4470-A53E-EC334B52FD80}" type="pres">
      <dgm:prSet presAssocID="{CFA2C895-DFB9-4000-AB16-533B90A77B5D}" presName="boxAndChildren" presStyleCnt="0"/>
      <dgm:spPr/>
    </dgm:pt>
    <dgm:pt modelId="{A602EBCB-0A77-4833-B1AA-E554C8188CD5}" type="pres">
      <dgm:prSet presAssocID="{CFA2C895-DFB9-4000-AB16-533B90A77B5D}" presName="parentTextBox" presStyleLbl="alignNode1" presStyleIdx="0" presStyleCnt="4"/>
      <dgm:spPr/>
    </dgm:pt>
    <dgm:pt modelId="{C4B830C2-7309-4CC0-BE2B-7E3C77F22C31}" type="pres">
      <dgm:prSet presAssocID="{CFA2C895-DFB9-4000-AB16-533B90A77B5D}" presName="descendantBox" presStyleLbl="bgAccFollowNode1" presStyleIdx="0" presStyleCnt="4"/>
      <dgm:spPr/>
    </dgm:pt>
    <dgm:pt modelId="{F0413708-31B1-4471-BC16-82017CD10072}" type="pres">
      <dgm:prSet presAssocID="{7EB4CF7A-665B-4A64-97AC-13637F5DCF88}" presName="sp" presStyleCnt="0"/>
      <dgm:spPr/>
    </dgm:pt>
    <dgm:pt modelId="{D92CCE02-7E1F-4165-BCDE-59730136EBE7}" type="pres">
      <dgm:prSet presAssocID="{41830E0C-07C1-4976-9FC5-365BB3A83821}" presName="arrowAndChildren" presStyleCnt="0"/>
      <dgm:spPr/>
    </dgm:pt>
    <dgm:pt modelId="{02072020-06E6-4A5D-A72E-9FBA47F61763}" type="pres">
      <dgm:prSet presAssocID="{41830E0C-07C1-4976-9FC5-365BB3A83821}" presName="parentTextArrow" presStyleLbl="node1" presStyleIdx="0" presStyleCnt="0"/>
      <dgm:spPr/>
    </dgm:pt>
    <dgm:pt modelId="{ABB79773-66C9-4DDA-BFE8-1C2CAF6B1296}" type="pres">
      <dgm:prSet presAssocID="{41830E0C-07C1-4976-9FC5-365BB3A83821}" presName="arrow" presStyleLbl="alignNode1" presStyleIdx="1" presStyleCnt="4"/>
      <dgm:spPr/>
    </dgm:pt>
    <dgm:pt modelId="{E8A6A6EA-B516-4C0C-A7AE-F0A15F06561C}" type="pres">
      <dgm:prSet presAssocID="{41830E0C-07C1-4976-9FC5-365BB3A83821}" presName="descendantArrow" presStyleLbl="bgAccFollowNode1" presStyleIdx="1" presStyleCnt="4"/>
      <dgm:spPr/>
    </dgm:pt>
    <dgm:pt modelId="{49630FF7-7304-4481-A86B-6363056DAB60}" type="pres">
      <dgm:prSet presAssocID="{33E76364-88BB-4CDB-89B5-8D5F1F8CD81F}" presName="sp" presStyleCnt="0"/>
      <dgm:spPr/>
    </dgm:pt>
    <dgm:pt modelId="{7654E43A-F0C3-43DB-B6C8-F356617A1911}" type="pres">
      <dgm:prSet presAssocID="{96AAF9F4-B3E6-4763-BBF9-61B2859C0AB5}" presName="arrowAndChildren" presStyleCnt="0"/>
      <dgm:spPr/>
    </dgm:pt>
    <dgm:pt modelId="{72E263D8-4CED-4EB7-A3BD-F7852109F629}" type="pres">
      <dgm:prSet presAssocID="{96AAF9F4-B3E6-4763-BBF9-61B2859C0AB5}" presName="parentTextArrow" presStyleLbl="node1" presStyleIdx="0" presStyleCnt="0"/>
      <dgm:spPr/>
    </dgm:pt>
    <dgm:pt modelId="{373E5B4B-E3E7-49D1-85BE-1BB4578FB072}" type="pres">
      <dgm:prSet presAssocID="{96AAF9F4-B3E6-4763-BBF9-61B2859C0AB5}" presName="arrow" presStyleLbl="alignNode1" presStyleIdx="2" presStyleCnt="4"/>
      <dgm:spPr/>
    </dgm:pt>
    <dgm:pt modelId="{53E56A93-6221-472D-9F9F-1046CC7262AC}" type="pres">
      <dgm:prSet presAssocID="{96AAF9F4-B3E6-4763-BBF9-61B2859C0AB5}" presName="descendantArrow" presStyleLbl="bgAccFollowNode1" presStyleIdx="2" presStyleCnt="4"/>
      <dgm:spPr/>
    </dgm:pt>
    <dgm:pt modelId="{009863A7-9145-4C25-94BC-38DB51C06029}" type="pres">
      <dgm:prSet presAssocID="{F76432EB-E74D-4900-B673-A58376793FDF}" presName="sp" presStyleCnt="0"/>
      <dgm:spPr/>
    </dgm:pt>
    <dgm:pt modelId="{2CEEF8E7-9E3A-40CD-9D82-B62AE204C486}" type="pres">
      <dgm:prSet presAssocID="{571FB35C-108D-4F31-B172-9B4D8B126D38}" presName="arrowAndChildren" presStyleCnt="0"/>
      <dgm:spPr/>
    </dgm:pt>
    <dgm:pt modelId="{88CDA52F-383A-42A4-9B27-91ADE8BD5CD8}" type="pres">
      <dgm:prSet presAssocID="{571FB35C-108D-4F31-B172-9B4D8B126D38}" presName="parentTextArrow" presStyleLbl="node1" presStyleIdx="0" presStyleCnt="0"/>
      <dgm:spPr/>
    </dgm:pt>
    <dgm:pt modelId="{45A259DB-65EE-4B5C-968B-5669E16255A2}" type="pres">
      <dgm:prSet presAssocID="{571FB35C-108D-4F31-B172-9B4D8B126D38}" presName="arrow" presStyleLbl="alignNode1" presStyleIdx="3" presStyleCnt="4"/>
      <dgm:spPr/>
    </dgm:pt>
    <dgm:pt modelId="{456C1010-D89A-4609-8FA8-E1F801D3CFBC}" type="pres">
      <dgm:prSet presAssocID="{571FB35C-108D-4F31-B172-9B4D8B126D38}" presName="descendantArrow" presStyleLbl="bgAccFollowNode1" presStyleIdx="3" presStyleCnt="4"/>
      <dgm:spPr/>
    </dgm:pt>
  </dgm:ptLst>
  <dgm:cxnLst>
    <dgm:cxn modelId="{2BD8F900-1112-4BF0-942D-0195627A5701}" srcId="{F57EF021-98CF-49B0-BCE8-26C4F1D3A64D}" destId="{CFA2C895-DFB9-4000-AB16-533B90A77B5D}" srcOrd="3" destOrd="0" parTransId="{903E2DE6-33D6-4752-97DD-5D24788DE938}" sibTransId="{580849E0-77DF-4074-98F8-C0E61CA52860}"/>
    <dgm:cxn modelId="{94424514-F5E6-4D27-9091-B7D4798CD6F2}" type="presOf" srcId="{CFA2C895-DFB9-4000-AB16-533B90A77B5D}" destId="{A602EBCB-0A77-4833-B1AA-E554C8188CD5}" srcOrd="0" destOrd="0" presId="urn:microsoft.com/office/officeart/2016/7/layout/VerticalDownArrowProcess"/>
    <dgm:cxn modelId="{B5BD6A1C-8B42-464B-B8F4-8C128CBB5E31}" type="presOf" srcId="{96AAF9F4-B3E6-4763-BBF9-61B2859C0AB5}" destId="{72E263D8-4CED-4EB7-A3BD-F7852109F629}" srcOrd="0" destOrd="0" presId="urn:microsoft.com/office/officeart/2016/7/layout/VerticalDownArrowProcess"/>
    <dgm:cxn modelId="{342A5629-72D0-4258-AC32-12F2F44717B2}" type="presOf" srcId="{912FDA77-EECE-4A8B-B075-E4E4AB530710}" destId="{456C1010-D89A-4609-8FA8-E1F801D3CFBC}" srcOrd="0" destOrd="0" presId="urn:microsoft.com/office/officeart/2016/7/layout/VerticalDownArrowProcess"/>
    <dgm:cxn modelId="{284A2C3E-4FB3-4492-960C-2969840C7D05}" type="presOf" srcId="{F57EF021-98CF-49B0-BCE8-26C4F1D3A64D}" destId="{B21EACA1-BA97-4A26-8E2B-0DB9E9439ACD}" srcOrd="0" destOrd="0" presId="urn:microsoft.com/office/officeart/2016/7/layout/VerticalDownArrowProcess"/>
    <dgm:cxn modelId="{07172A47-8E74-46E6-9A5E-91F3432E1911}" type="presOf" srcId="{96AAF9F4-B3E6-4763-BBF9-61B2859C0AB5}" destId="{373E5B4B-E3E7-49D1-85BE-1BB4578FB072}" srcOrd="1" destOrd="0" presId="urn:microsoft.com/office/officeart/2016/7/layout/VerticalDownArrowProcess"/>
    <dgm:cxn modelId="{6E5CB363-D09C-4C7A-BD8E-ABC1E5E83430}" srcId="{96AAF9F4-B3E6-4763-BBF9-61B2859C0AB5}" destId="{D20B53D1-7DDA-4CAC-8107-FDB08E31AB96}" srcOrd="0" destOrd="0" parTransId="{CD1BD375-2FC9-4644-9302-F23E47B35F7C}" sibTransId="{568898AD-BAC5-4CF2-B9A2-DBAB35AAA7D9}"/>
    <dgm:cxn modelId="{CDFF1465-0431-454A-9A72-77E276A5B283}" type="presOf" srcId="{9139CDDA-B048-4F3A-87FA-0B34A3FE78CC}" destId="{E8A6A6EA-B516-4C0C-A7AE-F0A15F06561C}" srcOrd="0" destOrd="0" presId="urn:microsoft.com/office/officeart/2016/7/layout/VerticalDownArrowProcess"/>
    <dgm:cxn modelId="{F0FE4369-A6E6-4B3E-8043-707006C6C445}" srcId="{571FB35C-108D-4F31-B172-9B4D8B126D38}" destId="{912FDA77-EECE-4A8B-B075-E4E4AB530710}" srcOrd="0" destOrd="0" parTransId="{1DB069F9-4467-473E-8AA4-0A337454C56D}" sibTransId="{46798A1D-87B3-48E1-ACA3-0BB687992146}"/>
    <dgm:cxn modelId="{18A2546F-8793-4F6A-B49C-60CD9E81950B}" srcId="{CFA2C895-DFB9-4000-AB16-533B90A77B5D}" destId="{13F91B2A-A7A7-42CD-A17D-4CDFCBD303E8}" srcOrd="0" destOrd="0" parTransId="{F597226F-8A0F-4A6F-BED5-A3852981D99A}" sibTransId="{2ADB5B77-2576-4FB3-83AF-426ADB6E7C71}"/>
    <dgm:cxn modelId="{E153CC7B-8F08-488C-AC5C-8B36B6E7DD58}" type="presOf" srcId="{13F91B2A-A7A7-42CD-A17D-4CDFCBD303E8}" destId="{C4B830C2-7309-4CC0-BE2B-7E3C77F22C31}" srcOrd="0" destOrd="0" presId="urn:microsoft.com/office/officeart/2016/7/layout/VerticalDownArrowProcess"/>
    <dgm:cxn modelId="{233FD77B-2AD4-4CA2-B9D3-2C27C3890371}" type="presOf" srcId="{D20B53D1-7DDA-4CAC-8107-FDB08E31AB96}" destId="{53E56A93-6221-472D-9F9F-1046CC7262AC}" srcOrd="0" destOrd="0" presId="urn:microsoft.com/office/officeart/2016/7/layout/VerticalDownArrowProcess"/>
    <dgm:cxn modelId="{4D467385-0235-4503-9999-18B93893CBB3}" srcId="{F57EF021-98CF-49B0-BCE8-26C4F1D3A64D}" destId="{41830E0C-07C1-4976-9FC5-365BB3A83821}" srcOrd="2" destOrd="0" parTransId="{C33C8B94-2891-4FE5-B2CD-63C68ECFFFD0}" sibTransId="{7EB4CF7A-665B-4A64-97AC-13637F5DCF88}"/>
    <dgm:cxn modelId="{A5C8CC87-81F2-437D-B153-2AA721702AC1}" srcId="{F57EF021-98CF-49B0-BCE8-26C4F1D3A64D}" destId="{571FB35C-108D-4F31-B172-9B4D8B126D38}" srcOrd="0" destOrd="0" parTransId="{023DB3A8-3513-43A9-900D-FC4A82C78A8E}" sibTransId="{F76432EB-E74D-4900-B673-A58376793FDF}"/>
    <dgm:cxn modelId="{9C28118F-C494-43E5-B62E-C80CDFD62611}" type="presOf" srcId="{571FB35C-108D-4F31-B172-9B4D8B126D38}" destId="{45A259DB-65EE-4B5C-968B-5669E16255A2}" srcOrd="1" destOrd="0" presId="urn:microsoft.com/office/officeart/2016/7/layout/VerticalDownArrowProcess"/>
    <dgm:cxn modelId="{52D1D09B-5A74-428B-8572-8D5CEC77A6A0}" srcId="{F57EF021-98CF-49B0-BCE8-26C4F1D3A64D}" destId="{96AAF9F4-B3E6-4763-BBF9-61B2859C0AB5}" srcOrd="1" destOrd="0" parTransId="{A31899A9-C496-4DC2-B78A-630D224A25D2}" sibTransId="{33E76364-88BB-4CDB-89B5-8D5F1F8CD81F}"/>
    <dgm:cxn modelId="{ADDFBCB7-73E2-4C9C-8870-B868AA279E96}" srcId="{41830E0C-07C1-4976-9FC5-365BB3A83821}" destId="{9139CDDA-B048-4F3A-87FA-0B34A3FE78CC}" srcOrd="0" destOrd="0" parTransId="{4568D987-C335-4062-AFFD-3FC850C3CD58}" sibTransId="{867DD4FF-9539-4CD3-81DD-0C38133F2C51}"/>
    <dgm:cxn modelId="{B2064CBF-4701-4678-9020-3AFB6B6A3592}" type="presOf" srcId="{41830E0C-07C1-4976-9FC5-365BB3A83821}" destId="{ABB79773-66C9-4DDA-BFE8-1C2CAF6B1296}" srcOrd="1" destOrd="0" presId="urn:microsoft.com/office/officeart/2016/7/layout/VerticalDownArrowProcess"/>
    <dgm:cxn modelId="{7294CFBF-218B-4E2E-A9F0-C0F12E2A7A1B}" type="presOf" srcId="{571FB35C-108D-4F31-B172-9B4D8B126D38}" destId="{88CDA52F-383A-42A4-9B27-91ADE8BD5CD8}" srcOrd="0" destOrd="0" presId="urn:microsoft.com/office/officeart/2016/7/layout/VerticalDownArrowProcess"/>
    <dgm:cxn modelId="{6ADF95E8-ADBC-4D57-82E4-D1F7F6B9248E}" type="presOf" srcId="{41830E0C-07C1-4976-9FC5-365BB3A83821}" destId="{02072020-06E6-4A5D-A72E-9FBA47F61763}" srcOrd="0" destOrd="0" presId="urn:microsoft.com/office/officeart/2016/7/layout/VerticalDownArrowProcess"/>
    <dgm:cxn modelId="{C96BADCC-B17E-45C2-A5F8-A451BB42CA68}" type="presParOf" srcId="{B21EACA1-BA97-4A26-8E2B-0DB9E9439ACD}" destId="{64A0713B-82F2-4470-A53E-EC334B52FD80}" srcOrd="0" destOrd="0" presId="urn:microsoft.com/office/officeart/2016/7/layout/VerticalDownArrowProcess"/>
    <dgm:cxn modelId="{858C5FAB-2E24-44B3-A429-EC993F901464}" type="presParOf" srcId="{64A0713B-82F2-4470-A53E-EC334B52FD80}" destId="{A602EBCB-0A77-4833-B1AA-E554C8188CD5}" srcOrd="0" destOrd="0" presId="urn:microsoft.com/office/officeart/2016/7/layout/VerticalDownArrowProcess"/>
    <dgm:cxn modelId="{2CBEFB72-F8DE-4D8F-90D1-6058696CD559}" type="presParOf" srcId="{64A0713B-82F2-4470-A53E-EC334B52FD80}" destId="{C4B830C2-7309-4CC0-BE2B-7E3C77F22C31}" srcOrd="1" destOrd="0" presId="urn:microsoft.com/office/officeart/2016/7/layout/VerticalDownArrowProcess"/>
    <dgm:cxn modelId="{522B33BF-AA92-4166-85CA-D75CF2248F0E}" type="presParOf" srcId="{B21EACA1-BA97-4A26-8E2B-0DB9E9439ACD}" destId="{F0413708-31B1-4471-BC16-82017CD10072}" srcOrd="1" destOrd="0" presId="urn:microsoft.com/office/officeart/2016/7/layout/VerticalDownArrowProcess"/>
    <dgm:cxn modelId="{C6B85DB5-D0A4-4D3A-8971-BAE9A74280F5}" type="presParOf" srcId="{B21EACA1-BA97-4A26-8E2B-0DB9E9439ACD}" destId="{D92CCE02-7E1F-4165-BCDE-59730136EBE7}" srcOrd="2" destOrd="0" presId="urn:microsoft.com/office/officeart/2016/7/layout/VerticalDownArrowProcess"/>
    <dgm:cxn modelId="{F3A54FAD-0DB9-4F6B-AB8F-1E89FA476E75}" type="presParOf" srcId="{D92CCE02-7E1F-4165-BCDE-59730136EBE7}" destId="{02072020-06E6-4A5D-A72E-9FBA47F61763}" srcOrd="0" destOrd="0" presId="urn:microsoft.com/office/officeart/2016/7/layout/VerticalDownArrowProcess"/>
    <dgm:cxn modelId="{21822B7E-CD71-4DFD-9447-061C326DC898}" type="presParOf" srcId="{D92CCE02-7E1F-4165-BCDE-59730136EBE7}" destId="{ABB79773-66C9-4DDA-BFE8-1C2CAF6B1296}" srcOrd="1" destOrd="0" presId="urn:microsoft.com/office/officeart/2016/7/layout/VerticalDownArrowProcess"/>
    <dgm:cxn modelId="{B110D0DC-4C8B-4D33-A8DB-EBFF74DD273A}" type="presParOf" srcId="{D92CCE02-7E1F-4165-BCDE-59730136EBE7}" destId="{E8A6A6EA-B516-4C0C-A7AE-F0A15F06561C}" srcOrd="2" destOrd="0" presId="urn:microsoft.com/office/officeart/2016/7/layout/VerticalDownArrowProcess"/>
    <dgm:cxn modelId="{2E2ECB89-411C-4FE9-857B-5EB3123800E6}" type="presParOf" srcId="{B21EACA1-BA97-4A26-8E2B-0DB9E9439ACD}" destId="{49630FF7-7304-4481-A86B-6363056DAB60}" srcOrd="3" destOrd="0" presId="urn:microsoft.com/office/officeart/2016/7/layout/VerticalDownArrowProcess"/>
    <dgm:cxn modelId="{75CF33E7-942F-44DD-AB67-36D67DC5C341}" type="presParOf" srcId="{B21EACA1-BA97-4A26-8E2B-0DB9E9439ACD}" destId="{7654E43A-F0C3-43DB-B6C8-F356617A1911}" srcOrd="4" destOrd="0" presId="urn:microsoft.com/office/officeart/2016/7/layout/VerticalDownArrowProcess"/>
    <dgm:cxn modelId="{6D8061BE-3798-4ECA-89FB-40763524ECC9}" type="presParOf" srcId="{7654E43A-F0C3-43DB-B6C8-F356617A1911}" destId="{72E263D8-4CED-4EB7-A3BD-F7852109F629}" srcOrd="0" destOrd="0" presId="urn:microsoft.com/office/officeart/2016/7/layout/VerticalDownArrowProcess"/>
    <dgm:cxn modelId="{A228BA35-BADF-4D40-90AA-E9620F3203A0}" type="presParOf" srcId="{7654E43A-F0C3-43DB-B6C8-F356617A1911}" destId="{373E5B4B-E3E7-49D1-85BE-1BB4578FB072}" srcOrd="1" destOrd="0" presId="urn:microsoft.com/office/officeart/2016/7/layout/VerticalDownArrowProcess"/>
    <dgm:cxn modelId="{4CEB8CC4-070C-46AB-ABD6-ECE4425BF4E2}" type="presParOf" srcId="{7654E43A-F0C3-43DB-B6C8-F356617A1911}" destId="{53E56A93-6221-472D-9F9F-1046CC7262AC}" srcOrd="2" destOrd="0" presId="urn:microsoft.com/office/officeart/2016/7/layout/VerticalDownArrowProcess"/>
    <dgm:cxn modelId="{4EA3F81D-4E10-4274-AA01-6173557D69F3}" type="presParOf" srcId="{B21EACA1-BA97-4A26-8E2B-0DB9E9439ACD}" destId="{009863A7-9145-4C25-94BC-38DB51C06029}" srcOrd="5" destOrd="0" presId="urn:microsoft.com/office/officeart/2016/7/layout/VerticalDownArrowProcess"/>
    <dgm:cxn modelId="{923FBA28-4C64-4B87-BCFE-DABA679CDB1A}" type="presParOf" srcId="{B21EACA1-BA97-4A26-8E2B-0DB9E9439ACD}" destId="{2CEEF8E7-9E3A-40CD-9D82-B62AE204C486}" srcOrd="6" destOrd="0" presId="urn:microsoft.com/office/officeart/2016/7/layout/VerticalDownArrowProcess"/>
    <dgm:cxn modelId="{E6974567-3A4A-460E-9222-7521370546F8}" type="presParOf" srcId="{2CEEF8E7-9E3A-40CD-9D82-B62AE204C486}" destId="{88CDA52F-383A-42A4-9B27-91ADE8BD5CD8}" srcOrd="0" destOrd="0" presId="urn:microsoft.com/office/officeart/2016/7/layout/VerticalDownArrowProcess"/>
    <dgm:cxn modelId="{7788C6B3-32EB-4D16-B01B-E0D235D6D1F8}" type="presParOf" srcId="{2CEEF8E7-9E3A-40CD-9D82-B62AE204C486}" destId="{45A259DB-65EE-4B5C-968B-5669E16255A2}" srcOrd="1" destOrd="0" presId="urn:microsoft.com/office/officeart/2016/7/layout/VerticalDownArrowProcess"/>
    <dgm:cxn modelId="{AF5242A2-0DA4-48AA-A2D1-F224CCBD15E8}" type="presParOf" srcId="{2CEEF8E7-9E3A-40CD-9D82-B62AE204C486}" destId="{456C1010-D89A-4609-8FA8-E1F801D3CFBC}"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900ED9-272F-40DF-8EEA-758F07940E3F}">
      <dsp:nvSpPr>
        <dsp:cNvPr id="0" name=""/>
        <dsp:cNvSpPr/>
      </dsp:nvSpPr>
      <dsp:spPr>
        <a:xfrm>
          <a:off x="0" y="0"/>
          <a:ext cx="10515600" cy="0"/>
        </a:xfrm>
        <a:prstGeom prst="line">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sp>
    <dsp:sp modelId="{7C3985C6-CB87-4E03-8A54-D6ED12F26BF6}">
      <dsp:nvSpPr>
        <dsp:cNvPr id="0" name=""/>
        <dsp:cNvSpPr/>
      </dsp:nvSpPr>
      <dsp:spPr>
        <a:xfrm>
          <a:off x="0" y="0"/>
          <a:ext cx="10515600" cy="217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Risk factors such as smoking, dyslipidaemia, hypertension, diabetes, abdominal obesity, adverse diet, physical inactivity and psychosocial factors account for 90% of the risk of myocardial infarction worldwide (Yusuf et al., 2004) </a:t>
          </a:r>
        </a:p>
      </dsp:txBody>
      <dsp:txXfrm>
        <a:off x="0" y="0"/>
        <a:ext cx="10515600" cy="2175669"/>
      </dsp:txXfrm>
    </dsp:sp>
    <dsp:sp modelId="{11D38FD7-F121-4D1F-8BD0-0557A94D8CB0}">
      <dsp:nvSpPr>
        <dsp:cNvPr id="0" name=""/>
        <dsp:cNvSpPr/>
      </dsp:nvSpPr>
      <dsp:spPr>
        <a:xfrm>
          <a:off x="0" y="2175669"/>
          <a:ext cx="10515600" cy="0"/>
        </a:xfrm>
        <a:prstGeom prst="line">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sp>
    <dsp:sp modelId="{163D9791-37DA-460B-BF87-16D0CBDAD399}">
      <dsp:nvSpPr>
        <dsp:cNvPr id="0" name=""/>
        <dsp:cNvSpPr/>
      </dsp:nvSpPr>
      <dsp:spPr>
        <a:xfrm>
          <a:off x="0" y="2175669"/>
          <a:ext cx="10515600" cy="217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Detection and prevention of these risk factors in populations can have substantial benefits in reducing the burden caused by CVD (Yusuf et al., 2004)</a:t>
          </a:r>
        </a:p>
      </dsp:txBody>
      <dsp:txXfrm>
        <a:off x="0" y="2175669"/>
        <a:ext cx="10515600" cy="21756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638C8A-E708-4729-9B42-5B23B6128D9A}">
      <dsp:nvSpPr>
        <dsp:cNvPr id="0" name=""/>
        <dsp:cNvSpPr/>
      </dsp:nvSpPr>
      <dsp:spPr>
        <a:xfrm>
          <a:off x="1283" y="73062"/>
          <a:ext cx="4205213" cy="4205213"/>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Treatment: appropriate/immediate i.e. access to medical care, defibrillators</a:t>
          </a:r>
        </a:p>
      </dsp:txBody>
      <dsp:txXfrm>
        <a:off x="617122" y="688901"/>
        <a:ext cx="2973535" cy="2973535"/>
      </dsp:txXfrm>
    </dsp:sp>
    <dsp:sp modelId="{7CC851A9-F4E7-4C18-BDDB-1A2031101023}">
      <dsp:nvSpPr>
        <dsp:cNvPr id="0" name=""/>
        <dsp:cNvSpPr/>
      </dsp:nvSpPr>
      <dsp:spPr>
        <a:xfrm rot="5400000">
          <a:off x="4553426" y="1618478"/>
          <a:ext cx="1471824" cy="1114381"/>
        </a:xfrm>
        <a:prstGeom prst="triangle">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AA6CDEDC-3E71-4667-86D0-E5F5448653FF}">
      <dsp:nvSpPr>
        <dsp:cNvPr id="0" name=""/>
        <dsp:cNvSpPr/>
      </dsp:nvSpPr>
      <dsp:spPr>
        <a:xfrm>
          <a:off x="6309103" y="73062"/>
          <a:ext cx="4205213" cy="4205213"/>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Counselling and physical rehabilitation after a heart attack</a:t>
          </a:r>
        </a:p>
      </dsp:txBody>
      <dsp:txXfrm>
        <a:off x="6924942" y="688901"/>
        <a:ext cx="2973535" cy="29735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2EF9D0-BE09-3643-91DD-B908A12F63CE}">
      <dsp:nvSpPr>
        <dsp:cNvPr id="0" name=""/>
        <dsp:cNvSpPr/>
      </dsp:nvSpPr>
      <dsp:spPr>
        <a:xfrm>
          <a:off x="0" y="238112"/>
          <a:ext cx="6172199" cy="1427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Prior to the interview each participant was informed about the objective of the evaluation and advised that the interview would be confidential and would last no longer than 10 minutes (median time was 8 minutes)</a:t>
          </a:r>
        </a:p>
      </dsp:txBody>
      <dsp:txXfrm>
        <a:off x="69680" y="307792"/>
        <a:ext cx="6032839" cy="1288040"/>
      </dsp:txXfrm>
    </dsp:sp>
    <dsp:sp modelId="{DCED417E-EA9E-EE43-8ECA-61AA7152FA60}">
      <dsp:nvSpPr>
        <dsp:cNvPr id="0" name=""/>
        <dsp:cNvSpPr/>
      </dsp:nvSpPr>
      <dsp:spPr>
        <a:xfrm>
          <a:off x="0" y="1723112"/>
          <a:ext cx="6172199" cy="1427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Subjects completed the NHS consent form to the service provider indicating their willingness or otherwise to take part in the evaluation study</a:t>
          </a:r>
        </a:p>
      </dsp:txBody>
      <dsp:txXfrm>
        <a:off x="69680" y="1792792"/>
        <a:ext cx="6032839" cy="1288040"/>
      </dsp:txXfrm>
    </dsp:sp>
    <dsp:sp modelId="{7E05FF49-E437-824B-8921-354C56943BC2}">
      <dsp:nvSpPr>
        <dsp:cNvPr id="0" name=""/>
        <dsp:cNvSpPr/>
      </dsp:nvSpPr>
      <dsp:spPr>
        <a:xfrm>
          <a:off x="0" y="3208112"/>
          <a:ext cx="6172199" cy="1427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Consenting participants were approached directly by the researcher and invited to be interviewed at the intervention site after completion of their health checks</a:t>
          </a:r>
        </a:p>
      </dsp:txBody>
      <dsp:txXfrm>
        <a:off x="69680" y="3277792"/>
        <a:ext cx="6032839" cy="12880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838CBC-8E38-E24F-9B86-94805136BDBB}">
      <dsp:nvSpPr>
        <dsp:cNvPr id="0" name=""/>
        <dsp:cNvSpPr/>
      </dsp:nvSpPr>
      <dsp:spPr>
        <a:xfrm>
          <a:off x="0" y="112787"/>
          <a:ext cx="6172199" cy="111881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kern="1200" dirty="0"/>
            <a:t>100 participants were involved in the pilot evaluation of the Islington NHSHC</a:t>
          </a:r>
          <a:endParaRPr lang="en-US" sz="2000" kern="1200" dirty="0"/>
        </a:p>
      </dsp:txBody>
      <dsp:txXfrm>
        <a:off x="54616" y="167403"/>
        <a:ext cx="6062967" cy="1009580"/>
      </dsp:txXfrm>
    </dsp:sp>
    <dsp:sp modelId="{72F3AD58-EB6A-9D4B-978F-3A2A14DCB9CA}">
      <dsp:nvSpPr>
        <dsp:cNvPr id="0" name=""/>
        <dsp:cNvSpPr/>
      </dsp:nvSpPr>
      <dsp:spPr>
        <a:xfrm>
          <a:off x="0" y="1289200"/>
          <a:ext cx="6172199" cy="111881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kern="1200" dirty="0"/>
            <a:t>Representative in terms of age and level of employment </a:t>
          </a:r>
          <a:endParaRPr lang="en-US" sz="2000" kern="1200" dirty="0"/>
        </a:p>
      </dsp:txBody>
      <dsp:txXfrm>
        <a:off x="54616" y="1343816"/>
        <a:ext cx="6062967" cy="1009580"/>
      </dsp:txXfrm>
    </dsp:sp>
    <dsp:sp modelId="{3B2E3FFC-9A5B-8245-8F9C-25CB6341DBE5}">
      <dsp:nvSpPr>
        <dsp:cNvPr id="0" name=""/>
        <dsp:cNvSpPr/>
      </dsp:nvSpPr>
      <dsp:spPr>
        <a:xfrm>
          <a:off x="0" y="2465612"/>
          <a:ext cx="6172199" cy="111881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A disproportionately higher number of females (69%) took part in the survey reflecting higher number of female subjects who had health checks</a:t>
          </a:r>
        </a:p>
      </dsp:txBody>
      <dsp:txXfrm>
        <a:off x="54616" y="2520228"/>
        <a:ext cx="6062967" cy="1009580"/>
      </dsp:txXfrm>
    </dsp:sp>
    <dsp:sp modelId="{5947F0F2-AE80-7E40-B680-3BC7D448E01B}">
      <dsp:nvSpPr>
        <dsp:cNvPr id="0" name=""/>
        <dsp:cNvSpPr/>
      </dsp:nvSpPr>
      <dsp:spPr>
        <a:xfrm>
          <a:off x="0" y="3642025"/>
          <a:ext cx="6172199" cy="111881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Over-representation of English participants (54%)</a:t>
          </a:r>
        </a:p>
      </dsp:txBody>
      <dsp:txXfrm>
        <a:off x="54616" y="3696641"/>
        <a:ext cx="6062967" cy="10095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1A631C-6FF5-5947-9A86-E000E84964A3}">
      <dsp:nvSpPr>
        <dsp:cNvPr id="0" name=""/>
        <dsp:cNvSpPr/>
      </dsp:nvSpPr>
      <dsp:spPr>
        <a:xfrm>
          <a:off x="0" y="2941490"/>
          <a:ext cx="6172199" cy="192993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The NHS Health Checks program was able to identify participants who were   not registered with a GP and those who had elevated risk factors for cardiovascular events </a:t>
          </a:r>
        </a:p>
      </dsp:txBody>
      <dsp:txXfrm>
        <a:off x="0" y="2941490"/>
        <a:ext cx="6172199" cy="1929936"/>
      </dsp:txXfrm>
    </dsp:sp>
    <dsp:sp modelId="{D0A611CA-19F3-794A-A5A4-E70A99EE1B66}">
      <dsp:nvSpPr>
        <dsp:cNvPr id="0" name=""/>
        <dsp:cNvSpPr/>
      </dsp:nvSpPr>
      <dsp:spPr>
        <a:xfrm rot="10800000">
          <a:off x="0" y="2197"/>
          <a:ext cx="6172199" cy="2968242"/>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The community Health Checks were accessed by a representative population of the Islington borough, with good engagement of the black and minority ethnic groups </a:t>
          </a:r>
        </a:p>
      </dsp:txBody>
      <dsp:txXfrm rot="10800000">
        <a:off x="0" y="2197"/>
        <a:ext cx="6172199" cy="192867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D2E626-D7B4-491A-AD9C-9BED9527CAB5}">
      <dsp:nvSpPr>
        <dsp:cNvPr id="0" name=""/>
        <dsp:cNvSpPr/>
      </dsp:nvSpPr>
      <dsp:spPr>
        <a:xfrm>
          <a:off x="0" y="791964"/>
          <a:ext cx="6172199" cy="146208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7EC4D8-FE53-4C27-AFB3-86D361B28E00}">
      <dsp:nvSpPr>
        <dsp:cNvPr id="0" name=""/>
        <dsp:cNvSpPr/>
      </dsp:nvSpPr>
      <dsp:spPr>
        <a:xfrm>
          <a:off x="442281" y="1120933"/>
          <a:ext cx="804148" cy="80414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B2EDC4-7C4C-4723-8924-75BCBF48842D}">
      <dsp:nvSpPr>
        <dsp:cNvPr id="0" name=""/>
        <dsp:cNvSpPr/>
      </dsp:nvSpPr>
      <dsp:spPr>
        <a:xfrm>
          <a:off x="1688711" y="791964"/>
          <a:ext cx="4483488" cy="1462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738" tIns="154738" rIns="154738" bIns="154738" numCol="1" spcCol="1270" anchor="ctr" anchorCtr="0">
          <a:noAutofit/>
        </a:bodyPr>
        <a:lstStyle/>
        <a:p>
          <a:pPr marL="0" lvl="0" indent="0" algn="l" defTabSz="889000">
            <a:lnSpc>
              <a:spcPct val="90000"/>
            </a:lnSpc>
            <a:spcBef>
              <a:spcPct val="0"/>
            </a:spcBef>
            <a:spcAft>
              <a:spcPct val="35000"/>
            </a:spcAft>
            <a:buNone/>
          </a:pPr>
          <a:r>
            <a:rPr lang="en-US" sz="2000" kern="1200" dirty="0"/>
            <a:t>The concept of ‘overall risk’ was difficult for  some participants to grasp (n=34) , reporting confusion in the post-check evaluation interview</a:t>
          </a:r>
        </a:p>
      </dsp:txBody>
      <dsp:txXfrm>
        <a:off x="1688711" y="791964"/>
        <a:ext cx="4483488" cy="1462087"/>
      </dsp:txXfrm>
    </dsp:sp>
    <dsp:sp modelId="{AB8FD905-3E31-4385-985E-F9CFE4DCF37F}">
      <dsp:nvSpPr>
        <dsp:cNvPr id="0" name=""/>
        <dsp:cNvSpPr/>
      </dsp:nvSpPr>
      <dsp:spPr>
        <a:xfrm>
          <a:off x="0" y="2619573"/>
          <a:ext cx="6172199" cy="146208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B721DB-1ACC-4B1C-A926-087257480BA6}">
      <dsp:nvSpPr>
        <dsp:cNvPr id="0" name=""/>
        <dsp:cNvSpPr/>
      </dsp:nvSpPr>
      <dsp:spPr>
        <a:xfrm>
          <a:off x="442281" y="2948543"/>
          <a:ext cx="804148" cy="80414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595C40D-778D-4605-B1A1-3BD919904E04}">
      <dsp:nvSpPr>
        <dsp:cNvPr id="0" name=""/>
        <dsp:cNvSpPr/>
      </dsp:nvSpPr>
      <dsp:spPr>
        <a:xfrm>
          <a:off x="1688711" y="2619573"/>
          <a:ext cx="4483488" cy="1462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738" tIns="154738" rIns="154738" bIns="154738" numCol="1" spcCol="1270" anchor="ctr" anchorCtr="0">
          <a:noAutofit/>
        </a:bodyPr>
        <a:lstStyle/>
        <a:p>
          <a:pPr marL="0" lvl="0" indent="0" algn="l" defTabSz="889000">
            <a:lnSpc>
              <a:spcPct val="90000"/>
            </a:lnSpc>
            <a:spcBef>
              <a:spcPct val="0"/>
            </a:spcBef>
            <a:spcAft>
              <a:spcPct val="35000"/>
            </a:spcAft>
            <a:buNone/>
          </a:pPr>
          <a:r>
            <a:rPr lang="en-US" sz="2000" kern="1200" dirty="0"/>
            <a:t>The 12-month follow-up evaluation showed that 79%  of those referred to their GP had visited the surgery and  62% were given a formal diagnosis</a:t>
          </a:r>
        </a:p>
      </dsp:txBody>
      <dsp:txXfrm>
        <a:off x="1688711" y="2619573"/>
        <a:ext cx="4483488" cy="146208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A7CE5B-3313-734E-9F15-62323CE8B2C4}">
      <dsp:nvSpPr>
        <dsp:cNvPr id="0" name=""/>
        <dsp:cNvSpPr/>
      </dsp:nvSpPr>
      <dsp:spPr>
        <a:xfrm>
          <a:off x="0" y="2349"/>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9E6216-B303-F247-A2FD-E7D5AE925C66}">
      <dsp:nvSpPr>
        <dsp:cNvPr id="0" name=""/>
        <dsp:cNvSpPr/>
      </dsp:nvSpPr>
      <dsp:spPr>
        <a:xfrm>
          <a:off x="0" y="2349"/>
          <a:ext cx="10515600" cy="1602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001" sz="1800" b="1" kern="1200"/>
            <a:t>Limitations of Self‑Reported Data</a:t>
          </a:r>
          <a:endParaRPr lang="en-001" sz="1800" kern="1200"/>
        </a:p>
        <a:p>
          <a:pPr marL="0" lvl="0" indent="0" algn="l" defTabSz="800100">
            <a:lnSpc>
              <a:spcPct val="90000"/>
            </a:lnSpc>
            <a:spcBef>
              <a:spcPct val="0"/>
            </a:spcBef>
            <a:spcAft>
              <a:spcPct val="35000"/>
            </a:spcAft>
            <a:buSzPts val="1000"/>
            <a:buFont typeface="Symbol" pitchFamily="2" charset="2"/>
            <a:buNone/>
          </a:pPr>
          <a:r>
            <a:rPr lang="en-001" sz="1800" kern="1200"/>
            <a:t>Self-reported information is prone to recall bias and social desirability bias, which can reduce accuracy when assessing lifestyle behaviours and health risks.</a:t>
          </a:r>
        </a:p>
        <a:p>
          <a:pPr marL="0" lvl="0" indent="0" algn="l" defTabSz="800100">
            <a:lnSpc>
              <a:spcPct val="90000"/>
            </a:lnSpc>
            <a:spcBef>
              <a:spcPct val="0"/>
            </a:spcBef>
            <a:spcAft>
              <a:spcPct val="35000"/>
            </a:spcAft>
            <a:buSzPts val="1000"/>
            <a:buFont typeface="Symbol" pitchFamily="2" charset="2"/>
            <a:buNone/>
          </a:pPr>
          <a:r>
            <a:rPr lang="en-001" sz="1800" kern="1200"/>
            <a:t>Questionnaires often exclude objective clinical measurements, limiting the ability to fully assess cardiovascular risk.</a:t>
          </a:r>
          <a:endParaRPr lang="en-US" sz="1800" kern="1200" dirty="0"/>
        </a:p>
      </dsp:txBody>
      <dsp:txXfrm>
        <a:off x="0" y="2349"/>
        <a:ext cx="10515600" cy="1602565"/>
      </dsp:txXfrm>
    </dsp:sp>
    <dsp:sp modelId="{F3D1E8F9-02A6-1143-8313-018C0B28AC2F}">
      <dsp:nvSpPr>
        <dsp:cNvPr id="0" name=""/>
        <dsp:cNvSpPr/>
      </dsp:nvSpPr>
      <dsp:spPr>
        <a:xfrm>
          <a:off x="0" y="1604915"/>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3B84FF-4DDD-804C-A42F-5B9560A0FE40}">
      <dsp:nvSpPr>
        <dsp:cNvPr id="0" name=""/>
        <dsp:cNvSpPr/>
      </dsp:nvSpPr>
      <dsp:spPr>
        <a:xfrm>
          <a:off x="0" y="1604915"/>
          <a:ext cx="10515600" cy="1602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001" sz="1800" b="1" kern="1200"/>
            <a:t>Evidence of Underreporting</a:t>
          </a:r>
          <a:endParaRPr lang="en-001" sz="1800" kern="1200"/>
        </a:p>
        <a:p>
          <a:pPr marL="0" lvl="0" indent="0" algn="l" defTabSz="800100">
            <a:lnSpc>
              <a:spcPct val="90000"/>
            </a:lnSpc>
            <a:spcBef>
              <a:spcPct val="0"/>
            </a:spcBef>
            <a:spcAft>
              <a:spcPct val="35000"/>
            </a:spcAft>
            <a:buSzPts val="1000"/>
            <a:buFont typeface="Symbol" pitchFamily="2" charset="2"/>
            <a:buNone/>
          </a:pPr>
          <a:r>
            <a:rPr lang="en-001" sz="1800" kern="1200"/>
            <a:t>Previous research has shown substantial underreporting of key CVD risk factors, particularly smoking, when self-reports were compared with objective measures (O’Loughlin et al., 1995).</a:t>
          </a:r>
        </a:p>
        <a:p>
          <a:pPr marL="0" lvl="0" indent="0" algn="l" defTabSz="800100">
            <a:lnSpc>
              <a:spcPct val="90000"/>
            </a:lnSpc>
            <a:spcBef>
              <a:spcPct val="0"/>
            </a:spcBef>
            <a:spcAft>
              <a:spcPct val="35000"/>
            </a:spcAft>
            <a:buSzPts val="1000"/>
            <a:buFont typeface="Symbol" pitchFamily="2" charset="2"/>
            <a:buNone/>
          </a:pPr>
          <a:r>
            <a:rPr lang="en-001" sz="1800" kern="1200"/>
            <a:t>Underreporting can reduce the sensitivity of the evaluation, leading to misclassification of individuals' true risk status.</a:t>
          </a:r>
          <a:endParaRPr lang="en-US" sz="1800" kern="1200" dirty="0"/>
        </a:p>
      </dsp:txBody>
      <dsp:txXfrm>
        <a:off x="0" y="1604915"/>
        <a:ext cx="10515600" cy="1602565"/>
      </dsp:txXfrm>
    </dsp:sp>
    <dsp:sp modelId="{76A34A6D-25A5-CE49-9637-4C637C7F6A34}">
      <dsp:nvSpPr>
        <dsp:cNvPr id="0" name=""/>
        <dsp:cNvSpPr/>
      </dsp:nvSpPr>
      <dsp:spPr>
        <a:xfrm>
          <a:off x="0" y="3207481"/>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1AB6D2-683F-AE49-A1A9-33967F1D904D}">
      <dsp:nvSpPr>
        <dsp:cNvPr id="0" name=""/>
        <dsp:cNvSpPr/>
      </dsp:nvSpPr>
      <dsp:spPr>
        <a:xfrm>
          <a:off x="0" y="3207481"/>
          <a:ext cx="10515600" cy="1602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001" sz="1800" b="1" kern="1200"/>
            <a:t>Impact on Validity</a:t>
          </a:r>
          <a:endParaRPr lang="en-001" sz="1800" kern="1200"/>
        </a:p>
        <a:p>
          <a:pPr marL="0" lvl="0" indent="0" algn="l" defTabSz="800100">
            <a:lnSpc>
              <a:spcPct val="90000"/>
            </a:lnSpc>
            <a:spcBef>
              <a:spcPct val="0"/>
            </a:spcBef>
            <a:spcAft>
              <a:spcPct val="35000"/>
            </a:spcAft>
            <a:buSzPts val="1000"/>
            <a:buFont typeface="Symbol" pitchFamily="2" charset="2"/>
            <a:buNone/>
          </a:pPr>
          <a:r>
            <a:rPr lang="en-001" sz="1800" kern="1200"/>
            <a:t>Without objective clinical data, misclassification of risk factors is more likely, which can undermine the validity and reliability of evaluation findings.</a:t>
          </a:r>
        </a:p>
        <a:p>
          <a:pPr marL="0" lvl="0" indent="0" algn="l" defTabSz="800100">
            <a:lnSpc>
              <a:spcPct val="90000"/>
            </a:lnSpc>
            <a:spcBef>
              <a:spcPct val="0"/>
            </a:spcBef>
            <a:spcAft>
              <a:spcPct val="35000"/>
            </a:spcAft>
            <a:buSzPts val="1000"/>
            <a:buFont typeface="Symbol" pitchFamily="2" charset="2"/>
            <a:buNone/>
          </a:pPr>
          <a:r>
            <a:rPr lang="en-001" sz="1800" kern="1200"/>
            <a:t>This limits researchers’ ability to draw accurate conclusions about the programme’s effectiveness.</a:t>
          </a:r>
          <a:endParaRPr lang="en-US" sz="1800" kern="1200" dirty="0"/>
        </a:p>
      </dsp:txBody>
      <dsp:txXfrm>
        <a:off x="0" y="3207481"/>
        <a:ext cx="10515600" cy="160256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8B90B5-3ADA-4CE2-978E-5B0D582E50AA}">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F2E165-E45A-4729-A33F-03C0D0EDD4C9}">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5B74FCA-1359-4A2B-83F5-D7A594BCA537}">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dirty="0"/>
            <a:t>Use of validated measures on self-reported behaviour can help reduce the bias which is inherent in these types of evaluations</a:t>
          </a:r>
        </a:p>
      </dsp:txBody>
      <dsp:txXfrm>
        <a:off x="1435590" y="531"/>
        <a:ext cx="9080009" cy="1242935"/>
      </dsp:txXfrm>
    </dsp:sp>
    <dsp:sp modelId="{878CFB08-9103-473A-B0CD-03AE4C49BD24}">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243963-4C6A-4D7E-AF73-99B84D801FC4}">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5766FC5-CEB5-4F0E-BC47-6A2F74D4F20A}">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dirty="0"/>
            <a:t>As no data was collected from those who refused to undergo health checks, not able to assess demographic details and deduce reasons which prevent individuals from taking part in health checks</a:t>
          </a:r>
        </a:p>
      </dsp:txBody>
      <dsp:txXfrm>
        <a:off x="1435590" y="1554201"/>
        <a:ext cx="9080009" cy="1242935"/>
      </dsp:txXfrm>
    </dsp:sp>
    <dsp:sp modelId="{D689D6C0-4C48-415C-AAF7-45AB1FC20762}">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B6472D-15EE-4C57-AD66-EFC1E3549830}">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533F76-FD8D-4810-9F3B-42D973F42006}">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dirty="0"/>
            <a:t>This type of information can be useful in addressing barriers which prevent any such intervention reaching certain groups of the population</a:t>
          </a:r>
        </a:p>
      </dsp:txBody>
      <dsp:txXfrm>
        <a:off x="1435590" y="3107870"/>
        <a:ext cx="9080009" cy="124293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02EBCB-0A77-4833-B1AA-E554C8188CD5}">
      <dsp:nvSpPr>
        <dsp:cNvPr id="0" name=""/>
        <dsp:cNvSpPr/>
      </dsp:nvSpPr>
      <dsp:spPr>
        <a:xfrm>
          <a:off x="0" y="3569039"/>
          <a:ext cx="2628900" cy="780818"/>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86967" tIns="192024" rIns="186967" bIns="192024" numCol="1" spcCol="1270" anchor="ctr" anchorCtr="0">
          <a:noAutofit/>
        </a:bodyPr>
        <a:lstStyle/>
        <a:p>
          <a:pPr marL="0" lvl="0" indent="0" algn="ctr" defTabSz="1200150">
            <a:lnSpc>
              <a:spcPct val="90000"/>
            </a:lnSpc>
            <a:spcBef>
              <a:spcPct val="0"/>
            </a:spcBef>
            <a:spcAft>
              <a:spcPct val="35000"/>
            </a:spcAft>
            <a:buNone/>
          </a:pPr>
          <a:r>
            <a:rPr lang="en-US" sz="2700" kern="1200" dirty="0"/>
            <a:t>Continue</a:t>
          </a:r>
        </a:p>
      </dsp:txBody>
      <dsp:txXfrm>
        <a:off x="0" y="3569039"/>
        <a:ext cx="2628900" cy="780818"/>
      </dsp:txXfrm>
    </dsp:sp>
    <dsp:sp modelId="{C4B830C2-7309-4CC0-BE2B-7E3C77F22C31}">
      <dsp:nvSpPr>
        <dsp:cNvPr id="0" name=""/>
        <dsp:cNvSpPr/>
      </dsp:nvSpPr>
      <dsp:spPr>
        <a:xfrm>
          <a:off x="2628900" y="3569039"/>
          <a:ext cx="7886700" cy="780818"/>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59980" tIns="304800" rIns="159980" bIns="304800" numCol="1" spcCol="1270" anchor="ctr" anchorCtr="0">
          <a:noAutofit/>
        </a:bodyPr>
        <a:lstStyle/>
        <a:p>
          <a:pPr marL="0" lvl="0" indent="0" algn="l" defTabSz="1066800">
            <a:lnSpc>
              <a:spcPct val="90000"/>
            </a:lnSpc>
            <a:spcBef>
              <a:spcPct val="0"/>
            </a:spcBef>
            <a:spcAft>
              <a:spcPct val="35000"/>
            </a:spcAft>
            <a:buNone/>
          </a:pPr>
          <a:r>
            <a:rPr lang="en-US" sz="2400" kern="1200" dirty="0"/>
            <a:t>Continue with follow-ups of the health checks to monitor success and identify barriers</a:t>
          </a:r>
        </a:p>
      </dsp:txBody>
      <dsp:txXfrm>
        <a:off x="2628900" y="3569039"/>
        <a:ext cx="7886700" cy="780818"/>
      </dsp:txXfrm>
    </dsp:sp>
    <dsp:sp modelId="{ABB79773-66C9-4DDA-BFE8-1C2CAF6B1296}">
      <dsp:nvSpPr>
        <dsp:cNvPr id="0" name=""/>
        <dsp:cNvSpPr/>
      </dsp:nvSpPr>
      <dsp:spPr>
        <a:xfrm rot="10800000">
          <a:off x="0" y="2379853"/>
          <a:ext cx="2628900" cy="1200899"/>
        </a:xfrm>
        <a:prstGeom prst="upArrowCallout">
          <a:avLst>
            <a:gd name="adj1" fmla="val 5000"/>
            <a:gd name="adj2" fmla="val 10000"/>
            <a:gd name="adj3" fmla="val 15000"/>
            <a:gd name="adj4" fmla="val 64977"/>
          </a:avLst>
        </a:prstGeom>
        <a:gradFill rotWithShape="0">
          <a:gsLst>
            <a:gs pos="0">
              <a:schemeClr val="accent5">
                <a:hueOff val="-2451115"/>
                <a:satOff val="-3409"/>
                <a:lumOff val="-1307"/>
                <a:alphaOff val="0"/>
                <a:satMod val="103000"/>
                <a:lumMod val="102000"/>
                <a:tint val="94000"/>
              </a:schemeClr>
            </a:gs>
            <a:gs pos="50000">
              <a:schemeClr val="accent5">
                <a:hueOff val="-2451115"/>
                <a:satOff val="-3409"/>
                <a:lumOff val="-1307"/>
                <a:alphaOff val="0"/>
                <a:satMod val="110000"/>
                <a:lumMod val="100000"/>
                <a:shade val="100000"/>
              </a:schemeClr>
            </a:gs>
            <a:gs pos="100000">
              <a:schemeClr val="accent5">
                <a:hueOff val="-2451115"/>
                <a:satOff val="-3409"/>
                <a:lumOff val="-1307"/>
                <a:alphaOff val="0"/>
                <a:lumMod val="99000"/>
                <a:satMod val="120000"/>
                <a:shade val="78000"/>
              </a:schemeClr>
            </a:gs>
          </a:gsLst>
          <a:lin ang="5400000" scaled="0"/>
        </a:gradFill>
        <a:ln w="6350" cap="flat" cmpd="sng" algn="ctr">
          <a:solidFill>
            <a:schemeClr val="accent5">
              <a:hueOff val="-2451115"/>
              <a:satOff val="-3409"/>
              <a:lumOff val="-1307"/>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86967" tIns="192024" rIns="186967" bIns="192024" numCol="1" spcCol="1270" anchor="ctr" anchorCtr="0">
          <a:noAutofit/>
        </a:bodyPr>
        <a:lstStyle/>
        <a:p>
          <a:pPr marL="0" lvl="0" indent="0" algn="ctr" defTabSz="1200150">
            <a:lnSpc>
              <a:spcPct val="90000"/>
            </a:lnSpc>
            <a:spcBef>
              <a:spcPct val="0"/>
            </a:spcBef>
            <a:spcAft>
              <a:spcPct val="35000"/>
            </a:spcAft>
            <a:buNone/>
          </a:pPr>
          <a:r>
            <a:rPr lang="en-US" sz="2700" kern="1200" dirty="0"/>
            <a:t>Utilize</a:t>
          </a:r>
        </a:p>
      </dsp:txBody>
      <dsp:txXfrm rot="-10800000">
        <a:off x="0" y="2379853"/>
        <a:ext cx="2628900" cy="780584"/>
      </dsp:txXfrm>
    </dsp:sp>
    <dsp:sp modelId="{E8A6A6EA-B516-4C0C-A7AE-F0A15F06561C}">
      <dsp:nvSpPr>
        <dsp:cNvPr id="0" name=""/>
        <dsp:cNvSpPr/>
      </dsp:nvSpPr>
      <dsp:spPr>
        <a:xfrm>
          <a:off x="2628900" y="2379853"/>
          <a:ext cx="7886700" cy="780584"/>
        </a:xfrm>
        <a:prstGeom prst="rect">
          <a:avLst/>
        </a:prstGeom>
        <a:solidFill>
          <a:schemeClr val="accent5">
            <a:tint val="40000"/>
            <a:alpha val="90000"/>
            <a:hueOff val="-2463918"/>
            <a:satOff val="-4272"/>
            <a:lumOff val="-430"/>
            <a:alphaOff val="0"/>
          </a:schemeClr>
        </a:solidFill>
        <a:ln w="6350" cap="flat" cmpd="sng" algn="ctr">
          <a:solidFill>
            <a:schemeClr val="accent5">
              <a:tint val="40000"/>
              <a:alpha val="90000"/>
              <a:hueOff val="-2463918"/>
              <a:satOff val="-4272"/>
              <a:lumOff val="-43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59980" tIns="304800" rIns="159980" bIns="304800" numCol="1" spcCol="1270" anchor="ctr" anchorCtr="0">
          <a:noAutofit/>
        </a:bodyPr>
        <a:lstStyle/>
        <a:p>
          <a:pPr marL="0" lvl="0" indent="0" algn="l" defTabSz="1066800">
            <a:lnSpc>
              <a:spcPct val="90000"/>
            </a:lnSpc>
            <a:spcBef>
              <a:spcPct val="0"/>
            </a:spcBef>
            <a:spcAft>
              <a:spcPct val="35000"/>
            </a:spcAft>
            <a:buNone/>
          </a:pPr>
          <a:r>
            <a:rPr lang="en-US" sz="2400" kern="1200" dirty="0"/>
            <a:t>Utilize the services offered by lifestyle and behaviour modification professionals in a better capacity</a:t>
          </a:r>
        </a:p>
      </dsp:txBody>
      <dsp:txXfrm>
        <a:off x="2628900" y="2379853"/>
        <a:ext cx="7886700" cy="780584"/>
      </dsp:txXfrm>
    </dsp:sp>
    <dsp:sp modelId="{373E5B4B-E3E7-49D1-85BE-1BB4578FB072}">
      <dsp:nvSpPr>
        <dsp:cNvPr id="0" name=""/>
        <dsp:cNvSpPr/>
      </dsp:nvSpPr>
      <dsp:spPr>
        <a:xfrm rot="10800000">
          <a:off x="0" y="1190666"/>
          <a:ext cx="2628900" cy="1200899"/>
        </a:xfrm>
        <a:prstGeom prst="upArrowCallout">
          <a:avLst>
            <a:gd name="adj1" fmla="val 5000"/>
            <a:gd name="adj2" fmla="val 10000"/>
            <a:gd name="adj3" fmla="val 15000"/>
            <a:gd name="adj4" fmla="val 64977"/>
          </a:avLst>
        </a:prstGeom>
        <a:gradFill rotWithShape="0">
          <a:gsLst>
            <a:gs pos="0">
              <a:schemeClr val="accent5">
                <a:hueOff val="-4902230"/>
                <a:satOff val="-6819"/>
                <a:lumOff val="-2615"/>
                <a:alphaOff val="0"/>
                <a:satMod val="103000"/>
                <a:lumMod val="102000"/>
                <a:tint val="94000"/>
              </a:schemeClr>
            </a:gs>
            <a:gs pos="50000">
              <a:schemeClr val="accent5">
                <a:hueOff val="-4902230"/>
                <a:satOff val="-6819"/>
                <a:lumOff val="-2615"/>
                <a:alphaOff val="0"/>
                <a:satMod val="110000"/>
                <a:lumMod val="100000"/>
                <a:shade val="100000"/>
              </a:schemeClr>
            </a:gs>
            <a:gs pos="100000">
              <a:schemeClr val="accent5">
                <a:hueOff val="-4902230"/>
                <a:satOff val="-6819"/>
                <a:lumOff val="-2615"/>
                <a:alphaOff val="0"/>
                <a:lumMod val="99000"/>
                <a:satMod val="120000"/>
                <a:shade val="78000"/>
              </a:schemeClr>
            </a:gs>
          </a:gsLst>
          <a:lin ang="5400000" scaled="0"/>
        </a:gradFill>
        <a:ln w="6350" cap="flat" cmpd="sng" algn="ctr">
          <a:solidFill>
            <a:schemeClr val="accent5">
              <a:hueOff val="-4902230"/>
              <a:satOff val="-6819"/>
              <a:lumOff val="-2615"/>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86967" tIns="192024" rIns="186967" bIns="192024" numCol="1" spcCol="1270" anchor="ctr" anchorCtr="0">
          <a:noAutofit/>
        </a:bodyPr>
        <a:lstStyle/>
        <a:p>
          <a:pPr marL="0" lvl="0" indent="0" algn="ctr" defTabSz="1200150">
            <a:lnSpc>
              <a:spcPct val="90000"/>
            </a:lnSpc>
            <a:spcBef>
              <a:spcPct val="0"/>
            </a:spcBef>
            <a:spcAft>
              <a:spcPct val="35000"/>
            </a:spcAft>
            <a:buNone/>
          </a:pPr>
          <a:r>
            <a:rPr lang="en-US" sz="2700" kern="1200" dirty="0"/>
            <a:t>Improve</a:t>
          </a:r>
        </a:p>
      </dsp:txBody>
      <dsp:txXfrm rot="-10800000">
        <a:off x="0" y="1190666"/>
        <a:ext cx="2628900" cy="780584"/>
      </dsp:txXfrm>
    </dsp:sp>
    <dsp:sp modelId="{53E56A93-6221-472D-9F9F-1046CC7262AC}">
      <dsp:nvSpPr>
        <dsp:cNvPr id="0" name=""/>
        <dsp:cNvSpPr/>
      </dsp:nvSpPr>
      <dsp:spPr>
        <a:xfrm>
          <a:off x="2628900" y="1190666"/>
          <a:ext cx="7886700" cy="780584"/>
        </a:xfrm>
        <a:prstGeom prst="rect">
          <a:avLst/>
        </a:prstGeom>
        <a:solidFill>
          <a:schemeClr val="accent5">
            <a:tint val="40000"/>
            <a:alpha val="90000"/>
            <a:hueOff val="-4927836"/>
            <a:satOff val="-8544"/>
            <a:lumOff val="-859"/>
            <a:alphaOff val="0"/>
          </a:schemeClr>
        </a:solidFill>
        <a:ln w="6350" cap="flat" cmpd="sng" algn="ctr">
          <a:solidFill>
            <a:schemeClr val="accent5">
              <a:tint val="40000"/>
              <a:alpha val="90000"/>
              <a:hueOff val="-4927836"/>
              <a:satOff val="-8544"/>
              <a:lumOff val="-85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59980" tIns="304800" rIns="159980" bIns="304800" numCol="1" spcCol="1270" anchor="ctr" anchorCtr="0">
          <a:noAutofit/>
        </a:bodyPr>
        <a:lstStyle/>
        <a:p>
          <a:pPr marL="0" lvl="0" indent="0" algn="l" defTabSz="1066800">
            <a:lnSpc>
              <a:spcPct val="90000"/>
            </a:lnSpc>
            <a:spcBef>
              <a:spcPct val="0"/>
            </a:spcBef>
            <a:spcAft>
              <a:spcPct val="35000"/>
            </a:spcAft>
            <a:buNone/>
          </a:pPr>
          <a:r>
            <a:rPr lang="en-US" sz="2400" kern="1200" dirty="0"/>
            <a:t>Improve level of awareness of the health checks by advertising locally e.g., flyers through letterboxes, posters and adverts in local newspapers</a:t>
          </a:r>
        </a:p>
      </dsp:txBody>
      <dsp:txXfrm>
        <a:off x="2628900" y="1190666"/>
        <a:ext cx="7886700" cy="780584"/>
      </dsp:txXfrm>
    </dsp:sp>
    <dsp:sp modelId="{45A259DB-65EE-4B5C-968B-5669E16255A2}">
      <dsp:nvSpPr>
        <dsp:cNvPr id="0" name=""/>
        <dsp:cNvSpPr/>
      </dsp:nvSpPr>
      <dsp:spPr>
        <a:xfrm rot="10800000">
          <a:off x="0" y="1479"/>
          <a:ext cx="2628900" cy="1200899"/>
        </a:xfrm>
        <a:prstGeom prst="upArrowCallout">
          <a:avLst>
            <a:gd name="adj1" fmla="val 5000"/>
            <a:gd name="adj2" fmla="val 10000"/>
            <a:gd name="adj3" fmla="val 15000"/>
            <a:gd name="adj4" fmla="val 64977"/>
          </a:avLst>
        </a:prstGeom>
        <a:gradFill rotWithShape="0">
          <a:gsLst>
            <a:gs pos="0">
              <a:schemeClr val="accent5">
                <a:hueOff val="-7353344"/>
                <a:satOff val="-10228"/>
                <a:lumOff val="-3922"/>
                <a:alphaOff val="0"/>
                <a:satMod val="103000"/>
                <a:lumMod val="102000"/>
                <a:tint val="94000"/>
              </a:schemeClr>
            </a:gs>
            <a:gs pos="50000">
              <a:schemeClr val="accent5">
                <a:hueOff val="-7353344"/>
                <a:satOff val="-10228"/>
                <a:lumOff val="-3922"/>
                <a:alphaOff val="0"/>
                <a:satMod val="110000"/>
                <a:lumMod val="100000"/>
                <a:shade val="100000"/>
              </a:schemeClr>
            </a:gs>
            <a:gs pos="100000">
              <a:schemeClr val="accent5">
                <a:hueOff val="-7353344"/>
                <a:satOff val="-10228"/>
                <a:lumOff val="-3922"/>
                <a:alphaOff val="0"/>
                <a:lumMod val="99000"/>
                <a:satMod val="120000"/>
                <a:shade val="78000"/>
              </a:schemeClr>
            </a:gs>
          </a:gsLst>
          <a:lin ang="5400000" scaled="0"/>
        </a:gradFill>
        <a:ln w="6350" cap="flat" cmpd="sng" algn="ctr">
          <a:solidFill>
            <a:schemeClr val="accent5">
              <a:hueOff val="-7353344"/>
              <a:satOff val="-10228"/>
              <a:lumOff val="-3922"/>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86967" tIns="192024" rIns="186967" bIns="192024" numCol="1" spcCol="1270" anchor="ctr" anchorCtr="0">
          <a:noAutofit/>
        </a:bodyPr>
        <a:lstStyle/>
        <a:p>
          <a:pPr marL="0" lvl="0" indent="0" algn="ctr" defTabSz="1200150">
            <a:lnSpc>
              <a:spcPct val="90000"/>
            </a:lnSpc>
            <a:spcBef>
              <a:spcPct val="0"/>
            </a:spcBef>
            <a:spcAft>
              <a:spcPct val="35000"/>
            </a:spcAft>
            <a:buNone/>
          </a:pPr>
          <a:r>
            <a:rPr lang="en-US" sz="2700" kern="1200" dirty="0"/>
            <a:t>Widen</a:t>
          </a:r>
        </a:p>
      </dsp:txBody>
      <dsp:txXfrm rot="-10800000">
        <a:off x="0" y="1479"/>
        <a:ext cx="2628900" cy="780584"/>
      </dsp:txXfrm>
    </dsp:sp>
    <dsp:sp modelId="{456C1010-D89A-4609-8FA8-E1F801D3CFBC}">
      <dsp:nvSpPr>
        <dsp:cNvPr id="0" name=""/>
        <dsp:cNvSpPr/>
      </dsp:nvSpPr>
      <dsp:spPr>
        <a:xfrm>
          <a:off x="2628900" y="1479"/>
          <a:ext cx="7886700" cy="780584"/>
        </a:xfrm>
        <a:prstGeom prst="rect">
          <a:avLst/>
        </a:prstGeom>
        <a:solidFill>
          <a:schemeClr val="accent5">
            <a:tint val="40000"/>
            <a:alpha val="90000"/>
            <a:hueOff val="-7391754"/>
            <a:satOff val="-12816"/>
            <a:lumOff val="-1289"/>
            <a:alphaOff val="0"/>
          </a:schemeClr>
        </a:solidFill>
        <a:ln w="6350" cap="flat" cmpd="sng" algn="ctr">
          <a:solidFill>
            <a:schemeClr val="accent5">
              <a:tint val="40000"/>
              <a:alpha val="90000"/>
              <a:hueOff val="-7391754"/>
              <a:satOff val="-12816"/>
              <a:lumOff val="-128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59980" tIns="304800" rIns="159980" bIns="304800" numCol="1" spcCol="1270" anchor="ctr" anchorCtr="0">
          <a:noAutofit/>
        </a:bodyPr>
        <a:lstStyle/>
        <a:p>
          <a:pPr marL="0" lvl="0" indent="0" algn="l" defTabSz="1066800">
            <a:lnSpc>
              <a:spcPct val="90000"/>
            </a:lnSpc>
            <a:spcBef>
              <a:spcPct val="0"/>
            </a:spcBef>
            <a:spcAft>
              <a:spcPct val="35000"/>
            </a:spcAft>
            <a:buNone/>
          </a:pPr>
          <a:r>
            <a:rPr lang="en-US" sz="2400" kern="1200" dirty="0"/>
            <a:t>Widen the scope of locations of the opportunistic community health checks throughout the Islington borough</a:t>
          </a:r>
        </a:p>
      </dsp:txBody>
      <dsp:txXfrm>
        <a:off x="2628900" y="1479"/>
        <a:ext cx="7886700" cy="78058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2">
  <dgm:title val=""/>
  <dgm:desc val=""/>
  <dgm:catLst>
    <dgm:cat type="process" pri="24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dgm:varLst>
    <dgm:choose name="Name0">
      <dgm:if name="Name1" func="var" arg="dir" op="equ" val="norm">
        <dgm:alg type="snake">
          <dgm:param type="grDir" val="tL"/>
          <dgm:param type="flowDir" val="col"/>
          <dgm:param type="contDir" val="revDir"/>
        </dgm:alg>
      </dgm:if>
      <dgm:else name="Name2">
        <dgm:alg type="snake">
          <dgm:param type="grDir" val="tR"/>
          <dgm:param type="flowDir" val="col"/>
          <dgm:param type="contDir" val="revDir"/>
        </dgm:alg>
      </dgm:else>
    </dgm:choose>
    <dgm:shape xmlns:r="http://schemas.openxmlformats.org/officeDocument/2006/relationships" r:blip="">
      <dgm:adjLst/>
    </dgm:shape>
    <dgm:presOf/>
    <dgm:constrLst>
      <dgm:constr type="w" for="ch" forName="firstNode" refType="w"/>
      <dgm:constr type="w" for="ch" forName="lastNode" refType="w" refFor="ch" refForName="firstNode" op="equ"/>
      <dgm:constr type="w" for="ch" forName="middleNode" refType="w" refFor="ch" refForName="firstNode" op="equ"/>
      <dgm:constr type="h" for="ch" ptType="sibTrans" refType="w" refFor="ch" refForName="middleNode" op="equ" fact="0.35"/>
      <dgm:constr type="sp" refType="w" refFor="ch" refForName="middleNode" fact="0.5"/>
      <dgm:constr type="connDist" for="des" ptType="sibTrans" op="equ"/>
      <dgm:constr type="primFontSz" for="ch" forName="firstNode" val="65"/>
      <dgm:constr type="primFontSz" for="ch" forName="lastNode" refType="primFontSz" refFor="ch" refForName="firstNode" op="equ"/>
      <dgm:constr type="primFontSz" for="des" forName="shape" val="65"/>
      <dgm:constr type="primFontSz" for="des" forName="shape" refType="primFontSz" refFor="ch" refForName="firstNode" op="lte"/>
      <dgm:constr type="primFontSz" for="des" forName="shape" refType="primFontSz" refFor="ch" refForName="lastNode" op="lte"/>
    </dgm:constrLst>
    <dgm:ruleLst/>
    <dgm:forEach name="Name3" axis="ch" ptType="node">
      <dgm:choose name="Name4">
        <dgm:if name="Name5" axis="self" ptType="node" func="pos" op="equ" val="1">
          <dgm:layoutNode name="fir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if name="Name6" axis="self" ptType="node" func="revPos" op="equ" val="1">
          <dgm:layoutNode name="la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7">
          <dgm:layoutNode name="middleNode">
            <dgm:alg type="composite"/>
            <dgm:shape xmlns:r="http://schemas.openxmlformats.org/officeDocument/2006/relationships" r:blip="">
              <dgm:adjLst/>
            </dgm:shape>
            <dgm:presOf/>
            <dgm:constrLst>
              <dgm:constr type="h" refType="w"/>
              <dgm:constr type="w" for="ch" forName="padding" refType="w"/>
              <dgm:constr type="h" for="ch" forName="padding" refType="h"/>
              <dgm:constr type="w" for="ch" forName="shape" refType="w" fact="0.667"/>
              <dgm:constr type="h" for="ch" forName="shape" refType="h" fact="0.667"/>
              <dgm:constr type="ctrX" for="ch" forName="shape" refType="w" fact="0.5"/>
              <dgm:constr type="ctrY" for="ch" forName="shape" refType="h" fact="0.5"/>
            </dgm:constrLst>
            <dgm:ruleLst/>
            <dgm:layoutNode name="padding">
              <dgm:alg type="sp"/>
              <dgm:shape xmlns:r="http://schemas.openxmlformats.org/officeDocument/2006/relationships" type="ellipse" r:blip="" hideGeom="1">
                <dgm:adjLst/>
              </dgm:shape>
              <dgm:presOf/>
              <dgm:constrLst/>
              <dgm:ruleLst/>
            </dgm:layoutNode>
            <dgm:layoutNode name="shap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else>
      </dgm:choose>
      <dgm:forEach name="Name8" axis="followSib" ptType="sibTrans" cnt="1">
        <dgm:layoutNode name="sibTrans">
          <dgm:choose name="Name9">
            <dgm:if name="Name10" func="var" arg="dir" op="equ" val="norm">
              <dgm:choose name="Name11">
                <dgm:if name="Name12" axis="self" ptType="sibTrans" func="pos" op="equ" val="1">
                  <dgm:alg type="conn">
                    <dgm:param type="begPts" val="auto"/>
                    <dgm:param type="endPts" val="auto"/>
                    <dgm:param type="srcNode" val="firstNode"/>
                    <dgm:param type="dstNode" val="shape"/>
                  </dgm:alg>
                </dgm:if>
                <dgm:if name="Name13" axis="self" ptType="sibTrans" func="revPos" op="equ" val="1">
                  <dgm:alg type="conn">
                    <dgm:param type="begPts" val="auto"/>
                    <dgm:param type="endPts" val="auto"/>
                    <dgm:param type="srcNode" val="shape"/>
                    <dgm:param type="dstNode" val="lastNode"/>
                  </dgm:alg>
                </dgm:if>
                <dgm:else name="Name14">
                  <dgm:alg type="conn">
                    <dgm:param type="begPts" val="auto"/>
                    <dgm:param type="endPts" val="auto"/>
                    <dgm:param type="srcNode" val="shape"/>
                    <dgm:param type="dstNode" val="shape"/>
                  </dgm:alg>
                </dgm:else>
              </dgm:choose>
            </dgm:if>
            <dgm:else name="Name15">
              <dgm:choose name="Name16">
                <dgm:if name="Name17" axis="self" ptType="sibTrans" func="pos" op="equ" val="1">
                  <dgm:alg type="conn">
                    <dgm:param type="begPts" val="auto"/>
                    <dgm:param type="endPts" val="auto"/>
                    <dgm:param type="srcNode" val="firstNode"/>
                    <dgm:param type="dstNode" val="shape"/>
                  </dgm:alg>
                </dgm:if>
                <dgm:if name="Name18" axis="self" ptType="sibTrans" func="revPos" op="equ" val="1">
                  <dgm:alg type="conn">
                    <dgm:param type="begPts" val="auto"/>
                    <dgm:param type="endPts" val="auto"/>
                    <dgm:param type="srcNode" val="shape"/>
                    <dgm:param type="dstNode" val="lastNode"/>
                  </dgm:alg>
                </dgm:if>
                <dgm:else name="Name19">
                  <dgm:alg type="conn">
                    <dgm:param type="begPts" val="auto"/>
                    <dgm:param type="endPts" val="auto"/>
                    <dgm:param type="srcNode" val="shape"/>
                    <dgm:param type="dstNode" val="shape"/>
                  </dgm:alg>
                </dgm:else>
              </dgm:choose>
            </dgm:else>
          </dgm:choose>
          <dgm:shape xmlns:r="http://schemas.openxmlformats.org/officeDocument/2006/relationships" rot="90" type="triangle" r:blip="">
            <dgm:adjLst/>
          </dgm:shape>
          <dgm:presOf axis="self"/>
          <dgm:constrLst>
            <dgm:constr type="w" refType="h"/>
            <dgm:constr type="connDist"/>
            <dgm:constr type="begPad" refType="connDist" fact="0.25"/>
            <dgm:constr type="endPad" refType="connDist" fact="0.22"/>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4C95082A-2B4B-427B-9FE8-B3A7D4721AC5}" type="datetimeFigureOut">
              <a:rPr lang="en-GB" smtClean="0"/>
              <a:pPr/>
              <a:t>20/02/2026</a:t>
            </a:fld>
            <a:endParaRPr lang="en-GB" dirty="0"/>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379B25C6-8B0C-4E64-886A-27AED5B22127}" type="slidenum">
              <a:rPr lang="en-GB" smtClean="0"/>
              <a:pPr/>
              <a:t>‹#›</a:t>
            </a:fld>
            <a:endParaRPr lang="en-GB" dirty="0"/>
          </a:p>
        </p:txBody>
      </p:sp>
    </p:spTree>
    <p:extLst>
      <p:ext uri="{BB962C8B-B14F-4D97-AF65-F5344CB8AC3E}">
        <p14:creationId xmlns:p14="http://schemas.microsoft.com/office/powerpoint/2010/main" val="7980962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79B25C6-8B0C-4E64-886A-27AED5B22127}" type="slidenum">
              <a:rPr lang="en-GB" smtClean="0"/>
              <a:pPr/>
              <a:t>27</a:t>
            </a:fld>
            <a:endParaRPr lang="en-GB" dirty="0"/>
          </a:p>
        </p:txBody>
      </p:sp>
    </p:spTree>
    <p:extLst>
      <p:ext uri="{BB962C8B-B14F-4D97-AF65-F5344CB8AC3E}">
        <p14:creationId xmlns:p14="http://schemas.microsoft.com/office/powerpoint/2010/main" val="972154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79B25C6-8B0C-4E64-886A-27AED5B22127}" type="slidenum">
              <a:rPr lang="en-GB" smtClean="0"/>
              <a:pPr/>
              <a:t>32</a:t>
            </a:fld>
            <a:endParaRPr lang="en-GB" dirty="0"/>
          </a:p>
        </p:txBody>
      </p:sp>
    </p:spTree>
    <p:extLst>
      <p:ext uri="{BB962C8B-B14F-4D97-AF65-F5344CB8AC3E}">
        <p14:creationId xmlns:p14="http://schemas.microsoft.com/office/powerpoint/2010/main" val="23648382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79B25C6-8B0C-4E64-886A-27AED5B22127}" type="slidenum">
              <a:rPr lang="en-GB" smtClean="0"/>
              <a:pPr/>
              <a:t>37</a:t>
            </a:fld>
            <a:endParaRPr lang="en-GB" dirty="0"/>
          </a:p>
        </p:txBody>
      </p:sp>
    </p:spTree>
    <p:extLst>
      <p:ext uri="{BB962C8B-B14F-4D97-AF65-F5344CB8AC3E}">
        <p14:creationId xmlns:p14="http://schemas.microsoft.com/office/powerpoint/2010/main" val="24407170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79B25C6-8B0C-4E64-886A-27AED5B22127}" type="slidenum">
              <a:rPr lang="en-GB" smtClean="0"/>
              <a:pPr/>
              <a:t>40</a:t>
            </a:fld>
            <a:endParaRPr lang="en-GB" dirty="0"/>
          </a:p>
        </p:txBody>
      </p:sp>
    </p:spTree>
    <p:extLst>
      <p:ext uri="{BB962C8B-B14F-4D97-AF65-F5344CB8AC3E}">
        <p14:creationId xmlns:p14="http://schemas.microsoft.com/office/powerpoint/2010/main" val="42825121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3BE44B2A-F400-43F5-A91C-B394FCF2AD35}" type="datetimeFigureOut">
              <a:rPr lang="en-GB" smtClean="0"/>
              <a:pPr/>
              <a:t>20/02/2026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89173AE-7DB6-4BAF-B41F-8027B497C775}" type="slidenum">
              <a:rPr lang="en-GB" smtClean="0"/>
              <a:pPr/>
              <a:t>‹#›</a:t>
            </a:fld>
            <a:endParaRPr lang="en-GB" dirty="0"/>
          </a:p>
        </p:txBody>
      </p:sp>
      <p:pic>
        <p:nvPicPr>
          <p:cNvPr id="7" name="Picture 6" descr="http://www.londonmet.ac.uk/media/london-metropolitan-university/style-assets/2015-branding/london-met-230x105.png"/>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9658350" y="230188"/>
            <a:ext cx="2019300" cy="685800"/>
          </a:xfrm>
          <a:prstGeom prst="rect">
            <a:avLst/>
          </a:prstGeom>
          <a:noFill/>
        </p:spPr>
      </p:pic>
    </p:spTree>
    <p:extLst>
      <p:ext uri="{BB962C8B-B14F-4D97-AF65-F5344CB8AC3E}">
        <p14:creationId xmlns:p14="http://schemas.microsoft.com/office/powerpoint/2010/main" val="16018917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3BE44B2A-F400-43F5-A91C-B394FCF2AD35}" type="datetimeFigureOut">
              <a:rPr lang="en-GB" smtClean="0"/>
              <a:pPr/>
              <a:t>20/02/2026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89173AE-7DB6-4BAF-B41F-8027B497C775}" type="slidenum">
              <a:rPr lang="en-GB" smtClean="0"/>
              <a:pPr/>
              <a:t>‹#›</a:t>
            </a:fld>
            <a:endParaRPr lang="en-GB" dirty="0"/>
          </a:p>
        </p:txBody>
      </p:sp>
      <p:pic>
        <p:nvPicPr>
          <p:cNvPr id="7" name="Picture 6" descr="http://www.londonmet.ac.uk/media/london-metropolitan-university/style-assets/2015-branding/london-met-230x105.png"/>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9119508" y="365125"/>
            <a:ext cx="2019300" cy="685800"/>
          </a:xfrm>
          <a:prstGeom prst="rect">
            <a:avLst/>
          </a:prstGeom>
          <a:noFill/>
        </p:spPr>
      </p:pic>
    </p:spTree>
    <p:extLst>
      <p:ext uri="{BB962C8B-B14F-4D97-AF65-F5344CB8AC3E}">
        <p14:creationId xmlns:p14="http://schemas.microsoft.com/office/powerpoint/2010/main" val="1709507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E44B2A-F400-43F5-A91C-B394FCF2AD35}" type="datetimeFigureOut">
              <a:rPr lang="en-GB" smtClean="0"/>
              <a:pPr/>
              <a:t>20/02/2026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89173AE-7DB6-4BAF-B41F-8027B497C775}" type="slidenum">
              <a:rPr lang="en-GB" smtClean="0"/>
              <a:pPr/>
              <a:t>‹#›</a:t>
            </a:fld>
            <a:endParaRPr lang="en-GB" dirty="0"/>
          </a:p>
        </p:txBody>
      </p:sp>
    </p:spTree>
    <p:extLst>
      <p:ext uri="{BB962C8B-B14F-4D97-AF65-F5344CB8AC3E}">
        <p14:creationId xmlns:p14="http://schemas.microsoft.com/office/powerpoint/2010/main" val="3147295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3BE44B2A-F400-43F5-A91C-B394FCF2AD35}" type="datetimeFigureOut">
              <a:rPr lang="en-GB" smtClean="0"/>
              <a:pPr/>
              <a:t>20/02/2026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89173AE-7DB6-4BAF-B41F-8027B497C775}" type="slidenum">
              <a:rPr lang="en-GB" smtClean="0"/>
              <a:pPr/>
              <a:t>‹#›</a:t>
            </a:fld>
            <a:endParaRPr lang="en-GB" dirty="0"/>
          </a:p>
        </p:txBody>
      </p:sp>
      <p:pic>
        <p:nvPicPr>
          <p:cNvPr id="8" name="Picture 7" descr="http://www.londonmet.ac.uk/media/london-metropolitan-university/style-assets/2015-branding/london-met-230x105.png"/>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9201150" y="365125"/>
            <a:ext cx="2019300" cy="685800"/>
          </a:xfrm>
          <a:prstGeom prst="rect">
            <a:avLst/>
          </a:prstGeom>
          <a:noFill/>
        </p:spPr>
      </p:pic>
    </p:spTree>
    <p:extLst>
      <p:ext uri="{BB962C8B-B14F-4D97-AF65-F5344CB8AC3E}">
        <p14:creationId xmlns:p14="http://schemas.microsoft.com/office/powerpoint/2010/main" val="25500361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3BE44B2A-F400-43F5-A91C-B394FCF2AD35}" type="datetimeFigureOut">
              <a:rPr lang="en-GB" smtClean="0"/>
              <a:pPr/>
              <a:t>20/02/2026</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389173AE-7DB6-4BAF-B41F-8027B497C775}" type="slidenum">
              <a:rPr lang="en-GB" smtClean="0"/>
              <a:pPr/>
              <a:t>‹#›</a:t>
            </a:fld>
            <a:endParaRPr lang="en-GB" dirty="0"/>
          </a:p>
        </p:txBody>
      </p:sp>
    </p:spTree>
    <p:extLst>
      <p:ext uri="{BB962C8B-B14F-4D97-AF65-F5344CB8AC3E}">
        <p14:creationId xmlns:p14="http://schemas.microsoft.com/office/powerpoint/2010/main" val="2427847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3BE44B2A-F400-43F5-A91C-B394FCF2AD35}" type="datetimeFigureOut">
              <a:rPr lang="en-GB" smtClean="0"/>
              <a:pPr/>
              <a:t>20/02/2026</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389173AE-7DB6-4BAF-B41F-8027B497C775}" type="slidenum">
              <a:rPr lang="en-GB" smtClean="0"/>
              <a:pPr/>
              <a:t>‹#›</a:t>
            </a:fld>
            <a:endParaRPr lang="en-GB" dirty="0"/>
          </a:p>
        </p:txBody>
      </p:sp>
    </p:spTree>
    <p:extLst>
      <p:ext uri="{BB962C8B-B14F-4D97-AF65-F5344CB8AC3E}">
        <p14:creationId xmlns:p14="http://schemas.microsoft.com/office/powerpoint/2010/main" val="1932600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E44B2A-F400-43F5-A91C-B394FCF2AD35}" type="datetimeFigureOut">
              <a:rPr lang="en-GB" smtClean="0"/>
              <a:pPr/>
              <a:t>20/02/2026</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389173AE-7DB6-4BAF-B41F-8027B497C775}" type="slidenum">
              <a:rPr lang="en-GB" smtClean="0"/>
              <a:pPr/>
              <a:t>‹#›</a:t>
            </a:fld>
            <a:endParaRPr lang="en-GB" dirty="0"/>
          </a:p>
        </p:txBody>
      </p:sp>
    </p:spTree>
    <p:extLst>
      <p:ext uri="{BB962C8B-B14F-4D97-AF65-F5344CB8AC3E}">
        <p14:creationId xmlns:p14="http://schemas.microsoft.com/office/powerpoint/2010/main" val="1932282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E44B2A-F400-43F5-A91C-B394FCF2AD35}" type="datetimeFigureOut">
              <a:rPr lang="en-GB" smtClean="0"/>
              <a:pPr/>
              <a:t>20/02/2026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89173AE-7DB6-4BAF-B41F-8027B497C775}" type="slidenum">
              <a:rPr lang="en-GB" smtClean="0"/>
              <a:pPr/>
              <a:t>‹#›</a:t>
            </a:fld>
            <a:endParaRPr lang="en-GB" dirty="0"/>
          </a:p>
        </p:txBody>
      </p:sp>
    </p:spTree>
    <p:extLst>
      <p:ext uri="{BB962C8B-B14F-4D97-AF65-F5344CB8AC3E}">
        <p14:creationId xmlns:p14="http://schemas.microsoft.com/office/powerpoint/2010/main" val="2926896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E44B2A-F400-43F5-A91C-B394FCF2AD35}" type="datetimeFigureOut">
              <a:rPr lang="en-GB" smtClean="0"/>
              <a:pPr/>
              <a:t>20/02/2026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89173AE-7DB6-4BAF-B41F-8027B497C775}" type="slidenum">
              <a:rPr lang="en-GB" smtClean="0"/>
              <a:pPr/>
              <a:t>‹#›</a:t>
            </a:fld>
            <a:endParaRPr lang="en-GB" dirty="0"/>
          </a:p>
        </p:txBody>
      </p:sp>
    </p:spTree>
    <p:extLst>
      <p:ext uri="{BB962C8B-B14F-4D97-AF65-F5344CB8AC3E}">
        <p14:creationId xmlns:p14="http://schemas.microsoft.com/office/powerpoint/2010/main" val="2544432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3BE44B2A-F400-43F5-A91C-B394FCF2AD35}" type="datetimeFigureOut">
              <a:rPr lang="en-GB" smtClean="0"/>
              <a:pPr/>
              <a:t>20/02/2026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89173AE-7DB6-4BAF-B41F-8027B497C775}" type="slidenum">
              <a:rPr lang="en-GB" smtClean="0"/>
              <a:pPr/>
              <a:t>‹#›</a:t>
            </a:fld>
            <a:endParaRPr lang="en-GB" dirty="0"/>
          </a:p>
        </p:txBody>
      </p:sp>
    </p:spTree>
    <p:extLst>
      <p:ext uri="{BB962C8B-B14F-4D97-AF65-F5344CB8AC3E}">
        <p14:creationId xmlns:p14="http://schemas.microsoft.com/office/powerpoint/2010/main" val="674936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3BE44B2A-F400-43F5-A91C-B394FCF2AD35}" type="datetimeFigureOut">
              <a:rPr lang="en-GB" smtClean="0"/>
              <a:pPr/>
              <a:t>20/02/2026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89173AE-7DB6-4BAF-B41F-8027B497C775}" type="slidenum">
              <a:rPr lang="en-GB" smtClean="0"/>
              <a:pPr/>
              <a:t>‹#›</a:t>
            </a:fld>
            <a:endParaRPr lang="en-GB" dirty="0"/>
          </a:p>
        </p:txBody>
      </p:sp>
    </p:spTree>
    <p:extLst>
      <p:ext uri="{BB962C8B-B14F-4D97-AF65-F5344CB8AC3E}">
        <p14:creationId xmlns:p14="http://schemas.microsoft.com/office/powerpoint/2010/main" val="681852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E44B2A-F400-43F5-A91C-B394FCF2AD35}" type="datetimeFigureOut">
              <a:rPr lang="en-GB" smtClean="0"/>
              <a:pPr/>
              <a:t>20/02/2026</a:t>
            </a:fld>
            <a:endParaRPr lang="en-GB"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9173AE-7DB6-4BAF-B41F-8027B497C775}" type="slidenum">
              <a:rPr lang="en-GB" smtClean="0"/>
              <a:pPr/>
              <a:t>‹#›</a:t>
            </a:fld>
            <a:endParaRPr lang="en-GB" dirty="0"/>
          </a:p>
        </p:txBody>
      </p:sp>
    </p:spTree>
    <p:extLst>
      <p:ext uri="{BB962C8B-B14F-4D97-AF65-F5344CB8AC3E}">
        <p14:creationId xmlns:p14="http://schemas.microsoft.com/office/powerpoint/2010/main" val="172118038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7.sv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9.svg"/></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0.svg"/></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xml"/><Relationship Id="rId5" Type="http://schemas.openxmlformats.org/officeDocument/2006/relationships/image" Target="../media/image44.png"/><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8.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8.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8.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5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3.svg"/></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F7B9026-36AD-42E4-B172-8D68F3A33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Content Placeholder 3" descr="http://www.easyhealth.org.uk/sites/default/files/Free%20NHS%20Health%20Check.png">
            <a:extLst>
              <a:ext uri="{FF2B5EF4-FFF2-40B4-BE49-F238E27FC236}">
                <a16:creationId xmlns:a16="http://schemas.microsoft.com/office/drawing/2014/main" id="{EC2E08B2-A085-3CCB-95B4-43CF45688C60}"/>
              </a:ext>
            </a:extLst>
          </p:cNvPr>
          <p:cNvPicPr>
            <a:picLocks/>
          </p:cNvPicPr>
          <p:nvPr/>
        </p:nvPicPr>
        <p:blipFill>
          <a:blip r:embed="rId2" cstate="print"/>
          <a:srcRect l="11609" r="10493" b="-3"/>
          <a:stretch>
            <a:fillRect/>
          </a:stretch>
        </p:blipFill>
        <p:spPr bwMode="auto">
          <a:xfrm>
            <a:off x="192528" y="171717"/>
            <a:ext cx="3793268" cy="5609065"/>
          </a:xfrm>
          <a:prstGeom prst="rect">
            <a:avLst/>
          </a:prstGeom>
          <a:noFill/>
        </p:spPr>
      </p:pic>
      <p:pic>
        <p:nvPicPr>
          <p:cNvPr id="3" name="Content Placeholder 4" descr="http://www.refreshbwd.com/wp-content/uploads/2014/07/health-check1.jpg">
            <a:extLst>
              <a:ext uri="{FF2B5EF4-FFF2-40B4-BE49-F238E27FC236}">
                <a16:creationId xmlns:a16="http://schemas.microsoft.com/office/drawing/2014/main" id="{C08ED543-30C8-C3D3-EDDA-750D69DE44A8}"/>
              </a:ext>
            </a:extLst>
          </p:cNvPr>
          <p:cNvPicPr>
            <a:picLocks noChangeAspect="1" noChangeArrowheads="1"/>
          </p:cNvPicPr>
          <p:nvPr/>
        </p:nvPicPr>
        <p:blipFill>
          <a:blip r:embed="rId3" cstate="print"/>
          <a:srcRect l="36179" r="27178" b="2"/>
          <a:stretch>
            <a:fillRect/>
          </a:stretch>
        </p:blipFill>
        <p:spPr bwMode="auto">
          <a:xfrm>
            <a:off x="4184538" y="171717"/>
            <a:ext cx="3822924" cy="5532547"/>
          </a:xfrm>
          <a:prstGeom prst="rect">
            <a:avLst/>
          </a:prstGeom>
          <a:noFill/>
        </p:spPr>
      </p:pic>
      <p:pic>
        <p:nvPicPr>
          <p:cNvPr id="4" name="Picture 6" descr="http://static1.squarespace.com/static/5481bce0e4b030e4805bb18f/t/566ad9991c121069b54c3626/1446739558030/">
            <a:extLst>
              <a:ext uri="{FF2B5EF4-FFF2-40B4-BE49-F238E27FC236}">
                <a16:creationId xmlns:a16="http://schemas.microsoft.com/office/drawing/2014/main" id="{CCF31B76-9793-A870-D4DC-96A556BDA91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r="6114" b="2"/>
          <a:stretch>
            <a:fillRect/>
          </a:stretch>
        </p:blipFill>
        <p:spPr bwMode="auto">
          <a:xfrm>
            <a:off x="8188032" y="171717"/>
            <a:ext cx="3799007" cy="560906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81D11CD-096B-D4E8-F7C1-6D1480ABBBF3}"/>
              </a:ext>
            </a:extLst>
          </p:cNvPr>
          <p:cNvSpPr txBox="1"/>
          <p:nvPr/>
        </p:nvSpPr>
        <p:spPr>
          <a:xfrm>
            <a:off x="3094892" y="5742523"/>
            <a:ext cx="6189785" cy="1077218"/>
          </a:xfrm>
          <a:prstGeom prst="rect">
            <a:avLst/>
          </a:prstGeom>
          <a:noFill/>
        </p:spPr>
        <p:txBody>
          <a:bodyPr wrap="square" rtlCol="0">
            <a:spAutoFit/>
          </a:bodyPr>
          <a:lstStyle/>
          <a:p>
            <a:pPr algn="ctr"/>
            <a:r>
              <a:rPr lang="en-001" sz="3600" dirty="0"/>
              <a:t>NHS Health Checks</a:t>
            </a:r>
          </a:p>
          <a:p>
            <a:pPr algn="ctr"/>
            <a:r>
              <a:rPr lang="en-001" sz="2800" dirty="0"/>
              <a:t>Afshan Aghlili</a:t>
            </a:r>
          </a:p>
        </p:txBody>
      </p:sp>
    </p:spTree>
    <p:extLst>
      <p:ext uri="{BB962C8B-B14F-4D97-AF65-F5344CB8AC3E}">
        <p14:creationId xmlns:p14="http://schemas.microsoft.com/office/powerpoint/2010/main" val="3825384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23980">
              <a:srgbClr val="E1EDF8"/>
            </a:gs>
            <a:gs pos="40034">
              <a:srgbClr val="D3E4F4"/>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FA67CD3-AB4E-4A7A-BEB8-53C445D8C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26"/>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07CF545F-9C2E-4446-97CD-AD92990C2B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094105" y="802955"/>
            <a:ext cx="4977976" cy="884529"/>
          </a:xfrm>
        </p:spPr>
        <p:txBody>
          <a:bodyPr>
            <a:normAutofit/>
          </a:bodyPr>
          <a:lstStyle/>
          <a:p>
            <a:r>
              <a:rPr lang="en-GB" dirty="0">
                <a:solidFill>
                  <a:srgbClr val="000000"/>
                </a:solidFill>
              </a:rPr>
              <a:t>Aims of Session</a:t>
            </a:r>
          </a:p>
        </p:txBody>
      </p:sp>
      <p:sp>
        <p:nvSpPr>
          <p:cNvPr id="14" name="Freeform 62">
            <a:extLst>
              <a:ext uri="{FF2B5EF4-FFF2-40B4-BE49-F238E27FC236}">
                <a16:creationId xmlns:a16="http://schemas.microsoft.com/office/drawing/2014/main" id="{339C8D78-A644-462F-B674-F440635E5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85000"/>
                  </a:schemeClr>
                </a:gs>
                <a:gs pos="100000">
                  <a:schemeClr val="bg2">
                    <a:lumMod val="8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7" name="Graphic 6" descr="Checklist">
            <a:extLst>
              <a:ext uri="{FF2B5EF4-FFF2-40B4-BE49-F238E27FC236}">
                <a16:creationId xmlns:a16="http://schemas.microsoft.com/office/drawing/2014/main" id="{E0CB14DF-8B17-445A-B2C7-BDC54A04C0A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0254" y="1629089"/>
            <a:ext cx="3620021" cy="3620021"/>
          </a:xfrm>
          <a:prstGeom prst="rect">
            <a:avLst/>
          </a:prstGeom>
        </p:spPr>
      </p:pic>
      <p:sp>
        <p:nvSpPr>
          <p:cNvPr id="3" name="Content Placeholder 2"/>
          <p:cNvSpPr>
            <a:spLocks noGrp="1"/>
          </p:cNvSpPr>
          <p:nvPr>
            <p:ph idx="1"/>
          </p:nvPr>
        </p:nvSpPr>
        <p:spPr>
          <a:xfrm>
            <a:off x="6090574" y="1778924"/>
            <a:ext cx="4977578" cy="4282047"/>
          </a:xfrm>
        </p:spPr>
        <p:txBody>
          <a:bodyPr anchor="ctr">
            <a:normAutofit fontScale="85000" lnSpcReduction="20000"/>
          </a:bodyPr>
          <a:lstStyle/>
          <a:p>
            <a:pPr lvl="0"/>
            <a:endParaRPr lang="en-GB" sz="2000" dirty="0">
              <a:solidFill>
                <a:srgbClr val="000000"/>
              </a:solidFill>
            </a:endParaRPr>
          </a:p>
          <a:p>
            <a:pPr lvl="0"/>
            <a:r>
              <a:rPr lang="en-GB" altLang="en-US" dirty="0"/>
              <a:t>To review the evidence base underpinning the NHS Health Check Program </a:t>
            </a:r>
          </a:p>
          <a:p>
            <a:pPr lvl="0"/>
            <a:endParaRPr lang="en-GB" altLang="en-US" dirty="0"/>
          </a:p>
          <a:p>
            <a:pPr lvl="0"/>
            <a:r>
              <a:rPr lang="en-GB" dirty="0">
                <a:solidFill>
                  <a:srgbClr val="000000"/>
                </a:solidFill>
              </a:rPr>
              <a:t>Develop your understanding of a national public health campaign</a:t>
            </a:r>
          </a:p>
          <a:p>
            <a:pPr lvl="0"/>
            <a:endParaRPr lang="en-GB" dirty="0">
              <a:solidFill>
                <a:srgbClr val="000000"/>
              </a:solidFill>
            </a:endParaRPr>
          </a:p>
          <a:p>
            <a:pPr lvl="0"/>
            <a:r>
              <a:rPr lang="en-GB" dirty="0">
                <a:solidFill>
                  <a:srgbClr val="000000"/>
                </a:solidFill>
              </a:rPr>
              <a:t>Understand the design and execution of the NHS health checks (Islington Model) </a:t>
            </a:r>
          </a:p>
          <a:p>
            <a:pPr lvl="0"/>
            <a:endParaRPr lang="en-GB" dirty="0">
              <a:solidFill>
                <a:srgbClr val="000000"/>
              </a:solidFill>
            </a:endParaRPr>
          </a:p>
          <a:p>
            <a:pPr marL="0" indent="0">
              <a:buNone/>
            </a:pPr>
            <a:r>
              <a:rPr lang="en-GB" sz="2000" dirty="0">
                <a:solidFill>
                  <a:srgbClr val="000000"/>
                </a:solidFill>
              </a:rPr>
              <a:t>  </a:t>
            </a:r>
          </a:p>
          <a:p>
            <a:endParaRPr lang="en-GB" sz="2000" dirty="0">
              <a:solidFill>
                <a:srgbClr val="000000"/>
              </a:solidFill>
            </a:endParaRPr>
          </a:p>
        </p:txBody>
      </p:sp>
    </p:spTree>
    <p:extLst>
      <p:ext uri="{BB962C8B-B14F-4D97-AF65-F5344CB8AC3E}">
        <p14:creationId xmlns:p14="http://schemas.microsoft.com/office/powerpoint/2010/main" val="1134054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86765-71CF-4943-9CF5-63CB64BE6ADD}"/>
              </a:ext>
            </a:extLst>
          </p:cNvPr>
          <p:cNvSpPr>
            <a:spLocks noGrp="1"/>
          </p:cNvSpPr>
          <p:nvPr>
            <p:ph type="title"/>
          </p:nvPr>
        </p:nvSpPr>
        <p:spPr/>
        <p:txBody>
          <a:bodyPr/>
          <a:lstStyle/>
          <a:p>
            <a:r>
              <a:rPr lang="en-GB" dirty="0"/>
              <a:t>Leaning Outcomes</a:t>
            </a:r>
          </a:p>
        </p:txBody>
      </p:sp>
      <p:sp>
        <p:nvSpPr>
          <p:cNvPr id="3" name="Content Placeholder 2">
            <a:extLst>
              <a:ext uri="{FF2B5EF4-FFF2-40B4-BE49-F238E27FC236}">
                <a16:creationId xmlns:a16="http://schemas.microsoft.com/office/drawing/2014/main" id="{40DF41ED-3619-4824-9A7F-4148D07F4C2C}"/>
              </a:ext>
            </a:extLst>
          </p:cNvPr>
          <p:cNvSpPr>
            <a:spLocks noGrp="1"/>
          </p:cNvSpPr>
          <p:nvPr>
            <p:ph sz="half" idx="1"/>
          </p:nvPr>
        </p:nvSpPr>
        <p:spPr/>
        <p:txBody>
          <a:bodyPr>
            <a:normAutofit fontScale="77500" lnSpcReduction="20000"/>
          </a:bodyPr>
          <a:lstStyle/>
          <a:p>
            <a:pPr marL="0" indent="0">
              <a:buNone/>
            </a:pPr>
            <a:r>
              <a:rPr lang="en-GB" altLang="en-US" sz="3300" dirty="0"/>
              <a:t>By the end of this session, students should be able to:</a:t>
            </a:r>
          </a:p>
          <a:p>
            <a:pPr marL="0" indent="0">
              <a:buNone/>
            </a:pPr>
            <a:endParaRPr lang="en-GB" altLang="en-US" sz="3300" dirty="0"/>
          </a:p>
          <a:p>
            <a:pPr>
              <a:buFontTx/>
              <a:buChar char="-"/>
            </a:pPr>
            <a:r>
              <a:rPr lang="en-GB" altLang="en-US" sz="3300" dirty="0">
                <a:latin typeface="Calibri" panose="020F0502020204030204" pitchFamily="34" charset="0"/>
                <a:cs typeface="Calibri" panose="020F0502020204030204" pitchFamily="34" charset="0"/>
              </a:rPr>
              <a:t>associate the epidemiology of risk factors with CVD</a:t>
            </a:r>
          </a:p>
          <a:p>
            <a:pPr marL="0" indent="0">
              <a:buNone/>
            </a:pPr>
            <a:r>
              <a:rPr lang="en-GB" altLang="en-US" sz="3300" dirty="0">
                <a:latin typeface="Calibri" panose="020F0502020204030204" pitchFamily="34" charset="0"/>
                <a:cs typeface="Calibri" panose="020F0502020204030204" pitchFamily="34" charset="0"/>
              </a:rPr>
              <a:t>     </a:t>
            </a:r>
          </a:p>
          <a:p>
            <a:pPr marL="0" indent="0">
              <a:buNone/>
            </a:pPr>
            <a:r>
              <a:rPr lang="en-GB" altLang="en-US" sz="3300" dirty="0">
                <a:latin typeface="Calibri" panose="020F0502020204030204" pitchFamily="34" charset="0"/>
                <a:cs typeface="Calibri" panose="020F0502020204030204" pitchFamily="34" charset="0"/>
              </a:rPr>
              <a:t> - understand the basis of and need for a  public health intervention</a:t>
            </a:r>
          </a:p>
          <a:p>
            <a:pPr lvl="0"/>
            <a:endParaRPr lang="en-GB" sz="3300" dirty="0">
              <a:solidFill>
                <a:srgbClr val="000000"/>
              </a:solidFill>
              <a:latin typeface="Calibri" panose="020F0502020204030204" pitchFamily="34" charset="0"/>
              <a:cs typeface="Calibri" panose="020F0502020204030204" pitchFamily="34" charset="0"/>
            </a:endParaRPr>
          </a:p>
          <a:p>
            <a:pPr marL="0" lvl="0" indent="0">
              <a:buNone/>
            </a:pPr>
            <a:r>
              <a:rPr lang="en-GB" sz="3300" dirty="0">
                <a:solidFill>
                  <a:srgbClr val="000000"/>
                </a:solidFill>
                <a:latin typeface="Calibri" panose="020F0502020204030204" pitchFamily="34" charset="0"/>
                <a:cs typeface="Calibri" panose="020F0502020204030204" pitchFamily="34" charset="0"/>
              </a:rPr>
              <a:t> - appreciate the value of critically evaluating the usefulness of public health programs</a:t>
            </a:r>
            <a:endParaRPr lang="en-GB" sz="3300" dirty="0">
              <a:solidFill>
                <a:srgbClr val="000000"/>
              </a:solidFill>
            </a:endParaRPr>
          </a:p>
          <a:p>
            <a:endParaRPr lang="en-GB" dirty="0"/>
          </a:p>
        </p:txBody>
      </p:sp>
      <p:pic>
        <p:nvPicPr>
          <p:cNvPr id="7" name="Content Placeholder 6">
            <a:extLst>
              <a:ext uri="{FF2B5EF4-FFF2-40B4-BE49-F238E27FC236}">
                <a16:creationId xmlns:a16="http://schemas.microsoft.com/office/drawing/2014/main" id="{ACD6DFEF-AD55-CD11-A748-16D2B1DCBBD4}"/>
              </a:ext>
            </a:extLst>
          </p:cNvPr>
          <p:cNvPicPr>
            <a:picLocks noGrp="1" noChangeAspect="1"/>
          </p:cNvPicPr>
          <p:nvPr>
            <p:ph sz="half" idx="2"/>
          </p:nvPr>
        </p:nvPicPr>
        <p:blipFill>
          <a:blip r:embed="rId2"/>
          <a:stretch>
            <a:fillRect/>
          </a:stretch>
        </p:blipFill>
        <p:spPr>
          <a:xfrm>
            <a:off x="6172200" y="2274094"/>
            <a:ext cx="5181600" cy="3454400"/>
          </a:xfrm>
          <a:prstGeom prst="rect">
            <a:avLst/>
          </a:prstGeom>
        </p:spPr>
      </p:pic>
    </p:spTree>
    <p:extLst>
      <p:ext uri="{BB962C8B-B14F-4D97-AF65-F5344CB8AC3E}">
        <p14:creationId xmlns:p14="http://schemas.microsoft.com/office/powerpoint/2010/main" val="1929784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3D897E-F3D3-4C17-949D-55499DB8E9EB}"/>
              </a:ext>
            </a:extLst>
          </p:cNvPr>
          <p:cNvPicPr>
            <a:picLocks noChangeAspect="1"/>
          </p:cNvPicPr>
          <p:nvPr/>
        </p:nvPicPr>
        <p:blipFill>
          <a:blip r:embed="rId2"/>
          <a:stretch>
            <a:fillRect/>
          </a:stretch>
        </p:blipFill>
        <p:spPr>
          <a:xfrm>
            <a:off x="382446" y="576464"/>
            <a:ext cx="7389954" cy="5392074"/>
          </a:xfrm>
          <a:prstGeom prst="rect">
            <a:avLst/>
          </a:prstGeom>
        </p:spPr>
      </p:pic>
      <p:pic>
        <p:nvPicPr>
          <p:cNvPr id="3" name="Picture 2">
            <a:extLst>
              <a:ext uri="{FF2B5EF4-FFF2-40B4-BE49-F238E27FC236}">
                <a16:creationId xmlns:a16="http://schemas.microsoft.com/office/drawing/2014/main" id="{0E2FADF1-8C20-4F13-AA07-A46D824CA305}"/>
              </a:ext>
            </a:extLst>
          </p:cNvPr>
          <p:cNvPicPr>
            <a:picLocks noChangeAspect="1"/>
          </p:cNvPicPr>
          <p:nvPr/>
        </p:nvPicPr>
        <p:blipFill>
          <a:blip r:embed="rId3"/>
          <a:stretch>
            <a:fillRect/>
          </a:stretch>
        </p:blipFill>
        <p:spPr>
          <a:xfrm>
            <a:off x="8480322" y="889463"/>
            <a:ext cx="3208653" cy="2782885"/>
          </a:xfrm>
          <a:prstGeom prst="rect">
            <a:avLst/>
          </a:prstGeom>
        </p:spPr>
      </p:pic>
      <p:pic>
        <p:nvPicPr>
          <p:cNvPr id="4" name="Picture 3">
            <a:extLst>
              <a:ext uri="{FF2B5EF4-FFF2-40B4-BE49-F238E27FC236}">
                <a16:creationId xmlns:a16="http://schemas.microsoft.com/office/drawing/2014/main" id="{63F39BCF-6978-B8AA-FC5F-1B95C31B8461}"/>
              </a:ext>
            </a:extLst>
          </p:cNvPr>
          <p:cNvPicPr>
            <a:picLocks noChangeAspect="1"/>
          </p:cNvPicPr>
          <p:nvPr/>
        </p:nvPicPr>
        <p:blipFill>
          <a:blip r:embed="rId4"/>
          <a:stretch>
            <a:fillRect/>
          </a:stretch>
        </p:blipFill>
        <p:spPr>
          <a:xfrm>
            <a:off x="8482004" y="3840302"/>
            <a:ext cx="2918729" cy="2782886"/>
          </a:xfrm>
          <a:prstGeom prst="rect">
            <a:avLst/>
          </a:prstGeom>
        </p:spPr>
      </p:pic>
    </p:spTree>
    <p:extLst>
      <p:ext uri="{BB962C8B-B14F-4D97-AF65-F5344CB8AC3E}">
        <p14:creationId xmlns:p14="http://schemas.microsoft.com/office/powerpoint/2010/main" val="3927265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6">
            <a:extLst>
              <a:ext uri="{FF2B5EF4-FFF2-40B4-BE49-F238E27FC236}">
                <a16:creationId xmlns:a16="http://schemas.microsoft.com/office/drawing/2014/main" id="{59AE51B7-F66F-9264-8E41-39AD25194C2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87488" y="260350"/>
            <a:ext cx="9180513" cy="612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1">
            <a:extLst>
              <a:ext uri="{FF2B5EF4-FFF2-40B4-BE49-F238E27FC236}">
                <a16:creationId xmlns:a16="http://schemas.microsoft.com/office/drawing/2014/main" id="{335006DD-9019-3771-71FA-1B47F111649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41094" y="368710"/>
            <a:ext cx="4651375"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1" name="Picture 2">
            <a:extLst>
              <a:ext uri="{FF2B5EF4-FFF2-40B4-BE49-F238E27FC236}">
                <a16:creationId xmlns:a16="http://schemas.microsoft.com/office/drawing/2014/main" id="{DD5AD446-346B-B585-C8F7-BA4AC8E95BA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15051" y="2094271"/>
            <a:ext cx="4518025" cy="4719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058E6BAD-44D9-4CDE-13FC-95F558182071}"/>
              </a:ext>
            </a:extLst>
          </p:cNvPr>
          <p:cNvGraphicFramePr>
            <a:graphicFrameLocks noGrp="1"/>
          </p:cNvGraphicFramePr>
          <p:nvPr>
            <p:extLst>
              <p:ext uri="{D42A27DB-BD31-4B8C-83A1-F6EECF244321}">
                <p14:modId xmlns:p14="http://schemas.microsoft.com/office/powerpoint/2010/main" val="967473501"/>
              </p:ext>
            </p:extLst>
          </p:nvPr>
        </p:nvGraphicFramePr>
        <p:xfrm>
          <a:off x="2669458" y="1268361"/>
          <a:ext cx="4424516" cy="5202832"/>
        </p:xfrm>
        <a:graphic>
          <a:graphicData uri="http://schemas.openxmlformats.org/drawingml/2006/table">
            <a:tbl>
              <a:tblPr firstRow="1" bandRow="1">
                <a:tableStyleId>{5C22544A-7EE6-4342-B048-85BDC9FD1C3A}</a:tableStyleId>
              </a:tblPr>
              <a:tblGrid>
                <a:gridCol w="618116">
                  <a:extLst>
                    <a:ext uri="{9D8B030D-6E8A-4147-A177-3AD203B41FA5}">
                      <a16:colId xmlns:a16="http://schemas.microsoft.com/office/drawing/2014/main" val="4284643852"/>
                    </a:ext>
                  </a:extLst>
                </a:gridCol>
                <a:gridCol w="2240670">
                  <a:extLst>
                    <a:ext uri="{9D8B030D-6E8A-4147-A177-3AD203B41FA5}">
                      <a16:colId xmlns:a16="http://schemas.microsoft.com/office/drawing/2014/main" val="2222551412"/>
                    </a:ext>
                  </a:extLst>
                </a:gridCol>
                <a:gridCol w="1565730">
                  <a:extLst>
                    <a:ext uri="{9D8B030D-6E8A-4147-A177-3AD203B41FA5}">
                      <a16:colId xmlns:a16="http://schemas.microsoft.com/office/drawing/2014/main" val="3830573864"/>
                    </a:ext>
                  </a:extLst>
                </a:gridCol>
              </a:tblGrid>
              <a:tr h="267177">
                <a:tc>
                  <a:txBody>
                    <a:bodyPr/>
                    <a:lstStyle/>
                    <a:p>
                      <a:r>
                        <a:rPr sz="1200" b="1" dirty="0">
                          <a:solidFill>
                            <a:srgbClr val="FFFFFF"/>
                          </a:solidFill>
                        </a:rPr>
                        <a:t>Rank</a:t>
                      </a:r>
                    </a:p>
                  </a:txBody>
                  <a:tcPr>
                    <a:solidFill>
                      <a:srgbClr val="E28AAE"/>
                    </a:solidFill>
                  </a:tcPr>
                </a:tc>
                <a:tc>
                  <a:txBody>
                    <a:bodyPr/>
                    <a:lstStyle/>
                    <a:p>
                      <a:r>
                        <a:rPr sz="1200" b="1" dirty="0">
                          <a:solidFill>
                            <a:srgbClr val="FFFFFF"/>
                          </a:solidFill>
                        </a:rPr>
                        <a:t>2015 (England)</a:t>
                      </a:r>
                    </a:p>
                  </a:txBody>
                  <a:tcPr>
                    <a:solidFill>
                      <a:srgbClr val="E28AAE"/>
                    </a:solidFill>
                  </a:tcPr>
                </a:tc>
                <a:tc>
                  <a:txBody>
                    <a:bodyPr/>
                    <a:lstStyle/>
                    <a:p>
                      <a:r>
                        <a:rPr sz="1200" b="1" dirty="0">
                          <a:solidFill>
                            <a:srgbClr val="FFFFFF"/>
                          </a:solidFill>
                        </a:rPr>
                        <a:t>2024 (England)</a:t>
                      </a:r>
                    </a:p>
                  </a:txBody>
                  <a:tcPr>
                    <a:solidFill>
                      <a:srgbClr val="E28AAE"/>
                    </a:solidFill>
                  </a:tcPr>
                </a:tc>
                <a:extLst>
                  <a:ext uri="{0D108BD9-81ED-4DB2-BD59-A6C34878D82A}">
                    <a16:rowId xmlns:a16="http://schemas.microsoft.com/office/drawing/2014/main" val="2060667109"/>
                  </a:ext>
                </a:extLst>
              </a:tr>
              <a:tr h="434152">
                <a:tc>
                  <a:txBody>
                    <a:bodyPr/>
                    <a:lstStyle/>
                    <a:p>
                      <a:r>
                        <a:rPr sz="1000" dirty="0"/>
                        <a:t>1</a:t>
                      </a:r>
                    </a:p>
                  </a:txBody>
                  <a:tcPr/>
                </a:tc>
                <a:tc>
                  <a:txBody>
                    <a:bodyPr/>
                    <a:lstStyle/>
                    <a:p>
                      <a:r>
                        <a:rPr sz="1050" dirty="0"/>
                        <a:t>Heart disease (14.2%)</a:t>
                      </a:r>
                    </a:p>
                  </a:txBody>
                  <a:tcPr/>
                </a:tc>
                <a:tc>
                  <a:txBody>
                    <a:bodyPr/>
                    <a:lstStyle/>
                    <a:p>
                      <a:r>
                        <a:rPr sz="1050" dirty="0"/>
                        <a:t>Dementia &amp; Alzheimer’s (12.1%)</a:t>
                      </a:r>
                    </a:p>
                  </a:txBody>
                  <a:tcPr/>
                </a:tc>
                <a:extLst>
                  <a:ext uri="{0D108BD9-81ED-4DB2-BD59-A6C34878D82A}">
                    <a16:rowId xmlns:a16="http://schemas.microsoft.com/office/drawing/2014/main" val="2396629829"/>
                  </a:ext>
                </a:extLst>
              </a:tr>
              <a:tr h="400765">
                <a:tc>
                  <a:txBody>
                    <a:bodyPr/>
                    <a:lstStyle/>
                    <a:p>
                      <a:r>
                        <a:rPr sz="1000" dirty="0"/>
                        <a:t>2</a:t>
                      </a:r>
                    </a:p>
                  </a:txBody>
                  <a:tcPr/>
                </a:tc>
                <a:tc>
                  <a:txBody>
                    <a:bodyPr/>
                    <a:lstStyle/>
                    <a:p>
                      <a:r>
                        <a:rPr sz="1050" dirty="0"/>
                        <a:t>Dementia &amp; Alzheimer’s (8.0%)</a:t>
                      </a:r>
                    </a:p>
                  </a:txBody>
                  <a:tcPr/>
                </a:tc>
                <a:tc>
                  <a:txBody>
                    <a:bodyPr/>
                    <a:lstStyle/>
                    <a:p>
                      <a:r>
                        <a:rPr sz="1050" dirty="0" err="1"/>
                        <a:t>Ischaemic</a:t>
                      </a:r>
                      <a:r>
                        <a:rPr sz="1050" dirty="0"/>
                        <a:t> heart disease</a:t>
                      </a:r>
                    </a:p>
                  </a:txBody>
                  <a:tcPr/>
                </a:tc>
                <a:extLst>
                  <a:ext uri="{0D108BD9-81ED-4DB2-BD59-A6C34878D82A}">
                    <a16:rowId xmlns:a16="http://schemas.microsoft.com/office/drawing/2014/main" val="1287231276"/>
                  </a:ext>
                </a:extLst>
              </a:tr>
              <a:tr h="694385">
                <a:tc>
                  <a:txBody>
                    <a:bodyPr/>
                    <a:lstStyle/>
                    <a:p>
                      <a:r>
                        <a:rPr sz="1000" dirty="0"/>
                        <a:t>3</a:t>
                      </a:r>
                    </a:p>
                  </a:txBody>
                  <a:tcPr/>
                </a:tc>
                <a:tc>
                  <a:txBody>
                    <a:bodyPr/>
                    <a:lstStyle/>
                    <a:p>
                      <a:r>
                        <a:rPr sz="1050" dirty="0"/>
                        <a:t>Lung cancer (6.5%)</a:t>
                      </a:r>
                    </a:p>
                  </a:txBody>
                  <a:tcPr/>
                </a:tc>
                <a:tc>
                  <a:txBody>
                    <a:bodyPr/>
                    <a:lstStyle/>
                    <a:p>
                      <a:r>
                        <a:rPr sz="1050" dirty="0"/>
                        <a:t>Cerebrovascular disease incl. stroke</a:t>
                      </a:r>
                    </a:p>
                  </a:txBody>
                  <a:tcPr/>
                </a:tc>
                <a:extLst>
                  <a:ext uri="{0D108BD9-81ED-4DB2-BD59-A6C34878D82A}">
                    <a16:rowId xmlns:a16="http://schemas.microsoft.com/office/drawing/2014/main" val="484179879"/>
                  </a:ext>
                </a:extLst>
              </a:tr>
              <a:tr h="377641">
                <a:tc>
                  <a:txBody>
                    <a:bodyPr/>
                    <a:lstStyle/>
                    <a:p>
                      <a:r>
                        <a:rPr sz="1000" dirty="0"/>
                        <a:t>4</a:t>
                      </a:r>
                    </a:p>
                  </a:txBody>
                  <a:tcPr/>
                </a:tc>
                <a:tc>
                  <a:txBody>
                    <a:bodyPr/>
                    <a:lstStyle/>
                    <a:p>
                      <a:r>
                        <a:rPr sz="1050" dirty="0"/>
                        <a:t>Chronic lower resp. (6.2%)</a:t>
                      </a:r>
                    </a:p>
                  </a:txBody>
                  <a:tcPr/>
                </a:tc>
                <a:tc>
                  <a:txBody>
                    <a:bodyPr/>
                    <a:lstStyle/>
                    <a:p>
                      <a:r>
                        <a:rPr sz="1050" dirty="0"/>
                        <a:t>Lung cancer</a:t>
                      </a:r>
                    </a:p>
                  </a:txBody>
                  <a:tcPr/>
                </a:tc>
                <a:extLst>
                  <a:ext uri="{0D108BD9-81ED-4DB2-BD59-A6C34878D82A}">
                    <a16:rowId xmlns:a16="http://schemas.microsoft.com/office/drawing/2014/main" val="2455242876"/>
                  </a:ext>
                </a:extLst>
              </a:tr>
              <a:tr h="400765">
                <a:tc>
                  <a:txBody>
                    <a:bodyPr/>
                    <a:lstStyle/>
                    <a:p>
                      <a:r>
                        <a:rPr sz="1000" dirty="0"/>
                        <a:t>5</a:t>
                      </a:r>
                    </a:p>
                  </a:txBody>
                  <a:tcPr/>
                </a:tc>
                <a:tc>
                  <a:txBody>
                    <a:bodyPr/>
                    <a:lstStyle/>
                    <a:p>
                      <a:r>
                        <a:rPr sz="1050" dirty="0"/>
                        <a:t>Stroke (5.6%)</a:t>
                      </a:r>
                    </a:p>
                  </a:txBody>
                  <a:tcPr/>
                </a:tc>
                <a:tc>
                  <a:txBody>
                    <a:bodyPr/>
                    <a:lstStyle/>
                    <a:p>
                      <a:r>
                        <a:rPr sz="1050" dirty="0"/>
                        <a:t>Chronic lower resp. disease</a:t>
                      </a:r>
                    </a:p>
                  </a:txBody>
                  <a:tcPr/>
                </a:tc>
                <a:extLst>
                  <a:ext uri="{0D108BD9-81ED-4DB2-BD59-A6C34878D82A}">
                    <a16:rowId xmlns:a16="http://schemas.microsoft.com/office/drawing/2014/main" val="4110636195"/>
                  </a:ext>
                </a:extLst>
              </a:tr>
              <a:tr h="694385">
                <a:tc>
                  <a:txBody>
                    <a:bodyPr/>
                    <a:lstStyle/>
                    <a:p>
                      <a:r>
                        <a:rPr sz="1000" dirty="0"/>
                        <a:t>6</a:t>
                      </a:r>
                    </a:p>
                  </a:txBody>
                  <a:tcPr/>
                </a:tc>
                <a:tc>
                  <a:txBody>
                    <a:bodyPr/>
                    <a:lstStyle/>
                    <a:p>
                      <a:r>
                        <a:rPr sz="1050" dirty="0"/>
                        <a:t>Influenza &amp; pneumonia (5.1%)</a:t>
                      </a:r>
                    </a:p>
                  </a:txBody>
                  <a:tcPr/>
                </a:tc>
                <a:tc>
                  <a:txBody>
                    <a:bodyPr/>
                    <a:lstStyle/>
                    <a:p>
                      <a:r>
                        <a:rPr sz="1050" dirty="0"/>
                        <a:t>Other cancers</a:t>
                      </a:r>
                    </a:p>
                  </a:txBody>
                  <a:tcPr/>
                </a:tc>
                <a:extLst>
                  <a:ext uri="{0D108BD9-81ED-4DB2-BD59-A6C34878D82A}">
                    <a16:rowId xmlns:a16="http://schemas.microsoft.com/office/drawing/2014/main" val="2350902141"/>
                  </a:ext>
                </a:extLst>
              </a:tr>
              <a:tr h="517907">
                <a:tc>
                  <a:txBody>
                    <a:bodyPr/>
                    <a:lstStyle/>
                    <a:p>
                      <a:r>
                        <a:rPr sz="1000" dirty="0"/>
                        <a:t>7</a:t>
                      </a:r>
                    </a:p>
                  </a:txBody>
                  <a:tcPr/>
                </a:tc>
                <a:tc>
                  <a:txBody>
                    <a:bodyPr/>
                    <a:lstStyle/>
                    <a:p>
                      <a:r>
                        <a:rPr sz="1050" dirty="0"/>
                        <a:t>Prostate cancer (4.2%)</a:t>
                      </a:r>
                    </a:p>
                  </a:txBody>
                  <a:tcPr/>
                </a:tc>
                <a:tc>
                  <a:txBody>
                    <a:bodyPr/>
                    <a:lstStyle/>
                    <a:p>
                      <a:r>
                        <a:rPr sz="1050" dirty="0"/>
                        <a:t>Influenza &amp; pneumonia</a:t>
                      </a:r>
                    </a:p>
                  </a:txBody>
                  <a:tcPr/>
                </a:tc>
                <a:extLst>
                  <a:ext uri="{0D108BD9-81ED-4DB2-BD59-A6C34878D82A}">
                    <a16:rowId xmlns:a16="http://schemas.microsoft.com/office/drawing/2014/main" val="589880791"/>
                  </a:ext>
                </a:extLst>
              </a:tr>
              <a:tr h="420798">
                <a:tc>
                  <a:txBody>
                    <a:bodyPr/>
                    <a:lstStyle/>
                    <a:p>
                      <a:r>
                        <a:rPr sz="1000" dirty="0"/>
                        <a:t>8</a:t>
                      </a:r>
                    </a:p>
                  </a:txBody>
                  <a:tcPr/>
                </a:tc>
                <a:tc>
                  <a:txBody>
                    <a:bodyPr/>
                    <a:lstStyle/>
                    <a:p>
                      <a:r>
                        <a:rPr sz="1050" dirty="0"/>
                        <a:t>Colorectal cancer (3.0%)</a:t>
                      </a:r>
                    </a:p>
                  </a:txBody>
                  <a:tcPr/>
                </a:tc>
                <a:tc>
                  <a:txBody>
                    <a:bodyPr/>
                    <a:lstStyle/>
                    <a:p>
                      <a:r>
                        <a:rPr sz="1050" dirty="0"/>
                        <a:t>Liver disease</a:t>
                      </a:r>
                    </a:p>
                  </a:txBody>
                  <a:tcPr/>
                </a:tc>
                <a:extLst>
                  <a:ext uri="{0D108BD9-81ED-4DB2-BD59-A6C34878D82A}">
                    <a16:rowId xmlns:a16="http://schemas.microsoft.com/office/drawing/2014/main" val="85069894"/>
                  </a:ext>
                </a:extLst>
              </a:tr>
              <a:tr h="490930">
                <a:tc>
                  <a:txBody>
                    <a:bodyPr/>
                    <a:lstStyle/>
                    <a:p>
                      <a:r>
                        <a:rPr sz="1000" dirty="0"/>
                        <a:t>9</a:t>
                      </a:r>
                    </a:p>
                  </a:txBody>
                  <a:tcPr/>
                </a:tc>
                <a:tc>
                  <a:txBody>
                    <a:bodyPr/>
                    <a:lstStyle/>
                    <a:p>
                      <a:r>
                        <a:rPr sz="1050" dirty="0" err="1"/>
                        <a:t>Leukaemia</a:t>
                      </a:r>
                      <a:r>
                        <a:rPr sz="1050" dirty="0"/>
                        <a:t> &amp; lymphomas (2.6%)</a:t>
                      </a:r>
                    </a:p>
                  </a:txBody>
                  <a:tcPr/>
                </a:tc>
                <a:tc>
                  <a:txBody>
                    <a:bodyPr/>
                    <a:lstStyle/>
                    <a:p>
                      <a:r>
                        <a:rPr sz="1050" dirty="0"/>
                        <a:t>Chronic kidney diseases</a:t>
                      </a:r>
                    </a:p>
                  </a:txBody>
                  <a:tcPr/>
                </a:tc>
                <a:extLst>
                  <a:ext uri="{0D108BD9-81ED-4DB2-BD59-A6C34878D82A}">
                    <a16:rowId xmlns:a16="http://schemas.microsoft.com/office/drawing/2014/main" val="496786635"/>
                  </a:ext>
                </a:extLst>
              </a:tr>
              <a:tr h="486069">
                <a:tc>
                  <a:txBody>
                    <a:bodyPr/>
                    <a:lstStyle/>
                    <a:p>
                      <a:r>
                        <a:rPr sz="1000" dirty="0"/>
                        <a:t>10</a:t>
                      </a:r>
                    </a:p>
                  </a:txBody>
                  <a:tcPr/>
                </a:tc>
                <a:tc>
                  <a:txBody>
                    <a:bodyPr/>
                    <a:lstStyle/>
                    <a:p>
                      <a:r>
                        <a:rPr sz="1050" dirty="0"/>
                        <a:t>Liver disease (1.9%)</a:t>
                      </a:r>
                    </a:p>
                  </a:txBody>
                  <a:tcPr/>
                </a:tc>
                <a:tc>
                  <a:txBody>
                    <a:bodyPr/>
                    <a:lstStyle/>
                    <a:p>
                      <a:r>
                        <a:rPr sz="1050" dirty="0"/>
                        <a:t>Accidents &amp; external causes</a:t>
                      </a:r>
                    </a:p>
                  </a:txBody>
                  <a:tcPr/>
                </a:tc>
                <a:extLst>
                  <a:ext uri="{0D108BD9-81ED-4DB2-BD59-A6C34878D82A}">
                    <a16:rowId xmlns:a16="http://schemas.microsoft.com/office/drawing/2014/main" val="3577770090"/>
                  </a:ext>
                </a:extLst>
              </a:tr>
            </a:tbl>
          </a:graphicData>
        </a:graphic>
      </p:graphicFrame>
      <p:sp>
        <p:nvSpPr>
          <p:cNvPr id="7" name="TextBox 6">
            <a:extLst>
              <a:ext uri="{FF2B5EF4-FFF2-40B4-BE49-F238E27FC236}">
                <a16:creationId xmlns:a16="http://schemas.microsoft.com/office/drawing/2014/main" id="{67483625-0EAB-54F9-9EE5-2C75AE5E4E73}"/>
              </a:ext>
            </a:extLst>
          </p:cNvPr>
          <p:cNvSpPr txBox="1"/>
          <p:nvPr/>
        </p:nvSpPr>
        <p:spPr>
          <a:xfrm>
            <a:off x="693174" y="516195"/>
            <a:ext cx="10958052" cy="707886"/>
          </a:xfrm>
          <a:prstGeom prst="rect">
            <a:avLst/>
          </a:prstGeom>
          <a:noFill/>
        </p:spPr>
        <p:txBody>
          <a:bodyPr wrap="square">
            <a:spAutoFit/>
          </a:bodyPr>
          <a:lstStyle/>
          <a:p>
            <a:r>
              <a:rPr lang="en-001" sz="4000"/>
              <a:t>Leading Causes of Death in England: 2015 vs 2024</a:t>
            </a:r>
          </a:p>
        </p:txBody>
      </p:sp>
    </p:spTree>
    <p:extLst>
      <p:ext uri="{BB962C8B-B14F-4D97-AF65-F5344CB8AC3E}">
        <p14:creationId xmlns:p14="http://schemas.microsoft.com/office/powerpoint/2010/main" val="764333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97E920D-1FDE-4271-B0BB-A3C45D0B0DE8}"/>
              </a:ext>
            </a:extLst>
          </p:cNvPr>
          <p:cNvPicPr>
            <a:picLocks noChangeAspect="1"/>
          </p:cNvPicPr>
          <p:nvPr/>
        </p:nvPicPr>
        <p:blipFill>
          <a:blip r:embed="rId2"/>
          <a:stretch>
            <a:fillRect/>
          </a:stretch>
        </p:blipFill>
        <p:spPr>
          <a:xfrm>
            <a:off x="975360" y="0"/>
            <a:ext cx="10241280" cy="6858000"/>
          </a:xfrm>
          <a:prstGeom prst="rect">
            <a:avLst/>
          </a:prstGeom>
        </p:spPr>
      </p:pic>
    </p:spTree>
    <p:extLst>
      <p:ext uri="{BB962C8B-B14F-4D97-AF65-F5344CB8AC3E}">
        <p14:creationId xmlns:p14="http://schemas.microsoft.com/office/powerpoint/2010/main" val="2906461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8FE4E-2A31-C619-DEC2-BDA0248109A5}"/>
              </a:ext>
            </a:extLst>
          </p:cNvPr>
          <p:cNvSpPr>
            <a:spLocks noGrp="1"/>
          </p:cNvSpPr>
          <p:nvPr>
            <p:ph type="title"/>
          </p:nvPr>
        </p:nvSpPr>
        <p:spPr/>
        <p:txBody>
          <a:bodyPr/>
          <a:lstStyle/>
          <a:p>
            <a:r>
              <a:rPr lang="en-GB" altLang="en-US" dirty="0"/>
              <a:t>Modifiable risk factors</a:t>
            </a:r>
            <a:br>
              <a:rPr lang="en-GB" altLang="en-US" dirty="0"/>
            </a:br>
            <a:endParaRPr lang="en-001"/>
          </a:p>
        </p:txBody>
      </p:sp>
      <p:sp>
        <p:nvSpPr>
          <p:cNvPr id="3" name="Content Placeholder 2">
            <a:extLst>
              <a:ext uri="{FF2B5EF4-FFF2-40B4-BE49-F238E27FC236}">
                <a16:creationId xmlns:a16="http://schemas.microsoft.com/office/drawing/2014/main" id="{2997D373-CDC0-19CE-BE5A-1515968A3085}"/>
              </a:ext>
            </a:extLst>
          </p:cNvPr>
          <p:cNvSpPr>
            <a:spLocks noGrp="1"/>
          </p:cNvSpPr>
          <p:nvPr>
            <p:ph sz="half" idx="1"/>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t="100000" r="100000"/>
            </a:path>
            <a:tileRect l="-100000" b="-100000"/>
          </a:gradFill>
        </p:spPr>
        <p:txBody>
          <a:bodyPr/>
          <a:lstStyle/>
          <a:p>
            <a:pPr lvl="1"/>
            <a:r>
              <a:rPr lang="en-GB" altLang="en-US" dirty="0">
                <a:solidFill>
                  <a:srgbClr val="FF0000"/>
                </a:solidFill>
              </a:rPr>
              <a:t>Diet</a:t>
            </a:r>
          </a:p>
          <a:p>
            <a:pPr lvl="1"/>
            <a:r>
              <a:rPr lang="en-GB" altLang="en-US" dirty="0">
                <a:solidFill>
                  <a:srgbClr val="FF0000"/>
                </a:solidFill>
              </a:rPr>
              <a:t>Physical activity</a:t>
            </a:r>
          </a:p>
          <a:p>
            <a:pPr lvl="1"/>
            <a:r>
              <a:rPr lang="en-GB" altLang="en-US" dirty="0">
                <a:solidFill>
                  <a:srgbClr val="FF0000"/>
                </a:solidFill>
              </a:rPr>
              <a:t>Body weight</a:t>
            </a:r>
          </a:p>
          <a:p>
            <a:pPr lvl="1"/>
            <a:r>
              <a:rPr lang="en-GB" altLang="en-US" dirty="0"/>
              <a:t>Smoking</a:t>
            </a:r>
          </a:p>
          <a:p>
            <a:endParaRPr lang="en-001"/>
          </a:p>
        </p:txBody>
      </p:sp>
      <p:sp>
        <p:nvSpPr>
          <p:cNvPr id="4" name="Content Placeholder 3">
            <a:extLst>
              <a:ext uri="{FF2B5EF4-FFF2-40B4-BE49-F238E27FC236}">
                <a16:creationId xmlns:a16="http://schemas.microsoft.com/office/drawing/2014/main" id="{47322E14-8784-138E-24E9-6D4E98173366}"/>
              </a:ext>
            </a:extLst>
          </p:cNvPr>
          <p:cNvSpPr>
            <a:spLocks noGrp="1"/>
          </p:cNvSpPr>
          <p:nvPr>
            <p:ph sz="half" idx="2"/>
          </p:nvPr>
        </p:nvSpPr>
        <p:spPr>
          <a:xfrm>
            <a:off x="6172200" y="1825625"/>
            <a:ext cx="4358148" cy="4351338"/>
          </a:xfrm>
        </p:spPr>
        <p:txBody>
          <a:bodyPr/>
          <a:lstStyle/>
          <a:p>
            <a:endParaRPr lang="en-001"/>
          </a:p>
        </p:txBody>
      </p:sp>
      <p:pic>
        <p:nvPicPr>
          <p:cNvPr id="5" name="Picture 1">
            <a:extLst>
              <a:ext uri="{FF2B5EF4-FFF2-40B4-BE49-F238E27FC236}">
                <a16:creationId xmlns:a16="http://schemas.microsoft.com/office/drawing/2014/main" id="{069E4E8C-9DD9-807D-B002-9166D94096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1825626"/>
            <a:ext cx="4521200"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2929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Modifiable risk factors </a:t>
            </a:r>
            <a:endParaRPr lang="en-GB" dirty="0"/>
          </a:p>
        </p:txBody>
      </p:sp>
      <p:sp>
        <p:nvSpPr>
          <p:cNvPr id="3" name="Content Placeholder 2"/>
          <p:cNvSpPr>
            <a:spLocks noGrp="1"/>
          </p:cNvSpPr>
          <p:nvPr>
            <p:ph sz="half" idx="1"/>
          </p:nvPr>
        </p:nvSpPr>
        <p:spPr>
          <a:xfrm>
            <a:off x="838200" y="1825625"/>
            <a:ext cx="5181600" cy="4351338"/>
          </a:xfrm>
        </p:spPr>
        <p:txBody>
          <a:bodyPr/>
          <a:lstStyle/>
          <a:p>
            <a:pPr lvl="1">
              <a:buFont typeface="Arial" panose="020B0604020202020204" pitchFamily="34" charset="0"/>
              <a:buChar char="•"/>
            </a:pPr>
            <a:r>
              <a:rPr lang="en-US" sz="2400" dirty="0"/>
              <a:t>In more than 90% of cases, the risk of developing CHD is related to nine potentially modifiable risk factors (Yusuf et al. 2004):</a:t>
            </a:r>
          </a:p>
          <a:p>
            <a:pPr lvl="1">
              <a:buFont typeface="Arial" panose="020B0604020202020204" pitchFamily="34" charset="0"/>
              <a:buChar char="•"/>
            </a:pPr>
            <a:r>
              <a:rPr lang="en-US" sz="2400" dirty="0"/>
              <a:t>smoking/tobacco use</a:t>
            </a:r>
          </a:p>
          <a:p>
            <a:pPr lvl="1">
              <a:buFont typeface="Arial" panose="020B0604020202020204" pitchFamily="34" charset="0"/>
              <a:buChar char="•"/>
            </a:pPr>
            <a:r>
              <a:rPr lang="en-US" sz="2400" dirty="0"/>
              <a:t>poor diet</a:t>
            </a:r>
          </a:p>
          <a:p>
            <a:pPr lvl="1">
              <a:buFont typeface="Arial" panose="020B0604020202020204" pitchFamily="34" charset="0"/>
              <a:buChar char="•"/>
            </a:pPr>
            <a:r>
              <a:rPr lang="en-US" sz="2400" dirty="0"/>
              <a:t>high blood cholesterol</a:t>
            </a:r>
          </a:p>
          <a:p>
            <a:pPr lvl="1">
              <a:buFont typeface="Arial" panose="020B0604020202020204" pitchFamily="34" charset="0"/>
              <a:buChar char="•"/>
            </a:pPr>
            <a:r>
              <a:rPr lang="en-US" sz="2400" dirty="0"/>
              <a:t>high blood pressure</a:t>
            </a:r>
          </a:p>
          <a:p>
            <a:pPr lvl="1">
              <a:buFont typeface="Arial" panose="020B0604020202020204" pitchFamily="34" charset="0"/>
              <a:buChar char="•"/>
            </a:pPr>
            <a:r>
              <a:rPr lang="en-US" sz="2400" dirty="0"/>
              <a:t>physical inactivity</a:t>
            </a:r>
          </a:p>
          <a:p>
            <a:pPr lvl="1">
              <a:buFont typeface="Arial" panose="020B0604020202020204" pitchFamily="34" charset="0"/>
              <a:buChar char="•"/>
            </a:pPr>
            <a:r>
              <a:rPr lang="en-US" sz="2400" dirty="0"/>
              <a:t>overweight/obesity</a:t>
            </a:r>
          </a:p>
          <a:p>
            <a:endParaRPr lang="en-GB" dirty="0"/>
          </a:p>
        </p:txBody>
      </p:sp>
      <p:sp>
        <p:nvSpPr>
          <p:cNvPr id="4" name="Content Placeholder 3"/>
          <p:cNvSpPr>
            <a:spLocks noGrp="1"/>
          </p:cNvSpPr>
          <p:nvPr>
            <p:ph sz="half" idx="2"/>
          </p:nvPr>
        </p:nvSpPr>
        <p:spPr>
          <a:xfrm>
            <a:off x="6172200" y="1825625"/>
            <a:ext cx="5181600" cy="4351338"/>
          </a:xfrm>
        </p:spPr>
        <p:txBody>
          <a:bodyPr/>
          <a:lstStyle/>
          <a:p>
            <a:pPr lvl="1">
              <a:buFont typeface="Arial" panose="020B0604020202020204" pitchFamily="34" charset="0"/>
              <a:buChar char="•"/>
            </a:pPr>
            <a:r>
              <a:rPr lang="en-US" sz="2400" dirty="0"/>
              <a:t>Diabetes</a:t>
            </a:r>
          </a:p>
          <a:p>
            <a:pPr lvl="1">
              <a:buFont typeface="Arial" panose="020B0604020202020204" pitchFamily="34" charset="0"/>
              <a:buChar char="•"/>
            </a:pPr>
            <a:r>
              <a:rPr lang="en-US" sz="2400" dirty="0"/>
              <a:t>Psychosocial stress (linked to people's ability to influence the potentially stressful environments in which they live)</a:t>
            </a:r>
          </a:p>
          <a:p>
            <a:pPr lvl="1">
              <a:buFont typeface="Arial" panose="020B0604020202020204" pitchFamily="34" charset="0"/>
              <a:buChar char="•"/>
            </a:pPr>
            <a:r>
              <a:rPr lang="en-US" sz="2400" dirty="0"/>
              <a:t>Excess alcohol  consumption</a:t>
            </a:r>
          </a:p>
          <a:p>
            <a:pPr lvl="1">
              <a:buFont typeface="Arial" panose="020B0604020202020204" pitchFamily="34" charset="0"/>
              <a:buChar char="•"/>
            </a:pPr>
            <a:r>
              <a:rPr lang="en-US" sz="2400" dirty="0"/>
              <a:t>Other factors, such as maternal nutrition and air pollution may also be linked to the disease (Allender et al. 2007)</a:t>
            </a:r>
          </a:p>
          <a:p>
            <a:endParaRPr lang="en-GB" dirty="0"/>
          </a:p>
        </p:txBody>
      </p:sp>
    </p:spTree>
    <p:extLst>
      <p:ext uri="{BB962C8B-B14F-4D97-AF65-F5344CB8AC3E}">
        <p14:creationId xmlns:p14="http://schemas.microsoft.com/office/powerpoint/2010/main" val="1986676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081F8-8CA2-478F-804F-E58151E585AE}"/>
              </a:ext>
            </a:extLst>
          </p:cNvPr>
          <p:cNvSpPr>
            <a:spLocks noGrp="1"/>
          </p:cNvSpPr>
          <p:nvPr>
            <p:ph type="title"/>
          </p:nvPr>
        </p:nvSpPr>
        <p:spPr/>
        <p:txBody>
          <a:bodyPr>
            <a:normAutofit/>
          </a:bodyPr>
          <a:lstStyle/>
          <a:p>
            <a:r>
              <a:rPr lang="en-GB" altLang="en-US" sz="4400" dirty="0"/>
              <a:t>Risk factors for major chronic diseases in the UK</a:t>
            </a:r>
            <a:endParaRPr lang="en-GB" dirty="0"/>
          </a:p>
        </p:txBody>
      </p:sp>
      <p:pic>
        <p:nvPicPr>
          <p:cNvPr id="7" name="Content Placeholder 6">
            <a:extLst>
              <a:ext uri="{FF2B5EF4-FFF2-40B4-BE49-F238E27FC236}">
                <a16:creationId xmlns:a16="http://schemas.microsoft.com/office/drawing/2014/main" id="{FA0D17F3-2165-4665-968F-5585C8426891}"/>
              </a:ext>
            </a:extLst>
          </p:cNvPr>
          <p:cNvPicPr>
            <a:picLocks noGrp="1" noChangeAspect="1"/>
          </p:cNvPicPr>
          <p:nvPr>
            <p:ph idx="1"/>
          </p:nvPr>
        </p:nvPicPr>
        <p:blipFill>
          <a:blip r:embed="rId2"/>
          <a:stretch>
            <a:fillRect/>
          </a:stretch>
        </p:blipFill>
        <p:spPr>
          <a:xfrm>
            <a:off x="1147156" y="1579418"/>
            <a:ext cx="10332720" cy="4597545"/>
          </a:xfrm>
          <a:prstGeom prst="rect">
            <a:avLst/>
          </a:prstGeom>
        </p:spPr>
      </p:pic>
    </p:spTree>
    <p:extLst>
      <p:ext uri="{BB962C8B-B14F-4D97-AF65-F5344CB8AC3E}">
        <p14:creationId xmlns:p14="http://schemas.microsoft.com/office/powerpoint/2010/main" val="949389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382A14-8D5B-43E6-9EEE-2B377674EB9F}"/>
              </a:ext>
            </a:extLst>
          </p:cNvPr>
          <p:cNvPicPr>
            <a:picLocks noChangeAspect="1"/>
          </p:cNvPicPr>
          <p:nvPr/>
        </p:nvPicPr>
        <p:blipFill>
          <a:blip r:embed="rId2"/>
          <a:stretch>
            <a:fillRect/>
          </a:stretch>
        </p:blipFill>
        <p:spPr>
          <a:xfrm>
            <a:off x="1304693" y="399012"/>
            <a:ext cx="8865219" cy="6325984"/>
          </a:xfrm>
          <a:prstGeom prst="rect">
            <a:avLst/>
          </a:prstGeom>
        </p:spPr>
      </p:pic>
    </p:spTree>
    <p:extLst>
      <p:ext uri="{BB962C8B-B14F-4D97-AF65-F5344CB8AC3E}">
        <p14:creationId xmlns:p14="http://schemas.microsoft.com/office/powerpoint/2010/main" val="1902029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3">
            <a:extLst>
              <a:ext uri="{FF2B5EF4-FFF2-40B4-BE49-F238E27FC236}">
                <a16:creationId xmlns:a16="http://schemas.microsoft.com/office/drawing/2014/main" id="{DBEF43E6-A5BF-BCA3-8F9D-997036E151FE}"/>
              </a:ext>
            </a:extLst>
          </p:cNvPr>
          <p:cNvPicPr>
            <a:picLocks noChangeAspect="1"/>
          </p:cNvPicPr>
          <p:nvPr/>
        </p:nvPicPr>
        <p:blipFill>
          <a:blip r:embed="rId2">
            <a:extLst>
              <a:ext uri="{28A0092B-C50C-407E-A947-70E740481C1C}">
                <a14:useLocalDpi xmlns:a14="http://schemas.microsoft.com/office/drawing/2010/main" val="0"/>
              </a:ext>
            </a:extLst>
          </a:blip>
          <a:srcRect t="26190" b="3778"/>
          <a:stretch>
            <a:fillRect/>
          </a:stretch>
        </p:blipFill>
        <p:spPr bwMode="auto">
          <a:xfrm>
            <a:off x="1631950" y="30163"/>
            <a:ext cx="91440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5" name="Picture 4">
            <a:extLst>
              <a:ext uri="{FF2B5EF4-FFF2-40B4-BE49-F238E27FC236}">
                <a16:creationId xmlns:a16="http://schemas.microsoft.com/office/drawing/2014/main" id="{6040DED4-4411-63CA-7A9C-C628FEDE7E7C}"/>
              </a:ext>
            </a:extLst>
          </p:cNvPr>
          <p:cNvPicPr>
            <a:picLocks noChangeAspect="1"/>
          </p:cNvPicPr>
          <p:nvPr/>
        </p:nvPicPr>
        <p:blipFill>
          <a:blip r:embed="rId3">
            <a:extLst>
              <a:ext uri="{28A0092B-C50C-407E-A947-70E740481C1C}">
                <a14:useLocalDpi xmlns:a14="http://schemas.microsoft.com/office/drawing/2010/main" val="0"/>
              </a:ext>
            </a:extLst>
          </a:blip>
          <a:srcRect t="28990" b="3777"/>
          <a:stretch>
            <a:fillRect/>
          </a:stretch>
        </p:blipFill>
        <p:spPr bwMode="auto">
          <a:xfrm>
            <a:off x="1631950" y="3429000"/>
            <a:ext cx="9144000"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1">
            <a:extLst>
              <a:ext uri="{FF2B5EF4-FFF2-40B4-BE49-F238E27FC236}">
                <a16:creationId xmlns:a16="http://schemas.microsoft.com/office/drawing/2014/main" id="{56505F17-0AB9-89F0-3644-3BBD084F3BDC}"/>
              </a:ext>
            </a:extLst>
          </p:cNvPr>
          <p:cNvPicPr>
            <a:picLocks noChangeAspect="1"/>
          </p:cNvPicPr>
          <p:nvPr/>
        </p:nvPicPr>
        <p:blipFill>
          <a:blip r:embed="rId2">
            <a:extLst>
              <a:ext uri="{28A0092B-C50C-407E-A947-70E740481C1C}">
                <a14:useLocalDpi xmlns:a14="http://schemas.microsoft.com/office/drawing/2010/main" val="0"/>
              </a:ext>
            </a:extLst>
          </a:blip>
          <a:srcRect l="22198" t="15988" r="21651" b="3778"/>
          <a:stretch>
            <a:fillRect/>
          </a:stretch>
        </p:blipFill>
        <p:spPr bwMode="auto">
          <a:xfrm>
            <a:off x="1919289" y="188914"/>
            <a:ext cx="8302625" cy="666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3E7B731-24B4-0144-EF13-145CE5E24584}"/>
              </a:ext>
            </a:extLst>
          </p:cNvPr>
          <p:cNvPicPr>
            <a:picLocks noChangeAspect="1"/>
          </p:cNvPicPr>
          <p:nvPr/>
        </p:nvPicPr>
        <p:blipFill>
          <a:blip r:embed="rId2">
            <a:extLst>
              <a:ext uri="{28A0092B-C50C-407E-A947-70E740481C1C}">
                <a14:useLocalDpi xmlns:a14="http://schemas.microsoft.com/office/drawing/2010/main" val="0"/>
              </a:ext>
            </a:extLst>
          </a:blip>
          <a:srcRect l="17712" t="13583" r="27950" b="42998"/>
          <a:stretch>
            <a:fillRect/>
          </a:stretch>
        </p:blipFill>
        <p:spPr bwMode="auto">
          <a:xfrm>
            <a:off x="3175" y="908050"/>
            <a:ext cx="8859838" cy="398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4705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1">
            <a:extLst>
              <a:ext uri="{FF2B5EF4-FFF2-40B4-BE49-F238E27FC236}">
                <a16:creationId xmlns:a16="http://schemas.microsoft.com/office/drawing/2014/main" id="{C1ED7C70-AE8F-D75F-37C3-7BE3A49D7888}"/>
              </a:ext>
            </a:extLst>
          </p:cNvPr>
          <p:cNvPicPr>
            <a:picLocks noChangeAspect="1"/>
          </p:cNvPicPr>
          <p:nvPr/>
        </p:nvPicPr>
        <p:blipFill>
          <a:blip r:embed="rId2">
            <a:extLst>
              <a:ext uri="{28A0092B-C50C-407E-A947-70E740481C1C}">
                <a14:useLocalDpi xmlns:a14="http://schemas.microsoft.com/office/drawing/2010/main" val="0"/>
              </a:ext>
            </a:extLst>
          </a:blip>
          <a:srcRect l="16138" t="10780" r="27164" b="16383"/>
          <a:stretch>
            <a:fillRect/>
          </a:stretch>
        </p:blipFill>
        <p:spPr bwMode="auto">
          <a:xfrm>
            <a:off x="1631950" y="425450"/>
            <a:ext cx="8547100"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8AF28-E880-4CD6-B298-333FEBF9A334}"/>
              </a:ext>
            </a:extLst>
          </p:cNvPr>
          <p:cNvSpPr>
            <a:spLocks noGrp="1"/>
          </p:cNvSpPr>
          <p:nvPr>
            <p:ph type="title"/>
          </p:nvPr>
        </p:nvSpPr>
        <p:spPr>
          <a:blipFill>
            <a:blip r:embed="rId2"/>
            <a:tile tx="0" ty="0" sx="100000" sy="100000" flip="none" algn="tl"/>
          </a:blipFill>
          <a:ln>
            <a:solidFill>
              <a:schemeClr val="accent1">
                <a:lumMod val="20000"/>
                <a:lumOff val="80000"/>
              </a:schemeClr>
            </a:solidFill>
          </a:ln>
        </p:spPr>
        <p:txBody>
          <a:bodyPr/>
          <a:lstStyle/>
          <a:p>
            <a:r>
              <a:rPr lang="en-GB" dirty="0"/>
              <a:t>Costs to the NHS</a:t>
            </a:r>
          </a:p>
        </p:txBody>
      </p:sp>
      <p:sp>
        <p:nvSpPr>
          <p:cNvPr id="3" name="Content Placeholder 2">
            <a:extLst>
              <a:ext uri="{FF2B5EF4-FFF2-40B4-BE49-F238E27FC236}">
                <a16:creationId xmlns:a16="http://schemas.microsoft.com/office/drawing/2014/main" id="{859D6DBC-3997-4C8C-AD0A-EE012A90887D}"/>
              </a:ext>
            </a:extLst>
          </p:cNvPr>
          <p:cNvSpPr>
            <a:spLocks noGrp="1"/>
          </p:cNvSpPr>
          <p:nvPr>
            <p:ph idx="1"/>
          </p:nvPr>
        </p:nvSpPr>
        <p:spPr>
          <a:blipFill>
            <a:blip r:embed="rId2"/>
            <a:tile tx="0" ty="0" sx="100000" sy="100000" flip="none" algn="tl"/>
          </a:blipFill>
        </p:spPr>
        <p:txBody>
          <a:bodyPr/>
          <a:lstStyle/>
          <a:p>
            <a:pPr eaLnBrk="1" hangingPunct="1">
              <a:defRPr/>
            </a:pPr>
            <a:r>
              <a:rPr lang="en-GB" altLang="en-US" sz="2800" dirty="0"/>
              <a:t>NHS spent £4.2 billion on treating obesity in 2007, £6.2 bn in 2015 and now it is estimated to cost the NHS 11.4 bn/yr (2024)</a:t>
            </a:r>
          </a:p>
          <a:p>
            <a:pPr eaLnBrk="1" hangingPunct="1">
              <a:defRPr/>
            </a:pPr>
            <a:endParaRPr lang="en-GB" altLang="en-US" sz="2800" dirty="0"/>
          </a:p>
          <a:p>
            <a:pPr eaLnBrk="1" hangingPunct="1">
              <a:defRPr/>
            </a:pPr>
            <a:r>
              <a:rPr lang="en-GB" altLang="en-US" sz="2800" dirty="0"/>
              <a:t>£2.6 billion spent on smoking-related healthcare in 2015, NHS currently spending 1.9 bn/yr (2025).</a:t>
            </a:r>
          </a:p>
          <a:p>
            <a:pPr eaLnBrk="1" hangingPunct="1">
              <a:defRPr/>
            </a:pPr>
            <a:endParaRPr lang="en-GB" altLang="en-US" sz="2800" dirty="0"/>
          </a:p>
          <a:p>
            <a:pPr eaLnBrk="1" hangingPunct="1">
              <a:defRPr/>
            </a:pPr>
            <a:r>
              <a:rPr lang="en-GB" altLang="en-US" sz="2800" dirty="0"/>
              <a:t>Treating alcohol-related conditions cost the NHS approximately £2.7 billion in 2006/07, £3.5 bn in 2013-14 and 4.91 bn/yr in2025.</a:t>
            </a:r>
          </a:p>
          <a:p>
            <a:endParaRPr lang="en-GB" dirty="0"/>
          </a:p>
        </p:txBody>
      </p:sp>
    </p:spTree>
    <p:extLst>
      <p:ext uri="{BB962C8B-B14F-4D97-AF65-F5344CB8AC3E}">
        <p14:creationId xmlns:p14="http://schemas.microsoft.com/office/powerpoint/2010/main" val="2056855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US" dirty="0"/>
              <a:t>The findings from the INTERHEART study confirm:</a:t>
            </a:r>
            <a:endParaRPr lang="en-GB" dirty="0"/>
          </a:p>
        </p:txBody>
      </p:sp>
      <p:graphicFrame>
        <p:nvGraphicFramePr>
          <p:cNvPr id="5" name="Content Placeholder 2">
            <a:extLst>
              <a:ext uri="{FF2B5EF4-FFF2-40B4-BE49-F238E27FC236}">
                <a16:creationId xmlns:a16="http://schemas.microsoft.com/office/drawing/2014/main" id="{71D1AF4B-9DA9-4E45-B77F-A326B872AE3C}"/>
              </a:ext>
            </a:extLst>
          </p:cNvPr>
          <p:cNvGraphicFramePr>
            <a:graphicFrameLocks noGrp="1"/>
          </p:cNvGraphicFramePr>
          <p:nvPr>
            <p:ph idx="1"/>
            <p:extLst>
              <p:ext uri="{D42A27DB-BD31-4B8C-83A1-F6EECF244321}">
                <p14:modId xmlns:p14="http://schemas.microsoft.com/office/powerpoint/2010/main" val="315747523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090398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5911E3A-C35B-4EF7-A355-B84E9A14A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0" name="Group 9">
            <a:extLst>
              <a:ext uri="{FF2B5EF4-FFF2-40B4-BE49-F238E27FC236}">
                <a16:creationId xmlns:a16="http://schemas.microsoft.com/office/drawing/2014/main" id="{E21ADB3D-AD65-44B4-847D-5E90E90A5D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1" name="Freeform 5">
              <a:extLst>
                <a:ext uri="{FF2B5EF4-FFF2-40B4-BE49-F238E27FC236}">
                  <a16:creationId xmlns:a16="http://schemas.microsoft.com/office/drawing/2014/main" id="{CF580C70-814C-4845-B645-919BFFBD1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2" name="Freeform 6">
              <a:extLst>
                <a:ext uri="{FF2B5EF4-FFF2-40B4-BE49-F238E27FC236}">
                  <a16:creationId xmlns:a16="http://schemas.microsoft.com/office/drawing/2014/main" id="{34D7BF57-4CAA-45B2-9EF0-0AA1FCF70B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3" name="Freeform 7">
              <a:extLst>
                <a:ext uri="{FF2B5EF4-FFF2-40B4-BE49-F238E27FC236}">
                  <a16:creationId xmlns:a16="http://schemas.microsoft.com/office/drawing/2014/main" id="{7886F306-C03A-40C6-8FD5-DCE3D4595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4" name="Freeform 8">
              <a:extLst>
                <a:ext uri="{FF2B5EF4-FFF2-40B4-BE49-F238E27FC236}">
                  <a16:creationId xmlns:a16="http://schemas.microsoft.com/office/drawing/2014/main" id="{2FDC9A36-C7C3-47D7-A64E-ED25C47EC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 name="Freeform 9">
              <a:extLst>
                <a:ext uri="{FF2B5EF4-FFF2-40B4-BE49-F238E27FC236}">
                  <a16:creationId xmlns:a16="http://schemas.microsoft.com/office/drawing/2014/main" id="{BB19BC37-158A-43DC-9A9E-E45CC71954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6" name="Freeform 10">
              <a:extLst>
                <a:ext uri="{FF2B5EF4-FFF2-40B4-BE49-F238E27FC236}">
                  <a16:creationId xmlns:a16="http://schemas.microsoft.com/office/drawing/2014/main" id="{077654CC-108F-48D5-B5E9-437F164F52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 name="Freeform 11">
              <a:extLst>
                <a:ext uri="{FF2B5EF4-FFF2-40B4-BE49-F238E27FC236}">
                  <a16:creationId xmlns:a16="http://schemas.microsoft.com/office/drawing/2014/main" id="{A3CF3A63-1C1E-4E85-A78A-FDC16431E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8" name="Freeform 12">
              <a:extLst>
                <a:ext uri="{FF2B5EF4-FFF2-40B4-BE49-F238E27FC236}">
                  <a16:creationId xmlns:a16="http://schemas.microsoft.com/office/drawing/2014/main" id="{8740FC9A-72DD-4D9B-BA25-1CCED13524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9" name="Freeform 13">
              <a:extLst>
                <a:ext uri="{FF2B5EF4-FFF2-40B4-BE49-F238E27FC236}">
                  <a16:creationId xmlns:a16="http://schemas.microsoft.com/office/drawing/2014/main" id="{7FBF5743-F2AE-4D0D-BCD1-01F7686D0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20" name="Freeform 14">
              <a:extLst>
                <a:ext uri="{FF2B5EF4-FFF2-40B4-BE49-F238E27FC236}">
                  <a16:creationId xmlns:a16="http://schemas.microsoft.com/office/drawing/2014/main" id="{CED32316-D4F7-4795-BBE0-DEBB60E27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21" name="Freeform 15">
              <a:extLst>
                <a:ext uri="{FF2B5EF4-FFF2-40B4-BE49-F238E27FC236}">
                  <a16:creationId xmlns:a16="http://schemas.microsoft.com/office/drawing/2014/main" id="{583B23C9-B9B7-4E93-9538-CBE316F83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22" name="Freeform 16">
              <a:extLst>
                <a:ext uri="{FF2B5EF4-FFF2-40B4-BE49-F238E27FC236}">
                  <a16:creationId xmlns:a16="http://schemas.microsoft.com/office/drawing/2014/main" id="{5B144260-9F2C-4ADB-A37C-1CFB4B428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23" name="Freeform 17">
              <a:extLst>
                <a:ext uri="{FF2B5EF4-FFF2-40B4-BE49-F238E27FC236}">
                  <a16:creationId xmlns:a16="http://schemas.microsoft.com/office/drawing/2014/main" id="{53FF918D-79D3-4F55-A68C-0DD5880DA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24" name="Freeform 18">
              <a:extLst>
                <a:ext uri="{FF2B5EF4-FFF2-40B4-BE49-F238E27FC236}">
                  <a16:creationId xmlns:a16="http://schemas.microsoft.com/office/drawing/2014/main" id="{B9FC1440-933F-44FE-8D77-4827DD0F99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25" name="Freeform 19">
              <a:extLst>
                <a:ext uri="{FF2B5EF4-FFF2-40B4-BE49-F238E27FC236}">
                  <a16:creationId xmlns:a16="http://schemas.microsoft.com/office/drawing/2014/main" id="{0F67F308-A67C-4D2E-B081-59BB31D8E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26" name="Freeform 20">
              <a:extLst>
                <a:ext uri="{FF2B5EF4-FFF2-40B4-BE49-F238E27FC236}">
                  <a16:creationId xmlns:a16="http://schemas.microsoft.com/office/drawing/2014/main" id="{80112F01-90EB-4AEC-A39C-5C6875FFB9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27" name="Freeform 21">
              <a:extLst>
                <a:ext uri="{FF2B5EF4-FFF2-40B4-BE49-F238E27FC236}">
                  <a16:creationId xmlns:a16="http://schemas.microsoft.com/office/drawing/2014/main" id="{893F6B05-90EB-4C75-A0F0-C7247553BD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28" name="Freeform 22">
              <a:extLst>
                <a:ext uri="{FF2B5EF4-FFF2-40B4-BE49-F238E27FC236}">
                  <a16:creationId xmlns:a16="http://schemas.microsoft.com/office/drawing/2014/main" id="{227B563B-E0C0-4D81-966D-B5E2DBAAE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29" name="Freeform 23">
              <a:extLst>
                <a:ext uri="{FF2B5EF4-FFF2-40B4-BE49-F238E27FC236}">
                  <a16:creationId xmlns:a16="http://schemas.microsoft.com/office/drawing/2014/main" id="{130DF93D-D1FF-477A-BDCE-C8B01C3B4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30" name="Freeform 24">
              <a:extLst>
                <a:ext uri="{FF2B5EF4-FFF2-40B4-BE49-F238E27FC236}">
                  <a16:creationId xmlns:a16="http://schemas.microsoft.com/office/drawing/2014/main" id="{44ED67A1-C6FE-4AC8-8473-11DAC03DCD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31" name="Freeform 25">
              <a:extLst>
                <a:ext uri="{FF2B5EF4-FFF2-40B4-BE49-F238E27FC236}">
                  <a16:creationId xmlns:a16="http://schemas.microsoft.com/office/drawing/2014/main" id="{213A54F3-15FA-4C8F-8ABF-CE77E7219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grpSp>
      <p:grpSp>
        <p:nvGrpSpPr>
          <p:cNvPr id="33" name="Group 32">
            <a:extLst>
              <a:ext uri="{FF2B5EF4-FFF2-40B4-BE49-F238E27FC236}">
                <a16:creationId xmlns:a16="http://schemas.microsoft.com/office/drawing/2014/main" id="{5F8A7F7F-DD1A-4F41-98AC-B9CE2A620C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34" name="Rectangle 33">
              <a:extLst>
                <a:ext uri="{FF2B5EF4-FFF2-40B4-BE49-F238E27FC236}">
                  <a16:creationId xmlns:a16="http://schemas.microsoft.com/office/drawing/2014/main" id="{CEF47228-EB7C-4EBA-BE01-DA6CB24102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5" name="Isosceles Triangle 22">
              <a:extLst>
                <a:ext uri="{FF2B5EF4-FFF2-40B4-BE49-F238E27FC236}">
                  <a16:creationId xmlns:a16="http://schemas.microsoft.com/office/drawing/2014/main" id="{3D2FD25A-EFFD-4F5C-9258-981F5907DE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6" name="Rectangle 35">
              <a:extLst>
                <a:ext uri="{FF2B5EF4-FFF2-40B4-BE49-F238E27FC236}">
                  <a16:creationId xmlns:a16="http://schemas.microsoft.com/office/drawing/2014/main" id="{DCF573BC-A06F-4036-A3A8-9D07DDE622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grpSp>
      <p:sp>
        <p:nvSpPr>
          <p:cNvPr id="2" name="Title 1"/>
          <p:cNvSpPr>
            <a:spLocks noGrp="1"/>
          </p:cNvSpPr>
          <p:nvPr>
            <p:ph type="title"/>
          </p:nvPr>
        </p:nvSpPr>
        <p:spPr>
          <a:xfrm>
            <a:off x="904877" y="2415322"/>
            <a:ext cx="3451730" cy="2399869"/>
          </a:xfrm>
        </p:spPr>
        <p:txBody>
          <a:bodyPr>
            <a:normAutofit/>
          </a:bodyPr>
          <a:lstStyle/>
          <a:p>
            <a:pPr algn="ctr"/>
            <a:r>
              <a:rPr lang="en-US" sz="4000" dirty="0">
                <a:solidFill>
                  <a:srgbClr val="FFFFFF"/>
                </a:solidFill>
              </a:rPr>
              <a:t>Public health strategies for CVD prevention and care</a:t>
            </a:r>
            <a:endParaRPr lang="en-GB" sz="4000" dirty="0">
              <a:solidFill>
                <a:srgbClr val="FFFFFF"/>
              </a:solidFill>
            </a:endParaRPr>
          </a:p>
        </p:txBody>
      </p:sp>
      <p:sp>
        <p:nvSpPr>
          <p:cNvPr id="3" name="Content Placeholder 2"/>
          <p:cNvSpPr>
            <a:spLocks noGrp="1"/>
          </p:cNvSpPr>
          <p:nvPr>
            <p:ph idx="1"/>
          </p:nvPr>
        </p:nvSpPr>
        <p:spPr>
          <a:xfrm>
            <a:off x="5120640" y="804672"/>
            <a:ext cx="6281928" cy="5248656"/>
          </a:xfrm>
        </p:spPr>
        <p:txBody>
          <a:bodyPr anchor="ctr">
            <a:normAutofit/>
          </a:bodyPr>
          <a:lstStyle/>
          <a:p>
            <a:pPr lvl="1">
              <a:buFont typeface="Arial" panose="020B0604020202020204" pitchFamily="34" charset="0"/>
              <a:buChar char="•"/>
            </a:pPr>
            <a:r>
              <a:rPr lang="en-US" sz="2000" dirty="0"/>
              <a:t>Improve prevention and risk management</a:t>
            </a:r>
          </a:p>
          <a:p>
            <a:pPr lvl="1">
              <a:buFont typeface="Arial" panose="020B0604020202020204" pitchFamily="34" charset="0"/>
              <a:buChar char="•"/>
            </a:pPr>
            <a:r>
              <a:rPr lang="en-US" sz="2000" dirty="0"/>
              <a:t>Improving and enhancing case finding in primary care</a:t>
            </a:r>
          </a:p>
          <a:p>
            <a:pPr lvl="1">
              <a:buFont typeface="Arial" panose="020B0604020202020204" pitchFamily="34" charset="0"/>
              <a:buChar char="•"/>
            </a:pPr>
            <a:r>
              <a:rPr lang="en-US" sz="2000" dirty="0"/>
              <a:t>Better identification of very high risk families/individuals</a:t>
            </a:r>
          </a:p>
          <a:p>
            <a:pPr lvl="1">
              <a:buFont typeface="Arial" panose="020B0604020202020204" pitchFamily="34" charset="0"/>
              <a:buChar char="•"/>
            </a:pPr>
            <a:r>
              <a:rPr lang="en-US" sz="2000" dirty="0"/>
              <a:t>Better early management and secondary prevention in the community</a:t>
            </a:r>
          </a:p>
          <a:p>
            <a:pPr lvl="1">
              <a:buFont typeface="Arial" panose="020B0604020202020204" pitchFamily="34" charset="0"/>
              <a:buChar char="•"/>
            </a:pPr>
            <a:r>
              <a:rPr lang="en-US" sz="2000" dirty="0"/>
              <a:t>Improve acute care</a:t>
            </a:r>
          </a:p>
          <a:p>
            <a:pPr lvl="1">
              <a:buFont typeface="Arial" panose="020B0604020202020204" pitchFamily="34" charset="0"/>
              <a:buChar char="•"/>
            </a:pPr>
            <a:r>
              <a:rPr lang="en-US" sz="2000" dirty="0"/>
              <a:t>Improve care for patients living with CVD</a:t>
            </a:r>
          </a:p>
          <a:p>
            <a:pPr lvl="1">
              <a:buFont typeface="Arial" panose="020B0604020202020204" pitchFamily="34" charset="0"/>
              <a:buChar char="•"/>
            </a:pPr>
            <a:r>
              <a:rPr lang="en-US" sz="2000" dirty="0"/>
              <a:t>Improve end of life care for patients with CVD</a:t>
            </a:r>
          </a:p>
          <a:p>
            <a:pPr lvl="1">
              <a:buFont typeface="Arial" panose="020B0604020202020204" pitchFamily="34" charset="0"/>
              <a:buChar char="•"/>
            </a:pPr>
            <a:r>
              <a:rPr lang="en-US" sz="2000" dirty="0"/>
              <a:t>Improve intelligence, monitoring and research and support commissioning</a:t>
            </a:r>
          </a:p>
          <a:p>
            <a:endParaRPr lang="en-GB" sz="2000" dirty="0"/>
          </a:p>
        </p:txBody>
      </p:sp>
    </p:spTree>
    <p:extLst>
      <p:ext uri="{BB962C8B-B14F-4D97-AF65-F5344CB8AC3E}">
        <p14:creationId xmlns:p14="http://schemas.microsoft.com/office/powerpoint/2010/main" val="33151687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24000" y="381000"/>
            <a:ext cx="9144000" cy="6096000"/>
          </a:xfrm>
          <a:prstGeom prst="rect">
            <a:avLst/>
          </a:prstGeom>
        </p:spPr>
      </p:pic>
    </p:spTree>
    <p:extLst>
      <p:ext uri="{BB962C8B-B14F-4D97-AF65-F5344CB8AC3E}">
        <p14:creationId xmlns:p14="http://schemas.microsoft.com/office/powerpoint/2010/main" val="35343754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FA67CD3-AB4E-4A7A-BEB8-53C445D8C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26"/>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07CF545F-9C2E-4446-97CD-AD92990C2B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094105" y="802956"/>
            <a:ext cx="4977976" cy="362167"/>
          </a:xfrm>
        </p:spPr>
        <p:txBody>
          <a:bodyPr>
            <a:normAutofit fontScale="90000"/>
          </a:bodyPr>
          <a:lstStyle/>
          <a:p>
            <a:r>
              <a:rPr lang="en-US" dirty="0">
                <a:solidFill>
                  <a:srgbClr val="000000"/>
                </a:solidFill>
              </a:rPr>
              <a:t>Primary Prevention</a:t>
            </a:r>
            <a:endParaRPr lang="en-GB" dirty="0">
              <a:solidFill>
                <a:srgbClr val="000000"/>
              </a:solidFill>
            </a:endParaRPr>
          </a:p>
        </p:txBody>
      </p:sp>
      <p:sp>
        <p:nvSpPr>
          <p:cNvPr id="14" name="Freeform 62">
            <a:extLst>
              <a:ext uri="{FF2B5EF4-FFF2-40B4-BE49-F238E27FC236}">
                <a16:creationId xmlns:a16="http://schemas.microsoft.com/office/drawing/2014/main" id="{339C8D78-A644-462F-B674-F440635E5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85000"/>
                  </a:schemeClr>
                </a:gs>
                <a:gs pos="100000">
                  <a:schemeClr val="bg2">
                    <a:lumMod val="8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7" name="Graphic 6" descr="Medical">
            <a:extLst>
              <a:ext uri="{FF2B5EF4-FFF2-40B4-BE49-F238E27FC236}">
                <a16:creationId xmlns:a16="http://schemas.microsoft.com/office/drawing/2014/main" id="{1273F5F8-4715-45AE-B1C4-625DA050250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0254" y="1629089"/>
            <a:ext cx="3620021" cy="3620021"/>
          </a:xfrm>
          <a:prstGeom prst="rect">
            <a:avLst/>
          </a:prstGeom>
        </p:spPr>
      </p:pic>
      <p:sp>
        <p:nvSpPr>
          <p:cNvPr id="3" name="Content Placeholder 2"/>
          <p:cNvSpPr>
            <a:spLocks noGrp="1"/>
          </p:cNvSpPr>
          <p:nvPr>
            <p:ph idx="1"/>
          </p:nvPr>
        </p:nvSpPr>
        <p:spPr>
          <a:xfrm>
            <a:off x="5614876" y="1356853"/>
            <a:ext cx="6126870" cy="5250424"/>
          </a:xfrm>
        </p:spPr>
        <p:txBody>
          <a:bodyPr anchor="ctr">
            <a:normAutofit lnSpcReduction="10000"/>
          </a:bodyPr>
          <a:lstStyle/>
          <a:p>
            <a:pPr lvl="1">
              <a:buFont typeface="Arial" panose="020B0604020202020204" pitchFamily="34" charset="0"/>
              <a:buChar char="•"/>
            </a:pPr>
            <a:r>
              <a:rPr lang="en-US" dirty="0">
                <a:solidFill>
                  <a:srgbClr val="000000"/>
                </a:solidFill>
              </a:rPr>
              <a:t>Aims at reducing risk behaviours and identification of high risk individuals prior to development of CHD</a:t>
            </a:r>
          </a:p>
          <a:p>
            <a:pPr lvl="1">
              <a:buFont typeface="Arial" panose="020B0604020202020204" pitchFamily="34" charset="0"/>
              <a:buChar char="•"/>
            </a:pPr>
            <a:r>
              <a:rPr lang="en-US" dirty="0">
                <a:solidFill>
                  <a:srgbClr val="000000"/>
                </a:solidFill>
              </a:rPr>
              <a:t>Improve maternal nutrition to increase birth weight</a:t>
            </a:r>
          </a:p>
          <a:p>
            <a:pPr lvl="1">
              <a:buFont typeface="Arial" panose="020B0604020202020204" pitchFamily="34" charset="0"/>
              <a:buChar char="•"/>
            </a:pPr>
            <a:r>
              <a:rPr lang="en-US" dirty="0">
                <a:solidFill>
                  <a:srgbClr val="000000"/>
                </a:solidFill>
              </a:rPr>
              <a:t>Adopt prevention strategies from childhood; i.e. encourage children not to take up smoking, engage in physical activity</a:t>
            </a:r>
          </a:p>
          <a:p>
            <a:pPr lvl="1">
              <a:buFont typeface="Arial" panose="020B0604020202020204" pitchFamily="34" charset="0"/>
              <a:buChar char="•"/>
            </a:pPr>
            <a:r>
              <a:rPr lang="en-US" dirty="0">
                <a:solidFill>
                  <a:srgbClr val="000000"/>
                </a:solidFill>
              </a:rPr>
              <a:t>Give help to smokers to stop or reduce smoking</a:t>
            </a:r>
          </a:p>
          <a:p>
            <a:pPr lvl="1">
              <a:buFont typeface="Arial" panose="020B0604020202020204" pitchFamily="34" charset="0"/>
              <a:buChar char="•"/>
            </a:pPr>
            <a:r>
              <a:rPr lang="en-US" dirty="0">
                <a:solidFill>
                  <a:srgbClr val="000000"/>
                </a:solidFill>
              </a:rPr>
              <a:t>Promote healthy diets</a:t>
            </a:r>
          </a:p>
          <a:p>
            <a:pPr lvl="1">
              <a:buFont typeface="Arial" panose="020B0604020202020204" pitchFamily="34" charset="0"/>
              <a:buChar char="•"/>
            </a:pPr>
            <a:r>
              <a:rPr lang="en-US" dirty="0">
                <a:solidFill>
                  <a:srgbClr val="000000"/>
                </a:solidFill>
              </a:rPr>
              <a:t>Encourage physical activity</a:t>
            </a:r>
          </a:p>
          <a:p>
            <a:pPr lvl="1">
              <a:buFont typeface="Arial" panose="020B0604020202020204" pitchFamily="34" charset="0"/>
              <a:buChar char="•"/>
            </a:pPr>
            <a:r>
              <a:rPr lang="en-US" dirty="0">
                <a:solidFill>
                  <a:srgbClr val="000000"/>
                </a:solidFill>
              </a:rPr>
              <a:t>Reduce stress</a:t>
            </a:r>
          </a:p>
          <a:p>
            <a:pPr lvl="1">
              <a:buFont typeface="Arial" panose="020B0604020202020204" pitchFamily="34" charset="0"/>
              <a:buChar char="•"/>
            </a:pPr>
            <a:r>
              <a:rPr lang="en-US" dirty="0">
                <a:solidFill>
                  <a:srgbClr val="000000"/>
                </a:solidFill>
              </a:rPr>
              <a:t>Improve personal control</a:t>
            </a:r>
          </a:p>
          <a:p>
            <a:endParaRPr lang="en-GB" sz="1600" dirty="0">
              <a:solidFill>
                <a:srgbClr val="000000"/>
              </a:solidFill>
            </a:endParaRPr>
          </a:p>
        </p:txBody>
      </p:sp>
    </p:spTree>
    <p:extLst>
      <p:ext uri="{BB962C8B-B14F-4D97-AF65-F5344CB8AC3E}">
        <p14:creationId xmlns:p14="http://schemas.microsoft.com/office/powerpoint/2010/main" val="25626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FA67CD3-AB4E-4A7A-BEB8-53C445D8C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26"/>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07CF545F-9C2E-4446-97CD-AD92990C2B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094105" y="802955"/>
            <a:ext cx="4977976" cy="1454051"/>
          </a:xfrm>
        </p:spPr>
        <p:txBody>
          <a:bodyPr>
            <a:normAutofit/>
          </a:bodyPr>
          <a:lstStyle/>
          <a:p>
            <a:r>
              <a:rPr lang="en-GB" dirty="0">
                <a:solidFill>
                  <a:srgbClr val="000000"/>
                </a:solidFill>
              </a:rPr>
              <a:t>Secondary Prevention</a:t>
            </a:r>
          </a:p>
        </p:txBody>
      </p:sp>
      <p:sp>
        <p:nvSpPr>
          <p:cNvPr id="14" name="Freeform 62">
            <a:extLst>
              <a:ext uri="{FF2B5EF4-FFF2-40B4-BE49-F238E27FC236}">
                <a16:creationId xmlns:a16="http://schemas.microsoft.com/office/drawing/2014/main" id="{339C8D78-A644-462F-B674-F440635E5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85000"/>
                  </a:schemeClr>
                </a:gs>
                <a:gs pos="100000">
                  <a:schemeClr val="bg2">
                    <a:lumMod val="8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7" name="Graphic 6" descr="Stethoscope">
            <a:extLst>
              <a:ext uri="{FF2B5EF4-FFF2-40B4-BE49-F238E27FC236}">
                <a16:creationId xmlns:a16="http://schemas.microsoft.com/office/drawing/2014/main" id="{642E6A80-2EDE-4747-ACC7-1ABC3C114BB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0254" y="1629089"/>
            <a:ext cx="3620021" cy="3620021"/>
          </a:xfrm>
          <a:prstGeom prst="rect">
            <a:avLst/>
          </a:prstGeom>
        </p:spPr>
      </p:pic>
      <p:sp>
        <p:nvSpPr>
          <p:cNvPr id="3" name="Content Placeholder 2"/>
          <p:cNvSpPr>
            <a:spLocks noGrp="1"/>
          </p:cNvSpPr>
          <p:nvPr>
            <p:ph idx="1"/>
          </p:nvPr>
        </p:nvSpPr>
        <p:spPr>
          <a:xfrm>
            <a:off x="6090574" y="2421682"/>
            <a:ext cx="4977578" cy="3639289"/>
          </a:xfrm>
        </p:spPr>
        <p:txBody>
          <a:bodyPr anchor="ctr">
            <a:normAutofit/>
          </a:bodyPr>
          <a:lstStyle/>
          <a:p>
            <a:pPr marL="0" indent="0">
              <a:buNone/>
            </a:pPr>
            <a:r>
              <a:rPr lang="en-US" dirty="0">
                <a:solidFill>
                  <a:srgbClr val="000000"/>
                </a:solidFill>
              </a:rPr>
              <a:t>Identification of individuals at high risk:</a:t>
            </a:r>
          </a:p>
          <a:p>
            <a:pPr lvl="1">
              <a:buFont typeface="Arial" panose="020B0604020202020204" pitchFamily="34" charset="0"/>
              <a:buChar char="•"/>
            </a:pPr>
            <a:r>
              <a:rPr lang="en-US" sz="2800" dirty="0">
                <a:solidFill>
                  <a:srgbClr val="000000"/>
                </a:solidFill>
              </a:rPr>
              <a:t>Provide screening for high risk people</a:t>
            </a:r>
          </a:p>
          <a:p>
            <a:pPr lvl="1">
              <a:buFont typeface="Arial" panose="020B0604020202020204" pitchFamily="34" charset="0"/>
              <a:buChar char="•"/>
            </a:pPr>
            <a:r>
              <a:rPr lang="en-US" sz="2800" dirty="0">
                <a:solidFill>
                  <a:srgbClr val="000000"/>
                </a:solidFill>
              </a:rPr>
              <a:t>Encourage cessation of smoking, healthy diets and appropriate exercise</a:t>
            </a:r>
            <a:endParaRPr lang="en-GB" sz="2800" dirty="0">
              <a:solidFill>
                <a:srgbClr val="000000"/>
              </a:solidFill>
            </a:endParaRPr>
          </a:p>
          <a:p>
            <a:pPr lvl="1">
              <a:buFont typeface="Arial" panose="020B0604020202020204" pitchFamily="34" charset="0"/>
              <a:buChar char="•"/>
            </a:pPr>
            <a:endParaRPr lang="en-GB" sz="2000" dirty="0">
              <a:solidFill>
                <a:srgbClr val="000000"/>
              </a:solidFill>
            </a:endParaRPr>
          </a:p>
        </p:txBody>
      </p:sp>
    </p:spTree>
    <p:extLst>
      <p:ext uri="{BB962C8B-B14F-4D97-AF65-F5344CB8AC3E}">
        <p14:creationId xmlns:p14="http://schemas.microsoft.com/office/powerpoint/2010/main" val="10799751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US" dirty="0"/>
              <a:t>Tertiary Prevention</a:t>
            </a:r>
            <a:endParaRPr lang="en-GB" dirty="0"/>
          </a:p>
        </p:txBody>
      </p:sp>
      <p:graphicFrame>
        <p:nvGraphicFramePr>
          <p:cNvPr id="5" name="Content Placeholder 2">
            <a:extLst>
              <a:ext uri="{FF2B5EF4-FFF2-40B4-BE49-F238E27FC236}">
                <a16:creationId xmlns:a16="http://schemas.microsoft.com/office/drawing/2014/main" id="{7704A07A-D357-41B5-BB93-89569ECF4BB7}"/>
              </a:ext>
            </a:extLst>
          </p:cNvPr>
          <p:cNvGraphicFramePr>
            <a:graphicFrameLocks noGrp="1"/>
          </p:cNvGraphicFramePr>
          <p:nvPr>
            <p:ph idx="1"/>
            <p:extLst>
              <p:ext uri="{D42A27DB-BD31-4B8C-83A1-F6EECF244321}">
                <p14:modId xmlns:p14="http://schemas.microsoft.com/office/powerpoint/2010/main" val="233127913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037014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NHS Health Checks</a:t>
            </a:r>
            <a:endParaRPr lang="en-GB" dirty="0"/>
          </a:p>
        </p:txBody>
      </p:sp>
      <p:sp>
        <p:nvSpPr>
          <p:cNvPr id="3" name="Content Placeholder 2"/>
          <p:cNvSpPr>
            <a:spLocks noGrp="1"/>
          </p:cNvSpPr>
          <p:nvPr>
            <p:ph idx="1"/>
          </p:nvPr>
        </p:nvSpPr>
        <p:spPr/>
        <p:txBody>
          <a:bodyPr>
            <a:normAutofit lnSpcReduction="10000"/>
          </a:bodyPr>
          <a:lstStyle/>
          <a:p>
            <a:r>
              <a:rPr lang="en-US" dirty="0"/>
              <a:t>The NHS Health Check programme is a national risk assessment, awareness and management programme </a:t>
            </a:r>
          </a:p>
          <a:p>
            <a:r>
              <a:rPr lang="en-US" dirty="0"/>
              <a:t>Systematically targets the top seven causes of preventable deaths: </a:t>
            </a:r>
          </a:p>
          <a:p>
            <a:r>
              <a:rPr lang="en-US" dirty="0"/>
              <a:t>high blood pressure, </a:t>
            </a:r>
          </a:p>
          <a:p>
            <a:r>
              <a:rPr lang="en-US" dirty="0"/>
              <a:t>smoking,</a:t>
            </a:r>
          </a:p>
          <a:p>
            <a:r>
              <a:rPr lang="en-US" dirty="0"/>
              <a:t>high cholesterol, </a:t>
            </a:r>
          </a:p>
          <a:p>
            <a:r>
              <a:rPr lang="en-US" b="1" dirty="0"/>
              <a:t>obesity, </a:t>
            </a:r>
          </a:p>
          <a:p>
            <a:r>
              <a:rPr lang="en-US" b="1" dirty="0"/>
              <a:t>poor diet</a:t>
            </a:r>
            <a:r>
              <a:rPr lang="en-US" dirty="0"/>
              <a:t>, </a:t>
            </a:r>
          </a:p>
          <a:p>
            <a:r>
              <a:rPr lang="en-US" b="1" dirty="0"/>
              <a:t>physical inactivity </a:t>
            </a:r>
            <a:r>
              <a:rPr lang="en-US" dirty="0"/>
              <a:t>and alcohol consumption  </a:t>
            </a:r>
          </a:p>
        </p:txBody>
      </p:sp>
      <p:sp>
        <p:nvSpPr>
          <p:cNvPr id="4" name="TextBox 3"/>
          <p:cNvSpPr txBox="1"/>
          <p:nvPr/>
        </p:nvSpPr>
        <p:spPr>
          <a:xfrm>
            <a:off x="9851366" y="6176963"/>
            <a:ext cx="1502434" cy="461665"/>
          </a:xfrm>
          <a:prstGeom prst="rect">
            <a:avLst/>
          </a:prstGeom>
          <a:noFill/>
        </p:spPr>
        <p:txBody>
          <a:bodyPr wrap="square" rtlCol="0">
            <a:spAutoFit/>
          </a:bodyPr>
          <a:lstStyle/>
          <a:p>
            <a:r>
              <a:rPr lang="en-US" sz="2400" dirty="0"/>
              <a:t> </a:t>
            </a:r>
            <a:r>
              <a:rPr lang="en-US" dirty="0"/>
              <a:t>(DH,2014)</a:t>
            </a:r>
            <a:endParaRPr lang="en-GB" dirty="0"/>
          </a:p>
        </p:txBody>
      </p:sp>
    </p:spTree>
    <p:extLst>
      <p:ext uri="{BB962C8B-B14F-4D97-AF65-F5344CB8AC3E}">
        <p14:creationId xmlns:p14="http://schemas.microsoft.com/office/powerpoint/2010/main" val="31001112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9D12B31-3F6D-4A76-B749-1D87D3D620F0}"/>
              </a:ext>
            </a:extLst>
          </p:cNvPr>
          <p:cNvSpPr/>
          <p:nvPr/>
        </p:nvSpPr>
        <p:spPr>
          <a:xfrm>
            <a:off x="887104" y="1720839"/>
            <a:ext cx="10297236" cy="5109091"/>
          </a:xfrm>
          <a:prstGeom prst="rect">
            <a:avLst/>
          </a:prstGeom>
        </p:spPr>
        <p:txBody>
          <a:bodyPr wrap="square">
            <a:spAutoFit/>
          </a:bodyPr>
          <a:lstStyle/>
          <a:p>
            <a:pPr marL="457200" lvl="0" indent="-457200">
              <a:buFont typeface="Arial" panose="020B0604020202020204" pitchFamily="34" charset="0"/>
              <a:buChar char="•"/>
            </a:pPr>
            <a:r>
              <a:rPr lang="en-US" sz="2800" dirty="0"/>
              <a:t>The main aim of the NHS Health Check is to prevent heart disease, stroke, diabetes and kidney disease, and raise awareness of dementia both across the population and within high risk and vulnerable groups (DH, 2014)</a:t>
            </a:r>
          </a:p>
          <a:p>
            <a:pPr marL="457200" lvl="0" indent="-457200">
              <a:buFont typeface="Arial" panose="020B0604020202020204" pitchFamily="34" charset="0"/>
              <a:buChar char="•"/>
            </a:pPr>
            <a:endParaRPr lang="en-US" sz="2800" dirty="0"/>
          </a:p>
          <a:p>
            <a:pPr marL="457200" lvl="0" indent="-457200">
              <a:buFont typeface="Arial" panose="020B0604020202020204" pitchFamily="34" charset="0"/>
              <a:buChar char="•"/>
            </a:pPr>
            <a:r>
              <a:rPr lang="en-US" sz="2800" dirty="0"/>
              <a:t>DH set targets and vascular checks guidance, to identify those people at risk of cardiovascular disease but who have not yet developed symptoms. </a:t>
            </a:r>
          </a:p>
          <a:p>
            <a:pPr marL="457200" lvl="0" indent="-457200">
              <a:buFont typeface="Arial" panose="020B0604020202020204" pitchFamily="34" charset="0"/>
              <a:buChar char="•"/>
            </a:pPr>
            <a:endParaRPr lang="en-US" sz="2800" dirty="0"/>
          </a:p>
          <a:p>
            <a:pPr marL="457200" lvl="0" indent="-457200">
              <a:buFont typeface="Arial" panose="020B0604020202020204" pitchFamily="34" charset="0"/>
              <a:buChar char="•"/>
            </a:pPr>
            <a:r>
              <a:rPr lang="en-US" sz="2800" dirty="0"/>
              <a:t>Once identified, appropriate advice and treatment should be offered</a:t>
            </a:r>
          </a:p>
          <a:p>
            <a:pPr lvl="0" algn="r">
              <a:buNone/>
            </a:pPr>
            <a:r>
              <a:rPr lang="en-US" sz="1400" dirty="0"/>
              <a:t>(DH 2008, 2009</a:t>
            </a:r>
            <a:r>
              <a:rPr lang="en-US" dirty="0"/>
              <a:t>)</a:t>
            </a:r>
            <a:endParaRPr lang="en-GB" dirty="0"/>
          </a:p>
        </p:txBody>
      </p:sp>
      <p:pic>
        <p:nvPicPr>
          <p:cNvPr id="3" name="Picture 2">
            <a:extLst>
              <a:ext uri="{FF2B5EF4-FFF2-40B4-BE49-F238E27FC236}">
                <a16:creationId xmlns:a16="http://schemas.microsoft.com/office/drawing/2014/main" id="{8829F0AD-DBDC-459B-B0AD-82F246FE0476}"/>
              </a:ext>
            </a:extLst>
          </p:cNvPr>
          <p:cNvPicPr>
            <a:picLocks noChangeAspect="1"/>
          </p:cNvPicPr>
          <p:nvPr/>
        </p:nvPicPr>
        <p:blipFill>
          <a:blip r:embed="rId2"/>
          <a:stretch>
            <a:fillRect/>
          </a:stretch>
        </p:blipFill>
        <p:spPr>
          <a:xfrm>
            <a:off x="1906805" y="290458"/>
            <a:ext cx="4529721" cy="1322947"/>
          </a:xfrm>
          <a:prstGeom prst="rect">
            <a:avLst/>
          </a:prstGeom>
        </p:spPr>
      </p:pic>
    </p:spTree>
    <p:extLst>
      <p:ext uri="{BB962C8B-B14F-4D97-AF65-F5344CB8AC3E}">
        <p14:creationId xmlns:p14="http://schemas.microsoft.com/office/powerpoint/2010/main" val="6814789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F9819-35F7-867E-D805-22D14F553489}"/>
              </a:ext>
            </a:extLst>
          </p:cNvPr>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b="100000"/>
            </a:path>
            <a:tileRect t="-100000" r="-100000"/>
          </a:gradFill>
        </p:spPr>
        <p:txBody>
          <a:bodyPr/>
          <a:lstStyle/>
          <a:p>
            <a:r>
              <a:rPr lang="en-US" dirty="0">
                <a:solidFill>
                  <a:srgbClr val="3F3F3F"/>
                </a:solidFill>
              </a:rPr>
              <a:t>NHS Health Checks </a:t>
            </a:r>
            <a:r>
              <a:rPr lang="en-GB" dirty="0">
                <a:solidFill>
                  <a:srgbClr val="3F3F3F"/>
                </a:solidFill>
              </a:rPr>
              <a:t>(NHSHC)</a:t>
            </a:r>
            <a:endParaRPr lang="en-001"/>
          </a:p>
        </p:txBody>
      </p:sp>
      <p:sp>
        <p:nvSpPr>
          <p:cNvPr id="3" name="Content Placeholder 2">
            <a:extLst>
              <a:ext uri="{FF2B5EF4-FFF2-40B4-BE49-F238E27FC236}">
                <a16:creationId xmlns:a16="http://schemas.microsoft.com/office/drawing/2014/main" id="{CC763F35-80A4-431B-EAA0-242ECF23187B}"/>
              </a:ext>
            </a:extLst>
          </p:cNvPr>
          <p:cNvSpPr>
            <a:spLocks noGrp="1"/>
          </p:cNvSpPr>
          <p:nvPr>
            <p:ph sz="half" idx="1"/>
          </p:nvPr>
        </p:nvSpPr>
        <p:spPr/>
        <p:txBody>
          <a:bodyPr/>
          <a:lstStyle/>
          <a:p>
            <a:r>
              <a:rPr lang="en-US" dirty="0"/>
              <a:t>NHSHC was rolled out across England in 2009 to identify high risk individuals by screening two million people a year (DH, 2008)</a:t>
            </a:r>
          </a:p>
          <a:p>
            <a:r>
              <a:rPr lang="en-US" dirty="0"/>
              <a:t>NHSHC program intended as largest systematic prevention program in the world</a:t>
            </a:r>
          </a:p>
          <a:p>
            <a:r>
              <a:rPr lang="en-US" dirty="0"/>
              <a:t>Requires evidence</a:t>
            </a:r>
            <a:endParaRPr lang="en-GB" dirty="0"/>
          </a:p>
          <a:p>
            <a:endParaRPr lang="en-001"/>
          </a:p>
        </p:txBody>
      </p:sp>
      <p:sp>
        <p:nvSpPr>
          <p:cNvPr id="4" name="Content Placeholder 3">
            <a:extLst>
              <a:ext uri="{FF2B5EF4-FFF2-40B4-BE49-F238E27FC236}">
                <a16:creationId xmlns:a16="http://schemas.microsoft.com/office/drawing/2014/main" id="{38CB2043-5897-9411-98ED-5B67A39A40E8}"/>
              </a:ext>
            </a:extLst>
          </p:cNvPr>
          <p:cNvSpPr>
            <a:spLocks noGrp="1"/>
          </p:cNvSpPr>
          <p:nvPr>
            <p:ph sz="half" idx="2"/>
          </p:nvPr>
        </p:nvSpPr>
        <p:spPr/>
        <p:txBody>
          <a:bodyPr/>
          <a:lstStyle/>
          <a:p>
            <a:r>
              <a:rPr lang="en-US" dirty="0"/>
              <a:t>NHSHC was rolled out across England in 2009 to identify high risk individuals by screening two million people a year (DH, 2008)</a:t>
            </a:r>
          </a:p>
          <a:p>
            <a:r>
              <a:rPr lang="en-US" dirty="0"/>
              <a:t>NHSHC program intended as largest systematic prevention program in the world</a:t>
            </a:r>
          </a:p>
          <a:p>
            <a:r>
              <a:rPr lang="en-US" dirty="0"/>
              <a:t>Requires evidence</a:t>
            </a:r>
            <a:endParaRPr lang="en-GB" dirty="0"/>
          </a:p>
          <a:p>
            <a:endParaRPr lang="en-001"/>
          </a:p>
        </p:txBody>
      </p:sp>
    </p:spTree>
    <p:extLst>
      <p:ext uri="{BB962C8B-B14F-4D97-AF65-F5344CB8AC3E}">
        <p14:creationId xmlns:p14="http://schemas.microsoft.com/office/powerpoint/2010/main" val="11430231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invest in a prevention program? </a:t>
            </a:r>
            <a:endParaRPr lang="en-GB" dirty="0"/>
          </a:p>
        </p:txBody>
      </p:sp>
      <p:sp>
        <p:nvSpPr>
          <p:cNvPr id="4" name="Content Placeholder 3"/>
          <p:cNvSpPr>
            <a:spLocks noGrp="1"/>
          </p:cNvSpPr>
          <p:nvPr>
            <p:ph sz="half" idx="2"/>
          </p:nvPr>
        </p:nvSpPr>
        <p:spPr/>
        <p:txBody>
          <a:bodyPr>
            <a:normAutofit/>
          </a:bodyPr>
          <a:lstStyle/>
          <a:p>
            <a:pPr marL="0" indent="0">
              <a:buNone/>
            </a:pPr>
            <a:r>
              <a:rPr lang="en-GB" sz="1800" dirty="0"/>
              <a:t>	</a:t>
            </a:r>
          </a:p>
          <a:p>
            <a:endParaRPr lang="en-US" sz="1800" dirty="0"/>
          </a:p>
          <a:p>
            <a:endParaRPr lang="en-US" dirty="0"/>
          </a:p>
          <a:p>
            <a:endParaRPr lang="en-GB" dirty="0"/>
          </a:p>
        </p:txBody>
      </p:sp>
      <p:sp>
        <p:nvSpPr>
          <p:cNvPr id="3" name="Content Placeholder 2"/>
          <p:cNvSpPr>
            <a:spLocks noGrp="1"/>
          </p:cNvSpPr>
          <p:nvPr>
            <p:ph sz="half" idx="1"/>
          </p:nvPr>
        </p:nvSpPr>
        <p:spPr>
          <a:xfrm>
            <a:off x="838200" y="1825625"/>
            <a:ext cx="3733800" cy="4351338"/>
          </a:xfrm>
        </p:spPr>
        <p:txBody>
          <a:bodyPr>
            <a:normAutofit/>
          </a:bodyPr>
          <a:lstStyle/>
          <a:p>
            <a:r>
              <a:rPr lang="en-US" sz="2000" dirty="0"/>
              <a:t>Death rate from cardiovascular diseases </a:t>
            </a:r>
            <a:r>
              <a:rPr lang="en-US" sz="2000" b="1" dirty="0"/>
              <a:t>used </a:t>
            </a:r>
            <a:r>
              <a:rPr lang="en-US" sz="2000" dirty="0"/>
              <a:t>(Coronary Heart Statistics 2000, DH 2013) used to be the number one cause of death in UK</a:t>
            </a:r>
          </a:p>
          <a:p>
            <a:r>
              <a:rPr lang="en-GB" sz="2000" dirty="0"/>
              <a:t>Heart and circulatory diseases cause more than a quarter (26 per cent) of all deaths in the UK:</a:t>
            </a:r>
          </a:p>
          <a:p>
            <a:r>
              <a:rPr lang="en-GB" sz="2000" dirty="0"/>
              <a:t>over 150,000 deaths each year</a:t>
            </a:r>
          </a:p>
          <a:p>
            <a:r>
              <a:rPr lang="en-GB" sz="2000" dirty="0"/>
              <a:t>average of 420 people each day</a:t>
            </a:r>
          </a:p>
          <a:p>
            <a:r>
              <a:rPr lang="en-GB" sz="2000" dirty="0"/>
              <a:t>one death every 3 mins.</a:t>
            </a:r>
            <a:endParaRPr lang="en-US" sz="2000" dirty="0"/>
          </a:p>
        </p:txBody>
      </p:sp>
      <p:pic>
        <p:nvPicPr>
          <p:cNvPr id="6" name="Picture 5"/>
          <p:cNvPicPr>
            <a:picLocks noChangeAspect="1"/>
          </p:cNvPicPr>
          <p:nvPr/>
        </p:nvPicPr>
        <p:blipFill>
          <a:blip r:embed="rId3"/>
          <a:stretch>
            <a:fillRect/>
          </a:stretch>
        </p:blipFill>
        <p:spPr>
          <a:xfrm>
            <a:off x="5648631" y="1280160"/>
            <a:ext cx="5857569" cy="5401056"/>
          </a:xfrm>
          <a:prstGeom prst="rect">
            <a:avLst/>
          </a:prstGeom>
        </p:spPr>
      </p:pic>
    </p:spTree>
    <p:extLst>
      <p:ext uri="{BB962C8B-B14F-4D97-AF65-F5344CB8AC3E}">
        <p14:creationId xmlns:p14="http://schemas.microsoft.com/office/powerpoint/2010/main" val="27664197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A0D518A-6BB1-E3A5-6972-04F4490F1CCB}"/>
              </a:ext>
            </a:extLst>
          </p:cNvPr>
          <p:cNvGraphicFramePr>
            <a:graphicFrameLocks noGrp="1"/>
          </p:cNvGraphicFramePr>
          <p:nvPr>
            <p:extLst>
              <p:ext uri="{D42A27DB-BD31-4B8C-83A1-F6EECF244321}">
                <p14:modId xmlns:p14="http://schemas.microsoft.com/office/powerpoint/2010/main" val="2939056785"/>
              </p:ext>
            </p:extLst>
          </p:nvPr>
        </p:nvGraphicFramePr>
        <p:xfrm>
          <a:off x="1784195" y="1650380"/>
          <a:ext cx="7895064" cy="4148255"/>
        </p:xfrm>
        <a:graphic>
          <a:graphicData uri="http://schemas.openxmlformats.org/drawingml/2006/table">
            <a:tbl>
              <a:tblPr firstRow="1" firstCol="1" bandRow="1">
                <a:tableStyleId>{5C22544A-7EE6-4342-B048-85BDC9FD1C3A}</a:tableStyleId>
              </a:tblPr>
              <a:tblGrid>
                <a:gridCol w="1973766">
                  <a:extLst>
                    <a:ext uri="{9D8B030D-6E8A-4147-A177-3AD203B41FA5}">
                      <a16:colId xmlns:a16="http://schemas.microsoft.com/office/drawing/2014/main" val="3731996597"/>
                    </a:ext>
                  </a:extLst>
                </a:gridCol>
                <a:gridCol w="1973766">
                  <a:extLst>
                    <a:ext uri="{9D8B030D-6E8A-4147-A177-3AD203B41FA5}">
                      <a16:colId xmlns:a16="http://schemas.microsoft.com/office/drawing/2014/main" val="2035046782"/>
                    </a:ext>
                  </a:extLst>
                </a:gridCol>
                <a:gridCol w="1973766">
                  <a:extLst>
                    <a:ext uri="{9D8B030D-6E8A-4147-A177-3AD203B41FA5}">
                      <a16:colId xmlns:a16="http://schemas.microsoft.com/office/drawing/2014/main" val="4078406094"/>
                    </a:ext>
                  </a:extLst>
                </a:gridCol>
                <a:gridCol w="1973766">
                  <a:extLst>
                    <a:ext uri="{9D8B030D-6E8A-4147-A177-3AD203B41FA5}">
                      <a16:colId xmlns:a16="http://schemas.microsoft.com/office/drawing/2014/main" val="3636138893"/>
                    </a:ext>
                  </a:extLst>
                </a:gridCol>
              </a:tblGrid>
              <a:tr h="1530785">
                <a:tc>
                  <a:txBody>
                    <a:bodyPr/>
                    <a:lstStyle/>
                    <a:p>
                      <a:pPr algn="ctr">
                        <a:lnSpc>
                          <a:spcPct val="115000"/>
                        </a:lnSpc>
                        <a:spcAft>
                          <a:spcPts val="800"/>
                        </a:spcAft>
                        <a:buNone/>
                      </a:pPr>
                      <a:r>
                        <a:rPr lang="en-001" sz="1200" kern="0">
                          <a:effectLst/>
                        </a:rPr>
                        <a:t>Nation</a:t>
                      </a:r>
                      <a:endParaRPr lang="en-001"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algn="r">
                        <a:lnSpc>
                          <a:spcPct val="115000"/>
                        </a:lnSpc>
                        <a:spcAft>
                          <a:spcPts val="800"/>
                        </a:spcAft>
                        <a:buNone/>
                      </a:pPr>
                      <a:r>
                        <a:rPr lang="en-001" sz="1200" kern="0">
                          <a:effectLst/>
                        </a:rPr>
                        <a:t>No. of People Dying from CVD (2024)</a:t>
                      </a:r>
                      <a:endParaRPr lang="en-001"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algn="r">
                        <a:lnSpc>
                          <a:spcPct val="115000"/>
                        </a:lnSpc>
                        <a:spcAft>
                          <a:spcPts val="800"/>
                        </a:spcAft>
                        <a:buNone/>
                      </a:pPr>
                      <a:r>
                        <a:rPr lang="en-001" sz="1200" kern="0">
                          <a:effectLst/>
                        </a:rPr>
                        <a:t>No. of People Under 75 Dying from CVD (2024)</a:t>
                      </a:r>
                      <a:endParaRPr lang="en-001"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algn="r">
                        <a:lnSpc>
                          <a:spcPct val="115000"/>
                        </a:lnSpc>
                        <a:spcAft>
                          <a:spcPts val="800"/>
                        </a:spcAft>
                        <a:buNone/>
                      </a:pPr>
                      <a:r>
                        <a:rPr lang="en-001" sz="1200" kern="0">
                          <a:effectLst/>
                        </a:rPr>
                        <a:t>Estimated Number of People Living with CVD (latest)</a:t>
                      </a:r>
                      <a:endParaRPr lang="en-001"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938112454"/>
                  </a:ext>
                </a:extLst>
              </a:tr>
              <a:tr h="523494">
                <a:tc>
                  <a:txBody>
                    <a:bodyPr/>
                    <a:lstStyle/>
                    <a:p>
                      <a:pPr>
                        <a:lnSpc>
                          <a:spcPct val="115000"/>
                        </a:lnSpc>
                        <a:spcAft>
                          <a:spcPts val="800"/>
                        </a:spcAft>
                        <a:buNone/>
                      </a:pPr>
                      <a:r>
                        <a:rPr lang="en-001" sz="1200" kern="0">
                          <a:effectLst/>
                        </a:rPr>
                        <a:t>England</a:t>
                      </a:r>
                      <a:endParaRPr lang="en-001"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algn="r">
                        <a:lnSpc>
                          <a:spcPct val="115000"/>
                        </a:lnSpc>
                        <a:spcAft>
                          <a:spcPts val="800"/>
                        </a:spcAft>
                        <a:buNone/>
                      </a:pPr>
                      <a:r>
                        <a:rPr lang="en-001" sz="1200" kern="0">
                          <a:effectLst/>
                        </a:rPr>
                        <a:t>137,572</a:t>
                      </a:r>
                      <a:endParaRPr lang="en-001"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algn="r">
                        <a:lnSpc>
                          <a:spcPct val="115000"/>
                        </a:lnSpc>
                        <a:spcAft>
                          <a:spcPts val="800"/>
                        </a:spcAft>
                        <a:buNone/>
                      </a:pPr>
                      <a:r>
                        <a:rPr lang="en-001" sz="1200" kern="0">
                          <a:effectLst/>
                        </a:rPr>
                        <a:t>37,723</a:t>
                      </a:r>
                      <a:endParaRPr lang="en-001"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algn="r">
                        <a:lnSpc>
                          <a:spcPct val="115000"/>
                        </a:lnSpc>
                        <a:spcAft>
                          <a:spcPts val="800"/>
                        </a:spcAft>
                        <a:buNone/>
                      </a:pPr>
                      <a:r>
                        <a:rPr lang="en-001" sz="1200" kern="0">
                          <a:effectLst/>
                        </a:rPr>
                        <a:t>7 million +</a:t>
                      </a:r>
                      <a:endParaRPr lang="en-001"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855081378"/>
                  </a:ext>
                </a:extLst>
              </a:tr>
              <a:tr h="523494">
                <a:tc>
                  <a:txBody>
                    <a:bodyPr/>
                    <a:lstStyle/>
                    <a:p>
                      <a:pPr>
                        <a:lnSpc>
                          <a:spcPct val="115000"/>
                        </a:lnSpc>
                        <a:spcAft>
                          <a:spcPts val="800"/>
                        </a:spcAft>
                        <a:buNone/>
                      </a:pPr>
                      <a:r>
                        <a:rPr lang="en-001" sz="1200" kern="0">
                          <a:effectLst/>
                        </a:rPr>
                        <a:t>Scotland</a:t>
                      </a:r>
                      <a:endParaRPr lang="en-001"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algn="r">
                        <a:lnSpc>
                          <a:spcPct val="115000"/>
                        </a:lnSpc>
                        <a:spcAft>
                          <a:spcPts val="800"/>
                        </a:spcAft>
                        <a:buNone/>
                      </a:pPr>
                      <a:r>
                        <a:rPr lang="en-001" sz="1200" kern="0">
                          <a:effectLst/>
                        </a:rPr>
                        <a:t>17,444</a:t>
                      </a:r>
                      <a:endParaRPr lang="en-001"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algn="r">
                        <a:lnSpc>
                          <a:spcPct val="115000"/>
                        </a:lnSpc>
                        <a:spcAft>
                          <a:spcPts val="800"/>
                        </a:spcAft>
                        <a:buNone/>
                      </a:pPr>
                      <a:r>
                        <a:rPr lang="en-001" sz="1200" kern="0">
                          <a:effectLst/>
                        </a:rPr>
                        <a:t>5,195</a:t>
                      </a:r>
                      <a:endParaRPr lang="en-001"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algn="r">
                        <a:lnSpc>
                          <a:spcPct val="115000"/>
                        </a:lnSpc>
                        <a:spcAft>
                          <a:spcPts val="800"/>
                        </a:spcAft>
                        <a:buNone/>
                      </a:pPr>
                      <a:r>
                        <a:rPr lang="en-001" sz="1200" kern="0">
                          <a:effectLst/>
                        </a:rPr>
                        <a:t>800,000 +</a:t>
                      </a:r>
                      <a:endParaRPr lang="en-001"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193813634"/>
                  </a:ext>
                </a:extLst>
              </a:tr>
              <a:tr h="523494">
                <a:tc>
                  <a:txBody>
                    <a:bodyPr/>
                    <a:lstStyle/>
                    <a:p>
                      <a:pPr>
                        <a:lnSpc>
                          <a:spcPct val="115000"/>
                        </a:lnSpc>
                        <a:spcAft>
                          <a:spcPts val="800"/>
                        </a:spcAft>
                        <a:buNone/>
                      </a:pPr>
                      <a:r>
                        <a:rPr lang="en-001" sz="1200" kern="0">
                          <a:effectLst/>
                        </a:rPr>
                        <a:t>Wales</a:t>
                      </a:r>
                      <a:endParaRPr lang="en-001"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algn="r">
                        <a:lnSpc>
                          <a:spcPct val="115000"/>
                        </a:lnSpc>
                        <a:spcAft>
                          <a:spcPts val="800"/>
                        </a:spcAft>
                        <a:buNone/>
                      </a:pPr>
                      <a:r>
                        <a:rPr lang="en-001" sz="1200" kern="0">
                          <a:effectLst/>
                        </a:rPr>
                        <a:t>9,260</a:t>
                      </a:r>
                      <a:endParaRPr lang="en-001"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algn="r">
                        <a:lnSpc>
                          <a:spcPct val="115000"/>
                        </a:lnSpc>
                        <a:spcAft>
                          <a:spcPts val="800"/>
                        </a:spcAft>
                        <a:buNone/>
                      </a:pPr>
                      <a:r>
                        <a:rPr lang="en-001" sz="1200" kern="0">
                          <a:effectLst/>
                        </a:rPr>
                        <a:t>2,660</a:t>
                      </a:r>
                      <a:endParaRPr lang="en-001"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algn="r">
                        <a:lnSpc>
                          <a:spcPct val="115000"/>
                        </a:lnSpc>
                        <a:spcAft>
                          <a:spcPts val="800"/>
                        </a:spcAft>
                        <a:buNone/>
                      </a:pPr>
                      <a:r>
                        <a:rPr lang="en-001" sz="1200" kern="0">
                          <a:effectLst/>
                        </a:rPr>
                        <a:t>400,000 +</a:t>
                      </a:r>
                      <a:endParaRPr lang="en-001"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87055872"/>
                  </a:ext>
                </a:extLst>
              </a:tr>
              <a:tr h="523494">
                <a:tc>
                  <a:txBody>
                    <a:bodyPr/>
                    <a:lstStyle/>
                    <a:p>
                      <a:pPr>
                        <a:lnSpc>
                          <a:spcPct val="115000"/>
                        </a:lnSpc>
                        <a:spcAft>
                          <a:spcPts val="800"/>
                        </a:spcAft>
                        <a:buNone/>
                      </a:pPr>
                      <a:r>
                        <a:rPr lang="en-001" sz="1200" kern="0">
                          <a:effectLst/>
                        </a:rPr>
                        <a:t>Northern Ireland</a:t>
                      </a:r>
                      <a:endParaRPr lang="en-001"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algn="r">
                        <a:lnSpc>
                          <a:spcPct val="115000"/>
                        </a:lnSpc>
                        <a:spcAft>
                          <a:spcPts val="800"/>
                        </a:spcAft>
                        <a:buNone/>
                      </a:pPr>
                      <a:r>
                        <a:rPr lang="en-001" sz="1200" kern="0">
                          <a:effectLst/>
                        </a:rPr>
                        <a:t>4,416</a:t>
                      </a:r>
                      <a:endParaRPr lang="en-001"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algn="r">
                        <a:lnSpc>
                          <a:spcPct val="115000"/>
                        </a:lnSpc>
                        <a:spcAft>
                          <a:spcPts val="800"/>
                        </a:spcAft>
                        <a:buNone/>
                      </a:pPr>
                      <a:r>
                        <a:rPr lang="en-001" sz="1200" kern="0">
                          <a:effectLst/>
                        </a:rPr>
                        <a:t>1,330</a:t>
                      </a:r>
                      <a:endParaRPr lang="en-001"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algn="r">
                        <a:lnSpc>
                          <a:spcPct val="115000"/>
                        </a:lnSpc>
                        <a:spcAft>
                          <a:spcPts val="800"/>
                        </a:spcAft>
                        <a:buNone/>
                      </a:pPr>
                      <a:r>
                        <a:rPr lang="en-001" sz="1200" kern="0">
                          <a:effectLst/>
                        </a:rPr>
                        <a:t>230,000 +</a:t>
                      </a:r>
                      <a:endParaRPr lang="en-001"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941512425"/>
                  </a:ext>
                </a:extLst>
              </a:tr>
              <a:tr h="523494">
                <a:tc>
                  <a:txBody>
                    <a:bodyPr/>
                    <a:lstStyle/>
                    <a:p>
                      <a:pPr>
                        <a:lnSpc>
                          <a:spcPct val="115000"/>
                        </a:lnSpc>
                        <a:spcAft>
                          <a:spcPts val="800"/>
                        </a:spcAft>
                        <a:buNone/>
                      </a:pPr>
                      <a:r>
                        <a:rPr lang="en-001" sz="1200" kern="0">
                          <a:effectLst/>
                        </a:rPr>
                        <a:t>United Kingdom (total)</a:t>
                      </a:r>
                      <a:endParaRPr lang="en-001"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algn="r">
                        <a:lnSpc>
                          <a:spcPct val="115000"/>
                        </a:lnSpc>
                        <a:spcAft>
                          <a:spcPts val="800"/>
                        </a:spcAft>
                        <a:buNone/>
                      </a:pPr>
                      <a:r>
                        <a:rPr lang="en-001" sz="1200" kern="0">
                          <a:effectLst/>
                        </a:rPr>
                        <a:t>169,205</a:t>
                      </a:r>
                      <a:endParaRPr lang="en-001"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algn="r">
                        <a:lnSpc>
                          <a:spcPct val="115000"/>
                        </a:lnSpc>
                        <a:spcAft>
                          <a:spcPts val="800"/>
                        </a:spcAft>
                        <a:buNone/>
                      </a:pPr>
                      <a:r>
                        <a:rPr lang="en-001" sz="1200" kern="0">
                          <a:effectLst/>
                        </a:rPr>
                        <a:t>47,257</a:t>
                      </a:r>
                      <a:endParaRPr lang="en-001"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algn="r">
                        <a:lnSpc>
                          <a:spcPct val="115000"/>
                        </a:lnSpc>
                        <a:spcAft>
                          <a:spcPts val="800"/>
                        </a:spcAft>
                        <a:buNone/>
                      </a:pPr>
                      <a:r>
                        <a:rPr lang="en-001" sz="1200" kern="0">
                          <a:effectLst/>
                        </a:rPr>
                        <a:t>8 million +</a:t>
                      </a:r>
                      <a:endParaRPr lang="en-001"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639282749"/>
                  </a:ext>
                </a:extLst>
              </a:tr>
            </a:tbl>
          </a:graphicData>
        </a:graphic>
      </p:graphicFrame>
      <p:sp>
        <p:nvSpPr>
          <p:cNvPr id="5" name="TextBox 4">
            <a:extLst>
              <a:ext uri="{FF2B5EF4-FFF2-40B4-BE49-F238E27FC236}">
                <a16:creationId xmlns:a16="http://schemas.microsoft.com/office/drawing/2014/main" id="{90408970-D476-8EBB-FA69-A5A390EA51CE}"/>
              </a:ext>
            </a:extLst>
          </p:cNvPr>
          <p:cNvSpPr txBox="1"/>
          <p:nvPr/>
        </p:nvSpPr>
        <p:spPr>
          <a:xfrm>
            <a:off x="1616927" y="490655"/>
            <a:ext cx="8159905" cy="107721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001" altLang="en-001" sz="3200" b="1" i="0" u="none" strike="noStrike" cap="none" normalizeH="0" baseline="0">
                <a:ln>
                  <a:noFill/>
                </a:ln>
                <a:solidFill>
                  <a:srgbClr val="000000"/>
                </a:solidFill>
                <a:effectLst/>
                <a:latin typeface="+mj-lt"/>
                <a:ea typeface="Segoe UI" panose="020B0502040204020203" pitchFamily="34" charset="0"/>
                <a:cs typeface="Calibri" panose="020F0502020204030204" pitchFamily="34" charset="0"/>
              </a:rPr>
              <a:t>Deaths from and numbers living with Heart &amp; Circulatory Diseases (latest)</a:t>
            </a:r>
            <a:endParaRPr kumimoji="0" lang="en-001" altLang="en-001" sz="3200" b="0" i="0" u="none" strike="noStrike" cap="none" normalizeH="0" baseline="0">
              <a:ln>
                <a:noFill/>
              </a:ln>
              <a:solidFill>
                <a:schemeClr val="tx1"/>
              </a:solidFill>
              <a:effectLst/>
              <a:latin typeface="+mj-lt"/>
              <a:cs typeface="Calibri" panose="020F0502020204030204" pitchFamily="34" charset="0"/>
            </a:endParaRPr>
          </a:p>
        </p:txBody>
      </p:sp>
    </p:spTree>
    <p:extLst>
      <p:ext uri="{BB962C8B-B14F-4D97-AF65-F5344CB8AC3E}">
        <p14:creationId xmlns:p14="http://schemas.microsoft.com/office/powerpoint/2010/main" val="10495233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Isosceles Triangle 20">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close-up of a poster&#10;&#10;AI-generated content may be incorrect.">
            <a:extLst>
              <a:ext uri="{FF2B5EF4-FFF2-40B4-BE49-F238E27FC236}">
                <a16:creationId xmlns:a16="http://schemas.microsoft.com/office/drawing/2014/main" id="{1FB625F7-8085-F216-9077-A5A039D0EB0D}"/>
              </a:ext>
            </a:extLst>
          </p:cNvPr>
          <p:cNvPicPr>
            <a:picLocks noChangeAspect="1"/>
          </p:cNvPicPr>
          <p:nvPr/>
        </p:nvPicPr>
        <p:blipFill>
          <a:blip r:embed="rId2"/>
          <a:stretch>
            <a:fillRect/>
          </a:stretch>
        </p:blipFill>
        <p:spPr>
          <a:xfrm>
            <a:off x="3052799" y="1039862"/>
            <a:ext cx="5296642" cy="5516615"/>
          </a:xfrm>
          <a:prstGeom prst="rect">
            <a:avLst/>
          </a:prstGeom>
          <a:ln>
            <a:noFill/>
          </a:ln>
        </p:spPr>
      </p:pic>
      <p:sp>
        <p:nvSpPr>
          <p:cNvPr id="23" name="Isosceles Triangle 22">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AC40017C-16DC-E699-E552-784605D43E0B}"/>
              </a:ext>
            </a:extLst>
          </p:cNvPr>
          <p:cNvSpPr txBox="1"/>
          <p:nvPr/>
        </p:nvSpPr>
        <p:spPr>
          <a:xfrm rot="10800000" flipV="1">
            <a:off x="9668106" y="4313461"/>
            <a:ext cx="1371599" cy="1815882"/>
          </a:xfrm>
          <a:prstGeom prst="rect">
            <a:avLst/>
          </a:prstGeom>
          <a:noFill/>
        </p:spPr>
        <p:txBody>
          <a:bodyPr wrap="square">
            <a:spAutoFit/>
          </a:bodyPr>
          <a:lstStyle/>
          <a:p>
            <a:r>
              <a:rPr lang="en-001" sz="1600"/>
              <a:t>https://www.skillstg.co.uk/blog/uk-heart-and-circulatory-diseases-statistics/</a:t>
            </a:r>
          </a:p>
        </p:txBody>
      </p:sp>
      <p:sp>
        <p:nvSpPr>
          <p:cNvPr id="10" name="TextBox 9">
            <a:extLst>
              <a:ext uri="{FF2B5EF4-FFF2-40B4-BE49-F238E27FC236}">
                <a16:creationId xmlns:a16="http://schemas.microsoft.com/office/drawing/2014/main" id="{F7738DFC-29D0-5DC2-6857-3FD26823534E}"/>
              </a:ext>
            </a:extLst>
          </p:cNvPr>
          <p:cNvSpPr txBox="1"/>
          <p:nvPr/>
        </p:nvSpPr>
        <p:spPr>
          <a:xfrm>
            <a:off x="2428650" y="103819"/>
            <a:ext cx="7042207" cy="461665"/>
          </a:xfrm>
          <a:prstGeom prst="rect">
            <a:avLst/>
          </a:prstGeom>
          <a:noFill/>
        </p:spPr>
        <p:txBody>
          <a:bodyPr wrap="square">
            <a:spAutoFit/>
          </a:bodyPr>
          <a:lstStyle/>
          <a:p>
            <a:r>
              <a:rPr lang="en-001" sz="2400" b="1" kern="1800">
                <a:solidFill>
                  <a:srgbClr val="000000"/>
                </a:solidFill>
                <a:effectLst/>
                <a:latin typeface="+mj-lt"/>
                <a:ea typeface="Times New Roman" panose="02020603050405020304" pitchFamily="18" charset="0"/>
              </a:rPr>
              <a:t>UK Heart and Circulatory Diseases Statistics (2025)</a:t>
            </a:r>
            <a:r>
              <a:rPr lang="en-001" sz="2400">
                <a:effectLst/>
                <a:latin typeface="+mj-lt"/>
              </a:rPr>
              <a:t> </a:t>
            </a:r>
            <a:endParaRPr lang="en-001" sz="2400">
              <a:latin typeface="+mj-lt"/>
            </a:endParaRPr>
          </a:p>
        </p:txBody>
      </p:sp>
    </p:spTree>
    <p:extLst>
      <p:ext uri="{BB962C8B-B14F-4D97-AF65-F5344CB8AC3E}">
        <p14:creationId xmlns:p14="http://schemas.microsoft.com/office/powerpoint/2010/main" val="6854402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92480" y="575824"/>
            <a:ext cx="10936224" cy="5706351"/>
          </a:xfrm>
          <a:prstGeom prst="rect">
            <a:avLst/>
          </a:prstGeom>
        </p:spPr>
      </p:pic>
    </p:spTree>
    <p:extLst>
      <p:ext uri="{BB962C8B-B14F-4D97-AF65-F5344CB8AC3E}">
        <p14:creationId xmlns:p14="http://schemas.microsoft.com/office/powerpoint/2010/main" val="10131355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98022-7C99-AE53-E685-238B469D4C6A}"/>
              </a:ext>
            </a:extLst>
          </p:cNvPr>
          <p:cNvSpPr>
            <a:spLocks noGrp="1"/>
          </p:cNvSpPr>
          <p:nvPr>
            <p:ph type="title"/>
          </p:nvPr>
        </p:nvSpPr>
        <p:spPr/>
        <p:txBody>
          <a:bodyPr/>
          <a:lstStyle/>
          <a:p>
            <a:r>
              <a:rPr lang="en-US" dirty="0"/>
              <a:t>Recommendations for policy</a:t>
            </a:r>
            <a:endParaRPr lang="en-001"/>
          </a:p>
        </p:txBody>
      </p:sp>
      <p:sp>
        <p:nvSpPr>
          <p:cNvPr id="3" name="Content Placeholder 2">
            <a:extLst>
              <a:ext uri="{FF2B5EF4-FFF2-40B4-BE49-F238E27FC236}">
                <a16:creationId xmlns:a16="http://schemas.microsoft.com/office/drawing/2014/main" id="{2A059E59-9941-52B2-55F4-2B5AEFAEA06F}"/>
              </a:ext>
            </a:extLst>
          </p:cNvPr>
          <p:cNvSpPr>
            <a:spLocks noGrp="1"/>
          </p:cNvSpPr>
          <p:nvPr>
            <p:ph sz="half" idx="1"/>
          </p:nvPr>
        </p:nvSpPr>
        <p:spPr/>
        <p:txBody>
          <a:bodyPr/>
          <a:lstStyle/>
          <a:p>
            <a:r>
              <a:rPr lang="en-US" dirty="0"/>
              <a:t>NICE guidance outlines a clear evidence-based case that CVD is a major public health problem</a:t>
            </a:r>
          </a:p>
          <a:p>
            <a:r>
              <a:rPr lang="en-US" dirty="0"/>
              <a:t>Changes in risk factors associated with CVD can be achieved by intervening at the population and individual level</a:t>
            </a:r>
          </a:p>
          <a:p>
            <a:r>
              <a:rPr lang="en-US" dirty="0"/>
              <a:t>Government needs to address the risk factors at both levels</a:t>
            </a:r>
          </a:p>
          <a:p>
            <a:endParaRPr lang="en-001"/>
          </a:p>
        </p:txBody>
      </p:sp>
      <p:sp>
        <p:nvSpPr>
          <p:cNvPr id="4" name="Content Placeholder 3">
            <a:extLst>
              <a:ext uri="{FF2B5EF4-FFF2-40B4-BE49-F238E27FC236}">
                <a16:creationId xmlns:a16="http://schemas.microsoft.com/office/drawing/2014/main" id="{1E99E812-12E4-70B4-5C1B-DB5C27E55814}"/>
              </a:ext>
            </a:extLst>
          </p:cNvPr>
          <p:cNvSpPr>
            <a:spLocks noGrp="1"/>
          </p:cNvSpPr>
          <p:nvPr>
            <p:ph sz="half" idx="2"/>
          </p:nvPr>
        </p:nvSpPr>
        <p:spPr/>
        <p:txBody>
          <a:bodyPr/>
          <a:lstStyle/>
          <a:p>
            <a:r>
              <a:rPr lang="en-US" dirty="0"/>
              <a:t>The final decision on whether these policies  are adopted  will be decided  by government through normal political processes</a:t>
            </a:r>
            <a:endParaRPr lang="en-GB" dirty="0"/>
          </a:p>
          <a:p>
            <a:endParaRPr lang="en-US" dirty="0"/>
          </a:p>
          <a:p>
            <a:pPr marL="0" indent="0">
              <a:buNone/>
            </a:pPr>
            <a:r>
              <a:rPr lang="en-US" dirty="0"/>
              <a:t>(Prevention of cardiovascular disease NICE public health guidance NICE,2010)</a:t>
            </a:r>
          </a:p>
          <a:p>
            <a:endParaRPr lang="en-001"/>
          </a:p>
        </p:txBody>
      </p:sp>
    </p:spTree>
    <p:extLst>
      <p:ext uri="{BB962C8B-B14F-4D97-AF65-F5344CB8AC3E}">
        <p14:creationId xmlns:p14="http://schemas.microsoft.com/office/powerpoint/2010/main" val="20384877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36F400F-DF28-43BC-8D8E-4929793B3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38200" y="668377"/>
            <a:ext cx="10515600" cy="1325563"/>
          </a:xfrm>
          <a:solidFill>
            <a:schemeClr val="accent1">
              <a:lumMod val="20000"/>
              <a:lumOff val="80000"/>
            </a:schemeClr>
          </a:solidFill>
        </p:spPr>
        <p:txBody>
          <a:bodyPr>
            <a:normAutofit/>
          </a:bodyPr>
          <a:lstStyle/>
          <a:p>
            <a:r>
              <a:rPr lang="en-US" dirty="0">
                <a:latin typeface="Calibri" pitchFamily="34" charset="0"/>
                <a:ea typeface="Calibri" pitchFamily="34" charset="0"/>
                <a:cs typeface="Times New Roman" pitchFamily="18" charset="0"/>
              </a:rPr>
              <a:t>NHS Health Checks- the Islington</a:t>
            </a:r>
            <a:br>
              <a:rPr lang="en-US" dirty="0">
                <a:latin typeface="Calibri" pitchFamily="34" charset="0"/>
                <a:ea typeface="Calibri" pitchFamily="34" charset="0"/>
                <a:cs typeface="Times New Roman" pitchFamily="18" charset="0"/>
              </a:rPr>
            </a:br>
            <a:r>
              <a:rPr lang="en-US" dirty="0">
                <a:latin typeface="Calibri" pitchFamily="34" charset="0"/>
                <a:ea typeface="Calibri" pitchFamily="34" charset="0"/>
                <a:cs typeface="Times New Roman" pitchFamily="18" charset="0"/>
              </a:rPr>
              <a:t>model</a:t>
            </a:r>
            <a:endParaRPr lang="en-GB" dirty="0"/>
          </a:p>
        </p:txBody>
      </p:sp>
      <p:sp>
        <p:nvSpPr>
          <p:cNvPr id="3" name="Content Placeholder 2"/>
          <p:cNvSpPr>
            <a:spLocks noGrp="1"/>
          </p:cNvSpPr>
          <p:nvPr>
            <p:ph sz="half" idx="1"/>
          </p:nvPr>
        </p:nvSpPr>
        <p:spPr>
          <a:xfrm>
            <a:off x="838200" y="2177456"/>
            <a:ext cx="5097780" cy="3795748"/>
          </a:xfrm>
          <a:solidFill>
            <a:schemeClr val="accent1">
              <a:lumMod val="20000"/>
              <a:lumOff val="80000"/>
            </a:schemeClr>
          </a:solidFill>
        </p:spPr>
        <p:txBody>
          <a:bodyPr>
            <a:normAutofit/>
          </a:bodyPr>
          <a:lstStyle/>
          <a:p>
            <a:pPr eaLnBrk="0" fontAlgn="base" hangingPunct="0">
              <a:spcBef>
                <a:spcPct val="0"/>
              </a:spcBef>
              <a:spcAft>
                <a:spcPct val="0"/>
              </a:spcAft>
            </a:pPr>
            <a:r>
              <a:rPr kumimoji="0" lang="en-US" sz="2200" b="0" i="0" u="none" strike="noStrike" cap="none" normalizeH="0" baseline="0" dirty="0">
                <a:ln>
                  <a:noFill/>
                </a:ln>
                <a:effectLst/>
                <a:ea typeface="Calibri" pitchFamily="34" charset="0"/>
                <a:cs typeface="Arial" pitchFamily="34" charset="0"/>
              </a:rPr>
              <a:t>Islington-</a:t>
            </a:r>
            <a:r>
              <a:rPr kumimoji="0" lang="en-US" sz="2200" b="0" i="0" u="none" strike="noStrike" cap="none" normalizeH="0" dirty="0">
                <a:ln>
                  <a:noFill/>
                </a:ln>
                <a:effectLst/>
                <a:ea typeface="Calibri" pitchFamily="34" charset="0"/>
                <a:cs typeface="Arial" pitchFamily="34" charset="0"/>
              </a:rPr>
              <a:t> </a:t>
            </a:r>
            <a:r>
              <a:rPr kumimoji="0" lang="en-US" sz="2200" b="0" i="0" u="none" strike="noStrike" cap="none" normalizeH="0" baseline="0" dirty="0">
                <a:ln>
                  <a:noFill/>
                </a:ln>
                <a:effectLst/>
                <a:ea typeface="Calibri" pitchFamily="34" charset="0"/>
                <a:cs typeface="Arial" pitchFamily="34" charset="0"/>
              </a:rPr>
              <a:t>one of the most ethnically diverse communities in London with high levels of deprivation (DH, 2009)</a:t>
            </a:r>
          </a:p>
          <a:p>
            <a:pPr eaLnBrk="0" fontAlgn="base" hangingPunct="0">
              <a:spcBef>
                <a:spcPct val="0"/>
              </a:spcBef>
              <a:spcAft>
                <a:spcPct val="0"/>
              </a:spcAft>
            </a:pPr>
            <a:endParaRPr kumimoji="0" lang="en-US" sz="2200" b="0" i="0" u="none" strike="noStrike" cap="none" normalizeH="0" baseline="0" dirty="0">
              <a:ln>
                <a:noFill/>
              </a:ln>
              <a:effectLst/>
              <a:cs typeface="Arial" pitchFamily="34" charset="0"/>
            </a:endParaRPr>
          </a:p>
          <a:p>
            <a:pPr eaLnBrk="0" fontAlgn="base" hangingPunct="0">
              <a:spcBef>
                <a:spcPct val="0"/>
              </a:spcBef>
              <a:spcAft>
                <a:spcPct val="0"/>
              </a:spcAft>
            </a:pPr>
            <a:r>
              <a:rPr lang="en-US" sz="2200" dirty="0">
                <a:ea typeface="Calibri" pitchFamily="34" charset="0"/>
                <a:cs typeface="Arial" pitchFamily="34" charset="0"/>
              </a:rPr>
              <a:t>E</a:t>
            </a:r>
            <a:r>
              <a:rPr kumimoji="0" lang="en-US" sz="2200" b="0" i="0" u="none" strike="noStrike" cap="none" normalizeH="0" baseline="0" dirty="0">
                <a:ln>
                  <a:noFill/>
                </a:ln>
                <a:effectLst/>
                <a:ea typeface="Calibri" pitchFamily="34" charset="0"/>
                <a:cs typeface="Arial" pitchFamily="34" charset="0"/>
              </a:rPr>
              <a:t>ighth most deprived borough in England and fourth in London</a:t>
            </a:r>
            <a:endParaRPr kumimoji="0" lang="en-US" sz="2200" b="0" i="0" u="none" strike="noStrike" cap="none" normalizeH="0" baseline="0" dirty="0">
              <a:ln>
                <a:noFill/>
              </a:ln>
              <a:effectLst/>
              <a:cs typeface="Arial" pitchFamily="34" charset="0"/>
            </a:endParaRPr>
          </a:p>
          <a:p>
            <a:pPr eaLnBrk="0" fontAlgn="base" hangingPunct="0">
              <a:spcBef>
                <a:spcPct val="0"/>
              </a:spcBef>
              <a:spcAft>
                <a:spcPct val="0"/>
              </a:spcAft>
            </a:pPr>
            <a:endParaRPr lang="en-US" sz="2200" dirty="0">
              <a:ea typeface="Calibri" pitchFamily="34" charset="0"/>
              <a:cs typeface="Arial" pitchFamily="34" charset="0"/>
            </a:endParaRPr>
          </a:p>
          <a:p>
            <a:pPr eaLnBrk="0" fontAlgn="base" hangingPunct="0">
              <a:spcBef>
                <a:spcPct val="0"/>
              </a:spcBef>
              <a:spcAft>
                <a:spcPct val="0"/>
              </a:spcAft>
            </a:pPr>
            <a:r>
              <a:rPr kumimoji="0" lang="en-US" sz="2200" b="0" i="0" u="none" strike="noStrike" cap="none" normalizeH="0" baseline="0" dirty="0">
                <a:ln>
                  <a:noFill/>
                </a:ln>
                <a:effectLst/>
                <a:ea typeface="Calibri" pitchFamily="34" charset="0"/>
                <a:cs typeface="Arial" pitchFamily="34" charset="0"/>
              </a:rPr>
              <a:t>Two thirds of Islington residents live in the 20% most deprived areas in England (DH, 2010), resulting in a disproportionately higher rate of premature CVD (Davis et al., 2009)</a:t>
            </a:r>
          </a:p>
          <a:p>
            <a:endParaRPr lang="en-GB" sz="2200" dirty="0"/>
          </a:p>
        </p:txBody>
      </p:sp>
      <p:sp>
        <p:nvSpPr>
          <p:cNvPr id="6" name="Content Placeholder 5"/>
          <p:cNvSpPr>
            <a:spLocks noGrp="1"/>
          </p:cNvSpPr>
          <p:nvPr>
            <p:ph sz="half" idx="2"/>
          </p:nvPr>
        </p:nvSpPr>
        <p:spPr>
          <a:xfrm>
            <a:off x="6256020" y="2177456"/>
            <a:ext cx="5097780" cy="3795748"/>
          </a:xfrm>
          <a:solidFill>
            <a:schemeClr val="accent1">
              <a:lumMod val="20000"/>
              <a:lumOff val="80000"/>
            </a:schemeClr>
          </a:solidFill>
        </p:spPr>
        <p:txBody>
          <a:bodyPr>
            <a:normAutofit/>
          </a:bodyPr>
          <a:lstStyle/>
          <a:p>
            <a:r>
              <a:rPr lang="en-GB" sz="1900" dirty="0"/>
              <a:t>Substantial health inequalities within the borough and CVD mortality is reported to be associated with increasing deprivation (DH, 2010).</a:t>
            </a:r>
          </a:p>
          <a:p>
            <a:pPr marL="0" indent="0">
              <a:buNone/>
            </a:pPr>
            <a:endParaRPr lang="en-GB" sz="1900" dirty="0"/>
          </a:p>
          <a:p>
            <a:r>
              <a:rPr lang="en-GB" sz="1900" dirty="0"/>
              <a:t>CVD accounted for 35% of all deaths and 29% of deaths under the age of 75 in 2006-08 (DH, 2010)</a:t>
            </a:r>
          </a:p>
          <a:p>
            <a:endParaRPr lang="en-GB" sz="1900" dirty="0"/>
          </a:p>
          <a:p>
            <a:r>
              <a:rPr lang="en-GB" sz="1900" dirty="0"/>
              <a:t>Deaths from CVD are one of the biggest contributors to the inequalities gap in life expectancy in Islington</a:t>
            </a:r>
          </a:p>
          <a:p>
            <a:endParaRPr lang="en-GB" sz="1900" dirty="0"/>
          </a:p>
        </p:txBody>
      </p:sp>
    </p:spTree>
    <p:extLst>
      <p:ext uri="{BB962C8B-B14F-4D97-AF65-F5344CB8AC3E}">
        <p14:creationId xmlns:p14="http://schemas.microsoft.com/office/powerpoint/2010/main" val="27677681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pic>
        <p:nvPicPr>
          <p:cNvPr id="5" name="Content Placeholder 3"/>
          <p:cNvPicPr>
            <a:picLocks noGrp="1"/>
          </p:cNvPicPr>
          <p:nvPr>
            <p:ph idx="1"/>
          </p:nvPr>
        </p:nvPicPr>
        <p:blipFill>
          <a:blip r:embed="rId2" cstate="print"/>
          <a:srcRect l="928" t="22415"/>
          <a:stretch>
            <a:fillRect/>
          </a:stretch>
        </p:blipFill>
        <p:spPr bwMode="auto">
          <a:xfrm>
            <a:off x="1959308" y="1825625"/>
            <a:ext cx="8273383" cy="3281213"/>
          </a:xfrm>
          <a:prstGeom prst="rect">
            <a:avLst/>
          </a:prstGeom>
          <a:noFill/>
          <a:ln w="12700">
            <a:solidFill>
              <a:srgbClr val="000000"/>
            </a:solidFill>
            <a:miter lim="800000"/>
            <a:headEnd/>
            <a:tailEnd/>
          </a:ln>
        </p:spPr>
      </p:pic>
      <p:pic>
        <p:nvPicPr>
          <p:cNvPr id="4" name="Picture 3"/>
          <p:cNvPicPr/>
          <p:nvPr/>
        </p:nvPicPr>
        <p:blipFill>
          <a:blip r:embed="rId3" cstate="print"/>
          <a:srcRect/>
          <a:stretch>
            <a:fillRect/>
          </a:stretch>
        </p:blipFill>
        <p:spPr bwMode="auto">
          <a:xfrm>
            <a:off x="820614" y="182880"/>
            <a:ext cx="10222524" cy="1036319"/>
          </a:xfrm>
          <a:prstGeom prst="rect">
            <a:avLst/>
          </a:prstGeom>
          <a:noFill/>
          <a:ln w="9525">
            <a:noFill/>
            <a:miter lim="800000"/>
            <a:headEnd/>
            <a:tailEnd/>
          </a:ln>
        </p:spPr>
      </p:pic>
      <p:sp>
        <p:nvSpPr>
          <p:cNvPr id="6" name="Rectangle 5"/>
          <p:cNvSpPr/>
          <p:nvPr/>
        </p:nvSpPr>
        <p:spPr>
          <a:xfrm rot="10800000" flipV="1">
            <a:off x="1742534" y="5452372"/>
            <a:ext cx="9611265" cy="1200329"/>
          </a:xfrm>
          <a:prstGeom prst="rect">
            <a:avLst/>
          </a:prstGeom>
        </p:spPr>
        <p:txBody>
          <a:bodyPr wrap="square">
            <a:spAutoFit/>
          </a:bodyPr>
          <a:lstStyle/>
          <a:p>
            <a:r>
              <a:rPr lang="en-US" dirty="0"/>
              <a:t>Fall in CVD mortality rates (number of deaths per 100,000 standardized for age) for Islington, London and England illustrating that whilst CVD mortality rates have been declining, the rate of decline is consistently slower for Islington compared to London and England hence furthering the gap in health inequalities</a:t>
            </a:r>
            <a:endParaRPr lang="en-GB" dirty="0"/>
          </a:p>
        </p:txBody>
      </p:sp>
    </p:spTree>
    <p:extLst>
      <p:ext uri="{BB962C8B-B14F-4D97-AF65-F5344CB8AC3E}">
        <p14:creationId xmlns:p14="http://schemas.microsoft.com/office/powerpoint/2010/main" val="16763826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55320" y="365125"/>
            <a:ext cx="5120114" cy="1692794"/>
          </a:xfrm>
        </p:spPr>
        <p:txBody>
          <a:bodyPr vert="horz" lIns="91440" tIns="45720" rIns="91440" bIns="45720" rtlCol="0" anchor="ctr">
            <a:normAutofit/>
          </a:bodyPr>
          <a:lstStyle/>
          <a:p>
            <a:r>
              <a:rPr lang="en-US" dirty="0"/>
              <a:t>Islington NHS Health Checks (INHSHC)</a:t>
            </a:r>
          </a:p>
        </p:txBody>
      </p:sp>
      <p:cxnSp>
        <p:nvCxnSpPr>
          <p:cNvPr id="10" name="Straight Arrow Connector 9">
            <a:extLst>
              <a:ext uri="{FF2B5EF4-FFF2-40B4-BE49-F238E27FC236}">
                <a16:creationId xmlns:a16="http://schemas.microsoft.com/office/drawing/2014/main" id="{E4A809D5-3600-46D4-A466-67F2349A54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5320" y="2316480"/>
            <a:ext cx="45720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1"/>
          </p:nvPr>
        </p:nvSpPr>
        <p:spPr>
          <a:xfrm>
            <a:off x="655321" y="2575034"/>
            <a:ext cx="5120113" cy="3462228"/>
          </a:xfrm>
        </p:spPr>
        <p:txBody>
          <a:bodyPr vert="horz" lIns="91440" tIns="45720" rIns="91440" bIns="45720" rtlCol="0">
            <a:normAutofit/>
          </a:bodyPr>
          <a:lstStyle/>
          <a:p>
            <a:r>
              <a:rPr lang="en-US" sz="1800" dirty="0"/>
              <a:t>The research team at London Metropolitan University were commissioned by Islington NHS to conduct an evaluation of the effectiveness and acceptability of  the opportunistic health checks</a:t>
            </a:r>
          </a:p>
          <a:p>
            <a:endParaRPr lang="en-US" sz="1800" dirty="0"/>
          </a:p>
        </p:txBody>
      </p:sp>
      <p:pic>
        <p:nvPicPr>
          <p:cNvPr id="5" name="Content Placeholder 4" descr="http://www.islington.gov.uk/PublishingImages/health/Islington-Health-Check-.jpg"/>
          <p:cNvPicPr>
            <a:picLocks noGrp="1"/>
          </p:cNvPicPr>
          <p:nvPr>
            <p:ph sz="half" idx="2"/>
          </p:nvPr>
        </p:nvPicPr>
        <p:blipFill rotWithShape="1">
          <a:blip r:embed="rId2" cstate="print"/>
          <a:srcRect t="1561" r="-2" b="21310"/>
          <a:stretch/>
        </p:blipFill>
        <p:spPr bwMode="auto">
          <a:xfrm>
            <a:off x="5878849" y="10"/>
            <a:ext cx="6313150"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a:noFill/>
        </p:spPr>
      </p:pic>
    </p:spTree>
    <p:extLst>
      <p:ext uri="{BB962C8B-B14F-4D97-AF65-F5344CB8AC3E}">
        <p14:creationId xmlns:p14="http://schemas.microsoft.com/office/powerpoint/2010/main" val="24786410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dirty="0"/>
              <a:t>Evaluation</a:t>
            </a:r>
          </a:p>
        </p:txBody>
      </p:sp>
      <p:sp>
        <p:nvSpPr>
          <p:cNvPr id="3" name="Content Placeholder 2"/>
          <p:cNvSpPr>
            <a:spLocks noGrp="1"/>
          </p:cNvSpPr>
          <p:nvPr>
            <p:ph sz="half" idx="1"/>
          </p:nvPr>
        </p:nvSpPr>
        <p:spPr>
          <a:xfrm>
            <a:off x="838200" y="1825625"/>
            <a:ext cx="5181600" cy="4351338"/>
          </a:xfrm>
        </p:spPr>
        <p:txBody>
          <a:bodyPr vert="horz" lIns="91440" tIns="45720" rIns="91440" bIns="45720" rtlCol="0">
            <a:normAutofit/>
          </a:bodyPr>
          <a:lstStyle/>
          <a:p>
            <a:r>
              <a:rPr lang="en-US" dirty="0"/>
              <a:t>Key function to improve performance of any aspect of health care delivery</a:t>
            </a:r>
          </a:p>
          <a:p>
            <a:r>
              <a:rPr lang="en-US" dirty="0"/>
              <a:t>Demonstrates whether a program is accomplishing its intended goals</a:t>
            </a:r>
          </a:p>
          <a:p>
            <a:r>
              <a:rPr lang="en-US" dirty="0"/>
              <a:t>Identifies weaknesses and strengths</a:t>
            </a:r>
          </a:p>
          <a:p>
            <a:endParaRPr lang="en-US" dirty="0"/>
          </a:p>
        </p:txBody>
      </p:sp>
      <p:pic>
        <p:nvPicPr>
          <p:cNvPr id="5" name="Content Placeholder 4"/>
          <p:cNvPicPr>
            <a:picLocks noGrp="1" noChangeAspect="1"/>
          </p:cNvPicPr>
          <p:nvPr>
            <p:ph sz="half" idx="2"/>
          </p:nvPr>
        </p:nvPicPr>
        <p:blipFill rotWithShape="1">
          <a:blip r:embed="rId2"/>
          <a:stretch/>
        </p:blipFill>
        <p:spPr>
          <a:xfrm>
            <a:off x="6172200" y="2828957"/>
            <a:ext cx="5181600" cy="2344673"/>
          </a:xfrm>
          <a:prstGeom prst="rect">
            <a:avLst/>
          </a:prstGeom>
          <a:noFill/>
        </p:spPr>
      </p:pic>
    </p:spTree>
    <p:extLst>
      <p:ext uri="{BB962C8B-B14F-4D97-AF65-F5344CB8AC3E}">
        <p14:creationId xmlns:p14="http://schemas.microsoft.com/office/powerpoint/2010/main" val="23101408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118333"/>
            <a:ext cx="12192000" cy="1639824"/>
          </a:xfrm>
          <a:prstGeom prst="rect">
            <a:avLst/>
          </a:prstGeom>
        </p:spPr>
      </p:pic>
      <p:sp>
        <p:nvSpPr>
          <p:cNvPr id="2" name="Title 1"/>
          <p:cNvSpPr>
            <a:spLocks noGrp="1"/>
          </p:cNvSpPr>
          <p:nvPr>
            <p:ph type="title"/>
          </p:nvPr>
        </p:nvSpPr>
        <p:spPr>
          <a:xfrm>
            <a:off x="36576" y="-1"/>
            <a:ext cx="12192000" cy="1873405"/>
          </a:xfrm>
        </p:spPr>
        <p:txBody>
          <a:bodyPr/>
          <a:lstStyle/>
          <a:p>
            <a:endParaRPr lang="en-GB" dirty="0"/>
          </a:p>
        </p:txBody>
      </p:sp>
      <p:sp>
        <p:nvSpPr>
          <p:cNvPr id="3" name="Content Placeholder 2"/>
          <p:cNvSpPr>
            <a:spLocks noGrp="1"/>
          </p:cNvSpPr>
          <p:nvPr>
            <p:ph idx="1"/>
          </p:nvPr>
        </p:nvSpPr>
        <p:spPr>
          <a:xfrm>
            <a:off x="621792" y="2304289"/>
            <a:ext cx="10732008" cy="3872674"/>
          </a:xfrm>
        </p:spPr>
        <p:txBody>
          <a:bodyPr/>
          <a:lstStyle/>
          <a:p>
            <a:pPr lvl="0"/>
            <a:r>
              <a:rPr lang="en-US" dirty="0"/>
              <a:t>The INHS Health Checks program targets all adults aged 35 (in Islington) to 74 for cardiovascular disease, type 2 diabetes and chronic kidney disease</a:t>
            </a:r>
          </a:p>
          <a:p>
            <a:pPr lvl="0"/>
            <a:endParaRPr lang="en-US" dirty="0"/>
          </a:p>
          <a:p>
            <a:pPr lvl="0"/>
            <a:r>
              <a:rPr lang="en-US" dirty="0"/>
              <a:t>Islington  primary care trust (PCT ) delivered  this program in  2009 through GP surgeries and pharmacies and extended the outreach in 2010 by using the community setting</a:t>
            </a:r>
            <a:endParaRPr lang="en-GB" dirty="0"/>
          </a:p>
          <a:p>
            <a:endParaRPr lang="en-GB" dirty="0"/>
          </a:p>
        </p:txBody>
      </p:sp>
    </p:spTree>
    <p:extLst>
      <p:ext uri="{BB962C8B-B14F-4D97-AF65-F5344CB8AC3E}">
        <p14:creationId xmlns:p14="http://schemas.microsoft.com/office/powerpoint/2010/main" val="37270586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GB" dirty="0"/>
              <a:t>Health Checks protocol for the</a:t>
            </a:r>
            <a:br>
              <a:rPr lang="en-GB" dirty="0"/>
            </a:br>
            <a:r>
              <a:rPr lang="en-GB" dirty="0"/>
              <a:t>community setting</a:t>
            </a:r>
          </a:p>
        </p:txBody>
      </p:sp>
      <p:sp>
        <p:nvSpPr>
          <p:cNvPr id="3" name="Content Placeholder 2"/>
          <p:cNvSpPr>
            <a:spLocks noGrp="1"/>
          </p:cNvSpPr>
          <p:nvPr>
            <p:ph sz="half" idx="1"/>
          </p:nvPr>
        </p:nvSpPr>
        <p:spPr>
          <a:xfrm>
            <a:off x="838199" y="1825625"/>
            <a:ext cx="6354337" cy="4351338"/>
          </a:xfrm>
        </p:spPr>
        <p:txBody>
          <a:bodyPr>
            <a:normAutofit/>
          </a:bodyPr>
          <a:lstStyle/>
          <a:p>
            <a:r>
              <a:rPr lang="en-US" sz="2000" dirty="0"/>
              <a:t>NHS Islington commissioned Health Smart (service provider) to conduct the community based cardiovascular risk assessment service  </a:t>
            </a:r>
          </a:p>
          <a:p>
            <a:r>
              <a:rPr lang="en-US" sz="2000" dirty="0"/>
              <a:t>Opportunistic cardiovascular health checks were conducted for Islington residents aged between 35-74 years with no existing cardiovascular diseases</a:t>
            </a:r>
          </a:p>
          <a:p>
            <a:r>
              <a:rPr lang="en-US" sz="2000" dirty="0"/>
              <a:t>Posters and leaflets were used to market the Health Checks</a:t>
            </a:r>
          </a:p>
          <a:p>
            <a:r>
              <a:rPr lang="en-US" sz="2000" dirty="0"/>
              <a:t>The service was available to both men and women resident in the borough of Islington</a:t>
            </a:r>
          </a:p>
          <a:p>
            <a:r>
              <a:rPr lang="en-US" sz="2000" dirty="0"/>
              <a:t>All participants indicated their agreement to a Health Check by signed consent</a:t>
            </a:r>
            <a:endParaRPr lang="en-GB" sz="2000" dirty="0"/>
          </a:p>
        </p:txBody>
      </p:sp>
      <p:pic>
        <p:nvPicPr>
          <p:cNvPr id="7" name="Graphic 6" descr="Heart Organ">
            <a:extLst>
              <a:ext uri="{FF2B5EF4-FFF2-40B4-BE49-F238E27FC236}">
                <a16:creationId xmlns:a16="http://schemas.microsoft.com/office/drawing/2014/main" id="{4C136C65-20CB-44B5-862A-30352FEFFF6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37043" y="1825625"/>
            <a:ext cx="3816757" cy="4351338"/>
          </a:xfrm>
          <a:prstGeom prst="rect">
            <a:avLst/>
          </a:prstGeom>
        </p:spPr>
      </p:pic>
    </p:spTree>
    <p:extLst>
      <p:ext uri="{BB962C8B-B14F-4D97-AF65-F5344CB8AC3E}">
        <p14:creationId xmlns:p14="http://schemas.microsoft.com/office/powerpoint/2010/main" val="33453564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39467" y="484632"/>
            <a:ext cx="4960918" cy="1609344"/>
          </a:xfrm>
          <a:ln>
            <a:noFill/>
          </a:ln>
        </p:spPr>
        <p:txBody>
          <a:bodyPr vert="horz" lIns="91440" tIns="45720" rIns="91440" bIns="45720" rtlCol="0" anchor="ctr">
            <a:normAutofit/>
          </a:bodyPr>
          <a:lstStyle/>
          <a:p>
            <a:br>
              <a:rPr lang="en-US" sz="3400" kern="1200" dirty="0">
                <a:solidFill>
                  <a:schemeClr val="bg1"/>
                </a:solidFill>
                <a:latin typeface="+mj-lt"/>
                <a:ea typeface="+mj-ea"/>
                <a:cs typeface="+mj-cs"/>
              </a:rPr>
            </a:br>
            <a:r>
              <a:rPr lang="en-US" sz="3400" kern="1200" dirty="0">
                <a:solidFill>
                  <a:schemeClr val="accent1">
                    <a:lumMod val="20000"/>
                    <a:lumOff val="80000"/>
                  </a:schemeClr>
                </a:solidFill>
                <a:latin typeface="+mj-lt"/>
                <a:ea typeface="+mj-ea"/>
                <a:cs typeface="+mj-cs"/>
              </a:rPr>
              <a:t>Venues for Islington NHSHC</a:t>
            </a:r>
            <a:br>
              <a:rPr lang="en-US" sz="3400" kern="1200" dirty="0">
                <a:solidFill>
                  <a:schemeClr val="accent1">
                    <a:lumMod val="20000"/>
                    <a:lumOff val="80000"/>
                  </a:schemeClr>
                </a:solidFill>
                <a:latin typeface="+mj-lt"/>
                <a:ea typeface="+mj-ea"/>
                <a:cs typeface="+mj-cs"/>
              </a:rPr>
            </a:br>
            <a:endParaRPr lang="en-US" sz="3400" kern="1200" dirty="0">
              <a:solidFill>
                <a:schemeClr val="accent1">
                  <a:lumMod val="20000"/>
                  <a:lumOff val="80000"/>
                </a:schemeClr>
              </a:solidFill>
              <a:latin typeface="+mj-lt"/>
              <a:ea typeface="+mj-ea"/>
              <a:cs typeface="+mj-cs"/>
            </a:endParaRPr>
          </a:p>
        </p:txBody>
      </p:sp>
      <p:pic>
        <p:nvPicPr>
          <p:cNvPr id="5" name="Content Placeholder 4"/>
          <p:cNvPicPr>
            <a:picLocks noGrp="1" noChangeAspect="1"/>
          </p:cNvPicPr>
          <p:nvPr>
            <p:ph sz="half" idx="2"/>
          </p:nvPr>
        </p:nvPicPr>
        <p:blipFill rotWithShape="1">
          <a:blip r:embed="rId2"/>
          <a:srcRect t="2547" r="-3" b="-3"/>
          <a:stretch/>
        </p:blipFill>
        <p:spPr>
          <a:xfrm>
            <a:off x="-2" y="10"/>
            <a:ext cx="3036232" cy="3352846"/>
          </a:xfrm>
          <a:prstGeom prst="rect">
            <a:avLst/>
          </a:prstGeom>
        </p:spPr>
      </p:pic>
      <p:pic>
        <p:nvPicPr>
          <p:cNvPr id="6" name="Picture 5"/>
          <p:cNvPicPr>
            <a:picLocks noChangeAspect="1"/>
          </p:cNvPicPr>
          <p:nvPr/>
        </p:nvPicPr>
        <p:blipFill rotWithShape="1">
          <a:blip r:embed="rId3"/>
          <a:srcRect r="5083" b="2"/>
          <a:stretch/>
        </p:blipFill>
        <p:spPr>
          <a:xfrm>
            <a:off x="3124623" y="278779"/>
            <a:ext cx="2971377" cy="5049079"/>
          </a:xfrm>
          <a:custGeom>
            <a:avLst/>
            <a:gdLst>
              <a:gd name="connsiteX0" fmla="*/ 0 w 2971377"/>
              <a:gd name="connsiteY0" fmla="*/ 0 h 5049079"/>
              <a:gd name="connsiteX1" fmla="*/ 2971377 w 2971377"/>
              <a:gd name="connsiteY1" fmla="*/ 0 h 5049079"/>
              <a:gd name="connsiteX2" fmla="*/ 2971377 w 2971377"/>
              <a:gd name="connsiteY2" fmla="*/ 5049079 h 5049079"/>
              <a:gd name="connsiteX3" fmla="*/ 949962 w 2971377"/>
              <a:gd name="connsiteY3" fmla="*/ 5049079 h 5049079"/>
              <a:gd name="connsiteX4" fmla="*/ 949962 w 2971377"/>
              <a:gd name="connsiteY4" fmla="*/ 3352857 h 5049079"/>
              <a:gd name="connsiteX5" fmla="*/ 0 w 2971377"/>
              <a:gd name="connsiteY5" fmla="*/ 3352857 h 5049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71377" h="5049079">
                <a:moveTo>
                  <a:pt x="0" y="0"/>
                </a:moveTo>
                <a:lnTo>
                  <a:pt x="2971377" y="0"/>
                </a:lnTo>
                <a:lnTo>
                  <a:pt x="2971377" y="5049079"/>
                </a:lnTo>
                <a:lnTo>
                  <a:pt x="949962" y="5049079"/>
                </a:lnTo>
                <a:lnTo>
                  <a:pt x="949962" y="3352857"/>
                </a:lnTo>
                <a:lnTo>
                  <a:pt x="0" y="3352857"/>
                </a:lnTo>
                <a:close/>
              </a:path>
            </a:pathLst>
          </a:custGeom>
        </p:spPr>
      </p:pic>
      <p:pic>
        <p:nvPicPr>
          <p:cNvPr id="9" name="Picture 8"/>
          <p:cNvPicPr>
            <a:picLocks noChangeAspect="1"/>
          </p:cNvPicPr>
          <p:nvPr/>
        </p:nvPicPr>
        <p:blipFill rotWithShape="1">
          <a:blip r:embed="rId4"/>
          <a:srcRect t="17173" r="3" b="25162"/>
          <a:stretch/>
        </p:blipFill>
        <p:spPr>
          <a:xfrm>
            <a:off x="20" y="3429000"/>
            <a:ext cx="3998825" cy="3429000"/>
          </a:xfrm>
          <a:prstGeom prst="rect">
            <a:avLst/>
          </a:prstGeom>
        </p:spPr>
      </p:pic>
      <p:pic>
        <p:nvPicPr>
          <p:cNvPr id="7" name="Picture 6"/>
          <p:cNvPicPr>
            <a:picLocks noChangeAspect="1"/>
          </p:cNvPicPr>
          <p:nvPr/>
        </p:nvPicPr>
        <p:blipFill rotWithShape="1">
          <a:blip r:embed="rId5"/>
          <a:srcRect l="7448" r="9178" b="1"/>
          <a:stretch/>
        </p:blipFill>
        <p:spPr>
          <a:xfrm>
            <a:off x="4076621" y="5140518"/>
            <a:ext cx="2027001" cy="1720058"/>
          </a:xfrm>
          <a:prstGeom prst="rect">
            <a:avLst/>
          </a:prstGeom>
        </p:spPr>
      </p:pic>
      <p:sp>
        <p:nvSpPr>
          <p:cNvPr id="3" name="Content Placeholder 2"/>
          <p:cNvSpPr>
            <a:spLocks noGrp="1"/>
          </p:cNvSpPr>
          <p:nvPr>
            <p:ph sz="half" idx="1"/>
          </p:nvPr>
        </p:nvSpPr>
        <p:spPr>
          <a:xfrm>
            <a:off x="6739466" y="2121408"/>
            <a:ext cx="4960918" cy="4050792"/>
          </a:xfrm>
        </p:spPr>
        <p:txBody>
          <a:bodyPr vert="horz" lIns="91440" tIns="45720" rIns="91440" bIns="45720" rtlCol="0">
            <a:normAutofit/>
          </a:bodyPr>
          <a:lstStyle/>
          <a:p>
            <a:r>
              <a:rPr lang="en-US" sz="1900" dirty="0">
                <a:solidFill>
                  <a:schemeClr val="accent1">
                    <a:lumMod val="20000"/>
                    <a:lumOff val="80000"/>
                  </a:schemeClr>
                </a:solidFill>
              </a:rPr>
              <a:t>During the period of July to December 2010 health checks were conducted on random days of the week at the following venues:</a:t>
            </a:r>
          </a:p>
          <a:p>
            <a:r>
              <a:rPr lang="en-US" sz="1900" dirty="0">
                <a:solidFill>
                  <a:schemeClr val="accent1">
                    <a:lumMod val="20000"/>
                    <a:lumOff val="80000"/>
                  </a:schemeClr>
                </a:solidFill>
              </a:rPr>
              <a:t>Islington Town Hall</a:t>
            </a:r>
          </a:p>
          <a:p>
            <a:r>
              <a:rPr lang="en-US" sz="1900" dirty="0">
                <a:solidFill>
                  <a:schemeClr val="accent1">
                    <a:lumMod val="20000"/>
                    <a:lumOff val="80000"/>
                  </a:schemeClr>
                </a:solidFill>
              </a:rPr>
              <a:t>Nags Head Shopping Centre</a:t>
            </a:r>
          </a:p>
          <a:p>
            <a:r>
              <a:rPr lang="en-US" sz="1900" dirty="0">
                <a:solidFill>
                  <a:schemeClr val="accent1">
                    <a:lumMod val="20000"/>
                    <a:lumOff val="80000"/>
                  </a:schemeClr>
                </a:solidFill>
              </a:rPr>
              <a:t>Waitrose, Holloway Road</a:t>
            </a:r>
          </a:p>
          <a:p>
            <a:r>
              <a:rPr lang="en-US" sz="1900" dirty="0">
                <a:solidFill>
                  <a:schemeClr val="accent1">
                    <a:lumMod val="20000"/>
                    <a:lumOff val="80000"/>
                  </a:schemeClr>
                </a:solidFill>
              </a:rPr>
              <a:t>Muslim Welfare House, Finsbury Park mosque</a:t>
            </a:r>
          </a:p>
          <a:p>
            <a:r>
              <a:rPr lang="en-US" sz="1900" dirty="0">
                <a:solidFill>
                  <a:schemeClr val="accent1">
                    <a:lumMod val="20000"/>
                    <a:lumOff val="80000"/>
                  </a:schemeClr>
                </a:solidFill>
              </a:rPr>
              <a:t>Archway Post Office</a:t>
            </a:r>
          </a:p>
          <a:p>
            <a:r>
              <a:rPr lang="en-US" sz="1900" dirty="0">
                <a:solidFill>
                  <a:schemeClr val="accent1">
                    <a:lumMod val="20000"/>
                    <a:lumOff val="80000"/>
                  </a:schemeClr>
                </a:solidFill>
              </a:rPr>
              <a:t>Arsenal Red Learning Centre</a:t>
            </a:r>
          </a:p>
          <a:p>
            <a:r>
              <a:rPr lang="en-US" sz="1900" dirty="0">
                <a:solidFill>
                  <a:schemeClr val="accent1">
                    <a:lumMod val="20000"/>
                    <a:lumOff val="80000"/>
                  </a:schemeClr>
                </a:solidFill>
              </a:rPr>
              <a:t>Andover Community Centre</a:t>
            </a:r>
          </a:p>
          <a:p>
            <a:r>
              <a:rPr lang="en-US" sz="1900" dirty="0">
                <a:solidFill>
                  <a:schemeClr val="accent1">
                    <a:lumMod val="20000"/>
                    <a:lumOff val="80000"/>
                  </a:schemeClr>
                </a:solidFill>
              </a:rPr>
              <a:t>Hanley Community Centre</a:t>
            </a:r>
          </a:p>
          <a:p>
            <a:endParaRPr lang="en-US" sz="1900" dirty="0"/>
          </a:p>
        </p:txBody>
      </p:sp>
    </p:spTree>
    <p:extLst>
      <p:ext uri="{BB962C8B-B14F-4D97-AF65-F5344CB8AC3E}">
        <p14:creationId xmlns:p14="http://schemas.microsoft.com/office/powerpoint/2010/main" val="1377073991"/>
      </p:ext>
    </p:extLst>
  </p:cSld>
  <p:clrMapOvr>
    <a:overrideClrMapping bg1="dk1" tx1="lt1" bg2="dk2" tx2="lt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4000"/>
            </a:schemeClr>
          </a:solidFill>
          <a:ln w="127000" cap="sq" cmpd="thinThick">
            <a:solidFill>
              <a:schemeClr val="tx1">
                <a:lumMod val="85000"/>
                <a:lumOff val="15000"/>
                <a:alpha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38200" y="631825"/>
            <a:ext cx="10515600" cy="1325563"/>
          </a:xfrm>
          <a:solidFill>
            <a:schemeClr val="accent1">
              <a:lumMod val="20000"/>
              <a:lumOff val="80000"/>
            </a:schemeClr>
          </a:solidFill>
        </p:spPr>
        <p:txBody>
          <a:bodyPr>
            <a:normAutofit/>
          </a:bodyPr>
          <a:lstStyle/>
          <a:p>
            <a:r>
              <a:rPr lang="en-GB" dirty="0"/>
              <a:t>NHSHC Methodology</a:t>
            </a:r>
          </a:p>
        </p:txBody>
      </p:sp>
      <p:sp>
        <p:nvSpPr>
          <p:cNvPr id="3" name="Content Placeholder 2"/>
          <p:cNvSpPr>
            <a:spLocks noGrp="1"/>
          </p:cNvSpPr>
          <p:nvPr>
            <p:ph idx="1"/>
          </p:nvPr>
        </p:nvSpPr>
        <p:spPr>
          <a:xfrm>
            <a:off x="838200" y="2057400"/>
            <a:ext cx="10515600" cy="3871762"/>
          </a:xfrm>
          <a:solidFill>
            <a:schemeClr val="accent1">
              <a:lumMod val="20000"/>
              <a:lumOff val="80000"/>
            </a:schemeClr>
          </a:solidFill>
          <a:ln>
            <a:solidFill>
              <a:schemeClr val="accent1">
                <a:lumMod val="20000"/>
                <a:lumOff val="80000"/>
              </a:schemeClr>
            </a:solidFill>
          </a:ln>
        </p:spPr>
        <p:txBody>
          <a:bodyPr>
            <a:normAutofit/>
          </a:bodyPr>
          <a:lstStyle/>
          <a:p>
            <a:r>
              <a:rPr lang="en-US" sz="2000" dirty="0"/>
              <a:t>Participants were recruited opportunistically by frontline staff and invited to undertake a health check</a:t>
            </a:r>
          </a:p>
          <a:p>
            <a:r>
              <a:rPr lang="en-US" sz="2000" dirty="0"/>
              <a:t>Participants were weighed and their height measured</a:t>
            </a:r>
          </a:p>
          <a:p>
            <a:r>
              <a:rPr lang="en-US" sz="2000" dirty="0"/>
              <a:t>Information about family and medical history, including current   medications and level of physical activity, were obtained</a:t>
            </a:r>
          </a:p>
          <a:p>
            <a:r>
              <a:rPr lang="en-US" sz="2000" dirty="0"/>
              <a:t>All major CVD risk factors including total cholesterol and high-density lipoprotein cholesterol (HDL-C) plasma levels, systolic blood pressure and diastolic blood pressure, random blood glucose level (BGL), smoking habit, and body mass index (BMI; weight (kg)/[height (m)]2) were assessed</a:t>
            </a:r>
          </a:p>
          <a:p>
            <a:r>
              <a:rPr lang="en-US" sz="2000" dirty="0"/>
              <a:t>Total and HDL cholesterol levels and BGL were measured from finger prick blood samples using a portable desktop dry-chemistry analyzer</a:t>
            </a:r>
            <a:endParaRPr lang="en-GB" sz="2000" dirty="0"/>
          </a:p>
        </p:txBody>
      </p:sp>
    </p:spTree>
    <p:extLst>
      <p:ext uri="{BB962C8B-B14F-4D97-AF65-F5344CB8AC3E}">
        <p14:creationId xmlns:p14="http://schemas.microsoft.com/office/powerpoint/2010/main" val="37205434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obtained by INHSHC </a:t>
            </a:r>
          </a:p>
        </p:txBody>
      </p:sp>
      <p:sp>
        <p:nvSpPr>
          <p:cNvPr id="3" name="Content Placeholder 2"/>
          <p:cNvSpPr>
            <a:spLocks noGrp="1"/>
          </p:cNvSpPr>
          <p:nvPr>
            <p:ph sz="half" idx="1"/>
          </p:nvPr>
        </p:nvSpPr>
        <p:spPr/>
        <p:txBody>
          <a:bodyPr>
            <a:normAutofit fontScale="92500"/>
          </a:bodyPr>
          <a:lstStyle/>
          <a:p>
            <a:r>
              <a:rPr lang="en-US" dirty="0"/>
              <a:t>Participants’ 10-year risk of developing cardiovascular events, using cardiovascular</a:t>
            </a:r>
            <a:r>
              <a:rPr lang="en-US" baseline="30000" dirty="0"/>
              <a:t> </a:t>
            </a:r>
            <a:r>
              <a:rPr lang="en-US" dirty="0"/>
              <a:t>disease risk algorithm (QRISK2) was calculated</a:t>
            </a:r>
          </a:p>
          <a:p>
            <a:r>
              <a:rPr lang="en-US" dirty="0"/>
              <a:t>Individuals whose 10-year absolute risk exceeded 20%</a:t>
            </a:r>
          </a:p>
          <a:p>
            <a:pPr marL="0" indent="0">
              <a:buNone/>
            </a:pPr>
            <a:r>
              <a:rPr lang="en-US" dirty="0"/>
              <a:t> </a:t>
            </a:r>
            <a:endParaRPr lang="en-GB" dirty="0"/>
          </a:p>
        </p:txBody>
      </p:sp>
      <p:sp>
        <p:nvSpPr>
          <p:cNvPr id="4" name="Content Placeholder 3"/>
          <p:cNvSpPr>
            <a:spLocks noGrp="1"/>
          </p:cNvSpPr>
          <p:nvPr>
            <p:ph sz="half" idx="2"/>
          </p:nvPr>
        </p:nvSpPr>
        <p:spPr/>
        <p:txBody>
          <a:bodyPr>
            <a:normAutofit fontScale="92500"/>
          </a:bodyPr>
          <a:lstStyle/>
          <a:p>
            <a:r>
              <a:rPr lang="en-US" dirty="0"/>
              <a:t>Detection of one or more abnormal test results (i.e., SBP greater than or equal to 140 mmHg; DBP greater than or equal to 90 mmHg</a:t>
            </a:r>
          </a:p>
          <a:p>
            <a:r>
              <a:rPr lang="en-US" dirty="0"/>
              <a:t>TC greater than or equal to 5.5 mmol/l; HDL-C below 1.0 mmol/l </a:t>
            </a:r>
          </a:p>
          <a:p>
            <a:r>
              <a:rPr lang="en-US" dirty="0"/>
              <a:t>Or random BGL greater than or equal to 8 mmol/l), were asked to see their general practitioner for further assessment or management.</a:t>
            </a:r>
          </a:p>
          <a:p>
            <a:endParaRPr lang="en-GB" dirty="0"/>
          </a:p>
        </p:txBody>
      </p:sp>
      <p:pic>
        <p:nvPicPr>
          <p:cNvPr id="5" name="Picture 4"/>
          <p:cNvPicPr>
            <a:picLocks noChangeAspect="1"/>
          </p:cNvPicPr>
          <p:nvPr/>
        </p:nvPicPr>
        <p:blipFill>
          <a:blip r:embed="rId3"/>
          <a:stretch>
            <a:fillRect/>
          </a:stretch>
        </p:blipFill>
        <p:spPr>
          <a:xfrm>
            <a:off x="1719072" y="4291584"/>
            <a:ext cx="2987040" cy="2157984"/>
          </a:xfrm>
          <a:prstGeom prst="rect">
            <a:avLst/>
          </a:prstGeom>
        </p:spPr>
      </p:pic>
    </p:spTree>
    <p:extLst>
      <p:ext uri="{BB962C8B-B14F-4D97-AF65-F5344CB8AC3E}">
        <p14:creationId xmlns:p14="http://schemas.microsoft.com/office/powerpoint/2010/main" val="3969747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dirty="0"/>
              <a:t>Information given to participants</a:t>
            </a:r>
          </a:p>
        </p:txBody>
      </p:sp>
      <p:sp>
        <p:nvSpPr>
          <p:cNvPr id="3" name="Content Placeholder 2"/>
          <p:cNvSpPr>
            <a:spLocks noGrp="1"/>
          </p:cNvSpPr>
          <p:nvPr>
            <p:ph sz="half" idx="1"/>
          </p:nvPr>
        </p:nvSpPr>
        <p:spPr>
          <a:xfrm>
            <a:off x="838200" y="1825625"/>
            <a:ext cx="5181600" cy="4351338"/>
          </a:xfrm>
        </p:spPr>
        <p:txBody>
          <a:bodyPr vert="horz" lIns="91440" tIns="45720" rIns="91440" bIns="45720" rtlCol="0">
            <a:normAutofit/>
          </a:bodyPr>
          <a:lstStyle/>
          <a:p>
            <a:r>
              <a:rPr lang="en-US" sz="2600" dirty="0"/>
              <a:t>Referrals to smoking services, weight management services and exercise services were recommended where appropriate</a:t>
            </a:r>
          </a:p>
          <a:p>
            <a:r>
              <a:rPr lang="en-US" sz="2600" dirty="0"/>
              <a:t>a printed copy of their health check results and educational material published by the Food Standard Agency and Department of Health</a:t>
            </a:r>
          </a:p>
          <a:p>
            <a:r>
              <a:rPr lang="en-US" sz="2600" dirty="0"/>
              <a:t>verbal counseling about smoking, diet and exercise was also provided</a:t>
            </a:r>
          </a:p>
          <a:p>
            <a:endParaRPr lang="en-US" sz="2600" dirty="0"/>
          </a:p>
          <a:p>
            <a:endParaRPr lang="en-US" sz="2600" dirty="0"/>
          </a:p>
        </p:txBody>
      </p:sp>
      <p:pic>
        <p:nvPicPr>
          <p:cNvPr id="5" name="Content Placeholder 4"/>
          <p:cNvPicPr>
            <a:picLocks noGrp="1" noChangeAspect="1"/>
          </p:cNvPicPr>
          <p:nvPr>
            <p:ph sz="half" idx="2"/>
          </p:nvPr>
        </p:nvPicPr>
        <p:blipFill rotWithShape="1">
          <a:blip r:embed="rId2"/>
          <a:srcRect l="52591" r="7815" b="1"/>
          <a:stretch>
            <a:fillRect/>
          </a:stretch>
        </p:blipFill>
        <p:spPr>
          <a:xfrm>
            <a:off x="6172200" y="1825625"/>
            <a:ext cx="5181600" cy="4351338"/>
          </a:xfrm>
          <a:prstGeom prst="rect">
            <a:avLst/>
          </a:prstGeom>
          <a:noFill/>
        </p:spPr>
      </p:pic>
    </p:spTree>
    <p:extLst>
      <p:ext uri="{BB962C8B-B14F-4D97-AF65-F5344CB8AC3E}">
        <p14:creationId xmlns:p14="http://schemas.microsoft.com/office/powerpoint/2010/main" val="5771728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9E906-D306-FCE7-6600-F47711D3B840}"/>
              </a:ext>
            </a:extLst>
          </p:cNvPr>
          <p:cNvSpPr>
            <a:spLocks noGrp="1"/>
          </p:cNvSpPr>
          <p:nvPr>
            <p:ph type="title"/>
          </p:nvPr>
        </p:nvSpPr>
        <p:spPr/>
        <p:txBody>
          <a:bodyPr/>
          <a:lstStyle/>
          <a:p>
            <a:r>
              <a:rPr lang="en-US" dirty="0"/>
              <a:t>Community Setting Evaluation</a:t>
            </a:r>
            <a:endParaRPr lang="en-001"/>
          </a:p>
        </p:txBody>
      </p:sp>
      <p:sp>
        <p:nvSpPr>
          <p:cNvPr id="3" name="Content Placeholder 2">
            <a:extLst>
              <a:ext uri="{FF2B5EF4-FFF2-40B4-BE49-F238E27FC236}">
                <a16:creationId xmlns:a16="http://schemas.microsoft.com/office/drawing/2014/main" id="{A34D78CC-ECEC-E183-88D7-FB316D52C663}"/>
              </a:ext>
            </a:extLst>
          </p:cNvPr>
          <p:cNvSpPr>
            <a:spLocks noGrp="1"/>
          </p:cNvSpPr>
          <p:nvPr>
            <p:ph sz="half" idx="1"/>
          </p:nvPr>
        </p:nvSpPr>
        <p:spPr/>
        <p:txBody>
          <a:bodyPr>
            <a:normAutofit fontScale="92500" lnSpcReduction="20000"/>
          </a:bodyPr>
          <a:lstStyle/>
          <a:p>
            <a:r>
              <a:rPr lang="en-US" dirty="0"/>
              <a:t>Two questionnaires were devised to evaluate the pilot program in Islington</a:t>
            </a:r>
          </a:p>
          <a:p>
            <a:endParaRPr lang="en-US" dirty="0"/>
          </a:p>
          <a:p>
            <a:r>
              <a:rPr lang="en-US" dirty="0"/>
              <a:t>Post-check questionnaire for face-to-face interviews after the health checks were completed to evaluate the delivery </a:t>
            </a:r>
          </a:p>
          <a:p>
            <a:endParaRPr lang="en-US" dirty="0"/>
          </a:p>
          <a:p>
            <a:r>
              <a:rPr lang="en-US" dirty="0"/>
              <a:t> Follow-up telephone questionnaire to evaluate the outcome of the health checks and assess change in risk factors </a:t>
            </a:r>
          </a:p>
          <a:p>
            <a:endParaRPr lang="en-001"/>
          </a:p>
        </p:txBody>
      </p:sp>
      <p:pic>
        <p:nvPicPr>
          <p:cNvPr id="5" name="Content Placeholder 4">
            <a:extLst>
              <a:ext uri="{FF2B5EF4-FFF2-40B4-BE49-F238E27FC236}">
                <a16:creationId xmlns:a16="http://schemas.microsoft.com/office/drawing/2014/main" id="{2DACC2A5-DD3F-4A61-1002-6B2936B3F22E}"/>
              </a:ext>
            </a:extLst>
          </p:cNvPr>
          <p:cNvPicPr>
            <a:picLocks noGrp="1" noChangeAspect="1"/>
          </p:cNvPicPr>
          <p:nvPr>
            <p:ph sz="half" idx="2"/>
          </p:nvPr>
        </p:nvPicPr>
        <p:blipFill rotWithShape="1">
          <a:blip r:embed="rId2"/>
          <a:srcRect l="31811" r="21185"/>
          <a:stretch/>
        </p:blipFill>
        <p:spPr>
          <a:xfrm>
            <a:off x="7291423" y="1464603"/>
            <a:ext cx="3730943" cy="2536691"/>
          </a:xfrm>
          <a:custGeom>
            <a:avLst/>
            <a:gdLst>
              <a:gd name="connsiteX0" fmla="*/ 205627 w 4502173"/>
              <a:gd name="connsiteY0" fmla="*/ 0 h 3448219"/>
              <a:gd name="connsiteX1" fmla="*/ 4502173 w 4502173"/>
              <a:gd name="connsiteY1" fmla="*/ 0 h 3448219"/>
              <a:gd name="connsiteX2" fmla="*/ 4502173 w 4502173"/>
              <a:gd name="connsiteY2" fmla="*/ 2368934 h 3448219"/>
              <a:gd name="connsiteX3" fmla="*/ 4365663 w 4502173"/>
              <a:gd name="connsiteY3" fmla="*/ 2551486 h 3448219"/>
              <a:gd name="connsiteX4" fmla="*/ 2464181 w 4502173"/>
              <a:gd name="connsiteY4" fmla="*/ 3448219 h 3448219"/>
              <a:gd name="connsiteX5" fmla="*/ 0 w 4502173"/>
              <a:gd name="connsiteY5" fmla="*/ 984038 h 3448219"/>
              <a:gd name="connsiteX6" fmla="*/ 193648 w 4502173"/>
              <a:gd name="connsiteY6" fmla="*/ 24867 h 3448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02173" h="3448219">
                <a:moveTo>
                  <a:pt x="205627" y="0"/>
                </a:moveTo>
                <a:lnTo>
                  <a:pt x="4502173" y="0"/>
                </a:lnTo>
                <a:lnTo>
                  <a:pt x="4502173" y="2368934"/>
                </a:lnTo>
                <a:lnTo>
                  <a:pt x="4365663" y="2551486"/>
                </a:lnTo>
                <a:cubicBezTo>
                  <a:pt x="3913696" y="3099144"/>
                  <a:pt x="3229704" y="3448219"/>
                  <a:pt x="2464181" y="3448219"/>
                </a:cubicBezTo>
                <a:cubicBezTo>
                  <a:pt x="1103251" y="3448219"/>
                  <a:pt x="0" y="2344968"/>
                  <a:pt x="0" y="984038"/>
                </a:cubicBezTo>
                <a:cubicBezTo>
                  <a:pt x="0" y="643806"/>
                  <a:pt x="68954" y="319678"/>
                  <a:pt x="193648" y="24867"/>
                </a:cubicBezTo>
                <a:close/>
              </a:path>
            </a:pathLst>
          </a:custGeom>
        </p:spPr>
      </p:pic>
      <p:pic>
        <p:nvPicPr>
          <p:cNvPr id="6" name="Picture 5">
            <a:extLst>
              <a:ext uri="{FF2B5EF4-FFF2-40B4-BE49-F238E27FC236}">
                <a16:creationId xmlns:a16="http://schemas.microsoft.com/office/drawing/2014/main" id="{6B5DFAA7-22DF-12FD-BCA2-2C9B2135F2D2}"/>
              </a:ext>
            </a:extLst>
          </p:cNvPr>
          <p:cNvPicPr>
            <a:picLocks noChangeAspect="1"/>
          </p:cNvPicPr>
          <p:nvPr/>
        </p:nvPicPr>
        <p:blipFill rotWithShape="1">
          <a:blip r:embed="rId3"/>
          <a:srcRect l="34333" r="-2" b="-2"/>
          <a:stretch/>
        </p:blipFill>
        <p:spPr>
          <a:xfrm>
            <a:off x="7445306" y="4082141"/>
            <a:ext cx="3423175" cy="2775859"/>
          </a:xfrm>
          <a:custGeom>
            <a:avLst/>
            <a:gdLst>
              <a:gd name="connsiteX0" fmla="*/ 1906524 w 3423175"/>
              <a:gd name="connsiteY0" fmla="*/ 0 h 2775859"/>
              <a:gd name="connsiteX1" fmla="*/ 3377691 w 3423175"/>
              <a:gd name="connsiteY1" fmla="*/ 693798 h 2775859"/>
              <a:gd name="connsiteX2" fmla="*/ 3423175 w 3423175"/>
              <a:gd name="connsiteY2" fmla="*/ 754624 h 2775859"/>
              <a:gd name="connsiteX3" fmla="*/ 3423175 w 3423175"/>
              <a:gd name="connsiteY3" fmla="*/ 2775859 h 2775859"/>
              <a:gd name="connsiteX4" fmla="*/ 211114 w 3423175"/>
              <a:gd name="connsiteY4" fmla="*/ 2775859 h 2775859"/>
              <a:gd name="connsiteX5" fmla="*/ 149824 w 3423175"/>
              <a:gd name="connsiteY5" fmla="*/ 2648629 h 2775859"/>
              <a:gd name="connsiteX6" fmla="*/ 0 w 3423175"/>
              <a:gd name="connsiteY6" fmla="*/ 1906524 h 2775859"/>
              <a:gd name="connsiteX7" fmla="*/ 1906524 w 3423175"/>
              <a:gd name="connsiteY7" fmla="*/ 0 h 2775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3175" h="2775859">
                <a:moveTo>
                  <a:pt x="1906524" y="0"/>
                </a:moveTo>
                <a:cubicBezTo>
                  <a:pt x="2498805" y="0"/>
                  <a:pt x="3028006" y="270078"/>
                  <a:pt x="3377691" y="693798"/>
                </a:cubicBezTo>
                <a:lnTo>
                  <a:pt x="3423175" y="754624"/>
                </a:lnTo>
                <a:lnTo>
                  <a:pt x="3423175" y="2775859"/>
                </a:lnTo>
                <a:lnTo>
                  <a:pt x="211114" y="2775859"/>
                </a:lnTo>
                <a:lnTo>
                  <a:pt x="149824" y="2648629"/>
                </a:lnTo>
                <a:cubicBezTo>
                  <a:pt x="53349" y="2420536"/>
                  <a:pt x="0" y="2169760"/>
                  <a:pt x="0" y="1906524"/>
                </a:cubicBezTo>
                <a:cubicBezTo>
                  <a:pt x="0" y="853580"/>
                  <a:pt x="853580" y="0"/>
                  <a:pt x="1906524" y="0"/>
                </a:cubicBezTo>
                <a:close/>
              </a:path>
            </a:pathLst>
          </a:custGeom>
        </p:spPr>
      </p:pic>
    </p:spTree>
    <p:extLst>
      <p:ext uri="{BB962C8B-B14F-4D97-AF65-F5344CB8AC3E}">
        <p14:creationId xmlns:p14="http://schemas.microsoft.com/office/powerpoint/2010/main" val="3062816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20D11-8F19-022D-69A0-F8CB770E9B8E}"/>
              </a:ext>
            </a:extLst>
          </p:cNvPr>
          <p:cNvSpPr>
            <a:spLocks noGrp="1"/>
          </p:cNvSpPr>
          <p:nvPr>
            <p:ph type="title"/>
          </p:nvPr>
        </p:nvSpPr>
        <p:spPr>
          <a:xfrm>
            <a:off x="839788" y="457200"/>
            <a:ext cx="3932237" cy="1118382"/>
          </a:xfrm>
        </p:spPr>
        <p:txBody>
          <a:bodyPr anchor="b">
            <a:normAutofit/>
          </a:bodyPr>
          <a:lstStyle/>
          <a:p>
            <a:r>
              <a:rPr lang="en-US" dirty="0"/>
              <a:t>Post health-check questionnaires</a:t>
            </a:r>
            <a:endParaRPr lang="en-001"/>
          </a:p>
        </p:txBody>
      </p:sp>
      <p:sp>
        <p:nvSpPr>
          <p:cNvPr id="4" name="Content Placeholder 3">
            <a:extLst>
              <a:ext uri="{FF2B5EF4-FFF2-40B4-BE49-F238E27FC236}">
                <a16:creationId xmlns:a16="http://schemas.microsoft.com/office/drawing/2014/main" id="{5B188C3B-3969-6261-0301-765F72FD1092}"/>
              </a:ext>
            </a:extLst>
          </p:cNvPr>
          <p:cNvSpPr>
            <a:spLocks noGrp="1"/>
          </p:cNvSpPr>
          <p:nvPr>
            <p:ph type="body" sz="half" idx="2"/>
          </p:nvPr>
        </p:nvSpPr>
        <p:spPr>
          <a:xfrm>
            <a:off x="839788" y="2057400"/>
            <a:ext cx="3932237" cy="3811588"/>
          </a:xfrm>
        </p:spPr>
        <p:txBody>
          <a:bodyPr>
            <a:normAutofit lnSpcReduction="10000"/>
          </a:bodyPr>
          <a:lstStyle/>
          <a:p>
            <a:r>
              <a:rPr lang="en-GB" sz="2400" dirty="0"/>
              <a:t>Interviewing participants immediately after they had used the service would enable the researcher to capture initial thoughts about the health check</a:t>
            </a:r>
          </a:p>
          <a:p>
            <a:r>
              <a:rPr lang="en-GB" sz="2400" dirty="0"/>
              <a:t>This method of interview facilitated recall of the details of their experience and was thought to prevent the loss of data that may otherwise occur</a:t>
            </a:r>
          </a:p>
          <a:p>
            <a:endParaRPr lang="en-001"/>
          </a:p>
        </p:txBody>
      </p:sp>
      <p:graphicFrame>
        <p:nvGraphicFramePr>
          <p:cNvPr id="6" name="Content Placeholder 2">
            <a:extLst>
              <a:ext uri="{FF2B5EF4-FFF2-40B4-BE49-F238E27FC236}">
                <a16:creationId xmlns:a16="http://schemas.microsoft.com/office/drawing/2014/main" id="{0C043791-0F25-D07C-F776-922115BB6B75}"/>
              </a:ext>
            </a:extLst>
          </p:cNvPr>
          <p:cNvGraphicFramePr>
            <a:graphicFrameLocks noGrp="1"/>
          </p:cNvGraphicFramePr>
          <p:nvPr>
            <p:ph idx="1"/>
            <p:extLst>
              <p:ext uri="{D42A27DB-BD31-4B8C-83A1-F6EECF244321}">
                <p14:modId xmlns:p14="http://schemas.microsoft.com/office/powerpoint/2010/main" val="3760886340"/>
              </p:ext>
            </p:extLst>
          </p:nvPr>
        </p:nvGraphicFramePr>
        <p:xfrm>
          <a:off x="5183188" y="987425"/>
          <a:ext cx="6172200" cy="4873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31323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Cardiovascular risk (n=1084) </a:t>
            </a:r>
            <a:endParaRPr lang="en-GB" dirty="0"/>
          </a:p>
        </p:txBody>
      </p:sp>
      <p:sp>
        <p:nvSpPr>
          <p:cNvPr id="3" name="Content Placeholder 2"/>
          <p:cNvSpPr>
            <a:spLocks noGrp="1"/>
          </p:cNvSpPr>
          <p:nvPr>
            <p:ph idx="1"/>
          </p:nvPr>
        </p:nvSpPr>
        <p:spPr/>
        <p:txBody>
          <a:bodyPr/>
          <a:lstStyle/>
          <a:p>
            <a:pPr>
              <a:buNone/>
            </a:pPr>
            <a:r>
              <a:rPr lang="en-US" b="1" dirty="0"/>
              <a:t>Risk Factors and Cardiovascular risk           	Population</a:t>
            </a:r>
            <a:r>
              <a:rPr lang="en-US" sz="2000" b="1" dirty="0"/>
              <a:t>, n (%)</a:t>
            </a:r>
            <a:r>
              <a:rPr lang="en-US" sz="2000" dirty="0"/>
              <a:t> </a:t>
            </a:r>
          </a:p>
          <a:p>
            <a:pPr>
              <a:buNone/>
            </a:pPr>
            <a:endParaRPr lang="en-US" sz="2000" dirty="0"/>
          </a:p>
          <a:p>
            <a:pPr>
              <a:buNone/>
            </a:pPr>
            <a:r>
              <a:rPr lang="en-US" dirty="0"/>
              <a:t>Proportion with high CVD risk ≥ 20%   		           </a:t>
            </a:r>
            <a:r>
              <a:rPr lang="en-GB" dirty="0"/>
              <a:t>69 (6.4%)</a:t>
            </a:r>
            <a:endParaRPr lang="en-US" dirty="0"/>
          </a:p>
          <a:p>
            <a:pPr>
              <a:buNone/>
            </a:pPr>
            <a:r>
              <a:rPr lang="en-US" dirty="0"/>
              <a:t>Proportion with raised CVD risk 10-19% </a:t>
            </a:r>
            <a:r>
              <a:rPr lang="en-US" baseline="30000" dirty="0"/>
              <a:t> </a:t>
            </a:r>
            <a:r>
              <a:rPr lang="en-US" dirty="0"/>
              <a:t>        	198 </a:t>
            </a:r>
            <a:r>
              <a:rPr lang="en-GB" dirty="0"/>
              <a:t>(18.3%)</a:t>
            </a:r>
            <a:endParaRPr lang="en-US" dirty="0"/>
          </a:p>
          <a:p>
            <a:pPr>
              <a:buNone/>
            </a:pPr>
            <a:r>
              <a:rPr lang="en-US" dirty="0"/>
              <a:t>Proportion with normal CVD risk  &lt; 10% </a:t>
            </a:r>
            <a:r>
              <a:rPr lang="en-US" baseline="30000" dirty="0"/>
              <a:t> </a:t>
            </a:r>
            <a:r>
              <a:rPr lang="en-US" dirty="0"/>
              <a:t>        	817 </a:t>
            </a:r>
            <a:r>
              <a:rPr lang="en-GB" dirty="0"/>
              <a:t>(75.4%)</a:t>
            </a:r>
            <a:endParaRPr lang="en-US" dirty="0"/>
          </a:p>
          <a:p>
            <a:endParaRPr lang="en-GB" dirty="0"/>
          </a:p>
        </p:txBody>
      </p:sp>
    </p:spTree>
    <p:extLst>
      <p:ext uri="{BB962C8B-B14F-4D97-AF65-F5344CB8AC3E}">
        <p14:creationId xmlns:p14="http://schemas.microsoft.com/office/powerpoint/2010/main" val="6900148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FEC1A-5FED-E244-11E8-B8B7A1FDFAA1}"/>
              </a:ext>
            </a:extLst>
          </p:cNvPr>
          <p:cNvSpPr>
            <a:spLocks noGrp="1"/>
          </p:cNvSpPr>
          <p:nvPr>
            <p:ph type="title"/>
          </p:nvPr>
        </p:nvSpPr>
        <p:spPr>
          <a:xfrm>
            <a:off x="838200" y="365125"/>
            <a:ext cx="10515600" cy="1325563"/>
          </a:xfrm>
        </p:spPr>
        <p:txBody>
          <a:bodyPr anchor="ctr">
            <a:normAutofit/>
          </a:bodyPr>
          <a:lstStyle/>
          <a:p>
            <a:r>
              <a:rPr lang="en-US" dirty="0"/>
              <a:t>Population characteristics (n=1084)</a:t>
            </a:r>
            <a:endParaRPr lang="en-001"/>
          </a:p>
        </p:txBody>
      </p:sp>
      <p:pic>
        <p:nvPicPr>
          <p:cNvPr id="4" name="Content Placeholder 3">
            <a:extLst>
              <a:ext uri="{FF2B5EF4-FFF2-40B4-BE49-F238E27FC236}">
                <a16:creationId xmlns:a16="http://schemas.microsoft.com/office/drawing/2014/main" id="{1DE6397F-B334-F7EF-4CA0-5FC97C269F99}"/>
              </a:ext>
            </a:extLst>
          </p:cNvPr>
          <p:cNvPicPr>
            <a:picLocks noGrp="1" noChangeAspect="1"/>
          </p:cNvPicPr>
          <p:nvPr>
            <p:ph idx="1"/>
          </p:nvPr>
        </p:nvPicPr>
        <p:blipFill>
          <a:blip r:embed="rId2"/>
          <a:stretch>
            <a:fillRect/>
          </a:stretch>
        </p:blipFill>
        <p:spPr>
          <a:xfrm>
            <a:off x="1012874" y="1544733"/>
            <a:ext cx="10515600" cy="4632230"/>
          </a:xfrm>
          <a:prstGeom prst="rect">
            <a:avLst/>
          </a:prstGeom>
          <a:noFill/>
        </p:spPr>
      </p:pic>
    </p:spTree>
    <p:extLst>
      <p:ext uri="{BB962C8B-B14F-4D97-AF65-F5344CB8AC3E}">
        <p14:creationId xmlns:p14="http://schemas.microsoft.com/office/powerpoint/2010/main" val="13276123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kern="1200" dirty="0"/>
              <a:t>Percentage of population identified </a:t>
            </a:r>
            <a:br>
              <a:rPr lang="en-US" kern="1200" dirty="0"/>
            </a:br>
            <a:r>
              <a:rPr lang="en-US" kern="1200" dirty="0"/>
              <a:t>with risk factors for cardiovascular events</a:t>
            </a:r>
          </a:p>
        </p:txBody>
      </p:sp>
      <p:pic>
        <p:nvPicPr>
          <p:cNvPr id="4" name="Content Placeholder 3"/>
          <p:cNvPicPr>
            <a:picLocks noGrp="1" noChangeAspect="1"/>
          </p:cNvPicPr>
          <p:nvPr>
            <p:ph idx="1"/>
          </p:nvPr>
        </p:nvPicPr>
        <p:blipFill>
          <a:blip r:embed="rId2" cstate="print"/>
          <a:stretch>
            <a:fillRect/>
          </a:stretch>
        </p:blipFill>
        <p:spPr>
          <a:xfrm>
            <a:off x="838200" y="1814732"/>
            <a:ext cx="10515600" cy="3882683"/>
          </a:xfrm>
          <a:prstGeom prst="rect">
            <a:avLst/>
          </a:prstGeom>
          <a:noFill/>
        </p:spPr>
      </p:pic>
    </p:spTree>
    <p:extLst>
      <p:ext uri="{BB962C8B-B14F-4D97-AF65-F5344CB8AC3E}">
        <p14:creationId xmlns:p14="http://schemas.microsoft.com/office/powerpoint/2010/main" val="5131457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Portions of fruits &amp; vegetables daily </a:t>
            </a:r>
            <a:br>
              <a:rPr lang="en-US" dirty="0"/>
            </a:br>
            <a:r>
              <a:rPr lang="en-US" dirty="0"/>
              <a:t>(n=1084)</a:t>
            </a:r>
            <a:endParaRPr lang="en-GB" dirty="0"/>
          </a:p>
        </p:txBody>
      </p:sp>
      <p:pic>
        <p:nvPicPr>
          <p:cNvPr id="4" name="Content Placeholder 3"/>
          <p:cNvPicPr>
            <a:picLocks noGrp="1" noChangeAspect="1"/>
          </p:cNvPicPr>
          <p:nvPr>
            <p:ph idx="1"/>
          </p:nvPr>
        </p:nvPicPr>
        <p:blipFill>
          <a:blip r:embed="rId2" cstate="print"/>
          <a:stretch>
            <a:fillRect/>
          </a:stretch>
        </p:blipFill>
        <p:spPr>
          <a:xfrm>
            <a:off x="1725283" y="1932318"/>
            <a:ext cx="8350369" cy="3122762"/>
          </a:xfrm>
          <a:prstGeom prst="rect">
            <a:avLst/>
          </a:prstGeom>
        </p:spPr>
      </p:pic>
      <p:sp>
        <p:nvSpPr>
          <p:cNvPr id="5" name="Rectangle 4"/>
          <p:cNvSpPr/>
          <p:nvPr/>
        </p:nvSpPr>
        <p:spPr>
          <a:xfrm>
            <a:off x="1173192" y="5229493"/>
            <a:ext cx="10662250" cy="646331"/>
          </a:xfrm>
          <a:prstGeom prst="rect">
            <a:avLst/>
          </a:prstGeom>
        </p:spPr>
        <p:txBody>
          <a:bodyPr wrap="square">
            <a:spAutoFit/>
          </a:bodyPr>
          <a:lstStyle/>
          <a:p>
            <a:r>
              <a:rPr lang="en-US" dirty="0"/>
              <a:t>63.8% of the population consume less than five portions per day. This is a reflection of poor diet in deprived communities and is broadly in line with the estimates for Islington population (61%)</a:t>
            </a:r>
          </a:p>
        </p:txBody>
      </p:sp>
    </p:spTree>
    <p:extLst>
      <p:ext uri="{BB962C8B-B14F-4D97-AF65-F5344CB8AC3E}">
        <p14:creationId xmlns:p14="http://schemas.microsoft.com/office/powerpoint/2010/main" val="38288922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68B6E-7C6D-3336-50DA-5BEB1AC0E736}"/>
              </a:ext>
            </a:extLst>
          </p:cNvPr>
          <p:cNvSpPr>
            <a:spLocks noGrp="1"/>
          </p:cNvSpPr>
          <p:nvPr>
            <p:ph type="title"/>
          </p:nvPr>
        </p:nvSpPr>
        <p:spPr>
          <a:xfrm>
            <a:off x="839788" y="457200"/>
            <a:ext cx="3932237" cy="949569"/>
          </a:xfrm>
        </p:spPr>
        <p:txBody>
          <a:bodyPr anchor="b">
            <a:normAutofit fontScale="90000"/>
          </a:bodyPr>
          <a:lstStyle/>
          <a:p>
            <a:r>
              <a:rPr lang="en-US" dirty="0"/>
              <a:t>Post-check questionnaire findings</a:t>
            </a:r>
            <a:endParaRPr lang="en-001"/>
          </a:p>
        </p:txBody>
      </p:sp>
      <p:sp>
        <p:nvSpPr>
          <p:cNvPr id="4" name="Content Placeholder 3">
            <a:extLst>
              <a:ext uri="{FF2B5EF4-FFF2-40B4-BE49-F238E27FC236}">
                <a16:creationId xmlns:a16="http://schemas.microsoft.com/office/drawing/2014/main" id="{DC1C0440-4446-F579-3889-A34CC92DC484}"/>
              </a:ext>
            </a:extLst>
          </p:cNvPr>
          <p:cNvSpPr>
            <a:spLocks noGrp="1"/>
          </p:cNvSpPr>
          <p:nvPr>
            <p:ph type="body" sz="half" idx="2"/>
          </p:nvPr>
        </p:nvSpPr>
        <p:spPr>
          <a:xfrm>
            <a:off x="839788" y="1575582"/>
            <a:ext cx="3932237" cy="4293406"/>
          </a:xfrm>
        </p:spPr>
        <p:txBody>
          <a:bodyPr>
            <a:normAutofit lnSpcReduction="10000"/>
          </a:bodyPr>
          <a:lstStyle/>
          <a:p>
            <a:r>
              <a:rPr lang="en-GB" sz="2400" dirty="0"/>
              <a:t>Only 7% were from an Asian or African background, although higher participation rates were observed in the health checks suggesting the latter were not motivated to stay and be interviewed post-check, but still attended the NHSHC</a:t>
            </a:r>
          </a:p>
          <a:p>
            <a:r>
              <a:rPr lang="en-GB" sz="2400" dirty="0"/>
              <a:t>Paid employment (52%) was the most frequent work status ; this was consistent with the Islington population</a:t>
            </a:r>
          </a:p>
          <a:p>
            <a:endParaRPr lang="en-001"/>
          </a:p>
        </p:txBody>
      </p:sp>
      <p:graphicFrame>
        <p:nvGraphicFramePr>
          <p:cNvPr id="6" name="Content Placeholder 2">
            <a:extLst>
              <a:ext uri="{FF2B5EF4-FFF2-40B4-BE49-F238E27FC236}">
                <a16:creationId xmlns:a16="http://schemas.microsoft.com/office/drawing/2014/main" id="{DF13F10C-B563-9857-DE14-33EF447655AC}"/>
              </a:ext>
            </a:extLst>
          </p:cNvPr>
          <p:cNvGraphicFramePr>
            <a:graphicFrameLocks noGrp="1"/>
          </p:cNvGraphicFramePr>
          <p:nvPr>
            <p:ph idx="1"/>
            <p:extLst>
              <p:ext uri="{D42A27DB-BD31-4B8C-83A1-F6EECF244321}">
                <p14:modId xmlns:p14="http://schemas.microsoft.com/office/powerpoint/2010/main" val="160113987"/>
              </p:ext>
            </p:extLst>
          </p:nvPr>
        </p:nvGraphicFramePr>
        <p:xfrm>
          <a:off x="5183188" y="987425"/>
          <a:ext cx="6172200" cy="4873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626563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879231"/>
          </a:xfrm>
        </p:spPr>
        <p:txBody>
          <a:bodyPr anchor="b">
            <a:normAutofit/>
          </a:bodyPr>
          <a:lstStyle/>
          <a:p>
            <a:r>
              <a:rPr lang="en-GB" sz="3600" dirty="0"/>
              <a:t>Key findings</a:t>
            </a:r>
          </a:p>
        </p:txBody>
      </p:sp>
      <p:sp>
        <p:nvSpPr>
          <p:cNvPr id="4" name="Content Placeholder 3"/>
          <p:cNvSpPr>
            <a:spLocks noGrp="1"/>
          </p:cNvSpPr>
          <p:nvPr>
            <p:ph type="body" sz="half" idx="2"/>
          </p:nvPr>
        </p:nvSpPr>
        <p:spPr>
          <a:xfrm>
            <a:off x="839788" y="2057400"/>
            <a:ext cx="3932237" cy="3811588"/>
          </a:xfrm>
        </p:spPr>
        <p:txBody>
          <a:bodyPr>
            <a:normAutofit lnSpcReduction="10000"/>
          </a:bodyPr>
          <a:lstStyle/>
          <a:p>
            <a:r>
              <a:rPr lang="en-GB" sz="2800" dirty="0"/>
              <a:t>Participants preferred the ease and convenience of the opportunistic venue  (n=65) rather than the GP surgery (n=13) or the pharmacy (n =4)</a:t>
            </a:r>
          </a:p>
          <a:p>
            <a:r>
              <a:rPr lang="en-GB" sz="2800" dirty="0"/>
              <a:t>Almost  all (n=99) stated they would engage in the programme again in 5 years time</a:t>
            </a:r>
          </a:p>
          <a:p>
            <a:endParaRPr lang="en-GB" dirty="0"/>
          </a:p>
        </p:txBody>
      </p:sp>
      <p:graphicFrame>
        <p:nvGraphicFramePr>
          <p:cNvPr id="23" name="Content Placeholder 2">
            <a:extLst>
              <a:ext uri="{FF2B5EF4-FFF2-40B4-BE49-F238E27FC236}">
                <a16:creationId xmlns:a16="http://schemas.microsoft.com/office/drawing/2014/main" id="{CF9832A8-4262-EEAD-0F3B-4E6D23731F47}"/>
              </a:ext>
            </a:extLst>
          </p:cNvPr>
          <p:cNvGraphicFramePr>
            <a:graphicFrameLocks noGrp="1"/>
          </p:cNvGraphicFramePr>
          <p:nvPr>
            <p:ph idx="1"/>
            <p:extLst>
              <p:ext uri="{D42A27DB-BD31-4B8C-83A1-F6EECF244321}">
                <p14:modId xmlns:p14="http://schemas.microsoft.com/office/powerpoint/2010/main" val="110565474"/>
              </p:ext>
            </p:extLst>
          </p:nvPr>
        </p:nvGraphicFramePr>
        <p:xfrm>
          <a:off x="5183188" y="987425"/>
          <a:ext cx="6172200" cy="4873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670186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640080"/>
          </a:xfrm>
        </p:spPr>
        <p:txBody>
          <a:bodyPr anchor="b">
            <a:normAutofit/>
          </a:bodyPr>
          <a:lstStyle/>
          <a:p>
            <a:r>
              <a:rPr lang="en-US" sz="3600" dirty="0"/>
              <a:t>Follow Up Outcome</a:t>
            </a:r>
            <a:endParaRPr lang="en-GB" sz="3600" dirty="0"/>
          </a:p>
        </p:txBody>
      </p:sp>
      <p:sp>
        <p:nvSpPr>
          <p:cNvPr id="4" name="Content Placeholder 3"/>
          <p:cNvSpPr>
            <a:spLocks noGrp="1"/>
          </p:cNvSpPr>
          <p:nvPr>
            <p:ph type="body" sz="half" idx="2"/>
          </p:nvPr>
        </p:nvSpPr>
        <p:spPr>
          <a:xfrm>
            <a:off x="839788" y="1308295"/>
            <a:ext cx="3932237" cy="4560693"/>
          </a:xfrm>
        </p:spPr>
        <p:txBody>
          <a:bodyPr>
            <a:normAutofit/>
          </a:bodyPr>
          <a:lstStyle/>
          <a:p>
            <a:pPr>
              <a:spcBef>
                <a:spcPts val="600"/>
              </a:spcBef>
              <a:spcAft>
                <a:spcPts val="600"/>
              </a:spcAft>
            </a:pPr>
            <a:r>
              <a:rPr lang="en-US" sz="2800" dirty="0"/>
              <a:t>Some encouraging behaviour modification  was  reported: weight loss achieved by 47% of the respondents and 72% increased physical activity</a:t>
            </a:r>
          </a:p>
          <a:p>
            <a:pPr>
              <a:spcBef>
                <a:spcPts val="600"/>
              </a:spcBef>
              <a:spcAft>
                <a:spcPts val="600"/>
              </a:spcAft>
            </a:pPr>
            <a:r>
              <a:rPr lang="en-US" sz="2800" dirty="0"/>
              <a:t>Only 18% managed to consume 5 portions of fruit and vegetables per day</a:t>
            </a:r>
            <a:endParaRPr lang="en-GB" sz="2800" dirty="0"/>
          </a:p>
          <a:p>
            <a:endParaRPr lang="en-GB" dirty="0"/>
          </a:p>
        </p:txBody>
      </p:sp>
      <p:graphicFrame>
        <p:nvGraphicFramePr>
          <p:cNvPr id="13" name="Content Placeholder 2">
            <a:extLst>
              <a:ext uri="{FF2B5EF4-FFF2-40B4-BE49-F238E27FC236}">
                <a16:creationId xmlns:a16="http://schemas.microsoft.com/office/drawing/2014/main" id="{F0626141-79E8-73BF-B09C-ED5EAACE5C89}"/>
              </a:ext>
            </a:extLst>
          </p:cNvPr>
          <p:cNvGraphicFramePr>
            <a:graphicFrameLocks noGrp="1"/>
          </p:cNvGraphicFramePr>
          <p:nvPr>
            <p:ph idx="1"/>
            <p:extLst>
              <p:ext uri="{D42A27DB-BD31-4B8C-83A1-F6EECF244321}">
                <p14:modId xmlns:p14="http://schemas.microsoft.com/office/powerpoint/2010/main" val="109996155"/>
              </p:ext>
            </p:extLst>
          </p:nvPr>
        </p:nvGraphicFramePr>
        <p:xfrm>
          <a:off x="5183188" y="987425"/>
          <a:ext cx="6172200" cy="4873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270382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GB" dirty="0"/>
              <a:t>Limitations of the evaluation</a:t>
            </a:r>
          </a:p>
        </p:txBody>
      </p:sp>
      <p:graphicFrame>
        <p:nvGraphicFramePr>
          <p:cNvPr id="5" name="Content Placeholder 2">
            <a:extLst>
              <a:ext uri="{FF2B5EF4-FFF2-40B4-BE49-F238E27FC236}">
                <a16:creationId xmlns:a16="http://schemas.microsoft.com/office/drawing/2014/main" id="{124D2B27-5D65-4994-82F4-D1179AA868C2}"/>
              </a:ext>
            </a:extLst>
          </p:cNvPr>
          <p:cNvGraphicFramePr>
            <a:graphicFrameLocks noGrp="1"/>
          </p:cNvGraphicFramePr>
          <p:nvPr>
            <p:ph idx="1"/>
            <p:extLst>
              <p:ext uri="{D42A27DB-BD31-4B8C-83A1-F6EECF244321}">
                <p14:modId xmlns:p14="http://schemas.microsoft.com/office/powerpoint/2010/main" val="3432621276"/>
              </p:ext>
            </p:extLst>
          </p:nvPr>
        </p:nvGraphicFramePr>
        <p:xfrm>
          <a:off x="838200" y="1364566"/>
          <a:ext cx="10515600" cy="48123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741784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GB" dirty="0"/>
              <a:t>Limitations of the evaluation</a:t>
            </a:r>
          </a:p>
        </p:txBody>
      </p:sp>
      <p:graphicFrame>
        <p:nvGraphicFramePr>
          <p:cNvPr id="48" name="Content Placeholder 2">
            <a:extLst>
              <a:ext uri="{FF2B5EF4-FFF2-40B4-BE49-F238E27FC236}">
                <a16:creationId xmlns:a16="http://schemas.microsoft.com/office/drawing/2014/main" id="{17D10315-3362-4FE7-BE12-6FA35AC5D5E1}"/>
              </a:ext>
            </a:extLst>
          </p:cNvPr>
          <p:cNvGraphicFramePr>
            <a:graphicFrameLocks noGrp="1"/>
          </p:cNvGraphicFramePr>
          <p:nvPr>
            <p:ph idx="1"/>
            <p:extLst>
              <p:ext uri="{D42A27DB-BD31-4B8C-83A1-F6EECF244321}">
                <p14:modId xmlns:p14="http://schemas.microsoft.com/office/powerpoint/2010/main" val="187647500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124687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FA67CD3-AB4E-4A7A-BEB8-53C445D8C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26"/>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07CF545F-9C2E-4446-97CD-AD92990C2B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094105" y="802956"/>
            <a:ext cx="4977976" cy="435002"/>
          </a:xfrm>
        </p:spPr>
        <p:txBody>
          <a:bodyPr>
            <a:normAutofit fontScale="90000"/>
          </a:bodyPr>
          <a:lstStyle/>
          <a:p>
            <a:r>
              <a:rPr lang="en-GB" dirty="0">
                <a:solidFill>
                  <a:srgbClr val="000000"/>
                </a:solidFill>
              </a:rPr>
              <a:t>Conclusion</a:t>
            </a:r>
          </a:p>
        </p:txBody>
      </p:sp>
      <p:sp>
        <p:nvSpPr>
          <p:cNvPr id="14" name="Freeform 62">
            <a:extLst>
              <a:ext uri="{FF2B5EF4-FFF2-40B4-BE49-F238E27FC236}">
                <a16:creationId xmlns:a16="http://schemas.microsoft.com/office/drawing/2014/main" id="{339C8D78-A644-462F-B674-F440635E5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85000"/>
                  </a:schemeClr>
                </a:gs>
                <a:gs pos="100000">
                  <a:schemeClr val="bg2">
                    <a:lumMod val="8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7" name="Graphic 6" descr="Checkmark">
            <a:extLst>
              <a:ext uri="{FF2B5EF4-FFF2-40B4-BE49-F238E27FC236}">
                <a16:creationId xmlns:a16="http://schemas.microsoft.com/office/drawing/2014/main" id="{2211DE4C-BE23-4468-85E6-D9ED4F5AC5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0254" y="1629089"/>
            <a:ext cx="3620021" cy="3620021"/>
          </a:xfrm>
          <a:prstGeom prst="rect">
            <a:avLst/>
          </a:prstGeom>
        </p:spPr>
      </p:pic>
      <p:sp>
        <p:nvSpPr>
          <p:cNvPr id="3" name="Content Placeholder 2"/>
          <p:cNvSpPr>
            <a:spLocks noGrp="1"/>
          </p:cNvSpPr>
          <p:nvPr>
            <p:ph idx="1"/>
          </p:nvPr>
        </p:nvSpPr>
        <p:spPr>
          <a:xfrm>
            <a:off x="6090574" y="1463040"/>
            <a:ext cx="4977578" cy="4597931"/>
          </a:xfrm>
        </p:spPr>
        <p:txBody>
          <a:bodyPr anchor="ctr">
            <a:normAutofit fontScale="85000" lnSpcReduction="20000"/>
          </a:bodyPr>
          <a:lstStyle/>
          <a:p>
            <a:pPr>
              <a:spcBef>
                <a:spcPts val="600"/>
              </a:spcBef>
              <a:spcAft>
                <a:spcPts val="600"/>
              </a:spcAft>
            </a:pPr>
            <a:r>
              <a:rPr lang="en-US" sz="3200" dirty="0">
                <a:solidFill>
                  <a:srgbClr val="000000"/>
                </a:solidFill>
              </a:rPr>
              <a:t>Opportunistic cardiovascular risk assessments within community settings are feasible and highly acceptable</a:t>
            </a:r>
          </a:p>
          <a:p>
            <a:pPr>
              <a:spcBef>
                <a:spcPts val="600"/>
              </a:spcBef>
              <a:spcAft>
                <a:spcPts val="600"/>
              </a:spcAft>
            </a:pPr>
            <a:r>
              <a:rPr lang="en-US" sz="3200" dirty="0">
                <a:solidFill>
                  <a:srgbClr val="000000"/>
                </a:solidFill>
              </a:rPr>
              <a:t>The service is able to detect high risk individuals, and effective in widening access to healthcare in an ethnically diverse community</a:t>
            </a:r>
          </a:p>
          <a:p>
            <a:pPr>
              <a:spcBef>
                <a:spcPts val="600"/>
              </a:spcBef>
              <a:spcAft>
                <a:spcPts val="600"/>
              </a:spcAft>
            </a:pPr>
            <a:r>
              <a:rPr lang="en-US" sz="3200" dirty="0">
                <a:solidFill>
                  <a:srgbClr val="000000"/>
                </a:solidFill>
              </a:rPr>
              <a:t>The NHS Health Checks programme is effective in raising awareness and engaging the population to modify their lifestyle behaviour</a:t>
            </a:r>
            <a:endParaRPr lang="en-GB" sz="3200" dirty="0">
              <a:solidFill>
                <a:srgbClr val="000000"/>
              </a:solidFill>
            </a:endParaRPr>
          </a:p>
          <a:p>
            <a:endParaRPr lang="en-GB" sz="2000" dirty="0">
              <a:solidFill>
                <a:srgbClr val="000000"/>
              </a:solidFill>
            </a:endParaRPr>
          </a:p>
        </p:txBody>
      </p:sp>
    </p:spTree>
    <p:extLst>
      <p:ext uri="{BB962C8B-B14F-4D97-AF65-F5344CB8AC3E}">
        <p14:creationId xmlns:p14="http://schemas.microsoft.com/office/powerpoint/2010/main" val="8276336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US" dirty="0"/>
              <a:t>Recommendations</a:t>
            </a:r>
            <a:br>
              <a:rPr lang="en-US" dirty="0"/>
            </a:br>
            <a:endParaRPr lang="en-GB" dirty="0"/>
          </a:p>
        </p:txBody>
      </p:sp>
      <p:graphicFrame>
        <p:nvGraphicFramePr>
          <p:cNvPr id="7" name="Content Placeholder 2">
            <a:extLst>
              <a:ext uri="{FF2B5EF4-FFF2-40B4-BE49-F238E27FC236}">
                <a16:creationId xmlns:a16="http://schemas.microsoft.com/office/drawing/2014/main" id="{04FF11CD-9151-410D-9A80-01F5F216DBAC}"/>
              </a:ext>
            </a:extLst>
          </p:cNvPr>
          <p:cNvGraphicFramePr>
            <a:graphicFrameLocks noGrp="1"/>
          </p:cNvGraphicFramePr>
          <p:nvPr>
            <p:ph idx="1"/>
            <p:extLst>
              <p:ext uri="{D42A27DB-BD31-4B8C-83A1-F6EECF244321}">
                <p14:modId xmlns:p14="http://schemas.microsoft.com/office/powerpoint/2010/main" val="60357534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804505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 &amp; further reading</a:t>
            </a:r>
            <a:endParaRPr lang="en-GB" dirty="0"/>
          </a:p>
        </p:txBody>
      </p:sp>
      <p:sp>
        <p:nvSpPr>
          <p:cNvPr id="3" name="Content Placeholder 2"/>
          <p:cNvSpPr>
            <a:spLocks noGrp="1"/>
          </p:cNvSpPr>
          <p:nvPr>
            <p:ph idx="1"/>
          </p:nvPr>
        </p:nvSpPr>
        <p:spPr/>
        <p:txBody>
          <a:bodyPr>
            <a:normAutofit fontScale="32500" lnSpcReduction="20000"/>
          </a:bodyPr>
          <a:lstStyle/>
          <a:p>
            <a:pPr marL="0" indent="0">
              <a:buNone/>
            </a:pPr>
            <a:r>
              <a:rPr lang="en-GB" sz="4400" dirty="0">
                <a:cs typeface="Times New Roman" pitchFamily="18" charset="0"/>
              </a:rPr>
              <a:t>British Heart Foundation, 2007 &amp; 2013 Coronary Heart Disease Statistics.</a:t>
            </a:r>
          </a:p>
          <a:p>
            <a:pPr marL="0" indent="0">
              <a:buNone/>
            </a:pPr>
            <a:r>
              <a:rPr lang="en-US" sz="4400" dirty="0">
                <a:cs typeface="Times New Roman" pitchFamily="18" charset="0"/>
              </a:rPr>
              <a:t>Department of Health. NHS Putting Prevention First, NHS Health Check: Vascular  Risk Assessment and Management. Best Practice Guidance. 2009.</a:t>
            </a:r>
          </a:p>
          <a:p>
            <a:pPr marL="0" indent="0">
              <a:buNone/>
            </a:pPr>
            <a:r>
              <a:rPr lang="en-US" sz="4400" dirty="0">
                <a:cs typeface="Times New Roman" pitchFamily="18" charset="0"/>
              </a:rPr>
              <a:t>Department of Health NHS Health Check; Vascular risk assessment and management best practice guidance. London: Department of Health 2009.</a:t>
            </a:r>
          </a:p>
          <a:p>
            <a:pPr marL="0" indent="0">
              <a:buNone/>
            </a:pPr>
            <a:r>
              <a:rPr lang="en-US" sz="4400" dirty="0">
                <a:cs typeface="Times New Roman" pitchFamily="18" charset="0"/>
              </a:rPr>
              <a:t>Department of Health Tackling health inequalities: 2007 status report on the programme for action. London: Department of Health. 2008.</a:t>
            </a:r>
          </a:p>
          <a:p>
            <a:pPr marL="0" indent="0">
              <a:buNone/>
            </a:pPr>
            <a:r>
              <a:rPr lang="en-US" sz="4400" dirty="0">
                <a:cs typeface="Times New Roman" pitchFamily="18" charset="0"/>
              </a:rPr>
              <a:t>Department of Health. Putting prevention first Vascular Checks: risk assessment and management. London: Department of Health 2008.</a:t>
            </a:r>
          </a:p>
          <a:p>
            <a:pPr marL="0" indent="0">
              <a:buNone/>
            </a:pPr>
            <a:r>
              <a:rPr lang="en-US" sz="4400" dirty="0">
                <a:cs typeface="Times New Roman" pitchFamily="18" charset="0"/>
              </a:rPr>
              <a:t>Department of Health. NHS Islington Public Health Department. Health in Islington: The facts. 2009</a:t>
            </a:r>
          </a:p>
          <a:p>
            <a:pPr marL="0" indent="0">
              <a:buNone/>
            </a:pPr>
            <a:r>
              <a:rPr lang="en-US" sz="4400" dirty="0">
                <a:cs typeface="Times New Roman" pitchFamily="18" charset="0"/>
              </a:rPr>
              <a:t>Department of Health. NHS Islington. Health in Islington Factsheet. 2010. www.islington.nhs.uk</a:t>
            </a:r>
          </a:p>
          <a:p>
            <a:pPr marL="0" indent="0">
              <a:buNone/>
            </a:pPr>
            <a:r>
              <a:rPr lang="en-GB" sz="4400" dirty="0">
                <a:cs typeface="Times New Roman" pitchFamily="18" charset="0"/>
              </a:rPr>
              <a:t>Hippesley-Cox j, Coupland C, Vinogradova V, 2008 BMJ 336, 1475-82</a:t>
            </a:r>
          </a:p>
          <a:p>
            <a:pPr marL="0" indent="0">
              <a:buNone/>
            </a:pPr>
            <a:r>
              <a:rPr lang="en-US" sz="4400" dirty="0">
                <a:cs typeface="Times New Roman" pitchFamily="18" charset="0"/>
              </a:rPr>
              <a:t>Murray CJ and Lopez AD, Alternative projections of mortality and disability by cause 1990-2020: Global, Burden of Disease Study. Lancet 1997(24);349:1498-504.</a:t>
            </a:r>
          </a:p>
          <a:p>
            <a:pPr marL="0" indent="0">
              <a:buNone/>
            </a:pPr>
            <a:r>
              <a:rPr lang="en-US" sz="4400" dirty="0">
                <a:cs typeface="Times New Roman" pitchFamily="18" charset="0"/>
              </a:rPr>
              <a:t>Murray DM, Luepker RV, Pirie PL, et al. Systematic risk factor screening and education: a community-wide approach to prevention of coronary heart disease. Prev Med. 1986;15:661-672.</a:t>
            </a:r>
          </a:p>
          <a:p>
            <a:pPr marL="0" indent="0">
              <a:buNone/>
            </a:pPr>
            <a:r>
              <a:rPr lang="en-GB" sz="4400" dirty="0">
                <a:cs typeface="Times New Roman" pitchFamily="18" charset="0"/>
              </a:rPr>
              <a:t>Richardson G, van Woerdeb HC, Mereid B et al, 2008 BMC Cardiovascular Disorders 8:18</a:t>
            </a:r>
            <a:endParaRPr lang="en-US" sz="4400" dirty="0">
              <a:cs typeface="Times New Roman" pitchFamily="18" charset="0"/>
            </a:endParaRPr>
          </a:p>
          <a:p>
            <a:pPr marL="0" indent="0">
              <a:buNone/>
            </a:pPr>
            <a:endParaRPr lang="en-GB" dirty="0"/>
          </a:p>
          <a:p>
            <a:pPr marL="514350" indent="-514350">
              <a:buFont typeface="+mj-lt"/>
              <a:buAutoNum type="arabicPeriod"/>
            </a:pPr>
            <a:endParaRPr lang="en-US" b="1" dirty="0">
              <a:cs typeface="Times New Roman" pitchFamily="18" charset="0"/>
            </a:endParaRPr>
          </a:p>
          <a:p>
            <a:pPr>
              <a:buFontTx/>
              <a:buAutoNum type="arabicPeriod"/>
            </a:pPr>
            <a:endParaRPr lang="en-US" b="1" dirty="0">
              <a:cs typeface="Times New Roman" pitchFamily="18" charset="0"/>
            </a:endParaRPr>
          </a:p>
        </p:txBody>
      </p:sp>
    </p:spTree>
    <p:extLst>
      <p:ext uri="{BB962C8B-B14F-4D97-AF65-F5344CB8AC3E}">
        <p14:creationId xmlns:p14="http://schemas.microsoft.com/office/powerpoint/2010/main" val="5153031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389</TotalTime>
  <Words>3056</Words>
  <Application>Microsoft Macintosh PowerPoint</Application>
  <PresentationFormat>Widescreen</PresentationFormat>
  <Paragraphs>307</Paragraphs>
  <Slides>55</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55</vt:i4>
      </vt:variant>
    </vt:vector>
  </HeadingPairs>
  <TitlesOfParts>
    <vt:vector size="62" baseType="lpstr">
      <vt:lpstr>Aptos</vt:lpstr>
      <vt:lpstr>Arial</vt:lpstr>
      <vt:lpstr>Calibri</vt:lpstr>
      <vt:lpstr>Calibri Light</vt:lpstr>
      <vt:lpstr>Symbol</vt:lpstr>
      <vt:lpstr>Times New Roman</vt:lpstr>
      <vt:lpstr>Office Theme</vt:lpstr>
      <vt:lpstr>PowerPoint Presentation</vt:lpstr>
      <vt:lpstr>Aims of Session</vt:lpstr>
      <vt:lpstr>Leaning Outcomes</vt:lpstr>
      <vt:lpstr>PowerPoint Presentation</vt:lpstr>
      <vt:lpstr>PowerPoint Presentation</vt:lpstr>
      <vt:lpstr>PowerPoint Presentation</vt:lpstr>
      <vt:lpstr>PowerPoint Presentation</vt:lpstr>
      <vt:lpstr>PowerPoint Presentation</vt:lpstr>
      <vt:lpstr>Modifiable risk factors </vt:lpstr>
      <vt:lpstr>Modifiable risk factors </vt:lpstr>
      <vt:lpstr>Risk factors for major chronic diseases in the UK</vt:lpstr>
      <vt:lpstr>PowerPoint Presentation</vt:lpstr>
      <vt:lpstr>PowerPoint Presentation</vt:lpstr>
      <vt:lpstr>PowerPoint Presentation</vt:lpstr>
      <vt:lpstr>PowerPoint Presentation</vt:lpstr>
      <vt:lpstr>PowerPoint Presentation</vt:lpstr>
      <vt:lpstr>Costs to the NHS</vt:lpstr>
      <vt:lpstr>The findings from the INTERHEART study confirm:</vt:lpstr>
      <vt:lpstr>Public health strategies for CVD prevention and care</vt:lpstr>
      <vt:lpstr>PowerPoint Presentation</vt:lpstr>
      <vt:lpstr>Primary Prevention</vt:lpstr>
      <vt:lpstr>Secondary Prevention</vt:lpstr>
      <vt:lpstr>Tertiary Prevention</vt:lpstr>
      <vt:lpstr>NHS Health Checks</vt:lpstr>
      <vt:lpstr>PowerPoint Presentation</vt:lpstr>
      <vt:lpstr>NHS Health Checks (NHSHC)</vt:lpstr>
      <vt:lpstr>Why invest in a prevention program? </vt:lpstr>
      <vt:lpstr>PowerPoint Presentation</vt:lpstr>
      <vt:lpstr>PowerPoint Presentation</vt:lpstr>
      <vt:lpstr>PowerPoint Presentation</vt:lpstr>
      <vt:lpstr>Recommendations for policy</vt:lpstr>
      <vt:lpstr>NHS Health Checks- the Islington model</vt:lpstr>
      <vt:lpstr>PowerPoint Presentation</vt:lpstr>
      <vt:lpstr>Islington NHS Health Checks (INHSHC)</vt:lpstr>
      <vt:lpstr>Evaluation</vt:lpstr>
      <vt:lpstr>PowerPoint Presentation</vt:lpstr>
      <vt:lpstr>Health Checks protocol for the community setting</vt:lpstr>
      <vt:lpstr> Venues for Islington NHSHC </vt:lpstr>
      <vt:lpstr>NHSHC Methodology</vt:lpstr>
      <vt:lpstr>Data obtained by INHSHC </vt:lpstr>
      <vt:lpstr>Information given to participants</vt:lpstr>
      <vt:lpstr>Community Setting Evaluation</vt:lpstr>
      <vt:lpstr>Post health-check questionnaires</vt:lpstr>
      <vt:lpstr>Cardiovascular risk (n=1084) </vt:lpstr>
      <vt:lpstr>Population characteristics (n=1084)</vt:lpstr>
      <vt:lpstr>Percentage of population identified  with risk factors for cardiovascular events</vt:lpstr>
      <vt:lpstr>Portions of fruits &amp; vegetables daily  (n=1084)</vt:lpstr>
      <vt:lpstr>Post-check questionnaire findings</vt:lpstr>
      <vt:lpstr>Key findings</vt:lpstr>
      <vt:lpstr>Follow Up Outcome</vt:lpstr>
      <vt:lpstr>Limitations of the evaluation</vt:lpstr>
      <vt:lpstr>Limitations of the evaluation</vt:lpstr>
      <vt:lpstr>Conclusion</vt:lpstr>
      <vt:lpstr>Recommendations </vt:lpstr>
      <vt:lpstr>References &amp; further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NHS Health Checks Afshan Aghili</dc:title>
  <dc:creator>Arman Camyab</dc:creator>
  <cp:lastModifiedBy>Afshan Aghili</cp:lastModifiedBy>
  <cp:revision>7</cp:revision>
  <cp:lastPrinted>2018-10-12T14:31:59Z</cp:lastPrinted>
  <dcterms:created xsi:type="dcterms:W3CDTF">2018-10-11T20:10:47Z</dcterms:created>
  <dcterms:modified xsi:type="dcterms:W3CDTF">2026-02-20T14:01:08Z</dcterms:modified>
</cp:coreProperties>
</file>