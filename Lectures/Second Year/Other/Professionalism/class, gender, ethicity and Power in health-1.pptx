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84" r:id="rId18"/>
    <p:sldId id="2577" r:id="rId19"/>
    <p:sldId id="2578" r:id="rId20"/>
    <p:sldId id="2579" r:id="rId21"/>
    <p:sldId id="2580" r:id="rId22"/>
    <p:sldId id="2583" r:id="rId23"/>
    <p:sldId id="2581" r:id="rId24"/>
    <p:sldId id="2582" r:id="rId25"/>
    <p:sldId id="2585" r:id="rId26"/>
    <p:sldId id="258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3400" autoAdjust="0"/>
  </p:normalViewPr>
  <p:slideViewPr>
    <p:cSldViewPr snapToGrid="0">
      <p:cViewPr>
        <p:scale>
          <a:sx n="53" d="100"/>
          <a:sy n="53" d="100"/>
        </p:scale>
        <p:origin x="284" y="300"/>
      </p:cViewPr>
      <p:guideLst/>
    </p:cSldViewPr>
  </p:slideViewPr>
  <p:notesTextViewPr>
    <p:cViewPr>
      <p:scale>
        <a:sx n="1" d="1"/>
        <a:sy n="1" d="1"/>
      </p:scale>
      <p:origin x="0" y="0"/>
    </p:cViewPr>
  </p:notesTextViewPr>
  <p:sorterViewPr>
    <p:cViewPr>
      <p:scale>
        <a:sx n="100" d="100"/>
        <a:sy n="100" d="100"/>
      </p:scale>
      <p:origin x="0" y="-1533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0F8CC7-0FA4-45E5-8B44-D873BEDDB79F}" type="datetimeFigureOut">
              <a:rPr lang="en-GB" smtClean="0"/>
              <a:t>11/10/2024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C543F5-69EC-4E72-B239-A654F9FAD4C3}" type="slidenum">
              <a:rPr lang="en-GB" smtClean="0"/>
              <a:t>‹#›</a:t>
            </a:fld>
            <a:endParaRPr lang="en-GB"/>
          </a:p>
        </p:txBody>
      </p:sp>
    </p:spTree>
    <p:extLst>
      <p:ext uri="{BB962C8B-B14F-4D97-AF65-F5344CB8AC3E}">
        <p14:creationId xmlns:p14="http://schemas.microsoft.com/office/powerpoint/2010/main" val="349089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CAF4F0A-293C-4327-8F00-4E439E863EA8}" type="slidenum">
              <a:rPr lang="en-GB" smtClean="0"/>
              <a:t>1</a:t>
            </a:fld>
            <a:endParaRPr lang="en-GB"/>
          </a:p>
        </p:txBody>
      </p:sp>
    </p:spTree>
    <p:extLst>
      <p:ext uri="{BB962C8B-B14F-4D97-AF65-F5344CB8AC3E}">
        <p14:creationId xmlns:p14="http://schemas.microsoft.com/office/powerpoint/2010/main" val="4045602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CAF4F0A-293C-4327-8F00-4E439E863EA8}" type="slidenum">
              <a:rPr lang="en-GB" smtClean="0"/>
              <a:t>2</a:t>
            </a:fld>
            <a:endParaRPr lang="en-GB"/>
          </a:p>
        </p:txBody>
      </p:sp>
    </p:spTree>
    <p:extLst>
      <p:ext uri="{BB962C8B-B14F-4D97-AF65-F5344CB8AC3E}">
        <p14:creationId xmlns:p14="http://schemas.microsoft.com/office/powerpoint/2010/main" val="27058739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CAF4F0A-293C-4327-8F00-4E439E863EA8}" type="slidenum">
              <a:rPr lang="en-GB" smtClean="0"/>
              <a:t>3</a:t>
            </a:fld>
            <a:endParaRPr lang="en-GB"/>
          </a:p>
        </p:txBody>
      </p:sp>
    </p:spTree>
    <p:extLst>
      <p:ext uri="{BB962C8B-B14F-4D97-AF65-F5344CB8AC3E}">
        <p14:creationId xmlns:p14="http://schemas.microsoft.com/office/powerpoint/2010/main" val="2338160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CAF4F0A-293C-4327-8F00-4E439E863EA8}" type="slidenum">
              <a:rPr lang="en-GB" smtClean="0"/>
              <a:t>4</a:t>
            </a:fld>
            <a:endParaRPr lang="en-GB"/>
          </a:p>
        </p:txBody>
      </p:sp>
    </p:spTree>
    <p:extLst>
      <p:ext uri="{BB962C8B-B14F-4D97-AF65-F5344CB8AC3E}">
        <p14:creationId xmlns:p14="http://schemas.microsoft.com/office/powerpoint/2010/main" val="3065328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CAF4F0A-293C-4327-8F00-4E439E863EA8}" type="slidenum">
              <a:rPr lang="en-GB" smtClean="0"/>
              <a:t>5</a:t>
            </a:fld>
            <a:endParaRPr lang="en-GB"/>
          </a:p>
        </p:txBody>
      </p:sp>
    </p:spTree>
    <p:extLst>
      <p:ext uri="{BB962C8B-B14F-4D97-AF65-F5344CB8AC3E}">
        <p14:creationId xmlns:p14="http://schemas.microsoft.com/office/powerpoint/2010/main" val="32451778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CAF4F0A-293C-4327-8F00-4E439E863EA8}" type="slidenum">
              <a:rPr lang="en-GB" smtClean="0"/>
              <a:t>6</a:t>
            </a:fld>
            <a:endParaRPr lang="en-GB"/>
          </a:p>
        </p:txBody>
      </p:sp>
    </p:spTree>
    <p:extLst>
      <p:ext uri="{BB962C8B-B14F-4D97-AF65-F5344CB8AC3E}">
        <p14:creationId xmlns:p14="http://schemas.microsoft.com/office/powerpoint/2010/main" val="1380430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CAF4F0A-293C-4327-8F00-4E439E863EA8}" type="slidenum">
              <a:rPr lang="en-GB" smtClean="0"/>
              <a:t>7</a:t>
            </a:fld>
            <a:endParaRPr lang="en-GB"/>
          </a:p>
        </p:txBody>
      </p:sp>
    </p:spTree>
    <p:extLst>
      <p:ext uri="{BB962C8B-B14F-4D97-AF65-F5344CB8AC3E}">
        <p14:creationId xmlns:p14="http://schemas.microsoft.com/office/powerpoint/2010/main" val="9910534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CAF4F0A-293C-4327-8F00-4E439E863EA8}" type="slidenum">
              <a:rPr lang="en-GB" smtClean="0"/>
              <a:t>8</a:t>
            </a:fld>
            <a:endParaRPr lang="en-GB"/>
          </a:p>
        </p:txBody>
      </p:sp>
    </p:spTree>
    <p:extLst>
      <p:ext uri="{BB962C8B-B14F-4D97-AF65-F5344CB8AC3E}">
        <p14:creationId xmlns:p14="http://schemas.microsoft.com/office/powerpoint/2010/main" val="813144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CAF4F0A-293C-4327-8F00-4E439E863EA8}" type="slidenum">
              <a:rPr lang="en-GB" smtClean="0"/>
              <a:t>9</a:t>
            </a:fld>
            <a:endParaRPr lang="en-GB"/>
          </a:p>
        </p:txBody>
      </p:sp>
    </p:spTree>
    <p:extLst>
      <p:ext uri="{BB962C8B-B14F-4D97-AF65-F5344CB8AC3E}">
        <p14:creationId xmlns:p14="http://schemas.microsoft.com/office/powerpoint/2010/main" val="1016268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CAF4F0A-293C-4327-8F00-4E439E863EA8}" type="slidenum">
              <a:rPr lang="en-GB" smtClean="0"/>
              <a:t>10</a:t>
            </a:fld>
            <a:endParaRPr lang="en-GB"/>
          </a:p>
        </p:txBody>
      </p:sp>
    </p:spTree>
    <p:extLst>
      <p:ext uri="{BB962C8B-B14F-4D97-AF65-F5344CB8AC3E}">
        <p14:creationId xmlns:p14="http://schemas.microsoft.com/office/powerpoint/2010/main" val="2984348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CAF4F0A-293C-4327-8F00-4E439E863EA8}" type="slidenum">
              <a:rPr lang="en-GB" smtClean="0"/>
              <a:t>11</a:t>
            </a:fld>
            <a:endParaRPr lang="en-GB"/>
          </a:p>
        </p:txBody>
      </p:sp>
    </p:spTree>
    <p:extLst>
      <p:ext uri="{BB962C8B-B14F-4D97-AF65-F5344CB8AC3E}">
        <p14:creationId xmlns:p14="http://schemas.microsoft.com/office/powerpoint/2010/main" val="26410486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CAF4F0A-293C-4327-8F00-4E439E863EA8}" type="slidenum">
              <a:rPr lang="en-GB" smtClean="0"/>
              <a:t>12</a:t>
            </a:fld>
            <a:endParaRPr lang="en-GB"/>
          </a:p>
        </p:txBody>
      </p:sp>
    </p:spTree>
    <p:extLst>
      <p:ext uri="{BB962C8B-B14F-4D97-AF65-F5344CB8AC3E}">
        <p14:creationId xmlns:p14="http://schemas.microsoft.com/office/powerpoint/2010/main" val="40659519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CAF4F0A-293C-4327-8F00-4E439E863EA8}" type="slidenum">
              <a:rPr lang="en-GB" smtClean="0"/>
              <a:t>13</a:t>
            </a:fld>
            <a:endParaRPr lang="en-GB"/>
          </a:p>
        </p:txBody>
      </p:sp>
    </p:spTree>
    <p:extLst>
      <p:ext uri="{BB962C8B-B14F-4D97-AF65-F5344CB8AC3E}">
        <p14:creationId xmlns:p14="http://schemas.microsoft.com/office/powerpoint/2010/main" val="30670741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CAF4F0A-293C-4327-8F00-4E439E863EA8}" type="slidenum">
              <a:rPr lang="en-GB" smtClean="0"/>
              <a:t>14</a:t>
            </a:fld>
            <a:endParaRPr lang="en-GB"/>
          </a:p>
        </p:txBody>
      </p:sp>
    </p:spTree>
    <p:extLst>
      <p:ext uri="{BB962C8B-B14F-4D97-AF65-F5344CB8AC3E}">
        <p14:creationId xmlns:p14="http://schemas.microsoft.com/office/powerpoint/2010/main" val="4693236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CAF4F0A-293C-4327-8F00-4E439E863EA8}" type="slidenum">
              <a:rPr lang="en-GB" smtClean="0"/>
              <a:t>15</a:t>
            </a:fld>
            <a:endParaRPr lang="en-GB"/>
          </a:p>
        </p:txBody>
      </p:sp>
    </p:spTree>
    <p:extLst>
      <p:ext uri="{BB962C8B-B14F-4D97-AF65-F5344CB8AC3E}">
        <p14:creationId xmlns:p14="http://schemas.microsoft.com/office/powerpoint/2010/main" val="4841986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CAF4F0A-293C-4327-8F00-4E439E863EA8}" type="slidenum">
              <a:rPr lang="en-GB" smtClean="0"/>
              <a:t>16</a:t>
            </a:fld>
            <a:endParaRPr lang="en-GB"/>
          </a:p>
        </p:txBody>
      </p:sp>
    </p:spTree>
    <p:extLst>
      <p:ext uri="{BB962C8B-B14F-4D97-AF65-F5344CB8AC3E}">
        <p14:creationId xmlns:p14="http://schemas.microsoft.com/office/powerpoint/2010/main" val="41797565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E2AEB1C-8B9D-4071-B4C9-93382B92E8FC}" type="slidenum">
              <a:rPr lang="en-GB" smtClean="0"/>
              <a:t>17</a:t>
            </a:fld>
            <a:endParaRPr lang="en-GB"/>
          </a:p>
        </p:txBody>
      </p:sp>
    </p:spTree>
    <p:extLst>
      <p:ext uri="{BB962C8B-B14F-4D97-AF65-F5344CB8AC3E}">
        <p14:creationId xmlns:p14="http://schemas.microsoft.com/office/powerpoint/2010/main" val="30636379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CAF4F0A-293C-4327-8F00-4E439E863EA8}" type="slidenum">
              <a:rPr lang="en-GB" smtClean="0"/>
              <a:t>18</a:t>
            </a:fld>
            <a:endParaRPr lang="en-GB"/>
          </a:p>
        </p:txBody>
      </p:sp>
    </p:spTree>
    <p:extLst>
      <p:ext uri="{BB962C8B-B14F-4D97-AF65-F5344CB8AC3E}">
        <p14:creationId xmlns:p14="http://schemas.microsoft.com/office/powerpoint/2010/main" val="41302945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CAF4F0A-293C-4327-8F00-4E439E863EA8}" type="slidenum">
              <a:rPr lang="en-GB" smtClean="0"/>
              <a:t>19</a:t>
            </a:fld>
            <a:endParaRPr lang="en-GB"/>
          </a:p>
        </p:txBody>
      </p:sp>
    </p:spTree>
    <p:extLst>
      <p:ext uri="{BB962C8B-B14F-4D97-AF65-F5344CB8AC3E}">
        <p14:creationId xmlns:p14="http://schemas.microsoft.com/office/powerpoint/2010/main" val="20048714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CAF4F0A-293C-4327-8F00-4E439E863EA8}" type="slidenum">
              <a:rPr lang="en-GB" smtClean="0"/>
              <a:t>20</a:t>
            </a:fld>
            <a:endParaRPr lang="en-GB"/>
          </a:p>
        </p:txBody>
      </p:sp>
    </p:spTree>
    <p:extLst>
      <p:ext uri="{BB962C8B-B14F-4D97-AF65-F5344CB8AC3E}">
        <p14:creationId xmlns:p14="http://schemas.microsoft.com/office/powerpoint/2010/main" val="27102605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CAF4F0A-293C-4327-8F00-4E439E863EA8}" type="slidenum">
              <a:rPr lang="en-GB" smtClean="0"/>
              <a:t>21</a:t>
            </a:fld>
            <a:endParaRPr lang="en-GB"/>
          </a:p>
        </p:txBody>
      </p:sp>
    </p:spTree>
    <p:extLst>
      <p:ext uri="{BB962C8B-B14F-4D97-AF65-F5344CB8AC3E}">
        <p14:creationId xmlns:p14="http://schemas.microsoft.com/office/powerpoint/2010/main" val="13781853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E2AEB1C-8B9D-4071-B4C9-93382B92E8FC}" type="slidenum">
              <a:rPr lang="en-GB" smtClean="0"/>
              <a:t>22</a:t>
            </a:fld>
            <a:endParaRPr lang="en-GB"/>
          </a:p>
        </p:txBody>
      </p:sp>
    </p:spTree>
    <p:extLst>
      <p:ext uri="{BB962C8B-B14F-4D97-AF65-F5344CB8AC3E}">
        <p14:creationId xmlns:p14="http://schemas.microsoft.com/office/powerpoint/2010/main" val="16149284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CAF4F0A-293C-4327-8F00-4E439E863EA8}" type="slidenum">
              <a:rPr lang="en-GB" smtClean="0"/>
              <a:t>23</a:t>
            </a:fld>
            <a:endParaRPr lang="en-GB"/>
          </a:p>
        </p:txBody>
      </p:sp>
    </p:spTree>
    <p:extLst>
      <p:ext uri="{BB962C8B-B14F-4D97-AF65-F5344CB8AC3E}">
        <p14:creationId xmlns:p14="http://schemas.microsoft.com/office/powerpoint/2010/main" val="9841741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CAF4F0A-293C-4327-8F00-4E439E863EA8}" type="slidenum">
              <a:rPr lang="en-GB" smtClean="0"/>
              <a:t>24</a:t>
            </a:fld>
            <a:endParaRPr lang="en-GB"/>
          </a:p>
        </p:txBody>
      </p:sp>
    </p:spTree>
    <p:extLst>
      <p:ext uri="{BB962C8B-B14F-4D97-AF65-F5344CB8AC3E}">
        <p14:creationId xmlns:p14="http://schemas.microsoft.com/office/powerpoint/2010/main" val="34779198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10/11/2024</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742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10/11/2024</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06184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10/11/2024</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391754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10/11/2024</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35689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10/11/2024</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60164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10/11/2024</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55819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10/11/2024</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854599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10/11/2024</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763856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10/11/2024</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88836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10/11/2024</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802584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10/11/2024</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66575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10/11/2024</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3971371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hyperlink" Target="https://2012books.lardbucket.org/books/job-searching-in-six-steps/s12-step-4-continued-master-the-in.html" TargetMode="External"/><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pixabay.com/en/thank-you-letters-2204270/" TargetMode="External"/><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Target Healthcare">
            <a:extLst>
              <a:ext uri="{FF2B5EF4-FFF2-40B4-BE49-F238E27FC236}">
                <a16:creationId xmlns:a16="http://schemas.microsoft.com/office/drawing/2014/main" id="{E8767E24-0065-9936-1CFC-A7FFBCE53DDD}"/>
              </a:ext>
            </a:extLst>
          </p:cNvPr>
          <p:cNvPicPr>
            <a:picLocks noChangeAspect="1"/>
          </p:cNvPicPr>
          <p:nvPr/>
        </p:nvPicPr>
        <p:blipFill>
          <a:blip r:embed="rId3"/>
          <a:srcRect l="4028" r="33707" b="2"/>
          <a:stretch/>
        </p:blipFill>
        <p:spPr>
          <a:xfrm>
            <a:off x="7376365" y="1118937"/>
            <a:ext cx="4707349" cy="5065296"/>
          </a:xfrm>
          <a:prstGeom prst="rect">
            <a:avLst/>
          </a:prstGeom>
        </p:spPr>
      </p:pic>
      <p:sp>
        <p:nvSpPr>
          <p:cNvPr id="2" name="Title 1">
            <a:extLst>
              <a:ext uri="{FF2B5EF4-FFF2-40B4-BE49-F238E27FC236}">
                <a16:creationId xmlns:a16="http://schemas.microsoft.com/office/drawing/2014/main" id="{30BA43BE-0F80-22F5-AAC9-2BBAF91CCA6C}"/>
              </a:ext>
            </a:extLst>
          </p:cNvPr>
          <p:cNvSpPr>
            <a:spLocks noGrp="1"/>
          </p:cNvSpPr>
          <p:nvPr>
            <p:ph type="ctrTitle"/>
          </p:nvPr>
        </p:nvSpPr>
        <p:spPr>
          <a:xfrm>
            <a:off x="614680" y="673767"/>
            <a:ext cx="7025373" cy="1817732"/>
          </a:xfrm>
        </p:spPr>
        <p:txBody>
          <a:bodyPr vert="horz" lIns="91440" tIns="45720" rIns="91440" bIns="45720" rtlCol="0" anchor="b">
            <a:noAutofit/>
          </a:bodyPr>
          <a:lstStyle/>
          <a:p>
            <a:pPr algn="l"/>
            <a:r>
              <a:rPr lang="en-GB" dirty="0"/>
              <a:t>SOCIOLOGY</a:t>
            </a:r>
            <a:br>
              <a:rPr lang="en-GB" dirty="0"/>
            </a:br>
            <a:r>
              <a:rPr lang="en-GB" dirty="0"/>
              <a:t>Power, Ethnicity, Class, Gender and Health</a:t>
            </a:r>
            <a:endParaRPr lang="en-US" sz="3200" b="1" kern="1200" dirty="0">
              <a:solidFill>
                <a:schemeClr val="tx1"/>
              </a:solidFill>
              <a:latin typeface="+mj-lt"/>
              <a:ea typeface="+mj-ea"/>
              <a:cs typeface="+mj-cs"/>
            </a:endParaRPr>
          </a:p>
        </p:txBody>
      </p:sp>
      <p:sp>
        <p:nvSpPr>
          <p:cNvPr id="3" name="Subtitle 2">
            <a:extLst>
              <a:ext uri="{FF2B5EF4-FFF2-40B4-BE49-F238E27FC236}">
                <a16:creationId xmlns:a16="http://schemas.microsoft.com/office/drawing/2014/main" id="{69886F98-A04A-9435-D123-210ECFBD95F0}"/>
              </a:ext>
            </a:extLst>
          </p:cNvPr>
          <p:cNvSpPr>
            <a:spLocks noGrp="1"/>
          </p:cNvSpPr>
          <p:nvPr>
            <p:ph type="subTitle" idx="1"/>
          </p:nvPr>
        </p:nvSpPr>
        <p:spPr>
          <a:xfrm>
            <a:off x="728471" y="3237938"/>
            <a:ext cx="5576075" cy="2514601"/>
          </a:xfrm>
        </p:spPr>
        <p:txBody>
          <a:bodyPr vert="horz" lIns="91440" tIns="45720" rIns="91440" bIns="45720" rtlCol="0">
            <a:noAutofit/>
          </a:bodyPr>
          <a:lstStyle/>
          <a:p>
            <a:pPr algn="l"/>
            <a:r>
              <a:rPr lang="en-US" sz="2000" dirty="0"/>
              <a:t>Exploring Health Inequity Through Social Categories and Power Dynamics</a:t>
            </a:r>
          </a:p>
          <a:p>
            <a:pPr indent="-228600" algn="l">
              <a:buFont typeface="Arial" panose="020B0604020202020204" pitchFamily="34" charset="0"/>
              <a:buChar char="•"/>
            </a:pPr>
            <a:endParaRPr lang="en-US" sz="2000" dirty="0"/>
          </a:p>
          <a:p>
            <a:pPr algn="l"/>
            <a:r>
              <a:rPr lang="en-US" sz="2000" dirty="0"/>
              <a:t>__________________________</a:t>
            </a:r>
          </a:p>
          <a:p>
            <a:pPr algn="l"/>
            <a:r>
              <a:rPr lang="en-US" sz="2000" dirty="0" err="1"/>
              <a:t>Lubna</a:t>
            </a:r>
            <a:r>
              <a:rPr lang="en-US" sz="2000" dirty="0"/>
              <a:t> Syed</a:t>
            </a:r>
          </a:p>
          <a:p>
            <a:pPr indent="-228600" algn="l">
              <a:buFont typeface="Arial" panose="020B0604020202020204" pitchFamily="34" charset="0"/>
              <a:buChar char="•"/>
            </a:pPr>
            <a:endParaRPr lang="en-US" sz="2000" dirty="0"/>
          </a:p>
          <a:p>
            <a:pPr indent="-228600" algn="l">
              <a:buFont typeface="Arial" panose="020B0604020202020204" pitchFamily="34" charset="0"/>
              <a:buChar char="•"/>
            </a:pPr>
            <a:endParaRPr lang="en-US" sz="2000" dirty="0"/>
          </a:p>
        </p:txBody>
      </p:sp>
    </p:spTree>
    <p:extLst>
      <p:ext uri="{BB962C8B-B14F-4D97-AF65-F5344CB8AC3E}">
        <p14:creationId xmlns:p14="http://schemas.microsoft.com/office/powerpoint/2010/main" val="3790038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4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4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bstract Arrow">
            <a:extLst>
              <a:ext uri="{FF2B5EF4-FFF2-40B4-BE49-F238E27FC236}">
                <a16:creationId xmlns:a16="http://schemas.microsoft.com/office/drawing/2014/main" id="{ACAD351D-0765-4983-9D9F-0A0FB1B3DC3A}"/>
              </a:ext>
            </a:extLst>
          </p:cNvPr>
          <p:cNvPicPr>
            <a:picLocks noGrp="1" noChangeAspect="1"/>
          </p:cNvPicPr>
          <p:nvPr>
            <p:ph sz="half" idx="1"/>
          </p:nvPr>
        </p:nvPicPr>
        <p:blipFill>
          <a:blip r:embed="rId3"/>
          <a:srcRect l="26665" r="26342"/>
          <a:stretch/>
        </p:blipFill>
        <p:spPr>
          <a:xfrm>
            <a:off x="7345680" y="10"/>
            <a:ext cx="4846320" cy="6857990"/>
          </a:xfrm>
          <a:prstGeom prst="rect">
            <a:avLst/>
          </a:prstGeom>
        </p:spPr>
      </p:pic>
      <p:sp>
        <p:nvSpPr>
          <p:cNvPr id="2" name="Title 1">
            <a:extLst>
              <a:ext uri="{FF2B5EF4-FFF2-40B4-BE49-F238E27FC236}">
                <a16:creationId xmlns:a16="http://schemas.microsoft.com/office/drawing/2014/main" id="{229EACFE-930B-0749-CF56-E818FE53727E}"/>
              </a:ext>
            </a:extLst>
          </p:cNvPr>
          <p:cNvSpPr>
            <a:spLocks noGrp="1"/>
          </p:cNvSpPr>
          <p:nvPr>
            <p:ph type="title"/>
          </p:nvPr>
        </p:nvSpPr>
        <p:spPr>
          <a:xfrm>
            <a:off x="612648" y="974557"/>
            <a:ext cx="6035040" cy="806533"/>
          </a:xfrm>
        </p:spPr>
        <p:txBody>
          <a:bodyPr vert="horz" lIns="91440" tIns="45720" rIns="91440" bIns="45720" rtlCol="0" anchor="b">
            <a:normAutofit/>
          </a:bodyPr>
          <a:lstStyle/>
          <a:p>
            <a:r>
              <a:rPr lang="en-US" b="1" kern="1200" dirty="0">
                <a:solidFill>
                  <a:schemeClr val="tx1"/>
                </a:solidFill>
                <a:latin typeface="+mj-lt"/>
                <a:ea typeface="+mj-ea"/>
                <a:cs typeface="+mj-cs"/>
              </a:rPr>
              <a:t>Objectives</a:t>
            </a:r>
          </a:p>
        </p:txBody>
      </p:sp>
      <p:sp>
        <p:nvSpPr>
          <p:cNvPr id="4" name="Content Placeholder 3">
            <a:extLst>
              <a:ext uri="{FF2B5EF4-FFF2-40B4-BE49-F238E27FC236}">
                <a16:creationId xmlns:a16="http://schemas.microsoft.com/office/drawing/2014/main" id="{0A4E4545-BFB7-2173-EA8B-5E0D0975E964}"/>
              </a:ext>
            </a:extLst>
          </p:cNvPr>
          <p:cNvSpPr>
            <a:spLocks noGrp="1"/>
          </p:cNvSpPr>
          <p:nvPr>
            <p:ph sz="half" idx="2"/>
          </p:nvPr>
        </p:nvSpPr>
        <p:spPr>
          <a:xfrm>
            <a:off x="612648" y="2212848"/>
            <a:ext cx="6035040" cy="4096512"/>
          </a:xfrm>
        </p:spPr>
        <p:txBody>
          <a:bodyPr vert="horz" lIns="91440" tIns="45720" rIns="91440" bIns="45720" rtlCol="0">
            <a:normAutofit/>
          </a:bodyPr>
          <a:lstStyle/>
          <a:p>
            <a:r>
              <a:rPr lang="en-US" sz="1800" dirty="0"/>
              <a:t>Examining the Concepts of Class, Ethnicity, Gender, </a:t>
            </a:r>
            <a:r>
              <a:rPr lang="en-GB" sz="1800" dirty="0"/>
              <a:t>Sexuality </a:t>
            </a:r>
            <a:r>
              <a:rPr lang="en-US" sz="1800" dirty="0"/>
              <a:t>and Health</a:t>
            </a:r>
          </a:p>
          <a:p>
            <a:r>
              <a:rPr lang="en-US" sz="1800" dirty="0"/>
              <a:t>Understanding the Role of Social Determinants in Health Inequity</a:t>
            </a:r>
          </a:p>
          <a:p>
            <a:r>
              <a:rPr lang="en-US" sz="1800" dirty="0"/>
              <a:t>Exploring the Concept of Power in Society</a:t>
            </a:r>
          </a:p>
          <a:p>
            <a:r>
              <a:rPr lang="en-US" sz="1800" dirty="0"/>
              <a:t>Intersections Between Healthcare and Power in Society</a:t>
            </a:r>
          </a:p>
          <a:p>
            <a:r>
              <a:rPr lang="en-US" sz="1800" dirty="0"/>
              <a:t>Implications of Power Differentials in Healthcare for Clinical Practice</a:t>
            </a:r>
          </a:p>
        </p:txBody>
      </p:sp>
    </p:spTree>
    <p:extLst>
      <p:ext uri="{BB962C8B-B14F-4D97-AF65-F5344CB8AC3E}">
        <p14:creationId xmlns:p14="http://schemas.microsoft.com/office/powerpoint/2010/main" val="36867598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C1F8F08-4A58-4079-2F93-EFDB9A29AC26}"/>
              </a:ext>
            </a:extLst>
          </p:cNvPr>
          <p:cNvSpPr>
            <a:spLocks noGrp="1"/>
          </p:cNvSpPr>
          <p:nvPr>
            <p:ph type="title"/>
          </p:nvPr>
        </p:nvSpPr>
        <p:spPr>
          <a:xfrm>
            <a:off x="277091" y="2971799"/>
            <a:ext cx="7772400" cy="2597325"/>
          </a:xfrm>
        </p:spPr>
        <p:txBody>
          <a:bodyPr vert="horz" lIns="91440" tIns="45720" rIns="91440" bIns="45720" rtlCol="0" anchor="b">
            <a:normAutofit/>
          </a:bodyPr>
          <a:lstStyle/>
          <a:p>
            <a:r>
              <a:rPr lang="en-US" sz="4400" dirty="0"/>
              <a:t>Examining the Concepts of Class, Ethnicity, Gender,</a:t>
            </a:r>
            <a:r>
              <a:rPr lang="en-GB" sz="4400" dirty="0"/>
              <a:t> Sexuality</a:t>
            </a:r>
            <a:r>
              <a:rPr lang="en-US" sz="4400" dirty="0"/>
              <a:t> and Health</a:t>
            </a:r>
          </a:p>
        </p:txBody>
      </p:sp>
    </p:spTree>
    <p:extLst>
      <p:ext uri="{BB962C8B-B14F-4D97-AF65-F5344CB8AC3E}">
        <p14:creationId xmlns:p14="http://schemas.microsoft.com/office/powerpoint/2010/main" val="3741782473"/>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Yin Yang with people">
            <a:extLst>
              <a:ext uri="{FF2B5EF4-FFF2-40B4-BE49-F238E27FC236}">
                <a16:creationId xmlns:a16="http://schemas.microsoft.com/office/drawing/2014/main" id="{CD13DEBA-3D84-4BEB-9ADC-90D7BA484A78}"/>
              </a:ext>
            </a:extLst>
          </p:cNvPr>
          <p:cNvPicPr>
            <a:picLocks noGrp="1" noChangeAspect="1"/>
          </p:cNvPicPr>
          <p:nvPr>
            <p:ph sz="half" idx="1"/>
          </p:nvPr>
        </p:nvPicPr>
        <p:blipFill>
          <a:blip r:embed="rId3"/>
          <a:srcRect l="16715" r="36114" b="-1"/>
          <a:stretch/>
        </p:blipFill>
        <p:spPr>
          <a:xfrm>
            <a:off x="7345680" y="10"/>
            <a:ext cx="4846320" cy="6857990"/>
          </a:xfrm>
          <a:prstGeom prst="rect">
            <a:avLst/>
          </a:prstGeom>
        </p:spPr>
      </p:pic>
      <p:sp>
        <p:nvSpPr>
          <p:cNvPr id="2" name="Title 1">
            <a:extLst>
              <a:ext uri="{FF2B5EF4-FFF2-40B4-BE49-F238E27FC236}">
                <a16:creationId xmlns:a16="http://schemas.microsoft.com/office/drawing/2014/main" id="{7B02D751-2297-814A-B61B-91F23FA47E9E}"/>
              </a:ext>
            </a:extLst>
          </p:cNvPr>
          <p:cNvSpPr>
            <a:spLocks noGrp="1"/>
          </p:cNvSpPr>
          <p:nvPr>
            <p:ph type="title"/>
          </p:nvPr>
        </p:nvSpPr>
        <p:spPr>
          <a:xfrm>
            <a:off x="612648" y="600075"/>
            <a:ext cx="6035040" cy="1529932"/>
          </a:xfrm>
        </p:spPr>
        <p:txBody>
          <a:bodyPr vert="horz" lIns="91440" tIns="45720" rIns="91440" bIns="45720" rtlCol="0" anchor="b">
            <a:normAutofit/>
          </a:bodyPr>
          <a:lstStyle/>
          <a:p>
            <a:pPr algn="ctr"/>
            <a:r>
              <a:rPr lang="en-US" sz="3200" b="1" kern="1200" dirty="0">
                <a:solidFill>
                  <a:schemeClr val="tx1"/>
                </a:solidFill>
                <a:latin typeface="+mj-lt"/>
                <a:ea typeface="+mj-ea"/>
                <a:cs typeface="+mj-cs"/>
              </a:rPr>
              <a:t>The Influence of Social Categories on Health Experiences</a:t>
            </a:r>
          </a:p>
        </p:txBody>
      </p:sp>
      <p:sp>
        <p:nvSpPr>
          <p:cNvPr id="4" name="Content Placeholder 3">
            <a:extLst>
              <a:ext uri="{FF2B5EF4-FFF2-40B4-BE49-F238E27FC236}">
                <a16:creationId xmlns:a16="http://schemas.microsoft.com/office/drawing/2014/main" id="{C202A8FA-B2C3-A0DA-8704-5A4C0BEDCD6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2212848"/>
            <a:ext cx="6035040" cy="4096512"/>
          </a:xfrm>
        </p:spPr>
        <p:txBody>
          <a:bodyPr>
            <a:normAutofit/>
          </a:bodyPr>
          <a:lstStyle/>
          <a:p>
            <a:pPr marL="0" indent="0">
              <a:spcBef>
                <a:spcPts val="2500"/>
              </a:spcBef>
              <a:buNone/>
            </a:pPr>
            <a:r>
              <a:rPr lang="en-GB" sz="1400" b="1" dirty="0"/>
              <a:t>Access to Healthcare</a:t>
            </a:r>
          </a:p>
          <a:p>
            <a:pPr marL="0" lvl="1" indent="0">
              <a:buNone/>
            </a:pPr>
            <a:r>
              <a:rPr lang="en-GB" sz="1400" dirty="0"/>
              <a:t>Social categories such as class, ethnicity, gender, and sexuality can impact access to healthcare services.</a:t>
            </a:r>
          </a:p>
          <a:p>
            <a:pPr marL="0" indent="0">
              <a:spcBef>
                <a:spcPts val="2500"/>
              </a:spcBef>
              <a:buNone/>
            </a:pPr>
            <a:r>
              <a:rPr lang="en-GB" sz="1400" b="1" dirty="0"/>
              <a:t>Exposure to Health Risks</a:t>
            </a:r>
          </a:p>
          <a:p>
            <a:pPr marL="0" lvl="1" indent="0">
              <a:buNone/>
            </a:pPr>
            <a:r>
              <a:rPr lang="en-GB" sz="1400" dirty="0"/>
              <a:t>Social categories such as class, ethnicity, gender, and sexuality can impact exposure to health risks.</a:t>
            </a:r>
          </a:p>
          <a:p>
            <a:pPr marL="0" indent="0">
              <a:spcBef>
                <a:spcPts val="2500"/>
              </a:spcBef>
              <a:buNone/>
            </a:pPr>
            <a:r>
              <a:rPr lang="en-GB" sz="1400" b="1" dirty="0"/>
              <a:t>Social Support</a:t>
            </a:r>
          </a:p>
          <a:p>
            <a:pPr marL="0" lvl="1" indent="0">
              <a:buNone/>
            </a:pPr>
            <a:r>
              <a:rPr lang="en-GB" sz="1400" dirty="0"/>
              <a:t>Social categories can impact social support, affecting the ability of individuals to cope with health challenges and access resources for their health.</a:t>
            </a:r>
          </a:p>
        </p:txBody>
      </p:sp>
    </p:spTree>
    <p:extLst>
      <p:ext uri="{BB962C8B-B14F-4D97-AF65-F5344CB8AC3E}">
        <p14:creationId xmlns:p14="http://schemas.microsoft.com/office/powerpoint/2010/main" val="929812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Red house symbol and green man symbol with arrow on white background">
            <a:extLst>
              <a:ext uri="{FF2B5EF4-FFF2-40B4-BE49-F238E27FC236}">
                <a16:creationId xmlns:a16="http://schemas.microsoft.com/office/drawing/2014/main" id="{79E2EF0E-0942-460D-B28D-893974D46ACD}"/>
              </a:ext>
            </a:extLst>
          </p:cNvPr>
          <p:cNvPicPr>
            <a:picLocks noGrp="1" noChangeAspect="1"/>
          </p:cNvPicPr>
          <p:nvPr>
            <p:ph sz="half" idx="1"/>
          </p:nvPr>
        </p:nvPicPr>
        <p:blipFill>
          <a:blip r:embed="rId3"/>
          <a:srcRect l="19570" r="36396"/>
          <a:stretch/>
        </p:blipFill>
        <p:spPr>
          <a:xfrm>
            <a:off x="20" y="10"/>
            <a:ext cx="4910308" cy="6857990"/>
          </a:xfrm>
          <a:prstGeom prst="rect">
            <a:avLst/>
          </a:prstGeom>
        </p:spPr>
      </p:pic>
      <p:sp>
        <p:nvSpPr>
          <p:cNvPr id="2" name="Title 1">
            <a:extLst>
              <a:ext uri="{FF2B5EF4-FFF2-40B4-BE49-F238E27FC236}">
                <a16:creationId xmlns:a16="http://schemas.microsoft.com/office/drawing/2014/main" id="{C4AE04EE-FCA4-5536-7B8B-8F2F23E30219}"/>
              </a:ext>
            </a:extLst>
          </p:cNvPr>
          <p:cNvSpPr>
            <a:spLocks noGrp="1"/>
          </p:cNvSpPr>
          <p:nvPr>
            <p:ph type="title"/>
          </p:nvPr>
        </p:nvSpPr>
        <p:spPr>
          <a:xfrm>
            <a:off x="5568537" y="603504"/>
            <a:ext cx="5916168" cy="1527048"/>
          </a:xfrm>
        </p:spPr>
        <p:txBody>
          <a:bodyPr vert="horz" lIns="91440" tIns="45720" rIns="91440" bIns="45720" rtlCol="0" anchor="b">
            <a:normAutofit/>
          </a:bodyPr>
          <a:lstStyle/>
          <a:p>
            <a:pPr algn="ctr"/>
            <a:r>
              <a:rPr lang="en-US" sz="3200" b="1" kern="1200" dirty="0">
                <a:solidFill>
                  <a:schemeClr val="tx1"/>
                </a:solidFill>
                <a:latin typeface="+mj-lt"/>
                <a:ea typeface="+mj-ea"/>
                <a:cs typeface="+mj-cs"/>
              </a:rPr>
              <a:t>Impact of Class on Health Outcomes</a:t>
            </a:r>
          </a:p>
        </p:txBody>
      </p:sp>
      <p:sp>
        <p:nvSpPr>
          <p:cNvPr id="4" name="Content Placeholder 3">
            <a:extLst>
              <a:ext uri="{FF2B5EF4-FFF2-40B4-BE49-F238E27FC236}">
                <a16:creationId xmlns:a16="http://schemas.microsoft.com/office/drawing/2014/main" id="{DE784057-74B1-F58D-42AD-DBD22332F5F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2513167"/>
          </a:xfrm>
        </p:spPr>
        <p:txBody>
          <a:bodyPr>
            <a:normAutofit/>
          </a:bodyPr>
          <a:lstStyle/>
          <a:p>
            <a:pPr marL="0" indent="0">
              <a:spcBef>
                <a:spcPts val="2500"/>
              </a:spcBef>
              <a:buNone/>
            </a:pPr>
            <a:r>
              <a:rPr lang="en-GB" sz="1400" b="1" dirty="0"/>
              <a:t>The Social Determinants of Health</a:t>
            </a:r>
          </a:p>
          <a:p>
            <a:pPr marL="0" lvl="1" indent="0">
              <a:buNone/>
            </a:pPr>
            <a:r>
              <a:rPr lang="en-GB" sz="1400" dirty="0"/>
              <a:t>Social determinants of health, such as income, education, and living conditions, play a critical role in shaping health outcomes. </a:t>
            </a:r>
          </a:p>
          <a:p>
            <a:pPr marL="0" lvl="1" indent="0">
              <a:buNone/>
            </a:pPr>
            <a:endParaRPr lang="en-GB" sz="1400" b="1" dirty="0"/>
          </a:p>
          <a:p>
            <a:pPr marL="0" lvl="1" indent="0">
              <a:buNone/>
            </a:pPr>
            <a:r>
              <a:rPr lang="en-GB" sz="1400" b="1" dirty="0"/>
              <a:t>The Impact of Income on Health</a:t>
            </a:r>
          </a:p>
          <a:p>
            <a:pPr marL="0" lvl="1" indent="0">
              <a:buNone/>
            </a:pPr>
            <a:r>
              <a:rPr lang="en-GB" sz="1400" dirty="0"/>
              <a:t>Income is a key determinant of health. </a:t>
            </a:r>
          </a:p>
        </p:txBody>
      </p:sp>
    </p:spTree>
    <p:extLst>
      <p:ext uri="{BB962C8B-B14F-4D97-AF65-F5344CB8AC3E}">
        <p14:creationId xmlns:p14="http://schemas.microsoft.com/office/powerpoint/2010/main" val="15406691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4" descr="Global team">
            <a:extLst>
              <a:ext uri="{FF2B5EF4-FFF2-40B4-BE49-F238E27FC236}">
                <a16:creationId xmlns:a16="http://schemas.microsoft.com/office/drawing/2014/main" id="{0EA5431A-CA9F-D60A-7EED-FD61E8D51AAF}"/>
              </a:ext>
            </a:extLst>
          </p:cNvPr>
          <p:cNvPicPr>
            <a:picLocks noGrp="1" noChangeAspect="1"/>
          </p:cNvPicPr>
          <p:nvPr>
            <p:ph sz="half" idx="1"/>
          </p:nvPr>
        </p:nvPicPr>
        <p:blipFill>
          <a:blip r:embed="rId3"/>
          <a:srcRect l="28026" r="24180" b="-1"/>
          <a:stretch/>
        </p:blipFill>
        <p:spPr>
          <a:xfrm>
            <a:off x="20" y="10"/>
            <a:ext cx="4910308" cy="6857990"/>
          </a:xfrm>
          <a:prstGeom prst="rect">
            <a:avLst/>
          </a:prstGeom>
        </p:spPr>
      </p:pic>
      <p:sp>
        <p:nvSpPr>
          <p:cNvPr id="2" name="Title 1">
            <a:extLst>
              <a:ext uri="{FF2B5EF4-FFF2-40B4-BE49-F238E27FC236}">
                <a16:creationId xmlns:a16="http://schemas.microsoft.com/office/drawing/2014/main" id="{025CC3A8-38FA-F5BF-7AA1-75D2336400FF}"/>
              </a:ext>
            </a:extLst>
          </p:cNvPr>
          <p:cNvSpPr>
            <a:spLocks noGrp="1"/>
          </p:cNvSpPr>
          <p:nvPr>
            <p:ph type="title"/>
          </p:nvPr>
        </p:nvSpPr>
        <p:spPr>
          <a:xfrm>
            <a:off x="5568537" y="603504"/>
            <a:ext cx="5916168" cy="1527048"/>
          </a:xfrm>
        </p:spPr>
        <p:txBody>
          <a:bodyPr vert="horz" lIns="91440" tIns="45720" rIns="91440" bIns="45720" rtlCol="0" anchor="b">
            <a:normAutofit/>
          </a:bodyPr>
          <a:lstStyle/>
          <a:p>
            <a:pPr algn="ctr"/>
            <a:r>
              <a:rPr lang="en-US" sz="3200" b="1" kern="1200" dirty="0">
                <a:solidFill>
                  <a:schemeClr val="tx1"/>
                </a:solidFill>
                <a:latin typeface="+mj-lt"/>
                <a:ea typeface="+mj-ea"/>
                <a:cs typeface="+mj-cs"/>
              </a:rPr>
              <a:t>How Ethnicity, Gender, and Sexuality Shape Health</a:t>
            </a:r>
          </a:p>
        </p:txBody>
      </p:sp>
      <p:sp>
        <p:nvSpPr>
          <p:cNvPr id="4" name="Content Placeholder 3">
            <a:extLst>
              <a:ext uri="{FF2B5EF4-FFF2-40B4-BE49-F238E27FC236}">
                <a16:creationId xmlns:a16="http://schemas.microsoft.com/office/drawing/2014/main" id="{B5BB1125-56E5-7ED8-A14D-33F2C77652A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endParaRPr lang="en-GB" sz="1800" b="1" dirty="0"/>
          </a:p>
          <a:p>
            <a:pPr marL="0" lvl="1" indent="0">
              <a:buNone/>
            </a:pPr>
            <a:r>
              <a:rPr lang="en-GB" dirty="0"/>
              <a:t>Ethnicity, gender, and sexuality are social categories that interact with each other and with structural inequalities to shape health experiences and outcomes in unique ways.</a:t>
            </a:r>
          </a:p>
        </p:txBody>
      </p:sp>
    </p:spTree>
    <p:extLst>
      <p:ext uri="{BB962C8B-B14F-4D97-AF65-F5344CB8AC3E}">
        <p14:creationId xmlns:p14="http://schemas.microsoft.com/office/powerpoint/2010/main" val="15255582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6EC5A-CB74-1661-CE06-B18505D3B763}"/>
              </a:ext>
            </a:extLst>
          </p:cNvPr>
          <p:cNvSpPr>
            <a:spLocks noGrp="1"/>
          </p:cNvSpPr>
          <p:nvPr>
            <p:ph type="title"/>
          </p:nvPr>
        </p:nvSpPr>
        <p:spPr>
          <a:xfrm>
            <a:off x="373344" y="3429000"/>
            <a:ext cx="7772400" cy="2236378"/>
          </a:xfrm>
        </p:spPr>
        <p:txBody>
          <a:bodyPr vert="horz" lIns="91440" tIns="45720" rIns="91440" bIns="45720" rtlCol="0" anchor="b">
            <a:normAutofit/>
          </a:bodyPr>
          <a:lstStyle/>
          <a:p>
            <a:r>
              <a:rPr lang="en-US" sz="4400" dirty="0"/>
              <a:t>Understanding the Role of Social Determinants in Health Inequity</a:t>
            </a:r>
          </a:p>
        </p:txBody>
      </p:sp>
    </p:spTree>
    <p:extLst>
      <p:ext uri="{BB962C8B-B14F-4D97-AF65-F5344CB8AC3E}">
        <p14:creationId xmlns:p14="http://schemas.microsoft.com/office/powerpoint/2010/main" val="3681929651"/>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Shot of a businessman holding on to a bunch of cryptocurrency balloons on top of a graph against a white background">
            <a:extLst>
              <a:ext uri="{FF2B5EF4-FFF2-40B4-BE49-F238E27FC236}">
                <a16:creationId xmlns:a16="http://schemas.microsoft.com/office/drawing/2014/main" id="{5D86905B-ADD7-46F6-A105-2492AFAB265B}"/>
              </a:ext>
            </a:extLst>
          </p:cNvPr>
          <p:cNvPicPr>
            <a:picLocks noGrp="1" noChangeAspect="1"/>
          </p:cNvPicPr>
          <p:nvPr>
            <p:ph sz="half" idx="1"/>
          </p:nvPr>
        </p:nvPicPr>
        <p:blipFill>
          <a:blip r:embed="rId3"/>
          <a:srcRect l="11869" r="8440" b="-1"/>
          <a:stretch/>
        </p:blipFill>
        <p:spPr>
          <a:xfrm>
            <a:off x="7003853" y="637673"/>
            <a:ext cx="5188147" cy="5582654"/>
          </a:xfrm>
          <a:prstGeom prst="rect">
            <a:avLst/>
          </a:prstGeom>
        </p:spPr>
      </p:pic>
      <p:sp>
        <p:nvSpPr>
          <p:cNvPr id="2" name="Title 1">
            <a:extLst>
              <a:ext uri="{FF2B5EF4-FFF2-40B4-BE49-F238E27FC236}">
                <a16:creationId xmlns:a16="http://schemas.microsoft.com/office/drawing/2014/main" id="{F367CA0E-6E54-CE90-98C6-03C646518309}"/>
              </a:ext>
            </a:extLst>
          </p:cNvPr>
          <p:cNvSpPr>
            <a:spLocks noGrp="1"/>
          </p:cNvSpPr>
          <p:nvPr>
            <p:ph type="title"/>
          </p:nvPr>
        </p:nvSpPr>
        <p:spPr>
          <a:xfrm>
            <a:off x="1011723" y="1048673"/>
            <a:ext cx="4361688" cy="1527048"/>
          </a:xfrm>
        </p:spPr>
        <p:txBody>
          <a:bodyPr vert="horz" lIns="91440" tIns="45720" rIns="91440" bIns="45720" rtlCol="0" anchor="b">
            <a:normAutofit/>
          </a:bodyPr>
          <a:lstStyle/>
          <a:p>
            <a:pPr algn="ctr"/>
            <a:r>
              <a:rPr lang="en-US" sz="3300" b="1" kern="1200" dirty="0">
                <a:solidFill>
                  <a:schemeClr val="tx1"/>
                </a:solidFill>
                <a:latin typeface="+mj-lt"/>
                <a:ea typeface="+mj-ea"/>
                <a:cs typeface="+mj-cs"/>
              </a:rPr>
              <a:t>Unequal Distribution of Health Resources</a:t>
            </a:r>
          </a:p>
        </p:txBody>
      </p:sp>
      <p:sp>
        <p:nvSpPr>
          <p:cNvPr id="4" name="Content Placeholder 3">
            <a:extLst>
              <a:ext uri="{FF2B5EF4-FFF2-40B4-BE49-F238E27FC236}">
                <a16:creationId xmlns:a16="http://schemas.microsoft.com/office/drawing/2014/main" id="{D5BE4074-A3CC-1C00-42BC-F348743F91F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8866" y="3079122"/>
            <a:ext cx="5786121" cy="1998205"/>
          </a:xfrm>
        </p:spPr>
        <p:txBody>
          <a:bodyPr>
            <a:normAutofit/>
          </a:bodyPr>
          <a:lstStyle/>
          <a:p>
            <a:pPr marL="0" indent="0">
              <a:spcBef>
                <a:spcPts val="2500"/>
              </a:spcBef>
              <a:buNone/>
            </a:pPr>
            <a:endParaRPr lang="en-GB" sz="1800" b="1" dirty="0"/>
          </a:p>
          <a:p>
            <a:pPr marL="0" lvl="1" indent="0">
              <a:buNone/>
            </a:pPr>
            <a:r>
              <a:rPr lang="en-GB" dirty="0"/>
              <a:t>Social determinants such as income, education, and race can significantly impact access to health resources.</a:t>
            </a:r>
          </a:p>
        </p:txBody>
      </p:sp>
    </p:spTree>
    <p:extLst>
      <p:ext uri="{BB962C8B-B14F-4D97-AF65-F5344CB8AC3E}">
        <p14:creationId xmlns:p14="http://schemas.microsoft.com/office/powerpoint/2010/main" val="17104496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Stethoscope and blocks spelling out &quot;Health care&quot;">
            <a:extLst>
              <a:ext uri="{FF2B5EF4-FFF2-40B4-BE49-F238E27FC236}">
                <a16:creationId xmlns:a16="http://schemas.microsoft.com/office/drawing/2014/main" id="{541BC17B-B7B5-4C50-8E1C-F74B257D4BD6}"/>
              </a:ext>
            </a:extLst>
          </p:cNvPr>
          <p:cNvPicPr>
            <a:picLocks noGrp="1" noChangeAspect="1"/>
          </p:cNvPicPr>
          <p:nvPr>
            <p:ph sz="half" idx="1"/>
          </p:nvPr>
        </p:nvPicPr>
        <p:blipFill>
          <a:blip r:embed="rId3"/>
          <a:srcRect l="28774" r="15738" b="2"/>
          <a:stretch/>
        </p:blipFill>
        <p:spPr>
          <a:xfrm>
            <a:off x="20" y="10"/>
            <a:ext cx="4910308" cy="6857990"/>
          </a:xfrm>
          <a:prstGeom prst="rect">
            <a:avLst/>
          </a:prstGeom>
        </p:spPr>
      </p:pic>
      <p:sp>
        <p:nvSpPr>
          <p:cNvPr id="2" name="Title 1">
            <a:extLst>
              <a:ext uri="{FF2B5EF4-FFF2-40B4-BE49-F238E27FC236}">
                <a16:creationId xmlns:a16="http://schemas.microsoft.com/office/drawing/2014/main" id="{D885AA68-8AEF-DAB5-0D1E-6FE37A5861F7}"/>
              </a:ext>
            </a:extLst>
          </p:cNvPr>
          <p:cNvSpPr>
            <a:spLocks noGrp="1"/>
          </p:cNvSpPr>
          <p:nvPr>
            <p:ph type="title"/>
          </p:nvPr>
        </p:nvSpPr>
        <p:spPr>
          <a:xfrm>
            <a:off x="5433943" y="810437"/>
            <a:ext cx="6234442" cy="855205"/>
          </a:xfrm>
        </p:spPr>
        <p:txBody>
          <a:bodyPr vert="horz" lIns="91440" tIns="45720" rIns="91440" bIns="45720" rtlCol="0" anchor="b">
            <a:normAutofit/>
          </a:bodyPr>
          <a:lstStyle/>
          <a:p>
            <a:r>
              <a:rPr lang="en-US" b="1" kern="1200" dirty="0">
                <a:solidFill>
                  <a:schemeClr val="tx1"/>
                </a:solidFill>
                <a:latin typeface="+mj-lt"/>
                <a:ea typeface="+mj-ea"/>
                <a:cs typeface="+mj-cs"/>
              </a:rPr>
              <a:t>Barriers to Access to Care</a:t>
            </a:r>
          </a:p>
        </p:txBody>
      </p:sp>
      <p:sp>
        <p:nvSpPr>
          <p:cNvPr id="4" name="Content Placeholder 3">
            <a:extLst>
              <a:ext uri="{FF2B5EF4-FFF2-40B4-BE49-F238E27FC236}">
                <a16:creationId xmlns:a16="http://schemas.microsoft.com/office/drawing/2014/main" id="{A577FF92-C47D-82E0-9457-E02F82EEFA1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GB" sz="1400" b="1" dirty="0"/>
              <a:t>Race</a:t>
            </a:r>
          </a:p>
          <a:p>
            <a:pPr marL="0" lvl="1" indent="0">
              <a:buNone/>
            </a:pPr>
            <a:r>
              <a:rPr lang="en-GB" sz="1400" dirty="0"/>
              <a:t>Race can be a barrier to access to care due to factors such as implicit bias, lack of culturally responsive care, and discriminatory policies.</a:t>
            </a:r>
          </a:p>
          <a:p>
            <a:pPr marL="0" indent="0">
              <a:spcBef>
                <a:spcPts val="2500"/>
              </a:spcBef>
              <a:buNone/>
            </a:pPr>
            <a:r>
              <a:rPr lang="en-GB" sz="1400" b="1" dirty="0"/>
              <a:t>Ethnicity</a:t>
            </a:r>
          </a:p>
          <a:p>
            <a:pPr marL="0" lvl="1" indent="0">
              <a:buNone/>
            </a:pPr>
            <a:r>
              <a:rPr lang="en-GB" sz="1400" dirty="0"/>
              <a:t>Ethnicity can influence access to care due to language barriers, cultural beliefs.</a:t>
            </a:r>
          </a:p>
          <a:p>
            <a:pPr marL="0" indent="0">
              <a:spcBef>
                <a:spcPts val="2500"/>
              </a:spcBef>
              <a:buNone/>
            </a:pPr>
            <a:r>
              <a:rPr lang="en-GB" sz="1400" b="1" dirty="0"/>
              <a:t>Geographic Location</a:t>
            </a:r>
          </a:p>
          <a:p>
            <a:pPr marL="0" lvl="1" indent="0">
              <a:buNone/>
            </a:pPr>
            <a:r>
              <a:rPr lang="en-GB" sz="1400" dirty="0"/>
              <a:t>Geographic location can create barriers to access to care due to lack of healthcare facilities, transportation issues and rural/urban divide.</a:t>
            </a:r>
          </a:p>
        </p:txBody>
      </p:sp>
    </p:spTree>
    <p:extLst>
      <p:ext uri="{BB962C8B-B14F-4D97-AF65-F5344CB8AC3E}">
        <p14:creationId xmlns:p14="http://schemas.microsoft.com/office/powerpoint/2010/main" val="22364847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Balancing stones. Similar photographs from my portfolio:">
            <a:extLst>
              <a:ext uri="{FF2B5EF4-FFF2-40B4-BE49-F238E27FC236}">
                <a16:creationId xmlns:a16="http://schemas.microsoft.com/office/drawing/2014/main" id="{F971B319-A060-4B88-9A20-8D81237EBE67}"/>
              </a:ext>
            </a:extLst>
          </p:cNvPr>
          <p:cNvPicPr>
            <a:picLocks noGrp="1" noChangeAspect="1"/>
          </p:cNvPicPr>
          <p:nvPr>
            <p:ph sz="half" idx="1"/>
          </p:nvPr>
        </p:nvPicPr>
        <p:blipFill>
          <a:blip r:embed="rId3"/>
          <a:srcRect l="22804" r="15162" b="-2"/>
          <a:stretch/>
        </p:blipFill>
        <p:spPr>
          <a:xfrm>
            <a:off x="7215634" y="603504"/>
            <a:ext cx="4953338" cy="5329990"/>
          </a:xfrm>
          <a:prstGeom prst="rect">
            <a:avLst/>
          </a:prstGeom>
        </p:spPr>
      </p:pic>
      <p:sp>
        <p:nvSpPr>
          <p:cNvPr id="2" name="Title 1">
            <a:extLst>
              <a:ext uri="{FF2B5EF4-FFF2-40B4-BE49-F238E27FC236}">
                <a16:creationId xmlns:a16="http://schemas.microsoft.com/office/drawing/2014/main" id="{30EEFC6C-87D3-C698-BF16-4DA83FB89E61}"/>
              </a:ext>
            </a:extLst>
          </p:cNvPr>
          <p:cNvSpPr>
            <a:spLocks noGrp="1"/>
          </p:cNvSpPr>
          <p:nvPr>
            <p:ph type="title"/>
          </p:nvPr>
        </p:nvSpPr>
        <p:spPr>
          <a:xfrm>
            <a:off x="614680" y="603504"/>
            <a:ext cx="6315510" cy="1527048"/>
          </a:xfrm>
        </p:spPr>
        <p:txBody>
          <a:bodyPr vert="horz" lIns="91440" tIns="45720" rIns="91440" bIns="45720" rtlCol="0" anchor="b">
            <a:normAutofit/>
          </a:bodyPr>
          <a:lstStyle/>
          <a:p>
            <a:pPr algn="ctr"/>
            <a:r>
              <a:rPr lang="en-US" sz="3300" b="1" kern="1200" dirty="0">
                <a:solidFill>
                  <a:schemeClr val="tx1"/>
                </a:solidFill>
                <a:latin typeface="+mj-lt"/>
                <a:ea typeface="+mj-ea"/>
                <a:cs typeface="+mj-cs"/>
              </a:rPr>
              <a:t>Social Determinants and Their Effects on Health Equity</a:t>
            </a:r>
          </a:p>
        </p:txBody>
      </p:sp>
      <p:sp>
        <p:nvSpPr>
          <p:cNvPr id="4" name="Content Placeholder 3">
            <a:extLst>
              <a:ext uri="{FF2B5EF4-FFF2-40B4-BE49-F238E27FC236}">
                <a16:creationId xmlns:a16="http://schemas.microsoft.com/office/drawing/2014/main" id="{63B4EC69-BF64-2B96-0F05-DC3839B4F7E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50062" y="2734056"/>
            <a:ext cx="6315510" cy="2547807"/>
          </a:xfrm>
        </p:spPr>
        <p:txBody>
          <a:bodyPr>
            <a:normAutofit/>
          </a:bodyPr>
          <a:lstStyle/>
          <a:p>
            <a:pPr marL="0" indent="0">
              <a:spcBef>
                <a:spcPts val="2500"/>
              </a:spcBef>
              <a:buNone/>
            </a:pPr>
            <a:r>
              <a:rPr lang="en-GB" sz="1400" b="1" dirty="0"/>
              <a:t>Social Determinants</a:t>
            </a:r>
          </a:p>
          <a:p>
            <a:pPr marL="0" lvl="1" indent="0">
              <a:buNone/>
            </a:pPr>
            <a:r>
              <a:rPr lang="en-GB" sz="1400" dirty="0"/>
              <a:t>Social Determinants are the conditions in which people are born, grow, live, work and age. </a:t>
            </a:r>
          </a:p>
          <a:p>
            <a:pPr marL="0" indent="0">
              <a:spcBef>
                <a:spcPts val="2500"/>
              </a:spcBef>
              <a:buNone/>
            </a:pPr>
            <a:r>
              <a:rPr lang="en-GB" sz="1400" b="1" dirty="0"/>
              <a:t>Health Inequity</a:t>
            </a:r>
          </a:p>
          <a:p>
            <a:pPr marL="0" lvl="1" indent="0">
              <a:buNone/>
            </a:pPr>
            <a:r>
              <a:rPr lang="en-GB" sz="1400" dirty="0"/>
              <a:t>Health inequities are differences in health outcomes and access to care between different groups of people. </a:t>
            </a:r>
          </a:p>
        </p:txBody>
      </p:sp>
    </p:spTree>
    <p:extLst>
      <p:ext uri="{BB962C8B-B14F-4D97-AF65-F5344CB8AC3E}">
        <p14:creationId xmlns:p14="http://schemas.microsoft.com/office/powerpoint/2010/main" val="10059657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14DD815F-D93F-C8B0-1E02-0530B986FA5B}"/>
              </a:ext>
            </a:extLst>
          </p:cNvPr>
          <p:cNvSpPr>
            <a:spLocks noGrp="1"/>
          </p:cNvSpPr>
          <p:nvPr>
            <p:ph type="title"/>
          </p:nvPr>
        </p:nvSpPr>
        <p:spPr>
          <a:xfrm>
            <a:off x="301154" y="3308683"/>
            <a:ext cx="7772400" cy="2031841"/>
          </a:xfrm>
        </p:spPr>
        <p:txBody>
          <a:bodyPr vert="horz" lIns="91440" tIns="45720" rIns="91440" bIns="45720" rtlCol="0" anchor="b">
            <a:normAutofit/>
          </a:bodyPr>
          <a:lstStyle/>
          <a:p>
            <a:r>
              <a:rPr lang="en-US" sz="4800" dirty="0"/>
              <a:t>Exploring the Concept of Power in Society</a:t>
            </a:r>
          </a:p>
        </p:txBody>
      </p:sp>
    </p:spTree>
    <p:extLst>
      <p:ext uri="{BB962C8B-B14F-4D97-AF65-F5344CB8AC3E}">
        <p14:creationId xmlns:p14="http://schemas.microsoft.com/office/powerpoint/2010/main" val="950823691"/>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Hand drawn businessman and business woman icons in red and black colors are connected by arrows randomly on white background. This image shows the social media, and online communication between business people.">
            <a:extLst>
              <a:ext uri="{FF2B5EF4-FFF2-40B4-BE49-F238E27FC236}">
                <a16:creationId xmlns:a16="http://schemas.microsoft.com/office/drawing/2014/main" id="{3E27AF21-B1C2-400E-8F73-792B9862E5EA}"/>
              </a:ext>
            </a:extLst>
          </p:cNvPr>
          <p:cNvPicPr>
            <a:picLocks noGrp="1" noChangeAspect="1"/>
          </p:cNvPicPr>
          <p:nvPr>
            <p:ph sz="half" idx="1"/>
          </p:nvPr>
        </p:nvPicPr>
        <p:blipFill>
          <a:blip r:embed="rId3"/>
          <a:srcRect l="21824" r="16143" b="-1"/>
          <a:stretch/>
        </p:blipFill>
        <p:spPr>
          <a:xfrm>
            <a:off x="1" y="10"/>
            <a:ext cx="5068983" cy="6857990"/>
          </a:xfrm>
          <a:prstGeom prst="rect">
            <a:avLst/>
          </a:prstGeom>
        </p:spPr>
      </p:pic>
      <p:sp>
        <p:nvSpPr>
          <p:cNvPr id="2" name="Title 1">
            <a:extLst>
              <a:ext uri="{FF2B5EF4-FFF2-40B4-BE49-F238E27FC236}">
                <a16:creationId xmlns:a16="http://schemas.microsoft.com/office/drawing/2014/main" id="{05C419FF-0B84-9298-A302-60F321EE5F2B}"/>
              </a:ext>
            </a:extLst>
          </p:cNvPr>
          <p:cNvSpPr>
            <a:spLocks noGrp="1"/>
          </p:cNvSpPr>
          <p:nvPr>
            <p:ph type="title"/>
          </p:nvPr>
        </p:nvSpPr>
        <p:spPr>
          <a:xfrm>
            <a:off x="6096000" y="1234440"/>
            <a:ext cx="4361689" cy="1527048"/>
          </a:xfrm>
        </p:spPr>
        <p:txBody>
          <a:bodyPr vert="horz" lIns="91440" tIns="45720" rIns="91440" bIns="45720" rtlCol="0" anchor="b">
            <a:normAutofit/>
          </a:bodyPr>
          <a:lstStyle/>
          <a:p>
            <a:pPr algn="ctr"/>
            <a:r>
              <a:rPr lang="en-US" sz="3300" b="1" kern="1200" dirty="0">
                <a:solidFill>
                  <a:schemeClr val="tx1"/>
                </a:solidFill>
                <a:latin typeface="+mj-lt"/>
                <a:ea typeface="+mj-ea"/>
                <a:cs typeface="+mj-cs"/>
              </a:rPr>
              <a:t>Defining Power in Sociological Terms</a:t>
            </a:r>
          </a:p>
        </p:txBody>
      </p:sp>
      <p:sp>
        <p:nvSpPr>
          <p:cNvPr id="4" name="Content Placeholder 3">
            <a:extLst>
              <a:ext uri="{FF2B5EF4-FFF2-40B4-BE49-F238E27FC236}">
                <a16:creationId xmlns:a16="http://schemas.microsoft.com/office/drawing/2014/main" id="{0379980C-51B4-EAA3-250B-8BEB9F8843F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21107" y="3282696"/>
            <a:ext cx="6106589" cy="1527048"/>
          </a:xfrm>
        </p:spPr>
        <p:txBody>
          <a:bodyPr>
            <a:normAutofit/>
          </a:bodyPr>
          <a:lstStyle/>
          <a:p>
            <a:pPr marL="0" indent="0">
              <a:spcBef>
                <a:spcPts val="2500"/>
              </a:spcBef>
              <a:buNone/>
            </a:pPr>
            <a:endParaRPr lang="en-GB" sz="1800" b="1" dirty="0"/>
          </a:p>
          <a:p>
            <a:pPr marL="0" lvl="1" indent="0">
              <a:buNone/>
            </a:pPr>
            <a:r>
              <a:rPr lang="en-GB" dirty="0"/>
              <a:t>Power is the ability to influence others and is shaped by social relations, norms, and institutions. </a:t>
            </a:r>
          </a:p>
        </p:txBody>
      </p:sp>
    </p:spTree>
    <p:extLst>
      <p:ext uri="{BB962C8B-B14F-4D97-AF65-F5344CB8AC3E}">
        <p14:creationId xmlns:p14="http://schemas.microsoft.com/office/powerpoint/2010/main" val="32659925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social categories power dynamics health equity">
            <a:extLst>
              <a:ext uri="{FF2B5EF4-FFF2-40B4-BE49-F238E27FC236}">
                <a16:creationId xmlns:a16="http://schemas.microsoft.com/office/drawing/2014/main" id="{1018376A-5615-525B-3365-50AF7A511F0C}"/>
              </a:ext>
            </a:extLst>
          </p:cNvPr>
          <p:cNvPicPr>
            <a:picLocks noChangeAspect="1"/>
          </p:cNvPicPr>
          <p:nvPr/>
        </p:nvPicPr>
        <p:blipFill>
          <a:blip r:embed="rId3"/>
          <a:srcRect l="32087" r="27457" b="1"/>
          <a:stretch/>
        </p:blipFill>
        <p:spPr>
          <a:xfrm>
            <a:off x="7345680" y="10"/>
            <a:ext cx="4846320" cy="6857990"/>
          </a:xfrm>
          <a:prstGeom prst="rect">
            <a:avLst/>
          </a:prstGeom>
        </p:spPr>
      </p:pic>
      <p:sp>
        <p:nvSpPr>
          <p:cNvPr id="2" name="Title 1">
            <a:extLst>
              <a:ext uri="{FF2B5EF4-FFF2-40B4-BE49-F238E27FC236}">
                <a16:creationId xmlns:a16="http://schemas.microsoft.com/office/drawing/2014/main" id="{A195C199-F13A-516B-5A3F-1C0BCC11C095}"/>
              </a:ext>
            </a:extLst>
          </p:cNvPr>
          <p:cNvSpPr>
            <a:spLocks noGrp="1"/>
          </p:cNvSpPr>
          <p:nvPr>
            <p:ph type="title"/>
          </p:nvPr>
        </p:nvSpPr>
        <p:spPr>
          <a:xfrm>
            <a:off x="528427" y="341458"/>
            <a:ext cx="6035040" cy="1529932"/>
          </a:xfrm>
        </p:spPr>
        <p:txBody>
          <a:bodyPr vert="horz" lIns="91440" tIns="45720" rIns="91440" bIns="45720" rtlCol="0" anchor="b">
            <a:normAutofit/>
          </a:bodyPr>
          <a:lstStyle/>
          <a:p>
            <a:pPr algn="ctr"/>
            <a:r>
              <a:rPr lang="en-US" sz="3200" b="1" kern="1200" dirty="0">
                <a:solidFill>
                  <a:schemeClr val="tx1"/>
                </a:solidFill>
                <a:latin typeface="+mj-lt"/>
                <a:ea typeface="+mj-ea"/>
                <a:cs typeface="+mj-cs"/>
              </a:rPr>
              <a:t>Manifestations of Power in Societal Institutions</a:t>
            </a:r>
          </a:p>
        </p:txBody>
      </p:sp>
      <p:sp>
        <p:nvSpPr>
          <p:cNvPr id="4" name="Content Placeholder 3">
            <a:extLst>
              <a:ext uri="{FF2B5EF4-FFF2-40B4-BE49-F238E27FC236}">
                <a16:creationId xmlns:a16="http://schemas.microsoft.com/office/drawing/2014/main" id="{A865907F-002F-0F65-6D76-17FDBB77955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2212848"/>
            <a:ext cx="6035040" cy="4096512"/>
          </a:xfrm>
        </p:spPr>
        <p:txBody>
          <a:bodyPr>
            <a:normAutofit/>
          </a:bodyPr>
          <a:lstStyle/>
          <a:p>
            <a:pPr marL="0" indent="0">
              <a:lnSpc>
                <a:spcPct val="110000"/>
              </a:lnSpc>
              <a:spcBef>
                <a:spcPts val="2500"/>
              </a:spcBef>
              <a:buNone/>
            </a:pPr>
            <a:r>
              <a:rPr lang="en-GB" sz="1400" b="1" dirty="0"/>
              <a:t>Power in Government Institutions</a:t>
            </a:r>
            <a:endParaRPr lang="en-GB" sz="1400" b="1"/>
          </a:p>
          <a:p>
            <a:pPr marL="0" lvl="1" indent="0">
              <a:lnSpc>
                <a:spcPct val="110000"/>
              </a:lnSpc>
              <a:buNone/>
            </a:pPr>
            <a:r>
              <a:rPr lang="en-GB" sz="1400" dirty="0"/>
              <a:t>Power is often concentrated in government institutions, which can perpetuate power imbalances and contribute to health inequity.</a:t>
            </a:r>
            <a:endParaRPr lang="en-GB" sz="1400"/>
          </a:p>
          <a:p>
            <a:pPr marL="0" indent="0">
              <a:lnSpc>
                <a:spcPct val="110000"/>
              </a:lnSpc>
              <a:spcBef>
                <a:spcPts val="2500"/>
              </a:spcBef>
              <a:buNone/>
            </a:pPr>
            <a:r>
              <a:rPr lang="en-GB" sz="1400" b="1" dirty="0"/>
              <a:t>Power in Educational Institutions</a:t>
            </a:r>
            <a:endParaRPr lang="en-GB" sz="1400" b="1"/>
          </a:p>
          <a:p>
            <a:pPr marL="0" lvl="1" indent="0">
              <a:lnSpc>
                <a:spcPct val="110000"/>
              </a:lnSpc>
              <a:buNone/>
            </a:pPr>
            <a:r>
              <a:rPr lang="en-GB" sz="1400" dirty="0"/>
              <a:t>Educational institutions can perpetuate power imbalances and contribute to health inequity by privileging certain groups over others based on factors such as race, ethnicity, and socio-economic status.</a:t>
            </a:r>
            <a:endParaRPr lang="en-GB" sz="1400"/>
          </a:p>
          <a:p>
            <a:pPr marL="0" indent="0">
              <a:lnSpc>
                <a:spcPct val="110000"/>
              </a:lnSpc>
              <a:spcBef>
                <a:spcPts val="2500"/>
              </a:spcBef>
              <a:buNone/>
            </a:pPr>
            <a:r>
              <a:rPr lang="en-GB" sz="1400" b="1" dirty="0"/>
              <a:t>Power in Healthcare System</a:t>
            </a:r>
            <a:endParaRPr lang="en-GB" sz="1400" b="1"/>
          </a:p>
          <a:p>
            <a:pPr marL="0" lvl="1" indent="0">
              <a:lnSpc>
                <a:spcPct val="110000"/>
              </a:lnSpc>
              <a:buNone/>
            </a:pPr>
            <a:r>
              <a:rPr lang="en-GB" sz="1400" dirty="0"/>
              <a:t>The healthcare system can continue power imbalances and contribute to health inequity by providing unequal access to healthcare services based on factors such as race, ethnicity, and socio-economic status.</a:t>
            </a:r>
            <a:endParaRPr lang="en-GB" sz="1400"/>
          </a:p>
        </p:txBody>
      </p:sp>
    </p:spTree>
    <p:extLst>
      <p:ext uri="{BB962C8B-B14F-4D97-AF65-F5344CB8AC3E}">
        <p14:creationId xmlns:p14="http://schemas.microsoft.com/office/powerpoint/2010/main" val="11159494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Content Placeholder 4" descr="A male doctor sits down with a senior woman as he asks her a series of questions to gain her medical history.  He is wearing a white lab coat, has a stethoscope around his neck and is recording the answers on a clipboard in his hands.">
            <a:extLst>
              <a:ext uri="{FF2B5EF4-FFF2-40B4-BE49-F238E27FC236}">
                <a16:creationId xmlns:a16="http://schemas.microsoft.com/office/drawing/2014/main" id="{115FC801-87A3-4E18-A15F-441D09306395}"/>
              </a:ext>
            </a:extLst>
          </p:cNvPr>
          <p:cNvPicPr>
            <a:picLocks noGrp="1" noChangeAspect="1"/>
          </p:cNvPicPr>
          <p:nvPr>
            <p:ph sz="half" idx="1"/>
          </p:nvPr>
        </p:nvPicPr>
        <p:blipFill>
          <a:blip r:embed="rId3"/>
          <a:srcRect r="24826" b="-1"/>
          <a:stretch/>
        </p:blipFill>
        <p:spPr>
          <a:xfrm>
            <a:off x="252684" y="1231196"/>
            <a:ext cx="4728880" cy="4199011"/>
          </a:xfrm>
          <a:prstGeom prst="rect">
            <a:avLst/>
          </a:prstGeom>
        </p:spPr>
      </p:pic>
      <p:sp>
        <p:nvSpPr>
          <p:cNvPr id="2" name="Title 1">
            <a:extLst>
              <a:ext uri="{FF2B5EF4-FFF2-40B4-BE49-F238E27FC236}">
                <a16:creationId xmlns:a16="http://schemas.microsoft.com/office/drawing/2014/main" id="{CB60CD60-8A7D-C9CA-5AA0-816ECFEAF029}"/>
              </a:ext>
            </a:extLst>
          </p:cNvPr>
          <p:cNvSpPr>
            <a:spLocks noGrp="1"/>
          </p:cNvSpPr>
          <p:nvPr>
            <p:ph type="title"/>
          </p:nvPr>
        </p:nvSpPr>
        <p:spPr>
          <a:xfrm>
            <a:off x="5474375" y="1231196"/>
            <a:ext cx="5804018" cy="1309397"/>
          </a:xfrm>
        </p:spPr>
        <p:txBody>
          <a:bodyPr vert="horz" lIns="91440" tIns="45720" rIns="91440" bIns="45720" rtlCol="0" anchor="b">
            <a:normAutofit/>
          </a:bodyPr>
          <a:lstStyle/>
          <a:p>
            <a:pPr algn="ctr"/>
            <a:r>
              <a:rPr lang="en-US" sz="2800" b="1" kern="1200" dirty="0">
                <a:solidFill>
                  <a:schemeClr val="tx1"/>
                </a:solidFill>
                <a:latin typeface="+mj-lt"/>
                <a:ea typeface="+mj-ea"/>
                <a:cs typeface="+mj-cs"/>
              </a:rPr>
              <a:t>Power Dynamics Within the Healthcare System</a:t>
            </a:r>
          </a:p>
        </p:txBody>
      </p:sp>
      <p:sp>
        <p:nvSpPr>
          <p:cNvPr id="4" name="Content Placeholder 3">
            <a:extLst>
              <a:ext uri="{FF2B5EF4-FFF2-40B4-BE49-F238E27FC236}">
                <a16:creationId xmlns:a16="http://schemas.microsoft.com/office/drawing/2014/main" id="{32553FA6-EDD3-C8B3-2738-F6AE47B96D9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474375" y="2715167"/>
            <a:ext cx="5804018" cy="1772613"/>
          </a:xfrm>
        </p:spPr>
        <p:txBody>
          <a:bodyPr>
            <a:normAutofit/>
          </a:bodyPr>
          <a:lstStyle/>
          <a:p>
            <a:pPr marL="0" indent="0">
              <a:spcBef>
                <a:spcPts val="2500"/>
              </a:spcBef>
              <a:buNone/>
            </a:pPr>
            <a:endParaRPr lang="en-GB" sz="1400" b="1" dirty="0"/>
          </a:p>
          <a:p>
            <a:pPr marL="0" lvl="1" indent="0">
              <a:buNone/>
            </a:pPr>
            <a:r>
              <a:rPr lang="en-GB" sz="1400" dirty="0"/>
              <a:t>The power dynamics within the healthcare system can significantly impact access to care, clinical decision-making, and patient-provider interactions, leading to disparities in health outcomes.</a:t>
            </a:r>
          </a:p>
        </p:txBody>
      </p:sp>
    </p:spTree>
    <p:extLst>
      <p:ext uri="{BB962C8B-B14F-4D97-AF65-F5344CB8AC3E}">
        <p14:creationId xmlns:p14="http://schemas.microsoft.com/office/powerpoint/2010/main" val="42159326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54DE919-4537-E41E-0DEF-A90898169C8A}"/>
              </a:ext>
            </a:extLst>
          </p:cNvPr>
          <p:cNvSpPr>
            <a:spLocks noGrp="1"/>
          </p:cNvSpPr>
          <p:nvPr>
            <p:ph type="title"/>
          </p:nvPr>
        </p:nvSpPr>
        <p:spPr>
          <a:xfrm>
            <a:off x="433501" y="3513221"/>
            <a:ext cx="9877562" cy="1670893"/>
          </a:xfrm>
        </p:spPr>
        <p:txBody>
          <a:bodyPr vert="horz" lIns="91440" tIns="45720" rIns="91440" bIns="45720" rtlCol="0" anchor="b">
            <a:normAutofit/>
          </a:bodyPr>
          <a:lstStyle/>
          <a:p>
            <a:r>
              <a:rPr lang="en-US" sz="4400" dirty="0"/>
              <a:t>Intersections Between </a:t>
            </a:r>
            <a:br>
              <a:rPr lang="en-US" sz="4400" dirty="0"/>
            </a:br>
            <a:r>
              <a:rPr lang="en-US" sz="4400" dirty="0"/>
              <a:t>Healthcare and Power in Society</a:t>
            </a:r>
          </a:p>
        </p:txBody>
      </p:sp>
    </p:spTree>
    <p:extLst>
      <p:ext uri="{BB962C8B-B14F-4D97-AF65-F5344CB8AC3E}">
        <p14:creationId xmlns:p14="http://schemas.microsoft.com/office/powerpoint/2010/main" val="3626521794"/>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DE271AA-B13D-127B-31C2-070146FFF0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DEE8E2AD-644B-6088-8E1E-974C014BFEC2}"/>
              </a:ext>
            </a:extLst>
          </p:cNvPr>
          <p:cNvSpPr>
            <a:spLocks noGrp="1"/>
          </p:cNvSpPr>
          <p:nvPr>
            <p:ph type="title"/>
          </p:nvPr>
        </p:nvSpPr>
        <p:spPr>
          <a:xfrm>
            <a:off x="5646822" y="930675"/>
            <a:ext cx="5818433" cy="1435652"/>
          </a:xfrm>
        </p:spPr>
        <p:txBody>
          <a:bodyPr anchor="t">
            <a:normAutofit/>
          </a:bodyPr>
          <a:lstStyle/>
          <a:p>
            <a:r>
              <a:rPr lang="en-GB" sz="3200" dirty="0"/>
              <a:t>Healthcare Systems and Societal Power Dynamics</a:t>
            </a:r>
          </a:p>
        </p:txBody>
      </p:sp>
      <p:sp>
        <p:nvSpPr>
          <p:cNvPr id="3" name="Content Placeholder 2">
            <a:extLst>
              <a:ext uri="{FF2B5EF4-FFF2-40B4-BE49-F238E27FC236}">
                <a16:creationId xmlns:a16="http://schemas.microsoft.com/office/drawing/2014/main" id="{1D80ABC3-5CCE-DD94-02B2-B7C7E7BBEE7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86024" y="2458686"/>
            <a:ext cx="5729362" cy="2474444"/>
          </a:xfrm>
        </p:spPr>
        <p:txBody>
          <a:bodyPr>
            <a:normAutofit/>
          </a:bodyPr>
          <a:lstStyle/>
          <a:p>
            <a:pPr marL="0" indent="0">
              <a:spcBef>
                <a:spcPts val="2500"/>
              </a:spcBef>
              <a:buNone/>
            </a:pPr>
            <a:endParaRPr lang="en-GB" sz="1400" b="1" dirty="0"/>
          </a:p>
          <a:p>
            <a:pPr marL="0" lvl="1" indent="0">
              <a:buNone/>
            </a:pPr>
            <a:r>
              <a:rPr lang="en-GB" sz="1400" dirty="0"/>
              <a:t>Societal power dynamics can influence the healthcare system, resulting in disparities in access to care, quality of care, and health outcomes. Political and economic factors can affect healthcare policies and funding, which can lead to systemic inequalities.</a:t>
            </a:r>
          </a:p>
        </p:txBody>
      </p:sp>
      <p:pic>
        <p:nvPicPr>
          <p:cNvPr id="4" name="Picture 3" descr="Playing fictional board game with pawns">
            <a:extLst>
              <a:ext uri="{FF2B5EF4-FFF2-40B4-BE49-F238E27FC236}">
                <a16:creationId xmlns:a16="http://schemas.microsoft.com/office/drawing/2014/main" id="{B368E606-77E9-170F-8387-B2747BDF4F64}"/>
              </a:ext>
            </a:extLst>
          </p:cNvPr>
          <p:cNvPicPr>
            <a:picLocks noChangeAspect="1"/>
          </p:cNvPicPr>
          <p:nvPr/>
        </p:nvPicPr>
        <p:blipFill>
          <a:blip r:embed="rId3"/>
          <a:stretch>
            <a:fillRect/>
          </a:stretch>
        </p:blipFill>
        <p:spPr>
          <a:xfrm>
            <a:off x="537411" y="-84221"/>
            <a:ext cx="4572000" cy="6858000"/>
          </a:xfrm>
          <a:prstGeom prst="rect">
            <a:avLst/>
          </a:prstGeom>
        </p:spPr>
      </p:pic>
    </p:spTree>
    <p:extLst>
      <p:ext uri="{BB962C8B-B14F-4D97-AF65-F5344CB8AC3E}">
        <p14:creationId xmlns:p14="http://schemas.microsoft.com/office/powerpoint/2010/main" val="10155771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4" descr="instant team going to work together as  perfect machine they could be unkown to each other but the know their role and their job and work together like a well oiled machine. in which each member is a essential gear">
            <a:extLst>
              <a:ext uri="{FF2B5EF4-FFF2-40B4-BE49-F238E27FC236}">
                <a16:creationId xmlns:a16="http://schemas.microsoft.com/office/drawing/2014/main" id="{4BCF9806-2A0E-A9B3-DDA0-4F71EC8034E1}"/>
              </a:ext>
            </a:extLst>
          </p:cNvPr>
          <p:cNvPicPr>
            <a:picLocks noGrp="1" noChangeAspect="1"/>
          </p:cNvPicPr>
          <p:nvPr>
            <p:ph sz="half" idx="1"/>
          </p:nvPr>
        </p:nvPicPr>
        <p:blipFill>
          <a:blip r:embed="rId3"/>
          <a:srcRect l="10997" r="15189"/>
          <a:stretch/>
        </p:blipFill>
        <p:spPr>
          <a:xfrm>
            <a:off x="20" y="10"/>
            <a:ext cx="4910308" cy="6857990"/>
          </a:xfrm>
          <a:prstGeom prst="rect">
            <a:avLst/>
          </a:prstGeom>
        </p:spPr>
      </p:pic>
      <p:sp>
        <p:nvSpPr>
          <p:cNvPr id="2" name="Title 1">
            <a:extLst>
              <a:ext uri="{FF2B5EF4-FFF2-40B4-BE49-F238E27FC236}">
                <a16:creationId xmlns:a16="http://schemas.microsoft.com/office/drawing/2014/main" id="{281FECBA-13DD-B403-F068-7069F8E7C3AE}"/>
              </a:ext>
            </a:extLst>
          </p:cNvPr>
          <p:cNvSpPr>
            <a:spLocks noGrp="1"/>
          </p:cNvSpPr>
          <p:nvPr>
            <p:ph type="title"/>
          </p:nvPr>
        </p:nvSpPr>
        <p:spPr>
          <a:xfrm>
            <a:off x="5568537" y="603504"/>
            <a:ext cx="5916168" cy="1527048"/>
          </a:xfrm>
        </p:spPr>
        <p:txBody>
          <a:bodyPr vert="horz" lIns="91440" tIns="45720" rIns="91440" bIns="45720" rtlCol="0" anchor="b">
            <a:normAutofit/>
          </a:bodyPr>
          <a:lstStyle/>
          <a:p>
            <a:pPr algn="ctr"/>
            <a:r>
              <a:rPr lang="en-US" sz="3200" b="1" kern="1200" dirty="0">
                <a:solidFill>
                  <a:schemeClr val="tx1"/>
                </a:solidFill>
                <a:latin typeface="+mj-lt"/>
                <a:ea typeface="+mj-ea"/>
                <a:cs typeface="+mj-cs"/>
              </a:rPr>
              <a:t>How Power Operates Within Healthcare Systems</a:t>
            </a:r>
          </a:p>
        </p:txBody>
      </p:sp>
      <p:sp>
        <p:nvSpPr>
          <p:cNvPr id="4" name="Content Placeholder 3">
            <a:extLst>
              <a:ext uri="{FF2B5EF4-FFF2-40B4-BE49-F238E27FC236}">
                <a16:creationId xmlns:a16="http://schemas.microsoft.com/office/drawing/2014/main" id="{8973733E-26A3-2E80-BB9F-14995974BB5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lnSpc>
                <a:spcPct val="110000"/>
              </a:lnSpc>
              <a:spcBef>
                <a:spcPts val="2500"/>
              </a:spcBef>
              <a:buNone/>
            </a:pPr>
            <a:r>
              <a:rPr lang="en-GB" sz="1500" b="1"/>
              <a:t>Power Dynamics in Clinical Encounters</a:t>
            </a:r>
          </a:p>
          <a:p>
            <a:pPr marL="0" lvl="1" indent="0">
              <a:lnSpc>
                <a:spcPct val="110000"/>
              </a:lnSpc>
              <a:buNone/>
            </a:pPr>
            <a:r>
              <a:rPr lang="en-GB" sz="1500"/>
              <a:t>Power differentials can influence the quality of patient-provider relationships and care delivery in clinical encounters. </a:t>
            </a:r>
          </a:p>
          <a:p>
            <a:pPr marL="0" lvl="1" indent="0">
              <a:lnSpc>
                <a:spcPct val="110000"/>
              </a:lnSpc>
              <a:buNone/>
            </a:pPr>
            <a:endParaRPr lang="en-GB" sz="1500" b="1"/>
          </a:p>
          <a:p>
            <a:pPr marL="0" lvl="1" indent="0">
              <a:lnSpc>
                <a:spcPct val="110000"/>
              </a:lnSpc>
              <a:buNone/>
            </a:pPr>
            <a:r>
              <a:rPr lang="en-GB" sz="1500" b="1"/>
              <a:t>Healthcare Access</a:t>
            </a:r>
          </a:p>
          <a:p>
            <a:pPr marL="0" lvl="1" indent="0">
              <a:lnSpc>
                <a:spcPct val="110000"/>
              </a:lnSpc>
              <a:buNone/>
            </a:pPr>
            <a:r>
              <a:rPr lang="en-GB" sz="1500"/>
              <a:t>Power imbalances can also affect healthcare access and utilization, particularly among marginalized communities. </a:t>
            </a:r>
          </a:p>
          <a:p>
            <a:pPr marL="0" lvl="1" indent="0">
              <a:lnSpc>
                <a:spcPct val="110000"/>
              </a:lnSpc>
              <a:buNone/>
            </a:pPr>
            <a:endParaRPr lang="en-GB" sz="1500" b="1"/>
          </a:p>
          <a:p>
            <a:pPr marL="0" lvl="1" indent="0">
              <a:lnSpc>
                <a:spcPct val="110000"/>
              </a:lnSpc>
              <a:buNone/>
            </a:pPr>
            <a:r>
              <a:rPr lang="en-GB" sz="1500" b="1"/>
              <a:t>Patient Outcomes</a:t>
            </a:r>
          </a:p>
          <a:p>
            <a:pPr marL="0" lvl="1" indent="0">
              <a:lnSpc>
                <a:spcPct val="110000"/>
              </a:lnSpc>
              <a:buNone/>
            </a:pPr>
            <a:r>
              <a:rPr lang="en-GB" sz="1500"/>
              <a:t>Power dynamics within healthcare systems can ultimately impact patient outcomes, including morbidity and mortality rates. </a:t>
            </a:r>
          </a:p>
        </p:txBody>
      </p:sp>
    </p:spTree>
    <p:extLst>
      <p:ext uri="{BB962C8B-B14F-4D97-AF65-F5344CB8AC3E}">
        <p14:creationId xmlns:p14="http://schemas.microsoft.com/office/powerpoint/2010/main" val="16889984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A0C845-82CA-E507-C5F1-C32F10C8769D}"/>
              </a:ext>
            </a:extLst>
          </p:cNvPr>
          <p:cNvSpPr>
            <a:spLocks noGrp="1"/>
          </p:cNvSpPr>
          <p:nvPr>
            <p:ph type="title"/>
          </p:nvPr>
        </p:nvSpPr>
        <p:spPr>
          <a:xfrm>
            <a:off x="704917" y="781812"/>
            <a:ext cx="6086909" cy="1527048"/>
          </a:xfrm>
        </p:spPr>
        <p:txBody>
          <a:bodyPr vert="horz" lIns="91440" tIns="45720" rIns="91440" bIns="45720" rtlCol="0" anchor="b">
            <a:normAutofit/>
          </a:bodyPr>
          <a:lstStyle/>
          <a:p>
            <a:r>
              <a:rPr lang="en-US" sz="3300" b="1" kern="1200" dirty="0">
                <a:solidFill>
                  <a:schemeClr val="tx1"/>
                </a:solidFill>
                <a:latin typeface="+mj-lt"/>
                <a:ea typeface="+mj-ea"/>
                <a:cs typeface="+mj-cs"/>
              </a:rPr>
              <a:t>Power Imbalances and Healthcare Delivery</a:t>
            </a:r>
          </a:p>
        </p:txBody>
      </p:sp>
      <p:sp>
        <p:nvSpPr>
          <p:cNvPr id="4" name="Content Placeholder 3">
            <a:extLst>
              <a:ext uri="{FF2B5EF4-FFF2-40B4-BE49-F238E27FC236}">
                <a16:creationId xmlns:a16="http://schemas.microsoft.com/office/drawing/2014/main" id="{B3D21B9D-4082-156F-71B8-F9C2E8C6223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4680" y="2585827"/>
            <a:ext cx="6508016" cy="2756194"/>
          </a:xfrm>
        </p:spPr>
        <p:txBody>
          <a:bodyPr>
            <a:normAutofit/>
          </a:bodyPr>
          <a:lstStyle/>
          <a:p>
            <a:pPr marL="0" indent="0">
              <a:spcBef>
                <a:spcPts val="2500"/>
              </a:spcBef>
              <a:buNone/>
            </a:pPr>
            <a:r>
              <a:rPr lang="en-GB" sz="1400" b="1" dirty="0"/>
              <a:t>Impact on Clinical Decision-making</a:t>
            </a:r>
          </a:p>
          <a:p>
            <a:pPr marL="0" lvl="1" indent="0">
              <a:buNone/>
            </a:pPr>
            <a:r>
              <a:rPr lang="en-GB" sz="1400" dirty="0"/>
              <a:t>Power imbalances between providers and patients can impact clinical decision-making, leading to suboptimal treatment plans and poor health outcomes.</a:t>
            </a:r>
          </a:p>
          <a:p>
            <a:pPr marL="0" indent="0">
              <a:spcBef>
                <a:spcPts val="2500"/>
              </a:spcBef>
              <a:buNone/>
            </a:pPr>
            <a:r>
              <a:rPr lang="en-GB" sz="1400" b="1" dirty="0"/>
              <a:t>Patient-Provider Interactions</a:t>
            </a:r>
          </a:p>
          <a:p>
            <a:pPr marL="0" lvl="1" indent="0">
              <a:buNone/>
            </a:pPr>
            <a:r>
              <a:rPr lang="en-GB" sz="1400" dirty="0"/>
              <a:t>Power imbalances between providers and patients can negatively impact patient-provider interactions, leading to a lack of trust, poor communication, and ultimately, poor health outcomes.</a:t>
            </a:r>
          </a:p>
        </p:txBody>
      </p:sp>
      <p:pic>
        <p:nvPicPr>
          <p:cNvPr id="3" name="Picture 2" descr="3d rendering social network Conceptsmap:http://www.lib.utexas.edu/maps/world_maps/txu-oclc-264266980-world_pol_2008-2.jpgrendering in 3dmaxfinished in 18/06/2013Please see some similar pictures from my portfolio:">
            <a:extLst>
              <a:ext uri="{FF2B5EF4-FFF2-40B4-BE49-F238E27FC236}">
                <a16:creationId xmlns:a16="http://schemas.microsoft.com/office/drawing/2014/main" id="{286ED387-DED3-D1A7-C197-8666020FBFE5}"/>
              </a:ext>
            </a:extLst>
          </p:cNvPr>
          <p:cNvPicPr>
            <a:picLocks noChangeAspect="1"/>
          </p:cNvPicPr>
          <p:nvPr/>
        </p:nvPicPr>
        <p:blipFill>
          <a:blip r:embed="rId3"/>
          <a:stretch>
            <a:fillRect/>
          </a:stretch>
        </p:blipFill>
        <p:spPr>
          <a:xfrm>
            <a:off x="7215632" y="1545336"/>
            <a:ext cx="4361688" cy="4361688"/>
          </a:xfrm>
          <a:prstGeom prst="rect">
            <a:avLst/>
          </a:prstGeom>
        </p:spPr>
      </p:pic>
    </p:spTree>
    <p:extLst>
      <p:ext uri="{BB962C8B-B14F-4D97-AF65-F5344CB8AC3E}">
        <p14:creationId xmlns:p14="http://schemas.microsoft.com/office/powerpoint/2010/main" val="208561899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Studio shot of two unrecognizable woman gripping one another's hand in solidarity against a brown background">
            <a:extLst>
              <a:ext uri="{FF2B5EF4-FFF2-40B4-BE49-F238E27FC236}">
                <a16:creationId xmlns:a16="http://schemas.microsoft.com/office/drawing/2014/main" id="{1F7D0E2A-EB4D-432E-832E-FA322FFE6F00}"/>
              </a:ext>
            </a:extLst>
          </p:cNvPr>
          <p:cNvPicPr>
            <a:picLocks noGrp="1" noChangeAspect="1"/>
          </p:cNvPicPr>
          <p:nvPr>
            <p:ph sz="half" idx="1"/>
          </p:nvPr>
        </p:nvPicPr>
        <p:blipFill>
          <a:blip r:embed="rId3"/>
          <a:srcRect l="30633" r="29092"/>
          <a:stretch/>
        </p:blipFill>
        <p:spPr>
          <a:xfrm>
            <a:off x="20" y="10"/>
            <a:ext cx="4910308" cy="6857990"/>
          </a:xfrm>
          <a:prstGeom prst="rect">
            <a:avLst/>
          </a:prstGeom>
        </p:spPr>
      </p:pic>
      <p:sp>
        <p:nvSpPr>
          <p:cNvPr id="2" name="Title 1">
            <a:extLst>
              <a:ext uri="{FF2B5EF4-FFF2-40B4-BE49-F238E27FC236}">
                <a16:creationId xmlns:a16="http://schemas.microsoft.com/office/drawing/2014/main" id="{DEFEF509-9178-3A8B-0381-E5EA778D5513}"/>
              </a:ext>
            </a:extLst>
          </p:cNvPr>
          <p:cNvSpPr>
            <a:spLocks noGrp="1"/>
          </p:cNvSpPr>
          <p:nvPr>
            <p:ph type="title"/>
          </p:nvPr>
        </p:nvSpPr>
        <p:spPr>
          <a:xfrm>
            <a:off x="5568537" y="343617"/>
            <a:ext cx="5916168" cy="1527048"/>
          </a:xfrm>
        </p:spPr>
        <p:txBody>
          <a:bodyPr vert="horz" lIns="91440" tIns="45720" rIns="91440" bIns="45720" rtlCol="0" anchor="b">
            <a:normAutofit/>
          </a:bodyPr>
          <a:lstStyle/>
          <a:p>
            <a:pPr algn="ctr"/>
            <a:r>
              <a:rPr lang="en-US" sz="3200" b="1" kern="1200" dirty="0">
                <a:solidFill>
                  <a:schemeClr val="tx1"/>
                </a:solidFill>
                <a:latin typeface="+mj-lt"/>
                <a:ea typeface="+mj-ea"/>
                <a:cs typeface="+mj-cs"/>
              </a:rPr>
              <a:t>Impact on Marginalized Groups</a:t>
            </a:r>
          </a:p>
        </p:txBody>
      </p:sp>
      <p:sp>
        <p:nvSpPr>
          <p:cNvPr id="4" name="Content Placeholder 3">
            <a:extLst>
              <a:ext uri="{FF2B5EF4-FFF2-40B4-BE49-F238E27FC236}">
                <a16:creationId xmlns:a16="http://schemas.microsoft.com/office/drawing/2014/main" id="{BEB6CF47-2FD2-FD02-6F2B-5764F3F708C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GB" sz="1400" b="1" dirty="0"/>
              <a:t>Healthcare Disparities</a:t>
            </a:r>
          </a:p>
          <a:p>
            <a:pPr marL="0" lvl="1" indent="0">
              <a:buNone/>
            </a:pPr>
            <a:r>
              <a:rPr lang="en-GB" sz="1400" dirty="0"/>
              <a:t>Marginalized groups, such as racial and ethnic minorities, LGBTQ+ individuals, and low-income populations, experience healthcare disparities due to power imbalances in the healthcare system. </a:t>
            </a:r>
          </a:p>
          <a:p>
            <a:pPr marL="0" indent="0">
              <a:spcBef>
                <a:spcPts val="2500"/>
              </a:spcBef>
              <a:buNone/>
            </a:pPr>
            <a:r>
              <a:rPr lang="en-GB" sz="1400" b="1" dirty="0"/>
              <a:t>Social Determinants of Health</a:t>
            </a:r>
          </a:p>
          <a:p>
            <a:pPr marL="0" lvl="1" indent="0">
              <a:buNone/>
            </a:pPr>
            <a:r>
              <a:rPr lang="en-GB" sz="1400" dirty="0"/>
              <a:t>Social determinants of health, such as poverty, discrimination, and lack of access to education and healthcare, contribute to healthcare disparities among marginalized groups. </a:t>
            </a:r>
          </a:p>
        </p:txBody>
      </p:sp>
    </p:spTree>
    <p:extLst>
      <p:ext uri="{BB962C8B-B14F-4D97-AF65-F5344CB8AC3E}">
        <p14:creationId xmlns:p14="http://schemas.microsoft.com/office/powerpoint/2010/main" val="530105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3742EFCB-57EE-DF12-A6CD-3425317DCEB7}"/>
              </a:ext>
            </a:extLst>
          </p:cNvPr>
          <p:cNvSpPr>
            <a:spLocks noGrp="1"/>
          </p:cNvSpPr>
          <p:nvPr>
            <p:ph type="title"/>
          </p:nvPr>
        </p:nvSpPr>
        <p:spPr>
          <a:xfrm>
            <a:off x="722260" y="3056021"/>
            <a:ext cx="7772400" cy="2392788"/>
          </a:xfrm>
        </p:spPr>
        <p:txBody>
          <a:bodyPr vert="horz" lIns="91440" tIns="45720" rIns="91440" bIns="45720" rtlCol="0" anchor="b">
            <a:normAutofit/>
          </a:bodyPr>
          <a:lstStyle/>
          <a:p>
            <a:r>
              <a:rPr lang="en-US" sz="4400" dirty="0"/>
              <a:t>Implications of Power Differentials in Healthcare for Clinical Practice</a:t>
            </a:r>
          </a:p>
        </p:txBody>
      </p:sp>
    </p:spTree>
    <p:extLst>
      <p:ext uri="{BB962C8B-B14F-4D97-AF65-F5344CB8AC3E}">
        <p14:creationId xmlns:p14="http://schemas.microsoft.com/office/powerpoint/2010/main" val="310829787"/>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73742A-42C4-F691-0363-C10C93B09572}"/>
              </a:ext>
            </a:extLst>
          </p:cNvPr>
          <p:cNvSpPr>
            <a:spLocks noGrp="1"/>
          </p:cNvSpPr>
          <p:nvPr>
            <p:ph type="title"/>
          </p:nvPr>
        </p:nvSpPr>
        <p:spPr>
          <a:xfrm>
            <a:off x="5568537" y="603504"/>
            <a:ext cx="5916168" cy="1527048"/>
          </a:xfrm>
        </p:spPr>
        <p:txBody>
          <a:bodyPr vert="horz" lIns="91440" tIns="45720" rIns="91440" bIns="45720" rtlCol="0" anchor="b">
            <a:normAutofit/>
          </a:bodyPr>
          <a:lstStyle/>
          <a:p>
            <a:pPr algn="ctr"/>
            <a:r>
              <a:rPr lang="en-US" sz="3300" b="1" kern="1200" dirty="0">
                <a:solidFill>
                  <a:schemeClr val="tx1"/>
                </a:solidFill>
                <a:latin typeface="+mj-lt"/>
                <a:ea typeface="+mj-ea"/>
                <a:cs typeface="+mj-cs"/>
              </a:rPr>
              <a:t>Power Differentials </a:t>
            </a:r>
            <a:r>
              <a:rPr lang="en-US" sz="3200" b="1" kern="1200" dirty="0">
                <a:solidFill>
                  <a:schemeClr val="tx1"/>
                </a:solidFill>
                <a:latin typeface="+mj-lt"/>
                <a:ea typeface="+mj-ea"/>
                <a:cs typeface="+mj-cs"/>
              </a:rPr>
              <a:t>Between</a:t>
            </a:r>
            <a:r>
              <a:rPr lang="en-US" sz="3300" b="1" kern="1200" dirty="0">
                <a:solidFill>
                  <a:schemeClr val="tx1"/>
                </a:solidFill>
                <a:latin typeface="+mj-lt"/>
                <a:ea typeface="+mj-ea"/>
                <a:cs typeface="+mj-cs"/>
              </a:rPr>
              <a:t> Providers and Patients</a:t>
            </a:r>
          </a:p>
        </p:txBody>
      </p:sp>
      <p:sp>
        <p:nvSpPr>
          <p:cNvPr id="4" name="Content Placeholder 3">
            <a:extLst>
              <a:ext uri="{FF2B5EF4-FFF2-40B4-BE49-F238E27FC236}">
                <a16:creationId xmlns:a16="http://schemas.microsoft.com/office/drawing/2014/main" id="{6BABFCDD-FA79-6EE2-494D-D0D4A0AA199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lnSpc>
                <a:spcPct val="110000"/>
              </a:lnSpc>
              <a:spcBef>
                <a:spcPts val="2500"/>
              </a:spcBef>
              <a:buNone/>
            </a:pPr>
            <a:r>
              <a:rPr lang="en-GB" sz="1400" b="1" dirty="0"/>
              <a:t>Impact on Clinical Decision-Making</a:t>
            </a:r>
          </a:p>
          <a:p>
            <a:pPr marL="0" lvl="1" indent="0">
              <a:lnSpc>
                <a:spcPct val="110000"/>
              </a:lnSpc>
              <a:buNone/>
            </a:pPr>
            <a:r>
              <a:rPr lang="en-GB" sz="1400" dirty="0"/>
              <a:t>Power differentials can impact clinical decision-making by influencing the information that is shared, the treatment options presented, and the care provided to the patient.</a:t>
            </a:r>
          </a:p>
          <a:p>
            <a:pPr marL="0" indent="0">
              <a:lnSpc>
                <a:spcPct val="110000"/>
              </a:lnSpc>
              <a:spcBef>
                <a:spcPts val="2500"/>
              </a:spcBef>
              <a:buNone/>
            </a:pPr>
            <a:r>
              <a:rPr lang="en-GB" sz="1400" b="1" dirty="0"/>
              <a:t>Patient-Provider Interactions</a:t>
            </a:r>
          </a:p>
          <a:p>
            <a:pPr marL="0" lvl="1" indent="0">
              <a:lnSpc>
                <a:spcPct val="110000"/>
              </a:lnSpc>
              <a:buNone/>
            </a:pPr>
            <a:r>
              <a:rPr lang="en-GB" sz="1400" dirty="0"/>
              <a:t>Power differentials can impact patient-provider interactions by affecting communication, trust, and patient satisfaction.</a:t>
            </a:r>
          </a:p>
          <a:p>
            <a:pPr marL="0" indent="0">
              <a:lnSpc>
                <a:spcPct val="110000"/>
              </a:lnSpc>
              <a:spcBef>
                <a:spcPts val="2500"/>
              </a:spcBef>
              <a:buNone/>
            </a:pPr>
            <a:r>
              <a:rPr lang="en-GB" sz="1400" b="1" dirty="0"/>
              <a:t>Impact on Health Outcomes</a:t>
            </a:r>
          </a:p>
          <a:p>
            <a:pPr marL="0" lvl="1" indent="0">
              <a:lnSpc>
                <a:spcPct val="110000"/>
              </a:lnSpc>
              <a:buNone/>
            </a:pPr>
            <a:r>
              <a:rPr lang="en-GB" sz="1400" dirty="0"/>
              <a:t>Power differentials can impact health outcomes by influencing the quality of care received, adherence to treatment, and patient outcomes.</a:t>
            </a:r>
          </a:p>
        </p:txBody>
      </p:sp>
      <p:pic>
        <p:nvPicPr>
          <p:cNvPr id="7" name="Content Placeholder 4" descr="Legal System Close-up of a Scale Drawing and Stethoscope on Doctors Medical Report Clipboard.">
            <a:extLst>
              <a:ext uri="{FF2B5EF4-FFF2-40B4-BE49-F238E27FC236}">
                <a16:creationId xmlns:a16="http://schemas.microsoft.com/office/drawing/2014/main" id="{9AA6DFBC-DA47-5CC9-56DC-6BF56F090334}"/>
              </a:ext>
            </a:extLst>
          </p:cNvPr>
          <p:cNvPicPr>
            <a:picLocks noGrp="1" noChangeAspect="1"/>
          </p:cNvPicPr>
          <p:nvPr>
            <p:ph sz="half" idx="1"/>
          </p:nvPr>
        </p:nvPicPr>
        <p:blipFill>
          <a:blip r:embed="rId3"/>
          <a:srcRect l="26727" r="517" b="-1"/>
          <a:stretch/>
        </p:blipFill>
        <p:spPr>
          <a:xfrm>
            <a:off x="442093" y="1367028"/>
            <a:ext cx="4684352" cy="4297680"/>
          </a:xfrm>
          <a:prstGeom prst="rect">
            <a:avLst/>
          </a:prstGeom>
        </p:spPr>
      </p:pic>
    </p:spTree>
    <p:extLst>
      <p:ext uri="{BB962C8B-B14F-4D97-AF65-F5344CB8AC3E}">
        <p14:creationId xmlns:p14="http://schemas.microsoft.com/office/powerpoint/2010/main" val="4221465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High angle shot of a group of young doctors forming a huddle with their hands inside of a hospital during the day">
            <a:extLst>
              <a:ext uri="{FF2B5EF4-FFF2-40B4-BE49-F238E27FC236}">
                <a16:creationId xmlns:a16="http://schemas.microsoft.com/office/drawing/2014/main" id="{8CC83AE4-30FD-45A4-A7DD-195A6C55E0FE}"/>
              </a:ext>
            </a:extLst>
          </p:cNvPr>
          <p:cNvPicPr>
            <a:picLocks noGrp="1" noChangeAspect="1"/>
          </p:cNvPicPr>
          <p:nvPr>
            <p:ph sz="half" idx="1"/>
          </p:nvPr>
        </p:nvPicPr>
        <p:blipFill>
          <a:blip r:embed="rId3"/>
          <a:srcRect l="10488" r="14338" b="-1"/>
          <a:stretch/>
        </p:blipFill>
        <p:spPr>
          <a:xfrm>
            <a:off x="336904" y="1387929"/>
            <a:ext cx="4932927" cy="4380195"/>
          </a:xfrm>
          <a:prstGeom prst="rect">
            <a:avLst/>
          </a:prstGeom>
        </p:spPr>
      </p:pic>
      <p:sp>
        <p:nvSpPr>
          <p:cNvPr id="2" name="Title 1">
            <a:extLst>
              <a:ext uri="{FF2B5EF4-FFF2-40B4-BE49-F238E27FC236}">
                <a16:creationId xmlns:a16="http://schemas.microsoft.com/office/drawing/2014/main" id="{96451814-A8E6-EF88-90D3-6D62538ED715}"/>
              </a:ext>
            </a:extLst>
          </p:cNvPr>
          <p:cNvSpPr>
            <a:spLocks noGrp="1"/>
          </p:cNvSpPr>
          <p:nvPr>
            <p:ph type="title"/>
          </p:nvPr>
        </p:nvSpPr>
        <p:spPr>
          <a:xfrm>
            <a:off x="6436895" y="1070811"/>
            <a:ext cx="5046028" cy="1225176"/>
          </a:xfrm>
        </p:spPr>
        <p:txBody>
          <a:bodyPr vert="horz" lIns="91440" tIns="45720" rIns="91440" bIns="45720" rtlCol="0" anchor="b">
            <a:normAutofit/>
          </a:bodyPr>
          <a:lstStyle/>
          <a:p>
            <a:pPr algn="ctr"/>
            <a:r>
              <a:rPr lang="en-US" sz="3200" b="1" kern="1200" dirty="0">
                <a:solidFill>
                  <a:schemeClr val="tx1"/>
                </a:solidFill>
                <a:latin typeface="+mj-lt"/>
                <a:ea typeface="+mj-ea"/>
                <a:cs typeface="+mj-cs"/>
              </a:rPr>
              <a:t>Implications</a:t>
            </a:r>
            <a:r>
              <a:rPr lang="en-US" sz="3300" b="1" kern="1200" dirty="0">
                <a:solidFill>
                  <a:schemeClr val="tx1"/>
                </a:solidFill>
                <a:latin typeface="+mj-lt"/>
                <a:ea typeface="+mj-ea"/>
                <a:cs typeface="+mj-cs"/>
              </a:rPr>
              <a:t> for Healthcare Providers</a:t>
            </a:r>
          </a:p>
        </p:txBody>
      </p:sp>
      <p:sp>
        <p:nvSpPr>
          <p:cNvPr id="4" name="Content Placeholder 3">
            <a:extLst>
              <a:ext uri="{FF2B5EF4-FFF2-40B4-BE49-F238E27FC236}">
                <a16:creationId xmlns:a16="http://schemas.microsoft.com/office/drawing/2014/main" id="{78E84EEA-2D93-D0C8-79F9-C42684EA8AB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855369" y="2741275"/>
            <a:ext cx="5386923" cy="1385557"/>
          </a:xfrm>
        </p:spPr>
        <p:txBody>
          <a:bodyPr>
            <a:normAutofit/>
          </a:bodyPr>
          <a:lstStyle/>
          <a:p>
            <a:pPr marL="0" indent="0">
              <a:spcBef>
                <a:spcPts val="2500"/>
              </a:spcBef>
              <a:buNone/>
            </a:pPr>
            <a:endParaRPr lang="en-GB" sz="1400" b="1" dirty="0"/>
          </a:p>
          <a:p>
            <a:pPr marL="0" lvl="1" indent="0">
              <a:buNone/>
            </a:pPr>
            <a:r>
              <a:rPr lang="en-GB" sz="1400" dirty="0"/>
              <a:t>Power differentials can negatively impact healthcare providers, leading to burnout and other negative consequences. </a:t>
            </a:r>
          </a:p>
        </p:txBody>
      </p:sp>
    </p:spTree>
    <p:extLst>
      <p:ext uri="{BB962C8B-B14F-4D97-AF65-F5344CB8AC3E}">
        <p14:creationId xmlns:p14="http://schemas.microsoft.com/office/powerpoint/2010/main" val="13550992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Digitally generated image of Medical Scientists in a Containment lab">
            <a:extLst>
              <a:ext uri="{FF2B5EF4-FFF2-40B4-BE49-F238E27FC236}">
                <a16:creationId xmlns:a16="http://schemas.microsoft.com/office/drawing/2014/main" id="{3550CDAB-F10B-4072-AF8D-4C52A5EB05E9}"/>
              </a:ext>
            </a:extLst>
          </p:cNvPr>
          <p:cNvPicPr>
            <a:picLocks noGrp="1" noChangeAspect="1"/>
          </p:cNvPicPr>
          <p:nvPr>
            <p:ph sz="half" idx="1"/>
          </p:nvPr>
        </p:nvPicPr>
        <p:blipFill>
          <a:blip r:embed="rId3"/>
          <a:srcRect l="19569" r="40681"/>
          <a:stretch/>
        </p:blipFill>
        <p:spPr>
          <a:xfrm>
            <a:off x="7345680" y="10"/>
            <a:ext cx="4846320" cy="6857990"/>
          </a:xfrm>
          <a:prstGeom prst="rect">
            <a:avLst/>
          </a:prstGeom>
        </p:spPr>
      </p:pic>
      <p:sp>
        <p:nvSpPr>
          <p:cNvPr id="2" name="Title 1">
            <a:extLst>
              <a:ext uri="{FF2B5EF4-FFF2-40B4-BE49-F238E27FC236}">
                <a16:creationId xmlns:a16="http://schemas.microsoft.com/office/drawing/2014/main" id="{1445FA78-1C9E-06BA-3E5B-7BE49085EE42}"/>
              </a:ext>
            </a:extLst>
          </p:cNvPr>
          <p:cNvSpPr>
            <a:spLocks noGrp="1"/>
          </p:cNvSpPr>
          <p:nvPr>
            <p:ph type="title"/>
          </p:nvPr>
        </p:nvSpPr>
        <p:spPr>
          <a:xfrm>
            <a:off x="612648" y="600075"/>
            <a:ext cx="6035040" cy="1529932"/>
          </a:xfrm>
        </p:spPr>
        <p:txBody>
          <a:bodyPr vert="horz" lIns="91440" tIns="45720" rIns="91440" bIns="45720" rtlCol="0" anchor="b">
            <a:normAutofit/>
          </a:bodyPr>
          <a:lstStyle/>
          <a:p>
            <a:pPr algn="ctr"/>
            <a:r>
              <a:rPr lang="en-US" sz="3200" b="1" kern="1200" dirty="0">
                <a:solidFill>
                  <a:schemeClr val="tx1"/>
                </a:solidFill>
                <a:latin typeface="+mj-lt"/>
                <a:ea typeface="+mj-ea"/>
                <a:cs typeface="+mj-cs"/>
              </a:rPr>
              <a:t>Influence on Clinical Interactions and Decision-Making</a:t>
            </a:r>
          </a:p>
        </p:txBody>
      </p:sp>
      <p:sp>
        <p:nvSpPr>
          <p:cNvPr id="4" name="Content Placeholder 3">
            <a:extLst>
              <a:ext uri="{FF2B5EF4-FFF2-40B4-BE49-F238E27FC236}">
                <a16:creationId xmlns:a16="http://schemas.microsoft.com/office/drawing/2014/main" id="{DDB18750-9172-DA4A-EA37-74C8F3143D6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2212848"/>
            <a:ext cx="6035040" cy="4096512"/>
          </a:xfrm>
        </p:spPr>
        <p:txBody>
          <a:bodyPr>
            <a:normAutofit/>
          </a:bodyPr>
          <a:lstStyle/>
          <a:p>
            <a:pPr marL="0" indent="0">
              <a:spcBef>
                <a:spcPts val="2500"/>
              </a:spcBef>
              <a:buNone/>
            </a:pPr>
            <a:endParaRPr lang="en-GB" sz="1800" b="1"/>
          </a:p>
          <a:p>
            <a:pPr marL="0" lvl="1" indent="0">
              <a:buNone/>
            </a:pPr>
            <a:r>
              <a:rPr lang="en-GB"/>
              <a:t>Power differentials between providers and patients can significantly impact the quality of communication, trust, and shared decision-making, leading to suboptimal outcomes for patients. </a:t>
            </a:r>
          </a:p>
        </p:txBody>
      </p:sp>
    </p:spTree>
    <p:extLst>
      <p:ext uri="{BB962C8B-B14F-4D97-AF65-F5344CB8AC3E}">
        <p14:creationId xmlns:p14="http://schemas.microsoft.com/office/powerpoint/2010/main" val="40052156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4D2207-AA67-DAD1-D42E-7A07328CA8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Content Placeholder 4" descr="While the young adult son checks his smart phone, the mid adult female doctor talks to the senior adult father.">
            <a:extLst>
              <a:ext uri="{FF2B5EF4-FFF2-40B4-BE49-F238E27FC236}">
                <a16:creationId xmlns:a16="http://schemas.microsoft.com/office/drawing/2014/main" id="{0F48DE55-CD10-4983-B7BD-26FCA252085C}"/>
              </a:ext>
            </a:extLst>
          </p:cNvPr>
          <p:cNvPicPr>
            <a:picLocks noGrp="1" noChangeAspect="1"/>
          </p:cNvPicPr>
          <p:nvPr>
            <p:ph sz="half" idx="1"/>
          </p:nvPr>
        </p:nvPicPr>
        <p:blipFill>
          <a:blip r:embed="rId3"/>
          <a:srcRect l="18638" r="27137" b="2"/>
          <a:stretch/>
        </p:blipFill>
        <p:spPr>
          <a:xfrm>
            <a:off x="88492" y="1268018"/>
            <a:ext cx="4109141" cy="5058075"/>
          </a:xfrm>
          <a:prstGeom prst="rect">
            <a:avLst/>
          </a:prstGeom>
        </p:spPr>
      </p:pic>
      <p:sp>
        <p:nvSpPr>
          <p:cNvPr id="2" name="Title 1">
            <a:extLst>
              <a:ext uri="{FF2B5EF4-FFF2-40B4-BE49-F238E27FC236}">
                <a16:creationId xmlns:a16="http://schemas.microsoft.com/office/drawing/2014/main" id="{B7CBE3DD-A751-AD7A-8D4B-787B0A381F6A}"/>
              </a:ext>
            </a:extLst>
          </p:cNvPr>
          <p:cNvSpPr>
            <a:spLocks noGrp="1"/>
          </p:cNvSpPr>
          <p:nvPr>
            <p:ph type="title"/>
          </p:nvPr>
        </p:nvSpPr>
        <p:spPr>
          <a:xfrm>
            <a:off x="4540209" y="620829"/>
            <a:ext cx="7434445" cy="1294379"/>
          </a:xfrm>
        </p:spPr>
        <p:txBody>
          <a:bodyPr vert="horz" lIns="91440" tIns="45720" rIns="91440" bIns="45720" rtlCol="0" anchor="t">
            <a:normAutofit/>
          </a:bodyPr>
          <a:lstStyle/>
          <a:p>
            <a:r>
              <a:rPr lang="en-US" sz="2800" b="1" kern="1200" dirty="0">
                <a:solidFill>
                  <a:schemeClr val="tx1"/>
                </a:solidFill>
                <a:latin typeface="+mj-lt"/>
                <a:ea typeface="+mj-ea"/>
                <a:cs typeface="+mj-cs"/>
              </a:rPr>
              <a:t>Strategies for Equitable Care Practices</a:t>
            </a:r>
          </a:p>
        </p:txBody>
      </p:sp>
      <p:sp>
        <p:nvSpPr>
          <p:cNvPr id="4" name="Content Placeholder 3">
            <a:extLst>
              <a:ext uri="{FF2B5EF4-FFF2-40B4-BE49-F238E27FC236}">
                <a16:creationId xmlns:a16="http://schemas.microsoft.com/office/drawing/2014/main" id="{7FE894F9-FA08-52B5-7CC3-9DE2352AE17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976714" y="1414910"/>
            <a:ext cx="6561437" cy="4961825"/>
          </a:xfrm>
        </p:spPr>
        <p:txBody>
          <a:bodyPr>
            <a:normAutofit/>
          </a:bodyPr>
          <a:lstStyle/>
          <a:p>
            <a:pPr marL="0" indent="0">
              <a:lnSpc>
                <a:spcPct val="110000"/>
              </a:lnSpc>
              <a:spcBef>
                <a:spcPts val="2500"/>
              </a:spcBef>
              <a:buNone/>
            </a:pPr>
            <a:r>
              <a:rPr lang="en-GB" sz="1400" b="1" dirty="0"/>
              <a:t>Understanding Power Differentials</a:t>
            </a:r>
          </a:p>
          <a:p>
            <a:pPr marL="0" lvl="1" indent="0">
              <a:lnSpc>
                <a:spcPct val="110000"/>
              </a:lnSpc>
              <a:buNone/>
            </a:pPr>
            <a:r>
              <a:rPr lang="en-GB" sz="1400" dirty="0"/>
              <a:t>Promoting equitable care practices requires understanding and addressing power differentials in the healthcare system. </a:t>
            </a:r>
          </a:p>
          <a:p>
            <a:pPr marL="0" lvl="1" indent="0">
              <a:lnSpc>
                <a:spcPct val="110000"/>
              </a:lnSpc>
              <a:buNone/>
            </a:pPr>
            <a:endParaRPr lang="en-GB" sz="1400" b="1" dirty="0"/>
          </a:p>
          <a:p>
            <a:pPr marL="0" lvl="1" indent="0">
              <a:lnSpc>
                <a:spcPct val="110000"/>
              </a:lnSpc>
              <a:buNone/>
            </a:pPr>
            <a:r>
              <a:rPr lang="en-GB" sz="1400" b="1" dirty="0"/>
              <a:t>Cultural Humility</a:t>
            </a:r>
          </a:p>
          <a:p>
            <a:pPr marL="0" lvl="1" indent="0">
              <a:lnSpc>
                <a:spcPct val="110000"/>
              </a:lnSpc>
              <a:buNone/>
            </a:pPr>
            <a:r>
              <a:rPr lang="en-GB" sz="1400" dirty="0"/>
              <a:t>Cultural humility is the practice of self-reflection and self-critique by healthcare providers to understand and respect patients' cultural beliefs and values. </a:t>
            </a:r>
          </a:p>
          <a:p>
            <a:pPr marL="0" lvl="1" indent="0">
              <a:lnSpc>
                <a:spcPct val="110000"/>
              </a:lnSpc>
              <a:buNone/>
            </a:pPr>
            <a:endParaRPr lang="en-GB" sz="1400" b="1" dirty="0"/>
          </a:p>
          <a:p>
            <a:pPr marL="0" lvl="1" indent="0">
              <a:lnSpc>
                <a:spcPct val="110000"/>
              </a:lnSpc>
              <a:buNone/>
            </a:pPr>
            <a:r>
              <a:rPr lang="en-GB" sz="1400" b="1" dirty="0"/>
              <a:t>Patient-Centred Care</a:t>
            </a:r>
          </a:p>
          <a:p>
            <a:pPr marL="0" lvl="1" indent="0">
              <a:lnSpc>
                <a:spcPct val="110000"/>
              </a:lnSpc>
              <a:buNone/>
            </a:pPr>
            <a:r>
              <a:rPr lang="en-GB" sz="1400" dirty="0"/>
              <a:t>Patient-centred care is an approach to healthcare that prioritizes the needs and preferences of the patient. </a:t>
            </a:r>
          </a:p>
          <a:p>
            <a:pPr marL="0" lvl="1" indent="0">
              <a:lnSpc>
                <a:spcPct val="110000"/>
              </a:lnSpc>
              <a:buNone/>
            </a:pPr>
            <a:endParaRPr lang="en-GB" sz="1400" b="1" dirty="0"/>
          </a:p>
          <a:p>
            <a:pPr marL="0" lvl="1" indent="0">
              <a:lnSpc>
                <a:spcPct val="110000"/>
              </a:lnSpc>
              <a:buNone/>
            </a:pPr>
            <a:r>
              <a:rPr lang="en-GB" sz="1400" b="1" dirty="0"/>
              <a:t>Advocacy for Marginalized Populations</a:t>
            </a:r>
          </a:p>
          <a:p>
            <a:pPr marL="0" lvl="1" indent="0">
              <a:lnSpc>
                <a:spcPct val="110000"/>
              </a:lnSpc>
              <a:buNone/>
            </a:pPr>
            <a:r>
              <a:rPr lang="en-GB" sz="1400" dirty="0"/>
              <a:t>Promoting equitable care practices also involves advocacy for marginalized populations, such as racial and ethnic minorities, LGBTQ+ individuals, and individuals with low socioeconomic status. </a:t>
            </a:r>
          </a:p>
        </p:txBody>
      </p:sp>
    </p:spTree>
    <p:extLst>
      <p:ext uri="{BB962C8B-B14F-4D97-AF65-F5344CB8AC3E}">
        <p14:creationId xmlns:p14="http://schemas.microsoft.com/office/powerpoint/2010/main" val="8460681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D48EA17-F2CF-2F98-FC06-DBB6A2AEC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10" name="Rectangle 9">
            <a:extLst>
              <a:ext uri="{FF2B5EF4-FFF2-40B4-BE49-F238E27FC236}">
                <a16:creationId xmlns:a16="http://schemas.microsoft.com/office/drawing/2014/main" id="{4D3D4267-6754-E656-C65D-257297D453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3" name="Picture 2" descr="A group of white and red question marks&#10;&#10;Description automatically generated">
            <a:extLst>
              <a:ext uri="{FF2B5EF4-FFF2-40B4-BE49-F238E27FC236}">
                <a16:creationId xmlns:a16="http://schemas.microsoft.com/office/drawing/2014/main" id="{94B04602-0ED6-617A-A82B-EF5082B601C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7847" r="2" b="18518"/>
          <a:stretch/>
        </p:blipFill>
        <p:spPr>
          <a:xfrm>
            <a:off x="133896" y="136321"/>
            <a:ext cx="11924208" cy="6585358"/>
          </a:xfrm>
          <a:prstGeom prst="rect">
            <a:avLst/>
          </a:prstGeom>
        </p:spPr>
      </p:pic>
    </p:spTree>
    <p:extLst>
      <p:ext uri="{BB962C8B-B14F-4D97-AF65-F5344CB8AC3E}">
        <p14:creationId xmlns:p14="http://schemas.microsoft.com/office/powerpoint/2010/main" val="26586990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D210342-C3F4-5EAC-3A4D-4770C07F38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blue text with a black background&#10;&#10;Description automatically generated">
            <a:extLst>
              <a:ext uri="{FF2B5EF4-FFF2-40B4-BE49-F238E27FC236}">
                <a16:creationId xmlns:a16="http://schemas.microsoft.com/office/drawing/2014/main" id="{3285A356-D264-EB1C-56E7-0FF09492DF67}"/>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r="235" b="2"/>
          <a:stretch/>
        </p:blipFill>
        <p:spPr>
          <a:xfrm>
            <a:off x="3086100" y="419100"/>
            <a:ext cx="6019800" cy="6033902"/>
          </a:xfrm>
          <a:prstGeom prst="rect">
            <a:avLst/>
          </a:prstGeom>
        </p:spPr>
      </p:pic>
    </p:spTree>
    <p:extLst>
      <p:ext uri="{BB962C8B-B14F-4D97-AF65-F5344CB8AC3E}">
        <p14:creationId xmlns:p14="http://schemas.microsoft.com/office/powerpoint/2010/main" val="2120848346"/>
      </p:ext>
    </p:extLst>
  </p:cSld>
  <p:clrMapOvr>
    <a:masterClrMapping/>
  </p:clrMapOvr>
</p:sld>
</file>

<file path=ppt/theme/theme1.xml><?xml version="1.0" encoding="utf-8"?>
<a:theme xmlns:a="http://schemas.openxmlformats.org/drawingml/2006/main" name="VanillaVTI">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3112</TotalTime>
  <Words>1081</Words>
  <Application>Microsoft Office PowerPoint</Application>
  <PresentationFormat>Widescreen</PresentationFormat>
  <Paragraphs>131</Paragraphs>
  <Slides>26</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Aptos</vt:lpstr>
      <vt:lpstr>Arial</vt:lpstr>
      <vt:lpstr>Neue Haas Grotesk Text Pro</vt:lpstr>
      <vt:lpstr>VanillaVTI</vt:lpstr>
      <vt:lpstr>SOCIOLOGY Power, Ethnicity, Class, Gender and Health</vt:lpstr>
      <vt:lpstr>Objectives</vt:lpstr>
      <vt:lpstr>Examining the Concepts of Class, Ethnicity, Gender, Sexuality and Health</vt:lpstr>
      <vt:lpstr>The Influence of Social Categories on Health Experiences</vt:lpstr>
      <vt:lpstr>Impact of Class on Health Outcomes</vt:lpstr>
      <vt:lpstr>How Ethnicity, Gender, and Sexuality Shape Health</vt:lpstr>
      <vt:lpstr>Understanding the Role of Social Determinants in Health Inequity</vt:lpstr>
      <vt:lpstr>Unequal Distribution of Health Resources</vt:lpstr>
      <vt:lpstr>Barriers to Access to Care</vt:lpstr>
      <vt:lpstr>Social Determinants and Their Effects on Health Equity</vt:lpstr>
      <vt:lpstr>Exploring the Concept of Power in Society</vt:lpstr>
      <vt:lpstr>Defining Power in Sociological Terms</vt:lpstr>
      <vt:lpstr>Manifestations of Power in Societal Institutions</vt:lpstr>
      <vt:lpstr>Power Dynamics Within the Healthcare System</vt:lpstr>
      <vt:lpstr>Intersections Between  Healthcare and Power in Society</vt:lpstr>
      <vt:lpstr>Healthcare Systems and Societal Power Dynamics</vt:lpstr>
      <vt:lpstr>How Power Operates Within Healthcare Systems</vt:lpstr>
      <vt:lpstr>Power Imbalances and Healthcare Delivery</vt:lpstr>
      <vt:lpstr>Impact on Marginalized Groups</vt:lpstr>
      <vt:lpstr>Implications of Power Differentials in Healthcare for Clinical Practice</vt:lpstr>
      <vt:lpstr>Power Differentials Between Providers and Patients</vt:lpstr>
      <vt:lpstr>Implications for Healthcare Providers</vt:lpstr>
      <vt:lpstr>Influence on Clinical Interactions and Decision-Making</vt:lpstr>
      <vt:lpstr>Strategies for Equitable Care Practices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Lubna Syed</dc:creator>
  <cp:lastModifiedBy>Lubna Syed</cp:lastModifiedBy>
  <cp:revision>14</cp:revision>
  <dcterms:created xsi:type="dcterms:W3CDTF">2024-10-06T11:03:14Z</dcterms:created>
  <dcterms:modified xsi:type="dcterms:W3CDTF">2024-10-11T16:02:14Z</dcterms:modified>
</cp:coreProperties>
</file>