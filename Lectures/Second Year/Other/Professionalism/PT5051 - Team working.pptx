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9" r:id="rId4"/>
    <p:sldId id="260" r:id="rId5"/>
    <p:sldId id="261" r:id="rId6"/>
    <p:sldId id="262" r:id="rId7"/>
    <p:sldId id="258" r:id="rId8"/>
    <p:sldId id="263" r:id="rId9"/>
    <p:sldId id="264" r:id="rId10"/>
    <p:sldId id="265" r:id="rId11"/>
    <p:sldId id="266" r:id="rId12"/>
    <p:sldId id="267" r:id="rId13"/>
    <p:sldId id="268" r:id="rId14"/>
    <p:sldId id="269" r:id="rId15"/>
    <p:sldId id="270" r:id="rId16"/>
    <p:sldId id="271" r:id="rId17"/>
    <p:sldId id="275" r:id="rId18"/>
    <p:sldId id="273" r:id="rId19"/>
    <p:sldId id="272" r:id="rId20"/>
    <p:sldId id="274"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E37EC-8D19-4651-8BA9-FFFF9DE2932B}" type="datetimeFigureOut">
              <a:rPr lang="en-GB" smtClean="0"/>
              <a:t>14/10/2025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7F0B8-D4CE-45D7-977C-B1AB3AB11B54}" type="slidenum">
              <a:rPr lang="en-GB" smtClean="0"/>
              <a:t>‹#›</a:t>
            </a:fld>
            <a:endParaRPr lang="en-GB"/>
          </a:p>
        </p:txBody>
      </p:sp>
    </p:spTree>
    <p:extLst>
      <p:ext uri="{BB962C8B-B14F-4D97-AF65-F5344CB8AC3E}">
        <p14:creationId xmlns:p14="http://schemas.microsoft.com/office/powerpoint/2010/main" val="3861564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397F0B8-D4CE-45D7-977C-B1AB3AB11B54}" type="slidenum">
              <a:rPr lang="en-GB" smtClean="0"/>
              <a:t>1</a:t>
            </a:fld>
            <a:endParaRPr lang="en-GB"/>
          </a:p>
        </p:txBody>
      </p:sp>
    </p:spTree>
    <p:extLst>
      <p:ext uri="{BB962C8B-B14F-4D97-AF65-F5344CB8AC3E}">
        <p14:creationId xmlns:p14="http://schemas.microsoft.com/office/powerpoint/2010/main" val="1308520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397F0B8-D4CE-45D7-977C-B1AB3AB11B54}" type="slidenum">
              <a:rPr lang="en-GB" smtClean="0"/>
              <a:t>15</a:t>
            </a:fld>
            <a:endParaRPr lang="en-GB"/>
          </a:p>
        </p:txBody>
      </p:sp>
    </p:spTree>
    <p:extLst>
      <p:ext uri="{BB962C8B-B14F-4D97-AF65-F5344CB8AC3E}">
        <p14:creationId xmlns:p14="http://schemas.microsoft.com/office/powerpoint/2010/main" val="568729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924500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2844091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1890824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B1F2AD6-CA23-44C3-B8D0-629970C8D2EA}" type="datetimeFigureOut">
              <a:rPr lang="en-GB" smtClean="0"/>
              <a:t>14/10/2025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1607098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B1F2AD6-CA23-44C3-B8D0-629970C8D2EA}" type="datetimeFigureOut">
              <a:rPr lang="en-GB" smtClean="0"/>
              <a:t>14/10/2025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46583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189869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1386061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3298923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B1F2AD6-CA23-44C3-B8D0-629970C8D2EA}" type="datetimeFigureOut">
              <a:rPr lang="en-GB" smtClean="0"/>
              <a:t>14/10/2025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55819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B1F2AD6-CA23-44C3-B8D0-629970C8D2EA}" type="datetimeFigureOut">
              <a:rPr lang="en-GB" smtClean="0"/>
              <a:t>14/10/2025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1345972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3891451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29763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2481478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142504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2965418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2601185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B1F2AD6-CA23-44C3-B8D0-629970C8D2EA}" type="datetimeFigureOut">
              <a:rPr lang="en-GB" smtClean="0"/>
              <a:t>14/10/2025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D67F80-3C1E-4126-9489-E6C2A8B2B7E2}" type="slidenum">
              <a:rPr lang="en-GB" smtClean="0"/>
              <a:t>‹#›</a:t>
            </a:fld>
            <a:endParaRPr lang="en-GB"/>
          </a:p>
        </p:txBody>
      </p:sp>
    </p:spTree>
    <p:extLst>
      <p:ext uri="{BB962C8B-B14F-4D97-AF65-F5344CB8AC3E}">
        <p14:creationId xmlns:p14="http://schemas.microsoft.com/office/powerpoint/2010/main" val="2411695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B1F2AD6-CA23-44C3-B8D0-629970C8D2EA}" type="datetimeFigureOut">
              <a:rPr lang="en-GB" smtClean="0"/>
              <a:t>14/10/2025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AD67F80-3C1E-4126-9489-E6C2A8B2B7E2}" type="slidenum">
              <a:rPr lang="en-GB" smtClean="0"/>
              <a:t>‹#›</a:t>
            </a:fld>
            <a:endParaRPr lang="en-GB"/>
          </a:p>
        </p:txBody>
      </p:sp>
    </p:spTree>
    <p:extLst>
      <p:ext uri="{BB962C8B-B14F-4D97-AF65-F5344CB8AC3E}">
        <p14:creationId xmlns:p14="http://schemas.microsoft.com/office/powerpoint/2010/main" val="335349419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menti.com/almsddxz7ikv"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youtu.be/mz4FFE2y8P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352B-37E9-EFD5-1B03-A9862FB3341F}"/>
              </a:ext>
            </a:extLst>
          </p:cNvPr>
          <p:cNvSpPr>
            <a:spLocks noGrp="1"/>
          </p:cNvSpPr>
          <p:nvPr>
            <p:ph type="ctrTitle"/>
          </p:nvPr>
        </p:nvSpPr>
        <p:spPr/>
        <p:txBody>
          <a:bodyPr/>
          <a:lstStyle/>
          <a:p>
            <a:r>
              <a:rPr lang="en-GB" dirty="0"/>
              <a:t>Team working - workshop</a:t>
            </a:r>
          </a:p>
        </p:txBody>
      </p:sp>
      <p:sp>
        <p:nvSpPr>
          <p:cNvPr id="3" name="Subtitle 2">
            <a:extLst>
              <a:ext uri="{FF2B5EF4-FFF2-40B4-BE49-F238E27FC236}">
                <a16:creationId xmlns:a16="http://schemas.microsoft.com/office/drawing/2014/main" id="{3CC545C4-6DB5-37EB-4CA4-0020B9871811}"/>
              </a:ext>
            </a:extLst>
          </p:cNvPr>
          <p:cNvSpPr>
            <a:spLocks noGrp="1"/>
          </p:cNvSpPr>
          <p:nvPr>
            <p:ph type="subTitle" idx="1"/>
          </p:nvPr>
        </p:nvSpPr>
        <p:spPr/>
        <p:txBody>
          <a:bodyPr/>
          <a:lstStyle/>
          <a:p>
            <a:r>
              <a:rPr lang="en-GB" dirty="0"/>
              <a:t>PT5051</a:t>
            </a:r>
          </a:p>
        </p:txBody>
      </p:sp>
    </p:spTree>
    <p:extLst>
      <p:ext uri="{BB962C8B-B14F-4D97-AF65-F5344CB8AC3E}">
        <p14:creationId xmlns:p14="http://schemas.microsoft.com/office/powerpoint/2010/main" val="1990915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DFCEB1-F6DB-C72C-3A52-1C46E03E85F3}"/>
              </a:ext>
            </a:extLst>
          </p:cNvPr>
          <p:cNvPicPr>
            <a:picLocks noChangeAspect="1"/>
          </p:cNvPicPr>
          <p:nvPr/>
        </p:nvPicPr>
        <p:blipFill>
          <a:blip r:embed="rId2"/>
          <a:stretch>
            <a:fillRect/>
          </a:stretch>
        </p:blipFill>
        <p:spPr>
          <a:xfrm>
            <a:off x="18202" y="442495"/>
            <a:ext cx="12155596" cy="5973009"/>
          </a:xfrm>
          <a:prstGeom prst="rect">
            <a:avLst/>
          </a:prstGeom>
        </p:spPr>
      </p:pic>
    </p:spTree>
    <p:extLst>
      <p:ext uri="{BB962C8B-B14F-4D97-AF65-F5344CB8AC3E}">
        <p14:creationId xmlns:p14="http://schemas.microsoft.com/office/powerpoint/2010/main" val="790479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8AE2-ECB8-E79B-0DD7-EE3EBBDDA594}"/>
              </a:ext>
            </a:extLst>
          </p:cNvPr>
          <p:cNvSpPr>
            <a:spLocks noGrp="1"/>
          </p:cNvSpPr>
          <p:nvPr>
            <p:ph type="title"/>
          </p:nvPr>
        </p:nvSpPr>
        <p:spPr/>
        <p:txBody>
          <a:bodyPr>
            <a:normAutofit fontScale="90000"/>
          </a:bodyPr>
          <a:lstStyle/>
          <a:p>
            <a:r>
              <a:rPr lang="en-GB" dirty="0"/>
              <a:t>Join the </a:t>
            </a:r>
            <a:r>
              <a:rPr lang="en-GB" dirty="0" err="1"/>
              <a:t>menti</a:t>
            </a:r>
            <a:r>
              <a:rPr lang="en-GB" dirty="0"/>
              <a:t> - </a:t>
            </a:r>
            <a:r>
              <a:rPr lang="en-GB" dirty="0">
                <a:hlinkClick r:id="rId2"/>
              </a:rPr>
              <a:t>https://www.menti.com/almsddxz7ikv</a:t>
            </a:r>
            <a:br>
              <a:rPr lang="en-GB" dirty="0"/>
            </a:br>
            <a:endParaRPr lang="en-GB" dirty="0"/>
          </a:p>
        </p:txBody>
      </p:sp>
      <p:sp>
        <p:nvSpPr>
          <p:cNvPr id="3" name="Content Placeholder 2">
            <a:extLst>
              <a:ext uri="{FF2B5EF4-FFF2-40B4-BE49-F238E27FC236}">
                <a16:creationId xmlns:a16="http://schemas.microsoft.com/office/drawing/2014/main" id="{53B43802-F9DA-4EE9-5B15-992D6E09F51E}"/>
              </a:ext>
            </a:extLst>
          </p:cNvPr>
          <p:cNvSpPr>
            <a:spLocks noGrp="1"/>
          </p:cNvSpPr>
          <p:nvPr>
            <p:ph idx="1"/>
          </p:nvPr>
        </p:nvSpPr>
        <p:spPr/>
        <p:txBody>
          <a:bodyPr/>
          <a:lstStyle/>
          <a:p>
            <a:pPr marL="0" indent="0">
              <a:buNone/>
            </a:pPr>
            <a:endParaRPr lang="en-GB" dirty="0"/>
          </a:p>
          <a:p>
            <a:endParaRPr lang="en-GB" dirty="0"/>
          </a:p>
        </p:txBody>
      </p:sp>
      <p:pic>
        <p:nvPicPr>
          <p:cNvPr id="5" name="Picture 4" descr="A qr code with a black and white background&#10;&#10;AI-generated content may be incorrect.">
            <a:extLst>
              <a:ext uri="{FF2B5EF4-FFF2-40B4-BE49-F238E27FC236}">
                <a16:creationId xmlns:a16="http://schemas.microsoft.com/office/drawing/2014/main" id="{FB5E2FE7-B99B-2DD1-DE7E-7492D86589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6472" y="1825625"/>
            <a:ext cx="4386072" cy="4386072"/>
          </a:xfrm>
          <a:prstGeom prst="rect">
            <a:avLst/>
          </a:prstGeom>
        </p:spPr>
      </p:pic>
    </p:spTree>
    <p:extLst>
      <p:ext uri="{BB962C8B-B14F-4D97-AF65-F5344CB8AC3E}">
        <p14:creationId xmlns:p14="http://schemas.microsoft.com/office/powerpoint/2010/main" val="706831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5FA0E-96CD-71A5-543C-CA73DB1AED89}"/>
              </a:ext>
            </a:extLst>
          </p:cNvPr>
          <p:cNvSpPr>
            <a:spLocks noGrp="1"/>
          </p:cNvSpPr>
          <p:nvPr>
            <p:ph type="title"/>
          </p:nvPr>
        </p:nvSpPr>
        <p:spPr/>
        <p:txBody>
          <a:bodyPr/>
          <a:lstStyle/>
          <a:p>
            <a:r>
              <a:rPr lang="en-GB" dirty="0"/>
              <a:t>What are the benefits of team working ?</a:t>
            </a:r>
          </a:p>
        </p:txBody>
      </p:sp>
      <p:sp>
        <p:nvSpPr>
          <p:cNvPr id="3" name="Content Placeholder 2">
            <a:extLst>
              <a:ext uri="{FF2B5EF4-FFF2-40B4-BE49-F238E27FC236}">
                <a16:creationId xmlns:a16="http://schemas.microsoft.com/office/drawing/2014/main" id="{0254B6D5-D0DD-D516-B54C-CB07C5F0D5D3}"/>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80893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F9A1-B487-DFA1-BF38-96C6A8ADE250}"/>
              </a:ext>
            </a:extLst>
          </p:cNvPr>
          <p:cNvSpPr>
            <a:spLocks noGrp="1"/>
          </p:cNvSpPr>
          <p:nvPr>
            <p:ph type="title"/>
          </p:nvPr>
        </p:nvSpPr>
        <p:spPr/>
        <p:txBody>
          <a:bodyPr/>
          <a:lstStyle/>
          <a:p>
            <a:r>
              <a:rPr lang="en-GB" dirty="0"/>
              <a:t>Define multi-disciplinary working ?</a:t>
            </a:r>
          </a:p>
        </p:txBody>
      </p:sp>
      <p:sp>
        <p:nvSpPr>
          <p:cNvPr id="3" name="Content Placeholder 2">
            <a:extLst>
              <a:ext uri="{FF2B5EF4-FFF2-40B4-BE49-F238E27FC236}">
                <a16:creationId xmlns:a16="http://schemas.microsoft.com/office/drawing/2014/main" id="{0BECD5AC-A3E4-7919-3C74-E1E4B0D93FA8}"/>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3818826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D623D-E829-F9DB-2991-5509154B573B}"/>
              </a:ext>
            </a:extLst>
          </p:cNvPr>
          <p:cNvSpPr>
            <a:spLocks noGrp="1"/>
          </p:cNvSpPr>
          <p:nvPr>
            <p:ph type="title"/>
          </p:nvPr>
        </p:nvSpPr>
        <p:spPr/>
        <p:txBody>
          <a:bodyPr/>
          <a:lstStyle/>
          <a:p>
            <a:r>
              <a:rPr lang="en-GB" dirty="0"/>
              <a:t>Define interdisciplinary working</a:t>
            </a:r>
          </a:p>
        </p:txBody>
      </p:sp>
      <p:sp>
        <p:nvSpPr>
          <p:cNvPr id="3" name="Content Placeholder 2">
            <a:extLst>
              <a:ext uri="{FF2B5EF4-FFF2-40B4-BE49-F238E27FC236}">
                <a16:creationId xmlns:a16="http://schemas.microsoft.com/office/drawing/2014/main" id="{C0ED2C8D-9A36-BD65-1051-C27F7A012D8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65926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3386B6-9F4F-720A-74D1-7CE08FE672B6}"/>
              </a:ext>
            </a:extLst>
          </p:cNvPr>
          <p:cNvPicPr>
            <a:picLocks noChangeAspect="1"/>
          </p:cNvPicPr>
          <p:nvPr/>
        </p:nvPicPr>
        <p:blipFill>
          <a:blip r:embed="rId2"/>
          <a:stretch>
            <a:fillRect/>
          </a:stretch>
        </p:blipFill>
        <p:spPr>
          <a:xfrm>
            <a:off x="8675" y="180521"/>
            <a:ext cx="12174649" cy="6496957"/>
          </a:xfrm>
          <a:prstGeom prst="rect">
            <a:avLst/>
          </a:prstGeom>
        </p:spPr>
      </p:pic>
    </p:spTree>
    <p:extLst>
      <p:ext uri="{BB962C8B-B14F-4D97-AF65-F5344CB8AC3E}">
        <p14:creationId xmlns:p14="http://schemas.microsoft.com/office/powerpoint/2010/main" val="1749901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E0F36-34DD-D8E6-03FF-45E09191DA3C}"/>
              </a:ext>
            </a:extLst>
          </p:cNvPr>
          <p:cNvSpPr>
            <a:spLocks noGrp="1"/>
          </p:cNvSpPr>
          <p:nvPr>
            <p:ph type="title"/>
          </p:nvPr>
        </p:nvSpPr>
        <p:spPr/>
        <p:txBody>
          <a:bodyPr/>
          <a:lstStyle/>
          <a:p>
            <a:r>
              <a:rPr lang="en-GB" dirty="0"/>
              <a:t>Multi-disciplinary teams</a:t>
            </a:r>
          </a:p>
        </p:txBody>
      </p:sp>
      <p:sp>
        <p:nvSpPr>
          <p:cNvPr id="3" name="Content Placeholder 2">
            <a:extLst>
              <a:ext uri="{FF2B5EF4-FFF2-40B4-BE49-F238E27FC236}">
                <a16:creationId xmlns:a16="http://schemas.microsoft.com/office/drawing/2014/main" id="{3E2D766A-A426-4F4C-E999-222EE16E2B3F}"/>
              </a:ext>
            </a:extLst>
          </p:cNvPr>
          <p:cNvSpPr>
            <a:spLocks noGrp="1"/>
          </p:cNvSpPr>
          <p:nvPr>
            <p:ph idx="1"/>
          </p:nvPr>
        </p:nvSpPr>
        <p:spPr/>
        <p:txBody>
          <a:bodyPr/>
          <a:lstStyle/>
          <a:p>
            <a:r>
              <a:rPr lang="en-GB" dirty="0"/>
              <a:t>In Oncology</a:t>
            </a:r>
          </a:p>
          <a:p>
            <a:pPr marL="0" indent="0">
              <a:buNone/>
            </a:pPr>
            <a:endParaRPr lang="en-GB" dirty="0"/>
          </a:p>
          <a:p>
            <a:pPr marL="0" indent="0">
              <a:buNone/>
            </a:pPr>
            <a:r>
              <a:rPr lang="en-GB" i="1" dirty="0"/>
              <a:t>A multidisciplinary team (MDT) in oncology is defined as the cooperation between different specialized professionals involved in cancer care with the overarching goal of improving treatment efficiency and patient care.</a:t>
            </a:r>
          </a:p>
        </p:txBody>
      </p:sp>
    </p:spTree>
    <p:extLst>
      <p:ext uri="{BB962C8B-B14F-4D97-AF65-F5344CB8AC3E}">
        <p14:creationId xmlns:p14="http://schemas.microsoft.com/office/powerpoint/2010/main" val="106447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09A298-2C0A-EA34-2748-83E4B7253211}"/>
              </a:ext>
            </a:extLst>
          </p:cNvPr>
          <p:cNvPicPr>
            <a:picLocks noChangeAspect="1"/>
          </p:cNvPicPr>
          <p:nvPr/>
        </p:nvPicPr>
        <p:blipFill>
          <a:blip r:embed="rId2"/>
          <a:stretch>
            <a:fillRect/>
          </a:stretch>
        </p:blipFill>
        <p:spPr>
          <a:xfrm>
            <a:off x="322218" y="1408176"/>
            <a:ext cx="11808821" cy="4133088"/>
          </a:xfrm>
          <a:prstGeom prst="rect">
            <a:avLst/>
          </a:prstGeom>
        </p:spPr>
      </p:pic>
    </p:spTree>
    <p:extLst>
      <p:ext uri="{BB962C8B-B14F-4D97-AF65-F5344CB8AC3E}">
        <p14:creationId xmlns:p14="http://schemas.microsoft.com/office/powerpoint/2010/main" val="848419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6FF368-B837-9A8E-F432-5BD2B122F036}"/>
              </a:ext>
            </a:extLst>
          </p:cNvPr>
          <p:cNvPicPr>
            <a:picLocks noChangeAspect="1"/>
          </p:cNvPicPr>
          <p:nvPr/>
        </p:nvPicPr>
        <p:blipFill>
          <a:blip r:embed="rId2"/>
          <a:stretch>
            <a:fillRect/>
          </a:stretch>
        </p:blipFill>
        <p:spPr>
          <a:xfrm>
            <a:off x="1472184" y="256499"/>
            <a:ext cx="9244584" cy="6342911"/>
          </a:xfrm>
          <a:prstGeom prst="rect">
            <a:avLst/>
          </a:prstGeom>
        </p:spPr>
      </p:pic>
    </p:spTree>
    <p:extLst>
      <p:ext uri="{BB962C8B-B14F-4D97-AF65-F5344CB8AC3E}">
        <p14:creationId xmlns:p14="http://schemas.microsoft.com/office/powerpoint/2010/main" val="2068433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579C-5618-E64B-CCB2-C020BBDB02FE}"/>
              </a:ext>
            </a:extLst>
          </p:cNvPr>
          <p:cNvSpPr>
            <a:spLocks noGrp="1"/>
          </p:cNvSpPr>
          <p:nvPr>
            <p:ph type="title"/>
          </p:nvPr>
        </p:nvSpPr>
        <p:spPr/>
        <p:txBody>
          <a:bodyPr/>
          <a:lstStyle/>
          <a:p>
            <a:r>
              <a:rPr lang="en-GB" dirty="0"/>
              <a:t>Interdisciplinary team (IDT) working </a:t>
            </a:r>
          </a:p>
        </p:txBody>
      </p:sp>
      <p:sp>
        <p:nvSpPr>
          <p:cNvPr id="3" name="Content Placeholder 2">
            <a:extLst>
              <a:ext uri="{FF2B5EF4-FFF2-40B4-BE49-F238E27FC236}">
                <a16:creationId xmlns:a16="http://schemas.microsoft.com/office/drawing/2014/main" id="{B18309E7-CC4B-B4E8-B376-6EA5F5A799F2}"/>
              </a:ext>
            </a:extLst>
          </p:cNvPr>
          <p:cNvSpPr>
            <a:spLocks noGrp="1"/>
          </p:cNvSpPr>
          <p:nvPr>
            <p:ph idx="1"/>
          </p:nvPr>
        </p:nvSpPr>
        <p:spPr/>
        <p:txBody>
          <a:bodyPr/>
          <a:lstStyle/>
          <a:p>
            <a:r>
              <a:rPr lang="en-GB" dirty="0"/>
              <a:t>IDT working involves team members working collaboratively towards a defined common purpose (i.e. a goal); bringing together elements from two or more disciplines by integrating, synthesizing and blending concepts, methods, and tools into one activity to create something new, by thinking across boundaries to solve complex problems</a:t>
            </a:r>
          </a:p>
        </p:txBody>
      </p:sp>
    </p:spTree>
    <p:extLst>
      <p:ext uri="{BB962C8B-B14F-4D97-AF65-F5344CB8AC3E}">
        <p14:creationId xmlns:p14="http://schemas.microsoft.com/office/powerpoint/2010/main" val="4061298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9454E-FB5F-058F-5637-4AE51B4F0531}"/>
              </a:ext>
            </a:extLst>
          </p:cNvPr>
          <p:cNvSpPr>
            <a:spLocks noGrp="1"/>
          </p:cNvSpPr>
          <p:nvPr>
            <p:ph type="title"/>
          </p:nvPr>
        </p:nvSpPr>
        <p:spPr/>
        <p:txBody>
          <a:bodyPr/>
          <a:lstStyle/>
          <a:p>
            <a:r>
              <a:rPr lang="en-GB" dirty="0"/>
              <a:t>Integrated care systems</a:t>
            </a:r>
          </a:p>
        </p:txBody>
      </p:sp>
      <p:sp>
        <p:nvSpPr>
          <p:cNvPr id="3" name="Content Placeholder 2">
            <a:extLst>
              <a:ext uri="{FF2B5EF4-FFF2-40B4-BE49-F238E27FC236}">
                <a16:creationId xmlns:a16="http://schemas.microsoft.com/office/drawing/2014/main" id="{0EF903F7-0FA6-22EE-E673-5550E2253F82}"/>
              </a:ext>
            </a:extLst>
          </p:cNvPr>
          <p:cNvSpPr>
            <a:spLocks noGrp="1"/>
          </p:cNvSpPr>
          <p:nvPr>
            <p:ph idx="1"/>
          </p:nvPr>
        </p:nvSpPr>
        <p:spPr/>
        <p:txBody>
          <a:bodyPr/>
          <a:lstStyle/>
          <a:p>
            <a:r>
              <a:rPr lang="en-GB" dirty="0">
                <a:hlinkClick r:id="rId2" tooltip="Share link"/>
              </a:rPr>
              <a:t>https://youtu.be/mz4FFE2y8PM</a:t>
            </a:r>
            <a:endParaRPr lang="en-GB" dirty="0"/>
          </a:p>
        </p:txBody>
      </p:sp>
    </p:spTree>
    <p:extLst>
      <p:ext uri="{BB962C8B-B14F-4D97-AF65-F5344CB8AC3E}">
        <p14:creationId xmlns:p14="http://schemas.microsoft.com/office/powerpoint/2010/main" val="2874008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22D4-FD79-8E9A-542A-72219CBFF2BF}"/>
              </a:ext>
            </a:extLst>
          </p:cNvPr>
          <p:cNvSpPr>
            <a:spLocks noGrp="1"/>
          </p:cNvSpPr>
          <p:nvPr>
            <p:ph type="title"/>
          </p:nvPr>
        </p:nvSpPr>
        <p:spPr/>
        <p:txBody>
          <a:bodyPr/>
          <a:lstStyle/>
          <a:p>
            <a:r>
              <a:rPr lang="en-GB" dirty="0"/>
              <a:t>Integrated Care Teams, working in an interdisciplinary manner.</a:t>
            </a:r>
          </a:p>
        </p:txBody>
      </p:sp>
      <p:sp>
        <p:nvSpPr>
          <p:cNvPr id="3" name="Content Placeholder 2">
            <a:extLst>
              <a:ext uri="{FF2B5EF4-FFF2-40B4-BE49-F238E27FC236}">
                <a16:creationId xmlns:a16="http://schemas.microsoft.com/office/drawing/2014/main" id="{FDEBDC1E-A975-826E-E5FD-7668E4750425}"/>
              </a:ext>
            </a:extLst>
          </p:cNvPr>
          <p:cNvSpPr>
            <a:spLocks noGrp="1"/>
          </p:cNvSpPr>
          <p:nvPr>
            <p:ph idx="1"/>
          </p:nvPr>
        </p:nvSpPr>
        <p:spPr/>
        <p:txBody>
          <a:bodyPr>
            <a:normAutofit fontScale="92500" lnSpcReduction="20000"/>
          </a:bodyPr>
          <a:lstStyle/>
          <a:p>
            <a:r>
              <a:rPr lang="en-GB" dirty="0"/>
              <a:t>The multi-disciplinary team as members of more than one profession working independently or in parallel on the same project, coordinating their work. </a:t>
            </a:r>
          </a:p>
          <a:p>
            <a:r>
              <a:rPr lang="en-GB" dirty="0"/>
              <a:t>Inter-disciplinary teams “integrate and translate, themes and schemes shared by several professions”. </a:t>
            </a:r>
          </a:p>
          <a:p>
            <a:r>
              <a:rPr lang="en-GB" dirty="0"/>
              <a:t>hey share a common goal and “is based on an integration of the knowledge and expertise of each professional, so that solutions to complex problems can be proposed in a flexible and open mined way.</a:t>
            </a:r>
          </a:p>
          <a:p>
            <a:r>
              <a:rPr lang="en-GB" dirty="0"/>
              <a:t>There is a step change in the social process and effort that is required for inter-disciplinary working over and above that of multi-disciplinary working.</a:t>
            </a:r>
          </a:p>
          <a:p>
            <a:pPr marL="0" indent="0">
              <a:buNone/>
            </a:pPr>
            <a:r>
              <a:rPr lang="en-GB" dirty="0" err="1"/>
              <a:t>D’Amour</a:t>
            </a:r>
            <a:r>
              <a:rPr lang="en-GB" dirty="0"/>
              <a:t> D, Ferrada-Videla M, San Martin Rodriguez L, Beaulieu MD. The conceptual basis for interprofessional collaboration: Core concepts and theoretical frameworks. </a:t>
            </a:r>
            <a:r>
              <a:rPr lang="en-GB" i="1" dirty="0"/>
              <a:t>Journal of Interprofessional Care</a:t>
            </a:r>
            <a:r>
              <a:rPr lang="en-GB" dirty="0"/>
              <a:t>. 2005 May; 19(sup1): 116–31. DOI:</a:t>
            </a:r>
          </a:p>
        </p:txBody>
      </p:sp>
    </p:spTree>
    <p:extLst>
      <p:ext uri="{BB962C8B-B14F-4D97-AF65-F5344CB8AC3E}">
        <p14:creationId xmlns:p14="http://schemas.microsoft.com/office/powerpoint/2010/main" val="1525794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845F2-B8CC-9C2F-2121-4254147BA8C8}"/>
              </a:ext>
            </a:extLst>
          </p:cNvPr>
          <p:cNvSpPr>
            <a:spLocks noGrp="1"/>
          </p:cNvSpPr>
          <p:nvPr>
            <p:ph type="title"/>
          </p:nvPr>
        </p:nvSpPr>
        <p:spPr/>
        <p:txBody>
          <a:bodyPr/>
          <a:lstStyle/>
          <a:p>
            <a:r>
              <a:rPr lang="en-GB" dirty="0"/>
              <a:t>Menti – Key skills needed for effective teamwork</a:t>
            </a:r>
          </a:p>
        </p:txBody>
      </p:sp>
      <p:sp>
        <p:nvSpPr>
          <p:cNvPr id="3" name="Content Placeholder 2">
            <a:extLst>
              <a:ext uri="{FF2B5EF4-FFF2-40B4-BE49-F238E27FC236}">
                <a16:creationId xmlns:a16="http://schemas.microsoft.com/office/drawing/2014/main" id="{C3A1EA68-2162-EEE3-4891-D1960692FFA0}"/>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2007160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2ED6CD-F2E9-6190-2845-BC171F5CEABB}"/>
              </a:ext>
            </a:extLst>
          </p:cNvPr>
          <p:cNvPicPr>
            <a:picLocks noChangeAspect="1"/>
          </p:cNvPicPr>
          <p:nvPr/>
        </p:nvPicPr>
        <p:blipFill>
          <a:blip r:embed="rId3"/>
          <a:stretch>
            <a:fillRect/>
          </a:stretch>
        </p:blipFill>
        <p:spPr>
          <a:xfrm>
            <a:off x="27728" y="213864"/>
            <a:ext cx="12136544" cy="6430272"/>
          </a:xfrm>
          <a:prstGeom prst="rect">
            <a:avLst/>
          </a:prstGeom>
        </p:spPr>
      </p:pic>
    </p:spTree>
    <p:extLst>
      <p:ext uri="{BB962C8B-B14F-4D97-AF65-F5344CB8AC3E}">
        <p14:creationId xmlns:p14="http://schemas.microsoft.com/office/powerpoint/2010/main" val="379625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60CA5-B174-E990-F2D3-EB1CCE1DD09C}"/>
              </a:ext>
            </a:extLst>
          </p:cNvPr>
          <p:cNvSpPr>
            <a:spLocks noGrp="1"/>
          </p:cNvSpPr>
          <p:nvPr>
            <p:ph type="title"/>
          </p:nvPr>
        </p:nvSpPr>
        <p:spPr/>
        <p:txBody>
          <a:bodyPr/>
          <a:lstStyle/>
          <a:p>
            <a:r>
              <a:rPr lang="en-GB" dirty="0"/>
              <a:t>Menti – Challenges of Team Working</a:t>
            </a:r>
          </a:p>
        </p:txBody>
      </p:sp>
      <p:sp>
        <p:nvSpPr>
          <p:cNvPr id="3" name="Content Placeholder 2">
            <a:extLst>
              <a:ext uri="{FF2B5EF4-FFF2-40B4-BE49-F238E27FC236}">
                <a16:creationId xmlns:a16="http://schemas.microsoft.com/office/drawing/2014/main" id="{CE3A58F9-3A3C-F449-3BB0-5B1413449A1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890552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C0083-5347-879D-1246-862CFA8E7CA5}"/>
              </a:ext>
            </a:extLst>
          </p:cNvPr>
          <p:cNvSpPr>
            <a:spLocks noGrp="1"/>
          </p:cNvSpPr>
          <p:nvPr>
            <p:ph type="title"/>
          </p:nvPr>
        </p:nvSpPr>
        <p:spPr/>
        <p:txBody>
          <a:bodyPr/>
          <a:lstStyle/>
          <a:p>
            <a:r>
              <a:rPr lang="en-GB" dirty="0"/>
              <a:t>Menti- Benefits of Team working</a:t>
            </a:r>
          </a:p>
        </p:txBody>
      </p:sp>
      <p:sp>
        <p:nvSpPr>
          <p:cNvPr id="3" name="Content Placeholder 2">
            <a:extLst>
              <a:ext uri="{FF2B5EF4-FFF2-40B4-BE49-F238E27FC236}">
                <a16:creationId xmlns:a16="http://schemas.microsoft.com/office/drawing/2014/main" id="{6D70B197-E243-94E9-A304-45077C054470}"/>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171130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6F2C-71C2-D6FF-AA26-A22AFC8FCD3A}"/>
              </a:ext>
            </a:extLst>
          </p:cNvPr>
          <p:cNvSpPr>
            <a:spLocks noGrp="1"/>
          </p:cNvSpPr>
          <p:nvPr>
            <p:ph type="title"/>
          </p:nvPr>
        </p:nvSpPr>
        <p:spPr/>
        <p:txBody>
          <a:bodyPr/>
          <a:lstStyle/>
          <a:p>
            <a:r>
              <a:rPr lang="en-GB" dirty="0"/>
              <a:t>Your experiences</a:t>
            </a:r>
          </a:p>
        </p:txBody>
      </p:sp>
      <p:sp>
        <p:nvSpPr>
          <p:cNvPr id="3" name="Content Placeholder 2">
            <a:extLst>
              <a:ext uri="{FF2B5EF4-FFF2-40B4-BE49-F238E27FC236}">
                <a16:creationId xmlns:a16="http://schemas.microsoft.com/office/drawing/2014/main" id="{F1CCB8AD-5998-C3A0-6694-51ADCB1CC2CC}"/>
              </a:ext>
            </a:extLst>
          </p:cNvPr>
          <p:cNvSpPr>
            <a:spLocks noGrp="1"/>
          </p:cNvSpPr>
          <p:nvPr>
            <p:ph idx="1"/>
          </p:nvPr>
        </p:nvSpPr>
        <p:spPr/>
        <p:txBody>
          <a:bodyPr/>
          <a:lstStyle/>
          <a:p>
            <a:r>
              <a:rPr lang="en-GB" dirty="0"/>
              <a:t>Think back to your placement experiences.</a:t>
            </a:r>
          </a:p>
          <a:p>
            <a:r>
              <a:rPr lang="en-GB" dirty="0"/>
              <a:t>Discuss in your groups –</a:t>
            </a:r>
          </a:p>
          <a:p>
            <a:pPr lvl="1"/>
            <a:r>
              <a:rPr lang="en-GB" dirty="0"/>
              <a:t>Each describe one positive experience of team working</a:t>
            </a:r>
          </a:p>
          <a:p>
            <a:pPr lvl="1"/>
            <a:r>
              <a:rPr lang="en-GB" dirty="0"/>
              <a:t>Each describe a challenge</a:t>
            </a:r>
          </a:p>
          <a:p>
            <a:pPr lvl="1"/>
            <a:r>
              <a:rPr lang="en-GB" dirty="0"/>
              <a:t>What contributed to it either being positive or challenging ?</a:t>
            </a:r>
          </a:p>
          <a:p>
            <a:pPr lvl="1"/>
            <a:r>
              <a:rPr lang="en-GB" dirty="0"/>
              <a:t>Were the challenges overcome ? </a:t>
            </a:r>
          </a:p>
          <a:p>
            <a:pPr lvl="1"/>
            <a:r>
              <a:rPr lang="en-GB" dirty="0"/>
              <a:t>What skills were used.</a:t>
            </a:r>
          </a:p>
          <a:p>
            <a:pPr lvl="1"/>
            <a:endParaRPr lang="en-GB" dirty="0"/>
          </a:p>
          <a:p>
            <a:pPr marL="457200" lvl="1" indent="0">
              <a:buNone/>
            </a:pPr>
            <a:r>
              <a:rPr lang="en-GB" dirty="0"/>
              <a:t>Use the </a:t>
            </a:r>
            <a:r>
              <a:rPr lang="en-GB" dirty="0" err="1"/>
              <a:t>padlet</a:t>
            </a:r>
            <a:r>
              <a:rPr lang="en-GB" dirty="0"/>
              <a:t> to record your thoughts and feedback to the group </a:t>
            </a:r>
          </a:p>
        </p:txBody>
      </p:sp>
    </p:spTree>
    <p:extLst>
      <p:ext uri="{BB962C8B-B14F-4D97-AF65-F5344CB8AC3E}">
        <p14:creationId xmlns:p14="http://schemas.microsoft.com/office/powerpoint/2010/main" val="4258719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ABBB13-512C-FE70-8C8F-0A4AE3032350}"/>
              </a:ext>
            </a:extLst>
          </p:cNvPr>
          <p:cNvPicPr>
            <a:picLocks noChangeAspect="1"/>
          </p:cNvPicPr>
          <p:nvPr/>
        </p:nvPicPr>
        <p:blipFill>
          <a:blip r:embed="rId2"/>
          <a:stretch>
            <a:fillRect/>
          </a:stretch>
        </p:blipFill>
        <p:spPr>
          <a:xfrm>
            <a:off x="8675" y="199574"/>
            <a:ext cx="12174649" cy="6458851"/>
          </a:xfrm>
          <a:prstGeom prst="rect">
            <a:avLst/>
          </a:prstGeom>
        </p:spPr>
      </p:pic>
    </p:spTree>
    <p:extLst>
      <p:ext uri="{BB962C8B-B14F-4D97-AF65-F5344CB8AC3E}">
        <p14:creationId xmlns:p14="http://schemas.microsoft.com/office/powerpoint/2010/main" val="265837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DB7850-924B-833E-5AA2-912193A0CFC9}"/>
              </a:ext>
            </a:extLst>
          </p:cNvPr>
          <p:cNvPicPr>
            <a:picLocks noChangeAspect="1"/>
          </p:cNvPicPr>
          <p:nvPr/>
        </p:nvPicPr>
        <p:blipFill>
          <a:blip r:embed="rId2"/>
          <a:stretch>
            <a:fillRect/>
          </a:stretch>
        </p:blipFill>
        <p:spPr>
          <a:xfrm>
            <a:off x="0" y="200869"/>
            <a:ext cx="12192000" cy="6456261"/>
          </a:xfrm>
          <a:prstGeom prst="rect">
            <a:avLst/>
          </a:prstGeom>
        </p:spPr>
      </p:pic>
    </p:spTree>
    <p:extLst>
      <p:ext uri="{BB962C8B-B14F-4D97-AF65-F5344CB8AC3E}">
        <p14:creationId xmlns:p14="http://schemas.microsoft.com/office/powerpoint/2010/main" val="2754269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DA649F-A749-C3B0-8F66-6D9A27B49F5F}"/>
              </a:ext>
            </a:extLst>
          </p:cNvPr>
          <p:cNvPicPr>
            <a:picLocks noChangeAspect="1"/>
          </p:cNvPicPr>
          <p:nvPr/>
        </p:nvPicPr>
        <p:blipFill>
          <a:blip r:embed="rId2"/>
          <a:stretch>
            <a:fillRect/>
          </a:stretch>
        </p:blipFill>
        <p:spPr>
          <a:xfrm>
            <a:off x="0" y="179067"/>
            <a:ext cx="12192000" cy="6499865"/>
          </a:xfrm>
          <a:prstGeom prst="rect">
            <a:avLst/>
          </a:prstGeom>
        </p:spPr>
      </p:pic>
    </p:spTree>
    <p:extLst>
      <p:ext uri="{BB962C8B-B14F-4D97-AF65-F5344CB8AC3E}">
        <p14:creationId xmlns:p14="http://schemas.microsoft.com/office/powerpoint/2010/main" val="4193372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770F3-765C-25B1-D242-3488FA9F9486}"/>
              </a:ext>
            </a:extLst>
          </p:cNvPr>
          <p:cNvSpPr>
            <a:spLocks noGrp="1"/>
          </p:cNvSpPr>
          <p:nvPr>
            <p:ph type="title"/>
          </p:nvPr>
        </p:nvSpPr>
        <p:spPr/>
        <p:txBody>
          <a:bodyPr/>
          <a:lstStyle/>
          <a:p>
            <a:r>
              <a:rPr lang="en-GB" dirty="0"/>
              <a:t>What’s next</a:t>
            </a:r>
          </a:p>
        </p:txBody>
      </p:sp>
      <p:sp>
        <p:nvSpPr>
          <p:cNvPr id="3" name="Content Placeholder 2">
            <a:extLst>
              <a:ext uri="{FF2B5EF4-FFF2-40B4-BE49-F238E27FC236}">
                <a16:creationId xmlns:a16="http://schemas.microsoft.com/office/drawing/2014/main" id="{175A96D0-1F08-4552-2800-500F41743E73}"/>
              </a:ext>
            </a:extLst>
          </p:cNvPr>
          <p:cNvSpPr>
            <a:spLocks noGrp="1"/>
          </p:cNvSpPr>
          <p:nvPr>
            <p:ph idx="1"/>
          </p:nvPr>
        </p:nvSpPr>
        <p:spPr/>
        <p:txBody>
          <a:bodyPr/>
          <a:lstStyle/>
          <a:p>
            <a:r>
              <a:rPr lang="en-GB" dirty="0"/>
              <a:t>Plans for 21/10</a:t>
            </a:r>
          </a:p>
          <a:p>
            <a:r>
              <a:rPr lang="en-GB" dirty="0"/>
              <a:t>PT5051 will run in the morning  and you will be working with the BSc Dietetic and Nutrition students.</a:t>
            </a:r>
          </a:p>
          <a:p>
            <a:r>
              <a:rPr lang="en-GB" dirty="0"/>
              <a:t>You will be in SC253</a:t>
            </a:r>
          </a:p>
          <a:p>
            <a:r>
              <a:rPr lang="en-GB" dirty="0"/>
              <a:t>You will learn to</a:t>
            </a:r>
          </a:p>
          <a:p>
            <a:pPr lvl="1"/>
            <a:r>
              <a:rPr lang="en-GB" dirty="0"/>
              <a:t>Assess height and weight</a:t>
            </a:r>
          </a:p>
          <a:p>
            <a:pPr lvl="1"/>
            <a:r>
              <a:rPr lang="en-GB" dirty="0"/>
              <a:t>Understand about how a dietitian would assess a patient</a:t>
            </a:r>
          </a:p>
          <a:p>
            <a:pPr lvl="1"/>
            <a:r>
              <a:rPr lang="en-GB" dirty="0"/>
              <a:t>Learn about the communication skills require to illicit information using dietary information</a:t>
            </a:r>
          </a:p>
          <a:p>
            <a:pPr marL="457200" lvl="1" indent="0">
              <a:buNone/>
            </a:pPr>
            <a:endParaRPr lang="en-GB" dirty="0"/>
          </a:p>
          <a:p>
            <a:pPr marL="457200" lvl="1" indent="0">
              <a:buNone/>
            </a:pPr>
            <a:endParaRPr lang="en-GB" dirty="0"/>
          </a:p>
        </p:txBody>
      </p:sp>
    </p:spTree>
    <p:extLst>
      <p:ext uri="{BB962C8B-B14F-4D97-AF65-F5344CB8AC3E}">
        <p14:creationId xmlns:p14="http://schemas.microsoft.com/office/powerpoint/2010/main" val="62517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0</TotalTime>
  <Words>435</Words>
  <Application>Microsoft Office PowerPoint</Application>
  <PresentationFormat>Widescreen</PresentationFormat>
  <Paragraphs>43</Paragraphs>
  <Slides>22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Century Gothic</vt:lpstr>
      <vt:lpstr>Wingdings 3</vt:lpstr>
      <vt:lpstr>Ion</vt:lpstr>
      <vt:lpstr>Team working - workshop</vt:lpstr>
      <vt:lpstr>PowerPoint Presentation</vt:lpstr>
      <vt:lpstr>Join the menti - https://www.menti.com/almsddxz7ikv </vt:lpstr>
      <vt:lpstr>What are the benefits of team working ?</vt:lpstr>
      <vt:lpstr>Define multi-disciplinary working ?</vt:lpstr>
      <vt:lpstr>Define interdisciplinary working</vt:lpstr>
      <vt:lpstr>PowerPoint Presentation</vt:lpstr>
      <vt:lpstr>Multi-disciplinary teams</vt:lpstr>
      <vt:lpstr>PowerPoint Presentation</vt:lpstr>
      <vt:lpstr>PowerPoint Presentation</vt:lpstr>
      <vt:lpstr>Interdisciplinary team (IDT) working </vt:lpstr>
      <vt:lpstr>Integrated care systems</vt:lpstr>
      <vt:lpstr>Integrated Care Teams, working in an interdisciplinary manner.</vt:lpstr>
      <vt:lpstr>Menti – Key skills needed for effective teamwork</vt:lpstr>
      <vt:lpstr>PowerPoint Presentation</vt:lpstr>
      <vt:lpstr>Menti – Challenges of Team Working</vt:lpstr>
      <vt:lpstr>Menti- Benefits of Team working</vt:lpstr>
      <vt:lpstr>Your experiences</vt:lpstr>
      <vt:lpstr>PowerPoint Presentation</vt:lpstr>
      <vt:lpstr>PowerPoint Presentation</vt:lpstr>
      <vt:lpstr>PowerPoint Presentation</vt:lpstr>
      <vt:lpstr>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Illingworth</dc:creator>
  <cp:lastModifiedBy>Sarah Illingworth</cp:lastModifiedBy>
  <cp:revision>1</cp:revision>
  <dcterms:created xsi:type="dcterms:W3CDTF">2025-10-14T07:41:14Z</dcterms:created>
  <dcterms:modified xsi:type="dcterms:W3CDTF">2025-10-14T08:28:52Z</dcterms:modified>
</cp:coreProperties>
</file>