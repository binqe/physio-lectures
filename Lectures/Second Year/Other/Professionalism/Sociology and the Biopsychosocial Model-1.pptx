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84" r:id="rId3"/>
  </p:sldMasterIdLst>
  <p:notesMasterIdLst>
    <p:notesMasterId r:id="rId31"/>
  </p:notesMasterIdLst>
  <p:sldIdLst>
    <p:sldId id="2561" r:id="rId4"/>
    <p:sldId id="2562" r:id="rId5"/>
    <p:sldId id="2583" r:id="rId6"/>
    <p:sldId id="2584" r:id="rId7"/>
    <p:sldId id="2563" r:id="rId8"/>
    <p:sldId id="2564" r:id="rId9"/>
    <p:sldId id="2565" r:id="rId10"/>
    <p:sldId id="2566" r:id="rId11"/>
    <p:sldId id="2585" r:id="rId12"/>
    <p:sldId id="2586" r:id="rId13"/>
    <p:sldId id="2587" r:id="rId14"/>
    <p:sldId id="2567" r:id="rId15"/>
    <p:sldId id="2568" r:id="rId16"/>
    <p:sldId id="2569" r:id="rId17"/>
    <p:sldId id="2570" r:id="rId18"/>
    <p:sldId id="2571" r:id="rId19"/>
    <p:sldId id="2572" r:id="rId20"/>
    <p:sldId id="2573" r:id="rId21"/>
    <p:sldId id="2574" r:id="rId22"/>
    <p:sldId id="2575" r:id="rId23"/>
    <p:sldId id="2576" r:id="rId24"/>
    <p:sldId id="2578" r:id="rId25"/>
    <p:sldId id="2579" r:id="rId26"/>
    <p:sldId id="2580" r:id="rId27"/>
    <p:sldId id="2581" r:id="rId28"/>
    <p:sldId id="2589" r:id="rId29"/>
    <p:sldId id="2590"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egrating Sociology and the Biopsychosocial Model" id="{55ACE9FC-F400-426E-ABEB-6BEC925E3B1D}">
          <p14:sldIdLst>
            <p14:sldId id="2561"/>
            <p14:sldId id="2562"/>
            <p14:sldId id="2583"/>
            <p14:sldId id="2584"/>
            <p14:sldId id="2563"/>
            <p14:sldId id="2564"/>
            <p14:sldId id="2565"/>
            <p14:sldId id="2566"/>
            <p14:sldId id="2585"/>
            <p14:sldId id="2586"/>
            <p14:sldId id="2587"/>
            <p14:sldId id="2567"/>
            <p14:sldId id="2568"/>
            <p14:sldId id="2569"/>
            <p14:sldId id="2570"/>
            <p14:sldId id="2571"/>
            <p14:sldId id="2572"/>
            <p14:sldId id="2573"/>
            <p14:sldId id="2574"/>
            <p14:sldId id="2575"/>
            <p14:sldId id="2576"/>
            <p14:sldId id="2578"/>
            <p14:sldId id="2579"/>
            <p14:sldId id="2580"/>
            <p14:sldId id="2581"/>
            <p14:sldId id="2589"/>
            <p14:sldId id="259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8682" autoAdjust="0"/>
  </p:normalViewPr>
  <p:slideViewPr>
    <p:cSldViewPr snapToGrid="0">
      <p:cViewPr>
        <p:scale>
          <a:sx n="60" d="100"/>
          <a:sy n="60" d="100"/>
        </p:scale>
        <p:origin x="52" y="-136"/>
      </p:cViewPr>
      <p:guideLst/>
    </p:cSldViewPr>
  </p:slideViewPr>
  <p:notesTextViewPr>
    <p:cViewPr>
      <p:scale>
        <a:sx n="1" d="1"/>
        <a:sy n="1" d="1"/>
      </p:scale>
      <p:origin x="0" y="0"/>
    </p:cViewPr>
  </p:notesTextViewPr>
  <p:sorterViewPr>
    <p:cViewPr>
      <p:scale>
        <a:sx n="100" d="100"/>
        <a:sy n="100" d="100"/>
      </p:scale>
      <p:origin x="0" y="-11944"/>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tableStyles" Target="tableStyles.xml"/><Relationship Id="rId8"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F89D21-C648-4D13-9C77-9D5BA1F11D07}" type="datetimeFigureOut">
              <a:rPr lang="en-GB" smtClean="0"/>
              <a:t>27/09/2024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46B62F-FE57-47A5-9954-0C7F488E545D}" type="slidenum">
              <a:rPr lang="en-GB" smtClean="0"/>
              <a:t>‹#›</a:t>
            </a:fld>
            <a:endParaRPr lang="en-GB"/>
          </a:p>
        </p:txBody>
      </p:sp>
    </p:spTree>
    <p:extLst>
      <p:ext uri="{BB962C8B-B14F-4D97-AF65-F5344CB8AC3E}">
        <p14:creationId xmlns:p14="http://schemas.microsoft.com/office/powerpoint/2010/main" val="21064147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008FDCA-FBDD-48FF-A455-4F0522382209}" type="slidenum">
              <a:rPr lang="en-GB" smtClean="0"/>
              <a:t>1</a:t>
            </a:fld>
            <a:endParaRPr lang="en-GB"/>
          </a:p>
        </p:txBody>
      </p:sp>
    </p:spTree>
    <p:extLst>
      <p:ext uri="{BB962C8B-B14F-4D97-AF65-F5344CB8AC3E}">
        <p14:creationId xmlns:p14="http://schemas.microsoft.com/office/powerpoint/2010/main" val="40945323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008FDCA-FBDD-48FF-A455-4F0522382209}" type="slidenum">
              <a:rPr lang="en-GB" smtClean="0"/>
              <a:t>2</a:t>
            </a:fld>
            <a:endParaRPr lang="en-GB"/>
          </a:p>
        </p:txBody>
      </p:sp>
    </p:spTree>
    <p:extLst>
      <p:ext uri="{BB962C8B-B14F-4D97-AF65-F5344CB8AC3E}">
        <p14:creationId xmlns:p14="http://schemas.microsoft.com/office/powerpoint/2010/main" val="29969827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6897E0D-5468-484B-8EFD-BE6DE211BADE}" type="slidenum">
              <a:rPr lang="en-GB" smtClean="0"/>
              <a:t>3</a:t>
            </a:fld>
            <a:endParaRPr lang="en-GB"/>
          </a:p>
        </p:txBody>
      </p:sp>
    </p:spTree>
    <p:extLst>
      <p:ext uri="{BB962C8B-B14F-4D97-AF65-F5344CB8AC3E}">
        <p14:creationId xmlns:p14="http://schemas.microsoft.com/office/powerpoint/2010/main" val="26371482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1589086-87C3-4F65-B739-2CC689560238}" type="slidenum">
              <a:rPr lang="en-GB" smtClean="0"/>
              <a:t>4</a:t>
            </a:fld>
            <a:endParaRPr lang="en-GB"/>
          </a:p>
        </p:txBody>
      </p:sp>
    </p:spTree>
    <p:extLst>
      <p:ext uri="{BB962C8B-B14F-4D97-AF65-F5344CB8AC3E}">
        <p14:creationId xmlns:p14="http://schemas.microsoft.com/office/powerpoint/2010/main" val="30751148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008FDCA-FBDD-48FF-A455-4F0522382209}" type="slidenum">
              <a:rPr lang="en-GB" smtClean="0"/>
              <a:t>5</a:t>
            </a:fld>
            <a:endParaRPr lang="en-GB"/>
          </a:p>
        </p:txBody>
      </p:sp>
    </p:spTree>
    <p:extLst>
      <p:ext uri="{BB962C8B-B14F-4D97-AF65-F5344CB8AC3E}">
        <p14:creationId xmlns:p14="http://schemas.microsoft.com/office/powerpoint/2010/main" val="1683786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008FDCA-FBDD-48FF-A455-4F0522382209}" type="slidenum">
              <a:rPr lang="en-GB" smtClean="0"/>
              <a:t>6</a:t>
            </a:fld>
            <a:endParaRPr lang="en-GB"/>
          </a:p>
        </p:txBody>
      </p:sp>
    </p:spTree>
    <p:extLst>
      <p:ext uri="{BB962C8B-B14F-4D97-AF65-F5344CB8AC3E}">
        <p14:creationId xmlns:p14="http://schemas.microsoft.com/office/powerpoint/2010/main" val="1389899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008FDCA-FBDD-48FF-A455-4F0522382209}" type="slidenum">
              <a:rPr lang="en-GB" smtClean="0"/>
              <a:t>7</a:t>
            </a:fld>
            <a:endParaRPr lang="en-GB"/>
          </a:p>
        </p:txBody>
      </p:sp>
    </p:spTree>
    <p:extLst>
      <p:ext uri="{BB962C8B-B14F-4D97-AF65-F5344CB8AC3E}">
        <p14:creationId xmlns:p14="http://schemas.microsoft.com/office/powerpoint/2010/main" val="32327532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008FDCA-FBDD-48FF-A455-4F0522382209}" type="slidenum">
              <a:rPr lang="en-GB" smtClean="0"/>
              <a:t>8</a:t>
            </a:fld>
            <a:endParaRPr lang="en-GB"/>
          </a:p>
        </p:txBody>
      </p:sp>
    </p:spTree>
    <p:extLst>
      <p:ext uri="{BB962C8B-B14F-4D97-AF65-F5344CB8AC3E}">
        <p14:creationId xmlns:p14="http://schemas.microsoft.com/office/powerpoint/2010/main" val="33587388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346B62F-FE57-47A5-9954-0C7F488E545D}" type="slidenum">
              <a:rPr lang="en-GB" smtClean="0"/>
              <a:t>9</a:t>
            </a:fld>
            <a:endParaRPr lang="en-GB"/>
          </a:p>
        </p:txBody>
      </p:sp>
    </p:spTree>
    <p:extLst>
      <p:ext uri="{BB962C8B-B14F-4D97-AF65-F5344CB8AC3E}">
        <p14:creationId xmlns:p14="http://schemas.microsoft.com/office/powerpoint/2010/main" val="3739241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1589086-87C3-4F65-B739-2CC689560238}" type="slidenum">
              <a:rPr lang="en-GB" smtClean="0"/>
              <a:t>10</a:t>
            </a:fld>
            <a:endParaRPr lang="en-GB"/>
          </a:p>
        </p:txBody>
      </p:sp>
    </p:spTree>
    <p:extLst>
      <p:ext uri="{BB962C8B-B14F-4D97-AF65-F5344CB8AC3E}">
        <p14:creationId xmlns:p14="http://schemas.microsoft.com/office/powerpoint/2010/main" val="9611039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1589086-87C3-4F65-B739-2CC689560238}" type="slidenum">
              <a:rPr lang="en-GB" smtClean="0"/>
              <a:t>11</a:t>
            </a:fld>
            <a:endParaRPr lang="en-GB"/>
          </a:p>
        </p:txBody>
      </p:sp>
    </p:spTree>
    <p:extLst>
      <p:ext uri="{BB962C8B-B14F-4D97-AF65-F5344CB8AC3E}">
        <p14:creationId xmlns:p14="http://schemas.microsoft.com/office/powerpoint/2010/main" val="12061345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008FDCA-FBDD-48FF-A455-4F0522382209}" type="slidenum">
              <a:rPr lang="en-GB" smtClean="0"/>
              <a:t>12</a:t>
            </a:fld>
            <a:endParaRPr lang="en-GB"/>
          </a:p>
        </p:txBody>
      </p:sp>
    </p:spTree>
    <p:extLst>
      <p:ext uri="{BB962C8B-B14F-4D97-AF65-F5344CB8AC3E}">
        <p14:creationId xmlns:p14="http://schemas.microsoft.com/office/powerpoint/2010/main" val="15381290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008FDCA-FBDD-48FF-A455-4F0522382209}" type="slidenum">
              <a:rPr lang="en-GB" smtClean="0"/>
              <a:t>13</a:t>
            </a:fld>
            <a:endParaRPr lang="en-GB"/>
          </a:p>
        </p:txBody>
      </p:sp>
    </p:spTree>
    <p:extLst>
      <p:ext uri="{BB962C8B-B14F-4D97-AF65-F5344CB8AC3E}">
        <p14:creationId xmlns:p14="http://schemas.microsoft.com/office/powerpoint/2010/main" val="13192106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008FDCA-FBDD-48FF-A455-4F0522382209}" type="slidenum">
              <a:rPr lang="en-GB" smtClean="0"/>
              <a:t>14</a:t>
            </a:fld>
            <a:endParaRPr lang="en-GB"/>
          </a:p>
        </p:txBody>
      </p:sp>
    </p:spTree>
    <p:extLst>
      <p:ext uri="{BB962C8B-B14F-4D97-AF65-F5344CB8AC3E}">
        <p14:creationId xmlns:p14="http://schemas.microsoft.com/office/powerpoint/2010/main" val="28887304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008FDCA-FBDD-48FF-A455-4F0522382209}" type="slidenum">
              <a:rPr lang="en-GB" smtClean="0"/>
              <a:t>15</a:t>
            </a:fld>
            <a:endParaRPr lang="en-GB"/>
          </a:p>
        </p:txBody>
      </p:sp>
    </p:spTree>
    <p:extLst>
      <p:ext uri="{BB962C8B-B14F-4D97-AF65-F5344CB8AC3E}">
        <p14:creationId xmlns:p14="http://schemas.microsoft.com/office/powerpoint/2010/main" val="4174927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008FDCA-FBDD-48FF-A455-4F0522382209}" type="slidenum">
              <a:rPr lang="en-GB" smtClean="0"/>
              <a:t>16</a:t>
            </a:fld>
            <a:endParaRPr lang="en-GB"/>
          </a:p>
        </p:txBody>
      </p:sp>
    </p:spTree>
    <p:extLst>
      <p:ext uri="{BB962C8B-B14F-4D97-AF65-F5344CB8AC3E}">
        <p14:creationId xmlns:p14="http://schemas.microsoft.com/office/powerpoint/2010/main" val="11364396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008FDCA-FBDD-48FF-A455-4F0522382209}" type="slidenum">
              <a:rPr lang="en-GB" smtClean="0"/>
              <a:t>17</a:t>
            </a:fld>
            <a:endParaRPr lang="en-GB"/>
          </a:p>
        </p:txBody>
      </p:sp>
    </p:spTree>
    <p:extLst>
      <p:ext uri="{BB962C8B-B14F-4D97-AF65-F5344CB8AC3E}">
        <p14:creationId xmlns:p14="http://schemas.microsoft.com/office/powerpoint/2010/main" val="28732216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008FDCA-FBDD-48FF-A455-4F0522382209}" type="slidenum">
              <a:rPr lang="en-GB" smtClean="0"/>
              <a:t>18</a:t>
            </a:fld>
            <a:endParaRPr lang="en-GB"/>
          </a:p>
        </p:txBody>
      </p:sp>
    </p:spTree>
    <p:extLst>
      <p:ext uri="{BB962C8B-B14F-4D97-AF65-F5344CB8AC3E}">
        <p14:creationId xmlns:p14="http://schemas.microsoft.com/office/powerpoint/2010/main" val="8520467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008FDCA-FBDD-48FF-A455-4F0522382209}" type="slidenum">
              <a:rPr lang="en-GB" smtClean="0"/>
              <a:t>19</a:t>
            </a:fld>
            <a:endParaRPr lang="en-GB"/>
          </a:p>
        </p:txBody>
      </p:sp>
    </p:spTree>
    <p:extLst>
      <p:ext uri="{BB962C8B-B14F-4D97-AF65-F5344CB8AC3E}">
        <p14:creationId xmlns:p14="http://schemas.microsoft.com/office/powerpoint/2010/main" val="40309193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008FDCA-FBDD-48FF-A455-4F0522382209}" type="slidenum">
              <a:rPr lang="en-GB" smtClean="0"/>
              <a:t>20</a:t>
            </a:fld>
            <a:endParaRPr lang="en-GB"/>
          </a:p>
        </p:txBody>
      </p:sp>
    </p:spTree>
    <p:extLst>
      <p:ext uri="{BB962C8B-B14F-4D97-AF65-F5344CB8AC3E}">
        <p14:creationId xmlns:p14="http://schemas.microsoft.com/office/powerpoint/2010/main" val="40816216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008FDCA-FBDD-48FF-A455-4F0522382209}" type="slidenum">
              <a:rPr lang="en-GB" smtClean="0"/>
              <a:t>21</a:t>
            </a:fld>
            <a:endParaRPr lang="en-GB"/>
          </a:p>
        </p:txBody>
      </p:sp>
    </p:spTree>
    <p:extLst>
      <p:ext uri="{BB962C8B-B14F-4D97-AF65-F5344CB8AC3E}">
        <p14:creationId xmlns:p14="http://schemas.microsoft.com/office/powerpoint/2010/main" val="17823678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008FDCA-FBDD-48FF-A455-4F0522382209}" type="slidenum">
              <a:rPr lang="en-GB" smtClean="0"/>
              <a:t>22</a:t>
            </a:fld>
            <a:endParaRPr lang="en-GB"/>
          </a:p>
        </p:txBody>
      </p:sp>
    </p:spTree>
    <p:extLst>
      <p:ext uri="{BB962C8B-B14F-4D97-AF65-F5344CB8AC3E}">
        <p14:creationId xmlns:p14="http://schemas.microsoft.com/office/powerpoint/2010/main" val="9543104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008FDCA-FBDD-48FF-A455-4F0522382209}" type="slidenum">
              <a:rPr lang="en-GB" smtClean="0"/>
              <a:t>23</a:t>
            </a:fld>
            <a:endParaRPr lang="en-GB"/>
          </a:p>
        </p:txBody>
      </p:sp>
    </p:spTree>
    <p:extLst>
      <p:ext uri="{BB962C8B-B14F-4D97-AF65-F5344CB8AC3E}">
        <p14:creationId xmlns:p14="http://schemas.microsoft.com/office/powerpoint/2010/main" val="43288518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008FDCA-FBDD-48FF-A455-4F0522382209}" type="slidenum">
              <a:rPr lang="en-GB" smtClean="0"/>
              <a:t>24</a:t>
            </a:fld>
            <a:endParaRPr lang="en-GB"/>
          </a:p>
        </p:txBody>
      </p:sp>
    </p:spTree>
    <p:extLst>
      <p:ext uri="{BB962C8B-B14F-4D97-AF65-F5344CB8AC3E}">
        <p14:creationId xmlns:p14="http://schemas.microsoft.com/office/powerpoint/2010/main" val="36513897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008FDCA-FBDD-48FF-A455-4F0522382209}" type="slidenum">
              <a:rPr lang="en-GB" smtClean="0"/>
              <a:t>25</a:t>
            </a:fld>
            <a:endParaRPr lang="en-GB"/>
          </a:p>
        </p:txBody>
      </p:sp>
    </p:spTree>
    <p:extLst>
      <p:ext uri="{BB962C8B-B14F-4D97-AF65-F5344CB8AC3E}">
        <p14:creationId xmlns:p14="http://schemas.microsoft.com/office/powerpoint/2010/main" val="408091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9/27/2024</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5306647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9/27/2024</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08539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9/27/2024</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67506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9/27/2024</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7245185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9/27/2024</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933301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9/27/2024</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3725185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9/27/2024</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8160825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9/27/2024</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6408861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9/27/2024</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315454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9/27/2024</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529743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9/27/2024</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48035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GB"/>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6444479B-705B-4489-957E-7E8A228BDFA0}" type="datetime1">
              <a:rPr lang="en-US" smtClean="0"/>
              <a:t>9/27/2024</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70C12960-6E85-460F-B6E3-5B82CB31AF3D}"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632112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F89F774-3FA6-43B8-9241-99959C8FD463}" type="datetime1">
              <a:rPr lang="en-US" smtClean="0"/>
              <a:t>9/27/2024</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703128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GB"/>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F9504452-5DCC-4FE2-A5C9-8A5EF6714D65}" type="datetime1">
              <a:rPr lang="en-US" smtClean="0"/>
              <a:t>9/27/2024</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200517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GB"/>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E579ABC2-0180-4F3A-A895-A85BC724D472}" type="datetime1">
              <a:rPr lang="en-US" smtClean="0"/>
              <a:t>9/27/2024</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271977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GB"/>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6AEEA9BA-4E8F-439E-BEA4-91FBA01E3F5F}" type="datetime1">
              <a:rPr lang="en-US" smtClean="0"/>
              <a:t>9/27/2024</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0C12960-6E85-460F-B6E3-5B82CB31AF3D}"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059085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BE15BF18-0007-481C-AA29-413124BC3EE7}" type="datetime1">
              <a:rPr lang="en-US" smtClean="0"/>
              <a:t>9/27/2024</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0C12960-6E85-460F-B6E3-5B82CB31AF3D}"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614118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BE9870-3748-43AD-B547-02A075CB4A1D}" type="datetime1">
              <a:rPr lang="en-US" smtClean="0"/>
              <a:t>9/27/2024</a:t>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27740167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GB"/>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558E7897-33C5-4F1A-9307-D068E37F3DC7}" type="datetime1">
              <a:rPr lang="en-US" smtClean="0"/>
              <a:t>9/27/2024</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902684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82E171BA-CC09-47C8-A6DF-F5C5CB59CEEC}" type="datetime1">
              <a:rPr lang="en-US" smtClean="0"/>
              <a:t>9/27/2024</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015694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07B66AD-7C08-490A-ADA4-B47E10FB2407}" type="datetime1">
              <a:rPr lang="en-US" smtClean="0"/>
              <a:t>9/27/2024</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80569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GB"/>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05B95027-4255-49E7-9841-CD21BCC99996}" type="datetime1">
              <a:rPr lang="en-US" smtClean="0"/>
              <a:t>9/27/2024</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175916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GB"/>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6444479B-705B-4489-957E-7E8A228BDFA0}" type="datetime1">
              <a:rPr lang="en-US" smtClean="0"/>
              <a:t>9/27/2024</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70C12960-6E85-460F-B6E3-5B82CB31AF3D}"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1683792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F89F774-3FA6-43B8-9241-99959C8FD463}" type="datetime1">
              <a:rPr lang="en-US" smtClean="0"/>
              <a:t>9/27/2024</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0440770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GB"/>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F9504452-5DCC-4FE2-A5C9-8A5EF6714D65}" type="datetime1">
              <a:rPr lang="en-US" smtClean="0"/>
              <a:t>9/27/2024</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6605467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GB"/>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E579ABC2-0180-4F3A-A895-A85BC724D472}" type="datetime1">
              <a:rPr lang="en-US" smtClean="0"/>
              <a:t>9/27/2024</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4240568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GB"/>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6AEEA9BA-4E8F-439E-BEA4-91FBA01E3F5F}" type="datetime1">
              <a:rPr lang="en-US" smtClean="0"/>
              <a:t>9/27/2024</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0C12960-6E85-460F-B6E3-5B82CB31AF3D}"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4865061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BE15BF18-0007-481C-AA29-413124BC3EE7}" type="datetime1">
              <a:rPr lang="en-US" smtClean="0"/>
              <a:t>9/27/2024</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0C12960-6E85-460F-B6E3-5B82CB31AF3D}"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4312196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BE9870-3748-43AD-B547-02A075CB4A1D}" type="datetime1">
              <a:rPr lang="en-US" smtClean="0"/>
              <a:t>9/27/2024</a:t>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68507386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GB"/>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558E7897-33C5-4F1A-9307-D068E37F3DC7}" type="datetime1">
              <a:rPr lang="en-US" smtClean="0"/>
              <a:t>9/27/2024</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3279982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82E171BA-CC09-47C8-A6DF-F5C5CB59CEEC}" type="datetime1">
              <a:rPr lang="en-US" smtClean="0"/>
              <a:t>9/27/2024</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172239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07B66AD-7C08-490A-ADA4-B47E10FB2407}" type="datetime1">
              <a:rPr lang="en-US" smtClean="0"/>
              <a:t>9/27/2024</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418794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GB"/>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05B95027-4255-49E7-9841-CD21BCC99996}" type="datetime1">
              <a:rPr lang="en-US" smtClean="0"/>
              <a:t>9/27/2024</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094532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jp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9/27/2024</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65082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7DA38F49-B3E2-4BF0-BEC7-C30D34ABBB8D}" type="datetime1">
              <a:rPr lang="en-US" smtClean="0"/>
              <a:t>9/27/2024</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70C12960-6E85-460F-B6E3-5B82CB31AF3D}"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787674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7DA38F49-B3E2-4BF0-BEC7-C30D34ABBB8D}" type="datetime1">
              <a:rPr lang="en-US" smtClean="0"/>
              <a:t>9/27/2024</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70C12960-6E85-460F-B6E3-5B82CB31AF3D}"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580736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3.xml"/><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4.xml"/><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5.xml"/><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7.xml"/><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8.xml"/><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9.xml"/><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1.xml"/><Relationship Id="rId1" Type="http://schemas.openxmlformats.org/officeDocument/2006/relationships/slideLayout" Target="../slideLayouts/slideLayout26.xml"/></Relationships>
</file>

<file path=ppt/slides/_rels/slide2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2.xml"/><Relationship Id="rId1" Type="http://schemas.openxmlformats.org/officeDocument/2006/relationships/slideLayout" Target="../slideLayouts/slideLayout2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4.xml"/><Relationship Id="rId1" Type="http://schemas.openxmlformats.org/officeDocument/2006/relationships/slideLayout" Target="../slideLayouts/slideLayout26.xml"/></Relationships>
</file>

<file path=ppt/slides/_rels/slide2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5.xml"/><Relationship Id="rId1" Type="http://schemas.openxmlformats.org/officeDocument/2006/relationships/slideLayout" Target="../slideLayouts/slideLayout2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6CA391F1-4B2C-521B-F6A5-52C74B3034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75848" y="4711579"/>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13" name="Picture 12" descr="Colourful carved figures of humans">
            <a:extLst>
              <a:ext uri="{FF2B5EF4-FFF2-40B4-BE49-F238E27FC236}">
                <a16:creationId xmlns:a16="http://schemas.microsoft.com/office/drawing/2014/main" id="{3C73C5B3-B684-9ADC-009D-83B7C16B33C4}"/>
              </a:ext>
            </a:extLst>
          </p:cNvPr>
          <p:cNvPicPr>
            <a:picLocks noChangeAspect="1"/>
          </p:cNvPicPr>
          <p:nvPr/>
        </p:nvPicPr>
        <p:blipFill>
          <a:blip r:embed="rId3"/>
          <a:srcRect l="4524" t="24526" r="4567" b="3704"/>
          <a:stretch/>
        </p:blipFill>
        <p:spPr>
          <a:xfrm>
            <a:off x="46009" y="2381705"/>
            <a:ext cx="6918231" cy="3891506"/>
          </a:xfrm>
          <a:prstGeom prst="rect">
            <a:avLst/>
          </a:prstGeom>
        </p:spPr>
      </p:pic>
      <p:sp>
        <p:nvSpPr>
          <p:cNvPr id="2" name="Title 1">
            <a:extLst>
              <a:ext uri="{FF2B5EF4-FFF2-40B4-BE49-F238E27FC236}">
                <a16:creationId xmlns:a16="http://schemas.microsoft.com/office/drawing/2014/main" id="{E5B18B74-CCAF-D506-ED27-21F2232BDA3F}"/>
              </a:ext>
            </a:extLst>
          </p:cNvPr>
          <p:cNvSpPr>
            <a:spLocks noGrp="1"/>
          </p:cNvSpPr>
          <p:nvPr>
            <p:ph type="ctrTitle"/>
          </p:nvPr>
        </p:nvSpPr>
        <p:spPr>
          <a:xfrm>
            <a:off x="2500935" y="689348"/>
            <a:ext cx="7686172" cy="1458684"/>
          </a:xfrm>
        </p:spPr>
        <p:txBody>
          <a:bodyPr anchor="b">
            <a:normAutofit/>
          </a:bodyPr>
          <a:lstStyle/>
          <a:p>
            <a:pPr algn="ctr">
              <a:lnSpc>
                <a:spcPct val="90000"/>
              </a:lnSpc>
            </a:pPr>
            <a:r>
              <a:rPr lang="en-GB" sz="4500" dirty="0">
                <a:latin typeface="Arial" panose="020B0604020202020204" pitchFamily="34" charset="0"/>
                <a:cs typeface="Arial" panose="020B0604020202020204" pitchFamily="34" charset="0"/>
              </a:rPr>
              <a:t>Sociology and the Biopsychosocial Model</a:t>
            </a:r>
          </a:p>
        </p:txBody>
      </p:sp>
      <p:sp>
        <p:nvSpPr>
          <p:cNvPr id="12" name="Title 1">
            <a:extLst>
              <a:ext uri="{FF2B5EF4-FFF2-40B4-BE49-F238E27FC236}">
                <a16:creationId xmlns:a16="http://schemas.microsoft.com/office/drawing/2014/main" id="{06DCA491-6DB6-D058-7F31-9BD3FF25032B}"/>
              </a:ext>
            </a:extLst>
          </p:cNvPr>
          <p:cNvSpPr txBox="1">
            <a:spLocks/>
          </p:cNvSpPr>
          <p:nvPr/>
        </p:nvSpPr>
        <p:spPr>
          <a:xfrm>
            <a:off x="7096944" y="2748148"/>
            <a:ext cx="4531727" cy="853637"/>
          </a:xfrm>
          <a:prstGeom prst="rect">
            <a:avLst/>
          </a:prstGeom>
        </p:spPr>
        <p:txBody>
          <a:bodyPr vert="horz" lIns="91440" tIns="45720" rIns="91440" bIns="45720" rtlCol="0" anchor="b">
            <a:normAutofit/>
          </a:bodyPr>
          <a:lstStyle>
            <a:lvl1pPr algn="l" defTabSz="914400" rtl="0" eaLnBrk="1" latinLnBrk="0" hangingPunct="1">
              <a:lnSpc>
                <a:spcPct val="100000"/>
              </a:lnSpc>
              <a:spcBef>
                <a:spcPct val="0"/>
              </a:spcBef>
              <a:buNone/>
              <a:defRPr sz="5400" b="1" kern="1200">
                <a:solidFill>
                  <a:schemeClr val="tx1"/>
                </a:solidFill>
                <a:latin typeface="+mj-lt"/>
                <a:ea typeface="+mj-ea"/>
                <a:cs typeface="+mj-cs"/>
              </a:defRPr>
            </a:lvl1pPr>
          </a:lstStyle>
          <a:p>
            <a:pPr algn="ctr">
              <a:lnSpc>
                <a:spcPct val="90000"/>
              </a:lnSpc>
            </a:pPr>
            <a:r>
              <a:rPr lang="en-GB" sz="2400" dirty="0">
                <a:latin typeface="Arial" panose="020B0604020202020204" pitchFamily="34" charset="0"/>
                <a:cs typeface="Arial" panose="020B0604020202020204" pitchFamily="34" charset="0"/>
              </a:rPr>
              <a:t>Module PT7001</a:t>
            </a:r>
          </a:p>
        </p:txBody>
      </p:sp>
      <p:sp>
        <p:nvSpPr>
          <p:cNvPr id="7" name="Title 1">
            <a:extLst>
              <a:ext uri="{FF2B5EF4-FFF2-40B4-BE49-F238E27FC236}">
                <a16:creationId xmlns:a16="http://schemas.microsoft.com/office/drawing/2014/main" id="{4B211C72-CC5A-6A45-1E58-D1A910BF8B10}"/>
              </a:ext>
            </a:extLst>
          </p:cNvPr>
          <p:cNvSpPr txBox="1">
            <a:spLocks/>
          </p:cNvSpPr>
          <p:nvPr/>
        </p:nvSpPr>
        <p:spPr>
          <a:xfrm>
            <a:off x="7675848" y="4896180"/>
            <a:ext cx="4025288" cy="853637"/>
          </a:xfrm>
          <a:prstGeom prst="rect">
            <a:avLst/>
          </a:prstGeom>
        </p:spPr>
        <p:txBody>
          <a:bodyPr vert="horz" lIns="91440" tIns="45720" rIns="91440" bIns="45720" rtlCol="0" anchor="b">
            <a:normAutofit/>
          </a:bodyPr>
          <a:lstStyle>
            <a:lvl1pPr algn="l" defTabSz="914400" rtl="0" eaLnBrk="1" latinLnBrk="0" hangingPunct="1">
              <a:lnSpc>
                <a:spcPct val="100000"/>
              </a:lnSpc>
              <a:spcBef>
                <a:spcPct val="0"/>
              </a:spcBef>
              <a:buNone/>
              <a:defRPr sz="5400" b="1" kern="1200">
                <a:solidFill>
                  <a:schemeClr val="tx1"/>
                </a:solidFill>
                <a:latin typeface="+mj-lt"/>
                <a:ea typeface="+mj-ea"/>
                <a:cs typeface="+mj-cs"/>
              </a:defRPr>
            </a:lvl1pPr>
          </a:lstStyle>
          <a:p>
            <a:pPr algn="ctr">
              <a:lnSpc>
                <a:spcPct val="90000"/>
              </a:lnSpc>
            </a:pPr>
            <a:r>
              <a:rPr lang="en-GB" sz="2400" dirty="0">
                <a:latin typeface="Arial" panose="020B0604020202020204" pitchFamily="34" charset="0"/>
                <a:cs typeface="Arial" panose="020B0604020202020204" pitchFamily="34" charset="0"/>
              </a:rPr>
              <a:t>Lubna Syed</a:t>
            </a:r>
          </a:p>
        </p:txBody>
      </p:sp>
    </p:spTree>
    <p:extLst>
      <p:ext uri="{BB962C8B-B14F-4D97-AF65-F5344CB8AC3E}">
        <p14:creationId xmlns:p14="http://schemas.microsoft.com/office/powerpoint/2010/main" val="4121797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7"/>
                                        </p:tgtEl>
                                        <p:attrNameLst>
                                          <p:attrName>style.visibility</p:attrName>
                                        </p:attrNameLst>
                                      </p:cBhvr>
                                      <p:to>
                                        <p:strVal val="visible"/>
                                      </p:to>
                                    </p:set>
                                    <p:animEffect transition="in" filter="fade">
                                      <p:cBhvr>
                                        <p:cTn id="10" dur="700"/>
                                        <p:tgtEl>
                                          <p:spTgt spid="7"/>
                                        </p:tgtEl>
                                      </p:cBhvr>
                                    </p:animEffect>
                                  </p:childTnLst>
                                </p:cTn>
                              </p:par>
                              <p:par>
                                <p:cTn id="11" presetID="10" presetClass="entr" presetSubtype="0" fill="hold" grpId="0" nodeType="withEffect">
                                  <p:stCondLst>
                                    <p:cond delay="1000"/>
                                  </p:stCondLst>
                                  <p:iterate>
                                    <p:tmPct val="10000"/>
                                  </p:iterate>
                                  <p:childTnLst>
                                    <p:set>
                                      <p:cBhvr>
                                        <p:cTn id="12" dur="1" fill="hold">
                                          <p:stCondLst>
                                            <p:cond delay="0"/>
                                          </p:stCondLst>
                                        </p:cTn>
                                        <p:tgtEl>
                                          <p:spTgt spid="12"/>
                                        </p:tgtEl>
                                        <p:attrNameLst>
                                          <p:attrName>style.visibility</p:attrName>
                                        </p:attrNameLst>
                                      </p:cBhvr>
                                      <p:to>
                                        <p:strVal val="visible"/>
                                      </p:to>
                                    </p:set>
                                    <p:animEffect transition="in" filter="fade">
                                      <p:cBhvr>
                                        <p:cTn id="13" dur="7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2" grpId="0"/>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Herbs placed in closed book with stethoscope on top isolated on white">
            <a:extLst>
              <a:ext uri="{FF2B5EF4-FFF2-40B4-BE49-F238E27FC236}">
                <a16:creationId xmlns:a16="http://schemas.microsoft.com/office/drawing/2014/main" id="{BF54BE52-5E2B-42CC-A569-060A2FAA0FC3}"/>
              </a:ext>
            </a:extLst>
          </p:cNvPr>
          <p:cNvPicPr>
            <a:picLocks noGrp="1" noChangeAspect="1"/>
          </p:cNvPicPr>
          <p:nvPr>
            <p:ph sz="half" idx="1"/>
          </p:nvPr>
        </p:nvPicPr>
        <p:blipFill>
          <a:blip r:embed="rId3"/>
          <a:srcRect l="9558" r="7438" b="2"/>
          <a:stretch/>
        </p:blipFill>
        <p:spPr>
          <a:xfrm>
            <a:off x="350874" y="1782698"/>
            <a:ext cx="5029201" cy="4044301"/>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665683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186DDA4-B8BF-8C2C-3FB5-AC983E278637}"/>
              </a:ext>
            </a:extLst>
          </p:cNvPr>
          <p:cNvSpPr>
            <a:spLocks noGrp="1"/>
          </p:cNvSpPr>
          <p:nvPr>
            <p:ph type="title"/>
          </p:nvPr>
        </p:nvSpPr>
        <p:spPr>
          <a:xfrm>
            <a:off x="7269904" y="914400"/>
            <a:ext cx="4261104" cy="1097280"/>
          </a:xfrm>
        </p:spPr>
        <p:txBody>
          <a:bodyPr vert="horz" lIns="91440" tIns="45720" rIns="91440" bIns="45720" rtlCol="0" anchor="t">
            <a:normAutofit/>
          </a:bodyPr>
          <a:lstStyle/>
          <a:p>
            <a:r>
              <a:rPr lang="en-US" sz="3600" dirty="0"/>
              <a:t>Objectives</a:t>
            </a:r>
          </a:p>
        </p:txBody>
      </p:sp>
      <p:sp>
        <p:nvSpPr>
          <p:cNvPr id="4" name="Content Placeholder 3">
            <a:extLst>
              <a:ext uri="{FF2B5EF4-FFF2-40B4-BE49-F238E27FC236}">
                <a16:creationId xmlns:a16="http://schemas.microsoft.com/office/drawing/2014/main" id="{B028E030-44DD-540D-69E4-4F8CEB664755}"/>
              </a:ext>
            </a:extLst>
          </p:cNvPr>
          <p:cNvSpPr>
            <a:spLocks noGrp="1"/>
          </p:cNvSpPr>
          <p:nvPr>
            <p:ph sz="half" idx="2"/>
          </p:nvPr>
        </p:nvSpPr>
        <p:spPr>
          <a:xfrm>
            <a:off x="7269905" y="2011680"/>
            <a:ext cx="4261104" cy="3931921"/>
          </a:xfrm>
        </p:spPr>
        <p:txBody>
          <a:bodyPr vert="horz" lIns="91440" tIns="45720" rIns="91440" bIns="45720" rtlCol="0">
            <a:normAutofit/>
          </a:bodyPr>
          <a:lstStyle/>
          <a:p>
            <a:r>
              <a:rPr lang="en-US" dirty="0"/>
              <a:t>Introduction to sociology</a:t>
            </a:r>
          </a:p>
          <a:p>
            <a:r>
              <a:rPr lang="en-US" dirty="0"/>
              <a:t>Define Key Sociological Concepts</a:t>
            </a:r>
          </a:p>
          <a:p>
            <a:r>
              <a:rPr lang="en-US" dirty="0"/>
              <a:t>Explain the Biopsychosocial Model</a:t>
            </a:r>
          </a:p>
          <a:p>
            <a:r>
              <a:rPr lang="en-US" dirty="0"/>
              <a:t>Social Factors in Health</a:t>
            </a:r>
          </a:p>
          <a:p>
            <a:r>
              <a:rPr lang="en-US" dirty="0"/>
              <a:t>Integrate Sociology with the Biopsychosocial Approach</a:t>
            </a:r>
          </a:p>
          <a:p>
            <a:r>
              <a:rPr lang="en-US" dirty="0"/>
              <a:t>The Holistic Perspective</a:t>
            </a:r>
          </a:p>
        </p:txBody>
      </p:sp>
    </p:spTree>
    <p:extLst>
      <p:ext uri="{BB962C8B-B14F-4D97-AF65-F5344CB8AC3E}">
        <p14:creationId xmlns:p14="http://schemas.microsoft.com/office/powerpoint/2010/main" val="8776287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64AC9-DFD2-8383-349C-CF5FA8A5A70F}"/>
              </a:ext>
            </a:extLst>
          </p:cNvPr>
          <p:cNvSpPr>
            <a:spLocks noGrp="1"/>
          </p:cNvSpPr>
          <p:nvPr>
            <p:ph type="title"/>
          </p:nvPr>
        </p:nvSpPr>
        <p:spPr>
          <a:xfrm>
            <a:off x="4866968" y="914400"/>
            <a:ext cx="6627924" cy="1307592"/>
          </a:xfrm>
        </p:spPr>
        <p:txBody>
          <a:bodyPr vert="horz" lIns="91440" tIns="45720" rIns="91440" bIns="45720" rtlCol="0" anchor="t">
            <a:normAutofit/>
          </a:bodyPr>
          <a:lstStyle/>
          <a:p>
            <a:r>
              <a:rPr lang="en-US"/>
              <a:t>What is Sociology?</a:t>
            </a:r>
          </a:p>
        </p:txBody>
      </p:sp>
      <p:pic>
        <p:nvPicPr>
          <p:cNvPr id="5" name="Content Placeholder 4" descr="3D rendering of game pieces tied together with a rope">
            <a:extLst>
              <a:ext uri="{FF2B5EF4-FFF2-40B4-BE49-F238E27FC236}">
                <a16:creationId xmlns:a16="http://schemas.microsoft.com/office/drawing/2014/main" id="{2F794B42-F1F0-4CD8-A4DD-C52C7F694E49}"/>
              </a:ext>
            </a:extLst>
          </p:cNvPr>
          <p:cNvPicPr>
            <a:picLocks noGrp="1" noChangeAspect="1"/>
          </p:cNvPicPr>
          <p:nvPr>
            <p:ph sz="half" idx="1"/>
          </p:nvPr>
        </p:nvPicPr>
        <p:blipFill>
          <a:blip r:embed="rId3"/>
          <a:srcRect l="13741" r="40379" b="1"/>
          <a:stretch/>
        </p:blipFill>
        <p:spPr>
          <a:xfrm>
            <a:off x="20" y="-17928"/>
            <a:ext cx="3732008" cy="6100732"/>
          </a:xfrm>
          <a:prstGeom prst="rect">
            <a:avLst/>
          </a:prstGeom>
        </p:spPr>
      </p:pic>
      <p:sp>
        <p:nvSpPr>
          <p:cNvPr id="4" name="Content Placeholder 3">
            <a:extLst>
              <a:ext uri="{FF2B5EF4-FFF2-40B4-BE49-F238E27FC236}">
                <a16:creationId xmlns:a16="http://schemas.microsoft.com/office/drawing/2014/main" id="{EC61A5C1-375E-713A-AD3C-A63797DD80E0}"/>
              </a:ext>
            </a:extLst>
          </p:cNvPr>
          <p:cNvSpPr>
            <a:spLocks noGrp="1"/>
          </p:cNvSpPr>
          <p:nvPr>
            <p:ph sz="half" idx="2"/>
          </p:nvPr>
        </p:nvSpPr>
        <p:spPr>
          <a:xfrm>
            <a:off x="4866968" y="2221992"/>
            <a:ext cx="6627924" cy="3838566"/>
          </a:xfrm>
        </p:spPr>
        <p:txBody>
          <a:bodyPr vert="horz" lIns="91440" tIns="45720" rIns="91440" bIns="45720" rtlCol="0">
            <a:normAutofit/>
          </a:bodyPr>
          <a:lstStyle/>
          <a:p>
            <a:pPr marL="0" indent="0">
              <a:lnSpc>
                <a:spcPct val="100000"/>
              </a:lnSpc>
              <a:buNone/>
            </a:pPr>
            <a:r>
              <a:rPr lang="en-US" dirty="0"/>
              <a:t>Sociology </a:t>
            </a:r>
          </a:p>
          <a:p>
            <a:pPr>
              <a:lnSpc>
                <a:spcPct val="100000"/>
              </a:lnSpc>
            </a:pPr>
            <a:r>
              <a:rPr lang="en-US" dirty="0"/>
              <a:t>Is the scientific study of human behavior and social structures.</a:t>
            </a:r>
          </a:p>
          <a:p>
            <a:pPr>
              <a:lnSpc>
                <a:spcPct val="100000"/>
              </a:lnSpc>
            </a:pPr>
            <a:r>
              <a:rPr lang="en-US" dirty="0"/>
              <a:t>examines patterns of social relationships and how they shape human behavior.</a:t>
            </a:r>
          </a:p>
          <a:p>
            <a:pPr>
              <a:lnSpc>
                <a:spcPct val="100000"/>
              </a:lnSpc>
            </a:pPr>
            <a:r>
              <a:rPr lang="en-US" dirty="0"/>
              <a:t>studies social structures and institutions, such as religion, education, government, and the economy.</a:t>
            </a:r>
          </a:p>
          <a:p>
            <a:pPr>
              <a:lnSpc>
                <a:spcPct val="100000"/>
              </a:lnSpc>
            </a:pPr>
            <a:r>
              <a:rPr lang="en-US" dirty="0"/>
              <a:t>helps us to understand the ways in which culture, socialization, and social structures impact our lives.</a:t>
            </a:r>
          </a:p>
        </p:txBody>
      </p:sp>
    </p:spTree>
    <p:extLst>
      <p:ext uri="{BB962C8B-B14F-4D97-AF65-F5344CB8AC3E}">
        <p14:creationId xmlns:p14="http://schemas.microsoft.com/office/powerpoint/2010/main" val="14800880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E810E-C8C4-67B0-F498-A5B222FFC0B2}"/>
              </a:ext>
            </a:extLst>
          </p:cNvPr>
          <p:cNvSpPr>
            <a:spLocks noGrp="1"/>
          </p:cNvSpPr>
          <p:nvPr>
            <p:ph type="title"/>
          </p:nvPr>
        </p:nvSpPr>
        <p:spPr>
          <a:xfrm>
            <a:off x="704087" y="914400"/>
            <a:ext cx="4041648" cy="1928741"/>
          </a:xfrm>
        </p:spPr>
        <p:txBody>
          <a:bodyPr vert="horz" lIns="91440" tIns="45720" rIns="91440" bIns="45720" rtlCol="0" anchor="t">
            <a:normAutofit/>
          </a:bodyPr>
          <a:lstStyle/>
          <a:p>
            <a:r>
              <a:rPr lang="en-US" dirty="0"/>
              <a:t>Sociology An Overview</a:t>
            </a:r>
          </a:p>
        </p:txBody>
      </p:sp>
      <p:pic>
        <p:nvPicPr>
          <p:cNvPr id="5" name="Content Placeholder 4" descr="Hand drawn businessman and business woman icons in red and black colors are connected by arrows randomly on white background. This image shows the social media, and online communication between business people.">
            <a:extLst>
              <a:ext uri="{FF2B5EF4-FFF2-40B4-BE49-F238E27FC236}">
                <a16:creationId xmlns:a16="http://schemas.microsoft.com/office/drawing/2014/main" id="{156AEEFE-0EBA-4094-9927-243FB0D32384}"/>
              </a:ext>
            </a:extLst>
          </p:cNvPr>
          <p:cNvPicPr>
            <a:picLocks noGrp="1" noChangeAspect="1"/>
          </p:cNvPicPr>
          <p:nvPr>
            <p:ph sz="half" idx="1"/>
          </p:nvPr>
        </p:nvPicPr>
        <p:blipFill>
          <a:blip r:embed="rId3"/>
          <a:srcRect l="8580" r="2897" b="-3"/>
          <a:stretch/>
        </p:blipFill>
        <p:spPr>
          <a:xfrm>
            <a:off x="464430" y="2528960"/>
            <a:ext cx="3941064" cy="2971800"/>
          </a:xfrm>
          <a:prstGeom prst="rect">
            <a:avLst/>
          </a:prstGeom>
        </p:spPr>
      </p:pic>
      <p:sp>
        <p:nvSpPr>
          <p:cNvPr id="4" name="Content Placeholder 3">
            <a:extLst>
              <a:ext uri="{FF2B5EF4-FFF2-40B4-BE49-F238E27FC236}">
                <a16:creationId xmlns:a16="http://schemas.microsoft.com/office/drawing/2014/main" id="{ED21E06A-138B-93D0-7A07-032451D6405D}"/>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645151" y="1878770"/>
            <a:ext cx="7465333" cy="5006436"/>
          </a:xfrm>
        </p:spPr>
        <p:txBody>
          <a:bodyPr>
            <a:normAutofit/>
          </a:bodyPr>
          <a:lstStyle/>
          <a:p>
            <a:pPr marL="0" indent="0">
              <a:spcBef>
                <a:spcPts val="2500"/>
              </a:spcBef>
              <a:buNone/>
            </a:pPr>
            <a:r>
              <a:rPr lang="en-GB" sz="1400" b="1" dirty="0"/>
              <a:t>Social Structures</a:t>
            </a:r>
          </a:p>
          <a:p>
            <a:pPr marL="0" lvl="1" indent="0">
              <a:buNone/>
            </a:pPr>
            <a:r>
              <a:rPr lang="en-GB" sz="1400" dirty="0"/>
              <a:t>The organized patterns of relationships and social institutions that shape our lives, such as families, schools, and the workplace.</a:t>
            </a:r>
          </a:p>
          <a:p>
            <a:pPr marL="0" lvl="1" indent="0">
              <a:buNone/>
            </a:pPr>
            <a:r>
              <a:rPr lang="en-GB" sz="1400" b="1" dirty="0"/>
              <a:t>Institutions</a:t>
            </a:r>
          </a:p>
          <a:p>
            <a:pPr marL="0" lvl="1" indent="0">
              <a:buNone/>
            </a:pPr>
            <a:r>
              <a:rPr lang="en-GB" sz="1400" dirty="0"/>
              <a:t>Established and organized patterns of behaviour that govern social life. They include religion, education, government, and the economy.</a:t>
            </a:r>
          </a:p>
          <a:p>
            <a:pPr marL="0" indent="0">
              <a:spcBef>
                <a:spcPts val="2500"/>
              </a:spcBef>
              <a:buNone/>
            </a:pPr>
            <a:r>
              <a:rPr lang="en-GB" sz="1400" b="1" dirty="0"/>
              <a:t>Culture</a:t>
            </a:r>
          </a:p>
          <a:p>
            <a:pPr marL="0" lvl="1" indent="0">
              <a:buNone/>
            </a:pPr>
            <a:r>
              <a:rPr lang="en-GB" sz="1400" dirty="0"/>
              <a:t>Refers to the shared beliefs, values, customs, behaviours, and artifacts that characterize a society or group. It includes language, art, music, and religion, among other things.</a:t>
            </a:r>
          </a:p>
          <a:p>
            <a:pPr marL="0" indent="0">
              <a:spcBef>
                <a:spcPts val="2500"/>
              </a:spcBef>
              <a:buNone/>
            </a:pPr>
            <a:r>
              <a:rPr lang="en-GB" sz="1400" b="1" dirty="0"/>
              <a:t>Socialization</a:t>
            </a:r>
          </a:p>
          <a:p>
            <a:pPr marL="0" lvl="1" indent="0">
              <a:buNone/>
            </a:pPr>
            <a:r>
              <a:rPr lang="en-GB" sz="1400" dirty="0"/>
              <a:t>Process by which individuals learn the norms, values, and beliefs of their culture. It includes the ways in which we learn to think, feel, and behave as members of society.</a:t>
            </a:r>
          </a:p>
        </p:txBody>
      </p:sp>
    </p:spTree>
    <p:extLst>
      <p:ext uri="{BB962C8B-B14F-4D97-AF65-F5344CB8AC3E}">
        <p14:creationId xmlns:p14="http://schemas.microsoft.com/office/powerpoint/2010/main" val="279026916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D1D83-6C7A-4BE9-6E02-B3A56E19BA52}"/>
              </a:ext>
            </a:extLst>
          </p:cNvPr>
          <p:cNvSpPr>
            <a:spLocks noGrp="1"/>
          </p:cNvSpPr>
          <p:nvPr>
            <p:ph type="title"/>
          </p:nvPr>
        </p:nvSpPr>
        <p:spPr>
          <a:xfrm>
            <a:off x="506055" y="4136065"/>
            <a:ext cx="8584781" cy="1005634"/>
          </a:xfrm>
        </p:spPr>
        <p:txBody>
          <a:bodyPr vert="horz" lIns="91440" tIns="45720" rIns="91440" bIns="45720" rtlCol="0" anchor="b">
            <a:normAutofit/>
          </a:bodyPr>
          <a:lstStyle/>
          <a:p>
            <a:r>
              <a:rPr lang="en-US" sz="4800" dirty="0"/>
              <a:t>Sociological Concepts</a:t>
            </a:r>
          </a:p>
        </p:txBody>
      </p:sp>
    </p:spTree>
    <p:extLst>
      <p:ext uri="{BB962C8B-B14F-4D97-AF65-F5344CB8AC3E}">
        <p14:creationId xmlns:p14="http://schemas.microsoft.com/office/powerpoint/2010/main" val="14205775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94A4A-FEB1-B119-9E1C-BF19CD9FB6D8}"/>
              </a:ext>
            </a:extLst>
          </p:cNvPr>
          <p:cNvSpPr>
            <a:spLocks noGrp="1"/>
          </p:cNvSpPr>
          <p:nvPr>
            <p:ph type="title"/>
          </p:nvPr>
        </p:nvSpPr>
        <p:spPr>
          <a:xfrm>
            <a:off x="7269904" y="914400"/>
            <a:ext cx="4261104" cy="1097280"/>
          </a:xfrm>
        </p:spPr>
        <p:txBody>
          <a:bodyPr vert="horz" lIns="91440" tIns="45720" rIns="91440" bIns="45720" rtlCol="0" anchor="t">
            <a:normAutofit fontScale="90000"/>
          </a:bodyPr>
          <a:lstStyle/>
          <a:p>
            <a:pPr>
              <a:lnSpc>
                <a:spcPct val="90000"/>
              </a:lnSpc>
            </a:pPr>
            <a:r>
              <a:rPr lang="en-US" sz="3600"/>
              <a:t>Understanding Social Structure</a:t>
            </a:r>
          </a:p>
        </p:txBody>
      </p:sp>
      <p:pic>
        <p:nvPicPr>
          <p:cNvPr id="5" name="Content Placeholder 4" descr="Yin Yang with people">
            <a:extLst>
              <a:ext uri="{FF2B5EF4-FFF2-40B4-BE49-F238E27FC236}">
                <a16:creationId xmlns:a16="http://schemas.microsoft.com/office/drawing/2014/main" id="{B325AA70-05B7-49F5-9C60-25526BCAE9A0}"/>
              </a:ext>
            </a:extLst>
          </p:cNvPr>
          <p:cNvPicPr>
            <a:picLocks noGrp="1" noChangeAspect="1"/>
          </p:cNvPicPr>
          <p:nvPr>
            <p:ph sz="half" idx="1"/>
          </p:nvPr>
        </p:nvPicPr>
        <p:blipFill>
          <a:blip r:embed="rId3"/>
          <a:srcRect r="16996" b="2"/>
          <a:stretch/>
        </p:blipFill>
        <p:spPr>
          <a:xfrm>
            <a:off x="265813" y="1892594"/>
            <a:ext cx="4072271" cy="3274773"/>
          </a:xfrm>
          <a:prstGeom prst="rect">
            <a:avLst/>
          </a:prstGeom>
        </p:spPr>
      </p:pic>
      <p:sp>
        <p:nvSpPr>
          <p:cNvPr id="4" name="Content Placeholder 3">
            <a:extLst>
              <a:ext uri="{FF2B5EF4-FFF2-40B4-BE49-F238E27FC236}">
                <a16:creationId xmlns:a16="http://schemas.microsoft.com/office/drawing/2014/main" id="{60E980DC-6CC7-A05B-96EA-3C23EF25EB07}"/>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752753" y="2176036"/>
            <a:ext cx="6778256" cy="4121887"/>
          </a:xfrm>
        </p:spPr>
        <p:txBody>
          <a:bodyPr>
            <a:normAutofit/>
          </a:bodyPr>
          <a:lstStyle/>
          <a:p>
            <a:pPr marL="0" indent="0">
              <a:spcBef>
                <a:spcPts val="2500"/>
              </a:spcBef>
              <a:buNone/>
            </a:pPr>
            <a:r>
              <a:rPr lang="en-GB" sz="1400" b="1" dirty="0"/>
              <a:t>Social Hierarchies</a:t>
            </a:r>
          </a:p>
          <a:p>
            <a:pPr marL="0" lvl="1" indent="0">
              <a:buNone/>
            </a:pPr>
            <a:r>
              <a:rPr lang="en-GB" sz="1400" dirty="0"/>
              <a:t>Social structure includes social hierarchies, such as class, race, and gender, which shape our opportunities and experiences in society.</a:t>
            </a:r>
          </a:p>
          <a:p>
            <a:pPr marL="0" indent="0">
              <a:spcBef>
                <a:spcPts val="2500"/>
              </a:spcBef>
              <a:buNone/>
            </a:pPr>
            <a:r>
              <a:rPr lang="en-GB" sz="1400" b="1" dirty="0"/>
              <a:t>Patterns of Relationships</a:t>
            </a:r>
          </a:p>
          <a:p>
            <a:pPr marL="0" lvl="1" indent="0">
              <a:buNone/>
            </a:pPr>
            <a:r>
              <a:rPr lang="en-GB" sz="1400" dirty="0"/>
              <a:t>Social structure includes the patterns of relationships and institutions in society, which affect how we interact and communicate with one another.</a:t>
            </a:r>
          </a:p>
        </p:txBody>
      </p:sp>
    </p:spTree>
    <p:extLst>
      <p:ext uri="{BB962C8B-B14F-4D97-AF65-F5344CB8AC3E}">
        <p14:creationId xmlns:p14="http://schemas.microsoft.com/office/powerpoint/2010/main" val="23630862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897E5-814D-3403-FEDC-52319B7D53B0}"/>
              </a:ext>
            </a:extLst>
          </p:cNvPr>
          <p:cNvSpPr>
            <a:spLocks noGrp="1"/>
          </p:cNvSpPr>
          <p:nvPr>
            <p:ph type="title"/>
          </p:nvPr>
        </p:nvSpPr>
        <p:spPr>
          <a:xfrm>
            <a:off x="640078" y="1078756"/>
            <a:ext cx="8450758" cy="1097280"/>
          </a:xfrm>
        </p:spPr>
        <p:txBody>
          <a:bodyPr vert="horz" lIns="91440" tIns="45720" rIns="91440" bIns="45720" rtlCol="0" anchor="t">
            <a:normAutofit/>
          </a:bodyPr>
          <a:lstStyle/>
          <a:p>
            <a:pPr>
              <a:lnSpc>
                <a:spcPct val="90000"/>
              </a:lnSpc>
            </a:pPr>
            <a:r>
              <a:rPr lang="en-US" sz="3600" dirty="0"/>
              <a:t>Examining Culture and Norms</a:t>
            </a:r>
          </a:p>
        </p:txBody>
      </p:sp>
      <p:pic>
        <p:nvPicPr>
          <p:cNvPr id="5" name="Content Placeholder 4" descr="People in a tribe">
            <a:extLst>
              <a:ext uri="{FF2B5EF4-FFF2-40B4-BE49-F238E27FC236}">
                <a16:creationId xmlns:a16="http://schemas.microsoft.com/office/drawing/2014/main" id="{BF7DEAAB-F56E-44D8-9B73-FAC481857883}"/>
              </a:ext>
            </a:extLst>
          </p:cNvPr>
          <p:cNvPicPr>
            <a:picLocks noGrp="1" noChangeAspect="1"/>
          </p:cNvPicPr>
          <p:nvPr>
            <p:ph sz="half" idx="1"/>
          </p:nvPr>
        </p:nvPicPr>
        <p:blipFill>
          <a:blip r:embed="rId3"/>
          <a:srcRect l="5265" r="21651" b="-2"/>
          <a:stretch/>
        </p:blipFill>
        <p:spPr>
          <a:xfrm>
            <a:off x="7828627" y="2176036"/>
            <a:ext cx="4001865" cy="3285461"/>
          </a:xfrm>
          <a:prstGeom prst="rect">
            <a:avLst/>
          </a:prstGeom>
        </p:spPr>
      </p:pic>
      <p:sp>
        <p:nvSpPr>
          <p:cNvPr id="4" name="Content Placeholder 3">
            <a:extLst>
              <a:ext uri="{FF2B5EF4-FFF2-40B4-BE49-F238E27FC236}">
                <a16:creationId xmlns:a16="http://schemas.microsoft.com/office/drawing/2014/main" id="{1FE12542-C78B-8992-4F05-CDD8AFD8057E}"/>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0078" y="2176036"/>
            <a:ext cx="6940935" cy="2505929"/>
          </a:xfrm>
        </p:spPr>
        <p:txBody>
          <a:bodyPr>
            <a:normAutofit/>
          </a:bodyPr>
          <a:lstStyle/>
          <a:p>
            <a:pPr marL="0" indent="0">
              <a:spcBef>
                <a:spcPts val="2500"/>
              </a:spcBef>
              <a:buNone/>
            </a:pPr>
            <a:r>
              <a:rPr lang="en-GB" sz="1600" b="1" dirty="0">
                <a:latin typeface="Arial" panose="020B0604020202020204" pitchFamily="34" charset="0"/>
                <a:cs typeface="Arial" panose="020B0604020202020204" pitchFamily="34" charset="0"/>
              </a:rPr>
              <a:t>Culture and Identity</a:t>
            </a:r>
          </a:p>
          <a:p>
            <a:pPr marL="0" lvl="1" indent="0">
              <a:buNone/>
            </a:pPr>
            <a:r>
              <a:rPr lang="en-GB" sz="1600" dirty="0">
                <a:latin typeface="Arial" panose="020B0604020202020204" pitchFamily="34" charset="0"/>
                <a:cs typeface="Arial" panose="020B0604020202020204" pitchFamily="34" charset="0"/>
              </a:rPr>
              <a:t>Culture and norms shape our beliefs and behaviours, defining our identity and guiding our interactions with others. </a:t>
            </a:r>
          </a:p>
          <a:p>
            <a:pPr marL="0" lvl="1" indent="0">
              <a:buNone/>
            </a:pPr>
            <a:r>
              <a:rPr lang="en-GB" sz="1600" b="1" dirty="0">
                <a:latin typeface="Arial" panose="020B0604020202020204" pitchFamily="34" charset="0"/>
                <a:cs typeface="Arial" panose="020B0604020202020204" pitchFamily="34" charset="0"/>
              </a:rPr>
              <a:t>Social Norms</a:t>
            </a:r>
          </a:p>
          <a:p>
            <a:pPr marL="0" lvl="1" indent="0">
              <a:buNone/>
            </a:pPr>
            <a:r>
              <a:rPr lang="en-GB" sz="1600" dirty="0">
                <a:latin typeface="Arial" panose="020B0604020202020204" pitchFamily="34" charset="0"/>
                <a:cs typeface="Arial" panose="020B0604020202020204" pitchFamily="34" charset="0"/>
              </a:rPr>
              <a:t>Social norms are unwritten rules and customs that guide accepted behaviours and interactions in a society. </a:t>
            </a:r>
          </a:p>
        </p:txBody>
      </p:sp>
    </p:spTree>
    <p:extLst>
      <p:ext uri="{BB962C8B-B14F-4D97-AF65-F5344CB8AC3E}">
        <p14:creationId xmlns:p14="http://schemas.microsoft.com/office/powerpoint/2010/main" val="11323031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0B744-397E-7FFF-7092-B79DBB030EA2}"/>
              </a:ext>
            </a:extLst>
          </p:cNvPr>
          <p:cNvSpPr>
            <a:spLocks noGrp="1"/>
          </p:cNvSpPr>
          <p:nvPr>
            <p:ph type="title"/>
          </p:nvPr>
        </p:nvSpPr>
        <p:spPr>
          <a:xfrm>
            <a:off x="640079" y="914400"/>
            <a:ext cx="8067985" cy="1097280"/>
          </a:xfrm>
        </p:spPr>
        <p:txBody>
          <a:bodyPr vert="horz" lIns="91440" tIns="45720" rIns="91440" bIns="45720" rtlCol="0" anchor="t">
            <a:normAutofit/>
          </a:bodyPr>
          <a:lstStyle/>
          <a:p>
            <a:pPr>
              <a:lnSpc>
                <a:spcPct val="90000"/>
              </a:lnSpc>
            </a:pPr>
            <a:r>
              <a:rPr lang="en-US" sz="3400" dirty="0"/>
              <a:t>Roles and Institutions in Society</a:t>
            </a:r>
          </a:p>
        </p:txBody>
      </p:sp>
      <p:pic>
        <p:nvPicPr>
          <p:cNvPr id="5" name="Content Placeholder 4" descr="Studio shot of a traditional african family smiling happily, isolated on whitehttp://195.154.178.81/DATA/istock_collage/0/shoots/784979.jpg">
            <a:extLst>
              <a:ext uri="{FF2B5EF4-FFF2-40B4-BE49-F238E27FC236}">
                <a16:creationId xmlns:a16="http://schemas.microsoft.com/office/drawing/2014/main" id="{E023C70D-CD69-44BD-BCFC-EABFD09E5A20}"/>
              </a:ext>
            </a:extLst>
          </p:cNvPr>
          <p:cNvPicPr>
            <a:picLocks noGrp="1" noChangeAspect="1"/>
          </p:cNvPicPr>
          <p:nvPr>
            <p:ph sz="half" idx="1"/>
          </p:nvPr>
        </p:nvPicPr>
        <p:blipFill>
          <a:blip r:embed="rId3"/>
          <a:srcRect r="1" b="11112"/>
          <a:stretch/>
        </p:blipFill>
        <p:spPr>
          <a:xfrm>
            <a:off x="8537944" y="2011680"/>
            <a:ext cx="3344732" cy="4058832"/>
          </a:xfrm>
          <a:prstGeom prst="rect">
            <a:avLst/>
          </a:prstGeom>
        </p:spPr>
      </p:pic>
      <p:sp>
        <p:nvSpPr>
          <p:cNvPr id="4" name="Content Placeholder 3">
            <a:extLst>
              <a:ext uri="{FF2B5EF4-FFF2-40B4-BE49-F238E27FC236}">
                <a16:creationId xmlns:a16="http://schemas.microsoft.com/office/drawing/2014/main" id="{78B65FA0-8357-42D9-F471-E5321E4A10DF}"/>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09324" y="2207934"/>
            <a:ext cx="8067984" cy="4123944"/>
          </a:xfrm>
        </p:spPr>
        <p:txBody>
          <a:bodyPr>
            <a:normAutofit/>
          </a:bodyPr>
          <a:lstStyle/>
          <a:p>
            <a:pPr marL="0" indent="0">
              <a:spcBef>
                <a:spcPts val="2500"/>
              </a:spcBef>
              <a:buNone/>
            </a:pPr>
            <a:r>
              <a:rPr lang="en-GB" sz="1400" b="1" dirty="0">
                <a:latin typeface="Arial" panose="020B0604020202020204" pitchFamily="34" charset="0"/>
                <a:cs typeface="Arial" panose="020B0604020202020204" pitchFamily="34" charset="0"/>
              </a:rPr>
              <a:t>Family</a:t>
            </a:r>
          </a:p>
          <a:p>
            <a:pPr marL="0" lvl="1" indent="0">
              <a:buNone/>
            </a:pPr>
            <a:r>
              <a:rPr lang="en-GB" sz="1400" dirty="0">
                <a:latin typeface="Arial" panose="020B0604020202020204" pitchFamily="34" charset="0"/>
                <a:cs typeface="Arial" panose="020B0604020202020204" pitchFamily="34" charset="0"/>
              </a:rPr>
              <a:t>A fundamental institution in society that provides emotional support and helps shape our values and beliefs. It plays a key role in the development of children and in shaping their experiences and opportunities.</a:t>
            </a:r>
          </a:p>
          <a:p>
            <a:pPr marL="0" indent="0">
              <a:spcBef>
                <a:spcPts val="2500"/>
              </a:spcBef>
              <a:buNone/>
            </a:pPr>
            <a:r>
              <a:rPr lang="en-GB" sz="1400" b="1" dirty="0">
                <a:latin typeface="Arial" panose="020B0604020202020204" pitchFamily="34" charset="0"/>
                <a:cs typeface="Arial" panose="020B0604020202020204" pitchFamily="34" charset="0"/>
              </a:rPr>
              <a:t>Education</a:t>
            </a:r>
          </a:p>
          <a:p>
            <a:pPr marL="0" lvl="1" indent="0">
              <a:buNone/>
            </a:pPr>
            <a:r>
              <a:rPr lang="en-GB" sz="1400" dirty="0">
                <a:latin typeface="Arial" panose="020B0604020202020204" pitchFamily="34" charset="0"/>
                <a:cs typeface="Arial" panose="020B0604020202020204" pitchFamily="34" charset="0"/>
              </a:rPr>
              <a:t>An important institution in society that plays a key role in shaping our experiences and opportunities. It provides knowledge and skills that are essential for personal and professional development.</a:t>
            </a:r>
          </a:p>
          <a:p>
            <a:pPr marL="0" indent="0">
              <a:spcBef>
                <a:spcPts val="2500"/>
              </a:spcBef>
              <a:buNone/>
            </a:pPr>
            <a:r>
              <a:rPr lang="en-GB" sz="1400" b="1" dirty="0">
                <a:latin typeface="Arial" panose="020B0604020202020204" pitchFamily="34" charset="0"/>
                <a:cs typeface="Arial" panose="020B0604020202020204" pitchFamily="34" charset="0"/>
              </a:rPr>
              <a:t>Healthcare</a:t>
            </a:r>
          </a:p>
          <a:p>
            <a:pPr marL="0" lvl="1" indent="0">
              <a:buNone/>
            </a:pPr>
            <a:r>
              <a:rPr lang="en-GB" sz="1400" dirty="0">
                <a:latin typeface="Arial" panose="020B0604020202020204" pitchFamily="34" charset="0"/>
                <a:cs typeface="Arial" panose="020B0604020202020204" pitchFamily="34" charset="0"/>
              </a:rPr>
              <a:t>An essential institution in society that provides medical care and support to individuals and communities. It plays a key role in promoting health and well-being and preventing illnesses.</a:t>
            </a:r>
          </a:p>
        </p:txBody>
      </p:sp>
    </p:spTree>
    <p:extLst>
      <p:ext uri="{BB962C8B-B14F-4D97-AF65-F5344CB8AC3E}">
        <p14:creationId xmlns:p14="http://schemas.microsoft.com/office/powerpoint/2010/main" val="38094014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51FF1-163A-015C-0EE5-6FDEA9DF510A}"/>
              </a:ext>
            </a:extLst>
          </p:cNvPr>
          <p:cNvSpPr>
            <a:spLocks noGrp="1"/>
          </p:cNvSpPr>
          <p:nvPr>
            <p:ph type="title"/>
          </p:nvPr>
        </p:nvSpPr>
        <p:spPr>
          <a:xfrm>
            <a:off x="4684703" y="1063255"/>
            <a:ext cx="7196115" cy="1171069"/>
          </a:xfrm>
        </p:spPr>
        <p:txBody>
          <a:bodyPr vert="horz" lIns="91440" tIns="45720" rIns="91440" bIns="45720" rtlCol="0" anchor="t">
            <a:normAutofit/>
          </a:bodyPr>
          <a:lstStyle/>
          <a:p>
            <a:r>
              <a:rPr lang="en-US" dirty="0"/>
              <a:t>Understanding Socialization</a:t>
            </a:r>
          </a:p>
        </p:txBody>
      </p:sp>
      <p:pic>
        <p:nvPicPr>
          <p:cNvPr id="5" name="Content Placeholder 4" descr="Child writing on paper">
            <a:extLst>
              <a:ext uri="{FF2B5EF4-FFF2-40B4-BE49-F238E27FC236}">
                <a16:creationId xmlns:a16="http://schemas.microsoft.com/office/drawing/2014/main" id="{406D899F-F35F-46E8-BAEF-56A8FFFE9CEB}"/>
              </a:ext>
            </a:extLst>
          </p:cNvPr>
          <p:cNvPicPr>
            <a:picLocks noGrp="1" noChangeAspect="1"/>
          </p:cNvPicPr>
          <p:nvPr>
            <p:ph sz="half" idx="1"/>
          </p:nvPr>
        </p:nvPicPr>
        <p:blipFill>
          <a:blip r:embed="rId3"/>
          <a:stretch>
            <a:fillRect/>
          </a:stretch>
        </p:blipFill>
        <p:spPr>
          <a:xfrm>
            <a:off x="0" y="2660324"/>
            <a:ext cx="4393108" cy="2932401"/>
          </a:xfrm>
          <a:prstGeom prst="rect">
            <a:avLst/>
          </a:prstGeom>
        </p:spPr>
      </p:pic>
      <p:sp>
        <p:nvSpPr>
          <p:cNvPr id="4" name="Content Placeholder 3">
            <a:extLst>
              <a:ext uri="{FF2B5EF4-FFF2-40B4-BE49-F238E27FC236}">
                <a16:creationId xmlns:a16="http://schemas.microsoft.com/office/drawing/2014/main" id="{E83062DA-722D-CF32-2982-DE7FE39C2C3D}"/>
              </a:ext>
            </a:extLst>
          </p:cNvPr>
          <p:cNvSpPr>
            <a:spLocks noGrp="1"/>
          </p:cNvSpPr>
          <p:nvPr>
            <p:ph sz="half" idx="2"/>
          </p:nvPr>
        </p:nvSpPr>
        <p:spPr>
          <a:xfrm>
            <a:off x="4540101" y="2532734"/>
            <a:ext cx="7485321" cy="3760459"/>
          </a:xfrm>
        </p:spPr>
        <p:txBody>
          <a:bodyPr vert="horz" lIns="91440" tIns="45720" rIns="91440" bIns="45720" rtlCol="0" anchor="t">
            <a:normAutofit/>
          </a:bodyPr>
          <a:lstStyle/>
          <a:p>
            <a:pPr>
              <a:lnSpc>
                <a:spcPct val="110000"/>
              </a:lnSpc>
            </a:pPr>
            <a:r>
              <a:rPr lang="en-US" sz="1700" dirty="0" err="1">
                <a:latin typeface="Arial" panose="020B0604020202020204" pitchFamily="34" charset="0"/>
                <a:cs typeface="Arial" panose="020B0604020202020204" pitchFamily="34" charset="0"/>
              </a:rPr>
              <a:t>ifelong</a:t>
            </a:r>
            <a:r>
              <a:rPr lang="en-US" sz="1700" dirty="0">
                <a:latin typeface="Arial" panose="020B0604020202020204" pitchFamily="34" charset="0"/>
                <a:cs typeface="Arial" panose="020B0604020202020204" pitchFamily="34" charset="0"/>
              </a:rPr>
              <a:t> process of learning and internalizing the norms, values, and beliefs of a society.</a:t>
            </a:r>
          </a:p>
          <a:p>
            <a:pPr>
              <a:lnSpc>
                <a:spcPct val="110000"/>
              </a:lnSpc>
            </a:pPr>
            <a:r>
              <a:rPr lang="en-US" sz="1700" dirty="0">
                <a:latin typeface="Arial" panose="020B0604020202020204" pitchFamily="34" charset="0"/>
                <a:cs typeface="Arial" panose="020B0604020202020204" pitchFamily="34" charset="0"/>
              </a:rPr>
              <a:t>Important because it helps individuals to develop their sense of self and their place in society.</a:t>
            </a:r>
          </a:p>
          <a:p>
            <a:pPr>
              <a:lnSpc>
                <a:spcPct val="110000"/>
              </a:lnSpc>
            </a:pPr>
            <a:r>
              <a:rPr lang="en-US" sz="1700" dirty="0">
                <a:latin typeface="Arial" panose="020B0604020202020204" pitchFamily="34" charset="0"/>
                <a:cs typeface="Arial" panose="020B0604020202020204" pitchFamily="34" charset="0"/>
              </a:rPr>
              <a:t>Types of socialization include primary, secondary, anticipatory, and resocialization.</a:t>
            </a:r>
          </a:p>
          <a:p>
            <a:pPr>
              <a:lnSpc>
                <a:spcPct val="110000"/>
              </a:lnSpc>
            </a:pPr>
            <a:r>
              <a:rPr lang="en-US" sz="1700" dirty="0">
                <a:latin typeface="Arial" panose="020B0604020202020204" pitchFamily="34" charset="0"/>
                <a:cs typeface="Arial" panose="020B0604020202020204" pitchFamily="34" charset="0"/>
              </a:rPr>
              <a:t>Agents of socialization include family, peers, school, the media, and religion.</a:t>
            </a:r>
          </a:p>
        </p:txBody>
      </p:sp>
    </p:spTree>
    <p:extLst>
      <p:ext uri="{BB962C8B-B14F-4D97-AF65-F5344CB8AC3E}">
        <p14:creationId xmlns:p14="http://schemas.microsoft.com/office/powerpoint/2010/main" val="28311979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CE6BC-07F6-623D-F8C7-09FCAB35B5CC}"/>
              </a:ext>
            </a:extLst>
          </p:cNvPr>
          <p:cNvSpPr>
            <a:spLocks noGrp="1"/>
          </p:cNvSpPr>
          <p:nvPr>
            <p:ph type="title"/>
          </p:nvPr>
        </p:nvSpPr>
        <p:spPr>
          <a:xfrm>
            <a:off x="4866968" y="914400"/>
            <a:ext cx="6627924" cy="733647"/>
          </a:xfrm>
        </p:spPr>
        <p:txBody>
          <a:bodyPr vert="horz" lIns="91440" tIns="45720" rIns="91440" bIns="45720" rtlCol="0" anchor="t">
            <a:normAutofit/>
          </a:bodyPr>
          <a:lstStyle/>
          <a:p>
            <a:r>
              <a:rPr lang="en-US" dirty="0"/>
              <a:t>Brief History of Sociology</a:t>
            </a:r>
          </a:p>
        </p:txBody>
      </p:sp>
      <p:pic>
        <p:nvPicPr>
          <p:cNvPr id="5" name="Content Placeholder 4" descr="Phrenology bust with old leather bound books.">
            <a:extLst>
              <a:ext uri="{FF2B5EF4-FFF2-40B4-BE49-F238E27FC236}">
                <a16:creationId xmlns:a16="http://schemas.microsoft.com/office/drawing/2014/main" id="{E7585E61-E8FB-4649-ADCB-1070F15FF543}"/>
              </a:ext>
            </a:extLst>
          </p:cNvPr>
          <p:cNvPicPr>
            <a:picLocks noGrp="1" noChangeAspect="1"/>
          </p:cNvPicPr>
          <p:nvPr>
            <p:ph sz="half" idx="1"/>
          </p:nvPr>
        </p:nvPicPr>
        <p:blipFill>
          <a:blip r:embed="rId3"/>
          <a:srcRect l="36458" r="22710" b="2"/>
          <a:stretch/>
        </p:blipFill>
        <p:spPr>
          <a:xfrm>
            <a:off x="0" y="269150"/>
            <a:ext cx="3575306" cy="5844571"/>
          </a:xfrm>
          <a:prstGeom prst="rect">
            <a:avLst/>
          </a:prstGeom>
        </p:spPr>
      </p:pic>
      <p:sp>
        <p:nvSpPr>
          <p:cNvPr id="4" name="Content Placeholder 3">
            <a:extLst>
              <a:ext uri="{FF2B5EF4-FFF2-40B4-BE49-F238E27FC236}">
                <a16:creationId xmlns:a16="http://schemas.microsoft.com/office/drawing/2014/main" id="{9B68BC21-7FED-5EE4-EB3C-B8DECA8789C1}"/>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785191" y="2221992"/>
            <a:ext cx="8406809" cy="3739896"/>
          </a:xfrm>
        </p:spPr>
        <p:txBody>
          <a:bodyPr>
            <a:normAutofit/>
          </a:bodyPr>
          <a:lstStyle/>
          <a:p>
            <a:pPr marL="0" indent="0">
              <a:spcBef>
                <a:spcPts val="2500"/>
              </a:spcBef>
              <a:buNone/>
            </a:pPr>
            <a:r>
              <a:rPr lang="en-GB" sz="1400" b="1" dirty="0"/>
              <a:t>Auguste Comte</a:t>
            </a:r>
          </a:p>
          <a:p>
            <a:pPr marL="0" lvl="1" indent="0">
              <a:buNone/>
            </a:pPr>
            <a:r>
              <a:rPr lang="en-GB" sz="1400" dirty="0"/>
              <a:t>Auguste Comte is regarded as the father of sociology. He developed the concept of positivism, which is a scientific approach to understanding society and social </a:t>
            </a:r>
            <a:r>
              <a:rPr lang="en-GB" sz="1400" dirty="0" err="1"/>
              <a:t>behavior</a:t>
            </a:r>
            <a:r>
              <a:rPr lang="en-GB" sz="1400" dirty="0"/>
              <a:t>.</a:t>
            </a:r>
          </a:p>
          <a:p>
            <a:pPr marL="0" indent="0">
              <a:spcBef>
                <a:spcPts val="2500"/>
              </a:spcBef>
              <a:buNone/>
            </a:pPr>
            <a:r>
              <a:rPr lang="en-GB" sz="1400" b="1" dirty="0"/>
              <a:t>Emile Durkheim</a:t>
            </a:r>
          </a:p>
          <a:p>
            <a:pPr marL="0" lvl="1" indent="0">
              <a:buNone/>
            </a:pPr>
            <a:r>
              <a:rPr lang="en-GB" sz="1400" dirty="0"/>
              <a:t>Emile Durkheim is considered as one of the founding fathers of sociology. He created the first sociology department in France and his work on social solidarity and suicide is still widely studied today.</a:t>
            </a:r>
          </a:p>
          <a:p>
            <a:pPr marL="0" indent="0">
              <a:spcBef>
                <a:spcPts val="2500"/>
              </a:spcBef>
              <a:buNone/>
            </a:pPr>
            <a:r>
              <a:rPr lang="en-GB" sz="1400" b="1" dirty="0"/>
              <a:t>Max Weber</a:t>
            </a:r>
          </a:p>
          <a:p>
            <a:pPr marL="0" lvl="1" indent="0">
              <a:buNone/>
            </a:pPr>
            <a:r>
              <a:rPr lang="en-GB" sz="1400" dirty="0"/>
              <a:t>Max Weber is widely considered as one of the most important figures in the development of sociology. He is known for his work on bureaucracy, social stratification, and the relationship between religion and capitalism.</a:t>
            </a:r>
          </a:p>
        </p:txBody>
      </p:sp>
    </p:spTree>
    <p:extLst>
      <p:ext uri="{BB962C8B-B14F-4D97-AF65-F5344CB8AC3E}">
        <p14:creationId xmlns:p14="http://schemas.microsoft.com/office/powerpoint/2010/main" val="42801074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1F352-AEE9-4EF0-E0D8-EA1E21FD9B48}"/>
              </a:ext>
            </a:extLst>
          </p:cNvPr>
          <p:cNvSpPr>
            <a:spLocks noGrp="1"/>
          </p:cNvSpPr>
          <p:nvPr>
            <p:ph type="title"/>
          </p:nvPr>
        </p:nvSpPr>
        <p:spPr>
          <a:xfrm>
            <a:off x="4866968" y="914400"/>
            <a:ext cx="6627924" cy="1307592"/>
          </a:xfrm>
        </p:spPr>
        <p:txBody>
          <a:bodyPr vert="horz" lIns="91440" tIns="45720" rIns="91440" bIns="45720" rtlCol="0" anchor="t">
            <a:normAutofit/>
          </a:bodyPr>
          <a:lstStyle/>
          <a:p>
            <a:r>
              <a:rPr lang="en-US"/>
              <a:t>Key Sociological Theories</a:t>
            </a:r>
          </a:p>
        </p:txBody>
      </p:sp>
      <p:pic>
        <p:nvPicPr>
          <p:cNvPr id="5" name="Content Placeholder 4" descr="Multi colored push pins are connected by black thread on a white background symbolizing themes such as communication and connectivity.">
            <a:extLst>
              <a:ext uri="{FF2B5EF4-FFF2-40B4-BE49-F238E27FC236}">
                <a16:creationId xmlns:a16="http://schemas.microsoft.com/office/drawing/2014/main" id="{29C8D6D9-6E9D-4C88-8C12-6FB65680FBB1}"/>
              </a:ext>
            </a:extLst>
          </p:cNvPr>
          <p:cNvPicPr>
            <a:picLocks noGrp="1" noChangeAspect="1"/>
          </p:cNvPicPr>
          <p:nvPr>
            <p:ph sz="half" idx="1"/>
          </p:nvPr>
        </p:nvPicPr>
        <p:blipFill>
          <a:blip r:embed="rId3"/>
          <a:srcRect l="8335" r="50832" b="2"/>
          <a:stretch/>
        </p:blipFill>
        <p:spPr>
          <a:xfrm>
            <a:off x="0" y="109662"/>
            <a:ext cx="3658040" cy="5979817"/>
          </a:xfrm>
          <a:prstGeom prst="rect">
            <a:avLst/>
          </a:prstGeom>
        </p:spPr>
      </p:pic>
      <p:sp>
        <p:nvSpPr>
          <p:cNvPr id="4" name="Content Placeholder 3">
            <a:extLst>
              <a:ext uri="{FF2B5EF4-FFF2-40B4-BE49-F238E27FC236}">
                <a16:creationId xmlns:a16="http://schemas.microsoft.com/office/drawing/2014/main" id="{06A140B1-2522-236D-96F4-DD52265CBADF}"/>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902149" y="2221992"/>
            <a:ext cx="7592743" cy="3739896"/>
          </a:xfrm>
        </p:spPr>
        <p:txBody>
          <a:bodyPr>
            <a:normAutofit/>
          </a:bodyPr>
          <a:lstStyle/>
          <a:p>
            <a:pPr marL="0" indent="0">
              <a:spcBef>
                <a:spcPts val="2500"/>
              </a:spcBef>
              <a:buNone/>
            </a:pPr>
            <a:r>
              <a:rPr lang="en-GB" sz="1400" b="1" dirty="0"/>
              <a:t>Functionalism</a:t>
            </a:r>
          </a:p>
          <a:p>
            <a:pPr marL="0" lvl="1" indent="0">
              <a:buNone/>
            </a:pPr>
            <a:r>
              <a:rPr lang="en-GB" sz="1400" dirty="0"/>
              <a:t>A sociological theory that views society as a complex system of interdependent parts that work together to maintain social order and stability.</a:t>
            </a:r>
          </a:p>
          <a:p>
            <a:pPr marL="0" indent="0">
              <a:spcBef>
                <a:spcPts val="2500"/>
              </a:spcBef>
              <a:buNone/>
            </a:pPr>
            <a:r>
              <a:rPr lang="en-GB" sz="1400" b="1" dirty="0"/>
              <a:t>Conflict Theory</a:t>
            </a:r>
          </a:p>
          <a:p>
            <a:pPr marL="0" lvl="1" indent="0">
              <a:buNone/>
            </a:pPr>
            <a:r>
              <a:rPr lang="en-GB" sz="1400" dirty="0"/>
              <a:t>A sociological perspective that views society as a struggle for power between different groups, with resources and wealth being unequally distributed.</a:t>
            </a:r>
          </a:p>
          <a:p>
            <a:pPr marL="0" indent="0">
              <a:spcBef>
                <a:spcPts val="2500"/>
              </a:spcBef>
              <a:buNone/>
            </a:pPr>
            <a:r>
              <a:rPr lang="en-GB" sz="1400" b="1" dirty="0"/>
              <a:t>Symbolic Interactionism</a:t>
            </a:r>
          </a:p>
          <a:p>
            <a:pPr marL="0" lvl="1" indent="0">
              <a:buNone/>
            </a:pPr>
            <a:r>
              <a:rPr lang="en-GB" sz="1400" dirty="0"/>
              <a:t>A sociological perspective that focuses on the ways in which people create and maintain social meaning through language, gestures, and symbols.</a:t>
            </a:r>
          </a:p>
        </p:txBody>
      </p:sp>
    </p:spTree>
    <p:extLst>
      <p:ext uri="{BB962C8B-B14F-4D97-AF65-F5344CB8AC3E}">
        <p14:creationId xmlns:p14="http://schemas.microsoft.com/office/powerpoint/2010/main" val="40009117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BCA9C-9F0E-C1E6-B96E-D4358BBFD443}"/>
              </a:ext>
            </a:extLst>
          </p:cNvPr>
          <p:cNvSpPr>
            <a:spLocks noGrp="1"/>
          </p:cNvSpPr>
          <p:nvPr>
            <p:ph type="title"/>
          </p:nvPr>
        </p:nvSpPr>
        <p:spPr>
          <a:xfrm>
            <a:off x="495423" y="3976576"/>
            <a:ext cx="8531618" cy="1026899"/>
          </a:xfrm>
        </p:spPr>
        <p:txBody>
          <a:bodyPr vert="horz" lIns="91440" tIns="45720" rIns="91440" bIns="45720" rtlCol="0" anchor="b">
            <a:normAutofit/>
          </a:bodyPr>
          <a:lstStyle/>
          <a:p>
            <a:r>
              <a:rPr lang="en-US" sz="4800" dirty="0"/>
              <a:t>Biopsychosocial Model</a:t>
            </a:r>
          </a:p>
        </p:txBody>
      </p:sp>
    </p:spTree>
    <p:extLst>
      <p:ext uri="{BB962C8B-B14F-4D97-AF65-F5344CB8AC3E}">
        <p14:creationId xmlns:p14="http://schemas.microsoft.com/office/powerpoint/2010/main" val="6669770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B2994-69BB-24F0-96DF-5D40B9560887}"/>
              </a:ext>
            </a:extLst>
          </p:cNvPr>
          <p:cNvSpPr>
            <a:spLocks noGrp="1"/>
          </p:cNvSpPr>
          <p:nvPr>
            <p:ph type="title"/>
          </p:nvPr>
        </p:nvSpPr>
        <p:spPr>
          <a:xfrm>
            <a:off x="5257798" y="808075"/>
            <a:ext cx="6645349" cy="1097280"/>
          </a:xfrm>
        </p:spPr>
        <p:txBody>
          <a:bodyPr vert="horz" lIns="91440" tIns="45720" rIns="91440" bIns="45720" rtlCol="0" anchor="t">
            <a:normAutofit/>
          </a:bodyPr>
          <a:lstStyle/>
          <a:p>
            <a:pPr algn="ctr">
              <a:lnSpc>
                <a:spcPct val="90000"/>
              </a:lnSpc>
            </a:pPr>
            <a:r>
              <a:rPr lang="en-US" sz="3100" dirty="0"/>
              <a:t>Overview of </a:t>
            </a:r>
            <a:br>
              <a:rPr lang="en-US" sz="3100" dirty="0"/>
            </a:br>
            <a:r>
              <a:rPr lang="en-US" sz="3100" dirty="0"/>
              <a:t>the Biopsychosocial Model</a:t>
            </a:r>
          </a:p>
        </p:txBody>
      </p:sp>
      <p:pic>
        <p:nvPicPr>
          <p:cNvPr id="5" name="Content Placeholder 4" descr="People symbols floating in bubbles keeping apart from each other.">
            <a:extLst>
              <a:ext uri="{FF2B5EF4-FFF2-40B4-BE49-F238E27FC236}">
                <a16:creationId xmlns:a16="http://schemas.microsoft.com/office/drawing/2014/main" id="{6FE04EA8-AD2F-4F5F-B596-6129A0530770}"/>
              </a:ext>
            </a:extLst>
          </p:cNvPr>
          <p:cNvPicPr>
            <a:picLocks noGrp="1" noChangeAspect="1"/>
          </p:cNvPicPr>
          <p:nvPr>
            <p:ph sz="half" idx="1"/>
          </p:nvPr>
        </p:nvPicPr>
        <p:blipFill>
          <a:blip r:embed="rId3"/>
          <a:srcRect l="11987" r="18064" b="-2"/>
          <a:stretch/>
        </p:blipFill>
        <p:spPr>
          <a:xfrm>
            <a:off x="265814" y="2139271"/>
            <a:ext cx="4400242" cy="3538515"/>
          </a:xfrm>
          <a:prstGeom prst="rect">
            <a:avLst/>
          </a:prstGeom>
        </p:spPr>
      </p:pic>
      <p:sp>
        <p:nvSpPr>
          <p:cNvPr id="4" name="Content Placeholder 3">
            <a:extLst>
              <a:ext uri="{FF2B5EF4-FFF2-40B4-BE49-F238E27FC236}">
                <a16:creationId xmlns:a16="http://schemas.microsoft.com/office/drawing/2014/main" id="{7B970AF0-5FF7-09F5-5592-55E597AA0549}"/>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50462" y="2388688"/>
            <a:ext cx="7060019" cy="2970122"/>
          </a:xfrm>
        </p:spPr>
        <p:txBody>
          <a:bodyPr>
            <a:normAutofit/>
          </a:bodyPr>
          <a:lstStyle/>
          <a:p>
            <a:pPr marL="0" indent="0">
              <a:spcBef>
                <a:spcPts val="2500"/>
              </a:spcBef>
              <a:buNone/>
            </a:pPr>
            <a:r>
              <a:rPr lang="en-GB" sz="1600" b="1" dirty="0">
                <a:latin typeface="Arial" panose="020B0604020202020204" pitchFamily="34" charset="0"/>
                <a:cs typeface="Arial" panose="020B0604020202020204" pitchFamily="34" charset="0"/>
              </a:rPr>
              <a:t>Definition of Biopsychosocial Model</a:t>
            </a:r>
          </a:p>
          <a:p>
            <a:pPr marL="0" lvl="1" indent="0">
              <a:buNone/>
            </a:pPr>
            <a:r>
              <a:rPr lang="en-GB" sz="1600" dirty="0">
                <a:latin typeface="Arial" panose="020B0604020202020204" pitchFamily="34" charset="0"/>
                <a:cs typeface="Arial" panose="020B0604020202020204" pitchFamily="34" charset="0"/>
              </a:rPr>
              <a:t>The biopsychosocial model recognizes that health and illness are shaped by biological, psychological, and social factors.</a:t>
            </a:r>
          </a:p>
          <a:p>
            <a:pPr marL="0" indent="0">
              <a:spcBef>
                <a:spcPts val="2500"/>
              </a:spcBef>
              <a:buNone/>
            </a:pPr>
            <a:r>
              <a:rPr lang="en-GB" sz="1600" b="1" dirty="0">
                <a:latin typeface="Arial" panose="020B0604020202020204" pitchFamily="34" charset="0"/>
                <a:cs typeface="Arial" panose="020B0604020202020204" pitchFamily="34" charset="0"/>
              </a:rPr>
              <a:t>Whole Person Approach</a:t>
            </a:r>
          </a:p>
          <a:p>
            <a:pPr marL="0" lvl="1" indent="0">
              <a:buNone/>
            </a:pPr>
            <a:r>
              <a:rPr lang="en-GB" sz="1600" dirty="0">
                <a:latin typeface="Arial" panose="020B0604020202020204" pitchFamily="34" charset="0"/>
                <a:cs typeface="Arial" panose="020B0604020202020204" pitchFamily="34" charset="0"/>
              </a:rPr>
              <a:t>The biopsychosocial model considers the whole person</a:t>
            </a:r>
          </a:p>
        </p:txBody>
      </p:sp>
    </p:spTree>
    <p:extLst>
      <p:ext uri="{BB962C8B-B14F-4D97-AF65-F5344CB8AC3E}">
        <p14:creationId xmlns:p14="http://schemas.microsoft.com/office/powerpoint/2010/main" val="38586440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F8CE2-DF4A-00DB-EA25-BAABF952964B}"/>
              </a:ext>
            </a:extLst>
          </p:cNvPr>
          <p:cNvSpPr>
            <a:spLocks noGrp="1"/>
          </p:cNvSpPr>
          <p:nvPr>
            <p:ph type="title"/>
          </p:nvPr>
        </p:nvSpPr>
        <p:spPr>
          <a:xfrm>
            <a:off x="5364776" y="722657"/>
            <a:ext cx="5729645" cy="1058899"/>
          </a:xfrm>
        </p:spPr>
        <p:txBody>
          <a:bodyPr vert="horz" lIns="91440" tIns="45720" rIns="91440" bIns="45720" rtlCol="0" anchor="b">
            <a:normAutofit/>
          </a:bodyPr>
          <a:lstStyle/>
          <a:p>
            <a:pPr algn="ctr">
              <a:lnSpc>
                <a:spcPct val="90000"/>
              </a:lnSpc>
            </a:pPr>
            <a:r>
              <a:rPr lang="en-US" sz="3100" dirty="0"/>
              <a:t>Relevance to Health and Human Behavior</a:t>
            </a:r>
          </a:p>
        </p:txBody>
      </p:sp>
      <p:pic>
        <p:nvPicPr>
          <p:cNvPr id="5" name="Content Placeholder 4" descr="Business people are merging two puzzle pieces.">
            <a:extLst>
              <a:ext uri="{FF2B5EF4-FFF2-40B4-BE49-F238E27FC236}">
                <a16:creationId xmlns:a16="http://schemas.microsoft.com/office/drawing/2014/main" id="{5DE94EE4-C0B2-403B-8CAB-D2F6EA5E5FCA}"/>
              </a:ext>
            </a:extLst>
          </p:cNvPr>
          <p:cNvPicPr>
            <a:picLocks noGrp="1" noChangeAspect="1"/>
          </p:cNvPicPr>
          <p:nvPr>
            <p:ph sz="half" idx="1"/>
          </p:nvPr>
        </p:nvPicPr>
        <p:blipFill>
          <a:blip r:embed="rId3"/>
          <a:srcRect l="8452" r="2" b="2"/>
          <a:stretch/>
        </p:blipFill>
        <p:spPr>
          <a:xfrm>
            <a:off x="87682" y="1622829"/>
            <a:ext cx="4645123" cy="3843251"/>
          </a:xfrm>
          <a:prstGeom prst="rect">
            <a:avLst/>
          </a:prstGeom>
        </p:spPr>
      </p:pic>
      <p:sp>
        <p:nvSpPr>
          <p:cNvPr id="4" name="Content Placeholder 3">
            <a:extLst>
              <a:ext uri="{FF2B5EF4-FFF2-40B4-BE49-F238E27FC236}">
                <a16:creationId xmlns:a16="http://schemas.microsoft.com/office/drawing/2014/main" id="{FB6F981E-3A97-EF44-7093-DEAB60328B4B}"/>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242947" y="2121590"/>
            <a:ext cx="6861371" cy="3152160"/>
          </a:xfrm>
        </p:spPr>
        <p:txBody>
          <a:bodyPr>
            <a:noAutofit/>
          </a:bodyPr>
          <a:lstStyle/>
          <a:p>
            <a:pPr marL="0" indent="0">
              <a:spcBef>
                <a:spcPts val="2500"/>
              </a:spcBef>
              <a:buNone/>
            </a:pPr>
            <a:endParaRPr lang="en-GB" sz="2800" b="1" dirty="0"/>
          </a:p>
          <a:p>
            <a:pPr marL="0" lvl="1" indent="0">
              <a:buNone/>
            </a:pPr>
            <a:r>
              <a:rPr lang="en-GB" sz="2800" dirty="0"/>
              <a:t>The biopsychosocial model recognizes the complex interplay of factors that influence our well-being, including social determinants of health, psychological and biological factors.</a:t>
            </a:r>
          </a:p>
        </p:txBody>
      </p:sp>
    </p:spTree>
    <p:extLst>
      <p:ext uri="{BB962C8B-B14F-4D97-AF65-F5344CB8AC3E}">
        <p14:creationId xmlns:p14="http://schemas.microsoft.com/office/powerpoint/2010/main" val="32302771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97020-342B-4932-1F3C-1D3F5D3B1C47}"/>
              </a:ext>
            </a:extLst>
          </p:cNvPr>
          <p:cNvSpPr>
            <a:spLocks noGrp="1"/>
          </p:cNvSpPr>
          <p:nvPr>
            <p:ph type="title"/>
          </p:nvPr>
        </p:nvSpPr>
        <p:spPr>
          <a:xfrm>
            <a:off x="5135524" y="723014"/>
            <a:ext cx="6501807" cy="1095522"/>
          </a:xfrm>
        </p:spPr>
        <p:txBody>
          <a:bodyPr vert="horz" lIns="91440" tIns="45720" rIns="91440" bIns="45720" rtlCol="0" anchor="b">
            <a:normAutofit/>
          </a:bodyPr>
          <a:lstStyle/>
          <a:p>
            <a:pPr algn="ctr">
              <a:lnSpc>
                <a:spcPct val="90000"/>
              </a:lnSpc>
            </a:pPr>
            <a:r>
              <a:rPr lang="en-US" sz="2500" dirty="0"/>
              <a:t>Interaction of Biological, Psychological, and Social Factors</a:t>
            </a:r>
          </a:p>
        </p:txBody>
      </p:sp>
      <p:pic>
        <p:nvPicPr>
          <p:cNvPr id="5" name="Content Placeholder 4" descr="Using pins and string, make the globe shape">
            <a:extLst>
              <a:ext uri="{FF2B5EF4-FFF2-40B4-BE49-F238E27FC236}">
                <a16:creationId xmlns:a16="http://schemas.microsoft.com/office/drawing/2014/main" id="{03500898-ABD2-4F0C-853D-125679452A7D}"/>
              </a:ext>
            </a:extLst>
          </p:cNvPr>
          <p:cNvPicPr>
            <a:picLocks noGrp="1" noChangeAspect="1"/>
          </p:cNvPicPr>
          <p:nvPr>
            <p:ph sz="half" idx="1"/>
          </p:nvPr>
        </p:nvPicPr>
        <p:blipFill>
          <a:blip r:embed="rId3"/>
          <a:srcRect l="1695" r="8525"/>
          <a:stretch/>
        </p:blipFill>
        <p:spPr>
          <a:xfrm>
            <a:off x="85080" y="2704751"/>
            <a:ext cx="4821198" cy="3409950"/>
          </a:xfrm>
          <a:prstGeom prst="rect">
            <a:avLst/>
          </a:prstGeom>
        </p:spPr>
      </p:pic>
      <p:sp>
        <p:nvSpPr>
          <p:cNvPr id="4" name="Content Placeholder 3">
            <a:extLst>
              <a:ext uri="{FF2B5EF4-FFF2-40B4-BE49-F238E27FC236}">
                <a16:creationId xmlns:a16="http://schemas.microsoft.com/office/drawing/2014/main" id="{B3C38B24-A4BA-167D-3AC0-83051A75CA25}"/>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35524" y="2337833"/>
            <a:ext cx="6501808" cy="2457451"/>
          </a:xfrm>
        </p:spPr>
        <p:txBody>
          <a:bodyPr>
            <a:normAutofit/>
          </a:bodyPr>
          <a:lstStyle/>
          <a:p>
            <a:pPr marL="0" indent="0">
              <a:spcBef>
                <a:spcPts val="2500"/>
              </a:spcBef>
              <a:buNone/>
            </a:pPr>
            <a:endParaRPr lang="en-GB" sz="1600" b="1" dirty="0">
              <a:latin typeface="Arial" panose="020B0604020202020204" pitchFamily="34" charset="0"/>
              <a:cs typeface="Arial" panose="020B0604020202020204" pitchFamily="34" charset="0"/>
            </a:endParaRPr>
          </a:p>
          <a:p>
            <a:pPr marL="0" lvl="1" indent="0">
              <a:buNone/>
            </a:pPr>
            <a:r>
              <a:rPr lang="en-GB" sz="1600" dirty="0">
                <a:latin typeface="Arial" panose="020B0604020202020204" pitchFamily="34" charset="0"/>
                <a:cs typeface="Arial" panose="020B0604020202020204" pitchFamily="34" charset="0"/>
              </a:rPr>
              <a:t>The biopsychosocial model recognizes the interaction of biological, psychological, and social factors in health and behaviour. This holistic approach considers the whole person and the complex interplay of factors that influence well-being.</a:t>
            </a:r>
          </a:p>
        </p:txBody>
      </p:sp>
    </p:spTree>
    <p:extLst>
      <p:ext uri="{BB962C8B-B14F-4D97-AF65-F5344CB8AC3E}">
        <p14:creationId xmlns:p14="http://schemas.microsoft.com/office/powerpoint/2010/main" val="24111696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0C276-5CC9-03EA-3652-F8DDF04D0FE1}"/>
              </a:ext>
            </a:extLst>
          </p:cNvPr>
          <p:cNvSpPr>
            <a:spLocks noGrp="1"/>
          </p:cNvSpPr>
          <p:nvPr>
            <p:ph type="title"/>
          </p:nvPr>
        </p:nvSpPr>
        <p:spPr>
          <a:xfrm>
            <a:off x="420994" y="3742659"/>
            <a:ext cx="8584781" cy="1324611"/>
          </a:xfrm>
        </p:spPr>
        <p:txBody>
          <a:bodyPr vert="horz" lIns="91440" tIns="45720" rIns="91440" bIns="45720" rtlCol="0" anchor="b">
            <a:normAutofit/>
          </a:bodyPr>
          <a:lstStyle/>
          <a:p>
            <a:r>
              <a:rPr lang="en-US" sz="4800" dirty="0"/>
              <a:t>Social Factors in Health</a:t>
            </a:r>
          </a:p>
        </p:txBody>
      </p:sp>
    </p:spTree>
    <p:extLst>
      <p:ext uri="{BB962C8B-B14F-4D97-AF65-F5344CB8AC3E}">
        <p14:creationId xmlns:p14="http://schemas.microsoft.com/office/powerpoint/2010/main" val="2077333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F4673-F447-6071-9ACF-CA83AA889322}"/>
              </a:ext>
            </a:extLst>
          </p:cNvPr>
          <p:cNvSpPr>
            <a:spLocks noGrp="1"/>
          </p:cNvSpPr>
          <p:nvPr>
            <p:ph type="title"/>
          </p:nvPr>
        </p:nvSpPr>
        <p:spPr>
          <a:xfrm>
            <a:off x="5749446" y="914400"/>
            <a:ext cx="5781562" cy="1097280"/>
          </a:xfrm>
        </p:spPr>
        <p:txBody>
          <a:bodyPr vert="horz" lIns="91440" tIns="45720" rIns="91440" bIns="45720" rtlCol="0" anchor="t">
            <a:normAutofit/>
          </a:bodyPr>
          <a:lstStyle/>
          <a:p>
            <a:pPr algn="ctr">
              <a:lnSpc>
                <a:spcPct val="90000"/>
              </a:lnSpc>
            </a:pPr>
            <a:r>
              <a:rPr lang="en-US" sz="2800" dirty="0"/>
              <a:t>Impact of Socioeconomic Status and Culture</a:t>
            </a:r>
          </a:p>
        </p:txBody>
      </p:sp>
      <p:pic>
        <p:nvPicPr>
          <p:cNvPr id="5" name="Content Placeholder 4" descr="A businessman and businesswoman stand on opposite ends of a perfectly balanced seesaw. Each is standing and smiling at the camera. They ate isolated on a white background. There is room for text.">
            <a:extLst>
              <a:ext uri="{FF2B5EF4-FFF2-40B4-BE49-F238E27FC236}">
                <a16:creationId xmlns:a16="http://schemas.microsoft.com/office/drawing/2014/main" id="{38C77451-7AB3-465B-8B4C-B25AD56E442D}"/>
              </a:ext>
            </a:extLst>
          </p:cNvPr>
          <p:cNvPicPr>
            <a:picLocks noGrp="1" noChangeAspect="1"/>
          </p:cNvPicPr>
          <p:nvPr>
            <p:ph sz="half" idx="1"/>
          </p:nvPr>
        </p:nvPicPr>
        <p:blipFill>
          <a:blip r:embed="rId3"/>
          <a:srcRect l="3084" r="852" b="-2"/>
          <a:stretch/>
        </p:blipFill>
        <p:spPr>
          <a:xfrm>
            <a:off x="86833" y="2011680"/>
            <a:ext cx="4340105" cy="3490155"/>
          </a:xfrm>
          <a:prstGeom prst="rect">
            <a:avLst/>
          </a:prstGeom>
        </p:spPr>
      </p:pic>
      <p:sp>
        <p:nvSpPr>
          <p:cNvPr id="4" name="Content Placeholder 3">
            <a:extLst>
              <a:ext uri="{FF2B5EF4-FFF2-40B4-BE49-F238E27FC236}">
                <a16:creationId xmlns:a16="http://schemas.microsoft.com/office/drawing/2014/main" id="{ED4A8FB3-01DE-E8CF-F013-36329D52B567}"/>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742121" y="2176036"/>
            <a:ext cx="7363046" cy="3629341"/>
          </a:xfrm>
        </p:spPr>
        <p:txBody>
          <a:bodyPr>
            <a:normAutofit/>
          </a:bodyPr>
          <a:lstStyle/>
          <a:p>
            <a:pPr marL="0" indent="0">
              <a:spcBef>
                <a:spcPts val="2500"/>
              </a:spcBef>
              <a:buNone/>
            </a:pPr>
            <a:r>
              <a:rPr lang="en-GB" sz="1800" b="1" dirty="0"/>
              <a:t>Socioeconomic Status Impact</a:t>
            </a:r>
          </a:p>
          <a:p>
            <a:pPr marL="0" lvl="1" indent="0">
              <a:buNone/>
            </a:pPr>
            <a:r>
              <a:rPr lang="en-GB" dirty="0"/>
              <a:t>Socioeconomic status has a significant impact on health outcomes, with individuals from lower socioeconomic backgrounds experiencing poorer health outcomes compared to those from higher socioeconomic backgrounds.</a:t>
            </a:r>
          </a:p>
          <a:p>
            <a:pPr marL="0" indent="0">
              <a:spcBef>
                <a:spcPts val="2500"/>
              </a:spcBef>
              <a:buNone/>
            </a:pPr>
            <a:r>
              <a:rPr lang="en-GB" sz="1800" b="1" dirty="0"/>
              <a:t>Culture Impact</a:t>
            </a:r>
          </a:p>
          <a:p>
            <a:pPr marL="0" lvl="1" indent="0">
              <a:buNone/>
            </a:pPr>
            <a:r>
              <a:rPr lang="en-GB" dirty="0"/>
              <a:t>Culture can influence beliefs about health and healthcare, affecting the way individuals seek healthcare and engage with healthcare providers.</a:t>
            </a:r>
          </a:p>
        </p:txBody>
      </p:sp>
    </p:spTree>
    <p:extLst>
      <p:ext uri="{BB962C8B-B14F-4D97-AF65-F5344CB8AC3E}">
        <p14:creationId xmlns:p14="http://schemas.microsoft.com/office/powerpoint/2010/main" val="72939758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E239C-C802-8C13-076E-A7A588A40F24}"/>
              </a:ext>
            </a:extLst>
          </p:cNvPr>
          <p:cNvSpPr>
            <a:spLocks noGrp="1"/>
          </p:cNvSpPr>
          <p:nvPr>
            <p:ph type="title"/>
          </p:nvPr>
        </p:nvSpPr>
        <p:spPr>
          <a:xfrm>
            <a:off x="640079" y="935665"/>
            <a:ext cx="7398135" cy="1097280"/>
          </a:xfrm>
        </p:spPr>
        <p:txBody>
          <a:bodyPr vert="horz" lIns="91440" tIns="45720" rIns="91440" bIns="45720" rtlCol="0" anchor="t">
            <a:normAutofit/>
          </a:bodyPr>
          <a:lstStyle/>
          <a:p>
            <a:pPr algn="ctr">
              <a:lnSpc>
                <a:spcPct val="90000"/>
              </a:lnSpc>
            </a:pPr>
            <a:r>
              <a:rPr lang="en-US" sz="2500" dirty="0"/>
              <a:t>Influence of Family Dynamics </a:t>
            </a:r>
            <a:br>
              <a:rPr lang="en-US" sz="2500" dirty="0"/>
            </a:br>
            <a:r>
              <a:rPr lang="en-US" sz="2500" dirty="0"/>
              <a:t>on Health Outcomes</a:t>
            </a:r>
          </a:p>
        </p:txBody>
      </p:sp>
      <p:pic>
        <p:nvPicPr>
          <p:cNvPr id="5" name="Content Placeholder 4" descr="Woman with two children, a boy and a baby girl is enjoying herself at home. The dog is with them">
            <a:extLst>
              <a:ext uri="{FF2B5EF4-FFF2-40B4-BE49-F238E27FC236}">
                <a16:creationId xmlns:a16="http://schemas.microsoft.com/office/drawing/2014/main" id="{E487D4A1-AF30-44E5-97AA-4C388B6F2DB0}"/>
              </a:ext>
            </a:extLst>
          </p:cNvPr>
          <p:cNvPicPr>
            <a:picLocks noGrp="1" noChangeAspect="1"/>
          </p:cNvPicPr>
          <p:nvPr>
            <p:ph sz="half" idx="1"/>
          </p:nvPr>
        </p:nvPicPr>
        <p:blipFill>
          <a:blip r:embed="rId3"/>
          <a:srcRect l="2698" r="15999" b="2"/>
          <a:stretch/>
        </p:blipFill>
        <p:spPr>
          <a:xfrm>
            <a:off x="8306694" y="2445489"/>
            <a:ext cx="3885306" cy="3189768"/>
          </a:xfrm>
          <a:prstGeom prst="rect">
            <a:avLst/>
          </a:prstGeom>
        </p:spPr>
      </p:pic>
      <p:sp>
        <p:nvSpPr>
          <p:cNvPr id="4" name="Content Placeholder 3">
            <a:extLst>
              <a:ext uri="{FF2B5EF4-FFF2-40B4-BE49-F238E27FC236}">
                <a16:creationId xmlns:a16="http://schemas.microsoft.com/office/drawing/2014/main" id="{302EC6C1-8335-841E-4F76-61A3B679EA0A}"/>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0079" y="2799861"/>
            <a:ext cx="7398135" cy="2481024"/>
          </a:xfrm>
        </p:spPr>
        <p:txBody>
          <a:bodyPr>
            <a:noAutofit/>
          </a:bodyPr>
          <a:lstStyle/>
          <a:p>
            <a:pPr marL="0" indent="0">
              <a:spcBef>
                <a:spcPts val="2500"/>
              </a:spcBef>
              <a:buNone/>
            </a:pPr>
            <a:r>
              <a:rPr lang="en-GB" sz="1600" b="1" dirty="0">
                <a:latin typeface="Arial" panose="020B0604020202020204" pitchFamily="34" charset="0"/>
                <a:cs typeface="Arial" panose="020B0604020202020204" pitchFamily="34" charset="0"/>
              </a:rPr>
              <a:t>Positive Family Relationships</a:t>
            </a:r>
          </a:p>
          <a:p>
            <a:pPr marL="0" lvl="1" indent="0">
              <a:buNone/>
            </a:pPr>
            <a:r>
              <a:rPr lang="en-GB" sz="1600" dirty="0">
                <a:latin typeface="Arial" panose="020B0604020202020204" pitchFamily="34" charset="0"/>
                <a:cs typeface="Arial" panose="020B0604020202020204" pitchFamily="34" charset="0"/>
              </a:rPr>
              <a:t>Positive family relationships and support can have a protective effect on health, improving overall physical and mental wellbeing.</a:t>
            </a:r>
          </a:p>
          <a:p>
            <a:pPr marL="0" indent="0">
              <a:spcBef>
                <a:spcPts val="2500"/>
              </a:spcBef>
              <a:buNone/>
            </a:pPr>
            <a:r>
              <a:rPr lang="en-GB" sz="1600" b="1" dirty="0">
                <a:latin typeface="Arial" panose="020B0604020202020204" pitchFamily="34" charset="0"/>
                <a:cs typeface="Arial" panose="020B0604020202020204" pitchFamily="34" charset="0"/>
              </a:rPr>
              <a:t>Negative Family Dynamics</a:t>
            </a:r>
          </a:p>
          <a:p>
            <a:pPr marL="0" lvl="1" indent="0">
              <a:buNone/>
            </a:pPr>
            <a:r>
              <a:rPr lang="en-GB" sz="1600" dirty="0">
                <a:latin typeface="Arial" panose="020B0604020202020204" pitchFamily="34" charset="0"/>
                <a:cs typeface="Arial" panose="020B0604020202020204" pitchFamily="34" charset="0"/>
              </a:rPr>
              <a:t>Negative family dynamics, such as conflict, abuse, and neglect, can have a negative impact on health, increasing the risk of mental health issues, chronic diseases, and mortality.</a:t>
            </a:r>
          </a:p>
        </p:txBody>
      </p:sp>
    </p:spTree>
    <p:extLst>
      <p:ext uri="{BB962C8B-B14F-4D97-AF65-F5344CB8AC3E}">
        <p14:creationId xmlns:p14="http://schemas.microsoft.com/office/powerpoint/2010/main" val="10022446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752CC-42DC-37FB-6D2C-8C36DFB061F7}"/>
              </a:ext>
            </a:extLst>
          </p:cNvPr>
          <p:cNvSpPr>
            <a:spLocks noGrp="1"/>
          </p:cNvSpPr>
          <p:nvPr>
            <p:ph type="title"/>
          </p:nvPr>
        </p:nvSpPr>
        <p:spPr>
          <a:xfrm>
            <a:off x="640079" y="914400"/>
            <a:ext cx="7302442" cy="1097280"/>
          </a:xfrm>
        </p:spPr>
        <p:txBody>
          <a:bodyPr vert="horz" lIns="91440" tIns="45720" rIns="91440" bIns="45720" rtlCol="0" anchor="t">
            <a:normAutofit/>
          </a:bodyPr>
          <a:lstStyle/>
          <a:p>
            <a:pPr algn="ctr">
              <a:lnSpc>
                <a:spcPct val="90000"/>
              </a:lnSpc>
            </a:pPr>
            <a:r>
              <a:rPr lang="en-US" sz="2800" dirty="0"/>
              <a:t>Role of Social Support </a:t>
            </a:r>
            <a:br>
              <a:rPr lang="en-US" sz="2800" dirty="0"/>
            </a:br>
            <a:r>
              <a:rPr lang="en-US" sz="2800" dirty="0"/>
              <a:t>Networks and Community</a:t>
            </a:r>
          </a:p>
        </p:txBody>
      </p:sp>
      <p:pic>
        <p:nvPicPr>
          <p:cNvPr id="5" name="Content Placeholder 4" descr="Paper illustration of boys and girls silhouettes standing side by side creating a circle over white background">
            <a:extLst>
              <a:ext uri="{FF2B5EF4-FFF2-40B4-BE49-F238E27FC236}">
                <a16:creationId xmlns:a16="http://schemas.microsoft.com/office/drawing/2014/main" id="{5148DFB9-17D3-4E1F-B8F3-A5A7955D4143}"/>
              </a:ext>
            </a:extLst>
          </p:cNvPr>
          <p:cNvPicPr>
            <a:picLocks noGrp="1" noChangeAspect="1"/>
          </p:cNvPicPr>
          <p:nvPr>
            <p:ph sz="half" idx="1"/>
          </p:nvPr>
        </p:nvPicPr>
        <p:blipFill>
          <a:blip r:embed="rId3"/>
          <a:srcRect t="8622" r="-1" b="9279"/>
          <a:stretch/>
        </p:blipFill>
        <p:spPr>
          <a:xfrm>
            <a:off x="8345546" y="2434855"/>
            <a:ext cx="3846454" cy="3157871"/>
          </a:xfrm>
          <a:prstGeom prst="rect">
            <a:avLst/>
          </a:prstGeom>
        </p:spPr>
      </p:pic>
      <p:sp>
        <p:nvSpPr>
          <p:cNvPr id="4" name="Content Placeholder 3">
            <a:extLst>
              <a:ext uri="{FF2B5EF4-FFF2-40B4-BE49-F238E27FC236}">
                <a16:creationId xmlns:a16="http://schemas.microsoft.com/office/drawing/2014/main" id="{5D538BBB-3BBE-D360-A5EB-A107C50AC7F7}"/>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0079" y="2767961"/>
            <a:ext cx="7398135" cy="2491657"/>
          </a:xfrm>
        </p:spPr>
        <p:txBody>
          <a:bodyPr>
            <a:normAutofit/>
          </a:bodyPr>
          <a:lstStyle/>
          <a:p>
            <a:pPr marL="0" indent="0">
              <a:spcBef>
                <a:spcPts val="2500"/>
              </a:spcBef>
              <a:buNone/>
            </a:pPr>
            <a:r>
              <a:rPr lang="en-GB" sz="1600" b="1" dirty="0">
                <a:latin typeface="Arial" panose="020B0604020202020204" pitchFamily="34" charset="0"/>
                <a:cs typeface="Arial" panose="020B0604020202020204" pitchFamily="34" charset="0"/>
              </a:rPr>
              <a:t>Social Support Networks</a:t>
            </a:r>
          </a:p>
          <a:p>
            <a:pPr marL="0" lvl="1" indent="0">
              <a:buNone/>
            </a:pPr>
            <a:r>
              <a:rPr lang="en-GB" sz="1600" dirty="0">
                <a:latin typeface="Arial" panose="020B0604020202020204" pitchFamily="34" charset="0"/>
                <a:cs typeface="Arial" panose="020B0604020202020204" pitchFamily="34" charset="0"/>
              </a:rPr>
              <a:t>Social support networks can provide important emotional and practical support, which can contribute to improved health outcomes.</a:t>
            </a:r>
          </a:p>
          <a:p>
            <a:pPr marL="0" indent="0">
              <a:spcBef>
                <a:spcPts val="2500"/>
              </a:spcBef>
              <a:buNone/>
            </a:pPr>
            <a:r>
              <a:rPr lang="en-GB" sz="1600" b="1" dirty="0">
                <a:latin typeface="Arial" panose="020B0604020202020204" pitchFamily="34" charset="0"/>
                <a:cs typeface="Arial" panose="020B0604020202020204" pitchFamily="34" charset="0"/>
              </a:rPr>
              <a:t>Community Engagement</a:t>
            </a:r>
          </a:p>
          <a:p>
            <a:pPr marL="0" lvl="1" indent="0">
              <a:buNone/>
            </a:pPr>
            <a:r>
              <a:rPr lang="en-GB" sz="1600" dirty="0">
                <a:latin typeface="Arial" panose="020B0604020202020204" pitchFamily="34" charset="0"/>
                <a:cs typeface="Arial" panose="020B0604020202020204" pitchFamily="34" charset="0"/>
              </a:rPr>
              <a:t>Community engagement can promote social connectedness and well-being, leading to improved health outcomes.</a:t>
            </a:r>
          </a:p>
        </p:txBody>
      </p:sp>
    </p:spTree>
    <p:extLst>
      <p:ext uri="{BB962C8B-B14F-4D97-AF65-F5344CB8AC3E}">
        <p14:creationId xmlns:p14="http://schemas.microsoft.com/office/powerpoint/2010/main" val="6198733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EDBB0-7FFB-B7DE-B4F1-74025E78C1B0}"/>
              </a:ext>
            </a:extLst>
          </p:cNvPr>
          <p:cNvSpPr>
            <a:spLocks noGrp="1"/>
          </p:cNvSpPr>
          <p:nvPr>
            <p:ph type="title"/>
          </p:nvPr>
        </p:nvSpPr>
        <p:spPr>
          <a:xfrm>
            <a:off x="559219" y="2955851"/>
            <a:ext cx="8606046" cy="2030819"/>
          </a:xfrm>
        </p:spPr>
        <p:txBody>
          <a:bodyPr vert="horz" lIns="91440" tIns="45720" rIns="91440" bIns="45720" rtlCol="0" anchor="b">
            <a:normAutofit/>
          </a:bodyPr>
          <a:lstStyle/>
          <a:p>
            <a:r>
              <a:rPr lang="en-US" sz="4400" dirty="0"/>
              <a:t>Sociology And Biopsychosocial Approach</a:t>
            </a:r>
          </a:p>
        </p:txBody>
      </p:sp>
    </p:spTree>
    <p:extLst>
      <p:ext uri="{BB962C8B-B14F-4D97-AF65-F5344CB8AC3E}">
        <p14:creationId xmlns:p14="http://schemas.microsoft.com/office/powerpoint/2010/main" val="37454283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859F6-466D-EC37-8765-E76D01EE8D2E}"/>
              </a:ext>
            </a:extLst>
          </p:cNvPr>
          <p:cNvSpPr>
            <a:spLocks noGrp="1"/>
          </p:cNvSpPr>
          <p:nvPr>
            <p:ph type="title"/>
          </p:nvPr>
        </p:nvSpPr>
        <p:spPr>
          <a:xfrm>
            <a:off x="5582093" y="914400"/>
            <a:ext cx="5948915" cy="1097280"/>
          </a:xfrm>
        </p:spPr>
        <p:txBody>
          <a:bodyPr vert="horz" lIns="91440" tIns="45720" rIns="91440" bIns="45720" rtlCol="0" anchor="t">
            <a:normAutofit/>
          </a:bodyPr>
          <a:lstStyle/>
          <a:p>
            <a:pPr algn="ctr">
              <a:lnSpc>
                <a:spcPct val="90000"/>
              </a:lnSpc>
            </a:pPr>
            <a:r>
              <a:rPr lang="en-US" sz="2300" dirty="0"/>
              <a:t>Synthesis of Sociological Concepts and the Biopsychosocial Model</a:t>
            </a:r>
          </a:p>
        </p:txBody>
      </p:sp>
      <p:pic>
        <p:nvPicPr>
          <p:cNvPr id="5" name="Content Placeholder 4" descr="Young cute student drawing an atomic particle on screen">
            <a:extLst>
              <a:ext uri="{FF2B5EF4-FFF2-40B4-BE49-F238E27FC236}">
                <a16:creationId xmlns:a16="http://schemas.microsoft.com/office/drawing/2014/main" id="{00D17DBF-7940-49CB-9DF6-6D1BD16FBCEA}"/>
              </a:ext>
            </a:extLst>
          </p:cNvPr>
          <p:cNvPicPr>
            <a:picLocks noGrp="1" noChangeAspect="1"/>
          </p:cNvPicPr>
          <p:nvPr>
            <p:ph sz="half" idx="1"/>
          </p:nvPr>
        </p:nvPicPr>
        <p:blipFill>
          <a:blip r:embed="rId3"/>
          <a:srcRect r="17616"/>
          <a:stretch/>
        </p:blipFill>
        <p:spPr>
          <a:xfrm>
            <a:off x="74428" y="2339163"/>
            <a:ext cx="4468998" cy="3593806"/>
          </a:xfrm>
          <a:prstGeom prst="rect">
            <a:avLst/>
          </a:prstGeom>
        </p:spPr>
      </p:pic>
      <p:sp>
        <p:nvSpPr>
          <p:cNvPr id="4" name="Content Placeholder 3">
            <a:extLst>
              <a:ext uri="{FF2B5EF4-FFF2-40B4-BE49-F238E27FC236}">
                <a16:creationId xmlns:a16="http://schemas.microsoft.com/office/drawing/2014/main" id="{5E4139CB-E5BF-5AE1-9B31-462EC8DF4AB6}"/>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632251" y="2730749"/>
            <a:ext cx="7559749" cy="2810634"/>
          </a:xfrm>
        </p:spPr>
        <p:txBody>
          <a:bodyPr>
            <a:noAutofit/>
          </a:bodyPr>
          <a:lstStyle/>
          <a:p>
            <a:pPr marL="0" indent="0">
              <a:spcBef>
                <a:spcPts val="2500"/>
              </a:spcBef>
              <a:buNone/>
            </a:pPr>
            <a:r>
              <a:rPr lang="en-GB" sz="1600" b="1" dirty="0">
                <a:latin typeface="Arial" panose="020B0604020202020204" pitchFamily="34" charset="0"/>
                <a:cs typeface="Arial" panose="020B0604020202020204" pitchFamily="34" charset="0"/>
              </a:rPr>
              <a:t>Biopsychosocial Model</a:t>
            </a:r>
          </a:p>
          <a:p>
            <a:pPr marL="0" lvl="1" indent="0">
              <a:buNone/>
            </a:pPr>
            <a:r>
              <a:rPr lang="en-GB" sz="1600" dirty="0">
                <a:latin typeface="Arial" panose="020B0604020202020204" pitchFamily="34" charset="0"/>
                <a:cs typeface="Arial" panose="020B0604020202020204" pitchFamily="34" charset="0"/>
              </a:rPr>
              <a:t>The biopsychosocial model is a holistic approach to health that considers the interaction of biological, psychological, and social factors in shaping health outcomes.</a:t>
            </a:r>
          </a:p>
          <a:p>
            <a:pPr marL="0" indent="0">
              <a:spcBef>
                <a:spcPts val="2500"/>
              </a:spcBef>
              <a:buNone/>
            </a:pPr>
            <a:r>
              <a:rPr lang="en-GB" sz="1600" b="1" dirty="0">
                <a:latin typeface="Arial" panose="020B0604020202020204" pitchFamily="34" charset="0"/>
                <a:cs typeface="Arial" panose="020B0604020202020204" pitchFamily="34" charset="0"/>
              </a:rPr>
              <a:t>Sociological Concepts</a:t>
            </a:r>
          </a:p>
          <a:p>
            <a:pPr marL="0" lvl="1" indent="0">
              <a:buNone/>
            </a:pPr>
            <a:r>
              <a:rPr lang="en-GB" sz="1600" dirty="0">
                <a:latin typeface="Arial" panose="020B0604020202020204" pitchFamily="34" charset="0"/>
                <a:cs typeface="Arial" panose="020B0604020202020204" pitchFamily="34" charset="0"/>
              </a:rPr>
              <a:t>Sociological concepts, such as social determinants of health and social support, can deepen our understanding of the social factors that influence health outcomes.</a:t>
            </a:r>
          </a:p>
        </p:txBody>
      </p:sp>
    </p:spTree>
    <p:extLst>
      <p:ext uri="{BB962C8B-B14F-4D97-AF65-F5344CB8AC3E}">
        <p14:creationId xmlns:p14="http://schemas.microsoft.com/office/powerpoint/2010/main" val="204869606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7A879-B08F-A3D8-0524-ED50CEA4F355}"/>
              </a:ext>
            </a:extLst>
          </p:cNvPr>
          <p:cNvSpPr>
            <a:spLocks noGrp="1"/>
          </p:cNvSpPr>
          <p:nvPr>
            <p:ph type="title"/>
          </p:nvPr>
        </p:nvSpPr>
        <p:spPr>
          <a:xfrm>
            <a:off x="5029200" y="914400"/>
            <a:ext cx="6501810" cy="1097280"/>
          </a:xfrm>
        </p:spPr>
        <p:txBody>
          <a:bodyPr vert="horz" lIns="91440" tIns="45720" rIns="91440" bIns="45720" rtlCol="0" anchor="t">
            <a:normAutofit/>
          </a:bodyPr>
          <a:lstStyle/>
          <a:p>
            <a:pPr>
              <a:lnSpc>
                <a:spcPct val="90000"/>
              </a:lnSpc>
            </a:pPr>
            <a:r>
              <a:rPr lang="en-US" sz="3400"/>
              <a:t>Strengths and Limitations of Both Approaches</a:t>
            </a:r>
          </a:p>
        </p:txBody>
      </p:sp>
      <p:pic>
        <p:nvPicPr>
          <p:cNvPr id="5" name="Content Placeholder 4" descr="Arrow symbols written block cubes pointing the same direction on yellow background. Horizontal composition with selective focus and copy space. Teamwork concept.">
            <a:extLst>
              <a:ext uri="{FF2B5EF4-FFF2-40B4-BE49-F238E27FC236}">
                <a16:creationId xmlns:a16="http://schemas.microsoft.com/office/drawing/2014/main" id="{AA42F14E-89C3-491F-A8B8-1DA4CE754C9C}"/>
              </a:ext>
            </a:extLst>
          </p:cNvPr>
          <p:cNvPicPr>
            <a:picLocks noGrp="1" noChangeAspect="1"/>
          </p:cNvPicPr>
          <p:nvPr>
            <p:ph sz="half" idx="1"/>
          </p:nvPr>
        </p:nvPicPr>
        <p:blipFill>
          <a:blip r:embed="rId3"/>
          <a:srcRect l="22058" r="20605" b="-1"/>
          <a:stretch/>
        </p:blipFill>
        <p:spPr>
          <a:xfrm>
            <a:off x="20" y="914399"/>
            <a:ext cx="4416532" cy="5353523"/>
          </a:xfrm>
          <a:prstGeom prst="rect">
            <a:avLst/>
          </a:prstGeom>
        </p:spPr>
      </p:pic>
      <p:sp>
        <p:nvSpPr>
          <p:cNvPr id="4" name="Content Placeholder 3">
            <a:extLst>
              <a:ext uri="{FF2B5EF4-FFF2-40B4-BE49-F238E27FC236}">
                <a16:creationId xmlns:a16="http://schemas.microsoft.com/office/drawing/2014/main" id="{F0EEEC5A-09E2-74F7-287D-12552647B13F}"/>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19207" y="2526910"/>
            <a:ext cx="6921795" cy="2670285"/>
          </a:xfrm>
        </p:spPr>
        <p:txBody>
          <a:bodyPr>
            <a:normAutofit/>
          </a:bodyPr>
          <a:lstStyle/>
          <a:p>
            <a:pPr marL="0" indent="0">
              <a:spcBef>
                <a:spcPts val="2500"/>
              </a:spcBef>
              <a:buNone/>
            </a:pPr>
            <a:r>
              <a:rPr lang="en-GB" sz="1600" b="1" dirty="0">
                <a:latin typeface="Arial" panose="020B0604020202020204" pitchFamily="34" charset="0"/>
                <a:cs typeface="Arial" panose="020B0604020202020204" pitchFamily="34" charset="0"/>
              </a:rPr>
              <a:t>Sociology Approach</a:t>
            </a:r>
          </a:p>
          <a:p>
            <a:pPr marL="0" lvl="1" indent="0">
              <a:buNone/>
            </a:pPr>
            <a:r>
              <a:rPr lang="en-GB" sz="1600" dirty="0">
                <a:latin typeface="Arial" panose="020B0604020202020204" pitchFamily="34" charset="0"/>
                <a:cs typeface="Arial" panose="020B0604020202020204" pitchFamily="34" charset="0"/>
              </a:rPr>
              <a:t>This approach has strengths in highlighting the importance of social determinants of health but also limitations in ignoring biological and psychological factors.</a:t>
            </a:r>
          </a:p>
          <a:p>
            <a:pPr marL="0" indent="0">
              <a:spcBef>
                <a:spcPts val="2500"/>
              </a:spcBef>
              <a:buNone/>
            </a:pPr>
            <a:r>
              <a:rPr lang="en-GB" sz="1600" b="1" dirty="0">
                <a:latin typeface="Arial" panose="020B0604020202020204" pitchFamily="34" charset="0"/>
                <a:cs typeface="Arial" panose="020B0604020202020204" pitchFamily="34" charset="0"/>
              </a:rPr>
              <a:t>Biopsychosocial Model</a:t>
            </a:r>
          </a:p>
          <a:p>
            <a:pPr marL="0" lvl="1" indent="0">
              <a:buNone/>
            </a:pPr>
            <a:r>
              <a:rPr lang="en-GB" sz="1600" dirty="0">
                <a:latin typeface="Arial" panose="020B0604020202020204" pitchFamily="34" charset="0"/>
                <a:cs typeface="Arial" panose="020B0604020202020204" pitchFamily="34" charset="0"/>
              </a:rPr>
              <a:t>This approach has strengths in recognizing the complexity of health but also limitations in being difficult to operationalize and measure.</a:t>
            </a:r>
          </a:p>
        </p:txBody>
      </p:sp>
    </p:spTree>
    <p:extLst>
      <p:ext uri="{BB962C8B-B14F-4D97-AF65-F5344CB8AC3E}">
        <p14:creationId xmlns:p14="http://schemas.microsoft.com/office/powerpoint/2010/main" val="41589851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7D758-3F5E-CCE6-CF35-C1C8DA39BD05}"/>
              </a:ext>
            </a:extLst>
          </p:cNvPr>
          <p:cNvSpPr>
            <a:spLocks noGrp="1"/>
          </p:cNvSpPr>
          <p:nvPr>
            <p:ph type="title"/>
          </p:nvPr>
        </p:nvSpPr>
        <p:spPr>
          <a:xfrm>
            <a:off x="357201" y="3795823"/>
            <a:ext cx="7680960" cy="1260815"/>
          </a:xfrm>
        </p:spPr>
        <p:txBody>
          <a:bodyPr vert="horz" lIns="91440" tIns="45720" rIns="91440" bIns="45720" rtlCol="0" anchor="b">
            <a:normAutofit/>
          </a:bodyPr>
          <a:lstStyle/>
          <a:p>
            <a:r>
              <a:rPr lang="en-US" sz="4800" dirty="0"/>
              <a:t>A Holistic Perspective</a:t>
            </a:r>
          </a:p>
        </p:txBody>
      </p:sp>
    </p:spTree>
    <p:extLst>
      <p:ext uri="{BB962C8B-B14F-4D97-AF65-F5344CB8AC3E}">
        <p14:creationId xmlns:p14="http://schemas.microsoft.com/office/powerpoint/2010/main" val="82021358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27912-5A93-B6FF-8CF8-B76CC8F6B44F}"/>
              </a:ext>
            </a:extLst>
          </p:cNvPr>
          <p:cNvSpPr>
            <a:spLocks noGrp="1"/>
          </p:cNvSpPr>
          <p:nvPr>
            <p:ph type="title"/>
          </p:nvPr>
        </p:nvSpPr>
        <p:spPr>
          <a:xfrm>
            <a:off x="571179" y="744278"/>
            <a:ext cx="6466579" cy="1097280"/>
          </a:xfrm>
        </p:spPr>
        <p:txBody>
          <a:bodyPr vert="horz" lIns="91440" tIns="45720" rIns="91440" bIns="45720" rtlCol="0" anchor="t">
            <a:normAutofit/>
          </a:bodyPr>
          <a:lstStyle/>
          <a:p>
            <a:pPr algn="ctr">
              <a:lnSpc>
                <a:spcPct val="90000"/>
              </a:lnSpc>
            </a:pPr>
            <a:r>
              <a:rPr lang="en-US" sz="3600" dirty="0">
                <a:latin typeface="Arial" panose="020B0604020202020204" pitchFamily="34" charset="0"/>
                <a:cs typeface="Arial" panose="020B0604020202020204" pitchFamily="34" charset="0"/>
              </a:rPr>
              <a:t>Importance of a Holistic Approach</a:t>
            </a:r>
          </a:p>
        </p:txBody>
      </p:sp>
      <p:pic>
        <p:nvPicPr>
          <p:cNvPr id="5" name="Content Placeholder 4" descr="Blackboard Business Strategy Concept">
            <a:extLst>
              <a:ext uri="{FF2B5EF4-FFF2-40B4-BE49-F238E27FC236}">
                <a16:creationId xmlns:a16="http://schemas.microsoft.com/office/drawing/2014/main" id="{8E1BB609-0846-4362-85AE-1AD2DC4162E8}"/>
              </a:ext>
            </a:extLst>
          </p:cNvPr>
          <p:cNvPicPr>
            <a:picLocks noGrp="1" noChangeAspect="1"/>
          </p:cNvPicPr>
          <p:nvPr>
            <p:ph sz="half" idx="1"/>
          </p:nvPr>
        </p:nvPicPr>
        <p:blipFill>
          <a:blip r:embed="rId3"/>
          <a:srcRect l="999" r="8257" b="1"/>
          <a:stretch/>
        </p:blipFill>
        <p:spPr>
          <a:xfrm>
            <a:off x="7824569" y="2401149"/>
            <a:ext cx="4261104" cy="3498291"/>
          </a:xfrm>
          <a:prstGeom prst="rect">
            <a:avLst/>
          </a:prstGeom>
        </p:spPr>
      </p:pic>
      <p:sp>
        <p:nvSpPr>
          <p:cNvPr id="4" name="Content Placeholder 3">
            <a:extLst>
              <a:ext uri="{FF2B5EF4-FFF2-40B4-BE49-F238E27FC236}">
                <a16:creationId xmlns:a16="http://schemas.microsoft.com/office/drawing/2014/main" id="{EC5369DC-D289-0C9B-0B6D-4F97A31AC207}"/>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95529" y="2441870"/>
            <a:ext cx="7100423" cy="3257199"/>
          </a:xfrm>
        </p:spPr>
        <p:txBody>
          <a:bodyPr>
            <a:noAutofit/>
          </a:bodyPr>
          <a:lstStyle/>
          <a:p>
            <a:pPr marL="0" indent="0">
              <a:spcBef>
                <a:spcPts val="2500"/>
              </a:spcBef>
              <a:buNone/>
            </a:pPr>
            <a:r>
              <a:rPr lang="en-GB" sz="1600" b="1" dirty="0">
                <a:latin typeface="Arial" panose="020B0604020202020204" pitchFamily="34" charset="0"/>
                <a:cs typeface="Arial" panose="020B0604020202020204" pitchFamily="34" charset="0"/>
              </a:rPr>
              <a:t>Whole Person Approach</a:t>
            </a:r>
          </a:p>
          <a:p>
            <a:pPr marL="0" lvl="1" indent="0">
              <a:buNone/>
            </a:pPr>
            <a:r>
              <a:rPr lang="en-GB" sz="1600" dirty="0">
                <a:latin typeface="Arial" panose="020B0604020202020204" pitchFamily="34" charset="0"/>
                <a:cs typeface="Arial" panose="020B0604020202020204" pitchFamily="34" charset="0"/>
              </a:rPr>
              <a:t>A holistic approach considers the whole person, including their social, psychological, and biological context, to develop more effective interventions and promote better health outcomes.</a:t>
            </a:r>
          </a:p>
          <a:p>
            <a:pPr marL="0" indent="0">
              <a:spcBef>
                <a:spcPts val="2500"/>
              </a:spcBef>
              <a:buNone/>
            </a:pPr>
            <a:r>
              <a:rPr lang="en-GB" sz="1600" b="1" dirty="0">
                <a:latin typeface="Arial" panose="020B0604020202020204" pitchFamily="34" charset="0"/>
                <a:cs typeface="Arial" panose="020B0604020202020204" pitchFamily="34" charset="0"/>
              </a:rPr>
              <a:t>Complex Interplay of Factors</a:t>
            </a:r>
          </a:p>
          <a:p>
            <a:pPr marL="0" lvl="1" indent="0">
              <a:buNone/>
            </a:pPr>
            <a:r>
              <a:rPr lang="en-GB" sz="1600" dirty="0">
                <a:latin typeface="Arial" panose="020B0604020202020204" pitchFamily="34" charset="0"/>
                <a:cs typeface="Arial" panose="020B0604020202020204" pitchFamily="34" charset="0"/>
              </a:rPr>
              <a:t>A holistic approach recognizes the complex interplay of factors that influence health and well-being, including social determinants of health, psychological factors, and biological factors.</a:t>
            </a:r>
          </a:p>
        </p:txBody>
      </p:sp>
    </p:spTree>
    <p:extLst>
      <p:ext uri="{BB962C8B-B14F-4D97-AF65-F5344CB8AC3E}">
        <p14:creationId xmlns:p14="http://schemas.microsoft.com/office/powerpoint/2010/main" val="5826810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784EC-DFE0-035C-034D-EC8184B8784B}"/>
              </a:ext>
            </a:extLst>
          </p:cNvPr>
          <p:cNvSpPr>
            <a:spLocks noGrp="1"/>
          </p:cNvSpPr>
          <p:nvPr>
            <p:ph type="title"/>
          </p:nvPr>
        </p:nvSpPr>
        <p:spPr>
          <a:xfrm>
            <a:off x="4614531" y="670823"/>
            <a:ext cx="6937741" cy="1116787"/>
          </a:xfrm>
        </p:spPr>
        <p:txBody>
          <a:bodyPr vert="horz" lIns="91440" tIns="45720" rIns="91440" bIns="45720" rtlCol="0" anchor="b">
            <a:normAutofit/>
          </a:bodyPr>
          <a:lstStyle/>
          <a:p>
            <a:pPr algn="ctr">
              <a:lnSpc>
                <a:spcPct val="90000"/>
              </a:lnSpc>
            </a:pPr>
            <a:r>
              <a:rPr lang="en-US" sz="2800" dirty="0">
                <a:latin typeface="Arial" panose="020B0604020202020204" pitchFamily="34" charset="0"/>
                <a:cs typeface="Arial" panose="020B0604020202020204" pitchFamily="34" charset="0"/>
              </a:rPr>
              <a:t>Interdisciplinary Thinking in Healthcare and Social Sciences</a:t>
            </a:r>
          </a:p>
        </p:txBody>
      </p:sp>
      <p:pic>
        <p:nvPicPr>
          <p:cNvPr id="5" name="Content Placeholder 4" descr="A full length studio shot of a diverse group of adults from various professions">
            <a:extLst>
              <a:ext uri="{FF2B5EF4-FFF2-40B4-BE49-F238E27FC236}">
                <a16:creationId xmlns:a16="http://schemas.microsoft.com/office/drawing/2014/main" id="{89BB90EF-6710-4791-9C99-9FD48EE28750}"/>
              </a:ext>
            </a:extLst>
          </p:cNvPr>
          <p:cNvPicPr>
            <a:picLocks noGrp="1" noChangeAspect="1"/>
          </p:cNvPicPr>
          <p:nvPr>
            <p:ph sz="half" idx="1"/>
          </p:nvPr>
        </p:nvPicPr>
        <p:blipFill>
          <a:blip r:embed="rId3"/>
          <a:srcRect b="22490"/>
          <a:stretch/>
        </p:blipFill>
        <p:spPr>
          <a:xfrm>
            <a:off x="-1" y="1952179"/>
            <a:ext cx="5062418" cy="3580561"/>
          </a:xfrm>
          <a:prstGeom prst="rect">
            <a:avLst/>
          </a:prstGeom>
        </p:spPr>
      </p:pic>
      <p:sp>
        <p:nvSpPr>
          <p:cNvPr id="4" name="Content Placeholder 3">
            <a:extLst>
              <a:ext uri="{FF2B5EF4-FFF2-40B4-BE49-F238E27FC236}">
                <a16:creationId xmlns:a16="http://schemas.microsoft.com/office/drawing/2014/main" id="{C7403797-5570-1B28-4195-C38EC68E443E}"/>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26913" y="2786100"/>
            <a:ext cx="6685654" cy="2062348"/>
          </a:xfrm>
        </p:spPr>
        <p:txBody>
          <a:bodyPr>
            <a:normAutofit/>
          </a:bodyPr>
          <a:lstStyle/>
          <a:p>
            <a:pPr marL="0" indent="0">
              <a:spcBef>
                <a:spcPts val="2500"/>
              </a:spcBef>
              <a:buNone/>
            </a:pPr>
            <a:endParaRPr lang="en-GB" sz="1600" b="1" dirty="0">
              <a:latin typeface="Arial" panose="020B0604020202020204" pitchFamily="34" charset="0"/>
              <a:cs typeface="Arial" panose="020B0604020202020204" pitchFamily="34" charset="0"/>
            </a:endParaRPr>
          </a:p>
          <a:p>
            <a:pPr marL="0" lvl="1" indent="0">
              <a:buNone/>
            </a:pPr>
            <a:r>
              <a:rPr lang="en-GB" sz="1600" dirty="0">
                <a:latin typeface="Arial" panose="020B0604020202020204" pitchFamily="34" charset="0"/>
                <a:cs typeface="Arial" panose="020B0604020202020204" pitchFamily="34" charset="0"/>
              </a:rPr>
              <a:t>Interdisciplinary thinking is critical to a holistic approach to health, as it brings together different perspectives and expertise to gain a more comprehensive understanding of health and develop more effective interventions.</a:t>
            </a:r>
          </a:p>
        </p:txBody>
      </p:sp>
    </p:spTree>
    <p:extLst>
      <p:ext uri="{BB962C8B-B14F-4D97-AF65-F5344CB8AC3E}">
        <p14:creationId xmlns:p14="http://schemas.microsoft.com/office/powerpoint/2010/main" val="23805886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1087AFD-AB8A-5630-17C8-23320CE96386}"/>
              </a:ext>
            </a:extLst>
          </p:cNvPr>
          <p:cNvSpPr txBox="1"/>
          <p:nvPr/>
        </p:nvSpPr>
        <p:spPr>
          <a:xfrm>
            <a:off x="439478" y="597455"/>
            <a:ext cx="11426457" cy="5663089"/>
          </a:xfrm>
          <a:prstGeom prst="rect">
            <a:avLst/>
          </a:prstGeom>
          <a:noFill/>
        </p:spPr>
        <p:txBody>
          <a:bodyPr wrap="square">
            <a:spAutoFit/>
          </a:bodyPr>
          <a:lstStyle/>
          <a:p>
            <a:pPr algn="l" rtl="0"/>
            <a:r>
              <a:rPr lang="en-GB" sz="2800" b="0" i="0" dirty="0">
                <a:effectLst/>
                <a:latin typeface="Arial" panose="020B0604020202020204" pitchFamily="34" charset="0"/>
                <a:cs typeface="Arial" panose="020B0604020202020204" pitchFamily="34" charset="0"/>
              </a:rPr>
              <a:t>References</a:t>
            </a:r>
          </a:p>
          <a:p>
            <a:pPr algn="l" rtl="0"/>
            <a:endParaRPr lang="en-GB" sz="2800" b="0" i="0" dirty="0">
              <a:effectLst/>
              <a:latin typeface="Arial" panose="020B0604020202020204" pitchFamily="34" charset="0"/>
              <a:cs typeface="Arial" panose="020B0604020202020204" pitchFamily="34" charset="0"/>
            </a:endParaRPr>
          </a:p>
          <a:p>
            <a:pPr algn="l" rtl="0"/>
            <a:r>
              <a:rPr lang="en-GB" b="0" i="0" dirty="0" err="1">
                <a:effectLst/>
                <a:latin typeface="Arial" panose="020B0604020202020204" pitchFamily="34" charset="0"/>
                <a:cs typeface="Arial" panose="020B0604020202020204" pitchFamily="34" charset="0"/>
              </a:rPr>
              <a:t>Gatchel</a:t>
            </a:r>
            <a:r>
              <a:rPr lang="en-GB" b="0" i="0" dirty="0">
                <a:effectLst/>
                <a:latin typeface="Arial" panose="020B0604020202020204" pitchFamily="34" charset="0"/>
                <a:cs typeface="Arial" panose="020B0604020202020204" pitchFamily="34" charset="0"/>
              </a:rPr>
              <a:t>, Robert J., Peng, Yuan Bo, Peters, </a:t>
            </a:r>
            <a:r>
              <a:rPr lang="en-GB" b="0" i="0" dirty="0" err="1">
                <a:effectLst/>
                <a:latin typeface="Arial" panose="020B0604020202020204" pitchFamily="34" charset="0"/>
                <a:cs typeface="Arial" panose="020B0604020202020204" pitchFamily="34" charset="0"/>
              </a:rPr>
              <a:t>Madelon</a:t>
            </a:r>
            <a:r>
              <a:rPr lang="en-GB" b="0" i="0" dirty="0">
                <a:effectLst/>
                <a:latin typeface="Arial" panose="020B0604020202020204" pitchFamily="34" charset="0"/>
                <a:cs typeface="Arial" panose="020B0604020202020204" pitchFamily="34" charset="0"/>
              </a:rPr>
              <a:t>, L.; Fuchs, Perry, N.; Turk, Dennis C. 2007 The biopsychosocial approach to chronic pain: Scientific advances and future </a:t>
            </a:r>
            <a:r>
              <a:rPr lang="en-GB" b="0" i="0" dirty="0" err="1">
                <a:effectLst/>
                <a:latin typeface="Arial" panose="020B0604020202020204" pitchFamily="34" charset="0"/>
                <a:cs typeface="Arial" panose="020B0604020202020204" pitchFamily="34" charset="0"/>
              </a:rPr>
              <a:t>directionsfckLR</a:t>
            </a:r>
            <a:r>
              <a:rPr lang="en-GB" b="0" i="0" dirty="0">
                <a:effectLst/>
                <a:latin typeface="Arial" panose="020B0604020202020204" pitchFamily="34" charset="0"/>
                <a:cs typeface="Arial" panose="020B0604020202020204" pitchFamily="34" charset="0"/>
              </a:rPr>
              <a:t> Psychological Bulletin, Vol 133(4), 581-624</a:t>
            </a:r>
          </a:p>
          <a:p>
            <a:pPr algn="l" rtl="0"/>
            <a:r>
              <a:rPr lang="en-GB" b="0" i="0" dirty="0" err="1">
                <a:effectLst/>
                <a:latin typeface="Arial" panose="020B0604020202020204" pitchFamily="34" charset="0"/>
                <a:cs typeface="Arial" panose="020B0604020202020204" pitchFamily="34" charset="0"/>
              </a:rPr>
              <a:t>Miaskowski</a:t>
            </a:r>
            <a:r>
              <a:rPr lang="en-GB" b="0" i="0" dirty="0">
                <a:effectLst/>
                <a:latin typeface="Arial" panose="020B0604020202020204" pitchFamily="34" charset="0"/>
                <a:cs typeface="Arial" panose="020B0604020202020204" pitchFamily="34" charset="0"/>
              </a:rPr>
              <a:t> C, Blyth F, Nicosia F, </a:t>
            </a:r>
            <a:r>
              <a:rPr lang="en-GB" b="0" i="0" dirty="0" err="1">
                <a:effectLst/>
                <a:latin typeface="Arial" panose="020B0604020202020204" pitchFamily="34" charset="0"/>
                <a:cs typeface="Arial" panose="020B0604020202020204" pitchFamily="34" charset="0"/>
              </a:rPr>
              <a:t>Haan</a:t>
            </a:r>
            <a:r>
              <a:rPr lang="en-GB" b="0" i="0" dirty="0">
                <a:effectLst/>
                <a:latin typeface="Arial" panose="020B0604020202020204" pitchFamily="34" charset="0"/>
                <a:cs typeface="Arial" panose="020B0604020202020204" pitchFamily="34" charset="0"/>
              </a:rPr>
              <a:t> M, Keefe F, Smith A, Ritchie C. </a:t>
            </a:r>
            <a:r>
              <a:rPr lang="en-GB" b="0" i="0" u="none" strike="noStrike" dirty="0">
                <a:effectLst/>
                <a:latin typeface="Arial" panose="020B0604020202020204" pitchFamily="34" charset="0"/>
                <a:cs typeface="Arial" panose="020B0604020202020204" pitchFamily="34" charset="0"/>
              </a:rPr>
              <a:t>A biopsychosocial model of chronic pain for older adults</a:t>
            </a:r>
            <a:r>
              <a:rPr lang="en-GB" b="0" i="0" dirty="0">
                <a:effectLst/>
                <a:latin typeface="Arial" panose="020B0604020202020204" pitchFamily="34" charset="0"/>
                <a:cs typeface="Arial" panose="020B0604020202020204" pitchFamily="34" charset="0"/>
              </a:rPr>
              <a:t>. Pain Med. 2020 Sep 1;21(9):1793-1805.</a:t>
            </a:r>
          </a:p>
          <a:p>
            <a:pPr algn="l" rtl="0"/>
            <a:endParaRPr lang="en-GB" b="0" i="0" dirty="0">
              <a:effectLst/>
              <a:latin typeface="Arial" panose="020B0604020202020204" pitchFamily="34" charset="0"/>
              <a:cs typeface="Arial" panose="020B0604020202020204" pitchFamily="34" charset="0"/>
            </a:endParaRPr>
          </a:p>
          <a:p>
            <a:pPr algn="l" rtl="0"/>
            <a:r>
              <a:rPr lang="en-GB" b="0" i="0" u="none" strike="noStrike" dirty="0">
                <a:effectLst/>
                <a:latin typeface="Arial" panose="020B0604020202020204" pitchFamily="34" charset="0"/>
                <a:cs typeface="Arial" panose="020B0604020202020204" pitchFamily="34" charset="0"/>
              </a:rPr>
              <a:t>http://savvywillingandable.wordpress.com/2013/09/25/the-biopsychosocial-model-explained/</a:t>
            </a:r>
            <a:endParaRPr lang="en-GB" b="0" i="0" dirty="0">
              <a:effectLst/>
              <a:latin typeface="Arial" panose="020B0604020202020204" pitchFamily="34" charset="0"/>
              <a:cs typeface="Arial" panose="020B0604020202020204" pitchFamily="34" charset="0"/>
            </a:endParaRPr>
          </a:p>
          <a:p>
            <a:pPr algn="l" rtl="0"/>
            <a:r>
              <a:rPr lang="en-GB" b="0" i="0" dirty="0" err="1">
                <a:effectLst/>
                <a:latin typeface="Arial" panose="020B0604020202020204" pitchFamily="34" charset="0"/>
                <a:cs typeface="Arial" panose="020B0604020202020204" pitchFamily="34" charset="0"/>
              </a:rPr>
              <a:t>Wijma</a:t>
            </a:r>
            <a:r>
              <a:rPr lang="en-GB" b="0" i="0" dirty="0">
                <a:effectLst/>
                <a:latin typeface="Arial" panose="020B0604020202020204" pitchFamily="34" charset="0"/>
                <a:cs typeface="Arial" panose="020B0604020202020204" pitchFamily="34" charset="0"/>
              </a:rPr>
              <a:t>, A. J., van </a:t>
            </a:r>
            <a:r>
              <a:rPr lang="en-GB" b="0" i="0" dirty="0" err="1">
                <a:effectLst/>
                <a:latin typeface="Arial" panose="020B0604020202020204" pitchFamily="34" charset="0"/>
                <a:cs typeface="Arial" panose="020B0604020202020204" pitchFamily="34" charset="0"/>
              </a:rPr>
              <a:t>Wilgen</a:t>
            </a:r>
            <a:r>
              <a:rPr lang="en-GB" b="0" i="0" dirty="0">
                <a:effectLst/>
                <a:latin typeface="Arial" panose="020B0604020202020204" pitchFamily="34" charset="0"/>
                <a:cs typeface="Arial" panose="020B0604020202020204" pitchFamily="34" charset="0"/>
              </a:rPr>
              <a:t>, C. P., </a:t>
            </a:r>
            <a:r>
              <a:rPr lang="en-GB" b="0" i="0" dirty="0" err="1">
                <a:effectLst/>
                <a:latin typeface="Arial" panose="020B0604020202020204" pitchFamily="34" charset="0"/>
                <a:cs typeface="Arial" panose="020B0604020202020204" pitchFamily="34" charset="0"/>
              </a:rPr>
              <a:t>Meeus</a:t>
            </a:r>
            <a:r>
              <a:rPr lang="en-GB" b="0" i="0" dirty="0">
                <a:effectLst/>
                <a:latin typeface="Arial" panose="020B0604020202020204" pitchFamily="34" charset="0"/>
                <a:cs typeface="Arial" panose="020B0604020202020204" pitchFamily="34" charset="0"/>
              </a:rPr>
              <a:t>, M., &amp; </a:t>
            </a:r>
            <a:r>
              <a:rPr lang="en-GB" b="0" i="0" dirty="0" err="1">
                <a:effectLst/>
                <a:latin typeface="Arial" panose="020B0604020202020204" pitchFamily="34" charset="0"/>
                <a:cs typeface="Arial" panose="020B0604020202020204" pitchFamily="34" charset="0"/>
              </a:rPr>
              <a:t>Nijs</a:t>
            </a:r>
            <a:r>
              <a:rPr lang="en-GB" b="0" i="0" dirty="0">
                <a:effectLst/>
                <a:latin typeface="Arial" panose="020B0604020202020204" pitchFamily="34" charset="0"/>
                <a:cs typeface="Arial" panose="020B0604020202020204" pitchFamily="34" charset="0"/>
              </a:rPr>
              <a:t>, J. 2016 </a:t>
            </a:r>
            <a:r>
              <a:rPr lang="en-GB" b="0" i="0" u="none" strike="noStrike" dirty="0">
                <a:effectLst/>
                <a:latin typeface="Arial" panose="020B0604020202020204" pitchFamily="34" charset="0"/>
                <a:cs typeface="Arial" panose="020B0604020202020204" pitchFamily="34" charset="0"/>
              </a:rPr>
              <a:t>Clinical biopsychosocial physiotherapy assessment of patients with chronic pain: The first step in pain neuroscience education.</a:t>
            </a:r>
            <a:r>
              <a:rPr lang="en-GB" b="0" i="0" dirty="0">
                <a:effectLst/>
                <a:latin typeface="Arial" panose="020B0604020202020204" pitchFamily="34" charset="0"/>
                <a:cs typeface="Arial" panose="020B0604020202020204" pitchFamily="34" charset="0"/>
              </a:rPr>
              <a:t> </a:t>
            </a:r>
            <a:r>
              <a:rPr lang="en-GB" b="0" i="1" dirty="0">
                <a:effectLst/>
                <a:latin typeface="Arial" panose="020B0604020202020204" pitchFamily="34" charset="0"/>
                <a:cs typeface="Arial" panose="020B0604020202020204" pitchFamily="34" charset="0"/>
              </a:rPr>
              <a:t>Physiotherapy theory and practice</a:t>
            </a:r>
            <a:r>
              <a:rPr lang="en-GB" b="0" i="0" dirty="0">
                <a:effectLst/>
                <a:latin typeface="Arial" panose="020B0604020202020204" pitchFamily="34" charset="0"/>
                <a:cs typeface="Arial" panose="020B0604020202020204" pitchFamily="34" charset="0"/>
              </a:rPr>
              <a:t>, </a:t>
            </a:r>
            <a:r>
              <a:rPr lang="en-GB" b="0" i="1" dirty="0">
                <a:effectLst/>
                <a:latin typeface="Arial" panose="020B0604020202020204" pitchFamily="34" charset="0"/>
                <a:cs typeface="Arial" panose="020B0604020202020204" pitchFamily="34" charset="0"/>
              </a:rPr>
              <a:t>32</a:t>
            </a:r>
            <a:r>
              <a:rPr lang="en-GB" b="0" i="0" dirty="0">
                <a:effectLst/>
                <a:latin typeface="Arial" panose="020B0604020202020204" pitchFamily="34" charset="0"/>
                <a:cs typeface="Arial" panose="020B0604020202020204" pitchFamily="34" charset="0"/>
              </a:rPr>
              <a:t>(5), 368-384.</a:t>
            </a:r>
          </a:p>
          <a:p>
            <a:pPr algn="l" rtl="0"/>
            <a:endParaRPr lang="en-GB" dirty="0">
              <a:latin typeface="Arial" panose="020B0604020202020204" pitchFamily="34" charset="0"/>
              <a:cs typeface="Arial" panose="020B0604020202020204" pitchFamily="34" charset="0"/>
            </a:endParaRPr>
          </a:p>
          <a:p>
            <a:pPr algn="l" rtl="0"/>
            <a:r>
              <a:rPr lang="en-GB" b="0" i="0" dirty="0">
                <a:effectLst/>
                <a:latin typeface="Arial" panose="020B0604020202020204" pitchFamily="34" charset="0"/>
                <a:cs typeface="Arial" panose="020B0604020202020204" pitchFamily="34" charset="0"/>
              </a:rPr>
              <a:t>Nagasawa Y, Shibata A, </a:t>
            </a:r>
            <a:r>
              <a:rPr lang="en-GB" b="0" i="0" dirty="0" err="1">
                <a:effectLst/>
                <a:latin typeface="Arial" panose="020B0604020202020204" pitchFamily="34" charset="0"/>
                <a:cs typeface="Arial" panose="020B0604020202020204" pitchFamily="34" charset="0"/>
              </a:rPr>
              <a:t>Fukamachi</a:t>
            </a:r>
            <a:r>
              <a:rPr lang="en-GB" b="0" i="0" dirty="0">
                <a:effectLst/>
                <a:latin typeface="Arial" panose="020B0604020202020204" pitchFamily="34" charset="0"/>
                <a:cs typeface="Arial" panose="020B0604020202020204" pitchFamily="34" charset="0"/>
              </a:rPr>
              <a:t> H, Ishii K, Wicksell RK, Oka K. </a:t>
            </a:r>
            <a:r>
              <a:rPr lang="en-GB" b="0" i="0" u="none" strike="noStrike" dirty="0">
                <a:effectLst/>
                <a:latin typeface="Arial" panose="020B0604020202020204" pitchFamily="34" charset="0"/>
                <a:cs typeface="Arial" panose="020B0604020202020204" pitchFamily="34" charset="0"/>
              </a:rPr>
              <a:t>The Psychological Inflexibility in Pain Scale (PIPS): validity and reliability of the Japanese version for chronic low back pain and knee pain</a:t>
            </a:r>
            <a:r>
              <a:rPr lang="en-GB" b="0" i="0" dirty="0">
                <a:effectLst/>
                <a:latin typeface="Arial" panose="020B0604020202020204" pitchFamily="34" charset="0"/>
                <a:cs typeface="Arial" panose="020B0604020202020204" pitchFamily="34" charset="0"/>
              </a:rPr>
              <a:t>. J Pain Res. 2021 Feb 4;14:325-332.</a:t>
            </a:r>
          </a:p>
          <a:p>
            <a:pPr algn="l" rtl="0"/>
            <a:r>
              <a:rPr lang="en-GB" b="0" i="0" dirty="0">
                <a:effectLst/>
                <a:latin typeface="Arial" panose="020B0604020202020204" pitchFamily="34" charset="0"/>
                <a:cs typeface="Arial" panose="020B0604020202020204" pitchFamily="34" charset="0"/>
              </a:rPr>
              <a:t>Smith, Fortin, </a:t>
            </a:r>
            <a:r>
              <a:rPr lang="en-GB" b="0" i="0" dirty="0" err="1">
                <a:effectLst/>
                <a:latin typeface="Arial" panose="020B0604020202020204" pitchFamily="34" charset="0"/>
                <a:cs typeface="Arial" panose="020B0604020202020204" pitchFamily="34" charset="0"/>
              </a:rPr>
              <a:t>Dwamena</a:t>
            </a:r>
            <a:r>
              <a:rPr lang="en-GB" b="0" i="0" dirty="0">
                <a:effectLst/>
                <a:latin typeface="Arial" panose="020B0604020202020204" pitchFamily="34" charset="0"/>
                <a:cs typeface="Arial" panose="020B0604020202020204" pitchFamily="34" charset="0"/>
              </a:rPr>
              <a:t>, &amp; Frankel. 2013. An evidence-based patient-</a:t>
            </a:r>
            <a:r>
              <a:rPr lang="en-GB" b="0" i="0" dirty="0" err="1">
                <a:effectLst/>
                <a:latin typeface="Arial" panose="020B0604020202020204" pitchFamily="34" charset="0"/>
                <a:cs typeface="Arial" panose="020B0604020202020204" pitchFamily="34" charset="0"/>
              </a:rPr>
              <a:t>centered</a:t>
            </a:r>
            <a:r>
              <a:rPr lang="en-GB" b="0" i="0" dirty="0">
                <a:effectLst/>
                <a:latin typeface="Arial" panose="020B0604020202020204" pitchFamily="34" charset="0"/>
                <a:cs typeface="Arial" panose="020B0604020202020204" pitchFamily="34" charset="0"/>
              </a:rPr>
              <a:t> method makes the biopsychosocial model scientific. Patient Education and </a:t>
            </a:r>
            <a:r>
              <a:rPr lang="en-GB" b="0" i="0" dirty="0" err="1">
                <a:effectLst/>
                <a:latin typeface="Arial" panose="020B0604020202020204" pitchFamily="34" charset="0"/>
                <a:cs typeface="Arial" panose="020B0604020202020204" pitchFamily="34" charset="0"/>
              </a:rPr>
              <a:t>Counseling</a:t>
            </a:r>
            <a:r>
              <a:rPr lang="en-GB" b="0" i="0" dirty="0">
                <a:effectLst/>
                <a:latin typeface="Arial" panose="020B0604020202020204" pitchFamily="34" charset="0"/>
                <a:cs typeface="Arial" panose="020B0604020202020204" pitchFamily="34" charset="0"/>
              </a:rPr>
              <a:t>, 91(3), 265-270.</a:t>
            </a:r>
          </a:p>
          <a:p>
            <a:pPr algn="l" rtl="0"/>
            <a:endParaRPr lang="en-GB" b="0" i="0"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026001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AA7AF69-E002-B886-B1CE-E2CC972DD4EF}"/>
              </a:ext>
            </a:extLst>
          </p:cNvPr>
          <p:cNvSpPr txBox="1"/>
          <p:nvPr/>
        </p:nvSpPr>
        <p:spPr>
          <a:xfrm>
            <a:off x="262270" y="690932"/>
            <a:ext cx="11667459" cy="5078313"/>
          </a:xfrm>
          <a:prstGeom prst="rect">
            <a:avLst/>
          </a:prstGeom>
          <a:noFill/>
        </p:spPr>
        <p:txBody>
          <a:bodyPr wrap="square">
            <a:spAutoFit/>
          </a:bodyPr>
          <a:lstStyle/>
          <a:p>
            <a:pPr algn="l"/>
            <a:r>
              <a:rPr lang="en-GB" b="0" i="0" dirty="0">
                <a:solidFill>
                  <a:srgbClr val="202122"/>
                </a:solidFill>
                <a:effectLst/>
                <a:latin typeface="Arial" panose="020B0604020202020204" pitchFamily="34" charset="0"/>
              </a:rPr>
              <a:t> </a:t>
            </a:r>
            <a:r>
              <a:rPr lang="en-GB" b="0" i="1" dirty="0">
                <a:solidFill>
                  <a:srgbClr val="202122"/>
                </a:solidFill>
                <a:effectLst/>
                <a:latin typeface="Arial" panose="020B0604020202020204" pitchFamily="34" charset="0"/>
              </a:rPr>
              <a:t>Dictionary of the Social Sciences (2008) [2002]. Calhoun, Craig (ed.). </a:t>
            </a:r>
            <a:r>
              <a:rPr lang="en-GB" b="0" i="1" u="none" strike="noStrike" dirty="0">
                <a:solidFill>
                  <a:srgbClr val="202122"/>
                </a:solidFill>
                <a:effectLst/>
                <a:latin typeface="Arial" panose="020B0604020202020204" pitchFamily="34" charset="0"/>
              </a:rPr>
              <a:t>"Sociology"</a:t>
            </a:r>
            <a:r>
              <a:rPr lang="en-GB" b="0" i="1" dirty="0">
                <a:solidFill>
                  <a:srgbClr val="202122"/>
                </a:solidFill>
                <a:effectLst/>
                <a:latin typeface="Arial" panose="020B0604020202020204" pitchFamily="34" charset="0"/>
              </a:rPr>
              <a:t>. New York: </a:t>
            </a:r>
            <a:r>
              <a:rPr lang="en-GB" b="0" i="1" u="none" strike="noStrike" dirty="0">
                <a:solidFill>
                  <a:srgbClr val="202122"/>
                </a:solidFill>
                <a:effectLst/>
                <a:latin typeface="Arial" panose="020B0604020202020204" pitchFamily="34" charset="0"/>
              </a:rPr>
              <a:t>Oxford University Press</a:t>
            </a:r>
            <a:r>
              <a:rPr lang="en-GB" b="0" i="1" dirty="0">
                <a:solidFill>
                  <a:srgbClr val="202122"/>
                </a:solidFill>
                <a:effectLst/>
                <a:latin typeface="Arial" panose="020B0604020202020204" pitchFamily="34" charset="0"/>
              </a:rPr>
              <a:t> – via </a:t>
            </a:r>
            <a:r>
              <a:rPr lang="en-GB" b="0" i="1" u="none" strike="noStrike" dirty="0">
                <a:solidFill>
                  <a:srgbClr val="202122"/>
                </a:solidFill>
                <a:effectLst/>
                <a:latin typeface="Arial" panose="020B0604020202020204" pitchFamily="34" charset="0"/>
              </a:rPr>
              <a:t>American Sociological Association</a:t>
            </a:r>
            <a:r>
              <a:rPr lang="en-GB" b="0" i="1" dirty="0">
                <a:solidFill>
                  <a:srgbClr val="202122"/>
                </a:solidFill>
                <a:effectLst/>
                <a:latin typeface="Arial" panose="020B0604020202020204" pitchFamily="34" charset="0"/>
              </a:rPr>
              <a:t>.</a:t>
            </a:r>
          </a:p>
          <a:p>
            <a:pPr algn="l"/>
            <a:endParaRPr lang="en-GB" b="0" i="0" dirty="0">
              <a:solidFill>
                <a:srgbClr val="202122"/>
              </a:solidFill>
              <a:effectLst/>
              <a:latin typeface="Arial" panose="020B0604020202020204" pitchFamily="34" charset="0"/>
            </a:endParaRPr>
          </a:p>
          <a:p>
            <a:pPr algn="l"/>
            <a:r>
              <a:rPr lang="en-GB" b="0" i="1" u="none" strike="noStrike" dirty="0">
                <a:solidFill>
                  <a:srgbClr val="202122"/>
                </a:solidFill>
                <a:effectLst/>
                <a:latin typeface="Arial" panose="020B0604020202020204" pitchFamily="34" charset="0"/>
              </a:rPr>
              <a:t>"Sociology: A 21st Century Major"</a:t>
            </a:r>
            <a:r>
              <a:rPr lang="en-GB" b="0" i="1" dirty="0">
                <a:solidFill>
                  <a:srgbClr val="202122"/>
                </a:solidFill>
                <a:effectLst/>
                <a:latin typeface="Arial" panose="020B0604020202020204" pitchFamily="34" charset="0"/>
              </a:rPr>
              <a:t> </a:t>
            </a:r>
            <a:r>
              <a:rPr lang="en-GB" i="1" dirty="0">
                <a:solidFill>
                  <a:srgbClr val="202122"/>
                </a:solidFill>
                <a:latin typeface="Arial" panose="020B0604020202020204" pitchFamily="34" charset="0"/>
              </a:rPr>
              <a:t> </a:t>
            </a:r>
            <a:r>
              <a:rPr lang="en-GB" b="0" i="1" dirty="0">
                <a:solidFill>
                  <a:srgbClr val="202122"/>
                </a:solidFill>
                <a:effectLst/>
                <a:latin typeface="Arial" panose="020B0604020202020204" pitchFamily="34" charset="0"/>
              </a:rPr>
              <a:t>Colgate University. </a:t>
            </a:r>
            <a:r>
              <a:rPr lang="en-GB" b="0" i="1" u="none" strike="noStrike" dirty="0">
                <a:solidFill>
                  <a:srgbClr val="202122"/>
                </a:solidFill>
                <a:effectLst/>
                <a:latin typeface="Arial" panose="020B0604020202020204" pitchFamily="34" charset="0"/>
              </a:rPr>
              <a:t>American Sociological Association</a:t>
            </a:r>
            <a:r>
              <a:rPr lang="en-GB" b="0" i="1" dirty="0">
                <a:solidFill>
                  <a:srgbClr val="202122"/>
                </a:solidFill>
                <a:effectLst/>
                <a:latin typeface="Arial" panose="020B0604020202020204" pitchFamily="34" charset="0"/>
              </a:rPr>
              <a:t>. Archived from </a:t>
            </a:r>
            <a:r>
              <a:rPr lang="en-GB" b="0" i="1" u="none" strike="noStrike" dirty="0">
                <a:solidFill>
                  <a:srgbClr val="202122"/>
                </a:solidFill>
                <a:effectLst/>
                <a:latin typeface="Arial" panose="020B0604020202020204" pitchFamily="34" charset="0"/>
              </a:rPr>
              <a:t>the original</a:t>
            </a:r>
            <a:r>
              <a:rPr lang="en-GB" b="0" i="1" dirty="0">
                <a:solidFill>
                  <a:srgbClr val="202122"/>
                </a:solidFill>
                <a:effectLst/>
                <a:latin typeface="Arial" panose="020B0604020202020204" pitchFamily="34" charset="0"/>
              </a:rPr>
              <a:t>  on 18 October 2017. Retrieved 19 July 2017.</a:t>
            </a:r>
          </a:p>
          <a:p>
            <a:pPr algn="l">
              <a:buFont typeface="+mj-lt"/>
              <a:buAutoNum type="arabicPeriod"/>
            </a:pPr>
            <a:endParaRPr lang="en-GB" b="0" i="0" dirty="0">
              <a:solidFill>
                <a:srgbClr val="202122"/>
              </a:solidFill>
              <a:effectLst/>
              <a:latin typeface="Arial" panose="020B0604020202020204" pitchFamily="34" charset="0"/>
            </a:endParaRPr>
          </a:p>
          <a:p>
            <a:pPr algn="l"/>
            <a:r>
              <a:rPr lang="en-GB" b="0" i="1" dirty="0">
                <a:solidFill>
                  <a:srgbClr val="202122"/>
                </a:solidFill>
                <a:effectLst/>
                <a:latin typeface="Arial" panose="020B0604020202020204" pitchFamily="34" charset="0"/>
              </a:rPr>
              <a:t>Ashley, David; Orenstein, David M. (2005). Sociological Theory: Classical Statements (6th ed.). Boston: Pearson Education.</a:t>
            </a:r>
            <a:endParaRPr lang="en-GB" b="0" i="0" dirty="0">
              <a:solidFill>
                <a:srgbClr val="202122"/>
              </a:solidFill>
              <a:effectLst/>
              <a:latin typeface="Arial" panose="020B0604020202020204" pitchFamily="34" charset="0"/>
            </a:endParaRPr>
          </a:p>
          <a:p>
            <a:pPr algn="l"/>
            <a:r>
              <a:rPr lang="en-GB" b="0" i="0" dirty="0">
                <a:solidFill>
                  <a:srgbClr val="202122"/>
                </a:solidFill>
                <a:effectLst/>
                <a:latin typeface="Arial" panose="020B0604020202020204" pitchFamily="34" charset="0"/>
              </a:rPr>
              <a:t>Giddens, Anthony, Duneier, Mitchell, Applebaum, Richard. 2007. </a:t>
            </a:r>
            <a:r>
              <a:rPr lang="en-GB" b="0" i="1" dirty="0">
                <a:solidFill>
                  <a:srgbClr val="202122"/>
                </a:solidFill>
                <a:effectLst/>
                <a:latin typeface="Arial" panose="020B0604020202020204" pitchFamily="34" charset="0"/>
              </a:rPr>
              <a:t>Introduction to Sociology. 6th ed.</a:t>
            </a:r>
            <a:r>
              <a:rPr lang="en-GB" b="0" i="0" dirty="0">
                <a:solidFill>
                  <a:srgbClr val="202122"/>
                </a:solidFill>
                <a:effectLst/>
                <a:latin typeface="Arial" panose="020B0604020202020204" pitchFamily="34" charset="0"/>
              </a:rPr>
              <a:t> New York: W.W. Norton and Company. Chapter 1.</a:t>
            </a:r>
          </a:p>
          <a:p>
            <a:pPr algn="l"/>
            <a:endParaRPr lang="en-GB" b="0" i="0" dirty="0">
              <a:solidFill>
                <a:srgbClr val="202122"/>
              </a:solidFill>
              <a:effectLst/>
              <a:latin typeface="Arial" panose="020B0604020202020204" pitchFamily="34" charset="0"/>
            </a:endParaRPr>
          </a:p>
          <a:p>
            <a:pPr algn="l"/>
            <a:r>
              <a:rPr lang="en-GB" b="0" i="1" dirty="0">
                <a:solidFill>
                  <a:srgbClr val="202122"/>
                </a:solidFill>
                <a:effectLst/>
                <a:latin typeface="Arial" panose="020B0604020202020204" pitchFamily="34" charset="0"/>
              </a:rPr>
              <a:t>Yang, </a:t>
            </a:r>
            <a:r>
              <a:rPr lang="en-GB" b="0" i="1" dirty="0" err="1">
                <a:solidFill>
                  <a:srgbClr val="202122"/>
                </a:solidFill>
                <a:effectLst/>
                <a:latin typeface="Arial" panose="020B0604020202020204" pitchFamily="34" charset="0"/>
              </a:rPr>
              <a:t>Jianghua</a:t>
            </a:r>
            <a:r>
              <a:rPr lang="en-GB" b="0" i="1" dirty="0">
                <a:solidFill>
                  <a:srgbClr val="202122"/>
                </a:solidFill>
                <a:effectLst/>
                <a:latin typeface="Arial" panose="020B0604020202020204" pitchFamily="34" charset="0"/>
              </a:rPr>
              <a:t> (13 November 2023). </a:t>
            </a:r>
            <a:r>
              <a:rPr lang="en-GB" b="0" i="1" u="none" strike="noStrike" dirty="0">
                <a:solidFill>
                  <a:srgbClr val="202122"/>
                </a:solidFill>
                <a:effectLst/>
                <a:latin typeface="Arial" panose="020B0604020202020204" pitchFamily="34" charset="0"/>
              </a:rPr>
              <a:t>"Beyond structural inequality: a socio-technical approach to the digital divide in the platform environment"</a:t>
            </a:r>
            <a:r>
              <a:rPr lang="en-GB" b="0" i="1" dirty="0">
                <a:solidFill>
                  <a:srgbClr val="202122"/>
                </a:solidFill>
                <a:effectLst/>
                <a:latin typeface="Arial" panose="020B0604020202020204" pitchFamily="34" charset="0"/>
              </a:rPr>
              <a:t>. Humanities and Social Sciences Communications. </a:t>
            </a:r>
            <a:r>
              <a:rPr lang="en-GB" b="1" i="1" dirty="0">
                <a:solidFill>
                  <a:srgbClr val="202122"/>
                </a:solidFill>
                <a:effectLst/>
                <a:latin typeface="Arial" panose="020B0604020202020204" pitchFamily="34" charset="0"/>
              </a:rPr>
              <a:t>10</a:t>
            </a:r>
            <a:r>
              <a:rPr lang="en-GB" b="0" i="1" dirty="0">
                <a:solidFill>
                  <a:srgbClr val="202122"/>
                </a:solidFill>
                <a:effectLst/>
                <a:latin typeface="Arial" panose="020B0604020202020204" pitchFamily="34" charset="0"/>
              </a:rPr>
              <a:t>. </a:t>
            </a:r>
            <a:r>
              <a:rPr lang="en-GB" b="0" i="1" u="none" strike="noStrike" dirty="0">
                <a:solidFill>
                  <a:srgbClr val="202122"/>
                </a:solidFill>
                <a:effectLst/>
                <a:latin typeface="Arial" panose="020B0604020202020204" pitchFamily="34" charset="0"/>
              </a:rPr>
              <a:t>doi</a:t>
            </a:r>
            <a:r>
              <a:rPr lang="en-GB" b="0" i="1" dirty="0">
                <a:solidFill>
                  <a:srgbClr val="202122"/>
                </a:solidFill>
                <a:effectLst/>
                <a:latin typeface="Arial" panose="020B0604020202020204" pitchFamily="34" charset="0"/>
              </a:rPr>
              <a:t>:</a:t>
            </a:r>
            <a:r>
              <a:rPr lang="en-GB" b="0" i="1" u="none" strike="noStrike" dirty="0">
                <a:solidFill>
                  <a:srgbClr val="202122"/>
                </a:solidFill>
                <a:effectLst/>
                <a:latin typeface="Arial" panose="020B0604020202020204" pitchFamily="34" charset="0"/>
              </a:rPr>
              <a:t>10.1057/s41599-023-02326-</a:t>
            </a:r>
            <a:r>
              <a:rPr lang="en-GB" b="0" i="1" dirty="0">
                <a:solidFill>
                  <a:srgbClr val="202122"/>
                </a:solidFill>
                <a:effectLst/>
                <a:latin typeface="Arial" panose="020B0604020202020204" pitchFamily="34" charset="0"/>
              </a:rPr>
              <a:t> </a:t>
            </a:r>
            <a:r>
              <a:rPr lang="en-GB" b="0" i="1" u="none" strike="noStrike" dirty="0">
                <a:solidFill>
                  <a:srgbClr val="202122"/>
                </a:solidFill>
                <a:effectLst/>
                <a:latin typeface="Arial" panose="020B0604020202020204" pitchFamily="34" charset="0"/>
              </a:rPr>
              <a:t>S2CID</a:t>
            </a:r>
            <a:r>
              <a:rPr lang="en-GB" b="0" i="1" dirty="0">
                <a:solidFill>
                  <a:srgbClr val="202122"/>
                </a:solidFill>
                <a:effectLst/>
                <a:latin typeface="Arial" panose="020B0604020202020204" pitchFamily="34" charset="0"/>
              </a:rPr>
              <a:t> </a:t>
            </a:r>
            <a:r>
              <a:rPr lang="en-GB" b="0" i="1" u="none" strike="noStrike" dirty="0">
                <a:solidFill>
                  <a:srgbClr val="202122"/>
                </a:solidFill>
                <a:effectLst/>
                <a:latin typeface="Arial" panose="020B0604020202020204" pitchFamily="34" charset="0"/>
              </a:rPr>
              <a:t>265151025</a:t>
            </a:r>
            <a:r>
              <a:rPr lang="en-GB" b="0" i="1" dirty="0">
                <a:solidFill>
                  <a:srgbClr val="202122"/>
                </a:solidFill>
                <a:effectLst/>
                <a:latin typeface="Arial" panose="020B0604020202020204" pitchFamily="34" charset="0"/>
              </a:rPr>
              <a:t>.</a:t>
            </a:r>
          </a:p>
          <a:p>
            <a:pPr algn="l"/>
            <a:endParaRPr lang="en-GB" b="0" i="0" dirty="0">
              <a:solidFill>
                <a:srgbClr val="202122"/>
              </a:solidFill>
              <a:effectLst/>
              <a:latin typeface="Arial" panose="020B0604020202020204" pitchFamily="34" charset="0"/>
            </a:endParaRPr>
          </a:p>
          <a:p>
            <a:pPr algn="l"/>
            <a:r>
              <a:rPr lang="en-GB" b="0" i="1" dirty="0">
                <a:solidFill>
                  <a:srgbClr val="202122"/>
                </a:solidFill>
                <a:effectLst/>
                <a:latin typeface="Arial" panose="020B0604020202020204" pitchFamily="34" charset="0"/>
              </a:rPr>
              <a:t>Macy, Michael W.; Willer, Robert (2002). "From Factors to Actors: Computational Sociology and Agent-Based </a:t>
            </a:r>
            <a:r>
              <a:rPr lang="en-GB" b="0" i="1" dirty="0" err="1">
                <a:solidFill>
                  <a:srgbClr val="202122"/>
                </a:solidFill>
                <a:effectLst/>
                <a:latin typeface="Arial" panose="020B0604020202020204" pitchFamily="34" charset="0"/>
              </a:rPr>
              <a:t>Modeling</a:t>
            </a:r>
            <a:r>
              <a:rPr lang="en-GB" b="0" i="1" dirty="0">
                <a:solidFill>
                  <a:srgbClr val="202122"/>
                </a:solidFill>
                <a:effectLst/>
                <a:latin typeface="Arial" panose="020B0604020202020204" pitchFamily="34" charset="0"/>
              </a:rPr>
              <a:t>". Annual Review of Sociology. </a:t>
            </a:r>
            <a:r>
              <a:rPr lang="en-GB" b="1" i="1" dirty="0">
                <a:solidFill>
                  <a:srgbClr val="202122"/>
                </a:solidFill>
                <a:effectLst/>
                <a:latin typeface="Arial" panose="020B0604020202020204" pitchFamily="34" charset="0"/>
              </a:rPr>
              <a:t>28</a:t>
            </a:r>
            <a:r>
              <a:rPr lang="en-GB" b="0" i="1" dirty="0">
                <a:solidFill>
                  <a:srgbClr val="202122"/>
                </a:solidFill>
                <a:effectLst/>
                <a:latin typeface="Arial" panose="020B0604020202020204" pitchFamily="34" charset="0"/>
              </a:rPr>
              <a:t>: 143–166. </a:t>
            </a:r>
            <a:r>
              <a:rPr lang="en-GB" b="0" i="1" u="none" strike="noStrike" dirty="0">
                <a:solidFill>
                  <a:srgbClr val="202122"/>
                </a:solidFill>
                <a:effectLst/>
                <a:latin typeface="Arial" panose="020B0604020202020204" pitchFamily="34" charset="0"/>
              </a:rPr>
              <a:t>doi</a:t>
            </a:r>
            <a:r>
              <a:rPr lang="en-GB" b="0" i="1" dirty="0">
                <a:solidFill>
                  <a:srgbClr val="202122"/>
                </a:solidFill>
                <a:effectLst/>
                <a:latin typeface="Arial" panose="020B0604020202020204" pitchFamily="34" charset="0"/>
              </a:rPr>
              <a:t>:</a:t>
            </a:r>
            <a:r>
              <a:rPr lang="en-GB" b="0" i="1" u="none" strike="noStrike" dirty="0">
                <a:solidFill>
                  <a:srgbClr val="202122"/>
                </a:solidFill>
                <a:effectLst/>
                <a:latin typeface="Arial" panose="020B0604020202020204" pitchFamily="34" charset="0"/>
              </a:rPr>
              <a:t>10.1146/annurev.soc.28.110601.141117</a:t>
            </a:r>
            <a:r>
              <a:rPr lang="en-GB" b="0" i="1" dirty="0">
                <a:solidFill>
                  <a:srgbClr val="202122"/>
                </a:solidFill>
                <a:effectLst/>
                <a:latin typeface="Arial" panose="020B0604020202020204" pitchFamily="34" charset="0"/>
              </a:rPr>
              <a:t>. </a:t>
            </a:r>
            <a:r>
              <a:rPr lang="en-GB" b="0" i="1" u="none" strike="noStrike" dirty="0">
                <a:solidFill>
                  <a:srgbClr val="202122"/>
                </a:solidFill>
                <a:effectLst/>
                <a:latin typeface="Arial" panose="020B0604020202020204" pitchFamily="34" charset="0"/>
              </a:rPr>
              <a:t>JSTOR</a:t>
            </a:r>
            <a:r>
              <a:rPr lang="en-GB" b="0" i="1" dirty="0">
                <a:solidFill>
                  <a:srgbClr val="202122"/>
                </a:solidFill>
                <a:effectLst/>
                <a:latin typeface="Arial" panose="020B0604020202020204" pitchFamily="34" charset="0"/>
              </a:rPr>
              <a:t> </a:t>
            </a:r>
            <a:r>
              <a:rPr lang="en-GB" b="0" i="1" u="none" strike="noStrike" dirty="0">
                <a:solidFill>
                  <a:srgbClr val="202122"/>
                </a:solidFill>
                <a:effectLst/>
                <a:latin typeface="Arial" panose="020B0604020202020204" pitchFamily="34" charset="0"/>
              </a:rPr>
              <a:t>3069238</a:t>
            </a:r>
            <a:r>
              <a:rPr lang="en-GB" b="0" i="1" dirty="0">
                <a:solidFill>
                  <a:srgbClr val="202122"/>
                </a:solidFill>
                <a:effectLst/>
                <a:latin typeface="Arial" panose="020B0604020202020204" pitchFamily="34" charset="0"/>
              </a:rPr>
              <a:t>.</a:t>
            </a:r>
            <a:endParaRPr lang="en-GB" b="0" i="0" dirty="0">
              <a:solidFill>
                <a:srgbClr val="202122"/>
              </a:solidFill>
              <a:effectLst/>
              <a:latin typeface="Arial" panose="020B0604020202020204" pitchFamily="34" charset="0"/>
            </a:endParaRPr>
          </a:p>
        </p:txBody>
      </p:sp>
    </p:spTree>
    <p:extLst>
      <p:ext uri="{BB962C8B-B14F-4D97-AF65-F5344CB8AC3E}">
        <p14:creationId xmlns:p14="http://schemas.microsoft.com/office/powerpoint/2010/main" val="3849065810"/>
      </p:ext>
    </p:extLst>
  </p:cSld>
  <p:clrMapOvr>
    <a:masterClrMapping/>
  </p:clrMapOvr>
</p:sld>
</file>

<file path=ppt/theme/theme1.xml><?xml version="1.0" encoding="utf-8"?>
<a:theme xmlns:a="http://schemas.openxmlformats.org/drawingml/2006/main" name="DashVTI">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theme/theme2.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3.xml><?xml version="1.0" encoding="utf-8"?>
<a:theme xmlns:a="http://schemas.openxmlformats.org/drawingml/2006/main" name="1_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201</TotalTime>
  <Words>1682</Words>
  <Application>Microsoft Office PowerPoint</Application>
  <PresentationFormat>Widescreen</PresentationFormat>
  <Paragraphs>155</Paragraphs>
  <Slides>27</Slides>
  <Notes>25</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27</vt:i4>
      </vt:variant>
    </vt:vector>
  </HeadingPairs>
  <TitlesOfParts>
    <vt:vector size="34" baseType="lpstr">
      <vt:lpstr>Aptos</vt:lpstr>
      <vt:lpstr>Arial</vt:lpstr>
      <vt:lpstr>Gill Sans MT</vt:lpstr>
      <vt:lpstr>Grandview Display</vt:lpstr>
      <vt:lpstr>DashVTI</vt:lpstr>
      <vt:lpstr>Gallery</vt:lpstr>
      <vt:lpstr>1_Gallery</vt:lpstr>
      <vt:lpstr>Sociology and the Biopsychosocial Model</vt:lpstr>
      <vt:lpstr>Objectives</vt:lpstr>
      <vt:lpstr>What is Sociology?</vt:lpstr>
      <vt:lpstr>Sociology An Overview</vt:lpstr>
      <vt:lpstr>Sociological Concepts</vt:lpstr>
      <vt:lpstr>Understanding Social Structure</vt:lpstr>
      <vt:lpstr>Examining Culture and Norms</vt:lpstr>
      <vt:lpstr>Roles and Institutions in Society</vt:lpstr>
      <vt:lpstr>Understanding Socialization</vt:lpstr>
      <vt:lpstr>Brief History of Sociology</vt:lpstr>
      <vt:lpstr>Key Sociological Theories</vt:lpstr>
      <vt:lpstr>Biopsychosocial Model</vt:lpstr>
      <vt:lpstr>Overview of  the Biopsychosocial Model</vt:lpstr>
      <vt:lpstr>Relevance to Health and Human Behavior</vt:lpstr>
      <vt:lpstr>Interaction of Biological, Psychological, and Social Factors</vt:lpstr>
      <vt:lpstr>Social Factors in Health</vt:lpstr>
      <vt:lpstr>Impact of Socioeconomic Status and Culture</vt:lpstr>
      <vt:lpstr>Influence of Family Dynamics  on Health Outcomes</vt:lpstr>
      <vt:lpstr>Role of Social Support  Networks and Community</vt:lpstr>
      <vt:lpstr>Sociology And Biopsychosocial Approach</vt:lpstr>
      <vt:lpstr>Synthesis of Sociological Concepts and the Biopsychosocial Model</vt:lpstr>
      <vt:lpstr>Strengths and Limitations of Both Approaches</vt:lpstr>
      <vt:lpstr>A Holistic Perspective</vt:lpstr>
      <vt:lpstr>Importance of a Holistic Approach</vt:lpstr>
      <vt:lpstr>Interdisciplinary Thinking in Healthcare and Social Sciences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Lubna Syed</dc:creator>
  <cp:lastModifiedBy>Lubna Syed</cp:lastModifiedBy>
  <cp:revision>23</cp:revision>
  <dcterms:created xsi:type="dcterms:W3CDTF">2024-09-27T12:55:19Z</dcterms:created>
  <dcterms:modified xsi:type="dcterms:W3CDTF">2024-09-27T16:17:18Z</dcterms:modified>
</cp:coreProperties>
</file>