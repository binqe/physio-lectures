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4630400" cy="8229600"/>
  <p:notesSz cx="8229600" cy="14630400"/>
  <p:embeddedFontLst>
    <p:embeddedFont>
      <p:font typeface="Source Sans 3" panose="020B0604020202020204" charset="0"/>
      <p:regular r:id="rId12"/>
    </p:embeddedFont>
    <p:embeddedFont>
      <p:font typeface="Source Serif 4 Semi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35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8880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359456"/>
            <a:ext cx="8532614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MSK Simulation Case Scenarios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542223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3194447"/>
            <a:ext cx="2735580" cy="1066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7724" y="4530447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London Metropolitan University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37724" y="5182672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Date: 19th Feb 2026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37724" y="5834896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Time: 14:00 – 17:00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37724" y="6487120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Lead: Ms. Ifeoma Nwosu, Specialist Physiotherapist</a:t>
            </a:r>
            <a:endParaRPr lang="en-US" sz="18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9AE577-6580-F0F2-627F-7C6EAD495B19}"/>
              </a:ext>
            </a:extLst>
          </p:cNvPr>
          <p:cNvSpPr/>
          <p:nvPr/>
        </p:nvSpPr>
        <p:spPr>
          <a:xfrm>
            <a:off x="12770778" y="7692464"/>
            <a:ext cx="1726058" cy="537136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049298"/>
            <a:ext cx="664761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Welcome &amp; Introduction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2232065"/>
            <a:ext cx="4158734" cy="1372433"/>
          </a:xfrm>
          <a:prstGeom prst="roundRect">
            <a:avLst>
              <a:gd name="adj" fmla="val 7326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084659" y="247900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Time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84659" y="2974538"/>
            <a:ext cx="366486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14:00–14:10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5235773" y="2232065"/>
            <a:ext cx="4158734" cy="1372433"/>
          </a:xfrm>
          <a:prstGeom prst="roundRect">
            <a:avLst>
              <a:gd name="adj" fmla="val 7326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482709" y="247900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Session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2709" y="2974538"/>
            <a:ext cx="366486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Welcome &amp; Introduction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9633823" y="2232065"/>
            <a:ext cx="4158853" cy="1372433"/>
          </a:xfrm>
          <a:prstGeom prst="roundRect">
            <a:avLst>
              <a:gd name="adj" fmla="val 7326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9880759" y="247900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Case Study / Activity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80759" y="2974538"/>
            <a:ext cx="366498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Session overview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37724" y="3963472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Aim &amp; Focus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837724" y="4744760"/>
            <a:ext cx="12954952" cy="1532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350"/>
              </a:lnSpc>
              <a:buSzPct val="100000"/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MSc expectations</a:t>
            </a:r>
            <a:b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Safety-first reasoning</a:t>
            </a:r>
            <a:b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“Treat vs Do Not Treat” mindset</a:t>
            </a:r>
            <a:b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NHS outpatient realism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37724" y="6545998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Teaching Method:</a:t>
            </a: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Tutor-led briefing</a:t>
            </a:r>
            <a:endParaRPr lang="en-US" sz="18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572F2C-9D3F-7C0A-53E0-857EFA024134}"/>
              </a:ext>
            </a:extLst>
          </p:cNvPr>
          <p:cNvSpPr/>
          <p:nvPr/>
        </p:nvSpPr>
        <p:spPr>
          <a:xfrm>
            <a:off x="12770778" y="7692464"/>
            <a:ext cx="1726058" cy="537136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809625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Simulation Case 1 &amp; Debrief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2815947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BE49DF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14:10–14:30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324124" y="333398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Simulation Case 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324124" y="3925253"/>
            <a:ext cx="34423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Older Adult LBP + Cancer History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324124" y="4523661"/>
            <a:ext cx="3442335" cy="1149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 flags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Spinal pathology, safety-first MSK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6324124" y="5888073"/>
            <a:ext cx="34423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Teaching Method:</a:t>
            </a: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Simulation + peer observation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0357961" y="2815947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BE49DF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14:30–14:40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0357961" y="333398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Debrief 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357961" y="3925253"/>
            <a:ext cx="34423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Case 1 reflection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10357961" y="4523661"/>
            <a:ext cx="3442335" cy="1532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Safety thresholds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Escalation pathways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Documentation &amp; medico-legal reasoning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10357961" y="6187337"/>
            <a:ext cx="34423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Teaching Method:</a:t>
            </a: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Facilitated debrief</a:t>
            </a:r>
            <a:endParaRPr lang="en-US" sz="18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EEA59A-4727-9694-DF4F-0ABB90079859}"/>
              </a:ext>
            </a:extLst>
          </p:cNvPr>
          <p:cNvSpPr/>
          <p:nvPr/>
        </p:nvSpPr>
        <p:spPr>
          <a:xfrm>
            <a:off x="12791326" y="7787811"/>
            <a:ext cx="1756881" cy="383024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24C398-F6D3-8CC6-D326-379182D22742}"/>
              </a:ext>
            </a:extLst>
          </p:cNvPr>
          <p:cNvSpPr/>
          <p:nvPr/>
        </p:nvSpPr>
        <p:spPr>
          <a:xfrm>
            <a:off x="12183439" y="7748699"/>
            <a:ext cx="1756881" cy="383024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659963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Simulation Case 2 &amp; Debrief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2666286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BE49DF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14:40–15:00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837724" y="318432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Simulation Case 2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37724" y="3775591"/>
            <a:ext cx="34423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Radicular Leg Pain: Root vs Peripheral Nerve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37724" y="4757023"/>
            <a:ext cx="3442335" cy="1532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Neuroanatomy, root vs peripheral nerve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Clinical reasoning without imaging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37724" y="6336984"/>
            <a:ext cx="34423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Teaching Method:</a:t>
            </a: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Simulation + guided questioning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871561" y="2666286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BE49DF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15:00–15:10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4871561" y="318432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Debrief 2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871561" y="3775591"/>
            <a:ext cx="34423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Case 2 reflection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4871561" y="4373999"/>
            <a:ext cx="3442335" cy="1532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Explaining diagnosis to patients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Avoiding over-medicalisation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Clinical reasoning clarity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4871561" y="6121421"/>
            <a:ext cx="34423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Teaching Method:</a:t>
            </a: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Group discussion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3446" y="1059299"/>
            <a:ext cx="4978479" cy="494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Break &amp; Simulation Case 3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2042636" y="1731288"/>
            <a:ext cx="22860" cy="5439013"/>
          </a:xfrm>
          <a:prstGeom prst="roundRect">
            <a:avLst>
              <a:gd name="adj" fmla="val 309038"/>
            </a:avLst>
          </a:prstGeom>
          <a:solidFill>
            <a:srgbClr val="D6BAD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2208967" y="1909048"/>
            <a:ext cx="504587" cy="22860"/>
          </a:xfrm>
          <a:prstGeom prst="roundRect">
            <a:avLst>
              <a:gd name="adj" fmla="val 309038"/>
            </a:avLst>
          </a:prstGeom>
          <a:solidFill>
            <a:srgbClr val="D6BAD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853446" y="1731288"/>
            <a:ext cx="378381" cy="378381"/>
          </a:xfrm>
          <a:prstGeom prst="roundRect">
            <a:avLst>
              <a:gd name="adj" fmla="val 18671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923931" y="1772067"/>
            <a:ext cx="237411" cy="296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1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2883694" y="1789033"/>
            <a:ext cx="1978819" cy="247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15:10–15:30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2883694" y="2107168"/>
            <a:ext cx="9893141" cy="229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Break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08967" y="2750344"/>
            <a:ext cx="504587" cy="22860"/>
          </a:xfrm>
          <a:prstGeom prst="roundRect">
            <a:avLst>
              <a:gd name="adj" fmla="val 309038"/>
            </a:avLst>
          </a:prstGeom>
          <a:solidFill>
            <a:srgbClr val="D6BAD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853446" y="2572583"/>
            <a:ext cx="378381" cy="378381"/>
          </a:xfrm>
          <a:prstGeom prst="roundRect">
            <a:avLst>
              <a:gd name="adj" fmla="val 18671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923931" y="2613362"/>
            <a:ext cx="237411" cy="296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2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2883694" y="2630329"/>
            <a:ext cx="1978819" cy="247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15:30–15:50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2883694" y="2948464"/>
            <a:ext cx="9893141" cy="229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Simulation Case 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83694" y="3248382"/>
            <a:ext cx="9893141" cy="229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Neck &amp; Arm Pain: Radiculopathy vs Myelopathy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83694" y="3548301"/>
            <a:ext cx="9893141" cy="916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UMN vs LMN signs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Cervical radiculopathy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Myelopathy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Shoulder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83694" y="4535615"/>
            <a:ext cx="9893141" cy="229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Teaching Method:</a:t>
            </a:r>
            <a:r>
              <a:rPr lang="en-US" sz="13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High-risk simulation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08967" y="5178791"/>
            <a:ext cx="504587" cy="22860"/>
          </a:xfrm>
          <a:prstGeom prst="roundRect">
            <a:avLst>
              <a:gd name="adj" fmla="val 309038"/>
            </a:avLst>
          </a:prstGeom>
          <a:solidFill>
            <a:srgbClr val="D6BAD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1853446" y="5001031"/>
            <a:ext cx="378381" cy="378381"/>
          </a:xfrm>
          <a:prstGeom prst="roundRect">
            <a:avLst>
              <a:gd name="adj" fmla="val 18671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923931" y="5041810"/>
            <a:ext cx="237411" cy="296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3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2883694" y="5058776"/>
            <a:ext cx="1978819" cy="247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15:50–16:00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2883694" y="5376911"/>
            <a:ext cx="9893141" cy="229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Debrief 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883694" y="5676830"/>
            <a:ext cx="9893141" cy="229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Case 3 reflection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883694" y="5976748"/>
            <a:ext cx="9893141" cy="687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"Treat vs Do not treat" scenarios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Communicating urgency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Scope of practice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883694" y="6734945"/>
            <a:ext cx="9893141" cy="229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Teaching Method:</a:t>
            </a:r>
            <a:r>
              <a:rPr lang="en-US" sz="13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Tutor-led debrief</a:t>
            </a:r>
            <a:endParaRPr lang="en-US" sz="13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728D8F7-84F1-05CA-4AB7-D95664129849}"/>
              </a:ext>
            </a:extLst>
          </p:cNvPr>
          <p:cNvSpPr/>
          <p:nvPr/>
        </p:nvSpPr>
        <p:spPr>
          <a:xfrm>
            <a:off x="12791326" y="7787811"/>
            <a:ext cx="1756881" cy="383024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2491" y="822127"/>
            <a:ext cx="8246626" cy="582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Simulation Cases 4 &amp; 5 with Wrap-Up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882491" y="1732598"/>
            <a:ext cx="198001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01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882491" y="2046208"/>
            <a:ext cx="6350675" cy="22860"/>
          </a:xfrm>
          <a:prstGeom prst="rect">
            <a:avLst/>
          </a:prstGeom>
          <a:solidFill>
            <a:srgbClr val="BE49D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82491" y="2190869"/>
            <a:ext cx="3455789" cy="291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16:00–16:</a:t>
            </a:r>
            <a:r>
              <a:rPr lang="en-US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20</a:t>
            </a:r>
            <a:r>
              <a:rPr lang="en-US" sz="18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 | Simulation Case 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82491" y="2580561"/>
            <a:ext cx="6350675" cy="28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Persistent &amp; Inflammatory Low Back Pain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82491" y="2968466"/>
            <a:ext cx="6350675" cy="868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Inflammatory vs mechanical pain</a:t>
            </a:r>
            <a:endParaRPr lang="en-US" sz="155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Chronic pain models</a:t>
            </a:r>
            <a:endParaRPr lang="en-US" sz="155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NICE-guided MDT management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82491" y="3878665"/>
            <a:ext cx="6350675" cy="28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Teaching Method:</a:t>
            </a: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Simulation + progressive disclosure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397115" y="1732598"/>
            <a:ext cx="198001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02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397115" y="2046208"/>
            <a:ext cx="6350675" cy="22860"/>
          </a:xfrm>
          <a:prstGeom prst="rect">
            <a:avLst/>
          </a:prstGeom>
          <a:solidFill>
            <a:srgbClr val="BE49D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7397115" y="2190869"/>
            <a:ext cx="2486263" cy="291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16:20–16:30 | Debrief 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97115" y="2580561"/>
            <a:ext cx="6350675" cy="28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Case 4 reflection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397115" y="2968466"/>
            <a:ext cx="6350675" cy="579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Avoiding misdiagnosis of inflammatory pain</a:t>
            </a:r>
            <a:endParaRPr lang="en-US" sz="155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Appropriate referral pathways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397115" y="3646109"/>
            <a:ext cx="6350675" cy="28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Teaching Method:</a:t>
            </a: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Group feedback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82491" y="4480645"/>
            <a:ext cx="198001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82491" y="4794255"/>
            <a:ext cx="6350675" cy="22860"/>
          </a:xfrm>
          <a:prstGeom prst="rect">
            <a:avLst/>
          </a:prstGeom>
          <a:solidFill>
            <a:srgbClr val="BE49D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882491" y="4938916"/>
            <a:ext cx="3455789" cy="291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16:30–16:50 | Simulation Case 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82491" y="5328608"/>
            <a:ext cx="6350675" cy="28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Shoulder Pain: Trauma &amp; Frozen Shoulder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82491" y="5716514"/>
            <a:ext cx="6350675" cy="868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Trauma</a:t>
            </a:r>
            <a:endParaRPr lang="en-US" sz="155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Frozen shoulder</a:t>
            </a:r>
            <a:endParaRPr lang="en-US" sz="155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Escalation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82491" y="6569531"/>
            <a:ext cx="6350675" cy="28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Teaching Method:</a:t>
            </a: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Focused simulation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397115" y="4480645"/>
            <a:ext cx="198001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04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7397115" y="4794255"/>
            <a:ext cx="6350675" cy="22860"/>
          </a:xfrm>
          <a:prstGeom prst="rect">
            <a:avLst/>
          </a:prstGeom>
          <a:solidFill>
            <a:srgbClr val="BE49D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7397115" y="4938916"/>
            <a:ext cx="3886795" cy="291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16:50–17:00 | Reflection &amp; Wrap-Up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397115" y="5328608"/>
            <a:ext cx="6350675" cy="28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Whole-group reflection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397115" y="5716514"/>
            <a:ext cx="6350675" cy="868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Gibbs reflective cycle</a:t>
            </a:r>
            <a:endParaRPr lang="en-US" sz="155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learning points</a:t>
            </a:r>
            <a:endParaRPr lang="en-US" sz="155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Preparation for placement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7397115" y="6569531"/>
            <a:ext cx="6350675" cy="28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Teaching Method:</a:t>
            </a: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Tutor-facilitated discussion</a:t>
            </a:r>
            <a:endParaRPr lang="en-US" sz="15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9B4E506-5D19-489C-6A92-6439123B3C43}"/>
              </a:ext>
            </a:extLst>
          </p:cNvPr>
          <p:cNvSpPr/>
          <p:nvPr/>
        </p:nvSpPr>
        <p:spPr>
          <a:xfrm>
            <a:off x="12791326" y="7787811"/>
            <a:ext cx="1756881" cy="383024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443" y="1413510"/>
            <a:ext cx="4608314" cy="576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Case Studies 1 &amp; 2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85443" y="2389942"/>
            <a:ext cx="2764988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BE49DF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CASE STUDY 1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685443" y="2799517"/>
            <a:ext cx="3647718" cy="575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OLDER ADULT WITH LOW BACK PAIN &amp; CANCER HISTORY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85443" y="3969306"/>
            <a:ext cx="3647718" cy="1708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You are a physiotherapist in an MSK outpatient clinic.</a:t>
            </a:r>
            <a:endParaRPr lang="en-US" sz="15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68-year-old woman presents with low back pain radiating to her right leg.</a:t>
            </a:r>
            <a:endParaRPr lang="en-US" sz="15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Conduct an appropriate assessment and outline your management plan.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443" y="6386989"/>
            <a:ext cx="3647718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Time: 15 minutes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818459" y="2389942"/>
            <a:ext cx="2764988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BE49DF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CASE STUDY 2</a:t>
            </a:r>
            <a:endParaRPr lang="en-US" sz="2150" dirty="0"/>
          </a:p>
        </p:txBody>
      </p:sp>
      <p:sp>
        <p:nvSpPr>
          <p:cNvPr id="10" name="Text 7"/>
          <p:cNvSpPr/>
          <p:nvPr/>
        </p:nvSpPr>
        <p:spPr>
          <a:xfrm>
            <a:off x="4818459" y="2799517"/>
            <a:ext cx="3647718" cy="863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RADICULAR LEG PAIN &amp; NERVE LESION LOCALISATION (Root vs Peripheral Nerve)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818459" y="4016614"/>
            <a:ext cx="3647718" cy="854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48-year-old florist presents with unilateral calf pain and paraesthesia for 8 weeks.</a:t>
            </a:r>
            <a:endParaRPr lang="en-US" sz="15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Assess and explain your diagnosis.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010984" y="6374636"/>
            <a:ext cx="3647718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Time: 15 minutes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982" y="696397"/>
            <a:ext cx="5411986" cy="676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Case Studies 3, 4 &amp; 5</a:t>
            </a:r>
            <a:endParaRPr lang="en-US" sz="4250" dirty="0"/>
          </a:p>
        </p:txBody>
      </p:sp>
      <p:sp>
        <p:nvSpPr>
          <p:cNvPr id="3" name="Shape 1"/>
          <p:cNvSpPr/>
          <p:nvPr/>
        </p:nvSpPr>
        <p:spPr>
          <a:xfrm>
            <a:off x="804982" y="1814870"/>
            <a:ext cx="4192786" cy="5718215"/>
          </a:xfrm>
          <a:prstGeom prst="roundRect">
            <a:avLst>
              <a:gd name="adj" fmla="val 2304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D6BA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065371" y="2075259"/>
            <a:ext cx="2705933" cy="338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BE49DF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CASE STUDY 3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65371" y="2546033"/>
            <a:ext cx="3672007" cy="144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CERVICAL, SHOULDER &amp; NEUROLOGICAL PRESENTATIONS (NECK &amp; ARM PAIN – RADICULOPATHY VS MYELOPATHY)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5371" y="4121587"/>
            <a:ext cx="3672007" cy="72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75860" y="4464783"/>
            <a:ext cx="3672007" cy="1803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patient presents with neck pain radiating to the arm and altered sensation.</a:t>
            </a:r>
            <a:endParaRPr lang="en-US" sz="180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Perform a focused assessment and outline next steps.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5371" y="6911935"/>
            <a:ext cx="3672007" cy="360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Time: 15 minutes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218748" y="1814870"/>
            <a:ext cx="4192786" cy="5718215"/>
          </a:xfrm>
          <a:prstGeom prst="roundRect">
            <a:avLst>
              <a:gd name="adj" fmla="val 2304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D6BA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479137" y="2075259"/>
            <a:ext cx="2705933" cy="338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BE49DF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CASE STUDY 4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479137" y="2546033"/>
            <a:ext cx="3672007" cy="72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PERSISTENT &amp; INFLAMMATORY LOW BACK PAIN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79137" y="4254103"/>
            <a:ext cx="3672007" cy="1082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39-year-old builder has 6 months of low back pain disturbing sleep but improving with activity.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653798" y="6914981"/>
            <a:ext cx="3672007" cy="360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Time: 15 minutes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632513" y="1814870"/>
            <a:ext cx="4192905" cy="5718215"/>
          </a:xfrm>
          <a:prstGeom prst="roundRect">
            <a:avLst>
              <a:gd name="adj" fmla="val 2304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D6BA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9892903" y="2075259"/>
            <a:ext cx="2705933" cy="338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BE49DF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CASE STUDY 5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892903" y="2546033"/>
            <a:ext cx="3672126" cy="72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SHOULDER PAIN, TRAUMA &amp; FROZEN SHOULDER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892903" y="4254103"/>
            <a:ext cx="3672126" cy="1082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50-year-old man presents with shoulder pain following a fall 2 weeks ago.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997640" y="6911934"/>
            <a:ext cx="3672126" cy="360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Time: 15 minutes</a:t>
            </a:r>
            <a:endParaRPr lang="en-US" sz="18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7E1D101-7499-41BD-7FAA-09790192E639}"/>
              </a:ext>
            </a:extLst>
          </p:cNvPr>
          <p:cNvSpPr/>
          <p:nvPr/>
        </p:nvSpPr>
        <p:spPr>
          <a:xfrm>
            <a:off x="12791326" y="7798085"/>
            <a:ext cx="1756881" cy="383024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45701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Debrief Framework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028468"/>
            <a:ext cx="12954952" cy="478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23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Debrief after each case study:</a:t>
            </a:r>
            <a:endParaRPr lang="en-US" sz="2350" dirty="0"/>
          </a:p>
        </p:txBody>
      </p:sp>
      <p:sp>
        <p:nvSpPr>
          <p:cNvPr id="4" name="Shape 2"/>
          <p:cNvSpPr/>
          <p:nvPr/>
        </p:nvSpPr>
        <p:spPr>
          <a:xfrm>
            <a:off x="837724" y="2776299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615559" y="2821067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What was missed?</a:t>
            </a:r>
            <a:endParaRPr lang="en-US" sz="2650" dirty="0"/>
          </a:p>
        </p:txBody>
      </p:sp>
      <p:sp>
        <p:nvSpPr>
          <p:cNvPr id="6" name="Shape 4"/>
          <p:cNvSpPr/>
          <p:nvPr/>
        </p:nvSpPr>
        <p:spPr>
          <a:xfrm>
            <a:off x="837724" y="3793569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615559" y="3838337"/>
            <a:ext cx="7014805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What was your working diagnosis initially?</a:t>
            </a:r>
            <a:endParaRPr lang="en-US" sz="2650" dirty="0"/>
          </a:p>
        </p:txBody>
      </p:sp>
      <p:sp>
        <p:nvSpPr>
          <p:cNvPr id="8" name="Shape 6"/>
          <p:cNvSpPr/>
          <p:nvPr/>
        </p:nvSpPr>
        <p:spPr>
          <a:xfrm>
            <a:off x="837724" y="4810839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615559" y="4855607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What was unsafe?</a:t>
            </a:r>
            <a:endParaRPr lang="en-US" sz="2650" dirty="0"/>
          </a:p>
        </p:txBody>
      </p:sp>
      <p:sp>
        <p:nvSpPr>
          <p:cNvPr id="10" name="Shape 8"/>
          <p:cNvSpPr/>
          <p:nvPr/>
        </p:nvSpPr>
        <p:spPr>
          <a:xfrm>
            <a:off x="837724" y="5828109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615559" y="5872877"/>
            <a:ext cx="4546163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What changed management</a:t>
            </a:r>
            <a:endParaRPr lang="en-US" sz="2650" dirty="0"/>
          </a:p>
        </p:txBody>
      </p:sp>
      <p:sp>
        <p:nvSpPr>
          <p:cNvPr id="12" name="Shape 10"/>
          <p:cNvSpPr/>
          <p:nvPr/>
        </p:nvSpPr>
        <p:spPr>
          <a:xfrm>
            <a:off x="837724" y="6845379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615559" y="6890147"/>
            <a:ext cx="740033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What would you do differently on placement?</a:t>
            </a:r>
            <a:endParaRPr lang="en-US" sz="26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DCAED6-B2F2-6ABC-E45C-014D38982480}"/>
              </a:ext>
            </a:extLst>
          </p:cNvPr>
          <p:cNvSpPr/>
          <p:nvPr/>
        </p:nvSpPr>
        <p:spPr>
          <a:xfrm>
            <a:off x="12791326" y="7787811"/>
            <a:ext cx="1756881" cy="383024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11448</TotalTime>
  <Words>582</Words>
  <Application>Microsoft Office PowerPoint</Application>
  <PresentationFormat>Custom</PresentationFormat>
  <Paragraphs>134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Source Serif 4 Semi Bold</vt:lpstr>
      <vt:lpstr>Times New Roman</vt:lpstr>
      <vt:lpstr>Source Serif 4 Light</vt:lpstr>
      <vt:lpstr>Arial</vt:lpstr>
      <vt:lpstr>Source Sans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Nwosu Ifeoma (LCHS)</dc:creator>
  <cp:lastModifiedBy>NWOSU, Ifeoma (LINCOLNSHIRE COMMUNITY AND HOSPITALS NHS GROUP - RY5)</cp:lastModifiedBy>
  <cp:revision>4</cp:revision>
  <dcterms:created xsi:type="dcterms:W3CDTF">2026-02-03T05:46:57Z</dcterms:created>
  <dcterms:modified xsi:type="dcterms:W3CDTF">2026-02-19T07:03:00Z</dcterms:modified>
</cp:coreProperties>
</file>