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1" r:id="rId6"/>
    <p:sldId id="262" r:id="rId7"/>
    <p:sldId id="278" r:id="rId8"/>
    <p:sldId id="279" r:id="rId9"/>
    <p:sldId id="281" r:id="rId10"/>
    <p:sldId id="282" r:id="rId11"/>
    <p:sldId id="283" r:id="rId12"/>
    <p:sldId id="284" r:id="rId13"/>
    <p:sldId id="285" r:id="rId14"/>
    <p:sldId id="286" r:id="rId15"/>
    <p:sldId id="287" r:id="rId16"/>
    <p:sldId id="288" r:id="rId17"/>
    <p:sldId id="289" r:id="rId18"/>
    <p:sldId id="290" r:id="rId19"/>
    <p:sldId id="280" r:id="rId20"/>
    <p:sldId id="291"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1657" autoAdjust="0"/>
  </p:normalViewPr>
  <p:slideViewPr>
    <p:cSldViewPr snapToGrid="0">
      <p:cViewPr varScale="1">
        <p:scale>
          <a:sx n="104" d="100"/>
          <a:sy n="104" d="100"/>
        </p:scale>
        <p:origin x="816" y="114"/>
      </p:cViewPr>
      <p:guideLst/>
    </p:cSldViewPr>
  </p:slideViewPr>
  <p:notesTextViewPr>
    <p:cViewPr>
      <p:scale>
        <a:sx n="1" d="1"/>
        <a:sy n="1" d="1"/>
      </p:scale>
      <p:origin x="0" y="-4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AFF67B-FEAE-4A71-BDA4-14F674C4C68A}" type="datetimeFigureOut">
              <a:rPr lang="en-GB" smtClean="0"/>
              <a:t>07/10/2024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1F0AA-560B-4A47-AFC3-CBAC741DCFA6}" type="slidenum">
              <a:rPr lang="en-GB" smtClean="0"/>
              <a:t>‹#›</a:t>
            </a:fld>
            <a:endParaRPr lang="en-GB"/>
          </a:p>
        </p:txBody>
      </p:sp>
    </p:spTree>
    <p:extLst>
      <p:ext uri="{BB962C8B-B14F-4D97-AF65-F5344CB8AC3E}">
        <p14:creationId xmlns:p14="http://schemas.microsoft.com/office/powerpoint/2010/main" val="552652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physio-pedia.com/Rectus_Femoris"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physio-pedia.com/Vastus_Intermedius" TargetMode="External"/><Relationship Id="rId5" Type="http://schemas.openxmlformats.org/officeDocument/2006/relationships/hyperlink" Target="https://www.physio-pedia.com/Vastus_Medialis" TargetMode="External"/><Relationship Id="rId4" Type="http://schemas.openxmlformats.org/officeDocument/2006/relationships/hyperlink" Target="https://www.physio-pedia.com/Vastus_Lateralis"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physio-pedia.com/Semitendinosus"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www.physio-pedia.com/Hamstrings#cite_note-:0-1" TargetMode="External"/><Relationship Id="rId5" Type="http://schemas.openxmlformats.org/officeDocument/2006/relationships/hyperlink" Target="https://www.physio-pedia.com/Biceps_Femoris" TargetMode="External"/><Relationship Id="rId4" Type="http://schemas.openxmlformats.org/officeDocument/2006/relationships/hyperlink" Target="https://www.physio-pedia.com/Semimembranosus"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20621"/>
                </a:solidFill>
                <a:effectLst/>
                <a:highlight>
                  <a:srgbClr val="FFFFFF"/>
                </a:highlight>
                <a:latin typeface="tisapro-regular"/>
              </a:rPr>
              <a:t>The Quadriceps femoris is the most voluminous muscle of the human body.</a:t>
            </a:r>
          </a:p>
          <a:p>
            <a:pPr algn="l"/>
            <a:r>
              <a:rPr lang="en-GB" b="0" i="0" dirty="0">
                <a:solidFill>
                  <a:srgbClr val="020621"/>
                </a:solidFill>
                <a:effectLst/>
                <a:highlight>
                  <a:srgbClr val="FFFFFF"/>
                </a:highlight>
                <a:latin typeface="tisapro-regular"/>
              </a:rPr>
              <a:t>The quadriceps femoris is a hip flexor and a knee extensor. It consists of four individual muscles; three vastus muscles and the rectus femoris. </a:t>
            </a:r>
          </a:p>
          <a:p>
            <a:pPr algn="l"/>
            <a:r>
              <a:rPr lang="en-GB" b="0" i="0" dirty="0">
                <a:solidFill>
                  <a:srgbClr val="020621"/>
                </a:solidFill>
                <a:effectLst/>
                <a:highlight>
                  <a:srgbClr val="FFFFFF"/>
                </a:highlight>
                <a:latin typeface="tisapro-regular"/>
              </a:rPr>
              <a:t>They form the main bulk of the thigh, and collectively are one of the most powerful muscles in the body.</a:t>
            </a:r>
          </a:p>
          <a:p>
            <a:pPr algn="l"/>
            <a:endParaRPr lang="en-GB" b="0" i="0" dirty="0">
              <a:solidFill>
                <a:srgbClr val="020621"/>
              </a:solidFill>
              <a:effectLst/>
              <a:highlight>
                <a:srgbClr val="FFFFFF"/>
              </a:highlight>
              <a:latin typeface="tisapro-regular"/>
            </a:endParaRPr>
          </a:p>
          <a:p>
            <a:pPr algn="l"/>
            <a:r>
              <a:rPr lang="en-GB" b="0" i="0" dirty="0">
                <a:solidFill>
                  <a:srgbClr val="020621"/>
                </a:solidFill>
                <a:effectLst/>
                <a:highlight>
                  <a:srgbClr val="FFFFFF"/>
                </a:highlight>
                <a:latin typeface="tisapro-regular"/>
              </a:rPr>
              <a:t>It is located in the anterior compartment of the thigh.</a:t>
            </a:r>
          </a:p>
          <a:p>
            <a:pPr algn="l"/>
            <a:r>
              <a:rPr lang="en-GB" b="0" i="0" dirty="0">
                <a:solidFill>
                  <a:srgbClr val="020621"/>
                </a:solidFill>
                <a:effectLst/>
                <a:highlight>
                  <a:srgbClr val="FFFFFF"/>
                </a:highlight>
                <a:latin typeface="tisapro-regular"/>
              </a:rPr>
              <a:t>The four 4 sub-components are:</a:t>
            </a:r>
          </a:p>
          <a:p>
            <a:pPr algn="l">
              <a:buFont typeface="Arial" panose="020B0604020202020204" pitchFamily="34" charset="0"/>
              <a:buChar char="•"/>
            </a:pPr>
            <a:r>
              <a:rPr lang="en-GB" b="0" i="0" u="none" strike="noStrike" dirty="0">
                <a:solidFill>
                  <a:schemeClr val="tx1"/>
                </a:solidFill>
                <a:effectLst/>
                <a:highlight>
                  <a:srgbClr val="FFFFFF"/>
                </a:highlight>
                <a:latin typeface="tisapro-regular"/>
                <a:hlinkClick r:id="rId3">
                  <a:extLst>
                    <a:ext uri="{A12FA001-AC4F-418D-AE19-62706E023703}">
                      <ahyp:hlinkClr xmlns:ahyp="http://schemas.microsoft.com/office/drawing/2018/hyperlinkcolor" val="tx"/>
                    </a:ext>
                  </a:extLst>
                </a:hlinkClick>
              </a:rPr>
              <a:t>Rectus femoris</a:t>
            </a:r>
            <a:endParaRPr lang="en-GB" b="0" i="0" u="none" dirty="0">
              <a:solidFill>
                <a:schemeClr val="tx1"/>
              </a:solidFill>
              <a:effectLst/>
              <a:highlight>
                <a:srgbClr val="FFFFFF"/>
              </a:highlight>
              <a:latin typeface="tisapro-regular"/>
            </a:endParaRPr>
          </a:p>
          <a:p>
            <a:pPr algn="l">
              <a:buFont typeface="Arial" panose="020B0604020202020204" pitchFamily="34" charset="0"/>
              <a:buChar char="•"/>
            </a:pPr>
            <a:r>
              <a:rPr lang="en-GB" b="0" i="0" u="none" strike="noStrike" dirty="0">
                <a:solidFill>
                  <a:schemeClr val="tx1"/>
                </a:solidFill>
                <a:effectLst/>
                <a:highlight>
                  <a:srgbClr val="FFFFFF"/>
                </a:highlight>
                <a:latin typeface="tisapro-regular"/>
                <a:hlinkClick r:id="rId4" tooltip="Vastus Lateralis">
                  <a:extLst>
                    <a:ext uri="{A12FA001-AC4F-418D-AE19-62706E023703}">
                      <ahyp:hlinkClr xmlns:ahyp="http://schemas.microsoft.com/office/drawing/2018/hyperlinkcolor" val="tx"/>
                    </a:ext>
                  </a:extLst>
                </a:hlinkClick>
              </a:rPr>
              <a:t>Vastus lateralis</a:t>
            </a:r>
            <a:endParaRPr lang="en-GB" b="0" i="0" u="none" dirty="0">
              <a:solidFill>
                <a:schemeClr val="tx1"/>
              </a:solidFill>
              <a:effectLst/>
              <a:highlight>
                <a:srgbClr val="FFFFFF"/>
              </a:highlight>
              <a:latin typeface="tisapro-regular"/>
            </a:endParaRPr>
          </a:p>
          <a:p>
            <a:pPr algn="l">
              <a:buFont typeface="Arial" panose="020B0604020202020204" pitchFamily="34" charset="0"/>
              <a:buChar char="•"/>
            </a:pPr>
            <a:r>
              <a:rPr lang="en-GB" b="0" i="0" u="none" strike="noStrike" dirty="0">
                <a:solidFill>
                  <a:schemeClr val="tx1"/>
                </a:solidFill>
                <a:effectLst/>
                <a:highlight>
                  <a:srgbClr val="FFFFFF"/>
                </a:highlight>
                <a:latin typeface="tisapro-regular"/>
                <a:hlinkClick r:id="rId5" tooltip="Vastus Medialis">
                  <a:extLst>
                    <a:ext uri="{A12FA001-AC4F-418D-AE19-62706E023703}">
                      <ahyp:hlinkClr xmlns:ahyp="http://schemas.microsoft.com/office/drawing/2018/hyperlinkcolor" val="tx"/>
                    </a:ext>
                  </a:extLst>
                </a:hlinkClick>
              </a:rPr>
              <a:t>Vastus medialis</a:t>
            </a:r>
            <a:endParaRPr lang="en-GB" b="0" i="0" u="none" dirty="0">
              <a:solidFill>
                <a:schemeClr val="tx1"/>
              </a:solidFill>
              <a:effectLst/>
              <a:highlight>
                <a:srgbClr val="FFFFFF"/>
              </a:highlight>
              <a:latin typeface="tisapro-regular"/>
            </a:endParaRPr>
          </a:p>
          <a:p>
            <a:pPr algn="l">
              <a:buFont typeface="Arial" panose="020B0604020202020204" pitchFamily="34" charset="0"/>
              <a:buChar char="•"/>
            </a:pPr>
            <a:r>
              <a:rPr lang="en-GB" b="0" i="0" u="none" strike="noStrike" dirty="0">
                <a:solidFill>
                  <a:schemeClr val="tx1"/>
                </a:solidFill>
                <a:effectLst/>
                <a:highlight>
                  <a:srgbClr val="FFFFFF"/>
                </a:highlight>
                <a:latin typeface="tisapro-regular"/>
                <a:hlinkClick r:id="rId6" tooltip="Vastus Intermedius">
                  <a:extLst>
                    <a:ext uri="{A12FA001-AC4F-418D-AE19-62706E023703}">
                      <ahyp:hlinkClr xmlns:ahyp="http://schemas.microsoft.com/office/drawing/2018/hyperlinkcolor" val="tx"/>
                    </a:ext>
                  </a:extLst>
                </a:hlinkClick>
              </a:rPr>
              <a:t>Vastus intermedius</a:t>
            </a:r>
            <a:r>
              <a:rPr lang="en-GB" b="0" i="0" u="none" dirty="0">
                <a:solidFill>
                  <a:schemeClr val="tx1"/>
                </a:solidFill>
                <a:effectLst/>
                <a:highlight>
                  <a:srgbClr val="FFFFFF"/>
                </a:highlight>
                <a:latin typeface="tisapro-regular"/>
              </a:rPr>
              <a:t> </a:t>
            </a:r>
          </a:p>
          <a:p>
            <a:pPr algn="l">
              <a:buFont typeface="Arial" panose="020B0604020202020204" pitchFamily="34" charset="0"/>
              <a:buNone/>
            </a:pPr>
            <a:endParaRPr lang="en-GB" b="0" i="0" dirty="0">
              <a:solidFill>
                <a:srgbClr val="020621"/>
              </a:solidFill>
              <a:effectLst/>
              <a:highlight>
                <a:srgbClr val="FFFFFF"/>
              </a:highlight>
              <a:latin typeface="tisapro-regular"/>
            </a:endParaRPr>
          </a:p>
          <a:p>
            <a:pPr algn="l">
              <a:buFont typeface="Arial" panose="020B0604020202020204" pitchFamily="34" charset="0"/>
              <a:buNone/>
            </a:pPr>
            <a:r>
              <a:rPr lang="en-GB" b="0" i="0" dirty="0">
                <a:solidFill>
                  <a:srgbClr val="020621"/>
                </a:solidFill>
                <a:effectLst/>
                <a:highlight>
                  <a:srgbClr val="FFFFFF"/>
                </a:highlight>
                <a:latin typeface="tisapro-regular"/>
              </a:rPr>
              <a:t>The muscles that form the quadriceps femoris unite proximal to the knee and attach to the patella via the quadriceps tendon. </a:t>
            </a:r>
          </a:p>
          <a:p>
            <a:pPr algn="l">
              <a:buFont typeface="Arial" panose="020B0604020202020204" pitchFamily="34" charset="0"/>
              <a:buNone/>
            </a:pPr>
            <a:r>
              <a:rPr lang="en-GB" b="0" i="0" dirty="0">
                <a:solidFill>
                  <a:srgbClr val="020621"/>
                </a:solidFill>
                <a:effectLst/>
                <a:highlight>
                  <a:srgbClr val="FFFFFF"/>
                </a:highlight>
                <a:latin typeface="tisapro-regular"/>
              </a:rPr>
              <a:t>In turn, the patella is attached to the tibia by the patella ligament.</a:t>
            </a:r>
          </a:p>
          <a:p>
            <a:endParaRPr lang="en-GB" dirty="0"/>
          </a:p>
        </p:txBody>
      </p:sp>
      <p:sp>
        <p:nvSpPr>
          <p:cNvPr id="4" name="Slide Number Placeholder 3"/>
          <p:cNvSpPr>
            <a:spLocks noGrp="1"/>
          </p:cNvSpPr>
          <p:nvPr>
            <p:ph type="sldNum" sz="quarter" idx="5"/>
          </p:nvPr>
        </p:nvSpPr>
        <p:spPr/>
        <p:txBody>
          <a:bodyPr/>
          <a:lstStyle/>
          <a:p>
            <a:fld id="{3EA1F0AA-560B-4A47-AFC3-CBAC741DCFA6}" type="slidenum">
              <a:rPr lang="en-GB" smtClean="0"/>
              <a:t>7</a:t>
            </a:fld>
            <a:endParaRPr lang="en-GB"/>
          </a:p>
        </p:txBody>
      </p:sp>
    </p:spTree>
    <p:extLst>
      <p:ext uri="{BB962C8B-B14F-4D97-AF65-F5344CB8AC3E}">
        <p14:creationId xmlns:p14="http://schemas.microsoft.com/office/powerpoint/2010/main" val="1224400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20621"/>
                </a:solidFill>
                <a:effectLst/>
                <a:highlight>
                  <a:srgbClr val="FFFFFF"/>
                </a:highlight>
                <a:latin typeface="tisapro-regular"/>
              </a:rPr>
              <a:t>The hamstrings are a group of three muscles that predominantly act to flex the knee. The hamstrings consist of 3 muscles;</a:t>
            </a:r>
          </a:p>
          <a:p>
            <a:pPr algn="l">
              <a:buFont typeface="Arial" panose="020B0604020202020204" pitchFamily="34" charset="0"/>
              <a:buChar char="•"/>
            </a:pPr>
            <a:r>
              <a:rPr lang="en-GB" b="0" i="0" u="none" strike="noStrike" dirty="0">
                <a:solidFill>
                  <a:schemeClr val="tx1"/>
                </a:solidFill>
                <a:effectLst/>
                <a:highlight>
                  <a:srgbClr val="FFFFFF"/>
                </a:highlight>
                <a:latin typeface="tisapro-regular"/>
                <a:hlinkClick r:id="rId3" tooltip="Semitendinosus">
                  <a:extLst>
                    <a:ext uri="{A12FA001-AC4F-418D-AE19-62706E023703}">
                      <ahyp:hlinkClr xmlns:ahyp="http://schemas.microsoft.com/office/drawing/2018/hyperlinkcolor" val="tx"/>
                    </a:ext>
                  </a:extLst>
                </a:hlinkClick>
              </a:rPr>
              <a:t>Semitendinosus</a:t>
            </a:r>
            <a:endParaRPr lang="en-GB" b="0" i="0" dirty="0">
              <a:solidFill>
                <a:schemeClr val="tx1"/>
              </a:solidFill>
              <a:effectLst/>
              <a:highlight>
                <a:srgbClr val="FFFFFF"/>
              </a:highlight>
              <a:latin typeface="tisapro-regular"/>
            </a:endParaRPr>
          </a:p>
          <a:p>
            <a:pPr algn="l">
              <a:buFont typeface="Arial" panose="020B0604020202020204" pitchFamily="34" charset="0"/>
              <a:buChar char="•"/>
            </a:pPr>
            <a:r>
              <a:rPr lang="en-GB" b="0" i="0" u="none" strike="noStrike" dirty="0">
                <a:solidFill>
                  <a:schemeClr val="tx1"/>
                </a:solidFill>
                <a:effectLst/>
                <a:highlight>
                  <a:srgbClr val="FFFFFF"/>
                </a:highlight>
                <a:latin typeface="tisapro-regular"/>
                <a:hlinkClick r:id="rId4" tooltip="Semimembranosus">
                  <a:extLst>
                    <a:ext uri="{A12FA001-AC4F-418D-AE19-62706E023703}">
                      <ahyp:hlinkClr xmlns:ahyp="http://schemas.microsoft.com/office/drawing/2018/hyperlinkcolor" val="tx"/>
                    </a:ext>
                  </a:extLst>
                </a:hlinkClick>
              </a:rPr>
              <a:t>Semimembranosus</a:t>
            </a:r>
            <a:endParaRPr lang="en-GB" b="0" i="0" dirty="0">
              <a:solidFill>
                <a:schemeClr val="tx1"/>
              </a:solidFill>
              <a:effectLst/>
              <a:highlight>
                <a:srgbClr val="FFFFFF"/>
              </a:highlight>
              <a:latin typeface="tisapro-regular"/>
            </a:endParaRPr>
          </a:p>
          <a:p>
            <a:pPr algn="l">
              <a:buFont typeface="Arial" panose="020B0604020202020204" pitchFamily="34" charset="0"/>
              <a:buChar char="•"/>
            </a:pPr>
            <a:r>
              <a:rPr lang="en-GB" b="0" i="0" u="none" strike="noStrike" dirty="0">
                <a:solidFill>
                  <a:schemeClr val="tx1"/>
                </a:solidFill>
                <a:effectLst/>
                <a:highlight>
                  <a:srgbClr val="FFFFFF"/>
                </a:highlight>
                <a:latin typeface="tisapro-regular"/>
                <a:hlinkClick r:id="rId5" tooltip="Biceps Femoris">
                  <a:extLst>
                    <a:ext uri="{A12FA001-AC4F-418D-AE19-62706E023703}">
                      <ahyp:hlinkClr xmlns:ahyp="http://schemas.microsoft.com/office/drawing/2018/hyperlinkcolor" val="tx"/>
                    </a:ext>
                  </a:extLst>
                </a:hlinkClick>
              </a:rPr>
              <a:t>Biceps femoris</a:t>
            </a:r>
            <a:endParaRPr lang="en-GB" b="0" i="0" dirty="0">
              <a:solidFill>
                <a:schemeClr val="tx1"/>
              </a:solidFill>
              <a:effectLst/>
              <a:highlight>
                <a:srgbClr val="FFFFFF"/>
              </a:highlight>
              <a:latin typeface="tisapro-regular"/>
            </a:endParaRPr>
          </a:p>
          <a:p>
            <a:pPr algn="l"/>
            <a:br>
              <a:rPr lang="en-GB" b="0" i="0" dirty="0">
                <a:solidFill>
                  <a:srgbClr val="020621"/>
                </a:solidFill>
                <a:effectLst/>
                <a:highlight>
                  <a:srgbClr val="FFFFFF"/>
                </a:highlight>
                <a:latin typeface="tisapro-regular"/>
              </a:rPr>
            </a:br>
            <a:r>
              <a:rPr lang="en-GB" b="0" i="0" dirty="0">
                <a:solidFill>
                  <a:srgbClr val="020621"/>
                </a:solidFill>
                <a:effectLst/>
                <a:highlight>
                  <a:srgbClr val="FFFFFF"/>
                </a:highlight>
                <a:latin typeface="tisapro-regular"/>
              </a:rPr>
              <a:t>The muscles cross two joints and have long proximal and distal tendons, resulting in long muscle tendon junctions (MTJ). MTJs extend into the muscle bellies, overlap within the muscle belly, facilitate transmission, and dissipate forces across the MTJ during muscle contraction and relaxation.</a:t>
            </a:r>
            <a:r>
              <a:rPr lang="en-GB" b="0" i="0" u="none" strike="noStrike" baseline="30000" dirty="0">
                <a:solidFill>
                  <a:srgbClr val="2752FF"/>
                </a:solidFill>
                <a:effectLst/>
                <a:highlight>
                  <a:srgbClr val="FFFFFF"/>
                </a:highlight>
                <a:latin typeface="tisapro-regular"/>
                <a:hlinkClick r:id="rId6"/>
              </a:rPr>
              <a:t>[1]</a:t>
            </a:r>
            <a:endParaRPr lang="en-GB" b="0" i="0" dirty="0">
              <a:solidFill>
                <a:srgbClr val="020621"/>
              </a:solidFill>
              <a:effectLst/>
              <a:highlight>
                <a:srgbClr val="FFFFFF"/>
              </a:highlight>
              <a:latin typeface="tisapro-regular"/>
            </a:endParaRPr>
          </a:p>
          <a:p>
            <a:endParaRPr lang="en-GB" dirty="0"/>
          </a:p>
        </p:txBody>
      </p:sp>
      <p:sp>
        <p:nvSpPr>
          <p:cNvPr id="4" name="Slide Number Placeholder 3"/>
          <p:cNvSpPr>
            <a:spLocks noGrp="1"/>
          </p:cNvSpPr>
          <p:nvPr>
            <p:ph type="sldNum" sz="quarter" idx="5"/>
          </p:nvPr>
        </p:nvSpPr>
        <p:spPr/>
        <p:txBody>
          <a:bodyPr/>
          <a:lstStyle/>
          <a:p>
            <a:fld id="{3EA1F0AA-560B-4A47-AFC3-CBAC741DCFA6}" type="slidenum">
              <a:rPr lang="en-GB" smtClean="0"/>
              <a:t>12</a:t>
            </a:fld>
            <a:endParaRPr lang="en-GB"/>
          </a:p>
        </p:txBody>
      </p:sp>
    </p:spTree>
    <p:extLst>
      <p:ext uri="{BB962C8B-B14F-4D97-AF65-F5344CB8AC3E}">
        <p14:creationId xmlns:p14="http://schemas.microsoft.com/office/powerpoint/2010/main" val="736270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2D3238"/>
                </a:solidFill>
                <a:effectLst/>
                <a:highlight>
                  <a:srgbClr val="FFFFFF"/>
                </a:highlight>
                <a:latin typeface="f37-ginger-bold"/>
              </a:rPr>
              <a:t>Origin</a:t>
            </a:r>
          </a:p>
          <a:p>
            <a:pPr algn="l"/>
            <a:r>
              <a:rPr lang="en-GB" b="0" i="0" dirty="0">
                <a:solidFill>
                  <a:srgbClr val="020621"/>
                </a:solidFill>
                <a:effectLst/>
                <a:highlight>
                  <a:srgbClr val="FFFFFF"/>
                </a:highlight>
                <a:latin typeface="tisapro-regular"/>
              </a:rPr>
              <a:t>A strong membranous tendon attaches to the </a:t>
            </a:r>
            <a:r>
              <a:rPr lang="en-GB" b="1" i="0" dirty="0">
                <a:solidFill>
                  <a:srgbClr val="020621"/>
                </a:solidFill>
                <a:effectLst/>
                <a:highlight>
                  <a:srgbClr val="FFFFFF"/>
                </a:highlight>
                <a:latin typeface="tisapro-regular"/>
              </a:rPr>
              <a:t>upper lateral facet</a:t>
            </a:r>
            <a:r>
              <a:rPr lang="en-GB" b="0" i="0" dirty="0">
                <a:solidFill>
                  <a:srgbClr val="020621"/>
                </a:solidFill>
                <a:effectLst/>
                <a:highlight>
                  <a:srgbClr val="FFFFFF"/>
                </a:highlight>
                <a:latin typeface="tisapro-regular"/>
              </a:rPr>
              <a:t> on the rough part of the </a:t>
            </a:r>
            <a:r>
              <a:rPr lang="en-GB" b="1" i="0" dirty="0">
                <a:solidFill>
                  <a:srgbClr val="020621"/>
                </a:solidFill>
                <a:effectLst/>
                <a:highlight>
                  <a:srgbClr val="FFFFFF"/>
                </a:highlight>
                <a:latin typeface="tisapro-regular"/>
              </a:rPr>
              <a:t>ischial tuberosity</a:t>
            </a:r>
            <a:r>
              <a:rPr lang="en-GB" b="0" i="0" dirty="0">
                <a:solidFill>
                  <a:srgbClr val="020621"/>
                </a:solidFill>
                <a:effectLst/>
                <a:highlight>
                  <a:srgbClr val="FFFFFF"/>
                </a:highlight>
                <a:latin typeface="tisapro-regular"/>
              </a:rPr>
              <a:t>.</a:t>
            </a:r>
          </a:p>
          <a:p>
            <a:pPr algn="l"/>
            <a:endParaRPr lang="en-GB" b="0" i="0" dirty="0">
              <a:solidFill>
                <a:srgbClr val="020621"/>
              </a:solidFill>
              <a:effectLst/>
              <a:highlight>
                <a:srgbClr val="FFFFFF"/>
              </a:highlight>
              <a:latin typeface="tisapro-regular"/>
            </a:endParaRPr>
          </a:p>
          <a:p>
            <a:pPr algn="l"/>
            <a:r>
              <a:rPr lang="en-GB" b="0" i="0" dirty="0">
                <a:solidFill>
                  <a:srgbClr val="2D3238"/>
                </a:solidFill>
                <a:effectLst/>
                <a:highlight>
                  <a:srgbClr val="FFFFFF"/>
                </a:highlight>
                <a:latin typeface="f37-ginger-bold"/>
              </a:rPr>
              <a:t>Insertion</a:t>
            </a:r>
          </a:p>
          <a:p>
            <a:pPr algn="l"/>
            <a:r>
              <a:rPr lang="en-GB" b="0" i="0" dirty="0">
                <a:solidFill>
                  <a:srgbClr val="020621"/>
                </a:solidFill>
                <a:effectLst/>
                <a:highlight>
                  <a:srgbClr val="FFFFFF"/>
                </a:highlight>
                <a:latin typeface="tisapro-regular"/>
              </a:rPr>
              <a:t>The anatomy of the distal insertion of the semimembranosus can be described as the distal semimembranosus complex: in fact, six different semimembranosus insertions can be identified. Anatomic dissection revealed six insertions of the distal semimembranosus tendon: direct arm, anterior arm, posterior oblique ligament extension, oblique popliteal ligament extension (capsular arm), distal tibial expansion (popliteus aponeurosis), and meniscal arm (</a:t>
            </a:r>
            <a:r>
              <a:rPr lang="en-GB" b="0" i="0" dirty="0">
                <a:solidFill>
                  <a:srgbClr val="020621"/>
                </a:solidFill>
                <a:effectLst/>
                <a:highlight>
                  <a:srgbClr val="EAF3FF"/>
                </a:highlight>
                <a:latin typeface="tisapro-regular"/>
              </a:rPr>
              <a:t>De </a:t>
            </a:r>
            <a:r>
              <a:rPr lang="en-GB" b="0" i="0" dirty="0" err="1">
                <a:solidFill>
                  <a:srgbClr val="020621"/>
                </a:solidFill>
                <a:effectLst/>
                <a:highlight>
                  <a:srgbClr val="EAF3FF"/>
                </a:highlight>
                <a:latin typeface="tisapro-regular"/>
              </a:rPr>
              <a:t>Maeseneer</a:t>
            </a:r>
            <a:r>
              <a:rPr lang="en-GB" b="0" i="0" dirty="0">
                <a:solidFill>
                  <a:srgbClr val="020621"/>
                </a:solidFill>
                <a:effectLst/>
                <a:highlight>
                  <a:srgbClr val="EAF3FF"/>
                </a:highlight>
                <a:latin typeface="tisapro-regular"/>
              </a:rPr>
              <a:t>., 2014).</a:t>
            </a:r>
            <a:endParaRPr lang="en-GB" b="0" i="0" dirty="0">
              <a:solidFill>
                <a:srgbClr val="020621"/>
              </a:solidFill>
              <a:effectLst/>
              <a:highlight>
                <a:srgbClr val="FFFFFF"/>
              </a:highlight>
              <a:latin typeface="tisapro-regular"/>
            </a:endParaRPr>
          </a:p>
          <a:p>
            <a:pPr algn="l"/>
            <a:endParaRPr lang="en-GB" b="0" i="0" dirty="0">
              <a:solidFill>
                <a:srgbClr val="020621"/>
              </a:solidFill>
              <a:effectLst/>
              <a:highlight>
                <a:srgbClr val="FFFFFF"/>
              </a:highlight>
              <a:latin typeface="tisapro-regular"/>
            </a:endParaRPr>
          </a:p>
          <a:p>
            <a:endParaRPr lang="en-GB" dirty="0"/>
          </a:p>
        </p:txBody>
      </p:sp>
      <p:sp>
        <p:nvSpPr>
          <p:cNvPr id="4" name="Slide Number Placeholder 3"/>
          <p:cNvSpPr>
            <a:spLocks noGrp="1"/>
          </p:cNvSpPr>
          <p:nvPr>
            <p:ph type="sldNum" sz="quarter" idx="5"/>
          </p:nvPr>
        </p:nvSpPr>
        <p:spPr/>
        <p:txBody>
          <a:bodyPr/>
          <a:lstStyle/>
          <a:p>
            <a:fld id="{3EA1F0AA-560B-4A47-AFC3-CBAC741DCFA6}" type="slidenum">
              <a:rPr lang="en-GB" smtClean="0"/>
              <a:t>15</a:t>
            </a:fld>
            <a:endParaRPr lang="en-GB"/>
          </a:p>
        </p:txBody>
      </p:sp>
    </p:spTree>
    <p:extLst>
      <p:ext uri="{BB962C8B-B14F-4D97-AF65-F5344CB8AC3E}">
        <p14:creationId xmlns:p14="http://schemas.microsoft.com/office/powerpoint/2010/main" val="1510828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67757-CA29-99E9-9470-EA696FA7E9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78C229C-F472-5D62-8706-868F85DBE1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D2F14C2-AAE8-3816-4623-ABEE0B794A76}"/>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5" name="Footer Placeholder 4">
            <a:extLst>
              <a:ext uri="{FF2B5EF4-FFF2-40B4-BE49-F238E27FC236}">
                <a16:creationId xmlns:a16="http://schemas.microsoft.com/office/drawing/2014/main" id="{0AED953F-1185-2FFE-A847-0F95B4EA7A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B1A6EB-170B-6B4D-A56C-1CDB1FDBFDD6}"/>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2165695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17C0-E50E-5921-1D7C-6C21E333C9C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9B1ADCD-87E2-F916-4F5B-23AFE78643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7A88BF8-1F10-5680-8BEF-F1E6DC4ADA8E}"/>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5" name="Footer Placeholder 4">
            <a:extLst>
              <a:ext uri="{FF2B5EF4-FFF2-40B4-BE49-F238E27FC236}">
                <a16:creationId xmlns:a16="http://schemas.microsoft.com/office/drawing/2014/main" id="{A2D04AAE-E0C3-15A9-1D19-3020B9E45A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C5856D-7F1A-CB92-107C-4C9BA76C5F3A}"/>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991760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CAF76-A328-2E71-D4DE-760A18FCF0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6107434-3F2A-D01E-8B4C-59BF30330C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86BD43-2E81-3404-00C5-18D8FF9526E4}"/>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5" name="Footer Placeholder 4">
            <a:extLst>
              <a:ext uri="{FF2B5EF4-FFF2-40B4-BE49-F238E27FC236}">
                <a16:creationId xmlns:a16="http://schemas.microsoft.com/office/drawing/2014/main" id="{83F595A9-8A45-DD29-5C8C-E73DE53291D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70EA7F-26D2-C11B-B0F4-A47676422B60}"/>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252613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74FA2-94AD-7DC6-0049-12A98B90CE7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5E52245-721D-FAE8-1CF3-0574B2D7AA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CDEBC6E-A9A1-E10F-A624-2BFB1B72D0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FB1EC17-BFA7-8515-1583-5B34CEC92130}"/>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6" name="Footer Placeholder 5">
            <a:extLst>
              <a:ext uri="{FF2B5EF4-FFF2-40B4-BE49-F238E27FC236}">
                <a16:creationId xmlns:a16="http://schemas.microsoft.com/office/drawing/2014/main" id="{1794EE0F-65C3-5990-2C04-3DB7054839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FF8570-7BF5-D4C6-EF9D-6CFB26B46E9E}"/>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1561335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067-AC79-CF4A-5AF5-AD1BD40C695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AD8A200-9FC5-D852-7E47-4722E17C6A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BB8808-7973-A326-518B-CDCCE86942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53D2BE9-F158-8813-99CA-B7FC5BCADF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272872-4FFC-2635-773F-4E4BDFC17A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1F672A2-8E4F-C4C6-2D46-BDBB5E7F30AC}"/>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8" name="Footer Placeholder 7">
            <a:extLst>
              <a:ext uri="{FF2B5EF4-FFF2-40B4-BE49-F238E27FC236}">
                <a16:creationId xmlns:a16="http://schemas.microsoft.com/office/drawing/2014/main" id="{C1BC2945-0D60-23AB-2EE2-AA4887A3224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7F9F4B8-3EC4-54CD-3CE4-5208D38098DB}"/>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234408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87FDF-BF4D-057B-7062-AC53CAE3167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236E909-6047-6B02-B032-97E1EBCF25EC}"/>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4" name="Footer Placeholder 3">
            <a:extLst>
              <a:ext uri="{FF2B5EF4-FFF2-40B4-BE49-F238E27FC236}">
                <a16:creationId xmlns:a16="http://schemas.microsoft.com/office/drawing/2014/main" id="{120A9A13-1727-A063-2121-3C5D6B24B9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A182A62-523A-74E1-3B47-A41BDF9EE960}"/>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459909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EC575E-ECBA-1FF7-F8B1-3695351776CB}"/>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3" name="Footer Placeholder 2">
            <a:extLst>
              <a:ext uri="{FF2B5EF4-FFF2-40B4-BE49-F238E27FC236}">
                <a16:creationId xmlns:a16="http://schemas.microsoft.com/office/drawing/2014/main" id="{C3AC94CD-9601-DF96-476D-A9E59CB5385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3917F43-5093-DD45-AF52-0C4C76287E2C}"/>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4175414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47F9D-D403-E38B-8AA3-3B9635DA77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B9B01D4-45C4-C3F9-041A-B2E1A5FE4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4498C79-1CA5-919E-75BE-E58CFB4DB5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B1B66-A774-2F45-021D-A5D1B88BA188}"/>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6" name="Footer Placeholder 5">
            <a:extLst>
              <a:ext uri="{FF2B5EF4-FFF2-40B4-BE49-F238E27FC236}">
                <a16:creationId xmlns:a16="http://schemas.microsoft.com/office/drawing/2014/main" id="{76FF1FA8-C3A6-9A0A-8DAB-C03B78AB38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89FC79-F05C-EF57-E389-5D032514E181}"/>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914459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73E9D-55DF-A5B5-B37A-E12432080A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13353EF-8C5D-228C-5C87-B1FF6E0CF8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C0F92EE-B693-DC49-3276-35FDC91D3F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7D86BF-5778-F94D-901C-50281794855F}"/>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6" name="Footer Placeholder 5">
            <a:extLst>
              <a:ext uri="{FF2B5EF4-FFF2-40B4-BE49-F238E27FC236}">
                <a16:creationId xmlns:a16="http://schemas.microsoft.com/office/drawing/2014/main" id="{84EDFBA9-773E-2017-4761-FD48493565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AB8FE5B-10F4-4945-470E-39EFAB316E72}"/>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3371634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33776-DCB2-EB97-8401-CD6E47A6C2E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8AF1FEA-B1EF-D7B5-354C-72DD42D74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FDED23-A698-1B03-9C31-D4FAAC52EA31}"/>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5" name="Footer Placeholder 4">
            <a:extLst>
              <a:ext uri="{FF2B5EF4-FFF2-40B4-BE49-F238E27FC236}">
                <a16:creationId xmlns:a16="http://schemas.microsoft.com/office/drawing/2014/main" id="{1D66CBB7-1C0F-3A39-BF79-6A177A2349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5BEB97-430E-ADC6-6146-495A8D6AA586}"/>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2290303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A2796-4543-1BFC-D0E6-6312B0AE60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22E03E1-21CD-43AF-1579-6E2FB239FD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F6235E-546D-228F-5B22-AA1EE5673DCB}"/>
              </a:ext>
            </a:extLst>
          </p:cNvPr>
          <p:cNvSpPr>
            <a:spLocks noGrp="1"/>
          </p:cNvSpPr>
          <p:nvPr>
            <p:ph type="dt" sz="half" idx="10"/>
          </p:nvPr>
        </p:nvSpPr>
        <p:spPr/>
        <p:txBody>
          <a:bodyPr/>
          <a:lstStyle/>
          <a:p>
            <a:fld id="{5083B7BE-1045-452C-B923-5DE117961670}" type="datetimeFigureOut">
              <a:rPr lang="en-GB" smtClean="0"/>
              <a:t>07/10/2024</a:t>
            </a:fld>
            <a:endParaRPr lang="en-GB"/>
          </a:p>
        </p:txBody>
      </p:sp>
      <p:sp>
        <p:nvSpPr>
          <p:cNvPr id="5" name="Footer Placeholder 4">
            <a:extLst>
              <a:ext uri="{FF2B5EF4-FFF2-40B4-BE49-F238E27FC236}">
                <a16:creationId xmlns:a16="http://schemas.microsoft.com/office/drawing/2014/main" id="{2475F3DC-911E-940D-13BC-2D38F67820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98D6FAB-259B-8E86-E664-C09A4950809B}"/>
              </a:ext>
            </a:extLst>
          </p:cNvPr>
          <p:cNvSpPr>
            <a:spLocks noGrp="1"/>
          </p:cNvSpPr>
          <p:nvPr>
            <p:ph type="sldNum" sz="quarter" idx="12"/>
          </p:nvPr>
        </p:nvSpPr>
        <p:spPr/>
        <p:txBody>
          <a:bodyPr/>
          <a:lstStyle/>
          <a:p>
            <a:fld id="{C432294C-1EEB-4845-A99C-948904EEC2AA}" type="slidenum">
              <a:rPr lang="en-GB" smtClean="0"/>
              <a:t>‹#›</a:t>
            </a:fld>
            <a:endParaRPr lang="en-GB"/>
          </a:p>
        </p:txBody>
      </p:sp>
    </p:spTree>
    <p:extLst>
      <p:ext uri="{BB962C8B-B14F-4D97-AF65-F5344CB8AC3E}">
        <p14:creationId xmlns:p14="http://schemas.microsoft.com/office/powerpoint/2010/main" val="688508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A00A62-5B40-A871-3827-3AB64D4AA8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A4AF72B-B323-3FBF-6FD0-270675C71E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8C133ED-CC67-E0C7-0106-9C971A8A55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83B7BE-1045-452C-B923-5DE117961670}" type="datetimeFigureOut">
              <a:rPr lang="en-GB" smtClean="0"/>
              <a:t>07/10/2024</a:t>
            </a:fld>
            <a:endParaRPr lang="en-GB"/>
          </a:p>
        </p:txBody>
      </p:sp>
      <p:sp>
        <p:nvSpPr>
          <p:cNvPr id="5" name="Footer Placeholder 4">
            <a:extLst>
              <a:ext uri="{FF2B5EF4-FFF2-40B4-BE49-F238E27FC236}">
                <a16:creationId xmlns:a16="http://schemas.microsoft.com/office/drawing/2014/main" id="{7DD5C089-6F12-0615-353C-F8F39C4F6C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8D70848-490F-9D1D-7215-C0D6B3323C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32294C-1EEB-4845-A99C-948904EEC2AA}" type="slidenum">
              <a:rPr lang="en-GB" smtClean="0"/>
              <a:t>‹#›</a:t>
            </a:fld>
            <a:endParaRPr lang="en-GB"/>
          </a:p>
        </p:txBody>
      </p:sp>
    </p:spTree>
    <p:extLst>
      <p:ext uri="{BB962C8B-B14F-4D97-AF65-F5344CB8AC3E}">
        <p14:creationId xmlns:p14="http://schemas.microsoft.com/office/powerpoint/2010/main" val="3666999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physio-pedia.com/" TargetMode="External"/><Relationship Id="rId2" Type="http://schemas.openxmlformats.org/officeDocument/2006/relationships/hyperlink" Target="https://www.learnmuscles.com/" TargetMode="External"/><Relationship Id="rId1" Type="http://schemas.openxmlformats.org/officeDocument/2006/relationships/slideLayout" Target="../slideLayouts/slideLayout2.xml"/><Relationship Id="rId4" Type="http://schemas.openxmlformats.org/officeDocument/2006/relationships/hyperlink" Target="https://www.rehabmypatien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E4E62-C8F6-6CB0-2C85-75C464CD48CC}"/>
              </a:ext>
            </a:extLst>
          </p:cNvPr>
          <p:cNvSpPr>
            <a:spLocks noGrp="1"/>
          </p:cNvSpPr>
          <p:nvPr>
            <p:ph type="ctrTitle"/>
          </p:nvPr>
        </p:nvSpPr>
        <p:spPr>
          <a:xfrm>
            <a:off x="477981" y="1122363"/>
            <a:ext cx="4023360" cy="3204134"/>
          </a:xfrm>
        </p:spPr>
        <p:txBody>
          <a:bodyPr anchor="b">
            <a:normAutofit/>
          </a:bodyPr>
          <a:lstStyle/>
          <a:p>
            <a:pPr algn="l"/>
            <a:r>
              <a:rPr lang="en-GB" sz="4400" b="0" i="0" u="none" strike="noStrike">
                <a:effectLst/>
                <a:latin typeface="Calibri" panose="020F0502020204030204" pitchFamily="34" charset="0"/>
              </a:rPr>
              <a:t>Muscles and Neurovascular Structures around the Knee</a:t>
            </a:r>
            <a:endParaRPr lang="en-GB" sz="4400"/>
          </a:p>
        </p:txBody>
      </p:sp>
      <p:sp>
        <p:nvSpPr>
          <p:cNvPr id="3" name="Subtitle 2">
            <a:extLst>
              <a:ext uri="{FF2B5EF4-FFF2-40B4-BE49-F238E27FC236}">
                <a16:creationId xmlns:a16="http://schemas.microsoft.com/office/drawing/2014/main" id="{02653934-85E0-B7D5-789A-8D8E106DCA2B}"/>
              </a:ext>
            </a:extLst>
          </p:cNvPr>
          <p:cNvSpPr>
            <a:spLocks noGrp="1"/>
          </p:cNvSpPr>
          <p:nvPr>
            <p:ph type="subTitle" idx="1"/>
          </p:nvPr>
        </p:nvSpPr>
        <p:spPr>
          <a:xfrm>
            <a:off x="477981" y="4872922"/>
            <a:ext cx="3933306" cy="1208141"/>
          </a:xfrm>
        </p:spPr>
        <p:txBody>
          <a:bodyPr>
            <a:normAutofit/>
          </a:bodyPr>
          <a:lstStyle/>
          <a:p>
            <a:pPr algn="l"/>
            <a:r>
              <a:rPr lang="en-GB" sz="2000"/>
              <a:t>Ngozi Onuegbu PhD</a:t>
            </a:r>
          </a:p>
          <a:p>
            <a:pPr algn="l"/>
            <a:r>
              <a:rPr lang="en-GB" sz="2000"/>
              <a:t>PT4050/PT7001</a:t>
            </a:r>
          </a:p>
          <a:p>
            <a:pPr algn="l"/>
            <a:endParaRPr lang="en-GB" sz="2000"/>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0F6F3014-9E12-B468-B560-15307954CEB2}"/>
              </a:ext>
            </a:extLst>
          </p:cNvPr>
          <p:cNvPicPr>
            <a:picLocks noChangeAspect="1"/>
          </p:cNvPicPr>
          <p:nvPr/>
        </p:nvPicPr>
        <p:blipFill>
          <a:blip r:embed="rId2"/>
          <a:stretch>
            <a:fillRect/>
          </a:stretch>
        </p:blipFill>
        <p:spPr>
          <a:xfrm>
            <a:off x="4864608" y="837335"/>
            <a:ext cx="6846363" cy="5032076"/>
          </a:xfrm>
          <a:prstGeom prst="rect">
            <a:avLst/>
          </a:prstGeom>
        </p:spPr>
      </p:pic>
    </p:spTree>
    <p:extLst>
      <p:ext uri="{BB962C8B-B14F-4D97-AF65-F5344CB8AC3E}">
        <p14:creationId xmlns:p14="http://schemas.microsoft.com/office/powerpoint/2010/main" val="2867052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E190-7BC7-6176-C8C1-37F2D0E459DF}"/>
              </a:ext>
            </a:extLst>
          </p:cNvPr>
          <p:cNvSpPr>
            <a:spLocks noGrp="1"/>
          </p:cNvSpPr>
          <p:nvPr>
            <p:ph type="title"/>
          </p:nvPr>
        </p:nvSpPr>
        <p:spPr>
          <a:xfrm>
            <a:off x="876693" y="741391"/>
            <a:ext cx="3455821" cy="1616203"/>
          </a:xfrm>
        </p:spPr>
        <p:txBody>
          <a:bodyPr anchor="b">
            <a:normAutofit/>
          </a:bodyPr>
          <a:lstStyle/>
          <a:p>
            <a:r>
              <a:rPr lang="en-GB" b="1" dirty="0"/>
              <a:t>Knee Joint</a:t>
            </a:r>
          </a:p>
        </p:txBody>
      </p:sp>
      <p:sp>
        <p:nvSpPr>
          <p:cNvPr id="3" name="Content Placeholder 2">
            <a:extLst>
              <a:ext uri="{FF2B5EF4-FFF2-40B4-BE49-F238E27FC236}">
                <a16:creationId xmlns:a16="http://schemas.microsoft.com/office/drawing/2014/main" id="{E606ED1A-D3E2-A7FF-C5BE-1D8B7D5D925D}"/>
              </a:ext>
            </a:extLst>
          </p:cNvPr>
          <p:cNvSpPr>
            <a:spLocks noGrp="1"/>
          </p:cNvSpPr>
          <p:nvPr>
            <p:ph idx="1"/>
          </p:nvPr>
        </p:nvSpPr>
        <p:spPr>
          <a:xfrm>
            <a:off x="718457" y="2533476"/>
            <a:ext cx="4180114" cy="3447832"/>
          </a:xfrm>
        </p:spPr>
        <p:txBody>
          <a:bodyPr anchor="t">
            <a:normAutofit/>
          </a:bodyPr>
          <a:lstStyle/>
          <a:p>
            <a:pPr>
              <a:spcAft>
                <a:spcPts val="1000"/>
              </a:spcAft>
            </a:pPr>
            <a:r>
              <a:rPr lang="en-GB" b="1" dirty="0">
                <a:effectLst/>
                <a:latin typeface="Calibri" panose="020F0502020204030204" pitchFamily="34" charset="0"/>
                <a:ea typeface="SimSun" panose="02010600030101010101" pitchFamily="2" charset="-122"/>
                <a:cs typeface="Times New Roman" panose="02020603050405020304" pitchFamily="18" charset="0"/>
              </a:rPr>
              <a:t>Type of joint</a:t>
            </a:r>
            <a:r>
              <a:rPr lang="en-GB" dirty="0">
                <a:effectLst/>
                <a:latin typeface="Calibri" panose="020F0502020204030204" pitchFamily="34" charset="0"/>
                <a:ea typeface="SimSun" panose="02010600030101010101" pitchFamily="2" charset="-122"/>
                <a:cs typeface="Times New Roman" panose="02020603050405020304" pitchFamily="18" charset="0"/>
              </a:rPr>
              <a:t>: Hinge joint</a:t>
            </a:r>
          </a:p>
          <a:p>
            <a:pPr>
              <a:spcAft>
                <a:spcPts val="1000"/>
              </a:spcAft>
            </a:pPr>
            <a:r>
              <a:rPr lang="en-GB" b="1" dirty="0">
                <a:effectLst/>
                <a:latin typeface="Calibri" panose="020F0502020204030204" pitchFamily="34" charset="0"/>
                <a:ea typeface="SimSun" panose="02010600030101010101" pitchFamily="2" charset="-122"/>
                <a:cs typeface="Times New Roman" panose="02020603050405020304" pitchFamily="18" charset="0"/>
              </a:rPr>
              <a:t>Articulating surfaces</a:t>
            </a:r>
            <a:r>
              <a:rPr lang="en-GB" dirty="0">
                <a:effectLst/>
                <a:latin typeface="Calibri" panose="020F0502020204030204" pitchFamily="34" charset="0"/>
                <a:ea typeface="SimSun" panose="02010600030101010101" pitchFamily="2" charset="-122"/>
                <a:cs typeface="Times New Roman" panose="02020603050405020304" pitchFamily="18" charset="0"/>
              </a:rPr>
              <a:t>: Femur, tibia, patella</a:t>
            </a:r>
          </a:p>
          <a:p>
            <a:pPr>
              <a:spcAft>
                <a:spcPts val="1000"/>
              </a:spcAft>
            </a:pPr>
            <a:r>
              <a:rPr lang="en-GB" b="1" dirty="0">
                <a:effectLst/>
                <a:latin typeface="Calibri" panose="020F0502020204030204" pitchFamily="34" charset="0"/>
                <a:ea typeface="SimSun" panose="02010600030101010101" pitchFamily="2" charset="-122"/>
                <a:cs typeface="Times New Roman" panose="02020603050405020304" pitchFamily="18" charset="0"/>
              </a:rPr>
              <a:t>Functions</a:t>
            </a:r>
            <a:r>
              <a:rPr lang="en-GB" dirty="0">
                <a:effectLst/>
                <a:latin typeface="Calibri" panose="020F0502020204030204" pitchFamily="34" charset="0"/>
                <a:ea typeface="SimSun" panose="02010600030101010101" pitchFamily="2" charset="-122"/>
                <a:cs typeface="Times New Roman" panose="02020603050405020304" pitchFamily="18" charset="0"/>
              </a:rPr>
              <a:t>: Flexion, extension, stability during movement</a:t>
            </a:r>
          </a:p>
          <a:p>
            <a:endParaRPr lang="en-GB" dirty="0"/>
          </a:p>
        </p:txBody>
      </p:sp>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A41579E0-826A-BBC9-5762-1D8D583CA4C2}"/>
              </a:ext>
            </a:extLst>
          </p:cNvPr>
          <p:cNvPicPr>
            <a:picLocks noChangeAspect="1"/>
          </p:cNvPicPr>
          <p:nvPr/>
        </p:nvPicPr>
        <p:blipFill rotWithShape="1">
          <a:blip r:embed="rId2"/>
          <a:srcRect l="-380" r="-1"/>
          <a:stretch/>
        </p:blipFill>
        <p:spPr>
          <a:xfrm>
            <a:off x="5374434" y="0"/>
            <a:ext cx="6194886" cy="6858000"/>
          </a:xfrm>
          <a:prstGeom prst="rect">
            <a:avLst/>
          </a:prstGeom>
        </p:spPr>
      </p:pic>
    </p:spTree>
    <p:extLst>
      <p:ext uri="{BB962C8B-B14F-4D97-AF65-F5344CB8AC3E}">
        <p14:creationId xmlns:p14="http://schemas.microsoft.com/office/powerpoint/2010/main" val="3097815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7937D-EF1A-FE28-4389-42A04AA67478}"/>
              </a:ext>
            </a:extLst>
          </p:cNvPr>
          <p:cNvSpPr>
            <a:spLocks noGrp="1"/>
          </p:cNvSpPr>
          <p:nvPr>
            <p:ph type="title"/>
          </p:nvPr>
        </p:nvSpPr>
        <p:spPr>
          <a:xfrm>
            <a:off x="266978" y="340397"/>
            <a:ext cx="5829022" cy="934423"/>
          </a:xfrm>
        </p:spPr>
        <p:txBody>
          <a:bodyPr/>
          <a:lstStyle/>
          <a:p>
            <a:r>
              <a:rPr lang="en-GB" b="1" dirty="0"/>
              <a:t>Muscles of the Knee</a:t>
            </a:r>
          </a:p>
        </p:txBody>
      </p:sp>
      <p:sp>
        <p:nvSpPr>
          <p:cNvPr id="3" name="Content Placeholder 2">
            <a:extLst>
              <a:ext uri="{FF2B5EF4-FFF2-40B4-BE49-F238E27FC236}">
                <a16:creationId xmlns:a16="http://schemas.microsoft.com/office/drawing/2014/main" id="{7D6833D8-FD81-F4C5-F7DE-03B20AC747E9}"/>
              </a:ext>
            </a:extLst>
          </p:cNvPr>
          <p:cNvSpPr>
            <a:spLocks noGrp="1"/>
          </p:cNvSpPr>
          <p:nvPr>
            <p:ph idx="1"/>
          </p:nvPr>
        </p:nvSpPr>
        <p:spPr>
          <a:xfrm>
            <a:off x="327049" y="1455031"/>
            <a:ext cx="6866854" cy="5139328"/>
          </a:xfrm>
        </p:spPr>
        <p:txBody>
          <a:bodyPr>
            <a:normAutofit fontScale="92500"/>
          </a:bodyPr>
          <a:lstStyle/>
          <a:p>
            <a:r>
              <a:rPr lang="en-GB" b="1" dirty="0"/>
              <a:t>Flexors</a:t>
            </a:r>
            <a:r>
              <a:rPr lang="en-GB" dirty="0"/>
              <a:t>: </a:t>
            </a:r>
          </a:p>
          <a:p>
            <a:pPr lvl="1"/>
            <a:r>
              <a:rPr lang="en-GB" dirty="0"/>
              <a:t>Hamstrings (Biceps Femoris, Semitendinosus, Semimembranosus),</a:t>
            </a:r>
          </a:p>
          <a:p>
            <a:pPr lvl="1"/>
            <a:r>
              <a:rPr lang="en-GB" dirty="0"/>
              <a:t>Gastrocnemius</a:t>
            </a:r>
          </a:p>
          <a:p>
            <a:r>
              <a:rPr lang="en-GB" b="1" dirty="0"/>
              <a:t>Extensors</a:t>
            </a:r>
            <a:r>
              <a:rPr lang="en-GB" dirty="0"/>
              <a:t>: </a:t>
            </a:r>
          </a:p>
          <a:p>
            <a:pPr lvl="1"/>
            <a:r>
              <a:rPr lang="en-GB" dirty="0"/>
              <a:t>Quadriceps (Rectus Femoris, Vastus Lateralis, Vastus Medialis, Vastus Intermedius)</a:t>
            </a:r>
          </a:p>
          <a:p>
            <a:r>
              <a:rPr lang="en-GB" b="1" dirty="0"/>
              <a:t>Internal Rotators</a:t>
            </a:r>
            <a:r>
              <a:rPr lang="en-GB" dirty="0"/>
              <a:t>: </a:t>
            </a:r>
          </a:p>
          <a:p>
            <a:pPr lvl="1"/>
            <a:r>
              <a:rPr lang="en-GB" dirty="0"/>
              <a:t>Semitendinosus, </a:t>
            </a:r>
          </a:p>
          <a:p>
            <a:pPr lvl="1"/>
            <a:r>
              <a:rPr lang="en-GB" dirty="0"/>
              <a:t>Semimembranosus, </a:t>
            </a:r>
          </a:p>
          <a:p>
            <a:pPr lvl="1"/>
            <a:r>
              <a:rPr lang="en-GB" dirty="0"/>
              <a:t>Popliteus</a:t>
            </a:r>
          </a:p>
          <a:p>
            <a:r>
              <a:rPr lang="en-GB" b="1" dirty="0"/>
              <a:t>External Rotators: </a:t>
            </a:r>
          </a:p>
          <a:p>
            <a:pPr lvl="1"/>
            <a:r>
              <a:rPr lang="en-GB" dirty="0"/>
              <a:t>Biceps Femoris</a:t>
            </a:r>
          </a:p>
        </p:txBody>
      </p:sp>
      <p:pic>
        <p:nvPicPr>
          <p:cNvPr id="4" name="Picture 3">
            <a:extLst>
              <a:ext uri="{FF2B5EF4-FFF2-40B4-BE49-F238E27FC236}">
                <a16:creationId xmlns:a16="http://schemas.microsoft.com/office/drawing/2014/main" id="{7174C00E-CF15-C84C-4A7E-03FBD6069A7F}"/>
              </a:ext>
            </a:extLst>
          </p:cNvPr>
          <p:cNvPicPr>
            <a:picLocks noChangeAspect="1"/>
          </p:cNvPicPr>
          <p:nvPr/>
        </p:nvPicPr>
        <p:blipFill>
          <a:blip r:embed="rId2"/>
          <a:stretch>
            <a:fillRect/>
          </a:stretch>
        </p:blipFill>
        <p:spPr>
          <a:xfrm>
            <a:off x="7732568" y="0"/>
            <a:ext cx="4459432" cy="6858000"/>
          </a:xfrm>
          <a:prstGeom prst="rect">
            <a:avLst/>
          </a:prstGeom>
        </p:spPr>
      </p:pic>
    </p:spTree>
    <p:extLst>
      <p:ext uri="{BB962C8B-B14F-4D97-AF65-F5344CB8AC3E}">
        <p14:creationId xmlns:p14="http://schemas.microsoft.com/office/powerpoint/2010/main" val="245762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6E0DEBA-0788-2B92-E8B8-B7C33A978658}"/>
              </a:ext>
            </a:extLst>
          </p:cNvPr>
          <p:cNvPicPr>
            <a:picLocks noGrp="1" noChangeAspect="1"/>
          </p:cNvPicPr>
          <p:nvPr>
            <p:ph idx="1"/>
          </p:nvPr>
        </p:nvPicPr>
        <p:blipFill>
          <a:blip r:embed="rId2"/>
          <a:stretch>
            <a:fillRect/>
          </a:stretch>
        </p:blipFill>
        <p:spPr>
          <a:xfrm>
            <a:off x="399822" y="551158"/>
            <a:ext cx="7410103" cy="5350095"/>
          </a:xfrm>
          <a:prstGeom prst="rect">
            <a:avLst/>
          </a:prstGeom>
        </p:spPr>
      </p:pic>
      <p:pic>
        <p:nvPicPr>
          <p:cNvPr id="5" name="Picture 4">
            <a:extLst>
              <a:ext uri="{FF2B5EF4-FFF2-40B4-BE49-F238E27FC236}">
                <a16:creationId xmlns:a16="http://schemas.microsoft.com/office/drawing/2014/main" id="{602FF949-EFBE-C0ED-0BF9-2E179705444B}"/>
              </a:ext>
            </a:extLst>
          </p:cNvPr>
          <p:cNvPicPr>
            <a:picLocks noChangeAspect="1"/>
          </p:cNvPicPr>
          <p:nvPr/>
        </p:nvPicPr>
        <p:blipFill>
          <a:blip r:embed="rId3"/>
          <a:stretch>
            <a:fillRect/>
          </a:stretch>
        </p:blipFill>
        <p:spPr>
          <a:xfrm>
            <a:off x="7987003" y="139305"/>
            <a:ext cx="3805175" cy="5556022"/>
          </a:xfrm>
          <a:prstGeom prst="rect">
            <a:avLst/>
          </a:prstGeom>
        </p:spPr>
      </p:pic>
      <p:sp>
        <p:nvSpPr>
          <p:cNvPr id="6" name="TextBox 5">
            <a:extLst>
              <a:ext uri="{FF2B5EF4-FFF2-40B4-BE49-F238E27FC236}">
                <a16:creationId xmlns:a16="http://schemas.microsoft.com/office/drawing/2014/main" id="{B45DC4D2-91A7-AC01-05B0-B708DC7FB789}"/>
              </a:ext>
            </a:extLst>
          </p:cNvPr>
          <p:cNvSpPr txBox="1"/>
          <p:nvPr/>
        </p:nvSpPr>
        <p:spPr>
          <a:xfrm>
            <a:off x="9395926" y="5901253"/>
            <a:ext cx="2668555" cy="369332"/>
          </a:xfrm>
          <a:prstGeom prst="rect">
            <a:avLst/>
          </a:prstGeom>
          <a:noFill/>
        </p:spPr>
        <p:txBody>
          <a:bodyPr wrap="square" rtlCol="0">
            <a:spAutoFit/>
          </a:bodyPr>
          <a:lstStyle/>
          <a:p>
            <a:r>
              <a:rPr lang="en-GB" dirty="0"/>
              <a:t>Hamstrings</a:t>
            </a:r>
          </a:p>
        </p:txBody>
      </p:sp>
    </p:spTree>
    <p:extLst>
      <p:ext uri="{BB962C8B-B14F-4D97-AF65-F5344CB8AC3E}">
        <p14:creationId xmlns:p14="http://schemas.microsoft.com/office/powerpoint/2010/main" val="850409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EDC51-EAC9-F0E4-55C3-E43D7E79B0E3}"/>
              </a:ext>
            </a:extLst>
          </p:cNvPr>
          <p:cNvSpPr>
            <a:spLocks noGrp="1"/>
          </p:cNvSpPr>
          <p:nvPr>
            <p:ph type="title"/>
          </p:nvPr>
        </p:nvSpPr>
        <p:spPr>
          <a:xfrm>
            <a:off x="637967" y="1606573"/>
            <a:ext cx="5355692" cy="1325563"/>
          </a:xfrm>
        </p:spPr>
        <p:txBody>
          <a:bodyPr>
            <a:normAutofit fontScale="90000"/>
          </a:bodyPr>
          <a:lstStyle/>
          <a:p>
            <a:r>
              <a:rPr lang="en-GB" dirty="0"/>
              <a:t>Neurovascular Structures</a:t>
            </a:r>
            <a:br>
              <a:rPr lang="en-GB" dirty="0"/>
            </a:br>
            <a:r>
              <a:rPr lang="en-GB" dirty="0"/>
              <a:t> of the Knee</a:t>
            </a:r>
          </a:p>
        </p:txBody>
      </p:sp>
      <p:sp>
        <p:nvSpPr>
          <p:cNvPr id="3" name="Content Placeholder 2">
            <a:extLst>
              <a:ext uri="{FF2B5EF4-FFF2-40B4-BE49-F238E27FC236}">
                <a16:creationId xmlns:a16="http://schemas.microsoft.com/office/drawing/2014/main" id="{77EEA89F-1EFE-3760-892A-D890AFC74838}"/>
              </a:ext>
            </a:extLst>
          </p:cNvPr>
          <p:cNvSpPr>
            <a:spLocks noGrp="1"/>
          </p:cNvSpPr>
          <p:nvPr>
            <p:ph idx="1"/>
          </p:nvPr>
        </p:nvSpPr>
        <p:spPr>
          <a:xfrm>
            <a:off x="637967" y="3540960"/>
            <a:ext cx="10515600" cy="3387122"/>
          </a:xfrm>
        </p:spPr>
        <p:txBody>
          <a:bodyPr>
            <a:normAutofit/>
          </a:bodyPr>
          <a:lstStyle/>
          <a:p>
            <a:pPr marL="0" indent="0">
              <a:buNone/>
            </a:pPr>
            <a:r>
              <a:rPr lang="en-GB" b="1" dirty="0"/>
              <a:t>Main Nerves</a:t>
            </a:r>
          </a:p>
          <a:p>
            <a:r>
              <a:rPr lang="en-GB" b="1" dirty="0"/>
              <a:t>Femoral Nerve</a:t>
            </a:r>
            <a:r>
              <a:rPr lang="en-GB" dirty="0"/>
              <a:t>: Supplies quadriceps (extensors)</a:t>
            </a:r>
          </a:p>
          <a:p>
            <a:r>
              <a:rPr lang="en-GB" b="1" dirty="0"/>
              <a:t>Sciatic Nerve</a:t>
            </a:r>
            <a:r>
              <a:rPr lang="en-GB" dirty="0"/>
              <a:t>: Divides into Tibial Nerve (posterior compartment of the leg) and Common Peroneal Nerve (anterior and lateral compartments of the leg)</a:t>
            </a:r>
          </a:p>
          <a:p>
            <a:r>
              <a:rPr lang="en-GB" b="1" dirty="0"/>
              <a:t>Saphenous Nerve</a:t>
            </a:r>
            <a:r>
              <a:rPr lang="en-GB" dirty="0"/>
              <a:t>: Cutaneous branch of femoral nerve</a:t>
            </a:r>
          </a:p>
        </p:txBody>
      </p:sp>
      <p:grpSp>
        <p:nvGrpSpPr>
          <p:cNvPr id="6" name="Group 5">
            <a:extLst>
              <a:ext uri="{FF2B5EF4-FFF2-40B4-BE49-F238E27FC236}">
                <a16:creationId xmlns:a16="http://schemas.microsoft.com/office/drawing/2014/main" id="{18A65419-51BB-02B1-C3BC-A69628D923E2}"/>
              </a:ext>
            </a:extLst>
          </p:cNvPr>
          <p:cNvGrpSpPr/>
          <p:nvPr/>
        </p:nvGrpSpPr>
        <p:grpSpPr>
          <a:xfrm>
            <a:off x="6376328" y="227071"/>
            <a:ext cx="5696812" cy="3667323"/>
            <a:chOff x="4658768" y="781049"/>
            <a:chExt cx="5696812" cy="3667323"/>
          </a:xfrm>
        </p:grpSpPr>
        <p:pic>
          <p:nvPicPr>
            <p:cNvPr id="4" name="Picture 3">
              <a:extLst>
                <a:ext uri="{FF2B5EF4-FFF2-40B4-BE49-F238E27FC236}">
                  <a16:creationId xmlns:a16="http://schemas.microsoft.com/office/drawing/2014/main" id="{EDA37644-2A07-91F8-16F5-CE2608E7068D}"/>
                </a:ext>
              </a:extLst>
            </p:cNvPr>
            <p:cNvPicPr>
              <a:picLocks noChangeAspect="1"/>
            </p:cNvPicPr>
            <p:nvPr/>
          </p:nvPicPr>
          <p:blipFill rotWithShape="1">
            <a:blip r:embed="rId2"/>
            <a:srcRect/>
            <a:stretch/>
          </p:blipFill>
          <p:spPr>
            <a:xfrm>
              <a:off x="4658768" y="781049"/>
              <a:ext cx="5696812" cy="3667323"/>
            </a:xfrm>
            <a:prstGeom prst="rect">
              <a:avLst/>
            </a:prstGeom>
          </p:spPr>
        </p:pic>
        <p:sp>
          <p:nvSpPr>
            <p:cNvPr id="5" name="Rectangle 4">
              <a:extLst>
                <a:ext uri="{FF2B5EF4-FFF2-40B4-BE49-F238E27FC236}">
                  <a16:creationId xmlns:a16="http://schemas.microsoft.com/office/drawing/2014/main" id="{42330B40-A211-ED53-D008-AB979ACC1083}"/>
                </a:ext>
              </a:extLst>
            </p:cNvPr>
            <p:cNvSpPr/>
            <p:nvPr/>
          </p:nvSpPr>
          <p:spPr>
            <a:xfrm>
              <a:off x="6847988" y="3949607"/>
              <a:ext cx="1642194" cy="4814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50778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EDC51-EAC9-F0E4-55C3-E43D7E79B0E3}"/>
              </a:ext>
            </a:extLst>
          </p:cNvPr>
          <p:cNvSpPr>
            <a:spLocks noGrp="1"/>
          </p:cNvSpPr>
          <p:nvPr>
            <p:ph type="title"/>
          </p:nvPr>
        </p:nvSpPr>
        <p:spPr>
          <a:xfrm>
            <a:off x="876693" y="741391"/>
            <a:ext cx="3455821" cy="1616203"/>
          </a:xfrm>
        </p:spPr>
        <p:txBody>
          <a:bodyPr anchor="b">
            <a:normAutofit/>
          </a:bodyPr>
          <a:lstStyle/>
          <a:p>
            <a:r>
              <a:rPr lang="en-GB" sz="3600" dirty="0"/>
              <a:t>Neurovascular Structures of the Knee</a:t>
            </a:r>
          </a:p>
        </p:txBody>
      </p:sp>
      <p:sp>
        <p:nvSpPr>
          <p:cNvPr id="3" name="Content Placeholder 2">
            <a:extLst>
              <a:ext uri="{FF2B5EF4-FFF2-40B4-BE49-F238E27FC236}">
                <a16:creationId xmlns:a16="http://schemas.microsoft.com/office/drawing/2014/main" id="{77EEA89F-1EFE-3760-892A-D890AFC74838}"/>
              </a:ext>
            </a:extLst>
          </p:cNvPr>
          <p:cNvSpPr>
            <a:spLocks noGrp="1"/>
          </p:cNvSpPr>
          <p:nvPr>
            <p:ph idx="1"/>
          </p:nvPr>
        </p:nvSpPr>
        <p:spPr>
          <a:xfrm>
            <a:off x="876693" y="2533476"/>
            <a:ext cx="3455821" cy="3447832"/>
          </a:xfrm>
        </p:spPr>
        <p:txBody>
          <a:bodyPr anchor="t">
            <a:normAutofit/>
          </a:bodyPr>
          <a:lstStyle/>
          <a:p>
            <a:pPr marL="0" indent="0">
              <a:buNone/>
            </a:pPr>
            <a:r>
              <a:rPr lang="en-GB" sz="2400" b="1" dirty="0"/>
              <a:t>Blood Supply</a:t>
            </a:r>
          </a:p>
          <a:p>
            <a:r>
              <a:rPr lang="en-GB" sz="2400" b="1" dirty="0"/>
              <a:t>Arteries</a:t>
            </a:r>
            <a:r>
              <a:rPr lang="en-GB" sz="2400" dirty="0"/>
              <a:t>: Popliteal artery, genicular arteries</a:t>
            </a:r>
          </a:p>
          <a:p>
            <a:r>
              <a:rPr lang="en-GB" sz="2400" b="1" dirty="0"/>
              <a:t>Veins</a:t>
            </a:r>
            <a:r>
              <a:rPr lang="en-GB" sz="2400" dirty="0"/>
              <a:t>: Popliteal vein, small saphenous vein</a:t>
            </a:r>
          </a:p>
        </p:txBody>
      </p:sp>
      <p:pic>
        <p:nvPicPr>
          <p:cNvPr id="4" name="Picture 3" descr="A skeleton with red veins&#10;&#10;Description automatically generated with medium confidence">
            <a:extLst>
              <a:ext uri="{FF2B5EF4-FFF2-40B4-BE49-F238E27FC236}">
                <a16:creationId xmlns:a16="http://schemas.microsoft.com/office/drawing/2014/main" id="{86BF4381-7F3E-D928-8E60-B6C51BAEE0C7}"/>
              </a:ext>
            </a:extLst>
          </p:cNvPr>
          <p:cNvPicPr>
            <a:picLocks noChangeAspect="1"/>
          </p:cNvPicPr>
          <p:nvPr/>
        </p:nvPicPr>
        <p:blipFill>
          <a:blip r:embed="rId2"/>
          <a:stretch>
            <a:fillRect/>
          </a:stretch>
        </p:blipFill>
        <p:spPr>
          <a:xfrm>
            <a:off x="4987672" y="1644638"/>
            <a:ext cx="6389346" cy="3578033"/>
          </a:xfrm>
          <a:prstGeom prst="rect">
            <a:avLst/>
          </a:prstGeom>
        </p:spPr>
      </p:pic>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15678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A192DCB-99EA-E35D-BC80-8AC597421BB0}"/>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Anterior Muscles (Knee Extensors)</a:t>
            </a:r>
          </a:p>
        </p:txBody>
      </p:sp>
      <p:sp>
        <p:nvSpPr>
          <p:cNvPr id="5" name="TextBox 4">
            <a:extLst>
              <a:ext uri="{FF2B5EF4-FFF2-40B4-BE49-F238E27FC236}">
                <a16:creationId xmlns:a16="http://schemas.microsoft.com/office/drawing/2014/main" id="{8E49CC72-2647-0FCB-4862-62D0D4FB8A99}"/>
              </a:ext>
            </a:extLst>
          </p:cNvPr>
          <p:cNvSpPr txBox="1"/>
          <p:nvPr/>
        </p:nvSpPr>
        <p:spPr>
          <a:xfrm>
            <a:off x="791040" y="4601753"/>
            <a:ext cx="9427157" cy="646331"/>
          </a:xfrm>
          <a:prstGeom prst="rect">
            <a:avLst/>
          </a:prstGeom>
          <a:noFill/>
        </p:spPr>
        <p:txBody>
          <a:bodyPr wrap="square">
            <a:spAutoFit/>
          </a:bodyPr>
          <a:lstStyle/>
          <a:p>
            <a:r>
              <a:rPr lang="en-GB"/>
              <a:t>Quadriceps Femoris Group:</a:t>
            </a:r>
          </a:p>
          <a:p>
            <a:r>
              <a:rPr lang="en-GB"/>
              <a:t>The quadriceps femoris is the primary extensor of the knee joint and consists of four muscles:</a:t>
            </a:r>
            <a:endParaRPr lang="en-GB" dirty="0"/>
          </a:p>
        </p:txBody>
      </p:sp>
      <p:pic>
        <p:nvPicPr>
          <p:cNvPr id="6" name="Picture 5">
            <a:extLst>
              <a:ext uri="{FF2B5EF4-FFF2-40B4-BE49-F238E27FC236}">
                <a16:creationId xmlns:a16="http://schemas.microsoft.com/office/drawing/2014/main" id="{987E2B91-DD38-5657-D533-9291BDCAFE10}"/>
              </a:ext>
            </a:extLst>
          </p:cNvPr>
          <p:cNvPicPr>
            <a:picLocks noChangeAspect="1"/>
          </p:cNvPicPr>
          <p:nvPr/>
        </p:nvPicPr>
        <p:blipFill rotWithShape="1">
          <a:blip r:embed="rId3"/>
          <a:srcRect t="16778" r="4334"/>
          <a:stretch/>
        </p:blipFill>
        <p:spPr>
          <a:xfrm>
            <a:off x="10095796" y="4632337"/>
            <a:ext cx="1960360" cy="1705354"/>
          </a:xfrm>
          <a:prstGeom prst="rect">
            <a:avLst/>
          </a:prstGeom>
        </p:spPr>
      </p:pic>
    </p:spTree>
    <p:extLst>
      <p:ext uri="{BB962C8B-B14F-4D97-AF65-F5344CB8AC3E}">
        <p14:creationId xmlns:p14="http://schemas.microsoft.com/office/powerpoint/2010/main" val="4202419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3E40C-386A-9F8A-747B-103003FE61B1}"/>
              </a:ext>
            </a:extLst>
          </p:cNvPr>
          <p:cNvSpPr>
            <a:spLocks noGrp="1"/>
          </p:cNvSpPr>
          <p:nvPr>
            <p:ph type="title"/>
          </p:nvPr>
        </p:nvSpPr>
        <p:spPr/>
        <p:txBody>
          <a:bodyPr/>
          <a:lstStyle/>
          <a:p>
            <a:r>
              <a:rPr lang="en-GB" dirty="0"/>
              <a:t>Quadriceps (Group): </a:t>
            </a:r>
            <a:r>
              <a:rPr lang="en-GB" dirty="0">
                <a:solidFill>
                  <a:schemeClr val="tx2">
                    <a:lumMod val="50000"/>
                    <a:lumOff val="50000"/>
                  </a:schemeClr>
                </a:solidFill>
              </a:rPr>
              <a:t>Vastus Lateralis</a:t>
            </a:r>
          </a:p>
        </p:txBody>
      </p:sp>
      <p:sp>
        <p:nvSpPr>
          <p:cNvPr id="3" name="Content Placeholder 2">
            <a:extLst>
              <a:ext uri="{FF2B5EF4-FFF2-40B4-BE49-F238E27FC236}">
                <a16:creationId xmlns:a16="http://schemas.microsoft.com/office/drawing/2014/main" id="{579A181C-00C1-2900-810E-A8783E98DF0A}"/>
              </a:ext>
            </a:extLst>
          </p:cNvPr>
          <p:cNvSpPr>
            <a:spLocks noGrp="1"/>
          </p:cNvSpPr>
          <p:nvPr>
            <p:ph idx="1"/>
          </p:nvPr>
        </p:nvSpPr>
        <p:spPr/>
        <p:txBody>
          <a:bodyPr>
            <a:normAutofit fontScale="85000" lnSpcReduction="20000"/>
          </a:bodyPr>
          <a:lstStyle/>
          <a:p>
            <a:r>
              <a:rPr lang="en-GB" dirty="0"/>
              <a:t>Origin: </a:t>
            </a:r>
          </a:p>
          <a:p>
            <a:pPr lvl="1"/>
            <a:r>
              <a:rPr lang="en-GB" dirty="0"/>
              <a:t>Greater trochanter and </a:t>
            </a:r>
            <a:r>
              <a:rPr lang="en-GB" dirty="0" err="1"/>
              <a:t>linea</a:t>
            </a:r>
            <a:r>
              <a:rPr lang="en-GB" dirty="0"/>
              <a:t> aspera of femur</a:t>
            </a:r>
          </a:p>
          <a:p>
            <a:r>
              <a:rPr lang="en-GB" dirty="0"/>
              <a:t>Insertion: </a:t>
            </a:r>
          </a:p>
          <a:p>
            <a:pPr lvl="1"/>
            <a:r>
              <a:rPr lang="en-GB" dirty="0"/>
              <a:t>Tibial tuberosity via the patellar ligament</a:t>
            </a:r>
          </a:p>
          <a:p>
            <a:r>
              <a:rPr lang="en-GB" dirty="0"/>
              <a:t>Action: </a:t>
            </a:r>
          </a:p>
          <a:p>
            <a:pPr lvl="1"/>
            <a:r>
              <a:rPr lang="en-GB" dirty="0"/>
              <a:t>Knee extension, patella stability</a:t>
            </a:r>
          </a:p>
          <a:p>
            <a:r>
              <a:rPr lang="en-GB" dirty="0"/>
              <a:t>Nerve supply: </a:t>
            </a:r>
          </a:p>
          <a:p>
            <a:pPr lvl="1"/>
            <a:r>
              <a:rPr lang="en-GB" dirty="0"/>
              <a:t>Femoral nerve (L2-L4)</a:t>
            </a:r>
          </a:p>
          <a:p>
            <a:r>
              <a:rPr lang="en-GB" dirty="0"/>
              <a:t>Blood supply: </a:t>
            </a:r>
          </a:p>
          <a:p>
            <a:pPr lvl="1"/>
            <a:r>
              <a:rPr lang="en-GB" dirty="0"/>
              <a:t>Lateral circumflex femoral artery</a:t>
            </a:r>
          </a:p>
          <a:p>
            <a:r>
              <a:rPr lang="en-GB" dirty="0"/>
              <a:t>Clinical Relevance: </a:t>
            </a:r>
          </a:p>
          <a:p>
            <a:pPr lvl="1"/>
            <a:r>
              <a:rPr lang="en-GB" dirty="0"/>
              <a:t>Vastus lateralis tightness or imbalance compared to the vastus medialis can contribute to patellar tracking problems and patellofemoral pain syndrome.</a:t>
            </a:r>
          </a:p>
        </p:txBody>
      </p:sp>
      <p:grpSp>
        <p:nvGrpSpPr>
          <p:cNvPr id="6" name="Group 5">
            <a:extLst>
              <a:ext uri="{FF2B5EF4-FFF2-40B4-BE49-F238E27FC236}">
                <a16:creationId xmlns:a16="http://schemas.microsoft.com/office/drawing/2014/main" id="{47DFEDA0-A773-E305-1A7A-462739193F1C}"/>
              </a:ext>
            </a:extLst>
          </p:cNvPr>
          <p:cNvGrpSpPr/>
          <p:nvPr/>
        </p:nvGrpSpPr>
        <p:grpSpPr>
          <a:xfrm>
            <a:off x="9839526" y="0"/>
            <a:ext cx="2247900" cy="3145790"/>
            <a:chOff x="9870304" y="1784350"/>
            <a:chExt cx="2085476" cy="2758440"/>
          </a:xfrm>
        </p:grpSpPr>
        <p:pic>
          <p:nvPicPr>
            <p:cNvPr id="4" name="Picture 3">
              <a:extLst>
                <a:ext uri="{FF2B5EF4-FFF2-40B4-BE49-F238E27FC236}">
                  <a16:creationId xmlns:a16="http://schemas.microsoft.com/office/drawing/2014/main" id="{6A9B3BDF-B27E-6A36-A122-B17CE30845EF}"/>
                </a:ext>
              </a:extLst>
            </p:cNvPr>
            <p:cNvPicPr>
              <a:picLocks noChangeAspect="1"/>
            </p:cNvPicPr>
            <p:nvPr/>
          </p:nvPicPr>
          <p:blipFill rotWithShape="1">
            <a:blip r:embed="rId2"/>
            <a:srcRect l="9889" r="15889"/>
            <a:stretch/>
          </p:blipFill>
          <p:spPr>
            <a:xfrm>
              <a:off x="9870304" y="1784350"/>
              <a:ext cx="2047375" cy="2758440"/>
            </a:xfrm>
            <a:prstGeom prst="rect">
              <a:avLst/>
            </a:prstGeom>
          </p:spPr>
        </p:pic>
        <p:sp>
          <p:nvSpPr>
            <p:cNvPr id="5" name="Rectangle 4">
              <a:extLst>
                <a:ext uri="{FF2B5EF4-FFF2-40B4-BE49-F238E27FC236}">
                  <a16:creationId xmlns:a16="http://schemas.microsoft.com/office/drawing/2014/main" id="{224D2A6F-8756-6136-E344-7FBE74CCB9C1}"/>
                </a:ext>
              </a:extLst>
            </p:cNvPr>
            <p:cNvSpPr/>
            <p:nvPr/>
          </p:nvSpPr>
          <p:spPr>
            <a:xfrm>
              <a:off x="11353800" y="2089104"/>
              <a:ext cx="601980" cy="3340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7" name="Picture 6">
            <a:extLst>
              <a:ext uri="{FF2B5EF4-FFF2-40B4-BE49-F238E27FC236}">
                <a16:creationId xmlns:a16="http://schemas.microsoft.com/office/drawing/2014/main" id="{0015CF76-2BA9-1B8D-C362-24560BB0F51E}"/>
              </a:ext>
            </a:extLst>
          </p:cNvPr>
          <p:cNvPicPr>
            <a:picLocks noChangeAspect="1"/>
          </p:cNvPicPr>
          <p:nvPr/>
        </p:nvPicPr>
        <p:blipFill rotWithShape="1">
          <a:blip r:embed="rId3"/>
          <a:srcRect l="23120" t="2" r="30640" b="-880"/>
          <a:stretch/>
        </p:blipFill>
        <p:spPr>
          <a:xfrm>
            <a:off x="10091511" y="3329197"/>
            <a:ext cx="851431" cy="1857533"/>
          </a:xfrm>
          <a:prstGeom prst="rect">
            <a:avLst/>
          </a:prstGeom>
        </p:spPr>
      </p:pic>
      <p:pic>
        <p:nvPicPr>
          <p:cNvPr id="8" name="Picture 7">
            <a:extLst>
              <a:ext uri="{FF2B5EF4-FFF2-40B4-BE49-F238E27FC236}">
                <a16:creationId xmlns:a16="http://schemas.microsoft.com/office/drawing/2014/main" id="{291B146B-D77D-9359-971A-6B2F0E8CF6AA}"/>
              </a:ext>
            </a:extLst>
          </p:cNvPr>
          <p:cNvPicPr>
            <a:picLocks noChangeAspect="1"/>
          </p:cNvPicPr>
          <p:nvPr/>
        </p:nvPicPr>
        <p:blipFill rotWithShape="1">
          <a:blip r:embed="rId4"/>
          <a:srcRect b="9931"/>
          <a:stretch/>
        </p:blipFill>
        <p:spPr>
          <a:xfrm>
            <a:off x="6096000" y="2632450"/>
            <a:ext cx="3870960" cy="2737687"/>
          </a:xfrm>
          <a:prstGeom prst="rect">
            <a:avLst/>
          </a:prstGeom>
        </p:spPr>
      </p:pic>
      <p:pic>
        <p:nvPicPr>
          <p:cNvPr id="9" name="Picture 8">
            <a:extLst>
              <a:ext uri="{FF2B5EF4-FFF2-40B4-BE49-F238E27FC236}">
                <a16:creationId xmlns:a16="http://schemas.microsoft.com/office/drawing/2014/main" id="{70A7D2EB-83A6-9C6F-2AA8-A9F6EDD4B212}"/>
              </a:ext>
            </a:extLst>
          </p:cNvPr>
          <p:cNvPicPr>
            <a:picLocks noChangeAspect="1"/>
          </p:cNvPicPr>
          <p:nvPr/>
        </p:nvPicPr>
        <p:blipFill>
          <a:blip r:embed="rId5"/>
          <a:stretch>
            <a:fillRect/>
          </a:stretch>
        </p:blipFill>
        <p:spPr>
          <a:xfrm>
            <a:off x="10997254" y="3280727"/>
            <a:ext cx="1123950" cy="2168321"/>
          </a:xfrm>
          <a:prstGeom prst="rect">
            <a:avLst/>
          </a:prstGeom>
        </p:spPr>
      </p:pic>
    </p:spTree>
    <p:extLst>
      <p:ext uri="{BB962C8B-B14F-4D97-AF65-F5344CB8AC3E}">
        <p14:creationId xmlns:p14="http://schemas.microsoft.com/office/powerpoint/2010/main" val="3767062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FD0D1-B781-5B0D-FBF8-1762E9167660}"/>
              </a:ext>
            </a:extLst>
          </p:cNvPr>
          <p:cNvSpPr>
            <a:spLocks noGrp="1"/>
          </p:cNvSpPr>
          <p:nvPr>
            <p:ph type="title"/>
          </p:nvPr>
        </p:nvSpPr>
        <p:spPr/>
        <p:txBody>
          <a:bodyPr/>
          <a:lstStyle/>
          <a:p>
            <a:r>
              <a:rPr lang="en-GB" dirty="0"/>
              <a:t>Quadriceps (Group): </a:t>
            </a:r>
            <a:r>
              <a:rPr lang="en-GB" dirty="0">
                <a:solidFill>
                  <a:schemeClr val="tx2">
                    <a:lumMod val="50000"/>
                    <a:lumOff val="50000"/>
                  </a:schemeClr>
                </a:solidFill>
              </a:rPr>
              <a:t>Vastus Medialis</a:t>
            </a:r>
          </a:p>
        </p:txBody>
      </p:sp>
      <p:sp>
        <p:nvSpPr>
          <p:cNvPr id="3" name="Content Placeholder 2">
            <a:extLst>
              <a:ext uri="{FF2B5EF4-FFF2-40B4-BE49-F238E27FC236}">
                <a16:creationId xmlns:a16="http://schemas.microsoft.com/office/drawing/2014/main" id="{017B5E90-7391-7D18-DFD9-731FF4666069}"/>
              </a:ext>
            </a:extLst>
          </p:cNvPr>
          <p:cNvSpPr>
            <a:spLocks noGrp="1"/>
          </p:cNvSpPr>
          <p:nvPr>
            <p:ph idx="1"/>
          </p:nvPr>
        </p:nvSpPr>
        <p:spPr/>
        <p:txBody>
          <a:bodyPr>
            <a:normAutofit fontScale="85000" lnSpcReduction="20000"/>
          </a:bodyPr>
          <a:lstStyle/>
          <a:p>
            <a:r>
              <a:rPr lang="en-GB" dirty="0"/>
              <a:t>Origin: </a:t>
            </a:r>
          </a:p>
          <a:p>
            <a:pPr lvl="1"/>
            <a:r>
              <a:rPr lang="en-GB" dirty="0"/>
              <a:t>Medial lip of </a:t>
            </a:r>
            <a:r>
              <a:rPr lang="en-GB" dirty="0" err="1"/>
              <a:t>linea</a:t>
            </a:r>
            <a:r>
              <a:rPr lang="en-GB" dirty="0"/>
              <a:t> aspera of femur</a:t>
            </a:r>
          </a:p>
          <a:p>
            <a:r>
              <a:rPr lang="en-GB" dirty="0"/>
              <a:t>Insertion: </a:t>
            </a:r>
          </a:p>
          <a:p>
            <a:pPr lvl="1"/>
            <a:r>
              <a:rPr lang="en-GB" dirty="0"/>
              <a:t>Tibial tuberosity via the patellar ligament</a:t>
            </a:r>
          </a:p>
          <a:p>
            <a:r>
              <a:rPr lang="en-GB" dirty="0"/>
              <a:t>Action: </a:t>
            </a:r>
          </a:p>
          <a:p>
            <a:pPr lvl="1"/>
            <a:r>
              <a:rPr lang="en-GB" dirty="0"/>
              <a:t>Knee extension, patella stability</a:t>
            </a:r>
          </a:p>
          <a:p>
            <a:r>
              <a:rPr lang="en-GB" dirty="0"/>
              <a:t>Nerve supply: </a:t>
            </a:r>
          </a:p>
          <a:p>
            <a:pPr lvl="1"/>
            <a:r>
              <a:rPr lang="en-GB" dirty="0"/>
              <a:t>Femoral nerve (L2-L4)</a:t>
            </a:r>
          </a:p>
          <a:p>
            <a:r>
              <a:rPr lang="en-GB" dirty="0"/>
              <a:t>Blood supply: </a:t>
            </a:r>
          </a:p>
          <a:p>
            <a:pPr lvl="1"/>
            <a:r>
              <a:rPr lang="en-GB" dirty="0"/>
              <a:t>Femoral artery, Profunda femoris artery</a:t>
            </a:r>
          </a:p>
          <a:p>
            <a:r>
              <a:rPr lang="en-GB" dirty="0"/>
              <a:t>Clinical Relevance: </a:t>
            </a:r>
          </a:p>
          <a:p>
            <a:pPr lvl="1"/>
            <a:r>
              <a:rPr lang="en-GB" dirty="0"/>
              <a:t>Weakness of the vastus medialis, particularly the vastus medialis obliquus (VMO), is often implicated in patellar instability and patellofemoral pain.</a:t>
            </a:r>
          </a:p>
        </p:txBody>
      </p:sp>
      <p:pic>
        <p:nvPicPr>
          <p:cNvPr id="4" name="Picture 3">
            <a:extLst>
              <a:ext uri="{FF2B5EF4-FFF2-40B4-BE49-F238E27FC236}">
                <a16:creationId xmlns:a16="http://schemas.microsoft.com/office/drawing/2014/main" id="{D978E7AA-378E-3897-63EF-B0167EF253CB}"/>
              </a:ext>
            </a:extLst>
          </p:cNvPr>
          <p:cNvPicPr>
            <a:picLocks noChangeAspect="1"/>
          </p:cNvPicPr>
          <p:nvPr/>
        </p:nvPicPr>
        <p:blipFill rotWithShape="1">
          <a:blip r:embed="rId2"/>
          <a:srcRect b="11111"/>
          <a:stretch/>
        </p:blipFill>
        <p:spPr>
          <a:xfrm>
            <a:off x="6164395" y="1310640"/>
            <a:ext cx="5683721" cy="3893820"/>
          </a:xfrm>
          <a:prstGeom prst="rect">
            <a:avLst/>
          </a:prstGeom>
        </p:spPr>
      </p:pic>
    </p:spTree>
    <p:extLst>
      <p:ext uri="{BB962C8B-B14F-4D97-AF65-F5344CB8AC3E}">
        <p14:creationId xmlns:p14="http://schemas.microsoft.com/office/powerpoint/2010/main" val="189489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948D-EDA5-2185-FCA1-98FDA1399EE6}"/>
              </a:ext>
            </a:extLst>
          </p:cNvPr>
          <p:cNvSpPr>
            <a:spLocks noGrp="1"/>
          </p:cNvSpPr>
          <p:nvPr>
            <p:ph type="title"/>
          </p:nvPr>
        </p:nvSpPr>
        <p:spPr/>
        <p:txBody>
          <a:bodyPr/>
          <a:lstStyle/>
          <a:p>
            <a:r>
              <a:rPr lang="en-GB" dirty="0"/>
              <a:t>Quadriceps (Group): </a:t>
            </a:r>
            <a:r>
              <a:rPr lang="en-GB" dirty="0">
                <a:solidFill>
                  <a:schemeClr val="tx2">
                    <a:lumMod val="50000"/>
                    <a:lumOff val="50000"/>
                  </a:schemeClr>
                </a:solidFill>
              </a:rPr>
              <a:t>Vastus Intermedius</a:t>
            </a:r>
          </a:p>
        </p:txBody>
      </p:sp>
      <p:sp>
        <p:nvSpPr>
          <p:cNvPr id="3" name="Content Placeholder 2">
            <a:extLst>
              <a:ext uri="{FF2B5EF4-FFF2-40B4-BE49-F238E27FC236}">
                <a16:creationId xmlns:a16="http://schemas.microsoft.com/office/drawing/2014/main" id="{1951785E-21D3-F106-A75E-A8A03729F910}"/>
              </a:ext>
            </a:extLst>
          </p:cNvPr>
          <p:cNvSpPr>
            <a:spLocks noGrp="1"/>
          </p:cNvSpPr>
          <p:nvPr>
            <p:ph idx="1"/>
          </p:nvPr>
        </p:nvSpPr>
        <p:spPr>
          <a:xfrm>
            <a:off x="838200" y="1580225"/>
            <a:ext cx="10515600" cy="4596738"/>
          </a:xfrm>
        </p:spPr>
        <p:txBody>
          <a:bodyPr>
            <a:normAutofit fontScale="85000" lnSpcReduction="20000"/>
          </a:bodyPr>
          <a:lstStyle/>
          <a:p>
            <a:r>
              <a:rPr lang="en-GB" dirty="0"/>
              <a:t>Origin: </a:t>
            </a:r>
          </a:p>
          <a:p>
            <a:pPr lvl="1"/>
            <a:r>
              <a:rPr lang="en-GB" dirty="0"/>
              <a:t>Anterior and lateral surfaces of the femoral shaft</a:t>
            </a:r>
          </a:p>
          <a:p>
            <a:r>
              <a:rPr lang="en-GB" dirty="0"/>
              <a:t>Insertion: </a:t>
            </a:r>
          </a:p>
          <a:p>
            <a:pPr lvl="1"/>
            <a:r>
              <a:rPr lang="en-GB" dirty="0"/>
              <a:t>Tibial tuberosity via the patellar ligament</a:t>
            </a:r>
          </a:p>
          <a:p>
            <a:r>
              <a:rPr lang="en-GB" dirty="0"/>
              <a:t>Action: </a:t>
            </a:r>
          </a:p>
          <a:p>
            <a:pPr lvl="1"/>
            <a:r>
              <a:rPr lang="en-GB" dirty="0"/>
              <a:t>Knee extension, patella stability</a:t>
            </a:r>
          </a:p>
          <a:p>
            <a:r>
              <a:rPr lang="en-GB" dirty="0"/>
              <a:t>Nerve supply: </a:t>
            </a:r>
          </a:p>
          <a:p>
            <a:pPr lvl="1"/>
            <a:r>
              <a:rPr lang="en-GB" dirty="0"/>
              <a:t>Femoral nerve (L2-L4)</a:t>
            </a:r>
          </a:p>
          <a:p>
            <a:r>
              <a:rPr lang="en-GB" dirty="0"/>
              <a:t>Blood supply: </a:t>
            </a:r>
          </a:p>
          <a:p>
            <a:pPr lvl="1"/>
            <a:r>
              <a:rPr lang="en-GB" dirty="0"/>
              <a:t>Lateral circumflex femoral artery</a:t>
            </a:r>
          </a:p>
          <a:p>
            <a:r>
              <a:rPr lang="en-GB" dirty="0"/>
              <a:t>Clinical Relevance: </a:t>
            </a:r>
          </a:p>
          <a:p>
            <a:pPr lvl="1"/>
            <a:r>
              <a:rPr lang="en-GB" dirty="0"/>
              <a:t>Dysfunction of the quadriceps muscles, especially after injury or surgery, can lead to atrophy, affecting knee stability and mobility</a:t>
            </a:r>
          </a:p>
          <a:p>
            <a:pPr lvl="1"/>
            <a:r>
              <a:rPr lang="en-GB" i="1" dirty="0"/>
              <a:t>The Vastus intermedius lies deep to the Rectus femoris</a:t>
            </a:r>
          </a:p>
        </p:txBody>
      </p:sp>
      <p:pic>
        <p:nvPicPr>
          <p:cNvPr id="4" name="Picture 3">
            <a:extLst>
              <a:ext uri="{FF2B5EF4-FFF2-40B4-BE49-F238E27FC236}">
                <a16:creationId xmlns:a16="http://schemas.microsoft.com/office/drawing/2014/main" id="{D6E8F737-5BC7-6B6E-38B1-8AEABB05836A}"/>
              </a:ext>
            </a:extLst>
          </p:cNvPr>
          <p:cNvPicPr>
            <a:picLocks noChangeAspect="1"/>
          </p:cNvPicPr>
          <p:nvPr/>
        </p:nvPicPr>
        <p:blipFill rotWithShape="1">
          <a:blip r:embed="rId2"/>
          <a:srcRect b="8667"/>
          <a:stretch/>
        </p:blipFill>
        <p:spPr>
          <a:xfrm>
            <a:off x="7115218" y="1690688"/>
            <a:ext cx="2912016" cy="3101340"/>
          </a:xfrm>
          <a:prstGeom prst="rect">
            <a:avLst/>
          </a:prstGeom>
        </p:spPr>
      </p:pic>
      <p:grpSp>
        <p:nvGrpSpPr>
          <p:cNvPr id="7" name="Group 6">
            <a:extLst>
              <a:ext uri="{FF2B5EF4-FFF2-40B4-BE49-F238E27FC236}">
                <a16:creationId xmlns:a16="http://schemas.microsoft.com/office/drawing/2014/main" id="{91E525CB-605C-4E12-D165-540AB9B5640F}"/>
              </a:ext>
            </a:extLst>
          </p:cNvPr>
          <p:cNvGrpSpPr/>
          <p:nvPr/>
        </p:nvGrpSpPr>
        <p:grpSpPr>
          <a:xfrm>
            <a:off x="10393432" y="223865"/>
            <a:ext cx="1667304" cy="2178938"/>
            <a:chOff x="10393432" y="223865"/>
            <a:chExt cx="1798568" cy="2138335"/>
          </a:xfrm>
        </p:grpSpPr>
        <p:pic>
          <p:nvPicPr>
            <p:cNvPr id="5" name="Picture 4">
              <a:extLst>
                <a:ext uri="{FF2B5EF4-FFF2-40B4-BE49-F238E27FC236}">
                  <a16:creationId xmlns:a16="http://schemas.microsoft.com/office/drawing/2014/main" id="{98D1D84B-DBF3-0692-7632-B83B9576FC38}"/>
                </a:ext>
              </a:extLst>
            </p:cNvPr>
            <p:cNvPicPr>
              <a:picLocks noChangeAspect="1"/>
            </p:cNvPicPr>
            <p:nvPr/>
          </p:nvPicPr>
          <p:blipFill rotWithShape="1">
            <a:blip r:embed="rId3"/>
            <a:srcRect l="12111" t="6334" r="13444"/>
            <a:stretch/>
          </p:blipFill>
          <p:spPr>
            <a:xfrm>
              <a:off x="10393432" y="223865"/>
              <a:ext cx="1699507" cy="2138335"/>
            </a:xfrm>
            <a:prstGeom prst="rect">
              <a:avLst/>
            </a:prstGeom>
          </p:spPr>
        </p:pic>
        <p:sp>
          <p:nvSpPr>
            <p:cNvPr id="6" name="Rectangle 5">
              <a:extLst>
                <a:ext uri="{FF2B5EF4-FFF2-40B4-BE49-F238E27FC236}">
                  <a16:creationId xmlns:a16="http://schemas.microsoft.com/office/drawing/2014/main" id="{ABBB343A-9D35-1459-EEA0-D6013D302495}"/>
                </a:ext>
              </a:extLst>
            </p:cNvPr>
            <p:cNvSpPr/>
            <p:nvPr/>
          </p:nvSpPr>
          <p:spPr>
            <a:xfrm>
              <a:off x="11536680" y="289560"/>
              <a:ext cx="655320" cy="3505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7744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731D-2DFD-EB35-F9F3-8EBD805E28A3}"/>
              </a:ext>
            </a:extLst>
          </p:cNvPr>
          <p:cNvSpPr>
            <a:spLocks noGrp="1"/>
          </p:cNvSpPr>
          <p:nvPr>
            <p:ph type="title"/>
          </p:nvPr>
        </p:nvSpPr>
        <p:spPr>
          <a:xfrm>
            <a:off x="198120" y="273685"/>
            <a:ext cx="10515600" cy="1325563"/>
          </a:xfrm>
        </p:spPr>
        <p:txBody>
          <a:bodyPr/>
          <a:lstStyle/>
          <a:p>
            <a:r>
              <a:rPr lang="en-GB" dirty="0"/>
              <a:t>Quadriceps (Group): </a:t>
            </a:r>
            <a:r>
              <a:rPr lang="en-GB" dirty="0">
                <a:solidFill>
                  <a:schemeClr val="tx2">
                    <a:lumMod val="50000"/>
                    <a:lumOff val="50000"/>
                  </a:schemeClr>
                </a:solidFill>
              </a:rPr>
              <a:t>Rectus Femoris</a:t>
            </a:r>
          </a:p>
        </p:txBody>
      </p:sp>
      <p:sp>
        <p:nvSpPr>
          <p:cNvPr id="3" name="Content Placeholder 2">
            <a:extLst>
              <a:ext uri="{FF2B5EF4-FFF2-40B4-BE49-F238E27FC236}">
                <a16:creationId xmlns:a16="http://schemas.microsoft.com/office/drawing/2014/main" id="{16FD9188-30F1-ECF1-8B5A-4A7ECC2907BB}"/>
              </a:ext>
            </a:extLst>
          </p:cNvPr>
          <p:cNvSpPr>
            <a:spLocks noGrp="1"/>
          </p:cNvSpPr>
          <p:nvPr>
            <p:ph idx="1"/>
          </p:nvPr>
        </p:nvSpPr>
        <p:spPr>
          <a:xfrm>
            <a:off x="461818" y="1502002"/>
            <a:ext cx="8979362" cy="4981925"/>
          </a:xfrm>
        </p:spPr>
        <p:txBody>
          <a:bodyPr>
            <a:normAutofit fontScale="92500" lnSpcReduction="10000"/>
          </a:bodyPr>
          <a:lstStyle/>
          <a:p>
            <a:r>
              <a:rPr lang="en-GB" dirty="0"/>
              <a:t>Origin: </a:t>
            </a:r>
          </a:p>
          <a:p>
            <a:pPr lvl="1"/>
            <a:r>
              <a:rPr lang="en-GB" dirty="0"/>
              <a:t>Anterior inferior iliac spine (AIIS) and superior acetabular rim.</a:t>
            </a:r>
          </a:p>
          <a:p>
            <a:r>
              <a:rPr lang="en-GB" dirty="0"/>
              <a:t>Insertion: </a:t>
            </a:r>
          </a:p>
          <a:p>
            <a:pPr lvl="1"/>
            <a:r>
              <a:rPr lang="en-GB" dirty="0"/>
              <a:t>Tibial tuberosity via the patellar ligament.</a:t>
            </a:r>
          </a:p>
          <a:p>
            <a:r>
              <a:rPr lang="en-GB" dirty="0"/>
              <a:t>Action: </a:t>
            </a:r>
          </a:p>
          <a:p>
            <a:pPr lvl="1"/>
            <a:r>
              <a:rPr lang="en-GB" dirty="0"/>
              <a:t>Flexes the hip and extends the knee.</a:t>
            </a:r>
          </a:p>
          <a:p>
            <a:r>
              <a:rPr lang="en-GB" dirty="0"/>
              <a:t>Nerve supply: </a:t>
            </a:r>
          </a:p>
          <a:p>
            <a:pPr lvl="1"/>
            <a:r>
              <a:rPr lang="en-GB" dirty="0"/>
              <a:t>Femoral nerve (L2-L4).</a:t>
            </a:r>
          </a:p>
          <a:p>
            <a:r>
              <a:rPr lang="en-GB" dirty="0"/>
              <a:t>Blood supply: </a:t>
            </a:r>
          </a:p>
          <a:p>
            <a:pPr lvl="1"/>
            <a:r>
              <a:rPr lang="en-GB" dirty="0"/>
              <a:t>Lateral circumflex femoral artery</a:t>
            </a:r>
          </a:p>
          <a:p>
            <a:r>
              <a:rPr lang="en-GB" dirty="0"/>
              <a:t>Clinical Relevance: </a:t>
            </a:r>
          </a:p>
          <a:p>
            <a:pPr lvl="1"/>
            <a:r>
              <a:rPr lang="en-GB" dirty="0"/>
              <a:t>Frequently strained in activities requiring powerful hip flexion, like sprinting or kicking.</a:t>
            </a:r>
          </a:p>
        </p:txBody>
      </p:sp>
      <p:pic>
        <p:nvPicPr>
          <p:cNvPr id="4" name="Picture 3">
            <a:extLst>
              <a:ext uri="{FF2B5EF4-FFF2-40B4-BE49-F238E27FC236}">
                <a16:creationId xmlns:a16="http://schemas.microsoft.com/office/drawing/2014/main" id="{34A17733-284A-5240-C557-38141727DF3C}"/>
              </a:ext>
            </a:extLst>
          </p:cNvPr>
          <p:cNvPicPr>
            <a:picLocks noChangeAspect="1"/>
          </p:cNvPicPr>
          <p:nvPr/>
        </p:nvPicPr>
        <p:blipFill rotWithShape="1">
          <a:blip r:embed="rId2"/>
          <a:srcRect b="10000"/>
          <a:stretch/>
        </p:blipFill>
        <p:spPr>
          <a:xfrm>
            <a:off x="7795260" y="2588183"/>
            <a:ext cx="2865120" cy="2767815"/>
          </a:xfrm>
          <a:prstGeom prst="rect">
            <a:avLst/>
          </a:prstGeom>
        </p:spPr>
      </p:pic>
      <p:pic>
        <p:nvPicPr>
          <p:cNvPr id="5" name="Picture 4">
            <a:extLst>
              <a:ext uri="{FF2B5EF4-FFF2-40B4-BE49-F238E27FC236}">
                <a16:creationId xmlns:a16="http://schemas.microsoft.com/office/drawing/2014/main" id="{74DCBB98-F246-AE66-DEDD-3D8B8FA4703B}"/>
              </a:ext>
            </a:extLst>
          </p:cNvPr>
          <p:cNvPicPr>
            <a:picLocks noChangeAspect="1"/>
          </p:cNvPicPr>
          <p:nvPr/>
        </p:nvPicPr>
        <p:blipFill rotWithShape="1">
          <a:blip r:embed="rId3"/>
          <a:srcRect l="8667" t="7217" r="7556" b="11333"/>
          <a:stretch/>
        </p:blipFill>
        <p:spPr>
          <a:xfrm>
            <a:off x="9783259" y="335279"/>
            <a:ext cx="2317300" cy="2252904"/>
          </a:xfrm>
          <a:prstGeom prst="rect">
            <a:avLst/>
          </a:prstGeom>
        </p:spPr>
      </p:pic>
    </p:spTree>
    <p:extLst>
      <p:ext uri="{BB962C8B-B14F-4D97-AF65-F5344CB8AC3E}">
        <p14:creationId xmlns:p14="http://schemas.microsoft.com/office/powerpoint/2010/main" val="200276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0A07D28-B25E-CD50-20CC-0E55ED9188A8}"/>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Posterior Muscles (Knee Flexors)</a:t>
            </a:r>
          </a:p>
        </p:txBody>
      </p:sp>
      <p:sp>
        <p:nvSpPr>
          <p:cNvPr id="5" name="TextBox 4">
            <a:extLst>
              <a:ext uri="{FF2B5EF4-FFF2-40B4-BE49-F238E27FC236}">
                <a16:creationId xmlns:a16="http://schemas.microsoft.com/office/drawing/2014/main" id="{EB2A2CE3-3CE1-2E26-48F8-C94EED57F53E}"/>
              </a:ext>
            </a:extLst>
          </p:cNvPr>
          <p:cNvSpPr txBox="1"/>
          <p:nvPr/>
        </p:nvSpPr>
        <p:spPr>
          <a:xfrm>
            <a:off x="1222459" y="4624877"/>
            <a:ext cx="8321035" cy="646331"/>
          </a:xfrm>
          <a:prstGeom prst="rect">
            <a:avLst/>
          </a:prstGeom>
          <a:noFill/>
        </p:spPr>
        <p:txBody>
          <a:bodyPr wrap="square">
            <a:spAutoFit/>
          </a:bodyPr>
          <a:lstStyle/>
          <a:p>
            <a:r>
              <a:rPr lang="en-GB" dirty="0"/>
              <a:t>Hamstrings Group:</a:t>
            </a:r>
          </a:p>
          <a:p>
            <a:r>
              <a:rPr lang="en-GB" dirty="0"/>
              <a:t>The hamstrings are the primary knee flexors and also assist in hip extension:</a:t>
            </a:r>
          </a:p>
        </p:txBody>
      </p:sp>
      <p:pic>
        <p:nvPicPr>
          <p:cNvPr id="6" name="Picture 5">
            <a:extLst>
              <a:ext uri="{FF2B5EF4-FFF2-40B4-BE49-F238E27FC236}">
                <a16:creationId xmlns:a16="http://schemas.microsoft.com/office/drawing/2014/main" id="{783B8AAB-E249-CF41-BE61-7D1CC569861F}"/>
              </a:ext>
            </a:extLst>
          </p:cNvPr>
          <p:cNvPicPr>
            <a:picLocks noChangeAspect="1"/>
          </p:cNvPicPr>
          <p:nvPr/>
        </p:nvPicPr>
        <p:blipFill rotWithShape="1">
          <a:blip r:embed="rId3"/>
          <a:srcRect r="50000" b="9889"/>
          <a:stretch/>
        </p:blipFill>
        <p:spPr>
          <a:xfrm>
            <a:off x="9068173" y="4411810"/>
            <a:ext cx="1901367" cy="2347130"/>
          </a:xfrm>
          <a:prstGeom prst="rect">
            <a:avLst/>
          </a:prstGeom>
        </p:spPr>
      </p:pic>
    </p:spTree>
    <p:extLst>
      <p:ext uri="{BB962C8B-B14F-4D97-AF65-F5344CB8AC3E}">
        <p14:creationId xmlns:p14="http://schemas.microsoft.com/office/powerpoint/2010/main" val="1468291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08DE0-33CD-87E8-FB22-305238125D4B}"/>
              </a:ext>
            </a:extLst>
          </p:cNvPr>
          <p:cNvSpPr>
            <a:spLocks noGrp="1"/>
          </p:cNvSpPr>
          <p:nvPr>
            <p:ph type="title"/>
          </p:nvPr>
        </p:nvSpPr>
        <p:spPr>
          <a:xfrm>
            <a:off x="639193" y="365125"/>
            <a:ext cx="10714608" cy="877749"/>
          </a:xfrm>
        </p:spPr>
        <p:txBody>
          <a:bodyPr>
            <a:normAutofit/>
          </a:bodyPr>
          <a:lstStyle/>
          <a:p>
            <a:r>
              <a:rPr lang="en-GB" dirty="0"/>
              <a:t>Hamstrings Group: </a:t>
            </a:r>
            <a:r>
              <a:rPr lang="en-GB" dirty="0">
                <a:solidFill>
                  <a:schemeClr val="tx2">
                    <a:lumMod val="50000"/>
                    <a:lumOff val="50000"/>
                  </a:schemeClr>
                </a:solidFill>
              </a:rPr>
              <a:t>Biceps Femoris </a:t>
            </a:r>
            <a:r>
              <a:rPr lang="en-GB" sz="1600" dirty="0"/>
              <a:t>(Long Head and Short Head)</a:t>
            </a:r>
            <a:endParaRPr lang="en-GB" dirty="0"/>
          </a:p>
        </p:txBody>
      </p:sp>
      <p:sp>
        <p:nvSpPr>
          <p:cNvPr id="3" name="Content Placeholder 2">
            <a:extLst>
              <a:ext uri="{FF2B5EF4-FFF2-40B4-BE49-F238E27FC236}">
                <a16:creationId xmlns:a16="http://schemas.microsoft.com/office/drawing/2014/main" id="{76683F78-72AE-4B0B-89AF-2215DF0C2E5D}"/>
              </a:ext>
            </a:extLst>
          </p:cNvPr>
          <p:cNvSpPr>
            <a:spLocks noGrp="1"/>
          </p:cNvSpPr>
          <p:nvPr>
            <p:ph idx="1"/>
          </p:nvPr>
        </p:nvSpPr>
        <p:spPr>
          <a:xfrm>
            <a:off x="754602" y="1438183"/>
            <a:ext cx="10599198" cy="4738780"/>
          </a:xfrm>
        </p:spPr>
        <p:txBody>
          <a:bodyPr>
            <a:normAutofit fontScale="92500" lnSpcReduction="10000"/>
          </a:bodyPr>
          <a:lstStyle/>
          <a:p>
            <a:r>
              <a:rPr lang="en-GB" dirty="0"/>
              <a:t>Origin: </a:t>
            </a:r>
          </a:p>
          <a:p>
            <a:pPr lvl="1"/>
            <a:r>
              <a:rPr lang="en-GB" dirty="0"/>
              <a:t>Long head – ischial tuberosity; </a:t>
            </a:r>
          </a:p>
          <a:p>
            <a:pPr lvl="1"/>
            <a:r>
              <a:rPr lang="en-GB" dirty="0"/>
              <a:t>Short head – </a:t>
            </a:r>
            <a:r>
              <a:rPr lang="en-GB" dirty="0" err="1"/>
              <a:t>linea</a:t>
            </a:r>
            <a:r>
              <a:rPr lang="en-GB" dirty="0"/>
              <a:t> aspera.</a:t>
            </a:r>
          </a:p>
          <a:p>
            <a:r>
              <a:rPr lang="en-GB" dirty="0"/>
              <a:t>Insertion: </a:t>
            </a:r>
          </a:p>
          <a:p>
            <a:pPr lvl="1"/>
            <a:r>
              <a:rPr lang="en-GB" dirty="0"/>
              <a:t>Head of the fibula.</a:t>
            </a:r>
          </a:p>
          <a:p>
            <a:r>
              <a:rPr lang="en-GB" dirty="0"/>
              <a:t>Action: </a:t>
            </a:r>
          </a:p>
          <a:p>
            <a:pPr lvl="1"/>
            <a:r>
              <a:rPr lang="en-GB" dirty="0"/>
              <a:t>Flexes the knee, extends the hip, and externally rotates the knee.</a:t>
            </a:r>
          </a:p>
          <a:p>
            <a:r>
              <a:rPr lang="en-GB" dirty="0"/>
              <a:t>Nerve supply: </a:t>
            </a:r>
          </a:p>
          <a:p>
            <a:pPr lvl="1"/>
            <a:r>
              <a:rPr lang="en-GB" dirty="0"/>
              <a:t>Sciatic nerve (L5-S2). </a:t>
            </a:r>
            <a:r>
              <a:rPr lang="en-GB" sz="1500" dirty="0"/>
              <a:t>(Long head: Tibial division; short head: common peroneal division)</a:t>
            </a:r>
            <a:endParaRPr lang="en-GB" dirty="0"/>
          </a:p>
          <a:p>
            <a:r>
              <a:rPr lang="en-GB" dirty="0"/>
              <a:t>Clinical Relevance: </a:t>
            </a:r>
          </a:p>
          <a:p>
            <a:pPr lvl="1"/>
            <a:r>
              <a:rPr lang="en-GB" dirty="0"/>
              <a:t>The biceps femoris is frequently injured in sprinting activities due to its role in hip extension and knee flexion.</a:t>
            </a:r>
          </a:p>
        </p:txBody>
      </p:sp>
      <p:pic>
        <p:nvPicPr>
          <p:cNvPr id="4" name="Picture 3">
            <a:extLst>
              <a:ext uri="{FF2B5EF4-FFF2-40B4-BE49-F238E27FC236}">
                <a16:creationId xmlns:a16="http://schemas.microsoft.com/office/drawing/2014/main" id="{685E1EA8-0083-3ED0-78B4-281D33391C95}"/>
              </a:ext>
            </a:extLst>
          </p:cNvPr>
          <p:cNvPicPr>
            <a:picLocks noChangeAspect="1"/>
          </p:cNvPicPr>
          <p:nvPr/>
        </p:nvPicPr>
        <p:blipFill rotWithShape="1">
          <a:blip r:embed="rId2"/>
          <a:srcRect l="29889" t="7445" r="2445"/>
          <a:stretch/>
        </p:blipFill>
        <p:spPr>
          <a:xfrm>
            <a:off x="9692512" y="1438183"/>
            <a:ext cx="2278508" cy="3116580"/>
          </a:xfrm>
          <a:prstGeom prst="rect">
            <a:avLst/>
          </a:prstGeom>
        </p:spPr>
      </p:pic>
      <p:pic>
        <p:nvPicPr>
          <p:cNvPr id="5" name="Picture 4">
            <a:extLst>
              <a:ext uri="{FF2B5EF4-FFF2-40B4-BE49-F238E27FC236}">
                <a16:creationId xmlns:a16="http://schemas.microsoft.com/office/drawing/2014/main" id="{BE7AF5D7-36F8-1D05-FA59-01394C9531B4}"/>
              </a:ext>
            </a:extLst>
          </p:cNvPr>
          <p:cNvPicPr>
            <a:picLocks noChangeAspect="1"/>
          </p:cNvPicPr>
          <p:nvPr/>
        </p:nvPicPr>
        <p:blipFill rotWithShape="1">
          <a:blip r:embed="rId3"/>
          <a:srcRect b="12333"/>
          <a:stretch/>
        </p:blipFill>
        <p:spPr>
          <a:xfrm>
            <a:off x="5737860" y="1333500"/>
            <a:ext cx="3277244" cy="2224931"/>
          </a:xfrm>
          <a:prstGeom prst="rect">
            <a:avLst/>
          </a:prstGeom>
        </p:spPr>
      </p:pic>
    </p:spTree>
    <p:extLst>
      <p:ext uri="{BB962C8B-B14F-4D97-AF65-F5344CB8AC3E}">
        <p14:creationId xmlns:p14="http://schemas.microsoft.com/office/powerpoint/2010/main" val="2868223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08DE0-33CD-87E8-FB22-305238125D4B}"/>
              </a:ext>
            </a:extLst>
          </p:cNvPr>
          <p:cNvSpPr>
            <a:spLocks noGrp="1"/>
          </p:cNvSpPr>
          <p:nvPr>
            <p:ph type="title"/>
          </p:nvPr>
        </p:nvSpPr>
        <p:spPr>
          <a:xfrm>
            <a:off x="213360" y="201396"/>
            <a:ext cx="10515600" cy="1325563"/>
          </a:xfrm>
        </p:spPr>
        <p:txBody>
          <a:bodyPr/>
          <a:lstStyle/>
          <a:p>
            <a:r>
              <a:rPr lang="en-GB" dirty="0"/>
              <a:t>Hamstrings Group: </a:t>
            </a:r>
            <a:r>
              <a:rPr lang="en-GB" dirty="0">
                <a:solidFill>
                  <a:schemeClr val="tx2">
                    <a:lumMod val="50000"/>
                    <a:lumOff val="50000"/>
                  </a:schemeClr>
                </a:solidFill>
              </a:rPr>
              <a:t>Semitendinosus</a:t>
            </a:r>
          </a:p>
        </p:txBody>
      </p:sp>
      <p:sp>
        <p:nvSpPr>
          <p:cNvPr id="3" name="Content Placeholder 2">
            <a:extLst>
              <a:ext uri="{FF2B5EF4-FFF2-40B4-BE49-F238E27FC236}">
                <a16:creationId xmlns:a16="http://schemas.microsoft.com/office/drawing/2014/main" id="{76683F78-72AE-4B0B-89AF-2215DF0C2E5D}"/>
              </a:ext>
            </a:extLst>
          </p:cNvPr>
          <p:cNvSpPr>
            <a:spLocks noGrp="1"/>
          </p:cNvSpPr>
          <p:nvPr>
            <p:ph idx="1"/>
          </p:nvPr>
        </p:nvSpPr>
        <p:spPr>
          <a:xfrm>
            <a:off x="213360" y="1346748"/>
            <a:ext cx="8269869" cy="5067401"/>
          </a:xfrm>
        </p:spPr>
        <p:txBody>
          <a:bodyPr>
            <a:normAutofit lnSpcReduction="10000"/>
          </a:bodyPr>
          <a:lstStyle/>
          <a:p>
            <a:r>
              <a:rPr lang="en-GB" dirty="0"/>
              <a:t>Origin: </a:t>
            </a:r>
          </a:p>
          <a:p>
            <a:pPr lvl="1"/>
            <a:r>
              <a:rPr lang="en-GB" dirty="0"/>
              <a:t>Ischial tuberosity.</a:t>
            </a:r>
          </a:p>
          <a:p>
            <a:r>
              <a:rPr lang="en-GB" dirty="0"/>
              <a:t>Insertion: </a:t>
            </a:r>
          </a:p>
          <a:p>
            <a:pPr lvl="1"/>
            <a:r>
              <a:rPr lang="en-GB" dirty="0"/>
              <a:t>Pes anserinus (medial surface of the tibia).</a:t>
            </a:r>
          </a:p>
          <a:p>
            <a:r>
              <a:rPr lang="en-GB" dirty="0"/>
              <a:t>Action: </a:t>
            </a:r>
          </a:p>
          <a:p>
            <a:pPr lvl="1"/>
            <a:r>
              <a:rPr lang="en-GB" dirty="0"/>
              <a:t>Flexes the knee and extends the hip; internally rotates the tibia.</a:t>
            </a:r>
          </a:p>
          <a:p>
            <a:r>
              <a:rPr lang="en-GB" dirty="0"/>
              <a:t>Nerve supply: </a:t>
            </a:r>
          </a:p>
          <a:p>
            <a:pPr lvl="1"/>
            <a:r>
              <a:rPr lang="en-GB" dirty="0"/>
              <a:t>Sciatic nerve (L5-S2).</a:t>
            </a:r>
          </a:p>
          <a:p>
            <a:r>
              <a:rPr lang="en-GB" dirty="0"/>
              <a:t>Clinical Relevance: </a:t>
            </a:r>
          </a:p>
          <a:p>
            <a:pPr lvl="1"/>
            <a:r>
              <a:rPr lang="en-GB" dirty="0"/>
              <a:t>Often involved in hamstring strains; contributes to medial knee stability.</a:t>
            </a:r>
          </a:p>
        </p:txBody>
      </p:sp>
      <p:pic>
        <p:nvPicPr>
          <p:cNvPr id="4" name="Picture 3">
            <a:extLst>
              <a:ext uri="{FF2B5EF4-FFF2-40B4-BE49-F238E27FC236}">
                <a16:creationId xmlns:a16="http://schemas.microsoft.com/office/drawing/2014/main" id="{96AA7285-B73D-05F3-A609-C091F4F0F380}"/>
              </a:ext>
            </a:extLst>
          </p:cNvPr>
          <p:cNvPicPr>
            <a:picLocks noChangeAspect="1"/>
          </p:cNvPicPr>
          <p:nvPr/>
        </p:nvPicPr>
        <p:blipFill rotWithShape="1">
          <a:blip r:embed="rId2"/>
          <a:srcRect t="-889" b="10556"/>
          <a:stretch/>
        </p:blipFill>
        <p:spPr>
          <a:xfrm>
            <a:off x="7997241" y="1082040"/>
            <a:ext cx="3706896" cy="2293620"/>
          </a:xfrm>
          <a:prstGeom prst="rect">
            <a:avLst/>
          </a:prstGeom>
        </p:spPr>
      </p:pic>
      <p:grpSp>
        <p:nvGrpSpPr>
          <p:cNvPr id="7" name="Group 6">
            <a:extLst>
              <a:ext uri="{FF2B5EF4-FFF2-40B4-BE49-F238E27FC236}">
                <a16:creationId xmlns:a16="http://schemas.microsoft.com/office/drawing/2014/main" id="{26403889-EF32-EB90-5248-FA37D35B55BC}"/>
              </a:ext>
            </a:extLst>
          </p:cNvPr>
          <p:cNvGrpSpPr/>
          <p:nvPr/>
        </p:nvGrpSpPr>
        <p:grpSpPr>
          <a:xfrm>
            <a:off x="8444485" y="3718560"/>
            <a:ext cx="2812407" cy="2750821"/>
            <a:chOff x="8444485" y="3718560"/>
            <a:chExt cx="2812407" cy="2750821"/>
          </a:xfrm>
        </p:grpSpPr>
        <p:pic>
          <p:nvPicPr>
            <p:cNvPr id="5" name="Picture 4">
              <a:extLst>
                <a:ext uri="{FF2B5EF4-FFF2-40B4-BE49-F238E27FC236}">
                  <a16:creationId xmlns:a16="http://schemas.microsoft.com/office/drawing/2014/main" id="{8DC2FE88-4710-2515-163A-1CD0796AAD5A}"/>
                </a:ext>
              </a:extLst>
            </p:cNvPr>
            <p:cNvPicPr>
              <a:picLocks noChangeAspect="1"/>
            </p:cNvPicPr>
            <p:nvPr/>
          </p:nvPicPr>
          <p:blipFill rotWithShape="1">
            <a:blip r:embed="rId3"/>
            <a:srcRect l="1444" t="9888" r="7222" b="778"/>
            <a:stretch/>
          </p:blipFill>
          <p:spPr>
            <a:xfrm>
              <a:off x="8444485" y="3718560"/>
              <a:ext cx="2812407" cy="2750821"/>
            </a:xfrm>
            <a:prstGeom prst="rect">
              <a:avLst/>
            </a:prstGeom>
          </p:spPr>
        </p:pic>
        <p:sp>
          <p:nvSpPr>
            <p:cNvPr id="6" name="Rectangle 5">
              <a:extLst>
                <a:ext uri="{FF2B5EF4-FFF2-40B4-BE49-F238E27FC236}">
                  <a16:creationId xmlns:a16="http://schemas.microsoft.com/office/drawing/2014/main" id="{6D37AC07-68F5-A322-AC8B-F0460E2FEED4}"/>
                </a:ext>
              </a:extLst>
            </p:cNvPr>
            <p:cNvSpPr/>
            <p:nvPr/>
          </p:nvSpPr>
          <p:spPr>
            <a:xfrm>
              <a:off x="10378440" y="3749040"/>
              <a:ext cx="853440" cy="4419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81172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08DE0-33CD-87E8-FB22-305238125D4B}"/>
              </a:ext>
            </a:extLst>
          </p:cNvPr>
          <p:cNvSpPr>
            <a:spLocks noGrp="1"/>
          </p:cNvSpPr>
          <p:nvPr>
            <p:ph type="title"/>
          </p:nvPr>
        </p:nvSpPr>
        <p:spPr>
          <a:xfrm>
            <a:off x="184103" y="224962"/>
            <a:ext cx="10515600" cy="1325563"/>
          </a:xfrm>
        </p:spPr>
        <p:txBody>
          <a:bodyPr/>
          <a:lstStyle/>
          <a:p>
            <a:r>
              <a:rPr lang="en-GB" dirty="0"/>
              <a:t>Hamstrings Group: </a:t>
            </a:r>
            <a:r>
              <a:rPr lang="en-GB" dirty="0">
                <a:solidFill>
                  <a:schemeClr val="tx2">
                    <a:lumMod val="50000"/>
                    <a:lumOff val="50000"/>
                  </a:schemeClr>
                </a:solidFill>
              </a:rPr>
              <a:t>Semimembranosus</a:t>
            </a:r>
          </a:p>
        </p:txBody>
      </p:sp>
      <p:sp>
        <p:nvSpPr>
          <p:cNvPr id="3" name="Content Placeholder 2">
            <a:extLst>
              <a:ext uri="{FF2B5EF4-FFF2-40B4-BE49-F238E27FC236}">
                <a16:creationId xmlns:a16="http://schemas.microsoft.com/office/drawing/2014/main" id="{76683F78-72AE-4B0B-89AF-2215DF0C2E5D}"/>
              </a:ext>
            </a:extLst>
          </p:cNvPr>
          <p:cNvSpPr>
            <a:spLocks noGrp="1"/>
          </p:cNvSpPr>
          <p:nvPr>
            <p:ph idx="1"/>
          </p:nvPr>
        </p:nvSpPr>
        <p:spPr>
          <a:xfrm>
            <a:off x="233606" y="1388286"/>
            <a:ext cx="7281828" cy="4905723"/>
          </a:xfrm>
        </p:spPr>
        <p:txBody>
          <a:bodyPr>
            <a:normAutofit fontScale="92500" lnSpcReduction="20000"/>
          </a:bodyPr>
          <a:lstStyle/>
          <a:p>
            <a:r>
              <a:rPr lang="en-GB" dirty="0"/>
              <a:t>Origin: </a:t>
            </a:r>
          </a:p>
          <a:p>
            <a:pPr lvl="1"/>
            <a:r>
              <a:rPr lang="en-GB" dirty="0"/>
              <a:t>Ischial tuberosity.</a:t>
            </a:r>
          </a:p>
          <a:p>
            <a:r>
              <a:rPr lang="en-GB" dirty="0"/>
              <a:t>Insertion: </a:t>
            </a:r>
          </a:p>
          <a:p>
            <a:pPr lvl="1"/>
            <a:r>
              <a:rPr lang="en-GB" dirty="0"/>
              <a:t>Posterior part of the medial tibial condyle.</a:t>
            </a:r>
          </a:p>
          <a:p>
            <a:r>
              <a:rPr lang="en-GB" dirty="0"/>
              <a:t>Action: </a:t>
            </a:r>
          </a:p>
          <a:p>
            <a:pPr lvl="1"/>
            <a:r>
              <a:rPr lang="en-GB" dirty="0"/>
              <a:t>Flexes the knee, extends the hip, and internally rotates the tibia.</a:t>
            </a:r>
          </a:p>
          <a:p>
            <a:r>
              <a:rPr lang="en-GB" dirty="0"/>
              <a:t>Nerve supply: </a:t>
            </a:r>
          </a:p>
          <a:p>
            <a:pPr lvl="1"/>
            <a:r>
              <a:rPr lang="en-GB" dirty="0"/>
              <a:t>Sciatic nerve (L5-S2).</a:t>
            </a:r>
          </a:p>
          <a:p>
            <a:r>
              <a:rPr lang="en-GB" dirty="0"/>
              <a:t>Clinical Relevance: </a:t>
            </a:r>
          </a:p>
          <a:p>
            <a:pPr lvl="1"/>
            <a:r>
              <a:rPr lang="en-GB" dirty="0"/>
              <a:t>Important in providing medial stability to the knee joint.</a:t>
            </a:r>
          </a:p>
          <a:p>
            <a:pPr lvl="1"/>
            <a:r>
              <a:rPr lang="en-GB" i="1" dirty="0"/>
              <a:t>Semimembranosus lies deep to the Semitendinosus and Biceps femoris</a:t>
            </a:r>
          </a:p>
          <a:p>
            <a:pPr marL="457200" lvl="1" indent="0">
              <a:buNone/>
            </a:pPr>
            <a:endParaRPr lang="en-GB" dirty="0"/>
          </a:p>
        </p:txBody>
      </p:sp>
      <p:pic>
        <p:nvPicPr>
          <p:cNvPr id="4" name="Picture 3">
            <a:extLst>
              <a:ext uri="{FF2B5EF4-FFF2-40B4-BE49-F238E27FC236}">
                <a16:creationId xmlns:a16="http://schemas.microsoft.com/office/drawing/2014/main" id="{FCFF4DEB-C7D4-DADB-2DC3-B8219CDF8D20}"/>
              </a:ext>
            </a:extLst>
          </p:cNvPr>
          <p:cNvPicPr>
            <a:picLocks noChangeAspect="1"/>
          </p:cNvPicPr>
          <p:nvPr/>
        </p:nvPicPr>
        <p:blipFill rotWithShape="1">
          <a:blip r:embed="rId3"/>
          <a:srcRect b="7222"/>
          <a:stretch/>
        </p:blipFill>
        <p:spPr>
          <a:xfrm>
            <a:off x="9544581" y="472440"/>
            <a:ext cx="2310244" cy="3870960"/>
          </a:xfrm>
          <a:prstGeom prst="rect">
            <a:avLst/>
          </a:prstGeom>
        </p:spPr>
      </p:pic>
      <p:grpSp>
        <p:nvGrpSpPr>
          <p:cNvPr id="7" name="Group 6">
            <a:extLst>
              <a:ext uri="{FF2B5EF4-FFF2-40B4-BE49-F238E27FC236}">
                <a16:creationId xmlns:a16="http://schemas.microsoft.com/office/drawing/2014/main" id="{D3C821EF-8692-27C0-5EA1-8D2B32858542}"/>
              </a:ext>
            </a:extLst>
          </p:cNvPr>
          <p:cNvGrpSpPr/>
          <p:nvPr/>
        </p:nvGrpSpPr>
        <p:grpSpPr>
          <a:xfrm>
            <a:off x="6664325" y="1550525"/>
            <a:ext cx="2857341" cy="3185050"/>
            <a:chOff x="6664325" y="1550525"/>
            <a:chExt cx="2857341" cy="3185050"/>
          </a:xfrm>
        </p:grpSpPr>
        <p:pic>
          <p:nvPicPr>
            <p:cNvPr id="5" name="Picture 4">
              <a:extLst>
                <a:ext uri="{FF2B5EF4-FFF2-40B4-BE49-F238E27FC236}">
                  <a16:creationId xmlns:a16="http://schemas.microsoft.com/office/drawing/2014/main" id="{8BE11FEB-9DF2-B0C3-FE73-485CE1F8F607}"/>
                </a:ext>
              </a:extLst>
            </p:cNvPr>
            <p:cNvPicPr>
              <a:picLocks noChangeAspect="1"/>
            </p:cNvPicPr>
            <p:nvPr/>
          </p:nvPicPr>
          <p:blipFill rotWithShape="1">
            <a:blip r:embed="rId4"/>
            <a:srcRect l="14888" t="8224" r="2778"/>
            <a:stretch/>
          </p:blipFill>
          <p:spPr>
            <a:xfrm>
              <a:off x="6664325" y="1550525"/>
              <a:ext cx="2857341" cy="3185050"/>
            </a:xfrm>
            <a:prstGeom prst="rect">
              <a:avLst/>
            </a:prstGeom>
          </p:spPr>
        </p:pic>
        <p:sp>
          <p:nvSpPr>
            <p:cNvPr id="6" name="Rectangle 5">
              <a:extLst>
                <a:ext uri="{FF2B5EF4-FFF2-40B4-BE49-F238E27FC236}">
                  <a16:creationId xmlns:a16="http://schemas.microsoft.com/office/drawing/2014/main" id="{071E1960-4F1C-6426-5B5B-7F54917387B2}"/>
                </a:ext>
              </a:extLst>
            </p:cNvPr>
            <p:cNvSpPr/>
            <p:nvPr/>
          </p:nvSpPr>
          <p:spPr>
            <a:xfrm>
              <a:off x="8290560" y="1661160"/>
              <a:ext cx="1120140" cy="563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19690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253A4-E95F-F70D-B82E-AE70CF5D8C7E}"/>
              </a:ext>
            </a:extLst>
          </p:cNvPr>
          <p:cNvSpPr>
            <a:spLocks noGrp="1"/>
          </p:cNvSpPr>
          <p:nvPr>
            <p:ph type="title"/>
          </p:nvPr>
        </p:nvSpPr>
        <p:spPr/>
        <p:txBody>
          <a:bodyPr/>
          <a:lstStyle/>
          <a:p>
            <a:r>
              <a:rPr lang="en-GB" dirty="0"/>
              <a:t>Gastrocnemius</a:t>
            </a:r>
          </a:p>
        </p:txBody>
      </p:sp>
      <p:sp>
        <p:nvSpPr>
          <p:cNvPr id="3" name="Content Placeholder 2">
            <a:extLst>
              <a:ext uri="{FF2B5EF4-FFF2-40B4-BE49-F238E27FC236}">
                <a16:creationId xmlns:a16="http://schemas.microsoft.com/office/drawing/2014/main" id="{D4848983-E641-3947-CF64-23320FEBE010}"/>
              </a:ext>
            </a:extLst>
          </p:cNvPr>
          <p:cNvSpPr>
            <a:spLocks noGrp="1"/>
          </p:cNvSpPr>
          <p:nvPr>
            <p:ph idx="1"/>
          </p:nvPr>
        </p:nvSpPr>
        <p:spPr>
          <a:xfrm>
            <a:off x="400468" y="1455031"/>
            <a:ext cx="7902552" cy="5037844"/>
          </a:xfrm>
        </p:spPr>
        <p:txBody>
          <a:bodyPr>
            <a:normAutofit lnSpcReduction="10000"/>
          </a:bodyPr>
          <a:lstStyle/>
          <a:p>
            <a:r>
              <a:rPr lang="en-GB" dirty="0"/>
              <a:t>Origin: </a:t>
            </a:r>
          </a:p>
          <a:p>
            <a:pPr lvl="1"/>
            <a:r>
              <a:rPr lang="en-GB" dirty="0"/>
              <a:t>Medial (Medial head) and lateral (lateral head) condyles of the femur.</a:t>
            </a:r>
          </a:p>
          <a:p>
            <a:r>
              <a:rPr lang="en-GB" dirty="0"/>
              <a:t>Insertion: </a:t>
            </a:r>
          </a:p>
          <a:p>
            <a:pPr lvl="1"/>
            <a:r>
              <a:rPr lang="en-GB" dirty="0"/>
              <a:t>Calcaneus via the Achilles tendon.</a:t>
            </a:r>
          </a:p>
          <a:p>
            <a:r>
              <a:rPr lang="en-GB" dirty="0"/>
              <a:t>Action: </a:t>
            </a:r>
          </a:p>
          <a:p>
            <a:pPr lvl="1"/>
            <a:r>
              <a:rPr lang="en-GB" dirty="0"/>
              <a:t>Flexes the knee and plantarflexes the ankle.</a:t>
            </a:r>
          </a:p>
          <a:p>
            <a:r>
              <a:rPr lang="en-GB" dirty="0"/>
              <a:t>Nerve supply: </a:t>
            </a:r>
          </a:p>
          <a:p>
            <a:pPr lvl="1"/>
            <a:r>
              <a:rPr lang="en-GB" dirty="0"/>
              <a:t>Tibial nerve (S1-S2).</a:t>
            </a:r>
          </a:p>
          <a:p>
            <a:r>
              <a:rPr lang="en-GB" dirty="0"/>
              <a:t>Clinical Relevance: </a:t>
            </a:r>
          </a:p>
          <a:p>
            <a:pPr lvl="1"/>
            <a:r>
              <a:rPr lang="en-GB" dirty="0"/>
              <a:t>A key muscle in lower limb propulsion, frequently involved in calf strains.</a:t>
            </a:r>
          </a:p>
        </p:txBody>
      </p:sp>
      <p:pic>
        <p:nvPicPr>
          <p:cNvPr id="4" name="Picture 3">
            <a:extLst>
              <a:ext uri="{FF2B5EF4-FFF2-40B4-BE49-F238E27FC236}">
                <a16:creationId xmlns:a16="http://schemas.microsoft.com/office/drawing/2014/main" id="{EA09675D-080A-AA36-3677-8FA691DBECFA}"/>
              </a:ext>
            </a:extLst>
          </p:cNvPr>
          <p:cNvPicPr>
            <a:picLocks noChangeAspect="1"/>
          </p:cNvPicPr>
          <p:nvPr/>
        </p:nvPicPr>
        <p:blipFill rotWithShape="1">
          <a:blip r:embed="rId2"/>
          <a:srcRect b="5044"/>
          <a:stretch/>
        </p:blipFill>
        <p:spPr>
          <a:xfrm flipH="1">
            <a:off x="9663683" y="547687"/>
            <a:ext cx="1939299" cy="4152900"/>
          </a:xfrm>
          <a:prstGeom prst="rect">
            <a:avLst/>
          </a:prstGeom>
        </p:spPr>
      </p:pic>
      <p:pic>
        <p:nvPicPr>
          <p:cNvPr id="5" name="Picture 4">
            <a:extLst>
              <a:ext uri="{FF2B5EF4-FFF2-40B4-BE49-F238E27FC236}">
                <a16:creationId xmlns:a16="http://schemas.microsoft.com/office/drawing/2014/main" id="{B27598C3-4AAA-FA4A-D5D7-580825F519F2}"/>
              </a:ext>
            </a:extLst>
          </p:cNvPr>
          <p:cNvPicPr>
            <a:picLocks noChangeAspect="1"/>
          </p:cNvPicPr>
          <p:nvPr/>
        </p:nvPicPr>
        <p:blipFill rotWithShape="1">
          <a:blip r:embed="rId3"/>
          <a:srcRect b="9333"/>
          <a:stretch/>
        </p:blipFill>
        <p:spPr>
          <a:xfrm>
            <a:off x="7922934" y="365125"/>
            <a:ext cx="1635635" cy="4518025"/>
          </a:xfrm>
          <a:prstGeom prst="rect">
            <a:avLst/>
          </a:prstGeom>
        </p:spPr>
      </p:pic>
    </p:spTree>
    <p:extLst>
      <p:ext uri="{BB962C8B-B14F-4D97-AF65-F5344CB8AC3E}">
        <p14:creationId xmlns:p14="http://schemas.microsoft.com/office/powerpoint/2010/main" val="3230280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604B6-1192-6834-239C-9B4E7BE5AF93}"/>
              </a:ext>
            </a:extLst>
          </p:cNvPr>
          <p:cNvSpPr>
            <a:spLocks noGrp="1"/>
          </p:cNvSpPr>
          <p:nvPr>
            <p:ph type="title"/>
          </p:nvPr>
        </p:nvSpPr>
        <p:spPr/>
        <p:txBody>
          <a:bodyPr/>
          <a:lstStyle/>
          <a:p>
            <a:r>
              <a:rPr lang="en-GB" dirty="0"/>
              <a:t>Popliteus</a:t>
            </a:r>
          </a:p>
        </p:txBody>
      </p:sp>
      <p:sp>
        <p:nvSpPr>
          <p:cNvPr id="3" name="Content Placeholder 2">
            <a:extLst>
              <a:ext uri="{FF2B5EF4-FFF2-40B4-BE49-F238E27FC236}">
                <a16:creationId xmlns:a16="http://schemas.microsoft.com/office/drawing/2014/main" id="{2189BED7-FA32-2F2D-F975-814B7E8E62E6}"/>
              </a:ext>
            </a:extLst>
          </p:cNvPr>
          <p:cNvSpPr>
            <a:spLocks noGrp="1"/>
          </p:cNvSpPr>
          <p:nvPr>
            <p:ph idx="1"/>
          </p:nvPr>
        </p:nvSpPr>
        <p:spPr>
          <a:xfrm>
            <a:off x="198120" y="1411550"/>
            <a:ext cx="7277100" cy="4974010"/>
          </a:xfrm>
        </p:spPr>
        <p:txBody>
          <a:bodyPr>
            <a:normAutofit fontScale="92500"/>
          </a:bodyPr>
          <a:lstStyle/>
          <a:p>
            <a:r>
              <a:rPr lang="en-GB" dirty="0"/>
              <a:t>Origin: </a:t>
            </a:r>
          </a:p>
          <a:p>
            <a:pPr lvl="1"/>
            <a:r>
              <a:rPr lang="en-GB" dirty="0"/>
              <a:t>Lateral femoral condyle.</a:t>
            </a:r>
          </a:p>
          <a:p>
            <a:r>
              <a:rPr lang="en-GB" dirty="0"/>
              <a:t>Insertion: </a:t>
            </a:r>
          </a:p>
          <a:p>
            <a:pPr lvl="1"/>
            <a:r>
              <a:rPr lang="en-GB" dirty="0"/>
              <a:t>Posterior surface of the tibia above the </a:t>
            </a:r>
            <a:r>
              <a:rPr lang="en-GB" dirty="0" err="1"/>
              <a:t>soleal</a:t>
            </a:r>
            <a:r>
              <a:rPr lang="en-GB" dirty="0"/>
              <a:t> line.</a:t>
            </a:r>
          </a:p>
          <a:p>
            <a:r>
              <a:rPr lang="en-GB" dirty="0"/>
              <a:t>Action: </a:t>
            </a:r>
          </a:p>
          <a:p>
            <a:pPr lvl="1"/>
            <a:r>
              <a:rPr lang="en-GB" dirty="0"/>
              <a:t>Unlocks the knee by rotating the femur on the tibia; flexes the knee.</a:t>
            </a:r>
          </a:p>
          <a:p>
            <a:r>
              <a:rPr lang="en-GB" dirty="0"/>
              <a:t>Nerve supply: </a:t>
            </a:r>
          </a:p>
          <a:p>
            <a:pPr lvl="1"/>
            <a:r>
              <a:rPr lang="en-GB" dirty="0"/>
              <a:t>Tibial nerve (L4-S1).</a:t>
            </a:r>
          </a:p>
          <a:p>
            <a:r>
              <a:rPr lang="en-GB" dirty="0"/>
              <a:t>Clinical Relevance: </a:t>
            </a:r>
          </a:p>
          <a:p>
            <a:pPr lvl="1"/>
            <a:r>
              <a:rPr lang="en-GB" dirty="0"/>
              <a:t>Plays a crucial role in knee stability, especially in controlling knee rotation during walking.</a:t>
            </a:r>
          </a:p>
        </p:txBody>
      </p:sp>
      <p:pic>
        <p:nvPicPr>
          <p:cNvPr id="4" name="Picture 3">
            <a:extLst>
              <a:ext uri="{FF2B5EF4-FFF2-40B4-BE49-F238E27FC236}">
                <a16:creationId xmlns:a16="http://schemas.microsoft.com/office/drawing/2014/main" id="{EBFB3B78-9688-025B-6669-51846ECE60B1}"/>
              </a:ext>
            </a:extLst>
          </p:cNvPr>
          <p:cNvPicPr>
            <a:picLocks noChangeAspect="1"/>
          </p:cNvPicPr>
          <p:nvPr/>
        </p:nvPicPr>
        <p:blipFill rotWithShape="1">
          <a:blip r:embed="rId2"/>
          <a:srcRect l="6979" t="-1" r="14150" b="6889"/>
          <a:stretch/>
        </p:blipFill>
        <p:spPr>
          <a:xfrm>
            <a:off x="7419034" y="152401"/>
            <a:ext cx="1995476" cy="5067299"/>
          </a:xfrm>
          <a:prstGeom prst="rect">
            <a:avLst/>
          </a:prstGeom>
        </p:spPr>
      </p:pic>
      <p:pic>
        <p:nvPicPr>
          <p:cNvPr id="5" name="Picture 4">
            <a:extLst>
              <a:ext uri="{FF2B5EF4-FFF2-40B4-BE49-F238E27FC236}">
                <a16:creationId xmlns:a16="http://schemas.microsoft.com/office/drawing/2014/main" id="{0826EA48-4A60-0226-7793-551987EF7CA6}"/>
              </a:ext>
            </a:extLst>
          </p:cNvPr>
          <p:cNvPicPr>
            <a:picLocks noChangeAspect="1"/>
          </p:cNvPicPr>
          <p:nvPr/>
        </p:nvPicPr>
        <p:blipFill rotWithShape="1">
          <a:blip r:embed="rId3"/>
          <a:srcRect l="33278" t="779" r="32319" b="-779"/>
          <a:stretch/>
        </p:blipFill>
        <p:spPr>
          <a:xfrm>
            <a:off x="10125814" y="68580"/>
            <a:ext cx="1743300" cy="5067299"/>
          </a:xfrm>
          <a:prstGeom prst="rect">
            <a:avLst/>
          </a:prstGeom>
        </p:spPr>
      </p:pic>
      <p:grpSp>
        <p:nvGrpSpPr>
          <p:cNvPr id="8" name="Group 7">
            <a:extLst>
              <a:ext uri="{FF2B5EF4-FFF2-40B4-BE49-F238E27FC236}">
                <a16:creationId xmlns:a16="http://schemas.microsoft.com/office/drawing/2014/main" id="{34DA0B38-6355-F699-EE81-935617006ECA}"/>
              </a:ext>
            </a:extLst>
          </p:cNvPr>
          <p:cNvGrpSpPr/>
          <p:nvPr/>
        </p:nvGrpSpPr>
        <p:grpSpPr>
          <a:xfrm>
            <a:off x="8808699" y="4209414"/>
            <a:ext cx="1470681" cy="2446020"/>
            <a:chOff x="8808699" y="4209414"/>
            <a:chExt cx="1470681" cy="2446020"/>
          </a:xfrm>
        </p:grpSpPr>
        <p:pic>
          <p:nvPicPr>
            <p:cNvPr id="6" name="Picture 5">
              <a:extLst>
                <a:ext uri="{FF2B5EF4-FFF2-40B4-BE49-F238E27FC236}">
                  <a16:creationId xmlns:a16="http://schemas.microsoft.com/office/drawing/2014/main" id="{F61FDC80-0EE1-E089-CCE3-1C8A576F41EA}"/>
                </a:ext>
              </a:extLst>
            </p:cNvPr>
            <p:cNvPicPr>
              <a:picLocks noChangeAspect="1"/>
            </p:cNvPicPr>
            <p:nvPr/>
          </p:nvPicPr>
          <p:blipFill rotWithShape="1">
            <a:blip r:embed="rId4"/>
            <a:srcRect l="29000" t="7889" r="19517" b="2222"/>
            <a:stretch/>
          </p:blipFill>
          <p:spPr>
            <a:xfrm>
              <a:off x="8808699" y="4209414"/>
              <a:ext cx="1400935" cy="2446020"/>
            </a:xfrm>
            <a:prstGeom prst="rect">
              <a:avLst/>
            </a:prstGeom>
          </p:spPr>
        </p:pic>
        <p:sp>
          <p:nvSpPr>
            <p:cNvPr id="7" name="Rectangle 6">
              <a:extLst>
                <a:ext uri="{FF2B5EF4-FFF2-40B4-BE49-F238E27FC236}">
                  <a16:creationId xmlns:a16="http://schemas.microsoft.com/office/drawing/2014/main" id="{6CA46755-2B4C-F121-A187-E80AFE7A3F95}"/>
                </a:ext>
              </a:extLst>
            </p:cNvPr>
            <p:cNvSpPr/>
            <p:nvPr/>
          </p:nvSpPr>
          <p:spPr>
            <a:xfrm>
              <a:off x="9654540" y="4209414"/>
              <a:ext cx="624840" cy="3473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80143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661A3-CCF3-0A61-16A3-4B5F8BFA46AE}"/>
              </a:ext>
            </a:extLst>
          </p:cNvPr>
          <p:cNvSpPr>
            <a:spLocks noGrp="1"/>
          </p:cNvSpPr>
          <p:nvPr>
            <p:ph type="title"/>
          </p:nvPr>
        </p:nvSpPr>
        <p:spPr/>
        <p:txBody>
          <a:bodyPr/>
          <a:lstStyle/>
          <a:p>
            <a:r>
              <a:rPr lang="en-GB" dirty="0"/>
              <a:t>Clinical Relevance of the Knee Neuromuscular structures</a:t>
            </a:r>
          </a:p>
        </p:txBody>
      </p:sp>
      <p:sp>
        <p:nvSpPr>
          <p:cNvPr id="3" name="Content Placeholder 2">
            <a:extLst>
              <a:ext uri="{FF2B5EF4-FFF2-40B4-BE49-F238E27FC236}">
                <a16:creationId xmlns:a16="http://schemas.microsoft.com/office/drawing/2014/main" id="{227CECBB-DE52-CE47-A536-8D92B4C413FB}"/>
              </a:ext>
            </a:extLst>
          </p:cNvPr>
          <p:cNvSpPr>
            <a:spLocks noGrp="1"/>
          </p:cNvSpPr>
          <p:nvPr>
            <p:ph idx="1"/>
          </p:nvPr>
        </p:nvSpPr>
        <p:spPr/>
        <p:txBody>
          <a:bodyPr/>
          <a:lstStyle/>
          <a:p>
            <a:r>
              <a:rPr lang="en-GB" dirty="0"/>
              <a:t>The balance of muscle strength between the anterior and posterior compartments of the knee is crucial for joint stability.</a:t>
            </a:r>
          </a:p>
          <a:p>
            <a:endParaRPr lang="en-GB" dirty="0"/>
          </a:p>
          <a:p>
            <a:r>
              <a:rPr lang="en-GB" dirty="0"/>
              <a:t>Imbalances, particularly between the quadriceps and hamstrings, can lead to injury or contribute to conditions such as anterior cruciate ligament (ACL) injuries, patellofemoral pain syndrome, and tendinopathies</a:t>
            </a:r>
          </a:p>
        </p:txBody>
      </p:sp>
    </p:spTree>
    <p:extLst>
      <p:ext uri="{BB962C8B-B14F-4D97-AF65-F5344CB8AC3E}">
        <p14:creationId xmlns:p14="http://schemas.microsoft.com/office/powerpoint/2010/main" val="2097971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BA2A-C13F-25F6-0A79-DE1A51A102E2}"/>
              </a:ext>
            </a:extLst>
          </p:cNvPr>
          <p:cNvSpPr>
            <a:spLocks noGrp="1"/>
          </p:cNvSpPr>
          <p:nvPr>
            <p:ph type="title"/>
          </p:nvPr>
        </p:nvSpPr>
        <p:spPr/>
        <p:txBody>
          <a:bodyPr/>
          <a:lstStyle/>
          <a:p>
            <a:r>
              <a:rPr lang="en-GB" dirty="0"/>
              <a:t>Common Conditions and Injuries</a:t>
            </a:r>
            <a:br>
              <a:rPr lang="en-GB" dirty="0"/>
            </a:br>
            <a:endParaRPr lang="en-GB" dirty="0"/>
          </a:p>
        </p:txBody>
      </p:sp>
      <p:sp>
        <p:nvSpPr>
          <p:cNvPr id="3" name="Content Placeholder 2">
            <a:extLst>
              <a:ext uri="{FF2B5EF4-FFF2-40B4-BE49-F238E27FC236}">
                <a16:creationId xmlns:a16="http://schemas.microsoft.com/office/drawing/2014/main" id="{2088C435-5314-C09E-0ED7-34CF130D2CF0}"/>
              </a:ext>
            </a:extLst>
          </p:cNvPr>
          <p:cNvSpPr>
            <a:spLocks noGrp="1"/>
          </p:cNvSpPr>
          <p:nvPr>
            <p:ph idx="1"/>
          </p:nvPr>
        </p:nvSpPr>
        <p:spPr/>
        <p:txBody>
          <a:bodyPr/>
          <a:lstStyle/>
          <a:p>
            <a:r>
              <a:rPr lang="en-GB" dirty="0"/>
              <a:t>Ligament tears (e.g., ACL, PCL)</a:t>
            </a:r>
          </a:p>
          <a:p>
            <a:r>
              <a:rPr lang="en-GB" dirty="0"/>
              <a:t>Meniscal injuries</a:t>
            </a:r>
          </a:p>
          <a:p>
            <a:r>
              <a:rPr lang="en-GB" dirty="0"/>
              <a:t>Patellofemoral pain syndrome</a:t>
            </a:r>
          </a:p>
          <a:p>
            <a:r>
              <a:rPr lang="en-GB" dirty="0"/>
              <a:t>Knee osteoarthritis</a:t>
            </a:r>
          </a:p>
          <a:p>
            <a:r>
              <a:rPr lang="en-GB" dirty="0"/>
              <a:t>Bursitis</a:t>
            </a:r>
          </a:p>
          <a:p>
            <a:r>
              <a:rPr lang="en-GB" dirty="0"/>
              <a:t>Tendon injuries (e.g., patellar tendinopathy)</a:t>
            </a:r>
          </a:p>
        </p:txBody>
      </p:sp>
    </p:spTree>
    <p:extLst>
      <p:ext uri="{BB962C8B-B14F-4D97-AF65-F5344CB8AC3E}">
        <p14:creationId xmlns:p14="http://schemas.microsoft.com/office/powerpoint/2010/main" val="1514898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Yellow question mark">
            <a:extLst>
              <a:ext uri="{FF2B5EF4-FFF2-40B4-BE49-F238E27FC236}">
                <a16:creationId xmlns:a16="http://schemas.microsoft.com/office/drawing/2014/main" id="{F3B68335-5536-7A88-FB9B-76000F74F415}"/>
              </a:ext>
            </a:extLst>
          </p:cNvPr>
          <p:cNvPicPr>
            <a:picLocks noChangeAspect="1"/>
          </p:cNvPicPr>
          <p:nvPr/>
        </p:nvPicPr>
        <p:blipFill>
          <a:blip r:embed="rId2">
            <a:alphaModFix/>
          </a:blip>
          <a:srcRect b="6250"/>
          <a:stretch/>
        </p:blipFill>
        <p:spPr>
          <a:xfrm>
            <a:off x="20" y="10"/>
            <a:ext cx="12191979" cy="6857990"/>
          </a:xfrm>
          <a:prstGeom prst="rect">
            <a:avLst/>
          </a:prstGeom>
        </p:spPr>
      </p:pic>
      <p:sp>
        <p:nvSpPr>
          <p:cNvPr id="8" name="Rectangle 7">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3566-8764-AEC6-6EC6-921849E277E6}"/>
              </a:ext>
            </a:extLst>
          </p:cNvPr>
          <p:cNvSpPr>
            <a:spLocks noGrp="1"/>
          </p:cNvSpPr>
          <p:nvPr>
            <p:ph type="title"/>
          </p:nvPr>
        </p:nvSpPr>
        <p:spPr>
          <a:xfrm>
            <a:off x="762000" y="1137434"/>
            <a:ext cx="7800660" cy="1520987"/>
          </a:xfrm>
        </p:spPr>
        <p:txBody>
          <a:bodyPr vert="horz" lIns="91440" tIns="45720" rIns="91440" bIns="45720" rtlCol="0" anchor="t">
            <a:normAutofit/>
          </a:bodyPr>
          <a:lstStyle/>
          <a:p>
            <a:r>
              <a:rPr lang="en-US" sz="4000">
                <a:solidFill>
                  <a:srgbClr val="FFFFFF"/>
                </a:solidFill>
              </a:rPr>
              <a:t>Questions</a:t>
            </a:r>
          </a:p>
        </p:txBody>
      </p:sp>
      <p:sp>
        <p:nvSpPr>
          <p:cNvPr id="10" name="Rectangle 9">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6014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C2C0E-6AE8-582A-39BA-B8844B4EF23B}"/>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FC427F1C-8FC2-1EC7-BD44-B36D05B4E1DB}"/>
              </a:ext>
            </a:extLst>
          </p:cNvPr>
          <p:cNvSpPr>
            <a:spLocks noGrp="1"/>
          </p:cNvSpPr>
          <p:nvPr>
            <p:ph idx="1"/>
          </p:nvPr>
        </p:nvSpPr>
        <p:spPr>
          <a:xfrm>
            <a:off x="745724" y="1690688"/>
            <a:ext cx="10608076" cy="4486275"/>
          </a:xfrm>
        </p:spPr>
        <p:txBody>
          <a:bodyPr>
            <a:normAutofit fontScale="62500" lnSpcReduction="20000"/>
          </a:bodyPr>
          <a:lstStyle/>
          <a:p>
            <a:r>
              <a:rPr lang="en-GB" b="0" i="0" dirty="0">
                <a:solidFill>
                  <a:srgbClr val="020621"/>
                </a:solidFill>
                <a:effectLst/>
                <a:highlight>
                  <a:srgbClr val="EAF3FF"/>
                </a:highlight>
                <a:latin typeface="tisapro-regular"/>
              </a:rPr>
              <a:t>De </a:t>
            </a:r>
            <a:r>
              <a:rPr lang="en-GB" b="0" i="0" dirty="0" err="1">
                <a:solidFill>
                  <a:srgbClr val="020621"/>
                </a:solidFill>
                <a:effectLst/>
                <a:highlight>
                  <a:srgbClr val="EAF3FF"/>
                </a:highlight>
                <a:latin typeface="tisapro-regular"/>
              </a:rPr>
              <a:t>Maeseneer</a:t>
            </a:r>
            <a:r>
              <a:rPr lang="en-GB" b="0" i="0" dirty="0">
                <a:solidFill>
                  <a:srgbClr val="020621"/>
                </a:solidFill>
                <a:effectLst/>
                <a:highlight>
                  <a:srgbClr val="EAF3FF"/>
                </a:highlight>
                <a:latin typeface="tisapro-regular"/>
              </a:rPr>
              <a:t> M, </a:t>
            </a:r>
            <a:r>
              <a:rPr lang="en-GB" b="0" i="0" dirty="0" err="1">
                <a:solidFill>
                  <a:srgbClr val="020621"/>
                </a:solidFill>
                <a:effectLst/>
                <a:highlight>
                  <a:srgbClr val="EAF3FF"/>
                </a:highlight>
                <a:latin typeface="tisapro-regular"/>
              </a:rPr>
              <a:t>Shahabpour</a:t>
            </a:r>
            <a:r>
              <a:rPr lang="en-GB" b="0" i="0" dirty="0">
                <a:solidFill>
                  <a:srgbClr val="020621"/>
                </a:solidFill>
                <a:effectLst/>
                <a:highlight>
                  <a:srgbClr val="EAF3FF"/>
                </a:highlight>
                <a:latin typeface="tisapro-regular"/>
              </a:rPr>
              <a:t> M, </a:t>
            </a:r>
            <a:r>
              <a:rPr lang="en-GB" b="0" i="0" dirty="0" err="1">
                <a:solidFill>
                  <a:srgbClr val="020621"/>
                </a:solidFill>
                <a:effectLst/>
                <a:highlight>
                  <a:srgbClr val="EAF3FF"/>
                </a:highlight>
                <a:latin typeface="tisapro-regular"/>
              </a:rPr>
              <a:t>Lenchik</a:t>
            </a:r>
            <a:r>
              <a:rPr lang="en-GB" b="0" i="0" dirty="0">
                <a:solidFill>
                  <a:srgbClr val="020621"/>
                </a:solidFill>
                <a:effectLst/>
                <a:highlight>
                  <a:srgbClr val="EAF3FF"/>
                </a:highlight>
                <a:latin typeface="tisapro-regular"/>
              </a:rPr>
              <a:t> L, </a:t>
            </a:r>
            <a:r>
              <a:rPr lang="en-GB" b="0" i="0" dirty="0" err="1">
                <a:solidFill>
                  <a:srgbClr val="020621"/>
                </a:solidFill>
                <a:effectLst/>
                <a:highlight>
                  <a:srgbClr val="EAF3FF"/>
                </a:highlight>
                <a:latin typeface="tisapro-regular"/>
              </a:rPr>
              <a:t>Milants</a:t>
            </a:r>
            <a:r>
              <a:rPr lang="en-GB" b="0" i="0" dirty="0">
                <a:solidFill>
                  <a:srgbClr val="020621"/>
                </a:solidFill>
                <a:effectLst/>
                <a:highlight>
                  <a:srgbClr val="EAF3FF"/>
                </a:highlight>
                <a:latin typeface="tisapro-regular"/>
              </a:rPr>
              <a:t> A, De Ridder F, De </a:t>
            </a:r>
            <a:r>
              <a:rPr lang="en-GB" b="0" i="0" dirty="0" err="1">
                <a:solidFill>
                  <a:srgbClr val="020621"/>
                </a:solidFill>
                <a:effectLst/>
                <a:highlight>
                  <a:srgbClr val="EAF3FF"/>
                </a:highlight>
                <a:latin typeface="tisapro-regular"/>
              </a:rPr>
              <a:t>Mey</a:t>
            </a:r>
            <a:r>
              <a:rPr lang="en-GB" b="0" i="0" dirty="0">
                <a:solidFill>
                  <a:srgbClr val="020621"/>
                </a:solidFill>
                <a:effectLst/>
                <a:highlight>
                  <a:srgbClr val="EAF3FF"/>
                </a:highlight>
                <a:latin typeface="tisapro-regular"/>
              </a:rPr>
              <a:t> J, </a:t>
            </a:r>
            <a:r>
              <a:rPr lang="en-GB" b="0" i="0" dirty="0" err="1">
                <a:solidFill>
                  <a:srgbClr val="020621"/>
                </a:solidFill>
                <a:effectLst/>
                <a:highlight>
                  <a:srgbClr val="EAF3FF"/>
                </a:highlight>
                <a:latin typeface="tisapro-regular"/>
              </a:rPr>
              <a:t>Cattrysse</a:t>
            </a:r>
            <a:r>
              <a:rPr lang="en-GB" b="0" i="0" dirty="0">
                <a:solidFill>
                  <a:srgbClr val="020621"/>
                </a:solidFill>
                <a:effectLst/>
                <a:highlight>
                  <a:srgbClr val="EAF3FF"/>
                </a:highlight>
                <a:latin typeface="tisapro-regular"/>
              </a:rPr>
              <a:t> E. Distal insertions of the semimembranosus tendon: MR imaging with anatomic correlation. Skeletal </a:t>
            </a:r>
            <a:r>
              <a:rPr lang="en-GB" b="0" i="0" dirty="0" err="1">
                <a:solidFill>
                  <a:srgbClr val="020621"/>
                </a:solidFill>
                <a:effectLst/>
                <a:highlight>
                  <a:srgbClr val="EAF3FF"/>
                </a:highlight>
                <a:latin typeface="tisapro-regular"/>
              </a:rPr>
              <a:t>Radiol</a:t>
            </a:r>
            <a:r>
              <a:rPr lang="en-GB" b="0" i="0" dirty="0">
                <a:solidFill>
                  <a:srgbClr val="020621"/>
                </a:solidFill>
                <a:effectLst/>
                <a:highlight>
                  <a:srgbClr val="EAF3FF"/>
                </a:highlight>
                <a:latin typeface="tisapro-regular"/>
              </a:rPr>
              <a:t>. 2014 Jun;43(6):781-91</a:t>
            </a:r>
          </a:p>
          <a:p>
            <a:r>
              <a:rPr lang="en-GB" dirty="0" err="1"/>
              <a:t>Kenhub</a:t>
            </a:r>
            <a:r>
              <a:rPr lang="en-GB" dirty="0"/>
              <a:t> (n.d.) Hip Anatomy and Knee Anatomy Diagrams. Available at: https://www.kenhub.com (Accessed: 14 September 2024).</a:t>
            </a:r>
          </a:p>
          <a:p>
            <a:r>
              <a:rPr lang="en-GB" dirty="0"/>
              <a:t>McMinn, R.M.H. (2019) Last’s Anatomy: Regional and Applied. 13th </a:t>
            </a:r>
            <a:r>
              <a:rPr lang="en-GB" dirty="0" err="1"/>
              <a:t>edn</a:t>
            </a:r>
            <a:r>
              <a:rPr lang="en-GB" dirty="0"/>
              <a:t>. Elsevier Health Sciences.</a:t>
            </a:r>
          </a:p>
          <a:p>
            <a:r>
              <a:rPr lang="en-GB" dirty="0"/>
              <a:t>Moore, K.L., </a:t>
            </a:r>
            <a:r>
              <a:rPr lang="en-GB" dirty="0" err="1"/>
              <a:t>Dalley</a:t>
            </a:r>
            <a:r>
              <a:rPr lang="en-GB" dirty="0"/>
              <a:t>, A.F. and </a:t>
            </a:r>
            <a:r>
              <a:rPr lang="en-GB" dirty="0" err="1"/>
              <a:t>Agur</a:t>
            </a:r>
            <a:r>
              <a:rPr lang="en-GB" dirty="0"/>
              <a:t>, A.M.R. (2018) Clinically Oriented Anatomy. 8th </a:t>
            </a:r>
            <a:r>
              <a:rPr lang="en-GB" dirty="0" err="1"/>
              <a:t>edn</a:t>
            </a:r>
            <a:r>
              <a:rPr lang="en-GB" dirty="0"/>
              <a:t>. Wolters Kluwer.</a:t>
            </a:r>
          </a:p>
          <a:p>
            <a:r>
              <a:rPr lang="en-GB" dirty="0" err="1"/>
              <a:t>Muscolino</a:t>
            </a:r>
            <a:r>
              <a:rPr lang="en-GB" dirty="0"/>
              <a:t>, J.E. (n.d.) The Muscular System Manual: The Skeletal Muscles of the Human Body. Available at: </a:t>
            </a:r>
            <a:r>
              <a:rPr lang="en-GB" dirty="0">
                <a:hlinkClick r:id="rId2"/>
              </a:rPr>
              <a:t>https://www.learnmuscles.com</a:t>
            </a:r>
            <a:r>
              <a:rPr lang="en-GB" dirty="0"/>
              <a:t> (Accessed: 14 September 2024).</a:t>
            </a:r>
          </a:p>
          <a:p>
            <a:r>
              <a:rPr lang="en-GB" dirty="0"/>
              <a:t>Netter, F.H. (2019) Atlas of Human Anatomy. 7th </a:t>
            </a:r>
            <a:r>
              <a:rPr lang="en-GB" dirty="0" err="1"/>
              <a:t>edn</a:t>
            </a:r>
            <a:r>
              <a:rPr lang="en-GB" dirty="0"/>
              <a:t>. </a:t>
            </a:r>
            <a:r>
              <a:rPr lang="en-GB" dirty="0" err="1"/>
              <a:t>Elsevier.Physiopedia</a:t>
            </a:r>
            <a:r>
              <a:rPr lang="en-GB" dirty="0"/>
              <a:t> (n.d.) Hip and Knee Anatomy Overview. Available at: </a:t>
            </a:r>
            <a:r>
              <a:rPr lang="en-GB" dirty="0">
                <a:hlinkClick r:id="rId3"/>
              </a:rPr>
              <a:t>https://www.physio-pedia.com</a:t>
            </a:r>
            <a:r>
              <a:rPr lang="en-GB" dirty="0"/>
              <a:t> (Accessed: 14 September 2024).</a:t>
            </a:r>
          </a:p>
          <a:p>
            <a:r>
              <a:rPr lang="en-GB" dirty="0"/>
              <a:t>Rehab My Patient (n.d.) Anatomy of the Hip and Knee. Available at: </a:t>
            </a:r>
            <a:r>
              <a:rPr lang="en-GB" dirty="0">
                <a:hlinkClick r:id="rId4"/>
              </a:rPr>
              <a:t>https://www.rehabmypatient.com</a:t>
            </a:r>
            <a:r>
              <a:rPr lang="en-GB" dirty="0"/>
              <a:t> (Accessed: 14 September 2024).</a:t>
            </a:r>
          </a:p>
          <a:p>
            <a:r>
              <a:rPr lang="en-GB" dirty="0" err="1"/>
              <a:t>Standring</a:t>
            </a:r>
            <a:r>
              <a:rPr lang="en-GB" dirty="0"/>
              <a:t>, S. (2020) Gray’s Anatomy: The Anatomical Basis of Clinical Practice. 42nd </a:t>
            </a:r>
            <a:r>
              <a:rPr lang="en-GB" dirty="0" err="1"/>
              <a:t>edn</a:t>
            </a:r>
            <a:r>
              <a:rPr lang="en-GB" dirty="0"/>
              <a:t>. Elsevier.</a:t>
            </a:r>
          </a:p>
        </p:txBody>
      </p:sp>
    </p:spTree>
    <p:extLst>
      <p:ext uri="{BB962C8B-B14F-4D97-AF65-F5344CB8AC3E}">
        <p14:creationId xmlns:p14="http://schemas.microsoft.com/office/powerpoint/2010/main" val="4171701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1521</Words>
  <Application>Microsoft Office PowerPoint</Application>
  <PresentationFormat>Widescreen</PresentationFormat>
  <Paragraphs>192</Paragraphs>
  <Slides>21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Calibri</vt:lpstr>
      <vt:lpstr>f37-ginger-bold</vt:lpstr>
      <vt:lpstr>tisapro-regular</vt:lpstr>
      <vt:lpstr>Office Theme</vt:lpstr>
      <vt:lpstr>Muscles and Neurovascular Structures around the Knee</vt:lpstr>
      <vt:lpstr>Knee Joint</vt:lpstr>
      <vt:lpstr>Muscles of the Knee</vt:lpstr>
      <vt:lpstr>PowerPoint Presentation</vt:lpstr>
      <vt:lpstr>Neurovascular Structures  of the Knee</vt:lpstr>
      <vt:lpstr>Neurovascular Structures of the Knee</vt:lpstr>
      <vt:lpstr>Anterior Muscles (Knee Extensors)</vt:lpstr>
      <vt:lpstr>Quadriceps (Group): Vastus Lateralis</vt:lpstr>
      <vt:lpstr>Quadriceps (Group): Vastus Medialis</vt:lpstr>
      <vt:lpstr>Quadriceps (Group): Vastus Intermedius</vt:lpstr>
      <vt:lpstr>Quadriceps (Group): Rectus Femoris</vt:lpstr>
      <vt:lpstr>Posterior Muscles (Knee Flexors)</vt:lpstr>
      <vt:lpstr>Hamstrings Group: Biceps Femoris (Long Head and Short Head)</vt:lpstr>
      <vt:lpstr>Hamstrings Group: Semitendinosus</vt:lpstr>
      <vt:lpstr>Hamstrings Group: Semimembranosus</vt:lpstr>
      <vt:lpstr>Gastrocnemius</vt:lpstr>
      <vt:lpstr>Popliteus</vt:lpstr>
      <vt:lpstr>Clinical Relevance of the Knee Neuromuscular structures</vt:lpstr>
      <vt:lpstr>Common Conditions and Injuries </vt:lpstr>
      <vt:lpstr>Questions</vt:lpstr>
      <vt:lpstr>References</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Ngozi Onuegbu</dc:creator>
  <cp:lastModifiedBy>Ngozi Onuegbu</cp:lastModifiedBy>
  <cp:revision>7</cp:revision>
  <dcterms:created xsi:type="dcterms:W3CDTF">2024-10-05T10:36:15Z</dcterms:created>
  <dcterms:modified xsi:type="dcterms:W3CDTF">2024-10-07T09:35:53Z</dcterms:modified>
</cp:coreProperties>
</file>