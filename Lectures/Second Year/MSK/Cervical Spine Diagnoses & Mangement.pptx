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8" r:id="rId10"/>
    <p:sldId id="263" r:id="rId11"/>
    <p:sldId id="267" r:id="rId12"/>
    <p:sldId id="262" r:id="rId13"/>
    <p:sldId id="270" r:id="rId14"/>
    <p:sldId id="261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59291-C5EC-4F8C-8370-4DFB8123E2A7}" v="2534" dt="2026-02-17T12:41:50.181"/>
    <p1510:client id="{17EF09EE-CBC4-C80C-DC3A-2F236FF1E495}" v="470" dt="2026-02-17T12:22:34.168"/>
    <p1510:client id="{1B8C9C90-9FAE-870A-6F96-AB5ACC66AB64}" v="4" dt="2026-02-17T12:27:29.534"/>
    <p1510:client id="{23E9506C-F3E9-8B40-D8A4-514937C2CC5C}" v="199" dt="2026-02-17T09:51:26.578"/>
    <p1510:client id="{53E2D33D-448B-32F4-686A-0F60989ACA32}" v="414" dt="2026-02-17T11:54:00.744"/>
    <p1510:client id="{595FF403-374D-9C79-DE4D-B74AFC05E139}" v="1377" dt="2026-02-17T12:10:30.488"/>
    <p1510:client id="{59859C40-3DBF-263C-A703-A04CA582CC43}" v="1" dt="2026-02-17T12:49:37.981"/>
    <p1510:client id="{69E76A95-8FD4-224D-8C71-6ADF35A1ACBA}" v="49" dt="2026-02-18T09:47:01.721"/>
    <p1510:client id="{775F586F-C9E8-56C5-6A49-65EB7F685749}" v="489" dt="2026-02-17T11:51:38.065"/>
    <p1510:client id="{8667BE1A-1E99-0038-12E1-CF92C9332E68}" v="824" dt="2026-02-17T12:16:52.630"/>
    <p1510:client id="{8D4616C7-C00C-2726-8439-63E79B86CD01}" v="1" dt="2026-02-17T11:40:33.522"/>
    <p1510:client id="{8E41F099-BDD2-36EC-A18A-2ED3678041C4}" v="102" dt="2026-02-17T11:30:22.547"/>
    <p1510:client id="{CA742A14-CB54-A045-87A7-49383C37B6C6}" v="408" dt="2026-02-17T12:09:51.298"/>
    <p1510:client id="{D3C4F74D-EBF7-5A7B-2B3D-72DB4A85EC72}" v="1258" dt="2026-02-17T12:11:25.725"/>
    <p1510:client id="{D5C09A90-332F-C74D-96F7-E23E9AC05A9A}" v="1109" dt="2026-02-17T12:22:11.766"/>
    <p1510:client id="{D66B849D-E4C0-1F01-7794-3912AE6A25F6}" v="143" dt="2026-02-17T12:08:34.543"/>
    <p1510:client id="{DB3FBD75-45B7-7B6B-3C90-99A8CEBF0D3A}" v="2" dt="2026-02-17T13:14:12.588"/>
    <p1510:client id="{DC1418F7-AAC4-8A41-D9CB-42DD8099BF83}" v="348" dt="2026-02-17T12:12:51.532"/>
    <p1510:client id="{DCFD7C4A-FCEB-F04B-BA40-411788BFAEE1}" v="761" dt="2026-02-17T12:12:43.7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33325-993D-48B8-BA3F-31017BC95C91}" type="datetimeFigureOut"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B4583-CB18-49E3-967A-A6F9B2ED24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08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7. Non‑musculoskeletal but important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Meningitis</a:t>
            </a:r>
            <a:r>
              <a:rPr lang="en-US"/>
              <a:t> (neck stiffness with systemic symptoms)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Cervical arterial dysfunction</a:t>
            </a:r>
            <a:r>
              <a:rPr lang="en-US"/>
              <a:t> (e.g., vertebral artery issues)</a:t>
            </a:r>
          </a:p>
          <a:p>
            <a:pPr marL="285750" indent="-285750">
              <a:buFont typeface="Arial"/>
              <a:buChar char="•"/>
            </a:pPr>
            <a:r>
              <a:rPr lang="en-US" b="1" err="1"/>
              <a:t>Tumour</a:t>
            </a:r>
            <a:r>
              <a:rPr lang="en-US" b="1"/>
              <a:t> / metastases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Infection (e.g., discitis, osteomyelitis)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B4583-CB18-49E3-967A-A6F9B2ED247A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78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err="1">
                <a:ea typeface="Calibri"/>
                <a:cs typeface="Calibri"/>
              </a:rPr>
              <a:t>Menigitis</a:t>
            </a:r>
            <a:r>
              <a:rPr lang="en-US">
                <a:ea typeface="Calibri"/>
                <a:cs typeface="Calibri"/>
              </a:rPr>
              <a:t> - </a:t>
            </a:r>
            <a:r>
              <a:rPr lang="en-US"/>
              <a:t>van de Beek, D., de Gans, J., Tunkel, A. R., &amp; </a:t>
            </a:r>
            <a:r>
              <a:rPr lang="en-US" err="1"/>
              <a:t>Wijdicks</a:t>
            </a:r>
            <a:r>
              <a:rPr lang="en-US"/>
              <a:t>, E. F. (2006). </a:t>
            </a:r>
            <a:r>
              <a:rPr lang="en-US" i="1"/>
              <a:t>Community-acquired bacterial meningitis in adults</a:t>
            </a:r>
            <a:r>
              <a:rPr lang="en-US"/>
              <a:t>. </a:t>
            </a:r>
            <a:r>
              <a:rPr lang="en-US" b="1"/>
              <a:t>New England Journal of Medicine, 354(1), 44–53.</a:t>
            </a:r>
            <a:r>
              <a:rPr lang="en-US"/>
              <a:t> </a:t>
            </a:r>
            <a:endParaRPr lang="en-US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endParaRPr lang="en-US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>
                <a:ea typeface="Calibri"/>
                <a:cs typeface="Calibri"/>
              </a:rPr>
              <a:t>Cerebral Arterial </a:t>
            </a:r>
            <a:r>
              <a:rPr lang="en-US" err="1">
                <a:ea typeface="Calibri"/>
                <a:cs typeface="Calibri"/>
              </a:rPr>
              <a:t>Dyfunction</a:t>
            </a:r>
            <a:r>
              <a:rPr lang="en-US">
                <a:ea typeface="Calibri"/>
                <a:cs typeface="Calibri"/>
              </a:rPr>
              <a:t> - </a:t>
            </a:r>
            <a:r>
              <a:rPr lang="en-US"/>
              <a:t>Arnold, M., &amp; Bousser, M. G. (2005). </a:t>
            </a:r>
            <a:r>
              <a:rPr lang="en-US" i="1"/>
              <a:t>Cervical artery dissections: Predisposing factors, diagnosis, and outcome.</a:t>
            </a:r>
            <a:r>
              <a:rPr lang="en-US"/>
              <a:t> </a:t>
            </a:r>
            <a:r>
              <a:rPr lang="en-US" b="1"/>
              <a:t>The Lancet Neurology, 4(9), 668–678.</a:t>
            </a:r>
            <a:r>
              <a:rPr lang="en-US"/>
              <a:t> 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B4583-CB18-49E3-967A-A6F9B2ED247A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88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3. Tumor - </a:t>
            </a:r>
            <a:r>
              <a:rPr lang="en-US"/>
              <a:t>Henschke, N., Maher, C. G., Refshauge, K. M., et al. (2009). </a:t>
            </a:r>
            <a:r>
              <a:rPr lang="en-US" i="1"/>
              <a:t>Red flags to screen for malignancy in patients with low‑back pain: Systematic review.</a:t>
            </a:r>
            <a:r>
              <a:rPr lang="en-US"/>
              <a:t> </a:t>
            </a:r>
            <a:r>
              <a:rPr lang="en-US" b="1"/>
              <a:t>BMJ, 339, b3365.</a:t>
            </a:r>
            <a:r>
              <a:rPr lang="en-US"/>
              <a:t> 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4. </a:t>
            </a:r>
            <a:r>
              <a:rPr lang="en-US" err="1">
                <a:ea typeface="Calibri"/>
                <a:cs typeface="Calibri"/>
              </a:rPr>
              <a:t>Infectio</a:t>
            </a:r>
            <a:r>
              <a:rPr lang="en-US">
                <a:ea typeface="Calibri"/>
                <a:cs typeface="Calibri"/>
              </a:rPr>
              <a:t>n - </a:t>
            </a:r>
            <a:r>
              <a:rPr lang="en-US"/>
              <a:t>Cottle, L., &amp; Riordan, T. (2008). </a:t>
            </a:r>
            <a:r>
              <a:rPr lang="en-US" i="1"/>
              <a:t>Infectious spondylodiscitis.</a:t>
            </a:r>
            <a:r>
              <a:rPr lang="en-US"/>
              <a:t> </a:t>
            </a:r>
            <a:r>
              <a:rPr lang="en-US" b="1"/>
              <a:t>Journal of Infection, 56(6), 401–412.</a:t>
            </a:r>
            <a:r>
              <a:rPr lang="en-US"/>
              <a:t>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B4583-CB18-49E3-967A-A6F9B2ED247A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0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85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7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37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29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4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0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1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7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6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0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22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78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urful leaf patterns">
            <a:extLst>
              <a:ext uri="{FF2B5EF4-FFF2-40B4-BE49-F238E27FC236}">
                <a16:creationId xmlns:a16="http://schemas.microsoft.com/office/drawing/2014/main" id="{0987DF31-72AC-9864-7068-C15FD57A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439" r="9085" b="13524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 fontScale="90000"/>
          </a:bodyPr>
          <a:lstStyle/>
          <a:p>
            <a:r>
              <a:rPr lang="en-US"/>
              <a:t>Cervical Spine Diagnoses &amp;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r>
              <a:rPr lang="en-US"/>
              <a:t>PT5000 Group Work</a:t>
            </a:r>
          </a:p>
          <a:p>
            <a:r>
              <a:rPr lang="en-US"/>
              <a:t>17th Feb 2026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118D3-E502-2615-7902-EFCB7284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86" y="955684"/>
            <a:ext cx="10890929" cy="1097280"/>
          </a:xfrm>
        </p:spPr>
        <p:txBody>
          <a:bodyPr/>
          <a:lstStyle/>
          <a:p>
            <a:r>
              <a:rPr lang="en-US"/>
              <a:t>Here are our groups of Cervical Diagnoses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11F2C-57AD-FFD4-CA26-1BAEF4D9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34" y="1844802"/>
            <a:ext cx="3395408" cy="1851660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Aptos Display"/>
              </a:rPr>
              <a:t>1. Degenerative Conditions</a:t>
            </a:r>
            <a:endParaRPr lang="en-US" sz="1800">
              <a:latin typeface="Aptos Display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Aptos Display"/>
                <a:cs typeface="Segoe UI"/>
              </a:rPr>
              <a:t>Cervical spondylosis</a:t>
            </a:r>
            <a:endParaRPr lang="en-US" sz="1800">
              <a:latin typeface="Aptos Display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Aptos Display"/>
                <a:cs typeface="Segoe UI"/>
              </a:rPr>
              <a:t>Cervical facet joint arthropathy</a:t>
            </a:r>
            <a:endParaRPr lang="en-US" sz="1800">
              <a:latin typeface="Aptos Display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Aptos Display"/>
                <a:cs typeface="Segoe UI"/>
              </a:rPr>
              <a:t>Cervical disc degeneration</a:t>
            </a:r>
            <a:endParaRPr lang="en-US" sz="1800">
              <a:latin typeface="Aptos Display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Aptos Display"/>
                <a:cs typeface="Segoe UI"/>
              </a:rPr>
              <a:t>Cervical osteophyte formation</a:t>
            </a:r>
            <a:endParaRPr lang="en-US" sz="1800">
              <a:latin typeface="Aptos Display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>
              <a:latin typeface="Aptos Display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087E64-66DB-7890-9BFB-F6EF0C90A806}"/>
              </a:ext>
            </a:extLst>
          </p:cNvPr>
          <p:cNvSpPr txBox="1">
            <a:spLocks/>
          </p:cNvSpPr>
          <p:nvPr/>
        </p:nvSpPr>
        <p:spPr>
          <a:xfrm>
            <a:off x="479515" y="4119372"/>
            <a:ext cx="3708372" cy="18516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Aptos Display"/>
              </a:rPr>
              <a:t>2. Disc Pathology</a:t>
            </a: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Aptos Display"/>
                <a:cs typeface="Segoe UI"/>
              </a:rPr>
              <a:t>Cervical disc herniation</a:t>
            </a:r>
            <a:endParaRPr lang="en-US" sz="1800">
              <a:latin typeface="Aptos Display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Aptos Display"/>
                <a:cs typeface="Segoe UI"/>
              </a:rPr>
              <a:t>Disc protrusion / extrusion</a:t>
            </a:r>
            <a:endParaRPr lang="en-US" sz="1800">
              <a:latin typeface="Aptos Display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Aptos Display"/>
                <a:cs typeface="Segoe UI"/>
              </a:rPr>
              <a:t>Cervical radiculopathy (secondary to disc or foraminal narrowing)</a:t>
            </a:r>
            <a:endParaRPr lang="en-US" sz="1800">
              <a:latin typeface="Aptos Display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Aptos Display"/>
                <a:cs typeface="Segoe UI"/>
              </a:rPr>
              <a:t>Cervical myelopathy (cord compression)</a:t>
            </a:r>
            <a:endParaRPr lang="en-US" sz="1800">
              <a:latin typeface="Aptos Display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endParaRPr lang="en-US" sz="1800">
              <a:latin typeface="Aptos Display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>
              <a:latin typeface="Aptos Display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D5E05A-3862-5535-5BF3-9CEDA1FCB9ED}"/>
              </a:ext>
            </a:extLst>
          </p:cNvPr>
          <p:cNvSpPr txBox="1">
            <a:spLocks/>
          </p:cNvSpPr>
          <p:nvPr/>
        </p:nvSpPr>
        <p:spPr>
          <a:xfrm>
            <a:off x="4020819" y="1847523"/>
            <a:ext cx="3708372" cy="18516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i="0">
                <a:latin typeface="Aptos Display"/>
                <a:ea typeface="Segoe UI"/>
                <a:cs typeface="Segoe UI"/>
              </a:rPr>
              <a:t>3. Mechanical / Postural Pain</a:t>
            </a:r>
            <a:endParaRPr lang="en-US"/>
          </a:p>
          <a:p>
            <a:pPr indent="0">
              <a:lnSpc>
                <a:spcPct val="100000"/>
              </a:lnSpc>
              <a:spcBef>
                <a:spcPts val="0"/>
              </a:spcBef>
              <a:buFont typeface=""/>
              <a:buChar char="•"/>
            </a:pPr>
            <a:r>
              <a:rPr lang="en-US" sz="1800" i="0">
                <a:latin typeface="Aptos Display"/>
                <a:ea typeface="Segoe UI"/>
                <a:cs typeface="Segoe UI"/>
              </a:rPr>
              <a:t>Non‑specific mechanical neck pain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Font typeface=""/>
              <a:buChar char="•"/>
            </a:pPr>
            <a:r>
              <a:rPr lang="en-US" sz="1800" i="0">
                <a:latin typeface="Aptos Display"/>
                <a:ea typeface="Segoe UI"/>
                <a:cs typeface="Segoe UI"/>
              </a:rPr>
              <a:t>Postural syndrome/upper crossed syndrome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Font typeface=""/>
              <a:buChar char="•"/>
            </a:pPr>
            <a:r>
              <a:rPr lang="en-US" sz="1800" i="0">
                <a:latin typeface="Aptos Display"/>
                <a:ea typeface="Segoe UI"/>
                <a:cs typeface="Segoe UI"/>
              </a:rPr>
              <a:t>Muscle strain</a:t>
            </a:r>
            <a:r>
              <a:rPr lang="en-US" sz="1800" b="0" i="0">
                <a:latin typeface="Aptos Display"/>
                <a:ea typeface="Segoe UI"/>
                <a:cs typeface="Segoe UI"/>
              </a:rPr>
              <a:t> (levator scapulae, upper trapezius, SCM)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7AA398-5AA1-D1F4-0F42-1612110CB1C6}"/>
              </a:ext>
            </a:extLst>
          </p:cNvPr>
          <p:cNvSpPr txBox="1"/>
          <p:nvPr/>
        </p:nvSpPr>
        <p:spPr>
          <a:xfrm>
            <a:off x="4041322" y="4122964"/>
            <a:ext cx="370114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ptos Display"/>
              </a:rPr>
              <a:t>4. Instability / Trauma</a:t>
            </a:r>
            <a:endParaRPr lang="en-US">
              <a:latin typeface="Aptos Display"/>
            </a:endParaRPr>
          </a:p>
          <a:p>
            <a:pPr marL="285750">
              <a:buFont typeface="Arial"/>
              <a:buChar char="•"/>
            </a:pPr>
            <a:r>
              <a:rPr lang="en-US" b="1">
                <a:latin typeface="Aptos Display"/>
                <a:cs typeface="Segoe UI"/>
              </a:rPr>
              <a:t>Whiplash-associated disorder (WAD)</a:t>
            </a:r>
            <a:endParaRPr lang="en-US">
              <a:latin typeface="Aptos Display"/>
            </a:endParaRPr>
          </a:p>
          <a:p>
            <a:pPr marL="285750">
              <a:buFont typeface="Arial"/>
              <a:buChar char="•"/>
            </a:pPr>
            <a:r>
              <a:rPr lang="en-US" b="1">
                <a:latin typeface="Aptos Display"/>
                <a:cs typeface="Segoe UI"/>
              </a:rPr>
              <a:t>Cervical ligamentous sprain</a:t>
            </a:r>
            <a:r>
              <a:rPr lang="en-US">
                <a:latin typeface="Aptos Display"/>
                <a:cs typeface="Segoe UI"/>
              </a:rPr>
              <a:t> (e.g., alar, transverse)</a:t>
            </a:r>
            <a:endParaRPr lang="en-US">
              <a:latin typeface="Aptos Display"/>
            </a:endParaRPr>
          </a:p>
          <a:p>
            <a:pPr marL="285750">
              <a:buFont typeface="Arial"/>
              <a:buChar char="•"/>
            </a:pPr>
            <a:r>
              <a:rPr lang="en-US" b="1">
                <a:latin typeface="Aptos Display"/>
                <a:cs typeface="Segoe UI"/>
              </a:rPr>
              <a:t>Cervical fracture</a:t>
            </a:r>
            <a:r>
              <a:rPr lang="en-US">
                <a:latin typeface="Aptos Display"/>
                <a:cs typeface="Segoe UI"/>
              </a:rPr>
              <a:t> (e.g., odontoid, Jefferson, hangman’s)</a:t>
            </a:r>
            <a:endParaRPr lang="en-US">
              <a:latin typeface="Aptos Display"/>
            </a:endParaRPr>
          </a:p>
          <a:p>
            <a:pPr marL="285750">
              <a:buFont typeface="Arial"/>
              <a:buChar char="•"/>
            </a:pPr>
            <a:r>
              <a:rPr lang="en-US" b="1">
                <a:latin typeface="Aptos Display"/>
                <a:cs typeface="Segoe UI"/>
              </a:rPr>
              <a:t>Cervical facet dislocation</a:t>
            </a:r>
            <a:endParaRPr lang="en-US">
              <a:latin typeface="Aptos Display"/>
            </a:endParaRPr>
          </a:p>
          <a:p>
            <a:endParaRPr lang="en-US" b="1" i="0">
              <a:latin typeface="Aptos Display"/>
              <a:ea typeface="Segoe UI"/>
              <a:cs typeface="Segoe UI"/>
            </a:endParaRPr>
          </a:p>
          <a:p>
            <a:endParaRPr lang="en-US" b="0" i="0">
              <a:latin typeface="Aptos Display"/>
              <a:ea typeface="Segoe UI"/>
              <a:cs typeface="Segoe UI"/>
            </a:endParaRPr>
          </a:p>
          <a:p>
            <a:pPr algn="ctr"/>
            <a:endParaRPr lang="en-US">
              <a:latin typeface="Aptos Display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F7658-8ED3-74DB-7C9D-18C1DEEAE103}"/>
              </a:ext>
            </a:extLst>
          </p:cNvPr>
          <p:cNvSpPr txBox="1">
            <a:spLocks/>
          </p:cNvSpPr>
          <p:nvPr/>
        </p:nvSpPr>
        <p:spPr>
          <a:xfrm>
            <a:off x="7912461" y="1806701"/>
            <a:ext cx="3708372" cy="18516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Aptos Display"/>
              </a:rPr>
              <a:t>5. Nerve Entrapment / Neural Conditions</a:t>
            </a:r>
            <a:endParaRPr lang="en-US" sz="1800" b="1">
              <a:latin typeface="Aptos Display"/>
              <a:cs typeface="Segoe UI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sz="1800" b="1">
                <a:latin typeface="Aptos Display"/>
                <a:cs typeface="Segoe UI"/>
              </a:rPr>
              <a:t>Cervical radiculitis</a:t>
            </a:r>
            <a:endParaRPr lang="en-US" sz="1800">
              <a:latin typeface="Aptos Display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sz="1800" b="1">
                <a:latin typeface="Aptos Display"/>
                <a:cs typeface="Segoe UI"/>
              </a:rPr>
              <a:t>Thoracic outlet syndrome</a:t>
            </a:r>
            <a:r>
              <a:rPr lang="en-US" sz="1800">
                <a:latin typeface="Aptos Display"/>
                <a:cs typeface="Segoe UI"/>
              </a:rPr>
              <a:t> (can be relevant if symptoms start in neck)</a:t>
            </a:r>
            <a:endParaRPr lang="en-US" sz="1800">
              <a:latin typeface="Aptos Display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sz="1800" b="1">
                <a:latin typeface="Aptos Display"/>
                <a:cs typeface="Segoe UI"/>
              </a:rPr>
              <a:t>Occipital neuralgia</a:t>
            </a:r>
            <a:endParaRPr lang="en-US" sz="1800">
              <a:latin typeface="Aptos Display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endParaRPr lang="en-US" sz="1800" b="1" i="0">
              <a:latin typeface="Aptos Display"/>
              <a:ea typeface="Segoe U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63C34F-3247-C45B-7782-173E32F80D8C}"/>
              </a:ext>
            </a:extLst>
          </p:cNvPr>
          <p:cNvSpPr txBox="1"/>
          <p:nvPr/>
        </p:nvSpPr>
        <p:spPr>
          <a:xfrm>
            <a:off x="8000999" y="4122964"/>
            <a:ext cx="4191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>
                <a:latin typeface="Aptos Display"/>
                <a:ea typeface="Segoe UI"/>
                <a:cs typeface="Segoe UI"/>
              </a:rPr>
              <a:t>6. Inflammatory &amp; Systemic</a:t>
            </a:r>
          </a:p>
          <a:p>
            <a:pPr>
              <a:buFont typeface=""/>
              <a:buChar char="•"/>
            </a:pPr>
            <a:r>
              <a:rPr lang="en-US" b="1" i="0">
                <a:latin typeface="Aptos Display"/>
                <a:ea typeface="Segoe UI"/>
                <a:cs typeface="Segoe UI"/>
              </a:rPr>
              <a:t>Rheumatoid arthritis</a:t>
            </a:r>
            <a:r>
              <a:rPr lang="en-US" b="0" i="0">
                <a:latin typeface="Aptos Display"/>
                <a:ea typeface="Segoe UI"/>
                <a:cs typeface="Segoe UI"/>
              </a:rPr>
              <a:t> (especially atlanto-axial instability)</a:t>
            </a:r>
          </a:p>
          <a:p>
            <a:pPr>
              <a:buFont typeface=""/>
              <a:buChar char="•"/>
            </a:pPr>
            <a:r>
              <a:rPr lang="en-US" b="1" i="0">
                <a:latin typeface="Aptos Display"/>
                <a:ea typeface="Segoe UI"/>
                <a:cs typeface="Segoe UI"/>
              </a:rPr>
              <a:t>Ankylosing spondylitis</a:t>
            </a:r>
          </a:p>
          <a:p>
            <a:pPr>
              <a:buFont typeface=""/>
              <a:buChar char="•"/>
            </a:pPr>
            <a:r>
              <a:rPr lang="en-US" b="1" i="0">
                <a:latin typeface="Aptos Display"/>
                <a:ea typeface="Segoe UI"/>
                <a:cs typeface="Segoe UI"/>
              </a:rPr>
              <a:t>Polymyalgia rheumatica</a:t>
            </a:r>
          </a:p>
          <a:p>
            <a:endParaRPr lang="en-US" b="0" i="0">
              <a:latin typeface="Aptos Display"/>
              <a:ea typeface="Segoe UI"/>
              <a:cs typeface="Segoe UI"/>
            </a:endParaRPr>
          </a:p>
          <a:p>
            <a:pPr algn="ctr"/>
            <a:endParaRPr lang="en-US">
              <a:latin typeface="Aptos Display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ABBF86-1ADA-4BAA-C6D0-EFDCA62C05B2}"/>
              </a:ext>
            </a:extLst>
          </p:cNvPr>
          <p:cNvCxnSpPr/>
          <p:nvPr/>
        </p:nvCxnSpPr>
        <p:spPr>
          <a:xfrm>
            <a:off x="658368" y="3962400"/>
            <a:ext cx="11241024" cy="1219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D2FD0B-0F56-4122-B6E9-2F3E7CFD0021}"/>
              </a:ext>
            </a:extLst>
          </p:cNvPr>
          <p:cNvCxnSpPr/>
          <p:nvPr/>
        </p:nvCxnSpPr>
        <p:spPr>
          <a:xfrm flipH="1">
            <a:off x="4057405" y="2064818"/>
            <a:ext cx="2186" cy="408558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F7BE89-5322-9875-1500-4C4DFBC92CC2}"/>
              </a:ext>
            </a:extLst>
          </p:cNvPr>
          <p:cNvCxnSpPr>
            <a:cxnSpLocks/>
          </p:cNvCxnSpPr>
          <p:nvPr/>
        </p:nvCxnSpPr>
        <p:spPr>
          <a:xfrm flipH="1">
            <a:off x="7824272" y="2064818"/>
            <a:ext cx="30940" cy="43300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141FC96-20A5-FC35-E362-3C4C52A4A3AF}"/>
              </a:ext>
            </a:extLst>
          </p:cNvPr>
          <p:cNvSpPr txBox="1"/>
          <p:nvPr/>
        </p:nvSpPr>
        <p:spPr>
          <a:xfrm>
            <a:off x="8002576" y="5981787"/>
            <a:ext cx="398587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ptos Display"/>
              </a:rPr>
              <a:t>7. Non-MSK Cervical Pain</a:t>
            </a:r>
            <a:r>
              <a:rPr lang="en-US">
                <a:latin typeface="Aptos Display"/>
              </a:rPr>
              <a:t> (Meningitis, VBI, Tumor, Infection) </a:t>
            </a:r>
          </a:p>
          <a:p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698DB7-68CE-FEF1-2C7C-6723B5CCCA75}"/>
              </a:ext>
            </a:extLst>
          </p:cNvPr>
          <p:cNvCxnSpPr/>
          <p:nvPr/>
        </p:nvCxnSpPr>
        <p:spPr>
          <a:xfrm>
            <a:off x="7842643" y="5748457"/>
            <a:ext cx="3979041" cy="2627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68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DC605-83C3-0905-C7FF-DE8A6C0E8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With your group:</a:t>
            </a:r>
            <a:br>
              <a:rPr lang="en-US"/>
            </a:br>
            <a:br>
              <a:rPr lang="en-US" b="0"/>
            </a:br>
            <a:r>
              <a:rPr lang="en-US" b="0"/>
              <a:t>1. Create a slide (Insert &gt; New Slide)</a:t>
            </a:r>
            <a:br>
              <a:rPr lang="en-US" b="0"/>
            </a:br>
            <a:r>
              <a:rPr lang="en-US" b="0"/>
              <a:t>2. List out 3-4 common subjective symptoms</a:t>
            </a:r>
            <a:br>
              <a:rPr lang="en-US" b="0"/>
            </a:br>
            <a:r>
              <a:rPr lang="en-US" b="0"/>
              <a:t>3. List out 3-4 common objective details</a:t>
            </a:r>
            <a:br>
              <a:rPr lang="en-US" b="0"/>
            </a:br>
            <a:r>
              <a:rPr lang="en-US" b="0"/>
              <a:t>4. List 2 best treatments</a:t>
            </a:r>
            <a:br>
              <a:rPr lang="en-US" b="0"/>
            </a:br>
            <a:r>
              <a:rPr lang="en-US" b="0"/>
              <a:t>5. Expected timeline for healing</a:t>
            </a:r>
          </a:p>
        </p:txBody>
      </p:sp>
    </p:spTree>
    <p:extLst>
      <p:ext uri="{BB962C8B-B14F-4D97-AF65-F5344CB8AC3E}">
        <p14:creationId xmlns:p14="http://schemas.microsoft.com/office/powerpoint/2010/main" val="391430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1289A-15C3-62F9-A7FD-69DB5D97C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39" y="1168401"/>
            <a:ext cx="10890929" cy="1097280"/>
          </a:xfrm>
        </p:spPr>
        <p:txBody>
          <a:bodyPr/>
          <a:lstStyle/>
          <a:p>
            <a:r>
              <a:rPr lang="en-US"/>
              <a:t>Example: 7. Non-MSK Neck Pain (Slide 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142CE-CDEA-8747-499D-6373EC904164}"/>
              </a:ext>
            </a:extLst>
          </p:cNvPr>
          <p:cNvSpPr txBox="1"/>
          <p:nvPr/>
        </p:nvSpPr>
        <p:spPr>
          <a:xfrm>
            <a:off x="835572" y="1992410"/>
            <a:ext cx="3222997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1. Meningitis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Subjective:</a:t>
            </a:r>
            <a:r>
              <a:rPr lang="en-US">
                <a:ea typeface="+mn-lt"/>
                <a:cs typeface="+mn-lt"/>
              </a:rPr>
              <a:t> Severe headache, neck stiffness, photophobia, fever, nausea, rapid onset of systemic illness.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Assessment:</a:t>
            </a:r>
            <a:r>
              <a:rPr lang="en-US">
                <a:ea typeface="+mn-lt"/>
                <a:cs typeface="+mn-lt"/>
              </a:rPr>
              <a:t> Vital signs, neurological screen, Kernig/Brudzinski signs (if trained), check for rash, urgent medical referral.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Treatment: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Immediate emergency referral</a:t>
            </a:r>
            <a:r>
              <a:rPr lang="en-US">
                <a:ea typeface="+mn-lt"/>
                <a:cs typeface="+mn-lt"/>
              </a:rPr>
              <a:t> — this is a medical emergency.</a:t>
            </a:r>
            <a:endParaRPr lang="en-US"/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3C352-79EA-98FA-E3F1-68B8FFADB4F6}"/>
              </a:ext>
            </a:extLst>
          </p:cNvPr>
          <p:cNvSpPr txBox="1"/>
          <p:nvPr/>
        </p:nvSpPr>
        <p:spPr>
          <a:xfrm>
            <a:off x="7661165" y="1978221"/>
            <a:ext cx="388182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2. Cervical Arterial Dysfunction (e.g., Vertebral Artery Issues)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Subjective:</a:t>
            </a:r>
            <a:r>
              <a:rPr lang="en-US">
                <a:ea typeface="+mn-lt"/>
                <a:cs typeface="+mn-lt"/>
              </a:rPr>
              <a:t> Dizziness, diplopia, dysarthria, dysphagia, drop attacks, nausea, nystagmus, unilateral neck pain or headache.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Assessment:</a:t>
            </a:r>
            <a:r>
              <a:rPr lang="en-US">
                <a:ea typeface="+mn-lt"/>
                <a:cs typeface="+mn-lt"/>
              </a:rPr>
              <a:t> Vascular risk factor screening, cranial nerve exam, blood pressure, neurological screen. Avoid provocative testing.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Treatment: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Urgent medical referral</a:t>
            </a:r>
            <a:r>
              <a:rPr lang="en-US">
                <a:ea typeface="+mn-lt"/>
                <a:cs typeface="+mn-lt"/>
              </a:rPr>
              <a:t>; avoid cervical manipulation or end‑range movements.</a:t>
            </a:r>
            <a:endParaRPr lang="en-US"/>
          </a:p>
          <a:p>
            <a:pPr algn="l"/>
            <a:endParaRPr lang="en-US"/>
          </a:p>
        </p:txBody>
      </p:sp>
      <p:pic>
        <p:nvPicPr>
          <p:cNvPr id="6" name="Picture 5" descr="A diagram of meningitis&#10;&#10;AI-generated content may be incorrect.">
            <a:extLst>
              <a:ext uri="{FF2B5EF4-FFF2-40B4-BE49-F238E27FC236}">
                <a16:creationId xmlns:a16="http://schemas.microsoft.com/office/drawing/2014/main" id="{903AA8D2-03D6-4EA8-E0B4-586D74241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874" y="1981200"/>
            <a:ext cx="2315533" cy="1920240"/>
          </a:xfrm>
          <a:prstGeom prst="rect">
            <a:avLst/>
          </a:prstGeom>
        </p:spPr>
      </p:pic>
      <p:pic>
        <p:nvPicPr>
          <p:cNvPr id="7" name="Picture 6" descr="A diagram of the neck and spine&#10;&#10;AI-generated content may be incorrect.">
            <a:extLst>
              <a:ext uri="{FF2B5EF4-FFF2-40B4-BE49-F238E27FC236}">
                <a16:creationId xmlns:a16="http://schemas.microsoft.com/office/drawing/2014/main" id="{EDC5F07A-1D47-676A-9E13-44AE3C319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4080965"/>
            <a:ext cx="2316480" cy="236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11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4B540-766A-2DC6-C677-DA8B0C4E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CAC0-A596-E9F4-BBBD-15CA80746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39" y="1168401"/>
            <a:ext cx="10890929" cy="1097280"/>
          </a:xfrm>
        </p:spPr>
        <p:txBody>
          <a:bodyPr/>
          <a:lstStyle/>
          <a:p>
            <a:r>
              <a:rPr lang="en-US"/>
              <a:t>Example: 7. Non-MSK Neck Pain (Slide 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997F5-CE33-EBE6-1D21-37EE785E5076}"/>
              </a:ext>
            </a:extLst>
          </p:cNvPr>
          <p:cNvSpPr txBox="1"/>
          <p:nvPr/>
        </p:nvSpPr>
        <p:spPr>
          <a:xfrm>
            <a:off x="652692" y="2022890"/>
            <a:ext cx="355827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3. </a:t>
            </a:r>
            <a:r>
              <a:rPr lang="en-US" b="1" err="1"/>
              <a:t>Tumour</a:t>
            </a:r>
            <a:r>
              <a:rPr lang="en-US" b="1"/>
              <a:t> / Metastases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Subjective:</a:t>
            </a:r>
            <a:r>
              <a:rPr lang="en-US">
                <a:ea typeface="+mn-lt"/>
                <a:cs typeface="+mn-lt"/>
              </a:rPr>
              <a:t> Unexplained weight loss, night pain, constant non‑mechanical pain, history of cancer, fatigue.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Assessment:</a:t>
            </a:r>
            <a:r>
              <a:rPr lang="en-US">
                <a:ea typeface="+mn-lt"/>
                <a:cs typeface="+mn-lt"/>
              </a:rPr>
              <a:t> Full subjective red‑flag screen, palpation for masses, neurological exam.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Treatment: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Medical referral</a:t>
            </a:r>
            <a:r>
              <a:rPr lang="en-US">
                <a:ea typeface="+mn-lt"/>
                <a:cs typeface="+mn-lt"/>
              </a:rPr>
              <a:t> for imaging and oncology input.</a:t>
            </a:r>
          </a:p>
          <a:p>
            <a:endParaRPr lang="en-US" b="1"/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9BD73-C92E-2769-6D61-D225D58E887A}"/>
              </a:ext>
            </a:extLst>
          </p:cNvPr>
          <p:cNvSpPr txBox="1"/>
          <p:nvPr/>
        </p:nvSpPr>
        <p:spPr>
          <a:xfrm>
            <a:off x="8108205" y="2018861"/>
            <a:ext cx="343478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4. Infection (Discitis, Osteomyelitis)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Subjective:</a:t>
            </a:r>
            <a:r>
              <a:rPr lang="en-US">
                <a:ea typeface="+mn-lt"/>
                <a:cs typeface="+mn-lt"/>
              </a:rPr>
              <a:t> Severe constant pain, fever, recent infection, immunosuppression, IV drug use, night sweats.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Assessment:</a:t>
            </a:r>
            <a:r>
              <a:rPr lang="en-US">
                <a:ea typeface="+mn-lt"/>
                <a:cs typeface="+mn-lt"/>
              </a:rPr>
              <a:t> Temperature, red‑flag questioning, neurological screen, palpation for local heat/swelling.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Treatment: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Urgent medical referral</a:t>
            </a:r>
            <a:r>
              <a:rPr lang="en-US">
                <a:ea typeface="+mn-lt"/>
                <a:cs typeface="+mn-lt"/>
              </a:rPr>
              <a:t> for blood tests, imaging, and antibiotics.</a:t>
            </a:r>
            <a:endParaRPr lang="en-US"/>
          </a:p>
          <a:p>
            <a:endParaRPr lang="en-US" b="1"/>
          </a:p>
          <a:p>
            <a:pPr algn="l"/>
            <a:endParaRPr lang="en-US"/>
          </a:p>
        </p:txBody>
      </p:sp>
      <p:pic>
        <p:nvPicPr>
          <p:cNvPr id="3" name="Picture 2" descr="A hand holding a red pen&#10;&#10;AI-generated content may be incorrect.">
            <a:extLst>
              <a:ext uri="{FF2B5EF4-FFF2-40B4-BE49-F238E27FC236}">
                <a16:creationId xmlns:a16="http://schemas.microsoft.com/office/drawing/2014/main" id="{1AE6FE3C-F29C-A6D3-EC0B-5D6B96FE3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280" y="2262188"/>
            <a:ext cx="2875280" cy="191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77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072E-257E-3130-F95A-0B6243657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GB"/>
              <a:t>Degenerative Conditions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72B5A-60D5-B714-9A23-E664019DD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4010659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GB" b="1"/>
              <a:t>Common Subjective Symptoms:</a:t>
            </a:r>
            <a:endParaRPr lang="en-US" b="1"/>
          </a:p>
          <a:p>
            <a:r>
              <a:rPr lang="en-GB"/>
              <a:t>Pain worsening with activity/ Easing with rest</a:t>
            </a:r>
          </a:p>
          <a:p>
            <a:r>
              <a:rPr lang="en-GB"/>
              <a:t>Headaches</a:t>
            </a:r>
          </a:p>
          <a:p>
            <a:r>
              <a:rPr lang="en-GB"/>
              <a:t>Stiffness</a:t>
            </a:r>
          </a:p>
          <a:p>
            <a:r>
              <a:rPr lang="en-GB"/>
              <a:t>Previous neck injury </a:t>
            </a:r>
          </a:p>
          <a:p>
            <a:pPr marL="0" indent="0">
              <a:buNone/>
            </a:pPr>
            <a:r>
              <a:rPr lang="en-GB" b="1"/>
              <a:t>Common Objective Symptoms:</a:t>
            </a:r>
          </a:p>
          <a:p>
            <a:r>
              <a:rPr lang="en-GB"/>
              <a:t>Redness/ Discolouration upon observation </a:t>
            </a:r>
          </a:p>
          <a:p>
            <a:r>
              <a:rPr lang="en-GB"/>
              <a:t>Limited ROM </a:t>
            </a:r>
          </a:p>
          <a:p>
            <a:r>
              <a:rPr lang="en-GB"/>
              <a:t>Chronic Pain</a:t>
            </a:r>
          </a:p>
          <a:p>
            <a:r>
              <a:rPr lang="en-GB"/>
              <a:t>Numbness </a:t>
            </a:r>
          </a:p>
          <a:p>
            <a:pPr marL="0" indent="0">
              <a:buNone/>
            </a:pPr>
            <a:r>
              <a:rPr lang="en-GB" b="1"/>
              <a:t>Best Treatments:</a:t>
            </a:r>
          </a:p>
          <a:p>
            <a:r>
              <a:rPr lang="en-GB"/>
              <a:t>Patient Education/ Manual Therapy </a:t>
            </a:r>
          </a:p>
          <a:p>
            <a:pPr marL="0" indent="0">
              <a:buNone/>
            </a:pPr>
            <a:r>
              <a:rPr lang="en-GB" b="1"/>
              <a:t>Expected Timeline for Healing:</a:t>
            </a:r>
            <a:r>
              <a:rPr lang="en-GB"/>
              <a:t> Anywhere from a few weeks to 6 months </a:t>
            </a:r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532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9D23-4F03-2C43-8DA2-C466412F6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18" y="144704"/>
            <a:ext cx="10890929" cy="1097280"/>
          </a:xfrm>
        </p:spPr>
        <p:txBody>
          <a:bodyPr/>
          <a:lstStyle/>
          <a:p>
            <a:r>
              <a:rPr lang="en-GB"/>
              <a:t>2. Disc pathology 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ABAEF4-EE5E-E3AA-53D3-E04FFE6AB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81666"/>
              </p:ext>
            </p:extLst>
          </p:nvPr>
        </p:nvGraphicFramePr>
        <p:xfrm>
          <a:off x="273948" y="1098730"/>
          <a:ext cx="11667165" cy="1154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433">
                  <a:extLst>
                    <a:ext uri="{9D8B030D-6E8A-4147-A177-3AD203B41FA5}">
                      <a16:colId xmlns:a16="http://schemas.microsoft.com/office/drawing/2014/main" val="4269276797"/>
                    </a:ext>
                  </a:extLst>
                </a:gridCol>
                <a:gridCol w="2333433">
                  <a:extLst>
                    <a:ext uri="{9D8B030D-6E8A-4147-A177-3AD203B41FA5}">
                      <a16:colId xmlns:a16="http://schemas.microsoft.com/office/drawing/2014/main" val="2563212392"/>
                    </a:ext>
                  </a:extLst>
                </a:gridCol>
                <a:gridCol w="2333433">
                  <a:extLst>
                    <a:ext uri="{9D8B030D-6E8A-4147-A177-3AD203B41FA5}">
                      <a16:colId xmlns:a16="http://schemas.microsoft.com/office/drawing/2014/main" val="211613322"/>
                    </a:ext>
                  </a:extLst>
                </a:gridCol>
                <a:gridCol w="2333433">
                  <a:extLst>
                    <a:ext uri="{9D8B030D-6E8A-4147-A177-3AD203B41FA5}">
                      <a16:colId xmlns:a16="http://schemas.microsoft.com/office/drawing/2014/main" val="2028809095"/>
                    </a:ext>
                  </a:extLst>
                </a:gridCol>
                <a:gridCol w="2333433">
                  <a:extLst>
                    <a:ext uri="{9D8B030D-6E8A-4147-A177-3AD203B41FA5}">
                      <a16:colId xmlns:a16="http://schemas.microsoft.com/office/drawing/2014/main" val="200078622"/>
                    </a:ext>
                  </a:extLst>
                </a:gridCol>
              </a:tblGrid>
              <a:tr h="874400">
                <a:tc>
                  <a:txBody>
                    <a:bodyPr/>
                    <a:lstStyle/>
                    <a:p>
                      <a:r>
                        <a:rPr lang="en-GB"/>
                        <a:t>Conditions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Subjective Symptoms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Objective details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 best treatment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Timeline for healing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690018"/>
                  </a:ext>
                </a:extLst>
              </a:tr>
              <a:tr h="874400">
                <a:tc>
                  <a:txBody>
                    <a:bodyPr/>
                    <a:lstStyle/>
                    <a:p>
                      <a:r>
                        <a:rPr lang="en-GB"/>
                        <a:t>Cervical disc herniation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GB"/>
                        <a:t>Radiating pain 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GB" err="1"/>
                        <a:t>Paresthesia</a:t>
                      </a:r>
                      <a:r>
                        <a:rPr lang="en-GB"/>
                        <a:t> 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GB"/>
                        <a:t>Motor weakness 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GB"/>
                        <a:t>Altered sensation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GB"/>
                        <a:t>Hyporeflexia 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GB"/>
                        <a:t>Motor weakness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GB"/>
                        <a:t>Sensory loss (pin prick or light touch)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GB"/>
                        <a:t>Positive </a:t>
                      </a:r>
                      <a:r>
                        <a:rPr lang="en-GB" err="1"/>
                        <a:t>Spurlings</a:t>
                      </a:r>
                      <a:r>
                        <a:rPr lang="en-GB"/>
                        <a:t> sign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/>
                        <a:t>Physical therapy , chin tucks, isometric neck strengthening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/>
                        <a:t>Medications, NSAIDs, muscle relaxers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/>
                        <a:t>Surgical 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 4 –8  months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715033"/>
                  </a:ext>
                </a:extLst>
              </a:tr>
              <a:tr h="874400"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Aptos Display"/>
                          <a:ea typeface="+mn-ea"/>
                          <a:cs typeface="Segoe UI"/>
                        </a:rPr>
                        <a:t>Cervical radiculopathy </a:t>
                      </a:r>
                      <a:endParaRPr lang="en-GB">
                        <a:latin typeface="Aptos Display"/>
                        <a:cs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Direct pressure in cervical region</a:t>
                      </a:r>
                      <a:endParaRPr lang="en-US" sz="1600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Unilateral neck pain</a:t>
                      </a:r>
                      <a:endParaRPr lang="en-GB" sz="1600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Shooting, sharp or lancing pain radiating down the arm</a:t>
                      </a:r>
                      <a:endParaRPr lang="en-GB" sz="1600" b="0"/>
                    </a:p>
                    <a:p>
                      <a:pPr lvl="0">
                        <a:buNone/>
                      </a:pP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Possible numbness, </a:t>
                      </a:r>
                      <a:r>
                        <a:rPr lang="en-GB" sz="14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weakess</a:t>
                      </a:r>
                      <a:r>
                        <a:rPr lang="en-GB" sz="14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in dermatome and </a:t>
                      </a:r>
                      <a:r>
                        <a:rPr lang="en-GB" sz="14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mytome</a:t>
                      </a:r>
                      <a:r>
                        <a:rPr lang="en-GB" sz="14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testing</a:t>
                      </a:r>
                      <a:endParaRPr lang="en-US" sz="1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Reflex changes in c5,c6,c7 such as weakness or absent bicep, brachioradialis, triceps reflex</a:t>
                      </a:r>
                      <a:endParaRPr lang="en-GB" sz="1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Pain on PROM and AROM neck extension, rotation, lateral flexion</a:t>
                      </a:r>
                      <a:endParaRPr lang="en-GB" sz="1400"/>
                    </a:p>
                    <a:p>
                      <a:pPr lvl="0">
                        <a:buNone/>
                      </a:pP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-Joint mobilisation with targeted cervical spines exercises </a:t>
                      </a:r>
                    </a:p>
                    <a:p>
                      <a:pPr lvl="0">
                        <a:buNone/>
                      </a:pPr>
                      <a:endParaRPr lang="en-GB"/>
                    </a:p>
                    <a:p>
                      <a:pPr marL="0" lvl="0" indent="0">
                        <a:buNone/>
                      </a:pPr>
                      <a:r>
                        <a:rPr lang="en-GB"/>
                        <a:t>-Postural correction of the cervical spine and surrounding structures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3-6 months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909933"/>
                  </a:ext>
                </a:extLst>
              </a:tr>
              <a:tr h="874400">
                <a:tc>
                  <a:txBody>
                    <a:bodyPr/>
                    <a:lstStyle/>
                    <a:p>
                      <a:r>
                        <a:rPr lang="en-GB"/>
                        <a:t>Cervical Myelopathy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/>
                        <a:t>Clumsy hands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/>
                        <a:t>Sensory changes numbness, tingling and pins and needles in hands and arm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/>
                        <a:t>Gait and balance issue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/>
                        <a:t>Neck Pain  stiffness and reduced 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-generalized hyperreflexia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/>
                        <a:t>Spasticity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/>
                        <a:t>Positive </a:t>
                      </a:r>
                      <a:r>
                        <a:rPr lang="en-GB" err="1"/>
                        <a:t>babinski</a:t>
                      </a:r>
                      <a:r>
                        <a:rPr lang="en-GB"/>
                        <a:t> or Hoffman sings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/>
                        <a:t>Gait abnormalities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/>
                        <a:t>-Postural education of the cervical spine and other structures</a:t>
                      </a:r>
                    </a:p>
                    <a:p>
                      <a:pPr marL="0" lvl="0" indent="0">
                        <a:buNone/>
                      </a:pPr>
                      <a:endParaRPr lang="en-GB"/>
                    </a:p>
                    <a:p>
                      <a:pPr marL="0" lvl="0" indent="0">
                        <a:buNone/>
                      </a:pPr>
                      <a:r>
                        <a:rPr lang="en-GB"/>
                        <a:t>-Gentle cervical range of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6-12 months full recovery post surgery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944064"/>
                  </a:ext>
                </a:extLst>
              </a:tr>
              <a:tr h="874400">
                <a:tc>
                  <a:txBody>
                    <a:bodyPr/>
                    <a:lstStyle/>
                    <a:p>
                      <a:r>
                        <a:rPr lang="en-GB"/>
                        <a:t>Disc </a:t>
                      </a:r>
                      <a:r>
                        <a:rPr lang="en-GB" err="1"/>
                        <a:t>putrusion</a:t>
                      </a:r>
                      <a:r>
                        <a:rPr lang="en-GB"/>
                        <a:t> / extrusion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/>
                        <a:t>Neck pain, sharp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/>
                        <a:t>Radicular pain down the arm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/>
                        <a:t>Subjective muscle weakness 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/>
                        <a:t>Numbness and tingling 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-restricted neck range with pain 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GB"/>
                        <a:t>Positive </a:t>
                      </a:r>
                      <a:r>
                        <a:rPr lang="en-GB" err="1"/>
                        <a:t>spurlings</a:t>
                      </a:r>
                      <a:r>
                        <a:rPr lang="en-GB"/>
                        <a:t> test 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GB"/>
                        <a:t>Altered sensation 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GB"/>
                        <a:t>Objective </a:t>
                      </a:r>
                      <a:r>
                        <a:rPr lang="en-GB" err="1"/>
                        <a:t>musvcle</a:t>
                      </a:r>
                      <a:r>
                        <a:rPr lang="en-GB"/>
                        <a:t> weakness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GB"/>
                        <a:t>Conservative treatment. Pain management, PT, activity modification 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GB"/>
                        <a:t>Surgical treatment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6 – 12 months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387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503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9B523-9F79-C92B-89EA-361FD9548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60" y="307676"/>
            <a:ext cx="10890929" cy="1097280"/>
          </a:xfrm>
        </p:spPr>
        <p:txBody>
          <a:bodyPr/>
          <a:lstStyle/>
          <a:p>
            <a:r>
              <a:rPr lang="en-US"/>
              <a:t>3. Mechanical/Postural pain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0828F-059E-283E-9D4E-FC78AA282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61" y="1051962"/>
            <a:ext cx="10890928" cy="55933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050"/>
              <a:t>Subjective symptoms:</a:t>
            </a:r>
          </a:p>
          <a:p>
            <a:pPr marL="0" indent="0">
              <a:buNone/>
            </a:pPr>
            <a:r>
              <a:rPr lang="en-US" sz="1050"/>
              <a:t>Pain- dull, aching</a:t>
            </a:r>
          </a:p>
          <a:p>
            <a:pPr marL="0" indent="0">
              <a:buNone/>
            </a:pPr>
            <a:r>
              <a:rPr lang="en-US" sz="1050"/>
              <a:t>Stiffness- affect range of motion</a:t>
            </a:r>
          </a:p>
          <a:p>
            <a:pPr marL="0" indent="0">
              <a:buNone/>
            </a:pPr>
            <a:r>
              <a:rPr lang="en-US" sz="1050"/>
              <a:t>Tension headaches</a:t>
            </a:r>
          </a:p>
          <a:p>
            <a:pPr marL="0" indent="0">
              <a:buNone/>
            </a:pPr>
            <a:r>
              <a:rPr lang="en-US" sz="1050"/>
              <a:t>Poor posture</a:t>
            </a:r>
          </a:p>
          <a:p>
            <a:r>
              <a:rPr lang="en-US" sz="1050"/>
              <a:t>Objective details:</a:t>
            </a:r>
          </a:p>
          <a:p>
            <a:pPr marL="0" indent="0">
              <a:buNone/>
            </a:pPr>
            <a:r>
              <a:rPr lang="en-US" sz="1050"/>
              <a:t>McKenzie method special test</a:t>
            </a:r>
          </a:p>
          <a:p>
            <a:pPr marL="0" indent="0">
              <a:buNone/>
            </a:pPr>
            <a:r>
              <a:rPr lang="en-US" sz="1050"/>
              <a:t>Forward head, kyphosis in </a:t>
            </a:r>
            <a:r>
              <a:rPr lang="en-US" sz="1050" err="1"/>
              <a:t>observati</a:t>
            </a:r>
            <a:r>
              <a:rPr lang="en-US" sz="1050"/>
              <a:t>on</a:t>
            </a:r>
          </a:p>
          <a:p>
            <a:pPr marL="0" indent="0">
              <a:buNone/>
            </a:pPr>
            <a:r>
              <a:rPr lang="en-US" sz="1050"/>
              <a:t>Tenderness in palpation</a:t>
            </a:r>
          </a:p>
          <a:p>
            <a:pPr marL="0" indent="0">
              <a:buNone/>
            </a:pPr>
            <a:r>
              <a:rPr lang="en-US" sz="1050"/>
              <a:t>Reduced and pain at end of range of motion</a:t>
            </a:r>
          </a:p>
          <a:p>
            <a:pPr marL="0" indent="0">
              <a:buNone/>
            </a:pPr>
            <a:r>
              <a:rPr lang="en-US" sz="1050"/>
              <a:t>Weakness in muscle strength test</a:t>
            </a:r>
          </a:p>
          <a:p>
            <a:r>
              <a:rPr lang="en-US" sz="1050"/>
              <a:t>Best treatments:</a:t>
            </a:r>
          </a:p>
          <a:p>
            <a:pPr marL="0" indent="0">
              <a:buNone/>
            </a:pPr>
            <a:r>
              <a:rPr lang="en-US" sz="1050"/>
              <a:t>Patient education on ergonomics and posture- </a:t>
            </a:r>
            <a:r>
              <a:rPr lang="en-US" sz="1050" err="1"/>
              <a:t>eg</a:t>
            </a:r>
            <a:r>
              <a:rPr lang="en-US" sz="1050"/>
              <a:t> take breaks from sitting down</a:t>
            </a:r>
          </a:p>
          <a:p>
            <a:pPr marL="0" indent="0">
              <a:buNone/>
            </a:pPr>
            <a:r>
              <a:rPr lang="en-US" sz="1050"/>
              <a:t>Strengthening exercises for neck and shoulder</a:t>
            </a:r>
          </a:p>
          <a:p>
            <a:pPr marL="0" indent="0">
              <a:buNone/>
            </a:pPr>
            <a:r>
              <a:rPr lang="en-US" sz="1050"/>
              <a:t>Manual therapy- active range of motion, stretches</a:t>
            </a:r>
          </a:p>
          <a:p>
            <a:r>
              <a:rPr lang="en-US" sz="1050"/>
              <a:t>Expected timeline for healing:</a:t>
            </a:r>
          </a:p>
          <a:p>
            <a:pPr marL="0" indent="0">
              <a:buNone/>
            </a:pPr>
            <a:r>
              <a:rPr lang="en-US" sz="1050"/>
              <a:t>Few weeks- 6-8 weeks</a:t>
            </a:r>
          </a:p>
        </p:txBody>
      </p:sp>
    </p:spTree>
    <p:extLst>
      <p:ext uri="{BB962C8B-B14F-4D97-AF65-F5344CB8AC3E}">
        <p14:creationId xmlns:p14="http://schemas.microsoft.com/office/powerpoint/2010/main" val="1074322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5C53-0E57-E652-B22D-23562E5E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03" y="127748"/>
            <a:ext cx="10890929" cy="1097280"/>
          </a:xfrm>
        </p:spPr>
        <p:txBody>
          <a:bodyPr/>
          <a:lstStyle/>
          <a:p>
            <a:r>
              <a:rPr lang="en-GB"/>
              <a:t>4. Instability/trauma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8B344E-360E-1EB7-8EB7-2788AC477BC2}"/>
              </a:ext>
            </a:extLst>
          </p:cNvPr>
          <p:cNvSpPr txBox="1"/>
          <p:nvPr/>
        </p:nvSpPr>
        <p:spPr>
          <a:xfrm>
            <a:off x="10778754" y="124210"/>
            <a:ext cx="133871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/>
              <a:t>Myroslava</a:t>
            </a:r>
          </a:p>
          <a:p>
            <a:r>
              <a:rPr lang="en-GB"/>
              <a:t>Joanna</a:t>
            </a:r>
          </a:p>
          <a:p>
            <a:r>
              <a:rPr lang="en-GB"/>
              <a:t>Stephanie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B4D717-2D1B-3F8E-A27E-461820B25915}"/>
              </a:ext>
            </a:extLst>
          </p:cNvPr>
          <p:cNvSpPr txBox="1"/>
          <p:nvPr/>
        </p:nvSpPr>
        <p:spPr>
          <a:xfrm>
            <a:off x="301471" y="1046927"/>
            <a:ext cx="4850516" cy="507831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 Display"/>
              </a:rPr>
              <a:t>Whiplash-associated disorder</a:t>
            </a:r>
            <a:endParaRPr lang="en-US"/>
          </a:p>
          <a:p>
            <a:r>
              <a:rPr lang="en-US" b="1">
                <a:latin typeface="Aptos Display"/>
              </a:rPr>
              <a:t>Subjective symptoms</a:t>
            </a:r>
          </a:p>
          <a:p>
            <a:pPr marL="171450" indent="-1714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Neck pain/ stiffness- appear within 24-48hrs</a:t>
            </a:r>
          </a:p>
          <a:p>
            <a:pPr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 neck stiffness and difficulty moving your head</a:t>
            </a:r>
          </a:p>
          <a:p>
            <a:pPr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 headaches</a:t>
            </a:r>
          </a:p>
          <a:p>
            <a:pPr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 pain in the shoulders and arms</a:t>
            </a:r>
          </a:p>
          <a:p>
            <a:endParaRPr lang="en-US">
              <a:solidFill>
                <a:schemeClr val="tx1"/>
              </a:solidFill>
              <a:latin typeface="Grandview Display"/>
            </a:endParaRPr>
          </a:p>
          <a:p>
            <a:r>
              <a:rPr lang="en-US" b="1">
                <a:latin typeface="Aptos Display"/>
              </a:rPr>
              <a:t>Objective symptoms: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Grandview Display"/>
              </a:rPr>
              <a:t> </a:t>
            </a:r>
            <a:r>
              <a:rPr lang="en-US" sz="1400">
                <a:latin typeface="Calibri"/>
                <a:ea typeface="Calibri"/>
                <a:cs typeface="Calibri"/>
              </a:rPr>
              <a:t>Reduced ROM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Paresthesia in UL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Muscle spasm and tenderness</a:t>
            </a:r>
          </a:p>
          <a:p>
            <a:endParaRPr lang="en-US">
              <a:solidFill>
                <a:schemeClr val="tx1"/>
              </a:solidFill>
              <a:latin typeface="Grandview Display"/>
            </a:endParaRPr>
          </a:p>
          <a:p>
            <a:r>
              <a:rPr lang="en-US" b="1">
                <a:latin typeface="Aptos Display"/>
              </a:rPr>
              <a:t>Treatment: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Early </a:t>
            </a:r>
            <a:r>
              <a:rPr lang="en-US" sz="1400" err="1">
                <a:latin typeface="Calibri"/>
                <a:ea typeface="Calibri"/>
                <a:cs typeface="Calibri"/>
              </a:rPr>
              <a:t>mobalization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Education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Avoid prolong immobilization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strengthening of deep flexors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Address psychological factors</a:t>
            </a:r>
          </a:p>
          <a:p>
            <a:endParaRPr lang="en-US">
              <a:latin typeface="Grandview Display"/>
            </a:endParaRPr>
          </a:p>
          <a:p>
            <a:r>
              <a:rPr lang="en-US" b="1">
                <a:latin typeface="Aptos Display"/>
              </a:rPr>
              <a:t>Timeline –  2/3 months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A47CA3-281F-D5DF-A00B-A731D4C41D22}"/>
              </a:ext>
            </a:extLst>
          </p:cNvPr>
          <p:cNvSpPr txBox="1"/>
          <p:nvPr/>
        </p:nvSpPr>
        <p:spPr>
          <a:xfrm>
            <a:off x="5744512" y="1052491"/>
            <a:ext cx="5461256" cy="5693866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 Display"/>
              </a:rPr>
              <a:t>Cervical fracture</a:t>
            </a:r>
            <a:endParaRPr lang="en-US">
              <a:latin typeface="Grandview Display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Symptoms:</a:t>
            </a:r>
          </a:p>
          <a:p>
            <a:pPr marL="171450" indent="-1714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pain at the fracture site – on movement and when pressure is applied</a:t>
            </a:r>
          </a:p>
          <a:p>
            <a:pPr marL="171450" indent="-1714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reduced range of movement in the neck and surrounding areas</a:t>
            </a:r>
          </a:p>
          <a:p>
            <a:pPr marL="171450" indent="-1714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reduced muscle power in the neck muscles</a:t>
            </a:r>
          </a:p>
          <a:p>
            <a:pPr marL="171450" indent="-1714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reduced mobility</a:t>
            </a:r>
          </a:p>
          <a:p>
            <a:pPr marL="171450" indent="-1714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reduced balance</a:t>
            </a:r>
          </a:p>
          <a:p>
            <a:pPr marL="171450" indent="-1714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difficulty moving in bed or standing up from sitting</a:t>
            </a:r>
          </a:p>
          <a:p>
            <a:endParaRPr lang="en-US" sz="1400" b="1">
              <a:latin typeface="Calibri"/>
              <a:ea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Assessment:  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mechanism of injury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assessment of neck range of motion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neck pain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mid line cervical spine tenderness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CT scan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X-Ray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Sensory, motor, reflex examination</a:t>
            </a:r>
          </a:p>
          <a:p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Treatment: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Immobilization: with a rigid cervical collar - up to 8w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Pain management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Traction  up to - 12w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Airway Management if needed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Surgery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Rehab   </a:t>
            </a:r>
            <a:r>
              <a:rPr lang="en-US" sz="1400">
                <a:solidFill>
                  <a:srgbClr val="020621"/>
                </a:solidFill>
                <a:highlight>
                  <a:srgbClr val="FFFFFF"/>
                </a:highlight>
              </a:rPr>
              <a:t>                                        Healing time: 6mo-1year+</a:t>
            </a:r>
          </a:p>
        </p:txBody>
      </p:sp>
    </p:spTree>
    <p:extLst>
      <p:ext uri="{BB962C8B-B14F-4D97-AF65-F5344CB8AC3E}">
        <p14:creationId xmlns:p14="http://schemas.microsoft.com/office/powerpoint/2010/main" val="1318810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B4AAB42-45A0-E7CD-04BA-15F90A436831}"/>
              </a:ext>
            </a:extLst>
          </p:cNvPr>
          <p:cNvSpPr txBox="1">
            <a:spLocks/>
          </p:cNvSpPr>
          <p:nvPr/>
        </p:nvSpPr>
        <p:spPr>
          <a:xfrm>
            <a:off x="303903" y="127748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4. Instability/trauma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F1E73-BB91-FE76-8A5C-98FC7EB16626}"/>
              </a:ext>
            </a:extLst>
          </p:cNvPr>
          <p:cNvSpPr txBox="1"/>
          <p:nvPr/>
        </p:nvSpPr>
        <p:spPr>
          <a:xfrm>
            <a:off x="10778754" y="124210"/>
            <a:ext cx="133871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/>
              <a:t>Myroslava</a:t>
            </a:r>
          </a:p>
          <a:p>
            <a:r>
              <a:rPr lang="en-GB"/>
              <a:t>Joanna</a:t>
            </a:r>
          </a:p>
          <a:p>
            <a:r>
              <a:rPr lang="en-GB"/>
              <a:t>Stephanie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6A84E59E-8C34-AD2F-0255-31BA390165DA}"/>
              </a:ext>
            </a:extLst>
          </p:cNvPr>
          <p:cNvSpPr txBox="1"/>
          <p:nvPr/>
        </p:nvSpPr>
        <p:spPr>
          <a:xfrm>
            <a:off x="307264" y="849758"/>
            <a:ext cx="5213384" cy="563231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latin typeface="Aptos Display"/>
              </a:rPr>
              <a:t>Cervical facet dislocation</a:t>
            </a:r>
            <a:endParaRPr lang="en-US"/>
          </a:p>
          <a:p>
            <a:r>
              <a:rPr lang="en-US" b="1">
                <a:latin typeface="Aptos Display"/>
              </a:rPr>
              <a:t>Symptoms:  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severe neck pain( sudden onset)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Neck stiffness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Paresthesia in UL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Pain radiating in shoulder and UL</a:t>
            </a:r>
          </a:p>
          <a:p>
            <a:r>
              <a:rPr lang="en-US" b="1">
                <a:latin typeface="Aptos Display"/>
              </a:rPr>
              <a:t>Objective: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Restrictive ROM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Sensory loss and muscle weakness 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Reflex changes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Postural deformity and muscle spasm (muscle guarding)</a:t>
            </a:r>
          </a:p>
          <a:p>
            <a:r>
              <a:rPr lang="en-US" b="1">
                <a:latin typeface="Aptos Display"/>
              </a:rPr>
              <a:t>Treatment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Spinal immobilization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Education on posture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Bed mobility training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Pain management ( heat/cold application)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Deep neck flexors activation</a:t>
            </a:r>
          </a:p>
          <a:p>
            <a:pPr marL="285750" indent="-285750">
              <a:buFont typeface="Arial"/>
              <a:buChar char="•"/>
            </a:pPr>
            <a:endParaRPr lang="en-US" b="1">
              <a:latin typeface="Aptos Display"/>
            </a:endParaRPr>
          </a:p>
          <a:p>
            <a:r>
              <a:rPr lang="en-US" b="1">
                <a:latin typeface="Aptos Display"/>
              </a:rPr>
              <a:t>Healing timeline – 3/6 months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FBB0618-A6EA-5258-8F9E-84C1BA203141}"/>
              </a:ext>
            </a:extLst>
          </p:cNvPr>
          <p:cNvSpPr txBox="1"/>
          <p:nvPr/>
        </p:nvSpPr>
        <p:spPr>
          <a:xfrm>
            <a:off x="6094292" y="852988"/>
            <a:ext cx="4510984" cy="563231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latin typeface="Aptos Display"/>
              </a:rPr>
              <a:t>Cervical ligamentous sprain</a:t>
            </a:r>
            <a:endParaRPr lang="en-US"/>
          </a:p>
          <a:p>
            <a:r>
              <a:rPr lang="en-US" b="1">
                <a:latin typeface="Aptos Display"/>
              </a:rPr>
              <a:t>Symptoms: localized cervical pain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Stiffness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Occipital headache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Shoulder/ upper traps pain</a:t>
            </a:r>
          </a:p>
          <a:p>
            <a:r>
              <a:rPr lang="en-US" b="1">
                <a:latin typeface="Aptos Display"/>
              </a:rPr>
              <a:t>Assessment: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Reduced ROM 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Muscle spasm/guarding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Localized tenderness on palpation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Pain provoked with passive stretching ( positive ligament stress test)</a:t>
            </a:r>
          </a:p>
          <a:p>
            <a:r>
              <a:rPr lang="en-US" b="1">
                <a:latin typeface="Aptos Display"/>
              </a:rPr>
              <a:t>Treatment: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Patient education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Deep neck flexors activation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Stretching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Exercises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Display"/>
              </a:rPr>
              <a:t>Progressive cervical strengthening </a:t>
            </a:r>
          </a:p>
          <a:p>
            <a:endParaRPr lang="en-US">
              <a:latin typeface="Aptos Display"/>
            </a:endParaRPr>
          </a:p>
          <a:p>
            <a:r>
              <a:rPr lang="en-US" sz="1600" b="1">
                <a:latin typeface="Aptos Display"/>
              </a:rPr>
              <a:t>Healing timeline-  1-12 weeks (depending how severe the case is) </a:t>
            </a:r>
          </a:p>
        </p:txBody>
      </p:sp>
    </p:spTree>
    <p:extLst>
      <p:ext uri="{BB962C8B-B14F-4D97-AF65-F5344CB8AC3E}">
        <p14:creationId xmlns:p14="http://schemas.microsoft.com/office/powerpoint/2010/main" val="4167148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ADCF-B864-F09E-36A5-DD273E25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575275-D5B1-A375-FA24-0D013BEF57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3755845"/>
              </p:ext>
            </p:extLst>
          </p:nvPr>
        </p:nvGraphicFramePr>
        <p:xfrm>
          <a:off x="402376" y="1371601"/>
          <a:ext cx="11417425" cy="5078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3485">
                  <a:extLst>
                    <a:ext uri="{9D8B030D-6E8A-4147-A177-3AD203B41FA5}">
                      <a16:colId xmlns:a16="http://schemas.microsoft.com/office/drawing/2014/main" val="3858573737"/>
                    </a:ext>
                  </a:extLst>
                </a:gridCol>
                <a:gridCol w="2283485">
                  <a:extLst>
                    <a:ext uri="{9D8B030D-6E8A-4147-A177-3AD203B41FA5}">
                      <a16:colId xmlns:a16="http://schemas.microsoft.com/office/drawing/2014/main" val="3393729644"/>
                    </a:ext>
                  </a:extLst>
                </a:gridCol>
                <a:gridCol w="2283485">
                  <a:extLst>
                    <a:ext uri="{9D8B030D-6E8A-4147-A177-3AD203B41FA5}">
                      <a16:colId xmlns:a16="http://schemas.microsoft.com/office/drawing/2014/main" val="32233850"/>
                    </a:ext>
                  </a:extLst>
                </a:gridCol>
                <a:gridCol w="2283485">
                  <a:extLst>
                    <a:ext uri="{9D8B030D-6E8A-4147-A177-3AD203B41FA5}">
                      <a16:colId xmlns:a16="http://schemas.microsoft.com/office/drawing/2014/main" val="365419756"/>
                    </a:ext>
                  </a:extLst>
                </a:gridCol>
                <a:gridCol w="2283485">
                  <a:extLst>
                    <a:ext uri="{9D8B030D-6E8A-4147-A177-3AD203B41FA5}">
                      <a16:colId xmlns:a16="http://schemas.microsoft.com/office/drawing/2014/main" val="2233010271"/>
                    </a:ext>
                  </a:extLst>
                </a:gridCol>
              </a:tblGrid>
              <a:tr h="407406"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Condition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Subjective Symptoms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Objective Findings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2 Key Treatments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Timeline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extLst>
                  <a:ext uri="{0D108BD9-81ED-4DB2-BD59-A6C34878D82A}">
                    <a16:rowId xmlns:a16="http://schemas.microsoft.com/office/drawing/2014/main" val="1111450170"/>
                  </a:ext>
                </a:extLst>
              </a:tr>
              <a:tr h="1720158"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Cervical Radiculopathy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Neck → arm pain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Dermatomal paraesthesia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Myotomal weakness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Reduced reflexes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Worse ext/rotation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↓ Cervical AROM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 err="1">
                          <a:effectLst/>
                        </a:rPr>
                        <a:t>Neuro</a:t>
                      </a:r>
                      <a:r>
                        <a:rPr lang="en-GB" sz="1200" b="1">
                          <a:effectLst/>
                        </a:rPr>
                        <a:t> exam 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 err="1">
                          <a:effectLst/>
                        </a:rPr>
                        <a:t>Spurling’s</a:t>
                      </a:r>
                      <a:r>
                        <a:rPr lang="en-GB" sz="1200" b="1">
                          <a:effectLst/>
                        </a:rPr>
                        <a:t> positive</a:t>
                      </a: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Cervical traction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Deep neck flexor strengthening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6 weeks conservative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Refer 6–8 weeks if no improvement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Immediate if neuro worsening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extLst>
                  <a:ext uri="{0D108BD9-81ED-4DB2-BD59-A6C34878D82A}">
                    <a16:rowId xmlns:a16="http://schemas.microsoft.com/office/drawing/2014/main" val="3493803368"/>
                  </a:ext>
                </a:extLst>
              </a:tr>
              <a:tr h="147571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225"/>
                        </a:spcBef>
                        <a:spcAft>
                          <a:spcPts val="225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/>
                        <a:t>Occipital Neuralgia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r>
                        <a:rPr lang="en-GB" sz="1200" b="1"/>
                        <a:t>Sharp, shooting pain from base of skull</a:t>
                      </a:r>
                    </a:p>
                    <a:p>
                      <a:r>
                        <a:rPr lang="en-GB" sz="1200" b="1"/>
                        <a:t>Unilateral headache</a:t>
                      </a:r>
                    </a:p>
                    <a:p>
                      <a:r>
                        <a:rPr lang="en-GB" sz="1200" b="1"/>
                        <a:t>Tender scalp</a:t>
                      </a:r>
                    </a:p>
                    <a:p>
                      <a:r>
                        <a:rPr lang="en-GB" sz="1200" b="1"/>
                        <a:t>Pain aggravated by neck movement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r>
                        <a:rPr lang="en-GB" sz="1200" b="1"/>
                        <a:t>Palpation of greater occipital nerve (reproduction of pain)</a:t>
                      </a:r>
                    </a:p>
                    <a:p>
                      <a:r>
                        <a:rPr lang="en-GB" sz="1200" b="1"/>
                        <a:t>Upper cervical ROM testing</a:t>
                      </a:r>
                    </a:p>
                    <a:p>
                      <a:r>
                        <a:rPr lang="en-GB" sz="1200" b="1"/>
                        <a:t>Cervical joint assessment (C1–C3)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r>
                        <a:rPr lang="en-GB" sz="1200" b="1"/>
                        <a:t>Soft tissue release (</a:t>
                      </a:r>
                      <a:r>
                        <a:rPr lang="en-GB" sz="1200" b="1" err="1"/>
                        <a:t>suboccipitals</a:t>
                      </a:r>
                      <a:r>
                        <a:rPr lang="en-GB" sz="1200" b="1"/>
                        <a:t>)</a:t>
                      </a:r>
                    </a:p>
                    <a:p>
                      <a:r>
                        <a:rPr lang="en-GB" sz="1200" b="1"/>
                        <a:t>Postural correction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r>
                        <a:rPr lang="en-GB" sz="1200" b="1"/>
                        <a:t>4–6 weeks trial</a:t>
                      </a:r>
                    </a:p>
                    <a:p>
                      <a:r>
                        <a:rPr lang="en-GB" sz="1200" b="1"/>
                        <a:t>Manual therapy</a:t>
                      </a:r>
                    </a:p>
                    <a:p>
                      <a:r>
                        <a:rPr lang="en-GB" sz="1200" b="1"/>
                        <a:t>Postural correction</a:t>
                      </a:r>
                    </a:p>
                    <a:p>
                      <a:r>
                        <a:rPr lang="en-GB" sz="1200" b="1"/>
                        <a:t>Soft tissue release</a:t>
                      </a:r>
                    </a:p>
                    <a:p>
                      <a:r>
                        <a:rPr lang="en-GB" sz="1200" b="1"/>
                        <a:t>Education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extLst>
                  <a:ext uri="{0D108BD9-81ED-4DB2-BD59-A6C34878D82A}">
                    <a16:rowId xmlns:a16="http://schemas.microsoft.com/office/drawing/2014/main" val="835835633"/>
                  </a:ext>
                </a:extLst>
              </a:tr>
              <a:tr h="1475715"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Thoracic Outlet Syndrome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Diffuse arm pain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Whole-hand paraesthesia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Heaviness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Worse overhead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± Vascular symptoms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Postural deficits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Adson’s / Roos positive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1st rib restriction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Non-dermatomal pattern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Postural retraining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Scapular strengthening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6–12 weeks rehab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Refer 8–12 weeks if no improvement</a:t>
                      </a:r>
                    </a:p>
                    <a:p>
                      <a:pPr fontAlgn="t">
                        <a:spcBef>
                          <a:spcPts val="225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lang="en-GB" sz="1200" b="1">
                          <a:effectLst/>
                        </a:rPr>
                        <a:t>Immediate if vascular signs</a:t>
                      </a:r>
                      <a:endParaRPr lang="en-GB" sz="12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6" marR="61266" marT="30633" marB="30633"/>
                </a:tc>
                <a:extLst>
                  <a:ext uri="{0D108BD9-81ED-4DB2-BD59-A6C34878D82A}">
                    <a16:rowId xmlns:a16="http://schemas.microsoft.com/office/drawing/2014/main" val="24453354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1D2E84-71DE-368E-CB41-3EE25F9C5A18}"/>
              </a:ext>
            </a:extLst>
          </p:cNvPr>
          <p:cNvSpPr txBox="1"/>
          <p:nvPr/>
        </p:nvSpPr>
        <p:spPr>
          <a:xfrm>
            <a:off x="640078" y="150891"/>
            <a:ext cx="786011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3600" b="1"/>
              <a:t>5. Neural Conditions</a:t>
            </a:r>
            <a:endParaRPr lang="en-US" sz="3600" b="1"/>
          </a:p>
        </p:txBody>
      </p:sp>
    </p:spTree>
    <p:extLst>
      <p:ext uri="{BB962C8B-B14F-4D97-AF65-F5344CB8AC3E}">
        <p14:creationId xmlns:p14="http://schemas.microsoft.com/office/powerpoint/2010/main" val="58157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4657-D1A5-C0ED-5C78-5D1AA43E6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20" y="387404"/>
            <a:ext cx="10890929" cy="732024"/>
          </a:xfrm>
        </p:spPr>
        <p:txBody>
          <a:bodyPr>
            <a:normAutofit/>
          </a:bodyPr>
          <a:lstStyle/>
          <a:p>
            <a:r>
              <a:rPr lang="en-GB" sz="2800"/>
              <a:t>6. Inflammatory / Systemic </a:t>
            </a:r>
            <a:r>
              <a:rPr lang="en-GB" sz="1800"/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E71C2-908B-A4D4-61C6-7B422818033D}"/>
              </a:ext>
            </a:extLst>
          </p:cNvPr>
          <p:cNvSpPr txBox="1"/>
          <p:nvPr/>
        </p:nvSpPr>
        <p:spPr>
          <a:xfrm>
            <a:off x="496576" y="1116933"/>
            <a:ext cx="11794841" cy="63171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550" b="1" u="sng"/>
              <a:t>Subjective Symptoms: (Red flags...)</a:t>
            </a:r>
            <a:br>
              <a:rPr lang="en-GB" sz="1550"/>
            </a:br>
            <a:br>
              <a:rPr lang="en-GB" sz="1550"/>
            </a:br>
            <a:r>
              <a:rPr lang="en-GB" sz="1550"/>
              <a:t>1 – Constant/unrelenting pain</a:t>
            </a:r>
          </a:p>
          <a:p>
            <a:r>
              <a:rPr lang="en-GB" sz="1550"/>
              <a:t>2- Fever &amp; chills, night </a:t>
            </a:r>
            <a:r>
              <a:rPr lang="en-GB" sz="1550" err="1"/>
              <a:t>swea</a:t>
            </a:r>
            <a:r>
              <a:rPr lang="en-GB" sz="1550"/>
              <a:t>ts </a:t>
            </a:r>
          </a:p>
          <a:p>
            <a:r>
              <a:rPr lang="en-GB" sz="1550"/>
              <a:t>3- Unexplained weight loss </a:t>
            </a:r>
            <a:br>
              <a:rPr lang="en-GB" sz="1550"/>
            </a:br>
            <a:r>
              <a:rPr lang="en-GB" sz="1550"/>
              <a:t>4- Persistent fatigue </a:t>
            </a:r>
            <a:br>
              <a:rPr lang="en-GB" sz="1550"/>
            </a:br>
            <a:br>
              <a:rPr lang="en-GB" sz="1550"/>
            </a:br>
            <a:r>
              <a:rPr lang="en-GB" sz="1550" b="1" u="sng"/>
              <a:t>Objective Symptoms: </a:t>
            </a:r>
            <a:br>
              <a:rPr lang="en-GB" sz="1550"/>
            </a:br>
            <a:r>
              <a:rPr lang="en-GB" sz="1550"/>
              <a:t>1- Reduced ROM </a:t>
            </a:r>
          </a:p>
          <a:p>
            <a:r>
              <a:rPr lang="en-GB" sz="1550"/>
              <a:t>2 – Neuro deficits: Myelopathy – gait instability, hand clumsiness, spasticity. Radiculopathy – Reduced reflexes, muscle weakness </a:t>
            </a:r>
            <a:br>
              <a:rPr lang="en-GB" sz="1550"/>
            </a:br>
            <a:r>
              <a:rPr lang="en-GB" sz="1550"/>
              <a:t>3- Raised inflammatory markers (blood testing) </a:t>
            </a:r>
          </a:p>
          <a:p>
            <a:br>
              <a:rPr lang="en-GB" sz="1550"/>
            </a:br>
            <a:r>
              <a:rPr lang="en-GB" sz="1550" b="1" u="sng"/>
              <a:t>Best treatment:</a:t>
            </a:r>
            <a:r>
              <a:rPr lang="en-GB" sz="1550" b="1"/>
              <a:t> </a:t>
            </a:r>
            <a:br>
              <a:rPr lang="en-GB" sz="1550"/>
            </a:br>
            <a:r>
              <a:rPr lang="en-GB" sz="1550"/>
              <a:t>1- Physical therapy – isometrics (resisted lateral flexion) , stretching (lev </a:t>
            </a:r>
            <a:r>
              <a:rPr lang="en-GB" sz="1550" err="1"/>
              <a:t>scap</a:t>
            </a:r>
            <a:r>
              <a:rPr lang="en-GB" sz="1550"/>
              <a:t> stretch),  Mobility (chin tucks, rotations) </a:t>
            </a:r>
            <a:br>
              <a:rPr lang="en-GB" sz="1550"/>
            </a:br>
            <a:r>
              <a:rPr lang="en-GB" sz="1550"/>
              <a:t>2- Postural Adjustment – education on postural alignment </a:t>
            </a:r>
          </a:p>
          <a:p>
            <a:r>
              <a:rPr lang="en-GB" sz="1550"/>
              <a:t>3- Traction</a:t>
            </a:r>
            <a:br>
              <a:rPr lang="en-GB" sz="1550"/>
            </a:br>
            <a:r>
              <a:rPr lang="en-GB" sz="1550"/>
              <a:t>4- Heat and cold therapy – reduces stiffness and pain</a:t>
            </a:r>
            <a:br>
              <a:rPr lang="en-GB" sz="1550"/>
            </a:br>
            <a:r>
              <a:rPr lang="en-GB" sz="1550"/>
              <a:t>5- DMARDs (medical) aggressive </a:t>
            </a:r>
            <a:r>
              <a:rPr lang="en-GB" sz="1550" err="1"/>
              <a:t>tx</a:t>
            </a:r>
            <a:r>
              <a:rPr lang="en-GB" sz="1550"/>
              <a:t> – suppress overactive immune response </a:t>
            </a:r>
            <a:br>
              <a:rPr lang="en-GB" sz="1550"/>
            </a:br>
            <a:br>
              <a:rPr lang="en-GB" sz="1550"/>
            </a:br>
            <a:r>
              <a:rPr lang="en-GB" sz="1550" b="1" u="sng"/>
              <a:t>Timeline:</a:t>
            </a:r>
          </a:p>
          <a:p>
            <a:r>
              <a:rPr lang="en-GB" sz="1550"/>
              <a:t>Acute – can see improvements in 1-7 days </a:t>
            </a:r>
            <a:br>
              <a:rPr lang="en-GB" sz="1550"/>
            </a:br>
            <a:r>
              <a:rPr lang="en-GB" sz="1550"/>
              <a:t>Subacute – 2-12 weeks </a:t>
            </a:r>
          </a:p>
          <a:p>
            <a:r>
              <a:rPr lang="en-GB" sz="1550"/>
              <a:t>Long-term recovery – 3-12 months </a:t>
            </a:r>
            <a:r>
              <a:rPr lang="en-GB" sz="1600"/>
              <a:t> </a:t>
            </a:r>
            <a:br>
              <a:rPr lang="en-GB" sz="1600"/>
            </a:br>
            <a:br>
              <a:rPr lang="en-GB" sz="1600"/>
            </a:br>
            <a:endParaRPr lang="en-GB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BAB5D-D080-9777-56B0-0452EC6CC1D3}"/>
              </a:ext>
            </a:extLst>
          </p:cNvPr>
          <p:cNvSpPr txBox="1"/>
          <p:nvPr/>
        </p:nvSpPr>
        <p:spPr>
          <a:xfrm>
            <a:off x="6618693" y="1117811"/>
            <a:ext cx="4357885" cy="15619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550" u="sng" baseline="0">
                <a:latin typeface="Grandview Display"/>
              </a:rPr>
              <a:t>Rheumatoid </a:t>
            </a:r>
            <a:r>
              <a:rPr lang="en-GB" sz="1550" u="sng">
                <a:latin typeface="Grandview Display"/>
              </a:rPr>
              <a:t>Arthritis</a:t>
            </a:r>
            <a:r>
              <a:rPr lang="en-GB" sz="1550" u="sng" baseline="0">
                <a:latin typeface="Grandview Display"/>
              </a:rPr>
              <a:t> </a:t>
            </a:r>
            <a:r>
              <a:rPr lang="en-GB" sz="1550" u="sng">
                <a:latin typeface="Grandview Display"/>
              </a:rPr>
              <a:t>&gt; can lead to </a:t>
            </a:r>
            <a:r>
              <a:rPr lang="en-GB" sz="1550" u="sng" err="1">
                <a:latin typeface="Grandview Display"/>
              </a:rPr>
              <a:t>atlanto</a:t>
            </a:r>
            <a:r>
              <a:rPr lang="en-GB" sz="1550" u="sng">
                <a:latin typeface="Grandview Display"/>
              </a:rPr>
              <a:t>-axial</a:t>
            </a:r>
            <a:r>
              <a:rPr lang="en-GB" sz="1550" u="sng" baseline="0">
                <a:latin typeface="Grandview Display"/>
              </a:rPr>
              <a:t> joint </a:t>
            </a:r>
            <a:r>
              <a:rPr lang="en-GB" sz="1550" u="sng">
                <a:latin typeface="Grandview Display"/>
              </a:rPr>
              <a:t>subluxation </a:t>
            </a:r>
            <a:r>
              <a:rPr lang="en-GB" sz="1550" u="sng">
                <a:latin typeface="Grandview Display"/>
                <a:ea typeface="Grandview Display"/>
                <a:cs typeface="Grandview Display"/>
              </a:rPr>
              <a:t>​</a:t>
            </a:r>
            <a:br>
              <a:rPr lang="en-GB" sz="1550" u="sng">
                <a:latin typeface="Grandview Display"/>
                <a:ea typeface="Grandview Display"/>
                <a:cs typeface="Grandview Display"/>
              </a:rPr>
            </a:br>
            <a:br>
              <a:rPr lang="en-GB" sz="1550" u="sng">
                <a:latin typeface="Grandview Display"/>
              </a:rPr>
            </a:br>
            <a:r>
              <a:rPr lang="en-GB" sz="1550" u="sng">
                <a:latin typeface="Grandview Display"/>
              </a:rPr>
              <a:t>Ankylosing</a:t>
            </a:r>
            <a:r>
              <a:rPr lang="en-GB" sz="1550" u="sng" baseline="0">
                <a:latin typeface="Grandview Display"/>
              </a:rPr>
              <a:t> Spondylitis </a:t>
            </a:r>
            <a:r>
              <a:rPr lang="en-GB" sz="1550" u="sng">
                <a:latin typeface="Grandview Display"/>
              </a:rPr>
              <a:t>&gt; </a:t>
            </a:r>
            <a:r>
              <a:rPr lang="en-GB" sz="1550" u="sng" baseline="0">
                <a:latin typeface="Grandview Display"/>
              </a:rPr>
              <a:t>fusion and stiffening of </a:t>
            </a:r>
            <a:r>
              <a:rPr lang="en-GB" sz="1550" u="sng">
                <a:latin typeface="Grandview Display"/>
              </a:rPr>
              <a:t>cervical</a:t>
            </a:r>
            <a:r>
              <a:rPr lang="en-GB" sz="1550" u="sng" baseline="0">
                <a:latin typeface="Grandview Display"/>
              </a:rPr>
              <a:t> vertebrae</a:t>
            </a:r>
            <a:endParaRPr lang="en-GB" sz="1550" u="sng"/>
          </a:p>
          <a:p>
            <a:pPr algn="ctr"/>
            <a:endParaRPr lang="en-GB" u="sng"/>
          </a:p>
        </p:txBody>
      </p:sp>
    </p:spTree>
    <p:extLst>
      <p:ext uri="{BB962C8B-B14F-4D97-AF65-F5344CB8AC3E}">
        <p14:creationId xmlns:p14="http://schemas.microsoft.com/office/powerpoint/2010/main" val="324474966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628DB09FCE764290E46A1B6C359115" ma:contentTypeVersion="17" ma:contentTypeDescription="Create a new document." ma:contentTypeScope="" ma:versionID="227a14cd304d008bf8dfa37231fc8f7f">
  <xsd:schema xmlns:xsd="http://www.w3.org/2001/XMLSchema" xmlns:xs="http://www.w3.org/2001/XMLSchema" xmlns:p="http://schemas.microsoft.com/office/2006/metadata/properties" xmlns:ns1="http://schemas.microsoft.com/sharepoint/v3" xmlns:ns2="d2b5dd86-b93b-4885-be60-5ed0673707fa" xmlns:ns3="65debe70-4daa-4d6a-8ecc-9fc8c263d183" targetNamespace="http://schemas.microsoft.com/office/2006/metadata/properties" ma:root="true" ma:fieldsID="61f36e5aaf99bf8d6678b3772865a1d1" ns1:_="" ns2:_="" ns3:_="">
    <xsd:import namespace="http://schemas.microsoft.com/sharepoint/v3"/>
    <xsd:import namespace="d2b5dd86-b93b-4885-be60-5ed0673707fa"/>
    <xsd:import namespace="65debe70-4daa-4d6a-8ecc-9fc8c263d18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SearchPropertie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b5dd86-b93b-4885-be60-5ed0673707f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157f23b-4936-4da1-b1a0-d7d41e84ed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debe70-4daa-4d6a-8ecc-9fc8c263d18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7455907-50fd-47e0-a232-8d490f849a9b}" ma:internalName="TaxCatchAll" ma:showField="CatchAllData" ma:web="65debe70-4daa-4d6a-8ecc-9fc8c263d1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d2b5dd86-b93b-4885-be60-5ed0673707fa">
      <Terms xmlns="http://schemas.microsoft.com/office/infopath/2007/PartnerControls"/>
    </lcf76f155ced4ddcb4097134ff3c332f>
    <_ip_UnifiedCompliancePolicyProperties xmlns="http://schemas.microsoft.com/sharepoint/v3" xsi:nil="true"/>
    <TaxCatchAll xmlns="65debe70-4daa-4d6a-8ecc-9fc8c263d183" xsi:nil="true"/>
  </documentManagement>
</p:properties>
</file>

<file path=customXml/itemProps1.xml><?xml version="1.0" encoding="utf-8"?>
<ds:datastoreItem xmlns:ds="http://schemas.openxmlformats.org/officeDocument/2006/customXml" ds:itemID="{7DE32CB2-9A48-45CD-9D7C-1DFD449A36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721592-CB93-4A07-8D60-787BED3BF9FB}">
  <ds:schemaRefs>
    <ds:schemaRef ds:uri="65debe70-4daa-4d6a-8ecc-9fc8c263d183"/>
    <ds:schemaRef ds:uri="d2b5dd86-b93b-4885-be60-5ed0673707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C03698A-A3B0-4DF3-998D-D8BE2C1401F4}">
  <ds:schemaRefs>
    <ds:schemaRef ds:uri="65debe70-4daa-4d6a-8ecc-9fc8c263d183"/>
    <ds:schemaRef ds:uri="d2b5dd86-b93b-4885-be60-5ed0673707fa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DashVTI</vt:lpstr>
      <vt:lpstr>Cervical Spine Diagnoses &amp; Management</vt:lpstr>
      <vt:lpstr>Here are our groups of Cervical Diagnoses</vt:lpstr>
      <vt:lpstr>With your group:  1. Create a slide (Insert &gt; New Slide) 2. List out 3-4 common subjective symptoms 3. List out 3-4 common objective details 4. List 2 best treatments 5. Expected timeline for healing</vt:lpstr>
      <vt:lpstr>Example: 7. Non-MSK Neck Pain (Slide 1)</vt:lpstr>
      <vt:lpstr>Example: 7. Non-MSK Neck Pain (Slide 2)</vt:lpstr>
      <vt:lpstr>Degenerative Conditions </vt:lpstr>
      <vt:lpstr>2. Disc pathology </vt:lpstr>
      <vt:lpstr>3. Mechanical/Postural pain</vt:lpstr>
      <vt:lpstr>4. Instability/trauma</vt:lpstr>
      <vt:lpstr>PowerPoint Presentation</vt:lpstr>
      <vt:lpstr>PowerPoint Presentation</vt:lpstr>
      <vt:lpstr>6. Inflammatory / Systemic 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Cervical Spine Diagnoses &amp; Management</dc:title>
  <dc:creator/>
  <cp:revision>2</cp:revision>
  <dcterms:created xsi:type="dcterms:W3CDTF">2026-02-17T09:42:23Z</dcterms:created>
  <dcterms:modified xsi:type="dcterms:W3CDTF">2026-02-19T16:44:30Z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0x01010065628DB09FCE764290E46A1B6C359115</vt:lpwstr>
  </property>
  <property fmtid="{D5CDD505-2E9C-101B-9397-08002B2CF9AE}" pid="3" name="MediaServiceImageTags">
    <vt:lpwstr/>
  </property>
</Properties>
</file>