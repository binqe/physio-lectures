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56" r:id="rId3"/>
    <p:sldId id="257" r:id="rId4"/>
    <p:sldId id="260" r:id="rId5"/>
    <p:sldId id="261" r:id="rId6"/>
    <p:sldId id="262" r:id="rId7"/>
    <p:sldId id="263" r:id="rId8"/>
    <p:sldId id="264" r:id="rId9"/>
    <p:sldId id="258" r:id="rId10"/>
    <p:sldId id="294" r:id="rId11"/>
    <p:sldId id="259" r:id="rId12"/>
    <p:sldId id="280" r:id="rId13"/>
    <p:sldId id="265" r:id="rId14"/>
    <p:sldId id="267" r:id="rId15"/>
    <p:sldId id="266" r:id="rId16"/>
    <p:sldId id="268" r:id="rId17"/>
    <p:sldId id="269" r:id="rId18"/>
    <p:sldId id="270" r:id="rId19"/>
    <p:sldId id="271" r:id="rId20"/>
    <p:sldId id="272" r:id="rId21"/>
    <p:sldId id="273" r:id="rId22"/>
    <p:sldId id="282" r:id="rId23"/>
    <p:sldId id="293" r:id="rId24"/>
    <p:sldId id="275" r:id="rId25"/>
    <p:sldId id="281" r:id="rId26"/>
    <p:sldId id="279" r:id="rId27"/>
    <p:sldId id="283" r:id="rId28"/>
    <p:sldId id="295" r:id="rId29"/>
    <p:sldId id="285" r:id="rId30"/>
    <p:sldId id="284" r:id="rId31"/>
    <p:sldId id="286" r:id="rId32"/>
    <p:sldId id="287" r:id="rId33"/>
    <p:sldId id="274" r:id="rId34"/>
    <p:sldId id="276" r:id="rId35"/>
    <p:sldId id="277" r:id="rId36"/>
    <p:sldId id="289" r:id="rId37"/>
    <p:sldId id="288" r:id="rId38"/>
    <p:sldId id="290" r:id="rId39"/>
    <p:sldId id="291" r:id="rId40"/>
    <p:sldId id="29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slide" Target="slides/slide39.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31FD53-2179-41EF-BB78-650A950CF382}" type="doc">
      <dgm:prSet loTypeId="urn:microsoft.com/office/officeart/2016/7/layout/BasicLinearProcessNumbered" loCatId="process" qsTypeId="urn:microsoft.com/office/officeart/2005/8/quickstyle/simple5" qsCatId="simple" csTypeId="urn:microsoft.com/office/officeart/2005/8/colors/colorful5" csCatId="colorful"/>
      <dgm:spPr/>
      <dgm:t>
        <a:bodyPr/>
        <a:lstStyle/>
        <a:p>
          <a:endParaRPr lang="en-US"/>
        </a:p>
      </dgm:t>
    </dgm:pt>
    <dgm:pt modelId="{429CE6BC-6891-4E95-A550-6771B60C361D}">
      <dgm:prSet/>
      <dgm:spPr/>
      <dgm:t>
        <a:bodyPr/>
        <a:lstStyle/>
        <a:p>
          <a:r>
            <a:rPr lang="en-GB"/>
            <a:t>Describe the structure of MSK clinical pathways in the UK.</a:t>
          </a:r>
          <a:endParaRPr lang="en-US"/>
        </a:p>
      </dgm:t>
    </dgm:pt>
    <dgm:pt modelId="{90B9B0E3-ABBC-4396-B0B7-269E17251BAF}" type="parTrans" cxnId="{2C7E7229-2B3E-49FE-AD9D-E5B2FB040E8E}">
      <dgm:prSet/>
      <dgm:spPr/>
      <dgm:t>
        <a:bodyPr/>
        <a:lstStyle/>
        <a:p>
          <a:endParaRPr lang="en-US"/>
        </a:p>
      </dgm:t>
    </dgm:pt>
    <dgm:pt modelId="{23A88D82-EF3E-4FC9-95C0-3C55398BB6CA}" type="sibTrans" cxnId="{2C7E7229-2B3E-49FE-AD9D-E5B2FB040E8E}">
      <dgm:prSet phldrT="1"/>
      <dgm:spPr/>
      <dgm:t>
        <a:bodyPr/>
        <a:lstStyle/>
        <a:p>
          <a:r>
            <a:rPr lang="en-US"/>
            <a:t>1</a:t>
          </a:r>
        </a:p>
      </dgm:t>
    </dgm:pt>
    <dgm:pt modelId="{4881F9A2-E0F4-43E4-880D-8E3A0496D7FA}">
      <dgm:prSet/>
      <dgm:spPr/>
      <dgm:t>
        <a:bodyPr/>
        <a:lstStyle/>
        <a:p>
          <a:r>
            <a:rPr lang="en-GB"/>
            <a:t>Explain referral processes, triage systems, and the role of APPs in MSK pathways.</a:t>
          </a:r>
          <a:endParaRPr lang="en-US"/>
        </a:p>
      </dgm:t>
    </dgm:pt>
    <dgm:pt modelId="{906C425B-B80D-476F-A7E2-C57208FC72AF}" type="parTrans" cxnId="{6862E4CD-EFAB-4DDE-9C9B-4D5D02F23D76}">
      <dgm:prSet/>
      <dgm:spPr/>
      <dgm:t>
        <a:bodyPr/>
        <a:lstStyle/>
        <a:p>
          <a:endParaRPr lang="en-US"/>
        </a:p>
      </dgm:t>
    </dgm:pt>
    <dgm:pt modelId="{991A8505-6E74-4DF5-952D-8CB21424E301}" type="sibTrans" cxnId="{6862E4CD-EFAB-4DDE-9C9B-4D5D02F23D76}">
      <dgm:prSet phldrT="2"/>
      <dgm:spPr/>
      <dgm:t>
        <a:bodyPr/>
        <a:lstStyle/>
        <a:p>
          <a:r>
            <a:rPr lang="en-US"/>
            <a:t>2</a:t>
          </a:r>
        </a:p>
      </dgm:t>
    </dgm:pt>
    <dgm:pt modelId="{1BFA3B27-D457-49E3-BD51-20097C5BEC42}">
      <dgm:prSet/>
      <dgm:spPr/>
      <dgm:t>
        <a:bodyPr/>
        <a:lstStyle/>
        <a:p>
          <a:r>
            <a:rPr lang="en-GB"/>
            <a:t>Recognise red flag presentations and understand their impact on clinical decision-making and referral urgency.</a:t>
          </a:r>
          <a:endParaRPr lang="en-US"/>
        </a:p>
      </dgm:t>
    </dgm:pt>
    <dgm:pt modelId="{1CAFCB66-F753-419C-A834-11962E19CCD0}" type="parTrans" cxnId="{C4F53DDA-1805-4B56-845A-1DD1E455BD57}">
      <dgm:prSet/>
      <dgm:spPr/>
      <dgm:t>
        <a:bodyPr/>
        <a:lstStyle/>
        <a:p>
          <a:endParaRPr lang="en-US"/>
        </a:p>
      </dgm:t>
    </dgm:pt>
    <dgm:pt modelId="{4DC59A40-267C-4DB8-9197-C95D3D669E19}" type="sibTrans" cxnId="{C4F53DDA-1805-4B56-845A-1DD1E455BD57}">
      <dgm:prSet phldrT="3"/>
      <dgm:spPr/>
      <dgm:t>
        <a:bodyPr/>
        <a:lstStyle/>
        <a:p>
          <a:r>
            <a:rPr lang="en-US"/>
            <a:t>3</a:t>
          </a:r>
        </a:p>
      </dgm:t>
    </dgm:pt>
    <dgm:pt modelId="{D5CFE305-8933-479B-A542-9131A0D6BF50}">
      <dgm:prSet/>
      <dgm:spPr/>
      <dgm:t>
        <a:bodyPr/>
        <a:lstStyle/>
        <a:p>
          <a:r>
            <a:rPr lang="en-GB"/>
            <a:t>Evaluate the importance of interprofessional collaboration and communication within MSK care pathways.</a:t>
          </a:r>
          <a:endParaRPr lang="en-US"/>
        </a:p>
      </dgm:t>
    </dgm:pt>
    <dgm:pt modelId="{739D92D6-E97E-473E-89DC-AA55CA60BE9C}" type="parTrans" cxnId="{DE9FB6D4-6AE8-4704-B517-6F5E2325604D}">
      <dgm:prSet/>
      <dgm:spPr/>
      <dgm:t>
        <a:bodyPr/>
        <a:lstStyle/>
        <a:p>
          <a:endParaRPr lang="en-US"/>
        </a:p>
      </dgm:t>
    </dgm:pt>
    <dgm:pt modelId="{836D51B7-EAD6-4DE9-974D-85B529FA1808}" type="sibTrans" cxnId="{DE9FB6D4-6AE8-4704-B517-6F5E2325604D}">
      <dgm:prSet phldrT="4"/>
      <dgm:spPr/>
      <dgm:t>
        <a:bodyPr/>
        <a:lstStyle/>
        <a:p>
          <a:r>
            <a:rPr lang="en-US"/>
            <a:t>4</a:t>
          </a:r>
        </a:p>
      </dgm:t>
    </dgm:pt>
    <dgm:pt modelId="{273CA5E1-90A3-4A8D-96BE-7E616CE418DE}">
      <dgm:prSet/>
      <dgm:spPr/>
      <dgm:t>
        <a:bodyPr/>
        <a:lstStyle/>
        <a:p>
          <a:r>
            <a:rPr lang="en-GB"/>
            <a:t>Reflect on the influence of clinical pathways on patient experience, accessibility, and continuity of care.</a:t>
          </a:r>
          <a:endParaRPr lang="en-US"/>
        </a:p>
      </dgm:t>
    </dgm:pt>
    <dgm:pt modelId="{5FAD6F1D-2522-461E-B69A-452FB9162E1D}" type="parTrans" cxnId="{F3386915-DA8D-442C-90E6-5DB38C934BA8}">
      <dgm:prSet/>
      <dgm:spPr/>
      <dgm:t>
        <a:bodyPr/>
        <a:lstStyle/>
        <a:p>
          <a:endParaRPr lang="en-US"/>
        </a:p>
      </dgm:t>
    </dgm:pt>
    <dgm:pt modelId="{1DB8D2A9-3849-4E0D-8C97-910910A3B7C0}" type="sibTrans" cxnId="{F3386915-DA8D-442C-90E6-5DB38C934BA8}">
      <dgm:prSet phldrT="5"/>
      <dgm:spPr/>
      <dgm:t>
        <a:bodyPr/>
        <a:lstStyle/>
        <a:p>
          <a:r>
            <a:rPr lang="en-US"/>
            <a:t>5</a:t>
          </a:r>
        </a:p>
      </dgm:t>
    </dgm:pt>
    <dgm:pt modelId="{749DF3CA-BF26-492F-AB9E-6B204BA8ECCB}">
      <dgm:prSet/>
      <dgm:spPr/>
      <dgm:t>
        <a:bodyPr/>
        <a:lstStyle/>
        <a:p>
          <a:r>
            <a:rPr lang="en-GB"/>
            <a:t>Understand how national guidelines  inform MSK clinical pathways and physiotherapy practice.</a:t>
          </a:r>
          <a:endParaRPr lang="en-US"/>
        </a:p>
      </dgm:t>
    </dgm:pt>
    <dgm:pt modelId="{436DD077-F636-4C3C-B793-CAB988AE1835}" type="parTrans" cxnId="{1B999AB5-2845-454A-9DE4-0741EED71A52}">
      <dgm:prSet/>
      <dgm:spPr/>
      <dgm:t>
        <a:bodyPr/>
        <a:lstStyle/>
        <a:p>
          <a:endParaRPr lang="en-US"/>
        </a:p>
      </dgm:t>
    </dgm:pt>
    <dgm:pt modelId="{1BF3C0AB-64FF-41EE-A9F2-E30F1CD7D914}" type="sibTrans" cxnId="{1B999AB5-2845-454A-9DE4-0741EED71A52}">
      <dgm:prSet phldrT="6"/>
      <dgm:spPr/>
      <dgm:t>
        <a:bodyPr/>
        <a:lstStyle/>
        <a:p>
          <a:r>
            <a:rPr lang="en-US"/>
            <a:t>6</a:t>
          </a:r>
        </a:p>
      </dgm:t>
    </dgm:pt>
    <dgm:pt modelId="{AE9446B7-DABE-44CF-AE4D-EC1971D5D067}" type="pres">
      <dgm:prSet presAssocID="{EC31FD53-2179-41EF-BB78-650A950CF382}" presName="Name0" presStyleCnt="0">
        <dgm:presLayoutVars>
          <dgm:animLvl val="lvl"/>
          <dgm:resizeHandles val="exact"/>
        </dgm:presLayoutVars>
      </dgm:prSet>
      <dgm:spPr/>
    </dgm:pt>
    <dgm:pt modelId="{6CED4000-D185-4AD4-9BCE-B2DDFD45F2CA}" type="pres">
      <dgm:prSet presAssocID="{429CE6BC-6891-4E95-A550-6771B60C361D}" presName="compositeNode" presStyleCnt="0">
        <dgm:presLayoutVars>
          <dgm:bulletEnabled val="1"/>
        </dgm:presLayoutVars>
      </dgm:prSet>
      <dgm:spPr/>
    </dgm:pt>
    <dgm:pt modelId="{3AEBF306-8990-47F6-8FA4-68F15F1CB8F4}" type="pres">
      <dgm:prSet presAssocID="{429CE6BC-6891-4E95-A550-6771B60C361D}" presName="bgRect" presStyleLbl="bgAccFollowNode1" presStyleIdx="0" presStyleCnt="6"/>
      <dgm:spPr/>
    </dgm:pt>
    <dgm:pt modelId="{0AECF012-4416-4590-BAC5-C86E1D9CD5A6}" type="pres">
      <dgm:prSet presAssocID="{23A88D82-EF3E-4FC9-95C0-3C55398BB6CA}" presName="sibTransNodeCircle" presStyleLbl="alignNode1" presStyleIdx="0" presStyleCnt="12">
        <dgm:presLayoutVars>
          <dgm:chMax val="0"/>
          <dgm:bulletEnabled/>
        </dgm:presLayoutVars>
      </dgm:prSet>
      <dgm:spPr/>
    </dgm:pt>
    <dgm:pt modelId="{04E9E7C6-67BC-4DFA-9D37-94FE302F63B6}" type="pres">
      <dgm:prSet presAssocID="{429CE6BC-6891-4E95-A550-6771B60C361D}" presName="bottomLine" presStyleLbl="alignNode1" presStyleIdx="1" presStyleCnt="12">
        <dgm:presLayoutVars/>
      </dgm:prSet>
      <dgm:spPr/>
    </dgm:pt>
    <dgm:pt modelId="{E95C8E00-E834-4A64-A1E9-1038EBD476DA}" type="pres">
      <dgm:prSet presAssocID="{429CE6BC-6891-4E95-A550-6771B60C361D}" presName="nodeText" presStyleLbl="bgAccFollowNode1" presStyleIdx="0" presStyleCnt="6">
        <dgm:presLayoutVars>
          <dgm:bulletEnabled val="1"/>
        </dgm:presLayoutVars>
      </dgm:prSet>
      <dgm:spPr/>
    </dgm:pt>
    <dgm:pt modelId="{AA7415F2-6228-4977-B120-35C9445FD08B}" type="pres">
      <dgm:prSet presAssocID="{23A88D82-EF3E-4FC9-95C0-3C55398BB6CA}" presName="sibTrans" presStyleCnt="0"/>
      <dgm:spPr/>
    </dgm:pt>
    <dgm:pt modelId="{978DBC42-A1E2-451D-A7E1-06F262CDECE2}" type="pres">
      <dgm:prSet presAssocID="{4881F9A2-E0F4-43E4-880D-8E3A0496D7FA}" presName="compositeNode" presStyleCnt="0">
        <dgm:presLayoutVars>
          <dgm:bulletEnabled val="1"/>
        </dgm:presLayoutVars>
      </dgm:prSet>
      <dgm:spPr/>
    </dgm:pt>
    <dgm:pt modelId="{ED27C1FF-C766-4ADE-A813-4F2EA9126E1E}" type="pres">
      <dgm:prSet presAssocID="{4881F9A2-E0F4-43E4-880D-8E3A0496D7FA}" presName="bgRect" presStyleLbl="bgAccFollowNode1" presStyleIdx="1" presStyleCnt="6"/>
      <dgm:spPr/>
    </dgm:pt>
    <dgm:pt modelId="{45AC30F3-D3E0-41E5-8C39-C013920F391B}" type="pres">
      <dgm:prSet presAssocID="{991A8505-6E74-4DF5-952D-8CB21424E301}" presName="sibTransNodeCircle" presStyleLbl="alignNode1" presStyleIdx="2" presStyleCnt="12">
        <dgm:presLayoutVars>
          <dgm:chMax val="0"/>
          <dgm:bulletEnabled/>
        </dgm:presLayoutVars>
      </dgm:prSet>
      <dgm:spPr/>
    </dgm:pt>
    <dgm:pt modelId="{E8F85BC2-054F-4B78-8BC8-F46A813049C3}" type="pres">
      <dgm:prSet presAssocID="{4881F9A2-E0F4-43E4-880D-8E3A0496D7FA}" presName="bottomLine" presStyleLbl="alignNode1" presStyleIdx="3" presStyleCnt="12">
        <dgm:presLayoutVars/>
      </dgm:prSet>
      <dgm:spPr/>
    </dgm:pt>
    <dgm:pt modelId="{67FE016B-4003-4924-A1D5-D9FF7C290F1C}" type="pres">
      <dgm:prSet presAssocID="{4881F9A2-E0F4-43E4-880D-8E3A0496D7FA}" presName="nodeText" presStyleLbl="bgAccFollowNode1" presStyleIdx="1" presStyleCnt="6">
        <dgm:presLayoutVars>
          <dgm:bulletEnabled val="1"/>
        </dgm:presLayoutVars>
      </dgm:prSet>
      <dgm:spPr/>
    </dgm:pt>
    <dgm:pt modelId="{09A05339-BD97-463B-A3CD-40AE390B3DB7}" type="pres">
      <dgm:prSet presAssocID="{991A8505-6E74-4DF5-952D-8CB21424E301}" presName="sibTrans" presStyleCnt="0"/>
      <dgm:spPr/>
    </dgm:pt>
    <dgm:pt modelId="{43A30C1A-8397-4A63-A1AA-0048F033A9D0}" type="pres">
      <dgm:prSet presAssocID="{1BFA3B27-D457-49E3-BD51-20097C5BEC42}" presName="compositeNode" presStyleCnt="0">
        <dgm:presLayoutVars>
          <dgm:bulletEnabled val="1"/>
        </dgm:presLayoutVars>
      </dgm:prSet>
      <dgm:spPr/>
    </dgm:pt>
    <dgm:pt modelId="{C429BE67-DD54-46A5-A2D8-11DC074D2A4C}" type="pres">
      <dgm:prSet presAssocID="{1BFA3B27-D457-49E3-BD51-20097C5BEC42}" presName="bgRect" presStyleLbl="bgAccFollowNode1" presStyleIdx="2" presStyleCnt="6"/>
      <dgm:spPr/>
    </dgm:pt>
    <dgm:pt modelId="{2B604548-6788-4FAB-8B43-042EFD3F926B}" type="pres">
      <dgm:prSet presAssocID="{4DC59A40-267C-4DB8-9197-C95D3D669E19}" presName="sibTransNodeCircle" presStyleLbl="alignNode1" presStyleIdx="4" presStyleCnt="12">
        <dgm:presLayoutVars>
          <dgm:chMax val="0"/>
          <dgm:bulletEnabled/>
        </dgm:presLayoutVars>
      </dgm:prSet>
      <dgm:spPr/>
    </dgm:pt>
    <dgm:pt modelId="{B5D96DC7-3954-47BB-B679-9A7DE557B347}" type="pres">
      <dgm:prSet presAssocID="{1BFA3B27-D457-49E3-BD51-20097C5BEC42}" presName="bottomLine" presStyleLbl="alignNode1" presStyleIdx="5" presStyleCnt="12">
        <dgm:presLayoutVars/>
      </dgm:prSet>
      <dgm:spPr/>
    </dgm:pt>
    <dgm:pt modelId="{C3B5241C-4846-4EBE-9D94-B2C4AAFB26E1}" type="pres">
      <dgm:prSet presAssocID="{1BFA3B27-D457-49E3-BD51-20097C5BEC42}" presName="nodeText" presStyleLbl="bgAccFollowNode1" presStyleIdx="2" presStyleCnt="6">
        <dgm:presLayoutVars>
          <dgm:bulletEnabled val="1"/>
        </dgm:presLayoutVars>
      </dgm:prSet>
      <dgm:spPr/>
    </dgm:pt>
    <dgm:pt modelId="{07F9B862-B2B7-4C87-85FA-EEE11516CED9}" type="pres">
      <dgm:prSet presAssocID="{4DC59A40-267C-4DB8-9197-C95D3D669E19}" presName="sibTrans" presStyleCnt="0"/>
      <dgm:spPr/>
    </dgm:pt>
    <dgm:pt modelId="{A01A8100-279B-402D-9830-2DF1F2916E8A}" type="pres">
      <dgm:prSet presAssocID="{D5CFE305-8933-479B-A542-9131A0D6BF50}" presName="compositeNode" presStyleCnt="0">
        <dgm:presLayoutVars>
          <dgm:bulletEnabled val="1"/>
        </dgm:presLayoutVars>
      </dgm:prSet>
      <dgm:spPr/>
    </dgm:pt>
    <dgm:pt modelId="{B33E44BF-F227-4F15-B078-956B28593266}" type="pres">
      <dgm:prSet presAssocID="{D5CFE305-8933-479B-A542-9131A0D6BF50}" presName="bgRect" presStyleLbl="bgAccFollowNode1" presStyleIdx="3" presStyleCnt="6"/>
      <dgm:spPr/>
    </dgm:pt>
    <dgm:pt modelId="{B33791BB-CCCB-4907-87E1-9EBEC37B61A1}" type="pres">
      <dgm:prSet presAssocID="{836D51B7-EAD6-4DE9-974D-85B529FA1808}" presName="sibTransNodeCircle" presStyleLbl="alignNode1" presStyleIdx="6" presStyleCnt="12">
        <dgm:presLayoutVars>
          <dgm:chMax val="0"/>
          <dgm:bulletEnabled/>
        </dgm:presLayoutVars>
      </dgm:prSet>
      <dgm:spPr/>
    </dgm:pt>
    <dgm:pt modelId="{CF13D8EC-57A3-4C09-81C8-566B2B3EEBA1}" type="pres">
      <dgm:prSet presAssocID="{D5CFE305-8933-479B-A542-9131A0D6BF50}" presName="bottomLine" presStyleLbl="alignNode1" presStyleIdx="7" presStyleCnt="12">
        <dgm:presLayoutVars/>
      </dgm:prSet>
      <dgm:spPr/>
    </dgm:pt>
    <dgm:pt modelId="{F7360EB8-E06B-4823-B0D2-0986105A146C}" type="pres">
      <dgm:prSet presAssocID="{D5CFE305-8933-479B-A542-9131A0D6BF50}" presName="nodeText" presStyleLbl="bgAccFollowNode1" presStyleIdx="3" presStyleCnt="6">
        <dgm:presLayoutVars>
          <dgm:bulletEnabled val="1"/>
        </dgm:presLayoutVars>
      </dgm:prSet>
      <dgm:spPr/>
    </dgm:pt>
    <dgm:pt modelId="{D6A3FAB1-1835-44FB-A0DA-85670C2CFF6C}" type="pres">
      <dgm:prSet presAssocID="{836D51B7-EAD6-4DE9-974D-85B529FA1808}" presName="sibTrans" presStyleCnt="0"/>
      <dgm:spPr/>
    </dgm:pt>
    <dgm:pt modelId="{C6521351-27A4-462B-9E64-DF02791EC868}" type="pres">
      <dgm:prSet presAssocID="{273CA5E1-90A3-4A8D-96BE-7E616CE418DE}" presName="compositeNode" presStyleCnt="0">
        <dgm:presLayoutVars>
          <dgm:bulletEnabled val="1"/>
        </dgm:presLayoutVars>
      </dgm:prSet>
      <dgm:spPr/>
    </dgm:pt>
    <dgm:pt modelId="{7A774241-5A11-45D8-871D-5131EAE5AAFD}" type="pres">
      <dgm:prSet presAssocID="{273CA5E1-90A3-4A8D-96BE-7E616CE418DE}" presName="bgRect" presStyleLbl="bgAccFollowNode1" presStyleIdx="4" presStyleCnt="6"/>
      <dgm:spPr/>
    </dgm:pt>
    <dgm:pt modelId="{267EA502-4921-44B4-A228-91B1E531C6A6}" type="pres">
      <dgm:prSet presAssocID="{1DB8D2A9-3849-4E0D-8C97-910910A3B7C0}" presName="sibTransNodeCircle" presStyleLbl="alignNode1" presStyleIdx="8" presStyleCnt="12">
        <dgm:presLayoutVars>
          <dgm:chMax val="0"/>
          <dgm:bulletEnabled/>
        </dgm:presLayoutVars>
      </dgm:prSet>
      <dgm:spPr/>
    </dgm:pt>
    <dgm:pt modelId="{9B76A336-B3D4-4D0C-B54B-44C007B8586D}" type="pres">
      <dgm:prSet presAssocID="{273CA5E1-90A3-4A8D-96BE-7E616CE418DE}" presName="bottomLine" presStyleLbl="alignNode1" presStyleIdx="9" presStyleCnt="12">
        <dgm:presLayoutVars/>
      </dgm:prSet>
      <dgm:spPr/>
    </dgm:pt>
    <dgm:pt modelId="{619AF609-69A9-4098-949C-6AA69CF1A82F}" type="pres">
      <dgm:prSet presAssocID="{273CA5E1-90A3-4A8D-96BE-7E616CE418DE}" presName="nodeText" presStyleLbl="bgAccFollowNode1" presStyleIdx="4" presStyleCnt="6">
        <dgm:presLayoutVars>
          <dgm:bulletEnabled val="1"/>
        </dgm:presLayoutVars>
      </dgm:prSet>
      <dgm:spPr/>
    </dgm:pt>
    <dgm:pt modelId="{EB76CDAC-792E-4EBB-855F-D3E6066123FA}" type="pres">
      <dgm:prSet presAssocID="{1DB8D2A9-3849-4E0D-8C97-910910A3B7C0}" presName="sibTrans" presStyleCnt="0"/>
      <dgm:spPr/>
    </dgm:pt>
    <dgm:pt modelId="{532E78B9-0D14-46D6-A1EF-FB8A746DF207}" type="pres">
      <dgm:prSet presAssocID="{749DF3CA-BF26-492F-AB9E-6B204BA8ECCB}" presName="compositeNode" presStyleCnt="0">
        <dgm:presLayoutVars>
          <dgm:bulletEnabled val="1"/>
        </dgm:presLayoutVars>
      </dgm:prSet>
      <dgm:spPr/>
    </dgm:pt>
    <dgm:pt modelId="{32CF2F33-FB32-4246-A3AB-84EDAA8CE5DE}" type="pres">
      <dgm:prSet presAssocID="{749DF3CA-BF26-492F-AB9E-6B204BA8ECCB}" presName="bgRect" presStyleLbl="bgAccFollowNode1" presStyleIdx="5" presStyleCnt="6"/>
      <dgm:spPr/>
    </dgm:pt>
    <dgm:pt modelId="{5DE73F20-841E-4800-A37E-06B2CB59B8C5}" type="pres">
      <dgm:prSet presAssocID="{1BF3C0AB-64FF-41EE-A9F2-E30F1CD7D914}" presName="sibTransNodeCircle" presStyleLbl="alignNode1" presStyleIdx="10" presStyleCnt="12">
        <dgm:presLayoutVars>
          <dgm:chMax val="0"/>
          <dgm:bulletEnabled/>
        </dgm:presLayoutVars>
      </dgm:prSet>
      <dgm:spPr/>
    </dgm:pt>
    <dgm:pt modelId="{E1BFA121-F7AF-4E6B-80E4-466EB46383B8}" type="pres">
      <dgm:prSet presAssocID="{749DF3CA-BF26-492F-AB9E-6B204BA8ECCB}" presName="bottomLine" presStyleLbl="alignNode1" presStyleIdx="11" presStyleCnt="12">
        <dgm:presLayoutVars/>
      </dgm:prSet>
      <dgm:spPr/>
    </dgm:pt>
    <dgm:pt modelId="{74D7F703-44A0-4C15-8A32-E1F0C4628C3B}" type="pres">
      <dgm:prSet presAssocID="{749DF3CA-BF26-492F-AB9E-6B204BA8ECCB}" presName="nodeText" presStyleLbl="bgAccFollowNode1" presStyleIdx="5" presStyleCnt="6">
        <dgm:presLayoutVars>
          <dgm:bulletEnabled val="1"/>
        </dgm:presLayoutVars>
      </dgm:prSet>
      <dgm:spPr/>
    </dgm:pt>
  </dgm:ptLst>
  <dgm:cxnLst>
    <dgm:cxn modelId="{F3386915-DA8D-442C-90E6-5DB38C934BA8}" srcId="{EC31FD53-2179-41EF-BB78-650A950CF382}" destId="{273CA5E1-90A3-4A8D-96BE-7E616CE418DE}" srcOrd="4" destOrd="0" parTransId="{5FAD6F1D-2522-461E-B69A-452FB9162E1D}" sibTransId="{1DB8D2A9-3849-4E0D-8C97-910910A3B7C0}"/>
    <dgm:cxn modelId="{02E2CB17-D0C3-4EA5-8887-F2E9E930D55A}" type="presOf" srcId="{4881F9A2-E0F4-43E4-880D-8E3A0496D7FA}" destId="{67FE016B-4003-4924-A1D5-D9FF7C290F1C}" srcOrd="1" destOrd="0" presId="urn:microsoft.com/office/officeart/2016/7/layout/BasicLinearProcessNumbered"/>
    <dgm:cxn modelId="{5D2C661E-161E-4188-A254-FE5A3FBEFCB0}" type="presOf" srcId="{EC31FD53-2179-41EF-BB78-650A950CF382}" destId="{AE9446B7-DABE-44CF-AE4D-EC1971D5D067}" srcOrd="0" destOrd="0" presId="urn:microsoft.com/office/officeart/2016/7/layout/BasicLinearProcessNumbered"/>
    <dgm:cxn modelId="{A590EC1F-E65D-4C6C-A40B-0CCF131CB42D}" type="presOf" srcId="{4881F9A2-E0F4-43E4-880D-8E3A0496D7FA}" destId="{ED27C1FF-C766-4ADE-A813-4F2EA9126E1E}" srcOrd="0" destOrd="0" presId="urn:microsoft.com/office/officeart/2016/7/layout/BasicLinearProcessNumbered"/>
    <dgm:cxn modelId="{81B3CC27-25D5-461D-B5B7-23C506D09E25}" type="presOf" srcId="{D5CFE305-8933-479B-A542-9131A0D6BF50}" destId="{B33E44BF-F227-4F15-B078-956B28593266}" srcOrd="0" destOrd="0" presId="urn:microsoft.com/office/officeart/2016/7/layout/BasicLinearProcessNumbered"/>
    <dgm:cxn modelId="{2C7E7229-2B3E-49FE-AD9D-E5B2FB040E8E}" srcId="{EC31FD53-2179-41EF-BB78-650A950CF382}" destId="{429CE6BC-6891-4E95-A550-6771B60C361D}" srcOrd="0" destOrd="0" parTransId="{90B9B0E3-ABBC-4396-B0B7-269E17251BAF}" sibTransId="{23A88D82-EF3E-4FC9-95C0-3C55398BB6CA}"/>
    <dgm:cxn modelId="{CDF38740-801C-4A7A-9D01-1D052D72AB63}" type="presOf" srcId="{1BFA3B27-D457-49E3-BD51-20097C5BEC42}" destId="{C429BE67-DD54-46A5-A2D8-11DC074D2A4C}" srcOrd="0" destOrd="0" presId="urn:microsoft.com/office/officeart/2016/7/layout/BasicLinearProcessNumbered"/>
    <dgm:cxn modelId="{8E039459-E655-405D-98B3-FA625364822E}" type="presOf" srcId="{D5CFE305-8933-479B-A542-9131A0D6BF50}" destId="{F7360EB8-E06B-4823-B0D2-0986105A146C}" srcOrd="1" destOrd="0" presId="urn:microsoft.com/office/officeart/2016/7/layout/BasicLinearProcessNumbered"/>
    <dgm:cxn modelId="{5FCE2E5A-DF5A-4977-B5AC-1DEB94070CBA}" type="presOf" srcId="{749DF3CA-BF26-492F-AB9E-6B204BA8ECCB}" destId="{32CF2F33-FB32-4246-A3AB-84EDAA8CE5DE}" srcOrd="0" destOrd="0" presId="urn:microsoft.com/office/officeart/2016/7/layout/BasicLinearProcessNumbered"/>
    <dgm:cxn modelId="{C72D2281-8218-4DA2-B1A6-9721431D4557}" type="presOf" srcId="{1DB8D2A9-3849-4E0D-8C97-910910A3B7C0}" destId="{267EA502-4921-44B4-A228-91B1E531C6A6}" srcOrd="0" destOrd="0" presId="urn:microsoft.com/office/officeart/2016/7/layout/BasicLinearProcessNumbered"/>
    <dgm:cxn modelId="{563D658C-D3AE-4582-B06F-426EA13F9FBD}" type="presOf" srcId="{4DC59A40-267C-4DB8-9197-C95D3D669E19}" destId="{2B604548-6788-4FAB-8B43-042EFD3F926B}" srcOrd="0" destOrd="0" presId="urn:microsoft.com/office/officeart/2016/7/layout/BasicLinearProcessNumbered"/>
    <dgm:cxn modelId="{2751EF8D-7B8A-4AD1-BFFA-55FA7FD0F910}" type="presOf" srcId="{749DF3CA-BF26-492F-AB9E-6B204BA8ECCB}" destId="{74D7F703-44A0-4C15-8A32-E1F0C4628C3B}" srcOrd="1" destOrd="0" presId="urn:microsoft.com/office/officeart/2016/7/layout/BasicLinearProcessNumbered"/>
    <dgm:cxn modelId="{FEA1AA8F-4A39-4560-B1CD-420CC30E7BDE}" type="presOf" srcId="{273CA5E1-90A3-4A8D-96BE-7E616CE418DE}" destId="{7A774241-5A11-45D8-871D-5131EAE5AAFD}" srcOrd="0" destOrd="0" presId="urn:microsoft.com/office/officeart/2016/7/layout/BasicLinearProcessNumbered"/>
    <dgm:cxn modelId="{30B795A7-7E2D-489A-86F3-8326412CC071}" type="presOf" srcId="{1BF3C0AB-64FF-41EE-A9F2-E30F1CD7D914}" destId="{5DE73F20-841E-4800-A37E-06B2CB59B8C5}" srcOrd="0" destOrd="0" presId="urn:microsoft.com/office/officeart/2016/7/layout/BasicLinearProcessNumbered"/>
    <dgm:cxn modelId="{1B999AB5-2845-454A-9DE4-0741EED71A52}" srcId="{EC31FD53-2179-41EF-BB78-650A950CF382}" destId="{749DF3CA-BF26-492F-AB9E-6B204BA8ECCB}" srcOrd="5" destOrd="0" parTransId="{436DD077-F636-4C3C-B793-CAB988AE1835}" sibTransId="{1BF3C0AB-64FF-41EE-A9F2-E30F1CD7D914}"/>
    <dgm:cxn modelId="{63AC78BC-7D0C-4D98-8A59-81EA5D4ED643}" type="presOf" srcId="{23A88D82-EF3E-4FC9-95C0-3C55398BB6CA}" destId="{0AECF012-4416-4590-BAC5-C86E1D9CD5A6}" srcOrd="0" destOrd="0" presId="urn:microsoft.com/office/officeart/2016/7/layout/BasicLinearProcessNumbered"/>
    <dgm:cxn modelId="{8C9B42C8-EA97-4BD2-981A-EF5C112318BB}" type="presOf" srcId="{836D51B7-EAD6-4DE9-974D-85B529FA1808}" destId="{B33791BB-CCCB-4907-87E1-9EBEC37B61A1}" srcOrd="0" destOrd="0" presId="urn:microsoft.com/office/officeart/2016/7/layout/BasicLinearProcessNumbered"/>
    <dgm:cxn modelId="{A0B995CC-0E31-4CB7-845B-2B853348C2E9}" type="presOf" srcId="{1BFA3B27-D457-49E3-BD51-20097C5BEC42}" destId="{C3B5241C-4846-4EBE-9D94-B2C4AAFB26E1}" srcOrd="1" destOrd="0" presId="urn:microsoft.com/office/officeart/2016/7/layout/BasicLinearProcessNumbered"/>
    <dgm:cxn modelId="{6862E4CD-EFAB-4DDE-9C9B-4D5D02F23D76}" srcId="{EC31FD53-2179-41EF-BB78-650A950CF382}" destId="{4881F9A2-E0F4-43E4-880D-8E3A0496D7FA}" srcOrd="1" destOrd="0" parTransId="{906C425B-B80D-476F-A7E2-C57208FC72AF}" sibTransId="{991A8505-6E74-4DF5-952D-8CB21424E301}"/>
    <dgm:cxn modelId="{DE9FB6D4-6AE8-4704-B517-6F5E2325604D}" srcId="{EC31FD53-2179-41EF-BB78-650A950CF382}" destId="{D5CFE305-8933-479B-A542-9131A0D6BF50}" srcOrd="3" destOrd="0" parTransId="{739D92D6-E97E-473E-89DC-AA55CA60BE9C}" sibTransId="{836D51B7-EAD6-4DE9-974D-85B529FA1808}"/>
    <dgm:cxn modelId="{C4F53DDA-1805-4B56-845A-1DD1E455BD57}" srcId="{EC31FD53-2179-41EF-BB78-650A950CF382}" destId="{1BFA3B27-D457-49E3-BD51-20097C5BEC42}" srcOrd="2" destOrd="0" parTransId="{1CAFCB66-F753-419C-A834-11962E19CCD0}" sibTransId="{4DC59A40-267C-4DB8-9197-C95D3D669E19}"/>
    <dgm:cxn modelId="{A1EB0BE3-59A1-4B49-B66A-CA7782CA2973}" type="presOf" srcId="{991A8505-6E74-4DF5-952D-8CB21424E301}" destId="{45AC30F3-D3E0-41E5-8C39-C013920F391B}" srcOrd="0" destOrd="0" presId="urn:microsoft.com/office/officeart/2016/7/layout/BasicLinearProcessNumbered"/>
    <dgm:cxn modelId="{479363EB-F747-4239-B4BB-C0E774DB6B4E}" type="presOf" srcId="{429CE6BC-6891-4E95-A550-6771B60C361D}" destId="{E95C8E00-E834-4A64-A1E9-1038EBD476DA}" srcOrd="1" destOrd="0" presId="urn:microsoft.com/office/officeart/2016/7/layout/BasicLinearProcessNumbered"/>
    <dgm:cxn modelId="{E92598F2-F89A-49C5-8550-A9D01F00C414}" type="presOf" srcId="{429CE6BC-6891-4E95-A550-6771B60C361D}" destId="{3AEBF306-8990-47F6-8FA4-68F15F1CB8F4}" srcOrd="0" destOrd="0" presId="urn:microsoft.com/office/officeart/2016/7/layout/BasicLinearProcessNumbered"/>
    <dgm:cxn modelId="{CAE09DFE-3D82-40AA-9F1B-578F24F2A02A}" type="presOf" srcId="{273CA5E1-90A3-4A8D-96BE-7E616CE418DE}" destId="{619AF609-69A9-4098-949C-6AA69CF1A82F}" srcOrd="1" destOrd="0" presId="urn:microsoft.com/office/officeart/2016/7/layout/BasicLinearProcessNumbered"/>
    <dgm:cxn modelId="{73CEF1F8-D633-4DB1-835D-7E6429E87C74}" type="presParOf" srcId="{AE9446B7-DABE-44CF-AE4D-EC1971D5D067}" destId="{6CED4000-D185-4AD4-9BCE-B2DDFD45F2CA}" srcOrd="0" destOrd="0" presId="urn:microsoft.com/office/officeart/2016/7/layout/BasicLinearProcessNumbered"/>
    <dgm:cxn modelId="{10D85FA7-BA58-4CEA-9F5C-D02C891559A2}" type="presParOf" srcId="{6CED4000-D185-4AD4-9BCE-B2DDFD45F2CA}" destId="{3AEBF306-8990-47F6-8FA4-68F15F1CB8F4}" srcOrd="0" destOrd="0" presId="urn:microsoft.com/office/officeart/2016/7/layout/BasicLinearProcessNumbered"/>
    <dgm:cxn modelId="{3701D31C-5E6A-45FE-B017-972869E6C9E6}" type="presParOf" srcId="{6CED4000-D185-4AD4-9BCE-B2DDFD45F2CA}" destId="{0AECF012-4416-4590-BAC5-C86E1D9CD5A6}" srcOrd="1" destOrd="0" presId="urn:microsoft.com/office/officeart/2016/7/layout/BasicLinearProcessNumbered"/>
    <dgm:cxn modelId="{2E3C3840-9610-4915-834E-CEB13433B3D4}" type="presParOf" srcId="{6CED4000-D185-4AD4-9BCE-B2DDFD45F2CA}" destId="{04E9E7C6-67BC-4DFA-9D37-94FE302F63B6}" srcOrd="2" destOrd="0" presId="urn:microsoft.com/office/officeart/2016/7/layout/BasicLinearProcessNumbered"/>
    <dgm:cxn modelId="{3944DA24-5D6D-4E3D-BC1A-E79F52C6E955}" type="presParOf" srcId="{6CED4000-D185-4AD4-9BCE-B2DDFD45F2CA}" destId="{E95C8E00-E834-4A64-A1E9-1038EBD476DA}" srcOrd="3" destOrd="0" presId="urn:microsoft.com/office/officeart/2016/7/layout/BasicLinearProcessNumbered"/>
    <dgm:cxn modelId="{5C290552-2931-4514-9474-7F0617F47554}" type="presParOf" srcId="{AE9446B7-DABE-44CF-AE4D-EC1971D5D067}" destId="{AA7415F2-6228-4977-B120-35C9445FD08B}" srcOrd="1" destOrd="0" presId="urn:microsoft.com/office/officeart/2016/7/layout/BasicLinearProcessNumbered"/>
    <dgm:cxn modelId="{97B04779-3C86-4E48-BF8C-00730874EC4B}" type="presParOf" srcId="{AE9446B7-DABE-44CF-AE4D-EC1971D5D067}" destId="{978DBC42-A1E2-451D-A7E1-06F262CDECE2}" srcOrd="2" destOrd="0" presId="urn:microsoft.com/office/officeart/2016/7/layout/BasicLinearProcessNumbered"/>
    <dgm:cxn modelId="{1CEBA842-88E8-42B1-8CA8-D571BEF999D4}" type="presParOf" srcId="{978DBC42-A1E2-451D-A7E1-06F262CDECE2}" destId="{ED27C1FF-C766-4ADE-A813-4F2EA9126E1E}" srcOrd="0" destOrd="0" presId="urn:microsoft.com/office/officeart/2016/7/layout/BasicLinearProcessNumbered"/>
    <dgm:cxn modelId="{6FF014E3-9864-41AE-ABD4-6304BAD6D38D}" type="presParOf" srcId="{978DBC42-A1E2-451D-A7E1-06F262CDECE2}" destId="{45AC30F3-D3E0-41E5-8C39-C013920F391B}" srcOrd="1" destOrd="0" presId="urn:microsoft.com/office/officeart/2016/7/layout/BasicLinearProcessNumbered"/>
    <dgm:cxn modelId="{D2119A31-0605-4321-A1A4-816E7D46E3E7}" type="presParOf" srcId="{978DBC42-A1E2-451D-A7E1-06F262CDECE2}" destId="{E8F85BC2-054F-4B78-8BC8-F46A813049C3}" srcOrd="2" destOrd="0" presId="urn:microsoft.com/office/officeart/2016/7/layout/BasicLinearProcessNumbered"/>
    <dgm:cxn modelId="{177E6389-3E1A-4299-94C2-6619658DB815}" type="presParOf" srcId="{978DBC42-A1E2-451D-A7E1-06F262CDECE2}" destId="{67FE016B-4003-4924-A1D5-D9FF7C290F1C}" srcOrd="3" destOrd="0" presId="urn:microsoft.com/office/officeart/2016/7/layout/BasicLinearProcessNumbered"/>
    <dgm:cxn modelId="{43E3FA30-9987-4D2B-B047-3024A0BD6AD5}" type="presParOf" srcId="{AE9446B7-DABE-44CF-AE4D-EC1971D5D067}" destId="{09A05339-BD97-463B-A3CD-40AE390B3DB7}" srcOrd="3" destOrd="0" presId="urn:microsoft.com/office/officeart/2016/7/layout/BasicLinearProcessNumbered"/>
    <dgm:cxn modelId="{F76D87AD-5BFA-44B5-8A80-4D1B0E7AD5E7}" type="presParOf" srcId="{AE9446B7-DABE-44CF-AE4D-EC1971D5D067}" destId="{43A30C1A-8397-4A63-A1AA-0048F033A9D0}" srcOrd="4" destOrd="0" presId="urn:microsoft.com/office/officeart/2016/7/layout/BasicLinearProcessNumbered"/>
    <dgm:cxn modelId="{BF364EFE-6D49-4838-B62B-D8B3764CAB4F}" type="presParOf" srcId="{43A30C1A-8397-4A63-A1AA-0048F033A9D0}" destId="{C429BE67-DD54-46A5-A2D8-11DC074D2A4C}" srcOrd="0" destOrd="0" presId="urn:microsoft.com/office/officeart/2016/7/layout/BasicLinearProcessNumbered"/>
    <dgm:cxn modelId="{56EE85B5-388A-48B9-84D0-6083AACE195B}" type="presParOf" srcId="{43A30C1A-8397-4A63-A1AA-0048F033A9D0}" destId="{2B604548-6788-4FAB-8B43-042EFD3F926B}" srcOrd="1" destOrd="0" presId="urn:microsoft.com/office/officeart/2016/7/layout/BasicLinearProcessNumbered"/>
    <dgm:cxn modelId="{400887FB-B25C-4B60-BF89-D1049F28E08A}" type="presParOf" srcId="{43A30C1A-8397-4A63-A1AA-0048F033A9D0}" destId="{B5D96DC7-3954-47BB-B679-9A7DE557B347}" srcOrd="2" destOrd="0" presId="urn:microsoft.com/office/officeart/2016/7/layout/BasicLinearProcessNumbered"/>
    <dgm:cxn modelId="{2FA6A716-F831-4F7D-898C-26C881787CF2}" type="presParOf" srcId="{43A30C1A-8397-4A63-A1AA-0048F033A9D0}" destId="{C3B5241C-4846-4EBE-9D94-B2C4AAFB26E1}" srcOrd="3" destOrd="0" presId="urn:microsoft.com/office/officeart/2016/7/layout/BasicLinearProcessNumbered"/>
    <dgm:cxn modelId="{E06DA92A-EE49-465A-AD2B-C28621C9BC01}" type="presParOf" srcId="{AE9446B7-DABE-44CF-AE4D-EC1971D5D067}" destId="{07F9B862-B2B7-4C87-85FA-EEE11516CED9}" srcOrd="5" destOrd="0" presId="urn:microsoft.com/office/officeart/2016/7/layout/BasicLinearProcessNumbered"/>
    <dgm:cxn modelId="{5C8A9992-4547-4033-A232-83030BA56B7D}" type="presParOf" srcId="{AE9446B7-DABE-44CF-AE4D-EC1971D5D067}" destId="{A01A8100-279B-402D-9830-2DF1F2916E8A}" srcOrd="6" destOrd="0" presId="urn:microsoft.com/office/officeart/2016/7/layout/BasicLinearProcessNumbered"/>
    <dgm:cxn modelId="{978B8F39-34EC-41CF-BB31-0174F7516559}" type="presParOf" srcId="{A01A8100-279B-402D-9830-2DF1F2916E8A}" destId="{B33E44BF-F227-4F15-B078-956B28593266}" srcOrd="0" destOrd="0" presId="urn:microsoft.com/office/officeart/2016/7/layout/BasicLinearProcessNumbered"/>
    <dgm:cxn modelId="{88773A3B-226B-4057-BA20-E6B6D246DE79}" type="presParOf" srcId="{A01A8100-279B-402D-9830-2DF1F2916E8A}" destId="{B33791BB-CCCB-4907-87E1-9EBEC37B61A1}" srcOrd="1" destOrd="0" presId="urn:microsoft.com/office/officeart/2016/7/layout/BasicLinearProcessNumbered"/>
    <dgm:cxn modelId="{C1AACB0B-696B-4F24-A147-643AD54B8646}" type="presParOf" srcId="{A01A8100-279B-402D-9830-2DF1F2916E8A}" destId="{CF13D8EC-57A3-4C09-81C8-566B2B3EEBA1}" srcOrd="2" destOrd="0" presId="urn:microsoft.com/office/officeart/2016/7/layout/BasicLinearProcessNumbered"/>
    <dgm:cxn modelId="{373480A0-E778-45FD-9ADF-7D8E6B6DF2E5}" type="presParOf" srcId="{A01A8100-279B-402D-9830-2DF1F2916E8A}" destId="{F7360EB8-E06B-4823-B0D2-0986105A146C}" srcOrd="3" destOrd="0" presId="urn:microsoft.com/office/officeart/2016/7/layout/BasicLinearProcessNumbered"/>
    <dgm:cxn modelId="{02F7BDA8-3B8E-44A8-99A2-DE08325CD409}" type="presParOf" srcId="{AE9446B7-DABE-44CF-AE4D-EC1971D5D067}" destId="{D6A3FAB1-1835-44FB-A0DA-85670C2CFF6C}" srcOrd="7" destOrd="0" presId="urn:microsoft.com/office/officeart/2016/7/layout/BasicLinearProcessNumbered"/>
    <dgm:cxn modelId="{AA8AFDC5-B35F-4195-9710-9528D29075C6}" type="presParOf" srcId="{AE9446B7-DABE-44CF-AE4D-EC1971D5D067}" destId="{C6521351-27A4-462B-9E64-DF02791EC868}" srcOrd="8" destOrd="0" presId="urn:microsoft.com/office/officeart/2016/7/layout/BasicLinearProcessNumbered"/>
    <dgm:cxn modelId="{5D139EEF-536A-4644-8242-ED01E0B35F95}" type="presParOf" srcId="{C6521351-27A4-462B-9E64-DF02791EC868}" destId="{7A774241-5A11-45D8-871D-5131EAE5AAFD}" srcOrd="0" destOrd="0" presId="urn:microsoft.com/office/officeart/2016/7/layout/BasicLinearProcessNumbered"/>
    <dgm:cxn modelId="{2FA968FD-E7B9-4292-9655-CE09B3587528}" type="presParOf" srcId="{C6521351-27A4-462B-9E64-DF02791EC868}" destId="{267EA502-4921-44B4-A228-91B1E531C6A6}" srcOrd="1" destOrd="0" presId="urn:microsoft.com/office/officeart/2016/7/layout/BasicLinearProcessNumbered"/>
    <dgm:cxn modelId="{4027218F-4218-4917-BD46-04B7E75B5D5C}" type="presParOf" srcId="{C6521351-27A4-462B-9E64-DF02791EC868}" destId="{9B76A336-B3D4-4D0C-B54B-44C007B8586D}" srcOrd="2" destOrd="0" presId="urn:microsoft.com/office/officeart/2016/7/layout/BasicLinearProcessNumbered"/>
    <dgm:cxn modelId="{A416E3D9-920C-433D-BFDA-CAFA47282452}" type="presParOf" srcId="{C6521351-27A4-462B-9E64-DF02791EC868}" destId="{619AF609-69A9-4098-949C-6AA69CF1A82F}" srcOrd="3" destOrd="0" presId="urn:microsoft.com/office/officeart/2016/7/layout/BasicLinearProcessNumbered"/>
    <dgm:cxn modelId="{35455F3B-5E96-4B92-9E40-8B1175D2AFB1}" type="presParOf" srcId="{AE9446B7-DABE-44CF-AE4D-EC1971D5D067}" destId="{EB76CDAC-792E-4EBB-855F-D3E6066123FA}" srcOrd="9" destOrd="0" presId="urn:microsoft.com/office/officeart/2016/7/layout/BasicLinearProcessNumbered"/>
    <dgm:cxn modelId="{64635A70-05EE-417E-A531-13030E7EA36F}" type="presParOf" srcId="{AE9446B7-DABE-44CF-AE4D-EC1971D5D067}" destId="{532E78B9-0D14-46D6-A1EF-FB8A746DF207}" srcOrd="10" destOrd="0" presId="urn:microsoft.com/office/officeart/2016/7/layout/BasicLinearProcessNumbered"/>
    <dgm:cxn modelId="{54F200CA-61CF-4DE6-A0DA-B082AFE22335}" type="presParOf" srcId="{532E78B9-0D14-46D6-A1EF-FB8A746DF207}" destId="{32CF2F33-FB32-4246-A3AB-84EDAA8CE5DE}" srcOrd="0" destOrd="0" presId="urn:microsoft.com/office/officeart/2016/7/layout/BasicLinearProcessNumbered"/>
    <dgm:cxn modelId="{BBD2B4C2-D904-49CC-9DA4-37B0CED2C585}" type="presParOf" srcId="{532E78B9-0D14-46D6-A1EF-FB8A746DF207}" destId="{5DE73F20-841E-4800-A37E-06B2CB59B8C5}" srcOrd="1" destOrd="0" presId="urn:microsoft.com/office/officeart/2016/7/layout/BasicLinearProcessNumbered"/>
    <dgm:cxn modelId="{C569F618-19BF-4F4A-A53D-11E0C12729BE}" type="presParOf" srcId="{532E78B9-0D14-46D6-A1EF-FB8A746DF207}" destId="{E1BFA121-F7AF-4E6B-80E4-466EB46383B8}" srcOrd="2" destOrd="0" presId="urn:microsoft.com/office/officeart/2016/7/layout/BasicLinearProcessNumbered"/>
    <dgm:cxn modelId="{F61CF19E-F5DD-4147-8CD1-2155E331E69B}" type="presParOf" srcId="{532E78B9-0D14-46D6-A1EF-FB8A746DF207}" destId="{74D7F703-44A0-4C15-8A32-E1F0C4628C3B}" srcOrd="3" destOrd="0" presId="urn:microsoft.com/office/officeart/2016/7/layout/BasicLinearProcessNumbered"/>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F96E68-D1AD-41B4-BC4F-45159D29DB2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72B674BC-E36B-4EFC-B6FA-06A26B7C472C}">
      <dgm:prSet phldrT="[Text]" phldr="0"/>
      <dgm:spPr/>
      <dgm:t>
        <a:bodyPr/>
        <a:lstStyle/>
        <a:p>
          <a:r>
            <a:rPr lang="en-GB" dirty="0"/>
            <a:t>NHS 10 Year Health Plan  for England</a:t>
          </a:r>
        </a:p>
      </dgm:t>
    </dgm:pt>
    <dgm:pt modelId="{FF24171A-616E-4BB0-B053-0E5981E8F262}" type="parTrans" cxnId="{4A42F9D6-F735-4E8C-9083-7D508E62EA2A}">
      <dgm:prSet/>
      <dgm:spPr/>
      <dgm:t>
        <a:bodyPr/>
        <a:lstStyle/>
        <a:p>
          <a:endParaRPr lang="en-GB"/>
        </a:p>
      </dgm:t>
    </dgm:pt>
    <dgm:pt modelId="{2B14706F-7D81-4418-9D37-78A4171F2EE1}" type="sibTrans" cxnId="{4A42F9D6-F735-4E8C-9083-7D508E62EA2A}">
      <dgm:prSet/>
      <dgm:spPr/>
      <dgm:t>
        <a:bodyPr/>
        <a:lstStyle/>
        <a:p>
          <a:endParaRPr lang="en-GB"/>
        </a:p>
      </dgm:t>
    </dgm:pt>
    <dgm:pt modelId="{1BE50C55-C0FC-410B-AE4B-C1E2FA5C6B81}">
      <dgm:prSet phldrT="[Text]" phldr="0"/>
      <dgm:spPr/>
      <dgm:t>
        <a:bodyPr/>
        <a:lstStyle/>
        <a:p>
          <a:r>
            <a:rPr lang="en-GB" dirty="0"/>
            <a:t>MSK Triage </a:t>
          </a:r>
        </a:p>
      </dgm:t>
    </dgm:pt>
    <dgm:pt modelId="{2155E618-CA97-4C2F-9D90-6C64EB4D6982}" type="parTrans" cxnId="{6558099A-8469-4B26-866A-9A22D97C39ED}">
      <dgm:prSet/>
      <dgm:spPr/>
      <dgm:t>
        <a:bodyPr/>
        <a:lstStyle/>
        <a:p>
          <a:endParaRPr lang="en-GB"/>
        </a:p>
      </dgm:t>
    </dgm:pt>
    <dgm:pt modelId="{742DD050-7970-425C-8FA1-B3585181C48C}" type="sibTrans" cxnId="{6558099A-8469-4B26-866A-9A22D97C39ED}">
      <dgm:prSet/>
      <dgm:spPr/>
      <dgm:t>
        <a:bodyPr/>
        <a:lstStyle/>
        <a:p>
          <a:endParaRPr lang="en-GB"/>
        </a:p>
      </dgm:t>
    </dgm:pt>
    <dgm:pt modelId="{DD5643CA-294B-4625-8981-5775B201277E}">
      <dgm:prSet phldrT="[Text]" phldr="0"/>
      <dgm:spPr/>
      <dgm:t>
        <a:bodyPr/>
        <a:lstStyle/>
        <a:p>
          <a:r>
            <a:rPr lang="en-GB" dirty="0"/>
            <a:t>Clinical reasoning </a:t>
          </a:r>
        </a:p>
      </dgm:t>
    </dgm:pt>
    <dgm:pt modelId="{3FAA04A8-70DC-43E7-945A-94622EF97E06}" type="parTrans" cxnId="{F1D4D020-8F32-42FE-A689-507A4368B27E}">
      <dgm:prSet/>
      <dgm:spPr/>
      <dgm:t>
        <a:bodyPr/>
        <a:lstStyle/>
        <a:p>
          <a:endParaRPr lang="en-GB"/>
        </a:p>
      </dgm:t>
    </dgm:pt>
    <dgm:pt modelId="{6EC60AA1-43C6-423C-AC52-4F1DA30FF030}" type="sibTrans" cxnId="{F1D4D020-8F32-42FE-A689-507A4368B27E}">
      <dgm:prSet/>
      <dgm:spPr/>
      <dgm:t>
        <a:bodyPr/>
        <a:lstStyle/>
        <a:p>
          <a:endParaRPr lang="en-GB"/>
        </a:p>
      </dgm:t>
    </dgm:pt>
    <dgm:pt modelId="{AF478DF9-6984-4E40-8BFE-65D6CD9F2EDA}" type="pres">
      <dgm:prSet presAssocID="{32F96E68-D1AD-41B4-BC4F-45159D29DB2E}" presName="linear" presStyleCnt="0">
        <dgm:presLayoutVars>
          <dgm:dir/>
          <dgm:animLvl val="lvl"/>
          <dgm:resizeHandles val="exact"/>
        </dgm:presLayoutVars>
      </dgm:prSet>
      <dgm:spPr/>
    </dgm:pt>
    <dgm:pt modelId="{88D72E12-7023-4547-A342-A76D37F663EF}" type="pres">
      <dgm:prSet presAssocID="{72B674BC-E36B-4EFC-B6FA-06A26B7C472C}" presName="parentLin" presStyleCnt="0"/>
      <dgm:spPr/>
    </dgm:pt>
    <dgm:pt modelId="{653D3DE7-9033-47C8-89E4-E2859B124411}" type="pres">
      <dgm:prSet presAssocID="{72B674BC-E36B-4EFC-B6FA-06A26B7C472C}" presName="parentLeftMargin" presStyleLbl="node1" presStyleIdx="0" presStyleCnt="3"/>
      <dgm:spPr/>
    </dgm:pt>
    <dgm:pt modelId="{CCE0D146-A82C-4FA0-9E00-D8A318C5273A}" type="pres">
      <dgm:prSet presAssocID="{72B674BC-E36B-4EFC-B6FA-06A26B7C472C}" presName="parentText" presStyleLbl="node1" presStyleIdx="0" presStyleCnt="3">
        <dgm:presLayoutVars>
          <dgm:chMax val="0"/>
          <dgm:bulletEnabled val="1"/>
        </dgm:presLayoutVars>
      </dgm:prSet>
      <dgm:spPr/>
    </dgm:pt>
    <dgm:pt modelId="{7DC42748-5E78-4154-A015-F121B1A76358}" type="pres">
      <dgm:prSet presAssocID="{72B674BC-E36B-4EFC-B6FA-06A26B7C472C}" presName="negativeSpace" presStyleCnt="0"/>
      <dgm:spPr/>
    </dgm:pt>
    <dgm:pt modelId="{E2CC6F33-EABB-4986-A6BF-6EE0F9D7B15D}" type="pres">
      <dgm:prSet presAssocID="{72B674BC-E36B-4EFC-B6FA-06A26B7C472C}" presName="childText" presStyleLbl="conFgAcc1" presStyleIdx="0" presStyleCnt="3">
        <dgm:presLayoutVars>
          <dgm:bulletEnabled val="1"/>
        </dgm:presLayoutVars>
      </dgm:prSet>
      <dgm:spPr/>
    </dgm:pt>
    <dgm:pt modelId="{809EC01D-6627-49BC-BCC3-922EE93A5467}" type="pres">
      <dgm:prSet presAssocID="{2B14706F-7D81-4418-9D37-78A4171F2EE1}" presName="spaceBetweenRectangles" presStyleCnt="0"/>
      <dgm:spPr/>
    </dgm:pt>
    <dgm:pt modelId="{2C318150-3E96-4D08-9E9B-E8C9257C1630}" type="pres">
      <dgm:prSet presAssocID="{1BE50C55-C0FC-410B-AE4B-C1E2FA5C6B81}" presName="parentLin" presStyleCnt="0"/>
      <dgm:spPr/>
    </dgm:pt>
    <dgm:pt modelId="{11A5F100-DFA6-40B8-BE70-BE3202BE19E9}" type="pres">
      <dgm:prSet presAssocID="{1BE50C55-C0FC-410B-AE4B-C1E2FA5C6B81}" presName="parentLeftMargin" presStyleLbl="node1" presStyleIdx="0" presStyleCnt="3"/>
      <dgm:spPr/>
    </dgm:pt>
    <dgm:pt modelId="{20BA727E-EE9F-4846-B3E6-E9064A977AC2}" type="pres">
      <dgm:prSet presAssocID="{1BE50C55-C0FC-410B-AE4B-C1E2FA5C6B81}" presName="parentText" presStyleLbl="node1" presStyleIdx="1" presStyleCnt="3">
        <dgm:presLayoutVars>
          <dgm:chMax val="0"/>
          <dgm:bulletEnabled val="1"/>
        </dgm:presLayoutVars>
      </dgm:prSet>
      <dgm:spPr/>
    </dgm:pt>
    <dgm:pt modelId="{6B30BE02-0846-4EED-AD19-C74E118BDC4C}" type="pres">
      <dgm:prSet presAssocID="{1BE50C55-C0FC-410B-AE4B-C1E2FA5C6B81}" presName="negativeSpace" presStyleCnt="0"/>
      <dgm:spPr/>
    </dgm:pt>
    <dgm:pt modelId="{0B0DAC3E-0B1A-437C-BE06-66FEA5C54FFE}" type="pres">
      <dgm:prSet presAssocID="{1BE50C55-C0FC-410B-AE4B-C1E2FA5C6B81}" presName="childText" presStyleLbl="conFgAcc1" presStyleIdx="1" presStyleCnt="3">
        <dgm:presLayoutVars>
          <dgm:bulletEnabled val="1"/>
        </dgm:presLayoutVars>
      </dgm:prSet>
      <dgm:spPr/>
    </dgm:pt>
    <dgm:pt modelId="{81B4A87D-660C-4038-8093-21E4E32A1759}" type="pres">
      <dgm:prSet presAssocID="{742DD050-7970-425C-8FA1-B3585181C48C}" presName="spaceBetweenRectangles" presStyleCnt="0"/>
      <dgm:spPr/>
    </dgm:pt>
    <dgm:pt modelId="{795D81B7-AC47-4206-8402-FA40F575C5C7}" type="pres">
      <dgm:prSet presAssocID="{DD5643CA-294B-4625-8981-5775B201277E}" presName="parentLin" presStyleCnt="0"/>
      <dgm:spPr/>
    </dgm:pt>
    <dgm:pt modelId="{3BD60F07-328F-4B7F-9B96-91182E01C521}" type="pres">
      <dgm:prSet presAssocID="{DD5643CA-294B-4625-8981-5775B201277E}" presName="parentLeftMargin" presStyleLbl="node1" presStyleIdx="1" presStyleCnt="3"/>
      <dgm:spPr/>
    </dgm:pt>
    <dgm:pt modelId="{ADBB7C7A-D415-4BAB-BBFC-0E8B09DFBF56}" type="pres">
      <dgm:prSet presAssocID="{DD5643CA-294B-4625-8981-5775B201277E}" presName="parentText" presStyleLbl="node1" presStyleIdx="2" presStyleCnt="3">
        <dgm:presLayoutVars>
          <dgm:chMax val="0"/>
          <dgm:bulletEnabled val="1"/>
        </dgm:presLayoutVars>
      </dgm:prSet>
      <dgm:spPr/>
    </dgm:pt>
    <dgm:pt modelId="{41691930-C3C4-4E26-8648-4BF7DCED8061}" type="pres">
      <dgm:prSet presAssocID="{DD5643CA-294B-4625-8981-5775B201277E}" presName="negativeSpace" presStyleCnt="0"/>
      <dgm:spPr/>
    </dgm:pt>
    <dgm:pt modelId="{A3691F39-488D-4266-A0A9-0A338B29B4FB}" type="pres">
      <dgm:prSet presAssocID="{DD5643CA-294B-4625-8981-5775B201277E}" presName="childText" presStyleLbl="conFgAcc1" presStyleIdx="2" presStyleCnt="3">
        <dgm:presLayoutVars>
          <dgm:bulletEnabled val="1"/>
        </dgm:presLayoutVars>
      </dgm:prSet>
      <dgm:spPr/>
    </dgm:pt>
  </dgm:ptLst>
  <dgm:cxnLst>
    <dgm:cxn modelId="{F1D4D020-8F32-42FE-A689-507A4368B27E}" srcId="{32F96E68-D1AD-41B4-BC4F-45159D29DB2E}" destId="{DD5643CA-294B-4625-8981-5775B201277E}" srcOrd="2" destOrd="0" parTransId="{3FAA04A8-70DC-43E7-945A-94622EF97E06}" sibTransId="{6EC60AA1-43C6-423C-AC52-4F1DA30FF030}"/>
    <dgm:cxn modelId="{71943257-004F-4323-9711-7FA5CD58A681}" type="presOf" srcId="{32F96E68-D1AD-41B4-BC4F-45159D29DB2E}" destId="{AF478DF9-6984-4E40-8BFE-65D6CD9F2EDA}" srcOrd="0" destOrd="0" presId="urn:microsoft.com/office/officeart/2005/8/layout/list1"/>
    <dgm:cxn modelId="{8019D585-5905-4BFF-A3E4-13668344F330}" type="presOf" srcId="{1BE50C55-C0FC-410B-AE4B-C1E2FA5C6B81}" destId="{20BA727E-EE9F-4846-B3E6-E9064A977AC2}" srcOrd="1" destOrd="0" presId="urn:microsoft.com/office/officeart/2005/8/layout/list1"/>
    <dgm:cxn modelId="{6558099A-8469-4B26-866A-9A22D97C39ED}" srcId="{32F96E68-D1AD-41B4-BC4F-45159D29DB2E}" destId="{1BE50C55-C0FC-410B-AE4B-C1E2FA5C6B81}" srcOrd="1" destOrd="0" parTransId="{2155E618-CA97-4C2F-9D90-6C64EB4D6982}" sibTransId="{742DD050-7970-425C-8FA1-B3585181C48C}"/>
    <dgm:cxn modelId="{15C8F7AC-29E5-4425-ACCD-C201A748118E}" type="presOf" srcId="{DD5643CA-294B-4625-8981-5775B201277E}" destId="{ADBB7C7A-D415-4BAB-BBFC-0E8B09DFBF56}" srcOrd="1" destOrd="0" presId="urn:microsoft.com/office/officeart/2005/8/layout/list1"/>
    <dgm:cxn modelId="{346170AF-9B45-485F-A037-DBC3715E1A5E}" type="presOf" srcId="{72B674BC-E36B-4EFC-B6FA-06A26B7C472C}" destId="{CCE0D146-A82C-4FA0-9E00-D8A318C5273A}" srcOrd="1" destOrd="0" presId="urn:microsoft.com/office/officeart/2005/8/layout/list1"/>
    <dgm:cxn modelId="{6789B3B5-C234-4AC7-8521-4B55AB5074A7}" type="presOf" srcId="{DD5643CA-294B-4625-8981-5775B201277E}" destId="{3BD60F07-328F-4B7F-9B96-91182E01C521}" srcOrd="0" destOrd="0" presId="urn:microsoft.com/office/officeart/2005/8/layout/list1"/>
    <dgm:cxn modelId="{06C74FD4-119E-485D-810D-DB0BC2F29760}" type="presOf" srcId="{72B674BC-E36B-4EFC-B6FA-06A26B7C472C}" destId="{653D3DE7-9033-47C8-89E4-E2859B124411}" srcOrd="0" destOrd="0" presId="urn:microsoft.com/office/officeart/2005/8/layout/list1"/>
    <dgm:cxn modelId="{4A42F9D6-F735-4E8C-9083-7D508E62EA2A}" srcId="{32F96E68-D1AD-41B4-BC4F-45159D29DB2E}" destId="{72B674BC-E36B-4EFC-B6FA-06A26B7C472C}" srcOrd="0" destOrd="0" parTransId="{FF24171A-616E-4BB0-B053-0E5981E8F262}" sibTransId="{2B14706F-7D81-4418-9D37-78A4171F2EE1}"/>
    <dgm:cxn modelId="{7C4E14EF-A2D7-4701-9EBB-2A31890420D1}" type="presOf" srcId="{1BE50C55-C0FC-410B-AE4B-C1E2FA5C6B81}" destId="{11A5F100-DFA6-40B8-BE70-BE3202BE19E9}" srcOrd="0" destOrd="0" presId="urn:microsoft.com/office/officeart/2005/8/layout/list1"/>
    <dgm:cxn modelId="{C2FBF586-689A-424E-8177-7905C8042E06}" type="presParOf" srcId="{AF478DF9-6984-4E40-8BFE-65D6CD9F2EDA}" destId="{88D72E12-7023-4547-A342-A76D37F663EF}" srcOrd="0" destOrd="0" presId="urn:microsoft.com/office/officeart/2005/8/layout/list1"/>
    <dgm:cxn modelId="{E403AC03-6E47-451F-8A61-DB9ECEEAB24C}" type="presParOf" srcId="{88D72E12-7023-4547-A342-A76D37F663EF}" destId="{653D3DE7-9033-47C8-89E4-E2859B124411}" srcOrd="0" destOrd="0" presId="urn:microsoft.com/office/officeart/2005/8/layout/list1"/>
    <dgm:cxn modelId="{364E9084-9ABE-4F8C-92D1-5FFCFAA8809B}" type="presParOf" srcId="{88D72E12-7023-4547-A342-A76D37F663EF}" destId="{CCE0D146-A82C-4FA0-9E00-D8A318C5273A}" srcOrd="1" destOrd="0" presId="urn:microsoft.com/office/officeart/2005/8/layout/list1"/>
    <dgm:cxn modelId="{74FE2224-3A4D-40A6-AF4A-5FA6653EB6E4}" type="presParOf" srcId="{AF478DF9-6984-4E40-8BFE-65D6CD9F2EDA}" destId="{7DC42748-5E78-4154-A015-F121B1A76358}" srcOrd="1" destOrd="0" presId="urn:microsoft.com/office/officeart/2005/8/layout/list1"/>
    <dgm:cxn modelId="{A2F4FD01-9529-4A3F-B038-AE66DFF4413C}" type="presParOf" srcId="{AF478DF9-6984-4E40-8BFE-65D6CD9F2EDA}" destId="{E2CC6F33-EABB-4986-A6BF-6EE0F9D7B15D}" srcOrd="2" destOrd="0" presId="urn:microsoft.com/office/officeart/2005/8/layout/list1"/>
    <dgm:cxn modelId="{B9C0B01C-B7C5-4278-8AF4-27E12DD9AE6F}" type="presParOf" srcId="{AF478DF9-6984-4E40-8BFE-65D6CD9F2EDA}" destId="{809EC01D-6627-49BC-BCC3-922EE93A5467}" srcOrd="3" destOrd="0" presId="urn:microsoft.com/office/officeart/2005/8/layout/list1"/>
    <dgm:cxn modelId="{4A35C3C8-E9B5-425C-85CD-B444B00FCB02}" type="presParOf" srcId="{AF478DF9-6984-4E40-8BFE-65D6CD9F2EDA}" destId="{2C318150-3E96-4D08-9E9B-E8C9257C1630}" srcOrd="4" destOrd="0" presId="urn:microsoft.com/office/officeart/2005/8/layout/list1"/>
    <dgm:cxn modelId="{5664A5AA-6D0F-48AA-8EEC-61E871666B78}" type="presParOf" srcId="{2C318150-3E96-4D08-9E9B-E8C9257C1630}" destId="{11A5F100-DFA6-40B8-BE70-BE3202BE19E9}" srcOrd="0" destOrd="0" presId="urn:microsoft.com/office/officeart/2005/8/layout/list1"/>
    <dgm:cxn modelId="{5C804D78-F39B-406F-9AA4-4CE104268EF5}" type="presParOf" srcId="{2C318150-3E96-4D08-9E9B-E8C9257C1630}" destId="{20BA727E-EE9F-4846-B3E6-E9064A977AC2}" srcOrd="1" destOrd="0" presId="urn:microsoft.com/office/officeart/2005/8/layout/list1"/>
    <dgm:cxn modelId="{F44CF686-898C-498B-8A53-B0A85D7F13B1}" type="presParOf" srcId="{AF478DF9-6984-4E40-8BFE-65D6CD9F2EDA}" destId="{6B30BE02-0846-4EED-AD19-C74E118BDC4C}" srcOrd="5" destOrd="0" presId="urn:microsoft.com/office/officeart/2005/8/layout/list1"/>
    <dgm:cxn modelId="{2680343B-995D-4FEA-8149-35CFADCF212D}" type="presParOf" srcId="{AF478DF9-6984-4E40-8BFE-65D6CD9F2EDA}" destId="{0B0DAC3E-0B1A-437C-BE06-66FEA5C54FFE}" srcOrd="6" destOrd="0" presId="urn:microsoft.com/office/officeart/2005/8/layout/list1"/>
    <dgm:cxn modelId="{5F5CF8C5-A2BD-4247-A482-1BF5E7C2AF77}" type="presParOf" srcId="{AF478DF9-6984-4E40-8BFE-65D6CD9F2EDA}" destId="{81B4A87D-660C-4038-8093-21E4E32A1759}" srcOrd="7" destOrd="0" presId="urn:microsoft.com/office/officeart/2005/8/layout/list1"/>
    <dgm:cxn modelId="{DBDCADA2-3258-48C1-8009-F11A9B61EFA1}" type="presParOf" srcId="{AF478DF9-6984-4E40-8BFE-65D6CD9F2EDA}" destId="{795D81B7-AC47-4206-8402-FA40F575C5C7}" srcOrd="8" destOrd="0" presId="urn:microsoft.com/office/officeart/2005/8/layout/list1"/>
    <dgm:cxn modelId="{2F14F67D-1AB8-4449-AF11-BBEFE1322D25}" type="presParOf" srcId="{795D81B7-AC47-4206-8402-FA40F575C5C7}" destId="{3BD60F07-328F-4B7F-9B96-91182E01C521}" srcOrd="0" destOrd="0" presId="urn:microsoft.com/office/officeart/2005/8/layout/list1"/>
    <dgm:cxn modelId="{2227876D-5D63-4CFB-BBC0-58EE971457F9}" type="presParOf" srcId="{795D81B7-AC47-4206-8402-FA40F575C5C7}" destId="{ADBB7C7A-D415-4BAB-BBFC-0E8B09DFBF56}" srcOrd="1" destOrd="0" presId="urn:microsoft.com/office/officeart/2005/8/layout/list1"/>
    <dgm:cxn modelId="{4640F35C-95A9-4CA1-BD89-ED50ED718CD9}" type="presParOf" srcId="{AF478DF9-6984-4E40-8BFE-65D6CD9F2EDA}" destId="{41691930-C3C4-4E26-8648-4BF7DCED8061}" srcOrd="9" destOrd="0" presId="urn:microsoft.com/office/officeart/2005/8/layout/list1"/>
    <dgm:cxn modelId="{B3F2082A-03AE-484C-A7EB-6997CC7047AC}" type="presParOf" srcId="{AF478DF9-6984-4E40-8BFE-65D6CD9F2EDA}" destId="{A3691F39-488D-4266-A0A9-0A338B29B4F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BF306-8990-47F6-8FA4-68F15F1CB8F4}">
      <dsp:nvSpPr>
        <dsp:cNvPr id="0" name=""/>
        <dsp:cNvSpPr/>
      </dsp:nvSpPr>
      <dsp:spPr>
        <a:xfrm>
          <a:off x="1172" y="625745"/>
          <a:ext cx="1476746" cy="2067445"/>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Describe the structure of MSK clinical pathways in the UK.</a:t>
          </a:r>
          <a:endParaRPr lang="en-US" sz="1100" kern="1200"/>
        </a:p>
      </dsp:txBody>
      <dsp:txXfrm>
        <a:off x="1172" y="1411374"/>
        <a:ext cx="1476746" cy="1240467"/>
      </dsp:txXfrm>
    </dsp:sp>
    <dsp:sp modelId="{0AECF012-4416-4590-BAC5-C86E1D9CD5A6}">
      <dsp:nvSpPr>
        <dsp:cNvPr id="0" name=""/>
        <dsp:cNvSpPr/>
      </dsp:nvSpPr>
      <dsp:spPr>
        <a:xfrm>
          <a:off x="429428" y="832489"/>
          <a:ext cx="620233" cy="620233"/>
        </a:xfrm>
        <a:prstGeom prst="ellipse">
          <a:avLst/>
        </a:prstGeom>
        <a:blipFill>
          <a:blip xmlns:r="http://schemas.openxmlformats.org/officeDocument/2006/relationships" r:embed="rId1">
            <a:duotone>
              <a:schemeClr val="accent5">
                <a:hueOff val="0"/>
                <a:satOff val="0"/>
                <a:lumOff val="0"/>
                <a:alphaOff val="0"/>
                <a:shade val="74000"/>
                <a:satMod val="130000"/>
                <a:lumMod val="90000"/>
              </a:schemeClr>
              <a:schemeClr val="accent5">
                <a:hueOff val="0"/>
                <a:satOff val="0"/>
                <a:lumOff val="0"/>
                <a:alphaOff val="0"/>
                <a:tint val="94000"/>
                <a:satMod val="120000"/>
                <a:lumMod val="104000"/>
              </a:schemeClr>
            </a:duotone>
          </a:blip>
          <a:tile tx="0" ty="0" sx="100000" sy="100000" flip="none" algn="tl"/>
        </a:blipFill>
        <a:ln w="9525" cap="flat" cmpd="sng" algn="ctr">
          <a:solidFill>
            <a:schemeClr val="accent5">
              <a:hueOff val="0"/>
              <a:satOff val="0"/>
              <a:lumOff val="0"/>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1</a:t>
          </a:r>
        </a:p>
      </dsp:txBody>
      <dsp:txXfrm>
        <a:off x="520259" y="923320"/>
        <a:ext cx="438571" cy="438571"/>
      </dsp:txXfrm>
    </dsp:sp>
    <dsp:sp modelId="{04E9E7C6-67BC-4DFA-9D37-94FE302F63B6}">
      <dsp:nvSpPr>
        <dsp:cNvPr id="0" name=""/>
        <dsp:cNvSpPr/>
      </dsp:nvSpPr>
      <dsp:spPr>
        <a:xfrm>
          <a:off x="1172" y="2693118"/>
          <a:ext cx="1476746" cy="72"/>
        </a:xfrm>
        <a:prstGeom prst="rect">
          <a:avLst/>
        </a:prstGeom>
        <a:blipFill>
          <a:blip xmlns:r="http://schemas.openxmlformats.org/officeDocument/2006/relationships" r:embed="rId1">
            <a:duotone>
              <a:schemeClr val="accent5">
                <a:hueOff val="90288"/>
                <a:satOff val="52"/>
                <a:lumOff val="517"/>
                <a:alphaOff val="0"/>
                <a:shade val="74000"/>
                <a:satMod val="130000"/>
                <a:lumMod val="90000"/>
              </a:schemeClr>
              <a:schemeClr val="accent5">
                <a:hueOff val="90288"/>
                <a:satOff val="52"/>
                <a:lumOff val="517"/>
                <a:alphaOff val="0"/>
                <a:tint val="94000"/>
                <a:satMod val="120000"/>
                <a:lumMod val="104000"/>
              </a:schemeClr>
            </a:duotone>
          </a:blip>
          <a:tile tx="0" ty="0" sx="100000" sy="100000" flip="none" algn="tl"/>
        </a:blipFill>
        <a:ln w="9525" cap="flat" cmpd="sng" algn="ctr">
          <a:solidFill>
            <a:schemeClr val="accent5">
              <a:hueOff val="90288"/>
              <a:satOff val="52"/>
              <a:lumOff val="517"/>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ED27C1FF-C766-4ADE-A813-4F2EA9126E1E}">
      <dsp:nvSpPr>
        <dsp:cNvPr id="0" name=""/>
        <dsp:cNvSpPr/>
      </dsp:nvSpPr>
      <dsp:spPr>
        <a:xfrm>
          <a:off x="1625593" y="625745"/>
          <a:ext cx="1476746" cy="2067445"/>
        </a:xfrm>
        <a:prstGeom prst="rect">
          <a:avLst/>
        </a:prstGeom>
        <a:solidFill>
          <a:schemeClr val="accent5">
            <a:tint val="40000"/>
            <a:alpha val="90000"/>
            <a:hueOff val="248299"/>
            <a:satOff val="641"/>
            <a:lumOff val="139"/>
            <a:alphaOff val="0"/>
          </a:schemeClr>
        </a:solidFill>
        <a:ln w="9525" cap="flat" cmpd="sng" algn="ctr">
          <a:solidFill>
            <a:schemeClr val="accent5">
              <a:tint val="40000"/>
              <a:alpha val="90000"/>
              <a:hueOff val="248299"/>
              <a:satOff val="641"/>
              <a:lumOff val="139"/>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Explain referral processes, triage systems, and the role of APPs in MSK pathways.</a:t>
          </a:r>
          <a:endParaRPr lang="en-US" sz="1100" kern="1200"/>
        </a:p>
      </dsp:txBody>
      <dsp:txXfrm>
        <a:off x="1625593" y="1411374"/>
        <a:ext cx="1476746" cy="1240467"/>
      </dsp:txXfrm>
    </dsp:sp>
    <dsp:sp modelId="{45AC30F3-D3E0-41E5-8C39-C013920F391B}">
      <dsp:nvSpPr>
        <dsp:cNvPr id="0" name=""/>
        <dsp:cNvSpPr/>
      </dsp:nvSpPr>
      <dsp:spPr>
        <a:xfrm>
          <a:off x="2053849" y="832489"/>
          <a:ext cx="620233" cy="620233"/>
        </a:xfrm>
        <a:prstGeom prst="ellipse">
          <a:avLst/>
        </a:prstGeom>
        <a:blipFill>
          <a:blip xmlns:r="http://schemas.openxmlformats.org/officeDocument/2006/relationships" r:embed="rId1">
            <a:duotone>
              <a:schemeClr val="accent5">
                <a:hueOff val="180575"/>
                <a:satOff val="105"/>
                <a:lumOff val="1034"/>
                <a:alphaOff val="0"/>
                <a:shade val="74000"/>
                <a:satMod val="130000"/>
                <a:lumMod val="90000"/>
              </a:schemeClr>
              <a:schemeClr val="accent5">
                <a:hueOff val="180575"/>
                <a:satOff val="105"/>
                <a:lumOff val="1034"/>
                <a:alphaOff val="0"/>
                <a:tint val="94000"/>
                <a:satMod val="120000"/>
                <a:lumMod val="104000"/>
              </a:schemeClr>
            </a:duotone>
          </a:blip>
          <a:tile tx="0" ty="0" sx="100000" sy="100000" flip="none" algn="tl"/>
        </a:blipFill>
        <a:ln w="9525" cap="flat" cmpd="sng" algn="ctr">
          <a:solidFill>
            <a:schemeClr val="accent5">
              <a:hueOff val="180575"/>
              <a:satOff val="105"/>
              <a:lumOff val="1034"/>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2</a:t>
          </a:r>
        </a:p>
      </dsp:txBody>
      <dsp:txXfrm>
        <a:off x="2144680" y="923320"/>
        <a:ext cx="438571" cy="438571"/>
      </dsp:txXfrm>
    </dsp:sp>
    <dsp:sp modelId="{E8F85BC2-054F-4B78-8BC8-F46A813049C3}">
      <dsp:nvSpPr>
        <dsp:cNvPr id="0" name=""/>
        <dsp:cNvSpPr/>
      </dsp:nvSpPr>
      <dsp:spPr>
        <a:xfrm>
          <a:off x="1625593" y="2693118"/>
          <a:ext cx="1476746" cy="72"/>
        </a:xfrm>
        <a:prstGeom prst="rect">
          <a:avLst/>
        </a:prstGeom>
        <a:blipFill>
          <a:blip xmlns:r="http://schemas.openxmlformats.org/officeDocument/2006/relationships" r:embed="rId1">
            <a:duotone>
              <a:schemeClr val="accent5">
                <a:hueOff val="270863"/>
                <a:satOff val="157"/>
                <a:lumOff val="1551"/>
                <a:alphaOff val="0"/>
                <a:shade val="74000"/>
                <a:satMod val="130000"/>
                <a:lumMod val="90000"/>
              </a:schemeClr>
              <a:schemeClr val="accent5">
                <a:hueOff val="270863"/>
                <a:satOff val="157"/>
                <a:lumOff val="1551"/>
                <a:alphaOff val="0"/>
                <a:tint val="94000"/>
                <a:satMod val="120000"/>
                <a:lumMod val="104000"/>
              </a:schemeClr>
            </a:duotone>
          </a:blip>
          <a:tile tx="0" ty="0" sx="100000" sy="100000" flip="none" algn="tl"/>
        </a:blipFill>
        <a:ln w="9525" cap="flat" cmpd="sng" algn="ctr">
          <a:solidFill>
            <a:schemeClr val="accent5">
              <a:hueOff val="270863"/>
              <a:satOff val="157"/>
              <a:lumOff val="1551"/>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C429BE67-DD54-46A5-A2D8-11DC074D2A4C}">
      <dsp:nvSpPr>
        <dsp:cNvPr id="0" name=""/>
        <dsp:cNvSpPr/>
      </dsp:nvSpPr>
      <dsp:spPr>
        <a:xfrm>
          <a:off x="3250014" y="625745"/>
          <a:ext cx="1476746" cy="2067445"/>
        </a:xfrm>
        <a:prstGeom prst="rect">
          <a:avLst/>
        </a:prstGeom>
        <a:solidFill>
          <a:schemeClr val="accent5">
            <a:tint val="40000"/>
            <a:alpha val="90000"/>
            <a:hueOff val="496599"/>
            <a:satOff val="1282"/>
            <a:lumOff val="278"/>
            <a:alphaOff val="0"/>
          </a:schemeClr>
        </a:solidFill>
        <a:ln w="9525" cap="flat" cmpd="sng" algn="ctr">
          <a:solidFill>
            <a:schemeClr val="accent5">
              <a:tint val="40000"/>
              <a:alpha val="90000"/>
              <a:hueOff val="496599"/>
              <a:satOff val="1282"/>
              <a:lumOff val="278"/>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Recognise red flag presentations and understand their impact on clinical decision-making and referral urgency.</a:t>
          </a:r>
          <a:endParaRPr lang="en-US" sz="1100" kern="1200"/>
        </a:p>
      </dsp:txBody>
      <dsp:txXfrm>
        <a:off x="3250014" y="1411374"/>
        <a:ext cx="1476746" cy="1240467"/>
      </dsp:txXfrm>
    </dsp:sp>
    <dsp:sp modelId="{2B604548-6788-4FAB-8B43-042EFD3F926B}">
      <dsp:nvSpPr>
        <dsp:cNvPr id="0" name=""/>
        <dsp:cNvSpPr/>
      </dsp:nvSpPr>
      <dsp:spPr>
        <a:xfrm>
          <a:off x="3678270" y="832489"/>
          <a:ext cx="620233" cy="620233"/>
        </a:xfrm>
        <a:prstGeom prst="ellipse">
          <a:avLst/>
        </a:prstGeom>
        <a:blipFill>
          <a:blip xmlns:r="http://schemas.openxmlformats.org/officeDocument/2006/relationships" r:embed="rId1">
            <a:duotone>
              <a:schemeClr val="accent5">
                <a:hueOff val="361151"/>
                <a:satOff val="209"/>
                <a:lumOff val="2068"/>
                <a:alphaOff val="0"/>
                <a:shade val="74000"/>
                <a:satMod val="130000"/>
                <a:lumMod val="90000"/>
              </a:schemeClr>
              <a:schemeClr val="accent5">
                <a:hueOff val="361151"/>
                <a:satOff val="209"/>
                <a:lumOff val="2068"/>
                <a:alphaOff val="0"/>
                <a:tint val="94000"/>
                <a:satMod val="120000"/>
                <a:lumMod val="104000"/>
              </a:schemeClr>
            </a:duotone>
          </a:blip>
          <a:tile tx="0" ty="0" sx="100000" sy="100000" flip="none" algn="tl"/>
        </a:blipFill>
        <a:ln w="9525" cap="flat" cmpd="sng" algn="ctr">
          <a:solidFill>
            <a:schemeClr val="accent5">
              <a:hueOff val="361151"/>
              <a:satOff val="209"/>
              <a:lumOff val="2068"/>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3</a:t>
          </a:r>
        </a:p>
      </dsp:txBody>
      <dsp:txXfrm>
        <a:off x="3769101" y="923320"/>
        <a:ext cx="438571" cy="438571"/>
      </dsp:txXfrm>
    </dsp:sp>
    <dsp:sp modelId="{B5D96DC7-3954-47BB-B679-9A7DE557B347}">
      <dsp:nvSpPr>
        <dsp:cNvPr id="0" name=""/>
        <dsp:cNvSpPr/>
      </dsp:nvSpPr>
      <dsp:spPr>
        <a:xfrm>
          <a:off x="3250014" y="2693118"/>
          <a:ext cx="1476746" cy="72"/>
        </a:xfrm>
        <a:prstGeom prst="rect">
          <a:avLst/>
        </a:prstGeom>
        <a:blipFill>
          <a:blip xmlns:r="http://schemas.openxmlformats.org/officeDocument/2006/relationships" r:embed="rId1">
            <a:duotone>
              <a:schemeClr val="accent5">
                <a:hueOff val="451439"/>
                <a:satOff val="262"/>
                <a:lumOff val="2585"/>
                <a:alphaOff val="0"/>
                <a:shade val="74000"/>
                <a:satMod val="130000"/>
                <a:lumMod val="90000"/>
              </a:schemeClr>
              <a:schemeClr val="accent5">
                <a:hueOff val="451439"/>
                <a:satOff val="262"/>
                <a:lumOff val="2585"/>
                <a:alphaOff val="0"/>
                <a:tint val="94000"/>
                <a:satMod val="120000"/>
                <a:lumMod val="104000"/>
              </a:schemeClr>
            </a:duotone>
          </a:blip>
          <a:tile tx="0" ty="0" sx="100000" sy="100000" flip="none" algn="tl"/>
        </a:blipFill>
        <a:ln w="9525" cap="flat" cmpd="sng" algn="ctr">
          <a:solidFill>
            <a:schemeClr val="accent5">
              <a:hueOff val="451439"/>
              <a:satOff val="262"/>
              <a:lumOff val="2585"/>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B33E44BF-F227-4F15-B078-956B28593266}">
      <dsp:nvSpPr>
        <dsp:cNvPr id="0" name=""/>
        <dsp:cNvSpPr/>
      </dsp:nvSpPr>
      <dsp:spPr>
        <a:xfrm>
          <a:off x="4874435" y="625745"/>
          <a:ext cx="1476746" cy="2067445"/>
        </a:xfrm>
        <a:prstGeom prst="rect">
          <a:avLst/>
        </a:prstGeom>
        <a:solidFill>
          <a:schemeClr val="accent5">
            <a:tint val="40000"/>
            <a:alpha val="90000"/>
            <a:hueOff val="744898"/>
            <a:satOff val="1922"/>
            <a:lumOff val="418"/>
            <a:alphaOff val="0"/>
          </a:schemeClr>
        </a:solidFill>
        <a:ln w="9525" cap="flat" cmpd="sng" algn="ctr">
          <a:solidFill>
            <a:schemeClr val="accent5">
              <a:tint val="40000"/>
              <a:alpha val="90000"/>
              <a:hueOff val="744898"/>
              <a:satOff val="1922"/>
              <a:lumOff val="418"/>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Evaluate the importance of interprofessional collaboration and communication within MSK care pathways.</a:t>
          </a:r>
          <a:endParaRPr lang="en-US" sz="1100" kern="1200"/>
        </a:p>
      </dsp:txBody>
      <dsp:txXfrm>
        <a:off x="4874435" y="1411374"/>
        <a:ext cx="1476746" cy="1240467"/>
      </dsp:txXfrm>
    </dsp:sp>
    <dsp:sp modelId="{B33791BB-CCCB-4907-87E1-9EBEC37B61A1}">
      <dsp:nvSpPr>
        <dsp:cNvPr id="0" name=""/>
        <dsp:cNvSpPr/>
      </dsp:nvSpPr>
      <dsp:spPr>
        <a:xfrm>
          <a:off x="5302691" y="832489"/>
          <a:ext cx="620233" cy="620233"/>
        </a:xfrm>
        <a:prstGeom prst="ellipse">
          <a:avLst/>
        </a:prstGeom>
        <a:blipFill>
          <a:blip xmlns:r="http://schemas.openxmlformats.org/officeDocument/2006/relationships" r:embed="rId1">
            <a:duotone>
              <a:schemeClr val="accent5">
                <a:hueOff val="541726"/>
                <a:satOff val="314"/>
                <a:lumOff val="3101"/>
                <a:alphaOff val="0"/>
                <a:shade val="74000"/>
                <a:satMod val="130000"/>
                <a:lumMod val="90000"/>
              </a:schemeClr>
              <a:schemeClr val="accent5">
                <a:hueOff val="541726"/>
                <a:satOff val="314"/>
                <a:lumOff val="3101"/>
                <a:alphaOff val="0"/>
                <a:tint val="94000"/>
                <a:satMod val="120000"/>
                <a:lumMod val="104000"/>
              </a:schemeClr>
            </a:duotone>
          </a:blip>
          <a:tile tx="0" ty="0" sx="100000" sy="100000" flip="none" algn="tl"/>
        </a:blipFill>
        <a:ln w="9525" cap="flat" cmpd="sng" algn="ctr">
          <a:solidFill>
            <a:schemeClr val="accent5">
              <a:hueOff val="541726"/>
              <a:satOff val="314"/>
              <a:lumOff val="3101"/>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4</a:t>
          </a:r>
        </a:p>
      </dsp:txBody>
      <dsp:txXfrm>
        <a:off x="5393522" y="923320"/>
        <a:ext cx="438571" cy="438571"/>
      </dsp:txXfrm>
    </dsp:sp>
    <dsp:sp modelId="{CF13D8EC-57A3-4C09-81C8-566B2B3EEBA1}">
      <dsp:nvSpPr>
        <dsp:cNvPr id="0" name=""/>
        <dsp:cNvSpPr/>
      </dsp:nvSpPr>
      <dsp:spPr>
        <a:xfrm>
          <a:off x="4874435" y="2693118"/>
          <a:ext cx="1476746" cy="72"/>
        </a:xfrm>
        <a:prstGeom prst="rect">
          <a:avLst/>
        </a:prstGeom>
        <a:blipFill>
          <a:blip xmlns:r="http://schemas.openxmlformats.org/officeDocument/2006/relationships" r:embed="rId1">
            <a:duotone>
              <a:schemeClr val="accent5">
                <a:hueOff val="632014"/>
                <a:satOff val="367"/>
                <a:lumOff val="3618"/>
                <a:alphaOff val="0"/>
                <a:shade val="74000"/>
                <a:satMod val="130000"/>
                <a:lumMod val="90000"/>
              </a:schemeClr>
              <a:schemeClr val="accent5">
                <a:hueOff val="632014"/>
                <a:satOff val="367"/>
                <a:lumOff val="3618"/>
                <a:alphaOff val="0"/>
                <a:tint val="94000"/>
                <a:satMod val="120000"/>
                <a:lumMod val="104000"/>
              </a:schemeClr>
            </a:duotone>
          </a:blip>
          <a:tile tx="0" ty="0" sx="100000" sy="100000" flip="none" algn="tl"/>
        </a:blipFill>
        <a:ln w="9525" cap="flat" cmpd="sng" algn="ctr">
          <a:solidFill>
            <a:schemeClr val="accent5">
              <a:hueOff val="632014"/>
              <a:satOff val="367"/>
              <a:lumOff val="3618"/>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7A774241-5A11-45D8-871D-5131EAE5AAFD}">
      <dsp:nvSpPr>
        <dsp:cNvPr id="0" name=""/>
        <dsp:cNvSpPr/>
      </dsp:nvSpPr>
      <dsp:spPr>
        <a:xfrm>
          <a:off x="6498856" y="625745"/>
          <a:ext cx="1476746" cy="2067445"/>
        </a:xfrm>
        <a:prstGeom prst="rect">
          <a:avLst/>
        </a:prstGeom>
        <a:solidFill>
          <a:schemeClr val="accent5">
            <a:tint val="40000"/>
            <a:alpha val="90000"/>
            <a:hueOff val="993198"/>
            <a:satOff val="2563"/>
            <a:lumOff val="557"/>
            <a:alphaOff val="0"/>
          </a:schemeClr>
        </a:solidFill>
        <a:ln w="9525" cap="flat" cmpd="sng" algn="ctr">
          <a:solidFill>
            <a:schemeClr val="accent5">
              <a:tint val="40000"/>
              <a:alpha val="90000"/>
              <a:hueOff val="993198"/>
              <a:satOff val="2563"/>
              <a:lumOff val="557"/>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Reflect on the influence of clinical pathways on patient experience, accessibility, and continuity of care.</a:t>
          </a:r>
          <a:endParaRPr lang="en-US" sz="1100" kern="1200"/>
        </a:p>
      </dsp:txBody>
      <dsp:txXfrm>
        <a:off x="6498856" y="1411374"/>
        <a:ext cx="1476746" cy="1240467"/>
      </dsp:txXfrm>
    </dsp:sp>
    <dsp:sp modelId="{267EA502-4921-44B4-A228-91B1E531C6A6}">
      <dsp:nvSpPr>
        <dsp:cNvPr id="0" name=""/>
        <dsp:cNvSpPr/>
      </dsp:nvSpPr>
      <dsp:spPr>
        <a:xfrm>
          <a:off x="6927112" y="832489"/>
          <a:ext cx="620233" cy="620233"/>
        </a:xfrm>
        <a:prstGeom prst="ellipse">
          <a:avLst/>
        </a:prstGeom>
        <a:blipFill>
          <a:blip xmlns:r="http://schemas.openxmlformats.org/officeDocument/2006/relationships" r:embed="rId1">
            <a:duotone>
              <a:schemeClr val="accent5">
                <a:hueOff val="722302"/>
                <a:satOff val="419"/>
                <a:lumOff val="4135"/>
                <a:alphaOff val="0"/>
                <a:shade val="74000"/>
                <a:satMod val="130000"/>
                <a:lumMod val="90000"/>
              </a:schemeClr>
              <a:schemeClr val="accent5">
                <a:hueOff val="722302"/>
                <a:satOff val="419"/>
                <a:lumOff val="4135"/>
                <a:alphaOff val="0"/>
                <a:tint val="94000"/>
                <a:satMod val="120000"/>
                <a:lumMod val="104000"/>
              </a:schemeClr>
            </a:duotone>
          </a:blip>
          <a:tile tx="0" ty="0" sx="100000" sy="100000" flip="none" algn="tl"/>
        </a:blipFill>
        <a:ln w="9525" cap="flat" cmpd="sng" algn="ctr">
          <a:solidFill>
            <a:schemeClr val="accent5">
              <a:hueOff val="722302"/>
              <a:satOff val="419"/>
              <a:lumOff val="4135"/>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5</a:t>
          </a:r>
        </a:p>
      </dsp:txBody>
      <dsp:txXfrm>
        <a:off x="7017943" y="923320"/>
        <a:ext cx="438571" cy="438571"/>
      </dsp:txXfrm>
    </dsp:sp>
    <dsp:sp modelId="{9B76A336-B3D4-4D0C-B54B-44C007B8586D}">
      <dsp:nvSpPr>
        <dsp:cNvPr id="0" name=""/>
        <dsp:cNvSpPr/>
      </dsp:nvSpPr>
      <dsp:spPr>
        <a:xfrm>
          <a:off x="6498856" y="2693118"/>
          <a:ext cx="1476746" cy="72"/>
        </a:xfrm>
        <a:prstGeom prst="rect">
          <a:avLst/>
        </a:prstGeom>
        <a:blipFill>
          <a:blip xmlns:r="http://schemas.openxmlformats.org/officeDocument/2006/relationships" r:embed="rId1">
            <a:duotone>
              <a:schemeClr val="accent5">
                <a:hueOff val="812590"/>
                <a:satOff val="471"/>
                <a:lumOff val="4652"/>
                <a:alphaOff val="0"/>
                <a:shade val="74000"/>
                <a:satMod val="130000"/>
                <a:lumMod val="90000"/>
              </a:schemeClr>
              <a:schemeClr val="accent5">
                <a:hueOff val="812590"/>
                <a:satOff val="471"/>
                <a:lumOff val="4652"/>
                <a:alphaOff val="0"/>
                <a:tint val="94000"/>
                <a:satMod val="120000"/>
                <a:lumMod val="104000"/>
              </a:schemeClr>
            </a:duotone>
          </a:blip>
          <a:tile tx="0" ty="0" sx="100000" sy="100000" flip="none" algn="tl"/>
        </a:blipFill>
        <a:ln w="9525" cap="flat" cmpd="sng" algn="ctr">
          <a:solidFill>
            <a:schemeClr val="accent5">
              <a:hueOff val="812590"/>
              <a:satOff val="471"/>
              <a:lumOff val="4652"/>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 modelId="{32CF2F33-FB32-4246-A3AB-84EDAA8CE5DE}">
      <dsp:nvSpPr>
        <dsp:cNvPr id="0" name=""/>
        <dsp:cNvSpPr/>
      </dsp:nvSpPr>
      <dsp:spPr>
        <a:xfrm>
          <a:off x="8123277" y="625745"/>
          <a:ext cx="1476746" cy="2067445"/>
        </a:xfrm>
        <a:prstGeom prst="rect">
          <a:avLst/>
        </a:prstGeom>
        <a:solidFill>
          <a:schemeClr val="accent5">
            <a:tint val="40000"/>
            <a:alpha val="90000"/>
            <a:hueOff val="1241497"/>
            <a:satOff val="3204"/>
            <a:lumOff val="696"/>
            <a:alphaOff val="0"/>
          </a:schemeClr>
        </a:solidFill>
        <a:ln w="9525" cap="flat" cmpd="sng" algn="ctr">
          <a:solidFill>
            <a:schemeClr val="accent5">
              <a:tint val="40000"/>
              <a:alpha val="90000"/>
              <a:hueOff val="1241497"/>
              <a:satOff val="3204"/>
              <a:lumOff val="696"/>
              <a:alphaOff val="0"/>
            </a:schemeClr>
          </a:solidFill>
          <a:prstDash val="solid"/>
        </a:ln>
        <a:effectLst>
          <a:innerShdw blurRad="25400" dist="12700" dir="13500000">
            <a:srgbClr val="000000">
              <a:alpha val="45000"/>
            </a:srgbClr>
          </a:innerShdw>
        </a:effectLst>
      </dsp:spPr>
      <dsp:style>
        <a:lnRef idx="1">
          <a:scrgbClr r="0" g="0" b="0"/>
        </a:lnRef>
        <a:fillRef idx="1">
          <a:scrgbClr r="0" g="0" b="0"/>
        </a:fillRef>
        <a:effectRef idx="2">
          <a:scrgbClr r="0" g="0" b="0"/>
        </a:effectRef>
        <a:fontRef idx="minor"/>
      </dsp:style>
      <dsp:txBody>
        <a:bodyPr spcFirstLastPara="0" vert="horz" wrap="square" lIns="115133" tIns="330200" rIns="115133" bIns="330200" numCol="1" spcCol="1270" anchor="t" anchorCtr="0">
          <a:noAutofit/>
        </a:bodyPr>
        <a:lstStyle/>
        <a:p>
          <a:pPr marL="0" lvl="0" indent="0" algn="l" defTabSz="488950">
            <a:lnSpc>
              <a:spcPct val="90000"/>
            </a:lnSpc>
            <a:spcBef>
              <a:spcPct val="0"/>
            </a:spcBef>
            <a:spcAft>
              <a:spcPct val="35000"/>
            </a:spcAft>
            <a:buNone/>
          </a:pPr>
          <a:r>
            <a:rPr lang="en-GB" sz="1100" kern="1200"/>
            <a:t>Understand how national guidelines  inform MSK clinical pathways and physiotherapy practice.</a:t>
          </a:r>
          <a:endParaRPr lang="en-US" sz="1100" kern="1200"/>
        </a:p>
      </dsp:txBody>
      <dsp:txXfrm>
        <a:off x="8123277" y="1411374"/>
        <a:ext cx="1476746" cy="1240467"/>
      </dsp:txXfrm>
    </dsp:sp>
    <dsp:sp modelId="{5DE73F20-841E-4800-A37E-06B2CB59B8C5}">
      <dsp:nvSpPr>
        <dsp:cNvPr id="0" name=""/>
        <dsp:cNvSpPr/>
      </dsp:nvSpPr>
      <dsp:spPr>
        <a:xfrm>
          <a:off x="8551533" y="832489"/>
          <a:ext cx="620233" cy="620233"/>
        </a:xfrm>
        <a:prstGeom prst="ellipse">
          <a:avLst/>
        </a:prstGeom>
        <a:blipFill>
          <a:blip xmlns:r="http://schemas.openxmlformats.org/officeDocument/2006/relationships" r:embed="rId1">
            <a:duotone>
              <a:schemeClr val="accent5">
                <a:hueOff val="902877"/>
                <a:satOff val="524"/>
                <a:lumOff val="5169"/>
                <a:alphaOff val="0"/>
                <a:shade val="74000"/>
                <a:satMod val="130000"/>
                <a:lumMod val="90000"/>
              </a:schemeClr>
              <a:schemeClr val="accent5">
                <a:hueOff val="902877"/>
                <a:satOff val="524"/>
                <a:lumOff val="5169"/>
                <a:alphaOff val="0"/>
                <a:tint val="94000"/>
                <a:satMod val="120000"/>
                <a:lumMod val="104000"/>
              </a:schemeClr>
            </a:duotone>
          </a:blip>
          <a:tile tx="0" ty="0" sx="100000" sy="100000" flip="none" algn="tl"/>
        </a:blipFill>
        <a:ln w="9525" cap="flat" cmpd="sng" algn="ctr">
          <a:solidFill>
            <a:schemeClr val="accent5">
              <a:hueOff val="902877"/>
              <a:satOff val="524"/>
              <a:lumOff val="5169"/>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48356" tIns="12700" rIns="48356" bIns="12700" numCol="1" spcCol="1270" anchor="ctr" anchorCtr="0">
          <a:noAutofit/>
        </a:bodyPr>
        <a:lstStyle/>
        <a:p>
          <a:pPr marL="0" lvl="0" indent="0" algn="ctr" defTabSz="1377950">
            <a:lnSpc>
              <a:spcPct val="90000"/>
            </a:lnSpc>
            <a:spcBef>
              <a:spcPct val="0"/>
            </a:spcBef>
            <a:spcAft>
              <a:spcPct val="35000"/>
            </a:spcAft>
            <a:buNone/>
          </a:pPr>
          <a:r>
            <a:rPr lang="en-US" sz="3100" kern="1200"/>
            <a:t>6</a:t>
          </a:r>
        </a:p>
      </dsp:txBody>
      <dsp:txXfrm>
        <a:off x="8642364" y="923320"/>
        <a:ext cx="438571" cy="438571"/>
      </dsp:txXfrm>
    </dsp:sp>
    <dsp:sp modelId="{E1BFA121-F7AF-4E6B-80E4-466EB46383B8}">
      <dsp:nvSpPr>
        <dsp:cNvPr id="0" name=""/>
        <dsp:cNvSpPr/>
      </dsp:nvSpPr>
      <dsp:spPr>
        <a:xfrm>
          <a:off x="8123277" y="2693118"/>
          <a:ext cx="1476746" cy="72"/>
        </a:xfrm>
        <a:prstGeom prst="rect">
          <a:avLst/>
        </a:prstGeom>
        <a:blipFill>
          <a:blip xmlns:r="http://schemas.openxmlformats.org/officeDocument/2006/relationships" r:embed="rId1">
            <a:duotone>
              <a:schemeClr val="accent5">
                <a:hueOff val="993165"/>
                <a:satOff val="576"/>
                <a:lumOff val="5686"/>
                <a:alphaOff val="0"/>
                <a:shade val="74000"/>
                <a:satMod val="130000"/>
                <a:lumMod val="90000"/>
              </a:schemeClr>
              <a:schemeClr val="accent5">
                <a:hueOff val="993165"/>
                <a:satOff val="576"/>
                <a:lumOff val="5686"/>
                <a:alphaOff val="0"/>
                <a:tint val="94000"/>
                <a:satMod val="120000"/>
                <a:lumMod val="104000"/>
              </a:schemeClr>
            </a:duotone>
          </a:blip>
          <a:tile tx="0" ty="0" sx="100000" sy="100000" flip="none" algn="tl"/>
        </a:blipFill>
        <a:ln w="9525" cap="flat" cmpd="sng" algn="ctr">
          <a:solidFill>
            <a:schemeClr val="accent5">
              <a:hueOff val="993165"/>
              <a:satOff val="576"/>
              <a:lumOff val="5686"/>
              <a:alphaOff val="0"/>
            </a:schemeClr>
          </a:solidFill>
          <a:prstDash val="solid"/>
        </a:ln>
        <a:effectLst>
          <a:outerShdw blurRad="38100" dist="254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CC6F33-EABB-4986-A6BF-6EE0F9D7B15D}">
      <dsp:nvSpPr>
        <dsp:cNvPr id="0" name=""/>
        <dsp:cNvSpPr/>
      </dsp:nvSpPr>
      <dsp:spPr>
        <a:xfrm>
          <a:off x="0" y="394437"/>
          <a:ext cx="9601200" cy="630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E0D146-A82C-4FA0-9E00-D8A318C5273A}">
      <dsp:nvSpPr>
        <dsp:cNvPr id="0" name=""/>
        <dsp:cNvSpPr/>
      </dsp:nvSpPr>
      <dsp:spPr>
        <a:xfrm>
          <a:off x="480060" y="25437"/>
          <a:ext cx="672084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l" defTabSz="1111250">
            <a:lnSpc>
              <a:spcPct val="90000"/>
            </a:lnSpc>
            <a:spcBef>
              <a:spcPct val="0"/>
            </a:spcBef>
            <a:spcAft>
              <a:spcPct val="35000"/>
            </a:spcAft>
            <a:buNone/>
          </a:pPr>
          <a:r>
            <a:rPr lang="en-GB" sz="2500" kern="1200" dirty="0"/>
            <a:t>NHS 10 Year Health Plan  for England</a:t>
          </a:r>
        </a:p>
      </dsp:txBody>
      <dsp:txXfrm>
        <a:off x="516086" y="61463"/>
        <a:ext cx="6648788" cy="665948"/>
      </dsp:txXfrm>
    </dsp:sp>
    <dsp:sp modelId="{0B0DAC3E-0B1A-437C-BE06-66FEA5C54FFE}">
      <dsp:nvSpPr>
        <dsp:cNvPr id="0" name=""/>
        <dsp:cNvSpPr/>
      </dsp:nvSpPr>
      <dsp:spPr>
        <a:xfrm>
          <a:off x="0" y="1528437"/>
          <a:ext cx="9601200" cy="630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BA727E-EE9F-4846-B3E6-E9064A977AC2}">
      <dsp:nvSpPr>
        <dsp:cNvPr id="0" name=""/>
        <dsp:cNvSpPr/>
      </dsp:nvSpPr>
      <dsp:spPr>
        <a:xfrm>
          <a:off x="480060" y="1159437"/>
          <a:ext cx="672084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l" defTabSz="1111250">
            <a:lnSpc>
              <a:spcPct val="90000"/>
            </a:lnSpc>
            <a:spcBef>
              <a:spcPct val="0"/>
            </a:spcBef>
            <a:spcAft>
              <a:spcPct val="35000"/>
            </a:spcAft>
            <a:buNone/>
          </a:pPr>
          <a:r>
            <a:rPr lang="en-GB" sz="2500" kern="1200" dirty="0"/>
            <a:t>MSK Triage </a:t>
          </a:r>
        </a:p>
      </dsp:txBody>
      <dsp:txXfrm>
        <a:off x="516086" y="1195463"/>
        <a:ext cx="6648788" cy="665948"/>
      </dsp:txXfrm>
    </dsp:sp>
    <dsp:sp modelId="{A3691F39-488D-4266-A0A9-0A338B29B4FB}">
      <dsp:nvSpPr>
        <dsp:cNvPr id="0" name=""/>
        <dsp:cNvSpPr/>
      </dsp:nvSpPr>
      <dsp:spPr>
        <a:xfrm>
          <a:off x="0" y="2662437"/>
          <a:ext cx="9601200" cy="630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BB7C7A-D415-4BAB-BBFC-0E8B09DFBF56}">
      <dsp:nvSpPr>
        <dsp:cNvPr id="0" name=""/>
        <dsp:cNvSpPr/>
      </dsp:nvSpPr>
      <dsp:spPr>
        <a:xfrm>
          <a:off x="480060" y="2293437"/>
          <a:ext cx="672084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32" tIns="0" rIns="254032" bIns="0" numCol="1" spcCol="1270" anchor="ctr" anchorCtr="0">
          <a:noAutofit/>
        </a:bodyPr>
        <a:lstStyle/>
        <a:p>
          <a:pPr marL="0" lvl="0" indent="0" algn="l" defTabSz="1111250">
            <a:lnSpc>
              <a:spcPct val="90000"/>
            </a:lnSpc>
            <a:spcBef>
              <a:spcPct val="0"/>
            </a:spcBef>
            <a:spcAft>
              <a:spcPct val="35000"/>
            </a:spcAft>
            <a:buNone/>
          </a:pPr>
          <a:r>
            <a:rPr lang="en-GB" sz="2500" kern="1200" dirty="0"/>
            <a:t>Clinical reasoning </a:t>
          </a:r>
        </a:p>
      </dsp:txBody>
      <dsp:txXfrm>
        <a:off x="516086" y="2329463"/>
        <a:ext cx="6648788" cy="665948"/>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a:xfrm>
            <a:off x="2692397" y="5037663"/>
            <a:ext cx="5214635" cy="279400"/>
          </a:xfrm>
        </p:spPr>
        <p:txBody>
          <a:bodyPr/>
          <a:lstStyle/>
          <a:p>
            <a:endParaRPr lang="en-GB"/>
          </a:p>
        </p:txBody>
      </p:sp>
      <p:sp>
        <p:nvSpPr>
          <p:cNvPr id="6" name="Slide Number Placeholder 5"/>
          <p:cNvSpPr>
            <a:spLocks noGrp="1"/>
          </p:cNvSpPr>
          <p:nvPr>
            <p:ph type="sldNum" sz="quarter" idx="12"/>
          </p:nvPr>
        </p:nvSpPr>
        <p:spPr>
          <a:xfrm>
            <a:off x="8956900" y="5037663"/>
            <a:ext cx="551167" cy="279400"/>
          </a:xfrm>
        </p:spPr>
        <p:txBody>
          <a:bodyPr/>
          <a:lstStyle/>
          <a:p>
            <a:fld id="{37FB2C3C-9217-4687-9525-58462004315B}" type="slidenum">
              <a:rPr lang="en-GB" smtClean="0"/>
              <a:t>‹#›</a:t>
            </a:fld>
            <a:endParaRPr lang="en-GB"/>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8508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264324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4194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2DDC37-0B1E-4A06-A7B9-B1C4E1B2551E}" type="datetimeFigureOut">
              <a:rPr lang="en-GB" smtClean="0"/>
              <a:t>29/09/2025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3707887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2DDC37-0B1E-4A06-A7B9-B1C4E1B2551E}" type="datetimeFigureOut">
              <a:rPr lang="en-GB" smtClean="0"/>
              <a:t>29/09/2025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7FB2C3C-9217-4687-9525-58462004315B}" type="slidenum">
              <a:rPr lang="en-GB" smtClean="0"/>
              <a:t>‹#›</a:t>
            </a:fld>
            <a:endParaRPr lang="en-GB"/>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299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2DDC37-0B1E-4A06-A7B9-B1C4E1B2551E}" type="datetimeFigureOut">
              <a:rPr lang="en-GB" smtClean="0"/>
              <a:t>29/09/2025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7FB2C3C-9217-4687-9525-58462004315B}"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8895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2DDC37-0B1E-4A06-A7B9-B1C4E1B2551E}" type="datetimeFigureOut">
              <a:rPr lang="en-GB" smtClean="0"/>
              <a:t>29/09/2025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330202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2DDC37-0B1E-4A06-A7B9-B1C4E1B2551E}" type="datetimeFigureOut">
              <a:rPr lang="en-GB" smtClean="0"/>
              <a:t>29/09/2025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FB2C3C-9217-4687-9525-58462004315B}" type="slidenum">
              <a:rPr lang="en-GB" smtClean="0"/>
              <a:t>‹#›</a:t>
            </a:fld>
            <a:endParaRPr lang="en-GB"/>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8290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2DDC37-0B1E-4A06-A7B9-B1C4E1B2551E}" type="datetimeFigureOut">
              <a:rPr lang="en-GB" smtClean="0"/>
              <a:t>29/09/2025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16290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2DDC37-0B1E-4A06-A7B9-B1C4E1B2551E}" type="datetimeFigureOut">
              <a:rPr lang="en-GB" smtClean="0"/>
              <a:t>29/09/2025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1145139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0868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32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spTree>
    <p:extLst>
      <p:ext uri="{BB962C8B-B14F-4D97-AF65-F5344CB8AC3E}">
        <p14:creationId xmlns:p14="http://schemas.microsoft.com/office/powerpoint/2010/main" val="3079999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5142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3406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68020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DDC37-0B1E-4A06-A7B9-B1C4E1B2551E}" type="datetimeFigureOut">
              <a:rPr lang="en-GB" smtClean="0"/>
              <a:t>29/09/2025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FB2C3C-9217-4687-9525-58462004315B}" type="slidenum">
              <a:rPr lang="en-GB" smtClean="0"/>
              <a:t>‹#›</a:t>
            </a:fld>
            <a:endParaRPr lang="en-GB"/>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5997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358C66-BDB6-424C-AFC8-3A92DD124706}"/>
              </a:ext>
            </a:extLst>
          </p:cNvPr>
          <p:cNvSpPr>
            <a:spLocks noGrp="1"/>
          </p:cNvSpPr>
          <p:nvPr>
            <p:ph type="dt" sz="half" idx="10"/>
          </p:nvPr>
        </p:nvSpPr>
        <p:spPr/>
        <p:txBody>
          <a:bodyPr/>
          <a:lstStyle/>
          <a:p>
            <a:fld id="{EC7A7CA4-B1FF-420D-89D2-290AD96E5B34}" type="datetimeFigureOut">
              <a:rPr lang="en-GB" smtClean="0"/>
              <a:t>29/09/2025</a:t>
            </a:fld>
            <a:endParaRPr lang="en-GB"/>
          </a:p>
        </p:txBody>
      </p:sp>
      <p:sp>
        <p:nvSpPr>
          <p:cNvPr id="3" name="Footer Placeholder 2">
            <a:extLst>
              <a:ext uri="{FF2B5EF4-FFF2-40B4-BE49-F238E27FC236}">
                <a16:creationId xmlns:a16="http://schemas.microsoft.com/office/drawing/2014/main" id="{F062E04B-25B2-428E-B4C3-4F5B145E9F0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75D7822-32E2-465A-A6AA-CD606C9C430C}"/>
              </a:ext>
            </a:extLst>
          </p:cNvPr>
          <p:cNvSpPr>
            <a:spLocks noGrp="1"/>
          </p:cNvSpPr>
          <p:nvPr>
            <p:ph type="sldNum" sz="quarter" idx="12"/>
          </p:nvPr>
        </p:nvSpPr>
        <p:spPr/>
        <p:txBody>
          <a:bodyPr/>
          <a:lstStyle/>
          <a:p>
            <a:fld id="{0B6F5B55-6BF2-4D00-AD21-C4368B2BD379}" type="slidenum">
              <a:rPr lang="en-GB" smtClean="0"/>
              <a:t>‹#›</a:t>
            </a:fld>
            <a:endParaRPr lang="en-GB"/>
          </a:p>
        </p:txBody>
      </p:sp>
    </p:spTree>
    <p:extLst>
      <p:ext uri="{BB962C8B-B14F-4D97-AF65-F5344CB8AC3E}">
        <p14:creationId xmlns:p14="http://schemas.microsoft.com/office/powerpoint/2010/main" val="1165743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67ED6-9387-4551-B88D-5665F6C1F6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C4706B4-4F0A-4AB3-A659-024FBCB6BE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7326A4-290B-4BBA-88A0-7133AF361066}"/>
              </a:ext>
            </a:extLst>
          </p:cNvPr>
          <p:cNvSpPr>
            <a:spLocks noGrp="1"/>
          </p:cNvSpPr>
          <p:nvPr>
            <p:ph type="dt" sz="half" idx="10"/>
          </p:nvPr>
        </p:nvSpPr>
        <p:spPr/>
        <p:txBody>
          <a:bodyPr/>
          <a:lstStyle/>
          <a:p>
            <a:fld id="{EC7A7CA4-B1FF-420D-89D2-290AD96E5B34}" type="datetimeFigureOut">
              <a:rPr lang="en-GB" smtClean="0"/>
              <a:t>29/09/2025</a:t>
            </a:fld>
            <a:endParaRPr lang="en-GB"/>
          </a:p>
        </p:txBody>
      </p:sp>
      <p:sp>
        <p:nvSpPr>
          <p:cNvPr id="5" name="Footer Placeholder 4">
            <a:extLst>
              <a:ext uri="{FF2B5EF4-FFF2-40B4-BE49-F238E27FC236}">
                <a16:creationId xmlns:a16="http://schemas.microsoft.com/office/drawing/2014/main" id="{3B8A7394-EAB6-45BD-B1A5-48788D25C3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3F7E4F-FE12-40E0-9DB4-FE108C7220F7}"/>
              </a:ext>
            </a:extLst>
          </p:cNvPr>
          <p:cNvSpPr>
            <a:spLocks noGrp="1"/>
          </p:cNvSpPr>
          <p:nvPr>
            <p:ph type="sldNum" sz="quarter" idx="12"/>
          </p:nvPr>
        </p:nvSpPr>
        <p:spPr/>
        <p:txBody>
          <a:bodyPr/>
          <a:lstStyle/>
          <a:p>
            <a:fld id="{0B6F5B55-6BF2-4D00-AD21-C4368B2BD379}" type="slidenum">
              <a:rPr lang="en-GB" smtClean="0"/>
              <a:t>‹#›</a:t>
            </a:fld>
            <a:endParaRPr lang="en-GB"/>
          </a:p>
        </p:txBody>
      </p:sp>
    </p:spTree>
    <p:extLst>
      <p:ext uri="{BB962C8B-B14F-4D97-AF65-F5344CB8AC3E}">
        <p14:creationId xmlns:p14="http://schemas.microsoft.com/office/powerpoint/2010/main" val="595755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22DDC37-0B1E-4A06-A7B9-B1C4E1B2551E}" type="datetimeFigureOut">
              <a:rPr lang="en-GB" smtClean="0"/>
              <a:t>29/09/2025</a:t>
            </a:fld>
            <a:endParaRPr lang="en-GB"/>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7FB2C3C-9217-4687-9525-58462004315B}" type="slidenum">
              <a:rPr lang="en-GB" smtClean="0"/>
              <a:t>‹#›</a:t>
            </a:fld>
            <a:endParaRPr lang="en-GB"/>
          </a:p>
        </p:txBody>
      </p:sp>
    </p:spTree>
    <p:extLst>
      <p:ext uri="{BB962C8B-B14F-4D97-AF65-F5344CB8AC3E}">
        <p14:creationId xmlns:p14="http://schemas.microsoft.com/office/powerpoint/2010/main" val="54817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3ECE0D-E11F-43B0-80BC-2A668BDC39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80E0C4-3B61-4BAC-9C5A-15EE7D8F8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CBC120-0354-4172-B05D-6993D9E48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A7CA4-B1FF-420D-89D2-290AD96E5B34}" type="datetimeFigureOut">
              <a:rPr lang="en-GB" smtClean="0"/>
              <a:t>29/09/2025</a:t>
            </a:fld>
            <a:endParaRPr lang="en-GB"/>
          </a:p>
        </p:txBody>
      </p:sp>
      <p:sp>
        <p:nvSpPr>
          <p:cNvPr id="5" name="Footer Placeholder 4">
            <a:extLst>
              <a:ext uri="{FF2B5EF4-FFF2-40B4-BE49-F238E27FC236}">
                <a16:creationId xmlns:a16="http://schemas.microsoft.com/office/drawing/2014/main" id="{9259EFB3-D81E-4DCF-A1B1-728E5E1678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62FBC17-1C5B-474C-A44B-E1706172D1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6F5B55-6BF2-4D00-AD21-C4368B2BD379}" type="slidenum">
              <a:rPr lang="en-GB" smtClean="0"/>
              <a:t>‹#›</a:t>
            </a:fld>
            <a:endParaRPr lang="en-GB"/>
          </a:p>
        </p:txBody>
      </p:sp>
    </p:spTree>
    <p:extLst>
      <p:ext uri="{BB962C8B-B14F-4D97-AF65-F5344CB8AC3E}">
        <p14:creationId xmlns:p14="http://schemas.microsoft.com/office/powerpoint/2010/main" val="3755472906"/>
      </p:ext>
    </p:extLst>
  </p:cSld>
  <p:clrMap bg1="lt1" tx1="dk1" bg2="lt2" tx2="dk2" accent1="accent1" accent2="accent2" accent3="accent3" accent4="accent4" accent5="accent5" accent6="accent6" hlink="hlink" folHlink="folHlink"/>
  <p:sldLayoutIdLst>
    <p:sldLayoutId id="2147483655"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8.jpeg"/><Relationship Id="rId7" Type="http://schemas.openxmlformats.org/officeDocument/2006/relationships/diagramLayout" Target="../diagrams/layout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4.png"/><Relationship Id="rId10" Type="http://schemas.microsoft.com/office/2007/relationships/diagramDrawing" Target="../diagrams/drawing1.xml"/><Relationship Id="rId4" Type="http://schemas.openxmlformats.org/officeDocument/2006/relationships/image" Target="../media/image9.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cid:image008.jpg@01DA0B5A.31CA61C0"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www.irefer.org.uk/" TargetMode="External"/><Relationship Id="rId13" Type="http://schemas.openxmlformats.org/officeDocument/2006/relationships/hyperlink" Target="https://forms.office.com/Pages/ShareFormPage.aspx?id=kp4VA8ZyI0umSq9Q55Ctv7mwZ-ssGSlIg2HqnpM0aitUNTE1SEtDQTM3VVYwTDZPU1kxTVFVQUMzVy4u&amp;sharetoken=xkMiDNvMjSzDbVMPcuyZ" TargetMode="External"/><Relationship Id="rId3" Type="http://schemas.openxmlformats.org/officeDocument/2006/relationships/image" Target="../media/image12.emf"/><Relationship Id="rId7" Type="http://schemas.openxmlformats.org/officeDocument/2006/relationships/image" Target="../media/image15.png"/><Relationship Id="rId12" Type="http://schemas.openxmlformats.org/officeDocument/2006/relationships/slide" Target="slide18.xml"/><Relationship Id="rId2" Type="http://schemas.openxmlformats.org/officeDocument/2006/relationships/slide" Target="slide26.xml"/><Relationship Id="rId16" Type="http://schemas.openxmlformats.org/officeDocument/2006/relationships/slide" Target="slide12.xml"/><Relationship Id="rId1" Type="http://schemas.openxmlformats.org/officeDocument/2006/relationships/slideLayout" Target="../slideLayouts/slideLayout18.xml"/><Relationship Id="rId6" Type="http://schemas.openxmlformats.org/officeDocument/2006/relationships/image" Target="../media/image14.png"/><Relationship Id="rId11" Type="http://schemas.openxmlformats.org/officeDocument/2006/relationships/hyperlink" Target="https://future.nhs.uk/NationalMSKHealth/view?objectId=34347312" TargetMode="External"/><Relationship Id="rId5" Type="http://schemas.openxmlformats.org/officeDocument/2006/relationships/slide" Target="slide29.xml"/><Relationship Id="rId15" Type="http://schemas.openxmlformats.org/officeDocument/2006/relationships/slide" Target="slide15.xml"/><Relationship Id="rId10" Type="http://schemas.openxmlformats.org/officeDocument/2006/relationships/slide" Target="slide17.xml"/><Relationship Id="rId4" Type="http://schemas.openxmlformats.org/officeDocument/2006/relationships/image" Target="../media/image13.png"/><Relationship Id="rId9" Type="http://schemas.openxmlformats.org/officeDocument/2006/relationships/hyperlink" Target="https://future.nhs.uk/NationalMSKHealth/view?objectId=1733577" TargetMode="External"/><Relationship Id="rId14" Type="http://schemas.openxmlformats.org/officeDocument/2006/relationships/slide" Target="slide38.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www.england.nhs.uk/publication/mri-spinal-leaflet/#heading-2" TargetMode="External"/><Relationship Id="rId3" Type="http://schemas.openxmlformats.org/officeDocument/2006/relationships/hyperlink" Target="https://www.england.nhs.uk/wp-content/uploads/2022/07/Making-a-decision-about-Dupuytrens-contracture.pdf" TargetMode="External"/><Relationship Id="rId7" Type="http://schemas.openxmlformats.org/officeDocument/2006/relationships/hyperlink" Target="https://www.england.nhs.uk/publication/decision-support-tool-making-decisions-to-help-you-live-well-with-chronic-primary-pain/" TargetMode="External"/><Relationship Id="rId2" Type="http://schemas.openxmlformats.org/officeDocument/2006/relationships/hyperlink" Target="https://www.england.nhs.uk/personalisedcare/shared-decision-making/decision-support-tools/" TargetMode="External"/><Relationship Id="rId1" Type="http://schemas.openxmlformats.org/officeDocument/2006/relationships/slideLayout" Target="../slideLayouts/slideLayout2.xml"/><Relationship Id="rId6" Type="http://schemas.openxmlformats.org/officeDocument/2006/relationships/hyperlink" Target="https://www.england.nhs.uk/wp-content/uploads/2022/07/Making-a-decision-about-knee-osteoarthritis.pdf" TargetMode="External"/><Relationship Id="rId5" Type="http://schemas.openxmlformats.org/officeDocument/2006/relationships/hyperlink" Target="https://www.england.nhs.uk/wp-content/uploads/2022/07/Making-a-decision-about-hip-osteoarthritis.pdf" TargetMode="External"/><Relationship Id="rId4" Type="http://schemas.openxmlformats.org/officeDocument/2006/relationships/hyperlink" Target="https://www.england.nhs.uk/wp-content/uploads/2022/07/Making-a-decision-about-carpal-tunnel-syndrome.pdf" TargetMode="External"/><Relationship Id="rId9" Type="http://schemas.openxmlformats.org/officeDocument/2006/relationships/hyperlink" Target="https://www.england.nhs.uk/publication/mri-spinal-leaflet/#heading-1"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www.spadetool.co.uk/" TargetMode="External"/><Relationship Id="rId3" Type="http://schemas.openxmlformats.org/officeDocument/2006/relationships/hyperlink" Target="https://future.nhs.uk/NationalMSKHealth/view?objectId=33225488" TargetMode="External"/><Relationship Id="rId7" Type="http://schemas.openxmlformats.org/officeDocument/2006/relationships/hyperlink" Target="https://www.nice.org.uk/guidance/qs170" TargetMode="External"/><Relationship Id="rId12" Type="http://schemas.openxmlformats.org/officeDocument/2006/relationships/slide" Target="slide20.xml"/><Relationship Id="rId2" Type="http://schemas.openxmlformats.org/officeDocument/2006/relationships/hyperlink" Target="http://arma.uk.net/wp-content/uploads/2021/01/Urgent-emergency-MSK-conditions-requiring-onward-referral-2.pdf" TargetMode="External"/><Relationship Id="rId1" Type="http://schemas.openxmlformats.org/officeDocument/2006/relationships/slideLayout" Target="../slideLayouts/slideLayout19.xml"/><Relationship Id="rId6" Type="http://schemas.openxmlformats.org/officeDocument/2006/relationships/hyperlink" Target="https://www.nice.org.uk/guidance/ng65" TargetMode="External"/><Relationship Id="rId11" Type="http://schemas.openxmlformats.org/officeDocument/2006/relationships/slide" Target="slide12.xml"/><Relationship Id="rId5" Type="http://schemas.openxmlformats.org/officeDocument/2006/relationships/hyperlink" Target="https://future.nhs.uk/NationalMSKHealth/view?objectId=139405509" TargetMode="External"/><Relationship Id="rId10" Type="http://schemas.openxmlformats.org/officeDocument/2006/relationships/slide" Target="slide10.xml"/><Relationship Id="rId4" Type="http://schemas.openxmlformats.org/officeDocument/2006/relationships/hyperlink" Target="https://future.nhs.uk/NationalMSKHealth/view?objectId=39296176" TargetMode="External"/><Relationship Id="rId9" Type="http://schemas.openxmlformats.org/officeDocument/2006/relationships/slide" Target="slide8.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eople holding hands">
            <a:extLst>
              <a:ext uri="{FF2B5EF4-FFF2-40B4-BE49-F238E27FC236}">
                <a16:creationId xmlns:a16="http://schemas.microsoft.com/office/drawing/2014/main" id="{34E779AF-9264-7B53-7661-58C70036A175}"/>
              </a:ext>
            </a:extLst>
          </p:cNvPr>
          <p:cNvPicPr>
            <a:picLocks noChangeAspect="1"/>
          </p:cNvPicPr>
          <p:nvPr/>
        </p:nvPicPr>
        <p:blipFill>
          <a:blip r:embed="rId2">
            <a:alphaModFix amt="50000"/>
          </a:blip>
          <a:srcRect t="13883" b="1848"/>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C973CC00-6418-4629-C1C5-6510F61E3672}"/>
              </a:ext>
            </a:extLst>
          </p:cNvPr>
          <p:cNvSpPr>
            <a:spLocks noGrp="1"/>
          </p:cNvSpPr>
          <p:nvPr>
            <p:ph type="ctrTitle"/>
          </p:nvPr>
        </p:nvSpPr>
        <p:spPr>
          <a:xfrm>
            <a:off x="2692398" y="1871131"/>
            <a:ext cx="6815669" cy="1515533"/>
          </a:xfrm>
        </p:spPr>
        <p:txBody>
          <a:bodyPr>
            <a:normAutofit/>
          </a:bodyPr>
          <a:lstStyle/>
          <a:p>
            <a:r>
              <a:rPr lang="en-GB">
                <a:solidFill>
                  <a:srgbClr val="FFFFFF"/>
                </a:solidFill>
              </a:rPr>
              <a:t>MSK care Pathways</a:t>
            </a:r>
          </a:p>
        </p:txBody>
      </p:sp>
      <p:sp>
        <p:nvSpPr>
          <p:cNvPr id="5" name="Subtitle 4">
            <a:extLst>
              <a:ext uri="{FF2B5EF4-FFF2-40B4-BE49-F238E27FC236}">
                <a16:creationId xmlns:a16="http://schemas.microsoft.com/office/drawing/2014/main" id="{83E52430-B7FF-EE8E-F995-081534FB8699}"/>
              </a:ext>
            </a:extLst>
          </p:cNvPr>
          <p:cNvSpPr>
            <a:spLocks noGrp="1"/>
          </p:cNvSpPr>
          <p:nvPr>
            <p:ph type="subTitle" idx="1"/>
          </p:nvPr>
        </p:nvSpPr>
        <p:spPr>
          <a:xfrm>
            <a:off x="2692398" y="3657597"/>
            <a:ext cx="6815669" cy="1320802"/>
          </a:xfrm>
        </p:spPr>
        <p:txBody>
          <a:bodyPr>
            <a:normAutofit/>
          </a:bodyPr>
          <a:lstStyle/>
          <a:p>
            <a:pPr>
              <a:lnSpc>
                <a:spcPct val="90000"/>
              </a:lnSpc>
            </a:pPr>
            <a:r>
              <a:rPr lang="en-GB">
                <a:solidFill>
                  <a:srgbClr val="FFFFFF"/>
                </a:solidFill>
              </a:rPr>
              <a:t>Dr Khaled Afifi (PhD and M. Ost)</a:t>
            </a:r>
          </a:p>
          <a:p>
            <a:pPr>
              <a:lnSpc>
                <a:spcPct val="90000"/>
              </a:lnSpc>
            </a:pPr>
            <a:r>
              <a:rPr lang="en-GB">
                <a:solidFill>
                  <a:srgbClr val="FFFFFF"/>
                </a:solidFill>
              </a:rPr>
              <a:t>First Contact Physiotherapist</a:t>
            </a:r>
          </a:p>
          <a:p>
            <a:pPr>
              <a:lnSpc>
                <a:spcPct val="90000"/>
              </a:lnSpc>
            </a:pPr>
            <a:r>
              <a:rPr lang="en-GB">
                <a:solidFill>
                  <a:srgbClr val="FFFFFF"/>
                </a:solidFill>
              </a:rPr>
              <a:t>Registered Physiotherapist and Osteopath</a:t>
            </a:r>
          </a:p>
        </p:txBody>
      </p:sp>
      <p:cxnSp>
        <p:nvCxnSpPr>
          <p:cNvPr id="13" name="Straight Connector 12">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99419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4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4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5" name="Picture 4" descr="3D spheres connected with a red line">
            <a:extLst>
              <a:ext uri="{FF2B5EF4-FFF2-40B4-BE49-F238E27FC236}">
                <a16:creationId xmlns:a16="http://schemas.microsoft.com/office/drawing/2014/main" id="{4163EA8C-83E9-15DC-98D7-7248D4C73B35}"/>
              </a:ext>
            </a:extLst>
          </p:cNvPr>
          <p:cNvPicPr>
            <a:picLocks noChangeAspect="1"/>
          </p:cNvPicPr>
          <p:nvPr/>
        </p:nvPicPr>
        <p:blipFill>
          <a:blip r:embed="rId3">
            <a:duotone>
              <a:prstClr val="black"/>
              <a:prstClr val="white"/>
            </a:duotone>
          </a:blip>
          <a:srcRect t="15903" b="9097"/>
          <a:stretch>
            <a:fillRect/>
          </a:stretch>
        </p:blipFill>
        <p:spPr>
          <a:xfrm>
            <a:off x="20" y="10"/>
            <a:ext cx="12191980" cy="6857990"/>
          </a:xfrm>
          <a:prstGeom prst="rect">
            <a:avLst/>
          </a:prstGeom>
        </p:spPr>
      </p:pic>
      <p:sp>
        <p:nvSpPr>
          <p:cNvPr id="46" name="Rectangle 45">
            <a:extLst>
              <a:ext uri="{FF2B5EF4-FFF2-40B4-BE49-F238E27FC236}">
                <a16:creationId xmlns:a16="http://schemas.microsoft.com/office/drawing/2014/main" id="{B0393412-BB8B-4EC9-A88D-93917FA4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88"/>
            <a:ext cx="11227442" cy="5883295"/>
          </a:xfrm>
          <a:prstGeom prst="rect">
            <a:avLst/>
          </a:prstGeom>
          <a:blipFill dpi="0" rotWithShape="1">
            <a:blip r:embed="rId4">
              <a:alphaModFix amt="88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48" name="Rectangle 47">
            <a:extLst>
              <a:ext uri="{FF2B5EF4-FFF2-40B4-BE49-F238E27FC236}">
                <a16:creationId xmlns:a16="http://schemas.microsoft.com/office/drawing/2014/main" id="{68AB7DB4-4BE9-465B-8843-8073715FF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accent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8055CF6B-65AE-6F23-58C6-4DBCFC298C0E}"/>
              </a:ext>
            </a:extLst>
          </p:cNvPr>
          <p:cNvSpPr>
            <a:spLocks noGrp="1"/>
          </p:cNvSpPr>
          <p:nvPr>
            <p:ph type="title"/>
          </p:nvPr>
        </p:nvSpPr>
        <p:spPr>
          <a:xfrm>
            <a:off x="1295402" y="982132"/>
            <a:ext cx="9601196" cy="1303867"/>
          </a:xfrm>
        </p:spPr>
        <p:txBody>
          <a:bodyPr>
            <a:normAutofit/>
          </a:bodyPr>
          <a:lstStyle/>
          <a:p>
            <a:r>
              <a:rPr lang="en-GB"/>
              <a:t>Learning Outcome:</a:t>
            </a:r>
          </a:p>
        </p:txBody>
      </p:sp>
      <p:cxnSp>
        <p:nvCxnSpPr>
          <p:cNvPr id="50" name="Straight Connector 49">
            <a:extLst>
              <a:ext uri="{FF2B5EF4-FFF2-40B4-BE49-F238E27FC236}">
                <a16:creationId xmlns:a16="http://schemas.microsoft.com/office/drawing/2014/main" id="{AFC431BA-A96A-492C-A2FA-F9F701E385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52" name="Group 51">
            <a:extLst>
              <a:ext uri="{FF2B5EF4-FFF2-40B4-BE49-F238E27FC236}">
                <a16:creationId xmlns:a16="http://schemas.microsoft.com/office/drawing/2014/main" id="{79E73055-8C3E-4C1D-88EA-3D22039CDF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288" y="3128956"/>
            <a:ext cx="12234672" cy="658368"/>
            <a:chOff x="-18288" y="3128956"/>
            <a:chExt cx="12234672" cy="658368"/>
          </a:xfrm>
        </p:grpSpPr>
        <p:sp>
          <p:nvSpPr>
            <p:cNvPr id="53" name="Rounded Rectangle 30">
              <a:extLst>
                <a:ext uri="{FF2B5EF4-FFF2-40B4-BE49-F238E27FC236}">
                  <a16:creationId xmlns:a16="http://schemas.microsoft.com/office/drawing/2014/main" id="{FF9A1137-08E4-442C-9270-0F23E380D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4" name="Picture 53">
              <a:extLst>
                <a:ext uri="{FF2B5EF4-FFF2-40B4-BE49-F238E27FC236}">
                  <a16:creationId xmlns:a16="http://schemas.microsoft.com/office/drawing/2014/main" id="{6A4AC3F5-7F5F-4B49-835E-36CBE45D34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p:nvSpPr>
            <p:cNvPr id="55" name="Rounded Rectangle 32">
              <a:extLst>
                <a:ext uri="{FF2B5EF4-FFF2-40B4-BE49-F238E27FC236}">
                  <a16:creationId xmlns:a16="http://schemas.microsoft.com/office/drawing/2014/main" id="{C79DCCFA-B647-41F3-8C57-D19A61760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56" name="Picture 55">
              <a:extLst>
                <a:ext uri="{FF2B5EF4-FFF2-40B4-BE49-F238E27FC236}">
                  <a16:creationId xmlns:a16="http://schemas.microsoft.com/office/drawing/2014/main" id="{3C7401E9-AF65-4A82-8FB1-401302CD5AB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graphicFrame>
        <p:nvGraphicFramePr>
          <p:cNvPr id="41" name="Content Placeholder 2">
            <a:extLst>
              <a:ext uri="{FF2B5EF4-FFF2-40B4-BE49-F238E27FC236}">
                <a16:creationId xmlns:a16="http://schemas.microsoft.com/office/drawing/2014/main" id="{66102982-2A80-7C6B-6ECF-5E8A38EC906B}"/>
              </a:ext>
            </a:extLst>
          </p:cNvPr>
          <p:cNvGraphicFramePr>
            <a:graphicFrameLocks noGrp="1"/>
          </p:cNvGraphicFramePr>
          <p:nvPr>
            <p:ph idx="1"/>
            <p:extLst>
              <p:ext uri="{D42A27DB-BD31-4B8C-83A1-F6EECF244321}">
                <p14:modId xmlns:p14="http://schemas.microsoft.com/office/powerpoint/2010/main" val="4053661957"/>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3191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CDB5-9C19-2968-1C9F-493E17B3CC08}"/>
              </a:ext>
            </a:extLst>
          </p:cNvPr>
          <p:cNvSpPr>
            <a:spLocks noGrp="1"/>
          </p:cNvSpPr>
          <p:nvPr>
            <p:ph type="title"/>
          </p:nvPr>
        </p:nvSpPr>
        <p:spPr/>
        <p:txBody>
          <a:bodyPr>
            <a:normAutofit fontScale="90000"/>
          </a:bodyPr>
          <a:lstStyle/>
          <a:p>
            <a:r>
              <a:rPr lang="en-GB" dirty="0"/>
              <a:t>FIT FOR  THE FUTURE 10 Year Health Plan  for England</a:t>
            </a:r>
          </a:p>
        </p:txBody>
      </p:sp>
      <p:sp>
        <p:nvSpPr>
          <p:cNvPr id="3" name="Content Placeholder 2">
            <a:extLst>
              <a:ext uri="{FF2B5EF4-FFF2-40B4-BE49-F238E27FC236}">
                <a16:creationId xmlns:a16="http://schemas.microsoft.com/office/drawing/2014/main" id="{FC9275C9-CF70-FFCB-9D54-B732393BD90E}"/>
              </a:ext>
            </a:extLst>
          </p:cNvPr>
          <p:cNvSpPr>
            <a:spLocks noGrp="1"/>
          </p:cNvSpPr>
          <p:nvPr>
            <p:ph idx="1"/>
          </p:nvPr>
        </p:nvSpPr>
        <p:spPr/>
        <p:txBody>
          <a:bodyPr/>
          <a:lstStyle/>
          <a:p>
            <a:r>
              <a:rPr lang="en-GB" dirty="0"/>
              <a:t>hospital to community: </a:t>
            </a:r>
          </a:p>
          <a:p>
            <a:r>
              <a:rPr lang="en-GB" dirty="0"/>
              <a:t>analogue to digital.</a:t>
            </a:r>
          </a:p>
          <a:p>
            <a:r>
              <a:rPr lang="en-GB" dirty="0"/>
              <a:t>sickness to prevention.</a:t>
            </a:r>
          </a:p>
        </p:txBody>
      </p:sp>
    </p:spTree>
    <p:extLst>
      <p:ext uri="{BB962C8B-B14F-4D97-AF65-F5344CB8AC3E}">
        <p14:creationId xmlns:p14="http://schemas.microsoft.com/office/powerpoint/2010/main" val="1752475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CECD-F5EE-6C4D-5FE0-A35470451764}"/>
              </a:ext>
            </a:extLst>
          </p:cNvPr>
          <p:cNvSpPr>
            <a:spLocks noGrp="1"/>
          </p:cNvSpPr>
          <p:nvPr>
            <p:ph type="title"/>
          </p:nvPr>
        </p:nvSpPr>
        <p:spPr/>
        <p:txBody>
          <a:bodyPr/>
          <a:lstStyle/>
          <a:p>
            <a:r>
              <a:rPr lang="en-GB" dirty="0"/>
              <a:t>hospital to community:</a:t>
            </a:r>
          </a:p>
        </p:txBody>
      </p:sp>
      <p:sp>
        <p:nvSpPr>
          <p:cNvPr id="3" name="Content Placeholder 2">
            <a:extLst>
              <a:ext uri="{FF2B5EF4-FFF2-40B4-BE49-F238E27FC236}">
                <a16:creationId xmlns:a16="http://schemas.microsoft.com/office/drawing/2014/main" id="{9D752C1F-14CC-C190-2061-E61C3525101F}"/>
              </a:ext>
            </a:extLst>
          </p:cNvPr>
          <p:cNvSpPr>
            <a:spLocks noGrp="1"/>
          </p:cNvSpPr>
          <p:nvPr>
            <p:ph idx="1"/>
          </p:nvPr>
        </p:nvSpPr>
        <p:spPr/>
        <p:txBody>
          <a:bodyPr/>
          <a:lstStyle/>
          <a:p>
            <a:r>
              <a:rPr lang="en-GB" dirty="0"/>
              <a:t>the neighbourhood health service, designed around you. </a:t>
            </a:r>
          </a:p>
          <a:p>
            <a:r>
              <a:rPr lang="en-GB" dirty="0"/>
              <a:t>end the disgraceful spectacle of corridor care and restore the NHS constitutional standard of 92% of patients beginning elective treatment within 18 weeks. </a:t>
            </a:r>
          </a:p>
          <a:p>
            <a:r>
              <a:rPr lang="en-GB" dirty="0"/>
              <a:t>free up hospitals to prioritise safe deployment of AI and harness new technology to bring the very best of cutting-edge care to all patients. All hospitals will be fully AI-enabled within the lifetime of this Plan.</a:t>
            </a:r>
          </a:p>
          <a:p>
            <a:endParaRPr lang="en-GB" dirty="0"/>
          </a:p>
        </p:txBody>
      </p:sp>
    </p:spTree>
    <p:extLst>
      <p:ext uri="{BB962C8B-B14F-4D97-AF65-F5344CB8AC3E}">
        <p14:creationId xmlns:p14="http://schemas.microsoft.com/office/powerpoint/2010/main" val="129425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D6D1-A426-616B-D378-2160A2279078}"/>
              </a:ext>
            </a:extLst>
          </p:cNvPr>
          <p:cNvSpPr>
            <a:spLocks noGrp="1"/>
          </p:cNvSpPr>
          <p:nvPr>
            <p:ph type="title"/>
          </p:nvPr>
        </p:nvSpPr>
        <p:spPr/>
        <p:txBody>
          <a:bodyPr>
            <a:normAutofit fontScale="90000"/>
          </a:bodyPr>
          <a:lstStyle/>
          <a:p>
            <a:r>
              <a:rPr lang="en-GB" dirty="0"/>
              <a:t>From analogue to digital: power in your hands</a:t>
            </a:r>
          </a:p>
        </p:txBody>
      </p:sp>
      <p:sp>
        <p:nvSpPr>
          <p:cNvPr id="3" name="Content Placeholder 2">
            <a:extLst>
              <a:ext uri="{FF2B5EF4-FFF2-40B4-BE49-F238E27FC236}">
                <a16:creationId xmlns:a16="http://schemas.microsoft.com/office/drawing/2014/main" id="{29A03754-441B-B043-CADC-02A705FB3A60}"/>
              </a:ext>
            </a:extLst>
          </p:cNvPr>
          <p:cNvSpPr>
            <a:spLocks noGrp="1"/>
          </p:cNvSpPr>
          <p:nvPr>
            <p:ph idx="1"/>
          </p:nvPr>
        </p:nvSpPr>
        <p:spPr/>
        <p:txBody>
          <a:bodyPr>
            <a:normAutofit fontScale="92500" lnSpcReduction="10000"/>
          </a:bodyPr>
          <a:lstStyle/>
          <a:p>
            <a:pPr marL="0" indent="0">
              <a:buNone/>
            </a:pPr>
            <a:r>
              <a:rPr lang="en-GB" dirty="0"/>
              <a:t>By 2028, the NHS app will be a full front door to the entire NHS. Through the app, patients will be able to:</a:t>
            </a:r>
          </a:p>
          <a:p>
            <a:r>
              <a:rPr lang="en-GB" dirty="0"/>
              <a:t>get </a:t>
            </a:r>
            <a:r>
              <a:rPr lang="en-GB" b="1" u="sng" dirty="0"/>
              <a:t>instant advice </a:t>
            </a:r>
            <a:r>
              <a:rPr lang="en-GB" dirty="0"/>
              <a:t>for non-urgent care and help finding the most appropriate service first time, through My NHS GP.</a:t>
            </a:r>
          </a:p>
          <a:p>
            <a:r>
              <a:rPr lang="en-GB" dirty="0"/>
              <a:t>manage </a:t>
            </a:r>
            <a:r>
              <a:rPr lang="en-GB" b="1" u="sng" dirty="0"/>
              <a:t>a long-term condition </a:t>
            </a:r>
            <a:r>
              <a:rPr lang="en-GB" dirty="0"/>
              <a:t>through My Care, access and upload health data through My Health or get extra care support through My Companion.</a:t>
            </a:r>
          </a:p>
          <a:p>
            <a:r>
              <a:rPr lang="en-GB" dirty="0"/>
              <a:t>build ‘</a:t>
            </a:r>
            <a:r>
              <a:rPr lang="en-GB" dirty="0" err="1"/>
              <a:t>HealthStore</a:t>
            </a:r>
            <a:r>
              <a:rPr lang="en-GB" dirty="0"/>
              <a:t>’ to enable patients to access </a:t>
            </a:r>
            <a:r>
              <a:rPr lang="en-GB" b="1" u="sng" dirty="0"/>
              <a:t>approved digital tools </a:t>
            </a:r>
            <a:r>
              <a:rPr lang="en-GB" dirty="0"/>
              <a:t>to manage or treat their conditions, enabling innovative businesses to work more collaboratively with the NHS and regulators.</a:t>
            </a:r>
          </a:p>
        </p:txBody>
      </p:sp>
    </p:spTree>
    <p:extLst>
      <p:ext uri="{BB962C8B-B14F-4D97-AF65-F5344CB8AC3E}">
        <p14:creationId xmlns:p14="http://schemas.microsoft.com/office/powerpoint/2010/main" val="554542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83F89-1C6B-E6A3-1EBD-839787A2B04C}"/>
              </a:ext>
            </a:extLst>
          </p:cNvPr>
          <p:cNvSpPr>
            <a:spLocks noGrp="1"/>
          </p:cNvSpPr>
          <p:nvPr>
            <p:ph type="title"/>
          </p:nvPr>
        </p:nvSpPr>
        <p:spPr/>
        <p:txBody>
          <a:bodyPr>
            <a:normAutofit fontScale="90000"/>
          </a:bodyPr>
          <a:lstStyle/>
          <a:p>
            <a:r>
              <a:rPr lang="en-GB" dirty="0"/>
              <a:t>From sickness to prevention: power to make the healthy choice People</a:t>
            </a:r>
          </a:p>
        </p:txBody>
      </p:sp>
      <p:sp>
        <p:nvSpPr>
          <p:cNvPr id="3" name="Content Placeholder 2">
            <a:extLst>
              <a:ext uri="{FF2B5EF4-FFF2-40B4-BE49-F238E27FC236}">
                <a16:creationId xmlns:a16="http://schemas.microsoft.com/office/drawing/2014/main" id="{0B64FFB5-BD84-7F51-7901-3CA47BE59292}"/>
              </a:ext>
            </a:extLst>
          </p:cNvPr>
          <p:cNvSpPr>
            <a:spLocks noGrp="1"/>
          </p:cNvSpPr>
          <p:nvPr>
            <p:ph idx="1"/>
          </p:nvPr>
        </p:nvSpPr>
        <p:spPr/>
        <p:txBody>
          <a:bodyPr/>
          <a:lstStyle/>
          <a:p>
            <a:r>
              <a:rPr lang="en-GB" dirty="0"/>
              <a:t>encourage citizens to play their part, including through a new health reward scheme to incentivise healthier choices. We will also work with the Great Run Company to set up a campaign to motivate millions to move more on a regular basis</a:t>
            </a:r>
          </a:p>
        </p:txBody>
      </p:sp>
    </p:spTree>
    <p:extLst>
      <p:ext uri="{BB962C8B-B14F-4D97-AF65-F5344CB8AC3E}">
        <p14:creationId xmlns:p14="http://schemas.microsoft.com/office/powerpoint/2010/main" val="257992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ECFF-3005-CAEE-FD4F-24913CF50959}"/>
              </a:ext>
            </a:extLst>
          </p:cNvPr>
          <p:cNvSpPr>
            <a:spLocks noGrp="1"/>
          </p:cNvSpPr>
          <p:nvPr>
            <p:ph type="title"/>
          </p:nvPr>
        </p:nvSpPr>
        <p:spPr/>
        <p:txBody>
          <a:bodyPr/>
          <a:lstStyle/>
          <a:p>
            <a:r>
              <a:rPr lang="en-GB" dirty="0"/>
              <a:t>An NHS workforce, fit for the future</a:t>
            </a:r>
          </a:p>
        </p:txBody>
      </p:sp>
      <p:sp>
        <p:nvSpPr>
          <p:cNvPr id="3" name="Content Placeholder 2">
            <a:extLst>
              <a:ext uri="{FF2B5EF4-FFF2-40B4-BE49-F238E27FC236}">
                <a16:creationId xmlns:a16="http://schemas.microsoft.com/office/drawing/2014/main" id="{90E7280A-D27B-8093-46A4-299B99D8C57B}"/>
              </a:ext>
            </a:extLst>
          </p:cNvPr>
          <p:cNvSpPr>
            <a:spLocks noGrp="1"/>
          </p:cNvSpPr>
          <p:nvPr>
            <p:ph idx="1"/>
          </p:nvPr>
        </p:nvSpPr>
        <p:spPr/>
        <p:txBody>
          <a:bodyPr/>
          <a:lstStyle/>
          <a:p>
            <a:r>
              <a:rPr lang="en-GB" dirty="0"/>
              <a:t>make AI every nurse’s and doctor’s trusted assistant - saving them time and supporting them in decision making. Over the next 3 years we will overhaul education and training curricula with the aim of future-proofing the NHS workforce.</a:t>
            </a:r>
          </a:p>
        </p:txBody>
      </p:sp>
    </p:spTree>
    <p:extLst>
      <p:ext uri="{BB962C8B-B14F-4D97-AF65-F5344CB8AC3E}">
        <p14:creationId xmlns:p14="http://schemas.microsoft.com/office/powerpoint/2010/main" val="382106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D41A1-A575-95D0-0EF3-0934E523D906}"/>
              </a:ext>
            </a:extLst>
          </p:cNvPr>
          <p:cNvSpPr>
            <a:spLocks noGrp="1"/>
          </p:cNvSpPr>
          <p:nvPr>
            <p:ph type="title"/>
          </p:nvPr>
        </p:nvSpPr>
        <p:spPr/>
        <p:txBody>
          <a:bodyPr/>
          <a:lstStyle/>
          <a:p>
            <a:r>
              <a:rPr lang="en-GB"/>
              <a:t>Educational development</a:t>
            </a:r>
            <a:endParaRPr lang="en-GB" dirty="0"/>
          </a:p>
        </p:txBody>
      </p:sp>
      <p:pic>
        <p:nvPicPr>
          <p:cNvPr id="4" name="Content Placeholder 3" descr="AHP Roadmaps to Practice - Sussex Training Hub">
            <a:extLst>
              <a:ext uri="{FF2B5EF4-FFF2-40B4-BE49-F238E27FC236}">
                <a16:creationId xmlns:a16="http://schemas.microsoft.com/office/drawing/2014/main" id="{11AAF82F-F0CA-0B00-9C34-E0E87E1B2E53}"/>
              </a:ext>
            </a:extLst>
          </p:cNvPr>
          <p:cNvPicPr>
            <a:picLocks noGrp="1"/>
          </p:cNvPicPr>
          <p:nvPr>
            <p:ph idx="1"/>
          </p:nvPr>
        </p:nvPicPr>
        <p:blipFill>
          <a:blip r:embed="rId2" r:link="rId3">
            <a:extLst>
              <a:ext uri="{28A0092B-C50C-407E-A947-70E740481C1C}">
                <a14:useLocalDpi xmlns:a14="http://schemas.microsoft.com/office/drawing/2010/main" val="0"/>
              </a:ext>
            </a:extLst>
          </a:blip>
          <a:srcRect/>
          <a:stretch>
            <a:fillRect/>
          </a:stretch>
        </p:blipFill>
        <p:spPr bwMode="auto">
          <a:xfrm>
            <a:off x="2872410" y="2534478"/>
            <a:ext cx="6112564" cy="3341389"/>
          </a:xfrm>
          <a:prstGeom prst="rect">
            <a:avLst/>
          </a:prstGeom>
          <a:noFill/>
          <a:ln>
            <a:noFill/>
          </a:ln>
        </p:spPr>
      </p:pic>
    </p:spTree>
    <p:extLst>
      <p:ext uri="{BB962C8B-B14F-4D97-AF65-F5344CB8AC3E}">
        <p14:creationId xmlns:p14="http://schemas.microsoft.com/office/powerpoint/2010/main" val="2316747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B9CF-271B-0879-D62E-3A21E5ACB7A1}"/>
              </a:ext>
            </a:extLst>
          </p:cNvPr>
          <p:cNvSpPr>
            <a:spLocks noGrp="1"/>
          </p:cNvSpPr>
          <p:nvPr>
            <p:ph type="ctrTitle"/>
          </p:nvPr>
        </p:nvSpPr>
        <p:spPr/>
        <p:txBody>
          <a:bodyPr/>
          <a:lstStyle/>
          <a:p>
            <a:r>
              <a:rPr lang="en-GB" dirty="0"/>
              <a:t>Group work</a:t>
            </a:r>
          </a:p>
        </p:txBody>
      </p:sp>
      <p:sp>
        <p:nvSpPr>
          <p:cNvPr id="3" name="Subtitle 2">
            <a:extLst>
              <a:ext uri="{FF2B5EF4-FFF2-40B4-BE49-F238E27FC236}">
                <a16:creationId xmlns:a16="http://schemas.microsoft.com/office/drawing/2014/main" id="{DBE92508-682B-FAEE-AD28-10C88368D520}"/>
              </a:ext>
            </a:extLst>
          </p:cNvPr>
          <p:cNvSpPr>
            <a:spLocks noGrp="1"/>
          </p:cNvSpPr>
          <p:nvPr>
            <p:ph type="subTitle" idx="1"/>
          </p:nvPr>
        </p:nvSpPr>
        <p:spPr/>
        <p:txBody>
          <a:bodyPr/>
          <a:lstStyle/>
          <a:p>
            <a:r>
              <a:rPr lang="en-GB" dirty="0"/>
              <a:t>In 5 minutes.</a:t>
            </a:r>
          </a:p>
          <a:p>
            <a:r>
              <a:rPr lang="en-GB" dirty="0"/>
              <a:t>What does MSK triage mean? What is the benefit of triage?</a:t>
            </a:r>
          </a:p>
        </p:txBody>
      </p:sp>
    </p:spTree>
    <p:extLst>
      <p:ext uri="{BB962C8B-B14F-4D97-AF65-F5344CB8AC3E}">
        <p14:creationId xmlns:p14="http://schemas.microsoft.com/office/powerpoint/2010/main" val="1084361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2608-3C05-E49D-CAD2-FE2148DA1E23}"/>
              </a:ext>
            </a:extLst>
          </p:cNvPr>
          <p:cNvSpPr>
            <a:spLocks noGrp="1"/>
          </p:cNvSpPr>
          <p:nvPr>
            <p:ph type="title"/>
          </p:nvPr>
        </p:nvSpPr>
        <p:spPr/>
        <p:txBody>
          <a:bodyPr/>
          <a:lstStyle/>
          <a:p>
            <a:pPr algn="l"/>
            <a:r>
              <a:rPr lang="en-GB" dirty="0"/>
              <a:t>MSK triage:</a:t>
            </a:r>
          </a:p>
        </p:txBody>
      </p:sp>
      <p:sp>
        <p:nvSpPr>
          <p:cNvPr id="3" name="Content Placeholder 2">
            <a:extLst>
              <a:ext uri="{FF2B5EF4-FFF2-40B4-BE49-F238E27FC236}">
                <a16:creationId xmlns:a16="http://schemas.microsoft.com/office/drawing/2014/main" id="{4503CE28-3304-F290-DC46-76F4F75E5B08}"/>
              </a:ext>
            </a:extLst>
          </p:cNvPr>
          <p:cNvSpPr>
            <a:spLocks noGrp="1"/>
          </p:cNvSpPr>
          <p:nvPr>
            <p:ph idx="1"/>
          </p:nvPr>
        </p:nvSpPr>
        <p:spPr/>
        <p:txBody>
          <a:bodyPr>
            <a:normAutofit fontScale="92500" lnSpcReduction="20000"/>
          </a:bodyPr>
          <a:lstStyle/>
          <a:p>
            <a:r>
              <a:rPr lang="en-GB" dirty="0">
                <a:latin typeface="Arial" panose="020B0604020202020204" pitchFamily="34" charset="0"/>
                <a:cs typeface="Arial" panose="020B0604020202020204" pitchFamily="34" charset="0"/>
              </a:rPr>
              <a:t>The goal of the diagnostic triage for MSK patients  is to exclude non-MSK causes of pain. A focused history and a physical examination of the patient form the cornerstone to the diagnostic triage classification. Part of the consultation should be used to gauge the patient’s understanding of their pain </a:t>
            </a:r>
            <a:r>
              <a:rPr lang="en-GB" b="1" u="sng" dirty="0">
                <a:solidFill>
                  <a:schemeClr val="accent3"/>
                </a:solidFill>
                <a:latin typeface="Arial" panose="020B0604020202020204" pitchFamily="34" charset="0"/>
                <a:cs typeface="Arial" panose="020B0604020202020204" pitchFamily="34" charset="0"/>
              </a:rPr>
              <a:t>(ICE) </a:t>
            </a:r>
            <a:r>
              <a:rPr lang="en-GB" dirty="0">
                <a:latin typeface="Arial" panose="020B0604020202020204" pitchFamily="34" charset="0"/>
                <a:cs typeface="Arial" panose="020B0604020202020204" pitchFamily="34" charset="0"/>
              </a:rPr>
              <a:t>(Bardin et al., 2017).</a:t>
            </a:r>
          </a:p>
          <a:p>
            <a:r>
              <a:rPr lang="en-GB" dirty="0">
                <a:latin typeface="Arial" panose="020B0604020202020204" pitchFamily="34" charset="0"/>
                <a:cs typeface="Arial" panose="020B0604020202020204" pitchFamily="34" charset="0"/>
              </a:rPr>
              <a:t>Triage systems are implemented to reduce waiting times and ensure rapid access to effective assessment, advice and treatment. As a result, the effects of triage on waiting list time , satisfaction, diagnostic agreement , appropriateness of referral , clinical measures  and cost  have been evaluated (Joseph et al., 2014).</a:t>
            </a:r>
          </a:p>
          <a:p>
            <a:pPr marL="0" indent="0">
              <a:buNone/>
            </a:pPr>
            <a:endParaRPr lang="en-GB" dirty="0"/>
          </a:p>
        </p:txBody>
      </p:sp>
    </p:spTree>
    <p:extLst>
      <p:ext uri="{BB962C8B-B14F-4D97-AF65-F5344CB8AC3E}">
        <p14:creationId xmlns:p14="http://schemas.microsoft.com/office/powerpoint/2010/main" val="3217882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DF589-D373-6FA1-EBB9-4838CA8562A7}"/>
              </a:ext>
            </a:extLst>
          </p:cNvPr>
          <p:cNvSpPr>
            <a:spLocks noGrp="1"/>
          </p:cNvSpPr>
          <p:nvPr>
            <p:ph type="title"/>
          </p:nvPr>
        </p:nvSpPr>
        <p:spPr/>
        <p:txBody>
          <a:bodyPr/>
          <a:lstStyle/>
          <a:p>
            <a:pPr algn="l"/>
            <a:r>
              <a:rPr lang="en-GB" dirty="0"/>
              <a:t>MSK triage (continued):</a:t>
            </a:r>
          </a:p>
        </p:txBody>
      </p:sp>
      <p:sp>
        <p:nvSpPr>
          <p:cNvPr id="3" name="Content Placeholder 2">
            <a:extLst>
              <a:ext uri="{FF2B5EF4-FFF2-40B4-BE49-F238E27FC236}">
                <a16:creationId xmlns:a16="http://schemas.microsoft.com/office/drawing/2014/main" id="{4584F26C-B1EA-7283-C5BA-DDF375D40969}"/>
              </a:ext>
            </a:extLst>
          </p:cNvPr>
          <p:cNvSpPr>
            <a:spLocks noGrp="1"/>
          </p:cNvSpPr>
          <p:nvPr>
            <p:ph idx="1"/>
          </p:nvPr>
        </p:nvSpPr>
        <p:spPr/>
        <p:txBody>
          <a:bodyPr/>
          <a:lstStyle/>
          <a:p>
            <a:r>
              <a:rPr lang="en-GB" dirty="0"/>
              <a:t>Evidence suggests that advanced practice physiotherapists (APPs) demonstrate good to very good agreement with physicians in both diagnosis and surgical triage of musculoskeletal disorders. Moreover, patients managed within an APP model of care report clinical outcomes—</a:t>
            </a:r>
            <a:r>
              <a:rPr lang="en-GB" b="1" u="sng" dirty="0"/>
              <a:t>such as reductions in pain and disability</a:t>
            </a:r>
            <a:r>
              <a:rPr lang="en-GB" dirty="0"/>
              <a:t>—that are comparable to, or in some cases better than, those achieved with usual medical care (Lafrance et al., 2023).</a:t>
            </a:r>
          </a:p>
        </p:txBody>
      </p:sp>
    </p:spTree>
    <p:extLst>
      <p:ext uri="{BB962C8B-B14F-4D97-AF65-F5344CB8AC3E}">
        <p14:creationId xmlns:p14="http://schemas.microsoft.com/office/powerpoint/2010/main" val="90673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EA0DC-22CA-AEF8-FF50-C866A07EAD90}"/>
              </a:ext>
            </a:extLst>
          </p:cNvPr>
          <p:cNvSpPr>
            <a:spLocks noGrp="1"/>
          </p:cNvSpPr>
          <p:nvPr>
            <p:ph type="title"/>
          </p:nvPr>
        </p:nvSpPr>
        <p:spPr/>
        <p:txBody>
          <a:bodyPr/>
          <a:lstStyle/>
          <a:p>
            <a:pPr algn="l"/>
            <a:r>
              <a:rPr lang="en-GB" dirty="0"/>
              <a:t>Clinical Reasoning:</a:t>
            </a:r>
          </a:p>
        </p:txBody>
      </p:sp>
      <p:sp>
        <p:nvSpPr>
          <p:cNvPr id="3" name="Content Placeholder 2">
            <a:extLst>
              <a:ext uri="{FF2B5EF4-FFF2-40B4-BE49-F238E27FC236}">
                <a16:creationId xmlns:a16="http://schemas.microsoft.com/office/drawing/2014/main" id="{F285B89C-8164-B00F-805E-D02A4C369098}"/>
              </a:ext>
            </a:extLst>
          </p:cNvPr>
          <p:cNvSpPr>
            <a:spLocks noGrp="1"/>
          </p:cNvSpPr>
          <p:nvPr>
            <p:ph idx="1"/>
          </p:nvPr>
        </p:nvSpPr>
        <p:spPr/>
        <p:txBody>
          <a:bodyPr/>
          <a:lstStyle/>
          <a:p>
            <a:r>
              <a:rPr lang="en-GB" dirty="0"/>
              <a:t>a complex interaction of knowledge, clinical data, experience and patient understanding. As clinicians, we are asking questions of our patients, ourselves and the literature to help construct a clinical diagnosis and formulate a treatment plan (Roberts &amp; Langridge, 2018).</a:t>
            </a:r>
          </a:p>
        </p:txBody>
      </p:sp>
    </p:spTree>
    <p:extLst>
      <p:ext uri="{BB962C8B-B14F-4D97-AF65-F5344CB8AC3E}">
        <p14:creationId xmlns:p14="http://schemas.microsoft.com/office/powerpoint/2010/main" val="2528635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D1083-3DF7-53A4-99D8-4828FC88CEFB}"/>
              </a:ext>
            </a:extLst>
          </p:cNvPr>
          <p:cNvSpPr>
            <a:spLocks noGrp="1"/>
          </p:cNvSpPr>
          <p:nvPr>
            <p:ph type="title"/>
          </p:nvPr>
        </p:nvSpPr>
        <p:spPr/>
        <p:txBody>
          <a:bodyPr/>
          <a:lstStyle/>
          <a:p>
            <a:pPr algn="l"/>
            <a:r>
              <a:rPr lang="en-GB" dirty="0"/>
              <a:t>What did we cover so, far </a:t>
            </a:r>
            <a:r>
              <a:rPr lang="en-GB" dirty="0">
                <a:sym typeface="Wingdings" panose="05000000000000000000" pitchFamily="2" charset="2"/>
              </a:rPr>
              <a:t></a:t>
            </a:r>
            <a:endParaRPr lang="en-GB" dirty="0"/>
          </a:p>
        </p:txBody>
      </p:sp>
      <p:graphicFrame>
        <p:nvGraphicFramePr>
          <p:cNvPr id="4" name="Content Placeholder 3">
            <a:extLst>
              <a:ext uri="{FF2B5EF4-FFF2-40B4-BE49-F238E27FC236}">
                <a16:creationId xmlns:a16="http://schemas.microsoft.com/office/drawing/2014/main" id="{3AAF3233-99DB-4984-23D9-1D2A0D10A31E}"/>
              </a:ext>
            </a:extLst>
          </p:cNvPr>
          <p:cNvGraphicFramePr>
            <a:graphicFrameLocks noGrp="1"/>
          </p:cNvGraphicFramePr>
          <p:nvPr>
            <p:ph idx="1"/>
            <p:extLst>
              <p:ext uri="{D42A27DB-BD31-4B8C-83A1-F6EECF244321}">
                <p14:modId xmlns:p14="http://schemas.microsoft.com/office/powerpoint/2010/main" val="434834118"/>
              </p:ext>
            </p:extLst>
          </p:nvPr>
        </p:nvGraphicFramePr>
        <p:xfrm>
          <a:off x="1295400" y="2557463"/>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6920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57C97-2CFF-6C68-E9DE-55904A1F5A98}"/>
              </a:ext>
            </a:extLst>
          </p:cNvPr>
          <p:cNvSpPr>
            <a:spLocks noGrp="1"/>
          </p:cNvSpPr>
          <p:nvPr>
            <p:ph type="title"/>
          </p:nvPr>
        </p:nvSpPr>
        <p:spPr/>
        <p:txBody>
          <a:bodyPr/>
          <a:lstStyle/>
          <a:p>
            <a:r>
              <a:rPr lang="en-GB" dirty="0"/>
              <a:t>Practical </a:t>
            </a:r>
          </a:p>
        </p:txBody>
      </p:sp>
      <p:sp>
        <p:nvSpPr>
          <p:cNvPr id="3" name="Text Placeholder 2">
            <a:extLst>
              <a:ext uri="{FF2B5EF4-FFF2-40B4-BE49-F238E27FC236}">
                <a16:creationId xmlns:a16="http://schemas.microsoft.com/office/drawing/2014/main" id="{9157E407-281B-F232-ED6D-376E197B5295}"/>
              </a:ext>
            </a:extLst>
          </p:cNvPr>
          <p:cNvSpPr>
            <a:spLocks noGrp="1"/>
          </p:cNvSpPr>
          <p:nvPr>
            <p:ph type="body" idx="1"/>
          </p:nvPr>
        </p:nvSpPr>
        <p:spPr/>
        <p:txBody>
          <a:bodyPr>
            <a:normAutofit lnSpcReduction="10000"/>
          </a:bodyPr>
          <a:lstStyle/>
          <a:p>
            <a:r>
              <a:rPr lang="en-GB" dirty="0"/>
              <a:t>A group of 3: patient, physio and examiner.</a:t>
            </a:r>
          </a:p>
          <a:p>
            <a:r>
              <a:rPr lang="en-GB" dirty="0"/>
              <a:t>1- are you going to to treat this patient? Why?</a:t>
            </a:r>
          </a:p>
        </p:txBody>
      </p:sp>
    </p:spTree>
    <p:extLst>
      <p:ext uri="{BB962C8B-B14F-4D97-AF65-F5344CB8AC3E}">
        <p14:creationId xmlns:p14="http://schemas.microsoft.com/office/powerpoint/2010/main" val="3071323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33486-A801-0AC5-8787-44AC49C0F5A6}"/>
              </a:ext>
            </a:extLst>
          </p:cNvPr>
          <p:cNvSpPr>
            <a:spLocks noGrp="1"/>
          </p:cNvSpPr>
          <p:nvPr>
            <p:ph type="title"/>
          </p:nvPr>
        </p:nvSpPr>
        <p:spPr/>
        <p:txBody>
          <a:bodyPr/>
          <a:lstStyle/>
          <a:p>
            <a:pPr algn="l"/>
            <a:r>
              <a:rPr lang="en-GB" dirty="0"/>
              <a:t>Red flags:</a:t>
            </a:r>
          </a:p>
        </p:txBody>
      </p:sp>
      <p:sp>
        <p:nvSpPr>
          <p:cNvPr id="3" name="Content Placeholder 2">
            <a:extLst>
              <a:ext uri="{FF2B5EF4-FFF2-40B4-BE49-F238E27FC236}">
                <a16:creationId xmlns:a16="http://schemas.microsoft.com/office/drawing/2014/main" id="{6C8113A8-ED01-06C5-7E52-9CF00831AF5A}"/>
              </a:ext>
            </a:extLst>
          </p:cNvPr>
          <p:cNvSpPr>
            <a:spLocks noGrp="1"/>
          </p:cNvSpPr>
          <p:nvPr>
            <p:ph idx="1"/>
          </p:nvPr>
        </p:nvSpPr>
        <p:spPr/>
        <p:txBody>
          <a:bodyPr>
            <a:normAutofit fontScale="62500" lnSpcReduction="20000"/>
          </a:bodyPr>
          <a:lstStyle/>
          <a:p>
            <a:r>
              <a:rPr lang="en-GB" sz="2600" dirty="0">
                <a:latin typeface="Arial" panose="020B0604020202020204" pitchFamily="34" charset="0"/>
                <a:cs typeface="Arial" panose="020B0604020202020204" pitchFamily="34" charset="0"/>
              </a:rPr>
              <a:t>"positive answers to key questions about medical history, that indicate the possibility of a serious underlying condition" (Underwood &amp; Buchbinder 2013).</a:t>
            </a:r>
          </a:p>
          <a:p>
            <a:r>
              <a:rPr lang="en-GB" sz="2600" dirty="0">
                <a:latin typeface="Arial" panose="020B0604020202020204" pitchFamily="34" charset="0"/>
                <a:cs typeface="Arial" panose="020B0604020202020204" pitchFamily="34" charset="0"/>
              </a:rPr>
              <a:t>Not intended to be clinical decision-making tools in their own right</a:t>
            </a:r>
          </a:p>
          <a:p>
            <a:r>
              <a:rPr lang="en-GB" sz="2600" dirty="0">
                <a:latin typeface="Arial" panose="020B0604020202020204" pitchFamily="34" charset="0"/>
                <a:cs typeface="Arial" panose="020B0604020202020204" pitchFamily="34" charset="0"/>
              </a:rPr>
              <a:t>Inadequate evidence to support the use of red flags as a screening tool to decide whether or not further investigations are needed</a:t>
            </a:r>
          </a:p>
          <a:p>
            <a:r>
              <a:rPr lang="en-GB" sz="2600" dirty="0">
                <a:latin typeface="Arial" panose="020B0604020202020204" pitchFamily="34" charset="0"/>
                <a:cs typeface="Arial" panose="020B0604020202020204" pitchFamily="34" charset="0"/>
              </a:rPr>
              <a:t>Need a better understanding about which red flags are predictive of serious pathology in order to reduce unnecessary investigations</a:t>
            </a:r>
          </a:p>
          <a:p>
            <a:r>
              <a:rPr lang="en-GB" sz="2600" dirty="0">
                <a:latin typeface="Arial" panose="020B0604020202020204" pitchFamily="34" charset="0"/>
                <a:cs typeface="Arial" panose="020B0604020202020204" pitchFamily="34" charset="0"/>
              </a:rPr>
              <a:t>Single red flags are not diagnostic, clusters of red flags may have better prognostic utility and should be used in </a:t>
            </a:r>
            <a:r>
              <a:rPr lang="en-GB" sz="2600" dirty="0">
                <a:latin typeface="Arial" panose="020B0604020202020204" pitchFamily="34" charset="0"/>
                <a:ea typeface="+mn-lt"/>
                <a:cs typeface="Arial" panose="020B0604020202020204" pitchFamily="34" charset="0"/>
              </a:rPr>
              <a:t>context of a thorough subjective patient history and physical examination</a:t>
            </a:r>
          </a:p>
          <a:p>
            <a:r>
              <a:rPr lang="en-GB" sz="2600" dirty="0">
                <a:latin typeface="Arial" panose="020B0604020202020204" pitchFamily="34" charset="0"/>
                <a:cs typeface="Arial" panose="020B0604020202020204" pitchFamily="34" charset="0"/>
              </a:rPr>
              <a:t>Need to think in terms of how a serious pathology may present clinically, and which red flags would be relevant for that specific pathology</a:t>
            </a:r>
          </a:p>
          <a:p>
            <a:endParaRPr lang="en-GB" dirty="0"/>
          </a:p>
        </p:txBody>
      </p:sp>
    </p:spTree>
    <p:extLst>
      <p:ext uri="{BB962C8B-B14F-4D97-AF65-F5344CB8AC3E}">
        <p14:creationId xmlns:p14="http://schemas.microsoft.com/office/powerpoint/2010/main" val="392338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AE9D9-91CE-6EE7-6011-58D7225AF13F}"/>
              </a:ext>
            </a:extLst>
          </p:cNvPr>
          <p:cNvSpPr>
            <a:spLocks noGrp="1"/>
          </p:cNvSpPr>
          <p:nvPr>
            <p:ph type="title"/>
          </p:nvPr>
        </p:nvSpPr>
        <p:spPr/>
        <p:txBody>
          <a:bodyPr/>
          <a:lstStyle/>
          <a:p>
            <a:pPr algn="l"/>
            <a:r>
              <a:rPr lang="en-GB" dirty="0"/>
              <a:t>Red flags continued:</a:t>
            </a:r>
          </a:p>
        </p:txBody>
      </p:sp>
      <p:sp>
        <p:nvSpPr>
          <p:cNvPr id="3" name="Content Placeholder 2">
            <a:extLst>
              <a:ext uri="{FF2B5EF4-FFF2-40B4-BE49-F238E27FC236}">
                <a16:creationId xmlns:a16="http://schemas.microsoft.com/office/drawing/2014/main" id="{1621098D-69E2-F9EC-6209-84F17A1C8DBE}"/>
              </a:ext>
            </a:extLst>
          </p:cNvPr>
          <p:cNvSpPr>
            <a:spLocks noGrp="1"/>
          </p:cNvSpPr>
          <p:nvPr>
            <p:ph idx="1"/>
          </p:nvPr>
        </p:nvSpPr>
        <p:spPr/>
        <p:txBody>
          <a:bodyPr/>
          <a:lstStyle/>
          <a:p>
            <a:r>
              <a:rPr lang="en-GB" dirty="0"/>
              <a:t>Subjective, subjective, subjective</a:t>
            </a:r>
          </a:p>
          <a:p>
            <a:r>
              <a:rPr lang="en-GB" dirty="0"/>
              <a:t>Onset, duration, nature, daily pattern, aggravating factor, reliving factor.</a:t>
            </a:r>
          </a:p>
          <a:p>
            <a:r>
              <a:rPr lang="en-GB" dirty="0"/>
              <a:t>Chronology of symptoms.</a:t>
            </a:r>
          </a:p>
        </p:txBody>
      </p:sp>
    </p:spTree>
    <p:extLst>
      <p:ext uri="{BB962C8B-B14F-4D97-AF65-F5344CB8AC3E}">
        <p14:creationId xmlns:p14="http://schemas.microsoft.com/office/powerpoint/2010/main" val="3064930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BB6D-D504-9F83-2681-EE3202E45F5D}"/>
              </a:ext>
            </a:extLst>
          </p:cNvPr>
          <p:cNvSpPr>
            <a:spLocks noGrp="1"/>
          </p:cNvSpPr>
          <p:nvPr>
            <p:ph type="title"/>
          </p:nvPr>
        </p:nvSpPr>
        <p:spPr/>
        <p:txBody>
          <a:bodyPr/>
          <a:lstStyle/>
          <a:p>
            <a:pPr algn="l"/>
            <a:r>
              <a:rPr lang="en-US" dirty="0">
                <a:solidFill>
                  <a:schemeClr val="tx1"/>
                </a:solidFill>
              </a:rPr>
              <a:t>MSK Masqueraders:</a:t>
            </a:r>
            <a:endParaRPr lang="en-GB" dirty="0">
              <a:solidFill>
                <a:schemeClr val="tx1"/>
              </a:solidFill>
            </a:endParaRPr>
          </a:p>
        </p:txBody>
      </p:sp>
      <p:sp>
        <p:nvSpPr>
          <p:cNvPr id="3" name="Content Placeholder 2">
            <a:extLst>
              <a:ext uri="{FF2B5EF4-FFF2-40B4-BE49-F238E27FC236}">
                <a16:creationId xmlns:a16="http://schemas.microsoft.com/office/drawing/2014/main" id="{26E7BB9A-982D-191E-9196-039B62E52978}"/>
              </a:ext>
            </a:extLst>
          </p:cNvPr>
          <p:cNvSpPr>
            <a:spLocks noGrp="1"/>
          </p:cNvSpPr>
          <p:nvPr>
            <p:ph idx="1"/>
          </p:nvPr>
        </p:nvSpPr>
        <p:spPr/>
        <p:txBody>
          <a:bodyPr/>
          <a:lstStyle/>
          <a:p>
            <a:r>
              <a:rPr lang="en-GB" dirty="0">
                <a:solidFill>
                  <a:schemeClr val="tx1"/>
                </a:solidFill>
                <a:latin typeface="Arial" panose="020B0604020202020204" pitchFamily="34" charset="0"/>
                <a:cs typeface="Arial" panose="020B0604020202020204" pitchFamily="34" charset="0"/>
              </a:rPr>
              <a:t>attribute a patient’s symptoms to an unrelated entity (Walcott et al., 2011).</a:t>
            </a:r>
          </a:p>
          <a:p>
            <a:r>
              <a:rPr lang="en-US" dirty="0">
                <a:solidFill>
                  <a:schemeClr val="tx1"/>
                </a:solidFill>
                <a:latin typeface="Arial" panose="020B0604020202020204" pitchFamily="34" charset="0"/>
                <a:cs typeface="Arial" panose="020B0604020202020204" pitchFamily="34" charset="0"/>
              </a:rPr>
              <a:t>Vascular Masqueraders.</a:t>
            </a:r>
          </a:p>
          <a:p>
            <a:r>
              <a:rPr lang="en-US" dirty="0">
                <a:solidFill>
                  <a:schemeClr val="tx1"/>
                </a:solidFill>
                <a:latin typeface="Arial" panose="020B0604020202020204" pitchFamily="34" charset="0"/>
                <a:cs typeface="Arial" panose="020B0604020202020204" pitchFamily="34" charset="0"/>
              </a:rPr>
              <a:t>Neurological Masqueraders.</a:t>
            </a:r>
          </a:p>
          <a:p>
            <a:r>
              <a:rPr lang="en-US" dirty="0">
                <a:solidFill>
                  <a:schemeClr val="tx1"/>
                </a:solidFill>
                <a:latin typeface="Arial" panose="020B0604020202020204" pitchFamily="34" charset="0"/>
                <a:cs typeface="Arial" panose="020B0604020202020204" pitchFamily="34" charset="0"/>
              </a:rPr>
              <a:t>Visceral Masqueraders.</a:t>
            </a:r>
          </a:p>
          <a:p>
            <a:r>
              <a:rPr lang="en-US" dirty="0">
                <a:solidFill>
                  <a:schemeClr val="tx1"/>
                </a:solidFill>
                <a:latin typeface="Arial" panose="020B0604020202020204" pitchFamily="34" charset="0"/>
                <a:cs typeface="Arial" panose="020B0604020202020204" pitchFamily="34" charset="0"/>
              </a:rPr>
              <a:t>Others.</a:t>
            </a:r>
            <a:endParaRPr lang="en-GB"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565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up of coffee and a sign with words&#10;&#10;AI-generated content may be incorrect.">
            <a:extLst>
              <a:ext uri="{FF2B5EF4-FFF2-40B4-BE49-F238E27FC236}">
                <a16:creationId xmlns:a16="http://schemas.microsoft.com/office/drawing/2014/main" id="{DB1A02B0-3109-D129-C596-0B888F29A376}"/>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7942" b="1198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FA086C5-B782-328B-80AD-E56FF098D71B}"/>
              </a:ext>
            </a:extLst>
          </p:cNvPr>
          <p:cNvSpPr>
            <a:spLocks noGrp="1"/>
          </p:cNvSpPr>
          <p:nvPr>
            <p:ph type="title"/>
          </p:nvPr>
        </p:nvSpPr>
        <p:spPr>
          <a:xfrm>
            <a:off x="1295402" y="982132"/>
            <a:ext cx="9601196" cy="1303867"/>
          </a:xfrm>
        </p:spPr>
        <p:txBody>
          <a:bodyPr>
            <a:normAutofit/>
          </a:bodyPr>
          <a:lstStyle/>
          <a:p>
            <a:r>
              <a:rPr lang="en-GB">
                <a:solidFill>
                  <a:srgbClr val="FFFFFF"/>
                </a:solidFill>
              </a:rPr>
              <a:t>Break </a:t>
            </a:r>
          </a:p>
        </p:txBody>
      </p:sp>
      <p:cxnSp>
        <p:nvCxnSpPr>
          <p:cNvPr id="12" name="Straight Connector 11">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DDC864E0-AE1E-81A6-21E9-F81AD6D404C1}"/>
              </a:ext>
            </a:extLst>
          </p:cNvPr>
          <p:cNvSpPr>
            <a:spLocks noGrp="1"/>
          </p:cNvSpPr>
          <p:nvPr>
            <p:ph idx="1"/>
          </p:nvPr>
        </p:nvSpPr>
        <p:spPr>
          <a:xfrm>
            <a:off x="1295401" y="2556932"/>
            <a:ext cx="9601196" cy="3318936"/>
          </a:xfrm>
        </p:spPr>
        <p:txBody>
          <a:bodyPr>
            <a:normAutofit/>
          </a:bodyPr>
          <a:lstStyle/>
          <a:p>
            <a:r>
              <a:rPr lang="en-GB">
                <a:solidFill>
                  <a:srgbClr val="FFFFFF"/>
                </a:solidFill>
              </a:rPr>
              <a:t>5 minutes </a:t>
            </a:r>
          </a:p>
          <a:p>
            <a:endParaRPr lang="en-GB">
              <a:solidFill>
                <a:srgbClr val="FFFFFF"/>
              </a:solidFill>
            </a:endParaRPr>
          </a:p>
        </p:txBody>
      </p:sp>
    </p:spTree>
    <p:extLst>
      <p:ext uri="{BB962C8B-B14F-4D97-AF65-F5344CB8AC3E}">
        <p14:creationId xmlns:p14="http://schemas.microsoft.com/office/powerpoint/2010/main" val="3235761082"/>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8DB13-53B2-8501-BBB5-02280823C6F9}"/>
              </a:ext>
            </a:extLst>
          </p:cNvPr>
          <p:cNvSpPr>
            <a:spLocks noGrp="1"/>
          </p:cNvSpPr>
          <p:nvPr>
            <p:ph type="title"/>
          </p:nvPr>
        </p:nvSpPr>
        <p:spPr/>
        <p:txBody>
          <a:bodyPr/>
          <a:lstStyle/>
          <a:p>
            <a:pPr algn="l"/>
            <a:r>
              <a:rPr lang="en-GB" dirty="0"/>
              <a:t>clinical practice pathways (CPWs):</a:t>
            </a:r>
          </a:p>
        </p:txBody>
      </p:sp>
      <p:sp>
        <p:nvSpPr>
          <p:cNvPr id="3" name="Content Placeholder 2">
            <a:extLst>
              <a:ext uri="{FF2B5EF4-FFF2-40B4-BE49-F238E27FC236}">
                <a16:creationId xmlns:a16="http://schemas.microsoft.com/office/drawing/2014/main" id="{0B249B72-413C-0C1F-326A-B8D6FF7FF762}"/>
              </a:ext>
            </a:extLst>
          </p:cNvPr>
          <p:cNvSpPr>
            <a:spLocks noGrp="1"/>
          </p:cNvSpPr>
          <p:nvPr>
            <p:ph idx="1"/>
          </p:nvPr>
        </p:nvSpPr>
        <p:spPr/>
        <p:txBody>
          <a:bodyPr>
            <a:normAutofit lnSpcReduction="10000"/>
          </a:bodyPr>
          <a:lstStyle/>
          <a:p>
            <a:r>
              <a:rPr lang="en-GB" dirty="0"/>
              <a:t>structured </a:t>
            </a:r>
            <a:r>
              <a:rPr lang="en-GB" b="1" u="sng" dirty="0"/>
              <a:t>multidisciplinary care plans </a:t>
            </a:r>
            <a:r>
              <a:rPr lang="en-GB" dirty="0"/>
              <a:t>which detail essential steps in the care of patients with a specific clinical problem (Rotter 2010). They support the translation of clinical guidelines into local protocols and clinical practice (Campbell 1998). Whilst clinical guidelines provide generic recommendations, CPWs detail the local structures, systems, and time frames to address these recommendations.</a:t>
            </a:r>
          </a:p>
          <a:p>
            <a:r>
              <a:rPr lang="en-GB" dirty="0"/>
              <a:t>CPWs have been proposed as a strategy to optimize </a:t>
            </a:r>
            <a:r>
              <a:rPr lang="en-GB" b="1" u="sng" dirty="0"/>
              <a:t>resource </a:t>
            </a:r>
            <a:r>
              <a:rPr lang="en-GB" dirty="0"/>
              <a:t>allocation in a climate of rising healthcare costs, as they may improve the efficiency with which healthcare is delivered</a:t>
            </a:r>
          </a:p>
          <a:p>
            <a:endParaRPr lang="en-GB" dirty="0"/>
          </a:p>
        </p:txBody>
      </p:sp>
    </p:spTree>
    <p:extLst>
      <p:ext uri="{BB962C8B-B14F-4D97-AF65-F5344CB8AC3E}">
        <p14:creationId xmlns:p14="http://schemas.microsoft.com/office/powerpoint/2010/main" val="292152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8826-931A-ECF6-5586-1F839B9E818B}"/>
              </a:ext>
            </a:extLst>
          </p:cNvPr>
          <p:cNvSpPr>
            <a:spLocks noGrp="1"/>
          </p:cNvSpPr>
          <p:nvPr>
            <p:ph type="title"/>
          </p:nvPr>
        </p:nvSpPr>
        <p:spPr/>
        <p:txBody>
          <a:bodyPr>
            <a:normAutofit fontScale="90000"/>
          </a:bodyPr>
          <a:lstStyle/>
          <a:p>
            <a:r>
              <a:rPr lang="en-GB" dirty="0"/>
              <a:t>Benefits of clinical practice pathways (CPWs):</a:t>
            </a:r>
          </a:p>
        </p:txBody>
      </p:sp>
      <p:sp>
        <p:nvSpPr>
          <p:cNvPr id="3" name="Content Placeholder 2">
            <a:extLst>
              <a:ext uri="{FF2B5EF4-FFF2-40B4-BE49-F238E27FC236}">
                <a16:creationId xmlns:a16="http://schemas.microsoft.com/office/drawing/2014/main" id="{F67FADB7-3C2D-267C-13DF-5822C109D1DC}"/>
              </a:ext>
            </a:extLst>
          </p:cNvPr>
          <p:cNvSpPr>
            <a:spLocks noGrp="1"/>
          </p:cNvSpPr>
          <p:nvPr>
            <p:ph idx="1"/>
          </p:nvPr>
        </p:nvSpPr>
        <p:spPr/>
        <p:txBody>
          <a:bodyPr/>
          <a:lstStyle/>
          <a:p>
            <a:r>
              <a:rPr lang="en-GB" dirty="0"/>
              <a:t>Stand-alone CPWs are likely to reduce in hospital complications (moderate certainty) but it is very uncertain if they make any difference to hospital readmissions (up to 6 months) (very low certainty). Stand-alone CPWs are likely to reduce length of hospital stay (moderate certainty). Costs and charges were generally lower in CPWs in nine out of ten studies included in this comparison (very low certainty). Stand-alone CPWs may also slightly increase adherence to recommended practice (low certainty) (Rotter et al., 2025).</a:t>
            </a:r>
          </a:p>
          <a:p>
            <a:endParaRPr lang="en-GB" dirty="0"/>
          </a:p>
        </p:txBody>
      </p:sp>
    </p:spTree>
    <p:extLst>
      <p:ext uri="{BB962C8B-B14F-4D97-AF65-F5344CB8AC3E}">
        <p14:creationId xmlns:p14="http://schemas.microsoft.com/office/powerpoint/2010/main" val="3471441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C9E7E0E-51DD-558B-4679-8C2FA8C05308}"/>
              </a:ext>
            </a:extLst>
          </p:cNvPr>
          <p:cNvSpPr>
            <a:spLocks noGrp="1"/>
          </p:cNvSpPr>
          <p:nvPr>
            <p:ph type="title"/>
          </p:nvPr>
        </p:nvSpPr>
        <p:spPr/>
        <p:txBody>
          <a:bodyPr/>
          <a:lstStyle/>
          <a:p>
            <a:pPr algn="l"/>
            <a:r>
              <a:rPr lang="en-GB" dirty="0"/>
              <a:t>CPWS (continued): </a:t>
            </a:r>
          </a:p>
        </p:txBody>
      </p:sp>
      <p:sp>
        <p:nvSpPr>
          <p:cNvPr id="7" name="Content Placeholder 6">
            <a:extLst>
              <a:ext uri="{FF2B5EF4-FFF2-40B4-BE49-F238E27FC236}">
                <a16:creationId xmlns:a16="http://schemas.microsoft.com/office/drawing/2014/main" id="{5A5A2AEC-605A-67F0-142C-5CECA9D8B6D1}"/>
              </a:ext>
            </a:extLst>
          </p:cNvPr>
          <p:cNvSpPr>
            <a:spLocks noGrp="1"/>
          </p:cNvSpPr>
          <p:nvPr>
            <p:ph sz="half" idx="1"/>
          </p:nvPr>
        </p:nvSpPr>
        <p:spPr/>
        <p:txBody>
          <a:bodyPr>
            <a:normAutofit fontScale="55000" lnSpcReduction="20000"/>
          </a:bodyPr>
          <a:lstStyle/>
          <a:p>
            <a:r>
              <a:rPr lang="en-GB" sz="3200" b="1" u="sng" dirty="0">
                <a:latin typeface="Arial" panose="020B0604020202020204" pitchFamily="34" charset="0"/>
                <a:cs typeface="Arial" panose="020B0604020202020204" pitchFamily="34" charset="0"/>
              </a:rPr>
              <a:t>purpose of the Pathway: </a:t>
            </a:r>
            <a:endParaRPr lang="en-GB" sz="3200"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•Implement Evidence Based Pathway.</a:t>
            </a:r>
          </a:p>
          <a:p>
            <a:r>
              <a:rPr lang="en-GB" dirty="0">
                <a:latin typeface="Arial" panose="020B0604020202020204" pitchFamily="34" charset="0"/>
                <a:cs typeface="Arial" panose="020B0604020202020204" pitchFamily="34" charset="0"/>
              </a:rPr>
              <a:t>  •Expedite Effective Treatment.</a:t>
            </a:r>
          </a:p>
          <a:p>
            <a:r>
              <a:rPr lang="en-GB" dirty="0">
                <a:latin typeface="Arial" panose="020B0604020202020204" pitchFamily="34" charset="0"/>
                <a:cs typeface="Arial" panose="020B0604020202020204" pitchFamily="34" charset="0"/>
              </a:rPr>
              <a:t>  •Reduce Inappropriate Referrals to Secondary Care. </a:t>
            </a:r>
          </a:p>
          <a:p>
            <a:r>
              <a:rPr lang="en-GB" dirty="0">
                <a:latin typeface="Arial" panose="020B0604020202020204" pitchFamily="34" charset="0"/>
                <a:cs typeface="Arial" panose="020B0604020202020204" pitchFamily="34" charset="0"/>
              </a:rPr>
              <a:t> •Eliminate Ineffective Therapies.</a:t>
            </a:r>
          </a:p>
          <a:p>
            <a:r>
              <a:rPr lang="en-GB" dirty="0">
                <a:latin typeface="Arial" panose="020B0604020202020204" pitchFamily="34" charset="0"/>
                <a:cs typeface="Arial" panose="020B0604020202020204" pitchFamily="34" charset="0"/>
              </a:rPr>
              <a:t>  •Reduce Case-mix Variation .</a:t>
            </a:r>
          </a:p>
          <a:p>
            <a:r>
              <a:rPr lang="en-GB" dirty="0">
                <a:latin typeface="Arial" panose="020B0604020202020204" pitchFamily="34" charset="0"/>
                <a:cs typeface="Arial" panose="020B0604020202020204" pitchFamily="34" charset="0"/>
              </a:rPr>
              <a:t> •Address Surgical Waiting Times.</a:t>
            </a:r>
          </a:p>
          <a:p>
            <a:r>
              <a:rPr lang="en-GB" dirty="0">
                <a:latin typeface="Arial" panose="020B0604020202020204" pitchFamily="34" charset="0"/>
                <a:cs typeface="Arial" panose="020B0604020202020204" pitchFamily="34" charset="0"/>
              </a:rPr>
              <a:t>  •Drive up Quality of Care.</a:t>
            </a:r>
          </a:p>
          <a:p>
            <a:r>
              <a:rPr lang="en-GB" dirty="0">
                <a:latin typeface="Arial" panose="020B0604020202020204" pitchFamily="34" charset="0"/>
                <a:cs typeface="Arial" panose="020B0604020202020204" pitchFamily="34" charset="0"/>
              </a:rPr>
              <a:t>  •Improve Patient Outcomes and Satisfaction.</a:t>
            </a:r>
          </a:p>
          <a:p>
            <a:r>
              <a:rPr lang="en-GB" dirty="0">
                <a:latin typeface="Arial" panose="020B0604020202020204" pitchFamily="34" charset="0"/>
                <a:cs typeface="Arial" panose="020B0604020202020204" pitchFamily="34" charset="0"/>
              </a:rPr>
              <a:t> </a:t>
            </a:r>
          </a:p>
          <a:p>
            <a:endParaRPr lang="en-GB" dirty="0"/>
          </a:p>
        </p:txBody>
      </p:sp>
      <p:sp>
        <p:nvSpPr>
          <p:cNvPr id="6" name="Text Placeholder 5">
            <a:extLst>
              <a:ext uri="{FF2B5EF4-FFF2-40B4-BE49-F238E27FC236}">
                <a16:creationId xmlns:a16="http://schemas.microsoft.com/office/drawing/2014/main" id="{B2342E86-840F-C963-5706-BAE9E508BE37}"/>
              </a:ext>
            </a:extLst>
          </p:cNvPr>
          <p:cNvSpPr>
            <a:spLocks noGrp="1"/>
          </p:cNvSpPr>
          <p:nvPr>
            <p:ph sz="half" idx="2"/>
          </p:nvPr>
        </p:nvSpPr>
        <p:spPr/>
        <p:txBody>
          <a:bodyPr>
            <a:normAutofit fontScale="55000" lnSpcReduction="20000"/>
          </a:bodyPr>
          <a:lstStyle/>
          <a:p>
            <a:r>
              <a:rPr lang="en-GB" sz="3600" b="1" u="sng" dirty="0">
                <a:latin typeface="Arial" panose="020B0604020202020204" pitchFamily="34" charset="0"/>
                <a:cs typeface="Arial" panose="020B0604020202020204" pitchFamily="34" charset="0"/>
              </a:rPr>
              <a:t>MSK triage:</a:t>
            </a:r>
          </a:p>
          <a:p>
            <a:r>
              <a:rPr lang="en-GB" dirty="0">
                <a:latin typeface="Arial" panose="020B0604020202020204" pitchFamily="34" charset="0"/>
                <a:cs typeface="Arial" panose="020B0604020202020204" pitchFamily="34" charset="0"/>
              </a:rPr>
              <a:t>The goal of the diagnostic triage for MSK patients  is to exclude non-MSK causes of pain. </a:t>
            </a:r>
          </a:p>
          <a:p>
            <a:r>
              <a:rPr lang="en-GB" dirty="0">
                <a:latin typeface="Arial" panose="020B0604020202020204" pitchFamily="34" charset="0"/>
                <a:cs typeface="Arial" panose="020B0604020202020204" pitchFamily="34" charset="0"/>
              </a:rPr>
              <a:t>Triage systems are implemented to reduce waiting times and ensure rapid access to effective assessment.</a:t>
            </a:r>
          </a:p>
          <a:p>
            <a:r>
              <a:rPr lang="en-GB" dirty="0">
                <a:latin typeface="Arial" panose="020B0604020202020204" pitchFamily="34" charset="0"/>
                <a:cs typeface="Arial" panose="020B0604020202020204" pitchFamily="34" charset="0"/>
              </a:rPr>
              <a:t> advice and treatment.</a:t>
            </a:r>
          </a:p>
          <a:p>
            <a:r>
              <a:rPr lang="en-GB" dirty="0">
                <a:latin typeface="Arial" panose="020B0604020202020204" pitchFamily="34" charset="0"/>
                <a:cs typeface="Arial" panose="020B0604020202020204" pitchFamily="34" charset="0"/>
              </a:rPr>
              <a:t> As a result, the effects of triage on waiting list time , satisfaction, diagnostic agreement , appropriateness of referral , clinical measures  and cost.</a:t>
            </a:r>
          </a:p>
          <a:p>
            <a:pPr marL="0" indent="0">
              <a:buNone/>
            </a:pPr>
            <a:endParaRPr lang="en-GB" dirty="0"/>
          </a:p>
        </p:txBody>
      </p:sp>
    </p:spTree>
    <p:extLst>
      <p:ext uri="{BB962C8B-B14F-4D97-AF65-F5344CB8AC3E}">
        <p14:creationId xmlns:p14="http://schemas.microsoft.com/office/powerpoint/2010/main" val="1585512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p:cNvCxnSpPr>
            <a:cxnSpLocks/>
          </p:cNvCxnSpPr>
          <p:nvPr/>
        </p:nvCxnSpPr>
        <p:spPr>
          <a:xfrm>
            <a:off x="10326807" y="551348"/>
            <a:ext cx="106693" cy="6306652"/>
          </a:xfrm>
          <a:prstGeom prst="line">
            <a:avLst/>
          </a:prstGeom>
          <a:ln w="1270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a:off x="8830771" y="571324"/>
            <a:ext cx="1" cy="628667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7258335" y="571324"/>
            <a:ext cx="2275" cy="624609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cxnSpLocks/>
          </p:cNvCxnSpPr>
          <p:nvPr/>
        </p:nvCxnSpPr>
        <p:spPr>
          <a:xfrm flipH="1">
            <a:off x="5486398" y="568649"/>
            <a:ext cx="1" cy="624484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cxnSpLocks/>
          </p:cNvCxnSpPr>
          <p:nvPr/>
        </p:nvCxnSpPr>
        <p:spPr>
          <a:xfrm flipH="1">
            <a:off x="3610924" y="552551"/>
            <a:ext cx="21175" cy="628667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flipH="1">
            <a:off x="1653103" y="551348"/>
            <a:ext cx="46044" cy="630665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E72B32A1-58AE-4EEF-B01E-015A83862980}"/>
              </a:ext>
            </a:extLst>
          </p:cNvPr>
          <p:cNvSpPr/>
          <p:nvPr/>
        </p:nvSpPr>
        <p:spPr>
          <a:xfrm>
            <a:off x="59195" y="18773"/>
            <a:ext cx="11838964" cy="214969"/>
          </a:xfrm>
          <a:prstGeom prst="rect">
            <a:avLst/>
          </a:prstGeom>
          <a:solidFill>
            <a:schemeClr val="accent1">
              <a:lumMod val="20000"/>
              <a:lumOff val="80000"/>
            </a:schemeClr>
          </a:solidFill>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GB" sz="900" b="1" dirty="0">
                <a:solidFill>
                  <a:srgbClr val="000000"/>
                </a:solidFill>
                <a:latin typeface="Arial" panose="020B0604020202020204" pitchFamily="34" charset="0"/>
                <a:cs typeface="Arial" panose="020B0604020202020204" pitchFamily="34" charset="0"/>
              </a:rPr>
              <a:t>Musculoskeletal: Osteoarthritis (OA) clinical guidance- hip and knee within primary and community care </a:t>
            </a:r>
          </a:p>
        </p:txBody>
      </p:sp>
      <p:sp>
        <p:nvSpPr>
          <p:cNvPr id="28" name="TextBox 27">
            <a:extLst>
              <a:ext uri="{FF2B5EF4-FFF2-40B4-BE49-F238E27FC236}">
                <a16:creationId xmlns:a16="http://schemas.microsoft.com/office/drawing/2014/main" id="{59F79845-3B03-4EBC-935B-148CE420B8F9}"/>
              </a:ext>
            </a:extLst>
          </p:cNvPr>
          <p:cNvSpPr txBox="1"/>
          <p:nvPr/>
        </p:nvSpPr>
        <p:spPr>
          <a:xfrm>
            <a:off x="3939561" y="1661279"/>
            <a:ext cx="1104880" cy="215444"/>
          </a:xfrm>
          <a:prstGeom prst="rect">
            <a:avLst/>
          </a:prstGeom>
          <a:noFill/>
        </p:spPr>
        <p:txBody>
          <a:bodyPr wrap="square" rtlCol="0">
            <a:spAutoFit/>
          </a:bodyPr>
          <a:lstStyle/>
          <a:p>
            <a:r>
              <a:rPr lang="en-GB" sz="800" b="1" dirty="0">
                <a:solidFill>
                  <a:srgbClr val="FF0000"/>
                </a:solidFill>
                <a:latin typeface="Arial" panose="020B0604020202020204" pitchFamily="34" charset="0"/>
                <a:cs typeface="Arial" panose="020B0604020202020204" pitchFamily="34" charset="0"/>
                <a:hlinkClick r:id="rId2" action="ppaction://hlinksldjump"/>
              </a:rPr>
              <a:t>Red Flags</a:t>
            </a:r>
            <a:endParaRPr lang="en-GB" sz="800" b="1" dirty="0">
              <a:solidFill>
                <a:srgbClr val="FF0000"/>
              </a:solidFill>
              <a:latin typeface="Arial" panose="020B0604020202020204" pitchFamily="34" charset="0"/>
              <a:cs typeface="Arial" panose="020B0604020202020204" pitchFamily="34" charset="0"/>
            </a:endParaRPr>
          </a:p>
        </p:txBody>
      </p:sp>
      <p:cxnSp>
        <p:nvCxnSpPr>
          <p:cNvPr id="67" name="Straight Arrow Connector 66">
            <a:extLst>
              <a:ext uri="{FF2B5EF4-FFF2-40B4-BE49-F238E27FC236}">
                <a16:creationId xmlns:a16="http://schemas.microsoft.com/office/drawing/2014/main" id="{8BFEA40A-A141-4FA6-9C06-48A9F48ED937}"/>
              </a:ext>
            </a:extLst>
          </p:cNvPr>
          <p:cNvCxnSpPr>
            <a:cxnSpLocks/>
            <a:stCxn id="81" idx="3"/>
            <a:endCxn id="89" idx="1"/>
          </p:cNvCxnSpPr>
          <p:nvPr/>
        </p:nvCxnSpPr>
        <p:spPr>
          <a:xfrm flipV="1">
            <a:off x="3556452" y="1759285"/>
            <a:ext cx="5331239" cy="1162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16">
            <a:extLst>
              <a:ext uri="{FF2B5EF4-FFF2-40B4-BE49-F238E27FC236}">
                <a16:creationId xmlns:a16="http://schemas.microsoft.com/office/drawing/2014/main" id="{40424C0D-7C0A-492C-8A93-1219A80FEA3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7" name="Picture 6">
            <a:extLst>
              <a:ext uri="{FF2B5EF4-FFF2-40B4-BE49-F238E27FC236}">
                <a16:creationId xmlns:a16="http://schemas.microsoft.com/office/drawing/2014/main" id="{FF18BDF5-A3AE-456C-AAF7-0543E7E538D3}"/>
              </a:ext>
            </a:extLst>
          </p:cNvPr>
          <p:cNvPicPr>
            <a:picLocks noChangeAspect="1"/>
          </p:cNvPicPr>
          <p:nvPr/>
        </p:nvPicPr>
        <p:blipFill>
          <a:blip r:embed="rId3"/>
          <a:stretch>
            <a:fillRect/>
          </a:stretch>
        </p:blipFill>
        <p:spPr>
          <a:xfrm>
            <a:off x="4511324" y="1610190"/>
            <a:ext cx="208587" cy="208279"/>
          </a:xfrm>
          <a:prstGeom prst="rect">
            <a:avLst/>
          </a:prstGeom>
        </p:spPr>
      </p:pic>
      <p:graphicFrame>
        <p:nvGraphicFramePr>
          <p:cNvPr id="91" name="Table 90">
            <a:extLst>
              <a:ext uri="{FF2B5EF4-FFF2-40B4-BE49-F238E27FC236}">
                <a16:creationId xmlns:a16="http://schemas.microsoft.com/office/drawing/2014/main" id="{CBEC50A1-8076-4EEF-8AD2-9C54350FF067}"/>
              </a:ext>
            </a:extLst>
          </p:cNvPr>
          <p:cNvGraphicFramePr>
            <a:graphicFrameLocks noGrp="1"/>
          </p:cNvGraphicFramePr>
          <p:nvPr/>
        </p:nvGraphicFramePr>
        <p:xfrm>
          <a:off x="64348" y="236343"/>
          <a:ext cx="11842382" cy="388620"/>
        </p:xfrm>
        <a:graphic>
          <a:graphicData uri="http://schemas.openxmlformats.org/drawingml/2006/table">
            <a:tbl>
              <a:tblPr firstRow="1" bandRow="1">
                <a:tableStyleId>{5C22544A-7EE6-4342-B048-85BDC9FD1C3A}</a:tableStyleId>
              </a:tblPr>
              <a:tblGrid>
                <a:gridCol w="1645802">
                  <a:extLst>
                    <a:ext uri="{9D8B030D-6E8A-4147-A177-3AD203B41FA5}">
                      <a16:colId xmlns:a16="http://schemas.microsoft.com/office/drawing/2014/main" val="761057628"/>
                    </a:ext>
                  </a:extLst>
                </a:gridCol>
                <a:gridCol w="1916264">
                  <a:extLst>
                    <a:ext uri="{9D8B030D-6E8A-4147-A177-3AD203B41FA5}">
                      <a16:colId xmlns:a16="http://schemas.microsoft.com/office/drawing/2014/main" val="2610442246"/>
                    </a:ext>
                  </a:extLst>
                </a:gridCol>
                <a:gridCol w="1868557">
                  <a:extLst>
                    <a:ext uri="{9D8B030D-6E8A-4147-A177-3AD203B41FA5}">
                      <a16:colId xmlns:a16="http://schemas.microsoft.com/office/drawing/2014/main" val="383951759"/>
                    </a:ext>
                  </a:extLst>
                </a:gridCol>
                <a:gridCol w="1765190">
                  <a:extLst>
                    <a:ext uri="{9D8B030D-6E8A-4147-A177-3AD203B41FA5}">
                      <a16:colId xmlns:a16="http://schemas.microsoft.com/office/drawing/2014/main" val="3712448109"/>
                    </a:ext>
                  </a:extLst>
                </a:gridCol>
                <a:gridCol w="1574358">
                  <a:extLst>
                    <a:ext uri="{9D8B030D-6E8A-4147-A177-3AD203B41FA5}">
                      <a16:colId xmlns:a16="http://schemas.microsoft.com/office/drawing/2014/main" val="3268806563"/>
                    </a:ext>
                  </a:extLst>
                </a:gridCol>
                <a:gridCol w="1494845">
                  <a:extLst>
                    <a:ext uri="{9D8B030D-6E8A-4147-A177-3AD203B41FA5}">
                      <a16:colId xmlns:a16="http://schemas.microsoft.com/office/drawing/2014/main" val="1737712789"/>
                    </a:ext>
                  </a:extLst>
                </a:gridCol>
                <a:gridCol w="1577366">
                  <a:extLst>
                    <a:ext uri="{9D8B030D-6E8A-4147-A177-3AD203B41FA5}">
                      <a16:colId xmlns:a16="http://schemas.microsoft.com/office/drawing/2014/main" val="269933797"/>
                    </a:ext>
                  </a:extLst>
                </a:gridCol>
              </a:tblGrid>
              <a:tr h="223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Initial presentation in primary care</a:t>
                      </a:r>
                      <a:endParaRPr lang="en-GB" sz="9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Confirmation of diagnosis/initiation of treatment in primary and community care</a:t>
                      </a:r>
                      <a:endParaRPr lang="en-GB" sz="8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Conservative management in primary and community care</a:t>
                      </a:r>
                      <a:endParaRPr lang="en-GB" sz="8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Initial presentation for clinical triage and assessment by integrated tier 2 MSK service/SPOA</a:t>
                      </a:r>
                      <a:endParaRPr lang="en-GB" sz="8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Review in primary and community care</a:t>
                      </a:r>
                      <a:endParaRPr lang="en-GB" sz="9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MSK Specialist review</a:t>
                      </a:r>
                      <a:endParaRPr lang="en-GB" sz="8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dirty="0">
                          <a:solidFill>
                            <a:srgbClr val="000000"/>
                          </a:solidFill>
                          <a:latin typeface="Arial" panose="020B0604020202020204" pitchFamily="34" charset="0"/>
                          <a:cs typeface="Arial" panose="020B0604020202020204" pitchFamily="34" charset="0"/>
                        </a:rPr>
                        <a:t>Surgical review and assessment in secondary care</a:t>
                      </a:r>
                      <a:endParaRPr lang="en-GB" sz="900" dirty="0">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5596140"/>
                  </a:ext>
                </a:extLst>
              </a:tr>
            </a:tbl>
          </a:graphicData>
        </a:graphic>
      </p:graphicFrame>
      <p:pic>
        <p:nvPicPr>
          <p:cNvPr id="93" name="Picture 39">
            <a:extLst>
              <a:ext uri="{FF2B5EF4-FFF2-40B4-BE49-F238E27FC236}">
                <a16:creationId xmlns:a16="http://schemas.microsoft.com/office/drawing/2014/main" id="{1D936113-D2A2-4AF7-989D-EB9A8763E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3834" y="622054"/>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 name="Rounded Rectangle 112"/>
          <p:cNvSpPr/>
          <p:nvPr/>
        </p:nvSpPr>
        <p:spPr>
          <a:xfrm>
            <a:off x="42637" y="2909056"/>
            <a:ext cx="3512017" cy="577363"/>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000000"/>
                </a:solidFill>
                <a:latin typeface="Arial" panose="020B0604020202020204" pitchFamily="34" charset="0"/>
                <a:cs typeface="Arial" panose="020B0604020202020204" pitchFamily="34" charset="0"/>
              </a:rPr>
              <a:t>Consider alternative diagnosis if features do not fit OA diagnosis:</a:t>
            </a:r>
          </a:p>
          <a:p>
            <a:pPr algn="ctr">
              <a:defRPr/>
            </a:pPr>
            <a:r>
              <a:rPr lang="en-GB" sz="600" dirty="0">
                <a:solidFill>
                  <a:srgbClr val="000000"/>
                </a:solidFill>
                <a:latin typeface="Arial" panose="020B0604020202020204" pitchFamily="34" charset="0"/>
                <a:cs typeface="Arial" panose="020B0604020202020204" pitchFamily="34" charset="0"/>
              </a:rPr>
              <a:t>Atypical features such as a history of trauma, prolonged morning joint-related stiffness, rapid worsening of symptoms, presence of a hot swollen joint may indicate alternative or additional diagnoses.</a:t>
            </a:r>
          </a:p>
          <a:p>
            <a:pPr algn="ctr">
              <a:defRPr/>
            </a:pPr>
            <a:r>
              <a:rPr lang="en-GB" sz="600" dirty="0">
                <a:solidFill>
                  <a:srgbClr val="000000"/>
                </a:solidFill>
                <a:latin typeface="Arial" panose="020B0604020202020204" pitchFamily="34" charset="0"/>
                <a:cs typeface="Arial" panose="020B0604020202020204" pitchFamily="34" charset="0"/>
              </a:rPr>
              <a:t> Differential diagnoses includes gout, other inflammatory </a:t>
            </a:r>
            <a:r>
              <a:rPr lang="en-GB" sz="600" dirty="0" err="1">
                <a:solidFill>
                  <a:srgbClr val="000000"/>
                </a:solidFill>
                <a:latin typeface="Arial" panose="020B0604020202020204" pitchFamily="34" charset="0"/>
                <a:cs typeface="Arial" panose="020B0604020202020204" pitchFamily="34" charset="0"/>
              </a:rPr>
              <a:t>arthritides</a:t>
            </a:r>
            <a:r>
              <a:rPr lang="en-GB" sz="600" dirty="0">
                <a:solidFill>
                  <a:srgbClr val="000000"/>
                </a:solidFill>
                <a:latin typeface="Arial" panose="020B0604020202020204" pitchFamily="34" charset="0"/>
                <a:cs typeface="Arial" panose="020B0604020202020204" pitchFamily="34" charset="0"/>
              </a:rPr>
              <a:t>, septic arthritis and malignancy (bone pain).</a:t>
            </a:r>
          </a:p>
        </p:txBody>
      </p:sp>
      <p:sp>
        <p:nvSpPr>
          <p:cNvPr id="114" name="Rounded Rectangle 113"/>
          <p:cNvSpPr/>
          <p:nvPr/>
        </p:nvSpPr>
        <p:spPr>
          <a:xfrm>
            <a:off x="32661" y="2319241"/>
            <a:ext cx="3506707" cy="544052"/>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rPr>
              <a:t>1st presentation in primary care:</a:t>
            </a:r>
          </a:p>
          <a:p>
            <a:pPr algn="ctr">
              <a:defRPr/>
            </a:pPr>
            <a:r>
              <a:rPr lang="en-GB" sz="600" dirty="0">
                <a:solidFill>
                  <a:srgbClr val="000000"/>
                </a:solidFill>
                <a:latin typeface="Arial" panose="020B0604020202020204" pitchFamily="34" charset="0"/>
                <a:cs typeface="Arial" panose="020B0604020202020204" pitchFamily="34" charset="0"/>
              </a:rPr>
              <a:t>Over 45, activity related joint pain, No morning joint-related stiffness &gt;30 mins, impacts on daily activities and quality of life</a:t>
            </a: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hlinkClick r:id="rId5" action="ppaction://hlinksldjump"/>
              </a:rPr>
              <a:t>When to refer</a:t>
            </a:r>
            <a:endParaRPr lang="en-GB" sz="600" b="1"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p:txBody>
      </p:sp>
      <p:cxnSp>
        <p:nvCxnSpPr>
          <p:cNvPr id="13" name="Elbow Connector 12"/>
          <p:cNvCxnSpPr>
            <a:cxnSpLocks/>
            <a:endCxn id="90" idx="1"/>
          </p:cNvCxnSpPr>
          <p:nvPr/>
        </p:nvCxnSpPr>
        <p:spPr>
          <a:xfrm rot="5400000" flipH="1" flipV="1">
            <a:off x="8524200" y="1398149"/>
            <a:ext cx="375368" cy="344544"/>
          </a:xfrm>
          <a:prstGeom prst="bentConnector2">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072" name="Picture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0684601">
            <a:off x="11733933" y="1381230"/>
            <a:ext cx="391201"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3" name="Picture 4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768009">
            <a:off x="11801508" y="3376951"/>
            <a:ext cx="352405" cy="87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Rounded Rectangle 117">
            <a:extLst>
              <a:ext uri="{FF2B5EF4-FFF2-40B4-BE49-F238E27FC236}">
                <a16:creationId xmlns:a16="http://schemas.microsoft.com/office/drawing/2014/main" id="{B53CE55B-DBCA-46F9-8FB2-392C69640D5F}"/>
              </a:ext>
            </a:extLst>
          </p:cNvPr>
          <p:cNvSpPr/>
          <p:nvPr/>
        </p:nvSpPr>
        <p:spPr>
          <a:xfrm>
            <a:off x="32661" y="2051367"/>
            <a:ext cx="5406927" cy="233276"/>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FF0000"/>
                </a:solidFill>
                <a:latin typeface="Arial" panose="020B0604020202020204" pitchFamily="34" charset="0"/>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Imaging</a:t>
            </a:r>
            <a:r>
              <a:rPr lang="en-GB" sz="600" b="1" dirty="0">
                <a:solidFill>
                  <a:srgbClr val="FF0000"/>
                </a:solidFill>
                <a:latin typeface="Arial" panose="020B0604020202020204" pitchFamily="34" charset="0"/>
                <a:cs typeface="Arial" panose="020B0604020202020204" pitchFamily="34" charset="0"/>
              </a:rPr>
              <a:t> is not indicated at this stage unless symptoms are unusually severe.  Consider using </a:t>
            </a:r>
            <a:r>
              <a:rPr lang="en-GB" sz="600" b="1" dirty="0">
                <a:solidFill>
                  <a:srgbClr val="FF0000"/>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iRefer</a:t>
            </a:r>
            <a:r>
              <a:rPr lang="en-GB" sz="600" b="1" dirty="0">
                <a:solidFill>
                  <a:srgbClr val="FF0000"/>
                </a:solidFill>
                <a:latin typeface="Arial" panose="020B0604020202020204" pitchFamily="34" charset="0"/>
                <a:cs typeface="Arial" panose="020B0604020202020204" pitchFamily="34" charset="0"/>
              </a:rPr>
              <a:t> </a:t>
            </a:r>
          </a:p>
        </p:txBody>
      </p:sp>
      <p:sp>
        <p:nvSpPr>
          <p:cNvPr id="76" name="Rounded Rectangle 7">
            <a:extLst>
              <a:ext uri="{FF2B5EF4-FFF2-40B4-BE49-F238E27FC236}">
                <a16:creationId xmlns:a16="http://schemas.microsoft.com/office/drawing/2014/main" id="{FB85A2F7-9CB8-4CE9-BD2D-A7043E478EE2}"/>
              </a:ext>
            </a:extLst>
          </p:cNvPr>
          <p:cNvSpPr/>
          <p:nvPr/>
        </p:nvSpPr>
        <p:spPr>
          <a:xfrm>
            <a:off x="34808" y="5350210"/>
            <a:ext cx="7139627" cy="237209"/>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a:solidFill>
                  <a:srgbClr val="000000"/>
                </a:solidFill>
                <a:latin typeface="Arial" panose="020B0604020202020204" pitchFamily="34" charset="0"/>
                <a:cs typeface="Arial" panose="020B0604020202020204" pitchFamily="34" charset="0"/>
              </a:rPr>
              <a:t>Engage with wider primary care team such as care coordinator, clinical pharmacist, health and wellbeing coach and social prescriber as needed</a:t>
            </a:r>
            <a:endParaRPr lang="en-GB" sz="600" dirty="0">
              <a:solidFill>
                <a:srgbClr val="000000"/>
              </a:solidFill>
              <a:latin typeface="Arial" panose="020B0604020202020204" pitchFamily="34" charset="0"/>
              <a:cs typeface="Arial" panose="020B0604020202020204" pitchFamily="34" charset="0"/>
            </a:endParaRPr>
          </a:p>
        </p:txBody>
      </p:sp>
      <p:sp>
        <p:nvSpPr>
          <p:cNvPr id="77" name="Rounded Rectangle 119">
            <a:extLst>
              <a:ext uri="{FF2B5EF4-FFF2-40B4-BE49-F238E27FC236}">
                <a16:creationId xmlns:a16="http://schemas.microsoft.com/office/drawing/2014/main" id="{D1EF1346-67DE-4F37-BF28-6A4DFD6737A8}"/>
              </a:ext>
            </a:extLst>
          </p:cNvPr>
          <p:cNvSpPr/>
          <p:nvPr/>
        </p:nvSpPr>
        <p:spPr>
          <a:xfrm>
            <a:off x="14654" y="5628840"/>
            <a:ext cx="7182782" cy="471547"/>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Consider paracetamol, topical NSAIDs, or if unsuccessful, NSAIDs and highly selective COX-2 inhibitors with PPI</a:t>
            </a:r>
          </a:p>
          <a:p>
            <a:pPr algn="ctr">
              <a:defRPr/>
            </a:pPr>
            <a:r>
              <a:rPr lang="en-GB" sz="600" dirty="0">
                <a:solidFill>
                  <a:srgbClr val="000000"/>
                </a:solidFill>
                <a:latin typeface="Arial" panose="020B0604020202020204" pitchFamily="34" charset="0"/>
                <a:cs typeface="Arial" panose="020B0604020202020204" pitchFamily="34" charset="0"/>
              </a:rPr>
              <a:t>Consider addition of opioids  if  the above unsuccessful</a:t>
            </a:r>
          </a:p>
          <a:p>
            <a:pPr algn="ctr">
              <a:defRPr/>
            </a:pPr>
            <a:r>
              <a:rPr lang="en-GB" sz="600" dirty="0">
                <a:solidFill>
                  <a:srgbClr val="000000"/>
                </a:solidFill>
                <a:latin typeface="Arial" panose="020B0604020202020204" pitchFamily="34" charset="0"/>
                <a:cs typeface="Arial" panose="020B0604020202020204" pitchFamily="34" charset="0"/>
              </a:rPr>
              <a:t>Consider Intra articular corticosteroid injections  as an adjunct to core treatments for the relief of moderate to severe pain</a:t>
            </a:r>
          </a:p>
        </p:txBody>
      </p:sp>
      <p:sp>
        <p:nvSpPr>
          <p:cNvPr id="80" name="Rounded Rectangle 119">
            <a:extLst>
              <a:ext uri="{FF2B5EF4-FFF2-40B4-BE49-F238E27FC236}">
                <a16:creationId xmlns:a16="http://schemas.microsoft.com/office/drawing/2014/main" id="{477EC8FF-4DFC-43A1-A890-BAF301131319}"/>
              </a:ext>
            </a:extLst>
          </p:cNvPr>
          <p:cNvSpPr/>
          <p:nvPr/>
        </p:nvSpPr>
        <p:spPr>
          <a:xfrm>
            <a:off x="28020" y="6154320"/>
            <a:ext cx="11870139" cy="240707"/>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Holistic assessment including mental health, social and work status, sleep, weight, comorbidities, pain and function and collection of PROM and PREM data</a:t>
            </a:r>
          </a:p>
        </p:txBody>
      </p:sp>
      <p:sp>
        <p:nvSpPr>
          <p:cNvPr id="81" name="Rounded Rectangle 117">
            <a:extLst>
              <a:ext uri="{FF2B5EF4-FFF2-40B4-BE49-F238E27FC236}">
                <a16:creationId xmlns:a16="http://schemas.microsoft.com/office/drawing/2014/main" id="{E42A6DDB-A746-4FB4-992D-BFBDF972C139}"/>
              </a:ext>
            </a:extLst>
          </p:cNvPr>
          <p:cNvSpPr/>
          <p:nvPr/>
        </p:nvSpPr>
        <p:spPr>
          <a:xfrm>
            <a:off x="61808" y="1753895"/>
            <a:ext cx="3494644" cy="243293"/>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000000"/>
                </a:solidFill>
                <a:latin typeface="Arial" panose="020B0604020202020204" pitchFamily="34" charset="0"/>
                <a:cs typeface="Arial" panose="020B0604020202020204" pitchFamily="34" charset="0"/>
              </a:rPr>
              <a:t>Clinical assessment and screening for serious pathologies. Exclude </a:t>
            </a:r>
            <a:r>
              <a:rPr lang="en-GB" sz="600" b="1" dirty="0">
                <a:solidFill>
                  <a:srgbClr val="000000"/>
                </a:solidFill>
                <a:latin typeface="Arial" panose="020B0604020202020204" pitchFamily="34" charset="0"/>
                <a:cs typeface="Arial" panose="020B0604020202020204" pitchFamily="34" charset="0"/>
                <a:hlinkClick r:id="rId2" action="ppaction://hlinksldjump"/>
              </a:rPr>
              <a:t>red flags</a:t>
            </a:r>
            <a:endParaRPr lang="en-GB" sz="600" b="1" dirty="0">
              <a:solidFill>
                <a:srgbClr val="000000"/>
              </a:solidFill>
              <a:latin typeface="Arial" panose="020B0604020202020204" pitchFamily="34" charset="0"/>
              <a:cs typeface="Arial" panose="020B0604020202020204" pitchFamily="34" charset="0"/>
            </a:endParaRPr>
          </a:p>
        </p:txBody>
      </p:sp>
      <p:pic>
        <p:nvPicPr>
          <p:cNvPr id="82" name="Picture 81">
            <a:extLst>
              <a:ext uri="{FF2B5EF4-FFF2-40B4-BE49-F238E27FC236}">
                <a16:creationId xmlns:a16="http://schemas.microsoft.com/office/drawing/2014/main" id="{3DA9BBB3-348A-48A9-9916-1F9E5874B2BD}"/>
              </a:ext>
            </a:extLst>
          </p:cNvPr>
          <p:cNvPicPr>
            <a:picLocks noChangeAspect="1"/>
          </p:cNvPicPr>
          <p:nvPr/>
        </p:nvPicPr>
        <p:blipFill>
          <a:blip r:embed="rId3"/>
          <a:stretch>
            <a:fillRect/>
          </a:stretch>
        </p:blipFill>
        <p:spPr>
          <a:xfrm>
            <a:off x="3258495" y="1783509"/>
            <a:ext cx="172300" cy="172046"/>
          </a:xfrm>
          <a:prstGeom prst="rect">
            <a:avLst/>
          </a:prstGeom>
        </p:spPr>
      </p:pic>
      <p:sp>
        <p:nvSpPr>
          <p:cNvPr id="84" name="Rounded Rectangle 117">
            <a:extLst>
              <a:ext uri="{FF2B5EF4-FFF2-40B4-BE49-F238E27FC236}">
                <a16:creationId xmlns:a16="http://schemas.microsoft.com/office/drawing/2014/main" id="{E2F73CD5-3569-41C4-8906-A80F9206C34C}"/>
              </a:ext>
            </a:extLst>
          </p:cNvPr>
          <p:cNvSpPr/>
          <p:nvPr/>
        </p:nvSpPr>
        <p:spPr>
          <a:xfrm>
            <a:off x="5540987" y="2063625"/>
            <a:ext cx="1649107" cy="23718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Clinical triage at SPOA</a:t>
            </a:r>
          </a:p>
        </p:txBody>
      </p:sp>
      <p:sp>
        <p:nvSpPr>
          <p:cNvPr id="85" name="Rounded Rectangle 117">
            <a:extLst>
              <a:ext uri="{FF2B5EF4-FFF2-40B4-BE49-F238E27FC236}">
                <a16:creationId xmlns:a16="http://schemas.microsoft.com/office/drawing/2014/main" id="{6A5CCE8A-39FF-4543-A815-744B324EE5BF}"/>
              </a:ext>
            </a:extLst>
          </p:cNvPr>
          <p:cNvSpPr/>
          <p:nvPr/>
        </p:nvSpPr>
        <p:spPr>
          <a:xfrm>
            <a:off x="5534967" y="2354400"/>
            <a:ext cx="1649107" cy="330473"/>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MDT management for complex cases</a:t>
            </a:r>
          </a:p>
        </p:txBody>
      </p:sp>
      <p:sp>
        <p:nvSpPr>
          <p:cNvPr id="86" name="Rounded Rectangle 117">
            <a:extLst>
              <a:ext uri="{FF2B5EF4-FFF2-40B4-BE49-F238E27FC236}">
                <a16:creationId xmlns:a16="http://schemas.microsoft.com/office/drawing/2014/main" id="{97066A85-AE9D-4674-B710-74FEFD632FCB}"/>
              </a:ext>
            </a:extLst>
          </p:cNvPr>
          <p:cNvSpPr/>
          <p:nvPr/>
        </p:nvSpPr>
        <p:spPr>
          <a:xfrm>
            <a:off x="3645429" y="2337403"/>
            <a:ext cx="1811309" cy="347471"/>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Conservative non-surgical management for period of up to 3 months</a:t>
            </a:r>
          </a:p>
        </p:txBody>
      </p:sp>
      <p:sp>
        <p:nvSpPr>
          <p:cNvPr id="88" name="Rounded Rectangle 117">
            <a:extLst>
              <a:ext uri="{FF2B5EF4-FFF2-40B4-BE49-F238E27FC236}">
                <a16:creationId xmlns:a16="http://schemas.microsoft.com/office/drawing/2014/main" id="{1F40EE81-E228-481E-A659-A79C47956120}"/>
              </a:ext>
            </a:extLst>
          </p:cNvPr>
          <p:cNvSpPr/>
          <p:nvPr/>
        </p:nvSpPr>
        <p:spPr>
          <a:xfrm>
            <a:off x="7348747" y="2063625"/>
            <a:ext cx="1422631" cy="24070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a:solidFill>
                  <a:srgbClr val="000000"/>
                </a:solidFill>
                <a:latin typeface="Arial" panose="020B0604020202020204" pitchFamily="34" charset="0"/>
                <a:cs typeface="Arial" panose="020B0604020202020204" pitchFamily="34" charset="0"/>
              </a:rPr>
              <a:t>Review investigations and progress</a:t>
            </a:r>
            <a:endParaRPr lang="en-GB" sz="600" dirty="0">
              <a:solidFill>
                <a:srgbClr val="000000"/>
              </a:solidFill>
              <a:latin typeface="Arial" panose="020B0604020202020204" pitchFamily="34" charset="0"/>
              <a:cs typeface="Arial" panose="020B0604020202020204" pitchFamily="34" charset="0"/>
            </a:endParaRPr>
          </a:p>
        </p:txBody>
      </p:sp>
      <p:sp>
        <p:nvSpPr>
          <p:cNvPr id="89" name="Rounded Rectangle 117">
            <a:extLst>
              <a:ext uri="{FF2B5EF4-FFF2-40B4-BE49-F238E27FC236}">
                <a16:creationId xmlns:a16="http://schemas.microsoft.com/office/drawing/2014/main" id="{8D5C5410-5A94-4CE5-9AAE-89971903E57C}"/>
              </a:ext>
            </a:extLst>
          </p:cNvPr>
          <p:cNvSpPr/>
          <p:nvPr/>
        </p:nvSpPr>
        <p:spPr>
          <a:xfrm>
            <a:off x="8887691" y="1549205"/>
            <a:ext cx="1419096" cy="420159"/>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Trauma &amp; Orthopaedic, rheumatology, spine or pain referral with full patient medical history </a:t>
            </a:r>
          </a:p>
        </p:txBody>
      </p:sp>
      <p:sp>
        <p:nvSpPr>
          <p:cNvPr id="90" name="Rounded Rectangle 117">
            <a:extLst>
              <a:ext uri="{FF2B5EF4-FFF2-40B4-BE49-F238E27FC236}">
                <a16:creationId xmlns:a16="http://schemas.microsoft.com/office/drawing/2014/main" id="{B3B0C12A-1E18-4432-8C38-7760AD706136}"/>
              </a:ext>
            </a:extLst>
          </p:cNvPr>
          <p:cNvSpPr/>
          <p:nvPr/>
        </p:nvSpPr>
        <p:spPr>
          <a:xfrm>
            <a:off x="8884156" y="1262383"/>
            <a:ext cx="1422631" cy="240708"/>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SPOA/Tier 2 MSK service referral </a:t>
            </a:r>
          </a:p>
        </p:txBody>
      </p:sp>
      <p:sp>
        <p:nvSpPr>
          <p:cNvPr id="92" name="Rounded Rectangle 117">
            <a:extLst>
              <a:ext uri="{FF2B5EF4-FFF2-40B4-BE49-F238E27FC236}">
                <a16:creationId xmlns:a16="http://schemas.microsoft.com/office/drawing/2014/main" id="{A2B6DA66-0C9C-4D84-AD71-31375A4D3A0B}"/>
              </a:ext>
            </a:extLst>
          </p:cNvPr>
          <p:cNvSpPr/>
          <p:nvPr/>
        </p:nvSpPr>
        <p:spPr>
          <a:xfrm>
            <a:off x="8909130" y="2018639"/>
            <a:ext cx="1387936" cy="413508"/>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Refer to pain management/Combined Physical and Psychological Programme (CPPP) / MDT as appropriate</a:t>
            </a:r>
          </a:p>
        </p:txBody>
      </p:sp>
      <p:sp>
        <p:nvSpPr>
          <p:cNvPr id="98" name="Rounded Rectangle 117">
            <a:extLst>
              <a:ext uri="{FF2B5EF4-FFF2-40B4-BE49-F238E27FC236}">
                <a16:creationId xmlns:a16="http://schemas.microsoft.com/office/drawing/2014/main" id="{6FFDDCB4-3B67-42D7-9AC3-45E92AF166F7}"/>
              </a:ext>
            </a:extLst>
          </p:cNvPr>
          <p:cNvSpPr/>
          <p:nvPr/>
        </p:nvSpPr>
        <p:spPr>
          <a:xfrm>
            <a:off x="10451806" y="3043770"/>
            <a:ext cx="1422631" cy="612851"/>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a:solidFill>
                  <a:srgbClr val="000000"/>
                </a:solidFill>
                <a:latin typeface="Arial" panose="020B0604020202020204" pitchFamily="34" charset="0"/>
                <a:cs typeface="Arial" panose="020B0604020202020204" pitchFamily="34" charset="0"/>
              </a:rPr>
              <a:t>Consider referral to primary/community care and 3rd sector/voluntary sector for ongoing management rehabilitation and support</a:t>
            </a:r>
            <a:endParaRPr lang="en-GB" sz="600" dirty="0">
              <a:solidFill>
                <a:srgbClr val="000000"/>
              </a:solidFill>
              <a:latin typeface="Arial" panose="020B0604020202020204" pitchFamily="34" charset="0"/>
              <a:cs typeface="Arial" panose="020B0604020202020204" pitchFamily="34" charset="0"/>
            </a:endParaRPr>
          </a:p>
        </p:txBody>
      </p:sp>
      <p:sp>
        <p:nvSpPr>
          <p:cNvPr id="99" name="Rounded Rectangle 117">
            <a:extLst>
              <a:ext uri="{FF2B5EF4-FFF2-40B4-BE49-F238E27FC236}">
                <a16:creationId xmlns:a16="http://schemas.microsoft.com/office/drawing/2014/main" id="{A6154DCB-53D8-4BD3-B566-D818F6D7C167}"/>
              </a:ext>
            </a:extLst>
          </p:cNvPr>
          <p:cNvSpPr/>
          <p:nvPr/>
        </p:nvSpPr>
        <p:spPr>
          <a:xfrm>
            <a:off x="7336716" y="2359964"/>
            <a:ext cx="1453483" cy="52652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Timing of regular reviews for people with OA based on:</a:t>
            </a:r>
          </a:p>
          <a:p>
            <a:pPr algn="ctr">
              <a:defRPr/>
            </a:pPr>
            <a:r>
              <a:rPr lang="en-GB" sz="600" dirty="0">
                <a:solidFill>
                  <a:srgbClr val="000000"/>
                </a:solidFill>
                <a:latin typeface="Arial" panose="020B0604020202020204" pitchFamily="34" charset="0"/>
                <a:cs typeface="Arial" panose="020B0604020202020204" pitchFamily="34" charset="0"/>
              </a:rPr>
              <a:t>severe pain, more than one joint affected, comorbidities, on regular medication for pain</a:t>
            </a:r>
          </a:p>
        </p:txBody>
      </p:sp>
      <p:sp>
        <p:nvSpPr>
          <p:cNvPr id="100" name="Rounded Rectangle 117">
            <a:extLst>
              <a:ext uri="{FF2B5EF4-FFF2-40B4-BE49-F238E27FC236}">
                <a16:creationId xmlns:a16="http://schemas.microsoft.com/office/drawing/2014/main" id="{1EE2864C-D68D-4F00-A509-902BCC39E90F}"/>
              </a:ext>
            </a:extLst>
          </p:cNvPr>
          <p:cNvSpPr/>
          <p:nvPr/>
        </p:nvSpPr>
        <p:spPr>
          <a:xfrm>
            <a:off x="5540987" y="2930954"/>
            <a:ext cx="3249212" cy="322947"/>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000000"/>
                </a:solidFill>
                <a:latin typeface="Arial" panose="020B0604020202020204" pitchFamily="34" charset="0"/>
                <a:cs typeface="Arial" panose="020B0604020202020204" pitchFamily="34" charset="0"/>
              </a:rPr>
              <a:t>Optimise patient for surgery and manage comorbidities: </a:t>
            </a:r>
          </a:p>
          <a:p>
            <a:pPr algn="ctr">
              <a:defRPr/>
            </a:pPr>
            <a:r>
              <a:rPr lang="en-GB" sz="600" dirty="0">
                <a:solidFill>
                  <a:srgbClr val="000000"/>
                </a:solidFill>
                <a:latin typeface="Arial" panose="020B0604020202020204" pitchFamily="34" charset="0"/>
                <a:cs typeface="Arial" panose="020B0604020202020204" pitchFamily="34" charset="0"/>
              </a:rPr>
              <a:t>Consider prehab referral, psychological support, pain management </a:t>
            </a:r>
          </a:p>
        </p:txBody>
      </p:sp>
      <p:sp>
        <p:nvSpPr>
          <p:cNvPr id="102" name="Rounded Rectangle 117">
            <a:extLst>
              <a:ext uri="{FF2B5EF4-FFF2-40B4-BE49-F238E27FC236}">
                <a16:creationId xmlns:a16="http://schemas.microsoft.com/office/drawing/2014/main" id="{FA37FBC1-FA8B-44E3-BC8B-8F9614833A0B}"/>
              </a:ext>
            </a:extLst>
          </p:cNvPr>
          <p:cNvSpPr/>
          <p:nvPr/>
        </p:nvSpPr>
        <p:spPr>
          <a:xfrm>
            <a:off x="5540987" y="3294932"/>
            <a:ext cx="3249212" cy="474500"/>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Evidenced based investigations</a:t>
            </a:r>
          </a:p>
          <a:p>
            <a:pPr algn="ctr">
              <a:defRPr/>
            </a:pPr>
            <a:r>
              <a:rPr lang="en-GB" sz="600" dirty="0">
                <a:solidFill>
                  <a:srgbClr val="000000"/>
                </a:solidFill>
                <a:latin typeface="Arial" panose="020B0604020202020204" pitchFamily="34" charset="0"/>
                <a:cs typeface="Arial" panose="020B0604020202020204" pitchFamily="34" charset="0"/>
              </a:rPr>
              <a:t>Refer for injection/surgery if indicated</a:t>
            </a:r>
          </a:p>
          <a:p>
            <a:pPr algn="ctr">
              <a:defRPr/>
            </a:pPr>
            <a:r>
              <a:rPr lang="en-GB" sz="600" dirty="0">
                <a:solidFill>
                  <a:srgbClr val="000000"/>
                </a:solidFill>
                <a:latin typeface="Arial" panose="020B0604020202020204" pitchFamily="34" charset="0"/>
                <a:cs typeface="Arial" panose="020B0604020202020204" pitchFamily="34" charset="0"/>
              </a:rPr>
              <a:t>Refer for further opinion if indicated</a:t>
            </a:r>
          </a:p>
          <a:p>
            <a:pPr algn="ctr">
              <a:defRPr/>
            </a:pPr>
            <a:r>
              <a:rPr lang="en-GB" sz="600" dirty="0">
                <a:solidFill>
                  <a:srgbClr val="000000"/>
                </a:solidFill>
                <a:latin typeface="Arial" panose="020B0604020202020204" pitchFamily="34" charset="0"/>
                <a:cs typeface="Arial" panose="020B0604020202020204" pitchFamily="34" charset="0"/>
              </a:rPr>
              <a:t>Refer for further conservative treatment if indicated</a:t>
            </a:r>
          </a:p>
          <a:p>
            <a:pPr algn="ctr">
              <a:defRPr/>
            </a:pPr>
            <a:r>
              <a:rPr lang="en-GB" sz="600" dirty="0">
                <a:solidFill>
                  <a:srgbClr val="000000"/>
                </a:solidFill>
                <a:latin typeface="Arial" panose="020B0604020202020204" pitchFamily="34" charset="0"/>
                <a:cs typeface="Arial" panose="020B0604020202020204" pitchFamily="34" charset="0"/>
              </a:rPr>
              <a:t>Discharge if indicated</a:t>
            </a:r>
          </a:p>
        </p:txBody>
      </p:sp>
      <p:cxnSp>
        <p:nvCxnSpPr>
          <p:cNvPr id="107" name="Straight Arrow Connector 106">
            <a:extLst>
              <a:ext uri="{FF2B5EF4-FFF2-40B4-BE49-F238E27FC236}">
                <a16:creationId xmlns:a16="http://schemas.microsoft.com/office/drawing/2014/main" id="{8E0A3C8A-175A-42E3-83AC-8AE2FA149799}"/>
              </a:ext>
            </a:extLst>
          </p:cNvPr>
          <p:cNvCxnSpPr>
            <a:cxnSpLocks/>
          </p:cNvCxnSpPr>
          <p:nvPr/>
        </p:nvCxnSpPr>
        <p:spPr>
          <a:xfrm>
            <a:off x="32661" y="1015461"/>
            <a:ext cx="11817264" cy="12067"/>
          </a:xfrm>
          <a:prstGeom prst="straightConnector1">
            <a:avLst/>
          </a:prstGeom>
          <a:ln>
            <a:solidFill>
              <a:srgbClr val="00B050"/>
            </a:solidFill>
            <a:headEnd type="triangle"/>
            <a:tailEnd type="triangle"/>
          </a:ln>
        </p:spPr>
        <p:style>
          <a:lnRef idx="3">
            <a:schemeClr val="dk1"/>
          </a:lnRef>
          <a:fillRef idx="0">
            <a:schemeClr val="dk1"/>
          </a:fillRef>
          <a:effectRef idx="2">
            <a:schemeClr val="dk1"/>
          </a:effectRef>
          <a:fontRef idx="minor">
            <a:schemeClr val="tx1"/>
          </a:fontRef>
        </p:style>
      </p:cxnSp>
      <p:sp>
        <p:nvSpPr>
          <p:cNvPr id="108" name="TextBox 107">
            <a:extLst>
              <a:ext uri="{FF2B5EF4-FFF2-40B4-BE49-F238E27FC236}">
                <a16:creationId xmlns:a16="http://schemas.microsoft.com/office/drawing/2014/main" id="{2AD1C559-1446-464B-A1C8-A04E693AE507}"/>
              </a:ext>
            </a:extLst>
          </p:cNvPr>
          <p:cNvSpPr txBox="1"/>
          <p:nvPr/>
        </p:nvSpPr>
        <p:spPr>
          <a:xfrm>
            <a:off x="4464216" y="983688"/>
            <a:ext cx="4142481" cy="215444"/>
          </a:xfrm>
          <a:prstGeom prst="rect">
            <a:avLst/>
          </a:prstGeom>
          <a:noFill/>
        </p:spPr>
        <p:txBody>
          <a:bodyPr wrap="none" rtlCol="0">
            <a:spAutoFit/>
          </a:bodyPr>
          <a:lstStyle/>
          <a:p>
            <a:r>
              <a:rPr lang="en-GB" sz="800" b="1" dirty="0">
                <a:solidFill>
                  <a:srgbClr val="00B050"/>
                </a:solidFill>
                <a:latin typeface="Arial" panose="020B0604020202020204" pitchFamily="34" charset="0"/>
                <a:cs typeface="Arial" panose="020B0604020202020204" pitchFamily="34" charset="0"/>
              </a:rPr>
              <a:t>Shared decision making should occur at each decision point across the pathway</a:t>
            </a:r>
          </a:p>
        </p:txBody>
      </p:sp>
      <p:sp>
        <p:nvSpPr>
          <p:cNvPr id="55" name="Rounded Rectangle 117">
            <a:extLst>
              <a:ext uri="{FF2B5EF4-FFF2-40B4-BE49-F238E27FC236}">
                <a16:creationId xmlns:a16="http://schemas.microsoft.com/office/drawing/2014/main" id="{2711C707-845D-4980-87B6-2E10BCCC2406}"/>
              </a:ext>
            </a:extLst>
          </p:cNvPr>
          <p:cNvSpPr/>
          <p:nvPr/>
        </p:nvSpPr>
        <p:spPr>
          <a:xfrm>
            <a:off x="55777" y="1197628"/>
            <a:ext cx="1585810" cy="47167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rPr>
              <a:t>Self referral</a:t>
            </a:r>
          </a:p>
          <a:p>
            <a:pPr algn="ctr">
              <a:defRPr/>
            </a:pPr>
            <a:r>
              <a:rPr lang="en-GB" sz="600" b="1" dirty="0">
                <a:solidFill>
                  <a:srgbClr val="000000"/>
                </a:solidFill>
                <a:latin typeface="Arial" panose="020B0604020202020204" pitchFamily="34" charset="0"/>
                <a:cs typeface="Arial" panose="020B0604020202020204" pitchFamily="34" charset="0"/>
              </a:rPr>
              <a:t>Primary Care:</a:t>
            </a:r>
          </a:p>
          <a:p>
            <a:pPr algn="ctr">
              <a:defRPr/>
            </a:pPr>
            <a:r>
              <a:rPr lang="en-GB" sz="600" b="1" dirty="0">
                <a:solidFill>
                  <a:srgbClr val="000000"/>
                </a:solidFill>
                <a:latin typeface="Arial" panose="020B0604020202020204" pitchFamily="34" charset="0"/>
                <a:cs typeface="Arial" panose="020B0604020202020204" pitchFamily="34" charset="0"/>
              </a:rPr>
              <a:t>GP, MSK Specialist Doctor, </a:t>
            </a:r>
            <a:r>
              <a:rPr lang="en-GB" sz="600" b="1" dirty="0">
                <a:solidFill>
                  <a:srgbClr val="000000"/>
                </a:solidFill>
                <a:latin typeface="Arial" panose="020B0604020202020204" pitchFamily="34" charset="0"/>
                <a:cs typeface="Arial" panose="020B0604020202020204" pitchFamily="34" charset="0"/>
                <a:hlinkClick r:id="rId9"/>
              </a:rPr>
              <a:t>FCP</a:t>
            </a:r>
            <a:endParaRPr lang="en-GB" sz="600" b="1"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rPr>
              <a:t>ED/111</a:t>
            </a:r>
          </a:p>
          <a:p>
            <a:pPr algn="ctr">
              <a:defRPr/>
            </a:pPr>
            <a:r>
              <a:rPr lang="en-GB" sz="600" b="1" dirty="0">
                <a:solidFill>
                  <a:srgbClr val="000000"/>
                </a:solidFill>
                <a:latin typeface="Arial" panose="020B0604020202020204" pitchFamily="34" charset="0"/>
                <a:cs typeface="Arial" panose="020B0604020202020204" pitchFamily="34" charset="0"/>
              </a:rPr>
              <a:t>Other non-MSK/ MSK specialist HCP</a:t>
            </a:r>
          </a:p>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endParaRPr lang="en-GB" sz="600" b="1" dirty="0">
              <a:solidFill>
                <a:srgbClr val="000000"/>
              </a:solidFill>
              <a:latin typeface="Arial" panose="020B0604020202020204" pitchFamily="34" charset="0"/>
              <a:cs typeface="Arial" panose="020B0604020202020204" pitchFamily="34" charset="0"/>
            </a:endParaRPr>
          </a:p>
        </p:txBody>
      </p:sp>
      <p:sp>
        <p:nvSpPr>
          <p:cNvPr id="52" name="Rounded Rectangle 117">
            <a:extLst>
              <a:ext uri="{FF2B5EF4-FFF2-40B4-BE49-F238E27FC236}">
                <a16:creationId xmlns:a16="http://schemas.microsoft.com/office/drawing/2014/main" id="{43EEA3FA-FB1B-4262-9751-7B488E3BC561}"/>
              </a:ext>
            </a:extLst>
          </p:cNvPr>
          <p:cNvSpPr/>
          <p:nvPr/>
        </p:nvSpPr>
        <p:spPr>
          <a:xfrm>
            <a:off x="8881920" y="2478261"/>
            <a:ext cx="2996466" cy="52652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hlinkClick r:id="rId10" action="ppaction://hlinksldjump"/>
              </a:rPr>
              <a:t>Link to </a:t>
            </a:r>
            <a:r>
              <a:rPr lang="en-GB" sz="600" b="1" dirty="0">
                <a:solidFill>
                  <a:srgbClr val="000000"/>
                </a:solidFill>
                <a:latin typeface="Arial" panose="020B0604020202020204" pitchFamily="34" charset="0"/>
                <a:cs typeface="Arial" panose="020B0604020202020204" pitchFamily="34" charset="0"/>
                <a:hlinkClick r:id="rId10" action="ppaction://hlinksldjump"/>
              </a:rPr>
              <a:t>GIRFT</a:t>
            </a:r>
            <a:r>
              <a:rPr lang="en-GB" sz="600" dirty="0">
                <a:solidFill>
                  <a:srgbClr val="000000"/>
                </a:solidFill>
                <a:latin typeface="Arial" panose="020B0604020202020204" pitchFamily="34" charset="0"/>
                <a:cs typeface="Arial" panose="020B0604020202020204" pitchFamily="34" charset="0"/>
                <a:hlinkClick r:id="rId10" action="ppaction://hlinksldjump"/>
              </a:rPr>
              <a:t> pathways, NICE guidance and best practice resources </a:t>
            </a: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r>
              <a:rPr lang="en-GB" sz="600" dirty="0">
                <a:solidFill>
                  <a:srgbClr val="000000"/>
                </a:solidFill>
                <a:latin typeface="Arial" panose="020B0604020202020204" pitchFamily="34" charset="0"/>
                <a:cs typeface="Arial" panose="020B0604020202020204" pitchFamily="34" charset="0"/>
              </a:rPr>
              <a:t>Refer back to primary/community as needed</a:t>
            </a:r>
          </a:p>
        </p:txBody>
      </p:sp>
      <p:sp>
        <p:nvSpPr>
          <p:cNvPr id="53" name="Rounded Rectangle 117">
            <a:extLst>
              <a:ext uri="{FF2B5EF4-FFF2-40B4-BE49-F238E27FC236}">
                <a16:creationId xmlns:a16="http://schemas.microsoft.com/office/drawing/2014/main" id="{B3B0C12A-1E18-4432-8C38-7760AD706136}"/>
              </a:ext>
            </a:extLst>
          </p:cNvPr>
          <p:cNvSpPr/>
          <p:nvPr/>
        </p:nvSpPr>
        <p:spPr>
          <a:xfrm>
            <a:off x="3645429" y="4206497"/>
            <a:ext cx="8259523" cy="254848"/>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hlinkClick r:id="rId11"/>
              </a:rPr>
              <a:t>Consider Patient Initiated Follow Up (PIFU) </a:t>
            </a:r>
            <a:endParaRPr lang="en-GB" sz="600" dirty="0">
              <a:solidFill>
                <a:srgbClr val="000000"/>
              </a:solidFill>
              <a:latin typeface="Arial" panose="020B0604020202020204" pitchFamily="34" charset="0"/>
              <a:cs typeface="Arial" panose="020B0604020202020204" pitchFamily="34" charset="0"/>
            </a:endParaRPr>
          </a:p>
        </p:txBody>
      </p:sp>
      <p:sp>
        <p:nvSpPr>
          <p:cNvPr id="56" name="Rounded Rectangle 117">
            <a:extLst>
              <a:ext uri="{FF2B5EF4-FFF2-40B4-BE49-F238E27FC236}">
                <a16:creationId xmlns:a16="http://schemas.microsoft.com/office/drawing/2014/main" id="{A6154DCB-53D8-4BD3-B566-D818F6D7C167}"/>
              </a:ext>
            </a:extLst>
          </p:cNvPr>
          <p:cNvSpPr/>
          <p:nvPr/>
        </p:nvSpPr>
        <p:spPr>
          <a:xfrm>
            <a:off x="7333320" y="3814521"/>
            <a:ext cx="1453483" cy="351702"/>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dirty="0">
                <a:solidFill>
                  <a:srgbClr val="000000"/>
                </a:solidFill>
                <a:latin typeface="Arial" panose="020B0604020202020204" pitchFamily="34" charset="0"/>
                <a:cs typeface="Arial" panose="020B0604020202020204" pitchFamily="34" charset="0"/>
              </a:rPr>
              <a:t>Consider onward referral to other specialities if symptoms not MSK in origin</a:t>
            </a:r>
          </a:p>
        </p:txBody>
      </p:sp>
      <p:pic>
        <p:nvPicPr>
          <p:cNvPr id="58" name="Picture 39">
            <a:extLst>
              <a:ext uri="{FF2B5EF4-FFF2-40B4-BE49-F238E27FC236}">
                <a16:creationId xmlns:a16="http://schemas.microsoft.com/office/drawing/2014/main" id="{0D9D1E98-A639-4F6E-87E5-2C1E467DF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1134" y="629166"/>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39">
            <a:extLst>
              <a:ext uri="{FF2B5EF4-FFF2-40B4-BE49-F238E27FC236}">
                <a16:creationId xmlns:a16="http://schemas.microsoft.com/office/drawing/2014/main" id="{B00EC21F-A569-4A9C-8632-F664A558F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0377" y="622054"/>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icture 39">
            <a:extLst>
              <a:ext uri="{FF2B5EF4-FFF2-40B4-BE49-F238E27FC236}">
                <a16:creationId xmlns:a16="http://schemas.microsoft.com/office/drawing/2014/main" id="{E1C9B6E9-0FAA-438B-BE09-E262FEBA47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2908" y="622054"/>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39">
            <a:extLst>
              <a:ext uri="{FF2B5EF4-FFF2-40B4-BE49-F238E27FC236}">
                <a16:creationId xmlns:a16="http://schemas.microsoft.com/office/drawing/2014/main" id="{72B30195-B5B3-4706-95B4-7F47A33A06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6745" y="624108"/>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 name="Picture 39">
            <a:extLst>
              <a:ext uri="{FF2B5EF4-FFF2-40B4-BE49-F238E27FC236}">
                <a16:creationId xmlns:a16="http://schemas.microsoft.com/office/drawing/2014/main" id="{11682FF6-A4E4-41F5-8560-770109729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7900" y="622054"/>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39">
            <a:extLst>
              <a:ext uri="{FF2B5EF4-FFF2-40B4-BE49-F238E27FC236}">
                <a16:creationId xmlns:a16="http://schemas.microsoft.com/office/drawing/2014/main" id="{524274FB-63F7-451A-A88E-6D6203A2D9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144" y="629166"/>
            <a:ext cx="517525" cy="3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Rounded Rectangle 117">
            <a:extLst>
              <a:ext uri="{FF2B5EF4-FFF2-40B4-BE49-F238E27FC236}">
                <a16:creationId xmlns:a16="http://schemas.microsoft.com/office/drawing/2014/main" id="{8BA8FD17-79DE-452C-8EB6-BB38BAFFE418}"/>
              </a:ext>
            </a:extLst>
          </p:cNvPr>
          <p:cNvSpPr/>
          <p:nvPr/>
        </p:nvSpPr>
        <p:spPr>
          <a:xfrm>
            <a:off x="9278920" y="5808948"/>
            <a:ext cx="912621" cy="264451"/>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000000"/>
                </a:solidFill>
                <a:latin typeface="Arial" panose="020B0604020202020204" pitchFamily="34" charset="0"/>
                <a:cs typeface="Arial" panose="020B0604020202020204" pitchFamily="34" charset="0"/>
              </a:rPr>
              <a:t>Key:</a:t>
            </a:r>
          </a:p>
          <a:p>
            <a:pPr algn="ctr">
              <a:defRPr/>
            </a:pPr>
            <a:r>
              <a:rPr lang="en-GB" sz="600" b="1" dirty="0">
                <a:solidFill>
                  <a:srgbClr val="000000"/>
                </a:solidFill>
                <a:latin typeface="Arial" panose="020B0604020202020204" pitchFamily="34" charset="0"/>
                <a:cs typeface="Arial" panose="020B0604020202020204" pitchFamily="34" charset="0"/>
                <a:hlinkClick r:id="rId12" action="ppaction://hlinksldjump"/>
              </a:rPr>
              <a:t>Decision points </a:t>
            </a:r>
            <a:endParaRPr lang="en-GB" sz="600" b="1" dirty="0">
              <a:solidFill>
                <a:srgbClr val="000000"/>
              </a:solidFill>
              <a:latin typeface="Arial" panose="020B0604020202020204" pitchFamily="34" charset="0"/>
              <a:cs typeface="Arial" panose="020B0604020202020204" pitchFamily="34" charset="0"/>
            </a:endParaRPr>
          </a:p>
        </p:txBody>
      </p:sp>
      <p:sp>
        <p:nvSpPr>
          <p:cNvPr id="69" name="Rounded Rectangle 7">
            <a:extLst>
              <a:ext uri="{FF2B5EF4-FFF2-40B4-BE49-F238E27FC236}">
                <a16:creationId xmlns:a16="http://schemas.microsoft.com/office/drawing/2014/main" id="{F87B48AA-4011-4B7D-813F-23C169B0DCA3}"/>
              </a:ext>
            </a:extLst>
          </p:cNvPr>
          <p:cNvSpPr/>
          <p:nvPr/>
        </p:nvSpPr>
        <p:spPr>
          <a:xfrm>
            <a:off x="50101" y="3525853"/>
            <a:ext cx="3512018" cy="565296"/>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600" b="1" dirty="0">
                <a:solidFill>
                  <a:srgbClr val="000000"/>
                </a:solidFill>
                <a:latin typeface="Arial" panose="020B0604020202020204" pitchFamily="34" charset="0"/>
                <a:cs typeface="Arial" panose="020B0604020202020204" pitchFamily="34" charset="0"/>
              </a:rPr>
              <a:t>As part of shared decision making conversation:</a:t>
            </a:r>
          </a:p>
          <a:p>
            <a:pPr algn="ctr">
              <a:defRPr/>
            </a:pPr>
            <a:r>
              <a:rPr lang="en-GB" sz="600" dirty="0">
                <a:solidFill>
                  <a:srgbClr val="000000"/>
                </a:solidFill>
                <a:latin typeface="Arial" panose="020B0604020202020204" pitchFamily="34" charset="0"/>
                <a:cs typeface="Arial" panose="020B0604020202020204" pitchFamily="34" charset="0"/>
              </a:rPr>
              <a:t>Discuss options for onward referral. Consider use of </a:t>
            </a:r>
            <a:r>
              <a:rPr lang="en-GB" sz="600" dirty="0">
                <a:solidFill>
                  <a:srgbClr val="000000"/>
                </a:solidFill>
                <a:latin typeface="Arial" panose="020B0604020202020204" pitchFamily="34" charset="0"/>
                <a:cs typeface="Arial" panose="020B0604020202020204" pitchFamily="34" charset="0"/>
                <a:hlinkClick r:id="rId13"/>
              </a:rPr>
              <a:t>decision support tools</a:t>
            </a:r>
            <a:r>
              <a:rPr lang="en-GB" sz="600" dirty="0">
                <a:solidFill>
                  <a:srgbClr val="000000"/>
                </a:solidFill>
                <a:latin typeface="Arial" panose="020B0604020202020204" pitchFamily="34" charset="0"/>
                <a:cs typeface="Arial" panose="020B0604020202020204" pitchFamily="34" charset="0"/>
              </a:rPr>
              <a:t>.</a:t>
            </a:r>
          </a:p>
          <a:p>
            <a:pPr algn="ctr">
              <a:defRPr/>
            </a:pPr>
            <a:r>
              <a:rPr lang="en-GB" sz="600" dirty="0">
                <a:solidFill>
                  <a:srgbClr val="000000"/>
                </a:solidFill>
                <a:latin typeface="Arial" panose="020B0604020202020204" pitchFamily="34" charset="0"/>
                <a:cs typeface="Arial" panose="020B0604020202020204" pitchFamily="34" charset="0"/>
              </a:rPr>
              <a:t>Discuss referral/self referral for conservative treatment /physiotherapy if not improving. If the patient is ready, consider a trial of appropriate conservative treatment, including strengthening and aerobic exercise, but consider referral if symptoms worsening despite treatment</a:t>
            </a:r>
          </a:p>
        </p:txBody>
      </p:sp>
      <p:sp>
        <p:nvSpPr>
          <p:cNvPr id="78" name="Rounded Rectangle 119">
            <a:extLst>
              <a:ext uri="{FF2B5EF4-FFF2-40B4-BE49-F238E27FC236}">
                <a16:creationId xmlns:a16="http://schemas.microsoft.com/office/drawing/2014/main" id="{7948B0FD-F0DE-4AAA-A80E-14163325682E}"/>
              </a:ext>
            </a:extLst>
          </p:cNvPr>
          <p:cNvSpPr/>
          <p:nvPr/>
        </p:nvSpPr>
        <p:spPr>
          <a:xfrm>
            <a:off x="34808" y="4511420"/>
            <a:ext cx="7170737" cy="791981"/>
          </a:xfrm>
          <a:prstGeom prst="roundRect">
            <a:avLst/>
          </a:prstGeom>
          <a:solidFill>
            <a:schemeClr val="tx2">
              <a:lumMod val="20000"/>
              <a:lumOff val="80000"/>
            </a:scheme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rPr>
              <a:t>Offer tailored written and verbal advice on the following core treatments to all people with clinical osteoarthritis:</a:t>
            </a:r>
          </a:p>
          <a:p>
            <a:pPr algn="ctr">
              <a:defRPr/>
            </a:pPr>
            <a:r>
              <a:rPr lang="en-GB" sz="600" dirty="0">
                <a:solidFill>
                  <a:srgbClr val="000000"/>
                </a:solidFill>
                <a:latin typeface="Arial" panose="020B0604020202020204" pitchFamily="34" charset="0"/>
                <a:cs typeface="Arial" panose="020B0604020202020204" pitchFamily="34" charset="0"/>
              </a:rPr>
              <a:t>Assess patient’s knowledge, skills and confidence: if low consider signpost/referral to health and well-being coach </a:t>
            </a:r>
          </a:p>
          <a:p>
            <a:pPr algn="ctr">
              <a:defRPr/>
            </a:pPr>
            <a:r>
              <a:rPr lang="en-GB" sz="600" dirty="0">
                <a:solidFill>
                  <a:srgbClr val="000000"/>
                </a:solidFill>
                <a:latin typeface="Arial" panose="020B0604020202020204" pitchFamily="34" charset="0"/>
                <a:cs typeface="Arial" panose="020B0604020202020204" pitchFamily="34" charset="0"/>
              </a:rPr>
              <a:t>Deliver consistent and concise health and wellbeing information and encourage patients to engage in conversations about  their health</a:t>
            </a:r>
          </a:p>
          <a:p>
            <a:pPr algn="ctr">
              <a:defRPr/>
            </a:pPr>
            <a:r>
              <a:rPr lang="en-GB" sz="600" dirty="0">
                <a:solidFill>
                  <a:srgbClr val="000000"/>
                </a:solidFill>
                <a:latin typeface="Arial" panose="020B0604020202020204" pitchFamily="34" charset="0"/>
                <a:cs typeface="Arial" panose="020B0604020202020204" pitchFamily="34" charset="0"/>
              </a:rPr>
              <a:t>Access to quality self-management education and appropriate information to enable self-management</a:t>
            </a: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r>
              <a:rPr lang="en-GB" sz="600" dirty="0">
                <a:solidFill>
                  <a:srgbClr val="000000"/>
                </a:solidFill>
                <a:latin typeface="Arial" panose="020B0604020202020204" pitchFamily="34" charset="0"/>
                <a:cs typeface="Arial" panose="020B0604020202020204" pitchFamily="34" charset="0"/>
              </a:rPr>
              <a:t>Tailored advice about how to: stay active, how to achieve weight loss if the person is overweight or obese, advice on smoking and alcohol consumption, use of appropriate footwear</a:t>
            </a: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r>
              <a:rPr lang="en-GB" sz="600" dirty="0">
                <a:solidFill>
                  <a:srgbClr val="000000"/>
                </a:solidFill>
                <a:latin typeface="Arial" panose="020B0604020202020204" pitchFamily="34" charset="0"/>
                <a:cs typeface="Arial" panose="020B0604020202020204" pitchFamily="34" charset="0"/>
              </a:rPr>
              <a:t>Consider directing social prescriber to access voluntary/third sector, quality self-management resources, emotional/mental health wellbeing resources</a:t>
            </a: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p:txBody>
      </p:sp>
      <p:sp>
        <p:nvSpPr>
          <p:cNvPr id="79" name="Rounded Rectangle 119">
            <a:extLst>
              <a:ext uri="{FF2B5EF4-FFF2-40B4-BE49-F238E27FC236}">
                <a16:creationId xmlns:a16="http://schemas.microsoft.com/office/drawing/2014/main" id="{965D832E-F10F-4E20-A471-BF88092A7490}"/>
              </a:ext>
            </a:extLst>
          </p:cNvPr>
          <p:cNvSpPr/>
          <p:nvPr/>
        </p:nvSpPr>
        <p:spPr>
          <a:xfrm>
            <a:off x="26943" y="6437529"/>
            <a:ext cx="11872291" cy="361738"/>
          </a:xfrm>
          <a:prstGeom prst="roundRect">
            <a:avLst/>
          </a:prstGeom>
          <a:solidFill>
            <a:srgbClr val="92D050"/>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800" dirty="0">
                <a:solidFill>
                  <a:srgbClr val="000000"/>
                </a:solidFill>
                <a:latin typeface="Arial" panose="020B0604020202020204" pitchFamily="34" charset="0"/>
                <a:cs typeface="Arial" panose="020B0604020202020204" pitchFamily="34" charset="0"/>
                <a:hlinkClick r:id="rId14" action="ppaction://hlinksldjump"/>
              </a:rPr>
              <a:t>Shared decision making </a:t>
            </a:r>
            <a:r>
              <a:rPr lang="en-GB" sz="800" dirty="0">
                <a:solidFill>
                  <a:srgbClr val="000000"/>
                </a:solidFill>
                <a:latin typeface="Arial" panose="020B0604020202020204" pitchFamily="34" charset="0"/>
                <a:cs typeface="Arial" panose="020B0604020202020204" pitchFamily="34" charset="0"/>
              </a:rPr>
              <a:t>conversations (including holistic assessment, understanding what matters to the person, discussion of appropriate treatment options and associated harms, benefits and consequences, values and preference) to take place at each decision point on the pathway, using relevant in consultation decision support  tools. Discuss options for onward referral.</a:t>
            </a:r>
          </a:p>
        </p:txBody>
      </p:sp>
      <p:sp>
        <p:nvSpPr>
          <p:cNvPr id="57" name="Rounded Rectangle 117">
            <a:extLst>
              <a:ext uri="{FF2B5EF4-FFF2-40B4-BE49-F238E27FC236}">
                <a16:creationId xmlns:a16="http://schemas.microsoft.com/office/drawing/2014/main" id="{F59963D1-4A46-460E-A0B2-6E9875FEE182}"/>
              </a:ext>
            </a:extLst>
          </p:cNvPr>
          <p:cNvSpPr/>
          <p:nvPr/>
        </p:nvSpPr>
        <p:spPr>
          <a:xfrm>
            <a:off x="10506902" y="4620780"/>
            <a:ext cx="1422631" cy="1442930"/>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b="1" dirty="0">
              <a:solidFill>
                <a:srgbClr val="000000"/>
              </a:solidFill>
              <a:latin typeface="Arial" panose="020B0604020202020204" pitchFamily="34" charset="0"/>
              <a:cs typeface="Arial" panose="020B0604020202020204" pitchFamily="34" charset="0"/>
            </a:endParaRPr>
          </a:p>
          <a:p>
            <a:pPr algn="ctr">
              <a:defRPr/>
            </a:pPr>
            <a:r>
              <a:rPr lang="en-GB" sz="600" b="1" dirty="0">
                <a:solidFill>
                  <a:srgbClr val="000000"/>
                </a:solidFill>
                <a:latin typeface="Arial" panose="020B0604020202020204" pitchFamily="34" charset="0"/>
                <a:cs typeface="Arial" panose="020B0604020202020204" pitchFamily="34" charset="0"/>
              </a:rPr>
              <a:t>Link to:</a:t>
            </a:r>
          </a:p>
          <a:p>
            <a:pPr algn="ctr">
              <a:defRPr/>
            </a:pPr>
            <a:r>
              <a:rPr lang="en-GB" sz="600" b="1" dirty="0">
                <a:solidFill>
                  <a:srgbClr val="000000"/>
                </a:solidFill>
                <a:latin typeface="Arial" panose="020B0604020202020204" pitchFamily="34" charset="0"/>
                <a:cs typeface="Arial" panose="020B0604020202020204" pitchFamily="34" charset="0"/>
                <a:hlinkClick r:id="rId15" action="ppaction://hlinksldjump"/>
              </a:rPr>
              <a:t>O</a:t>
            </a:r>
            <a:r>
              <a:rPr lang="en-GB" sz="600" dirty="0">
                <a:solidFill>
                  <a:srgbClr val="000000"/>
                </a:solidFill>
                <a:latin typeface="Arial" panose="020B0604020202020204" pitchFamily="34" charset="0"/>
                <a:cs typeface="Arial" panose="020B0604020202020204" pitchFamily="34" charset="0"/>
                <a:hlinkClick r:id="rId15" action="ppaction://hlinksldjump"/>
              </a:rPr>
              <a:t>utpatient transformation opportunities, relevant clinical standards and best practice resources </a:t>
            </a: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hlinkClick r:id="" action="ppaction://noaction"/>
            </a:endParaRPr>
          </a:p>
          <a:p>
            <a:pPr algn="ctr">
              <a:defRPr/>
            </a:pPr>
            <a:r>
              <a:rPr lang="en-GB" sz="600" dirty="0">
                <a:solidFill>
                  <a:srgbClr val="000000"/>
                </a:solidFill>
                <a:latin typeface="Arial" panose="020B0604020202020204" pitchFamily="34" charset="0"/>
                <a:cs typeface="Arial" panose="020B0604020202020204" pitchFamily="34" charset="0"/>
                <a:hlinkClick r:id="rId16" action="ppaction://hlinksldjump"/>
              </a:rPr>
              <a:t>Outpatient digital opportunities, relevant digitally-enabled service case studies and best practice resources</a:t>
            </a: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r>
              <a:rPr lang="en-GB" sz="600" dirty="0">
                <a:solidFill>
                  <a:srgbClr val="000000"/>
                </a:solidFill>
                <a:latin typeface="Arial" panose="020B0604020202020204" pitchFamily="34" charset="0"/>
                <a:cs typeface="Arial" panose="020B0604020202020204" pitchFamily="34" charset="0"/>
                <a:hlinkClick r:id="rId2" action="ppaction://hlinksldjump"/>
              </a:rPr>
              <a:t>MSK workforce opportunities across primary, community and secondary care settings</a:t>
            </a: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a:p>
            <a:pPr algn="ctr">
              <a:defRPr/>
            </a:pPr>
            <a:endParaRPr lang="en-GB" sz="6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5048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7946-2A41-12A1-CE5B-0EA2280622FE}"/>
              </a:ext>
            </a:extLst>
          </p:cNvPr>
          <p:cNvSpPr>
            <a:spLocks noGrp="1"/>
          </p:cNvSpPr>
          <p:nvPr>
            <p:ph type="title"/>
          </p:nvPr>
        </p:nvSpPr>
        <p:spPr/>
        <p:txBody>
          <a:bodyPr>
            <a:normAutofit fontScale="90000"/>
          </a:bodyPr>
          <a:lstStyle/>
          <a:p>
            <a:pPr algn="l"/>
            <a:br>
              <a:rPr lang="en-GB" sz="3600" dirty="0"/>
            </a:br>
            <a:r>
              <a:rPr lang="en-GB" sz="3600" dirty="0"/>
              <a:t>referral optimisation in adult services managing MSK conditions (NHS England, 2023)</a:t>
            </a:r>
            <a:br>
              <a:rPr lang="en-GB" sz="3600" dirty="0"/>
            </a:br>
            <a:r>
              <a:rPr lang="en-GB" dirty="0"/>
              <a:t>:</a:t>
            </a:r>
          </a:p>
        </p:txBody>
      </p:sp>
      <p:pic>
        <p:nvPicPr>
          <p:cNvPr id="5" name="Content Placeholder 4">
            <a:extLst>
              <a:ext uri="{FF2B5EF4-FFF2-40B4-BE49-F238E27FC236}">
                <a16:creationId xmlns:a16="http://schemas.microsoft.com/office/drawing/2014/main" id="{FC173105-B609-6A49-40D6-A021FECC861F}"/>
              </a:ext>
            </a:extLst>
          </p:cNvPr>
          <p:cNvPicPr>
            <a:picLocks noGrp="1" noChangeAspect="1"/>
          </p:cNvPicPr>
          <p:nvPr>
            <p:ph idx="1"/>
          </p:nvPr>
        </p:nvPicPr>
        <p:blipFill>
          <a:blip r:embed="rId2"/>
          <a:stretch>
            <a:fillRect/>
          </a:stretch>
        </p:blipFill>
        <p:spPr>
          <a:xfrm>
            <a:off x="1295403" y="2196548"/>
            <a:ext cx="9528310" cy="3816625"/>
          </a:xfrm>
          <a:prstGeom prst="rect">
            <a:avLst/>
          </a:prstGeom>
        </p:spPr>
      </p:pic>
    </p:spTree>
    <p:extLst>
      <p:ext uri="{BB962C8B-B14F-4D97-AF65-F5344CB8AC3E}">
        <p14:creationId xmlns:p14="http://schemas.microsoft.com/office/powerpoint/2010/main" val="2748608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7CB0-1CCA-B44A-9FA7-327C05786350}"/>
              </a:ext>
            </a:extLst>
          </p:cNvPr>
          <p:cNvSpPr>
            <a:spLocks noGrp="1"/>
          </p:cNvSpPr>
          <p:nvPr>
            <p:ph type="title"/>
          </p:nvPr>
        </p:nvSpPr>
        <p:spPr>
          <a:xfrm>
            <a:off x="1295402" y="982132"/>
            <a:ext cx="9601196" cy="1303867"/>
          </a:xfrm>
        </p:spPr>
        <p:txBody>
          <a:bodyPr/>
          <a:lstStyle/>
          <a:p>
            <a:r>
              <a:rPr lang="en-GB" dirty="0"/>
              <a:t>CPWS (continued): </a:t>
            </a:r>
          </a:p>
        </p:txBody>
      </p:sp>
      <p:sp>
        <p:nvSpPr>
          <p:cNvPr id="3" name="Content Placeholder 2">
            <a:extLst>
              <a:ext uri="{FF2B5EF4-FFF2-40B4-BE49-F238E27FC236}">
                <a16:creationId xmlns:a16="http://schemas.microsoft.com/office/drawing/2014/main" id="{F8B00DF6-8F96-0BE1-5164-A5ECA4190654}"/>
              </a:ext>
            </a:extLst>
          </p:cNvPr>
          <p:cNvSpPr>
            <a:spLocks noGrp="1"/>
          </p:cNvSpPr>
          <p:nvPr>
            <p:ph idx="1"/>
          </p:nvPr>
        </p:nvSpPr>
        <p:spPr>
          <a:xfrm>
            <a:off x="1295401" y="2556932"/>
            <a:ext cx="9601196" cy="3318936"/>
          </a:xfrm>
        </p:spPr>
        <p:txBody>
          <a:bodyPr/>
          <a:lstStyle/>
          <a:p>
            <a:r>
              <a:rPr lang="en-GB" dirty="0"/>
              <a:t>throughout England, many different services and many different pathways of care exist and so implementation of the National Pathway would be a decision for the </a:t>
            </a:r>
            <a:r>
              <a:rPr lang="en-GB" b="1" u="sng" dirty="0"/>
              <a:t>CCGs</a:t>
            </a:r>
            <a:r>
              <a:rPr lang="en-GB" dirty="0"/>
              <a:t>, taking into account services and provision within their commissioning area</a:t>
            </a:r>
          </a:p>
        </p:txBody>
      </p:sp>
    </p:spTree>
    <p:extLst>
      <p:ext uri="{BB962C8B-B14F-4D97-AF65-F5344CB8AC3E}">
        <p14:creationId xmlns:p14="http://schemas.microsoft.com/office/powerpoint/2010/main" val="2975805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E20-C61D-C763-7A8C-435FD340032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10B703B-5CDB-3A44-CD4B-1980A9D9C354}"/>
              </a:ext>
            </a:extLst>
          </p:cNvPr>
          <p:cNvSpPr>
            <a:spLocks noGrp="1"/>
          </p:cNvSpPr>
          <p:nvPr>
            <p:ph idx="1"/>
          </p:nvPr>
        </p:nvSpPr>
        <p:spPr/>
        <p:txBody>
          <a:bodyPr/>
          <a:lstStyle/>
          <a:p>
            <a:r>
              <a:rPr lang="en-GB" dirty="0"/>
              <a:t>It is evident that, despite differences in care pathways, some patients seen in physiotherapy clinics will still need a surgical opinion, while some patients referred to orthopaedic clinics will ultimately be better managed conservatively. This pattern occurs even with triage and referral systems designed to fast-track individuals to the most appropriate service (Button et al., 2019).</a:t>
            </a:r>
          </a:p>
        </p:txBody>
      </p:sp>
    </p:spTree>
    <p:extLst>
      <p:ext uri="{BB962C8B-B14F-4D97-AF65-F5344CB8AC3E}">
        <p14:creationId xmlns:p14="http://schemas.microsoft.com/office/powerpoint/2010/main" val="3542873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CD8F-E9CE-4B00-AD3B-4F9DE816CBA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50FA6E3-1566-9C91-9BF4-603616F34194}"/>
              </a:ext>
            </a:extLst>
          </p:cNvPr>
          <p:cNvSpPr>
            <a:spLocks noGrp="1"/>
          </p:cNvSpPr>
          <p:nvPr>
            <p:ph idx="1"/>
          </p:nvPr>
        </p:nvSpPr>
        <p:spPr/>
        <p:txBody>
          <a:bodyPr/>
          <a:lstStyle/>
          <a:p>
            <a:r>
              <a:rPr lang="en-GB" dirty="0"/>
              <a:t> for ongoing treatment in a clinic, physiotherapists were more likely to give exercise and education at the time of consultation while a surgeon was more likely to refer to rehabilitation services (which would include exercise and education), adding a further step and potential delay in the patient receiving the correct care (Button et al., 2019).</a:t>
            </a:r>
          </a:p>
        </p:txBody>
      </p:sp>
    </p:spTree>
    <p:extLst>
      <p:ext uri="{BB962C8B-B14F-4D97-AF65-F5344CB8AC3E}">
        <p14:creationId xmlns:p14="http://schemas.microsoft.com/office/powerpoint/2010/main" val="2964596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736E8-5F32-C1F9-0BAA-D8FB6F53E442}"/>
              </a:ext>
            </a:extLst>
          </p:cNvPr>
          <p:cNvSpPr>
            <a:spLocks noGrp="1"/>
          </p:cNvSpPr>
          <p:nvPr>
            <p:ph type="ctrTitle"/>
          </p:nvPr>
        </p:nvSpPr>
        <p:spPr/>
        <p:txBody>
          <a:bodyPr/>
          <a:lstStyle/>
          <a:p>
            <a:r>
              <a:rPr lang="en-GB" dirty="0"/>
              <a:t>Group work. MDT in MSK. Who is involved?</a:t>
            </a:r>
          </a:p>
        </p:txBody>
      </p:sp>
      <p:sp>
        <p:nvSpPr>
          <p:cNvPr id="3" name="Subtitle 2">
            <a:extLst>
              <a:ext uri="{FF2B5EF4-FFF2-40B4-BE49-F238E27FC236}">
                <a16:creationId xmlns:a16="http://schemas.microsoft.com/office/drawing/2014/main" id="{23F6E943-D632-BD6D-6239-2CE409A321D3}"/>
              </a:ext>
            </a:extLst>
          </p:cNvPr>
          <p:cNvSpPr>
            <a:spLocks noGrp="1"/>
          </p:cNvSpPr>
          <p:nvPr>
            <p:ph type="subTitle" idx="1"/>
          </p:nvPr>
        </p:nvSpPr>
        <p:spPr/>
        <p:txBody>
          <a:bodyPr/>
          <a:lstStyle/>
          <a:p>
            <a:r>
              <a:rPr lang="en-GB" dirty="0"/>
              <a:t>In 5 minutes</a:t>
            </a:r>
          </a:p>
        </p:txBody>
      </p:sp>
    </p:spTree>
    <p:extLst>
      <p:ext uri="{BB962C8B-B14F-4D97-AF65-F5344CB8AC3E}">
        <p14:creationId xmlns:p14="http://schemas.microsoft.com/office/powerpoint/2010/main" val="2640391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78A57-CDAC-1423-2A82-EAA693B7296C}"/>
              </a:ext>
            </a:extLst>
          </p:cNvPr>
          <p:cNvSpPr>
            <a:spLocks noGrp="1"/>
          </p:cNvSpPr>
          <p:nvPr>
            <p:ph type="title"/>
          </p:nvPr>
        </p:nvSpPr>
        <p:spPr/>
        <p:txBody>
          <a:bodyPr/>
          <a:lstStyle/>
          <a:p>
            <a:r>
              <a:rPr lang="en-GB" dirty="0"/>
              <a:t>What else we need to consider?</a:t>
            </a:r>
          </a:p>
        </p:txBody>
      </p:sp>
      <p:sp>
        <p:nvSpPr>
          <p:cNvPr id="3" name="Text Placeholder 2">
            <a:extLst>
              <a:ext uri="{FF2B5EF4-FFF2-40B4-BE49-F238E27FC236}">
                <a16:creationId xmlns:a16="http://schemas.microsoft.com/office/drawing/2014/main" id="{DEE55F28-8EF3-5915-0F5E-F2E6FFFF7807}"/>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446418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39F6-EA9B-C62A-D5DC-B6A99BBA6D3F}"/>
              </a:ext>
            </a:extLst>
          </p:cNvPr>
          <p:cNvSpPr>
            <a:spLocks noGrp="1"/>
          </p:cNvSpPr>
          <p:nvPr>
            <p:ph type="title"/>
          </p:nvPr>
        </p:nvSpPr>
        <p:spPr/>
        <p:txBody>
          <a:bodyPr/>
          <a:lstStyle/>
          <a:p>
            <a:pPr algn="l"/>
            <a:r>
              <a:rPr lang="en-GB" dirty="0"/>
              <a:t>Personalised care:</a:t>
            </a:r>
          </a:p>
        </p:txBody>
      </p:sp>
      <p:sp>
        <p:nvSpPr>
          <p:cNvPr id="3" name="Content Placeholder 2">
            <a:extLst>
              <a:ext uri="{FF2B5EF4-FFF2-40B4-BE49-F238E27FC236}">
                <a16:creationId xmlns:a16="http://schemas.microsoft.com/office/drawing/2014/main" id="{4C471D9E-BCC4-83A9-1554-E3E2EE5ED045}"/>
              </a:ext>
            </a:extLst>
          </p:cNvPr>
          <p:cNvSpPr>
            <a:spLocks noGrp="1"/>
          </p:cNvSpPr>
          <p:nvPr>
            <p:ph idx="1"/>
          </p:nvPr>
        </p:nvSpPr>
        <p:spPr/>
        <p:txBody>
          <a:bodyPr/>
          <a:lstStyle/>
          <a:p>
            <a:r>
              <a:rPr lang="en-GB" dirty="0"/>
              <a:t>Personalised care means people have choice and control over the way their care is planned and delivered. It is based on ‘what matters’ to them and their individual strengths and needs.</a:t>
            </a:r>
          </a:p>
          <a:p>
            <a:r>
              <a:rPr lang="en-GB" dirty="0"/>
              <a:t>This happens within a system that makes the most of the expertise, capacity and potential of people, families and communities in delivering better outcomes and experiences.</a:t>
            </a:r>
          </a:p>
          <a:p>
            <a:endParaRPr lang="en-GB" dirty="0"/>
          </a:p>
        </p:txBody>
      </p:sp>
    </p:spTree>
    <p:extLst>
      <p:ext uri="{BB962C8B-B14F-4D97-AF65-F5344CB8AC3E}">
        <p14:creationId xmlns:p14="http://schemas.microsoft.com/office/powerpoint/2010/main" val="1133113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71A2-72CC-CBE6-DD5A-C7E18CD22B49}"/>
              </a:ext>
            </a:extLst>
          </p:cNvPr>
          <p:cNvSpPr>
            <a:spLocks noGrp="1"/>
          </p:cNvSpPr>
          <p:nvPr>
            <p:ph type="title"/>
          </p:nvPr>
        </p:nvSpPr>
        <p:spPr/>
        <p:txBody>
          <a:bodyPr/>
          <a:lstStyle/>
          <a:p>
            <a:pPr algn="l"/>
            <a:r>
              <a:rPr lang="en-GB" b="1" dirty="0"/>
              <a:t>Shared Decision Making:</a:t>
            </a:r>
          </a:p>
        </p:txBody>
      </p:sp>
      <p:sp>
        <p:nvSpPr>
          <p:cNvPr id="3" name="Content Placeholder 2">
            <a:extLst>
              <a:ext uri="{FF2B5EF4-FFF2-40B4-BE49-F238E27FC236}">
                <a16:creationId xmlns:a16="http://schemas.microsoft.com/office/drawing/2014/main" id="{1B8F2B13-D3E7-7B3B-9B95-1C0E51A1D084}"/>
              </a:ext>
            </a:extLst>
          </p:cNvPr>
          <p:cNvSpPr>
            <a:spLocks noGrp="1"/>
          </p:cNvSpPr>
          <p:nvPr>
            <p:ph idx="1"/>
          </p:nvPr>
        </p:nvSpPr>
        <p:spPr/>
        <p:txBody>
          <a:bodyPr/>
          <a:lstStyle/>
          <a:p>
            <a:pPr marL="0" indent="0">
              <a:buNone/>
            </a:pPr>
            <a:r>
              <a:rPr lang="en-GB" dirty="0"/>
              <a:t>is a collaborative process that involves the patient/carer and their healthcare professional working together to reach a joint decision about care. To achieve this the patient/carer/family member needs to understand the risks, benefits and any consequences of the care management options available.</a:t>
            </a:r>
          </a:p>
        </p:txBody>
      </p:sp>
    </p:spTree>
    <p:extLst>
      <p:ext uri="{BB962C8B-B14F-4D97-AF65-F5344CB8AC3E}">
        <p14:creationId xmlns:p14="http://schemas.microsoft.com/office/powerpoint/2010/main" val="3026066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49B9C-8BDA-5937-60BD-563DC46892B2}"/>
              </a:ext>
            </a:extLst>
          </p:cNvPr>
          <p:cNvSpPr>
            <a:spLocks noGrp="1"/>
          </p:cNvSpPr>
          <p:nvPr>
            <p:ph type="title"/>
          </p:nvPr>
        </p:nvSpPr>
        <p:spPr/>
        <p:txBody>
          <a:bodyPr/>
          <a:lstStyle/>
          <a:p>
            <a:pPr algn="l"/>
            <a:r>
              <a:rPr lang="en-GB" dirty="0"/>
              <a:t>What else?</a:t>
            </a:r>
          </a:p>
        </p:txBody>
      </p:sp>
      <p:sp>
        <p:nvSpPr>
          <p:cNvPr id="3" name="Content Placeholder 2">
            <a:extLst>
              <a:ext uri="{FF2B5EF4-FFF2-40B4-BE49-F238E27FC236}">
                <a16:creationId xmlns:a16="http://schemas.microsoft.com/office/drawing/2014/main" id="{6B8EA728-5937-3CE3-5D66-504A62594C8D}"/>
              </a:ext>
            </a:extLst>
          </p:cNvPr>
          <p:cNvSpPr>
            <a:spLocks noGrp="1"/>
          </p:cNvSpPr>
          <p:nvPr>
            <p:ph idx="1"/>
          </p:nvPr>
        </p:nvSpPr>
        <p:spPr/>
        <p:txBody>
          <a:bodyPr/>
          <a:lstStyle/>
          <a:p>
            <a:pPr fontAlgn="base"/>
            <a:r>
              <a:rPr lang="en-GB" dirty="0"/>
              <a:t>NHS England has produced </a:t>
            </a:r>
            <a:r>
              <a:rPr lang="en-GB" u="sng" dirty="0">
                <a:hlinkClick r:id="rId2"/>
              </a:rPr>
              <a:t>decision support tools</a:t>
            </a:r>
            <a:r>
              <a:rPr lang="en-GB" dirty="0"/>
              <a:t> for </a:t>
            </a:r>
            <a:r>
              <a:rPr lang="en-GB" u="sng" dirty="0">
                <a:hlinkClick r:id="rId3"/>
              </a:rPr>
              <a:t>Dupuytren’s contracture</a:t>
            </a:r>
            <a:r>
              <a:rPr lang="en-GB" dirty="0"/>
              <a:t>, </a:t>
            </a:r>
            <a:r>
              <a:rPr lang="en-GB" u="sng" dirty="0">
                <a:hlinkClick r:id="rId4"/>
              </a:rPr>
              <a:t>carpal tunnel syndrome</a:t>
            </a:r>
            <a:r>
              <a:rPr lang="en-GB" dirty="0"/>
              <a:t>, </a:t>
            </a:r>
            <a:r>
              <a:rPr lang="en-GB" u="sng" dirty="0">
                <a:hlinkClick r:id="rId5"/>
              </a:rPr>
              <a:t>hip osteoarthritis</a:t>
            </a:r>
            <a:r>
              <a:rPr lang="en-GB" dirty="0"/>
              <a:t>, </a:t>
            </a:r>
            <a:r>
              <a:rPr lang="en-GB" u="sng" dirty="0">
                <a:hlinkClick r:id="rId6"/>
              </a:rPr>
              <a:t>knee osteoarthritis</a:t>
            </a:r>
            <a:r>
              <a:rPr lang="en-GB" dirty="0"/>
              <a:t> and </a:t>
            </a:r>
            <a:r>
              <a:rPr lang="en-GB" u="sng" dirty="0">
                <a:hlinkClick r:id="rId7"/>
              </a:rPr>
              <a:t>chronic primary pain</a:t>
            </a:r>
            <a:r>
              <a:rPr lang="en-GB" dirty="0"/>
              <a:t>.</a:t>
            </a:r>
          </a:p>
          <a:p>
            <a:pPr fontAlgn="base"/>
            <a:r>
              <a:rPr lang="en-GB" dirty="0"/>
              <a:t>The </a:t>
            </a:r>
            <a:r>
              <a:rPr lang="en-GB" u="sng" dirty="0">
                <a:hlinkClick r:id="rId8"/>
              </a:rPr>
              <a:t>MRI spinal leaflet for clinicians </a:t>
            </a:r>
            <a:r>
              <a:rPr lang="en-GB" dirty="0"/>
              <a:t>is aimed at reducing unwarranted variation in requests for MRI scans for spinal conditions and was developed by spinal clinicians in collaboration with lived experience partners. It supports clinicians when considering whether an MRI scan is appropriate. </a:t>
            </a:r>
            <a:r>
              <a:rPr lang="en-GB" u="sng" dirty="0">
                <a:hlinkClick r:id="rId9"/>
              </a:rPr>
              <a:t>A patient leaflet</a:t>
            </a:r>
            <a:r>
              <a:rPr lang="en-GB" dirty="0"/>
              <a:t> is also available.</a:t>
            </a:r>
          </a:p>
          <a:p>
            <a:endParaRPr lang="en-GB" dirty="0"/>
          </a:p>
        </p:txBody>
      </p:sp>
    </p:spTree>
    <p:extLst>
      <p:ext uri="{BB962C8B-B14F-4D97-AF65-F5344CB8AC3E}">
        <p14:creationId xmlns:p14="http://schemas.microsoft.com/office/powerpoint/2010/main" val="955907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37A4-C8AB-61DB-781E-DE89680F879B}"/>
              </a:ext>
            </a:extLst>
          </p:cNvPr>
          <p:cNvSpPr>
            <a:spLocks noGrp="1"/>
          </p:cNvSpPr>
          <p:nvPr>
            <p:ph type="title"/>
          </p:nvPr>
        </p:nvSpPr>
        <p:spPr>
          <a:xfrm>
            <a:off x="1295402" y="982133"/>
            <a:ext cx="9601196" cy="687642"/>
          </a:xfrm>
        </p:spPr>
        <p:txBody>
          <a:bodyPr>
            <a:noAutofit/>
          </a:bodyPr>
          <a:lstStyle/>
          <a:p>
            <a:pPr algn="l"/>
            <a:r>
              <a:rPr lang="en-GB" sz="3200" b="1" dirty="0"/>
              <a:t>National Low Back and Radicular Pain Pathway 2017 </a:t>
            </a:r>
            <a:r>
              <a:rPr lang="en-GB" sz="3200" dirty="0"/>
              <a:t>(Excellence, 2017):</a:t>
            </a:r>
          </a:p>
        </p:txBody>
      </p:sp>
      <p:pic>
        <p:nvPicPr>
          <p:cNvPr id="6" name="Content Placeholder 5">
            <a:extLst>
              <a:ext uri="{FF2B5EF4-FFF2-40B4-BE49-F238E27FC236}">
                <a16:creationId xmlns:a16="http://schemas.microsoft.com/office/drawing/2014/main" id="{EE919C0A-789F-5F3A-0B77-C473DE38988A}"/>
              </a:ext>
            </a:extLst>
          </p:cNvPr>
          <p:cNvPicPr>
            <a:picLocks noGrp="1" noChangeAspect="1"/>
          </p:cNvPicPr>
          <p:nvPr>
            <p:ph sz="half" idx="2"/>
          </p:nvPr>
        </p:nvPicPr>
        <p:blipFill>
          <a:blip r:embed="rId2"/>
          <a:stretch>
            <a:fillRect/>
          </a:stretch>
        </p:blipFill>
        <p:spPr>
          <a:xfrm>
            <a:off x="7109202" y="2560638"/>
            <a:ext cx="2863095" cy="3309937"/>
          </a:xfrm>
          <a:prstGeom prst="rect">
            <a:avLst/>
          </a:prstGeom>
        </p:spPr>
      </p:pic>
      <p:pic>
        <p:nvPicPr>
          <p:cNvPr id="12" name="Content Placeholder 11">
            <a:extLst>
              <a:ext uri="{FF2B5EF4-FFF2-40B4-BE49-F238E27FC236}">
                <a16:creationId xmlns:a16="http://schemas.microsoft.com/office/drawing/2014/main" id="{6444F894-FD92-9162-7959-3010CF172EC2}"/>
              </a:ext>
            </a:extLst>
          </p:cNvPr>
          <p:cNvPicPr>
            <a:picLocks noGrp="1" noChangeAspect="1"/>
          </p:cNvPicPr>
          <p:nvPr>
            <p:ph sz="half" idx="1"/>
          </p:nvPr>
        </p:nvPicPr>
        <p:blipFill>
          <a:blip r:embed="rId3"/>
          <a:stretch>
            <a:fillRect/>
          </a:stretch>
        </p:blipFill>
        <p:spPr>
          <a:xfrm>
            <a:off x="1510748" y="1798983"/>
            <a:ext cx="5059017" cy="4333460"/>
          </a:xfrm>
          <a:prstGeom prst="rect">
            <a:avLst/>
          </a:prstGeom>
        </p:spPr>
      </p:pic>
    </p:spTree>
    <p:extLst>
      <p:ext uri="{BB962C8B-B14F-4D97-AF65-F5344CB8AC3E}">
        <p14:creationId xmlns:p14="http://schemas.microsoft.com/office/powerpoint/2010/main" val="3653268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75A17-C035-30D9-969F-E6E696949BF4}"/>
              </a:ext>
            </a:extLst>
          </p:cNvPr>
          <p:cNvSpPr>
            <a:spLocks noGrp="1"/>
          </p:cNvSpPr>
          <p:nvPr>
            <p:ph type="title"/>
          </p:nvPr>
        </p:nvSpPr>
        <p:spPr>
          <a:xfrm>
            <a:off x="1295402" y="982133"/>
            <a:ext cx="9601196" cy="938108"/>
          </a:xfrm>
        </p:spPr>
        <p:txBody>
          <a:bodyPr/>
          <a:lstStyle/>
          <a:p>
            <a:pPr algn="l"/>
            <a:r>
              <a:rPr lang="en-GB" b="1" dirty="0"/>
              <a:t>Radicular Pain Pathway </a:t>
            </a:r>
            <a:endParaRPr lang="en-GB" dirty="0"/>
          </a:p>
        </p:txBody>
      </p:sp>
      <p:pic>
        <p:nvPicPr>
          <p:cNvPr id="11" name="Content Placeholder 10">
            <a:extLst>
              <a:ext uri="{FF2B5EF4-FFF2-40B4-BE49-F238E27FC236}">
                <a16:creationId xmlns:a16="http://schemas.microsoft.com/office/drawing/2014/main" id="{13F45622-B324-85D8-5BEB-A2F9B1FB00E4}"/>
              </a:ext>
            </a:extLst>
          </p:cNvPr>
          <p:cNvPicPr>
            <a:picLocks noGrp="1" noChangeAspect="1"/>
          </p:cNvPicPr>
          <p:nvPr>
            <p:ph idx="1"/>
          </p:nvPr>
        </p:nvPicPr>
        <p:blipFill>
          <a:blip r:embed="rId2"/>
          <a:stretch>
            <a:fillRect/>
          </a:stretch>
        </p:blipFill>
        <p:spPr>
          <a:xfrm>
            <a:off x="4343401" y="1920241"/>
            <a:ext cx="4434840" cy="3955097"/>
          </a:xfrm>
          <a:prstGeom prst="rect">
            <a:avLst/>
          </a:prstGeom>
        </p:spPr>
      </p:pic>
    </p:spTree>
    <p:extLst>
      <p:ext uri="{BB962C8B-B14F-4D97-AF65-F5344CB8AC3E}">
        <p14:creationId xmlns:p14="http://schemas.microsoft.com/office/powerpoint/2010/main" val="657771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7CC7B-FE9A-484A-86ED-63C6F593509B}"/>
              </a:ext>
            </a:extLst>
          </p:cNvPr>
          <p:cNvSpPr>
            <a:spLocks noGrp="1"/>
          </p:cNvSpPr>
          <p:nvPr>
            <p:ph type="title"/>
          </p:nvPr>
        </p:nvSpPr>
        <p:spPr>
          <a:xfrm>
            <a:off x="6733751" y="42124"/>
            <a:ext cx="5134761" cy="315912"/>
          </a:xfrm>
        </p:spPr>
        <p:txBody>
          <a:bodyPr>
            <a:noAutofit/>
          </a:bodyPr>
          <a:lstStyle/>
          <a:p>
            <a:r>
              <a:rPr lang="en-GB" sz="2600" b="1" dirty="0">
                <a:solidFill>
                  <a:srgbClr val="005EB8"/>
                </a:solidFill>
                <a:latin typeface="Arial" panose="020B0604020202020204" pitchFamily="34" charset="0"/>
                <a:cs typeface="Arial" panose="020B0604020202020204" pitchFamily="34" charset="0"/>
              </a:rPr>
              <a:t>Urgent and emergency referral</a:t>
            </a:r>
          </a:p>
        </p:txBody>
      </p:sp>
      <p:sp>
        <p:nvSpPr>
          <p:cNvPr id="8" name="TextBox 7">
            <a:extLst>
              <a:ext uri="{FF2B5EF4-FFF2-40B4-BE49-F238E27FC236}">
                <a16:creationId xmlns:a16="http://schemas.microsoft.com/office/drawing/2014/main" id="{DE85B4BC-C9FC-443D-BC51-1D36830CC7FC}"/>
              </a:ext>
            </a:extLst>
          </p:cNvPr>
          <p:cNvSpPr txBox="1"/>
          <p:nvPr/>
        </p:nvSpPr>
        <p:spPr>
          <a:xfrm>
            <a:off x="5637402" y="2973897"/>
            <a:ext cx="914400" cy="914400"/>
          </a:xfrm>
          <a:prstGeom prst="rect">
            <a:avLst/>
          </a:prstGeom>
          <a:noFill/>
        </p:spPr>
        <p:txBody>
          <a:bodyPr wrap="square" rtlCol="0">
            <a:spAutoFit/>
          </a:bodyPr>
          <a:lstStyle/>
          <a:p>
            <a:endParaRPr lang="en-GB" dirty="0"/>
          </a:p>
        </p:txBody>
      </p:sp>
      <p:sp>
        <p:nvSpPr>
          <p:cNvPr id="9" name="TextBox 8">
            <a:extLst>
              <a:ext uri="{FF2B5EF4-FFF2-40B4-BE49-F238E27FC236}">
                <a16:creationId xmlns:a16="http://schemas.microsoft.com/office/drawing/2014/main" id="{59703E0A-2A73-47F6-A17A-4902EFA1D9AF}"/>
              </a:ext>
            </a:extLst>
          </p:cNvPr>
          <p:cNvSpPr txBox="1"/>
          <p:nvPr/>
        </p:nvSpPr>
        <p:spPr>
          <a:xfrm>
            <a:off x="5637402" y="2973897"/>
            <a:ext cx="914400" cy="914400"/>
          </a:xfrm>
          <a:prstGeom prst="rect">
            <a:avLst/>
          </a:prstGeom>
          <a:noFill/>
        </p:spPr>
        <p:txBody>
          <a:bodyPr wrap="square" rtlCol="0">
            <a:spAutoFit/>
          </a:bodyPr>
          <a:lstStyle/>
          <a:p>
            <a:endParaRPr lang="en-GB" dirty="0"/>
          </a:p>
        </p:txBody>
      </p:sp>
      <p:sp>
        <p:nvSpPr>
          <p:cNvPr id="10" name="TextBox 9">
            <a:extLst>
              <a:ext uri="{FF2B5EF4-FFF2-40B4-BE49-F238E27FC236}">
                <a16:creationId xmlns:a16="http://schemas.microsoft.com/office/drawing/2014/main" id="{0A042B52-7BA2-4004-BE2A-972086194097}"/>
              </a:ext>
            </a:extLst>
          </p:cNvPr>
          <p:cNvSpPr txBox="1"/>
          <p:nvPr/>
        </p:nvSpPr>
        <p:spPr>
          <a:xfrm>
            <a:off x="931177" y="2072080"/>
            <a:ext cx="2021747" cy="914400"/>
          </a:xfrm>
          <a:prstGeom prst="rect">
            <a:avLst/>
          </a:prstGeom>
          <a:noFill/>
        </p:spPr>
        <p:txBody>
          <a:bodyPr wrap="square" rtlCol="0">
            <a:spAutoFit/>
          </a:bodyPr>
          <a:lstStyle/>
          <a:p>
            <a:endParaRPr lang="en-GB" dirty="0"/>
          </a:p>
        </p:txBody>
      </p:sp>
      <p:sp>
        <p:nvSpPr>
          <p:cNvPr id="15" name="Rectangle 14">
            <a:extLst>
              <a:ext uri="{FF2B5EF4-FFF2-40B4-BE49-F238E27FC236}">
                <a16:creationId xmlns:a16="http://schemas.microsoft.com/office/drawing/2014/main" id="{EC150B37-365B-4B39-95C6-4927603260A7}"/>
              </a:ext>
            </a:extLst>
          </p:cNvPr>
          <p:cNvSpPr/>
          <p:nvPr/>
        </p:nvSpPr>
        <p:spPr>
          <a:xfrm>
            <a:off x="6356628" y="5761625"/>
            <a:ext cx="5708369" cy="1546770"/>
          </a:xfrm>
          <a:prstGeom prst="rect">
            <a:avLst/>
          </a:prstGeom>
        </p:spPr>
        <p:txBody>
          <a:bodyPr wrap="square">
            <a:spAutoFit/>
          </a:bodyPr>
          <a:lstStyle/>
          <a:p>
            <a:pPr lvl="0">
              <a:lnSpc>
                <a:spcPct val="107000"/>
              </a:lnSpc>
              <a:spcAft>
                <a:spcPts val="800"/>
              </a:spcAft>
            </a:pPr>
            <a:r>
              <a:rPr lang="en-GB" sz="800" dirty="0">
                <a:latin typeface="Arial" panose="020B0604020202020204" pitchFamily="34" charset="0"/>
                <a:ea typeface="Calibri" panose="020F0502020204030204" pitchFamily="34" charset="0"/>
                <a:cs typeface="Times New Roman" panose="02020603050405020304" pitchFamily="18" charset="0"/>
              </a:rPr>
              <a:t>Not an exhaustive list. Referral routes will be guided by local referral protocols. </a:t>
            </a:r>
            <a:r>
              <a:rPr lang="en-GB" sz="800" dirty="0">
                <a:latin typeface="Arial" panose="020B0604020202020204" pitchFamily="34" charset="0"/>
                <a:cs typeface="Arial" panose="020B0604020202020204" pitchFamily="34" charset="0"/>
              </a:rPr>
              <a:t>Additional guidance: </a:t>
            </a:r>
          </a:p>
          <a:p>
            <a:pPr lvl="0">
              <a:lnSpc>
                <a:spcPct val="107000"/>
              </a:lnSpc>
              <a:spcAft>
                <a:spcPts val="800"/>
              </a:spcAft>
            </a:pPr>
            <a:r>
              <a:rPr lang="en-GB" sz="800" dirty="0">
                <a:latin typeface="Arial" panose="020B0604020202020204" pitchFamily="34" charset="0"/>
                <a:cs typeface="Arial" panose="020B0604020202020204" pitchFamily="34" charset="0"/>
                <a:hlinkClick r:id="rId2"/>
              </a:rPr>
              <a:t>Urgent and Emergency Musculoskeletal Conditions Requiring Onward Referral</a:t>
            </a:r>
            <a:endParaRPr lang="en-GB" sz="800" dirty="0">
              <a:latin typeface="Arial" panose="020B0604020202020204" pitchFamily="34" charset="0"/>
              <a:cs typeface="Arial" panose="020B0604020202020204" pitchFamily="34" charset="0"/>
            </a:endParaRPr>
          </a:p>
          <a:p>
            <a:pPr lvl="0">
              <a:lnSpc>
                <a:spcPct val="107000"/>
              </a:lnSpc>
              <a:spcAft>
                <a:spcPts val="800"/>
              </a:spcAft>
            </a:pPr>
            <a:r>
              <a:rPr lang="en-GB" sz="800" dirty="0">
                <a:latin typeface="Arial" panose="020B0604020202020204" pitchFamily="34" charset="0"/>
                <a:ea typeface="Calibri" panose="020F0502020204030204" pitchFamily="34" charset="0"/>
                <a:cs typeface="Arial" panose="020B0604020202020204" pitchFamily="34" charset="0"/>
                <a:hlinkClick r:id="rId3"/>
              </a:rPr>
              <a:t>System Wide Approach to Referral Optimisation for MSK Orthopaedics</a:t>
            </a:r>
            <a:endParaRPr lang="en-GB" sz="800" dirty="0">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pPr>
            <a:r>
              <a:rPr lang="en-GB" sz="800" dirty="0">
                <a:latin typeface="Arial" panose="020B0604020202020204" pitchFamily="34" charset="0"/>
                <a:cs typeface="Arial" panose="020B0604020202020204" pitchFamily="34" charset="0"/>
                <a:hlinkClick r:id="rId4"/>
              </a:rPr>
              <a:t>Referral Optimisation: Guide to implementing best practice referral optimisation management for patients with initial presentation of spinal pain / sciatica in primary and community care - </a:t>
            </a:r>
            <a:r>
              <a:rPr lang="en-GB" sz="800" dirty="0" err="1">
                <a:latin typeface="Arial" panose="020B0604020202020204" pitchFamily="34" charset="0"/>
                <a:cs typeface="Arial" panose="020B0604020202020204" pitchFamily="34" charset="0"/>
                <a:hlinkClick r:id="rId4"/>
              </a:rPr>
              <a:t>BestMSK</a:t>
            </a:r>
            <a:r>
              <a:rPr lang="en-GB" sz="800" dirty="0">
                <a:latin typeface="Arial" panose="020B0604020202020204" pitchFamily="34" charset="0"/>
                <a:cs typeface="Arial" panose="020B0604020202020204" pitchFamily="34" charset="0"/>
                <a:hlinkClick r:id="rId4"/>
              </a:rPr>
              <a:t> Health Collaborative - </a:t>
            </a:r>
            <a:r>
              <a:rPr lang="en-GB" sz="800" dirty="0" err="1">
                <a:latin typeface="Arial" panose="020B0604020202020204" pitchFamily="34" charset="0"/>
                <a:cs typeface="Arial" panose="020B0604020202020204" pitchFamily="34" charset="0"/>
                <a:hlinkClick r:id="rId4"/>
              </a:rPr>
              <a:t>FutureNHS</a:t>
            </a:r>
            <a:r>
              <a:rPr lang="en-GB" sz="800" dirty="0">
                <a:latin typeface="Arial" panose="020B0604020202020204" pitchFamily="34" charset="0"/>
                <a:cs typeface="Arial" panose="020B0604020202020204" pitchFamily="34" charset="0"/>
                <a:hlinkClick r:id="rId4"/>
              </a:rPr>
              <a:t> Collaboration Platform</a:t>
            </a:r>
            <a:endParaRPr lang="en-GB" sz="800"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u="sng" dirty="0">
                <a:latin typeface="Arial" panose="020B0604020202020204" pitchFamily="34" charset="0"/>
                <a:cs typeface="Arial" panose="020B0604020202020204" pitchFamily="34" charset="0"/>
                <a:hlinkClick r:id="rId5"/>
              </a:rPr>
              <a:t>DRAFT National Suspected Cauda Equina Pathway Group V4 - </a:t>
            </a:r>
            <a:r>
              <a:rPr lang="en-GB" sz="800" u="sng" dirty="0" err="1">
                <a:latin typeface="Arial" panose="020B0604020202020204" pitchFamily="34" charset="0"/>
                <a:cs typeface="Arial" panose="020B0604020202020204" pitchFamily="34" charset="0"/>
                <a:hlinkClick r:id="rId5"/>
              </a:rPr>
              <a:t>BestMSK</a:t>
            </a:r>
            <a:r>
              <a:rPr lang="en-GB" sz="800" u="sng" dirty="0">
                <a:latin typeface="Arial" panose="020B0604020202020204" pitchFamily="34" charset="0"/>
                <a:cs typeface="Arial" panose="020B0604020202020204" pitchFamily="34" charset="0"/>
                <a:hlinkClick r:id="rId5"/>
              </a:rPr>
              <a:t> Health Collaborative - </a:t>
            </a:r>
            <a:r>
              <a:rPr lang="en-GB" sz="800" u="sng" dirty="0" err="1">
                <a:latin typeface="Arial" panose="020B0604020202020204" pitchFamily="34" charset="0"/>
                <a:cs typeface="Arial" panose="020B0604020202020204" pitchFamily="34" charset="0"/>
                <a:hlinkClick r:id="rId5"/>
              </a:rPr>
              <a:t>FutureNHS</a:t>
            </a:r>
            <a:r>
              <a:rPr lang="en-GB" sz="800" u="sng" dirty="0">
                <a:latin typeface="Arial" panose="020B0604020202020204" pitchFamily="34" charset="0"/>
                <a:cs typeface="Arial" panose="020B0604020202020204" pitchFamily="34" charset="0"/>
                <a:hlinkClick r:id="rId5"/>
              </a:rPr>
              <a:t> Collaboration Platform</a:t>
            </a:r>
            <a:endParaRPr lang="en-GB" sz="800" dirty="0">
              <a:latin typeface="Arial" panose="020B0604020202020204" pitchFamily="34" charset="0"/>
              <a:ea typeface="Calibri" panose="020F050202020403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3A3530E5-F6A8-42BF-8982-FB3A35D0F8A1}"/>
              </a:ext>
            </a:extLst>
          </p:cNvPr>
          <p:cNvGraphicFramePr>
            <a:graphicFrameLocks noGrp="1"/>
          </p:cNvGraphicFramePr>
          <p:nvPr/>
        </p:nvGraphicFramePr>
        <p:xfrm>
          <a:off x="76208" y="26098"/>
          <a:ext cx="6344294" cy="6784597"/>
        </p:xfrm>
        <a:graphic>
          <a:graphicData uri="http://schemas.openxmlformats.org/drawingml/2006/table">
            <a:tbl>
              <a:tblPr firstRow="1" firstCol="1" bandRow="1"/>
              <a:tblGrid>
                <a:gridCol w="1368872">
                  <a:extLst>
                    <a:ext uri="{9D8B030D-6E8A-4147-A177-3AD203B41FA5}">
                      <a16:colId xmlns:a16="http://schemas.microsoft.com/office/drawing/2014/main" val="3149407840"/>
                    </a:ext>
                  </a:extLst>
                </a:gridCol>
                <a:gridCol w="3397844">
                  <a:extLst>
                    <a:ext uri="{9D8B030D-6E8A-4147-A177-3AD203B41FA5}">
                      <a16:colId xmlns:a16="http://schemas.microsoft.com/office/drawing/2014/main" val="1213667918"/>
                    </a:ext>
                  </a:extLst>
                </a:gridCol>
                <a:gridCol w="1577578">
                  <a:extLst>
                    <a:ext uri="{9D8B030D-6E8A-4147-A177-3AD203B41FA5}">
                      <a16:colId xmlns:a16="http://schemas.microsoft.com/office/drawing/2014/main" val="1942822519"/>
                    </a:ext>
                  </a:extLst>
                </a:gridCol>
              </a:tblGrid>
              <a:tr h="113614">
                <a:tc gridSpan="3">
                  <a:txBody>
                    <a:bodyPr/>
                    <a:lstStyle/>
                    <a:p>
                      <a:pPr algn="ctr">
                        <a:lnSpc>
                          <a:spcPct val="107000"/>
                        </a:lnSpc>
                        <a:spcAft>
                          <a:spcPts val="800"/>
                        </a:spcAft>
                      </a:pPr>
                      <a:r>
                        <a:rPr lang="en-GB" sz="800" b="1" u="sng" dirty="0">
                          <a:effectLst/>
                          <a:latin typeface="Arial" panose="020B0604020202020204" pitchFamily="34" charset="0"/>
                          <a:ea typeface="Calibri" panose="020F0502020204030204" pitchFamily="34" charset="0"/>
                          <a:cs typeface="Arial" panose="020B0604020202020204" pitchFamily="34" charset="0"/>
                        </a:rPr>
                        <a:t>Urgent and </a:t>
                      </a:r>
                      <a:r>
                        <a:rPr lang="en-GB" sz="800" b="1" u="sng" dirty="0">
                          <a:solidFill>
                            <a:srgbClr val="000000"/>
                          </a:solidFill>
                          <a:effectLst/>
                          <a:latin typeface="Arial" panose="020B0604020202020204" pitchFamily="34" charset="0"/>
                          <a:ea typeface="Calibri" panose="020F0502020204030204" pitchFamily="34" charset="0"/>
                          <a:cs typeface="Arial" panose="020B0604020202020204" pitchFamily="34" charset="0"/>
                        </a:rPr>
                        <a:t>Emergency referral</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46965200"/>
                  </a:ext>
                </a:extLst>
              </a:tr>
              <a:tr h="113614">
                <a:tc>
                  <a:txBody>
                    <a:bodyPr/>
                    <a:lstStyle/>
                    <a:p>
                      <a:pPr algn="ctr">
                        <a:lnSpc>
                          <a:spcPct val="107000"/>
                        </a:lnSpc>
                        <a:spcAft>
                          <a:spcPts val="800"/>
                        </a:spcAft>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Suspected pathology</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lnSpc>
                          <a:spcPct val="107000"/>
                        </a:lnSpc>
                        <a:spcAft>
                          <a:spcPts val="800"/>
                        </a:spcAft>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Clinical features</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lnSpc>
                          <a:spcPct val="107000"/>
                        </a:lnSpc>
                        <a:spcAft>
                          <a:spcPts val="800"/>
                        </a:spcAft>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Referral route</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732050410"/>
                  </a:ext>
                </a:extLst>
              </a:tr>
              <a:tr h="2196112">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Malignancy/infection</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457200">
                        <a:lnSpc>
                          <a:spcPct val="107000"/>
                        </a:lnSpc>
                      </a:pPr>
                      <a:r>
                        <a:rPr lang="en-GB" sz="800" dirty="0">
                          <a:effectLst/>
                          <a:latin typeface="Arial" panose="020B0604020202020204" pitchFamily="34" charset="0"/>
                          <a:ea typeface="Calibri" panose="020F0502020204030204" pitchFamily="34" charset="0"/>
                          <a:cs typeface="Arial" panose="020B0604020202020204" pitchFamily="34" charset="0"/>
                        </a:rPr>
                        <a:t> </a:t>
                      </a: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E</a:t>
                      </a:r>
                      <a:r>
                        <a:rPr lang="en-GB" sz="800" dirty="0">
                          <a:effectLst/>
                          <a:latin typeface="Arial" panose="020B0604020202020204" pitchFamily="34" charset="0"/>
                          <a:ea typeface="Calibri" panose="020F0502020204030204" pitchFamily="34" charset="0"/>
                          <a:cs typeface="Arial" panose="020B0604020202020204" pitchFamily="34" charset="0"/>
                        </a:rPr>
                        <a:t>scalating pain and progressively worsening symptoms that do not respond to conservative management or medication as expected</a:t>
                      </a:r>
                    </a:p>
                    <a:p>
                      <a:pPr marL="342900" lvl="0" indent="-342900">
                        <a:lnSpc>
                          <a:spcPct val="107000"/>
                        </a:lnSpc>
                        <a:buFont typeface="Symbol" panose="05050102010706020507" pitchFamily="18" charset="2"/>
                        <a:buChar char=""/>
                      </a:pPr>
                      <a:r>
                        <a:rPr lang="en-GB" sz="800" dirty="0">
                          <a:effectLst/>
                          <a:latin typeface="Arial" panose="020B0604020202020204" pitchFamily="34" charset="0"/>
                          <a:ea typeface="Calibri" panose="020F0502020204030204" pitchFamily="34" charset="0"/>
                          <a:cs typeface="Arial" panose="020B0604020202020204" pitchFamily="34" charset="0"/>
                        </a:rPr>
                        <a:t>Night pain that prevents sleep due to escalating pain and/or difficulty lying flat</a:t>
                      </a: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Previous history of malignancy, especially breast, prostate, lung, thyroid and kidney</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Unexplained weight loss of more than 10% body weight in 3/12</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Recent significant infection or travel in TB endemic country</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Systemically unwell (fever/rigors)</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Immunosuppression e.g. IV-DU, HIV) </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Limb weakness/gait disturbance</a:t>
                      </a:r>
                      <a:r>
                        <a:rPr lang="en-GB" sz="800" dirty="0">
                          <a:effectLst/>
                          <a:latin typeface="Arial" panose="020B0604020202020204" pitchFamily="34" charset="0"/>
                          <a:ea typeface="Calibri" panose="020F0502020204030204" pitchFamily="34" charset="0"/>
                          <a:cs typeface="Arial" panose="020B0604020202020204" pitchFamily="34" charset="0"/>
                        </a:rPr>
                        <a:t> </a:t>
                      </a:r>
                    </a:p>
                    <a:p>
                      <a:pPr marL="342900" lvl="0" indent="-342900">
                        <a:lnSpc>
                          <a:spcPct val="107000"/>
                        </a:lnSpc>
                        <a:buFont typeface="Symbol" panose="05050102010706020507" pitchFamily="18" charset="2"/>
                        <a:buChar char=""/>
                      </a:pPr>
                      <a:r>
                        <a:rPr lang="en-GB" sz="800" dirty="0">
                          <a:effectLst/>
                          <a:latin typeface="Arial" panose="020B0604020202020204" pitchFamily="34" charset="0"/>
                          <a:ea typeface="Calibri" panose="020F0502020204030204" pitchFamily="34" charset="0"/>
                          <a:cs typeface="Arial" panose="020B0604020202020204" pitchFamily="34" charset="0"/>
                        </a:rPr>
                        <a:t>For  shoulder</a:t>
                      </a:r>
                      <a:r>
                        <a:rPr lang="en-GB" sz="800" baseline="0" dirty="0">
                          <a:effectLst/>
                          <a:latin typeface="Arial" panose="020B0604020202020204" pitchFamily="34" charset="0"/>
                          <a:ea typeface="Calibri" panose="020F0502020204030204" pitchFamily="34" charset="0"/>
                          <a:cs typeface="Arial" panose="020B0604020202020204" pitchFamily="34" charset="0"/>
                        </a:rPr>
                        <a:t> and upper limb conditions consider loss of sensation or power in the arm (reflecting brachial plexus involvement), or skin dryness, drooping eyelid and retraction of the eye (reflecting sympathetic </a:t>
                      </a:r>
                      <a:r>
                        <a:rPr lang="en-GB" sz="800" baseline="0">
                          <a:effectLst/>
                          <a:latin typeface="Arial" panose="020B0604020202020204" pitchFamily="34" charset="0"/>
                          <a:ea typeface="Calibri" panose="020F0502020204030204" pitchFamily="34" charset="0"/>
                          <a:cs typeface="Arial" panose="020B0604020202020204" pitchFamily="34" charset="0"/>
                        </a:rPr>
                        <a:t>nerve  involvement)</a:t>
                      </a:r>
                    </a:p>
                    <a:p>
                      <a:pPr marL="342900" lvl="0" indent="-342900">
                        <a:lnSpc>
                          <a:spcPct val="107000"/>
                        </a:lnSpc>
                        <a:buFont typeface="Symbol" panose="05050102010706020507" pitchFamily="18" charset="2"/>
                        <a:buChar char=""/>
                      </a:pPr>
                      <a:r>
                        <a:rPr lang="en-GB" sz="800" baseline="0" dirty="0">
                          <a:effectLst/>
                          <a:latin typeface="Arial" panose="020B0604020202020204" pitchFamily="34" charset="0"/>
                          <a:ea typeface="Calibri" panose="020F0502020204030204" pitchFamily="34" charset="0"/>
                          <a:cs typeface="Arial" panose="020B0604020202020204" pitchFamily="34" charset="0"/>
                        </a:rPr>
                        <a:t>Consider visceral and neurological causes/manifestations of MSK conditions</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Urgent referral to spinal service/2WW for suspected malignancy</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1549682232"/>
                  </a:ext>
                </a:extLst>
              </a:tr>
              <a:tr h="794460">
                <a:tc>
                  <a:txBody>
                    <a:bodyPr/>
                    <a:lstStyle/>
                    <a:p>
                      <a:pPr>
                        <a:lnSpc>
                          <a:spcPct val="107000"/>
                        </a:lnSpc>
                        <a:spcAft>
                          <a:spcPts val="800"/>
                        </a:spcAft>
                      </a:pPr>
                      <a:r>
                        <a:rPr lang="en-GB" sz="800">
                          <a:solidFill>
                            <a:srgbClr val="000000"/>
                          </a:solidFill>
                          <a:effectLst/>
                          <a:latin typeface="Arial" panose="020B0604020202020204" pitchFamily="34" charset="0"/>
                          <a:ea typeface="Calibri" panose="020F0502020204030204" pitchFamily="34" charset="0"/>
                          <a:cs typeface="Arial" panose="020B0604020202020204" pitchFamily="34" charset="0"/>
                        </a:rPr>
                        <a:t>Cauda equina syndrome or</a:t>
                      </a:r>
                      <a:endParaRPr lang="en-GB" sz="80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a:solidFill>
                            <a:srgbClr val="000000"/>
                          </a:solidFill>
                          <a:effectLst/>
                          <a:latin typeface="Arial" panose="020B0604020202020204" pitchFamily="34" charset="0"/>
                          <a:ea typeface="Calibri" panose="020F0502020204030204" pitchFamily="34" charset="0"/>
                          <a:cs typeface="Arial" panose="020B0604020202020204" pitchFamily="34" charset="0"/>
                        </a:rPr>
                        <a:t>Possible unstable fracture or</a:t>
                      </a:r>
                      <a:endParaRPr lang="en-GB" sz="80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a:solidFill>
                            <a:srgbClr val="000000"/>
                          </a:solidFill>
                          <a:effectLst/>
                          <a:latin typeface="Arial" panose="020B0604020202020204" pitchFamily="34" charset="0"/>
                          <a:ea typeface="Calibri" panose="020F0502020204030204" pitchFamily="34" charset="0"/>
                          <a:cs typeface="Arial" panose="020B0604020202020204" pitchFamily="34" charset="0"/>
                        </a:rPr>
                        <a:t>Acute spinal cord compression</a:t>
                      </a:r>
                      <a:endParaRPr lang="en-GB" sz="80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Bladder/bowel/sexual dysfunction related to onset of spinal pain</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Saddle anaesthesia</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History of significant fracture or possible unstable fracture</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Obvious acute deformity </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Signs/symptoms of acute spinal cord compression </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Progressive significant leg weakness</a:t>
                      </a:r>
                      <a:r>
                        <a:rPr lang="en-GB" sz="800" dirty="0">
                          <a:effectLst/>
                          <a:latin typeface="Arial" panose="020B0604020202020204" pitchFamily="34" charset="0"/>
                          <a:ea typeface="Calibri" panose="020F0502020204030204" pitchFamily="34" charset="0"/>
                          <a:cs typeface="Arial" panose="020B0604020202020204" pitchFamily="34" charset="0"/>
                        </a:rPr>
                        <a:t> </a:t>
                      </a: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Emergency referral to spinal or orthopaedic surgeon through local pathways </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2460927153"/>
                  </a:ext>
                </a:extLst>
              </a:tr>
              <a:tr h="236114">
                <a:tc>
                  <a:txBody>
                    <a:bodyPr/>
                    <a:lstStyle/>
                    <a:p>
                      <a:pPr>
                        <a:lnSpc>
                          <a:spcPct val="107000"/>
                        </a:lnSpc>
                        <a:spcAft>
                          <a:spcPts val="800"/>
                        </a:spcAft>
                      </a:pPr>
                      <a:r>
                        <a:rPr lang="en-GB" sz="800">
                          <a:solidFill>
                            <a:srgbClr val="000000"/>
                          </a:solidFill>
                          <a:effectLst/>
                          <a:latin typeface="Arial" panose="020B0604020202020204" pitchFamily="34" charset="0"/>
                          <a:ea typeface="Calibri" panose="020F0502020204030204" pitchFamily="34" charset="0"/>
                          <a:cs typeface="Arial" panose="020B0604020202020204" pitchFamily="34" charset="0"/>
                        </a:rPr>
                        <a:t>Pathological fracture</a:t>
                      </a:r>
                      <a:endParaRPr lang="en-GB" sz="80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07000"/>
                        </a:lnSpc>
                        <a:spcAft>
                          <a:spcPts val="800"/>
                        </a:spcAft>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Sudden onset severe back pain, particularly thoracic, with/without minor trauma</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X-ray affected area</a:t>
                      </a:r>
                      <a:r>
                        <a:rPr lang="en-GB" sz="800" dirty="0">
                          <a:effectLst/>
                          <a:latin typeface="Arial" panose="020B0604020202020204" pitchFamily="34" charset="0"/>
                          <a:ea typeface="Calibri" panose="020F0502020204030204" pitchFamily="34" charset="0"/>
                          <a:cs typeface="Arial" panose="020B0604020202020204" pitchFamily="34" charset="0"/>
                        </a:rPr>
                        <a:t> </a:t>
                      </a: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752569635"/>
                  </a:ext>
                </a:extLst>
              </a:tr>
              <a:tr h="2918229">
                <a:tc>
                  <a:txBody>
                    <a:bodyPr/>
                    <a:lstStyle/>
                    <a:p>
                      <a:pPr>
                        <a:lnSpc>
                          <a:spcPct val="107000"/>
                        </a:lnSpc>
                        <a:spcAft>
                          <a:spcPts val="800"/>
                        </a:spcAft>
                      </a:pPr>
                      <a:r>
                        <a:rPr lang="en-GB" sz="800">
                          <a:solidFill>
                            <a:srgbClr val="000000"/>
                          </a:solidFill>
                          <a:effectLst/>
                          <a:latin typeface="Arial" panose="020B0604020202020204" pitchFamily="34" charset="0"/>
                          <a:ea typeface="Calibri" panose="020F0502020204030204" pitchFamily="34" charset="0"/>
                          <a:cs typeface="Arial" panose="020B0604020202020204" pitchFamily="34" charset="0"/>
                        </a:rPr>
                        <a:t>Giant Cell Arteritis</a:t>
                      </a:r>
                      <a:endParaRPr lang="en-GB" sz="80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20000"/>
                        </a:lnSpc>
                        <a:buFont typeface="Symbol" panose="05050102010706020507" pitchFamily="18" charset="2"/>
                        <a:buChar char=""/>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Visual symptoms</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20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Diplopia; changes to colour vision; sudden visual loss (transient or permanent)</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20000"/>
                        </a:lnSpc>
                        <a:buFont typeface="Symbol" panose="05050102010706020507" pitchFamily="18" charset="2"/>
                        <a:buChar char=""/>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GCA symptoms</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20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New onset headache; scalp tenderness; jaw or tongue claudication; temporal artery tenderness, nodularity or reduced pulsation</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20000"/>
                        </a:lnSpc>
                        <a:buFont typeface="Symbol" panose="05050102010706020507" pitchFamily="18" charset="2"/>
                        <a:buChar char=""/>
                      </a:pP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Systemic symptoms</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20000"/>
                        </a:lnSpc>
                        <a:spcAft>
                          <a:spcPts val="800"/>
                        </a:spcAft>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Limb claudication; pain &amp; stiffness in the shoulder and pelvic girdle; fever; sweats; weight loss</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NB. None of these symptoms is entirely specific for GCA &amp; each is of ltd use if taken in isolation.  Therefore, the differential diagnosis must also be considered</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marL="457200">
                        <a:lnSpc>
                          <a:spcPct val="107000"/>
                        </a:lnSpc>
                        <a:spcAft>
                          <a:spcPts val="800"/>
                        </a:spcAft>
                      </a:pPr>
                      <a:r>
                        <a:rPr lang="en-GB" sz="800" dirty="0">
                          <a:effectLst/>
                          <a:latin typeface="Arial" panose="020B0604020202020204" pitchFamily="34" charset="0"/>
                          <a:ea typeface="Calibri" panose="020F0502020204030204" pitchFamily="34" charset="0"/>
                          <a:cs typeface="Arial" panose="020B0604020202020204" pitchFamily="34" charset="0"/>
                        </a:rPr>
                        <a:t> </a:t>
                      </a: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Refer as emergency to be seen same day by ophthalmology if </a:t>
                      </a: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new visual loss</a:t>
                      </a: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 (transient or permanent) or </a:t>
                      </a:r>
                      <a:r>
                        <a:rPr lang="en-GB" sz="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double vision</a:t>
                      </a:r>
                      <a:r>
                        <a:rPr lang="en-GB" sz="800" b="1" dirty="0">
                          <a:effectLst/>
                          <a:latin typeface="Arial" panose="020B0604020202020204" pitchFamily="34" charset="0"/>
                          <a:ea typeface="Calibri" panose="020F0502020204030204" pitchFamily="34" charset="0"/>
                          <a:cs typeface="Arial" panose="020B0604020202020204" pitchFamily="34" charset="0"/>
                        </a:rPr>
                        <a:t> </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GCA strongly suspected* – initiate steroids immediately (40-60mg once daily as per local protocol)</a:t>
                      </a:r>
                      <a:r>
                        <a:rPr lang="en-GB" sz="800" dirty="0">
                          <a:effectLst/>
                          <a:latin typeface="Arial" panose="020B0604020202020204" pitchFamily="34" charset="0"/>
                          <a:ea typeface="Calibri" panose="020F0502020204030204" pitchFamily="34" charset="0"/>
                          <a:cs typeface="Arial" panose="020B0604020202020204" pitchFamily="34" charset="0"/>
                        </a:rPr>
                        <a:t> </a:t>
                      </a: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Refer as emergency to rheumatology to be seen ideally on the same day (in all cases within 3 days)</a:t>
                      </a:r>
                      <a:r>
                        <a:rPr lang="en-GB" sz="800" dirty="0">
                          <a:effectLst/>
                          <a:latin typeface="Arial" panose="020B0604020202020204" pitchFamily="34" charset="0"/>
                          <a:ea typeface="Calibri" panose="020F0502020204030204" pitchFamily="34" charset="0"/>
                          <a:cs typeface="Arial" panose="020B0604020202020204" pitchFamily="34" charset="0"/>
                        </a:rPr>
                        <a:t> </a:t>
                      </a: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Arrange urgent blood test (FBC, ESR, CRP)</a:t>
                      </a:r>
                      <a:r>
                        <a:rPr lang="en-GB" sz="800" dirty="0">
                          <a:effectLst/>
                          <a:latin typeface="Arial" panose="020B0604020202020204" pitchFamily="34" charset="0"/>
                          <a:ea typeface="Calibri" panose="020F0502020204030204" pitchFamily="34" charset="0"/>
                          <a:cs typeface="Arial" panose="020B0604020202020204" pitchFamily="34" charset="0"/>
                        </a:rPr>
                        <a:t> </a:t>
                      </a: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(*“strongly suspected” = in the assessing</a:t>
                      </a:r>
                      <a:endParaRPr lang="en-GB" sz="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Arial" panose="020B0604020202020204" pitchFamily="34" charset="0"/>
                        </a:rPr>
                        <a:t>clinician’s judgement, GCA is a more likely explanation for the patient’s symptoms than any other condition)</a:t>
                      </a:r>
                      <a:endParaRPr lang="en-GB" sz="800" dirty="0">
                        <a:effectLst/>
                        <a:latin typeface="Arial" panose="020B0604020202020204" pitchFamily="34" charset="0"/>
                        <a:ea typeface="Calibri" panose="020F0502020204030204" pitchFamily="34" charset="0"/>
                        <a:cs typeface="Arial" panose="020B0604020202020204" pitchFamily="34" charset="0"/>
                      </a:endParaRPr>
                    </a:p>
                  </a:txBody>
                  <a:tcPr marL="47185" marR="471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810168556"/>
                  </a:ext>
                </a:extLst>
              </a:tr>
            </a:tbl>
          </a:graphicData>
        </a:graphic>
      </p:graphicFrame>
      <p:graphicFrame>
        <p:nvGraphicFramePr>
          <p:cNvPr id="6" name="Table 5">
            <a:extLst>
              <a:ext uri="{FF2B5EF4-FFF2-40B4-BE49-F238E27FC236}">
                <a16:creationId xmlns:a16="http://schemas.microsoft.com/office/drawing/2014/main" id="{02156B84-346B-4708-A6E8-38FD823F22D5}"/>
              </a:ext>
            </a:extLst>
          </p:cNvPr>
          <p:cNvGraphicFramePr>
            <a:graphicFrameLocks noGrp="1"/>
          </p:cNvGraphicFramePr>
          <p:nvPr/>
        </p:nvGraphicFramePr>
        <p:xfrm>
          <a:off x="6537264" y="402066"/>
          <a:ext cx="5527733" cy="5375494"/>
        </p:xfrm>
        <a:graphic>
          <a:graphicData uri="http://schemas.openxmlformats.org/drawingml/2006/table">
            <a:tbl>
              <a:tblPr firstRow="1" firstCol="1" bandRow="1"/>
              <a:tblGrid>
                <a:gridCol w="1372491">
                  <a:extLst>
                    <a:ext uri="{9D8B030D-6E8A-4147-A177-3AD203B41FA5}">
                      <a16:colId xmlns:a16="http://schemas.microsoft.com/office/drawing/2014/main" val="2110321705"/>
                    </a:ext>
                  </a:extLst>
                </a:gridCol>
                <a:gridCol w="2780710">
                  <a:extLst>
                    <a:ext uri="{9D8B030D-6E8A-4147-A177-3AD203B41FA5}">
                      <a16:colId xmlns:a16="http://schemas.microsoft.com/office/drawing/2014/main" val="3578899103"/>
                    </a:ext>
                  </a:extLst>
                </a:gridCol>
                <a:gridCol w="1374532">
                  <a:extLst>
                    <a:ext uri="{9D8B030D-6E8A-4147-A177-3AD203B41FA5}">
                      <a16:colId xmlns:a16="http://schemas.microsoft.com/office/drawing/2014/main" val="2725391979"/>
                    </a:ext>
                  </a:extLst>
                </a:gridCol>
              </a:tblGrid>
              <a:tr h="121787">
                <a:tc gridSpan="3">
                  <a:txBody>
                    <a:bodyPr/>
                    <a:lstStyle/>
                    <a:p>
                      <a:pPr algn="ctr">
                        <a:lnSpc>
                          <a:spcPct val="107000"/>
                        </a:lnSpc>
                        <a:spcAft>
                          <a:spcPts val="800"/>
                        </a:spcAft>
                      </a:pPr>
                      <a:r>
                        <a:rPr lang="en-GB" sz="800" b="1" u="sng" dirty="0">
                          <a:effectLst/>
                          <a:latin typeface="Arial" panose="020B0604020202020204" pitchFamily="34" charset="0"/>
                          <a:ea typeface="Calibri" panose="020F0502020204030204" pitchFamily="34" charset="0"/>
                          <a:cs typeface="Times New Roman" panose="02020603050405020304" pitchFamily="18" charset="0"/>
                        </a:rPr>
                        <a:t>Urgent and </a:t>
                      </a:r>
                      <a:r>
                        <a:rPr lang="en-GB" sz="800" b="1" u="sng"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Emergency referral</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178777489"/>
                  </a:ext>
                </a:extLst>
              </a:tr>
              <a:tr h="121787">
                <a:tc>
                  <a:txBody>
                    <a:bodyPr/>
                    <a:lstStyle/>
                    <a:p>
                      <a:pPr algn="ctr">
                        <a:lnSpc>
                          <a:spcPct val="107000"/>
                        </a:lnSpc>
                        <a:spcAft>
                          <a:spcPts val="800"/>
                        </a:spcAft>
                      </a:pPr>
                      <a:r>
                        <a:rPr lang="en-GB" sz="8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Suspected pathology</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marL="457200" algn="ctr">
                        <a:lnSpc>
                          <a:spcPct val="107000"/>
                        </a:lnSpc>
                        <a:spcAft>
                          <a:spcPts val="800"/>
                        </a:spcAft>
                      </a:pPr>
                      <a:r>
                        <a:rPr lang="en-GB" sz="8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Clinical features</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a:txBody>
                    <a:bodyPr/>
                    <a:lstStyle/>
                    <a:p>
                      <a:pPr algn="ctr">
                        <a:lnSpc>
                          <a:spcPct val="107000"/>
                        </a:lnSpc>
                        <a:spcAft>
                          <a:spcPts val="800"/>
                        </a:spcAft>
                      </a:pPr>
                      <a:r>
                        <a:rPr lang="en-GB" sz="8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Referral route</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572839521"/>
                  </a:ext>
                </a:extLst>
              </a:tr>
              <a:tr h="4532936">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Suspected Axial Spondyloarthritis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8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 </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Age at onset &lt;40</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Insidious onset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Improvement with exercise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 improvement with rest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Pain at night (with improvement on getting up)</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spcAft>
                          <a:spcPts val="1200"/>
                        </a:spcAft>
                        <a:buFont typeface="+mj-lt"/>
                        <a:buNone/>
                        <a:tabLst>
                          <a:tab pos="457200" algn="l"/>
                        </a:tabLst>
                      </a:pPr>
                      <a:r>
                        <a:rPr lang="en-GB" sz="800" dirty="0">
                          <a:effectLst/>
                          <a:latin typeface="Arial" panose="020B0604020202020204" pitchFamily="34" charset="0"/>
                          <a:ea typeface="Calibri" panose="020F0502020204030204" pitchFamily="34" charset="0"/>
                          <a:cs typeface="Arial" panose="020B0604020202020204" pitchFamily="34" charset="0"/>
                        </a:rPr>
                        <a:t> </a:t>
                      </a:r>
                      <a:r>
                        <a:rPr lang="en-GB" sz="800" u="sng" dirty="0">
                          <a:solidFill>
                            <a:srgbClr val="0000FF"/>
                          </a:solidFill>
                          <a:effectLst/>
                          <a:latin typeface="Arial" panose="020B0604020202020204" pitchFamily="34" charset="0"/>
                          <a:ea typeface="Times New Roman"/>
                          <a:cs typeface="Arial" panose="020B0604020202020204" pitchFamily="34" charset="0"/>
                          <a:hlinkClick r:id="rId6"/>
                        </a:rPr>
                        <a:t>NG65 Spondyloarthritis in over 16s: diagnosis and management</a:t>
                      </a:r>
                      <a:endParaRPr lang="en-GB" sz="800" dirty="0">
                        <a:effectLst/>
                        <a:latin typeface="Arial" panose="020B0604020202020204" pitchFamily="34" charset="0"/>
                        <a:ea typeface="Calibri"/>
                        <a:cs typeface="Arial" panose="020B0604020202020204" pitchFamily="34" charset="0"/>
                      </a:endParaRPr>
                    </a:p>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Signs and symptoms suggestive of </a:t>
                      </a:r>
                      <a:r>
                        <a:rPr lang="en-GB" sz="8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axSpA</a:t>
                      </a: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include a combination of:</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Low back pain that started before the age of 45 years and has lasted for longer than 3 months</a:t>
                      </a:r>
                      <a:r>
                        <a:rPr lang="en-GB"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and 4 or more of the following additional criteria:</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low back pain that started before the age of 35 years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waking during the second half of the night because of symptoms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buttock pain</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symptoms that improve with movement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symptoms that improve within 48 hours of taking non-steroidal anti-inflammatory drugs (if tolerated)</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 first-degree relative with spondyloarthritis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current or past arthritis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current or past enthesitis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current or past psoriasis</a:t>
                      </a:r>
                    </a:p>
                    <a:p>
                      <a:pPr marL="342900" lvl="0" indent="-342900">
                        <a:lnSpc>
                          <a:spcPct val="107000"/>
                        </a:lnSpc>
                        <a:spcAft>
                          <a:spcPts val="800"/>
                        </a:spcAft>
                        <a:buFont typeface="Wingdings" panose="05000000000000000000" pitchFamily="2"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Alternatively, 3 of the above additional criteria and a positive HLA-B27 test</a:t>
                      </a:r>
                    </a:p>
                    <a:p>
                      <a:pPr marL="0" marR="0" lvl="0" indent="0" algn="l" defTabSz="914400" rtl="0" eaLnBrk="1" fontAlgn="auto" latinLnBrk="0" hangingPunct="1">
                        <a:lnSpc>
                          <a:spcPct val="107000"/>
                        </a:lnSpc>
                        <a:spcBef>
                          <a:spcPts val="0"/>
                        </a:spcBef>
                        <a:spcAft>
                          <a:spcPts val="800"/>
                        </a:spcAft>
                        <a:buClrTx/>
                        <a:buSzTx/>
                        <a:buFont typeface="Wingdings" panose="05000000000000000000" pitchFamily="2" charset="2"/>
                        <a:buNone/>
                        <a:tabLst/>
                        <a:defRPr/>
                      </a:pPr>
                      <a:r>
                        <a:rPr lang="en-GB" sz="800" u="sng" dirty="0">
                          <a:effectLst/>
                          <a:latin typeface="Arial" panose="020B0604020202020204" pitchFamily="34" charset="0"/>
                          <a:ea typeface="Helvetica Neue"/>
                          <a:cs typeface="Arial" panose="020B0604020202020204" pitchFamily="34" charset="0"/>
                          <a:hlinkClick r:id="rId7"/>
                        </a:rPr>
                        <a:t>NICE QS170 spondylarthritis </a:t>
                      </a:r>
                      <a:r>
                        <a:rPr lang="en-GB" sz="800" dirty="0">
                          <a:effectLst/>
                          <a:latin typeface="Arial" panose="020B0604020202020204" pitchFamily="34" charset="0"/>
                          <a:ea typeface="Helvetica Neue"/>
                          <a:cs typeface="Arial" panose="020B0604020202020204" pitchFamily="34" charset="0"/>
                        </a:rPr>
                        <a:t> </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buFont typeface="Symbol" panose="05050102010706020507" pitchFamily="18" charset="2"/>
                        <a:buNone/>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The </a:t>
                      </a:r>
                      <a:r>
                        <a:rPr lang="en-GB" sz="800" u="sng"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hlinkClick r:id="rId8"/>
                        </a:rPr>
                        <a:t>SPADE Tool</a:t>
                      </a: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can be used to aid decision making when considering onwards referral (http://www.spadetool.co.uk/) </a:t>
                      </a:r>
                      <a:r>
                        <a:rPr lang="en-GB" sz="800" dirty="0">
                          <a:effectLst/>
                          <a:latin typeface="Arial" panose="020B0604020202020204" pitchFamily="34" charset="0"/>
                          <a:ea typeface="Calibri" panose="020F0502020204030204" pitchFamily="34" charset="0"/>
                          <a:cs typeface="Times New Roman" panose="02020603050405020304" pitchFamily="18" charset="0"/>
                        </a:rPr>
                        <a:t> </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Referral to rheumatology within 3 working days</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2319851267"/>
                  </a:ext>
                </a:extLst>
              </a:tr>
              <a:tr h="594780">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Suspected Septic Arthritis </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Systemically unwell (with or without a temperature)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Acutely painful, hot, swollen joint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Pain and tenderness over a joint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Pain on moving the joint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tc>
                  <a:txBody>
                    <a:bodyPr/>
                    <a:lstStyle/>
                    <a:p>
                      <a:pPr>
                        <a:lnSpc>
                          <a:spcPct val="107000"/>
                        </a:lnSpc>
                        <a:spcAft>
                          <a:spcPts val="800"/>
                        </a:spcAft>
                      </a:pPr>
                      <a:r>
                        <a:rPr lang="en-GB"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Urgent referral to A&amp;E</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4832" marR="648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5DCE4"/>
                    </a:solidFill>
                  </a:tcPr>
                </a:tc>
                <a:extLst>
                  <a:ext uri="{0D108BD9-81ED-4DB2-BD59-A6C34878D82A}">
                    <a16:rowId xmlns:a16="http://schemas.microsoft.com/office/drawing/2014/main" val="3708791521"/>
                  </a:ext>
                </a:extLst>
              </a:tr>
            </a:tbl>
          </a:graphicData>
        </a:graphic>
      </p:graphicFrame>
      <p:sp>
        <p:nvSpPr>
          <p:cNvPr id="11" name="TextBox 10">
            <a:extLst>
              <a:ext uri="{FF2B5EF4-FFF2-40B4-BE49-F238E27FC236}">
                <a16:creationId xmlns:a16="http://schemas.microsoft.com/office/drawing/2014/main" id="{54D8DAE6-6D6E-43A9-AB78-5182200EF79B}"/>
              </a:ext>
            </a:extLst>
          </p:cNvPr>
          <p:cNvSpPr txBox="1"/>
          <p:nvPr/>
        </p:nvSpPr>
        <p:spPr>
          <a:xfrm>
            <a:off x="10869848" y="5773445"/>
            <a:ext cx="1419497" cy="707886"/>
          </a:xfrm>
          <a:prstGeom prst="rect">
            <a:avLst/>
          </a:prstGeom>
          <a:noFill/>
        </p:spPr>
        <p:txBody>
          <a:bodyPr wrap="square" rtlCol="0">
            <a:spAutoFit/>
          </a:bodyPr>
          <a:lstStyle/>
          <a:p>
            <a:r>
              <a:rPr lang="en-GB" sz="800" dirty="0">
                <a:solidFill>
                  <a:schemeClr val="accent1"/>
                </a:solidFill>
                <a:latin typeface="Arial" panose="020B0604020202020204" pitchFamily="34" charset="0"/>
                <a:cs typeface="Arial" panose="020B0604020202020204" pitchFamily="34" charset="0"/>
              </a:rPr>
              <a:t>Return to clinical guidance:</a:t>
            </a:r>
          </a:p>
          <a:p>
            <a:r>
              <a:rPr lang="en-GB" sz="800" dirty="0">
                <a:solidFill>
                  <a:schemeClr val="accent1"/>
                </a:solidFill>
                <a:latin typeface="Arial" panose="020B0604020202020204" pitchFamily="34" charset="0"/>
                <a:cs typeface="Arial" panose="020B0604020202020204" pitchFamily="34" charset="0"/>
              </a:rPr>
              <a:t> </a:t>
            </a:r>
            <a:r>
              <a:rPr lang="en-GB" sz="800" dirty="0">
                <a:solidFill>
                  <a:schemeClr val="accent1"/>
                </a:solidFill>
                <a:latin typeface="Arial" panose="020B0604020202020204" pitchFamily="34" charset="0"/>
                <a:cs typeface="Arial" panose="020B0604020202020204" pitchFamily="34" charset="0"/>
                <a:hlinkClick r:id="rId9" action="ppaction://hlinksldjump"/>
              </a:rPr>
              <a:t>Spinal pain/sciatica</a:t>
            </a:r>
            <a:endParaRPr lang="en-GB" sz="800" dirty="0">
              <a:solidFill>
                <a:schemeClr val="accent1"/>
              </a:solidFill>
              <a:latin typeface="Arial" panose="020B0604020202020204" pitchFamily="34" charset="0"/>
              <a:cs typeface="Arial" panose="020B0604020202020204" pitchFamily="34" charset="0"/>
            </a:endParaRPr>
          </a:p>
          <a:p>
            <a:r>
              <a:rPr lang="en-GB" sz="800" dirty="0">
                <a:solidFill>
                  <a:schemeClr val="accent1"/>
                </a:solidFill>
                <a:latin typeface="Arial" panose="020B0604020202020204" pitchFamily="34" charset="0"/>
                <a:cs typeface="Arial" panose="020B0604020202020204" pitchFamily="34" charset="0"/>
              </a:rPr>
              <a:t> </a:t>
            </a:r>
            <a:r>
              <a:rPr lang="en-GB" sz="800" dirty="0">
                <a:solidFill>
                  <a:schemeClr val="accent1"/>
                </a:solidFill>
                <a:latin typeface="Arial" panose="020B0604020202020204" pitchFamily="34" charset="0"/>
                <a:cs typeface="Arial" panose="020B0604020202020204" pitchFamily="34" charset="0"/>
                <a:hlinkClick r:id="rId10" action="ppaction://hlinksldjump"/>
              </a:rPr>
              <a:t>OA hip and knee</a:t>
            </a:r>
            <a:endParaRPr lang="en-GB" sz="800" dirty="0">
              <a:solidFill>
                <a:schemeClr val="accent1"/>
              </a:solidFill>
              <a:latin typeface="Arial" panose="020B0604020202020204" pitchFamily="34" charset="0"/>
              <a:cs typeface="Arial" panose="020B0604020202020204" pitchFamily="34" charset="0"/>
            </a:endParaRPr>
          </a:p>
          <a:p>
            <a:r>
              <a:rPr lang="en-GB" sz="800" dirty="0">
                <a:solidFill>
                  <a:schemeClr val="accent1"/>
                </a:solidFill>
                <a:latin typeface="Arial" panose="020B0604020202020204" pitchFamily="34" charset="0"/>
                <a:cs typeface="Arial" panose="020B0604020202020204" pitchFamily="34" charset="0"/>
              </a:rPr>
              <a:t> </a:t>
            </a:r>
            <a:r>
              <a:rPr lang="en-GB" sz="800" dirty="0">
                <a:solidFill>
                  <a:schemeClr val="accent1"/>
                </a:solidFill>
                <a:latin typeface="Arial" panose="020B0604020202020204" pitchFamily="34" charset="0"/>
                <a:cs typeface="Arial" panose="020B0604020202020204" pitchFamily="34" charset="0"/>
                <a:hlinkClick r:id="rId11" action="ppaction://hlinksldjump"/>
              </a:rPr>
              <a:t>Shoulder pain </a:t>
            </a:r>
            <a:endParaRPr lang="en-GB" sz="800" dirty="0">
              <a:solidFill>
                <a:schemeClr val="accent1"/>
              </a:solidFill>
              <a:latin typeface="Arial" panose="020B0604020202020204" pitchFamily="34" charset="0"/>
              <a:cs typeface="Arial" panose="020B0604020202020204" pitchFamily="34" charset="0"/>
            </a:endParaRPr>
          </a:p>
          <a:p>
            <a:r>
              <a:rPr lang="en-GB" sz="800" dirty="0">
                <a:solidFill>
                  <a:schemeClr val="accent1"/>
                </a:solidFill>
                <a:latin typeface="Arial" panose="020B0604020202020204" pitchFamily="34" charset="0"/>
                <a:cs typeface="Arial" panose="020B0604020202020204" pitchFamily="34" charset="0"/>
              </a:rPr>
              <a:t> </a:t>
            </a:r>
            <a:r>
              <a:rPr lang="en-GB" sz="800" dirty="0">
                <a:solidFill>
                  <a:schemeClr val="accent1"/>
                </a:solidFill>
                <a:latin typeface="Arial" panose="020B0604020202020204" pitchFamily="34" charset="0"/>
                <a:cs typeface="Arial" panose="020B0604020202020204" pitchFamily="34" charset="0"/>
                <a:hlinkClick r:id="rId12" action="ppaction://hlinksldjump"/>
              </a:rPr>
              <a:t>Shared decision making </a:t>
            </a:r>
            <a:endParaRPr lang="en-GB" sz="800"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269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A6A49-69C0-D07C-FC9F-3910F827FF8D}"/>
              </a:ext>
            </a:extLst>
          </p:cNvPr>
          <p:cNvSpPr>
            <a:spLocks noGrp="1"/>
          </p:cNvSpPr>
          <p:nvPr>
            <p:ph type="title"/>
          </p:nvPr>
        </p:nvSpPr>
        <p:spPr>
          <a:xfrm>
            <a:off x="1295402" y="4421071"/>
            <a:ext cx="9601196" cy="1303867"/>
          </a:xfrm>
        </p:spPr>
        <p:txBody>
          <a:bodyPr/>
          <a:lstStyle/>
          <a:p>
            <a:pPr algn="l"/>
            <a:r>
              <a:rPr lang="en-GB" dirty="0"/>
              <a:t>Email: khaled.afifi1@nhs.net</a:t>
            </a:r>
          </a:p>
        </p:txBody>
      </p:sp>
      <p:pic>
        <p:nvPicPr>
          <p:cNvPr id="5" name="Content Placeholder 4" descr="A hand writing a question mark">
            <a:extLst>
              <a:ext uri="{FF2B5EF4-FFF2-40B4-BE49-F238E27FC236}">
                <a16:creationId xmlns:a16="http://schemas.microsoft.com/office/drawing/2014/main" id="{6E0EA709-4540-5D83-FB06-345E48A293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8994" y="997020"/>
            <a:ext cx="4976811" cy="3317875"/>
          </a:xfrm>
        </p:spPr>
      </p:pic>
    </p:spTree>
    <p:extLst>
      <p:ext uri="{BB962C8B-B14F-4D97-AF65-F5344CB8AC3E}">
        <p14:creationId xmlns:p14="http://schemas.microsoft.com/office/powerpoint/2010/main" val="3208260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48FCD-280B-6CBD-95BC-B52C321AAEC7}"/>
              </a:ext>
            </a:extLst>
          </p:cNvPr>
          <p:cNvSpPr>
            <a:spLocks noGrp="1"/>
          </p:cNvSpPr>
          <p:nvPr>
            <p:ph type="title"/>
          </p:nvPr>
        </p:nvSpPr>
        <p:spPr/>
        <p:txBody>
          <a:bodyPr/>
          <a:lstStyle/>
          <a:p>
            <a:endParaRPr lang="en-GB"/>
          </a:p>
        </p:txBody>
      </p:sp>
      <p:pic>
        <p:nvPicPr>
          <p:cNvPr id="5" name="Content Placeholder 4" descr="A colorful text with flowers&#10;&#10;AI-generated content may be incorrect.">
            <a:extLst>
              <a:ext uri="{FF2B5EF4-FFF2-40B4-BE49-F238E27FC236}">
                <a16:creationId xmlns:a16="http://schemas.microsoft.com/office/drawing/2014/main" id="{B702B865-8A8A-CB74-322B-E37C457311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22328" y="2557463"/>
            <a:ext cx="4147343" cy="3317875"/>
          </a:xfrm>
        </p:spPr>
      </p:pic>
    </p:spTree>
    <p:extLst>
      <p:ext uri="{BB962C8B-B14F-4D97-AF65-F5344CB8AC3E}">
        <p14:creationId xmlns:p14="http://schemas.microsoft.com/office/powerpoint/2010/main" val="3836547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B8063-1F26-0814-2E9C-F8883AE4323A}"/>
              </a:ext>
            </a:extLst>
          </p:cNvPr>
          <p:cNvSpPr>
            <a:spLocks noGrp="1"/>
          </p:cNvSpPr>
          <p:nvPr>
            <p:ph type="title"/>
          </p:nvPr>
        </p:nvSpPr>
        <p:spPr/>
        <p:txBody>
          <a:bodyPr/>
          <a:lstStyle/>
          <a:p>
            <a:pPr algn="l"/>
            <a:r>
              <a:rPr lang="en-GB" dirty="0"/>
              <a:t>References:</a:t>
            </a:r>
          </a:p>
        </p:txBody>
      </p:sp>
      <p:sp>
        <p:nvSpPr>
          <p:cNvPr id="3" name="Content Placeholder 2">
            <a:extLst>
              <a:ext uri="{FF2B5EF4-FFF2-40B4-BE49-F238E27FC236}">
                <a16:creationId xmlns:a16="http://schemas.microsoft.com/office/drawing/2014/main" id="{FAFAAF7E-D790-8001-7EAF-2F1CE9E204AF}"/>
              </a:ext>
            </a:extLst>
          </p:cNvPr>
          <p:cNvSpPr>
            <a:spLocks noGrp="1"/>
          </p:cNvSpPr>
          <p:nvPr>
            <p:ph idx="1"/>
          </p:nvPr>
        </p:nvSpPr>
        <p:spPr/>
        <p:txBody>
          <a:bodyPr>
            <a:normAutofit fontScale="85000" lnSpcReduction="20000"/>
          </a:bodyPr>
          <a:lstStyle/>
          <a:p>
            <a:r>
              <a:rPr lang="en-GB" dirty="0"/>
              <a:t>Bardin, L. D., King, P., &amp; Maher, C. G. (2017). Diagnostic triage for low back pain: A practical approach for primary care. </a:t>
            </a:r>
            <a:r>
              <a:rPr lang="en-GB" i="1" dirty="0"/>
              <a:t>Medical Journal of Australia</a:t>
            </a:r>
            <a:r>
              <a:rPr lang="en-GB" dirty="0"/>
              <a:t>, </a:t>
            </a:r>
            <a:r>
              <a:rPr lang="en-GB" i="1" dirty="0"/>
              <a:t>206</a:t>
            </a:r>
            <a:r>
              <a:rPr lang="en-GB" dirty="0"/>
              <a:t>(6), 268–273. https://doi.org/10.5694/mja16.00828</a:t>
            </a:r>
          </a:p>
          <a:p>
            <a:r>
              <a:rPr lang="en-GB" dirty="0"/>
              <a:t>Button, K., Morgan, F., Weightman, A. L., &amp; Jones, S. (2019). Musculoskeletal care pathways for adults with hip and knee pain referred for specialist opinion: A systematic review. </a:t>
            </a:r>
            <a:r>
              <a:rPr lang="en-GB" i="1" dirty="0"/>
              <a:t>BMJ Open</a:t>
            </a:r>
            <a:r>
              <a:rPr lang="en-GB" dirty="0"/>
              <a:t>, </a:t>
            </a:r>
            <a:r>
              <a:rPr lang="en-GB" i="1" dirty="0"/>
              <a:t>9</a:t>
            </a:r>
            <a:r>
              <a:rPr lang="en-GB" dirty="0"/>
              <a:t>(9). https://doi.org/10.1136/bmjopen-2018-027874</a:t>
            </a:r>
          </a:p>
          <a:p>
            <a:r>
              <a:rPr lang="en-GB" dirty="0"/>
              <a:t>Excellence, C. (2017). </a:t>
            </a:r>
            <a:r>
              <a:rPr lang="en-GB" i="1" dirty="0"/>
              <a:t>National Back Pain and Radicular Pain Pathway 1 Third Edition 3.0 30</a:t>
            </a:r>
            <a:r>
              <a:rPr lang="en-GB" dirty="0"/>
              <a:t>. </a:t>
            </a:r>
            <a:r>
              <a:rPr lang="en-GB" i="1" dirty="0"/>
              <a:t>June</a:t>
            </a:r>
            <a:r>
              <a:rPr lang="en-GB" dirty="0"/>
              <a:t>.</a:t>
            </a:r>
          </a:p>
          <a:p>
            <a:r>
              <a:rPr lang="en-GB" dirty="0"/>
              <a:t>Joseph C, Morrissey D, Abdur-Rahman M, </a:t>
            </a:r>
            <a:r>
              <a:rPr lang="en-GB" dirty="0" err="1"/>
              <a:t>Hussenbux</a:t>
            </a:r>
            <a:r>
              <a:rPr lang="en-GB" dirty="0"/>
              <a:t> A, B. C. (2014). Musculoskeletal triage: a mixed methods study, integrating systematic review with expert and patient perspectives. </a:t>
            </a:r>
            <a:r>
              <a:rPr lang="en-GB" i="1" dirty="0"/>
              <a:t>Physiotherapy (United Kingdom)</a:t>
            </a:r>
            <a:r>
              <a:rPr lang="en-GB" dirty="0"/>
              <a:t>, </a:t>
            </a:r>
            <a:r>
              <a:rPr lang="en-GB" i="1" dirty="0"/>
              <a:t>100</a:t>
            </a:r>
            <a:r>
              <a:rPr lang="en-GB" dirty="0"/>
              <a:t>((4)), 277–289.</a:t>
            </a:r>
          </a:p>
          <a:p>
            <a:endParaRPr lang="en-GB" dirty="0"/>
          </a:p>
        </p:txBody>
      </p:sp>
    </p:spTree>
    <p:extLst>
      <p:ext uri="{BB962C8B-B14F-4D97-AF65-F5344CB8AC3E}">
        <p14:creationId xmlns:p14="http://schemas.microsoft.com/office/powerpoint/2010/main" val="2980016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FF89-2ACA-9DC7-5ACE-451849E6C36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5DA188-43A1-5B86-86A7-DC688EF5C001}"/>
              </a:ext>
            </a:extLst>
          </p:cNvPr>
          <p:cNvSpPr>
            <a:spLocks noGrp="1"/>
          </p:cNvSpPr>
          <p:nvPr>
            <p:ph idx="1"/>
          </p:nvPr>
        </p:nvSpPr>
        <p:spPr/>
        <p:txBody>
          <a:bodyPr>
            <a:normAutofit fontScale="70000" lnSpcReduction="20000"/>
          </a:bodyPr>
          <a:lstStyle/>
          <a:p>
            <a:r>
              <a:rPr lang="en-GB" dirty="0"/>
              <a:t>Lafrance, S., Vincent, R., Demont, A., Charron, M., &amp; Desmeules, F. (2023). Advanced practice physiotherapists can diagnose and triage patients with musculoskeletal disorders while providing effective care: a systematic review. </a:t>
            </a:r>
            <a:r>
              <a:rPr lang="en-GB" i="1" dirty="0"/>
              <a:t>Journal of Physiotherapy</a:t>
            </a:r>
            <a:r>
              <a:rPr lang="en-GB" dirty="0"/>
              <a:t>, </a:t>
            </a:r>
            <a:r>
              <a:rPr lang="en-GB" i="1" dirty="0"/>
              <a:t>69</a:t>
            </a:r>
            <a:r>
              <a:rPr lang="en-GB" dirty="0"/>
              <a:t>(4), 220–231. https://doi.org/10.1016/j.jphys.2023.08.005</a:t>
            </a:r>
          </a:p>
          <a:p>
            <a:r>
              <a:rPr lang="en-GB" dirty="0"/>
              <a:t>Lawal, A. K., Rotter, T., Kinsman, L., </a:t>
            </a:r>
            <a:r>
              <a:rPr lang="en-GB" dirty="0" err="1"/>
              <a:t>Machotta</a:t>
            </a:r>
            <a:r>
              <a:rPr lang="en-GB" dirty="0"/>
              <a:t>, A., </a:t>
            </a:r>
            <a:r>
              <a:rPr lang="en-GB" dirty="0" err="1"/>
              <a:t>Ronellenfitsch</a:t>
            </a:r>
            <a:r>
              <a:rPr lang="en-GB" dirty="0"/>
              <a:t>, U., Scott, S. D., Goodridge, D., Plishka, C., &amp; Groot, G. (2016). What is a clinical pathway? Refinement of an operational definition to identify clinical pathway studies for a Cochrane systematic review. </a:t>
            </a:r>
            <a:r>
              <a:rPr lang="en-GB" i="1" dirty="0"/>
              <a:t>BMC Medicine</a:t>
            </a:r>
            <a:r>
              <a:rPr lang="en-GB" dirty="0"/>
              <a:t>, </a:t>
            </a:r>
            <a:r>
              <a:rPr lang="en-GB" i="1" dirty="0"/>
              <a:t>14</a:t>
            </a:r>
            <a:r>
              <a:rPr lang="en-GB" dirty="0"/>
              <a:t>(1), 1–5. https://doi.org/10.1186/s12916-016-0580-z</a:t>
            </a:r>
          </a:p>
          <a:p>
            <a:r>
              <a:rPr lang="en-GB" dirty="0"/>
              <a:t>NHS England. (n.d.). </a:t>
            </a:r>
            <a:r>
              <a:rPr lang="en-GB" i="1" dirty="0"/>
              <a:t>What is personalised care?</a:t>
            </a:r>
            <a:r>
              <a:rPr lang="en-GB" dirty="0"/>
              <a:t> Retrieved September 28, 2025, from https://www.england.nhs.uk/personalisedcare/what-is-personalised-care/</a:t>
            </a:r>
          </a:p>
          <a:p>
            <a:r>
              <a:rPr lang="en-GB" dirty="0"/>
              <a:t>NHS England. (2023). </a:t>
            </a:r>
            <a:r>
              <a:rPr lang="en-GB" i="1" dirty="0"/>
              <a:t>Musculoskeletal orthopaedic approach to referral optimisation</a:t>
            </a:r>
            <a:r>
              <a:rPr lang="en-GB" dirty="0"/>
              <a:t>. https://www.england.nhs.uk/long-read/msk-orthopaedic-approach-to-referral-optimisation/?utm_source=chatgpt.com</a:t>
            </a:r>
          </a:p>
          <a:p>
            <a:endParaRPr lang="en-GB" dirty="0"/>
          </a:p>
        </p:txBody>
      </p:sp>
    </p:spTree>
    <p:extLst>
      <p:ext uri="{BB962C8B-B14F-4D97-AF65-F5344CB8AC3E}">
        <p14:creationId xmlns:p14="http://schemas.microsoft.com/office/powerpoint/2010/main" val="3634155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2E5EE-87AB-DE97-B5C4-A8E6F95DED7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BAC8BE8-2DE5-93A3-12D3-7BBCA095C125}"/>
              </a:ext>
            </a:extLst>
          </p:cNvPr>
          <p:cNvSpPr>
            <a:spLocks noGrp="1"/>
          </p:cNvSpPr>
          <p:nvPr>
            <p:ph idx="1"/>
          </p:nvPr>
        </p:nvSpPr>
        <p:spPr/>
        <p:txBody>
          <a:bodyPr>
            <a:normAutofit fontScale="70000" lnSpcReduction="20000"/>
          </a:bodyPr>
          <a:lstStyle/>
          <a:p>
            <a:r>
              <a:rPr lang="en-GB" dirty="0"/>
              <a:t>Roberts, L., &amp; Langridge, N. (2018). </a:t>
            </a:r>
            <a:r>
              <a:rPr lang="en-GB" i="1" dirty="0"/>
              <a:t>Principles of communication and its application to clinical reasoning</a:t>
            </a:r>
            <a:r>
              <a:rPr lang="en-GB" dirty="0"/>
              <a:t> (pp. 209–233).</a:t>
            </a:r>
          </a:p>
          <a:p>
            <a:r>
              <a:rPr lang="en-GB" dirty="0"/>
              <a:t>Rotter, T., </a:t>
            </a:r>
            <a:r>
              <a:rPr lang="en-GB" dirty="0" err="1"/>
              <a:t>Ld</a:t>
            </a:r>
            <a:r>
              <a:rPr lang="en-GB" dirty="0"/>
              <a:t>, K., </a:t>
            </a:r>
            <a:r>
              <a:rPr lang="en-GB" dirty="0" err="1"/>
              <a:t>Alsius</a:t>
            </a:r>
            <a:r>
              <a:rPr lang="en-GB" dirty="0"/>
              <a:t>, A., Sd, S., Lawal, A., </a:t>
            </a:r>
            <a:r>
              <a:rPr lang="en-GB" dirty="0" err="1"/>
              <a:t>Ronellenfitsch</a:t>
            </a:r>
            <a:r>
              <a:rPr lang="en-GB" dirty="0"/>
              <a:t>, U., Plishka, C., Groot, G., Woods, P., Coulson, C., La, B., Sears, K., </a:t>
            </a:r>
            <a:r>
              <a:rPr lang="en-GB" dirty="0" err="1"/>
              <a:t>Machotta</a:t>
            </a:r>
            <a:r>
              <a:rPr lang="en-GB" dirty="0"/>
              <a:t>, A., </a:t>
            </a:r>
            <a:r>
              <a:rPr lang="en-GB" dirty="0" err="1"/>
              <a:t>Tj</a:t>
            </a:r>
            <a:r>
              <a:rPr lang="en-GB" dirty="0"/>
              <a:t>, S., Rotter, T., </a:t>
            </a:r>
            <a:r>
              <a:rPr lang="en-GB" dirty="0" err="1"/>
              <a:t>Ld</a:t>
            </a:r>
            <a:r>
              <a:rPr lang="en-GB" dirty="0"/>
              <a:t>, K., </a:t>
            </a:r>
            <a:r>
              <a:rPr lang="en-GB" dirty="0" err="1"/>
              <a:t>Alsius</a:t>
            </a:r>
            <a:r>
              <a:rPr lang="en-GB" dirty="0"/>
              <a:t>, A., Sd, S., Lawal, A., … </a:t>
            </a:r>
            <a:r>
              <a:rPr lang="en-GB" dirty="0" err="1"/>
              <a:t>Tj</a:t>
            </a:r>
            <a:r>
              <a:rPr lang="en-GB" dirty="0"/>
              <a:t>, S. (2025). Clinical pathways for secondary care and the effects on professional practice, patient outcomes, length of stay and hospital costs. </a:t>
            </a:r>
            <a:r>
              <a:rPr lang="en-GB" i="1" dirty="0"/>
              <a:t>Cochrane Database of Systematic Reviews</a:t>
            </a:r>
            <a:r>
              <a:rPr lang="en-GB" dirty="0"/>
              <a:t>, </a:t>
            </a:r>
            <a:r>
              <a:rPr lang="en-GB" i="1" dirty="0"/>
              <a:t>5</a:t>
            </a:r>
            <a:r>
              <a:rPr lang="en-GB" dirty="0"/>
              <a:t>. https://doi.org/10.1002/14651858</a:t>
            </a:r>
          </a:p>
          <a:p>
            <a:r>
              <a:rPr lang="en-GB" dirty="0"/>
              <a:t>Summary, E. (2025). </a:t>
            </a:r>
            <a:r>
              <a:rPr lang="en-GB" i="1" dirty="0"/>
              <a:t>FIT FOR the future Executive Summary</a:t>
            </a:r>
            <a:r>
              <a:rPr lang="en-GB" dirty="0"/>
              <a:t> (Issue July). https://www.gov.uk/government/publications/10-year-health-plan-for-england-fit-for-the-future</a:t>
            </a:r>
          </a:p>
          <a:p>
            <a:r>
              <a:rPr lang="en-GB" dirty="0"/>
              <a:t>Walcott, B. P., Coumans, J. V. C. E., &amp; Kahle, K. T. (2011). Diagnostic pitfalls in spine surgery: </a:t>
            </a:r>
            <a:r>
              <a:rPr lang="en-GB" dirty="0" err="1"/>
              <a:t>Masqueraders</a:t>
            </a:r>
            <a:r>
              <a:rPr lang="en-GB" dirty="0"/>
              <a:t> of surgical spine disease. </a:t>
            </a:r>
            <a:r>
              <a:rPr lang="en-GB" i="1" dirty="0"/>
              <a:t>Neurosurgical Focus</a:t>
            </a:r>
            <a:r>
              <a:rPr lang="en-GB" dirty="0"/>
              <a:t>, </a:t>
            </a:r>
            <a:r>
              <a:rPr lang="en-GB" i="1" dirty="0"/>
              <a:t>31</a:t>
            </a:r>
            <a:r>
              <a:rPr lang="en-GB" dirty="0"/>
              <a:t>(4), 1–11. https://doi.org/10.3171/2011.7.FOCUS11114</a:t>
            </a:r>
          </a:p>
          <a:p>
            <a:endParaRPr lang="en-GB" dirty="0"/>
          </a:p>
        </p:txBody>
      </p:sp>
    </p:spTree>
    <p:extLst>
      <p:ext uri="{BB962C8B-B14F-4D97-AF65-F5344CB8AC3E}">
        <p14:creationId xmlns:p14="http://schemas.microsoft.com/office/powerpoint/2010/main" val="38705006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702</TotalTime>
  <Words>3901</Words>
  <Application>Microsoft Office PowerPoint</Application>
  <PresentationFormat>Widescreen</PresentationFormat>
  <Paragraphs>291</Paragraphs>
  <Slides>39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Calibri</vt:lpstr>
      <vt:lpstr>Calibri Light</vt:lpstr>
      <vt:lpstr>Garamond</vt:lpstr>
      <vt:lpstr>Symbol</vt:lpstr>
      <vt:lpstr>Wingdings</vt:lpstr>
      <vt:lpstr>Organic</vt:lpstr>
      <vt:lpstr>Office Theme</vt:lpstr>
      <vt:lpstr>MSK care Pathways</vt:lpstr>
      <vt:lpstr>Learning Outcome:</vt:lpstr>
      <vt:lpstr>FIT FOR  THE FUTURE 10 Year Health Plan  for England</vt:lpstr>
      <vt:lpstr>hospital to community:</vt:lpstr>
      <vt:lpstr>From analogue to digital: power in your hands</vt:lpstr>
      <vt:lpstr>From sickness to prevention: power to make the healthy choice People</vt:lpstr>
      <vt:lpstr>An NHS workforce, fit for the future</vt:lpstr>
      <vt:lpstr>Educational development</vt:lpstr>
      <vt:lpstr>Group work</vt:lpstr>
      <vt:lpstr>MSK triage:</vt:lpstr>
      <vt:lpstr>MSK triage (continued):</vt:lpstr>
      <vt:lpstr>Clinical Reasoning:</vt:lpstr>
      <vt:lpstr>What did we cover so, far </vt:lpstr>
      <vt:lpstr>Practical </vt:lpstr>
      <vt:lpstr>Red flags:</vt:lpstr>
      <vt:lpstr>Red flags continued:</vt:lpstr>
      <vt:lpstr>MSK Masqueraders:</vt:lpstr>
      <vt:lpstr>Break </vt:lpstr>
      <vt:lpstr>clinical practice pathways (CPWs):</vt:lpstr>
      <vt:lpstr>Benefits of clinical practice pathways (CPWs):</vt:lpstr>
      <vt:lpstr>CPWS (continued): </vt:lpstr>
      <vt:lpstr>PowerPoint Presentation</vt:lpstr>
      <vt:lpstr> referral optimisation in adult services managing MSK conditions (NHS England, 2023) :</vt:lpstr>
      <vt:lpstr>CPWS (continued): </vt:lpstr>
      <vt:lpstr>PowerPoint Presentation</vt:lpstr>
      <vt:lpstr>PowerPoint Presentation</vt:lpstr>
      <vt:lpstr>Group work. MDT in MSK. Who is involved?</vt:lpstr>
      <vt:lpstr>What else we need to consider?</vt:lpstr>
      <vt:lpstr>Personalised care:</vt:lpstr>
      <vt:lpstr>Shared Decision Making:</vt:lpstr>
      <vt:lpstr>What else?</vt:lpstr>
      <vt:lpstr>National Low Back and Radicular Pain Pathway 2017 (Excellence, 2017):</vt:lpstr>
      <vt:lpstr>Radicular Pain Pathway </vt:lpstr>
      <vt:lpstr>Urgent and emergency referral</vt:lpstr>
      <vt:lpstr>Email: khaled.afifi1@nhs.net</vt:lpstr>
      <vt:lpstr>PowerPoint Presentation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doaa mahmoud</dc:creator>
  <cp:lastModifiedBy>doaa mahmoud</cp:lastModifiedBy>
  <cp:revision>6</cp:revision>
  <dcterms:created xsi:type="dcterms:W3CDTF">2025-09-28T14:34:23Z</dcterms:created>
  <dcterms:modified xsi:type="dcterms:W3CDTF">2025-09-29T08:44:45Z</dcterms:modified>
</cp:coreProperties>
</file>