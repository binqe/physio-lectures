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78" r:id="rId1"/>
  </p:sldMasterIdLst>
  <p:notesMasterIdLst>
    <p:notesMasterId r:id="rId45"/>
  </p:notesMasterIdLst>
  <p:handoutMasterIdLst>
    <p:handoutMasterId r:id="rId46"/>
  </p:handoutMasterIdLst>
  <p:sldIdLst>
    <p:sldId id="256" r:id="rId2"/>
    <p:sldId id="301" r:id="rId3"/>
    <p:sldId id="337" r:id="rId4"/>
    <p:sldId id="338" r:id="rId5"/>
    <p:sldId id="339" r:id="rId6"/>
    <p:sldId id="342" r:id="rId7"/>
    <p:sldId id="340" r:id="rId8"/>
    <p:sldId id="341" r:id="rId9"/>
    <p:sldId id="310" r:id="rId10"/>
    <p:sldId id="303" r:id="rId11"/>
    <p:sldId id="306" r:id="rId12"/>
    <p:sldId id="259" r:id="rId13"/>
    <p:sldId id="311" r:id="rId14"/>
    <p:sldId id="304" r:id="rId15"/>
    <p:sldId id="313" r:id="rId16"/>
    <p:sldId id="343" r:id="rId17"/>
    <p:sldId id="314" r:id="rId18"/>
    <p:sldId id="312" r:id="rId19"/>
    <p:sldId id="344" r:id="rId20"/>
    <p:sldId id="315" r:id="rId21"/>
    <p:sldId id="307" r:id="rId22"/>
    <p:sldId id="317" r:id="rId23"/>
    <p:sldId id="316" r:id="rId24"/>
    <p:sldId id="308" r:id="rId25"/>
    <p:sldId id="319" r:id="rId26"/>
    <p:sldId id="320" r:id="rId27"/>
    <p:sldId id="321" r:id="rId28"/>
    <p:sldId id="324" r:id="rId29"/>
    <p:sldId id="322" r:id="rId30"/>
    <p:sldId id="323" r:id="rId31"/>
    <p:sldId id="325" r:id="rId32"/>
    <p:sldId id="333" r:id="rId33"/>
    <p:sldId id="334" r:id="rId34"/>
    <p:sldId id="335" r:id="rId35"/>
    <p:sldId id="326" r:id="rId36"/>
    <p:sldId id="327" r:id="rId37"/>
    <p:sldId id="318" r:id="rId38"/>
    <p:sldId id="328" r:id="rId39"/>
    <p:sldId id="336" r:id="rId40"/>
    <p:sldId id="309" r:id="rId41"/>
    <p:sldId id="345" r:id="rId42"/>
    <p:sldId id="329" r:id="rId43"/>
    <p:sldId id="331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19" autoAdjust="0"/>
    <p:restoredTop sz="91530" autoAdjust="0"/>
  </p:normalViewPr>
  <p:slideViewPr>
    <p:cSldViewPr>
      <p:cViewPr varScale="1">
        <p:scale>
          <a:sx n="116" d="100"/>
          <a:sy n="116" d="100"/>
        </p:scale>
        <p:origin x="42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69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F576C3-025D-4553-97CF-78B1ED5F7425}" type="doc">
      <dgm:prSet loTypeId="urn:microsoft.com/office/officeart/2016/7/layout/VerticalSolid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EA06B92-920F-42B7-86A4-0588FB0A5FF1}">
      <dgm:prSet/>
      <dgm:spPr/>
      <dgm:t>
        <a:bodyPr/>
        <a:lstStyle/>
        <a:p>
          <a:r>
            <a:rPr lang="en-US"/>
            <a:t>Know</a:t>
          </a:r>
        </a:p>
      </dgm:t>
    </dgm:pt>
    <dgm:pt modelId="{52FEF482-5640-4D44-8673-2612FDE69726}" type="parTrans" cxnId="{671B6F8E-2DC1-4CE3-A3F9-726B028604F9}">
      <dgm:prSet/>
      <dgm:spPr/>
      <dgm:t>
        <a:bodyPr/>
        <a:lstStyle/>
        <a:p>
          <a:endParaRPr lang="en-US"/>
        </a:p>
      </dgm:t>
    </dgm:pt>
    <dgm:pt modelId="{1056D12F-2830-4CDC-BB32-3AA914E4BCB4}" type="sibTrans" cxnId="{671B6F8E-2DC1-4CE3-A3F9-726B028604F9}">
      <dgm:prSet/>
      <dgm:spPr/>
      <dgm:t>
        <a:bodyPr/>
        <a:lstStyle/>
        <a:p>
          <a:endParaRPr lang="en-US"/>
        </a:p>
      </dgm:t>
    </dgm:pt>
    <dgm:pt modelId="{F645B43B-1011-4793-AA67-B830BDFF6E16}">
      <dgm:prSet/>
      <dgm:spPr/>
      <dgm:t>
        <a:bodyPr/>
        <a:lstStyle/>
        <a:p>
          <a:r>
            <a:rPr lang="en-US" dirty="0"/>
            <a:t>Know the principal bony features in and around the hip joint, and describe their appearance in plain X-rays</a:t>
          </a:r>
        </a:p>
      </dgm:t>
    </dgm:pt>
    <dgm:pt modelId="{2310823A-0478-4CCC-B208-F8BDE639E3A7}" type="parTrans" cxnId="{464B976A-5188-4F31-BD2B-3AF34D963E9A}">
      <dgm:prSet/>
      <dgm:spPr/>
      <dgm:t>
        <a:bodyPr/>
        <a:lstStyle/>
        <a:p>
          <a:endParaRPr lang="en-US"/>
        </a:p>
      </dgm:t>
    </dgm:pt>
    <dgm:pt modelId="{FFF866F1-093E-4DF4-97BE-633D2AE2DEE1}" type="sibTrans" cxnId="{464B976A-5188-4F31-BD2B-3AF34D963E9A}">
      <dgm:prSet/>
      <dgm:spPr/>
      <dgm:t>
        <a:bodyPr/>
        <a:lstStyle/>
        <a:p>
          <a:endParaRPr lang="en-US"/>
        </a:p>
      </dgm:t>
    </dgm:pt>
    <dgm:pt modelId="{BAE65C11-B4AA-4612-8C73-B28CE52EF394}">
      <dgm:prSet/>
      <dgm:spPr/>
      <dgm:t>
        <a:bodyPr/>
        <a:lstStyle/>
        <a:p>
          <a:r>
            <a:rPr lang="en-US" dirty="0"/>
            <a:t>State</a:t>
          </a:r>
        </a:p>
      </dgm:t>
    </dgm:pt>
    <dgm:pt modelId="{670C6AD0-1B4F-4868-8FA7-8277FB9BCD53}" type="parTrans" cxnId="{F39EF117-BBC9-442B-81F8-A4002262FCC7}">
      <dgm:prSet/>
      <dgm:spPr/>
      <dgm:t>
        <a:bodyPr/>
        <a:lstStyle/>
        <a:p>
          <a:endParaRPr lang="en-US"/>
        </a:p>
      </dgm:t>
    </dgm:pt>
    <dgm:pt modelId="{43B4148C-B598-4D66-A8A7-2EC0A98C478A}" type="sibTrans" cxnId="{F39EF117-BBC9-442B-81F8-A4002262FCC7}">
      <dgm:prSet/>
      <dgm:spPr/>
      <dgm:t>
        <a:bodyPr/>
        <a:lstStyle/>
        <a:p>
          <a:endParaRPr lang="en-US"/>
        </a:p>
      </dgm:t>
    </dgm:pt>
    <dgm:pt modelId="{9C6308AA-28BB-4063-AF8F-113A2774E16B}">
      <dgm:prSet/>
      <dgm:spPr/>
      <dgm:t>
        <a:bodyPr/>
        <a:lstStyle/>
        <a:p>
          <a:r>
            <a:rPr lang="en-US"/>
            <a:t>State the shape of the articular surfaces and describe the attachments of the capsule and synovium</a:t>
          </a:r>
        </a:p>
      </dgm:t>
    </dgm:pt>
    <dgm:pt modelId="{6875518C-761C-442B-BCFD-B592D85A4810}" type="parTrans" cxnId="{C53A12E2-640B-43ED-A098-21BA87C48EF4}">
      <dgm:prSet/>
      <dgm:spPr/>
      <dgm:t>
        <a:bodyPr/>
        <a:lstStyle/>
        <a:p>
          <a:endParaRPr lang="en-US"/>
        </a:p>
      </dgm:t>
    </dgm:pt>
    <dgm:pt modelId="{178932FC-72E0-43ED-B39A-DFB05C97EDD0}" type="sibTrans" cxnId="{C53A12E2-640B-43ED-A098-21BA87C48EF4}">
      <dgm:prSet/>
      <dgm:spPr/>
      <dgm:t>
        <a:bodyPr/>
        <a:lstStyle/>
        <a:p>
          <a:endParaRPr lang="en-US"/>
        </a:p>
      </dgm:t>
    </dgm:pt>
    <dgm:pt modelId="{5A12529C-78EC-4238-B86F-1FDB13353404}">
      <dgm:prSet/>
      <dgm:spPr/>
      <dgm:t>
        <a:bodyPr/>
        <a:lstStyle/>
        <a:p>
          <a:r>
            <a:rPr lang="en-US"/>
            <a:t>Describe</a:t>
          </a:r>
        </a:p>
      </dgm:t>
    </dgm:pt>
    <dgm:pt modelId="{81F3BBA5-1F70-4CE6-87DF-C3745DDCBA8A}" type="parTrans" cxnId="{F59C1683-34E2-4510-A0DD-0A18188E8A5B}">
      <dgm:prSet/>
      <dgm:spPr/>
      <dgm:t>
        <a:bodyPr/>
        <a:lstStyle/>
        <a:p>
          <a:endParaRPr lang="en-US"/>
        </a:p>
      </dgm:t>
    </dgm:pt>
    <dgm:pt modelId="{A45B318A-BFC1-4DD2-9F6F-B687EA7DADCF}" type="sibTrans" cxnId="{F59C1683-34E2-4510-A0DD-0A18188E8A5B}">
      <dgm:prSet/>
      <dgm:spPr/>
      <dgm:t>
        <a:bodyPr/>
        <a:lstStyle/>
        <a:p>
          <a:endParaRPr lang="en-US"/>
        </a:p>
      </dgm:t>
    </dgm:pt>
    <dgm:pt modelId="{41A5F715-6FFA-4E31-8BC4-059564927504}">
      <dgm:prSet/>
      <dgm:spPr/>
      <dgm:t>
        <a:bodyPr/>
        <a:lstStyle/>
        <a:p>
          <a:r>
            <a:rPr lang="en-US"/>
            <a:t>Describe the capsular and intra-capsular ligaments of the joint and know how they limit joint movement</a:t>
          </a:r>
        </a:p>
      </dgm:t>
    </dgm:pt>
    <dgm:pt modelId="{34EFC6AC-ADF4-4923-B3A7-FD0FEB09E83E}" type="parTrans" cxnId="{0615BBA3-CF94-4537-A362-2B88009FC785}">
      <dgm:prSet/>
      <dgm:spPr/>
      <dgm:t>
        <a:bodyPr/>
        <a:lstStyle/>
        <a:p>
          <a:endParaRPr lang="en-US"/>
        </a:p>
      </dgm:t>
    </dgm:pt>
    <dgm:pt modelId="{45035242-6872-47EA-B251-AF975F75A175}" type="sibTrans" cxnId="{0615BBA3-CF94-4537-A362-2B88009FC785}">
      <dgm:prSet/>
      <dgm:spPr/>
      <dgm:t>
        <a:bodyPr/>
        <a:lstStyle/>
        <a:p>
          <a:endParaRPr lang="en-US"/>
        </a:p>
      </dgm:t>
    </dgm:pt>
    <dgm:pt modelId="{7E563139-710F-4363-AF65-334186616925}">
      <dgm:prSet/>
      <dgm:spPr/>
      <dgm:t>
        <a:bodyPr/>
        <a:lstStyle/>
        <a:p>
          <a:r>
            <a:rPr lang="en-US"/>
            <a:t>Describe</a:t>
          </a:r>
        </a:p>
      </dgm:t>
    </dgm:pt>
    <dgm:pt modelId="{196F8EEC-375B-4D6A-A0E3-F21801CC5EC2}" type="parTrans" cxnId="{79B60D7F-9DF2-40AB-96FA-3A24DDD1623A}">
      <dgm:prSet/>
      <dgm:spPr/>
      <dgm:t>
        <a:bodyPr/>
        <a:lstStyle/>
        <a:p>
          <a:endParaRPr lang="en-US"/>
        </a:p>
      </dgm:t>
    </dgm:pt>
    <dgm:pt modelId="{AD6456D1-5069-4271-8D0B-AC5A530AC444}" type="sibTrans" cxnId="{79B60D7F-9DF2-40AB-96FA-3A24DDD1623A}">
      <dgm:prSet/>
      <dgm:spPr/>
      <dgm:t>
        <a:bodyPr/>
        <a:lstStyle/>
        <a:p>
          <a:endParaRPr lang="en-US"/>
        </a:p>
      </dgm:t>
    </dgm:pt>
    <dgm:pt modelId="{949692EC-1036-4E95-979E-562D699DE752}">
      <dgm:prSet/>
      <dgm:spPr/>
      <dgm:t>
        <a:bodyPr/>
        <a:lstStyle/>
        <a:p>
          <a:r>
            <a:rPr lang="en-US"/>
            <a:t>Describe the functions of the muscles surrounding the hip joint in terms of their attachment, actions, nerve supply and their role in stability </a:t>
          </a:r>
        </a:p>
      </dgm:t>
    </dgm:pt>
    <dgm:pt modelId="{D7F64A21-5309-470D-BDD7-0B9657BA9F72}" type="parTrans" cxnId="{26DD2647-ED30-4FA3-AE0E-1B6E2CE9CB1A}">
      <dgm:prSet/>
      <dgm:spPr/>
      <dgm:t>
        <a:bodyPr/>
        <a:lstStyle/>
        <a:p>
          <a:endParaRPr lang="en-US"/>
        </a:p>
      </dgm:t>
    </dgm:pt>
    <dgm:pt modelId="{6BEC0063-6C72-4F81-BA3E-B8088615D735}" type="sibTrans" cxnId="{26DD2647-ED30-4FA3-AE0E-1B6E2CE9CB1A}">
      <dgm:prSet/>
      <dgm:spPr/>
      <dgm:t>
        <a:bodyPr/>
        <a:lstStyle/>
        <a:p>
          <a:endParaRPr lang="en-US"/>
        </a:p>
      </dgm:t>
    </dgm:pt>
    <dgm:pt modelId="{4B3E19DF-9210-4812-A836-3ED0BB38FD18}">
      <dgm:prSet/>
      <dgm:spPr/>
      <dgm:t>
        <a:bodyPr/>
        <a:lstStyle/>
        <a:p>
          <a:r>
            <a:rPr lang="en-US"/>
            <a:t>Describe</a:t>
          </a:r>
        </a:p>
      </dgm:t>
    </dgm:pt>
    <dgm:pt modelId="{FA2E9A0E-51C7-415F-B2EC-1C364167B9A4}" type="parTrans" cxnId="{CA939681-B6BA-4C43-8B01-38ABE31A7CE8}">
      <dgm:prSet/>
      <dgm:spPr/>
      <dgm:t>
        <a:bodyPr/>
        <a:lstStyle/>
        <a:p>
          <a:endParaRPr lang="en-US"/>
        </a:p>
      </dgm:t>
    </dgm:pt>
    <dgm:pt modelId="{A62D381D-A719-42E5-901A-62C92BE39CE0}" type="sibTrans" cxnId="{CA939681-B6BA-4C43-8B01-38ABE31A7CE8}">
      <dgm:prSet/>
      <dgm:spPr/>
      <dgm:t>
        <a:bodyPr/>
        <a:lstStyle/>
        <a:p>
          <a:endParaRPr lang="en-US"/>
        </a:p>
      </dgm:t>
    </dgm:pt>
    <dgm:pt modelId="{E434022B-DD63-46C5-ADFB-A9A5289FD2F6}">
      <dgm:prSet/>
      <dgm:spPr/>
      <dgm:t>
        <a:bodyPr/>
        <a:lstStyle/>
        <a:p>
          <a:r>
            <a:rPr lang="en-US"/>
            <a:t>Describe the blood and nerve supply to the joint, and appreciate the significance of this supply in relation to hip fractures</a:t>
          </a:r>
        </a:p>
      </dgm:t>
    </dgm:pt>
    <dgm:pt modelId="{D7AD47EF-5707-4A6E-8E97-A3165266F17E}" type="parTrans" cxnId="{305D3519-0AB6-4FF5-BA01-78FB6961BC4F}">
      <dgm:prSet/>
      <dgm:spPr/>
      <dgm:t>
        <a:bodyPr/>
        <a:lstStyle/>
        <a:p>
          <a:endParaRPr lang="en-US"/>
        </a:p>
      </dgm:t>
    </dgm:pt>
    <dgm:pt modelId="{0952B323-524F-46D8-858B-2CE3A5E93536}" type="sibTrans" cxnId="{305D3519-0AB6-4FF5-BA01-78FB6961BC4F}">
      <dgm:prSet/>
      <dgm:spPr/>
      <dgm:t>
        <a:bodyPr/>
        <a:lstStyle/>
        <a:p>
          <a:endParaRPr lang="en-US"/>
        </a:p>
      </dgm:t>
    </dgm:pt>
    <dgm:pt modelId="{FD835FF8-7239-8C41-890F-195345C6BEA4}" type="pres">
      <dgm:prSet presAssocID="{30F576C3-025D-4553-97CF-78B1ED5F7425}" presName="Name0" presStyleCnt="0">
        <dgm:presLayoutVars>
          <dgm:dir/>
          <dgm:animLvl val="lvl"/>
          <dgm:resizeHandles val="exact"/>
        </dgm:presLayoutVars>
      </dgm:prSet>
      <dgm:spPr/>
    </dgm:pt>
    <dgm:pt modelId="{4AD8F711-C399-7642-A62A-3E7D4D69DCFB}" type="pres">
      <dgm:prSet presAssocID="{EEA06B92-920F-42B7-86A4-0588FB0A5FF1}" presName="linNode" presStyleCnt="0"/>
      <dgm:spPr/>
    </dgm:pt>
    <dgm:pt modelId="{8991EA08-CD99-2E44-87DB-06A993EDFC19}" type="pres">
      <dgm:prSet presAssocID="{EEA06B92-920F-42B7-86A4-0588FB0A5FF1}" presName="parentText" presStyleLbl="alignNode1" presStyleIdx="0" presStyleCnt="5">
        <dgm:presLayoutVars>
          <dgm:chMax val="1"/>
          <dgm:bulletEnabled/>
        </dgm:presLayoutVars>
      </dgm:prSet>
      <dgm:spPr/>
    </dgm:pt>
    <dgm:pt modelId="{542F9846-B345-C74B-8A6B-6202FC3AB921}" type="pres">
      <dgm:prSet presAssocID="{EEA06B92-920F-42B7-86A4-0588FB0A5FF1}" presName="descendantText" presStyleLbl="alignAccFollowNode1" presStyleIdx="0" presStyleCnt="5">
        <dgm:presLayoutVars>
          <dgm:bulletEnabled/>
        </dgm:presLayoutVars>
      </dgm:prSet>
      <dgm:spPr/>
    </dgm:pt>
    <dgm:pt modelId="{F55D55F3-3F00-294D-A9D4-A7C5A44CFC10}" type="pres">
      <dgm:prSet presAssocID="{1056D12F-2830-4CDC-BB32-3AA914E4BCB4}" presName="sp" presStyleCnt="0"/>
      <dgm:spPr/>
    </dgm:pt>
    <dgm:pt modelId="{DD294BAA-7044-F84A-AEE7-841A3879CEDE}" type="pres">
      <dgm:prSet presAssocID="{BAE65C11-B4AA-4612-8C73-B28CE52EF394}" presName="linNode" presStyleCnt="0"/>
      <dgm:spPr/>
    </dgm:pt>
    <dgm:pt modelId="{2B2E38AF-D956-F644-8077-267BD6A2DA51}" type="pres">
      <dgm:prSet presAssocID="{BAE65C11-B4AA-4612-8C73-B28CE52EF394}" presName="parentText" presStyleLbl="alignNode1" presStyleIdx="1" presStyleCnt="5">
        <dgm:presLayoutVars>
          <dgm:chMax val="1"/>
          <dgm:bulletEnabled/>
        </dgm:presLayoutVars>
      </dgm:prSet>
      <dgm:spPr/>
    </dgm:pt>
    <dgm:pt modelId="{CC08B7A5-247E-5B4A-ABF1-705B9BAFE3FD}" type="pres">
      <dgm:prSet presAssocID="{BAE65C11-B4AA-4612-8C73-B28CE52EF394}" presName="descendantText" presStyleLbl="alignAccFollowNode1" presStyleIdx="1" presStyleCnt="5">
        <dgm:presLayoutVars>
          <dgm:bulletEnabled/>
        </dgm:presLayoutVars>
      </dgm:prSet>
      <dgm:spPr/>
    </dgm:pt>
    <dgm:pt modelId="{2260DC8C-D894-8A45-A5C3-238BE5A8E002}" type="pres">
      <dgm:prSet presAssocID="{43B4148C-B598-4D66-A8A7-2EC0A98C478A}" presName="sp" presStyleCnt="0"/>
      <dgm:spPr/>
    </dgm:pt>
    <dgm:pt modelId="{972ECEEA-F6D4-EE47-8F2D-9A3433E346D2}" type="pres">
      <dgm:prSet presAssocID="{5A12529C-78EC-4238-B86F-1FDB13353404}" presName="linNode" presStyleCnt="0"/>
      <dgm:spPr/>
    </dgm:pt>
    <dgm:pt modelId="{A5F210A3-8D6D-054C-A60D-692E0424F6D2}" type="pres">
      <dgm:prSet presAssocID="{5A12529C-78EC-4238-B86F-1FDB13353404}" presName="parentText" presStyleLbl="alignNode1" presStyleIdx="2" presStyleCnt="5">
        <dgm:presLayoutVars>
          <dgm:chMax val="1"/>
          <dgm:bulletEnabled/>
        </dgm:presLayoutVars>
      </dgm:prSet>
      <dgm:spPr/>
    </dgm:pt>
    <dgm:pt modelId="{879F725D-3421-8546-BBF6-66BB94DCF734}" type="pres">
      <dgm:prSet presAssocID="{5A12529C-78EC-4238-B86F-1FDB13353404}" presName="descendantText" presStyleLbl="alignAccFollowNode1" presStyleIdx="2" presStyleCnt="5">
        <dgm:presLayoutVars>
          <dgm:bulletEnabled/>
        </dgm:presLayoutVars>
      </dgm:prSet>
      <dgm:spPr/>
    </dgm:pt>
    <dgm:pt modelId="{434EF13F-BDAC-7E48-8177-F16CD679507B}" type="pres">
      <dgm:prSet presAssocID="{A45B318A-BFC1-4DD2-9F6F-B687EA7DADCF}" presName="sp" presStyleCnt="0"/>
      <dgm:spPr/>
    </dgm:pt>
    <dgm:pt modelId="{125B20A7-5B8B-364E-A0F2-7025FE13E203}" type="pres">
      <dgm:prSet presAssocID="{7E563139-710F-4363-AF65-334186616925}" presName="linNode" presStyleCnt="0"/>
      <dgm:spPr/>
    </dgm:pt>
    <dgm:pt modelId="{89CB6C22-B01D-5C4C-82C7-5BCB99A20B88}" type="pres">
      <dgm:prSet presAssocID="{7E563139-710F-4363-AF65-334186616925}" presName="parentText" presStyleLbl="alignNode1" presStyleIdx="3" presStyleCnt="5">
        <dgm:presLayoutVars>
          <dgm:chMax val="1"/>
          <dgm:bulletEnabled/>
        </dgm:presLayoutVars>
      </dgm:prSet>
      <dgm:spPr/>
    </dgm:pt>
    <dgm:pt modelId="{D53E705B-2548-5742-AF85-11AD06710FC8}" type="pres">
      <dgm:prSet presAssocID="{7E563139-710F-4363-AF65-334186616925}" presName="descendantText" presStyleLbl="alignAccFollowNode1" presStyleIdx="3" presStyleCnt="5">
        <dgm:presLayoutVars>
          <dgm:bulletEnabled/>
        </dgm:presLayoutVars>
      </dgm:prSet>
      <dgm:spPr/>
    </dgm:pt>
    <dgm:pt modelId="{76ACAEDB-7CC8-014B-8207-EEE3DF340000}" type="pres">
      <dgm:prSet presAssocID="{AD6456D1-5069-4271-8D0B-AC5A530AC444}" presName="sp" presStyleCnt="0"/>
      <dgm:spPr/>
    </dgm:pt>
    <dgm:pt modelId="{F3D83866-42D2-B246-83F8-D6B2FCBF586A}" type="pres">
      <dgm:prSet presAssocID="{4B3E19DF-9210-4812-A836-3ED0BB38FD18}" presName="linNode" presStyleCnt="0"/>
      <dgm:spPr/>
    </dgm:pt>
    <dgm:pt modelId="{2589C426-6D05-5244-90DE-5DDD38B7B7A5}" type="pres">
      <dgm:prSet presAssocID="{4B3E19DF-9210-4812-A836-3ED0BB38FD18}" presName="parentText" presStyleLbl="alignNode1" presStyleIdx="4" presStyleCnt="5">
        <dgm:presLayoutVars>
          <dgm:chMax val="1"/>
          <dgm:bulletEnabled/>
        </dgm:presLayoutVars>
      </dgm:prSet>
      <dgm:spPr/>
    </dgm:pt>
    <dgm:pt modelId="{9958463B-554F-9142-8F45-B303531E1BB6}" type="pres">
      <dgm:prSet presAssocID="{4B3E19DF-9210-4812-A836-3ED0BB38FD18}" presName="descendantText" presStyleLbl="alignAccFollowNode1" presStyleIdx="4" presStyleCnt="5">
        <dgm:presLayoutVars>
          <dgm:bulletEnabled/>
        </dgm:presLayoutVars>
      </dgm:prSet>
      <dgm:spPr/>
    </dgm:pt>
  </dgm:ptLst>
  <dgm:cxnLst>
    <dgm:cxn modelId="{555F3502-A266-4046-846F-507A214AAE2F}" type="presOf" srcId="{5A12529C-78EC-4238-B86F-1FDB13353404}" destId="{A5F210A3-8D6D-054C-A60D-692E0424F6D2}" srcOrd="0" destOrd="0" presId="urn:microsoft.com/office/officeart/2016/7/layout/VerticalSolidActionList"/>
    <dgm:cxn modelId="{A998310B-33F5-B948-A26B-0F7D65C9146D}" type="presOf" srcId="{41A5F715-6FFA-4E31-8BC4-059564927504}" destId="{879F725D-3421-8546-BBF6-66BB94DCF734}" srcOrd="0" destOrd="0" presId="urn:microsoft.com/office/officeart/2016/7/layout/VerticalSolidActionList"/>
    <dgm:cxn modelId="{16E15416-0A25-3242-A84A-A02524D4292F}" type="presOf" srcId="{F645B43B-1011-4793-AA67-B830BDFF6E16}" destId="{542F9846-B345-C74B-8A6B-6202FC3AB921}" srcOrd="0" destOrd="0" presId="urn:microsoft.com/office/officeart/2016/7/layout/VerticalSolidActionList"/>
    <dgm:cxn modelId="{F39EF117-BBC9-442B-81F8-A4002262FCC7}" srcId="{30F576C3-025D-4553-97CF-78B1ED5F7425}" destId="{BAE65C11-B4AA-4612-8C73-B28CE52EF394}" srcOrd="1" destOrd="0" parTransId="{670C6AD0-1B4F-4868-8FA7-8277FB9BCD53}" sibTransId="{43B4148C-B598-4D66-A8A7-2EC0A98C478A}"/>
    <dgm:cxn modelId="{305D3519-0AB6-4FF5-BA01-78FB6961BC4F}" srcId="{4B3E19DF-9210-4812-A836-3ED0BB38FD18}" destId="{E434022B-DD63-46C5-ADFB-A9A5289FD2F6}" srcOrd="0" destOrd="0" parTransId="{D7AD47EF-5707-4A6E-8E97-A3165266F17E}" sibTransId="{0952B323-524F-46D8-858B-2CE3A5E93536}"/>
    <dgm:cxn modelId="{8DEC7C2F-C835-844F-A607-CF2621A6C3CE}" type="presOf" srcId="{EEA06B92-920F-42B7-86A4-0588FB0A5FF1}" destId="{8991EA08-CD99-2E44-87DB-06A993EDFC19}" srcOrd="0" destOrd="0" presId="urn:microsoft.com/office/officeart/2016/7/layout/VerticalSolidActionList"/>
    <dgm:cxn modelId="{26DD2647-ED30-4FA3-AE0E-1B6E2CE9CB1A}" srcId="{7E563139-710F-4363-AF65-334186616925}" destId="{949692EC-1036-4E95-979E-562D699DE752}" srcOrd="0" destOrd="0" parTransId="{D7F64A21-5309-470D-BDD7-0B9657BA9F72}" sibTransId="{6BEC0063-6C72-4F81-BA3E-B8088615D735}"/>
    <dgm:cxn modelId="{3026174F-98E7-3344-8CE4-231DD9EA9F4B}" type="presOf" srcId="{4B3E19DF-9210-4812-A836-3ED0BB38FD18}" destId="{2589C426-6D05-5244-90DE-5DDD38B7B7A5}" srcOrd="0" destOrd="0" presId="urn:microsoft.com/office/officeart/2016/7/layout/VerticalSolidActionList"/>
    <dgm:cxn modelId="{BEC5DC53-6511-1845-9124-63FCEFDFFB49}" type="presOf" srcId="{9C6308AA-28BB-4063-AF8F-113A2774E16B}" destId="{CC08B7A5-247E-5B4A-ABF1-705B9BAFE3FD}" srcOrd="0" destOrd="0" presId="urn:microsoft.com/office/officeart/2016/7/layout/VerticalSolidActionList"/>
    <dgm:cxn modelId="{464B976A-5188-4F31-BD2B-3AF34D963E9A}" srcId="{EEA06B92-920F-42B7-86A4-0588FB0A5FF1}" destId="{F645B43B-1011-4793-AA67-B830BDFF6E16}" srcOrd="0" destOrd="0" parTransId="{2310823A-0478-4CCC-B208-F8BDE639E3A7}" sibTransId="{FFF866F1-093E-4DF4-97BE-633D2AE2DEE1}"/>
    <dgm:cxn modelId="{5D9A5C71-5DDB-E048-9308-F35F535759FE}" type="presOf" srcId="{949692EC-1036-4E95-979E-562D699DE752}" destId="{D53E705B-2548-5742-AF85-11AD06710FC8}" srcOrd="0" destOrd="0" presId="urn:microsoft.com/office/officeart/2016/7/layout/VerticalSolidActionList"/>
    <dgm:cxn modelId="{B31E8F7D-9F24-6347-864F-72C9193F8FEA}" type="presOf" srcId="{E434022B-DD63-46C5-ADFB-A9A5289FD2F6}" destId="{9958463B-554F-9142-8F45-B303531E1BB6}" srcOrd="0" destOrd="0" presId="urn:microsoft.com/office/officeart/2016/7/layout/VerticalSolidActionList"/>
    <dgm:cxn modelId="{79B60D7F-9DF2-40AB-96FA-3A24DDD1623A}" srcId="{30F576C3-025D-4553-97CF-78B1ED5F7425}" destId="{7E563139-710F-4363-AF65-334186616925}" srcOrd="3" destOrd="0" parTransId="{196F8EEC-375B-4D6A-A0E3-F21801CC5EC2}" sibTransId="{AD6456D1-5069-4271-8D0B-AC5A530AC444}"/>
    <dgm:cxn modelId="{CA939681-B6BA-4C43-8B01-38ABE31A7CE8}" srcId="{30F576C3-025D-4553-97CF-78B1ED5F7425}" destId="{4B3E19DF-9210-4812-A836-3ED0BB38FD18}" srcOrd="4" destOrd="0" parTransId="{FA2E9A0E-51C7-415F-B2EC-1C364167B9A4}" sibTransId="{A62D381D-A719-42E5-901A-62C92BE39CE0}"/>
    <dgm:cxn modelId="{F59C1683-34E2-4510-A0DD-0A18188E8A5B}" srcId="{30F576C3-025D-4553-97CF-78B1ED5F7425}" destId="{5A12529C-78EC-4238-B86F-1FDB13353404}" srcOrd="2" destOrd="0" parTransId="{81F3BBA5-1F70-4CE6-87DF-C3745DDCBA8A}" sibTransId="{A45B318A-BFC1-4DD2-9F6F-B687EA7DADCF}"/>
    <dgm:cxn modelId="{671B6F8E-2DC1-4CE3-A3F9-726B028604F9}" srcId="{30F576C3-025D-4553-97CF-78B1ED5F7425}" destId="{EEA06B92-920F-42B7-86A4-0588FB0A5FF1}" srcOrd="0" destOrd="0" parTransId="{52FEF482-5640-4D44-8673-2612FDE69726}" sibTransId="{1056D12F-2830-4CDC-BB32-3AA914E4BCB4}"/>
    <dgm:cxn modelId="{BD2DAA98-95A3-F040-B40D-558CEC5DCC74}" type="presOf" srcId="{BAE65C11-B4AA-4612-8C73-B28CE52EF394}" destId="{2B2E38AF-D956-F644-8077-267BD6A2DA51}" srcOrd="0" destOrd="0" presId="urn:microsoft.com/office/officeart/2016/7/layout/VerticalSolidActionList"/>
    <dgm:cxn modelId="{0615BBA3-CF94-4537-A362-2B88009FC785}" srcId="{5A12529C-78EC-4238-B86F-1FDB13353404}" destId="{41A5F715-6FFA-4E31-8BC4-059564927504}" srcOrd="0" destOrd="0" parTransId="{34EFC6AC-ADF4-4923-B3A7-FD0FEB09E83E}" sibTransId="{45035242-6872-47EA-B251-AF975F75A175}"/>
    <dgm:cxn modelId="{CFB6F3AF-3279-3A43-86CD-A563F0A34D10}" type="presOf" srcId="{30F576C3-025D-4553-97CF-78B1ED5F7425}" destId="{FD835FF8-7239-8C41-890F-195345C6BEA4}" srcOrd="0" destOrd="0" presId="urn:microsoft.com/office/officeart/2016/7/layout/VerticalSolidActionList"/>
    <dgm:cxn modelId="{C53A12E2-640B-43ED-A098-21BA87C48EF4}" srcId="{BAE65C11-B4AA-4612-8C73-B28CE52EF394}" destId="{9C6308AA-28BB-4063-AF8F-113A2774E16B}" srcOrd="0" destOrd="0" parTransId="{6875518C-761C-442B-BCFD-B592D85A4810}" sibTransId="{178932FC-72E0-43ED-B39A-DFB05C97EDD0}"/>
    <dgm:cxn modelId="{A49DF4FA-95C3-AB4D-BCD9-59C0C8554D95}" type="presOf" srcId="{7E563139-710F-4363-AF65-334186616925}" destId="{89CB6C22-B01D-5C4C-82C7-5BCB99A20B88}" srcOrd="0" destOrd="0" presId="urn:microsoft.com/office/officeart/2016/7/layout/VerticalSolidActionList"/>
    <dgm:cxn modelId="{33C54019-CD52-F843-B2F3-55475D974A4D}" type="presParOf" srcId="{FD835FF8-7239-8C41-890F-195345C6BEA4}" destId="{4AD8F711-C399-7642-A62A-3E7D4D69DCFB}" srcOrd="0" destOrd="0" presId="urn:microsoft.com/office/officeart/2016/7/layout/VerticalSolidActionList"/>
    <dgm:cxn modelId="{2E3B23A8-F133-AB4E-BCC6-0DFDAAE492D7}" type="presParOf" srcId="{4AD8F711-C399-7642-A62A-3E7D4D69DCFB}" destId="{8991EA08-CD99-2E44-87DB-06A993EDFC19}" srcOrd="0" destOrd="0" presId="urn:microsoft.com/office/officeart/2016/7/layout/VerticalSolidActionList"/>
    <dgm:cxn modelId="{F46C2B36-41F0-C942-9B4C-E8558B1636BB}" type="presParOf" srcId="{4AD8F711-C399-7642-A62A-3E7D4D69DCFB}" destId="{542F9846-B345-C74B-8A6B-6202FC3AB921}" srcOrd="1" destOrd="0" presId="urn:microsoft.com/office/officeart/2016/7/layout/VerticalSolidActionList"/>
    <dgm:cxn modelId="{4F1F0A60-7391-BD4E-8BC0-5DF77CCB2EBF}" type="presParOf" srcId="{FD835FF8-7239-8C41-890F-195345C6BEA4}" destId="{F55D55F3-3F00-294D-A9D4-A7C5A44CFC10}" srcOrd="1" destOrd="0" presId="urn:microsoft.com/office/officeart/2016/7/layout/VerticalSolidActionList"/>
    <dgm:cxn modelId="{AE981CE4-D053-A341-B93F-D451ADB1DCEB}" type="presParOf" srcId="{FD835FF8-7239-8C41-890F-195345C6BEA4}" destId="{DD294BAA-7044-F84A-AEE7-841A3879CEDE}" srcOrd="2" destOrd="0" presId="urn:microsoft.com/office/officeart/2016/7/layout/VerticalSolidActionList"/>
    <dgm:cxn modelId="{F71D3517-CC13-784D-B4CD-EBC4137B71D0}" type="presParOf" srcId="{DD294BAA-7044-F84A-AEE7-841A3879CEDE}" destId="{2B2E38AF-D956-F644-8077-267BD6A2DA51}" srcOrd="0" destOrd="0" presId="urn:microsoft.com/office/officeart/2016/7/layout/VerticalSolidActionList"/>
    <dgm:cxn modelId="{7425DC52-36FC-5D41-96C2-3124186C41F1}" type="presParOf" srcId="{DD294BAA-7044-F84A-AEE7-841A3879CEDE}" destId="{CC08B7A5-247E-5B4A-ABF1-705B9BAFE3FD}" srcOrd="1" destOrd="0" presId="urn:microsoft.com/office/officeart/2016/7/layout/VerticalSolidActionList"/>
    <dgm:cxn modelId="{8D9F085C-B5DA-D349-A0E5-13A897E4DE2E}" type="presParOf" srcId="{FD835FF8-7239-8C41-890F-195345C6BEA4}" destId="{2260DC8C-D894-8A45-A5C3-238BE5A8E002}" srcOrd="3" destOrd="0" presId="urn:microsoft.com/office/officeart/2016/7/layout/VerticalSolidActionList"/>
    <dgm:cxn modelId="{C7FB2D26-779A-E043-9CF3-FE83E2B2821B}" type="presParOf" srcId="{FD835FF8-7239-8C41-890F-195345C6BEA4}" destId="{972ECEEA-F6D4-EE47-8F2D-9A3433E346D2}" srcOrd="4" destOrd="0" presId="urn:microsoft.com/office/officeart/2016/7/layout/VerticalSolidActionList"/>
    <dgm:cxn modelId="{DDAFA6CB-435E-5A4E-B2CB-63351B61F52C}" type="presParOf" srcId="{972ECEEA-F6D4-EE47-8F2D-9A3433E346D2}" destId="{A5F210A3-8D6D-054C-A60D-692E0424F6D2}" srcOrd="0" destOrd="0" presId="urn:microsoft.com/office/officeart/2016/7/layout/VerticalSolidActionList"/>
    <dgm:cxn modelId="{9C5397E5-50D0-B446-AC6D-68F1C28B9550}" type="presParOf" srcId="{972ECEEA-F6D4-EE47-8F2D-9A3433E346D2}" destId="{879F725D-3421-8546-BBF6-66BB94DCF734}" srcOrd="1" destOrd="0" presId="urn:microsoft.com/office/officeart/2016/7/layout/VerticalSolidActionList"/>
    <dgm:cxn modelId="{2CBAC1D3-8D39-2044-91D6-4B02B48F3EA1}" type="presParOf" srcId="{FD835FF8-7239-8C41-890F-195345C6BEA4}" destId="{434EF13F-BDAC-7E48-8177-F16CD679507B}" srcOrd="5" destOrd="0" presId="urn:microsoft.com/office/officeart/2016/7/layout/VerticalSolidActionList"/>
    <dgm:cxn modelId="{98124C18-297F-4D4D-B29E-F19D4EEBB68A}" type="presParOf" srcId="{FD835FF8-7239-8C41-890F-195345C6BEA4}" destId="{125B20A7-5B8B-364E-A0F2-7025FE13E203}" srcOrd="6" destOrd="0" presId="urn:microsoft.com/office/officeart/2016/7/layout/VerticalSolidActionList"/>
    <dgm:cxn modelId="{7874BA57-CB30-CB40-9B2A-878F89038D5D}" type="presParOf" srcId="{125B20A7-5B8B-364E-A0F2-7025FE13E203}" destId="{89CB6C22-B01D-5C4C-82C7-5BCB99A20B88}" srcOrd="0" destOrd="0" presId="urn:microsoft.com/office/officeart/2016/7/layout/VerticalSolidActionList"/>
    <dgm:cxn modelId="{5555E171-8565-744A-BFD6-E3E813A0C1FA}" type="presParOf" srcId="{125B20A7-5B8B-364E-A0F2-7025FE13E203}" destId="{D53E705B-2548-5742-AF85-11AD06710FC8}" srcOrd="1" destOrd="0" presId="urn:microsoft.com/office/officeart/2016/7/layout/VerticalSolidActionList"/>
    <dgm:cxn modelId="{725D4F79-EB35-AC43-ABA7-28CB08F57A47}" type="presParOf" srcId="{FD835FF8-7239-8C41-890F-195345C6BEA4}" destId="{76ACAEDB-7CC8-014B-8207-EEE3DF340000}" srcOrd="7" destOrd="0" presId="urn:microsoft.com/office/officeart/2016/7/layout/VerticalSolidActionList"/>
    <dgm:cxn modelId="{EC707C1C-8188-F54F-A037-EE0357B66ED2}" type="presParOf" srcId="{FD835FF8-7239-8C41-890F-195345C6BEA4}" destId="{F3D83866-42D2-B246-83F8-D6B2FCBF586A}" srcOrd="8" destOrd="0" presId="urn:microsoft.com/office/officeart/2016/7/layout/VerticalSolidActionList"/>
    <dgm:cxn modelId="{0B765CFF-18B8-D74E-BB05-2A7798A6EA92}" type="presParOf" srcId="{F3D83866-42D2-B246-83F8-D6B2FCBF586A}" destId="{2589C426-6D05-5244-90DE-5DDD38B7B7A5}" srcOrd="0" destOrd="0" presId="urn:microsoft.com/office/officeart/2016/7/layout/VerticalSolidActionList"/>
    <dgm:cxn modelId="{97CADCAB-57A1-8F4B-B8D6-CAB55074D4AE}" type="presParOf" srcId="{F3D83866-42D2-B246-83F8-D6B2FCBF586A}" destId="{9958463B-554F-9142-8F45-B303531E1BB6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2F9846-B345-C74B-8A6B-6202FC3AB921}">
      <dsp:nvSpPr>
        <dsp:cNvPr id="0" name=""/>
        <dsp:cNvSpPr/>
      </dsp:nvSpPr>
      <dsp:spPr>
        <a:xfrm>
          <a:off x="1316926" y="1401"/>
          <a:ext cx="5267707" cy="61510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208" tIns="156237" rIns="102208" bIns="156237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Know the principal bony features in and around the hip joint, and describe their appearance in plain X-rays</a:t>
          </a:r>
        </a:p>
      </dsp:txBody>
      <dsp:txXfrm>
        <a:off x="1316926" y="1401"/>
        <a:ext cx="5267707" cy="615108"/>
      </dsp:txXfrm>
    </dsp:sp>
    <dsp:sp modelId="{8991EA08-CD99-2E44-87DB-06A993EDFC19}">
      <dsp:nvSpPr>
        <dsp:cNvPr id="0" name=""/>
        <dsp:cNvSpPr/>
      </dsp:nvSpPr>
      <dsp:spPr>
        <a:xfrm>
          <a:off x="0" y="1401"/>
          <a:ext cx="1316926" cy="6151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687" tIns="60759" rIns="69687" bIns="6075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Know</a:t>
          </a:r>
        </a:p>
      </dsp:txBody>
      <dsp:txXfrm>
        <a:off x="0" y="1401"/>
        <a:ext cx="1316926" cy="615108"/>
      </dsp:txXfrm>
    </dsp:sp>
    <dsp:sp modelId="{CC08B7A5-247E-5B4A-ABF1-705B9BAFE3FD}">
      <dsp:nvSpPr>
        <dsp:cNvPr id="0" name=""/>
        <dsp:cNvSpPr/>
      </dsp:nvSpPr>
      <dsp:spPr>
        <a:xfrm>
          <a:off x="1316926" y="653416"/>
          <a:ext cx="5267707" cy="61510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208" tIns="156237" rIns="102208" bIns="156237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State the shape of the articular surfaces and describe the attachments of the capsule and synovium</a:t>
          </a:r>
        </a:p>
      </dsp:txBody>
      <dsp:txXfrm>
        <a:off x="1316926" y="653416"/>
        <a:ext cx="5267707" cy="615108"/>
      </dsp:txXfrm>
    </dsp:sp>
    <dsp:sp modelId="{2B2E38AF-D956-F644-8077-267BD6A2DA51}">
      <dsp:nvSpPr>
        <dsp:cNvPr id="0" name=""/>
        <dsp:cNvSpPr/>
      </dsp:nvSpPr>
      <dsp:spPr>
        <a:xfrm>
          <a:off x="0" y="653416"/>
          <a:ext cx="1316926" cy="6151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687" tIns="60759" rIns="69687" bIns="6075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State</a:t>
          </a:r>
        </a:p>
      </dsp:txBody>
      <dsp:txXfrm>
        <a:off x="0" y="653416"/>
        <a:ext cx="1316926" cy="615108"/>
      </dsp:txXfrm>
    </dsp:sp>
    <dsp:sp modelId="{879F725D-3421-8546-BBF6-66BB94DCF734}">
      <dsp:nvSpPr>
        <dsp:cNvPr id="0" name=""/>
        <dsp:cNvSpPr/>
      </dsp:nvSpPr>
      <dsp:spPr>
        <a:xfrm>
          <a:off x="1316926" y="1305430"/>
          <a:ext cx="5267707" cy="61510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208" tIns="156237" rIns="102208" bIns="156237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Describe the capsular and intra-capsular ligaments of the joint and know how they limit joint movement</a:t>
          </a:r>
        </a:p>
      </dsp:txBody>
      <dsp:txXfrm>
        <a:off x="1316926" y="1305430"/>
        <a:ext cx="5267707" cy="615108"/>
      </dsp:txXfrm>
    </dsp:sp>
    <dsp:sp modelId="{A5F210A3-8D6D-054C-A60D-692E0424F6D2}">
      <dsp:nvSpPr>
        <dsp:cNvPr id="0" name=""/>
        <dsp:cNvSpPr/>
      </dsp:nvSpPr>
      <dsp:spPr>
        <a:xfrm>
          <a:off x="0" y="1305430"/>
          <a:ext cx="1316926" cy="6151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687" tIns="60759" rIns="69687" bIns="6075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Describe</a:t>
          </a:r>
        </a:p>
      </dsp:txBody>
      <dsp:txXfrm>
        <a:off x="0" y="1305430"/>
        <a:ext cx="1316926" cy="615108"/>
      </dsp:txXfrm>
    </dsp:sp>
    <dsp:sp modelId="{D53E705B-2548-5742-AF85-11AD06710FC8}">
      <dsp:nvSpPr>
        <dsp:cNvPr id="0" name=""/>
        <dsp:cNvSpPr/>
      </dsp:nvSpPr>
      <dsp:spPr>
        <a:xfrm>
          <a:off x="1316926" y="1957445"/>
          <a:ext cx="5267707" cy="61510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208" tIns="156237" rIns="102208" bIns="156237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Describe the functions of the muscles surrounding the hip joint in terms of their attachment, actions, nerve supply and their role in stability </a:t>
          </a:r>
        </a:p>
      </dsp:txBody>
      <dsp:txXfrm>
        <a:off x="1316926" y="1957445"/>
        <a:ext cx="5267707" cy="615108"/>
      </dsp:txXfrm>
    </dsp:sp>
    <dsp:sp modelId="{89CB6C22-B01D-5C4C-82C7-5BCB99A20B88}">
      <dsp:nvSpPr>
        <dsp:cNvPr id="0" name=""/>
        <dsp:cNvSpPr/>
      </dsp:nvSpPr>
      <dsp:spPr>
        <a:xfrm>
          <a:off x="0" y="1957445"/>
          <a:ext cx="1316926" cy="6151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687" tIns="60759" rIns="69687" bIns="6075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Describe</a:t>
          </a:r>
        </a:p>
      </dsp:txBody>
      <dsp:txXfrm>
        <a:off x="0" y="1957445"/>
        <a:ext cx="1316926" cy="615108"/>
      </dsp:txXfrm>
    </dsp:sp>
    <dsp:sp modelId="{9958463B-554F-9142-8F45-B303531E1BB6}">
      <dsp:nvSpPr>
        <dsp:cNvPr id="0" name=""/>
        <dsp:cNvSpPr/>
      </dsp:nvSpPr>
      <dsp:spPr>
        <a:xfrm>
          <a:off x="1316926" y="2609460"/>
          <a:ext cx="5267707" cy="61510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208" tIns="156237" rIns="102208" bIns="156237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Describe the blood and nerve supply to the joint, and appreciate the significance of this supply in relation to hip fractures</a:t>
          </a:r>
        </a:p>
      </dsp:txBody>
      <dsp:txXfrm>
        <a:off x="1316926" y="2609460"/>
        <a:ext cx="5267707" cy="615108"/>
      </dsp:txXfrm>
    </dsp:sp>
    <dsp:sp modelId="{2589C426-6D05-5244-90DE-5DDD38B7B7A5}">
      <dsp:nvSpPr>
        <dsp:cNvPr id="0" name=""/>
        <dsp:cNvSpPr/>
      </dsp:nvSpPr>
      <dsp:spPr>
        <a:xfrm>
          <a:off x="0" y="2609460"/>
          <a:ext cx="1316926" cy="6151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687" tIns="60759" rIns="69687" bIns="6075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Describe</a:t>
          </a:r>
        </a:p>
      </dsp:txBody>
      <dsp:txXfrm>
        <a:off x="0" y="2609460"/>
        <a:ext cx="1316926" cy="6151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GB"/>
          </a:p>
        </p:txBody>
      </p:sp>
      <p:sp>
        <p:nvSpPr>
          <p:cNvPr id="368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en-GB"/>
          </a:p>
        </p:txBody>
      </p:sp>
      <p:sp>
        <p:nvSpPr>
          <p:cNvPr id="368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GB"/>
          </a:p>
        </p:txBody>
      </p:sp>
      <p:sp>
        <p:nvSpPr>
          <p:cNvPr id="368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BDF7F37D-3D12-4009-96E6-9F3B004647AE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70662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063F2C-51AC-40BB-BEF8-1D7E06B2E91E}" type="datetimeFigureOut">
              <a:rPr lang="en-GB" smtClean="0"/>
              <a:t>01/10/2023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FA220-731D-44E5-B2E5-1EE8099E46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9736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FA220-731D-44E5-B2E5-1EE8099E463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3936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FA220-731D-44E5-B2E5-1EE8099E463F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99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Pelvic 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FA220-731D-44E5-B2E5-1EE8099E463F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3364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FA220-731D-44E5-B2E5-1EE8099E463F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6858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FA220-731D-44E5-B2E5-1EE8099E463F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88089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FA220-731D-44E5-B2E5-1EE8099E463F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41024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FA220-731D-44E5-B2E5-1EE8099E463F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08321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Superior and inferior bands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FA220-731D-44E5-B2E5-1EE8099E463F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9337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FA220-731D-44E5-B2E5-1EE8099E463F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84447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FA220-731D-44E5-B2E5-1EE8099E463F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24262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FA220-731D-44E5-B2E5-1EE8099E463F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11222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FA220-731D-44E5-B2E5-1EE8099E463F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3546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2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1CBD3-C81C-4863-9FFA-606E633DD56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8295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 baseline="0"/>
            </a:lvl1pPr>
            <a:lvl2pPr>
              <a:defRPr sz="2000" baseline="0"/>
            </a:lvl2pPr>
            <a:lvl3pPr>
              <a:defRPr sz="2000" baseline="0"/>
            </a:lvl3pPr>
            <a:lvl4pPr>
              <a:defRPr sz="2000" baseline="0"/>
            </a:lvl4pPr>
            <a:lvl5pPr>
              <a:defRPr sz="2000" baseline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569F9-7A45-4BD6-9D82-C88574825E1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329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CFEE5-39CB-4C28-B59B-6AAC4DBEA2E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6959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41" y="2638044"/>
            <a:ext cx="3288023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8" y="2638044"/>
            <a:ext cx="3290516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7C32E-5F65-4FBB-A1FD-D14950D4A6F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951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8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8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8" y="2313438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4C182-014B-4E08-95E8-0C16722954A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747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2A551-EA8F-4303-A0F4-3D2E4E2A24F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7737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666BD-5463-428C-9288-4322A1D9BE7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956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5" y="2243833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4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EBE7D-3CF7-4E5B-BDC3-2660B5BF25E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2380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2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23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A57A-A26D-44C0-AC59-D15F495112F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1101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4BDE0-A50A-49E7-9F94-2B7B65CD84D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8182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BFA7-ABEF-48C0-B692-B5D3E382A14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205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7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7" y="2638048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4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C64C182-014B-4E08-95E8-0C16722954A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8788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images.wisegeek.com/xray-of-hip-bones.jpg"/>
          <p:cNvPicPr>
            <a:picLocks noChangeAspect="1" noChangeArrowheads="1"/>
          </p:cNvPicPr>
          <p:nvPr/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56" r="2" b="18633"/>
          <a:stretch/>
        </p:blipFill>
        <p:spPr bwMode="auto">
          <a:xfrm>
            <a:off x="20" y="10"/>
            <a:ext cx="9143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00150" y="2386744"/>
            <a:ext cx="6743700" cy="1645920"/>
          </a:xfrm>
          <a:noFill/>
          <a:ln w="38100" cap="sq">
            <a:solidFill>
              <a:schemeClr val="tx1"/>
            </a:solidFill>
            <a:miter lim="800000"/>
          </a:ln>
        </p:spPr>
        <p:txBody>
          <a:bodyPr anchor="ctr">
            <a:normAutofit/>
          </a:bodyPr>
          <a:lstStyle/>
          <a:p>
            <a:pPr eaLnBrk="1" hangingPunct="1"/>
            <a:r>
              <a:rPr lang="en-GB" b="1" dirty="0">
                <a:solidFill>
                  <a:schemeClr val="tx1"/>
                </a:solidFill>
              </a:rPr>
              <a:t>HIP ANATOMY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21399" y="4352544"/>
            <a:ext cx="5101209" cy="1239894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b="1" dirty="0">
                <a:solidFill>
                  <a:schemeClr val="tx1"/>
                </a:solidFill>
              </a:rPr>
              <a:t>PT7001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B4ED26-8480-12CE-9E63-D19F2050B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Learning Outcomes</a:t>
            </a:r>
            <a:br>
              <a:rPr lang="en-US" dirty="0"/>
            </a:br>
            <a:r>
              <a:rPr lang="en-US" sz="1200" cap="none" dirty="0"/>
              <a:t>By the end of the lecture students should be able to:</a:t>
            </a:r>
            <a:endParaRPr lang="en-US" sz="1200" dirty="0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DAECF76B-59E7-CFD8-0076-54E04B6D4D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2340716"/>
              </p:ext>
            </p:extLst>
          </p:nvPr>
        </p:nvGraphicFramePr>
        <p:xfrm>
          <a:off x="1279683" y="2023771"/>
          <a:ext cx="6584634" cy="32259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3798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indoor&#10;&#10;Description automatically generated">
            <a:extLst>
              <a:ext uri="{FF2B5EF4-FFF2-40B4-BE49-F238E27FC236}">
                <a16:creationId xmlns:a16="http://schemas.microsoft.com/office/drawing/2014/main" id="{3E5016CC-E20D-277B-43FC-1717BC6AF2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2" r="12201"/>
          <a:stretch/>
        </p:blipFill>
        <p:spPr>
          <a:xfrm>
            <a:off x="2" y="17229"/>
            <a:ext cx="8608597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E3F5A8-C73E-2D20-1197-9B468DF4BD33}"/>
              </a:ext>
            </a:extLst>
          </p:cNvPr>
          <p:cNvSpPr txBox="1"/>
          <p:nvPr/>
        </p:nvSpPr>
        <p:spPr>
          <a:xfrm>
            <a:off x="7522671" y="332656"/>
            <a:ext cx="1297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NEUTRAL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CD3429-193C-BF05-95C4-A7F35A5701FE}"/>
              </a:ext>
            </a:extLst>
          </p:cNvPr>
          <p:cNvSpPr txBox="1"/>
          <p:nvPr/>
        </p:nvSpPr>
        <p:spPr>
          <a:xfrm>
            <a:off x="7522671" y="70198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0°</a:t>
            </a:r>
          </a:p>
        </p:txBody>
      </p:sp>
    </p:spTree>
    <p:extLst>
      <p:ext uri="{BB962C8B-B14F-4D97-AF65-F5344CB8AC3E}">
        <p14:creationId xmlns:p14="http://schemas.microsoft.com/office/powerpoint/2010/main" val="617130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EA148B-6446-C84C-0180-E9E04A90A2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"/>
          <a:stretch/>
        </p:blipFill>
        <p:spPr>
          <a:xfrm>
            <a:off x="0" y="0"/>
            <a:ext cx="8718419" cy="68580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EF5A2A-869C-AC53-15AE-66DAF1EB9A87}"/>
              </a:ext>
            </a:extLst>
          </p:cNvPr>
          <p:cNvSpPr txBox="1"/>
          <p:nvPr/>
        </p:nvSpPr>
        <p:spPr>
          <a:xfrm>
            <a:off x="7596336" y="332656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5DE1B8-66B7-FD53-6EEC-DC0A2E84BAD2}"/>
                  </a:ext>
                </a:extLst>
              </p:cNvPr>
              <p:cNvSpPr txBox="1"/>
              <p:nvPr/>
            </p:nvSpPr>
            <p:spPr>
              <a:xfrm>
                <a:off x="7522671" y="701988"/>
                <a:ext cx="12241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100°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5DE1B8-66B7-FD53-6EEC-DC0A2E84BA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671" y="701988"/>
                <a:ext cx="1224136" cy="369332"/>
              </a:xfrm>
              <a:prstGeom prst="rect">
                <a:avLst/>
              </a:prstGeom>
              <a:blipFill>
                <a:blip r:embed="rId3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7804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indoor&#10;&#10;Description automatically generated">
            <a:extLst>
              <a:ext uri="{FF2B5EF4-FFF2-40B4-BE49-F238E27FC236}">
                <a16:creationId xmlns:a16="http://schemas.microsoft.com/office/drawing/2014/main" id="{E7529F59-8200-BDDE-7C0E-D2FE6D5C1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79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FC44F7C-7AD8-F688-E3A8-D747B66C972A}"/>
              </a:ext>
            </a:extLst>
          </p:cNvPr>
          <p:cNvSpPr txBox="1"/>
          <p:nvPr/>
        </p:nvSpPr>
        <p:spPr>
          <a:xfrm>
            <a:off x="7378655" y="332656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EXTENSION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F96B05E-5E29-5326-5C00-C0904E792245}"/>
                  </a:ext>
                </a:extLst>
              </p:cNvPr>
              <p:cNvSpPr txBox="1"/>
              <p:nvPr/>
            </p:nvSpPr>
            <p:spPr>
              <a:xfrm>
                <a:off x="7452320" y="701988"/>
                <a:ext cx="12241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3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0°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F96B05E-5E29-5326-5C00-C0904E792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320" y="701988"/>
                <a:ext cx="1224136" cy="369332"/>
              </a:xfrm>
              <a:prstGeom prst="rect">
                <a:avLst/>
              </a:prstGeom>
              <a:blipFill>
                <a:blip r:embed="rId3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1845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indoor&#10;&#10;Description automatically generated">
            <a:extLst>
              <a:ext uri="{FF2B5EF4-FFF2-40B4-BE49-F238E27FC236}">
                <a16:creationId xmlns:a16="http://schemas.microsoft.com/office/drawing/2014/main" id="{9ECE204B-2731-FBE6-FEF4-3DFCB9C9F0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38"/>
          <a:stretch/>
        </p:blipFill>
        <p:spPr>
          <a:xfrm>
            <a:off x="0" y="-27384"/>
            <a:ext cx="9144000" cy="688538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EAEC24C-3722-9406-E7A6-27C365246866}"/>
              </a:ext>
            </a:extLst>
          </p:cNvPr>
          <p:cNvSpPr txBox="1"/>
          <p:nvPr/>
        </p:nvSpPr>
        <p:spPr>
          <a:xfrm>
            <a:off x="7380312" y="332656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ABDUCTION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EBEA75-D161-C08A-DFED-4AAEAC266AF6}"/>
                  </a:ext>
                </a:extLst>
              </p:cNvPr>
              <p:cNvSpPr txBox="1"/>
              <p:nvPr/>
            </p:nvSpPr>
            <p:spPr>
              <a:xfrm>
                <a:off x="7522671" y="701988"/>
                <a:ext cx="12241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  <m:r>
                      <a:rPr lang="en-US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0°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EBEA75-D161-C08A-DFED-4AAEAC266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671" y="701988"/>
                <a:ext cx="1224136" cy="369332"/>
              </a:xfrm>
              <a:prstGeom prst="rect">
                <a:avLst/>
              </a:prstGeom>
              <a:blipFill>
                <a:blip r:embed="rId3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1114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indoor, close&#10;&#10;Description automatically generated">
            <a:extLst>
              <a:ext uri="{FF2B5EF4-FFF2-40B4-BE49-F238E27FC236}">
                <a16:creationId xmlns:a16="http://schemas.microsoft.com/office/drawing/2014/main" id="{1FF94DC4-C1A9-37FA-A844-F4D6228EDC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21"/>
          <a:stretch/>
        </p:blipFill>
        <p:spPr>
          <a:xfrm>
            <a:off x="0" y="-1116"/>
            <a:ext cx="9144000" cy="685911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368A67-5B7E-C076-F57D-8489858B0567}"/>
              </a:ext>
            </a:extLst>
          </p:cNvPr>
          <p:cNvSpPr txBox="1"/>
          <p:nvPr/>
        </p:nvSpPr>
        <p:spPr>
          <a:xfrm>
            <a:off x="7380312" y="332658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MEDIAL ROTATION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165A55-87A2-4BBE-B2F9-0D8005B49792}"/>
                  </a:ext>
                </a:extLst>
              </p:cNvPr>
              <p:cNvSpPr txBox="1"/>
              <p:nvPr/>
            </p:nvSpPr>
            <p:spPr>
              <a:xfrm>
                <a:off x="7522671" y="950323"/>
                <a:ext cx="12241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0°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165A55-87A2-4BBE-B2F9-0D8005B497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671" y="950323"/>
                <a:ext cx="1224136" cy="369332"/>
              </a:xfrm>
              <a:prstGeom prst="rect">
                <a:avLst/>
              </a:prstGeom>
              <a:blipFill>
                <a:blip r:embed="rId3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1437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indoor&#10;&#10;Description automatically generated">
            <a:extLst>
              <a:ext uri="{FF2B5EF4-FFF2-40B4-BE49-F238E27FC236}">
                <a16:creationId xmlns:a16="http://schemas.microsoft.com/office/drawing/2014/main" id="{D90CD9FC-D0E3-541E-0FAD-A3ECC09A49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81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906EEF-24DB-248F-2C03-FC41AE50108F}"/>
              </a:ext>
            </a:extLst>
          </p:cNvPr>
          <p:cNvSpPr txBox="1"/>
          <p:nvPr/>
        </p:nvSpPr>
        <p:spPr>
          <a:xfrm>
            <a:off x="7380312" y="332658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LATERAL ROTATION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4B3C05-7789-EBB6-B17D-594010017E27}"/>
                  </a:ext>
                </a:extLst>
              </p:cNvPr>
              <p:cNvSpPr txBox="1"/>
              <p:nvPr/>
            </p:nvSpPr>
            <p:spPr>
              <a:xfrm>
                <a:off x="7522671" y="950323"/>
                <a:ext cx="12241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5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0°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4B3C05-7789-EBB6-B17D-594010017E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671" y="950323"/>
                <a:ext cx="1224136" cy="369332"/>
              </a:xfrm>
              <a:prstGeom prst="rect">
                <a:avLst/>
              </a:prstGeom>
              <a:blipFill>
                <a:blip r:embed="rId3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2405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13FAE8A-AEF3-D3F2-44C1-31CD502AD783}"/>
              </a:ext>
            </a:extLst>
          </p:cNvPr>
          <p:cNvSpPr/>
          <p:nvPr/>
        </p:nvSpPr>
        <p:spPr>
          <a:xfrm>
            <a:off x="0" y="0"/>
            <a:ext cx="52920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CDDFF82-D652-8B64-D839-9D34751399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585" y="1274179"/>
            <a:ext cx="4206867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pPr eaLnBrk="1" hangingPunct="1"/>
            <a:r>
              <a:rPr lang="en-GB" sz="2400" dirty="0">
                <a:cs typeface="Lucida Sans Unicode" panose="020B0602030504020204" pitchFamily="34" charset="0"/>
              </a:rPr>
              <a:t>ACETABULOFEMORAL JOINT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B1300D8-3845-7F30-0DD0-84BF04BDB0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0959" y="2873828"/>
            <a:ext cx="4971123" cy="3579508"/>
          </a:xfrm>
        </p:spPr>
        <p:txBody>
          <a:bodyPr>
            <a:noAutofit/>
          </a:bodyPr>
          <a:lstStyle/>
          <a:p>
            <a:pPr eaLnBrk="1" hangingPunct="1">
              <a:buClr>
                <a:schemeClr val="bg1"/>
              </a:buClr>
            </a:pPr>
            <a:r>
              <a:rPr lang="en-GB" sz="1400" dirty="0">
                <a:solidFill>
                  <a:schemeClr val="tx1"/>
                </a:solidFill>
                <a:latin typeface="Arial" charset="0"/>
              </a:rPr>
              <a:t>Classification</a:t>
            </a:r>
            <a:r>
              <a:rPr lang="en-GB" sz="1400" dirty="0">
                <a:solidFill>
                  <a:srgbClr val="FFFFFF"/>
                </a:solidFill>
                <a:latin typeface="Arial" charset="0"/>
              </a:rPr>
              <a:t> = A Synovial Ball and Socket joint</a:t>
            </a:r>
          </a:p>
          <a:p>
            <a:pPr eaLnBrk="1" hangingPunct="1">
              <a:buClr>
                <a:schemeClr val="bg1"/>
              </a:buClr>
            </a:pPr>
            <a:r>
              <a:rPr lang="en-GB" sz="1400" dirty="0">
                <a:solidFill>
                  <a:schemeClr val="tx1"/>
                </a:solidFill>
                <a:latin typeface="Arial" charset="0"/>
              </a:rPr>
              <a:t>Movements available </a:t>
            </a:r>
            <a:r>
              <a:rPr lang="en-GB" sz="1400" dirty="0">
                <a:solidFill>
                  <a:srgbClr val="FFFFFF"/>
                </a:solidFill>
                <a:latin typeface="Arial" charset="0"/>
              </a:rPr>
              <a:t>= Flexion, Extension, 			      	     Adduction, Abduction, 		     	     Medial &amp; Lateral rotation         </a:t>
            </a:r>
          </a:p>
          <a:p>
            <a:pPr eaLnBrk="1" hangingPunct="1">
              <a:buClr>
                <a:schemeClr val="bg1"/>
              </a:buClr>
            </a:pPr>
            <a:r>
              <a:rPr lang="en-GB" sz="1400" dirty="0">
                <a:solidFill>
                  <a:schemeClr val="tx1"/>
                </a:solidFill>
                <a:latin typeface="Arial" charset="0"/>
              </a:rPr>
              <a:t>Planes of movement </a:t>
            </a:r>
            <a:r>
              <a:rPr lang="en-GB" sz="1400" dirty="0">
                <a:solidFill>
                  <a:srgbClr val="FFFFFF"/>
                </a:solidFill>
                <a:latin typeface="Arial" charset="0"/>
              </a:rPr>
              <a:t>= Sagittal				     	     Frontal			  	     	    Transverse</a:t>
            </a:r>
          </a:p>
          <a:p>
            <a:pPr eaLnBrk="1" hangingPunct="1">
              <a:buClr>
                <a:schemeClr val="bg1"/>
              </a:buClr>
            </a:pPr>
            <a:r>
              <a:rPr lang="en-GB" sz="1400" dirty="0">
                <a:solidFill>
                  <a:schemeClr val="tx1"/>
                </a:solidFill>
                <a:latin typeface="Arial" charset="0"/>
              </a:rPr>
              <a:t>Multi-axial </a:t>
            </a:r>
            <a:r>
              <a:rPr lang="en-GB" sz="1400" dirty="0">
                <a:solidFill>
                  <a:srgbClr val="FFFFFF"/>
                </a:solidFill>
                <a:latin typeface="Arial" charset="0"/>
              </a:rPr>
              <a:t>= Medial-Lateral      		      	      	      Anterior-Posterior		         	      	      Superior-Inferior</a:t>
            </a:r>
          </a:p>
          <a:p>
            <a:pPr eaLnBrk="1" hangingPunct="1">
              <a:buClr>
                <a:schemeClr val="bg1"/>
              </a:buClr>
            </a:pPr>
            <a:endParaRPr lang="en-GB" sz="1400" dirty="0">
              <a:solidFill>
                <a:srgbClr val="FFFFFF"/>
              </a:solidFill>
              <a:latin typeface="Arial" charset="0"/>
            </a:endParaRPr>
          </a:p>
          <a:p>
            <a:pPr marL="0" indent="0">
              <a:buClr>
                <a:schemeClr val="bg1"/>
              </a:buClr>
              <a:buNone/>
            </a:pPr>
            <a:r>
              <a:rPr lang="en-GB" sz="1400" dirty="0">
                <a:solidFill>
                  <a:schemeClr val="tx1"/>
                </a:solidFill>
                <a:latin typeface="Arial" charset="0"/>
              </a:rPr>
              <a:t>DEEP - gives STABILITY but compromises on MOBILITY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45AE5C2-61B9-7450-AADF-4A983B7B247C}"/>
              </a:ext>
            </a:extLst>
          </p:cNvPr>
          <p:cNvGrpSpPr/>
          <p:nvPr/>
        </p:nvGrpSpPr>
        <p:grpSpPr>
          <a:xfrm>
            <a:off x="1319127" y="293612"/>
            <a:ext cx="5267707" cy="615108"/>
            <a:chOff x="1316926" y="1401"/>
            <a:chExt cx="5267707" cy="61510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3497D44-6216-BF33-E01A-254CC4E422B9}"/>
                </a:ext>
              </a:extLst>
            </p:cNvPr>
            <p:cNvSpPr/>
            <p:nvPr/>
          </p:nvSpPr>
          <p:spPr>
            <a:xfrm>
              <a:off x="1316926" y="1401"/>
              <a:ext cx="5267707" cy="615108"/>
            </a:xfrm>
            <a:prstGeom prst="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E2864A0-7873-E6B7-7FE1-63C67A25F3F1}"/>
                </a:ext>
              </a:extLst>
            </p:cNvPr>
            <p:cNvSpPr txBox="1"/>
            <p:nvPr/>
          </p:nvSpPr>
          <p:spPr>
            <a:xfrm>
              <a:off x="1316926" y="1401"/>
              <a:ext cx="5267707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2208" tIns="156237" rIns="102208" bIns="156237" numCol="1" spcCol="1270" anchor="ctr" anchorCtr="0">
              <a:noAutofit/>
            </a:bodyPr>
            <a:lstStyle/>
            <a:p>
              <a:pPr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dirty="0"/>
                <a:t>Know the principal bony features in and around the hip joint, and describe their appearance in plain X-rays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19BBCF-D895-70DA-AAB3-C69535D853DF}"/>
              </a:ext>
            </a:extLst>
          </p:cNvPr>
          <p:cNvGrpSpPr/>
          <p:nvPr/>
        </p:nvGrpSpPr>
        <p:grpSpPr>
          <a:xfrm>
            <a:off x="2199" y="293612"/>
            <a:ext cx="1316926" cy="615108"/>
            <a:chOff x="0" y="1401"/>
            <a:chExt cx="1316926" cy="6151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55365A9-703F-3983-6C74-AE9FF26277AF}"/>
                </a:ext>
              </a:extLst>
            </p:cNvPr>
            <p:cNvSpPr/>
            <p:nvPr/>
          </p:nvSpPr>
          <p:spPr>
            <a:xfrm>
              <a:off x="0" y="1401"/>
              <a:ext cx="1316926" cy="615108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D25D8EB-84B6-6F33-1452-131DA7FA724C}"/>
                </a:ext>
              </a:extLst>
            </p:cNvPr>
            <p:cNvSpPr txBox="1"/>
            <p:nvPr/>
          </p:nvSpPr>
          <p:spPr>
            <a:xfrm>
              <a:off x="0" y="1401"/>
              <a:ext cx="1316926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687" tIns="60759" rIns="69687" bIns="6075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/>
                <a:t>Know</a:t>
              </a:r>
            </a:p>
          </p:txBody>
        </p:sp>
      </p:grpSp>
      <p:pic>
        <p:nvPicPr>
          <p:cNvPr id="16" name="Picture 15" descr="A picture containing indoor&#10;&#10;Description automatically generated">
            <a:extLst>
              <a:ext uri="{FF2B5EF4-FFF2-40B4-BE49-F238E27FC236}">
                <a16:creationId xmlns:a16="http://schemas.microsoft.com/office/drawing/2014/main" id="{0C39ECCE-B869-CFB7-34DD-641FF111C4B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5" t="2758"/>
          <a:stretch/>
        </p:blipFill>
        <p:spPr>
          <a:xfrm>
            <a:off x="4680452" y="2873830"/>
            <a:ext cx="4142593" cy="2140513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1316809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13FAE8A-AEF3-D3F2-44C1-31CD502AD783}"/>
              </a:ext>
            </a:extLst>
          </p:cNvPr>
          <p:cNvSpPr/>
          <p:nvPr/>
        </p:nvSpPr>
        <p:spPr>
          <a:xfrm>
            <a:off x="0" y="0"/>
            <a:ext cx="52920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CDDFF82-D652-8B64-D839-9D34751399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585" y="1274179"/>
            <a:ext cx="4206867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pPr eaLnBrk="1" hangingPunct="1"/>
            <a:r>
              <a:rPr lang="en-GB" sz="2400" dirty="0">
                <a:cs typeface="Lucida Sans Unicode" panose="020B0602030504020204" pitchFamily="34" charset="0"/>
              </a:rPr>
              <a:t>ACETABULOFEMORAL JOINT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B1300D8-3845-7F30-0DD0-84BF04BDB0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3505" y="2858705"/>
            <a:ext cx="3964343" cy="3042547"/>
          </a:xfrm>
        </p:spPr>
        <p:txBody>
          <a:bodyPr>
            <a:normAutofit/>
          </a:bodyPr>
          <a:lstStyle/>
          <a:p>
            <a:pPr marL="0" indent="0"/>
            <a:r>
              <a:rPr lang="en-GB" b="1" dirty="0">
                <a:solidFill>
                  <a:srgbClr val="FFFFFF"/>
                </a:solidFill>
                <a:latin typeface="Arial" charset="0"/>
              </a:rPr>
              <a:t>• </a:t>
            </a:r>
            <a:r>
              <a:rPr lang="en-GB" b="1" dirty="0">
                <a:solidFill>
                  <a:schemeClr val="tx1"/>
                </a:solidFill>
                <a:latin typeface="Arial" charset="0"/>
              </a:rPr>
              <a:t>Acetabulum</a:t>
            </a:r>
          </a:p>
          <a:p>
            <a:pPr lvl="1"/>
            <a:r>
              <a:rPr lang="en-GB" dirty="0">
                <a:solidFill>
                  <a:srgbClr val="FFFFFF"/>
                </a:solidFill>
                <a:latin typeface="Arial" charset="0"/>
              </a:rPr>
              <a:t>- Ilium</a:t>
            </a:r>
          </a:p>
          <a:p>
            <a:pPr lvl="1"/>
            <a:r>
              <a:rPr lang="en-GB" dirty="0">
                <a:solidFill>
                  <a:srgbClr val="FFFFFF"/>
                </a:solidFill>
                <a:latin typeface="Arial" charset="0"/>
              </a:rPr>
              <a:t>- Ischium</a:t>
            </a:r>
          </a:p>
          <a:p>
            <a:pPr lvl="1"/>
            <a:r>
              <a:rPr lang="en-GB" dirty="0">
                <a:solidFill>
                  <a:srgbClr val="FFFFFF"/>
                </a:solidFill>
                <a:latin typeface="Arial" charset="0"/>
              </a:rPr>
              <a:t>- Pubis</a:t>
            </a:r>
          </a:p>
          <a:p>
            <a:pPr marL="0" indent="0"/>
            <a:r>
              <a:rPr lang="en-GB" b="1" dirty="0">
                <a:solidFill>
                  <a:srgbClr val="FFFFFF"/>
                </a:solidFill>
                <a:latin typeface="Arial" charset="0"/>
              </a:rPr>
              <a:t>• </a:t>
            </a:r>
            <a:r>
              <a:rPr lang="en-GB" b="1" dirty="0">
                <a:solidFill>
                  <a:schemeClr val="tx1"/>
                </a:solidFill>
                <a:latin typeface="Arial" charset="0"/>
              </a:rPr>
              <a:t>Femur</a:t>
            </a:r>
            <a:endParaRPr lang="en-GB" b="1" u="sng" dirty="0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6" name="Picture 19" descr="Innominate bone">
            <a:extLst>
              <a:ext uri="{FF2B5EF4-FFF2-40B4-BE49-F238E27FC236}">
                <a16:creationId xmlns:a16="http://schemas.microsoft.com/office/drawing/2014/main" id="{7E271C8E-7997-38CA-7B4B-31CDB75E6DA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4858701" y="937054"/>
            <a:ext cx="3811716" cy="5619558"/>
          </a:xfrm>
          <a:prstGeom prst="rect">
            <a:avLst/>
          </a:prstGeom>
          <a:noFill/>
        </p:spPr>
      </p:pic>
      <p:sp>
        <p:nvSpPr>
          <p:cNvPr id="7" name="Left Brace 6">
            <a:extLst>
              <a:ext uri="{FF2B5EF4-FFF2-40B4-BE49-F238E27FC236}">
                <a16:creationId xmlns:a16="http://schemas.microsoft.com/office/drawing/2014/main" id="{D5FE5566-F804-DBC3-BECB-8792879C9D6D}"/>
              </a:ext>
            </a:extLst>
          </p:cNvPr>
          <p:cNvSpPr/>
          <p:nvPr/>
        </p:nvSpPr>
        <p:spPr>
          <a:xfrm flipH="1">
            <a:off x="2197632" y="3371389"/>
            <a:ext cx="576064" cy="1152128"/>
          </a:xfrm>
          <a:prstGeom prst="leftBrac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56D3425-0005-DB4D-9DEE-5B087DA4F7A7}"/>
              </a:ext>
            </a:extLst>
          </p:cNvPr>
          <p:cNvSpPr txBox="1">
            <a:spLocks noChangeArrowheads="1"/>
          </p:cNvSpPr>
          <p:nvPr/>
        </p:nvSpPr>
        <p:spPr>
          <a:xfrm>
            <a:off x="2773696" y="3425543"/>
            <a:ext cx="1906754" cy="1374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44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en-GB" dirty="0">
                <a:solidFill>
                  <a:srgbClr val="FFFFFF"/>
                </a:solidFill>
                <a:latin typeface="Arial" charset="0"/>
              </a:rPr>
              <a:t>Fuse to form the innominate bone</a:t>
            </a:r>
            <a:endParaRPr lang="en-GB" b="1" u="sng" dirty="0">
              <a:solidFill>
                <a:srgbClr val="FFFFFF"/>
              </a:solidFill>
              <a:latin typeface="Arial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45AE5C2-61B9-7450-AADF-4A983B7B247C}"/>
              </a:ext>
            </a:extLst>
          </p:cNvPr>
          <p:cNvGrpSpPr/>
          <p:nvPr/>
        </p:nvGrpSpPr>
        <p:grpSpPr>
          <a:xfrm>
            <a:off x="1319127" y="293612"/>
            <a:ext cx="5267707" cy="615108"/>
            <a:chOff x="1316926" y="1401"/>
            <a:chExt cx="5267707" cy="61510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3497D44-6216-BF33-E01A-254CC4E422B9}"/>
                </a:ext>
              </a:extLst>
            </p:cNvPr>
            <p:cNvSpPr/>
            <p:nvPr/>
          </p:nvSpPr>
          <p:spPr>
            <a:xfrm>
              <a:off x="1316926" y="1401"/>
              <a:ext cx="5267707" cy="615108"/>
            </a:xfrm>
            <a:prstGeom prst="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E2864A0-7873-E6B7-7FE1-63C67A25F3F1}"/>
                </a:ext>
              </a:extLst>
            </p:cNvPr>
            <p:cNvSpPr txBox="1"/>
            <p:nvPr/>
          </p:nvSpPr>
          <p:spPr>
            <a:xfrm>
              <a:off x="1316926" y="1401"/>
              <a:ext cx="5267707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2208" tIns="156237" rIns="102208" bIns="156237" numCol="1" spcCol="1270" anchor="ctr" anchorCtr="0">
              <a:noAutofit/>
            </a:bodyPr>
            <a:lstStyle/>
            <a:p>
              <a:pPr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dirty="0"/>
                <a:t>Know the principal bony features in and around the hip joint, and describe their appearance in plain X-rays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19BBCF-D895-70DA-AAB3-C69535D853DF}"/>
              </a:ext>
            </a:extLst>
          </p:cNvPr>
          <p:cNvGrpSpPr/>
          <p:nvPr/>
        </p:nvGrpSpPr>
        <p:grpSpPr>
          <a:xfrm>
            <a:off x="2199" y="293612"/>
            <a:ext cx="1316926" cy="615108"/>
            <a:chOff x="0" y="1401"/>
            <a:chExt cx="1316926" cy="6151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55365A9-703F-3983-6C74-AE9FF26277AF}"/>
                </a:ext>
              </a:extLst>
            </p:cNvPr>
            <p:cNvSpPr/>
            <p:nvPr/>
          </p:nvSpPr>
          <p:spPr>
            <a:xfrm>
              <a:off x="0" y="1401"/>
              <a:ext cx="1316926" cy="615108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D25D8EB-84B6-6F33-1452-131DA7FA724C}"/>
                </a:ext>
              </a:extLst>
            </p:cNvPr>
            <p:cNvSpPr txBox="1"/>
            <p:nvPr/>
          </p:nvSpPr>
          <p:spPr>
            <a:xfrm>
              <a:off x="0" y="1401"/>
              <a:ext cx="1316926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687" tIns="60759" rIns="69687" bIns="6075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/>
                <a:t>Know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78156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13FAE8A-AEF3-D3F2-44C1-31CD502AD783}"/>
              </a:ext>
            </a:extLst>
          </p:cNvPr>
          <p:cNvSpPr/>
          <p:nvPr/>
        </p:nvSpPr>
        <p:spPr>
          <a:xfrm>
            <a:off x="0" y="0"/>
            <a:ext cx="52920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45AE5C2-61B9-7450-AADF-4A983B7B247C}"/>
              </a:ext>
            </a:extLst>
          </p:cNvPr>
          <p:cNvGrpSpPr/>
          <p:nvPr/>
        </p:nvGrpSpPr>
        <p:grpSpPr>
          <a:xfrm>
            <a:off x="1319127" y="293612"/>
            <a:ext cx="5267707" cy="615108"/>
            <a:chOff x="1316926" y="1401"/>
            <a:chExt cx="5267707" cy="61510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3497D44-6216-BF33-E01A-254CC4E422B9}"/>
                </a:ext>
              </a:extLst>
            </p:cNvPr>
            <p:cNvSpPr/>
            <p:nvPr/>
          </p:nvSpPr>
          <p:spPr>
            <a:xfrm>
              <a:off x="1316926" y="1401"/>
              <a:ext cx="5267707" cy="615108"/>
            </a:xfrm>
            <a:prstGeom prst="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E2864A0-7873-E6B7-7FE1-63C67A25F3F1}"/>
                </a:ext>
              </a:extLst>
            </p:cNvPr>
            <p:cNvSpPr txBox="1"/>
            <p:nvPr/>
          </p:nvSpPr>
          <p:spPr>
            <a:xfrm>
              <a:off x="1316926" y="1401"/>
              <a:ext cx="5267707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2208" tIns="156237" rIns="102208" bIns="156237" numCol="1" spcCol="1270" anchor="ctr" anchorCtr="0">
              <a:noAutofit/>
            </a:bodyPr>
            <a:lstStyle/>
            <a:p>
              <a:pPr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dirty="0"/>
                <a:t>Know the principal bony features in and around the hip joint, and describe their appearance in plain X-rays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19BBCF-D895-70DA-AAB3-C69535D853DF}"/>
              </a:ext>
            </a:extLst>
          </p:cNvPr>
          <p:cNvGrpSpPr/>
          <p:nvPr/>
        </p:nvGrpSpPr>
        <p:grpSpPr>
          <a:xfrm>
            <a:off x="2199" y="293612"/>
            <a:ext cx="1316926" cy="615108"/>
            <a:chOff x="0" y="1401"/>
            <a:chExt cx="1316926" cy="6151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55365A9-703F-3983-6C74-AE9FF26277AF}"/>
                </a:ext>
              </a:extLst>
            </p:cNvPr>
            <p:cNvSpPr/>
            <p:nvPr/>
          </p:nvSpPr>
          <p:spPr>
            <a:xfrm>
              <a:off x="0" y="1401"/>
              <a:ext cx="1316926" cy="615108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D25D8EB-84B6-6F33-1452-131DA7FA724C}"/>
                </a:ext>
              </a:extLst>
            </p:cNvPr>
            <p:cNvSpPr txBox="1"/>
            <p:nvPr/>
          </p:nvSpPr>
          <p:spPr>
            <a:xfrm>
              <a:off x="0" y="1401"/>
              <a:ext cx="1316926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687" tIns="60759" rIns="69687" bIns="6075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/>
                <a:t>Know</a:t>
              </a:r>
            </a:p>
          </p:txBody>
        </p:sp>
      </p:grpSp>
      <p:pic>
        <p:nvPicPr>
          <p:cNvPr id="19" name="Picture 18" descr="Diagram&#10;&#10;Description automatically generated">
            <a:extLst>
              <a:ext uri="{FF2B5EF4-FFF2-40B4-BE49-F238E27FC236}">
                <a16:creationId xmlns:a16="http://schemas.microsoft.com/office/drawing/2014/main" id="{B3DD3D6B-96D8-AFFF-D0BA-634390D5B1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202333"/>
            <a:ext cx="8554986" cy="4890964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2360191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981B1B8-BEB6-6B59-9E2F-0686BF9F350B}"/>
              </a:ext>
            </a:extLst>
          </p:cNvPr>
          <p:cNvSpPr/>
          <p:nvPr/>
        </p:nvSpPr>
        <p:spPr>
          <a:xfrm>
            <a:off x="0" y="0"/>
            <a:ext cx="52920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D2F8C7A-19F2-7FA3-4559-E10BFB165BCA}"/>
              </a:ext>
            </a:extLst>
          </p:cNvPr>
          <p:cNvGrpSpPr/>
          <p:nvPr/>
        </p:nvGrpSpPr>
        <p:grpSpPr>
          <a:xfrm>
            <a:off x="1319127" y="293612"/>
            <a:ext cx="5267707" cy="615108"/>
            <a:chOff x="1316926" y="1401"/>
            <a:chExt cx="5267707" cy="61510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EB20C08-4EFC-21FC-41A1-B3A1C05CBF4C}"/>
                </a:ext>
              </a:extLst>
            </p:cNvPr>
            <p:cNvSpPr/>
            <p:nvPr/>
          </p:nvSpPr>
          <p:spPr>
            <a:xfrm>
              <a:off x="1316926" y="1401"/>
              <a:ext cx="5267707" cy="615108"/>
            </a:xfrm>
            <a:prstGeom prst="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23EF08F-6831-8D98-4132-0AC56C5C93A9}"/>
                </a:ext>
              </a:extLst>
            </p:cNvPr>
            <p:cNvSpPr txBox="1"/>
            <p:nvPr/>
          </p:nvSpPr>
          <p:spPr>
            <a:xfrm>
              <a:off x="1316926" y="1401"/>
              <a:ext cx="5267707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2208" tIns="156237" rIns="102208" bIns="156237" numCol="1" spcCol="1270" anchor="ctr" anchorCtr="0">
              <a:noAutofit/>
            </a:bodyPr>
            <a:lstStyle/>
            <a:p>
              <a:pPr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dirty="0"/>
                <a:t>Know the principal bony features in and around the hip joint, and describe their appearance in plain X-rays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E805645-5EC3-EEEE-716B-7E56459D0727}"/>
              </a:ext>
            </a:extLst>
          </p:cNvPr>
          <p:cNvGrpSpPr/>
          <p:nvPr/>
        </p:nvGrpSpPr>
        <p:grpSpPr>
          <a:xfrm>
            <a:off x="2199" y="293612"/>
            <a:ext cx="1316926" cy="615108"/>
            <a:chOff x="0" y="1401"/>
            <a:chExt cx="1316926" cy="6151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81F843-0955-075B-6694-9F626076371F}"/>
                </a:ext>
              </a:extLst>
            </p:cNvPr>
            <p:cNvSpPr/>
            <p:nvPr/>
          </p:nvSpPr>
          <p:spPr>
            <a:xfrm>
              <a:off x="0" y="1401"/>
              <a:ext cx="1316926" cy="615108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27033A1-D5B6-438F-E263-D3BFA96F2DBC}"/>
                </a:ext>
              </a:extLst>
            </p:cNvPr>
            <p:cNvSpPr txBox="1"/>
            <p:nvPr/>
          </p:nvSpPr>
          <p:spPr>
            <a:xfrm>
              <a:off x="0" y="1401"/>
              <a:ext cx="1316926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687" tIns="60759" rIns="69687" bIns="6075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/>
                <a:t>Know</a:t>
              </a:r>
            </a:p>
          </p:txBody>
        </p:sp>
      </p:grp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384417" y="1700810"/>
            <a:ext cx="2538623" cy="4104454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buClr>
                <a:schemeClr val="bg1"/>
              </a:buClr>
              <a:buFont typeface="Wingdings" pitchFamily="2" charset="2"/>
              <a:buNone/>
              <a:defRPr/>
            </a:pPr>
            <a:r>
              <a:rPr lang="en-GB" sz="1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 Femur</a:t>
            </a:r>
          </a:p>
          <a:p>
            <a:pPr eaLnBrk="1" hangingPunct="1">
              <a:lnSpc>
                <a:spcPct val="90000"/>
              </a:lnSpc>
              <a:buClr>
                <a:schemeClr val="bg1"/>
              </a:buClr>
              <a:defRPr/>
            </a:pPr>
            <a:r>
              <a:rPr lang="en-GB" sz="18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Head </a:t>
            </a:r>
          </a:p>
          <a:p>
            <a:pPr eaLnBrk="1" hangingPunct="1">
              <a:lnSpc>
                <a:spcPct val="90000"/>
              </a:lnSpc>
              <a:buClr>
                <a:schemeClr val="bg1"/>
              </a:buClr>
              <a:defRPr/>
            </a:pPr>
            <a:r>
              <a:rPr lang="en-GB" sz="18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Neck</a:t>
            </a:r>
          </a:p>
          <a:p>
            <a:pPr eaLnBrk="1" hangingPunct="1">
              <a:lnSpc>
                <a:spcPct val="90000"/>
              </a:lnSpc>
              <a:buClr>
                <a:schemeClr val="bg1"/>
              </a:buClr>
              <a:defRPr/>
            </a:pPr>
            <a:r>
              <a:rPr lang="en-GB" sz="18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Greater trochanter </a:t>
            </a:r>
          </a:p>
          <a:p>
            <a:pPr eaLnBrk="1" hangingPunct="1">
              <a:lnSpc>
                <a:spcPct val="90000"/>
              </a:lnSpc>
              <a:buClr>
                <a:schemeClr val="bg1"/>
              </a:buClr>
              <a:defRPr/>
            </a:pPr>
            <a:r>
              <a:rPr lang="en-GB" sz="18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Lesser trochanter </a:t>
            </a:r>
          </a:p>
          <a:p>
            <a:pPr eaLnBrk="1" hangingPunct="1">
              <a:lnSpc>
                <a:spcPct val="90000"/>
              </a:lnSpc>
              <a:buClr>
                <a:schemeClr val="bg1"/>
              </a:buClr>
              <a:defRPr/>
            </a:pPr>
            <a:r>
              <a:rPr lang="en-GB" sz="18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Shaft </a:t>
            </a:r>
          </a:p>
          <a:p>
            <a:pPr eaLnBrk="1" hangingPunct="1">
              <a:lnSpc>
                <a:spcPct val="90000"/>
              </a:lnSpc>
              <a:buClr>
                <a:schemeClr val="bg1"/>
              </a:buClr>
              <a:defRPr/>
            </a:pPr>
            <a:r>
              <a:rPr lang="en-GB" sz="18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Linea aspera </a:t>
            </a:r>
          </a:p>
          <a:p>
            <a:pPr eaLnBrk="1" hangingPunct="1">
              <a:lnSpc>
                <a:spcPct val="90000"/>
              </a:lnSpc>
              <a:buClr>
                <a:schemeClr val="bg1"/>
              </a:buClr>
              <a:defRPr/>
            </a:pPr>
            <a:endParaRPr lang="en-GB" sz="1800" dirty="0">
              <a:solidFill>
                <a:srgbClr val="FFFFFF"/>
              </a:solidFill>
              <a:latin typeface="Arial" pitchFamily="34" charset="0"/>
              <a:cs typeface="Arial" pitchFamily="34" charset="0"/>
            </a:endParaRPr>
          </a:p>
          <a:p>
            <a:pPr marL="0" indent="0" eaLnBrk="1" hangingPunct="1">
              <a:lnSpc>
                <a:spcPct val="90000"/>
              </a:lnSpc>
              <a:buClr>
                <a:schemeClr val="bg1"/>
              </a:buClr>
              <a:buNone/>
              <a:defRPr/>
            </a:pPr>
            <a:r>
              <a:rPr lang="en-GB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Trochanter = Greek ‘to run’</a:t>
            </a:r>
          </a:p>
          <a:p>
            <a:pPr marL="0" indent="0" eaLnBrk="1" hangingPunct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  <a:buNone/>
              <a:defRPr/>
            </a:pPr>
            <a:r>
              <a:rPr lang="en-GB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 running muscles attach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53912992-14D9-8CAF-CBA0-2935225155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46" b="5896"/>
          <a:stretch/>
        </p:blipFill>
        <p:spPr>
          <a:xfrm>
            <a:off x="3131839" y="963161"/>
            <a:ext cx="5627746" cy="5634193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2379351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13FAE8A-AEF3-D3F2-44C1-31CD502AD783}"/>
              </a:ext>
            </a:extLst>
          </p:cNvPr>
          <p:cNvSpPr/>
          <p:nvPr/>
        </p:nvSpPr>
        <p:spPr>
          <a:xfrm>
            <a:off x="0" y="0"/>
            <a:ext cx="52920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45AE5C2-61B9-7450-AADF-4A983B7B247C}"/>
              </a:ext>
            </a:extLst>
          </p:cNvPr>
          <p:cNvGrpSpPr/>
          <p:nvPr/>
        </p:nvGrpSpPr>
        <p:grpSpPr>
          <a:xfrm>
            <a:off x="1319127" y="293612"/>
            <a:ext cx="5267707" cy="615108"/>
            <a:chOff x="1316926" y="1401"/>
            <a:chExt cx="5267707" cy="61510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3497D44-6216-BF33-E01A-254CC4E422B9}"/>
                </a:ext>
              </a:extLst>
            </p:cNvPr>
            <p:cNvSpPr/>
            <p:nvPr/>
          </p:nvSpPr>
          <p:spPr>
            <a:xfrm>
              <a:off x="1316926" y="1401"/>
              <a:ext cx="5267707" cy="615108"/>
            </a:xfrm>
            <a:prstGeom prst="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E2864A0-7873-E6B7-7FE1-63C67A25F3F1}"/>
                </a:ext>
              </a:extLst>
            </p:cNvPr>
            <p:cNvSpPr txBox="1"/>
            <p:nvPr/>
          </p:nvSpPr>
          <p:spPr>
            <a:xfrm>
              <a:off x="1316926" y="1401"/>
              <a:ext cx="5267707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2208" tIns="156237" rIns="102208" bIns="156237" numCol="1" spcCol="1270" anchor="ctr" anchorCtr="0">
              <a:noAutofit/>
            </a:bodyPr>
            <a:lstStyle/>
            <a:p>
              <a:pPr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dirty="0"/>
                <a:t>Know the principal bony features in and around the hip joint, and describe their appearance in plain X-rays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19BBCF-D895-70DA-AAB3-C69535D853DF}"/>
              </a:ext>
            </a:extLst>
          </p:cNvPr>
          <p:cNvGrpSpPr/>
          <p:nvPr/>
        </p:nvGrpSpPr>
        <p:grpSpPr>
          <a:xfrm>
            <a:off x="2199" y="293612"/>
            <a:ext cx="1316926" cy="615108"/>
            <a:chOff x="0" y="1401"/>
            <a:chExt cx="1316926" cy="6151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55365A9-703F-3983-6C74-AE9FF26277AF}"/>
                </a:ext>
              </a:extLst>
            </p:cNvPr>
            <p:cNvSpPr/>
            <p:nvPr/>
          </p:nvSpPr>
          <p:spPr>
            <a:xfrm>
              <a:off x="0" y="1401"/>
              <a:ext cx="1316926" cy="615108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D25D8EB-84B6-6F33-1452-131DA7FA724C}"/>
                </a:ext>
              </a:extLst>
            </p:cNvPr>
            <p:cNvSpPr txBox="1"/>
            <p:nvPr/>
          </p:nvSpPr>
          <p:spPr>
            <a:xfrm>
              <a:off x="0" y="1401"/>
              <a:ext cx="1316926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687" tIns="60759" rIns="69687" bIns="6075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/>
                <a:t>Know</a:t>
              </a:r>
            </a:p>
          </p:txBody>
        </p:sp>
      </p:grpSp>
      <p:pic>
        <p:nvPicPr>
          <p:cNvPr id="16" name="Picture 15" descr="Diagram&#10;&#10;Description automatically generated">
            <a:extLst>
              <a:ext uri="{FF2B5EF4-FFF2-40B4-BE49-F238E27FC236}">
                <a16:creationId xmlns:a16="http://schemas.microsoft.com/office/drawing/2014/main" id="{25891BEA-D211-CEC1-457E-C5B106BDA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124746"/>
            <a:ext cx="7416824" cy="5291779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1469962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13FAE8A-AEF3-D3F2-44C1-31CD502AD783}"/>
              </a:ext>
            </a:extLst>
          </p:cNvPr>
          <p:cNvSpPr/>
          <p:nvPr/>
        </p:nvSpPr>
        <p:spPr>
          <a:xfrm>
            <a:off x="0" y="0"/>
            <a:ext cx="52920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45AE5C2-61B9-7450-AADF-4A983B7B247C}"/>
              </a:ext>
            </a:extLst>
          </p:cNvPr>
          <p:cNvGrpSpPr/>
          <p:nvPr/>
        </p:nvGrpSpPr>
        <p:grpSpPr>
          <a:xfrm>
            <a:off x="1319127" y="293612"/>
            <a:ext cx="5267707" cy="615108"/>
            <a:chOff x="1316926" y="1401"/>
            <a:chExt cx="5267707" cy="61510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3497D44-6216-BF33-E01A-254CC4E422B9}"/>
                </a:ext>
              </a:extLst>
            </p:cNvPr>
            <p:cNvSpPr/>
            <p:nvPr/>
          </p:nvSpPr>
          <p:spPr>
            <a:xfrm>
              <a:off x="1316926" y="1401"/>
              <a:ext cx="5267707" cy="615108"/>
            </a:xfrm>
            <a:prstGeom prst="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E2864A0-7873-E6B7-7FE1-63C67A25F3F1}"/>
                </a:ext>
              </a:extLst>
            </p:cNvPr>
            <p:cNvSpPr txBox="1"/>
            <p:nvPr/>
          </p:nvSpPr>
          <p:spPr>
            <a:xfrm>
              <a:off x="1316926" y="1401"/>
              <a:ext cx="5267707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2208" tIns="156237" rIns="102208" bIns="156237" numCol="1" spcCol="1270" anchor="ctr" anchorCtr="0">
              <a:noAutofit/>
            </a:bodyPr>
            <a:lstStyle/>
            <a:p>
              <a:pPr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dirty="0"/>
                <a:t>Know the principal bony features in and around the hip joint, and describe their appearance in plain X-rays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19BBCF-D895-70DA-AAB3-C69535D853DF}"/>
              </a:ext>
            </a:extLst>
          </p:cNvPr>
          <p:cNvGrpSpPr/>
          <p:nvPr/>
        </p:nvGrpSpPr>
        <p:grpSpPr>
          <a:xfrm>
            <a:off x="2199" y="293612"/>
            <a:ext cx="1316926" cy="615108"/>
            <a:chOff x="0" y="1401"/>
            <a:chExt cx="1316926" cy="6151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55365A9-703F-3983-6C74-AE9FF26277AF}"/>
                </a:ext>
              </a:extLst>
            </p:cNvPr>
            <p:cNvSpPr/>
            <p:nvPr/>
          </p:nvSpPr>
          <p:spPr>
            <a:xfrm>
              <a:off x="0" y="1401"/>
              <a:ext cx="1316926" cy="615108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D25D8EB-84B6-6F33-1452-131DA7FA724C}"/>
                </a:ext>
              </a:extLst>
            </p:cNvPr>
            <p:cNvSpPr txBox="1"/>
            <p:nvPr/>
          </p:nvSpPr>
          <p:spPr>
            <a:xfrm>
              <a:off x="0" y="1401"/>
              <a:ext cx="1316926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687" tIns="60759" rIns="69687" bIns="6075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/>
                <a:t>Know</a:t>
              </a:r>
            </a:p>
          </p:txBody>
        </p:sp>
      </p:grpSp>
      <p:pic>
        <p:nvPicPr>
          <p:cNvPr id="19" name="Picture 18" descr="Diagram&#10;&#10;Description automatically generated">
            <a:extLst>
              <a:ext uri="{FF2B5EF4-FFF2-40B4-BE49-F238E27FC236}">
                <a16:creationId xmlns:a16="http://schemas.microsoft.com/office/drawing/2014/main" id="{F647EE5C-211B-373A-75AE-1F7A77F205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4" y="1268760"/>
            <a:ext cx="8208749" cy="492747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01441CDF-8A4E-3EA1-84F3-DE3B2FAB61D7}"/>
              </a:ext>
            </a:extLst>
          </p:cNvPr>
          <p:cNvSpPr/>
          <p:nvPr/>
        </p:nvSpPr>
        <p:spPr>
          <a:xfrm>
            <a:off x="1403648" y="5805264"/>
            <a:ext cx="792088" cy="3909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652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7C5FBC6-60EE-B74B-C70B-064B95395FBA}"/>
              </a:ext>
            </a:extLst>
          </p:cNvPr>
          <p:cNvSpPr/>
          <p:nvPr/>
        </p:nvSpPr>
        <p:spPr>
          <a:xfrm>
            <a:off x="0" y="0"/>
            <a:ext cx="52920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Diagram&#10;&#10;Description automatically generated">
            <a:extLst>
              <a:ext uri="{FF2B5EF4-FFF2-40B4-BE49-F238E27FC236}">
                <a16:creationId xmlns:a16="http://schemas.microsoft.com/office/drawing/2014/main" id="{E123CE60-0920-AE0C-BB0D-E9C709CC06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2612" y="692696"/>
            <a:ext cx="3863060" cy="2985940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sp>
        <p:nvSpPr>
          <p:cNvPr id="1433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3508" y="1290025"/>
            <a:ext cx="3356919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pPr eaLnBrk="1" hangingPunct="1"/>
            <a:r>
              <a:rPr lang="en-GB" sz="2800" dirty="0">
                <a:cs typeface="Lucida Sans Unicode" panose="020B0602030504020204" pitchFamily="34" charset="0"/>
              </a:rPr>
              <a:t>SURFACES</a:t>
            </a:r>
          </a:p>
        </p:txBody>
      </p:sp>
      <p:sp>
        <p:nvSpPr>
          <p:cNvPr id="29699" name="Rectangle 1027"/>
          <p:cNvSpPr>
            <a:spLocks noGrp="1" noChangeArrowheads="1"/>
          </p:cNvSpPr>
          <p:nvPr>
            <p:ph idx="1"/>
          </p:nvPr>
        </p:nvSpPr>
        <p:spPr>
          <a:xfrm>
            <a:off x="379498" y="2735210"/>
            <a:ext cx="4408527" cy="3883386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800" i="1" dirty="0">
                <a:solidFill>
                  <a:schemeClr val="bg1"/>
                </a:solidFill>
              </a:rPr>
              <a:t>lūna</a:t>
            </a:r>
            <a:r>
              <a:rPr lang="en-GB" sz="1800" dirty="0">
                <a:solidFill>
                  <a:schemeClr val="bg1"/>
                </a:solidFill>
              </a:rPr>
              <a:t> - </a:t>
            </a:r>
            <a:r>
              <a:rPr lang="en-GB" sz="1800" dirty="0">
                <a:solidFill>
                  <a:schemeClr val="tx1"/>
                </a:solidFill>
              </a:rPr>
              <a:t>moon,</a:t>
            </a:r>
            <a:r>
              <a:rPr lang="en-GB" sz="1800" dirty="0">
                <a:solidFill>
                  <a:schemeClr val="bg1"/>
                </a:solidFill>
              </a:rPr>
              <a:t> </a:t>
            </a:r>
            <a:r>
              <a:rPr lang="en-GB" sz="1800" i="1" dirty="0">
                <a:solidFill>
                  <a:schemeClr val="bg1"/>
                </a:solidFill>
              </a:rPr>
              <a:t>lūnātus</a:t>
            </a:r>
            <a:r>
              <a:rPr lang="en-GB" sz="1800" dirty="0">
                <a:solidFill>
                  <a:schemeClr val="bg1"/>
                </a:solidFill>
              </a:rPr>
              <a:t> - </a:t>
            </a:r>
            <a:r>
              <a:rPr lang="en-GB" sz="1800" dirty="0">
                <a:solidFill>
                  <a:schemeClr val="tx1"/>
                </a:solidFill>
              </a:rPr>
              <a:t>crescent-shaped</a:t>
            </a:r>
            <a:r>
              <a:rPr lang="en-GB" sz="1800" dirty="0">
                <a:solidFill>
                  <a:schemeClr val="bg1"/>
                </a:solidFill>
              </a:rPr>
              <a:t>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GB" sz="1800" dirty="0">
              <a:solidFill>
                <a:schemeClr val="bg1"/>
              </a:solidFill>
            </a:endParaRPr>
          </a:p>
          <a:p>
            <a:pPr marL="156600" indent="-156600">
              <a:lnSpc>
                <a:spcPct val="120000"/>
              </a:lnSpc>
              <a:spcBef>
                <a:spcPts val="0"/>
              </a:spcBef>
              <a:buClr>
                <a:schemeClr val="bg1"/>
              </a:buClr>
            </a:pPr>
            <a:r>
              <a:rPr lang="en-GB" sz="1800" dirty="0">
                <a:solidFill>
                  <a:schemeClr val="tx1"/>
                </a:solidFill>
              </a:rPr>
              <a:t>Prominent </a:t>
            </a:r>
            <a:r>
              <a:rPr lang="en-GB" sz="1800" dirty="0">
                <a:solidFill>
                  <a:schemeClr val="bg1"/>
                </a:solidFill>
              </a:rPr>
              <a:t>lunate surface </a:t>
            </a:r>
            <a:r>
              <a:rPr lang="en-GB" sz="1800" dirty="0">
                <a:solidFill>
                  <a:schemeClr val="tx1"/>
                </a:solidFill>
              </a:rPr>
              <a:t>of acetabulum covered by articular cartilage</a:t>
            </a:r>
          </a:p>
          <a:p>
            <a:pPr marL="156600" indent="-156600">
              <a:lnSpc>
                <a:spcPct val="120000"/>
              </a:lnSpc>
              <a:spcBef>
                <a:spcPts val="0"/>
              </a:spcBef>
              <a:buClr>
                <a:schemeClr val="bg1"/>
              </a:buClr>
            </a:pPr>
            <a:endParaRPr lang="en-GB" sz="1800" dirty="0">
              <a:solidFill>
                <a:schemeClr val="tx1"/>
              </a:solidFill>
            </a:endParaRPr>
          </a:p>
          <a:p>
            <a:pPr marL="156600" indent="-156600">
              <a:lnSpc>
                <a:spcPct val="120000"/>
              </a:lnSpc>
              <a:spcBef>
                <a:spcPts val="0"/>
              </a:spcBef>
              <a:buClr>
                <a:schemeClr val="bg1"/>
              </a:buClr>
            </a:pPr>
            <a:r>
              <a:rPr lang="en-GB" sz="1800" dirty="0">
                <a:solidFill>
                  <a:schemeClr val="bg1"/>
                </a:solidFill>
              </a:rPr>
              <a:t>Acetabular fossa </a:t>
            </a:r>
            <a:r>
              <a:rPr lang="en-GB" sz="1800" dirty="0">
                <a:solidFill>
                  <a:schemeClr val="tx1"/>
                </a:solidFill>
              </a:rPr>
              <a:t>(non-articular) contains fat, nerves, blood vessels</a:t>
            </a:r>
          </a:p>
          <a:p>
            <a:pPr marL="156600" indent="-156600">
              <a:lnSpc>
                <a:spcPct val="120000"/>
              </a:lnSpc>
              <a:spcBef>
                <a:spcPts val="0"/>
              </a:spcBef>
              <a:buClr>
                <a:schemeClr val="bg1"/>
              </a:buClr>
            </a:pPr>
            <a:endParaRPr lang="en-GB" sz="1800" dirty="0">
              <a:solidFill>
                <a:schemeClr val="tx1"/>
              </a:solidFill>
            </a:endParaRPr>
          </a:p>
          <a:p>
            <a:pPr marL="156600" indent="-156600">
              <a:lnSpc>
                <a:spcPct val="120000"/>
              </a:lnSpc>
              <a:spcBef>
                <a:spcPts val="0"/>
              </a:spcBef>
              <a:buClr>
                <a:schemeClr val="bg1"/>
              </a:buClr>
            </a:pPr>
            <a:r>
              <a:rPr lang="en-GB" sz="1800" dirty="0">
                <a:solidFill>
                  <a:schemeClr val="bg1"/>
                </a:solidFill>
              </a:rPr>
              <a:t>Acetabular foramen </a:t>
            </a:r>
            <a:r>
              <a:rPr lang="en-GB" sz="1800" dirty="0">
                <a:solidFill>
                  <a:schemeClr val="tx1"/>
                </a:solidFill>
              </a:rPr>
              <a:t>(gap) allows nerve &amp; artery to the joint - bridged by </a:t>
            </a:r>
            <a:r>
              <a:rPr lang="en-GB" sz="1800" dirty="0">
                <a:solidFill>
                  <a:schemeClr val="bg1"/>
                </a:solidFill>
              </a:rPr>
              <a:t>transverse acetabular ligament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GB" sz="1800" dirty="0">
              <a:solidFill>
                <a:schemeClr val="tx1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GB" sz="1800" dirty="0">
              <a:solidFill>
                <a:schemeClr val="tx1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GB" sz="1800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276C547-7D24-88C4-CEF6-D2C70A97F4A8}"/>
              </a:ext>
            </a:extLst>
          </p:cNvPr>
          <p:cNvGrpSpPr/>
          <p:nvPr/>
        </p:nvGrpSpPr>
        <p:grpSpPr>
          <a:xfrm>
            <a:off x="1320519" y="301388"/>
            <a:ext cx="3971563" cy="615108"/>
            <a:chOff x="1316926" y="653416"/>
            <a:chExt cx="5267707" cy="61510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E7B9E01-E6F5-9D2F-8A11-0B35144F1601}"/>
                </a:ext>
              </a:extLst>
            </p:cNvPr>
            <p:cNvSpPr/>
            <p:nvPr/>
          </p:nvSpPr>
          <p:spPr>
            <a:xfrm>
              <a:off x="1316926" y="653416"/>
              <a:ext cx="5267707" cy="615108"/>
            </a:xfrm>
            <a:prstGeom prst="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31A901-0D8D-DF8E-9EE7-6158E5CCB691}"/>
                </a:ext>
              </a:extLst>
            </p:cNvPr>
            <p:cNvSpPr txBox="1"/>
            <p:nvPr/>
          </p:nvSpPr>
          <p:spPr>
            <a:xfrm>
              <a:off x="1316926" y="653416"/>
              <a:ext cx="5123793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2208" tIns="156237" rIns="102208" bIns="156237" numCol="1" spcCol="1270" anchor="ctr" anchorCtr="0">
              <a:noAutofit/>
            </a:bodyPr>
            <a:lstStyle/>
            <a:p>
              <a:pPr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dirty="0"/>
                <a:t>State the shape of the articular surfaces and describe the attachments of the capsule and synovium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1D01153-3DC5-D693-800A-B4C0E6BC0A20}"/>
              </a:ext>
            </a:extLst>
          </p:cNvPr>
          <p:cNvGrpSpPr/>
          <p:nvPr/>
        </p:nvGrpSpPr>
        <p:grpSpPr>
          <a:xfrm>
            <a:off x="3591" y="301388"/>
            <a:ext cx="1316926" cy="615108"/>
            <a:chOff x="0" y="653416"/>
            <a:chExt cx="1316926" cy="6151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004A9C5-91D3-3FEB-0843-408E1EBAEEAA}"/>
                </a:ext>
              </a:extLst>
            </p:cNvPr>
            <p:cNvSpPr/>
            <p:nvPr/>
          </p:nvSpPr>
          <p:spPr>
            <a:xfrm>
              <a:off x="0" y="653416"/>
              <a:ext cx="1316926" cy="615108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AB0A11F-4EF1-939D-CE9A-D3BAEAE0683F}"/>
                </a:ext>
              </a:extLst>
            </p:cNvPr>
            <p:cNvSpPr txBox="1"/>
            <p:nvPr/>
          </p:nvSpPr>
          <p:spPr>
            <a:xfrm>
              <a:off x="0" y="653416"/>
              <a:ext cx="1316926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687" tIns="60759" rIns="69687" bIns="6075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dirty="0"/>
                <a:t>State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F2551C7-4295-3662-071A-67D1DA670FE6}"/>
              </a:ext>
            </a:extLst>
          </p:cNvPr>
          <p:cNvGrpSpPr/>
          <p:nvPr/>
        </p:nvGrpSpPr>
        <p:grpSpPr>
          <a:xfrm>
            <a:off x="5970342" y="3861050"/>
            <a:ext cx="2157068" cy="2560703"/>
            <a:chOff x="5871316" y="3892633"/>
            <a:chExt cx="2157068" cy="2560703"/>
          </a:xfrm>
        </p:grpSpPr>
        <p:pic>
          <p:nvPicPr>
            <p:cNvPr id="20" name="Picture 19" descr="Diagram&#10;&#10;Description automatically generated">
              <a:extLst>
                <a:ext uri="{FF2B5EF4-FFF2-40B4-BE49-F238E27FC236}">
                  <a16:creationId xmlns:a16="http://schemas.microsoft.com/office/drawing/2014/main" id="{CA18B6F5-7485-9ED4-4A44-3E3A64F861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697" r="54035" b="11221"/>
            <a:stretch/>
          </p:blipFill>
          <p:spPr>
            <a:xfrm>
              <a:off x="5871316" y="3892633"/>
              <a:ext cx="2157068" cy="2560703"/>
            </a:xfrm>
            <a:prstGeom prst="rect">
              <a:avLst/>
            </a:prstGeom>
            <a:ln w="28575">
              <a:solidFill>
                <a:schemeClr val="accent2"/>
              </a:solidFill>
            </a:ln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1EFB0D4-E927-0683-019C-750D703DCBD9}"/>
                </a:ext>
              </a:extLst>
            </p:cNvPr>
            <p:cNvSpPr/>
            <p:nvPr/>
          </p:nvSpPr>
          <p:spPr>
            <a:xfrm>
              <a:off x="7812360" y="3892633"/>
              <a:ext cx="216024" cy="2564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9D56B2A-94AA-19AB-95E0-B3ACB0E777B9}"/>
                </a:ext>
              </a:extLst>
            </p:cNvPr>
            <p:cNvSpPr/>
            <p:nvPr/>
          </p:nvSpPr>
          <p:spPr>
            <a:xfrm>
              <a:off x="7668344" y="4446093"/>
              <a:ext cx="360040" cy="4950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506114E-82DD-FCDF-34B2-6E605874C2C6}"/>
                </a:ext>
              </a:extLst>
            </p:cNvPr>
            <p:cNvSpPr/>
            <p:nvPr/>
          </p:nvSpPr>
          <p:spPr>
            <a:xfrm>
              <a:off x="7812360" y="5260712"/>
              <a:ext cx="216024" cy="7920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5223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7C5FBC6-60EE-B74B-C70B-064B95395FBA}"/>
              </a:ext>
            </a:extLst>
          </p:cNvPr>
          <p:cNvSpPr/>
          <p:nvPr/>
        </p:nvSpPr>
        <p:spPr>
          <a:xfrm>
            <a:off x="0" y="0"/>
            <a:ext cx="52920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3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3508" y="1290025"/>
            <a:ext cx="3356919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pPr eaLnBrk="1" hangingPunct="1"/>
            <a:r>
              <a:rPr lang="en-GB" sz="2800" dirty="0">
                <a:cs typeface="Lucida Sans Unicode" panose="020B0602030504020204" pitchFamily="34" charset="0"/>
              </a:rPr>
              <a:t>SURFACES</a:t>
            </a:r>
          </a:p>
        </p:txBody>
      </p:sp>
      <p:sp>
        <p:nvSpPr>
          <p:cNvPr id="29699" name="Rectangle 1027"/>
          <p:cNvSpPr>
            <a:spLocks noGrp="1" noChangeArrowheads="1"/>
          </p:cNvSpPr>
          <p:nvPr>
            <p:ph idx="1"/>
          </p:nvPr>
        </p:nvSpPr>
        <p:spPr>
          <a:xfrm>
            <a:off x="404025" y="2817994"/>
            <a:ext cx="4408527" cy="3883386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800" dirty="0">
                <a:solidFill>
                  <a:schemeClr val="tx1"/>
                </a:solidFill>
              </a:rPr>
              <a:t>• </a:t>
            </a:r>
            <a:r>
              <a:rPr lang="en-GB" sz="1800" dirty="0">
                <a:solidFill>
                  <a:schemeClr val="bg1"/>
                </a:solidFill>
              </a:rPr>
              <a:t>Femoral head </a:t>
            </a:r>
            <a:r>
              <a:rPr lang="en-GB" sz="1800" dirty="0">
                <a:solidFill>
                  <a:schemeClr val="tx1"/>
                </a:solidFill>
              </a:rPr>
              <a:t>articulates with the lunate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800" dirty="0">
                <a:solidFill>
                  <a:schemeClr val="tx1"/>
                </a:solidFill>
              </a:rPr>
              <a:t>  surface</a:t>
            </a: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lang="en-GB" sz="1800" dirty="0">
                <a:solidFill>
                  <a:schemeClr val="tx1"/>
                </a:solidFill>
              </a:rPr>
              <a:t>- covered with articular cartilage</a:t>
            </a: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lang="en-GB" sz="1800" dirty="0">
                <a:solidFill>
                  <a:schemeClr val="tx1"/>
                </a:solidFill>
              </a:rPr>
              <a:t>- except for the fovea capitus </a:t>
            </a:r>
            <a:r>
              <a:rPr lang="en-GB" sz="1800" dirty="0">
                <a:solidFill>
                  <a:schemeClr val="tx1"/>
                </a:solidFill>
                <a:sym typeface="Wingdings" pitchFamily="2" charset="2"/>
              </a:rPr>
              <a:t>  </a:t>
            </a: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lang="en-GB" sz="1800" dirty="0">
                <a:solidFill>
                  <a:schemeClr val="tx1"/>
                </a:solidFill>
                <a:sym typeface="Wingdings" pitchFamily="2" charset="2"/>
              </a:rPr>
              <a:t>  L. of head of femur attachment   </a:t>
            </a: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lang="en-GB" sz="1800" dirty="0">
                <a:solidFill>
                  <a:schemeClr val="tx1"/>
                </a:solidFill>
                <a:sym typeface="Wingdings" pitchFamily="2" charset="2"/>
              </a:rPr>
              <a:t>  (ligamentum teres)</a:t>
            </a: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Char char="-"/>
            </a:pPr>
            <a:endParaRPr lang="en-GB" sz="1800" dirty="0">
              <a:solidFill>
                <a:schemeClr val="tx1"/>
              </a:solidFill>
              <a:sym typeface="Wingdings" pitchFamily="2" charset="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5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 Cartilage coefficient of friction ≈ 0.002 - 0.01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5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		         (ice ≈ 0.2- 0.5)</a:t>
            </a: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Char char="-"/>
            </a:pPr>
            <a:endParaRPr lang="en-GB" sz="1800" dirty="0">
              <a:solidFill>
                <a:schemeClr val="tx1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GB" sz="1800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276C547-7D24-88C4-CEF6-D2C70A97F4A8}"/>
              </a:ext>
            </a:extLst>
          </p:cNvPr>
          <p:cNvGrpSpPr/>
          <p:nvPr/>
        </p:nvGrpSpPr>
        <p:grpSpPr>
          <a:xfrm>
            <a:off x="1320519" y="301388"/>
            <a:ext cx="3971563" cy="615108"/>
            <a:chOff x="1316926" y="653416"/>
            <a:chExt cx="5267707" cy="61510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E7B9E01-E6F5-9D2F-8A11-0B35144F1601}"/>
                </a:ext>
              </a:extLst>
            </p:cNvPr>
            <p:cNvSpPr/>
            <p:nvPr/>
          </p:nvSpPr>
          <p:spPr>
            <a:xfrm>
              <a:off x="1316926" y="653416"/>
              <a:ext cx="5267707" cy="615108"/>
            </a:xfrm>
            <a:prstGeom prst="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31A901-0D8D-DF8E-9EE7-6158E5CCB691}"/>
                </a:ext>
              </a:extLst>
            </p:cNvPr>
            <p:cNvSpPr txBox="1"/>
            <p:nvPr/>
          </p:nvSpPr>
          <p:spPr>
            <a:xfrm>
              <a:off x="1316926" y="653416"/>
              <a:ext cx="5123793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2208" tIns="156237" rIns="102208" bIns="156237" numCol="1" spcCol="1270" anchor="ctr" anchorCtr="0">
              <a:noAutofit/>
            </a:bodyPr>
            <a:lstStyle/>
            <a:p>
              <a:pPr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dirty="0"/>
                <a:t>State the shape of the articular surfaces and describe the attachments of the capsule and synovium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1D01153-3DC5-D693-800A-B4C0E6BC0A20}"/>
              </a:ext>
            </a:extLst>
          </p:cNvPr>
          <p:cNvGrpSpPr/>
          <p:nvPr/>
        </p:nvGrpSpPr>
        <p:grpSpPr>
          <a:xfrm>
            <a:off x="3591" y="301388"/>
            <a:ext cx="1316926" cy="615108"/>
            <a:chOff x="0" y="653416"/>
            <a:chExt cx="1316926" cy="6151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004A9C5-91D3-3FEB-0843-408E1EBAEEAA}"/>
                </a:ext>
              </a:extLst>
            </p:cNvPr>
            <p:cNvSpPr/>
            <p:nvPr/>
          </p:nvSpPr>
          <p:spPr>
            <a:xfrm>
              <a:off x="0" y="653416"/>
              <a:ext cx="1316926" cy="615108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AB0A11F-4EF1-939D-CE9A-D3BAEAE0683F}"/>
                </a:ext>
              </a:extLst>
            </p:cNvPr>
            <p:cNvSpPr txBox="1"/>
            <p:nvPr/>
          </p:nvSpPr>
          <p:spPr>
            <a:xfrm>
              <a:off x="0" y="653416"/>
              <a:ext cx="1316926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687" tIns="60759" rIns="69687" bIns="6075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dirty="0"/>
                <a:t>State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B0253D7-CE44-08A7-2223-651F804B7AB9}"/>
              </a:ext>
            </a:extLst>
          </p:cNvPr>
          <p:cNvGrpSpPr/>
          <p:nvPr/>
        </p:nvGrpSpPr>
        <p:grpSpPr>
          <a:xfrm>
            <a:off x="4975174" y="2161718"/>
            <a:ext cx="3863060" cy="3989437"/>
            <a:chOff x="4975174" y="2161716"/>
            <a:chExt cx="3863060" cy="3989437"/>
          </a:xfrm>
        </p:grpSpPr>
        <p:pic>
          <p:nvPicPr>
            <p:cNvPr id="20" name="Picture 19" descr="Diagram&#10;&#10;Description automatically generated">
              <a:extLst>
                <a:ext uri="{FF2B5EF4-FFF2-40B4-BE49-F238E27FC236}">
                  <a16:creationId xmlns:a16="http://schemas.microsoft.com/office/drawing/2014/main" id="{CA18B6F5-7485-9ED4-4A44-3E3A64F861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686" t="2284" b="5949"/>
            <a:stretch/>
          </p:blipFill>
          <p:spPr>
            <a:xfrm>
              <a:off x="4975174" y="2161716"/>
              <a:ext cx="3863060" cy="3989437"/>
            </a:xfrm>
            <a:prstGeom prst="rect">
              <a:avLst/>
            </a:prstGeom>
            <a:ln w="28575">
              <a:solidFill>
                <a:schemeClr val="accent2"/>
              </a:solidFill>
            </a:ln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DF88CC0-F325-B118-EFD8-80B11E84BC43}"/>
                </a:ext>
              </a:extLst>
            </p:cNvPr>
            <p:cNvSpPr/>
            <p:nvPr/>
          </p:nvSpPr>
          <p:spPr>
            <a:xfrm>
              <a:off x="4975174" y="2924944"/>
              <a:ext cx="460922" cy="2880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7EA384A-4B7A-9D23-AF8F-EFD9AE98969D}"/>
                </a:ext>
              </a:extLst>
            </p:cNvPr>
            <p:cNvSpPr/>
            <p:nvPr/>
          </p:nvSpPr>
          <p:spPr>
            <a:xfrm>
              <a:off x="4975174" y="4314180"/>
              <a:ext cx="208403" cy="12030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46211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7C5FBC6-60EE-B74B-C70B-064B95395FBA}"/>
              </a:ext>
            </a:extLst>
          </p:cNvPr>
          <p:cNvSpPr/>
          <p:nvPr/>
        </p:nvSpPr>
        <p:spPr>
          <a:xfrm>
            <a:off x="1" y="1"/>
            <a:ext cx="914040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3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633765" y="1397553"/>
            <a:ext cx="2621246" cy="1058855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Autofit/>
          </a:bodyPr>
          <a:lstStyle/>
          <a:p>
            <a:pPr algn="ctr"/>
            <a:r>
              <a:rPr lang="en-GB" sz="1800" dirty="0"/>
              <a:t>ACETABULAR HYALINE CARTILAGE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276C547-7D24-88C4-CEF6-D2C70A97F4A8}"/>
              </a:ext>
            </a:extLst>
          </p:cNvPr>
          <p:cNvGrpSpPr/>
          <p:nvPr/>
        </p:nvGrpSpPr>
        <p:grpSpPr>
          <a:xfrm>
            <a:off x="1320519" y="301388"/>
            <a:ext cx="5195699" cy="615108"/>
            <a:chOff x="1316926" y="653416"/>
            <a:chExt cx="5267707" cy="61510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E7B9E01-E6F5-9D2F-8A11-0B35144F1601}"/>
                </a:ext>
              </a:extLst>
            </p:cNvPr>
            <p:cNvSpPr/>
            <p:nvPr/>
          </p:nvSpPr>
          <p:spPr>
            <a:xfrm>
              <a:off x="1316926" y="653416"/>
              <a:ext cx="5267707" cy="615108"/>
            </a:xfrm>
            <a:prstGeom prst="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31A901-0D8D-DF8E-9EE7-6158E5CCB691}"/>
                </a:ext>
              </a:extLst>
            </p:cNvPr>
            <p:cNvSpPr txBox="1"/>
            <p:nvPr/>
          </p:nvSpPr>
          <p:spPr>
            <a:xfrm>
              <a:off x="1316926" y="653416"/>
              <a:ext cx="5123793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2208" tIns="156237" rIns="102208" bIns="156237" numCol="1" spcCol="1270" anchor="ctr" anchorCtr="0">
              <a:noAutofit/>
            </a:bodyPr>
            <a:lstStyle/>
            <a:p>
              <a:pPr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dirty="0"/>
                <a:t>State the shape of the articular surfaces and describe the attachments of the capsule and synovium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1D01153-3DC5-D693-800A-B4C0E6BC0A20}"/>
              </a:ext>
            </a:extLst>
          </p:cNvPr>
          <p:cNvGrpSpPr/>
          <p:nvPr/>
        </p:nvGrpSpPr>
        <p:grpSpPr>
          <a:xfrm>
            <a:off x="3591" y="301388"/>
            <a:ext cx="1316926" cy="615108"/>
            <a:chOff x="0" y="653416"/>
            <a:chExt cx="1316926" cy="6151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004A9C5-91D3-3FEB-0843-408E1EBAEEAA}"/>
                </a:ext>
              </a:extLst>
            </p:cNvPr>
            <p:cNvSpPr/>
            <p:nvPr/>
          </p:nvSpPr>
          <p:spPr>
            <a:xfrm>
              <a:off x="0" y="653416"/>
              <a:ext cx="1316926" cy="615108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AB0A11F-4EF1-939D-CE9A-D3BAEAE0683F}"/>
                </a:ext>
              </a:extLst>
            </p:cNvPr>
            <p:cNvSpPr txBox="1"/>
            <p:nvPr/>
          </p:nvSpPr>
          <p:spPr>
            <a:xfrm>
              <a:off x="0" y="653416"/>
              <a:ext cx="1316926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687" tIns="60759" rIns="69687" bIns="6075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dirty="0"/>
                <a:t>State</a:t>
              </a:r>
            </a:p>
          </p:txBody>
        </p:sp>
      </p:grpSp>
      <p:pic>
        <p:nvPicPr>
          <p:cNvPr id="15" name="Picture 14" descr="Acetabulum">
            <a:extLst>
              <a:ext uri="{FF2B5EF4-FFF2-40B4-BE49-F238E27FC236}">
                <a16:creationId xmlns:a16="http://schemas.microsoft.com/office/drawing/2014/main" id="{14E61CE3-F92D-1121-DC8C-B9937F10963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5" t="12942" b="12715"/>
          <a:stretch/>
        </p:blipFill>
        <p:spPr>
          <a:xfrm>
            <a:off x="4975090" y="2789946"/>
            <a:ext cx="2621246" cy="2736304"/>
          </a:xfrm>
          <a:prstGeom prst="rect">
            <a:avLst/>
          </a:prstGeom>
          <a:ln w="28575">
            <a:noFill/>
          </a:ln>
        </p:spPr>
      </p:pic>
      <p:pic>
        <p:nvPicPr>
          <p:cNvPr id="17" name="Picture 16" descr="Acetabular hyaline cartilage ">
            <a:extLst>
              <a:ext uri="{FF2B5EF4-FFF2-40B4-BE49-F238E27FC236}">
                <a16:creationId xmlns:a16="http://schemas.microsoft.com/office/drawing/2014/main" id="{57F48400-DD33-3806-4A73-4B56B99FCDC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49" b="7290"/>
          <a:stretch/>
        </p:blipFill>
        <p:spPr>
          <a:xfrm>
            <a:off x="1633764" y="2780368"/>
            <a:ext cx="2621246" cy="2736304"/>
          </a:xfrm>
          <a:prstGeom prst="rect">
            <a:avLst/>
          </a:prstGeom>
          <a:ln>
            <a:noFill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114F88B-6740-3138-F5D7-9B0213B8E53E}"/>
              </a:ext>
            </a:extLst>
          </p:cNvPr>
          <p:cNvSpPr txBox="1"/>
          <p:nvPr/>
        </p:nvSpPr>
        <p:spPr>
          <a:xfrm>
            <a:off x="1633764" y="5602309"/>
            <a:ext cx="26212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algn="ctr"/>
            <a:r>
              <a:rPr lang="en-GB" sz="1400" dirty="0">
                <a:cs typeface="Arial" charset="0"/>
              </a:rPr>
              <a:t>2/3 of femoral head in contact with the acetabulum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E66AC2-A32B-3F87-D810-55272ACE8199}"/>
              </a:ext>
            </a:extLst>
          </p:cNvPr>
          <p:cNvSpPr txBox="1"/>
          <p:nvPr/>
        </p:nvSpPr>
        <p:spPr>
          <a:xfrm>
            <a:off x="5025573" y="5611887"/>
            <a:ext cx="2520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algn="ctr"/>
            <a:r>
              <a:rPr lang="en-GB" sz="1400" dirty="0">
                <a:cs typeface="Arial" charset="0"/>
              </a:rPr>
              <a:t>Fibrocartilaginous lip to deepen socket</a:t>
            </a:r>
          </a:p>
        </p:txBody>
      </p:sp>
      <p:sp>
        <p:nvSpPr>
          <p:cNvPr id="23" name="Rectangle 1026">
            <a:extLst>
              <a:ext uri="{FF2B5EF4-FFF2-40B4-BE49-F238E27FC236}">
                <a16:creationId xmlns:a16="http://schemas.microsoft.com/office/drawing/2014/main" id="{2978416A-036E-505F-93CD-D513B1965CB9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4975090" y="1402321"/>
            <a:ext cx="2621246" cy="1058855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800" dirty="0"/>
              <a:t>Acetabular LABRUM</a:t>
            </a:r>
          </a:p>
        </p:txBody>
      </p:sp>
      <p:sp>
        <p:nvSpPr>
          <p:cNvPr id="4" name="Down Arrow 3">
            <a:extLst>
              <a:ext uri="{FF2B5EF4-FFF2-40B4-BE49-F238E27FC236}">
                <a16:creationId xmlns:a16="http://schemas.microsoft.com/office/drawing/2014/main" id="{FAAE4AE0-E93D-2A43-B85C-D3F2828C0946}"/>
              </a:ext>
            </a:extLst>
          </p:cNvPr>
          <p:cNvSpPr/>
          <p:nvPr/>
        </p:nvSpPr>
        <p:spPr>
          <a:xfrm rot="8851423">
            <a:off x="8002311" y="5621086"/>
            <a:ext cx="288032" cy="812818"/>
          </a:xfrm>
          <a:prstGeom prst="downArrow">
            <a:avLst>
              <a:gd name="adj1" fmla="val 48721"/>
              <a:gd name="adj2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DD9462-7EBC-F227-70B9-669D78E5C58C}"/>
              </a:ext>
            </a:extLst>
          </p:cNvPr>
          <p:cNvSpPr txBox="1"/>
          <p:nvPr/>
        </p:nvSpPr>
        <p:spPr>
          <a:xfrm>
            <a:off x="6944613" y="6148460"/>
            <a:ext cx="2204588" cy="55399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• vital for joint stability</a:t>
            </a:r>
          </a:p>
          <a:p>
            <a:r>
              <a:rPr lang="en-US" sz="1000" dirty="0"/>
              <a:t>• rupture can lead to dislocation</a:t>
            </a:r>
          </a:p>
          <a:p>
            <a:r>
              <a:rPr lang="en-US" sz="1000" dirty="0"/>
              <a:t>• likewise, disloc can cause rupture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6C43E3-E658-F19A-1D04-45449ED1FFEB}"/>
              </a:ext>
            </a:extLst>
          </p:cNvPr>
          <p:cNvSpPr txBox="1"/>
          <p:nvPr/>
        </p:nvSpPr>
        <p:spPr>
          <a:xfrm>
            <a:off x="7741817" y="3322989"/>
            <a:ext cx="1245694" cy="15184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Acetabulum is deepened all round by the fibrocartilaginous acetabular labrum attached to the bony rim and to the transverse ligament. </a:t>
            </a:r>
          </a:p>
        </p:txBody>
      </p:sp>
    </p:spTree>
    <p:extLst>
      <p:ext uri="{BB962C8B-B14F-4D97-AF65-F5344CB8AC3E}">
        <p14:creationId xmlns:p14="http://schemas.microsoft.com/office/powerpoint/2010/main" val="14347643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7C5FBC6-60EE-B74B-C70B-064B95395FBA}"/>
              </a:ext>
            </a:extLst>
          </p:cNvPr>
          <p:cNvSpPr/>
          <p:nvPr/>
        </p:nvSpPr>
        <p:spPr>
          <a:xfrm>
            <a:off x="0" y="0"/>
            <a:ext cx="52920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3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3508" y="1290025"/>
            <a:ext cx="3356919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pPr eaLnBrk="1" hangingPunct="1"/>
            <a:r>
              <a:rPr lang="en-GB" sz="2800" dirty="0">
                <a:cs typeface="Lucida Sans Unicode" panose="020B0602030504020204" pitchFamily="34" charset="0"/>
              </a:rPr>
              <a:t>Capsule</a:t>
            </a:r>
          </a:p>
        </p:txBody>
      </p:sp>
      <p:sp>
        <p:nvSpPr>
          <p:cNvPr id="29699" name="Rectangle 1027"/>
          <p:cNvSpPr>
            <a:spLocks noGrp="1" noChangeArrowheads="1"/>
          </p:cNvSpPr>
          <p:nvPr>
            <p:ph idx="1"/>
          </p:nvPr>
        </p:nvSpPr>
        <p:spPr>
          <a:xfrm>
            <a:off x="389032" y="2857982"/>
            <a:ext cx="4326984" cy="3698630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800" dirty="0">
                <a:solidFill>
                  <a:schemeClr val="tx1"/>
                </a:solidFill>
                <a:latin typeface="Arial" charset="0"/>
                <a:cs typeface="Arial" charset="0"/>
              </a:rPr>
              <a:t>• Very strong fibrous capsule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800" dirty="0">
                <a:solidFill>
                  <a:schemeClr val="bg1"/>
                </a:solidFill>
                <a:latin typeface="Arial" charset="0"/>
                <a:cs typeface="Arial" charset="0"/>
              </a:rPr>
              <a:t>- </a:t>
            </a:r>
            <a:r>
              <a:rPr lang="en-GB" sz="1800" dirty="0">
                <a:solidFill>
                  <a:srgbClr val="FFFFFF"/>
                </a:solidFill>
                <a:latin typeface="Arial" charset="0"/>
                <a:cs typeface="Arial" charset="0"/>
              </a:rPr>
              <a:t>surrounds the head and neck of femur and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800" dirty="0">
                <a:solidFill>
                  <a:srgbClr val="FFFFFF"/>
                </a:solidFill>
                <a:latin typeface="Arial" charset="0"/>
                <a:cs typeface="Arial" charset="0"/>
              </a:rPr>
              <a:t>  acetabulum to increase stability of joint, but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800" dirty="0">
                <a:solidFill>
                  <a:srgbClr val="FFFFFF"/>
                </a:solidFill>
                <a:latin typeface="Arial" charset="0"/>
                <a:cs typeface="Arial" charset="0"/>
              </a:rPr>
              <a:t>  flexible enough to allow great RoM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800" dirty="0">
                <a:solidFill>
                  <a:srgbClr val="FFFFFF"/>
                </a:solidFill>
                <a:latin typeface="Arial" charset="0"/>
                <a:cs typeface="Arial" charset="0"/>
                <a:sym typeface="Symbol" pitchFamily="18" charset="2"/>
              </a:rPr>
              <a:t>  </a:t>
            </a:r>
            <a:r>
              <a:rPr lang="en-GB" sz="18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charset="0"/>
                <a:cs typeface="Arial" charset="0"/>
                <a:sym typeface="Symbol" pitchFamily="18" charset="2"/>
              </a:rPr>
              <a:t>Attaches: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800" dirty="0">
                <a:solidFill>
                  <a:srgbClr val="FFFFFF"/>
                </a:solidFill>
                <a:latin typeface="Arial" charset="0"/>
                <a:cs typeface="Arial" charset="0"/>
                <a:sym typeface="Symbol" pitchFamily="18" charset="2"/>
              </a:rPr>
              <a:t>      - proximally to the acetabulum &amp; transverse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800" dirty="0">
                <a:solidFill>
                  <a:srgbClr val="FFFFFF"/>
                </a:solidFill>
                <a:latin typeface="Arial" charset="0"/>
                <a:cs typeface="Arial" charset="0"/>
                <a:sym typeface="Symbol" pitchFamily="18" charset="2"/>
              </a:rPr>
              <a:t>        acetabular ligament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800" dirty="0">
                <a:solidFill>
                  <a:srgbClr val="FFFFFF"/>
                </a:solidFill>
                <a:latin typeface="Arial" charset="0"/>
                <a:cs typeface="Arial" charset="0"/>
                <a:sym typeface="Symbol" pitchFamily="18" charset="2"/>
              </a:rPr>
              <a:t>      - distally to the neck of the femur anteriorly    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800" dirty="0">
                <a:solidFill>
                  <a:srgbClr val="FFFFFF"/>
                </a:solidFill>
                <a:latin typeface="Arial" charset="0"/>
                <a:cs typeface="Arial" charset="0"/>
                <a:sym typeface="Symbol" pitchFamily="18" charset="2"/>
              </a:rPr>
              <a:t>        at the GT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GB" sz="1800" dirty="0">
              <a:solidFill>
                <a:srgbClr val="FFFFFF"/>
              </a:solidFill>
              <a:latin typeface="Arial" charset="0"/>
              <a:cs typeface="Arial" charset="0"/>
              <a:sym typeface="Symbol" pitchFamily="18" charset="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800" dirty="0">
                <a:solidFill>
                  <a:schemeClr val="tx1"/>
                </a:solidFill>
                <a:latin typeface="Arial" charset="0"/>
                <a:cs typeface="Arial" charset="0"/>
                <a:sym typeface="Symbol" pitchFamily="18" charset="2"/>
              </a:rPr>
              <a:t>• Synovial membrane (synovium)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800" dirty="0">
                <a:solidFill>
                  <a:schemeClr val="tx1"/>
                </a:solidFill>
                <a:latin typeface="Arial" charset="0"/>
                <a:cs typeface="Arial" charset="0"/>
                <a:sym typeface="Symbol" pitchFamily="18" charset="2"/>
              </a:rPr>
              <a:t>     </a:t>
            </a:r>
            <a:r>
              <a:rPr lang="en-GB" sz="1800" dirty="0">
                <a:solidFill>
                  <a:schemeClr val="bg1"/>
                </a:solidFill>
                <a:latin typeface="Arial" charset="0"/>
                <a:cs typeface="Arial" charset="0"/>
                <a:sym typeface="Symbol" pitchFamily="18" charset="2"/>
              </a:rPr>
              <a:t>-</a:t>
            </a:r>
            <a:r>
              <a:rPr lang="en-GB" sz="1800" dirty="0">
                <a:solidFill>
                  <a:schemeClr val="tx1"/>
                </a:solidFill>
                <a:latin typeface="Arial" charset="0"/>
                <a:cs typeface="Arial" charset="0"/>
                <a:sym typeface="Symbol" pitchFamily="18" charset="2"/>
              </a:rPr>
              <a:t> </a:t>
            </a:r>
            <a:r>
              <a:rPr lang="en-GB" sz="1800" dirty="0">
                <a:solidFill>
                  <a:srgbClr val="FFFFFF"/>
                </a:solidFill>
                <a:latin typeface="Arial" charset="0"/>
                <a:cs typeface="Arial" charset="0"/>
                <a:sym typeface="Symbol" pitchFamily="18" charset="2"/>
              </a:rPr>
              <a:t>lines the inner surface of the fibrous capsule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800" dirty="0">
                <a:solidFill>
                  <a:srgbClr val="FFFFFF"/>
                </a:solidFill>
                <a:latin typeface="Arial" charset="0"/>
                <a:cs typeface="Arial" charset="0"/>
                <a:sym typeface="Symbol" pitchFamily="18" charset="2"/>
              </a:rPr>
              <a:t>       and covers the acetabular labrum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800" dirty="0">
                <a:solidFill>
                  <a:srgbClr val="FFFFFF"/>
                </a:solidFill>
                <a:latin typeface="Arial" charset="0"/>
                <a:cs typeface="Arial" charset="0"/>
                <a:sym typeface="Symbol" pitchFamily="18" charset="2"/>
              </a:rPr>
              <a:t>     - secretes synovial fluid</a:t>
            </a:r>
            <a:endParaRPr lang="en-GB" sz="1800" dirty="0">
              <a:solidFill>
                <a:srgbClr val="FFFFFF"/>
              </a:solidFill>
              <a:latin typeface="Arial" charset="0"/>
              <a:cs typeface="Arial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276C547-7D24-88C4-CEF6-D2C70A97F4A8}"/>
              </a:ext>
            </a:extLst>
          </p:cNvPr>
          <p:cNvGrpSpPr/>
          <p:nvPr/>
        </p:nvGrpSpPr>
        <p:grpSpPr>
          <a:xfrm>
            <a:off x="1320519" y="301388"/>
            <a:ext cx="3971563" cy="615108"/>
            <a:chOff x="1316926" y="653416"/>
            <a:chExt cx="5267707" cy="61510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E7B9E01-E6F5-9D2F-8A11-0B35144F1601}"/>
                </a:ext>
              </a:extLst>
            </p:cNvPr>
            <p:cNvSpPr/>
            <p:nvPr/>
          </p:nvSpPr>
          <p:spPr>
            <a:xfrm>
              <a:off x="1316926" y="653416"/>
              <a:ext cx="5267707" cy="615108"/>
            </a:xfrm>
            <a:prstGeom prst="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31A901-0D8D-DF8E-9EE7-6158E5CCB691}"/>
                </a:ext>
              </a:extLst>
            </p:cNvPr>
            <p:cNvSpPr txBox="1"/>
            <p:nvPr/>
          </p:nvSpPr>
          <p:spPr>
            <a:xfrm>
              <a:off x="1316926" y="653416"/>
              <a:ext cx="5123793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2208" tIns="156237" rIns="102208" bIns="156237" numCol="1" spcCol="1270" anchor="ctr" anchorCtr="0">
              <a:noAutofit/>
            </a:bodyPr>
            <a:lstStyle/>
            <a:p>
              <a:pPr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dirty="0"/>
                <a:t>State the shape of the articular surfaces and describe the attachments of the capsule and synovium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1D01153-3DC5-D693-800A-B4C0E6BC0A20}"/>
              </a:ext>
            </a:extLst>
          </p:cNvPr>
          <p:cNvGrpSpPr/>
          <p:nvPr/>
        </p:nvGrpSpPr>
        <p:grpSpPr>
          <a:xfrm>
            <a:off x="3591" y="301388"/>
            <a:ext cx="1316926" cy="615108"/>
            <a:chOff x="0" y="653416"/>
            <a:chExt cx="1316926" cy="6151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004A9C5-91D3-3FEB-0843-408E1EBAEEAA}"/>
                </a:ext>
              </a:extLst>
            </p:cNvPr>
            <p:cNvSpPr/>
            <p:nvPr/>
          </p:nvSpPr>
          <p:spPr>
            <a:xfrm>
              <a:off x="0" y="653416"/>
              <a:ext cx="1316926" cy="615108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AB0A11F-4EF1-939D-CE9A-D3BAEAE0683F}"/>
                </a:ext>
              </a:extLst>
            </p:cNvPr>
            <p:cNvSpPr txBox="1"/>
            <p:nvPr/>
          </p:nvSpPr>
          <p:spPr>
            <a:xfrm>
              <a:off x="0" y="653416"/>
              <a:ext cx="1316926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687" tIns="60759" rIns="69687" bIns="6075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dirty="0"/>
                <a:t>State</a:t>
              </a:r>
            </a:p>
          </p:txBody>
        </p:sp>
      </p:grpSp>
      <p:pic>
        <p:nvPicPr>
          <p:cNvPr id="31" name="Picture 30" descr="A picture containing cup, indoor&#10;&#10;Description automatically generated">
            <a:extLst>
              <a:ext uri="{FF2B5EF4-FFF2-40B4-BE49-F238E27FC236}">
                <a16:creationId xmlns:a16="http://schemas.microsoft.com/office/drawing/2014/main" id="{2DE8C857-B48C-B57F-DC83-BA5E348945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894" y="3766125"/>
            <a:ext cx="2856886" cy="2856886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14F2B535-C3FD-2938-6118-9BEA5667A287}"/>
              </a:ext>
            </a:extLst>
          </p:cNvPr>
          <p:cNvGrpSpPr/>
          <p:nvPr/>
        </p:nvGrpSpPr>
        <p:grpSpPr>
          <a:xfrm>
            <a:off x="5771894" y="311120"/>
            <a:ext cx="2856886" cy="3250658"/>
            <a:chOff x="5592668" y="178342"/>
            <a:chExt cx="3162300" cy="3606800"/>
          </a:xfrm>
        </p:grpSpPr>
        <p:pic>
          <p:nvPicPr>
            <p:cNvPr id="15" name="Picture 14" descr="Diagram&#10;&#10;Description automatically generated">
              <a:extLst>
                <a:ext uri="{FF2B5EF4-FFF2-40B4-BE49-F238E27FC236}">
                  <a16:creationId xmlns:a16="http://schemas.microsoft.com/office/drawing/2014/main" id="{3E471861-3DAB-9173-D32A-7EA6143E3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92668" y="178342"/>
              <a:ext cx="3162300" cy="3606800"/>
            </a:xfrm>
            <a:prstGeom prst="rect">
              <a:avLst/>
            </a:prstGeom>
            <a:ln w="28575">
              <a:solidFill>
                <a:schemeClr val="accent2"/>
              </a:solidFill>
            </a:ln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9C15CEE-CFA2-8C70-2958-8550128B3642}"/>
                </a:ext>
              </a:extLst>
            </p:cNvPr>
            <p:cNvSpPr/>
            <p:nvPr/>
          </p:nvSpPr>
          <p:spPr>
            <a:xfrm>
              <a:off x="5592668" y="973731"/>
              <a:ext cx="707524" cy="1510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233589E-03CB-E215-9D40-E31B6AC11C13}"/>
                </a:ext>
              </a:extLst>
            </p:cNvPr>
            <p:cNvSpPr txBox="1"/>
            <p:nvPr/>
          </p:nvSpPr>
          <p:spPr>
            <a:xfrm>
              <a:off x="5610304" y="941515"/>
              <a:ext cx="779532" cy="3585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75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badi MT Condensed Light" panose="020B0306030101010103" pitchFamily="34" charset="77"/>
                </a:rPr>
                <a:t>Synovial capsule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93134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13FAE8A-AEF3-D3F2-44C1-31CD502AD783}"/>
              </a:ext>
            </a:extLst>
          </p:cNvPr>
          <p:cNvSpPr/>
          <p:nvPr/>
        </p:nvSpPr>
        <p:spPr>
          <a:xfrm>
            <a:off x="0" y="0"/>
            <a:ext cx="52920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026">
            <a:extLst>
              <a:ext uri="{FF2B5EF4-FFF2-40B4-BE49-F238E27FC236}">
                <a16:creationId xmlns:a16="http://schemas.microsoft.com/office/drawing/2014/main" id="{0E9828F0-B7C0-F741-9A45-6088589B6C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4984" y="1340768"/>
            <a:ext cx="3356919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pPr eaLnBrk="1" hangingPunct="1"/>
            <a:r>
              <a:rPr lang="en-GB" sz="2800" dirty="0">
                <a:cs typeface="Lucida Sans Unicode" panose="020B0602030504020204" pitchFamily="34" charset="0"/>
              </a:rPr>
              <a:t>Stability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6EC3E696-440E-34C1-C1B5-0115EFD89F31}"/>
              </a:ext>
            </a:extLst>
          </p:cNvPr>
          <p:cNvSpPr txBox="1">
            <a:spLocks noChangeArrowheads="1"/>
          </p:cNvSpPr>
          <p:nvPr/>
        </p:nvSpPr>
        <p:spPr>
          <a:xfrm>
            <a:off x="589519" y="2961535"/>
            <a:ext cx="4113042" cy="2555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44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1750" lvl="1" indent="-14175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chemeClr val="bg1"/>
              </a:buClr>
            </a:pPr>
            <a:r>
              <a:rPr lang="en-GB" sz="1800" dirty="0">
                <a:solidFill>
                  <a:srgbClr val="FFFFFF"/>
                </a:solidFill>
                <a:latin typeface="Arial" charset="0"/>
              </a:rPr>
              <a:t>Anteromedially the capsule is strengthened by the deep fibres of the reflected head of rectus femoris</a:t>
            </a:r>
          </a:p>
          <a:p>
            <a:pPr marL="141750" lvl="1" indent="-14175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chemeClr val="bg1"/>
              </a:buClr>
            </a:pPr>
            <a:r>
              <a:rPr lang="en-GB" sz="1800" dirty="0">
                <a:solidFill>
                  <a:srgbClr val="FFFFFF"/>
                </a:solidFill>
                <a:latin typeface="Arial" charset="0"/>
              </a:rPr>
              <a:t>Laterally the capsule is strengthened by deep fibres from gluteus minimus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4B4196-0FA1-178A-C5DF-707C47223A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4426" y="1217414"/>
            <a:ext cx="2184190" cy="4299818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01BD16-DD12-A41E-E6FF-A507E69540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266" y="4418531"/>
            <a:ext cx="1652831" cy="2197405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BC036B90-A224-8C91-4A17-091AAFC50943}"/>
              </a:ext>
            </a:extLst>
          </p:cNvPr>
          <p:cNvGrpSpPr/>
          <p:nvPr/>
        </p:nvGrpSpPr>
        <p:grpSpPr>
          <a:xfrm>
            <a:off x="1320518" y="301388"/>
            <a:ext cx="5292081" cy="615108"/>
            <a:chOff x="1316926" y="653416"/>
            <a:chExt cx="5267707" cy="615108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AD2969D-8DEC-A92B-6554-47F6023FA9B1}"/>
                </a:ext>
              </a:extLst>
            </p:cNvPr>
            <p:cNvSpPr/>
            <p:nvPr/>
          </p:nvSpPr>
          <p:spPr>
            <a:xfrm>
              <a:off x="1316926" y="653416"/>
              <a:ext cx="5267707" cy="615108"/>
            </a:xfrm>
            <a:prstGeom prst="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BCAE105-2A71-2C4C-56AB-B87CE8A4A961}"/>
                </a:ext>
              </a:extLst>
            </p:cNvPr>
            <p:cNvSpPr txBox="1"/>
            <p:nvPr/>
          </p:nvSpPr>
          <p:spPr>
            <a:xfrm>
              <a:off x="1316926" y="653416"/>
              <a:ext cx="5123793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2208" tIns="156237" rIns="102208" bIns="156237" numCol="1" spcCol="1270" anchor="ctr" anchorCtr="0">
              <a:noAutofit/>
            </a:bodyPr>
            <a:lstStyle/>
            <a:p>
              <a:pPr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dirty="0"/>
                <a:t>State the shape of the articular surfaces and describe the attachments of the capsule and synovium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334A426-1214-501E-C3E5-125B6E3C95A6}"/>
              </a:ext>
            </a:extLst>
          </p:cNvPr>
          <p:cNvGrpSpPr/>
          <p:nvPr/>
        </p:nvGrpSpPr>
        <p:grpSpPr>
          <a:xfrm>
            <a:off x="3591" y="301388"/>
            <a:ext cx="1316926" cy="615108"/>
            <a:chOff x="0" y="653416"/>
            <a:chExt cx="1316926" cy="615108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9BB3D8E-E2D4-27AB-A4B7-F02E2366B32C}"/>
                </a:ext>
              </a:extLst>
            </p:cNvPr>
            <p:cNvSpPr/>
            <p:nvPr/>
          </p:nvSpPr>
          <p:spPr>
            <a:xfrm>
              <a:off x="0" y="653416"/>
              <a:ext cx="1316926" cy="615108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8EB69B8-952F-D08A-4450-F870C0B804CC}"/>
                </a:ext>
              </a:extLst>
            </p:cNvPr>
            <p:cNvSpPr txBox="1"/>
            <p:nvPr/>
          </p:nvSpPr>
          <p:spPr>
            <a:xfrm>
              <a:off x="0" y="653416"/>
              <a:ext cx="1316926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687" tIns="60759" rIns="69687" bIns="6075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dirty="0"/>
                <a:t>State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81348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7C5FBC6-60EE-B74B-C70B-064B95395FBA}"/>
              </a:ext>
            </a:extLst>
          </p:cNvPr>
          <p:cNvSpPr/>
          <p:nvPr/>
        </p:nvSpPr>
        <p:spPr>
          <a:xfrm>
            <a:off x="0" y="0"/>
            <a:ext cx="52920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276C547-7D24-88C4-CEF6-D2C70A97F4A8}"/>
              </a:ext>
            </a:extLst>
          </p:cNvPr>
          <p:cNvGrpSpPr/>
          <p:nvPr/>
        </p:nvGrpSpPr>
        <p:grpSpPr>
          <a:xfrm>
            <a:off x="1320518" y="301388"/>
            <a:ext cx="5292081" cy="615108"/>
            <a:chOff x="1316926" y="653416"/>
            <a:chExt cx="5267707" cy="61510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E7B9E01-E6F5-9D2F-8A11-0B35144F1601}"/>
                </a:ext>
              </a:extLst>
            </p:cNvPr>
            <p:cNvSpPr/>
            <p:nvPr/>
          </p:nvSpPr>
          <p:spPr>
            <a:xfrm>
              <a:off x="1316926" y="653416"/>
              <a:ext cx="5267707" cy="615108"/>
            </a:xfrm>
            <a:prstGeom prst="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31A901-0D8D-DF8E-9EE7-6158E5CCB691}"/>
                </a:ext>
              </a:extLst>
            </p:cNvPr>
            <p:cNvSpPr txBox="1"/>
            <p:nvPr/>
          </p:nvSpPr>
          <p:spPr>
            <a:xfrm>
              <a:off x="1316926" y="653416"/>
              <a:ext cx="5123793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2208" tIns="156237" rIns="102208" bIns="156237" numCol="1" spcCol="1270" anchor="ctr" anchorCtr="0">
              <a:noAutofit/>
            </a:bodyPr>
            <a:lstStyle/>
            <a:p>
              <a:pPr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dirty="0"/>
                <a:t>State the shape of the articular surfaces and describe the attachments of the capsule and synovium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1D01153-3DC5-D693-800A-B4C0E6BC0A20}"/>
              </a:ext>
            </a:extLst>
          </p:cNvPr>
          <p:cNvGrpSpPr/>
          <p:nvPr/>
        </p:nvGrpSpPr>
        <p:grpSpPr>
          <a:xfrm>
            <a:off x="3591" y="301388"/>
            <a:ext cx="1316926" cy="615108"/>
            <a:chOff x="0" y="653416"/>
            <a:chExt cx="1316926" cy="6151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004A9C5-91D3-3FEB-0843-408E1EBAEEAA}"/>
                </a:ext>
              </a:extLst>
            </p:cNvPr>
            <p:cNvSpPr/>
            <p:nvPr/>
          </p:nvSpPr>
          <p:spPr>
            <a:xfrm>
              <a:off x="0" y="653416"/>
              <a:ext cx="1316926" cy="615108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AB0A11F-4EF1-939D-CE9A-D3BAEAE0683F}"/>
                </a:ext>
              </a:extLst>
            </p:cNvPr>
            <p:cNvSpPr txBox="1"/>
            <p:nvPr/>
          </p:nvSpPr>
          <p:spPr>
            <a:xfrm>
              <a:off x="0" y="653416"/>
              <a:ext cx="1316926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687" tIns="60759" rIns="69687" bIns="6075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dirty="0"/>
                <a:t>State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695AE05-74A4-D9B3-EECF-6F5B070667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2362764"/>
            <a:ext cx="6168658" cy="4082853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sp>
        <p:nvSpPr>
          <p:cNvPr id="1433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3508" y="1290025"/>
            <a:ext cx="3356919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pPr eaLnBrk="1" hangingPunct="1"/>
            <a:r>
              <a:rPr lang="en-GB" sz="2400" dirty="0">
                <a:cs typeface="Lucida Sans Unicode" panose="020B0602030504020204" pitchFamily="34" charset="0"/>
              </a:rPr>
              <a:t>Capsule attachments</a:t>
            </a:r>
          </a:p>
        </p:txBody>
      </p:sp>
    </p:spTree>
    <p:extLst>
      <p:ext uri="{BB962C8B-B14F-4D97-AF65-F5344CB8AC3E}">
        <p14:creationId xmlns:p14="http://schemas.microsoft.com/office/powerpoint/2010/main" val="2072370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13FAE8A-AEF3-D3F2-44C1-31CD502AD783}"/>
              </a:ext>
            </a:extLst>
          </p:cNvPr>
          <p:cNvSpPr/>
          <p:nvPr/>
        </p:nvSpPr>
        <p:spPr>
          <a:xfrm>
            <a:off x="0" y="0"/>
            <a:ext cx="52920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802F248-8F49-D836-E13F-619D5ECB80FD}"/>
              </a:ext>
            </a:extLst>
          </p:cNvPr>
          <p:cNvGrpSpPr/>
          <p:nvPr/>
        </p:nvGrpSpPr>
        <p:grpSpPr>
          <a:xfrm>
            <a:off x="1320519" y="293612"/>
            <a:ext cx="5267707" cy="615108"/>
            <a:chOff x="1316926" y="1305430"/>
            <a:chExt cx="5267707" cy="6151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0D0591-363A-0B0E-DAAB-868CC809601B}"/>
                </a:ext>
              </a:extLst>
            </p:cNvPr>
            <p:cNvSpPr/>
            <p:nvPr/>
          </p:nvSpPr>
          <p:spPr>
            <a:xfrm>
              <a:off x="1316926" y="1305430"/>
              <a:ext cx="5267707" cy="615108"/>
            </a:xfrm>
            <a:prstGeom prst="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D3D6A4E-CB60-6A8B-37AC-FDC5AA1A83CF}"/>
                </a:ext>
              </a:extLst>
            </p:cNvPr>
            <p:cNvSpPr txBox="1"/>
            <p:nvPr/>
          </p:nvSpPr>
          <p:spPr>
            <a:xfrm>
              <a:off x="1316926" y="1305430"/>
              <a:ext cx="5267707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2208" tIns="156237" rIns="102208" bIns="156237" numCol="1" spcCol="1270" anchor="ctr" anchorCtr="0">
              <a:noAutofit/>
            </a:bodyPr>
            <a:lstStyle/>
            <a:p>
              <a:pPr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/>
                <a:t>Describe the capsular and intra-capsular ligaments of the joint and know how they limit joint movement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EFA4099-F741-5603-5D33-EC261643AEE7}"/>
              </a:ext>
            </a:extLst>
          </p:cNvPr>
          <p:cNvGrpSpPr/>
          <p:nvPr/>
        </p:nvGrpSpPr>
        <p:grpSpPr>
          <a:xfrm>
            <a:off x="3591" y="293612"/>
            <a:ext cx="1316926" cy="615108"/>
            <a:chOff x="0" y="1305430"/>
            <a:chExt cx="1316926" cy="61510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D53E4E8-9176-05BA-53E6-170E418DF8DF}"/>
                </a:ext>
              </a:extLst>
            </p:cNvPr>
            <p:cNvSpPr/>
            <p:nvPr/>
          </p:nvSpPr>
          <p:spPr>
            <a:xfrm>
              <a:off x="0" y="1305430"/>
              <a:ext cx="1316926" cy="615108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C833281-D06D-0D58-B123-10E910912C67}"/>
                </a:ext>
              </a:extLst>
            </p:cNvPr>
            <p:cNvSpPr txBox="1"/>
            <p:nvPr/>
          </p:nvSpPr>
          <p:spPr>
            <a:xfrm>
              <a:off x="0" y="1305430"/>
              <a:ext cx="1316926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687" tIns="60759" rIns="69687" bIns="6075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dirty="0"/>
                <a:t>Describe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8D55162-2650-2F64-B291-A34C9E834115}"/>
              </a:ext>
            </a:extLst>
          </p:cNvPr>
          <p:cNvGrpSpPr/>
          <p:nvPr/>
        </p:nvGrpSpPr>
        <p:grpSpPr>
          <a:xfrm>
            <a:off x="3203848" y="2132856"/>
            <a:ext cx="5688974" cy="4431456"/>
            <a:chOff x="2898350" y="1977065"/>
            <a:chExt cx="5994471" cy="4587247"/>
          </a:xfrm>
        </p:grpSpPr>
        <p:pic>
          <p:nvPicPr>
            <p:cNvPr id="35" name="Picture 34" descr="Diagram&#10;&#10;Description automatically generated">
              <a:extLst>
                <a:ext uri="{FF2B5EF4-FFF2-40B4-BE49-F238E27FC236}">
                  <a16:creationId xmlns:a16="http://schemas.microsoft.com/office/drawing/2014/main" id="{BF322115-BDC2-96CD-B87A-E7E4BF7B86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053" t="3436" b="4805"/>
            <a:stretch/>
          </p:blipFill>
          <p:spPr>
            <a:xfrm>
              <a:off x="2898350" y="1977065"/>
              <a:ext cx="5994471" cy="4587247"/>
            </a:xfrm>
            <a:prstGeom prst="rect">
              <a:avLst/>
            </a:prstGeom>
            <a:ln w="28575">
              <a:solidFill>
                <a:schemeClr val="accent2"/>
              </a:solidFill>
            </a:ln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C224422-A5EC-CC3E-668D-A8C9A2EC27D8}"/>
                </a:ext>
              </a:extLst>
            </p:cNvPr>
            <p:cNvSpPr/>
            <p:nvPr/>
          </p:nvSpPr>
          <p:spPr>
            <a:xfrm>
              <a:off x="2942917" y="2478745"/>
              <a:ext cx="1773099" cy="3792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10CC25A-F9D1-66A2-2CFC-DBD9EF881A3A}"/>
                </a:ext>
              </a:extLst>
            </p:cNvPr>
            <p:cNvSpPr/>
            <p:nvPr/>
          </p:nvSpPr>
          <p:spPr>
            <a:xfrm>
              <a:off x="2898351" y="3671275"/>
              <a:ext cx="521522" cy="3792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1026">
            <a:extLst>
              <a:ext uri="{FF2B5EF4-FFF2-40B4-BE49-F238E27FC236}">
                <a16:creationId xmlns:a16="http://schemas.microsoft.com/office/drawing/2014/main" id="{9A4EF1B1-82EC-A5B4-6DB7-D99EA93A41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3508" y="1290025"/>
            <a:ext cx="3356919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pPr eaLnBrk="1" hangingPunct="1"/>
            <a:r>
              <a:rPr lang="en-GB" sz="2800" dirty="0">
                <a:cs typeface="Lucida Sans Unicode" panose="020B0602030504020204" pitchFamily="34" charset="0"/>
              </a:rPr>
              <a:t>Capsular ligaments</a:t>
            </a:r>
          </a:p>
        </p:txBody>
      </p:sp>
      <p:sp>
        <p:nvSpPr>
          <p:cNvPr id="36" name="Rectangle 1027">
            <a:extLst>
              <a:ext uri="{FF2B5EF4-FFF2-40B4-BE49-F238E27FC236}">
                <a16:creationId xmlns:a16="http://schemas.microsoft.com/office/drawing/2014/main" id="{2B80EC79-32C4-0FB4-F553-B6A4BC1D54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71351" y="2899528"/>
            <a:ext cx="2920529" cy="3664784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800" dirty="0">
                <a:solidFill>
                  <a:schemeClr val="tx1"/>
                </a:solidFill>
                <a:latin typeface="Arial" charset="0"/>
                <a:cs typeface="Arial" charset="0"/>
              </a:rPr>
              <a:t>• iliofemoral ligament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tx1"/>
                </a:solidFill>
                <a:latin typeface="Arial" charset="0"/>
                <a:cs typeface="Arial" charset="0"/>
              </a:rPr>
              <a:t>   </a:t>
            </a:r>
            <a:r>
              <a:rPr lang="en-GB" sz="1400" dirty="0">
                <a:solidFill>
                  <a:schemeClr val="bg1"/>
                </a:solidFill>
                <a:latin typeface="Arial" charset="0"/>
                <a:cs typeface="Arial" charset="0"/>
              </a:rPr>
              <a:t>very strong and thick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bg1"/>
                </a:solidFill>
                <a:latin typeface="Arial" charset="0"/>
                <a:cs typeface="Arial" charset="0"/>
              </a:rPr>
              <a:t>   triangular band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GB" sz="1800" dirty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800" dirty="0">
                <a:solidFill>
                  <a:schemeClr val="tx1"/>
                </a:solidFill>
                <a:latin typeface="Arial" charset="0"/>
                <a:cs typeface="Arial" charset="0"/>
              </a:rPr>
              <a:t>• pubofemoral ligament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400" spc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</a:t>
            </a:r>
            <a:r>
              <a:rPr lang="en-GB" sz="1400" spc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strengthens the inferior and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  </a:t>
            </a:r>
            <a:r>
              <a:rPr lang="en-GB" sz="1400" spc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anterior aspects of the joint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  </a:t>
            </a:r>
            <a:r>
              <a:rPr lang="en-GB" sz="1400" spc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capsule</a:t>
            </a:r>
            <a:r>
              <a:rPr lang="en-GB" sz="1400" dirty="0">
                <a:solidFill>
                  <a:schemeClr val="bg1"/>
                </a:solidFill>
                <a:effectLst/>
              </a:rPr>
              <a:t>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GB" sz="1600" dirty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800" dirty="0">
                <a:solidFill>
                  <a:schemeClr val="tx1"/>
                </a:solidFill>
                <a:latin typeface="Arial" charset="0"/>
                <a:cs typeface="Arial" charset="0"/>
              </a:rPr>
              <a:t>• </a:t>
            </a:r>
            <a:r>
              <a:rPr lang="en-GB" sz="1800" dirty="0" err="1">
                <a:solidFill>
                  <a:schemeClr val="tx1"/>
                </a:solidFill>
                <a:latin typeface="Arial" charset="0"/>
                <a:cs typeface="Arial" charset="0"/>
              </a:rPr>
              <a:t>ischiofemoral</a:t>
            </a:r>
            <a:r>
              <a:rPr lang="en-GB" sz="1800" dirty="0">
                <a:solidFill>
                  <a:schemeClr val="tx1"/>
                </a:solidFill>
                <a:latin typeface="Arial" charset="0"/>
                <a:cs typeface="Arial" charset="0"/>
              </a:rPr>
              <a:t> ligament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400" spc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spiral in shape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400" spc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less well defined</a:t>
            </a:r>
            <a:endParaRPr lang="en-GB" sz="1400" dirty="0">
              <a:solidFill>
                <a:srgbClr val="FFFFFF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4501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13FAE8A-AEF3-D3F2-44C1-31CD502AD783}"/>
              </a:ext>
            </a:extLst>
          </p:cNvPr>
          <p:cNvSpPr/>
          <p:nvPr/>
        </p:nvSpPr>
        <p:spPr>
          <a:xfrm>
            <a:off x="0" y="0"/>
            <a:ext cx="52920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802F248-8F49-D836-E13F-619D5ECB80FD}"/>
              </a:ext>
            </a:extLst>
          </p:cNvPr>
          <p:cNvGrpSpPr/>
          <p:nvPr/>
        </p:nvGrpSpPr>
        <p:grpSpPr>
          <a:xfrm>
            <a:off x="1320519" y="293612"/>
            <a:ext cx="3971563" cy="615108"/>
            <a:chOff x="1316926" y="1305430"/>
            <a:chExt cx="5267707" cy="6151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0D0591-363A-0B0E-DAAB-868CC809601B}"/>
                </a:ext>
              </a:extLst>
            </p:cNvPr>
            <p:cNvSpPr/>
            <p:nvPr/>
          </p:nvSpPr>
          <p:spPr>
            <a:xfrm>
              <a:off x="1316926" y="1305430"/>
              <a:ext cx="5267707" cy="615108"/>
            </a:xfrm>
            <a:prstGeom prst="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D3D6A4E-CB60-6A8B-37AC-FDC5AA1A83CF}"/>
                </a:ext>
              </a:extLst>
            </p:cNvPr>
            <p:cNvSpPr txBox="1"/>
            <p:nvPr/>
          </p:nvSpPr>
          <p:spPr>
            <a:xfrm>
              <a:off x="1316926" y="1305430"/>
              <a:ext cx="5267707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2208" tIns="156237" rIns="102208" bIns="156237" numCol="1" spcCol="1270" anchor="ctr" anchorCtr="0">
              <a:noAutofit/>
            </a:bodyPr>
            <a:lstStyle/>
            <a:p>
              <a:pPr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/>
                <a:t>Describe the capsular and intra-capsular ligaments of the joint and know how they limit joint movement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EFA4099-F741-5603-5D33-EC261643AEE7}"/>
              </a:ext>
            </a:extLst>
          </p:cNvPr>
          <p:cNvGrpSpPr/>
          <p:nvPr/>
        </p:nvGrpSpPr>
        <p:grpSpPr>
          <a:xfrm>
            <a:off x="3591" y="293612"/>
            <a:ext cx="1316926" cy="615108"/>
            <a:chOff x="0" y="1305430"/>
            <a:chExt cx="1316926" cy="61510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D53E4E8-9176-05BA-53E6-170E418DF8DF}"/>
                </a:ext>
              </a:extLst>
            </p:cNvPr>
            <p:cNvSpPr/>
            <p:nvPr/>
          </p:nvSpPr>
          <p:spPr>
            <a:xfrm>
              <a:off x="0" y="1305430"/>
              <a:ext cx="1316926" cy="615108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C833281-D06D-0D58-B123-10E910912C67}"/>
                </a:ext>
              </a:extLst>
            </p:cNvPr>
            <p:cNvSpPr txBox="1"/>
            <p:nvPr/>
          </p:nvSpPr>
          <p:spPr>
            <a:xfrm>
              <a:off x="0" y="1305430"/>
              <a:ext cx="1316926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687" tIns="60759" rIns="69687" bIns="6075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dirty="0"/>
                <a:t>Describe</a:t>
              </a:r>
            </a:p>
          </p:txBody>
        </p:sp>
      </p:grpSp>
      <p:sp>
        <p:nvSpPr>
          <p:cNvPr id="23" name="Rectangle 1026">
            <a:extLst>
              <a:ext uri="{FF2B5EF4-FFF2-40B4-BE49-F238E27FC236}">
                <a16:creationId xmlns:a16="http://schemas.microsoft.com/office/drawing/2014/main" id="{9A4EF1B1-82EC-A5B4-6DB7-D99EA93A41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1325" y="1325662"/>
            <a:ext cx="2680517" cy="698815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Autofit/>
          </a:bodyPr>
          <a:lstStyle/>
          <a:p>
            <a:pPr algn="l" eaLnBrk="1" hangingPunct="1"/>
            <a:r>
              <a:rPr lang="en-GB" sz="1800" dirty="0">
                <a:cs typeface="Lucida Sans Unicode" panose="020B0602030504020204" pitchFamily="34" charset="0"/>
              </a:rPr>
              <a:t>iliofemoral ligament</a:t>
            </a:r>
          </a:p>
        </p:txBody>
      </p:sp>
      <p:sp>
        <p:nvSpPr>
          <p:cNvPr id="17" name="Rectangle 1026">
            <a:extLst>
              <a:ext uri="{FF2B5EF4-FFF2-40B4-BE49-F238E27FC236}">
                <a16:creationId xmlns:a16="http://schemas.microsoft.com/office/drawing/2014/main" id="{5DB208C3-0E30-FFEF-3D93-1BED6AE48CF4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445269" y="3316312"/>
            <a:ext cx="2680517" cy="698815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>
                <a:cs typeface="Lucida Sans Unicode" panose="020B0602030504020204" pitchFamily="34" charset="0"/>
              </a:rPr>
              <a:t>pubofemoral ligament</a:t>
            </a:r>
          </a:p>
        </p:txBody>
      </p:sp>
      <p:sp>
        <p:nvSpPr>
          <p:cNvPr id="18" name="Rectangle 1026">
            <a:extLst>
              <a:ext uri="{FF2B5EF4-FFF2-40B4-BE49-F238E27FC236}">
                <a16:creationId xmlns:a16="http://schemas.microsoft.com/office/drawing/2014/main" id="{9FB78527-2D00-4DEF-3871-B29864CDF748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445270" y="5301210"/>
            <a:ext cx="2680517" cy="698815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>
                <a:cs typeface="Lucida Sans Unicode" panose="020B0602030504020204" pitchFamily="34" charset="0"/>
              </a:rPr>
              <a:t>ischiofemoral ligament</a:t>
            </a:r>
          </a:p>
        </p:txBody>
      </p:sp>
      <p:sp>
        <p:nvSpPr>
          <p:cNvPr id="22" name="Rectangle 1026">
            <a:extLst>
              <a:ext uri="{FF2B5EF4-FFF2-40B4-BE49-F238E27FC236}">
                <a16:creationId xmlns:a16="http://schemas.microsoft.com/office/drawing/2014/main" id="{9C313DD0-908B-2B9E-69AD-56452EA3E65D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3583164" y="1070444"/>
            <a:ext cx="3149076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accent2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GB" sz="1000" cap="none" spc="0" dirty="0">
                <a:latin typeface="Arial" panose="020B0604020202020204" pitchFamily="34" charset="0"/>
                <a:cs typeface="Arial" panose="020B0604020202020204" pitchFamily="34" charset="0"/>
              </a:rPr>
              <a:t>Anteriorly situated</a:t>
            </a:r>
          </a:p>
          <a:p>
            <a:pPr algn="l">
              <a:lnSpc>
                <a:spcPct val="100000"/>
              </a:lnSpc>
            </a:pPr>
            <a:r>
              <a:rPr lang="en-GB" sz="1000" b="1" cap="none" spc="0" dirty="0">
                <a:latin typeface="Arial" panose="020B0604020202020204" pitchFamily="34" charset="0"/>
                <a:cs typeface="Arial" panose="020B0604020202020204" pitchFamily="34" charset="0"/>
              </a:rPr>
              <a:t>Originates</a:t>
            </a:r>
            <a:r>
              <a:rPr lang="en-GB" sz="1000" cap="none" spc="0" dirty="0">
                <a:latin typeface="Arial" panose="020B0604020202020204" pitchFamily="34" charset="0"/>
                <a:cs typeface="Arial" panose="020B0604020202020204" pitchFamily="34" charset="0"/>
              </a:rPr>
              <a:t> at the AIIS and then fans out to </a:t>
            </a:r>
            <a:r>
              <a:rPr lang="en-GB" sz="1000" b="1" cap="none" spc="0" dirty="0"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en-GB" sz="1000" cap="none" spc="0" dirty="0">
                <a:latin typeface="Arial" panose="020B0604020202020204" pitchFamily="34" charset="0"/>
                <a:cs typeface="Arial" panose="020B0604020202020204" pitchFamily="34" charset="0"/>
              </a:rPr>
              <a:t> along the intertrochanteric line of the femur. </a:t>
            </a:r>
          </a:p>
          <a:p>
            <a:pPr algn="l">
              <a:lnSpc>
                <a:spcPct val="100000"/>
              </a:lnSpc>
            </a:pPr>
            <a:r>
              <a:rPr lang="en-GB" sz="1000" cap="none" spc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Resists hip extension, adduction (superior fibres), and abduction (inferior fibres).</a:t>
            </a:r>
          </a:p>
        </p:txBody>
      </p:sp>
      <p:sp>
        <p:nvSpPr>
          <p:cNvPr id="24" name="Rectangle 1026">
            <a:extLst>
              <a:ext uri="{FF2B5EF4-FFF2-40B4-BE49-F238E27FC236}">
                <a16:creationId xmlns:a16="http://schemas.microsoft.com/office/drawing/2014/main" id="{9F18B9B0-0DC1-37A4-2336-14802D4C7F93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3583164" y="3023158"/>
            <a:ext cx="3149076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accent2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GB" sz="1000" cap="none" spc="0" dirty="0">
                <a:latin typeface="Arial" panose="020B0604020202020204" pitchFamily="34" charset="0"/>
                <a:cs typeface="Arial" panose="020B0604020202020204" pitchFamily="34" charset="0"/>
              </a:rPr>
              <a:t>Anteriorly situated.</a:t>
            </a:r>
          </a:p>
          <a:p>
            <a:pPr algn="l">
              <a:lnSpc>
                <a:spcPct val="100000"/>
              </a:lnSpc>
            </a:pPr>
            <a:r>
              <a:rPr lang="en-GB" sz="1000" b="1" cap="none" spc="0" dirty="0">
                <a:latin typeface="Arial" panose="020B0604020202020204" pitchFamily="34" charset="0"/>
                <a:cs typeface="Arial" panose="020B0604020202020204" pitchFamily="34" charset="0"/>
              </a:rPr>
              <a:t>Originates</a:t>
            </a:r>
            <a:r>
              <a:rPr lang="en-GB" sz="1000" cap="none" spc="0" dirty="0">
                <a:latin typeface="Arial" panose="020B0604020202020204" pitchFamily="34" charset="0"/>
                <a:cs typeface="Arial" panose="020B0604020202020204" pitchFamily="34" charset="0"/>
              </a:rPr>
              <a:t> from the anterior aspect of the pubic ramus and the iliopubic eminence and </a:t>
            </a:r>
            <a:r>
              <a:rPr lang="en-GB" sz="1000" b="1" cap="none" spc="0" dirty="0">
                <a:latin typeface="Arial" panose="020B0604020202020204" pitchFamily="34" charset="0"/>
                <a:cs typeface="Arial" panose="020B0604020202020204" pitchFamily="34" charset="0"/>
              </a:rPr>
              <a:t>inserts</a:t>
            </a:r>
            <a:r>
              <a:rPr lang="en-GB" sz="1000" cap="none" spc="0" dirty="0">
                <a:latin typeface="Arial" panose="020B0604020202020204" pitchFamily="34" charset="0"/>
                <a:cs typeface="Arial" panose="020B0604020202020204" pitchFamily="34" charset="0"/>
              </a:rPr>
              <a:t> on the anterior surface of the intertrochanteric fossa. </a:t>
            </a:r>
          </a:p>
          <a:p>
            <a:pPr algn="l">
              <a:lnSpc>
                <a:spcPct val="100000"/>
              </a:lnSpc>
            </a:pPr>
            <a:r>
              <a:rPr lang="en-GB" sz="1000" cap="none" spc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Resists hip abduction and extension. </a:t>
            </a:r>
          </a:p>
        </p:txBody>
      </p:sp>
      <p:sp>
        <p:nvSpPr>
          <p:cNvPr id="25" name="Rectangle 1026">
            <a:extLst>
              <a:ext uri="{FF2B5EF4-FFF2-40B4-BE49-F238E27FC236}">
                <a16:creationId xmlns:a16="http://schemas.microsoft.com/office/drawing/2014/main" id="{ADE37608-CB7E-CE71-A010-92DE4B3806E8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3583196" y="5033015"/>
            <a:ext cx="3108603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accent2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GB" sz="1000" cap="none" spc="0" dirty="0">
                <a:latin typeface="Arial" panose="020B0604020202020204" pitchFamily="34" charset="0"/>
                <a:cs typeface="Arial" panose="020B0604020202020204" pitchFamily="34" charset="0"/>
              </a:rPr>
              <a:t>Posteriorly situated.</a:t>
            </a:r>
          </a:p>
          <a:p>
            <a:pPr algn="l">
              <a:lnSpc>
                <a:spcPct val="100000"/>
              </a:lnSpc>
            </a:pPr>
            <a:r>
              <a:rPr lang="en-GB" sz="1000" b="1" cap="none" spc="0" dirty="0">
                <a:latin typeface="Arial" panose="020B0604020202020204" pitchFamily="34" charset="0"/>
                <a:cs typeface="Arial" panose="020B0604020202020204" pitchFamily="34" charset="0"/>
              </a:rPr>
              <a:t>Originates</a:t>
            </a:r>
            <a:r>
              <a:rPr lang="en-GB" sz="1000" cap="none" spc="0" dirty="0">
                <a:latin typeface="Arial" panose="020B0604020202020204" pitchFamily="34" charset="0"/>
                <a:cs typeface="Arial" panose="020B0604020202020204" pitchFamily="34" charset="0"/>
              </a:rPr>
              <a:t> on the posterior surface of the acetabular rim and is said to "wind" around the joint and </a:t>
            </a:r>
            <a:r>
              <a:rPr lang="en-GB" sz="1000" b="1" cap="none" spc="0" dirty="0"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en-GB" sz="1000" cap="none" spc="0" dirty="0">
                <a:latin typeface="Arial" panose="020B0604020202020204" pitchFamily="34" charset="0"/>
                <a:cs typeface="Arial" panose="020B0604020202020204" pitchFamily="34" charset="0"/>
              </a:rPr>
              <a:t> on the superior, anterior aspect of the greater trochanter.</a:t>
            </a:r>
          </a:p>
          <a:p>
            <a:pPr algn="l">
              <a:lnSpc>
                <a:spcPct val="100000"/>
              </a:lnSpc>
            </a:pPr>
            <a:r>
              <a:rPr lang="en-GB" sz="1000" cap="none" spc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Resists hip extension and medial rotation.</a:t>
            </a:r>
          </a:p>
        </p:txBody>
      </p:sp>
      <p:sp>
        <p:nvSpPr>
          <p:cNvPr id="4" name="Chevron 3">
            <a:extLst>
              <a:ext uri="{FF2B5EF4-FFF2-40B4-BE49-F238E27FC236}">
                <a16:creationId xmlns:a16="http://schemas.microsoft.com/office/drawing/2014/main" id="{457126A7-CC33-AF9C-8FD5-9BC5404CE513}"/>
              </a:ext>
            </a:extLst>
          </p:cNvPr>
          <p:cNvSpPr/>
          <p:nvPr/>
        </p:nvSpPr>
        <p:spPr>
          <a:xfrm>
            <a:off x="3275856" y="1556792"/>
            <a:ext cx="216024" cy="216024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Chevron 25">
            <a:extLst>
              <a:ext uri="{FF2B5EF4-FFF2-40B4-BE49-F238E27FC236}">
                <a16:creationId xmlns:a16="http://schemas.microsoft.com/office/drawing/2014/main" id="{2C4A262B-8960-2BED-35D8-0A47EC8139C4}"/>
              </a:ext>
            </a:extLst>
          </p:cNvPr>
          <p:cNvSpPr/>
          <p:nvPr/>
        </p:nvSpPr>
        <p:spPr>
          <a:xfrm>
            <a:off x="3275856" y="3538077"/>
            <a:ext cx="216024" cy="216024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Chevron 26">
            <a:extLst>
              <a:ext uri="{FF2B5EF4-FFF2-40B4-BE49-F238E27FC236}">
                <a16:creationId xmlns:a16="http://schemas.microsoft.com/office/drawing/2014/main" id="{CCF92A96-0465-F9D6-3E24-E30E0D9F8BBC}"/>
              </a:ext>
            </a:extLst>
          </p:cNvPr>
          <p:cNvSpPr/>
          <p:nvPr/>
        </p:nvSpPr>
        <p:spPr>
          <a:xfrm>
            <a:off x="3275856" y="5519363"/>
            <a:ext cx="216024" cy="216024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818F25D-F384-5BD8-B778-A8F96294848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1797" y="482252"/>
            <a:ext cx="1979930" cy="1866628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A9E67DC-0434-4A49-7054-64310248F4E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1797" y="2529190"/>
            <a:ext cx="1979930" cy="1979930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D27CF6A-9D23-6ABA-E8C1-6BC6F28D0F5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5397" y="4694816"/>
            <a:ext cx="1979930" cy="1979930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24678034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13FAE8A-AEF3-D3F2-44C1-31CD502AD783}"/>
              </a:ext>
            </a:extLst>
          </p:cNvPr>
          <p:cNvSpPr/>
          <p:nvPr/>
        </p:nvSpPr>
        <p:spPr>
          <a:xfrm>
            <a:off x="0" y="0"/>
            <a:ext cx="52920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802F248-8F49-D836-E13F-619D5ECB80FD}"/>
              </a:ext>
            </a:extLst>
          </p:cNvPr>
          <p:cNvGrpSpPr/>
          <p:nvPr/>
        </p:nvGrpSpPr>
        <p:grpSpPr>
          <a:xfrm>
            <a:off x="1320519" y="293612"/>
            <a:ext cx="5267707" cy="615108"/>
            <a:chOff x="1316926" y="1305430"/>
            <a:chExt cx="5267707" cy="6151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0D0591-363A-0B0E-DAAB-868CC809601B}"/>
                </a:ext>
              </a:extLst>
            </p:cNvPr>
            <p:cNvSpPr/>
            <p:nvPr/>
          </p:nvSpPr>
          <p:spPr>
            <a:xfrm>
              <a:off x="1316926" y="1305430"/>
              <a:ext cx="5267707" cy="615108"/>
            </a:xfrm>
            <a:prstGeom prst="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D3D6A4E-CB60-6A8B-37AC-FDC5AA1A83CF}"/>
                </a:ext>
              </a:extLst>
            </p:cNvPr>
            <p:cNvSpPr txBox="1"/>
            <p:nvPr/>
          </p:nvSpPr>
          <p:spPr>
            <a:xfrm>
              <a:off x="1316926" y="1305430"/>
              <a:ext cx="5267707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2208" tIns="156237" rIns="102208" bIns="156237" numCol="1" spcCol="1270" anchor="ctr" anchorCtr="0">
              <a:noAutofit/>
            </a:bodyPr>
            <a:lstStyle/>
            <a:p>
              <a:pPr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/>
                <a:t>Describe the capsular and intra-capsular ligaments of the joint and know how they limit joint movement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EFA4099-F741-5603-5D33-EC261643AEE7}"/>
              </a:ext>
            </a:extLst>
          </p:cNvPr>
          <p:cNvGrpSpPr/>
          <p:nvPr/>
        </p:nvGrpSpPr>
        <p:grpSpPr>
          <a:xfrm>
            <a:off x="3591" y="293612"/>
            <a:ext cx="1316926" cy="615108"/>
            <a:chOff x="0" y="1305430"/>
            <a:chExt cx="1316926" cy="61510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D53E4E8-9176-05BA-53E6-170E418DF8DF}"/>
                </a:ext>
              </a:extLst>
            </p:cNvPr>
            <p:cNvSpPr/>
            <p:nvPr/>
          </p:nvSpPr>
          <p:spPr>
            <a:xfrm>
              <a:off x="0" y="1305430"/>
              <a:ext cx="1316926" cy="615108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C833281-D06D-0D58-B123-10E910912C67}"/>
                </a:ext>
              </a:extLst>
            </p:cNvPr>
            <p:cNvSpPr txBox="1"/>
            <p:nvPr/>
          </p:nvSpPr>
          <p:spPr>
            <a:xfrm>
              <a:off x="0" y="1305430"/>
              <a:ext cx="1316926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687" tIns="60759" rIns="69687" bIns="6075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dirty="0"/>
                <a:t>Describe</a:t>
              </a:r>
            </a:p>
          </p:txBody>
        </p:sp>
      </p:grpSp>
      <p:sp>
        <p:nvSpPr>
          <p:cNvPr id="23" name="Rectangle 1026">
            <a:extLst>
              <a:ext uri="{FF2B5EF4-FFF2-40B4-BE49-F238E27FC236}">
                <a16:creationId xmlns:a16="http://schemas.microsoft.com/office/drawing/2014/main" id="{9A4EF1B1-82EC-A5B4-6DB7-D99EA93A41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3506" y="1290025"/>
            <a:ext cx="3464438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GB" sz="2800" dirty="0">
                <a:cs typeface="Lucida Sans Unicode" panose="020B0602030504020204" pitchFamily="34" charset="0"/>
              </a:rPr>
              <a:t>Intra-Capsular ligaments</a:t>
            </a:r>
          </a:p>
        </p:txBody>
      </p:sp>
      <p:sp>
        <p:nvSpPr>
          <p:cNvPr id="16" name="Rectangle 1027">
            <a:extLst>
              <a:ext uri="{FF2B5EF4-FFF2-40B4-BE49-F238E27FC236}">
                <a16:creationId xmlns:a16="http://schemas.microsoft.com/office/drawing/2014/main" id="{57E25F59-9D31-2205-7321-C7A40BBDA2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9034" y="2857982"/>
            <a:ext cx="4112563" cy="381137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800" dirty="0">
                <a:solidFill>
                  <a:schemeClr val="tx1"/>
                </a:solidFill>
                <a:latin typeface="Arial" charset="0"/>
                <a:cs typeface="Arial" charset="0"/>
              </a:rPr>
              <a:t>• </a:t>
            </a:r>
            <a:r>
              <a:rPr lang="en-GB" sz="1800" dirty="0">
                <a:solidFill>
                  <a:schemeClr val="bg1"/>
                </a:solidFill>
                <a:latin typeface="Arial" charset="0"/>
                <a:cs typeface="Arial" charset="0"/>
              </a:rPr>
              <a:t>Transverse acetabular ligament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800" dirty="0">
                <a:solidFill>
                  <a:schemeClr val="tx1"/>
                </a:solidFill>
                <a:latin typeface="Arial" charset="0"/>
                <a:cs typeface="Arial" charset="0"/>
              </a:rPr>
              <a:t>     - crosses the acetabular notch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GB" sz="1800" dirty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800" dirty="0">
                <a:solidFill>
                  <a:schemeClr val="tx1"/>
                </a:solidFill>
                <a:latin typeface="Arial" charset="0"/>
                <a:cs typeface="Arial" charset="0"/>
              </a:rPr>
              <a:t>• </a:t>
            </a:r>
            <a:r>
              <a:rPr lang="en-GB" sz="1800" dirty="0">
                <a:solidFill>
                  <a:schemeClr val="bg1"/>
                </a:solidFill>
                <a:latin typeface="Arial" charset="0"/>
                <a:cs typeface="Arial" charset="0"/>
              </a:rPr>
              <a:t>Ligament of head of femur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800" dirty="0">
                <a:solidFill>
                  <a:schemeClr val="tx1"/>
                </a:solidFill>
                <a:latin typeface="Arial" charset="0"/>
                <a:cs typeface="Arial" charset="0"/>
              </a:rPr>
              <a:t>  (ligamentum teres)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800" dirty="0">
                <a:solidFill>
                  <a:schemeClr val="tx1"/>
                </a:solidFill>
                <a:latin typeface="Arial" charset="0"/>
                <a:cs typeface="Arial" charset="0"/>
              </a:rPr>
              <a:t>   - attach to fovea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800" dirty="0">
                <a:solidFill>
                  <a:schemeClr val="tx1"/>
                </a:solidFill>
                <a:latin typeface="Arial" charset="0"/>
                <a:cs typeface="Arial" charset="0"/>
              </a:rPr>
              <a:t>   - no role in stability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800" dirty="0">
                <a:solidFill>
                  <a:schemeClr val="tx1"/>
                </a:solidFill>
                <a:latin typeface="Arial" charset="0"/>
                <a:cs typeface="Arial" charset="0"/>
              </a:rPr>
              <a:t>   - its synovial membrane forms a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800" dirty="0">
                <a:solidFill>
                  <a:schemeClr val="tx1"/>
                </a:solidFill>
                <a:latin typeface="Arial" charset="0"/>
                <a:cs typeface="Arial" charset="0"/>
              </a:rPr>
              <a:t>     tube for blood vessels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800" dirty="0">
                <a:solidFill>
                  <a:schemeClr val="tx1"/>
                </a:solidFill>
                <a:latin typeface="Arial" charset="0"/>
                <a:cs typeface="Arial" charset="0"/>
              </a:rPr>
              <a:t>   - sometimes absent in adults</a:t>
            </a:r>
            <a:endParaRPr lang="en-GB" sz="1800" dirty="0">
              <a:solidFill>
                <a:srgbClr val="FFFFFF"/>
              </a:solidFill>
              <a:latin typeface="Arial" charset="0"/>
              <a:cs typeface="Arial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GB" sz="1800" dirty="0">
              <a:solidFill>
                <a:srgbClr val="FFFFFF"/>
              </a:solidFill>
              <a:latin typeface="Arial" charset="0"/>
              <a:cs typeface="Arial" charset="0"/>
            </a:endParaRPr>
          </a:p>
        </p:txBody>
      </p:sp>
      <p:pic>
        <p:nvPicPr>
          <p:cNvPr id="17" name="Picture 16" descr="Diagram&#10;&#10;Description automatically generated">
            <a:extLst>
              <a:ext uri="{FF2B5EF4-FFF2-40B4-BE49-F238E27FC236}">
                <a16:creationId xmlns:a16="http://schemas.microsoft.com/office/drawing/2014/main" id="{45DE32E1-87A8-9D05-5046-9DC2A8EF06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406" y="1988840"/>
            <a:ext cx="3975750" cy="4464000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DF6FEFA-B7CF-C822-F962-AE9C99D2144D}"/>
              </a:ext>
            </a:extLst>
          </p:cNvPr>
          <p:cNvSpPr/>
          <p:nvPr/>
        </p:nvSpPr>
        <p:spPr>
          <a:xfrm>
            <a:off x="6876256" y="5301208"/>
            <a:ext cx="864096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91732E-5EA9-D13E-42AD-3BC8A7138DB1}"/>
              </a:ext>
            </a:extLst>
          </p:cNvPr>
          <p:cNvSpPr/>
          <p:nvPr/>
        </p:nvSpPr>
        <p:spPr>
          <a:xfrm>
            <a:off x="7765523" y="4725144"/>
            <a:ext cx="864096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1809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13FAE8A-AEF3-D3F2-44C1-31CD502AD783}"/>
              </a:ext>
            </a:extLst>
          </p:cNvPr>
          <p:cNvSpPr/>
          <p:nvPr/>
        </p:nvSpPr>
        <p:spPr>
          <a:xfrm>
            <a:off x="0" y="27384"/>
            <a:ext cx="52920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86AA886-5F2C-CA06-1948-562C8370FE2D}"/>
              </a:ext>
            </a:extLst>
          </p:cNvPr>
          <p:cNvGrpSpPr/>
          <p:nvPr/>
        </p:nvGrpSpPr>
        <p:grpSpPr>
          <a:xfrm>
            <a:off x="1320519" y="293612"/>
            <a:ext cx="5267707" cy="615108"/>
            <a:chOff x="1316926" y="1957445"/>
            <a:chExt cx="5267707" cy="61510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1A29A41-AD07-1D67-3818-DD34D63E4D59}"/>
                </a:ext>
              </a:extLst>
            </p:cNvPr>
            <p:cNvSpPr/>
            <p:nvPr/>
          </p:nvSpPr>
          <p:spPr>
            <a:xfrm>
              <a:off x="1316926" y="1957445"/>
              <a:ext cx="5267707" cy="615108"/>
            </a:xfrm>
            <a:prstGeom prst="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CE6D95E-AC2D-06C5-B5A4-E640F41CCFC4}"/>
                </a:ext>
              </a:extLst>
            </p:cNvPr>
            <p:cNvSpPr txBox="1"/>
            <p:nvPr/>
          </p:nvSpPr>
          <p:spPr>
            <a:xfrm>
              <a:off x="1316926" y="1957445"/>
              <a:ext cx="5267707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2208" tIns="156237" rIns="102208" bIns="156237" numCol="1" spcCol="1270" anchor="ctr" anchorCtr="0">
              <a:noAutofit/>
            </a:bodyPr>
            <a:lstStyle/>
            <a:p>
              <a:pPr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/>
                <a:t>Describe the functions of the muscles surrounding the hip joint in terms of their attachment, actions, nerve supply and their role in stability 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5410B8-CA01-D36D-2174-FCA235436EF8}"/>
              </a:ext>
            </a:extLst>
          </p:cNvPr>
          <p:cNvGrpSpPr/>
          <p:nvPr/>
        </p:nvGrpSpPr>
        <p:grpSpPr>
          <a:xfrm>
            <a:off x="3591" y="293612"/>
            <a:ext cx="1316926" cy="615108"/>
            <a:chOff x="0" y="1957445"/>
            <a:chExt cx="1316926" cy="61510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9901282-145B-0E6B-1D7A-05D9B060F953}"/>
                </a:ext>
              </a:extLst>
            </p:cNvPr>
            <p:cNvSpPr/>
            <p:nvPr/>
          </p:nvSpPr>
          <p:spPr>
            <a:xfrm>
              <a:off x="0" y="1957445"/>
              <a:ext cx="1316926" cy="615108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A1CEDDE-4725-898E-1614-C88F96567BED}"/>
                </a:ext>
              </a:extLst>
            </p:cNvPr>
            <p:cNvSpPr txBox="1"/>
            <p:nvPr/>
          </p:nvSpPr>
          <p:spPr>
            <a:xfrm>
              <a:off x="0" y="1957445"/>
              <a:ext cx="1316926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687" tIns="60759" rIns="69687" bIns="6075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/>
                <a:t>Describe</a:t>
              </a:r>
            </a:p>
          </p:txBody>
        </p:sp>
      </p:grpSp>
      <p:sp>
        <p:nvSpPr>
          <p:cNvPr id="22" name="Rectangle 1026">
            <a:extLst>
              <a:ext uri="{FF2B5EF4-FFF2-40B4-BE49-F238E27FC236}">
                <a16:creationId xmlns:a16="http://schemas.microsoft.com/office/drawing/2014/main" id="{0E9828F0-B7C0-F741-9A45-6088589B6C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3508" y="1290025"/>
            <a:ext cx="3356919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pPr eaLnBrk="1" hangingPunct="1"/>
            <a:r>
              <a:rPr lang="en-GB" sz="2800" dirty="0">
                <a:cs typeface="Lucida Sans Unicode" panose="020B0602030504020204" pitchFamily="34" charset="0"/>
              </a:rPr>
              <a:t>HIP muscles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8F0F9A64-442D-633E-50D2-F918B83269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06" y="2733453"/>
            <a:ext cx="7534654" cy="3642953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2871082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13FAE8A-AEF3-D3F2-44C1-31CD502AD783}"/>
              </a:ext>
            </a:extLst>
          </p:cNvPr>
          <p:cNvSpPr/>
          <p:nvPr/>
        </p:nvSpPr>
        <p:spPr>
          <a:xfrm>
            <a:off x="0" y="5703"/>
            <a:ext cx="52920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86AA886-5F2C-CA06-1948-562C8370FE2D}"/>
              </a:ext>
            </a:extLst>
          </p:cNvPr>
          <p:cNvGrpSpPr/>
          <p:nvPr/>
        </p:nvGrpSpPr>
        <p:grpSpPr>
          <a:xfrm>
            <a:off x="1320519" y="293612"/>
            <a:ext cx="5267707" cy="615108"/>
            <a:chOff x="1316926" y="1957445"/>
            <a:chExt cx="5267707" cy="61510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1A29A41-AD07-1D67-3818-DD34D63E4D59}"/>
                </a:ext>
              </a:extLst>
            </p:cNvPr>
            <p:cNvSpPr/>
            <p:nvPr/>
          </p:nvSpPr>
          <p:spPr>
            <a:xfrm>
              <a:off x="1316926" y="1957445"/>
              <a:ext cx="5267707" cy="615108"/>
            </a:xfrm>
            <a:prstGeom prst="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CE6D95E-AC2D-06C5-B5A4-E640F41CCFC4}"/>
                </a:ext>
              </a:extLst>
            </p:cNvPr>
            <p:cNvSpPr txBox="1"/>
            <p:nvPr/>
          </p:nvSpPr>
          <p:spPr>
            <a:xfrm>
              <a:off x="1316926" y="1957445"/>
              <a:ext cx="5267707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2208" tIns="156237" rIns="102208" bIns="156237" numCol="1" spcCol="1270" anchor="ctr" anchorCtr="0">
              <a:noAutofit/>
            </a:bodyPr>
            <a:lstStyle/>
            <a:p>
              <a:pPr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/>
                <a:t>Describe the functions of the muscles surrounding the hip joint in terms of their attachment, actions, nerve supply and their role in stability 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5410B8-CA01-D36D-2174-FCA235436EF8}"/>
              </a:ext>
            </a:extLst>
          </p:cNvPr>
          <p:cNvGrpSpPr/>
          <p:nvPr/>
        </p:nvGrpSpPr>
        <p:grpSpPr>
          <a:xfrm>
            <a:off x="3591" y="293612"/>
            <a:ext cx="1316926" cy="615108"/>
            <a:chOff x="0" y="1957445"/>
            <a:chExt cx="1316926" cy="61510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9901282-145B-0E6B-1D7A-05D9B060F953}"/>
                </a:ext>
              </a:extLst>
            </p:cNvPr>
            <p:cNvSpPr/>
            <p:nvPr/>
          </p:nvSpPr>
          <p:spPr>
            <a:xfrm>
              <a:off x="0" y="1957445"/>
              <a:ext cx="1316926" cy="615108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A1CEDDE-4725-898E-1614-C88F96567BED}"/>
                </a:ext>
              </a:extLst>
            </p:cNvPr>
            <p:cNvSpPr txBox="1"/>
            <p:nvPr/>
          </p:nvSpPr>
          <p:spPr>
            <a:xfrm>
              <a:off x="0" y="1957445"/>
              <a:ext cx="1316926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687" tIns="60759" rIns="69687" bIns="6075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/>
                <a:t>Describe</a:t>
              </a:r>
            </a:p>
          </p:txBody>
        </p:sp>
      </p:grpSp>
      <p:sp>
        <p:nvSpPr>
          <p:cNvPr id="22" name="Rectangle 1026">
            <a:extLst>
              <a:ext uri="{FF2B5EF4-FFF2-40B4-BE49-F238E27FC236}">
                <a16:creationId xmlns:a16="http://schemas.microsoft.com/office/drawing/2014/main" id="{0E9828F0-B7C0-F741-9A45-6088589B6C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3508" y="1290025"/>
            <a:ext cx="3356919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pPr eaLnBrk="1" hangingPunct="1"/>
            <a:r>
              <a:rPr lang="en-GB" sz="2800" dirty="0">
                <a:cs typeface="Lucida Sans Unicode" panose="020B0602030504020204" pitchFamily="34" charset="0"/>
              </a:rPr>
              <a:t>GLUTEAL MUSCLES 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30D0BAD8-A5F8-9442-7BB3-E2DDF8391E03}"/>
              </a:ext>
            </a:extLst>
          </p:cNvPr>
          <p:cNvSpPr txBox="1">
            <a:spLocks noChangeArrowheads="1"/>
          </p:cNvSpPr>
          <p:nvPr/>
        </p:nvSpPr>
        <p:spPr>
          <a:xfrm>
            <a:off x="539552" y="2780928"/>
            <a:ext cx="4608512" cy="37834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44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800" b="1" dirty="0">
                <a:solidFill>
                  <a:schemeClr val="tx1"/>
                </a:solidFill>
                <a:latin typeface="Arial" charset="0"/>
              </a:rPr>
              <a:t>Gluteus Maximus</a:t>
            </a: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600" dirty="0">
                <a:solidFill>
                  <a:srgbClr val="FFFFFF"/>
                </a:solidFill>
                <a:latin typeface="Arial" charset="0"/>
              </a:rPr>
              <a:t>Large, powerful extensor</a:t>
            </a: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600" dirty="0">
                <a:solidFill>
                  <a:srgbClr val="FFFFFF"/>
                </a:solidFill>
                <a:latin typeface="Arial" charset="0"/>
              </a:rPr>
              <a:t>F - Extends &amp; laterally rotates the thigh</a:t>
            </a: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600" dirty="0">
                <a:solidFill>
                  <a:srgbClr val="FFFFFF"/>
                </a:solidFill>
                <a:latin typeface="Arial" charset="0"/>
              </a:rPr>
              <a:t>O - Posterior gluteal line of the ilium, iliac crest, </a:t>
            </a: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600" dirty="0">
                <a:solidFill>
                  <a:srgbClr val="FFFFFF"/>
                </a:solidFill>
                <a:latin typeface="Arial" charset="0"/>
              </a:rPr>
              <a:t>     aponeurosis of the erector spinae, dorsal </a:t>
            </a: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600" dirty="0">
                <a:solidFill>
                  <a:srgbClr val="FFFFFF"/>
                </a:solidFill>
                <a:latin typeface="Arial" charset="0"/>
              </a:rPr>
              <a:t>     surface of the lower part of the sacrum, side </a:t>
            </a: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600" dirty="0">
                <a:solidFill>
                  <a:srgbClr val="FFFFFF"/>
                </a:solidFill>
                <a:latin typeface="Arial" charset="0"/>
              </a:rPr>
              <a:t>     of the coccyx, </a:t>
            </a:r>
            <a:r>
              <a:rPr lang="en-GB" sz="1600" dirty="0" err="1">
                <a:solidFill>
                  <a:srgbClr val="FFFFFF"/>
                </a:solidFill>
                <a:latin typeface="Arial" charset="0"/>
              </a:rPr>
              <a:t>sacrotuberous</a:t>
            </a:r>
            <a:r>
              <a:rPr lang="en-GB" sz="1600" dirty="0">
                <a:solidFill>
                  <a:srgbClr val="FFFFFF"/>
                </a:solidFill>
                <a:latin typeface="Arial" charset="0"/>
              </a:rPr>
              <a:t> ligament and </a:t>
            </a: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600" dirty="0">
                <a:solidFill>
                  <a:srgbClr val="FFFFFF"/>
                </a:solidFill>
                <a:latin typeface="Arial" charset="0"/>
              </a:rPr>
              <a:t>     intermuscular fascia</a:t>
            </a: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600" dirty="0">
                <a:solidFill>
                  <a:srgbClr val="FFFFFF"/>
                </a:solidFill>
                <a:latin typeface="Arial" charset="0"/>
              </a:rPr>
              <a:t>I - Iliotibial tract of the fascia </a:t>
            </a:r>
            <a:r>
              <a:rPr lang="en-GB" sz="1600" dirty="0" err="1">
                <a:solidFill>
                  <a:srgbClr val="FFFFFF"/>
                </a:solidFill>
                <a:latin typeface="Arial" charset="0"/>
              </a:rPr>
              <a:t>lata</a:t>
            </a:r>
            <a:r>
              <a:rPr lang="en-GB" sz="1600" dirty="0">
                <a:solidFill>
                  <a:srgbClr val="FFFFFF"/>
                </a:solidFill>
                <a:latin typeface="Arial" charset="0"/>
              </a:rPr>
              <a:t> and the gluteal </a:t>
            </a: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600" dirty="0">
                <a:solidFill>
                  <a:srgbClr val="FFFFFF"/>
                </a:solidFill>
                <a:latin typeface="Arial" charset="0"/>
              </a:rPr>
              <a:t>    tuberosity of the femur</a:t>
            </a: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600" dirty="0" err="1">
                <a:solidFill>
                  <a:srgbClr val="FFFFFF"/>
                </a:solidFill>
                <a:latin typeface="Arial" charset="0"/>
              </a:rPr>
              <a:t>i</a:t>
            </a:r>
            <a:r>
              <a:rPr lang="en-GB" sz="1600" dirty="0">
                <a:solidFill>
                  <a:srgbClr val="FFFFFF"/>
                </a:solidFill>
                <a:latin typeface="Arial" charset="0"/>
              </a:rPr>
              <a:t> - Inferior gluteal nerve. L5-S2</a:t>
            </a:r>
          </a:p>
        </p:txBody>
      </p:sp>
      <p:pic>
        <p:nvPicPr>
          <p:cNvPr id="14" name="Picture 13" descr="Gluteus maximus muscle">
            <a:extLst>
              <a:ext uri="{FF2B5EF4-FFF2-40B4-BE49-F238E27FC236}">
                <a16:creationId xmlns:a16="http://schemas.microsoft.com/office/drawing/2014/main" id="{856CD2AE-96DF-91DC-708C-43572C9DA2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586" y="1196629"/>
            <a:ext cx="2441568" cy="5194828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27184523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13FAE8A-AEF3-D3F2-44C1-31CD502AD783}"/>
              </a:ext>
            </a:extLst>
          </p:cNvPr>
          <p:cNvSpPr/>
          <p:nvPr/>
        </p:nvSpPr>
        <p:spPr>
          <a:xfrm>
            <a:off x="0" y="5703"/>
            <a:ext cx="52920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86AA886-5F2C-CA06-1948-562C8370FE2D}"/>
              </a:ext>
            </a:extLst>
          </p:cNvPr>
          <p:cNvGrpSpPr/>
          <p:nvPr/>
        </p:nvGrpSpPr>
        <p:grpSpPr>
          <a:xfrm>
            <a:off x="1320519" y="293612"/>
            <a:ext cx="5267707" cy="615108"/>
            <a:chOff x="1316926" y="1957445"/>
            <a:chExt cx="5267707" cy="61510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1A29A41-AD07-1D67-3818-DD34D63E4D59}"/>
                </a:ext>
              </a:extLst>
            </p:cNvPr>
            <p:cNvSpPr/>
            <p:nvPr/>
          </p:nvSpPr>
          <p:spPr>
            <a:xfrm>
              <a:off x="1316926" y="1957445"/>
              <a:ext cx="5267707" cy="615108"/>
            </a:xfrm>
            <a:prstGeom prst="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CE6D95E-AC2D-06C5-B5A4-E640F41CCFC4}"/>
                </a:ext>
              </a:extLst>
            </p:cNvPr>
            <p:cNvSpPr txBox="1"/>
            <p:nvPr/>
          </p:nvSpPr>
          <p:spPr>
            <a:xfrm>
              <a:off x="1316926" y="1957445"/>
              <a:ext cx="5267707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2208" tIns="156237" rIns="102208" bIns="156237" numCol="1" spcCol="1270" anchor="ctr" anchorCtr="0">
              <a:noAutofit/>
            </a:bodyPr>
            <a:lstStyle/>
            <a:p>
              <a:pPr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/>
                <a:t>Describe the functions of the muscles surrounding the hip joint in terms of their attachment, actions, nerve supply and their role in stability 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5410B8-CA01-D36D-2174-FCA235436EF8}"/>
              </a:ext>
            </a:extLst>
          </p:cNvPr>
          <p:cNvGrpSpPr/>
          <p:nvPr/>
        </p:nvGrpSpPr>
        <p:grpSpPr>
          <a:xfrm>
            <a:off x="3591" y="293612"/>
            <a:ext cx="1316926" cy="615108"/>
            <a:chOff x="0" y="1957445"/>
            <a:chExt cx="1316926" cy="61510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9901282-145B-0E6B-1D7A-05D9B060F953}"/>
                </a:ext>
              </a:extLst>
            </p:cNvPr>
            <p:cNvSpPr/>
            <p:nvPr/>
          </p:nvSpPr>
          <p:spPr>
            <a:xfrm>
              <a:off x="0" y="1957445"/>
              <a:ext cx="1316926" cy="615108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A1CEDDE-4725-898E-1614-C88F96567BED}"/>
                </a:ext>
              </a:extLst>
            </p:cNvPr>
            <p:cNvSpPr txBox="1"/>
            <p:nvPr/>
          </p:nvSpPr>
          <p:spPr>
            <a:xfrm>
              <a:off x="0" y="1957445"/>
              <a:ext cx="1316926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687" tIns="60759" rIns="69687" bIns="6075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/>
                <a:t>Describe</a:t>
              </a:r>
            </a:p>
          </p:txBody>
        </p:sp>
      </p:grpSp>
      <p:sp>
        <p:nvSpPr>
          <p:cNvPr id="22" name="Rectangle 1026">
            <a:extLst>
              <a:ext uri="{FF2B5EF4-FFF2-40B4-BE49-F238E27FC236}">
                <a16:creationId xmlns:a16="http://schemas.microsoft.com/office/drawing/2014/main" id="{0E9828F0-B7C0-F741-9A45-6088589B6C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3508" y="1290025"/>
            <a:ext cx="3356919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pPr eaLnBrk="1" hangingPunct="1"/>
            <a:r>
              <a:rPr lang="en-GB" sz="2800" dirty="0">
                <a:cs typeface="Lucida Sans Unicode" panose="020B0602030504020204" pitchFamily="34" charset="0"/>
              </a:rPr>
              <a:t>GLUTEAL MUSCLES 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30D0BAD8-A5F8-9442-7BB3-E2DDF8391E03}"/>
              </a:ext>
            </a:extLst>
          </p:cNvPr>
          <p:cNvSpPr txBox="1">
            <a:spLocks noChangeArrowheads="1"/>
          </p:cNvSpPr>
          <p:nvPr/>
        </p:nvSpPr>
        <p:spPr>
          <a:xfrm>
            <a:off x="242900" y="2655386"/>
            <a:ext cx="4806280" cy="39623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44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600" b="1" dirty="0">
                <a:solidFill>
                  <a:schemeClr val="tx1"/>
                </a:solidFill>
                <a:latin typeface="Arial" charset="0"/>
              </a:rPr>
              <a:t>Gluteus Medius</a:t>
            </a: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>
                <a:solidFill>
                  <a:srgbClr val="FFFFFF"/>
                </a:solidFill>
                <a:latin typeface="Arial" charset="0"/>
              </a:rPr>
              <a:t>F - Abducts and medially rotates the thigh. Anterior portion  </a:t>
            </a: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400" dirty="0">
                <a:solidFill>
                  <a:srgbClr val="FFFFFF"/>
                </a:solidFill>
                <a:latin typeface="Arial" charset="0"/>
              </a:rPr>
              <a:t>     flexes the thigh &amp; the posterior portion extends thigh</a:t>
            </a: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>
                <a:solidFill>
                  <a:srgbClr val="FFFFFF"/>
                </a:solidFill>
                <a:latin typeface="Arial" charset="0"/>
              </a:rPr>
              <a:t>O - Outer surface of the ilium between the iliac crest of the </a:t>
            </a: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400" dirty="0">
                <a:solidFill>
                  <a:srgbClr val="FFFFFF"/>
                </a:solidFill>
                <a:latin typeface="Arial" charset="0"/>
              </a:rPr>
              <a:t>     posterior gluteal line, anterior gluteal line</a:t>
            </a: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400" dirty="0">
                <a:solidFill>
                  <a:srgbClr val="FFFFFF"/>
                </a:solidFill>
                <a:latin typeface="Arial" charset="0"/>
              </a:rPr>
              <a:t>I - The lateral surface of the greater trochanter</a:t>
            </a: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400" dirty="0" err="1">
                <a:solidFill>
                  <a:srgbClr val="FFFFFF"/>
                </a:solidFill>
                <a:latin typeface="Arial" charset="0"/>
              </a:rPr>
              <a:t>i</a:t>
            </a:r>
            <a:r>
              <a:rPr lang="en-GB" sz="1400" dirty="0">
                <a:solidFill>
                  <a:srgbClr val="FFFFFF"/>
                </a:solidFill>
                <a:latin typeface="Arial" charset="0"/>
              </a:rPr>
              <a:t> - Superior gluteal nerve. L4-S1</a:t>
            </a: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600" b="1" dirty="0">
                <a:solidFill>
                  <a:schemeClr val="tx1"/>
                </a:solidFill>
                <a:latin typeface="Arial" charset="0"/>
              </a:rPr>
              <a:t>Gluteus Minimus</a:t>
            </a: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400" dirty="0">
                <a:solidFill>
                  <a:srgbClr val="FFFFFF"/>
                </a:solidFill>
                <a:latin typeface="Arial" charset="0"/>
              </a:rPr>
              <a:t>F - Abducts &amp; medially rotates the thigh</a:t>
            </a: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>
                <a:solidFill>
                  <a:srgbClr val="FFFFFF"/>
                </a:solidFill>
                <a:latin typeface="Arial" charset="0"/>
              </a:rPr>
              <a:t>O - Outer surface of the ilium between the anterior &amp; </a:t>
            </a: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>
                <a:solidFill>
                  <a:srgbClr val="FFFFFF"/>
                </a:solidFill>
                <a:latin typeface="Arial" charset="0"/>
              </a:rPr>
              <a:t>     inferior gluteal lines and the margin of the greater </a:t>
            </a: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400" dirty="0">
                <a:solidFill>
                  <a:srgbClr val="FFFFFF"/>
                </a:solidFill>
                <a:latin typeface="Arial" charset="0"/>
              </a:rPr>
              <a:t>     sciatic notch</a:t>
            </a: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>
                <a:solidFill>
                  <a:srgbClr val="FFFFFF"/>
                </a:solidFill>
                <a:latin typeface="Arial" charset="0"/>
              </a:rPr>
              <a:t>I - The ridge laterally situated on the anterior surface of the </a:t>
            </a: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400" dirty="0">
                <a:solidFill>
                  <a:srgbClr val="FFFFFF"/>
                </a:solidFill>
                <a:latin typeface="Arial" charset="0"/>
              </a:rPr>
              <a:t>     greater trochanter</a:t>
            </a: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400" dirty="0" err="1">
                <a:solidFill>
                  <a:srgbClr val="FFFFFF"/>
                </a:solidFill>
                <a:latin typeface="Arial" charset="0"/>
              </a:rPr>
              <a:t>i</a:t>
            </a:r>
            <a:r>
              <a:rPr lang="en-GB" sz="1400" dirty="0">
                <a:solidFill>
                  <a:srgbClr val="FFFFFF"/>
                </a:solidFill>
                <a:latin typeface="Arial" charset="0"/>
              </a:rPr>
              <a:t> - Superior gluteal nerve. L4-S1</a:t>
            </a:r>
          </a:p>
        </p:txBody>
      </p:sp>
      <p:pic>
        <p:nvPicPr>
          <p:cNvPr id="23" name="Picture 22" descr="Gluteus Medius muscle&#10;">
            <a:extLst>
              <a:ext uri="{FF2B5EF4-FFF2-40B4-BE49-F238E27FC236}">
                <a16:creationId xmlns:a16="http://schemas.microsoft.com/office/drawing/2014/main" id="{63973DCE-4F2B-5F3F-7362-F4BF8C2B86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7851" y="1124744"/>
            <a:ext cx="1350869" cy="4032448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pic>
        <p:nvPicPr>
          <p:cNvPr id="24" name="Picture 23" descr="Gluteus minimus muscle &#10;">
            <a:extLst>
              <a:ext uri="{FF2B5EF4-FFF2-40B4-BE49-F238E27FC236}">
                <a16:creationId xmlns:a16="http://schemas.microsoft.com/office/drawing/2014/main" id="{502123EF-F6D2-EC7D-0184-9D6BF24884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4489" y="2476532"/>
            <a:ext cx="1428703" cy="4141168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31500421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13FAE8A-AEF3-D3F2-44C1-31CD502AD783}"/>
              </a:ext>
            </a:extLst>
          </p:cNvPr>
          <p:cNvSpPr/>
          <p:nvPr/>
        </p:nvSpPr>
        <p:spPr>
          <a:xfrm>
            <a:off x="0" y="5703"/>
            <a:ext cx="52920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86AA886-5F2C-CA06-1948-562C8370FE2D}"/>
              </a:ext>
            </a:extLst>
          </p:cNvPr>
          <p:cNvGrpSpPr/>
          <p:nvPr/>
        </p:nvGrpSpPr>
        <p:grpSpPr>
          <a:xfrm>
            <a:off x="1320519" y="293612"/>
            <a:ext cx="5267707" cy="615108"/>
            <a:chOff x="1316926" y="1957445"/>
            <a:chExt cx="5267707" cy="61510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1A29A41-AD07-1D67-3818-DD34D63E4D59}"/>
                </a:ext>
              </a:extLst>
            </p:cNvPr>
            <p:cNvSpPr/>
            <p:nvPr/>
          </p:nvSpPr>
          <p:spPr>
            <a:xfrm>
              <a:off x="1316926" y="1957445"/>
              <a:ext cx="5267707" cy="615108"/>
            </a:xfrm>
            <a:prstGeom prst="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CE6D95E-AC2D-06C5-B5A4-E640F41CCFC4}"/>
                </a:ext>
              </a:extLst>
            </p:cNvPr>
            <p:cNvSpPr txBox="1"/>
            <p:nvPr/>
          </p:nvSpPr>
          <p:spPr>
            <a:xfrm>
              <a:off x="1316926" y="1957445"/>
              <a:ext cx="5267707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2208" tIns="156237" rIns="102208" bIns="156237" numCol="1" spcCol="1270" anchor="ctr" anchorCtr="0">
              <a:noAutofit/>
            </a:bodyPr>
            <a:lstStyle/>
            <a:p>
              <a:pPr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/>
                <a:t>Describe the functions of the muscles surrounding the hip joint in terms of their attachment, actions, nerve supply and their role in stability 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5410B8-CA01-D36D-2174-FCA235436EF8}"/>
              </a:ext>
            </a:extLst>
          </p:cNvPr>
          <p:cNvGrpSpPr/>
          <p:nvPr/>
        </p:nvGrpSpPr>
        <p:grpSpPr>
          <a:xfrm>
            <a:off x="3591" y="293612"/>
            <a:ext cx="1316926" cy="615108"/>
            <a:chOff x="0" y="1957445"/>
            <a:chExt cx="1316926" cy="61510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9901282-145B-0E6B-1D7A-05D9B060F953}"/>
                </a:ext>
              </a:extLst>
            </p:cNvPr>
            <p:cNvSpPr/>
            <p:nvPr/>
          </p:nvSpPr>
          <p:spPr>
            <a:xfrm>
              <a:off x="0" y="1957445"/>
              <a:ext cx="1316926" cy="615108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A1CEDDE-4725-898E-1614-C88F96567BED}"/>
                </a:ext>
              </a:extLst>
            </p:cNvPr>
            <p:cNvSpPr txBox="1"/>
            <p:nvPr/>
          </p:nvSpPr>
          <p:spPr>
            <a:xfrm>
              <a:off x="0" y="1957445"/>
              <a:ext cx="1316926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687" tIns="60759" rIns="69687" bIns="6075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/>
                <a:t>Describe</a:t>
              </a:r>
            </a:p>
          </p:txBody>
        </p:sp>
      </p:grpSp>
      <p:sp>
        <p:nvSpPr>
          <p:cNvPr id="22" name="Rectangle 1026">
            <a:extLst>
              <a:ext uri="{FF2B5EF4-FFF2-40B4-BE49-F238E27FC236}">
                <a16:creationId xmlns:a16="http://schemas.microsoft.com/office/drawing/2014/main" id="{0E9828F0-B7C0-F741-9A45-6088589B6C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3506" y="1290025"/>
            <a:ext cx="3752470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GB" sz="2800" dirty="0">
                <a:cs typeface="Lucida Sans Unicode" panose="020B0602030504020204" pitchFamily="34" charset="0"/>
              </a:rPr>
              <a:t>Tensor Fascia Lata/ </a:t>
            </a:r>
            <a:br>
              <a:rPr lang="en-GB" sz="2800" dirty="0">
                <a:cs typeface="Lucida Sans Unicode" panose="020B0602030504020204" pitchFamily="34" charset="0"/>
              </a:rPr>
            </a:br>
            <a:r>
              <a:rPr lang="en-GB" sz="2800" dirty="0">
                <a:cs typeface="Lucida Sans Unicode" panose="020B0602030504020204" pitchFamily="34" charset="0"/>
              </a:rPr>
              <a:t>   Iliotibial Band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30D0BAD8-A5F8-9442-7BB3-E2DDF8391E03}"/>
              </a:ext>
            </a:extLst>
          </p:cNvPr>
          <p:cNvSpPr txBox="1">
            <a:spLocks noChangeArrowheads="1"/>
          </p:cNvSpPr>
          <p:nvPr/>
        </p:nvSpPr>
        <p:spPr>
          <a:xfrm>
            <a:off x="539552" y="2780928"/>
            <a:ext cx="4608512" cy="37834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44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bg1"/>
              </a:buClr>
              <a:buNone/>
            </a:pPr>
            <a:r>
              <a:rPr lang="en-GB" sz="1800" b="1" dirty="0">
                <a:solidFill>
                  <a:schemeClr val="tx1"/>
                </a:solidFill>
                <a:latin typeface="Arial" charset="0"/>
              </a:rPr>
              <a:t>TFL</a:t>
            </a:r>
            <a:endParaRPr lang="en-GB" sz="1800" dirty="0">
              <a:solidFill>
                <a:srgbClr val="FFFFFF"/>
              </a:solidFill>
              <a:latin typeface="Arial" charset="0"/>
            </a:endParaRP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800" dirty="0">
                <a:solidFill>
                  <a:srgbClr val="FFFFFF"/>
                </a:solidFill>
                <a:latin typeface="Arial" charset="0"/>
              </a:rPr>
              <a:t>F - Hip flexion, abduction, MR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800" dirty="0">
                <a:solidFill>
                  <a:srgbClr val="FFFFFF"/>
                </a:solidFill>
                <a:latin typeface="Arial" charset="0"/>
              </a:rPr>
              <a:t>O - Iliac crest &amp; lateral surface of ASIS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800" dirty="0">
                <a:solidFill>
                  <a:srgbClr val="FFFFFF"/>
                </a:solidFill>
                <a:latin typeface="Arial" charset="0"/>
              </a:rPr>
              <a:t> I - into tendinous iliotibial tract (band) 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800" dirty="0">
                <a:solidFill>
                  <a:srgbClr val="FFFFFF"/>
                </a:solidFill>
                <a:latin typeface="Arial" charset="0"/>
              </a:rPr>
              <a:t> </a:t>
            </a:r>
            <a:r>
              <a:rPr lang="en-GB" sz="1800" dirty="0" err="1">
                <a:solidFill>
                  <a:srgbClr val="FFFFFF"/>
                </a:solidFill>
                <a:latin typeface="Arial" charset="0"/>
              </a:rPr>
              <a:t>i</a:t>
            </a:r>
            <a:r>
              <a:rPr lang="en-GB" sz="1800" dirty="0">
                <a:solidFill>
                  <a:srgbClr val="FFFFFF"/>
                </a:solidFill>
                <a:latin typeface="Arial" charset="0"/>
              </a:rPr>
              <a:t> - Superior gluteal nerve. L4-S1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800" b="1" dirty="0">
                <a:solidFill>
                  <a:schemeClr val="tx1"/>
                </a:solidFill>
                <a:latin typeface="Arial" charset="0"/>
              </a:rPr>
              <a:t>ITB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800" dirty="0">
                <a:solidFill>
                  <a:srgbClr val="FFFFFF"/>
                </a:solidFill>
                <a:latin typeface="Arial" charset="0"/>
              </a:rPr>
              <a:t>• Strong membranous fascia, 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800" dirty="0">
                <a:solidFill>
                  <a:srgbClr val="FFFFFF"/>
                </a:solidFill>
                <a:latin typeface="Arial" charset="0"/>
              </a:rPr>
              <a:t>• Continuous of TFL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800" dirty="0">
                <a:solidFill>
                  <a:srgbClr val="FFFFFF"/>
                </a:solidFill>
                <a:latin typeface="Arial" charset="0"/>
              </a:rPr>
              <a:t>• Attaches to the lateral condyle of the tibia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None/>
            </a:pPr>
            <a:endParaRPr lang="en-GB" sz="1800" dirty="0">
              <a:solidFill>
                <a:srgbClr val="FFFFFF"/>
              </a:solidFill>
              <a:latin typeface="Arial" charset="0"/>
            </a:endParaRP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endParaRPr lang="en-GB" sz="1800" dirty="0">
              <a:solidFill>
                <a:srgbClr val="FFFFFF"/>
              </a:solidFill>
              <a:latin typeface="Arial" charset="0"/>
            </a:endParaRPr>
          </a:p>
        </p:txBody>
      </p:sp>
      <p:pic>
        <p:nvPicPr>
          <p:cNvPr id="14" name="Picture 13" descr="Tensor Fascia Lata muscle">
            <a:extLst>
              <a:ext uri="{FF2B5EF4-FFF2-40B4-BE49-F238E27FC236}">
                <a16:creationId xmlns:a16="http://schemas.microsoft.com/office/drawing/2014/main" id="{12D04884-3582-35D7-323E-CBD775ADBD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616" y="1196629"/>
            <a:ext cx="1297306" cy="3628830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pic>
        <p:nvPicPr>
          <p:cNvPr id="25" name="Picture 24" descr="Iliotibial band">
            <a:extLst>
              <a:ext uri="{FF2B5EF4-FFF2-40B4-BE49-F238E27FC236}">
                <a16:creationId xmlns:a16="http://schemas.microsoft.com/office/drawing/2014/main" id="{2DCDD02C-E40D-C84B-AFFC-A6071168C2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3181807"/>
            <a:ext cx="1480916" cy="3346704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23379992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13FAE8A-AEF3-D3F2-44C1-31CD502AD783}"/>
              </a:ext>
            </a:extLst>
          </p:cNvPr>
          <p:cNvSpPr/>
          <p:nvPr/>
        </p:nvSpPr>
        <p:spPr>
          <a:xfrm>
            <a:off x="0" y="0"/>
            <a:ext cx="52920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86AA886-5F2C-CA06-1948-562C8370FE2D}"/>
              </a:ext>
            </a:extLst>
          </p:cNvPr>
          <p:cNvGrpSpPr/>
          <p:nvPr/>
        </p:nvGrpSpPr>
        <p:grpSpPr>
          <a:xfrm>
            <a:off x="1320519" y="293612"/>
            <a:ext cx="5267707" cy="615108"/>
            <a:chOff x="1316926" y="1957445"/>
            <a:chExt cx="5267707" cy="61510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1A29A41-AD07-1D67-3818-DD34D63E4D59}"/>
                </a:ext>
              </a:extLst>
            </p:cNvPr>
            <p:cNvSpPr/>
            <p:nvPr/>
          </p:nvSpPr>
          <p:spPr>
            <a:xfrm>
              <a:off x="1316926" y="1957445"/>
              <a:ext cx="5267707" cy="615108"/>
            </a:xfrm>
            <a:prstGeom prst="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CE6D95E-AC2D-06C5-B5A4-E640F41CCFC4}"/>
                </a:ext>
              </a:extLst>
            </p:cNvPr>
            <p:cNvSpPr txBox="1"/>
            <p:nvPr/>
          </p:nvSpPr>
          <p:spPr>
            <a:xfrm>
              <a:off x="1316926" y="1957445"/>
              <a:ext cx="5267707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2208" tIns="156237" rIns="102208" bIns="156237" numCol="1" spcCol="1270" anchor="ctr" anchorCtr="0">
              <a:noAutofit/>
            </a:bodyPr>
            <a:lstStyle/>
            <a:p>
              <a:pPr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/>
                <a:t>Describe the functions of the muscles surrounding the hip joint in terms of their attachment, actions, nerve supply and their role in stability 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5410B8-CA01-D36D-2174-FCA235436EF8}"/>
              </a:ext>
            </a:extLst>
          </p:cNvPr>
          <p:cNvGrpSpPr/>
          <p:nvPr/>
        </p:nvGrpSpPr>
        <p:grpSpPr>
          <a:xfrm>
            <a:off x="3591" y="293612"/>
            <a:ext cx="1316926" cy="615108"/>
            <a:chOff x="0" y="1957445"/>
            <a:chExt cx="1316926" cy="61510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9901282-145B-0E6B-1D7A-05D9B060F953}"/>
                </a:ext>
              </a:extLst>
            </p:cNvPr>
            <p:cNvSpPr/>
            <p:nvPr/>
          </p:nvSpPr>
          <p:spPr>
            <a:xfrm>
              <a:off x="0" y="1957445"/>
              <a:ext cx="1316926" cy="615108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A1CEDDE-4725-898E-1614-C88F96567BED}"/>
                </a:ext>
              </a:extLst>
            </p:cNvPr>
            <p:cNvSpPr txBox="1"/>
            <p:nvPr/>
          </p:nvSpPr>
          <p:spPr>
            <a:xfrm>
              <a:off x="0" y="1957445"/>
              <a:ext cx="1316926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687" tIns="60759" rIns="69687" bIns="6075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/>
                <a:t>Describe</a:t>
              </a:r>
            </a:p>
          </p:txBody>
        </p:sp>
      </p:grpSp>
      <p:sp>
        <p:nvSpPr>
          <p:cNvPr id="22" name="Rectangle 1026">
            <a:extLst>
              <a:ext uri="{FF2B5EF4-FFF2-40B4-BE49-F238E27FC236}">
                <a16:creationId xmlns:a16="http://schemas.microsoft.com/office/drawing/2014/main" id="{0E9828F0-B7C0-F741-9A45-6088589B6C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3508" y="1290025"/>
            <a:ext cx="3356919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pPr eaLnBrk="1" hangingPunct="1"/>
            <a:r>
              <a:rPr lang="en-GB" sz="2800" dirty="0">
                <a:cs typeface="Lucida Sans Unicode" panose="020B0602030504020204" pitchFamily="34" charset="0"/>
              </a:rPr>
              <a:t>Hip flexors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30D0BAD8-A5F8-9442-7BB3-E2DDF8391E03}"/>
              </a:ext>
            </a:extLst>
          </p:cNvPr>
          <p:cNvSpPr txBox="1">
            <a:spLocks noChangeArrowheads="1"/>
          </p:cNvSpPr>
          <p:nvPr/>
        </p:nvSpPr>
        <p:spPr>
          <a:xfrm>
            <a:off x="391537" y="2564904"/>
            <a:ext cx="4824536" cy="39994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44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600" b="1" dirty="0">
                <a:solidFill>
                  <a:schemeClr val="tx1"/>
                </a:solidFill>
                <a:latin typeface="Arial" charset="0"/>
              </a:rPr>
              <a:t>Rectus Femoris</a:t>
            </a:r>
          </a:p>
          <a:p>
            <a:pPr marL="0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600" dirty="0">
                <a:solidFill>
                  <a:schemeClr val="bg1"/>
                </a:solidFill>
                <a:latin typeface="Arial" charset="0"/>
              </a:rPr>
              <a:t>• of quadriceps group</a:t>
            </a: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600" dirty="0">
                <a:solidFill>
                  <a:schemeClr val="bg1"/>
                </a:solidFill>
                <a:latin typeface="Arial" charset="0"/>
              </a:rPr>
              <a:t>F - Flexes the hip joint &amp; extends the knee joint</a:t>
            </a: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600" dirty="0">
                <a:solidFill>
                  <a:schemeClr val="bg1"/>
                </a:solidFill>
                <a:latin typeface="Arial" charset="0"/>
              </a:rPr>
              <a:t>O - by two heads, from the anterior inferior iliac </a:t>
            </a: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600" dirty="0">
                <a:solidFill>
                  <a:schemeClr val="bg1"/>
                </a:solidFill>
                <a:latin typeface="Arial" charset="0"/>
              </a:rPr>
              <a:t>     spine and a reflected head from a groove above </a:t>
            </a: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600" dirty="0">
                <a:solidFill>
                  <a:schemeClr val="bg1"/>
                </a:solidFill>
                <a:latin typeface="Arial" charset="0"/>
              </a:rPr>
              <a:t>     the acetabulum</a:t>
            </a: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600" dirty="0">
                <a:solidFill>
                  <a:schemeClr val="bg1"/>
                </a:solidFill>
                <a:latin typeface="Arial" charset="0"/>
              </a:rPr>
              <a:t>I - Base of the patella</a:t>
            </a: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600" dirty="0" err="1">
                <a:solidFill>
                  <a:schemeClr val="bg1"/>
                </a:solidFill>
                <a:latin typeface="Arial" charset="0"/>
              </a:rPr>
              <a:t>i</a:t>
            </a:r>
            <a:r>
              <a:rPr lang="en-GB" sz="1600" dirty="0">
                <a:solidFill>
                  <a:schemeClr val="bg1"/>
                </a:solidFill>
                <a:latin typeface="Arial" charset="0"/>
              </a:rPr>
              <a:t> - Femoral nerve. L2-L4</a:t>
            </a:r>
          </a:p>
          <a:p>
            <a:pPr marL="0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600" b="1" dirty="0">
                <a:solidFill>
                  <a:schemeClr val="tx1"/>
                </a:solidFill>
                <a:latin typeface="Arial" charset="0"/>
              </a:rPr>
              <a:t>Iliacus</a:t>
            </a: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600" dirty="0">
                <a:solidFill>
                  <a:srgbClr val="FFFFFF"/>
                </a:solidFill>
                <a:latin typeface="Arial" charset="0"/>
              </a:rPr>
              <a:t>O - Iliac fossa superior 2/3, and upper sacrum</a:t>
            </a: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600" dirty="0">
                <a:solidFill>
                  <a:srgbClr val="FFFFFF"/>
                </a:solidFill>
                <a:latin typeface="Arial" charset="0"/>
              </a:rPr>
              <a:t> I - lesser trochanter via psoas major tendon</a:t>
            </a: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600" dirty="0">
                <a:solidFill>
                  <a:srgbClr val="FFFFFF"/>
                </a:solidFill>
                <a:latin typeface="Arial" charset="0"/>
              </a:rPr>
              <a:t>F - flexes the thigh</a:t>
            </a: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600" dirty="0">
                <a:solidFill>
                  <a:srgbClr val="FFFFFF"/>
                </a:solidFill>
                <a:latin typeface="Arial" charset="0"/>
              </a:rPr>
              <a:t> </a:t>
            </a:r>
            <a:r>
              <a:rPr lang="en-GB" sz="1600" dirty="0" err="1">
                <a:solidFill>
                  <a:srgbClr val="FFFFFF"/>
                </a:solidFill>
                <a:latin typeface="Arial" charset="0"/>
              </a:rPr>
              <a:t>i</a:t>
            </a:r>
            <a:r>
              <a:rPr lang="en-GB" sz="1600" dirty="0">
                <a:solidFill>
                  <a:srgbClr val="FFFFFF"/>
                </a:solidFill>
                <a:latin typeface="Arial" charset="0"/>
              </a:rPr>
              <a:t> – Femoral nerve L2-L3</a:t>
            </a: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endParaRPr lang="en-GB" sz="1600" dirty="0">
              <a:solidFill>
                <a:srgbClr val="FFFFFF"/>
              </a:solidFill>
              <a:latin typeface="Arial" charset="0"/>
            </a:endParaRP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600" dirty="0">
                <a:solidFill>
                  <a:srgbClr val="FFFFFF"/>
                </a:solidFill>
                <a:latin typeface="Arial" charset="0"/>
              </a:rPr>
              <a:t>Psoas major and iliacus form conjoined tendon which inserts on to lesser trochanter = ILIOPSOAS</a:t>
            </a:r>
          </a:p>
        </p:txBody>
      </p:sp>
      <p:pic>
        <p:nvPicPr>
          <p:cNvPr id="14" name="Picture 13" descr="Iliacus muscle">
            <a:extLst>
              <a:ext uri="{FF2B5EF4-FFF2-40B4-BE49-F238E27FC236}">
                <a16:creationId xmlns:a16="http://schemas.microsoft.com/office/drawing/2014/main" id="{A35F41F6-FC08-41EB-FEF7-215382C20AB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" r="1" b="15296"/>
          <a:stretch/>
        </p:blipFill>
        <p:spPr>
          <a:xfrm>
            <a:off x="6804250" y="3645026"/>
            <a:ext cx="1948215" cy="2880103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pic>
        <p:nvPicPr>
          <p:cNvPr id="3" name="Picture 2" descr="A picture containing rack, tied&#10;&#10;Description automatically generated">
            <a:extLst>
              <a:ext uri="{FF2B5EF4-FFF2-40B4-BE49-F238E27FC236}">
                <a16:creationId xmlns:a16="http://schemas.microsoft.com/office/drawing/2014/main" id="{26A50640-AFFB-17CC-67BE-8BF55C6841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871" y="1052736"/>
            <a:ext cx="962634" cy="3501008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30941919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13FAE8A-AEF3-D3F2-44C1-31CD502AD783}"/>
              </a:ext>
            </a:extLst>
          </p:cNvPr>
          <p:cNvSpPr/>
          <p:nvPr/>
        </p:nvSpPr>
        <p:spPr>
          <a:xfrm>
            <a:off x="0" y="5703"/>
            <a:ext cx="52920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86AA886-5F2C-CA06-1948-562C8370FE2D}"/>
              </a:ext>
            </a:extLst>
          </p:cNvPr>
          <p:cNvGrpSpPr/>
          <p:nvPr/>
        </p:nvGrpSpPr>
        <p:grpSpPr>
          <a:xfrm>
            <a:off x="1320519" y="293612"/>
            <a:ext cx="5267707" cy="615108"/>
            <a:chOff x="1316926" y="1957445"/>
            <a:chExt cx="5267707" cy="61510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1A29A41-AD07-1D67-3818-DD34D63E4D59}"/>
                </a:ext>
              </a:extLst>
            </p:cNvPr>
            <p:cNvSpPr/>
            <p:nvPr/>
          </p:nvSpPr>
          <p:spPr>
            <a:xfrm>
              <a:off x="1316926" y="1957445"/>
              <a:ext cx="5267707" cy="615108"/>
            </a:xfrm>
            <a:prstGeom prst="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CE6D95E-AC2D-06C5-B5A4-E640F41CCFC4}"/>
                </a:ext>
              </a:extLst>
            </p:cNvPr>
            <p:cNvSpPr txBox="1"/>
            <p:nvPr/>
          </p:nvSpPr>
          <p:spPr>
            <a:xfrm>
              <a:off x="1316926" y="1957445"/>
              <a:ext cx="5267707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2208" tIns="156237" rIns="102208" bIns="156237" numCol="1" spcCol="1270" anchor="ctr" anchorCtr="0">
              <a:noAutofit/>
            </a:bodyPr>
            <a:lstStyle/>
            <a:p>
              <a:pPr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/>
                <a:t>Describe the functions of the muscles surrounding the hip joint in terms of their attachment, actions, nerve supply and their role in stability 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5410B8-CA01-D36D-2174-FCA235436EF8}"/>
              </a:ext>
            </a:extLst>
          </p:cNvPr>
          <p:cNvGrpSpPr/>
          <p:nvPr/>
        </p:nvGrpSpPr>
        <p:grpSpPr>
          <a:xfrm>
            <a:off x="3591" y="293612"/>
            <a:ext cx="1316926" cy="615108"/>
            <a:chOff x="0" y="1957445"/>
            <a:chExt cx="1316926" cy="61510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9901282-145B-0E6B-1D7A-05D9B060F953}"/>
                </a:ext>
              </a:extLst>
            </p:cNvPr>
            <p:cNvSpPr/>
            <p:nvPr/>
          </p:nvSpPr>
          <p:spPr>
            <a:xfrm>
              <a:off x="0" y="1957445"/>
              <a:ext cx="1316926" cy="615108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A1CEDDE-4725-898E-1614-C88F96567BED}"/>
                </a:ext>
              </a:extLst>
            </p:cNvPr>
            <p:cNvSpPr txBox="1"/>
            <p:nvPr/>
          </p:nvSpPr>
          <p:spPr>
            <a:xfrm>
              <a:off x="0" y="1957445"/>
              <a:ext cx="1316926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687" tIns="60759" rIns="69687" bIns="6075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/>
                <a:t>Describe</a:t>
              </a:r>
            </a:p>
          </p:txBody>
        </p:sp>
      </p:grpSp>
      <p:sp>
        <p:nvSpPr>
          <p:cNvPr id="22" name="Rectangle 1026">
            <a:extLst>
              <a:ext uri="{FF2B5EF4-FFF2-40B4-BE49-F238E27FC236}">
                <a16:creationId xmlns:a16="http://schemas.microsoft.com/office/drawing/2014/main" id="{0E9828F0-B7C0-F741-9A45-6088589B6C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3508" y="1290025"/>
            <a:ext cx="3356919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pPr eaLnBrk="1" hangingPunct="1"/>
            <a:r>
              <a:rPr lang="en-GB" sz="2800" dirty="0">
                <a:cs typeface="Lucida Sans Unicode" panose="020B0602030504020204" pitchFamily="34" charset="0"/>
              </a:rPr>
              <a:t>ILIOPSOAS GROUP 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30D0BAD8-A5F8-9442-7BB3-E2DDF8391E03}"/>
              </a:ext>
            </a:extLst>
          </p:cNvPr>
          <p:cNvSpPr txBox="1">
            <a:spLocks noChangeArrowheads="1"/>
          </p:cNvSpPr>
          <p:nvPr/>
        </p:nvSpPr>
        <p:spPr>
          <a:xfrm>
            <a:off x="559200" y="2708920"/>
            <a:ext cx="4660873" cy="37834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44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800" dirty="0">
                <a:solidFill>
                  <a:srgbClr val="FFFFFF"/>
                </a:solidFill>
                <a:latin typeface="Arial" charset="0"/>
              </a:rPr>
              <a:t>Powerful hip flexors </a:t>
            </a: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800" dirty="0">
                <a:solidFill>
                  <a:srgbClr val="FFFFFF"/>
                </a:solidFill>
                <a:latin typeface="Arial" charset="0"/>
              </a:rPr>
              <a:t>3 muscles with different O but common I</a:t>
            </a: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800" dirty="0">
                <a:solidFill>
                  <a:srgbClr val="FFFFFF"/>
                </a:solidFill>
                <a:latin typeface="Arial" charset="0"/>
              </a:rPr>
              <a:t>   - Iliacus</a:t>
            </a: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800" dirty="0">
                <a:solidFill>
                  <a:srgbClr val="FFFFFF"/>
                </a:solidFill>
                <a:latin typeface="Arial" charset="0"/>
              </a:rPr>
              <a:t>   - psoas minor</a:t>
            </a: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800" dirty="0">
                <a:solidFill>
                  <a:srgbClr val="FFFFFF"/>
                </a:solidFill>
                <a:latin typeface="Arial" charset="0"/>
              </a:rPr>
              <a:t>   - psoas major</a:t>
            </a: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800" b="1" dirty="0">
                <a:solidFill>
                  <a:schemeClr val="tx1"/>
                </a:solidFill>
                <a:latin typeface="Arial" charset="0"/>
              </a:rPr>
              <a:t>Psoas major</a:t>
            </a: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800" dirty="0">
                <a:solidFill>
                  <a:srgbClr val="FFFFFF"/>
                </a:solidFill>
                <a:latin typeface="Arial" charset="0"/>
              </a:rPr>
              <a:t>O - transverse processes, bodies and </a:t>
            </a: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800" dirty="0">
                <a:solidFill>
                  <a:srgbClr val="FFFFFF"/>
                </a:solidFill>
                <a:latin typeface="Arial" charset="0"/>
              </a:rPr>
              <a:t>      intervertebral discs of lumbar (&amp; body of </a:t>
            </a: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800" dirty="0">
                <a:solidFill>
                  <a:srgbClr val="FFFFFF"/>
                </a:solidFill>
                <a:latin typeface="Arial" charset="0"/>
              </a:rPr>
              <a:t>     12</a:t>
            </a:r>
            <a:r>
              <a:rPr lang="en-GB" sz="1800" baseline="30000" dirty="0">
                <a:solidFill>
                  <a:srgbClr val="FFFFFF"/>
                </a:solidFill>
                <a:latin typeface="Arial" charset="0"/>
              </a:rPr>
              <a:t>th</a:t>
            </a:r>
            <a:r>
              <a:rPr lang="en-GB" sz="1800" dirty="0">
                <a:solidFill>
                  <a:srgbClr val="FFFFFF"/>
                </a:solidFill>
                <a:latin typeface="Arial" charset="0"/>
              </a:rPr>
              <a:t> thoracic)</a:t>
            </a: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800" dirty="0">
                <a:solidFill>
                  <a:srgbClr val="FFFFFF"/>
                </a:solidFill>
                <a:latin typeface="Arial" charset="0"/>
              </a:rPr>
              <a:t> I - lesser trochanter of femur</a:t>
            </a: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800" dirty="0">
                <a:solidFill>
                  <a:srgbClr val="FFFFFF"/>
                </a:solidFill>
                <a:latin typeface="Arial" charset="0"/>
              </a:rPr>
              <a:t> </a:t>
            </a:r>
            <a:r>
              <a:rPr lang="en-GB" sz="1800" dirty="0" err="1">
                <a:solidFill>
                  <a:srgbClr val="FFFFFF"/>
                </a:solidFill>
                <a:latin typeface="Arial" charset="0"/>
              </a:rPr>
              <a:t>i</a:t>
            </a:r>
            <a:r>
              <a:rPr lang="en-GB" sz="1800" dirty="0">
                <a:solidFill>
                  <a:srgbClr val="FFFFFF"/>
                </a:solidFill>
                <a:latin typeface="Arial" charset="0"/>
              </a:rPr>
              <a:t> – Lumbar plexus L2-L3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None/>
            </a:pPr>
            <a:endParaRPr lang="en-GB" sz="1800" dirty="0">
              <a:solidFill>
                <a:srgbClr val="FFFFFF"/>
              </a:solidFill>
              <a:latin typeface="Arial" charset="0"/>
            </a:endParaRP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endParaRPr lang="en-GB" sz="1800" dirty="0">
              <a:solidFill>
                <a:srgbClr val="FFFFFF"/>
              </a:solidFill>
              <a:latin typeface="Arial" charset="0"/>
            </a:endParaRPr>
          </a:p>
        </p:txBody>
      </p:sp>
      <p:pic>
        <p:nvPicPr>
          <p:cNvPr id="14" name="Picture 13" descr="Ilipsoas muscle group">
            <a:extLst>
              <a:ext uri="{FF2B5EF4-FFF2-40B4-BE49-F238E27FC236}">
                <a16:creationId xmlns:a16="http://schemas.microsoft.com/office/drawing/2014/main" id="{5A58421D-F9A2-A916-89FB-E06A6A5427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10559"/>
          <a:stretch/>
        </p:blipFill>
        <p:spPr>
          <a:xfrm>
            <a:off x="5751572" y="1556792"/>
            <a:ext cx="2900301" cy="4287600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41922655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13FAE8A-AEF3-D3F2-44C1-31CD502AD783}"/>
              </a:ext>
            </a:extLst>
          </p:cNvPr>
          <p:cNvSpPr/>
          <p:nvPr/>
        </p:nvSpPr>
        <p:spPr>
          <a:xfrm>
            <a:off x="7163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026">
            <a:extLst>
              <a:ext uri="{FF2B5EF4-FFF2-40B4-BE49-F238E27FC236}">
                <a16:creationId xmlns:a16="http://schemas.microsoft.com/office/drawing/2014/main" id="{0E9828F0-B7C0-F741-9A45-6088589B6C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65657" y="260648"/>
            <a:ext cx="3752470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pPr eaLnBrk="1" hangingPunct="1"/>
            <a:r>
              <a:rPr lang="en-GB" sz="2800" dirty="0">
                <a:cs typeface="Lucida Sans Unicode" panose="020B0602030504020204" pitchFamily="34" charset="0"/>
              </a:rPr>
              <a:t>adductors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30D0BAD8-A5F8-9442-7BB3-E2DDF8391E03}"/>
              </a:ext>
            </a:extLst>
          </p:cNvPr>
          <p:cNvSpPr txBox="1">
            <a:spLocks noChangeArrowheads="1"/>
          </p:cNvSpPr>
          <p:nvPr/>
        </p:nvSpPr>
        <p:spPr>
          <a:xfrm>
            <a:off x="539553" y="5505019"/>
            <a:ext cx="2188804" cy="10923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44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bg1"/>
              </a:buClr>
              <a:buNone/>
            </a:pPr>
            <a:r>
              <a:rPr lang="en-GB" sz="1400" b="1" dirty="0">
                <a:solidFill>
                  <a:schemeClr val="tx1"/>
                </a:solidFill>
                <a:latin typeface="Arial" charset="0"/>
              </a:rPr>
              <a:t>Adductor Brevis</a:t>
            </a:r>
            <a:endParaRPr lang="en-GB" sz="1400" dirty="0">
              <a:solidFill>
                <a:srgbClr val="FFFFFF"/>
              </a:solidFill>
              <a:latin typeface="Arial" charset="0"/>
            </a:endParaRP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>
                <a:solidFill>
                  <a:srgbClr val="FFFFFF"/>
                </a:solidFill>
                <a:latin typeface="Arial" charset="0"/>
              </a:rPr>
              <a:t>O - pubis </a:t>
            </a: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>
                <a:solidFill>
                  <a:srgbClr val="FFFFFF"/>
                </a:solidFill>
                <a:latin typeface="Arial" charset="0"/>
              </a:rPr>
              <a:t> I - medial portion of </a:t>
            </a: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>
                <a:solidFill>
                  <a:srgbClr val="FFFFFF"/>
                </a:solidFill>
                <a:latin typeface="Arial" charset="0"/>
              </a:rPr>
              <a:t>     upper </a:t>
            </a:r>
            <a:r>
              <a:rPr lang="en-GB" sz="1400" dirty="0" err="1">
                <a:solidFill>
                  <a:srgbClr val="FFFFFF"/>
                </a:solidFill>
                <a:latin typeface="Arial" charset="0"/>
              </a:rPr>
              <a:t>linea</a:t>
            </a:r>
            <a:r>
              <a:rPr lang="en-GB" sz="1400" dirty="0">
                <a:solidFill>
                  <a:srgbClr val="FFFFFF"/>
                </a:solidFill>
                <a:latin typeface="Arial" charset="0"/>
              </a:rPr>
              <a:t> aspera</a:t>
            </a: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 err="1">
                <a:solidFill>
                  <a:srgbClr val="FFFFFF"/>
                </a:solidFill>
                <a:latin typeface="Arial" charset="0"/>
              </a:rPr>
              <a:t>i</a:t>
            </a:r>
            <a:r>
              <a:rPr lang="en-GB" sz="1400" dirty="0">
                <a:solidFill>
                  <a:srgbClr val="FFFFFF"/>
                </a:solidFill>
                <a:latin typeface="Arial" charset="0"/>
              </a:rPr>
              <a:t> - obturator nerve. L2-L4</a:t>
            </a:r>
          </a:p>
        </p:txBody>
      </p:sp>
      <p:pic>
        <p:nvPicPr>
          <p:cNvPr id="27" name="Picture 26" descr="Adductor Brevis muscle&#10;">
            <a:extLst>
              <a:ext uri="{FF2B5EF4-FFF2-40B4-BE49-F238E27FC236}">
                <a16:creationId xmlns:a16="http://schemas.microsoft.com/office/drawing/2014/main" id="{2F4124D3-EE80-810D-3D16-9C803BAE14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41" y="1625470"/>
            <a:ext cx="2137217" cy="3769053"/>
          </a:xfrm>
          <a:prstGeom prst="rect">
            <a:avLst/>
          </a:prstGeom>
        </p:spPr>
      </p:pic>
      <p:pic>
        <p:nvPicPr>
          <p:cNvPr id="28" name="Picture 27" descr="Adductor Longus muscle&#10;">
            <a:extLst>
              <a:ext uri="{FF2B5EF4-FFF2-40B4-BE49-F238E27FC236}">
                <a16:creationId xmlns:a16="http://schemas.microsoft.com/office/drawing/2014/main" id="{6207F763-8131-14B1-1D99-E3ECF51C96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2120" y="1625470"/>
            <a:ext cx="2310862" cy="3769053"/>
          </a:xfrm>
          <a:prstGeom prst="rect">
            <a:avLst/>
          </a:prstGeom>
        </p:spPr>
      </p:pic>
      <p:pic>
        <p:nvPicPr>
          <p:cNvPr id="29" name="Picture 28" descr="Adductor Magnus muscle&#10;">
            <a:extLst>
              <a:ext uri="{FF2B5EF4-FFF2-40B4-BE49-F238E27FC236}">
                <a16:creationId xmlns:a16="http://schemas.microsoft.com/office/drawing/2014/main" id="{4340236F-8EA1-06C4-1B85-6BA98FD2468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42"/>
          <a:stretch/>
        </p:blipFill>
        <p:spPr>
          <a:xfrm>
            <a:off x="6127823" y="1657745"/>
            <a:ext cx="2425038" cy="3573355"/>
          </a:xfrm>
          <a:prstGeom prst="rect">
            <a:avLst/>
          </a:prstGeom>
        </p:spPr>
      </p:pic>
      <p:sp>
        <p:nvSpPr>
          <p:cNvPr id="31" name="Rectangle 3">
            <a:extLst>
              <a:ext uri="{FF2B5EF4-FFF2-40B4-BE49-F238E27FC236}">
                <a16:creationId xmlns:a16="http://schemas.microsoft.com/office/drawing/2014/main" id="{C74A93C9-7955-BEDA-47A0-7DD1F341C640}"/>
              </a:ext>
            </a:extLst>
          </p:cNvPr>
          <p:cNvSpPr txBox="1">
            <a:spLocks noChangeArrowheads="1"/>
          </p:cNvSpPr>
          <p:nvPr/>
        </p:nvSpPr>
        <p:spPr>
          <a:xfrm>
            <a:off x="3186000" y="5518433"/>
            <a:ext cx="2466120" cy="11887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44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bg1"/>
              </a:buClr>
              <a:buNone/>
            </a:pPr>
            <a:r>
              <a:rPr lang="en-GB" sz="1400" b="1" dirty="0">
                <a:solidFill>
                  <a:schemeClr val="tx1"/>
                </a:solidFill>
                <a:latin typeface="Arial" charset="0"/>
              </a:rPr>
              <a:t>Adductor Longus</a:t>
            </a:r>
            <a:endParaRPr lang="en-GB" sz="1400" dirty="0">
              <a:solidFill>
                <a:srgbClr val="FFFFFF"/>
              </a:solidFill>
              <a:latin typeface="Arial" charset="0"/>
            </a:endParaRP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>
                <a:solidFill>
                  <a:srgbClr val="FFFFFF"/>
                </a:solidFill>
                <a:latin typeface="Arial" charset="0"/>
              </a:rPr>
              <a:t>O – pubic crest &amp; symphysis </a:t>
            </a: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>
                <a:solidFill>
                  <a:srgbClr val="FFFFFF"/>
                </a:solidFill>
                <a:latin typeface="Arial" charset="0"/>
              </a:rPr>
              <a:t> I - medial portion of linea </a:t>
            </a: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>
                <a:solidFill>
                  <a:srgbClr val="FFFFFF"/>
                </a:solidFill>
                <a:latin typeface="Arial" charset="0"/>
              </a:rPr>
              <a:t>     aspera (below brevis)</a:t>
            </a: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 err="1">
                <a:solidFill>
                  <a:srgbClr val="FFFFFF"/>
                </a:solidFill>
                <a:latin typeface="Arial" charset="0"/>
              </a:rPr>
              <a:t>i</a:t>
            </a:r>
            <a:r>
              <a:rPr lang="en-GB" sz="1400" dirty="0">
                <a:solidFill>
                  <a:srgbClr val="FFFFFF"/>
                </a:solidFill>
                <a:latin typeface="Arial" charset="0"/>
              </a:rPr>
              <a:t> - obturator nerve. L2-L4</a:t>
            </a: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6BF239A8-16C3-EA99-4664-E6CB85649176}"/>
              </a:ext>
            </a:extLst>
          </p:cNvPr>
          <p:cNvSpPr txBox="1">
            <a:spLocks noChangeArrowheads="1"/>
          </p:cNvSpPr>
          <p:nvPr/>
        </p:nvSpPr>
        <p:spPr>
          <a:xfrm>
            <a:off x="5827797" y="5371116"/>
            <a:ext cx="3309040" cy="13145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44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bg1"/>
              </a:buClr>
              <a:buNone/>
            </a:pPr>
            <a:r>
              <a:rPr lang="en-GB" sz="1400" b="1" dirty="0">
                <a:solidFill>
                  <a:schemeClr val="tx1"/>
                </a:solidFill>
                <a:latin typeface="Arial" charset="0"/>
              </a:rPr>
              <a:t>Adductor Magnus</a:t>
            </a:r>
            <a:endParaRPr lang="en-GB" sz="1400" dirty="0">
              <a:solidFill>
                <a:srgbClr val="FFFFFF"/>
              </a:solidFill>
              <a:latin typeface="Arial" charset="0"/>
            </a:endParaRP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>
                <a:solidFill>
                  <a:srgbClr val="FFFFFF"/>
                </a:solidFill>
                <a:latin typeface="Arial" charset="0"/>
              </a:rPr>
              <a:t>O – inferior ramus of pubis and ischium </a:t>
            </a: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>
                <a:solidFill>
                  <a:srgbClr val="FFFFFF"/>
                </a:solidFill>
                <a:latin typeface="Arial" charset="0"/>
              </a:rPr>
              <a:t> I - linea aspera and has tendon all the </a:t>
            </a: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>
                <a:solidFill>
                  <a:srgbClr val="FFFFFF"/>
                </a:solidFill>
                <a:latin typeface="Arial" charset="0"/>
              </a:rPr>
              <a:t>     way to medial epicondyle</a:t>
            </a: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 err="1">
                <a:solidFill>
                  <a:srgbClr val="FFFFFF"/>
                </a:solidFill>
                <a:latin typeface="Arial" charset="0"/>
              </a:rPr>
              <a:t>i</a:t>
            </a:r>
            <a:r>
              <a:rPr lang="en-GB" sz="1400" dirty="0">
                <a:solidFill>
                  <a:srgbClr val="FFFFFF"/>
                </a:solidFill>
                <a:latin typeface="Arial" charset="0"/>
              </a:rPr>
              <a:t> - obturator nerve. L2-L4 &amp; Tibial </a:t>
            </a: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>
                <a:solidFill>
                  <a:srgbClr val="FFFFFF"/>
                </a:solidFill>
                <a:latin typeface="Arial" charset="0"/>
              </a:rPr>
              <a:t>    portion of the sciatic nerve. L2-L4</a:t>
            </a: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endParaRPr lang="en-GB" sz="1400" dirty="0">
              <a:solidFill>
                <a:srgbClr val="FFFFFF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0309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13FAE8A-AEF3-D3F2-44C1-31CD502AD783}"/>
              </a:ext>
            </a:extLst>
          </p:cNvPr>
          <p:cNvSpPr/>
          <p:nvPr/>
        </p:nvSpPr>
        <p:spPr>
          <a:xfrm>
            <a:off x="0" y="0"/>
            <a:ext cx="52920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86AA886-5F2C-CA06-1948-562C8370FE2D}"/>
              </a:ext>
            </a:extLst>
          </p:cNvPr>
          <p:cNvGrpSpPr/>
          <p:nvPr/>
        </p:nvGrpSpPr>
        <p:grpSpPr>
          <a:xfrm>
            <a:off x="1320519" y="293612"/>
            <a:ext cx="5267707" cy="615108"/>
            <a:chOff x="1316926" y="1957445"/>
            <a:chExt cx="5267707" cy="61510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1A29A41-AD07-1D67-3818-DD34D63E4D59}"/>
                </a:ext>
              </a:extLst>
            </p:cNvPr>
            <p:cNvSpPr/>
            <p:nvPr/>
          </p:nvSpPr>
          <p:spPr>
            <a:xfrm>
              <a:off x="1316926" y="1957445"/>
              <a:ext cx="5267707" cy="615108"/>
            </a:xfrm>
            <a:prstGeom prst="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CE6D95E-AC2D-06C5-B5A4-E640F41CCFC4}"/>
                </a:ext>
              </a:extLst>
            </p:cNvPr>
            <p:cNvSpPr txBox="1"/>
            <p:nvPr/>
          </p:nvSpPr>
          <p:spPr>
            <a:xfrm>
              <a:off x="1316926" y="1957445"/>
              <a:ext cx="5267707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2208" tIns="156237" rIns="102208" bIns="156237" numCol="1" spcCol="1270" anchor="ctr" anchorCtr="0">
              <a:noAutofit/>
            </a:bodyPr>
            <a:lstStyle/>
            <a:p>
              <a:pPr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/>
                <a:t>Describe the functions of the muscles surrounding the hip joint in terms of their attachment, actions, nerve supply and their role in stability 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5410B8-CA01-D36D-2174-FCA235436EF8}"/>
              </a:ext>
            </a:extLst>
          </p:cNvPr>
          <p:cNvGrpSpPr/>
          <p:nvPr/>
        </p:nvGrpSpPr>
        <p:grpSpPr>
          <a:xfrm>
            <a:off x="3591" y="293612"/>
            <a:ext cx="1316926" cy="615108"/>
            <a:chOff x="0" y="1957445"/>
            <a:chExt cx="1316926" cy="61510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9901282-145B-0E6B-1D7A-05D9B060F953}"/>
                </a:ext>
              </a:extLst>
            </p:cNvPr>
            <p:cNvSpPr/>
            <p:nvPr/>
          </p:nvSpPr>
          <p:spPr>
            <a:xfrm>
              <a:off x="0" y="1957445"/>
              <a:ext cx="1316926" cy="615108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A1CEDDE-4725-898E-1614-C88F96567BED}"/>
                </a:ext>
              </a:extLst>
            </p:cNvPr>
            <p:cNvSpPr txBox="1"/>
            <p:nvPr/>
          </p:nvSpPr>
          <p:spPr>
            <a:xfrm>
              <a:off x="0" y="1957445"/>
              <a:ext cx="1316926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687" tIns="60759" rIns="69687" bIns="6075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/>
                <a:t>Describe</a:t>
              </a:r>
            </a:p>
          </p:txBody>
        </p:sp>
      </p:grpSp>
      <p:sp>
        <p:nvSpPr>
          <p:cNvPr id="22" name="Rectangle 1026">
            <a:extLst>
              <a:ext uri="{FF2B5EF4-FFF2-40B4-BE49-F238E27FC236}">
                <a16:creationId xmlns:a16="http://schemas.microsoft.com/office/drawing/2014/main" id="{0E9828F0-B7C0-F741-9A45-6088589B6C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3508" y="1290025"/>
            <a:ext cx="3356919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pPr eaLnBrk="1" hangingPunct="1"/>
            <a:r>
              <a:rPr lang="en-GB" sz="2800" dirty="0">
                <a:cs typeface="Lucida Sans Unicode" panose="020B0602030504020204" pitchFamily="34" charset="0"/>
              </a:rPr>
              <a:t>piriformis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30D0BAD8-A5F8-9442-7BB3-E2DDF8391E03}"/>
              </a:ext>
            </a:extLst>
          </p:cNvPr>
          <p:cNvSpPr txBox="1">
            <a:spLocks noChangeArrowheads="1"/>
          </p:cNvSpPr>
          <p:nvPr/>
        </p:nvSpPr>
        <p:spPr>
          <a:xfrm>
            <a:off x="458979" y="2860050"/>
            <a:ext cx="4545071" cy="34200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44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ts val="2660"/>
              </a:lnSpc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800" dirty="0">
                <a:solidFill>
                  <a:schemeClr val="bg1"/>
                </a:solidFill>
                <a:latin typeface="Arial" charset="0"/>
              </a:rPr>
              <a:t>F - Laterally rotates &amp; abducts the thigh, </a:t>
            </a:r>
          </a:p>
          <a:p>
            <a:pPr marL="0" lvl="1" indent="0">
              <a:lnSpc>
                <a:spcPts val="2660"/>
              </a:lnSpc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800" dirty="0">
                <a:solidFill>
                  <a:schemeClr val="bg1"/>
                </a:solidFill>
                <a:latin typeface="Arial" charset="0"/>
              </a:rPr>
              <a:t>    also medially rotates thigh depending on </a:t>
            </a:r>
          </a:p>
          <a:p>
            <a:pPr marL="0" lvl="1" indent="0">
              <a:lnSpc>
                <a:spcPts val="2660"/>
              </a:lnSpc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800" dirty="0">
                <a:solidFill>
                  <a:schemeClr val="bg1"/>
                </a:solidFill>
                <a:latin typeface="Arial" charset="0"/>
              </a:rPr>
              <a:t>    hip position</a:t>
            </a:r>
          </a:p>
          <a:p>
            <a:pPr marL="0" lvl="1" indent="0">
              <a:lnSpc>
                <a:spcPts val="2660"/>
              </a:lnSpc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800" dirty="0">
                <a:solidFill>
                  <a:schemeClr val="bg1"/>
                </a:solidFill>
                <a:latin typeface="Arial" charset="0"/>
              </a:rPr>
              <a:t>O - Anterior sacrum, gluteal surface of the </a:t>
            </a:r>
          </a:p>
          <a:p>
            <a:pPr marL="0" lvl="1" indent="0">
              <a:lnSpc>
                <a:spcPts val="2660"/>
              </a:lnSpc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800" dirty="0">
                <a:solidFill>
                  <a:schemeClr val="bg1"/>
                </a:solidFill>
                <a:latin typeface="Arial" charset="0"/>
              </a:rPr>
              <a:t>    ilium, capsule of the sacroiliac joint &amp; </a:t>
            </a:r>
          </a:p>
          <a:p>
            <a:pPr marL="0" lvl="1" indent="0">
              <a:lnSpc>
                <a:spcPts val="2660"/>
              </a:lnSpc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800" dirty="0">
                <a:solidFill>
                  <a:schemeClr val="bg1"/>
                </a:solidFill>
                <a:latin typeface="Arial" charset="0"/>
              </a:rPr>
              <a:t>    </a:t>
            </a:r>
            <a:r>
              <a:rPr lang="en-GB" sz="1800" dirty="0" err="1">
                <a:solidFill>
                  <a:schemeClr val="bg1"/>
                </a:solidFill>
                <a:latin typeface="Arial" charset="0"/>
              </a:rPr>
              <a:t>sacrotuberous</a:t>
            </a:r>
            <a:r>
              <a:rPr lang="en-GB" sz="1800" dirty="0">
                <a:solidFill>
                  <a:schemeClr val="bg1"/>
                </a:solidFill>
                <a:latin typeface="Arial" charset="0"/>
              </a:rPr>
              <a:t> ligament</a:t>
            </a:r>
          </a:p>
          <a:p>
            <a:pPr marL="0" lvl="1" indent="0">
              <a:lnSpc>
                <a:spcPts val="2660"/>
              </a:lnSpc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800" dirty="0">
                <a:solidFill>
                  <a:schemeClr val="bg1"/>
                </a:solidFill>
                <a:latin typeface="Arial" charset="0"/>
              </a:rPr>
              <a:t>I - Upper border of the greater trochanter </a:t>
            </a:r>
          </a:p>
          <a:p>
            <a:pPr marL="0" lvl="1" indent="0">
              <a:lnSpc>
                <a:spcPts val="2660"/>
              </a:lnSpc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800" dirty="0">
                <a:solidFill>
                  <a:schemeClr val="bg1"/>
                </a:solidFill>
                <a:latin typeface="Arial" charset="0"/>
              </a:rPr>
              <a:t>    of the femur</a:t>
            </a:r>
          </a:p>
          <a:p>
            <a:pPr marL="0" lvl="1" indent="0">
              <a:lnSpc>
                <a:spcPts val="2660"/>
              </a:lnSpc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800" dirty="0" err="1">
                <a:solidFill>
                  <a:schemeClr val="bg1"/>
                </a:solidFill>
                <a:latin typeface="Arial" charset="0"/>
              </a:rPr>
              <a:t>i</a:t>
            </a:r>
            <a:r>
              <a:rPr lang="en-GB" sz="1800" dirty="0">
                <a:solidFill>
                  <a:schemeClr val="bg1"/>
                </a:solidFill>
                <a:latin typeface="Arial" charset="0"/>
              </a:rPr>
              <a:t> - Sacral plexus. S1</a:t>
            </a:r>
            <a:endParaRPr lang="en-GB" sz="1800" b="1" dirty="0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A9A4F59-544D-D78F-B024-882CA797AF6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02"/>
          <a:stretch/>
        </p:blipFill>
        <p:spPr>
          <a:xfrm>
            <a:off x="5607558" y="1412776"/>
            <a:ext cx="3072910" cy="4282380"/>
          </a:xfrm>
          <a:prstGeom prst="rect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0D509DB-1DCC-7506-E6D9-D5A37796F2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15"/>
          <a:stretch/>
        </p:blipFill>
        <p:spPr>
          <a:xfrm>
            <a:off x="5609268" y="1412776"/>
            <a:ext cx="3071200" cy="4282380"/>
          </a:xfrm>
          <a:prstGeom prst="rect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92350A4-A8E4-A607-692A-1BDBD75D2B59}"/>
              </a:ext>
            </a:extLst>
          </p:cNvPr>
          <p:cNvSpPr txBox="1"/>
          <p:nvPr/>
        </p:nvSpPr>
        <p:spPr>
          <a:xfrm>
            <a:off x="5607558" y="5805264"/>
            <a:ext cx="2448272" cy="86177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en-US" sz="10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000" dirty="0"/>
              <a:t>L4-S3</a:t>
            </a:r>
          </a:p>
          <a:p>
            <a:r>
              <a:rPr lang="en-US" sz="1000" dirty="0"/>
              <a:t>10% of population sciatic nerve runs through the piriformis rather than under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29B542-4BCC-E624-FC47-5A909569385B}"/>
              </a:ext>
            </a:extLst>
          </p:cNvPr>
          <p:cNvSpPr txBox="1"/>
          <p:nvPr/>
        </p:nvSpPr>
        <p:spPr>
          <a:xfrm>
            <a:off x="5580112" y="5798964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Sciatic nerve</a:t>
            </a:r>
          </a:p>
        </p:txBody>
      </p:sp>
    </p:spTree>
    <p:extLst>
      <p:ext uri="{BB962C8B-B14F-4D97-AF65-F5344CB8AC3E}">
        <p14:creationId xmlns:p14="http://schemas.microsoft.com/office/powerpoint/2010/main" val="2283252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13FAE8A-AEF3-D3F2-44C1-31CD502AD783}"/>
              </a:ext>
            </a:extLst>
          </p:cNvPr>
          <p:cNvSpPr/>
          <p:nvPr/>
        </p:nvSpPr>
        <p:spPr>
          <a:xfrm>
            <a:off x="0" y="0"/>
            <a:ext cx="52920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86AA886-5F2C-CA06-1948-562C8370FE2D}"/>
              </a:ext>
            </a:extLst>
          </p:cNvPr>
          <p:cNvGrpSpPr/>
          <p:nvPr/>
        </p:nvGrpSpPr>
        <p:grpSpPr>
          <a:xfrm>
            <a:off x="1320519" y="293612"/>
            <a:ext cx="5267707" cy="615108"/>
            <a:chOff x="1316926" y="1957445"/>
            <a:chExt cx="5267707" cy="61510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1A29A41-AD07-1D67-3818-DD34D63E4D59}"/>
                </a:ext>
              </a:extLst>
            </p:cNvPr>
            <p:cNvSpPr/>
            <p:nvPr/>
          </p:nvSpPr>
          <p:spPr>
            <a:xfrm>
              <a:off x="1316926" y="1957445"/>
              <a:ext cx="5267707" cy="615108"/>
            </a:xfrm>
            <a:prstGeom prst="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CE6D95E-AC2D-06C5-B5A4-E640F41CCFC4}"/>
                </a:ext>
              </a:extLst>
            </p:cNvPr>
            <p:cNvSpPr txBox="1"/>
            <p:nvPr/>
          </p:nvSpPr>
          <p:spPr>
            <a:xfrm>
              <a:off x="1316926" y="1957445"/>
              <a:ext cx="5267707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2208" tIns="156237" rIns="102208" bIns="156237" numCol="1" spcCol="1270" anchor="ctr" anchorCtr="0">
              <a:noAutofit/>
            </a:bodyPr>
            <a:lstStyle/>
            <a:p>
              <a:pPr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/>
                <a:t>Describe the functions of the muscles surrounding the hip joint in terms of their attachment, actions, nerve supply and their role in stability 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5410B8-CA01-D36D-2174-FCA235436EF8}"/>
              </a:ext>
            </a:extLst>
          </p:cNvPr>
          <p:cNvGrpSpPr/>
          <p:nvPr/>
        </p:nvGrpSpPr>
        <p:grpSpPr>
          <a:xfrm>
            <a:off x="3591" y="293612"/>
            <a:ext cx="1316926" cy="615108"/>
            <a:chOff x="0" y="1957445"/>
            <a:chExt cx="1316926" cy="61510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9901282-145B-0E6B-1D7A-05D9B060F953}"/>
                </a:ext>
              </a:extLst>
            </p:cNvPr>
            <p:cNvSpPr/>
            <p:nvPr/>
          </p:nvSpPr>
          <p:spPr>
            <a:xfrm>
              <a:off x="0" y="1957445"/>
              <a:ext cx="1316926" cy="615108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A1CEDDE-4725-898E-1614-C88F96567BED}"/>
                </a:ext>
              </a:extLst>
            </p:cNvPr>
            <p:cNvSpPr txBox="1"/>
            <p:nvPr/>
          </p:nvSpPr>
          <p:spPr>
            <a:xfrm>
              <a:off x="0" y="1957445"/>
              <a:ext cx="1316926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687" tIns="60759" rIns="69687" bIns="6075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/>
                <a:t>Describe</a:t>
              </a:r>
            </a:p>
          </p:txBody>
        </p:sp>
      </p:grpSp>
      <p:sp>
        <p:nvSpPr>
          <p:cNvPr id="22" name="Rectangle 1026">
            <a:extLst>
              <a:ext uri="{FF2B5EF4-FFF2-40B4-BE49-F238E27FC236}">
                <a16:creationId xmlns:a16="http://schemas.microsoft.com/office/drawing/2014/main" id="{0E9828F0-B7C0-F741-9A45-6088589B6C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3508" y="1290025"/>
            <a:ext cx="3356919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pPr eaLnBrk="1" hangingPunct="1"/>
            <a:r>
              <a:rPr lang="en-GB" sz="2800" dirty="0">
                <a:cs typeface="Lucida Sans Unicode" panose="020B0602030504020204" pitchFamily="34" charset="0"/>
              </a:rPr>
              <a:t>Quadratus femoris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30D0BAD8-A5F8-9442-7BB3-E2DDF8391E03}"/>
              </a:ext>
            </a:extLst>
          </p:cNvPr>
          <p:cNvSpPr txBox="1">
            <a:spLocks noChangeArrowheads="1"/>
          </p:cNvSpPr>
          <p:nvPr/>
        </p:nvSpPr>
        <p:spPr>
          <a:xfrm>
            <a:off x="335401" y="2842022"/>
            <a:ext cx="4763200" cy="34200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44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800" dirty="0">
                <a:solidFill>
                  <a:schemeClr val="bg1"/>
                </a:solidFill>
                <a:latin typeface="Arial" charset="0"/>
              </a:rPr>
              <a:t>F - Laterally rotates and adducts the hip joint.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800" dirty="0">
                <a:solidFill>
                  <a:schemeClr val="bg1"/>
                </a:solidFill>
                <a:latin typeface="Arial" charset="0"/>
              </a:rPr>
              <a:t>O - Superior lateral margin of the ischial 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800" dirty="0">
                <a:solidFill>
                  <a:schemeClr val="bg1"/>
                </a:solidFill>
                <a:latin typeface="Arial" charset="0"/>
              </a:rPr>
              <a:t>      tuberosity.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800" dirty="0">
                <a:solidFill>
                  <a:schemeClr val="bg1"/>
                </a:solidFill>
                <a:latin typeface="Arial" charset="0"/>
              </a:rPr>
              <a:t>I - Quadrate tubercle of the </a:t>
            </a:r>
            <a:r>
              <a:rPr lang="en-GB" sz="1800" dirty="0" err="1">
                <a:solidFill>
                  <a:schemeClr val="bg1"/>
                </a:solidFill>
                <a:latin typeface="Arial" charset="0"/>
              </a:rPr>
              <a:t>intertrochenteric</a:t>
            </a:r>
            <a:r>
              <a:rPr lang="en-GB" sz="1800" dirty="0">
                <a:solidFill>
                  <a:schemeClr val="bg1"/>
                </a:solidFill>
                <a:latin typeface="Arial" charset="0"/>
              </a:rPr>
              <a:t> 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800" dirty="0">
                <a:solidFill>
                  <a:schemeClr val="bg1"/>
                </a:solidFill>
                <a:latin typeface="Arial" charset="0"/>
              </a:rPr>
              <a:t>    crest and the bone immediately inferior.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800" dirty="0" err="1">
                <a:solidFill>
                  <a:schemeClr val="bg1"/>
                </a:solidFill>
                <a:latin typeface="Arial" charset="0"/>
              </a:rPr>
              <a:t>i</a:t>
            </a:r>
            <a:r>
              <a:rPr lang="en-GB" sz="1800" dirty="0">
                <a:solidFill>
                  <a:schemeClr val="bg1"/>
                </a:solidFill>
                <a:latin typeface="Arial" charset="0"/>
              </a:rPr>
              <a:t> - Sacral plexus. L5–S2.</a:t>
            </a:r>
            <a:endParaRPr lang="en-GB" sz="1800" b="1" dirty="0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30" name="Picture 29" descr="A close-up of a flower&#10;&#10;Description automatically generated with low confidence">
            <a:extLst>
              <a:ext uri="{FF2B5EF4-FFF2-40B4-BE49-F238E27FC236}">
                <a16:creationId xmlns:a16="http://schemas.microsoft.com/office/drawing/2014/main" id="{42A7C2ED-1814-83CA-1ED6-093967E68F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99" t="13488" r="6481" b="3106"/>
          <a:stretch/>
        </p:blipFill>
        <p:spPr>
          <a:xfrm>
            <a:off x="5796138" y="2079330"/>
            <a:ext cx="2900371" cy="2699343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25795480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13FAE8A-AEF3-D3F2-44C1-31CD502AD783}"/>
              </a:ext>
            </a:extLst>
          </p:cNvPr>
          <p:cNvSpPr/>
          <p:nvPr/>
        </p:nvSpPr>
        <p:spPr>
          <a:xfrm>
            <a:off x="0" y="0"/>
            <a:ext cx="52920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86AA886-5F2C-CA06-1948-562C8370FE2D}"/>
              </a:ext>
            </a:extLst>
          </p:cNvPr>
          <p:cNvGrpSpPr/>
          <p:nvPr/>
        </p:nvGrpSpPr>
        <p:grpSpPr>
          <a:xfrm>
            <a:off x="1320519" y="293612"/>
            <a:ext cx="5267707" cy="615108"/>
            <a:chOff x="1316926" y="1957445"/>
            <a:chExt cx="5267707" cy="61510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1A29A41-AD07-1D67-3818-DD34D63E4D59}"/>
                </a:ext>
              </a:extLst>
            </p:cNvPr>
            <p:cNvSpPr/>
            <p:nvPr/>
          </p:nvSpPr>
          <p:spPr>
            <a:xfrm>
              <a:off x="1316926" y="1957445"/>
              <a:ext cx="5267707" cy="615108"/>
            </a:xfrm>
            <a:prstGeom prst="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CE6D95E-AC2D-06C5-B5A4-E640F41CCFC4}"/>
                </a:ext>
              </a:extLst>
            </p:cNvPr>
            <p:cNvSpPr txBox="1"/>
            <p:nvPr/>
          </p:nvSpPr>
          <p:spPr>
            <a:xfrm>
              <a:off x="1316926" y="1957445"/>
              <a:ext cx="5267707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2208" tIns="156237" rIns="102208" bIns="156237" numCol="1" spcCol="1270" anchor="ctr" anchorCtr="0">
              <a:noAutofit/>
            </a:bodyPr>
            <a:lstStyle/>
            <a:p>
              <a:pPr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/>
                <a:t>Describe the functions of the muscles surrounding the hip joint in terms of their attachment, actions, nerve supply and their role in stability 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5410B8-CA01-D36D-2174-FCA235436EF8}"/>
              </a:ext>
            </a:extLst>
          </p:cNvPr>
          <p:cNvGrpSpPr/>
          <p:nvPr/>
        </p:nvGrpSpPr>
        <p:grpSpPr>
          <a:xfrm>
            <a:off x="3591" y="293612"/>
            <a:ext cx="1316926" cy="615108"/>
            <a:chOff x="0" y="1957445"/>
            <a:chExt cx="1316926" cy="61510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9901282-145B-0E6B-1D7A-05D9B060F953}"/>
                </a:ext>
              </a:extLst>
            </p:cNvPr>
            <p:cNvSpPr/>
            <p:nvPr/>
          </p:nvSpPr>
          <p:spPr>
            <a:xfrm>
              <a:off x="0" y="1957445"/>
              <a:ext cx="1316926" cy="615108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A1CEDDE-4725-898E-1614-C88F96567BED}"/>
                </a:ext>
              </a:extLst>
            </p:cNvPr>
            <p:cNvSpPr txBox="1"/>
            <p:nvPr/>
          </p:nvSpPr>
          <p:spPr>
            <a:xfrm>
              <a:off x="0" y="1957445"/>
              <a:ext cx="1316926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687" tIns="60759" rIns="69687" bIns="6075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/>
                <a:t>Describe</a:t>
              </a:r>
            </a:p>
          </p:txBody>
        </p:sp>
      </p:grpSp>
      <p:sp>
        <p:nvSpPr>
          <p:cNvPr id="22" name="Rectangle 1026">
            <a:extLst>
              <a:ext uri="{FF2B5EF4-FFF2-40B4-BE49-F238E27FC236}">
                <a16:creationId xmlns:a16="http://schemas.microsoft.com/office/drawing/2014/main" id="{0E9828F0-B7C0-F741-9A45-6088589B6C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3508" y="1290025"/>
            <a:ext cx="3356919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pPr eaLnBrk="1" hangingPunct="1"/>
            <a:r>
              <a:rPr lang="en-GB" sz="2800" dirty="0">
                <a:cs typeface="Lucida Sans Unicode" panose="020B0602030504020204" pitchFamily="34" charset="0"/>
              </a:rPr>
              <a:t>Obturator internus 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30D0BAD8-A5F8-9442-7BB3-E2DDF8391E03}"/>
              </a:ext>
            </a:extLst>
          </p:cNvPr>
          <p:cNvSpPr txBox="1">
            <a:spLocks noChangeArrowheads="1"/>
          </p:cNvSpPr>
          <p:nvPr/>
        </p:nvSpPr>
        <p:spPr>
          <a:xfrm>
            <a:off x="391537" y="2788392"/>
            <a:ext cx="4680520" cy="34200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44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800" dirty="0">
                <a:solidFill>
                  <a:schemeClr val="bg1"/>
                </a:solidFill>
                <a:latin typeface="Arial" charset="0"/>
              </a:rPr>
              <a:t>F - Laterally rotates the hip joint. Abducts 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800" dirty="0">
                <a:solidFill>
                  <a:schemeClr val="bg1"/>
                </a:solidFill>
                <a:latin typeface="Arial" charset="0"/>
              </a:rPr>
              <a:t>    when thigh is flexed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800" dirty="0">
                <a:solidFill>
                  <a:schemeClr val="bg1"/>
                </a:solidFill>
                <a:latin typeface="Arial" charset="0"/>
              </a:rPr>
              <a:t>O - Internal surface of the anterolateral wall 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800" dirty="0">
                <a:solidFill>
                  <a:schemeClr val="bg1"/>
                </a:solidFill>
                <a:latin typeface="Arial" charset="0"/>
              </a:rPr>
              <a:t>    of the pelvis &amp; the obturator membrane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800" dirty="0">
                <a:solidFill>
                  <a:schemeClr val="bg1"/>
                </a:solidFill>
                <a:latin typeface="Arial" charset="0"/>
              </a:rPr>
              <a:t>I - Medial surface of the greater trochanter 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800" dirty="0">
                <a:solidFill>
                  <a:schemeClr val="bg1"/>
                </a:solidFill>
                <a:latin typeface="Arial" charset="0"/>
              </a:rPr>
              <a:t>    of the femur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800" dirty="0" err="1">
                <a:solidFill>
                  <a:schemeClr val="bg1"/>
                </a:solidFill>
                <a:latin typeface="Arial" charset="0"/>
              </a:rPr>
              <a:t>i</a:t>
            </a:r>
            <a:r>
              <a:rPr lang="en-GB" sz="1800" dirty="0">
                <a:solidFill>
                  <a:schemeClr val="bg1"/>
                </a:solidFill>
                <a:latin typeface="Arial" charset="0"/>
              </a:rPr>
              <a:t> - Nerve to obturator internus. L5–S2.</a:t>
            </a:r>
            <a:endParaRPr lang="en-GB" sz="1800" b="1" dirty="0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26" name="Picture 25" descr="A picture containing indoor, brown&#10;&#10;Description automatically generated">
            <a:extLst>
              <a:ext uri="{FF2B5EF4-FFF2-40B4-BE49-F238E27FC236}">
                <a16:creationId xmlns:a16="http://schemas.microsoft.com/office/drawing/2014/main" id="{C3CC70A7-9E28-8BFD-F159-AFC780D463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586" y="1478682"/>
            <a:ext cx="2492838" cy="3905446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22891106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13FAE8A-AEF3-D3F2-44C1-31CD502AD783}"/>
              </a:ext>
            </a:extLst>
          </p:cNvPr>
          <p:cNvSpPr/>
          <p:nvPr/>
        </p:nvSpPr>
        <p:spPr>
          <a:xfrm>
            <a:off x="0" y="0"/>
            <a:ext cx="52920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86AA886-5F2C-CA06-1948-562C8370FE2D}"/>
              </a:ext>
            </a:extLst>
          </p:cNvPr>
          <p:cNvGrpSpPr/>
          <p:nvPr/>
        </p:nvGrpSpPr>
        <p:grpSpPr>
          <a:xfrm>
            <a:off x="1320519" y="293612"/>
            <a:ext cx="5267707" cy="615108"/>
            <a:chOff x="1316926" y="1957445"/>
            <a:chExt cx="5267707" cy="61510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1A29A41-AD07-1D67-3818-DD34D63E4D59}"/>
                </a:ext>
              </a:extLst>
            </p:cNvPr>
            <p:cNvSpPr/>
            <p:nvPr/>
          </p:nvSpPr>
          <p:spPr>
            <a:xfrm>
              <a:off x="1316926" y="1957445"/>
              <a:ext cx="5267707" cy="615108"/>
            </a:xfrm>
            <a:prstGeom prst="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CE6D95E-AC2D-06C5-B5A4-E640F41CCFC4}"/>
                </a:ext>
              </a:extLst>
            </p:cNvPr>
            <p:cNvSpPr txBox="1"/>
            <p:nvPr/>
          </p:nvSpPr>
          <p:spPr>
            <a:xfrm>
              <a:off x="1316926" y="1957445"/>
              <a:ext cx="5267707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2208" tIns="156237" rIns="102208" bIns="156237" numCol="1" spcCol="1270" anchor="ctr" anchorCtr="0">
              <a:noAutofit/>
            </a:bodyPr>
            <a:lstStyle/>
            <a:p>
              <a:pPr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/>
                <a:t>Describe the functions of the muscles surrounding the hip joint in terms of their attachment, actions, nerve supply and their role in stability 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5410B8-CA01-D36D-2174-FCA235436EF8}"/>
              </a:ext>
            </a:extLst>
          </p:cNvPr>
          <p:cNvGrpSpPr/>
          <p:nvPr/>
        </p:nvGrpSpPr>
        <p:grpSpPr>
          <a:xfrm>
            <a:off x="3591" y="293612"/>
            <a:ext cx="1316926" cy="615108"/>
            <a:chOff x="0" y="1957445"/>
            <a:chExt cx="1316926" cy="61510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9901282-145B-0E6B-1D7A-05D9B060F953}"/>
                </a:ext>
              </a:extLst>
            </p:cNvPr>
            <p:cNvSpPr/>
            <p:nvPr/>
          </p:nvSpPr>
          <p:spPr>
            <a:xfrm>
              <a:off x="0" y="1957445"/>
              <a:ext cx="1316926" cy="615108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A1CEDDE-4725-898E-1614-C88F96567BED}"/>
                </a:ext>
              </a:extLst>
            </p:cNvPr>
            <p:cNvSpPr txBox="1"/>
            <p:nvPr/>
          </p:nvSpPr>
          <p:spPr>
            <a:xfrm>
              <a:off x="0" y="1957445"/>
              <a:ext cx="1316926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687" tIns="60759" rIns="69687" bIns="6075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/>
                <a:t>Describe</a:t>
              </a:r>
            </a:p>
          </p:txBody>
        </p:sp>
      </p:grpSp>
      <p:sp>
        <p:nvSpPr>
          <p:cNvPr id="22" name="Rectangle 1026">
            <a:extLst>
              <a:ext uri="{FF2B5EF4-FFF2-40B4-BE49-F238E27FC236}">
                <a16:creationId xmlns:a16="http://schemas.microsoft.com/office/drawing/2014/main" id="{0E9828F0-B7C0-F741-9A45-6088589B6C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3508" y="1290025"/>
            <a:ext cx="3356919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pPr eaLnBrk="1" hangingPunct="1"/>
            <a:r>
              <a:rPr lang="en-GB" sz="2800" dirty="0">
                <a:cs typeface="Lucida Sans Unicode" panose="020B0602030504020204" pitchFamily="34" charset="0"/>
              </a:rPr>
              <a:t>Obturator externus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30D0BAD8-A5F8-9442-7BB3-E2DDF8391E03}"/>
              </a:ext>
            </a:extLst>
          </p:cNvPr>
          <p:cNvSpPr txBox="1">
            <a:spLocks noChangeArrowheads="1"/>
          </p:cNvSpPr>
          <p:nvPr/>
        </p:nvSpPr>
        <p:spPr>
          <a:xfrm>
            <a:off x="391537" y="2788392"/>
            <a:ext cx="4680520" cy="34200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44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800" dirty="0">
                <a:solidFill>
                  <a:schemeClr val="bg1"/>
                </a:solidFill>
                <a:latin typeface="Arial" charset="0"/>
              </a:rPr>
              <a:t>F - Laterally rotates the thigh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800" dirty="0">
                <a:solidFill>
                  <a:schemeClr val="bg1"/>
                </a:solidFill>
                <a:latin typeface="Arial" charset="0"/>
              </a:rPr>
              <a:t>O - Rami of pubis, ramus of the ischium &amp; 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800" dirty="0">
                <a:solidFill>
                  <a:schemeClr val="bg1"/>
                </a:solidFill>
                <a:latin typeface="Arial" charset="0"/>
              </a:rPr>
              <a:t>     medial 2/3rdof the outer surface of the 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800" dirty="0">
                <a:solidFill>
                  <a:schemeClr val="bg1"/>
                </a:solidFill>
                <a:latin typeface="Arial" charset="0"/>
              </a:rPr>
              <a:t>     obturator membrane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800" dirty="0">
                <a:solidFill>
                  <a:schemeClr val="bg1"/>
                </a:solidFill>
                <a:latin typeface="Arial" charset="0"/>
              </a:rPr>
              <a:t>I - Trochanteric fossa of the femur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800" dirty="0" err="1">
                <a:solidFill>
                  <a:schemeClr val="bg1"/>
                </a:solidFill>
                <a:latin typeface="Arial" charset="0"/>
              </a:rPr>
              <a:t>Ii</a:t>
            </a:r>
            <a:r>
              <a:rPr lang="en-GB" sz="1800" dirty="0">
                <a:solidFill>
                  <a:schemeClr val="bg1"/>
                </a:solidFill>
                <a:latin typeface="Arial" charset="0"/>
              </a:rPr>
              <a:t> - Obturator nerve. L3-L4.</a:t>
            </a:r>
            <a:endParaRPr lang="en-GB" sz="1800" b="1" dirty="0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0FFC9F-8BFB-069C-4B3C-B8EB681DAE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563" y="1951918"/>
            <a:ext cx="3026146" cy="2954164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20114053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13FAE8A-AEF3-D3F2-44C1-31CD502AD783}"/>
              </a:ext>
            </a:extLst>
          </p:cNvPr>
          <p:cNvSpPr/>
          <p:nvPr/>
        </p:nvSpPr>
        <p:spPr>
          <a:xfrm>
            <a:off x="0" y="0"/>
            <a:ext cx="52920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86AA886-5F2C-CA06-1948-562C8370FE2D}"/>
              </a:ext>
            </a:extLst>
          </p:cNvPr>
          <p:cNvGrpSpPr/>
          <p:nvPr/>
        </p:nvGrpSpPr>
        <p:grpSpPr>
          <a:xfrm>
            <a:off x="1320519" y="293612"/>
            <a:ext cx="5267707" cy="615108"/>
            <a:chOff x="1316926" y="1957445"/>
            <a:chExt cx="5267707" cy="61510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1A29A41-AD07-1D67-3818-DD34D63E4D59}"/>
                </a:ext>
              </a:extLst>
            </p:cNvPr>
            <p:cNvSpPr/>
            <p:nvPr/>
          </p:nvSpPr>
          <p:spPr>
            <a:xfrm>
              <a:off x="1316926" y="1957445"/>
              <a:ext cx="5267707" cy="615108"/>
            </a:xfrm>
            <a:prstGeom prst="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CE6D95E-AC2D-06C5-B5A4-E640F41CCFC4}"/>
                </a:ext>
              </a:extLst>
            </p:cNvPr>
            <p:cNvSpPr txBox="1"/>
            <p:nvPr/>
          </p:nvSpPr>
          <p:spPr>
            <a:xfrm>
              <a:off x="1316926" y="1957445"/>
              <a:ext cx="5267707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2208" tIns="156237" rIns="102208" bIns="156237" numCol="1" spcCol="1270" anchor="ctr" anchorCtr="0">
              <a:noAutofit/>
            </a:bodyPr>
            <a:lstStyle/>
            <a:p>
              <a:pPr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/>
                <a:t>Describe the functions of the muscles surrounding the hip joint in terms of their attachment, actions, nerve supply and their role in stability 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5410B8-CA01-D36D-2174-FCA235436EF8}"/>
              </a:ext>
            </a:extLst>
          </p:cNvPr>
          <p:cNvGrpSpPr/>
          <p:nvPr/>
        </p:nvGrpSpPr>
        <p:grpSpPr>
          <a:xfrm>
            <a:off x="3591" y="293612"/>
            <a:ext cx="1316926" cy="615108"/>
            <a:chOff x="0" y="1957445"/>
            <a:chExt cx="1316926" cy="61510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9901282-145B-0E6B-1D7A-05D9B060F953}"/>
                </a:ext>
              </a:extLst>
            </p:cNvPr>
            <p:cNvSpPr/>
            <p:nvPr/>
          </p:nvSpPr>
          <p:spPr>
            <a:xfrm>
              <a:off x="0" y="1957445"/>
              <a:ext cx="1316926" cy="615108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A1CEDDE-4725-898E-1614-C88F96567BED}"/>
                </a:ext>
              </a:extLst>
            </p:cNvPr>
            <p:cNvSpPr txBox="1"/>
            <p:nvPr/>
          </p:nvSpPr>
          <p:spPr>
            <a:xfrm>
              <a:off x="0" y="1957445"/>
              <a:ext cx="1316926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687" tIns="60759" rIns="69687" bIns="6075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/>
                <a:t>Describe</a:t>
              </a:r>
            </a:p>
          </p:txBody>
        </p:sp>
      </p:grpSp>
      <p:sp>
        <p:nvSpPr>
          <p:cNvPr id="22" name="Rectangle 1026">
            <a:extLst>
              <a:ext uri="{FF2B5EF4-FFF2-40B4-BE49-F238E27FC236}">
                <a16:creationId xmlns:a16="http://schemas.microsoft.com/office/drawing/2014/main" id="{0E9828F0-B7C0-F741-9A45-6088589B6C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3508" y="1290025"/>
            <a:ext cx="3356919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pPr eaLnBrk="1" hangingPunct="1"/>
            <a:r>
              <a:rPr lang="en-GB" sz="2800" dirty="0">
                <a:cs typeface="Lucida Sans Unicode" panose="020B0602030504020204" pitchFamily="34" charset="0"/>
              </a:rPr>
              <a:t>hamstrings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30D0BAD8-A5F8-9442-7BB3-E2DDF8391E03}"/>
              </a:ext>
            </a:extLst>
          </p:cNvPr>
          <p:cNvSpPr txBox="1">
            <a:spLocks noChangeArrowheads="1"/>
          </p:cNvSpPr>
          <p:nvPr/>
        </p:nvSpPr>
        <p:spPr>
          <a:xfrm>
            <a:off x="395536" y="2695045"/>
            <a:ext cx="4464496" cy="39743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44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ts val="2080"/>
              </a:lnSpc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>
                <a:solidFill>
                  <a:schemeClr val="bg1"/>
                </a:solidFill>
                <a:latin typeface="Arial" charset="0"/>
              </a:rPr>
              <a:t>Common origin = Ischial tuberosity                           	         (except short head Biceps Femoris)</a:t>
            </a:r>
            <a:endParaRPr lang="en-GB" sz="1400" b="1" dirty="0">
              <a:solidFill>
                <a:schemeClr val="tx1"/>
              </a:solidFill>
              <a:latin typeface="Arial" charset="0"/>
            </a:endParaRPr>
          </a:p>
          <a:p>
            <a:pPr marL="0" lvl="1" indent="0">
              <a:lnSpc>
                <a:spcPts val="2080"/>
              </a:lnSpc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b="1" dirty="0">
                <a:solidFill>
                  <a:schemeClr val="tx1"/>
                </a:solidFill>
                <a:latin typeface="Arial" charset="0"/>
              </a:rPr>
              <a:t>Biceps Femoris</a:t>
            </a:r>
          </a:p>
          <a:p>
            <a:pPr marL="0" lvl="1" indent="0">
              <a:lnSpc>
                <a:spcPts val="2080"/>
              </a:lnSpc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>
                <a:solidFill>
                  <a:schemeClr val="bg1"/>
                </a:solidFill>
                <a:latin typeface="Arial" charset="0"/>
              </a:rPr>
              <a:t>• 2 heads different origins</a:t>
            </a:r>
          </a:p>
          <a:p>
            <a:pPr marL="0" lvl="1" indent="0">
              <a:lnSpc>
                <a:spcPts val="2080"/>
              </a:lnSpc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>
                <a:solidFill>
                  <a:schemeClr val="bg1"/>
                </a:solidFill>
                <a:latin typeface="Arial" charset="0"/>
              </a:rPr>
              <a:t>        - Long head origin = Ischial tuberosity </a:t>
            </a:r>
          </a:p>
          <a:p>
            <a:pPr marL="0" lvl="1" indent="0">
              <a:lnSpc>
                <a:spcPts val="2080"/>
              </a:lnSpc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>
                <a:solidFill>
                  <a:schemeClr val="bg1"/>
                </a:solidFill>
                <a:latin typeface="Arial" charset="0"/>
              </a:rPr>
              <a:t>        - Short head origin = Linea Aspera </a:t>
            </a:r>
          </a:p>
          <a:p>
            <a:pPr marL="0" lvl="1" indent="0">
              <a:lnSpc>
                <a:spcPts val="2080"/>
              </a:lnSpc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>
                <a:solidFill>
                  <a:schemeClr val="bg1"/>
                </a:solidFill>
                <a:latin typeface="Arial" charset="0"/>
              </a:rPr>
              <a:t>• Common insertion (lateral side of head of Fibula and    </a:t>
            </a:r>
          </a:p>
          <a:p>
            <a:pPr marL="0" lvl="1" indent="0">
              <a:lnSpc>
                <a:spcPts val="2080"/>
              </a:lnSpc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>
                <a:solidFill>
                  <a:schemeClr val="bg1"/>
                </a:solidFill>
                <a:latin typeface="Arial" charset="0"/>
              </a:rPr>
              <a:t>          lateral Tibial condyle)</a:t>
            </a:r>
          </a:p>
          <a:p>
            <a:pPr marL="0" lvl="1" indent="0">
              <a:lnSpc>
                <a:spcPts val="2080"/>
              </a:lnSpc>
              <a:spcBef>
                <a:spcPts val="0"/>
              </a:spcBef>
              <a:spcAft>
                <a:spcPts val="1200"/>
              </a:spcAft>
              <a:buClr>
                <a:schemeClr val="bg1"/>
              </a:buClr>
              <a:buNone/>
            </a:pPr>
            <a:r>
              <a:rPr lang="en-GB" sz="1400" dirty="0">
                <a:solidFill>
                  <a:schemeClr val="bg1"/>
                </a:solidFill>
                <a:latin typeface="Arial" charset="0"/>
              </a:rPr>
              <a:t>• Both flex knee, long head also hip extension  </a:t>
            </a:r>
          </a:p>
          <a:p>
            <a:pPr marL="0" lvl="1" indent="0">
              <a:lnSpc>
                <a:spcPts val="2080"/>
              </a:lnSpc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b="1" dirty="0">
                <a:solidFill>
                  <a:schemeClr val="tx1"/>
                </a:solidFill>
                <a:latin typeface="Arial" charset="0"/>
              </a:rPr>
              <a:t>Semimembranosus, Semitendinosus</a:t>
            </a:r>
          </a:p>
          <a:p>
            <a:pPr marL="0" lvl="1" indent="0">
              <a:lnSpc>
                <a:spcPts val="2080"/>
              </a:lnSpc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>
                <a:solidFill>
                  <a:schemeClr val="bg1"/>
                </a:solidFill>
                <a:latin typeface="Arial" charset="0"/>
              </a:rPr>
              <a:t>Insertions = shaft of tibia, medial tibial condyle </a:t>
            </a:r>
            <a:endParaRPr lang="en-GB" sz="1400" b="1" dirty="0">
              <a:solidFill>
                <a:schemeClr val="tx1"/>
              </a:solidFill>
              <a:latin typeface="Arial" charset="0"/>
            </a:endParaRPr>
          </a:p>
          <a:p>
            <a:pPr marL="0" lvl="1" indent="0">
              <a:lnSpc>
                <a:spcPts val="2080"/>
              </a:lnSpc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>
                <a:solidFill>
                  <a:schemeClr val="bg1"/>
                </a:solidFill>
                <a:latin typeface="Arial" charset="0"/>
              </a:rPr>
              <a:t>Knee flexion, hip extension &amp; slight medial rotation</a:t>
            </a:r>
          </a:p>
          <a:p>
            <a:pPr marL="0" lvl="1" indent="0">
              <a:lnSpc>
                <a:spcPts val="2080"/>
              </a:lnSpc>
              <a:spcBef>
                <a:spcPts val="0"/>
              </a:spcBef>
              <a:buClr>
                <a:schemeClr val="bg1"/>
              </a:buClr>
              <a:buNone/>
            </a:pPr>
            <a:endParaRPr lang="en-GB" sz="1400" dirty="0">
              <a:solidFill>
                <a:schemeClr val="bg1"/>
              </a:solidFill>
              <a:latin typeface="Arial" charset="0"/>
            </a:endParaRPr>
          </a:p>
          <a:p>
            <a:pPr marL="0" lvl="1" indent="0">
              <a:lnSpc>
                <a:spcPts val="2080"/>
              </a:lnSpc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 err="1">
                <a:solidFill>
                  <a:schemeClr val="bg1"/>
                </a:solidFill>
                <a:latin typeface="Arial" charset="0"/>
              </a:rPr>
              <a:t>i</a:t>
            </a:r>
            <a:r>
              <a:rPr lang="en-GB" sz="1400" dirty="0">
                <a:solidFill>
                  <a:schemeClr val="bg1"/>
                </a:solidFill>
                <a:latin typeface="Arial" charset="0"/>
              </a:rPr>
              <a:t> - Tibial portion of the sciatic nerve. L5-S2 </a:t>
            </a:r>
          </a:p>
        </p:txBody>
      </p:sp>
      <p:pic>
        <p:nvPicPr>
          <p:cNvPr id="3" name="Picture 2" descr="A picture containing wearing, green, rack&#10;&#10;Description automatically generated">
            <a:extLst>
              <a:ext uri="{FF2B5EF4-FFF2-40B4-BE49-F238E27FC236}">
                <a16:creationId xmlns:a16="http://schemas.microsoft.com/office/drawing/2014/main" id="{2E277A51-F9B9-B9BD-BE2B-DB5512A5AE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4" y="793472"/>
            <a:ext cx="2151511" cy="5740580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741153F-CFC5-6D70-832E-8AF34ACEEBE2}"/>
              </a:ext>
            </a:extLst>
          </p:cNvPr>
          <p:cNvSpPr txBox="1"/>
          <p:nvPr/>
        </p:nvSpPr>
        <p:spPr>
          <a:xfrm>
            <a:off x="7092280" y="2996954"/>
            <a:ext cx="360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BF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99B6FA-CBD5-6036-D7FF-8AC0FA501C11}"/>
              </a:ext>
            </a:extLst>
          </p:cNvPr>
          <p:cNvSpPr txBox="1"/>
          <p:nvPr/>
        </p:nvSpPr>
        <p:spPr>
          <a:xfrm>
            <a:off x="7490765" y="3415264"/>
            <a:ext cx="360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0F8C0C-3B74-B28F-85EB-EF33C03F34FF}"/>
              </a:ext>
            </a:extLst>
          </p:cNvPr>
          <p:cNvSpPr txBox="1"/>
          <p:nvPr/>
        </p:nvSpPr>
        <p:spPr>
          <a:xfrm>
            <a:off x="7740352" y="4161345"/>
            <a:ext cx="4320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SM</a:t>
            </a:r>
          </a:p>
        </p:txBody>
      </p:sp>
    </p:spTree>
    <p:extLst>
      <p:ext uri="{BB962C8B-B14F-4D97-AF65-F5344CB8AC3E}">
        <p14:creationId xmlns:p14="http://schemas.microsoft.com/office/powerpoint/2010/main" val="7943325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13FAE8A-AEF3-D3F2-44C1-31CD502AD783}"/>
              </a:ext>
            </a:extLst>
          </p:cNvPr>
          <p:cNvSpPr/>
          <p:nvPr/>
        </p:nvSpPr>
        <p:spPr>
          <a:xfrm>
            <a:off x="0" y="27384"/>
            <a:ext cx="52920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86AA886-5F2C-CA06-1948-562C8370FE2D}"/>
              </a:ext>
            </a:extLst>
          </p:cNvPr>
          <p:cNvGrpSpPr/>
          <p:nvPr/>
        </p:nvGrpSpPr>
        <p:grpSpPr>
          <a:xfrm>
            <a:off x="1320519" y="293612"/>
            <a:ext cx="5267707" cy="615108"/>
            <a:chOff x="1316926" y="1957445"/>
            <a:chExt cx="5267707" cy="61510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1A29A41-AD07-1D67-3818-DD34D63E4D59}"/>
                </a:ext>
              </a:extLst>
            </p:cNvPr>
            <p:cNvSpPr/>
            <p:nvPr/>
          </p:nvSpPr>
          <p:spPr>
            <a:xfrm>
              <a:off x="1316926" y="1957445"/>
              <a:ext cx="5267707" cy="615108"/>
            </a:xfrm>
            <a:prstGeom prst="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CE6D95E-AC2D-06C5-B5A4-E640F41CCFC4}"/>
                </a:ext>
              </a:extLst>
            </p:cNvPr>
            <p:cNvSpPr txBox="1"/>
            <p:nvPr/>
          </p:nvSpPr>
          <p:spPr>
            <a:xfrm>
              <a:off x="1316926" y="1957445"/>
              <a:ext cx="5267707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2208" tIns="156237" rIns="102208" bIns="156237" numCol="1" spcCol="1270" anchor="ctr" anchorCtr="0">
              <a:noAutofit/>
            </a:bodyPr>
            <a:lstStyle/>
            <a:p>
              <a:pPr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/>
                <a:t>Describe the functions of the muscles surrounding the hip joint in terms of their attachment, actions, nerve supply and their role in stability 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5410B8-CA01-D36D-2174-FCA235436EF8}"/>
              </a:ext>
            </a:extLst>
          </p:cNvPr>
          <p:cNvGrpSpPr/>
          <p:nvPr/>
        </p:nvGrpSpPr>
        <p:grpSpPr>
          <a:xfrm>
            <a:off x="3591" y="293612"/>
            <a:ext cx="1316926" cy="615108"/>
            <a:chOff x="0" y="1957445"/>
            <a:chExt cx="1316926" cy="61510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9901282-145B-0E6B-1D7A-05D9B060F953}"/>
                </a:ext>
              </a:extLst>
            </p:cNvPr>
            <p:cNvSpPr/>
            <p:nvPr/>
          </p:nvSpPr>
          <p:spPr>
            <a:xfrm>
              <a:off x="0" y="1957445"/>
              <a:ext cx="1316926" cy="615108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A1CEDDE-4725-898E-1614-C88F96567BED}"/>
                </a:ext>
              </a:extLst>
            </p:cNvPr>
            <p:cNvSpPr txBox="1"/>
            <p:nvPr/>
          </p:nvSpPr>
          <p:spPr>
            <a:xfrm>
              <a:off x="0" y="1957445"/>
              <a:ext cx="1316926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687" tIns="60759" rIns="69687" bIns="6075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/>
                <a:t>Describe</a:t>
              </a:r>
            </a:p>
          </p:txBody>
        </p:sp>
      </p:grpSp>
      <p:sp>
        <p:nvSpPr>
          <p:cNvPr id="22" name="Rectangle 1026">
            <a:extLst>
              <a:ext uri="{FF2B5EF4-FFF2-40B4-BE49-F238E27FC236}">
                <a16:creationId xmlns:a16="http://schemas.microsoft.com/office/drawing/2014/main" id="{0E9828F0-B7C0-F741-9A45-6088589B6C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3508" y="1290025"/>
            <a:ext cx="3356919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GB" sz="2800" dirty="0">
                <a:cs typeface="Lucida Sans Unicode" panose="020B0602030504020204" pitchFamily="34" charset="0"/>
              </a:rPr>
              <a:t>Bi-articular muscles of the hip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30D0BAD8-A5F8-9442-7BB3-E2DDF8391E03}"/>
              </a:ext>
            </a:extLst>
          </p:cNvPr>
          <p:cNvSpPr txBox="1">
            <a:spLocks noChangeArrowheads="1"/>
          </p:cNvSpPr>
          <p:nvPr/>
        </p:nvSpPr>
        <p:spPr>
          <a:xfrm>
            <a:off x="395536" y="2630738"/>
            <a:ext cx="4680520" cy="4103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44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600" b="1" dirty="0">
                <a:solidFill>
                  <a:schemeClr val="tx1"/>
                </a:solidFill>
                <a:latin typeface="Arial" charset="0"/>
              </a:rPr>
              <a:t>Rectus femoris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None/>
            </a:pPr>
            <a:r>
              <a:rPr lang="en-GB" sz="1400" dirty="0">
                <a:solidFill>
                  <a:schemeClr val="bg1"/>
                </a:solidFill>
                <a:latin typeface="Arial" charset="0"/>
              </a:rPr>
              <a:t>As before</a:t>
            </a:r>
            <a:endParaRPr lang="en-GB" sz="1400" dirty="0">
              <a:solidFill>
                <a:schemeClr val="tx1"/>
              </a:solidFill>
              <a:latin typeface="Arial" charset="0"/>
            </a:endParaRPr>
          </a:p>
          <a:p>
            <a:pPr marL="0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600" b="1" dirty="0">
                <a:solidFill>
                  <a:schemeClr val="tx1"/>
                </a:solidFill>
                <a:latin typeface="Arial" charset="0"/>
              </a:rPr>
              <a:t>Sartorius</a:t>
            </a:r>
          </a:p>
          <a:p>
            <a:pPr marL="0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>
                <a:solidFill>
                  <a:schemeClr val="bg1"/>
                </a:solidFill>
              </a:rPr>
              <a:t>F - Flexes, abducts &amp; laterally rotates the hip joint, </a:t>
            </a:r>
          </a:p>
          <a:p>
            <a:pPr>
              <a:spcBef>
                <a:spcPts val="0"/>
              </a:spcBef>
            </a:pPr>
            <a:r>
              <a:rPr lang="en-GB" sz="1400" dirty="0">
                <a:solidFill>
                  <a:schemeClr val="bg1"/>
                </a:solidFill>
              </a:rPr>
              <a:t>also rotates the tibia medially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dirty="0">
                <a:solidFill>
                  <a:schemeClr val="bg1"/>
                </a:solidFill>
                <a:latin typeface="Arial" charset="0"/>
              </a:rPr>
              <a:t>O - ASIS and notch below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dirty="0">
                <a:solidFill>
                  <a:schemeClr val="bg1"/>
                </a:solidFill>
                <a:latin typeface="Arial" charset="0"/>
              </a:rPr>
              <a:t>I - superior medial surface of tibia, anterior to gracilis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400" dirty="0" err="1">
                <a:solidFill>
                  <a:schemeClr val="bg1"/>
                </a:solidFill>
                <a:latin typeface="Arial" charset="0"/>
              </a:rPr>
              <a:t>i</a:t>
            </a:r>
            <a:r>
              <a:rPr lang="en-GB" sz="1400" dirty="0">
                <a:solidFill>
                  <a:schemeClr val="bg1"/>
                </a:solidFill>
                <a:latin typeface="Arial" charset="0"/>
              </a:rPr>
              <a:t> - femoral nerve L2-L3</a:t>
            </a:r>
            <a:endParaRPr lang="en-GB" sz="1800" dirty="0">
              <a:solidFill>
                <a:schemeClr val="tx1"/>
              </a:solidFill>
              <a:latin typeface="Arial" charset="0"/>
            </a:endParaRPr>
          </a:p>
          <a:p>
            <a:pPr marL="0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600" b="1" dirty="0">
                <a:solidFill>
                  <a:schemeClr val="tx1"/>
                </a:solidFill>
                <a:latin typeface="Arial" charset="0"/>
              </a:rPr>
              <a:t>Gracilis</a:t>
            </a:r>
          </a:p>
          <a:p>
            <a:pPr marL="0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>
                <a:solidFill>
                  <a:schemeClr val="bg1"/>
                </a:solidFill>
              </a:rPr>
              <a:t>F - Adducts the hip joint, flexes the knee &amp; rotates the </a:t>
            </a:r>
          </a:p>
          <a:p>
            <a:pPr marL="0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>
                <a:solidFill>
                  <a:schemeClr val="bg1"/>
                </a:solidFill>
              </a:rPr>
              <a:t>     tibia medially</a:t>
            </a:r>
          </a:p>
          <a:p>
            <a:pPr marL="0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>
                <a:solidFill>
                  <a:schemeClr val="bg1"/>
                </a:solidFill>
              </a:rPr>
              <a:t>O - Thin aponeurosis from the medial margins of the </a:t>
            </a:r>
          </a:p>
          <a:p>
            <a:pPr marL="0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>
                <a:solidFill>
                  <a:schemeClr val="bg1"/>
                </a:solidFill>
              </a:rPr>
              <a:t>     lower half of the body of the pubis &amp; the whole of the </a:t>
            </a:r>
          </a:p>
          <a:p>
            <a:pPr marL="0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>
                <a:solidFill>
                  <a:schemeClr val="bg1"/>
                </a:solidFill>
              </a:rPr>
              <a:t>     inferior ramus</a:t>
            </a:r>
          </a:p>
          <a:p>
            <a:pPr marL="0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>
                <a:solidFill>
                  <a:schemeClr val="bg1"/>
                </a:solidFill>
              </a:rPr>
              <a:t>I - Proximal part of the medial surface of the tibia, below </a:t>
            </a:r>
          </a:p>
          <a:p>
            <a:pPr marL="0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>
                <a:solidFill>
                  <a:schemeClr val="bg1"/>
                </a:solidFill>
              </a:rPr>
              <a:t>     the tibial condyle &amp; just proximal to the tendon of </a:t>
            </a:r>
          </a:p>
          <a:p>
            <a:pPr marL="0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>
                <a:solidFill>
                  <a:schemeClr val="bg1"/>
                </a:solidFill>
              </a:rPr>
              <a:t>     semitendinosus</a:t>
            </a:r>
          </a:p>
          <a:p>
            <a:pPr marL="0" indent="0">
              <a:spcBef>
                <a:spcPts val="0"/>
              </a:spcBef>
              <a:buClr>
                <a:schemeClr val="bg1"/>
              </a:buClr>
              <a:buNone/>
            </a:pPr>
            <a:r>
              <a:rPr lang="en-GB" sz="1400" dirty="0" err="1">
                <a:solidFill>
                  <a:schemeClr val="bg1"/>
                </a:solidFill>
              </a:rPr>
              <a:t>i</a:t>
            </a:r>
            <a:r>
              <a:rPr lang="en-GB" sz="1400" dirty="0">
                <a:solidFill>
                  <a:schemeClr val="bg1"/>
                </a:solidFill>
              </a:rPr>
              <a:t> - Obturator nerve. L2-L3</a:t>
            </a:r>
            <a:endParaRPr lang="en-GB" sz="1400" b="1" dirty="0">
              <a:solidFill>
                <a:schemeClr val="bg1"/>
              </a:solidFill>
              <a:latin typeface="Arial" charset="0"/>
            </a:endParaRPr>
          </a:p>
          <a:p>
            <a:pPr marL="0" indent="0">
              <a:spcBef>
                <a:spcPts val="0"/>
              </a:spcBef>
              <a:buClr>
                <a:schemeClr val="bg1"/>
              </a:buClr>
              <a:buNone/>
            </a:pPr>
            <a:endParaRPr lang="en-GB" sz="1800" b="1" dirty="0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3" name="Picture 2" descr="A picture containing rack, tied&#10;&#10;Description automatically generated">
            <a:extLst>
              <a:ext uri="{FF2B5EF4-FFF2-40B4-BE49-F238E27FC236}">
                <a16:creationId xmlns:a16="http://schemas.microsoft.com/office/drawing/2014/main" id="{DD4B34C7-A724-6C9B-7709-271ECE4661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1323" y="293612"/>
            <a:ext cx="1212103" cy="4143500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pic>
        <p:nvPicPr>
          <p:cNvPr id="7" name="Picture 6" descr="A picture containing wooden, wood&#10;&#10;Description automatically generated">
            <a:extLst>
              <a:ext uri="{FF2B5EF4-FFF2-40B4-BE49-F238E27FC236}">
                <a16:creationId xmlns:a16="http://schemas.microsoft.com/office/drawing/2014/main" id="{4CCF08F2-D6BE-DB92-6216-0AB955E6B0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3619" y="3093762"/>
            <a:ext cx="1212103" cy="3470626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24240835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13FAE8A-AEF3-D3F2-44C1-31CD502AD783}"/>
              </a:ext>
            </a:extLst>
          </p:cNvPr>
          <p:cNvSpPr/>
          <p:nvPr/>
        </p:nvSpPr>
        <p:spPr>
          <a:xfrm>
            <a:off x="0" y="0"/>
            <a:ext cx="52920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86AA886-5F2C-CA06-1948-562C8370FE2D}"/>
              </a:ext>
            </a:extLst>
          </p:cNvPr>
          <p:cNvGrpSpPr/>
          <p:nvPr/>
        </p:nvGrpSpPr>
        <p:grpSpPr>
          <a:xfrm>
            <a:off x="1320519" y="293612"/>
            <a:ext cx="5267707" cy="615108"/>
            <a:chOff x="1316926" y="1957445"/>
            <a:chExt cx="5267707" cy="61510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1A29A41-AD07-1D67-3818-DD34D63E4D59}"/>
                </a:ext>
              </a:extLst>
            </p:cNvPr>
            <p:cNvSpPr/>
            <p:nvPr/>
          </p:nvSpPr>
          <p:spPr>
            <a:xfrm>
              <a:off x="1316926" y="1957445"/>
              <a:ext cx="5267707" cy="615108"/>
            </a:xfrm>
            <a:prstGeom prst="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CE6D95E-AC2D-06C5-B5A4-E640F41CCFC4}"/>
                </a:ext>
              </a:extLst>
            </p:cNvPr>
            <p:cNvSpPr txBox="1"/>
            <p:nvPr/>
          </p:nvSpPr>
          <p:spPr>
            <a:xfrm>
              <a:off x="1316926" y="1957445"/>
              <a:ext cx="5267707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2208" tIns="156237" rIns="102208" bIns="156237" numCol="1" spcCol="1270" anchor="ctr" anchorCtr="0">
              <a:noAutofit/>
            </a:bodyPr>
            <a:lstStyle/>
            <a:p>
              <a:pPr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/>
                <a:t>Describe the functions of the muscles surrounding the hip joint in terms of their attachment, actions, nerve supply and their role in stability 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5410B8-CA01-D36D-2174-FCA235436EF8}"/>
              </a:ext>
            </a:extLst>
          </p:cNvPr>
          <p:cNvGrpSpPr/>
          <p:nvPr/>
        </p:nvGrpSpPr>
        <p:grpSpPr>
          <a:xfrm>
            <a:off x="3591" y="293612"/>
            <a:ext cx="1316926" cy="615108"/>
            <a:chOff x="0" y="1957445"/>
            <a:chExt cx="1316926" cy="61510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9901282-145B-0E6B-1D7A-05D9B060F953}"/>
                </a:ext>
              </a:extLst>
            </p:cNvPr>
            <p:cNvSpPr/>
            <p:nvPr/>
          </p:nvSpPr>
          <p:spPr>
            <a:xfrm>
              <a:off x="0" y="1957445"/>
              <a:ext cx="1316926" cy="615108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A1CEDDE-4725-898E-1614-C88F96567BED}"/>
                </a:ext>
              </a:extLst>
            </p:cNvPr>
            <p:cNvSpPr txBox="1"/>
            <p:nvPr/>
          </p:nvSpPr>
          <p:spPr>
            <a:xfrm>
              <a:off x="0" y="1957445"/>
              <a:ext cx="1316926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687" tIns="60759" rIns="69687" bIns="6075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/>
                <a:t>Describe</a:t>
              </a:r>
            </a:p>
          </p:txBody>
        </p:sp>
      </p:grp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3172E6EF-D773-A568-F2D2-408C688632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565" y="1271766"/>
            <a:ext cx="5463589" cy="5223191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sp>
        <p:nvSpPr>
          <p:cNvPr id="22" name="Rectangle 1026">
            <a:extLst>
              <a:ext uri="{FF2B5EF4-FFF2-40B4-BE49-F238E27FC236}">
                <a16:creationId xmlns:a16="http://schemas.microsoft.com/office/drawing/2014/main" id="{0E9828F0-B7C0-F741-9A45-6088589B6C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63959" y="908720"/>
            <a:ext cx="3356919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GB" sz="2800" dirty="0">
                <a:cs typeface="Lucida Sans Unicode" panose="020B0602030504020204" pitchFamily="34" charset="0"/>
              </a:rPr>
              <a:t>Muscle attachment sites at the hip</a:t>
            </a:r>
          </a:p>
        </p:txBody>
      </p:sp>
    </p:spTree>
    <p:extLst>
      <p:ext uri="{BB962C8B-B14F-4D97-AF65-F5344CB8AC3E}">
        <p14:creationId xmlns:p14="http://schemas.microsoft.com/office/powerpoint/2010/main" val="11141303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13FAE8A-AEF3-D3F2-44C1-31CD502AD783}"/>
              </a:ext>
            </a:extLst>
          </p:cNvPr>
          <p:cNvSpPr/>
          <p:nvPr/>
        </p:nvSpPr>
        <p:spPr>
          <a:xfrm>
            <a:off x="0" y="0"/>
            <a:ext cx="52920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026">
            <a:extLst>
              <a:ext uri="{FF2B5EF4-FFF2-40B4-BE49-F238E27FC236}">
                <a16:creationId xmlns:a16="http://schemas.microsoft.com/office/drawing/2014/main" id="{0E9828F0-B7C0-F741-9A45-6088589B6C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2056" y="188640"/>
            <a:ext cx="3356919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GB" sz="2800" dirty="0">
                <a:cs typeface="Lucida Sans Unicode" panose="020B0602030504020204" pitchFamily="34" charset="0"/>
              </a:rPr>
              <a:t>Limitations of movements</a:t>
            </a:r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1E75689C-3C14-5B6A-428D-AB0227D2E7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967" y="1566000"/>
            <a:ext cx="4990066" cy="4861382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802280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13FAE8A-AEF3-D3F2-44C1-31CD502AD783}"/>
              </a:ext>
            </a:extLst>
          </p:cNvPr>
          <p:cNvSpPr/>
          <p:nvPr/>
        </p:nvSpPr>
        <p:spPr>
          <a:xfrm>
            <a:off x="0" y="0"/>
            <a:ext cx="52920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658C606-88C2-991D-1D75-D6D02FE85C5F}"/>
              </a:ext>
            </a:extLst>
          </p:cNvPr>
          <p:cNvGrpSpPr/>
          <p:nvPr/>
        </p:nvGrpSpPr>
        <p:grpSpPr>
          <a:xfrm>
            <a:off x="1320519" y="293612"/>
            <a:ext cx="5267707" cy="615108"/>
            <a:chOff x="1316926" y="2609460"/>
            <a:chExt cx="5267707" cy="6151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A1B723B-B04C-2490-C62B-64DFDD7198FA}"/>
                </a:ext>
              </a:extLst>
            </p:cNvPr>
            <p:cNvSpPr/>
            <p:nvPr/>
          </p:nvSpPr>
          <p:spPr>
            <a:xfrm>
              <a:off x="1316926" y="2609460"/>
              <a:ext cx="5267707" cy="615108"/>
            </a:xfrm>
            <a:prstGeom prst="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59691DB-22C0-B43B-FBDD-31644E0D0515}"/>
                </a:ext>
              </a:extLst>
            </p:cNvPr>
            <p:cNvSpPr txBox="1"/>
            <p:nvPr/>
          </p:nvSpPr>
          <p:spPr>
            <a:xfrm>
              <a:off x="1316926" y="2609460"/>
              <a:ext cx="5267707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2208" tIns="156237" rIns="102208" bIns="156237" numCol="1" spcCol="1270" anchor="ctr" anchorCtr="0">
              <a:noAutofit/>
            </a:bodyPr>
            <a:lstStyle/>
            <a:p>
              <a:pPr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/>
                <a:t>Describe the blood and nerve supply to the joint, and appreciate the significance of this supply in relation to hip fractures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9B397FC-5B73-BC07-0AA8-2BB9ED41B7B4}"/>
              </a:ext>
            </a:extLst>
          </p:cNvPr>
          <p:cNvGrpSpPr/>
          <p:nvPr/>
        </p:nvGrpSpPr>
        <p:grpSpPr>
          <a:xfrm>
            <a:off x="3591" y="293612"/>
            <a:ext cx="1316926" cy="615108"/>
            <a:chOff x="0" y="2609460"/>
            <a:chExt cx="1316926" cy="61510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C6E1C64-191D-87E4-0CBE-DE83F343AB02}"/>
                </a:ext>
              </a:extLst>
            </p:cNvPr>
            <p:cNvSpPr/>
            <p:nvPr/>
          </p:nvSpPr>
          <p:spPr>
            <a:xfrm>
              <a:off x="0" y="2609460"/>
              <a:ext cx="1316926" cy="615108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75E8A40-DA59-17D9-D32F-F8E01FF28EDC}"/>
                </a:ext>
              </a:extLst>
            </p:cNvPr>
            <p:cNvSpPr txBox="1"/>
            <p:nvPr/>
          </p:nvSpPr>
          <p:spPr>
            <a:xfrm>
              <a:off x="0" y="2609460"/>
              <a:ext cx="1316926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687" tIns="60759" rIns="69687" bIns="6075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dirty="0"/>
                <a:t>Describe</a:t>
              </a:r>
            </a:p>
          </p:txBody>
        </p:sp>
      </p:grpSp>
      <p:sp>
        <p:nvSpPr>
          <p:cNvPr id="17" name="Rectangle 1026">
            <a:extLst>
              <a:ext uri="{FF2B5EF4-FFF2-40B4-BE49-F238E27FC236}">
                <a16:creationId xmlns:a16="http://schemas.microsoft.com/office/drawing/2014/main" id="{A23D4691-2249-CBE2-7E84-D44B59E24C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9592" y="1244268"/>
            <a:ext cx="3744416" cy="841072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pPr eaLnBrk="1" hangingPunct="1"/>
            <a:r>
              <a:rPr lang="en-GB" sz="2800" dirty="0">
                <a:cs typeface="Lucida Sans Unicode" panose="020B0602030504020204" pitchFamily="34" charset="0"/>
              </a:rPr>
              <a:t>hip fractures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303D5A-1E7D-EC46-E084-C9EAEDD67F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140" y="2391728"/>
            <a:ext cx="6851883" cy="4071976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F12B3EA-611B-4846-4A0D-B8D346E1A398}"/>
              </a:ext>
            </a:extLst>
          </p:cNvPr>
          <p:cNvSpPr txBox="1"/>
          <p:nvPr/>
        </p:nvSpPr>
        <p:spPr>
          <a:xfrm>
            <a:off x="216003" y="5613734"/>
            <a:ext cx="16501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SUBTROCHANTERIC </a:t>
            </a:r>
            <a:r>
              <a:rPr lang="en-US" sz="1000" dirty="0">
                <a:sym typeface="Wingdings" pitchFamily="2" charset="2"/>
              </a:rPr>
              <a:t> </a:t>
            </a:r>
          </a:p>
          <a:p>
            <a:r>
              <a:rPr lang="en-US" sz="1000" dirty="0">
                <a:sym typeface="Wingdings" pitchFamily="2" charset="2"/>
              </a:rPr>
              <a:t> (extracapsular)</a:t>
            </a:r>
            <a:endParaRPr 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914930-03D1-E658-1C50-C9C979CAF112}"/>
              </a:ext>
            </a:extLst>
          </p:cNvPr>
          <p:cNvSpPr txBox="1"/>
          <p:nvPr/>
        </p:nvSpPr>
        <p:spPr>
          <a:xfrm>
            <a:off x="107506" y="4181497"/>
            <a:ext cx="1758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INTERTROCHANTERIC </a:t>
            </a:r>
            <a:r>
              <a:rPr lang="en-US" sz="1000" dirty="0">
                <a:sym typeface="Wingdings" pitchFamily="2" charset="2"/>
              </a:rPr>
              <a:t></a:t>
            </a:r>
          </a:p>
          <a:p>
            <a:r>
              <a:rPr lang="en-US" sz="1000" dirty="0">
                <a:sym typeface="Wingdings" pitchFamily="2" charset="2"/>
              </a:rPr>
              <a:t> (extracapsular)    </a:t>
            </a:r>
            <a:endParaRPr lang="en-US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AB4BB8-C465-63BC-87DE-D7CD238B69B3}"/>
              </a:ext>
            </a:extLst>
          </p:cNvPr>
          <p:cNvSpPr txBox="1"/>
          <p:nvPr/>
        </p:nvSpPr>
        <p:spPr>
          <a:xfrm>
            <a:off x="107505" y="3465379"/>
            <a:ext cx="1758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TRANSCERVICAL </a:t>
            </a:r>
            <a:r>
              <a:rPr lang="en-US" sz="1000" dirty="0">
                <a:sym typeface="Wingdings" pitchFamily="2" charset="2"/>
              </a:rPr>
              <a:t></a:t>
            </a:r>
          </a:p>
          <a:p>
            <a:r>
              <a:rPr lang="en-US" sz="1000" dirty="0">
                <a:sym typeface="Wingdings" pitchFamily="2" charset="2"/>
              </a:rPr>
              <a:t> (intracapsular)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594689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13FAE8A-AEF3-D3F2-44C1-31CD502AD783}"/>
              </a:ext>
            </a:extLst>
          </p:cNvPr>
          <p:cNvSpPr/>
          <p:nvPr/>
        </p:nvSpPr>
        <p:spPr>
          <a:xfrm>
            <a:off x="0" y="15540"/>
            <a:ext cx="52920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658C606-88C2-991D-1D75-D6D02FE85C5F}"/>
              </a:ext>
            </a:extLst>
          </p:cNvPr>
          <p:cNvGrpSpPr/>
          <p:nvPr/>
        </p:nvGrpSpPr>
        <p:grpSpPr>
          <a:xfrm>
            <a:off x="1320519" y="293612"/>
            <a:ext cx="5267707" cy="615108"/>
            <a:chOff x="1316926" y="2609460"/>
            <a:chExt cx="5267707" cy="6151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A1B723B-B04C-2490-C62B-64DFDD7198FA}"/>
                </a:ext>
              </a:extLst>
            </p:cNvPr>
            <p:cNvSpPr/>
            <p:nvPr/>
          </p:nvSpPr>
          <p:spPr>
            <a:xfrm>
              <a:off x="1316926" y="2609460"/>
              <a:ext cx="5267707" cy="615108"/>
            </a:xfrm>
            <a:prstGeom prst="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59691DB-22C0-B43B-FBDD-31644E0D0515}"/>
                </a:ext>
              </a:extLst>
            </p:cNvPr>
            <p:cNvSpPr txBox="1"/>
            <p:nvPr/>
          </p:nvSpPr>
          <p:spPr>
            <a:xfrm>
              <a:off x="1316926" y="2609460"/>
              <a:ext cx="5267707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2208" tIns="156237" rIns="102208" bIns="156237" numCol="1" spcCol="1270" anchor="ctr" anchorCtr="0">
              <a:noAutofit/>
            </a:bodyPr>
            <a:lstStyle/>
            <a:p>
              <a:pPr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/>
                <a:t>Describe the blood and nerve supply to the joint, and appreciate the significance of this supply in relation to hip fractures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9B397FC-5B73-BC07-0AA8-2BB9ED41B7B4}"/>
              </a:ext>
            </a:extLst>
          </p:cNvPr>
          <p:cNvGrpSpPr/>
          <p:nvPr/>
        </p:nvGrpSpPr>
        <p:grpSpPr>
          <a:xfrm>
            <a:off x="3591" y="293612"/>
            <a:ext cx="1316926" cy="615108"/>
            <a:chOff x="0" y="2609460"/>
            <a:chExt cx="1316926" cy="61510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C6E1C64-191D-87E4-0CBE-DE83F343AB02}"/>
                </a:ext>
              </a:extLst>
            </p:cNvPr>
            <p:cNvSpPr/>
            <p:nvPr/>
          </p:nvSpPr>
          <p:spPr>
            <a:xfrm>
              <a:off x="0" y="2609460"/>
              <a:ext cx="1316926" cy="615108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75E8A40-DA59-17D9-D32F-F8E01FF28EDC}"/>
                </a:ext>
              </a:extLst>
            </p:cNvPr>
            <p:cNvSpPr txBox="1"/>
            <p:nvPr/>
          </p:nvSpPr>
          <p:spPr>
            <a:xfrm>
              <a:off x="0" y="2609460"/>
              <a:ext cx="1316926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687" tIns="60759" rIns="69687" bIns="6075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dirty="0"/>
                <a:t>Describe</a:t>
              </a:r>
            </a:p>
          </p:txBody>
        </p:sp>
      </p:grpSp>
      <p:pic>
        <p:nvPicPr>
          <p:cNvPr id="16" name="Picture 15" descr="A picture containing map, text&#10;&#10;Description automatically generated">
            <a:extLst>
              <a:ext uri="{FF2B5EF4-FFF2-40B4-BE49-F238E27FC236}">
                <a16:creationId xmlns:a16="http://schemas.microsoft.com/office/drawing/2014/main" id="{C024C1E2-13EF-B328-AF1D-88FD14E2B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56" y="2871058"/>
            <a:ext cx="7818617" cy="2790000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sp>
        <p:nvSpPr>
          <p:cNvPr id="17" name="Rectangle 1026">
            <a:extLst>
              <a:ext uri="{FF2B5EF4-FFF2-40B4-BE49-F238E27FC236}">
                <a16:creationId xmlns:a16="http://schemas.microsoft.com/office/drawing/2014/main" id="{A23D4691-2249-CBE2-7E84-D44B59E24C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2056" y="1412776"/>
            <a:ext cx="3356919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GB" sz="2800" dirty="0">
                <a:cs typeface="Lucida Sans Unicode" panose="020B0602030504020204" pitchFamily="34" charset="0"/>
              </a:rPr>
              <a:t>blood supply to the femoral 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8DC840-21F8-684F-80C0-5377CC7CBDC8}"/>
              </a:ext>
            </a:extLst>
          </p:cNvPr>
          <p:cNvSpPr txBox="1"/>
          <p:nvPr/>
        </p:nvSpPr>
        <p:spPr>
          <a:xfrm>
            <a:off x="657375" y="5859419"/>
            <a:ext cx="50669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PROFUNDA FEMORIS </a:t>
            </a:r>
          </a:p>
          <a:p>
            <a:r>
              <a:rPr lang="en-US" sz="1000" dirty="0"/>
              <a:t>(LATERAL &amp; MEDIAL CIRCUMFLEX FEMORAL ARTERIES)</a:t>
            </a:r>
          </a:p>
          <a:p>
            <a:r>
              <a:rPr lang="en-US" sz="1000" dirty="0">
                <a:sym typeface="Wingdings" pitchFamily="2" charset="2"/>
              </a:rPr>
              <a:t> Branches to RETINACULAR ARTERIES</a:t>
            </a:r>
            <a:endParaRPr lang="en-US" sz="1000" dirty="0"/>
          </a:p>
          <a:p>
            <a:endParaRPr 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EE5FE3-331E-158F-ADD3-057AF01D5173}"/>
              </a:ext>
            </a:extLst>
          </p:cNvPr>
          <p:cNvSpPr txBox="1"/>
          <p:nvPr/>
        </p:nvSpPr>
        <p:spPr>
          <a:xfrm>
            <a:off x="5292079" y="1893610"/>
            <a:ext cx="3188593" cy="70788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A major complication of displacement of the femoral head through either fracture or dislocation is </a:t>
            </a:r>
            <a:r>
              <a:rPr lang="en-US" sz="1000" dirty="0">
                <a:solidFill>
                  <a:schemeClr val="bg1"/>
                </a:solidFill>
              </a:rPr>
              <a:t>avascular necrosis </a:t>
            </a:r>
            <a:r>
              <a:rPr lang="en-US" sz="1000" dirty="0"/>
              <a:t>- if blood supply is denied, the head will die within 6 hours and will not repair itself.</a:t>
            </a:r>
          </a:p>
        </p:txBody>
      </p:sp>
    </p:spTree>
    <p:extLst>
      <p:ext uri="{BB962C8B-B14F-4D97-AF65-F5344CB8AC3E}">
        <p14:creationId xmlns:p14="http://schemas.microsoft.com/office/powerpoint/2010/main" val="9063681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13FAE8A-AEF3-D3F2-44C1-31CD502AD783}"/>
              </a:ext>
            </a:extLst>
          </p:cNvPr>
          <p:cNvSpPr/>
          <p:nvPr/>
        </p:nvSpPr>
        <p:spPr>
          <a:xfrm>
            <a:off x="0" y="15540"/>
            <a:ext cx="52920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658C606-88C2-991D-1D75-D6D02FE85C5F}"/>
              </a:ext>
            </a:extLst>
          </p:cNvPr>
          <p:cNvGrpSpPr/>
          <p:nvPr/>
        </p:nvGrpSpPr>
        <p:grpSpPr>
          <a:xfrm>
            <a:off x="1320519" y="293612"/>
            <a:ext cx="5267707" cy="615108"/>
            <a:chOff x="1316926" y="2609460"/>
            <a:chExt cx="5267707" cy="6151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A1B723B-B04C-2490-C62B-64DFDD7198FA}"/>
                </a:ext>
              </a:extLst>
            </p:cNvPr>
            <p:cNvSpPr/>
            <p:nvPr/>
          </p:nvSpPr>
          <p:spPr>
            <a:xfrm>
              <a:off x="1316926" y="2609460"/>
              <a:ext cx="5267707" cy="615108"/>
            </a:xfrm>
            <a:prstGeom prst="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59691DB-22C0-B43B-FBDD-31644E0D0515}"/>
                </a:ext>
              </a:extLst>
            </p:cNvPr>
            <p:cNvSpPr txBox="1"/>
            <p:nvPr/>
          </p:nvSpPr>
          <p:spPr>
            <a:xfrm>
              <a:off x="1316926" y="2609460"/>
              <a:ext cx="5267707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2208" tIns="156237" rIns="102208" bIns="156237" numCol="1" spcCol="1270" anchor="ctr" anchorCtr="0">
              <a:noAutofit/>
            </a:bodyPr>
            <a:lstStyle/>
            <a:p>
              <a:pPr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/>
                <a:t>Describe the blood and nerve supply to the joint, and appreciate the significance of this supply in relation to hip fractures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9B397FC-5B73-BC07-0AA8-2BB9ED41B7B4}"/>
              </a:ext>
            </a:extLst>
          </p:cNvPr>
          <p:cNvGrpSpPr/>
          <p:nvPr/>
        </p:nvGrpSpPr>
        <p:grpSpPr>
          <a:xfrm>
            <a:off x="3591" y="293612"/>
            <a:ext cx="1316926" cy="615108"/>
            <a:chOff x="0" y="2609460"/>
            <a:chExt cx="1316926" cy="61510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C6E1C64-191D-87E4-0CBE-DE83F343AB02}"/>
                </a:ext>
              </a:extLst>
            </p:cNvPr>
            <p:cNvSpPr/>
            <p:nvPr/>
          </p:nvSpPr>
          <p:spPr>
            <a:xfrm>
              <a:off x="0" y="2609460"/>
              <a:ext cx="1316926" cy="615108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75E8A40-DA59-17D9-D32F-F8E01FF28EDC}"/>
                </a:ext>
              </a:extLst>
            </p:cNvPr>
            <p:cNvSpPr txBox="1"/>
            <p:nvPr/>
          </p:nvSpPr>
          <p:spPr>
            <a:xfrm>
              <a:off x="0" y="2609460"/>
              <a:ext cx="1316926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687" tIns="60759" rIns="69687" bIns="6075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dirty="0"/>
                <a:t>Describe</a:t>
              </a:r>
            </a:p>
          </p:txBody>
        </p:sp>
      </p:grpSp>
      <p:sp>
        <p:nvSpPr>
          <p:cNvPr id="17" name="Rectangle 1026">
            <a:extLst>
              <a:ext uri="{FF2B5EF4-FFF2-40B4-BE49-F238E27FC236}">
                <a16:creationId xmlns:a16="http://schemas.microsoft.com/office/drawing/2014/main" id="{A23D4691-2249-CBE2-7E84-D44B59E24C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2057" y="1412776"/>
            <a:ext cx="7851250" cy="615108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GB" sz="2800" dirty="0">
                <a:cs typeface="Lucida Sans Unicode" panose="020B0602030504020204" pitchFamily="34" charset="0"/>
              </a:rPr>
              <a:t>blood supply to the femoral head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982026-089C-6ACF-FAD5-016A43F94E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1" y="2204864"/>
            <a:ext cx="5741506" cy="4248472"/>
          </a:xfrm>
          <a:prstGeom prst="rect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1A571E-B43A-9955-486B-29031A2C54C1}"/>
              </a:ext>
            </a:extLst>
          </p:cNvPr>
          <p:cNvSpPr txBox="1"/>
          <p:nvPr/>
        </p:nvSpPr>
        <p:spPr>
          <a:xfrm>
            <a:off x="503811" y="2870934"/>
            <a:ext cx="2249995" cy="286232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The blood supply to the femoral head is complex and involves several arteries with blood being delivered from distal to proximal. </a:t>
            </a:r>
          </a:p>
          <a:p>
            <a:r>
              <a:rPr lang="en-US" sz="1000" dirty="0"/>
              <a:t>KEY VESSELS.</a:t>
            </a:r>
          </a:p>
          <a:p>
            <a:endParaRPr lang="en-US" sz="1000" dirty="0"/>
          </a:p>
          <a:p>
            <a:r>
              <a:rPr lang="en-US" sz="1000" dirty="0"/>
              <a:t>If there is a fracture at the femoral head, these vessels may be at risk of rupture</a:t>
            </a:r>
          </a:p>
          <a:p>
            <a:endParaRPr lang="en-US" sz="1000" dirty="0"/>
          </a:p>
          <a:p>
            <a:r>
              <a:rPr lang="en-US" sz="1000" dirty="0"/>
              <a:t>- if intertrochanteric, they will be ok</a:t>
            </a:r>
          </a:p>
          <a:p>
            <a:endParaRPr lang="en-US" sz="1000" dirty="0"/>
          </a:p>
          <a:p>
            <a:r>
              <a:rPr lang="en-US" sz="1000" dirty="0"/>
              <a:t>- if # is through the neck or just  </a:t>
            </a:r>
          </a:p>
          <a:p>
            <a:r>
              <a:rPr lang="en-US" sz="1000" dirty="0"/>
              <a:t>  below the head, the retinacular </a:t>
            </a:r>
          </a:p>
          <a:p>
            <a:r>
              <a:rPr lang="en-US" sz="1000" dirty="0"/>
              <a:t>  arteries are at risk</a:t>
            </a:r>
          </a:p>
          <a:p>
            <a:endParaRPr lang="en-US" sz="1000" dirty="0"/>
          </a:p>
          <a:p>
            <a:r>
              <a:rPr lang="en-US" sz="1000" dirty="0"/>
              <a:t>- if rupture or clotting occurs </a:t>
            </a:r>
            <a:r>
              <a:rPr lang="en-US" sz="1000" dirty="0">
                <a:sym typeface="Wingdings" pitchFamily="2" charset="2"/>
              </a:rPr>
              <a:t></a:t>
            </a:r>
            <a:r>
              <a:rPr lang="en-US" sz="1000" dirty="0"/>
              <a:t> </a:t>
            </a:r>
          </a:p>
          <a:p>
            <a:r>
              <a:rPr lang="en-US" sz="1000" dirty="0"/>
              <a:t>  </a:t>
            </a:r>
            <a:r>
              <a:rPr lang="en-US" sz="1000" dirty="0">
                <a:solidFill>
                  <a:schemeClr val="bg1"/>
                </a:solidFill>
              </a:rPr>
              <a:t>avascular necrosis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5270B31-C667-4F9F-94A0-FC936B9B46B6}"/>
              </a:ext>
            </a:extLst>
          </p:cNvPr>
          <p:cNvSpPr/>
          <p:nvPr/>
        </p:nvSpPr>
        <p:spPr>
          <a:xfrm>
            <a:off x="3419872" y="2348880"/>
            <a:ext cx="1152128" cy="1440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8280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13FAE8A-AEF3-D3F2-44C1-31CD502AD783}"/>
              </a:ext>
            </a:extLst>
          </p:cNvPr>
          <p:cNvSpPr/>
          <p:nvPr/>
        </p:nvSpPr>
        <p:spPr>
          <a:xfrm>
            <a:off x="0" y="0"/>
            <a:ext cx="52920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658C606-88C2-991D-1D75-D6D02FE85C5F}"/>
              </a:ext>
            </a:extLst>
          </p:cNvPr>
          <p:cNvGrpSpPr/>
          <p:nvPr/>
        </p:nvGrpSpPr>
        <p:grpSpPr>
          <a:xfrm>
            <a:off x="1320519" y="293612"/>
            <a:ext cx="5267707" cy="615108"/>
            <a:chOff x="1316926" y="2609460"/>
            <a:chExt cx="5267707" cy="6151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A1B723B-B04C-2490-C62B-64DFDD7198FA}"/>
                </a:ext>
              </a:extLst>
            </p:cNvPr>
            <p:cNvSpPr/>
            <p:nvPr/>
          </p:nvSpPr>
          <p:spPr>
            <a:xfrm>
              <a:off x="1316926" y="2609460"/>
              <a:ext cx="5267707" cy="615108"/>
            </a:xfrm>
            <a:prstGeom prst="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59691DB-22C0-B43B-FBDD-31644E0D0515}"/>
                </a:ext>
              </a:extLst>
            </p:cNvPr>
            <p:cNvSpPr txBox="1"/>
            <p:nvPr/>
          </p:nvSpPr>
          <p:spPr>
            <a:xfrm>
              <a:off x="1316926" y="2609460"/>
              <a:ext cx="5267707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2208" tIns="156237" rIns="102208" bIns="156237" numCol="1" spcCol="1270" anchor="ctr" anchorCtr="0">
              <a:noAutofit/>
            </a:bodyPr>
            <a:lstStyle/>
            <a:p>
              <a:pPr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/>
                <a:t>Describe the blood and nerve supply to the joint, and appreciate the significance of this supply in relation to hip fractures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9B397FC-5B73-BC07-0AA8-2BB9ED41B7B4}"/>
              </a:ext>
            </a:extLst>
          </p:cNvPr>
          <p:cNvGrpSpPr/>
          <p:nvPr/>
        </p:nvGrpSpPr>
        <p:grpSpPr>
          <a:xfrm>
            <a:off x="3591" y="293612"/>
            <a:ext cx="1316926" cy="615108"/>
            <a:chOff x="0" y="2609460"/>
            <a:chExt cx="1316926" cy="61510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C6E1C64-191D-87E4-0CBE-DE83F343AB02}"/>
                </a:ext>
              </a:extLst>
            </p:cNvPr>
            <p:cNvSpPr/>
            <p:nvPr/>
          </p:nvSpPr>
          <p:spPr>
            <a:xfrm>
              <a:off x="0" y="2609460"/>
              <a:ext cx="1316926" cy="615108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75E8A40-DA59-17D9-D32F-F8E01FF28EDC}"/>
                </a:ext>
              </a:extLst>
            </p:cNvPr>
            <p:cNvSpPr txBox="1"/>
            <p:nvPr/>
          </p:nvSpPr>
          <p:spPr>
            <a:xfrm>
              <a:off x="0" y="2609460"/>
              <a:ext cx="1316926" cy="6151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687" tIns="60759" rIns="69687" bIns="6075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dirty="0"/>
                <a:t>Describe</a:t>
              </a:r>
            </a:p>
          </p:txBody>
        </p:sp>
      </p:grpSp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952E30EC-70BE-708C-2A94-9785691B7EC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3"/>
          <a:stretch/>
        </p:blipFill>
        <p:spPr>
          <a:xfrm>
            <a:off x="638471" y="2723287"/>
            <a:ext cx="7893970" cy="3487327"/>
          </a:xfrm>
          <a:prstGeom prst="rect">
            <a:avLst/>
          </a:prstGeom>
        </p:spPr>
      </p:pic>
      <p:sp>
        <p:nvSpPr>
          <p:cNvPr id="18" name="Rectangle 1026">
            <a:extLst>
              <a:ext uri="{FF2B5EF4-FFF2-40B4-BE49-F238E27FC236}">
                <a16:creationId xmlns:a16="http://schemas.microsoft.com/office/drawing/2014/main" id="{80E6AC7B-3A7A-9D13-FCFB-29768A35D4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2056" y="1202332"/>
            <a:ext cx="3356919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GB" sz="2800" dirty="0">
                <a:cs typeface="Lucida Sans Unicode" panose="020B0602030504020204" pitchFamily="34" charset="0"/>
              </a:rPr>
              <a:t>Avascular necrosis of femoral head</a:t>
            </a:r>
          </a:p>
        </p:txBody>
      </p:sp>
    </p:spTree>
    <p:extLst>
      <p:ext uri="{BB962C8B-B14F-4D97-AF65-F5344CB8AC3E}">
        <p14:creationId xmlns:p14="http://schemas.microsoft.com/office/powerpoint/2010/main" val="36461563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13FAE8A-AEF3-D3F2-44C1-31CD502AD783}"/>
              </a:ext>
            </a:extLst>
          </p:cNvPr>
          <p:cNvSpPr/>
          <p:nvPr/>
        </p:nvSpPr>
        <p:spPr>
          <a:xfrm>
            <a:off x="0" y="0"/>
            <a:ext cx="52920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026">
            <a:extLst>
              <a:ext uri="{FF2B5EF4-FFF2-40B4-BE49-F238E27FC236}">
                <a16:creationId xmlns:a16="http://schemas.microsoft.com/office/drawing/2014/main" id="{0E9828F0-B7C0-F741-9A45-6088589B6C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3508" y="602269"/>
            <a:ext cx="3356919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pPr eaLnBrk="1" hangingPunct="1"/>
            <a:r>
              <a:rPr lang="en-GB" sz="2800" dirty="0">
                <a:cs typeface="Lucida Sans Unicode" panose="020B0602030504020204" pitchFamily="34" charset="0"/>
              </a:rPr>
              <a:t>Function of the q-angle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30D0BAD8-A5F8-9442-7BB3-E2DDF8391E03}"/>
              </a:ext>
            </a:extLst>
          </p:cNvPr>
          <p:cNvSpPr txBox="1">
            <a:spLocks noChangeArrowheads="1"/>
          </p:cNvSpPr>
          <p:nvPr/>
        </p:nvSpPr>
        <p:spPr>
          <a:xfrm>
            <a:off x="467545" y="2204864"/>
            <a:ext cx="4608512" cy="37834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44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1750" lvl="1" indent="-141750">
              <a:spcBef>
                <a:spcPts val="0"/>
              </a:spcBef>
              <a:spcAft>
                <a:spcPts val="1800"/>
              </a:spcAft>
              <a:buClr>
                <a:schemeClr val="bg1"/>
              </a:buClr>
            </a:pPr>
            <a:r>
              <a:rPr lang="en-GB" sz="1600" dirty="0">
                <a:solidFill>
                  <a:srgbClr val="FFFFFF"/>
                </a:solidFill>
                <a:latin typeface="Arial" charset="0"/>
              </a:rPr>
              <a:t>The Q angle represents the relationship and alignment between the pelvis, leg and foot</a:t>
            </a:r>
          </a:p>
          <a:p>
            <a:pPr marL="141750" lvl="1" indent="-141750">
              <a:spcBef>
                <a:spcPts val="0"/>
              </a:spcBef>
              <a:spcAft>
                <a:spcPts val="1800"/>
              </a:spcAft>
              <a:buClr>
                <a:schemeClr val="bg1"/>
              </a:buClr>
            </a:pPr>
            <a:r>
              <a:rPr lang="en-GB" sz="1600" dirty="0">
                <a:solidFill>
                  <a:srgbClr val="FFFFFF"/>
                </a:solidFill>
                <a:latin typeface="Arial" charset="0"/>
              </a:rPr>
              <a:t>Line of force of the quadriceps muscle</a:t>
            </a:r>
          </a:p>
          <a:p>
            <a:pPr marL="141750" lvl="1" indent="-141750">
              <a:spcBef>
                <a:spcPts val="0"/>
              </a:spcBef>
              <a:spcAft>
                <a:spcPts val="1800"/>
              </a:spcAft>
              <a:buClr>
                <a:schemeClr val="bg1"/>
              </a:buClr>
            </a:pPr>
            <a:r>
              <a:rPr lang="en-GB" sz="1600" dirty="0">
                <a:solidFill>
                  <a:srgbClr val="FFFFFF"/>
                </a:solidFill>
                <a:latin typeface="Arial" charset="0"/>
              </a:rPr>
              <a:t>Important in athletes since repetitive stress on structures causes injury and pain</a:t>
            </a:r>
          </a:p>
          <a:p>
            <a:pPr marL="141750" lvl="1" indent="-141750">
              <a:spcBef>
                <a:spcPts val="0"/>
              </a:spcBef>
              <a:spcAft>
                <a:spcPts val="1800"/>
              </a:spcAft>
              <a:buClr>
                <a:schemeClr val="bg1"/>
              </a:buClr>
            </a:pPr>
            <a:r>
              <a:rPr lang="en-GB" sz="1600" dirty="0">
                <a:solidFill>
                  <a:srgbClr val="FFFFFF"/>
                </a:solidFill>
                <a:latin typeface="Arial" charset="0"/>
              </a:rPr>
              <a:t>Angle 13° - 20° ‘normal’. Wide discrepancies!</a:t>
            </a:r>
          </a:p>
          <a:p>
            <a:pPr marL="141750" lvl="1" indent="-141750">
              <a:spcBef>
                <a:spcPts val="0"/>
              </a:spcBef>
              <a:spcAft>
                <a:spcPts val="1800"/>
              </a:spcAft>
              <a:buClr>
                <a:schemeClr val="bg1"/>
              </a:buClr>
            </a:pPr>
            <a:r>
              <a:rPr lang="en-GB" sz="1600" dirty="0">
                <a:solidFill>
                  <a:srgbClr val="FFFFFF"/>
                </a:solidFill>
                <a:latin typeface="Arial" charset="0"/>
              </a:rPr>
              <a:t>Males lower end, females higher end</a:t>
            </a:r>
          </a:p>
          <a:p>
            <a:pPr marL="141750" lvl="1" indent="-141750">
              <a:spcBef>
                <a:spcPts val="0"/>
              </a:spcBef>
              <a:spcAft>
                <a:spcPts val="1800"/>
              </a:spcAft>
              <a:buClr>
                <a:schemeClr val="bg1"/>
              </a:buClr>
            </a:pPr>
            <a:r>
              <a:rPr lang="en-GB" sz="1600" dirty="0">
                <a:solidFill>
                  <a:srgbClr val="FFFFFF"/>
                </a:solidFill>
                <a:latin typeface="Arial" charset="0"/>
              </a:rPr>
              <a:t>Abnormally high Q angle can promote injuries at knee, hip, foot, and lower back</a:t>
            </a:r>
          </a:p>
          <a:p>
            <a:pPr marL="0" lvl="1" indent="0">
              <a:spcBef>
                <a:spcPts val="0"/>
              </a:spcBef>
              <a:buClr>
                <a:schemeClr val="bg1"/>
              </a:buClr>
              <a:buNone/>
            </a:pPr>
            <a:endParaRPr lang="en-GB" sz="1800" dirty="0">
              <a:solidFill>
                <a:srgbClr val="FFFFFF"/>
              </a:solidFill>
              <a:latin typeface="Arial" charset="0"/>
            </a:endParaRPr>
          </a:p>
        </p:txBody>
      </p:sp>
      <p:pic>
        <p:nvPicPr>
          <p:cNvPr id="12" name="Picture 4" descr="Q-Angle ">
            <a:extLst>
              <a:ext uri="{FF2B5EF4-FFF2-40B4-BE49-F238E27FC236}">
                <a16:creationId xmlns:a16="http://schemas.microsoft.com/office/drawing/2014/main" id="{BAEBEF13-8E59-F395-F740-586BB8779A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l="748" t="946" r="8790" b="2135"/>
          <a:stretch/>
        </p:blipFill>
        <p:spPr>
          <a:xfrm>
            <a:off x="5969747" y="580527"/>
            <a:ext cx="2570749" cy="5691293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243289936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5206</TotalTime>
  <Words>2687</Words>
  <Application>Microsoft Macintosh PowerPoint</Application>
  <PresentationFormat>On-screen Show (4:3)</PresentationFormat>
  <Paragraphs>402</Paragraphs>
  <Slides>43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Abadi MT Condensed Light</vt:lpstr>
      <vt:lpstr>Arial</vt:lpstr>
      <vt:lpstr>Calibri</vt:lpstr>
      <vt:lpstr>Cambria Math</vt:lpstr>
      <vt:lpstr>Times New Roman</vt:lpstr>
      <vt:lpstr>Wingdings</vt:lpstr>
      <vt:lpstr>Parcel</vt:lpstr>
      <vt:lpstr>HIP ANATOMY</vt:lpstr>
      <vt:lpstr>Learning Outcomes By the end of the lecture students should be able to: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ACETABULOFEMORAL JOINT</vt:lpstr>
      <vt:lpstr>ACETABULOFEMORAL JOINT</vt:lpstr>
      <vt:lpstr>PowerPoint Presentation</vt:lpstr>
      <vt:lpstr>PowerPoint Presentation</vt:lpstr>
      <vt:lpstr>PowerPoint Presentation</vt:lpstr>
      <vt:lpstr>PowerPoint Presentation</vt:lpstr>
      <vt:lpstr>SURFACES</vt:lpstr>
      <vt:lpstr>SURFACES</vt:lpstr>
      <vt:lpstr>ACETABULAR HYALINE CARTILAGE</vt:lpstr>
      <vt:lpstr>Capsule</vt:lpstr>
      <vt:lpstr>Stability</vt:lpstr>
      <vt:lpstr>Capsule attachments</vt:lpstr>
      <vt:lpstr>Capsular ligaments</vt:lpstr>
      <vt:lpstr>iliofemoral ligament</vt:lpstr>
      <vt:lpstr>Intra-Capsular ligaments</vt:lpstr>
      <vt:lpstr>HIP muscles</vt:lpstr>
      <vt:lpstr>GLUTEAL MUSCLES </vt:lpstr>
      <vt:lpstr>GLUTEAL MUSCLES </vt:lpstr>
      <vt:lpstr>Tensor Fascia Lata/     Iliotibial Band</vt:lpstr>
      <vt:lpstr>Hip flexors</vt:lpstr>
      <vt:lpstr>ILIOPSOAS GROUP </vt:lpstr>
      <vt:lpstr>adductors</vt:lpstr>
      <vt:lpstr>piriformis</vt:lpstr>
      <vt:lpstr>Quadratus femoris</vt:lpstr>
      <vt:lpstr>Obturator internus </vt:lpstr>
      <vt:lpstr>Obturator externus</vt:lpstr>
      <vt:lpstr>hamstrings</vt:lpstr>
      <vt:lpstr>Bi-articular muscles of the hip</vt:lpstr>
      <vt:lpstr>Muscle attachment sites at the hip</vt:lpstr>
      <vt:lpstr>Limitations of movements</vt:lpstr>
      <vt:lpstr>hip fractures</vt:lpstr>
      <vt:lpstr>blood supply to the femoral head</vt:lpstr>
      <vt:lpstr>blood supply to the femoral head</vt:lpstr>
      <vt:lpstr>Avascular necrosis of femoral head</vt:lpstr>
      <vt:lpstr>Function of the q-angle</vt:lpstr>
    </vt:vector>
  </TitlesOfParts>
  <Company>University of North London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Anatomy</dc:title>
  <dc:creator>locuser</dc:creator>
  <cp:lastModifiedBy>Mia Preece</cp:lastModifiedBy>
  <cp:revision>139</cp:revision>
  <cp:lastPrinted>2003-02-24T10:47:34Z</cp:lastPrinted>
  <dcterms:created xsi:type="dcterms:W3CDTF">2002-02-25T11:06:19Z</dcterms:created>
  <dcterms:modified xsi:type="dcterms:W3CDTF">2023-10-01T17:23:57Z</dcterms:modified>
</cp:coreProperties>
</file>