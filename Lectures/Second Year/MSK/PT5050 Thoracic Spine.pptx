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9"/>
  </p:notesMasterIdLst>
  <p:sldIdLst>
    <p:sldId id="257" r:id="rId5"/>
    <p:sldId id="484" r:id="rId6"/>
    <p:sldId id="515" r:id="rId7"/>
    <p:sldId id="437" r:id="rId8"/>
    <p:sldId id="481" r:id="rId9"/>
    <p:sldId id="498" r:id="rId10"/>
    <p:sldId id="469" r:id="rId11"/>
    <p:sldId id="480" r:id="rId12"/>
    <p:sldId id="485" r:id="rId13"/>
    <p:sldId id="504" r:id="rId14"/>
    <p:sldId id="486" r:id="rId15"/>
    <p:sldId id="472" r:id="rId16"/>
    <p:sldId id="495" r:id="rId17"/>
    <p:sldId id="490" r:id="rId18"/>
    <p:sldId id="471" r:id="rId19"/>
    <p:sldId id="483" r:id="rId20"/>
    <p:sldId id="487" r:id="rId21"/>
    <p:sldId id="470" r:id="rId22"/>
    <p:sldId id="473" r:id="rId23"/>
    <p:sldId id="491" r:id="rId24"/>
    <p:sldId id="492" r:id="rId25"/>
    <p:sldId id="493" r:id="rId26"/>
    <p:sldId id="474" r:id="rId27"/>
    <p:sldId id="475" r:id="rId28"/>
    <p:sldId id="499" r:id="rId29"/>
    <p:sldId id="505" r:id="rId30"/>
    <p:sldId id="502" r:id="rId31"/>
    <p:sldId id="501" r:id="rId32"/>
    <p:sldId id="506" r:id="rId33"/>
    <p:sldId id="500" r:id="rId34"/>
    <p:sldId id="466" r:id="rId35"/>
    <p:sldId id="477" r:id="rId36"/>
    <p:sldId id="507" r:id="rId37"/>
    <p:sldId id="512" r:id="rId38"/>
    <p:sldId id="479" r:id="rId39"/>
    <p:sldId id="478" r:id="rId40"/>
    <p:sldId id="496" r:id="rId41"/>
    <p:sldId id="497" r:id="rId42"/>
    <p:sldId id="476" r:id="rId43"/>
    <p:sldId id="508" r:id="rId44"/>
    <p:sldId id="509" r:id="rId45"/>
    <p:sldId id="510" r:id="rId46"/>
    <p:sldId id="511" r:id="rId47"/>
    <p:sldId id="514" r:id="rId48"/>
  </p:sldIdLst>
  <p:sldSz cx="12192000" cy="6858000"/>
  <p:notesSz cx="6858000" cy="9144000"/>
  <p:custDataLst>
    <p:tags r:id="rId5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  <a:srgbClr val="35B0F0"/>
    <a:srgbClr val="525252"/>
    <a:srgbClr val="222A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E93A5B-0C99-4C3D-A4A6-EA87B5B22F86}" v="8" dt="2025-12-05T13:19:55.579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22" autoAdjust="0"/>
    <p:restoredTop sz="84721" autoAdjust="0"/>
  </p:normalViewPr>
  <p:slideViewPr>
    <p:cSldViewPr snapToGrid="0">
      <p:cViewPr varScale="1">
        <p:scale>
          <a:sx n="84" d="100"/>
          <a:sy n="84" d="100"/>
        </p:scale>
        <p:origin x="6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tags" Target="tags/tag1.xml"/><Relationship Id="rId55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EF9951-7A27-477A-90ED-9C24BE06A186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64D8B-4CC5-402D-A151-B3E8152E53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785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4224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099A9-0F59-7798-18CC-99F5FE759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CE4D51-B85F-F28C-6AE9-8F2192139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AFC08E-4220-8D5A-E575-FE43FC53F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1B20D-B306-2700-AA34-5BF199750A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2804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1065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8433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21B1A-023B-391E-4FED-E18449DC7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E41293-9A2A-AC3C-359A-2CA87EE362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DB9073-09DF-25D3-E418-949D4F6A6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F96488-EC41-4EDE-A4C9-B8E58BCF2B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669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850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3686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4957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3A20F-8F40-906A-4150-B9F0FAA35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63915-AAFA-92E6-39E7-7BEFBC1A9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6B783-8443-C0F3-D934-B9DF3C504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69AFD-09F7-A0D1-4433-7131E2042F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1465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0994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9080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2506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50053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8468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26914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8318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9644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81702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97994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0071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37334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9604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3412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32EE2-5B42-774A-2135-13956E1B5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1ADC3D-546F-5540-C3CE-4763DAC7B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854587-A0C4-993F-DB19-032F546D2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23E8A-EADD-D8A7-1535-1D79539A4C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10505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02C60-8335-3066-4281-D726762B2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9F3B11-F8D7-9226-B374-464302D6C4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565CCF-3A47-A94A-9781-08B4BD1F1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6C78D-E40D-EF6A-6728-496BF1F28A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9373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C3BB0-BA9E-8332-F91A-C22EC112A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E37F5D-1055-ECD7-D7F8-E67B6B983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783AEC-328D-58BA-79C6-6ABB8D33C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F8F98-0BD9-FC23-0063-55D07B0C87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83347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84B7C-2EA6-517C-A619-3A4160AE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80D0E7-61A8-9339-5249-1269E42511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857E0B-488A-7256-1813-009ECCAF9B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F6F0E-167A-9C37-A440-9D2B1F9449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12029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B078E-7887-BC1E-A0EA-BC30430AB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A01AC4-C42C-5B32-1ED5-251FFFD7F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185777-F81E-264B-A30D-83A7CFFA2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923DB-421A-99D7-6B0D-8FB679EC9B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7995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F0526-F0B7-C1A8-4A03-CE9FD43D6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0CA91D-2499-8D96-ECC7-DCE580808C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731144-EC83-9500-E18A-F514E5DFD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A3630-9FB2-99F7-135E-9D204339ED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09487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03842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78460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7AE3E-67CF-461B-A7E0-E3A3D01A8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DD9BE3-F7A7-330C-DBAB-E3F415AE7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3FD9AD-6A16-1A85-5ACC-7BC9DCBFC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2A1D0-D7E1-99BD-22E4-CE445D607E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46877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2527C-C0C6-4A40-4845-E1B1DAA3F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F00841-7A4D-7059-49C1-A67D68800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FFF606-3D8B-93D7-252A-B018A5A80F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58C60-6484-95E3-0388-FD29868980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85654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34500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0003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9DB61-B220-69F1-D5B3-58FE54A5F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8A869B-BD63-1130-9DD0-FB077D441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AC0A5D-DA2B-B71E-FDE5-73432A271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CA522-E3DA-2905-63A3-B5BC93B492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722161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247998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28946-1857-156B-68A4-2327C2B1F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EF5186-81D8-FD6C-B071-5EF2CD375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CE25E2-3B53-AC42-D311-C3FA231BC2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31F30-1DDE-7E1A-4654-654B5F9BC9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6355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31CE4-2DEC-CB6E-E8AB-25216AC5D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4B8C48-A848-EC06-7281-60165ECD2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77892F-404C-ECDD-1F9B-7CDC1292F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A2DCD-858B-9243-2B08-02143AB9CC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13323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0A517-070F-E731-E8FD-20DA0ACBA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FC66DC-14A6-F726-568C-CDFB61B65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B9111-9E45-B700-75B1-71D851F8A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A3B7B-8BA8-089D-9247-CB5EC50C58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42785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109CE-ECC7-CC9F-9EAB-D6AAF6667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2F744D-BA6A-5DCB-23D0-9ED2383FA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494B67-2910-B8A9-1A71-165616DA7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86B0A-1207-1155-227E-74E8C89B8D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82280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F926E-3F54-CF88-6511-49789CFBD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CD3F38-D644-4CEE-1C8C-48A3973EA3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05F5A9-52A9-68DA-3F4F-0AB0F1DB4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4A93-B476-2C74-885A-7E4B819289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C15EA-E8F8-4AE6-B596-8F7295FA54C3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6373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3802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728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008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0093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9242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9071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0519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770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5580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2579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1607B-1B4E-47C1-BC71-B8AA73963BFE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6372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D1607B-1B4E-47C1-BC71-B8AA73963BFE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F03D0-610E-4E12-945A-6B570D36E3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428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00" y="6122508"/>
            <a:ext cx="1688789" cy="434260"/>
          </a:xfrm>
          <a:prstGeom prst="rect">
            <a:avLst/>
          </a:prstGeom>
        </p:spPr>
      </p:pic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</p:spPr>
      </p:pic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859367" y="1626330"/>
            <a:ext cx="7766936" cy="1646302"/>
          </a:xfrm>
        </p:spPr>
        <p:txBody>
          <a:bodyPr>
            <a:normAutofit fontScale="90000"/>
          </a:bodyPr>
          <a:lstStyle/>
          <a:p>
            <a:pPr algn="r"/>
            <a:r>
              <a:rPr lang="en-GB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Anatomy of the Thoracic Spine</a:t>
            </a:r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859367" y="3310729"/>
            <a:ext cx="7766936" cy="1587967"/>
          </a:xfrm>
        </p:spPr>
        <p:txBody>
          <a:bodyPr>
            <a:normAutofit lnSpcReduction="10000"/>
          </a:bodyPr>
          <a:lstStyle/>
          <a:p>
            <a:pPr algn="r"/>
            <a:r>
              <a:rPr lang="en-GB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PT5050</a:t>
            </a:r>
          </a:p>
          <a:p>
            <a:pPr algn="r"/>
            <a:endParaRPr lang="en-GB" sz="32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GB" sz="3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Chris Phillips</a:t>
            </a:r>
          </a:p>
        </p:txBody>
      </p:sp>
    </p:spTree>
    <p:extLst>
      <p:ext uri="{BB962C8B-B14F-4D97-AF65-F5344CB8AC3E}">
        <p14:creationId xmlns:p14="http://schemas.microsoft.com/office/powerpoint/2010/main" val="3405389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749054" y="597557"/>
            <a:ext cx="2798696" cy="749300"/>
          </a:xfrm>
          <a:prstGeom prst="round2Diag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/>
              <a:t>CONTENTS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2C5671-5DD6-E41A-C594-0BBD6EEA4022}"/>
              </a:ext>
            </a:extLst>
          </p:cNvPr>
          <p:cNvSpPr txBox="1"/>
          <p:nvPr/>
        </p:nvSpPr>
        <p:spPr>
          <a:xfrm>
            <a:off x="1061545" y="1944414"/>
            <a:ext cx="910195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Lx recap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Describe the structure of the thoracic spine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Identify how the thoracic spine differs to lumbar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Clinical application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Thoracic spine pathology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BPS concepts related to thoracic spinal pain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1377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58B7D-6CA2-DBDE-FE7E-8415EBDAF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1AD48CD-F848-6139-C6AF-12823244EC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>
            <a:extLst>
              <a:ext uri="{FF2B5EF4-FFF2-40B4-BE49-F238E27FC236}">
                <a16:creationId xmlns:a16="http://schemas.microsoft.com/office/drawing/2014/main" id="{28A40022-05FE-65F2-0478-4A5DE4D9041A}"/>
              </a:ext>
            </a:extLst>
          </p:cNvPr>
          <p:cNvSpPr/>
          <p:nvPr/>
        </p:nvSpPr>
        <p:spPr>
          <a:xfrm>
            <a:off x="749054" y="597557"/>
            <a:ext cx="5908558" cy="749300"/>
          </a:xfrm>
          <a:prstGeom prst="round2Diag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 err="1"/>
              <a:t>Mentimeter</a:t>
            </a:r>
            <a:r>
              <a:rPr lang="en-GB" sz="4400" dirty="0"/>
              <a:t> - </a:t>
            </a:r>
            <a:r>
              <a:rPr lang="en-GB" sz="3600" b="1" dirty="0"/>
              <a:t>6962 5623</a:t>
            </a:r>
            <a:endParaRPr lang="en-GB" sz="4400" dirty="0"/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B7652F58-6F4D-FC42-C5A8-597896A7A3A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3D80F2-BE0E-7A3E-6B04-8E44E9BDFD73}"/>
              </a:ext>
            </a:extLst>
          </p:cNvPr>
          <p:cNvSpPr txBox="1"/>
          <p:nvPr/>
        </p:nvSpPr>
        <p:spPr>
          <a:xfrm>
            <a:off x="1061545" y="1944414"/>
            <a:ext cx="91019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5" name="Picture 4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60D77DA2-7D36-CFEC-7557-B289F6CE39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315" y="1857943"/>
            <a:ext cx="4002165" cy="400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407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865460-DC8D-7617-A675-9627B46AA1AD}"/>
              </a:ext>
            </a:extLst>
          </p:cNvPr>
          <p:cNvSpPr txBox="1"/>
          <p:nvPr/>
        </p:nvSpPr>
        <p:spPr>
          <a:xfrm>
            <a:off x="958434" y="675958"/>
            <a:ext cx="6541354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chemeClr val="bg1"/>
                </a:solidFill>
              </a:rPr>
              <a:t>Functions of the spine</a:t>
            </a:r>
          </a:p>
          <a:p>
            <a:endParaRPr lang="en-GB" sz="32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Support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Movement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32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Protection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BA30D7-5669-511E-D964-60116D4A9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598" y="1524000"/>
            <a:ext cx="3600450" cy="48006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1424BA9F-E6E6-E2B3-5ABB-CF12120F4897}"/>
              </a:ext>
            </a:extLst>
          </p:cNvPr>
          <p:cNvSpPr/>
          <p:nvPr/>
        </p:nvSpPr>
        <p:spPr>
          <a:xfrm>
            <a:off x="523077" y="3622814"/>
            <a:ext cx="3887886" cy="103300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3699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900B30-2E92-D442-95DE-4F1ED8E64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257" y="0"/>
            <a:ext cx="4735286" cy="68580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C5A4541C-E560-631A-5439-139F83A4FF0D}"/>
              </a:ext>
            </a:extLst>
          </p:cNvPr>
          <p:cNvSpPr/>
          <p:nvPr/>
        </p:nvSpPr>
        <p:spPr>
          <a:xfrm>
            <a:off x="7830208" y="1713185"/>
            <a:ext cx="1355834" cy="242788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865460-DC8D-7617-A675-9627B46AA1AD}"/>
              </a:ext>
            </a:extLst>
          </p:cNvPr>
          <p:cNvSpPr txBox="1"/>
          <p:nvPr/>
        </p:nvSpPr>
        <p:spPr>
          <a:xfrm>
            <a:off x="1021496" y="675959"/>
            <a:ext cx="4872815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CC99FF"/>
                </a:solidFill>
              </a:rPr>
              <a:t>Cervical</a:t>
            </a:r>
            <a:r>
              <a:rPr lang="en-GB" sz="3200" dirty="0">
                <a:solidFill>
                  <a:schemeClr val="bg1"/>
                </a:solidFill>
              </a:rPr>
              <a:t> – 7 vertebrae</a:t>
            </a:r>
          </a:p>
          <a:p>
            <a:r>
              <a:rPr lang="en-GB" sz="3200" dirty="0">
                <a:solidFill>
                  <a:schemeClr val="bg1"/>
                </a:solidFill>
              </a:rPr>
              <a:t>	        C1-C7</a:t>
            </a:r>
          </a:p>
          <a:p>
            <a:endParaRPr lang="en-GB" sz="3200" dirty="0">
              <a:solidFill>
                <a:schemeClr val="bg1"/>
              </a:solidFill>
            </a:endParaRPr>
          </a:p>
          <a:p>
            <a:r>
              <a:rPr lang="en-GB" sz="3200" dirty="0">
                <a:solidFill>
                  <a:srgbClr val="FFC000"/>
                </a:solidFill>
              </a:rPr>
              <a:t>Thoracic</a:t>
            </a:r>
            <a:r>
              <a:rPr lang="en-GB" sz="3200" dirty="0">
                <a:solidFill>
                  <a:schemeClr val="bg1"/>
                </a:solidFill>
              </a:rPr>
              <a:t> – 12 vertebrae</a:t>
            </a:r>
          </a:p>
          <a:p>
            <a:r>
              <a:rPr lang="en-GB" sz="3200" dirty="0">
                <a:solidFill>
                  <a:schemeClr val="bg1"/>
                </a:solidFill>
              </a:rPr>
              <a:t>	         T1-T12</a:t>
            </a:r>
          </a:p>
          <a:p>
            <a:endParaRPr lang="en-GB" sz="3200" dirty="0">
              <a:solidFill>
                <a:schemeClr val="bg1"/>
              </a:solidFill>
            </a:endParaRPr>
          </a:p>
          <a:p>
            <a:r>
              <a:rPr lang="en-GB" sz="3200" dirty="0">
                <a:solidFill>
                  <a:srgbClr val="92D050"/>
                </a:solidFill>
              </a:rPr>
              <a:t>Lumbar</a:t>
            </a:r>
            <a:r>
              <a:rPr lang="en-GB" sz="3200" dirty="0">
                <a:solidFill>
                  <a:schemeClr val="bg1"/>
                </a:solidFill>
              </a:rPr>
              <a:t> – 5 vertebrae</a:t>
            </a:r>
          </a:p>
          <a:p>
            <a:r>
              <a:rPr lang="en-GB" sz="3200" dirty="0">
                <a:solidFill>
                  <a:schemeClr val="bg1"/>
                </a:solidFill>
              </a:rPr>
              <a:t>	        L1-L5</a:t>
            </a:r>
          </a:p>
          <a:p>
            <a:endParaRPr lang="en-GB" sz="3200" dirty="0">
              <a:solidFill>
                <a:schemeClr val="bg1"/>
              </a:solidFill>
            </a:endParaRPr>
          </a:p>
          <a:p>
            <a:r>
              <a:rPr lang="en-GB" sz="3200" dirty="0">
                <a:solidFill>
                  <a:srgbClr val="35B0F0"/>
                </a:solidFill>
              </a:rPr>
              <a:t>Sacral</a:t>
            </a:r>
            <a:r>
              <a:rPr lang="en-GB" sz="3200" dirty="0">
                <a:solidFill>
                  <a:schemeClr val="bg1"/>
                </a:solidFill>
              </a:rPr>
              <a:t> – 5 fused vertebrae</a:t>
            </a:r>
          </a:p>
          <a:p>
            <a:r>
              <a:rPr lang="en-GB" sz="3200" dirty="0">
                <a:solidFill>
                  <a:schemeClr val="bg1"/>
                </a:solidFill>
              </a:rPr>
              <a:t>	     S1-S5</a:t>
            </a:r>
          </a:p>
          <a:p>
            <a:endParaRPr lang="en-GB" sz="2800" dirty="0">
              <a:solidFill>
                <a:schemeClr val="bg1"/>
              </a:solidFill>
            </a:endParaRPr>
          </a:p>
          <a:p>
            <a:endParaRPr lang="en-GB" sz="2800" dirty="0">
              <a:solidFill>
                <a:schemeClr val="bg1"/>
              </a:solidFill>
            </a:endParaRPr>
          </a:p>
          <a:p>
            <a:endParaRPr lang="en-GB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029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9F13B-F94F-BCD9-17E1-A739B00B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B16EBB8-F60B-80CB-BB13-549AB52556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  <a:p>
            <a:pPr algn="ctr"/>
            <a:endParaRPr lang="en-GB" dirty="0"/>
          </a:p>
        </p:txBody>
      </p:sp>
      <p:sp>
        <p:nvSpPr>
          <p:cNvPr id="4" name="Round Diagonal Corner Rectangle 3">
            <a:extLst>
              <a:ext uri="{FF2B5EF4-FFF2-40B4-BE49-F238E27FC236}">
                <a16:creationId xmlns:a16="http://schemas.microsoft.com/office/drawing/2014/main" id="{4F9987A0-E509-2E3C-8431-33FE7CB00182}"/>
              </a:ext>
            </a:extLst>
          </p:cNvPr>
          <p:cNvSpPr/>
          <p:nvPr/>
        </p:nvSpPr>
        <p:spPr>
          <a:xfrm>
            <a:off x="749054" y="597557"/>
            <a:ext cx="2798696" cy="749300"/>
          </a:xfrm>
          <a:prstGeom prst="round2Diag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/>
              <a:t>Task</a:t>
            </a:r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5653A3CE-097E-A754-B796-7C695C9AB21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E2AC45-658E-FBF9-814F-7C87F6EB803A}"/>
              </a:ext>
            </a:extLst>
          </p:cNvPr>
          <p:cNvSpPr txBox="1"/>
          <p:nvPr/>
        </p:nvSpPr>
        <p:spPr>
          <a:xfrm>
            <a:off x="1001276" y="1503329"/>
            <a:ext cx="910195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In small groups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Identify difference between the lumbar and thoracic vertebrae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025F56-DAFC-35EA-CEB7-B0B649093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448" y="3153418"/>
            <a:ext cx="3762963" cy="3429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AF2743-7D8B-6E29-798B-750688C88E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411" y="3153418"/>
            <a:ext cx="4938972" cy="344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61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CD8B9D3-4415-91C7-2736-5D22D37F9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9219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Thoracic vertebrae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19002-F18A-2932-AB38-AA4E9A0E3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24000"/>
            <a:ext cx="5619831" cy="5150069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en-US" sz="2400" dirty="0">
                <a:solidFill>
                  <a:schemeClr val="bg1"/>
                </a:solidFill>
              </a:rPr>
              <a:t>Described as ‘typical’ and ‘atypical’</a:t>
            </a:r>
          </a:p>
          <a:p>
            <a:pPr lvl="1"/>
            <a:r>
              <a:rPr lang="en-GB" altLang="en-US" dirty="0">
                <a:solidFill>
                  <a:schemeClr val="bg1"/>
                </a:solidFill>
              </a:rPr>
              <a:t>Typical = T2-9</a:t>
            </a:r>
          </a:p>
          <a:p>
            <a:pPr lvl="1"/>
            <a:r>
              <a:rPr lang="en-GB" altLang="en-US" dirty="0">
                <a:solidFill>
                  <a:schemeClr val="bg1"/>
                </a:solidFill>
              </a:rPr>
              <a:t>Atypical = T1,10,11,12</a:t>
            </a:r>
          </a:p>
          <a:p>
            <a:pPr lvl="1"/>
            <a:r>
              <a:rPr lang="en-GB" altLang="en-US" dirty="0">
                <a:solidFill>
                  <a:schemeClr val="bg1"/>
                </a:solidFill>
              </a:rPr>
              <a:t>T5-8 most typical of Tx</a:t>
            </a:r>
          </a:p>
          <a:p>
            <a:pPr eaLnBrk="1" hangingPunct="1">
              <a:lnSpc>
                <a:spcPct val="90000"/>
              </a:lnSpc>
            </a:pPr>
            <a:endParaRPr lang="en-GB" altLang="en-US" sz="2400" dirty="0">
              <a:solidFill>
                <a:schemeClr val="bg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en-US" sz="2400" dirty="0">
                <a:solidFill>
                  <a:schemeClr val="bg1"/>
                </a:solidFill>
              </a:rPr>
              <a:t>Heart shaped body (smaller than Lx)</a:t>
            </a:r>
          </a:p>
          <a:p>
            <a:pPr eaLnBrk="1" hangingPunct="1">
              <a:lnSpc>
                <a:spcPct val="90000"/>
              </a:lnSpc>
            </a:pPr>
            <a:endParaRPr lang="en-GB" altLang="en-US" sz="2400" dirty="0">
              <a:solidFill>
                <a:schemeClr val="bg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en-US" sz="2400" dirty="0">
                <a:solidFill>
                  <a:schemeClr val="bg1"/>
                </a:solidFill>
              </a:rPr>
              <a:t>Smaller circular vertebral canal</a:t>
            </a:r>
          </a:p>
          <a:p>
            <a:pPr eaLnBrk="1" hangingPunct="1">
              <a:lnSpc>
                <a:spcPct val="90000"/>
              </a:lnSpc>
            </a:pPr>
            <a:endParaRPr lang="en-GB" altLang="en-US" sz="2400" dirty="0">
              <a:solidFill>
                <a:schemeClr val="bg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en-US" sz="2400" dirty="0">
                <a:solidFill>
                  <a:schemeClr val="bg1"/>
                </a:solidFill>
              </a:rPr>
              <a:t>Transverse process extend </a:t>
            </a:r>
            <a:r>
              <a:rPr lang="en-GB" altLang="en-US" sz="2400" dirty="0" err="1">
                <a:solidFill>
                  <a:schemeClr val="bg1"/>
                </a:solidFill>
              </a:rPr>
              <a:t>posterolaterally</a:t>
            </a:r>
            <a:r>
              <a:rPr lang="en-GB" altLang="en-US" sz="2400" dirty="0">
                <a:solidFill>
                  <a:schemeClr val="bg1"/>
                </a:solidFill>
              </a:rPr>
              <a:t> (length decreases T1-12)</a:t>
            </a:r>
          </a:p>
          <a:p>
            <a:pPr eaLnBrk="1" hangingPunct="1">
              <a:lnSpc>
                <a:spcPct val="90000"/>
              </a:lnSpc>
            </a:pPr>
            <a:endParaRPr lang="en-GB" altLang="en-US" sz="2400" dirty="0">
              <a:solidFill>
                <a:schemeClr val="bg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en-US" sz="2400" dirty="0">
                <a:solidFill>
                  <a:schemeClr val="bg1"/>
                </a:solidFill>
              </a:rPr>
              <a:t>Facet joints lie anterior to TP</a:t>
            </a:r>
          </a:p>
          <a:p>
            <a:pPr eaLnBrk="1" hangingPunct="1">
              <a:lnSpc>
                <a:spcPct val="90000"/>
              </a:lnSpc>
            </a:pPr>
            <a:endParaRPr lang="en-GB" altLang="en-US" sz="2400" dirty="0">
              <a:solidFill>
                <a:schemeClr val="bg1"/>
              </a:solidFill>
            </a:endParaRPr>
          </a:p>
        </p:txBody>
      </p:sp>
      <p:pic>
        <p:nvPicPr>
          <p:cNvPr id="5" name="Picture 4" descr="http://legacy.owensboro.kctcs.edu/gcaplan/anat/notes/vert_type.jpg">
            <a:extLst>
              <a:ext uri="{FF2B5EF4-FFF2-40B4-BE49-F238E27FC236}">
                <a16:creationId xmlns:a16="http://schemas.microsoft.com/office/drawing/2014/main" id="{64C8E364-0898-59E1-A211-FB05FAD47F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93"/>
          <a:stretch/>
        </p:blipFill>
        <p:spPr bwMode="auto">
          <a:xfrm>
            <a:off x="6340669" y="886205"/>
            <a:ext cx="5456084" cy="5085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7363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CD8B9D3-4415-91C7-2736-5D22D37F9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9219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Spinous Process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19002-F18A-2932-AB38-AA4E9A0E3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24000"/>
            <a:ext cx="5835870" cy="5150069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en-US" sz="2400" dirty="0">
                <a:solidFill>
                  <a:schemeClr val="bg1"/>
                </a:solidFill>
              </a:rPr>
              <a:t>Long spinous processes that slope in a posteroinferior direction</a:t>
            </a:r>
          </a:p>
          <a:p>
            <a:pPr eaLnBrk="1" hangingPunct="1">
              <a:lnSpc>
                <a:spcPct val="90000"/>
              </a:lnSpc>
            </a:pPr>
            <a:endParaRPr lang="en-GB" altLang="en-US" sz="2400" dirty="0">
              <a:solidFill>
                <a:schemeClr val="bg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en-US" sz="2400" dirty="0">
                <a:solidFill>
                  <a:schemeClr val="bg1"/>
                </a:solidFill>
              </a:rPr>
              <a:t>Can extend to the vertebrae below</a:t>
            </a:r>
          </a:p>
          <a:p>
            <a:pPr eaLnBrk="1" hangingPunct="1">
              <a:lnSpc>
                <a:spcPct val="90000"/>
              </a:lnSpc>
            </a:pPr>
            <a:endParaRPr lang="en-GB" altLang="en-US" sz="2400" dirty="0">
              <a:solidFill>
                <a:schemeClr val="bg1"/>
              </a:solidFill>
            </a:endParaRPr>
          </a:p>
          <a:p>
            <a:r>
              <a:rPr lang="en-US" altLang="en-US" sz="2400" dirty="0">
                <a:solidFill>
                  <a:schemeClr val="bg1"/>
                </a:solidFill>
              </a:rPr>
              <a:t>Palpation of the transverse processes in the thoracic region is notoriously difficult due to anatomical variation </a:t>
            </a:r>
          </a:p>
          <a:p>
            <a:pPr eaLnBrk="1" hangingPunct="1">
              <a:lnSpc>
                <a:spcPct val="90000"/>
              </a:lnSpc>
            </a:pPr>
            <a:endParaRPr lang="en-GB" altLang="en-US" sz="240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23A372-14C8-CBB3-A393-206C8B76C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0438" y="606220"/>
            <a:ext cx="5012462" cy="558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152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19002-F18A-2932-AB38-AA4E9A0E3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836" y="351625"/>
            <a:ext cx="6728462" cy="6079709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2400" dirty="0">
                <a:solidFill>
                  <a:schemeClr val="bg1"/>
                </a:solidFill>
              </a:rPr>
              <a:t>In 1979, Mitchell proposed a so-called </a:t>
            </a:r>
            <a:r>
              <a:rPr lang="en-US" altLang="en-US" sz="2400" b="1" dirty="0">
                <a:solidFill>
                  <a:schemeClr val="bg1"/>
                </a:solidFill>
              </a:rPr>
              <a:t>‘rule of three’ </a:t>
            </a:r>
          </a:p>
          <a:p>
            <a:pPr lvl="2" eaLnBrk="1" hangingPunct="1"/>
            <a:endParaRPr lang="en-US" altLang="en-US" sz="2400" dirty="0">
              <a:solidFill>
                <a:schemeClr val="bg1"/>
              </a:solidFill>
            </a:endParaRPr>
          </a:p>
          <a:p>
            <a:pPr lvl="1"/>
            <a:r>
              <a:rPr lang="en-US" altLang="en-US" dirty="0">
                <a:solidFill>
                  <a:schemeClr val="bg1"/>
                </a:solidFill>
              </a:rPr>
              <a:t>1st group of 3 spinous processes (T 1-3) are level with vertebral body of the same level</a:t>
            </a:r>
          </a:p>
          <a:p>
            <a:pPr lvl="2" eaLnBrk="1" hangingPunct="1"/>
            <a:endParaRPr lang="en-US" altLang="en-US" b="1" dirty="0">
              <a:solidFill>
                <a:schemeClr val="bg1"/>
              </a:solidFill>
            </a:endParaRPr>
          </a:p>
          <a:p>
            <a:pPr lvl="1"/>
            <a:r>
              <a:rPr lang="en-US" altLang="en-US" dirty="0">
                <a:solidFill>
                  <a:schemeClr val="bg1"/>
                </a:solidFill>
              </a:rPr>
              <a:t>2nd group of 3 spinous processes (T 4-6) are level with the disc of the inferior level </a:t>
            </a:r>
            <a:r>
              <a:rPr lang="en-US" altLang="en-US" b="1" dirty="0">
                <a:solidFill>
                  <a:schemeClr val="bg1"/>
                </a:solidFill>
              </a:rPr>
              <a:t>(HALF WAY DOWN) </a:t>
            </a:r>
          </a:p>
          <a:p>
            <a:pPr lvl="2" eaLnBrk="1" hangingPunct="1"/>
            <a:endParaRPr lang="en-US" altLang="en-US" b="1" dirty="0">
              <a:solidFill>
                <a:schemeClr val="bg1"/>
              </a:solidFill>
            </a:endParaRPr>
          </a:p>
          <a:p>
            <a:pPr lvl="1"/>
            <a:r>
              <a:rPr lang="en-US" altLang="en-US" dirty="0">
                <a:solidFill>
                  <a:schemeClr val="bg1"/>
                </a:solidFill>
              </a:rPr>
              <a:t>3rd group of 3 spinous processes (T 7-9) are level with the vertebral body of the level below </a:t>
            </a:r>
            <a:r>
              <a:rPr lang="en-US" altLang="en-US" b="1" dirty="0">
                <a:solidFill>
                  <a:schemeClr val="bg1"/>
                </a:solidFill>
              </a:rPr>
              <a:t>(SO ONE DOWN)</a:t>
            </a:r>
          </a:p>
          <a:p>
            <a:pPr lvl="2" eaLnBrk="1" hangingPunct="1"/>
            <a:endParaRPr lang="en-US" altLang="en-US" b="1" dirty="0">
              <a:solidFill>
                <a:schemeClr val="bg1"/>
              </a:solidFill>
            </a:endParaRPr>
          </a:p>
          <a:p>
            <a:pPr lvl="1"/>
            <a:r>
              <a:rPr lang="en-US" altLang="en-US" dirty="0">
                <a:solidFill>
                  <a:schemeClr val="bg1"/>
                </a:solidFill>
              </a:rPr>
              <a:t>T10  one down (as T7-9)</a:t>
            </a:r>
          </a:p>
          <a:p>
            <a:pPr lvl="1"/>
            <a:r>
              <a:rPr lang="en-US" altLang="en-US" dirty="0">
                <a:solidFill>
                  <a:schemeClr val="bg1"/>
                </a:solidFill>
              </a:rPr>
              <a:t>T11  half way down (as T4-6)</a:t>
            </a:r>
          </a:p>
          <a:p>
            <a:pPr lvl="1"/>
            <a:r>
              <a:rPr lang="en-US" altLang="en-US" dirty="0">
                <a:solidFill>
                  <a:schemeClr val="bg1"/>
                </a:solidFill>
              </a:rPr>
              <a:t>T12  same level (as T1-3)</a:t>
            </a:r>
          </a:p>
          <a:p>
            <a:pPr eaLnBrk="1" hangingPunct="1">
              <a:lnSpc>
                <a:spcPct val="90000"/>
              </a:lnSpc>
            </a:pPr>
            <a:endParaRPr lang="en-GB" altLang="en-US" sz="24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99C6C0-83F0-82DE-4B85-5DBE88E666A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325" r="33287"/>
          <a:stretch/>
        </p:blipFill>
        <p:spPr>
          <a:xfrm>
            <a:off x="8087797" y="351625"/>
            <a:ext cx="2514600" cy="615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419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1BE35-1885-79A8-0F25-D4EC5D952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DCD6CD6-C23A-2751-0FE6-0BCF63FAAB6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C0D3B728-8681-A243-A36A-A5B0F93CD6F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3DC8B49-DCE6-8FBF-4548-9A2E4B4DE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6760" y="0"/>
            <a:ext cx="6768757" cy="685800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8A1F23-2BD9-A555-CDD6-321169B70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0034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19002-F18A-2932-AB38-AA4E9A0E3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078" y="515159"/>
            <a:ext cx="8107682" cy="6079709"/>
          </a:xfrm>
        </p:spPr>
        <p:txBody>
          <a:bodyPr>
            <a:normAutofit/>
          </a:bodyPr>
          <a:lstStyle/>
          <a:p>
            <a:r>
              <a:rPr lang="en-US" altLang="en-US" sz="3200" dirty="0">
                <a:solidFill>
                  <a:schemeClr val="bg1"/>
                </a:solidFill>
              </a:rPr>
              <a:t>However</a:t>
            </a:r>
            <a:r>
              <a:rPr lang="en-US" altLang="en-US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en-US" altLang="en-US" sz="2800" dirty="0">
                <a:solidFill>
                  <a:schemeClr val="bg1"/>
                </a:solidFill>
              </a:rPr>
              <a:t>Geelhoed </a:t>
            </a:r>
            <a:r>
              <a:rPr lang="en-US" altLang="en-US" sz="2800" i="1" dirty="0">
                <a:solidFill>
                  <a:schemeClr val="bg1"/>
                </a:solidFill>
              </a:rPr>
              <a:t>et al</a:t>
            </a:r>
            <a:r>
              <a:rPr lang="en-US" altLang="en-US" sz="2800" dirty="0">
                <a:solidFill>
                  <a:schemeClr val="bg1"/>
                </a:solidFill>
              </a:rPr>
              <a:t>. (2006) dissected 15 cadavers and measured the vertical distance between the transverse plane of the transverse processes of 1 vertebra and the spinous processes for all levels of the thoracic spine</a:t>
            </a:r>
          </a:p>
          <a:p>
            <a:endParaRPr lang="en-US" altLang="en-US" dirty="0">
              <a:solidFill>
                <a:schemeClr val="bg1"/>
              </a:solidFill>
            </a:endParaRPr>
          </a:p>
          <a:p>
            <a:pPr lvl="1"/>
            <a:r>
              <a:rPr lang="en-US" altLang="en-US" sz="2800" dirty="0">
                <a:solidFill>
                  <a:schemeClr val="bg1"/>
                </a:solidFill>
              </a:rPr>
              <a:t>They concluded that the “transverse processes of each thoracic vertebra are generally at the level of the spinous processes of the vertebra 1 level above, throughout the thoracic spine</a:t>
            </a:r>
            <a:r>
              <a:rPr lang="en-US" altLang="en-US" dirty="0">
                <a:solidFill>
                  <a:schemeClr val="bg1"/>
                </a:solidFill>
              </a:rPr>
              <a:t>” </a:t>
            </a:r>
          </a:p>
          <a:p>
            <a:pPr eaLnBrk="1" hangingPunct="1">
              <a:lnSpc>
                <a:spcPct val="90000"/>
              </a:lnSpc>
            </a:pPr>
            <a:endParaRPr lang="en-GB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876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CD8B9D3-4415-91C7-2736-5D22D37F9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Thoracic facet joints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19002-F18A-2932-AB38-AA4E9A0E3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5239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EF04CD-73E7-FD91-7D13-FDBFD5361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8823" y="600561"/>
            <a:ext cx="3179205" cy="58297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E55351-19E8-E4A3-B9EF-8222DE03B5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874" y="1290469"/>
            <a:ext cx="5639075" cy="513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592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CD8B9D3-4415-91C7-2736-5D22D37F9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Thoracic facet joints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19002-F18A-2932-AB38-AA4E9A0E3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260" y="2015447"/>
            <a:ext cx="5352393" cy="4351338"/>
          </a:xfrm>
        </p:spPr>
        <p:txBody>
          <a:bodyPr>
            <a:normAutofit/>
          </a:bodyPr>
          <a:lstStyle/>
          <a:p>
            <a:r>
              <a:rPr lang="en-GB" b="0" i="0" dirty="0">
                <a:solidFill>
                  <a:schemeClr val="bg1"/>
                </a:solidFill>
                <a:effectLst/>
              </a:rPr>
              <a:t> Facet joints project almost vertically</a:t>
            </a:r>
          </a:p>
          <a:p>
            <a:endParaRPr lang="en-GB" b="0" i="0" dirty="0">
              <a:solidFill>
                <a:schemeClr val="bg1"/>
              </a:solidFill>
              <a:effectLst/>
            </a:endParaRPr>
          </a:p>
          <a:p>
            <a:r>
              <a:rPr lang="en-GB" dirty="0">
                <a:solidFill>
                  <a:schemeClr val="bg1"/>
                </a:solidFill>
              </a:rPr>
              <a:t>Superior facets face posteriorly – inferior face anteriorly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Restrict flexion and extension</a:t>
            </a:r>
          </a:p>
          <a:p>
            <a:pPr marL="0" indent="0">
              <a:buNone/>
            </a:pPr>
            <a:endParaRPr lang="en-GB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EF04CD-73E7-FD91-7D13-FDBFD5361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8793" y="663126"/>
            <a:ext cx="3179205" cy="582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411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94593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75D9FF-E7EB-3A0F-E9EC-F668EBE9C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E8EE97-E60C-EC6F-6EA0-59581D859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6380" y="91186"/>
            <a:ext cx="8023860" cy="6486441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A15AD424-51DC-968E-DB6A-36787D67685E}"/>
              </a:ext>
            </a:extLst>
          </p:cNvPr>
          <p:cNvSpPr/>
          <p:nvPr/>
        </p:nvSpPr>
        <p:spPr>
          <a:xfrm>
            <a:off x="3699906" y="1808384"/>
            <a:ext cx="6518514" cy="252993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685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CD8B9D3-4415-91C7-2736-5D22D37F9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Thoracic vertebrae movement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19002-F18A-2932-AB38-AA4E9A0E3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877300" cy="4351338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en-US" dirty="0">
                <a:solidFill>
                  <a:schemeClr val="bg1"/>
                </a:solidFill>
              </a:rPr>
              <a:t>Angle of facet joints restrict flexion/extension and anterior translation of vertebral segment</a:t>
            </a:r>
          </a:p>
          <a:p>
            <a:pPr eaLnBrk="1" hangingPunct="1">
              <a:lnSpc>
                <a:spcPct val="90000"/>
              </a:lnSpc>
            </a:pPr>
            <a:endParaRPr lang="en-GB" altLang="en-US" dirty="0">
              <a:solidFill>
                <a:schemeClr val="bg1"/>
              </a:solidFill>
            </a:endParaRPr>
          </a:p>
          <a:p>
            <a:pPr lvl="1"/>
            <a:r>
              <a:rPr lang="en-US" altLang="en-US" sz="2600" dirty="0">
                <a:solidFill>
                  <a:schemeClr val="bg1"/>
                </a:solidFill>
              </a:rPr>
              <a:t>1-2° of extension is available at each thoracic segment, giving an overall average of 15-20° of thoracic extension for the entire thoracic spine </a:t>
            </a:r>
          </a:p>
          <a:p>
            <a:pPr lvl="1"/>
            <a:endParaRPr lang="en-GB" altLang="en-US" sz="2600" dirty="0">
              <a:solidFill>
                <a:schemeClr val="bg1"/>
              </a:solidFill>
            </a:endParaRPr>
          </a:p>
          <a:p>
            <a:pPr lvl="1"/>
            <a:r>
              <a:rPr lang="en-GB" altLang="en-US" sz="2600" dirty="0">
                <a:solidFill>
                  <a:schemeClr val="bg1"/>
                </a:solidFill>
              </a:rPr>
              <a:t>Tight to protect organs but loose enough to allow respiratory movement</a:t>
            </a:r>
          </a:p>
          <a:p>
            <a:endParaRPr lang="en-GB" altLang="en-US" dirty="0">
              <a:solidFill>
                <a:schemeClr val="bg1"/>
              </a:solidFill>
            </a:endParaRPr>
          </a:p>
          <a:p>
            <a:r>
              <a:rPr lang="en-GB" altLang="en-US" dirty="0">
                <a:solidFill>
                  <a:schemeClr val="bg1"/>
                </a:solidFill>
              </a:rPr>
              <a:t>Narrow disc compared to vertebrae body</a:t>
            </a:r>
          </a:p>
          <a:p>
            <a:endParaRPr lang="en-GB" altLang="en-US" dirty="0">
              <a:solidFill>
                <a:schemeClr val="bg1"/>
              </a:solidFill>
            </a:endParaRPr>
          </a:p>
          <a:p>
            <a:r>
              <a:rPr lang="en-GB" altLang="en-US" dirty="0">
                <a:solidFill>
                  <a:schemeClr val="bg1"/>
                </a:solidFill>
              </a:rPr>
              <a:t>Presence of thoracic cage (ribs, sternum, costal cartilage, ligaments)</a:t>
            </a:r>
          </a:p>
          <a:p>
            <a:pPr eaLnBrk="1" hangingPunct="1">
              <a:lnSpc>
                <a:spcPct val="90000"/>
              </a:lnSpc>
            </a:pPr>
            <a:endParaRPr lang="en-GB" altLang="en-US" dirty="0">
              <a:solidFill>
                <a:schemeClr val="bg1"/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6596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94593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5D9056-BDB9-7EEF-3903-DF4F905BAC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284321" y="420682"/>
            <a:ext cx="9384751" cy="62584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F87869-1261-A096-3784-FFC0B07B1F28}"/>
              </a:ext>
            </a:extLst>
          </p:cNvPr>
          <p:cNvSpPr txBox="1"/>
          <p:nvPr/>
        </p:nvSpPr>
        <p:spPr>
          <a:xfrm>
            <a:off x="6096000" y="-164093"/>
            <a:ext cx="381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Sternocostal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06AFCA4-51B5-7FCD-3C77-C15473DAD526}"/>
              </a:ext>
            </a:extLst>
          </p:cNvPr>
          <p:cNvCxnSpPr>
            <a:cxnSpLocks/>
          </p:cNvCxnSpPr>
          <p:nvPr/>
        </p:nvCxnSpPr>
        <p:spPr>
          <a:xfrm flipH="1">
            <a:off x="6200775" y="420682"/>
            <a:ext cx="733425" cy="119856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869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pic>
        <p:nvPicPr>
          <p:cNvPr id="5" name="Picture 2" descr="https://classconnection.s3.amazonaws.com/704/flashcards/586704/png/rib_articulation1309224403362.png">
            <a:extLst>
              <a:ext uri="{FF2B5EF4-FFF2-40B4-BE49-F238E27FC236}">
                <a16:creationId xmlns:a16="http://schemas.microsoft.com/office/drawing/2014/main" id="{A2056FAC-0018-3945-B7E4-8853B0A0C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773" y="824529"/>
            <a:ext cx="9222453" cy="5208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2B299A-A8E1-F466-6A8D-E80236B32779}"/>
              </a:ext>
            </a:extLst>
          </p:cNvPr>
          <p:cNvSpPr txBox="1"/>
          <p:nvPr/>
        </p:nvSpPr>
        <p:spPr>
          <a:xfrm>
            <a:off x="6438900" y="6010093"/>
            <a:ext cx="2705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Costovertebral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AFD4FA5-6B8A-A3C1-3F3E-508FBD8F5774}"/>
              </a:ext>
            </a:extLst>
          </p:cNvPr>
          <p:cNvCxnSpPr/>
          <p:nvPr/>
        </p:nvCxnSpPr>
        <p:spPr>
          <a:xfrm flipH="1" flipV="1">
            <a:off x="6682201" y="4790893"/>
            <a:ext cx="845820" cy="1219200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6423D7C-8D0C-4F26-4A42-79CABD562D1E}"/>
              </a:ext>
            </a:extLst>
          </p:cNvPr>
          <p:cNvSpPr txBox="1"/>
          <p:nvPr/>
        </p:nvSpPr>
        <p:spPr>
          <a:xfrm>
            <a:off x="7105111" y="95250"/>
            <a:ext cx="3448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Costotransverse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2D453AC-3AAC-DE26-1A57-C86D388923E7}"/>
              </a:ext>
            </a:extLst>
          </p:cNvPr>
          <p:cNvCxnSpPr>
            <a:cxnSpLocks/>
          </p:cNvCxnSpPr>
          <p:nvPr/>
        </p:nvCxnSpPr>
        <p:spPr>
          <a:xfrm>
            <a:off x="7528021" y="680025"/>
            <a:ext cx="263429" cy="1937253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220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CD8B9D3-4415-91C7-2736-5D22D37F9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Thoracic vertebrae – rib articulation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19002-F18A-2932-AB38-AA4E9A0E3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6924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dirty="0">
                <a:solidFill>
                  <a:schemeClr val="bg1"/>
                </a:solidFill>
              </a:rPr>
              <a:t>6 Costal facets</a:t>
            </a:r>
          </a:p>
          <a:p>
            <a:pPr eaLnBrk="1" hangingPunct="1">
              <a:lnSpc>
                <a:spcPct val="90000"/>
              </a:lnSpc>
            </a:pPr>
            <a:endParaRPr lang="en-GB" altLang="en-US" dirty="0">
              <a:solidFill>
                <a:schemeClr val="bg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en-US" dirty="0">
                <a:solidFill>
                  <a:schemeClr val="bg1"/>
                </a:solidFill>
              </a:rPr>
              <a:t>Facet on the TP for rib articulation</a:t>
            </a:r>
          </a:p>
          <a:p>
            <a:pPr eaLnBrk="1" hangingPunct="1">
              <a:lnSpc>
                <a:spcPct val="90000"/>
              </a:lnSpc>
            </a:pPr>
            <a:endParaRPr lang="en-GB" altLang="en-US" dirty="0">
              <a:solidFill>
                <a:schemeClr val="bg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en-US" dirty="0">
                <a:solidFill>
                  <a:schemeClr val="bg1"/>
                </a:solidFill>
              </a:rPr>
              <a:t>Demi-facets on vertebral body </a:t>
            </a:r>
          </a:p>
          <a:p>
            <a:pPr lvl="1"/>
            <a:r>
              <a:rPr lang="en-GB" altLang="en-US" dirty="0">
                <a:solidFill>
                  <a:schemeClr val="bg1"/>
                </a:solidFill>
              </a:rPr>
              <a:t>Superior facets and inferior facets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400" dirty="0">
                <a:solidFill>
                  <a:srgbClr val="FF0000"/>
                </a:solidFill>
              </a:rPr>
              <a:t> 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*T1 whole superior facet with inferior demi-facet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*T11-12 have 1 whole facet on body and no facet on TP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3598B1-E74B-5987-C460-80E2DD3B4B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2226" y="1807230"/>
            <a:ext cx="5510882" cy="287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739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CD8B9D3-4415-91C7-2736-5D22D37F9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A49285B-D0E0-08BF-8955-E3452C103A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389817" y="342223"/>
            <a:ext cx="9212580" cy="625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94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94593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643D2DA-7571-69BA-8AC2-C35E95C30F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482590" y="1351630"/>
            <a:ext cx="6648450" cy="3886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4A2EDC-360F-6A88-F2AA-C653446840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30" y="374973"/>
            <a:ext cx="5392420" cy="555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250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94593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7A83E-83C9-6EA9-22E4-E57EAA00E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0580"/>
            <a:ext cx="5181600" cy="534638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3600" dirty="0">
                <a:solidFill>
                  <a:schemeClr val="bg1"/>
                </a:solidFill>
              </a:rPr>
              <a:t>1</a:t>
            </a:r>
            <a:r>
              <a:rPr lang="en-GB" sz="3600" baseline="30000" dirty="0">
                <a:solidFill>
                  <a:schemeClr val="bg1"/>
                </a:solidFill>
              </a:rPr>
              <a:t>st</a:t>
            </a:r>
            <a:r>
              <a:rPr lang="en-GB" sz="3600" dirty="0">
                <a:solidFill>
                  <a:schemeClr val="bg1"/>
                </a:solidFill>
              </a:rPr>
              <a:t> rib - atypical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Wide and short with no rib angle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Only articulates with one vertebrae (T1)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Insertion point for </a:t>
            </a:r>
            <a:r>
              <a:rPr lang="en-GB" dirty="0" err="1">
                <a:solidFill>
                  <a:schemeClr val="bg1"/>
                </a:solidFill>
              </a:rPr>
              <a:t>scalenes</a:t>
            </a:r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Makes up the ‘thoracic outlet’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Anterior scalene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Middle scalene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92C642-81C7-CECC-A9F6-ABCDEEE33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624840"/>
            <a:ext cx="5608320" cy="560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769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94593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7A83E-83C9-6EA9-22E4-E57EAA00E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0580"/>
            <a:ext cx="8679180" cy="53463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dirty="0">
                <a:solidFill>
                  <a:schemeClr val="bg1"/>
                </a:solidFill>
              </a:rPr>
              <a:t>Other atypical ribs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2</a:t>
            </a:r>
            <a:r>
              <a:rPr lang="en-GB" baseline="30000" dirty="0">
                <a:solidFill>
                  <a:schemeClr val="bg1"/>
                </a:solidFill>
              </a:rPr>
              <a:t>nd</a:t>
            </a:r>
            <a:r>
              <a:rPr lang="en-GB" dirty="0">
                <a:solidFill>
                  <a:schemeClr val="bg1"/>
                </a:solidFill>
              </a:rPr>
              <a:t> rib – Thinner and longer than 1</a:t>
            </a:r>
            <a:r>
              <a:rPr lang="en-GB" baseline="30000" dirty="0">
                <a:solidFill>
                  <a:schemeClr val="bg1"/>
                </a:solidFill>
              </a:rPr>
              <a:t>st</a:t>
            </a:r>
            <a:r>
              <a:rPr lang="en-GB" dirty="0">
                <a:solidFill>
                  <a:schemeClr val="bg1"/>
                </a:solidFill>
              </a:rPr>
              <a:t> rib, upper surface is origin for serratus anterior. Two articular facets on head as normal.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10</a:t>
            </a:r>
            <a:r>
              <a:rPr lang="en-GB" baseline="30000" dirty="0">
                <a:solidFill>
                  <a:schemeClr val="bg1"/>
                </a:solidFill>
              </a:rPr>
              <a:t>th</a:t>
            </a:r>
            <a:r>
              <a:rPr lang="en-GB" dirty="0">
                <a:solidFill>
                  <a:schemeClr val="bg1"/>
                </a:solidFill>
              </a:rPr>
              <a:t> rib – only one facet, only articulates with T10.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11</a:t>
            </a:r>
            <a:r>
              <a:rPr lang="en-GB" baseline="30000" dirty="0">
                <a:solidFill>
                  <a:schemeClr val="bg1"/>
                </a:solidFill>
              </a:rPr>
              <a:t>th</a:t>
            </a:r>
            <a:r>
              <a:rPr lang="en-GB" dirty="0">
                <a:solidFill>
                  <a:schemeClr val="bg1"/>
                </a:solidFill>
              </a:rPr>
              <a:t> and 12</a:t>
            </a:r>
            <a:r>
              <a:rPr lang="en-GB" baseline="30000" dirty="0">
                <a:solidFill>
                  <a:schemeClr val="bg1"/>
                </a:solidFill>
              </a:rPr>
              <a:t>th</a:t>
            </a:r>
            <a:r>
              <a:rPr lang="en-GB" dirty="0">
                <a:solidFill>
                  <a:schemeClr val="bg1"/>
                </a:solidFill>
              </a:rPr>
              <a:t> rib – no neck and only one facet. Short ribs that do not attach to sternum (floating ribs).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39942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CD8B9D3-4415-91C7-2736-5D22D37F9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Ligaments of the spine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19002-F18A-2932-AB38-AA4E9A0E3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>
                <a:solidFill>
                  <a:schemeClr val="bg1"/>
                </a:solidFill>
              </a:rPr>
              <a:t>Anterior longitudinal ligament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Posterior longitudinal ligament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Supraspinous ligament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Interspinous ligament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Ligamentum flavum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A63CF8-B5B2-0E0D-0DAC-07333FA692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544" y="1407720"/>
            <a:ext cx="5634356" cy="468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167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CD8B9D3-4415-91C7-2736-5D22D37F9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Thoracic ligaments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19002-F18A-2932-AB38-AA4E9A0E3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51179" cy="4351338"/>
          </a:xfrm>
        </p:spPr>
        <p:txBody>
          <a:bodyPr>
            <a:normAutofit lnSpcReduction="10000"/>
          </a:bodyPr>
          <a:lstStyle/>
          <a:p>
            <a:r>
              <a:rPr lang="en-GB" b="0" i="0" dirty="0">
                <a:solidFill>
                  <a:schemeClr val="bg1"/>
                </a:solidFill>
                <a:effectLst/>
                <a:latin typeface="tisapro-regular"/>
              </a:rPr>
              <a:t>Radiate ligament of head of rib</a:t>
            </a:r>
          </a:p>
          <a:p>
            <a:pPr lvl="1"/>
            <a:r>
              <a:rPr lang="en-GB" b="0" i="0" dirty="0">
                <a:solidFill>
                  <a:schemeClr val="bg1"/>
                </a:solidFill>
                <a:effectLst/>
                <a:latin typeface="tisapro-regular"/>
              </a:rPr>
              <a:t>head of rib to vertebral bodies and disc</a:t>
            </a:r>
          </a:p>
          <a:p>
            <a:pPr lvl="1"/>
            <a:endParaRPr lang="en-GB" b="0" i="0" dirty="0">
              <a:solidFill>
                <a:schemeClr val="bg1"/>
              </a:solidFill>
              <a:effectLst/>
              <a:latin typeface="tisapro-regular"/>
            </a:endParaRPr>
          </a:p>
          <a:p>
            <a:r>
              <a:rPr lang="en-GB" b="0" i="0" dirty="0">
                <a:solidFill>
                  <a:schemeClr val="bg1"/>
                </a:solidFill>
                <a:effectLst/>
                <a:latin typeface="tisapro-regular"/>
              </a:rPr>
              <a:t>Costotransverse ligament</a:t>
            </a:r>
          </a:p>
          <a:p>
            <a:pPr lvl="1"/>
            <a:r>
              <a:rPr lang="en-GB" b="0" i="0" dirty="0">
                <a:solidFill>
                  <a:schemeClr val="bg1"/>
                </a:solidFill>
                <a:effectLst/>
                <a:latin typeface="tisapro-regular"/>
              </a:rPr>
              <a:t>neck of rib to TP</a:t>
            </a:r>
          </a:p>
          <a:p>
            <a:pPr lvl="1"/>
            <a:endParaRPr lang="en-GB" b="0" i="0" dirty="0">
              <a:solidFill>
                <a:schemeClr val="bg1"/>
              </a:solidFill>
              <a:effectLst/>
              <a:latin typeface="tisapro-regular"/>
            </a:endParaRPr>
          </a:p>
          <a:p>
            <a:r>
              <a:rPr lang="en-GB" b="0" i="0" dirty="0">
                <a:solidFill>
                  <a:schemeClr val="bg1"/>
                </a:solidFill>
                <a:effectLst/>
                <a:latin typeface="tisapro-regular"/>
              </a:rPr>
              <a:t>Lateral costotransverse ligament</a:t>
            </a:r>
          </a:p>
          <a:p>
            <a:pPr lvl="1"/>
            <a:r>
              <a:rPr lang="en-GB" dirty="0">
                <a:solidFill>
                  <a:schemeClr val="bg1"/>
                </a:solidFill>
                <a:latin typeface="tisapro-regular"/>
              </a:rPr>
              <a:t>TP to tubercle of rib</a:t>
            </a:r>
          </a:p>
          <a:p>
            <a:pPr lvl="1"/>
            <a:endParaRPr lang="en-GB" dirty="0">
              <a:solidFill>
                <a:schemeClr val="bg1"/>
              </a:solidFill>
              <a:latin typeface="tisapro-regular"/>
            </a:endParaRPr>
          </a:p>
          <a:p>
            <a:r>
              <a:rPr lang="en-GB" b="0" i="0" dirty="0">
                <a:solidFill>
                  <a:schemeClr val="bg1"/>
                </a:solidFill>
                <a:effectLst/>
                <a:latin typeface="tisapro-regular"/>
              </a:rPr>
              <a:t>Superior costotransverse ligament</a:t>
            </a:r>
            <a:endParaRPr lang="en-GB" dirty="0">
              <a:solidFill>
                <a:schemeClr val="bg1"/>
              </a:solidFill>
              <a:latin typeface="tisapro-regular"/>
            </a:endParaRPr>
          </a:p>
          <a:p>
            <a:pPr lvl="1"/>
            <a:r>
              <a:rPr lang="en-GB" b="0" i="0" dirty="0">
                <a:solidFill>
                  <a:schemeClr val="bg1"/>
                </a:solidFill>
                <a:effectLst/>
                <a:latin typeface="tisapro-regular"/>
              </a:rPr>
              <a:t>neck of rib to TP of </a:t>
            </a:r>
            <a:r>
              <a:rPr lang="en-GB" dirty="0">
                <a:solidFill>
                  <a:schemeClr val="bg1"/>
                </a:solidFill>
                <a:latin typeface="tisapro-regular"/>
              </a:rPr>
              <a:t>vertebrae above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0A4E76-2C78-B300-0E28-5827651CD6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469" r="24182" b="63625"/>
          <a:stretch/>
        </p:blipFill>
        <p:spPr>
          <a:xfrm>
            <a:off x="6825967" y="201535"/>
            <a:ext cx="5148117" cy="30238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DE67A3-7CD8-6F92-68D3-D31536E821E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144" t="59146" r="29908"/>
          <a:stretch/>
        </p:blipFill>
        <p:spPr>
          <a:xfrm>
            <a:off x="6825967" y="3218771"/>
            <a:ext cx="4805484" cy="3598303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884A2074-71CF-F5C6-AE3E-26A9190871DB}"/>
              </a:ext>
            </a:extLst>
          </p:cNvPr>
          <p:cNvSpPr/>
          <p:nvPr/>
        </p:nvSpPr>
        <p:spPr>
          <a:xfrm>
            <a:off x="7273159" y="2327796"/>
            <a:ext cx="830317" cy="64113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B6264CE-0191-77B0-30CF-8300040ED450}"/>
              </a:ext>
            </a:extLst>
          </p:cNvPr>
          <p:cNvSpPr/>
          <p:nvPr/>
        </p:nvSpPr>
        <p:spPr>
          <a:xfrm>
            <a:off x="10187238" y="1690688"/>
            <a:ext cx="1786846" cy="5221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4C2396B-921B-EF9A-03B9-D0AB64A385B0}"/>
              </a:ext>
            </a:extLst>
          </p:cNvPr>
          <p:cNvSpPr/>
          <p:nvPr/>
        </p:nvSpPr>
        <p:spPr>
          <a:xfrm>
            <a:off x="9992796" y="678081"/>
            <a:ext cx="1981287" cy="5221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85140F8-232D-B3B8-72C4-4C597B6862C0}"/>
              </a:ext>
            </a:extLst>
          </p:cNvPr>
          <p:cNvSpPr/>
          <p:nvPr/>
        </p:nvSpPr>
        <p:spPr>
          <a:xfrm>
            <a:off x="9066836" y="4056912"/>
            <a:ext cx="1535561" cy="4768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27279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3CCFD-070E-C3F3-A1FD-618B2C49B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48E9789-AED4-BE89-9CCA-AC66817196E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1C2D6519-6489-EE1A-0240-0A8D656E1EE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A6F45DD-9CFF-64BA-2DE4-EE37F3B7B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Musculature – Erector Spinae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091270-BCE1-C637-9388-7B93DA74B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65124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2600" b="1" dirty="0">
                <a:solidFill>
                  <a:schemeClr val="bg1"/>
                </a:solidFill>
              </a:rPr>
              <a:t>Spinalis thoracis </a:t>
            </a:r>
          </a:p>
          <a:p>
            <a:pPr marL="0" indent="0">
              <a:buNone/>
            </a:pPr>
            <a:r>
              <a:rPr lang="en-GB" sz="2600" dirty="0">
                <a:solidFill>
                  <a:schemeClr val="bg1"/>
                </a:solidFill>
              </a:rPr>
              <a:t>Action: Thoracic extension</a:t>
            </a:r>
          </a:p>
          <a:p>
            <a:pPr marL="0" indent="0">
              <a:buNone/>
            </a:pPr>
            <a:r>
              <a:rPr lang="en-GB" sz="2600" dirty="0">
                <a:solidFill>
                  <a:schemeClr val="bg1"/>
                </a:solidFill>
              </a:rPr>
              <a:t>Origin: Spinous processes of T11-L2</a:t>
            </a:r>
          </a:p>
          <a:p>
            <a:pPr marL="0" indent="0">
              <a:buNone/>
            </a:pPr>
            <a:r>
              <a:rPr lang="en-GB" sz="2600" dirty="0">
                <a:solidFill>
                  <a:schemeClr val="bg1"/>
                </a:solidFill>
              </a:rPr>
              <a:t>Insertion: Spinous processes of T2-T8</a:t>
            </a:r>
          </a:p>
          <a:p>
            <a:pPr marL="0" indent="0">
              <a:buNone/>
            </a:pPr>
            <a:r>
              <a:rPr lang="en-GB" sz="2600" dirty="0">
                <a:solidFill>
                  <a:schemeClr val="bg1"/>
                </a:solidFill>
              </a:rPr>
              <a:t>Innervation: Dorsal rami of T4-L1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sz="2600" b="1" dirty="0" err="1">
                <a:solidFill>
                  <a:schemeClr val="bg1"/>
                </a:solidFill>
              </a:rPr>
              <a:t>Longissumus</a:t>
            </a:r>
            <a:r>
              <a:rPr lang="en-GB" sz="2600" b="1" dirty="0">
                <a:solidFill>
                  <a:schemeClr val="bg1"/>
                </a:solidFill>
              </a:rPr>
              <a:t> thoracis</a:t>
            </a:r>
          </a:p>
          <a:p>
            <a:pPr marL="0" indent="0">
              <a:buNone/>
            </a:pPr>
            <a:r>
              <a:rPr lang="en-GB" sz="2600" dirty="0">
                <a:solidFill>
                  <a:schemeClr val="bg1"/>
                </a:solidFill>
              </a:rPr>
              <a:t>Action: Thoracic extension &amp; lateral flexion</a:t>
            </a:r>
          </a:p>
          <a:p>
            <a:pPr marL="0" indent="0">
              <a:buNone/>
            </a:pPr>
            <a:r>
              <a:rPr lang="en-GB" sz="2600" dirty="0">
                <a:solidFill>
                  <a:schemeClr val="bg1"/>
                </a:solidFill>
              </a:rPr>
              <a:t>Origin: SP &amp; TP of L1-L5, </a:t>
            </a:r>
            <a:r>
              <a:rPr lang="en-GB" sz="2600" dirty="0" err="1">
                <a:solidFill>
                  <a:schemeClr val="bg1"/>
                </a:solidFill>
              </a:rPr>
              <a:t>lumbrosacral</a:t>
            </a:r>
            <a:r>
              <a:rPr lang="en-GB" sz="2600" dirty="0">
                <a:solidFill>
                  <a:schemeClr val="bg1"/>
                </a:solidFill>
              </a:rPr>
              <a:t> aponeurosis</a:t>
            </a:r>
          </a:p>
          <a:p>
            <a:pPr marL="0" indent="0">
              <a:buNone/>
            </a:pPr>
            <a:r>
              <a:rPr lang="en-GB" sz="2600" dirty="0">
                <a:solidFill>
                  <a:schemeClr val="bg1"/>
                </a:solidFill>
              </a:rPr>
              <a:t>Insertion: Thoracic TP &amp; lower 10 ribs</a:t>
            </a:r>
          </a:p>
          <a:p>
            <a:pPr marL="0" indent="0">
              <a:buNone/>
            </a:pPr>
            <a:r>
              <a:rPr lang="en-GB" sz="2600" dirty="0">
                <a:solidFill>
                  <a:schemeClr val="bg1"/>
                </a:solidFill>
              </a:rPr>
              <a:t>Innervation: Doral Rami T7-L5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FEA122-F225-E55D-F23D-0C95083428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8020" y="0"/>
            <a:ext cx="44939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8550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11BAD-30E0-742A-8650-465A93D5C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0A611AE-113A-1705-8125-06737FB4290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DA77B89B-248F-A79A-2BFD-6072F423070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D7CB90E-DBCA-BDF9-664D-B290ACB44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Musculature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692E74-1B9E-AF40-CED5-6F18310D0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65124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>
                <a:solidFill>
                  <a:schemeClr val="bg1"/>
                </a:solidFill>
              </a:rPr>
              <a:t>Iliocostalis thoracis</a:t>
            </a:r>
          </a:p>
          <a:p>
            <a:pPr marL="0" indent="0">
              <a:buNone/>
            </a:pPr>
            <a:r>
              <a:rPr lang="en-GB" sz="2400" dirty="0">
                <a:solidFill>
                  <a:schemeClr val="bg1"/>
                </a:solidFill>
              </a:rPr>
              <a:t>Action: Thoracic extension &amp; lateral flexion</a:t>
            </a:r>
          </a:p>
          <a:p>
            <a:pPr marL="0" indent="0">
              <a:buNone/>
            </a:pPr>
            <a:r>
              <a:rPr lang="en-GB" sz="2400" dirty="0">
                <a:solidFill>
                  <a:schemeClr val="bg1"/>
                </a:solidFill>
              </a:rPr>
              <a:t>Origin: Angle of ribs 6-12</a:t>
            </a:r>
          </a:p>
          <a:p>
            <a:pPr marL="0" indent="0">
              <a:buNone/>
            </a:pPr>
            <a:r>
              <a:rPr lang="en-GB" sz="2400" dirty="0">
                <a:solidFill>
                  <a:schemeClr val="bg1"/>
                </a:solidFill>
              </a:rPr>
              <a:t>Insertion: Angles of ribs 1-6 &amp; TP of C7</a:t>
            </a:r>
          </a:p>
          <a:p>
            <a:pPr marL="0" indent="0">
              <a:buNone/>
            </a:pPr>
            <a:r>
              <a:rPr lang="en-GB" sz="2400" dirty="0">
                <a:solidFill>
                  <a:schemeClr val="bg1"/>
                </a:solidFill>
              </a:rPr>
              <a:t>Innervation: Dorsal rami of thoracic nerves</a:t>
            </a:r>
          </a:p>
          <a:p>
            <a:pPr marL="0" indent="0">
              <a:buNone/>
            </a:pPr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A26054-9A6B-985E-782D-BB66D2B72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8020" y="0"/>
            <a:ext cx="44939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2390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F35C4-AC42-9495-78C4-B87C50E0A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2F4DDF2-96FB-3309-B4D6-69C3A81104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7DD59190-F644-83C5-A0B0-7C919774C61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5D32BFD-F974-9EA9-9C7B-EF8058034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Musculature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E36D7-8025-CEFF-4F9B-65BE776CA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65124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Serratus posterior superior  </a:t>
            </a:r>
          </a:p>
          <a:p>
            <a:r>
              <a:rPr lang="en-GB" dirty="0">
                <a:solidFill>
                  <a:schemeClr val="bg1"/>
                </a:solidFill>
              </a:rPr>
              <a:t>Action: Elevates ribs</a:t>
            </a:r>
          </a:p>
          <a:p>
            <a:r>
              <a:rPr lang="en-GB" dirty="0">
                <a:solidFill>
                  <a:schemeClr val="bg1"/>
                </a:solidFill>
              </a:rPr>
              <a:t>Origin: SP of C7-T3</a:t>
            </a:r>
          </a:p>
          <a:p>
            <a:r>
              <a:rPr lang="en-GB" dirty="0">
                <a:solidFill>
                  <a:schemeClr val="bg1"/>
                </a:solidFill>
              </a:rPr>
              <a:t>Insertion: Upper border of 2</a:t>
            </a:r>
            <a:r>
              <a:rPr lang="en-GB" baseline="30000" dirty="0">
                <a:solidFill>
                  <a:schemeClr val="bg1"/>
                </a:solidFill>
              </a:rPr>
              <a:t>nd</a:t>
            </a:r>
            <a:r>
              <a:rPr lang="en-GB" dirty="0">
                <a:solidFill>
                  <a:schemeClr val="bg1"/>
                </a:solidFill>
              </a:rPr>
              <a:t>-5</a:t>
            </a:r>
            <a:r>
              <a:rPr lang="en-GB" baseline="30000" dirty="0">
                <a:solidFill>
                  <a:schemeClr val="bg1"/>
                </a:solidFill>
              </a:rPr>
              <a:t>th</a:t>
            </a:r>
            <a:r>
              <a:rPr lang="en-GB" dirty="0">
                <a:solidFill>
                  <a:schemeClr val="bg1"/>
                </a:solidFill>
              </a:rPr>
              <a:t> ribs</a:t>
            </a:r>
          </a:p>
          <a:p>
            <a:r>
              <a:rPr lang="en-GB" dirty="0">
                <a:solidFill>
                  <a:schemeClr val="bg1"/>
                </a:solidFill>
              </a:rPr>
              <a:t>Innervation: Ventral rami of T1-T5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Serratus posterior inferior</a:t>
            </a:r>
          </a:p>
          <a:p>
            <a:r>
              <a:rPr lang="en-GB" dirty="0">
                <a:solidFill>
                  <a:schemeClr val="bg1"/>
                </a:solidFill>
              </a:rPr>
              <a:t>Action: Depresses ribs</a:t>
            </a:r>
          </a:p>
          <a:p>
            <a:r>
              <a:rPr lang="en-GB" dirty="0">
                <a:solidFill>
                  <a:schemeClr val="bg1"/>
                </a:solidFill>
              </a:rPr>
              <a:t>Origin: SP of T11-L2</a:t>
            </a:r>
          </a:p>
          <a:p>
            <a:r>
              <a:rPr lang="en-GB" dirty="0">
                <a:solidFill>
                  <a:schemeClr val="bg1"/>
                </a:solidFill>
              </a:rPr>
              <a:t>Insertion: Lower border of 9</a:t>
            </a:r>
            <a:r>
              <a:rPr lang="en-GB" baseline="30000" dirty="0">
                <a:solidFill>
                  <a:schemeClr val="bg1"/>
                </a:solidFill>
              </a:rPr>
              <a:t>th</a:t>
            </a:r>
            <a:r>
              <a:rPr lang="en-GB" dirty="0">
                <a:solidFill>
                  <a:schemeClr val="bg1"/>
                </a:solidFill>
              </a:rPr>
              <a:t>-12</a:t>
            </a:r>
            <a:r>
              <a:rPr lang="en-GB" baseline="30000" dirty="0">
                <a:solidFill>
                  <a:schemeClr val="bg1"/>
                </a:solidFill>
              </a:rPr>
              <a:t>th</a:t>
            </a:r>
            <a:r>
              <a:rPr lang="en-GB" dirty="0">
                <a:solidFill>
                  <a:schemeClr val="bg1"/>
                </a:solidFill>
              </a:rPr>
              <a:t> ribs</a:t>
            </a:r>
          </a:p>
          <a:p>
            <a:r>
              <a:rPr lang="en-GB" dirty="0">
                <a:solidFill>
                  <a:schemeClr val="bg1"/>
                </a:solidFill>
              </a:rPr>
              <a:t>Innervation: Ventral rami of T9-T12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353322-3F65-581F-C5B2-831C42F9C1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850" y="360440"/>
            <a:ext cx="3790950" cy="62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0554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E19DB-9176-24DA-001C-E41285E62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49A8162-CF35-55FC-76B8-4CFB452B6F9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5ECFE856-56B0-8648-5156-8D02BC090A1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A5F8BA6-9AE4-DF66-0D19-E4E2C5AE5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Neural Pathways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3711C-E376-9D71-E210-87C126219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595" y="1564640"/>
            <a:ext cx="6472973" cy="503022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sz="2300" b="1" dirty="0">
                <a:solidFill>
                  <a:schemeClr val="bg1"/>
                </a:solidFill>
              </a:rPr>
              <a:t>Thoracic Spinal Nerves</a:t>
            </a:r>
          </a:p>
          <a:p>
            <a:r>
              <a:rPr lang="en-GB" sz="2300" dirty="0">
                <a:solidFill>
                  <a:schemeClr val="bg1"/>
                </a:solidFill>
              </a:rPr>
              <a:t>After exiting the intervertebral foramina, each nerve splits into: </a:t>
            </a:r>
          </a:p>
          <a:p>
            <a:pPr lvl="1"/>
            <a:r>
              <a:rPr lang="en-GB" sz="2300" dirty="0">
                <a:solidFill>
                  <a:schemeClr val="bg1"/>
                </a:solidFill>
              </a:rPr>
              <a:t>Dorsal ramus → innervates deep back muscles and skin over thoracic spine.</a:t>
            </a:r>
          </a:p>
          <a:p>
            <a:pPr lvl="1"/>
            <a:r>
              <a:rPr lang="en-GB" sz="2300" dirty="0">
                <a:solidFill>
                  <a:schemeClr val="bg1"/>
                </a:solidFill>
              </a:rPr>
              <a:t>Ventral ramus → forms intercostal nerves (T1–T11) and subcostal nerve (T12). </a:t>
            </a:r>
          </a:p>
          <a:p>
            <a:pPr lvl="2"/>
            <a:r>
              <a:rPr lang="en-GB" sz="2300" dirty="0">
                <a:solidFill>
                  <a:schemeClr val="bg1"/>
                </a:solidFill>
              </a:rPr>
              <a:t>These supply intercostal muscles, abdominal wall, and thoracic skin.</a:t>
            </a:r>
            <a:br>
              <a:rPr lang="en-GB" sz="2100" dirty="0">
                <a:solidFill>
                  <a:schemeClr val="bg1"/>
                </a:solidFill>
              </a:rPr>
            </a:br>
            <a:endParaRPr lang="en-GB" sz="21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GB" sz="18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sz="2300" b="1" dirty="0">
                <a:solidFill>
                  <a:schemeClr val="bg1"/>
                </a:solidFill>
              </a:rPr>
              <a:t>Dermatomes</a:t>
            </a:r>
          </a:p>
          <a:p>
            <a:r>
              <a:rPr lang="en-GB" sz="2600" dirty="0">
                <a:solidFill>
                  <a:schemeClr val="bg1"/>
                </a:solidFill>
              </a:rPr>
              <a:t>Thoracic dermatomes are clinically important for sensory mapping: </a:t>
            </a:r>
          </a:p>
          <a:p>
            <a:pPr lvl="1"/>
            <a:r>
              <a:rPr lang="en-GB" sz="2300" dirty="0">
                <a:solidFill>
                  <a:schemeClr val="bg1"/>
                </a:solidFill>
              </a:rPr>
              <a:t>T1: Medial arm</a:t>
            </a:r>
          </a:p>
          <a:p>
            <a:pPr lvl="1"/>
            <a:r>
              <a:rPr lang="en-GB" sz="2300" dirty="0">
                <a:solidFill>
                  <a:schemeClr val="bg1"/>
                </a:solidFill>
              </a:rPr>
              <a:t>T4: Nipple line.</a:t>
            </a:r>
          </a:p>
          <a:p>
            <a:pPr lvl="1"/>
            <a:r>
              <a:rPr lang="en-GB" sz="2300" dirty="0">
                <a:solidFill>
                  <a:schemeClr val="bg1"/>
                </a:solidFill>
              </a:rPr>
              <a:t>T6: Xiphoid process.</a:t>
            </a:r>
          </a:p>
          <a:p>
            <a:pPr lvl="1"/>
            <a:r>
              <a:rPr lang="en-GB" sz="2300" dirty="0">
                <a:solidFill>
                  <a:schemeClr val="bg1"/>
                </a:solidFill>
              </a:rPr>
              <a:t>T10: Umbilicus.</a:t>
            </a:r>
          </a:p>
          <a:p>
            <a:r>
              <a:rPr lang="en-GB" sz="2300" dirty="0">
                <a:solidFill>
                  <a:schemeClr val="bg1"/>
                </a:solidFill>
              </a:rPr>
              <a:t>Useful for assessing thoracic radiculopathy or spinal cord injury.</a:t>
            </a:r>
          </a:p>
          <a:p>
            <a:endParaRPr lang="en-GB" sz="12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329FFC-4400-1272-D62C-52474AFEC7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4568" y="1690688"/>
            <a:ext cx="5037432" cy="400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954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02BE3-0D44-DD96-DBA3-52802BDEF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9083C6-DED6-D173-E481-452B2E00CD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B2D12CA3-6A2A-3063-25C0-80C71C0E3BE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14C2C82-B998-E3DE-4823-990366F50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1535"/>
            <a:ext cx="10515600" cy="2388235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Clinical Application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Thoracic Spine Pathology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765231-833A-6428-EFF0-6A783436B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7760" y="2303374"/>
            <a:ext cx="7147560" cy="374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2826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B8C7F-7445-95C7-9A96-4F6E7D92F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F63670-DE7E-7B9B-BEEB-B7B53BAC82AE}"/>
              </a:ext>
            </a:extLst>
          </p:cNvPr>
          <p:cNvSpPr/>
          <p:nvPr/>
        </p:nvSpPr>
        <p:spPr>
          <a:xfrm>
            <a:off x="0" y="-94593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53DE6E21-F2F9-3D0C-1E5F-C7123E2E72D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7E78DE-B079-D0A0-84DF-CFB4CD26D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Intervertebral Discs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C7230-2516-4AA5-116E-B286DDDEF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13720" cy="4486275"/>
          </a:xfrm>
        </p:spPr>
        <p:txBody>
          <a:bodyPr>
            <a:normAutofit fontScale="92500" lnSpcReduction="20000"/>
          </a:bodyPr>
          <a:lstStyle/>
          <a:p>
            <a:r>
              <a:rPr lang="en-GB" dirty="0">
                <a:solidFill>
                  <a:schemeClr val="bg1"/>
                </a:solidFill>
              </a:rPr>
              <a:t>Narrow discs compared to vertebral body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Cervical   ̴40%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Thoracic   ̴20%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Lumbar   ̴33%</a:t>
            </a:r>
          </a:p>
          <a:p>
            <a:pPr lvl="1"/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Disc pathology is rare in thoracic spine and often found incidentally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0.25-0.75 of all symptomatic disc herniation </a:t>
            </a:r>
          </a:p>
          <a:p>
            <a:pPr marL="457200" lvl="1" indent="0">
              <a:buNone/>
            </a:pPr>
            <a:r>
              <a:rPr lang="en-GB" dirty="0">
                <a:solidFill>
                  <a:schemeClr val="bg1"/>
                </a:solidFill>
              </a:rPr>
              <a:t>	(</a:t>
            </a:r>
            <a:r>
              <a:rPr lang="en-GB" dirty="0" err="1">
                <a:solidFill>
                  <a:schemeClr val="bg1"/>
                </a:solidFill>
              </a:rPr>
              <a:t>Fogwe</a:t>
            </a:r>
            <a:r>
              <a:rPr lang="en-GB" dirty="0">
                <a:solidFill>
                  <a:schemeClr val="bg1"/>
                </a:solidFill>
              </a:rPr>
              <a:t>, Zulfiqar &amp; Mesfin, 2025)</a:t>
            </a:r>
          </a:p>
          <a:p>
            <a:pPr lvl="1"/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Can cause radicular pain often following dermatome pattern.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Myelopathy – compression of spinal cord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27979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01641A8-7A12-C97C-5729-393D0B54C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Thoracic Spine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AA05A0-4D00-0D4C-3B69-3580E3E0A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035565" cy="4351338"/>
          </a:xfrm>
        </p:spPr>
        <p:txBody>
          <a:bodyPr>
            <a:normAutofit lnSpcReduction="10000"/>
          </a:bodyPr>
          <a:lstStyle/>
          <a:p>
            <a:r>
              <a:rPr lang="en-GB" dirty="0">
                <a:solidFill>
                  <a:schemeClr val="bg1"/>
                </a:solidFill>
              </a:rPr>
              <a:t>Kyphotic curve rather than lordotic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Due to shape of </a:t>
            </a:r>
            <a:r>
              <a:rPr lang="en-GB" u="sng" dirty="0">
                <a:solidFill>
                  <a:schemeClr val="bg1"/>
                </a:solidFill>
              </a:rPr>
              <a:t>vertebrae</a:t>
            </a:r>
            <a:r>
              <a:rPr lang="en-GB" dirty="0">
                <a:solidFill>
                  <a:schemeClr val="bg1"/>
                </a:solidFill>
              </a:rPr>
              <a:t> and disc</a:t>
            </a:r>
          </a:p>
          <a:p>
            <a:pPr lvl="1"/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Curve can vary but ‘normal’ is considered between 20-45 degrees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 err="1">
                <a:solidFill>
                  <a:schemeClr val="bg1"/>
                </a:solidFill>
              </a:rPr>
              <a:t>Hyperkyphosis</a:t>
            </a:r>
            <a:endParaRPr lang="en-GB" dirty="0">
              <a:solidFill>
                <a:schemeClr val="bg1"/>
              </a:solidFill>
            </a:endParaRPr>
          </a:p>
          <a:p>
            <a:pPr lvl="1" fontAlgn="base"/>
            <a:r>
              <a:rPr lang="en-GB" b="0" i="0" dirty="0">
                <a:solidFill>
                  <a:schemeClr val="bg1"/>
                </a:solidFill>
                <a:effectLst/>
              </a:rPr>
              <a:t>Postural kyphosis</a:t>
            </a:r>
          </a:p>
          <a:p>
            <a:pPr lvl="1" fontAlgn="base"/>
            <a:r>
              <a:rPr lang="en-GB" b="0" i="0" dirty="0">
                <a:solidFill>
                  <a:schemeClr val="bg1"/>
                </a:solidFill>
                <a:effectLst/>
              </a:rPr>
              <a:t>Scheuermann's kyphosis</a:t>
            </a:r>
          </a:p>
          <a:p>
            <a:pPr lvl="1" fontAlgn="base"/>
            <a:r>
              <a:rPr lang="en-GB" b="0" i="0" dirty="0">
                <a:solidFill>
                  <a:schemeClr val="bg1"/>
                </a:solidFill>
                <a:effectLst/>
              </a:rPr>
              <a:t>Congenital kyphosis</a:t>
            </a:r>
          </a:p>
          <a:p>
            <a:pPr lvl="1"/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D2F0B5-2021-35B3-B5AC-CAD59BA3E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545" y="1057863"/>
            <a:ext cx="4742273" cy="474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368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AA05A0-4D00-0D4C-3B69-3580E3E0A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760932"/>
            <a:ext cx="6035565" cy="53361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4400" dirty="0">
                <a:solidFill>
                  <a:schemeClr val="bg1"/>
                </a:solidFill>
              </a:rPr>
              <a:t>Postural kyphosis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pPr lvl="1"/>
            <a:r>
              <a:rPr lang="en-GB" dirty="0">
                <a:solidFill>
                  <a:schemeClr val="bg1"/>
                </a:solidFill>
              </a:rPr>
              <a:t>‘Poor’ posture</a:t>
            </a:r>
          </a:p>
          <a:p>
            <a:pPr lvl="1"/>
            <a:endParaRPr lang="en-GB" dirty="0">
              <a:solidFill>
                <a:schemeClr val="bg1"/>
              </a:solidFill>
            </a:endParaRPr>
          </a:p>
          <a:p>
            <a:pPr lvl="1"/>
            <a:r>
              <a:rPr lang="en-GB" dirty="0">
                <a:solidFill>
                  <a:schemeClr val="bg1"/>
                </a:solidFill>
              </a:rPr>
              <a:t>Can correct by ‘standing up straight’</a:t>
            </a:r>
          </a:p>
          <a:p>
            <a:pPr lvl="1"/>
            <a:endParaRPr lang="en-GB" dirty="0">
              <a:solidFill>
                <a:schemeClr val="bg1"/>
              </a:solidFill>
            </a:endParaRPr>
          </a:p>
          <a:p>
            <a:pPr lvl="1"/>
            <a:r>
              <a:rPr lang="en-GB" dirty="0">
                <a:solidFill>
                  <a:schemeClr val="bg1"/>
                </a:solidFill>
              </a:rPr>
              <a:t>More common in teenage years </a:t>
            </a:r>
          </a:p>
          <a:p>
            <a:pPr lvl="2"/>
            <a:r>
              <a:rPr lang="en-GB" dirty="0">
                <a:solidFill>
                  <a:schemeClr val="bg1"/>
                </a:solidFill>
              </a:rPr>
              <a:t>Females &gt; males</a:t>
            </a:r>
          </a:p>
          <a:p>
            <a:pPr lvl="2"/>
            <a:endParaRPr lang="en-GB" dirty="0">
              <a:solidFill>
                <a:schemeClr val="bg1"/>
              </a:solidFill>
            </a:endParaRPr>
          </a:p>
          <a:p>
            <a:pPr lvl="1"/>
            <a:r>
              <a:rPr lang="en-GB" dirty="0">
                <a:solidFill>
                  <a:schemeClr val="bg1"/>
                </a:solidFill>
              </a:rPr>
              <a:t>Usually </a:t>
            </a:r>
            <a:r>
              <a:rPr lang="en-GB" dirty="0" err="1">
                <a:solidFill>
                  <a:schemeClr val="bg1"/>
                </a:solidFill>
              </a:rPr>
              <a:t>painfree</a:t>
            </a:r>
            <a:r>
              <a:rPr lang="en-GB" dirty="0">
                <a:solidFill>
                  <a:schemeClr val="bg1"/>
                </a:solidFill>
              </a:rPr>
              <a:t> but can be a sign of Ankylosing Spondylitis</a:t>
            </a:r>
          </a:p>
          <a:p>
            <a:pPr lvl="1"/>
            <a:endParaRPr lang="en-GB" dirty="0">
              <a:solidFill>
                <a:schemeClr val="bg1"/>
              </a:solidFill>
            </a:endParaRPr>
          </a:p>
          <a:p>
            <a:pPr lvl="1"/>
            <a:r>
              <a:rPr lang="en-GB" dirty="0">
                <a:solidFill>
                  <a:schemeClr val="bg1"/>
                </a:solidFill>
              </a:rPr>
              <a:t>Poor posture does not always cause pain!</a:t>
            </a:r>
          </a:p>
          <a:p>
            <a:pPr lvl="1"/>
            <a:endParaRPr lang="en-GB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pPr lvl="1"/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F2F6CF-1FF0-4DDD-82E7-C100B33A8E2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115" r="17121"/>
          <a:stretch/>
        </p:blipFill>
        <p:spPr>
          <a:xfrm>
            <a:off x="6721366" y="1104956"/>
            <a:ext cx="5292210" cy="4586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7039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5F21A-B336-9AD1-AB58-B65B2FA42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74D765E-3403-0883-C218-D4DB4AC30C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Swain CT, Pan F, Owen PJ, Schmidt H, </a:t>
            </a:r>
            <a:r>
              <a:rPr lang="en-GB" dirty="0" err="1"/>
              <a:t>Belavy</a:t>
            </a:r>
            <a:r>
              <a:rPr lang="en-GB" dirty="0"/>
              <a:t> DL. No consensus on causality of spine postures or physical exposure and low back pain: A systematic review of systematic reviews. Journal of biomechanics. 2020 Mar 26;102:109312.</a:t>
            </a:r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8A36DE39-5FB4-7142-94AC-124101ECEAE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58DA4E-2FB0-2A46-64DC-1534D978EA6D}"/>
              </a:ext>
            </a:extLst>
          </p:cNvPr>
          <p:cNvSpPr txBox="1"/>
          <p:nvPr/>
        </p:nvSpPr>
        <p:spPr>
          <a:xfrm>
            <a:off x="1019503" y="1719103"/>
            <a:ext cx="91019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008B74-EAF0-2D0F-4417-03754EC6A5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6629" y="201535"/>
            <a:ext cx="8678741" cy="508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6359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97B58-80ED-2C0F-CC5E-ED06D30A5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D140D50-1A77-5DAC-205B-D48A54FB0B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5A1DF400-1733-5D66-ABD3-D74BEEC6EE7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DC75B7-57C4-97FB-A86E-D7A409D72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760932"/>
            <a:ext cx="8163559" cy="541634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sz="4400" dirty="0">
                <a:solidFill>
                  <a:schemeClr val="bg1"/>
                </a:solidFill>
              </a:rPr>
              <a:t>Postural degeneration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pPr lvl="1"/>
            <a:r>
              <a:rPr lang="en-GB" dirty="0">
                <a:solidFill>
                  <a:schemeClr val="bg1"/>
                </a:solidFill>
              </a:rPr>
              <a:t>Degenerative changes to </a:t>
            </a:r>
          </a:p>
          <a:p>
            <a:pPr lvl="2"/>
            <a:r>
              <a:rPr lang="en-GB" dirty="0">
                <a:solidFill>
                  <a:schemeClr val="bg1"/>
                </a:solidFill>
              </a:rPr>
              <a:t>Discs</a:t>
            </a:r>
          </a:p>
          <a:p>
            <a:pPr lvl="2"/>
            <a:r>
              <a:rPr lang="en-GB" dirty="0">
                <a:solidFill>
                  <a:schemeClr val="bg1"/>
                </a:solidFill>
              </a:rPr>
              <a:t>Vertebrae</a:t>
            </a:r>
          </a:p>
          <a:p>
            <a:pPr lvl="2"/>
            <a:r>
              <a:rPr lang="en-GB" dirty="0">
                <a:solidFill>
                  <a:schemeClr val="bg1"/>
                </a:solidFill>
              </a:rPr>
              <a:t>Facet joints</a:t>
            </a:r>
          </a:p>
          <a:p>
            <a:pPr lvl="2"/>
            <a:r>
              <a:rPr lang="en-GB" dirty="0">
                <a:solidFill>
                  <a:schemeClr val="bg1"/>
                </a:solidFill>
              </a:rPr>
              <a:t>Muscles</a:t>
            </a:r>
          </a:p>
          <a:p>
            <a:pPr lvl="2"/>
            <a:endParaRPr lang="en-GB" dirty="0">
              <a:solidFill>
                <a:schemeClr val="bg1"/>
              </a:solidFill>
            </a:endParaRPr>
          </a:p>
          <a:p>
            <a:pPr lvl="1"/>
            <a:r>
              <a:rPr lang="en-GB" dirty="0">
                <a:solidFill>
                  <a:schemeClr val="bg1"/>
                </a:solidFill>
              </a:rPr>
              <a:t>Causes increase load on anterior vertebrae and spine extensors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Decreases mobility of thoracic spine further increasing kyphosis</a:t>
            </a:r>
          </a:p>
          <a:p>
            <a:pPr lvl="1"/>
            <a:endParaRPr lang="en-GB" dirty="0">
              <a:solidFill>
                <a:schemeClr val="bg1"/>
              </a:solidFill>
            </a:endParaRPr>
          </a:p>
          <a:p>
            <a:pPr lvl="1"/>
            <a:r>
              <a:rPr lang="en-GB" dirty="0">
                <a:solidFill>
                  <a:schemeClr val="bg1"/>
                </a:solidFill>
              </a:rPr>
              <a:t>Early intervention is important</a:t>
            </a:r>
          </a:p>
          <a:p>
            <a:pPr lvl="2"/>
            <a:r>
              <a:rPr lang="en-GB" dirty="0">
                <a:solidFill>
                  <a:schemeClr val="bg1"/>
                </a:solidFill>
              </a:rPr>
              <a:t>Extensor strengthening</a:t>
            </a:r>
          </a:p>
          <a:p>
            <a:pPr lvl="2"/>
            <a:r>
              <a:rPr lang="en-GB" dirty="0">
                <a:solidFill>
                  <a:schemeClr val="bg1"/>
                </a:solidFill>
              </a:rPr>
              <a:t>Manual therapy and therapeutic exercise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pPr lvl="1"/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F8170E-1EA0-8C73-22E4-817A4D9722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609" y="0"/>
            <a:ext cx="2993391" cy="41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9272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AA05A0-4D00-0D4C-3B69-3580E3E0A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520" y="667071"/>
            <a:ext cx="5331371" cy="54622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4000" b="0" i="0" dirty="0">
                <a:solidFill>
                  <a:schemeClr val="bg1"/>
                </a:solidFill>
                <a:effectLst/>
              </a:rPr>
              <a:t>Scheuermann</a:t>
            </a:r>
            <a:r>
              <a:rPr lang="en-GB" sz="4000" dirty="0">
                <a:solidFill>
                  <a:schemeClr val="bg1"/>
                </a:solidFill>
              </a:rPr>
              <a:t>’s (disease) kyphosis</a:t>
            </a:r>
          </a:p>
          <a:p>
            <a:pPr marL="0" indent="0">
              <a:buNone/>
            </a:pPr>
            <a:endParaRPr lang="en-GB" b="0" i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GB" dirty="0">
                <a:solidFill>
                  <a:schemeClr val="bg1"/>
                </a:solidFill>
              </a:rPr>
              <a:t>“Juvenile kyphosis” - diagnosed in adolescents between 12-17 years old</a:t>
            </a:r>
          </a:p>
          <a:p>
            <a:pPr marL="457200" lvl="1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pPr lvl="1"/>
            <a:r>
              <a:rPr lang="en-GB" dirty="0">
                <a:solidFill>
                  <a:schemeClr val="bg1"/>
                </a:solidFill>
              </a:rPr>
              <a:t>Developed large wedge shaped vertebrae and discs</a:t>
            </a:r>
          </a:p>
          <a:p>
            <a:pPr marL="457200" lvl="1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pPr lvl="1"/>
            <a:r>
              <a:rPr lang="en-GB" dirty="0">
                <a:solidFill>
                  <a:schemeClr val="bg1"/>
                </a:solidFill>
              </a:rPr>
              <a:t>Believed to be hereditary </a:t>
            </a:r>
          </a:p>
          <a:p>
            <a:pPr lvl="1"/>
            <a:endParaRPr lang="en-GB" dirty="0">
              <a:solidFill>
                <a:schemeClr val="bg1"/>
              </a:solidFill>
            </a:endParaRPr>
          </a:p>
          <a:p>
            <a:pPr lvl="1"/>
            <a:r>
              <a:rPr lang="en-GB" dirty="0">
                <a:solidFill>
                  <a:schemeClr val="bg1"/>
                </a:solidFill>
              </a:rPr>
              <a:t> ̴50% cases cause back pain</a:t>
            </a:r>
          </a:p>
          <a:p>
            <a:pPr lvl="1"/>
            <a:endParaRPr lang="en-GB" dirty="0">
              <a:solidFill>
                <a:schemeClr val="bg1"/>
              </a:solidFill>
            </a:endParaRPr>
          </a:p>
          <a:p>
            <a:pPr lvl="1"/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7152F0-EC9C-C669-177E-7939BED88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9101" y="263132"/>
            <a:ext cx="5947388" cy="33391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EF11002-7EBC-085F-108F-5DA2817E38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6814" y="3555195"/>
            <a:ext cx="4878465" cy="334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3546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AA05A0-4D00-0D4C-3B69-3580E3E0A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569" y="578026"/>
            <a:ext cx="4733271" cy="53152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4000" dirty="0">
                <a:solidFill>
                  <a:schemeClr val="bg1"/>
                </a:solidFill>
              </a:rPr>
              <a:t>Congenital kyphosis</a:t>
            </a:r>
            <a:endParaRPr lang="en-GB" sz="4000" b="0" i="0" dirty="0">
              <a:solidFill>
                <a:schemeClr val="bg1"/>
              </a:solidFill>
              <a:effectLst/>
            </a:endParaRPr>
          </a:p>
          <a:p>
            <a:pPr lvl="1"/>
            <a:endParaRPr lang="en-GB" dirty="0">
              <a:solidFill>
                <a:schemeClr val="bg1"/>
              </a:solidFill>
            </a:endParaRPr>
          </a:p>
          <a:p>
            <a:pPr lvl="1"/>
            <a:r>
              <a:rPr lang="en-GB" dirty="0">
                <a:solidFill>
                  <a:schemeClr val="bg1"/>
                </a:solidFill>
              </a:rPr>
              <a:t>Failure of formation or segmentation of vertebrae</a:t>
            </a:r>
          </a:p>
          <a:p>
            <a:pPr lvl="1"/>
            <a:endParaRPr lang="en-GB" dirty="0">
              <a:solidFill>
                <a:schemeClr val="bg1"/>
              </a:solidFill>
            </a:endParaRPr>
          </a:p>
          <a:p>
            <a:pPr lvl="1"/>
            <a:r>
              <a:rPr lang="en-GB" dirty="0">
                <a:solidFill>
                  <a:schemeClr val="bg1"/>
                </a:solidFill>
              </a:rPr>
              <a:t>Occurs in first 6-8 weeks of embryonic life</a:t>
            </a:r>
          </a:p>
          <a:p>
            <a:pPr lvl="1"/>
            <a:endParaRPr lang="en-GB" dirty="0">
              <a:solidFill>
                <a:schemeClr val="bg1"/>
              </a:solidFill>
            </a:endParaRPr>
          </a:p>
          <a:p>
            <a:pPr lvl="1"/>
            <a:r>
              <a:rPr lang="en-GB" dirty="0">
                <a:solidFill>
                  <a:schemeClr val="bg1"/>
                </a:solidFill>
              </a:rPr>
              <a:t>Unknown cause – genetic ‘mistake’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E4D7C1-D375-93FA-1700-31DDB40177B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162"/>
          <a:stretch/>
        </p:blipFill>
        <p:spPr>
          <a:xfrm>
            <a:off x="4820437" y="1503680"/>
            <a:ext cx="3629498" cy="385064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D6F26A5-B5E2-9B7A-932B-EC194602380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0140"/>
          <a:stretch/>
        </p:blipFill>
        <p:spPr>
          <a:xfrm>
            <a:off x="8449935" y="1503679"/>
            <a:ext cx="3631700" cy="385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0749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282E7-4944-5D46-14E3-9F0204148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3E09A-D18A-0805-5E64-DEB43D99C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9FA448-C004-6100-A5BB-9A52303FE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20" y="0"/>
            <a:ext cx="10593150" cy="686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1329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FD03F-18E9-EDB3-C559-44EEA3560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9B1096-303C-0253-693B-13F21434B2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AA82D6A1-E997-E907-AD04-D1679184A7D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40DD90-2278-0F4B-4D8C-01C8F84BE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690" y="760594"/>
            <a:ext cx="5496406" cy="563004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Idiopathic scoliosis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&gt;80% scoliosis – cause is unknown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Usually occurs between 10-14 years old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Growth can worsen scoliosis</a:t>
            </a:r>
          </a:p>
          <a:p>
            <a:pPr lvl="1"/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Congenital scoliosis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Misshaped vertebrae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Identified from early infancy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Watch and wait approach</a:t>
            </a:r>
          </a:p>
          <a:p>
            <a:pPr lvl="1"/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Neuromuscular scoliosis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Weak and imbalanced muscles as a results of a neurological condition</a:t>
            </a:r>
          </a:p>
          <a:p>
            <a:pPr lvl="2"/>
            <a:r>
              <a:rPr lang="en-GB" dirty="0">
                <a:solidFill>
                  <a:schemeClr val="bg1"/>
                </a:solidFill>
              </a:rPr>
              <a:t>Cerebral palsy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Will usually continue to get worse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Surgery recommended at 50°, breathing affected at 80°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55BFB4-2F21-031A-243F-092FF023B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280" y="3429000"/>
            <a:ext cx="5087860" cy="32092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8BA944-CF8E-B3E0-F9F8-E5E4410014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1226" y="133753"/>
            <a:ext cx="4255968" cy="319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8314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9" name="Picture 18" descr="COSMOS GRAPHIC WHITE.png"/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CD8B9D3-4415-91C7-2736-5D22D37F9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Thoracic spine injuries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19002-F18A-2932-AB38-AA4E9A0E3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Thoracic spine injuries are less common than Lx and </a:t>
            </a:r>
            <a:r>
              <a:rPr lang="en-GB" dirty="0" err="1">
                <a:solidFill>
                  <a:schemeClr val="bg1"/>
                </a:solidFill>
              </a:rPr>
              <a:t>Cx</a:t>
            </a:r>
            <a:endParaRPr lang="en-GB" dirty="0">
              <a:solidFill>
                <a:schemeClr val="bg1"/>
              </a:solidFill>
            </a:endParaRPr>
          </a:p>
          <a:p>
            <a:pPr lvl="1"/>
            <a:r>
              <a:rPr lang="en-GB" dirty="0">
                <a:solidFill>
                  <a:schemeClr val="bg1"/>
                </a:solidFill>
              </a:rPr>
              <a:t>Due to rigidity and stability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Higher force needed to sustain injury</a:t>
            </a:r>
          </a:p>
          <a:p>
            <a:pPr lvl="1"/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Due to high force needed injury can be more severe!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Narrow vertebral canal                      spinal cord damage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Due to low incidence rate, Tx injuries are missed!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26B36AA-3AFB-81A4-12B8-E8DAB47CF497}"/>
              </a:ext>
            </a:extLst>
          </p:cNvPr>
          <p:cNvCxnSpPr>
            <a:cxnSpLocks/>
          </p:cNvCxnSpPr>
          <p:nvPr/>
        </p:nvCxnSpPr>
        <p:spPr>
          <a:xfrm>
            <a:off x="4677104" y="4172608"/>
            <a:ext cx="1061545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47444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1FC47-765A-F144-CE84-46BD3EC5F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5D4CBB-BAD7-BD70-6CCC-C335E1B8E5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>
            <a:extLst>
              <a:ext uri="{FF2B5EF4-FFF2-40B4-BE49-F238E27FC236}">
                <a16:creationId xmlns:a16="http://schemas.microsoft.com/office/drawing/2014/main" id="{4BEC13F4-475E-E9E0-7DE7-804D2B8CE4CB}"/>
              </a:ext>
            </a:extLst>
          </p:cNvPr>
          <p:cNvSpPr/>
          <p:nvPr/>
        </p:nvSpPr>
        <p:spPr>
          <a:xfrm>
            <a:off x="548640" y="588538"/>
            <a:ext cx="3505200" cy="743563"/>
          </a:xfrm>
          <a:prstGeom prst="round2Diag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/>
              <a:t>BPS model</a:t>
            </a:r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54E4C193-F03A-9126-FD0E-13A8FF073B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B4391A-A9DD-376C-9256-FD7472064E93}"/>
              </a:ext>
            </a:extLst>
          </p:cNvPr>
          <p:cNvSpPr txBox="1"/>
          <p:nvPr/>
        </p:nvSpPr>
        <p:spPr>
          <a:xfrm>
            <a:off x="1019503" y="1719102"/>
            <a:ext cx="755553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Group task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Identify 1 biological, psychological and societal factors of thoracic pathology/pain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Provide examples of how a physiotherapist could help towards each factor.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Case notes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3513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D3166-8ACA-C2E3-F358-2A7F59CD7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8D3A879-FC45-D952-AD24-FDF2A06E398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>
            <a:extLst>
              <a:ext uri="{FF2B5EF4-FFF2-40B4-BE49-F238E27FC236}">
                <a16:creationId xmlns:a16="http://schemas.microsoft.com/office/drawing/2014/main" id="{4C0FFC33-7AF5-2D07-4F64-E40BE9D113B6}"/>
              </a:ext>
            </a:extLst>
          </p:cNvPr>
          <p:cNvSpPr/>
          <p:nvPr/>
        </p:nvSpPr>
        <p:spPr>
          <a:xfrm>
            <a:off x="548640" y="588538"/>
            <a:ext cx="7284720" cy="743563"/>
          </a:xfrm>
          <a:prstGeom prst="round2Diag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400" dirty="0"/>
              <a:t>Biological Factors</a:t>
            </a:r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1B905DB0-38C3-0DDF-52C9-9E5C5D87C0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1FF0D7-A193-BD6A-7499-4D4D07BA9900}"/>
              </a:ext>
            </a:extLst>
          </p:cNvPr>
          <p:cNvSpPr txBox="1"/>
          <p:nvPr/>
        </p:nvSpPr>
        <p:spPr>
          <a:xfrm>
            <a:off x="1019503" y="1719102"/>
            <a:ext cx="774857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Joint stiffness (hypomobility)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Common with kyphosis or costovertebral dysfunction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Muscular imbalance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Weak extensors – short pectorals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Structural abnormalities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Scheuermann's disease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Neural irritation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Pain mechanisms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9540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6B33A-73BC-BE43-AE11-9D84F1F22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DA63B54-33F5-72D5-7331-3D97A9DD0F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>
            <a:extLst>
              <a:ext uri="{FF2B5EF4-FFF2-40B4-BE49-F238E27FC236}">
                <a16:creationId xmlns:a16="http://schemas.microsoft.com/office/drawing/2014/main" id="{28A2AB5E-A554-5AE0-F805-C22CDA97F193}"/>
              </a:ext>
            </a:extLst>
          </p:cNvPr>
          <p:cNvSpPr/>
          <p:nvPr/>
        </p:nvSpPr>
        <p:spPr>
          <a:xfrm>
            <a:off x="548640" y="588538"/>
            <a:ext cx="7284720" cy="743563"/>
          </a:xfrm>
          <a:prstGeom prst="round2Diag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400" dirty="0"/>
              <a:t>Psychological Factors</a:t>
            </a:r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32A30C17-C77D-07AB-35D7-BE4020FF6C8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942484-E0A2-17A7-0901-6B67CBE509CA}"/>
              </a:ext>
            </a:extLst>
          </p:cNvPr>
          <p:cNvSpPr txBox="1"/>
          <p:nvPr/>
        </p:nvSpPr>
        <p:spPr>
          <a:xfrm>
            <a:off x="1019503" y="1719102"/>
            <a:ext cx="774857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Body image concerns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Hunched back, tall stature, breast size (macromastia)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Fear avoidance </a:t>
            </a:r>
            <a:r>
              <a:rPr lang="en-GB" sz="2400" dirty="0" err="1">
                <a:solidFill>
                  <a:schemeClr val="bg1"/>
                </a:solidFill>
              </a:rPr>
              <a:t>behavours</a:t>
            </a:r>
            <a:endParaRPr lang="en-GB" sz="24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Anxiety over movements or posture worsening pain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Stress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Increase in pain perception and muscle tension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Breathing related anxiety</a:t>
            </a:r>
          </a:p>
        </p:txBody>
      </p:sp>
    </p:spTree>
    <p:extLst>
      <p:ext uri="{BB962C8B-B14F-4D97-AF65-F5344CB8AC3E}">
        <p14:creationId xmlns:p14="http://schemas.microsoft.com/office/powerpoint/2010/main" val="19810114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4A2B5-A2C7-D871-2A10-F0189E37F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8E201EC-3AAE-F5CF-0761-AE9CE0F343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>
            <a:extLst>
              <a:ext uri="{FF2B5EF4-FFF2-40B4-BE49-F238E27FC236}">
                <a16:creationId xmlns:a16="http://schemas.microsoft.com/office/drawing/2014/main" id="{925BADEF-03F1-390F-C325-543608280DE2}"/>
              </a:ext>
            </a:extLst>
          </p:cNvPr>
          <p:cNvSpPr/>
          <p:nvPr/>
        </p:nvSpPr>
        <p:spPr>
          <a:xfrm>
            <a:off x="548640" y="588538"/>
            <a:ext cx="7284720" cy="743563"/>
          </a:xfrm>
          <a:prstGeom prst="round2Diag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400" dirty="0"/>
              <a:t>Societal Factors</a:t>
            </a:r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27E49F5F-61CA-0B35-DE7B-F5FA1EBCF24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12ED99-94C4-10CC-76F5-DD5A7A77BF35}"/>
              </a:ext>
            </a:extLst>
          </p:cNvPr>
          <p:cNvSpPr txBox="1"/>
          <p:nvPr/>
        </p:nvSpPr>
        <p:spPr>
          <a:xfrm>
            <a:off x="1019503" y="1719102"/>
            <a:ext cx="817529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Occupational demands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Desk job, prolonged sitting/thoracic flexion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Lifestyle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Sedentary habits, lack of exercise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Cultural perceptions of posture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Historic societal emphasis on good/bad posture can increase psychological distress</a:t>
            </a:r>
          </a:p>
        </p:txBody>
      </p:sp>
    </p:spTree>
    <p:extLst>
      <p:ext uri="{BB962C8B-B14F-4D97-AF65-F5344CB8AC3E}">
        <p14:creationId xmlns:p14="http://schemas.microsoft.com/office/powerpoint/2010/main" val="14715673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15072-A3E7-316D-E7AA-3D83E36A9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9F4BF79-128C-0104-94C1-A2A812A751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ound Diagonal Corner Rectangle 3">
            <a:extLst>
              <a:ext uri="{FF2B5EF4-FFF2-40B4-BE49-F238E27FC236}">
                <a16:creationId xmlns:a16="http://schemas.microsoft.com/office/drawing/2014/main" id="{80372AEE-ECC4-2C71-CA03-ECD793BAC767}"/>
              </a:ext>
            </a:extLst>
          </p:cNvPr>
          <p:cNvSpPr/>
          <p:nvPr/>
        </p:nvSpPr>
        <p:spPr>
          <a:xfrm>
            <a:off x="1117600" y="619018"/>
            <a:ext cx="7284720" cy="743563"/>
          </a:xfrm>
          <a:prstGeom prst="round2Diag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400" dirty="0"/>
              <a:t>Thoracic Quiz</a:t>
            </a:r>
          </a:p>
        </p:txBody>
      </p:sp>
      <p:pic>
        <p:nvPicPr>
          <p:cNvPr id="19" name="Picture 18" descr="COSMOS GRAPHIC WHITE.png">
            <a:extLst>
              <a:ext uri="{FF2B5EF4-FFF2-40B4-BE49-F238E27FC236}">
                <a16:creationId xmlns:a16="http://schemas.microsoft.com/office/drawing/2014/main" id="{1774E1F4-080B-A0DD-FFE5-294A25DD00A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2" r="50143"/>
          <a:stretch/>
        </p:blipFill>
        <p:spPr>
          <a:xfrm>
            <a:off x="9012795" y="201535"/>
            <a:ext cx="3179205" cy="6393333"/>
          </a:xfrm>
          <a:prstGeom prst="rect">
            <a:avLst/>
          </a:prstGeom>
          <a:noFill/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07D704-F4E5-119E-EACF-249B4558A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187" y="1533636"/>
            <a:ext cx="9379210" cy="459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3317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NTIMETER_SERIES_ID_KEY" val="al5r1yfopodqsec7c9mewycara46dypv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127747f-6f6d-4fd1-bcfc-39a52bf0a93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3B41819C3940499EC128B1AF2E4054" ma:contentTypeVersion="16" ma:contentTypeDescription="Create a new document." ma:contentTypeScope="" ma:versionID="60b1946598a22eb4ee68270db6aafdfe">
  <xsd:schema xmlns:xsd="http://www.w3.org/2001/XMLSchema" xmlns:xs="http://www.w3.org/2001/XMLSchema" xmlns:p="http://schemas.microsoft.com/office/2006/metadata/properties" xmlns:ns3="3127747f-6f6d-4fd1-bcfc-39a52bf0a935" xmlns:ns4="3f982e44-98c1-4fee-953d-2dae461483a4" targetNamespace="http://schemas.microsoft.com/office/2006/metadata/properties" ma:root="true" ma:fieldsID="79a2aeb7a485c2747321ef29b22887d7" ns3:_="" ns4:_="">
    <xsd:import namespace="3127747f-6f6d-4fd1-bcfc-39a52bf0a935"/>
    <xsd:import namespace="3f982e44-98c1-4fee-953d-2dae461483a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LengthInSeconds" minOccurs="0"/>
                <xsd:element ref="ns3:MediaServiceSystemTag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27747f-6f6d-4fd1-bcfc-39a52bf0a9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982e44-98c1-4fee-953d-2dae461483a4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AD6877D-2918-4C2F-AD9B-9F1052D1201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A70250-B2C7-48F8-AC60-CFA98C95D14E}">
  <ds:schemaRefs>
    <ds:schemaRef ds:uri="http://www.w3.org/XML/1998/namespace"/>
    <ds:schemaRef ds:uri="http://schemas.microsoft.com/office/infopath/2007/PartnerControls"/>
    <ds:schemaRef ds:uri="3127747f-6f6d-4fd1-bcfc-39a52bf0a935"/>
    <ds:schemaRef ds:uri="http://schemas.microsoft.com/office/2006/metadata/properties"/>
    <ds:schemaRef ds:uri="http://purl.org/dc/dcmitype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3f982e44-98c1-4fee-953d-2dae461483a4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6AFC221-31A8-471A-AFD3-B2B1C07AD6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27747f-6f6d-4fd1-bcfc-39a52bf0a935"/>
    <ds:schemaRef ds:uri="3f982e44-98c1-4fee-953d-2dae461483a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1465</Words>
  <Application>Microsoft Office PowerPoint</Application>
  <PresentationFormat>Widescreen</PresentationFormat>
  <Paragraphs>388</Paragraphs>
  <Slides>44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Arial</vt:lpstr>
      <vt:lpstr>Calibri</vt:lpstr>
      <vt:lpstr>Calibri Light</vt:lpstr>
      <vt:lpstr>Times New Roman</vt:lpstr>
      <vt:lpstr>tisapro-regular</vt:lpstr>
      <vt:lpstr>Office Theme</vt:lpstr>
      <vt:lpstr>Anatomy of the Thoracic Spine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Thoracic vertebrae</vt:lpstr>
      <vt:lpstr>Spinous Process</vt:lpstr>
      <vt:lpstr>PowerPoint Presentation</vt:lpstr>
      <vt:lpstr>PowerPoint Presentation</vt:lpstr>
      <vt:lpstr>PowerPoint Presentation</vt:lpstr>
      <vt:lpstr>Thoracic facet joints</vt:lpstr>
      <vt:lpstr>Thoracic facet joints</vt:lpstr>
      <vt:lpstr>PowerPoint Presentation</vt:lpstr>
      <vt:lpstr>Thoracic vertebrae movement</vt:lpstr>
      <vt:lpstr>PowerPoint Presentation</vt:lpstr>
      <vt:lpstr>PowerPoint Presentation</vt:lpstr>
      <vt:lpstr>Thoracic vertebrae – rib articulation</vt:lpstr>
      <vt:lpstr>PowerPoint Presentation</vt:lpstr>
      <vt:lpstr>PowerPoint Presentation</vt:lpstr>
      <vt:lpstr>PowerPoint Presentation</vt:lpstr>
      <vt:lpstr>PowerPoint Presentation</vt:lpstr>
      <vt:lpstr>Ligaments of the spine</vt:lpstr>
      <vt:lpstr>Thoracic ligaments</vt:lpstr>
      <vt:lpstr>Musculature – Erector Spinae</vt:lpstr>
      <vt:lpstr>Musculature</vt:lpstr>
      <vt:lpstr>Musculature</vt:lpstr>
      <vt:lpstr>Neural Pathways</vt:lpstr>
      <vt:lpstr>Clinical Application Thoracic Spine Pathology</vt:lpstr>
      <vt:lpstr>Intervertebral Discs</vt:lpstr>
      <vt:lpstr>Thoracic Spine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Thoracic spine injuries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London Metropolitan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Life Support</dc:title>
  <dc:creator>Paul Starrs</dc:creator>
  <cp:lastModifiedBy>Christopher Phillips</cp:lastModifiedBy>
  <cp:revision>74</cp:revision>
  <dcterms:created xsi:type="dcterms:W3CDTF">2018-09-14T09:18:39Z</dcterms:created>
  <dcterms:modified xsi:type="dcterms:W3CDTF">2025-12-08T15:47:34Z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0x010100113B41819C3940499EC128B1AF2E4054</vt:lpwstr>
  </property>
</Properties>
</file>