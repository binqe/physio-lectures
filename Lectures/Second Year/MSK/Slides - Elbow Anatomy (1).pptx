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319" r:id="rId4"/>
    <p:sldId id="320" r:id="rId5"/>
    <p:sldId id="321" r:id="rId6"/>
    <p:sldId id="322" r:id="rId7"/>
    <p:sldId id="323" r:id="rId8"/>
    <p:sldId id="324" r:id="rId9"/>
    <p:sldId id="325" r:id="rId10"/>
    <p:sldId id="326" r:id="rId11"/>
    <p:sldId id="327" r:id="rId12"/>
    <p:sldId id="328" r:id="rId13"/>
    <p:sldId id="329" r:id="rId14"/>
    <p:sldId id="330" r:id="rId15"/>
    <p:sldId id="331" r:id="rId16"/>
    <p:sldId id="335" r:id="rId17"/>
    <p:sldId id="336" r:id="rId18"/>
    <p:sldId id="332" r:id="rId19"/>
    <p:sldId id="333" r:id="rId20"/>
    <p:sldId id="334" r:id="rId21"/>
    <p:sldId id="338" r:id="rId22"/>
    <p:sldId id="337" r:id="rId23"/>
    <p:sldId id="33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a Preece" initials="MP" lastIdx="2" clrIdx="0">
    <p:extLst>
      <p:ext uri="{19B8F6BF-5375-455C-9EA6-DF929625EA0E}">
        <p15:presenceInfo xmlns:p15="http://schemas.microsoft.com/office/powerpoint/2012/main" userId="c77662db545c34a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A00"/>
    <a:srgbClr val="8EFA00"/>
    <a:srgbClr val="4186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550"/>
    <p:restoredTop sz="95698"/>
  </p:normalViewPr>
  <p:slideViewPr>
    <p:cSldViewPr snapToGrid="0" snapToObjects="1">
      <p:cViewPr varScale="1">
        <p:scale>
          <a:sx n="86" d="100"/>
          <a:sy n="86" d="100"/>
        </p:scale>
        <p:origin x="224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3F54DA-F278-E045-AB50-CF8F0D95881C}" type="datetimeFigureOut">
              <a:rPr lang="en-US" smtClean="0"/>
              <a:t>2/9/25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2EC692-2EA6-9B49-A7B7-FAFF3105A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74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EC692-2EA6-9B49-A7B7-FAFF3105AE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58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EC692-2EA6-9B49-A7B7-FAFF3105AE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988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EC692-2EA6-9B49-A7B7-FAFF3105AEA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429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EC692-2EA6-9B49-A7B7-FAFF3105AEA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97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EC692-2EA6-9B49-A7B7-FAFF3105AEA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85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EC692-2EA6-9B49-A7B7-FAFF3105AEA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467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EC692-2EA6-9B49-A7B7-FAFF3105AEA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399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EC692-2EA6-9B49-A7B7-FAFF3105AEA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52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EC692-2EA6-9B49-A7B7-FAFF3105AEA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0266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EC692-2EA6-9B49-A7B7-FAFF3105AEA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574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EC692-2EA6-9B49-A7B7-FAFF3105AEA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440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EC692-2EA6-9B49-A7B7-FAFF3105AEA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0545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EC692-2EA6-9B49-A7B7-FAFF3105AEA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8403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EC692-2EA6-9B49-A7B7-FAFF3105AEA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724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EC692-2EA6-9B49-A7B7-FAFF3105AEA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835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1C72A-3B4A-56B7-74FF-4105AA1FB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93F8B-D3DF-143C-11C6-A8D479B2D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E96370-B38F-0023-21BD-36F1ED08F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58A2D-FF37-16AB-F344-78F167EEAE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EC692-2EA6-9B49-A7B7-FAFF3105AEA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1854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79AAD-8841-3718-4FCC-84DDA4A4F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FC0EE0-3528-97A2-AF90-E54E8B715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4CE6D9-A6A5-D127-67CD-151C0A83B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EA773-1301-12AC-FF64-81AD0BC50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EC692-2EA6-9B49-A7B7-FAFF3105AEA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2808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5E0C3-2284-1729-D075-804134533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652B05-E2B9-D5C2-3E6C-88D6D2C23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2E0A0-F06E-0F66-F0FA-27481A535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95198-7F2A-261F-303A-117C0BF71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EC692-2EA6-9B49-A7B7-FAFF3105AEA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5930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86B11-747C-27C9-8290-D194C5FE8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A0DAE4-157F-A0A7-4D62-D893B1496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02A1E8-B089-3E76-2BCF-1CC104BEE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EA9E1-91A0-2FAD-05A9-AEB586DFF4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EC692-2EA6-9B49-A7B7-FAFF3105AEA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020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5C6F4-AFC7-1C65-8FF8-7228427BF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72FE2-998E-B05B-30C4-A82A58F21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24B0D6-D029-1318-8BC8-182413432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A05AE-6E11-30ED-B24E-24D150C4B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EC692-2EA6-9B49-A7B7-FAFF3105AEA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17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8784F-201E-1684-F5B2-66ADBF126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A1A1D6-962A-6B5A-922D-3FAD78570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19BA14-F0BA-73EB-7940-477C71A81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C07C3-2AF0-1C9D-CDA8-6D9BE2A0C9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EC692-2EA6-9B49-A7B7-FAFF3105AEA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3695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4B215-6A25-8CE7-C608-DD31F4A5B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DFACC7-E7B0-ACB3-E458-7C277D6A8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DAD083-5882-406C-250B-7D19D79C2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39882-47C2-7A82-8890-023792D9C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EC692-2EA6-9B49-A7B7-FAFF3105AEA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5501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33731-C6D0-EC86-C272-E54D06D62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9BFF3-A8A7-B885-556C-CCB712C27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2F838F-BAF2-AF36-724C-397121EDF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D534E-851C-4C4A-A5C8-054EFC04E8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EC692-2EA6-9B49-A7B7-FAFF3105AEA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36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AC127-723C-444C-B450-44AF50065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515366-B3FD-5A41-BE20-EF502A8F1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EA8C3-9F17-0E4E-802D-88D6F8B50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0B265-616D-ED4D-93C3-A0ADFF0D94FC}" type="datetimeFigureOut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469CE-F6EA-6348-B7D7-3D5A67E9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EE2D-FAB4-D643-B31A-B33B89916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D8B96-5D9D-1845-B636-D15AD42BD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607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7655E-4492-7543-9625-6B3BE0BE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D6C24-5582-CB4C-BDEF-E685EB682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423B8-82CD-074A-81AA-709954443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0B265-616D-ED4D-93C3-A0ADFF0D94FC}" type="datetimeFigureOut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BB2E1-47A6-EA44-8581-E29EF41AC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29F71-5A24-784E-B9A5-5B45F381C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D8B96-5D9D-1845-B636-D15AD42BD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55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048DE-01F6-6644-B02E-FE869F1FA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9B36B-8584-EA49-A4ED-096DC1303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B734F-B9C9-1945-9736-96B58A685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0B265-616D-ED4D-93C3-A0ADFF0D94FC}" type="datetimeFigureOut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73DC3-D867-974E-83AE-FBFB0F47D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88FC6-A7AA-1E4E-B83E-F34911BC5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D8B96-5D9D-1845-B636-D15AD42BD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67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3BEBD-0492-2345-A40E-C9EB87218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904B1-02ED-7448-BFE6-489544FD95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EE4729-CEE7-1C47-A06A-6A96187D8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21DE08-1B2D-BC4F-B825-3D5DCE9BB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0B265-616D-ED4D-93C3-A0ADFF0D94FC}" type="datetimeFigureOut">
              <a:rPr lang="en-US" smtClean="0"/>
              <a:t>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43FF4-E556-6546-958F-268278D9B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4920A-F82E-224C-9C30-3090D976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D8B96-5D9D-1845-B636-D15AD42BD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363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31A7-2777-0C43-8F4A-D07F72BF4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73FE1-3C4D-934E-B701-29B7EEE64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D47ACA-B0A4-6B45-A59D-3403B96ED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A893B-887D-484E-A236-8EDC5A4D3D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8D3EB7-174F-9649-B813-72495DD02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0BCA3F-1DE4-7249-A060-99CC21377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0B265-616D-ED4D-93C3-A0ADFF0D94FC}" type="datetimeFigureOut">
              <a:rPr lang="en-US" smtClean="0"/>
              <a:t>2/9/25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825FB2-E6E5-4247-8B8E-EB2987485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344EA-E003-1F4C-A5D2-5C1EE348C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D8B96-5D9D-1845-B636-D15AD42BD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637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9B052-2ACC-7445-986A-EFF71DF00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39A6F8-C319-974E-AA7E-4E50B18A8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0B265-616D-ED4D-93C3-A0ADFF0D94FC}" type="datetimeFigureOut">
              <a:rPr lang="en-US" smtClean="0"/>
              <a:t>2/9/25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D18736-E9C3-0945-A00F-168236929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DF20A8-D4EC-0A4A-9D77-D93FB7545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D8B96-5D9D-1845-B636-D15AD42BD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44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8E4AA0-081C-1B4E-AAF6-EC02B2421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0B265-616D-ED4D-93C3-A0ADFF0D94FC}" type="datetimeFigureOut">
              <a:rPr lang="en-US" smtClean="0"/>
              <a:t>2/9/25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38B22D-F3D5-6443-85C6-DB7B9ACAF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69AAB-608C-A34A-89D9-0410C5E60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D8B96-5D9D-1845-B636-D15AD42BD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964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B60F5-E3EC-384B-912D-5C1ED639D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AE3B0-41DD-4746-9495-92A42C08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DBC600-FE23-A84F-BE2D-967333B63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387C2E-FDF5-D14E-9040-DB65DD46A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0B265-616D-ED4D-93C3-A0ADFF0D94FC}" type="datetimeFigureOut">
              <a:rPr lang="en-US" smtClean="0"/>
              <a:t>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EDA3B6-B8F6-F744-950A-DC3EFA3E9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1D5AD-9EB3-E547-91E9-F689872AA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D8B96-5D9D-1845-B636-D15AD42BD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36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98016-54BD-D24A-ADD7-02D15FECD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389B7B-F5D9-CC4C-9F4C-468B02D30C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593A14-573C-BB4E-B281-A4D65024E1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609604-46F9-8E49-8476-EC3111A8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0B265-616D-ED4D-93C3-A0ADFF0D94FC}" type="datetimeFigureOut">
              <a:rPr lang="en-US" smtClean="0"/>
              <a:t>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7C72C-869D-5647-9502-2D5AE49B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82E3D-A421-064F-8366-BCBE37EA9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D8B96-5D9D-1845-B636-D15AD42BD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530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B068-F8CD-564E-90EC-1EDA8A366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B3805F-5FDD-2044-85EE-AB28F1A843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BDDD5-FDF7-5A4E-8EE9-B4B3EE8F7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0B265-616D-ED4D-93C3-A0ADFF0D94FC}" type="datetimeFigureOut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A1417-5C69-964D-8673-A4330CD9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95255-6B05-1B42-882D-3E8266864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D8B96-5D9D-1845-B636-D15AD42BD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812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C47B93-3D06-B74D-A2B7-C8F05C8B38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43247-ED24-144B-AE59-3DA3A9E93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47E46-D166-414D-B693-449994CA4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0B265-616D-ED4D-93C3-A0ADFF0D94FC}" type="datetimeFigureOut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3DCCD-6ECA-F848-A508-612F14746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4DD14-6E5B-0942-8C60-782CDB0F8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D8B96-5D9D-1845-B636-D15AD42BD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58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20000"/>
                <a:lumOff val="80000"/>
              </a:schemeClr>
            </a:gs>
            <a:gs pos="57000">
              <a:schemeClr val="accent2"/>
            </a:gs>
            <a:gs pos="100000">
              <a:schemeClr val="accent3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95EE29-02E0-9141-A48B-AC3335BB3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454E3-A7A3-894F-B316-531165A8C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A24ED-E3DF-914C-B2E7-4101375CCF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0B265-616D-ED4D-93C3-A0ADFF0D94FC}" type="datetimeFigureOut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B6047-C888-4642-A36C-3821A16CEE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37B77-A455-0649-BCCB-8535CC9113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D8B96-5D9D-1845-B636-D15AD42BD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090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6.jpg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image" Target="../media/image15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570A31F-5004-5E47-89F6-AC4280F002D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1D9AE7D-1B56-674E-84C2-4C538BBA3CAE}"/>
              </a:ext>
            </a:extLst>
          </p:cNvPr>
          <p:cNvSpPr txBox="1">
            <a:spLocks/>
          </p:cNvSpPr>
          <p:nvPr/>
        </p:nvSpPr>
        <p:spPr>
          <a:xfrm>
            <a:off x="859367" y="2228714"/>
            <a:ext cx="7766936" cy="18179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Elbow Anatomy</a:t>
            </a:r>
            <a:endParaRPr lang="en-GB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</a:pPr>
            <a:endParaRPr lang="en-GB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London Metropolitan University logo">
            <a:extLst>
              <a:ext uri="{FF2B5EF4-FFF2-40B4-BE49-F238E27FC236}">
                <a16:creationId xmlns:a16="http://schemas.microsoft.com/office/drawing/2014/main" id="{DFD97E9E-F3DE-D140-BE09-75B25B360D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20" y="6045200"/>
            <a:ext cx="1910409" cy="491248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01AF3986-4E2B-0249-ACF7-1F3744A3CCDF}"/>
              </a:ext>
            </a:extLst>
          </p:cNvPr>
          <p:cNvSpPr txBox="1">
            <a:spLocks/>
          </p:cNvSpPr>
          <p:nvPr/>
        </p:nvSpPr>
        <p:spPr>
          <a:xfrm>
            <a:off x="4712677" y="3463819"/>
            <a:ext cx="3913626" cy="976791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GB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en-GB" sz="2900" i="1" dirty="0">
                <a:latin typeface="Arial" panose="020B0604020202020204" pitchFamily="34" charset="0"/>
                <a:cs typeface="Arial" panose="020B0604020202020204" pitchFamily="34" charset="0"/>
              </a:rPr>
              <a:t>Mia Preece</a:t>
            </a:r>
          </a:p>
          <a:p>
            <a:pPr marL="0" indent="0" algn="r">
              <a:buFont typeface="Arial" panose="020B0604020202020204" pitchFamily="34" charset="0"/>
              <a:buNone/>
            </a:pPr>
            <a:r>
              <a:rPr lang="en-GB" sz="2900" i="1" dirty="0">
                <a:latin typeface="Arial" panose="020B0604020202020204" pitchFamily="34" charset="0"/>
                <a:cs typeface="Arial" panose="020B0604020202020204" pitchFamily="34" charset="0"/>
              </a:rPr>
              <a:t>m.preece1@londonmet.ac.uk</a:t>
            </a:r>
          </a:p>
        </p:txBody>
      </p:sp>
      <p:pic>
        <p:nvPicPr>
          <p:cNvPr id="2" name="Picture 1" descr="X-ray of a human arm&#10;&#10;Description automatically generated">
            <a:extLst>
              <a:ext uri="{FF2B5EF4-FFF2-40B4-BE49-F238E27FC236}">
                <a16:creationId xmlns:a16="http://schemas.microsoft.com/office/drawing/2014/main" id="{35D20B67-9609-B8B6-C0BB-393E436EDD1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712" t="3177" r="3950" b="3177"/>
          <a:stretch/>
        </p:blipFill>
        <p:spPr>
          <a:xfrm>
            <a:off x="511895" y="1280315"/>
            <a:ext cx="4045768" cy="42973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2FF0AEB-30C4-8A5A-0D9A-4F49387475C3}"/>
              </a:ext>
            </a:extLst>
          </p:cNvPr>
          <p:cNvSpPr/>
          <p:nvPr/>
        </p:nvSpPr>
        <p:spPr>
          <a:xfrm>
            <a:off x="511896" y="4995022"/>
            <a:ext cx="539182" cy="57963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187479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570A31F-5004-5E47-89F6-AC4280F002D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97FD22-9CBF-CE40-AAB1-3B9C7FFBFDF6}"/>
              </a:ext>
            </a:extLst>
          </p:cNvPr>
          <p:cNvSpPr/>
          <p:nvPr/>
        </p:nvSpPr>
        <p:spPr>
          <a:xfrm>
            <a:off x="622929" y="520700"/>
            <a:ext cx="1803279" cy="706766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Overview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9E7373E-D181-D349-8677-7C9D424313A1}"/>
              </a:ext>
            </a:extLst>
          </p:cNvPr>
          <p:cNvSpPr/>
          <p:nvPr/>
        </p:nvSpPr>
        <p:spPr>
          <a:xfrm>
            <a:off x="622930" y="1688135"/>
            <a:ext cx="7176364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5D65E7-A192-514D-8DE8-E4B39D5F58E2}"/>
              </a:ext>
            </a:extLst>
          </p:cNvPr>
          <p:cNvSpPr txBox="1"/>
          <p:nvPr/>
        </p:nvSpPr>
        <p:spPr>
          <a:xfrm>
            <a:off x="1360301" y="2105560"/>
            <a:ext cx="5446899" cy="3671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Clr>
                <a:schemeClr val="tx1"/>
              </a:buClr>
              <a:buSzPct val="100000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Bones and bony landmarks</a:t>
            </a:r>
          </a:p>
          <a:p>
            <a:pPr>
              <a:lnSpc>
                <a:spcPct val="200000"/>
              </a:lnSpc>
              <a:buClr>
                <a:schemeClr val="tx1"/>
              </a:buClr>
              <a:buSzPct val="100000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Joints &amp; their movements</a:t>
            </a:r>
          </a:p>
          <a:p>
            <a:pPr>
              <a:lnSpc>
                <a:spcPct val="200000"/>
              </a:lnSpc>
              <a:buClr>
                <a:schemeClr val="tx1"/>
              </a:buClr>
              <a:buSzPct val="100000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Ligaments</a:t>
            </a:r>
          </a:p>
          <a:p>
            <a:pPr>
              <a:lnSpc>
                <a:spcPct val="200000"/>
              </a:lnSpc>
              <a:buClr>
                <a:schemeClr val="tx1"/>
              </a:buClr>
              <a:buSzPct val="100000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Muscles</a:t>
            </a:r>
          </a:p>
          <a:p>
            <a:pPr>
              <a:lnSpc>
                <a:spcPct val="200000"/>
              </a:lnSpc>
              <a:buClr>
                <a:schemeClr val="tx1"/>
              </a:buClr>
              <a:buSzPct val="100000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Nerves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27B6F4FD-E8E9-1241-AD8E-A3AA6522B61B}"/>
              </a:ext>
            </a:extLst>
          </p:cNvPr>
          <p:cNvSpPr/>
          <p:nvPr/>
        </p:nvSpPr>
        <p:spPr>
          <a:xfrm>
            <a:off x="1061537" y="2415269"/>
            <a:ext cx="298765" cy="315381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54C111F4-4418-7340-9685-5C4FADC2CF8E}"/>
              </a:ext>
            </a:extLst>
          </p:cNvPr>
          <p:cNvSpPr/>
          <p:nvPr/>
        </p:nvSpPr>
        <p:spPr>
          <a:xfrm>
            <a:off x="1061537" y="3178500"/>
            <a:ext cx="298765" cy="315381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1F35221A-15AE-CD47-B4A8-3AB5B0DDB09A}"/>
              </a:ext>
            </a:extLst>
          </p:cNvPr>
          <p:cNvSpPr/>
          <p:nvPr/>
        </p:nvSpPr>
        <p:spPr>
          <a:xfrm>
            <a:off x="1061537" y="3890183"/>
            <a:ext cx="298765" cy="315381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F5B200B7-9C14-E640-8F25-84DF06BAD0EB}"/>
              </a:ext>
            </a:extLst>
          </p:cNvPr>
          <p:cNvSpPr/>
          <p:nvPr/>
        </p:nvSpPr>
        <p:spPr>
          <a:xfrm>
            <a:off x="1061537" y="4635226"/>
            <a:ext cx="298765" cy="315381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1FFC1B82-66F1-1663-82FD-387AA78A5897}"/>
              </a:ext>
            </a:extLst>
          </p:cNvPr>
          <p:cNvSpPr/>
          <p:nvPr/>
        </p:nvSpPr>
        <p:spPr>
          <a:xfrm>
            <a:off x="1061535" y="5355885"/>
            <a:ext cx="298765" cy="315381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989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570A31F-5004-5E47-89F6-AC4280F002D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97FD22-9CBF-CE40-AAB1-3B9C7FFBFDF6}"/>
              </a:ext>
            </a:extLst>
          </p:cNvPr>
          <p:cNvSpPr/>
          <p:nvPr/>
        </p:nvSpPr>
        <p:spPr>
          <a:xfrm>
            <a:off x="622929" y="520700"/>
            <a:ext cx="3631571" cy="706766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Bones of the Elbow Joint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9E7373E-D181-D349-8677-7C9D424313A1}"/>
              </a:ext>
            </a:extLst>
          </p:cNvPr>
          <p:cNvSpPr/>
          <p:nvPr/>
        </p:nvSpPr>
        <p:spPr>
          <a:xfrm>
            <a:off x="622930" y="1688135"/>
            <a:ext cx="7176364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5D65E7-A192-514D-8DE8-E4B39D5F58E2}"/>
              </a:ext>
            </a:extLst>
          </p:cNvPr>
          <p:cNvSpPr txBox="1"/>
          <p:nvPr/>
        </p:nvSpPr>
        <p:spPr>
          <a:xfrm>
            <a:off x="919207" y="1776675"/>
            <a:ext cx="4213780" cy="2932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Clr>
                <a:schemeClr val="tx1"/>
              </a:buClr>
              <a:buSzPct val="100000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Comprises of 3 bones</a:t>
            </a:r>
          </a:p>
          <a:p>
            <a:pPr>
              <a:lnSpc>
                <a:spcPct val="200000"/>
              </a:lnSpc>
              <a:buClr>
                <a:schemeClr val="tx1"/>
              </a:buClr>
              <a:buSzPct val="100000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 Humerus</a:t>
            </a:r>
          </a:p>
          <a:p>
            <a:pPr>
              <a:lnSpc>
                <a:spcPct val="200000"/>
              </a:lnSpc>
              <a:buClr>
                <a:schemeClr val="tx1"/>
              </a:buClr>
              <a:buSzPct val="100000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 Ulna</a:t>
            </a:r>
          </a:p>
          <a:p>
            <a:pPr>
              <a:lnSpc>
                <a:spcPct val="200000"/>
              </a:lnSpc>
              <a:buClr>
                <a:schemeClr val="tx1"/>
              </a:buClr>
              <a:buSzPct val="100000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 Radius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54C111F4-4418-7340-9685-5C4FADC2CF8E}"/>
              </a:ext>
            </a:extLst>
          </p:cNvPr>
          <p:cNvSpPr/>
          <p:nvPr/>
        </p:nvSpPr>
        <p:spPr>
          <a:xfrm>
            <a:off x="983696" y="2849615"/>
            <a:ext cx="298765" cy="315381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1F35221A-15AE-CD47-B4A8-3AB5B0DDB09A}"/>
              </a:ext>
            </a:extLst>
          </p:cNvPr>
          <p:cNvSpPr/>
          <p:nvPr/>
        </p:nvSpPr>
        <p:spPr>
          <a:xfrm>
            <a:off x="983696" y="3561298"/>
            <a:ext cx="298765" cy="315381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F5B200B7-9C14-E640-8F25-84DF06BAD0EB}"/>
              </a:ext>
            </a:extLst>
          </p:cNvPr>
          <p:cNvSpPr/>
          <p:nvPr/>
        </p:nvSpPr>
        <p:spPr>
          <a:xfrm>
            <a:off x="983696" y="4306341"/>
            <a:ext cx="298765" cy="315381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 descr="A skeleton of a hand with a knife&#10;&#10;Description automatically generated">
            <a:extLst>
              <a:ext uri="{FF2B5EF4-FFF2-40B4-BE49-F238E27FC236}">
                <a16:creationId xmlns:a16="http://schemas.microsoft.com/office/drawing/2014/main" id="{1FCB49E3-FD4F-3E6D-FC0A-327F29A6399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449"/>
          <a:stretch/>
        </p:blipFill>
        <p:spPr>
          <a:xfrm>
            <a:off x="4757530" y="2171700"/>
            <a:ext cx="5797041" cy="43479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8AE37C9-0A53-E35B-8599-1CC6E5A228A7}"/>
              </a:ext>
            </a:extLst>
          </p:cNvPr>
          <p:cNvCxnSpPr>
            <a:cxnSpLocks/>
          </p:cNvCxnSpPr>
          <p:nvPr/>
        </p:nvCxnSpPr>
        <p:spPr>
          <a:xfrm>
            <a:off x="8631286" y="2697769"/>
            <a:ext cx="771954" cy="1561724"/>
          </a:xfrm>
          <a:prstGeom prst="straightConnector1">
            <a:avLst/>
          </a:prstGeom>
          <a:ln w="28575">
            <a:solidFill>
              <a:schemeClr val="tx1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5BBD5EB-9A70-2DD0-48D6-36B312741AF7}"/>
              </a:ext>
            </a:extLst>
          </p:cNvPr>
          <p:cNvCxnSpPr>
            <a:cxnSpLocks/>
          </p:cNvCxnSpPr>
          <p:nvPr/>
        </p:nvCxnSpPr>
        <p:spPr>
          <a:xfrm>
            <a:off x="7307007" y="3305533"/>
            <a:ext cx="1112179" cy="2574004"/>
          </a:xfrm>
          <a:prstGeom prst="straightConnector1">
            <a:avLst/>
          </a:prstGeom>
          <a:ln w="28575">
            <a:solidFill>
              <a:schemeClr val="tx1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1CC948B-5B3D-E1CB-CA10-C0499B643919}"/>
              </a:ext>
            </a:extLst>
          </p:cNvPr>
          <p:cNvCxnSpPr>
            <a:cxnSpLocks/>
          </p:cNvCxnSpPr>
          <p:nvPr/>
        </p:nvCxnSpPr>
        <p:spPr>
          <a:xfrm>
            <a:off x="5923796" y="4011759"/>
            <a:ext cx="571718" cy="1170806"/>
          </a:xfrm>
          <a:prstGeom prst="straightConnector1">
            <a:avLst/>
          </a:prstGeom>
          <a:ln w="28575">
            <a:solidFill>
              <a:schemeClr val="tx1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2CD87FE-AB65-5695-1312-4E45E70A6546}"/>
              </a:ext>
            </a:extLst>
          </p:cNvPr>
          <p:cNvSpPr/>
          <p:nvPr/>
        </p:nvSpPr>
        <p:spPr>
          <a:xfrm>
            <a:off x="6856563" y="3075199"/>
            <a:ext cx="799487" cy="46066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001" dirty="0">
                <a:solidFill>
                  <a:schemeClr val="tx1"/>
                </a:solidFill>
              </a:rPr>
              <a:t>Ulna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693F8C2-00BD-6D21-5F60-B46FD8E1F04E}"/>
              </a:ext>
            </a:extLst>
          </p:cNvPr>
          <p:cNvSpPr/>
          <p:nvPr/>
        </p:nvSpPr>
        <p:spPr>
          <a:xfrm>
            <a:off x="5524507" y="3798824"/>
            <a:ext cx="1032466" cy="46066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001" dirty="0">
                <a:solidFill>
                  <a:schemeClr val="tx1"/>
                </a:solidFill>
              </a:rPr>
              <a:t>Radius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84A37CA-9609-4E50-B932-CD9CDFE28A3F}"/>
              </a:ext>
            </a:extLst>
          </p:cNvPr>
          <p:cNvSpPr/>
          <p:nvPr/>
        </p:nvSpPr>
        <p:spPr>
          <a:xfrm>
            <a:off x="8011394" y="2467435"/>
            <a:ext cx="1318981" cy="46066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001" dirty="0">
                <a:solidFill>
                  <a:schemeClr val="tx1"/>
                </a:solidFill>
              </a:rPr>
              <a:t>Humerus</a:t>
            </a:r>
          </a:p>
        </p:txBody>
      </p:sp>
    </p:spTree>
    <p:extLst>
      <p:ext uri="{BB962C8B-B14F-4D97-AF65-F5344CB8AC3E}">
        <p14:creationId xmlns:p14="http://schemas.microsoft.com/office/powerpoint/2010/main" val="3814092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570A31F-5004-5E47-89F6-AC4280F002D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97FD22-9CBF-CE40-AAB1-3B9C7FFBFDF6}"/>
              </a:ext>
            </a:extLst>
          </p:cNvPr>
          <p:cNvSpPr/>
          <p:nvPr/>
        </p:nvSpPr>
        <p:spPr>
          <a:xfrm>
            <a:off x="622929" y="520700"/>
            <a:ext cx="4088772" cy="706766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Bony Landmarks - Humerus</a:t>
            </a:r>
          </a:p>
        </p:txBody>
      </p:sp>
      <p:pic>
        <p:nvPicPr>
          <p:cNvPr id="7" name="Picture 6" descr="http://classconnection.s3.amazonaws.com/523/flashcards/1182523/png/humerus1331053164165.png">
            <a:extLst>
              <a:ext uri="{FF2B5EF4-FFF2-40B4-BE49-F238E27FC236}">
                <a16:creationId xmlns:a16="http://schemas.microsoft.com/office/drawing/2014/main" id="{8D3BB59A-95E5-DDEE-2021-AB6B0C7128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11"/>
          <a:stretch/>
        </p:blipFill>
        <p:spPr bwMode="auto">
          <a:xfrm>
            <a:off x="2178322" y="1386537"/>
            <a:ext cx="6834473" cy="52699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49ED079-F52D-3EBC-F140-AE78E8419BE3}"/>
              </a:ext>
            </a:extLst>
          </p:cNvPr>
          <p:cNvSpPr/>
          <p:nvPr/>
        </p:nvSpPr>
        <p:spPr>
          <a:xfrm>
            <a:off x="3479800" y="1386537"/>
            <a:ext cx="635000" cy="37876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9B49BD6-9325-8C74-98EE-D34269723D18}"/>
              </a:ext>
            </a:extLst>
          </p:cNvPr>
          <p:cNvSpPr/>
          <p:nvPr/>
        </p:nvSpPr>
        <p:spPr>
          <a:xfrm>
            <a:off x="3479800" y="1829442"/>
            <a:ext cx="635000" cy="37876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78062E2-F008-A2CB-5564-922FB15CC1E3}"/>
              </a:ext>
            </a:extLst>
          </p:cNvPr>
          <p:cNvSpPr/>
          <p:nvPr/>
        </p:nvSpPr>
        <p:spPr>
          <a:xfrm>
            <a:off x="3479800" y="2346952"/>
            <a:ext cx="749300" cy="4978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BCB4605-394B-E3D4-4AE7-4E6A89ACB00D}"/>
              </a:ext>
            </a:extLst>
          </p:cNvPr>
          <p:cNvSpPr/>
          <p:nvPr/>
        </p:nvSpPr>
        <p:spPr>
          <a:xfrm>
            <a:off x="5801797" y="1699602"/>
            <a:ext cx="635000" cy="37876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3D26CD5-2ED3-E662-5E3A-836B23CC6B6C}"/>
              </a:ext>
            </a:extLst>
          </p:cNvPr>
          <p:cNvSpPr/>
          <p:nvPr/>
        </p:nvSpPr>
        <p:spPr>
          <a:xfrm>
            <a:off x="8191500" y="5878895"/>
            <a:ext cx="749300" cy="42030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28C74E7-4F6D-763A-CD26-AE8C2F233EC1}"/>
              </a:ext>
            </a:extLst>
          </p:cNvPr>
          <p:cNvSpPr/>
          <p:nvPr/>
        </p:nvSpPr>
        <p:spPr>
          <a:xfrm>
            <a:off x="5744647" y="5668742"/>
            <a:ext cx="749300" cy="42030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700103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570A31F-5004-5E47-89F6-AC4280F002D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97FD22-9CBF-CE40-AAB1-3B9C7FFBFDF6}"/>
              </a:ext>
            </a:extLst>
          </p:cNvPr>
          <p:cNvSpPr/>
          <p:nvPr/>
        </p:nvSpPr>
        <p:spPr>
          <a:xfrm>
            <a:off x="622928" y="406400"/>
            <a:ext cx="5121719" cy="706766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Bony Landmarks - Radius and Ulna</a:t>
            </a:r>
          </a:p>
        </p:txBody>
      </p:sp>
      <p:pic>
        <p:nvPicPr>
          <p:cNvPr id="25" name="Picture 4" descr="http://www.daviddarling.info/images/radius_and_ulna.jpg">
            <a:extLst>
              <a:ext uri="{FF2B5EF4-FFF2-40B4-BE49-F238E27FC236}">
                <a16:creationId xmlns:a16="http://schemas.microsoft.com/office/drawing/2014/main" id="{D0DE4A00-390F-434F-ED4D-182E041BD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0696" y="1239859"/>
            <a:ext cx="6165304" cy="53550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4A70F5D-66F1-2103-8EB1-400AAEC64C3C}"/>
              </a:ext>
            </a:extLst>
          </p:cNvPr>
          <p:cNvSpPr/>
          <p:nvPr/>
        </p:nvSpPr>
        <p:spPr>
          <a:xfrm>
            <a:off x="3454483" y="1339794"/>
            <a:ext cx="1511217" cy="64140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37CB7FD-595F-422F-3A48-00B4D9456BA4}"/>
              </a:ext>
            </a:extLst>
          </p:cNvPr>
          <p:cNvSpPr/>
          <p:nvPr/>
        </p:nvSpPr>
        <p:spPr>
          <a:xfrm>
            <a:off x="6184983" y="5953462"/>
            <a:ext cx="2146217" cy="536238"/>
          </a:xfrm>
          <a:prstGeom prst="roundRect">
            <a:avLst>
              <a:gd name="adj" fmla="val 37982"/>
            </a:avLst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001" b="1" dirty="0">
                <a:solidFill>
                  <a:schemeClr val="tx1"/>
                </a:solidFill>
              </a:rPr>
              <a:t>Styloid process of ulna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3916C82-C012-B55C-B9D2-570C193EC46F}"/>
              </a:ext>
            </a:extLst>
          </p:cNvPr>
          <p:cNvSpPr/>
          <p:nvPr/>
        </p:nvSpPr>
        <p:spPr>
          <a:xfrm>
            <a:off x="2593783" y="6020530"/>
            <a:ext cx="2146217" cy="536238"/>
          </a:xfrm>
          <a:prstGeom prst="roundRect">
            <a:avLst>
              <a:gd name="adj" fmla="val 47456"/>
            </a:avLst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001" b="1" dirty="0">
                <a:solidFill>
                  <a:schemeClr val="tx1"/>
                </a:solidFill>
              </a:rPr>
              <a:t>Styloid process of radius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5AB5FF0-759C-3F7C-579D-688D18B21EBD}"/>
              </a:ext>
            </a:extLst>
          </p:cNvPr>
          <p:cNvSpPr/>
          <p:nvPr/>
        </p:nvSpPr>
        <p:spPr>
          <a:xfrm>
            <a:off x="2540083" y="2055734"/>
            <a:ext cx="1663617" cy="39179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001" sz="2000" b="1" dirty="0">
                <a:solidFill>
                  <a:schemeClr val="tx1"/>
                </a:solidFill>
              </a:rPr>
              <a:t>Radial head</a:t>
            </a:r>
          </a:p>
        </p:txBody>
      </p:sp>
    </p:spTree>
    <p:extLst>
      <p:ext uri="{BB962C8B-B14F-4D97-AF65-F5344CB8AC3E}">
        <p14:creationId xmlns:p14="http://schemas.microsoft.com/office/powerpoint/2010/main" val="4190282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570A31F-5004-5E47-89F6-AC4280F002D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97FD22-9CBF-CE40-AAB1-3B9C7FFBFDF6}"/>
              </a:ext>
            </a:extLst>
          </p:cNvPr>
          <p:cNvSpPr/>
          <p:nvPr/>
        </p:nvSpPr>
        <p:spPr>
          <a:xfrm>
            <a:off x="622929" y="520700"/>
            <a:ext cx="4482471" cy="706766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Articulations of the Elbow Joint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9E7373E-D181-D349-8677-7C9D424313A1}"/>
              </a:ext>
            </a:extLst>
          </p:cNvPr>
          <p:cNvSpPr/>
          <p:nvPr/>
        </p:nvSpPr>
        <p:spPr>
          <a:xfrm>
            <a:off x="622930" y="1688135"/>
            <a:ext cx="7176364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5D65E7-A192-514D-8DE8-E4B39D5F58E2}"/>
              </a:ext>
            </a:extLst>
          </p:cNvPr>
          <p:cNvSpPr txBox="1"/>
          <p:nvPr/>
        </p:nvSpPr>
        <p:spPr>
          <a:xfrm>
            <a:off x="919207" y="1776675"/>
            <a:ext cx="6074650" cy="2932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Clr>
                <a:schemeClr val="tx1"/>
              </a:buClr>
              <a:buSzPct val="100000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3 bones make up 3 joints of the elbow</a:t>
            </a:r>
          </a:p>
          <a:p>
            <a:pPr>
              <a:lnSpc>
                <a:spcPct val="200000"/>
              </a:lnSpc>
              <a:buClr>
                <a:schemeClr val="tx1"/>
              </a:buClr>
              <a:buSzPct val="100000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</a:rPr>
              <a:t>Humero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-ulnar joint</a:t>
            </a:r>
          </a:p>
          <a:p>
            <a:pPr>
              <a:lnSpc>
                <a:spcPct val="200000"/>
              </a:lnSpc>
              <a:buClr>
                <a:schemeClr val="tx1"/>
              </a:buClr>
              <a:buSzPct val="100000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</a:rPr>
              <a:t>Humero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-radial joint</a:t>
            </a:r>
          </a:p>
          <a:p>
            <a:pPr>
              <a:lnSpc>
                <a:spcPct val="200000"/>
              </a:lnSpc>
              <a:buClr>
                <a:schemeClr val="tx1"/>
              </a:buClr>
              <a:buSzPct val="100000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 Superior radio-ulnar joint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54C111F4-4418-7340-9685-5C4FADC2CF8E}"/>
              </a:ext>
            </a:extLst>
          </p:cNvPr>
          <p:cNvSpPr/>
          <p:nvPr/>
        </p:nvSpPr>
        <p:spPr>
          <a:xfrm>
            <a:off x="983696" y="2849615"/>
            <a:ext cx="298765" cy="315381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1F35221A-15AE-CD47-B4A8-3AB5B0DDB09A}"/>
              </a:ext>
            </a:extLst>
          </p:cNvPr>
          <p:cNvSpPr/>
          <p:nvPr/>
        </p:nvSpPr>
        <p:spPr>
          <a:xfrm>
            <a:off x="983696" y="3561298"/>
            <a:ext cx="298765" cy="315381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F5B200B7-9C14-E640-8F25-84DF06BAD0EB}"/>
              </a:ext>
            </a:extLst>
          </p:cNvPr>
          <p:cNvSpPr/>
          <p:nvPr/>
        </p:nvSpPr>
        <p:spPr>
          <a:xfrm>
            <a:off x="983696" y="4306341"/>
            <a:ext cx="298765" cy="315381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7" name="Picture 16" descr="A skeleton of a hand with a knife&#10;&#10;Description automatically generated">
            <a:extLst>
              <a:ext uri="{FF2B5EF4-FFF2-40B4-BE49-F238E27FC236}">
                <a16:creationId xmlns:a16="http://schemas.microsoft.com/office/drawing/2014/main" id="{2E2F8412-9DCE-8E8D-AADC-D105EB135C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5537" t="42747" r="7273"/>
          <a:stretch/>
        </p:blipFill>
        <p:spPr>
          <a:xfrm>
            <a:off x="5111842" y="3273796"/>
            <a:ext cx="3539485" cy="33328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5FB1523-4A78-D3BD-570C-95B77A5C7B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0492" y="509851"/>
            <a:ext cx="3556000" cy="3962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1CC948B-5B3D-E1CB-CA10-C0499B643919}"/>
              </a:ext>
            </a:extLst>
          </p:cNvPr>
          <p:cNvCxnSpPr>
            <a:cxnSpLocks/>
          </p:cNvCxnSpPr>
          <p:nvPr/>
        </p:nvCxnSpPr>
        <p:spPr>
          <a:xfrm flipH="1" flipV="1">
            <a:off x="9772261" y="2680996"/>
            <a:ext cx="356588" cy="3206304"/>
          </a:xfrm>
          <a:prstGeom prst="straightConnector1">
            <a:avLst/>
          </a:prstGeom>
          <a:ln w="28575">
            <a:solidFill>
              <a:srgbClr val="FF000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A97E02C-CE6E-ACEC-C05F-E1279A894FDB}"/>
              </a:ext>
            </a:extLst>
          </p:cNvPr>
          <p:cNvCxnSpPr>
            <a:cxnSpLocks/>
          </p:cNvCxnSpPr>
          <p:nvPr/>
        </p:nvCxnSpPr>
        <p:spPr>
          <a:xfrm flipH="1" flipV="1">
            <a:off x="7133880" y="5699241"/>
            <a:ext cx="2994969" cy="188059"/>
          </a:xfrm>
          <a:prstGeom prst="straightConnector1">
            <a:avLst/>
          </a:prstGeom>
          <a:ln w="28575">
            <a:solidFill>
              <a:srgbClr val="FF000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693F8C2-00BD-6D21-5F60-B46FD8E1F04E}"/>
              </a:ext>
            </a:extLst>
          </p:cNvPr>
          <p:cNvSpPr/>
          <p:nvPr/>
        </p:nvSpPr>
        <p:spPr>
          <a:xfrm>
            <a:off x="9974084" y="5656966"/>
            <a:ext cx="1773780" cy="39549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001" sz="1400" dirty="0">
                <a:solidFill>
                  <a:schemeClr val="tx1"/>
                </a:solidFill>
              </a:rPr>
              <a:t>Humero-ulnar joint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D88BB5C-DE01-BF6B-3C64-AD1169F10746}"/>
              </a:ext>
            </a:extLst>
          </p:cNvPr>
          <p:cNvCxnSpPr>
            <a:cxnSpLocks/>
          </p:cNvCxnSpPr>
          <p:nvPr/>
        </p:nvCxnSpPr>
        <p:spPr>
          <a:xfrm flipV="1">
            <a:off x="6824430" y="2505533"/>
            <a:ext cx="2267319" cy="388177"/>
          </a:xfrm>
          <a:prstGeom prst="straightConnector1">
            <a:avLst/>
          </a:prstGeom>
          <a:ln w="28575">
            <a:solidFill>
              <a:srgbClr val="00B05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1051485-6474-F332-1560-9B4BA49E1F7A}"/>
              </a:ext>
            </a:extLst>
          </p:cNvPr>
          <p:cNvCxnSpPr>
            <a:cxnSpLocks/>
          </p:cNvCxnSpPr>
          <p:nvPr/>
        </p:nvCxnSpPr>
        <p:spPr>
          <a:xfrm>
            <a:off x="6733688" y="3007305"/>
            <a:ext cx="182921" cy="2420650"/>
          </a:xfrm>
          <a:prstGeom prst="straightConnector1">
            <a:avLst/>
          </a:prstGeom>
          <a:ln w="28575">
            <a:solidFill>
              <a:srgbClr val="00B05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63BADE7-E2EE-0D0D-2DEF-6D5FF67C1DE5}"/>
              </a:ext>
            </a:extLst>
          </p:cNvPr>
          <p:cNvSpPr/>
          <p:nvPr/>
        </p:nvSpPr>
        <p:spPr>
          <a:xfrm>
            <a:off x="5240637" y="2667363"/>
            <a:ext cx="1773780" cy="39549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001" sz="1400" dirty="0">
                <a:solidFill>
                  <a:schemeClr val="tx1"/>
                </a:solidFill>
              </a:rPr>
              <a:t>Humero-radial joint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9B28283-6165-256A-0F7E-6FB9ADBD4FF9}"/>
              </a:ext>
            </a:extLst>
          </p:cNvPr>
          <p:cNvCxnSpPr>
            <a:cxnSpLocks/>
          </p:cNvCxnSpPr>
          <p:nvPr/>
        </p:nvCxnSpPr>
        <p:spPr>
          <a:xfrm>
            <a:off x="4801690" y="5427955"/>
            <a:ext cx="1931998" cy="142652"/>
          </a:xfrm>
          <a:prstGeom prst="straightConnector1">
            <a:avLst/>
          </a:prstGeom>
          <a:ln w="28575">
            <a:solidFill>
              <a:srgbClr val="7030A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255ACF36-0071-55E2-9E93-71BE673BA643}"/>
              </a:ext>
            </a:extLst>
          </p:cNvPr>
          <p:cNvSpPr/>
          <p:nvPr/>
        </p:nvSpPr>
        <p:spPr>
          <a:xfrm>
            <a:off x="9300758" y="2646773"/>
            <a:ext cx="152459" cy="152459"/>
          </a:xfrm>
          <a:prstGeom prst="ellipse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D1CB52F-220C-891E-A8F9-F379530EB872}"/>
              </a:ext>
            </a:extLst>
          </p:cNvPr>
          <p:cNvSpPr/>
          <p:nvPr/>
        </p:nvSpPr>
        <p:spPr>
          <a:xfrm>
            <a:off x="4747251" y="4410338"/>
            <a:ext cx="152459" cy="152459"/>
          </a:xfrm>
          <a:prstGeom prst="ellipse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3B7D12F-20BB-C366-4951-53BC6A8F2BB6}"/>
              </a:ext>
            </a:extLst>
          </p:cNvPr>
          <p:cNvSpPr/>
          <p:nvPr/>
        </p:nvSpPr>
        <p:spPr>
          <a:xfrm>
            <a:off x="3988322" y="3672638"/>
            <a:ext cx="152459" cy="152459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C631C2C-536F-F823-69D2-8532F890B97C}"/>
              </a:ext>
            </a:extLst>
          </p:cNvPr>
          <p:cNvSpPr/>
          <p:nvPr/>
        </p:nvSpPr>
        <p:spPr>
          <a:xfrm>
            <a:off x="3911417" y="2931037"/>
            <a:ext cx="152459" cy="152459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A99C2C54-721B-091B-F909-1CDA1ADA0132}"/>
              </a:ext>
            </a:extLst>
          </p:cNvPr>
          <p:cNvSpPr/>
          <p:nvPr/>
        </p:nvSpPr>
        <p:spPr>
          <a:xfrm>
            <a:off x="2760617" y="5175115"/>
            <a:ext cx="2181643" cy="39549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001" sz="1400" dirty="0">
                <a:solidFill>
                  <a:schemeClr val="tx1"/>
                </a:solidFill>
              </a:rPr>
              <a:t>Superior radio-ulnar joint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FC7504-1F04-8AFE-8A03-D1A7072F64B0}"/>
              </a:ext>
            </a:extLst>
          </p:cNvPr>
          <p:cNvSpPr txBox="1"/>
          <p:nvPr/>
        </p:nvSpPr>
        <p:spPr>
          <a:xfrm>
            <a:off x="9332076" y="1468898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001" sz="1400" dirty="0"/>
              <a:t>humerus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68A2B-3F82-2001-3CDC-9319B46EA842}"/>
              </a:ext>
            </a:extLst>
          </p:cNvPr>
          <p:cNvSpPr txBox="1"/>
          <p:nvPr/>
        </p:nvSpPr>
        <p:spPr>
          <a:xfrm>
            <a:off x="8076747" y="3757480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001" sz="1400" dirty="0"/>
              <a:t>radius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C881FF-5BF4-A8DA-ADCE-6D636B76BC19}"/>
              </a:ext>
            </a:extLst>
          </p:cNvPr>
          <p:cNvSpPr txBox="1"/>
          <p:nvPr/>
        </p:nvSpPr>
        <p:spPr>
          <a:xfrm>
            <a:off x="9105711" y="4048231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001" sz="1400" dirty="0"/>
              <a:t>ulna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4AD62F-66D2-8D93-A5CB-D531F5CB4A07}"/>
              </a:ext>
            </a:extLst>
          </p:cNvPr>
          <p:cNvSpPr txBox="1"/>
          <p:nvPr/>
        </p:nvSpPr>
        <p:spPr>
          <a:xfrm>
            <a:off x="6193435" y="5599704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001" sz="1400" dirty="0"/>
              <a:t>ulna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315BEE-DA08-BE8D-28F2-5000E9233194}"/>
              </a:ext>
            </a:extLst>
          </p:cNvPr>
          <p:cNvSpPr txBox="1"/>
          <p:nvPr/>
        </p:nvSpPr>
        <p:spPr>
          <a:xfrm>
            <a:off x="5118969" y="4889843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001" sz="1400" dirty="0"/>
              <a:t>radius</a:t>
            </a:r>
          </a:p>
        </p:txBody>
      </p:sp>
    </p:spTree>
    <p:extLst>
      <p:ext uri="{BB962C8B-B14F-4D97-AF65-F5344CB8AC3E}">
        <p14:creationId xmlns:p14="http://schemas.microsoft.com/office/powerpoint/2010/main" val="1723013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7" grpId="0" animBg="1"/>
      <p:bldP spid="41" grpId="0" animBg="1"/>
      <p:bldP spid="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570A31F-5004-5E47-89F6-AC4280F002D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97FD22-9CBF-CE40-AAB1-3B9C7FFBFDF6}"/>
              </a:ext>
            </a:extLst>
          </p:cNvPr>
          <p:cNvSpPr/>
          <p:nvPr/>
        </p:nvSpPr>
        <p:spPr>
          <a:xfrm>
            <a:off x="622929" y="520700"/>
            <a:ext cx="6110759" cy="706766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</a:rPr>
              <a:t>Humero</a:t>
            </a:r>
            <a:r>
              <a:rPr lang="en-US" sz="2400" dirty="0">
                <a:solidFill>
                  <a:schemeClr val="tx1"/>
                </a:solidFill>
              </a:rPr>
              <a:t>-ulnar joint and </a:t>
            </a:r>
            <a:r>
              <a:rPr lang="en-US" sz="2400" dirty="0" err="1">
                <a:solidFill>
                  <a:schemeClr val="tx1"/>
                </a:solidFill>
              </a:rPr>
              <a:t>Humero</a:t>
            </a:r>
            <a:r>
              <a:rPr lang="en-US" sz="2400" dirty="0">
                <a:solidFill>
                  <a:schemeClr val="tx1"/>
                </a:solidFill>
              </a:rPr>
              <a:t>-radial joint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9E7373E-D181-D349-8677-7C9D424313A1}"/>
              </a:ext>
            </a:extLst>
          </p:cNvPr>
          <p:cNvSpPr/>
          <p:nvPr/>
        </p:nvSpPr>
        <p:spPr>
          <a:xfrm>
            <a:off x="622930" y="1688135"/>
            <a:ext cx="7176364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5D65E7-A192-514D-8DE8-E4B39D5F58E2}"/>
              </a:ext>
            </a:extLst>
          </p:cNvPr>
          <p:cNvSpPr txBox="1"/>
          <p:nvPr/>
        </p:nvSpPr>
        <p:spPr>
          <a:xfrm>
            <a:off x="926861" y="2041989"/>
            <a:ext cx="607465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en-GB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synovial hinge joint -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uni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-axial</a:t>
            </a:r>
          </a:p>
          <a:p>
            <a:pPr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en-GB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Movements available: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flexion / extension</a:t>
            </a:r>
          </a:p>
          <a:p>
            <a:pPr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en-GB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 of movement: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sagittal</a:t>
            </a:r>
          </a:p>
          <a:p>
            <a:pPr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en-GB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Axis of movement 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medial-lateral </a:t>
            </a:r>
          </a:p>
          <a:p>
            <a:pPr>
              <a:spcAft>
                <a:spcPts val="1200"/>
              </a:spcAft>
              <a:buClr>
                <a:schemeClr val="tx1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Humero-ulnar joint articulation:</a:t>
            </a:r>
          </a:p>
          <a:p>
            <a:pPr marL="342900" indent="-342900">
              <a:buClr>
                <a:srgbClr val="FF0000"/>
              </a:buClr>
              <a:buSzPct val="100000"/>
              <a:buFont typeface="Wingdings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trochlea of humerus &amp; trochlea notch of ulna</a:t>
            </a:r>
          </a:p>
          <a:p>
            <a:pPr>
              <a:buClr>
                <a:schemeClr val="tx1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Humero-radial joint articulation:</a:t>
            </a:r>
          </a:p>
          <a:p>
            <a:pPr marL="342900" indent="-342900">
              <a:buClr>
                <a:srgbClr val="00B050"/>
              </a:buClr>
              <a:buSzPct val="100000"/>
              <a:buFont typeface="Wingdings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capitulum of humerus and head of radius</a:t>
            </a:r>
          </a:p>
        </p:txBody>
      </p:sp>
      <p:pic>
        <p:nvPicPr>
          <p:cNvPr id="3" name="Picture 2" descr="A diagram of a bone joint&#10;&#10;Description automatically generated">
            <a:extLst>
              <a:ext uri="{FF2B5EF4-FFF2-40B4-BE49-F238E27FC236}">
                <a16:creationId xmlns:a16="http://schemas.microsoft.com/office/drawing/2014/main" id="{C79FA5C6-E885-0943-1C2E-E5FF9E3BBE0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901"/>
          <a:stretch/>
        </p:blipFill>
        <p:spPr>
          <a:xfrm>
            <a:off x="7473924" y="644219"/>
            <a:ext cx="3589533" cy="22655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pic>
        <p:nvPicPr>
          <p:cNvPr id="7" name="Picture 6" descr="A diagram of the bones of a human knee&#10;&#10;Description automatically generated">
            <a:extLst>
              <a:ext uri="{FF2B5EF4-FFF2-40B4-BE49-F238E27FC236}">
                <a16:creationId xmlns:a16="http://schemas.microsoft.com/office/drawing/2014/main" id="{E66EA80D-2F47-8918-5343-EEDD0B38105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0666"/>
          <a:stretch/>
        </p:blipFill>
        <p:spPr>
          <a:xfrm>
            <a:off x="6520328" y="3140073"/>
            <a:ext cx="4643211" cy="34395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pic>
        <p:nvPicPr>
          <p:cNvPr id="10" name="Picture 9" descr="A close-up of a human knee&#10;&#10;Description automatically generated">
            <a:extLst>
              <a:ext uri="{FF2B5EF4-FFF2-40B4-BE49-F238E27FC236}">
                <a16:creationId xmlns:a16="http://schemas.microsoft.com/office/drawing/2014/main" id="{4C9F5561-FC83-93D4-65A1-26E532BC8A9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28704"/>
          <a:stretch/>
        </p:blipFill>
        <p:spPr>
          <a:xfrm>
            <a:off x="10831158" y="4724400"/>
            <a:ext cx="867962" cy="17252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051FAE7-82B0-C2F5-3DAF-01BE28F8A6A3}"/>
              </a:ext>
            </a:extLst>
          </p:cNvPr>
          <p:cNvSpPr/>
          <p:nvPr/>
        </p:nvSpPr>
        <p:spPr>
          <a:xfrm>
            <a:off x="9836350" y="4356100"/>
            <a:ext cx="1155700" cy="228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BF0600B-2FC6-F3A8-C858-7E3482EC01E0}"/>
              </a:ext>
            </a:extLst>
          </p:cNvPr>
          <p:cNvSpPr/>
          <p:nvPr/>
        </p:nvSpPr>
        <p:spPr>
          <a:xfrm>
            <a:off x="7305442" y="4724400"/>
            <a:ext cx="937918" cy="228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D6B80D0-F438-794C-92E8-B8AE5B0D5F07}"/>
              </a:ext>
            </a:extLst>
          </p:cNvPr>
          <p:cNvSpPr/>
          <p:nvPr/>
        </p:nvSpPr>
        <p:spPr>
          <a:xfrm>
            <a:off x="6526660" y="4167475"/>
            <a:ext cx="1272634" cy="22860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00FF0F-7AEE-BC28-821B-98C0E8E229EF}"/>
              </a:ext>
            </a:extLst>
          </p:cNvPr>
          <p:cNvSpPr/>
          <p:nvPr/>
        </p:nvSpPr>
        <p:spPr>
          <a:xfrm>
            <a:off x="6604110" y="5078254"/>
            <a:ext cx="441584" cy="2030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6933A7C-0191-C548-9428-A102395CBBCD}"/>
              </a:ext>
            </a:extLst>
          </p:cNvPr>
          <p:cNvSpPr/>
          <p:nvPr/>
        </p:nvSpPr>
        <p:spPr>
          <a:xfrm>
            <a:off x="6986951" y="5081191"/>
            <a:ext cx="937918" cy="225663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001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Radial head</a:t>
            </a:r>
          </a:p>
        </p:txBody>
      </p:sp>
    </p:spTree>
    <p:extLst>
      <p:ext uri="{BB962C8B-B14F-4D97-AF65-F5344CB8AC3E}">
        <p14:creationId xmlns:p14="http://schemas.microsoft.com/office/powerpoint/2010/main" val="1662836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570A31F-5004-5E47-89F6-AC4280F002D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97FD22-9CBF-CE40-AAB1-3B9C7FFBFDF6}"/>
              </a:ext>
            </a:extLst>
          </p:cNvPr>
          <p:cNvSpPr/>
          <p:nvPr/>
        </p:nvSpPr>
        <p:spPr>
          <a:xfrm>
            <a:off x="622930" y="520700"/>
            <a:ext cx="5065176" cy="706766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Superior (proximal) radio-ulnar joint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9E7373E-D181-D349-8677-7C9D424313A1}"/>
              </a:ext>
            </a:extLst>
          </p:cNvPr>
          <p:cNvSpPr/>
          <p:nvPr/>
        </p:nvSpPr>
        <p:spPr>
          <a:xfrm>
            <a:off x="622930" y="1688135"/>
            <a:ext cx="7176364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5D65E7-A192-514D-8DE8-E4B39D5F58E2}"/>
              </a:ext>
            </a:extLst>
          </p:cNvPr>
          <p:cNvSpPr txBox="1"/>
          <p:nvPr/>
        </p:nvSpPr>
        <p:spPr>
          <a:xfrm>
            <a:off x="926860" y="1933430"/>
            <a:ext cx="5718715" cy="4170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en-GB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synovial pivot joint -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uni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-axial</a:t>
            </a:r>
          </a:p>
          <a:p>
            <a:pPr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en-GB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Movements available: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pronation / supination</a:t>
            </a:r>
          </a:p>
          <a:p>
            <a:pPr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en-GB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 of movement: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transverse</a:t>
            </a:r>
          </a:p>
          <a:p>
            <a:pPr>
              <a:spcAft>
                <a:spcPts val="1800"/>
              </a:spcAft>
              <a:buClr>
                <a:schemeClr val="tx1"/>
              </a:buClr>
              <a:buSzPct val="100000"/>
            </a:pPr>
            <a:r>
              <a:rPr lang="en-GB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Axis of movement 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superior-inferior </a:t>
            </a:r>
          </a:p>
          <a:p>
            <a:pPr marL="342900" indent="-342900">
              <a:spcAft>
                <a:spcPts val="600"/>
              </a:spcAft>
              <a:buClr>
                <a:schemeClr val="tx1"/>
              </a:buClr>
              <a:buSzPct val="100000"/>
              <a:buFontTx/>
              <a:buChar char="-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formed by the head of the radius and the radial notch (trochlea notch) of the ulna </a:t>
            </a:r>
          </a:p>
          <a:p>
            <a:pPr>
              <a:spcAft>
                <a:spcPts val="1800"/>
              </a:spcAft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    enclosed within the elbow joint capsule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Annular ligament encircles head of radius.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Strong fibrous ring that surrounds the  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outside of radial head to prevent dislocation</a:t>
            </a:r>
          </a:p>
        </p:txBody>
      </p:sp>
      <p:pic>
        <p:nvPicPr>
          <p:cNvPr id="31" name="Picture 30" descr="A diagram of the bones of the knee&#10;&#10;Description automatically generated">
            <a:extLst>
              <a:ext uri="{FF2B5EF4-FFF2-40B4-BE49-F238E27FC236}">
                <a16:creationId xmlns:a16="http://schemas.microsoft.com/office/drawing/2014/main" id="{847C2DF9-0D4E-EFDB-78B3-7261E2D502E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592" b="12157"/>
          <a:stretch/>
        </p:blipFill>
        <p:spPr>
          <a:xfrm>
            <a:off x="6645576" y="616355"/>
            <a:ext cx="4143210" cy="39970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33" name="Freeform 32">
            <a:extLst>
              <a:ext uri="{FF2B5EF4-FFF2-40B4-BE49-F238E27FC236}">
                <a16:creationId xmlns:a16="http://schemas.microsoft.com/office/drawing/2014/main" id="{B8ADE6A5-A0E6-47C8-0061-160FADAFA15A}"/>
              </a:ext>
            </a:extLst>
          </p:cNvPr>
          <p:cNvSpPr/>
          <p:nvPr/>
        </p:nvSpPr>
        <p:spPr>
          <a:xfrm>
            <a:off x="8579466" y="2680434"/>
            <a:ext cx="89914" cy="461639"/>
          </a:xfrm>
          <a:custGeom>
            <a:avLst/>
            <a:gdLst>
              <a:gd name="connsiteX0" fmla="*/ 8878 w 62494"/>
              <a:gd name="connsiteY0" fmla="*/ 0 h 461639"/>
              <a:gd name="connsiteX1" fmla="*/ 53266 w 62494"/>
              <a:gd name="connsiteY1" fmla="*/ 35511 h 461639"/>
              <a:gd name="connsiteX2" fmla="*/ 62144 w 62494"/>
              <a:gd name="connsiteY2" fmla="*/ 62144 h 461639"/>
              <a:gd name="connsiteX3" fmla="*/ 44388 w 62494"/>
              <a:gd name="connsiteY3" fmla="*/ 337351 h 461639"/>
              <a:gd name="connsiteX4" fmla="*/ 17755 w 62494"/>
              <a:gd name="connsiteY4" fmla="*/ 443884 h 461639"/>
              <a:gd name="connsiteX5" fmla="*/ 0 w 62494"/>
              <a:gd name="connsiteY5" fmla="*/ 461639 h 461639"/>
              <a:gd name="connsiteX0" fmla="*/ 8878 w 157019"/>
              <a:gd name="connsiteY0" fmla="*/ 0 h 461639"/>
              <a:gd name="connsiteX1" fmla="*/ 53266 w 157019"/>
              <a:gd name="connsiteY1" fmla="*/ 35511 h 461639"/>
              <a:gd name="connsiteX2" fmla="*/ 62144 w 157019"/>
              <a:gd name="connsiteY2" fmla="*/ 62144 h 461639"/>
              <a:gd name="connsiteX3" fmla="*/ 153755 w 157019"/>
              <a:gd name="connsiteY3" fmla="*/ 337351 h 461639"/>
              <a:gd name="connsiteX4" fmla="*/ 17755 w 157019"/>
              <a:gd name="connsiteY4" fmla="*/ 443884 h 461639"/>
              <a:gd name="connsiteX5" fmla="*/ 0 w 157019"/>
              <a:gd name="connsiteY5" fmla="*/ 461639 h 461639"/>
              <a:gd name="connsiteX0" fmla="*/ 8878 w 158364"/>
              <a:gd name="connsiteY0" fmla="*/ 0 h 461639"/>
              <a:gd name="connsiteX1" fmla="*/ 53266 w 158364"/>
              <a:gd name="connsiteY1" fmla="*/ 35511 h 461639"/>
              <a:gd name="connsiteX2" fmla="*/ 62144 w 158364"/>
              <a:gd name="connsiteY2" fmla="*/ 62144 h 461639"/>
              <a:gd name="connsiteX3" fmla="*/ 153755 w 158364"/>
              <a:gd name="connsiteY3" fmla="*/ 337351 h 461639"/>
              <a:gd name="connsiteX4" fmla="*/ 17755 w 158364"/>
              <a:gd name="connsiteY4" fmla="*/ 443884 h 461639"/>
              <a:gd name="connsiteX5" fmla="*/ 0 w 158364"/>
              <a:gd name="connsiteY5" fmla="*/ 461639 h 461639"/>
              <a:gd name="connsiteX0" fmla="*/ 8878 w 167346"/>
              <a:gd name="connsiteY0" fmla="*/ 0 h 461639"/>
              <a:gd name="connsiteX1" fmla="*/ 53266 w 167346"/>
              <a:gd name="connsiteY1" fmla="*/ 35511 h 461639"/>
              <a:gd name="connsiteX2" fmla="*/ 62144 w 167346"/>
              <a:gd name="connsiteY2" fmla="*/ 62144 h 461639"/>
              <a:gd name="connsiteX3" fmla="*/ 163013 w 167346"/>
              <a:gd name="connsiteY3" fmla="*/ 266231 h 461639"/>
              <a:gd name="connsiteX4" fmla="*/ 17755 w 167346"/>
              <a:gd name="connsiteY4" fmla="*/ 443884 h 461639"/>
              <a:gd name="connsiteX5" fmla="*/ 0 w 167346"/>
              <a:gd name="connsiteY5" fmla="*/ 461639 h 461639"/>
              <a:gd name="connsiteX0" fmla="*/ 8878 w 136090"/>
              <a:gd name="connsiteY0" fmla="*/ 0 h 461639"/>
              <a:gd name="connsiteX1" fmla="*/ 53266 w 136090"/>
              <a:gd name="connsiteY1" fmla="*/ 35511 h 461639"/>
              <a:gd name="connsiteX2" fmla="*/ 62144 w 136090"/>
              <a:gd name="connsiteY2" fmla="*/ 62144 h 461639"/>
              <a:gd name="connsiteX3" fmla="*/ 130609 w 136090"/>
              <a:gd name="connsiteY3" fmla="*/ 259458 h 461639"/>
              <a:gd name="connsiteX4" fmla="*/ 17755 w 136090"/>
              <a:gd name="connsiteY4" fmla="*/ 443884 h 461639"/>
              <a:gd name="connsiteX5" fmla="*/ 0 w 136090"/>
              <a:gd name="connsiteY5" fmla="*/ 461639 h 461639"/>
              <a:gd name="connsiteX0" fmla="*/ 8878 w 122905"/>
              <a:gd name="connsiteY0" fmla="*/ 0 h 461639"/>
              <a:gd name="connsiteX1" fmla="*/ 53266 w 122905"/>
              <a:gd name="connsiteY1" fmla="*/ 35511 h 461639"/>
              <a:gd name="connsiteX2" fmla="*/ 62144 w 122905"/>
              <a:gd name="connsiteY2" fmla="*/ 62144 h 461639"/>
              <a:gd name="connsiteX3" fmla="*/ 116721 w 122905"/>
              <a:gd name="connsiteY3" fmla="*/ 262845 h 461639"/>
              <a:gd name="connsiteX4" fmla="*/ 17755 w 122905"/>
              <a:gd name="connsiteY4" fmla="*/ 443884 h 461639"/>
              <a:gd name="connsiteX5" fmla="*/ 0 w 122905"/>
              <a:gd name="connsiteY5" fmla="*/ 461639 h 46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905" h="461639">
                <a:moveTo>
                  <a:pt x="8878" y="0"/>
                </a:moveTo>
                <a:cubicBezTo>
                  <a:pt x="23674" y="11837"/>
                  <a:pt x="40935" y="21124"/>
                  <a:pt x="53266" y="35511"/>
                </a:cubicBezTo>
                <a:cubicBezTo>
                  <a:pt x="59356" y="42616"/>
                  <a:pt x="51568" y="24255"/>
                  <a:pt x="62144" y="62144"/>
                </a:cubicBezTo>
                <a:cubicBezTo>
                  <a:pt x="72720" y="100033"/>
                  <a:pt x="144020" y="142208"/>
                  <a:pt x="116721" y="262845"/>
                </a:cubicBezTo>
                <a:cubicBezTo>
                  <a:pt x="108831" y="297712"/>
                  <a:pt x="32164" y="429475"/>
                  <a:pt x="17755" y="443884"/>
                </a:cubicBezTo>
                <a:lnTo>
                  <a:pt x="0" y="461639"/>
                </a:ln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pic>
        <p:nvPicPr>
          <p:cNvPr id="35" name="Picture 34" descr="A diagram of a knee joint&#10;&#10;Description automatically generated">
            <a:extLst>
              <a:ext uri="{FF2B5EF4-FFF2-40B4-BE49-F238E27FC236}">
                <a16:creationId xmlns:a16="http://schemas.microsoft.com/office/drawing/2014/main" id="{4BEAC2F9-665F-2330-BA56-E9B30ECCA6A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305" b="9711"/>
          <a:stretch/>
        </p:blipFill>
        <p:spPr>
          <a:xfrm>
            <a:off x="7450497" y="4731550"/>
            <a:ext cx="2208978" cy="18330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B7D719A-EDFD-CC60-88AF-D7D09EFF9F97}"/>
              </a:ext>
            </a:extLst>
          </p:cNvPr>
          <p:cNvCxnSpPr>
            <a:cxnSpLocks/>
          </p:cNvCxnSpPr>
          <p:nvPr/>
        </p:nvCxnSpPr>
        <p:spPr>
          <a:xfrm flipV="1">
            <a:off x="8073872" y="6003109"/>
            <a:ext cx="203644" cy="283627"/>
          </a:xfrm>
          <a:prstGeom prst="straightConnector1">
            <a:avLst/>
          </a:prstGeom>
          <a:ln w="28575">
            <a:solidFill>
              <a:schemeClr val="tx1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ight Arrow 38">
            <a:extLst>
              <a:ext uri="{FF2B5EF4-FFF2-40B4-BE49-F238E27FC236}">
                <a16:creationId xmlns:a16="http://schemas.microsoft.com/office/drawing/2014/main" id="{12FC6839-B7BB-C5AC-973D-553C0B222ACF}"/>
              </a:ext>
            </a:extLst>
          </p:cNvPr>
          <p:cNvSpPr/>
          <p:nvPr/>
        </p:nvSpPr>
        <p:spPr>
          <a:xfrm>
            <a:off x="1015436" y="5130109"/>
            <a:ext cx="223442" cy="235869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999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F1D6699-2ACF-7DBE-6FC4-4905BB37AFD1}"/>
              </a:ext>
            </a:extLst>
          </p:cNvPr>
          <p:cNvSpPr/>
          <p:nvPr/>
        </p:nvSpPr>
        <p:spPr>
          <a:xfrm>
            <a:off x="834886" y="2027582"/>
            <a:ext cx="4174435" cy="38431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CE78616-F607-D946-9785-A664599504D7}"/>
              </a:ext>
            </a:extLst>
          </p:cNvPr>
          <p:cNvSpPr/>
          <p:nvPr/>
        </p:nvSpPr>
        <p:spPr>
          <a:xfrm>
            <a:off x="834887" y="3928302"/>
            <a:ext cx="4174434" cy="38431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570A31F-5004-5E47-89F6-AC4280F002D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97FD22-9CBF-CE40-AAB1-3B9C7FFBFDF6}"/>
              </a:ext>
            </a:extLst>
          </p:cNvPr>
          <p:cNvSpPr/>
          <p:nvPr/>
        </p:nvSpPr>
        <p:spPr>
          <a:xfrm>
            <a:off x="622930" y="520700"/>
            <a:ext cx="2955157" cy="706766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Stability: Ligaments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9E7373E-D181-D349-8677-7C9D424313A1}"/>
              </a:ext>
            </a:extLst>
          </p:cNvPr>
          <p:cNvSpPr/>
          <p:nvPr/>
        </p:nvSpPr>
        <p:spPr>
          <a:xfrm>
            <a:off x="622930" y="1688135"/>
            <a:ext cx="7176364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5D65E7-A192-514D-8DE8-E4B39D5F58E2}"/>
              </a:ext>
            </a:extLst>
          </p:cNvPr>
          <p:cNvSpPr txBox="1"/>
          <p:nvPr/>
        </p:nvSpPr>
        <p:spPr>
          <a:xfrm>
            <a:off x="889063" y="2011555"/>
            <a:ext cx="6691182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Lateral (radial) Collateral Ligament 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 on lateral side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 strong band from lateral epicondyle to annular ligament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resists varus force applied to joint 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	(forced adduction of forearm)</a:t>
            </a:r>
          </a:p>
          <a:p>
            <a:pPr>
              <a:buClr>
                <a:schemeClr val="tx1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Medial (ulnar) Collateral Ligament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 on medial side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- 3 bands: anterior, posterior, intermediate (transverse)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 fan / triangular shaped arrangement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Role: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resists valgus force applied to joint 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	(forced abduction of forearm)</a:t>
            </a:r>
          </a:p>
        </p:txBody>
      </p:sp>
      <p:pic>
        <p:nvPicPr>
          <p:cNvPr id="7" name="Picture 6" descr="A close-up of the bones of the elbow&#10;&#10;Description automatically generated">
            <a:extLst>
              <a:ext uri="{FF2B5EF4-FFF2-40B4-BE49-F238E27FC236}">
                <a16:creationId xmlns:a16="http://schemas.microsoft.com/office/drawing/2014/main" id="{D08B47DA-D6A9-2FC7-C2BB-8FF5D8453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2002" y="3697335"/>
            <a:ext cx="2897533" cy="28975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pic>
        <p:nvPicPr>
          <p:cNvPr id="10" name="Picture 9" descr="A bones of the elbow&#10;&#10;Description automatically generated">
            <a:extLst>
              <a:ext uri="{FF2B5EF4-FFF2-40B4-BE49-F238E27FC236}">
                <a16:creationId xmlns:a16="http://schemas.microsoft.com/office/drawing/2014/main" id="{0F0BF4F8-CB28-DB64-3E6D-95B2F4CAD7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2001" y="578815"/>
            <a:ext cx="2897533" cy="28975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C32C957-752C-7C2B-18CB-CD84820D6FE1}"/>
              </a:ext>
            </a:extLst>
          </p:cNvPr>
          <p:cNvSpPr/>
          <p:nvPr/>
        </p:nvSpPr>
        <p:spPr>
          <a:xfrm>
            <a:off x="9682619" y="3131507"/>
            <a:ext cx="814192" cy="3100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F9643E3-E8B1-B005-1B18-04A61C088A65}"/>
              </a:ext>
            </a:extLst>
          </p:cNvPr>
          <p:cNvSpPr/>
          <p:nvPr/>
        </p:nvSpPr>
        <p:spPr>
          <a:xfrm>
            <a:off x="9688882" y="6259122"/>
            <a:ext cx="814192" cy="3100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223902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570A31F-5004-5E47-89F6-AC4280F002D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97FD22-9CBF-CE40-AAB1-3B9C7FFBFDF6}"/>
              </a:ext>
            </a:extLst>
          </p:cNvPr>
          <p:cNvSpPr/>
          <p:nvPr/>
        </p:nvSpPr>
        <p:spPr>
          <a:xfrm>
            <a:off x="622930" y="520700"/>
            <a:ext cx="4386391" cy="706766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Muscles acting over the elbow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9E7373E-D181-D349-8677-7C9D424313A1}"/>
              </a:ext>
            </a:extLst>
          </p:cNvPr>
          <p:cNvSpPr/>
          <p:nvPr/>
        </p:nvSpPr>
        <p:spPr>
          <a:xfrm>
            <a:off x="622930" y="1688135"/>
            <a:ext cx="7176364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5D65E7-A192-514D-8DE8-E4B39D5F58E2}"/>
              </a:ext>
            </a:extLst>
          </p:cNvPr>
          <p:cNvSpPr txBox="1"/>
          <p:nvPr/>
        </p:nvSpPr>
        <p:spPr>
          <a:xfrm>
            <a:off x="889063" y="2011555"/>
            <a:ext cx="6691182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n-GB" sz="2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Flexion:	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Biceps brachii (in supination)</a:t>
            </a:r>
          </a:p>
          <a:p>
            <a:pPr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	 Brachioradialis (in mid / functional position)</a:t>
            </a:r>
          </a:p>
          <a:p>
            <a:pPr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	 Brachialis (in pronation)</a:t>
            </a:r>
          </a:p>
          <a:p>
            <a:pPr>
              <a:spcAft>
                <a:spcPts val="600"/>
              </a:spcAft>
              <a:buClr>
                <a:schemeClr val="tx1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n-GB" sz="2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Extension: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Triceps brachii &amp;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anconeus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buClr>
                <a:schemeClr val="tx1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n-GB" sz="2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Pronation: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Pronator teres &amp; pronator quadratus</a:t>
            </a:r>
          </a:p>
          <a:p>
            <a:pPr>
              <a:spcAft>
                <a:spcPts val="600"/>
              </a:spcAft>
              <a:buClr>
                <a:schemeClr val="tx1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n-GB" sz="2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Supination: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Supinator &amp; biceps brachii</a:t>
            </a:r>
          </a:p>
          <a:p>
            <a:pPr>
              <a:spcAft>
                <a:spcPts val="600"/>
              </a:spcAft>
              <a:buClr>
                <a:schemeClr val="tx1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866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570A31F-5004-5E47-89F6-AC4280F002D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97FD22-9CBF-CE40-AAB1-3B9C7FFBFDF6}"/>
              </a:ext>
            </a:extLst>
          </p:cNvPr>
          <p:cNvSpPr/>
          <p:nvPr/>
        </p:nvSpPr>
        <p:spPr>
          <a:xfrm>
            <a:off x="622931" y="520700"/>
            <a:ext cx="1334824" cy="706766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Flexors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9E7373E-D181-D349-8677-7C9D424313A1}"/>
              </a:ext>
            </a:extLst>
          </p:cNvPr>
          <p:cNvSpPr/>
          <p:nvPr/>
        </p:nvSpPr>
        <p:spPr>
          <a:xfrm>
            <a:off x="622930" y="1688135"/>
            <a:ext cx="7176364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5D65E7-A192-514D-8DE8-E4B39D5F58E2}"/>
              </a:ext>
            </a:extLst>
          </p:cNvPr>
          <p:cNvSpPr txBox="1"/>
          <p:nvPr/>
        </p:nvSpPr>
        <p:spPr>
          <a:xfrm>
            <a:off x="1108112" y="1860541"/>
            <a:ext cx="669118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buSzPct val="100000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Biceps brachii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 flexor with hand supinated (shoulder)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long head - supraglenoid tubercle of scapula 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 short head - coracoid process of the scapula 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radial tuberosity</a:t>
            </a:r>
          </a:p>
          <a:p>
            <a:pPr>
              <a:buClr>
                <a:schemeClr val="tx1"/>
              </a:buClr>
              <a:buSzPct val="100000"/>
            </a:pPr>
            <a:endParaRPr lang="en-GB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SzPct val="100000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Brachioradialis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- flexor with hand in mid prone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lateral humerus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radial styloid process</a:t>
            </a:r>
          </a:p>
          <a:p>
            <a:pPr>
              <a:buClr>
                <a:schemeClr val="tx1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SzPct val="100000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Brachialis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- flexor with hand in prone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mid anterior border of humerus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coronoid process</a:t>
            </a: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E6C6DEF5-9DA0-B464-C567-D1E4B47D485F}"/>
              </a:ext>
            </a:extLst>
          </p:cNvPr>
          <p:cNvSpPr/>
          <p:nvPr/>
        </p:nvSpPr>
        <p:spPr>
          <a:xfrm>
            <a:off x="809347" y="1912793"/>
            <a:ext cx="298765" cy="315381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394AFA8B-58BD-CC6B-F2F5-2BBCE625C190}"/>
              </a:ext>
            </a:extLst>
          </p:cNvPr>
          <p:cNvSpPr/>
          <p:nvPr/>
        </p:nvSpPr>
        <p:spPr>
          <a:xfrm>
            <a:off x="809347" y="3429881"/>
            <a:ext cx="298765" cy="315381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0C52EF4B-2183-5E74-5F6F-472FCAC57359}"/>
              </a:ext>
            </a:extLst>
          </p:cNvPr>
          <p:cNvSpPr/>
          <p:nvPr/>
        </p:nvSpPr>
        <p:spPr>
          <a:xfrm>
            <a:off x="809346" y="4646411"/>
            <a:ext cx="298765" cy="315381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Screen Recording 2024-08-12 at 16.44.33">
            <a:hlinkClick r:id="" action="ppaction://media"/>
            <a:extLst>
              <a:ext uri="{FF2B5EF4-FFF2-40B4-BE49-F238E27FC236}">
                <a16:creationId xmlns:a16="http://schemas.microsoft.com/office/drawing/2014/main" id="{F3B9276D-24AD-8D6F-04F1-F6BAEA8471F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921924" y="446022"/>
            <a:ext cx="2181741" cy="3248922"/>
          </a:xfrm>
          <a:prstGeom prst="roundRect">
            <a:avLst>
              <a:gd name="adj" fmla="val 5439"/>
            </a:avLst>
          </a:prstGeom>
          <a:ln>
            <a:noFill/>
          </a:ln>
          <a:effectLst>
            <a:innerShdw blurRad="114300" dist="50800">
              <a:srgbClr val="000000">
                <a:alpha val="0"/>
              </a:srgbClr>
            </a:innerShdw>
          </a:effectLst>
        </p:spPr>
      </p:pic>
      <p:pic>
        <p:nvPicPr>
          <p:cNvPr id="21" name="Picture 20" descr="A diagram of the arm muscles&#10;&#10;Description automatically generated">
            <a:extLst>
              <a:ext uri="{FF2B5EF4-FFF2-40B4-BE49-F238E27FC236}">
                <a16:creationId xmlns:a16="http://schemas.microsoft.com/office/drawing/2014/main" id="{498A720B-0D3C-B3B7-458F-250054A8C07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3346"/>
          <a:stretch/>
        </p:blipFill>
        <p:spPr>
          <a:xfrm>
            <a:off x="5734753" y="3860186"/>
            <a:ext cx="6142686" cy="27962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26702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570A31F-5004-5E47-89F6-AC4280F002D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97FD22-9CBF-CE40-AAB1-3B9C7FFBFDF6}"/>
              </a:ext>
            </a:extLst>
          </p:cNvPr>
          <p:cNvSpPr/>
          <p:nvPr/>
        </p:nvSpPr>
        <p:spPr>
          <a:xfrm>
            <a:off x="622931" y="520700"/>
            <a:ext cx="1676132" cy="706766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Extensors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9E7373E-D181-D349-8677-7C9D424313A1}"/>
              </a:ext>
            </a:extLst>
          </p:cNvPr>
          <p:cNvSpPr/>
          <p:nvPr/>
        </p:nvSpPr>
        <p:spPr>
          <a:xfrm>
            <a:off x="622930" y="1688135"/>
            <a:ext cx="7176364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5D65E7-A192-514D-8DE8-E4B39D5F58E2}"/>
              </a:ext>
            </a:extLst>
          </p:cNvPr>
          <p:cNvSpPr txBox="1"/>
          <p:nvPr/>
        </p:nvSpPr>
        <p:spPr>
          <a:xfrm>
            <a:off x="1108111" y="1860541"/>
            <a:ext cx="650999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buSzPct val="100000"/>
            </a:pPr>
            <a:r>
              <a:rPr lang="en-GB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Anconeus</a:t>
            </a: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	- assists elbow extension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dorsal side of the lateral epicondyle of humerus</a:t>
            </a:r>
            <a:r>
              <a:rPr lang="en-GB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I: 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olecranon of the ulna</a:t>
            </a:r>
          </a:p>
          <a:p>
            <a:pPr>
              <a:buClr>
                <a:schemeClr val="tx1"/>
              </a:buClr>
              <a:buSzPct val="100000"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SzPct val="100000"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SzPct val="100000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Triceps brachii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(in shoulder lecture)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	- main extensor muscle of the elbow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long head -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infraglenoid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tubercle of the scapula   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 lateral head - humerus (superior to radial groove)  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 medial head - humerus (inferior to radial groove) </a:t>
            </a:r>
            <a:endParaRPr lang="en-GB" sz="20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SzPct val="100000"/>
            </a:pPr>
            <a:r>
              <a:rPr lang="en-GB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distally, the heads converge into one tendon which 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 inserts onto the olecranon of the ulna</a:t>
            </a: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E6C6DEF5-9DA0-B464-C567-D1E4B47D485F}"/>
              </a:ext>
            </a:extLst>
          </p:cNvPr>
          <p:cNvSpPr/>
          <p:nvPr/>
        </p:nvSpPr>
        <p:spPr>
          <a:xfrm>
            <a:off x="809347" y="1912793"/>
            <a:ext cx="298765" cy="315381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394AFA8B-58BD-CC6B-F2F5-2BBCE625C190}"/>
              </a:ext>
            </a:extLst>
          </p:cNvPr>
          <p:cNvSpPr/>
          <p:nvPr/>
        </p:nvSpPr>
        <p:spPr>
          <a:xfrm>
            <a:off x="809347" y="3749564"/>
            <a:ext cx="298765" cy="315381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7" name="Picture 16" descr="A close-up of a human body&#10;&#10;Description automatically generated">
            <a:extLst>
              <a:ext uri="{FF2B5EF4-FFF2-40B4-BE49-F238E27FC236}">
                <a16:creationId xmlns:a16="http://schemas.microsoft.com/office/drawing/2014/main" id="{BEBD2FF0-F93D-0F6C-77E7-388C72E27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1124" y="279363"/>
            <a:ext cx="2163677" cy="30913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pic>
        <p:nvPicPr>
          <p:cNvPr id="19" name="Picture 18" descr="A close-up of a human body&#10;&#10;Description automatically generated">
            <a:extLst>
              <a:ext uri="{FF2B5EF4-FFF2-40B4-BE49-F238E27FC236}">
                <a16:creationId xmlns:a16="http://schemas.microsoft.com/office/drawing/2014/main" id="{8F1EBA67-0BDB-AEC1-B5B7-0BDD9EA739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1124" y="3509504"/>
            <a:ext cx="2163677" cy="30913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5AA71D-A235-7FBF-3CB4-7F51B9F11D8F}"/>
              </a:ext>
            </a:extLst>
          </p:cNvPr>
          <p:cNvCxnSpPr>
            <a:cxnSpLocks/>
          </p:cNvCxnSpPr>
          <p:nvPr/>
        </p:nvCxnSpPr>
        <p:spPr>
          <a:xfrm flipH="1">
            <a:off x="9012795" y="2070483"/>
            <a:ext cx="697913" cy="623651"/>
          </a:xfrm>
          <a:prstGeom prst="straightConnector1">
            <a:avLst/>
          </a:prstGeom>
          <a:ln w="1270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EC7FE2E-A613-F075-5C26-F628B8B77C95}"/>
              </a:ext>
            </a:extLst>
          </p:cNvPr>
          <p:cNvSpPr txBox="1"/>
          <p:nvPr/>
        </p:nvSpPr>
        <p:spPr>
          <a:xfrm>
            <a:off x="9667816" y="1825039"/>
            <a:ext cx="849641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001" sz="1200" dirty="0"/>
              <a:t>anconeus</a:t>
            </a:r>
          </a:p>
        </p:txBody>
      </p:sp>
    </p:spTree>
    <p:extLst>
      <p:ext uri="{BB962C8B-B14F-4D97-AF65-F5344CB8AC3E}">
        <p14:creationId xmlns:p14="http://schemas.microsoft.com/office/powerpoint/2010/main" val="185503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570A31F-5004-5E47-89F6-AC4280F002D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97FD22-9CBF-CE40-AAB1-3B9C7FFBFDF6}"/>
              </a:ext>
            </a:extLst>
          </p:cNvPr>
          <p:cNvSpPr/>
          <p:nvPr/>
        </p:nvSpPr>
        <p:spPr>
          <a:xfrm>
            <a:off x="622930" y="520700"/>
            <a:ext cx="1637669" cy="706766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Pronators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9E7373E-D181-D349-8677-7C9D424313A1}"/>
              </a:ext>
            </a:extLst>
          </p:cNvPr>
          <p:cNvSpPr/>
          <p:nvPr/>
        </p:nvSpPr>
        <p:spPr>
          <a:xfrm>
            <a:off x="622930" y="1688135"/>
            <a:ext cx="7176364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5D65E7-A192-514D-8DE8-E4B39D5F58E2}"/>
              </a:ext>
            </a:extLst>
          </p:cNvPr>
          <p:cNvSpPr txBox="1"/>
          <p:nvPr/>
        </p:nvSpPr>
        <p:spPr>
          <a:xfrm>
            <a:off x="1108112" y="2292341"/>
            <a:ext cx="510218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buSzPct val="100000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Pronator teres 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medial epicondyle and coronoid process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lateral border of radius (mid shaft)</a:t>
            </a:r>
          </a:p>
          <a:p>
            <a:pPr>
              <a:buClr>
                <a:schemeClr val="tx1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SzPct val="100000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Pronator quadratus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distal medial border of ulnar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distal lateral border of radius</a:t>
            </a:r>
          </a:p>
          <a:p>
            <a:pPr>
              <a:buClr>
                <a:schemeClr val="tx1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human arm muscles and bones&#10;&#10;Description automatically generated">
            <a:extLst>
              <a:ext uri="{FF2B5EF4-FFF2-40B4-BE49-F238E27FC236}">
                <a16:creationId xmlns:a16="http://schemas.microsoft.com/office/drawing/2014/main" id="{00386E71-420B-2EF9-9E1D-F92ECA13285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420" r="27222"/>
          <a:stretch/>
        </p:blipFill>
        <p:spPr>
          <a:xfrm>
            <a:off x="6720160" y="201535"/>
            <a:ext cx="2472716" cy="5334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pic>
        <p:nvPicPr>
          <p:cNvPr id="13" name="Picture 12" descr="A skeleton of the arm&#10;&#10;Description automatically generated">
            <a:extLst>
              <a:ext uri="{FF2B5EF4-FFF2-40B4-BE49-F238E27FC236}">
                <a16:creationId xmlns:a16="http://schemas.microsoft.com/office/drawing/2014/main" id="{58CB4056-A088-51CD-0DAA-0271D8948BF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6958" r="26850"/>
          <a:stretch/>
        </p:blipFill>
        <p:spPr>
          <a:xfrm>
            <a:off x="9451707" y="1344759"/>
            <a:ext cx="2325712" cy="5334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14" name="Right Arrow 13">
            <a:extLst>
              <a:ext uri="{FF2B5EF4-FFF2-40B4-BE49-F238E27FC236}">
                <a16:creationId xmlns:a16="http://schemas.microsoft.com/office/drawing/2014/main" id="{0874385D-B6EC-1DAF-1A1D-7A4E0B815AE0}"/>
              </a:ext>
            </a:extLst>
          </p:cNvPr>
          <p:cNvSpPr/>
          <p:nvPr/>
        </p:nvSpPr>
        <p:spPr>
          <a:xfrm>
            <a:off x="809347" y="2330441"/>
            <a:ext cx="298765" cy="315381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D3EBD620-8EA6-EB11-F051-A4393BA6ED7C}"/>
              </a:ext>
            </a:extLst>
          </p:cNvPr>
          <p:cNvSpPr/>
          <p:nvPr/>
        </p:nvSpPr>
        <p:spPr>
          <a:xfrm>
            <a:off x="809347" y="4149821"/>
            <a:ext cx="298765" cy="315381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91C7EF0-05B7-5E10-5F5E-7C901C2EB5CB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7425253" y="766059"/>
            <a:ext cx="736442" cy="1036615"/>
          </a:xfrm>
          <a:prstGeom prst="straightConnector1">
            <a:avLst/>
          </a:prstGeom>
          <a:ln w="1270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1E2CC7B-1250-DA15-B72F-8EE96F69D96B}"/>
              </a:ext>
            </a:extLst>
          </p:cNvPr>
          <p:cNvSpPr txBox="1"/>
          <p:nvPr/>
        </p:nvSpPr>
        <p:spPr>
          <a:xfrm>
            <a:off x="6848199" y="489060"/>
            <a:ext cx="1154107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P</a:t>
            </a:r>
            <a:r>
              <a:rPr lang="en-001" sz="1200" dirty="0"/>
              <a:t>ronator teres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2833E54-8CE2-6339-4A42-4DC8C7C5890E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10000255" y="3415251"/>
            <a:ext cx="831709" cy="982353"/>
          </a:xfrm>
          <a:prstGeom prst="straightConnector1">
            <a:avLst/>
          </a:prstGeom>
          <a:ln w="1270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6EC8A64-A5C1-F0D1-9DCD-D9A2A1D2739B}"/>
              </a:ext>
            </a:extLst>
          </p:cNvPr>
          <p:cNvSpPr txBox="1"/>
          <p:nvPr/>
        </p:nvSpPr>
        <p:spPr>
          <a:xfrm>
            <a:off x="9554943" y="2953586"/>
            <a:ext cx="890623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P</a:t>
            </a:r>
            <a:r>
              <a:rPr lang="en-001" sz="1200" dirty="0"/>
              <a:t>ronator quadratus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3D33F9F-DD5C-4540-82D8-45009EDDBB9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0861"/>
          <a:stretch/>
        </p:blipFill>
        <p:spPr>
          <a:xfrm>
            <a:off x="4974369" y="4122592"/>
            <a:ext cx="1600671" cy="23236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8E5EE11-AFF3-5395-00C2-E37B22197047}"/>
              </a:ext>
            </a:extLst>
          </p:cNvPr>
          <p:cNvSpPr txBox="1"/>
          <p:nvPr/>
        </p:nvSpPr>
        <p:spPr>
          <a:xfrm>
            <a:off x="9385292" y="756322"/>
            <a:ext cx="121415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Anterior view</a:t>
            </a:r>
            <a:endParaRPr lang="en-001" sz="1200" dirty="0"/>
          </a:p>
        </p:txBody>
      </p:sp>
    </p:spTree>
    <p:extLst>
      <p:ext uri="{BB962C8B-B14F-4D97-AF65-F5344CB8AC3E}">
        <p14:creationId xmlns:p14="http://schemas.microsoft.com/office/powerpoint/2010/main" val="475585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570A31F-5004-5E47-89F6-AC4280F002D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97FD22-9CBF-CE40-AAB1-3B9C7FFBFDF6}"/>
              </a:ext>
            </a:extLst>
          </p:cNvPr>
          <p:cNvSpPr/>
          <p:nvPr/>
        </p:nvSpPr>
        <p:spPr>
          <a:xfrm>
            <a:off x="622930" y="520700"/>
            <a:ext cx="1688470" cy="706766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Supinator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9E7373E-D181-D349-8677-7C9D424313A1}"/>
              </a:ext>
            </a:extLst>
          </p:cNvPr>
          <p:cNvSpPr/>
          <p:nvPr/>
        </p:nvSpPr>
        <p:spPr>
          <a:xfrm>
            <a:off x="622930" y="1688135"/>
            <a:ext cx="7176364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5D65E7-A192-514D-8DE8-E4B39D5F58E2}"/>
              </a:ext>
            </a:extLst>
          </p:cNvPr>
          <p:cNvSpPr txBox="1"/>
          <p:nvPr/>
        </p:nvSpPr>
        <p:spPr>
          <a:xfrm>
            <a:off x="1108112" y="2292341"/>
            <a:ext cx="51910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buSzPct val="100000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Supinator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Lateral epicondyle of the humerus,   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 posterior part of the ulna, radial collateral 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 ligament &amp; annular ligament</a:t>
            </a:r>
          </a:p>
          <a:p>
            <a:pPr>
              <a:buClr>
                <a:schemeClr val="tx1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SzPct val="100000"/>
            </a:pPr>
            <a:r>
              <a:rPr lang="en-GB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Lateral and dorsal surface of the upper 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 third of the radius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0874385D-B6EC-1DAF-1A1D-7A4E0B815AE0}"/>
              </a:ext>
            </a:extLst>
          </p:cNvPr>
          <p:cNvSpPr/>
          <p:nvPr/>
        </p:nvSpPr>
        <p:spPr>
          <a:xfrm>
            <a:off x="809347" y="2330441"/>
            <a:ext cx="298765" cy="315381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 descr="A skeleton with a green band&#10;&#10;Description automatically generated with medium confidence">
            <a:extLst>
              <a:ext uri="{FF2B5EF4-FFF2-40B4-BE49-F238E27FC236}">
                <a16:creationId xmlns:a16="http://schemas.microsoft.com/office/drawing/2014/main" id="{F3AD561A-DA37-9808-1F8B-E5814BE9AB2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009" r="25805"/>
          <a:stretch/>
        </p:blipFill>
        <p:spPr>
          <a:xfrm>
            <a:off x="8997506" y="874083"/>
            <a:ext cx="2189855" cy="5435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pic>
        <p:nvPicPr>
          <p:cNvPr id="6" name="Picture 5" descr="A close-up of a human body&#10;&#10;Description automatically generated">
            <a:extLst>
              <a:ext uri="{FF2B5EF4-FFF2-40B4-BE49-F238E27FC236}">
                <a16:creationId xmlns:a16="http://schemas.microsoft.com/office/drawing/2014/main" id="{34192AB4-49DD-B7F6-402C-A1FD628E30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1665" y="324827"/>
            <a:ext cx="2005106" cy="35089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CE1CA7-3DB3-801D-2282-8D9197EF361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0860"/>
          <a:stretch/>
        </p:blipFill>
        <p:spPr>
          <a:xfrm>
            <a:off x="6934863" y="4064097"/>
            <a:ext cx="1785801" cy="25923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FFD6A6-9351-FC72-0E01-8EB67291DDE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2954" b="71753" l="16783" r="82262">
                        <a14:foregroundMark x1="16783" y1="44307" x2="16783" y2="44307"/>
                        <a14:foregroundMark x1="17170" y1="49212" x2="17170" y2="49212"/>
                        <a14:foregroundMark x1="45804" y1="39814" x2="55125" y2="40511"/>
                        <a14:foregroundMark x1="55125" y1="40511" x2="75497" y2="30442"/>
                        <a14:foregroundMark x1="75497" y1="30442" x2="80506" y2="24503"/>
                        <a14:foregroundMark x1="82262" y1="24890" x2="82262" y2="24890"/>
                        <a14:foregroundMark x1="32869" y1="22954" x2="32869" y2="22954"/>
                        <a14:foregroundMark x1="42654" y1="23728" x2="42654" y2="23728"/>
                        <a14:foregroundMark x1="43042" y1="24890" x2="43042" y2="24890"/>
                        <a14:foregroundMark x1="52853" y1="24116" x2="52853" y2="24116"/>
                        <a14:foregroundMark x1="28944" y1="69404" x2="36948" y2="70075"/>
                        <a14:foregroundMark x1="36948" y1="70075" x2="44694" y2="69997"/>
                        <a14:foregroundMark x1="44694" y1="69997" x2="52672" y2="70359"/>
                        <a14:foregroundMark x1="52672" y1="70359" x2="58146" y2="69997"/>
                        <a14:foregroundMark x1="43042" y1="71753" x2="43042" y2="71753"/>
                      </a14:backgroundRemoval>
                    </a14:imgEffect>
                  </a14:imgLayer>
                </a14:imgProps>
              </a:ext>
            </a:extLst>
          </a:blip>
          <a:srcRect l="12269" t="19036" r="13525" b="24819"/>
          <a:stretch/>
        </p:blipFill>
        <p:spPr>
          <a:xfrm>
            <a:off x="7944089" y="5599496"/>
            <a:ext cx="837782" cy="6338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311187A-ECC1-CCD1-CCBA-F0305AD214F8}"/>
              </a:ext>
            </a:extLst>
          </p:cNvPr>
          <p:cNvSpPr txBox="1"/>
          <p:nvPr/>
        </p:nvSpPr>
        <p:spPr>
          <a:xfrm rot="20230264">
            <a:off x="7882211" y="5130828"/>
            <a:ext cx="882781" cy="458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omic Sans MS" panose="030F0902030302020204" pitchFamily="66" charset="0"/>
              </a:rPr>
              <a:t>GOOD SOUP!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4D2833-6E15-FA63-A6F8-89578D1B60B3}"/>
              </a:ext>
            </a:extLst>
          </p:cNvPr>
          <p:cNvSpPr txBox="1"/>
          <p:nvPr/>
        </p:nvSpPr>
        <p:spPr>
          <a:xfrm>
            <a:off x="9012795" y="409817"/>
            <a:ext cx="1179717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Posterior view</a:t>
            </a:r>
            <a:endParaRPr lang="en-001" sz="1200" dirty="0"/>
          </a:p>
        </p:txBody>
      </p:sp>
    </p:spTree>
    <p:extLst>
      <p:ext uri="{BB962C8B-B14F-4D97-AF65-F5344CB8AC3E}">
        <p14:creationId xmlns:p14="http://schemas.microsoft.com/office/powerpoint/2010/main" val="93286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570A31F-5004-5E47-89F6-AC4280F002D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97FD22-9CBF-CE40-AAB1-3B9C7FFBFDF6}"/>
              </a:ext>
            </a:extLst>
          </p:cNvPr>
          <p:cNvSpPr/>
          <p:nvPr/>
        </p:nvSpPr>
        <p:spPr>
          <a:xfrm>
            <a:off x="622930" y="520700"/>
            <a:ext cx="4291970" cy="706766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Function: The Carrying Angle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9E7373E-D181-D349-8677-7C9D424313A1}"/>
              </a:ext>
            </a:extLst>
          </p:cNvPr>
          <p:cNvSpPr/>
          <p:nvPr/>
        </p:nvSpPr>
        <p:spPr>
          <a:xfrm>
            <a:off x="622930" y="1688135"/>
            <a:ext cx="7176364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5D65E7-A192-514D-8DE8-E4B39D5F58E2}"/>
              </a:ext>
            </a:extLst>
          </p:cNvPr>
          <p:cNvSpPr txBox="1"/>
          <p:nvPr/>
        </p:nvSpPr>
        <p:spPr>
          <a:xfrm>
            <a:off x="1108112" y="1965735"/>
            <a:ext cx="467351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Carrying angle is an acute angle formed between the arm and forearm when in the anatomical position</a:t>
            </a:r>
          </a:p>
          <a:p>
            <a:pPr>
              <a:buClr>
                <a:schemeClr val="tx1"/>
              </a:buClr>
              <a:buSzPct val="100000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Joint between humerus &amp; radius/ulna form an angle usually between  5-15°</a:t>
            </a:r>
          </a:p>
          <a:p>
            <a:pPr>
              <a:buClr>
                <a:schemeClr val="tx1"/>
              </a:buClr>
              <a:buSzPct val="100000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Male / female difference - why?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	- same angle before puberty</a:t>
            </a:r>
          </a:p>
          <a:p>
            <a:pPr>
              <a:buClr>
                <a:schemeClr val="tx1"/>
              </a:buClr>
              <a:buSzPct val="100000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Evolutionary reasons: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- arms clear the hips when walking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- carrying a child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0874385D-B6EC-1DAF-1A1D-7A4E0B815AE0}"/>
              </a:ext>
            </a:extLst>
          </p:cNvPr>
          <p:cNvSpPr/>
          <p:nvPr/>
        </p:nvSpPr>
        <p:spPr>
          <a:xfrm>
            <a:off x="809347" y="1965735"/>
            <a:ext cx="298765" cy="315381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 descr="A diagram of a human arm carrying an arm&#10;&#10;Description automatically generated">
            <a:extLst>
              <a:ext uri="{FF2B5EF4-FFF2-40B4-BE49-F238E27FC236}">
                <a16:creationId xmlns:a16="http://schemas.microsoft.com/office/drawing/2014/main" id="{D108F5C6-30EF-75FF-31A9-23B7FEF53B7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251" b="2992"/>
          <a:stretch/>
        </p:blipFill>
        <p:spPr>
          <a:xfrm>
            <a:off x="5882470" y="2123425"/>
            <a:ext cx="5851312" cy="34985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A0993B5-854D-1A19-EFF8-5D534A70EB20}"/>
              </a:ext>
            </a:extLst>
          </p:cNvPr>
          <p:cNvSpPr/>
          <p:nvPr/>
        </p:nvSpPr>
        <p:spPr>
          <a:xfrm>
            <a:off x="8522678" y="2228851"/>
            <a:ext cx="609600" cy="1875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23F485F7-AA87-D8D7-0228-07B0EF35638D}"/>
              </a:ext>
            </a:extLst>
          </p:cNvPr>
          <p:cNvSpPr/>
          <p:nvPr/>
        </p:nvSpPr>
        <p:spPr>
          <a:xfrm>
            <a:off x="809347" y="3096909"/>
            <a:ext cx="298765" cy="315381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E7427EF6-312A-60E1-D493-82E90BF86488}"/>
              </a:ext>
            </a:extLst>
          </p:cNvPr>
          <p:cNvSpPr/>
          <p:nvPr/>
        </p:nvSpPr>
        <p:spPr>
          <a:xfrm>
            <a:off x="809346" y="3915586"/>
            <a:ext cx="298765" cy="315381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926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D959B-52A6-72B6-19AC-0357FAE53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ACDAAE6-B1C7-1583-A890-B21E077A87D1}"/>
              </a:ext>
            </a:extLst>
          </p:cNvPr>
          <p:cNvSpPr/>
          <p:nvPr/>
        </p:nvSpPr>
        <p:spPr>
          <a:xfrm>
            <a:off x="846609" y="2097920"/>
            <a:ext cx="4174435" cy="38431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76ACBF0-A862-E412-E1F8-BCA9322C4253}"/>
              </a:ext>
            </a:extLst>
          </p:cNvPr>
          <p:cNvSpPr/>
          <p:nvPr/>
        </p:nvSpPr>
        <p:spPr>
          <a:xfrm>
            <a:off x="858333" y="4186208"/>
            <a:ext cx="4264652" cy="38431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106810A6-4EBF-B4B4-5450-AAAF0222DD5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61CC22E-7258-839C-7C9B-72EA6CF9D86F}"/>
              </a:ext>
            </a:extLst>
          </p:cNvPr>
          <p:cNvSpPr/>
          <p:nvPr/>
        </p:nvSpPr>
        <p:spPr>
          <a:xfrm>
            <a:off x="622930" y="520700"/>
            <a:ext cx="3503593" cy="706766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Common Elbow Injuries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868E4EF-E15A-322E-39F3-5238E0542433}"/>
              </a:ext>
            </a:extLst>
          </p:cNvPr>
          <p:cNvSpPr/>
          <p:nvPr/>
        </p:nvSpPr>
        <p:spPr>
          <a:xfrm>
            <a:off x="622930" y="1688135"/>
            <a:ext cx="7176364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C63AF2-3089-0C9A-3D70-9CE352F8F302}"/>
              </a:ext>
            </a:extLst>
          </p:cNvPr>
          <p:cNvSpPr txBox="1"/>
          <p:nvPr/>
        </p:nvSpPr>
        <p:spPr>
          <a:xfrm>
            <a:off x="853893" y="2011555"/>
            <a:ext cx="691023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Lateral Epicondylitis (Tennis Elbow)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SzPct val="100000"/>
              <a:buFontTx/>
              <a:buChar char="-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inflammation of the origin of the extensor carpi radialis brevis on the lateral epicondyle</a:t>
            </a:r>
          </a:p>
          <a:p>
            <a:pPr marL="285750" indent="-285750">
              <a:buClr>
                <a:schemeClr val="tx1"/>
              </a:buClr>
              <a:buSzPct val="100000"/>
              <a:buFontTx/>
              <a:buChar char="-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overuse injury from wrist extension</a:t>
            </a:r>
          </a:p>
          <a:p>
            <a:pPr>
              <a:lnSpc>
                <a:spcPct val="150000"/>
              </a:lnSpc>
              <a:buClr>
                <a:schemeClr val="tx1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Medial Epicondylitis (Golfer’s Elbow)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SzPct val="100000"/>
              <a:buFontTx/>
              <a:buChar char="-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tendinosis of the medial common flexor tendons at the common attachment site (enthesis)</a:t>
            </a:r>
          </a:p>
          <a:p>
            <a:pPr marL="285750" indent="-285750">
              <a:spcAft>
                <a:spcPts val="600"/>
              </a:spcAft>
              <a:buClr>
                <a:schemeClr val="tx1"/>
              </a:buClr>
              <a:buSzPct val="100000"/>
              <a:buFontTx/>
              <a:buChar char="-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overuse or repetitive injury from flexion and pronation</a:t>
            </a:r>
          </a:p>
        </p:txBody>
      </p:sp>
      <p:pic>
        <p:nvPicPr>
          <p:cNvPr id="6" name="Picture 5" descr="A close-up of a human arm&#10;&#10;Description automatically generated">
            <a:extLst>
              <a:ext uri="{FF2B5EF4-FFF2-40B4-BE49-F238E27FC236}">
                <a16:creationId xmlns:a16="http://schemas.microsoft.com/office/drawing/2014/main" id="{F5DC51C1-0AFC-C189-C01C-6EC5B038BF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67" b="3761"/>
          <a:stretch/>
        </p:blipFill>
        <p:spPr>
          <a:xfrm>
            <a:off x="7565735" y="1327215"/>
            <a:ext cx="3987801" cy="23100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pic>
        <p:nvPicPr>
          <p:cNvPr id="15" name="Picture 14" descr="A close-up of a human arm&#10;&#10;Description automatically generated">
            <a:extLst>
              <a:ext uri="{FF2B5EF4-FFF2-40B4-BE49-F238E27FC236}">
                <a16:creationId xmlns:a16="http://schemas.microsoft.com/office/drawing/2014/main" id="{62363ECD-815B-1FE4-C7A4-95347733B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5736" y="4186208"/>
            <a:ext cx="3987800" cy="20447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294261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96A2F-EE36-A489-AD90-70B3691F0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511EF098-55E1-19E5-7C45-DE82BAACB20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EBC9D78-3833-29D7-0D75-05C9D2BD3A55}"/>
              </a:ext>
            </a:extLst>
          </p:cNvPr>
          <p:cNvSpPr/>
          <p:nvPr/>
        </p:nvSpPr>
        <p:spPr>
          <a:xfrm>
            <a:off x="622932" y="520699"/>
            <a:ext cx="4252694" cy="824775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Innervation - Brachial Plexus</a:t>
            </a:r>
          </a:p>
          <a:p>
            <a:r>
              <a:rPr lang="en-US" dirty="0">
                <a:solidFill>
                  <a:schemeClr val="tx1"/>
                </a:solidFill>
              </a:rPr>
              <a:t>(relates also to shoulder)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A8E923-6BC5-3D81-81DB-71DA90BB929A}"/>
              </a:ext>
            </a:extLst>
          </p:cNvPr>
          <p:cNvSpPr/>
          <p:nvPr/>
        </p:nvSpPr>
        <p:spPr>
          <a:xfrm>
            <a:off x="622930" y="1688135"/>
            <a:ext cx="7176364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BB266D-2439-DE73-5E1B-6376805FF4F2}"/>
              </a:ext>
            </a:extLst>
          </p:cNvPr>
          <p:cNvSpPr txBox="1"/>
          <p:nvPr/>
        </p:nvSpPr>
        <p:spPr>
          <a:xfrm>
            <a:off x="1108111" y="1965735"/>
            <a:ext cx="5567009" cy="3780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brachial plexus is a bundle of nerves that stems from nerve roots in the cervical and upper thoracic sections of the spinal cord (C5-T1), creating a network that connects to the nerves in the arm.</a:t>
            </a:r>
          </a:p>
          <a:p>
            <a:pPr>
              <a:lnSpc>
                <a:spcPct val="150000"/>
              </a:lnSpc>
              <a:buClr>
                <a:schemeClr val="tx1"/>
              </a:buClr>
              <a:buSzPct val="100000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Clr>
                <a:schemeClr val="tx1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Responsible for cutaneous and muscular innervation of the entire upper limb.</a:t>
            </a:r>
          </a:p>
          <a:p>
            <a:pPr>
              <a:lnSpc>
                <a:spcPct val="150000"/>
              </a:lnSpc>
              <a:buClr>
                <a:schemeClr val="tx1"/>
              </a:buClr>
              <a:buSzPct val="100000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Clr>
                <a:schemeClr val="tx1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Medial cord, lateral cord, posterior cord.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13502B6F-EC12-9A4B-835C-E82E07AC07BF}"/>
              </a:ext>
            </a:extLst>
          </p:cNvPr>
          <p:cNvSpPr/>
          <p:nvPr/>
        </p:nvSpPr>
        <p:spPr>
          <a:xfrm>
            <a:off x="809347" y="2083302"/>
            <a:ext cx="298765" cy="315381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C7711D37-8400-96D5-C180-8DCA8B44ED7A}"/>
              </a:ext>
            </a:extLst>
          </p:cNvPr>
          <p:cNvSpPr/>
          <p:nvPr/>
        </p:nvSpPr>
        <p:spPr>
          <a:xfrm>
            <a:off x="809347" y="4143937"/>
            <a:ext cx="298765" cy="315381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5" name="Picture 24" descr="A diagram of the skeleton&#10;&#10;Description automatically generated">
            <a:extLst>
              <a:ext uri="{FF2B5EF4-FFF2-40B4-BE49-F238E27FC236}">
                <a16:creationId xmlns:a16="http://schemas.microsoft.com/office/drawing/2014/main" id="{1EBF429F-59FF-F9DA-607F-EEE220F67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9959" y="668820"/>
            <a:ext cx="4252694" cy="29261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0432846-4D15-80FD-FC36-4DA6B492A3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1939" y="3845387"/>
            <a:ext cx="4267834" cy="27403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2" name="Right Arrow 1">
            <a:extLst>
              <a:ext uri="{FF2B5EF4-FFF2-40B4-BE49-F238E27FC236}">
                <a16:creationId xmlns:a16="http://schemas.microsoft.com/office/drawing/2014/main" id="{ACE13D22-FBDF-07CF-2713-BB31E8FD061A}"/>
              </a:ext>
            </a:extLst>
          </p:cNvPr>
          <p:cNvSpPr/>
          <p:nvPr/>
        </p:nvSpPr>
        <p:spPr>
          <a:xfrm>
            <a:off x="809345" y="5392565"/>
            <a:ext cx="298765" cy="315381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7E7453A-CD14-2C85-3E39-6D1F0D2B6D66}"/>
              </a:ext>
            </a:extLst>
          </p:cNvPr>
          <p:cNvSpPr/>
          <p:nvPr/>
        </p:nvSpPr>
        <p:spPr>
          <a:xfrm rot="20488025">
            <a:off x="9338726" y="4849321"/>
            <a:ext cx="526377" cy="90556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19788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D97D5-5275-FB2F-11C7-6B4CC927B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B379AF96-4858-7274-C8FF-117A82C3D6B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E43B2D6-BE96-99A7-CADE-30CCC0DE8616}"/>
              </a:ext>
            </a:extLst>
          </p:cNvPr>
          <p:cNvSpPr/>
          <p:nvPr/>
        </p:nvSpPr>
        <p:spPr>
          <a:xfrm>
            <a:off x="622931" y="520700"/>
            <a:ext cx="2181230" cy="706766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Median Nerve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6F50315-817C-0635-42B1-E36C5C1FEE86}"/>
              </a:ext>
            </a:extLst>
          </p:cNvPr>
          <p:cNvSpPr/>
          <p:nvPr/>
        </p:nvSpPr>
        <p:spPr>
          <a:xfrm>
            <a:off x="622930" y="1688135"/>
            <a:ext cx="7176364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C02AFF-E6CC-F283-DB73-2A3AC38F8248}"/>
              </a:ext>
            </a:extLst>
          </p:cNvPr>
          <p:cNvSpPr txBox="1"/>
          <p:nvPr/>
        </p:nvSpPr>
        <p:spPr>
          <a:xfrm>
            <a:off x="803718" y="1960699"/>
            <a:ext cx="486309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Roots: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C6 - T1 </a:t>
            </a:r>
          </a:p>
          <a:p>
            <a:pPr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(from the medial and lateral cords of 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brachial plexus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en-GB" sz="2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Motor Functions: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innervates most of the muscles in the anterior forearm, and some intrinsic hand muscles</a:t>
            </a:r>
          </a:p>
          <a:p>
            <a:pPr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en-GB" sz="2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Sensory Functions: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comes off the palmar cutaneous branch, which innervates the lateral aspect of the palm, and the digital cutaneous branch, which innervates the lateral three and a half fingers on the anterior (palmar) surface of the hand</a:t>
            </a:r>
          </a:p>
        </p:txBody>
      </p:sp>
      <p:pic>
        <p:nvPicPr>
          <p:cNvPr id="2" name="Picture 5" descr="http://contrologypt.com/wp-content/uploads/2016/02/ulnar-radial-median-nerve.jpg">
            <a:extLst>
              <a:ext uri="{FF2B5EF4-FFF2-40B4-BE49-F238E27FC236}">
                <a16:creationId xmlns:a16="http://schemas.microsoft.com/office/drawing/2014/main" id="{A44EEAB9-6E7F-A0CB-F2DE-B285C91C2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2157" y="934768"/>
            <a:ext cx="6048672" cy="40820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4D25B57-705C-DCC9-1A81-B30C786F1D0B}"/>
              </a:ext>
            </a:extLst>
          </p:cNvPr>
          <p:cNvSpPr/>
          <p:nvPr/>
        </p:nvSpPr>
        <p:spPr>
          <a:xfrm>
            <a:off x="8101244" y="1192959"/>
            <a:ext cx="1491329" cy="29078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193464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7C417-C37D-2E52-AD90-7FD099ADB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29BDA60A-93C1-F6BD-0482-92A65BEB9F7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6FACE22-0878-D3BF-19C0-B6E952068EBA}"/>
              </a:ext>
            </a:extLst>
          </p:cNvPr>
          <p:cNvSpPr/>
          <p:nvPr/>
        </p:nvSpPr>
        <p:spPr>
          <a:xfrm>
            <a:off x="622931" y="520700"/>
            <a:ext cx="1947741" cy="706766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Ulnar Nerve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55B9295-D757-F708-D998-86E5F9B60A7D}"/>
              </a:ext>
            </a:extLst>
          </p:cNvPr>
          <p:cNvSpPr/>
          <p:nvPr/>
        </p:nvSpPr>
        <p:spPr>
          <a:xfrm>
            <a:off x="622930" y="1688135"/>
            <a:ext cx="7176364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B35527-E336-C5AC-9625-579349304A61}"/>
              </a:ext>
            </a:extLst>
          </p:cNvPr>
          <p:cNvSpPr txBox="1"/>
          <p:nvPr/>
        </p:nvSpPr>
        <p:spPr>
          <a:xfrm>
            <a:off x="803718" y="1967040"/>
            <a:ext cx="4863095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Roots: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C8 - T1</a:t>
            </a:r>
          </a:p>
          <a:p>
            <a:pPr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(from the medial cord of the brachial plexus)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en-GB" sz="2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Motor Functions: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innervates the muscles of the hand, flexor carpi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ulnaris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and medial half of flexor digitorum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profundus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en-GB" sz="2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Sensory Functions: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innervates the anterior and posterior surfaces of the medial one and half fingers, and associated palm area</a:t>
            </a:r>
          </a:p>
        </p:txBody>
      </p:sp>
      <p:pic>
        <p:nvPicPr>
          <p:cNvPr id="2" name="Picture 5" descr="http://contrologypt.com/wp-content/uploads/2016/02/ulnar-radial-median-nerve.jpg">
            <a:extLst>
              <a:ext uri="{FF2B5EF4-FFF2-40B4-BE49-F238E27FC236}">
                <a16:creationId xmlns:a16="http://schemas.microsoft.com/office/drawing/2014/main" id="{09B83C06-CCB3-A1DC-F0B3-5C9DDC5D1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2157" y="934768"/>
            <a:ext cx="6048672" cy="40820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CCB3A9D-15F3-300D-42B6-720828711E97}"/>
              </a:ext>
            </a:extLst>
          </p:cNvPr>
          <p:cNvSpPr/>
          <p:nvPr/>
        </p:nvSpPr>
        <p:spPr>
          <a:xfrm>
            <a:off x="7816547" y="2702242"/>
            <a:ext cx="1213501" cy="33425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831322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88ED2-526A-96AE-0D8D-55B61ED53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9DE8461-6F39-C2EE-19F7-06EC8FA8839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89B9C7E-F16F-8B03-CD57-FEC6B4792509}"/>
              </a:ext>
            </a:extLst>
          </p:cNvPr>
          <p:cNvSpPr/>
          <p:nvPr/>
        </p:nvSpPr>
        <p:spPr>
          <a:xfrm>
            <a:off x="622931" y="520700"/>
            <a:ext cx="2103016" cy="706766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Radial Nerve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9ECD3EE-DD56-0C1C-4953-BA3BC0F00361}"/>
              </a:ext>
            </a:extLst>
          </p:cNvPr>
          <p:cNvSpPr/>
          <p:nvPr/>
        </p:nvSpPr>
        <p:spPr>
          <a:xfrm>
            <a:off x="622930" y="1688135"/>
            <a:ext cx="7176364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4F6FFC-5285-F0D4-6CBE-34976D58BB6C}"/>
              </a:ext>
            </a:extLst>
          </p:cNvPr>
          <p:cNvSpPr txBox="1"/>
          <p:nvPr/>
        </p:nvSpPr>
        <p:spPr>
          <a:xfrm>
            <a:off x="889062" y="1873530"/>
            <a:ext cx="4863095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Roots: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C5 - T1</a:t>
            </a:r>
            <a:endParaRPr lang="en-GB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(from the posterior cord of the brachial plexus)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en-GB" sz="2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Motor Functions: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innervates the triceps brachii, and the extensor muscles in the posterior compartment of the forearm</a:t>
            </a:r>
          </a:p>
          <a:p>
            <a:pPr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en-GB" sz="2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Sensory Functions: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innervates the posterior aspect of the arm and forearm, and the posterior, lateral aspect of the hand</a:t>
            </a:r>
          </a:p>
        </p:txBody>
      </p:sp>
      <p:pic>
        <p:nvPicPr>
          <p:cNvPr id="2" name="Picture 5" descr="http://contrologypt.com/wp-content/uploads/2016/02/ulnar-radial-median-nerve.jpg">
            <a:extLst>
              <a:ext uri="{FF2B5EF4-FFF2-40B4-BE49-F238E27FC236}">
                <a16:creationId xmlns:a16="http://schemas.microsoft.com/office/drawing/2014/main" id="{2ECABFE6-8FD3-19DE-4563-558A2AB5F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2157" y="934768"/>
            <a:ext cx="6048672" cy="40820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1434E76-B2F4-26F7-C20B-FE4474D746F0}"/>
              </a:ext>
            </a:extLst>
          </p:cNvPr>
          <p:cNvSpPr/>
          <p:nvPr/>
        </p:nvSpPr>
        <p:spPr>
          <a:xfrm>
            <a:off x="7435052" y="4419238"/>
            <a:ext cx="1343316" cy="34254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195556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6E6FE-5FF3-56A6-AA48-B786B5464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B00EE4F9-AC1F-3728-2AC7-0B982DD1EE1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1EC9BD31-C52C-8D21-B129-39989490C1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8908" y="1729889"/>
            <a:ext cx="7772400" cy="3773932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6ECC136-44F2-45E3-C73D-27739F99F191}"/>
              </a:ext>
            </a:extLst>
          </p:cNvPr>
          <p:cNvSpPr/>
          <p:nvPr/>
        </p:nvSpPr>
        <p:spPr>
          <a:xfrm>
            <a:off x="622931" y="520700"/>
            <a:ext cx="6052189" cy="83348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Brachial Plexus branches and innervations</a:t>
            </a:r>
          </a:p>
          <a:p>
            <a:r>
              <a:rPr lang="en-US" dirty="0">
                <a:solidFill>
                  <a:schemeClr val="tx1"/>
                </a:solidFill>
              </a:rPr>
              <a:t>(relates also to shoulder)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535700CD-B53B-1E03-1466-ED61E2F789BB}"/>
              </a:ext>
            </a:extLst>
          </p:cNvPr>
          <p:cNvSpPr/>
          <p:nvPr/>
        </p:nvSpPr>
        <p:spPr>
          <a:xfrm>
            <a:off x="5273040" y="5929905"/>
            <a:ext cx="474618" cy="588462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5DA06E-7704-205C-899B-6B5938331EF9}"/>
              </a:ext>
            </a:extLst>
          </p:cNvPr>
          <p:cNvSpPr txBox="1"/>
          <p:nvPr/>
        </p:nvSpPr>
        <p:spPr>
          <a:xfrm>
            <a:off x="5093803" y="5657301"/>
            <a:ext cx="10021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</a:t>
            </a:r>
            <a:r>
              <a:rPr lang="en-001" sz="1200" dirty="0"/>
              <a:t>ontinued…</a:t>
            </a:r>
          </a:p>
        </p:txBody>
      </p:sp>
    </p:spTree>
    <p:extLst>
      <p:ext uri="{BB962C8B-B14F-4D97-AF65-F5344CB8AC3E}">
        <p14:creationId xmlns:p14="http://schemas.microsoft.com/office/powerpoint/2010/main" val="1888643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FE9A3-A777-91F9-9676-7A06D8A74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B121B2C-C70F-2318-2EEC-F48664BA5CA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pic>
        <p:nvPicPr>
          <p:cNvPr id="8" name="Picture 7" descr="A screenshot of a medical information&#10;&#10;Description automatically generated">
            <a:extLst>
              <a:ext uri="{FF2B5EF4-FFF2-40B4-BE49-F238E27FC236}">
                <a16:creationId xmlns:a16="http://schemas.microsoft.com/office/drawing/2014/main" id="{0BB7CA16-1EB3-E0F1-64BE-E164D4D4D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8908" y="532397"/>
            <a:ext cx="7772400" cy="606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8109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40B39-8784-B891-70B2-066301B63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150669CE-FA7C-AB4D-31DF-19009953D5B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80E09F2-8BC1-3DAB-56CA-93D3E3B9307B}"/>
              </a:ext>
            </a:extLst>
          </p:cNvPr>
          <p:cNvSpPr/>
          <p:nvPr/>
        </p:nvSpPr>
        <p:spPr>
          <a:xfrm>
            <a:off x="622932" y="430759"/>
            <a:ext cx="3965110" cy="588319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Self-assessment questions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52675BB-4148-26B3-25ED-1BDBBA570C92}"/>
              </a:ext>
            </a:extLst>
          </p:cNvPr>
          <p:cNvSpPr/>
          <p:nvPr/>
        </p:nvSpPr>
        <p:spPr>
          <a:xfrm>
            <a:off x="622930" y="1268415"/>
            <a:ext cx="8127606" cy="4967493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FBE9E-2595-062A-6A0D-B7F1C6B465BA}"/>
              </a:ext>
            </a:extLst>
          </p:cNvPr>
          <p:cNvSpPr txBox="1"/>
          <p:nvPr/>
        </p:nvSpPr>
        <p:spPr>
          <a:xfrm>
            <a:off x="801075" y="1413207"/>
            <a:ext cx="7949461" cy="4683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000"/>
              </a:spcAft>
              <a:buClr>
                <a:srgbClr val="C00000"/>
              </a:buClr>
              <a:buSzPct val="100000"/>
              <a:buFont typeface="Wingdings" pitchFamily="2" charset="2"/>
              <a:buChar char="Ø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Describe the three main bones that form the elbow joint and their anatomical relationships.</a:t>
            </a:r>
          </a:p>
          <a:p>
            <a:pPr marL="285750" indent="-285750">
              <a:spcAft>
                <a:spcPts val="1000"/>
              </a:spcAft>
              <a:buClr>
                <a:srgbClr val="C00000"/>
              </a:buClr>
              <a:buSzPct val="100000"/>
              <a:buFont typeface="Wingdings" pitchFamily="2" charset="2"/>
              <a:buChar char="Ø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What are the primary movements allowed by the elbow joint, and which muscles are responsible for these movements?</a:t>
            </a:r>
          </a:p>
          <a:p>
            <a:pPr marL="285750" indent="-285750">
              <a:spcAft>
                <a:spcPts val="1000"/>
              </a:spcAft>
              <a:buClr>
                <a:srgbClr val="C00000"/>
              </a:buClr>
              <a:buSzPct val="100000"/>
              <a:buFont typeface="Wingdings" pitchFamily="2" charset="2"/>
              <a:buChar char="Ø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Explain the role of the ulnar collateral ligament and the radial collateral ligament in stabilising the elbow.</a:t>
            </a:r>
          </a:p>
          <a:p>
            <a:pPr marL="285750" indent="-285750">
              <a:spcAft>
                <a:spcPts val="1000"/>
              </a:spcAft>
              <a:buClr>
                <a:srgbClr val="C00000"/>
              </a:buClr>
              <a:buSzPct val="100000"/>
              <a:buFont typeface="Wingdings" pitchFamily="2" charset="2"/>
              <a:buChar char="Ø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What is the function of the annular ligament, and how does it contribute to forearm rotation?</a:t>
            </a:r>
          </a:p>
          <a:p>
            <a:pPr marL="285750" indent="-285750">
              <a:spcAft>
                <a:spcPts val="1000"/>
              </a:spcAft>
              <a:buClr>
                <a:srgbClr val="C00000"/>
              </a:buClr>
              <a:buSzPct val="100000"/>
              <a:buFont typeface="Wingdings" pitchFamily="2" charset="2"/>
              <a:buChar char="Ø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Identify the origins, insertions, and actions of the biceps brachii and triceps brachii in relation to elbow movement.</a:t>
            </a:r>
          </a:p>
          <a:p>
            <a:pPr marL="285750" indent="-285750">
              <a:spcAft>
                <a:spcPts val="1000"/>
              </a:spcAft>
              <a:buClr>
                <a:srgbClr val="C00000"/>
              </a:buClr>
              <a:buSzPct val="100000"/>
              <a:buFont typeface="Wingdings" pitchFamily="2" charset="2"/>
              <a:buChar char="Ø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What is the carrying angle of the elbow, and why is it important in human biomechanics?</a:t>
            </a:r>
          </a:p>
          <a:p>
            <a:pPr marL="285750" indent="-285750">
              <a:spcAft>
                <a:spcPts val="1000"/>
              </a:spcAft>
              <a:buClr>
                <a:srgbClr val="C00000"/>
              </a:buClr>
              <a:buSzPct val="100000"/>
              <a:buFont typeface="Wingdings" pitchFamily="2" charset="2"/>
              <a:buChar char="Ø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Describe the articulations at the elbow joint and classify them based on joint type.</a:t>
            </a:r>
          </a:p>
          <a:p>
            <a:pPr marL="285750" indent="-285750">
              <a:spcAft>
                <a:spcPts val="1000"/>
              </a:spcAft>
              <a:buClr>
                <a:srgbClr val="C00000"/>
              </a:buClr>
              <a:buSzPct val="100000"/>
              <a:buFont typeface="Wingdings" pitchFamily="2" charset="2"/>
              <a:buChar char="Ø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What is "tennis elbow" (lateral epicondylitis), and which anatomical structures are primarily affected?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9B92358-840C-D0CB-4854-F1A7443F5DB9}"/>
              </a:ext>
            </a:extLst>
          </p:cNvPr>
          <p:cNvSpPr txBox="1">
            <a:spLocks/>
          </p:cNvSpPr>
          <p:nvPr/>
        </p:nvSpPr>
        <p:spPr>
          <a:xfrm>
            <a:off x="7790049" y="5953333"/>
            <a:ext cx="4049751" cy="565150"/>
          </a:xfrm>
          <a:prstGeom prst="roundRect">
            <a:avLst/>
          </a:prstGeom>
          <a:solidFill>
            <a:srgbClr val="FFFF00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Thank you for listening!</a:t>
            </a:r>
          </a:p>
        </p:txBody>
      </p:sp>
    </p:spTree>
    <p:extLst>
      <p:ext uri="{BB962C8B-B14F-4D97-AF65-F5344CB8AC3E}">
        <p14:creationId xmlns:p14="http://schemas.microsoft.com/office/powerpoint/2010/main" val="3487252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5800</TotalTime>
  <Words>1188</Words>
  <Application>Microsoft Macintosh PowerPoint</Application>
  <PresentationFormat>Widescreen</PresentationFormat>
  <Paragraphs>210</Paragraphs>
  <Slides>23</Slides>
  <Notes>23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Mia Preece</dc:creator>
  <cp:lastModifiedBy>Mia Preece</cp:lastModifiedBy>
  <cp:revision>172</cp:revision>
  <dcterms:created xsi:type="dcterms:W3CDTF">2022-02-12T13:40:56Z</dcterms:created>
  <dcterms:modified xsi:type="dcterms:W3CDTF">2025-02-09T15:05:32Z</dcterms:modified>
</cp:coreProperties>
</file>