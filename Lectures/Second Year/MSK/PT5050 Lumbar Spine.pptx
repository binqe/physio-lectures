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42"/>
  </p:notesMasterIdLst>
  <p:sldIdLst>
    <p:sldId id="271" r:id="rId5"/>
    <p:sldId id="272" r:id="rId6"/>
    <p:sldId id="285" r:id="rId7"/>
    <p:sldId id="286" r:id="rId8"/>
    <p:sldId id="335" r:id="rId9"/>
    <p:sldId id="324" r:id="rId10"/>
    <p:sldId id="317" r:id="rId11"/>
    <p:sldId id="336" r:id="rId12"/>
    <p:sldId id="337" r:id="rId13"/>
    <p:sldId id="323" r:id="rId14"/>
    <p:sldId id="288" r:id="rId15"/>
    <p:sldId id="289" r:id="rId16"/>
    <p:sldId id="290" r:id="rId17"/>
    <p:sldId id="287" r:id="rId18"/>
    <p:sldId id="292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61" r:id="rId27"/>
    <p:sldId id="362" r:id="rId28"/>
    <p:sldId id="276" r:id="rId29"/>
    <p:sldId id="273" r:id="rId30"/>
    <p:sldId id="274" r:id="rId31"/>
    <p:sldId id="275" r:id="rId32"/>
    <p:sldId id="277" r:id="rId33"/>
    <p:sldId id="258" r:id="rId34"/>
    <p:sldId id="256" r:id="rId35"/>
    <p:sldId id="257" r:id="rId36"/>
    <p:sldId id="267" r:id="rId37"/>
    <p:sldId id="269" r:id="rId38"/>
    <p:sldId id="298" r:id="rId39"/>
    <p:sldId id="299" r:id="rId40"/>
    <p:sldId id="34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  <a:srgbClr val="65A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88889" autoAdjust="0"/>
  </p:normalViewPr>
  <p:slideViewPr>
    <p:cSldViewPr snapToGrid="0" snapToObjects="1">
      <p:cViewPr varScale="1">
        <p:scale>
          <a:sx n="95" d="100"/>
          <a:sy n="95" d="100"/>
        </p:scale>
        <p:origin x="16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89533-8B90-8246-80FA-3EBC5AA2E2D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13455-6311-4646-A612-2B908C510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51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0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68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05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948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4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73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69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971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73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728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944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829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551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561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033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1168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877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318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derstanding Your Lumbar Vertebrae: Structure and Function - Greenbell  Clinic">
            <a:extLst>
              <a:ext uri="{FF2B5EF4-FFF2-40B4-BE49-F238E27FC236}">
                <a16:creationId xmlns:a16="http://schemas.microsoft.com/office/drawing/2014/main" id="{56B2F4CF-7E7C-18D3-908D-BC4177E9FE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  <a:grayscl/>
          </a:blip>
          <a:srcRect t="12203" b="22851"/>
          <a:stretch>
            <a:fillRect/>
          </a:stretch>
        </p:blipFill>
        <p:spPr>
          <a:xfrm>
            <a:off x="20" y="1"/>
            <a:ext cx="12191980" cy="5938683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8FBFC0-5618-8694-2458-43FEBF46E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>
            <a:normAutofit/>
          </a:bodyPr>
          <a:lstStyle/>
          <a:p>
            <a:r>
              <a:rPr lang="en-GB" dirty="0"/>
              <a:t>Lumbar </a:t>
            </a:r>
            <a:r>
              <a:rPr lang="en-GB"/>
              <a:t>Spine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42E78-D6F2-D92B-F3B1-FBA0E46B9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 dirty="0">
                <a:gradFill flip="none">
                  <a:gsLst>
                    <a:gs pos="0">
                      <a:srgbClr val="8ED5C1">
                        <a:lumMod val="90000"/>
                        <a:lumOff val="10000"/>
                      </a:srgbClr>
                    </a:gs>
                    <a:gs pos="15000">
                      <a:srgbClr val="8ED5C1"/>
                    </a:gs>
                    <a:gs pos="73000">
                      <a:srgbClr val="8ED5C1">
                        <a:lumMod val="60000"/>
                        <a:lumOff val="40000"/>
                      </a:srgbClr>
                    </a:gs>
                    <a:gs pos="100000">
                      <a:srgbClr val="8ED5C1">
                        <a:lumMod val="0"/>
                        <a:lumOff val="100000"/>
                      </a:srgbClr>
                    </a:gs>
                  </a:gsLst>
                  <a:lin ang="16200000" scaled="1"/>
                  <a:tileRect/>
                </a:gradFill>
              </a:rPr>
              <a:t>Chris Phillips</a:t>
            </a:r>
          </a:p>
          <a:p>
            <a:r>
              <a:rPr lang="en-GB" dirty="0">
                <a:gradFill flip="none">
                  <a:gsLst>
                    <a:gs pos="0">
                      <a:srgbClr val="8ED5C1">
                        <a:lumMod val="90000"/>
                        <a:lumOff val="10000"/>
                      </a:srgbClr>
                    </a:gs>
                    <a:gs pos="15000">
                      <a:srgbClr val="8ED5C1"/>
                    </a:gs>
                    <a:gs pos="73000">
                      <a:srgbClr val="8ED5C1">
                        <a:lumMod val="60000"/>
                        <a:lumOff val="40000"/>
                      </a:srgbClr>
                    </a:gs>
                    <a:gs pos="100000">
                      <a:srgbClr val="8ED5C1">
                        <a:lumMod val="0"/>
                        <a:lumOff val="100000"/>
                      </a:srgbClr>
                    </a:gs>
                  </a:gsLst>
                  <a:lin ang="16200000" scaled="1"/>
                  <a:tileRect/>
                </a:gradFill>
              </a:rPr>
              <a:t>PT5050</a:t>
            </a:r>
          </a:p>
        </p:txBody>
      </p:sp>
    </p:spTree>
    <p:extLst>
      <p:ext uri="{BB962C8B-B14F-4D97-AF65-F5344CB8AC3E}">
        <p14:creationId xmlns:p14="http://schemas.microsoft.com/office/powerpoint/2010/main" val="959057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C1D98-A46F-CE04-F132-8861B209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We will cover...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2D10F-14A1-0E6E-C9B4-D43253FF3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27" y="1575105"/>
            <a:ext cx="10526073" cy="46018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Anatomy and Physiology of Lumbar Spine and Pelvis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chemeClr val="tx1"/>
                </a:solidFill>
              </a:rPr>
              <a:t>Overview of vertebral structure, intervertebral discs, ligaments, musculature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chemeClr val="tx1"/>
                </a:solidFill>
              </a:rPr>
              <a:t>Neural pathways relevant to </a:t>
            </a:r>
            <a:r>
              <a:rPr lang="en-GB" dirty="0" err="1">
                <a:solidFill>
                  <a:schemeClr val="tx1"/>
                </a:solidFill>
              </a:rPr>
              <a:t>Lsp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Clinical Application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chemeClr val="tx1"/>
                </a:solidFill>
              </a:rPr>
              <a:t>Common pathologies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chemeClr val="tx1"/>
                </a:solidFill>
              </a:rPr>
              <a:t>Mechanism of injury and degeneration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chemeClr val="tx1"/>
                </a:solidFill>
              </a:rPr>
              <a:t>Therapeutic management of spinal conditions</a:t>
            </a:r>
          </a:p>
          <a:p>
            <a:r>
              <a:rPr lang="en-GB" dirty="0">
                <a:solidFill>
                  <a:schemeClr val="tx1"/>
                </a:solidFill>
              </a:rPr>
              <a:t>Biopsychosocial concepts related to spinal conditions</a:t>
            </a:r>
          </a:p>
        </p:txBody>
      </p:sp>
    </p:spTree>
    <p:extLst>
      <p:ext uri="{BB962C8B-B14F-4D97-AF65-F5344CB8AC3E}">
        <p14:creationId xmlns:p14="http://schemas.microsoft.com/office/powerpoint/2010/main" val="1925971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2DD1-496D-2B75-2A89-C8401243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Vertebral column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4CDB2-1598-A3DE-BFBF-A0C2FADE8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Five regions of the spine;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3200" dirty="0"/>
              <a:t>Cervical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3200" dirty="0"/>
              <a:t>Thoracic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3200" dirty="0"/>
              <a:t>Lumbar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3200" dirty="0"/>
              <a:t>Sacrum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3200" dirty="0"/>
              <a:t>Coccyx</a:t>
            </a:r>
          </a:p>
          <a:p>
            <a:pPr marL="457200" indent="-457200"/>
            <a:r>
              <a:rPr lang="en-GB" sz="3600" dirty="0"/>
              <a:t>33 vertebral in total</a:t>
            </a:r>
          </a:p>
          <a:p>
            <a:endParaRPr lang="en-GB" dirty="0"/>
          </a:p>
        </p:txBody>
      </p:sp>
      <p:pic>
        <p:nvPicPr>
          <p:cNvPr id="5" name="Picture 4" descr="A diagram of the spine">
            <a:extLst>
              <a:ext uri="{FF2B5EF4-FFF2-40B4-BE49-F238E27FC236}">
                <a16:creationId xmlns:a16="http://schemas.microsoft.com/office/drawing/2014/main" id="{ADA3F12D-67C1-1E03-0102-51EB615C7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529" y="259510"/>
            <a:ext cx="4522498" cy="6518037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96403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396B-F262-1F9B-8B71-3158A3472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Osseous structures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FA643DAB-423F-78DA-BDE2-38F3F0DF6F9B}"/>
              </a:ext>
            </a:extLst>
          </p:cNvPr>
          <p:cNvSpPr/>
          <p:nvPr/>
        </p:nvSpPr>
        <p:spPr>
          <a:xfrm>
            <a:off x="435218" y="2112137"/>
            <a:ext cx="5870363" cy="4164714"/>
          </a:xfrm>
          <a:prstGeom prst="roundRect">
            <a:avLst>
              <a:gd name="adj" fmla="val 9578"/>
            </a:avLst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pic>
        <p:nvPicPr>
          <p:cNvPr id="4" name="Picture 3" descr="A close up of a bone&#10;&#10;Description automatically generated">
            <a:extLst>
              <a:ext uri="{FF2B5EF4-FFF2-40B4-BE49-F238E27FC236}">
                <a16:creationId xmlns:a16="http://schemas.microsoft.com/office/drawing/2014/main" id="{4BA11B8A-F4E9-F376-AC6C-E327FB4B0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95032" y="2301638"/>
            <a:ext cx="3788226" cy="36195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0F81DBE-A3F4-3DD8-8A0C-E8F668EB9BB6}"/>
              </a:ext>
            </a:extLst>
          </p:cNvPr>
          <p:cNvCxnSpPr>
            <a:cxnSpLocks/>
          </p:cNvCxnSpPr>
          <p:nvPr/>
        </p:nvCxnSpPr>
        <p:spPr>
          <a:xfrm flipV="1">
            <a:off x="1136269" y="2656101"/>
            <a:ext cx="0" cy="709703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673D65C-CF18-36C7-96F1-2B3DCF40E2FC}"/>
              </a:ext>
            </a:extLst>
          </p:cNvPr>
          <p:cNvSpPr/>
          <p:nvPr/>
        </p:nvSpPr>
        <p:spPr>
          <a:xfrm>
            <a:off x="523412" y="2230125"/>
            <a:ext cx="1286316" cy="3584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Posterior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A10189-A360-0DAC-FB84-D1FDDFF5EF61}"/>
              </a:ext>
            </a:extLst>
          </p:cNvPr>
          <p:cNvCxnSpPr>
            <a:cxnSpLocks/>
          </p:cNvCxnSpPr>
          <p:nvPr/>
        </p:nvCxnSpPr>
        <p:spPr>
          <a:xfrm>
            <a:off x="1136269" y="4495204"/>
            <a:ext cx="0" cy="802337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D3F3BC7-C1DE-2F04-2F76-4C768B665DDE}"/>
              </a:ext>
            </a:extLst>
          </p:cNvPr>
          <p:cNvSpPr/>
          <p:nvPr/>
        </p:nvSpPr>
        <p:spPr>
          <a:xfrm>
            <a:off x="523413" y="5363325"/>
            <a:ext cx="1225712" cy="358409"/>
          </a:xfrm>
          <a:prstGeom prst="rect">
            <a:avLst/>
          </a:prstGeom>
          <a:solidFill>
            <a:srgbClr val="FEFEF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Anterior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54BBA3-D861-5BC2-6858-550642B74C1D}"/>
              </a:ext>
            </a:extLst>
          </p:cNvPr>
          <p:cNvCxnSpPr>
            <a:cxnSpLocks/>
          </p:cNvCxnSpPr>
          <p:nvPr/>
        </p:nvCxnSpPr>
        <p:spPr>
          <a:xfrm flipH="1">
            <a:off x="2682739" y="2657218"/>
            <a:ext cx="1471775" cy="0"/>
          </a:xfrm>
          <a:prstGeom prst="straightConnector1">
            <a:avLst/>
          </a:prstGeom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CDD3C9-5D55-6C21-5CB3-B598D2E9BFCC}"/>
              </a:ext>
            </a:extLst>
          </p:cNvPr>
          <p:cNvCxnSpPr>
            <a:cxnSpLocks/>
          </p:cNvCxnSpPr>
          <p:nvPr/>
        </p:nvCxnSpPr>
        <p:spPr>
          <a:xfrm flipH="1" flipV="1">
            <a:off x="2804078" y="4954923"/>
            <a:ext cx="1348283" cy="408402"/>
          </a:xfrm>
          <a:prstGeom prst="straightConnector1">
            <a:avLst/>
          </a:prstGeom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C3C007-BBD3-B1F1-DCA5-A87C698D95E8}"/>
              </a:ext>
            </a:extLst>
          </p:cNvPr>
          <p:cNvCxnSpPr>
            <a:cxnSpLocks/>
          </p:cNvCxnSpPr>
          <p:nvPr/>
        </p:nvCxnSpPr>
        <p:spPr>
          <a:xfrm flipH="1">
            <a:off x="2710048" y="3282536"/>
            <a:ext cx="1034893" cy="828890"/>
          </a:xfrm>
          <a:prstGeom prst="straightConnector1">
            <a:avLst/>
          </a:prstGeom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C3BE59-D8F6-EEB6-FF1C-6A8025D5FA5F}"/>
              </a:ext>
            </a:extLst>
          </p:cNvPr>
          <p:cNvCxnSpPr>
            <a:cxnSpLocks/>
          </p:cNvCxnSpPr>
          <p:nvPr/>
        </p:nvCxnSpPr>
        <p:spPr>
          <a:xfrm flipH="1" flipV="1">
            <a:off x="4152360" y="3698521"/>
            <a:ext cx="249152" cy="495355"/>
          </a:xfrm>
          <a:prstGeom prst="straightConnector1">
            <a:avLst/>
          </a:prstGeom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84027F9-9A9A-ADBC-6E25-2048EEB8FB7A}"/>
              </a:ext>
            </a:extLst>
          </p:cNvPr>
          <p:cNvSpPr/>
          <p:nvPr/>
        </p:nvSpPr>
        <p:spPr>
          <a:xfrm>
            <a:off x="4150899" y="2481381"/>
            <a:ext cx="1978828" cy="3584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001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Spinous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57ABF7-87E1-8433-FA32-62D91D3E3472}"/>
              </a:ext>
            </a:extLst>
          </p:cNvPr>
          <p:cNvSpPr/>
          <p:nvPr/>
        </p:nvSpPr>
        <p:spPr>
          <a:xfrm>
            <a:off x="3610651" y="2941100"/>
            <a:ext cx="2046626" cy="3584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001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Vertebral foramen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4F5C2C-7E47-3268-8BC6-652F6DF5EAA3}"/>
              </a:ext>
            </a:extLst>
          </p:cNvPr>
          <p:cNvSpPr/>
          <p:nvPr/>
        </p:nvSpPr>
        <p:spPr>
          <a:xfrm>
            <a:off x="4032504" y="5313962"/>
            <a:ext cx="1922713" cy="3584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001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of vertebra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609093-5FBF-906A-954F-BF26C0391B8A}"/>
              </a:ext>
            </a:extLst>
          </p:cNvPr>
          <p:cNvSpPr/>
          <p:nvPr/>
        </p:nvSpPr>
        <p:spPr>
          <a:xfrm>
            <a:off x="3890671" y="4136795"/>
            <a:ext cx="2280723" cy="3584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001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Transverse process</a:t>
            </a:r>
          </a:p>
        </p:txBody>
      </p:sp>
      <p:pic>
        <p:nvPicPr>
          <p:cNvPr id="25" name="Picture 4" descr="Landmarks in detail">
            <a:extLst>
              <a:ext uri="{FF2B5EF4-FFF2-40B4-BE49-F238E27FC236}">
                <a16:creationId xmlns:a16="http://schemas.microsoft.com/office/drawing/2014/main" id="{EA4CC8D1-E031-5593-28CD-259FDA4544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3109" t="1625" r="2389" b="8322"/>
          <a:stretch/>
        </p:blipFill>
        <p:spPr bwMode="auto">
          <a:xfrm>
            <a:off x="6495077" y="1393529"/>
            <a:ext cx="3315984" cy="53493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8100">
            <a:solidFill>
              <a:sysClr val="window" lastClr="FFFFFF"/>
            </a:solidFill>
          </a:ln>
          <a:effectLst/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B38DDD-1FC0-9E7B-E6DD-C8E6A281D518}"/>
              </a:ext>
            </a:extLst>
          </p:cNvPr>
          <p:cNvCxnSpPr>
            <a:cxnSpLocks/>
          </p:cNvCxnSpPr>
          <p:nvPr/>
        </p:nvCxnSpPr>
        <p:spPr>
          <a:xfrm flipH="1" flipV="1">
            <a:off x="9290514" y="3118083"/>
            <a:ext cx="1213012" cy="1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15AA6D-7E2E-36E2-AEA6-01F4BC359E88}"/>
              </a:ext>
            </a:extLst>
          </p:cNvPr>
          <p:cNvCxnSpPr>
            <a:cxnSpLocks/>
          </p:cNvCxnSpPr>
          <p:nvPr/>
        </p:nvCxnSpPr>
        <p:spPr>
          <a:xfrm>
            <a:off x="7333945" y="1110908"/>
            <a:ext cx="0" cy="1817529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D1F969-813A-46D4-F1E0-5E25F0CB16E9}"/>
              </a:ext>
            </a:extLst>
          </p:cNvPr>
          <p:cNvCxnSpPr>
            <a:cxnSpLocks/>
          </p:cNvCxnSpPr>
          <p:nvPr/>
        </p:nvCxnSpPr>
        <p:spPr>
          <a:xfrm flipH="1">
            <a:off x="8744818" y="1848138"/>
            <a:ext cx="1675883" cy="727583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350892C-DAAF-4A11-4B4E-4CF8C6456320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8427537" y="3118084"/>
            <a:ext cx="1812598" cy="1032521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5C4888-C6FD-86CA-4DA1-7E1E477C23E5}"/>
              </a:ext>
            </a:extLst>
          </p:cNvPr>
          <p:cNvCxnSpPr>
            <a:cxnSpLocks/>
          </p:cNvCxnSpPr>
          <p:nvPr/>
        </p:nvCxnSpPr>
        <p:spPr>
          <a:xfrm flipH="1" flipV="1">
            <a:off x="8744818" y="3620793"/>
            <a:ext cx="618320" cy="160730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EFB0EAD-6676-365C-7CFF-F3A1542DAAA4}"/>
              </a:ext>
            </a:extLst>
          </p:cNvPr>
          <p:cNvSpPr/>
          <p:nvPr/>
        </p:nvSpPr>
        <p:spPr>
          <a:xfrm>
            <a:off x="6655733" y="738778"/>
            <a:ext cx="1806937" cy="33844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001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Body of vertebra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26504D-D3B1-1425-50AD-1C10A8AECFB8}"/>
              </a:ext>
            </a:extLst>
          </p:cNvPr>
          <p:cNvSpPr/>
          <p:nvPr/>
        </p:nvSpPr>
        <p:spPr>
          <a:xfrm>
            <a:off x="10240135" y="2948860"/>
            <a:ext cx="1859673" cy="33844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001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Spinous process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7FEC9A-F57D-5E6C-625C-17AA6F3DABEC}"/>
              </a:ext>
            </a:extLst>
          </p:cNvPr>
          <p:cNvSpPr/>
          <p:nvPr/>
        </p:nvSpPr>
        <p:spPr>
          <a:xfrm>
            <a:off x="9944014" y="1773690"/>
            <a:ext cx="2143390" cy="33844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001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Transverse process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9E26ED-F242-71A8-2728-2D90EFF0063E}"/>
              </a:ext>
            </a:extLst>
          </p:cNvPr>
          <p:cNvSpPr/>
          <p:nvPr/>
        </p:nvSpPr>
        <p:spPr>
          <a:xfrm>
            <a:off x="8938512" y="646163"/>
            <a:ext cx="2749592" cy="33844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001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Superior articular process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DC87093-B781-096E-8734-9038A0B95F61}"/>
              </a:ext>
            </a:extLst>
          </p:cNvPr>
          <p:cNvSpPr/>
          <p:nvPr/>
        </p:nvSpPr>
        <p:spPr>
          <a:xfrm>
            <a:off x="9363138" y="3779984"/>
            <a:ext cx="2690075" cy="33844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001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Inferior articular process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25E925E-F5F9-EFC1-F889-6597EBBF022D}"/>
              </a:ext>
            </a:extLst>
          </p:cNvPr>
          <p:cNvCxnSpPr>
            <a:cxnSpLocks/>
          </p:cNvCxnSpPr>
          <p:nvPr/>
        </p:nvCxnSpPr>
        <p:spPr>
          <a:xfrm flipH="1">
            <a:off x="8516054" y="4559524"/>
            <a:ext cx="1599827" cy="397160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26E7991-4E60-32C5-F98F-8E8406B3C85F}"/>
              </a:ext>
            </a:extLst>
          </p:cNvPr>
          <p:cNvSpPr/>
          <p:nvPr/>
        </p:nvSpPr>
        <p:spPr>
          <a:xfrm>
            <a:off x="10011565" y="4444965"/>
            <a:ext cx="958067" cy="33844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001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Lamina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352C50-F019-909A-4743-E3FC7B31DB3F}"/>
              </a:ext>
            </a:extLst>
          </p:cNvPr>
          <p:cNvCxnSpPr>
            <a:cxnSpLocks/>
          </p:cNvCxnSpPr>
          <p:nvPr/>
        </p:nvCxnSpPr>
        <p:spPr>
          <a:xfrm flipH="1">
            <a:off x="8656547" y="1002463"/>
            <a:ext cx="630338" cy="975974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C2E4CCDF-CA0C-36F2-B8C1-7F546E159CD7}"/>
              </a:ext>
            </a:extLst>
          </p:cNvPr>
          <p:cNvSpPr/>
          <p:nvPr/>
        </p:nvSpPr>
        <p:spPr>
          <a:xfrm>
            <a:off x="10313308" y="5382080"/>
            <a:ext cx="958068" cy="33844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Pedicle</a:t>
            </a:r>
            <a:endParaRPr kumimoji="0" lang="en-001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EFFA331-4063-F1E1-5A70-74B68343FDD7}"/>
              </a:ext>
            </a:extLst>
          </p:cNvPr>
          <p:cNvCxnSpPr>
            <a:cxnSpLocks/>
            <a:stCxn id="47" idx="1"/>
          </p:cNvCxnSpPr>
          <p:nvPr/>
        </p:nvCxnSpPr>
        <p:spPr>
          <a:xfrm flipH="1" flipV="1">
            <a:off x="8816196" y="5382080"/>
            <a:ext cx="1497112" cy="169224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05975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4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EB8DAA-DDA9-3E4C-8A02-D2E08253AF64}"/>
              </a:ext>
            </a:extLst>
          </p:cNvPr>
          <p:cNvSpPr txBox="1"/>
          <p:nvPr/>
        </p:nvSpPr>
        <p:spPr>
          <a:xfrm>
            <a:off x="863740" y="1608528"/>
            <a:ext cx="874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Cx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8F975EC3-DA96-314C-995B-EA3C4F3FAF76}"/>
              </a:ext>
            </a:extLst>
          </p:cNvPr>
          <p:cNvSpPr txBox="1">
            <a:spLocks/>
          </p:cNvSpPr>
          <p:nvPr/>
        </p:nvSpPr>
        <p:spPr>
          <a:xfrm>
            <a:off x="3836857" y="432661"/>
            <a:ext cx="4830185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Differentiation of Vertebrae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FC4FADD-6194-1A13-732C-CFD044D98872}"/>
              </a:ext>
            </a:extLst>
          </p:cNvPr>
          <p:cNvGrpSpPr/>
          <p:nvPr/>
        </p:nvGrpSpPr>
        <p:grpSpPr>
          <a:xfrm>
            <a:off x="3094875" y="1420017"/>
            <a:ext cx="6957975" cy="5016563"/>
            <a:chOff x="4884770" y="1416478"/>
            <a:chExt cx="4888622" cy="3524600"/>
          </a:xfrm>
        </p:grpSpPr>
        <p:pic>
          <p:nvPicPr>
            <p:cNvPr id="5" name="Picture 4" descr="A diagram of the spine&#10;&#10;Description automatically generated">
              <a:extLst>
                <a:ext uri="{FF2B5EF4-FFF2-40B4-BE49-F238E27FC236}">
                  <a16:creationId xmlns:a16="http://schemas.microsoft.com/office/drawing/2014/main" id="{8CFE1738-8932-41B8-2D4A-FF17BABA1E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555" r="13604"/>
            <a:stretch/>
          </p:blipFill>
          <p:spPr>
            <a:xfrm>
              <a:off x="4884770" y="1416478"/>
              <a:ext cx="4888622" cy="35246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 w="28575">
              <a:solidFill>
                <a:schemeClr val="bg1"/>
              </a:solidFill>
            </a:ln>
            <a:effectLst/>
          </p:spPr>
        </p:pic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185D0DA1-F2A5-BF75-DB99-336727A4AB15}"/>
                </a:ext>
              </a:extLst>
            </p:cNvPr>
            <p:cNvSpPr/>
            <p:nvPr/>
          </p:nvSpPr>
          <p:spPr>
            <a:xfrm>
              <a:off x="4884770" y="4295981"/>
              <a:ext cx="2422546" cy="592600"/>
            </a:xfrm>
            <a:prstGeom prst="roundRect">
              <a:avLst>
                <a:gd name="adj" fmla="val 35245"/>
              </a:avLst>
            </a:prstGeom>
            <a:gradFill flip="none" rotWithShape="1">
              <a:gsLst>
                <a:gs pos="0">
                  <a:srgbClr val="3C4053"/>
                </a:gs>
                <a:gs pos="100000">
                  <a:srgbClr val="323649"/>
                </a:gs>
                <a:gs pos="100000">
                  <a:srgbClr val="2F314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</p:grpSp>
      <p:pic>
        <p:nvPicPr>
          <p:cNvPr id="4" name="Picture 3" descr="A close-up of a bone&#10;&#10;Description automatically generated">
            <a:extLst>
              <a:ext uri="{FF2B5EF4-FFF2-40B4-BE49-F238E27FC236}">
                <a16:creationId xmlns:a16="http://schemas.microsoft.com/office/drawing/2014/main" id="{CEFEC329-1294-72E6-620A-738FE0A6E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564" y="1107462"/>
            <a:ext cx="1833613" cy="14281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5" name="Picture 14" descr="A close up of a bone&#10;&#10;Description automatically generated">
            <a:extLst>
              <a:ext uri="{FF2B5EF4-FFF2-40B4-BE49-F238E27FC236}">
                <a16:creationId xmlns:a16="http://schemas.microsoft.com/office/drawing/2014/main" id="{3DBF0323-F221-1F7D-AAD3-A79DDB648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564" y="2688080"/>
            <a:ext cx="1833613" cy="17273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8" name="Picture 17" descr="A close up of a bone&#10;&#10;Description automatically generated">
            <a:extLst>
              <a:ext uri="{FF2B5EF4-FFF2-40B4-BE49-F238E27FC236}">
                <a16:creationId xmlns:a16="http://schemas.microsoft.com/office/drawing/2014/main" id="{1C600665-2759-5AA7-ABBD-E6578C9F0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523563" y="4591288"/>
            <a:ext cx="1833613" cy="17604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F5C12A2-DD5E-33F6-E96E-5B98F15C2FB8}"/>
              </a:ext>
            </a:extLst>
          </p:cNvPr>
          <p:cNvSpPr txBox="1"/>
          <p:nvPr/>
        </p:nvSpPr>
        <p:spPr>
          <a:xfrm>
            <a:off x="863739" y="3299996"/>
            <a:ext cx="874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C30441-9290-762D-687B-AAEF699C306C}"/>
              </a:ext>
            </a:extLst>
          </p:cNvPr>
          <p:cNvSpPr txBox="1"/>
          <p:nvPr/>
        </p:nvSpPr>
        <p:spPr>
          <a:xfrm>
            <a:off x="863739" y="5179757"/>
            <a:ext cx="874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Lx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135558-4226-7B6F-D594-813C0E81454A}"/>
              </a:ext>
            </a:extLst>
          </p:cNvPr>
          <p:cNvSpPr txBox="1"/>
          <p:nvPr/>
        </p:nvSpPr>
        <p:spPr>
          <a:xfrm>
            <a:off x="6164166" y="6019318"/>
            <a:ext cx="1081693" cy="274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Lateral view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A3550F-6CDA-31F2-4EDF-270471A6BC02}"/>
              </a:ext>
            </a:extLst>
          </p:cNvPr>
          <p:cNvSpPr txBox="1"/>
          <p:nvPr/>
        </p:nvSpPr>
        <p:spPr>
          <a:xfrm>
            <a:off x="1888177" y="6351696"/>
            <a:ext cx="1149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Superior view</a:t>
            </a:r>
          </a:p>
        </p:txBody>
      </p:sp>
    </p:spTree>
    <p:extLst>
      <p:ext uri="{BB962C8B-B14F-4D97-AF65-F5344CB8AC3E}">
        <p14:creationId xmlns:p14="http://schemas.microsoft.com/office/powerpoint/2010/main" val="1739834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396B-F262-1F9B-8B71-3158A3472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378" y="365125"/>
            <a:ext cx="10515600" cy="1325563"/>
          </a:xfrm>
        </p:spPr>
        <p:txBody>
          <a:bodyPr/>
          <a:lstStyle/>
          <a:p>
            <a:r>
              <a:rPr lang="en-GB" dirty="0"/>
              <a:t>Facet Joints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22A300-4F96-DC02-AEAA-A9FA357E6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0827"/>
            <a:ext cx="5284942" cy="6476345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0783D5-ED15-CAA5-C58B-0625348D9697}"/>
              </a:ext>
            </a:extLst>
          </p:cNvPr>
          <p:cNvSpPr txBox="1"/>
          <p:nvPr/>
        </p:nvSpPr>
        <p:spPr>
          <a:xfrm>
            <a:off x="811058" y="2570673"/>
            <a:ext cx="500641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Joint between the inferior articular process and the superior articular process of the subsequent vertebra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Orientation of the facet joints vary between region to accommodate different functions and movements</a:t>
            </a:r>
          </a:p>
        </p:txBody>
      </p:sp>
    </p:spTree>
    <p:extLst>
      <p:ext uri="{BB962C8B-B14F-4D97-AF65-F5344CB8AC3E}">
        <p14:creationId xmlns:p14="http://schemas.microsoft.com/office/powerpoint/2010/main" val="2376323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32DCA-FFBF-93EC-3EEE-AD879CB89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Ligaments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9797C-8883-4856-C0B3-A499FD958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691" y="1994124"/>
            <a:ext cx="10233800" cy="4351338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Anterior longitudinal</a:t>
            </a:r>
          </a:p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Posterior longitudinal</a:t>
            </a:r>
          </a:p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Supraspinous Ligament</a:t>
            </a:r>
          </a:p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Interspinous ligament</a:t>
            </a:r>
          </a:p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Intertransverse ligament</a:t>
            </a:r>
          </a:p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Ligamentum flavum</a:t>
            </a:r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97A717-3563-AEA6-AAD3-E90542F7D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435" y="209100"/>
            <a:ext cx="4820323" cy="6439799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0FD58E-31EE-E398-BA44-23F36C363603}"/>
              </a:ext>
            </a:extLst>
          </p:cNvPr>
          <p:cNvSpPr/>
          <p:nvPr/>
        </p:nvSpPr>
        <p:spPr>
          <a:xfrm>
            <a:off x="1026542" y="1932317"/>
            <a:ext cx="3226281" cy="4061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13B6A0-8BBE-6795-205D-BD54FE12F707}"/>
              </a:ext>
            </a:extLst>
          </p:cNvPr>
          <p:cNvSpPr/>
          <p:nvPr/>
        </p:nvSpPr>
        <p:spPr>
          <a:xfrm>
            <a:off x="1026541" y="2641855"/>
            <a:ext cx="3226281" cy="4061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2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94C1-56C8-4F46-763F-8FE10B9E8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0C99-73CE-198C-2114-0F8D88B34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Ligaments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94D81-7E51-C1AC-0FC4-E1FF6F329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691" y="1994124"/>
            <a:ext cx="10233800" cy="4351338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Anterior longitudinal</a:t>
            </a:r>
          </a:p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Posterior longitudinal</a:t>
            </a:r>
          </a:p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Supra - spinous Ligament</a:t>
            </a:r>
          </a:p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 - spinous ligament</a:t>
            </a:r>
          </a:p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Ligamentum flavum</a:t>
            </a:r>
          </a:p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Intertransverse ligament</a:t>
            </a:r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83F646-7C6E-22F6-FF8C-40751F6A04B9}"/>
              </a:ext>
            </a:extLst>
          </p:cNvPr>
          <p:cNvSpPr/>
          <p:nvPr/>
        </p:nvSpPr>
        <p:spPr>
          <a:xfrm>
            <a:off x="1068242" y="4076012"/>
            <a:ext cx="2158037" cy="4061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79CE92-5F31-B56D-9021-8F759943BEF6}"/>
              </a:ext>
            </a:extLst>
          </p:cNvPr>
          <p:cNvSpPr/>
          <p:nvPr/>
        </p:nvSpPr>
        <p:spPr>
          <a:xfrm>
            <a:off x="1068242" y="3366474"/>
            <a:ext cx="2347818" cy="4061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16FB0D-4190-6F15-ABDD-3B9D2D51F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910" y="1785920"/>
            <a:ext cx="5781272" cy="3973311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4228B65-762F-5301-2ED9-B190F645E03A}"/>
              </a:ext>
            </a:extLst>
          </p:cNvPr>
          <p:cNvSpPr/>
          <p:nvPr/>
        </p:nvSpPr>
        <p:spPr>
          <a:xfrm>
            <a:off x="1068241" y="4761800"/>
            <a:ext cx="2977548" cy="4061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33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A1FD5-1445-BFB1-3531-574ABFEE1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C0F55-75CF-77C9-9F83-EDEE6A156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Ligaments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A94B5-1580-3551-AB4E-4764CBD1A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691" y="1994124"/>
            <a:ext cx="10233800" cy="4351338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Anterior longitudinal</a:t>
            </a:r>
          </a:p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Posterior longitudinal</a:t>
            </a:r>
          </a:p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Supra - spinous Ligament</a:t>
            </a:r>
          </a:p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 - spinous ligament</a:t>
            </a:r>
          </a:p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Ligamentum flavum</a:t>
            </a:r>
          </a:p>
          <a:p>
            <a:pPr>
              <a:spcAft>
                <a:spcPts val="2400"/>
              </a:spcAft>
              <a:buClr>
                <a:schemeClr val="tx1"/>
              </a:buClr>
              <a:buSzPct val="100000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 - transverse ligament</a:t>
            </a:r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FFF0E0-7F70-D9E8-26DF-56B297B8289F}"/>
              </a:ext>
            </a:extLst>
          </p:cNvPr>
          <p:cNvSpPr/>
          <p:nvPr/>
        </p:nvSpPr>
        <p:spPr>
          <a:xfrm>
            <a:off x="1035176" y="5481991"/>
            <a:ext cx="2546226" cy="4061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FE0DAC-7AFC-CD97-EC28-CA926960CE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299"/>
          <a:stretch>
            <a:fillRect/>
          </a:stretch>
        </p:blipFill>
        <p:spPr>
          <a:xfrm>
            <a:off x="5837270" y="2106268"/>
            <a:ext cx="5597039" cy="294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9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396B-F262-1F9B-8B71-3158A3472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Intervertebral Disc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D674D7-A5F8-8C24-F89F-B45FAC428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5121409" cy="4351338"/>
          </a:xfrm>
        </p:spPr>
        <p:txBody>
          <a:bodyPr/>
          <a:lstStyle/>
          <a:p>
            <a:r>
              <a:rPr lang="en-GB" dirty="0"/>
              <a:t>Annulus fibrosis </a:t>
            </a:r>
          </a:p>
          <a:p>
            <a:r>
              <a:rPr lang="en-GB" dirty="0"/>
              <a:t>Nucleus pulposus</a:t>
            </a:r>
          </a:p>
          <a:p>
            <a:r>
              <a:rPr lang="en-GB" dirty="0"/>
              <a:t>Vertebral end plate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9C4575-C8D6-4A9E-4B70-805CCC48C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141" y="3643162"/>
            <a:ext cx="4220116" cy="30463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BEBDAA-AF32-6DAB-92F2-5C03C2DEF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760" y="3023594"/>
            <a:ext cx="3665964" cy="366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69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9F319-6610-A6C3-5FFF-BD5D81904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Nucleus pulposus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B9384-4B74-0026-DFCD-6A49358EF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9727672" cy="4351338"/>
          </a:xfrm>
        </p:spPr>
        <p:txBody>
          <a:bodyPr>
            <a:normAutofit/>
          </a:bodyPr>
          <a:lstStyle/>
          <a:p>
            <a:r>
              <a:rPr lang="en-GB" dirty="0"/>
              <a:t>Central core of the intervertebral disc mainly type II collagen – accepts compressive forces </a:t>
            </a:r>
          </a:p>
          <a:p>
            <a:r>
              <a:rPr lang="en-GB" dirty="0"/>
              <a:t>Gelatinous in nature</a:t>
            </a:r>
          </a:p>
          <a:p>
            <a:r>
              <a:rPr lang="en-GB" dirty="0"/>
              <a:t>Avascular </a:t>
            </a:r>
          </a:p>
          <a:p>
            <a:r>
              <a:rPr lang="en-GB" dirty="0"/>
              <a:t>Tends to be situated more posteriorly</a:t>
            </a:r>
          </a:p>
          <a:p>
            <a:r>
              <a:rPr lang="en-GB" dirty="0"/>
              <a:t>Act as a fulcrum during movement</a:t>
            </a:r>
          </a:p>
          <a:p>
            <a:r>
              <a:rPr lang="en-GB" dirty="0"/>
              <a:t>Transmits compressive loads from one vertebrae to another</a:t>
            </a:r>
          </a:p>
          <a:p>
            <a:r>
              <a:rPr lang="en-GB" dirty="0"/>
              <a:t>Herniation can occur when there is degeneration of the annulus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BEDFC-ADC4-1964-282D-69C497E5C1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84" r="46272" b="14236"/>
          <a:stretch>
            <a:fillRect/>
          </a:stretch>
        </p:blipFill>
        <p:spPr>
          <a:xfrm>
            <a:off x="7286324" y="2397847"/>
            <a:ext cx="3971223" cy="235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29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6D22F-5EBC-0FBF-0DEA-A84DD243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Annulus fibrosis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EB2DA-9F8D-3745-F4D2-066FE3DEC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165" y="1690688"/>
            <a:ext cx="6274676" cy="4486275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Consists of concentric rings of predominantly type I collagen tissue (strong!)</a:t>
            </a:r>
          </a:p>
          <a:p>
            <a:endParaRPr lang="en-GB" dirty="0"/>
          </a:p>
          <a:p>
            <a:r>
              <a:rPr lang="en-GB" dirty="0"/>
              <a:t>Bound together by proteoglycan gel and elastic fibres. Proteoglycans attract water which give discs their cushion effect (shock absorbers)</a:t>
            </a:r>
          </a:p>
          <a:p>
            <a:endParaRPr lang="en-GB" dirty="0"/>
          </a:p>
          <a:p>
            <a:r>
              <a:rPr lang="en-GB" dirty="0"/>
              <a:t>Composed of layers (lamella)</a:t>
            </a:r>
          </a:p>
          <a:p>
            <a:endParaRPr lang="en-GB" dirty="0"/>
          </a:p>
          <a:p>
            <a:r>
              <a:rPr lang="en-GB" dirty="0"/>
              <a:t>Outer 1/3 highly innervated with receptors</a:t>
            </a:r>
          </a:p>
        </p:txBody>
      </p:sp>
      <p:pic>
        <p:nvPicPr>
          <p:cNvPr id="5" name="Picture 4" descr="A picture containing sliced, fresh&#10;&#10;Description automatically generated">
            <a:extLst>
              <a:ext uri="{FF2B5EF4-FFF2-40B4-BE49-F238E27FC236}">
                <a16:creationId xmlns:a16="http://schemas.microsoft.com/office/drawing/2014/main" id="{2ECB618D-7E8F-F64C-9A67-F2FFFF2AF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308" y="1587259"/>
            <a:ext cx="4576892" cy="388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47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9283E-3DCB-7BE2-B444-E9CB75EA5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Vertebral end 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14C51-E126-B505-0BF9-C2361D1A9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47" y="1825625"/>
            <a:ext cx="6156435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Continuation of annulus fibrosis to transition to vertebral body</a:t>
            </a:r>
          </a:p>
          <a:p>
            <a:r>
              <a:rPr lang="en-GB" dirty="0"/>
              <a:t>Serve as the interface between rigid vertebral bodies and pliant intervertebral disc</a:t>
            </a:r>
          </a:p>
          <a:p>
            <a:r>
              <a:rPr lang="en-GB" dirty="0"/>
              <a:t>Discs don’t have a dedicated blood supply - end plates must balance conflicting requirements of being strong to prevent vertebral fracture and porous to facilitate transport between disc cells</a:t>
            </a:r>
          </a:p>
          <a:p>
            <a:r>
              <a:rPr lang="en-GB" dirty="0"/>
              <a:t>Horizontal collagen fibre orientation</a:t>
            </a:r>
          </a:p>
        </p:txBody>
      </p:sp>
      <p:pic>
        <p:nvPicPr>
          <p:cNvPr id="5" name="Picture 4" descr="A close-up of a person's chest&#10;&#10;Description automatically generated with low confidence">
            <a:extLst>
              <a:ext uri="{FF2B5EF4-FFF2-40B4-BE49-F238E27FC236}">
                <a16:creationId xmlns:a16="http://schemas.microsoft.com/office/drawing/2014/main" id="{84F17CFF-BA0E-8E84-E272-DEA15C6F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695" y="365125"/>
            <a:ext cx="3760160" cy="3067426"/>
          </a:xfrm>
          <a:prstGeom prst="rect">
            <a:avLst/>
          </a:prstGeom>
        </p:spPr>
      </p:pic>
      <p:pic>
        <p:nvPicPr>
          <p:cNvPr id="7" name="Picture 6" descr="A picture containing text, mirror&#10;&#10;Description automatically generated">
            <a:extLst>
              <a:ext uri="{FF2B5EF4-FFF2-40B4-BE49-F238E27FC236}">
                <a16:creationId xmlns:a16="http://schemas.microsoft.com/office/drawing/2014/main" id="{B4E0FE05-0914-E721-3E08-64BDC6EBB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695" y="3594843"/>
            <a:ext cx="3760160" cy="306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0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05201F-3C19-331D-958B-636F0A19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B41E10-81B2-4016-D688-9D30379D8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322286"/>
            <a:ext cx="10233800" cy="4351338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9" name="Round Diagonal Corner Rectangle 2">
            <a:extLst>
              <a:ext uri="{FF2B5EF4-FFF2-40B4-BE49-F238E27FC236}">
                <a16:creationId xmlns:a16="http://schemas.microsoft.com/office/drawing/2014/main" id="{688ABB6D-824B-6FB6-4B11-0398342C528E}"/>
              </a:ext>
            </a:extLst>
          </p:cNvPr>
          <p:cNvSpPr/>
          <p:nvPr/>
        </p:nvSpPr>
        <p:spPr>
          <a:xfrm>
            <a:off x="365133" y="931761"/>
            <a:ext cx="11203310" cy="515976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en-GB" sz="2800" dirty="0">
              <a:solidFill>
                <a:schemeClr val="bg1"/>
              </a:solidFill>
            </a:endParaRPr>
          </a:p>
        </p:txBody>
      </p:sp>
      <p:pic>
        <p:nvPicPr>
          <p:cNvPr id="10" name="Picture 9" descr="A cartoon of a person">
            <a:extLst>
              <a:ext uri="{FF2B5EF4-FFF2-40B4-BE49-F238E27FC236}">
                <a16:creationId xmlns:a16="http://schemas.microsoft.com/office/drawing/2014/main" id="{84623DDD-BE67-26B1-2EF9-A2E1003D7B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075" y="2894862"/>
            <a:ext cx="3315163" cy="3172268"/>
          </a:xfrm>
          <a:prstGeom prst="rect">
            <a:avLst/>
          </a:prstGeom>
          <a:ln>
            <a:noFill/>
          </a:ln>
        </p:spPr>
      </p:pic>
      <p:sp>
        <p:nvSpPr>
          <p:cNvPr id="11" name="Oval Callout 4">
            <a:extLst>
              <a:ext uri="{FF2B5EF4-FFF2-40B4-BE49-F238E27FC236}">
                <a16:creationId xmlns:a16="http://schemas.microsoft.com/office/drawing/2014/main" id="{493C143A-E5D4-7DF6-3565-BBF84E50D7E9}"/>
              </a:ext>
            </a:extLst>
          </p:cNvPr>
          <p:cNvSpPr/>
          <p:nvPr/>
        </p:nvSpPr>
        <p:spPr>
          <a:xfrm>
            <a:off x="7854262" y="1135380"/>
            <a:ext cx="3456384" cy="2376264"/>
          </a:xfrm>
          <a:prstGeom prst="wedgeEllipseCallout">
            <a:avLst>
              <a:gd name="adj1" fmla="val -44917"/>
              <a:gd name="adj2" fmla="val 56293"/>
            </a:avLst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You have slipped a disc!</a:t>
            </a:r>
          </a:p>
        </p:txBody>
      </p:sp>
    </p:spTree>
    <p:extLst>
      <p:ext uri="{BB962C8B-B14F-4D97-AF65-F5344CB8AC3E}">
        <p14:creationId xmlns:p14="http://schemas.microsoft.com/office/powerpoint/2010/main" val="4262887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79568-6163-159B-3D91-F41924F17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Lumbar discs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FB2A8-8CDF-97A4-98F6-7227F3D94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Approximately cylindrical in shape</a:t>
            </a:r>
          </a:p>
          <a:p>
            <a:r>
              <a:rPr lang="en-GB" dirty="0"/>
              <a:t>Each lamella thicker anteriorly than posteriorly therefore disc thinner posteriorly</a:t>
            </a:r>
          </a:p>
          <a:p>
            <a:r>
              <a:rPr lang="en-GB" dirty="0"/>
              <a:t>Collagen in posterior fibres are more closely packed therefore stronger</a:t>
            </a:r>
          </a:p>
          <a:p>
            <a:r>
              <a:rPr lang="en-GB" dirty="0"/>
              <a:t>Wedge shape of the disc contributes to the formation of lordosis</a:t>
            </a:r>
          </a:p>
          <a:p>
            <a:r>
              <a:rPr lang="en-GB" dirty="0"/>
              <a:t>Able to withstand flexion pressure but fatigue predisposes – Rowing up to 53% of injuries are disc related (Thornton </a:t>
            </a:r>
            <a:r>
              <a:rPr lang="en-GB" i="1" dirty="0"/>
              <a:t>et al</a:t>
            </a:r>
            <a:r>
              <a:rPr lang="en-GB" dirty="0"/>
              <a:t>., 2016)</a:t>
            </a:r>
          </a:p>
        </p:txBody>
      </p:sp>
    </p:spTree>
    <p:extLst>
      <p:ext uri="{BB962C8B-B14F-4D97-AF65-F5344CB8AC3E}">
        <p14:creationId xmlns:p14="http://schemas.microsoft.com/office/powerpoint/2010/main" val="2732641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008034-DF4D-084E-A11D-F13C2A7AE477}"/>
              </a:ext>
            </a:extLst>
          </p:cNvPr>
          <p:cNvSpPr/>
          <p:nvPr/>
        </p:nvSpPr>
        <p:spPr>
          <a:xfrm>
            <a:off x="622930" y="1569385"/>
            <a:ext cx="7720970" cy="4843294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B8DAA-DDA9-3E4C-8A02-D2E08253AF64}"/>
              </a:ext>
            </a:extLst>
          </p:cNvPr>
          <p:cNvSpPr txBox="1"/>
          <p:nvPr/>
        </p:nvSpPr>
        <p:spPr>
          <a:xfrm>
            <a:off x="1009069" y="1708777"/>
            <a:ext cx="488862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Abdominals: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742950" lvl="1" indent="-285750"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Rectus abdominis</a:t>
            </a:r>
          </a:p>
          <a:p>
            <a:pPr marL="742950" lvl="1" indent="-285750"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External oblique abdominal muscle</a:t>
            </a:r>
          </a:p>
          <a:p>
            <a:pPr marL="742950" lvl="1" indent="-285750"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Internal oblique abdominal muscle</a:t>
            </a:r>
          </a:p>
          <a:p>
            <a:pPr marL="742950" lvl="1" indent="-285750"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Quadratus lumborum</a:t>
            </a:r>
          </a:p>
          <a:p>
            <a:pPr marL="742950" lvl="1" indent="-285750"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Transverse abdominis 	</a:t>
            </a: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Erector Spinae:</a:t>
            </a:r>
          </a:p>
          <a:p>
            <a:pPr marL="742950" lvl="1" indent="-285750"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Iliocostalis</a:t>
            </a:r>
          </a:p>
          <a:p>
            <a:pPr marL="742950" lvl="1" indent="-285750"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Longissimus </a:t>
            </a:r>
          </a:p>
          <a:p>
            <a:pPr marL="742950" lvl="1" indent="-285750"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Spinalis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8F975EC3-DA96-314C-995B-EA3C4F3FAF7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8168053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Main mobiliser muscles of the Trunk</a:t>
            </a:r>
          </a:p>
        </p:txBody>
      </p:sp>
      <p:pic>
        <p:nvPicPr>
          <p:cNvPr id="8" name="Picture 7" descr="A diagram of the muscles of the human body&#10;&#10;Description automatically generated">
            <a:extLst>
              <a:ext uri="{FF2B5EF4-FFF2-40B4-BE49-F238E27FC236}">
                <a16:creationId xmlns:a16="http://schemas.microsoft.com/office/drawing/2014/main" id="{A23C56B0-BD62-02C1-A24E-FDD41096A8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87" t="4109" r="20860"/>
          <a:stretch/>
        </p:blipFill>
        <p:spPr>
          <a:xfrm>
            <a:off x="7525331" y="1708777"/>
            <a:ext cx="3657600" cy="40134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0355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008034-DF4D-084E-A11D-F13C2A7AE477}"/>
              </a:ext>
            </a:extLst>
          </p:cNvPr>
          <p:cNvSpPr/>
          <p:nvPr/>
        </p:nvSpPr>
        <p:spPr>
          <a:xfrm>
            <a:off x="622930" y="1569385"/>
            <a:ext cx="7720970" cy="4843294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B8DAA-DDA9-3E4C-8A02-D2E08253AF64}"/>
              </a:ext>
            </a:extLst>
          </p:cNvPr>
          <p:cNvSpPr txBox="1"/>
          <p:nvPr/>
        </p:nvSpPr>
        <p:spPr>
          <a:xfrm>
            <a:off x="946628" y="1643045"/>
            <a:ext cx="6991310" cy="4765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O: crest of the pubis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I: cartilage of 5th, 6th and 7th ribs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Action: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Lumbar flexion - uses both sides of muscle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Lateral flexion to the right - uses right side muscle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Lateral flexion to the left - uses left side muscle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Innervation: T7-12, (Ventral Rami)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8F975EC3-DA96-314C-995B-EA3C4F3FAF76}"/>
              </a:ext>
            </a:extLst>
          </p:cNvPr>
          <p:cNvSpPr txBox="1">
            <a:spLocks/>
          </p:cNvSpPr>
          <p:nvPr/>
        </p:nvSpPr>
        <p:spPr>
          <a:xfrm>
            <a:off x="778879" y="624216"/>
            <a:ext cx="3258732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Rectus Abdominus</a:t>
            </a:r>
          </a:p>
        </p:txBody>
      </p:sp>
      <p:pic>
        <p:nvPicPr>
          <p:cNvPr id="3" name="Picture 2" descr="A skeleton with muscles and muscles&#10;&#10;Description automatically generated with medium confidence">
            <a:extLst>
              <a:ext uri="{FF2B5EF4-FFF2-40B4-BE49-F238E27FC236}">
                <a16:creationId xmlns:a16="http://schemas.microsoft.com/office/drawing/2014/main" id="{F95CDE3E-60CE-5A64-C8AD-D812D3F029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98" r="7634" b="2511"/>
          <a:stretch/>
        </p:blipFill>
        <p:spPr>
          <a:xfrm>
            <a:off x="7622217" y="1643045"/>
            <a:ext cx="3946853" cy="45072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20400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008034-DF4D-084E-A11D-F13C2A7AE477}"/>
              </a:ext>
            </a:extLst>
          </p:cNvPr>
          <p:cNvSpPr/>
          <p:nvPr/>
        </p:nvSpPr>
        <p:spPr>
          <a:xfrm>
            <a:off x="622930" y="1569385"/>
            <a:ext cx="7720970" cy="4843294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B8DAA-DDA9-3E4C-8A02-D2E08253AF64}"/>
              </a:ext>
            </a:extLst>
          </p:cNvPr>
          <p:cNvSpPr txBox="1"/>
          <p:nvPr/>
        </p:nvSpPr>
        <p:spPr>
          <a:xfrm>
            <a:off x="899128" y="1569385"/>
            <a:ext cx="7564218" cy="488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O: lower eight ribs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I: crest of the ilium and crest of pubis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Action: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Lumbar flexion - uses both sides of muscle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Right side - lumbar lateral flexion to the right, and rotation to the left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Left side - lumbar lateral flexion to the left, and rotation to the right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Innervation: Upper 2/3 = T7-11, lower costal nerves 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Lower 1/3 = T12 – L1, Subcostal nerve + Lumbar plexus 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8F975EC3-DA96-314C-995B-EA3C4F3FAF76}"/>
              </a:ext>
            </a:extLst>
          </p:cNvPr>
          <p:cNvSpPr txBox="1">
            <a:spLocks/>
          </p:cNvSpPr>
          <p:nvPr/>
        </p:nvSpPr>
        <p:spPr>
          <a:xfrm>
            <a:off x="778879" y="624216"/>
            <a:ext cx="4933152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External Oblique Abdominals</a:t>
            </a:r>
          </a:p>
        </p:txBody>
      </p:sp>
      <p:pic>
        <p:nvPicPr>
          <p:cNvPr id="3" name="Picture 2" descr="A skeleton with green and white stripes&#10;&#10;Description automatically generated">
            <a:extLst>
              <a:ext uri="{FF2B5EF4-FFF2-40B4-BE49-F238E27FC236}">
                <a16:creationId xmlns:a16="http://schemas.microsoft.com/office/drawing/2014/main" id="{B6BC9397-3089-0C28-28A0-38A22569E0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08" t="3210" r="10750" b="2337"/>
          <a:stretch/>
        </p:blipFill>
        <p:spPr>
          <a:xfrm>
            <a:off x="8463346" y="1421080"/>
            <a:ext cx="3660570" cy="44077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28828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008034-DF4D-084E-A11D-F13C2A7AE477}"/>
              </a:ext>
            </a:extLst>
          </p:cNvPr>
          <p:cNvSpPr/>
          <p:nvPr/>
        </p:nvSpPr>
        <p:spPr>
          <a:xfrm>
            <a:off x="622930" y="1569385"/>
            <a:ext cx="7720970" cy="4843294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B8DAA-DDA9-3E4C-8A02-D2E08253AF64}"/>
              </a:ext>
            </a:extLst>
          </p:cNvPr>
          <p:cNvSpPr txBox="1"/>
          <p:nvPr/>
        </p:nvSpPr>
        <p:spPr>
          <a:xfrm>
            <a:off x="778880" y="1656080"/>
            <a:ext cx="7720970" cy="4811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O: crest of ilium and crest of pubis (via inguinal ligament)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I: cartilages of the lower ribs and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linea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alba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Action: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Lumbar flexion - uses both sides of muscle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Rotation to the same side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Innervation: T7-T11 + L1, Ventral rami of intercostal nerves +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ilioinguinal nerve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8F975EC3-DA96-314C-995B-EA3C4F3FAF76}"/>
              </a:ext>
            </a:extLst>
          </p:cNvPr>
          <p:cNvSpPr txBox="1">
            <a:spLocks/>
          </p:cNvSpPr>
          <p:nvPr/>
        </p:nvSpPr>
        <p:spPr>
          <a:xfrm>
            <a:off x="778879" y="624216"/>
            <a:ext cx="4933152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Internal Oblique Abdominals</a:t>
            </a:r>
          </a:p>
        </p:txBody>
      </p:sp>
      <p:pic>
        <p:nvPicPr>
          <p:cNvPr id="4" name="Picture 3" descr="A human skeleton with the muscles of the abdomen&#10;&#10;Description automatically generated">
            <a:extLst>
              <a:ext uri="{FF2B5EF4-FFF2-40B4-BE49-F238E27FC236}">
                <a16:creationId xmlns:a16="http://schemas.microsoft.com/office/drawing/2014/main" id="{723DA99D-AD20-38C9-4E0A-0532C30E08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40" t="3117" r="9629" b="2684"/>
          <a:stretch/>
        </p:blipFill>
        <p:spPr>
          <a:xfrm>
            <a:off x="7938793" y="1701800"/>
            <a:ext cx="3718167" cy="44087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20279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008034-DF4D-084E-A11D-F13C2A7AE477}"/>
              </a:ext>
            </a:extLst>
          </p:cNvPr>
          <p:cNvSpPr/>
          <p:nvPr/>
        </p:nvSpPr>
        <p:spPr>
          <a:xfrm>
            <a:off x="622930" y="1569385"/>
            <a:ext cx="7720970" cy="4843294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B8DAA-DDA9-3E4C-8A02-D2E08253AF64}"/>
              </a:ext>
            </a:extLst>
          </p:cNvPr>
          <p:cNvSpPr txBox="1"/>
          <p:nvPr/>
        </p:nvSpPr>
        <p:spPr>
          <a:xfrm>
            <a:off x="778879" y="1569385"/>
            <a:ext cx="7318641" cy="479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FF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O: posterior inner lip of iliac crest</a:t>
            </a:r>
          </a:p>
          <a:p>
            <a:pPr>
              <a:buClr>
                <a:srgbClr val="FFFF00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FFFF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I: lower border of 12</a:t>
            </a:r>
            <a:r>
              <a:rPr lang="en-GB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rib; transverse process of upper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	lumbar vertebrae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Action: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Lateral flexion on ipsilateral (same) side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Stabilises pelvis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  <a:buFont typeface="Wingdings" pitchFamily="2" charset="2"/>
              <a:buChar char="Ø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Innervation: T12-L3 ,Subcostal nerve (T12), Iliohypogastric and Ilioinguinal nerve (L1), ventral rami (L2 and L3)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FFFF00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8F975EC3-DA96-314C-995B-EA3C4F3FAF76}"/>
              </a:ext>
            </a:extLst>
          </p:cNvPr>
          <p:cNvSpPr txBox="1">
            <a:spLocks/>
          </p:cNvSpPr>
          <p:nvPr/>
        </p:nvSpPr>
        <p:spPr>
          <a:xfrm>
            <a:off x="778879" y="624216"/>
            <a:ext cx="3674368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Quadratus Lumborum</a:t>
            </a:r>
          </a:p>
        </p:txBody>
      </p:sp>
      <p:pic>
        <p:nvPicPr>
          <p:cNvPr id="3" name="Picture 2" descr="A diagram of the human skeleton&#10;&#10;Description automatically generated">
            <a:extLst>
              <a:ext uri="{FF2B5EF4-FFF2-40B4-BE49-F238E27FC236}">
                <a16:creationId xmlns:a16="http://schemas.microsoft.com/office/drawing/2014/main" id="{DFD07FEA-F51F-BEE1-AE32-BA89B397F7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50" t="10909" r="10577" b="10823"/>
          <a:stretch/>
        </p:blipFill>
        <p:spPr>
          <a:xfrm>
            <a:off x="7558640" y="1764362"/>
            <a:ext cx="4332757" cy="42298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bg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135821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008034-DF4D-084E-A11D-F13C2A7AE477}"/>
              </a:ext>
            </a:extLst>
          </p:cNvPr>
          <p:cNvSpPr/>
          <p:nvPr/>
        </p:nvSpPr>
        <p:spPr>
          <a:xfrm>
            <a:off x="622930" y="1569385"/>
            <a:ext cx="7720970" cy="4843294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B8DAA-DDA9-3E4C-8A02-D2E08253AF64}"/>
              </a:ext>
            </a:extLst>
          </p:cNvPr>
          <p:cNvSpPr txBox="1"/>
          <p:nvPr/>
        </p:nvSpPr>
        <p:spPr>
          <a:xfrm>
            <a:off x="766102" y="1409561"/>
            <a:ext cx="5685104" cy="4965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FF00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FFFF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O: ilium; sacrum; lumbar and thoracic transverse </a:t>
            </a:r>
          </a:p>
          <a:p>
            <a:pPr>
              <a:spcAft>
                <a:spcPts val="1800"/>
              </a:spcAft>
              <a:buClr>
                <a:srgbClr val="FFFF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processes; cervical and thoracic spinous processes</a:t>
            </a:r>
          </a:p>
          <a:p>
            <a:pPr>
              <a:buClr>
                <a:srgbClr val="FFFF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I: Posterior ribs and cervical and thoracic transverse processes; cervical and thoracic spinous processes; base of the skull </a:t>
            </a:r>
          </a:p>
          <a:p>
            <a:pPr>
              <a:buClr>
                <a:srgbClr val="FFFF00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srgbClr val="FFFF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Action:</a:t>
            </a:r>
          </a:p>
          <a:p>
            <a:pPr>
              <a:lnSpc>
                <a:spcPct val="150000"/>
              </a:lnSpc>
              <a:buClr>
                <a:srgbClr val="FFFF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Extension, lateral flexion, rotation</a:t>
            </a:r>
          </a:p>
          <a:p>
            <a:pPr>
              <a:lnSpc>
                <a:spcPct val="150000"/>
              </a:lnSpc>
              <a:buClr>
                <a:srgbClr val="FFFF00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srgbClr val="FFFF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Innervation: C1-L5 Dorsal Rami of spinal nerve</a:t>
            </a:r>
          </a:p>
          <a:p>
            <a:pPr>
              <a:lnSpc>
                <a:spcPct val="150000"/>
              </a:lnSpc>
              <a:buClr>
                <a:srgbClr val="FFFF00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8F975EC3-DA96-314C-995B-EA3C4F3FAF76}"/>
              </a:ext>
            </a:extLst>
          </p:cNvPr>
          <p:cNvSpPr txBox="1">
            <a:spLocks/>
          </p:cNvSpPr>
          <p:nvPr/>
        </p:nvSpPr>
        <p:spPr>
          <a:xfrm>
            <a:off x="778879" y="624216"/>
            <a:ext cx="2607259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Erector Spinae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859D41-B69F-64CA-DF9F-A972531C1DB2}"/>
              </a:ext>
            </a:extLst>
          </p:cNvPr>
          <p:cNvGrpSpPr/>
          <p:nvPr/>
        </p:nvGrpSpPr>
        <p:grpSpPr>
          <a:xfrm>
            <a:off x="6738828" y="1698682"/>
            <a:ext cx="5334000" cy="4584700"/>
            <a:chOff x="6463984" y="1227466"/>
            <a:chExt cx="5334000" cy="4584700"/>
          </a:xfrm>
        </p:grpSpPr>
        <p:pic>
          <p:nvPicPr>
            <p:cNvPr id="9" name="Picture 8" descr="A diagram of the back muscles&#10;&#10;Description automatically generated">
              <a:extLst>
                <a:ext uri="{FF2B5EF4-FFF2-40B4-BE49-F238E27FC236}">
                  <a16:creationId xmlns:a16="http://schemas.microsoft.com/office/drawing/2014/main" id="{FBE30146-B661-B4FF-5136-60B7A1B6D8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909" r="7091"/>
            <a:stretch/>
          </p:blipFill>
          <p:spPr>
            <a:xfrm>
              <a:off x="6463984" y="1227466"/>
              <a:ext cx="5334000" cy="45847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09E2435-4091-0DEE-8D3B-7BA281CBACB5}"/>
                </a:ext>
              </a:extLst>
            </p:cNvPr>
            <p:cNvSpPr txBox="1"/>
            <p:nvPr/>
          </p:nvSpPr>
          <p:spPr>
            <a:xfrm>
              <a:off x="6708807" y="1463040"/>
              <a:ext cx="721895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001" sz="1200" dirty="0"/>
                <a:t>Spinalis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0DE5A5B-2E41-41D8-5A0D-316AA7731920}"/>
                </a:ext>
              </a:extLst>
            </p:cNvPr>
            <p:cNvSpPr txBox="1"/>
            <p:nvPr/>
          </p:nvSpPr>
          <p:spPr>
            <a:xfrm>
              <a:off x="6785902" y="2074294"/>
              <a:ext cx="93364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001" sz="1200" dirty="0"/>
                <a:t>Longissimus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C7C02FD-5627-651B-3661-87D12BD16BBA}"/>
                </a:ext>
              </a:extLst>
            </p:cNvPr>
            <p:cNvSpPr txBox="1"/>
            <p:nvPr/>
          </p:nvSpPr>
          <p:spPr>
            <a:xfrm>
              <a:off x="6738828" y="2594530"/>
              <a:ext cx="93364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001" sz="1200" dirty="0"/>
                <a:t>Intercostalis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88D4A9D-B39F-D1C7-68F4-E22F3291616A}"/>
                </a:ext>
              </a:extLst>
            </p:cNvPr>
            <p:cNvCxnSpPr>
              <a:cxnSpLocks/>
            </p:cNvCxnSpPr>
            <p:nvPr/>
          </p:nvCxnSpPr>
          <p:spPr>
            <a:xfrm>
              <a:off x="7430703" y="1734447"/>
              <a:ext cx="1544248" cy="143905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4653C59-B2F3-BAF6-C81D-8962E137F964}"/>
                </a:ext>
              </a:extLst>
            </p:cNvPr>
            <p:cNvCxnSpPr>
              <a:cxnSpLocks/>
            </p:cNvCxnSpPr>
            <p:nvPr/>
          </p:nvCxnSpPr>
          <p:spPr>
            <a:xfrm>
              <a:off x="7730138" y="2189970"/>
              <a:ext cx="989307" cy="135230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A4DBBFE-63EF-2011-CF4D-EE09840D26F1}"/>
                </a:ext>
              </a:extLst>
            </p:cNvPr>
            <p:cNvCxnSpPr>
              <a:cxnSpLocks/>
            </p:cNvCxnSpPr>
            <p:nvPr/>
          </p:nvCxnSpPr>
          <p:spPr>
            <a:xfrm>
              <a:off x="7683064" y="2866123"/>
              <a:ext cx="867939" cy="120407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579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149B3-45E8-B922-92C2-8874B9076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Stabilisers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7BFD-2CDF-131C-8CE9-24A7008C7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8702"/>
            <a:ext cx="4876800" cy="4615519"/>
          </a:xfrm>
        </p:spPr>
        <p:txBody>
          <a:bodyPr>
            <a:normAutofit/>
          </a:bodyPr>
          <a:lstStyle/>
          <a:p>
            <a:r>
              <a:rPr lang="en-GB" dirty="0"/>
              <a:t>Transversus abdominis</a:t>
            </a:r>
          </a:p>
          <a:p>
            <a:r>
              <a:rPr lang="en-GB" dirty="0"/>
              <a:t>Multifidus</a:t>
            </a:r>
          </a:p>
          <a:p>
            <a:endParaRPr lang="en-GB" dirty="0"/>
          </a:p>
          <a:p>
            <a:r>
              <a:rPr lang="en-GB" dirty="0"/>
              <a:t>Also - Rotators, Diaphragm, Pelvic Floor</a:t>
            </a:r>
          </a:p>
        </p:txBody>
      </p:sp>
      <p:pic>
        <p:nvPicPr>
          <p:cNvPr id="1026" name="Picture 2" descr="Train Your Core and Get Abs | Blog | Ready Room Health">
            <a:extLst>
              <a:ext uri="{FF2B5EF4-FFF2-40B4-BE49-F238E27FC236}">
                <a16:creationId xmlns:a16="http://schemas.microsoft.com/office/drawing/2014/main" id="{E1555D25-A612-09D2-7690-5D15003BED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7816"/>
          <a:stretch>
            <a:fillRect/>
          </a:stretch>
        </p:blipFill>
        <p:spPr bwMode="auto">
          <a:xfrm>
            <a:off x="5788572" y="856703"/>
            <a:ext cx="6096000" cy="563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380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19F6-8774-411C-8B0B-7FA9BC252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Transversus Abdominis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196AA-F27C-83C5-2B95-EEA55161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825624"/>
            <a:ext cx="8663152" cy="489048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O:</a:t>
            </a:r>
          </a:p>
          <a:p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Lateral third of inguinal ligament and associated iliac fascia,</a:t>
            </a:r>
          </a:p>
          <a:p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Anterior two-third of the iliac crest,</a:t>
            </a:r>
          </a:p>
          <a:p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Thoracolumbar fascia</a:t>
            </a:r>
          </a:p>
          <a:p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Inner surface of lower six costal cartilage and their ribs (7-12)</a:t>
            </a:r>
          </a:p>
          <a:p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I:</a:t>
            </a:r>
          </a:p>
          <a:p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Linea alba</a:t>
            </a:r>
          </a:p>
          <a:p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Aponeurosis of internal abdominal oblique muscle</a:t>
            </a:r>
          </a:p>
          <a:p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Pubic crest</a:t>
            </a:r>
          </a:p>
          <a:p>
            <a:r>
              <a:rPr lang="en-GB" sz="3600" dirty="0" err="1">
                <a:latin typeface="Arial" panose="020B0604020202020204" pitchFamily="34" charset="0"/>
                <a:cs typeface="Arial" panose="020B0604020202020204" pitchFamily="34" charset="0"/>
              </a:rPr>
              <a:t>Pectinal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 line of pubis</a:t>
            </a:r>
          </a:p>
          <a:p>
            <a:pPr marL="0" indent="0">
              <a:buNone/>
            </a:pP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Innervation: T7-11 intercostal nerves + L1 ilioinguinal and iliohypogastric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E468CB-CFD8-F1C1-6AA2-E3E2344E11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79" t="13164" r="49047" b="17180"/>
          <a:stretch>
            <a:fillRect/>
          </a:stretch>
        </p:blipFill>
        <p:spPr>
          <a:xfrm>
            <a:off x="8408471" y="1509938"/>
            <a:ext cx="3218552" cy="383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359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33E4-10B3-C961-F661-B8149F3E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Multifidus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02A3C-8664-B6D7-698D-A59E4DB1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7359857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O: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back surface of the sacrum.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 PSIS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transverse processes 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I: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Spinous process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Stabiliser of Lx, Extension, contralateral rotation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Innervation: Medial dorsal ramus of the spinal nerves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1D1C08-EB0C-FC1D-5D57-AD9AFD79D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170" y="1463040"/>
            <a:ext cx="2446630" cy="482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900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C1D98-A46F-CE04-F132-8861B209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Pelvic girdle 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2D10F-14A1-0E6E-C9B4-D43253FF3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ring of bones that attach the lower limbs to the axial skeleton i.e. the vertebral column, via the sacrum</a:t>
            </a:r>
          </a:p>
          <a:p>
            <a:r>
              <a:rPr lang="en-GB" dirty="0"/>
              <a:t>The pelvis  made up of two innominate bones which are large, flattened and irregularly shaped fusions of three bones; ilium, ischium, pubis</a:t>
            </a:r>
          </a:p>
          <a:p>
            <a:r>
              <a:rPr lang="en-GB" dirty="0"/>
              <a:t>At birth, these bones are connected by cartilage at the acetabulum and only fuse into one bone around the age of 16-18 years</a:t>
            </a:r>
          </a:p>
          <a:p>
            <a:r>
              <a:rPr lang="en-GB" dirty="0"/>
              <a:t>Anteriorly, the pubic bones articulate with one another</a:t>
            </a:r>
          </a:p>
          <a:p>
            <a:r>
              <a:rPr lang="en-GB" dirty="0"/>
              <a:t>Posteriorly, the ilium articulates with the sacrum</a:t>
            </a:r>
          </a:p>
        </p:txBody>
      </p:sp>
    </p:spTree>
    <p:extLst>
      <p:ext uri="{BB962C8B-B14F-4D97-AF65-F5344CB8AC3E}">
        <p14:creationId xmlns:p14="http://schemas.microsoft.com/office/powerpoint/2010/main" val="2617657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421CB-47F9-C543-684B-AA5A2DC8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Ilium</a:t>
            </a:r>
          </a:p>
        </p:txBody>
      </p:sp>
      <p:pic>
        <p:nvPicPr>
          <p:cNvPr id="5" name="Content Placeholder 4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71ED713A-2864-8D25-E429-BF2343850C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6667" y="1825625"/>
            <a:ext cx="6341240" cy="4351338"/>
          </a:xfrm>
          <a:ln w="38100">
            <a:solidFill>
              <a:schemeClr val="bg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6D206B-204E-AC43-F60A-D5216CD94D8B}"/>
              </a:ext>
            </a:extLst>
          </p:cNvPr>
          <p:cNvSpPr/>
          <p:nvPr/>
        </p:nvSpPr>
        <p:spPr>
          <a:xfrm>
            <a:off x="7487728" y="1992702"/>
            <a:ext cx="1920179" cy="11300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916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421CB-47F9-C543-684B-AA5A2DC8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Pubis</a:t>
            </a:r>
          </a:p>
        </p:txBody>
      </p:sp>
      <p:pic>
        <p:nvPicPr>
          <p:cNvPr id="7" name="Content Placeholder 6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E8192F9A-ED96-853D-6225-8C976D04A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0834" y="1825625"/>
            <a:ext cx="6552907" cy="4351338"/>
          </a:xfrm>
          <a:ln w="38100">
            <a:solidFill>
              <a:schemeClr val="bg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5EE1DEB-51C7-8A45-5777-E0DEB263F806}"/>
              </a:ext>
            </a:extLst>
          </p:cNvPr>
          <p:cNvSpPr/>
          <p:nvPr/>
        </p:nvSpPr>
        <p:spPr>
          <a:xfrm>
            <a:off x="7487728" y="1897812"/>
            <a:ext cx="2026013" cy="11300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46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421CB-47F9-C543-684B-AA5A2DC8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Ischium</a:t>
            </a:r>
          </a:p>
        </p:txBody>
      </p:sp>
      <p:pic>
        <p:nvPicPr>
          <p:cNvPr id="6" name="Content Placeholder 5" descr="A screenshot of a video game&#10;&#10;Description automatically generated">
            <a:extLst>
              <a:ext uri="{FF2B5EF4-FFF2-40B4-BE49-F238E27FC236}">
                <a16:creationId xmlns:a16="http://schemas.microsoft.com/office/drawing/2014/main" id="{70010DBE-2219-7666-C9F6-E4980F7093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2057" y="1825625"/>
            <a:ext cx="6370461" cy="4351338"/>
          </a:xfrm>
          <a:ln w="38100">
            <a:solidFill>
              <a:schemeClr val="bg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E59F29D-47B6-A467-7B12-4B0C273C7204}"/>
              </a:ext>
            </a:extLst>
          </p:cNvPr>
          <p:cNvSpPr/>
          <p:nvPr/>
        </p:nvSpPr>
        <p:spPr>
          <a:xfrm>
            <a:off x="7427343" y="1915064"/>
            <a:ext cx="1920179" cy="11300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69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BF15-EE3C-48B7-B79E-DC4C37392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Pubic Symphysis</a:t>
            </a:r>
          </a:p>
        </p:txBody>
      </p:sp>
      <p:pic>
        <p:nvPicPr>
          <p:cNvPr id="5" name="Content Placeholder 4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AB2DA099-6C57-0526-EDE0-F1611E3F9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9153" y="1825625"/>
            <a:ext cx="6416269" cy="4351338"/>
          </a:xfrm>
          <a:ln w="38100">
            <a:solidFill>
              <a:schemeClr val="bg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3E0938E-7558-4425-DD0F-D4A757B2BCC0}"/>
              </a:ext>
            </a:extLst>
          </p:cNvPr>
          <p:cNvSpPr/>
          <p:nvPr/>
        </p:nvSpPr>
        <p:spPr>
          <a:xfrm>
            <a:off x="7525243" y="1923690"/>
            <a:ext cx="1920179" cy="11300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61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Pelvic girdle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825625"/>
            <a:ext cx="6090098" cy="4667250"/>
          </a:xfrm>
        </p:spPr>
        <p:txBody>
          <a:bodyPr>
            <a:normAutofit/>
          </a:bodyPr>
          <a:lstStyle/>
          <a:p>
            <a:r>
              <a:rPr lang="en-US" dirty="0"/>
              <a:t>Supports Lx</a:t>
            </a:r>
          </a:p>
          <a:p>
            <a:r>
              <a:rPr lang="en-US" dirty="0"/>
              <a:t>Connects spine and pelvis </a:t>
            </a:r>
          </a:p>
          <a:p>
            <a:r>
              <a:rPr lang="en-US" dirty="0"/>
              <a:t>Transmits forces from spine into lower limbs (and vice versa)</a:t>
            </a:r>
          </a:p>
          <a:p>
            <a:r>
              <a:rPr lang="en-US" dirty="0"/>
              <a:t>Serves as attachment sites for muscles of the trunk and lower limb</a:t>
            </a:r>
          </a:p>
          <a:p>
            <a:r>
              <a:rPr lang="en-US" dirty="0"/>
              <a:t>Contains and protects reproductive organs</a:t>
            </a:r>
          </a:p>
          <a:p>
            <a:r>
              <a:rPr lang="en-US" dirty="0"/>
              <a:t>In females, it provides bony support for the birth canal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4AAA75-8106-1C42-CDEC-18A93625D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773" y="3053870"/>
            <a:ext cx="4686954" cy="3439005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13875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1502" y="5207831"/>
            <a:ext cx="9144000" cy="1641490"/>
          </a:xfrm>
        </p:spPr>
        <p:txBody>
          <a:bodyPr/>
          <a:lstStyle/>
          <a:p>
            <a:pPr algn="ctr"/>
            <a:r>
              <a:rPr lang="en-US" dirty="0"/>
              <a:t>SIJ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9896" r="9149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902" y="375249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767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anatomy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825625"/>
            <a:ext cx="70207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Made up of Sacrum and </a:t>
            </a:r>
            <a:r>
              <a:rPr lang="en-US" dirty="0" err="1"/>
              <a:t>Illium</a:t>
            </a:r>
            <a:endParaRPr lang="en-US" dirty="0"/>
          </a:p>
          <a:p>
            <a:r>
              <a:rPr lang="en-US" dirty="0"/>
              <a:t>Capsule and anterior sacroiliac ligament situated anteriorly</a:t>
            </a:r>
          </a:p>
          <a:p>
            <a:r>
              <a:rPr lang="en-US" dirty="0"/>
              <a:t>Posterior is largely fibrous ligaments (posterior sacroiliac ligament and interosseous ligament)</a:t>
            </a:r>
          </a:p>
          <a:p>
            <a:r>
              <a:rPr lang="en-US" dirty="0"/>
              <a:t>Very stable so small ROM – 2-3mm (Goode </a:t>
            </a:r>
            <a:r>
              <a:rPr lang="en-US" i="1" dirty="0"/>
              <a:t>et al</a:t>
            </a:r>
            <a:r>
              <a:rPr lang="en-US" dirty="0"/>
              <a:t>., 2008)</a:t>
            </a:r>
          </a:p>
          <a:p>
            <a:r>
              <a:rPr lang="en-US" dirty="0"/>
              <a:t>Sacrum not </a:t>
            </a:r>
            <a:r>
              <a:rPr lang="en-US" dirty="0" err="1"/>
              <a:t>mobilised</a:t>
            </a:r>
            <a:r>
              <a:rPr lang="en-US" dirty="0"/>
              <a:t> by muscles - All surrounding muscles </a:t>
            </a:r>
            <a:r>
              <a:rPr lang="en-US" dirty="0" err="1"/>
              <a:t>stabilise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E70E87-DFFE-78F4-B486-34B15EBDD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9896" r="9149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137" y="2424709"/>
            <a:ext cx="5394711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54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98" y="524702"/>
            <a:ext cx="8448675" cy="593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73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Palpation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9737" y="1690688"/>
            <a:ext cx="8772525" cy="3267075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43" y="5135421"/>
            <a:ext cx="11280711" cy="1308447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34678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93001-4F64-C596-2B20-82254108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Lumbosacral nerve anatomy</a:t>
            </a:r>
          </a:p>
        </p:txBody>
      </p:sp>
      <p:pic>
        <p:nvPicPr>
          <p:cNvPr id="7" name="Content Placeholder 6" descr="A close-up of a human skeleton&#10;&#10;Description automatically generated with medium confidence">
            <a:extLst>
              <a:ext uri="{FF2B5EF4-FFF2-40B4-BE49-F238E27FC236}">
                <a16:creationId xmlns:a16="http://schemas.microsoft.com/office/drawing/2014/main" id="{0AA29F28-34A0-828C-80B7-7B49FB801E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8224" y="1794717"/>
            <a:ext cx="3609975" cy="4698158"/>
          </a:xfrm>
        </p:spPr>
      </p:pic>
      <p:pic>
        <p:nvPicPr>
          <p:cNvPr id="9" name="Picture 8" descr="A close-up of a spider&#10;&#10;Description automatically generated">
            <a:extLst>
              <a:ext uri="{FF2B5EF4-FFF2-40B4-BE49-F238E27FC236}">
                <a16:creationId xmlns:a16="http://schemas.microsoft.com/office/drawing/2014/main" id="{1D4FF886-4EB4-FE33-BE82-288C18D88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794717"/>
            <a:ext cx="3785099" cy="469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570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5D6C-DD45-2703-278B-E9696E8B4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Neural pathways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C90D1-3DAC-700D-5D0E-577C8DB80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5134496" cy="4351338"/>
          </a:xfrm>
        </p:spPr>
        <p:txBody>
          <a:bodyPr/>
          <a:lstStyle/>
          <a:p>
            <a:r>
              <a:rPr lang="en-GB" dirty="0"/>
              <a:t>You need to be aware of all peripheral nerves inc. ones not shown here!</a:t>
            </a:r>
          </a:p>
          <a:p>
            <a:r>
              <a:rPr lang="en-GB" dirty="0"/>
              <a:t>It is important you know their pathway, as well as their dermatological and muscular innervation </a:t>
            </a:r>
          </a:p>
          <a:p>
            <a:r>
              <a:rPr lang="en-GB" dirty="0"/>
              <a:t>‘To test and to treat’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59704246-0A1C-E8F3-1F5C-F7BD0EB1E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218" y="365125"/>
            <a:ext cx="5325739" cy="623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883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CE70-9755-DB0E-5024-0F1B5B47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Spinal cord segment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15F004-5160-B197-2E1A-FDD637C92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6861"/>
            <a:ext cx="5881035" cy="67411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DE269F-C229-4E6F-AD50-52B28B0593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94" b="9048"/>
          <a:stretch>
            <a:fillRect/>
          </a:stretch>
        </p:blipFill>
        <p:spPr>
          <a:xfrm>
            <a:off x="7144976" y="1302178"/>
            <a:ext cx="4571375" cy="437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863471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B4B4B"/>
      </a:dk2>
      <a:lt2>
        <a:srgbClr val="8ED5C1"/>
      </a:lt2>
      <a:accent1>
        <a:srgbClr val="73CBB2"/>
      </a:accent1>
      <a:accent2>
        <a:srgbClr val="AACD5B"/>
      </a:accent2>
      <a:accent3>
        <a:srgbClr val="65A9E1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epth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47428100-C732-4B2E-A30A-5273F581A0F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127747f-6f6d-4fd1-bcfc-39a52bf0a93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3B41819C3940499EC128B1AF2E4054" ma:contentTypeVersion="16" ma:contentTypeDescription="Create a new document." ma:contentTypeScope="" ma:versionID="81b8a5da77043746afabbf2d93c6d435">
  <xsd:schema xmlns:xsd="http://www.w3.org/2001/XMLSchema" xmlns:xs="http://www.w3.org/2001/XMLSchema" xmlns:p="http://schemas.microsoft.com/office/2006/metadata/properties" xmlns:ns3="3127747f-6f6d-4fd1-bcfc-39a52bf0a935" xmlns:ns4="3f982e44-98c1-4fee-953d-2dae461483a4" targetNamespace="http://schemas.microsoft.com/office/2006/metadata/properties" ma:root="true" ma:fieldsID="2ef54820eba7290e0d10e95ec207952c" ns3:_="" ns4:_="">
    <xsd:import namespace="3127747f-6f6d-4fd1-bcfc-39a52bf0a935"/>
    <xsd:import namespace="3f982e44-98c1-4fee-953d-2dae461483a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27747f-6f6d-4fd1-bcfc-39a52bf0a9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82e44-98c1-4fee-953d-2dae461483a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0628CF-B91A-4AA1-9CBC-2CAF9FB85AB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484E15-7EA8-4A09-B913-6D31909324BE}">
  <ds:schemaRefs>
    <ds:schemaRef ds:uri="3f982e44-98c1-4fee-953d-2dae461483a4"/>
    <ds:schemaRef ds:uri="http://purl.org/dc/elements/1.1/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3127747f-6f6d-4fd1-bcfc-39a52bf0a935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5CBA173-C295-444C-8044-F84AD22575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27747f-6f6d-4fd1-bcfc-39a52bf0a935"/>
    <ds:schemaRef ds:uri="3f982e44-98c1-4fee-953d-2dae461483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1</TotalTime>
  <Words>1128</Words>
  <Application>Microsoft Office PowerPoint</Application>
  <PresentationFormat>Widescreen</PresentationFormat>
  <Paragraphs>227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Corbel</vt:lpstr>
      <vt:lpstr>Courier New</vt:lpstr>
      <vt:lpstr>Wingdings</vt:lpstr>
      <vt:lpstr>Depth</vt:lpstr>
      <vt:lpstr>Lumbar Spine</vt:lpstr>
      <vt:lpstr>We will cover...</vt:lpstr>
      <vt:lpstr>Vertebral column</vt:lpstr>
      <vt:lpstr>Osseous structures</vt:lpstr>
      <vt:lpstr>PowerPoint Presentation</vt:lpstr>
      <vt:lpstr>Facet Joints</vt:lpstr>
      <vt:lpstr>Ligaments</vt:lpstr>
      <vt:lpstr>Ligaments</vt:lpstr>
      <vt:lpstr>Ligaments</vt:lpstr>
      <vt:lpstr>Intervertebral Disc </vt:lpstr>
      <vt:lpstr>Nucleus pulposus</vt:lpstr>
      <vt:lpstr>Annulus fibrosis</vt:lpstr>
      <vt:lpstr>Vertebral end plate</vt:lpstr>
      <vt:lpstr>PowerPoint Presentation</vt:lpstr>
      <vt:lpstr>Lumbar discs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Stabilisers</vt:lpstr>
      <vt:lpstr>Transversus Abdominis</vt:lpstr>
      <vt:lpstr>Multifidus</vt:lpstr>
      <vt:lpstr>Pelvic girdle anatomy</vt:lpstr>
      <vt:lpstr>Ilium</vt:lpstr>
      <vt:lpstr>Pubis</vt:lpstr>
      <vt:lpstr>Ischium</vt:lpstr>
      <vt:lpstr>Pubic Symphysis</vt:lpstr>
      <vt:lpstr>Pelvic girdle functions</vt:lpstr>
      <vt:lpstr>SIJ</vt:lpstr>
      <vt:lpstr>Functional anatomy </vt:lpstr>
      <vt:lpstr>PowerPoint Presentation</vt:lpstr>
      <vt:lpstr>Palpation</vt:lpstr>
      <vt:lpstr>Lumbosacral nerve anatomy</vt:lpstr>
      <vt:lpstr>Neural pathways</vt:lpstr>
      <vt:lpstr>Spinal cord segment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SIJ</dc:title>
  <dc:creator>Paul Starrs</dc:creator>
  <cp:lastModifiedBy>ELVIO MENDES</cp:lastModifiedBy>
  <cp:revision>52</cp:revision>
  <dcterms:created xsi:type="dcterms:W3CDTF">2016-01-26T16:43:27Z</dcterms:created>
  <dcterms:modified xsi:type="dcterms:W3CDTF">2025-11-25T10:57:55Z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0x010100113B41819C3940499EC128B1AF2E4054</vt:lpwstr>
  </property>
</Properties>
</file>