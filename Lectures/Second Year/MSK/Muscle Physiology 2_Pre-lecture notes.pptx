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331" r:id="rId3"/>
    <p:sldId id="359" r:id="rId4"/>
    <p:sldId id="360" r:id="rId5"/>
    <p:sldId id="361" r:id="rId6"/>
    <p:sldId id="362" r:id="rId7"/>
    <p:sldId id="363" r:id="rId8"/>
    <p:sldId id="364" r:id="rId9"/>
    <p:sldId id="365" r:id="rId10"/>
    <p:sldId id="366" r:id="rId11"/>
    <p:sldId id="351" r:id="rId12"/>
    <p:sldId id="352" r:id="rId13"/>
    <p:sldId id="353" r:id="rId14"/>
    <p:sldId id="354" r:id="rId15"/>
    <p:sldId id="368" r:id="rId16"/>
    <p:sldId id="369" r:id="rId17"/>
    <p:sldId id="370" r:id="rId18"/>
    <p:sldId id="371" r:id="rId19"/>
    <p:sldId id="372" r:id="rId20"/>
    <p:sldId id="378" r:id="rId21"/>
    <p:sldId id="377" r:id="rId22"/>
    <p:sldId id="376" r:id="rId23"/>
    <p:sldId id="373" r:id="rId24"/>
    <p:sldId id="374" r:id="rId25"/>
    <p:sldId id="375" r:id="rId26"/>
    <p:sldId id="329" r:id="rId27"/>
  </p:sldIdLst>
  <p:sldSz cx="12192000" cy="6858000"/>
  <p:notesSz cx="6858000" cy="99456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a Preece" initials="MP"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00FDFF"/>
    <a:srgbClr val="8EFA00"/>
    <a:srgbClr val="FF40FF"/>
    <a:srgbClr val="00B0F0"/>
    <a:srgbClr val="009193"/>
    <a:srgbClr val="4171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001" autoAdjust="0"/>
    <p:restoredTop sz="88378" autoAdjust="0"/>
  </p:normalViewPr>
  <p:slideViewPr>
    <p:cSldViewPr snapToGrid="0">
      <p:cViewPr varScale="1">
        <p:scale>
          <a:sx n="98" d="100"/>
          <a:sy n="98"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2547" cy="497842"/>
          </a:xfrm>
          <a:prstGeom prst="rect">
            <a:avLst/>
          </a:prstGeom>
        </p:spPr>
        <p:txBody>
          <a:bodyPr vert="horz" lIns="91870" tIns="45935" rIns="91870" bIns="45935" rtlCol="0"/>
          <a:lstStyle>
            <a:lvl1pPr algn="l">
              <a:defRPr sz="1200"/>
            </a:lvl1pPr>
          </a:lstStyle>
          <a:p>
            <a:endParaRPr lang="en-GB"/>
          </a:p>
        </p:txBody>
      </p:sp>
      <p:sp>
        <p:nvSpPr>
          <p:cNvPr id="3" name="Date Placeholder 2"/>
          <p:cNvSpPr>
            <a:spLocks noGrp="1"/>
          </p:cNvSpPr>
          <p:nvPr>
            <p:ph type="dt" sz="quarter" idx="1"/>
          </p:nvPr>
        </p:nvSpPr>
        <p:spPr>
          <a:xfrm>
            <a:off x="3883852" y="0"/>
            <a:ext cx="2972547" cy="497842"/>
          </a:xfrm>
          <a:prstGeom prst="rect">
            <a:avLst/>
          </a:prstGeom>
        </p:spPr>
        <p:txBody>
          <a:bodyPr vert="horz" lIns="91870" tIns="45935" rIns="91870" bIns="45935" rtlCol="0"/>
          <a:lstStyle>
            <a:lvl1pPr algn="r">
              <a:defRPr sz="1200"/>
            </a:lvl1pPr>
          </a:lstStyle>
          <a:p>
            <a:fld id="{4F1B2C48-23D4-48F3-B0D1-BA7CD777040E}" type="datetimeFigureOut">
              <a:rPr lang="en-GB" smtClean="0"/>
              <a:t>09/10/2024</a:t>
            </a:fld>
            <a:endParaRPr lang="en-GB"/>
          </a:p>
        </p:txBody>
      </p:sp>
      <p:sp>
        <p:nvSpPr>
          <p:cNvPr id="4" name="Footer Placeholder 3"/>
          <p:cNvSpPr>
            <a:spLocks noGrp="1"/>
          </p:cNvSpPr>
          <p:nvPr>
            <p:ph type="ftr" sz="quarter" idx="2"/>
          </p:nvPr>
        </p:nvSpPr>
        <p:spPr>
          <a:xfrm>
            <a:off x="0" y="9447846"/>
            <a:ext cx="2972547" cy="497842"/>
          </a:xfrm>
          <a:prstGeom prst="rect">
            <a:avLst/>
          </a:prstGeom>
        </p:spPr>
        <p:txBody>
          <a:bodyPr vert="horz" lIns="91870" tIns="45935" rIns="91870" bIns="45935" rtlCol="0" anchor="b"/>
          <a:lstStyle>
            <a:lvl1pPr algn="l">
              <a:defRPr sz="1200"/>
            </a:lvl1pPr>
          </a:lstStyle>
          <a:p>
            <a:endParaRPr lang="en-GB"/>
          </a:p>
        </p:txBody>
      </p:sp>
      <p:sp>
        <p:nvSpPr>
          <p:cNvPr id="5" name="Slide Number Placeholder 4"/>
          <p:cNvSpPr>
            <a:spLocks noGrp="1"/>
          </p:cNvSpPr>
          <p:nvPr>
            <p:ph type="sldNum" sz="quarter" idx="3"/>
          </p:nvPr>
        </p:nvSpPr>
        <p:spPr>
          <a:xfrm>
            <a:off x="3883852" y="9447846"/>
            <a:ext cx="2972547" cy="497842"/>
          </a:xfrm>
          <a:prstGeom prst="rect">
            <a:avLst/>
          </a:prstGeom>
        </p:spPr>
        <p:txBody>
          <a:bodyPr vert="horz" lIns="91870" tIns="45935" rIns="91870" bIns="45935" rtlCol="0" anchor="b"/>
          <a:lstStyle>
            <a:lvl1pPr algn="r">
              <a:defRPr sz="1200"/>
            </a:lvl1pPr>
          </a:lstStyle>
          <a:p>
            <a:fld id="{FAFF93F5-80D9-41C0-AD16-4ADEE6A57273}" type="slidenum">
              <a:rPr lang="en-GB" smtClean="0"/>
              <a:t>‹#›</a:t>
            </a:fld>
            <a:endParaRPr lang="en-GB"/>
          </a:p>
        </p:txBody>
      </p:sp>
    </p:spTree>
    <p:extLst>
      <p:ext uri="{BB962C8B-B14F-4D97-AF65-F5344CB8AC3E}">
        <p14:creationId xmlns:p14="http://schemas.microsoft.com/office/powerpoint/2010/main" val="30240461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12"/>
          </a:xfrm>
          <a:prstGeom prst="rect">
            <a:avLst/>
          </a:prstGeom>
        </p:spPr>
        <p:txBody>
          <a:bodyPr vert="horz" lIns="91870" tIns="45935" rIns="91870" bIns="45935" rtlCol="0"/>
          <a:lstStyle>
            <a:lvl1pPr algn="l">
              <a:defRPr sz="1200"/>
            </a:lvl1pPr>
          </a:lstStyle>
          <a:p>
            <a:endParaRPr lang="en-US"/>
          </a:p>
        </p:txBody>
      </p:sp>
      <p:sp>
        <p:nvSpPr>
          <p:cNvPr id="3" name="Date Placeholder 2"/>
          <p:cNvSpPr>
            <a:spLocks noGrp="1"/>
          </p:cNvSpPr>
          <p:nvPr>
            <p:ph type="dt" idx="1"/>
          </p:nvPr>
        </p:nvSpPr>
        <p:spPr>
          <a:xfrm>
            <a:off x="3884614" y="0"/>
            <a:ext cx="2971800" cy="499012"/>
          </a:xfrm>
          <a:prstGeom prst="rect">
            <a:avLst/>
          </a:prstGeom>
        </p:spPr>
        <p:txBody>
          <a:bodyPr vert="horz" lIns="91870" tIns="45935" rIns="91870" bIns="45935" rtlCol="0"/>
          <a:lstStyle>
            <a:lvl1pPr algn="r">
              <a:defRPr sz="1200"/>
            </a:lvl1pPr>
          </a:lstStyle>
          <a:p>
            <a:fld id="{86C53DF0-DE70-1943-8859-B15094DAE0DA}" type="datetimeFigureOut">
              <a:rPr lang="en-US" smtClean="0"/>
              <a:t>10/9/2024</a:t>
            </a:fld>
            <a:endParaRPr lang="en-US"/>
          </a:p>
        </p:txBody>
      </p:sp>
      <p:sp>
        <p:nvSpPr>
          <p:cNvPr id="4" name="Slide Image Placeholder 3"/>
          <p:cNvSpPr>
            <a:spLocks noGrp="1" noRot="1" noChangeAspect="1"/>
          </p:cNvSpPr>
          <p:nvPr>
            <p:ph type="sldImg" idx="2"/>
          </p:nvPr>
        </p:nvSpPr>
        <p:spPr>
          <a:xfrm>
            <a:off x="446088" y="1244600"/>
            <a:ext cx="5965825" cy="3355975"/>
          </a:xfrm>
          <a:prstGeom prst="rect">
            <a:avLst/>
          </a:prstGeom>
          <a:noFill/>
          <a:ln w="12700">
            <a:solidFill>
              <a:prstClr val="black"/>
            </a:solidFill>
          </a:ln>
        </p:spPr>
        <p:txBody>
          <a:bodyPr vert="horz" lIns="91870" tIns="45935" rIns="91870" bIns="45935" rtlCol="0" anchor="ctr"/>
          <a:lstStyle/>
          <a:p>
            <a:endParaRPr lang="en-US"/>
          </a:p>
        </p:txBody>
      </p:sp>
      <p:sp>
        <p:nvSpPr>
          <p:cNvPr id="5" name="Notes Placeholder 4"/>
          <p:cNvSpPr>
            <a:spLocks noGrp="1"/>
          </p:cNvSpPr>
          <p:nvPr>
            <p:ph type="body" sz="quarter" idx="3"/>
          </p:nvPr>
        </p:nvSpPr>
        <p:spPr>
          <a:xfrm>
            <a:off x="685801" y="4786362"/>
            <a:ext cx="5486400" cy="3916115"/>
          </a:xfrm>
          <a:prstGeom prst="rect">
            <a:avLst/>
          </a:prstGeom>
        </p:spPr>
        <p:txBody>
          <a:bodyPr vert="horz" lIns="91870" tIns="45935" rIns="91870" bIns="4593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6679"/>
            <a:ext cx="2971800" cy="499011"/>
          </a:xfrm>
          <a:prstGeom prst="rect">
            <a:avLst/>
          </a:prstGeom>
        </p:spPr>
        <p:txBody>
          <a:bodyPr vert="horz" lIns="91870" tIns="45935" rIns="91870" bIns="45935" rtlCol="0" anchor="b"/>
          <a:lstStyle>
            <a:lvl1pPr algn="l">
              <a:defRPr sz="1200"/>
            </a:lvl1pPr>
          </a:lstStyle>
          <a:p>
            <a:endParaRPr lang="en-US"/>
          </a:p>
        </p:txBody>
      </p:sp>
      <p:sp>
        <p:nvSpPr>
          <p:cNvPr id="7" name="Slide Number Placeholder 6"/>
          <p:cNvSpPr>
            <a:spLocks noGrp="1"/>
          </p:cNvSpPr>
          <p:nvPr>
            <p:ph type="sldNum" sz="quarter" idx="5"/>
          </p:nvPr>
        </p:nvSpPr>
        <p:spPr>
          <a:xfrm>
            <a:off x="3884614" y="9446679"/>
            <a:ext cx="2971800" cy="499011"/>
          </a:xfrm>
          <a:prstGeom prst="rect">
            <a:avLst/>
          </a:prstGeom>
        </p:spPr>
        <p:txBody>
          <a:bodyPr vert="horz" lIns="91870" tIns="45935" rIns="91870" bIns="45935" rtlCol="0" anchor="b"/>
          <a:lstStyle>
            <a:lvl1pPr algn="r">
              <a:defRPr sz="1200"/>
            </a:lvl1pPr>
          </a:lstStyle>
          <a:p>
            <a:fld id="{351CA05B-4666-C243-B26B-0D8F1F7B965D}" type="slidenum">
              <a:rPr lang="en-US" smtClean="0"/>
              <a:t>‹#›</a:t>
            </a:fld>
            <a:endParaRPr lang="en-US"/>
          </a:p>
        </p:txBody>
      </p:sp>
    </p:spTree>
    <p:extLst>
      <p:ext uri="{BB962C8B-B14F-4D97-AF65-F5344CB8AC3E}">
        <p14:creationId xmlns:p14="http://schemas.microsoft.com/office/powerpoint/2010/main" val="118740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1</a:t>
            </a:fld>
            <a:endParaRPr lang="en-US"/>
          </a:p>
        </p:txBody>
      </p:sp>
    </p:spTree>
    <p:extLst>
      <p:ext uri="{BB962C8B-B14F-4D97-AF65-F5344CB8AC3E}">
        <p14:creationId xmlns:p14="http://schemas.microsoft.com/office/powerpoint/2010/main" val="3832843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2</a:t>
            </a:fld>
            <a:endParaRPr lang="en-US"/>
          </a:p>
        </p:txBody>
      </p:sp>
    </p:spTree>
    <p:extLst>
      <p:ext uri="{BB962C8B-B14F-4D97-AF65-F5344CB8AC3E}">
        <p14:creationId xmlns:p14="http://schemas.microsoft.com/office/powerpoint/2010/main" val="2198550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3</a:t>
            </a:fld>
            <a:endParaRPr lang="en-US"/>
          </a:p>
        </p:txBody>
      </p:sp>
    </p:spTree>
    <p:extLst>
      <p:ext uri="{BB962C8B-B14F-4D97-AF65-F5344CB8AC3E}">
        <p14:creationId xmlns:p14="http://schemas.microsoft.com/office/powerpoint/2010/main" val="3209931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4</a:t>
            </a:fld>
            <a:endParaRPr lang="en-US"/>
          </a:p>
        </p:txBody>
      </p:sp>
    </p:spTree>
    <p:extLst>
      <p:ext uri="{BB962C8B-B14F-4D97-AF65-F5344CB8AC3E}">
        <p14:creationId xmlns:p14="http://schemas.microsoft.com/office/powerpoint/2010/main" val="2898334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Striation (Sarcomeres):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Muscle tissue is composed of repeating units called sarcomeres, which give skeletal muscles their characteristic striped appearance (striation).</a:t>
            </a:r>
          </a:p>
          <a:p>
            <a:pPr marL="742950" lvl="1" indent="-285750" algn="l">
              <a:buFont typeface="+mj-lt"/>
              <a:buAutoNum type="arabicPeriod"/>
            </a:pPr>
            <a:r>
              <a:rPr lang="en-GB" b="0" i="0" u="none" strike="noStrike" dirty="0">
                <a:solidFill>
                  <a:srgbClr val="D1D5DB"/>
                </a:solidFill>
                <a:effectLst/>
                <a:latin typeface="Söhne"/>
              </a:rPr>
              <a:t>Sarcomeres are the functional units of muscles, delimited by Z-discs. They consist of overlapping actin (thin) and myosin (thick) filaments, enabling muscle contraction.</a:t>
            </a:r>
          </a:p>
          <a:p>
            <a:pPr algn="l">
              <a:buFont typeface="+mj-lt"/>
              <a:buAutoNum type="arabicPeriod"/>
            </a:pPr>
            <a:r>
              <a:rPr lang="en-GB" b="1" i="0" u="none" strike="noStrike" dirty="0">
                <a:solidFill>
                  <a:srgbClr val="D1D5DB"/>
                </a:solidFill>
                <a:effectLst/>
                <a:latin typeface="Söhne"/>
              </a:rPr>
              <a:t>Effector of Somatic Nervous System:</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Skeletal muscles are the effectors of the somatic nervous system, which controls voluntary movements. It's under conscious control and responsible for activities like walking, talking, and typing.</a:t>
            </a:r>
          </a:p>
          <a:p>
            <a:pPr algn="l">
              <a:buFont typeface="+mj-lt"/>
              <a:buAutoNum type="arabicPeriod"/>
            </a:pPr>
            <a:r>
              <a:rPr lang="en-GB" b="1" i="0" u="none" strike="noStrike" dirty="0">
                <a:solidFill>
                  <a:srgbClr val="D1D5DB"/>
                </a:solidFill>
                <a:effectLst/>
                <a:latin typeface="Söhne"/>
              </a:rPr>
              <a:t>Voluntary Contraction: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Contractions of skeletal muscles are typically under conscious control. When you decide to move a limb or perform an action, your brain sends signals via the somatic nervous system to stimulate the relevant muscles.</a:t>
            </a:r>
          </a:p>
          <a:p>
            <a:pPr algn="l">
              <a:buFont typeface="+mj-lt"/>
              <a:buAutoNum type="arabicPeriod"/>
            </a:pPr>
            <a:r>
              <a:rPr lang="en-GB" b="1" i="0" u="none" strike="noStrike" dirty="0">
                <a:solidFill>
                  <a:srgbClr val="D1D5DB"/>
                </a:solidFill>
                <a:effectLst/>
                <a:latin typeface="Söhne"/>
              </a:rPr>
              <a:t>Neuromuscular Junction-Specific:</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The neuromuscular junction is a specialized synapse where a motor neuron communicates with a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It's highly specialized for rapid and efficient transmission of nerve signals to initiate muscle contraction.</a:t>
            </a:r>
          </a:p>
          <a:p>
            <a:pPr algn="l">
              <a:buFont typeface="+mj-lt"/>
              <a:buAutoNum type="arabicPeriod"/>
            </a:pPr>
            <a:r>
              <a:rPr lang="en-GB" b="1" i="0" u="none" strike="noStrike" dirty="0">
                <a:solidFill>
                  <a:srgbClr val="D1D5DB"/>
                </a:solidFill>
                <a:effectLst/>
                <a:latin typeface="Söhne"/>
              </a:rPr>
              <a:t>Multi-Nuclei (Fusion):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Skeletal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 are unique in that they are multinucleated, meaning they have multiple nuclei within a single cell. This is a result of the fusion of multiple precursor cells (myoblasts) during development.</a:t>
            </a:r>
          </a:p>
          <a:p>
            <a:pPr marL="742950" lvl="1" indent="-285750" algn="l">
              <a:buFont typeface="+mj-lt"/>
              <a:buAutoNum type="arabicPeriod"/>
            </a:pPr>
            <a:r>
              <a:rPr lang="en-GB" b="0" i="0" u="none" strike="noStrike" dirty="0">
                <a:solidFill>
                  <a:srgbClr val="D1D5DB"/>
                </a:solidFill>
                <a:effectLst/>
                <a:latin typeface="Söhne"/>
              </a:rPr>
              <a:t>This multi-nucleation contributes to the size and strength of skeletal muscles, as each nucleus can control a portion of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5</a:t>
            </a:fld>
            <a:endParaRPr lang="en-US"/>
          </a:p>
        </p:txBody>
      </p:sp>
    </p:spTree>
    <p:extLst>
      <p:ext uri="{BB962C8B-B14F-4D97-AF65-F5344CB8AC3E}">
        <p14:creationId xmlns:p14="http://schemas.microsoft.com/office/powerpoint/2010/main" val="886407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No Striation (Filaments not Form Sarcomeres):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Smooth muscle lacks the distinct striations seen in skeletal muscle. Instead of organized sarcomeres, smooth muscle cells have actin and myosin filaments scattered throughout the cell, allowing for a more uniform, smooth appearance.</a:t>
            </a:r>
          </a:p>
          <a:p>
            <a:pPr algn="l">
              <a:buFont typeface="+mj-lt"/>
              <a:buAutoNum type="arabicPeriod"/>
            </a:pPr>
            <a:r>
              <a:rPr lang="en-GB" b="1" i="0" u="none" strike="noStrike" dirty="0">
                <a:solidFill>
                  <a:srgbClr val="D1D5DB"/>
                </a:solidFill>
                <a:effectLst/>
                <a:latin typeface="Söhne"/>
              </a:rPr>
              <a:t>Effector of Autonomic Nervous System:</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Smooth muscles are primarily regulated by the autonomic nervous system, which controls involuntary bodily functions. This includes activities like digestion, blood vessel constriction/dilation, and organ function.</a:t>
            </a:r>
          </a:p>
          <a:p>
            <a:pPr algn="l">
              <a:buFont typeface="+mj-lt"/>
              <a:buAutoNum type="arabicPeriod"/>
            </a:pPr>
            <a:r>
              <a:rPr lang="en-GB" b="1" i="0" u="none" strike="noStrike" dirty="0">
                <a:solidFill>
                  <a:srgbClr val="D1D5DB"/>
                </a:solidFill>
                <a:effectLst/>
                <a:latin typeface="Söhne"/>
              </a:rPr>
              <a:t>Involuntary Contraction: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Contractions of smooth muscles are largely involuntary and not consciously controlled. They occur as a result of signals from the autonomic nervous system or local stimuli, such as changes in pH or stretching of the muscle tissue.</a:t>
            </a:r>
          </a:p>
          <a:p>
            <a:pPr algn="l">
              <a:buFont typeface="+mj-lt"/>
              <a:buAutoNum type="arabicPeriod"/>
            </a:pPr>
            <a:r>
              <a:rPr lang="en-GB" b="1" i="0" u="none" strike="noStrike" dirty="0">
                <a:solidFill>
                  <a:srgbClr val="D1D5DB"/>
                </a:solidFill>
                <a:effectLst/>
                <a:latin typeface="Söhne"/>
              </a:rPr>
              <a:t>Varicosities - Diffuse: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The autonomic nervous system communicates with smooth muscle cells through varicosities, which are swollen, bead-like nerve endings. These varicosities release neurotransmitters in a more diffuse manner compared to the precise synaptic cleft seen in neuromuscular junctions of skeletal muscle.</a:t>
            </a:r>
          </a:p>
          <a:p>
            <a:pPr algn="l">
              <a:buFont typeface="+mj-lt"/>
              <a:buAutoNum type="arabicPeriod"/>
            </a:pPr>
            <a:r>
              <a:rPr lang="en-GB" b="1" i="0" u="none" strike="noStrike" dirty="0">
                <a:solidFill>
                  <a:srgbClr val="D1D5DB"/>
                </a:solidFill>
                <a:effectLst/>
                <a:latin typeface="Söhne"/>
              </a:rPr>
              <a:t>Gap Junctions: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Smooth muscle cells are connected by gap junctions, which are specialized channels that allow for direct electrical and chemical communication between adjacent cells. This allows for coordinated contractions across a large area of smooth muscle tissue.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6</a:t>
            </a:fld>
            <a:endParaRPr lang="en-US"/>
          </a:p>
        </p:txBody>
      </p:sp>
    </p:spTree>
    <p:extLst>
      <p:ext uri="{BB962C8B-B14F-4D97-AF65-F5344CB8AC3E}">
        <p14:creationId xmlns:p14="http://schemas.microsoft.com/office/powerpoint/2010/main" val="2957945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Striation (Sarcomeres):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Cardiac muscle, like skeletal muscle, also exhibits striations due to the organized arrangement of sarcomeres. Sarcomeres are the repeating units of contraction, composed of overlapping actin and myosin filaments.</a:t>
            </a:r>
          </a:p>
          <a:p>
            <a:pPr algn="l">
              <a:buFont typeface="+mj-lt"/>
              <a:buAutoNum type="arabicPeriod"/>
            </a:pPr>
            <a:r>
              <a:rPr lang="en-GB" b="1" i="0" u="none" strike="noStrike" dirty="0">
                <a:solidFill>
                  <a:srgbClr val="D1D5DB"/>
                </a:solidFill>
                <a:effectLst/>
                <a:latin typeface="Söhne"/>
              </a:rPr>
              <a:t>Effector of Autonomic Nervous System:</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The autonomic nervous system influences cardiac muscle activity. However, unlike smooth muscle, cardiac muscle has an intrinsic rhythm, and the autonomic system modulates rather than initiates the heartbeat. It helps adjust the rate and force of contractions in response to physiological needs.</a:t>
            </a:r>
          </a:p>
          <a:p>
            <a:pPr algn="l">
              <a:buFont typeface="+mj-lt"/>
              <a:buAutoNum type="arabicPeriod"/>
            </a:pPr>
            <a:r>
              <a:rPr lang="en-GB" b="1" i="0" u="none" strike="noStrike" dirty="0">
                <a:solidFill>
                  <a:srgbClr val="D1D5DB"/>
                </a:solidFill>
                <a:effectLst/>
                <a:latin typeface="Söhne"/>
              </a:rPr>
              <a:t>Involuntary Contraction: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Cardiac muscle contractions are involuntary, meaning they occur without conscious control. The heartbeat is regulated by specialized cardiac conduction system cells that initiate and propagate electrical signals, leading to rhythmic contractions.</a:t>
            </a:r>
          </a:p>
          <a:p>
            <a:pPr algn="l">
              <a:buFont typeface="+mj-lt"/>
              <a:buAutoNum type="arabicPeriod"/>
            </a:pPr>
            <a:r>
              <a:rPr lang="en-GB" b="1" i="0" u="none" strike="noStrike" dirty="0">
                <a:solidFill>
                  <a:srgbClr val="D1D5DB"/>
                </a:solidFill>
                <a:effectLst/>
                <a:latin typeface="Söhne"/>
              </a:rPr>
              <a:t>Gap Junctions: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Cardiac muscle cells are connected by specialized junctions called gap junctions. These channels allow for rapid electrical communication between adjacent cells, ensuring that the heart contracts as a coordinated unit.</a:t>
            </a:r>
          </a:p>
          <a:p>
            <a:pPr algn="l">
              <a:buFont typeface="+mj-lt"/>
              <a:buAutoNum type="arabicPeriod"/>
            </a:pPr>
            <a:r>
              <a:rPr lang="en-GB" b="1" i="0" u="none" strike="noStrike" dirty="0">
                <a:solidFill>
                  <a:srgbClr val="D1D5DB"/>
                </a:solidFill>
                <a:effectLst/>
                <a:latin typeface="Söhne"/>
              </a:rPr>
              <a:t>Intercalated Disks: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Intercalated disks are unique structures found in cardiac muscle. They are specialized regions where adjacent cardiac muscle cells physically connect. Intercalated disks contain gap junctions and desmosomes, which provide both electrical continuity and mechanical stability to the tissue.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7</a:t>
            </a:fld>
            <a:endParaRPr lang="en-US"/>
          </a:p>
        </p:txBody>
      </p:sp>
    </p:spTree>
    <p:extLst>
      <p:ext uri="{BB962C8B-B14F-4D97-AF65-F5344CB8AC3E}">
        <p14:creationId xmlns:p14="http://schemas.microsoft.com/office/powerpoint/2010/main" val="3435698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Tropomyosin: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Tropomyosin is a long, filamentous protein that lies along the groove of the actin filament. In its resting state, tropomyosin physically blocks the myosin binding sites on the actin filament.</a:t>
            </a:r>
          </a:p>
          <a:p>
            <a:pPr marL="742950" lvl="1" indent="-285750" algn="l">
              <a:buFont typeface="+mj-lt"/>
              <a:buAutoNum type="arabicPeriod"/>
            </a:pPr>
            <a:r>
              <a:rPr lang="en-GB" b="0" i="0" u="none" strike="noStrike" dirty="0">
                <a:solidFill>
                  <a:srgbClr val="D1D5DB"/>
                </a:solidFill>
                <a:effectLst/>
                <a:latin typeface="Söhne"/>
              </a:rPr>
              <a:t>When a muscle is at rest, tropomyosin acts as a regulatory "gatekeeper," preventing myosin heads from attaching to actin.</a:t>
            </a:r>
          </a:p>
          <a:p>
            <a:pPr algn="l">
              <a:buFont typeface="+mj-lt"/>
              <a:buAutoNum type="arabicPeriod"/>
            </a:pPr>
            <a:r>
              <a:rPr lang="en-GB" b="1" i="0" u="none" strike="noStrike" dirty="0">
                <a:solidFill>
                  <a:srgbClr val="D1D5DB"/>
                </a:solidFill>
                <a:effectLst/>
                <a:latin typeface="Söhne"/>
              </a:rPr>
              <a:t>Troponin C:</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Troponin is a complex protein consisting of three subunits: Troponin C, Troponin T, and Troponin I. Troponin C is the subunit that binds to calcium ions (Ca2+).</a:t>
            </a:r>
          </a:p>
          <a:p>
            <a:pPr marL="742950" lvl="1" indent="-285750" algn="l">
              <a:buFont typeface="+mj-lt"/>
              <a:buAutoNum type="arabicPeriod"/>
            </a:pPr>
            <a:r>
              <a:rPr lang="en-GB" b="0" i="0" u="none" strike="noStrike" dirty="0">
                <a:solidFill>
                  <a:srgbClr val="D1D5DB"/>
                </a:solidFill>
                <a:effectLst/>
                <a:latin typeface="Söhne"/>
              </a:rPr>
              <a:t>When calcium levels increase in the sarcoplasm (the fluid inside muscle cells), calcium ions bind to specific sites on Troponin C. This binding triggers a conformational change in the troponin complex.</a:t>
            </a:r>
          </a:p>
          <a:p>
            <a:pPr algn="l">
              <a:buFont typeface="+mj-lt"/>
              <a:buAutoNum type="arabicPeriod"/>
            </a:pPr>
            <a:r>
              <a:rPr lang="en-GB" b="1" i="0" u="none" strike="noStrike" dirty="0">
                <a:solidFill>
                  <a:srgbClr val="D1D5DB"/>
                </a:solidFill>
                <a:effectLst/>
                <a:latin typeface="Söhne"/>
              </a:rPr>
              <a:t>Troponin T:</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Troponin T is the subunit of troponin that binds to tropomyosin. When calcium ions bind to Troponin C, Troponin T undergoes a conformational change, which assists in moving tropomyosin away from the myosin binding sites on actin.</a:t>
            </a:r>
          </a:p>
          <a:p>
            <a:pPr marL="742950" lvl="1" indent="-285750" algn="l">
              <a:buFont typeface="+mj-lt"/>
              <a:buAutoNum type="arabicPeriod"/>
            </a:pPr>
            <a:r>
              <a:rPr lang="en-GB" b="0" i="0" u="none" strike="noStrike" dirty="0">
                <a:solidFill>
                  <a:srgbClr val="D1D5DB"/>
                </a:solidFill>
                <a:effectLst/>
                <a:latin typeface="Söhne"/>
              </a:rPr>
              <a:t>In essence, Troponin T helps facilitate the exposure of myosin binding sites on the actin filament.</a:t>
            </a:r>
          </a:p>
          <a:p>
            <a:pPr algn="l">
              <a:buFont typeface="+mj-lt"/>
              <a:buAutoNum type="arabicPeriod"/>
            </a:pPr>
            <a:r>
              <a:rPr lang="en-GB" b="1" i="0" u="none" strike="noStrike" dirty="0">
                <a:solidFill>
                  <a:srgbClr val="D1D5DB"/>
                </a:solidFill>
                <a:effectLst/>
                <a:latin typeface="Söhne"/>
              </a:rPr>
              <a:t>Troponin I:</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Troponin I is the subunit of troponin that binds to actin. When Troponin I binds to actin, it helps stabilize the position of the troponin-tropomyosin complex.</a:t>
            </a:r>
          </a:p>
          <a:p>
            <a:pPr marL="742950" lvl="1" indent="-285750" algn="l">
              <a:buFont typeface="+mj-lt"/>
              <a:buAutoNum type="arabicPeriod"/>
            </a:pPr>
            <a:r>
              <a:rPr lang="en-GB" b="0" i="0" u="none" strike="noStrike" dirty="0">
                <a:solidFill>
                  <a:srgbClr val="D1D5DB"/>
                </a:solidFill>
                <a:effectLst/>
                <a:latin typeface="Söhne"/>
              </a:rPr>
              <a:t>Additionally, Troponin I plays a crucial role in preventing unwanted muscle contractions by inhibiting the interaction between actin and myosin when calcium levels are 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8</a:t>
            </a:fld>
            <a:endParaRPr lang="en-US"/>
          </a:p>
        </p:txBody>
      </p:sp>
    </p:spTree>
    <p:extLst>
      <p:ext uri="{BB962C8B-B14F-4D97-AF65-F5344CB8AC3E}">
        <p14:creationId xmlns:p14="http://schemas.microsoft.com/office/powerpoint/2010/main" val="3002821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9</a:t>
            </a:fld>
            <a:endParaRPr lang="en-US"/>
          </a:p>
        </p:txBody>
      </p:sp>
    </p:spTree>
    <p:extLst>
      <p:ext uri="{BB962C8B-B14F-4D97-AF65-F5344CB8AC3E}">
        <p14:creationId xmlns:p14="http://schemas.microsoft.com/office/powerpoint/2010/main" val="3862296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effectLst/>
                <a:latin typeface="Söhne"/>
              </a:rPr>
              <a:t>Cardiac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effectLst/>
                <a:latin typeface="Söhne"/>
              </a:rPr>
              <a:t>Action Potential (AP):</a:t>
            </a:r>
            <a:r>
              <a:rPr lang="en-GB" b="0" i="0" u="none" strike="noStrike" dirty="0">
                <a:solidFill>
                  <a:srgbClr val="D1D5DB"/>
                </a:solidFill>
                <a:effectLst/>
                <a:latin typeface="Söhne"/>
              </a:rPr>
              <a:t> Cardiac muscle generates its own rhythmic action potentials due to specialized cells known as pacemaker cells. These cells, found in the sinoatrial (SA) node of the heart, spontaneously depolarize and initiate action potentials.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effectLst/>
                <a:latin typeface="Söhne"/>
              </a:rPr>
              <a:t>Source of Calcium: </a:t>
            </a:r>
            <a:r>
              <a:rPr lang="en-GB" b="0" i="0" u="none" strike="noStrike" dirty="0">
                <a:solidFill>
                  <a:srgbClr val="D1D5DB"/>
                </a:solidFill>
                <a:effectLst/>
                <a:latin typeface="Söhne"/>
              </a:rPr>
              <a:t>In cardiac muscle, extracellular calcium (Ca2+) influx through voltage-gated calcium channels in the cell membrane triggers the release of intracellular calcium from the sarcoplasmic reticulum (SR).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u="none" strike="noStrike" dirty="0">
              <a:solidFill>
                <a:srgbClr val="D1D5DB"/>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Smooth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effectLst/>
                <a:latin typeface="Söhne"/>
              </a:rPr>
              <a:t>Action Potential (AP):</a:t>
            </a:r>
            <a:r>
              <a:rPr lang="en-GB" b="0" i="0" u="none" strike="noStrike" dirty="0">
                <a:solidFill>
                  <a:srgbClr val="D1D5DB"/>
                </a:solidFill>
                <a:effectLst/>
                <a:latin typeface="Söhne"/>
              </a:rPr>
              <a:t> Unlike cardiac</a:t>
            </a:r>
          </a:p>
          <a:p>
            <a:pPr algn="l">
              <a:buFont typeface="Arial" panose="020B0604020202020204" pitchFamily="34" charset="0"/>
              <a:buChar char="•"/>
            </a:pPr>
            <a:r>
              <a:rPr lang="en-GB" b="1" i="0" u="none" strike="noStrike" dirty="0">
                <a:solidFill>
                  <a:srgbClr val="D1D5DB"/>
                </a:solidFill>
                <a:effectLst/>
                <a:latin typeface="Söhne"/>
              </a:rPr>
              <a:t>Calcium:</a:t>
            </a:r>
          </a:p>
          <a:p>
            <a:pPr algn="l">
              <a:buFont typeface="Arial" panose="020B0604020202020204" pitchFamily="34" charset="0"/>
              <a:buChar char="•"/>
            </a:pPr>
            <a:r>
              <a:rPr lang="en-GB" b="1" i="0" u="none" strike="noStrike" dirty="0">
                <a:solidFill>
                  <a:srgbClr val="D1D5DB"/>
                </a:solidFill>
                <a:effectLst/>
                <a:latin typeface="Söhne"/>
              </a:rPr>
              <a:t>Voltage-Gated Channels:</a:t>
            </a:r>
            <a:r>
              <a:rPr lang="en-GB" b="0" i="0" u="none" strike="noStrike" dirty="0">
                <a:solidFill>
                  <a:srgbClr val="D1D5DB"/>
                </a:solidFill>
                <a:effectLst/>
                <a:latin typeface="Söhne"/>
              </a:rPr>
              <a:t> In some types of smooth muscle, especially in the gastrointestinal tract, calcium influx through voltage-gated channels in the cell membrane plays a role in initiating contraction.</a:t>
            </a:r>
          </a:p>
          <a:p>
            <a:pPr algn="l">
              <a:buFont typeface="Arial" panose="020B0604020202020204" pitchFamily="34" charset="0"/>
              <a:buChar char="•"/>
            </a:pPr>
            <a:r>
              <a:rPr lang="en-GB" b="1" i="0" u="none" strike="noStrike" dirty="0">
                <a:solidFill>
                  <a:srgbClr val="D1D5DB"/>
                </a:solidFill>
                <a:effectLst/>
                <a:latin typeface="Söhne"/>
              </a:rPr>
              <a:t>Receptor-Operated Channels:</a:t>
            </a:r>
            <a:r>
              <a:rPr lang="en-GB" b="0" i="0" u="none" strike="noStrike" dirty="0">
                <a:solidFill>
                  <a:srgbClr val="D1D5DB"/>
                </a:solidFill>
                <a:effectLst/>
                <a:latin typeface="Söhne"/>
              </a:rPr>
              <a:t> In many cases, calcium influx is primarily triggered by the activation of receptors on the cell membrane. These receptors can be stimulated by neurotransmitters, hormones, or changes in extracellular ion concentrations.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D1D5DB"/>
                </a:solidFill>
                <a:effectLst/>
                <a:latin typeface="Söhne"/>
              </a:rPr>
              <a:t> muscle, smooth muscle lacks a stable pacemaker system. It can be activated by various stimuli, such as neurotransmitters, hormones, or changes in mechanical stretch.</a:t>
            </a:r>
            <a:endParaRPr lang="en-US" b="1" dirty="0"/>
          </a:p>
        </p:txBody>
      </p:sp>
      <p:sp>
        <p:nvSpPr>
          <p:cNvPr id="4" name="Slide Number Placeholder 3"/>
          <p:cNvSpPr>
            <a:spLocks noGrp="1"/>
          </p:cNvSpPr>
          <p:nvPr>
            <p:ph type="sldNum" sz="quarter" idx="5"/>
          </p:nvPr>
        </p:nvSpPr>
        <p:spPr/>
        <p:txBody>
          <a:bodyPr/>
          <a:lstStyle/>
          <a:p>
            <a:fld id="{351CA05B-4666-C243-B26B-0D8F1F7B965D}" type="slidenum">
              <a:rPr lang="en-US" smtClean="0"/>
              <a:t>10</a:t>
            </a:fld>
            <a:endParaRPr lang="en-US"/>
          </a:p>
        </p:txBody>
      </p:sp>
    </p:spTree>
    <p:extLst>
      <p:ext uri="{BB962C8B-B14F-4D97-AF65-F5344CB8AC3E}">
        <p14:creationId xmlns:p14="http://schemas.microsoft.com/office/powerpoint/2010/main" val="1507793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11</a:t>
            </a:fld>
            <a:endParaRPr lang="en-US"/>
          </a:p>
        </p:txBody>
      </p:sp>
    </p:spTree>
    <p:extLst>
      <p:ext uri="{BB962C8B-B14F-4D97-AF65-F5344CB8AC3E}">
        <p14:creationId xmlns:p14="http://schemas.microsoft.com/office/powerpoint/2010/main" val="2769058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Nervous Stimulation:</a:t>
            </a:r>
            <a:r>
              <a:rPr lang="en-GB" b="0" i="0" u="none" strike="noStrike" dirty="0">
                <a:solidFill>
                  <a:srgbClr val="D1D5DB"/>
                </a:solidFill>
                <a:effectLst/>
                <a:latin typeface="Söhne"/>
              </a:rPr>
              <a:t> A twitch occurs when a nerve impulse (action potential) stimulates a motor neuron, which in turn signals a specific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to contract.</a:t>
            </a:r>
          </a:p>
          <a:p>
            <a:pPr algn="l">
              <a:buFont typeface="+mj-lt"/>
              <a:buAutoNum type="arabicPeriod"/>
            </a:pPr>
            <a:r>
              <a:rPr lang="en-GB" b="1" i="0" u="none" strike="noStrike" dirty="0">
                <a:solidFill>
                  <a:srgbClr val="D1D5DB"/>
                </a:solidFill>
                <a:effectLst/>
                <a:latin typeface="Söhne"/>
              </a:rPr>
              <a:t>Phases of a Twitch:</a:t>
            </a:r>
            <a:endParaRPr lang="en-GB" b="0" i="0" u="none" strike="noStrike" dirty="0">
              <a:solidFill>
                <a:srgbClr val="D1D5DB"/>
              </a:solidFill>
              <a:effectLst/>
              <a:latin typeface="Söhne"/>
            </a:endParaRPr>
          </a:p>
          <a:p>
            <a:pPr marL="742950" lvl="1" indent="-285750" algn="l">
              <a:buFont typeface="+mj-lt"/>
              <a:buAutoNum type="arabicPeriod"/>
            </a:pPr>
            <a:r>
              <a:rPr lang="en-GB" b="1" i="0" u="none" strike="noStrike" dirty="0">
                <a:solidFill>
                  <a:srgbClr val="D1D5DB"/>
                </a:solidFill>
                <a:effectLst/>
                <a:latin typeface="Söhne"/>
              </a:rPr>
              <a:t>Latent Phase:</a:t>
            </a:r>
            <a:r>
              <a:rPr lang="en-GB" b="0" i="0" u="none" strike="noStrike" dirty="0">
                <a:solidFill>
                  <a:srgbClr val="D1D5DB"/>
                </a:solidFill>
                <a:effectLst/>
                <a:latin typeface="Söhne"/>
              </a:rPr>
              <a:t> This is the brief moment between the nerve impulse and the onset of muscle contraction. It represents the time taken for the action potential to travel along the nerve and initiate the muscle response.</a:t>
            </a:r>
          </a:p>
          <a:p>
            <a:pPr marL="742950" lvl="1" indent="-285750" algn="l">
              <a:buFont typeface="+mj-lt"/>
              <a:buAutoNum type="arabicPeriod"/>
            </a:pPr>
            <a:r>
              <a:rPr lang="en-GB" b="1" i="0" u="none" strike="noStrike" dirty="0">
                <a:solidFill>
                  <a:srgbClr val="D1D5DB"/>
                </a:solidFill>
                <a:effectLst/>
                <a:latin typeface="Söhne"/>
              </a:rPr>
              <a:t>Contraction Phase:</a:t>
            </a:r>
            <a:r>
              <a:rPr lang="en-GB" b="0" i="0" u="none" strike="noStrike" dirty="0">
                <a:solidFill>
                  <a:srgbClr val="D1D5DB"/>
                </a:solidFill>
                <a:effectLst/>
                <a:latin typeface="Söhne"/>
              </a:rPr>
              <a:t> This is when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actively shortens and generates force.</a:t>
            </a:r>
          </a:p>
          <a:p>
            <a:pPr marL="742950" lvl="1" indent="-285750" algn="l">
              <a:buFont typeface="+mj-lt"/>
              <a:buAutoNum type="arabicPeriod"/>
            </a:pPr>
            <a:r>
              <a:rPr lang="en-GB" b="1" i="0" u="none" strike="noStrike" dirty="0">
                <a:solidFill>
                  <a:srgbClr val="D1D5DB"/>
                </a:solidFill>
                <a:effectLst/>
                <a:latin typeface="Söhne"/>
              </a:rPr>
              <a:t>Relaxation Phase:</a:t>
            </a:r>
            <a:r>
              <a:rPr lang="en-GB" b="0" i="0" u="none" strike="noStrike" dirty="0">
                <a:solidFill>
                  <a:srgbClr val="D1D5DB"/>
                </a:solidFill>
                <a:effectLst/>
                <a:latin typeface="Söhne"/>
              </a:rPr>
              <a:t> After the contraction,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returns to its original length, and tension decreases.</a:t>
            </a:r>
          </a:p>
          <a:p>
            <a:pPr algn="l">
              <a:buFont typeface="+mj-lt"/>
              <a:buAutoNum type="arabicPeriod"/>
            </a:pPr>
            <a:r>
              <a:rPr lang="en-GB" b="1" i="0" u="none" strike="noStrike" dirty="0">
                <a:solidFill>
                  <a:srgbClr val="D1D5DB"/>
                </a:solidFill>
                <a:effectLst/>
                <a:latin typeface="Söhne"/>
              </a:rPr>
              <a:t>Strength and Duration:</a:t>
            </a:r>
            <a:r>
              <a:rPr lang="en-GB" b="0" i="0" u="none" strike="noStrike" dirty="0">
                <a:solidFill>
                  <a:srgbClr val="D1D5DB"/>
                </a:solidFill>
                <a:effectLst/>
                <a:latin typeface="Söhne"/>
              </a:rPr>
              <a:t> The strength and duration of a twitch are relatively constant and do not vary greatly under normal physiological conditions.</a:t>
            </a:r>
          </a:p>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12</a:t>
            </a:fld>
            <a:endParaRPr lang="en-US"/>
          </a:p>
        </p:txBody>
      </p:sp>
    </p:spTree>
    <p:extLst>
      <p:ext uri="{BB962C8B-B14F-4D97-AF65-F5344CB8AC3E}">
        <p14:creationId xmlns:p14="http://schemas.microsoft.com/office/powerpoint/2010/main" val="874219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13</a:t>
            </a:fld>
            <a:endParaRPr lang="en-US"/>
          </a:p>
        </p:txBody>
      </p:sp>
    </p:spTree>
    <p:extLst>
      <p:ext uri="{BB962C8B-B14F-4D97-AF65-F5344CB8AC3E}">
        <p14:creationId xmlns:p14="http://schemas.microsoft.com/office/powerpoint/2010/main" val="3566876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u="none" strike="noStrike" dirty="0">
                <a:solidFill>
                  <a:srgbClr val="D1D5DB"/>
                </a:solidFill>
                <a:effectLst/>
                <a:latin typeface="Söhne"/>
              </a:rPr>
              <a:t>Summation and tetanus are processes by which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 can produce sustained contractions. </a:t>
            </a:r>
          </a:p>
          <a:p>
            <a:pPr algn="l">
              <a:buFont typeface="Arial" panose="020B0604020202020204" pitchFamily="34" charset="0"/>
              <a:buChar char="•"/>
            </a:pPr>
            <a:r>
              <a:rPr lang="en-GB" b="0" i="0" u="none" strike="noStrike" dirty="0">
                <a:solidFill>
                  <a:srgbClr val="D1D5DB"/>
                </a:solidFill>
                <a:effectLst/>
                <a:latin typeface="Söhne"/>
              </a:rPr>
              <a:t>They occur when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 receive repeated nerve impulses in a short period of time.</a:t>
            </a:r>
            <a:endParaRPr lang="en-GB" b="1" i="0" u="none" strike="noStrike" dirty="0">
              <a:solidFill>
                <a:srgbClr val="D1D5DB"/>
              </a:solidFill>
              <a:effectLst/>
              <a:latin typeface="Söhne"/>
            </a:endParaRPr>
          </a:p>
          <a:p>
            <a:pPr algn="l">
              <a:buFont typeface="Arial" panose="020B0604020202020204" pitchFamily="34" charset="0"/>
              <a:buChar char="•"/>
            </a:pPr>
            <a:endParaRPr lang="en-GB" b="1" i="0" u="none" strike="noStrike" dirty="0">
              <a:solidFill>
                <a:srgbClr val="D1D5DB"/>
              </a:solidFill>
              <a:effectLst/>
              <a:latin typeface="Söhne"/>
            </a:endParaRPr>
          </a:p>
          <a:p>
            <a:pPr algn="l">
              <a:buFont typeface="Arial" panose="020B0604020202020204" pitchFamily="34" charset="0"/>
              <a:buChar char="•"/>
            </a:pPr>
            <a:r>
              <a:rPr lang="en-GB" b="1" i="0" u="none" strike="noStrike" dirty="0">
                <a:effectLst/>
                <a:latin typeface="Söhne"/>
              </a:rPr>
              <a:t>Summation:</a:t>
            </a:r>
            <a:r>
              <a:rPr lang="en-GB" b="0" i="0" u="none" strike="noStrike" dirty="0">
                <a:solidFill>
                  <a:srgbClr val="D1D5DB"/>
                </a:solidFill>
                <a:effectLst/>
                <a:latin typeface="Söhne"/>
              </a:rPr>
              <a:t> This occurs when a single motor neuron repeatedly sends action potentials in quick succession to a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If the impulses are frequent enough,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doesn't have enough time to completely relax between contractions. As a result, the force of each contraction adds up, leading to a more sustained, stronger contraction.</a:t>
            </a:r>
            <a:endParaRPr lang="en-GB" b="1" i="0" u="none" strike="noStrike" dirty="0">
              <a:solidFill>
                <a:srgbClr val="D1D5DB"/>
              </a:solidFill>
              <a:effectLst/>
              <a:latin typeface="Söhne"/>
            </a:endParaRPr>
          </a:p>
          <a:p>
            <a:pPr algn="l">
              <a:buFont typeface="Arial" panose="020B0604020202020204" pitchFamily="34" charset="0"/>
              <a:buChar char="•"/>
            </a:pPr>
            <a:endParaRPr lang="en-GB" b="1" i="0" u="none" strike="noStrike" dirty="0">
              <a:solidFill>
                <a:srgbClr val="D1D5DB"/>
              </a:solidFill>
              <a:effectLst/>
              <a:latin typeface="Söhne"/>
            </a:endParaRPr>
          </a:p>
          <a:p>
            <a:pPr algn="l">
              <a:buFont typeface="Arial" panose="020B0604020202020204" pitchFamily="34" charset="0"/>
              <a:buChar char="•"/>
            </a:pPr>
            <a:r>
              <a:rPr lang="en-GB" b="1" i="0" u="none" strike="noStrike" dirty="0">
                <a:solidFill>
                  <a:srgbClr val="D1D5DB"/>
                </a:solidFill>
                <a:effectLst/>
                <a:latin typeface="Söhne"/>
              </a:rPr>
              <a:t>Incomplete Tetanus:</a:t>
            </a:r>
            <a:r>
              <a:rPr lang="en-GB" b="0" i="0" u="none" strike="noStrike" dirty="0">
                <a:solidFill>
                  <a:srgbClr val="D1D5DB"/>
                </a:solidFill>
                <a:effectLst/>
                <a:latin typeface="Söhne"/>
              </a:rPr>
              <a:t> In this state,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is stimulated at a rapid rate, but there is still a partial relaxation between contractions. The result is a sustained but not entirely steady level of muscle tension.</a:t>
            </a:r>
          </a:p>
          <a:p>
            <a:pPr algn="l">
              <a:buFont typeface="Arial" panose="020B0604020202020204" pitchFamily="34" charset="0"/>
              <a:buChar char="•"/>
            </a:pPr>
            <a:r>
              <a:rPr lang="en-GB" b="1" i="0" u="none" strike="noStrike" dirty="0">
                <a:solidFill>
                  <a:srgbClr val="D1D5DB"/>
                </a:solidFill>
                <a:effectLst/>
                <a:latin typeface="Söhne"/>
              </a:rPr>
              <a:t>Complete Tetanus (Fused Tetanus):</a:t>
            </a:r>
            <a:r>
              <a:rPr lang="en-GB" b="0" i="0" u="none" strike="noStrike" dirty="0">
                <a:solidFill>
                  <a:srgbClr val="D1D5DB"/>
                </a:solidFill>
                <a:effectLst/>
                <a:latin typeface="Söhne"/>
              </a:rPr>
              <a:t> When the stimulation frequency is so high that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doesn't have time to relax at all between contractions, a complete tetanus occurs. The contractions fuse together, resulting in a sustained, smooth, and maximal level of muscle tension.</a:t>
            </a:r>
          </a:p>
          <a:p>
            <a:pPr algn="l">
              <a:buFont typeface="Arial" panose="020B0604020202020204" pitchFamily="34" charset="0"/>
              <a:buChar char="•"/>
            </a:pPr>
            <a:r>
              <a:rPr lang="en-GB" b="1" i="0" u="none" strike="noStrike" dirty="0">
                <a:solidFill>
                  <a:srgbClr val="D1D5DB"/>
                </a:solidFill>
                <a:effectLst/>
                <a:latin typeface="Söhne"/>
              </a:rPr>
              <a:t>Physiological Tetanus:</a:t>
            </a:r>
            <a:r>
              <a:rPr lang="en-GB" b="0" i="0" u="none" strike="noStrike" dirty="0">
                <a:solidFill>
                  <a:srgbClr val="D1D5DB"/>
                </a:solidFill>
                <a:effectLst/>
                <a:latin typeface="Söhne"/>
              </a:rPr>
              <a:t> This is a sustained muscle contraction that occurs during normal, everyday activities. It's the result of repeated motor neuron </a:t>
            </a:r>
            <a:r>
              <a:rPr lang="en-GB" b="0" i="0" u="none" strike="noStrike" dirty="0" err="1">
                <a:solidFill>
                  <a:srgbClr val="D1D5DB"/>
                </a:solidFill>
                <a:effectLst/>
                <a:latin typeface="Söhne"/>
              </a:rPr>
              <a:t>signaling</a:t>
            </a:r>
            <a:r>
              <a:rPr lang="en-GB" b="0" i="0" u="none" strike="noStrike" dirty="0">
                <a:solidFill>
                  <a:srgbClr val="D1D5DB"/>
                </a:solidFill>
                <a:effectLst/>
                <a:latin typeface="Söhne"/>
              </a:rPr>
              <a:t> to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a:t>
            </a:r>
          </a:p>
          <a:p>
            <a:pPr algn="l">
              <a:buFont typeface="Arial" panose="020B0604020202020204" pitchFamily="34" charset="0"/>
              <a:buChar char="•"/>
            </a:pPr>
            <a:r>
              <a:rPr lang="en-GB" b="1" i="0" u="none" strike="noStrike" dirty="0">
                <a:solidFill>
                  <a:srgbClr val="D1D5DB"/>
                </a:solidFill>
                <a:effectLst/>
                <a:latin typeface="Söhne"/>
              </a:rPr>
              <a:t>Pathological Tetanus:</a:t>
            </a:r>
            <a:r>
              <a:rPr lang="en-GB" b="0" i="0" u="none" strike="noStrike" dirty="0">
                <a:solidFill>
                  <a:srgbClr val="D1D5DB"/>
                </a:solidFill>
                <a:effectLst/>
                <a:latin typeface="Söhne"/>
              </a:rPr>
              <a:t> This is an uncontrolled, sustained muscle contraction often caused by the toxin produced by the bacterium Clostridium tetani. It leads to severe muscle rigidity.</a:t>
            </a:r>
          </a:p>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14</a:t>
            </a:fld>
            <a:endParaRPr lang="en-US"/>
          </a:p>
        </p:txBody>
      </p:sp>
    </p:spTree>
    <p:extLst>
      <p:ext uri="{BB962C8B-B14F-4D97-AF65-F5344CB8AC3E}">
        <p14:creationId xmlns:p14="http://schemas.microsoft.com/office/powerpoint/2010/main" val="1177143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15</a:t>
            </a:fld>
            <a:endParaRPr lang="en-US"/>
          </a:p>
        </p:txBody>
      </p:sp>
    </p:spTree>
    <p:extLst>
      <p:ext uri="{BB962C8B-B14F-4D97-AF65-F5344CB8AC3E}">
        <p14:creationId xmlns:p14="http://schemas.microsoft.com/office/powerpoint/2010/main" val="2722062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16</a:t>
            </a:fld>
            <a:endParaRPr lang="en-US"/>
          </a:p>
        </p:txBody>
      </p:sp>
    </p:spTree>
    <p:extLst>
      <p:ext uri="{BB962C8B-B14F-4D97-AF65-F5344CB8AC3E}">
        <p14:creationId xmlns:p14="http://schemas.microsoft.com/office/powerpoint/2010/main" val="31935120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17</a:t>
            </a:fld>
            <a:endParaRPr lang="en-US"/>
          </a:p>
        </p:txBody>
      </p:sp>
    </p:spTree>
    <p:extLst>
      <p:ext uri="{BB962C8B-B14F-4D97-AF65-F5344CB8AC3E}">
        <p14:creationId xmlns:p14="http://schemas.microsoft.com/office/powerpoint/2010/main" val="19182739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18</a:t>
            </a:fld>
            <a:endParaRPr lang="en-US"/>
          </a:p>
        </p:txBody>
      </p:sp>
    </p:spTree>
    <p:extLst>
      <p:ext uri="{BB962C8B-B14F-4D97-AF65-F5344CB8AC3E}">
        <p14:creationId xmlns:p14="http://schemas.microsoft.com/office/powerpoint/2010/main" val="2504124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19</a:t>
            </a:fld>
            <a:endParaRPr lang="en-US"/>
          </a:p>
        </p:txBody>
      </p:sp>
    </p:spTree>
    <p:extLst>
      <p:ext uri="{BB962C8B-B14F-4D97-AF65-F5344CB8AC3E}">
        <p14:creationId xmlns:p14="http://schemas.microsoft.com/office/powerpoint/2010/main" val="1684667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u="none" strike="noStrike" dirty="0">
                <a:solidFill>
                  <a:srgbClr val="D1D5DB"/>
                </a:solidFill>
                <a:effectLst/>
                <a:latin typeface="Söhne"/>
              </a:rPr>
              <a:t>The conversion of pyruvate to lactate results in the release of hydrogen ions (H+). These ions contribute to the increase in acidity (lower pH) in the muscle tissue and bloodstream, a condition known as acidosis.</a:t>
            </a:r>
          </a:p>
        </p:txBody>
      </p:sp>
      <p:sp>
        <p:nvSpPr>
          <p:cNvPr id="4" name="Slide Number Placeholder 3"/>
          <p:cNvSpPr>
            <a:spLocks noGrp="1"/>
          </p:cNvSpPr>
          <p:nvPr>
            <p:ph type="sldNum" sz="quarter" idx="5"/>
          </p:nvPr>
        </p:nvSpPr>
        <p:spPr/>
        <p:txBody>
          <a:bodyPr/>
          <a:lstStyle/>
          <a:p>
            <a:fld id="{351CA05B-4666-C243-B26B-0D8F1F7B965D}" type="slidenum">
              <a:rPr lang="en-US" smtClean="0"/>
              <a:t>20</a:t>
            </a:fld>
            <a:endParaRPr lang="en-US"/>
          </a:p>
        </p:txBody>
      </p:sp>
    </p:spTree>
    <p:extLst>
      <p:ext uri="{BB962C8B-B14F-4D97-AF65-F5344CB8AC3E}">
        <p14:creationId xmlns:p14="http://schemas.microsoft.com/office/powerpoint/2010/main" val="35241043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21</a:t>
            </a:fld>
            <a:endParaRPr lang="en-US"/>
          </a:p>
        </p:txBody>
      </p:sp>
    </p:spTree>
    <p:extLst>
      <p:ext uri="{BB962C8B-B14F-4D97-AF65-F5344CB8AC3E}">
        <p14:creationId xmlns:p14="http://schemas.microsoft.com/office/powerpoint/2010/main" val="981211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Phosphorylation is where </a:t>
            </a:r>
            <a:r>
              <a:rPr lang="en-US" dirty="0" err="1"/>
              <a:t>phophsate</a:t>
            </a:r>
            <a:r>
              <a:rPr lang="en-US" dirty="0"/>
              <a:t> group is added</a:t>
            </a:r>
          </a:p>
        </p:txBody>
      </p:sp>
      <p:sp>
        <p:nvSpPr>
          <p:cNvPr id="4" name="Slide Number Placeholder 3"/>
          <p:cNvSpPr>
            <a:spLocks noGrp="1"/>
          </p:cNvSpPr>
          <p:nvPr>
            <p:ph type="sldNum" sz="quarter" idx="5"/>
          </p:nvPr>
        </p:nvSpPr>
        <p:spPr/>
        <p:txBody>
          <a:bodyPr/>
          <a:lstStyle/>
          <a:p>
            <a:fld id="{351CA05B-4666-C243-B26B-0D8F1F7B965D}" type="slidenum">
              <a:rPr lang="en-US" smtClean="0"/>
              <a:t>22</a:t>
            </a:fld>
            <a:endParaRPr lang="en-US"/>
          </a:p>
        </p:txBody>
      </p:sp>
    </p:spTree>
    <p:extLst>
      <p:ext uri="{BB962C8B-B14F-4D97-AF65-F5344CB8AC3E}">
        <p14:creationId xmlns:p14="http://schemas.microsoft.com/office/powerpoint/2010/main" val="3511515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nicotinamide adenine dinucleotide (NAD+) </a:t>
            </a:r>
            <a:r>
              <a:rPr lang="en-GB" b="0" i="0" u="none" strike="noStrike" dirty="0">
                <a:solidFill>
                  <a:srgbClr val="D1D5DB"/>
                </a:solidFill>
                <a:effectLst/>
                <a:latin typeface="Söhne"/>
              </a:rPr>
              <a:t>is involved in the electron transport chain, a series of chemical reactions that occur within the mitochondria of cells. During the process of cellular respiration, NADH donates high-energy electrons to the electron transport chain, which in turn produces ATP.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u="none" strike="noStrike" dirty="0">
              <a:solidFill>
                <a:srgbClr val="D1D5DB"/>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flavin adenine dinucleotide </a:t>
            </a:r>
            <a:r>
              <a:rPr lang="en-GB" b="0" i="0" u="none" strike="noStrike" dirty="0">
                <a:solidFill>
                  <a:srgbClr val="D1D5DB"/>
                </a:solidFill>
                <a:effectLst/>
                <a:latin typeface="Söhne"/>
              </a:rPr>
              <a:t>is a molecule that accepts electrons during various metabolic reactions. When FAD accepts two electrons and two protons (H+ ions), it becomes reduced to FADH2.</a:t>
            </a:r>
            <a:endParaRPr lang="en-GB" b="1"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23</a:t>
            </a:fld>
            <a:endParaRPr lang="en-US"/>
          </a:p>
        </p:txBody>
      </p:sp>
    </p:spTree>
    <p:extLst>
      <p:ext uri="{BB962C8B-B14F-4D97-AF65-F5344CB8AC3E}">
        <p14:creationId xmlns:p14="http://schemas.microsoft.com/office/powerpoint/2010/main" val="3762914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nicotinamide adenine dinucleotide (NAD+) </a:t>
            </a:r>
            <a:r>
              <a:rPr lang="en-GB" b="0" i="0" u="none" strike="noStrike" dirty="0">
                <a:solidFill>
                  <a:srgbClr val="D1D5DB"/>
                </a:solidFill>
                <a:effectLst/>
                <a:latin typeface="Söhne"/>
              </a:rPr>
              <a:t>is involved in the electron transport chain, a series of chemical reactions that occur within the mitochondria of cells. During the process of cellular respiration, NADH donates high-energy electrons to the electron transport chain, which in turn produces ATP.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u="none" strike="noStrike" dirty="0">
              <a:solidFill>
                <a:srgbClr val="D1D5DB"/>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flavin adenine dinucleotide </a:t>
            </a:r>
            <a:r>
              <a:rPr lang="en-GB" b="0" i="0" u="none" strike="noStrike" dirty="0">
                <a:solidFill>
                  <a:srgbClr val="D1D5DB"/>
                </a:solidFill>
                <a:effectLst/>
                <a:latin typeface="Söhne"/>
              </a:rPr>
              <a:t>is a molecule that accepts electrons during various metabolic reactions. When FAD accepts two electrons and two protons (H+ ions), it becomes reduced to FADH2.</a:t>
            </a:r>
            <a:endParaRPr lang="en-GB" b="1"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24</a:t>
            </a:fld>
            <a:endParaRPr lang="en-US"/>
          </a:p>
        </p:txBody>
      </p:sp>
    </p:spTree>
    <p:extLst>
      <p:ext uri="{BB962C8B-B14F-4D97-AF65-F5344CB8AC3E}">
        <p14:creationId xmlns:p14="http://schemas.microsoft.com/office/powerpoint/2010/main" val="2775063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nicotinamide adenine dinucleotide (NAD+) </a:t>
            </a:r>
            <a:r>
              <a:rPr lang="en-GB" b="0" i="0" u="none" strike="noStrike" dirty="0">
                <a:solidFill>
                  <a:srgbClr val="D1D5DB"/>
                </a:solidFill>
                <a:effectLst/>
                <a:latin typeface="Söhne"/>
              </a:rPr>
              <a:t>is involved in the electron transport chain, a series of chemical reactions that occur within the mitochondria of cells. During the process of cellular respiration, NADH donates high-energy electrons to the electron transport chain, which in turn produces ATP.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u="none" strike="noStrike" dirty="0">
              <a:solidFill>
                <a:srgbClr val="D1D5DB"/>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flavin adenine dinucleotide </a:t>
            </a:r>
            <a:r>
              <a:rPr lang="en-GB" b="0" i="0" u="none" strike="noStrike" dirty="0">
                <a:solidFill>
                  <a:srgbClr val="D1D5DB"/>
                </a:solidFill>
                <a:effectLst/>
                <a:latin typeface="Söhne"/>
              </a:rPr>
              <a:t>is a molecule that accepts electrons during various metabolic reactions. When FAD accepts two electrons and two protons (H+ ions), it becomes reduced to FADH2.</a:t>
            </a:r>
            <a:endParaRPr lang="en-GB" b="1"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25</a:t>
            </a:fld>
            <a:endParaRPr lang="en-US"/>
          </a:p>
        </p:txBody>
      </p:sp>
    </p:spTree>
    <p:extLst>
      <p:ext uri="{BB962C8B-B14F-4D97-AF65-F5344CB8AC3E}">
        <p14:creationId xmlns:p14="http://schemas.microsoft.com/office/powerpoint/2010/main" val="1807815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26</a:t>
            </a:fld>
            <a:endParaRPr lang="en-US"/>
          </a:p>
        </p:txBody>
      </p:sp>
    </p:spTree>
    <p:extLst>
      <p:ext uri="{BB962C8B-B14F-4D97-AF65-F5344CB8AC3E}">
        <p14:creationId xmlns:p14="http://schemas.microsoft.com/office/powerpoint/2010/main" val="3059316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4150831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marL="2286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1pPr>
            <a:lvl2pPr marL="6858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2pPr>
            <a:lvl3pPr marL="11430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3pPr>
            <a:lvl4pPr marL="16002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4pPr>
            <a:lvl5pPr marL="20574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
        <p:nvSpPr>
          <p:cNvPr id="8" name="Round Diagonal Corner of Rectangle 8">
            <a:extLst>
              <a:ext uri="{FF2B5EF4-FFF2-40B4-BE49-F238E27FC236}">
                <a16:creationId xmlns:a16="http://schemas.microsoft.com/office/drawing/2014/main" id="{10631EC3-0AD3-164E-AF11-6A057C004796}"/>
              </a:ext>
            </a:extLst>
          </p:cNvPr>
          <p:cNvSpPr/>
          <p:nvPr userDrawn="1"/>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6359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3069226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A3E2B33-783D-411D-984F-8A21DCCC5E47}" type="datetimeFigureOut">
              <a:rPr lang="en-GB" smtClean="0"/>
              <a:t>09/10/2024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219503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A3E2B33-783D-411D-984F-8A21DCCC5E47}" type="datetimeFigureOut">
              <a:rPr lang="en-GB" smtClean="0"/>
              <a:t>09/10/2024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638838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A3E2B33-783D-411D-984F-8A21DCCC5E47}" type="datetimeFigureOut">
              <a:rPr lang="en-GB" smtClean="0"/>
              <a:t>09/10/2024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4066449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3E2B33-783D-411D-984F-8A21DCCC5E47}" type="datetimeFigureOut">
              <a:rPr lang="en-GB" smtClean="0"/>
              <a:t>09/10/2024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1473775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E2B33-783D-411D-984F-8A21DCCC5E47}" type="datetimeFigureOut">
              <a:rPr lang="en-GB" smtClean="0"/>
              <a:t>09/10/2024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3216634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E2B33-783D-411D-984F-8A21DCCC5E47}" type="datetimeFigureOut">
              <a:rPr lang="en-GB" smtClean="0"/>
              <a:t>09/10/2024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589543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695200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3521904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3E2B33-783D-411D-984F-8A21DCCC5E47}" type="datetimeFigureOut">
              <a:rPr lang="en-GB" smtClean="0"/>
              <a:t>09/10/2024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F759B-2E52-4DDF-AC4D-5203B0CBE6B1}" type="slidenum">
              <a:rPr lang="en-GB" smtClean="0"/>
              <a:t>‹#›</a:t>
            </a:fld>
            <a:endParaRPr lang="en-GB"/>
          </a:p>
        </p:txBody>
      </p:sp>
      <p:sp>
        <p:nvSpPr>
          <p:cNvPr id="7" name="Rectangle 6"/>
          <p:cNvSpPr/>
          <p:nvPr/>
        </p:nvSpPr>
        <p:spPr>
          <a:xfrm>
            <a:off x="0" y="0"/>
            <a:ext cx="12192000" cy="6858000"/>
          </a:xfrm>
          <a:prstGeom prst="rect">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descr="COSMOS GRAPHIC WHITE.png"/>
          <p:cNvPicPr>
            <a:picLocks noChangeAspect="1"/>
          </p:cNvPicPr>
          <p:nvPr/>
        </p:nvPicPr>
        <p:blipFill rotWithShape="1">
          <a:blip r:embed="rId1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Tree>
    <p:extLst>
      <p:ext uri="{BB962C8B-B14F-4D97-AF65-F5344CB8AC3E}">
        <p14:creationId xmlns:p14="http://schemas.microsoft.com/office/powerpoint/2010/main" val="3280158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ideo" Target="https://www.youtube.com/embed/xUpuuL24NiQ?feature=oembed" TargetMode="Externa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ondon Metropolitan University logo"/>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100" y="6122508"/>
            <a:ext cx="1688789" cy="434260"/>
          </a:xfrm>
          <a:prstGeom prst="rect">
            <a:avLst/>
          </a:prstGeom>
        </p:spPr>
      </p:pic>
      <p:sp>
        <p:nvSpPr>
          <p:cNvPr id="13" name="Title 1">
            <a:extLst>
              <a:ext uri="{FF2B5EF4-FFF2-40B4-BE49-F238E27FC236}">
                <a16:creationId xmlns:a16="http://schemas.microsoft.com/office/drawing/2014/main" id="{D716E601-E960-914B-9E24-DB158018F9CF}"/>
              </a:ext>
            </a:extLst>
          </p:cNvPr>
          <p:cNvSpPr txBox="1">
            <a:spLocks/>
          </p:cNvSpPr>
          <p:nvPr/>
        </p:nvSpPr>
        <p:spPr>
          <a:xfrm>
            <a:off x="859367" y="1626330"/>
            <a:ext cx="7766936" cy="16463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dirty="0">
                <a:solidFill>
                  <a:schemeClr val="bg1"/>
                </a:solidFill>
                <a:latin typeface="Arial" panose="020B0604020202020204" pitchFamily="34" charset="0"/>
                <a:cs typeface="Arial" panose="020B0604020202020204" pitchFamily="34" charset="0"/>
              </a:rPr>
              <a:t>Applied Sciences</a:t>
            </a:r>
          </a:p>
        </p:txBody>
      </p:sp>
      <p:sp>
        <p:nvSpPr>
          <p:cNvPr id="14" name="Subtitle 2">
            <a:extLst>
              <a:ext uri="{FF2B5EF4-FFF2-40B4-BE49-F238E27FC236}">
                <a16:creationId xmlns:a16="http://schemas.microsoft.com/office/drawing/2014/main" id="{9D54B19F-1A94-8640-8DAB-23A14C560723}"/>
              </a:ext>
            </a:extLst>
          </p:cNvPr>
          <p:cNvSpPr txBox="1">
            <a:spLocks/>
          </p:cNvSpPr>
          <p:nvPr/>
        </p:nvSpPr>
        <p:spPr>
          <a:xfrm>
            <a:off x="515723" y="3310729"/>
            <a:ext cx="8105339" cy="2083036"/>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GB" sz="3200" dirty="0">
                <a:solidFill>
                  <a:schemeClr val="bg1"/>
                </a:solidFill>
                <a:latin typeface="Arial" panose="020B0604020202020204" pitchFamily="34" charset="0"/>
                <a:cs typeface="Arial" panose="020B0604020202020204" pitchFamily="34" charset="0"/>
              </a:rPr>
              <a:t>PT4050 and PT7001</a:t>
            </a:r>
          </a:p>
          <a:p>
            <a:pPr algn="r"/>
            <a:r>
              <a:rPr lang="en-GB" sz="3200" dirty="0">
                <a:solidFill>
                  <a:schemeClr val="bg1"/>
                </a:solidFill>
                <a:latin typeface="Arial" panose="020B0604020202020204" pitchFamily="34" charset="0"/>
                <a:cs typeface="Arial" panose="020B0604020202020204" pitchFamily="34" charset="0"/>
              </a:rPr>
              <a:t>Muscle Physiology Part 2</a:t>
            </a:r>
            <a:endParaRPr lang="en-GB" sz="3200" dirty="0">
              <a:solidFill>
                <a:srgbClr val="00B0F0"/>
              </a:solidFill>
              <a:latin typeface="Arial" panose="020B0604020202020204" pitchFamily="34" charset="0"/>
              <a:cs typeface="Arial" panose="020B0604020202020204" pitchFamily="34" charset="0"/>
            </a:endParaRPr>
          </a:p>
          <a:p>
            <a:pPr algn="r"/>
            <a:endParaRPr lang="en-GB" dirty="0">
              <a:solidFill>
                <a:srgbClr val="00B0F0"/>
              </a:solidFill>
              <a:latin typeface="Arial" panose="020B0604020202020204" pitchFamily="34" charset="0"/>
              <a:cs typeface="Arial" panose="020B0604020202020204" pitchFamily="34" charset="0"/>
            </a:endParaRPr>
          </a:p>
          <a:p>
            <a:pPr algn="r"/>
            <a:r>
              <a:rPr lang="en-GB" dirty="0">
                <a:solidFill>
                  <a:srgbClr val="00B0F0"/>
                </a:solidFill>
                <a:latin typeface="Arial" panose="020B0604020202020204" pitchFamily="34" charset="0"/>
                <a:cs typeface="Arial" panose="020B0604020202020204" pitchFamily="34" charset="0"/>
              </a:rPr>
              <a:t>Chris Chamberlin  and Dr Ben Hunter</a:t>
            </a:r>
          </a:p>
          <a:p>
            <a:pPr algn="r"/>
            <a:r>
              <a:rPr lang="en-GB" dirty="0">
                <a:solidFill>
                  <a:srgbClr val="00B0F0"/>
                </a:solidFill>
                <a:latin typeface="Arial" panose="020B0604020202020204" pitchFamily="34" charset="0"/>
                <a:cs typeface="Arial" panose="020B0604020202020204" pitchFamily="34" charset="0"/>
              </a:rPr>
              <a:t>c.chamberlin@londonmet.ac.uk</a:t>
            </a:r>
          </a:p>
        </p:txBody>
      </p:sp>
      <p:pic>
        <p:nvPicPr>
          <p:cNvPr id="1026" name="Picture 2" descr="Ronnie Coleman Yeah Buddy Light weight baby on Make a GIF">
            <a:extLst>
              <a:ext uri="{FF2B5EF4-FFF2-40B4-BE49-F238E27FC236}">
                <a16:creationId xmlns:a16="http://schemas.microsoft.com/office/drawing/2014/main" id="{04322729-2C45-13AF-18E0-1A63C82CED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953"/>
          <a:stretch/>
        </p:blipFill>
        <p:spPr bwMode="auto">
          <a:xfrm>
            <a:off x="8797525" y="2820393"/>
            <a:ext cx="3233833" cy="2280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59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Learning Outcomes</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797800" cy="4351338"/>
          </a:xfrm>
        </p:spPr>
        <p:txBody>
          <a:bodyPr>
            <a:noAutofit/>
          </a:bodyPr>
          <a:lstStyle/>
          <a:p>
            <a:pPr>
              <a:lnSpc>
                <a:spcPct val="200000"/>
              </a:lnSpc>
            </a:pPr>
            <a:r>
              <a:rPr lang="en-GB" sz="2200" b="0" i="0" u="none" strike="noStrike" dirty="0">
                <a:effectLst/>
                <a:latin typeface="Calibri" panose="020F0502020204030204" pitchFamily="34" charset="0"/>
              </a:rPr>
              <a:t>Smooth muscle</a:t>
            </a:r>
          </a:p>
          <a:p>
            <a:pPr lvl="1">
              <a:lnSpc>
                <a:spcPct val="200000"/>
              </a:lnSpc>
            </a:pPr>
            <a:r>
              <a:rPr lang="en-GB" sz="1800" dirty="0">
                <a:latin typeface="Calibri" panose="020F0502020204030204" pitchFamily="34" charset="0"/>
              </a:rPr>
              <a:t>Structure and innervation</a:t>
            </a:r>
          </a:p>
          <a:p>
            <a:pPr>
              <a:lnSpc>
                <a:spcPct val="200000"/>
              </a:lnSpc>
            </a:pPr>
            <a:r>
              <a:rPr lang="en-GB" sz="2200" b="0" i="0" u="none" strike="noStrike" dirty="0">
                <a:effectLst/>
                <a:latin typeface="Calibri" panose="020F0502020204030204" pitchFamily="34" charset="0"/>
              </a:rPr>
              <a:t>Three muscle types</a:t>
            </a:r>
          </a:p>
          <a:p>
            <a:pPr lvl="1">
              <a:lnSpc>
                <a:spcPct val="200000"/>
              </a:lnSpc>
            </a:pPr>
            <a:r>
              <a:rPr lang="en-GB" sz="1800" dirty="0">
                <a:latin typeface="Calibri" panose="020F0502020204030204" pitchFamily="34" charset="0"/>
              </a:rPr>
              <a:t>Skeletal, smooth, cardiac</a:t>
            </a:r>
          </a:p>
          <a:p>
            <a:pPr>
              <a:lnSpc>
                <a:spcPct val="200000"/>
              </a:lnSpc>
            </a:pPr>
            <a:r>
              <a:rPr lang="en-GB" sz="2200" b="0" i="0" u="none" strike="noStrike" dirty="0">
                <a:effectLst/>
                <a:latin typeface="Calibri" panose="020F0502020204030204" pitchFamily="34" charset="0"/>
              </a:rPr>
              <a:t>Contraction regulation in smooth and skeletal muscle</a:t>
            </a:r>
          </a:p>
          <a:p>
            <a:pPr>
              <a:lnSpc>
                <a:spcPct val="200000"/>
              </a:lnSpc>
            </a:pPr>
            <a:r>
              <a:rPr lang="en-GB" sz="2200" b="0" i="0" u="none" strike="noStrike" dirty="0">
                <a:effectLst/>
                <a:latin typeface="Calibri" panose="020F0502020204030204" pitchFamily="34" charset="0"/>
              </a:rPr>
              <a:t>Energy supply</a:t>
            </a:r>
          </a:p>
        </p:txBody>
      </p:sp>
    </p:spTree>
    <p:extLst>
      <p:ext uri="{BB962C8B-B14F-4D97-AF65-F5344CB8AC3E}">
        <p14:creationId xmlns:p14="http://schemas.microsoft.com/office/powerpoint/2010/main" val="4216962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Types of Muscle</a:t>
            </a:r>
            <a:endParaRPr lang="en-GB" dirty="0"/>
          </a:p>
        </p:txBody>
      </p:sp>
      <p:pic>
        <p:nvPicPr>
          <p:cNvPr id="110" name="Picture 109">
            <a:extLst>
              <a:ext uri="{FF2B5EF4-FFF2-40B4-BE49-F238E27FC236}">
                <a16:creationId xmlns:a16="http://schemas.microsoft.com/office/drawing/2014/main" id="{B19A960E-7583-E697-5561-6A15ACCD512E}"/>
              </a:ext>
            </a:extLst>
          </p:cNvPr>
          <p:cNvPicPr>
            <a:picLocks noChangeAspect="1"/>
          </p:cNvPicPr>
          <p:nvPr/>
        </p:nvPicPr>
        <p:blipFill>
          <a:blip r:embed="rId3"/>
          <a:stretch>
            <a:fillRect/>
          </a:stretch>
        </p:blipFill>
        <p:spPr>
          <a:xfrm>
            <a:off x="2209800" y="1653092"/>
            <a:ext cx="7772400" cy="5109432"/>
          </a:xfrm>
          <a:prstGeom prst="rect">
            <a:avLst/>
          </a:prstGeom>
          <a:solidFill>
            <a:schemeClr val="bg1"/>
          </a:solidFill>
        </p:spPr>
      </p:pic>
    </p:spTree>
    <p:extLst>
      <p:ext uri="{BB962C8B-B14F-4D97-AF65-F5344CB8AC3E}">
        <p14:creationId xmlns:p14="http://schemas.microsoft.com/office/powerpoint/2010/main" val="3429505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Types of Muscle</a:t>
            </a:r>
            <a:endParaRPr lang="en-GB" dirty="0"/>
          </a:p>
        </p:txBody>
      </p:sp>
      <p:pic>
        <p:nvPicPr>
          <p:cNvPr id="33" name="Picture 32">
            <a:extLst>
              <a:ext uri="{FF2B5EF4-FFF2-40B4-BE49-F238E27FC236}">
                <a16:creationId xmlns:a16="http://schemas.microsoft.com/office/drawing/2014/main" id="{5A308357-6B84-7128-C811-BB80C088F6CE}"/>
              </a:ext>
            </a:extLst>
          </p:cNvPr>
          <p:cNvPicPr>
            <a:picLocks noChangeAspect="1"/>
          </p:cNvPicPr>
          <p:nvPr/>
        </p:nvPicPr>
        <p:blipFill>
          <a:blip r:embed="rId3"/>
          <a:stretch>
            <a:fillRect/>
          </a:stretch>
        </p:blipFill>
        <p:spPr>
          <a:xfrm>
            <a:off x="2556710" y="1488909"/>
            <a:ext cx="7078579" cy="5241732"/>
          </a:xfrm>
          <a:prstGeom prst="rect">
            <a:avLst/>
          </a:prstGeom>
          <a:solidFill>
            <a:schemeClr val="bg1"/>
          </a:solidFill>
        </p:spPr>
      </p:pic>
    </p:spTree>
    <p:extLst>
      <p:ext uri="{BB962C8B-B14F-4D97-AF65-F5344CB8AC3E}">
        <p14:creationId xmlns:p14="http://schemas.microsoft.com/office/powerpoint/2010/main" val="2885547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516566"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Skeletal Muscle</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758156"/>
            <a:ext cx="7792453" cy="2036185"/>
          </a:xfrm>
        </p:spPr>
        <p:txBody>
          <a:bodyPr>
            <a:normAutofit fontScale="92500" lnSpcReduction="20000"/>
          </a:bodyPr>
          <a:lstStyle/>
          <a:p>
            <a:pPr>
              <a:spcBef>
                <a:spcPts val="600"/>
              </a:spcBef>
              <a:buFont typeface="Symbol" charset="2"/>
              <a:buChar char="·"/>
            </a:pPr>
            <a:r>
              <a:rPr lang="en-GB" altLang="en-US" sz="3200" kern="0" dirty="0">
                <a:latin typeface="Calibri" pitchFamily="34" charset="0"/>
              </a:rPr>
              <a:t>Striation (sarcomeres)</a:t>
            </a:r>
          </a:p>
          <a:p>
            <a:pPr>
              <a:spcBef>
                <a:spcPts val="600"/>
              </a:spcBef>
              <a:buFont typeface="Symbol" charset="2"/>
              <a:buChar char="·"/>
            </a:pPr>
            <a:r>
              <a:rPr lang="en-GB" altLang="en-US" sz="3200" kern="0" dirty="0">
                <a:latin typeface="Calibri" pitchFamily="34" charset="0"/>
              </a:rPr>
              <a:t>Effector of somatic nerve system</a:t>
            </a:r>
          </a:p>
          <a:p>
            <a:pPr>
              <a:spcBef>
                <a:spcPts val="600"/>
              </a:spcBef>
              <a:buFont typeface="Symbol" charset="2"/>
              <a:buChar char="·"/>
            </a:pPr>
            <a:r>
              <a:rPr lang="en-GB" altLang="en-US" sz="3200" kern="0" dirty="0">
                <a:latin typeface="Calibri" pitchFamily="34" charset="0"/>
              </a:rPr>
              <a:t>Voluntary contraction</a:t>
            </a:r>
          </a:p>
          <a:p>
            <a:pPr>
              <a:spcBef>
                <a:spcPts val="600"/>
              </a:spcBef>
              <a:buFont typeface="Symbol" charset="2"/>
              <a:buChar char="·"/>
            </a:pPr>
            <a:r>
              <a:rPr lang="en-GB" altLang="en-US" sz="3200" kern="0" dirty="0">
                <a:latin typeface="Calibri" pitchFamily="34" charset="0"/>
              </a:rPr>
              <a:t>Neuromuscular junction-specific </a:t>
            </a:r>
          </a:p>
          <a:p>
            <a:pPr>
              <a:spcBef>
                <a:spcPts val="600"/>
              </a:spcBef>
              <a:buFont typeface="Symbol" charset="2"/>
              <a:buChar char="·"/>
            </a:pPr>
            <a:r>
              <a:rPr lang="en-GB" altLang="en-US" sz="3200" kern="0" dirty="0">
                <a:latin typeface="Calibri" pitchFamily="34" charset="0"/>
              </a:rPr>
              <a:t>Multi-nuclei (fusion)</a:t>
            </a:r>
          </a:p>
          <a:p>
            <a:endParaRPr lang="en-GB" dirty="0">
              <a:effectLst/>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1C601F1-54E9-9DAC-0811-1853D91815D6}"/>
              </a:ext>
            </a:extLst>
          </p:cNvPr>
          <p:cNvPicPr>
            <a:picLocks noChangeAspect="1"/>
          </p:cNvPicPr>
          <p:nvPr/>
        </p:nvPicPr>
        <p:blipFill>
          <a:blip r:embed="rId3"/>
          <a:stretch>
            <a:fillRect/>
          </a:stretch>
        </p:blipFill>
        <p:spPr>
          <a:xfrm>
            <a:off x="1538857" y="3861810"/>
            <a:ext cx="9114285" cy="2996190"/>
          </a:xfrm>
          <a:prstGeom prst="rect">
            <a:avLst/>
          </a:prstGeom>
        </p:spPr>
      </p:pic>
    </p:spTree>
    <p:extLst>
      <p:ext uri="{BB962C8B-B14F-4D97-AF65-F5344CB8AC3E}">
        <p14:creationId xmlns:p14="http://schemas.microsoft.com/office/powerpoint/2010/main" val="401773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516566"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Smooth Muscle</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758156"/>
            <a:ext cx="7792453" cy="2036185"/>
          </a:xfrm>
        </p:spPr>
        <p:txBody>
          <a:bodyPr>
            <a:normAutofit fontScale="92500" lnSpcReduction="20000"/>
          </a:bodyPr>
          <a:lstStyle/>
          <a:p>
            <a:pPr>
              <a:spcBef>
                <a:spcPts val="600"/>
              </a:spcBef>
              <a:buFont typeface="Symbol" charset="2"/>
              <a:buChar char="·"/>
            </a:pPr>
            <a:r>
              <a:rPr lang="en-GB" altLang="en-US" sz="3200" kern="0" dirty="0">
                <a:latin typeface="Calibri" pitchFamily="34" charset="0"/>
              </a:rPr>
              <a:t>No striation (filaments not form sarcomeres)</a:t>
            </a:r>
          </a:p>
          <a:p>
            <a:pPr>
              <a:spcBef>
                <a:spcPts val="600"/>
              </a:spcBef>
              <a:buFont typeface="Symbol" charset="2"/>
              <a:buChar char="·"/>
            </a:pPr>
            <a:r>
              <a:rPr lang="en-GB" altLang="en-US" sz="3200" kern="0" dirty="0">
                <a:latin typeface="Calibri" pitchFamily="34" charset="0"/>
              </a:rPr>
              <a:t>Effector of autonomic nerve system</a:t>
            </a:r>
          </a:p>
          <a:p>
            <a:pPr>
              <a:spcBef>
                <a:spcPts val="600"/>
              </a:spcBef>
              <a:buFont typeface="Symbol" charset="2"/>
              <a:buChar char="·"/>
            </a:pPr>
            <a:r>
              <a:rPr lang="en-GB" altLang="en-US" sz="3200" kern="0" dirty="0">
                <a:latin typeface="Calibri" pitchFamily="34" charset="0"/>
              </a:rPr>
              <a:t>Involuntary contraction</a:t>
            </a:r>
          </a:p>
          <a:p>
            <a:pPr>
              <a:spcBef>
                <a:spcPts val="600"/>
              </a:spcBef>
              <a:buFont typeface="Symbol" charset="2"/>
              <a:buChar char="·"/>
            </a:pPr>
            <a:r>
              <a:rPr lang="en-GB" altLang="en-US" sz="3200" kern="0" dirty="0" err="1">
                <a:latin typeface="Calibri" pitchFamily="34" charset="0"/>
              </a:rPr>
              <a:t>Varicosites</a:t>
            </a:r>
            <a:r>
              <a:rPr lang="en-GB" altLang="en-US" sz="3200" kern="0" dirty="0">
                <a:latin typeface="Calibri" pitchFamily="34" charset="0"/>
              </a:rPr>
              <a:t>-diffuse</a:t>
            </a:r>
          </a:p>
          <a:p>
            <a:pPr>
              <a:spcBef>
                <a:spcPts val="600"/>
              </a:spcBef>
              <a:buFont typeface="Symbol" charset="2"/>
              <a:buChar char="·"/>
            </a:pPr>
            <a:r>
              <a:rPr lang="en-GB" altLang="en-US" sz="3200" kern="0" dirty="0">
                <a:latin typeface="Calibri" pitchFamily="34" charset="0"/>
              </a:rPr>
              <a:t>Gap junctions  </a:t>
            </a:r>
          </a:p>
          <a:p>
            <a:endParaRPr lang="en-GB" dirty="0">
              <a:effectLst/>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867C8360-12E2-EEA3-442B-82A70EB7E676}"/>
              </a:ext>
            </a:extLst>
          </p:cNvPr>
          <p:cNvPicPr>
            <a:picLocks noChangeAspect="1"/>
          </p:cNvPicPr>
          <p:nvPr/>
        </p:nvPicPr>
        <p:blipFill>
          <a:blip r:embed="rId3"/>
          <a:stretch>
            <a:fillRect/>
          </a:stretch>
        </p:blipFill>
        <p:spPr>
          <a:xfrm>
            <a:off x="1055819" y="3861809"/>
            <a:ext cx="10080361" cy="2765099"/>
          </a:xfrm>
          <a:prstGeom prst="rect">
            <a:avLst/>
          </a:prstGeom>
        </p:spPr>
      </p:pic>
    </p:spTree>
    <p:extLst>
      <p:ext uri="{BB962C8B-B14F-4D97-AF65-F5344CB8AC3E}">
        <p14:creationId xmlns:p14="http://schemas.microsoft.com/office/powerpoint/2010/main" val="2538551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516566"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Cardiac Muscle</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758156"/>
            <a:ext cx="7792453" cy="2036185"/>
          </a:xfrm>
        </p:spPr>
        <p:txBody>
          <a:bodyPr>
            <a:normAutofit fontScale="92500" lnSpcReduction="20000"/>
          </a:bodyPr>
          <a:lstStyle/>
          <a:p>
            <a:pPr>
              <a:spcBef>
                <a:spcPts val="600"/>
              </a:spcBef>
              <a:buFont typeface="Symbol" charset="2"/>
              <a:buChar char="·"/>
            </a:pPr>
            <a:r>
              <a:rPr lang="en-GB" altLang="en-US" sz="3200" kern="0" dirty="0">
                <a:latin typeface="Calibri" pitchFamily="34" charset="0"/>
              </a:rPr>
              <a:t>Striation (sarcomeres)</a:t>
            </a:r>
          </a:p>
          <a:p>
            <a:pPr>
              <a:spcBef>
                <a:spcPts val="600"/>
              </a:spcBef>
              <a:buFont typeface="Symbol" charset="2"/>
              <a:buChar char="·"/>
            </a:pPr>
            <a:r>
              <a:rPr lang="en-GB" altLang="en-US" sz="3200" kern="0" dirty="0">
                <a:latin typeface="Calibri" pitchFamily="34" charset="0"/>
              </a:rPr>
              <a:t>Effector of autonomic nerve system</a:t>
            </a:r>
          </a:p>
          <a:p>
            <a:pPr>
              <a:spcBef>
                <a:spcPts val="600"/>
              </a:spcBef>
              <a:buFont typeface="Symbol" charset="2"/>
              <a:buChar char="·"/>
            </a:pPr>
            <a:r>
              <a:rPr lang="en-GB" altLang="en-US" sz="3200" kern="0" dirty="0">
                <a:latin typeface="Calibri" pitchFamily="34" charset="0"/>
              </a:rPr>
              <a:t>Involuntary contraction</a:t>
            </a:r>
          </a:p>
          <a:p>
            <a:pPr>
              <a:spcBef>
                <a:spcPts val="600"/>
              </a:spcBef>
              <a:buFont typeface="Symbol" charset="2"/>
              <a:buChar char="·"/>
            </a:pPr>
            <a:r>
              <a:rPr lang="en-GB" altLang="en-US" sz="3200" kern="0" dirty="0">
                <a:latin typeface="Calibri" pitchFamily="34" charset="0"/>
              </a:rPr>
              <a:t>Gap junctions</a:t>
            </a:r>
          </a:p>
          <a:p>
            <a:pPr>
              <a:spcBef>
                <a:spcPts val="600"/>
              </a:spcBef>
              <a:buFont typeface="Symbol" charset="2"/>
              <a:buChar char="·"/>
            </a:pPr>
            <a:r>
              <a:rPr lang="en-GB" altLang="en-US" sz="3200" kern="0" dirty="0">
                <a:latin typeface="Calibri" pitchFamily="34" charset="0"/>
              </a:rPr>
              <a:t>Intercalated disks</a:t>
            </a:r>
          </a:p>
          <a:p>
            <a:endParaRPr lang="en-GB" dirty="0">
              <a:effectLst/>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638FF85C-85B5-4F89-7B85-926D74DFBD83}"/>
              </a:ext>
            </a:extLst>
          </p:cNvPr>
          <p:cNvPicPr>
            <a:picLocks noChangeAspect="1"/>
          </p:cNvPicPr>
          <p:nvPr/>
        </p:nvPicPr>
        <p:blipFill>
          <a:blip r:embed="rId3"/>
          <a:stretch>
            <a:fillRect/>
          </a:stretch>
        </p:blipFill>
        <p:spPr>
          <a:xfrm>
            <a:off x="1119566" y="3779509"/>
            <a:ext cx="9952867" cy="2996191"/>
          </a:xfrm>
          <a:prstGeom prst="rect">
            <a:avLst/>
          </a:prstGeom>
        </p:spPr>
      </p:pic>
    </p:spTree>
    <p:extLst>
      <p:ext uri="{BB962C8B-B14F-4D97-AF65-F5344CB8AC3E}">
        <p14:creationId xmlns:p14="http://schemas.microsoft.com/office/powerpoint/2010/main" val="909767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”On-off switch” – Skeletal and Cardiac</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1" y="1758156"/>
            <a:ext cx="4953000" cy="4947444"/>
          </a:xfrm>
        </p:spPr>
        <p:txBody>
          <a:bodyPr>
            <a:normAutofit fontScale="77500" lnSpcReduction="20000"/>
          </a:bodyPr>
          <a:lstStyle/>
          <a:p>
            <a:pPr>
              <a:spcBef>
                <a:spcPts val="600"/>
              </a:spcBef>
              <a:buFont typeface="Symbol" charset="2"/>
              <a:buChar char="·"/>
            </a:pPr>
            <a:r>
              <a:rPr lang="en-GB" altLang="en-US" sz="3200" kern="0" dirty="0">
                <a:latin typeface="Calibri" pitchFamily="34" charset="0"/>
              </a:rPr>
              <a:t>Interaction of actin and myosin depends on regulatory proteins on the thin filament:</a:t>
            </a:r>
          </a:p>
          <a:p>
            <a:pPr lvl="1">
              <a:spcBef>
                <a:spcPts val="600"/>
              </a:spcBef>
              <a:buFont typeface="Symbol" charset="2"/>
              <a:buChar char="·"/>
            </a:pPr>
            <a:r>
              <a:rPr lang="en-GB" altLang="en-US" sz="2800" kern="0" dirty="0">
                <a:latin typeface="Calibri" pitchFamily="34" charset="0"/>
              </a:rPr>
              <a:t>Tropomyosin – blocks myosin binding sides on actin</a:t>
            </a:r>
          </a:p>
          <a:p>
            <a:pPr lvl="1">
              <a:spcBef>
                <a:spcPts val="600"/>
              </a:spcBef>
              <a:buFont typeface="Symbol" charset="2"/>
              <a:buChar char="·"/>
            </a:pPr>
            <a:r>
              <a:rPr lang="en-GB" altLang="en-US" sz="2800" kern="0" dirty="0">
                <a:latin typeface="Calibri" pitchFamily="34" charset="0"/>
              </a:rPr>
              <a:t>Troponin C – binding site for Ca2+ </a:t>
            </a:r>
          </a:p>
          <a:p>
            <a:pPr lvl="1">
              <a:spcBef>
                <a:spcPts val="600"/>
              </a:spcBef>
              <a:buFont typeface="Symbol" charset="2"/>
              <a:buChar char="·"/>
            </a:pPr>
            <a:r>
              <a:rPr lang="en-GB" altLang="en-US" sz="2800" kern="0" dirty="0">
                <a:latin typeface="Calibri" pitchFamily="34" charset="0"/>
              </a:rPr>
              <a:t>Troponin T – binds to tropomyosin</a:t>
            </a:r>
          </a:p>
          <a:p>
            <a:pPr lvl="1">
              <a:spcBef>
                <a:spcPts val="600"/>
              </a:spcBef>
              <a:buFont typeface="Symbol" charset="2"/>
              <a:buChar char="·"/>
            </a:pPr>
            <a:r>
              <a:rPr lang="en-GB" altLang="en-US" sz="2800" kern="0" dirty="0">
                <a:latin typeface="Calibri" pitchFamily="34" charset="0"/>
              </a:rPr>
              <a:t>Troponin I – binds to actin</a:t>
            </a:r>
          </a:p>
          <a:p>
            <a:pPr marL="457200" lvl="1" indent="0">
              <a:spcBef>
                <a:spcPts val="600"/>
              </a:spcBef>
              <a:buNone/>
            </a:pPr>
            <a:endParaRPr lang="en-GB" altLang="en-US" sz="2800" kern="0" dirty="0">
              <a:latin typeface="Calibri" panose="020F0502020204030204" pitchFamily="34" charset="0"/>
              <a:cs typeface="Calibri" panose="020F0502020204030204" pitchFamily="34" charset="0"/>
            </a:endParaRPr>
          </a:p>
          <a:p>
            <a:pPr>
              <a:spcBef>
                <a:spcPts val="600"/>
              </a:spcBef>
              <a:buFont typeface="Symbol" charset="2"/>
              <a:buChar char="·"/>
            </a:pPr>
            <a:r>
              <a:rPr lang="en-GB" altLang="en-US" sz="3200" kern="0" dirty="0">
                <a:latin typeface="Calibri" pitchFamily="34" charset="0"/>
              </a:rPr>
              <a:t>Ca2+ binds to troponin-C then a conformational change occurs which moves tropomyosin</a:t>
            </a:r>
          </a:p>
          <a:p>
            <a:pPr>
              <a:spcBef>
                <a:spcPts val="600"/>
              </a:spcBef>
              <a:buFont typeface="Symbol" charset="2"/>
              <a:buChar char="·"/>
            </a:pPr>
            <a:r>
              <a:rPr lang="en-GB" altLang="en-US" sz="3200" kern="0" dirty="0">
                <a:latin typeface="Calibri" pitchFamily="34" charset="0"/>
              </a:rPr>
              <a:t>This then </a:t>
            </a:r>
            <a:r>
              <a:rPr lang="en-GB" altLang="en-US" sz="3200" kern="0" dirty="0" err="1">
                <a:latin typeface="Calibri" pitchFamily="34" charset="0"/>
              </a:rPr>
              <a:t>revelas</a:t>
            </a:r>
            <a:r>
              <a:rPr lang="en-GB" altLang="en-US" sz="3200" kern="0" dirty="0">
                <a:latin typeface="Calibri" pitchFamily="34" charset="0"/>
              </a:rPr>
              <a:t> the myosin binding site and a cross-bridge can form</a:t>
            </a:r>
          </a:p>
        </p:txBody>
      </p:sp>
      <p:pic>
        <p:nvPicPr>
          <p:cNvPr id="30" name="Picture 29">
            <a:extLst>
              <a:ext uri="{FF2B5EF4-FFF2-40B4-BE49-F238E27FC236}">
                <a16:creationId xmlns:a16="http://schemas.microsoft.com/office/drawing/2014/main" id="{3A548E0D-C685-B7FD-3280-00E537D7EE87}"/>
              </a:ext>
            </a:extLst>
          </p:cNvPr>
          <p:cNvPicPr>
            <a:picLocks noChangeAspect="1"/>
          </p:cNvPicPr>
          <p:nvPr/>
        </p:nvPicPr>
        <p:blipFill>
          <a:blip r:embed="rId3"/>
          <a:stretch>
            <a:fillRect/>
          </a:stretch>
        </p:blipFill>
        <p:spPr>
          <a:xfrm>
            <a:off x="7047831" y="1857144"/>
            <a:ext cx="4673600" cy="4254500"/>
          </a:xfrm>
          <a:prstGeom prst="rect">
            <a:avLst/>
          </a:prstGeom>
          <a:solidFill>
            <a:schemeClr val="bg1"/>
          </a:solidFill>
        </p:spPr>
      </p:pic>
    </p:spTree>
    <p:extLst>
      <p:ext uri="{BB962C8B-B14F-4D97-AF65-F5344CB8AC3E}">
        <p14:creationId xmlns:p14="http://schemas.microsoft.com/office/powerpoint/2010/main" val="1006135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”On-off switch” – Smooth</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1" y="1758156"/>
            <a:ext cx="4953000" cy="4734719"/>
          </a:xfrm>
        </p:spPr>
        <p:txBody>
          <a:bodyPr>
            <a:normAutofit/>
          </a:bodyPr>
          <a:lstStyle/>
          <a:p>
            <a:pPr>
              <a:spcBef>
                <a:spcPts val="600"/>
              </a:spcBef>
              <a:buFont typeface="Symbol" charset="2"/>
              <a:buChar char="·"/>
            </a:pPr>
            <a:r>
              <a:rPr lang="en-GB" altLang="en-US" sz="2400" kern="0" dirty="0">
                <a:latin typeface="Calibri" pitchFamily="34" charset="0"/>
              </a:rPr>
              <a:t>Smooth muscle doesn’t contain troponin, therefore Ca2+ triggers contraction via different mechanism</a:t>
            </a:r>
          </a:p>
          <a:p>
            <a:pPr>
              <a:spcBef>
                <a:spcPts val="600"/>
              </a:spcBef>
              <a:buFont typeface="Symbol" charset="2"/>
              <a:buChar char="·"/>
            </a:pPr>
            <a:endParaRPr lang="en-GB" altLang="en-US" sz="2400" kern="0" dirty="0">
              <a:latin typeface="Calibri" pitchFamily="34" charset="0"/>
            </a:endParaRPr>
          </a:p>
          <a:p>
            <a:pPr>
              <a:spcBef>
                <a:spcPts val="600"/>
              </a:spcBef>
              <a:buFont typeface="Symbol" charset="2"/>
              <a:buChar char="·"/>
            </a:pPr>
            <a:r>
              <a:rPr lang="en-GB" altLang="en-US" sz="2400" kern="0" dirty="0">
                <a:latin typeface="Calibri" pitchFamily="34" charset="0"/>
              </a:rPr>
              <a:t>Ca2+ binds to protein called calmodulin</a:t>
            </a:r>
          </a:p>
          <a:p>
            <a:pPr>
              <a:spcBef>
                <a:spcPts val="600"/>
              </a:spcBef>
              <a:buFont typeface="Symbol" charset="2"/>
              <a:buChar char="·"/>
            </a:pPr>
            <a:r>
              <a:rPr lang="en-GB" altLang="en-US" sz="2400" kern="0" dirty="0">
                <a:latin typeface="Calibri" pitchFamily="34" charset="0"/>
              </a:rPr>
              <a:t>Binds to myosin light chain kinase (MLCK)</a:t>
            </a:r>
          </a:p>
          <a:p>
            <a:pPr>
              <a:spcBef>
                <a:spcPts val="600"/>
              </a:spcBef>
              <a:buFont typeface="Symbol" charset="2"/>
              <a:buChar char="·"/>
            </a:pPr>
            <a:r>
              <a:rPr lang="en-GB" altLang="en-US" sz="2400" kern="0" dirty="0">
                <a:latin typeface="Calibri" pitchFamily="34" charset="0"/>
              </a:rPr>
              <a:t>Myosin light chains are then phosphorylated</a:t>
            </a:r>
          </a:p>
          <a:p>
            <a:pPr>
              <a:spcBef>
                <a:spcPts val="600"/>
              </a:spcBef>
              <a:buFont typeface="Symbol" charset="2"/>
              <a:buChar char="·"/>
            </a:pPr>
            <a:r>
              <a:rPr lang="en-GB" altLang="en-US" sz="2400" kern="0" dirty="0">
                <a:latin typeface="Calibri" pitchFamily="34" charset="0"/>
              </a:rPr>
              <a:t>This permits the binding of myosin to actin</a:t>
            </a:r>
          </a:p>
        </p:txBody>
      </p:sp>
      <p:sp>
        <p:nvSpPr>
          <p:cNvPr id="4" name="object 56">
            <a:extLst>
              <a:ext uri="{FF2B5EF4-FFF2-40B4-BE49-F238E27FC236}">
                <a16:creationId xmlns:a16="http://schemas.microsoft.com/office/drawing/2014/main" id="{49CEEDFD-2981-BF9D-12C4-FD2921F7B278}"/>
              </a:ext>
            </a:extLst>
          </p:cNvPr>
          <p:cNvSpPr/>
          <p:nvPr/>
        </p:nvSpPr>
        <p:spPr>
          <a:xfrm>
            <a:off x="6096000" y="2232245"/>
            <a:ext cx="5889544" cy="3265192"/>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0198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err="1"/>
              <a:t>Depolarisation</a:t>
            </a:r>
            <a:r>
              <a:rPr lang="en-US" kern="0" dirty="0"/>
              <a:t> in different muscle</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5374105"/>
            <a:ext cx="7632031" cy="1118770"/>
          </a:xfrm>
        </p:spPr>
        <p:txBody>
          <a:bodyPr>
            <a:normAutofit/>
          </a:bodyPr>
          <a:lstStyle/>
          <a:p>
            <a:pPr>
              <a:spcBef>
                <a:spcPts val="600"/>
              </a:spcBef>
              <a:buFont typeface="Symbol" charset="2"/>
              <a:buChar char="·"/>
            </a:pPr>
            <a:r>
              <a:rPr lang="en-GB" altLang="en-US" sz="2400" kern="0" dirty="0">
                <a:latin typeface="Calibri" pitchFamily="34" charset="0"/>
              </a:rPr>
              <a:t>Skeletal – AP triggers release of calcium from SR</a:t>
            </a:r>
          </a:p>
          <a:p>
            <a:pPr>
              <a:spcBef>
                <a:spcPts val="600"/>
              </a:spcBef>
              <a:buFont typeface="Symbol" charset="2"/>
              <a:buChar char="·"/>
            </a:pPr>
            <a:r>
              <a:rPr lang="en-GB" altLang="en-US" sz="2400" kern="0" dirty="0">
                <a:latin typeface="Calibri" pitchFamily="34" charset="0"/>
              </a:rPr>
              <a:t>Cardiac and smooth – the AP and source of calcium differ</a:t>
            </a:r>
          </a:p>
        </p:txBody>
      </p:sp>
      <p:pic>
        <p:nvPicPr>
          <p:cNvPr id="89" name="Picture 88">
            <a:extLst>
              <a:ext uri="{FF2B5EF4-FFF2-40B4-BE49-F238E27FC236}">
                <a16:creationId xmlns:a16="http://schemas.microsoft.com/office/drawing/2014/main" id="{3B01A5D0-CB0B-664A-6C81-F1B29290FE8A}"/>
              </a:ext>
            </a:extLst>
          </p:cNvPr>
          <p:cNvPicPr>
            <a:picLocks noChangeAspect="1"/>
          </p:cNvPicPr>
          <p:nvPr/>
        </p:nvPicPr>
        <p:blipFill>
          <a:blip r:embed="rId3"/>
          <a:stretch>
            <a:fillRect/>
          </a:stretch>
        </p:blipFill>
        <p:spPr>
          <a:xfrm>
            <a:off x="1773971" y="1543677"/>
            <a:ext cx="8644058" cy="3683417"/>
          </a:xfrm>
          <a:prstGeom prst="rect">
            <a:avLst/>
          </a:prstGeom>
          <a:solidFill>
            <a:schemeClr val="bg1"/>
          </a:solidFill>
        </p:spPr>
      </p:pic>
    </p:spTree>
    <p:extLst>
      <p:ext uri="{BB962C8B-B14F-4D97-AF65-F5344CB8AC3E}">
        <p14:creationId xmlns:p14="http://schemas.microsoft.com/office/powerpoint/2010/main" val="4040946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Twitch contraction</a:t>
            </a:r>
          </a:p>
        </p:txBody>
      </p:sp>
      <p:sp>
        <p:nvSpPr>
          <p:cNvPr id="7" name="Subtitle 2">
            <a:extLst>
              <a:ext uri="{FF2B5EF4-FFF2-40B4-BE49-F238E27FC236}">
                <a16:creationId xmlns:a16="http://schemas.microsoft.com/office/drawing/2014/main" id="{6C883721-863C-BF0A-6E6D-C35E38AFE1C8}"/>
              </a:ext>
            </a:extLst>
          </p:cNvPr>
          <p:cNvSpPr>
            <a:spLocks noGrp="1"/>
          </p:cNvSpPr>
          <p:nvPr>
            <p:ph idx="1"/>
          </p:nvPr>
        </p:nvSpPr>
        <p:spPr>
          <a:xfrm>
            <a:off x="838199" y="1854533"/>
            <a:ext cx="8353927" cy="4638341"/>
          </a:xfrm>
        </p:spPr>
        <p:txBody>
          <a:bodyPr>
            <a:normAutofit/>
          </a:bodyPr>
          <a:lstStyle/>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Contraction produced in response to a single action potential</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All or nothing for a given muscle </a:t>
            </a:r>
            <a:r>
              <a:rPr lang="en-GB" sz="2400" kern="0" dirty="0">
                <a:cs typeface="Arial" pitchFamily="34" charset="0"/>
              </a:rPr>
              <a:t>fibre</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Can be induced for a muscle </a:t>
            </a:r>
            <a:r>
              <a:rPr lang="en-GB" sz="2400" kern="0" dirty="0">
                <a:cs typeface="Arial" pitchFamily="34" charset="0"/>
              </a:rPr>
              <a:t>fibre</a:t>
            </a:r>
            <a:r>
              <a:rPr lang="en-US" sz="2400" kern="0" dirty="0">
                <a:cs typeface="Arial" pitchFamily="34" charset="0"/>
              </a:rPr>
              <a:t>, a motor unit or a whole muscle </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Latency: time delay between stimulation (nerve AP or direct electrical) – </a:t>
            </a:r>
            <a:r>
              <a:rPr lang="en-US" sz="2400" kern="0" dirty="0">
                <a:solidFill>
                  <a:srgbClr val="00FDFF"/>
                </a:solidFill>
                <a:cs typeface="Arial" pitchFamily="34" charset="0"/>
              </a:rPr>
              <a:t>E-C coupling</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Contraction phase – </a:t>
            </a:r>
            <a:r>
              <a:rPr lang="en-US" sz="2400" kern="0" dirty="0">
                <a:solidFill>
                  <a:srgbClr val="00FDFF"/>
                </a:solidFill>
                <a:cs typeface="Arial" pitchFamily="34" charset="0"/>
              </a:rPr>
              <a:t>cross-bridge cycling</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Relaxation phase – </a:t>
            </a:r>
            <a:r>
              <a:rPr lang="en-US" sz="2400" kern="0" dirty="0">
                <a:solidFill>
                  <a:srgbClr val="00FDFF"/>
                </a:solidFill>
                <a:cs typeface="Arial" pitchFamily="34" charset="0"/>
              </a:rPr>
              <a:t>Ca</a:t>
            </a:r>
            <a:r>
              <a:rPr lang="en-US" sz="2400" kern="0" baseline="30000" dirty="0">
                <a:solidFill>
                  <a:srgbClr val="00FDFF"/>
                </a:solidFill>
                <a:cs typeface="Arial" pitchFamily="34" charset="0"/>
              </a:rPr>
              <a:t>2+</a:t>
            </a:r>
            <a:r>
              <a:rPr lang="en-US" sz="2400" kern="0" dirty="0">
                <a:solidFill>
                  <a:srgbClr val="00FDFF"/>
                </a:solidFill>
                <a:cs typeface="Arial" pitchFamily="34" charset="0"/>
              </a:rPr>
              <a:t> uptake</a:t>
            </a: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3900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Twitch contraction</a:t>
            </a:r>
          </a:p>
        </p:txBody>
      </p:sp>
      <p:pic>
        <p:nvPicPr>
          <p:cNvPr id="5" name="Picture 7" descr="Figure_12_12_L.jpg                                             000067D1&#10;SG_for_Kym                     C1CA77B7:">
            <a:extLst>
              <a:ext uri="{FF2B5EF4-FFF2-40B4-BE49-F238E27FC236}">
                <a16:creationId xmlns:a16="http://schemas.microsoft.com/office/drawing/2014/main" id="{EA5BE3E3-152C-36A8-7112-FE4497EEC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65" r="893" b="6540"/>
          <a:stretch>
            <a:fillRect/>
          </a:stretch>
        </p:blipFill>
        <p:spPr bwMode="auto">
          <a:xfrm>
            <a:off x="1725136" y="1550573"/>
            <a:ext cx="8741728" cy="5118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927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Frequency and Summation</a:t>
            </a:r>
          </a:p>
        </p:txBody>
      </p:sp>
      <p:sp>
        <p:nvSpPr>
          <p:cNvPr id="7" name="Subtitle 2">
            <a:extLst>
              <a:ext uri="{FF2B5EF4-FFF2-40B4-BE49-F238E27FC236}">
                <a16:creationId xmlns:a16="http://schemas.microsoft.com/office/drawing/2014/main" id="{6C883721-863C-BF0A-6E6D-C35E38AFE1C8}"/>
              </a:ext>
            </a:extLst>
          </p:cNvPr>
          <p:cNvSpPr>
            <a:spLocks noGrp="1"/>
          </p:cNvSpPr>
          <p:nvPr>
            <p:ph idx="1"/>
          </p:nvPr>
        </p:nvSpPr>
        <p:spPr>
          <a:xfrm>
            <a:off x="838200" y="1854533"/>
            <a:ext cx="7279106" cy="4638341"/>
          </a:xfrm>
        </p:spPr>
        <p:txBody>
          <a:bodyPr>
            <a:normAutofit/>
          </a:bodyPr>
          <a:lstStyle/>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Action potential: </a:t>
            </a:r>
            <a:r>
              <a:rPr lang="en-US" sz="2400" kern="0" dirty="0">
                <a:solidFill>
                  <a:srgbClr val="00FDFF"/>
                </a:solidFill>
                <a:cs typeface="Arial" pitchFamily="34" charset="0"/>
              </a:rPr>
              <a:t>2 </a:t>
            </a:r>
            <a:r>
              <a:rPr lang="en-US" sz="2400" kern="0" dirty="0" err="1">
                <a:solidFill>
                  <a:srgbClr val="00FDFF"/>
                </a:solidFill>
                <a:cs typeface="Arial" pitchFamily="34" charset="0"/>
              </a:rPr>
              <a:t>ms</a:t>
            </a:r>
            <a:endParaRPr lang="en-US" sz="2400" kern="0" dirty="0">
              <a:solidFill>
                <a:srgbClr val="00FDFF"/>
              </a:solidFill>
              <a:cs typeface="Arial" pitchFamily="34" charset="0"/>
            </a:endParaRP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Contraction: </a:t>
            </a:r>
            <a:r>
              <a:rPr lang="en-US" sz="2400" kern="0" dirty="0">
                <a:solidFill>
                  <a:srgbClr val="00FDFF"/>
                </a:solidFill>
                <a:cs typeface="Arial" pitchFamily="34" charset="0"/>
              </a:rPr>
              <a:t>10–200 </a:t>
            </a:r>
            <a:r>
              <a:rPr lang="en-US" sz="2400" kern="0" dirty="0" err="1">
                <a:solidFill>
                  <a:srgbClr val="00FDFF"/>
                </a:solidFill>
                <a:cs typeface="Arial" pitchFamily="34" charset="0"/>
              </a:rPr>
              <a:t>ms</a:t>
            </a:r>
            <a:r>
              <a:rPr lang="en-US" sz="2400" kern="0" dirty="0">
                <a:cs typeface="Arial" pitchFamily="34" charset="0"/>
              </a:rPr>
              <a:t>, possible to summate</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Tension (force) depends on [</a:t>
            </a:r>
            <a:r>
              <a:rPr lang="en-US" sz="2400" kern="0" dirty="0">
                <a:cs typeface="Arial" pitchFamily="34" charset="0"/>
                <a:sym typeface="Symbol"/>
              </a:rPr>
              <a:t>Ca</a:t>
            </a:r>
            <a:r>
              <a:rPr lang="en-US" sz="2400" kern="0" baseline="30000" dirty="0">
                <a:cs typeface="Arial" pitchFamily="34" charset="0"/>
                <a:sym typeface="Symbol"/>
              </a:rPr>
              <a:t>2+</a:t>
            </a:r>
            <a:r>
              <a:rPr lang="en-US" sz="2400" kern="0" dirty="0">
                <a:cs typeface="Arial" pitchFamily="34" charset="0"/>
              </a:rPr>
              <a:t>]</a:t>
            </a:r>
            <a:r>
              <a:rPr lang="en-US" sz="2400" kern="0" baseline="-25000" dirty="0" err="1">
                <a:cs typeface="Arial" pitchFamily="34" charset="0"/>
              </a:rPr>
              <a:t>i</a:t>
            </a:r>
            <a:endParaRPr lang="en-US" sz="2400" kern="0" baseline="-25000" dirty="0">
              <a:cs typeface="Arial" pitchFamily="34" charset="0"/>
            </a:endParaRP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Freq. of stim.</a:t>
            </a:r>
            <a:r>
              <a:rPr lang="en-US" sz="2400" kern="0" dirty="0">
                <a:cs typeface="Arial" pitchFamily="34" charset="0"/>
                <a:sym typeface="Symbol"/>
              </a:rPr>
              <a:t>, Ca</a:t>
            </a:r>
            <a:r>
              <a:rPr lang="en-US" sz="2400" kern="0" baseline="30000" dirty="0">
                <a:cs typeface="Arial" pitchFamily="34" charset="0"/>
                <a:sym typeface="Symbol"/>
              </a:rPr>
              <a:t>2+</a:t>
            </a:r>
            <a:r>
              <a:rPr lang="en-US" sz="2400" kern="0" dirty="0">
                <a:cs typeface="Arial" pitchFamily="34" charset="0"/>
                <a:sym typeface="Symbol"/>
              </a:rPr>
              <a:t> release&gt;uptake, </a:t>
            </a:r>
            <a:r>
              <a:rPr lang="en-US" sz="2400" kern="0" dirty="0">
                <a:cs typeface="Arial" pitchFamily="34" charset="0"/>
              </a:rPr>
              <a:t>[</a:t>
            </a:r>
            <a:r>
              <a:rPr lang="en-US" sz="2400" kern="0" dirty="0">
                <a:cs typeface="Arial" pitchFamily="34" charset="0"/>
                <a:sym typeface="Symbol"/>
              </a:rPr>
              <a:t>Ca</a:t>
            </a:r>
            <a:r>
              <a:rPr lang="en-US" sz="2400" kern="0" baseline="30000" dirty="0">
                <a:cs typeface="Arial" pitchFamily="34" charset="0"/>
                <a:sym typeface="Symbol"/>
              </a:rPr>
              <a:t>2+</a:t>
            </a:r>
            <a:r>
              <a:rPr lang="en-US" sz="2400" kern="0" dirty="0">
                <a:cs typeface="Arial" pitchFamily="34" charset="0"/>
              </a:rPr>
              <a:t>]</a:t>
            </a:r>
            <a:r>
              <a:rPr lang="en-US" sz="2400" kern="0" baseline="-25000" dirty="0" err="1">
                <a:cs typeface="Arial" pitchFamily="34" charset="0"/>
              </a:rPr>
              <a:t>i</a:t>
            </a:r>
            <a:r>
              <a:rPr lang="en-US" sz="2400" kern="0" dirty="0">
                <a:cs typeface="Arial" pitchFamily="34" charset="0"/>
                <a:sym typeface="Symbol"/>
              </a:rPr>
              <a:t></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sym typeface="Symbol"/>
              </a:rPr>
              <a:t>When the system is saturated (all troponin bind with Ca</a:t>
            </a:r>
            <a:r>
              <a:rPr lang="en-US" sz="2400" kern="0" baseline="30000" dirty="0">
                <a:cs typeface="Arial" pitchFamily="34" charset="0"/>
                <a:sym typeface="Symbol"/>
              </a:rPr>
              <a:t>2+</a:t>
            </a:r>
            <a:r>
              <a:rPr lang="en-US" sz="2400" kern="0" dirty="0">
                <a:cs typeface="Arial" pitchFamily="34" charset="0"/>
                <a:sym typeface="Symbol"/>
              </a:rPr>
              <a:t> and cross-bridge cycling maxed out) – </a:t>
            </a:r>
            <a:r>
              <a:rPr lang="en-US" sz="2400" b="1" kern="0" dirty="0">
                <a:cs typeface="Arial" pitchFamily="34" charset="0"/>
                <a:sym typeface="Symbol"/>
              </a:rPr>
              <a:t>tetanus</a:t>
            </a:r>
            <a:r>
              <a:rPr lang="en-US" sz="2400" kern="0" dirty="0">
                <a:cs typeface="Arial" pitchFamily="34" charset="0"/>
                <a:sym typeface="Symbol"/>
              </a:rPr>
              <a:t> (long lasting contraction)</a:t>
            </a: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7066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Frequency and Summation</a:t>
            </a:r>
          </a:p>
        </p:txBody>
      </p:sp>
      <p:pic>
        <p:nvPicPr>
          <p:cNvPr id="5" name="Picture 7" descr="Figure_12_17_L.jpg                                             000067D1&#10;SG_for_Kym                     C1CA77B7:">
            <a:extLst>
              <a:ext uri="{FF2B5EF4-FFF2-40B4-BE49-F238E27FC236}">
                <a16:creationId xmlns:a16="http://schemas.microsoft.com/office/drawing/2014/main" id="{5A11AB7E-4169-10E2-8342-54C306DC7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4532"/>
          <a:stretch>
            <a:fillRect/>
          </a:stretch>
        </p:blipFill>
        <p:spPr bwMode="auto">
          <a:xfrm>
            <a:off x="507368" y="2452245"/>
            <a:ext cx="11177263" cy="2889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9574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Energy Production - ATP</a:t>
            </a:r>
          </a:p>
        </p:txBody>
      </p:sp>
      <p:pic>
        <p:nvPicPr>
          <p:cNvPr id="8" name="Online Media 7" descr="003 What ATP is and How it Works">
            <a:hlinkClick r:id="" action="ppaction://media"/>
            <a:extLst>
              <a:ext uri="{FF2B5EF4-FFF2-40B4-BE49-F238E27FC236}">
                <a16:creationId xmlns:a16="http://schemas.microsoft.com/office/drawing/2014/main" id="{65B6E7F6-26F9-52FF-E60B-38DE05AFD9DC}"/>
              </a:ext>
            </a:extLst>
          </p:cNvPr>
          <p:cNvPicPr>
            <a:picLocks noRot="1" noChangeAspect="1"/>
          </p:cNvPicPr>
          <p:nvPr>
            <a:videoFile r:link="rId1"/>
          </p:nvPr>
        </p:nvPicPr>
        <p:blipFill>
          <a:blip r:embed="rId4"/>
          <a:stretch>
            <a:fillRect/>
          </a:stretch>
        </p:blipFill>
        <p:spPr>
          <a:xfrm>
            <a:off x="1979863" y="1643566"/>
            <a:ext cx="8232274" cy="4651235"/>
          </a:xfrm>
          <a:prstGeom prst="rect">
            <a:avLst/>
          </a:prstGeom>
        </p:spPr>
      </p:pic>
    </p:spTree>
    <p:extLst>
      <p:ext uri="{BB962C8B-B14F-4D97-AF65-F5344CB8AC3E}">
        <p14:creationId xmlns:p14="http://schemas.microsoft.com/office/powerpoint/2010/main" val="173761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Energy Production - ATP</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758156"/>
            <a:ext cx="7680157" cy="4734719"/>
          </a:xfrm>
        </p:spPr>
        <p:txBody>
          <a:bodyPr>
            <a:normAutofit/>
          </a:bodyPr>
          <a:lstStyle/>
          <a:p>
            <a:pPr>
              <a:spcAft>
                <a:spcPts val="500"/>
              </a:spcAft>
            </a:pPr>
            <a:r>
              <a:rPr lang="en-GB" altLang="en-US" sz="2400" dirty="0">
                <a:latin typeface="Calibri" panose="020F0502020204030204" pitchFamily="34" charset="0"/>
                <a:cs typeface="Calibri" panose="020F0502020204030204" pitchFamily="34" charset="0"/>
              </a:rPr>
              <a:t>How does ATP provide energy?</a:t>
            </a:r>
          </a:p>
          <a:p>
            <a:pPr>
              <a:spcAft>
                <a:spcPts val="500"/>
              </a:spcAft>
            </a:pPr>
            <a:r>
              <a:rPr lang="en-GB" altLang="en-US" sz="2400" dirty="0">
                <a:latin typeface="Calibri" panose="020F0502020204030204" pitchFamily="34" charset="0"/>
                <a:cs typeface="Calibri" panose="020F0502020204030204" pitchFamily="34" charset="0"/>
              </a:rPr>
              <a:t>Reaction (catabolic) -</a:t>
            </a:r>
          </a:p>
          <a:p>
            <a:pPr>
              <a:spcAft>
                <a:spcPts val="500"/>
              </a:spcAft>
              <a:buNone/>
            </a:pPr>
            <a:r>
              <a:rPr lang="en-GB" altLang="en-US" sz="2400" dirty="0">
                <a:latin typeface="Calibri" panose="020F0502020204030204" pitchFamily="34" charset="0"/>
                <a:cs typeface="Calibri" panose="020F0502020204030204" pitchFamily="34" charset="0"/>
              </a:rPr>
              <a:t>	ATP </a:t>
            </a:r>
            <a:r>
              <a:rPr lang="en-GB" altLang="en-US" sz="2400" dirty="0">
                <a:latin typeface="Calibri" panose="020F0502020204030204" pitchFamily="34" charset="0"/>
                <a:cs typeface="Calibri" panose="020F0502020204030204" pitchFamily="34" charset="0"/>
                <a:sym typeface="Wingdings 3" pitchFamily="18" charset="2"/>
              </a:rPr>
              <a:t> ADP + P </a:t>
            </a:r>
            <a:r>
              <a:rPr lang="en-GB" altLang="en-US" sz="2400" dirty="0">
                <a:solidFill>
                  <a:srgbClr val="FF0000"/>
                </a:solidFill>
                <a:latin typeface="Calibri" panose="020F0502020204030204" pitchFamily="34" charset="0"/>
                <a:cs typeface="Calibri" panose="020F0502020204030204" pitchFamily="34" charset="0"/>
                <a:sym typeface="Wingdings 3" pitchFamily="18" charset="2"/>
              </a:rPr>
              <a:t>+ Energy + Heat</a:t>
            </a:r>
          </a:p>
          <a:p>
            <a:pPr>
              <a:spcAft>
                <a:spcPts val="500"/>
              </a:spcAft>
              <a:buNone/>
            </a:pPr>
            <a:r>
              <a:rPr lang="en-GB" altLang="en-US" sz="2400" b="1" dirty="0">
                <a:latin typeface="Calibri" panose="020F0502020204030204" pitchFamily="34" charset="0"/>
                <a:cs typeface="Calibri" panose="020F0502020204030204" pitchFamily="34" charset="0"/>
                <a:sym typeface="Wingdings 3" pitchFamily="18" charset="2"/>
              </a:rPr>
              <a:t>	</a:t>
            </a:r>
            <a:endParaRPr lang="en-GB" altLang="en-US" sz="2400" dirty="0">
              <a:latin typeface="Calibri" panose="020F0502020204030204" pitchFamily="34" charset="0"/>
              <a:cs typeface="Calibri" panose="020F0502020204030204" pitchFamily="34" charset="0"/>
              <a:sym typeface="Wingdings 3" pitchFamily="18" charset="2"/>
            </a:endParaRPr>
          </a:p>
          <a:p>
            <a:pPr>
              <a:spcAft>
                <a:spcPts val="500"/>
              </a:spcAft>
            </a:pPr>
            <a:r>
              <a:rPr lang="en-GB" altLang="en-US" sz="2400" dirty="0">
                <a:latin typeface="Calibri" panose="020F0502020204030204" pitchFamily="34" charset="0"/>
                <a:cs typeface="Calibri" panose="020F0502020204030204" pitchFamily="34" charset="0"/>
                <a:sym typeface="Wingdings 3" pitchFamily="18" charset="2"/>
              </a:rPr>
              <a:t>Stores of ATP in body are sufficient for </a:t>
            </a:r>
            <a:r>
              <a:rPr lang="en-GB" altLang="en-US" sz="2400" b="1" dirty="0">
                <a:latin typeface="Calibri" panose="020F0502020204030204" pitchFamily="34" charset="0"/>
                <a:cs typeface="Calibri" panose="020F0502020204030204" pitchFamily="34" charset="0"/>
                <a:sym typeface="Wingdings 3" pitchFamily="18" charset="2"/>
              </a:rPr>
              <a:t>few seconds of maximal work. </a:t>
            </a:r>
          </a:p>
        </p:txBody>
      </p:sp>
    </p:spTree>
    <p:extLst>
      <p:ext uri="{BB962C8B-B14F-4D97-AF65-F5344CB8AC3E}">
        <p14:creationId xmlns:p14="http://schemas.microsoft.com/office/powerpoint/2010/main" val="3119643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a:t>
            </a:r>
            <a:r>
              <a:rPr lang="en-US" kern="0" dirty="0" err="1"/>
              <a:t>PCr</a:t>
            </a:r>
            <a:r>
              <a:rPr lang="en-US" kern="0" dirty="0"/>
              <a:t> System</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758156"/>
            <a:ext cx="4792579" cy="4734719"/>
          </a:xfrm>
        </p:spPr>
        <p:txBody>
          <a:bodyPr>
            <a:normAutofit/>
          </a:bodyPr>
          <a:lstStyle/>
          <a:p>
            <a:pPr eaLnBrk="1" hangingPunct="1"/>
            <a:r>
              <a:rPr lang="en-GB" altLang="en-US" sz="2400" dirty="0" err="1">
                <a:latin typeface="Calibri" panose="020F0502020204030204" pitchFamily="34" charset="0"/>
                <a:cs typeface="Calibri" panose="020F0502020204030204" pitchFamily="34" charset="0"/>
              </a:rPr>
              <a:t>PCr</a:t>
            </a:r>
            <a:r>
              <a:rPr lang="en-GB" altLang="en-US" sz="2400" dirty="0">
                <a:latin typeface="Calibri" panose="020F0502020204030204" pitchFamily="34" charset="0"/>
                <a:cs typeface="Calibri" panose="020F0502020204030204" pitchFamily="34" charset="0"/>
              </a:rPr>
              <a:t> used as follows:</a:t>
            </a:r>
          </a:p>
          <a:p>
            <a:pPr eaLnBrk="1" hangingPunct="1">
              <a:buFontTx/>
              <a:buNone/>
            </a:pPr>
            <a:r>
              <a:rPr lang="en-GB" altLang="en-US" sz="2400" dirty="0">
                <a:latin typeface="Calibri" panose="020F0502020204030204" pitchFamily="34" charset="0"/>
                <a:cs typeface="Calibri" panose="020F0502020204030204" pitchFamily="34" charset="0"/>
              </a:rPr>
              <a:t>		</a:t>
            </a:r>
            <a:r>
              <a:rPr lang="en-GB" altLang="en-US" sz="2400" dirty="0" err="1">
                <a:latin typeface="Calibri" panose="020F0502020204030204" pitchFamily="34" charset="0"/>
                <a:cs typeface="Calibri" panose="020F0502020204030204" pitchFamily="34" charset="0"/>
              </a:rPr>
              <a:t>PCr</a:t>
            </a:r>
            <a:r>
              <a:rPr lang="en-GB" altLang="en-US" sz="2400" dirty="0">
                <a:latin typeface="Calibri" panose="020F0502020204030204" pitchFamily="34" charset="0"/>
                <a:cs typeface="Calibri" panose="020F0502020204030204" pitchFamily="34" charset="0"/>
              </a:rPr>
              <a:t> </a:t>
            </a:r>
            <a:r>
              <a:rPr lang="en-GB" altLang="en-US" sz="2400" dirty="0">
                <a:latin typeface="Calibri" panose="020F0502020204030204" pitchFamily="34" charset="0"/>
                <a:cs typeface="Calibri" panose="020F0502020204030204" pitchFamily="34" charset="0"/>
                <a:sym typeface="Wingdings 3" pitchFamily="18" charset="2"/>
              </a:rPr>
              <a:t></a:t>
            </a:r>
            <a:r>
              <a:rPr lang="en-GB" altLang="en-US" sz="2400" dirty="0">
                <a:latin typeface="Calibri" panose="020F0502020204030204" pitchFamily="34" charset="0"/>
                <a:cs typeface="Calibri" panose="020F0502020204030204" pitchFamily="34" charset="0"/>
              </a:rPr>
              <a:t> P + Cr + </a:t>
            </a:r>
            <a:r>
              <a:rPr lang="en-GB" altLang="en-US" sz="2400" dirty="0">
                <a:solidFill>
                  <a:srgbClr val="FF0000"/>
                </a:solidFill>
                <a:latin typeface="Calibri" panose="020F0502020204030204" pitchFamily="34" charset="0"/>
                <a:cs typeface="Calibri" panose="020F0502020204030204" pitchFamily="34" charset="0"/>
              </a:rPr>
              <a:t>Energy</a:t>
            </a:r>
          </a:p>
          <a:p>
            <a:pPr eaLnBrk="1" hangingPunct="1">
              <a:buFontTx/>
              <a:buNone/>
            </a:pPr>
            <a:r>
              <a:rPr lang="en-GB" altLang="en-US" sz="2400" dirty="0">
                <a:solidFill>
                  <a:srgbClr val="7030A0"/>
                </a:solidFill>
                <a:latin typeface="Calibri" panose="020F0502020204030204" pitchFamily="34" charset="0"/>
                <a:cs typeface="Calibri" panose="020F0502020204030204" pitchFamily="34" charset="0"/>
              </a:rPr>
              <a:t>	</a:t>
            </a:r>
            <a:r>
              <a:rPr lang="en-GB" altLang="en-US" sz="2400" dirty="0">
                <a:latin typeface="Calibri" panose="020F0502020204030204" pitchFamily="34" charset="0"/>
                <a:cs typeface="Calibri" panose="020F0502020204030204" pitchFamily="34" charset="0"/>
              </a:rPr>
              <a:t>Facilitated by the enzyme creatine kinase</a:t>
            </a:r>
          </a:p>
          <a:p>
            <a:pPr eaLnBrk="1" hangingPunct="1"/>
            <a:r>
              <a:rPr lang="en-GB" altLang="en-US" sz="2400" dirty="0">
                <a:latin typeface="Calibri" panose="020F0502020204030204" pitchFamily="34" charset="0"/>
                <a:cs typeface="Calibri" panose="020F0502020204030204" pitchFamily="34" charset="0"/>
              </a:rPr>
              <a:t>Energy released from catabolic </a:t>
            </a:r>
            <a:r>
              <a:rPr lang="en-GB" altLang="en-US" sz="2400" dirty="0" err="1">
                <a:latin typeface="Calibri" panose="020F0502020204030204" pitchFamily="34" charset="0"/>
                <a:cs typeface="Calibri" panose="020F0502020204030204" pitchFamily="34" charset="0"/>
              </a:rPr>
              <a:t>PCr</a:t>
            </a:r>
            <a:r>
              <a:rPr lang="en-GB" altLang="en-US" sz="2400" dirty="0">
                <a:latin typeface="Calibri" panose="020F0502020204030204" pitchFamily="34" charset="0"/>
                <a:cs typeface="Calibri" panose="020F0502020204030204" pitchFamily="34" charset="0"/>
              </a:rPr>
              <a:t> reaction</a:t>
            </a:r>
          </a:p>
          <a:p>
            <a:pPr>
              <a:buNone/>
            </a:pPr>
            <a:r>
              <a:rPr lang="en-GB" altLang="en-US" sz="2400" dirty="0">
                <a:solidFill>
                  <a:srgbClr val="7030A0"/>
                </a:solidFill>
                <a:latin typeface="Calibri" panose="020F0502020204030204" pitchFamily="34" charset="0"/>
                <a:cs typeface="Calibri" panose="020F0502020204030204" pitchFamily="34" charset="0"/>
              </a:rPr>
              <a:t>		</a:t>
            </a:r>
            <a:r>
              <a:rPr lang="en-GB" altLang="en-US" sz="2400" dirty="0">
                <a:latin typeface="Calibri" panose="020F0502020204030204" pitchFamily="34" charset="0"/>
                <a:cs typeface="Calibri" panose="020F0502020204030204" pitchFamily="34" charset="0"/>
              </a:rPr>
              <a:t>ADP + P </a:t>
            </a:r>
            <a:r>
              <a:rPr lang="en-GB" altLang="en-US" sz="2400" dirty="0">
                <a:solidFill>
                  <a:srgbClr val="FF0000"/>
                </a:solidFill>
                <a:latin typeface="Calibri" panose="020F0502020204030204" pitchFamily="34" charset="0"/>
                <a:cs typeface="Calibri" panose="020F0502020204030204" pitchFamily="34" charset="0"/>
              </a:rPr>
              <a:t>+ Energy </a:t>
            </a:r>
            <a:r>
              <a:rPr lang="en-GB" altLang="en-US" sz="2400" dirty="0">
                <a:latin typeface="Calibri" panose="020F0502020204030204" pitchFamily="34" charset="0"/>
                <a:cs typeface="Calibri" panose="020F0502020204030204" pitchFamily="34" charset="0"/>
                <a:sym typeface="Wingdings 3" pitchFamily="18" charset="2"/>
              </a:rPr>
              <a:t></a:t>
            </a:r>
            <a:r>
              <a:rPr lang="en-GB" altLang="en-US" sz="2400" dirty="0">
                <a:latin typeface="Calibri" panose="020F0502020204030204" pitchFamily="34" charset="0"/>
                <a:cs typeface="Calibri" panose="020F0502020204030204" pitchFamily="34" charset="0"/>
              </a:rPr>
              <a:t> ATP</a:t>
            </a:r>
          </a:p>
          <a:p>
            <a:pPr eaLnBrk="1" hangingPunct="1"/>
            <a:r>
              <a:rPr lang="en-GB" altLang="en-US" sz="2400" dirty="0">
                <a:latin typeface="Calibri" panose="020F0502020204030204" pitchFamily="34" charset="0"/>
                <a:cs typeface="Calibri" panose="020F0502020204030204" pitchFamily="34" charset="0"/>
              </a:rPr>
              <a:t>Anabolic reaction – phosphate and energy reform ATP</a:t>
            </a:r>
          </a:p>
        </p:txBody>
      </p:sp>
      <p:pic>
        <p:nvPicPr>
          <p:cNvPr id="4" name="Picture 3">
            <a:extLst>
              <a:ext uri="{FF2B5EF4-FFF2-40B4-BE49-F238E27FC236}">
                <a16:creationId xmlns:a16="http://schemas.microsoft.com/office/drawing/2014/main" id="{B231A37F-9950-C910-7E8D-8BC1C6026C81}"/>
              </a:ext>
            </a:extLst>
          </p:cNvPr>
          <p:cNvPicPr>
            <a:picLocks noChangeAspect="1"/>
          </p:cNvPicPr>
          <p:nvPr/>
        </p:nvPicPr>
        <p:blipFill>
          <a:blip r:embed="rId3"/>
          <a:stretch>
            <a:fillRect/>
          </a:stretch>
        </p:blipFill>
        <p:spPr>
          <a:xfrm>
            <a:off x="5999318" y="2086039"/>
            <a:ext cx="6192682" cy="3793392"/>
          </a:xfrm>
          <a:prstGeom prst="rect">
            <a:avLst/>
          </a:prstGeom>
        </p:spPr>
      </p:pic>
      <p:sp>
        <p:nvSpPr>
          <p:cNvPr id="5" name="Freeform: Shape 5">
            <a:extLst>
              <a:ext uri="{FF2B5EF4-FFF2-40B4-BE49-F238E27FC236}">
                <a16:creationId xmlns:a16="http://schemas.microsoft.com/office/drawing/2014/main" id="{82B5E979-056C-61EE-EB30-25A4314ACCF5}"/>
              </a:ext>
            </a:extLst>
          </p:cNvPr>
          <p:cNvSpPr/>
          <p:nvPr/>
        </p:nvSpPr>
        <p:spPr>
          <a:xfrm>
            <a:off x="6938762" y="3055397"/>
            <a:ext cx="4655218" cy="1874982"/>
          </a:xfrm>
          <a:custGeom>
            <a:avLst/>
            <a:gdLst>
              <a:gd name="connsiteX0" fmla="*/ 397 w 4655524"/>
              <a:gd name="connsiteY0" fmla="*/ 0 h 1874982"/>
              <a:gd name="connsiteX1" fmla="*/ 9633 w 4655524"/>
              <a:gd name="connsiteY1" fmla="*/ 277091 h 1874982"/>
              <a:gd name="connsiteX2" fmla="*/ 65051 w 4655524"/>
              <a:gd name="connsiteY2" fmla="*/ 674255 h 1874982"/>
              <a:gd name="connsiteX3" fmla="*/ 101997 w 4655524"/>
              <a:gd name="connsiteY3" fmla="*/ 1052946 h 1874982"/>
              <a:gd name="connsiteX4" fmla="*/ 175888 w 4655524"/>
              <a:gd name="connsiteY4" fmla="*/ 1228437 h 1874982"/>
              <a:gd name="connsiteX5" fmla="*/ 286724 w 4655524"/>
              <a:gd name="connsiteY5" fmla="*/ 1376219 h 1874982"/>
              <a:gd name="connsiteX6" fmla="*/ 480688 w 4655524"/>
              <a:gd name="connsiteY6" fmla="*/ 1505528 h 1874982"/>
              <a:gd name="connsiteX7" fmla="*/ 674651 w 4655524"/>
              <a:gd name="connsiteY7" fmla="*/ 1625600 h 1874982"/>
              <a:gd name="connsiteX8" fmla="*/ 979451 w 4655524"/>
              <a:gd name="connsiteY8" fmla="*/ 1717964 h 1874982"/>
              <a:gd name="connsiteX9" fmla="*/ 1385851 w 4655524"/>
              <a:gd name="connsiteY9" fmla="*/ 1745673 h 1874982"/>
              <a:gd name="connsiteX10" fmla="*/ 2392615 w 4655524"/>
              <a:gd name="connsiteY10" fmla="*/ 1810328 h 1874982"/>
              <a:gd name="connsiteX11" fmla="*/ 3547160 w 4655524"/>
              <a:gd name="connsiteY11" fmla="*/ 1856510 h 1874982"/>
              <a:gd name="connsiteX12" fmla="*/ 4655524 w 4655524"/>
              <a:gd name="connsiteY12" fmla="*/ 1874982 h 1874982"/>
              <a:gd name="connsiteX0" fmla="*/ 397 w 4655524"/>
              <a:gd name="connsiteY0" fmla="*/ 0 h 1874982"/>
              <a:gd name="connsiteX1" fmla="*/ 9633 w 4655524"/>
              <a:gd name="connsiteY1" fmla="*/ 277091 h 1874982"/>
              <a:gd name="connsiteX2" fmla="*/ 65051 w 4655524"/>
              <a:gd name="connsiteY2" fmla="*/ 674255 h 1874982"/>
              <a:gd name="connsiteX3" fmla="*/ 65051 w 4655524"/>
              <a:gd name="connsiteY3" fmla="*/ 822037 h 1874982"/>
              <a:gd name="connsiteX4" fmla="*/ 101997 w 4655524"/>
              <a:gd name="connsiteY4" fmla="*/ 1052946 h 1874982"/>
              <a:gd name="connsiteX5" fmla="*/ 175888 w 4655524"/>
              <a:gd name="connsiteY5" fmla="*/ 1228437 h 1874982"/>
              <a:gd name="connsiteX6" fmla="*/ 286724 w 4655524"/>
              <a:gd name="connsiteY6" fmla="*/ 1376219 h 1874982"/>
              <a:gd name="connsiteX7" fmla="*/ 480688 w 4655524"/>
              <a:gd name="connsiteY7" fmla="*/ 1505528 h 1874982"/>
              <a:gd name="connsiteX8" fmla="*/ 674651 w 4655524"/>
              <a:gd name="connsiteY8" fmla="*/ 1625600 h 1874982"/>
              <a:gd name="connsiteX9" fmla="*/ 979451 w 4655524"/>
              <a:gd name="connsiteY9" fmla="*/ 1717964 h 1874982"/>
              <a:gd name="connsiteX10" fmla="*/ 1385851 w 4655524"/>
              <a:gd name="connsiteY10" fmla="*/ 1745673 h 1874982"/>
              <a:gd name="connsiteX11" fmla="*/ 2392615 w 4655524"/>
              <a:gd name="connsiteY11" fmla="*/ 1810328 h 1874982"/>
              <a:gd name="connsiteX12" fmla="*/ 3547160 w 4655524"/>
              <a:gd name="connsiteY12" fmla="*/ 1856510 h 1874982"/>
              <a:gd name="connsiteX13" fmla="*/ 4655524 w 4655524"/>
              <a:gd name="connsiteY13" fmla="*/ 1874982 h 1874982"/>
              <a:gd name="connsiteX0" fmla="*/ 129 w 4655256"/>
              <a:gd name="connsiteY0" fmla="*/ 0 h 1874982"/>
              <a:gd name="connsiteX1" fmla="*/ 9365 w 4655256"/>
              <a:gd name="connsiteY1" fmla="*/ 277091 h 1874982"/>
              <a:gd name="connsiteX2" fmla="*/ 44290 w 4655256"/>
              <a:gd name="connsiteY2" fmla="*/ 532968 h 1874982"/>
              <a:gd name="connsiteX3" fmla="*/ 64783 w 4655256"/>
              <a:gd name="connsiteY3" fmla="*/ 674255 h 1874982"/>
              <a:gd name="connsiteX4" fmla="*/ 64783 w 4655256"/>
              <a:gd name="connsiteY4" fmla="*/ 822037 h 1874982"/>
              <a:gd name="connsiteX5" fmla="*/ 101729 w 4655256"/>
              <a:gd name="connsiteY5" fmla="*/ 1052946 h 1874982"/>
              <a:gd name="connsiteX6" fmla="*/ 175620 w 4655256"/>
              <a:gd name="connsiteY6" fmla="*/ 1228437 h 1874982"/>
              <a:gd name="connsiteX7" fmla="*/ 286456 w 4655256"/>
              <a:gd name="connsiteY7" fmla="*/ 1376219 h 1874982"/>
              <a:gd name="connsiteX8" fmla="*/ 480420 w 4655256"/>
              <a:gd name="connsiteY8" fmla="*/ 1505528 h 1874982"/>
              <a:gd name="connsiteX9" fmla="*/ 674383 w 4655256"/>
              <a:gd name="connsiteY9" fmla="*/ 1625600 h 1874982"/>
              <a:gd name="connsiteX10" fmla="*/ 979183 w 4655256"/>
              <a:gd name="connsiteY10" fmla="*/ 1717964 h 1874982"/>
              <a:gd name="connsiteX11" fmla="*/ 1385583 w 4655256"/>
              <a:gd name="connsiteY11" fmla="*/ 1745673 h 1874982"/>
              <a:gd name="connsiteX12" fmla="*/ 2392347 w 4655256"/>
              <a:gd name="connsiteY12" fmla="*/ 1810328 h 1874982"/>
              <a:gd name="connsiteX13" fmla="*/ 3546892 w 4655256"/>
              <a:gd name="connsiteY13" fmla="*/ 1856510 h 1874982"/>
              <a:gd name="connsiteX14" fmla="*/ 4655256 w 4655256"/>
              <a:gd name="connsiteY14" fmla="*/ 1874982 h 1874982"/>
              <a:gd name="connsiteX0" fmla="*/ 129 w 4655256"/>
              <a:gd name="connsiteY0" fmla="*/ 0 h 1874982"/>
              <a:gd name="connsiteX1" fmla="*/ 9365 w 4655256"/>
              <a:gd name="connsiteY1" fmla="*/ 277091 h 1874982"/>
              <a:gd name="connsiteX2" fmla="*/ 44290 w 4655256"/>
              <a:gd name="connsiteY2" fmla="*/ 532968 h 1874982"/>
              <a:gd name="connsiteX3" fmla="*/ 64783 w 4655256"/>
              <a:gd name="connsiteY3" fmla="*/ 674255 h 1874982"/>
              <a:gd name="connsiteX4" fmla="*/ 63340 w 4655256"/>
              <a:gd name="connsiteY4" fmla="*/ 747280 h 1874982"/>
              <a:gd name="connsiteX5" fmla="*/ 64783 w 4655256"/>
              <a:gd name="connsiteY5" fmla="*/ 822037 h 1874982"/>
              <a:gd name="connsiteX6" fmla="*/ 101729 w 4655256"/>
              <a:gd name="connsiteY6" fmla="*/ 1052946 h 1874982"/>
              <a:gd name="connsiteX7" fmla="*/ 175620 w 4655256"/>
              <a:gd name="connsiteY7" fmla="*/ 1228437 h 1874982"/>
              <a:gd name="connsiteX8" fmla="*/ 286456 w 4655256"/>
              <a:gd name="connsiteY8" fmla="*/ 1376219 h 1874982"/>
              <a:gd name="connsiteX9" fmla="*/ 480420 w 4655256"/>
              <a:gd name="connsiteY9" fmla="*/ 1505528 h 1874982"/>
              <a:gd name="connsiteX10" fmla="*/ 674383 w 4655256"/>
              <a:gd name="connsiteY10" fmla="*/ 1625600 h 1874982"/>
              <a:gd name="connsiteX11" fmla="*/ 979183 w 4655256"/>
              <a:gd name="connsiteY11" fmla="*/ 1717964 h 1874982"/>
              <a:gd name="connsiteX12" fmla="*/ 1385583 w 4655256"/>
              <a:gd name="connsiteY12" fmla="*/ 1745673 h 1874982"/>
              <a:gd name="connsiteX13" fmla="*/ 2392347 w 4655256"/>
              <a:gd name="connsiteY13" fmla="*/ 1810328 h 1874982"/>
              <a:gd name="connsiteX14" fmla="*/ 3546892 w 4655256"/>
              <a:gd name="connsiteY14" fmla="*/ 1856510 h 1874982"/>
              <a:gd name="connsiteX15" fmla="*/ 4655256 w 4655256"/>
              <a:gd name="connsiteY15" fmla="*/ 1874982 h 1874982"/>
              <a:gd name="connsiteX0" fmla="*/ 129 w 4655256"/>
              <a:gd name="connsiteY0" fmla="*/ 0 h 1874982"/>
              <a:gd name="connsiteX1" fmla="*/ 9365 w 4655256"/>
              <a:gd name="connsiteY1" fmla="*/ 277091 h 1874982"/>
              <a:gd name="connsiteX2" fmla="*/ 44290 w 4655256"/>
              <a:gd name="connsiteY2" fmla="*/ 532968 h 1874982"/>
              <a:gd name="connsiteX3" fmla="*/ 64783 w 4655256"/>
              <a:gd name="connsiteY3" fmla="*/ 674255 h 1874982"/>
              <a:gd name="connsiteX4" fmla="*/ 63340 w 4655256"/>
              <a:gd name="connsiteY4" fmla="*/ 747280 h 1874982"/>
              <a:gd name="connsiteX5" fmla="*/ 64783 w 4655256"/>
              <a:gd name="connsiteY5" fmla="*/ 822037 h 1874982"/>
              <a:gd name="connsiteX6" fmla="*/ 75246 w 4655256"/>
              <a:gd name="connsiteY6" fmla="*/ 933018 h 1874982"/>
              <a:gd name="connsiteX7" fmla="*/ 101729 w 4655256"/>
              <a:gd name="connsiteY7" fmla="*/ 1052946 h 1874982"/>
              <a:gd name="connsiteX8" fmla="*/ 175620 w 4655256"/>
              <a:gd name="connsiteY8" fmla="*/ 1228437 h 1874982"/>
              <a:gd name="connsiteX9" fmla="*/ 286456 w 4655256"/>
              <a:gd name="connsiteY9" fmla="*/ 1376219 h 1874982"/>
              <a:gd name="connsiteX10" fmla="*/ 480420 w 4655256"/>
              <a:gd name="connsiteY10" fmla="*/ 1505528 h 1874982"/>
              <a:gd name="connsiteX11" fmla="*/ 674383 w 4655256"/>
              <a:gd name="connsiteY11" fmla="*/ 1625600 h 1874982"/>
              <a:gd name="connsiteX12" fmla="*/ 979183 w 4655256"/>
              <a:gd name="connsiteY12" fmla="*/ 1717964 h 1874982"/>
              <a:gd name="connsiteX13" fmla="*/ 1385583 w 4655256"/>
              <a:gd name="connsiteY13" fmla="*/ 1745673 h 1874982"/>
              <a:gd name="connsiteX14" fmla="*/ 2392347 w 4655256"/>
              <a:gd name="connsiteY14" fmla="*/ 1810328 h 1874982"/>
              <a:gd name="connsiteX15" fmla="*/ 3546892 w 4655256"/>
              <a:gd name="connsiteY15" fmla="*/ 1856510 h 1874982"/>
              <a:gd name="connsiteX16" fmla="*/ 4655256 w 4655256"/>
              <a:gd name="connsiteY16" fmla="*/ 1874982 h 1874982"/>
              <a:gd name="connsiteX0" fmla="*/ 129 w 4655256"/>
              <a:gd name="connsiteY0" fmla="*/ 0 h 1874982"/>
              <a:gd name="connsiteX1" fmla="*/ 9365 w 4655256"/>
              <a:gd name="connsiteY1" fmla="*/ 277091 h 1874982"/>
              <a:gd name="connsiteX2" fmla="*/ 44290 w 4655256"/>
              <a:gd name="connsiteY2" fmla="*/ 532968 h 1874982"/>
              <a:gd name="connsiteX3" fmla="*/ 64783 w 4655256"/>
              <a:gd name="connsiteY3" fmla="*/ 674255 h 1874982"/>
              <a:gd name="connsiteX4" fmla="*/ 63340 w 4655256"/>
              <a:gd name="connsiteY4" fmla="*/ 747280 h 1874982"/>
              <a:gd name="connsiteX5" fmla="*/ 64783 w 4655256"/>
              <a:gd name="connsiteY5" fmla="*/ 822037 h 1874982"/>
              <a:gd name="connsiteX6" fmla="*/ 75246 w 4655256"/>
              <a:gd name="connsiteY6" fmla="*/ 933018 h 1874982"/>
              <a:gd name="connsiteX7" fmla="*/ 101729 w 4655256"/>
              <a:gd name="connsiteY7" fmla="*/ 1052946 h 1874982"/>
              <a:gd name="connsiteX8" fmla="*/ 101440 w 4655256"/>
              <a:gd name="connsiteY8" fmla="*/ 1056843 h 1874982"/>
              <a:gd name="connsiteX9" fmla="*/ 175620 w 4655256"/>
              <a:gd name="connsiteY9" fmla="*/ 1228437 h 1874982"/>
              <a:gd name="connsiteX10" fmla="*/ 286456 w 4655256"/>
              <a:gd name="connsiteY10" fmla="*/ 1376219 h 1874982"/>
              <a:gd name="connsiteX11" fmla="*/ 480420 w 4655256"/>
              <a:gd name="connsiteY11" fmla="*/ 1505528 h 1874982"/>
              <a:gd name="connsiteX12" fmla="*/ 674383 w 4655256"/>
              <a:gd name="connsiteY12" fmla="*/ 1625600 h 1874982"/>
              <a:gd name="connsiteX13" fmla="*/ 979183 w 4655256"/>
              <a:gd name="connsiteY13" fmla="*/ 1717964 h 1874982"/>
              <a:gd name="connsiteX14" fmla="*/ 1385583 w 4655256"/>
              <a:gd name="connsiteY14" fmla="*/ 1745673 h 1874982"/>
              <a:gd name="connsiteX15" fmla="*/ 2392347 w 4655256"/>
              <a:gd name="connsiteY15" fmla="*/ 1810328 h 1874982"/>
              <a:gd name="connsiteX16" fmla="*/ 3546892 w 4655256"/>
              <a:gd name="connsiteY16" fmla="*/ 1856510 h 1874982"/>
              <a:gd name="connsiteX17" fmla="*/ 4655256 w 4655256"/>
              <a:gd name="connsiteY17" fmla="*/ 1874982 h 1874982"/>
              <a:gd name="connsiteX0" fmla="*/ 129 w 4655256"/>
              <a:gd name="connsiteY0" fmla="*/ 0 h 1874982"/>
              <a:gd name="connsiteX1" fmla="*/ 9365 w 4655256"/>
              <a:gd name="connsiteY1" fmla="*/ 277091 h 1874982"/>
              <a:gd name="connsiteX2" fmla="*/ 44290 w 4655256"/>
              <a:gd name="connsiteY2" fmla="*/ 532968 h 1874982"/>
              <a:gd name="connsiteX3" fmla="*/ 64783 w 4655256"/>
              <a:gd name="connsiteY3" fmla="*/ 674255 h 1874982"/>
              <a:gd name="connsiteX4" fmla="*/ 60959 w 4655256"/>
              <a:gd name="connsiteY4" fmla="*/ 742518 h 1874982"/>
              <a:gd name="connsiteX5" fmla="*/ 64783 w 4655256"/>
              <a:gd name="connsiteY5" fmla="*/ 822037 h 1874982"/>
              <a:gd name="connsiteX6" fmla="*/ 75246 w 4655256"/>
              <a:gd name="connsiteY6" fmla="*/ 933018 h 1874982"/>
              <a:gd name="connsiteX7" fmla="*/ 101729 w 4655256"/>
              <a:gd name="connsiteY7" fmla="*/ 1052946 h 1874982"/>
              <a:gd name="connsiteX8" fmla="*/ 101440 w 4655256"/>
              <a:gd name="connsiteY8" fmla="*/ 1056843 h 1874982"/>
              <a:gd name="connsiteX9" fmla="*/ 175620 w 4655256"/>
              <a:gd name="connsiteY9" fmla="*/ 1228437 h 1874982"/>
              <a:gd name="connsiteX10" fmla="*/ 286456 w 4655256"/>
              <a:gd name="connsiteY10" fmla="*/ 1376219 h 1874982"/>
              <a:gd name="connsiteX11" fmla="*/ 480420 w 4655256"/>
              <a:gd name="connsiteY11" fmla="*/ 1505528 h 1874982"/>
              <a:gd name="connsiteX12" fmla="*/ 674383 w 4655256"/>
              <a:gd name="connsiteY12" fmla="*/ 1625600 h 1874982"/>
              <a:gd name="connsiteX13" fmla="*/ 979183 w 4655256"/>
              <a:gd name="connsiteY13" fmla="*/ 1717964 h 1874982"/>
              <a:gd name="connsiteX14" fmla="*/ 1385583 w 4655256"/>
              <a:gd name="connsiteY14" fmla="*/ 1745673 h 1874982"/>
              <a:gd name="connsiteX15" fmla="*/ 2392347 w 4655256"/>
              <a:gd name="connsiteY15" fmla="*/ 1810328 h 1874982"/>
              <a:gd name="connsiteX16" fmla="*/ 3546892 w 4655256"/>
              <a:gd name="connsiteY16" fmla="*/ 1856510 h 1874982"/>
              <a:gd name="connsiteX17" fmla="*/ 4655256 w 4655256"/>
              <a:gd name="connsiteY17" fmla="*/ 1874982 h 1874982"/>
              <a:gd name="connsiteX0" fmla="*/ 129 w 4655256"/>
              <a:gd name="connsiteY0" fmla="*/ 0 h 1874982"/>
              <a:gd name="connsiteX1" fmla="*/ 9365 w 4655256"/>
              <a:gd name="connsiteY1" fmla="*/ 277091 h 1874982"/>
              <a:gd name="connsiteX2" fmla="*/ 44290 w 4655256"/>
              <a:gd name="connsiteY2" fmla="*/ 532968 h 1874982"/>
              <a:gd name="connsiteX3" fmla="*/ 52876 w 4655256"/>
              <a:gd name="connsiteY3" fmla="*/ 640917 h 1874982"/>
              <a:gd name="connsiteX4" fmla="*/ 60959 w 4655256"/>
              <a:gd name="connsiteY4" fmla="*/ 742518 h 1874982"/>
              <a:gd name="connsiteX5" fmla="*/ 64783 w 4655256"/>
              <a:gd name="connsiteY5" fmla="*/ 822037 h 1874982"/>
              <a:gd name="connsiteX6" fmla="*/ 75246 w 4655256"/>
              <a:gd name="connsiteY6" fmla="*/ 933018 h 1874982"/>
              <a:gd name="connsiteX7" fmla="*/ 101729 w 4655256"/>
              <a:gd name="connsiteY7" fmla="*/ 1052946 h 1874982"/>
              <a:gd name="connsiteX8" fmla="*/ 101440 w 4655256"/>
              <a:gd name="connsiteY8" fmla="*/ 1056843 h 1874982"/>
              <a:gd name="connsiteX9" fmla="*/ 175620 w 4655256"/>
              <a:gd name="connsiteY9" fmla="*/ 1228437 h 1874982"/>
              <a:gd name="connsiteX10" fmla="*/ 286456 w 4655256"/>
              <a:gd name="connsiteY10" fmla="*/ 1376219 h 1874982"/>
              <a:gd name="connsiteX11" fmla="*/ 480420 w 4655256"/>
              <a:gd name="connsiteY11" fmla="*/ 1505528 h 1874982"/>
              <a:gd name="connsiteX12" fmla="*/ 674383 w 4655256"/>
              <a:gd name="connsiteY12" fmla="*/ 1625600 h 1874982"/>
              <a:gd name="connsiteX13" fmla="*/ 979183 w 4655256"/>
              <a:gd name="connsiteY13" fmla="*/ 1717964 h 1874982"/>
              <a:gd name="connsiteX14" fmla="*/ 1385583 w 4655256"/>
              <a:gd name="connsiteY14" fmla="*/ 1745673 h 1874982"/>
              <a:gd name="connsiteX15" fmla="*/ 2392347 w 4655256"/>
              <a:gd name="connsiteY15" fmla="*/ 1810328 h 1874982"/>
              <a:gd name="connsiteX16" fmla="*/ 3546892 w 4655256"/>
              <a:gd name="connsiteY16" fmla="*/ 1856510 h 1874982"/>
              <a:gd name="connsiteX17" fmla="*/ 4655256 w 4655256"/>
              <a:gd name="connsiteY17" fmla="*/ 1874982 h 1874982"/>
              <a:gd name="connsiteX0" fmla="*/ 91 w 4655218"/>
              <a:gd name="connsiteY0" fmla="*/ 0 h 1874982"/>
              <a:gd name="connsiteX1" fmla="*/ 9327 w 4655218"/>
              <a:gd name="connsiteY1" fmla="*/ 277091 h 1874982"/>
              <a:gd name="connsiteX2" fmla="*/ 34727 w 4655218"/>
              <a:gd name="connsiteY2" fmla="*/ 494868 h 1874982"/>
              <a:gd name="connsiteX3" fmla="*/ 52838 w 4655218"/>
              <a:gd name="connsiteY3" fmla="*/ 640917 h 1874982"/>
              <a:gd name="connsiteX4" fmla="*/ 60921 w 4655218"/>
              <a:gd name="connsiteY4" fmla="*/ 742518 h 1874982"/>
              <a:gd name="connsiteX5" fmla="*/ 64745 w 4655218"/>
              <a:gd name="connsiteY5" fmla="*/ 822037 h 1874982"/>
              <a:gd name="connsiteX6" fmla="*/ 75208 w 4655218"/>
              <a:gd name="connsiteY6" fmla="*/ 933018 h 1874982"/>
              <a:gd name="connsiteX7" fmla="*/ 101691 w 4655218"/>
              <a:gd name="connsiteY7" fmla="*/ 1052946 h 1874982"/>
              <a:gd name="connsiteX8" fmla="*/ 101402 w 4655218"/>
              <a:gd name="connsiteY8" fmla="*/ 1056843 h 1874982"/>
              <a:gd name="connsiteX9" fmla="*/ 175582 w 4655218"/>
              <a:gd name="connsiteY9" fmla="*/ 1228437 h 1874982"/>
              <a:gd name="connsiteX10" fmla="*/ 286418 w 4655218"/>
              <a:gd name="connsiteY10" fmla="*/ 1376219 h 1874982"/>
              <a:gd name="connsiteX11" fmla="*/ 480382 w 4655218"/>
              <a:gd name="connsiteY11" fmla="*/ 1505528 h 1874982"/>
              <a:gd name="connsiteX12" fmla="*/ 674345 w 4655218"/>
              <a:gd name="connsiteY12" fmla="*/ 1625600 h 1874982"/>
              <a:gd name="connsiteX13" fmla="*/ 979145 w 4655218"/>
              <a:gd name="connsiteY13" fmla="*/ 1717964 h 1874982"/>
              <a:gd name="connsiteX14" fmla="*/ 1385545 w 4655218"/>
              <a:gd name="connsiteY14" fmla="*/ 1745673 h 1874982"/>
              <a:gd name="connsiteX15" fmla="*/ 2392309 w 4655218"/>
              <a:gd name="connsiteY15" fmla="*/ 1810328 h 1874982"/>
              <a:gd name="connsiteX16" fmla="*/ 3546854 w 4655218"/>
              <a:gd name="connsiteY16" fmla="*/ 1856510 h 1874982"/>
              <a:gd name="connsiteX17" fmla="*/ 4655218 w 4655218"/>
              <a:gd name="connsiteY17" fmla="*/ 1874982 h 1874982"/>
              <a:gd name="connsiteX0" fmla="*/ 91 w 4655218"/>
              <a:gd name="connsiteY0" fmla="*/ 0 h 1874982"/>
              <a:gd name="connsiteX1" fmla="*/ 9327 w 4655218"/>
              <a:gd name="connsiteY1" fmla="*/ 277091 h 1874982"/>
              <a:gd name="connsiteX2" fmla="*/ 34727 w 4655218"/>
              <a:gd name="connsiteY2" fmla="*/ 494868 h 1874982"/>
              <a:gd name="connsiteX3" fmla="*/ 52838 w 4655218"/>
              <a:gd name="connsiteY3" fmla="*/ 640917 h 1874982"/>
              <a:gd name="connsiteX4" fmla="*/ 60921 w 4655218"/>
              <a:gd name="connsiteY4" fmla="*/ 742518 h 1874982"/>
              <a:gd name="connsiteX5" fmla="*/ 64745 w 4655218"/>
              <a:gd name="connsiteY5" fmla="*/ 822037 h 1874982"/>
              <a:gd name="connsiteX6" fmla="*/ 75208 w 4655218"/>
              <a:gd name="connsiteY6" fmla="*/ 933018 h 1874982"/>
              <a:gd name="connsiteX7" fmla="*/ 101691 w 4655218"/>
              <a:gd name="connsiteY7" fmla="*/ 1052946 h 1874982"/>
              <a:gd name="connsiteX8" fmla="*/ 101402 w 4655218"/>
              <a:gd name="connsiteY8" fmla="*/ 1056843 h 1874982"/>
              <a:gd name="connsiteX9" fmla="*/ 175582 w 4655218"/>
              <a:gd name="connsiteY9" fmla="*/ 1228437 h 1874982"/>
              <a:gd name="connsiteX10" fmla="*/ 253802 w 4655218"/>
              <a:gd name="connsiteY10" fmla="*/ 1311636 h 1874982"/>
              <a:gd name="connsiteX11" fmla="*/ 286418 w 4655218"/>
              <a:gd name="connsiteY11" fmla="*/ 1376219 h 1874982"/>
              <a:gd name="connsiteX12" fmla="*/ 480382 w 4655218"/>
              <a:gd name="connsiteY12" fmla="*/ 1505528 h 1874982"/>
              <a:gd name="connsiteX13" fmla="*/ 674345 w 4655218"/>
              <a:gd name="connsiteY13" fmla="*/ 1625600 h 1874982"/>
              <a:gd name="connsiteX14" fmla="*/ 979145 w 4655218"/>
              <a:gd name="connsiteY14" fmla="*/ 1717964 h 1874982"/>
              <a:gd name="connsiteX15" fmla="*/ 1385545 w 4655218"/>
              <a:gd name="connsiteY15" fmla="*/ 1745673 h 1874982"/>
              <a:gd name="connsiteX16" fmla="*/ 2392309 w 4655218"/>
              <a:gd name="connsiteY16" fmla="*/ 1810328 h 1874982"/>
              <a:gd name="connsiteX17" fmla="*/ 3546854 w 4655218"/>
              <a:gd name="connsiteY17" fmla="*/ 1856510 h 1874982"/>
              <a:gd name="connsiteX18" fmla="*/ 4655218 w 4655218"/>
              <a:gd name="connsiteY18" fmla="*/ 1874982 h 1874982"/>
              <a:gd name="connsiteX0" fmla="*/ 91 w 4655218"/>
              <a:gd name="connsiteY0" fmla="*/ 0 h 1874982"/>
              <a:gd name="connsiteX1" fmla="*/ 9327 w 4655218"/>
              <a:gd name="connsiteY1" fmla="*/ 277091 h 1874982"/>
              <a:gd name="connsiteX2" fmla="*/ 34727 w 4655218"/>
              <a:gd name="connsiteY2" fmla="*/ 494868 h 1874982"/>
              <a:gd name="connsiteX3" fmla="*/ 52838 w 4655218"/>
              <a:gd name="connsiteY3" fmla="*/ 640917 h 1874982"/>
              <a:gd name="connsiteX4" fmla="*/ 60921 w 4655218"/>
              <a:gd name="connsiteY4" fmla="*/ 742518 h 1874982"/>
              <a:gd name="connsiteX5" fmla="*/ 64745 w 4655218"/>
              <a:gd name="connsiteY5" fmla="*/ 822037 h 1874982"/>
              <a:gd name="connsiteX6" fmla="*/ 75208 w 4655218"/>
              <a:gd name="connsiteY6" fmla="*/ 933018 h 1874982"/>
              <a:gd name="connsiteX7" fmla="*/ 101691 w 4655218"/>
              <a:gd name="connsiteY7" fmla="*/ 1052946 h 1874982"/>
              <a:gd name="connsiteX8" fmla="*/ 101402 w 4655218"/>
              <a:gd name="connsiteY8" fmla="*/ 1056843 h 1874982"/>
              <a:gd name="connsiteX9" fmla="*/ 175582 w 4655218"/>
              <a:gd name="connsiteY9" fmla="*/ 1228437 h 1874982"/>
              <a:gd name="connsiteX10" fmla="*/ 253802 w 4655218"/>
              <a:gd name="connsiteY10" fmla="*/ 1311636 h 1874982"/>
              <a:gd name="connsiteX11" fmla="*/ 324518 w 4655218"/>
              <a:gd name="connsiteY11" fmla="*/ 1385744 h 1874982"/>
              <a:gd name="connsiteX12" fmla="*/ 480382 w 4655218"/>
              <a:gd name="connsiteY12" fmla="*/ 1505528 h 1874982"/>
              <a:gd name="connsiteX13" fmla="*/ 674345 w 4655218"/>
              <a:gd name="connsiteY13" fmla="*/ 1625600 h 1874982"/>
              <a:gd name="connsiteX14" fmla="*/ 979145 w 4655218"/>
              <a:gd name="connsiteY14" fmla="*/ 1717964 h 1874982"/>
              <a:gd name="connsiteX15" fmla="*/ 1385545 w 4655218"/>
              <a:gd name="connsiteY15" fmla="*/ 1745673 h 1874982"/>
              <a:gd name="connsiteX16" fmla="*/ 2392309 w 4655218"/>
              <a:gd name="connsiteY16" fmla="*/ 1810328 h 1874982"/>
              <a:gd name="connsiteX17" fmla="*/ 3546854 w 4655218"/>
              <a:gd name="connsiteY17" fmla="*/ 1856510 h 1874982"/>
              <a:gd name="connsiteX18" fmla="*/ 4655218 w 4655218"/>
              <a:gd name="connsiteY18" fmla="*/ 1874982 h 1874982"/>
              <a:gd name="connsiteX0" fmla="*/ 91 w 4655218"/>
              <a:gd name="connsiteY0" fmla="*/ 0 h 1874982"/>
              <a:gd name="connsiteX1" fmla="*/ 9327 w 4655218"/>
              <a:gd name="connsiteY1" fmla="*/ 277091 h 1874982"/>
              <a:gd name="connsiteX2" fmla="*/ 34727 w 4655218"/>
              <a:gd name="connsiteY2" fmla="*/ 494868 h 1874982"/>
              <a:gd name="connsiteX3" fmla="*/ 52838 w 4655218"/>
              <a:gd name="connsiteY3" fmla="*/ 640917 h 1874982"/>
              <a:gd name="connsiteX4" fmla="*/ 60921 w 4655218"/>
              <a:gd name="connsiteY4" fmla="*/ 742518 h 1874982"/>
              <a:gd name="connsiteX5" fmla="*/ 64745 w 4655218"/>
              <a:gd name="connsiteY5" fmla="*/ 822037 h 1874982"/>
              <a:gd name="connsiteX6" fmla="*/ 75208 w 4655218"/>
              <a:gd name="connsiteY6" fmla="*/ 933018 h 1874982"/>
              <a:gd name="connsiteX7" fmla="*/ 101691 w 4655218"/>
              <a:gd name="connsiteY7" fmla="*/ 1052946 h 1874982"/>
              <a:gd name="connsiteX8" fmla="*/ 101402 w 4655218"/>
              <a:gd name="connsiteY8" fmla="*/ 1056843 h 1874982"/>
              <a:gd name="connsiteX9" fmla="*/ 175582 w 4655218"/>
              <a:gd name="connsiteY9" fmla="*/ 1228437 h 1874982"/>
              <a:gd name="connsiteX10" fmla="*/ 253802 w 4655218"/>
              <a:gd name="connsiteY10" fmla="*/ 1311636 h 1874982"/>
              <a:gd name="connsiteX11" fmla="*/ 324518 w 4655218"/>
              <a:gd name="connsiteY11" fmla="*/ 1385744 h 1874982"/>
              <a:gd name="connsiteX12" fmla="*/ 480382 w 4655218"/>
              <a:gd name="connsiteY12" fmla="*/ 1505528 h 1874982"/>
              <a:gd name="connsiteX13" fmla="*/ 674345 w 4655218"/>
              <a:gd name="connsiteY13" fmla="*/ 1625600 h 1874982"/>
              <a:gd name="connsiteX14" fmla="*/ 979145 w 4655218"/>
              <a:gd name="connsiteY14" fmla="*/ 1717964 h 1874982"/>
              <a:gd name="connsiteX15" fmla="*/ 1385545 w 4655218"/>
              <a:gd name="connsiteY15" fmla="*/ 1745673 h 1874982"/>
              <a:gd name="connsiteX16" fmla="*/ 1930202 w 4655218"/>
              <a:gd name="connsiteY16" fmla="*/ 1780743 h 1874982"/>
              <a:gd name="connsiteX17" fmla="*/ 2392309 w 4655218"/>
              <a:gd name="connsiteY17" fmla="*/ 1810328 h 1874982"/>
              <a:gd name="connsiteX18" fmla="*/ 3546854 w 4655218"/>
              <a:gd name="connsiteY18" fmla="*/ 1856510 h 1874982"/>
              <a:gd name="connsiteX19" fmla="*/ 4655218 w 4655218"/>
              <a:gd name="connsiteY19" fmla="*/ 1874982 h 1874982"/>
              <a:gd name="connsiteX0" fmla="*/ 91 w 4655218"/>
              <a:gd name="connsiteY0" fmla="*/ 0 h 1874982"/>
              <a:gd name="connsiteX1" fmla="*/ 9327 w 4655218"/>
              <a:gd name="connsiteY1" fmla="*/ 277091 h 1874982"/>
              <a:gd name="connsiteX2" fmla="*/ 34727 w 4655218"/>
              <a:gd name="connsiteY2" fmla="*/ 494868 h 1874982"/>
              <a:gd name="connsiteX3" fmla="*/ 52838 w 4655218"/>
              <a:gd name="connsiteY3" fmla="*/ 640917 h 1874982"/>
              <a:gd name="connsiteX4" fmla="*/ 60921 w 4655218"/>
              <a:gd name="connsiteY4" fmla="*/ 742518 h 1874982"/>
              <a:gd name="connsiteX5" fmla="*/ 64745 w 4655218"/>
              <a:gd name="connsiteY5" fmla="*/ 822037 h 1874982"/>
              <a:gd name="connsiteX6" fmla="*/ 75208 w 4655218"/>
              <a:gd name="connsiteY6" fmla="*/ 933018 h 1874982"/>
              <a:gd name="connsiteX7" fmla="*/ 101691 w 4655218"/>
              <a:gd name="connsiteY7" fmla="*/ 1052946 h 1874982"/>
              <a:gd name="connsiteX8" fmla="*/ 101402 w 4655218"/>
              <a:gd name="connsiteY8" fmla="*/ 1056843 h 1874982"/>
              <a:gd name="connsiteX9" fmla="*/ 175582 w 4655218"/>
              <a:gd name="connsiteY9" fmla="*/ 1228437 h 1874982"/>
              <a:gd name="connsiteX10" fmla="*/ 253802 w 4655218"/>
              <a:gd name="connsiteY10" fmla="*/ 1311636 h 1874982"/>
              <a:gd name="connsiteX11" fmla="*/ 324518 w 4655218"/>
              <a:gd name="connsiteY11" fmla="*/ 1385744 h 1874982"/>
              <a:gd name="connsiteX12" fmla="*/ 480382 w 4655218"/>
              <a:gd name="connsiteY12" fmla="*/ 1505528 h 1874982"/>
              <a:gd name="connsiteX13" fmla="*/ 674345 w 4655218"/>
              <a:gd name="connsiteY13" fmla="*/ 1625600 h 1874982"/>
              <a:gd name="connsiteX14" fmla="*/ 979145 w 4655218"/>
              <a:gd name="connsiteY14" fmla="*/ 1717964 h 1874982"/>
              <a:gd name="connsiteX15" fmla="*/ 1385545 w 4655218"/>
              <a:gd name="connsiteY15" fmla="*/ 1745673 h 1874982"/>
              <a:gd name="connsiteX16" fmla="*/ 1930202 w 4655218"/>
              <a:gd name="connsiteY16" fmla="*/ 1780743 h 1874982"/>
              <a:gd name="connsiteX17" fmla="*/ 2392309 w 4655218"/>
              <a:gd name="connsiteY17" fmla="*/ 1810328 h 1874982"/>
              <a:gd name="connsiteX18" fmla="*/ 2885083 w 4655218"/>
              <a:gd name="connsiteY18" fmla="*/ 1830749 h 1874982"/>
              <a:gd name="connsiteX19" fmla="*/ 3546854 w 4655218"/>
              <a:gd name="connsiteY19" fmla="*/ 1856510 h 1874982"/>
              <a:gd name="connsiteX20" fmla="*/ 4655218 w 4655218"/>
              <a:gd name="connsiteY20" fmla="*/ 1874982 h 1874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55218" h="1874982">
                <a:moveTo>
                  <a:pt x="91" y="0"/>
                </a:moveTo>
                <a:cubicBezTo>
                  <a:pt x="-679" y="82357"/>
                  <a:pt x="3554" y="194613"/>
                  <a:pt x="9327" y="277091"/>
                </a:cubicBezTo>
                <a:cubicBezTo>
                  <a:pt x="15100" y="359569"/>
                  <a:pt x="25491" y="428674"/>
                  <a:pt x="34727" y="494868"/>
                </a:cubicBezTo>
                <a:cubicBezTo>
                  <a:pt x="43963" y="561062"/>
                  <a:pt x="48472" y="599642"/>
                  <a:pt x="52838" y="640917"/>
                </a:cubicBezTo>
                <a:cubicBezTo>
                  <a:pt x="57204" y="682192"/>
                  <a:pt x="60921" y="717888"/>
                  <a:pt x="60921" y="742518"/>
                </a:cubicBezTo>
                <a:cubicBezTo>
                  <a:pt x="60921" y="767148"/>
                  <a:pt x="64348" y="806956"/>
                  <a:pt x="64745" y="822037"/>
                </a:cubicBezTo>
                <a:cubicBezTo>
                  <a:pt x="65142" y="837118"/>
                  <a:pt x="69050" y="894533"/>
                  <a:pt x="75208" y="933018"/>
                </a:cubicBezTo>
                <a:cubicBezTo>
                  <a:pt x="81366" y="971503"/>
                  <a:pt x="97325" y="1032309"/>
                  <a:pt x="101691" y="1052946"/>
                </a:cubicBezTo>
                <a:cubicBezTo>
                  <a:pt x="106057" y="1073584"/>
                  <a:pt x="89087" y="1027595"/>
                  <a:pt x="101402" y="1056843"/>
                </a:cubicBezTo>
                <a:cubicBezTo>
                  <a:pt x="113717" y="1086092"/>
                  <a:pt x="150182" y="1185972"/>
                  <a:pt x="175582" y="1228437"/>
                </a:cubicBezTo>
                <a:cubicBezTo>
                  <a:pt x="200982" y="1270903"/>
                  <a:pt x="235329" y="1287006"/>
                  <a:pt x="253802" y="1311636"/>
                </a:cubicBezTo>
                <a:cubicBezTo>
                  <a:pt x="272275" y="1336266"/>
                  <a:pt x="286755" y="1353429"/>
                  <a:pt x="324518" y="1385744"/>
                </a:cubicBezTo>
                <a:cubicBezTo>
                  <a:pt x="362281" y="1418059"/>
                  <a:pt x="422078" y="1465552"/>
                  <a:pt x="480382" y="1505528"/>
                </a:cubicBezTo>
                <a:cubicBezTo>
                  <a:pt x="538686" y="1545504"/>
                  <a:pt x="591218" y="1590194"/>
                  <a:pt x="674345" y="1625600"/>
                </a:cubicBezTo>
                <a:cubicBezTo>
                  <a:pt x="757472" y="1661006"/>
                  <a:pt x="860612" y="1697952"/>
                  <a:pt x="979145" y="1717964"/>
                </a:cubicBezTo>
                <a:cubicBezTo>
                  <a:pt x="1097678" y="1737976"/>
                  <a:pt x="1227036" y="1735210"/>
                  <a:pt x="1385545" y="1745673"/>
                </a:cubicBezTo>
                <a:lnTo>
                  <a:pt x="1930202" y="1780743"/>
                </a:lnTo>
                <a:lnTo>
                  <a:pt x="2392309" y="1810328"/>
                </a:lnTo>
                <a:cubicBezTo>
                  <a:pt x="2551456" y="1818662"/>
                  <a:pt x="2743844" y="1827117"/>
                  <a:pt x="2885083" y="1830749"/>
                </a:cubicBezTo>
                <a:cubicBezTo>
                  <a:pt x="3105673" y="1839336"/>
                  <a:pt x="3251832" y="1849138"/>
                  <a:pt x="3546854" y="1856510"/>
                </a:cubicBezTo>
                <a:lnTo>
                  <a:pt x="4655218" y="1874982"/>
                </a:lnTo>
              </a:path>
            </a:pathLst>
          </a:cu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07041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Glycolysis</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758156"/>
            <a:ext cx="4792579" cy="4734719"/>
          </a:xfrm>
        </p:spPr>
        <p:txBody>
          <a:bodyPr>
            <a:normAutofit/>
          </a:bodyPr>
          <a:lstStyle/>
          <a:p>
            <a:pPr eaLnBrk="1" hangingPunct="1">
              <a:buFont typeface="Arial" pitchFamily="34" charset="0"/>
              <a:buChar char="•"/>
              <a:defRPr/>
            </a:pPr>
            <a:r>
              <a:rPr lang="en-GB" sz="2400" dirty="0">
                <a:latin typeface="Calibri" panose="020F0502020204030204" pitchFamily="34" charset="0"/>
                <a:cs typeface="Calibri" panose="020F0502020204030204" pitchFamily="34" charset="0"/>
              </a:rPr>
              <a:t> 10 enzyme-controlled reactions</a:t>
            </a:r>
          </a:p>
          <a:p>
            <a:pPr>
              <a:buFont typeface="Arial" pitchFamily="34" charset="0"/>
              <a:buChar char="•"/>
              <a:defRPr/>
            </a:pPr>
            <a:r>
              <a:rPr lang="en-GB" sz="2400" dirty="0">
                <a:latin typeface="Calibri" panose="020F0502020204030204" pitchFamily="34" charset="0"/>
                <a:cs typeface="Calibri" panose="020F0502020204030204" pitchFamily="34" charset="0"/>
              </a:rPr>
              <a:t>Glycolysis </a:t>
            </a:r>
            <a:r>
              <a:rPr lang="en-GB" sz="2400" dirty="0">
                <a:latin typeface="Calibri" panose="020F0502020204030204" pitchFamily="34" charset="0"/>
                <a:cs typeface="Calibri" panose="020F0502020204030204" pitchFamily="34" charset="0"/>
                <a:sym typeface="Wingdings" pitchFamily="2" charset="2"/>
              </a:rPr>
              <a:t></a:t>
            </a:r>
            <a:r>
              <a:rPr lang="en-GB" sz="2400" dirty="0">
                <a:latin typeface="Calibri" panose="020F0502020204030204" pitchFamily="34" charset="0"/>
                <a:cs typeface="Calibri" panose="020F0502020204030204" pitchFamily="34" charset="0"/>
              </a:rPr>
              <a:t> </a:t>
            </a:r>
          </a:p>
          <a:p>
            <a:pPr>
              <a:buFont typeface="Arial" pitchFamily="34" charset="0"/>
              <a:buChar char="•"/>
              <a:defRPr/>
            </a:pPr>
            <a:r>
              <a:rPr lang="en-GB" sz="2400" dirty="0">
                <a:latin typeface="Calibri" panose="020F0502020204030204" pitchFamily="34" charset="0"/>
                <a:cs typeface="Calibri" panose="020F0502020204030204" pitchFamily="34" charset="0"/>
              </a:rPr>
              <a:t>breakdown of 6-carbon molecule  - Glucose (</a:t>
            </a:r>
            <a:r>
              <a:rPr lang="en-GB" sz="2400" b="1" dirty="0">
                <a:latin typeface="Calibri" panose="020F0502020204030204" pitchFamily="34" charset="0"/>
                <a:cs typeface="Calibri" panose="020F0502020204030204" pitchFamily="34" charset="0"/>
              </a:rPr>
              <a:t>C</a:t>
            </a:r>
            <a:r>
              <a:rPr lang="en-GB" sz="2400" baseline="-25000" dirty="0">
                <a:latin typeface="Calibri" panose="020F0502020204030204" pitchFamily="34" charset="0"/>
                <a:cs typeface="Calibri" panose="020F0502020204030204" pitchFamily="34" charset="0"/>
              </a:rPr>
              <a:t>6</a:t>
            </a:r>
            <a:r>
              <a:rPr lang="en-GB" sz="2400" b="1" dirty="0">
                <a:latin typeface="Calibri" panose="020F0502020204030204" pitchFamily="34" charset="0"/>
                <a:cs typeface="Calibri" panose="020F0502020204030204" pitchFamily="34" charset="0"/>
              </a:rPr>
              <a:t>H</a:t>
            </a:r>
            <a:r>
              <a:rPr lang="en-GB" sz="2400" baseline="-25000" dirty="0">
                <a:latin typeface="Calibri" panose="020F0502020204030204" pitchFamily="34" charset="0"/>
                <a:cs typeface="Calibri" panose="020F0502020204030204" pitchFamily="34" charset="0"/>
              </a:rPr>
              <a:t>12</a:t>
            </a:r>
            <a:r>
              <a:rPr lang="en-GB" sz="2400" b="1" dirty="0">
                <a:latin typeface="Calibri" panose="020F0502020204030204" pitchFamily="34" charset="0"/>
                <a:cs typeface="Calibri" panose="020F0502020204030204" pitchFamily="34" charset="0"/>
              </a:rPr>
              <a:t>O</a:t>
            </a:r>
            <a:r>
              <a:rPr lang="en-GB" sz="2400" baseline="-25000" dirty="0">
                <a:latin typeface="Calibri" panose="020F0502020204030204" pitchFamily="34" charset="0"/>
                <a:cs typeface="Calibri" panose="020F0502020204030204" pitchFamily="34" charset="0"/>
              </a:rPr>
              <a:t>6</a:t>
            </a:r>
            <a:r>
              <a:rPr lang="en-GB" sz="2400" dirty="0">
                <a:latin typeface="Calibri" panose="020F0502020204030204" pitchFamily="34" charset="0"/>
                <a:cs typeface="Calibri" panose="020F0502020204030204" pitchFamily="34" charset="0"/>
              </a:rPr>
              <a:t>)  </a:t>
            </a:r>
            <a:r>
              <a:rPr lang="en-GB" sz="2400" dirty="0">
                <a:latin typeface="Calibri" panose="020F0502020204030204" pitchFamily="34" charset="0"/>
                <a:cs typeface="Calibri" panose="020F0502020204030204" pitchFamily="34" charset="0"/>
                <a:sym typeface="Wingdings" pitchFamily="2" charset="2"/>
              </a:rPr>
              <a:t></a:t>
            </a:r>
            <a:r>
              <a:rPr lang="en-GB" sz="2400" dirty="0">
                <a:latin typeface="Calibri" panose="020F0502020204030204" pitchFamily="34" charset="0"/>
                <a:cs typeface="Calibri" panose="020F0502020204030204" pitchFamily="34" charset="0"/>
              </a:rPr>
              <a:t> two 3-carbon molecule of pyruvic acid (</a:t>
            </a:r>
            <a:r>
              <a:rPr lang="en-GB" sz="2400" b="1" dirty="0">
                <a:latin typeface="Calibri" panose="020F0502020204030204" pitchFamily="34" charset="0"/>
                <a:cs typeface="Calibri" panose="020F0502020204030204" pitchFamily="34" charset="0"/>
              </a:rPr>
              <a:t>C</a:t>
            </a:r>
            <a:r>
              <a:rPr lang="en-GB" sz="2400" baseline="-25000" dirty="0">
                <a:latin typeface="Calibri" panose="020F0502020204030204" pitchFamily="34" charset="0"/>
                <a:cs typeface="Calibri" panose="020F0502020204030204" pitchFamily="34" charset="0"/>
              </a:rPr>
              <a:t>3</a:t>
            </a:r>
            <a:r>
              <a:rPr lang="en-GB" sz="2400" b="1" dirty="0">
                <a:latin typeface="Calibri" panose="020F0502020204030204" pitchFamily="34" charset="0"/>
                <a:cs typeface="Calibri" panose="020F0502020204030204" pitchFamily="34" charset="0"/>
              </a:rPr>
              <a:t>H</a:t>
            </a:r>
            <a:r>
              <a:rPr lang="en-GB" sz="2400" baseline="-25000" dirty="0">
                <a:latin typeface="Calibri" panose="020F0502020204030204" pitchFamily="34" charset="0"/>
                <a:cs typeface="Calibri" panose="020F0502020204030204" pitchFamily="34" charset="0"/>
              </a:rPr>
              <a:t>6</a:t>
            </a:r>
            <a:r>
              <a:rPr lang="en-GB" sz="2400" b="1" dirty="0">
                <a:latin typeface="Calibri" panose="020F0502020204030204" pitchFamily="34" charset="0"/>
                <a:cs typeface="Calibri" panose="020F0502020204030204" pitchFamily="34" charset="0"/>
              </a:rPr>
              <a:t>O</a:t>
            </a:r>
            <a:r>
              <a:rPr lang="en-GB" sz="2400" baseline="-25000" dirty="0">
                <a:latin typeface="Calibri" panose="020F0502020204030204" pitchFamily="34" charset="0"/>
                <a:cs typeface="Calibri" panose="020F0502020204030204" pitchFamily="34" charset="0"/>
              </a:rPr>
              <a:t>3</a:t>
            </a:r>
            <a:r>
              <a:rPr lang="en-GB" sz="2400" dirty="0">
                <a:latin typeface="Calibri" panose="020F0502020204030204" pitchFamily="34" charset="0"/>
                <a:cs typeface="Calibri" panose="020F0502020204030204" pitchFamily="34" charset="0"/>
              </a:rPr>
              <a:t>)</a:t>
            </a:r>
          </a:p>
          <a:p>
            <a:pPr eaLnBrk="1" hangingPunct="1">
              <a:buFont typeface="Arial" pitchFamily="34" charset="0"/>
              <a:buChar char="•"/>
              <a:defRPr/>
            </a:pPr>
            <a:r>
              <a:rPr lang="en-GB" sz="2400" dirty="0">
                <a:latin typeface="Calibri" panose="020F0502020204030204" pitchFamily="34" charset="0"/>
                <a:cs typeface="Calibri" panose="020F0502020204030204" pitchFamily="34" charset="0"/>
              </a:rPr>
              <a:t>Net gain of 2 ATP</a:t>
            </a:r>
          </a:p>
          <a:p>
            <a:pPr eaLnBrk="1" hangingPunct="1">
              <a:buFont typeface="Arial" pitchFamily="34" charset="0"/>
              <a:buChar char="•"/>
              <a:defRPr/>
            </a:pPr>
            <a:r>
              <a:rPr lang="en-GB" sz="2400" dirty="0">
                <a:latin typeface="Calibri" panose="020F0502020204030204" pitchFamily="34" charset="0"/>
                <a:cs typeface="Calibri" panose="020F0502020204030204" pitchFamily="34" charset="0"/>
              </a:rPr>
              <a:t>All reactions are reversible</a:t>
            </a:r>
            <a:endParaRPr lang="en-GB" altLang="en-US" sz="32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231A37F-9950-C910-7E8D-8BC1C6026C81}"/>
              </a:ext>
            </a:extLst>
          </p:cNvPr>
          <p:cNvPicPr>
            <a:picLocks noChangeAspect="1"/>
          </p:cNvPicPr>
          <p:nvPr/>
        </p:nvPicPr>
        <p:blipFill>
          <a:blip r:embed="rId3"/>
          <a:stretch>
            <a:fillRect/>
          </a:stretch>
        </p:blipFill>
        <p:spPr>
          <a:xfrm>
            <a:off x="5999318" y="2086039"/>
            <a:ext cx="6192682" cy="3793392"/>
          </a:xfrm>
          <a:prstGeom prst="rect">
            <a:avLst/>
          </a:prstGeom>
        </p:spPr>
      </p:pic>
      <p:sp>
        <p:nvSpPr>
          <p:cNvPr id="8" name="Freeform 7">
            <a:extLst>
              <a:ext uri="{FF2B5EF4-FFF2-40B4-BE49-F238E27FC236}">
                <a16:creationId xmlns:a16="http://schemas.microsoft.com/office/drawing/2014/main" id="{FED91F84-4862-2315-A3B1-682D3BFE0462}"/>
              </a:ext>
            </a:extLst>
          </p:cNvPr>
          <p:cNvSpPr/>
          <p:nvPr/>
        </p:nvSpPr>
        <p:spPr>
          <a:xfrm>
            <a:off x="6898105" y="3850105"/>
            <a:ext cx="4636169" cy="1106906"/>
          </a:xfrm>
          <a:custGeom>
            <a:avLst/>
            <a:gdLst>
              <a:gd name="connsiteX0" fmla="*/ 0 w 4636169"/>
              <a:gd name="connsiteY0" fmla="*/ 1106906 h 1106906"/>
              <a:gd name="connsiteX1" fmla="*/ 32084 w 4636169"/>
              <a:gd name="connsiteY1" fmla="*/ 818148 h 1106906"/>
              <a:gd name="connsiteX2" fmla="*/ 64169 w 4636169"/>
              <a:gd name="connsiteY2" fmla="*/ 705853 h 1106906"/>
              <a:gd name="connsiteX3" fmla="*/ 96253 w 4636169"/>
              <a:gd name="connsiteY3" fmla="*/ 401053 h 1106906"/>
              <a:gd name="connsiteX4" fmla="*/ 64169 w 4636169"/>
              <a:gd name="connsiteY4" fmla="*/ 208548 h 1106906"/>
              <a:gd name="connsiteX5" fmla="*/ 96253 w 4636169"/>
              <a:gd name="connsiteY5" fmla="*/ 48127 h 1106906"/>
              <a:gd name="connsiteX6" fmla="*/ 128337 w 4636169"/>
              <a:gd name="connsiteY6" fmla="*/ 16042 h 1106906"/>
              <a:gd name="connsiteX7" fmla="*/ 288758 w 4636169"/>
              <a:gd name="connsiteY7" fmla="*/ 0 h 1106906"/>
              <a:gd name="connsiteX8" fmla="*/ 513348 w 4636169"/>
              <a:gd name="connsiteY8" fmla="*/ 48127 h 1106906"/>
              <a:gd name="connsiteX9" fmla="*/ 561474 w 4636169"/>
              <a:gd name="connsiteY9" fmla="*/ 64169 h 1106906"/>
              <a:gd name="connsiteX10" fmla="*/ 609600 w 4636169"/>
              <a:gd name="connsiteY10" fmla="*/ 80211 h 1106906"/>
              <a:gd name="connsiteX11" fmla="*/ 657727 w 4636169"/>
              <a:gd name="connsiteY11" fmla="*/ 112295 h 1106906"/>
              <a:gd name="connsiteX12" fmla="*/ 753979 w 4636169"/>
              <a:gd name="connsiteY12" fmla="*/ 144379 h 1106906"/>
              <a:gd name="connsiteX13" fmla="*/ 802106 w 4636169"/>
              <a:gd name="connsiteY13" fmla="*/ 160421 h 1106906"/>
              <a:gd name="connsiteX14" fmla="*/ 850232 w 4636169"/>
              <a:gd name="connsiteY14" fmla="*/ 192506 h 1106906"/>
              <a:gd name="connsiteX15" fmla="*/ 946484 w 4636169"/>
              <a:gd name="connsiteY15" fmla="*/ 224590 h 1106906"/>
              <a:gd name="connsiteX16" fmla="*/ 1042737 w 4636169"/>
              <a:gd name="connsiteY16" fmla="*/ 256674 h 1106906"/>
              <a:gd name="connsiteX17" fmla="*/ 1138990 w 4636169"/>
              <a:gd name="connsiteY17" fmla="*/ 288758 h 1106906"/>
              <a:gd name="connsiteX18" fmla="*/ 1203158 w 4636169"/>
              <a:gd name="connsiteY18" fmla="*/ 304800 h 1106906"/>
              <a:gd name="connsiteX19" fmla="*/ 1299411 w 4636169"/>
              <a:gd name="connsiteY19" fmla="*/ 336884 h 1106906"/>
              <a:gd name="connsiteX20" fmla="*/ 1363579 w 4636169"/>
              <a:gd name="connsiteY20" fmla="*/ 352927 h 1106906"/>
              <a:gd name="connsiteX21" fmla="*/ 1540042 w 4636169"/>
              <a:gd name="connsiteY21" fmla="*/ 401053 h 1106906"/>
              <a:gd name="connsiteX22" fmla="*/ 1604211 w 4636169"/>
              <a:gd name="connsiteY22" fmla="*/ 433137 h 1106906"/>
              <a:gd name="connsiteX23" fmla="*/ 1748590 w 4636169"/>
              <a:gd name="connsiteY23" fmla="*/ 465221 h 1106906"/>
              <a:gd name="connsiteX24" fmla="*/ 1812758 w 4636169"/>
              <a:gd name="connsiteY24" fmla="*/ 481263 h 1106906"/>
              <a:gd name="connsiteX25" fmla="*/ 1892969 w 4636169"/>
              <a:gd name="connsiteY25" fmla="*/ 497306 h 1106906"/>
              <a:gd name="connsiteX26" fmla="*/ 2005263 w 4636169"/>
              <a:gd name="connsiteY26" fmla="*/ 529390 h 1106906"/>
              <a:gd name="connsiteX27" fmla="*/ 2149642 w 4636169"/>
              <a:gd name="connsiteY27" fmla="*/ 561474 h 1106906"/>
              <a:gd name="connsiteX28" fmla="*/ 2245895 w 4636169"/>
              <a:gd name="connsiteY28" fmla="*/ 593558 h 1106906"/>
              <a:gd name="connsiteX29" fmla="*/ 2438400 w 4636169"/>
              <a:gd name="connsiteY29" fmla="*/ 625642 h 1106906"/>
              <a:gd name="connsiteX30" fmla="*/ 2550695 w 4636169"/>
              <a:gd name="connsiteY30" fmla="*/ 641684 h 1106906"/>
              <a:gd name="connsiteX31" fmla="*/ 2614863 w 4636169"/>
              <a:gd name="connsiteY31" fmla="*/ 657727 h 1106906"/>
              <a:gd name="connsiteX32" fmla="*/ 2775284 w 4636169"/>
              <a:gd name="connsiteY32" fmla="*/ 689811 h 1106906"/>
              <a:gd name="connsiteX33" fmla="*/ 2871537 w 4636169"/>
              <a:gd name="connsiteY33" fmla="*/ 705853 h 1106906"/>
              <a:gd name="connsiteX34" fmla="*/ 2935706 w 4636169"/>
              <a:gd name="connsiteY34" fmla="*/ 721895 h 1106906"/>
              <a:gd name="connsiteX35" fmla="*/ 3272590 w 4636169"/>
              <a:gd name="connsiteY35" fmla="*/ 753979 h 1106906"/>
              <a:gd name="connsiteX36" fmla="*/ 3465095 w 4636169"/>
              <a:gd name="connsiteY36" fmla="*/ 786063 h 1106906"/>
              <a:gd name="connsiteX37" fmla="*/ 3625516 w 4636169"/>
              <a:gd name="connsiteY37" fmla="*/ 802106 h 1106906"/>
              <a:gd name="connsiteX38" fmla="*/ 3818021 w 4636169"/>
              <a:gd name="connsiteY38" fmla="*/ 818148 h 1106906"/>
              <a:gd name="connsiteX39" fmla="*/ 3946358 w 4636169"/>
              <a:gd name="connsiteY39" fmla="*/ 834190 h 1106906"/>
              <a:gd name="connsiteX40" fmla="*/ 4042611 w 4636169"/>
              <a:gd name="connsiteY40" fmla="*/ 850232 h 1106906"/>
              <a:gd name="connsiteX41" fmla="*/ 4636169 w 4636169"/>
              <a:gd name="connsiteY41" fmla="*/ 866274 h 1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36169" h="1106906">
                <a:moveTo>
                  <a:pt x="0" y="1106906"/>
                </a:moveTo>
                <a:cubicBezTo>
                  <a:pt x="38834" y="912733"/>
                  <a:pt x="-9367" y="1170469"/>
                  <a:pt x="32084" y="818148"/>
                </a:cubicBezTo>
                <a:cubicBezTo>
                  <a:pt x="35746" y="787021"/>
                  <a:pt x="53796" y="736972"/>
                  <a:pt x="64169" y="705853"/>
                </a:cubicBezTo>
                <a:cubicBezTo>
                  <a:pt x="83025" y="592716"/>
                  <a:pt x="96253" y="530810"/>
                  <a:pt x="96253" y="401053"/>
                </a:cubicBezTo>
                <a:cubicBezTo>
                  <a:pt x="96253" y="361256"/>
                  <a:pt x="73278" y="254093"/>
                  <a:pt x="64169" y="208548"/>
                </a:cubicBezTo>
                <a:cubicBezTo>
                  <a:pt x="66183" y="196462"/>
                  <a:pt x="84287" y="72059"/>
                  <a:pt x="96253" y="48127"/>
                </a:cubicBezTo>
                <a:cubicBezTo>
                  <a:pt x="103017" y="34599"/>
                  <a:pt x="113664" y="19710"/>
                  <a:pt x="128337" y="16042"/>
                </a:cubicBezTo>
                <a:cubicBezTo>
                  <a:pt x="180473" y="3008"/>
                  <a:pt x="235284" y="5347"/>
                  <a:pt x="288758" y="0"/>
                </a:cubicBezTo>
                <a:cubicBezTo>
                  <a:pt x="450656" y="20237"/>
                  <a:pt x="376194" y="2408"/>
                  <a:pt x="513348" y="48127"/>
                </a:cubicBezTo>
                <a:lnTo>
                  <a:pt x="561474" y="64169"/>
                </a:lnTo>
                <a:cubicBezTo>
                  <a:pt x="577516" y="69516"/>
                  <a:pt x="595530" y="70831"/>
                  <a:pt x="609600" y="80211"/>
                </a:cubicBezTo>
                <a:cubicBezTo>
                  <a:pt x="625642" y="90906"/>
                  <a:pt x="640108" y="104465"/>
                  <a:pt x="657727" y="112295"/>
                </a:cubicBezTo>
                <a:cubicBezTo>
                  <a:pt x="688632" y="126030"/>
                  <a:pt x="721895" y="133684"/>
                  <a:pt x="753979" y="144379"/>
                </a:cubicBezTo>
                <a:lnTo>
                  <a:pt x="802106" y="160421"/>
                </a:lnTo>
                <a:cubicBezTo>
                  <a:pt x="818148" y="171116"/>
                  <a:pt x="832614" y="184675"/>
                  <a:pt x="850232" y="192506"/>
                </a:cubicBezTo>
                <a:cubicBezTo>
                  <a:pt x="881137" y="206242"/>
                  <a:pt x="914400" y="213895"/>
                  <a:pt x="946484" y="224590"/>
                </a:cubicBezTo>
                <a:lnTo>
                  <a:pt x="1042737" y="256674"/>
                </a:lnTo>
                <a:lnTo>
                  <a:pt x="1138990" y="288758"/>
                </a:lnTo>
                <a:cubicBezTo>
                  <a:pt x="1160379" y="294105"/>
                  <a:pt x="1182040" y="298465"/>
                  <a:pt x="1203158" y="304800"/>
                </a:cubicBezTo>
                <a:cubicBezTo>
                  <a:pt x="1235552" y="314518"/>
                  <a:pt x="1266601" y="328681"/>
                  <a:pt x="1299411" y="336884"/>
                </a:cubicBezTo>
                <a:cubicBezTo>
                  <a:pt x="1320800" y="342232"/>
                  <a:pt x="1342461" y="346592"/>
                  <a:pt x="1363579" y="352927"/>
                </a:cubicBezTo>
                <a:cubicBezTo>
                  <a:pt x="1526394" y="401772"/>
                  <a:pt x="1393860" y="371817"/>
                  <a:pt x="1540042" y="401053"/>
                </a:cubicBezTo>
                <a:cubicBezTo>
                  <a:pt x="1561432" y="411748"/>
                  <a:pt x="1581819" y="424740"/>
                  <a:pt x="1604211" y="433137"/>
                </a:cubicBezTo>
                <a:cubicBezTo>
                  <a:pt x="1632666" y="443807"/>
                  <a:pt x="1723640" y="459677"/>
                  <a:pt x="1748590" y="465221"/>
                </a:cubicBezTo>
                <a:cubicBezTo>
                  <a:pt x="1770113" y="470004"/>
                  <a:pt x="1791235" y="476480"/>
                  <a:pt x="1812758" y="481263"/>
                </a:cubicBezTo>
                <a:cubicBezTo>
                  <a:pt x="1839375" y="487178"/>
                  <a:pt x="1866352" y="491391"/>
                  <a:pt x="1892969" y="497306"/>
                </a:cubicBezTo>
                <a:cubicBezTo>
                  <a:pt x="2163101" y="557337"/>
                  <a:pt x="1790836" y="475784"/>
                  <a:pt x="2005263" y="529390"/>
                </a:cubicBezTo>
                <a:cubicBezTo>
                  <a:pt x="2096858" y="552289"/>
                  <a:pt x="2067298" y="536771"/>
                  <a:pt x="2149642" y="561474"/>
                </a:cubicBezTo>
                <a:cubicBezTo>
                  <a:pt x="2182036" y="571192"/>
                  <a:pt x="2212535" y="587998"/>
                  <a:pt x="2245895" y="593558"/>
                </a:cubicBezTo>
                <a:cubicBezTo>
                  <a:pt x="2310063" y="604253"/>
                  <a:pt x="2374000" y="616442"/>
                  <a:pt x="2438400" y="625642"/>
                </a:cubicBezTo>
                <a:cubicBezTo>
                  <a:pt x="2475832" y="630989"/>
                  <a:pt x="2513493" y="634920"/>
                  <a:pt x="2550695" y="641684"/>
                </a:cubicBezTo>
                <a:cubicBezTo>
                  <a:pt x="2572387" y="645628"/>
                  <a:pt x="2593305" y="653107"/>
                  <a:pt x="2614863" y="657727"/>
                </a:cubicBezTo>
                <a:cubicBezTo>
                  <a:pt x="2668185" y="669153"/>
                  <a:pt x="2721493" y="680846"/>
                  <a:pt x="2775284" y="689811"/>
                </a:cubicBezTo>
                <a:cubicBezTo>
                  <a:pt x="2807368" y="695158"/>
                  <a:pt x="2839642" y="699474"/>
                  <a:pt x="2871537" y="705853"/>
                </a:cubicBezTo>
                <a:cubicBezTo>
                  <a:pt x="2893157" y="710177"/>
                  <a:pt x="2913828" y="719160"/>
                  <a:pt x="2935706" y="721895"/>
                </a:cubicBezTo>
                <a:cubicBezTo>
                  <a:pt x="3245626" y="760635"/>
                  <a:pt x="3012205" y="716781"/>
                  <a:pt x="3272590" y="753979"/>
                </a:cubicBezTo>
                <a:cubicBezTo>
                  <a:pt x="3336990" y="763179"/>
                  <a:pt x="3400364" y="779590"/>
                  <a:pt x="3465095" y="786063"/>
                </a:cubicBezTo>
                <a:lnTo>
                  <a:pt x="3625516" y="802106"/>
                </a:lnTo>
                <a:lnTo>
                  <a:pt x="3818021" y="818148"/>
                </a:lnTo>
                <a:cubicBezTo>
                  <a:pt x="3860919" y="822438"/>
                  <a:pt x="3903679" y="828093"/>
                  <a:pt x="3946358" y="834190"/>
                </a:cubicBezTo>
                <a:cubicBezTo>
                  <a:pt x="3978558" y="838790"/>
                  <a:pt x="4010140" y="848322"/>
                  <a:pt x="4042611" y="850232"/>
                </a:cubicBezTo>
                <a:cubicBezTo>
                  <a:pt x="4344528" y="867992"/>
                  <a:pt x="4404722" y="866274"/>
                  <a:pt x="4636169" y="866274"/>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54360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Glycolysis</a:t>
            </a:r>
          </a:p>
        </p:txBody>
      </p:sp>
      <p:sp>
        <p:nvSpPr>
          <p:cNvPr id="9" name="AutoShape 3">
            <a:extLst>
              <a:ext uri="{FF2B5EF4-FFF2-40B4-BE49-F238E27FC236}">
                <a16:creationId xmlns:a16="http://schemas.microsoft.com/office/drawing/2014/main" id="{51EE258F-8145-F2E2-A91B-F5B630E212C3}"/>
              </a:ext>
            </a:extLst>
          </p:cNvPr>
          <p:cNvSpPr>
            <a:spLocks noChangeArrowheads="1"/>
          </p:cNvSpPr>
          <p:nvPr/>
        </p:nvSpPr>
        <p:spPr bwMode="auto">
          <a:xfrm>
            <a:off x="3295933" y="2436814"/>
            <a:ext cx="1223962" cy="1368425"/>
          </a:xfrm>
          <a:prstGeom prst="downArrow">
            <a:avLst>
              <a:gd name="adj1" fmla="val 50000"/>
              <a:gd name="adj2" fmla="val 27951"/>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solidFill>
                <a:schemeClr val="bg1"/>
              </a:solidFill>
              <a:latin typeface="Calibri" panose="020F0502020204030204" pitchFamily="34" charset="0"/>
              <a:cs typeface="Calibri" panose="020F0502020204030204" pitchFamily="34" charset="0"/>
            </a:endParaRPr>
          </a:p>
        </p:txBody>
      </p:sp>
      <p:sp>
        <p:nvSpPr>
          <p:cNvPr id="10" name="AutoShape 4">
            <a:extLst>
              <a:ext uri="{FF2B5EF4-FFF2-40B4-BE49-F238E27FC236}">
                <a16:creationId xmlns:a16="http://schemas.microsoft.com/office/drawing/2014/main" id="{F7F49E5D-406A-6D96-337E-89B5D842A498}"/>
              </a:ext>
            </a:extLst>
          </p:cNvPr>
          <p:cNvSpPr>
            <a:spLocks noChangeArrowheads="1"/>
          </p:cNvSpPr>
          <p:nvPr/>
        </p:nvSpPr>
        <p:spPr bwMode="auto">
          <a:xfrm>
            <a:off x="2719670" y="2581277"/>
            <a:ext cx="431800" cy="574675"/>
          </a:xfrm>
          <a:prstGeom prst="curvedLeftArrow">
            <a:avLst>
              <a:gd name="adj1" fmla="val 26618"/>
              <a:gd name="adj2" fmla="val 53235"/>
              <a:gd name="adj3" fmla="val 33333"/>
            </a:avLst>
          </a:prstGeom>
          <a:solidFill>
            <a:srgbClr val="FF9300"/>
          </a:solidFill>
          <a:ln w="9525">
            <a:solidFill>
              <a:schemeClr val="tx1"/>
            </a:solidFill>
            <a:miter lim="800000"/>
            <a:headEnd/>
            <a:tailEnd/>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solidFill>
                <a:schemeClr val="bg1"/>
              </a:solidFill>
              <a:latin typeface="Calibri" panose="020F0502020204030204" pitchFamily="34" charset="0"/>
              <a:cs typeface="Calibri" panose="020F0502020204030204" pitchFamily="34" charset="0"/>
            </a:endParaRPr>
          </a:p>
        </p:txBody>
      </p:sp>
      <p:sp>
        <p:nvSpPr>
          <p:cNvPr id="11" name="AutoShape 7">
            <a:extLst>
              <a:ext uri="{FF2B5EF4-FFF2-40B4-BE49-F238E27FC236}">
                <a16:creationId xmlns:a16="http://schemas.microsoft.com/office/drawing/2014/main" id="{8AE403A5-FA05-8FAF-6E32-AD96A92DE14B}"/>
              </a:ext>
            </a:extLst>
          </p:cNvPr>
          <p:cNvSpPr>
            <a:spLocks noChangeArrowheads="1"/>
          </p:cNvSpPr>
          <p:nvPr/>
        </p:nvSpPr>
        <p:spPr bwMode="auto">
          <a:xfrm>
            <a:off x="4808820" y="2581277"/>
            <a:ext cx="431800" cy="574675"/>
          </a:xfrm>
          <a:prstGeom prst="curvedRightArrow">
            <a:avLst>
              <a:gd name="adj1" fmla="val 26618"/>
              <a:gd name="adj2" fmla="val 53235"/>
              <a:gd name="adj3" fmla="val 33333"/>
            </a:avLst>
          </a:prstGeom>
          <a:solidFill>
            <a:srgbClr val="FF9300"/>
          </a:solidFill>
          <a:ln w="9525">
            <a:solidFill>
              <a:schemeClr val="tx1"/>
            </a:solidFill>
            <a:miter lim="800000"/>
            <a:headEnd/>
            <a:tailEnd/>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solidFill>
                <a:schemeClr val="bg1"/>
              </a:solidFill>
              <a:latin typeface="Calibri" panose="020F0502020204030204" pitchFamily="34" charset="0"/>
              <a:cs typeface="Calibri" panose="020F0502020204030204" pitchFamily="34" charset="0"/>
            </a:endParaRPr>
          </a:p>
        </p:txBody>
      </p:sp>
      <p:sp>
        <p:nvSpPr>
          <p:cNvPr id="12" name="Text Box 11">
            <a:extLst>
              <a:ext uri="{FF2B5EF4-FFF2-40B4-BE49-F238E27FC236}">
                <a16:creationId xmlns:a16="http://schemas.microsoft.com/office/drawing/2014/main" id="{66ADF3DA-C322-7E9A-DC4F-D2E4E12CB29C}"/>
              </a:ext>
            </a:extLst>
          </p:cNvPr>
          <p:cNvSpPr txBox="1">
            <a:spLocks noChangeArrowheads="1"/>
          </p:cNvSpPr>
          <p:nvPr/>
        </p:nvSpPr>
        <p:spPr bwMode="auto">
          <a:xfrm>
            <a:off x="3367370" y="1839243"/>
            <a:ext cx="1368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dirty="0">
                <a:solidFill>
                  <a:schemeClr val="bg1"/>
                </a:solidFill>
                <a:latin typeface="Calibri" panose="020F0502020204030204" pitchFamily="34" charset="0"/>
                <a:cs typeface="Calibri" panose="020F0502020204030204" pitchFamily="34" charset="0"/>
              </a:rPr>
              <a:t>“</a:t>
            </a:r>
            <a:r>
              <a:rPr lang="en-GB" altLang="en-US" sz="2800" b="1" dirty="0">
                <a:solidFill>
                  <a:schemeClr val="bg1"/>
                </a:solidFill>
                <a:latin typeface="Calibri" panose="020F0502020204030204" pitchFamily="34" charset="0"/>
                <a:cs typeface="Calibri" panose="020F0502020204030204" pitchFamily="34" charset="0"/>
              </a:rPr>
              <a:t>CHO</a:t>
            </a:r>
            <a:r>
              <a:rPr lang="en-GB" altLang="en-US" sz="2800" dirty="0">
                <a:solidFill>
                  <a:schemeClr val="bg1"/>
                </a:solidFill>
                <a:latin typeface="Calibri" panose="020F0502020204030204" pitchFamily="34" charset="0"/>
                <a:cs typeface="Calibri" panose="020F0502020204030204" pitchFamily="34" charset="0"/>
              </a:rPr>
              <a:t>”</a:t>
            </a:r>
          </a:p>
        </p:txBody>
      </p:sp>
      <p:sp>
        <p:nvSpPr>
          <p:cNvPr id="14" name="AutoShape 14">
            <a:extLst>
              <a:ext uri="{FF2B5EF4-FFF2-40B4-BE49-F238E27FC236}">
                <a16:creationId xmlns:a16="http://schemas.microsoft.com/office/drawing/2014/main" id="{AA15C4DE-7737-9AB5-12D2-B89AEE72657E}"/>
              </a:ext>
            </a:extLst>
          </p:cNvPr>
          <p:cNvSpPr>
            <a:spLocks noChangeArrowheads="1"/>
          </p:cNvSpPr>
          <p:nvPr/>
        </p:nvSpPr>
        <p:spPr bwMode="auto">
          <a:xfrm rot="2050150">
            <a:off x="2503771" y="4165602"/>
            <a:ext cx="360363" cy="1150937"/>
          </a:xfrm>
          <a:prstGeom prst="downArrow">
            <a:avLst>
              <a:gd name="adj1" fmla="val 50000"/>
              <a:gd name="adj2" fmla="val 79846"/>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anose="020F0502020204030204" pitchFamily="34" charset="0"/>
              <a:cs typeface="Calibri" panose="020F0502020204030204" pitchFamily="34" charset="0"/>
            </a:endParaRPr>
          </a:p>
        </p:txBody>
      </p:sp>
      <p:sp>
        <p:nvSpPr>
          <p:cNvPr id="15" name="AutoShape 15">
            <a:extLst>
              <a:ext uri="{FF2B5EF4-FFF2-40B4-BE49-F238E27FC236}">
                <a16:creationId xmlns:a16="http://schemas.microsoft.com/office/drawing/2014/main" id="{D5BC6803-18A3-4F39-A277-FA5C182B4006}"/>
              </a:ext>
            </a:extLst>
          </p:cNvPr>
          <p:cNvSpPr>
            <a:spLocks noChangeArrowheads="1"/>
          </p:cNvSpPr>
          <p:nvPr/>
        </p:nvSpPr>
        <p:spPr bwMode="auto">
          <a:xfrm rot="-1810920">
            <a:off x="4951695" y="4165602"/>
            <a:ext cx="349250" cy="1150937"/>
          </a:xfrm>
          <a:prstGeom prst="downArrow">
            <a:avLst>
              <a:gd name="adj1" fmla="val 50000"/>
              <a:gd name="adj2" fmla="val 82386"/>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anose="020F0502020204030204" pitchFamily="34" charset="0"/>
              <a:cs typeface="Calibri" panose="020F0502020204030204" pitchFamily="34" charset="0"/>
            </a:endParaRPr>
          </a:p>
        </p:txBody>
      </p:sp>
      <p:sp>
        <p:nvSpPr>
          <p:cNvPr id="17" name="Text Box 11">
            <a:extLst>
              <a:ext uri="{FF2B5EF4-FFF2-40B4-BE49-F238E27FC236}">
                <a16:creationId xmlns:a16="http://schemas.microsoft.com/office/drawing/2014/main" id="{4FCC784D-6CFA-8CE0-CC96-7D379314FF0E}"/>
              </a:ext>
            </a:extLst>
          </p:cNvPr>
          <p:cNvSpPr txBox="1">
            <a:spLocks noChangeArrowheads="1"/>
          </p:cNvSpPr>
          <p:nvPr/>
        </p:nvSpPr>
        <p:spPr bwMode="auto">
          <a:xfrm>
            <a:off x="3224495" y="3805239"/>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a:solidFill>
                  <a:schemeClr val="bg1"/>
                </a:solidFill>
                <a:latin typeface="Calibri" panose="020F0502020204030204" pitchFamily="34" charset="0"/>
                <a:cs typeface="Calibri" panose="020F0502020204030204" pitchFamily="34" charset="0"/>
              </a:rPr>
              <a:t>Pyruvate</a:t>
            </a:r>
          </a:p>
        </p:txBody>
      </p:sp>
      <p:sp>
        <p:nvSpPr>
          <p:cNvPr id="18" name="Text Box 11">
            <a:extLst>
              <a:ext uri="{FF2B5EF4-FFF2-40B4-BE49-F238E27FC236}">
                <a16:creationId xmlns:a16="http://schemas.microsoft.com/office/drawing/2014/main" id="{8977EE31-D053-6B8A-F637-5B60D449177D}"/>
              </a:ext>
            </a:extLst>
          </p:cNvPr>
          <p:cNvSpPr txBox="1">
            <a:spLocks noChangeArrowheads="1"/>
          </p:cNvSpPr>
          <p:nvPr/>
        </p:nvSpPr>
        <p:spPr bwMode="auto">
          <a:xfrm>
            <a:off x="687000" y="5351318"/>
            <a:ext cx="1800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dirty="0">
                <a:solidFill>
                  <a:schemeClr val="bg1"/>
                </a:solidFill>
                <a:latin typeface="Calibri" panose="020F0502020204030204" pitchFamily="34" charset="0"/>
                <a:cs typeface="Calibri" panose="020F0502020204030204" pitchFamily="34" charset="0"/>
              </a:rPr>
              <a:t>Lactic acid</a:t>
            </a:r>
          </a:p>
        </p:txBody>
      </p:sp>
      <p:sp>
        <p:nvSpPr>
          <p:cNvPr id="19" name="Text Box 11">
            <a:extLst>
              <a:ext uri="{FF2B5EF4-FFF2-40B4-BE49-F238E27FC236}">
                <a16:creationId xmlns:a16="http://schemas.microsoft.com/office/drawing/2014/main" id="{0CC4174A-0E54-9E0E-57C7-A04B42E5D44D}"/>
              </a:ext>
            </a:extLst>
          </p:cNvPr>
          <p:cNvSpPr txBox="1">
            <a:spLocks noChangeArrowheads="1"/>
          </p:cNvSpPr>
          <p:nvPr/>
        </p:nvSpPr>
        <p:spPr bwMode="auto">
          <a:xfrm>
            <a:off x="5026859" y="5351318"/>
            <a:ext cx="1944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a:solidFill>
                  <a:schemeClr val="bg1"/>
                </a:solidFill>
                <a:latin typeface="Calibri" panose="020F0502020204030204" pitchFamily="34" charset="0"/>
                <a:cs typeface="Calibri" panose="020F0502020204030204" pitchFamily="34" charset="0"/>
              </a:rPr>
              <a:t>Krebs cycle</a:t>
            </a:r>
          </a:p>
        </p:txBody>
      </p:sp>
      <p:sp>
        <p:nvSpPr>
          <p:cNvPr id="20" name="TextBox 19">
            <a:extLst>
              <a:ext uri="{FF2B5EF4-FFF2-40B4-BE49-F238E27FC236}">
                <a16:creationId xmlns:a16="http://schemas.microsoft.com/office/drawing/2014/main" id="{79A85E4D-7A64-A028-805A-A2363CD2DB38}"/>
              </a:ext>
            </a:extLst>
          </p:cNvPr>
          <p:cNvSpPr txBox="1"/>
          <p:nvPr/>
        </p:nvSpPr>
        <p:spPr>
          <a:xfrm>
            <a:off x="798795" y="4462463"/>
            <a:ext cx="1404938" cy="831850"/>
          </a:xfrm>
          <a:prstGeom prst="rect">
            <a:avLst/>
          </a:prstGeom>
          <a:solidFill>
            <a:schemeClr val="accent2">
              <a:lumMod val="60000"/>
              <a:lumOff val="40000"/>
            </a:schemeClr>
          </a:solidFill>
        </p:spPr>
        <p:txBody>
          <a:bodyPr>
            <a:spAutoFit/>
          </a:bodyPr>
          <a:lstStyle/>
          <a:p>
            <a:pPr algn="ctr">
              <a:defRPr/>
            </a:pPr>
            <a:r>
              <a:rPr lang="en-GB" sz="2400" dirty="0">
                <a:latin typeface="Calibri" panose="020F0502020204030204" pitchFamily="34" charset="0"/>
                <a:cs typeface="Calibri" panose="020F0502020204030204" pitchFamily="34" charset="0"/>
              </a:rPr>
              <a:t>No oxygen</a:t>
            </a:r>
          </a:p>
        </p:txBody>
      </p:sp>
      <p:sp>
        <p:nvSpPr>
          <p:cNvPr id="21" name="TextBox 15">
            <a:extLst>
              <a:ext uri="{FF2B5EF4-FFF2-40B4-BE49-F238E27FC236}">
                <a16:creationId xmlns:a16="http://schemas.microsoft.com/office/drawing/2014/main" id="{21387CF0-96D8-8A09-0892-75457795A1A8}"/>
              </a:ext>
            </a:extLst>
          </p:cNvPr>
          <p:cNvSpPr txBox="1">
            <a:spLocks noChangeArrowheads="1"/>
          </p:cNvSpPr>
          <p:nvPr/>
        </p:nvSpPr>
        <p:spPr bwMode="auto">
          <a:xfrm>
            <a:off x="5635909" y="4856164"/>
            <a:ext cx="1404937" cy="461963"/>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2400">
                <a:latin typeface="Calibri" panose="020F0502020204030204" pitchFamily="34" charset="0"/>
                <a:cs typeface="Calibri" panose="020F0502020204030204" pitchFamily="34" charset="0"/>
              </a:rPr>
              <a:t>Oxygen</a:t>
            </a:r>
          </a:p>
        </p:txBody>
      </p:sp>
      <p:sp>
        <p:nvSpPr>
          <p:cNvPr id="22" name="Text Box 11">
            <a:extLst>
              <a:ext uri="{FF2B5EF4-FFF2-40B4-BE49-F238E27FC236}">
                <a16:creationId xmlns:a16="http://schemas.microsoft.com/office/drawing/2014/main" id="{2F0AB763-3E54-6823-CAD9-76005C7E98AF}"/>
              </a:ext>
            </a:extLst>
          </p:cNvPr>
          <p:cNvSpPr txBox="1">
            <a:spLocks noChangeArrowheads="1"/>
          </p:cNvSpPr>
          <p:nvPr/>
        </p:nvSpPr>
        <p:spPr bwMode="auto">
          <a:xfrm>
            <a:off x="194443" y="2270572"/>
            <a:ext cx="28840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n-GB" altLang="en-US" sz="2200" dirty="0">
                <a:solidFill>
                  <a:schemeClr val="bg1"/>
                </a:solidFill>
                <a:latin typeface="Calibri" panose="020F0502020204030204" pitchFamily="34" charset="0"/>
                <a:cs typeface="Calibri" panose="020F0502020204030204" pitchFamily="34" charset="0"/>
              </a:rPr>
              <a:t>ATP Synthesised</a:t>
            </a:r>
          </a:p>
        </p:txBody>
      </p:sp>
      <p:sp>
        <p:nvSpPr>
          <p:cNvPr id="23" name="Text Box 11">
            <a:extLst>
              <a:ext uri="{FF2B5EF4-FFF2-40B4-BE49-F238E27FC236}">
                <a16:creationId xmlns:a16="http://schemas.microsoft.com/office/drawing/2014/main" id="{2587DE19-93AB-25C9-EE78-BA4E14E2E2F3}"/>
              </a:ext>
            </a:extLst>
          </p:cNvPr>
          <p:cNvSpPr txBox="1">
            <a:spLocks noChangeArrowheads="1"/>
          </p:cNvSpPr>
          <p:nvPr/>
        </p:nvSpPr>
        <p:spPr bwMode="auto">
          <a:xfrm>
            <a:off x="5529545" y="2054077"/>
            <a:ext cx="197035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200" dirty="0">
                <a:solidFill>
                  <a:schemeClr val="bg1"/>
                </a:solidFill>
                <a:latin typeface="Calibri" panose="020F0502020204030204" pitchFamily="34" charset="0"/>
                <a:cs typeface="Calibri" panose="020F0502020204030204" pitchFamily="34" charset="0"/>
              </a:rPr>
              <a:t>10 Enzyme Controlled Reactions</a:t>
            </a:r>
          </a:p>
        </p:txBody>
      </p:sp>
      <p:pic>
        <p:nvPicPr>
          <p:cNvPr id="24" name="Picture 23">
            <a:extLst>
              <a:ext uri="{FF2B5EF4-FFF2-40B4-BE49-F238E27FC236}">
                <a16:creationId xmlns:a16="http://schemas.microsoft.com/office/drawing/2014/main" id="{49B5B2FC-C0C7-E236-FDA3-1206F3139B72}"/>
              </a:ext>
            </a:extLst>
          </p:cNvPr>
          <p:cNvPicPr>
            <a:picLocks noChangeAspect="1"/>
          </p:cNvPicPr>
          <p:nvPr/>
        </p:nvPicPr>
        <p:blipFill>
          <a:blip r:embed="rId3"/>
          <a:stretch>
            <a:fillRect/>
          </a:stretch>
        </p:blipFill>
        <p:spPr>
          <a:xfrm>
            <a:off x="7788826" y="1195693"/>
            <a:ext cx="5457624" cy="5219092"/>
          </a:xfrm>
          <a:prstGeom prst="rect">
            <a:avLst/>
          </a:prstGeom>
        </p:spPr>
      </p:pic>
    </p:spTree>
    <p:extLst>
      <p:ext uri="{BB962C8B-B14F-4D97-AF65-F5344CB8AC3E}">
        <p14:creationId xmlns:p14="http://schemas.microsoft.com/office/powerpoint/2010/main" val="2262592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Just to get this right…</a:t>
            </a:r>
          </a:p>
        </p:txBody>
      </p:sp>
      <p:pic>
        <p:nvPicPr>
          <p:cNvPr id="3" name="Picture 2">
            <a:extLst>
              <a:ext uri="{FF2B5EF4-FFF2-40B4-BE49-F238E27FC236}">
                <a16:creationId xmlns:a16="http://schemas.microsoft.com/office/drawing/2014/main" id="{82642E96-C721-4FDC-068E-0D99B95FB8DA}"/>
              </a:ext>
            </a:extLst>
          </p:cNvPr>
          <p:cNvPicPr>
            <a:picLocks noChangeAspect="1"/>
          </p:cNvPicPr>
          <p:nvPr/>
        </p:nvPicPr>
        <p:blipFill>
          <a:blip r:embed="rId3"/>
          <a:stretch>
            <a:fillRect/>
          </a:stretch>
        </p:blipFill>
        <p:spPr>
          <a:xfrm>
            <a:off x="10296" y="0"/>
            <a:ext cx="12192000" cy="6858000"/>
          </a:xfrm>
          <a:prstGeom prst="rect">
            <a:avLst/>
          </a:prstGeom>
        </p:spPr>
      </p:pic>
      <p:pic>
        <p:nvPicPr>
          <p:cNvPr id="4" name="Picture 3">
            <a:extLst>
              <a:ext uri="{FF2B5EF4-FFF2-40B4-BE49-F238E27FC236}">
                <a16:creationId xmlns:a16="http://schemas.microsoft.com/office/drawing/2014/main" id="{E2D0B530-C279-CB0C-C7E8-A96B8A2C802F}"/>
              </a:ext>
            </a:extLst>
          </p:cNvPr>
          <p:cNvPicPr>
            <a:picLocks noChangeAspect="1"/>
          </p:cNvPicPr>
          <p:nvPr/>
        </p:nvPicPr>
        <p:blipFill rotWithShape="1">
          <a:blip r:embed="rId4"/>
          <a:srcRect l="49999" t="64795" r="7664" b="14931"/>
          <a:stretch/>
        </p:blipFill>
        <p:spPr>
          <a:xfrm>
            <a:off x="1045029" y="2338055"/>
            <a:ext cx="5177785" cy="3258683"/>
          </a:xfrm>
          <a:prstGeom prst="rect">
            <a:avLst/>
          </a:prstGeom>
          <a:solidFill>
            <a:schemeClr val="bg1"/>
          </a:solidFill>
        </p:spPr>
      </p:pic>
    </p:spTree>
    <p:extLst>
      <p:ext uri="{BB962C8B-B14F-4D97-AF65-F5344CB8AC3E}">
        <p14:creationId xmlns:p14="http://schemas.microsoft.com/office/powerpoint/2010/main" val="191304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Glycolysis</a:t>
            </a:r>
          </a:p>
        </p:txBody>
      </p:sp>
      <p:sp>
        <p:nvSpPr>
          <p:cNvPr id="9" name="AutoShape 3">
            <a:extLst>
              <a:ext uri="{FF2B5EF4-FFF2-40B4-BE49-F238E27FC236}">
                <a16:creationId xmlns:a16="http://schemas.microsoft.com/office/drawing/2014/main" id="{51EE258F-8145-F2E2-A91B-F5B630E212C3}"/>
              </a:ext>
            </a:extLst>
          </p:cNvPr>
          <p:cNvSpPr>
            <a:spLocks noChangeArrowheads="1"/>
          </p:cNvSpPr>
          <p:nvPr/>
        </p:nvSpPr>
        <p:spPr bwMode="auto">
          <a:xfrm>
            <a:off x="3295933" y="2436814"/>
            <a:ext cx="1223962" cy="1368425"/>
          </a:xfrm>
          <a:prstGeom prst="downArrow">
            <a:avLst>
              <a:gd name="adj1" fmla="val 50000"/>
              <a:gd name="adj2" fmla="val 27951"/>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solidFill>
                <a:schemeClr val="bg1"/>
              </a:solidFill>
              <a:latin typeface="Calibri" panose="020F0502020204030204" pitchFamily="34" charset="0"/>
              <a:cs typeface="Calibri" panose="020F0502020204030204" pitchFamily="34" charset="0"/>
            </a:endParaRPr>
          </a:p>
        </p:txBody>
      </p:sp>
      <p:sp>
        <p:nvSpPr>
          <p:cNvPr id="10" name="AutoShape 4">
            <a:extLst>
              <a:ext uri="{FF2B5EF4-FFF2-40B4-BE49-F238E27FC236}">
                <a16:creationId xmlns:a16="http://schemas.microsoft.com/office/drawing/2014/main" id="{F7F49E5D-406A-6D96-337E-89B5D842A498}"/>
              </a:ext>
            </a:extLst>
          </p:cNvPr>
          <p:cNvSpPr>
            <a:spLocks noChangeArrowheads="1"/>
          </p:cNvSpPr>
          <p:nvPr/>
        </p:nvSpPr>
        <p:spPr bwMode="auto">
          <a:xfrm>
            <a:off x="2719670" y="2581277"/>
            <a:ext cx="431800" cy="574675"/>
          </a:xfrm>
          <a:prstGeom prst="curvedLeftArrow">
            <a:avLst>
              <a:gd name="adj1" fmla="val 26618"/>
              <a:gd name="adj2" fmla="val 53235"/>
              <a:gd name="adj3" fmla="val 33333"/>
            </a:avLst>
          </a:prstGeom>
          <a:solidFill>
            <a:srgbClr val="FF9300"/>
          </a:solidFill>
          <a:ln w="9525">
            <a:solidFill>
              <a:schemeClr val="tx1"/>
            </a:solidFill>
            <a:miter lim="800000"/>
            <a:headEnd/>
            <a:tailEnd/>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solidFill>
                <a:schemeClr val="bg1"/>
              </a:solidFill>
              <a:latin typeface="Calibri" panose="020F0502020204030204" pitchFamily="34" charset="0"/>
              <a:cs typeface="Calibri" panose="020F0502020204030204" pitchFamily="34" charset="0"/>
            </a:endParaRPr>
          </a:p>
        </p:txBody>
      </p:sp>
      <p:sp>
        <p:nvSpPr>
          <p:cNvPr id="11" name="AutoShape 7">
            <a:extLst>
              <a:ext uri="{FF2B5EF4-FFF2-40B4-BE49-F238E27FC236}">
                <a16:creationId xmlns:a16="http://schemas.microsoft.com/office/drawing/2014/main" id="{8AE403A5-FA05-8FAF-6E32-AD96A92DE14B}"/>
              </a:ext>
            </a:extLst>
          </p:cNvPr>
          <p:cNvSpPr>
            <a:spLocks noChangeArrowheads="1"/>
          </p:cNvSpPr>
          <p:nvPr/>
        </p:nvSpPr>
        <p:spPr bwMode="auto">
          <a:xfrm>
            <a:off x="4808820" y="2581277"/>
            <a:ext cx="431800" cy="574675"/>
          </a:xfrm>
          <a:prstGeom prst="curvedRightArrow">
            <a:avLst>
              <a:gd name="adj1" fmla="val 26618"/>
              <a:gd name="adj2" fmla="val 53235"/>
              <a:gd name="adj3" fmla="val 33333"/>
            </a:avLst>
          </a:prstGeom>
          <a:solidFill>
            <a:srgbClr val="FF9300"/>
          </a:solidFill>
          <a:ln w="9525">
            <a:solidFill>
              <a:schemeClr val="tx1"/>
            </a:solidFill>
            <a:miter lim="800000"/>
            <a:headEnd/>
            <a:tailEnd/>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solidFill>
                <a:schemeClr val="bg1"/>
              </a:solidFill>
              <a:latin typeface="Calibri" panose="020F0502020204030204" pitchFamily="34" charset="0"/>
              <a:cs typeface="Calibri" panose="020F0502020204030204" pitchFamily="34" charset="0"/>
            </a:endParaRPr>
          </a:p>
        </p:txBody>
      </p:sp>
      <p:sp>
        <p:nvSpPr>
          <p:cNvPr id="12" name="Text Box 11">
            <a:extLst>
              <a:ext uri="{FF2B5EF4-FFF2-40B4-BE49-F238E27FC236}">
                <a16:creationId xmlns:a16="http://schemas.microsoft.com/office/drawing/2014/main" id="{66ADF3DA-C322-7E9A-DC4F-D2E4E12CB29C}"/>
              </a:ext>
            </a:extLst>
          </p:cNvPr>
          <p:cNvSpPr txBox="1">
            <a:spLocks noChangeArrowheads="1"/>
          </p:cNvSpPr>
          <p:nvPr/>
        </p:nvSpPr>
        <p:spPr bwMode="auto">
          <a:xfrm>
            <a:off x="3367370" y="1839243"/>
            <a:ext cx="1368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dirty="0">
                <a:solidFill>
                  <a:schemeClr val="bg1"/>
                </a:solidFill>
                <a:latin typeface="Calibri" panose="020F0502020204030204" pitchFamily="34" charset="0"/>
                <a:cs typeface="Calibri" panose="020F0502020204030204" pitchFamily="34" charset="0"/>
              </a:rPr>
              <a:t>“</a:t>
            </a:r>
            <a:r>
              <a:rPr lang="en-GB" altLang="en-US" sz="2800" b="1" dirty="0">
                <a:solidFill>
                  <a:schemeClr val="bg1"/>
                </a:solidFill>
                <a:latin typeface="Calibri" panose="020F0502020204030204" pitchFamily="34" charset="0"/>
                <a:cs typeface="Calibri" panose="020F0502020204030204" pitchFamily="34" charset="0"/>
              </a:rPr>
              <a:t>CHO</a:t>
            </a:r>
            <a:r>
              <a:rPr lang="en-GB" altLang="en-US" sz="2800" dirty="0">
                <a:solidFill>
                  <a:schemeClr val="bg1"/>
                </a:solidFill>
                <a:latin typeface="Calibri" panose="020F0502020204030204" pitchFamily="34" charset="0"/>
                <a:cs typeface="Calibri" panose="020F0502020204030204" pitchFamily="34" charset="0"/>
              </a:rPr>
              <a:t>”</a:t>
            </a:r>
          </a:p>
        </p:txBody>
      </p:sp>
      <p:sp>
        <p:nvSpPr>
          <p:cNvPr id="14" name="AutoShape 14">
            <a:extLst>
              <a:ext uri="{FF2B5EF4-FFF2-40B4-BE49-F238E27FC236}">
                <a16:creationId xmlns:a16="http://schemas.microsoft.com/office/drawing/2014/main" id="{AA15C4DE-7737-9AB5-12D2-B89AEE72657E}"/>
              </a:ext>
            </a:extLst>
          </p:cNvPr>
          <p:cNvSpPr>
            <a:spLocks noChangeArrowheads="1"/>
          </p:cNvSpPr>
          <p:nvPr/>
        </p:nvSpPr>
        <p:spPr bwMode="auto">
          <a:xfrm rot="2050150">
            <a:off x="2503771" y="4165602"/>
            <a:ext cx="360363" cy="1150937"/>
          </a:xfrm>
          <a:prstGeom prst="downArrow">
            <a:avLst>
              <a:gd name="adj1" fmla="val 50000"/>
              <a:gd name="adj2" fmla="val 79846"/>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anose="020F0502020204030204" pitchFamily="34" charset="0"/>
              <a:cs typeface="Calibri" panose="020F0502020204030204" pitchFamily="34" charset="0"/>
            </a:endParaRPr>
          </a:p>
        </p:txBody>
      </p:sp>
      <p:sp>
        <p:nvSpPr>
          <p:cNvPr id="15" name="AutoShape 15">
            <a:extLst>
              <a:ext uri="{FF2B5EF4-FFF2-40B4-BE49-F238E27FC236}">
                <a16:creationId xmlns:a16="http://schemas.microsoft.com/office/drawing/2014/main" id="{D5BC6803-18A3-4F39-A277-FA5C182B4006}"/>
              </a:ext>
            </a:extLst>
          </p:cNvPr>
          <p:cNvSpPr>
            <a:spLocks noChangeArrowheads="1"/>
          </p:cNvSpPr>
          <p:nvPr/>
        </p:nvSpPr>
        <p:spPr bwMode="auto">
          <a:xfrm rot="-1810920">
            <a:off x="4951695" y="4165602"/>
            <a:ext cx="349250" cy="1150937"/>
          </a:xfrm>
          <a:prstGeom prst="downArrow">
            <a:avLst>
              <a:gd name="adj1" fmla="val 50000"/>
              <a:gd name="adj2" fmla="val 82386"/>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anose="020F0502020204030204" pitchFamily="34" charset="0"/>
              <a:cs typeface="Calibri" panose="020F0502020204030204" pitchFamily="34" charset="0"/>
            </a:endParaRPr>
          </a:p>
        </p:txBody>
      </p:sp>
      <p:sp>
        <p:nvSpPr>
          <p:cNvPr id="17" name="Text Box 11">
            <a:extLst>
              <a:ext uri="{FF2B5EF4-FFF2-40B4-BE49-F238E27FC236}">
                <a16:creationId xmlns:a16="http://schemas.microsoft.com/office/drawing/2014/main" id="{4FCC784D-6CFA-8CE0-CC96-7D379314FF0E}"/>
              </a:ext>
            </a:extLst>
          </p:cNvPr>
          <p:cNvSpPr txBox="1">
            <a:spLocks noChangeArrowheads="1"/>
          </p:cNvSpPr>
          <p:nvPr/>
        </p:nvSpPr>
        <p:spPr bwMode="auto">
          <a:xfrm>
            <a:off x="3224495" y="3805239"/>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a:solidFill>
                  <a:schemeClr val="bg1"/>
                </a:solidFill>
                <a:latin typeface="Calibri" panose="020F0502020204030204" pitchFamily="34" charset="0"/>
                <a:cs typeface="Calibri" panose="020F0502020204030204" pitchFamily="34" charset="0"/>
              </a:rPr>
              <a:t>Pyruvate</a:t>
            </a:r>
          </a:p>
        </p:txBody>
      </p:sp>
      <p:sp>
        <p:nvSpPr>
          <p:cNvPr id="18" name="Text Box 11">
            <a:extLst>
              <a:ext uri="{FF2B5EF4-FFF2-40B4-BE49-F238E27FC236}">
                <a16:creationId xmlns:a16="http://schemas.microsoft.com/office/drawing/2014/main" id="{8977EE31-D053-6B8A-F637-5B60D449177D}"/>
              </a:ext>
            </a:extLst>
          </p:cNvPr>
          <p:cNvSpPr txBox="1">
            <a:spLocks noChangeArrowheads="1"/>
          </p:cNvSpPr>
          <p:nvPr/>
        </p:nvSpPr>
        <p:spPr bwMode="auto">
          <a:xfrm>
            <a:off x="687000" y="5351318"/>
            <a:ext cx="1800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dirty="0">
                <a:solidFill>
                  <a:schemeClr val="bg1"/>
                </a:solidFill>
                <a:latin typeface="Calibri" panose="020F0502020204030204" pitchFamily="34" charset="0"/>
                <a:cs typeface="Calibri" panose="020F0502020204030204" pitchFamily="34" charset="0"/>
              </a:rPr>
              <a:t>Lactic acid</a:t>
            </a:r>
          </a:p>
        </p:txBody>
      </p:sp>
      <p:sp>
        <p:nvSpPr>
          <p:cNvPr id="19" name="Text Box 11">
            <a:extLst>
              <a:ext uri="{FF2B5EF4-FFF2-40B4-BE49-F238E27FC236}">
                <a16:creationId xmlns:a16="http://schemas.microsoft.com/office/drawing/2014/main" id="{0CC4174A-0E54-9E0E-57C7-A04B42E5D44D}"/>
              </a:ext>
            </a:extLst>
          </p:cNvPr>
          <p:cNvSpPr txBox="1">
            <a:spLocks noChangeArrowheads="1"/>
          </p:cNvSpPr>
          <p:nvPr/>
        </p:nvSpPr>
        <p:spPr bwMode="auto">
          <a:xfrm>
            <a:off x="5026859" y="5351318"/>
            <a:ext cx="1944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800">
                <a:solidFill>
                  <a:schemeClr val="bg1"/>
                </a:solidFill>
                <a:latin typeface="Calibri" panose="020F0502020204030204" pitchFamily="34" charset="0"/>
                <a:cs typeface="Calibri" panose="020F0502020204030204" pitchFamily="34" charset="0"/>
              </a:rPr>
              <a:t>Krebs cycle</a:t>
            </a:r>
          </a:p>
        </p:txBody>
      </p:sp>
      <p:sp>
        <p:nvSpPr>
          <p:cNvPr id="20" name="TextBox 19">
            <a:extLst>
              <a:ext uri="{FF2B5EF4-FFF2-40B4-BE49-F238E27FC236}">
                <a16:creationId xmlns:a16="http://schemas.microsoft.com/office/drawing/2014/main" id="{79A85E4D-7A64-A028-805A-A2363CD2DB38}"/>
              </a:ext>
            </a:extLst>
          </p:cNvPr>
          <p:cNvSpPr txBox="1"/>
          <p:nvPr/>
        </p:nvSpPr>
        <p:spPr>
          <a:xfrm>
            <a:off x="798795" y="4462463"/>
            <a:ext cx="1404938" cy="831850"/>
          </a:xfrm>
          <a:prstGeom prst="rect">
            <a:avLst/>
          </a:prstGeom>
          <a:solidFill>
            <a:schemeClr val="accent2">
              <a:lumMod val="60000"/>
              <a:lumOff val="40000"/>
            </a:schemeClr>
          </a:solidFill>
        </p:spPr>
        <p:txBody>
          <a:bodyPr>
            <a:spAutoFit/>
          </a:bodyPr>
          <a:lstStyle/>
          <a:p>
            <a:pPr algn="ctr">
              <a:defRPr/>
            </a:pPr>
            <a:r>
              <a:rPr lang="en-GB" sz="2400" dirty="0">
                <a:latin typeface="Calibri" panose="020F0502020204030204" pitchFamily="34" charset="0"/>
                <a:cs typeface="Calibri" panose="020F0502020204030204" pitchFamily="34" charset="0"/>
              </a:rPr>
              <a:t>No oxygen</a:t>
            </a:r>
          </a:p>
        </p:txBody>
      </p:sp>
      <p:sp>
        <p:nvSpPr>
          <p:cNvPr id="21" name="TextBox 15">
            <a:extLst>
              <a:ext uri="{FF2B5EF4-FFF2-40B4-BE49-F238E27FC236}">
                <a16:creationId xmlns:a16="http://schemas.microsoft.com/office/drawing/2014/main" id="{21387CF0-96D8-8A09-0892-75457795A1A8}"/>
              </a:ext>
            </a:extLst>
          </p:cNvPr>
          <p:cNvSpPr txBox="1">
            <a:spLocks noChangeArrowheads="1"/>
          </p:cNvSpPr>
          <p:nvPr/>
        </p:nvSpPr>
        <p:spPr bwMode="auto">
          <a:xfrm>
            <a:off x="5635909" y="4856164"/>
            <a:ext cx="1404937" cy="461963"/>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2400">
                <a:latin typeface="Calibri" panose="020F0502020204030204" pitchFamily="34" charset="0"/>
                <a:cs typeface="Calibri" panose="020F0502020204030204" pitchFamily="34" charset="0"/>
              </a:rPr>
              <a:t>Oxygen</a:t>
            </a:r>
          </a:p>
        </p:txBody>
      </p:sp>
      <p:sp>
        <p:nvSpPr>
          <p:cNvPr id="22" name="Text Box 11">
            <a:extLst>
              <a:ext uri="{FF2B5EF4-FFF2-40B4-BE49-F238E27FC236}">
                <a16:creationId xmlns:a16="http://schemas.microsoft.com/office/drawing/2014/main" id="{2F0AB763-3E54-6823-CAD9-76005C7E98AF}"/>
              </a:ext>
            </a:extLst>
          </p:cNvPr>
          <p:cNvSpPr txBox="1">
            <a:spLocks noChangeArrowheads="1"/>
          </p:cNvSpPr>
          <p:nvPr/>
        </p:nvSpPr>
        <p:spPr bwMode="auto">
          <a:xfrm>
            <a:off x="194443" y="2270572"/>
            <a:ext cx="28840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n-GB" altLang="en-US" sz="2200" dirty="0">
                <a:solidFill>
                  <a:schemeClr val="bg1"/>
                </a:solidFill>
                <a:latin typeface="Calibri" panose="020F0502020204030204" pitchFamily="34" charset="0"/>
                <a:cs typeface="Calibri" panose="020F0502020204030204" pitchFamily="34" charset="0"/>
              </a:rPr>
              <a:t>ATP Synthesised</a:t>
            </a:r>
          </a:p>
        </p:txBody>
      </p:sp>
      <p:sp>
        <p:nvSpPr>
          <p:cNvPr id="23" name="Text Box 11">
            <a:extLst>
              <a:ext uri="{FF2B5EF4-FFF2-40B4-BE49-F238E27FC236}">
                <a16:creationId xmlns:a16="http://schemas.microsoft.com/office/drawing/2014/main" id="{2587DE19-93AB-25C9-EE78-BA4E14E2E2F3}"/>
              </a:ext>
            </a:extLst>
          </p:cNvPr>
          <p:cNvSpPr txBox="1">
            <a:spLocks noChangeArrowheads="1"/>
          </p:cNvSpPr>
          <p:nvPr/>
        </p:nvSpPr>
        <p:spPr bwMode="auto">
          <a:xfrm>
            <a:off x="5529545" y="2054077"/>
            <a:ext cx="197035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GB" altLang="en-US" sz="2200" dirty="0">
                <a:solidFill>
                  <a:schemeClr val="bg1"/>
                </a:solidFill>
                <a:latin typeface="Calibri" panose="020F0502020204030204" pitchFamily="34" charset="0"/>
                <a:cs typeface="Calibri" panose="020F0502020204030204" pitchFamily="34" charset="0"/>
              </a:rPr>
              <a:t>10 Enzyme Controlled Reactions</a:t>
            </a:r>
          </a:p>
        </p:txBody>
      </p:sp>
      <p:pic>
        <p:nvPicPr>
          <p:cNvPr id="24" name="Picture 23">
            <a:extLst>
              <a:ext uri="{FF2B5EF4-FFF2-40B4-BE49-F238E27FC236}">
                <a16:creationId xmlns:a16="http://schemas.microsoft.com/office/drawing/2014/main" id="{49B5B2FC-C0C7-E236-FDA3-1206F3139B72}"/>
              </a:ext>
            </a:extLst>
          </p:cNvPr>
          <p:cNvPicPr>
            <a:picLocks noChangeAspect="1"/>
          </p:cNvPicPr>
          <p:nvPr/>
        </p:nvPicPr>
        <p:blipFill>
          <a:blip r:embed="rId3"/>
          <a:stretch>
            <a:fillRect/>
          </a:stretch>
        </p:blipFill>
        <p:spPr>
          <a:xfrm>
            <a:off x="7788826" y="1195693"/>
            <a:ext cx="5457624" cy="5219092"/>
          </a:xfrm>
          <a:prstGeom prst="rect">
            <a:avLst/>
          </a:prstGeom>
        </p:spPr>
      </p:pic>
      <p:sp>
        <p:nvSpPr>
          <p:cNvPr id="25" name="Oval 24">
            <a:extLst>
              <a:ext uri="{FF2B5EF4-FFF2-40B4-BE49-F238E27FC236}">
                <a16:creationId xmlns:a16="http://schemas.microsoft.com/office/drawing/2014/main" id="{57C79353-7DD8-B430-BA2C-EC58D3262D4B}"/>
              </a:ext>
            </a:extLst>
          </p:cNvPr>
          <p:cNvSpPr/>
          <p:nvPr/>
        </p:nvSpPr>
        <p:spPr>
          <a:xfrm>
            <a:off x="4808820" y="4462463"/>
            <a:ext cx="2859306" cy="195232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962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Aerobic Pathways</a:t>
            </a:r>
          </a:p>
        </p:txBody>
      </p:sp>
      <p:pic>
        <p:nvPicPr>
          <p:cNvPr id="4" name="Picture 3">
            <a:extLst>
              <a:ext uri="{FF2B5EF4-FFF2-40B4-BE49-F238E27FC236}">
                <a16:creationId xmlns:a16="http://schemas.microsoft.com/office/drawing/2014/main" id="{B231A37F-9950-C910-7E8D-8BC1C6026C81}"/>
              </a:ext>
            </a:extLst>
          </p:cNvPr>
          <p:cNvPicPr>
            <a:picLocks noChangeAspect="1"/>
          </p:cNvPicPr>
          <p:nvPr/>
        </p:nvPicPr>
        <p:blipFill>
          <a:blip r:embed="rId3"/>
          <a:stretch>
            <a:fillRect/>
          </a:stretch>
        </p:blipFill>
        <p:spPr>
          <a:xfrm>
            <a:off x="2215816" y="1678909"/>
            <a:ext cx="7760368" cy="4753694"/>
          </a:xfrm>
          <a:prstGeom prst="rect">
            <a:avLst/>
          </a:prstGeom>
        </p:spPr>
      </p:pic>
      <p:sp>
        <p:nvSpPr>
          <p:cNvPr id="12" name="Freeform 11">
            <a:extLst>
              <a:ext uri="{FF2B5EF4-FFF2-40B4-BE49-F238E27FC236}">
                <a16:creationId xmlns:a16="http://schemas.microsoft.com/office/drawing/2014/main" id="{8AB46BA0-A508-3994-83AF-54D4369C287B}"/>
              </a:ext>
            </a:extLst>
          </p:cNvPr>
          <p:cNvSpPr/>
          <p:nvPr/>
        </p:nvSpPr>
        <p:spPr>
          <a:xfrm>
            <a:off x="3433011" y="3004472"/>
            <a:ext cx="5694947" cy="2337549"/>
          </a:xfrm>
          <a:custGeom>
            <a:avLst/>
            <a:gdLst>
              <a:gd name="connsiteX0" fmla="*/ 0 w 5694947"/>
              <a:gd name="connsiteY0" fmla="*/ 2262869 h 2262869"/>
              <a:gd name="connsiteX1" fmla="*/ 32084 w 5694947"/>
              <a:gd name="connsiteY1" fmla="*/ 2134532 h 2262869"/>
              <a:gd name="connsiteX2" fmla="*/ 80210 w 5694947"/>
              <a:gd name="connsiteY2" fmla="*/ 2086406 h 2262869"/>
              <a:gd name="connsiteX3" fmla="*/ 112294 w 5694947"/>
              <a:gd name="connsiteY3" fmla="*/ 2038280 h 2262869"/>
              <a:gd name="connsiteX4" fmla="*/ 176463 w 5694947"/>
              <a:gd name="connsiteY4" fmla="*/ 1974111 h 2262869"/>
              <a:gd name="connsiteX5" fmla="*/ 272715 w 5694947"/>
              <a:gd name="connsiteY5" fmla="*/ 1877859 h 2262869"/>
              <a:gd name="connsiteX6" fmla="*/ 401052 w 5694947"/>
              <a:gd name="connsiteY6" fmla="*/ 1749522 h 2262869"/>
              <a:gd name="connsiteX7" fmla="*/ 433136 w 5694947"/>
              <a:gd name="connsiteY7" fmla="*/ 1717437 h 2262869"/>
              <a:gd name="connsiteX8" fmla="*/ 497305 w 5694947"/>
              <a:gd name="connsiteY8" fmla="*/ 1621185 h 2262869"/>
              <a:gd name="connsiteX9" fmla="*/ 577515 w 5694947"/>
              <a:gd name="connsiteY9" fmla="*/ 1540974 h 2262869"/>
              <a:gd name="connsiteX10" fmla="*/ 609600 w 5694947"/>
              <a:gd name="connsiteY10" fmla="*/ 1492848 h 2262869"/>
              <a:gd name="connsiteX11" fmla="*/ 705852 w 5694947"/>
              <a:gd name="connsiteY11" fmla="*/ 1428680 h 2262869"/>
              <a:gd name="connsiteX12" fmla="*/ 850231 w 5694947"/>
              <a:gd name="connsiteY12" fmla="*/ 1332427 h 2262869"/>
              <a:gd name="connsiteX13" fmla="*/ 898357 w 5694947"/>
              <a:gd name="connsiteY13" fmla="*/ 1300343 h 2262869"/>
              <a:gd name="connsiteX14" fmla="*/ 962526 w 5694947"/>
              <a:gd name="connsiteY14" fmla="*/ 1236174 h 2262869"/>
              <a:gd name="connsiteX15" fmla="*/ 1010652 w 5694947"/>
              <a:gd name="connsiteY15" fmla="*/ 1220132 h 2262869"/>
              <a:gd name="connsiteX16" fmla="*/ 1090863 w 5694947"/>
              <a:gd name="connsiteY16" fmla="*/ 1139922 h 2262869"/>
              <a:gd name="connsiteX17" fmla="*/ 1122947 w 5694947"/>
              <a:gd name="connsiteY17" fmla="*/ 1107837 h 2262869"/>
              <a:gd name="connsiteX18" fmla="*/ 1171073 w 5694947"/>
              <a:gd name="connsiteY18" fmla="*/ 1091795 h 2262869"/>
              <a:gd name="connsiteX19" fmla="*/ 1267326 w 5694947"/>
              <a:gd name="connsiteY19" fmla="*/ 1027627 h 2262869"/>
              <a:gd name="connsiteX20" fmla="*/ 1315452 w 5694947"/>
              <a:gd name="connsiteY20" fmla="*/ 995543 h 2262869"/>
              <a:gd name="connsiteX21" fmla="*/ 1363578 w 5694947"/>
              <a:gd name="connsiteY21" fmla="*/ 979501 h 2262869"/>
              <a:gd name="connsiteX22" fmla="*/ 1459831 w 5694947"/>
              <a:gd name="connsiteY22" fmla="*/ 931374 h 2262869"/>
              <a:gd name="connsiteX23" fmla="*/ 1507957 w 5694947"/>
              <a:gd name="connsiteY23" fmla="*/ 899290 h 2262869"/>
              <a:gd name="connsiteX24" fmla="*/ 1604210 w 5694947"/>
              <a:gd name="connsiteY24" fmla="*/ 867206 h 2262869"/>
              <a:gd name="connsiteX25" fmla="*/ 1700463 w 5694947"/>
              <a:gd name="connsiteY25" fmla="*/ 835122 h 2262869"/>
              <a:gd name="connsiteX26" fmla="*/ 1748589 w 5694947"/>
              <a:gd name="connsiteY26" fmla="*/ 819080 h 2262869"/>
              <a:gd name="connsiteX27" fmla="*/ 1828800 w 5694947"/>
              <a:gd name="connsiteY27" fmla="*/ 754911 h 2262869"/>
              <a:gd name="connsiteX28" fmla="*/ 1876926 w 5694947"/>
              <a:gd name="connsiteY28" fmla="*/ 738869 h 2262869"/>
              <a:gd name="connsiteX29" fmla="*/ 1925052 w 5694947"/>
              <a:gd name="connsiteY29" fmla="*/ 706785 h 2262869"/>
              <a:gd name="connsiteX30" fmla="*/ 2101515 w 5694947"/>
              <a:gd name="connsiteY30" fmla="*/ 658659 h 2262869"/>
              <a:gd name="connsiteX31" fmla="*/ 2197768 w 5694947"/>
              <a:gd name="connsiteY31" fmla="*/ 626574 h 2262869"/>
              <a:gd name="connsiteX32" fmla="*/ 2277978 w 5694947"/>
              <a:gd name="connsiteY32" fmla="*/ 610532 h 2262869"/>
              <a:gd name="connsiteX33" fmla="*/ 2406315 w 5694947"/>
              <a:gd name="connsiteY33" fmla="*/ 578448 h 2262869"/>
              <a:gd name="connsiteX34" fmla="*/ 2614863 w 5694947"/>
              <a:gd name="connsiteY34" fmla="*/ 530322 h 2262869"/>
              <a:gd name="connsiteX35" fmla="*/ 2903621 w 5694947"/>
              <a:gd name="connsiteY35" fmla="*/ 434069 h 2262869"/>
              <a:gd name="connsiteX36" fmla="*/ 2999873 w 5694947"/>
              <a:gd name="connsiteY36" fmla="*/ 401985 h 2262869"/>
              <a:gd name="connsiteX37" fmla="*/ 3048000 w 5694947"/>
              <a:gd name="connsiteY37" fmla="*/ 385943 h 2262869"/>
              <a:gd name="connsiteX38" fmla="*/ 3240505 w 5694947"/>
              <a:gd name="connsiteY38" fmla="*/ 353859 h 2262869"/>
              <a:gd name="connsiteX39" fmla="*/ 3320715 w 5694947"/>
              <a:gd name="connsiteY39" fmla="*/ 337816 h 2262869"/>
              <a:gd name="connsiteX40" fmla="*/ 3593431 w 5694947"/>
              <a:gd name="connsiteY40" fmla="*/ 305732 h 2262869"/>
              <a:gd name="connsiteX41" fmla="*/ 3801978 w 5694947"/>
              <a:gd name="connsiteY41" fmla="*/ 273648 h 2262869"/>
              <a:gd name="connsiteX42" fmla="*/ 3962400 w 5694947"/>
              <a:gd name="connsiteY42" fmla="*/ 241564 h 2262869"/>
              <a:gd name="connsiteX43" fmla="*/ 4042610 w 5694947"/>
              <a:gd name="connsiteY43" fmla="*/ 225522 h 2262869"/>
              <a:gd name="connsiteX44" fmla="*/ 4186989 w 5694947"/>
              <a:gd name="connsiteY44" fmla="*/ 177395 h 2262869"/>
              <a:gd name="connsiteX45" fmla="*/ 4283242 w 5694947"/>
              <a:gd name="connsiteY45" fmla="*/ 145311 h 2262869"/>
              <a:gd name="connsiteX46" fmla="*/ 4331368 w 5694947"/>
              <a:gd name="connsiteY46" fmla="*/ 129269 h 2262869"/>
              <a:gd name="connsiteX47" fmla="*/ 4475747 w 5694947"/>
              <a:gd name="connsiteY47" fmla="*/ 97185 h 2262869"/>
              <a:gd name="connsiteX48" fmla="*/ 4572000 w 5694947"/>
              <a:gd name="connsiteY48" fmla="*/ 81143 h 2262869"/>
              <a:gd name="connsiteX49" fmla="*/ 5438273 w 5694947"/>
              <a:gd name="connsiteY49" fmla="*/ 49059 h 2262869"/>
              <a:gd name="connsiteX50" fmla="*/ 5550568 w 5694947"/>
              <a:gd name="connsiteY50" fmla="*/ 33016 h 2262869"/>
              <a:gd name="connsiteX51" fmla="*/ 5614736 w 5694947"/>
              <a:gd name="connsiteY51" fmla="*/ 16974 h 2262869"/>
              <a:gd name="connsiteX52" fmla="*/ 5662863 w 5694947"/>
              <a:gd name="connsiteY52" fmla="*/ 932 h 2262869"/>
              <a:gd name="connsiteX53" fmla="*/ 5694947 w 5694947"/>
              <a:gd name="connsiteY53" fmla="*/ 932 h 226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694947" h="2262869">
                <a:moveTo>
                  <a:pt x="0" y="2262869"/>
                </a:moveTo>
                <a:cubicBezTo>
                  <a:pt x="2314" y="2251300"/>
                  <a:pt x="17991" y="2155672"/>
                  <a:pt x="32084" y="2134532"/>
                </a:cubicBezTo>
                <a:cubicBezTo>
                  <a:pt x="44668" y="2115655"/>
                  <a:pt x="65686" y="2103834"/>
                  <a:pt x="80210" y="2086406"/>
                </a:cubicBezTo>
                <a:cubicBezTo>
                  <a:pt x="92553" y="2071595"/>
                  <a:pt x="99747" y="2052919"/>
                  <a:pt x="112294" y="2038280"/>
                </a:cubicBezTo>
                <a:cubicBezTo>
                  <a:pt x="131980" y="2015313"/>
                  <a:pt x="155073" y="1995501"/>
                  <a:pt x="176463" y="1974111"/>
                </a:cubicBezTo>
                <a:lnTo>
                  <a:pt x="272715" y="1877859"/>
                </a:lnTo>
                <a:lnTo>
                  <a:pt x="401052" y="1749522"/>
                </a:lnTo>
                <a:cubicBezTo>
                  <a:pt x="411747" y="1738827"/>
                  <a:pt x="424746" y="1730022"/>
                  <a:pt x="433136" y="1717437"/>
                </a:cubicBezTo>
                <a:cubicBezTo>
                  <a:pt x="454526" y="1685353"/>
                  <a:pt x="470039" y="1648451"/>
                  <a:pt x="497305" y="1621185"/>
                </a:cubicBezTo>
                <a:cubicBezTo>
                  <a:pt x="524042" y="1594448"/>
                  <a:pt x="556540" y="1572435"/>
                  <a:pt x="577515" y="1540974"/>
                </a:cubicBezTo>
                <a:cubicBezTo>
                  <a:pt x="588210" y="1524932"/>
                  <a:pt x="595090" y="1505544"/>
                  <a:pt x="609600" y="1492848"/>
                </a:cubicBezTo>
                <a:cubicBezTo>
                  <a:pt x="638620" y="1467456"/>
                  <a:pt x="673768" y="1450069"/>
                  <a:pt x="705852" y="1428680"/>
                </a:cubicBezTo>
                <a:lnTo>
                  <a:pt x="850231" y="1332427"/>
                </a:lnTo>
                <a:cubicBezTo>
                  <a:pt x="866273" y="1321732"/>
                  <a:pt x="884724" y="1313976"/>
                  <a:pt x="898357" y="1300343"/>
                </a:cubicBezTo>
                <a:cubicBezTo>
                  <a:pt x="919747" y="1278953"/>
                  <a:pt x="933829" y="1245740"/>
                  <a:pt x="962526" y="1236174"/>
                </a:cubicBezTo>
                <a:lnTo>
                  <a:pt x="1010652" y="1220132"/>
                </a:lnTo>
                <a:lnTo>
                  <a:pt x="1090863" y="1139922"/>
                </a:lnTo>
                <a:cubicBezTo>
                  <a:pt x="1101558" y="1129227"/>
                  <a:pt x="1108598" y="1112620"/>
                  <a:pt x="1122947" y="1107837"/>
                </a:cubicBezTo>
                <a:cubicBezTo>
                  <a:pt x="1138989" y="1102490"/>
                  <a:pt x="1156291" y="1100007"/>
                  <a:pt x="1171073" y="1091795"/>
                </a:cubicBezTo>
                <a:cubicBezTo>
                  <a:pt x="1204781" y="1073068"/>
                  <a:pt x="1235242" y="1049016"/>
                  <a:pt x="1267326" y="1027627"/>
                </a:cubicBezTo>
                <a:cubicBezTo>
                  <a:pt x="1283368" y="1016932"/>
                  <a:pt x="1297161" y="1001640"/>
                  <a:pt x="1315452" y="995543"/>
                </a:cubicBezTo>
                <a:lnTo>
                  <a:pt x="1363578" y="979501"/>
                </a:lnTo>
                <a:cubicBezTo>
                  <a:pt x="1501501" y="887552"/>
                  <a:pt x="1326999" y="997790"/>
                  <a:pt x="1459831" y="931374"/>
                </a:cubicBezTo>
                <a:cubicBezTo>
                  <a:pt x="1477076" y="922752"/>
                  <a:pt x="1490339" y="907120"/>
                  <a:pt x="1507957" y="899290"/>
                </a:cubicBezTo>
                <a:cubicBezTo>
                  <a:pt x="1538862" y="885555"/>
                  <a:pt x="1572126" y="877901"/>
                  <a:pt x="1604210" y="867206"/>
                </a:cubicBezTo>
                <a:lnTo>
                  <a:pt x="1700463" y="835122"/>
                </a:lnTo>
                <a:lnTo>
                  <a:pt x="1748589" y="819080"/>
                </a:lnTo>
                <a:cubicBezTo>
                  <a:pt x="1778433" y="789235"/>
                  <a:pt x="1788323" y="775149"/>
                  <a:pt x="1828800" y="754911"/>
                </a:cubicBezTo>
                <a:cubicBezTo>
                  <a:pt x="1843925" y="747349"/>
                  <a:pt x="1861801" y="746431"/>
                  <a:pt x="1876926" y="738869"/>
                </a:cubicBezTo>
                <a:cubicBezTo>
                  <a:pt x="1894171" y="730247"/>
                  <a:pt x="1907434" y="714615"/>
                  <a:pt x="1925052" y="706785"/>
                </a:cubicBezTo>
                <a:cubicBezTo>
                  <a:pt x="2027714" y="661158"/>
                  <a:pt x="2003830" y="685301"/>
                  <a:pt x="2101515" y="658659"/>
                </a:cubicBezTo>
                <a:cubicBezTo>
                  <a:pt x="2134143" y="649760"/>
                  <a:pt x="2164605" y="633207"/>
                  <a:pt x="2197768" y="626574"/>
                </a:cubicBezTo>
                <a:cubicBezTo>
                  <a:pt x="2224505" y="621227"/>
                  <a:pt x="2251410" y="616663"/>
                  <a:pt x="2277978" y="610532"/>
                </a:cubicBezTo>
                <a:cubicBezTo>
                  <a:pt x="2320944" y="600617"/>
                  <a:pt x="2363076" y="587096"/>
                  <a:pt x="2406315" y="578448"/>
                </a:cubicBezTo>
                <a:cubicBezTo>
                  <a:pt x="2469941" y="565723"/>
                  <a:pt x="2556822" y="549670"/>
                  <a:pt x="2614863" y="530322"/>
                </a:cubicBezTo>
                <a:lnTo>
                  <a:pt x="2903621" y="434069"/>
                </a:lnTo>
                <a:lnTo>
                  <a:pt x="2999873" y="401985"/>
                </a:lnTo>
                <a:cubicBezTo>
                  <a:pt x="3015915" y="396638"/>
                  <a:pt x="3031418" y="389259"/>
                  <a:pt x="3048000" y="385943"/>
                </a:cubicBezTo>
                <a:cubicBezTo>
                  <a:pt x="3237057" y="348132"/>
                  <a:pt x="3001691" y="393662"/>
                  <a:pt x="3240505" y="353859"/>
                </a:cubicBezTo>
                <a:cubicBezTo>
                  <a:pt x="3267400" y="349376"/>
                  <a:pt x="3293820" y="342299"/>
                  <a:pt x="3320715" y="337816"/>
                </a:cubicBezTo>
                <a:cubicBezTo>
                  <a:pt x="3455974" y="315272"/>
                  <a:pt x="3438359" y="323976"/>
                  <a:pt x="3593431" y="305732"/>
                </a:cubicBezTo>
                <a:cubicBezTo>
                  <a:pt x="3639478" y="300315"/>
                  <a:pt x="3753116" y="282810"/>
                  <a:pt x="3801978" y="273648"/>
                </a:cubicBezTo>
                <a:cubicBezTo>
                  <a:pt x="3855577" y="263598"/>
                  <a:pt x="3908926" y="252259"/>
                  <a:pt x="3962400" y="241564"/>
                </a:cubicBezTo>
                <a:lnTo>
                  <a:pt x="4042610" y="225522"/>
                </a:lnTo>
                <a:cubicBezTo>
                  <a:pt x="4160256" y="166697"/>
                  <a:pt x="4050160" y="214712"/>
                  <a:pt x="4186989" y="177395"/>
                </a:cubicBezTo>
                <a:cubicBezTo>
                  <a:pt x="4219617" y="168497"/>
                  <a:pt x="4251158" y="156006"/>
                  <a:pt x="4283242" y="145311"/>
                </a:cubicBezTo>
                <a:cubicBezTo>
                  <a:pt x="4299284" y="139964"/>
                  <a:pt x="4314963" y="133370"/>
                  <a:pt x="4331368" y="129269"/>
                </a:cubicBezTo>
                <a:cubicBezTo>
                  <a:pt x="4400032" y="112103"/>
                  <a:pt x="4401070" y="110763"/>
                  <a:pt x="4475747" y="97185"/>
                </a:cubicBezTo>
                <a:cubicBezTo>
                  <a:pt x="4507749" y="91366"/>
                  <a:pt x="4539635" y="84380"/>
                  <a:pt x="4572000" y="81143"/>
                </a:cubicBezTo>
                <a:cubicBezTo>
                  <a:pt x="4843148" y="54028"/>
                  <a:pt x="5197237" y="55085"/>
                  <a:pt x="5438273" y="49059"/>
                </a:cubicBezTo>
                <a:cubicBezTo>
                  <a:pt x="5475705" y="43711"/>
                  <a:pt x="5513366" y="39780"/>
                  <a:pt x="5550568" y="33016"/>
                </a:cubicBezTo>
                <a:cubicBezTo>
                  <a:pt x="5572260" y="29072"/>
                  <a:pt x="5593537" y="23031"/>
                  <a:pt x="5614736" y="16974"/>
                </a:cubicBezTo>
                <a:cubicBezTo>
                  <a:pt x="5630995" y="12328"/>
                  <a:pt x="5646281" y="4248"/>
                  <a:pt x="5662863" y="932"/>
                </a:cubicBezTo>
                <a:cubicBezTo>
                  <a:pt x="5673350" y="-1165"/>
                  <a:pt x="5684252" y="932"/>
                  <a:pt x="5694947" y="932"/>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9854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Aerobic Pathways</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758156"/>
            <a:ext cx="5578642" cy="4734719"/>
          </a:xfrm>
        </p:spPr>
        <p:txBody>
          <a:bodyPr>
            <a:normAutofit/>
          </a:bodyPr>
          <a:lstStyle/>
          <a:p>
            <a:r>
              <a:rPr lang="en-GB" sz="2400" dirty="0">
                <a:latin typeface="Calibri" panose="020F0502020204030204" pitchFamily="34" charset="0"/>
                <a:cs typeface="Calibri" panose="020F0502020204030204" pitchFamily="34" charset="0"/>
              </a:rPr>
              <a:t>Krebs cycle (or citric acid cycle) consists of a series of reactions that result in a net production of (per molecule of glucose): </a:t>
            </a: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2 x ATP ( = 2 ATP from glycolysis) = </a:t>
            </a:r>
            <a:r>
              <a:rPr lang="en-GB" sz="2400" b="1" dirty="0">
                <a:latin typeface="Calibri" panose="020F0502020204030204" pitchFamily="34" charset="0"/>
                <a:cs typeface="Calibri" panose="020F0502020204030204" pitchFamily="34" charset="0"/>
              </a:rPr>
              <a:t>4 ATP</a:t>
            </a:r>
          </a:p>
          <a:p>
            <a:r>
              <a:rPr lang="en-GB" sz="2400" dirty="0">
                <a:latin typeface="Calibri" panose="020F0502020204030204" pitchFamily="34" charset="0"/>
                <a:cs typeface="Calibri" panose="020F0502020204030204" pitchFamily="34" charset="0"/>
              </a:rPr>
              <a:t>6 x NADH (+ 4 NADH from glycolysis) = 10 NADHs ≈ </a:t>
            </a:r>
            <a:r>
              <a:rPr lang="en-GB" sz="2400" b="1" dirty="0">
                <a:latin typeface="Calibri" panose="020F0502020204030204" pitchFamily="34" charset="0"/>
                <a:cs typeface="Calibri" panose="020F0502020204030204" pitchFamily="34" charset="0"/>
              </a:rPr>
              <a:t>30 ATP </a:t>
            </a:r>
          </a:p>
          <a:p>
            <a:r>
              <a:rPr lang="en-GB" sz="2400" dirty="0">
                <a:latin typeface="Calibri" panose="020F0502020204030204" pitchFamily="34" charset="0"/>
                <a:cs typeface="Calibri" panose="020F0502020204030204" pitchFamily="34" charset="0"/>
              </a:rPr>
              <a:t>2 x FADH</a:t>
            </a:r>
            <a:r>
              <a:rPr lang="en-GB" sz="2400" baseline="-25000" dirty="0">
                <a:latin typeface="Calibri" panose="020F0502020204030204" pitchFamily="34" charset="0"/>
                <a:cs typeface="Calibri" panose="020F0502020204030204" pitchFamily="34" charset="0"/>
              </a:rPr>
              <a:t>2 </a:t>
            </a:r>
            <a:r>
              <a:rPr lang="en-GB" sz="2400" dirty="0">
                <a:latin typeface="Calibri" panose="020F0502020204030204" pitchFamily="34" charset="0"/>
                <a:cs typeface="Calibri" panose="020F0502020204030204" pitchFamily="34" charset="0"/>
              </a:rPr>
              <a:t>≈ </a:t>
            </a:r>
            <a:r>
              <a:rPr lang="en-GB" sz="2400" b="1" dirty="0">
                <a:latin typeface="Calibri" panose="020F0502020204030204" pitchFamily="34" charset="0"/>
                <a:cs typeface="Calibri" panose="020F0502020204030204" pitchFamily="34" charset="0"/>
              </a:rPr>
              <a:t>4 ATP </a:t>
            </a:r>
          </a:p>
          <a:p>
            <a:r>
              <a:rPr lang="en-GB" sz="2400" b="1" dirty="0">
                <a:latin typeface="Calibri" panose="020F0502020204030204" pitchFamily="34" charset="0"/>
                <a:cs typeface="Calibri" panose="020F0502020204030204" pitchFamily="34" charset="0"/>
              </a:rPr>
              <a:t>38 ATPs produced from complete oxidation of glucose (Krebs and Electron Transport Chain)</a:t>
            </a:r>
          </a:p>
        </p:txBody>
      </p:sp>
      <p:pic>
        <p:nvPicPr>
          <p:cNvPr id="5" name="Picture 2" descr="In Eukaryotic Cells The Krebs Cycle Occurs In The - Jinda Olm">
            <a:extLst>
              <a:ext uri="{FF2B5EF4-FFF2-40B4-BE49-F238E27FC236}">
                <a16:creationId xmlns:a16="http://schemas.microsoft.com/office/drawing/2014/main" id="{7FD1C2B2-07BA-A1EF-E804-B7519C4C1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2688" y="1396667"/>
            <a:ext cx="4921520" cy="54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3718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Aerobic Pathways</a:t>
            </a:r>
          </a:p>
        </p:txBody>
      </p:sp>
      <p:sp>
        <p:nvSpPr>
          <p:cNvPr id="7" name="Rectangle 6">
            <a:extLst>
              <a:ext uri="{FF2B5EF4-FFF2-40B4-BE49-F238E27FC236}">
                <a16:creationId xmlns:a16="http://schemas.microsoft.com/office/drawing/2014/main" id="{47E94EF6-5DA0-AC44-127B-CB6C926032F9}"/>
              </a:ext>
            </a:extLst>
          </p:cNvPr>
          <p:cNvSpPr/>
          <p:nvPr/>
        </p:nvSpPr>
        <p:spPr>
          <a:xfrm>
            <a:off x="7792794" y="424198"/>
            <a:ext cx="2448272" cy="79208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Triglyceride</a:t>
            </a:r>
          </a:p>
        </p:txBody>
      </p:sp>
      <p:cxnSp>
        <p:nvCxnSpPr>
          <p:cNvPr id="8" name="Straight Arrow Connector 7">
            <a:extLst>
              <a:ext uri="{FF2B5EF4-FFF2-40B4-BE49-F238E27FC236}">
                <a16:creationId xmlns:a16="http://schemas.microsoft.com/office/drawing/2014/main" id="{FB700B36-E15F-DF15-F3DA-E27BC77CD015}"/>
              </a:ext>
            </a:extLst>
          </p:cNvPr>
          <p:cNvCxnSpPr/>
          <p:nvPr/>
        </p:nvCxnSpPr>
        <p:spPr>
          <a:xfrm flipH="1">
            <a:off x="7248413" y="1220123"/>
            <a:ext cx="504056" cy="504056"/>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5A15FB7-0ED6-9C3B-2CA8-AD184C8C4C7A}"/>
              </a:ext>
            </a:extLst>
          </p:cNvPr>
          <p:cNvCxnSpPr/>
          <p:nvPr/>
        </p:nvCxnSpPr>
        <p:spPr>
          <a:xfrm>
            <a:off x="10859155" y="2589898"/>
            <a:ext cx="0" cy="631273"/>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E7CC1EDE-5EB6-4401-5F23-BE25DD247CF0}"/>
              </a:ext>
            </a:extLst>
          </p:cNvPr>
          <p:cNvSpPr/>
          <p:nvPr/>
        </p:nvSpPr>
        <p:spPr>
          <a:xfrm>
            <a:off x="5681961" y="1817015"/>
            <a:ext cx="1818481" cy="765117"/>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Glycerol</a:t>
            </a:r>
          </a:p>
        </p:txBody>
      </p:sp>
      <p:sp>
        <p:nvSpPr>
          <p:cNvPr id="11" name="Rounded Rectangle 10">
            <a:extLst>
              <a:ext uri="{FF2B5EF4-FFF2-40B4-BE49-F238E27FC236}">
                <a16:creationId xmlns:a16="http://schemas.microsoft.com/office/drawing/2014/main" id="{8C02FDFB-DD3E-EC57-674A-5284AC0BD6A5}"/>
              </a:ext>
            </a:extLst>
          </p:cNvPr>
          <p:cNvSpPr/>
          <p:nvPr/>
        </p:nvSpPr>
        <p:spPr>
          <a:xfrm>
            <a:off x="9984159" y="1729745"/>
            <a:ext cx="1872208" cy="77860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3x Fatty acid</a:t>
            </a:r>
          </a:p>
        </p:txBody>
      </p:sp>
      <p:cxnSp>
        <p:nvCxnSpPr>
          <p:cNvPr id="12" name="Straight Arrow Connector 11">
            <a:extLst>
              <a:ext uri="{FF2B5EF4-FFF2-40B4-BE49-F238E27FC236}">
                <a16:creationId xmlns:a16="http://schemas.microsoft.com/office/drawing/2014/main" id="{5C26CCA1-8347-5D58-DECE-50498E570C58}"/>
              </a:ext>
            </a:extLst>
          </p:cNvPr>
          <p:cNvCxnSpPr/>
          <p:nvPr/>
        </p:nvCxnSpPr>
        <p:spPr>
          <a:xfrm>
            <a:off x="10272191" y="1220124"/>
            <a:ext cx="504056" cy="446607"/>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2E2EBFF-C990-0F1A-748D-5631644B2BD4}"/>
              </a:ext>
            </a:extLst>
          </p:cNvPr>
          <p:cNvCxnSpPr/>
          <p:nvPr/>
        </p:nvCxnSpPr>
        <p:spPr>
          <a:xfrm>
            <a:off x="6618064" y="2654140"/>
            <a:ext cx="0" cy="648073"/>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241A8D6-7642-CE41-272E-683D9584CE56}"/>
              </a:ext>
            </a:extLst>
          </p:cNvPr>
          <p:cNvSpPr txBox="1"/>
          <p:nvPr/>
        </p:nvSpPr>
        <p:spPr>
          <a:xfrm>
            <a:off x="7111220" y="2784218"/>
            <a:ext cx="1692746" cy="369332"/>
          </a:xfrm>
          <a:prstGeom prst="rect">
            <a:avLst/>
          </a:prstGeom>
          <a:noFill/>
        </p:spPr>
        <p:txBody>
          <a:bodyPr wrap="square" rtlCol="0">
            <a:spAutoFit/>
          </a:bodyPr>
          <a:lstStyle/>
          <a:p>
            <a:r>
              <a:rPr lang="en-GB" dirty="0">
                <a:solidFill>
                  <a:schemeClr val="bg1"/>
                </a:solidFill>
              </a:rPr>
              <a:t>Glycolysis</a:t>
            </a:r>
          </a:p>
        </p:txBody>
      </p:sp>
      <p:sp>
        <p:nvSpPr>
          <p:cNvPr id="15" name="Rounded Rectangle 14">
            <a:extLst>
              <a:ext uri="{FF2B5EF4-FFF2-40B4-BE49-F238E27FC236}">
                <a16:creationId xmlns:a16="http://schemas.microsoft.com/office/drawing/2014/main" id="{2C627DE5-74F2-6957-C2AE-E71912B0D0DE}"/>
              </a:ext>
            </a:extLst>
          </p:cNvPr>
          <p:cNvSpPr/>
          <p:nvPr/>
        </p:nvSpPr>
        <p:spPr>
          <a:xfrm>
            <a:off x="5735687" y="3419515"/>
            <a:ext cx="1764754" cy="5400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Krebs cycle</a:t>
            </a:r>
          </a:p>
        </p:txBody>
      </p:sp>
      <p:cxnSp>
        <p:nvCxnSpPr>
          <p:cNvPr id="16" name="Straight Arrow Connector 15">
            <a:extLst>
              <a:ext uri="{FF2B5EF4-FFF2-40B4-BE49-F238E27FC236}">
                <a16:creationId xmlns:a16="http://schemas.microsoft.com/office/drawing/2014/main" id="{7E03A85B-039A-9888-2B3A-92A76866C2D2}"/>
              </a:ext>
            </a:extLst>
          </p:cNvPr>
          <p:cNvCxnSpPr/>
          <p:nvPr/>
        </p:nvCxnSpPr>
        <p:spPr>
          <a:xfrm>
            <a:off x="6644779" y="4022292"/>
            <a:ext cx="0" cy="648073"/>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0F21F114-5021-C7E0-83FD-210A4E5F9E32}"/>
              </a:ext>
            </a:extLst>
          </p:cNvPr>
          <p:cNvSpPr/>
          <p:nvPr/>
        </p:nvSpPr>
        <p:spPr>
          <a:xfrm>
            <a:off x="5479928" y="4783021"/>
            <a:ext cx="2439888" cy="54006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ETC</a:t>
            </a:r>
          </a:p>
        </p:txBody>
      </p:sp>
      <p:sp>
        <p:nvSpPr>
          <p:cNvPr id="18" name="TextBox 17">
            <a:extLst>
              <a:ext uri="{FF2B5EF4-FFF2-40B4-BE49-F238E27FC236}">
                <a16:creationId xmlns:a16="http://schemas.microsoft.com/office/drawing/2014/main" id="{D0D25597-72C8-B64B-4848-44E02F31DBD8}"/>
              </a:ext>
            </a:extLst>
          </p:cNvPr>
          <p:cNvSpPr txBox="1"/>
          <p:nvPr/>
        </p:nvSpPr>
        <p:spPr>
          <a:xfrm>
            <a:off x="7069364" y="4161661"/>
            <a:ext cx="1692746" cy="369332"/>
          </a:xfrm>
          <a:prstGeom prst="rect">
            <a:avLst/>
          </a:prstGeom>
          <a:noFill/>
        </p:spPr>
        <p:txBody>
          <a:bodyPr wrap="square" rtlCol="0">
            <a:spAutoFit/>
          </a:bodyPr>
          <a:lstStyle/>
          <a:p>
            <a:r>
              <a:rPr lang="en-GB" dirty="0">
                <a:solidFill>
                  <a:schemeClr val="bg1"/>
                </a:solidFill>
              </a:rPr>
              <a:t>H+ ions</a:t>
            </a:r>
          </a:p>
        </p:txBody>
      </p:sp>
      <p:cxnSp>
        <p:nvCxnSpPr>
          <p:cNvPr id="19" name="Straight Arrow Connector 18">
            <a:extLst>
              <a:ext uri="{FF2B5EF4-FFF2-40B4-BE49-F238E27FC236}">
                <a16:creationId xmlns:a16="http://schemas.microsoft.com/office/drawing/2014/main" id="{FF0C45BA-1940-BC4F-890A-CC2BE7EA61B4}"/>
              </a:ext>
            </a:extLst>
          </p:cNvPr>
          <p:cNvCxnSpPr/>
          <p:nvPr/>
        </p:nvCxnSpPr>
        <p:spPr>
          <a:xfrm>
            <a:off x="6699872" y="5462451"/>
            <a:ext cx="0" cy="648073"/>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371EF22E-F3BC-5B62-EE2C-B0EFA00977DB}"/>
              </a:ext>
            </a:extLst>
          </p:cNvPr>
          <p:cNvSpPr/>
          <p:nvPr/>
        </p:nvSpPr>
        <p:spPr>
          <a:xfrm>
            <a:off x="5997515" y="6182531"/>
            <a:ext cx="1404714" cy="620688"/>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19 ATP</a:t>
            </a:r>
          </a:p>
        </p:txBody>
      </p:sp>
      <p:sp>
        <p:nvSpPr>
          <p:cNvPr id="21" name="Rounded Rectangle 20">
            <a:extLst>
              <a:ext uri="{FF2B5EF4-FFF2-40B4-BE49-F238E27FC236}">
                <a16:creationId xmlns:a16="http://schemas.microsoft.com/office/drawing/2014/main" id="{D53707C1-15A4-5B47-07BA-29EA747561C0}"/>
              </a:ext>
            </a:extLst>
          </p:cNvPr>
          <p:cNvSpPr/>
          <p:nvPr/>
        </p:nvSpPr>
        <p:spPr>
          <a:xfrm>
            <a:off x="10037886" y="3419515"/>
            <a:ext cx="1764754" cy="5400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Krebs cycle</a:t>
            </a:r>
          </a:p>
        </p:txBody>
      </p:sp>
      <p:sp>
        <p:nvSpPr>
          <p:cNvPr id="22" name="TextBox 21">
            <a:extLst>
              <a:ext uri="{FF2B5EF4-FFF2-40B4-BE49-F238E27FC236}">
                <a16:creationId xmlns:a16="http://schemas.microsoft.com/office/drawing/2014/main" id="{6242B1ED-EC55-26CB-C760-A55E3B683EE0}"/>
              </a:ext>
            </a:extLst>
          </p:cNvPr>
          <p:cNvSpPr txBox="1"/>
          <p:nvPr/>
        </p:nvSpPr>
        <p:spPr>
          <a:xfrm>
            <a:off x="9324830" y="2793510"/>
            <a:ext cx="1692746" cy="369332"/>
          </a:xfrm>
          <a:prstGeom prst="rect">
            <a:avLst/>
          </a:prstGeom>
          <a:noFill/>
        </p:spPr>
        <p:txBody>
          <a:bodyPr wrap="square" rtlCol="0">
            <a:spAutoFit/>
          </a:bodyPr>
          <a:lstStyle/>
          <a:p>
            <a:r>
              <a:rPr lang="en-GB" dirty="0">
                <a:solidFill>
                  <a:schemeClr val="bg1"/>
                </a:solidFill>
              </a:rPr>
              <a:t>Acetyl Co-A</a:t>
            </a:r>
          </a:p>
        </p:txBody>
      </p:sp>
      <p:sp>
        <p:nvSpPr>
          <p:cNvPr id="23" name="Rounded Rectangle 22">
            <a:extLst>
              <a:ext uri="{FF2B5EF4-FFF2-40B4-BE49-F238E27FC236}">
                <a16:creationId xmlns:a16="http://schemas.microsoft.com/office/drawing/2014/main" id="{6C6D14CF-C905-9A72-F2EA-93F7C3CD143C}"/>
              </a:ext>
            </a:extLst>
          </p:cNvPr>
          <p:cNvSpPr/>
          <p:nvPr/>
        </p:nvSpPr>
        <p:spPr>
          <a:xfrm>
            <a:off x="9758796" y="4742371"/>
            <a:ext cx="2439888" cy="54006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ETC</a:t>
            </a:r>
          </a:p>
        </p:txBody>
      </p:sp>
      <p:cxnSp>
        <p:nvCxnSpPr>
          <p:cNvPr id="24" name="Straight Arrow Connector 23">
            <a:extLst>
              <a:ext uri="{FF2B5EF4-FFF2-40B4-BE49-F238E27FC236}">
                <a16:creationId xmlns:a16="http://schemas.microsoft.com/office/drawing/2014/main" id="{CD095F71-672A-0AE0-4976-32D555833ECC}"/>
              </a:ext>
            </a:extLst>
          </p:cNvPr>
          <p:cNvCxnSpPr/>
          <p:nvPr/>
        </p:nvCxnSpPr>
        <p:spPr>
          <a:xfrm>
            <a:off x="10978740" y="4022292"/>
            <a:ext cx="0" cy="648073"/>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03388E1-43C9-ABC1-D6DF-10FCBBF0C5F0}"/>
              </a:ext>
            </a:extLst>
          </p:cNvPr>
          <p:cNvSpPr txBox="1"/>
          <p:nvPr/>
        </p:nvSpPr>
        <p:spPr>
          <a:xfrm>
            <a:off x="9659565" y="4157919"/>
            <a:ext cx="1692746" cy="369332"/>
          </a:xfrm>
          <a:prstGeom prst="rect">
            <a:avLst/>
          </a:prstGeom>
          <a:noFill/>
        </p:spPr>
        <p:txBody>
          <a:bodyPr wrap="square" rtlCol="0">
            <a:spAutoFit/>
          </a:bodyPr>
          <a:lstStyle/>
          <a:p>
            <a:r>
              <a:rPr lang="en-GB" dirty="0">
                <a:solidFill>
                  <a:schemeClr val="bg1"/>
                </a:solidFill>
              </a:rPr>
              <a:t>H+ ions</a:t>
            </a:r>
          </a:p>
        </p:txBody>
      </p:sp>
      <p:cxnSp>
        <p:nvCxnSpPr>
          <p:cNvPr id="26" name="Straight Arrow Connector 25">
            <a:extLst>
              <a:ext uri="{FF2B5EF4-FFF2-40B4-BE49-F238E27FC236}">
                <a16:creationId xmlns:a16="http://schemas.microsoft.com/office/drawing/2014/main" id="{9ECF6E74-B7F9-9BDA-B109-6BFC328BDB13}"/>
              </a:ext>
            </a:extLst>
          </p:cNvPr>
          <p:cNvCxnSpPr/>
          <p:nvPr/>
        </p:nvCxnSpPr>
        <p:spPr>
          <a:xfrm>
            <a:off x="10978740" y="5444783"/>
            <a:ext cx="0" cy="648073"/>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03607533-8FFD-0DBA-68D7-C3A0BAD4BB2E}"/>
              </a:ext>
            </a:extLst>
          </p:cNvPr>
          <p:cNvSpPr/>
          <p:nvPr/>
        </p:nvSpPr>
        <p:spPr>
          <a:xfrm>
            <a:off x="10171203" y="6182531"/>
            <a:ext cx="1831077" cy="620688"/>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129 (x3) = 387 ATP</a:t>
            </a:r>
          </a:p>
        </p:txBody>
      </p:sp>
      <p:sp>
        <p:nvSpPr>
          <p:cNvPr id="28" name="Subtitle 2">
            <a:extLst>
              <a:ext uri="{FF2B5EF4-FFF2-40B4-BE49-F238E27FC236}">
                <a16:creationId xmlns:a16="http://schemas.microsoft.com/office/drawing/2014/main" id="{8B9D9DDE-EFBB-4E49-0044-E9B0F985CB88}"/>
              </a:ext>
            </a:extLst>
          </p:cNvPr>
          <p:cNvSpPr>
            <a:spLocks noGrp="1"/>
          </p:cNvSpPr>
          <p:nvPr>
            <p:ph idx="1"/>
          </p:nvPr>
        </p:nvSpPr>
        <p:spPr>
          <a:xfrm>
            <a:off x="838200" y="1758156"/>
            <a:ext cx="4792579" cy="4734719"/>
          </a:xfrm>
        </p:spPr>
        <p:txBody>
          <a:bodyPr>
            <a:normAutofit fontScale="92500" lnSpcReduction="10000"/>
          </a:bodyPr>
          <a:lstStyle/>
          <a:p>
            <a:pPr marL="0" indent="0" eaLnBrk="1" hangingPunct="1">
              <a:buNone/>
            </a:pPr>
            <a:r>
              <a:rPr lang="en-GB" altLang="en-US" sz="2200" b="1" dirty="0">
                <a:latin typeface="Calibri" panose="020F0502020204030204" pitchFamily="34" charset="0"/>
                <a:cs typeface="Calibri" panose="020F0502020204030204" pitchFamily="34" charset="0"/>
              </a:rPr>
              <a:t>Glycerol</a:t>
            </a:r>
          </a:p>
          <a:p>
            <a:pPr eaLnBrk="1" hangingPunct="1"/>
            <a:r>
              <a:rPr lang="en-GB" altLang="en-US" sz="2200" dirty="0">
                <a:latin typeface="Calibri" panose="020F0502020204030204" pitchFamily="34" charset="0"/>
                <a:cs typeface="Calibri" panose="020F0502020204030204" pitchFamily="34" charset="0"/>
              </a:rPr>
              <a:t>Enters glycolysis</a:t>
            </a:r>
          </a:p>
          <a:p>
            <a:pPr eaLnBrk="1" hangingPunct="1"/>
            <a:r>
              <a:rPr lang="en-GB" altLang="en-US" sz="2200" dirty="0">
                <a:latin typeface="Calibri" panose="020F0502020204030204" pitchFamily="34" charset="0"/>
                <a:cs typeface="Calibri" panose="020F0502020204030204" pitchFamily="34" charset="0"/>
              </a:rPr>
              <a:t>Moved into </a:t>
            </a:r>
            <a:r>
              <a:rPr lang="en-GB" altLang="en-US" sz="2200" dirty="0" err="1">
                <a:latin typeface="Calibri" panose="020F0502020204030204" pitchFamily="34" charset="0"/>
                <a:cs typeface="Calibri" panose="020F0502020204030204" pitchFamily="34" charset="0"/>
              </a:rPr>
              <a:t>Kreb’s</a:t>
            </a:r>
            <a:r>
              <a:rPr lang="en-GB" altLang="en-US" sz="2200" dirty="0">
                <a:latin typeface="Calibri" panose="020F0502020204030204" pitchFamily="34" charset="0"/>
                <a:cs typeface="Calibri" panose="020F0502020204030204" pitchFamily="34" charset="0"/>
              </a:rPr>
              <a:t> cycle</a:t>
            </a:r>
          </a:p>
          <a:p>
            <a:pPr eaLnBrk="1" hangingPunct="1"/>
            <a:r>
              <a:rPr lang="en-GB" altLang="en-US" sz="2200" dirty="0">
                <a:latin typeface="Calibri" panose="020F0502020204030204" pitchFamily="34" charset="0"/>
                <a:cs typeface="Calibri" panose="020F0502020204030204" pitchFamily="34" charset="0"/>
              </a:rPr>
              <a:t>H+ taken to electron transfer chain</a:t>
            </a:r>
          </a:p>
          <a:p>
            <a:pPr eaLnBrk="1" hangingPunct="1"/>
            <a:r>
              <a:rPr lang="en-GB" altLang="en-US" sz="2200" dirty="0">
                <a:latin typeface="Calibri" panose="020F0502020204030204" pitchFamily="34" charset="0"/>
                <a:cs typeface="Calibri" panose="020F0502020204030204" pitchFamily="34" charset="0"/>
              </a:rPr>
              <a:t>Total energy production 15-19 ATP </a:t>
            </a:r>
          </a:p>
          <a:p>
            <a:pPr eaLnBrk="1" hangingPunct="1"/>
            <a:endParaRPr lang="en-GB" altLang="en-US" sz="2200" dirty="0">
              <a:latin typeface="Calibri" panose="020F0502020204030204" pitchFamily="34" charset="0"/>
              <a:cs typeface="Calibri" panose="020F0502020204030204" pitchFamily="34" charset="0"/>
            </a:endParaRPr>
          </a:p>
          <a:p>
            <a:pPr marL="0" indent="0" eaLnBrk="1" hangingPunct="1">
              <a:buNone/>
            </a:pPr>
            <a:r>
              <a:rPr lang="en-GB" sz="2200" dirty="0">
                <a:latin typeface="Calibri" panose="020F0502020204030204" pitchFamily="34" charset="0"/>
                <a:cs typeface="Calibri" panose="020F0502020204030204" pitchFamily="34" charset="0"/>
              </a:rPr>
              <a:t>Fatty acids</a:t>
            </a:r>
          </a:p>
          <a:p>
            <a:pPr eaLnBrk="1" hangingPunct="1">
              <a:lnSpc>
                <a:spcPct val="90000"/>
              </a:lnSpc>
            </a:pPr>
            <a:r>
              <a:rPr lang="en-GB" altLang="en-US" sz="2200" dirty="0">
                <a:latin typeface="Calibri" panose="020F0502020204030204" pitchFamily="34" charset="0"/>
                <a:cs typeface="Calibri" panose="020F0502020204030204" pitchFamily="34" charset="0"/>
              </a:rPr>
              <a:t>When not attached to glycerol called free fatty acids</a:t>
            </a:r>
          </a:p>
          <a:p>
            <a:pPr eaLnBrk="1" hangingPunct="1">
              <a:lnSpc>
                <a:spcPct val="90000"/>
              </a:lnSpc>
            </a:pPr>
            <a:r>
              <a:rPr lang="en-GB" altLang="en-US" sz="2200" dirty="0">
                <a:latin typeface="Calibri" panose="020F0502020204030204" pitchFamily="34" charset="0"/>
                <a:cs typeface="Calibri" panose="020F0502020204030204" pitchFamily="34" charset="0"/>
              </a:rPr>
              <a:t>Broken down by beta-oxidation</a:t>
            </a:r>
          </a:p>
          <a:p>
            <a:pPr eaLnBrk="1" hangingPunct="1">
              <a:lnSpc>
                <a:spcPct val="90000"/>
              </a:lnSpc>
            </a:pPr>
            <a:r>
              <a:rPr lang="en-GB" altLang="en-US" sz="2200" dirty="0">
                <a:latin typeface="Calibri" panose="020F0502020204030204" pitchFamily="34" charset="0"/>
                <a:cs typeface="Calibri" panose="020F0502020204030204" pitchFamily="34" charset="0"/>
              </a:rPr>
              <a:t>Acetyl coenzyme A is taken to </a:t>
            </a:r>
            <a:r>
              <a:rPr lang="en-GB" altLang="en-US" sz="2200" dirty="0" err="1">
                <a:latin typeface="Calibri" panose="020F0502020204030204" pitchFamily="34" charset="0"/>
                <a:cs typeface="Calibri" panose="020F0502020204030204" pitchFamily="34" charset="0"/>
              </a:rPr>
              <a:t>Kreb's</a:t>
            </a:r>
            <a:r>
              <a:rPr lang="en-GB" altLang="en-US" sz="2200" dirty="0">
                <a:latin typeface="Calibri" panose="020F0502020204030204" pitchFamily="34" charset="0"/>
                <a:cs typeface="Calibri" panose="020F0502020204030204" pitchFamily="34" charset="0"/>
              </a:rPr>
              <a:t> cycle</a:t>
            </a:r>
          </a:p>
          <a:p>
            <a:pPr eaLnBrk="1" hangingPunct="1">
              <a:lnSpc>
                <a:spcPct val="90000"/>
              </a:lnSpc>
            </a:pPr>
            <a:r>
              <a:rPr lang="en-GB" altLang="en-US" sz="2200" dirty="0">
                <a:latin typeface="Calibri" panose="020F0502020204030204" pitchFamily="34" charset="0"/>
                <a:cs typeface="Calibri" panose="020F0502020204030204" pitchFamily="34" charset="0"/>
              </a:rPr>
              <a:t>H+ taken to electron transfer chain</a:t>
            </a:r>
          </a:p>
          <a:p>
            <a:pPr eaLnBrk="1" hangingPunct="1">
              <a:lnSpc>
                <a:spcPct val="90000"/>
              </a:lnSpc>
            </a:pPr>
            <a:r>
              <a:rPr lang="en-GB" sz="2200" dirty="0">
                <a:latin typeface="Calibri" panose="020F0502020204030204" pitchFamily="34" charset="0"/>
                <a:cs typeface="Calibri" panose="020F0502020204030204" pitchFamily="34" charset="0"/>
              </a:rPr>
              <a:t>Each Fatty acid, 129 ATP</a:t>
            </a:r>
          </a:p>
          <a:p>
            <a:pPr marL="0" indent="0" eaLnBrk="1" hangingPunct="1">
              <a:buNone/>
            </a:pPr>
            <a:endParaRPr lang="en-GB" alt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794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animBg="1"/>
      <p:bldP spid="18" grpId="0"/>
      <p:bldP spid="20" grpId="0" animBg="1"/>
      <p:bldP spid="21" grpId="0" animBg="1"/>
      <p:bldP spid="22" grpId="0"/>
      <p:bldP spid="23" grpId="0" animBg="1"/>
      <p:bldP spid="25" grpId="0"/>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Energy Production – Systems</a:t>
            </a:r>
          </a:p>
        </p:txBody>
      </p:sp>
      <p:pic>
        <p:nvPicPr>
          <p:cNvPr id="5" name="Picture 4">
            <a:extLst>
              <a:ext uri="{FF2B5EF4-FFF2-40B4-BE49-F238E27FC236}">
                <a16:creationId xmlns:a16="http://schemas.microsoft.com/office/drawing/2014/main" id="{BF8FF6FD-469F-C264-BD6A-4F56AA46A659}"/>
              </a:ext>
            </a:extLst>
          </p:cNvPr>
          <p:cNvPicPr>
            <a:picLocks noChangeAspect="1"/>
          </p:cNvPicPr>
          <p:nvPr/>
        </p:nvPicPr>
        <p:blipFill>
          <a:blip r:embed="rId3"/>
          <a:stretch>
            <a:fillRect/>
          </a:stretch>
        </p:blipFill>
        <p:spPr>
          <a:xfrm>
            <a:off x="1995592" y="1860215"/>
            <a:ext cx="8261775" cy="4413477"/>
          </a:xfrm>
          <a:prstGeom prst="rect">
            <a:avLst/>
          </a:prstGeom>
        </p:spPr>
      </p:pic>
    </p:spTree>
    <p:extLst>
      <p:ext uri="{BB962C8B-B14F-4D97-AF65-F5344CB8AC3E}">
        <p14:creationId xmlns:p14="http://schemas.microsoft.com/office/powerpoint/2010/main" val="484314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Summary</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797800" cy="4351338"/>
          </a:xfrm>
        </p:spPr>
        <p:txBody>
          <a:bodyPr>
            <a:normAutofit/>
          </a:bodyPr>
          <a:lstStyle/>
          <a:p>
            <a:r>
              <a:rPr lang="en-GB" b="0" i="0" u="none" strike="noStrike" dirty="0">
                <a:effectLst/>
                <a:latin typeface="Calibri" panose="020F0502020204030204" pitchFamily="34" charset="0"/>
              </a:rPr>
              <a:t>See learning outcomes.</a:t>
            </a:r>
          </a:p>
        </p:txBody>
      </p:sp>
    </p:spTree>
    <p:extLst>
      <p:ext uri="{BB962C8B-B14F-4D97-AF65-F5344CB8AC3E}">
        <p14:creationId xmlns:p14="http://schemas.microsoft.com/office/powerpoint/2010/main" val="1331432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0</TotalTime>
  <Words>2612</Words>
  <Application>Microsoft Office PowerPoint</Application>
  <PresentationFormat>Widescreen</PresentationFormat>
  <Paragraphs>256</Paragraphs>
  <Slides>26</Slides>
  <Notes>26</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Söhne</vt:lpstr>
      <vt:lpstr>Symbol</vt:lpstr>
      <vt:lpstr>Wingdings</vt:lpstr>
      <vt:lpstr>Office Theme</vt:lpstr>
      <vt:lpstr>PowerPoint Presentation</vt:lpstr>
      <vt:lpstr>Learning Outcomes</vt:lpstr>
      <vt:lpstr>Types of Muscle</vt:lpstr>
      <vt:lpstr>Types of Muscle</vt:lpstr>
      <vt:lpstr>Skeletal Muscle</vt:lpstr>
      <vt:lpstr>Smooth Muscle</vt:lpstr>
      <vt:lpstr>Cardiac Muscle</vt:lpstr>
      <vt:lpstr>”On-off switch” – Skeletal and Cardiac</vt:lpstr>
      <vt:lpstr>”On-off switch” – Smooth</vt:lpstr>
      <vt:lpstr>Depolarisation in different muscle</vt:lpstr>
      <vt:lpstr>Twitch contraction</vt:lpstr>
      <vt:lpstr>Twitch contraction</vt:lpstr>
      <vt:lpstr>Frequency and Summation</vt:lpstr>
      <vt:lpstr>Frequency and Summation</vt:lpstr>
      <vt:lpstr>Energy Production - ATP</vt:lpstr>
      <vt:lpstr>Energy Production - ATP</vt:lpstr>
      <vt:lpstr>Energy Production – PCr System</vt:lpstr>
      <vt:lpstr>Energy Production – Glycolysis</vt:lpstr>
      <vt:lpstr>Energy Production – Glycolysis</vt:lpstr>
      <vt:lpstr>Just to get this right…</vt:lpstr>
      <vt:lpstr>Energy Production – Glycolysis</vt:lpstr>
      <vt:lpstr>Energy Production – Aerobic Pathways</vt:lpstr>
      <vt:lpstr>Energy Production – Aerobic Pathways</vt:lpstr>
      <vt:lpstr>Energy Production – Aerobic Pathways</vt:lpstr>
      <vt:lpstr>Energy Production – Systems</vt:lpstr>
      <vt:lpstr>Summary</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Mia Preece</dc:creator>
  <cp:lastModifiedBy>Christopher Chamberlin</cp:lastModifiedBy>
  <cp:revision>309</cp:revision>
  <cp:lastPrinted>2020-09-20T10:37:08Z</cp:lastPrinted>
  <dcterms:created xsi:type="dcterms:W3CDTF">2017-09-08T13:51:42Z</dcterms:created>
  <dcterms:modified xsi:type="dcterms:W3CDTF">2024-10-09T15:57:58Z</dcterms:modified>
</cp:coreProperties>
</file>