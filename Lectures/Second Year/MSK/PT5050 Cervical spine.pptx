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7"/>
  </p:notesMasterIdLst>
  <p:sldIdLst>
    <p:sldId id="257" r:id="rId5"/>
    <p:sldId id="485" r:id="rId6"/>
    <p:sldId id="465" r:id="rId7"/>
    <p:sldId id="509" r:id="rId8"/>
    <p:sldId id="468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95" r:id="rId18"/>
    <p:sldId id="494" r:id="rId19"/>
    <p:sldId id="493" r:id="rId20"/>
    <p:sldId id="513" r:id="rId21"/>
    <p:sldId id="491" r:id="rId22"/>
    <p:sldId id="492" r:id="rId23"/>
    <p:sldId id="496" r:id="rId24"/>
    <p:sldId id="497" r:id="rId25"/>
    <p:sldId id="479" r:id="rId26"/>
    <p:sldId id="480" r:id="rId27"/>
    <p:sldId id="481" r:id="rId28"/>
    <p:sldId id="424" r:id="rId29"/>
    <p:sldId id="444" r:id="rId30"/>
    <p:sldId id="443" r:id="rId31"/>
    <p:sldId id="445" r:id="rId32"/>
    <p:sldId id="447" r:id="rId33"/>
    <p:sldId id="446" r:id="rId34"/>
    <p:sldId id="487" r:id="rId35"/>
    <p:sldId id="488" r:id="rId36"/>
    <p:sldId id="484" r:id="rId37"/>
    <p:sldId id="483" r:id="rId38"/>
    <p:sldId id="482" r:id="rId39"/>
    <p:sldId id="490" r:id="rId40"/>
    <p:sldId id="510" r:id="rId41"/>
    <p:sldId id="511" r:id="rId42"/>
    <p:sldId id="512" r:id="rId43"/>
    <p:sldId id="501" r:id="rId44"/>
    <p:sldId id="502" r:id="rId45"/>
    <p:sldId id="498" r:id="rId46"/>
    <p:sldId id="503" r:id="rId47"/>
    <p:sldId id="499" r:id="rId48"/>
    <p:sldId id="504" r:id="rId49"/>
    <p:sldId id="500" r:id="rId50"/>
    <p:sldId id="505" r:id="rId51"/>
    <p:sldId id="486" r:id="rId52"/>
    <p:sldId id="385" r:id="rId53"/>
    <p:sldId id="506" r:id="rId54"/>
    <p:sldId id="508" r:id="rId55"/>
    <p:sldId id="50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222A35"/>
    <a:srgbClr val="35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4" autoAdjust="0"/>
    <p:restoredTop sz="80000" autoAdjust="0"/>
  </p:normalViewPr>
  <p:slideViewPr>
    <p:cSldViewPr snapToGrid="0">
      <p:cViewPr>
        <p:scale>
          <a:sx n="81" d="100"/>
          <a:sy n="81" d="100"/>
        </p:scale>
        <p:origin x="6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F9951-7A27-477A-90ED-9C24BE06A18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64D8B-4CC5-402D-A151-B3E8152E5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8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065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BE64-8999-E501-4371-89A16938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C9D32-2B32-D879-ACD1-4EC43C2D7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3AEED-B11F-C0D7-275F-11DBAEB2D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79B2E-A11D-E7FB-F172-6BA5F82A24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115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890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399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15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24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295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597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85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33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197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400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720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004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A6B63-6467-E391-52AF-73136091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E53D3-A09F-FDAD-DE66-CC5AAD1B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C97BD-5B7F-485B-C892-DF4FB6781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47A07-63D8-D192-4007-4CF8601CA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673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939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30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696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7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750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875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874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05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3654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5842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0223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461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272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4919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480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10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642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5962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076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C44A-3EBC-3033-B762-16B61DC9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9A463-0AD6-C001-8A59-D906E053C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3BB79-1505-03E1-EFDE-C1ED710F1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62C9F-96BA-7E7B-B305-E447FB9BF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7838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87EA-9ACF-5B69-7807-64F63B27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8B723-D221-3967-19D6-4B726806F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180C2-6C32-F82B-D213-606443B1A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18AF0-F502-49F6-3752-219109F3F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24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8BF1-39A0-68DA-0B4D-B5AC18B5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B4F5A-9D8A-E158-CAF5-82B081F75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D7F10-A939-DBCA-66B5-EEA2147E1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F1247-AAB6-71B3-4497-4FAAA2ED4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6526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0C44-E676-398B-9DA8-C58117AB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DF13B-92A2-2FFC-DCF8-3AF1A95A4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1ADB2-87D9-47B1-2397-59F43F158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D7792-F0C4-FFF5-284A-26A045546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7363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435F-5D55-A707-5FF2-0032C69C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CDD8F-41DA-2520-213D-7CF28EA53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6CFE8-EF83-68D2-34BE-BC95E7F66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BE99F-797D-88BC-F437-F3038CCE3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9392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59F0-A49E-A1E1-C42D-70010389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A8A69-025C-C345-F0C0-2300386F0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A7094-0B6E-1A25-29B0-082F074DC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095D2-0AE4-1342-C708-D9B7EF391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6468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6DFD-5FA3-696F-52EB-BFA1FFF2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880E9-1A5D-A65E-592B-BD3DDF48B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FFEDA-5C79-0229-B4DD-48049A745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E0E26-F1AA-5E47-8DD2-DD1B53383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9560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A092B-F89C-0423-CF1F-4BC7DBCE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F81F5-F40B-6D4F-D779-4E1ABAA3A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27062-A7C8-7135-1AC0-91ABFB4E5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D7E35-C4D5-3949-909F-1E07CF19B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5480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D9AA-C47C-2108-8D5A-44A74054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E0C3B-8278-91CD-6B60-D24FE33D1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8ABB3-A9BF-39F1-3350-AC11C0628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5967A-C69D-D921-AE30-4DA9A33C8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8990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D8011-89D5-4EC0-E0A7-2DC52B05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2E45E-220A-E29C-0238-191E80411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73068-7959-123F-0E33-55BA1D2D1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49541-E36C-F813-8F35-0470D0DE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7812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1F33-091F-B4D1-A9C9-66A41C79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33801-915B-D645-FE96-CCF94389C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2AD8B-05C6-1F0E-407A-107697A28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1DAE9-6A2D-31EA-EF71-77DA11275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857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80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8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0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09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24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07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51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77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58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57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37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1607B-1B4E-47C1-BC71-B8AA73963BF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28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626330"/>
            <a:ext cx="7766936" cy="1646302"/>
          </a:xfrm>
        </p:spPr>
        <p:txBody>
          <a:bodyPr>
            <a:normAutofit fontScale="90000"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Anatomy of the Cervical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859367" y="3310729"/>
            <a:ext cx="7766936" cy="1587967"/>
          </a:xfrm>
        </p:spPr>
        <p:txBody>
          <a:bodyPr>
            <a:normAutofit/>
          </a:bodyPr>
          <a:lstStyle/>
          <a:p>
            <a:pPr algn="r"/>
            <a:r>
              <a:rPr lang="en-GB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PT5050</a:t>
            </a:r>
          </a:p>
          <a:p>
            <a:pPr algn="r"/>
            <a:endParaRPr lang="en-GB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 Phillips</a:t>
            </a:r>
          </a:p>
        </p:txBody>
      </p:sp>
    </p:spTree>
    <p:extLst>
      <p:ext uri="{BB962C8B-B14F-4D97-AF65-F5344CB8AC3E}">
        <p14:creationId xmlns:p14="http://schemas.microsoft.com/office/powerpoint/2010/main" val="340538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14B0C76-37EF-B1C4-C57C-ECAE6280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solidFill>
                  <a:schemeClr val="bg1"/>
                </a:solidFill>
              </a:rPr>
              <a:t>Contents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9B33FC-A68F-0D6D-7536-9EF60F79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Anatomy and physiology of cervical spine</a:t>
            </a:r>
          </a:p>
          <a:p>
            <a:r>
              <a:rPr lang="en-GB" dirty="0">
                <a:solidFill>
                  <a:schemeClr val="bg1"/>
                </a:solidFill>
              </a:rPr>
              <a:t>Clinical application</a:t>
            </a:r>
          </a:p>
          <a:p>
            <a:r>
              <a:rPr lang="en-GB" dirty="0">
                <a:solidFill>
                  <a:schemeClr val="bg1"/>
                </a:solidFill>
              </a:rPr>
              <a:t>Case notes</a:t>
            </a:r>
          </a:p>
          <a:p>
            <a:r>
              <a:rPr lang="en-GB" dirty="0">
                <a:solidFill>
                  <a:schemeClr val="bg1"/>
                </a:solidFill>
              </a:rPr>
              <a:t>Short answer questions</a:t>
            </a:r>
          </a:p>
        </p:txBody>
      </p:sp>
    </p:spTree>
    <p:extLst>
      <p:ext uri="{BB962C8B-B14F-4D97-AF65-F5344CB8AC3E}">
        <p14:creationId xmlns:p14="http://schemas.microsoft.com/office/powerpoint/2010/main" val="264286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2" name="Picture 2" descr="F66122-002-f015">
            <a:extLst>
              <a:ext uri="{FF2B5EF4-FFF2-40B4-BE49-F238E27FC236}">
                <a16:creationId xmlns:a16="http://schemas.microsoft.com/office/drawing/2014/main" id="{C158DBBA-EBB7-ECC2-8858-270DF0284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9" b="3479"/>
          <a:stretch/>
        </p:blipFill>
        <p:spPr bwMode="auto">
          <a:xfrm>
            <a:off x="5330190" y="385336"/>
            <a:ext cx="3563900" cy="60873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WINDOWS\Desktop\lect08-trunk\spine-basics01.jpg">
            <a:extLst>
              <a:ext uri="{FF2B5EF4-FFF2-40B4-BE49-F238E27FC236}">
                <a16:creationId xmlns:a16="http://schemas.microsoft.com/office/drawing/2014/main" id="{C74C6AC0-EB22-14C5-BB2C-402A61DB5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54"/>
          <a:stretch>
            <a:fillRect/>
          </a:stretch>
        </p:blipFill>
        <p:spPr bwMode="auto">
          <a:xfrm>
            <a:off x="10350149" y="434043"/>
            <a:ext cx="1589602" cy="655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1772AC-736E-005C-ED03-236A3D59FF78}"/>
              </a:ext>
            </a:extLst>
          </p:cNvPr>
          <p:cNvCxnSpPr>
            <a:cxnSpLocks/>
          </p:cNvCxnSpPr>
          <p:nvPr/>
        </p:nvCxnSpPr>
        <p:spPr>
          <a:xfrm>
            <a:off x="9236052" y="1675581"/>
            <a:ext cx="136634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25A176-7C3E-BE3A-612C-B5BFC278D59A}"/>
              </a:ext>
            </a:extLst>
          </p:cNvPr>
          <p:cNvSpPr txBox="1"/>
          <p:nvPr/>
        </p:nvSpPr>
        <p:spPr>
          <a:xfrm>
            <a:off x="823966" y="578069"/>
            <a:ext cx="486629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Cervical spine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7 vertebrae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C1-7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C1 – Atlas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C2 – Axis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chemeClr val="bg1"/>
                </a:solidFill>
              </a:rPr>
              <a:t>Atlanto</a:t>
            </a:r>
            <a:r>
              <a:rPr lang="en-GB" sz="2800" dirty="0">
                <a:solidFill>
                  <a:schemeClr val="bg1"/>
                </a:solidFill>
              </a:rPr>
              <a:t>-occipital joint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Atlantoaxial joint</a:t>
            </a:r>
          </a:p>
          <a:p>
            <a:r>
              <a:rPr lang="en-GB" sz="3200" dirty="0">
                <a:solidFill>
                  <a:schemeClr val="bg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4709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94FF-3B2C-3432-F133-3CF4F35C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965F78-A09C-5D77-2B98-C1A69B688B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C10566AA-CA12-94E4-43F5-AE930BC603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474849-DFAF-EC2B-5C7C-73ACCA22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Cervical Vertebrae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B71799-7CA1-DCA5-D824-3D50624DA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44543" cy="435133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In pairs identify differences of cervical vertebrae compared to thoracic and lumbar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298A6025-EA0E-3B1B-CFD2-289D5C21D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807" y="3047728"/>
            <a:ext cx="3780884" cy="344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C671E79A-281E-C963-69B5-35E069B8A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7" t="5475" r="9451" b="4102"/>
          <a:stretch>
            <a:fillRect/>
          </a:stretch>
        </p:blipFill>
        <p:spPr bwMode="auto">
          <a:xfrm>
            <a:off x="4183485" y="3047728"/>
            <a:ext cx="4181322" cy="344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39866-4D6D-EE27-1CDD-FF12C37FF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83" y="3047728"/>
            <a:ext cx="3964999" cy="344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4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5A176-7C3E-BE3A-612C-B5BFC278D59A}"/>
              </a:ext>
            </a:extLst>
          </p:cNvPr>
          <p:cNvSpPr txBox="1"/>
          <p:nvPr/>
        </p:nvSpPr>
        <p:spPr>
          <a:xfrm>
            <a:off x="732723" y="505123"/>
            <a:ext cx="617592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Cervical vertebrae</a:t>
            </a:r>
          </a:p>
          <a:p>
            <a:endParaRPr lang="en-GB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C3-7 classic vertebrae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Body is small, oval shaped and short in height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Large triangular vertebral foramen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Short pedicle project laterally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Long narrow laminae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499D6D-E1C1-4BF6-6FDE-A1D264A76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47" y="285627"/>
            <a:ext cx="5023803" cy="622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7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5A176-7C3E-BE3A-612C-B5BFC278D59A}"/>
              </a:ext>
            </a:extLst>
          </p:cNvPr>
          <p:cNvSpPr txBox="1"/>
          <p:nvPr/>
        </p:nvSpPr>
        <p:spPr>
          <a:xfrm>
            <a:off x="732723" y="505123"/>
            <a:ext cx="6175924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Cervical vertebrae</a:t>
            </a:r>
          </a:p>
          <a:p>
            <a:endParaRPr lang="en-GB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Short bifid spinous process, muscles attach to nuchal ligament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C6-7 long SP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C7 rare to be bifid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Short transverse processes which house foramen transversarium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4000" dirty="0">
              <a:solidFill>
                <a:schemeClr val="bg1"/>
              </a:solidFill>
            </a:endParaRPr>
          </a:p>
          <a:p>
            <a:endParaRPr lang="en-GB" sz="4800" dirty="0">
              <a:solidFill>
                <a:schemeClr val="bg1"/>
              </a:solidFill>
            </a:endParaRPr>
          </a:p>
          <a:p>
            <a:endParaRPr lang="en-GB" sz="4400" dirty="0">
              <a:solidFill>
                <a:schemeClr val="bg1"/>
              </a:solidFill>
            </a:endParaRPr>
          </a:p>
          <a:p>
            <a:r>
              <a:rPr lang="en-GB" sz="4400" dirty="0">
                <a:solidFill>
                  <a:schemeClr val="bg1"/>
                </a:solidFill>
              </a:rPr>
              <a:t>	</a:t>
            </a:r>
          </a:p>
          <a:p>
            <a:endParaRPr lang="en-GB" sz="4000" dirty="0">
              <a:solidFill>
                <a:schemeClr val="bg1"/>
              </a:solidFill>
            </a:endParaRP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E858E-D626-0F1E-30F6-67B88831FE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8789"/>
          <a:stretch/>
        </p:blipFill>
        <p:spPr>
          <a:xfrm>
            <a:off x="6529707" y="2312276"/>
            <a:ext cx="5206307" cy="343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1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2" name="Picture 2" descr="http://www.maitrise-orthop.com/corpusmaitri/orthopaedic/mo70_maigne_thoracolumbar/fig2.GIF">
            <a:extLst>
              <a:ext uri="{FF2B5EF4-FFF2-40B4-BE49-F238E27FC236}">
                <a16:creationId xmlns:a16="http://schemas.microsoft.com/office/drawing/2014/main" id="{5F9811A8-329F-DBEE-D1B8-C941EED01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7"/>
          <a:stretch>
            <a:fillRect/>
          </a:stretch>
        </p:blipFill>
        <p:spPr bwMode="auto">
          <a:xfrm>
            <a:off x="7210126" y="420413"/>
            <a:ext cx="3162490" cy="578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704193"/>
            <a:ext cx="587528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Cervical facet joints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Facet joints lie at approx. 45° angle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Superior facet faces superiorly and posteriorly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Inferior facet faces inferiorly and anteriorly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Allows for all movements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7058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41317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48432" y="141317"/>
            <a:ext cx="6076317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Atlas (C1)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Articulates with Occiput (</a:t>
            </a:r>
            <a:r>
              <a:rPr lang="en-GB" sz="2400" dirty="0" err="1">
                <a:solidFill>
                  <a:schemeClr val="bg1"/>
                </a:solidFill>
              </a:rPr>
              <a:t>atlanto</a:t>
            </a:r>
            <a:r>
              <a:rPr lang="en-GB" sz="2400" dirty="0">
                <a:solidFill>
                  <a:schemeClr val="bg1"/>
                </a:solidFill>
              </a:rPr>
              <a:t>-occipital joint) and with the Axis (atlantoaxial joint)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No body or spinous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Large, wide transverse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Superior facets articulate with occiput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Anterior arch which articulates with the odontoid process (dens) of 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Anterior tubercle origin of anterior longitudinal ligament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8" descr="atlas(1)">
            <a:extLst>
              <a:ext uri="{FF2B5EF4-FFF2-40B4-BE49-F238E27FC236}">
                <a16:creationId xmlns:a16="http://schemas.microsoft.com/office/drawing/2014/main" id="{CFEA1C0F-F0D8-73A7-606E-7DC79ABFC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19498"/>
            <a:ext cx="5937413" cy="339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5583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875283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Axis (C2)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Odontoid process (dens) protrudes superiorly and articulates with C1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Bifid spinous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Superior facets support the weight of head allowing dens to articulate freely with Atlas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Strongest cervical vertebra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Superior facets face up and slightly laterally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1F2016-9E0B-FB1D-FB74-D8A37A022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916" y="3437674"/>
            <a:ext cx="4550705" cy="32187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629964-D514-BE70-4B9F-30E272F78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156" y="118115"/>
            <a:ext cx="4670223" cy="321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8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87528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err="1">
                <a:solidFill>
                  <a:schemeClr val="bg1"/>
                </a:solidFill>
              </a:rPr>
              <a:t>Atlanto</a:t>
            </a:r>
            <a:r>
              <a:rPr lang="en-GB" sz="4400" dirty="0">
                <a:solidFill>
                  <a:schemeClr val="bg1"/>
                </a:solidFill>
              </a:rPr>
              <a:t>-occipital joint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Articulation of superior facets of C1 and occipital condyle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Flexion and extension (nodding)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Lateral flexion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Very minor rotation from occiput ‘slipping’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DBB79-9CAA-4B6B-B212-2AC8757C9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152" y="711164"/>
            <a:ext cx="4604103" cy="47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40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875283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err="1">
                <a:solidFill>
                  <a:schemeClr val="bg1"/>
                </a:solidFill>
              </a:rPr>
              <a:t>Atlanto</a:t>
            </a:r>
            <a:r>
              <a:rPr lang="en-GB" sz="4400" dirty="0">
                <a:solidFill>
                  <a:schemeClr val="bg1"/>
                </a:solidFill>
              </a:rPr>
              <a:t>-axial joint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Lateral and median joints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Lateral </a:t>
            </a:r>
            <a:r>
              <a:rPr lang="en-GB" sz="2400" dirty="0" err="1">
                <a:solidFill>
                  <a:schemeClr val="bg1"/>
                </a:solidFill>
              </a:rPr>
              <a:t>atlanto</a:t>
            </a:r>
            <a:r>
              <a:rPr lang="en-GB" sz="2400" dirty="0">
                <a:solidFill>
                  <a:schemeClr val="bg1"/>
                </a:solidFill>
              </a:rPr>
              <a:t>-axial joint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Articulation of inferior facets of C1 and superior facets of 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Median </a:t>
            </a:r>
            <a:r>
              <a:rPr lang="en-GB" sz="2400" dirty="0" err="1">
                <a:solidFill>
                  <a:schemeClr val="bg1"/>
                </a:solidFill>
              </a:rPr>
              <a:t>atlanto</a:t>
            </a:r>
            <a:r>
              <a:rPr lang="en-GB" sz="2400" dirty="0">
                <a:solidFill>
                  <a:schemeClr val="bg1"/>
                </a:solidFill>
              </a:rPr>
              <a:t>-axial joint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Articulation of anterior surface of dens with the posterior surface of the anterior arch of C1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Posterior surface of dens with the transverse ligament of C1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4" descr="atlas&amp;axis_vertebra_best_PB012142_lbd">
            <a:extLst>
              <a:ext uri="{FF2B5EF4-FFF2-40B4-BE49-F238E27FC236}">
                <a16:creationId xmlns:a16="http://schemas.microsoft.com/office/drawing/2014/main" id="{B2B14E07-C936-B2AB-6C94-29048BA1C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105" y="539567"/>
            <a:ext cx="4248150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ED8E240E-C701-77F8-C016-1571A89558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836" y="3648152"/>
            <a:ext cx="3722687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9721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33925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err="1">
                <a:solidFill>
                  <a:schemeClr val="bg1"/>
                </a:solidFill>
              </a:rPr>
              <a:t>Atlanto</a:t>
            </a:r>
            <a:r>
              <a:rPr lang="en-GB" sz="4400" dirty="0">
                <a:solidFill>
                  <a:schemeClr val="bg1"/>
                </a:solidFill>
              </a:rPr>
              <a:t>-axial joint</a:t>
            </a:r>
          </a:p>
          <a:p>
            <a:endParaRPr lang="en-GB" sz="4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Complex movements due to lateral and medial joints moving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Main movement rotation (shaking head to say “no”)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Atlas spins on its 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head and C1 move as a unit on 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5C1CF-C793-5F25-E283-2ECE4792B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837" y="1479145"/>
            <a:ext cx="5427977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05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113BBF-3443-3607-9360-473F12006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" y="117987"/>
            <a:ext cx="11931446" cy="663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85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65134" y="444816"/>
            <a:ext cx="608028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Sternocleidomastoid</a:t>
            </a:r>
          </a:p>
          <a:p>
            <a:endParaRPr lang="en-GB" sz="14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Origin – Manubrium of sternum (sternal head), medial 1/3 of clavicle (clavicular head)</a:t>
            </a:r>
          </a:p>
          <a:p>
            <a:r>
              <a:rPr lang="en-GB" sz="2400" dirty="0">
                <a:solidFill>
                  <a:schemeClr val="bg1"/>
                </a:solidFill>
              </a:rPr>
              <a:t>	</a:t>
            </a:r>
          </a:p>
          <a:p>
            <a:r>
              <a:rPr lang="en-GB" sz="2400" dirty="0">
                <a:solidFill>
                  <a:schemeClr val="bg1"/>
                </a:solidFill>
              </a:rPr>
              <a:t>Insertion – Mastoid process, superior nuchal line of occiput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Action – Lateral flexion and (contralateral) rotation (unilateral), flexion of neck and extension of head (bilateral)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Innervation – Spinal accessory nerve C1-5.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403F3E-661D-003D-D6DE-535CA8FC3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417" y="1467461"/>
            <a:ext cx="4611564" cy="392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371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65134" y="444816"/>
            <a:ext cx="608028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Splenius Capitis</a:t>
            </a:r>
          </a:p>
          <a:p>
            <a:endParaRPr lang="en-GB" sz="14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Origin – Lower ligamentum nuchae, C7-T3 spinous processes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Insertion – Mastoid process, superior nuchal line of occiput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Action – Head extension (bilateral), rotation and lateral flexion (ipsilateral)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Innervation – Posterior rami of C2-3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D45F38-A374-8444-2731-1ECF9027C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830" y="1199625"/>
            <a:ext cx="4827863" cy="482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7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33096" y="304011"/>
            <a:ext cx="64005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Scalene muscles</a:t>
            </a:r>
          </a:p>
          <a:p>
            <a:endParaRPr lang="en-GB" sz="1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Anterior scalene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O = C3-6 transverse processes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I = Scalene tubercle of 1</a:t>
            </a:r>
            <a:r>
              <a:rPr lang="en-GB" sz="2200" baseline="30000" dirty="0">
                <a:solidFill>
                  <a:schemeClr val="bg1"/>
                </a:solidFill>
              </a:rPr>
              <a:t>st</a:t>
            </a:r>
            <a:r>
              <a:rPr lang="en-GB" sz="2200" dirty="0">
                <a:solidFill>
                  <a:schemeClr val="bg1"/>
                </a:solidFill>
              </a:rPr>
              <a:t> rib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A = Elevation of 1</a:t>
            </a:r>
            <a:r>
              <a:rPr lang="en-GB" sz="2200" baseline="30000" dirty="0">
                <a:solidFill>
                  <a:schemeClr val="bg1"/>
                </a:solidFill>
              </a:rPr>
              <a:t>st</a:t>
            </a:r>
            <a:r>
              <a:rPr lang="en-GB" sz="2200" dirty="0">
                <a:solidFill>
                  <a:schemeClr val="bg1"/>
                </a:solidFill>
              </a:rPr>
              <a:t> rib, lateral flexion (ipsilateral), flexion (bilateral)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bg1"/>
                </a:solidFill>
              </a:rPr>
              <a:t>i</a:t>
            </a:r>
            <a:r>
              <a:rPr lang="en-GB" sz="2200" dirty="0">
                <a:solidFill>
                  <a:schemeClr val="bg1"/>
                </a:solidFill>
              </a:rPr>
              <a:t> = C5-7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Middle scalene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O = C2-7 transverse processes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I = superior aspect of 1</a:t>
            </a:r>
            <a:r>
              <a:rPr lang="en-GB" sz="2200" baseline="30000" dirty="0">
                <a:solidFill>
                  <a:schemeClr val="bg1"/>
                </a:solidFill>
              </a:rPr>
              <a:t>st</a:t>
            </a:r>
            <a:r>
              <a:rPr lang="en-GB" sz="2200" dirty="0">
                <a:solidFill>
                  <a:schemeClr val="bg1"/>
                </a:solidFill>
              </a:rPr>
              <a:t> rib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A = Elevation of 1</a:t>
            </a:r>
            <a:r>
              <a:rPr lang="en-GB" sz="2200" baseline="30000" dirty="0">
                <a:solidFill>
                  <a:schemeClr val="bg1"/>
                </a:solidFill>
              </a:rPr>
              <a:t>st</a:t>
            </a:r>
            <a:r>
              <a:rPr lang="en-GB" sz="2200" dirty="0">
                <a:solidFill>
                  <a:schemeClr val="bg1"/>
                </a:solidFill>
              </a:rPr>
              <a:t> rib, Lateral flexion (ipsilateral)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bg1"/>
                </a:solidFill>
              </a:rPr>
              <a:t>i</a:t>
            </a:r>
            <a:r>
              <a:rPr lang="en-GB" sz="2200" dirty="0">
                <a:solidFill>
                  <a:schemeClr val="bg1"/>
                </a:solidFill>
              </a:rPr>
              <a:t> – C3-8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5FF92-4186-6561-F445-E6B9BBD86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450" y="1137225"/>
            <a:ext cx="5692170" cy="452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8238-A0AE-7A01-E6B3-3734F53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412052-69C2-AF0D-AAA2-00A3E4EBBE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D98BAA7E-90CE-C493-1621-7036B46C78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B1A552-415B-987D-3CB5-CDB130B56ABE}"/>
              </a:ext>
            </a:extLst>
          </p:cNvPr>
          <p:cNvSpPr txBox="1"/>
          <p:nvPr/>
        </p:nvSpPr>
        <p:spPr>
          <a:xfrm>
            <a:off x="756745" y="201535"/>
            <a:ext cx="640051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Scalene muscles</a:t>
            </a:r>
          </a:p>
          <a:p>
            <a:endParaRPr lang="en-GB" sz="1400" dirty="0">
              <a:solidFill>
                <a:schemeClr val="bg1"/>
              </a:solidFill>
            </a:endParaRPr>
          </a:p>
          <a:p>
            <a:pPr lvl="1"/>
            <a:endParaRPr lang="en-GB" sz="2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Posterior scalene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O = C5-7 transverse processes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I = 2</a:t>
            </a:r>
            <a:r>
              <a:rPr lang="en-GB" sz="2200" baseline="30000" dirty="0">
                <a:solidFill>
                  <a:schemeClr val="bg1"/>
                </a:solidFill>
              </a:rPr>
              <a:t>nd</a:t>
            </a:r>
            <a:r>
              <a:rPr lang="en-GB" sz="2200" dirty="0">
                <a:solidFill>
                  <a:schemeClr val="bg1"/>
                </a:solidFill>
              </a:rPr>
              <a:t> rib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</a:rPr>
              <a:t>A = Elevation of 2</a:t>
            </a:r>
            <a:r>
              <a:rPr lang="en-GB" sz="2200" baseline="30000" dirty="0">
                <a:solidFill>
                  <a:schemeClr val="bg1"/>
                </a:solidFill>
              </a:rPr>
              <a:t>nd</a:t>
            </a:r>
            <a:r>
              <a:rPr lang="en-GB" sz="2200" dirty="0">
                <a:solidFill>
                  <a:schemeClr val="bg1"/>
                </a:solidFill>
              </a:rPr>
              <a:t> rib, lateral flexion (ipsilateral)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bg1"/>
                </a:solidFill>
              </a:rPr>
              <a:t>i</a:t>
            </a:r>
            <a:r>
              <a:rPr lang="en-GB" sz="2200" dirty="0">
                <a:solidFill>
                  <a:schemeClr val="bg1"/>
                </a:solidFill>
              </a:rPr>
              <a:t> – C7-8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58651-7A68-CA63-F381-7FAA36A5F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450" y="1137225"/>
            <a:ext cx="5692170" cy="452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2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57975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Suboccipital muscles</a:t>
            </a:r>
          </a:p>
          <a:p>
            <a:endParaRPr lang="en-GB" sz="4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Rectus capitis posterior major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C2 spinous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Lateral part of nuchal line of occiput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Extension and rotation of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Rectus capitis posterior minor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C1 posterior tubercle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Medial part of nuchal line of occiput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Extension of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7F4254-A052-1FC6-D059-093CB0C03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041" y="1866678"/>
            <a:ext cx="5543508" cy="380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2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579759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Suboccipital muscles</a:t>
            </a:r>
          </a:p>
          <a:p>
            <a:endParaRPr lang="en-GB" sz="4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Obliquus capitis superior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C1 transverse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Occipital bone between superior and inferior nuchal lines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Extension of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Obliquus capitis inferior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C2 spinous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C1 transverse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Extension and rotation of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Innervation – Suboccipital nerve C1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7F4254-A052-1FC6-D059-093CB0C03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041" y="1866678"/>
            <a:ext cx="5543508" cy="380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20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5579759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Deep flexors</a:t>
            </a:r>
          </a:p>
          <a:p>
            <a:endParaRPr lang="en-GB" sz="4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Rectus Capitis Anterior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Anterior surface of lateral mass of C1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Inferior surface of occiput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flexion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bg1"/>
                </a:solidFill>
              </a:rPr>
              <a:t>i</a:t>
            </a:r>
            <a:r>
              <a:rPr lang="en-GB" sz="2400" dirty="0">
                <a:solidFill>
                  <a:schemeClr val="bg1"/>
                </a:solidFill>
              </a:rPr>
              <a:t> – C1-2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Rectus Capitis Lateralis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Transverse process of C1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Jugular process of occiput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</a:t>
            </a:r>
            <a:r>
              <a:rPr lang="en-GB" sz="2400" dirty="0" err="1">
                <a:solidFill>
                  <a:schemeClr val="bg1"/>
                </a:solidFill>
              </a:rPr>
              <a:t>Stabiisation</a:t>
            </a:r>
            <a:r>
              <a:rPr lang="en-GB" sz="2400" dirty="0">
                <a:solidFill>
                  <a:schemeClr val="bg1"/>
                </a:solidFill>
              </a:rPr>
              <a:t> of head and lateral flexion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bg1"/>
                </a:solidFill>
              </a:rPr>
              <a:t>i</a:t>
            </a:r>
            <a:r>
              <a:rPr lang="en-GB" sz="2400" dirty="0">
                <a:solidFill>
                  <a:schemeClr val="bg1"/>
                </a:solidFill>
              </a:rPr>
              <a:t> – C1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B000B-4B63-C5C0-0082-15B0F1BC9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94" y="976312"/>
            <a:ext cx="36195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65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77D0C-CDD5-B113-5186-443FC26EB64E}"/>
              </a:ext>
            </a:extLst>
          </p:cNvPr>
          <p:cNvSpPr txBox="1"/>
          <p:nvPr/>
        </p:nvSpPr>
        <p:spPr>
          <a:xfrm>
            <a:off x="756745" y="316226"/>
            <a:ext cx="6734624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Deep flexors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Longus Capitis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Anterior tubercles of TP of C3-6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Basilar portion of occiput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Flexion (bilateral), ipsilateral rotation/lateral flexion (unilateral)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bg1"/>
                </a:solidFill>
              </a:rPr>
              <a:t>i</a:t>
            </a:r>
            <a:r>
              <a:rPr lang="en-GB" sz="2400" dirty="0">
                <a:solidFill>
                  <a:schemeClr val="bg1"/>
                </a:solidFill>
              </a:rPr>
              <a:t> – C1-5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Longus </a:t>
            </a:r>
            <a:r>
              <a:rPr lang="en-GB" sz="2400" dirty="0" err="1">
                <a:solidFill>
                  <a:schemeClr val="bg1"/>
                </a:solidFill>
              </a:rPr>
              <a:t>Colli</a:t>
            </a:r>
            <a:r>
              <a:rPr lang="en-GB" sz="2400" dirty="0">
                <a:solidFill>
                  <a:schemeClr val="bg1"/>
                </a:solidFill>
              </a:rPr>
              <a:t> / Longus Cervicis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 = Anterior surfaces of C3-T3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 = Anterior arch of C1, anterior tubercles of C5-6, anterior surfaces of C2-4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= Flexion (bilateral), ipsilateral lateral flexion and rotation (unilateral)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bg1"/>
                </a:solidFill>
              </a:rPr>
              <a:t>i</a:t>
            </a:r>
            <a:r>
              <a:rPr lang="en-GB" sz="2400" dirty="0">
                <a:solidFill>
                  <a:schemeClr val="bg1"/>
                </a:solidFill>
              </a:rPr>
              <a:t> – C3-T3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B000B-4B63-C5C0-0082-15B0F1BC9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94" y="976312"/>
            <a:ext cx="36195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45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49386D-535F-975A-12FF-5829A6E5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Nerve roots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533B48-1E7A-0F59-01CD-D95E2B63C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Lx = 5 vertebrae and 5 nerve roots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Tx = 12 vertebrae and 12 nerve roots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Cx</a:t>
            </a:r>
            <a:r>
              <a:rPr lang="en-GB" dirty="0">
                <a:solidFill>
                  <a:schemeClr val="bg1"/>
                </a:solidFill>
              </a:rPr>
              <a:t> = 7 vertebrae and </a:t>
            </a:r>
            <a:r>
              <a:rPr lang="en-GB" dirty="0">
                <a:solidFill>
                  <a:srgbClr val="FF0000"/>
                </a:solidFill>
              </a:rPr>
              <a:t>8 nerve roots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Round Diagonal Corner Rectangle 2">
            <a:extLst>
              <a:ext uri="{FF2B5EF4-FFF2-40B4-BE49-F238E27FC236}">
                <a16:creationId xmlns:a16="http://schemas.microsoft.com/office/drawing/2014/main" id="{474E1058-E093-A3E3-5CC1-AE8344494957}"/>
              </a:ext>
            </a:extLst>
          </p:cNvPr>
          <p:cNvSpPr/>
          <p:nvPr/>
        </p:nvSpPr>
        <p:spPr>
          <a:xfrm>
            <a:off x="6526924" y="2563060"/>
            <a:ext cx="5538378" cy="4093405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545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2">
            <a:extLst>
              <a:ext uri="{FF2B5EF4-FFF2-40B4-BE49-F238E27FC236}">
                <a16:creationId xmlns:a16="http://schemas.microsoft.com/office/drawing/2014/main" id="{808C4743-2362-B18E-FD52-701DDF43CBCA}"/>
              </a:ext>
            </a:extLst>
          </p:cNvPr>
          <p:cNvSpPr/>
          <p:nvPr/>
        </p:nvSpPr>
        <p:spPr>
          <a:xfrm>
            <a:off x="1585519" y="616127"/>
            <a:ext cx="9179200" cy="5625746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97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AB4CC0-520F-7DDA-AF71-608CE5CF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Brachial Plexus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B6726-3AE2-A4E5-0012-4BF45CE97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23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C5-T1 nerve roots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Median nerve</a:t>
            </a:r>
          </a:p>
          <a:p>
            <a:r>
              <a:rPr lang="en-GB" dirty="0">
                <a:solidFill>
                  <a:schemeClr val="bg1"/>
                </a:solidFill>
              </a:rPr>
              <a:t>Ulnar nerve</a:t>
            </a:r>
          </a:p>
          <a:p>
            <a:r>
              <a:rPr lang="en-GB" dirty="0">
                <a:solidFill>
                  <a:schemeClr val="bg1"/>
                </a:solidFill>
              </a:rPr>
              <a:t>Radial nerve</a:t>
            </a:r>
          </a:p>
          <a:p>
            <a:r>
              <a:rPr lang="en-GB" dirty="0">
                <a:solidFill>
                  <a:schemeClr val="bg1"/>
                </a:solidFill>
              </a:rPr>
              <a:t>Axillary nerve</a:t>
            </a:r>
          </a:p>
          <a:p>
            <a:r>
              <a:rPr lang="en-GB" dirty="0">
                <a:solidFill>
                  <a:schemeClr val="bg1"/>
                </a:solidFill>
              </a:rPr>
              <a:t>Musculocutaneous nerve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9D8FF-9A02-1712-9201-3648286A9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026" y="1253331"/>
            <a:ext cx="68968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88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6B047C31-4CA3-26C5-14DA-8F0CEBA79556}"/>
              </a:ext>
            </a:extLst>
          </p:cNvPr>
          <p:cNvSpPr/>
          <p:nvPr/>
        </p:nvSpPr>
        <p:spPr>
          <a:xfrm>
            <a:off x="7240409" y="383771"/>
            <a:ext cx="4646789" cy="6090457"/>
          </a:xfrm>
          <a:prstGeom prst="round2DiagRect">
            <a:avLst/>
          </a:prstGeom>
          <a:solidFill>
            <a:schemeClr val="bg1"/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3" name="Round Diagonal Corner Rectangle 2"/>
          <p:cNvSpPr/>
          <p:nvPr/>
        </p:nvSpPr>
        <p:spPr>
          <a:xfrm>
            <a:off x="7240410" y="402811"/>
            <a:ext cx="4646789" cy="609045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8" name="Round Diagonal Corner Rectangle 3">
            <a:extLst>
              <a:ext uri="{FF2B5EF4-FFF2-40B4-BE49-F238E27FC236}">
                <a16:creationId xmlns:a16="http://schemas.microsoft.com/office/drawing/2014/main" id="{7C580129-A0D0-E6A1-4FAA-43A4C34C02A0}"/>
              </a:ext>
            </a:extLst>
          </p:cNvPr>
          <p:cNvSpPr/>
          <p:nvPr/>
        </p:nvSpPr>
        <p:spPr>
          <a:xfrm>
            <a:off x="622929" y="402811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Median Nerve</a:t>
            </a:r>
          </a:p>
        </p:txBody>
      </p:sp>
      <p:sp>
        <p:nvSpPr>
          <p:cNvPr id="10" name="Round Diagonal Corner Rectangle 2">
            <a:extLst>
              <a:ext uri="{FF2B5EF4-FFF2-40B4-BE49-F238E27FC236}">
                <a16:creationId xmlns:a16="http://schemas.microsoft.com/office/drawing/2014/main" id="{58A3FD29-DAE6-EBDA-EAEC-9386C377D750}"/>
              </a:ext>
            </a:extLst>
          </p:cNvPr>
          <p:cNvSpPr/>
          <p:nvPr/>
        </p:nvSpPr>
        <p:spPr>
          <a:xfrm>
            <a:off x="622929" y="2435830"/>
            <a:ext cx="6312680" cy="408881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70812-1827-4346-DFA0-DA12CF7508F9}"/>
              </a:ext>
            </a:extLst>
          </p:cNvPr>
          <p:cNvSpPr/>
          <p:nvPr/>
        </p:nvSpPr>
        <p:spPr>
          <a:xfrm>
            <a:off x="676507" y="6214946"/>
            <a:ext cx="1799064" cy="27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962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5364480" y="418514"/>
            <a:ext cx="6204590" cy="609045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58A4D148-8F40-DC42-7837-B056450567DE}"/>
              </a:ext>
            </a:extLst>
          </p:cNvPr>
          <p:cNvSpPr/>
          <p:nvPr/>
        </p:nvSpPr>
        <p:spPr>
          <a:xfrm>
            <a:off x="622929" y="402811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Median Nerve</a:t>
            </a:r>
          </a:p>
        </p:txBody>
      </p:sp>
    </p:spTree>
    <p:extLst>
      <p:ext uri="{BB962C8B-B14F-4D97-AF65-F5344CB8AC3E}">
        <p14:creationId xmlns:p14="http://schemas.microsoft.com/office/powerpoint/2010/main" val="2499690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6B047C31-4CA3-26C5-14DA-8F0CEBA79556}"/>
              </a:ext>
            </a:extLst>
          </p:cNvPr>
          <p:cNvSpPr/>
          <p:nvPr/>
        </p:nvSpPr>
        <p:spPr>
          <a:xfrm>
            <a:off x="7240409" y="383771"/>
            <a:ext cx="4646789" cy="6090457"/>
          </a:xfrm>
          <a:prstGeom prst="round2DiagRect">
            <a:avLst/>
          </a:prstGeom>
          <a:solidFill>
            <a:schemeClr val="bg1"/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8" name="Round Diagonal Corner Rectangle 3">
            <a:extLst>
              <a:ext uri="{FF2B5EF4-FFF2-40B4-BE49-F238E27FC236}">
                <a16:creationId xmlns:a16="http://schemas.microsoft.com/office/drawing/2014/main" id="{7C580129-A0D0-E6A1-4FAA-43A4C34C02A0}"/>
              </a:ext>
            </a:extLst>
          </p:cNvPr>
          <p:cNvSpPr/>
          <p:nvPr/>
        </p:nvSpPr>
        <p:spPr>
          <a:xfrm>
            <a:off x="676507" y="468615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Ulnar Nerve</a:t>
            </a:r>
          </a:p>
        </p:txBody>
      </p:sp>
      <p:sp>
        <p:nvSpPr>
          <p:cNvPr id="10" name="Round Diagonal Corner Rectangle 2">
            <a:extLst>
              <a:ext uri="{FF2B5EF4-FFF2-40B4-BE49-F238E27FC236}">
                <a16:creationId xmlns:a16="http://schemas.microsoft.com/office/drawing/2014/main" id="{58A3FD29-DAE6-EBDA-EAEC-9386C377D750}"/>
              </a:ext>
            </a:extLst>
          </p:cNvPr>
          <p:cNvSpPr/>
          <p:nvPr/>
        </p:nvSpPr>
        <p:spPr>
          <a:xfrm>
            <a:off x="622929" y="2435830"/>
            <a:ext cx="6312680" cy="408881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11" name="Round Diagonal Corner Rectangle 2">
            <a:extLst>
              <a:ext uri="{FF2B5EF4-FFF2-40B4-BE49-F238E27FC236}">
                <a16:creationId xmlns:a16="http://schemas.microsoft.com/office/drawing/2014/main" id="{FFCEA9D1-64FF-CB57-6C96-F3530340674F}"/>
              </a:ext>
            </a:extLst>
          </p:cNvPr>
          <p:cNvSpPr/>
          <p:nvPr/>
        </p:nvSpPr>
        <p:spPr>
          <a:xfrm>
            <a:off x="7240409" y="402811"/>
            <a:ext cx="4646789" cy="6090457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D383A-54A7-772F-9F8D-80550A28C68A}"/>
              </a:ext>
            </a:extLst>
          </p:cNvPr>
          <p:cNvSpPr/>
          <p:nvPr/>
        </p:nvSpPr>
        <p:spPr>
          <a:xfrm>
            <a:off x="676507" y="6214946"/>
            <a:ext cx="1799064" cy="27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95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5364480" y="418514"/>
            <a:ext cx="6204590" cy="609045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8CA4EA3C-0DE6-51CC-B354-E9D8A89F0AE5}"/>
              </a:ext>
            </a:extLst>
          </p:cNvPr>
          <p:cNvSpPr/>
          <p:nvPr/>
        </p:nvSpPr>
        <p:spPr>
          <a:xfrm>
            <a:off x="676507" y="468615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Ulnar Nerve</a:t>
            </a:r>
          </a:p>
        </p:txBody>
      </p:sp>
    </p:spTree>
    <p:extLst>
      <p:ext uri="{BB962C8B-B14F-4D97-AF65-F5344CB8AC3E}">
        <p14:creationId xmlns:p14="http://schemas.microsoft.com/office/powerpoint/2010/main" val="3792589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6B047C31-4CA3-26C5-14DA-8F0CEBA79556}"/>
              </a:ext>
            </a:extLst>
          </p:cNvPr>
          <p:cNvSpPr/>
          <p:nvPr/>
        </p:nvSpPr>
        <p:spPr>
          <a:xfrm>
            <a:off x="7240409" y="383771"/>
            <a:ext cx="4646789" cy="6090457"/>
          </a:xfrm>
          <a:prstGeom prst="round2DiagRect">
            <a:avLst/>
          </a:prstGeom>
          <a:solidFill>
            <a:schemeClr val="bg1"/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8" name="Round Diagonal Corner Rectangle 3">
            <a:extLst>
              <a:ext uri="{FF2B5EF4-FFF2-40B4-BE49-F238E27FC236}">
                <a16:creationId xmlns:a16="http://schemas.microsoft.com/office/drawing/2014/main" id="{7C580129-A0D0-E6A1-4FAA-43A4C34C02A0}"/>
              </a:ext>
            </a:extLst>
          </p:cNvPr>
          <p:cNvSpPr/>
          <p:nvPr/>
        </p:nvSpPr>
        <p:spPr>
          <a:xfrm>
            <a:off x="690678" y="468615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Radial Nerve</a:t>
            </a:r>
          </a:p>
        </p:txBody>
      </p:sp>
      <p:sp>
        <p:nvSpPr>
          <p:cNvPr id="10" name="Round Diagonal Corner Rectangle 2">
            <a:extLst>
              <a:ext uri="{FF2B5EF4-FFF2-40B4-BE49-F238E27FC236}">
                <a16:creationId xmlns:a16="http://schemas.microsoft.com/office/drawing/2014/main" id="{58A3FD29-DAE6-EBDA-EAEC-9386C377D750}"/>
              </a:ext>
            </a:extLst>
          </p:cNvPr>
          <p:cNvSpPr/>
          <p:nvPr/>
        </p:nvSpPr>
        <p:spPr>
          <a:xfrm>
            <a:off x="622929" y="2435830"/>
            <a:ext cx="6312680" cy="408881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D383A-54A7-772F-9F8D-80550A28C68A}"/>
              </a:ext>
            </a:extLst>
          </p:cNvPr>
          <p:cNvSpPr/>
          <p:nvPr/>
        </p:nvSpPr>
        <p:spPr>
          <a:xfrm>
            <a:off x="676507" y="6214946"/>
            <a:ext cx="1799064" cy="27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 Diagonal Corner Rectangle 2">
            <a:extLst>
              <a:ext uri="{FF2B5EF4-FFF2-40B4-BE49-F238E27FC236}">
                <a16:creationId xmlns:a16="http://schemas.microsoft.com/office/drawing/2014/main" id="{DB8C148B-9ADA-7A6A-5600-11F1C3EEB73F}"/>
              </a:ext>
            </a:extLst>
          </p:cNvPr>
          <p:cNvSpPr/>
          <p:nvPr/>
        </p:nvSpPr>
        <p:spPr>
          <a:xfrm>
            <a:off x="7240409" y="402811"/>
            <a:ext cx="4646789" cy="6090457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36953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5364480" y="418514"/>
            <a:ext cx="6204590" cy="609045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altLang="en-US" sz="2800" dirty="0"/>
          </a:p>
        </p:txBody>
      </p:sp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462F19FA-A3E9-C752-2D21-AF09967AA00B}"/>
              </a:ext>
            </a:extLst>
          </p:cNvPr>
          <p:cNvSpPr/>
          <p:nvPr/>
        </p:nvSpPr>
        <p:spPr>
          <a:xfrm>
            <a:off x="690678" y="468615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Radial Nerve</a:t>
            </a:r>
          </a:p>
        </p:txBody>
      </p:sp>
    </p:spTree>
    <p:extLst>
      <p:ext uri="{BB962C8B-B14F-4D97-AF65-F5344CB8AC3E}">
        <p14:creationId xmlns:p14="http://schemas.microsoft.com/office/powerpoint/2010/main" val="1345485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462F19FA-A3E9-C752-2D21-AF09967AA00B}"/>
              </a:ext>
            </a:extLst>
          </p:cNvPr>
          <p:cNvSpPr/>
          <p:nvPr/>
        </p:nvSpPr>
        <p:spPr>
          <a:xfrm>
            <a:off x="690678" y="468615"/>
            <a:ext cx="3815720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Axillary Nerve</a:t>
            </a:r>
          </a:p>
        </p:txBody>
      </p:sp>
      <p:pic>
        <p:nvPicPr>
          <p:cNvPr id="1026" name="Picture 2" descr="Sports Injury Bulletin - Diagnose &amp; Treat - Axillary nerve injury: a  pressing problem">
            <a:extLst>
              <a:ext uri="{FF2B5EF4-FFF2-40B4-BE49-F238E27FC236}">
                <a16:creationId xmlns:a16="http://schemas.microsoft.com/office/drawing/2014/main" id="{0A7BFB5B-0E62-A00A-C04A-EF0D6066C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464" y="1515775"/>
            <a:ext cx="64103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116506-3F76-6D75-B95D-6DB31411FFF7}"/>
              </a:ext>
            </a:extLst>
          </p:cNvPr>
          <p:cNvSpPr txBox="1"/>
          <p:nvPr/>
        </p:nvSpPr>
        <p:spPr>
          <a:xfrm>
            <a:off x="588211" y="1795549"/>
            <a:ext cx="4391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Roots C5-6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Innervates Teres minor and Deltoid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 3% to 6% of all brachial plexus pathologies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Usually injured from compressive forces with anterior should dislocation</a:t>
            </a:r>
          </a:p>
        </p:txBody>
      </p:sp>
    </p:spTree>
    <p:extLst>
      <p:ext uri="{BB962C8B-B14F-4D97-AF65-F5344CB8AC3E}">
        <p14:creationId xmlns:p14="http://schemas.microsoft.com/office/powerpoint/2010/main" val="2086533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462F19FA-A3E9-C752-2D21-AF09967AA00B}"/>
              </a:ext>
            </a:extLst>
          </p:cNvPr>
          <p:cNvSpPr/>
          <p:nvPr/>
        </p:nvSpPr>
        <p:spPr>
          <a:xfrm>
            <a:off x="690677" y="468615"/>
            <a:ext cx="6150697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Musculocutaneous Nerve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16506-3F76-6D75-B95D-6DB31411FFF7}"/>
              </a:ext>
            </a:extLst>
          </p:cNvPr>
          <p:cNvSpPr txBox="1"/>
          <p:nvPr/>
        </p:nvSpPr>
        <p:spPr>
          <a:xfrm>
            <a:off x="588211" y="1795549"/>
            <a:ext cx="52390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Roots C5 –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Innervates muscles at front of arm and skin of lateral forearm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Innervates Biceps Brachii, Brachialis and </a:t>
            </a:r>
            <a:r>
              <a:rPr lang="en-GB" sz="2400" dirty="0" err="1">
                <a:solidFill>
                  <a:schemeClr val="bg1"/>
                </a:solidFill>
              </a:rPr>
              <a:t>Corocobrachialis</a:t>
            </a: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614021-DE72-0E1B-CA4E-19CB57A4F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799" y="770898"/>
            <a:ext cx="4098608" cy="556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8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F85EC5F-56E6-716F-DDB8-EDDEA828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Vertebrobasilar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ED49C-FCB2-5423-99E9-716E524C4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0159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Vertebrobasilar artery mainly supplies the hindbrain which is responsible for balance, communication, co-ordination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Can be restricted due to too much movement (rotation) – vertebrobasilar insufficiency </a:t>
            </a:r>
          </a:p>
        </p:txBody>
      </p:sp>
      <p:pic>
        <p:nvPicPr>
          <p:cNvPr id="2" name="Picture 2" descr="The hindbrain - Queensland Brain Institute - University of Queensland">
            <a:extLst>
              <a:ext uri="{FF2B5EF4-FFF2-40B4-BE49-F238E27FC236}">
                <a16:creationId xmlns:a16="http://schemas.microsoft.com/office/drawing/2014/main" id="{0C900325-5093-851E-7FB3-933DF982C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59" y="1281504"/>
            <a:ext cx="4495595" cy="455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348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F85EC5F-56E6-716F-DDB8-EDDEA828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Vertebrobasilar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ED49C-FCB2-5423-99E9-716E524C4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0159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Composed of Subclavian Artery, Vertebral Artery and Basilar Artery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Vertebral artery runs through foreman transversarium of </a:t>
            </a:r>
            <a:r>
              <a:rPr lang="en-US" dirty="0" err="1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Cx</a:t>
            </a:r>
            <a:r>
              <a:rPr lang="en-US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and then meets the contralateral VA to form the Basilar Artery</a:t>
            </a:r>
          </a:p>
          <a:p>
            <a:endParaRPr lang="en-US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dirty="0">
                <a:solidFill>
                  <a:schemeClr val="bg1"/>
                </a:solidFill>
              </a:rPr>
              <a:t>VA kinks between C2 and C1</a:t>
            </a:r>
            <a:endParaRPr lang="en-US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E9CAE0-50F2-9600-9610-51659FEF1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262" y="708866"/>
            <a:ext cx="3975538" cy="53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06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890093-1755-8CEB-D308-6D5D76CB7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46" y="201535"/>
            <a:ext cx="11447417" cy="639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33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F85EC5F-56E6-716F-DDB8-EDDEA828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Signs and symptoms of VBI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ED49C-FCB2-5423-99E9-716E524C4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372302" cy="496577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5 D’s &amp; 3 N’s</a:t>
            </a:r>
          </a:p>
          <a:p>
            <a:endParaRPr lang="en-US" sz="2400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Drop attacks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Dizziness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Dysphasia – difficulty swallowing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Dysathria</a:t>
            </a: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– difficulty speaking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Diplopia – Blurred vision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Nystagmus – uncontrolled eye movement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Nausea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Neurological symptoms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AD362-87D4-0FD9-FD49-AD3F2FA278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647" t="51879" r="21594" b="12606"/>
          <a:stretch/>
        </p:blipFill>
        <p:spPr>
          <a:xfrm>
            <a:off x="6359236" y="1489153"/>
            <a:ext cx="5549614" cy="463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60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3ADED-561B-4CE1-5686-3F61B072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50F5AF-B68E-9038-7E90-1B32DA0828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57E8B007-636E-59B7-5470-B75E0486BD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344AAE0C-CBAF-1CDF-BA3F-82C4B2EF0AFF}"/>
              </a:ext>
            </a:extLst>
          </p:cNvPr>
          <p:cNvSpPr/>
          <p:nvPr/>
        </p:nvSpPr>
        <p:spPr>
          <a:xfrm>
            <a:off x="690677" y="468615"/>
            <a:ext cx="6150697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6DC7B-86B3-A26A-5C47-B0C45A21E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8813" y="843265"/>
            <a:ext cx="6796984" cy="475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35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DE36-D765-3110-BB02-CBECFC41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4CA4B6-D958-D04C-3D77-C7EFBE0C6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6A389EDE-DFD8-2D16-D899-5F96C3E5A6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C3878BCC-67AF-8E98-291A-38E0649B54B9}"/>
              </a:ext>
            </a:extLst>
          </p:cNvPr>
          <p:cNvSpPr/>
          <p:nvPr/>
        </p:nvSpPr>
        <p:spPr>
          <a:xfrm>
            <a:off x="690677" y="468615"/>
            <a:ext cx="6150697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721608-7154-D418-8666-041A94D1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Clinical Application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C55054-8F19-2BE0-B1EE-06EFC183E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58171" y="1825625"/>
            <a:ext cx="5675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39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3FCB5-D588-D2D2-5E0D-02AE1B80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833CE8-EF96-1A5B-FE4B-DDF363E47C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4C5F8CCA-21DC-EFD9-BB85-CDB026B9ECF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222A945A-D6E8-5F90-5664-3674AF69F8D7}"/>
              </a:ext>
            </a:extLst>
          </p:cNvPr>
          <p:cNvSpPr/>
          <p:nvPr/>
        </p:nvSpPr>
        <p:spPr>
          <a:xfrm>
            <a:off x="690677" y="468615"/>
            <a:ext cx="6150697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CB271D-7410-12C6-B0C2-9F03CB8A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Common </a:t>
            </a:r>
            <a:r>
              <a:rPr lang="en-GB" dirty="0" err="1">
                <a:solidFill>
                  <a:schemeClr val="bg1"/>
                </a:solidFill>
              </a:rPr>
              <a:t>Cx</a:t>
            </a:r>
            <a:r>
              <a:rPr lang="en-GB" dirty="0">
                <a:solidFill>
                  <a:schemeClr val="bg1"/>
                </a:solidFill>
              </a:rPr>
              <a:t> Pathology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1EB5C-FACF-C641-BF2C-AF43402F7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Whiplash Injury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Cervical Radiculopathy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Degenerative Disc Disease</a:t>
            </a:r>
          </a:p>
        </p:txBody>
      </p:sp>
    </p:spTree>
    <p:extLst>
      <p:ext uri="{BB962C8B-B14F-4D97-AF65-F5344CB8AC3E}">
        <p14:creationId xmlns:p14="http://schemas.microsoft.com/office/powerpoint/2010/main" val="3788911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D16C-C4C8-35BC-0F42-2EC7423B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6FF5A0-DC9E-27B4-A74E-3C2B1427BE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70E9E1DF-7731-AB8C-D171-B6661BAABF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43210D-B21C-D0F8-9C54-3335544FB75C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4A2F2-0B01-9468-4F3F-8604223A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79476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Whiplash - Pathophysiology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33BF65-6281-58FC-E150-19ACB418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27883" cy="4890485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Sudden hyperextension and hyperflexion of the neck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Overstretching and damage to cervical muscles and ligaments, joint capsule strain, annular tears, compression/traction of nerve roots and nociceptor irritation.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Release of cytokines during inflammatory response resulting in pain sensitisation.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Increased muscle tone/activity of superficial muscles and inhibition of deep neck flexors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Central sensitisation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5AB42-B794-F3E7-63AD-81BFDDF8E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624" y="1749972"/>
            <a:ext cx="3611376" cy="51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76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5076-4AB3-6030-FAE6-72027111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F7BE76-7249-4D95-1682-E0CBDB4BBA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B92F295C-F814-EE31-0AF2-BBD7EA3F8D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743A00-1159-690A-95D4-CDCF81CA6EA6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F3FE9-16BE-96A6-1168-D9291183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Whiplash – Clinical 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930157-CC90-802F-6989-FC871440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Symptoms often appear within 24-48 hours</a:t>
            </a:r>
          </a:p>
          <a:p>
            <a:r>
              <a:rPr lang="en-GB" sz="2400" dirty="0">
                <a:solidFill>
                  <a:schemeClr val="bg1"/>
                </a:solidFill>
              </a:rPr>
              <a:t>Neck pain and stiffness</a:t>
            </a:r>
          </a:p>
          <a:p>
            <a:r>
              <a:rPr lang="en-GB" sz="2400" dirty="0">
                <a:solidFill>
                  <a:schemeClr val="bg1"/>
                </a:solidFill>
              </a:rPr>
              <a:t>Reduced ROM</a:t>
            </a:r>
          </a:p>
          <a:p>
            <a:r>
              <a:rPr lang="en-GB" sz="2400" dirty="0">
                <a:solidFill>
                  <a:schemeClr val="bg1"/>
                </a:solidFill>
              </a:rPr>
              <a:t>Headaches</a:t>
            </a:r>
          </a:p>
          <a:p>
            <a:r>
              <a:rPr lang="en-GB" sz="2400" dirty="0">
                <a:solidFill>
                  <a:schemeClr val="bg1"/>
                </a:solidFill>
              </a:rPr>
              <a:t>Dizziness or light-headedness</a:t>
            </a:r>
          </a:p>
          <a:p>
            <a:r>
              <a:rPr lang="en-GB" sz="2400" dirty="0" err="1">
                <a:solidFill>
                  <a:schemeClr val="bg1"/>
                </a:solidFill>
              </a:rPr>
              <a:t>Parathesia</a:t>
            </a:r>
            <a:r>
              <a:rPr lang="en-GB" sz="2400" dirty="0">
                <a:solidFill>
                  <a:schemeClr val="bg1"/>
                </a:solidFill>
              </a:rPr>
              <a:t> in upper limbs</a:t>
            </a:r>
          </a:p>
          <a:p>
            <a:r>
              <a:rPr lang="en-GB" sz="2400" dirty="0">
                <a:solidFill>
                  <a:schemeClr val="bg1"/>
                </a:solidFill>
              </a:rPr>
              <a:t>Muscle spasm</a:t>
            </a:r>
          </a:p>
          <a:p>
            <a:r>
              <a:rPr lang="en-GB" sz="2400" dirty="0">
                <a:solidFill>
                  <a:schemeClr val="bg1"/>
                </a:solidFill>
              </a:rPr>
              <a:t>Visual disturbance – rare</a:t>
            </a:r>
          </a:p>
          <a:p>
            <a:r>
              <a:rPr lang="en-GB" sz="2400" dirty="0">
                <a:solidFill>
                  <a:schemeClr val="bg1"/>
                </a:solidFill>
              </a:rPr>
              <a:t>Psychological effects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AEB84-3863-4F49-DE4F-721242B9B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624" y="1749972"/>
            <a:ext cx="3611376" cy="51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089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DAFB9-690C-C759-E646-9F23DC96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A0DAD5-FA01-4FDB-0519-97EFEE0353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7207109C-D846-54DC-5546-1CBEACB2CB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6DB920-4D51-27AD-8B3C-C7FD84801B83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FF7F6-2B8F-337F-8BFF-66C07D34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Whiplash - Grading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74053-AFF4-2DCB-3E74-4FCE678C7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32834" cy="435133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Quebec Task Force Classifications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Grade 0 – No complaint and no physical signs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Grade 1 – Complaint of neck (stiffness or tenderness) and no physical signs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Grade 2 – Neck complaint and MSK signs (ROM)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Grade 3 – Neck complaint and neurological signs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Grade 4 – Neck complaint and # or dislocation</a:t>
            </a:r>
          </a:p>
        </p:txBody>
      </p:sp>
    </p:spTree>
    <p:extLst>
      <p:ext uri="{BB962C8B-B14F-4D97-AF65-F5344CB8AC3E}">
        <p14:creationId xmlns:p14="http://schemas.microsoft.com/office/powerpoint/2010/main" val="3078183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ECFD-2D88-65A2-C339-CFBF1AB1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55C64B-DE2D-56EE-2A5D-B8F2B6788D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978AA60B-C273-4237-7182-AEFDF15FB7A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DD9929-6D14-4050-92AB-8609E234850B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FE57B-F3C2-5650-DD51-51385A84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Whiplash – Physiotherapeutic intervention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599E7C-7A6C-5C5A-6912-8E3867BC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Early mobilisation and education</a:t>
            </a:r>
          </a:p>
          <a:p>
            <a:r>
              <a:rPr lang="en-GB" dirty="0">
                <a:solidFill>
                  <a:schemeClr val="bg1"/>
                </a:solidFill>
              </a:rPr>
              <a:t>Avoid prolonged immobilisation</a:t>
            </a:r>
          </a:p>
          <a:p>
            <a:r>
              <a:rPr lang="en-GB" dirty="0">
                <a:solidFill>
                  <a:schemeClr val="bg1"/>
                </a:solidFill>
              </a:rPr>
              <a:t>Address psychological factors – fear avoidance</a:t>
            </a:r>
          </a:p>
          <a:p>
            <a:r>
              <a:rPr lang="en-GB" dirty="0">
                <a:solidFill>
                  <a:schemeClr val="bg1"/>
                </a:solidFill>
              </a:rPr>
              <a:t>Strengthening of deep flexors</a:t>
            </a:r>
          </a:p>
        </p:txBody>
      </p:sp>
    </p:spTree>
    <p:extLst>
      <p:ext uri="{BB962C8B-B14F-4D97-AF65-F5344CB8AC3E}">
        <p14:creationId xmlns:p14="http://schemas.microsoft.com/office/powerpoint/2010/main" val="3872103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D7C5A-6474-6702-A545-44BD5338D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18C9DF-A83C-8989-5EAC-D65670BB96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6C4D9829-45FB-12B5-C9D7-D40284DA29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31F502-3CF7-3F63-BCB6-BDA1BEA28955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38B5C-D566-0D2F-D576-DD11E525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Cervical Radiculopathy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8C7F2D-5431-794A-CF4A-9BF089E3B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Cervical nerve root compression or irritation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Disc herniation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Spinal stenosis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Other degenerative changes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Tumours, infection and trauma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Direct pressure causing impaired conduction</a:t>
            </a:r>
          </a:p>
          <a:p>
            <a:r>
              <a:rPr lang="en-GB" dirty="0">
                <a:solidFill>
                  <a:schemeClr val="bg1"/>
                </a:solidFill>
              </a:rPr>
              <a:t>Chemical irritation from inflammatory mediators (cytokines, prostaglandins)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90E79-FBBC-E531-A055-CBF2AC934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514" y="0"/>
            <a:ext cx="3248486" cy="41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009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D976-4577-8064-7BFC-12579CD6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D30A49-7B98-7E36-A62F-73569DC028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E9685C0B-EE6C-7B12-AB88-D2D7FC2AB0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E155DA-8E52-E143-9C67-BFB77F522130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8B381-BE86-1AB6-D9E2-A424D8DE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Cervical Radiculopathy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42482-5DBB-E0C8-A341-589770B46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33490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Unilateral neck pain</a:t>
            </a:r>
          </a:p>
          <a:p>
            <a:r>
              <a:rPr lang="en-GB" dirty="0">
                <a:solidFill>
                  <a:schemeClr val="bg1"/>
                </a:solidFill>
              </a:rPr>
              <a:t>Pain radiating down arm – “sharp, shooting, lancing”</a:t>
            </a:r>
          </a:p>
          <a:p>
            <a:r>
              <a:rPr lang="en-GB" dirty="0">
                <a:solidFill>
                  <a:schemeClr val="bg1"/>
                </a:solidFill>
              </a:rPr>
              <a:t>Often accompanied by </a:t>
            </a:r>
            <a:r>
              <a:rPr lang="en-GB" dirty="0" err="1">
                <a:solidFill>
                  <a:schemeClr val="bg1"/>
                </a:solidFill>
              </a:rPr>
              <a:t>paresthesia</a:t>
            </a:r>
            <a:r>
              <a:rPr lang="en-GB" dirty="0">
                <a:solidFill>
                  <a:schemeClr val="bg1"/>
                </a:solidFill>
              </a:rPr>
              <a:t>, numbness or weakness in the corresponding dermatome/myotome.</a:t>
            </a:r>
          </a:p>
          <a:p>
            <a:r>
              <a:rPr lang="en-GB" dirty="0">
                <a:solidFill>
                  <a:schemeClr val="bg1"/>
                </a:solidFill>
              </a:rPr>
              <a:t>Reflex changes may be present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Biceps C5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Brachioradialis C6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Triceps C7</a:t>
            </a:r>
          </a:p>
          <a:p>
            <a:r>
              <a:rPr lang="en-GB" dirty="0">
                <a:solidFill>
                  <a:schemeClr val="bg1"/>
                </a:solidFill>
              </a:rPr>
              <a:t>Pain aggravated by neck movements (especially extension and rotation/lateral flexion to the affected side)</a:t>
            </a:r>
          </a:p>
        </p:txBody>
      </p:sp>
    </p:spTree>
    <p:extLst>
      <p:ext uri="{BB962C8B-B14F-4D97-AF65-F5344CB8AC3E}">
        <p14:creationId xmlns:p14="http://schemas.microsoft.com/office/powerpoint/2010/main" val="3383263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0C68-395D-CD4F-F416-8A248728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997045-765C-1079-6410-4B7CDE5B6A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EC3168FC-2782-15E0-D417-48A067C49B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B32E75-78ED-2271-4A04-A5B11586A3F1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94943-2E67-E2DA-E5BC-192BF644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Degenerative Disc Disease - Pathophysiology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AC473C-EE7D-40B0-600C-01666CB5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03" y="1854278"/>
            <a:ext cx="9070428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Dehydration – loss of proteoglycans causing reduced height</a:t>
            </a:r>
          </a:p>
          <a:p>
            <a:r>
              <a:rPr lang="en-GB" dirty="0">
                <a:solidFill>
                  <a:schemeClr val="bg1"/>
                </a:solidFill>
              </a:rPr>
              <a:t>Decreased function and osteophyte formations</a:t>
            </a:r>
          </a:p>
          <a:p>
            <a:r>
              <a:rPr lang="en-GB" dirty="0">
                <a:solidFill>
                  <a:schemeClr val="bg1"/>
                </a:solidFill>
              </a:rPr>
              <a:t>Tears in annulus fibrosis leading to disc bulges and herniations</a:t>
            </a:r>
          </a:p>
          <a:p>
            <a:r>
              <a:rPr lang="en-GB" dirty="0">
                <a:solidFill>
                  <a:schemeClr val="bg1"/>
                </a:solidFill>
              </a:rPr>
              <a:t>Increased load on facet joints</a:t>
            </a:r>
          </a:p>
          <a:p>
            <a:r>
              <a:rPr lang="en-GB" dirty="0">
                <a:solidFill>
                  <a:schemeClr val="bg1"/>
                </a:solidFill>
              </a:rPr>
              <a:t>Ligament thickening – ligamentum flavum</a:t>
            </a:r>
          </a:p>
          <a:p>
            <a:r>
              <a:rPr lang="en-GB" dirty="0">
                <a:solidFill>
                  <a:schemeClr val="bg1"/>
                </a:solidFill>
              </a:rPr>
              <a:t>Spinal stenosis</a:t>
            </a:r>
          </a:p>
          <a:p>
            <a:r>
              <a:rPr lang="en-GB" dirty="0">
                <a:solidFill>
                  <a:schemeClr val="bg1"/>
                </a:solidFill>
              </a:rPr>
              <a:t>Degenerative tissues release chemical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mediators causing sensitisation of nociceptors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FB39E-0261-EB54-504D-B7431965C3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752" r="7701" b="9997"/>
          <a:stretch>
            <a:fillRect/>
          </a:stretch>
        </p:blipFill>
        <p:spPr>
          <a:xfrm>
            <a:off x="7401910" y="3747243"/>
            <a:ext cx="4790090" cy="301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22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D56C-616A-D9DE-E46A-E5E57ED0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BCFED6-7284-B4D0-F12A-CE8BC8B9A8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36831745-1AFB-C80B-7A85-7104FBC7B2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51BDB5-8D5D-6EF7-F3EE-5D01EF2F868E}"/>
              </a:ext>
            </a:extLst>
          </p:cNvPr>
          <p:cNvSpPr txBox="1"/>
          <p:nvPr/>
        </p:nvSpPr>
        <p:spPr>
          <a:xfrm>
            <a:off x="756745" y="316226"/>
            <a:ext cx="673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78C56-9485-6B22-B8B3-797EAE60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Degenerative Disc Disease – Clinical 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2BB1D4-409D-5053-F2DD-B0F0C82A8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436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Pain and stiffness with a gradual, insidious onset</a:t>
            </a:r>
          </a:p>
          <a:p>
            <a:r>
              <a:rPr lang="en-GB" dirty="0">
                <a:solidFill>
                  <a:schemeClr val="bg1"/>
                </a:solidFill>
              </a:rPr>
              <a:t>Aggravated from prolonged activity/posture</a:t>
            </a:r>
          </a:p>
          <a:p>
            <a:r>
              <a:rPr lang="en-GB" dirty="0">
                <a:solidFill>
                  <a:schemeClr val="bg1"/>
                </a:solidFill>
              </a:rPr>
              <a:t>Reduced ROM, often extension and rotation</a:t>
            </a:r>
          </a:p>
          <a:p>
            <a:r>
              <a:rPr lang="en-GB" dirty="0">
                <a:solidFill>
                  <a:schemeClr val="bg1"/>
                </a:solidFill>
              </a:rPr>
              <a:t>Radicular symptoms with nerve root involvement</a:t>
            </a:r>
          </a:p>
          <a:p>
            <a:r>
              <a:rPr lang="en-GB" dirty="0">
                <a:solidFill>
                  <a:schemeClr val="bg1"/>
                </a:solidFill>
              </a:rPr>
              <a:t>Muscle spasms, headaches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C3BF9-E989-A81D-0ECF-2D1DB501B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752" r="7701" b="9997"/>
          <a:stretch>
            <a:fillRect/>
          </a:stretch>
        </p:blipFill>
        <p:spPr>
          <a:xfrm>
            <a:off x="7993118" y="4205181"/>
            <a:ext cx="4198882" cy="263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66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14B0C76-37EF-B1C4-C57C-ECAE6280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solidFill>
                  <a:schemeClr val="bg1"/>
                </a:solidFill>
              </a:rPr>
              <a:t>Summary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9B33FC-A68F-0D6D-7536-9EF60F79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Cervical vertebrae are smaller than Tx and Lx due to being less weightbearing</a:t>
            </a:r>
          </a:p>
          <a:p>
            <a:r>
              <a:rPr lang="en-GB" dirty="0">
                <a:solidFill>
                  <a:schemeClr val="bg1"/>
                </a:solidFill>
              </a:rPr>
              <a:t>C1-occipital, </a:t>
            </a:r>
            <a:r>
              <a:rPr lang="en-GB" dirty="0" err="1">
                <a:solidFill>
                  <a:schemeClr val="bg1"/>
                </a:solidFill>
              </a:rPr>
              <a:t>Atlanto</a:t>
            </a:r>
            <a:r>
              <a:rPr lang="en-GB" dirty="0">
                <a:solidFill>
                  <a:schemeClr val="bg1"/>
                </a:solidFill>
              </a:rPr>
              <a:t>-occipital joint (flexion/extension)</a:t>
            </a:r>
          </a:p>
          <a:p>
            <a:r>
              <a:rPr lang="en-GB" dirty="0">
                <a:solidFill>
                  <a:schemeClr val="bg1"/>
                </a:solidFill>
              </a:rPr>
              <a:t>C2-C1, Atlantoaxial joint (rotation)</a:t>
            </a:r>
          </a:p>
          <a:p>
            <a:r>
              <a:rPr lang="en-GB" dirty="0">
                <a:solidFill>
                  <a:schemeClr val="bg1"/>
                </a:solidFill>
              </a:rPr>
              <a:t>Cervical nerve roots</a:t>
            </a:r>
          </a:p>
          <a:p>
            <a:r>
              <a:rPr lang="en-GB" dirty="0">
                <a:solidFill>
                  <a:schemeClr val="bg1"/>
                </a:solidFill>
              </a:rPr>
              <a:t>Vertebrobasilar system passes through the cervical spine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Be aware of VBI</a:t>
            </a:r>
          </a:p>
        </p:txBody>
      </p:sp>
    </p:spTree>
    <p:extLst>
      <p:ext uri="{BB962C8B-B14F-4D97-AF65-F5344CB8AC3E}">
        <p14:creationId xmlns:p14="http://schemas.microsoft.com/office/powerpoint/2010/main" val="3876144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425678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Case notes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8083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3543-7AEA-2959-1D34-40F8D5D9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15E771-BAAB-2580-200D-25AE91516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AFB29FAA-7A93-8632-AACA-691CBADA55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F75E49-6054-D5DA-F6BD-8E29352A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SAQ Advice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31450E-F51C-F120-BA05-ABF4CAB1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Read the questions carefully!</a:t>
            </a:r>
          </a:p>
          <a:p>
            <a:r>
              <a:rPr lang="en-GB" dirty="0">
                <a:solidFill>
                  <a:schemeClr val="bg1"/>
                </a:solidFill>
              </a:rPr>
              <a:t>Look at how many marks are available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Indicates how many points to include or the level of detail needed.</a:t>
            </a:r>
          </a:p>
          <a:p>
            <a:r>
              <a:rPr lang="en-GB" dirty="0">
                <a:solidFill>
                  <a:schemeClr val="bg1"/>
                </a:solidFill>
              </a:rPr>
              <a:t>Understanding the meaning of different question terms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List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Identify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Outline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Describe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Explain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9310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8B22-C3A9-2CFA-B6E8-9FD4148F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61BD9E-30FC-1BE0-7F7E-DAEEF04A84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09AFED5C-3316-8B13-E6E2-D1B90AB6E1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3D697-EBD6-F6A3-9043-8F3CF9B3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SAQ Descriptors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3643F3-F46D-5977-CD75-59BB694E6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List 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Series of points without explanation, brief with no detail</a:t>
            </a:r>
          </a:p>
          <a:p>
            <a:r>
              <a:rPr lang="en-GB" dirty="0">
                <a:solidFill>
                  <a:schemeClr val="bg1"/>
                </a:solidFill>
              </a:rPr>
              <a:t>Identify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Name or recognise something from given information</a:t>
            </a:r>
          </a:p>
          <a:p>
            <a:r>
              <a:rPr lang="en-GB" dirty="0">
                <a:solidFill>
                  <a:schemeClr val="bg1"/>
                </a:solidFill>
              </a:rPr>
              <a:t>Outline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Give a general overview or summary</a:t>
            </a:r>
          </a:p>
          <a:p>
            <a:r>
              <a:rPr lang="en-GB" dirty="0">
                <a:solidFill>
                  <a:schemeClr val="bg1"/>
                </a:solidFill>
              </a:rPr>
              <a:t>Describe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Detailed account of something, including features</a:t>
            </a:r>
          </a:p>
          <a:p>
            <a:r>
              <a:rPr lang="en-GB" dirty="0">
                <a:solidFill>
                  <a:schemeClr val="bg1"/>
                </a:solidFill>
              </a:rPr>
              <a:t>Explain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Provide reasons to show understanding of why/how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380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77E8-3C5F-9E93-E625-A384CE8E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0C5A06-CD9E-A47C-7639-E3295496FF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F66AE9A8-CB79-71D1-74EE-3C4CC6E5DD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65136-A48E-6A00-DB0C-37DD4A01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Menti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2A4785-AA6A-6ED2-EF9F-4F468DF9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Picture 3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B033492C-5B58-F726-F42D-7678FB05F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06" y="1757855"/>
            <a:ext cx="4148439" cy="41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2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27747f-6f6d-4fd1-bcfc-39a52bf0a93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3B41819C3940499EC128B1AF2E4054" ma:contentTypeVersion="16" ma:contentTypeDescription="Create a new document." ma:contentTypeScope="" ma:versionID="60b1946598a22eb4ee68270db6aafdfe">
  <xsd:schema xmlns:xsd="http://www.w3.org/2001/XMLSchema" xmlns:xs="http://www.w3.org/2001/XMLSchema" xmlns:p="http://schemas.microsoft.com/office/2006/metadata/properties" xmlns:ns3="3127747f-6f6d-4fd1-bcfc-39a52bf0a935" xmlns:ns4="3f982e44-98c1-4fee-953d-2dae461483a4" targetNamespace="http://schemas.microsoft.com/office/2006/metadata/properties" ma:root="true" ma:fieldsID="79a2aeb7a485c2747321ef29b22887d7" ns3:_="" ns4:_="">
    <xsd:import namespace="3127747f-6f6d-4fd1-bcfc-39a52bf0a935"/>
    <xsd:import namespace="3f982e44-98c1-4fee-953d-2dae461483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7747f-6f6d-4fd1-bcfc-39a52bf0a9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82e44-98c1-4fee-953d-2dae461483a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77CA75-065B-410E-978D-1FEF1792AE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E10BC3-1F43-4037-9D3C-314892AFE119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3127747f-6f6d-4fd1-bcfc-39a52bf0a935"/>
    <ds:schemaRef ds:uri="http://schemas.microsoft.com/office/2006/metadata/properties"/>
    <ds:schemaRef ds:uri="http://schemas.microsoft.com/office/infopath/2007/PartnerControls"/>
    <ds:schemaRef ds:uri="3f982e44-98c1-4fee-953d-2dae461483a4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FBF0800-6D1A-45B6-8359-BEADC65D70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27747f-6f6d-4fd1-bcfc-39a52bf0a935"/>
    <ds:schemaRef ds:uri="3f982e44-98c1-4fee-953d-2dae461483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Microsoft Office PowerPoint</Application>
  <PresentationFormat>Widescreen</PresentationFormat>
  <Paragraphs>410</Paragraphs>
  <Slides>52</Slides>
  <Notes>45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Verdana</vt:lpstr>
      <vt:lpstr>Office Theme</vt:lpstr>
      <vt:lpstr>Anatomy of the Cervical Spine</vt:lpstr>
      <vt:lpstr>Contents</vt:lpstr>
      <vt:lpstr>PowerPoint Presentation</vt:lpstr>
      <vt:lpstr>Cervical Vertebrae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Nerve roots</vt:lpstr>
      <vt:lpstr>PowerPoint Presentation</vt:lpstr>
      <vt:lpstr>Brachial Plexus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Vertebrobasilar System</vt:lpstr>
      <vt:lpstr>Vertebrobasilar System</vt:lpstr>
      <vt:lpstr>PowerPoint Presentation</vt:lpstr>
      <vt:lpstr>Signs and symptoms of VBI</vt:lpstr>
      <vt:lpstr>PowerPoint Presentation</vt:lpstr>
      <vt:lpstr>Clinical Application</vt:lpstr>
      <vt:lpstr>Common Cx Pathology</vt:lpstr>
      <vt:lpstr>Whiplash - Pathophysiology</vt:lpstr>
      <vt:lpstr>Whiplash – Clinical presentation</vt:lpstr>
      <vt:lpstr>Whiplash - Grading</vt:lpstr>
      <vt:lpstr>Whiplash – Physiotherapeutic intervention</vt:lpstr>
      <vt:lpstr>Cervical Radiculopathy</vt:lpstr>
      <vt:lpstr>Cervical Radiculopathy</vt:lpstr>
      <vt:lpstr>Degenerative Disc Disease - Pathophysiology</vt:lpstr>
      <vt:lpstr>Degenerative Disc Disease – Clinical Presentation</vt:lpstr>
      <vt:lpstr>Summary</vt:lpstr>
      <vt:lpstr>PowerPoint Presentation</vt:lpstr>
      <vt:lpstr>SAQ Advice</vt:lpstr>
      <vt:lpstr>SAQ Descriptors</vt:lpstr>
      <vt:lpstr>Menti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Life Support</dc:title>
  <dc:creator>Paul Starrs</dc:creator>
  <cp:lastModifiedBy>Christopher Phillips</cp:lastModifiedBy>
  <cp:revision>70</cp:revision>
  <dcterms:created xsi:type="dcterms:W3CDTF">2018-09-14T09:18:39Z</dcterms:created>
  <dcterms:modified xsi:type="dcterms:W3CDTF">2025-12-15T16:23:59Z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0x010100113B41819C3940499EC128B1AF2E4054</vt:lpwstr>
  </property>
</Properties>
</file>