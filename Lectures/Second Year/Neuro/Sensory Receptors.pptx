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620" r:id="rId2"/>
    <p:sldId id="268" r:id="rId3"/>
    <p:sldId id="308" r:id="rId4"/>
    <p:sldId id="331" r:id="rId5"/>
    <p:sldId id="330" r:id="rId6"/>
    <p:sldId id="333" r:id="rId7"/>
    <p:sldId id="334" r:id="rId8"/>
    <p:sldId id="347" r:id="rId9"/>
    <p:sldId id="345" r:id="rId10"/>
    <p:sldId id="259" r:id="rId11"/>
    <p:sldId id="258" r:id="rId12"/>
    <p:sldId id="310" r:id="rId13"/>
    <p:sldId id="260" r:id="rId14"/>
    <p:sldId id="278" r:id="rId15"/>
    <p:sldId id="282" r:id="rId16"/>
    <p:sldId id="311" r:id="rId17"/>
    <p:sldId id="312" r:id="rId18"/>
    <p:sldId id="261" r:id="rId19"/>
    <p:sldId id="328" r:id="rId20"/>
    <p:sldId id="263" r:id="rId21"/>
    <p:sldId id="264" r:id="rId22"/>
    <p:sldId id="271" r:id="rId23"/>
    <p:sldId id="272" r:id="rId24"/>
    <p:sldId id="275" r:id="rId25"/>
    <p:sldId id="267" r:id="rId26"/>
    <p:sldId id="274" r:id="rId27"/>
    <p:sldId id="313" r:id="rId28"/>
    <p:sldId id="276" r:id="rId29"/>
    <p:sldId id="309" r:id="rId30"/>
    <p:sldId id="281" r:id="rId31"/>
    <p:sldId id="314" r:id="rId32"/>
    <p:sldId id="315" r:id="rId33"/>
    <p:sldId id="283" r:id="rId34"/>
    <p:sldId id="285" r:id="rId35"/>
    <p:sldId id="284" r:id="rId36"/>
    <p:sldId id="289" r:id="rId37"/>
    <p:sldId id="288" r:id="rId38"/>
    <p:sldId id="316" r:id="rId39"/>
    <p:sldId id="292" r:id="rId40"/>
    <p:sldId id="293" r:id="rId41"/>
    <p:sldId id="294" r:id="rId42"/>
    <p:sldId id="297" r:id="rId43"/>
    <p:sldId id="296" r:id="rId44"/>
    <p:sldId id="317" r:id="rId45"/>
    <p:sldId id="319" r:id="rId46"/>
    <p:sldId id="326" r:id="rId47"/>
    <p:sldId id="320" r:id="rId48"/>
    <p:sldId id="298" r:id="rId49"/>
    <p:sldId id="303" r:id="rId50"/>
    <p:sldId id="322" r:id="rId51"/>
    <p:sldId id="299" r:id="rId52"/>
    <p:sldId id="323" r:id="rId53"/>
    <p:sldId id="325" r:id="rId54"/>
    <p:sldId id="324" r:id="rId55"/>
    <p:sldId id="300" r:id="rId56"/>
    <p:sldId id="305" r:id="rId57"/>
    <p:sldId id="306" r:id="rId58"/>
    <p:sldId id="302" r:id="rId59"/>
    <p:sldId id="327" r:id="rId60"/>
    <p:sldId id="61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06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63234F-55C0-4B70-817D-5DCE359D0B8E}" v="2" dt="2024-11-22T10:51:29.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81" d="100"/>
          <a:sy n="81" d="100"/>
        </p:scale>
        <p:origin x="60" y="3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trolia" userId="9c1b0f1d26c1a45c" providerId="LiveId" clId="{6763234F-55C0-4B70-817D-5DCE359D0B8E}"/>
    <pc:docChg chg="custSel addSld modSld">
      <pc:chgData name="Vincenzo Mastrolia" userId="9c1b0f1d26c1a45c" providerId="LiveId" clId="{6763234F-55C0-4B70-817D-5DCE359D0B8E}" dt="2024-11-22T10:51:50.680" v="29" actId="478"/>
      <pc:docMkLst>
        <pc:docMk/>
      </pc:docMkLst>
      <pc:sldChg chg="delSp add mod">
        <pc:chgData name="Vincenzo Mastrolia" userId="9c1b0f1d26c1a45c" providerId="LiveId" clId="{6763234F-55C0-4B70-817D-5DCE359D0B8E}" dt="2024-11-22T10:51:48.040" v="27" actId="478"/>
        <pc:sldMkLst>
          <pc:docMk/>
          <pc:sldMk cId="3445186734" sldId="330"/>
        </pc:sldMkLst>
        <pc:spChg chg="del">
          <ac:chgData name="Vincenzo Mastrolia" userId="9c1b0f1d26c1a45c" providerId="LiveId" clId="{6763234F-55C0-4B70-817D-5DCE359D0B8E}" dt="2024-11-22T10:51:48.040" v="27" actId="478"/>
          <ac:spMkLst>
            <pc:docMk/>
            <pc:sldMk cId="3445186734" sldId="330"/>
            <ac:spMk id="10" creationId="{81C29070-C8C8-4848-BDBB-B26DE20178A2}"/>
          </ac:spMkLst>
        </pc:spChg>
        <pc:spChg chg="del">
          <ac:chgData name="Vincenzo Mastrolia" userId="9c1b0f1d26c1a45c" providerId="LiveId" clId="{6763234F-55C0-4B70-817D-5DCE359D0B8E}" dt="2024-11-22T10:51:46.329" v="26" actId="478"/>
          <ac:spMkLst>
            <pc:docMk/>
            <pc:sldMk cId="3445186734" sldId="330"/>
            <ac:spMk id="12" creationId="{AC246E02-1019-4AF8-9C2B-43698FFCFEAE}"/>
          </ac:spMkLst>
        </pc:spChg>
      </pc:sldChg>
      <pc:sldChg chg="delSp add mod">
        <pc:chgData name="Vincenzo Mastrolia" userId="9c1b0f1d26c1a45c" providerId="LiveId" clId="{6763234F-55C0-4B70-817D-5DCE359D0B8E}" dt="2024-11-22T10:51:50.680" v="29" actId="478"/>
        <pc:sldMkLst>
          <pc:docMk/>
          <pc:sldMk cId="2492765113" sldId="331"/>
        </pc:sldMkLst>
        <pc:spChg chg="del">
          <ac:chgData name="Vincenzo Mastrolia" userId="9c1b0f1d26c1a45c" providerId="LiveId" clId="{6763234F-55C0-4B70-817D-5DCE359D0B8E}" dt="2024-11-22T10:51:49.645" v="28" actId="478"/>
          <ac:spMkLst>
            <pc:docMk/>
            <pc:sldMk cId="2492765113" sldId="331"/>
            <ac:spMk id="7" creationId="{0FC77B2B-D4D3-4160-8BE5-9D2681898416}"/>
          </ac:spMkLst>
        </pc:spChg>
        <pc:spChg chg="del">
          <ac:chgData name="Vincenzo Mastrolia" userId="9c1b0f1d26c1a45c" providerId="LiveId" clId="{6763234F-55C0-4B70-817D-5DCE359D0B8E}" dt="2024-11-22T10:51:50.680" v="29" actId="478"/>
          <ac:spMkLst>
            <pc:docMk/>
            <pc:sldMk cId="2492765113" sldId="331"/>
            <ac:spMk id="8" creationId="{570D829C-2771-456F-A3F8-E1816DC41565}"/>
          </ac:spMkLst>
        </pc:spChg>
      </pc:sldChg>
      <pc:sldChg chg="delSp add mod">
        <pc:chgData name="Vincenzo Mastrolia" userId="9c1b0f1d26c1a45c" providerId="LiveId" clId="{6763234F-55C0-4B70-817D-5DCE359D0B8E}" dt="2024-11-22T10:51:42.215" v="25" actId="478"/>
        <pc:sldMkLst>
          <pc:docMk/>
          <pc:sldMk cId="4081603852" sldId="333"/>
        </pc:sldMkLst>
        <pc:spChg chg="del">
          <ac:chgData name="Vincenzo Mastrolia" userId="9c1b0f1d26c1a45c" providerId="LiveId" clId="{6763234F-55C0-4B70-817D-5DCE359D0B8E}" dt="2024-11-22T10:51:42.215" v="25" actId="478"/>
          <ac:spMkLst>
            <pc:docMk/>
            <pc:sldMk cId="4081603852" sldId="333"/>
            <ac:spMk id="16" creationId="{AD29CC27-473F-4125-90E3-FE8489A495F8}"/>
          </ac:spMkLst>
        </pc:spChg>
        <pc:spChg chg="del">
          <ac:chgData name="Vincenzo Mastrolia" userId="9c1b0f1d26c1a45c" providerId="LiveId" clId="{6763234F-55C0-4B70-817D-5DCE359D0B8E}" dt="2024-11-22T10:51:41.051" v="24" actId="478"/>
          <ac:spMkLst>
            <pc:docMk/>
            <pc:sldMk cId="4081603852" sldId="333"/>
            <ac:spMk id="17" creationId="{4B527AC9-170A-4201-931E-6B45A16BD113}"/>
          </ac:spMkLst>
        </pc:spChg>
      </pc:sldChg>
      <pc:sldChg chg="modSp add mod chgLayout">
        <pc:chgData name="Vincenzo Mastrolia" userId="9c1b0f1d26c1a45c" providerId="LiveId" clId="{6763234F-55C0-4B70-817D-5DCE359D0B8E}" dt="2024-11-22T10:50:12.742" v="18" actId="14100"/>
        <pc:sldMkLst>
          <pc:docMk/>
          <pc:sldMk cId="139127897" sldId="334"/>
        </pc:sldMkLst>
        <pc:spChg chg="mod ord">
          <ac:chgData name="Vincenzo Mastrolia" userId="9c1b0f1d26c1a45c" providerId="LiveId" clId="{6763234F-55C0-4B70-817D-5DCE359D0B8E}" dt="2024-11-22T10:50:07.662" v="17" actId="700"/>
          <ac:spMkLst>
            <pc:docMk/>
            <pc:sldMk cId="139127897" sldId="334"/>
            <ac:spMk id="2" creationId="{B7175275-EED1-4626-91E7-CBD522C1DBC4}"/>
          </ac:spMkLst>
        </pc:spChg>
        <pc:spChg chg="mod ord">
          <ac:chgData name="Vincenzo Mastrolia" userId="9c1b0f1d26c1a45c" providerId="LiveId" clId="{6763234F-55C0-4B70-817D-5DCE359D0B8E}" dt="2024-11-22T10:50:12.742" v="18" actId="14100"/>
          <ac:spMkLst>
            <pc:docMk/>
            <pc:sldMk cId="139127897" sldId="334"/>
            <ac:spMk id="3" creationId="{3B3D59EA-08B1-4087-A5DD-FBF6A0A9B157}"/>
          </ac:spMkLst>
        </pc:spChg>
      </pc:sldChg>
      <pc:sldChg chg="modSp add mod chgLayout">
        <pc:chgData name="Vincenzo Mastrolia" userId="9c1b0f1d26c1a45c" providerId="LiveId" clId="{6763234F-55C0-4B70-817D-5DCE359D0B8E}" dt="2024-11-22T10:50:35.254" v="22" actId="27636"/>
        <pc:sldMkLst>
          <pc:docMk/>
          <pc:sldMk cId="1394347985" sldId="345"/>
        </pc:sldMkLst>
        <pc:spChg chg="mod ord">
          <ac:chgData name="Vincenzo Mastrolia" userId="9c1b0f1d26c1a45c" providerId="LiveId" clId="{6763234F-55C0-4B70-817D-5DCE359D0B8E}" dt="2024-11-22T10:50:35.201" v="21" actId="700"/>
          <ac:spMkLst>
            <pc:docMk/>
            <pc:sldMk cId="1394347985" sldId="345"/>
            <ac:spMk id="2" creationId="{459A7476-30C7-4CBC-840A-4CA376B59DD1}"/>
          </ac:spMkLst>
        </pc:spChg>
        <pc:spChg chg="mod ord">
          <ac:chgData name="Vincenzo Mastrolia" userId="9c1b0f1d26c1a45c" providerId="LiveId" clId="{6763234F-55C0-4B70-817D-5DCE359D0B8E}" dt="2024-11-22T10:50:35.254" v="22" actId="27636"/>
          <ac:spMkLst>
            <pc:docMk/>
            <pc:sldMk cId="1394347985" sldId="345"/>
            <ac:spMk id="3" creationId="{55AF8B97-7FFA-42EA-836A-B1875D10C3B7}"/>
          </ac:spMkLst>
        </pc:spChg>
      </pc:sldChg>
      <pc:sldChg chg="modSp add mod chgLayout">
        <pc:chgData name="Vincenzo Mastrolia" userId="9c1b0f1d26c1a45c" providerId="LiveId" clId="{6763234F-55C0-4B70-817D-5DCE359D0B8E}" dt="2024-11-22T10:50:20.384" v="20" actId="27636"/>
        <pc:sldMkLst>
          <pc:docMk/>
          <pc:sldMk cId="663502369" sldId="347"/>
        </pc:sldMkLst>
        <pc:spChg chg="mod ord">
          <ac:chgData name="Vincenzo Mastrolia" userId="9c1b0f1d26c1a45c" providerId="LiveId" clId="{6763234F-55C0-4B70-817D-5DCE359D0B8E}" dt="2024-11-22T10:50:20.351" v="19" actId="700"/>
          <ac:spMkLst>
            <pc:docMk/>
            <pc:sldMk cId="663502369" sldId="347"/>
            <ac:spMk id="2" creationId="{459A7476-30C7-4CBC-840A-4CA376B59DD1}"/>
          </ac:spMkLst>
        </pc:spChg>
        <pc:spChg chg="mod ord">
          <ac:chgData name="Vincenzo Mastrolia" userId="9c1b0f1d26c1a45c" providerId="LiveId" clId="{6763234F-55C0-4B70-817D-5DCE359D0B8E}" dt="2024-11-22T10:50:20.384" v="20" actId="27636"/>
          <ac:spMkLst>
            <pc:docMk/>
            <pc:sldMk cId="663502369" sldId="347"/>
            <ac:spMk id="3" creationId="{55AF8B97-7FFA-42EA-836A-B1875D10C3B7}"/>
          </ac:spMkLst>
        </pc:spChg>
      </pc:sldChg>
      <pc:sldChg chg="modSp mod">
        <pc:chgData name="Vincenzo Mastrolia" userId="9c1b0f1d26c1a45c" providerId="LiveId" clId="{6763234F-55C0-4B70-817D-5DCE359D0B8E}" dt="2024-11-21T17:16:06.796" v="12" actId="20577"/>
        <pc:sldMkLst>
          <pc:docMk/>
          <pc:sldMk cId="2685521128" sldId="620"/>
        </pc:sldMkLst>
        <pc:spChg chg="mod">
          <ac:chgData name="Vincenzo Mastrolia" userId="9c1b0f1d26c1a45c" providerId="LiveId" clId="{6763234F-55C0-4B70-817D-5DCE359D0B8E}" dt="2024-11-21T17:16:06.796" v="12" actId="20577"/>
          <ac:spMkLst>
            <pc:docMk/>
            <pc:sldMk cId="2685521128" sldId="620"/>
            <ac:spMk id="2" creationId="{FF99A10E-2D84-6BF5-7AF9-E80CB9B972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5BE48-5205-4E7D-A9AA-965AF1D61D44}" type="datetimeFigureOut">
              <a:rPr lang="en-GB" smtClean="0"/>
              <a:t>22/11/2024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444DE-498F-42A0-A0CF-E563CE03C681}" type="slidenum">
              <a:rPr lang="en-GB" smtClean="0"/>
              <a:t>‹#›</a:t>
            </a:fld>
            <a:endParaRPr lang="en-GB"/>
          </a:p>
        </p:txBody>
      </p:sp>
    </p:spTree>
    <p:extLst>
      <p:ext uri="{BB962C8B-B14F-4D97-AF65-F5344CB8AC3E}">
        <p14:creationId xmlns:p14="http://schemas.microsoft.com/office/powerpoint/2010/main" val="340311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27</a:t>
            </a:fld>
            <a:endParaRPr lang="en-GB"/>
          </a:p>
        </p:txBody>
      </p:sp>
    </p:spTree>
    <p:extLst>
      <p:ext uri="{BB962C8B-B14F-4D97-AF65-F5344CB8AC3E}">
        <p14:creationId xmlns:p14="http://schemas.microsoft.com/office/powerpoint/2010/main" val="2839323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 Taste: H+ concentration</a:t>
            </a:r>
          </a:p>
          <a:p>
            <a:r>
              <a:rPr lang="en-GB" dirty="0"/>
              <a:t>Salty taste: cations, mainly Na+, but also some anions</a:t>
            </a:r>
          </a:p>
          <a:p>
            <a:r>
              <a:rPr lang="en-GB" dirty="0"/>
              <a:t>Sweet taste: various compounds (mostly organic chemicals) including sugars, glycols, alcohols, aldehydes, ketones, amides, </a:t>
            </a:r>
          </a:p>
          <a:p>
            <a:r>
              <a:rPr lang="en-GB" dirty="0"/>
              <a:t>esters, some aa, some small proteins, sulfonic acids, halogenated acids and inorganic salts like lead and beryllium</a:t>
            </a:r>
          </a:p>
          <a:p>
            <a:r>
              <a:rPr lang="en-GB" dirty="0"/>
              <a:t>Bitter taste: various compounds (mostly organic chemicals). Main two types are (1) long-chain organic substances</a:t>
            </a:r>
          </a:p>
          <a:p>
            <a:r>
              <a:rPr lang="en-GB" dirty="0"/>
              <a:t> that contain H+ or (2) alkaloids (many poisonous compounds from plants), like caffeine quinine strychnine and nicotine</a:t>
            </a:r>
          </a:p>
          <a:p>
            <a:r>
              <a:rPr lang="en-GB" dirty="0"/>
              <a:t>Umami taste: mainly L-glutamate, mechanism still unclear.</a:t>
            </a:r>
          </a:p>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49</a:t>
            </a:fld>
            <a:endParaRPr lang="en-GB"/>
          </a:p>
        </p:txBody>
      </p:sp>
    </p:spTree>
    <p:extLst>
      <p:ext uri="{BB962C8B-B14F-4D97-AF65-F5344CB8AC3E}">
        <p14:creationId xmlns:p14="http://schemas.microsoft.com/office/powerpoint/2010/main" val="1443198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EE4D7-1C63-8CCF-90CF-4CDAF408E3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89584FA-F8C6-2A93-402E-13A65E8FBE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D466524-B299-130C-53AA-C3389DDA0C77}"/>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2415CEB2-3BD2-A72D-F1A0-3F0EAF4AA8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998C99-4F3A-7B6C-0A3D-1C4A1489EAF1}"/>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97238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F8A72-5AC0-851E-3B9F-F89E20F15445}"/>
              </a:ext>
            </a:extLst>
          </p:cNvPr>
          <p:cNvSpPr>
            <a:spLocks noGrp="1"/>
          </p:cNvSpPr>
          <p:nvPr>
            <p:ph type="title"/>
          </p:nvPr>
        </p:nvSpPr>
        <p:spPr>
          <a:xfrm>
            <a:off x="133350" y="1"/>
            <a:ext cx="12058650" cy="850900"/>
          </a:xfrm>
        </p:spPr>
        <p:txBody>
          <a:bodyPr>
            <a:normAutofit/>
          </a:bodyPr>
          <a:lstStyle>
            <a:lvl1pPr>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A34FE55-E175-39BE-135B-89725CC6E641}"/>
              </a:ext>
            </a:extLst>
          </p:cNvPr>
          <p:cNvSpPr>
            <a:spLocks noGrp="1"/>
          </p:cNvSpPr>
          <p:nvPr>
            <p:ph idx="1"/>
          </p:nvPr>
        </p:nvSpPr>
        <p:spPr>
          <a:xfrm>
            <a:off x="329380" y="1155109"/>
            <a:ext cx="5766620" cy="51377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CC604ABF-9F75-0492-8DF2-ACBD93EBB214}"/>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B2820887-4609-4A89-F215-73E3D06DE2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F11D31-23FF-D4FD-C3C1-EAB647B6758A}"/>
              </a:ext>
            </a:extLst>
          </p:cNvPr>
          <p:cNvSpPr>
            <a:spLocks noGrp="1"/>
          </p:cNvSpPr>
          <p:nvPr>
            <p:ph type="sldNum" sz="quarter" idx="12"/>
          </p:nvPr>
        </p:nvSpPr>
        <p:spPr/>
        <p:txBody>
          <a:bodyPr/>
          <a:lstStyle/>
          <a:p>
            <a:fld id="{0037ADC3-8AA0-46ED-AA6C-B8C6A86D3BCC}" type="slidenum">
              <a:rPr lang="en-GB" smtClean="0"/>
              <a:t>‹#›</a:t>
            </a:fld>
            <a:endParaRPr lang="en-GB"/>
          </a:p>
        </p:txBody>
      </p:sp>
      <p:cxnSp>
        <p:nvCxnSpPr>
          <p:cNvPr id="8" name="Straight Connector 7">
            <a:extLst>
              <a:ext uri="{FF2B5EF4-FFF2-40B4-BE49-F238E27FC236}">
                <a16:creationId xmlns:a16="http://schemas.microsoft.com/office/drawing/2014/main" id="{CA9F80E1-D1C2-9A09-7B48-A16223CECBB5}"/>
              </a:ext>
            </a:extLst>
          </p:cNvPr>
          <p:cNvCxnSpPr>
            <a:cxnSpLocks/>
            <a:endCxn id="2" idx="2"/>
          </p:cNvCxnSpPr>
          <p:nvPr userDrawn="1"/>
        </p:nvCxnSpPr>
        <p:spPr>
          <a:xfrm>
            <a:off x="0" y="850901"/>
            <a:ext cx="6162675" cy="0"/>
          </a:xfrm>
          <a:prstGeom prst="line">
            <a:avLst/>
          </a:prstGeom>
          <a:ln w="38100">
            <a:gradFill flip="none" rotWithShape="1">
              <a:gsLst>
                <a:gs pos="0">
                  <a:schemeClr val="accent1">
                    <a:lumMod val="5000"/>
                    <a:lumOff val="95000"/>
                  </a:schemeClr>
                </a:gs>
                <a:gs pos="56000">
                  <a:schemeClr val="accent1">
                    <a:lumMod val="75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4614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E72A-40B1-B073-E452-78A2AADB2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2965E4A-D71B-8BE6-0A3E-EB704FB9EB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67811E-683F-B7AD-7193-3B45B3CABAA5}"/>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79C6D176-CA61-3EE9-A44F-1A6A5990C9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B9B815-65D4-3A1E-6A0F-19A3CA7C99C0}"/>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20375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9215E-4042-2204-C47C-87F8D0F99E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B1B148-4A28-26BE-E5A5-BD868E8DD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43D18EF-3074-9717-CF4D-3F57E4ED5C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BA2E29C-41A3-CD8D-D769-FBAE8D3A415E}"/>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6" name="Footer Placeholder 5">
            <a:extLst>
              <a:ext uri="{FF2B5EF4-FFF2-40B4-BE49-F238E27FC236}">
                <a16:creationId xmlns:a16="http://schemas.microsoft.com/office/drawing/2014/main" id="{1ACC868D-3500-F27A-D690-FED2BAB5C03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5AB086-9D29-D46F-2C6F-7EBE43C8BC9A}"/>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1175833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313E-8975-D14F-4E51-926CF734E26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5141A5-C64E-234C-C0C8-B2841C69CF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234F65-0871-3039-9C02-0C9A81816E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325417A-3571-14A7-59DC-FE314ECF53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A7AAD7-BE58-E886-4ED8-D01816ABD0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1D65680-A1C5-CE0E-1419-BD0A1FBE03B0}"/>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8" name="Footer Placeholder 7">
            <a:extLst>
              <a:ext uri="{FF2B5EF4-FFF2-40B4-BE49-F238E27FC236}">
                <a16:creationId xmlns:a16="http://schemas.microsoft.com/office/drawing/2014/main" id="{5379871F-D3FA-ECB4-7D89-02008619AB7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C0FD758-38AD-97FC-945C-008A38D7A531}"/>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127026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CF37B-DA28-FB31-0385-510D398F9DE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9A2DF0-B83F-24FA-B1C9-02427DDE1A49}"/>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4" name="Footer Placeholder 3">
            <a:extLst>
              <a:ext uri="{FF2B5EF4-FFF2-40B4-BE49-F238E27FC236}">
                <a16:creationId xmlns:a16="http://schemas.microsoft.com/office/drawing/2014/main" id="{726C44C1-6268-C674-D3E9-409427EB5CB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9711A79-24EF-0D64-6BE5-F1E7D9651D97}"/>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3186997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AA4731-9F04-BA09-7A78-528F2536DF5F}"/>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3" name="Footer Placeholder 2">
            <a:extLst>
              <a:ext uri="{FF2B5EF4-FFF2-40B4-BE49-F238E27FC236}">
                <a16:creationId xmlns:a16="http://schemas.microsoft.com/office/drawing/2014/main" id="{683AD924-A073-FC28-6613-525D38CFD9B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B207192-E2E2-4D56-C408-31748849670D}"/>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1284019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B2DC5-CA6A-C205-964E-EFE7C093C0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0B8F816-84D3-CE30-6D03-6D83A7A6D4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6937F92-44B9-3168-1DFB-AEAB31F78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E19DF1-C805-8736-A463-7F3055E86A86}"/>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6" name="Footer Placeholder 5">
            <a:extLst>
              <a:ext uri="{FF2B5EF4-FFF2-40B4-BE49-F238E27FC236}">
                <a16:creationId xmlns:a16="http://schemas.microsoft.com/office/drawing/2014/main" id="{ACA329BF-A8B4-B3D1-3F19-57C81CA601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81C2DF9-CEA3-0AD6-26BE-D18417230C4A}"/>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2862959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54D3-C3CC-CD55-4E94-67CE0165D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96CC22-97D5-AAC2-809E-7DB8D7B45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EE30723-386A-3AAC-6A88-7D7DB7E651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F19126-20E0-4158-92C5-A7E8393A4133}"/>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6" name="Footer Placeholder 5">
            <a:extLst>
              <a:ext uri="{FF2B5EF4-FFF2-40B4-BE49-F238E27FC236}">
                <a16:creationId xmlns:a16="http://schemas.microsoft.com/office/drawing/2014/main" id="{89376FD5-EBF5-7605-A2A2-B57B19F2DC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F6F5D3-8E6E-E3DE-2E98-8F46508B05AC}"/>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2165570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7ED2-32C4-4732-77F5-79D1110B48C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732261F-E821-D6B6-A7C5-A603F11E86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A6968F-6D3A-B9B8-117F-16FAED3A6643}"/>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D8677E0C-CD9E-79BD-08D4-DDF52765BD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564BF7-7F71-C0B4-08C2-B3CDE2F9C237}"/>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3063268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5322A7-128C-588B-BD41-B39CF768B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926938E-6371-1DAE-0571-396891541E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F101E9-F50E-0A8A-9039-A0B84DFECE30}"/>
              </a:ext>
            </a:extLst>
          </p:cNvPr>
          <p:cNvSpPr>
            <a:spLocks noGrp="1"/>
          </p:cNvSpPr>
          <p:nvPr>
            <p:ph type="dt" sz="half" idx="10"/>
          </p:nvPr>
        </p:nvSpPr>
        <p:spPr/>
        <p:txBody>
          <a:body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4B24D40F-8756-470C-679A-8958C1C775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1DF668-1184-2FAD-ACB1-F3824C38BF3F}"/>
              </a:ext>
            </a:extLst>
          </p:cNvPr>
          <p:cNvSpPr>
            <a:spLocks noGrp="1"/>
          </p:cNvSpPr>
          <p:nvPr>
            <p:ph type="sldNum" sz="quarter" idx="12"/>
          </p:nvPr>
        </p:nvSpPr>
        <p:spPr/>
        <p:txBody>
          <a:bodyPr/>
          <a:lstStyle/>
          <a:p>
            <a:fld id="{0037ADC3-8AA0-46ED-AA6C-B8C6A86D3BCC}" type="slidenum">
              <a:rPr lang="en-GB" smtClean="0"/>
              <a:t>‹#›</a:t>
            </a:fld>
            <a:endParaRPr lang="en-GB"/>
          </a:p>
        </p:txBody>
      </p:sp>
    </p:spTree>
    <p:extLst>
      <p:ext uri="{BB962C8B-B14F-4D97-AF65-F5344CB8AC3E}">
        <p14:creationId xmlns:p14="http://schemas.microsoft.com/office/powerpoint/2010/main" val="3146092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182520-BCD7-43DC-AEF0-71F05994A4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BEF3639-30D3-85A6-79D2-544AAE7268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28F8E0-1F76-B16E-F999-A81D7494B4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9D0193-729A-4A55-AEEE-45F47AEACD79}" type="datetimeFigureOut">
              <a:rPr lang="en-GB" smtClean="0"/>
              <a:t>22/11/2024</a:t>
            </a:fld>
            <a:endParaRPr lang="en-GB"/>
          </a:p>
        </p:txBody>
      </p:sp>
      <p:sp>
        <p:nvSpPr>
          <p:cNvPr id="5" name="Footer Placeholder 4">
            <a:extLst>
              <a:ext uri="{FF2B5EF4-FFF2-40B4-BE49-F238E27FC236}">
                <a16:creationId xmlns:a16="http://schemas.microsoft.com/office/drawing/2014/main" id="{CF319379-90DD-1CC5-C0A8-D6B95517A2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AD075BD-49E7-9C14-3308-166F19C69B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37ADC3-8AA0-46ED-AA6C-B8C6A86D3BCC}" type="slidenum">
              <a:rPr lang="en-GB" smtClean="0"/>
              <a:t>‹#›</a:t>
            </a:fld>
            <a:endParaRPr lang="en-GB"/>
          </a:p>
        </p:txBody>
      </p:sp>
    </p:spTree>
    <p:extLst>
      <p:ext uri="{BB962C8B-B14F-4D97-AF65-F5344CB8AC3E}">
        <p14:creationId xmlns:p14="http://schemas.microsoft.com/office/powerpoint/2010/main" val="1413941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2.xml"/><Relationship Id="rId4" Type="http://schemas.openxmlformats.org/officeDocument/2006/relationships/image" Target="../media/image8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A10E-2D84-6BF5-7AF9-E80CB9B9728A}"/>
              </a:ext>
            </a:extLst>
          </p:cNvPr>
          <p:cNvSpPr>
            <a:spLocks noGrp="1"/>
          </p:cNvSpPr>
          <p:nvPr>
            <p:ph type="ctrTitle"/>
          </p:nvPr>
        </p:nvSpPr>
        <p:spPr>
          <a:xfrm>
            <a:off x="1831987" y="2520950"/>
            <a:ext cx="8528026" cy="1941512"/>
          </a:xfrm>
          <a:ln w="38100">
            <a:solidFill>
              <a:schemeClr val="accent1">
                <a:lumMod val="75000"/>
              </a:schemeClr>
            </a:solidFill>
          </a:ln>
        </p:spPr>
        <p:txBody>
          <a:bodyPr anchor="ctr"/>
          <a:lstStyle/>
          <a:p>
            <a:r>
              <a:rPr lang="en-GB" dirty="0"/>
              <a:t>Sensory Receptors</a:t>
            </a:r>
          </a:p>
        </p:txBody>
      </p:sp>
      <p:pic>
        <p:nvPicPr>
          <p:cNvPr id="4" name="Picture 2">
            <a:extLst>
              <a:ext uri="{FF2B5EF4-FFF2-40B4-BE49-F238E27FC236}">
                <a16:creationId xmlns:a16="http://schemas.microsoft.com/office/drawing/2014/main" id="{093321CE-71E9-B4DE-1C70-00044479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8" y="180438"/>
            <a:ext cx="1630362" cy="12419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NEUReka! Seminar Series">
            <a:extLst>
              <a:ext uri="{FF2B5EF4-FFF2-40B4-BE49-F238E27FC236}">
                <a16:creationId xmlns:a16="http://schemas.microsoft.com/office/drawing/2014/main" id="{DF9CFDBD-22A8-4CCF-05C7-720EE987D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414" y="89482"/>
            <a:ext cx="4082498" cy="133291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9C5FEC11-7BBF-7CED-49E8-5FB869F81CED}"/>
              </a:ext>
            </a:extLst>
          </p:cNvPr>
          <p:cNvSpPr>
            <a:spLocks noGrp="1"/>
          </p:cNvSpPr>
          <p:nvPr>
            <p:ph type="subTitle" idx="1"/>
          </p:nvPr>
        </p:nvSpPr>
        <p:spPr>
          <a:xfrm>
            <a:off x="1524000" y="5561012"/>
            <a:ext cx="9144000" cy="1002506"/>
          </a:xfrm>
        </p:spPr>
        <p:txBody>
          <a:bodyPr>
            <a:normAutofit/>
          </a:bodyPr>
          <a:lstStyle/>
          <a:p>
            <a:pPr>
              <a:lnSpc>
                <a:spcPct val="40000"/>
              </a:lnSpc>
            </a:pPr>
            <a:r>
              <a:rPr lang="en-GB" sz="2000" b="1" i="1" dirty="0"/>
              <a:t>Vincenzo Mastrolia</a:t>
            </a:r>
          </a:p>
          <a:p>
            <a:pPr>
              <a:lnSpc>
                <a:spcPct val="40000"/>
              </a:lnSpc>
            </a:pPr>
            <a:r>
              <a:rPr lang="en-GB" sz="2000" i="1" dirty="0"/>
              <a:t>Research Associate</a:t>
            </a:r>
          </a:p>
          <a:p>
            <a:pPr>
              <a:lnSpc>
                <a:spcPct val="40000"/>
              </a:lnSpc>
            </a:pPr>
            <a:r>
              <a:rPr lang="en-GB" sz="2000" i="1" dirty="0"/>
              <a:t>Centre for Developmental Neurobiology (CDN)</a:t>
            </a:r>
          </a:p>
          <a:p>
            <a:pPr>
              <a:lnSpc>
                <a:spcPct val="40000"/>
              </a:lnSpc>
            </a:pPr>
            <a:r>
              <a:rPr lang="en-GB" sz="2000" i="1" dirty="0"/>
              <a:t>King’s College London</a:t>
            </a:r>
          </a:p>
        </p:txBody>
      </p:sp>
    </p:spTree>
    <p:extLst>
      <p:ext uri="{BB962C8B-B14F-4D97-AF65-F5344CB8AC3E}">
        <p14:creationId xmlns:p14="http://schemas.microsoft.com/office/powerpoint/2010/main" val="2685521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a:t>
            </a:r>
          </a:p>
        </p:txBody>
      </p:sp>
      <p:pic>
        <p:nvPicPr>
          <p:cNvPr id="5" name="Picture 5" descr="Diagram&#10;&#10;Description automatically generated">
            <a:extLst>
              <a:ext uri="{FF2B5EF4-FFF2-40B4-BE49-F238E27FC236}">
                <a16:creationId xmlns:a16="http://schemas.microsoft.com/office/drawing/2014/main" id="{B7972228-4A1F-9BC1-C756-E5E8F80D9A59}"/>
              </a:ext>
            </a:extLst>
          </p:cNvPr>
          <p:cNvPicPr>
            <a:picLocks noChangeAspect="1"/>
          </p:cNvPicPr>
          <p:nvPr/>
        </p:nvPicPr>
        <p:blipFill>
          <a:blip r:embed="rId2"/>
          <a:stretch>
            <a:fillRect/>
          </a:stretch>
        </p:blipFill>
        <p:spPr>
          <a:xfrm>
            <a:off x="3577442" y="1192481"/>
            <a:ext cx="5039095" cy="4959843"/>
          </a:xfrm>
          <a:prstGeom prst="rect">
            <a:avLst/>
          </a:prstGeom>
        </p:spPr>
      </p:pic>
      <p:sp>
        <p:nvSpPr>
          <p:cNvPr id="8" name="TextBox 7">
            <a:extLst>
              <a:ext uri="{FF2B5EF4-FFF2-40B4-BE49-F238E27FC236}">
                <a16:creationId xmlns:a16="http://schemas.microsoft.com/office/drawing/2014/main" id="{4C59B171-914C-A0C0-8F55-62E8EEDFBF13}"/>
              </a:ext>
            </a:extLst>
          </p:cNvPr>
          <p:cNvSpPr txBox="1"/>
          <p:nvPr/>
        </p:nvSpPr>
        <p:spPr>
          <a:xfrm>
            <a:off x="3770416" y="1345869"/>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Vision</a:t>
            </a:r>
            <a:endParaRPr lang="en-GB" b="1" dirty="0"/>
          </a:p>
        </p:txBody>
      </p:sp>
      <p:sp>
        <p:nvSpPr>
          <p:cNvPr id="10" name="TextBox 9">
            <a:extLst>
              <a:ext uri="{FF2B5EF4-FFF2-40B4-BE49-F238E27FC236}">
                <a16:creationId xmlns:a16="http://schemas.microsoft.com/office/drawing/2014/main" id="{F631DA36-BF97-0B25-39DF-6E5A52DED633}"/>
              </a:ext>
            </a:extLst>
          </p:cNvPr>
          <p:cNvSpPr txBox="1"/>
          <p:nvPr/>
        </p:nvSpPr>
        <p:spPr>
          <a:xfrm>
            <a:off x="2592780" y="4007920"/>
            <a:ext cx="9797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Hearing</a:t>
            </a:r>
            <a:endParaRPr lang="en-GB" b="1" dirty="0"/>
          </a:p>
        </p:txBody>
      </p:sp>
      <p:grpSp>
        <p:nvGrpSpPr>
          <p:cNvPr id="20" name="Group 19">
            <a:extLst>
              <a:ext uri="{FF2B5EF4-FFF2-40B4-BE49-F238E27FC236}">
                <a16:creationId xmlns:a16="http://schemas.microsoft.com/office/drawing/2014/main" id="{D8DC05AF-3917-210D-C25E-4A6FA8314479}"/>
              </a:ext>
            </a:extLst>
          </p:cNvPr>
          <p:cNvGrpSpPr/>
          <p:nvPr/>
        </p:nvGrpSpPr>
        <p:grpSpPr>
          <a:xfrm>
            <a:off x="1929741" y="3245920"/>
            <a:ext cx="1642751" cy="735487"/>
            <a:chOff x="1929741" y="3245920"/>
            <a:chExt cx="1642751" cy="735487"/>
          </a:xfrm>
        </p:grpSpPr>
        <p:sp>
          <p:nvSpPr>
            <p:cNvPr id="9" name="TextBox 8">
              <a:extLst>
                <a:ext uri="{FF2B5EF4-FFF2-40B4-BE49-F238E27FC236}">
                  <a16:creationId xmlns:a16="http://schemas.microsoft.com/office/drawing/2014/main" id="{18115D5E-B89A-7028-56DB-50831F185436}"/>
                </a:ext>
              </a:extLst>
            </p:cNvPr>
            <p:cNvSpPr txBox="1"/>
            <p:nvPr/>
          </p:nvSpPr>
          <p:spPr>
            <a:xfrm>
              <a:off x="2701636" y="3245920"/>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Touch</a:t>
              </a:r>
              <a:endParaRPr lang="en-GB" b="1" dirty="0"/>
            </a:p>
          </p:txBody>
        </p:sp>
        <p:sp>
          <p:nvSpPr>
            <p:cNvPr id="11" name="TextBox 10">
              <a:extLst>
                <a:ext uri="{FF2B5EF4-FFF2-40B4-BE49-F238E27FC236}">
                  <a16:creationId xmlns:a16="http://schemas.microsoft.com/office/drawing/2014/main" id="{CB60815D-B271-725F-EAE7-98278773A701}"/>
                </a:ext>
              </a:extLst>
            </p:cNvPr>
            <p:cNvSpPr txBox="1"/>
            <p:nvPr/>
          </p:nvSpPr>
          <p:spPr>
            <a:xfrm>
              <a:off x="1929741" y="3612075"/>
              <a:ext cx="16427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dirty="0">
                  <a:cs typeface="Calibri"/>
                </a:rPr>
                <a:t>Proprioception</a:t>
              </a:r>
              <a:endParaRPr lang="en-GB" dirty="0"/>
            </a:p>
          </p:txBody>
        </p:sp>
      </p:grpSp>
      <p:sp>
        <p:nvSpPr>
          <p:cNvPr id="12" name="TextBox 11">
            <a:extLst>
              <a:ext uri="{FF2B5EF4-FFF2-40B4-BE49-F238E27FC236}">
                <a16:creationId xmlns:a16="http://schemas.microsoft.com/office/drawing/2014/main" id="{FF733EB9-B099-20E9-0769-01ABA2C23A32}"/>
              </a:ext>
            </a:extLst>
          </p:cNvPr>
          <p:cNvSpPr txBox="1"/>
          <p:nvPr/>
        </p:nvSpPr>
        <p:spPr>
          <a:xfrm>
            <a:off x="6996546" y="920337"/>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Taste</a:t>
            </a:r>
            <a:endParaRPr lang="en-US" dirty="0"/>
          </a:p>
        </p:txBody>
      </p:sp>
      <p:sp>
        <p:nvSpPr>
          <p:cNvPr id="13" name="TextBox 12">
            <a:extLst>
              <a:ext uri="{FF2B5EF4-FFF2-40B4-BE49-F238E27FC236}">
                <a16:creationId xmlns:a16="http://schemas.microsoft.com/office/drawing/2014/main" id="{59ABDAD2-88CD-E2BE-1420-4C19DE43004A}"/>
              </a:ext>
            </a:extLst>
          </p:cNvPr>
          <p:cNvSpPr txBox="1"/>
          <p:nvPr/>
        </p:nvSpPr>
        <p:spPr>
          <a:xfrm>
            <a:off x="7669481" y="1345868"/>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Smell</a:t>
            </a:r>
            <a:endParaRPr lang="en-US" dirty="0"/>
          </a:p>
        </p:txBody>
      </p:sp>
    </p:spTree>
    <p:extLst>
      <p:ext uri="{BB962C8B-B14F-4D97-AF65-F5344CB8AC3E}">
        <p14:creationId xmlns:p14="http://schemas.microsoft.com/office/powerpoint/2010/main" val="2377568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 mechanoreceptors (tactile)</a:t>
            </a:r>
          </a:p>
        </p:txBody>
      </p:sp>
      <p:sp>
        <p:nvSpPr>
          <p:cNvPr id="10" name="TextBox 9">
            <a:extLst>
              <a:ext uri="{FF2B5EF4-FFF2-40B4-BE49-F238E27FC236}">
                <a16:creationId xmlns:a16="http://schemas.microsoft.com/office/drawing/2014/main" id="{F631DA36-BF97-0B25-39DF-6E5A52DED633}"/>
              </a:ext>
            </a:extLst>
          </p:cNvPr>
          <p:cNvSpPr txBox="1"/>
          <p:nvPr/>
        </p:nvSpPr>
        <p:spPr>
          <a:xfrm>
            <a:off x="2592780" y="4007920"/>
            <a:ext cx="9797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dirty="0">
                <a:cs typeface="Calibri"/>
              </a:rPr>
              <a:t>Hearing</a:t>
            </a:r>
            <a:endParaRPr lang="en-GB" dirty="0"/>
          </a:p>
        </p:txBody>
      </p:sp>
      <p:grpSp>
        <p:nvGrpSpPr>
          <p:cNvPr id="20" name="Group 19">
            <a:extLst>
              <a:ext uri="{FF2B5EF4-FFF2-40B4-BE49-F238E27FC236}">
                <a16:creationId xmlns:a16="http://schemas.microsoft.com/office/drawing/2014/main" id="{D8DC05AF-3917-210D-C25E-4A6FA8314479}"/>
              </a:ext>
            </a:extLst>
          </p:cNvPr>
          <p:cNvGrpSpPr/>
          <p:nvPr/>
        </p:nvGrpSpPr>
        <p:grpSpPr>
          <a:xfrm>
            <a:off x="1929741" y="3245920"/>
            <a:ext cx="1642751" cy="735487"/>
            <a:chOff x="1929741" y="3245920"/>
            <a:chExt cx="1642751" cy="735487"/>
          </a:xfrm>
        </p:grpSpPr>
        <p:sp>
          <p:nvSpPr>
            <p:cNvPr id="9" name="TextBox 8">
              <a:extLst>
                <a:ext uri="{FF2B5EF4-FFF2-40B4-BE49-F238E27FC236}">
                  <a16:creationId xmlns:a16="http://schemas.microsoft.com/office/drawing/2014/main" id="{18115D5E-B89A-7028-56DB-50831F185436}"/>
                </a:ext>
              </a:extLst>
            </p:cNvPr>
            <p:cNvSpPr txBox="1"/>
            <p:nvPr/>
          </p:nvSpPr>
          <p:spPr>
            <a:xfrm>
              <a:off x="2701636" y="3245920"/>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solidFill>
                    <a:schemeClr val="accent1">
                      <a:lumMod val="75000"/>
                    </a:schemeClr>
                  </a:solidFill>
                  <a:cs typeface="Calibri"/>
                </a:rPr>
                <a:t>Touch</a:t>
              </a:r>
              <a:endParaRPr lang="en-GB" b="1" dirty="0">
                <a:solidFill>
                  <a:schemeClr val="accent1">
                    <a:lumMod val="75000"/>
                  </a:schemeClr>
                </a:solidFill>
              </a:endParaRPr>
            </a:p>
          </p:txBody>
        </p:sp>
        <p:sp>
          <p:nvSpPr>
            <p:cNvPr id="11" name="TextBox 10">
              <a:extLst>
                <a:ext uri="{FF2B5EF4-FFF2-40B4-BE49-F238E27FC236}">
                  <a16:creationId xmlns:a16="http://schemas.microsoft.com/office/drawing/2014/main" id="{CB60815D-B271-725F-EAE7-98278773A701}"/>
                </a:ext>
              </a:extLst>
            </p:cNvPr>
            <p:cNvSpPr txBox="1"/>
            <p:nvPr/>
          </p:nvSpPr>
          <p:spPr>
            <a:xfrm>
              <a:off x="1929741" y="3612075"/>
              <a:ext cx="16427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dirty="0">
                  <a:solidFill>
                    <a:schemeClr val="accent1">
                      <a:lumMod val="75000"/>
                    </a:schemeClr>
                  </a:solidFill>
                  <a:cs typeface="Calibri"/>
                </a:rPr>
                <a:t>Proprioception</a:t>
              </a:r>
              <a:endParaRPr lang="en-GB" dirty="0">
                <a:solidFill>
                  <a:schemeClr val="accent1">
                    <a:lumMod val="75000"/>
                  </a:schemeClr>
                </a:solidFill>
              </a:endParaRPr>
            </a:p>
          </p:txBody>
        </p:sp>
      </p:grpSp>
      <p:pic>
        <p:nvPicPr>
          <p:cNvPr id="7" name="Picture 6" descr="A picture containing text, transport, wheel, gear&#10;&#10;Description automatically generated">
            <a:extLst>
              <a:ext uri="{FF2B5EF4-FFF2-40B4-BE49-F238E27FC236}">
                <a16:creationId xmlns:a16="http://schemas.microsoft.com/office/drawing/2014/main" id="{FCB20A2F-8707-30D5-9FD8-D1A4D6167182}"/>
              </a:ext>
            </a:extLst>
          </p:cNvPr>
          <p:cNvPicPr>
            <a:picLocks noChangeAspect="1"/>
          </p:cNvPicPr>
          <p:nvPr/>
        </p:nvPicPr>
        <p:blipFill rotWithShape="1">
          <a:blip r:embed="rId2"/>
          <a:srcRect b="69021"/>
          <a:stretch/>
        </p:blipFill>
        <p:spPr>
          <a:xfrm>
            <a:off x="3585600" y="1192481"/>
            <a:ext cx="5030930" cy="5170219"/>
          </a:xfrm>
          <a:prstGeom prst="rect">
            <a:avLst/>
          </a:prstGeom>
        </p:spPr>
      </p:pic>
    </p:spTree>
    <p:extLst>
      <p:ext uri="{BB962C8B-B14F-4D97-AF65-F5344CB8AC3E}">
        <p14:creationId xmlns:p14="http://schemas.microsoft.com/office/powerpoint/2010/main" val="742390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The neuron</a:t>
            </a:r>
          </a:p>
        </p:txBody>
      </p:sp>
      <p:sp>
        <p:nvSpPr>
          <p:cNvPr id="4" name="Content Placeholder 3">
            <a:extLst>
              <a:ext uri="{FF2B5EF4-FFF2-40B4-BE49-F238E27FC236}">
                <a16:creationId xmlns:a16="http://schemas.microsoft.com/office/drawing/2014/main" id="{7E38551C-EDFA-4903-9983-3A36713C0D09}"/>
              </a:ext>
            </a:extLst>
          </p:cNvPr>
          <p:cNvSpPr>
            <a:spLocks noGrp="1"/>
          </p:cNvSpPr>
          <p:nvPr>
            <p:ph idx="1"/>
          </p:nvPr>
        </p:nvSpPr>
        <p:spPr/>
        <p:txBody>
          <a:bodyPr>
            <a:normAutofit/>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sz="2200" dirty="0"/>
              <a:t>Voltage-/Ligand-gated ion channels</a:t>
            </a:r>
          </a:p>
          <a:p>
            <a:pPr lvl="1"/>
            <a:r>
              <a:rPr lang="en-GB" sz="2200" dirty="0"/>
              <a:t>Fast conduction of signals (myelin)</a:t>
            </a:r>
          </a:p>
          <a:p>
            <a:pPr marL="457200" lvl="1" indent="0">
              <a:buNone/>
            </a:pPr>
            <a:endParaRPr lang="en-GB" dirty="0">
              <a:sym typeface="Wingdings" panose="05000000000000000000" pitchFamily="2" charset="2"/>
            </a:endParaRPr>
          </a:p>
        </p:txBody>
      </p:sp>
      <p:pic>
        <p:nvPicPr>
          <p:cNvPr id="6" name="Picture 5">
            <a:extLst>
              <a:ext uri="{FF2B5EF4-FFF2-40B4-BE49-F238E27FC236}">
                <a16:creationId xmlns:a16="http://schemas.microsoft.com/office/drawing/2014/main" id="{BB7B942A-B408-4A5C-B0DB-F13CD6B10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201" y="748800"/>
            <a:ext cx="2171501" cy="5873732"/>
          </a:xfrm>
          <a:prstGeom prst="rect">
            <a:avLst/>
          </a:prstGeom>
        </p:spPr>
      </p:pic>
      <p:sp>
        <p:nvSpPr>
          <p:cNvPr id="10" name="TextBox 9">
            <a:extLst>
              <a:ext uri="{FF2B5EF4-FFF2-40B4-BE49-F238E27FC236}">
                <a16:creationId xmlns:a16="http://schemas.microsoft.com/office/drawing/2014/main" id="{03D418EA-2C84-413B-998D-DBD65781C334}"/>
              </a:ext>
            </a:extLst>
          </p:cNvPr>
          <p:cNvSpPr txBox="1"/>
          <p:nvPr/>
        </p:nvSpPr>
        <p:spPr>
          <a:xfrm>
            <a:off x="7344866" y="2216901"/>
            <a:ext cx="1939933" cy="523220"/>
          </a:xfrm>
          <a:prstGeom prst="rect">
            <a:avLst/>
          </a:prstGeom>
          <a:noFill/>
        </p:spPr>
        <p:txBody>
          <a:bodyPr wrap="square" rtlCol="0">
            <a:spAutoFit/>
          </a:bodyPr>
          <a:lstStyle/>
          <a:p>
            <a:pPr algn="ctr"/>
            <a:r>
              <a:rPr lang="en-GB" sz="1400" dirty="0"/>
              <a:t>Axon</a:t>
            </a:r>
          </a:p>
          <a:p>
            <a:pPr algn="ctr"/>
            <a:r>
              <a:rPr lang="en-GB" sz="1400" dirty="0"/>
              <a:t>Initial  Segment (AIS)</a:t>
            </a:r>
          </a:p>
        </p:txBody>
      </p:sp>
      <p:cxnSp>
        <p:nvCxnSpPr>
          <p:cNvPr id="11" name="Straight Arrow Connector 10">
            <a:extLst>
              <a:ext uri="{FF2B5EF4-FFF2-40B4-BE49-F238E27FC236}">
                <a16:creationId xmlns:a16="http://schemas.microsoft.com/office/drawing/2014/main" id="{5E3DA455-F7AB-40D5-9917-A0BCDB5D150C}"/>
              </a:ext>
            </a:extLst>
          </p:cNvPr>
          <p:cNvCxnSpPr>
            <a:cxnSpLocks/>
          </p:cNvCxnSpPr>
          <p:nvPr/>
        </p:nvCxnSpPr>
        <p:spPr>
          <a:xfrm flipH="1" flipV="1">
            <a:off x="74768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9F21E63-813A-40B8-9D01-E2A2F45AE914}"/>
              </a:ext>
            </a:extLst>
          </p:cNvPr>
          <p:cNvSpPr txBox="1"/>
          <p:nvPr/>
        </p:nvSpPr>
        <p:spPr>
          <a:xfrm>
            <a:off x="5993358" y="5615553"/>
            <a:ext cx="1189567" cy="307777"/>
          </a:xfrm>
          <a:prstGeom prst="rect">
            <a:avLst/>
          </a:prstGeom>
          <a:noFill/>
        </p:spPr>
        <p:txBody>
          <a:bodyPr wrap="square" rtlCol="0">
            <a:spAutoFit/>
          </a:bodyPr>
          <a:lstStyle/>
          <a:p>
            <a:pPr algn="ctr"/>
            <a:r>
              <a:rPr lang="en-GB" sz="1400" dirty="0"/>
              <a:t>Terminals</a:t>
            </a:r>
          </a:p>
        </p:txBody>
      </p:sp>
      <p:cxnSp>
        <p:nvCxnSpPr>
          <p:cNvPr id="13" name="Straight Arrow Connector 12">
            <a:extLst>
              <a:ext uri="{FF2B5EF4-FFF2-40B4-BE49-F238E27FC236}">
                <a16:creationId xmlns:a16="http://schemas.microsoft.com/office/drawing/2014/main" id="{8258DCE9-3300-4B46-B986-F18EF88375AB}"/>
              </a:ext>
            </a:extLst>
          </p:cNvPr>
          <p:cNvCxnSpPr>
            <a:cxnSpLocks/>
          </p:cNvCxnSpPr>
          <p:nvPr/>
        </p:nvCxnSpPr>
        <p:spPr>
          <a:xfrm>
            <a:off x="66943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765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icture containing necklet, colorful&#10;&#10;Description automatically generated">
            <a:extLst>
              <a:ext uri="{FF2B5EF4-FFF2-40B4-BE49-F238E27FC236}">
                <a16:creationId xmlns:a16="http://schemas.microsoft.com/office/drawing/2014/main" id="{038FF56F-566B-4C23-B16A-B9E85CC12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201" y="748800"/>
            <a:ext cx="2171501" cy="5873732"/>
          </a:xfrm>
          <a:prstGeom prst="rect">
            <a:avLst/>
          </a:prstGeom>
        </p:spPr>
      </p:pic>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The neuron</a:t>
            </a:r>
          </a:p>
        </p:txBody>
      </p:sp>
      <p:sp>
        <p:nvSpPr>
          <p:cNvPr id="3" name="TextBox 2">
            <a:extLst>
              <a:ext uri="{FF2B5EF4-FFF2-40B4-BE49-F238E27FC236}">
                <a16:creationId xmlns:a16="http://schemas.microsoft.com/office/drawing/2014/main" id="{FD13CFDC-660E-4E04-BCA1-0129F1D9288B}"/>
              </a:ext>
            </a:extLst>
          </p:cNvPr>
          <p:cNvSpPr txBox="1"/>
          <p:nvPr/>
        </p:nvSpPr>
        <p:spPr>
          <a:xfrm>
            <a:off x="6096001" y="3516050"/>
            <a:ext cx="1113781" cy="523220"/>
          </a:xfrm>
          <a:prstGeom prst="rect">
            <a:avLst/>
          </a:prstGeom>
          <a:noFill/>
        </p:spPr>
        <p:txBody>
          <a:bodyPr wrap="square" rtlCol="0" anchor="ctr">
            <a:spAutoFit/>
          </a:bodyPr>
          <a:lstStyle/>
          <a:p>
            <a:pPr algn="ctr"/>
            <a:r>
              <a:rPr lang="en-GB" sz="1400" dirty="0"/>
              <a:t>Myelin sheaths</a:t>
            </a:r>
          </a:p>
        </p:txBody>
      </p:sp>
      <p:cxnSp>
        <p:nvCxnSpPr>
          <p:cNvPr id="7" name="Straight Arrow Connector 6">
            <a:extLst>
              <a:ext uri="{FF2B5EF4-FFF2-40B4-BE49-F238E27FC236}">
                <a16:creationId xmlns:a16="http://schemas.microsoft.com/office/drawing/2014/main" id="{4B345371-67F6-414C-8EE4-8515CC9D35CD}"/>
              </a:ext>
            </a:extLst>
          </p:cNvPr>
          <p:cNvCxnSpPr/>
          <p:nvPr/>
        </p:nvCxnSpPr>
        <p:spPr>
          <a:xfrm flipV="1">
            <a:off x="6955399" y="3196963"/>
            <a:ext cx="233757" cy="550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AE3F92-794F-40E2-928A-B7E6A5307831}"/>
              </a:ext>
            </a:extLst>
          </p:cNvPr>
          <p:cNvCxnSpPr>
            <a:cxnSpLocks/>
          </p:cNvCxnSpPr>
          <p:nvPr/>
        </p:nvCxnSpPr>
        <p:spPr>
          <a:xfrm flipV="1">
            <a:off x="6955398" y="3556001"/>
            <a:ext cx="455052" cy="190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31567F-646C-41FF-B4E3-465089E7E27D}"/>
              </a:ext>
            </a:extLst>
          </p:cNvPr>
          <p:cNvCxnSpPr>
            <a:cxnSpLocks/>
          </p:cNvCxnSpPr>
          <p:nvPr/>
        </p:nvCxnSpPr>
        <p:spPr>
          <a:xfrm>
            <a:off x="6955399" y="3746978"/>
            <a:ext cx="711169" cy="2344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picture containing icon&#10;&#10;Description automatically generated">
            <a:extLst>
              <a:ext uri="{FF2B5EF4-FFF2-40B4-BE49-F238E27FC236}">
                <a16:creationId xmlns:a16="http://schemas.microsoft.com/office/drawing/2014/main" id="{7AD019DA-0871-4ABF-A04E-6F2CA3285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305" y="4045315"/>
            <a:ext cx="744102" cy="447311"/>
          </a:xfrm>
          <a:prstGeom prst="rect">
            <a:avLst/>
          </a:prstGeom>
        </p:spPr>
      </p:pic>
      <p:sp>
        <p:nvSpPr>
          <p:cNvPr id="33" name="TextBox 32">
            <a:extLst>
              <a:ext uri="{FF2B5EF4-FFF2-40B4-BE49-F238E27FC236}">
                <a16:creationId xmlns:a16="http://schemas.microsoft.com/office/drawing/2014/main" id="{9D413802-C541-4726-A175-5F4D0408003C}"/>
              </a:ext>
            </a:extLst>
          </p:cNvPr>
          <p:cNvSpPr txBox="1"/>
          <p:nvPr/>
        </p:nvSpPr>
        <p:spPr>
          <a:xfrm>
            <a:off x="7739634" y="2879789"/>
            <a:ext cx="1113781" cy="523220"/>
          </a:xfrm>
          <a:prstGeom prst="rect">
            <a:avLst/>
          </a:prstGeom>
          <a:noFill/>
        </p:spPr>
        <p:txBody>
          <a:bodyPr wrap="square" rtlCol="0" anchor="ctr">
            <a:spAutoFit/>
          </a:bodyPr>
          <a:lstStyle/>
          <a:p>
            <a:pPr algn="ctr"/>
            <a:r>
              <a:rPr lang="en-GB" sz="1400" dirty="0"/>
              <a:t>Nodes of</a:t>
            </a:r>
          </a:p>
          <a:p>
            <a:pPr algn="ctr"/>
            <a:r>
              <a:rPr lang="en-GB" sz="1400" dirty="0"/>
              <a:t>Ranvier</a:t>
            </a:r>
          </a:p>
        </p:txBody>
      </p:sp>
      <p:cxnSp>
        <p:nvCxnSpPr>
          <p:cNvPr id="34" name="Straight Arrow Connector 33">
            <a:extLst>
              <a:ext uri="{FF2B5EF4-FFF2-40B4-BE49-F238E27FC236}">
                <a16:creationId xmlns:a16="http://schemas.microsoft.com/office/drawing/2014/main" id="{DBE4FE3C-359C-47A8-A63D-57AF37179698}"/>
              </a:ext>
            </a:extLst>
          </p:cNvPr>
          <p:cNvCxnSpPr>
            <a:cxnSpLocks/>
          </p:cNvCxnSpPr>
          <p:nvPr/>
        </p:nvCxnSpPr>
        <p:spPr>
          <a:xfrm flipH="1" flipV="1">
            <a:off x="7310984" y="2844279"/>
            <a:ext cx="632867" cy="314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96BDFE4-4A2B-468D-835B-387E13F0202C}"/>
              </a:ext>
            </a:extLst>
          </p:cNvPr>
          <p:cNvCxnSpPr>
            <a:cxnSpLocks/>
          </p:cNvCxnSpPr>
          <p:nvPr/>
        </p:nvCxnSpPr>
        <p:spPr>
          <a:xfrm flipH="1">
            <a:off x="7410452" y="3159126"/>
            <a:ext cx="533399" cy="134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CCAC41-ECE2-4C90-A0BF-082B8A82FAAD}"/>
              </a:ext>
            </a:extLst>
          </p:cNvPr>
          <p:cNvCxnSpPr>
            <a:cxnSpLocks/>
          </p:cNvCxnSpPr>
          <p:nvPr/>
        </p:nvCxnSpPr>
        <p:spPr>
          <a:xfrm flipH="1">
            <a:off x="7663496" y="3159126"/>
            <a:ext cx="280355" cy="5429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8424BF08-D4E5-4FA9-A558-567910E04B55}"/>
              </a:ext>
            </a:extLst>
          </p:cNvPr>
          <p:cNvSpPr txBox="1"/>
          <p:nvPr/>
        </p:nvSpPr>
        <p:spPr>
          <a:xfrm>
            <a:off x="7344866" y="2216901"/>
            <a:ext cx="1939933" cy="523220"/>
          </a:xfrm>
          <a:prstGeom prst="rect">
            <a:avLst/>
          </a:prstGeom>
          <a:noFill/>
        </p:spPr>
        <p:txBody>
          <a:bodyPr wrap="square" rtlCol="0">
            <a:spAutoFit/>
          </a:bodyPr>
          <a:lstStyle/>
          <a:p>
            <a:pPr algn="ctr"/>
            <a:r>
              <a:rPr lang="en-GB" sz="1400" dirty="0"/>
              <a:t>Axon</a:t>
            </a:r>
          </a:p>
          <a:p>
            <a:pPr algn="ctr"/>
            <a:r>
              <a:rPr lang="en-GB" sz="1400" dirty="0"/>
              <a:t>Initial  Segment (AIS)</a:t>
            </a:r>
          </a:p>
        </p:txBody>
      </p:sp>
      <p:cxnSp>
        <p:nvCxnSpPr>
          <p:cNvPr id="38" name="Straight Arrow Connector 37">
            <a:extLst>
              <a:ext uri="{FF2B5EF4-FFF2-40B4-BE49-F238E27FC236}">
                <a16:creationId xmlns:a16="http://schemas.microsoft.com/office/drawing/2014/main" id="{D3DEF9BC-83BD-4AE7-926E-3EF86FDE489E}"/>
              </a:ext>
            </a:extLst>
          </p:cNvPr>
          <p:cNvCxnSpPr>
            <a:cxnSpLocks/>
          </p:cNvCxnSpPr>
          <p:nvPr/>
        </p:nvCxnSpPr>
        <p:spPr>
          <a:xfrm flipH="1" flipV="1">
            <a:off x="74768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E00A34C-3821-4E54-8BD1-FED0AD521BE9}"/>
              </a:ext>
            </a:extLst>
          </p:cNvPr>
          <p:cNvSpPr txBox="1"/>
          <p:nvPr/>
        </p:nvSpPr>
        <p:spPr>
          <a:xfrm>
            <a:off x="5993358" y="5615553"/>
            <a:ext cx="1189567" cy="307777"/>
          </a:xfrm>
          <a:prstGeom prst="rect">
            <a:avLst/>
          </a:prstGeom>
          <a:noFill/>
        </p:spPr>
        <p:txBody>
          <a:bodyPr wrap="square" rtlCol="0">
            <a:spAutoFit/>
          </a:bodyPr>
          <a:lstStyle/>
          <a:p>
            <a:pPr algn="ctr"/>
            <a:r>
              <a:rPr lang="en-GB" sz="1400" dirty="0"/>
              <a:t>Terminals</a:t>
            </a:r>
          </a:p>
        </p:txBody>
      </p:sp>
      <p:cxnSp>
        <p:nvCxnSpPr>
          <p:cNvPr id="40" name="Straight Arrow Connector 39">
            <a:extLst>
              <a:ext uri="{FF2B5EF4-FFF2-40B4-BE49-F238E27FC236}">
                <a16:creationId xmlns:a16="http://schemas.microsoft.com/office/drawing/2014/main" id="{DF4436BE-59C0-4F62-980E-90011ADFC56A}"/>
              </a:ext>
            </a:extLst>
          </p:cNvPr>
          <p:cNvCxnSpPr>
            <a:cxnSpLocks/>
          </p:cNvCxnSpPr>
          <p:nvPr/>
        </p:nvCxnSpPr>
        <p:spPr>
          <a:xfrm>
            <a:off x="66943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040326AA-B445-4539-A8E2-C2CDF01BD2B4}"/>
              </a:ext>
            </a:extLst>
          </p:cNvPr>
          <p:cNvSpPr>
            <a:spLocks noGrp="1"/>
          </p:cNvSpPr>
          <p:nvPr>
            <p:ph idx="1"/>
          </p:nvPr>
        </p:nvSpPr>
        <p:spPr/>
        <p:txBody>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sz="2200" dirty="0"/>
              <a:t>Voltage-/Ligand-gated ion channels</a:t>
            </a:r>
          </a:p>
          <a:p>
            <a:pPr lvl="1"/>
            <a:r>
              <a:rPr lang="en-GB" sz="2200" dirty="0"/>
              <a:t>Fast conduction of signals (myelin)</a:t>
            </a:r>
          </a:p>
        </p:txBody>
      </p:sp>
    </p:spTree>
    <p:extLst>
      <p:ext uri="{BB962C8B-B14F-4D97-AF65-F5344CB8AC3E}">
        <p14:creationId xmlns:p14="http://schemas.microsoft.com/office/powerpoint/2010/main" val="3445186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hape&#10;&#10;Description automatically generated">
            <a:extLst>
              <a:ext uri="{FF2B5EF4-FFF2-40B4-BE49-F238E27FC236}">
                <a16:creationId xmlns:a16="http://schemas.microsoft.com/office/drawing/2014/main" id="{A5DD9B4B-06E9-4AF1-9E25-31AEEFBC1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200" y="742451"/>
            <a:ext cx="4229572" cy="5881935"/>
          </a:xfrm>
          <a:prstGeom prst="rect">
            <a:avLst/>
          </a:prstGeom>
        </p:spPr>
      </p:pic>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The neuron</a:t>
            </a:r>
          </a:p>
        </p:txBody>
      </p:sp>
      <p:sp>
        <p:nvSpPr>
          <p:cNvPr id="3" name="TextBox 2">
            <a:extLst>
              <a:ext uri="{FF2B5EF4-FFF2-40B4-BE49-F238E27FC236}">
                <a16:creationId xmlns:a16="http://schemas.microsoft.com/office/drawing/2014/main" id="{FD13CFDC-660E-4E04-BCA1-0129F1D9288B}"/>
              </a:ext>
            </a:extLst>
          </p:cNvPr>
          <p:cNvSpPr txBox="1"/>
          <p:nvPr/>
        </p:nvSpPr>
        <p:spPr>
          <a:xfrm>
            <a:off x="6096001" y="3516050"/>
            <a:ext cx="1113781" cy="523220"/>
          </a:xfrm>
          <a:prstGeom prst="rect">
            <a:avLst/>
          </a:prstGeom>
          <a:noFill/>
        </p:spPr>
        <p:txBody>
          <a:bodyPr wrap="square" rtlCol="0" anchor="ctr">
            <a:spAutoFit/>
          </a:bodyPr>
          <a:lstStyle/>
          <a:p>
            <a:pPr algn="ctr"/>
            <a:r>
              <a:rPr lang="en-GB" sz="1400" dirty="0"/>
              <a:t>Myelin sheaths</a:t>
            </a:r>
          </a:p>
        </p:txBody>
      </p:sp>
      <p:cxnSp>
        <p:nvCxnSpPr>
          <p:cNvPr id="7" name="Straight Arrow Connector 6">
            <a:extLst>
              <a:ext uri="{FF2B5EF4-FFF2-40B4-BE49-F238E27FC236}">
                <a16:creationId xmlns:a16="http://schemas.microsoft.com/office/drawing/2014/main" id="{4B345371-67F6-414C-8EE4-8515CC9D35CD}"/>
              </a:ext>
            </a:extLst>
          </p:cNvPr>
          <p:cNvCxnSpPr/>
          <p:nvPr/>
        </p:nvCxnSpPr>
        <p:spPr>
          <a:xfrm flipV="1">
            <a:off x="6955399" y="3196963"/>
            <a:ext cx="233757" cy="550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AE3F92-794F-40E2-928A-B7E6A5307831}"/>
              </a:ext>
            </a:extLst>
          </p:cNvPr>
          <p:cNvCxnSpPr>
            <a:cxnSpLocks/>
          </p:cNvCxnSpPr>
          <p:nvPr/>
        </p:nvCxnSpPr>
        <p:spPr>
          <a:xfrm flipV="1">
            <a:off x="6955398" y="3556001"/>
            <a:ext cx="455052" cy="190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31567F-646C-41FF-B4E3-465089E7E27D}"/>
              </a:ext>
            </a:extLst>
          </p:cNvPr>
          <p:cNvCxnSpPr>
            <a:cxnSpLocks/>
          </p:cNvCxnSpPr>
          <p:nvPr/>
        </p:nvCxnSpPr>
        <p:spPr>
          <a:xfrm>
            <a:off x="6955399" y="3746978"/>
            <a:ext cx="711169" cy="2344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D3F256D-62F1-4700-AFE5-ED8C695CB816}"/>
              </a:ext>
            </a:extLst>
          </p:cNvPr>
          <p:cNvSpPr txBox="1"/>
          <p:nvPr/>
        </p:nvSpPr>
        <p:spPr>
          <a:xfrm>
            <a:off x="9330267" y="2474650"/>
            <a:ext cx="1113781" cy="523220"/>
          </a:xfrm>
          <a:prstGeom prst="rect">
            <a:avLst/>
          </a:prstGeom>
          <a:noFill/>
        </p:spPr>
        <p:txBody>
          <a:bodyPr wrap="square" rtlCol="0" anchor="ctr">
            <a:spAutoFit/>
          </a:bodyPr>
          <a:lstStyle/>
          <a:p>
            <a:pPr algn="ctr"/>
            <a:r>
              <a:rPr lang="en-GB" sz="1400" dirty="0">
                <a:solidFill>
                  <a:schemeClr val="accent5">
                    <a:lumMod val="75000"/>
                  </a:schemeClr>
                </a:solidFill>
              </a:rPr>
              <a:t>Dendritic</a:t>
            </a:r>
          </a:p>
          <a:p>
            <a:pPr algn="ctr"/>
            <a:r>
              <a:rPr lang="en-GB" sz="1400" dirty="0">
                <a:solidFill>
                  <a:schemeClr val="accent5">
                    <a:lumMod val="75000"/>
                  </a:schemeClr>
                </a:solidFill>
              </a:rPr>
              <a:t>Spines</a:t>
            </a:r>
          </a:p>
        </p:txBody>
      </p:sp>
      <p:sp>
        <p:nvSpPr>
          <p:cNvPr id="15" name="TextBox 14">
            <a:extLst>
              <a:ext uri="{FF2B5EF4-FFF2-40B4-BE49-F238E27FC236}">
                <a16:creationId xmlns:a16="http://schemas.microsoft.com/office/drawing/2014/main" id="{73F1CAE5-11BE-4827-8FDF-01F45CCF2FB1}"/>
              </a:ext>
            </a:extLst>
          </p:cNvPr>
          <p:cNvSpPr txBox="1"/>
          <p:nvPr/>
        </p:nvSpPr>
        <p:spPr>
          <a:xfrm>
            <a:off x="9330266" y="4039270"/>
            <a:ext cx="1113781" cy="523220"/>
          </a:xfrm>
          <a:prstGeom prst="rect">
            <a:avLst/>
          </a:prstGeom>
          <a:noFill/>
        </p:spPr>
        <p:txBody>
          <a:bodyPr wrap="square" rtlCol="0" anchor="ctr">
            <a:spAutoFit/>
          </a:bodyPr>
          <a:lstStyle/>
          <a:p>
            <a:pPr algn="ctr"/>
            <a:r>
              <a:rPr lang="en-GB" sz="1400" dirty="0">
                <a:solidFill>
                  <a:srgbClr val="FF0000"/>
                </a:solidFill>
              </a:rPr>
              <a:t>Axonal Boutons</a:t>
            </a:r>
          </a:p>
        </p:txBody>
      </p:sp>
      <p:pic>
        <p:nvPicPr>
          <p:cNvPr id="6" name="Picture 5" descr="A picture containing icon&#10;&#10;Description automatically generated">
            <a:extLst>
              <a:ext uri="{FF2B5EF4-FFF2-40B4-BE49-F238E27FC236}">
                <a16:creationId xmlns:a16="http://schemas.microsoft.com/office/drawing/2014/main" id="{99429DDF-98F0-4BC6-8DA5-39907FE25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305" y="4045315"/>
            <a:ext cx="744102" cy="447311"/>
          </a:xfrm>
          <a:prstGeom prst="rect">
            <a:avLst/>
          </a:prstGeom>
        </p:spPr>
      </p:pic>
      <p:sp>
        <p:nvSpPr>
          <p:cNvPr id="19" name="TextBox 18">
            <a:extLst>
              <a:ext uri="{FF2B5EF4-FFF2-40B4-BE49-F238E27FC236}">
                <a16:creationId xmlns:a16="http://schemas.microsoft.com/office/drawing/2014/main" id="{97145703-8778-47AB-9081-917C81D46ED3}"/>
              </a:ext>
            </a:extLst>
          </p:cNvPr>
          <p:cNvSpPr txBox="1"/>
          <p:nvPr/>
        </p:nvSpPr>
        <p:spPr>
          <a:xfrm>
            <a:off x="7739634" y="2879789"/>
            <a:ext cx="1113781" cy="523220"/>
          </a:xfrm>
          <a:prstGeom prst="rect">
            <a:avLst/>
          </a:prstGeom>
          <a:noFill/>
        </p:spPr>
        <p:txBody>
          <a:bodyPr wrap="square" rtlCol="0" anchor="ctr">
            <a:spAutoFit/>
          </a:bodyPr>
          <a:lstStyle/>
          <a:p>
            <a:pPr algn="ctr"/>
            <a:r>
              <a:rPr lang="en-GB" sz="1400" dirty="0"/>
              <a:t>Nodes of</a:t>
            </a:r>
          </a:p>
          <a:p>
            <a:pPr algn="ctr"/>
            <a:r>
              <a:rPr lang="en-GB" sz="1400" dirty="0"/>
              <a:t>Ranvier</a:t>
            </a:r>
          </a:p>
        </p:txBody>
      </p:sp>
      <p:cxnSp>
        <p:nvCxnSpPr>
          <p:cNvPr id="20" name="Straight Arrow Connector 19">
            <a:extLst>
              <a:ext uri="{FF2B5EF4-FFF2-40B4-BE49-F238E27FC236}">
                <a16:creationId xmlns:a16="http://schemas.microsoft.com/office/drawing/2014/main" id="{8BBF5837-80D1-43E5-8447-0B25E33671B2}"/>
              </a:ext>
            </a:extLst>
          </p:cNvPr>
          <p:cNvCxnSpPr>
            <a:cxnSpLocks/>
          </p:cNvCxnSpPr>
          <p:nvPr/>
        </p:nvCxnSpPr>
        <p:spPr>
          <a:xfrm flipH="1" flipV="1">
            <a:off x="7310984" y="2844279"/>
            <a:ext cx="632867" cy="314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E30EE2-6EC8-4A0A-82DF-B220836CF2FF}"/>
              </a:ext>
            </a:extLst>
          </p:cNvPr>
          <p:cNvCxnSpPr>
            <a:cxnSpLocks/>
          </p:cNvCxnSpPr>
          <p:nvPr/>
        </p:nvCxnSpPr>
        <p:spPr>
          <a:xfrm flipH="1">
            <a:off x="7410452" y="3159126"/>
            <a:ext cx="533399" cy="134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5099C7A-1EF5-490A-BD1E-89F79C7A10FA}"/>
              </a:ext>
            </a:extLst>
          </p:cNvPr>
          <p:cNvCxnSpPr>
            <a:cxnSpLocks/>
          </p:cNvCxnSpPr>
          <p:nvPr/>
        </p:nvCxnSpPr>
        <p:spPr>
          <a:xfrm flipH="1">
            <a:off x="7663496" y="3159126"/>
            <a:ext cx="280355" cy="5429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03FB14-FC6C-47ED-881E-538D8D83C937}"/>
              </a:ext>
            </a:extLst>
          </p:cNvPr>
          <p:cNvSpPr txBox="1"/>
          <p:nvPr/>
        </p:nvSpPr>
        <p:spPr>
          <a:xfrm>
            <a:off x="7344866" y="2216901"/>
            <a:ext cx="1939933" cy="523220"/>
          </a:xfrm>
          <a:prstGeom prst="rect">
            <a:avLst/>
          </a:prstGeom>
          <a:noFill/>
        </p:spPr>
        <p:txBody>
          <a:bodyPr wrap="square" rtlCol="0">
            <a:spAutoFit/>
          </a:bodyPr>
          <a:lstStyle/>
          <a:p>
            <a:pPr algn="ctr"/>
            <a:r>
              <a:rPr lang="en-GB" sz="1400" dirty="0"/>
              <a:t>Axon</a:t>
            </a:r>
          </a:p>
          <a:p>
            <a:pPr algn="ctr"/>
            <a:r>
              <a:rPr lang="en-GB" sz="1400" dirty="0"/>
              <a:t>Initial  Segment (AIS)</a:t>
            </a:r>
          </a:p>
        </p:txBody>
      </p:sp>
      <p:cxnSp>
        <p:nvCxnSpPr>
          <p:cNvPr id="27" name="Straight Arrow Connector 26">
            <a:extLst>
              <a:ext uri="{FF2B5EF4-FFF2-40B4-BE49-F238E27FC236}">
                <a16:creationId xmlns:a16="http://schemas.microsoft.com/office/drawing/2014/main" id="{D48214CE-2241-4AB7-931B-7811B380BCAE}"/>
              </a:ext>
            </a:extLst>
          </p:cNvPr>
          <p:cNvCxnSpPr>
            <a:cxnSpLocks/>
          </p:cNvCxnSpPr>
          <p:nvPr/>
        </p:nvCxnSpPr>
        <p:spPr>
          <a:xfrm flipH="1" flipV="1">
            <a:off x="74768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2EB7F6B-ABA6-4EBC-ABAD-630756E5B565}"/>
              </a:ext>
            </a:extLst>
          </p:cNvPr>
          <p:cNvSpPr txBox="1"/>
          <p:nvPr/>
        </p:nvSpPr>
        <p:spPr>
          <a:xfrm>
            <a:off x="5993358" y="5615553"/>
            <a:ext cx="1189567" cy="307777"/>
          </a:xfrm>
          <a:prstGeom prst="rect">
            <a:avLst/>
          </a:prstGeom>
          <a:noFill/>
        </p:spPr>
        <p:txBody>
          <a:bodyPr wrap="square" rtlCol="0">
            <a:spAutoFit/>
          </a:bodyPr>
          <a:lstStyle/>
          <a:p>
            <a:pPr algn="ctr"/>
            <a:r>
              <a:rPr lang="en-GB" sz="1400" dirty="0"/>
              <a:t>Terminals</a:t>
            </a:r>
          </a:p>
        </p:txBody>
      </p:sp>
      <p:cxnSp>
        <p:nvCxnSpPr>
          <p:cNvPr id="31" name="Straight Arrow Connector 30">
            <a:extLst>
              <a:ext uri="{FF2B5EF4-FFF2-40B4-BE49-F238E27FC236}">
                <a16:creationId xmlns:a16="http://schemas.microsoft.com/office/drawing/2014/main" id="{58A7CE91-D5A9-4C12-9E44-EBDD98FB681F}"/>
              </a:ext>
            </a:extLst>
          </p:cNvPr>
          <p:cNvCxnSpPr>
            <a:cxnSpLocks/>
          </p:cNvCxnSpPr>
          <p:nvPr/>
        </p:nvCxnSpPr>
        <p:spPr>
          <a:xfrm>
            <a:off x="66943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2AE7B8A2-984F-4FF0-A9C8-441A0248911F}"/>
              </a:ext>
            </a:extLst>
          </p:cNvPr>
          <p:cNvSpPr>
            <a:spLocks noGrp="1"/>
          </p:cNvSpPr>
          <p:nvPr>
            <p:ph idx="1"/>
          </p:nvPr>
        </p:nvSpPr>
        <p:spPr/>
        <p:txBody>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sz="2200" dirty="0"/>
              <a:t>Voltage-/Ligand-gated ion channels</a:t>
            </a:r>
          </a:p>
          <a:p>
            <a:pPr lvl="1"/>
            <a:r>
              <a:rPr lang="en-GB" sz="2200" dirty="0"/>
              <a:t>Fast conduction of signals (myelin)</a:t>
            </a:r>
          </a:p>
        </p:txBody>
      </p:sp>
    </p:spTree>
    <p:extLst>
      <p:ext uri="{BB962C8B-B14F-4D97-AF65-F5344CB8AC3E}">
        <p14:creationId xmlns:p14="http://schemas.microsoft.com/office/powerpoint/2010/main" val="408160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5275-EED1-4626-91E7-CBD522C1DBC4}"/>
              </a:ext>
            </a:extLst>
          </p:cNvPr>
          <p:cNvSpPr>
            <a:spLocks noGrp="1"/>
          </p:cNvSpPr>
          <p:nvPr>
            <p:ph type="title"/>
          </p:nvPr>
        </p:nvSpPr>
        <p:spPr/>
        <p:txBody>
          <a:bodyPr/>
          <a:lstStyle/>
          <a:p>
            <a:r>
              <a:rPr lang="en-GB" dirty="0"/>
              <a:t>Excitability</a:t>
            </a:r>
          </a:p>
        </p:txBody>
      </p:sp>
      <p:sp>
        <p:nvSpPr>
          <p:cNvPr id="3" name="Content Placeholder 2">
            <a:extLst>
              <a:ext uri="{FF2B5EF4-FFF2-40B4-BE49-F238E27FC236}">
                <a16:creationId xmlns:a16="http://schemas.microsoft.com/office/drawing/2014/main" id="{3B3D59EA-08B1-4087-A5DD-FBF6A0A9B157}"/>
              </a:ext>
            </a:extLst>
          </p:cNvPr>
          <p:cNvSpPr>
            <a:spLocks noGrp="1"/>
          </p:cNvSpPr>
          <p:nvPr>
            <p:ph idx="1"/>
          </p:nvPr>
        </p:nvSpPr>
        <p:spPr>
          <a:xfrm>
            <a:off x="329380" y="1155109"/>
            <a:ext cx="11227456" cy="5137739"/>
          </a:xfrm>
        </p:spPr>
        <p:txBody>
          <a:bodyPr/>
          <a:lstStyle/>
          <a:p>
            <a:r>
              <a:rPr lang="en-GB" dirty="0"/>
              <a:t>The ability of cells to </a:t>
            </a:r>
            <a:r>
              <a:rPr lang="en-GB" b="1" dirty="0"/>
              <a:t>change their membrane potential </a:t>
            </a:r>
            <a:r>
              <a:rPr lang="en-GB" dirty="0"/>
              <a:t>in response to stimuli </a:t>
            </a:r>
          </a:p>
          <a:p>
            <a:pPr lvl="1"/>
            <a:r>
              <a:rPr lang="en-GB" dirty="0"/>
              <a:t>Voltage, ligands, light, mechanical stimulation</a:t>
            </a:r>
          </a:p>
          <a:p>
            <a:pPr lvl="1"/>
            <a:endParaRPr lang="en-GB" dirty="0"/>
          </a:p>
          <a:p>
            <a:r>
              <a:rPr lang="en-GB" dirty="0"/>
              <a:t>Not just neurons</a:t>
            </a:r>
          </a:p>
          <a:p>
            <a:pPr lvl="1"/>
            <a:r>
              <a:rPr lang="en-GB" dirty="0"/>
              <a:t>Muscle cells, endocrine cells, cochlear hair cells, rods and cones in the retina</a:t>
            </a:r>
          </a:p>
          <a:p>
            <a:pPr lvl="1"/>
            <a:endParaRPr lang="en-GB" dirty="0"/>
          </a:p>
          <a:p>
            <a:r>
              <a:rPr lang="en-GB" dirty="0"/>
              <a:t>Expression of voltage- and/or ligand-gated ion channels</a:t>
            </a:r>
          </a:p>
          <a:p>
            <a:pPr lvl="1"/>
            <a:r>
              <a:rPr lang="en-GB" dirty="0"/>
              <a:t>Change in membrane potential trigger a conformational change which opens a pore</a:t>
            </a:r>
          </a:p>
          <a:p>
            <a:pPr lvl="1"/>
            <a:r>
              <a:rPr lang="en-GB" dirty="0"/>
              <a:t>Permeability to ions (Na</a:t>
            </a:r>
            <a:r>
              <a:rPr lang="en-GB" baseline="30000" dirty="0"/>
              <a:t>+</a:t>
            </a:r>
            <a:r>
              <a:rPr lang="en-GB" dirty="0"/>
              <a:t>, Ca</a:t>
            </a:r>
            <a:r>
              <a:rPr lang="en-GB" baseline="30000" dirty="0"/>
              <a:t>2+</a:t>
            </a:r>
            <a:r>
              <a:rPr lang="en-GB" dirty="0"/>
              <a:t>, K</a:t>
            </a:r>
            <a:r>
              <a:rPr lang="en-GB" baseline="30000" dirty="0"/>
              <a:t>+</a:t>
            </a:r>
            <a:r>
              <a:rPr lang="en-GB" dirty="0"/>
              <a:t>, Cl</a:t>
            </a:r>
            <a:r>
              <a:rPr lang="en-GB" baseline="30000" dirty="0"/>
              <a:t>-</a:t>
            </a:r>
            <a:r>
              <a:rPr lang="en-GB" dirty="0"/>
              <a:t>)</a:t>
            </a:r>
          </a:p>
        </p:txBody>
      </p:sp>
      <p:pic>
        <p:nvPicPr>
          <p:cNvPr id="7" name="Picture 6">
            <a:extLst>
              <a:ext uri="{FF2B5EF4-FFF2-40B4-BE49-F238E27FC236}">
                <a16:creationId xmlns:a16="http://schemas.microsoft.com/office/drawing/2014/main" id="{994BAD3D-7E90-4373-8970-39C4693AF733}"/>
              </a:ext>
            </a:extLst>
          </p:cNvPr>
          <p:cNvPicPr>
            <a:picLocks noChangeAspect="1"/>
          </p:cNvPicPr>
          <p:nvPr/>
        </p:nvPicPr>
        <p:blipFill rotWithShape="1">
          <a:blip r:embed="rId2"/>
          <a:srcRect t="20185" b="18859"/>
          <a:stretch/>
        </p:blipFill>
        <p:spPr>
          <a:xfrm flipV="1">
            <a:off x="2673350" y="5227114"/>
            <a:ext cx="6845300" cy="1395930"/>
          </a:xfrm>
          <a:prstGeom prst="rect">
            <a:avLst/>
          </a:prstGeom>
        </p:spPr>
      </p:pic>
    </p:spTree>
    <p:extLst>
      <p:ext uri="{BB962C8B-B14F-4D97-AF65-F5344CB8AC3E}">
        <p14:creationId xmlns:p14="http://schemas.microsoft.com/office/powerpoint/2010/main" val="139127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dirty="0"/>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p:txBody>
          <a:bodyPr>
            <a:normAutofit/>
          </a:bodyPr>
          <a:lstStyle/>
          <a:p>
            <a:r>
              <a:rPr lang="en-GB" dirty="0"/>
              <a:t>At resting membrane potential</a:t>
            </a:r>
          </a:p>
          <a:p>
            <a:pPr lvl="1"/>
            <a:r>
              <a:rPr lang="en-GB" dirty="0"/>
              <a:t>Na</a:t>
            </a:r>
            <a:r>
              <a:rPr lang="en-GB" baseline="30000" dirty="0"/>
              <a:t>+</a:t>
            </a:r>
            <a:r>
              <a:rPr lang="en-GB" dirty="0"/>
              <a:t> and K</a:t>
            </a:r>
            <a:r>
              <a:rPr lang="en-GB" baseline="30000" dirty="0"/>
              <a:t>+</a:t>
            </a:r>
            <a:r>
              <a:rPr lang="en-GB" dirty="0"/>
              <a:t> channels are </a:t>
            </a:r>
            <a:r>
              <a:rPr lang="en-GB" b="1" dirty="0"/>
              <a:t>closed</a:t>
            </a:r>
          </a:p>
          <a:p>
            <a:r>
              <a:rPr lang="en-GB" b="1" dirty="0">
                <a:solidFill>
                  <a:schemeClr val="bg1">
                    <a:lumMod val="65000"/>
                  </a:schemeClr>
                </a:solidFill>
              </a:rPr>
              <a:t>Stimuli </a:t>
            </a:r>
            <a:r>
              <a:rPr lang="en-GB" dirty="0">
                <a:solidFill>
                  <a:schemeClr val="bg1">
                    <a:lumMod val="65000"/>
                  </a:schemeClr>
                </a:solidFill>
              </a:rPr>
              <a:t>positively increase the membrane potential (voltage) (</a:t>
            </a:r>
            <a:r>
              <a:rPr lang="en-GB" b="1" dirty="0">
                <a:solidFill>
                  <a:schemeClr val="bg1">
                    <a:lumMod val="65000"/>
                  </a:schemeClr>
                </a:solidFill>
              </a:rPr>
              <a:t>depolarization</a:t>
            </a:r>
            <a:r>
              <a:rPr lang="en-GB" dirty="0">
                <a:solidFill>
                  <a:schemeClr val="bg1">
                    <a:lumMod val="65000"/>
                  </a:schemeClr>
                </a:solidFill>
              </a:rPr>
              <a:t>)</a:t>
            </a:r>
          </a:p>
          <a:p>
            <a:r>
              <a:rPr lang="en-GB" dirty="0">
                <a:solidFill>
                  <a:schemeClr val="bg1">
                    <a:lumMod val="65000"/>
                  </a:schemeClr>
                </a:solidFill>
              </a:rPr>
              <a:t>Upon reaching a voltage threshold, </a:t>
            </a:r>
            <a:r>
              <a:rPr lang="en-GB" b="1" dirty="0">
                <a:solidFill>
                  <a:schemeClr val="bg1">
                    <a:lumMod val="65000"/>
                  </a:schemeClr>
                </a:solidFill>
              </a:rPr>
              <a:t>Na</a:t>
            </a:r>
            <a:r>
              <a:rPr lang="en-GB" b="1" baseline="30000" dirty="0">
                <a:solidFill>
                  <a:schemeClr val="bg1">
                    <a:lumMod val="65000"/>
                  </a:schemeClr>
                </a:solidFill>
              </a:rPr>
              <a:t>+</a:t>
            </a:r>
            <a:r>
              <a:rPr lang="en-GB" b="1" dirty="0">
                <a:solidFill>
                  <a:schemeClr val="bg1">
                    <a:lumMod val="65000"/>
                  </a:schemeClr>
                </a:solidFill>
              </a:rPr>
              <a:t> channels open</a:t>
            </a:r>
          </a:p>
          <a:p>
            <a:pPr lvl="1"/>
            <a:r>
              <a:rPr lang="en-GB" dirty="0">
                <a:solidFill>
                  <a:schemeClr val="bg1">
                    <a:lumMod val="65000"/>
                  </a:schemeClr>
                </a:solidFill>
              </a:rPr>
              <a:t>Massive </a:t>
            </a:r>
            <a:r>
              <a:rPr lang="en-GB" b="1" dirty="0">
                <a:solidFill>
                  <a:schemeClr val="bg1">
                    <a:lumMod val="65000"/>
                  </a:schemeClr>
                </a:solidFill>
              </a:rPr>
              <a:t>flow of Na</a:t>
            </a:r>
            <a:r>
              <a:rPr lang="en-GB" b="1" baseline="30000" dirty="0">
                <a:solidFill>
                  <a:schemeClr val="bg1">
                    <a:lumMod val="65000"/>
                  </a:schemeClr>
                </a:solidFill>
              </a:rPr>
              <a:t>+</a:t>
            </a:r>
            <a:r>
              <a:rPr lang="en-GB" b="1" dirty="0">
                <a:solidFill>
                  <a:schemeClr val="bg1">
                    <a:lumMod val="65000"/>
                  </a:schemeClr>
                </a:solidFill>
              </a:rPr>
              <a:t> ions inside the cell </a:t>
            </a:r>
            <a:r>
              <a:rPr lang="en-GB" dirty="0">
                <a:solidFill>
                  <a:schemeClr val="bg1">
                    <a:lumMod val="65000"/>
                  </a:schemeClr>
                </a:solidFill>
              </a:rPr>
              <a:t>depolarizes even more the membrane potential</a:t>
            </a:r>
          </a:p>
          <a:p>
            <a:r>
              <a:rPr lang="en-GB" dirty="0">
                <a:solidFill>
                  <a:schemeClr val="bg1">
                    <a:lumMod val="65000"/>
                  </a:schemeClr>
                </a:solidFill>
              </a:rPr>
              <a:t>Further depolarization </a:t>
            </a:r>
            <a:r>
              <a:rPr lang="en-GB" b="1" dirty="0">
                <a:solidFill>
                  <a:schemeClr val="bg1">
                    <a:lumMod val="65000"/>
                  </a:schemeClr>
                </a:solidFill>
              </a:rPr>
              <a:t>opens K</a:t>
            </a:r>
            <a:r>
              <a:rPr lang="en-GB" b="1" baseline="30000" dirty="0">
                <a:solidFill>
                  <a:schemeClr val="bg1">
                    <a:lumMod val="65000"/>
                  </a:schemeClr>
                </a:solidFill>
              </a:rPr>
              <a:t>+</a:t>
            </a:r>
            <a:r>
              <a:rPr lang="en-GB" b="1" dirty="0">
                <a:solidFill>
                  <a:schemeClr val="bg1">
                    <a:lumMod val="65000"/>
                  </a:schemeClr>
                </a:solidFill>
              </a:rPr>
              <a:t> channels</a:t>
            </a:r>
          </a:p>
          <a:p>
            <a:pPr lvl="1"/>
            <a:r>
              <a:rPr lang="en-GB" b="1" dirty="0">
                <a:solidFill>
                  <a:schemeClr val="bg1">
                    <a:lumMod val="65000"/>
                  </a:schemeClr>
                </a:solidFill>
              </a:rPr>
              <a:t>Flow of K</a:t>
            </a:r>
            <a:r>
              <a:rPr lang="en-GB" b="1" baseline="30000" dirty="0">
                <a:solidFill>
                  <a:schemeClr val="bg1">
                    <a:lumMod val="65000"/>
                  </a:schemeClr>
                </a:solidFill>
              </a:rPr>
              <a:t>+</a:t>
            </a:r>
            <a:r>
              <a:rPr lang="en-GB" b="1" dirty="0">
                <a:solidFill>
                  <a:schemeClr val="bg1">
                    <a:lumMod val="65000"/>
                  </a:schemeClr>
                </a:solidFill>
              </a:rPr>
              <a:t> ions outside the cell </a:t>
            </a:r>
            <a:r>
              <a:rPr lang="en-GB" dirty="0">
                <a:solidFill>
                  <a:schemeClr val="bg1">
                    <a:lumMod val="65000"/>
                  </a:schemeClr>
                </a:solidFill>
              </a:rPr>
              <a:t>reduces negatively the membrane potential (repolarization + hyperpolarization)</a:t>
            </a:r>
          </a:p>
        </p:txBody>
      </p:sp>
      <p:pic>
        <p:nvPicPr>
          <p:cNvPr id="5124"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CF152131-DFE9-4FFF-BC5E-077A8FCC44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6309783" y="855137"/>
            <a:ext cx="3995124" cy="56586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2C45AD-8A74-4343-8B04-26D61BA278A8}"/>
              </a:ext>
            </a:extLst>
          </p:cNvPr>
          <p:cNvSpPr txBox="1"/>
          <p:nvPr/>
        </p:nvSpPr>
        <p:spPr>
          <a:xfrm>
            <a:off x="5070783" y="6513802"/>
            <a:ext cx="5234125" cy="261610"/>
          </a:xfrm>
          <a:prstGeom prst="rect">
            <a:avLst/>
          </a:prstGeom>
          <a:noFill/>
        </p:spPr>
        <p:txBody>
          <a:bodyPr wrap="none" rtlCol="0">
            <a:spAutoFit/>
          </a:bodyPr>
          <a:lstStyle/>
          <a:p>
            <a:r>
              <a:rPr lang="en-GB" sz="1100" dirty="0"/>
              <a:t>https://courses.lumenlearning.com/wm-biology2/chapter/resting-membrane-potential/</a:t>
            </a:r>
          </a:p>
        </p:txBody>
      </p:sp>
      <p:pic>
        <p:nvPicPr>
          <p:cNvPr id="6"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B83B5DFA-1396-475D-92D7-E20EF30A8E62}"/>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67352"/>
          <a:stretch/>
        </p:blipFill>
        <p:spPr bwMode="auto">
          <a:xfrm>
            <a:off x="6309783" y="4666343"/>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426E2DB1-DF91-4955-A7BB-A50E5E185AF5}"/>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33750" b="33601"/>
          <a:stretch/>
        </p:blipFill>
        <p:spPr bwMode="auto">
          <a:xfrm>
            <a:off x="6309783" y="2764971"/>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EC6D286E-D43E-414A-8950-11B00933BFAF}"/>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b="67202"/>
          <a:stretch/>
        </p:blipFill>
        <p:spPr bwMode="auto">
          <a:xfrm>
            <a:off x="6309783" y="855135"/>
            <a:ext cx="3995124" cy="185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0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2" end="2"/>
                                            </p:txEl>
                                          </p:spTgt>
                                        </p:tgtEl>
                                        <p:attrNameLst>
                                          <p:attrName>style.color</p:attrName>
                                        </p:attrNameLst>
                                      </p:cBhvr>
                                      <p:to>
                                        <a:srgbClr val="000000"/>
                                      </p:to>
                                    </p:animClr>
                                    <p:animClr clrSpc="rgb" dir="cw">
                                      <p:cBhvr>
                                        <p:cTn id="7" dur="500" fill="hold"/>
                                        <p:tgtEl>
                                          <p:spTgt spid="3">
                                            <p:txEl>
                                              <p:pRg st="2" end="2"/>
                                            </p:txEl>
                                          </p:spTgt>
                                        </p:tgtEl>
                                        <p:attrNameLst>
                                          <p:attrName>fillcolor</p:attrName>
                                        </p:attrNameLst>
                                      </p:cBhvr>
                                      <p:to>
                                        <a:srgbClr val="000000"/>
                                      </p:to>
                                    </p:animClr>
                                    <p:set>
                                      <p:cBhvr>
                                        <p:cTn id="8" dur="500" fill="hold"/>
                                        <p:tgtEl>
                                          <p:spTgt spid="3">
                                            <p:txEl>
                                              <p:pRg st="2" end="2"/>
                                            </p:txEl>
                                          </p:spTgt>
                                        </p:tgtEl>
                                        <p:attrNameLst>
                                          <p:attrName>fill.type</p:attrName>
                                        </p:attrNameLst>
                                      </p:cBhvr>
                                      <p:to>
                                        <p:strVal val="solid"/>
                                      </p:to>
                                    </p:set>
                                    <p:set>
                                      <p:cBhvr>
                                        <p:cTn id="9" dur="500" fill="hold"/>
                                        <p:tgtEl>
                                          <p:spTgt spid="3">
                                            <p:txEl>
                                              <p:pRg st="2" end="2"/>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3" end="3"/>
                                            </p:txEl>
                                          </p:spTgt>
                                        </p:tgtEl>
                                        <p:attrNameLst>
                                          <p:attrName>style.color</p:attrName>
                                        </p:attrNameLst>
                                      </p:cBhvr>
                                      <p:to>
                                        <a:srgbClr val="000000"/>
                                      </p:to>
                                    </p:animClr>
                                    <p:animClr clrSpc="rgb" dir="cw">
                                      <p:cBhvr>
                                        <p:cTn id="14" dur="500" fill="hold"/>
                                        <p:tgtEl>
                                          <p:spTgt spid="3">
                                            <p:txEl>
                                              <p:pRg st="3" end="3"/>
                                            </p:txEl>
                                          </p:spTgt>
                                        </p:tgtEl>
                                        <p:attrNameLst>
                                          <p:attrName>fillcolor</p:attrName>
                                        </p:attrNameLst>
                                      </p:cBhvr>
                                      <p:to>
                                        <a:srgbClr val="000000"/>
                                      </p:to>
                                    </p:animClr>
                                    <p:set>
                                      <p:cBhvr>
                                        <p:cTn id="15" dur="500" fill="hold"/>
                                        <p:tgtEl>
                                          <p:spTgt spid="3">
                                            <p:txEl>
                                              <p:pRg st="3" end="3"/>
                                            </p:txEl>
                                          </p:spTgt>
                                        </p:tgtEl>
                                        <p:attrNameLst>
                                          <p:attrName>fill.type</p:attrName>
                                        </p:attrNameLst>
                                      </p:cBhvr>
                                      <p:to>
                                        <p:strVal val="solid"/>
                                      </p:to>
                                    </p:set>
                                    <p:set>
                                      <p:cBhvr>
                                        <p:cTn id="16" dur="500" fill="hold"/>
                                        <p:tgtEl>
                                          <p:spTgt spid="3">
                                            <p:txEl>
                                              <p:pRg st="3" end="3"/>
                                            </p:txEl>
                                          </p:spTgt>
                                        </p:tgtEl>
                                        <p:attrNameLst>
                                          <p:attrName>fill.on</p:attrName>
                                        </p:attrNameLst>
                                      </p:cBhvr>
                                      <p:to>
                                        <p:strVal val="true"/>
                                      </p:to>
                                    </p:set>
                                  </p:childTnLst>
                                </p:cTn>
                              </p:par>
                              <p:par>
                                <p:cTn id="17" presetID="19" presetClass="emph" presetSubtype="0" fill="hold" nodeType="withEffect">
                                  <p:stCondLst>
                                    <p:cond delay="0"/>
                                  </p:stCondLst>
                                  <p:childTnLst>
                                    <p:animClr clrSpc="rgb" dir="cw">
                                      <p:cBhvr override="childStyle">
                                        <p:cTn id="18" dur="500" fill="hold"/>
                                        <p:tgtEl>
                                          <p:spTgt spid="3">
                                            <p:txEl>
                                              <p:pRg st="4" end="4"/>
                                            </p:txEl>
                                          </p:spTgt>
                                        </p:tgtEl>
                                        <p:attrNameLst>
                                          <p:attrName>style.color</p:attrName>
                                        </p:attrNameLst>
                                      </p:cBhvr>
                                      <p:to>
                                        <a:srgbClr val="000000"/>
                                      </p:to>
                                    </p:animClr>
                                    <p:animClr clrSpc="rgb" dir="cw">
                                      <p:cBhvr>
                                        <p:cTn id="19" dur="500" fill="hold"/>
                                        <p:tgtEl>
                                          <p:spTgt spid="3">
                                            <p:txEl>
                                              <p:pRg st="4" end="4"/>
                                            </p:txEl>
                                          </p:spTgt>
                                        </p:tgtEl>
                                        <p:attrNameLst>
                                          <p:attrName>fillcolor</p:attrName>
                                        </p:attrNameLst>
                                      </p:cBhvr>
                                      <p:to>
                                        <a:srgbClr val="000000"/>
                                      </p:to>
                                    </p:animClr>
                                    <p:set>
                                      <p:cBhvr>
                                        <p:cTn id="20" dur="500" fill="hold"/>
                                        <p:tgtEl>
                                          <p:spTgt spid="3">
                                            <p:txEl>
                                              <p:pRg st="4" end="4"/>
                                            </p:txEl>
                                          </p:spTgt>
                                        </p:tgtEl>
                                        <p:attrNameLst>
                                          <p:attrName>fill.type</p:attrName>
                                        </p:attrNameLst>
                                      </p:cBhvr>
                                      <p:to>
                                        <p:strVal val="solid"/>
                                      </p:to>
                                    </p:set>
                                    <p:set>
                                      <p:cBhvr>
                                        <p:cTn id="21" dur="500" fill="hold"/>
                                        <p:tgtEl>
                                          <p:spTgt spid="3">
                                            <p:txEl>
                                              <p:pRg st="4" end="4"/>
                                            </p:txEl>
                                          </p:spTgt>
                                        </p:tgtEl>
                                        <p:attrNameLst>
                                          <p:attrName>fill.on</p:attrName>
                                        </p:attrNameLst>
                                      </p:cBhvr>
                                      <p:to>
                                        <p:strVal val="true"/>
                                      </p:to>
                                    </p:set>
                                  </p:childTnLst>
                                </p:cTn>
                              </p:par>
                              <p:par>
                                <p:cTn id="22" presetID="19" presetClass="emph" presetSubtype="0" fill="hold" nodeType="withEffect">
                                  <p:stCondLst>
                                    <p:cond delay="0"/>
                                  </p:stCondLst>
                                  <p:childTnLst>
                                    <p:animClr clrSpc="rgb" dir="cw">
                                      <p:cBhvr override="childStyle">
                                        <p:cTn id="23" dur="500" fill="hold"/>
                                        <p:tgtEl>
                                          <p:spTgt spid="3">
                                            <p:txEl>
                                              <p:pRg st="0" end="0"/>
                                            </p:txEl>
                                          </p:spTgt>
                                        </p:tgtEl>
                                        <p:attrNameLst>
                                          <p:attrName>style.color</p:attrName>
                                        </p:attrNameLst>
                                      </p:cBhvr>
                                      <p:to>
                                        <a:srgbClr val="A5A5A5"/>
                                      </p:to>
                                    </p:animClr>
                                    <p:animClr clrSpc="rgb" dir="cw">
                                      <p:cBhvr>
                                        <p:cTn id="24" dur="500" fill="hold"/>
                                        <p:tgtEl>
                                          <p:spTgt spid="3">
                                            <p:txEl>
                                              <p:pRg st="0" end="0"/>
                                            </p:txEl>
                                          </p:spTgt>
                                        </p:tgtEl>
                                        <p:attrNameLst>
                                          <p:attrName>fillcolor</p:attrName>
                                        </p:attrNameLst>
                                      </p:cBhvr>
                                      <p:to>
                                        <a:srgbClr val="A5A5A5"/>
                                      </p:to>
                                    </p:animClr>
                                    <p:set>
                                      <p:cBhvr>
                                        <p:cTn id="25" dur="500" fill="hold"/>
                                        <p:tgtEl>
                                          <p:spTgt spid="3">
                                            <p:txEl>
                                              <p:pRg st="0" end="0"/>
                                            </p:txEl>
                                          </p:spTgt>
                                        </p:tgtEl>
                                        <p:attrNameLst>
                                          <p:attrName>fill.type</p:attrName>
                                        </p:attrNameLst>
                                      </p:cBhvr>
                                      <p:to>
                                        <p:strVal val="solid"/>
                                      </p:to>
                                    </p:set>
                                    <p:set>
                                      <p:cBhvr>
                                        <p:cTn id="26" dur="500" fill="hold"/>
                                        <p:tgtEl>
                                          <p:spTgt spid="3">
                                            <p:txEl>
                                              <p:pRg st="0" end="0"/>
                                            </p:txEl>
                                          </p:spTgt>
                                        </p:tgtEl>
                                        <p:attrNameLst>
                                          <p:attrName>fill.on</p:attrName>
                                        </p:attrNameLst>
                                      </p:cBhvr>
                                      <p:to>
                                        <p:strVal val="true"/>
                                      </p:to>
                                    </p:set>
                                  </p:childTnLst>
                                </p:cTn>
                              </p:par>
                              <p:par>
                                <p:cTn id="27" presetID="19" presetClass="emph" presetSubtype="0" fill="hold" nodeType="withEffect">
                                  <p:stCondLst>
                                    <p:cond delay="0"/>
                                  </p:stCondLst>
                                  <p:childTnLst>
                                    <p:animClr clrSpc="rgb" dir="cw">
                                      <p:cBhvr override="childStyle">
                                        <p:cTn id="28" dur="500" fill="hold"/>
                                        <p:tgtEl>
                                          <p:spTgt spid="3">
                                            <p:txEl>
                                              <p:pRg st="1" end="1"/>
                                            </p:txEl>
                                          </p:spTgt>
                                        </p:tgtEl>
                                        <p:attrNameLst>
                                          <p:attrName>style.color</p:attrName>
                                        </p:attrNameLst>
                                      </p:cBhvr>
                                      <p:to>
                                        <a:srgbClr val="A5A5A5"/>
                                      </p:to>
                                    </p:animClr>
                                    <p:animClr clrSpc="rgb" dir="cw">
                                      <p:cBhvr>
                                        <p:cTn id="29" dur="500" fill="hold"/>
                                        <p:tgtEl>
                                          <p:spTgt spid="3">
                                            <p:txEl>
                                              <p:pRg st="1" end="1"/>
                                            </p:txEl>
                                          </p:spTgt>
                                        </p:tgtEl>
                                        <p:attrNameLst>
                                          <p:attrName>fillcolor</p:attrName>
                                        </p:attrNameLst>
                                      </p:cBhvr>
                                      <p:to>
                                        <a:srgbClr val="A5A5A5"/>
                                      </p:to>
                                    </p:animClr>
                                    <p:set>
                                      <p:cBhvr>
                                        <p:cTn id="30" dur="500" fill="hold"/>
                                        <p:tgtEl>
                                          <p:spTgt spid="3">
                                            <p:txEl>
                                              <p:pRg st="1" end="1"/>
                                            </p:txEl>
                                          </p:spTgt>
                                        </p:tgtEl>
                                        <p:attrNameLst>
                                          <p:attrName>fill.type</p:attrName>
                                        </p:attrNameLst>
                                      </p:cBhvr>
                                      <p:to>
                                        <p:strVal val="solid"/>
                                      </p:to>
                                    </p:set>
                                    <p:set>
                                      <p:cBhvr>
                                        <p:cTn id="31" dur="500" fill="hold"/>
                                        <p:tgtEl>
                                          <p:spTgt spid="3">
                                            <p:txEl>
                                              <p:pRg st="1" end="1"/>
                                            </p:txEl>
                                          </p:spTgt>
                                        </p:tgtEl>
                                        <p:attrNameLst>
                                          <p:attrName>fill.on</p:attrName>
                                        </p:attrNameLst>
                                      </p:cBhvr>
                                      <p:to>
                                        <p:strVal val="true"/>
                                      </p:to>
                                    </p:se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nodeType="clickEffect">
                                  <p:stCondLst>
                                    <p:cond delay="0"/>
                                  </p:stCondLst>
                                  <p:childTnLst>
                                    <p:animClr clrSpc="rgb" dir="cw">
                                      <p:cBhvr override="childStyle">
                                        <p:cTn id="39" dur="500" fill="hold"/>
                                        <p:tgtEl>
                                          <p:spTgt spid="3">
                                            <p:txEl>
                                              <p:pRg st="5" end="5"/>
                                            </p:txEl>
                                          </p:spTgt>
                                        </p:tgtEl>
                                        <p:attrNameLst>
                                          <p:attrName>style.color</p:attrName>
                                        </p:attrNameLst>
                                      </p:cBhvr>
                                      <p:to>
                                        <a:srgbClr val="000000"/>
                                      </p:to>
                                    </p:animClr>
                                    <p:animClr clrSpc="rgb" dir="cw">
                                      <p:cBhvr>
                                        <p:cTn id="40" dur="500" fill="hold"/>
                                        <p:tgtEl>
                                          <p:spTgt spid="3">
                                            <p:txEl>
                                              <p:pRg st="5" end="5"/>
                                            </p:txEl>
                                          </p:spTgt>
                                        </p:tgtEl>
                                        <p:attrNameLst>
                                          <p:attrName>fillcolor</p:attrName>
                                        </p:attrNameLst>
                                      </p:cBhvr>
                                      <p:to>
                                        <a:srgbClr val="000000"/>
                                      </p:to>
                                    </p:animClr>
                                    <p:set>
                                      <p:cBhvr>
                                        <p:cTn id="41" dur="500" fill="hold"/>
                                        <p:tgtEl>
                                          <p:spTgt spid="3">
                                            <p:txEl>
                                              <p:pRg st="5" end="5"/>
                                            </p:txEl>
                                          </p:spTgt>
                                        </p:tgtEl>
                                        <p:attrNameLst>
                                          <p:attrName>fill.type</p:attrName>
                                        </p:attrNameLst>
                                      </p:cBhvr>
                                      <p:to>
                                        <p:strVal val="solid"/>
                                      </p:to>
                                    </p:set>
                                    <p:set>
                                      <p:cBhvr>
                                        <p:cTn id="42" dur="500" fill="hold"/>
                                        <p:tgtEl>
                                          <p:spTgt spid="3">
                                            <p:txEl>
                                              <p:pRg st="5" end="5"/>
                                            </p:txEl>
                                          </p:spTgt>
                                        </p:tgtEl>
                                        <p:attrNameLst>
                                          <p:attrName>fill.on</p:attrName>
                                        </p:attrNameLst>
                                      </p:cBhvr>
                                      <p:to>
                                        <p:strVal val="true"/>
                                      </p:to>
                                    </p:set>
                                  </p:childTnLst>
                                </p:cTn>
                              </p:par>
                              <p:par>
                                <p:cTn id="43" presetID="19" presetClass="emph" presetSubtype="0" fill="hold" nodeType="withEffect">
                                  <p:stCondLst>
                                    <p:cond delay="0"/>
                                  </p:stCondLst>
                                  <p:childTnLst>
                                    <p:animClr clrSpc="rgb" dir="cw">
                                      <p:cBhvr override="childStyle">
                                        <p:cTn id="44" dur="500" fill="hold"/>
                                        <p:tgtEl>
                                          <p:spTgt spid="3">
                                            <p:txEl>
                                              <p:pRg st="6" end="6"/>
                                            </p:txEl>
                                          </p:spTgt>
                                        </p:tgtEl>
                                        <p:attrNameLst>
                                          <p:attrName>style.color</p:attrName>
                                        </p:attrNameLst>
                                      </p:cBhvr>
                                      <p:to>
                                        <a:srgbClr val="000000"/>
                                      </p:to>
                                    </p:animClr>
                                    <p:animClr clrSpc="rgb" dir="cw">
                                      <p:cBhvr>
                                        <p:cTn id="45" dur="500" fill="hold"/>
                                        <p:tgtEl>
                                          <p:spTgt spid="3">
                                            <p:txEl>
                                              <p:pRg st="6" end="6"/>
                                            </p:txEl>
                                          </p:spTgt>
                                        </p:tgtEl>
                                        <p:attrNameLst>
                                          <p:attrName>fillcolor</p:attrName>
                                        </p:attrNameLst>
                                      </p:cBhvr>
                                      <p:to>
                                        <a:srgbClr val="000000"/>
                                      </p:to>
                                    </p:animClr>
                                    <p:set>
                                      <p:cBhvr>
                                        <p:cTn id="46" dur="500" fill="hold"/>
                                        <p:tgtEl>
                                          <p:spTgt spid="3">
                                            <p:txEl>
                                              <p:pRg st="6" end="6"/>
                                            </p:txEl>
                                          </p:spTgt>
                                        </p:tgtEl>
                                        <p:attrNameLst>
                                          <p:attrName>fill.type</p:attrName>
                                        </p:attrNameLst>
                                      </p:cBhvr>
                                      <p:to>
                                        <p:strVal val="solid"/>
                                      </p:to>
                                    </p:set>
                                    <p:set>
                                      <p:cBhvr>
                                        <p:cTn id="47" dur="500" fill="hold"/>
                                        <p:tgtEl>
                                          <p:spTgt spid="3">
                                            <p:txEl>
                                              <p:pRg st="6" end="6"/>
                                            </p:txEl>
                                          </p:spTgt>
                                        </p:tgtEl>
                                        <p:attrNameLst>
                                          <p:attrName>fill.on</p:attrName>
                                        </p:attrNameLst>
                                      </p:cBhvr>
                                      <p:to>
                                        <p:strVal val="true"/>
                                      </p:to>
                                    </p:set>
                                  </p:childTnLst>
                                </p:cTn>
                              </p:par>
                              <p:par>
                                <p:cTn id="48" presetID="19" presetClass="emph" presetSubtype="0" fill="hold" nodeType="withEffect">
                                  <p:stCondLst>
                                    <p:cond delay="0"/>
                                  </p:stCondLst>
                                  <p:childTnLst>
                                    <p:animClr clrSpc="rgb" dir="cw">
                                      <p:cBhvr override="childStyle">
                                        <p:cTn id="49" dur="500" fill="hold"/>
                                        <p:tgtEl>
                                          <p:spTgt spid="3">
                                            <p:txEl>
                                              <p:pRg st="2" end="2"/>
                                            </p:txEl>
                                          </p:spTgt>
                                        </p:tgtEl>
                                        <p:attrNameLst>
                                          <p:attrName>style.color</p:attrName>
                                        </p:attrNameLst>
                                      </p:cBhvr>
                                      <p:to>
                                        <a:srgbClr val="A5A5A5"/>
                                      </p:to>
                                    </p:animClr>
                                    <p:animClr clrSpc="rgb" dir="cw">
                                      <p:cBhvr>
                                        <p:cTn id="50" dur="500" fill="hold"/>
                                        <p:tgtEl>
                                          <p:spTgt spid="3">
                                            <p:txEl>
                                              <p:pRg st="2" end="2"/>
                                            </p:txEl>
                                          </p:spTgt>
                                        </p:tgtEl>
                                        <p:attrNameLst>
                                          <p:attrName>fillcolor</p:attrName>
                                        </p:attrNameLst>
                                      </p:cBhvr>
                                      <p:to>
                                        <a:srgbClr val="A5A5A5"/>
                                      </p:to>
                                    </p:animClr>
                                    <p:set>
                                      <p:cBhvr>
                                        <p:cTn id="51" dur="500" fill="hold"/>
                                        <p:tgtEl>
                                          <p:spTgt spid="3">
                                            <p:txEl>
                                              <p:pRg st="2" end="2"/>
                                            </p:txEl>
                                          </p:spTgt>
                                        </p:tgtEl>
                                        <p:attrNameLst>
                                          <p:attrName>fill.type</p:attrName>
                                        </p:attrNameLst>
                                      </p:cBhvr>
                                      <p:to>
                                        <p:strVal val="solid"/>
                                      </p:to>
                                    </p:set>
                                    <p:set>
                                      <p:cBhvr>
                                        <p:cTn id="52" dur="500" fill="hold"/>
                                        <p:tgtEl>
                                          <p:spTgt spid="3">
                                            <p:txEl>
                                              <p:pRg st="2" end="2"/>
                                            </p:txEl>
                                          </p:spTgt>
                                        </p:tgtEl>
                                        <p:attrNameLst>
                                          <p:attrName>fill.on</p:attrName>
                                        </p:attrNameLst>
                                      </p:cBhvr>
                                      <p:to>
                                        <p:strVal val="true"/>
                                      </p:to>
                                    </p:set>
                                  </p:childTnLst>
                                </p:cTn>
                              </p:par>
                              <p:par>
                                <p:cTn id="53" presetID="19" presetClass="emph" presetSubtype="0" fill="hold" nodeType="withEffect">
                                  <p:stCondLst>
                                    <p:cond delay="0"/>
                                  </p:stCondLst>
                                  <p:childTnLst>
                                    <p:animClr clrSpc="rgb" dir="cw">
                                      <p:cBhvr override="childStyle">
                                        <p:cTn id="54" dur="500" fill="hold"/>
                                        <p:tgtEl>
                                          <p:spTgt spid="3">
                                            <p:txEl>
                                              <p:pRg st="3" end="3"/>
                                            </p:txEl>
                                          </p:spTgt>
                                        </p:tgtEl>
                                        <p:attrNameLst>
                                          <p:attrName>style.color</p:attrName>
                                        </p:attrNameLst>
                                      </p:cBhvr>
                                      <p:to>
                                        <a:srgbClr val="A5A5A5"/>
                                      </p:to>
                                    </p:animClr>
                                    <p:animClr clrSpc="rgb" dir="cw">
                                      <p:cBhvr>
                                        <p:cTn id="55" dur="500" fill="hold"/>
                                        <p:tgtEl>
                                          <p:spTgt spid="3">
                                            <p:txEl>
                                              <p:pRg st="3" end="3"/>
                                            </p:txEl>
                                          </p:spTgt>
                                        </p:tgtEl>
                                        <p:attrNameLst>
                                          <p:attrName>fillcolor</p:attrName>
                                        </p:attrNameLst>
                                      </p:cBhvr>
                                      <p:to>
                                        <a:srgbClr val="A5A5A5"/>
                                      </p:to>
                                    </p:animClr>
                                    <p:set>
                                      <p:cBhvr>
                                        <p:cTn id="56" dur="500" fill="hold"/>
                                        <p:tgtEl>
                                          <p:spTgt spid="3">
                                            <p:txEl>
                                              <p:pRg st="3" end="3"/>
                                            </p:txEl>
                                          </p:spTgt>
                                        </p:tgtEl>
                                        <p:attrNameLst>
                                          <p:attrName>fill.type</p:attrName>
                                        </p:attrNameLst>
                                      </p:cBhvr>
                                      <p:to>
                                        <p:strVal val="solid"/>
                                      </p:to>
                                    </p:set>
                                    <p:set>
                                      <p:cBhvr>
                                        <p:cTn id="57" dur="500" fill="hold"/>
                                        <p:tgtEl>
                                          <p:spTgt spid="3">
                                            <p:txEl>
                                              <p:pRg st="3" end="3"/>
                                            </p:txEl>
                                          </p:spTgt>
                                        </p:tgtEl>
                                        <p:attrNameLst>
                                          <p:attrName>fill.on</p:attrName>
                                        </p:attrNameLst>
                                      </p:cBhvr>
                                      <p:to>
                                        <p:strVal val="true"/>
                                      </p:to>
                                    </p:set>
                                  </p:childTnLst>
                                </p:cTn>
                              </p:par>
                              <p:par>
                                <p:cTn id="58" presetID="19" presetClass="emph" presetSubtype="0" fill="hold" nodeType="withEffect">
                                  <p:stCondLst>
                                    <p:cond delay="0"/>
                                  </p:stCondLst>
                                  <p:childTnLst>
                                    <p:animClr clrSpc="rgb" dir="cw">
                                      <p:cBhvr override="childStyle">
                                        <p:cTn id="59" dur="500" fill="hold"/>
                                        <p:tgtEl>
                                          <p:spTgt spid="3">
                                            <p:txEl>
                                              <p:pRg st="4" end="4"/>
                                            </p:txEl>
                                          </p:spTgt>
                                        </p:tgtEl>
                                        <p:attrNameLst>
                                          <p:attrName>style.color</p:attrName>
                                        </p:attrNameLst>
                                      </p:cBhvr>
                                      <p:to>
                                        <a:srgbClr val="A5A5A5"/>
                                      </p:to>
                                    </p:animClr>
                                    <p:animClr clrSpc="rgb" dir="cw">
                                      <p:cBhvr>
                                        <p:cTn id="60" dur="500" fill="hold"/>
                                        <p:tgtEl>
                                          <p:spTgt spid="3">
                                            <p:txEl>
                                              <p:pRg st="4" end="4"/>
                                            </p:txEl>
                                          </p:spTgt>
                                        </p:tgtEl>
                                        <p:attrNameLst>
                                          <p:attrName>fillcolor</p:attrName>
                                        </p:attrNameLst>
                                      </p:cBhvr>
                                      <p:to>
                                        <a:srgbClr val="A5A5A5"/>
                                      </p:to>
                                    </p:animClr>
                                    <p:set>
                                      <p:cBhvr>
                                        <p:cTn id="61" dur="500" fill="hold"/>
                                        <p:tgtEl>
                                          <p:spTgt spid="3">
                                            <p:txEl>
                                              <p:pRg st="4" end="4"/>
                                            </p:txEl>
                                          </p:spTgt>
                                        </p:tgtEl>
                                        <p:attrNameLst>
                                          <p:attrName>fill.type</p:attrName>
                                        </p:attrNameLst>
                                      </p:cBhvr>
                                      <p:to>
                                        <p:strVal val="solid"/>
                                      </p:to>
                                    </p:set>
                                    <p:set>
                                      <p:cBhvr>
                                        <p:cTn id="62" dur="500" fill="hold"/>
                                        <p:tgtEl>
                                          <p:spTgt spid="3">
                                            <p:txEl>
                                              <p:pRg st="4" end="4"/>
                                            </p:txEl>
                                          </p:spTgt>
                                        </p:tgtEl>
                                        <p:attrNameLst>
                                          <p:attrName>fill.on</p:attrName>
                                        </p:attrNameLst>
                                      </p:cBhvr>
                                      <p:to>
                                        <p:strVal val="true"/>
                                      </p:to>
                                    </p:set>
                                  </p:childTnLst>
                                </p:cTn>
                              </p:par>
                              <p:par>
                                <p:cTn id="63" presetID="1" presetClass="entr" presetSubtype="0" fill="hold"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dirty="0"/>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p:txBody>
          <a:bodyPr>
            <a:normAutofit/>
          </a:bodyPr>
          <a:lstStyle/>
          <a:p>
            <a:r>
              <a:rPr lang="en-GB" dirty="0"/>
              <a:t>At resting membrane potential</a:t>
            </a:r>
          </a:p>
          <a:p>
            <a:pPr lvl="1"/>
            <a:r>
              <a:rPr lang="en-GB" dirty="0"/>
              <a:t>Na</a:t>
            </a:r>
            <a:r>
              <a:rPr lang="en-GB" baseline="30000" dirty="0"/>
              <a:t>+</a:t>
            </a:r>
            <a:r>
              <a:rPr lang="en-GB" dirty="0"/>
              <a:t> and K</a:t>
            </a:r>
            <a:r>
              <a:rPr lang="en-GB" baseline="30000" dirty="0"/>
              <a:t>+</a:t>
            </a:r>
            <a:r>
              <a:rPr lang="en-GB" dirty="0"/>
              <a:t> channels are </a:t>
            </a:r>
            <a:r>
              <a:rPr lang="en-GB" b="1" dirty="0"/>
              <a:t>closed</a:t>
            </a:r>
          </a:p>
          <a:p>
            <a:r>
              <a:rPr lang="en-GB" b="1" dirty="0"/>
              <a:t>Stimuli </a:t>
            </a:r>
            <a:r>
              <a:rPr lang="en-GB" dirty="0"/>
              <a:t>positively increase the membrane potential (voltage) (</a:t>
            </a:r>
            <a:r>
              <a:rPr lang="en-GB" b="1" dirty="0"/>
              <a:t>depolarization</a:t>
            </a:r>
            <a:r>
              <a:rPr lang="en-GB" dirty="0"/>
              <a:t>)</a:t>
            </a:r>
          </a:p>
          <a:p>
            <a:r>
              <a:rPr lang="en-GB" dirty="0"/>
              <a:t>Upon reaching a voltage threshold, </a:t>
            </a:r>
            <a:r>
              <a:rPr lang="en-GB" b="1" dirty="0"/>
              <a:t>Na</a:t>
            </a:r>
            <a:r>
              <a:rPr lang="en-GB" b="1" baseline="30000" dirty="0"/>
              <a:t>+</a:t>
            </a:r>
            <a:r>
              <a:rPr lang="en-GB" b="1" dirty="0"/>
              <a:t> channels open</a:t>
            </a:r>
          </a:p>
          <a:p>
            <a:pPr lvl="1"/>
            <a:r>
              <a:rPr lang="en-GB" dirty="0"/>
              <a:t>Massive </a:t>
            </a:r>
            <a:r>
              <a:rPr lang="en-GB" b="1" dirty="0"/>
              <a:t>flow of Na</a:t>
            </a:r>
            <a:r>
              <a:rPr lang="en-GB" b="1" baseline="30000" dirty="0"/>
              <a:t>+</a:t>
            </a:r>
            <a:r>
              <a:rPr lang="en-GB" b="1" dirty="0"/>
              <a:t> ions inside the cell </a:t>
            </a:r>
            <a:r>
              <a:rPr lang="en-GB" dirty="0"/>
              <a:t>depolarizes even more the membrane potential</a:t>
            </a:r>
          </a:p>
          <a:p>
            <a:r>
              <a:rPr lang="en-GB" dirty="0"/>
              <a:t>Further depolarization </a:t>
            </a:r>
            <a:r>
              <a:rPr lang="en-GB" b="1" dirty="0"/>
              <a:t>opens K</a:t>
            </a:r>
            <a:r>
              <a:rPr lang="en-GB" b="1" baseline="30000" dirty="0"/>
              <a:t>+</a:t>
            </a:r>
            <a:r>
              <a:rPr lang="en-GB" b="1" dirty="0"/>
              <a:t> channels</a:t>
            </a:r>
          </a:p>
          <a:p>
            <a:pPr lvl="1"/>
            <a:r>
              <a:rPr lang="en-GB" b="1" dirty="0"/>
              <a:t>Flow of K</a:t>
            </a:r>
            <a:r>
              <a:rPr lang="en-GB" b="1" baseline="30000" dirty="0"/>
              <a:t>+</a:t>
            </a:r>
            <a:r>
              <a:rPr lang="en-GB" b="1" dirty="0"/>
              <a:t> ions outside the cell </a:t>
            </a:r>
            <a:r>
              <a:rPr lang="en-GB" dirty="0"/>
              <a:t>reduces negatively the membrane potential (repolarization + hyperpolarization)</a:t>
            </a:r>
          </a:p>
          <a:p>
            <a:endParaRPr lang="en-GB" dirty="0"/>
          </a:p>
        </p:txBody>
      </p:sp>
      <p:pic>
        <p:nvPicPr>
          <p:cNvPr id="5122" name="Picture 2" descr="What is an Action Potential, Action Potential Chart, Membrane Potential |  Molecular devices">
            <a:extLst>
              <a:ext uri="{FF2B5EF4-FFF2-40B4-BE49-F238E27FC236}">
                <a16:creationId xmlns:a16="http://schemas.microsoft.com/office/drawing/2014/main" id="{6A349E7B-C25C-4ACA-B378-EC635F86A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8979" y="1540934"/>
            <a:ext cx="4268566" cy="3950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7905CF-117E-469E-9DD7-E6547DB45002}"/>
              </a:ext>
            </a:extLst>
          </p:cNvPr>
          <p:cNvSpPr txBox="1"/>
          <p:nvPr/>
        </p:nvSpPr>
        <p:spPr>
          <a:xfrm>
            <a:off x="6514195" y="6351063"/>
            <a:ext cx="3943350" cy="430887"/>
          </a:xfrm>
          <a:prstGeom prst="rect">
            <a:avLst/>
          </a:prstGeom>
          <a:noFill/>
        </p:spPr>
        <p:txBody>
          <a:bodyPr wrap="square" rtlCol="0">
            <a:spAutoFit/>
          </a:bodyPr>
          <a:lstStyle/>
          <a:p>
            <a:r>
              <a:rPr lang="en-GB" sz="1100" dirty="0"/>
              <a:t>https://www.moleculardevices.com/applications/patch-clamp-electrophysiology/what-action-potential#gref</a:t>
            </a:r>
          </a:p>
        </p:txBody>
      </p:sp>
    </p:spTree>
    <p:extLst>
      <p:ext uri="{BB962C8B-B14F-4D97-AF65-F5344CB8AC3E}">
        <p14:creationId xmlns:p14="http://schemas.microsoft.com/office/powerpoint/2010/main" val="139434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52E2-27E1-4672-D446-689C75D80F3B}"/>
              </a:ext>
            </a:extLst>
          </p:cNvPr>
          <p:cNvSpPr>
            <a:spLocks noGrp="1"/>
          </p:cNvSpPr>
          <p:nvPr>
            <p:ph type="title"/>
          </p:nvPr>
        </p:nvSpPr>
        <p:spPr/>
        <p:txBody>
          <a:bodyPr>
            <a:normAutofit/>
          </a:bodyPr>
          <a:lstStyle/>
          <a:p>
            <a:r>
              <a:rPr lang="en-GB" dirty="0"/>
              <a:t>Different types of sensory fibres</a:t>
            </a:r>
          </a:p>
        </p:txBody>
      </p:sp>
      <p:pic>
        <p:nvPicPr>
          <p:cNvPr id="5" name="Picture 4">
            <a:extLst>
              <a:ext uri="{FF2B5EF4-FFF2-40B4-BE49-F238E27FC236}">
                <a16:creationId xmlns:a16="http://schemas.microsoft.com/office/drawing/2014/main" id="{0EA369D8-5033-23C4-CE5A-33463CC9C0CD}"/>
              </a:ext>
            </a:extLst>
          </p:cNvPr>
          <p:cNvPicPr>
            <a:picLocks noChangeAspect="1"/>
          </p:cNvPicPr>
          <p:nvPr/>
        </p:nvPicPr>
        <p:blipFill>
          <a:blip r:embed="rId2"/>
          <a:stretch>
            <a:fillRect/>
          </a:stretch>
        </p:blipFill>
        <p:spPr>
          <a:xfrm>
            <a:off x="1640781" y="911794"/>
            <a:ext cx="3366296" cy="5701056"/>
          </a:xfrm>
          <a:prstGeom prst="rect">
            <a:avLst/>
          </a:prstGeom>
        </p:spPr>
      </p:pic>
      <p:pic>
        <p:nvPicPr>
          <p:cNvPr id="4" name="Picture 3">
            <a:extLst>
              <a:ext uri="{FF2B5EF4-FFF2-40B4-BE49-F238E27FC236}">
                <a16:creationId xmlns:a16="http://schemas.microsoft.com/office/drawing/2014/main" id="{6741DA5C-14B7-4843-B120-4F9136170826}"/>
              </a:ext>
            </a:extLst>
          </p:cNvPr>
          <p:cNvPicPr>
            <a:picLocks noChangeAspect="1"/>
          </p:cNvPicPr>
          <p:nvPr/>
        </p:nvPicPr>
        <p:blipFill>
          <a:blip r:embed="rId3"/>
          <a:stretch>
            <a:fillRect/>
          </a:stretch>
        </p:blipFill>
        <p:spPr>
          <a:xfrm>
            <a:off x="7125945" y="1048817"/>
            <a:ext cx="3817358" cy="5427010"/>
          </a:xfrm>
          <a:prstGeom prst="rect">
            <a:avLst/>
          </a:prstGeom>
        </p:spPr>
      </p:pic>
    </p:spTree>
    <p:extLst>
      <p:ext uri="{BB962C8B-B14F-4D97-AF65-F5344CB8AC3E}">
        <p14:creationId xmlns:p14="http://schemas.microsoft.com/office/powerpoint/2010/main" val="103523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3091-789C-43D0-8A82-123435B3848E}"/>
              </a:ext>
            </a:extLst>
          </p:cNvPr>
          <p:cNvSpPr>
            <a:spLocks noGrp="1"/>
          </p:cNvSpPr>
          <p:nvPr>
            <p:ph type="title"/>
          </p:nvPr>
        </p:nvSpPr>
        <p:spPr/>
        <p:txBody>
          <a:bodyPr/>
          <a:lstStyle/>
          <a:p>
            <a:r>
              <a:rPr lang="en-GB" dirty="0"/>
              <a:t>General properties of tactile receptors </a:t>
            </a:r>
          </a:p>
        </p:txBody>
      </p:sp>
      <p:sp>
        <p:nvSpPr>
          <p:cNvPr id="3" name="Content Placeholder 2">
            <a:extLst>
              <a:ext uri="{FF2B5EF4-FFF2-40B4-BE49-F238E27FC236}">
                <a16:creationId xmlns:a16="http://schemas.microsoft.com/office/drawing/2014/main" id="{D7DAA085-4E97-BCE3-4E4B-C0B67D5B539D}"/>
              </a:ext>
            </a:extLst>
          </p:cNvPr>
          <p:cNvSpPr>
            <a:spLocks noGrp="1"/>
          </p:cNvSpPr>
          <p:nvPr>
            <p:ph idx="1"/>
          </p:nvPr>
        </p:nvSpPr>
        <p:spPr/>
        <p:txBody>
          <a:bodyPr>
            <a:normAutofit/>
          </a:bodyPr>
          <a:lstStyle/>
          <a:p>
            <a:r>
              <a:rPr lang="en-GB" sz="2000" dirty="0"/>
              <a:t>Stimulus effect on AP from receptors</a:t>
            </a:r>
          </a:p>
          <a:p>
            <a:pPr lvl="1"/>
            <a:r>
              <a:rPr lang="en-GB" sz="1800" dirty="0"/>
              <a:t>Intensity</a:t>
            </a:r>
          </a:p>
          <a:p>
            <a:pPr lvl="1"/>
            <a:r>
              <a:rPr lang="en-GB" sz="1800" dirty="0"/>
              <a:t>Amplitude and frequency</a:t>
            </a:r>
          </a:p>
          <a:p>
            <a:pPr lvl="1"/>
            <a:endParaRPr lang="en-GB" sz="1800" dirty="0"/>
          </a:p>
        </p:txBody>
      </p:sp>
      <p:pic>
        <p:nvPicPr>
          <p:cNvPr id="5" name="Picture 4">
            <a:extLst>
              <a:ext uri="{FF2B5EF4-FFF2-40B4-BE49-F238E27FC236}">
                <a16:creationId xmlns:a16="http://schemas.microsoft.com/office/drawing/2014/main" id="{9A61AA4D-89BF-F296-06C7-4E34BC5DA9E5}"/>
              </a:ext>
            </a:extLst>
          </p:cNvPr>
          <p:cNvPicPr>
            <a:picLocks noChangeAspect="1"/>
          </p:cNvPicPr>
          <p:nvPr/>
        </p:nvPicPr>
        <p:blipFill>
          <a:blip r:embed="rId2"/>
          <a:stretch>
            <a:fillRect/>
          </a:stretch>
        </p:blipFill>
        <p:spPr>
          <a:xfrm>
            <a:off x="6740106" y="1379395"/>
            <a:ext cx="5082283" cy="4258101"/>
          </a:xfrm>
          <a:prstGeom prst="rect">
            <a:avLst/>
          </a:prstGeom>
        </p:spPr>
      </p:pic>
      <p:pic>
        <p:nvPicPr>
          <p:cNvPr id="6" name="Picture 5">
            <a:extLst>
              <a:ext uri="{FF2B5EF4-FFF2-40B4-BE49-F238E27FC236}">
                <a16:creationId xmlns:a16="http://schemas.microsoft.com/office/drawing/2014/main" id="{1C9F6AC6-0064-B66D-A99C-45897F939814}"/>
              </a:ext>
            </a:extLst>
          </p:cNvPr>
          <p:cNvPicPr>
            <a:picLocks noChangeAspect="1"/>
          </p:cNvPicPr>
          <p:nvPr/>
        </p:nvPicPr>
        <p:blipFill>
          <a:blip r:embed="rId3"/>
          <a:stretch>
            <a:fillRect/>
          </a:stretch>
        </p:blipFill>
        <p:spPr>
          <a:xfrm>
            <a:off x="1580380" y="2146597"/>
            <a:ext cx="3978343" cy="4258101"/>
          </a:xfrm>
          <a:prstGeom prst="rect">
            <a:avLst/>
          </a:prstGeom>
        </p:spPr>
      </p:pic>
    </p:spTree>
    <p:extLst>
      <p:ext uri="{BB962C8B-B14F-4D97-AF65-F5344CB8AC3E}">
        <p14:creationId xmlns:p14="http://schemas.microsoft.com/office/powerpoint/2010/main" val="2716982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3091-789C-43D0-8A82-123435B3848E}"/>
              </a:ext>
            </a:extLst>
          </p:cNvPr>
          <p:cNvSpPr>
            <a:spLocks noGrp="1"/>
          </p:cNvSpPr>
          <p:nvPr>
            <p:ph type="title"/>
          </p:nvPr>
        </p:nvSpPr>
        <p:spPr/>
        <p:txBody>
          <a:bodyPr/>
          <a:lstStyle/>
          <a:p>
            <a:r>
              <a:rPr lang="en-GB" dirty="0"/>
              <a:t>General properties of tactile receptors </a:t>
            </a:r>
          </a:p>
        </p:txBody>
      </p:sp>
      <p:sp>
        <p:nvSpPr>
          <p:cNvPr id="3" name="Content Placeholder 2">
            <a:extLst>
              <a:ext uri="{FF2B5EF4-FFF2-40B4-BE49-F238E27FC236}">
                <a16:creationId xmlns:a16="http://schemas.microsoft.com/office/drawing/2014/main" id="{D7DAA085-4E97-BCE3-4E4B-C0B67D5B539D}"/>
              </a:ext>
            </a:extLst>
          </p:cNvPr>
          <p:cNvSpPr>
            <a:spLocks noGrp="1"/>
          </p:cNvSpPr>
          <p:nvPr>
            <p:ph idx="1"/>
          </p:nvPr>
        </p:nvSpPr>
        <p:spPr>
          <a:xfrm>
            <a:off x="329380" y="1155110"/>
            <a:ext cx="6270523" cy="5391740"/>
          </a:xfrm>
        </p:spPr>
        <p:txBody>
          <a:bodyPr>
            <a:normAutofit/>
          </a:bodyPr>
          <a:lstStyle/>
          <a:p>
            <a:r>
              <a:rPr lang="en-GB" sz="2000" dirty="0"/>
              <a:t>Stimulus effect on AP from receptors</a:t>
            </a:r>
          </a:p>
          <a:p>
            <a:pPr lvl="1"/>
            <a:r>
              <a:rPr lang="en-GB" sz="1800" dirty="0"/>
              <a:t>Intensity</a:t>
            </a:r>
          </a:p>
          <a:p>
            <a:pPr lvl="1"/>
            <a:r>
              <a:rPr lang="en-GB" sz="1800" dirty="0"/>
              <a:t>Amplitude and frequency</a:t>
            </a:r>
          </a:p>
          <a:p>
            <a:pPr lvl="1"/>
            <a:endParaRPr lang="en-GB" sz="1800" dirty="0"/>
          </a:p>
          <a:p>
            <a:r>
              <a:rPr lang="en-GB" sz="2000" dirty="0"/>
              <a:t>Adaptation of receptors</a:t>
            </a:r>
          </a:p>
          <a:p>
            <a:pPr lvl="1"/>
            <a:r>
              <a:rPr lang="en-GB" sz="1800" dirty="0"/>
              <a:t>Rapid-adapting (</a:t>
            </a:r>
            <a:r>
              <a:rPr lang="en-GB" sz="1800" b="1" dirty="0"/>
              <a:t>change</a:t>
            </a:r>
            <a:r>
              <a:rPr lang="en-GB" sz="1800" dirty="0"/>
              <a:t> receptors) </a:t>
            </a:r>
            <a:r>
              <a:rPr lang="en-GB" sz="1800" dirty="0">
                <a:sym typeface="Wingdings" panose="05000000000000000000" pitchFamily="2" charset="2"/>
              </a:rPr>
              <a:t> Rate receptors, movement receptors, phasic receptors</a:t>
            </a:r>
          </a:p>
          <a:p>
            <a:pPr lvl="1"/>
            <a:endParaRPr lang="en-GB" sz="1800" dirty="0"/>
          </a:p>
          <a:p>
            <a:pPr lvl="1"/>
            <a:r>
              <a:rPr lang="en-GB" sz="1800" dirty="0"/>
              <a:t>Slow-adapting (</a:t>
            </a:r>
            <a:r>
              <a:rPr lang="en-GB" sz="1800" b="1" dirty="0"/>
              <a:t>tonic</a:t>
            </a:r>
            <a:r>
              <a:rPr lang="en-GB" sz="1800" dirty="0"/>
              <a:t>)</a:t>
            </a:r>
            <a:r>
              <a:rPr lang="en-GB" sz="1800" dirty="0">
                <a:sym typeface="Wingdings" panose="05000000000000000000" pitchFamily="2" charset="2"/>
              </a:rPr>
              <a:t> receptors of the macula in the vestibule, nociceptors, baroreceptors, chemoreceptors of the aorta and carotid bodies</a:t>
            </a:r>
            <a:endParaRPr lang="en-GB" sz="1800" dirty="0"/>
          </a:p>
        </p:txBody>
      </p:sp>
      <p:pic>
        <p:nvPicPr>
          <p:cNvPr id="9" name="Picture 8">
            <a:extLst>
              <a:ext uri="{FF2B5EF4-FFF2-40B4-BE49-F238E27FC236}">
                <a16:creationId xmlns:a16="http://schemas.microsoft.com/office/drawing/2014/main" id="{7FB54C1C-24F5-4DA2-6985-F6236BA63BA3}"/>
              </a:ext>
            </a:extLst>
          </p:cNvPr>
          <p:cNvPicPr>
            <a:picLocks noChangeAspect="1"/>
          </p:cNvPicPr>
          <p:nvPr/>
        </p:nvPicPr>
        <p:blipFill>
          <a:blip r:embed="rId2"/>
          <a:stretch>
            <a:fillRect/>
          </a:stretch>
        </p:blipFill>
        <p:spPr>
          <a:xfrm>
            <a:off x="6740106" y="1720589"/>
            <a:ext cx="4849402" cy="4145507"/>
          </a:xfrm>
          <a:prstGeom prst="rect">
            <a:avLst/>
          </a:prstGeom>
        </p:spPr>
      </p:pic>
    </p:spTree>
    <p:extLst>
      <p:ext uri="{BB962C8B-B14F-4D97-AF65-F5344CB8AC3E}">
        <p14:creationId xmlns:p14="http://schemas.microsoft.com/office/powerpoint/2010/main" val="368134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6C7B7-0FA6-B766-8F6E-0C7C803887BA}"/>
              </a:ext>
            </a:extLst>
          </p:cNvPr>
          <p:cNvSpPr>
            <a:spLocks noGrp="1"/>
          </p:cNvSpPr>
          <p:nvPr>
            <p:ph type="title"/>
          </p:nvPr>
        </p:nvSpPr>
        <p:spPr/>
        <p:txBody>
          <a:bodyPr/>
          <a:lstStyle/>
          <a:p>
            <a:r>
              <a:rPr lang="en-GB" dirty="0"/>
              <a:t>Sensory processing</a:t>
            </a:r>
          </a:p>
        </p:txBody>
      </p:sp>
      <p:sp>
        <p:nvSpPr>
          <p:cNvPr id="3" name="Content Placeholder 2">
            <a:extLst>
              <a:ext uri="{FF2B5EF4-FFF2-40B4-BE49-F238E27FC236}">
                <a16:creationId xmlns:a16="http://schemas.microsoft.com/office/drawing/2014/main" id="{DA1AC8F2-6126-902C-77DF-0C2F86D3C1C0}"/>
              </a:ext>
            </a:extLst>
          </p:cNvPr>
          <p:cNvSpPr>
            <a:spLocks noGrp="1"/>
          </p:cNvSpPr>
          <p:nvPr>
            <p:ph idx="1"/>
          </p:nvPr>
        </p:nvSpPr>
        <p:spPr>
          <a:xfrm>
            <a:off x="329380" y="1155110"/>
            <a:ext cx="4161504" cy="1094019"/>
          </a:xfrm>
        </p:spPr>
        <p:txBody>
          <a:bodyPr>
            <a:normAutofit/>
          </a:bodyPr>
          <a:lstStyle/>
          <a:p>
            <a:r>
              <a:rPr lang="en-GB" sz="2000" dirty="0"/>
              <a:t>Spatial summation</a:t>
            </a:r>
          </a:p>
          <a:p>
            <a:r>
              <a:rPr lang="en-GB" sz="2000" dirty="0"/>
              <a:t>Temporal summation</a:t>
            </a:r>
          </a:p>
        </p:txBody>
      </p:sp>
      <p:pic>
        <p:nvPicPr>
          <p:cNvPr id="4" name="Picture 3">
            <a:extLst>
              <a:ext uri="{FF2B5EF4-FFF2-40B4-BE49-F238E27FC236}">
                <a16:creationId xmlns:a16="http://schemas.microsoft.com/office/drawing/2014/main" id="{27668377-E396-B6E6-5CC9-473E562096BF}"/>
              </a:ext>
            </a:extLst>
          </p:cNvPr>
          <p:cNvPicPr>
            <a:picLocks noChangeAspect="1"/>
          </p:cNvPicPr>
          <p:nvPr/>
        </p:nvPicPr>
        <p:blipFill>
          <a:blip r:embed="rId2"/>
          <a:stretch>
            <a:fillRect/>
          </a:stretch>
        </p:blipFill>
        <p:spPr>
          <a:xfrm>
            <a:off x="7011721" y="850901"/>
            <a:ext cx="4429734" cy="5669182"/>
          </a:xfrm>
          <a:prstGeom prst="rect">
            <a:avLst/>
          </a:prstGeom>
        </p:spPr>
      </p:pic>
      <p:pic>
        <p:nvPicPr>
          <p:cNvPr id="6" name="Picture 5">
            <a:extLst>
              <a:ext uri="{FF2B5EF4-FFF2-40B4-BE49-F238E27FC236}">
                <a16:creationId xmlns:a16="http://schemas.microsoft.com/office/drawing/2014/main" id="{EB9C0958-3F2E-48E9-D7EC-1F6E7860CA0F}"/>
              </a:ext>
            </a:extLst>
          </p:cNvPr>
          <p:cNvPicPr>
            <a:picLocks noChangeAspect="1"/>
          </p:cNvPicPr>
          <p:nvPr/>
        </p:nvPicPr>
        <p:blipFill>
          <a:blip r:embed="rId3"/>
          <a:stretch>
            <a:fillRect/>
          </a:stretch>
        </p:blipFill>
        <p:spPr>
          <a:xfrm>
            <a:off x="1171921" y="2325143"/>
            <a:ext cx="4801230" cy="4194940"/>
          </a:xfrm>
          <a:prstGeom prst="rect">
            <a:avLst/>
          </a:prstGeom>
        </p:spPr>
      </p:pic>
    </p:spTree>
    <p:extLst>
      <p:ext uri="{BB962C8B-B14F-4D97-AF65-F5344CB8AC3E}">
        <p14:creationId xmlns:p14="http://schemas.microsoft.com/office/powerpoint/2010/main" val="2503470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0092C2-B472-C711-A235-25EA1A8B7D7C}"/>
              </a:ext>
            </a:extLst>
          </p:cNvPr>
          <p:cNvSpPr>
            <a:spLocks noGrp="1"/>
          </p:cNvSpPr>
          <p:nvPr>
            <p:ph type="title"/>
          </p:nvPr>
        </p:nvSpPr>
        <p:spPr/>
        <p:txBody>
          <a:bodyPr/>
          <a:lstStyle/>
          <a:p>
            <a:r>
              <a:rPr lang="it-IT" dirty="0">
                <a:cs typeface="Calibri Light"/>
              </a:rPr>
              <a:t>The </a:t>
            </a:r>
            <a:r>
              <a:rPr lang="it-IT" dirty="0" err="1">
                <a:cs typeface="Calibri Light"/>
              </a:rPr>
              <a:t>spinal</a:t>
            </a:r>
            <a:r>
              <a:rPr lang="it-IT" dirty="0">
                <a:cs typeface="Calibri Light"/>
              </a:rPr>
              <a:t> </a:t>
            </a:r>
            <a:r>
              <a:rPr lang="it-IT" dirty="0" err="1">
                <a:cs typeface="Calibri Light"/>
              </a:rPr>
              <a:t>cord</a:t>
            </a:r>
            <a:endParaRPr lang="it-IT" dirty="0" err="1"/>
          </a:p>
        </p:txBody>
      </p:sp>
      <p:pic>
        <p:nvPicPr>
          <p:cNvPr id="4" name="Immagine 4">
            <a:extLst>
              <a:ext uri="{FF2B5EF4-FFF2-40B4-BE49-F238E27FC236}">
                <a16:creationId xmlns:a16="http://schemas.microsoft.com/office/drawing/2014/main" id="{23E24F2D-C16A-E4E7-2518-99AE1CF2378F}"/>
              </a:ext>
            </a:extLst>
          </p:cNvPr>
          <p:cNvPicPr>
            <a:picLocks noGrp="1" noChangeAspect="1"/>
          </p:cNvPicPr>
          <p:nvPr>
            <p:ph idx="1"/>
          </p:nvPr>
        </p:nvPicPr>
        <p:blipFill>
          <a:blip r:embed="rId2"/>
          <a:stretch>
            <a:fillRect/>
          </a:stretch>
        </p:blipFill>
        <p:spPr>
          <a:xfrm>
            <a:off x="328613" y="1414216"/>
            <a:ext cx="11735776" cy="4279218"/>
          </a:xfrm>
        </p:spPr>
      </p:pic>
    </p:spTree>
    <p:extLst>
      <p:ext uri="{BB962C8B-B14F-4D97-AF65-F5344CB8AC3E}">
        <p14:creationId xmlns:p14="http://schemas.microsoft.com/office/powerpoint/2010/main" val="807597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2FEDF-F073-0910-EC28-D73F753D731E}"/>
              </a:ext>
            </a:extLst>
          </p:cNvPr>
          <p:cNvSpPr>
            <a:spLocks noGrp="1"/>
          </p:cNvSpPr>
          <p:nvPr>
            <p:ph type="title"/>
          </p:nvPr>
        </p:nvSpPr>
        <p:spPr/>
        <p:txBody>
          <a:bodyPr/>
          <a:lstStyle/>
          <a:p>
            <a:r>
              <a:rPr lang="en-GB" dirty="0"/>
              <a:t>The Brain</a:t>
            </a:r>
          </a:p>
        </p:txBody>
      </p:sp>
      <p:pic>
        <p:nvPicPr>
          <p:cNvPr id="1026" name="Picture 2" descr="Cerebral Cortex: What It Is, Function &amp; Location">
            <a:extLst>
              <a:ext uri="{FF2B5EF4-FFF2-40B4-BE49-F238E27FC236}">
                <a16:creationId xmlns:a16="http://schemas.microsoft.com/office/drawing/2014/main" id="{130FA406-CE78-66F8-743E-66B8C7D82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74" y="1172357"/>
            <a:ext cx="4381500" cy="5334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AEF6E5B-3070-C880-75E5-4FDAC7E07064}"/>
              </a:ext>
            </a:extLst>
          </p:cNvPr>
          <p:cNvPicPr>
            <a:picLocks noChangeAspect="1"/>
          </p:cNvPicPr>
          <p:nvPr/>
        </p:nvPicPr>
        <p:blipFill>
          <a:blip r:embed="rId3"/>
          <a:stretch>
            <a:fillRect/>
          </a:stretch>
        </p:blipFill>
        <p:spPr>
          <a:xfrm>
            <a:off x="5351944" y="1351552"/>
            <a:ext cx="6651620" cy="4283228"/>
          </a:xfrm>
          <a:prstGeom prst="rect">
            <a:avLst/>
          </a:prstGeom>
        </p:spPr>
      </p:pic>
    </p:spTree>
    <p:extLst>
      <p:ext uri="{BB962C8B-B14F-4D97-AF65-F5344CB8AC3E}">
        <p14:creationId xmlns:p14="http://schemas.microsoft.com/office/powerpoint/2010/main" val="207363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2FEDF-F073-0910-EC28-D73F753D731E}"/>
              </a:ext>
            </a:extLst>
          </p:cNvPr>
          <p:cNvSpPr>
            <a:spLocks noGrp="1"/>
          </p:cNvSpPr>
          <p:nvPr>
            <p:ph type="title"/>
          </p:nvPr>
        </p:nvSpPr>
        <p:spPr/>
        <p:txBody>
          <a:bodyPr/>
          <a:lstStyle/>
          <a:p>
            <a:r>
              <a:rPr lang="en-GB" dirty="0"/>
              <a:t>The Brain: the somatosensory cortex</a:t>
            </a:r>
          </a:p>
        </p:txBody>
      </p:sp>
      <p:sp>
        <p:nvSpPr>
          <p:cNvPr id="8" name="Content Placeholder 7">
            <a:extLst>
              <a:ext uri="{FF2B5EF4-FFF2-40B4-BE49-F238E27FC236}">
                <a16:creationId xmlns:a16="http://schemas.microsoft.com/office/drawing/2014/main" id="{EA29A39A-F72A-5111-650F-D7054CF001BA}"/>
              </a:ext>
            </a:extLst>
          </p:cNvPr>
          <p:cNvSpPr>
            <a:spLocks noGrp="1"/>
          </p:cNvSpPr>
          <p:nvPr>
            <p:ph idx="1"/>
          </p:nvPr>
        </p:nvSpPr>
        <p:spPr/>
        <p:txBody>
          <a:bodyPr/>
          <a:lstStyle/>
          <a:p>
            <a:endParaRPr lang="en-GB"/>
          </a:p>
        </p:txBody>
      </p:sp>
      <p:pic>
        <p:nvPicPr>
          <p:cNvPr id="5" name="Immagine 5">
            <a:extLst>
              <a:ext uri="{FF2B5EF4-FFF2-40B4-BE49-F238E27FC236}">
                <a16:creationId xmlns:a16="http://schemas.microsoft.com/office/drawing/2014/main" id="{BDA05B4A-0602-B55A-5F44-FAE5B5847BC3}"/>
              </a:ext>
            </a:extLst>
          </p:cNvPr>
          <p:cNvPicPr>
            <a:picLocks noChangeAspect="1"/>
          </p:cNvPicPr>
          <p:nvPr/>
        </p:nvPicPr>
        <p:blipFill rotWithShape="1">
          <a:blip r:embed="rId2"/>
          <a:srcRect l="23896"/>
          <a:stretch/>
        </p:blipFill>
        <p:spPr>
          <a:xfrm>
            <a:off x="264522" y="1142410"/>
            <a:ext cx="11662956" cy="5210332"/>
          </a:xfrm>
          <a:prstGeom prst="rect">
            <a:avLst/>
          </a:prstGeom>
        </p:spPr>
      </p:pic>
    </p:spTree>
    <p:extLst>
      <p:ext uri="{BB962C8B-B14F-4D97-AF65-F5344CB8AC3E}">
        <p14:creationId xmlns:p14="http://schemas.microsoft.com/office/powerpoint/2010/main" val="1559791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52E2-27E1-4672-D446-689C75D80F3B}"/>
              </a:ext>
            </a:extLst>
          </p:cNvPr>
          <p:cNvSpPr>
            <a:spLocks noGrp="1"/>
          </p:cNvSpPr>
          <p:nvPr>
            <p:ph type="title"/>
          </p:nvPr>
        </p:nvSpPr>
        <p:spPr/>
        <p:txBody>
          <a:bodyPr>
            <a:normAutofit/>
          </a:bodyPr>
          <a:lstStyle/>
          <a:p>
            <a:r>
              <a:rPr lang="en-GB" dirty="0"/>
              <a:t>Tactile receptors</a:t>
            </a:r>
          </a:p>
        </p:txBody>
      </p:sp>
      <p:sp>
        <p:nvSpPr>
          <p:cNvPr id="3" name="Content Placeholder 2">
            <a:extLst>
              <a:ext uri="{FF2B5EF4-FFF2-40B4-BE49-F238E27FC236}">
                <a16:creationId xmlns:a16="http://schemas.microsoft.com/office/drawing/2014/main" id="{3020CC68-C28D-6DBB-7B1B-F854277423E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0EA369D8-5033-23C4-CE5A-33463CC9C0CD}"/>
              </a:ext>
            </a:extLst>
          </p:cNvPr>
          <p:cNvPicPr>
            <a:picLocks noChangeAspect="1"/>
          </p:cNvPicPr>
          <p:nvPr/>
        </p:nvPicPr>
        <p:blipFill>
          <a:blip r:embed="rId2"/>
          <a:stretch>
            <a:fillRect/>
          </a:stretch>
        </p:blipFill>
        <p:spPr>
          <a:xfrm>
            <a:off x="1640781" y="911794"/>
            <a:ext cx="3366296" cy="5701056"/>
          </a:xfrm>
          <a:prstGeom prst="rect">
            <a:avLst/>
          </a:prstGeom>
        </p:spPr>
      </p:pic>
      <p:pic>
        <p:nvPicPr>
          <p:cNvPr id="4" name="Picture 3">
            <a:extLst>
              <a:ext uri="{FF2B5EF4-FFF2-40B4-BE49-F238E27FC236}">
                <a16:creationId xmlns:a16="http://schemas.microsoft.com/office/drawing/2014/main" id="{6741DA5C-14B7-4843-B120-4F9136170826}"/>
              </a:ext>
            </a:extLst>
          </p:cNvPr>
          <p:cNvPicPr>
            <a:picLocks noChangeAspect="1"/>
          </p:cNvPicPr>
          <p:nvPr/>
        </p:nvPicPr>
        <p:blipFill>
          <a:blip r:embed="rId3"/>
          <a:stretch>
            <a:fillRect/>
          </a:stretch>
        </p:blipFill>
        <p:spPr>
          <a:xfrm>
            <a:off x="7125945" y="1048817"/>
            <a:ext cx="3817358" cy="5427010"/>
          </a:xfrm>
          <a:prstGeom prst="rect">
            <a:avLst/>
          </a:prstGeom>
        </p:spPr>
      </p:pic>
    </p:spTree>
    <p:extLst>
      <p:ext uri="{BB962C8B-B14F-4D97-AF65-F5344CB8AC3E}">
        <p14:creationId xmlns:p14="http://schemas.microsoft.com/office/powerpoint/2010/main" val="147223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p:txBody>
          <a:bodyPr/>
          <a:lstStyle/>
          <a:p>
            <a:r>
              <a:rPr lang="en-GB" dirty="0"/>
              <a:t>A</a:t>
            </a:r>
            <a:r>
              <a:rPr lang="en-GB" dirty="0">
                <a:latin typeface="Symbol" panose="05050102010706020507" pitchFamily="18" charset="2"/>
              </a:rPr>
              <a:t>a</a:t>
            </a:r>
            <a:r>
              <a:rPr lang="en-GB" dirty="0"/>
              <a:t> and A</a:t>
            </a:r>
            <a:r>
              <a:rPr lang="en-GB" dirty="0">
                <a:latin typeface="Symbol" panose="05050102010706020507" pitchFamily="18" charset="2"/>
              </a:rPr>
              <a:t>b</a:t>
            </a:r>
            <a:r>
              <a:rPr lang="en-GB" dirty="0"/>
              <a:t> fibres</a:t>
            </a:r>
          </a:p>
          <a:p>
            <a:r>
              <a:rPr lang="en-GB" dirty="0"/>
              <a:t>One central nerve ending surrounded by a layered capsule</a:t>
            </a:r>
          </a:p>
          <a:p>
            <a:r>
              <a:rPr lang="en-GB" dirty="0"/>
              <a:t>Viscous fluid between capsule layers</a:t>
            </a:r>
          </a:p>
          <a:p>
            <a:r>
              <a:rPr lang="en-GB" b="1" dirty="0"/>
              <a:t>Rapid tissue deformation</a:t>
            </a:r>
          </a:p>
          <a:p>
            <a:r>
              <a:rPr lang="en-GB" dirty="0"/>
              <a:t>Very rapid adaptation</a:t>
            </a:r>
          </a:p>
          <a:p>
            <a:endParaRPr lang="en-GB" dirty="0"/>
          </a:p>
        </p:txBody>
      </p:sp>
      <p:pic>
        <p:nvPicPr>
          <p:cNvPr id="4" name="Picture 3">
            <a:extLst>
              <a:ext uri="{FF2B5EF4-FFF2-40B4-BE49-F238E27FC236}">
                <a16:creationId xmlns:a16="http://schemas.microsoft.com/office/drawing/2014/main" id="{1D4A406A-AE25-DFFF-C526-701F445F7AF8}"/>
              </a:ext>
            </a:extLst>
          </p:cNvPr>
          <p:cNvPicPr>
            <a:picLocks noChangeAspect="1"/>
          </p:cNvPicPr>
          <p:nvPr/>
        </p:nvPicPr>
        <p:blipFill rotWithShape="1">
          <a:blip r:embed="rId2"/>
          <a:srcRect l="379" t="32581" r="68268" b="36619"/>
          <a:stretch/>
        </p:blipFill>
        <p:spPr>
          <a:xfrm>
            <a:off x="7577994" y="1086329"/>
            <a:ext cx="3679477" cy="5138806"/>
          </a:xfrm>
          <a:prstGeom prst="rect">
            <a:avLst/>
          </a:prstGeom>
        </p:spPr>
      </p:pic>
      <p:pic>
        <p:nvPicPr>
          <p:cNvPr id="6" name="Picture 5">
            <a:extLst>
              <a:ext uri="{FF2B5EF4-FFF2-40B4-BE49-F238E27FC236}">
                <a16:creationId xmlns:a16="http://schemas.microsoft.com/office/drawing/2014/main" id="{9C8450D9-F62E-A3E4-162C-36E4049F41B3}"/>
              </a:ext>
            </a:extLst>
          </p:cNvPr>
          <p:cNvPicPr>
            <a:picLocks noChangeAspect="1"/>
          </p:cNvPicPr>
          <p:nvPr/>
        </p:nvPicPr>
        <p:blipFill>
          <a:blip r:embed="rId3"/>
          <a:stretch>
            <a:fillRect/>
          </a:stretch>
        </p:blipFill>
        <p:spPr>
          <a:xfrm>
            <a:off x="987818" y="3655732"/>
            <a:ext cx="5298682" cy="2819732"/>
          </a:xfrm>
          <a:prstGeom prst="rect">
            <a:avLst/>
          </a:prstGeom>
        </p:spPr>
      </p:pic>
    </p:spTree>
    <p:extLst>
      <p:ext uri="{BB962C8B-B14F-4D97-AF65-F5344CB8AC3E}">
        <p14:creationId xmlns:p14="http://schemas.microsoft.com/office/powerpoint/2010/main" val="2182119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p:txBody>
          <a:bodyPr/>
          <a:lstStyle/>
          <a:p>
            <a:r>
              <a:rPr lang="en-GB" dirty="0"/>
              <a:t>Everywhere in skin and other tissues</a:t>
            </a:r>
          </a:p>
          <a:p>
            <a:r>
              <a:rPr lang="en-GB" dirty="0"/>
              <a:t>A</a:t>
            </a:r>
            <a:r>
              <a:rPr lang="en-GB" dirty="0">
                <a:latin typeface="Symbol" panose="05050102010706020507" pitchFamily="18" charset="2"/>
              </a:rPr>
              <a:t>d</a:t>
            </a:r>
            <a:r>
              <a:rPr lang="en-GB" dirty="0"/>
              <a:t> </a:t>
            </a:r>
            <a:r>
              <a:rPr lang="en-GB" dirty="0" err="1"/>
              <a:t>fibers</a:t>
            </a:r>
            <a:r>
              <a:rPr lang="en-GB" dirty="0"/>
              <a:t> and some C </a:t>
            </a:r>
            <a:r>
              <a:rPr lang="en-GB" dirty="0" err="1"/>
              <a:t>fibers</a:t>
            </a:r>
            <a:endParaRPr lang="en-GB" dirty="0"/>
          </a:p>
          <a:p>
            <a:r>
              <a:rPr lang="en-GB" b="1" dirty="0"/>
              <a:t>Touch and pressure</a:t>
            </a:r>
          </a:p>
          <a:p>
            <a:pPr lvl="1"/>
            <a:r>
              <a:rPr lang="en-GB" dirty="0"/>
              <a:t>Tickle and itch</a:t>
            </a:r>
          </a:p>
          <a:p>
            <a:r>
              <a:rPr lang="en-GB" dirty="0"/>
              <a:t>Only receptors present on the cornea</a:t>
            </a:r>
          </a:p>
        </p:txBody>
      </p:sp>
      <p:pic>
        <p:nvPicPr>
          <p:cNvPr id="4" name="Picture 3">
            <a:extLst>
              <a:ext uri="{FF2B5EF4-FFF2-40B4-BE49-F238E27FC236}">
                <a16:creationId xmlns:a16="http://schemas.microsoft.com/office/drawing/2014/main" id="{1D4A406A-AE25-DFFF-C526-701F445F7AF8}"/>
              </a:ext>
            </a:extLst>
          </p:cNvPr>
          <p:cNvPicPr>
            <a:picLocks noChangeAspect="1"/>
          </p:cNvPicPr>
          <p:nvPr/>
        </p:nvPicPr>
        <p:blipFill rotWithShape="1">
          <a:blip r:embed="rId2"/>
          <a:srcRect l="325" t="1411" r="68322" b="67789"/>
          <a:stretch/>
        </p:blipFill>
        <p:spPr>
          <a:xfrm>
            <a:off x="7577994" y="1086329"/>
            <a:ext cx="3679477" cy="5138806"/>
          </a:xfrm>
          <a:prstGeom prst="rect">
            <a:avLst/>
          </a:prstGeom>
        </p:spPr>
      </p:pic>
    </p:spTree>
    <p:extLst>
      <p:ext uri="{BB962C8B-B14F-4D97-AF65-F5344CB8AC3E}">
        <p14:creationId xmlns:p14="http://schemas.microsoft.com/office/powerpoint/2010/main" val="2526964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a:xfrm>
            <a:off x="329380" y="1155110"/>
            <a:ext cx="5766620" cy="5422082"/>
          </a:xfrm>
        </p:spPr>
        <p:txBody>
          <a:bodyPr>
            <a:normAutofit lnSpcReduction="10000"/>
          </a:bodyPr>
          <a:lstStyle/>
          <a:p>
            <a:r>
              <a:rPr lang="en-GB" dirty="0"/>
              <a:t>Many Merkel’s discs</a:t>
            </a:r>
          </a:p>
          <a:p>
            <a:pPr lvl="1"/>
            <a:r>
              <a:rPr lang="en-GB" dirty="0"/>
              <a:t>Expanded tip tactile receptors</a:t>
            </a:r>
          </a:p>
          <a:p>
            <a:pPr lvl="1"/>
            <a:r>
              <a:rPr lang="en-GB" dirty="0" err="1"/>
              <a:t>Abeta</a:t>
            </a:r>
            <a:r>
              <a:rPr lang="en-GB" dirty="0"/>
              <a:t> </a:t>
            </a:r>
            <a:r>
              <a:rPr lang="en-GB" dirty="0" err="1"/>
              <a:t>fibers</a:t>
            </a:r>
            <a:r>
              <a:rPr lang="en-GB" dirty="0"/>
              <a:t> ending + Merkel’s cells</a:t>
            </a:r>
          </a:p>
          <a:p>
            <a:endParaRPr lang="en-GB" dirty="0"/>
          </a:p>
          <a:p>
            <a:r>
              <a:rPr lang="en-GB" dirty="0"/>
              <a:t>Fingertips and other areas with Meissner’s corpuscles</a:t>
            </a:r>
          </a:p>
          <a:p>
            <a:pPr lvl="1"/>
            <a:r>
              <a:rPr lang="en-GB" dirty="0"/>
              <a:t>Moderately in other hairy areas</a:t>
            </a:r>
          </a:p>
          <a:p>
            <a:endParaRPr lang="en-GB" dirty="0"/>
          </a:p>
          <a:p>
            <a:r>
              <a:rPr lang="en-GB" dirty="0"/>
              <a:t>Strong and adapting signal, followed by weaker and slow-adapting</a:t>
            </a:r>
          </a:p>
          <a:p>
            <a:pPr lvl="1"/>
            <a:r>
              <a:rPr lang="en-GB" sz="1800" dirty="0"/>
              <a:t>Continuous touch</a:t>
            </a:r>
          </a:p>
          <a:p>
            <a:endParaRPr lang="en-GB" dirty="0"/>
          </a:p>
          <a:p>
            <a:r>
              <a:rPr lang="en-GB" b="1" dirty="0"/>
              <a:t>High tactile acuity </a:t>
            </a:r>
            <a:r>
              <a:rPr lang="en-GB" dirty="0"/>
              <a:t>for objects’ features, like texture, shape and edges</a:t>
            </a:r>
          </a:p>
        </p:txBody>
      </p:sp>
      <p:pic>
        <p:nvPicPr>
          <p:cNvPr id="6" name="Picture 5">
            <a:extLst>
              <a:ext uri="{FF2B5EF4-FFF2-40B4-BE49-F238E27FC236}">
                <a16:creationId xmlns:a16="http://schemas.microsoft.com/office/drawing/2014/main" id="{51997FEF-A4E7-A58B-847C-2F7423CBACCE}"/>
              </a:ext>
            </a:extLst>
          </p:cNvPr>
          <p:cNvPicPr>
            <a:picLocks noChangeAspect="1"/>
          </p:cNvPicPr>
          <p:nvPr/>
        </p:nvPicPr>
        <p:blipFill>
          <a:blip r:embed="rId2"/>
          <a:stretch>
            <a:fillRect/>
          </a:stretch>
        </p:blipFill>
        <p:spPr>
          <a:xfrm>
            <a:off x="6367493" y="1090792"/>
            <a:ext cx="5507006" cy="4057292"/>
          </a:xfrm>
          <a:prstGeom prst="rect">
            <a:avLst/>
          </a:prstGeom>
        </p:spPr>
      </p:pic>
      <p:sp>
        <p:nvSpPr>
          <p:cNvPr id="7" name="TextBox 6">
            <a:extLst>
              <a:ext uri="{FF2B5EF4-FFF2-40B4-BE49-F238E27FC236}">
                <a16:creationId xmlns:a16="http://schemas.microsoft.com/office/drawing/2014/main" id="{BC1A09DA-2E4A-CBC0-1F34-0ACD3FDB6100}"/>
              </a:ext>
            </a:extLst>
          </p:cNvPr>
          <p:cNvSpPr txBox="1"/>
          <p:nvPr/>
        </p:nvSpPr>
        <p:spPr>
          <a:xfrm>
            <a:off x="5979367" y="1185300"/>
            <a:ext cx="2056460" cy="1138773"/>
          </a:xfrm>
          <a:prstGeom prst="rect">
            <a:avLst/>
          </a:prstGeom>
          <a:noFill/>
        </p:spPr>
        <p:txBody>
          <a:bodyPr wrap="none" rtlCol="0">
            <a:spAutoFit/>
          </a:bodyPr>
          <a:lstStyle/>
          <a:p>
            <a:pPr algn="ctr"/>
            <a:r>
              <a:rPr lang="en-GB" sz="3400" dirty="0" err="1"/>
              <a:t>Iggo</a:t>
            </a:r>
            <a:r>
              <a:rPr lang="en-GB" sz="3400" dirty="0"/>
              <a:t> dome</a:t>
            </a:r>
          </a:p>
          <a:p>
            <a:pPr algn="ctr"/>
            <a:r>
              <a:rPr lang="en-GB" sz="3400" dirty="0"/>
              <a:t>receptors</a:t>
            </a:r>
          </a:p>
        </p:txBody>
      </p:sp>
      <p:pic>
        <p:nvPicPr>
          <p:cNvPr id="9" name="Picture 8">
            <a:extLst>
              <a:ext uri="{FF2B5EF4-FFF2-40B4-BE49-F238E27FC236}">
                <a16:creationId xmlns:a16="http://schemas.microsoft.com/office/drawing/2014/main" id="{C0A6AD6A-967C-FAE6-BC24-24BA941A151A}"/>
              </a:ext>
            </a:extLst>
          </p:cNvPr>
          <p:cNvPicPr>
            <a:picLocks noChangeAspect="1"/>
          </p:cNvPicPr>
          <p:nvPr/>
        </p:nvPicPr>
        <p:blipFill rotWithShape="1">
          <a:blip r:embed="rId2"/>
          <a:srcRect l="25721" t="40204" r="65925" b="49874"/>
          <a:stretch/>
        </p:blipFill>
        <p:spPr>
          <a:xfrm>
            <a:off x="7219192" y="5148084"/>
            <a:ext cx="1633270" cy="1429108"/>
          </a:xfrm>
          <a:prstGeom prst="rect">
            <a:avLst/>
          </a:prstGeom>
        </p:spPr>
      </p:pic>
      <p:sp>
        <p:nvSpPr>
          <p:cNvPr id="10" name="Rectangle 9">
            <a:extLst>
              <a:ext uri="{FF2B5EF4-FFF2-40B4-BE49-F238E27FC236}">
                <a16:creationId xmlns:a16="http://schemas.microsoft.com/office/drawing/2014/main" id="{32FE1E05-C4FC-300D-0BA3-E11DF2228995}"/>
              </a:ext>
            </a:extLst>
          </p:cNvPr>
          <p:cNvSpPr/>
          <p:nvPr/>
        </p:nvSpPr>
        <p:spPr>
          <a:xfrm>
            <a:off x="7205932" y="5148084"/>
            <a:ext cx="1644770" cy="1418415"/>
          </a:xfrm>
          <a:prstGeom prst="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4A53DE0-28B9-80FA-7456-26681AF66917}"/>
              </a:ext>
            </a:extLst>
          </p:cNvPr>
          <p:cNvSpPr/>
          <p:nvPr/>
        </p:nvSpPr>
        <p:spPr>
          <a:xfrm>
            <a:off x="7807984" y="2759145"/>
            <a:ext cx="440666" cy="380022"/>
          </a:xfrm>
          <a:prstGeom prst="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C8887B-8B80-66FA-B1F2-167558CF2072}"/>
              </a:ext>
            </a:extLst>
          </p:cNvPr>
          <p:cNvSpPr txBox="1"/>
          <p:nvPr/>
        </p:nvSpPr>
        <p:spPr>
          <a:xfrm>
            <a:off x="9400826" y="5257127"/>
            <a:ext cx="1679691" cy="1138773"/>
          </a:xfrm>
          <a:prstGeom prst="rect">
            <a:avLst/>
          </a:prstGeom>
          <a:noFill/>
        </p:spPr>
        <p:txBody>
          <a:bodyPr wrap="none" rtlCol="0">
            <a:spAutoFit/>
          </a:bodyPr>
          <a:lstStyle/>
          <a:p>
            <a:pPr algn="ctr"/>
            <a:r>
              <a:rPr lang="en-GB" sz="3400" dirty="0"/>
              <a:t>Merkel’s</a:t>
            </a:r>
          </a:p>
          <a:p>
            <a:pPr algn="ctr"/>
            <a:r>
              <a:rPr lang="en-GB" sz="3400" dirty="0"/>
              <a:t>disc</a:t>
            </a:r>
          </a:p>
        </p:txBody>
      </p:sp>
    </p:spTree>
    <p:extLst>
      <p:ext uri="{BB962C8B-B14F-4D97-AF65-F5344CB8AC3E}">
        <p14:creationId xmlns:p14="http://schemas.microsoft.com/office/powerpoint/2010/main" val="3040485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and A</a:t>
            </a:r>
            <a:r>
              <a:rPr lang="en-GB" dirty="0">
                <a:latin typeface="Symbol" panose="05050102010706020507" pitchFamily="18" charset="2"/>
              </a:rPr>
              <a:t>g</a:t>
            </a:r>
            <a:r>
              <a:rPr lang="en-GB" dirty="0"/>
              <a:t> fibres</a:t>
            </a:r>
          </a:p>
          <a:p>
            <a:endParaRPr lang="en-GB" dirty="0"/>
          </a:p>
          <a:p>
            <a:r>
              <a:rPr lang="en-GB" dirty="0"/>
              <a:t>Nerve ending at the base of the hair</a:t>
            </a:r>
          </a:p>
          <a:p>
            <a:endParaRPr lang="en-GB" dirty="0"/>
          </a:p>
          <a:p>
            <a:r>
              <a:rPr lang="en-GB" dirty="0"/>
              <a:t>High adaptation</a:t>
            </a:r>
          </a:p>
          <a:p>
            <a:endParaRPr lang="en-GB" dirty="0"/>
          </a:p>
          <a:p>
            <a:r>
              <a:rPr lang="en-GB" b="1" dirty="0"/>
              <a:t>Detection of moving objects and initial contact</a:t>
            </a:r>
          </a:p>
          <a:p>
            <a:endParaRPr lang="en-GB" dirty="0"/>
          </a:p>
        </p:txBody>
      </p:sp>
      <p:pic>
        <p:nvPicPr>
          <p:cNvPr id="4" name="Picture 3">
            <a:extLst>
              <a:ext uri="{FF2B5EF4-FFF2-40B4-BE49-F238E27FC236}">
                <a16:creationId xmlns:a16="http://schemas.microsoft.com/office/drawing/2014/main" id="{1D4A406A-AE25-DFFF-C526-701F445F7AF8}"/>
              </a:ext>
            </a:extLst>
          </p:cNvPr>
          <p:cNvPicPr>
            <a:picLocks noChangeAspect="1"/>
          </p:cNvPicPr>
          <p:nvPr/>
        </p:nvPicPr>
        <p:blipFill rotWithShape="1">
          <a:blip r:embed="rId2"/>
          <a:srcRect l="68367" t="1058" r="280" b="68142"/>
          <a:stretch/>
        </p:blipFill>
        <p:spPr>
          <a:xfrm>
            <a:off x="7578000" y="1087200"/>
            <a:ext cx="3679477" cy="5138806"/>
          </a:xfrm>
          <a:prstGeom prst="rect">
            <a:avLst/>
          </a:prstGeom>
        </p:spPr>
      </p:pic>
    </p:spTree>
    <p:extLst>
      <p:ext uri="{BB962C8B-B14F-4D97-AF65-F5344CB8AC3E}">
        <p14:creationId xmlns:p14="http://schemas.microsoft.com/office/powerpoint/2010/main" val="2659783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 in proprioception: muscle spindle</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p:txBody>
          <a:bodyPr vert="horz" lIns="91440" tIns="45720" rIns="91440" bIns="45720" rtlCol="0" anchor="t">
            <a:normAutofit/>
          </a:bodyPr>
          <a:lstStyle/>
          <a:p>
            <a:r>
              <a:rPr lang="en-GB" dirty="0"/>
              <a:t>Senses length and change of length from intrafusal muscle </a:t>
            </a:r>
            <a:r>
              <a:rPr lang="en-GB" dirty="0" err="1"/>
              <a:t>fibers</a:t>
            </a:r>
            <a:endParaRPr lang="en-GB" dirty="0"/>
          </a:p>
          <a:p>
            <a:pPr lvl="1"/>
            <a:r>
              <a:rPr lang="en-GB" dirty="0"/>
              <a:t>Different from extrafusal muscle </a:t>
            </a:r>
            <a:r>
              <a:rPr lang="en-GB" dirty="0" err="1"/>
              <a:t>fibers</a:t>
            </a:r>
            <a:endParaRPr lang="en-GB" dirty="0"/>
          </a:p>
          <a:p>
            <a:r>
              <a:rPr lang="en-GB" dirty="0"/>
              <a:t>Responses to </a:t>
            </a:r>
            <a:r>
              <a:rPr lang="en-GB" b="1" dirty="0"/>
              <a:t>changes in muscle length</a:t>
            </a:r>
          </a:p>
          <a:p>
            <a:r>
              <a:rPr lang="en-GB" dirty="0"/>
              <a:t>Ia </a:t>
            </a:r>
            <a:r>
              <a:rPr lang="en-GB" dirty="0" err="1"/>
              <a:t>fibers</a:t>
            </a:r>
            <a:endParaRPr lang="en-GB" dirty="0"/>
          </a:p>
          <a:p>
            <a:r>
              <a:rPr lang="en-GB" dirty="0"/>
              <a:t>Support from secondary II </a:t>
            </a:r>
            <a:r>
              <a:rPr lang="en-GB" dirty="0" err="1"/>
              <a:t>fiber</a:t>
            </a:r>
            <a:r>
              <a:rPr lang="en-GB" dirty="0"/>
              <a:t> receptors</a:t>
            </a:r>
          </a:p>
          <a:p>
            <a:r>
              <a:rPr lang="en-GB" dirty="0">
                <a:ea typeface="+mn-lt"/>
                <a:cs typeface="+mn-lt"/>
              </a:rPr>
              <a:t>Important for </a:t>
            </a:r>
            <a:r>
              <a:rPr lang="en-GB" b="1" dirty="0">
                <a:ea typeface="+mn-lt"/>
                <a:cs typeface="+mn-lt"/>
              </a:rPr>
              <a:t>inhibitory reflex</a:t>
            </a:r>
            <a:endParaRPr lang="en-GB" b="1" dirty="0">
              <a:cs typeface="Calibri" panose="020F0502020204030204"/>
            </a:endParaRPr>
          </a:p>
        </p:txBody>
      </p:sp>
      <p:pic>
        <p:nvPicPr>
          <p:cNvPr id="6" name="Picture 5">
            <a:extLst>
              <a:ext uri="{FF2B5EF4-FFF2-40B4-BE49-F238E27FC236}">
                <a16:creationId xmlns:a16="http://schemas.microsoft.com/office/drawing/2014/main" id="{44BD2601-3C6B-15AC-A91A-B07EE80F7D30}"/>
              </a:ext>
            </a:extLst>
          </p:cNvPr>
          <p:cNvPicPr>
            <a:picLocks noChangeAspect="1"/>
          </p:cNvPicPr>
          <p:nvPr/>
        </p:nvPicPr>
        <p:blipFill>
          <a:blip r:embed="rId2"/>
          <a:stretch>
            <a:fillRect/>
          </a:stretch>
        </p:blipFill>
        <p:spPr>
          <a:xfrm>
            <a:off x="582971" y="4846267"/>
            <a:ext cx="6946900" cy="1807718"/>
          </a:xfrm>
          <a:prstGeom prst="rect">
            <a:avLst/>
          </a:prstGeom>
        </p:spPr>
      </p:pic>
      <p:pic>
        <p:nvPicPr>
          <p:cNvPr id="7" name="Picture 6">
            <a:extLst>
              <a:ext uri="{FF2B5EF4-FFF2-40B4-BE49-F238E27FC236}">
                <a16:creationId xmlns:a16="http://schemas.microsoft.com/office/drawing/2014/main" id="{FBB32345-84CA-EAFD-0970-E9BC55F17C52}"/>
              </a:ext>
            </a:extLst>
          </p:cNvPr>
          <p:cNvPicPr>
            <a:picLocks noChangeAspect="1"/>
          </p:cNvPicPr>
          <p:nvPr/>
        </p:nvPicPr>
        <p:blipFill>
          <a:blip r:embed="rId3"/>
          <a:stretch>
            <a:fillRect/>
          </a:stretch>
        </p:blipFill>
        <p:spPr>
          <a:xfrm>
            <a:off x="6449611" y="1482553"/>
            <a:ext cx="5395823" cy="3635921"/>
          </a:xfrm>
          <a:prstGeom prst="rect">
            <a:avLst/>
          </a:prstGeom>
        </p:spPr>
      </p:pic>
    </p:spTree>
    <p:extLst>
      <p:ext uri="{BB962C8B-B14F-4D97-AF65-F5344CB8AC3E}">
        <p14:creationId xmlns:p14="http://schemas.microsoft.com/office/powerpoint/2010/main" val="3798674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 in proprioception: </a:t>
            </a:r>
            <a:r>
              <a:rPr lang="en-GB" dirty="0" err="1"/>
              <a:t>golgi</a:t>
            </a:r>
            <a:r>
              <a:rPr lang="en-GB" dirty="0"/>
              <a:t> tendon apparatus</a:t>
            </a:r>
          </a:p>
        </p:txBody>
      </p:sp>
      <p:sp>
        <p:nvSpPr>
          <p:cNvPr id="3" name="Content Placeholder 2">
            <a:extLst>
              <a:ext uri="{FF2B5EF4-FFF2-40B4-BE49-F238E27FC236}">
                <a16:creationId xmlns:a16="http://schemas.microsoft.com/office/drawing/2014/main" id="{4DA1AAEB-9A26-32B0-D4C1-5D3856D3BCD6}"/>
              </a:ext>
            </a:extLst>
          </p:cNvPr>
          <p:cNvSpPr>
            <a:spLocks noGrp="1"/>
          </p:cNvSpPr>
          <p:nvPr>
            <p:ph idx="1"/>
          </p:nvPr>
        </p:nvSpPr>
        <p:spPr/>
        <p:txBody>
          <a:bodyPr vert="horz" lIns="91440" tIns="45720" rIns="91440" bIns="45720" rtlCol="0" anchor="t">
            <a:normAutofit/>
          </a:bodyPr>
          <a:lstStyle/>
          <a:p>
            <a:r>
              <a:rPr lang="en-GB" dirty="0">
                <a:cs typeface="Calibri"/>
              </a:rPr>
              <a:t>Detect </a:t>
            </a:r>
            <a:r>
              <a:rPr lang="en-GB" b="1" dirty="0">
                <a:cs typeface="Calibri"/>
              </a:rPr>
              <a:t>muscle tension</a:t>
            </a:r>
          </a:p>
          <a:p>
            <a:endParaRPr lang="en-GB" dirty="0">
              <a:cs typeface="Calibri"/>
            </a:endParaRPr>
          </a:p>
          <a:p>
            <a:r>
              <a:rPr lang="en-GB" dirty="0">
                <a:cs typeface="Calibri"/>
              </a:rPr>
              <a:t>10-15 muscle </a:t>
            </a:r>
            <a:r>
              <a:rPr lang="en-GB" dirty="0" err="1">
                <a:cs typeface="Calibri"/>
              </a:rPr>
              <a:t>fibers</a:t>
            </a:r>
            <a:r>
              <a:rPr lang="en-GB" dirty="0">
                <a:cs typeface="Calibri"/>
              </a:rPr>
              <a:t> for each Golgi tendon organ</a:t>
            </a:r>
          </a:p>
          <a:p>
            <a:endParaRPr lang="en-GB" dirty="0">
              <a:cs typeface="Calibri"/>
            </a:endParaRPr>
          </a:p>
          <a:p>
            <a:r>
              <a:rPr lang="en-GB" dirty="0">
                <a:cs typeface="Calibri"/>
              </a:rPr>
              <a:t>Important for inhibitory reflex</a:t>
            </a:r>
          </a:p>
          <a:p>
            <a:endParaRPr lang="en-GB" dirty="0">
              <a:cs typeface="Calibri"/>
            </a:endParaRPr>
          </a:p>
          <a:p>
            <a:r>
              <a:rPr lang="en-GB" dirty="0">
                <a:cs typeface="Calibri"/>
              </a:rPr>
              <a:t>Equalises the tension among muscle </a:t>
            </a:r>
            <a:r>
              <a:rPr lang="en-GB" dirty="0" err="1">
                <a:cs typeface="Calibri"/>
              </a:rPr>
              <a:t>fibers</a:t>
            </a:r>
            <a:endParaRPr lang="en-GB" dirty="0">
              <a:cs typeface="Calibri"/>
            </a:endParaRPr>
          </a:p>
          <a:p>
            <a:endParaRPr lang="en-GB" dirty="0">
              <a:cs typeface="Calibri"/>
            </a:endParaRPr>
          </a:p>
        </p:txBody>
      </p:sp>
      <p:pic>
        <p:nvPicPr>
          <p:cNvPr id="4" name="Picture 3">
            <a:extLst>
              <a:ext uri="{FF2B5EF4-FFF2-40B4-BE49-F238E27FC236}">
                <a16:creationId xmlns:a16="http://schemas.microsoft.com/office/drawing/2014/main" id="{1D4A406A-AE25-DFFF-C526-701F445F7AF8}"/>
              </a:ext>
            </a:extLst>
          </p:cNvPr>
          <p:cNvPicPr>
            <a:picLocks noChangeAspect="1"/>
          </p:cNvPicPr>
          <p:nvPr/>
        </p:nvPicPr>
        <p:blipFill rotWithShape="1">
          <a:blip r:embed="rId2"/>
          <a:srcRect l="34441" t="64204" r="34206" b="4996"/>
          <a:stretch/>
        </p:blipFill>
        <p:spPr>
          <a:xfrm>
            <a:off x="7578000" y="1087200"/>
            <a:ext cx="3679477" cy="5138806"/>
          </a:xfrm>
          <a:prstGeom prst="rect">
            <a:avLst/>
          </a:prstGeom>
        </p:spPr>
      </p:pic>
    </p:spTree>
    <p:extLst>
      <p:ext uri="{BB962C8B-B14F-4D97-AF65-F5344CB8AC3E}">
        <p14:creationId xmlns:p14="http://schemas.microsoft.com/office/powerpoint/2010/main" val="2159203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AEFAB-DAB6-F358-B087-DDC81DB55F25}"/>
              </a:ext>
            </a:extLst>
          </p:cNvPr>
          <p:cNvSpPr>
            <a:spLocks noGrp="1"/>
          </p:cNvSpPr>
          <p:nvPr>
            <p:ph type="title"/>
          </p:nvPr>
        </p:nvSpPr>
        <p:spPr/>
        <p:txBody>
          <a:bodyPr/>
          <a:lstStyle/>
          <a:p>
            <a:r>
              <a:rPr lang="en-GB" dirty="0"/>
              <a:t>Tactile receptors: skin</a:t>
            </a:r>
          </a:p>
        </p:txBody>
      </p:sp>
      <p:graphicFrame>
        <p:nvGraphicFramePr>
          <p:cNvPr id="4" name="Table 4">
            <a:extLst>
              <a:ext uri="{FF2B5EF4-FFF2-40B4-BE49-F238E27FC236}">
                <a16:creationId xmlns:a16="http://schemas.microsoft.com/office/drawing/2014/main" id="{B3C3A79D-BD24-D1F5-4AD5-A5D5C9E860B0}"/>
              </a:ext>
            </a:extLst>
          </p:cNvPr>
          <p:cNvGraphicFramePr>
            <a:graphicFrameLocks noGrp="1"/>
          </p:cNvGraphicFramePr>
          <p:nvPr>
            <p:ph idx="1"/>
            <p:extLst>
              <p:ext uri="{D42A27DB-BD31-4B8C-83A1-F6EECF244321}">
                <p14:modId xmlns:p14="http://schemas.microsoft.com/office/powerpoint/2010/main" val="2770066043"/>
              </p:ext>
            </p:extLst>
          </p:nvPr>
        </p:nvGraphicFramePr>
        <p:xfrm>
          <a:off x="390528" y="1041400"/>
          <a:ext cx="11410944" cy="5615525"/>
        </p:xfrm>
        <a:graphic>
          <a:graphicData uri="http://schemas.openxmlformats.org/drawingml/2006/table">
            <a:tbl>
              <a:tblPr firstRow="1" bandRow="1">
                <a:tableStyleId>{5C22544A-7EE6-4342-B048-85BDC9FD1C3A}</a:tableStyleId>
              </a:tblPr>
              <a:tblGrid>
                <a:gridCol w="1901824">
                  <a:extLst>
                    <a:ext uri="{9D8B030D-6E8A-4147-A177-3AD203B41FA5}">
                      <a16:colId xmlns:a16="http://schemas.microsoft.com/office/drawing/2014/main" val="1641879017"/>
                    </a:ext>
                  </a:extLst>
                </a:gridCol>
                <a:gridCol w="1901824">
                  <a:extLst>
                    <a:ext uri="{9D8B030D-6E8A-4147-A177-3AD203B41FA5}">
                      <a16:colId xmlns:a16="http://schemas.microsoft.com/office/drawing/2014/main" val="3395051637"/>
                    </a:ext>
                  </a:extLst>
                </a:gridCol>
                <a:gridCol w="1901824">
                  <a:extLst>
                    <a:ext uri="{9D8B030D-6E8A-4147-A177-3AD203B41FA5}">
                      <a16:colId xmlns:a16="http://schemas.microsoft.com/office/drawing/2014/main" val="1744116307"/>
                    </a:ext>
                  </a:extLst>
                </a:gridCol>
                <a:gridCol w="1901824">
                  <a:extLst>
                    <a:ext uri="{9D8B030D-6E8A-4147-A177-3AD203B41FA5}">
                      <a16:colId xmlns:a16="http://schemas.microsoft.com/office/drawing/2014/main" val="4087388"/>
                    </a:ext>
                  </a:extLst>
                </a:gridCol>
                <a:gridCol w="1901824">
                  <a:extLst>
                    <a:ext uri="{9D8B030D-6E8A-4147-A177-3AD203B41FA5}">
                      <a16:colId xmlns:a16="http://schemas.microsoft.com/office/drawing/2014/main" val="549107344"/>
                    </a:ext>
                  </a:extLst>
                </a:gridCol>
                <a:gridCol w="1901824">
                  <a:extLst>
                    <a:ext uri="{9D8B030D-6E8A-4147-A177-3AD203B41FA5}">
                      <a16:colId xmlns:a16="http://schemas.microsoft.com/office/drawing/2014/main" val="2120529324"/>
                    </a:ext>
                  </a:extLst>
                </a:gridCol>
              </a:tblGrid>
              <a:tr h="810278">
                <a:tc>
                  <a:txBody>
                    <a:bodyPr/>
                    <a:lstStyle/>
                    <a:p>
                      <a:r>
                        <a:rPr lang="en-GB" sz="2400" b="0" dirty="0">
                          <a:latin typeface="Calibri (Body)"/>
                        </a:rPr>
                        <a:t>Receptor</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Nerve </a:t>
                      </a:r>
                      <a:r>
                        <a:rPr lang="en-GB" sz="2400" b="0" dirty="0" err="1">
                          <a:latin typeface="Calibri (Body)"/>
                        </a:rPr>
                        <a:t>Fiber</a:t>
                      </a:r>
                      <a:endParaRPr lang="en-GB" sz="2400" b="0" dirty="0">
                        <a:latin typeface="Calibri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Adaptation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Stimulus</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1A069"/>
                    </a:solidFill>
                  </a:tcPr>
                </a:tc>
                <a:extLst>
                  <a:ext uri="{0D108BD9-81ED-4DB2-BD59-A6C34878D82A}">
                    <a16:rowId xmlns:a16="http://schemas.microsoft.com/office/drawing/2014/main" val="4286220956"/>
                  </a:ext>
                </a:extLst>
              </a:tr>
              <a:tr h="716735">
                <a:tc>
                  <a:txBody>
                    <a:bodyPr/>
                    <a:lstStyle/>
                    <a:p>
                      <a:r>
                        <a:rPr lang="en-GB" dirty="0"/>
                        <a:t>Free-nerve endings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err="1"/>
                        <a:t>Skin,cornea</a:t>
                      </a:r>
                      <a:r>
                        <a:rPr lang="en-GB" dirty="0"/>
                        <a:t> and others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A</a:t>
                      </a:r>
                      <a:r>
                        <a:rPr lang="en-GB" dirty="0">
                          <a:latin typeface="Symbol" panose="05050102010706020507" pitchFamily="18" charset="2"/>
                        </a:rPr>
                        <a:t>d</a:t>
                      </a:r>
                      <a:r>
                        <a:rPr lang="en-GB" dirty="0"/>
                        <a:t> and C-fibres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0.5-2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Touch and pressure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351498"/>
                  </a:ext>
                </a:extLst>
              </a:tr>
              <a:tr h="716735">
                <a:tc>
                  <a:txBody>
                    <a:bodyPr/>
                    <a:lstStyle/>
                    <a:p>
                      <a:r>
                        <a:rPr lang="en-GB" dirty="0"/>
                        <a:t>Meissner’s corpuscle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Non-hairy skin (fingertips)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Movement and vibration</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1282055"/>
                  </a:ext>
                </a:extLst>
              </a:tr>
              <a:tr h="1023907">
                <a:tc>
                  <a:txBody>
                    <a:bodyPr/>
                    <a:lstStyle/>
                    <a:p>
                      <a:r>
                        <a:rPr lang="en-GB" dirty="0"/>
                        <a:t>Merkel’s disc</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Non-hairy (fingertips) and hairy (low) skin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Composite (fast + 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Tactile acuity (object features)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5979627"/>
                  </a:ext>
                </a:extLst>
              </a:tr>
              <a:tr h="716735">
                <a:tc>
                  <a:txBody>
                    <a:bodyPr/>
                    <a:lstStyle/>
                    <a:p>
                      <a:r>
                        <a:rPr lang="en-GB" dirty="0"/>
                        <a:t>Tactile hair</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Skin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and A</a:t>
                      </a:r>
                      <a:r>
                        <a:rPr lang="en-GB" dirty="0">
                          <a:latin typeface="Symbol" panose="05050102010706020507" pitchFamily="18" charset="2"/>
                        </a:rPr>
                        <a:t>g</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10-80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Movement and initial contact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1488367"/>
                  </a:ext>
                </a:extLst>
              </a:tr>
              <a:tr h="583111">
                <a:tc>
                  <a:txBody>
                    <a:bodyPr/>
                    <a:lstStyle/>
                    <a:p>
                      <a:r>
                        <a:rPr lang="en-GB" dirty="0"/>
                        <a:t>Ruffini’s endings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Deep skin, internal tissues, joint capsule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Prolonged touch and pressure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539841"/>
                  </a:ext>
                </a:extLst>
              </a:tr>
              <a:tr h="71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Pacinian corpuscle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F3"/>
                    </a:solidFill>
                  </a:tcPr>
                </a:tc>
                <a:tc>
                  <a:txBody>
                    <a:bodyPr/>
                    <a:lstStyle/>
                    <a:p>
                      <a:r>
                        <a:rPr lang="en-GB" dirty="0"/>
                        <a:t>Below skin, deep fascial tissues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Rapid tissue compression</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527246257"/>
                  </a:ext>
                </a:extLst>
              </a:tr>
            </a:tbl>
          </a:graphicData>
        </a:graphic>
      </p:graphicFrame>
    </p:spTree>
    <p:extLst>
      <p:ext uri="{BB962C8B-B14F-4D97-AF65-F5344CB8AC3E}">
        <p14:creationId xmlns:p14="http://schemas.microsoft.com/office/powerpoint/2010/main" val="2489169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AEFAB-DAB6-F358-B087-DDC81DB55F25}"/>
              </a:ext>
            </a:extLst>
          </p:cNvPr>
          <p:cNvSpPr>
            <a:spLocks noGrp="1"/>
          </p:cNvSpPr>
          <p:nvPr>
            <p:ph type="title"/>
          </p:nvPr>
        </p:nvSpPr>
        <p:spPr/>
        <p:txBody>
          <a:bodyPr/>
          <a:lstStyle/>
          <a:p>
            <a:r>
              <a:rPr lang="en-GB" dirty="0"/>
              <a:t>Tactile receptors: Muscle and joints</a:t>
            </a:r>
          </a:p>
        </p:txBody>
      </p:sp>
      <p:graphicFrame>
        <p:nvGraphicFramePr>
          <p:cNvPr id="4" name="Table 4">
            <a:extLst>
              <a:ext uri="{FF2B5EF4-FFF2-40B4-BE49-F238E27FC236}">
                <a16:creationId xmlns:a16="http://schemas.microsoft.com/office/drawing/2014/main" id="{B3C3A79D-BD24-D1F5-4AD5-A5D5C9E860B0}"/>
              </a:ext>
            </a:extLst>
          </p:cNvPr>
          <p:cNvGraphicFramePr>
            <a:graphicFrameLocks noGrp="1"/>
          </p:cNvGraphicFramePr>
          <p:nvPr>
            <p:ph idx="1"/>
            <p:extLst>
              <p:ext uri="{D42A27DB-BD31-4B8C-83A1-F6EECF244321}">
                <p14:modId xmlns:p14="http://schemas.microsoft.com/office/powerpoint/2010/main" val="1661650536"/>
              </p:ext>
            </p:extLst>
          </p:nvPr>
        </p:nvGraphicFramePr>
        <p:xfrm>
          <a:off x="390528" y="1041400"/>
          <a:ext cx="11410944" cy="3600563"/>
        </p:xfrm>
        <a:graphic>
          <a:graphicData uri="http://schemas.openxmlformats.org/drawingml/2006/table">
            <a:tbl>
              <a:tblPr firstRow="1" bandRow="1">
                <a:tableStyleId>{5C22544A-7EE6-4342-B048-85BDC9FD1C3A}</a:tableStyleId>
              </a:tblPr>
              <a:tblGrid>
                <a:gridCol w="1901824">
                  <a:extLst>
                    <a:ext uri="{9D8B030D-6E8A-4147-A177-3AD203B41FA5}">
                      <a16:colId xmlns:a16="http://schemas.microsoft.com/office/drawing/2014/main" val="1641879017"/>
                    </a:ext>
                  </a:extLst>
                </a:gridCol>
                <a:gridCol w="1901824">
                  <a:extLst>
                    <a:ext uri="{9D8B030D-6E8A-4147-A177-3AD203B41FA5}">
                      <a16:colId xmlns:a16="http://schemas.microsoft.com/office/drawing/2014/main" val="3395051637"/>
                    </a:ext>
                  </a:extLst>
                </a:gridCol>
                <a:gridCol w="1901824">
                  <a:extLst>
                    <a:ext uri="{9D8B030D-6E8A-4147-A177-3AD203B41FA5}">
                      <a16:colId xmlns:a16="http://schemas.microsoft.com/office/drawing/2014/main" val="1744116307"/>
                    </a:ext>
                  </a:extLst>
                </a:gridCol>
                <a:gridCol w="1901824">
                  <a:extLst>
                    <a:ext uri="{9D8B030D-6E8A-4147-A177-3AD203B41FA5}">
                      <a16:colId xmlns:a16="http://schemas.microsoft.com/office/drawing/2014/main" val="4087388"/>
                    </a:ext>
                  </a:extLst>
                </a:gridCol>
                <a:gridCol w="1901824">
                  <a:extLst>
                    <a:ext uri="{9D8B030D-6E8A-4147-A177-3AD203B41FA5}">
                      <a16:colId xmlns:a16="http://schemas.microsoft.com/office/drawing/2014/main" val="549107344"/>
                    </a:ext>
                  </a:extLst>
                </a:gridCol>
                <a:gridCol w="1901824">
                  <a:extLst>
                    <a:ext uri="{9D8B030D-6E8A-4147-A177-3AD203B41FA5}">
                      <a16:colId xmlns:a16="http://schemas.microsoft.com/office/drawing/2014/main" val="2120529324"/>
                    </a:ext>
                  </a:extLst>
                </a:gridCol>
              </a:tblGrid>
              <a:tr h="810278">
                <a:tc>
                  <a:txBody>
                    <a:bodyPr/>
                    <a:lstStyle/>
                    <a:p>
                      <a:r>
                        <a:rPr lang="en-GB" sz="2400" b="0" dirty="0">
                          <a:latin typeface="Calibri (Body)"/>
                        </a:rPr>
                        <a:t>Receptor</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Nerve </a:t>
                      </a:r>
                      <a:r>
                        <a:rPr lang="en-GB" sz="2400" b="0" dirty="0" err="1">
                          <a:latin typeface="Calibri (Body)"/>
                        </a:rPr>
                        <a:t>Fiber</a:t>
                      </a:r>
                      <a:endParaRPr lang="en-GB" sz="2400" b="0" dirty="0">
                        <a:latin typeface="Calibri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Adaptation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1A069"/>
                    </a:solidFill>
                  </a:tcPr>
                </a:tc>
                <a:tc>
                  <a:txBody>
                    <a:bodyPr/>
                    <a:lstStyle/>
                    <a:p>
                      <a:r>
                        <a:rPr lang="en-GB" sz="2400" b="0" dirty="0">
                          <a:latin typeface="Calibri (Body)"/>
                        </a:rPr>
                        <a:t>Stimulus</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1A069"/>
                    </a:solidFill>
                  </a:tcPr>
                </a:tc>
                <a:extLst>
                  <a:ext uri="{0D108BD9-81ED-4DB2-BD59-A6C34878D82A}">
                    <a16:rowId xmlns:a16="http://schemas.microsoft.com/office/drawing/2014/main" val="4286220956"/>
                  </a:ext>
                </a:extLst>
              </a:tr>
              <a:tr h="716735">
                <a:tc>
                  <a:txBody>
                    <a:bodyPr/>
                    <a:lstStyle/>
                    <a:p>
                      <a:r>
                        <a:rPr lang="en-GB" dirty="0"/>
                        <a:t>Muscle spindle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Intrafusal muscle </a:t>
                      </a:r>
                      <a:r>
                        <a:rPr lang="en-GB" dirty="0" err="1"/>
                        <a:t>fibers</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a</a:t>
                      </a:r>
                      <a:r>
                        <a:rPr lang="en-GB" dirty="0"/>
                        <a:t> and 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70-120 m/s and 30-65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Slow and 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Position and movement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351498"/>
                  </a:ext>
                </a:extLst>
              </a:tr>
              <a:tr h="583111">
                <a:tc>
                  <a:txBody>
                    <a:bodyPr/>
                    <a:lstStyle/>
                    <a:p>
                      <a:r>
                        <a:rPr lang="en-GB" dirty="0"/>
                        <a:t>Ruffini’s endings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Joint capsule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Joint capsule stretch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539841"/>
                  </a:ext>
                </a:extLst>
              </a:tr>
              <a:tr h="71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Pacinian corpuscle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3"/>
                    </a:solidFill>
                  </a:tcPr>
                </a:tc>
                <a:tc>
                  <a:txBody>
                    <a:bodyPr/>
                    <a:lstStyle/>
                    <a:p>
                      <a:r>
                        <a:rPr lang="en-GB" dirty="0"/>
                        <a:t>Joint capsule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b</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30-70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Joint capsule compression</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246257"/>
                  </a:ext>
                </a:extLst>
              </a:tr>
              <a:tr h="71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Golgi tendon apparatus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F3"/>
                    </a:solidFill>
                  </a:tcPr>
                </a:tc>
                <a:tc>
                  <a:txBody>
                    <a:bodyPr/>
                    <a:lstStyle/>
                    <a:p>
                      <a:r>
                        <a:rPr lang="en-GB" dirty="0"/>
                        <a:t>Tendons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a:t>
                      </a:r>
                      <a:r>
                        <a:rPr lang="en-GB" dirty="0">
                          <a:latin typeface="Symbol" panose="05050102010706020507" pitchFamily="18" charset="2"/>
                        </a:rPr>
                        <a:t>a</a:t>
                      </a:r>
                      <a:r>
                        <a:rPr lang="en-GB" dirty="0"/>
                        <a:t> fibres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70-120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GB" dirty="0"/>
                        <a:t>Muscle tendons stretch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67716805"/>
                  </a:ext>
                </a:extLst>
              </a:tr>
            </a:tbl>
          </a:graphicData>
        </a:graphic>
      </p:graphicFrame>
    </p:spTree>
    <p:extLst>
      <p:ext uri="{BB962C8B-B14F-4D97-AF65-F5344CB8AC3E}">
        <p14:creationId xmlns:p14="http://schemas.microsoft.com/office/powerpoint/2010/main" val="3483017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06FF-4E6B-A01A-9D5A-F98D15A6A3D0}"/>
              </a:ext>
            </a:extLst>
          </p:cNvPr>
          <p:cNvSpPr>
            <a:spLocks noGrp="1"/>
          </p:cNvSpPr>
          <p:nvPr>
            <p:ph type="title"/>
          </p:nvPr>
        </p:nvSpPr>
        <p:spPr/>
        <p:txBody>
          <a:bodyPr/>
          <a:lstStyle/>
          <a:p>
            <a:r>
              <a:rPr lang="en-GB" dirty="0">
                <a:cs typeface="Calibri Light"/>
              </a:rPr>
              <a:t>Tactile receptors: signal to the brain</a:t>
            </a:r>
            <a:endParaRPr lang="en-GB" dirty="0"/>
          </a:p>
        </p:txBody>
      </p:sp>
      <p:sp>
        <p:nvSpPr>
          <p:cNvPr id="3" name="Content Placeholder 2">
            <a:extLst>
              <a:ext uri="{FF2B5EF4-FFF2-40B4-BE49-F238E27FC236}">
                <a16:creationId xmlns:a16="http://schemas.microsoft.com/office/drawing/2014/main" id="{144AD44F-50A4-8361-D5D4-031F2C09C70F}"/>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97DBF1F0-2C40-43BD-A692-32E08792021A}"/>
              </a:ext>
            </a:extLst>
          </p:cNvPr>
          <p:cNvPicPr>
            <a:picLocks noChangeAspect="1"/>
          </p:cNvPicPr>
          <p:nvPr/>
        </p:nvPicPr>
        <p:blipFill>
          <a:blip r:embed="rId2"/>
          <a:stretch>
            <a:fillRect/>
          </a:stretch>
        </p:blipFill>
        <p:spPr>
          <a:xfrm>
            <a:off x="1425678" y="996296"/>
            <a:ext cx="4119716" cy="5617574"/>
          </a:xfrm>
          <a:prstGeom prst="rect">
            <a:avLst/>
          </a:prstGeom>
        </p:spPr>
      </p:pic>
      <p:pic>
        <p:nvPicPr>
          <p:cNvPr id="4" name="Picture 3">
            <a:extLst>
              <a:ext uri="{FF2B5EF4-FFF2-40B4-BE49-F238E27FC236}">
                <a16:creationId xmlns:a16="http://schemas.microsoft.com/office/drawing/2014/main" id="{B65E4DBE-91A0-E3F7-F942-F12392D04844}"/>
              </a:ext>
            </a:extLst>
          </p:cNvPr>
          <p:cNvPicPr>
            <a:picLocks noChangeAspect="1"/>
          </p:cNvPicPr>
          <p:nvPr/>
        </p:nvPicPr>
        <p:blipFill>
          <a:blip r:embed="rId3"/>
          <a:stretch>
            <a:fillRect/>
          </a:stretch>
        </p:blipFill>
        <p:spPr>
          <a:xfrm>
            <a:off x="7334344" y="646472"/>
            <a:ext cx="3394934" cy="4029652"/>
          </a:xfrm>
          <a:prstGeom prst="rect">
            <a:avLst/>
          </a:prstGeom>
        </p:spPr>
      </p:pic>
      <p:pic>
        <p:nvPicPr>
          <p:cNvPr id="6" name="Picture 5">
            <a:extLst>
              <a:ext uri="{FF2B5EF4-FFF2-40B4-BE49-F238E27FC236}">
                <a16:creationId xmlns:a16="http://schemas.microsoft.com/office/drawing/2014/main" id="{F9836790-B6E2-C96F-BC38-8DFFD95436DD}"/>
              </a:ext>
            </a:extLst>
          </p:cNvPr>
          <p:cNvPicPr>
            <a:picLocks noChangeAspect="1"/>
          </p:cNvPicPr>
          <p:nvPr/>
        </p:nvPicPr>
        <p:blipFill>
          <a:blip r:embed="rId4"/>
          <a:stretch>
            <a:fillRect/>
          </a:stretch>
        </p:blipFill>
        <p:spPr>
          <a:xfrm>
            <a:off x="7343295" y="4019240"/>
            <a:ext cx="3451122" cy="2487884"/>
          </a:xfrm>
          <a:prstGeom prst="rect">
            <a:avLst/>
          </a:prstGeom>
        </p:spPr>
      </p:pic>
    </p:spTree>
    <p:extLst>
      <p:ext uri="{BB962C8B-B14F-4D97-AF65-F5344CB8AC3E}">
        <p14:creationId xmlns:p14="http://schemas.microsoft.com/office/powerpoint/2010/main" val="3631948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AA3D-BAC2-2F77-9BE2-B1C759F23FEF}"/>
              </a:ext>
            </a:extLst>
          </p:cNvPr>
          <p:cNvSpPr>
            <a:spLocks noGrp="1"/>
          </p:cNvSpPr>
          <p:nvPr>
            <p:ph type="title"/>
          </p:nvPr>
        </p:nvSpPr>
        <p:spPr/>
        <p:txBody>
          <a:bodyPr/>
          <a:lstStyle/>
          <a:p>
            <a:r>
              <a:rPr lang="en-GB" dirty="0"/>
              <a:t>Tactile receptors in proprioception: muscle spindle</a:t>
            </a:r>
          </a:p>
        </p:txBody>
      </p:sp>
      <p:pic>
        <p:nvPicPr>
          <p:cNvPr id="9" name="Picture 8">
            <a:extLst>
              <a:ext uri="{FF2B5EF4-FFF2-40B4-BE49-F238E27FC236}">
                <a16:creationId xmlns:a16="http://schemas.microsoft.com/office/drawing/2014/main" id="{1074393B-2B96-6802-4208-564F045B02CF}"/>
              </a:ext>
            </a:extLst>
          </p:cNvPr>
          <p:cNvPicPr>
            <a:picLocks noChangeAspect="1"/>
          </p:cNvPicPr>
          <p:nvPr/>
        </p:nvPicPr>
        <p:blipFill>
          <a:blip r:embed="rId3"/>
          <a:stretch>
            <a:fillRect/>
          </a:stretch>
        </p:blipFill>
        <p:spPr>
          <a:xfrm>
            <a:off x="3139694" y="951271"/>
            <a:ext cx="6045962" cy="5717508"/>
          </a:xfrm>
          <a:prstGeom prst="rect">
            <a:avLst/>
          </a:prstGeom>
        </p:spPr>
      </p:pic>
      <p:sp>
        <p:nvSpPr>
          <p:cNvPr id="8" name="Content Placeholder 7">
            <a:extLst>
              <a:ext uri="{FF2B5EF4-FFF2-40B4-BE49-F238E27FC236}">
                <a16:creationId xmlns:a16="http://schemas.microsoft.com/office/drawing/2014/main" id="{576C594B-5E9D-EA5B-A749-77FCAB4D875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115986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E12BB4-65D5-8D48-898B-BB6B60561B05}"/>
              </a:ext>
            </a:extLst>
          </p:cNvPr>
          <p:cNvSpPr>
            <a:spLocks noGrp="1"/>
          </p:cNvSpPr>
          <p:nvPr>
            <p:ph type="title"/>
          </p:nvPr>
        </p:nvSpPr>
        <p:spPr/>
        <p:txBody>
          <a:bodyPr/>
          <a:lstStyle/>
          <a:p>
            <a:r>
              <a:rPr lang="it-IT" dirty="0"/>
              <a:t>Muscle reflexes</a:t>
            </a:r>
          </a:p>
        </p:txBody>
      </p:sp>
      <p:pic>
        <p:nvPicPr>
          <p:cNvPr id="4" name="Immagine 4">
            <a:extLst>
              <a:ext uri="{FF2B5EF4-FFF2-40B4-BE49-F238E27FC236}">
                <a16:creationId xmlns:a16="http://schemas.microsoft.com/office/drawing/2014/main" id="{F0AA2DB0-6560-F3B7-E623-1C7F39752B65}"/>
              </a:ext>
            </a:extLst>
          </p:cNvPr>
          <p:cNvPicPr>
            <a:picLocks noGrp="1" noChangeAspect="1"/>
          </p:cNvPicPr>
          <p:nvPr>
            <p:ph idx="1"/>
          </p:nvPr>
        </p:nvPicPr>
        <p:blipFill>
          <a:blip r:embed="rId2"/>
          <a:stretch>
            <a:fillRect/>
          </a:stretch>
        </p:blipFill>
        <p:spPr>
          <a:xfrm>
            <a:off x="5714999" y="994270"/>
            <a:ext cx="4508502" cy="5567960"/>
          </a:xfrm>
        </p:spPr>
      </p:pic>
      <p:pic>
        <p:nvPicPr>
          <p:cNvPr id="5" name="Immagine 5">
            <a:extLst>
              <a:ext uri="{FF2B5EF4-FFF2-40B4-BE49-F238E27FC236}">
                <a16:creationId xmlns:a16="http://schemas.microsoft.com/office/drawing/2014/main" id="{17392A63-4C68-6A2C-5234-D6B28C0B733D}"/>
              </a:ext>
            </a:extLst>
          </p:cNvPr>
          <p:cNvPicPr>
            <a:picLocks noChangeAspect="1"/>
          </p:cNvPicPr>
          <p:nvPr/>
        </p:nvPicPr>
        <p:blipFill>
          <a:blip r:embed="rId3"/>
          <a:stretch>
            <a:fillRect/>
          </a:stretch>
        </p:blipFill>
        <p:spPr>
          <a:xfrm>
            <a:off x="1322307" y="3628530"/>
            <a:ext cx="3337086" cy="2933700"/>
          </a:xfrm>
          <a:prstGeom prst="rect">
            <a:avLst/>
          </a:prstGeom>
        </p:spPr>
      </p:pic>
      <p:pic>
        <p:nvPicPr>
          <p:cNvPr id="6" name="Picture 5">
            <a:extLst>
              <a:ext uri="{FF2B5EF4-FFF2-40B4-BE49-F238E27FC236}">
                <a16:creationId xmlns:a16="http://schemas.microsoft.com/office/drawing/2014/main" id="{12C3BC0D-795B-577E-190F-EE7E047D8DBD}"/>
              </a:ext>
            </a:extLst>
          </p:cNvPr>
          <p:cNvPicPr>
            <a:picLocks noChangeAspect="1"/>
          </p:cNvPicPr>
          <p:nvPr/>
        </p:nvPicPr>
        <p:blipFill>
          <a:blip r:embed="rId4"/>
          <a:stretch>
            <a:fillRect/>
          </a:stretch>
        </p:blipFill>
        <p:spPr>
          <a:xfrm>
            <a:off x="1098396" y="1174750"/>
            <a:ext cx="3302308" cy="2254250"/>
          </a:xfrm>
          <a:prstGeom prst="rect">
            <a:avLst/>
          </a:prstGeom>
        </p:spPr>
      </p:pic>
    </p:spTree>
    <p:extLst>
      <p:ext uri="{BB962C8B-B14F-4D97-AF65-F5344CB8AC3E}">
        <p14:creationId xmlns:p14="http://schemas.microsoft.com/office/powerpoint/2010/main" val="604979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 hearing</a:t>
            </a:r>
          </a:p>
        </p:txBody>
      </p:sp>
      <p:sp>
        <p:nvSpPr>
          <p:cNvPr id="10" name="TextBox 9">
            <a:extLst>
              <a:ext uri="{FF2B5EF4-FFF2-40B4-BE49-F238E27FC236}">
                <a16:creationId xmlns:a16="http://schemas.microsoft.com/office/drawing/2014/main" id="{F631DA36-BF97-0B25-39DF-6E5A52DED633}"/>
              </a:ext>
            </a:extLst>
          </p:cNvPr>
          <p:cNvSpPr txBox="1"/>
          <p:nvPr/>
        </p:nvSpPr>
        <p:spPr>
          <a:xfrm>
            <a:off x="2592780" y="4007920"/>
            <a:ext cx="9797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solidFill>
                  <a:schemeClr val="accent1">
                    <a:lumMod val="75000"/>
                  </a:schemeClr>
                </a:solidFill>
                <a:cs typeface="Calibri"/>
              </a:rPr>
              <a:t>Hearing</a:t>
            </a:r>
            <a:endParaRPr lang="en-GB" b="1" dirty="0">
              <a:solidFill>
                <a:schemeClr val="accent1">
                  <a:lumMod val="75000"/>
                </a:schemeClr>
              </a:solidFill>
            </a:endParaRPr>
          </a:p>
        </p:txBody>
      </p:sp>
      <p:pic>
        <p:nvPicPr>
          <p:cNvPr id="7" name="Picture 6" descr="A picture containing text, transport, wheel, gear&#10;&#10;Description automatically generated">
            <a:extLst>
              <a:ext uri="{FF2B5EF4-FFF2-40B4-BE49-F238E27FC236}">
                <a16:creationId xmlns:a16="http://schemas.microsoft.com/office/drawing/2014/main" id="{FCB20A2F-8707-30D5-9FD8-D1A4D6167182}"/>
              </a:ext>
            </a:extLst>
          </p:cNvPr>
          <p:cNvPicPr>
            <a:picLocks noChangeAspect="1"/>
          </p:cNvPicPr>
          <p:nvPr/>
        </p:nvPicPr>
        <p:blipFill rotWithShape="1">
          <a:blip r:embed="rId2"/>
          <a:srcRect b="69021"/>
          <a:stretch/>
        </p:blipFill>
        <p:spPr>
          <a:xfrm>
            <a:off x="3585600" y="1192481"/>
            <a:ext cx="5030930" cy="5170219"/>
          </a:xfrm>
          <a:prstGeom prst="rect">
            <a:avLst/>
          </a:prstGeom>
        </p:spPr>
      </p:pic>
    </p:spTree>
    <p:extLst>
      <p:ext uri="{BB962C8B-B14F-4D97-AF65-F5344CB8AC3E}">
        <p14:creationId xmlns:p14="http://schemas.microsoft.com/office/powerpoint/2010/main" val="1036250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A9A67D-24F1-0CC7-F158-B098F549F3AE}"/>
              </a:ext>
            </a:extLst>
          </p:cNvPr>
          <p:cNvSpPr>
            <a:spLocks noGrp="1"/>
          </p:cNvSpPr>
          <p:nvPr>
            <p:ph type="title"/>
          </p:nvPr>
        </p:nvSpPr>
        <p:spPr/>
        <p:txBody>
          <a:bodyPr/>
          <a:lstStyle/>
          <a:p>
            <a:r>
              <a:rPr lang="it-IT" dirty="0">
                <a:cs typeface="Calibri Light"/>
              </a:rPr>
              <a:t>Hearing</a:t>
            </a:r>
            <a:endParaRPr lang="it-IT" dirty="0"/>
          </a:p>
        </p:txBody>
      </p:sp>
      <p:sp>
        <p:nvSpPr>
          <p:cNvPr id="3" name="Segnaposto contenuto 2">
            <a:extLst>
              <a:ext uri="{FF2B5EF4-FFF2-40B4-BE49-F238E27FC236}">
                <a16:creationId xmlns:a16="http://schemas.microsoft.com/office/drawing/2014/main" id="{F27E8519-6D47-153A-3098-A9332731356B}"/>
              </a:ext>
            </a:extLst>
          </p:cNvPr>
          <p:cNvSpPr>
            <a:spLocks noGrp="1"/>
          </p:cNvSpPr>
          <p:nvPr>
            <p:ph idx="1"/>
          </p:nvPr>
        </p:nvSpPr>
        <p:spPr/>
        <p:txBody>
          <a:bodyPr vert="horz" lIns="91440" tIns="45720" rIns="91440" bIns="45720" rtlCol="0" anchor="t">
            <a:normAutofit/>
          </a:bodyPr>
          <a:lstStyle/>
          <a:p>
            <a:r>
              <a:rPr lang="en-GB" dirty="0">
                <a:cs typeface="Calibri"/>
              </a:rPr>
              <a:t>Tympanic membrane (ear drum)</a:t>
            </a:r>
          </a:p>
          <a:p>
            <a:r>
              <a:rPr lang="en-GB" dirty="0">
                <a:cs typeface="Calibri"/>
              </a:rPr>
              <a:t>Ossicles</a:t>
            </a:r>
          </a:p>
          <a:p>
            <a:pPr lvl="1"/>
            <a:r>
              <a:rPr lang="en-GB" dirty="0">
                <a:cs typeface="Calibri"/>
              </a:rPr>
              <a:t>Malleus</a:t>
            </a:r>
          </a:p>
          <a:p>
            <a:pPr lvl="1"/>
            <a:r>
              <a:rPr lang="en-GB" dirty="0">
                <a:cs typeface="Calibri"/>
              </a:rPr>
              <a:t>Incus</a:t>
            </a:r>
          </a:p>
          <a:p>
            <a:pPr lvl="1"/>
            <a:r>
              <a:rPr lang="en-GB" dirty="0">
                <a:cs typeface="Calibri"/>
              </a:rPr>
              <a:t>Stapes</a:t>
            </a:r>
          </a:p>
          <a:p>
            <a:r>
              <a:rPr lang="en-GB" dirty="0">
                <a:cs typeface="Calibri"/>
              </a:rPr>
              <a:t>Cochlea (inner ear)</a:t>
            </a:r>
          </a:p>
          <a:p>
            <a:pPr lvl="1"/>
            <a:r>
              <a:rPr lang="en-GB" dirty="0">
                <a:cs typeface="Calibri"/>
              </a:rPr>
              <a:t>Oval window</a:t>
            </a:r>
          </a:p>
          <a:p>
            <a:pPr lvl="1"/>
            <a:r>
              <a:rPr lang="en-GB" dirty="0">
                <a:cs typeface="Calibri"/>
              </a:rPr>
              <a:t>Membranous labyrinth</a:t>
            </a:r>
          </a:p>
          <a:p>
            <a:pPr lvl="1"/>
            <a:endParaRPr lang="en-GB" dirty="0">
              <a:cs typeface="Calibri"/>
            </a:endParaRPr>
          </a:p>
        </p:txBody>
      </p:sp>
      <p:pic>
        <p:nvPicPr>
          <p:cNvPr id="10" name="Immagine 10">
            <a:extLst>
              <a:ext uri="{FF2B5EF4-FFF2-40B4-BE49-F238E27FC236}">
                <a16:creationId xmlns:a16="http://schemas.microsoft.com/office/drawing/2014/main" id="{6881610E-98DD-D6C8-AB36-8265635D5059}"/>
              </a:ext>
            </a:extLst>
          </p:cNvPr>
          <p:cNvPicPr>
            <a:picLocks noChangeAspect="1"/>
          </p:cNvPicPr>
          <p:nvPr/>
        </p:nvPicPr>
        <p:blipFill>
          <a:blip r:embed="rId2"/>
          <a:stretch>
            <a:fillRect/>
          </a:stretch>
        </p:blipFill>
        <p:spPr>
          <a:xfrm>
            <a:off x="5082523" y="1193777"/>
            <a:ext cx="6982956" cy="4901747"/>
          </a:xfrm>
          <a:prstGeom prst="rect">
            <a:avLst/>
          </a:prstGeom>
        </p:spPr>
      </p:pic>
    </p:spTree>
    <p:extLst>
      <p:ext uri="{BB962C8B-B14F-4D97-AF65-F5344CB8AC3E}">
        <p14:creationId xmlns:p14="http://schemas.microsoft.com/office/powerpoint/2010/main" val="3426969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A9A67D-24F1-0CC7-F158-B098F549F3AE}"/>
              </a:ext>
            </a:extLst>
          </p:cNvPr>
          <p:cNvSpPr>
            <a:spLocks noGrp="1"/>
          </p:cNvSpPr>
          <p:nvPr>
            <p:ph type="title"/>
          </p:nvPr>
        </p:nvSpPr>
        <p:spPr/>
        <p:txBody>
          <a:bodyPr/>
          <a:lstStyle/>
          <a:p>
            <a:r>
              <a:rPr lang="it-IT" dirty="0">
                <a:cs typeface="Calibri Light"/>
              </a:rPr>
              <a:t>Hearing: the ossicles</a:t>
            </a:r>
            <a:endParaRPr lang="it-IT" dirty="0"/>
          </a:p>
        </p:txBody>
      </p:sp>
      <p:sp>
        <p:nvSpPr>
          <p:cNvPr id="3" name="Segnaposto contenuto 2">
            <a:extLst>
              <a:ext uri="{FF2B5EF4-FFF2-40B4-BE49-F238E27FC236}">
                <a16:creationId xmlns:a16="http://schemas.microsoft.com/office/drawing/2014/main" id="{F27E8519-6D47-153A-3098-A9332731356B}"/>
              </a:ext>
            </a:extLst>
          </p:cNvPr>
          <p:cNvSpPr>
            <a:spLocks noGrp="1"/>
          </p:cNvSpPr>
          <p:nvPr>
            <p:ph idx="1"/>
          </p:nvPr>
        </p:nvSpPr>
        <p:spPr/>
        <p:txBody>
          <a:bodyPr vert="horz" lIns="91440" tIns="45720" rIns="91440" bIns="45720" rtlCol="0" anchor="t">
            <a:normAutofit/>
          </a:bodyPr>
          <a:lstStyle/>
          <a:p>
            <a:r>
              <a:rPr lang="en-GB" dirty="0">
                <a:cs typeface="Calibri"/>
              </a:rPr>
              <a:t>Tympanic membrane (ear drum)</a:t>
            </a:r>
          </a:p>
          <a:p>
            <a:r>
              <a:rPr lang="en-GB" b="1" dirty="0">
                <a:solidFill>
                  <a:schemeClr val="accent1">
                    <a:lumMod val="75000"/>
                  </a:schemeClr>
                </a:solidFill>
                <a:cs typeface="Calibri"/>
              </a:rPr>
              <a:t>Ossicles</a:t>
            </a:r>
          </a:p>
          <a:p>
            <a:pPr lvl="1"/>
            <a:r>
              <a:rPr lang="en-GB" dirty="0">
                <a:cs typeface="Calibri"/>
              </a:rPr>
              <a:t>Malleus</a:t>
            </a:r>
          </a:p>
          <a:p>
            <a:pPr lvl="1"/>
            <a:r>
              <a:rPr lang="en-GB" dirty="0">
                <a:cs typeface="Calibri"/>
              </a:rPr>
              <a:t>Incus</a:t>
            </a:r>
          </a:p>
          <a:p>
            <a:pPr lvl="1"/>
            <a:r>
              <a:rPr lang="en-GB" dirty="0">
                <a:cs typeface="Calibri"/>
              </a:rPr>
              <a:t>Stapes</a:t>
            </a:r>
          </a:p>
          <a:p>
            <a:r>
              <a:rPr lang="en-GB" dirty="0">
                <a:cs typeface="Calibri"/>
              </a:rPr>
              <a:t>Cochlea (inner ear)</a:t>
            </a:r>
          </a:p>
          <a:p>
            <a:pPr lvl="1"/>
            <a:r>
              <a:rPr lang="en-GB" dirty="0">
                <a:cs typeface="Calibri"/>
              </a:rPr>
              <a:t>Oval window</a:t>
            </a:r>
          </a:p>
          <a:p>
            <a:pPr lvl="1"/>
            <a:r>
              <a:rPr lang="en-GB" dirty="0">
                <a:cs typeface="Calibri"/>
              </a:rPr>
              <a:t>Membranous labyrinth</a:t>
            </a:r>
          </a:p>
          <a:p>
            <a:pPr lvl="1"/>
            <a:endParaRPr lang="en-GB" dirty="0">
              <a:cs typeface="Calibri"/>
            </a:endParaRPr>
          </a:p>
        </p:txBody>
      </p:sp>
      <p:pic>
        <p:nvPicPr>
          <p:cNvPr id="5" name="Immagine 5">
            <a:extLst>
              <a:ext uri="{FF2B5EF4-FFF2-40B4-BE49-F238E27FC236}">
                <a16:creationId xmlns:a16="http://schemas.microsoft.com/office/drawing/2014/main" id="{AE639E28-7135-DE0A-D641-74213111995B}"/>
              </a:ext>
            </a:extLst>
          </p:cNvPr>
          <p:cNvPicPr>
            <a:picLocks noChangeAspect="1"/>
          </p:cNvPicPr>
          <p:nvPr/>
        </p:nvPicPr>
        <p:blipFill>
          <a:blip r:embed="rId2"/>
          <a:stretch>
            <a:fillRect/>
          </a:stretch>
        </p:blipFill>
        <p:spPr>
          <a:xfrm>
            <a:off x="5825067" y="1365846"/>
            <a:ext cx="6082829" cy="4615492"/>
          </a:xfrm>
          <a:prstGeom prst="rect">
            <a:avLst/>
          </a:prstGeom>
        </p:spPr>
      </p:pic>
    </p:spTree>
    <p:extLst>
      <p:ext uri="{BB962C8B-B14F-4D97-AF65-F5344CB8AC3E}">
        <p14:creationId xmlns:p14="http://schemas.microsoft.com/office/powerpoint/2010/main" val="817202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A9A67D-24F1-0CC7-F158-B098F549F3AE}"/>
              </a:ext>
            </a:extLst>
          </p:cNvPr>
          <p:cNvSpPr>
            <a:spLocks noGrp="1"/>
          </p:cNvSpPr>
          <p:nvPr>
            <p:ph type="title"/>
          </p:nvPr>
        </p:nvSpPr>
        <p:spPr/>
        <p:txBody>
          <a:bodyPr/>
          <a:lstStyle/>
          <a:p>
            <a:r>
              <a:rPr lang="it-IT" dirty="0">
                <a:cs typeface="Calibri Light"/>
              </a:rPr>
              <a:t>Hearing: the cochlea</a:t>
            </a:r>
            <a:endParaRPr lang="it-IT" dirty="0"/>
          </a:p>
        </p:txBody>
      </p:sp>
      <p:sp>
        <p:nvSpPr>
          <p:cNvPr id="3" name="Segnaposto contenuto 2">
            <a:extLst>
              <a:ext uri="{FF2B5EF4-FFF2-40B4-BE49-F238E27FC236}">
                <a16:creationId xmlns:a16="http://schemas.microsoft.com/office/drawing/2014/main" id="{F27E8519-6D47-153A-3098-A9332731356B}"/>
              </a:ext>
            </a:extLst>
          </p:cNvPr>
          <p:cNvSpPr>
            <a:spLocks noGrp="1"/>
          </p:cNvSpPr>
          <p:nvPr>
            <p:ph idx="1"/>
          </p:nvPr>
        </p:nvSpPr>
        <p:spPr/>
        <p:txBody>
          <a:bodyPr vert="horz" lIns="91440" tIns="45720" rIns="91440" bIns="45720" rtlCol="0" anchor="t">
            <a:normAutofit/>
          </a:bodyPr>
          <a:lstStyle/>
          <a:p>
            <a:r>
              <a:rPr lang="en-GB" dirty="0">
                <a:cs typeface="Calibri"/>
              </a:rPr>
              <a:t>Tympanic membrane (ear drum)</a:t>
            </a:r>
          </a:p>
          <a:p>
            <a:r>
              <a:rPr lang="en-GB" dirty="0">
                <a:cs typeface="Calibri"/>
              </a:rPr>
              <a:t>Ossicles</a:t>
            </a:r>
          </a:p>
          <a:p>
            <a:pPr lvl="1"/>
            <a:r>
              <a:rPr lang="en-GB" dirty="0">
                <a:cs typeface="Calibri"/>
              </a:rPr>
              <a:t>Malleus</a:t>
            </a:r>
          </a:p>
          <a:p>
            <a:pPr lvl="1"/>
            <a:r>
              <a:rPr lang="en-GB" dirty="0">
                <a:cs typeface="Calibri"/>
              </a:rPr>
              <a:t>Incus</a:t>
            </a:r>
          </a:p>
          <a:p>
            <a:pPr lvl="1"/>
            <a:r>
              <a:rPr lang="en-GB" dirty="0">
                <a:cs typeface="Calibri"/>
              </a:rPr>
              <a:t>Stapes</a:t>
            </a:r>
          </a:p>
          <a:p>
            <a:r>
              <a:rPr lang="en-GB" b="1" dirty="0">
                <a:solidFill>
                  <a:schemeClr val="accent1">
                    <a:lumMod val="75000"/>
                  </a:schemeClr>
                </a:solidFill>
                <a:cs typeface="Calibri"/>
              </a:rPr>
              <a:t>Cochlea</a:t>
            </a:r>
            <a:r>
              <a:rPr lang="en-GB" dirty="0">
                <a:cs typeface="Calibri"/>
              </a:rPr>
              <a:t> (inner ear)</a:t>
            </a:r>
          </a:p>
          <a:p>
            <a:pPr lvl="1"/>
            <a:r>
              <a:rPr lang="en-GB" dirty="0">
                <a:cs typeface="Calibri"/>
              </a:rPr>
              <a:t>Oval window</a:t>
            </a:r>
          </a:p>
          <a:p>
            <a:pPr lvl="1"/>
            <a:r>
              <a:rPr lang="en-GB" dirty="0">
                <a:cs typeface="Calibri"/>
              </a:rPr>
              <a:t>Membranous labyrinth</a:t>
            </a:r>
          </a:p>
          <a:p>
            <a:pPr lvl="1"/>
            <a:endParaRPr lang="en-GB" dirty="0">
              <a:cs typeface="Calibri"/>
            </a:endParaRPr>
          </a:p>
        </p:txBody>
      </p:sp>
      <p:pic>
        <p:nvPicPr>
          <p:cNvPr id="9" name="Immagine 9">
            <a:extLst>
              <a:ext uri="{FF2B5EF4-FFF2-40B4-BE49-F238E27FC236}">
                <a16:creationId xmlns:a16="http://schemas.microsoft.com/office/drawing/2014/main" id="{FF52524D-25F6-C081-FD56-74D61AB596B4}"/>
              </a:ext>
            </a:extLst>
          </p:cNvPr>
          <p:cNvPicPr>
            <a:picLocks noChangeAspect="1"/>
          </p:cNvPicPr>
          <p:nvPr/>
        </p:nvPicPr>
        <p:blipFill>
          <a:blip r:embed="rId2"/>
          <a:stretch>
            <a:fillRect/>
          </a:stretch>
        </p:blipFill>
        <p:spPr>
          <a:xfrm>
            <a:off x="5499904" y="1440915"/>
            <a:ext cx="5938221" cy="4701092"/>
          </a:xfrm>
          <a:prstGeom prst="rect">
            <a:avLst/>
          </a:prstGeom>
        </p:spPr>
      </p:pic>
      <p:pic>
        <p:nvPicPr>
          <p:cNvPr id="11" name="Picture 11" descr="Diagram&#10;&#10;Description automatically generated">
            <a:extLst>
              <a:ext uri="{FF2B5EF4-FFF2-40B4-BE49-F238E27FC236}">
                <a16:creationId xmlns:a16="http://schemas.microsoft.com/office/drawing/2014/main" id="{46E377D9-93AA-3CC1-1510-E854089CF41F}"/>
              </a:ext>
            </a:extLst>
          </p:cNvPr>
          <p:cNvPicPr>
            <a:picLocks noChangeAspect="1"/>
          </p:cNvPicPr>
          <p:nvPr/>
        </p:nvPicPr>
        <p:blipFill>
          <a:blip r:embed="rId3"/>
          <a:stretch>
            <a:fillRect/>
          </a:stretch>
        </p:blipFill>
        <p:spPr>
          <a:xfrm>
            <a:off x="1708817" y="4143048"/>
            <a:ext cx="3791087" cy="2332514"/>
          </a:xfrm>
          <a:prstGeom prst="rect">
            <a:avLst/>
          </a:prstGeom>
        </p:spPr>
      </p:pic>
    </p:spTree>
    <p:extLst>
      <p:ext uri="{BB962C8B-B14F-4D97-AF65-F5344CB8AC3E}">
        <p14:creationId xmlns:p14="http://schemas.microsoft.com/office/powerpoint/2010/main" val="2470821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04204B-4C74-8530-7CF5-11AA462AE3A0}"/>
              </a:ext>
            </a:extLst>
          </p:cNvPr>
          <p:cNvSpPr>
            <a:spLocks noGrp="1"/>
          </p:cNvSpPr>
          <p:nvPr>
            <p:ph type="title"/>
          </p:nvPr>
        </p:nvSpPr>
        <p:spPr/>
        <p:txBody>
          <a:bodyPr/>
          <a:lstStyle/>
          <a:p>
            <a:r>
              <a:rPr lang="it-IT" dirty="0">
                <a:cs typeface="Calibri Light"/>
              </a:rPr>
              <a:t>Hearing: the </a:t>
            </a:r>
            <a:r>
              <a:rPr lang="en-GB" dirty="0">
                <a:cs typeface="Calibri Light"/>
              </a:rPr>
              <a:t>cochlea</a:t>
            </a:r>
            <a:endParaRPr lang="en-GB" dirty="0"/>
          </a:p>
        </p:txBody>
      </p:sp>
      <p:pic>
        <p:nvPicPr>
          <p:cNvPr id="4" name="Immagine 4">
            <a:extLst>
              <a:ext uri="{FF2B5EF4-FFF2-40B4-BE49-F238E27FC236}">
                <a16:creationId xmlns:a16="http://schemas.microsoft.com/office/drawing/2014/main" id="{8F49842F-F9C6-DF85-2CAD-EB1349DDC360}"/>
              </a:ext>
            </a:extLst>
          </p:cNvPr>
          <p:cNvPicPr>
            <a:picLocks noGrp="1" noChangeAspect="1"/>
          </p:cNvPicPr>
          <p:nvPr>
            <p:ph idx="1"/>
          </p:nvPr>
        </p:nvPicPr>
        <p:blipFill>
          <a:blip r:embed="rId2"/>
          <a:stretch>
            <a:fillRect/>
          </a:stretch>
        </p:blipFill>
        <p:spPr>
          <a:xfrm>
            <a:off x="590412" y="1571625"/>
            <a:ext cx="4783471" cy="4351338"/>
          </a:xfrm>
        </p:spPr>
      </p:pic>
      <p:pic>
        <p:nvPicPr>
          <p:cNvPr id="5" name="Immagine 5">
            <a:extLst>
              <a:ext uri="{FF2B5EF4-FFF2-40B4-BE49-F238E27FC236}">
                <a16:creationId xmlns:a16="http://schemas.microsoft.com/office/drawing/2014/main" id="{73D96F77-8371-15DA-F8A0-2B37204DDC56}"/>
              </a:ext>
            </a:extLst>
          </p:cNvPr>
          <p:cNvPicPr>
            <a:picLocks noChangeAspect="1"/>
          </p:cNvPicPr>
          <p:nvPr/>
        </p:nvPicPr>
        <p:blipFill>
          <a:blip r:embed="rId3"/>
          <a:stretch>
            <a:fillRect/>
          </a:stretch>
        </p:blipFill>
        <p:spPr>
          <a:xfrm>
            <a:off x="5730993" y="1961970"/>
            <a:ext cx="6092236" cy="3912431"/>
          </a:xfrm>
          <a:prstGeom prst="rect">
            <a:avLst/>
          </a:prstGeom>
        </p:spPr>
      </p:pic>
      <p:sp>
        <p:nvSpPr>
          <p:cNvPr id="3" name="TextBox 2">
            <a:extLst>
              <a:ext uri="{FF2B5EF4-FFF2-40B4-BE49-F238E27FC236}">
                <a16:creationId xmlns:a16="http://schemas.microsoft.com/office/drawing/2014/main" id="{F43FA58A-DE43-CCBB-1D20-615FE06987E0}"/>
              </a:ext>
            </a:extLst>
          </p:cNvPr>
          <p:cNvSpPr txBox="1"/>
          <p:nvPr/>
        </p:nvSpPr>
        <p:spPr>
          <a:xfrm>
            <a:off x="5634134" y="3236340"/>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dirty="0">
                <a:solidFill>
                  <a:schemeClr val="accent1">
                    <a:lumMod val="75000"/>
                  </a:schemeClr>
                </a:solidFill>
                <a:cs typeface="Calibri"/>
              </a:rPr>
              <a:t>Endolymph</a:t>
            </a:r>
          </a:p>
        </p:txBody>
      </p:sp>
      <p:sp>
        <p:nvSpPr>
          <p:cNvPr id="6" name="TextBox 5">
            <a:extLst>
              <a:ext uri="{FF2B5EF4-FFF2-40B4-BE49-F238E27FC236}">
                <a16:creationId xmlns:a16="http://schemas.microsoft.com/office/drawing/2014/main" id="{ABBF70A9-8FF0-FA3F-D3AB-AED22FD88EB9}"/>
              </a:ext>
            </a:extLst>
          </p:cNvPr>
          <p:cNvSpPr txBox="1"/>
          <p:nvPr/>
        </p:nvSpPr>
        <p:spPr>
          <a:xfrm>
            <a:off x="9735120" y="5512619"/>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dirty="0">
                <a:solidFill>
                  <a:schemeClr val="accent1">
                    <a:lumMod val="75000"/>
                  </a:schemeClr>
                </a:solidFill>
                <a:cs typeface="Calibri"/>
              </a:rPr>
              <a:t>Perilymph</a:t>
            </a:r>
          </a:p>
        </p:txBody>
      </p:sp>
      <p:sp>
        <p:nvSpPr>
          <p:cNvPr id="7" name="TextBox 6">
            <a:extLst>
              <a:ext uri="{FF2B5EF4-FFF2-40B4-BE49-F238E27FC236}">
                <a16:creationId xmlns:a16="http://schemas.microsoft.com/office/drawing/2014/main" id="{A420E886-37FC-D416-7993-91A5781301DB}"/>
              </a:ext>
            </a:extLst>
          </p:cNvPr>
          <p:cNvSpPr txBox="1"/>
          <p:nvPr/>
        </p:nvSpPr>
        <p:spPr>
          <a:xfrm>
            <a:off x="10746090" y="2660777"/>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dirty="0">
                <a:solidFill>
                  <a:schemeClr val="accent1">
                    <a:lumMod val="75000"/>
                  </a:schemeClr>
                </a:solidFill>
                <a:cs typeface="Calibri"/>
              </a:rPr>
              <a:t>Perilymph</a:t>
            </a:r>
          </a:p>
        </p:txBody>
      </p:sp>
      <p:cxnSp>
        <p:nvCxnSpPr>
          <p:cNvPr id="8" name="Straight Arrow Connector 7">
            <a:extLst>
              <a:ext uri="{FF2B5EF4-FFF2-40B4-BE49-F238E27FC236}">
                <a16:creationId xmlns:a16="http://schemas.microsoft.com/office/drawing/2014/main" id="{2A64C70E-9F55-805E-41B8-0D4DD586064E}"/>
              </a:ext>
            </a:extLst>
          </p:cNvPr>
          <p:cNvCxnSpPr/>
          <p:nvPr/>
        </p:nvCxnSpPr>
        <p:spPr>
          <a:xfrm flipV="1">
            <a:off x="5781675" y="3111212"/>
            <a:ext cx="1024081" cy="3463"/>
          </a:xfrm>
          <a:prstGeom prst="straightConnector1">
            <a:avLst/>
          </a:prstGeom>
          <a:ln w="127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9A55D2B-D562-643A-217B-1CA1EAF4F6A0}"/>
              </a:ext>
            </a:extLst>
          </p:cNvPr>
          <p:cNvSpPr txBox="1"/>
          <p:nvPr/>
        </p:nvSpPr>
        <p:spPr>
          <a:xfrm>
            <a:off x="9731121" y="1826804"/>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dirty="0">
                <a:solidFill>
                  <a:schemeClr val="accent1">
                    <a:lumMod val="75000"/>
                  </a:schemeClr>
                </a:solidFill>
                <a:cs typeface="Calibri"/>
              </a:rPr>
              <a:t>Endolymph</a:t>
            </a:r>
          </a:p>
        </p:txBody>
      </p:sp>
    </p:spTree>
    <p:extLst>
      <p:ext uri="{BB962C8B-B14F-4D97-AF65-F5344CB8AC3E}">
        <p14:creationId xmlns:p14="http://schemas.microsoft.com/office/powerpoint/2010/main" val="3972682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C7CDE1-1BA0-B809-EFAD-10CCA2FB8158}"/>
              </a:ext>
            </a:extLst>
          </p:cNvPr>
          <p:cNvSpPr>
            <a:spLocks noGrp="1"/>
          </p:cNvSpPr>
          <p:nvPr>
            <p:ph type="title"/>
          </p:nvPr>
        </p:nvSpPr>
        <p:spPr/>
        <p:txBody>
          <a:bodyPr/>
          <a:lstStyle/>
          <a:p>
            <a:r>
              <a:rPr lang="it-IT" dirty="0"/>
              <a:t>Sound propagation along the cochlea</a:t>
            </a:r>
          </a:p>
        </p:txBody>
      </p:sp>
      <p:pic>
        <p:nvPicPr>
          <p:cNvPr id="4" name="Immagine 4">
            <a:extLst>
              <a:ext uri="{FF2B5EF4-FFF2-40B4-BE49-F238E27FC236}">
                <a16:creationId xmlns:a16="http://schemas.microsoft.com/office/drawing/2014/main" id="{DEBC5758-0FB3-3158-90B2-C29CDEE8C0DB}"/>
              </a:ext>
            </a:extLst>
          </p:cNvPr>
          <p:cNvPicPr>
            <a:picLocks noGrp="1" noChangeAspect="1"/>
          </p:cNvPicPr>
          <p:nvPr>
            <p:ph idx="1"/>
          </p:nvPr>
        </p:nvPicPr>
        <p:blipFill>
          <a:blip r:embed="rId2"/>
          <a:stretch>
            <a:fillRect/>
          </a:stretch>
        </p:blipFill>
        <p:spPr>
          <a:xfrm>
            <a:off x="302505" y="1065840"/>
            <a:ext cx="5541937" cy="2871641"/>
          </a:xfrm>
        </p:spPr>
      </p:pic>
      <p:pic>
        <p:nvPicPr>
          <p:cNvPr id="3" name="Picture 4" descr="A picture containing diagram&#10;&#10;Description automatically generated">
            <a:extLst>
              <a:ext uri="{FF2B5EF4-FFF2-40B4-BE49-F238E27FC236}">
                <a16:creationId xmlns:a16="http://schemas.microsoft.com/office/drawing/2014/main" id="{2B8B1A12-5C64-E7FF-D435-AA2071412A2D}"/>
              </a:ext>
            </a:extLst>
          </p:cNvPr>
          <p:cNvPicPr>
            <a:picLocks noChangeAspect="1"/>
          </p:cNvPicPr>
          <p:nvPr/>
        </p:nvPicPr>
        <p:blipFill>
          <a:blip r:embed="rId3"/>
          <a:stretch>
            <a:fillRect/>
          </a:stretch>
        </p:blipFill>
        <p:spPr>
          <a:xfrm>
            <a:off x="6570580" y="1065840"/>
            <a:ext cx="5110358" cy="4957796"/>
          </a:xfrm>
          <a:prstGeom prst="rect">
            <a:avLst/>
          </a:prstGeom>
        </p:spPr>
      </p:pic>
      <p:pic>
        <p:nvPicPr>
          <p:cNvPr id="5" name="Picture 5" descr="A picture containing text&#10;&#10;Description automatically generated">
            <a:extLst>
              <a:ext uri="{FF2B5EF4-FFF2-40B4-BE49-F238E27FC236}">
                <a16:creationId xmlns:a16="http://schemas.microsoft.com/office/drawing/2014/main" id="{D3215447-3E9A-7853-6E75-9481770CC7DC}"/>
              </a:ext>
            </a:extLst>
          </p:cNvPr>
          <p:cNvPicPr>
            <a:picLocks noChangeAspect="1"/>
          </p:cNvPicPr>
          <p:nvPr/>
        </p:nvPicPr>
        <p:blipFill rotWithShape="1">
          <a:blip r:embed="rId4"/>
          <a:srcRect b="39096"/>
          <a:stretch/>
        </p:blipFill>
        <p:spPr>
          <a:xfrm>
            <a:off x="452456" y="4290205"/>
            <a:ext cx="5643544" cy="1996838"/>
          </a:xfrm>
          <a:prstGeom prst="rect">
            <a:avLst/>
          </a:prstGeom>
        </p:spPr>
      </p:pic>
    </p:spTree>
    <p:extLst>
      <p:ext uri="{BB962C8B-B14F-4D97-AF65-F5344CB8AC3E}">
        <p14:creationId xmlns:p14="http://schemas.microsoft.com/office/powerpoint/2010/main" val="2431953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760592-28C3-35CC-8D4F-67DE634EBEB1}"/>
              </a:ext>
            </a:extLst>
          </p:cNvPr>
          <p:cNvSpPr>
            <a:spLocks noGrp="1"/>
          </p:cNvSpPr>
          <p:nvPr>
            <p:ph type="title"/>
          </p:nvPr>
        </p:nvSpPr>
        <p:spPr/>
        <p:txBody>
          <a:bodyPr/>
          <a:lstStyle/>
          <a:p>
            <a:r>
              <a:rPr lang="it-IT" dirty="0">
                <a:cs typeface="Calibri Light"/>
              </a:rPr>
              <a:t>Hearing: the </a:t>
            </a:r>
            <a:r>
              <a:rPr lang="en-GB">
                <a:cs typeface="Calibri Light"/>
              </a:rPr>
              <a:t>organ</a:t>
            </a:r>
            <a:r>
              <a:rPr lang="it-IT" dirty="0">
                <a:cs typeface="Calibri Light"/>
              </a:rPr>
              <a:t> of Corti</a:t>
            </a:r>
            <a:endParaRPr lang="it-IT" dirty="0"/>
          </a:p>
        </p:txBody>
      </p:sp>
      <p:pic>
        <p:nvPicPr>
          <p:cNvPr id="4" name="Immagine 4">
            <a:extLst>
              <a:ext uri="{FF2B5EF4-FFF2-40B4-BE49-F238E27FC236}">
                <a16:creationId xmlns:a16="http://schemas.microsoft.com/office/drawing/2014/main" id="{ECFD53D8-AD97-CC09-FB20-3B9DBAB945A2}"/>
              </a:ext>
            </a:extLst>
          </p:cNvPr>
          <p:cNvPicPr>
            <a:picLocks noGrp="1" noChangeAspect="1"/>
          </p:cNvPicPr>
          <p:nvPr>
            <p:ph idx="1"/>
          </p:nvPr>
        </p:nvPicPr>
        <p:blipFill>
          <a:blip r:embed="rId2"/>
          <a:stretch>
            <a:fillRect/>
          </a:stretch>
        </p:blipFill>
        <p:spPr>
          <a:xfrm>
            <a:off x="187433" y="1076972"/>
            <a:ext cx="6554016" cy="5564892"/>
          </a:xfrm>
        </p:spPr>
      </p:pic>
      <p:grpSp>
        <p:nvGrpSpPr>
          <p:cNvPr id="6" name="Group 5">
            <a:extLst>
              <a:ext uri="{FF2B5EF4-FFF2-40B4-BE49-F238E27FC236}">
                <a16:creationId xmlns:a16="http://schemas.microsoft.com/office/drawing/2014/main" id="{B0A7BD15-CF9B-5D43-A67D-372B539D2DDF}"/>
              </a:ext>
            </a:extLst>
          </p:cNvPr>
          <p:cNvGrpSpPr/>
          <p:nvPr/>
        </p:nvGrpSpPr>
        <p:grpSpPr>
          <a:xfrm>
            <a:off x="7234917" y="1674411"/>
            <a:ext cx="4497161" cy="3509177"/>
            <a:chOff x="7267575" y="1739726"/>
            <a:chExt cx="4333875" cy="3378549"/>
          </a:xfrm>
        </p:grpSpPr>
        <p:pic>
          <p:nvPicPr>
            <p:cNvPr id="3" name="Picture 4" descr="Diagram&#10;&#10;Description automatically generated">
              <a:extLst>
                <a:ext uri="{FF2B5EF4-FFF2-40B4-BE49-F238E27FC236}">
                  <a16:creationId xmlns:a16="http://schemas.microsoft.com/office/drawing/2014/main" id="{3EC70F26-2578-91F1-9AB9-122B2A7DA250}"/>
                </a:ext>
              </a:extLst>
            </p:cNvPr>
            <p:cNvPicPr>
              <a:picLocks noChangeAspect="1"/>
            </p:cNvPicPr>
            <p:nvPr/>
          </p:nvPicPr>
          <p:blipFill>
            <a:blip r:embed="rId3"/>
            <a:stretch>
              <a:fillRect/>
            </a:stretch>
          </p:blipFill>
          <p:spPr>
            <a:xfrm>
              <a:off x="7267575" y="1739726"/>
              <a:ext cx="4333875" cy="3378549"/>
            </a:xfrm>
            <a:prstGeom prst="rect">
              <a:avLst/>
            </a:prstGeom>
          </p:spPr>
        </p:pic>
        <p:cxnSp>
          <p:nvCxnSpPr>
            <p:cNvPr id="5" name="Straight Arrow Connector 4">
              <a:extLst>
                <a:ext uri="{FF2B5EF4-FFF2-40B4-BE49-F238E27FC236}">
                  <a16:creationId xmlns:a16="http://schemas.microsoft.com/office/drawing/2014/main" id="{538DE8A9-B31F-AD12-CDEF-860600F96E67}"/>
                </a:ext>
              </a:extLst>
            </p:cNvPr>
            <p:cNvCxnSpPr/>
            <p:nvPr/>
          </p:nvCxnSpPr>
          <p:spPr>
            <a:xfrm>
              <a:off x="8566935" y="2030001"/>
              <a:ext cx="2567" cy="563366"/>
            </a:xfrm>
            <a:prstGeom prst="straightConnector1">
              <a:avLst/>
            </a:prstGeom>
            <a:ln w="28575"/>
          </p:spPr>
          <p:style>
            <a:lnRef idx="1">
              <a:schemeClr val="dk1"/>
            </a:lnRef>
            <a:fillRef idx="0">
              <a:schemeClr val="dk1"/>
            </a:fillRef>
            <a:effectRef idx="0">
              <a:schemeClr val="dk1"/>
            </a:effectRef>
            <a:fontRef idx="minor">
              <a:schemeClr val="tx1"/>
            </a:fontRef>
          </p:style>
        </p:cxnSp>
      </p:grpSp>
      <p:sp>
        <p:nvSpPr>
          <p:cNvPr id="7" name="TextBox 6">
            <a:extLst>
              <a:ext uri="{FF2B5EF4-FFF2-40B4-BE49-F238E27FC236}">
                <a16:creationId xmlns:a16="http://schemas.microsoft.com/office/drawing/2014/main" id="{9B8BB4CF-614A-2E20-7D8B-86F8EAB23673}"/>
              </a:ext>
            </a:extLst>
          </p:cNvPr>
          <p:cNvSpPr txBox="1"/>
          <p:nvPr/>
        </p:nvSpPr>
        <p:spPr>
          <a:xfrm>
            <a:off x="4096986" y="1246908"/>
            <a:ext cx="187036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solidFill>
                  <a:schemeClr val="bg2">
                    <a:lumMod val="75000"/>
                  </a:schemeClr>
                </a:solidFill>
                <a:ea typeface="Calibri"/>
                <a:cs typeface="Calibri"/>
              </a:rPr>
              <a:t>(90% of auditory input)</a:t>
            </a:r>
          </a:p>
        </p:txBody>
      </p:sp>
      <p:sp>
        <p:nvSpPr>
          <p:cNvPr id="8" name="TextBox 7">
            <a:extLst>
              <a:ext uri="{FF2B5EF4-FFF2-40B4-BE49-F238E27FC236}">
                <a16:creationId xmlns:a16="http://schemas.microsoft.com/office/drawing/2014/main" id="{175F491D-7095-8200-F39A-28D53223F335}"/>
              </a:ext>
            </a:extLst>
          </p:cNvPr>
          <p:cNvSpPr txBox="1"/>
          <p:nvPr/>
        </p:nvSpPr>
        <p:spPr>
          <a:xfrm>
            <a:off x="227609" y="1306285"/>
            <a:ext cx="187036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solidFill>
                  <a:schemeClr val="bg2">
                    <a:lumMod val="75000"/>
                  </a:schemeClr>
                </a:solidFill>
                <a:ea typeface="Calibri"/>
                <a:cs typeface="Calibri"/>
              </a:rPr>
              <a:t>(tuning function)</a:t>
            </a:r>
          </a:p>
        </p:txBody>
      </p:sp>
      <p:sp>
        <p:nvSpPr>
          <p:cNvPr id="10" name="TextBox 9">
            <a:extLst>
              <a:ext uri="{FF2B5EF4-FFF2-40B4-BE49-F238E27FC236}">
                <a16:creationId xmlns:a16="http://schemas.microsoft.com/office/drawing/2014/main" id="{8D5C09D2-2F5A-3C3C-0EE6-9E9632D722F4}"/>
              </a:ext>
            </a:extLst>
          </p:cNvPr>
          <p:cNvSpPr txBox="1"/>
          <p:nvPr/>
        </p:nvSpPr>
        <p:spPr>
          <a:xfrm>
            <a:off x="3417407" y="1975247"/>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b="1" dirty="0">
                <a:solidFill>
                  <a:schemeClr val="accent1">
                    <a:lumMod val="75000"/>
                  </a:schemeClr>
                </a:solidFill>
                <a:cs typeface="Calibri"/>
              </a:rPr>
              <a:t>Endolymph</a:t>
            </a:r>
          </a:p>
        </p:txBody>
      </p:sp>
      <p:sp>
        <p:nvSpPr>
          <p:cNvPr id="11" name="TextBox 10">
            <a:extLst>
              <a:ext uri="{FF2B5EF4-FFF2-40B4-BE49-F238E27FC236}">
                <a16:creationId xmlns:a16="http://schemas.microsoft.com/office/drawing/2014/main" id="{EB6C576A-EDF5-FA87-C178-F579E9454A99}"/>
              </a:ext>
            </a:extLst>
          </p:cNvPr>
          <p:cNvSpPr txBox="1"/>
          <p:nvPr/>
        </p:nvSpPr>
        <p:spPr>
          <a:xfrm>
            <a:off x="4802861" y="2776831"/>
            <a:ext cx="10687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b="1" dirty="0">
                <a:solidFill>
                  <a:schemeClr val="accent1">
                    <a:lumMod val="75000"/>
                  </a:schemeClr>
                </a:solidFill>
                <a:cs typeface="Calibri"/>
              </a:rPr>
              <a:t>Perilymph</a:t>
            </a:r>
          </a:p>
        </p:txBody>
      </p:sp>
    </p:spTree>
    <p:extLst>
      <p:ext uri="{BB962C8B-B14F-4D97-AF65-F5344CB8AC3E}">
        <p14:creationId xmlns:p14="http://schemas.microsoft.com/office/powerpoint/2010/main" val="2930692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4BA3-5CEB-106E-7AA0-C5F6A125607C}"/>
              </a:ext>
            </a:extLst>
          </p:cNvPr>
          <p:cNvSpPr>
            <a:spLocks noGrp="1"/>
          </p:cNvSpPr>
          <p:nvPr>
            <p:ph type="title"/>
          </p:nvPr>
        </p:nvSpPr>
        <p:spPr/>
        <p:txBody>
          <a:bodyPr/>
          <a:lstStyle/>
          <a:p>
            <a:r>
              <a:rPr lang="en-GB" dirty="0"/>
              <a:t>Hearing: the hair cells</a:t>
            </a:r>
          </a:p>
        </p:txBody>
      </p:sp>
      <p:pic>
        <p:nvPicPr>
          <p:cNvPr id="5" name="Picture 5" descr="A picture containing text&#10;&#10;Description automatically generated">
            <a:extLst>
              <a:ext uri="{FF2B5EF4-FFF2-40B4-BE49-F238E27FC236}">
                <a16:creationId xmlns:a16="http://schemas.microsoft.com/office/drawing/2014/main" id="{E7E97AE1-3A3F-D308-8F6F-83EE73454527}"/>
              </a:ext>
            </a:extLst>
          </p:cNvPr>
          <p:cNvPicPr>
            <a:picLocks noChangeAspect="1"/>
          </p:cNvPicPr>
          <p:nvPr/>
        </p:nvPicPr>
        <p:blipFill>
          <a:blip r:embed="rId2"/>
          <a:stretch>
            <a:fillRect/>
          </a:stretch>
        </p:blipFill>
        <p:spPr>
          <a:xfrm>
            <a:off x="2775857" y="1132114"/>
            <a:ext cx="6019800" cy="2579914"/>
          </a:xfrm>
          <a:prstGeom prst="rect">
            <a:avLst/>
          </a:prstGeom>
        </p:spPr>
      </p:pic>
      <p:pic>
        <p:nvPicPr>
          <p:cNvPr id="6" name="Picture 6" descr="Diagram&#10;&#10;Description automatically generated">
            <a:extLst>
              <a:ext uri="{FF2B5EF4-FFF2-40B4-BE49-F238E27FC236}">
                <a16:creationId xmlns:a16="http://schemas.microsoft.com/office/drawing/2014/main" id="{A233E1DB-8728-3CE9-39FA-EF5F5717E1DA}"/>
              </a:ext>
            </a:extLst>
          </p:cNvPr>
          <p:cNvPicPr>
            <a:picLocks noChangeAspect="1"/>
          </p:cNvPicPr>
          <p:nvPr/>
        </p:nvPicPr>
        <p:blipFill>
          <a:blip r:embed="rId3"/>
          <a:stretch>
            <a:fillRect/>
          </a:stretch>
        </p:blipFill>
        <p:spPr>
          <a:xfrm>
            <a:off x="2428503" y="3792857"/>
            <a:ext cx="6850083" cy="2894259"/>
          </a:xfrm>
          <a:prstGeom prst="rect">
            <a:avLst/>
          </a:prstGeom>
        </p:spPr>
      </p:pic>
      <p:pic>
        <p:nvPicPr>
          <p:cNvPr id="9" name="Picture 9">
            <a:extLst>
              <a:ext uri="{FF2B5EF4-FFF2-40B4-BE49-F238E27FC236}">
                <a16:creationId xmlns:a16="http://schemas.microsoft.com/office/drawing/2014/main" id="{6A36252D-4700-A3A2-DF2B-FC524D54392A}"/>
              </a:ext>
            </a:extLst>
          </p:cNvPr>
          <p:cNvPicPr>
            <a:picLocks noChangeAspect="1"/>
          </p:cNvPicPr>
          <p:nvPr/>
        </p:nvPicPr>
        <p:blipFill>
          <a:blip r:embed="rId4"/>
          <a:stretch>
            <a:fillRect/>
          </a:stretch>
        </p:blipFill>
        <p:spPr>
          <a:xfrm>
            <a:off x="2721077" y="1130084"/>
            <a:ext cx="6012425" cy="2668250"/>
          </a:xfrm>
          <a:prstGeom prst="rect">
            <a:avLst/>
          </a:prstGeom>
        </p:spPr>
      </p:pic>
    </p:spTree>
    <p:extLst>
      <p:ext uri="{BB962C8B-B14F-4D97-AF65-F5344CB8AC3E}">
        <p14:creationId xmlns:p14="http://schemas.microsoft.com/office/powerpoint/2010/main" val="2471128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413A-A4AF-84E6-C680-17923F4FA36B}"/>
              </a:ext>
            </a:extLst>
          </p:cNvPr>
          <p:cNvSpPr>
            <a:spLocks noGrp="1"/>
          </p:cNvSpPr>
          <p:nvPr>
            <p:ph type="title"/>
          </p:nvPr>
        </p:nvSpPr>
        <p:spPr/>
        <p:txBody>
          <a:bodyPr/>
          <a:lstStyle/>
          <a:p>
            <a:r>
              <a:rPr lang="en-GB" dirty="0"/>
              <a:t>Hearing: signal to the brain</a:t>
            </a:r>
          </a:p>
        </p:txBody>
      </p:sp>
      <p:pic>
        <p:nvPicPr>
          <p:cNvPr id="4" name="Picture 4" descr="Diagram, schematic&#10;&#10;Description automatically generated">
            <a:extLst>
              <a:ext uri="{FF2B5EF4-FFF2-40B4-BE49-F238E27FC236}">
                <a16:creationId xmlns:a16="http://schemas.microsoft.com/office/drawing/2014/main" id="{999646EE-99C6-417D-FF6A-79E819BA05BC}"/>
              </a:ext>
            </a:extLst>
          </p:cNvPr>
          <p:cNvPicPr>
            <a:picLocks noGrp="1" noChangeAspect="1"/>
          </p:cNvPicPr>
          <p:nvPr>
            <p:ph idx="1"/>
          </p:nvPr>
        </p:nvPicPr>
        <p:blipFill>
          <a:blip r:embed="rId2"/>
          <a:stretch>
            <a:fillRect/>
          </a:stretch>
        </p:blipFill>
        <p:spPr>
          <a:xfrm>
            <a:off x="1725283" y="974561"/>
            <a:ext cx="2534773" cy="5555703"/>
          </a:xfrm>
        </p:spPr>
      </p:pic>
      <p:pic>
        <p:nvPicPr>
          <p:cNvPr id="6" name="Picture 6" descr="Diagram&#10;&#10;Description automatically generated">
            <a:extLst>
              <a:ext uri="{FF2B5EF4-FFF2-40B4-BE49-F238E27FC236}">
                <a16:creationId xmlns:a16="http://schemas.microsoft.com/office/drawing/2014/main" id="{E69BD644-D5AA-EE15-6E18-7DE12B4AE04E}"/>
              </a:ext>
            </a:extLst>
          </p:cNvPr>
          <p:cNvPicPr>
            <a:picLocks noChangeAspect="1"/>
          </p:cNvPicPr>
          <p:nvPr/>
        </p:nvPicPr>
        <p:blipFill>
          <a:blip r:embed="rId3"/>
          <a:stretch>
            <a:fillRect/>
          </a:stretch>
        </p:blipFill>
        <p:spPr>
          <a:xfrm>
            <a:off x="6618663" y="1134275"/>
            <a:ext cx="3566258" cy="5024878"/>
          </a:xfrm>
          <a:prstGeom prst="rect">
            <a:avLst/>
          </a:prstGeom>
        </p:spPr>
      </p:pic>
    </p:spTree>
    <p:extLst>
      <p:ext uri="{BB962C8B-B14F-4D97-AF65-F5344CB8AC3E}">
        <p14:creationId xmlns:p14="http://schemas.microsoft.com/office/powerpoint/2010/main" val="2633953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 vision</a:t>
            </a:r>
          </a:p>
        </p:txBody>
      </p:sp>
      <p:sp>
        <p:nvSpPr>
          <p:cNvPr id="8" name="TextBox 7">
            <a:extLst>
              <a:ext uri="{FF2B5EF4-FFF2-40B4-BE49-F238E27FC236}">
                <a16:creationId xmlns:a16="http://schemas.microsoft.com/office/drawing/2014/main" id="{4C59B171-914C-A0C0-8F55-62E8EEDFBF13}"/>
              </a:ext>
            </a:extLst>
          </p:cNvPr>
          <p:cNvSpPr txBox="1"/>
          <p:nvPr/>
        </p:nvSpPr>
        <p:spPr>
          <a:xfrm>
            <a:off x="1204196" y="1345869"/>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solidFill>
                  <a:schemeClr val="accent1">
                    <a:lumMod val="75000"/>
                  </a:schemeClr>
                </a:solidFill>
                <a:cs typeface="Calibri"/>
              </a:rPr>
              <a:t>Vision</a:t>
            </a:r>
            <a:endParaRPr lang="en-GB" b="1" dirty="0">
              <a:solidFill>
                <a:schemeClr val="accent1">
                  <a:lumMod val="75000"/>
                </a:schemeClr>
              </a:solidFill>
            </a:endParaRPr>
          </a:p>
        </p:txBody>
      </p:sp>
      <p:pic>
        <p:nvPicPr>
          <p:cNvPr id="4" name="Picture 3" descr="Diagram&#10;&#10;Description automatically generated">
            <a:extLst>
              <a:ext uri="{FF2B5EF4-FFF2-40B4-BE49-F238E27FC236}">
                <a16:creationId xmlns:a16="http://schemas.microsoft.com/office/drawing/2014/main" id="{BA7A463F-928B-CB4F-AC59-B5E2B725B5A6}"/>
              </a:ext>
            </a:extLst>
          </p:cNvPr>
          <p:cNvPicPr>
            <a:picLocks noChangeAspect="1"/>
          </p:cNvPicPr>
          <p:nvPr/>
        </p:nvPicPr>
        <p:blipFill>
          <a:blip r:embed="rId2"/>
          <a:stretch>
            <a:fillRect/>
          </a:stretch>
        </p:blipFill>
        <p:spPr>
          <a:xfrm>
            <a:off x="1004980" y="1192481"/>
            <a:ext cx="5030930" cy="4958179"/>
          </a:xfrm>
          <a:prstGeom prst="rect">
            <a:avLst/>
          </a:prstGeom>
        </p:spPr>
      </p:pic>
      <p:pic>
        <p:nvPicPr>
          <p:cNvPr id="6" name="Picture 2" descr="Reconstructing the retina">
            <a:extLst>
              <a:ext uri="{FF2B5EF4-FFF2-40B4-BE49-F238E27FC236}">
                <a16:creationId xmlns:a16="http://schemas.microsoft.com/office/drawing/2014/main" id="{FEE2E8AD-790A-6315-BC06-AD67ED510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1476" y="963539"/>
            <a:ext cx="3095429" cy="5416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756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0F49B-9D45-CC45-24DC-CFE34ED01574}"/>
              </a:ext>
            </a:extLst>
          </p:cNvPr>
          <p:cNvSpPr>
            <a:spLocks noGrp="1"/>
          </p:cNvSpPr>
          <p:nvPr>
            <p:ph type="title"/>
          </p:nvPr>
        </p:nvSpPr>
        <p:spPr/>
        <p:txBody>
          <a:bodyPr/>
          <a:lstStyle/>
          <a:p>
            <a:r>
              <a:rPr lang="en-GB" dirty="0"/>
              <a:t>Vision: the retina</a:t>
            </a:r>
          </a:p>
        </p:txBody>
      </p:sp>
      <p:pic>
        <p:nvPicPr>
          <p:cNvPr id="7" name="Content Placeholder 6">
            <a:extLst>
              <a:ext uri="{FF2B5EF4-FFF2-40B4-BE49-F238E27FC236}">
                <a16:creationId xmlns:a16="http://schemas.microsoft.com/office/drawing/2014/main" id="{AB5C1848-4B5B-BA18-41C0-5A945C55EF17}"/>
              </a:ext>
            </a:extLst>
          </p:cNvPr>
          <p:cNvPicPr>
            <a:picLocks noGrp="1" noChangeAspect="1"/>
          </p:cNvPicPr>
          <p:nvPr>
            <p:ph idx="1"/>
          </p:nvPr>
        </p:nvPicPr>
        <p:blipFill>
          <a:blip r:embed="rId2"/>
          <a:stretch>
            <a:fillRect/>
          </a:stretch>
        </p:blipFill>
        <p:spPr>
          <a:xfrm>
            <a:off x="6224959" y="2074042"/>
            <a:ext cx="5540991" cy="2363056"/>
          </a:xfrm>
        </p:spPr>
      </p:pic>
      <p:pic>
        <p:nvPicPr>
          <p:cNvPr id="5" name="Picture 4">
            <a:extLst>
              <a:ext uri="{FF2B5EF4-FFF2-40B4-BE49-F238E27FC236}">
                <a16:creationId xmlns:a16="http://schemas.microsoft.com/office/drawing/2014/main" id="{3334F893-6E6D-7E1E-283D-DCF75B3E2F69}"/>
              </a:ext>
            </a:extLst>
          </p:cNvPr>
          <p:cNvPicPr>
            <a:picLocks noChangeAspect="1"/>
          </p:cNvPicPr>
          <p:nvPr/>
        </p:nvPicPr>
        <p:blipFill>
          <a:blip r:embed="rId3"/>
          <a:stretch>
            <a:fillRect/>
          </a:stretch>
        </p:blipFill>
        <p:spPr>
          <a:xfrm>
            <a:off x="675428" y="1612395"/>
            <a:ext cx="5549531" cy="4015772"/>
          </a:xfrm>
          <a:prstGeom prst="rect">
            <a:avLst/>
          </a:prstGeom>
        </p:spPr>
      </p:pic>
      <p:sp>
        <p:nvSpPr>
          <p:cNvPr id="8" name="TextBox 7">
            <a:extLst>
              <a:ext uri="{FF2B5EF4-FFF2-40B4-BE49-F238E27FC236}">
                <a16:creationId xmlns:a16="http://schemas.microsoft.com/office/drawing/2014/main" id="{D6FB0883-E474-684E-ADAF-BD61367FCDDE}"/>
              </a:ext>
            </a:extLst>
          </p:cNvPr>
          <p:cNvSpPr txBox="1"/>
          <p:nvPr/>
        </p:nvSpPr>
        <p:spPr>
          <a:xfrm>
            <a:off x="7131578" y="4437098"/>
            <a:ext cx="3819379" cy="369332"/>
          </a:xfrm>
          <a:prstGeom prst="rect">
            <a:avLst/>
          </a:prstGeom>
          <a:noFill/>
        </p:spPr>
        <p:txBody>
          <a:bodyPr wrap="none" rtlCol="0">
            <a:spAutoFit/>
          </a:bodyPr>
          <a:lstStyle/>
          <a:p>
            <a:r>
              <a:rPr lang="en-GB" b="1" dirty="0"/>
              <a:t>Visual </a:t>
            </a:r>
            <a:r>
              <a:rPr lang="en-GB" b="1" dirty="0" err="1"/>
              <a:t>actuity</a:t>
            </a:r>
            <a:r>
              <a:rPr lang="en-GB" b="1" dirty="0"/>
              <a:t> is maximal at the fovea!</a:t>
            </a:r>
          </a:p>
        </p:txBody>
      </p:sp>
    </p:spTree>
    <p:extLst>
      <p:ext uri="{BB962C8B-B14F-4D97-AF65-F5344CB8AC3E}">
        <p14:creationId xmlns:p14="http://schemas.microsoft.com/office/powerpoint/2010/main" val="3221329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2B0F-C8C0-E8E2-B4A6-AE211D7EADC1}"/>
              </a:ext>
            </a:extLst>
          </p:cNvPr>
          <p:cNvSpPr>
            <a:spLocks noGrp="1"/>
          </p:cNvSpPr>
          <p:nvPr>
            <p:ph type="title"/>
          </p:nvPr>
        </p:nvSpPr>
        <p:spPr/>
        <p:txBody>
          <a:bodyPr/>
          <a:lstStyle/>
          <a:p>
            <a:r>
              <a:rPr lang="en-GB" dirty="0"/>
              <a:t>Vision: rods and cones</a:t>
            </a:r>
          </a:p>
        </p:txBody>
      </p:sp>
      <p:sp>
        <p:nvSpPr>
          <p:cNvPr id="3" name="Content Placeholder 2">
            <a:extLst>
              <a:ext uri="{FF2B5EF4-FFF2-40B4-BE49-F238E27FC236}">
                <a16:creationId xmlns:a16="http://schemas.microsoft.com/office/drawing/2014/main" id="{6746F717-43FE-B90B-9FDB-9A3F204CEB49}"/>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3012461A-8D0B-B5BD-533E-BF13FBA1ABC0}"/>
              </a:ext>
            </a:extLst>
          </p:cNvPr>
          <p:cNvPicPr>
            <a:picLocks noChangeAspect="1"/>
          </p:cNvPicPr>
          <p:nvPr/>
        </p:nvPicPr>
        <p:blipFill>
          <a:blip r:embed="rId2"/>
          <a:stretch>
            <a:fillRect/>
          </a:stretch>
        </p:blipFill>
        <p:spPr>
          <a:xfrm>
            <a:off x="903415" y="980086"/>
            <a:ext cx="5106062" cy="5628925"/>
          </a:xfrm>
          <a:prstGeom prst="rect">
            <a:avLst/>
          </a:prstGeom>
        </p:spPr>
      </p:pic>
      <p:pic>
        <p:nvPicPr>
          <p:cNvPr id="7" name="Picture 6">
            <a:extLst>
              <a:ext uri="{FF2B5EF4-FFF2-40B4-BE49-F238E27FC236}">
                <a16:creationId xmlns:a16="http://schemas.microsoft.com/office/drawing/2014/main" id="{6B689935-A141-6F70-9A46-C340930ABCD1}"/>
              </a:ext>
            </a:extLst>
          </p:cNvPr>
          <p:cNvPicPr>
            <a:picLocks noChangeAspect="1"/>
          </p:cNvPicPr>
          <p:nvPr/>
        </p:nvPicPr>
        <p:blipFill>
          <a:blip r:embed="rId3"/>
          <a:stretch>
            <a:fillRect/>
          </a:stretch>
        </p:blipFill>
        <p:spPr>
          <a:xfrm>
            <a:off x="6274796" y="1147764"/>
            <a:ext cx="5013789" cy="4804012"/>
          </a:xfrm>
          <a:prstGeom prst="rect">
            <a:avLst/>
          </a:prstGeom>
        </p:spPr>
      </p:pic>
    </p:spTree>
    <p:extLst>
      <p:ext uri="{BB962C8B-B14F-4D97-AF65-F5344CB8AC3E}">
        <p14:creationId xmlns:p14="http://schemas.microsoft.com/office/powerpoint/2010/main" val="2515379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9954-98BB-57BA-B863-E4635D84D2BF}"/>
              </a:ext>
            </a:extLst>
          </p:cNvPr>
          <p:cNvSpPr>
            <a:spLocks noGrp="1"/>
          </p:cNvSpPr>
          <p:nvPr>
            <p:ph type="title"/>
          </p:nvPr>
        </p:nvSpPr>
        <p:spPr/>
        <p:txBody>
          <a:bodyPr/>
          <a:lstStyle/>
          <a:p>
            <a:r>
              <a:rPr lang="en-GB" dirty="0"/>
              <a:t>Vision: rhodopsin</a:t>
            </a:r>
          </a:p>
        </p:txBody>
      </p:sp>
      <p:sp>
        <p:nvSpPr>
          <p:cNvPr id="3" name="Content Placeholder 2">
            <a:extLst>
              <a:ext uri="{FF2B5EF4-FFF2-40B4-BE49-F238E27FC236}">
                <a16:creationId xmlns:a16="http://schemas.microsoft.com/office/drawing/2014/main" id="{BFA878AC-42EB-E128-8DA4-3145FA3F4C1F}"/>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67C702C2-359B-8623-A980-FA1E80FA0F30}"/>
              </a:ext>
            </a:extLst>
          </p:cNvPr>
          <p:cNvPicPr>
            <a:picLocks noChangeAspect="1"/>
          </p:cNvPicPr>
          <p:nvPr/>
        </p:nvPicPr>
        <p:blipFill>
          <a:blip r:embed="rId2"/>
          <a:stretch>
            <a:fillRect/>
          </a:stretch>
        </p:blipFill>
        <p:spPr>
          <a:xfrm>
            <a:off x="838200" y="1306772"/>
            <a:ext cx="3849384" cy="4244454"/>
          </a:xfrm>
          <a:prstGeom prst="rect">
            <a:avLst/>
          </a:prstGeom>
        </p:spPr>
      </p:pic>
      <p:pic>
        <p:nvPicPr>
          <p:cNvPr id="9" name="Picture 8">
            <a:extLst>
              <a:ext uri="{FF2B5EF4-FFF2-40B4-BE49-F238E27FC236}">
                <a16:creationId xmlns:a16="http://schemas.microsoft.com/office/drawing/2014/main" id="{C0E64C73-D8E8-CBD6-A817-16BD16570276}"/>
              </a:ext>
            </a:extLst>
          </p:cNvPr>
          <p:cNvPicPr>
            <a:picLocks noChangeAspect="1"/>
          </p:cNvPicPr>
          <p:nvPr/>
        </p:nvPicPr>
        <p:blipFill>
          <a:blip r:embed="rId3"/>
          <a:stretch>
            <a:fillRect/>
          </a:stretch>
        </p:blipFill>
        <p:spPr>
          <a:xfrm>
            <a:off x="5922354" y="1306772"/>
            <a:ext cx="5810455" cy="4816135"/>
          </a:xfrm>
          <a:prstGeom prst="rect">
            <a:avLst/>
          </a:prstGeom>
        </p:spPr>
      </p:pic>
    </p:spTree>
    <p:extLst>
      <p:ext uri="{BB962C8B-B14F-4D97-AF65-F5344CB8AC3E}">
        <p14:creationId xmlns:p14="http://schemas.microsoft.com/office/powerpoint/2010/main" val="1100242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9954-98BB-57BA-B863-E4635D84D2BF}"/>
              </a:ext>
            </a:extLst>
          </p:cNvPr>
          <p:cNvSpPr>
            <a:spLocks noGrp="1"/>
          </p:cNvSpPr>
          <p:nvPr>
            <p:ph type="title"/>
          </p:nvPr>
        </p:nvSpPr>
        <p:spPr/>
        <p:txBody>
          <a:bodyPr/>
          <a:lstStyle/>
          <a:p>
            <a:r>
              <a:rPr lang="en-GB" dirty="0"/>
              <a:t>Vision: activation of photoreceptors</a:t>
            </a:r>
          </a:p>
        </p:txBody>
      </p:sp>
      <p:sp>
        <p:nvSpPr>
          <p:cNvPr id="3" name="Content Placeholder 2">
            <a:extLst>
              <a:ext uri="{FF2B5EF4-FFF2-40B4-BE49-F238E27FC236}">
                <a16:creationId xmlns:a16="http://schemas.microsoft.com/office/drawing/2014/main" id="{BFA878AC-42EB-E128-8DA4-3145FA3F4C1F}"/>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C3B67493-944D-282B-0426-AE4BBBEF83FF}"/>
              </a:ext>
            </a:extLst>
          </p:cNvPr>
          <p:cNvPicPr>
            <a:picLocks noChangeAspect="1"/>
          </p:cNvPicPr>
          <p:nvPr/>
        </p:nvPicPr>
        <p:blipFill rotWithShape="1">
          <a:blip r:embed="rId2"/>
          <a:srcRect b="38369"/>
          <a:stretch/>
        </p:blipFill>
        <p:spPr>
          <a:xfrm>
            <a:off x="7182240" y="1280029"/>
            <a:ext cx="4298362" cy="5017532"/>
          </a:xfrm>
          <a:prstGeom prst="rect">
            <a:avLst/>
          </a:prstGeom>
        </p:spPr>
      </p:pic>
      <p:pic>
        <p:nvPicPr>
          <p:cNvPr id="9" name="Picture 8">
            <a:extLst>
              <a:ext uri="{FF2B5EF4-FFF2-40B4-BE49-F238E27FC236}">
                <a16:creationId xmlns:a16="http://schemas.microsoft.com/office/drawing/2014/main" id="{C0E64C73-D8E8-CBD6-A817-16BD16570276}"/>
              </a:ext>
            </a:extLst>
          </p:cNvPr>
          <p:cNvPicPr>
            <a:picLocks noChangeAspect="1"/>
          </p:cNvPicPr>
          <p:nvPr/>
        </p:nvPicPr>
        <p:blipFill>
          <a:blip r:embed="rId3"/>
          <a:stretch>
            <a:fillRect/>
          </a:stretch>
        </p:blipFill>
        <p:spPr>
          <a:xfrm>
            <a:off x="1107800" y="1145220"/>
            <a:ext cx="4644071" cy="3849350"/>
          </a:xfrm>
          <a:prstGeom prst="rect">
            <a:avLst/>
          </a:prstGeom>
        </p:spPr>
      </p:pic>
      <p:pic>
        <p:nvPicPr>
          <p:cNvPr id="4" name="Picture 3">
            <a:extLst>
              <a:ext uri="{FF2B5EF4-FFF2-40B4-BE49-F238E27FC236}">
                <a16:creationId xmlns:a16="http://schemas.microsoft.com/office/drawing/2014/main" id="{814CDFBC-7CC0-CDB7-4B40-690E59FC2F88}"/>
              </a:ext>
            </a:extLst>
          </p:cNvPr>
          <p:cNvPicPr>
            <a:picLocks noChangeAspect="1"/>
          </p:cNvPicPr>
          <p:nvPr/>
        </p:nvPicPr>
        <p:blipFill rotWithShape="1">
          <a:blip r:embed="rId2"/>
          <a:srcRect t="60701" r="20468" b="14792"/>
          <a:stretch/>
        </p:blipFill>
        <p:spPr>
          <a:xfrm>
            <a:off x="1962876" y="4166151"/>
            <a:ext cx="4133124" cy="2412202"/>
          </a:xfrm>
          <a:prstGeom prst="rect">
            <a:avLst/>
          </a:prstGeom>
        </p:spPr>
      </p:pic>
    </p:spTree>
    <p:extLst>
      <p:ext uri="{BB962C8B-B14F-4D97-AF65-F5344CB8AC3E}">
        <p14:creationId xmlns:p14="http://schemas.microsoft.com/office/powerpoint/2010/main" val="2873698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9954-98BB-57BA-B863-E4635D84D2BF}"/>
              </a:ext>
            </a:extLst>
          </p:cNvPr>
          <p:cNvSpPr>
            <a:spLocks noGrp="1"/>
          </p:cNvSpPr>
          <p:nvPr>
            <p:ph type="title"/>
          </p:nvPr>
        </p:nvSpPr>
        <p:spPr/>
        <p:txBody>
          <a:bodyPr/>
          <a:lstStyle/>
          <a:p>
            <a:r>
              <a:rPr lang="en-GB" dirty="0"/>
              <a:t>Vision: </a:t>
            </a:r>
            <a:r>
              <a:rPr lang="en-GB" dirty="0" err="1"/>
              <a:t>color</a:t>
            </a:r>
            <a:r>
              <a:rPr lang="en-GB" dirty="0"/>
              <a:t> photoreceptors</a:t>
            </a:r>
          </a:p>
        </p:txBody>
      </p:sp>
      <p:sp>
        <p:nvSpPr>
          <p:cNvPr id="3" name="Content Placeholder 2">
            <a:extLst>
              <a:ext uri="{FF2B5EF4-FFF2-40B4-BE49-F238E27FC236}">
                <a16:creationId xmlns:a16="http://schemas.microsoft.com/office/drawing/2014/main" id="{BFA878AC-42EB-E128-8DA4-3145FA3F4C1F}"/>
              </a:ext>
            </a:extLst>
          </p:cNvPr>
          <p:cNvSpPr>
            <a:spLocks noGrp="1"/>
          </p:cNvSpPr>
          <p:nvPr>
            <p:ph idx="1"/>
          </p:nvPr>
        </p:nvSpPr>
        <p:spPr/>
        <p:txBody>
          <a:bodyPr/>
          <a:lstStyle/>
          <a:p>
            <a:endParaRPr lang="en-GB"/>
          </a:p>
        </p:txBody>
      </p:sp>
      <p:pic>
        <p:nvPicPr>
          <p:cNvPr id="11" name="Picture 10">
            <a:extLst>
              <a:ext uri="{FF2B5EF4-FFF2-40B4-BE49-F238E27FC236}">
                <a16:creationId xmlns:a16="http://schemas.microsoft.com/office/drawing/2014/main" id="{C8867C1C-16D4-14E0-D1E7-5B6931101F9C}"/>
              </a:ext>
            </a:extLst>
          </p:cNvPr>
          <p:cNvPicPr>
            <a:picLocks noChangeAspect="1"/>
          </p:cNvPicPr>
          <p:nvPr/>
        </p:nvPicPr>
        <p:blipFill>
          <a:blip r:embed="rId2"/>
          <a:stretch>
            <a:fillRect/>
          </a:stretch>
        </p:blipFill>
        <p:spPr>
          <a:xfrm>
            <a:off x="198667" y="1569477"/>
            <a:ext cx="5964008" cy="4387434"/>
          </a:xfrm>
          <a:prstGeom prst="rect">
            <a:avLst/>
          </a:prstGeom>
        </p:spPr>
      </p:pic>
      <p:pic>
        <p:nvPicPr>
          <p:cNvPr id="13" name="Picture 12">
            <a:extLst>
              <a:ext uri="{FF2B5EF4-FFF2-40B4-BE49-F238E27FC236}">
                <a16:creationId xmlns:a16="http://schemas.microsoft.com/office/drawing/2014/main" id="{5720E6E2-FB0C-148E-8D29-14BB6D0BAB18}"/>
              </a:ext>
            </a:extLst>
          </p:cNvPr>
          <p:cNvPicPr>
            <a:picLocks noChangeAspect="1"/>
          </p:cNvPicPr>
          <p:nvPr/>
        </p:nvPicPr>
        <p:blipFill rotWithShape="1">
          <a:blip r:embed="rId3"/>
          <a:srcRect l="6269" r="6569" b="17991"/>
          <a:stretch/>
        </p:blipFill>
        <p:spPr>
          <a:xfrm>
            <a:off x="6014884" y="1431159"/>
            <a:ext cx="5773962" cy="4494674"/>
          </a:xfrm>
          <a:prstGeom prst="rect">
            <a:avLst/>
          </a:prstGeom>
        </p:spPr>
      </p:pic>
    </p:spTree>
    <p:extLst>
      <p:ext uri="{BB962C8B-B14F-4D97-AF65-F5344CB8AC3E}">
        <p14:creationId xmlns:p14="http://schemas.microsoft.com/office/powerpoint/2010/main" val="243318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9954-98BB-57BA-B863-E4635D84D2BF}"/>
              </a:ext>
            </a:extLst>
          </p:cNvPr>
          <p:cNvSpPr>
            <a:spLocks noGrp="1"/>
          </p:cNvSpPr>
          <p:nvPr>
            <p:ph type="title"/>
          </p:nvPr>
        </p:nvSpPr>
        <p:spPr/>
        <p:txBody>
          <a:bodyPr/>
          <a:lstStyle/>
          <a:p>
            <a:r>
              <a:rPr lang="en-GB" dirty="0"/>
              <a:t>Vision: </a:t>
            </a:r>
            <a:r>
              <a:rPr lang="en-GB" dirty="0" err="1"/>
              <a:t>color</a:t>
            </a:r>
            <a:r>
              <a:rPr lang="en-GB" dirty="0"/>
              <a:t> blindness</a:t>
            </a:r>
          </a:p>
        </p:txBody>
      </p:sp>
      <p:sp>
        <p:nvSpPr>
          <p:cNvPr id="3" name="Content Placeholder 2">
            <a:extLst>
              <a:ext uri="{FF2B5EF4-FFF2-40B4-BE49-F238E27FC236}">
                <a16:creationId xmlns:a16="http://schemas.microsoft.com/office/drawing/2014/main" id="{BFA878AC-42EB-E128-8DA4-3145FA3F4C1F}"/>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D45237DF-8C9F-A698-0773-6DF70973EA77}"/>
              </a:ext>
            </a:extLst>
          </p:cNvPr>
          <p:cNvPicPr>
            <a:picLocks noChangeAspect="1"/>
          </p:cNvPicPr>
          <p:nvPr/>
        </p:nvPicPr>
        <p:blipFill rotWithShape="1">
          <a:blip r:embed="rId2"/>
          <a:srcRect b="50719"/>
          <a:stretch/>
        </p:blipFill>
        <p:spPr>
          <a:xfrm>
            <a:off x="1208238" y="1272888"/>
            <a:ext cx="4798082" cy="4531094"/>
          </a:xfrm>
          <a:prstGeom prst="rect">
            <a:avLst/>
          </a:prstGeom>
        </p:spPr>
      </p:pic>
      <p:pic>
        <p:nvPicPr>
          <p:cNvPr id="4" name="Picture 3">
            <a:extLst>
              <a:ext uri="{FF2B5EF4-FFF2-40B4-BE49-F238E27FC236}">
                <a16:creationId xmlns:a16="http://schemas.microsoft.com/office/drawing/2014/main" id="{3DE1A5D8-D0BD-EF4D-AAD4-36D61A4825C9}"/>
              </a:ext>
            </a:extLst>
          </p:cNvPr>
          <p:cNvPicPr>
            <a:picLocks noChangeAspect="1"/>
          </p:cNvPicPr>
          <p:nvPr/>
        </p:nvPicPr>
        <p:blipFill rotWithShape="1">
          <a:blip r:embed="rId2"/>
          <a:srcRect t="51432"/>
          <a:stretch/>
        </p:blipFill>
        <p:spPr>
          <a:xfrm>
            <a:off x="6418066" y="1239620"/>
            <a:ext cx="4798082" cy="4465458"/>
          </a:xfrm>
          <a:prstGeom prst="rect">
            <a:avLst/>
          </a:prstGeom>
        </p:spPr>
      </p:pic>
    </p:spTree>
    <p:extLst>
      <p:ext uri="{BB962C8B-B14F-4D97-AF65-F5344CB8AC3E}">
        <p14:creationId xmlns:p14="http://schemas.microsoft.com/office/powerpoint/2010/main" val="2205176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FBB3D-9663-7801-2353-35D160579F9C}"/>
              </a:ext>
            </a:extLst>
          </p:cNvPr>
          <p:cNvSpPr>
            <a:spLocks noGrp="1"/>
          </p:cNvSpPr>
          <p:nvPr>
            <p:ph type="title"/>
          </p:nvPr>
        </p:nvSpPr>
        <p:spPr/>
        <p:txBody>
          <a:bodyPr/>
          <a:lstStyle/>
          <a:p>
            <a:r>
              <a:rPr lang="en-GB" dirty="0"/>
              <a:t>Vision: signal processing in the retina</a:t>
            </a:r>
          </a:p>
        </p:txBody>
      </p:sp>
      <p:sp>
        <p:nvSpPr>
          <p:cNvPr id="3" name="Content Placeholder 2">
            <a:extLst>
              <a:ext uri="{FF2B5EF4-FFF2-40B4-BE49-F238E27FC236}">
                <a16:creationId xmlns:a16="http://schemas.microsoft.com/office/drawing/2014/main" id="{91BB1363-2D5B-C09D-6E9E-DB5225B5C582}"/>
              </a:ext>
            </a:extLst>
          </p:cNvPr>
          <p:cNvSpPr>
            <a:spLocks noGrp="1"/>
          </p:cNvSpPr>
          <p:nvPr>
            <p:ph idx="1"/>
          </p:nvPr>
        </p:nvSpPr>
        <p:spPr/>
        <p:txBody>
          <a:bodyPr/>
          <a:lstStyle/>
          <a:p>
            <a:r>
              <a:rPr lang="en-GB" dirty="0"/>
              <a:t>100 million rods/ 3 million cones</a:t>
            </a:r>
          </a:p>
          <a:p>
            <a:r>
              <a:rPr lang="en-GB" dirty="0"/>
              <a:t>1.6 ganglion cells </a:t>
            </a:r>
            <a:r>
              <a:rPr lang="en-GB" dirty="0">
                <a:sym typeface="Wingdings" panose="05000000000000000000" pitchFamily="2" charset="2"/>
              </a:rPr>
              <a:t> 60 rods and 2 cones for each ganglion cell</a:t>
            </a:r>
          </a:p>
          <a:p>
            <a:r>
              <a:rPr lang="en-GB" dirty="0">
                <a:sym typeface="Wingdings" panose="05000000000000000000" pitchFamily="2" charset="2"/>
              </a:rPr>
              <a:t>Lateral inhibition in the retina</a:t>
            </a:r>
          </a:p>
          <a:p>
            <a:pPr lvl="1"/>
            <a:r>
              <a:rPr lang="en-GB" dirty="0">
                <a:sym typeface="Wingdings" panose="05000000000000000000" pitchFamily="2" charset="2"/>
              </a:rPr>
              <a:t>Horizontal cells and amacrine cells</a:t>
            </a:r>
            <a:endParaRPr lang="en-GB" dirty="0"/>
          </a:p>
        </p:txBody>
      </p:sp>
      <p:pic>
        <p:nvPicPr>
          <p:cNvPr id="10" name="Picture 9">
            <a:extLst>
              <a:ext uri="{FF2B5EF4-FFF2-40B4-BE49-F238E27FC236}">
                <a16:creationId xmlns:a16="http://schemas.microsoft.com/office/drawing/2014/main" id="{B0676817-DAA9-CDCB-41F7-F4FA4EDB1D0B}"/>
              </a:ext>
            </a:extLst>
          </p:cNvPr>
          <p:cNvPicPr>
            <a:picLocks noChangeAspect="1"/>
          </p:cNvPicPr>
          <p:nvPr/>
        </p:nvPicPr>
        <p:blipFill>
          <a:blip r:embed="rId2"/>
          <a:stretch>
            <a:fillRect/>
          </a:stretch>
        </p:blipFill>
        <p:spPr>
          <a:xfrm>
            <a:off x="7235697" y="902521"/>
            <a:ext cx="3980144" cy="5333180"/>
          </a:xfrm>
          <a:prstGeom prst="rect">
            <a:avLst/>
          </a:prstGeom>
        </p:spPr>
      </p:pic>
      <p:pic>
        <p:nvPicPr>
          <p:cNvPr id="4" name="Picture 3">
            <a:extLst>
              <a:ext uri="{FF2B5EF4-FFF2-40B4-BE49-F238E27FC236}">
                <a16:creationId xmlns:a16="http://schemas.microsoft.com/office/drawing/2014/main" id="{FD1409CC-87D8-EDD0-C3BE-55C6672EEE63}"/>
              </a:ext>
            </a:extLst>
          </p:cNvPr>
          <p:cNvPicPr>
            <a:picLocks noChangeAspect="1"/>
          </p:cNvPicPr>
          <p:nvPr/>
        </p:nvPicPr>
        <p:blipFill>
          <a:blip r:embed="rId3"/>
          <a:stretch>
            <a:fillRect/>
          </a:stretch>
        </p:blipFill>
        <p:spPr>
          <a:xfrm>
            <a:off x="1241751" y="3213100"/>
            <a:ext cx="3090578" cy="3398740"/>
          </a:xfrm>
          <a:prstGeom prst="rect">
            <a:avLst/>
          </a:prstGeom>
        </p:spPr>
      </p:pic>
    </p:spTree>
    <p:extLst>
      <p:ext uri="{BB962C8B-B14F-4D97-AF65-F5344CB8AC3E}">
        <p14:creationId xmlns:p14="http://schemas.microsoft.com/office/powerpoint/2010/main" val="195472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ADEC-ECD8-CFB0-DEDB-6870437DA645}"/>
              </a:ext>
            </a:extLst>
          </p:cNvPr>
          <p:cNvSpPr>
            <a:spLocks noGrp="1"/>
          </p:cNvSpPr>
          <p:nvPr>
            <p:ph type="title"/>
          </p:nvPr>
        </p:nvSpPr>
        <p:spPr/>
        <p:txBody>
          <a:bodyPr/>
          <a:lstStyle/>
          <a:p>
            <a:r>
              <a:rPr lang="en-GB" dirty="0"/>
              <a:t>Pupillary reflex</a:t>
            </a:r>
          </a:p>
        </p:txBody>
      </p:sp>
      <p:pic>
        <p:nvPicPr>
          <p:cNvPr id="5" name="Content Placeholder 4">
            <a:extLst>
              <a:ext uri="{FF2B5EF4-FFF2-40B4-BE49-F238E27FC236}">
                <a16:creationId xmlns:a16="http://schemas.microsoft.com/office/drawing/2014/main" id="{54333D04-D02A-0E44-95F0-2EB50232CF2C}"/>
              </a:ext>
            </a:extLst>
          </p:cNvPr>
          <p:cNvPicPr>
            <a:picLocks noGrp="1" noChangeAspect="1"/>
          </p:cNvPicPr>
          <p:nvPr>
            <p:ph idx="1"/>
          </p:nvPr>
        </p:nvPicPr>
        <p:blipFill>
          <a:blip r:embed="rId2"/>
          <a:stretch>
            <a:fillRect/>
          </a:stretch>
        </p:blipFill>
        <p:spPr>
          <a:xfrm>
            <a:off x="1090614" y="1240176"/>
            <a:ext cx="4281486" cy="5185686"/>
          </a:xfrm>
        </p:spPr>
      </p:pic>
      <p:pic>
        <p:nvPicPr>
          <p:cNvPr id="8194" name="Picture 2">
            <a:extLst>
              <a:ext uri="{FF2B5EF4-FFF2-40B4-BE49-F238E27FC236}">
                <a16:creationId xmlns:a16="http://schemas.microsoft.com/office/drawing/2014/main" id="{23272EAE-1F56-77F8-5EF9-F9D98B844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40176"/>
            <a:ext cx="5521434" cy="500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3675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ECE73960-D6C6-961D-102D-34E526670F7D}"/>
              </a:ext>
            </a:extLst>
          </p:cNvPr>
          <p:cNvPicPr>
            <a:picLocks noChangeAspect="1"/>
          </p:cNvPicPr>
          <p:nvPr/>
        </p:nvPicPr>
        <p:blipFill>
          <a:blip r:embed="rId2"/>
          <a:stretch>
            <a:fillRect/>
          </a:stretch>
        </p:blipFill>
        <p:spPr>
          <a:xfrm>
            <a:off x="3580535" y="1194145"/>
            <a:ext cx="5030930" cy="4958179"/>
          </a:xfrm>
          <a:prstGeom prst="rect">
            <a:avLst/>
          </a:prstGeom>
        </p:spPr>
      </p:pic>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 taste</a:t>
            </a:r>
          </a:p>
        </p:txBody>
      </p:sp>
      <p:sp>
        <p:nvSpPr>
          <p:cNvPr id="12" name="TextBox 11">
            <a:extLst>
              <a:ext uri="{FF2B5EF4-FFF2-40B4-BE49-F238E27FC236}">
                <a16:creationId xmlns:a16="http://schemas.microsoft.com/office/drawing/2014/main" id="{FF733EB9-B099-20E9-0769-01ABA2C23A32}"/>
              </a:ext>
            </a:extLst>
          </p:cNvPr>
          <p:cNvSpPr txBox="1"/>
          <p:nvPr/>
        </p:nvSpPr>
        <p:spPr>
          <a:xfrm>
            <a:off x="6996546" y="920337"/>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solidFill>
                  <a:schemeClr val="accent1">
                    <a:lumMod val="75000"/>
                  </a:schemeClr>
                </a:solidFill>
                <a:cs typeface="Calibri"/>
              </a:rPr>
              <a:t>Taste</a:t>
            </a:r>
            <a:endParaRPr lang="en-US" dirty="0">
              <a:solidFill>
                <a:schemeClr val="accent1">
                  <a:lumMod val="75000"/>
                </a:schemeClr>
              </a:solidFill>
            </a:endParaRPr>
          </a:p>
        </p:txBody>
      </p:sp>
      <p:sp>
        <p:nvSpPr>
          <p:cNvPr id="13" name="TextBox 12">
            <a:extLst>
              <a:ext uri="{FF2B5EF4-FFF2-40B4-BE49-F238E27FC236}">
                <a16:creationId xmlns:a16="http://schemas.microsoft.com/office/drawing/2014/main" id="{59ABDAD2-88CD-E2BE-1420-4C19DE43004A}"/>
              </a:ext>
            </a:extLst>
          </p:cNvPr>
          <p:cNvSpPr txBox="1"/>
          <p:nvPr/>
        </p:nvSpPr>
        <p:spPr>
          <a:xfrm>
            <a:off x="7669481" y="1345868"/>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Smell</a:t>
            </a:r>
            <a:endParaRPr lang="en-US" dirty="0"/>
          </a:p>
        </p:txBody>
      </p:sp>
    </p:spTree>
    <p:extLst>
      <p:ext uri="{BB962C8B-B14F-4D97-AF65-F5344CB8AC3E}">
        <p14:creationId xmlns:p14="http://schemas.microsoft.com/office/powerpoint/2010/main" val="4257307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40-2026-21D6-44EA-9EDF37C2B513}"/>
              </a:ext>
            </a:extLst>
          </p:cNvPr>
          <p:cNvSpPr>
            <a:spLocks noGrp="1"/>
          </p:cNvSpPr>
          <p:nvPr>
            <p:ph type="title"/>
          </p:nvPr>
        </p:nvSpPr>
        <p:spPr/>
        <p:txBody>
          <a:bodyPr/>
          <a:lstStyle/>
          <a:p>
            <a:r>
              <a:rPr lang="en-GB" dirty="0"/>
              <a:t>Taste buds</a:t>
            </a:r>
          </a:p>
        </p:txBody>
      </p:sp>
      <p:pic>
        <p:nvPicPr>
          <p:cNvPr id="2050" name="Picture 2" descr="Figure 1">
            <a:extLst>
              <a:ext uri="{FF2B5EF4-FFF2-40B4-BE49-F238E27FC236}">
                <a16:creationId xmlns:a16="http://schemas.microsoft.com/office/drawing/2014/main" id="{A68D3A18-1A09-93B6-640A-8E362E8F4D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786" b="32199"/>
          <a:stretch/>
        </p:blipFill>
        <p:spPr bwMode="auto">
          <a:xfrm>
            <a:off x="359701" y="1382159"/>
            <a:ext cx="4883244" cy="43279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9DFD2B7-E5F8-8DBB-D973-F9BA9A80D711}"/>
              </a:ext>
            </a:extLst>
          </p:cNvPr>
          <p:cNvPicPr>
            <a:picLocks noChangeAspect="1"/>
          </p:cNvPicPr>
          <p:nvPr/>
        </p:nvPicPr>
        <p:blipFill>
          <a:blip r:embed="rId3"/>
          <a:stretch>
            <a:fillRect/>
          </a:stretch>
        </p:blipFill>
        <p:spPr>
          <a:xfrm>
            <a:off x="6004659" y="1561425"/>
            <a:ext cx="5277076" cy="4269179"/>
          </a:xfrm>
          <a:prstGeom prst="rect">
            <a:avLst/>
          </a:prstGeom>
        </p:spPr>
      </p:pic>
    </p:spTree>
    <p:extLst>
      <p:ext uri="{BB962C8B-B14F-4D97-AF65-F5344CB8AC3E}">
        <p14:creationId xmlns:p14="http://schemas.microsoft.com/office/powerpoint/2010/main" val="4186311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40-2026-21D6-44EA-9EDF37C2B513}"/>
              </a:ext>
            </a:extLst>
          </p:cNvPr>
          <p:cNvSpPr>
            <a:spLocks noGrp="1"/>
          </p:cNvSpPr>
          <p:nvPr>
            <p:ph type="title"/>
          </p:nvPr>
        </p:nvSpPr>
        <p:spPr/>
        <p:txBody>
          <a:bodyPr/>
          <a:lstStyle/>
          <a:p>
            <a:r>
              <a:rPr lang="en-GB" dirty="0"/>
              <a:t>Taste bud cells</a:t>
            </a:r>
          </a:p>
        </p:txBody>
      </p:sp>
      <p:sp>
        <p:nvSpPr>
          <p:cNvPr id="3" name="Content Placeholder 2">
            <a:extLst>
              <a:ext uri="{FF2B5EF4-FFF2-40B4-BE49-F238E27FC236}">
                <a16:creationId xmlns:a16="http://schemas.microsoft.com/office/drawing/2014/main" id="{32B1F049-59A4-1088-2233-1828A396C622}"/>
              </a:ext>
            </a:extLst>
          </p:cNvPr>
          <p:cNvSpPr>
            <a:spLocks noGrp="1"/>
          </p:cNvSpPr>
          <p:nvPr>
            <p:ph idx="1"/>
          </p:nvPr>
        </p:nvSpPr>
        <p:spPr>
          <a:xfrm>
            <a:off x="329380" y="1155110"/>
            <a:ext cx="5766620" cy="5563190"/>
          </a:xfrm>
        </p:spPr>
        <p:txBody>
          <a:bodyPr>
            <a:normAutofit/>
          </a:bodyPr>
          <a:lstStyle/>
          <a:p>
            <a:r>
              <a:rPr lang="en-GB" dirty="0"/>
              <a:t>Type I cells - 50%</a:t>
            </a:r>
          </a:p>
          <a:p>
            <a:pPr lvl="1"/>
            <a:r>
              <a:rPr lang="en-GB" dirty="0"/>
              <a:t>Glia-like functions – elimination of neurotransmitters and spatial buffering of K</a:t>
            </a:r>
            <a:r>
              <a:rPr lang="en-GB" baseline="30000" dirty="0"/>
              <a:t>+</a:t>
            </a:r>
          </a:p>
          <a:p>
            <a:r>
              <a:rPr lang="en-GB" dirty="0"/>
              <a:t>Type II Cells - 30% (sweet/bitter/umami)</a:t>
            </a:r>
          </a:p>
          <a:p>
            <a:pPr lvl="1"/>
            <a:r>
              <a:rPr lang="en-GB" dirty="0"/>
              <a:t>mostly organic chemicals (sugars, glycols, alcohols, aldehydes, ketones, etc)</a:t>
            </a:r>
          </a:p>
          <a:p>
            <a:pPr lvl="1"/>
            <a:r>
              <a:rPr lang="en-GB" dirty="0"/>
              <a:t>mostly organic chemicals (long-chain organic substances and alkaloids)</a:t>
            </a:r>
          </a:p>
          <a:p>
            <a:pPr lvl="1"/>
            <a:r>
              <a:rPr lang="en-GB" dirty="0"/>
              <a:t>L-glutamate</a:t>
            </a:r>
          </a:p>
          <a:p>
            <a:r>
              <a:rPr lang="en-GB" dirty="0"/>
              <a:t>Type III cells - 2-10%</a:t>
            </a:r>
          </a:p>
          <a:p>
            <a:pPr lvl="1"/>
            <a:r>
              <a:rPr lang="en-GB" dirty="0"/>
              <a:t>Sour taste</a:t>
            </a:r>
          </a:p>
          <a:p>
            <a:r>
              <a:rPr lang="en-GB" dirty="0"/>
              <a:t>Intercellular communication</a:t>
            </a:r>
          </a:p>
          <a:p>
            <a:pPr lvl="1"/>
            <a:r>
              <a:rPr lang="en-GB" dirty="0"/>
              <a:t>Type II and type III cells - ATP, </a:t>
            </a:r>
            <a:r>
              <a:rPr lang="en-GB" dirty="0" err="1"/>
              <a:t>serotonine</a:t>
            </a:r>
            <a:r>
              <a:rPr lang="en-GB" dirty="0"/>
              <a:t> and GABA</a:t>
            </a:r>
          </a:p>
          <a:p>
            <a:pPr lvl="1"/>
            <a:r>
              <a:rPr lang="en-GB" dirty="0"/>
              <a:t>Type III to nerve fibres via </a:t>
            </a:r>
            <a:r>
              <a:rPr lang="en-GB" dirty="0" err="1"/>
              <a:t>serotonine</a:t>
            </a:r>
            <a:r>
              <a:rPr lang="en-GB" dirty="0"/>
              <a:t> and glutamate</a:t>
            </a:r>
          </a:p>
          <a:p>
            <a:pPr lvl="1"/>
            <a:endParaRPr lang="en-GB" dirty="0"/>
          </a:p>
          <a:p>
            <a:pPr lvl="1"/>
            <a:endParaRPr lang="en-GB" dirty="0"/>
          </a:p>
        </p:txBody>
      </p:sp>
      <p:pic>
        <p:nvPicPr>
          <p:cNvPr id="7" name="Picture 6">
            <a:extLst>
              <a:ext uri="{FF2B5EF4-FFF2-40B4-BE49-F238E27FC236}">
                <a16:creationId xmlns:a16="http://schemas.microsoft.com/office/drawing/2014/main" id="{01BBD809-3885-D898-FA89-61A3D00902D1}"/>
              </a:ext>
            </a:extLst>
          </p:cNvPr>
          <p:cNvPicPr>
            <a:picLocks noChangeAspect="1"/>
          </p:cNvPicPr>
          <p:nvPr/>
        </p:nvPicPr>
        <p:blipFill>
          <a:blip r:embed="rId3"/>
          <a:stretch>
            <a:fillRect/>
          </a:stretch>
        </p:blipFill>
        <p:spPr>
          <a:xfrm>
            <a:off x="6326720" y="1287462"/>
            <a:ext cx="5535900" cy="4147390"/>
          </a:xfrm>
          <a:prstGeom prst="rect">
            <a:avLst/>
          </a:prstGeom>
        </p:spPr>
      </p:pic>
    </p:spTree>
    <p:extLst>
      <p:ext uri="{BB962C8B-B14F-4D97-AF65-F5344CB8AC3E}">
        <p14:creationId xmlns:p14="http://schemas.microsoft.com/office/powerpoint/2010/main" val="2233473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40-2026-21D6-44EA-9EDF37C2B513}"/>
              </a:ext>
            </a:extLst>
          </p:cNvPr>
          <p:cNvSpPr>
            <a:spLocks noGrp="1"/>
          </p:cNvSpPr>
          <p:nvPr>
            <p:ph type="title"/>
          </p:nvPr>
        </p:nvSpPr>
        <p:spPr/>
        <p:txBody>
          <a:bodyPr/>
          <a:lstStyle/>
          <a:p>
            <a:r>
              <a:rPr lang="en-GB" dirty="0"/>
              <a:t>Taste receptors</a:t>
            </a:r>
          </a:p>
        </p:txBody>
      </p:sp>
      <p:sp>
        <p:nvSpPr>
          <p:cNvPr id="3" name="Content Placeholder 2">
            <a:extLst>
              <a:ext uri="{FF2B5EF4-FFF2-40B4-BE49-F238E27FC236}">
                <a16:creationId xmlns:a16="http://schemas.microsoft.com/office/drawing/2014/main" id="{32B1F049-59A4-1088-2233-1828A396C622}"/>
              </a:ext>
            </a:extLst>
          </p:cNvPr>
          <p:cNvSpPr>
            <a:spLocks noGrp="1"/>
          </p:cNvSpPr>
          <p:nvPr>
            <p:ph idx="1"/>
          </p:nvPr>
        </p:nvSpPr>
        <p:spPr>
          <a:xfrm>
            <a:off x="329380" y="1155110"/>
            <a:ext cx="5766620" cy="5455240"/>
          </a:xfrm>
        </p:spPr>
        <p:txBody>
          <a:bodyPr>
            <a:normAutofit/>
          </a:bodyPr>
          <a:lstStyle/>
          <a:p>
            <a:r>
              <a:rPr lang="en-GB" dirty="0"/>
              <a:t>Type I receptors (T1R) - GPCRs</a:t>
            </a:r>
          </a:p>
          <a:p>
            <a:pPr lvl="1"/>
            <a:r>
              <a:rPr lang="en-GB" dirty="0"/>
              <a:t>Venus flytrap module (VFM)</a:t>
            </a:r>
          </a:p>
          <a:p>
            <a:pPr lvl="1"/>
            <a:r>
              <a:rPr lang="en-GB" dirty="0"/>
              <a:t>T1R2/ T1R3 heterodimers recognize sweet taste</a:t>
            </a:r>
          </a:p>
          <a:p>
            <a:pPr lvl="1"/>
            <a:r>
              <a:rPr lang="en-GB" dirty="0"/>
              <a:t>T1R1/ T1R3 heterodimers recognize umami taste</a:t>
            </a:r>
          </a:p>
          <a:p>
            <a:pPr marL="457200" lvl="1" indent="0">
              <a:buNone/>
            </a:pPr>
            <a:endParaRPr lang="en-GB" dirty="0"/>
          </a:p>
          <a:p>
            <a:r>
              <a:rPr lang="en-GB" dirty="0"/>
              <a:t>Type II receptors (T2R) - GPCRs</a:t>
            </a:r>
          </a:p>
          <a:p>
            <a:pPr lvl="1"/>
            <a:r>
              <a:rPr lang="en-GB" dirty="0"/>
              <a:t>Function as monomers</a:t>
            </a:r>
          </a:p>
          <a:p>
            <a:pPr lvl="1"/>
            <a:r>
              <a:rPr lang="en-GB" dirty="0"/>
              <a:t>20 or more genes encoding for T2Rs</a:t>
            </a:r>
          </a:p>
          <a:p>
            <a:endParaRPr lang="en-GB" dirty="0"/>
          </a:p>
          <a:p>
            <a:r>
              <a:rPr lang="en-GB" dirty="0"/>
              <a:t>GLUT and SGLT1 - transporters</a:t>
            </a:r>
          </a:p>
          <a:p>
            <a:pPr lvl="1"/>
            <a:r>
              <a:rPr lang="en-GB" dirty="0"/>
              <a:t>Alternative sensing of glucose</a:t>
            </a:r>
          </a:p>
          <a:p>
            <a:pPr lvl="1"/>
            <a:r>
              <a:rPr lang="en-GB" dirty="0"/>
              <a:t>SGLT1 </a:t>
            </a:r>
            <a:r>
              <a:rPr lang="en-GB" dirty="0">
                <a:sym typeface="Wingdings" panose="05000000000000000000" pitchFamily="2" charset="2"/>
              </a:rPr>
              <a:t> Na+/Glucose transporter - possible explanation for salt enhancing sweet taste!</a:t>
            </a:r>
            <a:endParaRPr lang="en-GB" dirty="0"/>
          </a:p>
          <a:p>
            <a:pPr lvl="1"/>
            <a:endParaRPr lang="en-GB" dirty="0"/>
          </a:p>
          <a:p>
            <a:pPr lvl="1"/>
            <a:endParaRPr lang="en-GB" dirty="0"/>
          </a:p>
        </p:txBody>
      </p:sp>
      <p:pic>
        <p:nvPicPr>
          <p:cNvPr id="11" name="Picture 10">
            <a:extLst>
              <a:ext uri="{FF2B5EF4-FFF2-40B4-BE49-F238E27FC236}">
                <a16:creationId xmlns:a16="http://schemas.microsoft.com/office/drawing/2014/main" id="{70AFD986-F8D3-5C48-3418-453C332C467E}"/>
              </a:ext>
            </a:extLst>
          </p:cNvPr>
          <p:cNvPicPr>
            <a:picLocks noChangeAspect="1"/>
          </p:cNvPicPr>
          <p:nvPr/>
        </p:nvPicPr>
        <p:blipFill rotWithShape="1">
          <a:blip r:embed="rId2"/>
          <a:srcRect r="55546"/>
          <a:stretch/>
        </p:blipFill>
        <p:spPr>
          <a:xfrm>
            <a:off x="6708955" y="563182"/>
            <a:ext cx="3819994" cy="3113468"/>
          </a:xfrm>
          <a:prstGeom prst="rect">
            <a:avLst/>
          </a:prstGeom>
        </p:spPr>
      </p:pic>
      <p:pic>
        <p:nvPicPr>
          <p:cNvPr id="4" name="Picture 3">
            <a:extLst>
              <a:ext uri="{FF2B5EF4-FFF2-40B4-BE49-F238E27FC236}">
                <a16:creationId xmlns:a16="http://schemas.microsoft.com/office/drawing/2014/main" id="{8CE6561B-13C2-8DF8-666C-050D79F3CB88}"/>
              </a:ext>
            </a:extLst>
          </p:cNvPr>
          <p:cNvPicPr>
            <a:picLocks noChangeAspect="1"/>
          </p:cNvPicPr>
          <p:nvPr/>
        </p:nvPicPr>
        <p:blipFill rotWithShape="1">
          <a:blip r:embed="rId2"/>
          <a:srcRect l="44031"/>
          <a:stretch/>
        </p:blipFill>
        <p:spPr>
          <a:xfrm>
            <a:off x="6589891" y="3585782"/>
            <a:ext cx="4809470" cy="3113468"/>
          </a:xfrm>
          <a:prstGeom prst="rect">
            <a:avLst/>
          </a:prstGeom>
        </p:spPr>
      </p:pic>
    </p:spTree>
    <p:extLst>
      <p:ext uri="{BB962C8B-B14F-4D97-AF65-F5344CB8AC3E}">
        <p14:creationId xmlns:p14="http://schemas.microsoft.com/office/powerpoint/2010/main" val="3084649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5489-14C8-D8E2-765C-F358EB498B44}"/>
              </a:ext>
            </a:extLst>
          </p:cNvPr>
          <p:cNvSpPr>
            <a:spLocks noGrp="1"/>
          </p:cNvSpPr>
          <p:nvPr>
            <p:ph type="title"/>
          </p:nvPr>
        </p:nvSpPr>
        <p:spPr/>
        <p:txBody>
          <a:bodyPr/>
          <a:lstStyle/>
          <a:p>
            <a:r>
              <a:rPr lang="en-GB" dirty="0"/>
              <a:t>Taste signal processing</a:t>
            </a:r>
          </a:p>
        </p:txBody>
      </p:sp>
      <p:pic>
        <p:nvPicPr>
          <p:cNvPr id="7" name="Content Placeholder 6">
            <a:extLst>
              <a:ext uri="{FF2B5EF4-FFF2-40B4-BE49-F238E27FC236}">
                <a16:creationId xmlns:a16="http://schemas.microsoft.com/office/drawing/2014/main" id="{041D585E-CECA-0EAD-0160-7DEA0BEA40E0}"/>
              </a:ext>
            </a:extLst>
          </p:cNvPr>
          <p:cNvPicPr>
            <a:picLocks noGrp="1" noChangeAspect="1"/>
          </p:cNvPicPr>
          <p:nvPr>
            <p:ph idx="1"/>
          </p:nvPr>
        </p:nvPicPr>
        <p:blipFill>
          <a:blip r:embed="rId2"/>
          <a:stretch>
            <a:fillRect/>
          </a:stretch>
        </p:blipFill>
        <p:spPr>
          <a:xfrm>
            <a:off x="262486" y="1555750"/>
            <a:ext cx="6677968" cy="4488232"/>
          </a:xfrm>
        </p:spPr>
      </p:pic>
      <p:pic>
        <p:nvPicPr>
          <p:cNvPr id="5" name="Picture 4">
            <a:extLst>
              <a:ext uri="{FF2B5EF4-FFF2-40B4-BE49-F238E27FC236}">
                <a16:creationId xmlns:a16="http://schemas.microsoft.com/office/drawing/2014/main" id="{D27A7A7B-484C-4908-7D7E-6585EDDE8501}"/>
              </a:ext>
            </a:extLst>
          </p:cNvPr>
          <p:cNvPicPr>
            <a:picLocks noChangeAspect="1"/>
          </p:cNvPicPr>
          <p:nvPr/>
        </p:nvPicPr>
        <p:blipFill>
          <a:blip r:embed="rId3"/>
          <a:stretch>
            <a:fillRect/>
          </a:stretch>
        </p:blipFill>
        <p:spPr>
          <a:xfrm>
            <a:off x="6998677" y="1028455"/>
            <a:ext cx="3991707" cy="5385998"/>
          </a:xfrm>
          <a:prstGeom prst="rect">
            <a:avLst/>
          </a:prstGeom>
        </p:spPr>
      </p:pic>
    </p:spTree>
    <p:extLst>
      <p:ext uri="{BB962C8B-B14F-4D97-AF65-F5344CB8AC3E}">
        <p14:creationId xmlns:p14="http://schemas.microsoft.com/office/powerpoint/2010/main" val="590692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4E233-93B0-5521-42BC-1535BE517F5C}"/>
              </a:ext>
            </a:extLst>
          </p:cNvPr>
          <p:cNvSpPr>
            <a:spLocks noGrp="1"/>
          </p:cNvSpPr>
          <p:nvPr>
            <p:ph type="title"/>
          </p:nvPr>
        </p:nvSpPr>
        <p:spPr/>
        <p:txBody>
          <a:bodyPr/>
          <a:lstStyle/>
          <a:p>
            <a:r>
              <a:rPr lang="en-GB" dirty="0"/>
              <a:t>Reflexes - Cephalic phase of insulin release</a:t>
            </a:r>
          </a:p>
        </p:txBody>
      </p:sp>
      <p:pic>
        <p:nvPicPr>
          <p:cNvPr id="7" name="Content Placeholder 6" descr="Chart, scatter chart&#10;&#10;Description automatically generated">
            <a:extLst>
              <a:ext uri="{FF2B5EF4-FFF2-40B4-BE49-F238E27FC236}">
                <a16:creationId xmlns:a16="http://schemas.microsoft.com/office/drawing/2014/main" id="{12003E06-1DA8-10A1-3AAD-3EDE59CB35E4}"/>
              </a:ext>
            </a:extLst>
          </p:cNvPr>
          <p:cNvPicPr>
            <a:picLocks noGrp="1" noChangeAspect="1"/>
          </p:cNvPicPr>
          <p:nvPr>
            <p:ph idx="1"/>
          </p:nvPr>
        </p:nvPicPr>
        <p:blipFill rotWithShape="1">
          <a:blip r:embed="rId2"/>
          <a:srcRect r="49952"/>
          <a:stretch/>
        </p:blipFill>
        <p:spPr>
          <a:xfrm>
            <a:off x="7755467" y="850901"/>
            <a:ext cx="3446990" cy="2626868"/>
          </a:xfrm>
        </p:spPr>
      </p:pic>
      <p:pic>
        <p:nvPicPr>
          <p:cNvPr id="8" name="Content Placeholder 6" descr="Chart, scatter chart&#10;&#10;Description automatically generated">
            <a:extLst>
              <a:ext uri="{FF2B5EF4-FFF2-40B4-BE49-F238E27FC236}">
                <a16:creationId xmlns:a16="http://schemas.microsoft.com/office/drawing/2014/main" id="{69676A84-8E75-8EB8-E746-770E36696C35}"/>
              </a:ext>
            </a:extLst>
          </p:cNvPr>
          <p:cNvPicPr>
            <a:picLocks noChangeAspect="1"/>
          </p:cNvPicPr>
          <p:nvPr/>
        </p:nvPicPr>
        <p:blipFill rotWithShape="1">
          <a:blip r:embed="rId2"/>
          <a:srcRect l="50048"/>
          <a:stretch/>
        </p:blipFill>
        <p:spPr>
          <a:xfrm>
            <a:off x="7683569" y="3733801"/>
            <a:ext cx="3440418" cy="2626868"/>
          </a:xfrm>
          <a:prstGeom prst="rect">
            <a:avLst/>
          </a:prstGeom>
        </p:spPr>
      </p:pic>
      <p:pic>
        <p:nvPicPr>
          <p:cNvPr id="5122" name="Picture 2" descr="Modeling the effect of the cephalic phase of insulin secretion on glucose  metabolism | SpringerLink">
            <a:extLst>
              <a:ext uri="{FF2B5EF4-FFF2-40B4-BE49-F238E27FC236}">
                <a16:creationId xmlns:a16="http://schemas.microsoft.com/office/drawing/2014/main" id="{D72624CD-4911-6CA4-5F56-E43C85703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880" y="1244600"/>
            <a:ext cx="4289262" cy="497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1382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ECE73960-D6C6-961D-102D-34E526670F7D}"/>
              </a:ext>
            </a:extLst>
          </p:cNvPr>
          <p:cNvPicPr>
            <a:picLocks noChangeAspect="1"/>
          </p:cNvPicPr>
          <p:nvPr/>
        </p:nvPicPr>
        <p:blipFill>
          <a:blip r:embed="rId2"/>
          <a:stretch>
            <a:fillRect/>
          </a:stretch>
        </p:blipFill>
        <p:spPr>
          <a:xfrm>
            <a:off x="3580535" y="1194145"/>
            <a:ext cx="5030930" cy="4958179"/>
          </a:xfrm>
          <a:prstGeom prst="rect">
            <a:avLst/>
          </a:prstGeom>
        </p:spPr>
      </p:pic>
      <p:sp>
        <p:nvSpPr>
          <p:cNvPr id="2" name="Title 1">
            <a:extLst>
              <a:ext uri="{FF2B5EF4-FFF2-40B4-BE49-F238E27FC236}">
                <a16:creationId xmlns:a16="http://schemas.microsoft.com/office/drawing/2014/main" id="{6E364C5C-3B0B-35B1-F464-8E2FD51D65EE}"/>
              </a:ext>
            </a:extLst>
          </p:cNvPr>
          <p:cNvSpPr>
            <a:spLocks noGrp="1"/>
          </p:cNvSpPr>
          <p:nvPr>
            <p:ph type="title"/>
          </p:nvPr>
        </p:nvSpPr>
        <p:spPr/>
        <p:txBody>
          <a:bodyPr/>
          <a:lstStyle/>
          <a:p>
            <a:r>
              <a:rPr lang="en-GB" dirty="0"/>
              <a:t>Sensory receptors: smell</a:t>
            </a:r>
          </a:p>
        </p:txBody>
      </p:sp>
      <p:sp>
        <p:nvSpPr>
          <p:cNvPr id="12" name="TextBox 11">
            <a:extLst>
              <a:ext uri="{FF2B5EF4-FFF2-40B4-BE49-F238E27FC236}">
                <a16:creationId xmlns:a16="http://schemas.microsoft.com/office/drawing/2014/main" id="{FF733EB9-B099-20E9-0769-01ABA2C23A32}"/>
              </a:ext>
            </a:extLst>
          </p:cNvPr>
          <p:cNvSpPr txBox="1"/>
          <p:nvPr/>
        </p:nvSpPr>
        <p:spPr>
          <a:xfrm>
            <a:off x="6996546" y="920337"/>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cs typeface="Calibri"/>
              </a:rPr>
              <a:t>Taste</a:t>
            </a:r>
            <a:endParaRPr lang="en-US" dirty="0"/>
          </a:p>
        </p:txBody>
      </p:sp>
      <p:sp>
        <p:nvSpPr>
          <p:cNvPr id="13" name="TextBox 12">
            <a:extLst>
              <a:ext uri="{FF2B5EF4-FFF2-40B4-BE49-F238E27FC236}">
                <a16:creationId xmlns:a16="http://schemas.microsoft.com/office/drawing/2014/main" id="{59ABDAD2-88CD-E2BE-1420-4C19DE43004A}"/>
              </a:ext>
            </a:extLst>
          </p:cNvPr>
          <p:cNvSpPr txBox="1"/>
          <p:nvPr/>
        </p:nvSpPr>
        <p:spPr>
          <a:xfrm>
            <a:off x="7669481" y="1345868"/>
            <a:ext cx="831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solidFill>
                  <a:schemeClr val="accent1">
                    <a:lumMod val="75000"/>
                  </a:schemeClr>
                </a:solidFill>
                <a:cs typeface="Calibri"/>
              </a:rPr>
              <a:t>Smell</a:t>
            </a:r>
            <a:endParaRPr lang="en-US" dirty="0">
              <a:solidFill>
                <a:schemeClr val="accent1">
                  <a:lumMod val="75000"/>
                </a:schemeClr>
              </a:solidFill>
            </a:endParaRPr>
          </a:p>
        </p:txBody>
      </p:sp>
    </p:spTree>
    <p:extLst>
      <p:ext uri="{BB962C8B-B14F-4D97-AF65-F5344CB8AC3E}">
        <p14:creationId xmlns:p14="http://schemas.microsoft.com/office/powerpoint/2010/main" val="3573924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A5D1-433B-870C-4406-AC5F9034A2E2}"/>
              </a:ext>
            </a:extLst>
          </p:cNvPr>
          <p:cNvSpPr>
            <a:spLocks noGrp="1"/>
          </p:cNvSpPr>
          <p:nvPr>
            <p:ph type="title"/>
          </p:nvPr>
        </p:nvSpPr>
        <p:spPr/>
        <p:txBody>
          <a:bodyPr/>
          <a:lstStyle/>
          <a:p>
            <a:r>
              <a:rPr lang="en-GB" dirty="0"/>
              <a:t>Smell</a:t>
            </a:r>
          </a:p>
        </p:txBody>
      </p:sp>
      <p:pic>
        <p:nvPicPr>
          <p:cNvPr id="5" name="Content Placeholder 4" descr="Diagram&#10;&#10;Description automatically generated">
            <a:extLst>
              <a:ext uri="{FF2B5EF4-FFF2-40B4-BE49-F238E27FC236}">
                <a16:creationId xmlns:a16="http://schemas.microsoft.com/office/drawing/2014/main" id="{30CB9038-DB1E-01D5-6954-D19432608B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21940" y="1060939"/>
            <a:ext cx="4311478" cy="5267687"/>
          </a:xfrm>
        </p:spPr>
      </p:pic>
      <p:pic>
        <p:nvPicPr>
          <p:cNvPr id="7" name="Picture 6" descr="Diagram&#10;&#10;Description automatically generated">
            <a:extLst>
              <a:ext uri="{FF2B5EF4-FFF2-40B4-BE49-F238E27FC236}">
                <a16:creationId xmlns:a16="http://schemas.microsoft.com/office/drawing/2014/main" id="{DACEEDC5-BF36-225D-8327-5C59155AE5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72" y="1295889"/>
            <a:ext cx="4629150" cy="4741372"/>
          </a:xfrm>
          <a:prstGeom prst="rect">
            <a:avLst/>
          </a:prstGeom>
        </p:spPr>
      </p:pic>
    </p:spTree>
    <p:extLst>
      <p:ext uri="{BB962C8B-B14F-4D97-AF65-F5344CB8AC3E}">
        <p14:creationId xmlns:p14="http://schemas.microsoft.com/office/powerpoint/2010/main" val="1379443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4B14-B55E-BF93-E979-33FFFA123116}"/>
              </a:ext>
            </a:extLst>
          </p:cNvPr>
          <p:cNvSpPr>
            <a:spLocks noGrp="1"/>
          </p:cNvSpPr>
          <p:nvPr>
            <p:ph type="title"/>
          </p:nvPr>
        </p:nvSpPr>
        <p:spPr/>
        <p:txBody>
          <a:bodyPr/>
          <a:lstStyle/>
          <a:p>
            <a:r>
              <a:rPr lang="en-GB" dirty="0"/>
              <a:t>The olfactory bulb</a:t>
            </a:r>
          </a:p>
        </p:txBody>
      </p:sp>
      <p:sp>
        <p:nvSpPr>
          <p:cNvPr id="3" name="Content Placeholder 2">
            <a:extLst>
              <a:ext uri="{FF2B5EF4-FFF2-40B4-BE49-F238E27FC236}">
                <a16:creationId xmlns:a16="http://schemas.microsoft.com/office/drawing/2014/main" id="{661FC36F-4A85-C8C5-1AE6-B51880EB2DA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FC4A1854-D26A-5EAC-DDCC-12C32468D4A8}"/>
              </a:ext>
            </a:extLst>
          </p:cNvPr>
          <p:cNvPicPr>
            <a:picLocks noChangeAspect="1"/>
          </p:cNvPicPr>
          <p:nvPr/>
        </p:nvPicPr>
        <p:blipFill>
          <a:blip r:embed="rId2"/>
          <a:stretch>
            <a:fillRect/>
          </a:stretch>
        </p:blipFill>
        <p:spPr>
          <a:xfrm>
            <a:off x="133350" y="1164895"/>
            <a:ext cx="5213445" cy="5089133"/>
          </a:xfrm>
          <a:prstGeom prst="rect">
            <a:avLst/>
          </a:prstGeom>
        </p:spPr>
      </p:pic>
      <p:pic>
        <p:nvPicPr>
          <p:cNvPr id="9" name="Picture 6" descr="Chapter 12 Olfactory Cilia: Our Direct Neuronal Connection to the External  World - ScienceDirect">
            <a:extLst>
              <a:ext uri="{FF2B5EF4-FFF2-40B4-BE49-F238E27FC236}">
                <a16:creationId xmlns:a16="http://schemas.microsoft.com/office/drawing/2014/main" id="{D36C05F2-E773-84EE-7B51-03A216070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2675" y="1856848"/>
            <a:ext cx="4752975"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1620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4B14-B55E-BF93-E979-33FFFA123116}"/>
              </a:ext>
            </a:extLst>
          </p:cNvPr>
          <p:cNvSpPr>
            <a:spLocks noGrp="1"/>
          </p:cNvSpPr>
          <p:nvPr>
            <p:ph type="title"/>
          </p:nvPr>
        </p:nvSpPr>
        <p:spPr/>
        <p:txBody>
          <a:bodyPr/>
          <a:lstStyle/>
          <a:p>
            <a:r>
              <a:rPr lang="en-GB" dirty="0"/>
              <a:t>The olfactory receptors</a:t>
            </a:r>
          </a:p>
        </p:txBody>
      </p:sp>
      <p:sp>
        <p:nvSpPr>
          <p:cNvPr id="3" name="Content Placeholder 2">
            <a:extLst>
              <a:ext uri="{FF2B5EF4-FFF2-40B4-BE49-F238E27FC236}">
                <a16:creationId xmlns:a16="http://schemas.microsoft.com/office/drawing/2014/main" id="{661FC36F-4A85-C8C5-1AE6-B51880EB2DA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FC4A1854-D26A-5EAC-DDCC-12C32468D4A8}"/>
              </a:ext>
            </a:extLst>
          </p:cNvPr>
          <p:cNvPicPr>
            <a:picLocks noChangeAspect="1"/>
          </p:cNvPicPr>
          <p:nvPr/>
        </p:nvPicPr>
        <p:blipFill>
          <a:blip r:embed="rId2"/>
          <a:stretch>
            <a:fillRect/>
          </a:stretch>
        </p:blipFill>
        <p:spPr>
          <a:xfrm>
            <a:off x="133350" y="1164895"/>
            <a:ext cx="5213445" cy="5089133"/>
          </a:xfrm>
          <a:prstGeom prst="rect">
            <a:avLst/>
          </a:prstGeom>
        </p:spPr>
      </p:pic>
      <p:pic>
        <p:nvPicPr>
          <p:cNvPr id="7" name="Picture 6">
            <a:extLst>
              <a:ext uri="{FF2B5EF4-FFF2-40B4-BE49-F238E27FC236}">
                <a16:creationId xmlns:a16="http://schemas.microsoft.com/office/drawing/2014/main" id="{BA588CFD-8B8C-B41E-C61A-EAFFF1AB524B}"/>
              </a:ext>
            </a:extLst>
          </p:cNvPr>
          <p:cNvPicPr>
            <a:picLocks noChangeAspect="1"/>
          </p:cNvPicPr>
          <p:nvPr/>
        </p:nvPicPr>
        <p:blipFill>
          <a:blip r:embed="rId3"/>
          <a:stretch>
            <a:fillRect/>
          </a:stretch>
        </p:blipFill>
        <p:spPr>
          <a:xfrm>
            <a:off x="6441302" y="201202"/>
            <a:ext cx="4831307" cy="6455596"/>
          </a:xfrm>
          <a:prstGeom prst="rect">
            <a:avLst/>
          </a:prstGeom>
        </p:spPr>
      </p:pic>
    </p:spTree>
    <p:extLst>
      <p:ext uri="{BB962C8B-B14F-4D97-AF65-F5344CB8AC3E}">
        <p14:creationId xmlns:p14="http://schemas.microsoft.com/office/powerpoint/2010/main" val="2669604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E3E3-9811-AC3C-5CFE-65C8FBFA097F}"/>
              </a:ext>
            </a:extLst>
          </p:cNvPr>
          <p:cNvSpPr>
            <a:spLocks noGrp="1"/>
          </p:cNvSpPr>
          <p:nvPr>
            <p:ph type="title"/>
          </p:nvPr>
        </p:nvSpPr>
        <p:spPr/>
        <p:txBody>
          <a:bodyPr/>
          <a:lstStyle/>
          <a:p>
            <a:r>
              <a:rPr lang="en-GB" dirty="0"/>
              <a:t>The olfactory receptors</a:t>
            </a:r>
          </a:p>
        </p:txBody>
      </p:sp>
      <p:pic>
        <p:nvPicPr>
          <p:cNvPr id="7" name="Content Placeholder 6" descr="Chart&#10;&#10;Description automatically generated with medium confidence">
            <a:extLst>
              <a:ext uri="{FF2B5EF4-FFF2-40B4-BE49-F238E27FC236}">
                <a16:creationId xmlns:a16="http://schemas.microsoft.com/office/drawing/2014/main" id="{24B297B6-C7BC-DC5F-7CB7-1F37353A6F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4106" y="958850"/>
            <a:ext cx="5200250" cy="5037740"/>
          </a:xfrm>
        </p:spPr>
      </p:pic>
      <p:pic>
        <p:nvPicPr>
          <p:cNvPr id="8" name="Picture 7">
            <a:extLst>
              <a:ext uri="{FF2B5EF4-FFF2-40B4-BE49-F238E27FC236}">
                <a16:creationId xmlns:a16="http://schemas.microsoft.com/office/drawing/2014/main" id="{7ED06260-23EC-C066-195F-E72FE3EF3E87}"/>
              </a:ext>
            </a:extLst>
          </p:cNvPr>
          <p:cNvPicPr>
            <a:picLocks noChangeAspect="1"/>
          </p:cNvPicPr>
          <p:nvPr/>
        </p:nvPicPr>
        <p:blipFill>
          <a:blip r:embed="rId3"/>
          <a:stretch>
            <a:fillRect/>
          </a:stretch>
        </p:blipFill>
        <p:spPr>
          <a:xfrm>
            <a:off x="1059179" y="1104510"/>
            <a:ext cx="4082164" cy="5454592"/>
          </a:xfrm>
          <a:prstGeom prst="rect">
            <a:avLst/>
          </a:prstGeom>
        </p:spPr>
      </p:pic>
      <p:sp>
        <p:nvSpPr>
          <p:cNvPr id="9" name="TextBox 8">
            <a:extLst>
              <a:ext uri="{FF2B5EF4-FFF2-40B4-BE49-F238E27FC236}">
                <a16:creationId xmlns:a16="http://schemas.microsoft.com/office/drawing/2014/main" id="{ABF0C05C-5D90-CF87-08F6-0B0D4751AB84}"/>
              </a:ext>
            </a:extLst>
          </p:cNvPr>
          <p:cNvSpPr txBox="1"/>
          <p:nvPr/>
        </p:nvSpPr>
        <p:spPr>
          <a:xfrm>
            <a:off x="6971690" y="6196120"/>
            <a:ext cx="3869714" cy="369332"/>
          </a:xfrm>
          <a:prstGeom prst="rect">
            <a:avLst/>
          </a:prstGeom>
          <a:noFill/>
        </p:spPr>
        <p:txBody>
          <a:bodyPr wrap="none" rtlCol="0">
            <a:spAutoFit/>
          </a:bodyPr>
          <a:lstStyle/>
          <a:p>
            <a:r>
              <a:rPr lang="en-GB" b="1" dirty="0"/>
              <a:t>Over 400 different olfactory receptors!</a:t>
            </a:r>
          </a:p>
        </p:txBody>
      </p:sp>
    </p:spTree>
    <p:extLst>
      <p:ext uri="{BB962C8B-B14F-4D97-AF65-F5344CB8AC3E}">
        <p14:creationId xmlns:p14="http://schemas.microsoft.com/office/powerpoint/2010/main" val="2175763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B677-6AC3-A493-4D57-93C227E30DAE}"/>
              </a:ext>
            </a:extLst>
          </p:cNvPr>
          <p:cNvSpPr>
            <a:spLocks noGrp="1"/>
          </p:cNvSpPr>
          <p:nvPr>
            <p:ph type="title"/>
          </p:nvPr>
        </p:nvSpPr>
        <p:spPr/>
        <p:txBody>
          <a:bodyPr/>
          <a:lstStyle/>
          <a:p>
            <a:r>
              <a:rPr lang="en-GB" dirty="0"/>
              <a:t>Olfactory signals processing</a:t>
            </a:r>
          </a:p>
        </p:txBody>
      </p:sp>
      <p:sp>
        <p:nvSpPr>
          <p:cNvPr id="3" name="Content Placeholder 2">
            <a:extLst>
              <a:ext uri="{FF2B5EF4-FFF2-40B4-BE49-F238E27FC236}">
                <a16:creationId xmlns:a16="http://schemas.microsoft.com/office/drawing/2014/main" id="{86F185D9-3EB6-BFE6-9B38-48C04834169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84A83889-5368-FE94-C581-20CF994212AA}"/>
              </a:ext>
            </a:extLst>
          </p:cNvPr>
          <p:cNvPicPr>
            <a:picLocks noChangeAspect="1"/>
          </p:cNvPicPr>
          <p:nvPr/>
        </p:nvPicPr>
        <p:blipFill>
          <a:blip r:embed="rId2"/>
          <a:stretch>
            <a:fillRect/>
          </a:stretch>
        </p:blipFill>
        <p:spPr>
          <a:xfrm>
            <a:off x="6096000" y="1472460"/>
            <a:ext cx="5308979" cy="4890499"/>
          </a:xfrm>
          <a:prstGeom prst="rect">
            <a:avLst/>
          </a:prstGeom>
        </p:spPr>
      </p:pic>
      <p:pic>
        <p:nvPicPr>
          <p:cNvPr id="6" name="Picture 5">
            <a:extLst>
              <a:ext uri="{FF2B5EF4-FFF2-40B4-BE49-F238E27FC236}">
                <a16:creationId xmlns:a16="http://schemas.microsoft.com/office/drawing/2014/main" id="{0F1FB6AA-057F-7EEE-5F7C-93FC0C7C48FA}"/>
              </a:ext>
            </a:extLst>
          </p:cNvPr>
          <p:cNvPicPr>
            <a:picLocks noChangeAspect="1"/>
          </p:cNvPicPr>
          <p:nvPr/>
        </p:nvPicPr>
        <p:blipFill>
          <a:blip r:embed="rId3"/>
          <a:stretch>
            <a:fillRect/>
          </a:stretch>
        </p:blipFill>
        <p:spPr>
          <a:xfrm>
            <a:off x="546100" y="1273826"/>
            <a:ext cx="5213445" cy="5089133"/>
          </a:xfrm>
          <a:prstGeom prst="rect">
            <a:avLst/>
          </a:prstGeom>
        </p:spPr>
      </p:pic>
    </p:spTree>
    <p:extLst>
      <p:ext uri="{BB962C8B-B14F-4D97-AF65-F5344CB8AC3E}">
        <p14:creationId xmlns:p14="http://schemas.microsoft.com/office/powerpoint/2010/main" val="21641004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91417-6F79-B6E3-FDC8-D29D5B733490}"/>
              </a:ext>
            </a:extLst>
          </p:cNvPr>
          <p:cNvSpPr>
            <a:spLocks noGrp="1"/>
          </p:cNvSpPr>
          <p:nvPr>
            <p:ph type="title"/>
          </p:nvPr>
        </p:nvSpPr>
        <p:spPr/>
        <p:txBody>
          <a:bodyPr/>
          <a:lstStyle/>
          <a:p>
            <a:r>
              <a:rPr lang="en-GB" dirty="0"/>
              <a:t>More than the 5 senses!</a:t>
            </a:r>
          </a:p>
        </p:txBody>
      </p:sp>
      <p:pic>
        <p:nvPicPr>
          <p:cNvPr id="5" name="Content Placeholder 4" descr="Diagram&#10;&#10;Description automatically generated">
            <a:extLst>
              <a:ext uri="{FF2B5EF4-FFF2-40B4-BE49-F238E27FC236}">
                <a16:creationId xmlns:a16="http://schemas.microsoft.com/office/drawing/2014/main" id="{DD409A0E-3BC8-3000-A4AE-817628AB7F5E}"/>
              </a:ext>
            </a:extLst>
          </p:cNvPr>
          <p:cNvPicPr>
            <a:picLocks noGrp="1" noChangeAspect="1"/>
          </p:cNvPicPr>
          <p:nvPr>
            <p:ph idx="1"/>
          </p:nvPr>
        </p:nvPicPr>
        <p:blipFill>
          <a:blip r:embed="rId2"/>
          <a:stretch>
            <a:fillRect/>
          </a:stretch>
        </p:blipFill>
        <p:spPr>
          <a:xfrm>
            <a:off x="2272773" y="1112838"/>
            <a:ext cx="6832068" cy="5376862"/>
          </a:xfrm>
        </p:spPr>
      </p:pic>
      <p:sp>
        <p:nvSpPr>
          <p:cNvPr id="3" name="TextBox 2">
            <a:extLst>
              <a:ext uri="{FF2B5EF4-FFF2-40B4-BE49-F238E27FC236}">
                <a16:creationId xmlns:a16="http://schemas.microsoft.com/office/drawing/2014/main" id="{A31D1C2C-DA7F-E228-45F1-361D33B0D9B5}"/>
              </a:ext>
            </a:extLst>
          </p:cNvPr>
          <p:cNvSpPr txBox="1"/>
          <p:nvPr/>
        </p:nvSpPr>
        <p:spPr>
          <a:xfrm>
            <a:off x="7841673" y="1025236"/>
            <a:ext cx="450764" cy="369332"/>
          </a:xfrm>
          <a:prstGeom prst="rect">
            <a:avLst/>
          </a:prstGeom>
          <a:noFill/>
        </p:spPr>
        <p:txBody>
          <a:bodyPr wrap="none" rtlCol="0">
            <a:spAutoFit/>
          </a:bodyPr>
          <a:lstStyle/>
          <a:p>
            <a:r>
              <a:rPr lang="en-GB" dirty="0"/>
              <a:t>pH</a:t>
            </a:r>
          </a:p>
        </p:txBody>
      </p:sp>
      <p:sp>
        <p:nvSpPr>
          <p:cNvPr id="4" name="TextBox 3">
            <a:extLst>
              <a:ext uri="{FF2B5EF4-FFF2-40B4-BE49-F238E27FC236}">
                <a16:creationId xmlns:a16="http://schemas.microsoft.com/office/drawing/2014/main" id="{49BC0B53-9557-035A-B0A2-320372FE550D}"/>
              </a:ext>
            </a:extLst>
          </p:cNvPr>
          <p:cNvSpPr txBox="1"/>
          <p:nvPr/>
        </p:nvSpPr>
        <p:spPr>
          <a:xfrm>
            <a:off x="8473257" y="1394568"/>
            <a:ext cx="611065" cy="369332"/>
          </a:xfrm>
          <a:prstGeom prst="rect">
            <a:avLst/>
          </a:prstGeom>
          <a:noFill/>
        </p:spPr>
        <p:txBody>
          <a:bodyPr wrap="none" rtlCol="0">
            <a:spAutoFit/>
          </a:bodyPr>
          <a:lstStyle/>
          <a:p>
            <a:r>
              <a:rPr lang="en-GB" dirty="0" err="1"/>
              <a:t>Osm</a:t>
            </a:r>
            <a:endParaRPr lang="en-GB" dirty="0"/>
          </a:p>
        </p:txBody>
      </p:sp>
    </p:spTree>
    <p:extLst>
      <p:ext uri="{BB962C8B-B14F-4D97-AF65-F5344CB8AC3E}">
        <p14:creationId xmlns:p14="http://schemas.microsoft.com/office/powerpoint/2010/main" val="40935991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EAD9C1-05DC-469E-9CCF-64E96F7F6F5B}"/>
              </a:ext>
            </a:extLst>
          </p:cNvPr>
          <p:cNvSpPr>
            <a:spLocks noGrp="1"/>
          </p:cNvSpPr>
          <p:nvPr>
            <p:ph type="title"/>
          </p:nvPr>
        </p:nvSpPr>
        <p:spPr/>
        <p:txBody>
          <a:bodyPr/>
          <a:lstStyle/>
          <a:p>
            <a:r>
              <a:rPr lang="en-GB" dirty="0"/>
              <a:t>Questions?</a:t>
            </a:r>
          </a:p>
        </p:txBody>
      </p:sp>
      <p:sp>
        <p:nvSpPr>
          <p:cNvPr id="2" name="Content Placeholder 1">
            <a:extLst>
              <a:ext uri="{FF2B5EF4-FFF2-40B4-BE49-F238E27FC236}">
                <a16:creationId xmlns:a16="http://schemas.microsoft.com/office/drawing/2014/main" id="{46233025-42BD-46A6-9662-2B5B26B7ABA2}"/>
              </a:ext>
            </a:extLst>
          </p:cNvPr>
          <p:cNvSpPr>
            <a:spLocks noGrp="1"/>
          </p:cNvSpPr>
          <p:nvPr>
            <p:ph idx="1"/>
          </p:nvPr>
        </p:nvSpPr>
        <p:spPr>
          <a:xfrm>
            <a:off x="178043" y="2847902"/>
            <a:ext cx="4962452" cy="3552426"/>
          </a:xfrm>
        </p:spPr>
        <p:txBody>
          <a:bodyPr/>
          <a:lstStyle/>
          <a:p>
            <a:r>
              <a:rPr lang="en-GB" dirty="0"/>
              <a:t>Specific reading:</a:t>
            </a:r>
          </a:p>
          <a:p>
            <a:pPr lvl="1"/>
            <a:r>
              <a:rPr lang="en-GB" dirty="0">
                <a:solidFill>
                  <a:schemeClr val="accent1">
                    <a:lumMod val="75000"/>
                  </a:schemeClr>
                </a:solidFill>
              </a:rPr>
              <a:t>Guyton and Hall - </a:t>
            </a:r>
            <a:r>
              <a:rPr lang="en-GB" b="1" dirty="0">
                <a:solidFill>
                  <a:schemeClr val="accent1">
                    <a:lumMod val="75000"/>
                  </a:schemeClr>
                </a:solidFill>
              </a:rPr>
              <a:t>Textbook of Medical Physiology </a:t>
            </a:r>
            <a:r>
              <a:rPr lang="en-GB" dirty="0">
                <a:solidFill>
                  <a:schemeClr val="accent1">
                    <a:lumMod val="75000"/>
                  </a:schemeClr>
                </a:solidFill>
              </a:rPr>
              <a:t>12</a:t>
            </a:r>
            <a:r>
              <a:rPr lang="en-GB" baseline="30000" dirty="0">
                <a:solidFill>
                  <a:schemeClr val="accent1">
                    <a:lumMod val="75000"/>
                  </a:schemeClr>
                </a:solidFill>
              </a:rPr>
              <a:t>th</a:t>
            </a:r>
            <a:r>
              <a:rPr lang="en-GB" dirty="0">
                <a:solidFill>
                  <a:schemeClr val="accent1">
                    <a:lumMod val="75000"/>
                  </a:schemeClr>
                </a:solidFill>
              </a:rPr>
              <a:t> ed (2011) ISBN: 978-0-8089-2400-5</a:t>
            </a:r>
          </a:p>
          <a:p>
            <a:pPr lvl="1"/>
            <a:endParaRPr lang="en-GB" dirty="0"/>
          </a:p>
          <a:p>
            <a:pPr lvl="1"/>
            <a:r>
              <a:rPr lang="en-GB" dirty="0"/>
              <a:t>Constance Hammond </a:t>
            </a:r>
            <a:r>
              <a:rPr lang="en-GB" b="1" dirty="0"/>
              <a:t>– Cellular and Molecular Neurophysiology </a:t>
            </a:r>
            <a:r>
              <a:rPr lang="en-GB" dirty="0"/>
              <a:t>4</a:t>
            </a:r>
            <a:r>
              <a:rPr lang="en-GB" baseline="30000" dirty="0"/>
              <a:t>th</a:t>
            </a:r>
            <a:r>
              <a:rPr lang="en-GB" dirty="0"/>
              <a:t> ed (2015) ISBN: 978-0-12-397032-9</a:t>
            </a:r>
          </a:p>
          <a:p>
            <a:pPr lvl="1"/>
            <a:r>
              <a:rPr lang="en-GB" dirty="0"/>
              <a:t>Greg Stuart, Nelson Spruston, Micheal Häusser – </a:t>
            </a:r>
            <a:r>
              <a:rPr lang="en-GB" b="1" dirty="0"/>
              <a:t>Dendrites</a:t>
            </a:r>
            <a:r>
              <a:rPr lang="en-GB" dirty="0"/>
              <a:t> 3th ed (2016) </a:t>
            </a:r>
            <a:br>
              <a:rPr lang="en-GB" dirty="0"/>
            </a:br>
            <a:r>
              <a:rPr lang="en-GB" dirty="0"/>
              <a:t>ISBN 978–0–19–874527–3</a:t>
            </a:r>
          </a:p>
        </p:txBody>
      </p:sp>
      <p:sp>
        <p:nvSpPr>
          <p:cNvPr id="8" name="TextBox 7">
            <a:extLst>
              <a:ext uri="{FF2B5EF4-FFF2-40B4-BE49-F238E27FC236}">
                <a16:creationId xmlns:a16="http://schemas.microsoft.com/office/drawing/2014/main" id="{55570673-E8FA-47E3-8D51-98B831132C8E}"/>
              </a:ext>
            </a:extLst>
          </p:cNvPr>
          <p:cNvSpPr txBox="1"/>
          <p:nvPr/>
        </p:nvSpPr>
        <p:spPr>
          <a:xfrm>
            <a:off x="1023944" y="1441305"/>
            <a:ext cx="3263027" cy="646331"/>
          </a:xfrm>
          <a:prstGeom prst="rect">
            <a:avLst/>
          </a:prstGeom>
          <a:solidFill>
            <a:schemeClr val="accent1">
              <a:lumMod val="40000"/>
              <a:lumOff val="60000"/>
            </a:schemeClr>
          </a:solidFill>
          <a:ln w="38100">
            <a:noFill/>
          </a:ln>
        </p:spPr>
        <p:txBody>
          <a:bodyPr wrap="square" rtlCol="0">
            <a:spAutoFit/>
          </a:bodyPr>
          <a:lstStyle/>
          <a:p>
            <a:r>
              <a:rPr lang="en-GB" dirty="0"/>
              <a:t>For follow-up questions:</a:t>
            </a:r>
          </a:p>
          <a:p>
            <a:r>
              <a:rPr lang="en-GB" b="1" dirty="0"/>
              <a:t>vincenzo.mastrolia@kcl.ac.uk</a:t>
            </a:r>
          </a:p>
        </p:txBody>
      </p:sp>
      <p:pic>
        <p:nvPicPr>
          <p:cNvPr id="4" name="Picture 3">
            <a:extLst>
              <a:ext uri="{FF2B5EF4-FFF2-40B4-BE49-F238E27FC236}">
                <a16:creationId xmlns:a16="http://schemas.microsoft.com/office/drawing/2014/main" id="{6014EC31-46A2-4B3B-81E3-6318DAAB0ED6}"/>
              </a:ext>
            </a:extLst>
          </p:cNvPr>
          <p:cNvPicPr>
            <a:picLocks noChangeAspect="1"/>
          </p:cNvPicPr>
          <p:nvPr/>
        </p:nvPicPr>
        <p:blipFill>
          <a:blip r:embed="rId2"/>
          <a:stretch>
            <a:fillRect/>
          </a:stretch>
        </p:blipFill>
        <p:spPr>
          <a:xfrm>
            <a:off x="9702498" y="3608279"/>
            <a:ext cx="1937033" cy="2792049"/>
          </a:xfrm>
          <a:prstGeom prst="rect">
            <a:avLst/>
          </a:prstGeom>
        </p:spPr>
      </p:pic>
      <p:pic>
        <p:nvPicPr>
          <p:cNvPr id="6" name="Picture 5">
            <a:extLst>
              <a:ext uri="{FF2B5EF4-FFF2-40B4-BE49-F238E27FC236}">
                <a16:creationId xmlns:a16="http://schemas.microsoft.com/office/drawing/2014/main" id="{B612F369-38D4-4B2C-A648-5EDF14E1E12F}"/>
              </a:ext>
            </a:extLst>
          </p:cNvPr>
          <p:cNvPicPr>
            <a:picLocks noChangeAspect="1"/>
          </p:cNvPicPr>
          <p:nvPr/>
        </p:nvPicPr>
        <p:blipFill>
          <a:blip r:embed="rId3"/>
          <a:stretch>
            <a:fillRect/>
          </a:stretch>
        </p:blipFill>
        <p:spPr>
          <a:xfrm>
            <a:off x="9702498" y="1023471"/>
            <a:ext cx="1984687" cy="2538355"/>
          </a:xfrm>
          <a:prstGeom prst="rect">
            <a:avLst/>
          </a:prstGeom>
        </p:spPr>
      </p:pic>
      <p:pic>
        <p:nvPicPr>
          <p:cNvPr id="10" name="Picture 9">
            <a:extLst>
              <a:ext uri="{FF2B5EF4-FFF2-40B4-BE49-F238E27FC236}">
                <a16:creationId xmlns:a16="http://schemas.microsoft.com/office/drawing/2014/main" id="{DD0B64FB-3F43-3FB7-D5C9-C07EE5BC6AF1}"/>
              </a:ext>
            </a:extLst>
          </p:cNvPr>
          <p:cNvPicPr>
            <a:picLocks noChangeAspect="1"/>
          </p:cNvPicPr>
          <p:nvPr/>
        </p:nvPicPr>
        <p:blipFill>
          <a:blip r:embed="rId4"/>
          <a:stretch>
            <a:fillRect/>
          </a:stretch>
        </p:blipFill>
        <p:spPr>
          <a:xfrm>
            <a:off x="5636838" y="1320801"/>
            <a:ext cx="3699624" cy="4713598"/>
          </a:xfrm>
          <a:prstGeom prst="rect">
            <a:avLst/>
          </a:prstGeom>
        </p:spPr>
      </p:pic>
    </p:spTree>
    <p:extLst>
      <p:ext uri="{BB962C8B-B14F-4D97-AF65-F5344CB8AC3E}">
        <p14:creationId xmlns:p14="http://schemas.microsoft.com/office/powerpoint/2010/main" val="2362853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1570</Words>
  <Application>Microsoft Office PowerPoint</Application>
  <PresentationFormat>Widescreen</PresentationFormat>
  <Paragraphs>358</Paragraphs>
  <Slides>60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Calibri</vt:lpstr>
      <vt:lpstr>Calibri (Body)</vt:lpstr>
      <vt:lpstr>Calibri Light</vt:lpstr>
      <vt:lpstr>Symbol</vt:lpstr>
      <vt:lpstr>Wingdings</vt:lpstr>
      <vt:lpstr>Office Theme</vt:lpstr>
      <vt:lpstr>Sensory Receptors</vt:lpstr>
      <vt:lpstr>Sensory receptors</vt:lpstr>
      <vt:lpstr>Sensory receptors: mechanoreceptors (tactile)</vt:lpstr>
      <vt:lpstr>The neuron</vt:lpstr>
      <vt:lpstr>The neuron</vt:lpstr>
      <vt:lpstr>The neuron</vt:lpstr>
      <vt:lpstr>Excitability</vt:lpstr>
      <vt:lpstr>Action potential</vt:lpstr>
      <vt:lpstr>Action potential</vt:lpstr>
      <vt:lpstr>Different types of sensory fibres</vt:lpstr>
      <vt:lpstr>General properties of tactile receptors </vt:lpstr>
      <vt:lpstr>General properties of tactile receptors </vt:lpstr>
      <vt:lpstr>Sensory processing</vt:lpstr>
      <vt:lpstr>The spinal cord</vt:lpstr>
      <vt:lpstr>The Brain</vt:lpstr>
      <vt:lpstr>The Brain: the somatosensory cortex</vt:lpstr>
      <vt:lpstr>Tactile receptors</vt:lpstr>
      <vt:lpstr>Tactile receptors</vt:lpstr>
      <vt:lpstr>Tactile receptors</vt:lpstr>
      <vt:lpstr>Tactile receptors</vt:lpstr>
      <vt:lpstr>Tactile receptors</vt:lpstr>
      <vt:lpstr>Tactile receptors in proprioception: muscle spindle</vt:lpstr>
      <vt:lpstr>Tactile receptors in proprioception: golgi tendon apparatus</vt:lpstr>
      <vt:lpstr>Tactile receptors: skin</vt:lpstr>
      <vt:lpstr>Tactile receptors: Muscle and joints</vt:lpstr>
      <vt:lpstr>Tactile receptors: signal to the brain</vt:lpstr>
      <vt:lpstr>Tactile receptors in proprioception: muscle spindle</vt:lpstr>
      <vt:lpstr>Muscle reflexes</vt:lpstr>
      <vt:lpstr>Sensory receptors: hearing</vt:lpstr>
      <vt:lpstr>Hearing</vt:lpstr>
      <vt:lpstr>Hearing: the ossicles</vt:lpstr>
      <vt:lpstr>Hearing: the cochlea</vt:lpstr>
      <vt:lpstr>Hearing: the cochlea</vt:lpstr>
      <vt:lpstr>Sound propagation along the cochlea</vt:lpstr>
      <vt:lpstr>Hearing: the organ of Corti</vt:lpstr>
      <vt:lpstr>Hearing: the hair cells</vt:lpstr>
      <vt:lpstr>Hearing: signal to the brain</vt:lpstr>
      <vt:lpstr>Sensory receptors: vision</vt:lpstr>
      <vt:lpstr>Vision: the retina</vt:lpstr>
      <vt:lpstr>Vision: rods and cones</vt:lpstr>
      <vt:lpstr>Vision: rhodopsin</vt:lpstr>
      <vt:lpstr>Vision: activation of photoreceptors</vt:lpstr>
      <vt:lpstr>Vision: color photoreceptors</vt:lpstr>
      <vt:lpstr>Vision: color blindness</vt:lpstr>
      <vt:lpstr>Vision: signal processing in the retina</vt:lpstr>
      <vt:lpstr>Pupillary reflex</vt:lpstr>
      <vt:lpstr>Sensory receptors: taste</vt:lpstr>
      <vt:lpstr>Taste buds</vt:lpstr>
      <vt:lpstr>Taste bud cells</vt:lpstr>
      <vt:lpstr>Taste receptors</vt:lpstr>
      <vt:lpstr>Taste signal processing</vt:lpstr>
      <vt:lpstr>Reflexes - Cephalic phase of insulin release</vt:lpstr>
      <vt:lpstr>Sensory receptors: smell</vt:lpstr>
      <vt:lpstr>Smell</vt:lpstr>
      <vt:lpstr>The olfactory bulb</vt:lpstr>
      <vt:lpstr>The olfactory receptors</vt:lpstr>
      <vt:lpstr>The olfactory receptors</vt:lpstr>
      <vt:lpstr>Olfactory signals processing</vt:lpstr>
      <vt:lpstr>More than the 5 senses!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Senses and reflexes</dc:title>
  <dc:creator>Vincenzo Mastrolia</dc:creator>
  <cp:lastModifiedBy>Vincenzo Mastrolia</cp:lastModifiedBy>
  <cp:revision>345</cp:revision>
  <dcterms:created xsi:type="dcterms:W3CDTF">2023-01-04T15:14:58Z</dcterms:created>
  <dcterms:modified xsi:type="dcterms:W3CDTF">2024-11-22T10:51:52Z</dcterms:modified>
</cp:coreProperties>
</file>