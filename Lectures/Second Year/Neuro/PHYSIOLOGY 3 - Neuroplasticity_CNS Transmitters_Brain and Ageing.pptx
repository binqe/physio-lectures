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2"/>
    <p:sldId id="257" r:id="rId3"/>
    <p:sldId id="660" r:id="rId4"/>
    <p:sldId id="648" r:id="rId5"/>
    <p:sldId id="340" r:id="rId6"/>
    <p:sldId id="649" r:id="rId7"/>
    <p:sldId id="659" r:id="rId8"/>
    <p:sldId id="339" r:id="rId9"/>
    <p:sldId id="347" r:id="rId10"/>
    <p:sldId id="345" r:id="rId11"/>
    <p:sldId id="653" r:id="rId12"/>
    <p:sldId id="654" r:id="rId13"/>
    <p:sldId id="333" r:id="rId14"/>
    <p:sldId id="349" r:id="rId15"/>
    <p:sldId id="351" r:id="rId16"/>
    <p:sldId id="353" r:id="rId17"/>
    <p:sldId id="352" r:id="rId18"/>
    <p:sldId id="651" r:id="rId19"/>
    <p:sldId id="631" r:id="rId20"/>
    <p:sldId id="634" r:id="rId21"/>
    <p:sldId id="630" r:id="rId22"/>
    <p:sldId id="348" r:id="rId23"/>
    <p:sldId id="355" r:id="rId24"/>
    <p:sldId id="658" r:id="rId25"/>
    <p:sldId id="363" r:id="rId26"/>
    <p:sldId id="606" r:id="rId27"/>
    <p:sldId id="283" r:id="rId28"/>
    <p:sldId id="285" r:id="rId29"/>
    <p:sldId id="615" r:id="rId30"/>
    <p:sldId id="661" r:id="rId31"/>
    <p:sldId id="662" r:id="rId32"/>
    <p:sldId id="663" r:id="rId33"/>
    <p:sldId id="664" r:id="rId34"/>
    <p:sldId id="665" r:id="rId35"/>
    <p:sldId id="667" r:id="rId36"/>
    <p:sldId id="666" r:id="rId37"/>
    <p:sldId id="668" r:id="rId38"/>
    <p:sldId id="669" r:id="rId39"/>
    <p:sldId id="670" r:id="rId40"/>
    <p:sldId id="65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B866C4-EB93-4215-B3C8-4B765875FA53}" v="75" dt="2025-11-17T22:46:09.8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106" d="100"/>
          <a:sy n="106" d="100"/>
        </p:scale>
        <p:origin x="420"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trolia" userId="9c1b0f1d26c1a45c" providerId="LiveId" clId="{A0E56E0E-8736-43C6-8BBB-B469DBF6B590}"/>
    <pc:docChg chg="undo custSel addSld delSld modSld modMainMaster">
      <pc:chgData name="Vincenzo Mastrolia" userId="9c1b0f1d26c1a45c" providerId="LiveId" clId="{A0E56E0E-8736-43C6-8BBB-B469DBF6B590}" dt="2025-11-18T08:29:39.725" v="3695" actId="113"/>
      <pc:docMkLst>
        <pc:docMk/>
      </pc:docMkLst>
      <pc:sldChg chg="modSp mod">
        <pc:chgData name="Vincenzo Mastrolia" userId="9c1b0f1d26c1a45c" providerId="LiveId" clId="{A0E56E0E-8736-43C6-8BBB-B469DBF6B590}" dt="2025-11-17T16:15:05.321" v="4" actId="14100"/>
        <pc:sldMkLst>
          <pc:docMk/>
          <pc:sldMk cId="2588750948" sldId="257"/>
        </pc:sldMkLst>
        <pc:spChg chg="mod">
          <ac:chgData name="Vincenzo Mastrolia" userId="9c1b0f1d26c1a45c" providerId="LiveId" clId="{A0E56E0E-8736-43C6-8BBB-B469DBF6B590}" dt="2025-11-17T16:15:05.321" v="4" actId="14100"/>
          <ac:spMkLst>
            <pc:docMk/>
            <pc:sldMk cId="2588750948" sldId="257"/>
            <ac:spMk id="3" creationId="{A1AA8B19-65C8-EBEE-D787-D509E990F033}"/>
          </ac:spMkLst>
        </pc:spChg>
      </pc:sldChg>
      <pc:sldChg chg="addSp modSp add mod chgLayout">
        <pc:chgData name="Vincenzo Mastrolia" userId="9c1b0f1d26c1a45c" providerId="LiveId" clId="{A0E56E0E-8736-43C6-8BBB-B469DBF6B590}" dt="2025-11-18T08:28:44.406" v="3690" actId="14100"/>
        <pc:sldMkLst>
          <pc:docMk/>
          <pc:sldMk cId="3465844422" sldId="283"/>
        </pc:sldMkLst>
        <pc:spChg chg="mod ord">
          <ac:chgData name="Vincenzo Mastrolia" userId="9c1b0f1d26c1a45c" providerId="LiveId" clId="{A0E56E0E-8736-43C6-8BBB-B469DBF6B590}" dt="2025-11-17T16:43:18.215" v="28" actId="700"/>
          <ac:spMkLst>
            <pc:docMk/>
            <pc:sldMk cId="3465844422" sldId="283"/>
            <ac:spMk id="2" creationId="{7083583D-C35F-4160-A02C-8ED5767DE5C1}"/>
          </ac:spMkLst>
        </pc:spChg>
        <pc:spChg chg="add mod ord">
          <ac:chgData name="Vincenzo Mastrolia" userId="9c1b0f1d26c1a45c" providerId="LiveId" clId="{A0E56E0E-8736-43C6-8BBB-B469DBF6B590}" dt="2025-11-17T16:45:51.071" v="36" actId="14100"/>
          <ac:spMkLst>
            <pc:docMk/>
            <pc:sldMk cId="3465844422" sldId="283"/>
            <ac:spMk id="3" creationId="{A8324844-157C-D278-3A11-00F93FA0056F}"/>
          </ac:spMkLst>
        </pc:spChg>
        <pc:spChg chg="mod">
          <ac:chgData name="Vincenzo Mastrolia" userId="9c1b0f1d26c1a45c" providerId="LiveId" clId="{A0E56E0E-8736-43C6-8BBB-B469DBF6B590}" dt="2025-11-18T08:28:44.406" v="3690" actId="14100"/>
          <ac:spMkLst>
            <pc:docMk/>
            <pc:sldMk cId="3465844422" sldId="283"/>
            <ac:spMk id="6" creationId="{DCC60DC1-E911-4861-B4E3-22BA81381B25}"/>
          </ac:spMkLst>
        </pc:spChg>
        <pc:spChg chg="mod">
          <ac:chgData name="Vincenzo Mastrolia" userId="9c1b0f1d26c1a45c" providerId="LiveId" clId="{A0E56E0E-8736-43C6-8BBB-B469DBF6B590}" dt="2025-11-17T16:43:23.362" v="29" actId="21"/>
          <ac:spMkLst>
            <pc:docMk/>
            <pc:sldMk cId="3465844422" sldId="283"/>
            <ac:spMk id="8" creationId="{B3EAA7BA-927D-4907-971F-43B3F9BF45B2}"/>
          </ac:spMkLst>
        </pc:spChg>
        <pc:picChg chg="mod">
          <ac:chgData name="Vincenzo Mastrolia" userId="9c1b0f1d26c1a45c" providerId="LiveId" clId="{A0E56E0E-8736-43C6-8BBB-B469DBF6B590}" dt="2025-11-17T16:43:38.980" v="33" actId="1076"/>
          <ac:picMkLst>
            <pc:docMk/>
            <pc:sldMk cId="3465844422" sldId="283"/>
            <ac:picMk id="5" creationId="{1972E6C9-12C7-4968-AA6E-0A01347F0BE3}"/>
          </ac:picMkLst>
        </pc:picChg>
      </pc:sldChg>
      <pc:sldChg chg="add">
        <pc:chgData name="Vincenzo Mastrolia" userId="9c1b0f1d26c1a45c" providerId="LiveId" clId="{A0E56E0E-8736-43C6-8BBB-B469DBF6B590}" dt="2025-11-17T16:30:50.907" v="16"/>
        <pc:sldMkLst>
          <pc:docMk/>
          <pc:sldMk cId="514392694" sldId="285"/>
        </pc:sldMkLst>
      </pc:sldChg>
      <pc:sldChg chg="add">
        <pc:chgData name="Vincenzo Mastrolia" userId="9c1b0f1d26c1a45c" providerId="LiveId" clId="{A0E56E0E-8736-43C6-8BBB-B469DBF6B590}" dt="2025-11-17T16:25:07.874" v="6"/>
        <pc:sldMkLst>
          <pc:docMk/>
          <pc:sldMk cId="4081603852" sldId="333"/>
        </pc:sldMkLst>
      </pc:sldChg>
      <pc:sldChg chg="add">
        <pc:chgData name="Vincenzo Mastrolia" userId="9c1b0f1d26c1a45c" providerId="LiveId" clId="{A0E56E0E-8736-43C6-8BBB-B469DBF6B590}" dt="2025-11-17T16:27:34.138" v="8"/>
        <pc:sldMkLst>
          <pc:docMk/>
          <pc:sldMk cId="1128970974" sldId="339"/>
        </pc:sldMkLst>
      </pc:sldChg>
      <pc:sldChg chg="modSp add mod chgLayout">
        <pc:chgData name="Vincenzo Mastrolia" userId="9c1b0f1d26c1a45c" providerId="LiveId" clId="{A0E56E0E-8736-43C6-8BBB-B469DBF6B590}" dt="2025-11-18T08:27:20.890" v="3683" actId="1076"/>
        <pc:sldMkLst>
          <pc:docMk/>
          <pc:sldMk cId="228327417" sldId="340"/>
        </pc:sldMkLst>
        <pc:spChg chg="mod ord">
          <ac:chgData name="Vincenzo Mastrolia" userId="9c1b0f1d26c1a45c" providerId="LiveId" clId="{A0E56E0E-8736-43C6-8BBB-B469DBF6B590}" dt="2025-11-18T08:27:17.127" v="3682" actId="700"/>
          <ac:spMkLst>
            <pc:docMk/>
            <pc:sldMk cId="228327417" sldId="340"/>
            <ac:spMk id="2" creationId="{1F28A18B-295D-44BF-B7C1-CC429519AD42}"/>
          </ac:spMkLst>
        </pc:spChg>
        <pc:spChg chg="mod ord">
          <ac:chgData name="Vincenzo Mastrolia" userId="9c1b0f1d26c1a45c" providerId="LiveId" clId="{A0E56E0E-8736-43C6-8BBB-B469DBF6B590}" dt="2025-11-18T08:27:20.890" v="3683" actId="1076"/>
          <ac:spMkLst>
            <pc:docMk/>
            <pc:sldMk cId="228327417" sldId="340"/>
            <ac:spMk id="3" creationId="{8A616CD2-3094-403B-B62E-6F157D36C216}"/>
          </ac:spMkLst>
        </pc:spChg>
      </pc:sldChg>
      <pc:sldChg chg="modSp add mod">
        <pc:chgData name="Vincenzo Mastrolia" userId="9c1b0f1d26c1a45c" providerId="LiveId" clId="{A0E56E0E-8736-43C6-8BBB-B469DBF6B590}" dt="2025-11-17T22:43:35.632" v="3504" actId="1035"/>
        <pc:sldMkLst>
          <pc:docMk/>
          <pc:sldMk cId="1394347985" sldId="345"/>
        </pc:sldMkLst>
        <pc:spChg chg="mod">
          <ac:chgData name="Vincenzo Mastrolia" userId="9c1b0f1d26c1a45c" providerId="LiveId" clId="{A0E56E0E-8736-43C6-8BBB-B469DBF6B590}" dt="2025-11-17T22:43:03.067" v="3494" actId="27636"/>
          <ac:spMkLst>
            <pc:docMk/>
            <pc:sldMk cId="1394347985" sldId="345"/>
            <ac:spMk id="3" creationId="{55AF8B97-7FFA-42EA-836A-B1875D10C3B7}"/>
          </ac:spMkLst>
        </pc:spChg>
        <pc:spChg chg="mod">
          <ac:chgData name="Vincenzo Mastrolia" userId="9c1b0f1d26c1a45c" providerId="LiveId" clId="{A0E56E0E-8736-43C6-8BBB-B469DBF6B590}" dt="2025-11-17T22:43:35.632" v="3504" actId="1035"/>
          <ac:spMkLst>
            <pc:docMk/>
            <pc:sldMk cId="1394347985" sldId="345"/>
            <ac:spMk id="8" creationId="{B1A2F188-6D30-BF90-B4A9-70268FB3C36B}"/>
          </ac:spMkLst>
        </pc:spChg>
        <pc:spChg chg="mod">
          <ac:chgData name="Vincenzo Mastrolia" userId="9c1b0f1d26c1a45c" providerId="LiveId" clId="{A0E56E0E-8736-43C6-8BBB-B469DBF6B590}" dt="2025-11-17T22:43:26.240" v="3499" actId="1076"/>
          <ac:spMkLst>
            <pc:docMk/>
            <pc:sldMk cId="1394347985" sldId="345"/>
            <ac:spMk id="9" creationId="{982BDF54-6699-F644-4613-443AE2C6EA1A}"/>
          </ac:spMkLst>
        </pc:spChg>
      </pc:sldChg>
      <pc:sldChg chg="modSp add mod">
        <pc:chgData name="Vincenzo Mastrolia" userId="9c1b0f1d26c1a45c" providerId="LiveId" clId="{A0E56E0E-8736-43C6-8BBB-B469DBF6B590}" dt="2025-11-17T22:43:03.052" v="3493" actId="27636"/>
        <pc:sldMkLst>
          <pc:docMk/>
          <pc:sldMk cId="663502369" sldId="347"/>
        </pc:sldMkLst>
        <pc:spChg chg="mod">
          <ac:chgData name="Vincenzo Mastrolia" userId="9c1b0f1d26c1a45c" providerId="LiveId" clId="{A0E56E0E-8736-43C6-8BBB-B469DBF6B590}" dt="2025-11-17T22:43:03.052" v="3493" actId="27636"/>
          <ac:spMkLst>
            <pc:docMk/>
            <pc:sldMk cId="663502369" sldId="347"/>
            <ac:spMk id="3" creationId="{55AF8B97-7FFA-42EA-836A-B1875D10C3B7}"/>
          </ac:spMkLst>
        </pc:spChg>
      </pc:sldChg>
      <pc:sldChg chg="modSp add mod">
        <pc:chgData name="Vincenzo Mastrolia" userId="9c1b0f1d26c1a45c" providerId="LiveId" clId="{A0E56E0E-8736-43C6-8BBB-B469DBF6B590}" dt="2025-11-18T08:28:12.706" v="3687" actId="14100"/>
        <pc:sldMkLst>
          <pc:docMk/>
          <pc:sldMk cId="650769824" sldId="348"/>
        </pc:sldMkLst>
        <pc:spChg chg="mod">
          <ac:chgData name="Vincenzo Mastrolia" userId="9c1b0f1d26c1a45c" providerId="LiveId" clId="{A0E56E0E-8736-43C6-8BBB-B469DBF6B590}" dt="2025-11-18T08:28:02.540" v="3685" actId="14100"/>
          <ac:spMkLst>
            <pc:docMk/>
            <pc:sldMk cId="650769824" sldId="348"/>
            <ac:spMk id="3" creationId="{23EA3EE3-E810-4AB6-8647-E3CCF5AD4802}"/>
          </ac:spMkLst>
        </pc:spChg>
        <pc:spChg chg="mod">
          <ac:chgData name="Vincenzo Mastrolia" userId="9c1b0f1d26c1a45c" providerId="LiveId" clId="{A0E56E0E-8736-43C6-8BBB-B469DBF6B590}" dt="2025-11-18T08:28:12.706" v="3687" actId="14100"/>
          <ac:spMkLst>
            <pc:docMk/>
            <pc:sldMk cId="650769824" sldId="348"/>
            <ac:spMk id="7" creationId="{2948EC0D-1E5A-4622-8CEE-BE6E2D2E8CB7}"/>
          </ac:spMkLst>
        </pc:spChg>
        <pc:spChg chg="mod">
          <ac:chgData name="Vincenzo Mastrolia" userId="9c1b0f1d26c1a45c" providerId="LiveId" clId="{A0E56E0E-8736-43C6-8BBB-B469DBF6B590}" dt="2025-11-18T08:28:07.006" v="3686" actId="14100"/>
          <ac:spMkLst>
            <pc:docMk/>
            <pc:sldMk cId="650769824" sldId="348"/>
            <ac:spMk id="14" creationId="{E2BE59E7-2E65-43FC-A601-FAC0D424BD9F}"/>
          </ac:spMkLst>
        </pc:spChg>
      </pc:sldChg>
      <pc:sldChg chg="add">
        <pc:chgData name="Vincenzo Mastrolia" userId="9c1b0f1d26c1a45c" providerId="LiveId" clId="{A0E56E0E-8736-43C6-8BBB-B469DBF6B590}" dt="2025-11-17T16:25:07.874" v="6"/>
        <pc:sldMkLst>
          <pc:docMk/>
          <pc:sldMk cId="1189695053" sldId="349"/>
        </pc:sldMkLst>
      </pc:sldChg>
      <pc:sldChg chg="add">
        <pc:chgData name="Vincenzo Mastrolia" userId="9c1b0f1d26c1a45c" providerId="LiveId" clId="{A0E56E0E-8736-43C6-8BBB-B469DBF6B590}" dt="2025-11-17T16:25:07.874" v="6"/>
        <pc:sldMkLst>
          <pc:docMk/>
          <pc:sldMk cId="3972181124" sldId="351"/>
        </pc:sldMkLst>
      </pc:sldChg>
      <pc:sldChg chg="add">
        <pc:chgData name="Vincenzo Mastrolia" userId="9c1b0f1d26c1a45c" providerId="LiveId" clId="{A0E56E0E-8736-43C6-8BBB-B469DBF6B590}" dt="2025-11-17T16:25:07.874" v="6"/>
        <pc:sldMkLst>
          <pc:docMk/>
          <pc:sldMk cId="2728036029" sldId="352"/>
        </pc:sldMkLst>
      </pc:sldChg>
      <pc:sldChg chg="add">
        <pc:chgData name="Vincenzo Mastrolia" userId="9c1b0f1d26c1a45c" providerId="LiveId" clId="{A0E56E0E-8736-43C6-8BBB-B469DBF6B590}" dt="2025-11-17T16:25:07.874" v="6"/>
        <pc:sldMkLst>
          <pc:docMk/>
          <pc:sldMk cId="2571364044" sldId="353"/>
        </pc:sldMkLst>
      </pc:sldChg>
      <pc:sldChg chg="modSp add">
        <pc:chgData name="Vincenzo Mastrolia" userId="9c1b0f1d26c1a45c" providerId="LiveId" clId="{A0E56E0E-8736-43C6-8BBB-B469DBF6B590}" dt="2025-11-17T19:42:51.692" v="858" actId="1076"/>
        <pc:sldMkLst>
          <pc:docMk/>
          <pc:sldMk cId="3976835852" sldId="355"/>
        </pc:sldMkLst>
        <pc:picChg chg="mod">
          <ac:chgData name="Vincenzo Mastrolia" userId="9c1b0f1d26c1a45c" providerId="LiveId" clId="{A0E56E0E-8736-43C6-8BBB-B469DBF6B590}" dt="2025-11-17T19:42:51.692" v="858" actId="1076"/>
          <ac:picMkLst>
            <pc:docMk/>
            <pc:sldMk cId="3976835852" sldId="355"/>
            <ac:picMk id="2050" creationId="{0847DED2-4208-47DD-B6CD-B201F472CB36}"/>
          </ac:picMkLst>
        </pc:picChg>
      </pc:sldChg>
      <pc:sldChg chg="modSp add mod">
        <pc:chgData name="Vincenzo Mastrolia" userId="9c1b0f1d26c1a45c" providerId="LiveId" clId="{A0E56E0E-8736-43C6-8BBB-B469DBF6B590}" dt="2025-11-17T22:43:03.140" v="3497" actId="27636"/>
        <pc:sldMkLst>
          <pc:docMk/>
          <pc:sldMk cId="709098106" sldId="363"/>
        </pc:sldMkLst>
        <pc:spChg chg="mod">
          <ac:chgData name="Vincenzo Mastrolia" userId="9c1b0f1d26c1a45c" providerId="LiveId" clId="{A0E56E0E-8736-43C6-8BBB-B469DBF6B590}" dt="2025-11-17T22:43:03.140" v="3497" actId="27636"/>
          <ac:spMkLst>
            <pc:docMk/>
            <pc:sldMk cId="709098106" sldId="363"/>
            <ac:spMk id="3" creationId="{4CECF623-D027-4456-B818-036A35F44021}"/>
          </ac:spMkLst>
        </pc:spChg>
      </pc:sldChg>
      <pc:sldChg chg="modSp add mod chgLayout">
        <pc:chgData name="Vincenzo Mastrolia" userId="9c1b0f1d26c1a45c" providerId="LiveId" clId="{A0E56E0E-8736-43C6-8BBB-B469DBF6B590}" dt="2025-11-18T08:28:39.253" v="3689" actId="14100"/>
        <pc:sldMkLst>
          <pc:docMk/>
          <pc:sldMk cId="4286075826" sldId="606"/>
        </pc:sldMkLst>
        <pc:spChg chg="mod ord">
          <ac:chgData name="Vincenzo Mastrolia" userId="9c1b0f1d26c1a45c" providerId="LiveId" clId="{A0E56E0E-8736-43C6-8BBB-B469DBF6B590}" dt="2025-11-17T16:42:55.120" v="24" actId="700"/>
          <ac:spMkLst>
            <pc:docMk/>
            <pc:sldMk cId="4286075826" sldId="606"/>
            <ac:spMk id="2" creationId="{7083583D-C35F-4160-A02C-8ED5767DE5C1}"/>
          </ac:spMkLst>
        </pc:spChg>
        <pc:spChg chg="mod ord">
          <ac:chgData name="Vincenzo Mastrolia" userId="9c1b0f1d26c1a45c" providerId="LiveId" clId="{A0E56E0E-8736-43C6-8BBB-B469DBF6B590}" dt="2025-11-17T16:45:47.624" v="35" actId="14100"/>
          <ac:spMkLst>
            <pc:docMk/>
            <pc:sldMk cId="4286075826" sldId="606"/>
            <ac:spMk id="3" creationId="{0DC58B64-9A9A-40B6-80C3-94EAAB19F052}"/>
          </ac:spMkLst>
        </pc:spChg>
        <pc:spChg chg="mod">
          <ac:chgData name="Vincenzo Mastrolia" userId="9c1b0f1d26c1a45c" providerId="LiveId" clId="{A0E56E0E-8736-43C6-8BBB-B469DBF6B590}" dt="2025-11-18T08:28:39.253" v="3689" actId="14100"/>
          <ac:spMkLst>
            <pc:docMk/>
            <pc:sldMk cId="4286075826" sldId="606"/>
            <ac:spMk id="5" creationId="{F4BE1A13-DCB6-44E3-8CDF-C9C91569CE57}"/>
          </ac:spMkLst>
        </pc:spChg>
        <pc:picChg chg="mod">
          <ac:chgData name="Vincenzo Mastrolia" userId="9c1b0f1d26c1a45c" providerId="LiveId" clId="{A0E56E0E-8736-43C6-8BBB-B469DBF6B590}" dt="2025-11-17T16:42:51.779" v="23" actId="1076"/>
          <ac:picMkLst>
            <pc:docMk/>
            <pc:sldMk cId="4286075826" sldId="606"/>
            <ac:picMk id="4" creationId="{A5A9B864-5DE3-4532-B92B-3DC71C095280}"/>
          </ac:picMkLst>
        </pc:picChg>
      </pc:sldChg>
      <pc:sldChg chg="modSp add mod chgLayout">
        <pc:chgData name="Vincenzo Mastrolia" userId="9c1b0f1d26c1a45c" providerId="LiveId" clId="{A0E56E0E-8736-43C6-8BBB-B469DBF6B590}" dt="2025-11-17T16:47:14.191" v="39" actId="1076"/>
        <pc:sldMkLst>
          <pc:docMk/>
          <pc:sldMk cId="351382428" sldId="615"/>
        </pc:sldMkLst>
        <pc:spChg chg="mod ord">
          <ac:chgData name="Vincenzo Mastrolia" userId="9c1b0f1d26c1a45c" providerId="LiveId" clId="{A0E56E0E-8736-43C6-8BBB-B469DBF6B590}" dt="2025-11-17T16:47:08.393" v="38" actId="700"/>
          <ac:spMkLst>
            <pc:docMk/>
            <pc:sldMk cId="351382428" sldId="615"/>
            <ac:spMk id="2" creationId="{2F119E44-EEDE-49BD-B7E3-4CB46E31BA82}"/>
          </ac:spMkLst>
        </pc:spChg>
        <pc:spChg chg="mod">
          <ac:chgData name="Vincenzo Mastrolia" userId="9c1b0f1d26c1a45c" providerId="LiveId" clId="{A0E56E0E-8736-43C6-8BBB-B469DBF6B590}" dt="2025-11-17T16:47:14.191" v="39" actId="1076"/>
          <ac:spMkLst>
            <pc:docMk/>
            <pc:sldMk cId="351382428" sldId="615"/>
            <ac:spMk id="41" creationId="{C48475D5-B5DA-4AD3-AF65-DBAE95FD2E4E}"/>
          </ac:spMkLst>
        </pc:spChg>
        <pc:picChg chg="mod ord">
          <ac:chgData name="Vincenzo Mastrolia" userId="9c1b0f1d26c1a45c" providerId="LiveId" clId="{A0E56E0E-8736-43C6-8BBB-B469DBF6B590}" dt="2025-11-17T16:47:08.393" v="38" actId="700"/>
          <ac:picMkLst>
            <pc:docMk/>
            <pc:sldMk cId="351382428" sldId="615"/>
            <ac:picMk id="19" creationId="{EB40D36B-91CE-44CB-B3C9-6037CF3FD66D}"/>
          </ac:picMkLst>
        </pc:picChg>
      </pc:sldChg>
      <pc:sldChg chg="add">
        <pc:chgData name="Vincenzo Mastrolia" userId="9c1b0f1d26c1a45c" providerId="LiveId" clId="{A0E56E0E-8736-43C6-8BBB-B469DBF6B590}" dt="2025-11-17T16:25:07.874" v="6"/>
        <pc:sldMkLst>
          <pc:docMk/>
          <pc:sldMk cId="2554946061" sldId="630"/>
        </pc:sldMkLst>
      </pc:sldChg>
      <pc:sldChg chg="modSp add mod">
        <pc:chgData name="Vincenzo Mastrolia" userId="9c1b0f1d26c1a45c" providerId="LiveId" clId="{A0E56E0E-8736-43C6-8BBB-B469DBF6B590}" dt="2025-11-17T22:43:03.114" v="3496" actId="27636"/>
        <pc:sldMkLst>
          <pc:docMk/>
          <pc:sldMk cId="2899496742" sldId="631"/>
        </pc:sldMkLst>
        <pc:spChg chg="mod">
          <ac:chgData name="Vincenzo Mastrolia" userId="9c1b0f1d26c1a45c" providerId="LiveId" clId="{A0E56E0E-8736-43C6-8BBB-B469DBF6B590}" dt="2025-11-17T22:43:03.114" v="3496" actId="27636"/>
          <ac:spMkLst>
            <pc:docMk/>
            <pc:sldMk cId="2899496742" sldId="631"/>
            <ac:spMk id="13" creationId="{59DE9B4A-6A3E-4BCA-8363-CE2A0569454B}"/>
          </ac:spMkLst>
        </pc:spChg>
      </pc:sldChg>
      <pc:sldChg chg="add">
        <pc:chgData name="Vincenzo Mastrolia" userId="9c1b0f1d26c1a45c" providerId="LiveId" clId="{A0E56E0E-8736-43C6-8BBB-B469DBF6B590}" dt="2025-11-17T16:29:22.247" v="13"/>
        <pc:sldMkLst>
          <pc:docMk/>
          <pc:sldMk cId="2180033891" sldId="634"/>
        </pc:sldMkLst>
      </pc:sldChg>
      <pc:sldChg chg="modSp add mod chgLayout">
        <pc:chgData name="Vincenzo Mastrolia" userId="9c1b0f1d26c1a45c" providerId="LiveId" clId="{A0E56E0E-8736-43C6-8BBB-B469DBF6B590}" dt="2025-11-18T08:27:01.006" v="3678" actId="14100"/>
        <pc:sldMkLst>
          <pc:docMk/>
          <pc:sldMk cId="139127897" sldId="648"/>
        </pc:sldMkLst>
        <pc:spChg chg="mod ord">
          <ac:chgData name="Vincenzo Mastrolia" userId="9c1b0f1d26c1a45c" providerId="LiveId" clId="{A0E56E0E-8736-43C6-8BBB-B469DBF6B590}" dt="2025-11-18T08:26:57.156" v="3677" actId="700"/>
          <ac:spMkLst>
            <pc:docMk/>
            <pc:sldMk cId="139127897" sldId="648"/>
            <ac:spMk id="2" creationId="{B7175275-EED1-4626-91E7-CBD522C1DBC4}"/>
          </ac:spMkLst>
        </pc:spChg>
        <pc:spChg chg="mod ord">
          <ac:chgData name="Vincenzo Mastrolia" userId="9c1b0f1d26c1a45c" providerId="LiveId" clId="{A0E56E0E-8736-43C6-8BBB-B469DBF6B590}" dt="2025-11-18T08:27:01.006" v="3678" actId="14100"/>
          <ac:spMkLst>
            <pc:docMk/>
            <pc:sldMk cId="139127897" sldId="648"/>
            <ac:spMk id="3" creationId="{3B3D59EA-08B1-4087-A5DD-FBF6A0A9B157}"/>
          </ac:spMkLst>
        </pc:spChg>
      </pc:sldChg>
      <pc:sldChg chg="add">
        <pc:chgData name="Vincenzo Mastrolia" userId="9c1b0f1d26c1a45c" providerId="LiveId" clId="{A0E56E0E-8736-43C6-8BBB-B469DBF6B590}" dt="2025-11-17T16:24:38.083" v="5"/>
        <pc:sldMkLst>
          <pc:docMk/>
          <pc:sldMk cId="1579703955" sldId="649"/>
        </pc:sldMkLst>
      </pc:sldChg>
      <pc:sldChg chg="add del">
        <pc:chgData name="Vincenzo Mastrolia" userId="9c1b0f1d26c1a45c" providerId="LiveId" clId="{A0E56E0E-8736-43C6-8BBB-B469DBF6B590}" dt="2025-11-17T16:27:47.694" v="9" actId="47"/>
        <pc:sldMkLst>
          <pc:docMk/>
          <pc:sldMk cId="3126988001" sldId="650"/>
        </pc:sldMkLst>
      </pc:sldChg>
      <pc:sldChg chg="modSp add mod">
        <pc:chgData name="Vincenzo Mastrolia" userId="9c1b0f1d26c1a45c" providerId="LiveId" clId="{A0E56E0E-8736-43C6-8BBB-B469DBF6B590}" dt="2025-11-17T22:43:03.103" v="3495" actId="27636"/>
        <pc:sldMkLst>
          <pc:docMk/>
          <pc:sldMk cId="1495506767" sldId="651"/>
        </pc:sldMkLst>
        <pc:spChg chg="mod">
          <ac:chgData name="Vincenzo Mastrolia" userId="9c1b0f1d26c1a45c" providerId="LiveId" clId="{A0E56E0E-8736-43C6-8BBB-B469DBF6B590}" dt="2025-11-17T22:43:03.103" v="3495" actId="27636"/>
          <ac:spMkLst>
            <pc:docMk/>
            <pc:sldMk cId="1495506767" sldId="651"/>
            <ac:spMk id="3" creationId="{6D7C7EFA-1EC6-4EA3-A5F3-8DED78057404}"/>
          </ac:spMkLst>
        </pc:spChg>
      </pc:sldChg>
      <pc:sldChg chg="add">
        <pc:chgData name="Vincenzo Mastrolia" userId="9c1b0f1d26c1a45c" providerId="LiveId" clId="{A0E56E0E-8736-43C6-8BBB-B469DBF6B590}" dt="2025-11-17T16:28:38.742" v="10"/>
        <pc:sldMkLst>
          <pc:docMk/>
          <pc:sldMk cId="1172767209" sldId="653"/>
        </pc:sldMkLst>
      </pc:sldChg>
      <pc:sldChg chg="add">
        <pc:chgData name="Vincenzo Mastrolia" userId="9c1b0f1d26c1a45c" providerId="LiveId" clId="{A0E56E0E-8736-43C6-8BBB-B469DBF6B590}" dt="2025-11-17T16:28:38.742" v="10"/>
        <pc:sldMkLst>
          <pc:docMk/>
          <pc:sldMk cId="3236238599" sldId="654"/>
        </pc:sldMkLst>
      </pc:sldChg>
      <pc:sldChg chg="modSp add mod">
        <pc:chgData name="Vincenzo Mastrolia" userId="9c1b0f1d26c1a45c" providerId="LiveId" clId="{A0E56E0E-8736-43C6-8BBB-B469DBF6B590}" dt="2025-11-17T22:46:23.164" v="3676" actId="20577"/>
        <pc:sldMkLst>
          <pc:docMk/>
          <pc:sldMk cId="3846591028" sldId="656"/>
        </pc:sldMkLst>
        <pc:spChg chg="mod">
          <ac:chgData name="Vincenzo Mastrolia" userId="9c1b0f1d26c1a45c" providerId="LiveId" clId="{A0E56E0E-8736-43C6-8BBB-B469DBF6B590}" dt="2025-11-17T22:46:23.164" v="3676" actId="20577"/>
          <ac:spMkLst>
            <pc:docMk/>
            <pc:sldMk cId="3846591028" sldId="656"/>
            <ac:spMk id="8" creationId="{55570673-E8FA-47E3-8D51-98B831132C8E}"/>
          </ac:spMkLst>
        </pc:spChg>
      </pc:sldChg>
      <pc:sldChg chg="modSp add mod">
        <pc:chgData name="Vincenzo Mastrolia" userId="9c1b0f1d26c1a45c" providerId="LiveId" clId="{A0E56E0E-8736-43C6-8BBB-B469DBF6B590}" dt="2025-11-18T08:28:30.856" v="3688" actId="1076"/>
        <pc:sldMkLst>
          <pc:docMk/>
          <pc:sldMk cId="3672013114" sldId="658"/>
        </pc:sldMkLst>
        <pc:picChg chg="mod">
          <ac:chgData name="Vincenzo Mastrolia" userId="9c1b0f1d26c1a45c" providerId="LiveId" clId="{A0E56E0E-8736-43C6-8BBB-B469DBF6B590}" dt="2025-11-18T08:28:30.856" v="3688" actId="1076"/>
          <ac:picMkLst>
            <pc:docMk/>
            <pc:sldMk cId="3672013114" sldId="658"/>
            <ac:picMk id="5" creationId="{51FDA4EB-EDEE-514B-BEFA-913B982CA97D}"/>
          </ac:picMkLst>
        </pc:picChg>
      </pc:sldChg>
      <pc:sldChg chg="add">
        <pc:chgData name="Vincenzo Mastrolia" userId="9c1b0f1d26c1a45c" providerId="LiveId" clId="{A0E56E0E-8736-43C6-8BBB-B469DBF6B590}" dt="2025-11-17T16:27:34.138" v="8"/>
        <pc:sldMkLst>
          <pc:docMk/>
          <pc:sldMk cId="318623540" sldId="659"/>
        </pc:sldMkLst>
      </pc:sldChg>
      <pc:sldChg chg="addSp delSp modSp new mod modClrScheme chgLayout">
        <pc:chgData name="Vincenzo Mastrolia" userId="9c1b0f1d26c1a45c" providerId="LiveId" clId="{A0E56E0E-8736-43C6-8BBB-B469DBF6B590}" dt="2025-11-17T16:49:13.754" v="82" actId="1076"/>
        <pc:sldMkLst>
          <pc:docMk/>
          <pc:sldMk cId="56757991" sldId="660"/>
        </pc:sldMkLst>
        <pc:spChg chg="del mod ord">
          <ac:chgData name="Vincenzo Mastrolia" userId="9c1b0f1d26c1a45c" providerId="LiveId" clId="{A0E56E0E-8736-43C6-8BBB-B469DBF6B590}" dt="2025-11-17T16:47:41.279" v="41" actId="700"/>
          <ac:spMkLst>
            <pc:docMk/>
            <pc:sldMk cId="56757991" sldId="660"/>
            <ac:spMk id="2" creationId="{3CF23A97-B87F-0195-DA14-02535540E35E}"/>
          </ac:spMkLst>
        </pc:spChg>
        <pc:spChg chg="del mod ord">
          <ac:chgData name="Vincenzo Mastrolia" userId="9c1b0f1d26c1a45c" providerId="LiveId" clId="{A0E56E0E-8736-43C6-8BBB-B469DBF6B590}" dt="2025-11-17T16:47:41.279" v="41" actId="700"/>
          <ac:spMkLst>
            <pc:docMk/>
            <pc:sldMk cId="56757991" sldId="660"/>
            <ac:spMk id="3" creationId="{830443B3-D59B-05C0-6027-5D89661C401C}"/>
          </ac:spMkLst>
        </pc:spChg>
        <pc:spChg chg="add mod ord">
          <ac:chgData name="Vincenzo Mastrolia" userId="9c1b0f1d26c1a45c" providerId="LiveId" clId="{A0E56E0E-8736-43C6-8BBB-B469DBF6B590}" dt="2025-11-17T16:47:55.280" v="77" actId="20577"/>
          <ac:spMkLst>
            <pc:docMk/>
            <pc:sldMk cId="56757991" sldId="660"/>
            <ac:spMk id="4" creationId="{663D3F62-4FDF-17D4-4BD7-ED05749F2806}"/>
          </ac:spMkLst>
        </pc:spChg>
        <pc:spChg chg="add mod ord">
          <ac:chgData name="Vincenzo Mastrolia" userId="9c1b0f1d26c1a45c" providerId="LiveId" clId="{A0E56E0E-8736-43C6-8BBB-B469DBF6B590}" dt="2025-11-17T16:47:41.279" v="41" actId="700"/>
          <ac:spMkLst>
            <pc:docMk/>
            <pc:sldMk cId="56757991" sldId="660"/>
            <ac:spMk id="5" creationId="{8E1BD3A8-D543-6C44-56BC-4E2DB9A11ACB}"/>
          </ac:spMkLst>
        </pc:spChg>
        <pc:picChg chg="add mod">
          <ac:chgData name="Vincenzo Mastrolia" userId="9c1b0f1d26c1a45c" providerId="LiveId" clId="{A0E56E0E-8736-43C6-8BBB-B469DBF6B590}" dt="2025-11-17T16:49:13.754" v="82" actId="1076"/>
          <ac:picMkLst>
            <pc:docMk/>
            <pc:sldMk cId="56757991" sldId="660"/>
            <ac:picMk id="6" creationId="{7E9171AC-27CF-2065-D282-ADCF4533DA22}"/>
          </ac:picMkLst>
        </pc:picChg>
      </pc:sldChg>
      <pc:sldChg chg="addSp delSp modSp new mod modClrScheme chgLayout">
        <pc:chgData name="Vincenzo Mastrolia" userId="9c1b0f1d26c1a45c" providerId="LiveId" clId="{A0E56E0E-8736-43C6-8BBB-B469DBF6B590}" dt="2025-11-17T16:53:33.823" v="180" actId="732"/>
        <pc:sldMkLst>
          <pc:docMk/>
          <pc:sldMk cId="2886008083" sldId="661"/>
        </pc:sldMkLst>
        <pc:spChg chg="del mod ord">
          <ac:chgData name="Vincenzo Mastrolia" userId="9c1b0f1d26c1a45c" providerId="LiveId" clId="{A0E56E0E-8736-43C6-8BBB-B469DBF6B590}" dt="2025-11-17T16:50:11.823" v="84" actId="700"/>
          <ac:spMkLst>
            <pc:docMk/>
            <pc:sldMk cId="2886008083" sldId="661"/>
            <ac:spMk id="2" creationId="{09790C28-AABF-9FA0-8464-D58455CFEE2B}"/>
          </ac:spMkLst>
        </pc:spChg>
        <pc:spChg chg="del mod ord">
          <ac:chgData name="Vincenzo Mastrolia" userId="9c1b0f1d26c1a45c" providerId="LiveId" clId="{A0E56E0E-8736-43C6-8BBB-B469DBF6B590}" dt="2025-11-17T16:50:11.823" v="84" actId="700"/>
          <ac:spMkLst>
            <pc:docMk/>
            <pc:sldMk cId="2886008083" sldId="661"/>
            <ac:spMk id="3" creationId="{854308CE-C9A2-ACD9-7B7C-D9D301F915DA}"/>
          </ac:spMkLst>
        </pc:spChg>
        <pc:spChg chg="add mod ord">
          <ac:chgData name="Vincenzo Mastrolia" userId="9c1b0f1d26c1a45c" providerId="LiveId" clId="{A0E56E0E-8736-43C6-8BBB-B469DBF6B590}" dt="2025-11-17T16:50:34.661" v="139" actId="20577"/>
          <ac:spMkLst>
            <pc:docMk/>
            <pc:sldMk cId="2886008083" sldId="661"/>
            <ac:spMk id="4" creationId="{471C2E10-15D2-9A92-B507-107CA47D8141}"/>
          </ac:spMkLst>
        </pc:spChg>
        <pc:spChg chg="add mod ord">
          <ac:chgData name="Vincenzo Mastrolia" userId="9c1b0f1d26c1a45c" providerId="LiveId" clId="{A0E56E0E-8736-43C6-8BBB-B469DBF6B590}" dt="2025-11-17T16:50:11.823" v="84" actId="700"/>
          <ac:spMkLst>
            <pc:docMk/>
            <pc:sldMk cId="2886008083" sldId="661"/>
            <ac:spMk id="5" creationId="{1217831C-52BF-1FD8-618C-21788D89C300}"/>
          </ac:spMkLst>
        </pc:spChg>
        <pc:picChg chg="add mod">
          <ac:chgData name="Vincenzo Mastrolia" userId="9c1b0f1d26c1a45c" providerId="LiveId" clId="{A0E56E0E-8736-43C6-8BBB-B469DBF6B590}" dt="2025-11-17T16:53:33.823" v="180" actId="732"/>
          <ac:picMkLst>
            <pc:docMk/>
            <pc:sldMk cId="2886008083" sldId="661"/>
            <ac:picMk id="1026" creationId="{AFC68003-F3F6-6EBB-DE50-D8D16B2A6DC4}"/>
          </ac:picMkLst>
        </pc:picChg>
      </pc:sldChg>
      <pc:sldChg chg="addSp delSp modSp new mod modClrScheme chgLayout">
        <pc:chgData name="Vincenzo Mastrolia" userId="9c1b0f1d26c1a45c" providerId="LiveId" clId="{A0E56E0E-8736-43C6-8BBB-B469DBF6B590}" dt="2025-11-17T17:26:00.915" v="238" actId="403"/>
        <pc:sldMkLst>
          <pc:docMk/>
          <pc:sldMk cId="2887711247" sldId="662"/>
        </pc:sldMkLst>
        <pc:spChg chg="del mod ord">
          <ac:chgData name="Vincenzo Mastrolia" userId="9c1b0f1d26c1a45c" providerId="LiveId" clId="{A0E56E0E-8736-43C6-8BBB-B469DBF6B590}" dt="2025-11-17T16:51:30.460" v="141" actId="700"/>
          <ac:spMkLst>
            <pc:docMk/>
            <pc:sldMk cId="2887711247" sldId="662"/>
            <ac:spMk id="2" creationId="{1CE0F377-6AA1-11F0-3FA5-8CCBB6359F5C}"/>
          </ac:spMkLst>
        </pc:spChg>
        <pc:spChg chg="del mod ord">
          <ac:chgData name="Vincenzo Mastrolia" userId="9c1b0f1d26c1a45c" providerId="LiveId" clId="{A0E56E0E-8736-43C6-8BBB-B469DBF6B590}" dt="2025-11-17T16:51:30.460" v="141" actId="700"/>
          <ac:spMkLst>
            <pc:docMk/>
            <pc:sldMk cId="2887711247" sldId="662"/>
            <ac:spMk id="3" creationId="{B691F3AB-DCD4-25AE-B870-AD3D813EDAC0}"/>
          </ac:spMkLst>
        </pc:spChg>
        <pc:spChg chg="add mod ord">
          <ac:chgData name="Vincenzo Mastrolia" userId="9c1b0f1d26c1a45c" providerId="LiveId" clId="{A0E56E0E-8736-43C6-8BBB-B469DBF6B590}" dt="2025-11-17T16:51:37.595" v="164" actId="20577"/>
          <ac:spMkLst>
            <pc:docMk/>
            <pc:sldMk cId="2887711247" sldId="662"/>
            <ac:spMk id="4" creationId="{6E93FC87-F4D7-07B8-FBEF-87C3774E01B1}"/>
          </ac:spMkLst>
        </pc:spChg>
        <pc:spChg chg="add mod ord">
          <ac:chgData name="Vincenzo Mastrolia" userId="9c1b0f1d26c1a45c" providerId="LiveId" clId="{A0E56E0E-8736-43C6-8BBB-B469DBF6B590}" dt="2025-11-17T17:26:00.915" v="238" actId="403"/>
          <ac:spMkLst>
            <pc:docMk/>
            <pc:sldMk cId="2887711247" sldId="662"/>
            <ac:spMk id="5" creationId="{414B8AEF-BFC1-CEDE-2902-44F021502BBB}"/>
          </ac:spMkLst>
        </pc:spChg>
        <pc:picChg chg="add mod">
          <ac:chgData name="Vincenzo Mastrolia" userId="9c1b0f1d26c1a45c" providerId="LiveId" clId="{A0E56E0E-8736-43C6-8BBB-B469DBF6B590}" dt="2025-11-17T17:25:24.910" v="223" actId="1076"/>
          <ac:picMkLst>
            <pc:docMk/>
            <pc:sldMk cId="2887711247" sldId="662"/>
            <ac:picMk id="2050" creationId="{92937041-A562-9A9F-2974-CA220F22BC28}"/>
          </ac:picMkLst>
        </pc:picChg>
      </pc:sldChg>
      <pc:sldChg chg="addSp delSp modSp new mod">
        <pc:chgData name="Vincenzo Mastrolia" userId="9c1b0f1d26c1a45c" providerId="LiveId" clId="{A0E56E0E-8736-43C6-8BBB-B469DBF6B590}" dt="2025-11-17T21:20:16.233" v="1204" actId="20577"/>
        <pc:sldMkLst>
          <pc:docMk/>
          <pc:sldMk cId="1193129385" sldId="663"/>
        </pc:sldMkLst>
        <pc:spChg chg="mod">
          <ac:chgData name="Vincenzo Mastrolia" userId="9c1b0f1d26c1a45c" providerId="LiveId" clId="{A0E56E0E-8736-43C6-8BBB-B469DBF6B590}" dt="2025-11-17T17:26:57.355" v="260" actId="20577"/>
          <ac:spMkLst>
            <pc:docMk/>
            <pc:sldMk cId="1193129385" sldId="663"/>
            <ac:spMk id="2" creationId="{6F4C63C3-FEE7-BD5C-EE47-054A71C90AE2}"/>
          </ac:spMkLst>
        </pc:spChg>
        <pc:spChg chg="mod">
          <ac:chgData name="Vincenzo Mastrolia" userId="9c1b0f1d26c1a45c" providerId="LiveId" clId="{A0E56E0E-8736-43C6-8BBB-B469DBF6B590}" dt="2025-11-17T21:20:16.233" v="1204" actId="20577"/>
          <ac:spMkLst>
            <pc:docMk/>
            <pc:sldMk cId="1193129385" sldId="663"/>
            <ac:spMk id="3" creationId="{8C9B11D6-E369-9BCA-915D-95BBA7D4E409}"/>
          </ac:spMkLst>
        </pc:spChg>
        <pc:picChg chg="add mod">
          <ac:chgData name="Vincenzo Mastrolia" userId="9c1b0f1d26c1a45c" providerId="LiveId" clId="{A0E56E0E-8736-43C6-8BBB-B469DBF6B590}" dt="2025-11-17T19:43:00.100" v="860" actId="1076"/>
          <ac:picMkLst>
            <pc:docMk/>
            <pc:sldMk cId="1193129385" sldId="663"/>
            <ac:picMk id="4" creationId="{E9B1DB6D-90DA-35F6-00E2-65322FC22E65}"/>
          </ac:picMkLst>
        </pc:picChg>
        <pc:picChg chg="add del mod">
          <ac:chgData name="Vincenzo Mastrolia" userId="9c1b0f1d26c1a45c" providerId="LiveId" clId="{A0E56E0E-8736-43C6-8BBB-B469DBF6B590}" dt="2025-11-17T19:38:39.920" v="665" actId="21"/>
          <ac:picMkLst>
            <pc:docMk/>
            <pc:sldMk cId="1193129385" sldId="663"/>
            <ac:picMk id="3074" creationId="{83AC763B-836F-4A9F-D1AE-1F724990F4D6}"/>
          </ac:picMkLst>
        </pc:picChg>
      </pc:sldChg>
      <pc:sldChg chg="addSp modSp new mod">
        <pc:chgData name="Vincenzo Mastrolia" userId="9c1b0f1d26c1a45c" providerId="LiveId" clId="{A0E56E0E-8736-43C6-8BBB-B469DBF6B590}" dt="2025-11-17T19:44:13.032" v="891" actId="20577"/>
        <pc:sldMkLst>
          <pc:docMk/>
          <pc:sldMk cId="1522939644" sldId="664"/>
        </pc:sldMkLst>
        <pc:spChg chg="mod">
          <ac:chgData name="Vincenzo Mastrolia" userId="9c1b0f1d26c1a45c" providerId="LiveId" clId="{A0E56E0E-8736-43C6-8BBB-B469DBF6B590}" dt="2025-11-17T19:36:43.686" v="558" actId="20577"/>
          <ac:spMkLst>
            <pc:docMk/>
            <pc:sldMk cId="1522939644" sldId="664"/>
            <ac:spMk id="2" creationId="{A81E5FB9-55E4-6618-C1BA-3C21C9AE66AB}"/>
          </ac:spMkLst>
        </pc:spChg>
        <pc:spChg chg="mod">
          <ac:chgData name="Vincenzo Mastrolia" userId="9c1b0f1d26c1a45c" providerId="LiveId" clId="{A0E56E0E-8736-43C6-8BBB-B469DBF6B590}" dt="2025-11-17T19:44:13.032" v="891" actId="20577"/>
          <ac:spMkLst>
            <pc:docMk/>
            <pc:sldMk cId="1522939644" sldId="664"/>
            <ac:spMk id="3" creationId="{36534754-9AC6-A0CC-F03E-42A2E0025F8C}"/>
          </ac:spMkLst>
        </pc:spChg>
        <pc:picChg chg="add mod">
          <ac:chgData name="Vincenzo Mastrolia" userId="9c1b0f1d26c1a45c" providerId="LiveId" clId="{A0E56E0E-8736-43C6-8BBB-B469DBF6B590}" dt="2025-11-17T19:38:45.151" v="666"/>
          <ac:picMkLst>
            <pc:docMk/>
            <pc:sldMk cId="1522939644" sldId="664"/>
            <ac:picMk id="3074" creationId="{83AC763B-836F-4A9F-D1AE-1F724990F4D6}"/>
          </ac:picMkLst>
        </pc:picChg>
      </pc:sldChg>
      <pc:sldChg chg="addSp modSp new mod">
        <pc:chgData name="Vincenzo Mastrolia" userId="9c1b0f1d26c1a45c" providerId="LiveId" clId="{A0E56E0E-8736-43C6-8BBB-B469DBF6B590}" dt="2025-11-17T21:22:01.101" v="1211" actId="20577"/>
        <pc:sldMkLst>
          <pc:docMk/>
          <pc:sldMk cId="3304854053" sldId="665"/>
        </pc:sldMkLst>
        <pc:spChg chg="mod">
          <ac:chgData name="Vincenzo Mastrolia" userId="9c1b0f1d26c1a45c" providerId="LiveId" clId="{A0E56E0E-8736-43C6-8BBB-B469DBF6B590}" dt="2025-11-17T19:45:24.081" v="912" actId="20577"/>
          <ac:spMkLst>
            <pc:docMk/>
            <pc:sldMk cId="3304854053" sldId="665"/>
            <ac:spMk id="2" creationId="{A02A77B9-F48F-C2AF-102F-112BAD480761}"/>
          </ac:spMkLst>
        </pc:spChg>
        <pc:spChg chg="mod">
          <ac:chgData name="Vincenzo Mastrolia" userId="9c1b0f1d26c1a45c" providerId="LiveId" clId="{A0E56E0E-8736-43C6-8BBB-B469DBF6B590}" dt="2025-11-17T21:22:01.101" v="1211" actId="20577"/>
          <ac:spMkLst>
            <pc:docMk/>
            <pc:sldMk cId="3304854053" sldId="665"/>
            <ac:spMk id="3" creationId="{AE0F9EA3-E5CA-D9C7-3B51-A9970BC4B3E7}"/>
          </ac:spMkLst>
        </pc:spChg>
        <pc:picChg chg="add mod">
          <ac:chgData name="Vincenzo Mastrolia" userId="9c1b0f1d26c1a45c" providerId="LiveId" clId="{A0E56E0E-8736-43C6-8BBB-B469DBF6B590}" dt="2025-11-17T21:21:51.937" v="1209" actId="1076"/>
          <ac:picMkLst>
            <pc:docMk/>
            <pc:sldMk cId="3304854053" sldId="665"/>
            <ac:picMk id="4098" creationId="{55339251-75D6-6C3A-0C7A-F4A8D3568725}"/>
          </ac:picMkLst>
        </pc:picChg>
      </pc:sldChg>
      <pc:sldChg chg="addSp modSp new mod">
        <pc:chgData name="Vincenzo Mastrolia" userId="9c1b0f1d26c1a45c" providerId="LiveId" clId="{A0E56E0E-8736-43C6-8BBB-B469DBF6B590}" dt="2025-11-17T22:01:41.100" v="2051" actId="20577"/>
        <pc:sldMkLst>
          <pc:docMk/>
          <pc:sldMk cId="4284457626" sldId="666"/>
        </pc:sldMkLst>
        <pc:spChg chg="mod">
          <ac:chgData name="Vincenzo Mastrolia" userId="9c1b0f1d26c1a45c" providerId="LiveId" clId="{A0E56E0E-8736-43C6-8BBB-B469DBF6B590}" dt="2025-11-17T22:01:41.100" v="2051" actId="20577"/>
          <ac:spMkLst>
            <pc:docMk/>
            <pc:sldMk cId="4284457626" sldId="666"/>
            <ac:spMk id="2" creationId="{926B665A-E719-FCC3-6CE0-8E5F375F231D}"/>
          </ac:spMkLst>
        </pc:spChg>
        <pc:spChg chg="mod">
          <ac:chgData name="Vincenzo Mastrolia" userId="9c1b0f1d26c1a45c" providerId="LiveId" clId="{A0E56E0E-8736-43C6-8BBB-B469DBF6B590}" dt="2025-11-17T22:01:29.968" v="2034" actId="20577"/>
          <ac:spMkLst>
            <pc:docMk/>
            <pc:sldMk cId="4284457626" sldId="666"/>
            <ac:spMk id="3" creationId="{D8754307-B98B-E352-CE28-D25B893DAD2B}"/>
          </ac:spMkLst>
        </pc:spChg>
        <pc:picChg chg="add mod">
          <ac:chgData name="Vincenzo Mastrolia" userId="9c1b0f1d26c1a45c" providerId="LiveId" clId="{A0E56E0E-8736-43C6-8BBB-B469DBF6B590}" dt="2025-11-17T21:45:42.579" v="1449" actId="1076"/>
          <ac:picMkLst>
            <pc:docMk/>
            <pc:sldMk cId="4284457626" sldId="666"/>
            <ac:picMk id="4" creationId="{9D953DD7-9808-313A-BAA3-ECC8A6C01EB3}"/>
          </ac:picMkLst>
        </pc:picChg>
      </pc:sldChg>
      <pc:sldChg chg="addSp delSp modSp new mod modClrScheme chgLayout">
        <pc:chgData name="Vincenzo Mastrolia" userId="9c1b0f1d26c1a45c" providerId="LiveId" clId="{A0E56E0E-8736-43C6-8BBB-B469DBF6B590}" dt="2025-11-17T21:41:04.418" v="1300" actId="14100"/>
        <pc:sldMkLst>
          <pc:docMk/>
          <pc:sldMk cId="1976593995" sldId="667"/>
        </pc:sldMkLst>
        <pc:spChg chg="del mod ord">
          <ac:chgData name="Vincenzo Mastrolia" userId="9c1b0f1d26c1a45c" providerId="LiveId" clId="{A0E56E0E-8736-43C6-8BBB-B469DBF6B590}" dt="2025-11-17T21:38:13.449" v="1260" actId="700"/>
          <ac:spMkLst>
            <pc:docMk/>
            <pc:sldMk cId="1976593995" sldId="667"/>
            <ac:spMk id="2" creationId="{272A5986-357F-BC01-7F24-02FD5FEBEF78}"/>
          </ac:spMkLst>
        </pc:spChg>
        <pc:spChg chg="del mod ord">
          <ac:chgData name="Vincenzo Mastrolia" userId="9c1b0f1d26c1a45c" providerId="LiveId" clId="{A0E56E0E-8736-43C6-8BBB-B469DBF6B590}" dt="2025-11-17T21:38:13.449" v="1260" actId="700"/>
          <ac:spMkLst>
            <pc:docMk/>
            <pc:sldMk cId="1976593995" sldId="667"/>
            <ac:spMk id="3" creationId="{7556026D-1A32-D25C-8C2A-C2AED1D10B89}"/>
          </ac:spMkLst>
        </pc:spChg>
        <pc:spChg chg="add mod ord">
          <ac:chgData name="Vincenzo Mastrolia" userId="9c1b0f1d26c1a45c" providerId="LiveId" clId="{A0E56E0E-8736-43C6-8BBB-B469DBF6B590}" dt="2025-11-17T21:39:09.113" v="1297" actId="20577"/>
          <ac:spMkLst>
            <pc:docMk/>
            <pc:sldMk cId="1976593995" sldId="667"/>
            <ac:spMk id="4" creationId="{063231EF-9A8C-1B0A-293D-83F202ABAE42}"/>
          </ac:spMkLst>
        </pc:spChg>
        <pc:spChg chg="add mod ord">
          <ac:chgData name="Vincenzo Mastrolia" userId="9c1b0f1d26c1a45c" providerId="LiveId" clId="{A0E56E0E-8736-43C6-8BBB-B469DBF6B590}" dt="2025-11-17T21:38:13.449" v="1260" actId="700"/>
          <ac:spMkLst>
            <pc:docMk/>
            <pc:sldMk cId="1976593995" sldId="667"/>
            <ac:spMk id="5" creationId="{812D6EC3-3E02-000B-DBE0-603ACF77D7D5}"/>
          </ac:spMkLst>
        </pc:spChg>
        <pc:picChg chg="add mod">
          <ac:chgData name="Vincenzo Mastrolia" userId="9c1b0f1d26c1a45c" providerId="LiveId" clId="{A0E56E0E-8736-43C6-8BBB-B469DBF6B590}" dt="2025-11-17T21:41:04.418" v="1300" actId="14100"/>
          <ac:picMkLst>
            <pc:docMk/>
            <pc:sldMk cId="1976593995" sldId="667"/>
            <ac:picMk id="6146" creationId="{3C1A8473-C2EB-DAC7-BB0A-9D85D3D24C0F}"/>
          </ac:picMkLst>
        </pc:picChg>
      </pc:sldChg>
      <pc:sldChg chg="addSp delSp modSp new mod">
        <pc:chgData name="Vincenzo Mastrolia" userId="9c1b0f1d26c1a45c" providerId="LiveId" clId="{A0E56E0E-8736-43C6-8BBB-B469DBF6B590}" dt="2025-11-17T22:22:28.920" v="2513" actId="20577"/>
        <pc:sldMkLst>
          <pc:docMk/>
          <pc:sldMk cId="3152085051" sldId="668"/>
        </pc:sldMkLst>
        <pc:spChg chg="mod">
          <ac:chgData name="Vincenzo Mastrolia" userId="9c1b0f1d26c1a45c" providerId="LiveId" clId="{A0E56E0E-8736-43C6-8BBB-B469DBF6B590}" dt="2025-11-17T22:05:21.687" v="2077" actId="20577"/>
          <ac:spMkLst>
            <pc:docMk/>
            <pc:sldMk cId="3152085051" sldId="668"/>
            <ac:spMk id="2" creationId="{0B481821-D5C0-12F2-C08D-A147CFA904AF}"/>
          </ac:spMkLst>
        </pc:spChg>
        <pc:spChg chg="mod">
          <ac:chgData name="Vincenzo Mastrolia" userId="9c1b0f1d26c1a45c" providerId="LiveId" clId="{A0E56E0E-8736-43C6-8BBB-B469DBF6B590}" dt="2025-11-17T22:22:28.920" v="2513" actId="20577"/>
          <ac:spMkLst>
            <pc:docMk/>
            <pc:sldMk cId="3152085051" sldId="668"/>
            <ac:spMk id="3" creationId="{7FEEE663-A71B-D4A2-36E4-ACAD67048B8A}"/>
          </ac:spMkLst>
        </pc:spChg>
        <pc:picChg chg="add del mod">
          <ac:chgData name="Vincenzo Mastrolia" userId="9c1b0f1d26c1a45c" providerId="LiveId" clId="{A0E56E0E-8736-43C6-8BBB-B469DBF6B590}" dt="2025-11-17T22:10:40.781" v="2084" actId="478"/>
          <ac:picMkLst>
            <pc:docMk/>
            <pc:sldMk cId="3152085051" sldId="668"/>
            <ac:picMk id="1026" creationId="{F8B060F9-5D4F-D89F-957D-767C1D36D3E3}"/>
          </ac:picMkLst>
        </pc:picChg>
        <pc:picChg chg="add del">
          <ac:chgData name="Vincenzo Mastrolia" userId="9c1b0f1d26c1a45c" providerId="LiveId" clId="{A0E56E0E-8736-43C6-8BBB-B469DBF6B590}" dt="2025-11-17T22:10:40.781" v="2084" actId="478"/>
          <ac:picMkLst>
            <pc:docMk/>
            <pc:sldMk cId="3152085051" sldId="668"/>
            <ac:picMk id="1028" creationId="{C425019E-FD82-74AA-1760-F5FE033B359E}"/>
          </ac:picMkLst>
        </pc:picChg>
        <pc:picChg chg="add mod">
          <ac:chgData name="Vincenzo Mastrolia" userId="9c1b0f1d26c1a45c" providerId="LiveId" clId="{A0E56E0E-8736-43C6-8BBB-B469DBF6B590}" dt="2025-11-17T22:10:50.711" v="2088" actId="14100"/>
          <ac:picMkLst>
            <pc:docMk/>
            <pc:sldMk cId="3152085051" sldId="668"/>
            <ac:picMk id="1030" creationId="{35BFAC25-17C5-A0E1-EFDE-1E5364740010}"/>
          </ac:picMkLst>
        </pc:picChg>
      </pc:sldChg>
      <pc:sldChg chg="addSp modSp add mod">
        <pc:chgData name="Vincenzo Mastrolia" userId="9c1b0f1d26c1a45c" providerId="LiveId" clId="{A0E56E0E-8736-43C6-8BBB-B469DBF6B590}" dt="2025-11-17T22:26:49.487" v="2722" actId="1076"/>
        <pc:sldMkLst>
          <pc:docMk/>
          <pc:sldMk cId="1636251575" sldId="669"/>
        </pc:sldMkLst>
        <pc:spChg chg="mod">
          <ac:chgData name="Vincenzo Mastrolia" userId="9c1b0f1d26c1a45c" providerId="LiveId" clId="{A0E56E0E-8736-43C6-8BBB-B469DBF6B590}" dt="2025-11-17T22:26:36.231" v="2717" actId="14100"/>
          <ac:spMkLst>
            <pc:docMk/>
            <pc:sldMk cId="1636251575" sldId="669"/>
            <ac:spMk id="3" creationId="{D86B4B9C-E9D3-F4AD-9C7A-5B52245472D5}"/>
          </ac:spMkLst>
        </pc:spChg>
        <pc:picChg chg="add mod">
          <ac:chgData name="Vincenzo Mastrolia" userId="9c1b0f1d26c1a45c" providerId="LiveId" clId="{A0E56E0E-8736-43C6-8BBB-B469DBF6B590}" dt="2025-11-17T22:26:49.487" v="2722" actId="1076"/>
          <ac:picMkLst>
            <pc:docMk/>
            <pc:sldMk cId="1636251575" sldId="669"/>
            <ac:picMk id="4" creationId="{EA013388-4816-2AAD-1619-313C1C01010E}"/>
          </ac:picMkLst>
        </pc:picChg>
      </pc:sldChg>
      <pc:sldChg chg="addSp modSp new mod chgLayout">
        <pc:chgData name="Vincenzo Mastrolia" userId="9c1b0f1d26c1a45c" providerId="LiveId" clId="{A0E56E0E-8736-43C6-8BBB-B469DBF6B590}" dt="2025-11-18T08:29:39.725" v="3695" actId="113"/>
        <pc:sldMkLst>
          <pc:docMk/>
          <pc:sldMk cId="1087899852" sldId="670"/>
        </pc:sldMkLst>
        <pc:spChg chg="mod ord">
          <ac:chgData name="Vincenzo Mastrolia" userId="9c1b0f1d26c1a45c" providerId="LiveId" clId="{A0E56E0E-8736-43C6-8BBB-B469DBF6B590}" dt="2025-11-17T22:40:55.200" v="3286" actId="700"/>
          <ac:spMkLst>
            <pc:docMk/>
            <pc:sldMk cId="1087899852" sldId="670"/>
            <ac:spMk id="2" creationId="{0A15A340-87A3-F295-7454-3F5233EF7ED4}"/>
          </ac:spMkLst>
        </pc:spChg>
        <pc:spChg chg="mod ord">
          <ac:chgData name="Vincenzo Mastrolia" userId="9c1b0f1d26c1a45c" providerId="LiveId" clId="{A0E56E0E-8736-43C6-8BBB-B469DBF6B590}" dt="2025-11-18T08:29:39.725" v="3695" actId="113"/>
          <ac:spMkLst>
            <pc:docMk/>
            <pc:sldMk cId="1087899852" sldId="670"/>
            <ac:spMk id="3" creationId="{3C8C7E0C-CEDC-13C4-5486-32E75FD62AD4}"/>
          </ac:spMkLst>
        </pc:spChg>
        <pc:picChg chg="add mod">
          <ac:chgData name="Vincenzo Mastrolia" userId="9c1b0f1d26c1a45c" providerId="LiveId" clId="{A0E56E0E-8736-43C6-8BBB-B469DBF6B590}" dt="2025-11-17T22:45:12.257" v="3656" actId="1076"/>
          <ac:picMkLst>
            <pc:docMk/>
            <pc:sldMk cId="1087899852" sldId="670"/>
            <ac:picMk id="2050" creationId="{2670B2B8-6C08-635C-5FA4-3E50DEEBE0DB}"/>
          </ac:picMkLst>
        </pc:picChg>
      </pc:sldChg>
      <pc:sldMasterChg chg="modSldLayout">
        <pc:chgData name="Vincenzo Mastrolia" userId="9c1b0f1d26c1a45c" providerId="LiveId" clId="{A0E56E0E-8736-43C6-8BBB-B469DBF6B590}" dt="2025-11-17T22:43:02.995" v="3492" actId="404"/>
        <pc:sldMasterMkLst>
          <pc:docMk/>
          <pc:sldMasterMk cId="1693269729" sldId="2147483660"/>
        </pc:sldMasterMkLst>
        <pc:sldLayoutChg chg="modSp mod">
          <pc:chgData name="Vincenzo Mastrolia" userId="9c1b0f1d26c1a45c" providerId="LiveId" clId="{A0E56E0E-8736-43C6-8BBB-B469DBF6B590}" dt="2025-11-17T22:43:02.995" v="3492" actId="404"/>
          <pc:sldLayoutMkLst>
            <pc:docMk/>
            <pc:sldMasterMk cId="1693269729" sldId="2147483660"/>
            <pc:sldLayoutMk cId="1116111411" sldId="2147483662"/>
          </pc:sldLayoutMkLst>
          <pc:spChg chg="mod">
            <ac:chgData name="Vincenzo Mastrolia" userId="9c1b0f1d26c1a45c" providerId="LiveId" clId="{A0E56E0E-8736-43C6-8BBB-B469DBF6B590}" dt="2025-11-17T22:43:02.995" v="3492" actId="404"/>
            <ac:spMkLst>
              <pc:docMk/>
              <pc:sldMasterMk cId="1693269729" sldId="2147483660"/>
              <pc:sldLayoutMk cId="1116111411" sldId="2147483662"/>
              <ac:spMk id="3" creationId="{2885BB31-F824-60AD-5A99-ECFAACAA8D7C}"/>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FD2A50-B453-4501-B498-F74A8EA7F6ED}" type="datetimeFigureOut">
              <a:rPr lang="en-GB" smtClean="0"/>
              <a:t>18/11/2025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518143-0A75-41F2-80FD-2F0D0A7B9645}" type="slidenum">
              <a:rPr lang="en-GB" smtClean="0"/>
              <a:t>‹#›</a:t>
            </a:fld>
            <a:endParaRPr lang="en-GB"/>
          </a:p>
        </p:txBody>
      </p:sp>
    </p:spTree>
    <p:extLst>
      <p:ext uri="{BB962C8B-B14F-4D97-AF65-F5344CB8AC3E}">
        <p14:creationId xmlns:p14="http://schemas.microsoft.com/office/powerpoint/2010/main" val="787281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2444DE-498F-42A0-A0CF-E563CE03C68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33573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2444DE-498F-42A0-A0CF-E563CE03C681}" type="slidenum">
              <a:rPr lang="en-GB" smtClean="0"/>
              <a:t>15</a:t>
            </a:fld>
            <a:endParaRPr lang="en-GB"/>
          </a:p>
        </p:txBody>
      </p:sp>
    </p:spTree>
    <p:extLst>
      <p:ext uri="{BB962C8B-B14F-4D97-AF65-F5344CB8AC3E}">
        <p14:creationId xmlns:p14="http://schemas.microsoft.com/office/powerpoint/2010/main" val="601490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2444DE-498F-42A0-A0CF-E563CE03C681}" type="slidenum">
              <a:rPr lang="en-GB" smtClean="0"/>
              <a:t>16</a:t>
            </a:fld>
            <a:endParaRPr lang="en-GB"/>
          </a:p>
        </p:txBody>
      </p:sp>
    </p:spTree>
    <p:extLst>
      <p:ext uri="{BB962C8B-B14F-4D97-AF65-F5344CB8AC3E}">
        <p14:creationId xmlns:p14="http://schemas.microsoft.com/office/powerpoint/2010/main" val="1144274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2444DE-498F-42A0-A0CF-E563CE03C681}" type="slidenum">
              <a:rPr lang="en-GB" smtClean="0"/>
              <a:t>21</a:t>
            </a:fld>
            <a:endParaRPr lang="en-GB"/>
          </a:p>
        </p:txBody>
      </p:sp>
    </p:spTree>
    <p:extLst>
      <p:ext uri="{BB962C8B-B14F-4D97-AF65-F5344CB8AC3E}">
        <p14:creationId xmlns:p14="http://schemas.microsoft.com/office/powerpoint/2010/main" val="18006759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FB710-20EB-755E-2F66-CDFCD3153888}"/>
              </a:ext>
            </a:extLst>
          </p:cNvPr>
          <p:cNvSpPr>
            <a:spLocks noGrp="1"/>
          </p:cNvSpPr>
          <p:nvPr>
            <p:ph type="ctrTitle"/>
          </p:nvPr>
        </p:nvSpPr>
        <p:spPr>
          <a:xfrm>
            <a:off x="1524000" y="2177494"/>
            <a:ext cx="9144000" cy="1826926"/>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E2B8A0C-4C3F-F485-7CD2-E28F35B3337F}"/>
              </a:ext>
            </a:extLst>
          </p:cNvPr>
          <p:cNvSpPr>
            <a:spLocks noGrp="1"/>
          </p:cNvSpPr>
          <p:nvPr>
            <p:ph type="subTitle" idx="1"/>
          </p:nvPr>
        </p:nvSpPr>
        <p:spPr>
          <a:xfrm>
            <a:off x="1524000" y="4056521"/>
            <a:ext cx="9144000" cy="43212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ED3423F-16F5-87E9-1C27-524EA93F0D8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448CD4E-74DE-4763-B638-F941B4F9A25A}" type="datetimeFigureOut">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18/11/2025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621BFA95-18B6-1658-17F3-6E812F26403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FA9F7E06-79B9-1394-27BC-33C01A01387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24C5C-1799-4F07-ACF9-6CDD4409CC49}"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7" name="Subtitle 2">
            <a:extLst>
              <a:ext uri="{FF2B5EF4-FFF2-40B4-BE49-F238E27FC236}">
                <a16:creationId xmlns:a16="http://schemas.microsoft.com/office/drawing/2014/main" id="{085E3E08-1DB3-1044-943A-0296AC06FE59}"/>
              </a:ext>
            </a:extLst>
          </p:cNvPr>
          <p:cNvSpPr txBox="1">
            <a:spLocks/>
          </p:cNvSpPr>
          <p:nvPr userDrawn="1"/>
        </p:nvSpPr>
        <p:spPr>
          <a:xfrm>
            <a:off x="4077730" y="5441092"/>
            <a:ext cx="4036540" cy="1116270"/>
          </a:xfrm>
          <a:prstGeom prst="rect">
            <a:avLst/>
          </a:prstGeom>
        </p:spPr>
        <p:txBody>
          <a:bodyPr vert="horz" lIns="91440" tIns="45720" rIns="91440" bIns="45720" rtlCol="0" anchor="ct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50000"/>
              </a:lnSpc>
              <a:spcBef>
                <a:spcPts val="1000"/>
              </a:spcBef>
              <a:spcAft>
                <a:spcPts val="0"/>
              </a:spcAft>
              <a:buClrTx/>
              <a:buSzTx/>
              <a:buFont typeface="Arial" panose="020B0604020202020204" pitchFamily="34" charset="0"/>
              <a:buNone/>
              <a:tabLst/>
              <a:defRPr/>
            </a:pPr>
            <a:r>
              <a:rPr kumimoji="0" lang="en-GB" sz="1600" b="1" i="1" u="none" strike="noStrike" kern="1200" cap="none" spc="0" normalizeH="0" baseline="0" noProof="0" dirty="0">
                <a:ln>
                  <a:noFill/>
                </a:ln>
                <a:solidFill>
                  <a:prstClr val="black"/>
                </a:solidFill>
                <a:effectLst/>
                <a:uLnTx/>
                <a:uFillTx/>
                <a:latin typeface="Aptos" panose="02110004020202020204"/>
                <a:ea typeface="+mn-ea"/>
                <a:cs typeface="+mn-cs"/>
              </a:rPr>
              <a:t>Vincenzo Mastrolia</a:t>
            </a:r>
          </a:p>
          <a:p>
            <a:pPr marL="0" marR="0" lvl="0" indent="0" algn="ctr" defTabSz="914400" rtl="0" eaLnBrk="1" fontAlgn="auto" latinLnBrk="0" hangingPunct="1">
              <a:lnSpc>
                <a:spcPct val="50000"/>
              </a:lnSpc>
              <a:spcBef>
                <a:spcPts val="1000"/>
              </a:spcBef>
              <a:spcAft>
                <a:spcPts val="0"/>
              </a:spcAft>
              <a:buClrTx/>
              <a:buSzTx/>
              <a:buFont typeface="Arial" panose="020B0604020202020204" pitchFamily="34" charset="0"/>
              <a:buNone/>
              <a:tabLst/>
              <a:defRPr/>
            </a:pPr>
            <a:r>
              <a:rPr kumimoji="0" lang="en-GB" sz="1600" b="0" i="1" u="none" strike="noStrike" kern="1200" cap="none" spc="0" normalizeH="0" baseline="0" noProof="0" dirty="0">
                <a:ln>
                  <a:noFill/>
                </a:ln>
                <a:solidFill>
                  <a:prstClr val="black"/>
                </a:solidFill>
                <a:effectLst/>
                <a:uLnTx/>
                <a:uFillTx/>
                <a:latin typeface="Aptos" panose="02110004020202020204"/>
                <a:ea typeface="+mn-ea"/>
                <a:cs typeface="+mn-cs"/>
              </a:rPr>
              <a:t>Research Associate</a:t>
            </a:r>
          </a:p>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GB" sz="1600" b="0" i="1" u="none" strike="noStrike" kern="1200" cap="none" spc="0" normalizeH="0" baseline="0" noProof="0" dirty="0">
                <a:ln>
                  <a:noFill/>
                </a:ln>
                <a:solidFill>
                  <a:prstClr val="black"/>
                </a:solidFill>
                <a:effectLst/>
                <a:uLnTx/>
                <a:uFillTx/>
                <a:latin typeface="Aptos" panose="02110004020202020204"/>
                <a:ea typeface="+mn-ea"/>
                <a:cs typeface="+mn-cs"/>
              </a:rPr>
              <a:t>Department of Physiology, Development and Neuroscience</a:t>
            </a:r>
          </a:p>
          <a:p>
            <a:pPr marL="0" marR="0" lvl="0" indent="0" algn="ctr" defTabSz="914400" rtl="0" eaLnBrk="1" fontAlgn="auto" latinLnBrk="0" hangingPunct="1">
              <a:lnSpc>
                <a:spcPct val="50000"/>
              </a:lnSpc>
              <a:spcBef>
                <a:spcPts val="1000"/>
              </a:spcBef>
              <a:spcAft>
                <a:spcPts val="0"/>
              </a:spcAft>
              <a:buClrTx/>
              <a:buSzTx/>
              <a:buFont typeface="Arial" panose="020B0604020202020204" pitchFamily="34" charset="0"/>
              <a:buNone/>
              <a:tabLst/>
              <a:defRPr/>
            </a:pPr>
            <a:r>
              <a:rPr kumimoji="0" lang="en-GB" sz="1600" b="0" i="1" u="none" strike="noStrike" kern="1200" cap="none" spc="0" normalizeH="0" baseline="0" noProof="0" dirty="0">
                <a:ln>
                  <a:noFill/>
                </a:ln>
                <a:solidFill>
                  <a:prstClr val="black"/>
                </a:solidFill>
                <a:effectLst/>
                <a:uLnTx/>
                <a:uFillTx/>
                <a:latin typeface="Aptos" panose="02110004020202020204"/>
                <a:ea typeface="+mn-ea"/>
                <a:cs typeface="+mn-cs"/>
              </a:rPr>
              <a:t>University of Cambridge</a:t>
            </a:r>
          </a:p>
        </p:txBody>
      </p:sp>
      <p:sp>
        <p:nvSpPr>
          <p:cNvPr id="8" name="TextBox 7">
            <a:extLst>
              <a:ext uri="{FF2B5EF4-FFF2-40B4-BE49-F238E27FC236}">
                <a16:creationId xmlns:a16="http://schemas.microsoft.com/office/drawing/2014/main" id="{E88D1699-9107-02FE-80A6-BEBCD9284613}"/>
              </a:ext>
            </a:extLst>
          </p:cNvPr>
          <p:cNvSpPr txBox="1"/>
          <p:nvPr userDrawn="1"/>
        </p:nvSpPr>
        <p:spPr>
          <a:xfrm>
            <a:off x="4062591" y="80396"/>
            <a:ext cx="4066819"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Aptos" panose="02110004020202020204"/>
                <a:ea typeface="+mn-ea"/>
                <a:cs typeface="+mn-cs"/>
              </a:rPr>
              <a:t>PT5050 PHYSIOLOGY</a:t>
            </a:r>
          </a:p>
        </p:txBody>
      </p:sp>
      <p:pic>
        <p:nvPicPr>
          <p:cNvPr id="9" name="Picture 8" descr="A black text on a black background&#10;&#10;AI-generated content may be incorrect.">
            <a:extLst>
              <a:ext uri="{FF2B5EF4-FFF2-40B4-BE49-F238E27FC236}">
                <a16:creationId xmlns:a16="http://schemas.microsoft.com/office/drawing/2014/main" id="{EC3DCE54-BA6F-59DE-ED21-002D2EE1F9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00998" y="5669727"/>
            <a:ext cx="3047510" cy="634522"/>
          </a:xfrm>
          <a:prstGeom prst="rect">
            <a:avLst/>
          </a:prstGeom>
        </p:spPr>
      </p:pic>
      <p:pic>
        <p:nvPicPr>
          <p:cNvPr id="10" name="Picture 9" descr="A diagram of a graph&#10;&#10;AI-generated content may be incorrect.">
            <a:extLst>
              <a:ext uri="{FF2B5EF4-FFF2-40B4-BE49-F238E27FC236}">
                <a16:creationId xmlns:a16="http://schemas.microsoft.com/office/drawing/2014/main" id="{DADCE397-F61F-388E-63F9-B995E668BF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50912" y="5336018"/>
            <a:ext cx="2727804" cy="1292821"/>
          </a:xfrm>
          <a:prstGeom prst="rect">
            <a:avLst/>
          </a:prstGeom>
        </p:spPr>
      </p:pic>
      <p:cxnSp>
        <p:nvCxnSpPr>
          <p:cNvPr id="12" name="Straight Connector 11">
            <a:extLst>
              <a:ext uri="{FF2B5EF4-FFF2-40B4-BE49-F238E27FC236}">
                <a16:creationId xmlns:a16="http://schemas.microsoft.com/office/drawing/2014/main" id="{04C6164B-DB15-74F8-D208-E8D0341498C5}"/>
              </a:ext>
            </a:extLst>
          </p:cNvPr>
          <p:cNvCxnSpPr/>
          <p:nvPr userDrawn="1"/>
        </p:nvCxnSpPr>
        <p:spPr>
          <a:xfrm>
            <a:off x="1524000" y="4004420"/>
            <a:ext cx="9144000" cy="0"/>
          </a:xfrm>
          <a:prstGeom prst="line">
            <a:avLst/>
          </a:prstGeom>
          <a:ln w="57150">
            <a:gradFill flip="none" rotWithShape="1">
              <a:gsLst>
                <a:gs pos="100000">
                  <a:schemeClr val="bg1"/>
                </a:gs>
                <a:gs pos="0">
                  <a:schemeClr val="accent1">
                    <a:lumMod val="60000"/>
                  </a:schemeClr>
                </a:gs>
              </a:gsLst>
              <a:path path="circle">
                <a:fillToRect l="50000" t="50000" r="50000" b="50000"/>
              </a:path>
              <a:tileRect/>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1301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C5A3C-CFFD-2217-6C66-FDEDCAE6C4A1}"/>
              </a:ext>
            </a:extLst>
          </p:cNvPr>
          <p:cNvSpPr>
            <a:spLocks noGrp="1"/>
          </p:cNvSpPr>
          <p:nvPr>
            <p:ph type="title"/>
          </p:nvPr>
        </p:nvSpPr>
        <p:spPr>
          <a:xfrm>
            <a:off x="0" y="18255"/>
            <a:ext cx="12192000" cy="953295"/>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885BB31-F824-60AD-5A99-ECFAACAA8D7C}"/>
              </a:ext>
            </a:extLst>
          </p:cNvPr>
          <p:cNvSpPr>
            <a:spLocks noGrp="1"/>
          </p:cNvSpPr>
          <p:nvPr>
            <p:ph idx="1"/>
          </p:nvPr>
        </p:nvSpPr>
        <p:spPr>
          <a:xfrm>
            <a:off x="285750" y="1253331"/>
            <a:ext cx="5810250" cy="5195094"/>
          </a:xfrm>
        </p:spPr>
        <p:txBody>
          <a:bodyPr>
            <a:normAutofit/>
          </a:bodyPr>
          <a:lstStyle>
            <a:lvl1pPr>
              <a:defRPr sz="1800"/>
            </a:lvl1pPr>
            <a:lvl2pPr>
              <a:buFont typeface="Calibri" panose="020F0502020204030204" pitchFamily="34" charset="0"/>
              <a:buChar cha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873CD282-6CF2-2CCA-B10D-9B51F42503B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448CD4E-74DE-4763-B638-F941B4F9A25A}" type="datetimeFigureOut">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18/11/2025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46E8DF3F-B538-F619-ED1D-4DFC0F149A4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53B840AA-7866-74D3-E894-1744DF2A1A1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24C5C-1799-4F07-ACF9-6CDD4409CC49}"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cxnSp>
        <p:nvCxnSpPr>
          <p:cNvPr id="8" name="Straight Connector 7">
            <a:extLst>
              <a:ext uri="{FF2B5EF4-FFF2-40B4-BE49-F238E27FC236}">
                <a16:creationId xmlns:a16="http://schemas.microsoft.com/office/drawing/2014/main" id="{A29C6DC9-B37C-468E-59DE-808B857C0E3F}"/>
              </a:ext>
            </a:extLst>
          </p:cNvPr>
          <p:cNvCxnSpPr/>
          <p:nvPr userDrawn="1"/>
        </p:nvCxnSpPr>
        <p:spPr>
          <a:xfrm>
            <a:off x="0" y="962025"/>
            <a:ext cx="12192000" cy="0"/>
          </a:xfrm>
          <a:prstGeom prst="line">
            <a:avLst/>
          </a:prstGeom>
          <a:ln w="50800">
            <a:gradFill flip="none" rotWithShape="1">
              <a:gsLst>
                <a:gs pos="0">
                  <a:schemeClr val="accent1">
                    <a:lumMod val="67000"/>
                  </a:schemeClr>
                </a:gs>
                <a:gs pos="100000">
                  <a:srgbClr val="FFFFFF"/>
                </a:gs>
              </a:gsLst>
              <a:lin ang="0" scaled="1"/>
              <a:tileRect/>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6111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3E32F-6BCD-475D-E956-38AFB9F92693}"/>
              </a:ext>
            </a:extLst>
          </p:cNvPr>
          <p:cNvSpPr>
            <a:spLocks noGrp="1"/>
          </p:cNvSpPr>
          <p:nvPr>
            <p:ph type="title"/>
          </p:nvPr>
        </p:nvSpPr>
        <p:spPr>
          <a:xfrm>
            <a:off x="161894" y="1976438"/>
            <a:ext cx="5143437"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3293DC9-0D4A-8EA3-24AA-82BD2850A4B6}"/>
              </a:ext>
            </a:extLst>
          </p:cNvPr>
          <p:cNvSpPr>
            <a:spLocks noGrp="1"/>
          </p:cNvSpPr>
          <p:nvPr>
            <p:ph type="body" idx="1"/>
          </p:nvPr>
        </p:nvSpPr>
        <p:spPr>
          <a:xfrm>
            <a:off x="161894" y="4856163"/>
            <a:ext cx="5143437"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C89293-B1AF-5FCF-F19D-9CB0D8E0560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448CD4E-74DE-4763-B638-F941B4F9A25A}" type="datetimeFigureOut">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18/11/2025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D392F06F-70DC-5C08-8028-70B08EE04D3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05BCCA35-D6C8-5BC6-A14A-4E7CB2C7B4D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24C5C-1799-4F07-ACF9-6CDD4409CC49}"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cxnSp>
        <p:nvCxnSpPr>
          <p:cNvPr id="8" name="Straight Connector 7">
            <a:extLst>
              <a:ext uri="{FF2B5EF4-FFF2-40B4-BE49-F238E27FC236}">
                <a16:creationId xmlns:a16="http://schemas.microsoft.com/office/drawing/2014/main" id="{9CB4231D-9B59-D41E-CFA0-203C44CB5920}"/>
              </a:ext>
            </a:extLst>
          </p:cNvPr>
          <p:cNvCxnSpPr/>
          <p:nvPr userDrawn="1"/>
        </p:nvCxnSpPr>
        <p:spPr>
          <a:xfrm>
            <a:off x="161894" y="4856163"/>
            <a:ext cx="5143437" cy="0"/>
          </a:xfrm>
          <a:prstGeom prst="line">
            <a:avLst/>
          </a:prstGeom>
          <a:ln w="76200">
            <a:gradFill flip="none" rotWithShape="1">
              <a:gsLst>
                <a:gs pos="0">
                  <a:schemeClr val="bg1"/>
                </a:gs>
                <a:gs pos="100000">
                  <a:schemeClr val="accent1">
                    <a:lumMod val="60000"/>
                  </a:schemeClr>
                </a:gs>
              </a:gsLst>
              <a:lin ang="10800000" scaled="0"/>
              <a:tileRect/>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091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76D9E-C6C1-EB35-0201-4C7BF403C24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0DAC77E-25CB-76F8-A0CB-7BEFAD69A5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B6812D1-F8EE-F5B1-C98B-ED4E9688B0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853D75C-632C-FFDE-5A57-0687399CF1B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448CD4E-74DE-4763-B638-F941B4F9A25A}" type="datetimeFigureOut">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18/11/2025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6" name="Footer Placeholder 5">
            <a:extLst>
              <a:ext uri="{FF2B5EF4-FFF2-40B4-BE49-F238E27FC236}">
                <a16:creationId xmlns:a16="http://schemas.microsoft.com/office/drawing/2014/main" id="{4A2DD2B5-10C3-D15B-16D6-16AF32008FE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35A8E803-2F36-AD5E-7F01-B3287D7538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24C5C-1799-4F07-ACF9-6CDD4409CC49}"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78309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8F0CB-3945-2DC5-7EDE-7C8415A4BD4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9081439-9907-F179-DF64-C77F84B8F6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6F988E-9E38-2CD1-FC6A-7C30EF137D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82A1EC5-1CD3-EC4F-821B-211A66E09A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04B572-B7E1-A5BC-259F-2F3D28C93C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570748C-5297-BF38-6C70-48E14071FCD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448CD4E-74DE-4763-B638-F941B4F9A25A}" type="datetimeFigureOut">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18/11/2025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8" name="Footer Placeholder 7">
            <a:extLst>
              <a:ext uri="{FF2B5EF4-FFF2-40B4-BE49-F238E27FC236}">
                <a16:creationId xmlns:a16="http://schemas.microsoft.com/office/drawing/2014/main" id="{2F229714-906A-A2B8-5F23-A42CEE37B1F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9" name="Slide Number Placeholder 8">
            <a:extLst>
              <a:ext uri="{FF2B5EF4-FFF2-40B4-BE49-F238E27FC236}">
                <a16:creationId xmlns:a16="http://schemas.microsoft.com/office/drawing/2014/main" id="{6CD03D1C-0ACC-5180-C510-FC2DDABF6B1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24C5C-1799-4F07-ACF9-6CDD4409CC49}"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69989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7FCCF-DB52-DC7B-6BB4-3BD4F09F83F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0804058-16AA-6B3F-2894-D1F90D41C17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448CD4E-74DE-4763-B638-F941B4F9A25A}" type="datetimeFigureOut">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18/11/2025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4" name="Footer Placeholder 3">
            <a:extLst>
              <a:ext uri="{FF2B5EF4-FFF2-40B4-BE49-F238E27FC236}">
                <a16:creationId xmlns:a16="http://schemas.microsoft.com/office/drawing/2014/main" id="{51AE9A42-4A75-BC1F-AA32-89697F3C0B3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5" name="Slide Number Placeholder 4">
            <a:extLst>
              <a:ext uri="{FF2B5EF4-FFF2-40B4-BE49-F238E27FC236}">
                <a16:creationId xmlns:a16="http://schemas.microsoft.com/office/drawing/2014/main" id="{81EA613F-CE6C-0F8C-1ABA-3B8358C4289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24C5C-1799-4F07-ACF9-6CDD4409CC49}"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612805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49D6F6-0BCF-F913-A75C-9446A8EE36F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448CD4E-74DE-4763-B638-F941B4F9A25A}" type="datetimeFigureOut">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18/11/2025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3" name="Footer Placeholder 2">
            <a:extLst>
              <a:ext uri="{FF2B5EF4-FFF2-40B4-BE49-F238E27FC236}">
                <a16:creationId xmlns:a16="http://schemas.microsoft.com/office/drawing/2014/main" id="{24E0D05D-4A29-6D83-20EB-F1F96FF7EC1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4" name="Slide Number Placeholder 3">
            <a:extLst>
              <a:ext uri="{FF2B5EF4-FFF2-40B4-BE49-F238E27FC236}">
                <a16:creationId xmlns:a16="http://schemas.microsoft.com/office/drawing/2014/main" id="{0ADA9A7B-A4F0-6935-54C1-8CB84614EC7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24C5C-1799-4F07-ACF9-6CDD4409CC49}"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04528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CC6B0-8EC5-2EB4-9C81-FBC00E23D5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123C0DC-B257-B74B-8D66-6C4249AF29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4B3C0A4-E199-3B55-1196-C143282237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284B00-2D51-D4DA-A58B-94B8339B9F4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448CD4E-74DE-4763-B638-F941B4F9A25A}" type="datetimeFigureOut">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18/11/2025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6" name="Footer Placeholder 5">
            <a:extLst>
              <a:ext uri="{FF2B5EF4-FFF2-40B4-BE49-F238E27FC236}">
                <a16:creationId xmlns:a16="http://schemas.microsoft.com/office/drawing/2014/main" id="{A8DF051F-7F85-841C-1822-7703C03AFC9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3BCF49D4-7E6A-5DA6-73D2-F63AB482D0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24C5C-1799-4F07-ACF9-6CDD4409CC49}"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01801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129AE-3C9F-454B-EE66-FAE059AEBB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A8C9591-637F-5802-E05E-2027BE6B76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611667D-C65B-6CC4-6752-FD189A9760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8C161B-A1C4-B43E-5381-15875F4EC1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448CD4E-74DE-4763-B638-F941B4F9A25A}" type="datetimeFigureOut">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18/11/2025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6" name="Footer Placeholder 5">
            <a:extLst>
              <a:ext uri="{FF2B5EF4-FFF2-40B4-BE49-F238E27FC236}">
                <a16:creationId xmlns:a16="http://schemas.microsoft.com/office/drawing/2014/main" id="{A8556D33-DDC7-F7CB-E8DF-891D3B660DC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1BEE9086-C1E4-9D63-ECF4-0F750CAA78E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24C5C-1799-4F07-ACF9-6CDD4409CC49}"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52186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53F48-13CC-62BA-AF70-63F78596A95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48C2BED-A700-BA26-C987-34123EF8CF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318B62D-767C-FD5F-3550-2746CC28997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448CD4E-74DE-4763-B638-F941B4F9A25A}" type="datetimeFigureOut">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18/11/2025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008C189F-7CA5-10F0-29EF-85E71989D5C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B361DD43-A82C-7780-F2F8-823C248494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24C5C-1799-4F07-ACF9-6CDD4409CC49}"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73098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194439-AB64-C78B-AA9A-AEC17BD402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9142A87-E09C-FCEB-E4B7-95A9DDB9B7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16912E7-5918-E1C3-E58E-ED887D1C011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448CD4E-74DE-4763-B638-F941B4F9A25A}" type="datetimeFigureOut">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18/11/2025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302DBF9D-9FE6-73F6-4FC3-2432F1AAF15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18CDF6E7-F668-3FC9-71AC-DED427D8D08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24C5C-1799-4F07-ACF9-6CDD4409CC49}"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55187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16389F-566E-A587-E8E0-6C25B2FE53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8606C76-C2DC-664E-C205-C422E71EF0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9AF02C3-196D-225A-2BF6-7FE3A8E0DD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448CD4E-74DE-4763-B638-F941B4F9A25A}" type="datetimeFigureOut">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18/11/2025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6C71245B-0154-348F-E407-A412DFCF09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0D95E32C-0B74-6F0C-197F-3CB118ADAD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2A24C5C-1799-4F07-ACF9-6CDD4409CC49}"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932697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2.xml"/><Relationship Id="rId5" Type="http://schemas.openxmlformats.org/officeDocument/2006/relationships/image" Target="../media/image14.png"/><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8.emf"/><Relationship Id="rId4" Type="http://schemas.openxmlformats.org/officeDocument/2006/relationships/image" Target="../media/image27.emf"/></Relationships>
</file>

<file path=ppt/slides/_rels/slide22.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2.xml"/><Relationship Id="rId4" Type="http://schemas.openxmlformats.org/officeDocument/2006/relationships/image" Target="../media/image4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E912-61FD-B793-91EB-35964CE7DD31}"/>
              </a:ext>
            </a:extLst>
          </p:cNvPr>
          <p:cNvSpPr>
            <a:spLocks noGrp="1"/>
          </p:cNvSpPr>
          <p:nvPr>
            <p:ph type="ctrTitle"/>
          </p:nvPr>
        </p:nvSpPr>
        <p:spPr/>
        <p:txBody>
          <a:bodyPr>
            <a:normAutofit fontScale="90000"/>
          </a:bodyPr>
          <a:lstStyle/>
          <a:p>
            <a:r>
              <a:rPr lang="en-GB" dirty="0"/>
              <a:t>Neuroplasticity, CNS Transmitters, Brain and Ageing</a:t>
            </a:r>
          </a:p>
        </p:txBody>
      </p:sp>
      <p:sp>
        <p:nvSpPr>
          <p:cNvPr id="3" name="Subtitle 2">
            <a:extLst>
              <a:ext uri="{FF2B5EF4-FFF2-40B4-BE49-F238E27FC236}">
                <a16:creationId xmlns:a16="http://schemas.microsoft.com/office/drawing/2014/main" id="{8739669E-ECF7-257F-3380-5C93ECA7150E}"/>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189800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DE740-ED61-473D-5BEE-B1FA4690FE29}"/>
              </a:ext>
            </a:extLst>
          </p:cNvPr>
          <p:cNvSpPr>
            <a:spLocks noGrp="1"/>
          </p:cNvSpPr>
          <p:nvPr>
            <p:ph type="title"/>
          </p:nvPr>
        </p:nvSpPr>
        <p:spPr/>
        <p:txBody>
          <a:bodyPr/>
          <a:lstStyle/>
          <a:p>
            <a:r>
              <a:rPr lang="en-GB" dirty="0"/>
              <a:t>Learning outcomes</a:t>
            </a:r>
          </a:p>
        </p:txBody>
      </p:sp>
      <p:sp>
        <p:nvSpPr>
          <p:cNvPr id="3" name="Content Placeholder 2">
            <a:extLst>
              <a:ext uri="{FF2B5EF4-FFF2-40B4-BE49-F238E27FC236}">
                <a16:creationId xmlns:a16="http://schemas.microsoft.com/office/drawing/2014/main" id="{A1AA8B19-65C8-EBEE-D787-D509E990F033}"/>
              </a:ext>
            </a:extLst>
          </p:cNvPr>
          <p:cNvSpPr>
            <a:spLocks noGrp="1"/>
          </p:cNvSpPr>
          <p:nvPr>
            <p:ph idx="1"/>
          </p:nvPr>
        </p:nvSpPr>
        <p:spPr>
          <a:xfrm>
            <a:off x="285749" y="1253331"/>
            <a:ext cx="11041011" cy="5195094"/>
          </a:xfrm>
        </p:spPr>
        <p:txBody>
          <a:bodyPr/>
          <a:lstStyle/>
          <a:p>
            <a:pPr marL="457200" indent="-457200">
              <a:buFont typeface="+mj-lt"/>
              <a:buAutoNum type="arabicPeriod"/>
            </a:pPr>
            <a:r>
              <a:rPr lang="en-GB" dirty="0"/>
              <a:t>Explain the cellular and molecular mechanisms underpinning neuroplasticity and synaptic adaptation.</a:t>
            </a:r>
          </a:p>
          <a:p>
            <a:pPr marL="457200" indent="-457200">
              <a:buFont typeface="+mj-lt"/>
              <a:buAutoNum type="arabicPeriod"/>
            </a:pPr>
            <a:r>
              <a:rPr lang="en-GB" dirty="0"/>
              <a:t>Discuss the role of key CNS neurotransmitters in modulating motor and cognitive function.</a:t>
            </a:r>
          </a:p>
          <a:p>
            <a:pPr marL="457200" indent="-457200">
              <a:buFont typeface="+mj-lt"/>
              <a:buAutoNum type="arabicPeriod"/>
            </a:pPr>
            <a:r>
              <a:rPr lang="en-GB" dirty="0"/>
              <a:t>Analyse how ageing influences neural plasticity, neurotransmission, and motor learning capacity.</a:t>
            </a:r>
          </a:p>
          <a:p>
            <a:pPr marL="457200" indent="-457200">
              <a:buFont typeface="+mj-lt"/>
              <a:buAutoNum type="arabicPeriod"/>
            </a:pPr>
            <a:r>
              <a:rPr lang="en-GB" dirty="0"/>
              <a:t>Describe the principles of neuroplasticity to design rehabilitation strategies for clients with neurological impairments across the lifespan.</a:t>
            </a:r>
          </a:p>
          <a:p>
            <a:pPr marL="0" indent="0">
              <a:buNone/>
            </a:pPr>
            <a:endParaRPr lang="en-GB" dirty="0"/>
          </a:p>
          <a:p>
            <a:pPr marL="457200" indent="-457200">
              <a:buFont typeface="+mj-lt"/>
              <a:buAutoNum type="arabicPeriod"/>
            </a:pPr>
            <a:endParaRPr lang="en-GB" dirty="0"/>
          </a:p>
        </p:txBody>
      </p:sp>
    </p:spTree>
    <p:extLst>
      <p:ext uri="{BB962C8B-B14F-4D97-AF65-F5344CB8AC3E}">
        <p14:creationId xmlns:p14="http://schemas.microsoft.com/office/powerpoint/2010/main" val="2588750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3D3F62-4FDF-17D4-4BD7-ED05749F2806}"/>
              </a:ext>
            </a:extLst>
          </p:cNvPr>
          <p:cNvSpPr>
            <a:spLocks noGrp="1"/>
          </p:cNvSpPr>
          <p:nvPr>
            <p:ph type="title"/>
          </p:nvPr>
        </p:nvSpPr>
        <p:spPr/>
        <p:txBody>
          <a:bodyPr/>
          <a:lstStyle/>
          <a:p>
            <a:r>
              <a:rPr lang="en-GB" dirty="0"/>
              <a:t>Cellular excitability and plasticity</a:t>
            </a:r>
          </a:p>
        </p:txBody>
      </p:sp>
      <p:sp>
        <p:nvSpPr>
          <p:cNvPr id="5" name="Text Placeholder 4">
            <a:extLst>
              <a:ext uri="{FF2B5EF4-FFF2-40B4-BE49-F238E27FC236}">
                <a16:creationId xmlns:a16="http://schemas.microsoft.com/office/drawing/2014/main" id="{8E1BD3A8-D543-6C44-56BC-4E2DB9A11ACB}"/>
              </a:ext>
            </a:extLst>
          </p:cNvPr>
          <p:cNvSpPr>
            <a:spLocks noGrp="1"/>
          </p:cNvSpPr>
          <p:nvPr>
            <p:ph type="body" idx="1"/>
          </p:nvPr>
        </p:nvSpPr>
        <p:spPr/>
        <p:txBody>
          <a:bodyPr/>
          <a:lstStyle/>
          <a:p>
            <a:endParaRPr lang="en-GB"/>
          </a:p>
        </p:txBody>
      </p:sp>
      <p:pic>
        <p:nvPicPr>
          <p:cNvPr id="6" name="Picture 2" descr="Neural circuit - Wikipedia">
            <a:extLst>
              <a:ext uri="{FF2B5EF4-FFF2-40B4-BE49-F238E27FC236}">
                <a16:creationId xmlns:a16="http://schemas.microsoft.com/office/drawing/2014/main" id="{7E9171AC-27CF-2065-D282-ADCF4533DA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3037" y="3763"/>
            <a:ext cx="5218963" cy="6854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757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75275-EED1-4626-91E7-CBD522C1DBC4}"/>
              </a:ext>
            </a:extLst>
          </p:cNvPr>
          <p:cNvSpPr>
            <a:spLocks noGrp="1"/>
          </p:cNvSpPr>
          <p:nvPr>
            <p:ph type="title"/>
          </p:nvPr>
        </p:nvSpPr>
        <p:spPr/>
        <p:txBody>
          <a:bodyPr/>
          <a:lstStyle/>
          <a:p>
            <a:r>
              <a:rPr lang="en-GB" dirty="0"/>
              <a:t>Excitability</a:t>
            </a:r>
          </a:p>
        </p:txBody>
      </p:sp>
      <p:sp>
        <p:nvSpPr>
          <p:cNvPr id="3" name="Content Placeholder 2">
            <a:extLst>
              <a:ext uri="{FF2B5EF4-FFF2-40B4-BE49-F238E27FC236}">
                <a16:creationId xmlns:a16="http://schemas.microsoft.com/office/drawing/2014/main" id="{3B3D59EA-08B1-4087-A5DD-FBF6A0A9B157}"/>
              </a:ext>
            </a:extLst>
          </p:cNvPr>
          <p:cNvSpPr>
            <a:spLocks noGrp="1"/>
          </p:cNvSpPr>
          <p:nvPr>
            <p:ph idx="1"/>
          </p:nvPr>
        </p:nvSpPr>
        <p:spPr>
          <a:xfrm>
            <a:off x="285750" y="1253331"/>
            <a:ext cx="11492808" cy="5195094"/>
          </a:xfrm>
        </p:spPr>
        <p:txBody>
          <a:bodyPr/>
          <a:lstStyle/>
          <a:p>
            <a:r>
              <a:rPr lang="en-GB" dirty="0"/>
              <a:t>The ability of cells to </a:t>
            </a:r>
            <a:r>
              <a:rPr lang="en-GB" b="1" dirty="0"/>
              <a:t>change their membrane potential </a:t>
            </a:r>
            <a:r>
              <a:rPr lang="en-GB" dirty="0"/>
              <a:t>in response to stimuli </a:t>
            </a:r>
          </a:p>
          <a:p>
            <a:pPr lvl="1"/>
            <a:r>
              <a:rPr lang="en-GB" dirty="0"/>
              <a:t>Voltage, ligands, light, mechanical stimulation</a:t>
            </a:r>
          </a:p>
          <a:p>
            <a:pPr lvl="1"/>
            <a:endParaRPr lang="en-GB" dirty="0"/>
          </a:p>
          <a:p>
            <a:r>
              <a:rPr lang="en-GB" dirty="0"/>
              <a:t>Not just neurons</a:t>
            </a:r>
          </a:p>
          <a:p>
            <a:pPr lvl="1"/>
            <a:r>
              <a:rPr lang="en-GB" dirty="0"/>
              <a:t>Muscle cells, endocrine cells, cochlear hair cells, rods and cones in the retina</a:t>
            </a:r>
          </a:p>
          <a:p>
            <a:pPr lvl="1"/>
            <a:endParaRPr lang="en-GB" dirty="0"/>
          </a:p>
          <a:p>
            <a:r>
              <a:rPr lang="en-GB" dirty="0"/>
              <a:t>Expression of voltage- and/or ligand-gated ion channels</a:t>
            </a:r>
          </a:p>
          <a:p>
            <a:pPr lvl="1"/>
            <a:r>
              <a:rPr lang="en-GB" dirty="0"/>
              <a:t>Change in membrane potential trigger a conformational change which opens a pore</a:t>
            </a:r>
          </a:p>
          <a:p>
            <a:pPr lvl="1"/>
            <a:r>
              <a:rPr lang="en-GB" dirty="0"/>
              <a:t>Permeability to ions (Na</a:t>
            </a:r>
            <a:r>
              <a:rPr lang="en-GB" baseline="30000" dirty="0"/>
              <a:t>+</a:t>
            </a:r>
            <a:r>
              <a:rPr lang="en-GB" dirty="0"/>
              <a:t>, Ca</a:t>
            </a:r>
            <a:r>
              <a:rPr lang="en-GB" baseline="30000" dirty="0"/>
              <a:t>2+</a:t>
            </a:r>
            <a:r>
              <a:rPr lang="en-GB" dirty="0"/>
              <a:t>, K</a:t>
            </a:r>
            <a:r>
              <a:rPr lang="en-GB" baseline="30000" dirty="0"/>
              <a:t>+</a:t>
            </a:r>
            <a:r>
              <a:rPr lang="en-GB" dirty="0"/>
              <a:t>, Cl</a:t>
            </a:r>
            <a:r>
              <a:rPr lang="en-GB" baseline="30000" dirty="0"/>
              <a:t>-</a:t>
            </a:r>
            <a:r>
              <a:rPr lang="en-GB" dirty="0"/>
              <a:t>)</a:t>
            </a:r>
          </a:p>
        </p:txBody>
      </p:sp>
      <p:pic>
        <p:nvPicPr>
          <p:cNvPr id="7" name="Picture 6">
            <a:extLst>
              <a:ext uri="{FF2B5EF4-FFF2-40B4-BE49-F238E27FC236}">
                <a16:creationId xmlns:a16="http://schemas.microsoft.com/office/drawing/2014/main" id="{994BAD3D-7E90-4373-8970-39C4693AF733}"/>
              </a:ext>
            </a:extLst>
          </p:cNvPr>
          <p:cNvPicPr>
            <a:picLocks noChangeAspect="1"/>
          </p:cNvPicPr>
          <p:nvPr/>
        </p:nvPicPr>
        <p:blipFill rotWithShape="1">
          <a:blip r:embed="rId2"/>
          <a:srcRect t="20185" b="18859"/>
          <a:stretch/>
        </p:blipFill>
        <p:spPr>
          <a:xfrm flipV="1">
            <a:off x="2673350" y="5227114"/>
            <a:ext cx="6845300" cy="1395930"/>
          </a:xfrm>
          <a:prstGeom prst="rect">
            <a:avLst/>
          </a:prstGeom>
        </p:spPr>
      </p:pic>
    </p:spTree>
    <p:extLst>
      <p:ext uri="{BB962C8B-B14F-4D97-AF65-F5344CB8AC3E}">
        <p14:creationId xmlns:p14="http://schemas.microsoft.com/office/powerpoint/2010/main" val="139127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8A18B-295D-44BF-B7C1-CC429519AD42}"/>
              </a:ext>
            </a:extLst>
          </p:cNvPr>
          <p:cNvSpPr>
            <a:spLocks noGrp="1"/>
          </p:cNvSpPr>
          <p:nvPr>
            <p:ph type="title"/>
          </p:nvPr>
        </p:nvSpPr>
        <p:spPr/>
        <p:txBody>
          <a:bodyPr/>
          <a:lstStyle/>
          <a:p>
            <a:r>
              <a:rPr lang="en-GB" dirty="0"/>
              <a:t>Ion channels</a:t>
            </a:r>
          </a:p>
        </p:txBody>
      </p:sp>
      <p:sp>
        <p:nvSpPr>
          <p:cNvPr id="3" name="Content Placeholder 2">
            <a:extLst>
              <a:ext uri="{FF2B5EF4-FFF2-40B4-BE49-F238E27FC236}">
                <a16:creationId xmlns:a16="http://schemas.microsoft.com/office/drawing/2014/main" id="{8A616CD2-3094-403B-B62E-6F157D36C216}"/>
              </a:ext>
            </a:extLst>
          </p:cNvPr>
          <p:cNvSpPr>
            <a:spLocks noGrp="1"/>
          </p:cNvSpPr>
          <p:nvPr>
            <p:ph idx="1"/>
          </p:nvPr>
        </p:nvSpPr>
        <p:spPr>
          <a:xfrm>
            <a:off x="340258" y="1236774"/>
            <a:ext cx="10252295" cy="2146249"/>
          </a:xfrm>
        </p:spPr>
        <p:txBody>
          <a:bodyPr numCol="2" spcCol="180000"/>
          <a:lstStyle/>
          <a:p>
            <a:r>
              <a:rPr lang="en-GB" dirty="0"/>
              <a:t>Transmembrane proteins</a:t>
            </a:r>
          </a:p>
          <a:p>
            <a:pPr lvl="1"/>
            <a:r>
              <a:rPr lang="en-GB" dirty="0"/>
              <a:t>Mono or multimeric</a:t>
            </a:r>
          </a:p>
          <a:p>
            <a:pPr lvl="1"/>
            <a:r>
              <a:rPr lang="en-GB" dirty="0"/>
              <a:t>Extracellular and intracellular domains</a:t>
            </a:r>
          </a:p>
          <a:p>
            <a:pPr lvl="1"/>
            <a:r>
              <a:rPr lang="en-GB" dirty="0"/>
              <a:t>Opening (pore)</a:t>
            </a:r>
          </a:p>
          <a:p>
            <a:r>
              <a:rPr lang="en-GB" dirty="0"/>
              <a:t>Selective permeability (pore)</a:t>
            </a:r>
          </a:p>
          <a:p>
            <a:pPr lvl="1"/>
            <a:r>
              <a:rPr lang="en-GB" dirty="0"/>
              <a:t>Specific ions (Na</a:t>
            </a:r>
            <a:r>
              <a:rPr lang="en-GB" baseline="30000" dirty="0"/>
              <a:t>+</a:t>
            </a:r>
            <a:r>
              <a:rPr lang="en-GB" dirty="0"/>
              <a:t>, K</a:t>
            </a:r>
            <a:r>
              <a:rPr lang="en-GB" baseline="30000" dirty="0"/>
              <a:t>+</a:t>
            </a:r>
            <a:r>
              <a:rPr lang="en-GB" dirty="0"/>
              <a:t>, Ca</a:t>
            </a:r>
            <a:r>
              <a:rPr lang="en-GB" baseline="30000" dirty="0"/>
              <a:t>2+</a:t>
            </a:r>
            <a:r>
              <a:rPr lang="en-GB" dirty="0"/>
              <a:t>, Cl</a:t>
            </a:r>
            <a:r>
              <a:rPr lang="en-GB" baseline="30000" dirty="0"/>
              <a:t>-</a:t>
            </a:r>
            <a:r>
              <a:rPr lang="en-GB" dirty="0"/>
              <a:t>)</a:t>
            </a:r>
          </a:p>
          <a:p>
            <a:pPr lvl="1"/>
            <a:r>
              <a:rPr lang="en-GB" dirty="0"/>
              <a:t>Groups of ions (cations, anions)</a:t>
            </a:r>
          </a:p>
          <a:p>
            <a:r>
              <a:rPr lang="en-GB" dirty="0"/>
              <a:t>Voltage-gated ion channels activate when reaching specific voltages</a:t>
            </a:r>
          </a:p>
          <a:p>
            <a:pPr lvl="1"/>
            <a:r>
              <a:rPr lang="en-GB" dirty="0"/>
              <a:t>Voltage sensors trigger </a:t>
            </a:r>
            <a:br>
              <a:rPr lang="en-GB" dirty="0"/>
            </a:br>
            <a:r>
              <a:rPr lang="en-GB" dirty="0"/>
              <a:t>conformational changes</a:t>
            </a:r>
          </a:p>
          <a:p>
            <a:pPr marL="457200" lvl="1" indent="0">
              <a:buNone/>
            </a:pPr>
            <a:endParaRPr lang="en-GB" dirty="0"/>
          </a:p>
        </p:txBody>
      </p:sp>
      <p:pic>
        <p:nvPicPr>
          <p:cNvPr id="8" name="Content Placeholder 4" descr="A picture containing text&#10;&#10;Description automatically generated">
            <a:extLst>
              <a:ext uri="{FF2B5EF4-FFF2-40B4-BE49-F238E27FC236}">
                <a16:creationId xmlns:a16="http://schemas.microsoft.com/office/drawing/2014/main" id="{D1D10424-0DE0-41B1-D527-2A09774E6B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5270" y="5412992"/>
            <a:ext cx="5396434" cy="1307960"/>
          </a:xfrm>
          <a:prstGeom prst="rect">
            <a:avLst/>
          </a:prstGeom>
        </p:spPr>
      </p:pic>
      <p:pic>
        <p:nvPicPr>
          <p:cNvPr id="9" name="Picture 8" descr="A picture containing silhouette, vector graphics&#10;&#10;Description automatically generated">
            <a:extLst>
              <a:ext uri="{FF2B5EF4-FFF2-40B4-BE49-F238E27FC236}">
                <a16:creationId xmlns:a16="http://schemas.microsoft.com/office/drawing/2014/main" id="{72EE09A7-B6FE-1370-57E9-E4531D6BD5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2553" y="5406596"/>
            <a:ext cx="2087030" cy="1266264"/>
          </a:xfrm>
          <a:prstGeom prst="rect">
            <a:avLst/>
          </a:prstGeom>
        </p:spPr>
      </p:pic>
      <p:sp>
        <p:nvSpPr>
          <p:cNvPr id="11" name="TextBox 10">
            <a:extLst>
              <a:ext uri="{FF2B5EF4-FFF2-40B4-BE49-F238E27FC236}">
                <a16:creationId xmlns:a16="http://schemas.microsoft.com/office/drawing/2014/main" id="{8D48C5D2-20B8-5AE4-B0B7-C213C2EB8090}"/>
              </a:ext>
            </a:extLst>
          </p:cNvPr>
          <p:cNvSpPr txBox="1"/>
          <p:nvPr/>
        </p:nvSpPr>
        <p:spPr>
          <a:xfrm>
            <a:off x="2049681" y="4329497"/>
            <a:ext cx="2572775" cy="338554"/>
          </a:xfrm>
          <a:prstGeom prst="rect">
            <a:avLst/>
          </a:prstGeom>
          <a:noFill/>
        </p:spPr>
        <p:txBody>
          <a:bodyPr wrap="square" rtlCol="0">
            <a:spAutoFit/>
          </a:bodyPr>
          <a:lstStyle/>
          <a:p>
            <a:pPr algn="ctr"/>
            <a:r>
              <a:rPr lang="en-GB" sz="1600" b="1" dirty="0"/>
              <a:t>Constantly open (leak)</a:t>
            </a:r>
          </a:p>
        </p:txBody>
      </p:sp>
      <p:sp>
        <p:nvSpPr>
          <p:cNvPr id="14" name="TextBox 13">
            <a:extLst>
              <a:ext uri="{FF2B5EF4-FFF2-40B4-BE49-F238E27FC236}">
                <a16:creationId xmlns:a16="http://schemas.microsoft.com/office/drawing/2014/main" id="{246CFD43-BBC3-1077-9D7B-AB01AFA2B650}"/>
              </a:ext>
            </a:extLst>
          </p:cNvPr>
          <p:cNvSpPr txBox="1"/>
          <p:nvPr/>
        </p:nvSpPr>
        <p:spPr>
          <a:xfrm>
            <a:off x="6290820" y="4356741"/>
            <a:ext cx="2705335" cy="338554"/>
          </a:xfrm>
          <a:prstGeom prst="rect">
            <a:avLst/>
          </a:prstGeom>
          <a:noFill/>
        </p:spPr>
        <p:txBody>
          <a:bodyPr wrap="square" rtlCol="0">
            <a:spAutoFit/>
          </a:bodyPr>
          <a:lstStyle/>
          <a:p>
            <a:pPr algn="ctr"/>
            <a:r>
              <a:rPr lang="en-GB" sz="1600" b="1" dirty="0"/>
              <a:t>Gated</a:t>
            </a:r>
          </a:p>
        </p:txBody>
      </p:sp>
      <p:sp>
        <p:nvSpPr>
          <p:cNvPr id="15" name="TextBox 14">
            <a:extLst>
              <a:ext uri="{FF2B5EF4-FFF2-40B4-BE49-F238E27FC236}">
                <a16:creationId xmlns:a16="http://schemas.microsoft.com/office/drawing/2014/main" id="{B189B067-CF41-2C19-E2FD-BD281C32B431}"/>
              </a:ext>
            </a:extLst>
          </p:cNvPr>
          <p:cNvSpPr txBox="1"/>
          <p:nvPr/>
        </p:nvSpPr>
        <p:spPr>
          <a:xfrm>
            <a:off x="7017469" y="5211549"/>
            <a:ext cx="1252036" cy="577081"/>
          </a:xfrm>
          <a:prstGeom prst="rect">
            <a:avLst/>
          </a:prstGeom>
          <a:noFill/>
          <a:ln>
            <a:noFill/>
          </a:ln>
        </p:spPr>
        <p:txBody>
          <a:bodyPr wrap="square" rtlCol="0">
            <a:spAutoFit/>
          </a:bodyPr>
          <a:lstStyle/>
          <a:p>
            <a:pPr algn="ctr"/>
            <a:r>
              <a:rPr lang="en-GB" sz="1050" dirty="0"/>
              <a:t>Voltage</a:t>
            </a:r>
          </a:p>
          <a:p>
            <a:pPr algn="ctr"/>
            <a:r>
              <a:rPr lang="en-GB" sz="1050" dirty="0"/>
              <a:t>Ligands</a:t>
            </a:r>
          </a:p>
          <a:p>
            <a:pPr algn="ctr"/>
            <a:r>
              <a:rPr lang="en-GB" sz="1050" dirty="0"/>
              <a:t>Light</a:t>
            </a:r>
          </a:p>
        </p:txBody>
      </p:sp>
      <p:cxnSp>
        <p:nvCxnSpPr>
          <p:cNvPr id="16" name="Straight Arrow Connector 15">
            <a:extLst>
              <a:ext uri="{FF2B5EF4-FFF2-40B4-BE49-F238E27FC236}">
                <a16:creationId xmlns:a16="http://schemas.microsoft.com/office/drawing/2014/main" id="{8FFDC12E-F0B3-1EBD-D93B-30696F5651FD}"/>
              </a:ext>
            </a:extLst>
          </p:cNvPr>
          <p:cNvCxnSpPr>
            <a:cxnSpLocks/>
          </p:cNvCxnSpPr>
          <p:nvPr/>
        </p:nvCxnSpPr>
        <p:spPr>
          <a:xfrm>
            <a:off x="3313076" y="5258133"/>
            <a:ext cx="0" cy="12192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DCB3491-B7B8-2612-B5C9-D2A432849B43}"/>
              </a:ext>
            </a:extLst>
          </p:cNvPr>
          <p:cNvCxnSpPr>
            <a:cxnSpLocks/>
          </p:cNvCxnSpPr>
          <p:nvPr/>
        </p:nvCxnSpPr>
        <p:spPr>
          <a:xfrm>
            <a:off x="9270957" y="5310777"/>
            <a:ext cx="0" cy="11684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5221D9B-C12B-95E3-9A64-DF7DA4382B7F}"/>
              </a:ext>
            </a:extLst>
          </p:cNvPr>
          <p:cNvSpPr txBox="1"/>
          <p:nvPr/>
        </p:nvSpPr>
        <p:spPr>
          <a:xfrm>
            <a:off x="6730321" y="6053854"/>
            <a:ext cx="1826330" cy="430887"/>
          </a:xfrm>
          <a:prstGeom prst="rect">
            <a:avLst/>
          </a:prstGeom>
          <a:noFill/>
        </p:spPr>
        <p:txBody>
          <a:bodyPr wrap="square" rtlCol="0">
            <a:spAutoFit/>
          </a:bodyPr>
          <a:lstStyle/>
          <a:p>
            <a:pPr algn="ctr"/>
            <a:r>
              <a:rPr lang="en-GB" sz="1100" dirty="0"/>
              <a:t>Conformational</a:t>
            </a:r>
            <a:br>
              <a:rPr lang="en-GB" sz="1100" dirty="0"/>
            </a:br>
            <a:r>
              <a:rPr lang="en-GB" sz="1100" dirty="0"/>
              <a:t>change</a:t>
            </a:r>
          </a:p>
        </p:txBody>
      </p:sp>
      <p:sp>
        <p:nvSpPr>
          <p:cNvPr id="20" name="TextBox 19">
            <a:extLst>
              <a:ext uri="{FF2B5EF4-FFF2-40B4-BE49-F238E27FC236}">
                <a16:creationId xmlns:a16="http://schemas.microsoft.com/office/drawing/2014/main" id="{9459C6AD-7F87-BD23-6E0E-60C7C34C97BB}"/>
              </a:ext>
            </a:extLst>
          </p:cNvPr>
          <p:cNvSpPr txBox="1"/>
          <p:nvPr/>
        </p:nvSpPr>
        <p:spPr>
          <a:xfrm>
            <a:off x="8871398" y="4865941"/>
            <a:ext cx="851938" cy="307777"/>
          </a:xfrm>
          <a:prstGeom prst="rect">
            <a:avLst/>
          </a:prstGeom>
          <a:noFill/>
        </p:spPr>
        <p:txBody>
          <a:bodyPr wrap="square" rtlCol="0">
            <a:spAutoFit/>
          </a:bodyPr>
          <a:lstStyle/>
          <a:p>
            <a:pPr algn="ctr"/>
            <a:r>
              <a:rPr lang="en-GB" sz="1400" dirty="0"/>
              <a:t>Open</a:t>
            </a:r>
          </a:p>
        </p:txBody>
      </p:sp>
      <p:sp>
        <p:nvSpPr>
          <p:cNvPr id="21" name="TextBox 20">
            <a:extLst>
              <a:ext uri="{FF2B5EF4-FFF2-40B4-BE49-F238E27FC236}">
                <a16:creationId xmlns:a16="http://schemas.microsoft.com/office/drawing/2014/main" id="{F403BF6A-132C-ECE2-97AF-EDE8D0C2C880}"/>
              </a:ext>
            </a:extLst>
          </p:cNvPr>
          <p:cNvSpPr txBox="1"/>
          <p:nvPr/>
        </p:nvSpPr>
        <p:spPr>
          <a:xfrm>
            <a:off x="5174532" y="4864011"/>
            <a:ext cx="1466760" cy="307777"/>
          </a:xfrm>
          <a:prstGeom prst="rect">
            <a:avLst/>
          </a:prstGeom>
          <a:noFill/>
        </p:spPr>
        <p:txBody>
          <a:bodyPr wrap="square" rtlCol="0">
            <a:spAutoFit/>
          </a:bodyPr>
          <a:lstStyle/>
          <a:p>
            <a:pPr algn="ctr"/>
            <a:r>
              <a:rPr lang="en-GB" sz="1400" dirty="0"/>
              <a:t>Closed</a:t>
            </a:r>
          </a:p>
        </p:txBody>
      </p:sp>
      <p:sp>
        <p:nvSpPr>
          <p:cNvPr id="22" name="TextBox 21">
            <a:extLst>
              <a:ext uri="{FF2B5EF4-FFF2-40B4-BE49-F238E27FC236}">
                <a16:creationId xmlns:a16="http://schemas.microsoft.com/office/drawing/2014/main" id="{D5186581-0453-D69C-AA23-285F92F9B965}"/>
              </a:ext>
            </a:extLst>
          </p:cNvPr>
          <p:cNvSpPr txBox="1"/>
          <p:nvPr/>
        </p:nvSpPr>
        <p:spPr>
          <a:xfrm>
            <a:off x="2026694" y="4606497"/>
            <a:ext cx="2572764" cy="430887"/>
          </a:xfrm>
          <a:prstGeom prst="rect">
            <a:avLst/>
          </a:prstGeom>
          <a:noFill/>
        </p:spPr>
        <p:txBody>
          <a:bodyPr wrap="square" rtlCol="0">
            <a:spAutoFit/>
          </a:bodyPr>
          <a:lstStyle/>
          <a:p>
            <a:pPr algn="ctr"/>
            <a:r>
              <a:rPr lang="en-GB" sz="1100" dirty="0"/>
              <a:t>Contribute to the resting membrane potential</a:t>
            </a:r>
          </a:p>
        </p:txBody>
      </p:sp>
      <p:sp>
        <p:nvSpPr>
          <p:cNvPr id="23" name="TextBox 22">
            <a:extLst>
              <a:ext uri="{FF2B5EF4-FFF2-40B4-BE49-F238E27FC236}">
                <a16:creationId xmlns:a16="http://schemas.microsoft.com/office/drawing/2014/main" id="{5D19BEF7-7D65-3826-5E7C-901911F1264F}"/>
              </a:ext>
            </a:extLst>
          </p:cNvPr>
          <p:cNvSpPr txBox="1"/>
          <p:nvPr/>
        </p:nvSpPr>
        <p:spPr>
          <a:xfrm>
            <a:off x="6357104" y="4633742"/>
            <a:ext cx="2572764" cy="261610"/>
          </a:xfrm>
          <a:prstGeom prst="rect">
            <a:avLst/>
          </a:prstGeom>
          <a:noFill/>
        </p:spPr>
        <p:txBody>
          <a:bodyPr wrap="square" rtlCol="0">
            <a:spAutoFit/>
          </a:bodyPr>
          <a:lstStyle/>
          <a:p>
            <a:pPr algn="ctr"/>
            <a:r>
              <a:rPr lang="en-GB" sz="1100" dirty="0"/>
              <a:t>Open in response to stimuli</a:t>
            </a:r>
          </a:p>
        </p:txBody>
      </p:sp>
    </p:spTree>
    <p:extLst>
      <p:ext uri="{BB962C8B-B14F-4D97-AF65-F5344CB8AC3E}">
        <p14:creationId xmlns:p14="http://schemas.microsoft.com/office/powerpoint/2010/main" val="228327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ED8EC-B7C8-082A-73DF-2B6BC2D74F44}"/>
              </a:ext>
            </a:extLst>
          </p:cNvPr>
          <p:cNvSpPr>
            <a:spLocks noGrp="1"/>
          </p:cNvSpPr>
          <p:nvPr>
            <p:ph type="title"/>
          </p:nvPr>
        </p:nvSpPr>
        <p:spPr/>
        <p:txBody>
          <a:bodyPr/>
          <a:lstStyle/>
          <a:p>
            <a:r>
              <a:rPr lang="en-GB" dirty="0"/>
              <a:t>Ion channels families</a:t>
            </a:r>
          </a:p>
        </p:txBody>
      </p:sp>
      <p:sp>
        <p:nvSpPr>
          <p:cNvPr id="10" name="Content Placeholder 9">
            <a:extLst>
              <a:ext uri="{FF2B5EF4-FFF2-40B4-BE49-F238E27FC236}">
                <a16:creationId xmlns:a16="http://schemas.microsoft.com/office/drawing/2014/main" id="{D1BA4AA6-9163-EE81-FC27-D002C1891B29}"/>
              </a:ext>
            </a:extLst>
          </p:cNvPr>
          <p:cNvSpPr>
            <a:spLocks noGrp="1"/>
          </p:cNvSpPr>
          <p:nvPr>
            <p:ph idx="1"/>
          </p:nvPr>
        </p:nvSpPr>
        <p:spPr/>
        <p:txBody>
          <a:bodyPr/>
          <a:lstStyle/>
          <a:p>
            <a:endParaRPr lang="en-GB"/>
          </a:p>
        </p:txBody>
      </p:sp>
      <p:pic>
        <p:nvPicPr>
          <p:cNvPr id="3" name="Content Placeholder 12">
            <a:extLst>
              <a:ext uri="{FF2B5EF4-FFF2-40B4-BE49-F238E27FC236}">
                <a16:creationId xmlns:a16="http://schemas.microsoft.com/office/drawing/2014/main" id="{53AB73D2-2724-BC12-122D-7996152FB481}"/>
              </a:ext>
            </a:extLst>
          </p:cNvPr>
          <p:cNvPicPr>
            <a:picLocks noChangeAspect="1"/>
          </p:cNvPicPr>
          <p:nvPr/>
        </p:nvPicPr>
        <p:blipFill rotWithShape="1">
          <a:blip r:embed="rId3"/>
          <a:srcRect r="13235"/>
          <a:stretch/>
        </p:blipFill>
        <p:spPr>
          <a:xfrm>
            <a:off x="3223646" y="1258432"/>
            <a:ext cx="5878058" cy="5200064"/>
          </a:xfrm>
          <a:prstGeom prst="rect">
            <a:avLst/>
          </a:prstGeom>
        </p:spPr>
      </p:pic>
    </p:spTree>
    <p:extLst>
      <p:ext uri="{BB962C8B-B14F-4D97-AF65-F5344CB8AC3E}">
        <p14:creationId xmlns:p14="http://schemas.microsoft.com/office/powerpoint/2010/main" val="1579703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A7476-30C7-4CBC-840A-4CA376B59DD1}"/>
              </a:ext>
            </a:extLst>
          </p:cNvPr>
          <p:cNvSpPr>
            <a:spLocks noGrp="1"/>
          </p:cNvSpPr>
          <p:nvPr>
            <p:ph type="title"/>
          </p:nvPr>
        </p:nvSpPr>
        <p:spPr/>
        <p:txBody>
          <a:bodyPr/>
          <a:lstStyle/>
          <a:p>
            <a:r>
              <a:rPr lang="en-GB"/>
              <a:t>Resting membrane potential (voltage)</a:t>
            </a:r>
          </a:p>
        </p:txBody>
      </p:sp>
      <p:sp>
        <p:nvSpPr>
          <p:cNvPr id="3" name="Content Placeholder 2">
            <a:extLst>
              <a:ext uri="{FF2B5EF4-FFF2-40B4-BE49-F238E27FC236}">
                <a16:creationId xmlns:a16="http://schemas.microsoft.com/office/drawing/2014/main" id="{55AF8B97-7FFA-42EA-836A-B1875D10C3B7}"/>
              </a:ext>
            </a:extLst>
          </p:cNvPr>
          <p:cNvSpPr>
            <a:spLocks noGrp="1"/>
          </p:cNvSpPr>
          <p:nvPr>
            <p:ph idx="1"/>
          </p:nvPr>
        </p:nvSpPr>
        <p:spPr>
          <a:xfrm>
            <a:off x="236170" y="1289854"/>
            <a:ext cx="4341806" cy="4887109"/>
          </a:xfrm>
        </p:spPr>
        <p:txBody>
          <a:bodyPr>
            <a:normAutofit/>
          </a:bodyPr>
          <a:lstStyle/>
          <a:p>
            <a:r>
              <a:rPr lang="en-GB" b="1"/>
              <a:t>Na</a:t>
            </a:r>
            <a:r>
              <a:rPr lang="en-GB" b="1" baseline="30000"/>
              <a:t>+</a:t>
            </a:r>
            <a:r>
              <a:rPr lang="en-GB" b="1"/>
              <a:t>/K</a:t>
            </a:r>
            <a:r>
              <a:rPr lang="en-GB" b="1" baseline="30000"/>
              <a:t>+</a:t>
            </a:r>
            <a:r>
              <a:rPr lang="en-GB" b="1"/>
              <a:t> ATPase </a:t>
            </a:r>
            <a:r>
              <a:rPr lang="en-GB"/>
              <a:t>keeps high extracellular Na</a:t>
            </a:r>
            <a:r>
              <a:rPr lang="en-GB" baseline="30000"/>
              <a:t>+ </a:t>
            </a:r>
            <a:r>
              <a:rPr lang="en-GB"/>
              <a:t>and high intracellular K</a:t>
            </a:r>
            <a:r>
              <a:rPr lang="en-GB" baseline="30000"/>
              <a:t>+</a:t>
            </a:r>
          </a:p>
        </p:txBody>
      </p:sp>
      <p:grpSp>
        <p:nvGrpSpPr>
          <p:cNvPr id="13" name="Group 12">
            <a:extLst>
              <a:ext uri="{FF2B5EF4-FFF2-40B4-BE49-F238E27FC236}">
                <a16:creationId xmlns:a16="http://schemas.microsoft.com/office/drawing/2014/main" id="{8E7EF685-7358-0D0E-63FA-52FF44E0D34A}"/>
              </a:ext>
            </a:extLst>
          </p:cNvPr>
          <p:cNvGrpSpPr/>
          <p:nvPr/>
        </p:nvGrpSpPr>
        <p:grpSpPr>
          <a:xfrm>
            <a:off x="7014417" y="3650466"/>
            <a:ext cx="3360736" cy="2948166"/>
            <a:chOff x="4978400" y="3244334"/>
            <a:chExt cx="3984348" cy="3495222"/>
          </a:xfrm>
        </p:grpSpPr>
        <p:pic>
          <p:nvPicPr>
            <p:cNvPr id="14" name="Picture 2" descr="Membrane potential - Wikipedia">
              <a:extLst>
                <a:ext uri="{FF2B5EF4-FFF2-40B4-BE49-F238E27FC236}">
                  <a16:creationId xmlns:a16="http://schemas.microsoft.com/office/drawing/2014/main" id="{36828B19-A3EF-F5ED-A086-FE9A076232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09" t="860" r="1753" b="25861"/>
            <a:stretch/>
          </p:blipFill>
          <p:spPr bwMode="auto">
            <a:xfrm>
              <a:off x="4978400" y="3285067"/>
              <a:ext cx="3943350" cy="342714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FDB6A08-9C8B-0A4B-EE3D-733C26BCCBD5}"/>
                </a:ext>
              </a:extLst>
            </p:cNvPr>
            <p:cNvSpPr txBox="1"/>
            <p:nvPr/>
          </p:nvSpPr>
          <p:spPr>
            <a:xfrm>
              <a:off x="4978400" y="3244851"/>
              <a:ext cx="1143000" cy="307777"/>
            </a:xfrm>
            <a:prstGeom prst="rect">
              <a:avLst/>
            </a:prstGeom>
            <a:noFill/>
          </p:spPr>
          <p:txBody>
            <a:bodyPr wrap="square" rtlCol="0">
              <a:spAutoFit/>
            </a:bodyPr>
            <a:lstStyle/>
            <a:p>
              <a:r>
                <a:rPr lang="en-GB" sz="1400" b="1"/>
                <a:t>High Na</a:t>
              </a:r>
              <a:r>
                <a:rPr lang="en-GB" sz="1400" b="1" baseline="30000"/>
                <a:t>+</a:t>
              </a:r>
            </a:p>
          </p:txBody>
        </p:sp>
        <p:sp>
          <p:nvSpPr>
            <p:cNvPr id="16" name="TextBox 15">
              <a:extLst>
                <a:ext uri="{FF2B5EF4-FFF2-40B4-BE49-F238E27FC236}">
                  <a16:creationId xmlns:a16="http://schemas.microsoft.com/office/drawing/2014/main" id="{21589CF0-AC80-D47F-7D61-13B205C475D3}"/>
                </a:ext>
              </a:extLst>
            </p:cNvPr>
            <p:cNvSpPr txBox="1"/>
            <p:nvPr/>
          </p:nvSpPr>
          <p:spPr>
            <a:xfrm>
              <a:off x="7766050" y="3244334"/>
              <a:ext cx="1143000" cy="307777"/>
            </a:xfrm>
            <a:prstGeom prst="rect">
              <a:avLst/>
            </a:prstGeom>
            <a:noFill/>
          </p:spPr>
          <p:txBody>
            <a:bodyPr wrap="square" rtlCol="0">
              <a:spAutoFit/>
            </a:bodyPr>
            <a:lstStyle/>
            <a:p>
              <a:pPr algn="r"/>
              <a:r>
                <a:rPr lang="en-GB" sz="1400" b="1"/>
                <a:t>High K</a:t>
              </a:r>
              <a:r>
                <a:rPr lang="en-GB" sz="1400" b="1" baseline="30000"/>
                <a:t>+</a:t>
              </a:r>
            </a:p>
          </p:txBody>
        </p:sp>
        <p:sp>
          <p:nvSpPr>
            <p:cNvPr id="17" name="TextBox 16">
              <a:extLst>
                <a:ext uri="{FF2B5EF4-FFF2-40B4-BE49-F238E27FC236}">
                  <a16:creationId xmlns:a16="http://schemas.microsoft.com/office/drawing/2014/main" id="{CBFD1053-DEC1-16BF-1781-F73B3CF99221}"/>
                </a:ext>
              </a:extLst>
            </p:cNvPr>
            <p:cNvSpPr txBox="1"/>
            <p:nvPr/>
          </p:nvSpPr>
          <p:spPr>
            <a:xfrm>
              <a:off x="5019398" y="6431779"/>
              <a:ext cx="1483002" cy="307777"/>
            </a:xfrm>
            <a:prstGeom prst="rect">
              <a:avLst/>
            </a:prstGeom>
            <a:solidFill>
              <a:schemeClr val="bg1"/>
            </a:solidFill>
          </p:spPr>
          <p:txBody>
            <a:bodyPr wrap="square" rtlCol="0">
              <a:spAutoFit/>
            </a:bodyPr>
            <a:lstStyle/>
            <a:p>
              <a:pPr algn="ctr"/>
              <a:r>
                <a:rPr lang="en-GB" sz="1400" b="1"/>
                <a:t>Extracellular</a:t>
              </a:r>
              <a:endParaRPr lang="en-GB" sz="1400" b="1" baseline="30000"/>
            </a:p>
          </p:txBody>
        </p:sp>
        <p:sp>
          <p:nvSpPr>
            <p:cNvPr id="18" name="TextBox 17">
              <a:extLst>
                <a:ext uri="{FF2B5EF4-FFF2-40B4-BE49-F238E27FC236}">
                  <a16:creationId xmlns:a16="http://schemas.microsoft.com/office/drawing/2014/main" id="{337C7A56-CF32-92C7-0D4B-BC42E225BB6D}"/>
                </a:ext>
              </a:extLst>
            </p:cNvPr>
            <p:cNvSpPr txBox="1"/>
            <p:nvPr/>
          </p:nvSpPr>
          <p:spPr>
            <a:xfrm>
              <a:off x="7479746" y="6431779"/>
              <a:ext cx="1483002" cy="307777"/>
            </a:xfrm>
            <a:prstGeom prst="rect">
              <a:avLst/>
            </a:prstGeom>
            <a:solidFill>
              <a:schemeClr val="bg1"/>
            </a:solidFill>
          </p:spPr>
          <p:txBody>
            <a:bodyPr wrap="square" rtlCol="0">
              <a:spAutoFit/>
            </a:bodyPr>
            <a:lstStyle/>
            <a:p>
              <a:pPr algn="ctr"/>
              <a:r>
                <a:rPr lang="en-GB" sz="1400" b="1"/>
                <a:t>Intracellular</a:t>
              </a:r>
              <a:endParaRPr lang="en-GB" sz="1400" b="1" baseline="30000"/>
            </a:p>
          </p:txBody>
        </p:sp>
        <p:sp>
          <p:nvSpPr>
            <p:cNvPr id="19" name="Rectangle 18">
              <a:extLst>
                <a:ext uri="{FF2B5EF4-FFF2-40B4-BE49-F238E27FC236}">
                  <a16:creationId xmlns:a16="http://schemas.microsoft.com/office/drawing/2014/main" id="{CAC82135-0960-ADDD-C7E2-1ED5F81161F5}"/>
                </a:ext>
              </a:extLst>
            </p:cNvPr>
            <p:cNvSpPr/>
            <p:nvPr/>
          </p:nvSpPr>
          <p:spPr>
            <a:xfrm>
              <a:off x="5207000" y="6261099"/>
              <a:ext cx="1016000" cy="143934"/>
            </a:xfrm>
            <a:prstGeom prst="rect">
              <a:avLst/>
            </a:prstGeom>
            <a:solidFill>
              <a:srgbClr val="9ECB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9C3A12F1-16D8-0F2C-8C66-7D0412F609DA}"/>
                </a:ext>
              </a:extLst>
            </p:cNvPr>
            <p:cNvSpPr/>
            <p:nvPr/>
          </p:nvSpPr>
          <p:spPr>
            <a:xfrm>
              <a:off x="7829550" y="6261099"/>
              <a:ext cx="1016000" cy="143934"/>
            </a:xfrm>
            <a:prstGeom prst="rect">
              <a:avLst/>
            </a:prstGeom>
            <a:solidFill>
              <a:srgbClr val="F2DC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Content Placeholder 2">
            <a:extLst>
              <a:ext uri="{FF2B5EF4-FFF2-40B4-BE49-F238E27FC236}">
                <a16:creationId xmlns:a16="http://schemas.microsoft.com/office/drawing/2014/main" id="{A156B93A-90E0-30C9-6547-9920E4A57762}"/>
              </a:ext>
            </a:extLst>
          </p:cNvPr>
          <p:cNvSpPr txBox="1">
            <a:spLocks/>
          </p:cNvSpPr>
          <p:nvPr/>
        </p:nvSpPr>
        <p:spPr>
          <a:xfrm>
            <a:off x="4828988" y="1289854"/>
            <a:ext cx="7343375" cy="26537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anose="020F050202020403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a:t>Imbalance of charges </a:t>
            </a:r>
            <a:r>
              <a:rPr lang="en-GB"/>
              <a:t>along the membrane</a:t>
            </a:r>
          </a:p>
          <a:p>
            <a:pPr lvl="1"/>
            <a:r>
              <a:rPr lang="en-GB" b="1"/>
              <a:t>Intracellular</a:t>
            </a:r>
            <a:r>
              <a:rPr lang="en-GB"/>
              <a:t> side of the membrane has a many </a:t>
            </a:r>
            <a:r>
              <a:rPr lang="en-GB" b="1"/>
              <a:t>negatively</a:t>
            </a:r>
            <a:r>
              <a:rPr lang="en-GB"/>
              <a:t> charged molecules (proteins, lipids, etc)</a:t>
            </a:r>
          </a:p>
          <a:p>
            <a:pPr lvl="1"/>
            <a:endParaRPr lang="en-GB" b="1"/>
          </a:p>
          <a:p>
            <a:pPr lvl="1"/>
            <a:r>
              <a:rPr lang="en-GB" b="1"/>
              <a:t>Extracellular</a:t>
            </a:r>
            <a:r>
              <a:rPr lang="en-GB"/>
              <a:t> side of the membrane has many </a:t>
            </a:r>
            <a:r>
              <a:rPr lang="en-GB" b="1"/>
              <a:t>Na</a:t>
            </a:r>
            <a:r>
              <a:rPr lang="en-GB" b="1" baseline="30000"/>
              <a:t>+</a:t>
            </a:r>
            <a:r>
              <a:rPr lang="en-GB"/>
              <a:t> cations </a:t>
            </a:r>
            <a:r>
              <a:rPr lang="en-GB">
                <a:sym typeface="Wingdings" panose="05000000000000000000" pitchFamily="2" charset="2"/>
              </a:rPr>
              <a:t> </a:t>
            </a:r>
            <a:r>
              <a:rPr lang="en-GB" b="1">
                <a:sym typeface="Wingdings" panose="05000000000000000000" pitchFamily="2" charset="2"/>
              </a:rPr>
              <a:t>Positive charge</a:t>
            </a:r>
            <a:endParaRPr lang="en-GB" b="1"/>
          </a:p>
          <a:p>
            <a:pPr lvl="1"/>
            <a:endParaRPr lang="en-GB"/>
          </a:p>
          <a:p>
            <a:pPr lvl="1"/>
            <a:r>
              <a:rPr lang="en-GB"/>
              <a:t>Ions can hardly pass through the membrane</a:t>
            </a:r>
          </a:p>
          <a:p>
            <a:pPr lvl="1"/>
            <a:endParaRPr lang="en-GB"/>
          </a:p>
          <a:p>
            <a:pPr marL="0" indent="0">
              <a:buFont typeface="Arial" panose="020B0604020202020204" pitchFamily="34" charset="0"/>
              <a:buNone/>
            </a:pPr>
            <a:endParaRPr lang="en-GB"/>
          </a:p>
        </p:txBody>
      </p:sp>
      <p:grpSp>
        <p:nvGrpSpPr>
          <p:cNvPr id="6" name="Group 5">
            <a:extLst>
              <a:ext uri="{FF2B5EF4-FFF2-40B4-BE49-F238E27FC236}">
                <a16:creationId xmlns:a16="http://schemas.microsoft.com/office/drawing/2014/main" id="{82BF4EE5-3F63-E206-6638-1CB4D390D187}"/>
              </a:ext>
            </a:extLst>
          </p:cNvPr>
          <p:cNvGrpSpPr/>
          <p:nvPr/>
        </p:nvGrpSpPr>
        <p:grpSpPr>
          <a:xfrm>
            <a:off x="787186" y="2611718"/>
            <a:ext cx="3239774" cy="3034436"/>
            <a:chOff x="787186" y="2611718"/>
            <a:chExt cx="3239774" cy="3034436"/>
          </a:xfrm>
        </p:grpSpPr>
        <p:pic>
          <p:nvPicPr>
            <p:cNvPr id="12" name="Picture 2" descr="Sodium-potassium ATPase pump">
              <a:extLst>
                <a:ext uri="{FF2B5EF4-FFF2-40B4-BE49-F238E27FC236}">
                  <a16:creationId xmlns:a16="http://schemas.microsoft.com/office/drawing/2014/main" id="{10512D3E-0910-0A6F-F9BC-999A2BF90F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186" y="2611718"/>
              <a:ext cx="3239774" cy="303443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02149D8-81C6-10B3-7831-25B1119D3BD4}"/>
                </a:ext>
              </a:extLst>
            </p:cNvPr>
            <p:cNvSpPr/>
            <p:nvPr/>
          </p:nvSpPr>
          <p:spPr>
            <a:xfrm>
              <a:off x="1681133" y="5247861"/>
              <a:ext cx="1334683" cy="320285"/>
            </a:xfrm>
            <a:prstGeom prst="rect">
              <a:avLst/>
            </a:prstGeom>
            <a:solidFill>
              <a:srgbClr val="EDC0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18623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A7476-30C7-4CBC-840A-4CA376B59DD1}"/>
              </a:ext>
            </a:extLst>
          </p:cNvPr>
          <p:cNvSpPr>
            <a:spLocks noGrp="1"/>
          </p:cNvSpPr>
          <p:nvPr>
            <p:ph type="title"/>
          </p:nvPr>
        </p:nvSpPr>
        <p:spPr/>
        <p:txBody>
          <a:bodyPr/>
          <a:lstStyle/>
          <a:p>
            <a:r>
              <a:rPr lang="en-GB"/>
              <a:t>Resting membrane potential (voltage)</a:t>
            </a:r>
          </a:p>
        </p:txBody>
      </p:sp>
      <p:sp>
        <p:nvSpPr>
          <p:cNvPr id="3" name="Content Placeholder 2">
            <a:extLst>
              <a:ext uri="{FF2B5EF4-FFF2-40B4-BE49-F238E27FC236}">
                <a16:creationId xmlns:a16="http://schemas.microsoft.com/office/drawing/2014/main" id="{55AF8B97-7FFA-42EA-836A-B1875D10C3B7}"/>
              </a:ext>
            </a:extLst>
          </p:cNvPr>
          <p:cNvSpPr>
            <a:spLocks noGrp="1"/>
          </p:cNvSpPr>
          <p:nvPr>
            <p:ph idx="1"/>
          </p:nvPr>
        </p:nvSpPr>
        <p:spPr>
          <a:xfrm>
            <a:off x="236170" y="1289854"/>
            <a:ext cx="6631466" cy="4887109"/>
          </a:xfrm>
        </p:spPr>
        <p:txBody>
          <a:bodyPr>
            <a:normAutofit/>
          </a:bodyPr>
          <a:lstStyle/>
          <a:p>
            <a:r>
              <a:rPr lang="en-GB" sz="2000"/>
              <a:t>Ions will try to move according to the </a:t>
            </a:r>
            <a:r>
              <a:rPr lang="en-GB" sz="2000" b="1"/>
              <a:t>electrochemical gradient</a:t>
            </a:r>
            <a:endParaRPr lang="en-GB" sz="2000"/>
          </a:p>
          <a:p>
            <a:pPr lvl="1"/>
            <a:r>
              <a:rPr lang="en-GB" sz="1800" b="1"/>
              <a:t>Chemical</a:t>
            </a:r>
            <a:r>
              <a:rPr lang="en-GB" sz="1800"/>
              <a:t> concentration of ions</a:t>
            </a:r>
          </a:p>
          <a:p>
            <a:pPr lvl="1"/>
            <a:r>
              <a:rPr lang="en-GB" sz="1800"/>
              <a:t>Imbalance in + and – charges along the membrane (</a:t>
            </a:r>
            <a:r>
              <a:rPr lang="en-GB" sz="1800" b="1"/>
              <a:t>electric</a:t>
            </a:r>
            <a:r>
              <a:rPr lang="en-GB" sz="1800"/>
              <a:t> potential)</a:t>
            </a:r>
          </a:p>
          <a:p>
            <a:pPr marL="0" indent="0">
              <a:buNone/>
            </a:pPr>
            <a:endParaRPr lang="en-GB" sz="2000"/>
          </a:p>
          <a:p>
            <a:r>
              <a:rPr lang="en-GB" sz="2000" b="1"/>
              <a:t>Ion channels </a:t>
            </a:r>
            <a:r>
              <a:rPr lang="en-GB" sz="2000"/>
              <a:t>let ions pass according to the membrane potential</a:t>
            </a:r>
          </a:p>
          <a:p>
            <a:endParaRPr lang="en-GB" sz="2000"/>
          </a:p>
        </p:txBody>
      </p:sp>
      <p:sp>
        <p:nvSpPr>
          <p:cNvPr id="7" name="TextBox 6">
            <a:extLst>
              <a:ext uri="{FF2B5EF4-FFF2-40B4-BE49-F238E27FC236}">
                <a16:creationId xmlns:a16="http://schemas.microsoft.com/office/drawing/2014/main" id="{7F8961FE-674E-40C2-AD3D-78F23D922334}"/>
              </a:ext>
            </a:extLst>
          </p:cNvPr>
          <p:cNvSpPr txBox="1"/>
          <p:nvPr/>
        </p:nvSpPr>
        <p:spPr>
          <a:xfrm>
            <a:off x="763034" y="4979318"/>
            <a:ext cx="4348199" cy="1107996"/>
          </a:xfrm>
          <a:prstGeom prst="rect">
            <a:avLst/>
          </a:prstGeom>
          <a:noFill/>
          <a:ln>
            <a:solidFill>
              <a:schemeClr val="accent1">
                <a:lumMod val="75000"/>
              </a:schemeClr>
            </a:solidFill>
          </a:ln>
        </p:spPr>
        <p:txBody>
          <a:bodyPr wrap="square" rtlCol="0">
            <a:spAutoFit/>
          </a:bodyPr>
          <a:lstStyle/>
          <a:p>
            <a:pPr algn="ctr"/>
            <a:r>
              <a:rPr lang="en-GB" sz="2200"/>
              <a:t>The cell uses the electrochemical gradient to </a:t>
            </a:r>
            <a:r>
              <a:rPr lang="en-GB" sz="2200" b="1"/>
              <a:t>activate rapid mechanisms/signals</a:t>
            </a:r>
          </a:p>
        </p:txBody>
      </p:sp>
      <p:cxnSp>
        <p:nvCxnSpPr>
          <p:cNvPr id="15" name="Straight Arrow Connector 14">
            <a:extLst>
              <a:ext uri="{FF2B5EF4-FFF2-40B4-BE49-F238E27FC236}">
                <a16:creationId xmlns:a16="http://schemas.microsoft.com/office/drawing/2014/main" id="{B2BFBB44-9E1E-4102-BCA2-ED655DFCF289}"/>
              </a:ext>
            </a:extLst>
          </p:cNvPr>
          <p:cNvCxnSpPr>
            <a:cxnSpLocks/>
          </p:cNvCxnSpPr>
          <p:nvPr/>
        </p:nvCxnSpPr>
        <p:spPr>
          <a:xfrm>
            <a:off x="5360153" y="5525583"/>
            <a:ext cx="621553" cy="0"/>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69C40C24-2503-4F9D-2D92-18058925211D}"/>
              </a:ext>
            </a:extLst>
          </p:cNvPr>
          <p:cNvGrpSpPr/>
          <p:nvPr/>
        </p:nvGrpSpPr>
        <p:grpSpPr>
          <a:xfrm>
            <a:off x="6867636" y="1077104"/>
            <a:ext cx="4534526" cy="3555222"/>
            <a:chOff x="5505600" y="2883600"/>
            <a:chExt cx="4534526" cy="3555222"/>
          </a:xfrm>
        </p:grpSpPr>
        <p:pic>
          <p:nvPicPr>
            <p:cNvPr id="8" name="Picture 7" descr="A close up of a logo&#10;&#10;Description automatically generated">
              <a:extLst>
                <a:ext uri="{FF2B5EF4-FFF2-40B4-BE49-F238E27FC236}">
                  <a16:creationId xmlns:a16="http://schemas.microsoft.com/office/drawing/2014/main" id="{26ACEC9D-E6E4-4E9A-90FF-96DCA4CC10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5600" y="2883600"/>
              <a:ext cx="4534526" cy="3007156"/>
            </a:xfrm>
            <a:prstGeom prst="rect">
              <a:avLst/>
            </a:prstGeom>
          </p:spPr>
        </p:pic>
        <p:cxnSp>
          <p:nvCxnSpPr>
            <p:cNvPr id="12" name="Straight Arrow Connector 11">
              <a:extLst>
                <a:ext uri="{FF2B5EF4-FFF2-40B4-BE49-F238E27FC236}">
                  <a16:creationId xmlns:a16="http://schemas.microsoft.com/office/drawing/2014/main" id="{F299D1AB-9918-470E-9753-12D8D8813C72}"/>
                </a:ext>
              </a:extLst>
            </p:cNvPr>
            <p:cNvCxnSpPr/>
            <p:nvPr/>
          </p:nvCxnSpPr>
          <p:spPr>
            <a:xfrm>
              <a:off x="7645594" y="5409618"/>
              <a:ext cx="0" cy="621234"/>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A1DF251-0B29-4A48-9084-7F1455DCF5B4}"/>
                </a:ext>
              </a:extLst>
            </p:cNvPr>
            <p:cNvSpPr txBox="1"/>
            <p:nvPr/>
          </p:nvSpPr>
          <p:spPr>
            <a:xfrm>
              <a:off x="7422230" y="5095511"/>
              <a:ext cx="474650" cy="369332"/>
            </a:xfrm>
            <a:prstGeom prst="rect">
              <a:avLst/>
            </a:prstGeom>
            <a:noFill/>
          </p:spPr>
          <p:txBody>
            <a:bodyPr wrap="square" rtlCol="0">
              <a:spAutoFit/>
            </a:bodyPr>
            <a:lstStyle/>
            <a:p>
              <a:pPr algn="ctr"/>
              <a:r>
                <a:rPr lang="en-GB"/>
                <a:t>K</a:t>
              </a:r>
              <a:r>
                <a:rPr lang="en-GB" baseline="30000"/>
                <a:t>+</a:t>
              </a:r>
            </a:p>
          </p:txBody>
        </p:sp>
        <p:cxnSp>
          <p:nvCxnSpPr>
            <p:cNvPr id="14" name="Straight Arrow Connector 13">
              <a:extLst>
                <a:ext uri="{FF2B5EF4-FFF2-40B4-BE49-F238E27FC236}">
                  <a16:creationId xmlns:a16="http://schemas.microsoft.com/office/drawing/2014/main" id="{F116B5D8-4241-4ABA-87C9-54B30A4B33CE}"/>
                </a:ext>
              </a:extLst>
            </p:cNvPr>
            <p:cNvCxnSpPr>
              <a:cxnSpLocks/>
            </p:cNvCxnSpPr>
            <p:nvPr/>
          </p:nvCxnSpPr>
          <p:spPr>
            <a:xfrm flipV="1">
              <a:off x="8039973" y="5409495"/>
              <a:ext cx="0" cy="621234"/>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EAAF1FC-11F9-4C5A-8E1A-966B169B6425}"/>
                </a:ext>
              </a:extLst>
            </p:cNvPr>
            <p:cNvCxnSpPr>
              <a:cxnSpLocks/>
            </p:cNvCxnSpPr>
            <p:nvPr/>
          </p:nvCxnSpPr>
          <p:spPr>
            <a:xfrm flipV="1">
              <a:off x="8434352" y="5371949"/>
              <a:ext cx="0" cy="621234"/>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E4745B6-5A0E-4F82-ABC5-334D6CBCA6AC}"/>
                </a:ext>
              </a:extLst>
            </p:cNvPr>
            <p:cNvCxnSpPr>
              <a:cxnSpLocks/>
            </p:cNvCxnSpPr>
            <p:nvPr/>
          </p:nvCxnSpPr>
          <p:spPr>
            <a:xfrm flipV="1">
              <a:off x="8828730" y="5335202"/>
              <a:ext cx="0" cy="621234"/>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0B58CBF-DFD4-44D6-9503-D216059756B2}"/>
                </a:ext>
              </a:extLst>
            </p:cNvPr>
            <p:cNvSpPr txBox="1"/>
            <p:nvPr/>
          </p:nvSpPr>
          <p:spPr>
            <a:xfrm>
              <a:off x="7622328" y="6069490"/>
              <a:ext cx="672418" cy="369332"/>
            </a:xfrm>
            <a:prstGeom prst="rect">
              <a:avLst/>
            </a:prstGeom>
            <a:noFill/>
          </p:spPr>
          <p:txBody>
            <a:bodyPr wrap="square" rtlCol="0">
              <a:spAutoFit/>
            </a:bodyPr>
            <a:lstStyle/>
            <a:p>
              <a:pPr algn="ctr"/>
              <a:r>
                <a:rPr lang="en-GB"/>
                <a:t>Na</a:t>
              </a:r>
              <a:r>
                <a:rPr lang="en-GB" baseline="30000"/>
                <a:t>+</a:t>
              </a:r>
            </a:p>
          </p:txBody>
        </p:sp>
        <p:sp>
          <p:nvSpPr>
            <p:cNvPr id="19" name="TextBox 18">
              <a:extLst>
                <a:ext uri="{FF2B5EF4-FFF2-40B4-BE49-F238E27FC236}">
                  <a16:creationId xmlns:a16="http://schemas.microsoft.com/office/drawing/2014/main" id="{3151A5CE-5616-44D1-AF4D-CC81483B5BC2}"/>
                </a:ext>
              </a:extLst>
            </p:cNvPr>
            <p:cNvSpPr txBox="1"/>
            <p:nvPr/>
          </p:nvSpPr>
          <p:spPr>
            <a:xfrm>
              <a:off x="8098143" y="6031944"/>
              <a:ext cx="672418" cy="369332"/>
            </a:xfrm>
            <a:prstGeom prst="rect">
              <a:avLst/>
            </a:prstGeom>
            <a:noFill/>
          </p:spPr>
          <p:txBody>
            <a:bodyPr wrap="square" rtlCol="0">
              <a:spAutoFit/>
            </a:bodyPr>
            <a:lstStyle/>
            <a:p>
              <a:pPr algn="ctr"/>
              <a:r>
                <a:rPr lang="en-GB"/>
                <a:t>Ca</a:t>
              </a:r>
              <a:r>
                <a:rPr lang="en-GB" baseline="30000"/>
                <a:t>2+</a:t>
              </a:r>
            </a:p>
          </p:txBody>
        </p:sp>
        <p:sp>
          <p:nvSpPr>
            <p:cNvPr id="20" name="TextBox 19">
              <a:extLst>
                <a:ext uri="{FF2B5EF4-FFF2-40B4-BE49-F238E27FC236}">
                  <a16:creationId xmlns:a16="http://schemas.microsoft.com/office/drawing/2014/main" id="{93878E66-E30A-460C-BB58-9C93F46ADFDC}"/>
                </a:ext>
              </a:extLst>
            </p:cNvPr>
            <p:cNvSpPr txBox="1"/>
            <p:nvPr/>
          </p:nvSpPr>
          <p:spPr>
            <a:xfrm>
              <a:off x="8492521" y="5995197"/>
              <a:ext cx="672418" cy="369332"/>
            </a:xfrm>
            <a:prstGeom prst="rect">
              <a:avLst/>
            </a:prstGeom>
            <a:noFill/>
          </p:spPr>
          <p:txBody>
            <a:bodyPr wrap="square" rtlCol="0">
              <a:spAutoFit/>
            </a:bodyPr>
            <a:lstStyle/>
            <a:p>
              <a:pPr algn="ctr"/>
              <a:r>
                <a:rPr lang="en-GB"/>
                <a:t>Cl</a:t>
              </a:r>
              <a:r>
                <a:rPr lang="en-GB" baseline="30000"/>
                <a:t>-</a:t>
              </a:r>
            </a:p>
          </p:txBody>
        </p:sp>
      </p:grpSp>
      <p:sp>
        <p:nvSpPr>
          <p:cNvPr id="10" name="TextBox 9">
            <a:extLst>
              <a:ext uri="{FF2B5EF4-FFF2-40B4-BE49-F238E27FC236}">
                <a16:creationId xmlns:a16="http://schemas.microsoft.com/office/drawing/2014/main" id="{33A6EA06-512C-7A7F-304D-A18E15D8E5EB}"/>
              </a:ext>
            </a:extLst>
          </p:cNvPr>
          <p:cNvSpPr txBox="1"/>
          <p:nvPr/>
        </p:nvSpPr>
        <p:spPr>
          <a:xfrm>
            <a:off x="6209554" y="5117817"/>
            <a:ext cx="4592455" cy="830997"/>
          </a:xfrm>
          <a:prstGeom prst="rect">
            <a:avLst/>
          </a:prstGeom>
          <a:noFill/>
          <a:ln>
            <a:solidFill>
              <a:schemeClr val="accent1">
                <a:lumMod val="75000"/>
              </a:schemeClr>
            </a:solidFill>
          </a:ln>
        </p:spPr>
        <p:txBody>
          <a:bodyPr wrap="square" rtlCol="0">
            <a:spAutoFit/>
          </a:bodyPr>
          <a:lstStyle/>
          <a:p>
            <a:pPr algn="ctr"/>
            <a:r>
              <a:rPr lang="en-GB" sz="2400" b="1">
                <a:solidFill>
                  <a:srgbClr val="0070C0"/>
                </a:solidFill>
              </a:rPr>
              <a:t>The resting membrane potential is the battery of the cell!</a:t>
            </a:r>
          </a:p>
        </p:txBody>
      </p:sp>
    </p:spTree>
    <p:extLst>
      <p:ext uri="{BB962C8B-B14F-4D97-AF65-F5344CB8AC3E}">
        <p14:creationId xmlns:p14="http://schemas.microsoft.com/office/powerpoint/2010/main" val="1128970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A7476-30C7-4CBC-840A-4CA376B59DD1}"/>
              </a:ext>
            </a:extLst>
          </p:cNvPr>
          <p:cNvSpPr>
            <a:spLocks noGrp="1"/>
          </p:cNvSpPr>
          <p:nvPr>
            <p:ph type="title"/>
          </p:nvPr>
        </p:nvSpPr>
        <p:spPr/>
        <p:txBody>
          <a:bodyPr/>
          <a:lstStyle/>
          <a:p>
            <a:r>
              <a:rPr lang="en-GB"/>
              <a:t>Action potential</a:t>
            </a:r>
          </a:p>
        </p:txBody>
      </p:sp>
      <p:sp>
        <p:nvSpPr>
          <p:cNvPr id="3" name="Content Placeholder 2">
            <a:extLst>
              <a:ext uri="{FF2B5EF4-FFF2-40B4-BE49-F238E27FC236}">
                <a16:creationId xmlns:a16="http://schemas.microsoft.com/office/drawing/2014/main" id="{55AF8B97-7FFA-42EA-836A-B1875D10C3B7}"/>
              </a:ext>
            </a:extLst>
          </p:cNvPr>
          <p:cNvSpPr>
            <a:spLocks noGrp="1"/>
          </p:cNvSpPr>
          <p:nvPr>
            <p:ph idx="1"/>
          </p:nvPr>
        </p:nvSpPr>
        <p:spPr>
          <a:xfrm>
            <a:off x="838200" y="1465199"/>
            <a:ext cx="5257800" cy="4905783"/>
          </a:xfrm>
        </p:spPr>
        <p:txBody>
          <a:bodyPr>
            <a:normAutofit/>
          </a:bodyPr>
          <a:lstStyle/>
          <a:p>
            <a:r>
              <a:rPr lang="en-GB"/>
              <a:t>At resting membrane potential</a:t>
            </a:r>
          </a:p>
          <a:p>
            <a:pPr lvl="1"/>
            <a:r>
              <a:rPr lang="en-GB"/>
              <a:t>Na</a:t>
            </a:r>
            <a:r>
              <a:rPr lang="en-GB" baseline="30000"/>
              <a:t>+</a:t>
            </a:r>
            <a:r>
              <a:rPr lang="en-GB"/>
              <a:t> and K</a:t>
            </a:r>
            <a:r>
              <a:rPr lang="en-GB" baseline="30000"/>
              <a:t>+</a:t>
            </a:r>
            <a:r>
              <a:rPr lang="en-GB"/>
              <a:t> channels are </a:t>
            </a:r>
            <a:r>
              <a:rPr lang="en-GB" b="1"/>
              <a:t>closed</a:t>
            </a:r>
          </a:p>
          <a:p>
            <a:endParaRPr lang="en-GB" b="1">
              <a:solidFill>
                <a:schemeClr val="bg1">
                  <a:lumMod val="65000"/>
                </a:schemeClr>
              </a:solidFill>
            </a:endParaRPr>
          </a:p>
          <a:p>
            <a:r>
              <a:rPr lang="en-GB" b="1">
                <a:solidFill>
                  <a:schemeClr val="bg1">
                    <a:lumMod val="65000"/>
                  </a:schemeClr>
                </a:solidFill>
              </a:rPr>
              <a:t>Stimuli </a:t>
            </a:r>
            <a:r>
              <a:rPr lang="en-GB">
                <a:solidFill>
                  <a:schemeClr val="bg1">
                    <a:lumMod val="65000"/>
                  </a:schemeClr>
                </a:solidFill>
              </a:rPr>
              <a:t>positively increase the membrane potential (voltage) (</a:t>
            </a:r>
            <a:r>
              <a:rPr lang="en-GB" b="1">
                <a:solidFill>
                  <a:schemeClr val="bg1">
                    <a:lumMod val="65000"/>
                  </a:schemeClr>
                </a:solidFill>
              </a:rPr>
              <a:t>depolarization</a:t>
            </a:r>
            <a:r>
              <a:rPr lang="en-GB">
                <a:solidFill>
                  <a:schemeClr val="bg1">
                    <a:lumMod val="65000"/>
                  </a:schemeClr>
                </a:solidFill>
              </a:rPr>
              <a:t>)</a:t>
            </a:r>
          </a:p>
          <a:p>
            <a:endParaRPr lang="en-GB">
              <a:solidFill>
                <a:schemeClr val="bg1">
                  <a:lumMod val="65000"/>
                </a:schemeClr>
              </a:solidFill>
            </a:endParaRPr>
          </a:p>
          <a:p>
            <a:r>
              <a:rPr lang="en-GB">
                <a:solidFill>
                  <a:schemeClr val="bg1">
                    <a:lumMod val="65000"/>
                  </a:schemeClr>
                </a:solidFill>
              </a:rPr>
              <a:t>Upon reaching a voltage </a:t>
            </a:r>
            <a:r>
              <a:rPr lang="en-GB" b="1">
                <a:solidFill>
                  <a:schemeClr val="bg1">
                    <a:lumMod val="65000"/>
                  </a:schemeClr>
                </a:solidFill>
              </a:rPr>
              <a:t>threshold</a:t>
            </a:r>
            <a:r>
              <a:rPr lang="en-GB">
                <a:solidFill>
                  <a:schemeClr val="bg1">
                    <a:lumMod val="65000"/>
                  </a:schemeClr>
                </a:solidFill>
              </a:rPr>
              <a:t>, </a:t>
            </a:r>
            <a:r>
              <a:rPr lang="en-GB" b="1">
                <a:solidFill>
                  <a:schemeClr val="bg1">
                    <a:lumMod val="65000"/>
                  </a:schemeClr>
                </a:solidFill>
              </a:rPr>
              <a:t>Na</a:t>
            </a:r>
            <a:r>
              <a:rPr lang="en-GB" b="1" baseline="30000">
                <a:solidFill>
                  <a:schemeClr val="bg1">
                    <a:lumMod val="65000"/>
                  </a:schemeClr>
                </a:solidFill>
              </a:rPr>
              <a:t>+</a:t>
            </a:r>
            <a:r>
              <a:rPr lang="en-GB" b="1">
                <a:solidFill>
                  <a:schemeClr val="bg1">
                    <a:lumMod val="65000"/>
                  </a:schemeClr>
                </a:solidFill>
              </a:rPr>
              <a:t> channels open</a:t>
            </a:r>
          </a:p>
          <a:p>
            <a:pPr lvl="1"/>
            <a:r>
              <a:rPr lang="en-GB">
                <a:solidFill>
                  <a:schemeClr val="bg1">
                    <a:lumMod val="65000"/>
                  </a:schemeClr>
                </a:solidFill>
              </a:rPr>
              <a:t>Massive </a:t>
            </a:r>
            <a:r>
              <a:rPr lang="en-GB" b="1">
                <a:solidFill>
                  <a:schemeClr val="bg1">
                    <a:lumMod val="65000"/>
                  </a:schemeClr>
                </a:solidFill>
              </a:rPr>
              <a:t>flow of Na</a:t>
            </a:r>
            <a:r>
              <a:rPr lang="en-GB" b="1" baseline="30000">
                <a:solidFill>
                  <a:schemeClr val="bg1">
                    <a:lumMod val="65000"/>
                  </a:schemeClr>
                </a:solidFill>
              </a:rPr>
              <a:t>+</a:t>
            </a:r>
            <a:r>
              <a:rPr lang="en-GB" b="1">
                <a:solidFill>
                  <a:schemeClr val="bg1">
                    <a:lumMod val="65000"/>
                  </a:schemeClr>
                </a:solidFill>
              </a:rPr>
              <a:t> ions inside the cell </a:t>
            </a:r>
            <a:r>
              <a:rPr lang="en-GB">
                <a:solidFill>
                  <a:schemeClr val="bg1">
                    <a:lumMod val="65000"/>
                  </a:schemeClr>
                </a:solidFill>
              </a:rPr>
              <a:t>depolarizes even more the membrane potential</a:t>
            </a:r>
          </a:p>
          <a:p>
            <a:endParaRPr lang="en-GB">
              <a:solidFill>
                <a:schemeClr val="bg1">
                  <a:lumMod val="65000"/>
                </a:schemeClr>
              </a:solidFill>
            </a:endParaRPr>
          </a:p>
          <a:p>
            <a:r>
              <a:rPr lang="en-GB">
                <a:solidFill>
                  <a:schemeClr val="bg1">
                    <a:lumMod val="65000"/>
                  </a:schemeClr>
                </a:solidFill>
              </a:rPr>
              <a:t>Further depolarization </a:t>
            </a:r>
            <a:r>
              <a:rPr lang="en-GB" b="1">
                <a:solidFill>
                  <a:schemeClr val="bg1">
                    <a:lumMod val="65000"/>
                  </a:schemeClr>
                </a:solidFill>
              </a:rPr>
              <a:t>opens K</a:t>
            </a:r>
            <a:r>
              <a:rPr lang="en-GB" b="1" baseline="30000">
                <a:solidFill>
                  <a:schemeClr val="bg1">
                    <a:lumMod val="65000"/>
                  </a:schemeClr>
                </a:solidFill>
              </a:rPr>
              <a:t>+</a:t>
            </a:r>
            <a:r>
              <a:rPr lang="en-GB" b="1">
                <a:solidFill>
                  <a:schemeClr val="bg1">
                    <a:lumMod val="65000"/>
                  </a:schemeClr>
                </a:solidFill>
              </a:rPr>
              <a:t> channels</a:t>
            </a:r>
          </a:p>
          <a:p>
            <a:pPr lvl="1"/>
            <a:r>
              <a:rPr lang="en-GB" b="1">
                <a:solidFill>
                  <a:schemeClr val="bg1">
                    <a:lumMod val="65000"/>
                  </a:schemeClr>
                </a:solidFill>
              </a:rPr>
              <a:t>Flow of K</a:t>
            </a:r>
            <a:r>
              <a:rPr lang="en-GB" b="1" baseline="30000">
                <a:solidFill>
                  <a:schemeClr val="bg1">
                    <a:lumMod val="65000"/>
                  </a:schemeClr>
                </a:solidFill>
              </a:rPr>
              <a:t>+</a:t>
            </a:r>
            <a:r>
              <a:rPr lang="en-GB" b="1">
                <a:solidFill>
                  <a:schemeClr val="bg1">
                    <a:lumMod val="65000"/>
                  </a:schemeClr>
                </a:solidFill>
              </a:rPr>
              <a:t> ions outside the cell </a:t>
            </a:r>
            <a:r>
              <a:rPr lang="en-GB">
                <a:solidFill>
                  <a:schemeClr val="bg1">
                    <a:lumMod val="65000"/>
                  </a:schemeClr>
                </a:solidFill>
              </a:rPr>
              <a:t>reduces negatively the membrane potential (repolarization + hyperpolarization)</a:t>
            </a:r>
          </a:p>
        </p:txBody>
      </p:sp>
      <p:pic>
        <p:nvPicPr>
          <p:cNvPr id="5124" name="Picture 4" descr="The resting membrane potential of minus seventy volts is maintained by a sodium/potassium transporter that transports sodium ions out of the cell and potassium ions in. Voltage gated sodium and potassium channels are closed. In response to a nerve impulse, some sodium channels open, allowing sodium ions to enter the cell. The membrane starts to depolarize; in other words, the charge across the membrane lessens. If the membrane potential increases to the threshold of excitation, all the sodium channels open. At the peak action potential, potassium channels open and potassium ions leave the cell. The membrane eventually becomes hyperpolarized.">
            <a:extLst>
              <a:ext uri="{FF2B5EF4-FFF2-40B4-BE49-F238E27FC236}">
                <a16:creationId xmlns:a16="http://schemas.microsoft.com/office/drawing/2014/main" id="{CF152131-DFE9-4FFF-BC5E-077A8FCC44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7234122" y="855137"/>
            <a:ext cx="3995124" cy="56586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02C45AD-8A74-4343-8B04-26D61BA278A8}"/>
              </a:ext>
            </a:extLst>
          </p:cNvPr>
          <p:cNvSpPr txBox="1"/>
          <p:nvPr/>
        </p:nvSpPr>
        <p:spPr>
          <a:xfrm>
            <a:off x="6614621" y="6513802"/>
            <a:ext cx="5234125"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110004020202020204"/>
                <a:ea typeface="+mn-ea"/>
                <a:cs typeface="+mn-cs"/>
              </a:rPr>
              <a:t>https://courses.lumenlearning.com/wm-biology2/chapter/resting-membrane-potential/</a:t>
            </a:r>
          </a:p>
        </p:txBody>
      </p:sp>
      <p:pic>
        <p:nvPicPr>
          <p:cNvPr id="6" name="Picture 4" descr="The resting membrane potential of minus seventy volts is maintained by a sodium/potassium transporter that transports sodium ions out of the cell and potassium ions in. Voltage gated sodium and potassium channels are closed. In response to a nerve impulse, some sodium channels open, allowing sodium ions to enter the cell. The membrane starts to depolarize; in other words, the charge across the membrane lessens. If the membrane potential increases to the threshold of excitation, all the sodium channels open. At the peak action potential, potassium channels open and potassium ions leave the cell. The membrane eventually becomes hyperpolarized.">
            <a:extLst>
              <a:ext uri="{FF2B5EF4-FFF2-40B4-BE49-F238E27FC236}">
                <a16:creationId xmlns:a16="http://schemas.microsoft.com/office/drawing/2014/main" id="{B83B5DFA-1396-475D-92D7-E20EF30A8E62}"/>
              </a:ext>
            </a:extLst>
          </p:cNvPr>
          <p:cNvPicPr>
            <a:picLocks noChangeAspect="1" noChangeArrowheads="1"/>
          </p:cNvPicPr>
          <p:nvPr/>
        </p:nvPicPr>
        <p:blipFill rotWithShape="1">
          <a:blip r:embed="rId2">
            <a:grayscl/>
            <a:extLst>
              <a:ext uri="{28A0092B-C50C-407E-A947-70E740481C1C}">
                <a14:useLocalDpi xmlns:a14="http://schemas.microsoft.com/office/drawing/2010/main" val="0"/>
              </a:ext>
            </a:extLst>
          </a:blip>
          <a:srcRect t="67352"/>
          <a:stretch/>
        </p:blipFill>
        <p:spPr bwMode="auto">
          <a:xfrm>
            <a:off x="7234122" y="4666343"/>
            <a:ext cx="3995124" cy="184745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The resting membrane potential of minus seventy volts is maintained by a sodium/potassium transporter that transports sodium ions out of the cell and potassium ions in. Voltage gated sodium and potassium channels are closed. In response to a nerve impulse, some sodium channels open, allowing sodium ions to enter the cell. The membrane starts to depolarize; in other words, the charge across the membrane lessens. If the membrane potential increases to the threshold of excitation, all the sodium channels open. At the peak action potential, potassium channels open and potassium ions leave the cell. The membrane eventually becomes hyperpolarized.">
            <a:extLst>
              <a:ext uri="{FF2B5EF4-FFF2-40B4-BE49-F238E27FC236}">
                <a16:creationId xmlns:a16="http://schemas.microsoft.com/office/drawing/2014/main" id="{426E2DB1-DF91-4955-A7BB-A50E5E185AF5}"/>
              </a:ext>
            </a:extLst>
          </p:cNvPr>
          <p:cNvPicPr>
            <a:picLocks noChangeAspect="1" noChangeArrowheads="1"/>
          </p:cNvPicPr>
          <p:nvPr/>
        </p:nvPicPr>
        <p:blipFill rotWithShape="1">
          <a:blip r:embed="rId2">
            <a:grayscl/>
            <a:extLst>
              <a:ext uri="{28A0092B-C50C-407E-A947-70E740481C1C}">
                <a14:useLocalDpi xmlns:a14="http://schemas.microsoft.com/office/drawing/2010/main" val="0"/>
              </a:ext>
            </a:extLst>
          </a:blip>
          <a:srcRect t="33750" b="33601"/>
          <a:stretch/>
        </p:blipFill>
        <p:spPr bwMode="auto">
          <a:xfrm>
            <a:off x="7234122" y="2764971"/>
            <a:ext cx="3995124" cy="184745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The resting membrane potential of minus seventy volts is maintained by a sodium/potassium transporter that transports sodium ions out of the cell and potassium ions in. Voltage gated sodium and potassium channels are closed. In response to a nerve impulse, some sodium channels open, allowing sodium ions to enter the cell. The membrane starts to depolarize; in other words, the charge across the membrane lessens. If the membrane potential increases to the threshold of excitation, all the sodium channels open. At the peak action potential, potassium channels open and potassium ions leave the cell. The membrane eventually becomes hyperpolarized.">
            <a:extLst>
              <a:ext uri="{FF2B5EF4-FFF2-40B4-BE49-F238E27FC236}">
                <a16:creationId xmlns:a16="http://schemas.microsoft.com/office/drawing/2014/main" id="{EC6D286E-D43E-414A-8950-11B00933BFAF}"/>
              </a:ext>
            </a:extLst>
          </p:cNvPr>
          <p:cNvPicPr>
            <a:picLocks noChangeAspect="1" noChangeArrowheads="1"/>
          </p:cNvPicPr>
          <p:nvPr/>
        </p:nvPicPr>
        <p:blipFill rotWithShape="1">
          <a:blip r:embed="rId2">
            <a:grayscl/>
            <a:extLst>
              <a:ext uri="{28A0092B-C50C-407E-A947-70E740481C1C}">
                <a14:useLocalDpi xmlns:a14="http://schemas.microsoft.com/office/drawing/2010/main" val="0"/>
              </a:ext>
            </a:extLst>
          </a:blip>
          <a:srcRect b="67202"/>
          <a:stretch/>
        </p:blipFill>
        <p:spPr bwMode="auto">
          <a:xfrm>
            <a:off x="7234122" y="855135"/>
            <a:ext cx="3995124" cy="1855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3502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3" end="3"/>
                                            </p:txEl>
                                          </p:spTgt>
                                        </p:tgtEl>
                                        <p:attrNameLst>
                                          <p:attrName>style.color</p:attrName>
                                        </p:attrNameLst>
                                      </p:cBhvr>
                                      <p:to>
                                        <a:srgbClr val="000000"/>
                                      </p:to>
                                    </p:animClr>
                                    <p:animClr clrSpc="rgb" dir="cw">
                                      <p:cBhvr>
                                        <p:cTn id="7" dur="500" fill="hold"/>
                                        <p:tgtEl>
                                          <p:spTgt spid="3">
                                            <p:txEl>
                                              <p:pRg st="3" end="3"/>
                                            </p:txEl>
                                          </p:spTgt>
                                        </p:tgtEl>
                                        <p:attrNameLst>
                                          <p:attrName>fillcolor</p:attrName>
                                        </p:attrNameLst>
                                      </p:cBhvr>
                                      <p:to>
                                        <a:srgbClr val="000000"/>
                                      </p:to>
                                    </p:animClr>
                                    <p:set>
                                      <p:cBhvr>
                                        <p:cTn id="8" dur="500" fill="hold"/>
                                        <p:tgtEl>
                                          <p:spTgt spid="3">
                                            <p:txEl>
                                              <p:pRg st="3" end="3"/>
                                            </p:txEl>
                                          </p:spTgt>
                                        </p:tgtEl>
                                        <p:attrNameLst>
                                          <p:attrName>fill.type</p:attrName>
                                        </p:attrNameLst>
                                      </p:cBhvr>
                                      <p:to>
                                        <p:strVal val="solid"/>
                                      </p:to>
                                    </p:set>
                                    <p:set>
                                      <p:cBhvr>
                                        <p:cTn id="9" dur="500" fill="hold"/>
                                        <p:tgtEl>
                                          <p:spTgt spid="3">
                                            <p:txEl>
                                              <p:pRg st="3" end="3"/>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3">
                                            <p:txEl>
                                              <p:pRg st="5" end="5"/>
                                            </p:txEl>
                                          </p:spTgt>
                                        </p:tgtEl>
                                        <p:attrNameLst>
                                          <p:attrName>style.color</p:attrName>
                                        </p:attrNameLst>
                                      </p:cBhvr>
                                      <p:to>
                                        <a:srgbClr val="000000"/>
                                      </p:to>
                                    </p:animClr>
                                    <p:animClr clrSpc="rgb" dir="cw">
                                      <p:cBhvr>
                                        <p:cTn id="14" dur="500" fill="hold"/>
                                        <p:tgtEl>
                                          <p:spTgt spid="3">
                                            <p:txEl>
                                              <p:pRg st="5" end="5"/>
                                            </p:txEl>
                                          </p:spTgt>
                                        </p:tgtEl>
                                        <p:attrNameLst>
                                          <p:attrName>fillcolor</p:attrName>
                                        </p:attrNameLst>
                                      </p:cBhvr>
                                      <p:to>
                                        <a:srgbClr val="000000"/>
                                      </p:to>
                                    </p:animClr>
                                    <p:set>
                                      <p:cBhvr>
                                        <p:cTn id="15" dur="500" fill="hold"/>
                                        <p:tgtEl>
                                          <p:spTgt spid="3">
                                            <p:txEl>
                                              <p:pRg st="5" end="5"/>
                                            </p:txEl>
                                          </p:spTgt>
                                        </p:tgtEl>
                                        <p:attrNameLst>
                                          <p:attrName>fill.type</p:attrName>
                                        </p:attrNameLst>
                                      </p:cBhvr>
                                      <p:to>
                                        <p:strVal val="solid"/>
                                      </p:to>
                                    </p:set>
                                    <p:set>
                                      <p:cBhvr>
                                        <p:cTn id="16" dur="500" fill="hold"/>
                                        <p:tgtEl>
                                          <p:spTgt spid="3">
                                            <p:txEl>
                                              <p:pRg st="5" end="5"/>
                                            </p:txEl>
                                          </p:spTgt>
                                        </p:tgtEl>
                                        <p:attrNameLst>
                                          <p:attrName>fill.on</p:attrName>
                                        </p:attrNameLst>
                                      </p:cBhvr>
                                      <p:to>
                                        <p:strVal val="true"/>
                                      </p:to>
                                    </p:set>
                                  </p:childTnLst>
                                </p:cTn>
                              </p:par>
                              <p:par>
                                <p:cTn id="17" presetID="19" presetClass="emph" presetSubtype="0" fill="hold" nodeType="withEffect">
                                  <p:stCondLst>
                                    <p:cond delay="0"/>
                                  </p:stCondLst>
                                  <p:childTnLst>
                                    <p:animClr clrSpc="rgb" dir="cw">
                                      <p:cBhvr override="childStyle">
                                        <p:cTn id="18" dur="500" fill="hold"/>
                                        <p:tgtEl>
                                          <p:spTgt spid="3">
                                            <p:txEl>
                                              <p:pRg st="6" end="6"/>
                                            </p:txEl>
                                          </p:spTgt>
                                        </p:tgtEl>
                                        <p:attrNameLst>
                                          <p:attrName>style.color</p:attrName>
                                        </p:attrNameLst>
                                      </p:cBhvr>
                                      <p:to>
                                        <a:srgbClr val="000000"/>
                                      </p:to>
                                    </p:animClr>
                                    <p:animClr clrSpc="rgb" dir="cw">
                                      <p:cBhvr>
                                        <p:cTn id="19" dur="500" fill="hold"/>
                                        <p:tgtEl>
                                          <p:spTgt spid="3">
                                            <p:txEl>
                                              <p:pRg st="6" end="6"/>
                                            </p:txEl>
                                          </p:spTgt>
                                        </p:tgtEl>
                                        <p:attrNameLst>
                                          <p:attrName>fillcolor</p:attrName>
                                        </p:attrNameLst>
                                      </p:cBhvr>
                                      <p:to>
                                        <a:srgbClr val="000000"/>
                                      </p:to>
                                    </p:animClr>
                                    <p:set>
                                      <p:cBhvr>
                                        <p:cTn id="20" dur="500" fill="hold"/>
                                        <p:tgtEl>
                                          <p:spTgt spid="3">
                                            <p:txEl>
                                              <p:pRg st="6" end="6"/>
                                            </p:txEl>
                                          </p:spTgt>
                                        </p:tgtEl>
                                        <p:attrNameLst>
                                          <p:attrName>fill.type</p:attrName>
                                        </p:attrNameLst>
                                      </p:cBhvr>
                                      <p:to>
                                        <p:strVal val="solid"/>
                                      </p:to>
                                    </p:set>
                                    <p:set>
                                      <p:cBhvr>
                                        <p:cTn id="21" dur="500" fill="hold"/>
                                        <p:tgtEl>
                                          <p:spTgt spid="3">
                                            <p:txEl>
                                              <p:pRg st="6" end="6"/>
                                            </p:txEl>
                                          </p:spTgt>
                                        </p:tgtEl>
                                        <p:attrNameLst>
                                          <p:attrName>fill.on</p:attrName>
                                        </p:attrNameLst>
                                      </p:cBhvr>
                                      <p:to>
                                        <p:strVal val="true"/>
                                      </p:to>
                                    </p:set>
                                  </p:childTnLst>
                                </p:cTn>
                              </p:par>
                              <p:par>
                                <p:cTn id="22" presetID="19" presetClass="emph" presetSubtype="0" fill="hold" nodeType="withEffect">
                                  <p:stCondLst>
                                    <p:cond delay="0"/>
                                  </p:stCondLst>
                                  <p:childTnLst>
                                    <p:animClr clrSpc="rgb" dir="cw">
                                      <p:cBhvr override="childStyle">
                                        <p:cTn id="23" dur="500" fill="hold"/>
                                        <p:tgtEl>
                                          <p:spTgt spid="3">
                                            <p:txEl>
                                              <p:pRg st="0" end="0"/>
                                            </p:txEl>
                                          </p:spTgt>
                                        </p:tgtEl>
                                        <p:attrNameLst>
                                          <p:attrName>style.color</p:attrName>
                                        </p:attrNameLst>
                                      </p:cBhvr>
                                      <p:to>
                                        <a:srgbClr val="A5A5A5"/>
                                      </p:to>
                                    </p:animClr>
                                    <p:animClr clrSpc="rgb" dir="cw">
                                      <p:cBhvr>
                                        <p:cTn id="24" dur="500" fill="hold"/>
                                        <p:tgtEl>
                                          <p:spTgt spid="3">
                                            <p:txEl>
                                              <p:pRg st="0" end="0"/>
                                            </p:txEl>
                                          </p:spTgt>
                                        </p:tgtEl>
                                        <p:attrNameLst>
                                          <p:attrName>fillcolor</p:attrName>
                                        </p:attrNameLst>
                                      </p:cBhvr>
                                      <p:to>
                                        <a:srgbClr val="A5A5A5"/>
                                      </p:to>
                                    </p:animClr>
                                    <p:set>
                                      <p:cBhvr>
                                        <p:cTn id="25" dur="500" fill="hold"/>
                                        <p:tgtEl>
                                          <p:spTgt spid="3">
                                            <p:txEl>
                                              <p:pRg st="0" end="0"/>
                                            </p:txEl>
                                          </p:spTgt>
                                        </p:tgtEl>
                                        <p:attrNameLst>
                                          <p:attrName>fill.type</p:attrName>
                                        </p:attrNameLst>
                                      </p:cBhvr>
                                      <p:to>
                                        <p:strVal val="solid"/>
                                      </p:to>
                                    </p:set>
                                    <p:set>
                                      <p:cBhvr>
                                        <p:cTn id="26" dur="500" fill="hold"/>
                                        <p:tgtEl>
                                          <p:spTgt spid="3">
                                            <p:txEl>
                                              <p:pRg st="0" end="0"/>
                                            </p:txEl>
                                          </p:spTgt>
                                        </p:tgtEl>
                                        <p:attrNameLst>
                                          <p:attrName>fill.on</p:attrName>
                                        </p:attrNameLst>
                                      </p:cBhvr>
                                      <p:to>
                                        <p:strVal val="true"/>
                                      </p:to>
                                    </p:set>
                                  </p:childTnLst>
                                </p:cTn>
                              </p:par>
                              <p:par>
                                <p:cTn id="27" presetID="19" presetClass="emph" presetSubtype="0" fill="hold" nodeType="withEffect">
                                  <p:stCondLst>
                                    <p:cond delay="0"/>
                                  </p:stCondLst>
                                  <p:childTnLst>
                                    <p:animClr clrSpc="rgb" dir="cw">
                                      <p:cBhvr override="childStyle">
                                        <p:cTn id="28" dur="500" fill="hold"/>
                                        <p:tgtEl>
                                          <p:spTgt spid="3">
                                            <p:txEl>
                                              <p:pRg st="1" end="1"/>
                                            </p:txEl>
                                          </p:spTgt>
                                        </p:tgtEl>
                                        <p:attrNameLst>
                                          <p:attrName>style.color</p:attrName>
                                        </p:attrNameLst>
                                      </p:cBhvr>
                                      <p:to>
                                        <a:srgbClr val="A5A5A5"/>
                                      </p:to>
                                    </p:animClr>
                                    <p:animClr clrSpc="rgb" dir="cw">
                                      <p:cBhvr>
                                        <p:cTn id="29" dur="500" fill="hold"/>
                                        <p:tgtEl>
                                          <p:spTgt spid="3">
                                            <p:txEl>
                                              <p:pRg st="1" end="1"/>
                                            </p:txEl>
                                          </p:spTgt>
                                        </p:tgtEl>
                                        <p:attrNameLst>
                                          <p:attrName>fillcolor</p:attrName>
                                        </p:attrNameLst>
                                      </p:cBhvr>
                                      <p:to>
                                        <a:srgbClr val="A5A5A5"/>
                                      </p:to>
                                    </p:animClr>
                                    <p:set>
                                      <p:cBhvr>
                                        <p:cTn id="30" dur="500" fill="hold"/>
                                        <p:tgtEl>
                                          <p:spTgt spid="3">
                                            <p:txEl>
                                              <p:pRg st="1" end="1"/>
                                            </p:txEl>
                                          </p:spTgt>
                                        </p:tgtEl>
                                        <p:attrNameLst>
                                          <p:attrName>fill.type</p:attrName>
                                        </p:attrNameLst>
                                      </p:cBhvr>
                                      <p:to>
                                        <p:strVal val="solid"/>
                                      </p:to>
                                    </p:set>
                                    <p:set>
                                      <p:cBhvr>
                                        <p:cTn id="31" dur="500" fill="hold"/>
                                        <p:tgtEl>
                                          <p:spTgt spid="3">
                                            <p:txEl>
                                              <p:pRg st="1" end="1"/>
                                            </p:txEl>
                                          </p:spTgt>
                                        </p:tgtEl>
                                        <p:attrNameLst>
                                          <p:attrName>fill.on</p:attrName>
                                        </p:attrNameLst>
                                      </p:cBhvr>
                                      <p:to>
                                        <p:strVal val="true"/>
                                      </p:to>
                                    </p:set>
                                  </p:childTnLst>
                                </p:cTn>
                              </p:par>
                              <p:par>
                                <p:cTn id="32" presetID="1"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childTnLst>
                                </p:cTn>
                              </p:par>
                              <p:par>
                                <p:cTn id="34" presetID="1" presetClass="exit" presetSubtype="0" fill="hold" nodeType="withEffect">
                                  <p:stCondLst>
                                    <p:cond delay="0"/>
                                  </p:stCondLst>
                                  <p:childTnLst>
                                    <p:set>
                                      <p:cBhvr>
                                        <p:cTn id="35" dur="1" fill="hold">
                                          <p:stCondLst>
                                            <p:cond delay="0"/>
                                          </p:stCondLst>
                                        </p:cTn>
                                        <p:tgtEl>
                                          <p:spTgt spid="7"/>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9" presetClass="emph" presetSubtype="0" fill="hold" nodeType="clickEffect">
                                  <p:stCondLst>
                                    <p:cond delay="0"/>
                                  </p:stCondLst>
                                  <p:childTnLst>
                                    <p:animClr clrSpc="rgb" dir="cw">
                                      <p:cBhvr override="childStyle">
                                        <p:cTn id="39" dur="500" fill="hold"/>
                                        <p:tgtEl>
                                          <p:spTgt spid="3">
                                            <p:txEl>
                                              <p:pRg st="8" end="8"/>
                                            </p:txEl>
                                          </p:spTgt>
                                        </p:tgtEl>
                                        <p:attrNameLst>
                                          <p:attrName>style.color</p:attrName>
                                        </p:attrNameLst>
                                      </p:cBhvr>
                                      <p:to>
                                        <a:srgbClr val="000000"/>
                                      </p:to>
                                    </p:animClr>
                                    <p:animClr clrSpc="rgb" dir="cw">
                                      <p:cBhvr>
                                        <p:cTn id="40" dur="500" fill="hold"/>
                                        <p:tgtEl>
                                          <p:spTgt spid="3">
                                            <p:txEl>
                                              <p:pRg st="8" end="8"/>
                                            </p:txEl>
                                          </p:spTgt>
                                        </p:tgtEl>
                                        <p:attrNameLst>
                                          <p:attrName>fillcolor</p:attrName>
                                        </p:attrNameLst>
                                      </p:cBhvr>
                                      <p:to>
                                        <a:srgbClr val="000000"/>
                                      </p:to>
                                    </p:animClr>
                                    <p:set>
                                      <p:cBhvr>
                                        <p:cTn id="41" dur="500" fill="hold"/>
                                        <p:tgtEl>
                                          <p:spTgt spid="3">
                                            <p:txEl>
                                              <p:pRg st="8" end="8"/>
                                            </p:txEl>
                                          </p:spTgt>
                                        </p:tgtEl>
                                        <p:attrNameLst>
                                          <p:attrName>fill.type</p:attrName>
                                        </p:attrNameLst>
                                      </p:cBhvr>
                                      <p:to>
                                        <p:strVal val="solid"/>
                                      </p:to>
                                    </p:set>
                                    <p:set>
                                      <p:cBhvr>
                                        <p:cTn id="42" dur="500" fill="hold"/>
                                        <p:tgtEl>
                                          <p:spTgt spid="3">
                                            <p:txEl>
                                              <p:pRg st="8" end="8"/>
                                            </p:txEl>
                                          </p:spTgt>
                                        </p:tgtEl>
                                        <p:attrNameLst>
                                          <p:attrName>fill.on</p:attrName>
                                        </p:attrNameLst>
                                      </p:cBhvr>
                                      <p:to>
                                        <p:strVal val="true"/>
                                      </p:to>
                                    </p:set>
                                  </p:childTnLst>
                                </p:cTn>
                              </p:par>
                              <p:par>
                                <p:cTn id="43" presetID="19" presetClass="emph" presetSubtype="0" fill="hold" nodeType="withEffect">
                                  <p:stCondLst>
                                    <p:cond delay="0"/>
                                  </p:stCondLst>
                                  <p:childTnLst>
                                    <p:animClr clrSpc="rgb" dir="cw">
                                      <p:cBhvr override="childStyle">
                                        <p:cTn id="44" dur="500" fill="hold"/>
                                        <p:tgtEl>
                                          <p:spTgt spid="3">
                                            <p:txEl>
                                              <p:pRg st="9" end="9"/>
                                            </p:txEl>
                                          </p:spTgt>
                                        </p:tgtEl>
                                        <p:attrNameLst>
                                          <p:attrName>style.color</p:attrName>
                                        </p:attrNameLst>
                                      </p:cBhvr>
                                      <p:to>
                                        <a:srgbClr val="000000"/>
                                      </p:to>
                                    </p:animClr>
                                    <p:animClr clrSpc="rgb" dir="cw">
                                      <p:cBhvr>
                                        <p:cTn id="45" dur="500" fill="hold"/>
                                        <p:tgtEl>
                                          <p:spTgt spid="3">
                                            <p:txEl>
                                              <p:pRg st="9" end="9"/>
                                            </p:txEl>
                                          </p:spTgt>
                                        </p:tgtEl>
                                        <p:attrNameLst>
                                          <p:attrName>fillcolor</p:attrName>
                                        </p:attrNameLst>
                                      </p:cBhvr>
                                      <p:to>
                                        <a:srgbClr val="000000"/>
                                      </p:to>
                                    </p:animClr>
                                    <p:set>
                                      <p:cBhvr>
                                        <p:cTn id="46" dur="500" fill="hold"/>
                                        <p:tgtEl>
                                          <p:spTgt spid="3">
                                            <p:txEl>
                                              <p:pRg st="9" end="9"/>
                                            </p:txEl>
                                          </p:spTgt>
                                        </p:tgtEl>
                                        <p:attrNameLst>
                                          <p:attrName>fill.type</p:attrName>
                                        </p:attrNameLst>
                                      </p:cBhvr>
                                      <p:to>
                                        <p:strVal val="solid"/>
                                      </p:to>
                                    </p:set>
                                    <p:set>
                                      <p:cBhvr>
                                        <p:cTn id="47" dur="500" fill="hold"/>
                                        <p:tgtEl>
                                          <p:spTgt spid="3">
                                            <p:txEl>
                                              <p:pRg st="9" end="9"/>
                                            </p:txEl>
                                          </p:spTgt>
                                        </p:tgtEl>
                                        <p:attrNameLst>
                                          <p:attrName>fill.on</p:attrName>
                                        </p:attrNameLst>
                                      </p:cBhvr>
                                      <p:to>
                                        <p:strVal val="true"/>
                                      </p:to>
                                    </p:set>
                                  </p:childTnLst>
                                </p:cTn>
                              </p:par>
                              <p:par>
                                <p:cTn id="48" presetID="19" presetClass="emph" presetSubtype="0" fill="hold" nodeType="withEffect">
                                  <p:stCondLst>
                                    <p:cond delay="0"/>
                                  </p:stCondLst>
                                  <p:childTnLst>
                                    <p:animClr clrSpc="rgb" dir="cw">
                                      <p:cBhvr override="childStyle">
                                        <p:cTn id="49" dur="500" fill="hold"/>
                                        <p:tgtEl>
                                          <p:spTgt spid="3">
                                            <p:txEl>
                                              <p:pRg st="3" end="3"/>
                                            </p:txEl>
                                          </p:spTgt>
                                        </p:tgtEl>
                                        <p:attrNameLst>
                                          <p:attrName>style.color</p:attrName>
                                        </p:attrNameLst>
                                      </p:cBhvr>
                                      <p:to>
                                        <a:srgbClr val="A5A5A5"/>
                                      </p:to>
                                    </p:animClr>
                                    <p:animClr clrSpc="rgb" dir="cw">
                                      <p:cBhvr>
                                        <p:cTn id="50" dur="500" fill="hold"/>
                                        <p:tgtEl>
                                          <p:spTgt spid="3">
                                            <p:txEl>
                                              <p:pRg st="3" end="3"/>
                                            </p:txEl>
                                          </p:spTgt>
                                        </p:tgtEl>
                                        <p:attrNameLst>
                                          <p:attrName>fillcolor</p:attrName>
                                        </p:attrNameLst>
                                      </p:cBhvr>
                                      <p:to>
                                        <a:srgbClr val="A5A5A5"/>
                                      </p:to>
                                    </p:animClr>
                                    <p:set>
                                      <p:cBhvr>
                                        <p:cTn id="51" dur="500" fill="hold"/>
                                        <p:tgtEl>
                                          <p:spTgt spid="3">
                                            <p:txEl>
                                              <p:pRg st="3" end="3"/>
                                            </p:txEl>
                                          </p:spTgt>
                                        </p:tgtEl>
                                        <p:attrNameLst>
                                          <p:attrName>fill.type</p:attrName>
                                        </p:attrNameLst>
                                      </p:cBhvr>
                                      <p:to>
                                        <p:strVal val="solid"/>
                                      </p:to>
                                    </p:set>
                                    <p:set>
                                      <p:cBhvr>
                                        <p:cTn id="52" dur="500" fill="hold"/>
                                        <p:tgtEl>
                                          <p:spTgt spid="3">
                                            <p:txEl>
                                              <p:pRg st="3" end="3"/>
                                            </p:txEl>
                                          </p:spTgt>
                                        </p:tgtEl>
                                        <p:attrNameLst>
                                          <p:attrName>fill.on</p:attrName>
                                        </p:attrNameLst>
                                      </p:cBhvr>
                                      <p:to>
                                        <p:strVal val="true"/>
                                      </p:to>
                                    </p:set>
                                  </p:childTnLst>
                                </p:cTn>
                              </p:par>
                              <p:par>
                                <p:cTn id="53" presetID="19" presetClass="emph" presetSubtype="0" fill="hold" nodeType="withEffect">
                                  <p:stCondLst>
                                    <p:cond delay="0"/>
                                  </p:stCondLst>
                                  <p:childTnLst>
                                    <p:animClr clrSpc="rgb" dir="cw">
                                      <p:cBhvr override="childStyle">
                                        <p:cTn id="54" dur="500" fill="hold"/>
                                        <p:tgtEl>
                                          <p:spTgt spid="3">
                                            <p:txEl>
                                              <p:pRg st="5" end="5"/>
                                            </p:txEl>
                                          </p:spTgt>
                                        </p:tgtEl>
                                        <p:attrNameLst>
                                          <p:attrName>style.color</p:attrName>
                                        </p:attrNameLst>
                                      </p:cBhvr>
                                      <p:to>
                                        <a:srgbClr val="A5A5A5"/>
                                      </p:to>
                                    </p:animClr>
                                    <p:animClr clrSpc="rgb" dir="cw">
                                      <p:cBhvr>
                                        <p:cTn id="55" dur="500" fill="hold"/>
                                        <p:tgtEl>
                                          <p:spTgt spid="3">
                                            <p:txEl>
                                              <p:pRg st="5" end="5"/>
                                            </p:txEl>
                                          </p:spTgt>
                                        </p:tgtEl>
                                        <p:attrNameLst>
                                          <p:attrName>fillcolor</p:attrName>
                                        </p:attrNameLst>
                                      </p:cBhvr>
                                      <p:to>
                                        <a:srgbClr val="A5A5A5"/>
                                      </p:to>
                                    </p:animClr>
                                    <p:set>
                                      <p:cBhvr>
                                        <p:cTn id="56" dur="500" fill="hold"/>
                                        <p:tgtEl>
                                          <p:spTgt spid="3">
                                            <p:txEl>
                                              <p:pRg st="5" end="5"/>
                                            </p:txEl>
                                          </p:spTgt>
                                        </p:tgtEl>
                                        <p:attrNameLst>
                                          <p:attrName>fill.type</p:attrName>
                                        </p:attrNameLst>
                                      </p:cBhvr>
                                      <p:to>
                                        <p:strVal val="solid"/>
                                      </p:to>
                                    </p:set>
                                    <p:set>
                                      <p:cBhvr>
                                        <p:cTn id="57" dur="500" fill="hold"/>
                                        <p:tgtEl>
                                          <p:spTgt spid="3">
                                            <p:txEl>
                                              <p:pRg st="5" end="5"/>
                                            </p:txEl>
                                          </p:spTgt>
                                        </p:tgtEl>
                                        <p:attrNameLst>
                                          <p:attrName>fill.on</p:attrName>
                                        </p:attrNameLst>
                                      </p:cBhvr>
                                      <p:to>
                                        <p:strVal val="true"/>
                                      </p:to>
                                    </p:set>
                                  </p:childTnLst>
                                </p:cTn>
                              </p:par>
                              <p:par>
                                <p:cTn id="58" presetID="19" presetClass="emph" presetSubtype="0" fill="hold" nodeType="withEffect">
                                  <p:stCondLst>
                                    <p:cond delay="0"/>
                                  </p:stCondLst>
                                  <p:childTnLst>
                                    <p:animClr clrSpc="rgb" dir="cw">
                                      <p:cBhvr override="childStyle">
                                        <p:cTn id="59" dur="500" fill="hold"/>
                                        <p:tgtEl>
                                          <p:spTgt spid="3">
                                            <p:txEl>
                                              <p:pRg st="6" end="6"/>
                                            </p:txEl>
                                          </p:spTgt>
                                        </p:tgtEl>
                                        <p:attrNameLst>
                                          <p:attrName>style.color</p:attrName>
                                        </p:attrNameLst>
                                      </p:cBhvr>
                                      <p:to>
                                        <a:srgbClr val="A5A5A5"/>
                                      </p:to>
                                    </p:animClr>
                                    <p:animClr clrSpc="rgb" dir="cw">
                                      <p:cBhvr>
                                        <p:cTn id="60" dur="500" fill="hold"/>
                                        <p:tgtEl>
                                          <p:spTgt spid="3">
                                            <p:txEl>
                                              <p:pRg st="6" end="6"/>
                                            </p:txEl>
                                          </p:spTgt>
                                        </p:tgtEl>
                                        <p:attrNameLst>
                                          <p:attrName>fillcolor</p:attrName>
                                        </p:attrNameLst>
                                      </p:cBhvr>
                                      <p:to>
                                        <a:srgbClr val="A5A5A5"/>
                                      </p:to>
                                    </p:animClr>
                                    <p:set>
                                      <p:cBhvr>
                                        <p:cTn id="61" dur="500" fill="hold"/>
                                        <p:tgtEl>
                                          <p:spTgt spid="3">
                                            <p:txEl>
                                              <p:pRg st="6" end="6"/>
                                            </p:txEl>
                                          </p:spTgt>
                                        </p:tgtEl>
                                        <p:attrNameLst>
                                          <p:attrName>fill.type</p:attrName>
                                        </p:attrNameLst>
                                      </p:cBhvr>
                                      <p:to>
                                        <p:strVal val="solid"/>
                                      </p:to>
                                    </p:set>
                                    <p:set>
                                      <p:cBhvr>
                                        <p:cTn id="62" dur="500" fill="hold"/>
                                        <p:tgtEl>
                                          <p:spTgt spid="3">
                                            <p:txEl>
                                              <p:pRg st="6" end="6"/>
                                            </p:txEl>
                                          </p:spTgt>
                                        </p:tgtEl>
                                        <p:attrNameLst>
                                          <p:attrName>fill.on</p:attrName>
                                        </p:attrNameLst>
                                      </p:cBhvr>
                                      <p:to>
                                        <p:strVal val="true"/>
                                      </p:to>
                                    </p:set>
                                  </p:childTnLst>
                                </p:cTn>
                              </p:par>
                              <p:par>
                                <p:cTn id="63" presetID="1" presetClass="entr" presetSubtype="0" fill="hold" nodeType="withEffect">
                                  <p:stCondLst>
                                    <p:cond delay="0"/>
                                  </p:stCondLst>
                                  <p:childTnLst>
                                    <p:set>
                                      <p:cBhvr>
                                        <p:cTn id="64" dur="1" fill="hold">
                                          <p:stCondLst>
                                            <p:cond delay="0"/>
                                          </p:stCondLst>
                                        </p:cTn>
                                        <p:tgtEl>
                                          <p:spTgt spid="7"/>
                                        </p:tgtEl>
                                        <p:attrNameLst>
                                          <p:attrName>style.visibility</p:attrName>
                                        </p:attrNameLst>
                                      </p:cBhvr>
                                      <p:to>
                                        <p:strVal val="visible"/>
                                      </p:to>
                                    </p:set>
                                  </p:childTnLst>
                                </p:cTn>
                              </p:par>
                              <p:par>
                                <p:cTn id="65" presetID="1" presetClass="exit" presetSubtype="0" fill="hold" nodeType="withEffect">
                                  <p:stCondLst>
                                    <p:cond delay="0"/>
                                  </p:stCondLst>
                                  <p:childTnLst>
                                    <p:set>
                                      <p:cBhvr>
                                        <p:cTn id="6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A7476-30C7-4CBC-840A-4CA376B59DD1}"/>
              </a:ext>
            </a:extLst>
          </p:cNvPr>
          <p:cNvSpPr>
            <a:spLocks noGrp="1"/>
          </p:cNvSpPr>
          <p:nvPr>
            <p:ph type="title"/>
          </p:nvPr>
        </p:nvSpPr>
        <p:spPr/>
        <p:txBody>
          <a:bodyPr/>
          <a:lstStyle/>
          <a:p>
            <a:r>
              <a:rPr lang="en-GB"/>
              <a:t>Action potential</a:t>
            </a:r>
          </a:p>
        </p:txBody>
      </p:sp>
      <p:sp>
        <p:nvSpPr>
          <p:cNvPr id="3" name="Content Placeholder 2">
            <a:extLst>
              <a:ext uri="{FF2B5EF4-FFF2-40B4-BE49-F238E27FC236}">
                <a16:creationId xmlns:a16="http://schemas.microsoft.com/office/drawing/2014/main" id="{55AF8B97-7FFA-42EA-836A-B1875D10C3B7}"/>
              </a:ext>
            </a:extLst>
          </p:cNvPr>
          <p:cNvSpPr>
            <a:spLocks noGrp="1"/>
          </p:cNvSpPr>
          <p:nvPr>
            <p:ph idx="1"/>
          </p:nvPr>
        </p:nvSpPr>
        <p:spPr>
          <a:xfrm>
            <a:off x="838200" y="1465199"/>
            <a:ext cx="5257800" cy="5124443"/>
          </a:xfrm>
        </p:spPr>
        <p:txBody>
          <a:bodyPr>
            <a:normAutofit/>
          </a:bodyPr>
          <a:lstStyle/>
          <a:p>
            <a:r>
              <a:rPr lang="en-GB"/>
              <a:t>At resting membrane potential</a:t>
            </a:r>
          </a:p>
          <a:p>
            <a:pPr lvl="1"/>
            <a:r>
              <a:rPr lang="en-GB"/>
              <a:t>Na</a:t>
            </a:r>
            <a:r>
              <a:rPr lang="en-GB" baseline="30000"/>
              <a:t>+</a:t>
            </a:r>
            <a:r>
              <a:rPr lang="en-GB"/>
              <a:t> and K</a:t>
            </a:r>
            <a:r>
              <a:rPr lang="en-GB" baseline="30000"/>
              <a:t>+</a:t>
            </a:r>
            <a:r>
              <a:rPr lang="en-GB"/>
              <a:t> channels are </a:t>
            </a:r>
            <a:r>
              <a:rPr lang="en-GB" b="1"/>
              <a:t>closed</a:t>
            </a:r>
          </a:p>
          <a:p>
            <a:endParaRPr lang="en-GB" b="1"/>
          </a:p>
          <a:p>
            <a:r>
              <a:rPr lang="en-GB" b="1"/>
              <a:t>Stimuli </a:t>
            </a:r>
            <a:r>
              <a:rPr lang="en-GB"/>
              <a:t>positively increase the membrane potential (voltage) (</a:t>
            </a:r>
            <a:r>
              <a:rPr lang="en-GB" b="1"/>
              <a:t>depolarization</a:t>
            </a:r>
            <a:r>
              <a:rPr lang="en-GB"/>
              <a:t>)</a:t>
            </a:r>
          </a:p>
          <a:p>
            <a:endParaRPr lang="en-GB"/>
          </a:p>
          <a:p>
            <a:r>
              <a:rPr lang="en-GB"/>
              <a:t>Upon reaching a voltage </a:t>
            </a:r>
            <a:r>
              <a:rPr lang="en-GB" b="1"/>
              <a:t>threshold</a:t>
            </a:r>
            <a:r>
              <a:rPr lang="en-GB"/>
              <a:t>, </a:t>
            </a:r>
            <a:r>
              <a:rPr lang="en-GB" b="1"/>
              <a:t>Na</a:t>
            </a:r>
            <a:r>
              <a:rPr lang="en-GB" b="1" baseline="30000"/>
              <a:t>+</a:t>
            </a:r>
            <a:r>
              <a:rPr lang="en-GB" b="1"/>
              <a:t> channels open</a:t>
            </a:r>
          </a:p>
          <a:p>
            <a:pPr lvl="1"/>
            <a:r>
              <a:rPr lang="en-GB"/>
              <a:t>Massive </a:t>
            </a:r>
            <a:r>
              <a:rPr lang="en-GB" b="1"/>
              <a:t>flow of Na</a:t>
            </a:r>
            <a:r>
              <a:rPr lang="en-GB" b="1" baseline="30000"/>
              <a:t>+</a:t>
            </a:r>
            <a:r>
              <a:rPr lang="en-GB" b="1"/>
              <a:t> ions inside the cell </a:t>
            </a:r>
            <a:r>
              <a:rPr lang="en-GB"/>
              <a:t>depolarizes even more the membrane potential</a:t>
            </a:r>
          </a:p>
          <a:p>
            <a:endParaRPr lang="en-GB"/>
          </a:p>
          <a:p>
            <a:r>
              <a:rPr lang="en-GB"/>
              <a:t>Further depolarization </a:t>
            </a:r>
            <a:r>
              <a:rPr lang="en-GB" b="1"/>
              <a:t>opens K</a:t>
            </a:r>
            <a:r>
              <a:rPr lang="en-GB" b="1" baseline="30000"/>
              <a:t>+</a:t>
            </a:r>
            <a:r>
              <a:rPr lang="en-GB" b="1"/>
              <a:t> channels</a:t>
            </a:r>
          </a:p>
          <a:p>
            <a:pPr lvl="1"/>
            <a:r>
              <a:rPr lang="en-GB" b="1"/>
              <a:t>Flow of K</a:t>
            </a:r>
            <a:r>
              <a:rPr lang="en-GB" b="1" baseline="30000"/>
              <a:t>+</a:t>
            </a:r>
            <a:r>
              <a:rPr lang="en-GB" b="1"/>
              <a:t> ions outside the cell </a:t>
            </a:r>
            <a:r>
              <a:rPr lang="en-GB"/>
              <a:t>reduces negatively the membrane potential (repolarization + hyperpolarization	)</a:t>
            </a:r>
          </a:p>
          <a:p>
            <a:endParaRPr lang="en-GB"/>
          </a:p>
        </p:txBody>
      </p:sp>
      <p:pic>
        <p:nvPicPr>
          <p:cNvPr id="5122" name="Picture 2" descr="What is an Action Potential, Action Potential Chart, Membrane Potential |  Molecular devices">
            <a:extLst>
              <a:ext uri="{FF2B5EF4-FFF2-40B4-BE49-F238E27FC236}">
                <a16:creationId xmlns:a16="http://schemas.microsoft.com/office/drawing/2014/main" id="{6A349E7B-C25C-4ACA-B378-EC635F86AE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5234" y="1540934"/>
            <a:ext cx="4268566" cy="39502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67905CF-117E-469E-9DD7-E6547DB45002}"/>
              </a:ext>
            </a:extLst>
          </p:cNvPr>
          <p:cNvSpPr txBox="1"/>
          <p:nvPr/>
        </p:nvSpPr>
        <p:spPr>
          <a:xfrm>
            <a:off x="7410450" y="6351063"/>
            <a:ext cx="3943350"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110004020202020204"/>
                <a:ea typeface="+mn-ea"/>
                <a:cs typeface="+mn-cs"/>
              </a:rPr>
              <a:t>https://www.moleculardevices.com/applications/patch-clamp-electrophysiology/what-action-potential#gref</a:t>
            </a:r>
          </a:p>
        </p:txBody>
      </p:sp>
      <p:sp>
        <p:nvSpPr>
          <p:cNvPr id="5" name="Oval 4">
            <a:extLst>
              <a:ext uri="{FF2B5EF4-FFF2-40B4-BE49-F238E27FC236}">
                <a16:creationId xmlns:a16="http://schemas.microsoft.com/office/drawing/2014/main" id="{88DFE0FF-802D-6942-EE68-2DE6425BAEB8}"/>
              </a:ext>
            </a:extLst>
          </p:cNvPr>
          <p:cNvSpPr/>
          <p:nvPr/>
        </p:nvSpPr>
        <p:spPr>
          <a:xfrm>
            <a:off x="788089" y="1485077"/>
            <a:ext cx="310184" cy="310184"/>
          </a:xfrm>
          <a:prstGeom prst="ellipse">
            <a:avLst/>
          </a:prstGeom>
          <a:solidFill>
            <a:srgbClr val="038E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Aptos" panose="02110004020202020204"/>
                <a:ea typeface="+mn-ea"/>
                <a:cs typeface="+mn-cs"/>
              </a:rPr>
              <a:t>5</a:t>
            </a:r>
          </a:p>
        </p:txBody>
      </p:sp>
      <p:sp>
        <p:nvSpPr>
          <p:cNvPr id="6" name="Oval 5">
            <a:extLst>
              <a:ext uri="{FF2B5EF4-FFF2-40B4-BE49-F238E27FC236}">
                <a16:creationId xmlns:a16="http://schemas.microsoft.com/office/drawing/2014/main" id="{399C8584-AD51-D685-F759-65865312D0F0}"/>
              </a:ext>
            </a:extLst>
          </p:cNvPr>
          <p:cNvSpPr/>
          <p:nvPr/>
        </p:nvSpPr>
        <p:spPr>
          <a:xfrm>
            <a:off x="788089" y="2492242"/>
            <a:ext cx="310184" cy="310184"/>
          </a:xfrm>
          <a:prstGeom prst="ellipse">
            <a:avLst/>
          </a:prstGeom>
          <a:solidFill>
            <a:srgbClr val="038E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Aptos" panose="02110004020202020204"/>
                <a:ea typeface="+mn-ea"/>
                <a:cs typeface="+mn-cs"/>
              </a:rPr>
              <a:t>1</a:t>
            </a:r>
          </a:p>
        </p:txBody>
      </p:sp>
      <p:sp>
        <p:nvSpPr>
          <p:cNvPr id="7" name="Oval 6">
            <a:extLst>
              <a:ext uri="{FF2B5EF4-FFF2-40B4-BE49-F238E27FC236}">
                <a16:creationId xmlns:a16="http://schemas.microsoft.com/office/drawing/2014/main" id="{198ED58F-9C49-5A3E-7BBA-25973882B601}"/>
              </a:ext>
            </a:extLst>
          </p:cNvPr>
          <p:cNvSpPr/>
          <p:nvPr/>
        </p:nvSpPr>
        <p:spPr>
          <a:xfrm>
            <a:off x="788089" y="3499407"/>
            <a:ext cx="310184" cy="310184"/>
          </a:xfrm>
          <a:prstGeom prst="ellipse">
            <a:avLst/>
          </a:prstGeom>
          <a:solidFill>
            <a:srgbClr val="038E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Aptos" panose="02110004020202020204"/>
                <a:ea typeface="+mn-ea"/>
                <a:cs typeface="+mn-cs"/>
              </a:rPr>
              <a:t>2</a:t>
            </a:r>
          </a:p>
        </p:txBody>
      </p:sp>
      <p:sp>
        <p:nvSpPr>
          <p:cNvPr id="8" name="Oval 7">
            <a:extLst>
              <a:ext uri="{FF2B5EF4-FFF2-40B4-BE49-F238E27FC236}">
                <a16:creationId xmlns:a16="http://schemas.microsoft.com/office/drawing/2014/main" id="{B1A2F188-6D30-BF90-B4A9-70268FB3C36B}"/>
              </a:ext>
            </a:extLst>
          </p:cNvPr>
          <p:cNvSpPr/>
          <p:nvPr/>
        </p:nvSpPr>
        <p:spPr>
          <a:xfrm>
            <a:off x="3330114" y="5733078"/>
            <a:ext cx="310184" cy="310184"/>
          </a:xfrm>
          <a:prstGeom prst="ellipse">
            <a:avLst/>
          </a:prstGeom>
          <a:solidFill>
            <a:srgbClr val="038E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rPr>
              <a:t>4</a:t>
            </a:r>
          </a:p>
        </p:txBody>
      </p:sp>
      <p:sp>
        <p:nvSpPr>
          <p:cNvPr id="9" name="Oval 8">
            <a:extLst>
              <a:ext uri="{FF2B5EF4-FFF2-40B4-BE49-F238E27FC236}">
                <a16:creationId xmlns:a16="http://schemas.microsoft.com/office/drawing/2014/main" id="{982BDF54-6699-F644-4613-443AE2C6EA1A}"/>
              </a:ext>
            </a:extLst>
          </p:cNvPr>
          <p:cNvSpPr/>
          <p:nvPr/>
        </p:nvSpPr>
        <p:spPr>
          <a:xfrm>
            <a:off x="788089" y="5001490"/>
            <a:ext cx="310184" cy="310184"/>
          </a:xfrm>
          <a:prstGeom prst="ellipse">
            <a:avLst/>
          </a:prstGeom>
          <a:solidFill>
            <a:srgbClr val="038E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rPr>
              <a:t>3</a:t>
            </a:r>
          </a:p>
        </p:txBody>
      </p:sp>
    </p:spTree>
    <p:extLst>
      <p:ext uri="{BB962C8B-B14F-4D97-AF65-F5344CB8AC3E}">
        <p14:creationId xmlns:p14="http://schemas.microsoft.com/office/powerpoint/2010/main" val="1394347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C5C5E-B63C-5007-BBD9-DFAC2279D332}"/>
              </a:ext>
            </a:extLst>
          </p:cNvPr>
          <p:cNvSpPr>
            <a:spLocks noGrp="1"/>
          </p:cNvSpPr>
          <p:nvPr>
            <p:ph type="title"/>
          </p:nvPr>
        </p:nvSpPr>
        <p:spPr/>
        <p:txBody>
          <a:bodyPr/>
          <a:lstStyle/>
          <a:p>
            <a:r>
              <a:rPr lang="en-GB"/>
              <a:t>The refractory period</a:t>
            </a:r>
          </a:p>
        </p:txBody>
      </p:sp>
      <p:sp>
        <p:nvSpPr>
          <p:cNvPr id="3" name="Content Placeholder 2">
            <a:extLst>
              <a:ext uri="{FF2B5EF4-FFF2-40B4-BE49-F238E27FC236}">
                <a16:creationId xmlns:a16="http://schemas.microsoft.com/office/drawing/2014/main" id="{7837A3E1-F589-7805-FB4E-B69A4ABAAE92}"/>
              </a:ext>
            </a:extLst>
          </p:cNvPr>
          <p:cNvSpPr>
            <a:spLocks noGrp="1"/>
          </p:cNvSpPr>
          <p:nvPr>
            <p:ph idx="1"/>
          </p:nvPr>
        </p:nvSpPr>
        <p:spPr/>
        <p:txBody>
          <a:bodyPr/>
          <a:lstStyle/>
          <a:p>
            <a:r>
              <a:rPr lang="en-GB"/>
              <a:t>Na</a:t>
            </a:r>
            <a:r>
              <a:rPr lang="en-GB" baseline="30000"/>
              <a:t>+</a:t>
            </a:r>
            <a:r>
              <a:rPr lang="en-GB"/>
              <a:t> channels inactivate (</a:t>
            </a:r>
            <a:r>
              <a:rPr lang="en-GB" b="1">
                <a:solidFill>
                  <a:srgbClr val="FF0000"/>
                </a:solidFill>
              </a:rPr>
              <a:t>absolute</a:t>
            </a:r>
            <a:r>
              <a:rPr lang="en-GB"/>
              <a:t> </a:t>
            </a:r>
            <a:r>
              <a:rPr lang="en-GB" b="1"/>
              <a:t>refractory period</a:t>
            </a:r>
            <a:r>
              <a:rPr lang="en-GB"/>
              <a:t>)</a:t>
            </a:r>
          </a:p>
          <a:p>
            <a:pPr lvl="1"/>
            <a:r>
              <a:rPr lang="en-GB"/>
              <a:t>No following action potential can be initiated</a:t>
            </a:r>
          </a:p>
          <a:p>
            <a:endParaRPr lang="en-GB"/>
          </a:p>
          <a:p>
            <a:r>
              <a:rPr lang="en-GB"/>
              <a:t>K</a:t>
            </a:r>
            <a:r>
              <a:rPr lang="en-GB" baseline="30000"/>
              <a:t>+</a:t>
            </a:r>
            <a:r>
              <a:rPr lang="en-GB"/>
              <a:t> channels are open (</a:t>
            </a:r>
            <a:r>
              <a:rPr lang="en-GB" b="1">
                <a:solidFill>
                  <a:srgbClr val="FFC000"/>
                </a:solidFill>
              </a:rPr>
              <a:t>relative</a:t>
            </a:r>
            <a:r>
              <a:rPr lang="en-GB" b="1"/>
              <a:t> refractory period</a:t>
            </a:r>
            <a:r>
              <a:rPr lang="en-GB"/>
              <a:t>)</a:t>
            </a:r>
          </a:p>
          <a:p>
            <a:pPr lvl="1"/>
            <a:r>
              <a:rPr lang="en-GB"/>
              <a:t>Very strong stimuli can initiate an action potential</a:t>
            </a:r>
          </a:p>
        </p:txBody>
      </p:sp>
      <p:pic>
        <p:nvPicPr>
          <p:cNvPr id="4" name="Picture 2" descr="What is an Action Potential, Action Potential Chart, Membrane Potential |  Molecular devices">
            <a:extLst>
              <a:ext uri="{FF2B5EF4-FFF2-40B4-BE49-F238E27FC236}">
                <a16:creationId xmlns:a16="http://schemas.microsoft.com/office/drawing/2014/main" id="{FDFF41ED-FCFD-E908-3BCE-B82E2DE283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5234" y="1540934"/>
            <a:ext cx="4268566" cy="395023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BDA667C-B312-FB02-9F6E-1BC80B01C32C}"/>
              </a:ext>
            </a:extLst>
          </p:cNvPr>
          <p:cNvSpPr txBox="1"/>
          <p:nvPr/>
        </p:nvSpPr>
        <p:spPr>
          <a:xfrm>
            <a:off x="7410450" y="6351063"/>
            <a:ext cx="3943350"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Aptos" panose="02110004020202020204"/>
                <a:ea typeface="+mn-ea"/>
                <a:cs typeface="+mn-cs"/>
              </a:rPr>
              <a:t>https://www.moleculardevices.com/applications/patch-clamp-electrophysiology/what-action-potential#gref</a:t>
            </a:r>
          </a:p>
        </p:txBody>
      </p:sp>
      <p:sp>
        <p:nvSpPr>
          <p:cNvPr id="6" name="Rectangle: Rounded Corners 5">
            <a:extLst>
              <a:ext uri="{FF2B5EF4-FFF2-40B4-BE49-F238E27FC236}">
                <a16:creationId xmlns:a16="http://schemas.microsoft.com/office/drawing/2014/main" id="{36F0FA1D-8F10-1E52-AA23-B12FFAD01E6F}"/>
              </a:ext>
            </a:extLst>
          </p:cNvPr>
          <p:cNvSpPr/>
          <p:nvPr/>
        </p:nvSpPr>
        <p:spPr>
          <a:xfrm>
            <a:off x="8806071" y="1825624"/>
            <a:ext cx="904460" cy="3223453"/>
          </a:xfrm>
          <a:prstGeom prst="roundRect">
            <a:avLst/>
          </a:prstGeom>
          <a:solidFill>
            <a:srgbClr val="FF0000">
              <a:alpha val="1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Rounded Corners 6">
            <a:extLst>
              <a:ext uri="{FF2B5EF4-FFF2-40B4-BE49-F238E27FC236}">
                <a16:creationId xmlns:a16="http://schemas.microsoft.com/office/drawing/2014/main" id="{591139D9-42E9-0800-88B9-560DE1E54F2A}"/>
              </a:ext>
            </a:extLst>
          </p:cNvPr>
          <p:cNvSpPr/>
          <p:nvPr/>
        </p:nvSpPr>
        <p:spPr>
          <a:xfrm>
            <a:off x="9710530" y="1817273"/>
            <a:ext cx="1172818" cy="3223453"/>
          </a:xfrm>
          <a:prstGeom prst="roundRect">
            <a:avLst/>
          </a:prstGeom>
          <a:solidFill>
            <a:srgbClr val="FFFF00">
              <a:alpha val="1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72767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945C6-58CB-3EBC-7D29-72710C4DAE26}"/>
              </a:ext>
            </a:extLst>
          </p:cNvPr>
          <p:cNvSpPr>
            <a:spLocks noGrp="1"/>
          </p:cNvSpPr>
          <p:nvPr>
            <p:ph type="title"/>
          </p:nvPr>
        </p:nvSpPr>
        <p:spPr/>
        <p:txBody>
          <a:bodyPr/>
          <a:lstStyle/>
          <a:p>
            <a:r>
              <a:rPr lang="en-GB"/>
              <a:t>AP conduction and refractory period</a:t>
            </a:r>
          </a:p>
        </p:txBody>
      </p:sp>
      <p:pic>
        <p:nvPicPr>
          <p:cNvPr id="21506" name="Picture 2" descr="The action potential travels from the soma down the axon to the axon terminal. The action potential is initiated when a signal from the soma causes the soma-end of the axon membrane to depolarize. The depolarization spreads down the axon. Meanwhile, the membrane at the start of the axon repolarizes. Because potassium channels are open, the membrane cannot depolarize again. The action potential continues to spread down the axon this way.">
            <a:extLst>
              <a:ext uri="{FF2B5EF4-FFF2-40B4-BE49-F238E27FC236}">
                <a16:creationId xmlns:a16="http://schemas.microsoft.com/office/drawing/2014/main" id="{A6F2E96E-63EE-8861-5CBC-5D1BB3BEA9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8475" y="1382317"/>
            <a:ext cx="7375830" cy="5142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6238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shape&#10;&#10;Description automatically generated">
            <a:extLst>
              <a:ext uri="{FF2B5EF4-FFF2-40B4-BE49-F238E27FC236}">
                <a16:creationId xmlns:a16="http://schemas.microsoft.com/office/drawing/2014/main" id="{A5DD9B4B-06E9-4AF1-9E25-31AEEFBC13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2000" y="745200"/>
            <a:ext cx="4229572" cy="5881935"/>
          </a:xfrm>
          <a:prstGeom prst="rect">
            <a:avLst/>
          </a:prstGeom>
        </p:spPr>
      </p:pic>
      <p:sp>
        <p:nvSpPr>
          <p:cNvPr id="2" name="Title 1">
            <a:extLst>
              <a:ext uri="{FF2B5EF4-FFF2-40B4-BE49-F238E27FC236}">
                <a16:creationId xmlns:a16="http://schemas.microsoft.com/office/drawing/2014/main" id="{014EA42F-1AFB-4B77-9EAE-6CAB46E1F556}"/>
              </a:ext>
            </a:extLst>
          </p:cNvPr>
          <p:cNvSpPr>
            <a:spLocks noGrp="1"/>
          </p:cNvSpPr>
          <p:nvPr>
            <p:ph type="title"/>
          </p:nvPr>
        </p:nvSpPr>
        <p:spPr/>
        <p:txBody>
          <a:bodyPr/>
          <a:lstStyle/>
          <a:p>
            <a:r>
              <a:rPr lang="en-GB" dirty="0"/>
              <a:t>The neuron</a:t>
            </a:r>
          </a:p>
        </p:txBody>
      </p:sp>
      <p:sp>
        <p:nvSpPr>
          <p:cNvPr id="12" name="Content Placeholder 11">
            <a:extLst>
              <a:ext uri="{FF2B5EF4-FFF2-40B4-BE49-F238E27FC236}">
                <a16:creationId xmlns:a16="http://schemas.microsoft.com/office/drawing/2014/main" id="{2AE7B8A2-984F-4FF0-A9C8-441A0248911F}"/>
              </a:ext>
            </a:extLst>
          </p:cNvPr>
          <p:cNvSpPr>
            <a:spLocks noGrp="1"/>
          </p:cNvSpPr>
          <p:nvPr>
            <p:ph idx="1"/>
          </p:nvPr>
        </p:nvSpPr>
        <p:spPr/>
        <p:txBody>
          <a:bodyPr/>
          <a:lstStyle/>
          <a:p>
            <a:r>
              <a:rPr lang="en-GB" dirty="0">
                <a:sym typeface="Wingdings" panose="05000000000000000000" pitchFamily="2" charset="2"/>
              </a:rPr>
              <a:t>Ability to process multiple inputs into an output</a:t>
            </a:r>
            <a:endParaRPr lang="en-GB" dirty="0"/>
          </a:p>
          <a:p>
            <a:r>
              <a:rPr lang="en-GB" dirty="0"/>
              <a:t>Specialized morphology</a:t>
            </a:r>
          </a:p>
          <a:p>
            <a:pPr lvl="1"/>
            <a:r>
              <a:rPr lang="en-GB" dirty="0"/>
              <a:t>Multitude of inputs </a:t>
            </a:r>
            <a:r>
              <a:rPr lang="en-GB" dirty="0">
                <a:sym typeface="Wingdings" panose="05000000000000000000" pitchFamily="2" charset="2"/>
              </a:rPr>
              <a:t> </a:t>
            </a:r>
            <a:r>
              <a:rPr lang="en-GB" b="1" dirty="0">
                <a:solidFill>
                  <a:schemeClr val="accent5">
                    <a:lumMod val="75000"/>
                  </a:schemeClr>
                </a:solidFill>
                <a:sym typeface="Wingdings" panose="05000000000000000000" pitchFamily="2" charset="2"/>
              </a:rPr>
              <a:t>Dendrites</a:t>
            </a:r>
          </a:p>
          <a:p>
            <a:pPr lvl="1"/>
            <a:r>
              <a:rPr lang="en-GB" dirty="0">
                <a:sym typeface="Wingdings" panose="05000000000000000000" pitchFamily="2" charset="2"/>
              </a:rPr>
              <a:t>Output  </a:t>
            </a:r>
            <a:r>
              <a:rPr lang="en-GB" b="1" dirty="0">
                <a:solidFill>
                  <a:srgbClr val="FF0000"/>
                </a:solidFill>
                <a:sym typeface="Wingdings" panose="05000000000000000000" pitchFamily="2" charset="2"/>
              </a:rPr>
              <a:t>Axon</a:t>
            </a:r>
          </a:p>
          <a:p>
            <a:pPr lvl="1"/>
            <a:r>
              <a:rPr lang="en-GB" dirty="0">
                <a:sym typeface="Wingdings" panose="05000000000000000000" pitchFamily="2" charset="2"/>
              </a:rPr>
              <a:t>Input neuron or target neuron can be very distant (projecting)</a:t>
            </a:r>
          </a:p>
          <a:p>
            <a:pPr lvl="1"/>
            <a:endParaRPr lang="en-GB" dirty="0">
              <a:sym typeface="Wingdings" panose="05000000000000000000" pitchFamily="2" charset="2"/>
            </a:endParaRPr>
          </a:p>
          <a:p>
            <a:r>
              <a:rPr lang="en-GB" dirty="0"/>
              <a:t>Excitable</a:t>
            </a:r>
          </a:p>
          <a:p>
            <a:pPr lvl="1"/>
            <a:r>
              <a:rPr lang="en-GB" dirty="0"/>
              <a:t>Voltage-/Ligand-gated ion channels</a:t>
            </a:r>
          </a:p>
          <a:p>
            <a:pPr lvl="1"/>
            <a:r>
              <a:rPr lang="en-GB" dirty="0"/>
              <a:t>Fast conduction of signals (myelin)</a:t>
            </a:r>
          </a:p>
        </p:txBody>
      </p:sp>
      <p:sp>
        <p:nvSpPr>
          <p:cNvPr id="3" name="TextBox 2">
            <a:extLst>
              <a:ext uri="{FF2B5EF4-FFF2-40B4-BE49-F238E27FC236}">
                <a16:creationId xmlns:a16="http://schemas.microsoft.com/office/drawing/2014/main" id="{FD13CFDC-660E-4E04-BCA1-0129F1D9288B}"/>
              </a:ext>
            </a:extLst>
          </p:cNvPr>
          <p:cNvSpPr txBox="1"/>
          <p:nvPr/>
        </p:nvSpPr>
        <p:spPr>
          <a:xfrm>
            <a:off x="7010401" y="3516050"/>
            <a:ext cx="1113781" cy="523220"/>
          </a:xfrm>
          <a:prstGeom prst="rect">
            <a:avLst/>
          </a:prstGeom>
          <a:noFill/>
        </p:spPr>
        <p:txBody>
          <a:bodyPr wrap="square" rtlCol="0" anchor="ctr">
            <a:spAutoFit/>
          </a:bodyPr>
          <a:lstStyle/>
          <a:p>
            <a:pPr algn="ctr"/>
            <a:r>
              <a:rPr lang="en-GB" sz="1400" dirty="0"/>
              <a:t>Myelin sheaths</a:t>
            </a:r>
          </a:p>
        </p:txBody>
      </p:sp>
      <p:cxnSp>
        <p:nvCxnSpPr>
          <p:cNvPr id="7" name="Straight Arrow Connector 6">
            <a:extLst>
              <a:ext uri="{FF2B5EF4-FFF2-40B4-BE49-F238E27FC236}">
                <a16:creationId xmlns:a16="http://schemas.microsoft.com/office/drawing/2014/main" id="{4B345371-67F6-414C-8EE4-8515CC9D35CD}"/>
              </a:ext>
            </a:extLst>
          </p:cNvPr>
          <p:cNvCxnSpPr/>
          <p:nvPr/>
        </p:nvCxnSpPr>
        <p:spPr>
          <a:xfrm flipV="1">
            <a:off x="7869799" y="3196963"/>
            <a:ext cx="233757" cy="5500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6AE3F92-794F-40E2-928A-B7E6A5307831}"/>
              </a:ext>
            </a:extLst>
          </p:cNvPr>
          <p:cNvCxnSpPr>
            <a:cxnSpLocks/>
          </p:cNvCxnSpPr>
          <p:nvPr/>
        </p:nvCxnSpPr>
        <p:spPr>
          <a:xfrm flipV="1">
            <a:off x="7869798" y="3556001"/>
            <a:ext cx="455052" cy="1909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B31567F-646C-41FF-B4E3-465089E7E27D}"/>
              </a:ext>
            </a:extLst>
          </p:cNvPr>
          <p:cNvCxnSpPr>
            <a:cxnSpLocks/>
          </p:cNvCxnSpPr>
          <p:nvPr/>
        </p:nvCxnSpPr>
        <p:spPr>
          <a:xfrm>
            <a:off x="7869799" y="3746978"/>
            <a:ext cx="711169" cy="2344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D3F256D-62F1-4700-AFE5-ED8C695CB816}"/>
              </a:ext>
            </a:extLst>
          </p:cNvPr>
          <p:cNvSpPr txBox="1"/>
          <p:nvPr/>
        </p:nvSpPr>
        <p:spPr>
          <a:xfrm>
            <a:off x="10244667" y="2474650"/>
            <a:ext cx="1113781" cy="523220"/>
          </a:xfrm>
          <a:prstGeom prst="rect">
            <a:avLst/>
          </a:prstGeom>
          <a:noFill/>
        </p:spPr>
        <p:txBody>
          <a:bodyPr wrap="square" rtlCol="0" anchor="ctr">
            <a:spAutoFit/>
          </a:bodyPr>
          <a:lstStyle/>
          <a:p>
            <a:pPr algn="ctr"/>
            <a:r>
              <a:rPr lang="en-GB" sz="1400" dirty="0">
                <a:solidFill>
                  <a:schemeClr val="accent5">
                    <a:lumMod val="75000"/>
                  </a:schemeClr>
                </a:solidFill>
              </a:rPr>
              <a:t>Dendritic</a:t>
            </a:r>
          </a:p>
          <a:p>
            <a:pPr algn="ctr"/>
            <a:r>
              <a:rPr lang="en-GB" sz="1400" dirty="0">
                <a:solidFill>
                  <a:schemeClr val="accent5">
                    <a:lumMod val="75000"/>
                  </a:schemeClr>
                </a:solidFill>
              </a:rPr>
              <a:t>Spines</a:t>
            </a:r>
          </a:p>
        </p:txBody>
      </p:sp>
      <p:sp>
        <p:nvSpPr>
          <p:cNvPr id="15" name="TextBox 14">
            <a:extLst>
              <a:ext uri="{FF2B5EF4-FFF2-40B4-BE49-F238E27FC236}">
                <a16:creationId xmlns:a16="http://schemas.microsoft.com/office/drawing/2014/main" id="{73F1CAE5-11BE-4827-8FDF-01F45CCF2FB1}"/>
              </a:ext>
            </a:extLst>
          </p:cNvPr>
          <p:cNvSpPr txBox="1"/>
          <p:nvPr/>
        </p:nvSpPr>
        <p:spPr>
          <a:xfrm>
            <a:off x="10244666" y="4039270"/>
            <a:ext cx="1113781" cy="523220"/>
          </a:xfrm>
          <a:prstGeom prst="rect">
            <a:avLst/>
          </a:prstGeom>
          <a:noFill/>
        </p:spPr>
        <p:txBody>
          <a:bodyPr wrap="square" rtlCol="0" anchor="ctr">
            <a:spAutoFit/>
          </a:bodyPr>
          <a:lstStyle/>
          <a:p>
            <a:pPr algn="ctr"/>
            <a:r>
              <a:rPr lang="en-GB" sz="1400" dirty="0">
                <a:solidFill>
                  <a:srgbClr val="FF0000"/>
                </a:solidFill>
              </a:rPr>
              <a:t>Axonal Boutons</a:t>
            </a:r>
          </a:p>
        </p:txBody>
      </p:sp>
      <p:pic>
        <p:nvPicPr>
          <p:cNvPr id="6" name="Picture 5" descr="A picture containing icon&#10;&#10;Description automatically generated">
            <a:extLst>
              <a:ext uri="{FF2B5EF4-FFF2-40B4-BE49-F238E27FC236}">
                <a16:creationId xmlns:a16="http://schemas.microsoft.com/office/drawing/2014/main" id="{99429DDF-98F0-4BC6-8DA5-39907FE253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6705" y="4045315"/>
            <a:ext cx="744102" cy="447311"/>
          </a:xfrm>
          <a:prstGeom prst="rect">
            <a:avLst/>
          </a:prstGeom>
        </p:spPr>
      </p:pic>
      <p:sp>
        <p:nvSpPr>
          <p:cNvPr id="19" name="TextBox 18">
            <a:extLst>
              <a:ext uri="{FF2B5EF4-FFF2-40B4-BE49-F238E27FC236}">
                <a16:creationId xmlns:a16="http://schemas.microsoft.com/office/drawing/2014/main" id="{97145703-8778-47AB-9081-917C81D46ED3}"/>
              </a:ext>
            </a:extLst>
          </p:cNvPr>
          <p:cNvSpPr txBox="1"/>
          <p:nvPr/>
        </p:nvSpPr>
        <p:spPr>
          <a:xfrm>
            <a:off x="8654034" y="2879789"/>
            <a:ext cx="1113781" cy="523220"/>
          </a:xfrm>
          <a:prstGeom prst="rect">
            <a:avLst/>
          </a:prstGeom>
          <a:noFill/>
        </p:spPr>
        <p:txBody>
          <a:bodyPr wrap="square" rtlCol="0" anchor="ctr">
            <a:spAutoFit/>
          </a:bodyPr>
          <a:lstStyle/>
          <a:p>
            <a:pPr algn="ctr"/>
            <a:r>
              <a:rPr lang="en-GB" sz="1400" dirty="0"/>
              <a:t>Nodes of</a:t>
            </a:r>
          </a:p>
          <a:p>
            <a:pPr algn="ctr"/>
            <a:r>
              <a:rPr lang="en-GB" sz="1400" dirty="0"/>
              <a:t>Ranvier</a:t>
            </a:r>
          </a:p>
        </p:txBody>
      </p:sp>
      <p:cxnSp>
        <p:nvCxnSpPr>
          <p:cNvPr id="20" name="Straight Arrow Connector 19">
            <a:extLst>
              <a:ext uri="{FF2B5EF4-FFF2-40B4-BE49-F238E27FC236}">
                <a16:creationId xmlns:a16="http://schemas.microsoft.com/office/drawing/2014/main" id="{8BBF5837-80D1-43E5-8447-0B25E33671B2}"/>
              </a:ext>
            </a:extLst>
          </p:cNvPr>
          <p:cNvCxnSpPr>
            <a:cxnSpLocks/>
          </p:cNvCxnSpPr>
          <p:nvPr/>
        </p:nvCxnSpPr>
        <p:spPr>
          <a:xfrm flipH="1" flipV="1">
            <a:off x="8225384" y="2844279"/>
            <a:ext cx="632867" cy="31484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AE30EE2-6EC8-4A0A-82DF-B220836CF2FF}"/>
              </a:ext>
            </a:extLst>
          </p:cNvPr>
          <p:cNvCxnSpPr>
            <a:cxnSpLocks/>
          </p:cNvCxnSpPr>
          <p:nvPr/>
        </p:nvCxnSpPr>
        <p:spPr>
          <a:xfrm flipH="1">
            <a:off x="8324852" y="3159126"/>
            <a:ext cx="533399" cy="1345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5099C7A-1EF5-490A-BD1E-89F79C7A10FA}"/>
              </a:ext>
            </a:extLst>
          </p:cNvPr>
          <p:cNvCxnSpPr>
            <a:cxnSpLocks/>
          </p:cNvCxnSpPr>
          <p:nvPr/>
        </p:nvCxnSpPr>
        <p:spPr>
          <a:xfrm flipH="1">
            <a:off x="8577896" y="3159126"/>
            <a:ext cx="280355" cy="5429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F03FB14-FC6C-47ED-881E-538D8D83C937}"/>
              </a:ext>
            </a:extLst>
          </p:cNvPr>
          <p:cNvSpPr txBox="1"/>
          <p:nvPr/>
        </p:nvSpPr>
        <p:spPr>
          <a:xfrm>
            <a:off x="8259266" y="2216901"/>
            <a:ext cx="1939933" cy="523220"/>
          </a:xfrm>
          <a:prstGeom prst="rect">
            <a:avLst/>
          </a:prstGeom>
          <a:noFill/>
        </p:spPr>
        <p:txBody>
          <a:bodyPr wrap="square" rtlCol="0">
            <a:spAutoFit/>
          </a:bodyPr>
          <a:lstStyle/>
          <a:p>
            <a:pPr algn="ctr"/>
            <a:r>
              <a:rPr lang="en-GB" sz="1400" dirty="0"/>
              <a:t>Axon</a:t>
            </a:r>
          </a:p>
          <a:p>
            <a:pPr algn="ctr"/>
            <a:r>
              <a:rPr lang="en-GB" sz="1400" dirty="0"/>
              <a:t>Initial  Segment (AIS)</a:t>
            </a:r>
          </a:p>
        </p:txBody>
      </p:sp>
      <p:cxnSp>
        <p:nvCxnSpPr>
          <p:cNvPr id="27" name="Straight Arrow Connector 26">
            <a:extLst>
              <a:ext uri="{FF2B5EF4-FFF2-40B4-BE49-F238E27FC236}">
                <a16:creationId xmlns:a16="http://schemas.microsoft.com/office/drawing/2014/main" id="{D48214CE-2241-4AB7-931B-7811B380BCAE}"/>
              </a:ext>
            </a:extLst>
          </p:cNvPr>
          <p:cNvCxnSpPr>
            <a:cxnSpLocks/>
          </p:cNvCxnSpPr>
          <p:nvPr/>
        </p:nvCxnSpPr>
        <p:spPr>
          <a:xfrm flipH="1" flipV="1">
            <a:off x="8391298" y="2180883"/>
            <a:ext cx="466952" cy="2101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2EB7F6B-ABA6-4EBC-ABAD-630756E5B565}"/>
              </a:ext>
            </a:extLst>
          </p:cNvPr>
          <p:cNvSpPr txBox="1"/>
          <p:nvPr/>
        </p:nvSpPr>
        <p:spPr>
          <a:xfrm>
            <a:off x="6907758" y="5615553"/>
            <a:ext cx="1189567" cy="307777"/>
          </a:xfrm>
          <a:prstGeom prst="rect">
            <a:avLst/>
          </a:prstGeom>
          <a:noFill/>
        </p:spPr>
        <p:txBody>
          <a:bodyPr wrap="square" rtlCol="0">
            <a:spAutoFit/>
          </a:bodyPr>
          <a:lstStyle/>
          <a:p>
            <a:pPr algn="ctr"/>
            <a:r>
              <a:rPr lang="en-GB" sz="1400" dirty="0"/>
              <a:t>Terminals</a:t>
            </a:r>
          </a:p>
        </p:txBody>
      </p:sp>
      <p:cxnSp>
        <p:nvCxnSpPr>
          <p:cNvPr id="31" name="Straight Arrow Connector 30">
            <a:extLst>
              <a:ext uri="{FF2B5EF4-FFF2-40B4-BE49-F238E27FC236}">
                <a16:creationId xmlns:a16="http://schemas.microsoft.com/office/drawing/2014/main" id="{58A7CE91-D5A9-4C12-9E44-EBDD98FB681F}"/>
              </a:ext>
            </a:extLst>
          </p:cNvPr>
          <p:cNvCxnSpPr>
            <a:cxnSpLocks/>
          </p:cNvCxnSpPr>
          <p:nvPr/>
        </p:nvCxnSpPr>
        <p:spPr>
          <a:xfrm>
            <a:off x="7608757" y="5920385"/>
            <a:ext cx="372051" cy="1485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1603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A66C4-246B-4757-B653-22F7CE2606A4}"/>
              </a:ext>
            </a:extLst>
          </p:cNvPr>
          <p:cNvSpPr>
            <a:spLocks noGrp="1"/>
          </p:cNvSpPr>
          <p:nvPr>
            <p:ph type="title"/>
          </p:nvPr>
        </p:nvSpPr>
        <p:spPr/>
        <p:txBody>
          <a:bodyPr/>
          <a:lstStyle/>
          <a:p>
            <a:r>
              <a:rPr lang="en-GB" dirty="0"/>
              <a:t>Neuronal output: the bouton</a:t>
            </a:r>
          </a:p>
        </p:txBody>
      </p:sp>
      <p:sp>
        <p:nvSpPr>
          <p:cNvPr id="3" name="Content Placeholder 2">
            <a:extLst>
              <a:ext uri="{FF2B5EF4-FFF2-40B4-BE49-F238E27FC236}">
                <a16:creationId xmlns:a16="http://schemas.microsoft.com/office/drawing/2014/main" id="{37C69C9C-3D06-4F0E-B308-9BB34E53D823}"/>
              </a:ext>
            </a:extLst>
          </p:cNvPr>
          <p:cNvSpPr>
            <a:spLocks noGrp="1"/>
          </p:cNvSpPr>
          <p:nvPr>
            <p:ph idx="1"/>
          </p:nvPr>
        </p:nvSpPr>
        <p:spPr/>
        <p:txBody>
          <a:bodyPr/>
          <a:lstStyle/>
          <a:p>
            <a:r>
              <a:rPr lang="en-GB" dirty="0"/>
              <a:t>Majority of neuronal connections (synapses) are chemical</a:t>
            </a:r>
          </a:p>
          <a:p>
            <a:pPr lvl="1"/>
            <a:r>
              <a:rPr lang="en-GB" dirty="0"/>
              <a:t>The signal is released by the bouton in small messenger molecules </a:t>
            </a:r>
            <a:r>
              <a:rPr lang="en-GB" dirty="0">
                <a:sym typeface="Wingdings" panose="05000000000000000000" pitchFamily="2" charset="2"/>
              </a:rPr>
              <a:t> </a:t>
            </a:r>
            <a:r>
              <a:rPr lang="en-GB" b="1" dirty="0">
                <a:sym typeface="Wingdings" panose="05000000000000000000" pitchFamily="2" charset="2"/>
              </a:rPr>
              <a:t>Neurotransmitters</a:t>
            </a:r>
          </a:p>
          <a:p>
            <a:endParaRPr lang="en-GB" dirty="0">
              <a:sym typeface="Wingdings" panose="05000000000000000000" pitchFamily="2" charset="2"/>
            </a:endParaRPr>
          </a:p>
          <a:p>
            <a:r>
              <a:rPr lang="en-GB" dirty="0">
                <a:sym typeface="Wingdings" panose="05000000000000000000" pitchFamily="2" charset="2"/>
              </a:rPr>
              <a:t>Neurotransmitters</a:t>
            </a:r>
            <a:r>
              <a:rPr lang="en-GB" b="1" dirty="0">
                <a:sym typeface="Wingdings" panose="05000000000000000000" pitchFamily="2" charset="2"/>
              </a:rPr>
              <a:t> </a:t>
            </a:r>
            <a:r>
              <a:rPr lang="en-GB" dirty="0">
                <a:sym typeface="Wingdings" panose="05000000000000000000" pitchFamily="2" charset="2"/>
              </a:rPr>
              <a:t>are contained in synaptic </a:t>
            </a:r>
            <a:r>
              <a:rPr lang="en-GB" b="1" dirty="0">
                <a:sym typeface="Wingdings" panose="05000000000000000000" pitchFamily="2" charset="2"/>
              </a:rPr>
              <a:t>vesicles</a:t>
            </a:r>
          </a:p>
          <a:p>
            <a:pPr lvl="1"/>
            <a:r>
              <a:rPr lang="en-GB" dirty="0">
                <a:sym typeface="Wingdings" panose="05000000000000000000" pitchFamily="2" charset="2"/>
              </a:rPr>
              <a:t>The vesicles fuse with the membrane, releasing the neurotransmitters into the synaptic cleft</a:t>
            </a:r>
          </a:p>
          <a:p>
            <a:pPr lvl="1"/>
            <a:r>
              <a:rPr lang="en-GB" dirty="0">
                <a:sym typeface="Wingdings" panose="05000000000000000000" pitchFamily="2" charset="2"/>
              </a:rPr>
              <a:t>The </a:t>
            </a:r>
            <a:r>
              <a:rPr lang="en-GB" b="1" dirty="0">
                <a:sym typeface="Wingdings" panose="05000000000000000000" pitchFamily="2" charset="2"/>
              </a:rPr>
              <a:t>release machinery </a:t>
            </a:r>
            <a:r>
              <a:rPr lang="en-GB" dirty="0">
                <a:sym typeface="Wingdings" panose="05000000000000000000" pitchFamily="2" charset="2"/>
              </a:rPr>
              <a:t>fuses the vesicles and needs </a:t>
            </a:r>
            <a:r>
              <a:rPr lang="en-GB" b="1" dirty="0">
                <a:sym typeface="Wingdings" panose="05000000000000000000" pitchFamily="2" charset="2"/>
              </a:rPr>
              <a:t>Ca</a:t>
            </a:r>
            <a:r>
              <a:rPr lang="en-GB" b="1" baseline="30000" dirty="0">
                <a:sym typeface="Wingdings" panose="05000000000000000000" pitchFamily="2" charset="2"/>
              </a:rPr>
              <a:t>2+</a:t>
            </a:r>
            <a:r>
              <a:rPr lang="en-GB" b="1" dirty="0">
                <a:sym typeface="Wingdings" panose="05000000000000000000" pitchFamily="2" charset="2"/>
              </a:rPr>
              <a:t> channels</a:t>
            </a:r>
            <a:r>
              <a:rPr lang="en-GB" dirty="0">
                <a:sym typeface="Wingdings" panose="05000000000000000000" pitchFamily="2" charset="2"/>
              </a:rPr>
              <a:t> to work</a:t>
            </a:r>
          </a:p>
          <a:p>
            <a:pPr lvl="1"/>
            <a:r>
              <a:rPr lang="en-GB" dirty="0">
                <a:sym typeface="Wingdings" panose="05000000000000000000" pitchFamily="2" charset="2"/>
              </a:rPr>
              <a:t>The identity (</a:t>
            </a:r>
            <a:r>
              <a:rPr lang="en-GB" b="1" dirty="0">
                <a:sym typeface="Wingdings" panose="05000000000000000000" pitchFamily="2" charset="2"/>
              </a:rPr>
              <a:t>neuronal type</a:t>
            </a:r>
            <a:r>
              <a:rPr lang="en-GB" dirty="0">
                <a:sym typeface="Wingdings" panose="05000000000000000000" pitchFamily="2" charset="2"/>
              </a:rPr>
              <a:t>) of the neuron is defined by the </a:t>
            </a:r>
            <a:r>
              <a:rPr lang="en-GB" b="1" dirty="0">
                <a:sym typeface="Wingdings" panose="05000000000000000000" pitchFamily="2" charset="2"/>
              </a:rPr>
              <a:t>neurotransmitter</a:t>
            </a:r>
            <a:endParaRPr lang="en-GB" b="1" dirty="0"/>
          </a:p>
        </p:txBody>
      </p:sp>
      <p:pic>
        <p:nvPicPr>
          <p:cNvPr id="5" name="Picture 4" descr="A picture containing shape&#10;&#10;Description automatically generated">
            <a:extLst>
              <a:ext uri="{FF2B5EF4-FFF2-40B4-BE49-F238E27FC236}">
                <a16:creationId xmlns:a16="http://schemas.microsoft.com/office/drawing/2014/main" id="{2010742B-B0C2-4E69-8CE6-2AD3ADFB3B0D}"/>
              </a:ext>
            </a:extLst>
          </p:cNvPr>
          <p:cNvPicPr>
            <a:picLocks noChangeAspect="1"/>
          </p:cNvPicPr>
          <p:nvPr/>
        </p:nvPicPr>
        <p:blipFill rotWithShape="1">
          <a:blip r:embed="rId2">
            <a:extLst>
              <a:ext uri="{28A0092B-C50C-407E-A947-70E740481C1C}">
                <a14:useLocalDpi xmlns:a14="http://schemas.microsoft.com/office/drawing/2010/main" val="0"/>
              </a:ext>
            </a:extLst>
          </a:blip>
          <a:srcRect t="63092"/>
          <a:stretch/>
        </p:blipFill>
        <p:spPr>
          <a:xfrm>
            <a:off x="6236667" y="1175141"/>
            <a:ext cx="4229572" cy="2170918"/>
          </a:xfrm>
          <a:prstGeom prst="rect">
            <a:avLst/>
          </a:prstGeom>
        </p:spPr>
      </p:pic>
      <p:pic>
        <p:nvPicPr>
          <p:cNvPr id="10242" name="Picture 2" descr="Synapse Dr.Jastrow's electron microscopic atlas">
            <a:extLst>
              <a:ext uri="{FF2B5EF4-FFF2-40B4-BE49-F238E27FC236}">
                <a16:creationId xmlns:a16="http://schemas.microsoft.com/office/drawing/2014/main" id="{96278619-83D8-4220-865D-7F42659536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2417" y="3545615"/>
            <a:ext cx="3056782" cy="305081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D0E938B-70B1-45A3-B906-BD7DAEB83E62}"/>
              </a:ext>
            </a:extLst>
          </p:cNvPr>
          <p:cNvSpPr txBox="1"/>
          <p:nvPr/>
        </p:nvSpPr>
        <p:spPr>
          <a:xfrm>
            <a:off x="9119320" y="950246"/>
            <a:ext cx="1244600" cy="369332"/>
          </a:xfrm>
          <a:prstGeom prst="rect">
            <a:avLst/>
          </a:prstGeom>
          <a:noFill/>
        </p:spPr>
        <p:txBody>
          <a:bodyPr wrap="square" rtlCol="0">
            <a:spAutoFit/>
          </a:bodyPr>
          <a:lstStyle/>
          <a:p>
            <a:pPr algn="ctr"/>
            <a:r>
              <a:rPr lang="en-GB" dirty="0"/>
              <a:t>Boutons</a:t>
            </a:r>
          </a:p>
        </p:txBody>
      </p:sp>
      <p:cxnSp>
        <p:nvCxnSpPr>
          <p:cNvPr id="6" name="Straight Arrow Connector 5">
            <a:extLst>
              <a:ext uri="{FF2B5EF4-FFF2-40B4-BE49-F238E27FC236}">
                <a16:creationId xmlns:a16="http://schemas.microsoft.com/office/drawing/2014/main" id="{708FD704-AD73-4348-9BA3-D4909CA41031}"/>
              </a:ext>
            </a:extLst>
          </p:cNvPr>
          <p:cNvCxnSpPr>
            <a:cxnSpLocks/>
          </p:cNvCxnSpPr>
          <p:nvPr/>
        </p:nvCxnSpPr>
        <p:spPr>
          <a:xfrm flipV="1">
            <a:off x="6458969" y="4893087"/>
            <a:ext cx="1409991" cy="789772"/>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D81070E-C4A6-4B83-B000-A9D30152189E}"/>
              </a:ext>
            </a:extLst>
          </p:cNvPr>
          <p:cNvCxnSpPr>
            <a:cxnSpLocks/>
          </p:cNvCxnSpPr>
          <p:nvPr/>
        </p:nvCxnSpPr>
        <p:spPr>
          <a:xfrm flipV="1">
            <a:off x="6458969" y="4948929"/>
            <a:ext cx="1682217" cy="73393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6F0DBE6-8B31-4546-8288-D144C1B766DD}"/>
              </a:ext>
            </a:extLst>
          </p:cNvPr>
          <p:cNvCxnSpPr>
            <a:cxnSpLocks/>
          </p:cNvCxnSpPr>
          <p:nvPr/>
        </p:nvCxnSpPr>
        <p:spPr>
          <a:xfrm flipV="1">
            <a:off x="6458968" y="5542241"/>
            <a:ext cx="1549594" cy="140618"/>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4CE4609-1F62-4EFE-9F4B-F66942E441CB}"/>
              </a:ext>
            </a:extLst>
          </p:cNvPr>
          <p:cNvSpPr txBox="1"/>
          <p:nvPr/>
        </p:nvSpPr>
        <p:spPr>
          <a:xfrm>
            <a:off x="5661160" y="5542241"/>
            <a:ext cx="798872" cy="523220"/>
          </a:xfrm>
          <a:prstGeom prst="rect">
            <a:avLst/>
          </a:prstGeom>
          <a:noFill/>
        </p:spPr>
        <p:txBody>
          <a:bodyPr wrap="none" rtlCol="0">
            <a:spAutoFit/>
          </a:bodyPr>
          <a:lstStyle/>
          <a:p>
            <a:pPr algn="ctr"/>
            <a:r>
              <a:rPr lang="en-GB" sz="1400" dirty="0"/>
              <a:t>Synaptic</a:t>
            </a:r>
          </a:p>
          <a:p>
            <a:pPr algn="ctr"/>
            <a:r>
              <a:rPr lang="en-GB" sz="1400" dirty="0"/>
              <a:t>vesicles</a:t>
            </a:r>
          </a:p>
        </p:txBody>
      </p:sp>
    </p:spTree>
    <p:extLst>
      <p:ext uri="{BB962C8B-B14F-4D97-AF65-F5344CB8AC3E}">
        <p14:creationId xmlns:p14="http://schemas.microsoft.com/office/powerpoint/2010/main" val="1189695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A66C4-246B-4757-B653-22F7CE2606A4}"/>
              </a:ext>
            </a:extLst>
          </p:cNvPr>
          <p:cNvSpPr>
            <a:spLocks noGrp="1"/>
          </p:cNvSpPr>
          <p:nvPr>
            <p:ph type="title"/>
          </p:nvPr>
        </p:nvSpPr>
        <p:spPr/>
        <p:txBody>
          <a:bodyPr/>
          <a:lstStyle/>
          <a:p>
            <a:r>
              <a:rPr lang="en-GB" dirty="0"/>
              <a:t>Neuronal output: the bouton</a:t>
            </a:r>
          </a:p>
        </p:txBody>
      </p:sp>
      <p:sp>
        <p:nvSpPr>
          <p:cNvPr id="3" name="Content Placeholder 2">
            <a:extLst>
              <a:ext uri="{FF2B5EF4-FFF2-40B4-BE49-F238E27FC236}">
                <a16:creationId xmlns:a16="http://schemas.microsoft.com/office/drawing/2014/main" id="{37C69C9C-3D06-4F0E-B308-9BB34E53D823}"/>
              </a:ext>
            </a:extLst>
          </p:cNvPr>
          <p:cNvSpPr>
            <a:spLocks noGrp="1"/>
          </p:cNvSpPr>
          <p:nvPr>
            <p:ph idx="1"/>
          </p:nvPr>
        </p:nvSpPr>
        <p:spPr>
          <a:xfrm>
            <a:off x="2278592" y="5457070"/>
            <a:ext cx="7634817" cy="1091589"/>
          </a:xfrm>
        </p:spPr>
        <p:txBody>
          <a:bodyPr>
            <a:normAutofit/>
          </a:bodyPr>
          <a:lstStyle/>
          <a:p>
            <a:pPr marL="0" indent="0">
              <a:buNone/>
            </a:pPr>
            <a:r>
              <a:rPr lang="en-GB" dirty="0"/>
              <a:t>SNARE proteins in the release machinery forces the vesicle and the plasma membrane against each other, inducing their </a:t>
            </a:r>
            <a:r>
              <a:rPr lang="en-GB" b="1" dirty="0">
                <a:sym typeface="Wingdings" panose="05000000000000000000" pitchFamily="2" charset="2"/>
              </a:rPr>
              <a:t>Ca</a:t>
            </a:r>
            <a:r>
              <a:rPr lang="en-GB" b="1" baseline="30000" dirty="0">
                <a:sym typeface="Wingdings" panose="05000000000000000000" pitchFamily="2" charset="2"/>
              </a:rPr>
              <a:t>2+</a:t>
            </a:r>
            <a:r>
              <a:rPr lang="en-GB" b="1" dirty="0">
                <a:sym typeface="Wingdings" panose="05000000000000000000" pitchFamily="2" charset="2"/>
              </a:rPr>
              <a:t>-dependent </a:t>
            </a:r>
            <a:r>
              <a:rPr lang="en-GB" dirty="0"/>
              <a:t>fusion</a:t>
            </a:r>
          </a:p>
        </p:txBody>
      </p:sp>
      <p:pic>
        <p:nvPicPr>
          <p:cNvPr id="4" name="Picture 4" descr="SNARE (protein) - Wikipedia">
            <a:extLst>
              <a:ext uri="{FF2B5EF4-FFF2-40B4-BE49-F238E27FC236}">
                <a16:creationId xmlns:a16="http://schemas.microsoft.com/office/drawing/2014/main" id="{10A1647A-D51D-41BA-91B7-888F6BA79E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9814" y="1892175"/>
            <a:ext cx="5084554" cy="3450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2181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B9022-94D5-4938-BD20-6B3C6606589A}"/>
              </a:ext>
            </a:extLst>
          </p:cNvPr>
          <p:cNvSpPr>
            <a:spLocks noGrp="1"/>
          </p:cNvSpPr>
          <p:nvPr>
            <p:ph type="title"/>
          </p:nvPr>
        </p:nvSpPr>
        <p:spPr/>
        <p:txBody>
          <a:bodyPr/>
          <a:lstStyle/>
          <a:p>
            <a:r>
              <a:rPr lang="en-GB" dirty="0"/>
              <a:t>The neurotransmitter</a:t>
            </a:r>
          </a:p>
        </p:txBody>
      </p:sp>
      <p:sp>
        <p:nvSpPr>
          <p:cNvPr id="3" name="Content Placeholder 2">
            <a:extLst>
              <a:ext uri="{FF2B5EF4-FFF2-40B4-BE49-F238E27FC236}">
                <a16:creationId xmlns:a16="http://schemas.microsoft.com/office/drawing/2014/main" id="{F3FC7671-D759-41D2-A497-94C871EF113D}"/>
              </a:ext>
            </a:extLst>
          </p:cNvPr>
          <p:cNvSpPr>
            <a:spLocks noGrp="1"/>
          </p:cNvSpPr>
          <p:nvPr>
            <p:ph idx="1"/>
          </p:nvPr>
        </p:nvSpPr>
        <p:spPr/>
        <p:txBody>
          <a:bodyPr/>
          <a:lstStyle/>
          <a:p>
            <a:endParaRPr lang="en-GB" dirty="0"/>
          </a:p>
        </p:txBody>
      </p:sp>
      <p:pic>
        <p:nvPicPr>
          <p:cNvPr id="12290" name="Picture 2" descr="Chemical Structures of Neurotransmitters">
            <a:extLst>
              <a:ext uri="{FF2B5EF4-FFF2-40B4-BE49-F238E27FC236}">
                <a16:creationId xmlns:a16="http://schemas.microsoft.com/office/drawing/2014/main" id="{13621924-7FD9-458B-991F-E787C0CC96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08"/>
          <a:stretch/>
        </p:blipFill>
        <p:spPr bwMode="auto">
          <a:xfrm>
            <a:off x="2391742" y="1240325"/>
            <a:ext cx="7408516" cy="50616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7C893CF-28F7-44C9-BB09-BF658AD7804D}"/>
              </a:ext>
            </a:extLst>
          </p:cNvPr>
          <p:cNvSpPr txBox="1"/>
          <p:nvPr/>
        </p:nvSpPr>
        <p:spPr>
          <a:xfrm>
            <a:off x="3645529" y="6471432"/>
            <a:ext cx="4900942" cy="276999"/>
          </a:xfrm>
          <a:prstGeom prst="rect">
            <a:avLst/>
          </a:prstGeom>
          <a:noFill/>
        </p:spPr>
        <p:txBody>
          <a:bodyPr wrap="square">
            <a:spAutoFit/>
          </a:bodyPr>
          <a:lstStyle/>
          <a:p>
            <a:r>
              <a:rPr lang="en-GB" sz="1200" dirty="0"/>
              <a:t>https://www.compoundchem.com/2015/07/30/neurotransmitters/</a:t>
            </a:r>
          </a:p>
        </p:txBody>
      </p:sp>
      <p:grpSp>
        <p:nvGrpSpPr>
          <p:cNvPr id="4" name="Group 3">
            <a:extLst>
              <a:ext uri="{FF2B5EF4-FFF2-40B4-BE49-F238E27FC236}">
                <a16:creationId xmlns:a16="http://schemas.microsoft.com/office/drawing/2014/main" id="{BFB0FAB8-9ABC-4B7F-B17A-D7FD41AC5E20}"/>
              </a:ext>
            </a:extLst>
          </p:cNvPr>
          <p:cNvGrpSpPr/>
          <p:nvPr/>
        </p:nvGrpSpPr>
        <p:grpSpPr>
          <a:xfrm>
            <a:off x="2721256" y="3827975"/>
            <a:ext cx="5068196" cy="1807806"/>
            <a:chOff x="812801" y="3839028"/>
            <a:chExt cx="5656035" cy="2017486"/>
          </a:xfrm>
        </p:grpSpPr>
        <p:pic>
          <p:nvPicPr>
            <p:cNvPr id="7" name="Picture 2" descr="Chemical Structures of Neurotransmitters">
              <a:extLst>
                <a:ext uri="{FF2B5EF4-FFF2-40B4-BE49-F238E27FC236}">
                  <a16:creationId xmlns:a16="http://schemas.microsoft.com/office/drawing/2014/main" id="{471E414F-E380-4343-8CE9-716373CB5E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33" t="52816" r="72734" b="12650"/>
            <a:stretch/>
          </p:blipFill>
          <p:spPr bwMode="auto">
            <a:xfrm>
              <a:off x="812801" y="3839029"/>
              <a:ext cx="1879600" cy="201748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hemical Structures of Neurotransmitters">
              <a:extLst>
                <a:ext uri="{FF2B5EF4-FFF2-40B4-BE49-F238E27FC236}">
                  <a16:creationId xmlns:a16="http://schemas.microsoft.com/office/drawing/2014/main" id="{52578BD6-96B8-49DD-A170-071760CB45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704" t="52816" r="27354" b="12650"/>
            <a:stretch/>
          </p:blipFill>
          <p:spPr bwMode="auto">
            <a:xfrm>
              <a:off x="4572000" y="3839028"/>
              <a:ext cx="1896836" cy="201748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a:extLst>
              <a:ext uri="{FF2B5EF4-FFF2-40B4-BE49-F238E27FC236}">
                <a16:creationId xmlns:a16="http://schemas.microsoft.com/office/drawing/2014/main" id="{69B27B69-2B69-4390-A5EF-EA9DCDE58865}"/>
              </a:ext>
            </a:extLst>
          </p:cNvPr>
          <p:cNvGrpSpPr/>
          <p:nvPr/>
        </p:nvGrpSpPr>
        <p:grpSpPr>
          <a:xfrm>
            <a:off x="2494176" y="3269380"/>
            <a:ext cx="5495624" cy="579156"/>
            <a:chOff x="569990" y="3235791"/>
            <a:chExt cx="6133039" cy="646331"/>
          </a:xfrm>
        </p:grpSpPr>
        <p:sp>
          <p:nvSpPr>
            <p:cNvPr id="5" name="TextBox 4">
              <a:extLst>
                <a:ext uri="{FF2B5EF4-FFF2-40B4-BE49-F238E27FC236}">
                  <a16:creationId xmlns:a16="http://schemas.microsoft.com/office/drawing/2014/main" id="{6DD8DA5A-91B4-4F07-B409-B096B2C86844}"/>
                </a:ext>
              </a:extLst>
            </p:cNvPr>
            <p:cNvSpPr txBox="1"/>
            <p:nvPr/>
          </p:nvSpPr>
          <p:spPr>
            <a:xfrm>
              <a:off x="569990" y="3235791"/>
              <a:ext cx="2365222" cy="646331"/>
            </a:xfrm>
            <a:prstGeom prst="rect">
              <a:avLst/>
            </a:prstGeom>
            <a:noFill/>
          </p:spPr>
          <p:txBody>
            <a:bodyPr wrap="square" rtlCol="0">
              <a:spAutoFit/>
            </a:bodyPr>
            <a:lstStyle/>
            <a:p>
              <a:pPr algn="ctr"/>
              <a:r>
                <a:rPr lang="en-GB" dirty="0"/>
                <a:t>Main inhibitory</a:t>
              </a:r>
            </a:p>
            <a:p>
              <a:pPr algn="ctr"/>
              <a:r>
                <a:rPr lang="en-GB" dirty="0"/>
                <a:t>neurotransmitter </a:t>
              </a:r>
            </a:p>
          </p:txBody>
        </p:sp>
        <p:sp>
          <p:nvSpPr>
            <p:cNvPr id="10" name="TextBox 9">
              <a:extLst>
                <a:ext uri="{FF2B5EF4-FFF2-40B4-BE49-F238E27FC236}">
                  <a16:creationId xmlns:a16="http://schemas.microsoft.com/office/drawing/2014/main" id="{D5662D95-0918-4C64-8E32-F6767860E5B2}"/>
                </a:ext>
              </a:extLst>
            </p:cNvPr>
            <p:cNvSpPr txBox="1"/>
            <p:nvPr/>
          </p:nvSpPr>
          <p:spPr>
            <a:xfrm>
              <a:off x="4337807" y="3235791"/>
              <a:ext cx="2365222" cy="646331"/>
            </a:xfrm>
            <a:prstGeom prst="rect">
              <a:avLst/>
            </a:prstGeom>
            <a:noFill/>
          </p:spPr>
          <p:txBody>
            <a:bodyPr wrap="square" rtlCol="0">
              <a:spAutoFit/>
            </a:bodyPr>
            <a:lstStyle/>
            <a:p>
              <a:pPr algn="ctr"/>
              <a:r>
                <a:rPr lang="en-GB" dirty="0"/>
                <a:t>Main excitatory</a:t>
              </a:r>
            </a:p>
            <a:p>
              <a:pPr algn="ctr"/>
              <a:r>
                <a:rPr lang="en-GB" dirty="0"/>
                <a:t>neurotransmitter </a:t>
              </a:r>
            </a:p>
          </p:txBody>
        </p:sp>
      </p:grpSp>
    </p:spTree>
    <p:extLst>
      <p:ext uri="{BB962C8B-B14F-4D97-AF65-F5344CB8AC3E}">
        <p14:creationId xmlns:p14="http://schemas.microsoft.com/office/powerpoint/2010/main" val="2571364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2290"/>
                                        </p:tgtEl>
                                      </p:cBhvr>
                                    </p:animEffect>
                                    <p:set>
                                      <p:cBhvr>
                                        <p:cTn id="7" dur="1" fill="hold">
                                          <p:stCondLst>
                                            <p:cond delay="499"/>
                                          </p:stCondLst>
                                        </p:cTn>
                                        <p:tgtEl>
                                          <p:spTgt spid="12290"/>
                                        </p:tgtEl>
                                        <p:attrNameLst>
                                          <p:attrName>style.visibility</p:attrName>
                                        </p:attrNameLst>
                                      </p:cBhvr>
                                      <p:to>
                                        <p:strVal val="hidden"/>
                                      </p:to>
                                    </p:se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89482-EAC5-4914-96F1-24DFEE4E1E04}"/>
              </a:ext>
            </a:extLst>
          </p:cNvPr>
          <p:cNvSpPr>
            <a:spLocks noGrp="1"/>
          </p:cNvSpPr>
          <p:nvPr>
            <p:ph type="title"/>
          </p:nvPr>
        </p:nvSpPr>
        <p:spPr/>
        <p:txBody>
          <a:bodyPr/>
          <a:lstStyle/>
          <a:p>
            <a:r>
              <a:rPr lang="en-GB" dirty="0"/>
              <a:t>The synapse</a:t>
            </a:r>
          </a:p>
        </p:txBody>
      </p:sp>
      <p:sp>
        <p:nvSpPr>
          <p:cNvPr id="3" name="Content Placeholder 2">
            <a:extLst>
              <a:ext uri="{FF2B5EF4-FFF2-40B4-BE49-F238E27FC236}">
                <a16:creationId xmlns:a16="http://schemas.microsoft.com/office/drawing/2014/main" id="{A91631F4-3B29-4A75-9B0C-4D6D3824B6E3}"/>
              </a:ext>
            </a:extLst>
          </p:cNvPr>
          <p:cNvSpPr>
            <a:spLocks noGrp="1"/>
          </p:cNvSpPr>
          <p:nvPr>
            <p:ph idx="1"/>
          </p:nvPr>
        </p:nvSpPr>
        <p:spPr/>
        <p:txBody>
          <a:bodyPr/>
          <a:lstStyle/>
          <a:p>
            <a:r>
              <a:rPr lang="en-GB" b="1" dirty="0"/>
              <a:t>Boutons</a:t>
            </a:r>
            <a:r>
              <a:rPr lang="en-GB" dirty="0"/>
              <a:t> are the </a:t>
            </a:r>
            <a:r>
              <a:rPr lang="en-GB" b="1" dirty="0"/>
              <a:t>presynaptic</a:t>
            </a:r>
            <a:r>
              <a:rPr lang="en-GB" dirty="0"/>
              <a:t> components of the synapse</a:t>
            </a:r>
          </a:p>
          <a:p>
            <a:pPr lvl="1"/>
            <a:r>
              <a:rPr lang="en-GB" dirty="0"/>
              <a:t>Neurotransmitters are released in the synaptic cleft</a:t>
            </a:r>
          </a:p>
          <a:p>
            <a:r>
              <a:rPr lang="en-GB" b="1" dirty="0"/>
              <a:t>Dendritic spines </a:t>
            </a:r>
            <a:r>
              <a:rPr lang="en-GB" dirty="0"/>
              <a:t>are the </a:t>
            </a:r>
            <a:r>
              <a:rPr lang="en-GB" b="1" dirty="0"/>
              <a:t>postsynaptic</a:t>
            </a:r>
            <a:r>
              <a:rPr lang="en-GB" dirty="0"/>
              <a:t> components of the synapse</a:t>
            </a:r>
          </a:p>
          <a:p>
            <a:pPr lvl="1"/>
            <a:r>
              <a:rPr lang="en-GB" dirty="0"/>
              <a:t>The neurotransmitters bind to ligand-gated ion channels and metabotropic receptors</a:t>
            </a:r>
          </a:p>
          <a:p>
            <a:endParaRPr lang="en-GB" dirty="0"/>
          </a:p>
        </p:txBody>
      </p:sp>
      <p:pic>
        <p:nvPicPr>
          <p:cNvPr id="5" name="Picture 3" descr="D:\kuloth\2014\March\06-03-2014\nrn_aop\slides_img\nrn3708-f1.jpg">
            <a:extLst>
              <a:ext uri="{FF2B5EF4-FFF2-40B4-BE49-F238E27FC236}">
                <a16:creationId xmlns:a16="http://schemas.microsoft.com/office/drawing/2014/main" id="{6DE52DBC-E216-404D-8F23-6480CB6E06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5083"/>
          <a:stretch/>
        </p:blipFill>
        <p:spPr bwMode="auto">
          <a:xfrm>
            <a:off x="7128388" y="1012181"/>
            <a:ext cx="4362685" cy="4833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D:\kuloth\2014\March\06-03-2014\nrn_aop\slides_img\nrn3708-f1.jpg">
            <a:extLst>
              <a:ext uri="{FF2B5EF4-FFF2-40B4-BE49-F238E27FC236}">
                <a16:creationId xmlns:a16="http://schemas.microsoft.com/office/drawing/2014/main" id="{15873367-25DD-463B-8713-97B0659C573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53725" r="45083"/>
          <a:stretch/>
        </p:blipFill>
        <p:spPr bwMode="auto">
          <a:xfrm>
            <a:off x="7128388" y="3606801"/>
            <a:ext cx="4362685" cy="2236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A9BC33D3-EFC5-4ABF-AD32-95EE6005441B}"/>
              </a:ext>
            </a:extLst>
          </p:cNvPr>
          <p:cNvSpPr txBox="1"/>
          <p:nvPr/>
        </p:nvSpPr>
        <p:spPr>
          <a:xfrm>
            <a:off x="7365454" y="5740401"/>
            <a:ext cx="4168678" cy="276999"/>
          </a:xfrm>
          <a:prstGeom prst="rect">
            <a:avLst/>
          </a:prstGeom>
          <a:noFill/>
        </p:spPr>
        <p:txBody>
          <a:bodyPr wrap="square" rtlCol="0">
            <a:spAutoFit/>
          </a:bodyPr>
          <a:lstStyle/>
          <a:p>
            <a:r>
              <a:rPr lang="fr-FR" sz="1200" i="1" dirty="0"/>
              <a:t>Nature Reviews Neuroscience</a:t>
            </a:r>
            <a:r>
              <a:rPr lang="fr-FR" sz="1200" dirty="0"/>
              <a:t> </a:t>
            </a:r>
            <a:r>
              <a:rPr lang="fr-FR" sz="1200" b="1" dirty="0"/>
              <a:t>volume15</a:t>
            </a:r>
            <a:r>
              <a:rPr lang="fr-FR" sz="1200" dirty="0"/>
              <a:t>, pages 250–263 (2014)</a:t>
            </a:r>
            <a:endParaRPr lang="en-GB" sz="1200" dirty="0"/>
          </a:p>
        </p:txBody>
      </p:sp>
      <p:grpSp>
        <p:nvGrpSpPr>
          <p:cNvPr id="4" name="Group 3">
            <a:extLst>
              <a:ext uri="{FF2B5EF4-FFF2-40B4-BE49-F238E27FC236}">
                <a16:creationId xmlns:a16="http://schemas.microsoft.com/office/drawing/2014/main" id="{92AAEB72-3CFD-416A-9181-463821B2D7D1}"/>
              </a:ext>
            </a:extLst>
          </p:cNvPr>
          <p:cNvGrpSpPr/>
          <p:nvPr/>
        </p:nvGrpSpPr>
        <p:grpSpPr>
          <a:xfrm>
            <a:off x="2669005" y="4171627"/>
            <a:ext cx="4577915" cy="2328468"/>
            <a:chOff x="223895" y="3928278"/>
            <a:chExt cx="4577915" cy="2328468"/>
          </a:xfrm>
        </p:grpSpPr>
        <p:grpSp>
          <p:nvGrpSpPr>
            <p:cNvPr id="14" name="Group 13">
              <a:extLst>
                <a:ext uri="{FF2B5EF4-FFF2-40B4-BE49-F238E27FC236}">
                  <a16:creationId xmlns:a16="http://schemas.microsoft.com/office/drawing/2014/main" id="{60556957-A45D-4918-8902-24DF4F4515E5}"/>
                </a:ext>
              </a:extLst>
            </p:cNvPr>
            <p:cNvGrpSpPr/>
            <p:nvPr/>
          </p:nvGrpSpPr>
          <p:grpSpPr>
            <a:xfrm>
              <a:off x="223895" y="3928278"/>
              <a:ext cx="4577915" cy="2089121"/>
              <a:chOff x="223895" y="3928278"/>
              <a:chExt cx="4577915" cy="2089121"/>
            </a:xfrm>
          </p:grpSpPr>
          <p:pic>
            <p:nvPicPr>
              <p:cNvPr id="12" name="Picture 11" descr="A picture containing shape&#10;&#10;Description automatically generated">
                <a:extLst>
                  <a:ext uri="{FF2B5EF4-FFF2-40B4-BE49-F238E27FC236}">
                    <a16:creationId xmlns:a16="http://schemas.microsoft.com/office/drawing/2014/main" id="{FD9EEBB1-4ECC-49D5-9C36-6E083BEF1FFC}"/>
                  </a:ext>
                </a:extLst>
              </p:cNvPr>
              <p:cNvPicPr>
                <a:picLocks noChangeAspect="1"/>
              </p:cNvPicPr>
              <p:nvPr/>
            </p:nvPicPr>
            <p:blipFill rotWithShape="1">
              <a:blip r:embed="rId5">
                <a:extLst>
                  <a:ext uri="{28A0092B-C50C-407E-A947-70E740481C1C}">
                    <a14:useLocalDpi xmlns:a14="http://schemas.microsoft.com/office/drawing/2010/main" val="0"/>
                  </a:ext>
                </a:extLst>
              </a:blip>
              <a:srcRect b="64482"/>
              <a:stretch/>
            </p:blipFill>
            <p:spPr>
              <a:xfrm>
                <a:off x="223895" y="3928278"/>
                <a:ext cx="4229572" cy="2089121"/>
              </a:xfrm>
              <a:prstGeom prst="rect">
                <a:avLst/>
              </a:prstGeom>
            </p:spPr>
          </p:pic>
          <p:sp>
            <p:nvSpPr>
              <p:cNvPr id="13" name="Freeform: Shape 12">
                <a:extLst>
                  <a:ext uri="{FF2B5EF4-FFF2-40B4-BE49-F238E27FC236}">
                    <a16:creationId xmlns:a16="http://schemas.microsoft.com/office/drawing/2014/main" id="{383C9DDF-B0FA-4C01-909E-9F3C2A935A80}"/>
                  </a:ext>
                </a:extLst>
              </p:cNvPr>
              <p:cNvSpPr/>
              <p:nvPr/>
            </p:nvSpPr>
            <p:spPr>
              <a:xfrm>
                <a:off x="4124477" y="4031636"/>
                <a:ext cx="677333" cy="223468"/>
              </a:xfrm>
              <a:custGeom>
                <a:avLst/>
                <a:gdLst>
                  <a:gd name="connsiteX0" fmla="*/ 0 w 677333"/>
                  <a:gd name="connsiteY0" fmla="*/ 223468 h 223468"/>
                  <a:gd name="connsiteX1" fmla="*/ 254000 w 677333"/>
                  <a:gd name="connsiteY1" fmla="*/ 11802 h 223468"/>
                  <a:gd name="connsiteX2" fmla="*/ 677333 w 677333"/>
                  <a:gd name="connsiteY2" fmla="*/ 45668 h 223468"/>
                </a:gdLst>
                <a:ahLst/>
                <a:cxnLst>
                  <a:cxn ang="0">
                    <a:pos x="connsiteX0" y="connsiteY0"/>
                  </a:cxn>
                  <a:cxn ang="0">
                    <a:pos x="connsiteX1" y="connsiteY1"/>
                  </a:cxn>
                  <a:cxn ang="0">
                    <a:pos x="connsiteX2" y="connsiteY2"/>
                  </a:cxn>
                </a:cxnLst>
                <a:rect l="l" t="t" r="r" b="b"/>
                <a:pathLst>
                  <a:path w="677333" h="223468">
                    <a:moveTo>
                      <a:pt x="0" y="223468"/>
                    </a:moveTo>
                    <a:cubicBezTo>
                      <a:pt x="70555" y="132451"/>
                      <a:pt x="141111" y="41435"/>
                      <a:pt x="254000" y="11802"/>
                    </a:cubicBezTo>
                    <a:cubicBezTo>
                      <a:pt x="366889" y="-17831"/>
                      <a:pt x="522111" y="13918"/>
                      <a:pt x="677333" y="45668"/>
                    </a:cubicBezTo>
                  </a:path>
                </a:pathLst>
              </a:custGeom>
              <a:noFill/>
              <a:ln w="38100">
                <a:solidFill>
                  <a:schemeClr val="accent2">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6" name="TextBox 15">
              <a:extLst>
                <a:ext uri="{FF2B5EF4-FFF2-40B4-BE49-F238E27FC236}">
                  <a16:creationId xmlns:a16="http://schemas.microsoft.com/office/drawing/2014/main" id="{45FB6D1C-7707-441C-934C-BEB5FCFB43F4}"/>
                </a:ext>
              </a:extLst>
            </p:cNvPr>
            <p:cNvSpPr txBox="1"/>
            <p:nvPr/>
          </p:nvSpPr>
          <p:spPr>
            <a:xfrm>
              <a:off x="3103034" y="5610415"/>
              <a:ext cx="1244600" cy="646331"/>
            </a:xfrm>
            <a:prstGeom prst="rect">
              <a:avLst/>
            </a:prstGeom>
            <a:noFill/>
          </p:spPr>
          <p:txBody>
            <a:bodyPr wrap="square" rtlCol="0">
              <a:spAutoFit/>
            </a:bodyPr>
            <a:lstStyle/>
            <a:p>
              <a:pPr algn="ctr"/>
              <a:r>
                <a:rPr lang="en-GB" dirty="0"/>
                <a:t>Dendritic</a:t>
              </a:r>
            </a:p>
            <a:p>
              <a:pPr algn="ctr"/>
              <a:r>
                <a:rPr lang="en-GB" dirty="0"/>
                <a:t>spines</a:t>
              </a:r>
            </a:p>
          </p:txBody>
        </p:sp>
      </p:grpSp>
      <p:sp>
        <p:nvSpPr>
          <p:cNvPr id="7" name="TextBox 6">
            <a:extLst>
              <a:ext uri="{FF2B5EF4-FFF2-40B4-BE49-F238E27FC236}">
                <a16:creationId xmlns:a16="http://schemas.microsoft.com/office/drawing/2014/main" id="{A1D24705-C57F-4938-9B1B-4C2E71919E6A}"/>
              </a:ext>
            </a:extLst>
          </p:cNvPr>
          <p:cNvSpPr txBox="1"/>
          <p:nvPr/>
        </p:nvSpPr>
        <p:spPr>
          <a:xfrm>
            <a:off x="8164749" y="3466614"/>
            <a:ext cx="785899" cy="461665"/>
          </a:xfrm>
          <a:prstGeom prst="rect">
            <a:avLst/>
          </a:prstGeom>
          <a:noFill/>
        </p:spPr>
        <p:txBody>
          <a:bodyPr wrap="square" rtlCol="0">
            <a:spAutoFit/>
          </a:bodyPr>
          <a:lstStyle/>
          <a:p>
            <a:pPr algn="ctr"/>
            <a:r>
              <a:rPr lang="en-GB" sz="1200" dirty="0">
                <a:solidFill>
                  <a:schemeClr val="accent4">
                    <a:lumMod val="75000"/>
                  </a:schemeClr>
                </a:solidFill>
              </a:rPr>
              <a:t>Synaptic</a:t>
            </a:r>
            <a:br>
              <a:rPr lang="en-GB" sz="1200" dirty="0">
                <a:solidFill>
                  <a:schemeClr val="accent4">
                    <a:lumMod val="75000"/>
                  </a:schemeClr>
                </a:solidFill>
              </a:rPr>
            </a:br>
            <a:r>
              <a:rPr lang="en-GB" sz="1200" dirty="0">
                <a:solidFill>
                  <a:schemeClr val="accent4">
                    <a:lumMod val="75000"/>
                  </a:schemeClr>
                </a:solidFill>
              </a:rPr>
              <a:t>cleft</a:t>
            </a:r>
          </a:p>
        </p:txBody>
      </p:sp>
      <p:sp>
        <p:nvSpPr>
          <p:cNvPr id="9" name="Freeform: Shape 8">
            <a:extLst>
              <a:ext uri="{FF2B5EF4-FFF2-40B4-BE49-F238E27FC236}">
                <a16:creationId xmlns:a16="http://schemas.microsoft.com/office/drawing/2014/main" id="{840517B2-7942-432F-B9D6-9BD877E862C8}"/>
              </a:ext>
            </a:extLst>
          </p:cNvPr>
          <p:cNvSpPr/>
          <p:nvPr/>
        </p:nvSpPr>
        <p:spPr>
          <a:xfrm>
            <a:off x="7625554" y="3459711"/>
            <a:ext cx="2969415" cy="580928"/>
          </a:xfrm>
          <a:custGeom>
            <a:avLst/>
            <a:gdLst>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313820 w 2969415"/>
              <a:gd name="connsiteY15" fmla="*/ 4918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313820 w 2969415"/>
              <a:gd name="connsiteY15" fmla="*/ 491804 h 575393"/>
              <a:gd name="connsiteX16" fmla="*/ 25348 w 2969415"/>
              <a:gd name="connsiteY16" fmla="*/ 473661 h 575393"/>
              <a:gd name="connsiteX17" fmla="*/ 18091 w 2969415"/>
              <a:gd name="connsiteY17" fmla="*/ 81776 h 575393"/>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7184 w 2969415"/>
              <a:gd name="connsiteY10" fmla="*/ 52899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69415" h="580928">
                <a:moveTo>
                  <a:pt x="18091" y="81776"/>
                </a:moveTo>
                <a:cubicBezTo>
                  <a:pt x="72520" y="103396"/>
                  <a:pt x="125739" y="95081"/>
                  <a:pt x="199520" y="89033"/>
                </a:cubicBezTo>
                <a:cubicBezTo>
                  <a:pt x="273301" y="82985"/>
                  <a:pt x="315634" y="58795"/>
                  <a:pt x="460777" y="45490"/>
                </a:cubicBezTo>
                <a:cubicBezTo>
                  <a:pt x="605920" y="32185"/>
                  <a:pt x="862339" y="16461"/>
                  <a:pt x="1070377" y="9204"/>
                </a:cubicBezTo>
                <a:cubicBezTo>
                  <a:pt x="1278415" y="1947"/>
                  <a:pt x="1504596" y="-2891"/>
                  <a:pt x="1709005" y="1947"/>
                </a:cubicBezTo>
                <a:cubicBezTo>
                  <a:pt x="1913414" y="6785"/>
                  <a:pt x="2140806" y="26138"/>
                  <a:pt x="2296834" y="38233"/>
                </a:cubicBezTo>
                <a:cubicBezTo>
                  <a:pt x="2452862" y="50328"/>
                  <a:pt x="2548415" y="63633"/>
                  <a:pt x="2645177" y="74519"/>
                </a:cubicBezTo>
                <a:cubicBezTo>
                  <a:pt x="2741939" y="85405"/>
                  <a:pt x="2830234" y="98709"/>
                  <a:pt x="2877405" y="103547"/>
                </a:cubicBezTo>
                <a:cubicBezTo>
                  <a:pt x="2924576" y="108385"/>
                  <a:pt x="2841119" y="101733"/>
                  <a:pt x="2928205" y="103547"/>
                </a:cubicBezTo>
                <a:cubicBezTo>
                  <a:pt x="2939091" y="168861"/>
                  <a:pt x="3005615" y="427700"/>
                  <a:pt x="2942720" y="495433"/>
                </a:cubicBezTo>
                <a:cubicBezTo>
                  <a:pt x="2844900" y="496491"/>
                  <a:pt x="2678137" y="519321"/>
                  <a:pt x="2557184" y="528997"/>
                </a:cubicBezTo>
                <a:cubicBezTo>
                  <a:pt x="2436232" y="538673"/>
                  <a:pt x="2363206" y="545779"/>
                  <a:pt x="2217005" y="553490"/>
                </a:cubicBezTo>
                <a:cubicBezTo>
                  <a:pt x="2070804" y="561201"/>
                  <a:pt x="1846891" y="571406"/>
                  <a:pt x="1679977" y="575261"/>
                </a:cubicBezTo>
                <a:cubicBezTo>
                  <a:pt x="1513063" y="579116"/>
                  <a:pt x="1398158" y="585089"/>
                  <a:pt x="1215520" y="576622"/>
                </a:cubicBezTo>
                <a:cubicBezTo>
                  <a:pt x="1032882" y="568155"/>
                  <a:pt x="734431" y="538597"/>
                  <a:pt x="584148" y="524461"/>
                </a:cubicBezTo>
                <a:cubicBezTo>
                  <a:pt x="433865" y="510325"/>
                  <a:pt x="432353" y="509796"/>
                  <a:pt x="313820" y="491804"/>
                </a:cubicBezTo>
                <a:cubicBezTo>
                  <a:pt x="220687" y="483337"/>
                  <a:pt x="148417" y="485756"/>
                  <a:pt x="25348" y="473661"/>
                </a:cubicBezTo>
                <a:cubicBezTo>
                  <a:pt x="-2471" y="410766"/>
                  <a:pt x="-10938" y="145881"/>
                  <a:pt x="18091" y="81776"/>
                </a:cubicBezTo>
                <a:close/>
              </a:path>
            </a:pathLst>
          </a:custGeom>
          <a:solidFill>
            <a:schemeClr val="accent4">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4">
                  <a:lumMod val="75000"/>
                </a:schemeClr>
              </a:solidFill>
            </a:endParaRPr>
          </a:p>
        </p:txBody>
      </p:sp>
    </p:spTree>
    <p:extLst>
      <p:ext uri="{BB962C8B-B14F-4D97-AF65-F5344CB8AC3E}">
        <p14:creationId xmlns:p14="http://schemas.microsoft.com/office/powerpoint/2010/main" val="2728036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C4C0B-5CFA-41D7-905D-AF430079A3C2}"/>
              </a:ext>
            </a:extLst>
          </p:cNvPr>
          <p:cNvSpPr>
            <a:spLocks noGrp="1"/>
          </p:cNvSpPr>
          <p:nvPr>
            <p:ph type="title"/>
          </p:nvPr>
        </p:nvSpPr>
        <p:spPr/>
        <p:txBody>
          <a:bodyPr/>
          <a:lstStyle/>
          <a:p>
            <a:r>
              <a:rPr lang="en-GB" dirty="0"/>
              <a:t>The Postsynaptic Density</a:t>
            </a:r>
          </a:p>
        </p:txBody>
      </p:sp>
      <p:sp>
        <p:nvSpPr>
          <p:cNvPr id="3" name="Content Placeholder 2">
            <a:extLst>
              <a:ext uri="{FF2B5EF4-FFF2-40B4-BE49-F238E27FC236}">
                <a16:creationId xmlns:a16="http://schemas.microsoft.com/office/drawing/2014/main" id="{6D7C7EFA-1EC6-4EA3-A5F3-8DED78057404}"/>
              </a:ext>
            </a:extLst>
          </p:cNvPr>
          <p:cNvSpPr>
            <a:spLocks noGrp="1"/>
          </p:cNvSpPr>
          <p:nvPr>
            <p:ph idx="1"/>
          </p:nvPr>
        </p:nvSpPr>
        <p:spPr>
          <a:xfrm>
            <a:off x="320617" y="1262269"/>
            <a:ext cx="5766620" cy="5046514"/>
          </a:xfrm>
        </p:spPr>
        <p:txBody>
          <a:bodyPr>
            <a:normAutofit fontScale="70000" lnSpcReduction="20000"/>
          </a:bodyPr>
          <a:lstStyle/>
          <a:p>
            <a:r>
              <a:rPr lang="en-GB" dirty="0"/>
              <a:t>Ion channels (ionotropic)</a:t>
            </a:r>
          </a:p>
          <a:p>
            <a:pPr lvl="1"/>
            <a:r>
              <a:rPr lang="en-GB" b="1" dirty="0">
                <a:solidFill>
                  <a:schemeClr val="accent1"/>
                </a:solidFill>
              </a:rPr>
              <a:t>NMDARs, AMPARs, KainateR</a:t>
            </a:r>
          </a:p>
          <a:p>
            <a:pPr lvl="1"/>
            <a:r>
              <a:rPr lang="en-GB" b="1" dirty="0">
                <a:solidFill>
                  <a:schemeClr val="accent6">
                    <a:lumMod val="75000"/>
                  </a:schemeClr>
                </a:solidFill>
              </a:rPr>
              <a:t>GABA</a:t>
            </a:r>
            <a:r>
              <a:rPr lang="en-GB" b="1" baseline="-25000" dirty="0">
                <a:solidFill>
                  <a:schemeClr val="accent6">
                    <a:lumMod val="75000"/>
                  </a:schemeClr>
                </a:solidFill>
              </a:rPr>
              <a:t>A</a:t>
            </a:r>
            <a:r>
              <a:rPr lang="en-GB" dirty="0"/>
              <a:t> </a:t>
            </a:r>
            <a:r>
              <a:rPr lang="en-GB" b="1" dirty="0">
                <a:solidFill>
                  <a:schemeClr val="accent6">
                    <a:lumMod val="75000"/>
                  </a:schemeClr>
                </a:solidFill>
              </a:rPr>
              <a:t>receptors</a:t>
            </a:r>
          </a:p>
          <a:p>
            <a:pPr lvl="1"/>
            <a:r>
              <a:rPr lang="en-GB" dirty="0"/>
              <a:t>Voltage-gated ion channels (Ca</a:t>
            </a:r>
            <a:r>
              <a:rPr lang="en-GB" baseline="30000" dirty="0"/>
              <a:t>2+</a:t>
            </a:r>
            <a:r>
              <a:rPr lang="en-GB" dirty="0"/>
              <a:t>, K</a:t>
            </a:r>
            <a:r>
              <a:rPr lang="en-GB" baseline="30000" dirty="0"/>
              <a:t>+</a:t>
            </a:r>
            <a:r>
              <a:rPr lang="en-GB" dirty="0"/>
              <a:t>, Na</a:t>
            </a:r>
            <a:r>
              <a:rPr lang="en-GB" baseline="30000" dirty="0"/>
              <a:t>+</a:t>
            </a:r>
            <a:r>
              <a:rPr lang="en-GB" dirty="0"/>
              <a:t>)</a:t>
            </a:r>
          </a:p>
          <a:p>
            <a:r>
              <a:rPr lang="en-GB" dirty="0"/>
              <a:t>GPCRs/TKRs</a:t>
            </a:r>
          </a:p>
          <a:p>
            <a:pPr lvl="1"/>
            <a:r>
              <a:rPr lang="en-GB" b="1" dirty="0"/>
              <a:t>Catecholamine receptors </a:t>
            </a:r>
            <a:r>
              <a:rPr lang="en-GB" dirty="0"/>
              <a:t>(Dopamine, Noradrenaline)</a:t>
            </a:r>
          </a:p>
          <a:p>
            <a:pPr lvl="1"/>
            <a:r>
              <a:rPr lang="en-GB" dirty="0"/>
              <a:t>Serotonin Receptors</a:t>
            </a:r>
          </a:p>
          <a:p>
            <a:pPr lvl="1"/>
            <a:r>
              <a:rPr lang="en-GB" b="1" dirty="0">
                <a:solidFill>
                  <a:schemeClr val="accent1">
                    <a:lumMod val="75000"/>
                  </a:schemeClr>
                </a:solidFill>
              </a:rPr>
              <a:t>Glutamate metabotropic receptors</a:t>
            </a:r>
            <a:endParaRPr lang="en-GB" dirty="0"/>
          </a:p>
          <a:p>
            <a:pPr lvl="1"/>
            <a:r>
              <a:rPr lang="en-GB" b="1" dirty="0">
                <a:solidFill>
                  <a:schemeClr val="accent6">
                    <a:lumMod val="75000"/>
                  </a:schemeClr>
                </a:solidFill>
              </a:rPr>
              <a:t>GABA</a:t>
            </a:r>
            <a:r>
              <a:rPr lang="en-GB" b="1" baseline="-25000" dirty="0">
                <a:solidFill>
                  <a:schemeClr val="accent6">
                    <a:lumMod val="75000"/>
                  </a:schemeClr>
                </a:solidFill>
              </a:rPr>
              <a:t>B</a:t>
            </a:r>
            <a:r>
              <a:rPr lang="en-GB" dirty="0"/>
              <a:t> </a:t>
            </a:r>
            <a:r>
              <a:rPr lang="en-GB" b="1" dirty="0">
                <a:solidFill>
                  <a:schemeClr val="accent6">
                    <a:lumMod val="75000"/>
                  </a:schemeClr>
                </a:solidFill>
              </a:rPr>
              <a:t>metabotropic receptors</a:t>
            </a:r>
          </a:p>
          <a:p>
            <a:pPr lvl="1"/>
            <a:r>
              <a:rPr lang="en-GB" dirty="0"/>
              <a:t>TrKB/BDNF</a:t>
            </a:r>
          </a:p>
          <a:p>
            <a:r>
              <a:rPr lang="en-GB" dirty="0"/>
              <a:t>Transporters</a:t>
            </a:r>
          </a:p>
          <a:p>
            <a:r>
              <a:rPr lang="en-GB" dirty="0"/>
              <a:t>Kinases/phosphatases</a:t>
            </a:r>
          </a:p>
          <a:p>
            <a:pPr lvl="1"/>
            <a:r>
              <a:rPr lang="en-GB" b="1" dirty="0"/>
              <a:t>CaMKII</a:t>
            </a:r>
          </a:p>
          <a:p>
            <a:pPr lvl="1"/>
            <a:r>
              <a:rPr lang="en-GB" b="1" dirty="0"/>
              <a:t>PKA</a:t>
            </a:r>
          </a:p>
          <a:p>
            <a:pPr lvl="1"/>
            <a:r>
              <a:rPr lang="en-GB" dirty="0"/>
              <a:t>PKC</a:t>
            </a:r>
          </a:p>
          <a:p>
            <a:pPr lvl="1"/>
            <a:r>
              <a:rPr lang="en-GB" dirty="0"/>
              <a:t>Src</a:t>
            </a:r>
          </a:p>
          <a:p>
            <a:pPr lvl="1"/>
            <a:r>
              <a:rPr lang="en-GB" b="1" dirty="0"/>
              <a:t>ERK</a:t>
            </a:r>
          </a:p>
          <a:p>
            <a:pPr lvl="1"/>
            <a:r>
              <a:rPr lang="en-GB" dirty="0"/>
              <a:t>PDEs</a:t>
            </a:r>
          </a:p>
          <a:p>
            <a:pPr lvl="1"/>
            <a:r>
              <a:rPr lang="en-GB" dirty="0"/>
              <a:t>PP-1</a:t>
            </a:r>
          </a:p>
          <a:p>
            <a:r>
              <a:rPr lang="en-GB" dirty="0"/>
              <a:t>Adaptor proteins</a:t>
            </a:r>
          </a:p>
          <a:p>
            <a:pPr lvl="1"/>
            <a:r>
              <a:rPr lang="en-GB" b="1" dirty="0"/>
              <a:t>PSD-95</a:t>
            </a:r>
            <a:r>
              <a:rPr lang="en-GB" dirty="0"/>
              <a:t>/PSD-93</a:t>
            </a:r>
          </a:p>
          <a:p>
            <a:pPr lvl="1"/>
            <a:r>
              <a:rPr lang="en-GB" dirty="0"/>
              <a:t>Homer</a:t>
            </a:r>
          </a:p>
          <a:p>
            <a:pPr lvl="1"/>
            <a:r>
              <a:rPr lang="en-GB" dirty="0"/>
              <a:t>Shank</a:t>
            </a:r>
          </a:p>
          <a:p>
            <a:r>
              <a:rPr lang="en-GB" dirty="0"/>
              <a:t>Cytoskeleton proteins</a:t>
            </a:r>
          </a:p>
        </p:txBody>
      </p:sp>
      <p:pic>
        <p:nvPicPr>
          <p:cNvPr id="9" name="Picture 3" descr="D:\kuloth\2014\March\06-03-2014\nrn_aop\slides_img\nrn3708-f1.jpg">
            <a:extLst>
              <a:ext uri="{FF2B5EF4-FFF2-40B4-BE49-F238E27FC236}">
                <a16:creationId xmlns:a16="http://schemas.microsoft.com/office/drawing/2014/main" id="{8B6F00BA-E781-494D-8F70-9FD5F8E3C29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5083"/>
          <a:stretch/>
        </p:blipFill>
        <p:spPr bwMode="auto">
          <a:xfrm>
            <a:off x="7128000" y="1012181"/>
            <a:ext cx="4362685" cy="4833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374DBE08-29D6-4FA4-B14C-B08B11A57A53}"/>
              </a:ext>
            </a:extLst>
          </p:cNvPr>
          <p:cNvSpPr txBox="1"/>
          <p:nvPr/>
        </p:nvSpPr>
        <p:spPr>
          <a:xfrm>
            <a:off x="6333067" y="5740401"/>
            <a:ext cx="4168678" cy="276999"/>
          </a:xfrm>
          <a:prstGeom prst="rect">
            <a:avLst/>
          </a:prstGeom>
          <a:noFill/>
        </p:spPr>
        <p:txBody>
          <a:bodyPr wrap="square" rtlCol="0">
            <a:spAutoFit/>
          </a:bodyPr>
          <a:lstStyle/>
          <a:p>
            <a:r>
              <a:rPr lang="fr-FR" sz="1200" i="1" dirty="0"/>
              <a:t>Nature Reviews Neuroscience</a:t>
            </a:r>
            <a:r>
              <a:rPr lang="fr-FR" sz="1200" dirty="0"/>
              <a:t> </a:t>
            </a:r>
            <a:r>
              <a:rPr lang="fr-FR" sz="1200" b="1" dirty="0"/>
              <a:t>volume15</a:t>
            </a:r>
            <a:r>
              <a:rPr lang="fr-FR" sz="1200" dirty="0"/>
              <a:t>, pages 250–263 (2014)</a:t>
            </a:r>
            <a:endParaRPr lang="en-GB" sz="1200" dirty="0"/>
          </a:p>
        </p:txBody>
      </p:sp>
      <p:sp>
        <p:nvSpPr>
          <p:cNvPr id="5" name="Freeform: Shape 4">
            <a:extLst>
              <a:ext uri="{FF2B5EF4-FFF2-40B4-BE49-F238E27FC236}">
                <a16:creationId xmlns:a16="http://schemas.microsoft.com/office/drawing/2014/main" id="{FB69E54C-DF27-4B89-A29D-5CBA6B4D8316}"/>
              </a:ext>
            </a:extLst>
          </p:cNvPr>
          <p:cNvSpPr/>
          <p:nvPr/>
        </p:nvSpPr>
        <p:spPr>
          <a:xfrm>
            <a:off x="7611710" y="4011688"/>
            <a:ext cx="3157756" cy="388340"/>
          </a:xfrm>
          <a:custGeom>
            <a:avLst/>
            <a:gdLst>
              <a:gd name="connsiteX0" fmla="*/ 48227 w 3114403"/>
              <a:gd name="connsiteY0" fmla="*/ 922 h 371013"/>
              <a:gd name="connsiteX1" fmla="*/ 530827 w 3114403"/>
              <a:gd name="connsiteY1" fmla="*/ 60189 h 371013"/>
              <a:gd name="connsiteX2" fmla="*/ 1284361 w 3114403"/>
              <a:gd name="connsiteY2" fmla="*/ 94055 h 371013"/>
              <a:gd name="connsiteX3" fmla="*/ 1792361 w 3114403"/>
              <a:gd name="connsiteY3" fmla="*/ 94055 h 371013"/>
              <a:gd name="connsiteX4" fmla="*/ 2198761 w 3114403"/>
              <a:gd name="connsiteY4" fmla="*/ 60189 h 371013"/>
              <a:gd name="connsiteX5" fmla="*/ 2766027 w 3114403"/>
              <a:gd name="connsiteY5" fmla="*/ 9389 h 371013"/>
              <a:gd name="connsiteX6" fmla="*/ 2926894 w 3114403"/>
              <a:gd name="connsiteY6" fmla="*/ 17855 h 371013"/>
              <a:gd name="connsiteX7" fmla="*/ 3113161 w 3114403"/>
              <a:gd name="connsiteY7" fmla="*/ 136389 h 371013"/>
              <a:gd name="connsiteX8" fmla="*/ 2969227 w 3114403"/>
              <a:gd name="connsiteY8" fmla="*/ 263389 h 371013"/>
              <a:gd name="connsiteX9" fmla="*/ 2325761 w 3114403"/>
              <a:gd name="connsiteY9" fmla="*/ 356522 h 371013"/>
              <a:gd name="connsiteX10" fmla="*/ 1639961 w 3114403"/>
              <a:gd name="connsiteY10" fmla="*/ 356522 h 371013"/>
              <a:gd name="connsiteX11" fmla="*/ 988027 w 3114403"/>
              <a:gd name="connsiteY11" fmla="*/ 364989 h 371013"/>
              <a:gd name="connsiteX12" fmla="*/ 107494 w 3114403"/>
              <a:gd name="connsiteY12" fmla="*/ 254922 h 371013"/>
              <a:gd name="connsiteX13" fmla="*/ 22827 w 3114403"/>
              <a:gd name="connsiteY13" fmla="*/ 110989 h 371013"/>
              <a:gd name="connsiteX14" fmla="*/ 48227 w 3114403"/>
              <a:gd name="connsiteY14" fmla="*/ 922 h 371013"/>
              <a:gd name="connsiteX0" fmla="*/ 88315 w 3154491"/>
              <a:gd name="connsiteY0" fmla="*/ 1514 h 371605"/>
              <a:gd name="connsiteX1" fmla="*/ 570915 w 3154491"/>
              <a:gd name="connsiteY1" fmla="*/ 60781 h 371605"/>
              <a:gd name="connsiteX2" fmla="*/ 1324449 w 3154491"/>
              <a:gd name="connsiteY2" fmla="*/ 94647 h 371605"/>
              <a:gd name="connsiteX3" fmla="*/ 1832449 w 3154491"/>
              <a:gd name="connsiteY3" fmla="*/ 94647 h 371605"/>
              <a:gd name="connsiteX4" fmla="*/ 2238849 w 3154491"/>
              <a:gd name="connsiteY4" fmla="*/ 60781 h 371605"/>
              <a:gd name="connsiteX5" fmla="*/ 2806115 w 3154491"/>
              <a:gd name="connsiteY5" fmla="*/ 9981 h 371605"/>
              <a:gd name="connsiteX6" fmla="*/ 2966982 w 3154491"/>
              <a:gd name="connsiteY6" fmla="*/ 18447 h 371605"/>
              <a:gd name="connsiteX7" fmla="*/ 3153249 w 3154491"/>
              <a:gd name="connsiteY7" fmla="*/ 136981 h 371605"/>
              <a:gd name="connsiteX8" fmla="*/ 3009315 w 3154491"/>
              <a:gd name="connsiteY8" fmla="*/ 263981 h 371605"/>
              <a:gd name="connsiteX9" fmla="*/ 2365849 w 3154491"/>
              <a:gd name="connsiteY9" fmla="*/ 357114 h 371605"/>
              <a:gd name="connsiteX10" fmla="*/ 1680049 w 3154491"/>
              <a:gd name="connsiteY10" fmla="*/ 357114 h 371605"/>
              <a:gd name="connsiteX11" fmla="*/ 1028115 w 3154491"/>
              <a:gd name="connsiteY11" fmla="*/ 365581 h 371605"/>
              <a:gd name="connsiteX12" fmla="*/ 147582 w 3154491"/>
              <a:gd name="connsiteY12" fmla="*/ 255514 h 371605"/>
              <a:gd name="connsiteX13" fmla="*/ 3648 w 3154491"/>
              <a:gd name="connsiteY13" fmla="*/ 128514 h 371605"/>
              <a:gd name="connsiteX14" fmla="*/ 88315 w 3154491"/>
              <a:gd name="connsiteY14" fmla="*/ 1514 h 371605"/>
              <a:gd name="connsiteX0" fmla="*/ 88315 w 3154491"/>
              <a:gd name="connsiteY0" fmla="*/ 1514 h 374810"/>
              <a:gd name="connsiteX1" fmla="*/ 570915 w 3154491"/>
              <a:gd name="connsiteY1" fmla="*/ 60781 h 374810"/>
              <a:gd name="connsiteX2" fmla="*/ 1324449 w 3154491"/>
              <a:gd name="connsiteY2" fmla="*/ 94647 h 374810"/>
              <a:gd name="connsiteX3" fmla="*/ 1832449 w 3154491"/>
              <a:gd name="connsiteY3" fmla="*/ 94647 h 374810"/>
              <a:gd name="connsiteX4" fmla="*/ 2238849 w 3154491"/>
              <a:gd name="connsiteY4" fmla="*/ 60781 h 374810"/>
              <a:gd name="connsiteX5" fmla="*/ 2806115 w 3154491"/>
              <a:gd name="connsiteY5" fmla="*/ 9981 h 374810"/>
              <a:gd name="connsiteX6" fmla="*/ 2966982 w 3154491"/>
              <a:gd name="connsiteY6" fmla="*/ 18447 h 374810"/>
              <a:gd name="connsiteX7" fmla="*/ 3153249 w 3154491"/>
              <a:gd name="connsiteY7" fmla="*/ 136981 h 374810"/>
              <a:gd name="connsiteX8" fmla="*/ 3009315 w 3154491"/>
              <a:gd name="connsiteY8" fmla="*/ 263981 h 374810"/>
              <a:gd name="connsiteX9" fmla="*/ 2365849 w 3154491"/>
              <a:gd name="connsiteY9" fmla="*/ 357114 h 374810"/>
              <a:gd name="connsiteX10" fmla="*/ 1028115 w 3154491"/>
              <a:gd name="connsiteY10" fmla="*/ 365581 h 374810"/>
              <a:gd name="connsiteX11" fmla="*/ 147582 w 3154491"/>
              <a:gd name="connsiteY11" fmla="*/ 255514 h 374810"/>
              <a:gd name="connsiteX12" fmla="*/ 3648 w 3154491"/>
              <a:gd name="connsiteY12" fmla="*/ 128514 h 374810"/>
              <a:gd name="connsiteX13" fmla="*/ 88315 w 3154491"/>
              <a:gd name="connsiteY13" fmla="*/ 1514 h 374810"/>
              <a:gd name="connsiteX0" fmla="*/ 88315 w 3154491"/>
              <a:gd name="connsiteY0" fmla="*/ 1514 h 381325"/>
              <a:gd name="connsiteX1" fmla="*/ 570915 w 3154491"/>
              <a:gd name="connsiteY1" fmla="*/ 60781 h 381325"/>
              <a:gd name="connsiteX2" fmla="*/ 1324449 w 3154491"/>
              <a:gd name="connsiteY2" fmla="*/ 94647 h 381325"/>
              <a:gd name="connsiteX3" fmla="*/ 1832449 w 3154491"/>
              <a:gd name="connsiteY3" fmla="*/ 94647 h 381325"/>
              <a:gd name="connsiteX4" fmla="*/ 2238849 w 3154491"/>
              <a:gd name="connsiteY4" fmla="*/ 60781 h 381325"/>
              <a:gd name="connsiteX5" fmla="*/ 2806115 w 3154491"/>
              <a:gd name="connsiteY5" fmla="*/ 9981 h 381325"/>
              <a:gd name="connsiteX6" fmla="*/ 2966982 w 3154491"/>
              <a:gd name="connsiteY6" fmla="*/ 18447 h 381325"/>
              <a:gd name="connsiteX7" fmla="*/ 3153249 w 3154491"/>
              <a:gd name="connsiteY7" fmla="*/ 136981 h 381325"/>
              <a:gd name="connsiteX8" fmla="*/ 3009315 w 3154491"/>
              <a:gd name="connsiteY8" fmla="*/ 263981 h 381325"/>
              <a:gd name="connsiteX9" fmla="*/ 2365849 w 3154491"/>
              <a:gd name="connsiteY9" fmla="*/ 357114 h 381325"/>
              <a:gd name="connsiteX10" fmla="*/ 833382 w 3154491"/>
              <a:gd name="connsiteY10" fmla="*/ 374048 h 381325"/>
              <a:gd name="connsiteX11" fmla="*/ 147582 w 3154491"/>
              <a:gd name="connsiteY11" fmla="*/ 255514 h 381325"/>
              <a:gd name="connsiteX12" fmla="*/ 3648 w 3154491"/>
              <a:gd name="connsiteY12" fmla="*/ 128514 h 381325"/>
              <a:gd name="connsiteX13" fmla="*/ 88315 w 3154491"/>
              <a:gd name="connsiteY13" fmla="*/ 1514 h 381325"/>
              <a:gd name="connsiteX0" fmla="*/ 88315 w 3157756"/>
              <a:gd name="connsiteY0" fmla="*/ 1514 h 388340"/>
              <a:gd name="connsiteX1" fmla="*/ 570915 w 3157756"/>
              <a:gd name="connsiteY1" fmla="*/ 60781 h 388340"/>
              <a:gd name="connsiteX2" fmla="*/ 1324449 w 3157756"/>
              <a:gd name="connsiteY2" fmla="*/ 94647 h 388340"/>
              <a:gd name="connsiteX3" fmla="*/ 1832449 w 3157756"/>
              <a:gd name="connsiteY3" fmla="*/ 94647 h 388340"/>
              <a:gd name="connsiteX4" fmla="*/ 2238849 w 3157756"/>
              <a:gd name="connsiteY4" fmla="*/ 60781 h 388340"/>
              <a:gd name="connsiteX5" fmla="*/ 2806115 w 3157756"/>
              <a:gd name="connsiteY5" fmla="*/ 9981 h 388340"/>
              <a:gd name="connsiteX6" fmla="*/ 2966982 w 3157756"/>
              <a:gd name="connsiteY6" fmla="*/ 18447 h 388340"/>
              <a:gd name="connsiteX7" fmla="*/ 3153249 w 3157756"/>
              <a:gd name="connsiteY7" fmla="*/ 136981 h 388340"/>
              <a:gd name="connsiteX8" fmla="*/ 3009315 w 3157756"/>
              <a:gd name="connsiteY8" fmla="*/ 263981 h 388340"/>
              <a:gd name="connsiteX9" fmla="*/ 2128782 w 3157756"/>
              <a:gd name="connsiteY9" fmla="*/ 374048 h 388340"/>
              <a:gd name="connsiteX10" fmla="*/ 833382 w 3157756"/>
              <a:gd name="connsiteY10" fmla="*/ 374048 h 388340"/>
              <a:gd name="connsiteX11" fmla="*/ 147582 w 3157756"/>
              <a:gd name="connsiteY11" fmla="*/ 255514 h 388340"/>
              <a:gd name="connsiteX12" fmla="*/ 3648 w 3157756"/>
              <a:gd name="connsiteY12" fmla="*/ 128514 h 388340"/>
              <a:gd name="connsiteX13" fmla="*/ 88315 w 3157756"/>
              <a:gd name="connsiteY13" fmla="*/ 1514 h 388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57756" h="388340">
                <a:moveTo>
                  <a:pt x="88315" y="1514"/>
                </a:moveTo>
                <a:cubicBezTo>
                  <a:pt x="182860" y="-9775"/>
                  <a:pt x="364893" y="45259"/>
                  <a:pt x="570915" y="60781"/>
                </a:cubicBezTo>
                <a:cubicBezTo>
                  <a:pt x="776937" y="76303"/>
                  <a:pt x="1114193" y="89003"/>
                  <a:pt x="1324449" y="94647"/>
                </a:cubicBezTo>
                <a:cubicBezTo>
                  <a:pt x="1534705" y="100291"/>
                  <a:pt x="1680049" y="100291"/>
                  <a:pt x="1832449" y="94647"/>
                </a:cubicBezTo>
                <a:cubicBezTo>
                  <a:pt x="1984849" y="89003"/>
                  <a:pt x="2238849" y="60781"/>
                  <a:pt x="2238849" y="60781"/>
                </a:cubicBezTo>
                <a:lnTo>
                  <a:pt x="2806115" y="9981"/>
                </a:lnTo>
                <a:cubicBezTo>
                  <a:pt x="2927471" y="2925"/>
                  <a:pt x="2909126" y="-2720"/>
                  <a:pt x="2966982" y="18447"/>
                </a:cubicBezTo>
                <a:cubicBezTo>
                  <a:pt x="3024838" y="39614"/>
                  <a:pt x="3146194" y="96059"/>
                  <a:pt x="3153249" y="136981"/>
                </a:cubicBezTo>
                <a:cubicBezTo>
                  <a:pt x="3160304" y="177903"/>
                  <a:pt x="3180059" y="224470"/>
                  <a:pt x="3009315" y="263981"/>
                </a:cubicBezTo>
                <a:cubicBezTo>
                  <a:pt x="2838571" y="303492"/>
                  <a:pt x="2491438" y="355703"/>
                  <a:pt x="2128782" y="374048"/>
                </a:cubicBezTo>
                <a:cubicBezTo>
                  <a:pt x="1766126" y="392393"/>
                  <a:pt x="1163582" y="393804"/>
                  <a:pt x="833382" y="374048"/>
                </a:cubicBezTo>
                <a:cubicBezTo>
                  <a:pt x="503182" y="354292"/>
                  <a:pt x="308449" y="297847"/>
                  <a:pt x="147582" y="255514"/>
                </a:cubicBezTo>
                <a:cubicBezTo>
                  <a:pt x="-13285" y="213181"/>
                  <a:pt x="12115" y="166614"/>
                  <a:pt x="3648" y="128514"/>
                </a:cubicBezTo>
                <a:cubicBezTo>
                  <a:pt x="-4819" y="90414"/>
                  <a:pt x="-6230" y="12803"/>
                  <a:pt x="88315" y="1514"/>
                </a:cubicBezTo>
                <a:close/>
              </a:path>
            </a:pathLst>
          </a:custGeom>
          <a:solidFill>
            <a:schemeClr val="accent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9E3C9592-6DDD-4590-B686-27A11666C234}"/>
              </a:ext>
            </a:extLst>
          </p:cNvPr>
          <p:cNvSpPr txBox="1"/>
          <p:nvPr/>
        </p:nvSpPr>
        <p:spPr>
          <a:xfrm>
            <a:off x="5333450" y="3785526"/>
            <a:ext cx="2235200" cy="646331"/>
          </a:xfrm>
          <a:prstGeom prst="rect">
            <a:avLst/>
          </a:prstGeom>
          <a:noFill/>
        </p:spPr>
        <p:txBody>
          <a:bodyPr wrap="square" rtlCol="0">
            <a:spAutoFit/>
          </a:bodyPr>
          <a:lstStyle/>
          <a:p>
            <a:pPr algn="ctr"/>
            <a:r>
              <a:rPr lang="en-GB" dirty="0">
                <a:solidFill>
                  <a:schemeClr val="accent1">
                    <a:lumMod val="75000"/>
                  </a:schemeClr>
                </a:solidFill>
              </a:rPr>
              <a:t>Postsynaptic density (PSD)</a:t>
            </a:r>
          </a:p>
        </p:txBody>
      </p:sp>
      <p:cxnSp>
        <p:nvCxnSpPr>
          <p:cNvPr id="8" name="Straight Arrow Connector 7">
            <a:extLst>
              <a:ext uri="{FF2B5EF4-FFF2-40B4-BE49-F238E27FC236}">
                <a16:creationId xmlns:a16="http://schemas.microsoft.com/office/drawing/2014/main" id="{DBF9B2E6-07CE-4C57-892E-CC300C636B79}"/>
              </a:ext>
            </a:extLst>
          </p:cNvPr>
          <p:cNvCxnSpPr>
            <a:cxnSpLocks/>
          </p:cNvCxnSpPr>
          <p:nvPr/>
        </p:nvCxnSpPr>
        <p:spPr>
          <a:xfrm flipV="1">
            <a:off x="6841023" y="4205859"/>
            <a:ext cx="669349" cy="1"/>
          </a:xfrm>
          <a:prstGeom prst="straightConnector1">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8164FE3-5DD9-4B7F-BB08-6F8D553225F4}"/>
              </a:ext>
            </a:extLst>
          </p:cNvPr>
          <p:cNvSpPr txBox="1"/>
          <p:nvPr/>
        </p:nvSpPr>
        <p:spPr>
          <a:xfrm>
            <a:off x="8150905" y="3466614"/>
            <a:ext cx="785899" cy="461665"/>
          </a:xfrm>
          <a:prstGeom prst="rect">
            <a:avLst/>
          </a:prstGeom>
          <a:noFill/>
        </p:spPr>
        <p:txBody>
          <a:bodyPr wrap="square" rtlCol="0">
            <a:spAutoFit/>
          </a:bodyPr>
          <a:lstStyle/>
          <a:p>
            <a:pPr algn="ctr"/>
            <a:r>
              <a:rPr lang="en-GB" sz="1200" dirty="0">
                <a:solidFill>
                  <a:schemeClr val="accent4">
                    <a:lumMod val="75000"/>
                  </a:schemeClr>
                </a:solidFill>
              </a:rPr>
              <a:t>Synaptic</a:t>
            </a:r>
            <a:br>
              <a:rPr lang="en-GB" sz="1200" dirty="0">
                <a:solidFill>
                  <a:schemeClr val="accent4">
                    <a:lumMod val="75000"/>
                  </a:schemeClr>
                </a:solidFill>
              </a:rPr>
            </a:br>
            <a:r>
              <a:rPr lang="en-GB" sz="1200" dirty="0">
                <a:solidFill>
                  <a:schemeClr val="accent4">
                    <a:lumMod val="75000"/>
                  </a:schemeClr>
                </a:solidFill>
              </a:rPr>
              <a:t>cleft</a:t>
            </a:r>
          </a:p>
        </p:txBody>
      </p:sp>
      <p:sp>
        <p:nvSpPr>
          <p:cNvPr id="12" name="Freeform: Shape 11">
            <a:extLst>
              <a:ext uri="{FF2B5EF4-FFF2-40B4-BE49-F238E27FC236}">
                <a16:creationId xmlns:a16="http://schemas.microsoft.com/office/drawing/2014/main" id="{353600DD-9954-4889-9F0E-ECFBD6A36B6A}"/>
              </a:ext>
            </a:extLst>
          </p:cNvPr>
          <p:cNvSpPr/>
          <p:nvPr/>
        </p:nvSpPr>
        <p:spPr>
          <a:xfrm>
            <a:off x="7670765" y="3472964"/>
            <a:ext cx="2969415" cy="580928"/>
          </a:xfrm>
          <a:custGeom>
            <a:avLst/>
            <a:gdLst>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313820 w 2969415"/>
              <a:gd name="connsiteY15" fmla="*/ 4918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313820 w 2969415"/>
              <a:gd name="connsiteY15" fmla="*/ 491804 h 575393"/>
              <a:gd name="connsiteX16" fmla="*/ 25348 w 2969415"/>
              <a:gd name="connsiteY16" fmla="*/ 473661 h 575393"/>
              <a:gd name="connsiteX17" fmla="*/ 18091 w 2969415"/>
              <a:gd name="connsiteY17" fmla="*/ 81776 h 575393"/>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7184 w 2969415"/>
              <a:gd name="connsiteY10" fmla="*/ 52899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69415" h="580928">
                <a:moveTo>
                  <a:pt x="18091" y="81776"/>
                </a:moveTo>
                <a:cubicBezTo>
                  <a:pt x="72520" y="103396"/>
                  <a:pt x="125739" y="95081"/>
                  <a:pt x="199520" y="89033"/>
                </a:cubicBezTo>
                <a:cubicBezTo>
                  <a:pt x="273301" y="82985"/>
                  <a:pt x="315634" y="58795"/>
                  <a:pt x="460777" y="45490"/>
                </a:cubicBezTo>
                <a:cubicBezTo>
                  <a:pt x="605920" y="32185"/>
                  <a:pt x="862339" y="16461"/>
                  <a:pt x="1070377" y="9204"/>
                </a:cubicBezTo>
                <a:cubicBezTo>
                  <a:pt x="1278415" y="1947"/>
                  <a:pt x="1504596" y="-2891"/>
                  <a:pt x="1709005" y="1947"/>
                </a:cubicBezTo>
                <a:cubicBezTo>
                  <a:pt x="1913414" y="6785"/>
                  <a:pt x="2140806" y="26138"/>
                  <a:pt x="2296834" y="38233"/>
                </a:cubicBezTo>
                <a:cubicBezTo>
                  <a:pt x="2452862" y="50328"/>
                  <a:pt x="2548415" y="63633"/>
                  <a:pt x="2645177" y="74519"/>
                </a:cubicBezTo>
                <a:cubicBezTo>
                  <a:pt x="2741939" y="85405"/>
                  <a:pt x="2830234" y="98709"/>
                  <a:pt x="2877405" y="103547"/>
                </a:cubicBezTo>
                <a:cubicBezTo>
                  <a:pt x="2924576" y="108385"/>
                  <a:pt x="2841119" y="101733"/>
                  <a:pt x="2928205" y="103547"/>
                </a:cubicBezTo>
                <a:cubicBezTo>
                  <a:pt x="2939091" y="168861"/>
                  <a:pt x="3005615" y="427700"/>
                  <a:pt x="2942720" y="495433"/>
                </a:cubicBezTo>
                <a:cubicBezTo>
                  <a:pt x="2844900" y="496491"/>
                  <a:pt x="2678137" y="519321"/>
                  <a:pt x="2557184" y="528997"/>
                </a:cubicBezTo>
                <a:cubicBezTo>
                  <a:pt x="2436232" y="538673"/>
                  <a:pt x="2363206" y="545779"/>
                  <a:pt x="2217005" y="553490"/>
                </a:cubicBezTo>
                <a:cubicBezTo>
                  <a:pt x="2070804" y="561201"/>
                  <a:pt x="1846891" y="571406"/>
                  <a:pt x="1679977" y="575261"/>
                </a:cubicBezTo>
                <a:cubicBezTo>
                  <a:pt x="1513063" y="579116"/>
                  <a:pt x="1398158" y="585089"/>
                  <a:pt x="1215520" y="576622"/>
                </a:cubicBezTo>
                <a:cubicBezTo>
                  <a:pt x="1032882" y="568155"/>
                  <a:pt x="734431" y="538597"/>
                  <a:pt x="584148" y="524461"/>
                </a:cubicBezTo>
                <a:cubicBezTo>
                  <a:pt x="433865" y="510325"/>
                  <a:pt x="432353" y="509796"/>
                  <a:pt x="313820" y="491804"/>
                </a:cubicBezTo>
                <a:cubicBezTo>
                  <a:pt x="220687" y="483337"/>
                  <a:pt x="148417" y="485756"/>
                  <a:pt x="25348" y="473661"/>
                </a:cubicBezTo>
                <a:cubicBezTo>
                  <a:pt x="-2471" y="410766"/>
                  <a:pt x="-10938" y="145881"/>
                  <a:pt x="18091" y="81776"/>
                </a:cubicBezTo>
                <a:close/>
              </a:path>
            </a:pathLst>
          </a:custGeom>
          <a:solidFill>
            <a:schemeClr val="accent4">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4">
                  <a:lumMod val="75000"/>
                </a:schemeClr>
              </a:solidFill>
            </a:endParaRPr>
          </a:p>
        </p:txBody>
      </p:sp>
      <p:pic>
        <p:nvPicPr>
          <p:cNvPr id="10" name="Picture 2" descr="Synapse Dr.Jastrow's electron microscopic atlas">
            <a:extLst>
              <a:ext uri="{FF2B5EF4-FFF2-40B4-BE49-F238E27FC236}">
                <a16:creationId xmlns:a16="http://schemas.microsoft.com/office/drawing/2014/main" id="{00A15D66-54D4-459E-AEE0-C76A243B4A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5932" y="1663774"/>
            <a:ext cx="3726874" cy="3719592"/>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5506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F3F62-26F6-4A20-86E3-286A96783810}"/>
              </a:ext>
            </a:extLst>
          </p:cNvPr>
          <p:cNvSpPr>
            <a:spLocks noGrp="1"/>
          </p:cNvSpPr>
          <p:nvPr>
            <p:ph type="title"/>
          </p:nvPr>
        </p:nvSpPr>
        <p:spPr>
          <a:xfrm>
            <a:off x="148590" y="1"/>
            <a:ext cx="11935834" cy="1099738"/>
          </a:xfrm>
        </p:spPr>
        <p:txBody>
          <a:bodyPr>
            <a:normAutofit/>
          </a:bodyPr>
          <a:lstStyle/>
          <a:p>
            <a:r>
              <a:rPr lang="en-GB"/>
              <a:t>Ionotropic glutamate receptors</a:t>
            </a:r>
          </a:p>
        </p:txBody>
      </p:sp>
      <p:sp>
        <p:nvSpPr>
          <p:cNvPr id="13" name="Content Placeholder 12">
            <a:extLst>
              <a:ext uri="{FF2B5EF4-FFF2-40B4-BE49-F238E27FC236}">
                <a16:creationId xmlns:a16="http://schemas.microsoft.com/office/drawing/2014/main" id="{59DE9B4A-6A3E-4BCA-8363-CE2A0569454B}"/>
              </a:ext>
            </a:extLst>
          </p:cNvPr>
          <p:cNvSpPr>
            <a:spLocks noGrp="1"/>
          </p:cNvSpPr>
          <p:nvPr>
            <p:ph idx="1"/>
          </p:nvPr>
        </p:nvSpPr>
        <p:spPr/>
        <p:txBody>
          <a:bodyPr>
            <a:normAutofit/>
          </a:bodyPr>
          <a:lstStyle/>
          <a:p>
            <a:r>
              <a:rPr lang="en-GB"/>
              <a:t>Ligand-gated ion channels</a:t>
            </a:r>
          </a:p>
          <a:p>
            <a:endParaRPr lang="en-GB"/>
          </a:p>
          <a:p>
            <a:r>
              <a:rPr lang="en-GB"/>
              <a:t>3 main types:</a:t>
            </a:r>
          </a:p>
          <a:p>
            <a:pPr lvl="1"/>
            <a:r>
              <a:rPr lang="en-GB"/>
              <a:t>AMPA receptors</a:t>
            </a:r>
          </a:p>
          <a:p>
            <a:pPr lvl="1"/>
            <a:r>
              <a:rPr lang="en-GB"/>
              <a:t>NMDA receptors</a:t>
            </a:r>
          </a:p>
          <a:p>
            <a:pPr lvl="1"/>
            <a:r>
              <a:rPr lang="en-GB">
                <a:solidFill>
                  <a:schemeClr val="bg1">
                    <a:lumMod val="50000"/>
                  </a:schemeClr>
                </a:solidFill>
              </a:rPr>
              <a:t>Kainate receptors</a:t>
            </a:r>
          </a:p>
          <a:p>
            <a:pPr lvl="1"/>
            <a:endParaRPr lang="en-GB"/>
          </a:p>
          <a:p>
            <a:r>
              <a:rPr lang="en-GB"/>
              <a:t>All form heterotetramers</a:t>
            </a:r>
          </a:p>
          <a:p>
            <a:endParaRPr lang="en-GB"/>
          </a:p>
          <a:p>
            <a:r>
              <a:rPr lang="en-GB" b="1"/>
              <a:t>AMPAR</a:t>
            </a:r>
            <a:r>
              <a:rPr lang="en-GB"/>
              <a:t> permeable to </a:t>
            </a:r>
            <a:r>
              <a:rPr lang="en-GB" b="1"/>
              <a:t>Na</a:t>
            </a:r>
            <a:r>
              <a:rPr lang="en-GB" b="1" baseline="30000"/>
              <a:t>+</a:t>
            </a:r>
            <a:r>
              <a:rPr lang="en-GB" b="1"/>
              <a:t>, K</a:t>
            </a:r>
            <a:r>
              <a:rPr lang="en-GB" b="1" baseline="30000"/>
              <a:t>+</a:t>
            </a:r>
            <a:r>
              <a:rPr lang="en-GB" b="1"/>
              <a:t> </a:t>
            </a:r>
            <a:r>
              <a:rPr lang="en-GB"/>
              <a:t>and, in some cases, Ca</a:t>
            </a:r>
            <a:r>
              <a:rPr lang="en-GB" baseline="30000"/>
              <a:t>2+</a:t>
            </a:r>
          </a:p>
          <a:p>
            <a:endParaRPr lang="en-GB" b="1"/>
          </a:p>
          <a:p>
            <a:r>
              <a:rPr lang="en-GB" b="1"/>
              <a:t>NMDAR</a:t>
            </a:r>
            <a:r>
              <a:rPr lang="en-GB"/>
              <a:t> permeable to </a:t>
            </a:r>
            <a:r>
              <a:rPr lang="en-GB" b="1"/>
              <a:t>Ca</a:t>
            </a:r>
            <a:r>
              <a:rPr lang="en-GB" b="1" baseline="30000"/>
              <a:t>2+</a:t>
            </a:r>
            <a:endParaRPr lang="en-GB" b="1"/>
          </a:p>
          <a:p>
            <a:pPr lvl="1"/>
            <a:r>
              <a:rPr lang="en-GB"/>
              <a:t>Only permeable during depolarization! </a:t>
            </a:r>
            <a:r>
              <a:rPr lang="en-GB">
                <a:sym typeface="Wingdings" panose="05000000000000000000" pitchFamily="2" charset="2"/>
              </a:rPr>
              <a:t> </a:t>
            </a:r>
            <a:r>
              <a:rPr lang="en-GB" b="1"/>
              <a:t>Mg</a:t>
            </a:r>
            <a:r>
              <a:rPr lang="en-GB" b="1" baseline="30000"/>
              <a:t>2+  </a:t>
            </a:r>
            <a:r>
              <a:rPr lang="en-GB" b="1">
                <a:sym typeface="Wingdings" panose="05000000000000000000" pitchFamily="2" charset="2"/>
              </a:rPr>
              <a:t>block</a:t>
            </a:r>
            <a:endParaRPr lang="en-GB" b="1"/>
          </a:p>
        </p:txBody>
      </p:sp>
      <p:grpSp>
        <p:nvGrpSpPr>
          <p:cNvPr id="8" name="Group 7">
            <a:extLst>
              <a:ext uri="{FF2B5EF4-FFF2-40B4-BE49-F238E27FC236}">
                <a16:creationId xmlns:a16="http://schemas.microsoft.com/office/drawing/2014/main" id="{B386E895-CB8E-E888-D82D-FAF7DC1A647F}"/>
              </a:ext>
            </a:extLst>
          </p:cNvPr>
          <p:cNvGrpSpPr/>
          <p:nvPr/>
        </p:nvGrpSpPr>
        <p:grpSpPr>
          <a:xfrm>
            <a:off x="8756912" y="1005114"/>
            <a:ext cx="3161446" cy="4204855"/>
            <a:chOff x="7493577" y="925325"/>
            <a:chExt cx="4148988" cy="5518327"/>
          </a:xfrm>
        </p:grpSpPr>
        <p:grpSp>
          <p:nvGrpSpPr>
            <p:cNvPr id="27" name="Group 26">
              <a:extLst>
                <a:ext uri="{FF2B5EF4-FFF2-40B4-BE49-F238E27FC236}">
                  <a16:creationId xmlns:a16="http://schemas.microsoft.com/office/drawing/2014/main" id="{288C46BD-AD4D-440D-8D2D-0DF44812B2DD}"/>
                </a:ext>
              </a:extLst>
            </p:cNvPr>
            <p:cNvGrpSpPr/>
            <p:nvPr/>
          </p:nvGrpSpPr>
          <p:grpSpPr>
            <a:xfrm>
              <a:off x="7493577" y="1982699"/>
              <a:ext cx="4126028" cy="4460953"/>
              <a:chOff x="4807527" y="1440873"/>
              <a:chExt cx="4126028" cy="4460953"/>
            </a:xfrm>
          </p:grpSpPr>
          <p:pic>
            <p:nvPicPr>
              <p:cNvPr id="17" name="Picture 16">
                <a:extLst>
                  <a:ext uri="{FF2B5EF4-FFF2-40B4-BE49-F238E27FC236}">
                    <a16:creationId xmlns:a16="http://schemas.microsoft.com/office/drawing/2014/main" id="{71FF8D29-B531-4877-841C-698211F25B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6467" y="1440873"/>
                <a:ext cx="4117088" cy="4350328"/>
              </a:xfrm>
              <a:prstGeom prst="rect">
                <a:avLst/>
              </a:prstGeom>
            </p:spPr>
          </p:pic>
          <p:sp>
            <p:nvSpPr>
              <p:cNvPr id="18" name="TextBox 17">
                <a:extLst>
                  <a:ext uri="{FF2B5EF4-FFF2-40B4-BE49-F238E27FC236}">
                    <a16:creationId xmlns:a16="http://schemas.microsoft.com/office/drawing/2014/main" id="{CE94E627-BD43-444B-B17C-7ECD8009BC1C}"/>
                  </a:ext>
                </a:extLst>
              </p:cNvPr>
              <p:cNvSpPr txBox="1"/>
              <p:nvPr/>
            </p:nvSpPr>
            <p:spPr>
              <a:xfrm>
                <a:off x="4807527" y="2015836"/>
                <a:ext cx="921327" cy="484700"/>
              </a:xfrm>
              <a:prstGeom prst="rect">
                <a:avLst/>
              </a:prstGeom>
              <a:noFill/>
            </p:spPr>
            <p:txBody>
              <a:bodyPr wrap="square" rtlCol="0">
                <a:spAutoFit/>
              </a:bodyPr>
              <a:lstStyle/>
              <a:p>
                <a:pPr algn="ctr"/>
                <a:r>
                  <a:rPr lang="en-GB" b="1">
                    <a:solidFill>
                      <a:schemeClr val="accent6">
                        <a:lumMod val="60000"/>
                        <a:lumOff val="40000"/>
                      </a:schemeClr>
                    </a:solidFill>
                  </a:rPr>
                  <a:t>ATD</a:t>
                </a:r>
              </a:p>
            </p:txBody>
          </p:sp>
          <p:sp>
            <p:nvSpPr>
              <p:cNvPr id="19" name="TextBox 18">
                <a:extLst>
                  <a:ext uri="{FF2B5EF4-FFF2-40B4-BE49-F238E27FC236}">
                    <a16:creationId xmlns:a16="http://schemas.microsoft.com/office/drawing/2014/main" id="{8A580C8E-8130-411A-A5EA-D248904C59E1}"/>
                  </a:ext>
                </a:extLst>
              </p:cNvPr>
              <p:cNvSpPr txBox="1"/>
              <p:nvPr/>
            </p:nvSpPr>
            <p:spPr>
              <a:xfrm>
                <a:off x="4849091" y="3154372"/>
                <a:ext cx="921327" cy="484700"/>
              </a:xfrm>
              <a:prstGeom prst="rect">
                <a:avLst/>
              </a:prstGeom>
              <a:noFill/>
            </p:spPr>
            <p:txBody>
              <a:bodyPr wrap="square" rtlCol="0">
                <a:spAutoFit/>
              </a:bodyPr>
              <a:lstStyle/>
              <a:p>
                <a:pPr algn="ctr"/>
                <a:r>
                  <a:rPr lang="en-GB" b="1">
                    <a:solidFill>
                      <a:schemeClr val="accent1">
                        <a:lumMod val="60000"/>
                        <a:lumOff val="40000"/>
                      </a:schemeClr>
                    </a:solidFill>
                  </a:rPr>
                  <a:t>LBD</a:t>
                </a:r>
              </a:p>
            </p:txBody>
          </p:sp>
          <p:sp>
            <p:nvSpPr>
              <p:cNvPr id="20" name="TextBox 19">
                <a:extLst>
                  <a:ext uri="{FF2B5EF4-FFF2-40B4-BE49-F238E27FC236}">
                    <a16:creationId xmlns:a16="http://schemas.microsoft.com/office/drawing/2014/main" id="{B7CC9941-104C-48D1-B384-261D6D3225E4}"/>
                  </a:ext>
                </a:extLst>
              </p:cNvPr>
              <p:cNvSpPr txBox="1"/>
              <p:nvPr/>
            </p:nvSpPr>
            <p:spPr>
              <a:xfrm>
                <a:off x="7917874" y="5112328"/>
                <a:ext cx="921327" cy="484700"/>
              </a:xfrm>
              <a:prstGeom prst="rect">
                <a:avLst/>
              </a:prstGeom>
              <a:noFill/>
            </p:spPr>
            <p:txBody>
              <a:bodyPr wrap="square" rtlCol="0">
                <a:spAutoFit/>
              </a:bodyPr>
              <a:lstStyle/>
              <a:p>
                <a:pPr algn="ctr"/>
                <a:r>
                  <a:rPr lang="en-GB"/>
                  <a:t>CTD</a:t>
                </a:r>
              </a:p>
            </p:txBody>
          </p:sp>
          <p:sp>
            <p:nvSpPr>
              <p:cNvPr id="21" name="TextBox 20">
                <a:extLst>
                  <a:ext uri="{FF2B5EF4-FFF2-40B4-BE49-F238E27FC236}">
                    <a16:creationId xmlns:a16="http://schemas.microsoft.com/office/drawing/2014/main" id="{E383048B-A92C-4BFD-AB30-D5262D4AFB5C}"/>
                  </a:ext>
                </a:extLst>
              </p:cNvPr>
              <p:cNvSpPr txBox="1"/>
              <p:nvPr/>
            </p:nvSpPr>
            <p:spPr>
              <a:xfrm>
                <a:off x="5340928" y="5417126"/>
                <a:ext cx="1109370" cy="484700"/>
              </a:xfrm>
              <a:prstGeom prst="rect">
                <a:avLst/>
              </a:prstGeom>
              <a:noFill/>
            </p:spPr>
            <p:txBody>
              <a:bodyPr wrap="square" rtlCol="0">
                <a:spAutoFit/>
              </a:bodyPr>
              <a:lstStyle/>
              <a:p>
                <a:pPr algn="ctr"/>
                <a:r>
                  <a:rPr lang="en-GB"/>
                  <a:t>P-loop</a:t>
                </a:r>
              </a:p>
            </p:txBody>
          </p:sp>
          <p:cxnSp>
            <p:nvCxnSpPr>
              <p:cNvPr id="23" name="Straight Arrow Connector 22">
                <a:extLst>
                  <a:ext uri="{FF2B5EF4-FFF2-40B4-BE49-F238E27FC236}">
                    <a16:creationId xmlns:a16="http://schemas.microsoft.com/office/drawing/2014/main" id="{6B876D7E-D15C-43ED-99E7-8182E5A7B403}"/>
                  </a:ext>
                </a:extLst>
              </p:cNvPr>
              <p:cNvCxnSpPr/>
              <p:nvPr/>
            </p:nvCxnSpPr>
            <p:spPr>
              <a:xfrm flipV="1">
                <a:off x="6255327" y="4980709"/>
                <a:ext cx="277091" cy="49876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2A014F6-60E4-4825-BE82-4ADE3A109AC7}"/>
                  </a:ext>
                </a:extLst>
              </p:cNvPr>
              <p:cNvSpPr txBox="1"/>
              <p:nvPr/>
            </p:nvSpPr>
            <p:spPr>
              <a:xfrm>
                <a:off x="5649525" y="3105835"/>
                <a:ext cx="1109370" cy="369332"/>
              </a:xfrm>
              <a:prstGeom prst="rect">
                <a:avLst/>
              </a:prstGeom>
              <a:noFill/>
            </p:spPr>
            <p:txBody>
              <a:bodyPr wrap="square" rtlCol="0">
                <a:spAutoFit/>
              </a:bodyPr>
              <a:lstStyle/>
              <a:p>
                <a:pPr algn="ctr"/>
                <a:r>
                  <a:rPr lang="en-GB"/>
                  <a:t>S1</a:t>
                </a:r>
              </a:p>
            </p:txBody>
          </p:sp>
          <p:sp>
            <p:nvSpPr>
              <p:cNvPr id="25" name="TextBox 24">
                <a:extLst>
                  <a:ext uri="{FF2B5EF4-FFF2-40B4-BE49-F238E27FC236}">
                    <a16:creationId xmlns:a16="http://schemas.microsoft.com/office/drawing/2014/main" id="{1FF4DE81-81EA-4FF1-A0F7-B34A0B31BF21}"/>
                  </a:ext>
                </a:extLst>
              </p:cNvPr>
              <p:cNvSpPr txBox="1"/>
              <p:nvPr/>
            </p:nvSpPr>
            <p:spPr>
              <a:xfrm>
                <a:off x="7037268" y="3244334"/>
                <a:ext cx="1109370" cy="369332"/>
              </a:xfrm>
              <a:prstGeom prst="rect">
                <a:avLst/>
              </a:prstGeom>
              <a:noFill/>
            </p:spPr>
            <p:txBody>
              <a:bodyPr wrap="square" rtlCol="0">
                <a:spAutoFit/>
              </a:bodyPr>
              <a:lstStyle/>
              <a:p>
                <a:pPr algn="ctr"/>
                <a:r>
                  <a:rPr lang="en-GB"/>
                  <a:t>S2</a:t>
                </a:r>
              </a:p>
            </p:txBody>
          </p:sp>
        </p:grpSp>
        <p:pic>
          <p:nvPicPr>
            <p:cNvPr id="29" name="Picture 28">
              <a:extLst>
                <a:ext uri="{FF2B5EF4-FFF2-40B4-BE49-F238E27FC236}">
                  <a16:creationId xmlns:a16="http://schemas.microsoft.com/office/drawing/2014/main" id="{5A4D4BFB-F115-49B7-AAFE-2BB08D9CA336}"/>
                </a:ext>
              </a:extLst>
            </p:cNvPr>
            <p:cNvPicPr>
              <a:picLocks noChangeAspect="1"/>
            </p:cNvPicPr>
            <p:nvPr/>
          </p:nvPicPr>
          <p:blipFill rotWithShape="1">
            <a:blip r:embed="rId3">
              <a:extLst>
                <a:ext uri="{28A0092B-C50C-407E-A947-70E740481C1C}">
                  <a14:useLocalDpi xmlns:a14="http://schemas.microsoft.com/office/drawing/2010/main" val="0"/>
                </a:ext>
              </a:extLst>
            </a:blip>
            <a:srcRect l="8824" t="72155"/>
            <a:stretch/>
          </p:blipFill>
          <p:spPr>
            <a:xfrm>
              <a:off x="9411453" y="925325"/>
              <a:ext cx="2231112" cy="1291907"/>
            </a:xfrm>
            <a:prstGeom prst="rect">
              <a:avLst/>
            </a:prstGeom>
            <a:ln>
              <a:solidFill>
                <a:schemeClr val="tx1"/>
              </a:solidFill>
            </a:ln>
          </p:spPr>
        </p:pic>
      </p:grpSp>
      <p:grpSp>
        <p:nvGrpSpPr>
          <p:cNvPr id="12" name="Group 11">
            <a:extLst>
              <a:ext uri="{FF2B5EF4-FFF2-40B4-BE49-F238E27FC236}">
                <a16:creationId xmlns:a16="http://schemas.microsoft.com/office/drawing/2014/main" id="{144952D7-427B-EDD9-D5C4-7E98270FF036}"/>
              </a:ext>
            </a:extLst>
          </p:cNvPr>
          <p:cNvGrpSpPr/>
          <p:nvPr/>
        </p:nvGrpSpPr>
        <p:grpSpPr>
          <a:xfrm>
            <a:off x="6695992" y="2924112"/>
            <a:ext cx="1739192" cy="3368549"/>
            <a:chOff x="6497505" y="3157730"/>
            <a:chExt cx="1739192" cy="3368549"/>
          </a:xfrm>
        </p:grpSpPr>
        <p:grpSp>
          <p:nvGrpSpPr>
            <p:cNvPr id="7" name="Group 6">
              <a:extLst>
                <a:ext uri="{FF2B5EF4-FFF2-40B4-BE49-F238E27FC236}">
                  <a16:creationId xmlns:a16="http://schemas.microsoft.com/office/drawing/2014/main" id="{955BFC70-4F81-F215-C192-D69946124E7D}"/>
                </a:ext>
              </a:extLst>
            </p:cNvPr>
            <p:cNvGrpSpPr/>
            <p:nvPr/>
          </p:nvGrpSpPr>
          <p:grpSpPr>
            <a:xfrm>
              <a:off x="6497505" y="3157730"/>
              <a:ext cx="1739192" cy="3358478"/>
              <a:chOff x="5052023" y="3298246"/>
              <a:chExt cx="1739192" cy="3358478"/>
            </a:xfrm>
          </p:grpSpPr>
          <p:pic>
            <p:nvPicPr>
              <p:cNvPr id="3" name="Picture 2" descr="A picture containing fence, light&#10;&#10;Description automatically generated">
                <a:extLst>
                  <a:ext uri="{FF2B5EF4-FFF2-40B4-BE49-F238E27FC236}">
                    <a16:creationId xmlns:a16="http://schemas.microsoft.com/office/drawing/2014/main" id="{0850647B-944F-2FEB-9CE8-E9247DB101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52023" y="3298246"/>
                <a:ext cx="1739192" cy="1186894"/>
              </a:xfrm>
              <a:prstGeom prst="rect">
                <a:avLst/>
              </a:prstGeom>
              <a:ln>
                <a:solidFill>
                  <a:schemeClr val="tx1"/>
                </a:solidFill>
              </a:ln>
            </p:spPr>
          </p:pic>
          <p:cxnSp>
            <p:nvCxnSpPr>
              <p:cNvPr id="4" name="Straight Arrow Connector 3">
                <a:extLst>
                  <a:ext uri="{FF2B5EF4-FFF2-40B4-BE49-F238E27FC236}">
                    <a16:creationId xmlns:a16="http://schemas.microsoft.com/office/drawing/2014/main" id="{BEA689A3-C3E4-DAB8-8D12-902EAD4539DA}"/>
                  </a:ext>
                </a:extLst>
              </p:cNvPr>
              <p:cNvCxnSpPr>
                <a:cxnSpLocks/>
              </p:cNvCxnSpPr>
              <p:nvPr/>
            </p:nvCxnSpPr>
            <p:spPr>
              <a:xfrm>
                <a:off x="5904686" y="4622869"/>
                <a:ext cx="0" cy="56078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F4B12B9-E708-DBFA-19F9-7A6B4F222B33}"/>
                  </a:ext>
                </a:extLst>
              </p:cNvPr>
              <p:cNvSpPr txBox="1"/>
              <p:nvPr/>
            </p:nvSpPr>
            <p:spPr>
              <a:xfrm>
                <a:off x="5375362" y="4732000"/>
                <a:ext cx="1094402" cy="276999"/>
              </a:xfrm>
              <a:prstGeom prst="rect">
                <a:avLst/>
              </a:prstGeom>
              <a:solidFill>
                <a:schemeClr val="bg1"/>
              </a:solidFill>
              <a:ln>
                <a:solidFill>
                  <a:schemeClr val="tx1"/>
                </a:solidFill>
              </a:ln>
            </p:spPr>
            <p:txBody>
              <a:bodyPr wrap="none" rtlCol="0">
                <a:spAutoFit/>
              </a:bodyPr>
              <a:lstStyle/>
              <a:p>
                <a:r>
                  <a:rPr lang="en-GB" sz="1200"/>
                  <a:t>Depolarization</a:t>
                </a:r>
              </a:p>
            </p:txBody>
          </p:sp>
          <p:pic>
            <p:nvPicPr>
              <p:cNvPr id="6" name="Picture 5" descr="A picture containing fence, light, hanging&#10;&#10;Description automatically generated">
                <a:extLst>
                  <a:ext uri="{FF2B5EF4-FFF2-40B4-BE49-F238E27FC236}">
                    <a16:creationId xmlns:a16="http://schemas.microsoft.com/office/drawing/2014/main" id="{F941D887-C4B0-5134-7AA7-EECE9EF892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52023" y="5255860"/>
                <a:ext cx="1739192" cy="1400864"/>
              </a:xfrm>
              <a:prstGeom prst="rect">
                <a:avLst/>
              </a:prstGeom>
              <a:ln>
                <a:solidFill>
                  <a:schemeClr val="tx1"/>
                </a:solidFill>
              </a:ln>
            </p:spPr>
          </p:pic>
        </p:grpSp>
        <p:sp>
          <p:nvSpPr>
            <p:cNvPr id="10" name="TextBox 9">
              <a:extLst>
                <a:ext uri="{FF2B5EF4-FFF2-40B4-BE49-F238E27FC236}">
                  <a16:creationId xmlns:a16="http://schemas.microsoft.com/office/drawing/2014/main" id="{1136EB48-616F-C63B-86C0-BAC39F20A200}"/>
                </a:ext>
              </a:extLst>
            </p:cNvPr>
            <p:cNvSpPr txBox="1"/>
            <p:nvPr/>
          </p:nvSpPr>
          <p:spPr>
            <a:xfrm>
              <a:off x="6945442" y="4052236"/>
              <a:ext cx="809452" cy="307777"/>
            </a:xfrm>
            <a:prstGeom prst="rect">
              <a:avLst/>
            </a:prstGeom>
            <a:noFill/>
          </p:spPr>
          <p:txBody>
            <a:bodyPr wrap="none" rtlCol="0">
              <a:spAutoFit/>
            </a:bodyPr>
            <a:lstStyle/>
            <a:p>
              <a:r>
                <a:rPr lang="en-GB" sz="1400" b="1">
                  <a:solidFill>
                    <a:schemeClr val="tx2">
                      <a:lumMod val="75000"/>
                      <a:lumOff val="25000"/>
                    </a:schemeClr>
                  </a:solidFill>
                </a:rPr>
                <a:t>NMDAR</a:t>
              </a:r>
            </a:p>
          </p:txBody>
        </p:sp>
        <p:sp>
          <p:nvSpPr>
            <p:cNvPr id="11" name="TextBox 10">
              <a:extLst>
                <a:ext uri="{FF2B5EF4-FFF2-40B4-BE49-F238E27FC236}">
                  <a16:creationId xmlns:a16="http://schemas.microsoft.com/office/drawing/2014/main" id="{D6779476-BD65-540D-AF18-F867CD6D52E0}"/>
                </a:ext>
              </a:extLst>
            </p:cNvPr>
            <p:cNvSpPr txBox="1"/>
            <p:nvPr/>
          </p:nvSpPr>
          <p:spPr>
            <a:xfrm>
              <a:off x="6945442" y="6218502"/>
              <a:ext cx="809452" cy="307777"/>
            </a:xfrm>
            <a:prstGeom prst="rect">
              <a:avLst/>
            </a:prstGeom>
            <a:noFill/>
          </p:spPr>
          <p:txBody>
            <a:bodyPr wrap="none" rtlCol="0">
              <a:spAutoFit/>
            </a:bodyPr>
            <a:lstStyle/>
            <a:p>
              <a:r>
                <a:rPr lang="en-GB" sz="1400" b="1">
                  <a:solidFill>
                    <a:schemeClr val="tx2">
                      <a:lumMod val="75000"/>
                      <a:lumOff val="25000"/>
                    </a:schemeClr>
                  </a:solidFill>
                </a:rPr>
                <a:t>NMDAR</a:t>
              </a:r>
            </a:p>
          </p:txBody>
        </p:sp>
      </p:grpSp>
    </p:spTree>
    <p:extLst>
      <p:ext uri="{BB962C8B-B14F-4D97-AF65-F5344CB8AC3E}">
        <p14:creationId xmlns:p14="http://schemas.microsoft.com/office/powerpoint/2010/main" val="2899496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13">
                                            <p:txEl>
                                              <p:pRg st="11" end="11"/>
                                            </p:txEl>
                                          </p:spTgt>
                                        </p:tgtEl>
                                        <p:attrNameLst>
                                          <p:attrName>style.color</p:attrName>
                                        </p:attrNameLst>
                                      </p:cBhvr>
                                      <p:to>
                                        <a:srgbClr val="2F5496"/>
                                      </p:to>
                                    </p:animClr>
                                  </p:childTnLst>
                                </p:cTn>
                              </p:par>
                              <p:par>
                                <p:cTn id="7" presetID="3" presetClass="emph" presetSubtype="2" fill="hold" nodeType="withEffect">
                                  <p:stCondLst>
                                    <p:cond delay="0"/>
                                  </p:stCondLst>
                                  <p:childTnLst>
                                    <p:animClr clrSpc="rgb" dir="cw">
                                      <p:cBhvr override="childStyle">
                                        <p:cTn id="8" dur="500" fill="hold"/>
                                        <p:tgtEl>
                                          <p:spTgt spid="13">
                                            <p:txEl>
                                              <p:pRg st="12" end="12"/>
                                            </p:txEl>
                                          </p:spTgt>
                                        </p:tgtEl>
                                        <p:attrNameLst>
                                          <p:attrName>style.color</p:attrName>
                                        </p:attrNameLst>
                                      </p:cBhvr>
                                      <p:to>
                                        <a:srgbClr val="2F5496"/>
                                      </p:to>
                                    </p:animClr>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0A996-C611-41B5-919B-39DF315EA860}"/>
              </a:ext>
            </a:extLst>
          </p:cNvPr>
          <p:cNvSpPr>
            <a:spLocks noGrp="1"/>
          </p:cNvSpPr>
          <p:nvPr>
            <p:ph type="title"/>
          </p:nvPr>
        </p:nvSpPr>
        <p:spPr/>
        <p:txBody>
          <a:bodyPr>
            <a:normAutofit/>
          </a:bodyPr>
          <a:lstStyle/>
          <a:p>
            <a:r>
              <a:rPr lang="en-GB"/>
              <a:t>Ionotropic GABA</a:t>
            </a:r>
            <a:r>
              <a:rPr lang="en-GB" baseline="-25000"/>
              <a:t>A</a:t>
            </a:r>
            <a:r>
              <a:rPr lang="en-GB"/>
              <a:t> receptors</a:t>
            </a:r>
          </a:p>
        </p:txBody>
      </p:sp>
      <p:sp>
        <p:nvSpPr>
          <p:cNvPr id="3" name="Content Placeholder 2">
            <a:extLst>
              <a:ext uri="{FF2B5EF4-FFF2-40B4-BE49-F238E27FC236}">
                <a16:creationId xmlns:a16="http://schemas.microsoft.com/office/drawing/2014/main" id="{4778079A-9BC0-462C-835E-C5ABE350646D}"/>
              </a:ext>
            </a:extLst>
          </p:cNvPr>
          <p:cNvSpPr>
            <a:spLocks noGrp="1"/>
          </p:cNvSpPr>
          <p:nvPr>
            <p:ph idx="1"/>
          </p:nvPr>
        </p:nvSpPr>
        <p:spPr/>
        <p:txBody>
          <a:bodyPr>
            <a:normAutofit/>
          </a:bodyPr>
          <a:lstStyle/>
          <a:p>
            <a:r>
              <a:rPr lang="en-GB"/>
              <a:t>Permeable to </a:t>
            </a:r>
            <a:r>
              <a:rPr lang="en-GB" b="1"/>
              <a:t>Cl</a:t>
            </a:r>
            <a:r>
              <a:rPr lang="en-GB" b="1" baseline="30000"/>
              <a:t>-</a:t>
            </a:r>
          </a:p>
          <a:p>
            <a:endParaRPr lang="en-GB">
              <a:latin typeface="Calibri "/>
            </a:endParaRPr>
          </a:p>
          <a:p>
            <a:r>
              <a:rPr lang="en-GB">
                <a:latin typeface="Calibri "/>
              </a:rPr>
              <a:t>Binds</a:t>
            </a:r>
            <a:r>
              <a:rPr lang="en-GB">
                <a:latin typeface="Symbol" panose="05050102010706020507" pitchFamily="18" charset="2"/>
              </a:rPr>
              <a:t> g</a:t>
            </a:r>
            <a:r>
              <a:rPr lang="en-GB"/>
              <a:t>-aminobutyric acid (GABA)</a:t>
            </a:r>
          </a:p>
          <a:p>
            <a:pPr lvl="1"/>
            <a:r>
              <a:rPr lang="en-GB"/>
              <a:t>Bind to </a:t>
            </a:r>
            <a:r>
              <a:rPr lang="en-GB" b="1"/>
              <a:t>benzodiazepines</a:t>
            </a:r>
            <a:r>
              <a:rPr lang="en-GB"/>
              <a:t> and </a:t>
            </a:r>
            <a:r>
              <a:rPr lang="en-GB" b="1"/>
              <a:t>barbiturates</a:t>
            </a:r>
          </a:p>
          <a:p>
            <a:pPr marL="0" indent="0">
              <a:buNone/>
            </a:pPr>
            <a:endParaRPr lang="en-GB"/>
          </a:p>
          <a:p>
            <a:r>
              <a:rPr lang="en-GB"/>
              <a:t>GABA</a:t>
            </a:r>
            <a:r>
              <a:rPr lang="en-GB" baseline="-25000"/>
              <a:t>A</a:t>
            </a:r>
            <a:r>
              <a:rPr lang="en-GB"/>
              <a:t>R is a pentamer</a:t>
            </a:r>
          </a:p>
          <a:p>
            <a:pPr lvl="1"/>
            <a:r>
              <a:rPr lang="en-GB"/>
              <a:t>Major form with 2 </a:t>
            </a:r>
            <a:r>
              <a:rPr lang="en-GB">
                <a:latin typeface="Symbol" panose="05050102010706020507" pitchFamily="18" charset="2"/>
              </a:rPr>
              <a:t>a</a:t>
            </a:r>
            <a:r>
              <a:rPr lang="en-GB"/>
              <a:t>1, 2 </a:t>
            </a:r>
            <a:r>
              <a:rPr lang="en-GB">
                <a:latin typeface="Symbol" panose="05050102010706020507" pitchFamily="18" charset="2"/>
              </a:rPr>
              <a:t>b</a:t>
            </a:r>
            <a:r>
              <a:rPr lang="en-GB"/>
              <a:t>2, 1 </a:t>
            </a:r>
            <a:r>
              <a:rPr lang="en-GB">
                <a:latin typeface="Symbol" panose="05050102010706020507" pitchFamily="18" charset="2"/>
              </a:rPr>
              <a:t>g</a:t>
            </a:r>
            <a:r>
              <a:rPr lang="en-GB"/>
              <a:t>2 (</a:t>
            </a:r>
            <a:r>
              <a:rPr lang="en-GB" err="1">
                <a:latin typeface="Symbol" panose="05050102010706020507" pitchFamily="18" charset="2"/>
              </a:rPr>
              <a:t>ababg</a:t>
            </a:r>
            <a:r>
              <a:rPr lang="en-GB"/>
              <a:t>)</a:t>
            </a:r>
          </a:p>
          <a:p>
            <a:pPr marL="457200" lvl="1" indent="0">
              <a:buNone/>
            </a:pPr>
            <a:endParaRPr lang="en-GB"/>
          </a:p>
        </p:txBody>
      </p:sp>
      <p:pic>
        <p:nvPicPr>
          <p:cNvPr id="4" name="Picture 3">
            <a:extLst>
              <a:ext uri="{FF2B5EF4-FFF2-40B4-BE49-F238E27FC236}">
                <a16:creationId xmlns:a16="http://schemas.microsoft.com/office/drawing/2014/main" id="{73CBC1DB-8CA6-4FFA-A2DD-7AE97956F8CB}"/>
              </a:ext>
            </a:extLst>
          </p:cNvPr>
          <p:cNvPicPr>
            <a:picLocks noChangeAspect="1"/>
          </p:cNvPicPr>
          <p:nvPr/>
        </p:nvPicPr>
        <p:blipFill>
          <a:blip r:embed="rId2"/>
          <a:stretch>
            <a:fillRect/>
          </a:stretch>
        </p:blipFill>
        <p:spPr>
          <a:xfrm>
            <a:off x="6295551" y="1099739"/>
            <a:ext cx="5346614" cy="5480140"/>
          </a:xfrm>
          <a:prstGeom prst="rect">
            <a:avLst/>
          </a:prstGeom>
        </p:spPr>
      </p:pic>
    </p:spTree>
    <p:extLst>
      <p:ext uri="{BB962C8B-B14F-4D97-AF65-F5344CB8AC3E}">
        <p14:creationId xmlns:p14="http://schemas.microsoft.com/office/powerpoint/2010/main" val="2180033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5BC7B-F815-41DD-8E1B-91849681EAA5}"/>
              </a:ext>
            </a:extLst>
          </p:cNvPr>
          <p:cNvSpPr>
            <a:spLocks noGrp="1"/>
          </p:cNvSpPr>
          <p:nvPr>
            <p:ph type="title"/>
          </p:nvPr>
        </p:nvSpPr>
        <p:spPr/>
        <p:txBody>
          <a:bodyPr/>
          <a:lstStyle/>
          <a:p>
            <a:r>
              <a:rPr lang="en-GB" dirty="0"/>
              <a:t>Neuronal signal integration</a:t>
            </a:r>
          </a:p>
        </p:txBody>
      </p:sp>
      <p:sp>
        <p:nvSpPr>
          <p:cNvPr id="3" name="Content Placeholder 2">
            <a:extLst>
              <a:ext uri="{FF2B5EF4-FFF2-40B4-BE49-F238E27FC236}">
                <a16:creationId xmlns:a16="http://schemas.microsoft.com/office/drawing/2014/main" id="{A01CB688-1E8D-487F-81D2-CE8DC653EEA6}"/>
              </a:ext>
            </a:extLst>
          </p:cNvPr>
          <p:cNvSpPr>
            <a:spLocks noGrp="1"/>
          </p:cNvSpPr>
          <p:nvPr>
            <p:ph idx="1"/>
          </p:nvPr>
        </p:nvSpPr>
        <p:spPr/>
        <p:txBody>
          <a:bodyPr>
            <a:normAutofit/>
          </a:bodyPr>
          <a:lstStyle/>
          <a:p>
            <a:r>
              <a:rPr lang="en-GB" dirty="0"/>
              <a:t>Each neuron receives numerous inputs</a:t>
            </a:r>
          </a:p>
          <a:p>
            <a:pPr lvl="1"/>
            <a:r>
              <a:rPr lang="en-GB" dirty="0"/>
              <a:t>Axo-dendritic</a:t>
            </a:r>
          </a:p>
          <a:p>
            <a:pPr lvl="1"/>
            <a:r>
              <a:rPr lang="en-GB" dirty="0"/>
              <a:t>Axo-somatic</a:t>
            </a:r>
          </a:p>
          <a:p>
            <a:pPr lvl="1"/>
            <a:r>
              <a:rPr lang="en-GB" dirty="0"/>
              <a:t>Axo-axonic (AIS and terminals)</a:t>
            </a:r>
          </a:p>
          <a:p>
            <a:endParaRPr lang="en-GB" dirty="0"/>
          </a:p>
          <a:p>
            <a:r>
              <a:rPr lang="en-GB" dirty="0"/>
              <a:t>When a synapse is activated, it will either generate:</a:t>
            </a:r>
          </a:p>
          <a:p>
            <a:pPr lvl="1"/>
            <a:r>
              <a:rPr lang="en-GB" b="1" dirty="0"/>
              <a:t>Excitatory</a:t>
            </a:r>
            <a:r>
              <a:rPr lang="en-GB" dirty="0"/>
              <a:t> Post-Synaptic Potential (</a:t>
            </a:r>
            <a:r>
              <a:rPr lang="en-GB" b="1" dirty="0"/>
              <a:t>EPSP</a:t>
            </a:r>
            <a:r>
              <a:rPr lang="en-GB" dirty="0"/>
              <a:t>)</a:t>
            </a:r>
          </a:p>
          <a:p>
            <a:pPr lvl="1"/>
            <a:r>
              <a:rPr lang="en-GB" b="1" dirty="0"/>
              <a:t>Inhibitory</a:t>
            </a:r>
            <a:r>
              <a:rPr lang="en-GB" dirty="0"/>
              <a:t> Post-Synaptic Potential (</a:t>
            </a:r>
            <a:r>
              <a:rPr lang="en-GB" b="1" dirty="0"/>
              <a:t>IPSP</a:t>
            </a:r>
            <a:r>
              <a:rPr lang="en-GB" dirty="0"/>
              <a:t>)</a:t>
            </a:r>
          </a:p>
          <a:p>
            <a:endParaRPr lang="en-GB" dirty="0"/>
          </a:p>
          <a:p>
            <a:r>
              <a:rPr lang="en-GB" dirty="0"/>
              <a:t>The summation of EPSPs and IPSPs will determine the level of depolarization reaching the soma</a:t>
            </a:r>
          </a:p>
        </p:txBody>
      </p:sp>
      <p:pic>
        <p:nvPicPr>
          <p:cNvPr id="4" name="Picture 3">
            <a:extLst>
              <a:ext uri="{FF2B5EF4-FFF2-40B4-BE49-F238E27FC236}">
                <a16:creationId xmlns:a16="http://schemas.microsoft.com/office/drawing/2014/main" id="{B4A6BE44-63F9-4FED-9731-B3DD685410B4}"/>
              </a:ext>
            </a:extLst>
          </p:cNvPr>
          <p:cNvPicPr>
            <a:picLocks noChangeAspect="1"/>
          </p:cNvPicPr>
          <p:nvPr/>
        </p:nvPicPr>
        <p:blipFill>
          <a:blip r:embed="rId3"/>
          <a:stretch>
            <a:fillRect/>
          </a:stretch>
        </p:blipFill>
        <p:spPr>
          <a:xfrm>
            <a:off x="6338233" y="929390"/>
            <a:ext cx="3668028" cy="5169321"/>
          </a:xfrm>
          <a:prstGeom prst="rect">
            <a:avLst/>
          </a:prstGeom>
        </p:spPr>
      </p:pic>
      <p:pic>
        <p:nvPicPr>
          <p:cNvPr id="6" name="Picture 5">
            <a:extLst>
              <a:ext uri="{FF2B5EF4-FFF2-40B4-BE49-F238E27FC236}">
                <a16:creationId xmlns:a16="http://schemas.microsoft.com/office/drawing/2014/main" id="{8F3CDBC0-0892-4548-982F-9BC46C4963BE}"/>
              </a:ext>
            </a:extLst>
          </p:cNvPr>
          <p:cNvPicPr>
            <a:picLocks noChangeAspect="1"/>
          </p:cNvPicPr>
          <p:nvPr/>
        </p:nvPicPr>
        <p:blipFill rotWithShape="1">
          <a:blip r:embed="rId4"/>
          <a:srcRect l="26289" r="47675" b="89980"/>
          <a:stretch/>
        </p:blipFill>
        <p:spPr>
          <a:xfrm>
            <a:off x="8671408" y="3092369"/>
            <a:ext cx="1463117" cy="561110"/>
          </a:xfrm>
          <a:prstGeom prst="rect">
            <a:avLst/>
          </a:prstGeom>
        </p:spPr>
      </p:pic>
      <p:pic>
        <p:nvPicPr>
          <p:cNvPr id="7" name="Picture 6">
            <a:extLst>
              <a:ext uri="{FF2B5EF4-FFF2-40B4-BE49-F238E27FC236}">
                <a16:creationId xmlns:a16="http://schemas.microsoft.com/office/drawing/2014/main" id="{5B77DED8-9B3B-44DC-BAA5-8E4CD2824059}"/>
              </a:ext>
            </a:extLst>
          </p:cNvPr>
          <p:cNvPicPr>
            <a:picLocks noChangeAspect="1"/>
          </p:cNvPicPr>
          <p:nvPr/>
        </p:nvPicPr>
        <p:blipFill rotWithShape="1">
          <a:blip r:embed="rId5"/>
          <a:srcRect l="60242" b="41732"/>
          <a:stretch/>
        </p:blipFill>
        <p:spPr>
          <a:xfrm>
            <a:off x="8098367" y="3777655"/>
            <a:ext cx="1814562" cy="2746911"/>
          </a:xfrm>
          <a:prstGeom prst="rect">
            <a:avLst/>
          </a:prstGeom>
        </p:spPr>
      </p:pic>
      <p:sp>
        <p:nvSpPr>
          <p:cNvPr id="5" name="Freeform: Shape 4">
            <a:extLst>
              <a:ext uri="{FF2B5EF4-FFF2-40B4-BE49-F238E27FC236}">
                <a16:creationId xmlns:a16="http://schemas.microsoft.com/office/drawing/2014/main" id="{DB764745-8050-40E1-9EF6-FCF90DA514EE}"/>
              </a:ext>
            </a:extLst>
          </p:cNvPr>
          <p:cNvSpPr/>
          <p:nvPr/>
        </p:nvSpPr>
        <p:spPr>
          <a:xfrm rot="5594498">
            <a:off x="7049227" y="2465796"/>
            <a:ext cx="129785" cy="143486"/>
          </a:xfrm>
          <a:custGeom>
            <a:avLst/>
            <a:gdLst>
              <a:gd name="connsiteX0" fmla="*/ 114937 w 115900"/>
              <a:gd name="connsiteY0" fmla="*/ 139821 h 143944"/>
              <a:gd name="connsiteX1" fmla="*/ 92712 w 115900"/>
              <a:gd name="connsiteY1" fmla="*/ 76321 h 143944"/>
              <a:gd name="connsiteX2" fmla="*/ 80012 w 115900"/>
              <a:gd name="connsiteY2" fmla="*/ 57271 h 143944"/>
              <a:gd name="connsiteX3" fmla="*/ 102237 w 115900"/>
              <a:gd name="connsiteY3" fmla="*/ 22346 h 143944"/>
              <a:gd name="connsiteX4" fmla="*/ 76837 w 115900"/>
              <a:gd name="connsiteY4" fmla="*/ 121 h 143944"/>
              <a:gd name="connsiteX5" fmla="*/ 10162 w 115900"/>
              <a:gd name="connsiteY5" fmla="*/ 31871 h 143944"/>
              <a:gd name="connsiteX6" fmla="*/ 3812 w 115900"/>
              <a:gd name="connsiteY6" fmla="*/ 69971 h 143944"/>
              <a:gd name="connsiteX7" fmla="*/ 637 w 115900"/>
              <a:gd name="connsiteY7" fmla="*/ 89021 h 143944"/>
              <a:gd name="connsiteX8" fmla="*/ 16512 w 115900"/>
              <a:gd name="connsiteY8" fmla="*/ 92196 h 143944"/>
              <a:gd name="connsiteX9" fmla="*/ 41912 w 115900"/>
              <a:gd name="connsiteY9" fmla="*/ 92196 h 143944"/>
              <a:gd name="connsiteX10" fmla="*/ 57787 w 115900"/>
              <a:gd name="connsiteY10" fmla="*/ 130296 h 143944"/>
              <a:gd name="connsiteX11" fmla="*/ 114937 w 115900"/>
              <a:gd name="connsiteY11" fmla="*/ 139821 h 143944"/>
              <a:gd name="connsiteX0" fmla="*/ 130316 w 131279"/>
              <a:gd name="connsiteY0" fmla="*/ 139821 h 143944"/>
              <a:gd name="connsiteX1" fmla="*/ 108091 w 131279"/>
              <a:gd name="connsiteY1" fmla="*/ 76321 h 143944"/>
              <a:gd name="connsiteX2" fmla="*/ 95391 w 131279"/>
              <a:gd name="connsiteY2" fmla="*/ 57271 h 143944"/>
              <a:gd name="connsiteX3" fmla="*/ 117616 w 131279"/>
              <a:gd name="connsiteY3" fmla="*/ 22346 h 143944"/>
              <a:gd name="connsiteX4" fmla="*/ 92216 w 131279"/>
              <a:gd name="connsiteY4" fmla="*/ 121 h 143944"/>
              <a:gd name="connsiteX5" fmla="*/ 25541 w 131279"/>
              <a:gd name="connsiteY5" fmla="*/ 31871 h 143944"/>
              <a:gd name="connsiteX6" fmla="*/ 141 w 131279"/>
              <a:gd name="connsiteY6" fmla="*/ 55684 h 143944"/>
              <a:gd name="connsiteX7" fmla="*/ 16016 w 131279"/>
              <a:gd name="connsiteY7" fmla="*/ 89021 h 143944"/>
              <a:gd name="connsiteX8" fmla="*/ 31891 w 131279"/>
              <a:gd name="connsiteY8" fmla="*/ 92196 h 143944"/>
              <a:gd name="connsiteX9" fmla="*/ 57291 w 131279"/>
              <a:gd name="connsiteY9" fmla="*/ 92196 h 143944"/>
              <a:gd name="connsiteX10" fmla="*/ 73166 w 131279"/>
              <a:gd name="connsiteY10" fmla="*/ 130296 h 143944"/>
              <a:gd name="connsiteX11" fmla="*/ 130316 w 131279"/>
              <a:gd name="connsiteY11" fmla="*/ 139821 h 143944"/>
              <a:gd name="connsiteX0" fmla="*/ 128745 w 129708"/>
              <a:gd name="connsiteY0" fmla="*/ 139821 h 143944"/>
              <a:gd name="connsiteX1" fmla="*/ 106520 w 129708"/>
              <a:gd name="connsiteY1" fmla="*/ 76321 h 143944"/>
              <a:gd name="connsiteX2" fmla="*/ 93820 w 129708"/>
              <a:gd name="connsiteY2" fmla="*/ 57271 h 143944"/>
              <a:gd name="connsiteX3" fmla="*/ 116045 w 129708"/>
              <a:gd name="connsiteY3" fmla="*/ 22346 h 143944"/>
              <a:gd name="connsiteX4" fmla="*/ 90645 w 129708"/>
              <a:gd name="connsiteY4" fmla="*/ 121 h 143944"/>
              <a:gd name="connsiteX5" fmla="*/ 23970 w 129708"/>
              <a:gd name="connsiteY5" fmla="*/ 31871 h 143944"/>
              <a:gd name="connsiteX6" fmla="*/ 158 w 129708"/>
              <a:gd name="connsiteY6" fmla="*/ 52509 h 143944"/>
              <a:gd name="connsiteX7" fmla="*/ 14445 w 129708"/>
              <a:gd name="connsiteY7" fmla="*/ 89021 h 143944"/>
              <a:gd name="connsiteX8" fmla="*/ 30320 w 129708"/>
              <a:gd name="connsiteY8" fmla="*/ 92196 h 143944"/>
              <a:gd name="connsiteX9" fmla="*/ 55720 w 129708"/>
              <a:gd name="connsiteY9" fmla="*/ 92196 h 143944"/>
              <a:gd name="connsiteX10" fmla="*/ 71595 w 129708"/>
              <a:gd name="connsiteY10" fmla="*/ 130296 h 143944"/>
              <a:gd name="connsiteX11" fmla="*/ 128745 w 129708"/>
              <a:gd name="connsiteY11" fmla="*/ 139821 h 143944"/>
              <a:gd name="connsiteX0" fmla="*/ 128822 w 129785"/>
              <a:gd name="connsiteY0" fmla="*/ 139821 h 143944"/>
              <a:gd name="connsiteX1" fmla="*/ 106597 w 129785"/>
              <a:gd name="connsiteY1" fmla="*/ 76321 h 143944"/>
              <a:gd name="connsiteX2" fmla="*/ 93897 w 129785"/>
              <a:gd name="connsiteY2" fmla="*/ 57271 h 143944"/>
              <a:gd name="connsiteX3" fmla="*/ 116122 w 129785"/>
              <a:gd name="connsiteY3" fmla="*/ 22346 h 143944"/>
              <a:gd name="connsiteX4" fmla="*/ 90722 w 129785"/>
              <a:gd name="connsiteY4" fmla="*/ 121 h 143944"/>
              <a:gd name="connsiteX5" fmla="*/ 24047 w 129785"/>
              <a:gd name="connsiteY5" fmla="*/ 31871 h 143944"/>
              <a:gd name="connsiteX6" fmla="*/ 235 w 129785"/>
              <a:gd name="connsiteY6" fmla="*/ 52509 h 143944"/>
              <a:gd name="connsiteX7" fmla="*/ 14522 w 129785"/>
              <a:gd name="connsiteY7" fmla="*/ 89021 h 143944"/>
              <a:gd name="connsiteX8" fmla="*/ 55797 w 129785"/>
              <a:gd name="connsiteY8" fmla="*/ 92196 h 143944"/>
              <a:gd name="connsiteX9" fmla="*/ 71672 w 129785"/>
              <a:gd name="connsiteY9" fmla="*/ 130296 h 143944"/>
              <a:gd name="connsiteX10" fmla="*/ 128822 w 129785"/>
              <a:gd name="connsiteY10" fmla="*/ 139821 h 143944"/>
              <a:gd name="connsiteX0" fmla="*/ 128822 w 129785"/>
              <a:gd name="connsiteY0" fmla="*/ 139821 h 143486"/>
              <a:gd name="connsiteX1" fmla="*/ 106597 w 129785"/>
              <a:gd name="connsiteY1" fmla="*/ 76321 h 143486"/>
              <a:gd name="connsiteX2" fmla="*/ 93897 w 129785"/>
              <a:gd name="connsiteY2" fmla="*/ 57271 h 143486"/>
              <a:gd name="connsiteX3" fmla="*/ 116122 w 129785"/>
              <a:gd name="connsiteY3" fmla="*/ 22346 h 143486"/>
              <a:gd name="connsiteX4" fmla="*/ 90722 w 129785"/>
              <a:gd name="connsiteY4" fmla="*/ 121 h 143486"/>
              <a:gd name="connsiteX5" fmla="*/ 24047 w 129785"/>
              <a:gd name="connsiteY5" fmla="*/ 31871 h 143486"/>
              <a:gd name="connsiteX6" fmla="*/ 235 w 129785"/>
              <a:gd name="connsiteY6" fmla="*/ 52509 h 143486"/>
              <a:gd name="connsiteX7" fmla="*/ 14522 w 129785"/>
              <a:gd name="connsiteY7" fmla="*/ 89021 h 143486"/>
              <a:gd name="connsiteX8" fmla="*/ 55797 w 129785"/>
              <a:gd name="connsiteY8" fmla="*/ 84259 h 143486"/>
              <a:gd name="connsiteX9" fmla="*/ 71672 w 129785"/>
              <a:gd name="connsiteY9" fmla="*/ 130296 h 143486"/>
              <a:gd name="connsiteX10" fmla="*/ 128822 w 129785"/>
              <a:gd name="connsiteY10" fmla="*/ 139821 h 143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785" h="143486">
                <a:moveTo>
                  <a:pt x="128822" y="139821"/>
                </a:moveTo>
                <a:cubicBezTo>
                  <a:pt x="134643" y="130825"/>
                  <a:pt x="112418" y="90079"/>
                  <a:pt x="106597" y="76321"/>
                </a:cubicBezTo>
                <a:cubicBezTo>
                  <a:pt x="100776" y="62563"/>
                  <a:pt x="92310" y="66267"/>
                  <a:pt x="93897" y="57271"/>
                </a:cubicBezTo>
                <a:cubicBezTo>
                  <a:pt x="95484" y="48275"/>
                  <a:pt x="116651" y="31871"/>
                  <a:pt x="116122" y="22346"/>
                </a:cubicBezTo>
                <a:cubicBezTo>
                  <a:pt x="115593" y="12821"/>
                  <a:pt x="106068" y="-1467"/>
                  <a:pt x="90722" y="121"/>
                </a:cubicBezTo>
                <a:cubicBezTo>
                  <a:pt x="75376" y="1708"/>
                  <a:pt x="39128" y="23140"/>
                  <a:pt x="24047" y="31871"/>
                </a:cubicBezTo>
                <a:cubicBezTo>
                  <a:pt x="8966" y="40602"/>
                  <a:pt x="235" y="52509"/>
                  <a:pt x="235" y="52509"/>
                </a:cubicBezTo>
                <a:cubicBezTo>
                  <a:pt x="-1353" y="62034"/>
                  <a:pt x="5262" y="83729"/>
                  <a:pt x="14522" y="89021"/>
                </a:cubicBezTo>
                <a:cubicBezTo>
                  <a:pt x="23782" y="94313"/>
                  <a:pt x="46272" y="77380"/>
                  <a:pt x="55797" y="84259"/>
                </a:cubicBezTo>
                <a:cubicBezTo>
                  <a:pt x="65322" y="91138"/>
                  <a:pt x="59501" y="121036"/>
                  <a:pt x="71672" y="130296"/>
                </a:cubicBezTo>
                <a:cubicBezTo>
                  <a:pt x="83843" y="139556"/>
                  <a:pt x="123001" y="148817"/>
                  <a:pt x="128822" y="139821"/>
                </a:cubicBezTo>
                <a:close/>
              </a:path>
            </a:pathLst>
          </a:custGeom>
          <a:solidFill>
            <a:srgbClr val="2A3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554946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EA7E2-92A5-4051-8669-8E2A2B777121}"/>
              </a:ext>
            </a:extLst>
          </p:cNvPr>
          <p:cNvSpPr>
            <a:spLocks noGrp="1"/>
          </p:cNvSpPr>
          <p:nvPr>
            <p:ph type="title"/>
          </p:nvPr>
        </p:nvSpPr>
        <p:spPr/>
        <p:txBody>
          <a:bodyPr/>
          <a:lstStyle/>
          <a:p>
            <a:r>
              <a:rPr lang="en-GB" dirty="0"/>
              <a:t>Specific Dendritic Morphology</a:t>
            </a:r>
          </a:p>
        </p:txBody>
      </p:sp>
      <p:sp>
        <p:nvSpPr>
          <p:cNvPr id="3" name="Content Placeholder 2">
            <a:extLst>
              <a:ext uri="{FF2B5EF4-FFF2-40B4-BE49-F238E27FC236}">
                <a16:creationId xmlns:a16="http://schemas.microsoft.com/office/drawing/2014/main" id="{23EA3EE3-E810-4AB6-8647-E3CCF5AD4802}"/>
              </a:ext>
            </a:extLst>
          </p:cNvPr>
          <p:cNvSpPr>
            <a:spLocks noGrp="1"/>
          </p:cNvSpPr>
          <p:nvPr>
            <p:ph idx="1"/>
          </p:nvPr>
        </p:nvSpPr>
        <p:spPr>
          <a:xfrm>
            <a:off x="669956" y="971550"/>
            <a:ext cx="10921938" cy="5205414"/>
          </a:xfrm>
        </p:spPr>
        <p:txBody>
          <a:bodyPr/>
          <a:lstStyle/>
          <a:p>
            <a:r>
              <a:rPr lang="en-GB" dirty="0"/>
              <a:t>The structure of the dendritic arbour varies based on neuronal tissue and types/number of inputs</a:t>
            </a:r>
          </a:p>
        </p:txBody>
      </p:sp>
      <p:grpSp>
        <p:nvGrpSpPr>
          <p:cNvPr id="12" name="Group 11">
            <a:extLst>
              <a:ext uri="{FF2B5EF4-FFF2-40B4-BE49-F238E27FC236}">
                <a16:creationId xmlns:a16="http://schemas.microsoft.com/office/drawing/2014/main" id="{EE8F501C-B3B4-42B7-92E4-05E8FCBC4A47}"/>
              </a:ext>
            </a:extLst>
          </p:cNvPr>
          <p:cNvGrpSpPr/>
          <p:nvPr/>
        </p:nvGrpSpPr>
        <p:grpSpPr>
          <a:xfrm>
            <a:off x="2521683" y="1358580"/>
            <a:ext cx="7218484" cy="5177149"/>
            <a:chOff x="962758" y="1358579"/>
            <a:chExt cx="7218484" cy="5177149"/>
          </a:xfrm>
        </p:grpSpPr>
        <p:pic>
          <p:nvPicPr>
            <p:cNvPr id="5" name="Picture 4">
              <a:extLst>
                <a:ext uri="{FF2B5EF4-FFF2-40B4-BE49-F238E27FC236}">
                  <a16:creationId xmlns:a16="http://schemas.microsoft.com/office/drawing/2014/main" id="{7D5E0FD8-21C1-45DB-9DF5-8B8860D5F675}"/>
                </a:ext>
              </a:extLst>
            </p:cNvPr>
            <p:cNvPicPr>
              <a:picLocks noChangeAspect="1"/>
            </p:cNvPicPr>
            <p:nvPr/>
          </p:nvPicPr>
          <p:blipFill>
            <a:blip r:embed="rId2"/>
            <a:stretch>
              <a:fillRect/>
            </a:stretch>
          </p:blipFill>
          <p:spPr>
            <a:xfrm>
              <a:off x="962758" y="2017730"/>
              <a:ext cx="7218484" cy="4148666"/>
            </a:xfrm>
            <a:prstGeom prst="rect">
              <a:avLst/>
            </a:prstGeom>
          </p:spPr>
        </p:pic>
        <p:sp>
          <p:nvSpPr>
            <p:cNvPr id="6" name="TextBox 5">
              <a:extLst>
                <a:ext uri="{FF2B5EF4-FFF2-40B4-BE49-F238E27FC236}">
                  <a16:creationId xmlns:a16="http://schemas.microsoft.com/office/drawing/2014/main" id="{EB43DBDF-D52F-45CA-9601-274B46FD3580}"/>
                </a:ext>
              </a:extLst>
            </p:cNvPr>
            <p:cNvSpPr txBox="1"/>
            <p:nvPr/>
          </p:nvSpPr>
          <p:spPr>
            <a:xfrm>
              <a:off x="1030491" y="5356533"/>
              <a:ext cx="1803400" cy="369332"/>
            </a:xfrm>
            <a:prstGeom prst="rect">
              <a:avLst/>
            </a:prstGeom>
            <a:noFill/>
          </p:spPr>
          <p:txBody>
            <a:bodyPr wrap="square" rtlCol="0">
              <a:spAutoFit/>
            </a:bodyPr>
            <a:lstStyle/>
            <a:p>
              <a:pPr algn="ctr"/>
              <a:r>
                <a:rPr lang="en-GB" dirty="0"/>
                <a:t>Olfactory Cell</a:t>
              </a:r>
            </a:p>
          </p:txBody>
        </p:sp>
        <p:sp>
          <p:nvSpPr>
            <p:cNvPr id="7" name="TextBox 6">
              <a:extLst>
                <a:ext uri="{FF2B5EF4-FFF2-40B4-BE49-F238E27FC236}">
                  <a16:creationId xmlns:a16="http://schemas.microsoft.com/office/drawing/2014/main" id="{2948EC0D-1E5A-4622-8CEE-BE6E2D2E8CB7}"/>
                </a:ext>
              </a:extLst>
            </p:cNvPr>
            <p:cNvSpPr txBox="1"/>
            <p:nvPr/>
          </p:nvSpPr>
          <p:spPr>
            <a:xfrm>
              <a:off x="1213445" y="1358579"/>
              <a:ext cx="1437492" cy="369332"/>
            </a:xfrm>
            <a:prstGeom prst="rect">
              <a:avLst/>
            </a:prstGeom>
            <a:noFill/>
          </p:spPr>
          <p:txBody>
            <a:bodyPr wrap="square" rtlCol="0">
              <a:spAutoFit/>
            </a:bodyPr>
            <a:lstStyle/>
            <a:p>
              <a:pPr algn="ctr"/>
              <a:r>
                <a:rPr lang="en-GB" b="1" dirty="0"/>
                <a:t>Selective</a:t>
              </a:r>
            </a:p>
          </p:txBody>
        </p:sp>
        <p:sp>
          <p:nvSpPr>
            <p:cNvPr id="8" name="TextBox 7">
              <a:extLst>
                <a:ext uri="{FF2B5EF4-FFF2-40B4-BE49-F238E27FC236}">
                  <a16:creationId xmlns:a16="http://schemas.microsoft.com/office/drawing/2014/main" id="{54BBE20F-927C-438D-A62E-D12A268CE48C}"/>
                </a:ext>
              </a:extLst>
            </p:cNvPr>
            <p:cNvSpPr txBox="1"/>
            <p:nvPr/>
          </p:nvSpPr>
          <p:spPr>
            <a:xfrm>
              <a:off x="5572858" y="1358579"/>
              <a:ext cx="1683075" cy="369332"/>
            </a:xfrm>
            <a:prstGeom prst="rect">
              <a:avLst/>
            </a:prstGeom>
            <a:noFill/>
          </p:spPr>
          <p:txBody>
            <a:bodyPr wrap="square" rtlCol="0">
              <a:spAutoFit/>
            </a:bodyPr>
            <a:lstStyle/>
            <a:p>
              <a:pPr algn="ctr"/>
              <a:r>
                <a:rPr lang="en-GB" b="1" dirty="0"/>
                <a:t>Wide</a:t>
              </a:r>
            </a:p>
          </p:txBody>
        </p:sp>
        <p:sp>
          <p:nvSpPr>
            <p:cNvPr id="9" name="TextBox 8">
              <a:extLst>
                <a:ext uri="{FF2B5EF4-FFF2-40B4-BE49-F238E27FC236}">
                  <a16:creationId xmlns:a16="http://schemas.microsoft.com/office/drawing/2014/main" id="{2B8BCFDC-6C73-42CE-B702-AA5BD0CD8F12}"/>
                </a:ext>
              </a:extLst>
            </p:cNvPr>
            <p:cNvSpPr txBox="1"/>
            <p:nvPr/>
          </p:nvSpPr>
          <p:spPr>
            <a:xfrm>
              <a:off x="2868127" y="1358579"/>
              <a:ext cx="1616396" cy="646331"/>
            </a:xfrm>
            <a:prstGeom prst="rect">
              <a:avLst/>
            </a:prstGeom>
            <a:noFill/>
          </p:spPr>
          <p:txBody>
            <a:bodyPr wrap="square" rtlCol="0">
              <a:spAutoFit/>
            </a:bodyPr>
            <a:lstStyle/>
            <a:p>
              <a:pPr algn="ctr"/>
              <a:r>
                <a:rPr lang="en-GB" b="1" dirty="0"/>
                <a:t>Selective</a:t>
              </a:r>
              <a:br>
                <a:rPr lang="en-GB" b="1" dirty="0"/>
              </a:br>
              <a:r>
                <a:rPr lang="en-GB" b="1" dirty="0"/>
                <a:t>Multilayered</a:t>
              </a:r>
            </a:p>
          </p:txBody>
        </p:sp>
        <p:sp>
          <p:nvSpPr>
            <p:cNvPr id="10" name="TextBox 9">
              <a:extLst>
                <a:ext uri="{FF2B5EF4-FFF2-40B4-BE49-F238E27FC236}">
                  <a16:creationId xmlns:a16="http://schemas.microsoft.com/office/drawing/2014/main" id="{EEA4994A-C36B-4AA5-B609-46F21E11070E}"/>
                </a:ext>
              </a:extLst>
            </p:cNvPr>
            <p:cNvSpPr txBox="1"/>
            <p:nvPr/>
          </p:nvSpPr>
          <p:spPr>
            <a:xfrm>
              <a:off x="5512695" y="5535917"/>
              <a:ext cx="1803400" cy="369332"/>
            </a:xfrm>
            <a:prstGeom prst="rect">
              <a:avLst/>
            </a:prstGeom>
            <a:noFill/>
          </p:spPr>
          <p:txBody>
            <a:bodyPr wrap="square" rtlCol="0">
              <a:spAutoFit/>
            </a:bodyPr>
            <a:lstStyle/>
            <a:p>
              <a:pPr algn="ctr"/>
              <a:r>
                <a:rPr lang="en-GB" dirty="0"/>
                <a:t>Purkinje Cell</a:t>
              </a:r>
            </a:p>
          </p:txBody>
        </p:sp>
        <p:sp>
          <p:nvSpPr>
            <p:cNvPr id="11" name="TextBox 10">
              <a:extLst>
                <a:ext uri="{FF2B5EF4-FFF2-40B4-BE49-F238E27FC236}">
                  <a16:creationId xmlns:a16="http://schemas.microsoft.com/office/drawing/2014/main" id="{1CC22C7A-1D37-4AF2-833B-CD8F1C80E08B}"/>
                </a:ext>
              </a:extLst>
            </p:cNvPr>
            <p:cNvSpPr txBox="1"/>
            <p:nvPr/>
          </p:nvSpPr>
          <p:spPr>
            <a:xfrm>
              <a:off x="2493525" y="6166396"/>
              <a:ext cx="2275562" cy="369332"/>
            </a:xfrm>
            <a:prstGeom prst="rect">
              <a:avLst/>
            </a:prstGeom>
            <a:noFill/>
          </p:spPr>
          <p:txBody>
            <a:bodyPr wrap="square" rtlCol="0">
              <a:spAutoFit/>
            </a:bodyPr>
            <a:lstStyle/>
            <a:p>
              <a:pPr algn="ctr"/>
              <a:r>
                <a:rPr lang="en-GB" dirty="0"/>
                <a:t>Pyramidal Cell</a:t>
              </a:r>
            </a:p>
          </p:txBody>
        </p:sp>
      </p:grpSp>
      <p:sp>
        <p:nvSpPr>
          <p:cNvPr id="14" name="TextBox 13">
            <a:extLst>
              <a:ext uri="{FF2B5EF4-FFF2-40B4-BE49-F238E27FC236}">
                <a16:creationId xmlns:a16="http://schemas.microsoft.com/office/drawing/2014/main" id="{E2BE59E7-2E65-43FC-A601-FAC0D424BD9F}"/>
              </a:ext>
            </a:extLst>
          </p:cNvPr>
          <p:cNvSpPr txBox="1"/>
          <p:nvPr/>
        </p:nvSpPr>
        <p:spPr>
          <a:xfrm>
            <a:off x="7451835" y="6304896"/>
            <a:ext cx="4489686" cy="461665"/>
          </a:xfrm>
          <a:prstGeom prst="rect">
            <a:avLst/>
          </a:prstGeom>
          <a:noFill/>
        </p:spPr>
        <p:txBody>
          <a:bodyPr wrap="square">
            <a:spAutoFit/>
          </a:bodyPr>
          <a:lstStyle/>
          <a:p>
            <a:pPr algn="r"/>
            <a:r>
              <a:rPr lang="en-GB" sz="1200" dirty="0"/>
              <a:t>Greg Stuart, Nelson Spruston, Michael Häusser</a:t>
            </a:r>
            <a:br>
              <a:rPr lang="en-GB" sz="1200" dirty="0"/>
            </a:br>
            <a:r>
              <a:rPr lang="en-GB" sz="1200" dirty="0"/>
              <a:t>Dendrites (2016, Oxford University Press)</a:t>
            </a:r>
          </a:p>
        </p:txBody>
      </p:sp>
    </p:spTree>
    <p:extLst>
      <p:ext uri="{BB962C8B-B14F-4D97-AF65-F5344CB8AC3E}">
        <p14:creationId xmlns:p14="http://schemas.microsoft.com/office/powerpoint/2010/main" val="650769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06E83-4130-4BD3-95FB-95B638292939}"/>
              </a:ext>
            </a:extLst>
          </p:cNvPr>
          <p:cNvSpPr>
            <a:spLocks noGrp="1"/>
          </p:cNvSpPr>
          <p:nvPr>
            <p:ph type="title"/>
          </p:nvPr>
        </p:nvSpPr>
        <p:spPr/>
        <p:txBody>
          <a:bodyPr/>
          <a:lstStyle/>
          <a:p>
            <a:r>
              <a:rPr lang="en-GB" dirty="0"/>
              <a:t>Neuronal networks</a:t>
            </a:r>
          </a:p>
        </p:txBody>
      </p:sp>
      <p:sp>
        <p:nvSpPr>
          <p:cNvPr id="3" name="Content Placeholder 2">
            <a:extLst>
              <a:ext uri="{FF2B5EF4-FFF2-40B4-BE49-F238E27FC236}">
                <a16:creationId xmlns:a16="http://schemas.microsoft.com/office/drawing/2014/main" id="{02DC3FCA-217B-4140-86D9-8043A31E3EDD}"/>
              </a:ext>
            </a:extLst>
          </p:cNvPr>
          <p:cNvSpPr>
            <a:spLocks noGrp="1"/>
          </p:cNvSpPr>
          <p:nvPr>
            <p:ph idx="1"/>
          </p:nvPr>
        </p:nvSpPr>
        <p:spPr/>
        <p:txBody>
          <a:bodyPr/>
          <a:lstStyle/>
          <a:p>
            <a:r>
              <a:rPr lang="en-GB" dirty="0"/>
              <a:t>In the CNS 2 main types of neurons:</a:t>
            </a:r>
          </a:p>
          <a:p>
            <a:pPr lvl="1"/>
            <a:r>
              <a:rPr lang="en-GB" b="1" dirty="0"/>
              <a:t>Excitatory</a:t>
            </a:r>
            <a:r>
              <a:rPr lang="en-GB" dirty="0"/>
              <a:t> neurons - principal cells</a:t>
            </a:r>
          </a:p>
          <a:p>
            <a:pPr lvl="1"/>
            <a:r>
              <a:rPr lang="en-GB" b="1" dirty="0"/>
              <a:t>Inhibitory</a:t>
            </a:r>
            <a:r>
              <a:rPr lang="en-GB" dirty="0"/>
              <a:t> neurons  - </a:t>
            </a:r>
            <a:r>
              <a:rPr lang="en-GB" b="1" dirty="0"/>
              <a:t>interneurons</a:t>
            </a:r>
          </a:p>
          <a:p>
            <a:endParaRPr lang="en-GB" dirty="0"/>
          </a:p>
          <a:p>
            <a:r>
              <a:rPr lang="en-GB" dirty="0"/>
              <a:t>In cortex and hippocampus</a:t>
            </a:r>
          </a:p>
          <a:p>
            <a:pPr lvl="1"/>
            <a:r>
              <a:rPr lang="en-GB" dirty="0"/>
              <a:t>Principal cells are the </a:t>
            </a:r>
            <a:r>
              <a:rPr lang="en-GB" b="1" dirty="0"/>
              <a:t>pyramidal cells</a:t>
            </a:r>
            <a:r>
              <a:rPr lang="en-GB" dirty="0"/>
              <a:t> (</a:t>
            </a:r>
            <a:r>
              <a:rPr lang="en-GB" b="1" dirty="0"/>
              <a:t>glutamatergic</a:t>
            </a:r>
            <a:r>
              <a:rPr lang="en-GB" dirty="0"/>
              <a:t>)</a:t>
            </a:r>
          </a:p>
          <a:p>
            <a:pPr lvl="1"/>
            <a:r>
              <a:rPr lang="en-GB" b="1" dirty="0"/>
              <a:t>Interneuron</a:t>
            </a:r>
            <a:r>
              <a:rPr lang="en-GB" dirty="0"/>
              <a:t> (</a:t>
            </a:r>
            <a:r>
              <a:rPr lang="en-GB" b="1" dirty="0"/>
              <a:t>GABAergic</a:t>
            </a:r>
            <a:r>
              <a:rPr lang="en-GB" dirty="0"/>
              <a:t>) types can be many (parvalbumin, somatostatin, etc)</a:t>
            </a:r>
          </a:p>
        </p:txBody>
      </p:sp>
      <p:pic>
        <p:nvPicPr>
          <p:cNvPr id="2050" name="Picture 2" descr="Neural circuit - Wikipedia">
            <a:extLst>
              <a:ext uri="{FF2B5EF4-FFF2-40B4-BE49-F238E27FC236}">
                <a16:creationId xmlns:a16="http://schemas.microsoft.com/office/drawing/2014/main" id="{0847DED2-4208-47DD-B6CD-B201F472CB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6800" y="1079815"/>
            <a:ext cx="4385734" cy="5759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68358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CB0C3-C059-1565-69F5-3761B1DD7916}"/>
              </a:ext>
            </a:extLst>
          </p:cNvPr>
          <p:cNvSpPr>
            <a:spLocks noGrp="1"/>
          </p:cNvSpPr>
          <p:nvPr>
            <p:ph type="title"/>
          </p:nvPr>
        </p:nvSpPr>
        <p:spPr/>
        <p:txBody>
          <a:bodyPr/>
          <a:lstStyle/>
          <a:p>
            <a:r>
              <a:rPr lang="en-GB" dirty="0"/>
              <a:t>The neuromuscular junction</a:t>
            </a:r>
          </a:p>
        </p:txBody>
      </p:sp>
      <p:sp>
        <p:nvSpPr>
          <p:cNvPr id="3" name="Content Placeholder 2">
            <a:extLst>
              <a:ext uri="{FF2B5EF4-FFF2-40B4-BE49-F238E27FC236}">
                <a16:creationId xmlns:a16="http://schemas.microsoft.com/office/drawing/2014/main" id="{C487BF3B-705F-FAC5-9F8C-A90A3859E6FC}"/>
              </a:ext>
            </a:extLst>
          </p:cNvPr>
          <p:cNvSpPr>
            <a:spLocks noGrp="1"/>
          </p:cNvSpPr>
          <p:nvPr>
            <p:ph idx="1"/>
          </p:nvPr>
        </p:nvSpPr>
        <p:spPr/>
        <p:txBody>
          <a:bodyPr/>
          <a:lstStyle/>
          <a:p>
            <a:r>
              <a:rPr lang="en-GB" dirty="0"/>
              <a:t>Motor neurons axonal terminals highly branch onto the muscle to form neuromuscular junctions (NMJ)</a:t>
            </a:r>
          </a:p>
          <a:p>
            <a:endParaRPr lang="en-GB" dirty="0"/>
          </a:p>
          <a:p>
            <a:r>
              <a:rPr lang="en-GB" dirty="0"/>
              <a:t>NMJ are rich in nicotinic receptors, which recognize </a:t>
            </a:r>
            <a:r>
              <a:rPr lang="en-GB" b="1" dirty="0"/>
              <a:t>acetylcholine</a:t>
            </a:r>
          </a:p>
          <a:p>
            <a:endParaRPr lang="en-GB" dirty="0"/>
          </a:p>
          <a:p>
            <a:r>
              <a:rPr lang="en-GB" dirty="0"/>
              <a:t>Nicotinic receptors opening allows Na</a:t>
            </a:r>
            <a:r>
              <a:rPr lang="en-GB" baseline="30000" dirty="0"/>
              <a:t>+</a:t>
            </a:r>
            <a:r>
              <a:rPr lang="en-GB" dirty="0"/>
              <a:t> and Ca</a:t>
            </a:r>
            <a:r>
              <a:rPr lang="en-GB" baseline="30000" dirty="0"/>
              <a:t>+</a:t>
            </a:r>
            <a:r>
              <a:rPr lang="en-GB" dirty="0"/>
              <a:t> to and depolarization of the muscle cell</a:t>
            </a:r>
          </a:p>
        </p:txBody>
      </p:sp>
      <p:pic>
        <p:nvPicPr>
          <p:cNvPr id="5" name="Picture 4">
            <a:extLst>
              <a:ext uri="{FF2B5EF4-FFF2-40B4-BE49-F238E27FC236}">
                <a16:creationId xmlns:a16="http://schemas.microsoft.com/office/drawing/2014/main" id="{51FDA4EB-EDEE-514B-BEFA-913B982CA97D}"/>
              </a:ext>
            </a:extLst>
          </p:cNvPr>
          <p:cNvPicPr>
            <a:picLocks noChangeAspect="1"/>
          </p:cNvPicPr>
          <p:nvPr/>
        </p:nvPicPr>
        <p:blipFill>
          <a:blip r:embed="rId2"/>
          <a:stretch>
            <a:fillRect/>
          </a:stretch>
        </p:blipFill>
        <p:spPr>
          <a:xfrm>
            <a:off x="9033284" y="268740"/>
            <a:ext cx="2872966" cy="6320520"/>
          </a:xfrm>
          <a:prstGeom prst="rect">
            <a:avLst/>
          </a:prstGeom>
        </p:spPr>
      </p:pic>
    </p:spTree>
    <p:extLst>
      <p:ext uri="{BB962C8B-B14F-4D97-AF65-F5344CB8AC3E}">
        <p14:creationId xmlns:p14="http://schemas.microsoft.com/office/powerpoint/2010/main" val="3672013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9082-2D30-44B3-B9F7-AF42C1724891}"/>
              </a:ext>
            </a:extLst>
          </p:cNvPr>
          <p:cNvSpPr>
            <a:spLocks noGrp="1"/>
          </p:cNvSpPr>
          <p:nvPr>
            <p:ph type="title"/>
          </p:nvPr>
        </p:nvSpPr>
        <p:spPr/>
        <p:txBody>
          <a:bodyPr/>
          <a:lstStyle/>
          <a:p>
            <a:r>
              <a:rPr lang="en-GB" dirty="0"/>
              <a:t>Synaptic Plasticity</a:t>
            </a:r>
          </a:p>
        </p:txBody>
      </p:sp>
      <p:sp>
        <p:nvSpPr>
          <p:cNvPr id="3" name="Content Placeholder 2">
            <a:extLst>
              <a:ext uri="{FF2B5EF4-FFF2-40B4-BE49-F238E27FC236}">
                <a16:creationId xmlns:a16="http://schemas.microsoft.com/office/drawing/2014/main" id="{4CECF623-D027-4456-B818-036A35F44021}"/>
              </a:ext>
            </a:extLst>
          </p:cNvPr>
          <p:cNvSpPr>
            <a:spLocks noGrp="1"/>
          </p:cNvSpPr>
          <p:nvPr>
            <p:ph idx="1"/>
          </p:nvPr>
        </p:nvSpPr>
        <p:spPr/>
        <p:txBody>
          <a:bodyPr>
            <a:normAutofit/>
          </a:bodyPr>
          <a:lstStyle/>
          <a:p>
            <a:r>
              <a:rPr lang="en-GB" b="1" dirty="0"/>
              <a:t>Synaptic strength </a:t>
            </a:r>
            <a:r>
              <a:rPr lang="en-GB" dirty="0"/>
              <a:t>can change with time</a:t>
            </a:r>
          </a:p>
          <a:p>
            <a:pPr lvl="1"/>
            <a:r>
              <a:rPr lang="en-GB" dirty="0"/>
              <a:t>Frequency and kinetics of synaptic inputs</a:t>
            </a:r>
          </a:p>
          <a:p>
            <a:pPr lvl="1"/>
            <a:r>
              <a:rPr lang="en-GB" dirty="0"/>
              <a:t>Synaptic morphology, pre-synaptic properties and post-synaptic proteins</a:t>
            </a:r>
          </a:p>
          <a:p>
            <a:endParaRPr lang="en-GB" b="1" dirty="0"/>
          </a:p>
          <a:p>
            <a:r>
              <a:rPr lang="en-GB" b="1" dirty="0"/>
              <a:t>Short-term plasticity </a:t>
            </a:r>
          </a:p>
          <a:p>
            <a:pPr lvl="1"/>
            <a:r>
              <a:rPr lang="en-GB" dirty="0"/>
              <a:t>Often </a:t>
            </a:r>
            <a:r>
              <a:rPr lang="en-GB" b="1" dirty="0"/>
              <a:t>pre-synaptic</a:t>
            </a:r>
          </a:p>
          <a:p>
            <a:pPr lvl="1"/>
            <a:r>
              <a:rPr lang="en-GB" dirty="0"/>
              <a:t>Lasts seconds to minutes</a:t>
            </a:r>
          </a:p>
          <a:p>
            <a:endParaRPr lang="en-GB" b="1" dirty="0"/>
          </a:p>
          <a:p>
            <a:r>
              <a:rPr lang="en-GB" b="1" dirty="0"/>
              <a:t>Long-term plasticity</a:t>
            </a:r>
            <a:endParaRPr lang="en-GB" dirty="0"/>
          </a:p>
          <a:p>
            <a:pPr lvl="1"/>
            <a:r>
              <a:rPr lang="en-GB" dirty="0"/>
              <a:t>Often </a:t>
            </a:r>
            <a:r>
              <a:rPr lang="en-GB" b="1" dirty="0"/>
              <a:t>post-synaptic</a:t>
            </a:r>
          </a:p>
          <a:p>
            <a:pPr lvl="1"/>
            <a:r>
              <a:rPr lang="en-GB" dirty="0"/>
              <a:t>Lasts for minutes, hours or even days</a:t>
            </a:r>
          </a:p>
          <a:p>
            <a:pPr lvl="1"/>
            <a:endParaRPr lang="en-GB" dirty="0"/>
          </a:p>
          <a:p>
            <a:r>
              <a:rPr lang="en-GB" dirty="0"/>
              <a:t>Synaptic strength can change in both </a:t>
            </a:r>
            <a:r>
              <a:rPr lang="en-GB" dirty="0" err="1"/>
              <a:t>directons</a:t>
            </a:r>
            <a:r>
              <a:rPr lang="en-GB" dirty="0"/>
              <a:t>:</a:t>
            </a:r>
          </a:p>
          <a:p>
            <a:pPr lvl="1"/>
            <a:r>
              <a:rPr lang="en-GB" b="1" dirty="0"/>
              <a:t>Potentiation</a:t>
            </a:r>
            <a:r>
              <a:rPr lang="en-GB" dirty="0"/>
              <a:t> - when synapses become stronger</a:t>
            </a:r>
          </a:p>
          <a:p>
            <a:pPr lvl="1"/>
            <a:r>
              <a:rPr lang="en-GB" b="1" dirty="0"/>
              <a:t>Depression</a:t>
            </a:r>
            <a:r>
              <a:rPr lang="en-GB" dirty="0"/>
              <a:t> - when synapses become weaker</a:t>
            </a:r>
          </a:p>
        </p:txBody>
      </p:sp>
      <p:sp>
        <p:nvSpPr>
          <p:cNvPr id="7" name="TextBox 6">
            <a:extLst>
              <a:ext uri="{FF2B5EF4-FFF2-40B4-BE49-F238E27FC236}">
                <a16:creationId xmlns:a16="http://schemas.microsoft.com/office/drawing/2014/main" id="{0D21508B-134B-40E9-A3AB-1FD64EA8BCB5}"/>
              </a:ext>
            </a:extLst>
          </p:cNvPr>
          <p:cNvSpPr txBox="1"/>
          <p:nvPr/>
        </p:nvSpPr>
        <p:spPr>
          <a:xfrm>
            <a:off x="6333067" y="5740401"/>
            <a:ext cx="4168678" cy="461665"/>
          </a:xfrm>
          <a:prstGeom prst="rect">
            <a:avLst/>
          </a:prstGeom>
          <a:noFill/>
        </p:spPr>
        <p:txBody>
          <a:bodyPr wrap="square" rtlCol="0">
            <a:spAutoFit/>
          </a:bodyPr>
          <a:lstStyle/>
          <a:p>
            <a:r>
              <a:rPr lang="fr-FR" sz="1200" i="1" dirty="0"/>
              <a:t>Nature Reviews Neuroscience</a:t>
            </a:r>
            <a:r>
              <a:rPr lang="fr-FR" sz="1200" dirty="0"/>
              <a:t> </a:t>
            </a:r>
            <a:r>
              <a:rPr lang="fr-FR" sz="1200" b="1" dirty="0"/>
              <a:t>volume15</a:t>
            </a:r>
            <a:r>
              <a:rPr lang="fr-FR" sz="1200" dirty="0"/>
              <a:t>, pages 250–263 (2014)</a:t>
            </a:r>
            <a:endParaRPr lang="en-GB" sz="1200" dirty="0"/>
          </a:p>
        </p:txBody>
      </p:sp>
      <p:grpSp>
        <p:nvGrpSpPr>
          <p:cNvPr id="4" name="Group 3">
            <a:extLst>
              <a:ext uri="{FF2B5EF4-FFF2-40B4-BE49-F238E27FC236}">
                <a16:creationId xmlns:a16="http://schemas.microsoft.com/office/drawing/2014/main" id="{B6D85E73-B169-4A49-A00E-D2CD98892F06}"/>
              </a:ext>
            </a:extLst>
          </p:cNvPr>
          <p:cNvGrpSpPr/>
          <p:nvPr/>
        </p:nvGrpSpPr>
        <p:grpSpPr>
          <a:xfrm>
            <a:off x="6515335" y="1455682"/>
            <a:ext cx="3524016" cy="3946636"/>
            <a:chOff x="4572000" y="1012180"/>
            <a:chExt cx="4362685" cy="4833639"/>
          </a:xfrm>
        </p:grpSpPr>
        <p:pic>
          <p:nvPicPr>
            <p:cNvPr id="5" name="Picture 3" descr="D:\kuloth\2014\March\06-03-2014\nrn_aop\slides_img\nrn3708-f1.jpg">
              <a:extLst>
                <a:ext uri="{FF2B5EF4-FFF2-40B4-BE49-F238E27FC236}">
                  <a16:creationId xmlns:a16="http://schemas.microsoft.com/office/drawing/2014/main" id="{32577913-65BF-4F9E-BB43-48697AFE67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5083"/>
            <a:stretch/>
          </p:blipFill>
          <p:spPr bwMode="auto">
            <a:xfrm>
              <a:off x="4572000" y="1012180"/>
              <a:ext cx="4362685" cy="4833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reeform: Shape 8">
              <a:extLst>
                <a:ext uri="{FF2B5EF4-FFF2-40B4-BE49-F238E27FC236}">
                  <a16:creationId xmlns:a16="http://schemas.microsoft.com/office/drawing/2014/main" id="{271801F3-E578-4A02-AC9D-875C2B30EAD5}"/>
                </a:ext>
              </a:extLst>
            </p:cNvPr>
            <p:cNvSpPr/>
            <p:nvPr/>
          </p:nvSpPr>
          <p:spPr>
            <a:xfrm>
              <a:off x="5084819" y="4011688"/>
              <a:ext cx="3157756" cy="388340"/>
            </a:xfrm>
            <a:custGeom>
              <a:avLst/>
              <a:gdLst>
                <a:gd name="connsiteX0" fmla="*/ 48227 w 3114403"/>
                <a:gd name="connsiteY0" fmla="*/ 922 h 371013"/>
                <a:gd name="connsiteX1" fmla="*/ 530827 w 3114403"/>
                <a:gd name="connsiteY1" fmla="*/ 60189 h 371013"/>
                <a:gd name="connsiteX2" fmla="*/ 1284361 w 3114403"/>
                <a:gd name="connsiteY2" fmla="*/ 94055 h 371013"/>
                <a:gd name="connsiteX3" fmla="*/ 1792361 w 3114403"/>
                <a:gd name="connsiteY3" fmla="*/ 94055 h 371013"/>
                <a:gd name="connsiteX4" fmla="*/ 2198761 w 3114403"/>
                <a:gd name="connsiteY4" fmla="*/ 60189 h 371013"/>
                <a:gd name="connsiteX5" fmla="*/ 2766027 w 3114403"/>
                <a:gd name="connsiteY5" fmla="*/ 9389 h 371013"/>
                <a:gd name="connsiteX6" fmla="*/ 2926894 w 3114403"/>
                <a:gd name="connsiteY6" fmla="*/ 17855 h 371013"/>
                <a:gd name="connsiteX7" fmla="*/ 3113161 w 3114403"/>
                <a:gd name="connsiteY7" fmla="*/ 136389 h 371013"/>
                <a:gd name="connsiteX8" fmla="*/ 2969227 w 3114403"/>
                <a:gd name="connsiteY8" fmla="*/ 263389 h 371013"/>
                <a:gd name="connsiteX9" fmla="*/ 2325761 w 3114403"/>
                <a:gd name="connsiteY9" fmla="*/ 356522 h 371013"/>
                <a:gd name="connsiteX10" fmla="*/ 1639961 w 3114403"/>
                <a:gd name="connsiteY10" fmla="*/ 356522 h 371013"/>
                <a:gd name="connsiteX11" fmla="*/ 988027 w 3114403"/>
                <a:gd name="connsiteY11" fmla="*/ 364989 h 371013"/>
                <a:gd name="connsiteX12" fmla="*/ 107494 w 3114403"/>
                <a:gd name="connsiteY12" fmla="*/ 254922 h 371013"/>
                <a:gd name="connsiteX13" fmla="*/ 22827 w 3114403"/>
                <a:gd name="connsiteY13" fmla="*/ 110989 h 371013"/>
                <a:gd name="connsiteX14" fmla="*/ 48227 w 3114403"/>
                <a:gd name="connsiteY14" fmla="*/ 922 h 371013"/>
                <a:gd name="connsiteX0" fmla="*/ 88315 w 3154491"/>
                <a:gd name="connsiteY0" fmla="*/ 1514 h 371605"/>
                <a:gd name="connsiteX1" fmla="*/ 570915 w 3154491"/>
                <a:gd name="connsiteY1" fmla="*/ 60781 h 371605"/>
                <a:gd name="connsiteX2" fmla="*/ 1324449 w 3154491"/>
                <a:gd name="connsiteY2" fmla="*/ 94647 h 371605"/>
                <a:gd name="connsiteX3" fmla="*/ 1832449 w 3154491"/>
                <a:gd name="connsiteY3" fmla="*/ 94647 h 371605"/>
                <a:gd name="connsiteX4" fmla="*/ 2238849 w 3154491"/>
                <a:gd name="connsiteY4" fmla="*/ 60781 h 371605"/>
                <a:gd name="connsiteX5" fmla="*/ 2806115 w 3154491"/>
                <a:gd name="connsiteY5" fmla="*/ 9981 h 371605"/>
                <a:gd name="connsiteX6" fmla="*/ 2966982 w 3154491"/>
                <a:gd name="connsiteY6" fmla="*/ 18447 h 371605"/>
                <a:gd name="connsiteX7" fmla="*/ 3153249 w 3154491"/>
                <a:gd name="connsiteY7" fmla="*/ 136981 h 371605"/>
                <a:gd name="connsiteX8" fmla="*/ 3009315 w 3154491"/>
                <a:gd name="connsiteY8" fmla="*/ 263981 h 371605"/>
                <a:gd name="connsiteX9" fmla="*/ 2365849 w 3154491"/>
                <a:gd name="connsiteY9" fmla="*/ 357114 h 371605"/>
                <a:gd name="connsiteX10" fmla="*/ 1680049 w 3154491"/>
                <a:gd name="connsiteY10" fmla="*/ 357114 h 371605"/>
                <a:gd name="connsiteX11" fmla="*/ 1028115 w 3154491"/>
                <a:gd name="connsiteY11" fmla="*/ 365581 h 371605"/>
                <a:gd name="connsiteX12" fmla="*/ 147582 w 3154491"/>
                <a:gd name="connsiteY12" fmla="*/ 255514 h 371605"/>
                <a:gd name="connsiteX13" fmla="*/ 3648 w 3154491"/>
                <a:gd name="connsiteY13" fmla="*/ 128514 h 371605"/>
                <a:gd name="connsiteX14" fmla="*/ 88315 w 3154491"/>
                <a:gd name="connsiteY14" fmla="*/ 1514 h 371605"/>
                <a:gd name="connsiteX0" fmla="*/ 88315 w 3154491"/>
                <a:gd name="connsiteY0" fmla="*/ 1514 h 374810"/>
                <a:gd name="connsiteX1" fmla="*/ 570915 w 3154491"/>
                <a:gd name="connsiteY1" fmla="*/ 60781 h 374810"/>
                <a:gd name="connsiteX2" fmla="*/ 1324449 w 3154491"/>
                <a:gd name="connsiteY2" fmla="*/ 94647 h 374810"/>
                <a:gd name="connsiteX3" fmla="*/ 1832449 w 3154491"/>
                <a:gd name="connsiteY3" fmla="*/ 94647 h 374810"/>
                <a:gd name="connsiteX4" fmla="*/ 2238849 w 3154491"/>
                <a:gd name="connsiteY4" fmla="*/ 60781 h 374810"/>
                <a:gd name="connsiteX5" fmla="*/ 2806115 w 3154491"/>
                <a:gd name="connsiteY5" fmla="*/ 9981 h 374810"/>
                <a:gd name="connsiteX6" fmla="*/ 2966982 w 3154491"/>
                <a:gd name="connsiteY6" fmla="*/ 18447 h 374810"/>
                <a:gd name="connsiteX7" fmla="*/ 3153249 w 3154491"/>
                <a:gd name="connsiteY7" fmla="*/ 136981 h 374810"/>
                <a:gd name="connsiteX8" fmla="*/ 3009315 w 3154491"/>
                <a:gd name="connsiteY8" fmla="*/ 263981 h 374810"/>
                <a:gd name="connsiteX9" fmla="*/ 2365849 w 3154491"/>
                <a:gd name="connsiteY9" fmla="*/ 357114 h 374810"/>
                <a:gd name="connsiteX10" fmla="*/ 1028115 w 3154491"/>
                <a:gd name="connsiteY10" fmla="*/ 365581 h 374810"/>
                <a:gd name="connsiteX11" fmla="*/ 147582 w 3154491"/>
                <a:gd name="connsiteY11" fmla="*/ 255514 h 374810"/>
                <a:gd name="connsiteX12" fmla="*/ 3648 w 3154491"/>
                <a:gd name="connsiteY12" fmla="*/ 128514 h 374810"/>
                <a:gd name="connsiteX13" fmla="*/ 88315 w 3154491"/>
                <a:gd name="connsiteY13" fmla="*/ 1514 h 374810"/>
                <a:gd name="connsiteX0" fmla="*/ 88315 w 3154491"/>
                <a:gd name="connsiteY0" fmla="*/ 1514 h 381325"/>
                <a:gd name="connsiteX1" fmla="*/ 570915 w 3154491"/>
                <a:gd name="connsiteY1" fmla="*/ 60781 h 381325"/>
                <a:gd name="connsiteX2" fmla="*/ 1324449 w 3154491"/>
                <a:gd name="connsiteY2" fmla="*/ 94647 h 381325"/>
                <a:gd name="connsiteX3" fmla="*/ 1832449 w 3154491"/>
                <a:gd name="connsiteY3" fmla="*/ 94647 h 381325"/>
                <a:gd name="connsiteX4" fmla="*/ 2238849 w 3154491"/>
                <a:gd name="connsiteY4" fmla="*/ 60781 h 381325"/>
                <a:gd name="connsiteX5" fmla="*/ 2806115 w 3154491"/>
                <a:gd name="connsiteY5" fmla="*/ 9981 h 381325"/>
                <a:gd name="connsiteX6" fmla="*/ 2966982 w 3154491"/>
                <a:gd name="connsiteY6" fmla="*/ 18447 h 381325"/>
                <a:gd name="connsiteX7" fmla="*/ 3153249 w 3154491"/>
                <a:gd name="connsiteY7" fmla="*/ 136981 h 381325"/>
                <a:gd name="connsiteX8" fmla="*/ 3009315 w 3154491"/>
                <a:gd name="connsiteY8" fmla="*/ 263981 h 381325"/>
                <a:gd name="connsiteX9" fmla="*/ 2365849 w 3154491"/>
                <a:gd name="connsiteY9" fmla="*/ 357114 h 381325"/>
                <a:gd name="connsiteX10" fmla="*/ 833382 w 3154491"/>
                <a:gd name="connsiteY10" fmla="*/ 374048 h 381325"/>
                <a:gd name="connsiteX11" fmla="*/ 147582 w 3154491"/>
                <a:gd name="connsiteY11" fmla="*/ 255514 h 381325"/>
                <a:gd name="connsiteX12" fmla="*/ 3648 w 3154491"/>
                <a:gd name="connsiteY12" fmla="*/ 128514 h 381325"/>
                <a:gd name="connsiteX13" fmla="*/ 88315 w 3154491"/>
                <a:gd name="connsiteY13" fmla="*/ 1514 h 381325"/>
                <a:gd name="connsiteX0" fmla="*/ 88315 w 3157756"/>
                <a:gd name="connsiteY0" fmla="*/ 1514 h 388340"/>
                <a:gd name="connsiteX1" fmla="*/ 570915 w 3157756"/>
                <a:gd name="connsiteY1" fmla="*/ 60781 h 388340"/>
                <a:gd name="connsiteX2" fmla="*/ 1324449 w 3157756"/>
                <a:gd name="connsiteY2" fmla="*/ 94647 h 388340"/>
                <a:gd name="connsiteX3" fmla="*/ 1832449 w 3157756"/>
                <a:gd name="connsiteY3" fmla="*/ 94647 h 388340"/>
                <a:gd name="connsiteX4" fmla="*/ 2238849 w 3157756"/>
                <a:gd name="connsiteY4" fmla="*/ 60781 h 388340"/>
                <a:gd name="connsiteX5" fmla="*/ 2806115 w 3157756"/>
                <a:gd name="connsiteY5" fmla="*/ 9981 h 388340"/>
                <a:gd name="connsiteX6" fmla="*/ 2966982 w 3157756"/>
                <a:gd name="connsiteY6" fmla="*/ 18447 h 388340"/>
                <a:gd name="connsiteX7" fmla="*/ 3153249 w 3157756"/>
                <a:gd name="connsiteY7" fmla="*/ 136981 h 388340"/>
                <a:gd name="connsiteX8" fmla="*/ 3009315 w 3157756"/>
                <a:gd name="connsiteY8" fmla="*/ 263981 h 388340"/>
                <a:gd name="connsiteX9" fmla="*/ 2128782 w 3157756"/>
                <a:gd name="connsiteY9" fmla="*/ 374048 h 388340"/>
                <a:gd name="connsiteX10" fmla="*/ 833382 w 3157756"/>
                <a:gd name="connsiteY10" fmla="*/ 374048 h 388340"/>
                <a:gd name="connsiteX11" fmla="*/ 147582 w 3157756"/>
                <a:gd name="connsiteY11" fmla="*/ 255514 h 388340"/>
                <a:gd name="connsiteX12" fmla="*/ 3648 w 3157756"/>
                <a:gd name="connsiteY12" fmla="*/ 128514 h 388340"/>
                <a:gd name="connsiteX13" fmla="*/ 88315 w 3157756"/>
                <a:gd name="connsiteY13" fmla="*/ 1514 h 388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57756" h="388340">
                  <a:moveTo>
                    <a:pt x="88315" y="1514"/>
                  </a:moveTo>
                  <a:cubicBezTo>
                    <a:pt x="182860" y="-9775"/>
                    <a:pt x="364893" y="45259"/>
                    <a:pt x="570915" y="60781"/>
                  </a:cubicBezTo>
                  <a:cubicBezTo>
                    <a:pt x="776937" y="76303"/>
                    <a:pt x="1114193" y="89003"/>
                    <a:pt x="1324449" y="94647"/>
                  </a:cubicBezTo>
                  <a:cubicBezTo>
                    <a:pt x="1534705" y="100291"/>
                    <a:pt x="1680049" y="100291"/>
                    <a:pt x="1832449" y="94647"/>
                  </a:cubicBezTo>
                  <a:cubicBezTo>
                    <a:pt x="1984849" y="89003"/>
                    <a:pt x="2238849" y="60781"/>
                    <a:pt x="2238849" y="60781"/>
                  </a:cubicBezTo>
                  <a:lnTo>
                    <a:pt x="2806115" y="9981"/>
                  </a:lnTo>
                  <a:cubicBezTo>
                    <a:pt x="2927471" y="2925"/>
                    <a:pt x="2909126" y="-2720"/>
                    <a:pt x="2966982" y="18447"/>
                  </a:cubicBezTo>
                  <a:cubicBezTo>
                    <a:pt x="3024838" y="39614"/>
                    <a:pt x="3146194" y="96059"/>
                    <a:pt x="3153249" y="136981"/>
                  </a:cubicBezTo>
                  <a:cubicBezTo>
                    <a:pt x="3160304" y="177903"/>
                    <a:pt x="3180059" y="224470"/>
                    <a:pt x="3009315" y="263981"/>
                  </a:cubicBezTo>
                  <a:cubicBezTo>
                    <a:pt x="2838571" y="303492"/>
                    <a:pt x="2491438" y="355703"/>
                    <a:pt x="2128782" y="374048"/>
                  </a:cubicBezTo>
                  <a:cubicBezTo>
                    <a:pt x="1766126" y="392393"/>
                    <a:pt x="1163582" y="393804"/>
                    <a:pt x="833382" y="374048"/>
                  </a:cubicBezTo>
                  <a:cubicBezTo>
                    <a:pt x="503182" y="354292"/>
                    <a:pt x="308449" y="297847"/>
                    <a:pt x="147582" y="255514"/>
                  </a:cubicBezTo>
                  <a:cubicBezTo>
                    <a:pt x="-13285" y="213181"/>
                    <a:pt x="12115" y="166614"/>
                    <a:pt x="3648" y="128514"/>
                  </a:cubicBezTo>
                  <a:cubicBezTo>
                    <a:pt x="-4819" y="90414"/>
                    <a:pt x="-6230" y="12803"/>
                    <a:pt x="88315" y="1514"/>
                  </a:cubicBezTo>
                  <a:close/>
                </a:path>
              </a:pathLst>
            </a:custGeom>
            <a:solidFill>
              <a:schemeClr val="accent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TextBox 10">
              <a:extLst>
                <a:ext uri="{FF2B5EF4-FFF2-40B4-BE49-F238E27FC236}">
                  <a16:creationId xmlns:a16="http://schemas.microsoft.com/office/drawing/2014/main" id="{F82C0A2A-4B1D-4619-A02E-5158E404DEB3}"/>
                </a:ext>
              </a:extLst>
            </p:cNvPr>
            <p:cNvSpPr txBox="1"/>
            <p:nvPr/>
          </p:nvSpPr>
          <p:spPr>
            <a:xfrm>
              <a:off x="7652477" y="4298772"/>
              <a:ext cx="611629" cy="791593"/>
            </a:xfrm>
            <a:prstGeom prst="rect">
              <a:avLst/>
            </a:prstGeom>
            <a:noFill/>
          </p:spPr>
          <p:txBody>
            <a:bodyPr wrap="square" rtlCol="0">
              <a:spAutoFit/>
            </a:bodyPr>
            <a:lstStyle/>
            <a:p>
              <a:pPr algn="ctr"/>
              <a:r>
                <a:rPr lang="en-GB" dirty="0">
                  <a:solidFill>
                    <a:schemeClr val="accent1">
                      <a:lumMod val="75000"/>
                    </a:schemeClr>
                  </a:solidFill>
                </a:rPr>
                <a:t>PSD</a:t>
              </a:r>
            </a:p>
          </p:txBody>
        </p:sp>
        <p:sp>
          <p:nvSpPr>
            <p:cNvPr id="13" name="TextBox 12">
              <a:extLst>
                <a:ext uri="{FF2B5EF4-FFF2-40B4-BE49-F238E27FC236}">
                  <a16:creationId xmlns:a16="http://schemas.microsoft.com/office/drawing/2014/main" id="{94D808E8-7D47-41FC-B61D-B8AB17245761}"/>
                </a:ext>
              </a:extLst>
            </p:cNvPr>
            <p:cNvSpPr txBox="1"/>
            <p:nvPr/>
          </p:nvSpPr>
          <p:spPr>
            <a:xfrm>
              <a:off x="5608361" y="3466613"/>
              <a:ext cx="785899" cy="678509"/>
            </a:xfrm>
            <a:prstGeom prst="rect">
              <a:avLst/>
            </a:prstGeom>
            <a:noFill/>
          </p:spPr>
          <p:txBody>
            <a:bodyPr wrap="square" rtlCol="0">
              <a:spAutoFit/>
            </a:bodyPr>
            <a:lstStyle/>
            <a:p>
              <a:pPr algn="ctr"/>
              <a:r>
                <a:rPr lang="en-GB" sz="1000" dirty="0">
                  <a:solidFill>
                    <a:schemeClr val="accent4">
                      <a:lumMod val="75000"/>
                    </a:schemeClr>
                  </a:solidFill>
                </a:rPr>
                <a:t>Synaptic</a:t>
              </a:r>
              <a:br>
                <a:rPr lang="en-GB" sz="1000" dirty="0">
                  <a:solidFill>
                    <a:schemeClr val="accent4">
                      <a:lumMod val="75000"/>
                    </a:schemeClr>
                  </a:solidFill>
                </a:rPr>
              </a:br>
              <a:r>
                <a:rPr lang="en-GB" sz="1000" dirty="0">
                  <a:solidFill>
                    <a:schemeClr val="accent4">
                      <a:lumMod val="75000"/>
                    </a:schemeClr>
                  </a:solidFill>
                </a:rPr>
                <a:t>cleft</a:t>
              </a:r>
            </a:p>
          </p:txBody>
        </p:sp>
        <p:sp>
          <p:nvSpPr>
            <p:cNvPr id="15" name="Freeform: Shape 14">
              <a:extLst>
                <a:ext uri="{FF2B5EF4-FFF2-40B4-BE49-F238E27FC236}">
                  <a16:creationId xmlns:a16="http://schemas.microsoft.com/office/drawing/2014/main" id="{E10C91B3-4025-4C4B-8580-1B83EA0F9FE2}"/>
                </a:ext>
              </a:extLst>
            </p:cNvPr>
            <p:cNvSpPr/>
            <p:nvPr/>
          </p:nvSpPr>
          <p:spPr>
            <a:xfrm>
              <a:off x="5069166" y="3459711"/>
              <a:ext cx="2969415" cy="580928"/>
            </a:xfrm>
            <a:custGeom>
              <a:avLst/>
              <a:gdLst>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313820 w 2969415"/>
                <a:gd name="connsiteY15" fmla="*/ 4918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313820 w 2969415"/>
                <a:gd name="connsiteY15" fmla="*/ 491804 h 575393"/>
                <a:gd name="connsiteX16" fmla="*/ 25348 w 2969415"/>
                <a:gd name="connsiteY16" fmla="*/ 473661 h 575393"/>
                <a:gd name="connsiteX17" fmla="*/ 18091 w 2969415"/>
                <a:gd name="connsiteY17" fmla="*/ 81776 h 575393"/>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7184 w 2969415"/>
                <a:gd name="connsiteY10" fmla="*/ 52899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69415" h="580928">
                  <a:moveTo>
                    <a:pt x="18091" y="81776"/>
                  </a:moveTo>
                  <a:cubicBezTo>
                    <a:pt x="72520" y="103396"/>
                    <a:pt x="125739" y="95081"/>
                    <a:pt x="199520" y="89033"/>
                  </a:cubicBezTo>
                  <a:cubicBezTo>
                    <a:pt x="273301" y="82985"/>
                    <a:pt x="315634" y="58795"/>
                    <a:pt x="460777" y="45490"/>
                  </a:cubicBezTo>
                  <a:cubicBezTo>
                    <a:pt x="605920" y="32185"/>
                    <a:pt x="862339" y="16461"/>
                    <a:pt x="1070377" y="9204"/>
                  </a:cubicBezTo>
                  <a:cubicBezTo>
                    <a:pt x="1278415" y="1947"/>
                    <a:pt x="1504596" y="-2891"/>
                    <a:pt x="1709005" y="1947"/>
                  </a:cubicBezTo>
                  <a:cubicBezTo>
                    <a:pt x="1913414" y="6785"/>
                    <a:pt x="2140806" y="26138"/>
                    <a:pt x="2296834" y="38233"/>
                  </a:cubicBezTo>
                  <a:cubicBezTo>
                    <a:pt x="2452862" y="50328"/>
                    <a:pt x="2548415" y="63633"/>
                    <a:pt x="2645177" y="74519"/>
                  </a:cubicBezTo>
                  <a:cubicBezTo>
                    <a:pt x="2741939" y="85405"/>
                    <a:pt x="2830234" y="98709"/>
                    <a:pt x="2877405" y="103547"/>
                  </a:cubicBezTo>
                  <a:cubicBezTo>
                    <a:pt x="2924576" y="108385"/>
                    <a:pt x="2841119" y="101733"/>
                    <a:pt x="2928205" y="103547"/>
                  </a:cubicBezTo>
                  <a:cubicBezTo>
                    <a:pt x="2939091" y="168861"/>
                    <a:pt x="3005615" y="427700"/>
                    <a:pt x="2942720" y="495433"/>
                  </a:cubicBezTo>
                  <a:cubicBezTo>
                    <a:pt x="2844900" y="496491"/>
                    <a:pt x="2678137" y="519321"/>
                    <a:pt x="2557184" y="528997"/>
                  </a:cubicBezTo>
                  <a:cubicBezTo>
                    <a:pt x="2436232" y="538673"/>
                    <a:pt x="2363206" y="545779"/>
                    <a:pt x="2217005" y="553490"/>
                  </a:cubicBezTo>
                  <a:cubicBezTo>
                    <a:pt x="2070804" y="561201"/>
                    <a:pt x="1846891" y="571406"/>
                    <a:pt x="1679977" y="575261"/>
                  </a:cubicBezTo>
                  <a:cubicBezTo>
                    <a:pt x="1513063" y="579116"/>
                    <a:pt x="1398158" y="585089"/>
                    <a:pt x="1215520" y="576622"/>
                  </a:cubicBezTo>
                  <a:cubicBezTo>
                    <a:pt x="1032882" y="568155"/>
                    <a:pt x="734431" y="538597"/>
                    <a:pt x="584148" y="524461"/>
                  </a:cubicBezTo>
                  <a:cubicBezTo>
                    <a:pt x="433865" y="510325"/>
                    <a:pt x="432353" y="509796"/>
                    <a:pt x="313820" y="491804"/>
                  </a:cubicBezTo>
                  <a:cubicBezTo>
                    <a:pt x="220687" y="483337"/>
                    <a:pt x="148417" y="485756"/>
                    <a:pt x="25348" y="473661"/>
                  </a:cubicBezTo>
                  <a:cubicBezTo>
                    <a:pt x="-2471" y="410766"/>
                    <a:pt x="-10938" y="145881"/>
                    <a:pt x="18091" y="81776"/>
                  </a:cubicBezTo>
                  <a:close/>
                </a:path>
              </a:pathLst>
            </a:custGeom>
            <a:solidFill>
              <a:schemeClr val="accent4">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4">
                    <a:lumMod val="75000"/>
                  </a:schemeClr>
                </a:solidFill>
              </a:endParaRPr>
            </a:p>
          </p:txBody>
        </p:sp>
      </p:grpSp>
    </p:spTree>
    <p:extLst>
      <p:ext uri="{BB962C8B-B14F-4D97-AF65-F5344CB8AC3E}">
        <p14:creationId xmlns:p14="http://schemas.microsoft.com/office/powerpoint/2010/main" val="7090981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3583D-C35F-4160-A02C-8ED5767DE5C1}"/>
              </a:ext>
            </a:extLst>
          </p:cNvPr>
          <p:cNvSpPr>
            <a:spLocks noGrp="1"/>
          </p:cNvSpPr>
          <p:nvPr>
            <p:ph type="title"/>
          </p:nvPr>
        </p:nvSpPr>
        <p:spPr/>
        <p:txBody>
          <a:bodyPr>
            <a:normAutofit/>
          </a:bodyPr>
          <a:lstStyle/>
          <a:p>
            <a:r>
              <a:rPr lang="en-GB" dirty="0"/>
              <a:t>Long-term potentiation (LTP)</a:t>
            </a:r>
          </a:p>
        </p:txBody>
      </p:sp>
      <p:sp>
        <p:nvSpPr>
          <p:cNvPr id="3" name="Content Placeholder 2">
            <a:extLst>
              <a:ext uri="{FF2B5EF4-FFF2-40B4-BE49-F238E27FC236}">
                <a16:creationId xmlns:a16="http://schemas.microsoft.com/office/drawing/2014/main" id="{0DC58B64-9A9A-40B6-80C3-94EAAB19F052}"/>
              </a:ext>
            </a:extLst>
          </p:cNvPr>
          <p:cNvSpPr>
            <a:spLocks noGrp="1"/>
          </p:cNvSpPr>
          <p:nvPr>
            <p:ph idx="1"/>
          </p:nvPr>
        </p:nvSpPr>
        <p:spPr>
          <a:xfrm>
            <a:off x="285750" y="3429000"/>
            <a:ext cx="3997182" cy="3019424"/>
          </a:xfrm>
        </p:spPr>
        <p:txBody>
          <a:bodyPr/>
          <a:lstStyle/>
          <a:p>
            <a:pPr marL="0" indent="0">
              <a:buNone/>
            </a:pPr>
            <a:r>
              <a:rPr lang="en-GB" dirty="0"/>
              <a:t>The </a:t>
            </a:r>
            <a:r>
              <a:rPr lang="en-GB" b="1" dirty="0"/>
              <a:t>frequency</a:t>
            </a:r>
            <a:r>
              <a:rPr lang="en-GB" dirty="0"/>
              <a:t> of EPSPs can increase synaptic strength</a:t>
            </a:r>
          </a:p>
        </p:txBody>
      </p:sp>
      <p:pic>
        <p:nvPicPr>
          <p:cNvPr id="4" name="Picture 3">
            <a:extLst>
              <a:ext uri="{FF2B5EF4-FFF2-40B4-BE49-F238E27FC236}">
                <a16:creationId xmlns:a16="http://schemas.microsoft.com/office/drawing/2014/main" id="{A5A9B864-5DE3-4532-B92B-3DC71C095280}"/>
              </a:ext>
            </a:extLst>
          </p:cNvPr>
          <p:cNvPicPr>
            <a:picLocks noChangeAspect="1"/>
          </p:cNvPicPr>
          <p:nvPr/>
        </p:nvPicPr>
        <p:blipFill rotWithShape="1">
          <a:blip r:embed="rId2"/>
          <a:srcRect t="-1" b="34732"/>
          <a:stretch/>
        </p:blipFill>
        <p:spPr>
          <a:xfrm>
            <a:off x="6022039" y="1386211"/>
            <a:ext cx="5811521" cy="4887598"/>
          </a:xfrm>
          <a:prstGeom prst="rect">
            <a:avLst/>
          </a:prstGeom>
        </p:spPr>
      </p:pic>
      <p:sp>
        <p:nvSpPr>
          <p:cNvPr id="5" name="TextBox 4">
            <a:extLst>
              <a:ext uri="{FF2B5EF4-FFF2-40B4-BE49-F238E27FC236}">
                <a16:creationId xmlns:a16="http://schemas.microsoft.com/office/drawing/2014/main" id="{F4BE1A13-DCB6-44E3-8CDF-C9C91569CE57}"/>
              </a:ext>
            </a:extLst>
          </p:cNvPr>
          <p:cNvSpPr txBox="1"/>
          <p:nvPr/>
        </p:nvSpPr>
        <p:spPr>
          <a:xfrm>
            <a:off x="1077744" y="6522134"/>
            <a:ext cx="5739516" cy="261610"/>
          </a:xfrm>
          <a:prstGeom prst="rect">
            <a:avLst/>
          </a:prstGeom>
          <a:noFill/>
        </p:spPr>
        <p:txBody>
          <a:bodyPr wrap="square" rtlCol="0">
            <a:spAutoFit/>
          </a:bodyPr>
          <a:lstStyle/>
          <a:p>
            <a:pPr algn="ctr"/>
            <a:r>
              <a:rPr lang="en-GB" sz="1100" dirty="0"/>
              <a:t>Constance Hammond </a:t>
            </a:r>
            <a:r>
              <a:rPr lang="en-GB" sz="1100" b="1" dirty="0"/>
              <a:t>– Cellular and Molecular Neurophysiology </a:t>
            </a:r>
            <a:r>
              <a:rPr lang="en-GB" sz="1100" dirty="0"/>
              <a:t>4</a:t>
            </a:r>
            <a:r>
              <a:rPr lang="en-GB" sz="1100" baseline="30000" dirty="0"/>
              <a:t>th</a:t>
            </a:r>
            <a:r>
              <a:rPr lang="en-GB" sz="1100" dirty="0"/>
              <a:t> ed (2015)</a:t>
            </a:r>
            <a:endParaRPr lang="en-GB" sz="1050" dirty="0"/>
          </a:p>
        </p:txBody>
      </p:sp>
    </p:spTree>
    <p:extLst>
      <p:ext uri="{BB962C8B-B14F-4D97-AF65-F5344CB8AC3E}">
        <p14:creationId xmlns:p14="http://schemas.microsoft.com/office/powerpoint/2010/main" val="42860758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3583D-C35F-4160-A02C-8ED5767DE5C1}"/>
              </a:ext>
            </a:extLst>
          </p:cNvPr>
          <p:cNvSpPr>
            <a:spLocks noGrp="1"/>
          </p:cNvSpPr>
          <p:nvPr>
            <p:ph type="title"/>
          </p:nvPr>
        </p:nvSpPr>
        <p:spPr/>
        <p:txBody>
          <a:bodyPr>
            <a:normAutofit/>
          </a:bodyPr>
          <a:lstStyle/>
          <a:p>
            <a:r>
              <a:rPr lang="en-GB" dirty="0"/>
              <a:t>Long-term potentiation (LTP)</a:t>
            </a:r>
          </a:p>
        </p:txBody>
      </p:sp>
      <p:sp>
        <p:nvSpPr>
          <p:cNvPr id="3" name="Content Placeholder 2">
            <a:extLst>
              <a:ext uri="{FF2B5EF4-FFF2-40B4-BE49-F238E27FC236}">
                <a16:creationId xmlns:a16="http://schemas.microsoft.com/office/drawing/2014/main" id="{A8324844-157C-D278-3A11-00F93FA0056F}"/>
              </a:ext>
            </a:extLst>
          </p:cNvPr>
          <p:cNvSpPr>
            <a:spLocks noGrp="1"/>
          </p:cNvSpPr>
          <p:nvPr>
            <p:ph idx="1"/>
          </p:nvPr>
        </p:nvSpPr>
        <p:spPr>
          <a:xfrm>
            <a:off x="285750" y="3429001"/>
            <a:ext cx="3501636" cy="3019424"/>
          </a:xfrm>
        </p:spPr>
        <p:txBody>
          <a:bodyPr/>
          <a:lstStyle/>
          <a:p>
            <a:pPr marL="0" indent="0">
              <a:buNone/>
            </a:pPr>
            <a:r>
              <a:rPr lang="en-GB" dirty="0"/>
              <a:t>The </a:t>
            </a:r>
            <a:r>
              <a:rPr lang="en-GB" b="1" dirty="0"/>
              <a:t>frequency</a:t>
            </a:r>
            <a:r>
              <a:rPr lang="en-GB" dirty="0"/>
              <a:t> of EPSPs can increase synaptic strength</a:t>
            </a:r>
          </a:p>
          <a:p>
            <a:endParaRPr lang="en-GB" dirty="0"/>
          </a:p>
        </p:txBody>
      </p:sp>
      <p:pic>
        <p:nvPicPr>
          <p:cNvPr id="5" name="Picture 4">
            <a:extLst>
              <a:ext uri="{FF2B5EF4-FFF2-40B4-BE49-F238E27FC236}">
                <a16:creationId xmlns:a16="http://schemas.microsoft.com/office/drawing/2014/main" id="{1972E6C9-12C7-4968-AA6E-0A01347F0BE3}"/>
              </a:ext>
            </a:extLst>
          </p:cNvPr>
          <p:cNvPicPr>
            <a:picLocks noChangeAspect="1"/>
          </p:cNvPicPr>
          <p:nvPr/>
        </p:nvPicPr>
        <p:blipFill rotWithShape="1">
          <a:blip r:embed="rId2"/>
          <a:srcRect t="70477"/>
          <a:stretch/>
        </p:blipFill>
        <p:spPr>
          <a:xfrm>
            <a:off x="4018544" y="2052693"/>
            <a:ext cx="7888712" cy="3000938"/>
          </a:xfrm>
          <a:prstGeom prst="rect">
            <a:avLst/>
          </a:prstGeom>
        </p:spPr>
      </p:pic>
      <p:sp>
        <p:nvSpPr>
          <p:cNvPr id="8" name="Content Placeholder 2">
            <a:extLst>
              <a:ext uri="{FF2B5EF4-FFF2-40B4-BE49-F238E27FC236}">
                <a16:creationId xmlns:a16="http://schemas.microsoft.com/office/drawing/2014/main" id="{B3EAA7BA-927D-4907-971F-43B3F9BF45B2}"/>
              </a:ext>
            </a:extLst>
          </p:cNvPr>
          <p:cNvSpPr txBox="1">
            <a:spLocks/>
          </p:cNvSpPr>
          <p:nvPr/>
        </p:nvSpPr>
        <p:spPr>
          <a:xfrm>
            <a:off x="2152650" y="855136"/>
            <a:ext cx="8313844" cy="53218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Courier New" panose="02070309020205020404" pitchFamily="49" charset="0"/>
              <a:buChar char="o"/>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Courier New" panose="02070309020205020404" pitchFamily="49" charset="0"/>
              <a:buChar char="o"/>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Courier New" panose="02070309020205020404" pitchFamily="49" charset="0"/>
              <a:buChar char="o"/>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p:txBody>
      </p:sp>
      <p:sp>
        <p:nvSpPr>
          <p:cNvPr id="6" name="TextBox 5">
            <a:extLst>
              <a:ext uri="{FF2B5EF4-FFF2-40B4-BE49-F238E27FC236}">
                <a16:creationId xmlns:a16="http://schemas.microsoft.com/office/drawing/2014/main" id="{DCC60DC1-E911-4861-B4E3-22BA81381B25}"/>
              </a:ext>
            </a:extLst>
          </p:cNvPr>
          <p:cNvSpPr txBox="1"/>
          <p:nvPr/>
        </p:nvSpPr>
        <p:spPr>
          <a:xfrm>
            <a:off x="1141118" y="6522134"/>
            <a:ext cx="5612768" cy="261610"/>
          </a:xfrm>
          <a:prstGeom prst="rect">
            <a:avLst/>
          </a:prstGeom>
          <a:noFill/>
        </p:spPr>
        <p:txBody>
          <a:bodyPr wrap="square" rtlCol="0">
            <a:spAutoFit/>
          </a:bodyPr>
          <a:lstStyle/>
          <a:p>
            <a:pPr algn="ctr"/>
            <a:r>
              <a:rPr lang="en-GB" sz="1100" dirty="0"/>
              <a:t>Constance Hammond </a:t>
            </a:r>
            <a:r>
              <a:rPr lang="en-GB" sz="1100" b="1" dirty="0"/>
              <a:t>– Cellular and Molecular Neurophysiology </a:t>
            </a:r>
            <a:r>
              <a:rPr lang="en-GB" sz="1100" dirty="0"/>
              <a:t>4</a:t>
            </a:r>
            <a:r>
              <a:rPr lang="en-GB" sz="1100" baseline="30000" dirty="0"/>
              <a:t>th</a:t>
            </a:r>
            <a:r>
              <a:rPr lang="en-GB" sz="1100" dirty="0"/>
              <a:t> ed (2015)</a:t>
            </a:r>
            <a:endParaRPr lang="en-GB" sz="1050" dirty="0"/>
          </a:p>
        </p:txBody>
      </p:sp>
    </p:spTree>
    <p:extLst>
      <p:ext uri="{BB962C8B-B14F-4D97-AF65-F5344CB8AC3E}">
        <p14:creationId xmlns:p14="http://schemas.microsoft.com/office/powerpoint/2010/main" val="34658444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BF5C5-7457-4015-9D3E-3885FE403455}"/>
              </a:ext>
            </a:extLst>
          </p:cNvPr>
          <p:cNvSpPr>
            <a:spLocks noGrp="1"/>
          </p:cNvSpPr>
          <p:nvPr>
            <p:ph type="title"/>
          </p:nvPr>
        </p:nvSpPr>
        <p:spPr/>
        <p:txBody>
          <a:bodyPr>
            <a:normAutofit/>
          </a:bodyPr>
          <a:lstStyle/>
          <a:p>
            <a:r>
              <a:rPr lang="en-GB" dirty="0"/>
              <a:t>Long-term depression (LTD)</a:t>
            </a:r>
          </a:p>
        </p:txBody>
      </p:sp>
      <p:sp>
        <p:nvSpPr>
          <p:cNvPr id="3" name="Content Placeholder 2">
            <a:extLst>
              <a:ext uri="{FF2B5EF4-FFF2-40B4-BE49-F238E27FC236}">
                <a16:creationId xmlns:a16="http://schemas.microsoft.com/office/drawing/2014/main" id="{9C12B934-DD5B-4530-875F-3A7573FA13B6}"/>
              </a:ext>
            </a:extLst>
          </p:cNvPr>
          <p:cNvSpPr>
            <a:spLocks noGrp="1"/>
          </p:cNvSpPr>
          <p:nvPr>
            <p:ph idx="1"/>
          </p:nvPr>
        </p:nvSpPr>
        <p:spPr>
          <a:xfrm>
            <a:off x="2152650" y="5367867"/>
            <a:ext cx="7914217" cy="809097"/>
          </a:xfrm>
        </p:spPr>
        <p:txBody>
          <a:bodyPr/>
          <a:lstStyle/>
          <a:p>
            <a:r>
              <a:rPr lang="en-GB" dirty="0"/>
              <a:t>A range of </a:t>
            </a:r>
            <a:r>
              <a:rPr lang="en-GB" b="1" dirty="0"/>
              <a:t>low frequency </a:t>
            </a:r>
            <a:r>
              <a:rPr lang="en-GB" dirty="0"/>
              <a:t>of inputs or activation of specific </a:t>
            </a:r>
            <a:r>
              <a:rPr lang="en-GB" b="1" dirty="0"/>
              <a:t>metabotropic receptors </a:t>
            </a:r>
            <a:r>
              <a:rPr lang="en-GB" dirty="0"/>
              <a:t>can reduce synaptic strength</a:t>
            </a:r>
          </a:p>
        </p:txBody>
      </p:sp>
      <p:pic>
        <p:nvPicPr>
          <p:cNvPr id="5" name="Picture 4">
            <a:extLst>
              <a:ext uri="{FF2B5EF4-FFF2-40B4-BE49-F238E27FC236}">
                <a16:creationId xmlns:a16="http://schemas.microsoft.com/office/drawing/2014/main" id="{1FC68A09-855B-488B-AD09-59BCEAAB71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7848" y="1490134"/>
            <a:ext cx="8116305" cy="3682999"/>
          </a:xfrm>
          <a:prstGeom prst="rect">
            <a:avLst/>
          </a:prstGeom>
        </p:spPr>
      </p:pic>
    </p:spTree>
    <p:extLst>
      <p:ext uri="{BB962C8B-B14F-4D97-AF65-F5344CB8AC3E}">
        <p14:creationId xmlns:p14="http://schemas.microsoft.com/office/powerpoint/2010/main" val="5143926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Freeform: Shape 64">
            <a:extLst>
              <a:ext uri="{FF2B5EF4-FFF2-40B4-BE49-F238E27FC236}">
                <a16:creationId xmlns:a16="http://schemas.microsoft.com/office/drawing/2014/main" id="{645AE3BB-1587-4368-9D70-941FCD6B825B}"/>
              </a:ext>
            </a:extLst>
          </p:cNvPr>
          <p:cNvSpPr/>
          <p:nvPr/>
        </p:nvSpPr>
        <p:spPr>
          <a:xfrm>
            <a:off x="8373712" y="3589866"/>
            <a:ext cx="46389" cy="254598"/>
          </a:xfrm>
          <a:custGeom>
            <a:avLst/>
            <a:gdLst>
              <a:gd name="connsiteX0" fmla="*/ 361950 w 361950"/>
              <a:gd name="connsiteY0" fmla="*/ 0 h 2730500"/>
              <a:gd name="connsiteX1" fmla="*/ 266700 w 361950"/>
              <a:gd name="connsiteY1" fmla="*/ 508000 h 2730500"/>
              <a:gd name="connsiteX2" fmla="*/ 215900 w 361950"/>
              <a:gd name="connsiteY2" fmla="*/ 1371600 h 2730500"/>
              <a:gd name="connsiteX3" fmla="*/ 63500 w 361950"/>
              <a:gd name="connsiteY3" fmla="*/ 2235200 h 2730500"/>
              <a:gd name="connsiteX4" fmla="*/ 0 w 361950"/>
              <a:gd name="connsiteY4" fmla="*/ 2730500 h 2730500"/>
              <a:gd name="connsiteX0" fmla="*/ 357716 w 357716"/>
              <a:gd name="connsiteY0" fmla="*/ 0 h 2734733"/>
              <a:gd name="connsiteX1" fmla="*/ 266700 w 357716"/>
              <a:gd name="connsiteY1" fmla="*/ 512233 h 2734733"/>
              <a:gd name="connsiteX2" fmla="*/ 215900 w 357716"/>
              <a:gd name="connsiteY2" fmla="*/ 1375833 h 2734733"/>
              <a:gd name="connsiteX3" fmla="*/ 63500 w 357716"/>
              <a:gd name="connsiteY3" fmla="*/ 2239433 h 2734733"/>
              <a:gd name="connsiteX4" fmla="*/ 0 w 357716"/>
              <a:gd name="connsiteY4" fmla="*/ 2734733 h 2734733"/>
              <a:gd name="connsiteX0" fmla="*/ 357716 w 357716"/>
              <a:gd name="connsiteY0" fmla="*/ 0 h 2734733"/>
              <a:gd name="connsiteX1" fmla="*/ 266700 w 357716"/>
              <a:gd name="connsiteY1" fmla="*/ 512233 h 2734733"/>
              <a:gd name="connsiteX2" fmla="*/ 215900 w 357716"/>
              <a:gd name="connsiteY2" fmla="*/ 1375833 h 2734733"/>
              <a:gd name="connsiteX3" fmla="*/ 63500 w 357716"/>
              <a:gd name="connsiteY3" fmla="*/ 2239433 h 2734733"/>
              <a:gd name="connsiteX4" fmla="*/ 0 w 357716"/>
              <a:gd name="connsiteY4" fmla="*/ 2734733 h 2734733"/>
              <a:gd name="connsiteX0" fmla="*/ 361950 w 361950"/>
              <a:gd name="connsiteY0" fmla="*/ 0 h 2728383"/>
              <a:gd name="connsiteX1" fmla="*/ 266700 w 361950"/>
              <a:gd name="connsiteY1" fmla="*/ 505883 h 2728383"/>
              <a:gd name="connsiteX2" fmla="*/ 215900 w 361950"/>
              <a:gd name="connsiteY2" fmla="*/ 1369483 h 2728383"/>
              <a:gd name="connsiteX3" fmla="*/ 63500 w 361950"/>
              <a:gd name="connsiteY3" fmla="*/ 2233083 h 2728383"/>
              <a:gd name="connsiteX4" fmla="*/ 0 w 361950"/>
              <a:gd name="connsiteY4" fmla="*/ 2728383 h 2728383"/>
              <a:gd name="connsiteX0" fmla="*/ 298450 w 298450"/>
              <a:gd name="connsiteY0" fmla="*/ 0 h 2233083"/>
              <a:gd name="connsiteX1" fmla="*/ 203200 w 298450"/>
              <a:gd name="connsiteY1" fmla="*/ 505883 h 2233083"/>
              <a:gd name="connsiteX2" fmla="*/ 152400 w 298450"/>
              <a:gd name="connsiteY2" fmla="*/ 1369483 h 2233083"/>
              <a:gd name="connsiteX3" fmla="*/ 0 w 298450"/>
              <a:gd name="connsiteY3" fmla="*/ 2233083 h 2233083"/>
              <a:gd name="connsiteX0" fmla="*/ 146050 w 146050"/>
              <a:gd name="connsiteY0" fmla="*/ 0 h 1369483"/>
              <a:gd name="connsiteX1" fmla="*/ 50800 w 146050"/>
              <a:gd name="connsiteY1" fmla="*/ 505883 h 1369483"/>
              <a:gd name="connsiteX2" fmla="*/ 0 w 146050"/>
              <a:gd name="connsiteY2" fmla="*/ 1369483 h 1369483"/>
              <a:gd name="connsiteX0" fmla="*/ 95250 w 95250"/>
              <a:gd name="connsiteY0" fmla="*/ 0 h 505883"/>
              <a:gd name="connsiteX1" fmla="*/ 0 w 95250"/>
              <a:gd name="connsiteY1" fmla="*/ 505883 h 505883"/>
              <a:gd name="connsiteX0" fmla="*/ 46389 w 46389"/>
              <a:gd name="connsiteY0" fmla="*/ 0 h 254598"/>
              <a:gd name="connsiteX1" fmla="*/ 0 w 46389"/>
              <a:gd name="connsiteY1" fmla="*/ 254598 h 254598"/>
            </a:gdLst>
            <a:ahLst/>
            <a:cxnLst>
              <a:cxn ang="0">
                <a:pos x="connsiteX0" y="connsiteY0"/>
              </a:cxn>
              <a:cxn ang="0">
                <a:pos x="connsiteX1" y="connsiteY1"/>
              </a:cxn>
            </a:cxnLst>
            <a:rect l="l" t="t" r="r" b="b"/>
            <a:pathLst>
              <a:path w="46389" h="254598">
                <a:moveTo>
                  <a:pt x="46389" y="0"/>
                </a:moveTo>
                <a:cubicBezTo>
                  <a:pt x="23635" y="152400"/>
                  <a:pt x="24342" y="26351"/>
                  <a:pt x="0" y="254598"/>
                </a:cubicBezTo>
              </a:path>
            </a:pathLst>
          </a:custGeom>
          <a:noFill/>
          <a:ln w="19050">
            <a:solidFill>
              <a:srgbClr val="FF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7" name="Content Placeholder 4" descr="A screen shot of a computer&#10;&#10;Description automatically generated">
            <a:extLst>
              <a:ext uri="{FF2B5EF4-FFF2-40B4-BE49-F238E27FC236}">
                <a16:creationId xmlns:a16="http://schemas.microsoft.com/office/drawing/2014/main" id="{9C6C3ADA-2793-49B7-99B0-45307B27A9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5920" y="853387"/>
            <a:ext cx="3747908" cy="2743196"/>
          </a:xfrm>
          <a:prstGeom prst="rect">
            <a:avLst/>
          </a:prstGeom>
        </p:spPr>
      </p:pic>
      <p:pic>
        <p:nvPicPr>
          <p:cNvPr id="19" name="Content Placeholder 18" descr="A picture containing drawing&#10;&#10;Description automatically generated">
            <a:extLst>
              <a:ext uri="{FF2B5EF4-FFF2-40B4-BE49-F238E27FC236}">
                <a16:creationId xmlns:a16="http://schemas.microsoft.com/office/drawing/2014/main" id="{EB40D36B-91CE-44CB-B3C9-6037CF3FD66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170946" y="3824638"/>
            <a:ext cx="2776098" cy="2776098"/>
          </a:xfrm>
        </p:spPr>
      </p:pic>
      <p:sp>
        <p:nvSpPr>
          <p:cNvPr id="2" name="Title 1">
            <a:extLst>
              <a:ext uri="{FF2B5EF4-FFF2-40B4-BE49-F238E27FC236}">
                <a16:creationId xmlns:a16="http://schemas.microsoft.com/office/drawing/2014/main" id="{2F119E44-EEDE-49BD-B7E3-4CB46E31BA82}"/>
              </a:ext>
            </a:extLst>
          </p:cNvPr>
          <p:cNvSpPr>
            <a:spLocks noGrp="1"/>
          </p:cNvSpPr>
          <p:nvPr>
            <p:ph type="title"/>
          </p:nvPr>
        </p:nvSpPr>
        <p:spPr/>
        <p:txBody>
          <a:bodyPr/>
          <a:lstStyle/>
          <a:p>
            <a:r>
              <a:rPr lang="en-GB" dirty="0"/>
              <a:t>Backpropagating Action Potential (</a:t>
            </a:r>
            <a:r>
              <a:rPr lang="en-GB" dirty="0" err="1"/>
              <a:t>bAP</a:t>
            </a:r>
            <a:r>
              <a:rPr lang="en-GB" dirty="0"/>
              <a:t>)</a:t>
            </a:r>
          </a:p>
        </p:txBody>
      </p:sp>
      <p:sp>
        <p:nvSpPr>
          <p:cNvPr id="4" name="Oval 3">
            <a:extLst>
              <a:ext uri="{FF2B5EF4-FFF2-40B4-BE49-F238E27FC236}">
                <a16:creationId xmlns:a16="http://schemas.microsoft.com/office/drawing/2014/main" id="{0920050E-E6D3-4478-8F6A-7BEA9AA4B71F}"/>
              </a:ext>
            </a:extLst>
          </p:cNvPr>
          <p:cNvSpPr/>
          <p:nvPr/>
        </p:nvSpPr>
        <p:spPr>
          <a:xfrm>
            <a:off x="9027796" y="2142907"/>
            <a:ext cx="293166" cy="286186"/>
          </a:xfrm>
          <a:prstGeom prst="ellipse">
            <a:avLst/>
          </a:prstGeom>
          <a:noFill/>
          <a:ln w="28575">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5" name="Straight Connector 4">
            <a:extLst>
              <a:ext uri="{FF2B5EF4-FFF2-40B4-BE49-F238E27FC236}">
                <a16:creationId xmlns:a16="http://schemas.microsoft.com/office/drawing/2014/main" id="{D868DE1F-22EC-4A0D-8217-4AAFE4212750}"/>
              </a:ext>
            </a:extLst>
          </p:cNvPr>
          <p:cNvCxnSpPr>
            <a:cxnSpLocks/>
          </p:cNvCxnSpPr>
          <p:nvPr/>
        </p:nvCxnSpPr>
        <p:spPr>
          <a:xfrm flipH="1">
            <a:off x="7534042" y="2282917"/>
            <a:ext cx="1493756" cy="1992750"/>
          </a:xfrm>
          <a:prstGeom prst="line">
            <a:avLst/>
          </a:prstGeom>
          <a:ln w="1270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ABBA46AB-ABE8-4277-A321-A645B58F98F3}"/>
              </a:ext>
            </a:extLst>
          </p:cNvPr>
          <p:cNvCxnSpPr>
            <a:cxnSpLocks/>
            <a:stCxn id="4" idx="6"/>
          </p:cNvCxnSpPr>
          <p:nvPr/>
        </p:nvCxnSpPr>
        <p:spPr>
          <a:xfrm>
            <a:off x="9320962" y="2286000"/>
            <a:ext cx="564958" cy="2514600"/>
          </a:xfrm>
          <a:prstGeom prst="line">
            <a:avLst/>
          </a:prstGeom>
          <a:ln w="12700">
            <a:solidFill>
              <a:schemeClr val="tx1"/>
            </a:solidFill>
            <a:prstDash val="sysDash"/>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DFDE3A98-D8EF-46BC-9D0D-34E36EE89CF9}"/>
              </a:ext>
            </a:extLst>
          </p:cNvPr>
          <p:cNvSpPr txBox="1"/>
          <p:nvPr/>
        </p:nvSpPr>
        <p:spPr>
          <a:xfrm>
            <a:off x="8699800" y="3915556"/>
            <a:ext cx="679284" cy="230832"/>
          </a:xfrm>
          <a:prstGeom prst="rect">
            <a:avLst/>
          </a:prstGeom>
          <a:noFill/>
        </p:spPr>
        <p:txBody>
          <a:bodyPr wrap="square" rtlCol="0">
            <a:spAutoFit/>
          </a:bodyPr>
          <a:lstStyle/>
          <a:p>
            <a:r>
              <a:rPr lang="en-GB" sz="900" dirty="0">
                <a:solidFill>
                  <a:srgbClr val="92D050"/>
                </a:solidFill>
              </a:rPr>
              <a:t>AMPAR</a:t>
            </a:r>
          </a:p>
        </p:txBody>
      </p:sp>
      <p:sp>
        <p:nvSpPr>
          <p:cNvPr id="20" name="TextBox 19">
            <a:extLst>
              <a:ext uri="{FF2B5EF4-FFF2-40B4-BE49-F238E27FC236}">
                <a16:creationId xmlns:a16="http://schemas.microsoft.com/office/drawing/2014/main" id="{FEA7FA19-A641-4017-BBC5-C351463013F2}"/>
              </a:ext>
            </a:extLst>
          </p:cNvPr>
          <p:cNvSpPr txBox="1"/>
          <p:nvPr/>
        </p:nvSpPr>
        <p:spPr>
          <a:xfrm>
            <a:off x="8868201" y="4272662"/>
            <a:ext cx="679284" cy="230832"/>
          </a:xfrm>
          <a:prstGeom prst="rect">
            <a:avLst/>
          </a:prstGeom>
          <a:noFill/>
        </p:spPr>
        <p:txBody>
          <a:bodyPr wrap="square" rtlCol="0">
            <a:spAutoFit/>
          </a:bodyPr>
          <a:lstStyle/>
          <a:p>
            <a:r>
              <a:rPr lang="en-GB" sz="900" dirty="0">
                <a:solidFill>
                  <a:schemeClr val="accent6">
                    <a:lumMod val="75000"/>
                  </a:schemeClr>
                </a:solidFill>
              </a:rPr>
              <a:t>NMDAR</a:t>
            </a:r>
          </a:p>
        </p:txBody>
      </p:sp>
      <p:cxnSp>
        <p:nvCxnSpPr>
          <p:cNvPr id="22" name="Straight Arrow Connector 21">
            <a:extLst>
              <a:ext uri="{FF2B5EF4-FFF2-40B4-BE49-F238E27FC236}">
                <a16:creationId xmlns:a16="http://schemas.microsoft.com/office/drawing/2014/main" id="{803D9147-7ADE-4922-997C-BD0E0EA433F2}"/>
              </a:ext>
            </a:extLst>
          </p:cNvPr>
          <p:cNvCxnSpPr>
            <a:cxnSpLocks/>
          </p:cNvCxnSpPr>
          <p:nvPr/>
        </p:nvCxnSpPr>
        <p:spPr>
          <a:xfrm flipH="1">
            <a:off x="8636102" y="4113213"/>
            <a:ext cx="293354" cy="107612"/>
          </a:xfrm>
          <a:prstGeom prst="straightConnector1">
            <a:avLst/>
          </a:prstGeom>
          <a:ln w="127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Freeform: Shape 23">
            <a:extLst>
              <a:ext uri="{FF2B5EF4-FFF2-40B4-BE49-F238E27FC236}">
                <a16:creationId xmlns:a16="http://schemas.microsoft.com/office/drawing/2014/main" id="{940E9DCE-E8B1-46F2-B747-B3F6D8C37F10}"/>
              </a:ext>
            </a:extLst>
          </p:cNvPr>
          <p:cNvSpPr/>
          <p:nvPr/>
        </p:nvSpPr>
        <p:spPr>
          <a:xfrm>
            <a:off x="8325078" y="4331222"/>
            <a:ext cx="641527" cy="2171180"/>
          </a:xfrm>
          <a:custGeom>
            <a:avLst/>
            <a:gdLst>
              <a:gd name="connsiteX0" fmla="*/ 605588 w 605588"/>
              <a:gd name="connsiteY0" fmla="*/ 2203717 h 2203717"/>
              <a:gd name="connsiteX1" fmla="*/ 6148 w 605588"/>
              <a:gd name="connsiteY1" fmla="*/ 263157 h 2203717"/>
              <a:gd name="connsiteX2" fmla="*/ 346508 w 605588"/>
              <a:gd name="connsiteY2" fmla="*/ 70117 h 2203717"/>
              <a:gd name="connsiteX0" fmla="*/ 259080 w 259080"/>
              <a:gd name="connsiteY0" fmla="*/ 2133600 h 2133600"/>
              <a:gd name="connsiteX1" fmla="*/ 0 w 259080"/>
              <a:gd name="connsiteY1" fmla="*/ 0 h 2133600"/>
              <a:gd name="connsiteX0" fmla="*/ 590542 w 590542"/>
              <a:gd name="connsiteY0" fmla="*/ 2152028 h 2152028"/>
              <a:gd name="connsiteX1" fmla="*/ 331462 w 590542"/>
              <a:gd name="connsiteY1" fmla="*/ 18428 h 2152028"/>
              <a:gd name="connsiteX0" fmla="*/ 554118 w 554118"/>
              <a:gd name="connsiteY0" fmla="*/ 2134747 h 2134747"/>
              <a:gd name="connsiteX1" fmla="*/ 341075 w 554118"/>
              <a:gd name="connsiteY1" fmla="*/ 18609 h 2134747"/>
              <a:gd name="connsiteX0" fmla="*/ 603141 w 603141"/>
              <a:gd name="connsiteY0" fmla="*/ 2127172 h 2127172"/>
              <a:gd name="connsiteX1" fmla="*/ 390098 w 603141"/>
              <a:gd name="connsiteY1" fmla="*/ 11034 h 2127172"/>
              <a:gd name="connsiteX0" fmla="*/ 552846 w 552846"/>
              <a:gd name="connsiteY0" fmla="*/ 2084597 h 2084597"/>
              <a:gd name="connsiteX1" fmla="*/ 404890 w 552846"/>
              <a:gd name="connsiteY1" fmla="*/ 11321 h 2084597"/>
              <a:gd name="connsiteX0" fmla="*/ 536325 w 536325"/>
              <a:gd name="connsiteY0" fmla="*/ 2084291 h 2084291"/>
              <a:gd name="connsiteX1" fmla="*/ 229303 w 536325"/>
              <a:gd name="connsiteY1" fmla="*/ 111027 h 2084291"/>
              <a:gd name="connsiteX2" fmla="*/ 388369 w 536325"/>
              <a:gd name="connsiteY2" fmla="*/ 11015 h 2084291"/>
              <a:gd name="connsiteX0" fmla="*/ 911015 w 911015"/>
              <a:gd name="connsiteY0" fmla="*/ 2094174 h 2094174"/>
              <a:gd name="connsiteX1" fmla="*/ 603993 w 911015"/>
              <a:gd name="connsiteY1" fmla="*/ 120910 h 2094174"/>
              <a:gd name="connsiteX2" fmla="*/ 763059 w 911015"/>
              <a:gd name="connsiteY2" fmla="*/ 20898 h 2094174"/>
              <a:gd name="connsiteX0" fmla="*/ 911015 w 1064754"/>
              <a:gd name="connsiteY0" fmla="*/ 2094174 h 2094174"/>
              <a:gd name="connsiteX1" fmla="*/ 603993 w 1064754"/>
              <a:gd name="connsiteY1" fmla="*/ 120910 h 2094174"/>
              <a:gd name="connsiteX2" fmla="*/ 763059 w 1064754"/>
              <a:gd name="connsiteY2" fmla="*/ 20898 h 2094174"/>
              <a:gd name="connsiteX0" fmla="*/ 627648 w 627648"/>
              <a:gd name="connsiteY0" fmla="*/ 2334818 h 2334818"/>
              <a:gd name="connsiteX1" fmla="*/ 320626 w 627648"/>
              <a:gd name="connsiteY1" fmla="*/ 361554 h 2334818"/>
              <a:gd name="connsiteX2" fmla="*/ 479692 w 627648"/>
              <a:gd name="connsiteY2" fmla="*/ 261542 h 2334818"/>
              <a:gd name="connsiteX0" fmla="*/ 749143 w 749143"/>
              <a:gd name="connsiteY0" fmla="*/ 2295157 h 2295157"/>
              <a:gd name="connsiteX1" fmla="*/ 143671 w 749143"/>
              <a:gd name="connsiteY1" fmla="*/ 388568 h 2295157"/>
              <a:gd name="connsiteX2" fmla="*/ 601187 w 749143"/>
              <a:gd name="connsiteY2" fmla="*/ 221881 h 2295157"/>
              <a:gd name="connsiteX0" fmla="*/ 772142 w 772142"/>
              <a:gd name="connsiteY0" fmla="*/ 2166284 h 2166284"/>
              <a:gd name="connsiteX1" fmla="*/ 166670 w 772142"/>
              <a:gd name="connsiteY1" fmla="*/ 259695 h 2166284"/>
              <a:gd name="connsiteX2" fmla="*/ 624186 w 772142"/>
              <a:gd name="connsiteY2" fmla="*/ 93008 h 2166284"/>
              <a:gd name="connsiteX0" fmla="*/ 629552 w 629552"/>
              <a:gd name="connsiteY0" fmla="*/ 2155222 h 2155222"/>
              <a:gd name="connsiteX1" fmla="*/ 24080 w 629552"/>
              <a:gd name="connsiteY1" fmla="*/ 248633 h 2155222"/>
              <a:gd name="connsiteX2" fmla="*/ 481596 w 629552"/>
              <a:gd name="connsiteY2" fmla="*/ 81946 h 2155222"/>
              <a:gd name="connsiteX0" fmla="*/ 621852 w 621852"/>
              <a:gd name="connsiteY0" fmla="*/ 2074662 h 2074662"/>
              <a:gd name="connsiteX1" fmla="*/ 16380 w 621852"/>
              <a:gd name="connsiteY1" fmla="*/ 168073 h 2074662"/>
              <a:gd name="connsiteX2" fmla="*/ 473896 w 621852"/>
              <a:gd name="connsiteY2" fmla="*/ 1386 h 2074662"/>
              <a:gd name="connsiteX0" fmla="*/ 608289 w 608289"/>
              <a:gd name="connsiteY0" fmla="*/ 2099969 h 2099969"/>
              <a:gd name="connsiteX1" fmla="*/ 2817 w 608289"/>
              <a:gd name="connsiteY1" fmla="*/ 193380 h 2099969"/>
              <a:gd name="connsiteX2" fmla="*/ 406358 w 608289"/>
              <a:gd name="connsiteY2" fmla="*/ 20343 h 2099969"/>
              <a:gd name="connsiteX0" fmla="*/ 641527 w 641527"/>
              <a:gd name="connsiteY0" fmla="*/ 2171180 h 2171180"/>
              <a:gd name="connsiteX1" fmla="*/ 36055 w 641527"/>
              <a:gd name="connsiteY1" fmla="*/ 264591 h 2171180"/>
              <a:gd name="connsiteX2" fmla="*/ 439596 w 641527"/>
              <a:gd name="connsiteY2" fmla="*/ 91554 h 2171180"/>
            </a:gdLst>
            <a:ahLst/>
            <a:cxnLst>
              <a:cxn ang="0">
                <a:pos x="connsiteX0" y="connsiteY0"/>
              </a:cxn>
              <a:cxn ang="0">
                <a:pos x="connsiteX1" y="connsiteY1"/>
              </a:cxn>
              <a:cxn ang="0">
                <a:pos x="connsiteX2" y="connsiteY2"/>
              </a:cxn>
            </a:cxnLst>
            <a:rect l="l" t="t" r="r" b="b"/>
            <a:pathLst>
              <a:path w="641527" h="2171180">
                <a:moveTo>
                  <a:pt x="641527" y="2171180"/>
                </a:moveTo>
                <a:cubicBezTo>
                  <a:pt x="568925" y="1829074"/>
                  <a:pt x="193535" y="779470"/>
                  <a:pt x="36055" y="264591"/>
                </a:cubicBezTo>
                <a:cubicBezTo>
                  <a:pt x="-121425" y="-250288"/>
                  <a:pt x="278306" y="156642"/>
                  <a:pt x="439596" y="91554"/>
                </a:cubicBezTo>
              </a:path>
            </a:pathLst>
          </a:custGeom>
          <a:noFill/>
          <a:ln w="38100">
            <a:solidFill>
              <a:schemeClr val="accent4">
                <a:lumMod val="60000"/>
                <a:lumOff val="4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25" name="Straight Arrow Connector 24">
            <a:extLst>
              <a:ext uri="{FF2B5EF4-FFF2-40B4-BE49-F238E27FC236}">
                <a16:creationId xmlns:a16="http://schemas.microsoft.com/office/drawing/2014/main" id="{805E41C7-0A3C-4FA2-8DD2-B1F020086E59}"/>
              </a:ext>
            </a:extLst>
          </p:cNvPr>
          <p:cNvCxnSpPr>
            <a:cxnSpLocks/>
          </p:cNvCxnSpPr>
          <p:nvPr/>
        </p:nvCxnSpPr>
        <p:spPr>
          <a:xfrm flipH="1">
            <a:off x="8691521" y="4301084"/>
            <a:ext cx="308280" cy="74147"/>
          </a:xfrm>
          <a:prstGeom prst="straightConnector1">
            <a:avLst/>
          </a:prstGeom>
          <a:ln w="127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Freeform: Shape 27">
            <a:extLst>
              <a:ext uri="{FF2B5EF4-FFF2-40B4-BE49-F238E27FC236}">
                <a16:creationId xmlns:a16="http://schemas.microsoft.com/office/drawing/2014/main" id="{B33566A2-ACF3-4DF2-A80B-CF906CABBB35}"/>
              </a:ext>
            </a:extLst>
          </p:cNvPr>
          <p:cNvSpPr/>
          <p:nvPr/>
        </p:nvSpPr>
        <p:spPr>
          <a:xfrm>
            <a:off x="8533690" y="3195281"/>
            <a:ext cx="395766" cy="323380"/>
          </a:xfrm>
          <a:custGeom>
            <a:avLst/>
            <a:gdLst>
              <a:gd name="connsiteX0" fmla="*/ 0 w 844599"/>
              <a:gd name="connsiteY0" fmla="*/ 329681 h 514258"/>
              <a:gd name="connsiteX1" fmla="*/ 355988 w 844599"/>
              <a:gd name="connsiteY1" fmla="*/ 343641 h 514258"/>
              <a:gd name="connsiteX2" fmla="*/ 460690 w 844599"/>
              <a:gd name="connsiteY2" fmla="*/ 1613 h 514258"/>
              <a:gd name="connsiteX3" fmla="*/ 579353 w 844599"/>
              <a:gd name="connsiteY3" fmla="*/ 504184 h 514258"/>
              <a:gd name="connsiteX4" fmla="*/ 718956 w 844599"/>
              <a:gd name="connsiteY4" fmla="*/ 336661 h 514258"/>
              <a:gd name="connsiteX5" fmla="*/ 844599 w 844599"/>
              <a:gd name="connsiteY5" fmla="*/ 322701 h 514258"/>
              <a:gd name="connsiteX6" fmla="*/ 844599 w 844599"/>
              <a:gd name="connsiteY6" fmla="*/ 322701 h 514258"/>
              <a:gd name="connsiteX0" fmla="*/ 0 w 844599"/>
              <a:gd name="connsiteY0" fmla="*/ 329456 h 514033"/>
              <a:gd name="connsiteX1" fmla="*/ 355988 w 844599"/>
              <a:gd name="connsiteY1" fmla="*/ 343416 h 514033"/>
              <a:gd name="connsiteX2" fmla="*/ 460690 w 844599"/>
              <a:gd name="connsiteY2" fmla="*/ 1388 h 514033"/>
              <a:gd name="connsiteX3" fmla="*/ 579353 w 844599"/>
              <a:gd name="connsiteY3" fmla="*/ 503959 h 514033"/>
              <a:gd name="connsiteX4" fmla="*/ 718956 w 844599"/>
              <a:gd name="connsiteY4" fmla="*/ 336436 h 514033"/>
              <a:gd name="connsiteX5" fmla="*/ 844599 w 844599"/>
              <a:gd name="connsiteY5" fmla="*/ 322476 h 514033"/>
              <a:gd name="connsiteX6" fmla="*/ 844599 w 844599"/>
              <a:gd name="connsiteY6" fmla="*/ 322476 h 514033"/>
              <a:gd name="connsiteX0" fmla="*/ 0 w 844599"/>
              <a:gd name="connsiteY0" fmla="*/ 329456 h 514033"/>
              <a:gd name="connsiteX1" fmla="*/ 355988 w 844599"/>
              <a:gd name="connsiteY1" fmla="*/ 343416 h 514033"/>
              <a:gd name="connsiteX2" fmla="*/ 460690 w 844599"/>
              <a:gd name="connsiteY2" fmla="*/ 1388 h 514033"/>
              <a:gd name="connsiteX3" fmla="*/ 579353 w 844599"/>
              <a:gd name="connsiteY3" fmla="*/ 503959 h 514033"/>
              <a:gd name="connsiteX4" fmla="*/ 718956 w 844599"/>
              <a:gd name="connsiteY4" fmla="*/ 336436 h 514033"/>
              <a:gd name="connsiteX5" fmla="*/ 844599 w 844599"/>
              <a:gd name="connsiteY5" fmla="*/ 322476 h 514033"/>
              <a:gd name="connsiteX6" fmla="*/ 844599 w 844599"/>
              <a:gd name="connsiteY6" fmla="*/ 322476 h 514033"/>
              <a:gd name="connsiteX0" fmla="*/ 0 w 844599"/>
              <a:gd name="connsiteY0" fmla="*/ 344510 h 514270"/>
              <a:gd name="connsiteX1" fmla="*/ 355988 w 844599"/>
              <a:gd name="connsiteY1" fmla="*/ 343653 h 514270"/>
              <a:gd name="connsiteX2" fmla="*/ 460690 w 844599"/>
              <a:gd name="connsiteY2" fmla="*/ 1625 h 514270"/>
              <a:gd name="connsiteX3" fmla="*/ 579353 w 844599"/>
              <a:gd name="connsiteY3" fmla="*/ 504196 h 514270"/>
              <a:gd name="connsiteX4" fmla="*/ 718956 w 844599"/>
              <a:gd name="connsiteY4" fmla="*/ 336673 h 514270"/>
              <a:gd name="connsiteX5" fmla="*/ 844599 w 844599"/>
              <a:gd name="connsiteY5" fmla="*/ 322713 h 514270"/>
              <a:gd name="connsiteX6" fmla="*/ 844599 w 844599"/>
              <a:gd name="connsiteY6" fmla="*/ 322713 h 514270"/>
              <a:gd name="connsiteX0" fmla="*/ 0 w 844599"/>
              <a:gd name="connsiteY0" fmla="*/ 344510 h 514270"/>
              <a:gd name="connsiteX1" fmla="*/ 355988 w 844599"/>
              <a:gd name="connsiteY1" fmla="*/ 343653 h 514270"/>
              <a:gd name="connsiteX2" fmla="*/ 460690 w 844599"/>
              <a:gd name="connsiteY2" fmla="*/ 1625 h 514270"/>
              <a:gd name="connsiteX3" fmla="*/ 579353 w 844599"/>
              <a:gd name="connsiteY3" fmla="*/ 504196 h 514270"/>
              <a:gd name="connsiteX4" fmla="*/ 718956 w 844599"/>
              <a:gd name="connsiteY4" fmla="*/ 336673 h 514270"/>
              <a:gd name="connsiteX5" fmla="*/ 844599 w 844599"/>
              <a:gd name="connsiteY5" fmla="*/ 322713 h 514270"/>
              <a:gd name="connsiteX6" fmla="*/ 844599 w 844599"/>
              <a:gd name="connsiteY6" fmla="*/ 322713 h 514270"/>
              <a:gd name="connsiteX0" fmla="*/ 0 w 844599"/>
              <a:gd name="connsiteY0" fmla="*/ 344305 h 514065"/>
              <a:gd name="connsiteX1" fmla="*/ 355988 w 844599"/>
              <a:gd name="connsiteY1" fmla="*/ 343448 h 514065"/>
              <a:gd name="connsiteX2" fmla="*/ 460690 w 844599"/>
              <a:gd name="connsiteY2" fmla="*/ 1420 h 514065"/>
              <a:gd name="connsiteX3" fmla="*/ 579353 w 844599"/>
              <a:gd name="connsiteY3" fmla="*/ 503991 h 514065"/>
              <a:gd name="connsiteX4" fmla="*/ 718956 w 844599"/>
              <a:gd name="connsiteY4" fmla="*/ 336468 h 514065"/>
              <a:gd name="connsiteX5" fmla="*/ 844599 w 844599"/>
              <a:gd name="connsiteY5" fmla="*/ 322508 h 514065"/>
              <a:gd name="connsiteX6" fmla="*/ 844599 w 844599"/>
              <a:gd name="connsiteY6" fmla="*/ 322508 h 514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4599" h="514065">
                <a:moveTo>
                  <a:pt x="0" y="344305"/>
                </a:moveTo>
                <a:cubicBezTo>
                  <a:pt x="171354" y="344757"/>
                  <a:pt x="264389" y="351911"/>
                  <a:pt x="355988" y="343448"/>
                </a:cubicBezTo>
                <a:cubicBezTo>
                  <a:pt x="447587" y="334985"/>
                  <a:pt x="423463" y="-25337"/>
                  <a:pt x="460690" y="1420"/>
                </a:cubicBezTo>
                <a:cubicBezTo>
                  <a:pt x="497917" y="28177"/>
                  <a:pt x="536309" y="448150"/>
                  <a:pt x="579353" y="503991"/>
                </a:cubicBezTo>
                <a:cubicBezTo>
                  <a:pt x="622397" y="559832"/>
                  <a:pt x="674748" y="366715"/>
                  <a:pt x="718956" y="336468"/>
                </a:cubicBezTo>
                <a:cubicBezTo>
                  <a:pt x="763164" y="306221"/>
                  <a:pt x="844599" y="322508"/>
                  <a:pt x="844599" y="322508"/>
                </a:cubicBezTo>
                <a:lnTo>
                  <a:pt x="844599" y="322508"/>
                </a:lnTo>
              </a:path>
            </a:pathLst>
          </a:custGeom>
          <a:no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30" name="Straight Arrow Connector 29">
            <a:extLst>
              <a:ext uri="{FF2B5EF4-FFF2-40B4-BE49-F238E27FC236}">
                <a16:creationId xmlns:a16="http://schemas.microsoft.com/office/drawing/2014/main" id="{92CCDD9E-2FC8-4850-B685-6F072B55FC5B}"/>
              </a:ext>
            </a:extLst>
          </p:cNvPr>
          <p:cNvCxnSpPr>
            <a:cxnSpLocks/>
          </p:cNvCxnSpPr>
          <p:nvPr/>
        </p:nvCxnSpPr>
        <p:spPr>
          <a:xfrm flipH="1">
            <a:off x="8509404" y="3454561"/>
            <a:ext cx="40470" cy="295641"/>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F81F1762-8633-465E-900A-4473EC5EC4BF}"/>
              </a:ext>
            </a:extLst>
          </p:cNvPr>
          <p:cNvGrpSpPr/>
          <p:nvPr/>
        </p:nvGrpSpPr>
        <p:grpSpPr>
          <a:xfrm>
            <a:off x="8097077" y="2358916"/>
            <a:ext cx="855132" cy="792801"/>
            <a:chOff x="6573077" y="2358915"/>
            <a:chExt cx="855132" cy="792801"/>
          </a:xfrm>
        </p:grpSpPr>
        <p:sp>
          <p:nvSpPr>
            <p:cNvPr id="34" name="Freeform: Shape 33">
              <a:extLst>
                <a:ext uri="{FF2B5EF4-FFF2-40B4-BE49-F238E27FC236}">
                  <a16:creationId xmlns:a16="http://schemas.microsoft.com/office/drawing/2014/main" id="{928A9726-3BA2-4B1E-B3A4-58CA11710BBA}"/>
                </a:ext>
              </a:extLst>
            </p:cNvPr>
            <p:cNvSpPr/>
            <p:nvPr/>
          </p:nvSpPr>
          <p:spPr>
            <a:xfrm>
              <a:off x="6949843" y="2796117"/>
              <a:ext cx="383117" cy="355599"/>
            </a:xfrm>
            <a:custGeom>
              <a:avLst/>
              <a:gdLst>
                <a:gd name="connsiteX0" fmla="*/ 0 w 277284"/>
                <a:gd name="connsiteY0" fmla="*/ 330200 h 330200"/>
                <a:gd name="connsiteX1" fmla="*/ 277284 w 277284"/>
                <a:gd name="connsiteY1" fmla="*/ 0 h 330200"/>
                <a:gd name="connsiteX0" fmla="*/ 0 w 277284"/>
                <a:gd name="connsiteY0" fmla="*/ 330215 h 330215"/>
                <a:gd name="connsiteX1" fmla="*/ 277284 w 277284"/>
                <a:gd name="connsiteY1" fmla="*/ 15 h 330215"/>
                <a:gd name="connsiteX0" fmla="*/ 757 w 278041"/>
                <a:gd name="connsiteY0" fmla="*/ 330221 h 330221"/>
                <a:gd name="connsiteX1" fmla="*/ 278041 w 278041"/>
                <a:gd name="connsiteY1" fmla="*/ 21 h 330221"/>
                <a:gd name="connsiteX0" fmla="*/ 0 w 277284"/>
                <a:gd name="connsiteY0" fmla="*/ 330221 h 330221"/>
                <a:gd name="connsiteX1" fmla="*/ 277284 w 277284"/>
                <a:gd name="connsiteY1" fmla="*/ 21 h 330221"/>
                <a:gd name="connsiteX0" fmla="*/ 0 w 294217"/>
                <a:gd name="connsiteY0" fmla="*/ 330221 h 330221"/>
                <a:gd name="connsiteX1" fmla="*/ 294217 w 294217"/>
                <a:gd name="connsiteY1" fmla="*/ 21 h 330221"/>
                <a:gd name="connsiteX0" fmla="*/ 0 w 469900"/>
                <a:gd name="connsiteY0" fmla="*/ 410647 h 410647"/>
                <a:gd name="connsiteX1" fmla="*/ 469900 w 469900"/>
                <a:gd name="connsiteY1" fmla="*/ 14 h 410647"/>
                <a:gd name="connsiteX0" fmla="*/ 0 w 469900"/>
                <a:gd name="connsiteY0" fmla="*/ 410633 h 410633"/>
                <a:gd name="connsiteX1" fmla="*/ 469900 w 469900"/>
                <a:gd name="connsiteY1" fmla="*/ 0 h 410633"/>
                <a:gd name="connsiteX0" fmla="*/ 0 w 383117"/>
                <a:gd name="connsiteY0" fmla="*/ 355599 h 355599"/>
                <a:gd name="connsiteX1" fmla="*/ 383117 w 383117"/>
                <a:gd name="connsiteY1" fmla="*/ 0 h 355599"/>
              </a:gdLst>
              <a:ahLst/>
              <a:cxnLst>
                <a:cxn ang="0">
                  <a:pos x="connsiteX0" y="connsiteY0"/>
                </a:cxn>
                <a:cxn ang="0">
                  <a:pos x="connsiteX1" y="connsiteY1"/>
                </a:cxn>
              </a:cxnLst>
              <a:rect l="l" t="t" r="r" b="b"/>
              <a:pathLst>
                <a:path w="383117" h="355599">
                  <a:moveTo>
                    <a:pt x="0" y="355599"/>
                  </a:moveTo>
                  <a:cubicBezTo>
                    <a:pt x="31045" y="177798"/>
                    <a:pt x="-16227" y="63501"/>
                    <a:pt x="383117" y="0"/>
                  </a:cubicBezTo>
                </a:path>
              </a:pathLst>
            </a:custGeom>
            <a:noFill/>
            <a:ln w="28575">
              <a:solidFill>
                <a:schemeClr val="accent4">
                  <a:lumMod val="60000"/>
                  <a:lumOff val="4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Freeform: Shape 34">
              <a:extLst>
                <a:ext uri="{FF2B5EF4-FFF2-40B4-BE49-F238E27FC236}">
                  <a16:creationId xmlns:a16="http://schemas.microsoft.com/office/drawing/2014/main" id="{0D9089C6-9634-404F-87AA-364D3017A1FA}"/>
                </a:ext>
              </a:extLst>
            </p:cNvPr>
            <p:cNvSpPr/>
            <p:nvPr/>
          </p:nvSpPr>
          <p:spPr>
            <a:xfrm>
              <a:off x="6949843" y="2474606"/>
              <a:ext cx="478366" cy="675217"/>
            </a:xfrm>
            <a:custGeom>
              <a:avLst/>
              <a:gdLst>
                <a:gd name="connsiteX0" fmla="*/ 0 w 277284"/>
                <a:gd name="connsiteY0" fmla="*/ 330200 h 330200"/>
                <a:gd name="connsiteX1" fmla="*/ 277284 w 277284"/>
                <a:gd name="connsiteY1" fmla="*/ 0 h 330200"/>
                <a:gd name="connsiteX0" fmla="*/ 0 w 277284"/>
                <a:gd name="connsiteY0" fmla="*/ 330215 h 330215"/>
                <a:gd name="connsiteX1" fmla="*/ 277284 w 277284"/>
                <a:gd name="connsiteY1" fmla="*/ 15 h 330215"/>
                <a:gd name="connsiteX0" fmla="*/ 757 w 278041"/>
                <a:gd name="connsiteY0" fmla="*/ 330221 h 330221"/>
                <a:gd name="connsiteX1" fmla="*/ 278041 w 278041"/>
                <a:gd name="connsiteY1" fmla="*/ 21 h 330221"/>
                <a:gd name="connsiteX0" fmla="*/ 0 w 277284"/>
                <a:gd name="connsiteY0" fmla="*/ 330221 h 330221"/>
                <a:gd name="connsiteX1" fmla="*/ 277284 w 277284"/>
                <a:gd name="connsiteY1" fmla="*/ 21 h 330221"/>
                <a:gd name="connsiteX0" fmla="*/ 0 w 294217"/>
                <a:gd name="connsiteY0" fmla="*/ 330221 h 330221"/>
                <a:gd name="connsiteX1" fmla="*/ 294217 w 294217"/>
                <a:gd name="connsiteY1" fmla="*/ 21 h 330221"/>
                <a:gd name="connsiteX0" fmla="*/ 0 w 332317"/>
                <a:gd name="connsiteY0" fmla="*/ 624423 h 624423"/>
                <a:gd name="connsiteX1" fmla="*/ 332317 w 332317"/>
                <a:gd name="connsiteY1" fmla="*/ 7 h 624423"/>
                <a:gd name="connsiteX0" fmla="*/ 0 w 332317"/>
                <a:gd name="connsiteY0" fmla="*/ 624416 h 624416"/>
                <a:gd name="connsiteX1" fmla="*/ 332317 w 332317"/>
                <a:gd name="connsiteY1" fmla="*/ 0 h 624416"/>
                <a:gd name="connsiteX0" fmla="*/ 0 w 482600"/>
                <a:gd name="connsiteY0" fmla="*/ 736600 h 736600"/>
                <a:gd name="connsiteX1" fmla="*/ 482600 w 482600"/>
                <a:gd name="connsiteY1" fmla="*/ 0 h 736600"/>
                <a:gd name="connsiteX0" fmla="*/ 0 w 482600"/>
                <a:gd name="connsiteY0" fmla="*/ 736600 h 736600"/>
                <a:gd name="connsiteX1" fmla="*/ 482600 w 482600"/>
                <a:gd name="connsiteY1" fmla="*/ 0 h 736600"/>
                <a:gd name="connsiteX0" fmla="*/ 0 w 478366"/>
                <a:gd name="connsiteY0" fmla="*/ 675217 h 675217"/>
                <a:gd name="connsiteX1" fmla="*/ 478366 w 478366"/>
                <a:gd name="connsiteY1" fmla="*/ 0 h 675217"/>
                <a:gd name="connsiteX0" fmla="*/ 0 w 478366"/>
                <a:gd name="connsiteY0" fmla="*/ 675217 h 675217"/>
                <a:gd name="connsiteX1" fmla="*/ 478366 w 478366"/>
                <a:gd name="connsiteY1" fmla="*/ 0 h 675217"/>
              </a:gdLst>
              <a:ahLst/>
              <a:cxnLst>
                <a:cxn ang="0">
                  <a:pos x="connsiteX0" y="connsiteY0"/>
                </a:cxn>
                <a:cxn ang="0">
                  <a:pos x="connsiteX1" y="connsiteY1"/>
                </a:cxn>
              </a:cxnLst>
              <a:rect l="l" t="t" r="r" b="b"/>
              <a:pathLst>
                <a:path w="478366" h="675217">
                  <a:moveTo>
                    <a:pt x="0" y="675217"/>
                  </a:moveTo>
                  <a:cubicBezTo>
                    <a:pt x="31045" y="497416"/>
                    <a:pt x="-60679" y="167218"/>
                    <a:pt x="478366" y="0"/>
                  </a:cubicBezTo>
                </a:path>
              </a:pathLst>
            </a:custGeom>
            <a:noFill/>
            <a:ln w="28575">
              <a:solidFill>
                <a:schemeClr val="accent4">
                  <a:lumMod val="60000"/>
                  <a:lumOff val="4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Freeform: Shape 35">
              <a:extLst>
                <a:ext uri="{FF2B5EF4-FFF2-40B4-BE49-F238E27FC236}">
                  <a16:creationId xmlns:a16="http://schemas.microsoft.com/office/drawing/2014/main" id="{4333E934-29F5-4428-AB51-1E56CBEBBF55}"/>
                </a:ext>
              </a:extLst>
            </p:cNvPr>
            <p:cNvSpPr/>
            <p:nvPr/>
          </p:nvSpPr>
          <p:spPr>
            <a:xfrm flipH="1">
              <a:off x="6573077" y="2608179"/>
              <a:ext cx="391713" cy="539751"/>
            </a:xfrm>
            <a:custGeom>
              <a:avLst/>
              <a:gdLst>
                <a:gd name="connsiteX0" fmla="*/ 0 w 277284"/>
                <a:gd name="connsiteY0" fmla="*/ 330200 h 330200"/>
                <a:gd name="connsiteX1" fmla="*/ 277284 w 277284"/>
                <a:gd name="connsiteY1" fmla="*/ 0 h 330200"/>
                <a:gd name="connsiteX0" fmla="*/ 0 w 277284"/>
                <a:gd name="connsiteY0" fmla="*/ 330215 h 330215"/>
                <a:gd name="connsiteX1" fmla="*/ 277284 w 277284"/>
                <a:gd name="connsiteY1" fmla="*/ 15 h 330215"/>
                <a:gd name="connsiteX0" fmla="*/ 757 w 278041"/>
                <a:gd name="connsiteY0" fmla="*/ 330221 h 330221"/>
                <a:gd name="connsiteX1" fmla="*/ 278041 w 278041"/>
                <a:gd name="connsiteY1" fmla="*/ 21 h 330221"/>
                <a:gd name="connsiteX0" fmla="*/ 0 w 277284"/>
                <a:gd name="connsiteY0" fmla="*/ 330221 h 330221"/>
                <a:gd name="connsiteX1" fmla="*/ 277284 w 277284"/>
                <a:gd name="connsiteY1" fmla="*/ 21 h 330221"/>
                <a:gd name="connsiteX0" fmla="*/ 0 w 294217"/>
                <a:gd name="connsiteY0" fmla="*/ 330221 h 330221"/>
                <a:gd name="connsiteX1" fmla="*/ 294217 w 294217"/>
                <a:gd name="connsiteY1" fmla="*/ 21 h 330221"/>
                <a:gd name="connsiteX0" fmla="*/ 0 w 332317"/>
                <a:gd name="connsiteY0" fmla="*/ 624423 h 624423"/>
                <a:gd name="connsiteX1" fmla="*/ 332317 w 332317"/>
                <a:gd name="connsiteY1" fmla="*/ 7 h 624423"/>
                <a:gd name="connsiteX0" fmla="*/ 0 w 332317"/>
                <a:gd name="connsiteY0" fmla="*/ 624416 h 624416"/>
                <a:gd name="connsiteX1" fmla="*/ 332317 w 332317"/>
                <a:gd name="connsiteY1" fmla="*/ 0 h 624416"/>
                <a:gd name="connsiteX0" fmla="*/ 0 w 482600"/>
                <a:gd name="connsiteY0" fmla="*/ 736600 h 736600"/>
                <a:gd name="connsiteX1" fmla="*/ 482600 w 482600"/>
                <a:gd name="connsiteY1" fmla="*/ 0 h 736600"/>
                <a:gd name="connsiteX0" fmla="*/ 0 w 482600"/>
                <a:gd name="connsiteY0" fmla="*/ 736600 h 736600"/>
                <a:gd name="connsiteX1" fmla="*/ 482600 w 482600"/>
                <a:gd name="connsiteY1" fmla="*/ 0 h 736600"/>
                <a:gd name="connsiteX0" fmla="*/ 0 w 478366"/>
                <a:gd name="connsiteY0" fmla="*/ 675217 h 675217"/>
                <a:gd name="connsiteX1" fmla="*/ 478366 w 478366"/>
                <a:gd name="connsiteY1" fmla="*/ 0 h 675217"/>
                <a:gd name="connsiteX0" fmla="*/ 0 w 478366"/>
                <a:gd name="connsiteY0" fmla="*/ 675217 h 675217"/>
                <a:gd name="connsiteX1" fmla="*/ 478366 w 478366"/>
                <a:gd name="connsiteY1" fmla="*/ 0 h 675217"/>
                <a:gd name="connsiteX0" fmla="*/ 9316 w 386082"/>
                <a:gd name="connsiteY0" fmla="*/ 539751 h 539751"/>
                <a:gd name="connsiteX1" fmla="*/ 386082 w 386082"/>
                <a:gd name="connsiteY1" fmla="*/ 0 h 539751"/>
                <a:gd name="connsiteX0" fmla="*/ 12267 w 389033"/>
                <a:gd name="connsiteY0" fmla="*/ 539751 h 539751"/>
                <a:gd name="connsiteX1" fmla="*/ 389033 w 389033"/>
                <a:gd name="connsiteY1" fmla="*/ 0 h 539751"/>
                <a:gd name="connsiteX0" fmla="*/ 32558 w 409324"/>
                <a:gd name="connsiteY0" fmla="*/ 539751 h 539751"/>
                <a:gd name="connsiteX1" fmla="*/ 409324 w 409324"/>
                <a:gd name="connsiteY1" fmla="*/ 0 h 539751"/>
                <a:gd name="connsiteX0" fmla="*/ 14947 w 391713"/>
                <a:gd name="connsiteY0" fmla="*/ 539751 h 539751"/>
                <a:gd name="connsiteX1" fmla="*/ 391713 w 391713"/>
                <a:gd name="connsiteY1" fmla="*/ 0 h 539751"/>
              </a:gdLst>
              <a:ahLst/>
              <a:cxnLst>
                <a:cxn ang="0">
                  <a:pos x="connsiteX0" y="connsiteY0"/>
                </a:cxn>
                <a:cxn ang="0">
                  <a:pos x="connsiteX1" y="connsiteY1"/>
                </a:cxn>
              </a:cxnLst>
              <a:rect l="l" t="t" r="r" b="b"/>
              <a:pathLst>
                <a:path w="391713" h="539751">
                  <a:moveTo>
                    <a:pt x="14947" y="539751"/>
                  </a:moveTo>
                  <a:cubicBezTo>
                    <a:pt x="-575" y="355600"/>
                    <a:pt x="-81715" y="175684"/>
                    <a:pt x="391713" y="0"/>
                  </a:cubicBezTo>
                </a:path>
              </a:pathLst>
            </a:custGeom>
            <a:noFill/>
            <a:ln w="28575">
              <a:solidFill>
                <a:schemeClr val="accent4">
                  <a:lumMod val="60000"/>
                  <a:lumOff val="4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Freeform: Shape 36">
              <a:extLst>
                <a:ext uri="{FF2B5EF4-FFF2-40B4-BE49-F238E27FC236}">
                  <a16:creationId xmlns:a16="http://schemas.microsoft.com/office/drawing/2014/main" id="{607FAE10-A9C0-4E7B-9398-E3223F51D6A8}"/>
                </a:ext>
              </a:extLst>
            </p:cNvPr>
            <p:cNvSpPr/>
            <p:nvPr/>
          </p:nvSpPr>
          <p:spPr>
            <a:xfrm flipH="1">
              <a:off x="6590140" y="2807366"/>
              <a:ext cx="366932" cy="340563"/>
            </a:xfrm>
            <a:custGeom>
              <a:avLst/>
              <a:gdLst>
                <a:gd name="connsiteX0" fmla="*/ 0 w 277284"/>
                <a:gd name="connsiteY0" fmla="*/ 330200 h 330200"/>
                <a:gd name="connsiteX1" fmla="*/ 277284 w 277284"/>
                <a:gd name="connsiteY1" fmla="*/ 0 h 330200"/>
                <a:gd name="connsiteX0" fmla="*/ 0 w 277284"/>
                <a:gd name="connsiteY0" fmla="*/ 330215 h 330215"/>
                <a:gd name="connsiteX1" fmla="*/ 277284 w 277284"/>
                <a:gd name="connsiteY1" fmla="*/ 15 h 330215"/>
                <a:gd name="connsiteX0" fmla="*/ 757 w 278041"/>
                <a:gd name="connsiteY0" fmla="*/ 330221 h 330221"/>
                <a:gd name="connsiteX1" fmla="*/ 278041 w 278041"/>
                <a:gd name="connsiteY1" fmla="*/ 21 h 330221"/>
                <a:gd name="connsiteX0" fmla="*/ 0 w 277284"/>
                <a:gd name="connsiteY0" fmla="*/ 330221 h 330221"/>
                <a:gd name="connsiteX1" fmla="*/ 277284 w 277284"/>
                <a:gd name="connsiteY1" fmla="*/ 21 h 330221"/>
                <a:gd name="connsiteX0" fmla="*/ 0 w 294217"/>
                <a:gd name="connsiteY0" fmla="*/ 330221 h 330221"/>
                <a:gd name="connsiteX1" fmla="*/ 294217 w 294217"/>
                <a:gd name="connsiteY1" fmla="*/ 21 h 330221"/>
                <a:gd name="connsiteX0" fmla="*/ 0 w 332317"/>
                <a:gd name="connsiteY0" fmla="*/ 624423 h 624423"/>
                <a:gd name="connsiteX1" fmla="*/ 332317 w 332317"/>
                <a:gd name="connsiteY1" fmla="*/ 7 h 624423"/>
                <a:gd name="connsiteX0" fmla="*/ 0 w 332317"/>
                <a:gd name="connsiteY0" fmla="*/ 624416 h 624416"/>
                <a:gd name="connsiteX1" fmla="*/ 332317 w 332317"/>
                <a:gd name="connsiteY1" fmla="*/ 0 h 624416"/>
                <a:gd name="connsiteX0" fmla="*/ 0 w 482600"/>
                <a:gd name="connsiteY0" fmla="*/ 736600 h 736600"/>
                <a:gd name="connsiteX1" fmla="*/ 482600 w 482600"/>
                <a:gd name="connsiteY1" fmla="*/ 0 h 736600"/>
                <a:gd name="connsiteX0" fmla="*/ 0 w 482600"/>
                <a:gd name="connsiteY0" fmla="*/ 736600 h 736600"/>
                <a:gd name="connsiteX1" fmla="*/ 482600 w 482600"/>
                <a:gd name="connsiteY1" fmla="*/ 0 h 736600"/>
                <a:gd name="connsiteX0" fmla="*/ 0 w 478366"/>
                <a:gd name="connsiteY0" fmla="*/ 675217 h 675217"/>
                <a:gd name="connsiteX1" fmla="*/ 478366 w 478366"/>
                <a:gd name="connsiteY1" fmla="*/ 0 h 675217"/>
                <a:gd name="connsiteX0" fmla="*/ 0 w 478366"/>
                <a:gd name="connsiteY0" fmla="*/ 675217 h 675217"/>
                <a:gd name="connsiteX1" fmla="*/ 478366 w 478366"/>
                <a:gd name="connsiteY1" fmla="*/ 0 h 675217"/>
                <a:gd name="connsiteX0" fmla="*/ 9316 w 386082"/>
                <a:gd name="connsiteY0" fmla="*/ 539751 h 539751"/>
                <a:gd name="connsiteX1" fmla="*/ 386082 w 386082"/>
                <a:gd name="connsiteY1" fmla="*/ 0 h 539751"/>
                <a:gd name="connsiteX0" fmla="*/ 12267 w 389033"/>
                <a:gd name="connsiteY0" fmla="*/ 539751 h 539751"/>
                <a:gd name="connsiteX1" fmla="*/ 389033 w 389033"/>
                <a:gd name="connsiteY1" fmla="*/ 0 h 539751"/>
                <a:gd name="connsiteX0" fmla="*/ 32558 w 409324"/>
                <a:gd name="connsiteY0" fmla="*/ 539751 h 539751"/>
                <a:gd name="connsiteX1" fmla="*/ 409324 w 409324"/>
                <a:gd name="connsiteY1" fmla="*/ 0 h 539751"/>
                <a:gd name="connsiteX0" fmla="*/ 14947 w 391713"/>
                <a:gd name="connsiteY0" fmla="*/ 539751 h 539751"/>
                <a:gd name="connsiteX1" fmla="*/ 391713 w 391713"/>
                <a:gd name="connsiteY1" fmla="*/ 0 h 539751"/>
                <a:gd name="connsiteX0" fmla="*/ 19371 w 377087"/>
                <a:gd name="connsiteY0" fmla="*/ 188384 h 188384"/>
                <a:gd name="connsiteX1" fmla="*/ 377087 w 377087"/>
                <a:gd name="connsiteY1" fmla="*/ 0 h 188384"/>
                <a:gd name="connsiteX0" fmla="*/ 1487 w 359203"/>
                <a:gd name="connsiteY0" fmla="*/ 301979 h 301979"/>
                <a:gd name="connsiteX1" fmla="*/ 359203 w 359203"/>
                <a:gd name="connsiteY1" fmla="*/ 113595 h 301979"/>
                <a:gd name="connsiteX0" fmla="*/ 9216 w 366932"/>
                <a:gd name="connsiteY0" fmla="*/ 340563 h 340563"/>
                <a:gd name="connsiteX1" fmla="*/ 366932 w 366932"/>
                <a:gd name="connsiteY1" fmla="*/ 152179 h 340563"/>
              </a:gdLst>
              <a:ahLst/>
              <a:cxnLst>
                <a:cxn ang="0">
                  <a:pos x="connsiteX0" y="connsiteY0"/>
                </a:cxn>
                <a:cxn ang="0">
                  <a:pos x="connsiteX1" y="connsiteY1"/>
                </a:cxn>
              </a:cxnLst>
              <a:rect l="l" t="t" r="r" b="b"/>
              <a:pathLst>
                <a:path w="366932" h="340563">
                  <a:moveTo>
                    <a:pt x="9216" y="340563"/>
                  </a:moveTo>
                  <a:cubicBezTo>
                    <a:pt x="-38056" y="-10805"/>
                    <a:pt x="98821" y="-118754"/>
                    <a:pt x="366932" y="152179"/>
                  </a:cubicBezTo>
                </a:path>
              </a:pathLst>
            </a:custGeom>
            <a:noFill/>
            <a:ln w="28575">
              <a:solidFill>
                <a:schemeClr val="accent4">
                  <a:lumMod val="60000"/>
                  <a:lumOff val="4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Arrow Connector 38">
              <a:extLst>
                <a:ext uri="{FF2B5EF4-FFF2-40B4-BE49-F238E27FC236}">
                  <a16:creationId xmlns:a16="http://schemas.microsoft.com/office/drawing/2014/main" id="{DA328DFE-45F9-4763-B909-AA9A2CC2FE97}"/>
                </a:ext>
              </a:extLst>
            </p:cNvPr>
            <p:cNvCxnSpPr>
              <a:stCxn id="35" idx="0"/>
            </p:cNvCxnSpPr>
            <p:nvPr/>
          </p:nvCxnSpPr>
          <p:spPr>
            <a:xfrm flipV="1">
              <a:off x="6949843" y="2358915"/>
              <a:ext cx="14947" cy="790908"/>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41" name="Content Placeholder 2">
            <a:extLst>
              <a:ext uri="{FF2B5EF4-FFF2-40B4-BE49-F238E27FC236}">
                <a16:creationId xmlns:a16="http://schemas.microsoft.com/office/drawing/2014/main" id="{C48475D5-B5DA-4AD3-AF65-DBAE95FD2E4E}"/>
              </a:ext>
            </a:extLst>
          </p:cNvPr>
          <p:cNvSpPr txBox="1">
            <a:spLocks/>
          </p:cNvSpPr>
          <p:nvPr/>
        </p:nvSpPr>
        <p:spPr>
          <a:xfrm>
            <a:off x="289045" y="1254642"/>
            <a:ext cx="4903463" cy="53218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Courier New" panose="02070309020205020404" pitchFamily="49" charset="0"/>
              <a:buChar char="o"/>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Courier New" panose="02070309020205020404" pitchFamily="49" charset="0"/>
              <a:buChar char="o"/>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Courier New" panose="02070309020205020404" pitchFamily="49" charset="0"/>
              <a:buChar char="o"/>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t>Starting from the </a:t>
            </a:r>
            <a:r>
              <a:rPr lang="en-GB" sz="1600" b="1" dirty="0"/>
              <a:t>AIS</a:t>
            </a:r>
            <a:r>
              <a:rPr lang="en-GB" sz="1600" dirty="0"/>
              <a:t>, a </a:t>
            </a:r>
            <a:r>
              <a:rPr lang="en-GB" sz="1600" dirty="0" err="1"/>
              <a:t>bAP</a:t>
            </a:r>
            <a:r>
              <a:rPr lang="en-GB" sz="1600" dirty="0"/>
              <a:t> can travel back along the </a:t>
            </a:r>
            <a:r>
              <a:rPr lang="en-GB" sz="1600" b="1" dirty="0"/>
              <a:t>dendrites</a:t>
            </a:r>
          </a:p>
          <a:p>
            <a:pPr lvl="1"/>
            <a:r>
              <a:rPr lang="en-GB" sz="1400" dirty="0"/>
              <a:t>Can </a:t>
            </a:r>
            <a:r>
              <a:rPr lang="en-GB" sz="1400" b="1" dirty="0"/>
              <a:t>amplify PSPs</a:t>
            </a:r>
            <a:r>
              <a:rPr lang="en-GB" sz="1400" dirty="0"/>
              <a:t>, by promoting dendritic depolarization</a:t>
            </a:r>
            <a:endParaRPr lang="en-GB" sz="1400" b="1" dirty="0"/>
          </a:p>
          <a:p>
            <a:pPr lvl="1"/>
            <a:r>
              <a:rPr lang="en-GB" sz="1400" dirty="0"/>
              <a:t>Can promote Ca</a:t>
            </a:r>
            <a:r>
              <a:rPr lang="en-GB" sz="1400" baseline="30000" dirty="0"/>
              <a:t>2+</a:t>
            </a:r>
            <a:r>
              <a:rPr lang="en-GB" sz="1400" dirty="0"/>
              <a:t> current through </a:t>
            </a:r>
            <a:r>
              <a:rPr lang="en-GB" sz="1400" b="1" dirty="0"/>
              <a:t>NMDAR</a:t>
            </a:r>
            <a:r>
              <a:rPr lang="en-GB" sz="1400" dirty="0"/>
              <a:t>, by depolarizing the synaptic spines</a:t>
            </a:r>
          </a:p>
          <a:p>
            <a:endParaRPr lang="en-GB" sz="1600" dirty="0"/>
          </a:p>
          <a:p>
            <a:r>
              <a:rPr lang="en-GB" sz="1600" b="1" dirty="0" err="1">
                <a:solidFill>
                  <a:schemeClr val="bg1">
                    <a:lumMod val="85000"/>
                  </a:schemeClr>
                </a:solidFill>
              </a:rPr>
              <a:t>bAPs</a:t>
            </a:r>
            <a:r>
              <a:rPr lang="en-GB" sz="1600" dirty="0">
                <a:solidFill>
                  <a:schemeClr val="bg1">
                    <a:lumMod val="85000"/>
                  </a:schemeClr>
                </a:solidFill>
              </a:rPr>
              <a:t> can induce </a:t>
            </a:r>
            <a:r>
              <a:rPr lang="en-GB" sz="1600" b="1" dirty="0">
                <a:solidFill>
                  <a:schemeClr val="bg1">
                    <a:lumMod val="85000"/>
                  </a:schemeClr>
                </a:solidFill>
              </a:rPr>
              <a:t>Spike Timing-Dependent Plasticity (STDP</a:t>
            </a:r>
            <a:r>
              <a:rPr lang="en-GB" sz="1600" dirty="0">
                <a:solidFill>
                  <a:schemeClr val="bg1">
                    <a:lumMod val="85000"/>
                  </a:schemeClr>
                </a:solidFill>
              </a:rPr>
              <a:t>):</a:t>
            </a:r>
          </a:p>
          <a:p>
            <a:pPr lvl="1"/>
            <a:r>
              <a:rPr lang="en-GB" sz="1400" b="1" dirty="0">
                <a:solidFill>
                  <a:schemeClr val="bg1">
                    <a:lumMod val="85000"/>
                  </a:schemeClr>
                </a:solidFill>
              </a:rPr>
              <a:t>PSP </a:t>
            </a:r>
            <a:r>
              <a:rPr lang="en-GB" sz="1400" dirty="0">
                <a:solidFill>
                  <a:schemeClr val="bg1">
                    <a:lumMod val="85000"/>
                  </a:schemeClr>
                </a:solidFill>
              </a:rPr>
              <a:t>before </a:t>
            </a:r>
            <a:r>
              <a:rPr lang="en-GB" sz="1400" b="1" dirty="0" err="1">
                <a:solidFill>
                  <a:schemeClr val="bg1">
                    <a:lumMod val="85000"/>
                  </a:schemeClr>
                </a:solidFill>
              </a:rPr>
              <a:t>bAP</a:t>
            </a:r>
            <a:r>
              <a:rPr lang="en-GB" sz="1400" b="1" dirty="0">
                <a:solidFill>
                  <a:schemeClr val="bg1">
                    <a:lumMod val="85000"/>
                  </a:schemeClr>
                </a:solidFill>
              </a:rPr>
              <a:t> </a:t>
            </a:r>
            <a:r>
              <a:rPr lang="en-GB" sz="1400" dirty="0">
                <a:solidFill>
                  <a:schemeClr val="bg1">
                    <a:lumMod val="85000"/>
                  </a:schemeClr>
                </a:solidFill>
                <a:sym typeface="Wingdings" panose="05000000000000000000" pitchFamily="2" charset="2"/>
              </a:rPr>
              <a:t></a:t>
            </a:r>
            <a:r>
              <a:rPr lang="en-GB" sz="1400" dirty="0">
                <a:solidFill>
                  <a:schemeClr val="bg1">
                    <a:lumMod val="85000"/>
                  </a:schemeClr>
                </a:solidFill>
              </a:rPr>
              <a:t> </a:t>
            </a:r>
            <a:r>
              <a:rPr lang="en-GB" sz="1400" b="1" dirty="0">
                <a:solidFill>
                  <a:schemeClr val="bg1">
                    <a:lumMod val="85000"/>
                  </a:schemeClr>
                </a:solidFill>
              </a:rPr>
              <a:t>LTP</a:t>
            </a:r>
          </a:p>
          <a:p>
            <a:pPr lvl="1"/>
            <a:r>
              <a:rPr lang="en-GB" sz="1400" b="1" dirty="0" err="1">
                <a:solidFill>
                  <a:schemeClr val="bg1">
                    <a:lumMod val="85000"/>
                  </a:schemeClr>
                </a:solidFill>
              </a:rPr>
              <a:t>bAP</a:t>
            </a:r>
            <a:r>
              <a:rPr lang="en-GB" sz="1400" b="1" dirty="0">
                <a:solidFill>
                  <a:schemeClr val="bg1">
                    <a:lumMod val="85000"/>
                  </a:schemeClr>
                </a:solidFill>
              </a:rPr>
              <a:t> </a:t>
            </a:r>
            <a:r>
              <a:rPr lang="en-GB" sz="1400" dirty="0">
                <a:solidFill>
                  <a:schemeClr val="bg1">
                    <a:lumMod val="85000"/>
                  </a:schemeClr>
                </a:solidFill>
              </a:rPr>
              <a:t>before </a:t>
            </a:r>
            <a:r>
              <a:rPr lang="en-GB" sz="1400" b="1" dirty="0">
                <a:solidFill>
                  <a:schemeClr val="bg1">
                    <a:lumMod val="85000"/>
                  </a:schemeClr>
                </a:solidFill>
              </a:rPr>
              <a:t>PSP </a:t>
            </a:r>
            <a:r>
              <a:rPr lang="en-GB" sz="1400" dirty="0">
                <a:solidFill>
                  <a:schemeClr val="bg1">
                    <a:lumMod val="85000"/>
                  </a:schemeClr>
                </a:solidFill>
                <a:sym typeface="Wingdings" panose="05000000000000000000" pitchFamily="2" charset="2"/>
              </a:rPr>
              <a:t></a:t>
            </a:r>
            <a:r>
              <a:rPr lang="en-GB" sz="1400" dirty="0">
                <a:solidFill>
                  <a:schemeClr val="bg1">
                    <a:lumMod val="85000"/>
                  </a:schemeClr>
                </a:solidFill>
              </a:rPr>
              <a:t> </a:t>
            </a:r>
            <a:r>
              <a:rPr lang="en-GB" sz="1400" b="1" dirty="0">
                <a:solidFill>
                  <a:schemeClr val="bg1">
                    <a:lumMod val="85000"/>
                  </a:schemeClr>
                </a:solidFill>
              </a:rPr>
              <a:t>LTD</a:t>
            </a:r>
          </a:p>
          <a:p>
            <a:pPr lvl="1"/>
            <a:r>
              <a:rPr lang="en-GB" sz="1400" dirty="0">
                <a:solidFill>
                  <a:schemeClr val="bg1">
                    <a:lumMod val="85000"/>
                  </a:schemeClr>
                </a:solidFill>
              </a:rPr>
              <a:t>The </a:t>
            </a:r>
            <a:r>
              <a:rPr lang="en-GB" sz="1400" b="1" dirty="0">
                <a:solidFill>
                  <a:schemeClr val="bg1">
                    <a:lumMod val="85000"/>
                  </a:schemeClr>
                </a:solidFill>
              </a:rPr>
              <a:t>timing</a:t>
            </a:r>
            <a:r>
              <a:rPr lang="en-GB" sz="1400" dirty="0">
                <a:solidFill>
                  <a:schemeClr val="bg1">
                    <a:lumMod val="85000"/>
                  </a:schemeClr>
                </a:solidFill>
              </a:rPr>
              <a:t> between these two events is essential (+/- 50 ms)</a:t>
            </a:r>
          </a:p>
        </p:txBody>
      </p:sp>
      <p:grpSp>
        <p:nvGrpSpPr>
          <p:cNvPr id="63" name="Group 62">
            <a:extLst>
              <a:ext uri="{FF2B5EF4-FFF2-40B4-BE49-F238E27FC236}">
                <a16:creationId xmlns:a16="http://schemas.microsoft.com/office/drawing/2014/main" id="{2EC4F244-17A9-47A7-9B8D-2D18656B0FAD}"/>
              </a:ext>
            </a:extLst>
          </p:cNvPr>
          <p:cNvGrpSpPr/>
          <p:nvPr/>
        </p:nvGrpSpPr>
        <p:grpSpPr>
          <a:xfrm>
            <a:off x="2741614" y="4420055"/>
            <a:ext cx="3747231" cy="2134187"/>
            <a:chOff x="1217613" y="4420054"/>
            <a:chExt cx="3747231" cy="2134187"/>
          </a:xfrm>
        </p:grpSpPr>
        <p:cxnSp>
          <p:nvCxnSpPr>
            <p:cNvPr id="43" name="Straight Connector 42">
              <a:extLst>
                <a:ext uri="{FF2B5EF4-FFF2-40B4-BE49-F238E27FC236}">
                  <a16:creationId xmlns:a16="http://schemas.microsoft.com/office/drawing/2014/main" id="{FFC2976C-016B-481D-9E1B-26621D412464}"/>
                </a:ext>
              </a:extLst>
            </p:cNvPr>
            <p:cNvCxnSpPr>
              <a:cxnSpLocks/>
            </p:cNvCxnSpPr>
            <p:nvPr/>
          </p:nvCxnSpPr>
          <p:spPr>
            <a:xfrm>
              <a:off x="1965685" y="5315758"/>
              <a:ext cx="1902090" cy="0"/>
            </a:xfrm>
            <a:prstGeom prst="line">
              <a:avLst/>
            </a:prstGeom>
            <a:ln w="12700">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BE2E9C02-389B-48D3-B581-0C8F16214C54}"/>
                </a:ext>
              </a:extLst>
            </p:cNvPr>
            <p:cNvCxnSpPr>
              <a:cxnSpLocks/>
            </p:cNvCxnSpPr>
            <p:nvPr/>
          </p:nvCxnSpPr>
          <p:spPr>
            <a:xfrm flipV="1">
              <a:off x="2880084" y="4420054"/>
              <a:ext cx="0" cy="1793898"/>
            </a:xfrm>
            <a:prstGeom prst="line">
              <a:avLst/>
            </a:prstGeom>
            <a:ln w="12700">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49" name="Freeform: Shape 48">
              <a:extLst>
                <a:ext uri="{FF2B5EF4-FFF2-40B4-BE49-F238E27FC236}">
                  <a16:creationId xmlns:a16="http://schemas.microsoft.com/office/drawing/2014/main" id="{959CF3E2-A107-4051-B50A-F54C766D4620}"/>
                </a:ext>
              </a:extLst>
            </p:cNvPr>
            <p:cNvSpPr/>
            <p:nvPr/>
          </p:nvSpPr>
          <p:spPr>
            <a:xfrm>
              <a:off x="2911495" y="4601537"/>
              <a:ext cx="684055" cy="663114"/>
            </a:xfrm>
            <a:custGeom>
              <a:avLst/>
              <a:gdLst>
                <a:gd name="connsiteX0" fmla="*/ 0 w 684055"/>
                <a:gd name="connsiteY0" fmla="*/ 0 h 663114"/>
                <a:gd name="connsiteX1" fmla="*/ 684055 w 684055"/>
                <a:gd name="connsiteY1" fmla="*/ 663114 h 663114"/>
                <a:gd name="connsiteX0" fmla="*/ 0 w 684055"/>
                <a:gd name="connsiteY0" fmla="*/ 0 h 663114"/>
                <a:gd name="connsiteX1" fmla="*/ 684055 w 684055"/>
                <a:gd name="connsiteY1" fmla="*/ 663114 h 663114"/>
                <a:gd name="connsiteX0" fmla="*/ 0 w 684055"/>
                <a:gd name="connsiteY0" fmla="*/ 0 h 663114"/>
                <a:gd name="connsiteX1" fmla="*/ 684055 w 684055"/>
                <a:gd name="connsiteY1" fmla="*/ 663114 h 663114"/>
                <a:gd name="connsiteX0" fmla="*/ 0 w 684055"/>
                <a:gd name="connsiteY0" fmla="*/ 0 h 663114"/>
                <a:gd name="connsiteX1" fmla="*/ 684055 w 684055"/>
                <a:gd name="connsiteY1" fmla="*/ 663114 h 663114"/>
                <a:gd name="connsiteX0" fmla="*/ 0 w 684055"/>
                <a:gd name="connsiteY0" fmla="*/ 0 h 663114"/>
                <a:gd name="connsiteX1" fmla="*/ 684055 w 684055"/>
                <a:gd name="connsiteY1" fmla="*/ 663114 h 663114"/>
              </a:gdLst>
              <a:ahLst/>
              <a:cxnLst>
                <a:cxn ang="0">
                  <a:pos x="connsiteX0" y="connsiteY0"/>
                </a:cxn>
                <a:cxn ang="0">
                  <a:pos x="connsiteX1" y="connsiteY1"/>
                </a:cxn>
              </a:cxnLst>
              <a:rect l="l" t="t" r="r" b="b"/>
              <a:pathLst>
                <a:path w="684055" h="663114">
                  <a:moveTo>
                    <a:pt x="0" y="0"/>
                  </a:moveTo>
                  <a:cubicBezTo>
                    <a:pt x="3652" y="502555"/>
                    <a:pt x="108903" y="653743"/>
                    <a:pt x="684055" y="663114"/>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Freeform: Shape 49">
              <a:extLst>
                <a:ext uri="{FF2B5EF4-FFF2-40B4-BE49-F238E27FC236}">
                  <a16:creationId xmlns:a16="http://schemas.microsoft.com/office/drawing/2014/main" id="{06B46D60-FDD3-4B41-BE94-91ECA0B49D35}"/>
                </a:ext>
              </a:extLst>
            </p:cNvPr>
            <p:cNvSpPr/>
            <p:nvPr/>
          </p:nvSpPr>
          <p:spPr>
            <a:xfrm flipH="1" flipV="1">
              <a:off x="2141933" y="5366866"/>
              <a:ext cx="684055" cy="663114"/>
            </a:xfrm>
            <a:custGeom>
              <a:avLst/>
              <a:gdLst>
                <a:gd name="connsiteX0" fmla="*/ 0 w 684055"/>
                <a:gd name="connsiteY0" fmla="*/ 0 h 663114"/>
                <a:gd name="connsiteX1" fmla="*/ 684055 w 684055"/>
                <a:gd name="connsiteY1" fmla="*/ 663114 h 663114"/>
                <a:gd name="connsiteX0" fmla="*/ 0 w 684055"/>
                <a:gd name="connsiteY0" fmla="*/ 0 h 663114"/>
                <a:gd name="connsiteX1" fmla="*/ 684055 w 684055"/>
                <a:gd name="connsiteY1" fmla="*/ 663114 h 663114"/>
                <a:gd name="connsiteX0" fmla="*/ 0 w 684055"/>
                <a:gd name="connsiteY0" fmla="*/ 0 h 663114"/>
                <a:gd name="connsiteX1" fmla="*/ 684055 w 684055"/>
                <a:gd name="connsiteY1" fmla="*/ 663114 h 663114"/>
                <a:gd name="connsiteX0" fmla="*/ 0 w 684055"/>
                <a:gd name="connsiteY0" fmla="*/ 0 h 663114"/>
                <a:gd name="connsiteX1" fmla="*/ 684055 w 684055"/>
                <a:gd name="connsiteY1" fmla="*/ 663114 h 663114"/>
                <a:gd name="connsiteX0" fmla="*/ 0 w 684055"/>
                <a:gd name="connsiteY0" fmla="*/ 0 h 663114"/>
                <a:gd name="connsiteX1" fmla="*/ 684055 w 684055"/>
                <a:gd name="connsiteY1" fmla="*/ 663114 h 663114"/>
              </a:gdLst>
              <a:ahLst/>
              <a:cxnLst>
                <a:cxn ang="0">
                  <a:pos x="connsiteX0" y="connsiteY0"/>
                </a:cxn>
                <a:cxn ang="0">
                  <a:pos x="connsiteX1" y="connsiteY1"/>
                </a:cxn>
              </a:cxnLst>
              <a:rect l="l" t="t" r="r" b="b"/>
              <a:pathLst>
                <a:path w="684055" h="663114">
                  <a:moveTo>
                    <a:pt x="0" y="0"/>
                  </a:moveTo>
                  <a:cubicBezTo>
                    <a:pt x="3652" y="502555"/>
                    <a:pt x="108903" y="653743"/>
                    <a:pt x="684055" y="663114"/>
                  </a:cubicBezTo>
                </a:path>
              </a:pathLst>
            </a:cu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TextBox 50">
              <a:extLst>
                <a:ext uri="{FF2B5EF4-FFF2-40B4-BE49-F238E27FC236}">
                  <a16:creationId xmlns:a16="http://schemas.microsoft.com/office/drawing/2014/main" id="{9FD0DA26-FB10-418C-B9D9-8DDE7234E5B7}"/>
                </a:ext>
              </a:extLst>
            </p:cNvPr>
            <p:cNvSpPr txBox="1"/>
            <p:nvPr/>
          </p:nvSpPr>
          <p:spPr>
            <a:xfrm>
              <a:off x="2878758" y="4508212"/>
              <a:ext cx="1661145" cy="584775"/>
            </a:xfrm>
            <a:prstGeom prst="rect">
              <a:avLst/>
            </a:prstGeom>
            <a:noFill/>
          </p:spPr>
          <p:txBody>
            <a:bodyPr wrap="square" rtlCol="0">
              <a:spAutoFit/>
            </a:bodyPr>
            <a:lstStyle/>
            <a:p>
              <a:pPr algn="ctr"/>
              <a:r>
                <a:rPr lang="en-GB" sz="1600" b="1" dirty="0"/>
                <a:t>LTP</a:t>
              </a:r>
            </a:p>
            <a:p>
              <a:pPr algn="ctr"/>
              <a:r>
                <a:rPr lang="en-GB" sz="1600" dirty="0">
                  <a:solidFill>
                    <a:srgbClr val="FF0000"/>
                  </a:solidFill>
                </a:rPr>
                <a:t>PSP before </a:t>
              </a:r>
              <a:r>
                <a:rPr lang="en-GB" sz="1600" dirty="0" err="1">
                  <a:solidFill>
                    <a:srgbClr val="FF0000"/>
                  </a:solidFill>
                </a:rPr>
                <a:t>bAP</a:t>
              </a:r>
              <a:endParaRPr lang="en-GB" sz="1600" dirty="0">
                <a:solidFill>
                  <a:srgbClr val="FF0000"/>
                </a:solidFill>
              </a:endParaRPr>
            </a:p>
          </p:txBody>
        </p:sp>
        <p:sp>
          <p:nvSpPr>
            <p:cNvPr id="52" name="TextBox 51">
              <a:extLst>
                <a:ext uri="{FF2B5EF4-FFF2-40B4-BE49-F238E27FC236}">
                  <a16:creationId xmlns:a16="http://schemas.microsoft.com/office/drawing/2014/main" id="{1B5A3C56-3E53-4A76-A84C-A7260AF766C3}"/>
                </a:ext>
              </a:extLst>
            </p:cNvPr>
            <p:cNvSpPr txBox="1"/>
            <p:nvPr/>
          </p:nvSpPr>
          <p:spPr>
            <a:xfrm>
              <a:off x="1217613" y="5445205"/>
              <a:ext cx="1661145" cy="584775"/>
            </a:xfrm>
            <a:prstGeom prst="rect">
              <a:avLst/>
            </a:prstGeom>
            <a:noFill/>
          </p:spPr>
          <p:txBody>
            <a:bodyPr wrap="square" rtlCol="0">
              <a:spAutoFit/>
            </a:bodyPr>
            <a:lstStyle/>
            <a:p>
              <a:pPr algn="ctr"/>
              <a:r>
                <a:rPr lang="en-GB" sz="1600" b="1" dirty="0"/>
                <a:t>LTD</a:t>
              </a:r>
            </a:p>
            <a:p>
              <a:pPr algn="ctr"/>
              <a:r>
                <a:rPr lang="en-GB" sz="1600" dirty="0" err="1">
                  <a:solidFill>
                    <a:srgbClr val="0070C0"/>
                  </a:solidFill>
                </a:rPr>
                <a:t>bAP</a:t>
              </a:r>
              <a:r>
                <a:rPr lang="en-GB" sz="1600" dirty="0">
                  <a:solidFill>
                    <a:srgbClr val="0070C0"/>
                  </a:solidFill>
                </a:rPr>
                <a:t> before PSP</a:t>
              </a:r>
            </a:p>
          </p:txBody>
        </p:sp>
        <p:sp>
          <p:nvSpPr>
            <p:cNvPr id="61" name="TextBox 60">
              <a:extLst>
                <a:ext uri="{FF2B5EF4-FFF2-40B4-BE49-F238E27FC236}">
                  <a16:creationId xmlns:a16="http://schemas.microsoft.com/office/drawing/2014/main" id="{05F10D44-B219-47A7-9F25-97A3F5025F84}"/>
                </a:ext>
              </a:extLst>
            </p:cNvPr>
            <p:cNvSpPr txBox="1"/>
            <p:nvPr/>
          </p:nvSpPr>
          <p:spPr>
            <a:xfrm>
              <a:off x="1892392" y="6246464"/>
              <a:ext cx="1975384" cy="307777"/>
            </a:xfrm>
            <a:prstGeom prst="rect">
              <a:avLst/>
            </a:prstGeom>
            <a:noFill/>
          </p:spPr>
          <p:txBody>
            <a:bodyPr wrap="square" rtlCol="0">
              <a:spAutoFit/>
            </a:bodyPr>
            <a:lstStyle/>
            <a:p>
              <a:pPr algn="ctr"/>
              <a:r>
                <a:rPr lang="en-GB" sz="1400" dirty="0"/>
                <a:t>Synaptic strength (%)</a:t>
              </a:r>
            </a:p>
          </p:txBody>
        </p:sp>
        <p:sp>
          <p:nvSpPr>
            <p:cNvPr id="62" name="TextBox 61">
              <a:extLst>
                <a:ext uri="{FF2B5EF4-FFF2-40B4-BE49-F238E27FC236}">
                  <a16:creationId xmlns:a16="http://schemas.microsoft.com/office/drawing/2014/main" id="{C9F729ED-BE15-4981-A684-8D5146247BFF}"/>
                </a:ext>
              </a:extLst>
            </p:cNvPr>
            <p:cNvSpPr txBox="1"/>
            <p:nvPr/>
          </p:nvSpPr>
          <p:spPr>
            <a:xfrm>
              <a:off x="3062757" y="5315758"/>
              <a:ext cx="1902087" cy="523220"/>
            </a:xfrm>
            <a:prstGeom prst="rect">
              <a:avLst/>
            </a:prstGeom>
            <a:noFill/>
          </p:spPr>
          <p:txBody>
            <a:bodyPr wrap="square" rtlCol="0">
              <a:spAutoFit/>
            </a:bodyPr>
            <a:lstStyle/>
            <a:p>
              <a:pPr algn="ctr"/>
              <a:r>
                <a:rPr lang="en-GB" sz="1400" dirty="0"/>
                <a:t>Inter-spike interval (ms)</a:t>
              </a:r>
            </a:p>
          </p:txBody>
        </p:sp>
      </p:grpSp>
    </p:spTree>
    <p:extLst>
      <p:ext uri="{BB962C8B-B14F-4D97-AF65-F5344CB8AC3E}">
        <p14:creationId xmlns:p14="http://schemas.microsoft.com/office/powerpoint/2010/main" val="351382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par>
                                <p:cTn id="35" presetID="19" presetClass="emph" presetSubtype="0" fill="hold" nodeType="withEffect">
                                  <p:stCondLst>
                                    <p:cond delay="0"/>
                                  </p:stCondLst>
                                  <p:childTnLst>
                                    <p:animClr clrSpc="rgb" dir="cw">
                                      <p:cBhvr override="childStyle">
                                        <p:cTn id="36" dur="500" fill="hold"/>
                                        <p:tgtEl>
                                          <p:spTgt spid="41">
                                            <p:txEl>
                                              <p:pRg st="4" end="4"/>
                                            </p:txEl>
                                          </p:spTgt>
                                        </p:tgtEl>
                                        <p:attrNameLst>
                                          <p:attrName>style.color</p:attrName>
                                        </p:attrNameLst>
                                      </p:cBhvr>
                                      <p:to>
                                        <a:srgbClr val="000000"/>
                                      </p:to>
                                    </p:animClr>
                                    <p:animClr clrSpc="rgb" dir="cw">
                                      <p:cBhvr>
                                        <p:cTn id="37" dur="500" fill="hold"/>
                                        <p:tgtEl>
                                          <p:spTgt spid="41">
                                            <p:txEl>
                                              <p:pRg st="4" end="4"/>
                                            </p:txEl>
                                          </p:spTgt>
                                        </p:tgtEl>
                                        <p:attrNameLst>
                                          <p:attrName>fillcolor</p:attrName>
                                        </p:attrNameLst>
                                      </p:cBhvr>
                                      <p:to>
                                        <a:srgbClr val="000000"/>
                                      </p:to>
                                    </p:animClr>
                                    <p:set>
                                      <p:cBhvr>
                                        <p:cTn id="38" dur="500" fill="hold"/>
                                        <p:tgtEl>
                                          <p:spTgt spid="41">
                                            <p:txEl>
                                              <p:pRg st="4" end="4"/>
                                            </p:txEl>
                                          </p:spTgt>
                                        </p:tgtEl>
                                        <p:attrNameLst>
                                          <p:attrName>fill.type</p:attrName>
                                        </p:attrNameLst>
                                      </p:cBhvr>
                                      <p:to>
                                        <p:strVal val="solid"/>
                                      </p:to>
                                    </p:set>
                                    <p:set>
                                      <p:cBhvr>
                                        <p:cTn id="39" dur="500" fill="hold"/>
                                        <p:tgtEl>
                                          <p:spTgt spid="41">
                                            <p:txEl>
                                              <p:pRg st="4" end="4"/>
                                            </p:txEl>
                                          </p:spTgt>
                                        </p:tgtEl>
                                        <p:attrNameLst>
                                          <p:attrName>fill.on</p:attrName>
                                        </p:attrNameLst>
                                      </p:cBhvr>
                                      <p:to>
                                        <p:strVal val="true"/>
                                      </p:to>
                                    </p:set>
                                  </p:childTnLst>
                                </p:cTn>
                              </p:par>
                              <p:par>
                                <p:cTn id="40" presetID="19" presetClass="emph" presetSubtype="0" fill="hold" nodeType="withEffect">
                                  <p:stCondLst>
                                    <p:cond delay="0"/>
                                  </p:stCondLst>
                                  <p:childTnLst>
                                    <p:animClr clrSpc="rgb" dir="cw">
                                      <p:cBhvr override="childStyle">
                                        <p:cTn id="41" dur="500" fill="hold"/>
                                        <p:tgtEl>
                                          <p:spTgt spid="41">
                                            <p:txEl>
                                              <p:pRg st="5" end="5"/>
                                            </p:txEl>
                                          </p:spTgt>
                                        </p:tgtEl>
                                        <p:attrNameLst>
                                          <p:attrName>style.color</p:attrName>
                                        </p:attrNameLst>
                                      </p:cBhvr>
                                      <p:to>
                                        <a:srgbClr val="000000"/>
                                      </p:to>
                                    </p:animClr>
                                    <p:animClr clrSpc="rgb" dir="cw">
                                      <p:cBhvr>
                                        <p:cTn id="42" dur="500" fill="hold"/>
                                        <p:tgtEl>
                                          <p:spTgt spid="41">
                                            <p:txEl>
                                              <p:pRg st="5" end="5"/>
                                            </p:txEl>
                                          </p:spTgt>
                                        </p:tgtEl>
                                        <p:attrNameLst>
                                          <p:attrName>fillcolor</p:attrName>
                                        </p:attrNameLst>
                                      </p:cBhvr>
                                      <p:to>
                                        <a:srgbClr val="000000"/>
                                      </p:to>
                                    </p:animClr>
                                    <p:set>
                                      <p:cBhvr>
                                        <p:cTn id="43" dur="500" fill="hold"/>
                                        <p:tgtEl>
                                          <p:spTgt spid="41">
                                            <p:txEl>
                                              <p:pRg st="5" end="5"/>
                                            </p:txEl>
                                          </p:spTgt>
                                        </p:tgtEl>
                                        <p:attrNameLst>
                                          <p:attrName>fill.type</p:attrName>
                                        </p:attrNameLst>
                                      </p:cBhvr>
                                      <p:to>
                                        <p:strVal val="solid"/>
                                      </p:to>
                                    </p:set>
                                    <p:set>
                                      <p:cBhvr>
                                        <p:cTn id="44" dur="500" fill="hold"/>
                                        <p:tgtEl>
                                          <p:spTgt spid="41">
                                            <p:txEl>
                                              <p:pRg st="5" end="5"/>
                                            </p:txEl>
                                          </p:spTgt>
                                        </p:tgtEl>
                                        <p:attrNameLst>
                                          <p:attrName>fill.on</p:attrName>
                                        </p:attrNameLst>
                                      </p:cBhvr>
                                      <p:to>
                                        <p:strVal val="true"/>
                                      </p:to>
                                    </p:set>
                                  </p:childTnLst>
                                </p:cTn>
                              </p:par>
                              <p:par>
                                <p:cTn id="45" presetID="19" presetClass="emph" presetSubtype="0" fill="hold" nodeType="withEffect">
                                  <p:stCondLst>
                                    <p:cond delay="0"/>
                                  </p:stCondLst>
                                  <p:childTnLst>
                                    <p:animClr clrSpc="rgb" dir="cw">
                                      <p:cBhvr override="childStyle">
                                        <p:cTn id="46" dur="500" fill="hold"/>
                                        <p:tgtEl>
                                          <p:spTgt spid="41">
                                            <p:txEl>
                                              <p:pRg st="6" end="6"/>
                                            </p:txEl>
                                          </p:spTgt>
                                        </p:tgtEl>
                                        <p:attrNameLst>
                                          <p:attrName>style.color</p:attrName>
                                        </p:attrNameLst>
                                      </p:cBhvr>
                                      <p:to>
                                        <a:srgbClr val="000000"/>
                                      </p:to>
                                    </p:animClr>
                                    <p:animClr clrSpc="rgb" dir="cw">
                                      <p:cBhvr>
                                        <p:cTn id="47" dur="500" fill="hold"/>
                                        <p:tgtEl>
                                          <p:spTgt spid="41">
                                            <p:txEl>
                                              <p:pRg st="6" end="6"/>
                                            </p:txEl>
                                          </p:spTgt>
                                        </p:tgtEl>
                                        <p:attrNameLst>
                                          <p:attrName>fillcolor</p:attrName>
                                        </p:attrNameLst>
                                      </p:cBhvr>
                                      <p:to>
                                        <a:srgbClr val="000000"/>
                                      </p:to>
                                    </p:animClr>
                                    <p:set>
                                      <p:cBhvr>
                                        <p:cTn id="48" dur="500" fill="hold"/>
                                        <p:tgtEl>
                                          <p:spTgt spid="41">
                                            <p:txEl>
                                              <p:pRg st="6" end="6"/>
                                            </p:txEl>
                                          </p:spTgt>
                                        </p:tgtEl>
                                        <p:attrNameLst>
                                          <p:attrName>fill.type</p:attrName>
                                        </p:attrNameLst>
                                      </p:cBhvr>
                                      <p:to>
                                        <p:strVal val="solid"/>
                                      </p:to>
                                    </p:set>
                                    <p:set>
                                      <p:cBhvr>
                                        <p:cTn id="49" dur="500" fill="hold"/>
                                        <p:tgtEl>
                                          <p:spTgt spid="41">
                                            <p:txEl>
                                              <p:pRg st="6" end="6"/>
                                            </p:txEl>
                                          </p:spTgt>
                                        </p:tgtEl>
                                        <p:attrNameLst>
                                          <p:attrName>fill.on</p:attrName>
                                        </p:attrNameLst>
                                      </p:cBhvr>
                                      <p:to>
                                        <p:strVal val="true"/>
                                      </p:to>
                                    </p:set>
                                  </p:childTnLst>
                                </p:cTn>
                              </p:par>
                              <p:par>
                                <p:cTn id="50" presetID="19" presetClass="emph" presetSubtype="0" fill="hold" nodeType="withEffect">
                                  <p:stCondLst>
                                    <p:cond delay="0"/>
                                  </p:stCondLst>
                                  <p:childTnLst>
                                    <p:animClr clrSpc="rgb" dir="cw">
                                      <p:cBhvr override="childStyle">
                                        <p:cTn id="51" dur="500" fill="hold"/>
                                        <p:tgtEl>
                                          <p:spTgt spid="41">
                                            <p:txEl>
                                              <p:pRg st="7" end="7"/>
                                            </p:txEl>
                                          </p:spTgt>
                                        </p:tgtEl>
                                        <p:attrNameLst>
                                          <p:attrName>style.color</p:attrName>
                                        </p:attrNameLst>
                                      </p:cBhvr>
                                      <p:to>
                                        <a:srgbClr val="000000"/>
                                      </p:to>
                                    </p:animClr>
                                    <p:animClr clrSpc="rgb" dir="cw">
                                      <p:cBhvr>
                                        <p:cTn id="52" dur="500" fill="hold"/>
                                        <p:tgtEl>
                                          <p:spTgt spid="41">
                                            <p:txEl>
                                              <p:pRg st="7" end="7"/>
                                            </p:txEl>
                                          </p:spTgt>
                                        </p:tgtEl>
                                        <p:attrNameLst>
                                          <p:attrName>fillcolor</p:attrName>
                                        </p:attrNameLst>
                                      </p:cBhvr>
                                      <p:to>
                                        <a:srgbClr val="000000"/>
                                      </p:to>
                                    </p:animClr>
                                    <p:set>
                                      <p:cBhvr>
                                        <p:cTn id="53" dur="500" fill="hold"/>
                                        <p:tgtEl>
                                          <p:spTgt spid="41">
                                            <p:txEl>
                                              <p:pRg st="7" end="7"/>
                                            </p:txEl>
                                          </p:spTgt>
                                        </p:tgtEl>
                                        <p:attrNameLst>
                                          <p:attrName>fill.type</p:attrName>
                                        </p:attrNameLst>
                                      </p:cBhvr>
                                      <p:to>
                                        <p:strVal val="solid"/>
                                      </p:to>
                                    </p:set>
                                    <p:set>
                                      <p:cBhvr>
                                        <p:cTn id="54" dur="500" fill="hold"/>
                                        <p:tgtEl>
                                          <p:spTgt spid="41">
                                            <p:txEl>
                                              <p:pRg st="7" end="7"/>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p:bldP spid="20" grpId="0"/>
      <p:bldP spid="24" grpId="0" animBg="1"/>
      <p:bldP spid="2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1C2E10-15D2-9A92-B507-107CA47D8141}"/>
              </a:ext>
            </a:extLst>
          </p:cNvPr>
          <p:cNvSpPr>
            <a:spLocks noGrp="1"/>
          </p:cNvSpPr>
          <p:nvPr>
            <p:ph type="title"/>
          </p:nvPr>
        </p:nvSpPr>
        <p:spPr/>
        <p:txBody>
          <a:bodyPr/>
          <a:lstStyle/>
          <a:p>
            <a:r>
              <a:rPr lang="en-GB" dirty="0" err="1"/>
              <a:t>Neuroplasticy</a:t>
            </a:r>
            <a:r>
              <a:rPr lang="en-GB" dirty="0"/>
              <a:t> in brain systems</a:t>
            </a:r>
          </a:p>
        </p:txBody>
      </p:sp>
      <p:sp>
        <p:nvSpPr>
          <p:cNvPr id="5" name="Text Placeholder 4">
            <a:extLst>
              <a:ext uri="{FF2B5EF4-FFF2-40B4-BE49-F238E27FC236}">
                <a16:creationId xmlns:a16="http://schemas.microsoft.com/office/drawing/2014/main" id="{1217831C-52BF-1FD8-618C-21788D89C300}"/>
              </a:ext>
            </a:extLst>
          </p:cNvPr>
          <p:cNvSpPr>
            <a:spLocks noGrp="1"/>
          </p:cNvSpPr>
          <p:nvPr>
            <p:ph type="body" idx="1"/>
          </p:nvPr>
        </p:nvSpPr>
        <p:spPr/>
        <p:txBody>
          <a:bodyPr/>
          <a:lstStyle/>
          <a:p>
            <a:endParaRPr lang="en-GB" dirty="0"/>
          </a:p>
        </p:txBody>
      </p:sp>
      <p:pic>
        <p:nvPicPr>
          <p:cNvPr id="1026" name="Picture 2">
            <a:extLst>
              <a:ext uri="{FF2B5EF4-FFF2-40B4-BE49-F238E27FC236}">
                <a16:creationId xmlns:a16="http://schemas.microsoft.com/office/drawing/2014/main" id="{AFC68003-F3F6-6EBB-DE50-D8D16B2A6DC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12" r="37692"/>
          <a:stretch>
            <a:fillRect/>
          </a:stretch>
        </p:blipFill>
        <p:spPr bwMode="auto">
          <a:xfrm>
            <a:off x="5305330" y="0"/>
            <a:ext cx="6886669" cy="6868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60080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E93FC87-F4D7-07B8-FBEF-87C3774E01B1}"/>
              </a:ext>
            </a:extLst>
          </p:cNvPr>
          <p:cNvSpPr>
            <a:spLocks noGrp="1"/>
          </p:cNvSpPr>
          <p:nvPr>
            <p:ph type="title"/>
          </p:nvPr>
        </p:nvSpPr>
        <p:spPr/>
        <p:txBody>
          <a:bodyPr/>
          <a:lstStyle/>
          <a:p>
            <a:r>
              <a:rPr lang="en-GB" dirty="0"/>
              <a:t>Neuroplasticity</a:t>
            </a:r>
          </a:p>
        </p:txBody>
      </p:sp>
      <p:sp>
        <p:nvSpPr>
          <p:cNvPr id="5" name="Content Placeholder 4">
            <a:extLst>
              <a:ext uri="{FF2B5EF4-FFF2-40B4-BE49-F238E27FC236}">
                <a16:creationId xmlns:a16="http://schemas.microsoft.com/office/drawing/2014/main" id="{414B8AEF-BFC1-CEDE-2902-44F021502BBB}"/>
              </a:ext>
            </a:extLst>
          </p:cNvPr>
          <p:cNvSpPr>
            <a:spLocks noGrp="1"/>
          </p:cNvSpPr>
          <p:nvPr>
            <p:ph idx="1"/>
          </p:nvPr>
        </p:nvSpPr>
        <p:spPr>
          <a:xfrm>
            <a:off x="231775" y="6076949"/>
            <a:ext cx="11728450" cy="495301"/>
          </a:xfrm>
        </p:spPr>
        <p:txBody>
          <a:bodyPr>
            <a:normAutofit fontScale="85000" lnSpcReduction="10000"/>
          </a:bodyPr>
          <a:lstStyle/>
          <a:p>
            <a:pPr marL="0" indent="0" algn="ctr">
              <a:buNone/>
            </a:pPr>
            <a:r>
              <a:rPr lang="en-GB" sz="2400" dirty="0"/>
              <a:t>The brain’s capacity to reorganize itself by forming new neural connections in response to changes.</a:t>
            </a:r>
          </a:p>
        </p:txBody>
      </p:sp>
      <p:pic>
        <p:nvPicPr>
          <p:cNvPr id="2050" name="Picture 2" descr="Cartoon brain with glasses, sneakers, a pencil, and a book, under Neuroplasticity: The brain's secret superpower, with colorful molecular structures—perfect for Physical Therapy Clermont and Apopka.">
            <a:extLst>
              <a:ext uri="{FF2B5EF4-FFF2-40B4-BE49-F238E27FC236}">
                <a16:creationId xmlns:a16="http://schemas.microsoft.com/office/drawing/2014/main" id="{92937041-A562-9A9F-2974-CA220F22BC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5124" y="1047750"/>
            <a:ext cx="857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7112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C63C3-FEE7-BD5C-EE47-054A71C90AE2}"/>
              </a:ext>
            </a:extLst>
          </p:cNvPr>
          <p:cNvSpPr>
            <a:spLocks noGrp="1"/>
          </p:cNvSpPr>
          <p:nvPr>
            <p:ph type="title"/>
          </p:nvPr>
        </p:nvSpPr>
        <p:spPr/>
        <p:txBody>
          <a:bodyPr/>
          <a:lstStyle/>
          <a:p>
            <a:r>
              <a:rPr lang="en-GB" dirty="0"/>
              <a:t>Neuroplasticity</a:t>
            </a:r>
          </a:p>
        </p:txBody>
      </p:sp>
      <p:sp>
        <p:nvSpPr>
          <p:cNvPr id="3" name="Content Placeholder 2">
            <a:extLst>
              <a:ext uri="{FF2B5EF4-FFF2-40B4-BE49-F238E27FC236}">
                <a16:creationId xmlns:a16="http://schemas.microsoft.com/office/drawing/2014/main" id="{8C9B11D6-E369-9BCA-915D-95BBA7D4E409}"/>
              </a:ext>
            </a:extLst>
          </p:cNvPr>
          <p:cNvSpPr>
            <a:spLocks noGrp="1"/>
          </p:cNvSpPr>
          <p:nvPr>
            <p:ph idx="1"/>
          </p:nvPr>
        </p:nvSpPr>
        <p:spPr/>
        <p:txBody>
          <a:bodyPr/>
          <a:lstStyle/>
          <a:p>
            <a:r>
              <a:rPr lang="en-GB" dirty="0"/>
              <a:t>Learning and memory</a:t>
            </a:r>
          </a:p>
          <a:p>
            <a:pPr lvl="1"/>
            <a:r>
              <a:rPr lang="en-GB" dirty="0"/>
              <a:t>Learning a new skill, e.g. play violin</a:t>
            </a:r>
          </a:p>
          <a:p>
            <a:r>
              <a:rPr lang="en-GB" dirty="0"/>
              <a:t>Changing the number of synapses</a:t>
            </a:r>
          </a:p>
          <a:p>
            <a:r>
              <a:rPr lang="en-GB" dirty="0"/>
              <a:t>Refinement of neuronal connections</a:t>
            </a:r>
          </a:p>
          <a:p>
            <a:r>
              <a:rPr lang="en-GB" dirty="0"/>
              <a:t>Adaptation following injury</a:t>
            </a:r>
          </a:p>
          <a:p>
            <a:r>
              <a:rPr lang="en-GB" dirty="0"/>
              <a:t>Maladaptation during disease or chronic stimulation (e.g. pain, substance abuse, neurodegeneration)</a:t>
            </a:r>
          </a:p>
        </p:txBody>
      </p:sp>
      <p:pic>
        <p:nvPicPr>
          <p:cNvPr id="4" name="Picture 2" descr="Neural circuit - Wikipedia">
            <a:extLst>
              <a:ext uri="{FF2B5EF4-FFF2-40B4-BE49-F238E27FC236}">
                <a16:creationId xmlns:a16="http://schemas.microsoft.com/office/drawing/2014/main" id="{E9B1DB6D-90DA-35F6-00E2-65322FC22E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9680" y="1098070"/>
            <a:ext cx="4385734" cy="5759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31293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E5FB9-55E4-6618-C1BA-3C21C9AE66AB}"/>
              </a:ext>
            </a:extLst>
          </p:cNvPr>
          <p:cNvSpPr>
            <a:spLocks noGrp="1"/>
          </p:cNvSpPr>
          <p:nvPr>
            <p:ph type="title"/>
          </p:nvPr>
        </p:nvSpPr>
        <p:spPr/>
        <p:txBody>
          <a:bodyPr/>
          <a:lstStyle/>
          <a:p>
            <a:r>
              <a:rPr lang="en-GB" dirty="0"/>
              <a:t>Neuroplasticity</a:t>
            </a:r>
          </a:p>
        </p:txBody>
      </p:sp>
      <p:sp>
        <p:nvSpPr>
          <p:cNvPr id="3" name="Content Placeholder 2">
            <a:extLst>
              <a:ext uri="{FF2B5EF4-FFF2-40B4-BE49-F238E27FC236}">
                <a16:creationId xmlns:a16="http://schemas.microsoft.com/office/drawing/2014/main" id="{36534754-9AC6-A0CC-F03E-42A2E0025F8C}"/>
              </a:ext>
            </a:extLst>
          </p:cNvPr>
          <p:cNvSpPr>
            <a:spLocks noGrp="1"/>
          </p:cNvSpPr>
          <p:nvPr>
            <p:ph idx="1"/>
          </p:nvPr>
        </p:nvSpPr>
        <p:spPr/>
        <p:txBody>
          <a:bodyPr/>
          <a:lstStyle/>
          <a:p>
            <a:r>
              <a:rPr lang="en-GB" dirty="0"/>
              <a:t>Synapses</a:t>
            </a:r>
          </a:p>
          <a:p>
            <a:pPr lvl="1"/>
            <a:r>
              <a:rPr lang="en-GB" dirty="0"/>
              <a:t>LTP, LTD, STDP</a:t>
            </a:r>
          </a:p>
          <a:p>
            <a:pPr lvl="1"/>
            <a:r>
              <a:rPr lang="en-GB" dirty="0"/>
              <a:t>Synaptic pruning</a:t>
            </a:r>
          </a:p>
          <a:p>
            <a:pPr lvl="1"/>
            <a:r>
              <a:rPr lang="en-GB" dirty="0"/>
              <a:t>Synapse formation </a:t>
            </a:r>
          </a:p>
          <a:p>
            <a:pPr lvl="1"/>
            <a:endParaRPr lang="en-GB" dirty="0"/>
          </a:p>
          <a:p>
            <a:r>
              <a:rPr lang="en-GB" dirty="0"/>
              <a:t>Neurons</a:t>
            </a:r>
          </a:p>
          <a:p>
            <a:pPr lvl="1"/>
            <a:r>
              <a:rPr lang="en-GB" dirty="0"/>
              <a:t>Change in neuronal excitability</a:t>
            </a:r>
          </a:p>
          <a:p>
            <a:pPr lvl="1"/>
            <a:r>
              <a:rPr lang="en-GB" dirty="0"/>
              <a:t>Change in neuronal connections</a:t>
            </a:r>
          </a:p>
          <a:p>
            <a:pPr lvl="1"/>
            <a:r>
              <a:rPr lang="en-GB" dirty="0"/>
              <a:t>Change in neuronal pathways</a:t>
            </a:r>
          </a:p>
          <a:p>
            <a:pPr lvl="1"/>
            <a:endParaRPr lang="en-GB" dirty="0"/>
          </a:p>
          <a:p>
            <a:r>
              <a:rPr lang="en-GB" dirty="0"/>
              <a:t>Homeostatic plasticity</a:t>
            </a:r>
          </a:p>
          <a:p>
            <a:pPr lvl="1"/>
            <a:r>
              <a:rPr lang="en-GB" dirty="0"/>
              <a:t>Keeps network balance</a:t>
            </a:r>
          </a:p>
          <a:p>
            <a:pPr lvl="1"/>
            <a:r>
              <a:rPr lang="en-GB" dirty="0"/>
              <a:t>Affects both synapses and neuronal excitability</a:t>
            </a:r>
          </a:p>
        </p:txBody>
      </p:sp>
      <p:pic>
        <p:nvPicPr>
          <p:cNvPr id="3074" name="Picture 2">
            <a:extLst>
              <a:ext uri="{FF2B5EF4-FFF2-40B4-BE49-F238E27FC236}">
                <a16:creationId xmlns:a16="http://schemas.microsoft.com/office/drawing/2014/main" id="{83AC763B-836F-4A9F-D1AE-1F724990F4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9124" y="1439941"/>
            <a:ext cx="5721366" cy="4821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2939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A77B9-F48F-C2AF-102F-112BAD480761}"/>
              </a:ext>
            </a:extLst>
          </p:cNvPr>
          <p:cNvSpPr>
            <a:spLocks noGrp="1"/>
          </p:cNvSpPr>
          <p:nvPr>
            <p:ph type="title"/>
          </p:nvPr>
        </p:nvSpPr>
        <p:spPr/>
        <p:txBody>
          <a:bodyPr/>
          <a:lstStyle/>
          <a:p>
            <a:r>
              <a:rPr lang="en-GB" dirty="0"/>
              <a:t>Memory consolidation</a:t>
            </a:r>
          </a:p>
        </p:txBody>
      </p:sp>
      <p:sp>
        <p:nvSpPr>
          <p:cNvPr id="3" name="Content Placeholder 2">
            <a:extLst>
              <a:ext uri="{FF2B5EF4-FFF2-40B4-BE49-F238E27FC236}">
                <a16:creationId xmlns:a16="http://schemas.microsoft.com/office/drawing/2014/main" id="{AE0F9EA3-E5CA-D9C7-3B51-A9970BC4B3E7}"/>
              </a:ext>
            </a:extLst>
          </p:cNvPr>
          <p:cNvSpPr>
            <a:spLocks noGrp="1"/>
          </p:cNvSpPr>
          <p:nvPr>
            <p:ph idx="1"/>
          </p:nvPr>
        </p:nvSpPr>
        <p:spPr>
          <a:xfrm>
            <a:off x="285750" y="1253331"/>
            <a:ext cx="4530090" cy="5195094"/>
          </a:xfrm>
        </p:spPr>
        <p:txBody>
          <a:bodyPr/>
          <a:lstStyle/>
          <a:p>
            <a:r>
              <a:rPr lang="en-GB" dirty="0"/>
              <a:t>Hippocampus and prefrontal cortex</a:t>
            </a:r>
          </a:p>
          <a:p>
            <a:endParaRPr lang="en-GB" dirty="0"/>
          </a:p>
          <a:p>
            <a:r>
              <a:rPr lang="en-GB" dirty="0"/>
              <a:t>Change in neuronal connection</a:t>
            </a:r>
          </a:p>
          <a:p>
            <a:endParaRPr lang="en-GB" dirty="0"/>
          </a:p>
          <a:p>
            <a:r>
              <a:rPr lang="en-GB" dirty="0"/>
              <a:t>Passage of memories from hippocampus to the cortex</a:t>
            </a:r>
          </a:p>
          <a:p>
            <a:pPr lvl="1"/>
            <a:r>
              <a:rPr lang="en-GB" dirty="0"/>
              <a:t>Sequential change in synapses and neuronal connections</a:t>
            </a:r>
          </a:p>
          <a:p>
            <a:pPr lvl="1"/>
            <a:r>
              <a:rPr lang="en-GB" dirty="0"/>
              <a:t>Passage to long-term storage and efficient memory retrieval</a:t>
            </a:r>
          </a:p>
        </p:txBody>
      </p:sp>
      <p:pic>
        <p:nvPicPr>
          <p:cNvPr id="4098" name="Picture 2" descr="Fig. 1">
            <a:extLst>
              <a:ext uri="{FF2B5EF4-FFF2-40B4-BE49-F238E27FC236}">
                <a16:creationId xmlns:a16="http://schemas.microsoft.com/office/drawing/2014/main" id="{55339251-75D6-6C3A-0C7A-F4A8D35687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9716" y="1828800"/>
            <a:ext cx="6866534" cy="3576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8540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3231EF-9A8C-1B0A-293D-83F202ABAE42}"/>
              </a:ext>
            </a:extLst>
          </p:cNvPr>
          <p:cNvSpPr>
            <a:spLocks noGrp="1"/>
          </p:cNvSpPr>
          <p:nvPr>
            <p:ph type="title"/>
          </p:nvPr>
        </p:nvSpPr>
        <p:spPr/>
        <p:txBody>
          <a:bodyPr/>
          <a:lstStyle/>
          <a:p>
            <a:r>
              <a:rPr lang="en-GB" dirty="0"/>
              <a:t>Neuroplasticity in the affected brain</a:t>
            </a:r>
          </a:p>
        </p:txBody>
      </p:sp>
      <p:sp>
        <p:nvSpPr>
          <p:cNvPr id="5" name="Text Placeholder 4">
            <a:extLst>
              <a:ext uri="{FF2B5EF4-FFF2-40B4-BE49-F238E27FC236}">
                <a16:creationId xmlns:a16="http://schemas.microsoft.com/office/drawing/2014/main" id="{812D6EC3-3E02-000B-DBE0-603ACF77D7D5}"/>
              </a:ext>
            </a:extLst>
          </p:cNvPr>
          <p:cNvSpPr>
            <a:spLocks noGrp="1"/>
          </p:cNvSpPr>
          <p:nvPr>
            <p:ph type="body" idx="1"/>
          </p:nvPr>
        </p:nvSpPr>
        <p:spPr/>
        <p:txBody>
          <a:bodyPr/>
          <a:lstStyle/>
          <a:p>
            <a:endParaRPr lang="en-GB"/>
          </a:p>
        </p:txBody>
      </p:sp>
      <p:pic>
        <p:nvPicPr>
          <p:cNvPr id="6146" name="Picture 2">
            <a:extLst>
              <a:ext uri="{FF2B5EF4-FFF2-40B4-BE49-F238E27FC236}">
                <a16:creationId xmlns:a16="http://schemas.microsoft.com/office/drawing/2014/main" id="{3C1A8473-C2EB-DAC7-BB0A-9D85D3D24C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6593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B665A-E719-FCC3-6CE0-8E5F375F231D}"/>
              </a:ext>
            </a:extLst>
          </p:cNvPr>
          <p:cNvSpPr>
            <a:spLocks noGrp="1"/>
          </p:cNvSpPr>
          <p:nvPr>
            <p:ph type="title"/>
          </p:nvPr>
        </p:nvSpPr>
        <p:spPr/>
        <p:txBody>
          <a:bodyPr/>
          <a:lstStyle/>
          <a:p>
            <a:r>
              <a:rPr lang="en-GB" dirty="0"/>
              <a:t>Network compensatory mechanisms</a:t>
            </a:r>
          </a:p>
        </p:txBody>
      </p:sp>
      <p:sp>
        <p:nvSpPr>
          <p:cNvPr id="3" name="Content Placeholder 2">
            <a:extLst>
              <a:ext uri="{FF2B5EF4-FFF2-40B4-BE49-F238E27FC236}">
                <a16:creationId xmlns:a16="http://schemas.microsoft.com/office/drawing/2014/main" id="{D8754307-B98B-E352-CE28-D25B893DAD2B}"/>
              </a:ext>
            </a:extLst>
          </p:cNvPr>
          <p:cNvSpPr>
            <a:spLocks noGrp="1"/>
          </p:cNvSpPr>
          <p:nvPr>
            <p:ph idx="1"/>
          </p:nvPr>
        </p:nvSpPr>
        <p:spPr>
          <a:xfrm>
            <a:off x="285750" y="1253331"/>
            <a:ext cx="5499414" cy="5195094"/>
          </a:xfrm>
        </p:spPr>
        <p:txBody>
          <a:bodyPr/>
          <a:lstStyle/>
          <a:p>
            <a:r>
              <a:rPr lang="en-GB" dirty="0"/>
              <a:t>Reallocate lost function to alternative connected brain areas after brain injury</a:t>
            </a:r>
          </a:p>
          <a:p>
            <a:pPr lvl="1"/>
            <a:r>
              <a:rPr lang="en-GB" dirty="0"/>
              <a:t>E.g. non-dominant hemisphere compensates for stroke in dominant hemisphere, regaining partial control of the lost limb</a:t>
            </a:r>
          </a:p>
          <a:p>
            <a:endParaRPr lang="en-GB" dirty="0"/>
          </a:p>
          <a:p>
            <a:r>
              <a:rPr lang="en-GB" dirty="0"/>
              <a:t>Maladaptive adaptation</a:t>
            </a:r>
          </a:p>
          <a:p>
            <a:pPr lvl="1"/>
            <a:r>
              <a:rPr lang="en-GB" dirty="0"/>
              <a:t>Motor and somatosensory cortices overcompensate missing limb sensory inputs </a:t>
            </a:r>
            <a:r>
              <a:rPr lang="en-GB" dirty="0">
                <a:sym typeface="Wingdings" panose="05000000000000000000" pitchFamily="2" charset="2"/>
              </a:rPr>
              <a:t> Phantom limb syndrome</a:t>
            </a:r>
            <a:endParaRPr lang="en-GB" dirty="0"/>
          </a:p>
          <a:p>
            <a:pPr lvl="1"/>
            <a:r>
              <a:rPr lang="en-GB" dirty="0"/>
              <a:t>Synaptic plasticity in overstimulated nociceptive pathways followed by brain-wide network changes </a:t>
            </a:r>
            <a:r>
              <a:rPr lang="en-GB" dirty="0">
                <a:sym typeface="Wingdings" panose="05000000000000000000" pitchFamily="2" charset="2"/>
              </a:rPr>
              <a:t> Chronic pain</a:t>
            </a:r>
          </a:p>
          <a:p>
            <a:pPr lvl="1"/>
            <a:r>
              <a:rPr lang="en-GB" dirty="0">
                <a:sym typeface="Wingdings" panose="05000000000000000000" pitchFamily="2" charset="2"/>
              </a:rPr>
              <a:t>Synaptic plasticity in nucleus accumbens and dopamine reward system  Drug addiction</a:t>
            </a:r>
            <a:endParaRPr lang="en-GB" dirty="0"/>
          </a:p>
        </p:txBody>
      </p:sp>
      <p:pic>
        <p:nvPicPr>
          <p:cNvPr id="4" name="Google Shape;84;p13" descr="nrn.2017.26-f2.jpg">
            <a:extLst>
              <a:ext uri="{FF2B5EF4-FFF2-40B4-BE49-F238E27FC236}">
                <a16:creationId xmlns:a16="http://schemas.microsoft.com/office/drawing/2014/main" id="{9D953DD7-9808-313A-BAA3-ECC8A6C01EB3}"/>
              </a:ext>
            </a:extLst>
          </p:cNvPr>
          <p:cNvPicPr preferRelativeResize="0"/>
          <p:nvPr/>
        </p:nvPicPr>
        <p:blipFill rotWithShape="1">
          <a:blip r:embed="rId2">
            <a:alphaModFix/>
          </a:blip>
          <a:srcRect/>
          <a:stretch/>
        </p:blipFill>
        <p:spPr>
          <a:xfrm>
            <a:off x="5962650" y="2126853"/>
            <a:ext cx="5943600" cy="3448050"/>
          </a:xfrm>
          <a:prstGeom prst="rect">
            <a:avLst/>
          </a:prstGeom>
          <a:noFill/>
          <a:ln>
            <a:noFill/>
          </a:ln>
        </p:spPr>
      </p:pic>
    </p:spTree>
    <p:extLst>
      <p:ext uri="{BB962C8B-B14F-4D97-AF65-F5344CB8AC3E}">
        <p14:creationId xmlns:p14="http://schemas.microsoft.com/office/powerpoint/2010/main" val="42844576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81821-D5C0-12F2-C08D-A147CFA904AF}"/>
              </a:ext>
            </a:extLst>
          </p:cNvPr>
          <p:cNvSpPr>
            <a:spLocks noGrp="1"/>
          </p:cNvSpPr>
          <p:nvPr>
            <p:ph type="title"/>
          </p:nvPr>
        </p:nvSpPr>
        <p:spPr/>
        <p:txBody>
          <a:bodyPr/>
          <a:lstStyle/>
          <a:p>
            <a:r>
              <a:rPr lang="en-GB" dirty="0"/>
              <a:t>Neuroplasticity and aging</a:t>
            </a:r>
          </a:p>
        </p:txBody>
      </p:sp>
      <p:sp>
        <p:nvSpPr>
          <p:cNvPr id="3" name="Content Placeholder 2">
            <a:extLst>
              <a:ext uri="{FF2B5EF4-FFF2-40B4-BE49-F238E27FC236}">
                <a16:creationId xmlns:a16="http://schemas.microsoft.com/office/drawing/2014/main" id="{7FEEE663-A71B-D4A2-36E4-ACAD67048B8A}"/>
              </a:ext>
            </a:extLst>
          </p:cNvPr>
          <p:cNvSpPr>
            <a:spLocks noGrp="1"/>
          </p:cNvSpPr>
          <p:nvPr>
            <p:ph idx="1"/>
          </p:nvPr>
        </p:nvSpPr>
        <p:spPr>
          <a:xfrm>
            <a:off x="285750" y="1253331"/>
            <a:ext cx="5101062" cy="5195094"/>
          </a:xfrm>
        </p:spPr>
        <p:txBody>
          <a:bodyPr/>
          <a:lstStyle/>
          <a:p>
            <a:r>
              <a:rPr lang="en-GB" dirty="0"/>
              <a:t>Decline in cognitive performance</a:t>
            </a:r>
          </a:p>
          <a:p>
            <a:pPr lvl="1"/>
            <a:r>
              <a:rPr lang="en-GB" dirty="0"/>
              <a:t>Rapid information processing, decision making, memory, executive cognitive function</a:t>
            </a:r>
          </a:p>
          <a:p>
            <a:pPr lvl="1"/>
            <a:r>
              <a:rPr lang="en-GB" dirty="0"/>
              <a:t>Some functions, such as verbal ability, can remain intact</a:t>
            </a:r>
          </a:p>
          <a:p>
            <a:r>
              <a:rPr lang="en-GB" dirty="0"/>
              <a:t>Some brain areas are more affected</a:t>
            </a:r>
          </a:p>
          <a:p>
            <a:pPr lvl="1"/>
            <a:r>
              <a:rPr lang="en-GB" dirty="0"/>
              <a:t>Hippocampus </a:t>
            </a:r>
            <a:r>
              <a:rPr lang="en-GB" dirty="0">
                <a:sym typeface="Wingdings" panose="05000000000000000000" pitchFamily="2" charset="2"/>
              </a:rPr>
              <a:t> episodic memory</a:t>
            </a:r>
            <a:endParaRPr lang="en-GB" dirty="0"/>
          </a:p>
          <a:p>
            <a:endParaRPr lang="en-GB" dirty="0"/>
          </a:p>
          <a:p>
            <a:r>
              <a:rPr lang="en-GB" dirty="0"/>
              <a:t>Decreased or altered synaptic plasticity</a:t>
            </a:r>
          </a:p>
          <a:p>
            <a:pPr lvl="1"/>
            <a:r>
              <a:rPr lang="en-GB" dirty="0"/>
              <a:t>Also decrease in synapse numbers more than neurons</a:t>
            </a:r>
          </a:p>
          <a:p>
            <a:pPr lvl="1"/>
            <a:endParaRPr lang="en-GB" dirty="0"/>
          </a:p>
          <a:p>
            <a:r>
              <a:rPr lang="en-GB" dirty="0"/>
              <a:t>Increased inflammatory levels in the aging brain</a:t>
            </a:r>
          </a:p>
        </p:txBody>
      </p:sp>
      <p:pic>
        <p:nvPicPr>
          <p:cNvPr id="1030" name="Picture 6">
            <a:extLst>
              <a:ext uri="{FF2B5EF4-FFF2-40B4-BE49-F238E27FC236}">
                <a16:creationId xmlns:a16="http://schemas.microsoft.com/office/drawing/2014/main" id="{35BFAC25-17C5-A0E1-EFDE-1E53647400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8828" y="1493822"/>
            <a:ext cx="6209310" cy="4964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2085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2E973-98C8-EAD4-A8EF-4A75A58B47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25506-2987-DA1C-5A52-71EE7D1648A4}"/>
              </a:ext>
            </a:extLst>
          </p:cNvPr>
          <p:cNvSpPr>
            <a:spLocks noGrp="1"/>
          </p:cNvSpPr>
          <p:nvPr>
            <p:ph type="title"/>
          </p:nvPr>
        </p:nvSpPr>
        <p:spPr/>
        <p:txBody>
          <a:bodyPr/>
          <a:lstStyle/>
          <a:p>
            <a:r>
              <a:rPr lang="en-GB" dirty="0"/>
              <a:t>Neuroplasticity and aging</a:t>
            </a:r>
          </a:p>
        </p:txBody>
      </p:sp>
      <p:sp>
        <p:nvSpPr>
          <p:cNvPr id="3" name="Content Placeholder 2">
            <a:extLst>
              <a:ext uri="{FF2B5EF4-FFF2-40B4-BE49-F238E27FC236}">
                <a16:creationId xmlns:a16="http://schemas.microsoft.com/office/drawing/2014/main" id="{D86B4B9C-E9D3-F4AD-9C7A-5B52245472D5}"/>
              </a:ext>
            </a:extLst>
          </p:cNvPr>
          <p:cNvSpPr>
            <a:spLocks noGrp="1"/>
          </p:cNvSpPr>
          <p:nvPr>
            <p:ph idx="1"/>
          </p:nvPr>
        </p:nvSpPr>
        <p:spPr>
          <a:xfrm>
            <a:off x="285750" y="1253331"/>
            <a:ext cx="5810250" cy="1942542"/>
          </a:xfrm>
        </p:spPr>
        <p:txBody>
          <a:bodyPr/>
          <a:lstStyle/>
          <a:p>
            <a:r>
              <a:rPr lang="en-GB" dirty="0"/>
              <a:t>Alzheimer’s Disease (AD) characterized by multiple aspects</a:t>
            </a:r>
          </a:p>
          <a:p>
            <a:pPr lvl="1"/>
            <a:r>
              <a:rPr lang="en-GB" dirty="0"/>
              <a:t>Increased inflammatory presence due to amyloid-</a:t>
            </a:r>
            <a:r>
              <a:rPr lang="en-GB" dirty="0">
                <a:latin typeface="Symbol" panose="05050102010706020507" pitchFamily="18" charset="2"/>
              </a:rPr>
              <a:t>b</a:t>
            </a:r>
            <a:r>
              <a:rPr lang="en-GB" dirty="0"/>
              <a:t> plaques </a:t>
            </a:r>
            <a:r>
              <a:rPr lang="en-GB" dirty="0">
                <a:sym typeface="Wingdings" panose="05000000000000000000" pitchFamily="2" charset="2"/>
              </a:rPr>
              <a:t> neuronal death</a:t>
            </a:r>
          </a:p>
          <a:p>
            <a:pPr lvl="1"/>
            <a:r>
              <a:rPr lang="en-GB" dirty="0">
                <a:sym typeface="Wingdings" panose="05000000000000000000" pitchFamily="2" charset="2"/>
              </a:rPr>
              <a:t>Increased synaptic loss and LTD due to oligomeric A</a:t>
            </a:r>
            <a:r>
              <a:rPr lang="en-GB" dirty="0">
                <a:latin typeface="Symbol" panose="05050102010706020507" pitchFamily="18" charset="2"/>
                <a:sym typeface="Wingdings" panose="05000000000000000000" pitchFamily="2" charset="2"/>
              </a:rPr>
              <a:t>b</a:t>
            </a:r>
            <a:endParaRPr lang="en-GB" dirty="0">
              <a:latin typeface="Symbol" panose="05050102010706020507" pitchFamily="18" charset="2"/>
            </a:endParaRPr>
          </a:p>
        </p:txBody>
      </p:sp>
      <p:pic>
        <p:nvPicPr>
          <p:cNvPr id="1026" name="Picture 2" descr="Fig. 1">
            <a:extLst>
              <a:ext uri="{FF2B5EF4-FFF2-40B4-BE49-F238E27FC236}">
                <a16:creationId xmlns:a16="http://schemas.microsoft.com/office/drawing/2014/main" id="{35107D86-D045-25D3-A318-F8C7D9BE21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4821" y="1149789"/>
            <a:ext cx="5229968" cy="519509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A013388-4816-2AAD-1619-313C1C01010E}"/>
              </a:ext>
            </a:extLst>
          </p:cNvPr>
          <p:cNvPicPr>
            <a:picLocks noChangeAspect="1"/>
          </p:cNvPicPr>
          <p:nvPr/>
        </p:nvPicPr>
        <p:blipFill>
          <a:blip r:embed="rId3"/>
          <a:stretch>
            <a:fillRect/>
          </a:stretch>
        </p:blipFill>
        <p:spPr>
          <a:xfrm>
            <a:off x="826320" y="3271122"/>
            <a:ext cx="4669314" cy="2822418"/>
          </a:xfrm>
          <a:prstGeom prst="rect">
            <a:avLst/>
          </a:prstGeom>
        </p:spPr>
      </p:pic>
    </p:spTree>
    <p:extLst>
      <p:ext uri="{BB962C8B-B14F-4D97-AF65-F5344CB8AC3E}">
        <p14:creationId xmlns:p14="http://schemas.microsoft.com/office/powerpoint/2010/main" val="16362515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A340-87A3-F295-7454-3F5233EF7ED4}"/>
              </a:ext>
            </a:extLst>
          </p:cNvPr>
          <p:cNvSpPr>
            <a:spLocks noGrp="1"/>
          </p:cNvSpPr>
          <p:nvPr>
            <p:ph type="title"/>
          </p:nvPr>
        </p:nvSpPr>
        <p:spPr/>
        <p:txBody>
          <a:bodyPr/>
          <a:lstStyle/>
          <a:p>
            <a:r>
              <a:rPr lang="en-GB" dirty="0"/>
              <a:t>Intervene on neuroplasticity</a:t>
            </a:r>
          </a:p>
        </p:txBody>
      </p:sp>
      <p:sp>
        <p:nvSpPr>
          <p:cNvPr id="3" name="Content Placeholder 2">
            <a:extLst>
              <a:ext uri="{FF2B5EF4-FFF2-40B4-BE49-F238E27FC236}">
                <a16:creationId xmlns:a16="http://schemas.microsoft.com/office/drawing/2014/main" id="{3C8C7E0C-CEDC-13C4-5486-32E75FD62AD4}"/>
              </a:ext>
            </a:extLst>
          </p:cNvPr>
          <p:cNvSpPr>
            <a:spLocks noGrp="1"/>
          </p:cNvSpPr>
          <p:nvPr>
            <p:ph idx="1"/>
          </p:nvPr>
        </p:nvSpPr>
        <p:spPr>
          <a:xfrm>
            <a:off x="285749" y="1253331"/>
            <a:ext cx="6390637" cy="5195094"/>
          </a:xfrm>
        </p:spPr>
        <p:txBody>
          <a:bodyPr>
            <a:normAutofit/>
          </a:bodyPr>
          <a:lstStyle/>
          <a:p>
            <a:r>
              <a:rPr lang="en-GB" b="1" dirty="0"/>
              <a:t>Brain-computer interfaces (BCIs)</a:t>
            </a:r>
            <a:r>
              <a:rPr lang="en-GB" dirty="0"/>
              <a:t> to stroke or spinal cord injury patients</a:t>
            </a:r>
          </a:p>
          <a:p>
            <a:pPr lvl="1"/>
            <a:r>
              <a:rPr lang="en-GB" dirty="0"/>
              <a:t>Not only to replace but also to stimulate adaptive neural changes</a:t>
            </a:r>
          </a:p>
          <a:p>
            <a:r>
              <a:rPr lang="en-GB" b="1" dirty="0"/>
              <a:t>Trans-cranial magnetic stimulation (TMS) </a:t>
            </a:r>
            <a:r>
              <a:rPr lang="en-GB" dirty="0"/>
              <a:t>and </a:t>
            </a:r>
            <a:r>
              <a:rPr lang="en-GB" b="1" dirty="0"/>
              <a:t>trans-cranial current stimulation (</a:t>
            </a:r>
            <a:r>
              <a:rPr lang="en-GB" b="1" dirty="0" err="1"/>
              <a:t>tDCS</a:t>
            </a:r>
            <a:r>
              <a:rPr lang="en-GB" b="1" dirty="0"/>
              <a:t>)</a:t>
            </a:r>
          </a:p>
          <a:p>
            <a:pPr lvl="1"/>
            <a:r>
              <a:rPr lang="en-GB" dirty="0"/>
              <a:t>Stimulating unused connected brain areas to help compensating affected regions loss</a:t>
            </a:r>
          </a:p>
          <a:p>
            <a:r>
              <a:rPr lang="en-GB" b="1" dirty="0"/>
              <a:t>Pharmacological</a:t>
            </a:r>
            <a:r>
              <a:rPr lang="en-GB" dirty="0"/>
              <a:t> modulation</a:t>
            </a:r>
          </a:p>
          <a:p>
            <a:pPr lvl="1"/>
            <a:r>
              <a:rPr lang="en-GB" dirty="0"/>
              <a:t>Brain-derived Neurotrophic Factor (BDNF)-enhancing drugs, to induce synapse formation and plasticity</a:t>
            </a:r>
          </a:p>
          <a:p>
            <a:pPr lvl="1"/>
            <a:r>
              <a:rPr lang="en-GB" dirty="0"/>
              <a:t>Ion-channels modulators to rebalance neuronal excitability</a:t>
            </a:r>
          </a:p>
          <a:p>
            <a:r>
              <a:rPr lang="en-GB" b="1" dirty="0"/>
              <a:t>Cognitive and Behavioural interventions</a:t>
            </a:r>
          </a:p>
          <a:p>
            <a:pPr lvl="1"/>
            <a:r>
              <a:rPr lang="en-GB" dirty="0"/>
              <a:t>Skills training (constraint-induced movement therapy in stroke patients)</a:t>
            </a:r>
          </a:p>
          <a:p>
            <a:pPr lvl="1"/>
            <a:r>
              <a:rPr lang="en-GB" dirty="0"/>
              <a:t>Environment enrichment and mental exercise to slow cognitive decline in aging</a:t>
            </a:r>
          </a:p>
          <a:p>
            <a:pPr lvl="1"/>
            <a:endParaRPr lang="en-GB" dirty="0"/>
          </a:p>
          <a:p>
            <a:endParaRPr lang="en-GB" dirty="0"/>
          </a:p>
        </p:txBody>
      </p:sp>
      <p:pic>
        <p:nvPicPr>
          <p:cNvPr id="2050" name="Picture 2" descr="© Juliette Treillet / Clinatec">
            <a:extLst>
              <a:ext uri="{FF2B5EF4-FFF2-40B4-BE49-F238E27FC236}">
                <a16:creationId xmlns:a16="http://schemas.microsoft.com/office/drawing/2014/main" id="{2670B2B8-6C08-635C-5FA4-3E50DEEBE0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7457" y="2331071"/>
            <a:ext cx="5126313" cy="2376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78998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1EAD9C1-05DC-469E-9CCF-64E96F7F6F5B}"/>
              </a:ext>
            </a:extLst>
          </p:cNvPr>
          <p:cNvSpPr>
            <a:spLocks noGrp="1"/>
          </p:cNvSpPr>
          <p:nvPr>
            <p:ph type="title"/>
          </p:nvPr>
        </p:nvSpPr>
        <p:spPr/>
        <p:txBody>
          <a:bodyPr/>
          <a:lstStyle/>
          <a:p>
            <a:r>
              <a:rPr lang="en-GB" dirty="0"/>
              <a:t>Questions?</a:t>
            </a:r>
          </a:p>
        </p:txBody>
      </p:sp>
      <p:sp>
        <p:nvSpPr>
          <p:cNvPr id="2" name="Content Placeholder 1">
            <a:extLst>
              <a:ext uri="{FF2B5EF4-FFF2-40B4-BE49-F238E27FC236}">
                <a16:creationId xmlns:a16="http://schemas.microsoft.com/office/drawing/2014/main" id="{46233025-42BD-46A6-9662-2B5B26B7ABA2}"/>
              </a:ext>
            </a:extLst>
          </p:cNvPr>
          <p:cNvSpPr>
            <a:spLocks noGrp="1"/>
          </p:cNvSpPr>
          <p:nvPr>
            <p:ph idx="1"/>
          </p:nvPr>
        </p:nvSpPr>
        <p:spPr>
          <a:xfrm>
            <a:off x="178043" y="2847902"/>
            <a:ext cx="4962452" cy="3552426"/>
          </a:xfrm>
        </p:spPr>
        <p:txBody>
          <a:bodyPr/>
          <a:lstStyle/>
          <a:p>
            <a:r>
              <a:rPr lang="en-GB" dirty="0"/>
              <a:t>Specific reading:</a:t>
            </a:r>
          </a:p>
          <a:p>
            <a:pPr lvl="1"/>
            <a:r>
              <a:rPr lang="en-GB" dirty="0">
                <a:solidFill>
                  <a:schemeClr val="accent1">
                    <a:lumMod val="75000"/>
                  </a:schemeClr>
                </a:solidFill>
              </a:rPr>
              <a:t>Guyton and Hall - </a:t>
            </a:r>
            <a:r>
              <a:rPr lang="en-GB" b="1" dirty="0">
                <a:solidFill>
                  <a:schemeClr val="accent1">
                    <a:lumMod val="75000"/>
                  </a:schemeClr>
                </a:solidFill>
              </a:rPr>
              <a:t>Textbook of Medical Physiology </a:t>
            </a:r>
            <a:r>
              <a:rPr lang="en-GB" dirty="0">
                <a:solidFill>
                  <a:schemeClr val="accent1">
                    <a:lumMod val="75000"/>
                  </a:schemeClr>
                </a:solidFill>
              </a:rPr>
              <a:t>12</a:t>
            </a:r>
            <a:r>
              <a:rPr lang="en-GB" baseline="30000" dirty="0">
                <a:solidFill>
                  <a:schemeClr val="accent1">
                    <a:lumMod val="75000"/>
                  </a:schemeClr>
                </a:solidFill>
              </a:rPr>
              <a:t>th</a:t>
            </a:r>
            <a:r>
              <a:rPr lang="en-GB" dirty="0">
                <a:solidFill>
                  <a:schemeClr val="accent1">
                    <a:lumMod val="75000"/>
                  </a:schemeClr>
                </a:solidFill>
              </a:rPr>
              <a:t> ed (2011) ISBN: 978-0-8089-2400-5</a:t>
            </a:r>
          </a:p>
          <a:p>
            <a:pPr lvl="1"/>
            <a:endParaRPr lang="en-GB" dirty="0"/>
          </a:p>
          <a:p>
            <a:pPr lvl="1"/>
            <a:r>
              <a:rPr lang="en-GB" dirty="0"/>
              <a:t>Constance Hammond </a:t>
            </a:r>
            <a:r>
              <a:rPr lang="en-GB" b="1" dirty="0"/>
              <a:t>– Cellular and Molecular Neurophysiology </a:t>
            </a:r>
            <a:r>
              <a:rPr lang="en-GB" dirty="0"/>
              <a:t>4</a:t>
            </a:r>
            <a:r>
              <a:rPr lang="en-GB" baseline="30000" dirty="0"/>
              <a:t>th</a:t>
            </a:r>
            <a:r>
              <a:rPr lang="en-GB" dirty="0"/>
              <a:t> ed (2015) ISBN: 978-0-12-397032-9</a:t>
            </a:r>
          </a:p>
          <a:p>
            <a:pPr lvl="1"/>
            <a:r>
              <a:rPr lang="en-GB" dirty="0"/>
              <a:t>Greg Stuart, Nelson Spruston, Micheal Häusser – </a:t>
            </a:r>
            <a:r>
              <a:rPr lang="en-GB" b="1" dirty="0"/>
              <a:t>Dendrites</a:t>
            </a:r>
            <a:r>
              <a:rPr lang="en-GB" dirty="0"/>
              <a:t> 3th ed (2016) </a:t>
            </a:r>
            <a:br>
              <a:rPr lang="en-GB" dirty="0"/>
            </a:br>
            <a:r>
              <a:rPr lang="en-GB" dirty="0"/>
              <a:t>ISBN 978–0–19–874527–3</a:t>
            </a:r>
          </a:p>
        </p:txBody>
      </p:sp>
      <p:sp>
        <p:nvSpPr>
          <p:cNvPr id="8" name="TextBox 7">
            <a:extLst>
              <a:ext uri="{FF2B5EF4-FFF2-40B4-BE49-F238E27FC236}">
                <a16:creationId xmlns:a16="http://schemas.microsoft.com/office/drawing/2014/main" id="{55570673-E8FA-47E3-8D51-98B831132C8E}"/>
              </a:ext>
            </a:extLst>
          </p:cNvPr>
          <p:cNvSpPr txBox="1"/>
          <p:nvPr/>
        </p:nvSpPr>
        <p:spPr>
          <a:xfrm>
            <a:off x="929038" y="1441305"/>
            <a:ext cx="3452840" cy="646331"/>
          </a:xfrm>
          <a:prstGeom prst="rect">
            <a:avLst/>
          </a:prstGeom>
          <a:solidFill>
            <a:schemeClr val="accent1">
              <a:lumMod val="40000"/>
              <a:lumOff val="60000"/>
            </a:schemeClr>
          </a:solidFill>
          <a:ln w="381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For follow-up questions: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vm491@cam.ac.uk</a:t>
            </a:r>
          </a:p>
        </p:txBody>
      </p:sp>
      <p:pic>
        <p:nvPicPr>
          <p:cNvPr id="3" name="Picture 2">
            <a:extLst>
              <a:ext uri="{FF2B5EF4-FFF2-40B4-BE49-F238E27FC236}">
                <a16:creationId xmlns:a16="http://schemas.microsoft.com/office/drawing/2014/main" id="{405E2ACF-9B4A-98B7-1450-F9987597CBF0}"/>
              </a:ext>
            </a:extLst>
          </p:cNvPr>
          <p:cNvPicPr>
            <a:picLocks noChangeAspect="1"/>
          </p:cNvPicPr>
          <p:nvPr/>
        </p:nvPicPr>
        <p:blipFill>
          <a:blip r:embed="rId2"/>
          <a:stretch>
            <a:fillRect/>
          </a:stretch>
        </p:blipFill>
        <p:spPr>
          <a:xfrm>
            <a:off x="9702498" y="3608279"/>
            <a:ext cx="1937033" cy="2792049"/>
          </a:xfrm>
          <a:prstGeom prst="rect">
            <a:avLst/>
          </a:prstGeom>
        </p:spPr>
      </p:pic>
      <p:pic>
        <p:nvPicPr>
          <p:cNvPr id="5" name="Picture 4">
            <a:extLst>
              <a:ext uri="{FF2B5EF4-FFF2-40B4-BE49-F238E27FC236}">
                <a16:creationId xmlns:a16="http://schemas.microsoft.com/office/drawing/2014/main" id="{11EE7B89-9340-B58D-D728-7D75E2BCFEBB}"/>
              </a:ext>
            </a:extLst>
          </p:cNvPr>
          <p:cNvPicPr>
            <a:picLocks noChangeAspect="1"/>
          </p:cNvPicPr>
          <p:nvPr/>
        </p:nvPicPr>
        <p:blipFill>
          <a:blip r:embed="rId3"/>
          <a:stretch>
            <a:fillRect/>
          </a:stretch>
        </p:blipFill>
        <p:spPr>
          <a:xfrm>
            <a:off x="9702498" y="1023471"/>
            <a:ext cx="1984687" cy="2538355"/>
          </a:xfrm>
          <a:prstGeom prst="rect">
            <a:avLst/>
          </a:prstGeom>
        </p:spPr>
      </p:pic>
      <p:pic>
        <p:nvPicPr>
          <p:cNvPr id="9" name="Picture 8">
            <a:extLst>
              <a:ext uri="{FF2B5EF4-FFF2-40B4-BE49-F238E27FC236}">
                <a16:creationId xmlns:a16="http://schemas.microsoft.com/office/drawing/2014/main" id="{3B11F31B-D6D1-5592-41F6-4F6D66BBFF41}"/>
              </a:ext>
            </a:extLst>
          </p:cNvPr>
          <p:cNvPicPr>
            <a:picLocks noChangeAspect="1"/>
          </p:cNvPicPr>
          <p:nvPr/>
        </p:nvPicPr>
        <p:blipFill>
          <a:blip r:embed="rId4"/>
          <a:stretch>
            <a:fillRect/>
          </a:stretch>
        </p:blipFill>
        <p:spPr>
          <a:xfrm>
            <a:off x="5636838" y="1320801"/>
            <a:ext cx="3699624" cy="4713598"/>
          </a:xfrm>
          <a:prstGeom prst="rect">
            <a:avLst/>
          </a:prstGeom>
        </p:spPr>
      </p:pic>
    </p:spTree>
    <p:extLst>
      <p:ext uri="{BB962C8B-B14F-4D97-AF65-F5344CB8AC3E}">
        <p14:creationId xmlns:p14="http://schemas.microsoft.com/office/powerpoint/2010/main" val="384659102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1932</Words>
  <Application>Microsoft Office PowerPoint</Application>
  <PresentationFormat>Widescreen</PresentationFormat>
  <Paragraphs>362</Paragraphs>
  <Slides>40</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Aptos</vt:lpstr>
      <vt:lpstr>Aptos Display</vt:lpstr>
      <vt:lpstr>Arial</vt:lpstr>
      <vt:lpstr>Calibri</vt:lpstr>
      <vt:lpstr>Calibri </vt:lpstr>
      <vt:lpstr>Symbol</vt:lpstr>
      <vt:lpstr>Wingdings</vt:lpstr>
      <vt:lpstr>1_Office Theme</vt:lpstr>
      <vt:lpstr>Neuroplasticity, CNS Transmitters, Brain and Ageing</vt:lpstr>
      <vt:lpstr>Learning outcomes</vt:lpstr>
      <vt:lpstr>Cellular excitability and plasticity</vt:lpstr>
      <vt:lpstr>Excitability</vt:lpstr>
      <vt:lpstr>Ion channels</vt:lpstr>
      <vt:lpstr>Ion channels families</vt:lpstr>
      <vt:lpstr>Resting membrane potential (voltage)</vt:lpstr>
      <vt:lpstr>Resting membrane potential (voltage)</vt:lpstr>
      <vt:lpstr>Action potential</vt:lpstr>
      <vt:lpstr>Action potential</vt:lpstr>
      <vt:lpstr>The refractory period</vt:lpstr>
      <vt:lpstr>AP conduction and refractory period</vt:lpstr>
      <vt:lpstr>The neuron</vt:lpstr>
      <vt:lpstr>Neuronal output: the bouton</vt:lpstr>
      <vt:lpstr>Neuronal output: the bouton</vt:lpstr>
      <vt:lpstr>The neurotransmitter</vt:lpstr>
      <vt:lpstr>The synapse</vt:lpstr>
      <vt:lpstr>The Postsynaptic Density</vt:lpstr>
      <vt:lpstr>Ionotropic glutamate receptors</vt:lpstr>
      <vt:lpstr>Ionotropic GABAA receptors</vt:lpstr>
      <vt:lpstr>Neuronal signal integration</vt:lpstr>
      <vt:lpstr>Specific Dendritic Morphology</vt:lpstr>
      <vt:lpstr>Neuronal networks</vt:lpstr>
      <vt:lpstr>The neuromuscular junction</vt:lpstr>
      <vt:lpstr>Synaptic Plasticity</vt:lpstr>
      <vt:lpstr>Long-term potentiation (LTP)</vt:lpstr>
      <vt:lpstr>Long-term potentiation (LTP)</vt:lpstr>
      <vt:lpstr>Long-term depression (LTD)</vt:lpstr>
      <vt:lpstr>Backpropagating Action Potential (bAP)</vt:lpstr>
      <vt:lpstr>Neuroplasticy in brain systems</vt:lpstr>
      <vt:lpstr>Neuroplasticity</vt:lpstr>
      <vt:lpstr>Neuroplasticity</vt:lpstr>
      <vt:lpstr>Neuroplasticity</vt:lpstr>
      <vt:lpstr>Memory consolidation</vt:lpstr>
      <vt:lpstr>Neuroplasticity in the affected brain</vt:lpstr>
      <vt:lpstr>Network compensatory mechanisms</vt:lpstr>
      <vt:lpstr>Neuroplasticity and aging</vt:lpstr>
      <vt:lpstr>Neuroplasticity and aging</vt:lpstr>
      <vt:lpstr>Intervene on neuroplasticity</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Vincenzo Mastrolia</dc:creator>
  <cp:lastModifiedBy>Vincenzo Mastrolia</cp:lastModifiedBy>
  <cp:revision>1</cp:revision>
  <dcterms:created xsi:type="dcterms:W3CDTF">2025-11-17T15:51:36Z</dcterms:created>
  <dcterms:modified xsi:type="dcterms:W3CDTF">2025-11-18T08:29:45Z</dcterms:modified>
</cp:coreProperties>
</file>