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53" r:id="rId2"/>
    <p:sldId id="654" r:id="rId3"/>
    <p:sldId id="656" r:id="rId4"/>
    <p:sldId id="657" r:id="rId5"/>
    <p:sldId id="658" r:id="rId6"/>
    <p:sldId id="659" r:id="rId7"/>
    <p:sldId id="660" r:id="rId8"/>
    <p:sldId id="661" r:id="rId9"/>
    <p:sldId id="662" r:id="rId10"/>
    <p:sldId id="663" r:id="rId11"/>
    <p:sldId id="664" r:id="rId12"/>
    <p:sldId id="665" r:id="rId13"/>
    <p:sldId id="666" r:id="rId14"/>
    <p:sldId id="667" r:id="rId15"/>
    <p:sldId id="639" r:id="rId16"/>
    <p:sldId id="637" r:id="rId17"/>
    <p:sldId id="635" r:id="rId18"/>
    <p:sldId id="636" r:id="rId19"/>
    <p:sldId id="6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8D6DA-390E-949E-D8E5-7726076E9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3A9AC-AA75-9879-23E9-CBAE03656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A7C27-7DA2-A47C-D829-E3F1C0D2B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538E-608F-435D-BEF7-D67D009185E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2BB45-7A94-0D52-5C23-A93E25BF1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BE0CF-1D72-A3C8-3012-8C6570822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711-487E-4499-B358-CB8C73B38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29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5060-246E-AE86-E274-AD8482D8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8B39D-3A26-866E-AFD1-919C31935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2E68D-99D3-BFD8-4240-1B53D9D15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538E-608F-435D-BEF7-D67D009185E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B93D6-539A-B6B4-4985-C8F9E577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F02E-35C6-4C26-28BB-3BB5C656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711-487E-4499-B358-CB8C73B38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501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A0EA-8CC3-5D7A-CB43-7963A6276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64AAA-5A54-7189-20C1-C3594A2CC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19E0B-88F3-76EC-4AAE-4173FDEF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538E-608F-435D-BEF7-D67D009185E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0E660-0544-F9B4-FEB1-32B31FD5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369CB-DB01-3BAD-9B67-496A6DBC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711-487E-4499-B358-CB8C73B38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482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E5DD2-1545-A198-9BC1-8C410AE3C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934BF-F53D-8314-529D-F73EBC673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2C423-9E32-30D5-A885-0490C2885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722F7-5124-09D8-6E95-E105D7C8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538E-608F-435D-BEF7-D67D009185E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61B05-B480-F21E-2235-CD6D115B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57AD6-E10E-0126-AD4E-0A8E8F120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711-487E-4499-B358-CB8C73B38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006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B5A2-A09F-DEC4-6A66-E313A68F3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2844D-64E3-9350-CB85-8F966C386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7AA052-A592-BB16-7B78-6A781D7E4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812E68-7D07-DB0B-43E0-DE9EC90CF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820FA3-F990-F91F-6D94-FEABA9291A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F4FF1-E770-F4DF-0878-9EB965DA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538E-608F-435D-BEF7-D67D009185E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6744FF-DC8E-A233-B36E-A246D104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2DF386-6FB2-F2BB-3DD6-D39C325B6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711-487E-4499-B358-CB8C73B38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041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432D5-E532-5CDC-5DC7-FC0EA6152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740F8-7F37-F551-7DE7-C5E1F312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538E-608F-435D-BEF7-D67D009185E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40BBE-8201-D8E0-AFB8-E505803E8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1651F-0706-33A6-5C4B-B48D1523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711-487E-4499-B358-CB8C73B38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208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8C398-9AC3-C88F-B94E-F72A75E69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538E-608F-435D-BEF7-D67D009185E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32D081-A38E-080F-9B4A-043A8C5FA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57D5A-90E3-164C-9A21-361CA46B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711-487E-4499-B358-CB8C73B38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67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0F260-6D3D-E266-7DC3-58904E48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21168-FEF8-4C0B-BD0D-BB991CF07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BE369-72E0-F798-DAC9-B7E09CCF1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D949C-0D7C-31DD-4337-14BE9BCC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538E-608F-435D-BEF7-D67D009185E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D1529-626B-5287-4595-A58011A1A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A6CBD-1AC3-546B-3FC5-7883AB6AC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711-487E-4499-B358-CB8C73B38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48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CAC0E-F88A-48E3-D94B-4C1579634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3F15A-EF75-16A6-D939-E6DACE6F3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13DF0-B758-7ED5-DA7B-26008BDB9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EECC4-7E56-E369-51D6-C4ED6FF0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538E-608F-435D-BEF7-D67D009185E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31654-4863-C55E-F0C0-97AF6A4AE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8B944-F969-3470-347C-5839085B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711-487E-4499-B358-CB8C73B38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19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6F23-C001-F5BE-3CEC-9FA6D9E73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DBEA0-890C-3A9E-3B4E-B35937AC4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02FE0-E205-1EF4-37DA-638A5873D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538E-608F-435D-BEF7-D67D009185E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9EDAC-9FFC-E8EB-F370-DC566966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23FD4-C756-6EC9-50A4-EC854505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711-487E-4499-B358-CB8C73B38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45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725D2-FD85-4B0C-821C-2F6686EE01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C17F-09C2-5A3F-7D14-2235EDE57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8ACE0-790A-56D0-68CD-1796117D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538E-608F-435D-BEF7-D67D009185E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AF540-E080-981D-B124-782EFE208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F15AF-4A16-946F-9FD1-B0644462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711-487E-4499-B358-CB8C73B38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4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49F2C-B243-ACB9-B94D-E2B53CA5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D6EBD-F5CF-E6EE-E90D-EFBB88150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D1A79-885A-0BF0-86D7-D0ABB1109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9538E-608F-435D-BEF7-D67D009185E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F18DE-7186-CBFF-CC80-4F571ACAF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1B3A8-117E-0AD3-AB36-C0E8EB455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728711-487E-4499-B358-CB8C73B38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344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45A837-5DA2-3D07-A622-D5D1D29C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Brainstem and cranial nerves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06151B-307C-1907-4E67-22BFCAC54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2" descr="Logos - London Metropolitan University">
            <a:extLst>
              <a:ext uri="{FF2B5EF4-FFF2-40B4-BE49-F238E27FC236}">
                <a16:creationId xmlns:a16="http://schemas.microsoft.com/office/drawing/2014/main" id="{283D167A-F315-D953-8899-B37C9A5CD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96" y="20637"/>
            <a:ext cx="2407608" cy="140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A3968F28-BFF0-E8C4-567B-FF795B984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426" y="-14335"/>
            <a:ext cx="6886669" cy="688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FAF2-ABEE-E804-9960-A6468285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CNS - Brain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A9172-D487-E117-F056-AE5336EAC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1855099"/>
            <a:ext cx="5849386" cy="3367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33F709-0C4C-2E88-C149-48A82D6497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753"/>
          <a:stretch/>
        </p:blipFill>
        <p:spPr>
          <a:xfrm>
            <a:off x="5986669" y="1940166"/>
            <a:ext cx="5791612" cy="3143388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1848F5F-8773-17C7-265C-0F943037A641}"/>
              </a:ext>
            </a:extLst>
          </p:cNvPr>
          <p:cNvSpPr/>
          <p:nvPr/>
        </p:nvSpPr>
        <p:spPr>
          <a:xfrm>
            <a:off x="6170196" y="4088569"/>
            <a:ext cx="1972805" cy="11341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49E47B-C7E9-D9FE-886E-2D197B76F043}"/>
              </a:ext>
            </a:extLst>
          </p:cNvPr>
          <p:cNvCxnSpPr>
            <a:cxnSpLocks/>
          </p:cNvCxnSpPr>
          <p:nvPr/>
        </p:nvCxnSpPr>
        <p:spPr>
          <a:xfrm>
            <a:off x="8021370" y="4273235"/>
            <a:ext cx="301099" cy="0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4D2753-A27B-FEEC-B44E-BAB80E97A882}"/>
              </a:ext>
            </a:extLst>
          </p:cNvPr>
          <p:cNvCxnSpPr>
            <a:cxnSpLocks/>
          </p:cNvCxnSpPr>
          <p:nvPr/>
        </p:nvCxnSpPr>
        <p:spPr>
          <a:xfrm>
            <a:off x="8021370" y="4950735"/>
            <a:ext cx="606582" cy="0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AF2DF7-C9F8-1663-B650-7EE1493A2C6D}"/>
              </a:ext>
            </a:extLst>
          </p:cNvPr>
          <p:cNvCxnSpPr>
            <a:cxnSpLocks/>
          </p:cNvCxnSpPr>
          <p:nvPr/>
        </p:nvCxnSpPr>
        <p:spPr>
          <a:xfrm>
            <a:off x="8033441" y="4615757"/>
            <a:ext cx="350068" cy="0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1450FE-2096-6866-B710-4CD130490312}"/>
              </a:ext>
            </a:extLst>
          </p:cNvPr>
          <p:cNvCxnSpPr>
            <a:cxnSpLocks/>
          </p:cNvCxnSpPr>
          <p:nvPr/>
        </p:nvCxnSpPr>
        <p:spPr>
          <a:xfrm flipV="1">
            <a:off x="8309171" y="3550444"/>
            <a:ext cx="725291" cy="730336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837499-9D00-9E47-9742-1A8481897C82}"/>
              </a:ext>
            </a:extLst>
          </p:cNvPr>
          <p:cNvCxnSpPr>
            <a:cxnSpLocks/>
          </p:cNvCxnSpPr>
          <p:nvPr/>
        </p:nvCxnSpPr>
        <p:spPr>
          <a:xfrm flipV="1">
            <a:off x="8371085" y="3890183"/>
            <a:ext cx="725291" cy="730336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A74EA9-D1BF-6E68-FFEA-74BC826FC4BB}"/>
              </a:ext>
            </a:extLst>
          </p:cNvPr>
          <p:cNvCxnSpPr>
            <a:cxnSpLocks/>
          </p:cNvCxnSpPr>
          <p:nvPr/>
        </p:nvCxnSpPr>
        <p:spPr>
          <a:xfrm flipV="1">
            <a:off x="8611593" y="4225942"/>
            <a:ext cx="725291" cy="730336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51F877B-8BC5-1067-0D3B-C64D422EEC9F}"/>
              </a:ext>
            </a:extLst>
          </p:cNvPr>
          <p:cNvSpPr txBox="1"/>
          <p:nvPr/>
        </p:nvSpPr>
        <p:spPr>
          <a:xfrm>
            <a:off x="7168131" y="4126891"/>
            <a:ext cx="863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Midbrain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673484-954B-3E16-6B70-D119B44C0A41}"/>
              </a:ext>
            </a:extLst>
          </p:cNvPr>
          <p:cNvSpPr txBox="1"/>
          <p:nvPr/>
        </p:nvSpPr>
        <p:spPr>
          <a:xfrm>
            <a:off x="7464494" y="4457901"/>
            <a:ext cx="567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Pons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6EA36C-AFEC-4C74-951C-CCEC10A23407}"/>
              </a:ext>
            </a:extLst>
          </p:cNvPr>
          <p:cNvSpPr txBox="1"/>
          <p:nvPr/>
        </p:nvSpPr>
        <p:spPr>
          <a:xfrm>
            <a:off x="6371374" y="4821943"/>
            <a:ext cx="1660583" cy="261610"/>
          </a:xfrm>
          <a:prstGeom prst="rect">
            <a:avLst/>
          </a:prstGeom>
          <a:noFill/>
        </p:spPr>
        <p:txBody>
          <a:bodyPr wrap="none" tIns="0" rtlCol="0">
            <a:spAutoFit/>
          </a:bodyPr>
          <a:lstStyle/>
          <a:p>
            <a:r>
              <a:rPr lang="en-GB" sz="1400" dirty="0"/>
              <a:t>Medulla </a:t>
            </a:r>
            <a:r>
              <a:rPr lang="en-GB" sz="1400" dirty="0" err="1"/>
              <a:t>Oblungata</a:t>
            </a:r>
            <a:endParaRPr lang="en-GB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673971-28A3-E78C-9EF8-3EC34E04E175}"/>
              </a:ext>
            </a:extLst>
          </p:cNvPr>
          <p:cNvSpPr txBox="1"/>
          <p:nvPr/>
        </p:nvSpPr>
        <p:spPr>
          <a:xfrm>
            <a:off x="6542363" y="3770694"/>
            <a:ext cx="12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Brainstem</a:t>
            </a:r>
          </a:p>
        </p:txBody>
      </p:sp>
    </p:spTree>
    <p:extLst>
      <p:ext uri="{BB962C8B-B14F-4D97-AF65-F5344CB8AC3E}">
        <p14:creationId xmlns:p14="http://schemas.microsoft.com/office/powerpoint/2010/main" val="367571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D41C-ADCA-865A-6739-3B6D8AC56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brainstem</a:t>
            </a:r>
          </a:p>
        </p:txBody>
      </p:sp>
      <p:pic>
        <p:nvPicPr>
          <p:cNvPr id="4" name="Screen Recording 5">
            <a:hlinkClick r:id="" action="ppaction://media"/>
            <a:extLst>
              <a:ext uri="{FF2B5EF4-FFF2-40B4-BE49-F238E27FC236}">
                <a16:creationId xmlns:a16="http://schemas.microsoft.com/office/drawing/2014/main" id="{E35E1BC8-7683-BA92-1FDA-3CE5D52D366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25650" y="1253337"/>
            <a:ext cx="8140700" cy="487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7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4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DDD66-4107-6545-406B-77B7508E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brainstem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DBF4E-4035-2C53-5859-F742E5F10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195"/>
          <a:stretch/>
        </p:blipFill>
        <p:spPr>
          <a:xfrm>
            <a:off x="350183" y="1533600"/>
            <a:ext cx="5459628" cy="4168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C7E90C-A8ED-0854-A000-1FA4D45FF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944" b="4143"/>
          <a:stretch/>
        </p:blipFill>
        <p:spPr>
          <a:xfrm>
            <a:off x="6382191" y="2047875"/>
            <a:ext cx="545963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6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5074-01F1-242E-CBC7-613DD0FF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medulla </a:t>
            </a:r>
            <a:r>
              <a:rPr lang="en-GB" dirty="0" err="1"/>
              <a:t>oblungata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9A7ACF-CC38-1EE2-DA34-749BC06ADF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48195"/>
          <a:stretch/>
        </p:blipFill>
        <p:spPr>
          <a:xfrm>
            <a:off x="350179" y="1532918"/>
            <a:ext cx="5459628" cy="4168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372C18-CFB7-2A2B-954A-392105C031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51944" b="4143"/>
          <a:stretch/>
        </p:blipFill>
        <p:spPr>
          <a:xfrm>
            <a:off x="6382191" y="2047875"/>
            <a:ext cx="5459630" cy="3533775"/>
          </a:xfrm>
          <a:prstGeom prst="rect">
            <a:avLst/>
          </a:prstGeom>
        </p:spPr>
      </p:pic>
      <p:pic>
        <p:nvPicPr>
          <p:cNvPr id="7" name="Picture 6" descr="A diagram of the body&#10;&#10;Description automatically generated">
            <a:extLst>
              <a:ext uri="{FF2B5EF4-FFF2-40B4-BE49-F238E27FC236}">
                <a16:creationId xmlns:a16="http://schemas.microsoft.com/office/drawing/2014/main" id="{B6AFD188-2D28-669E-BA91-8B97CBCE3D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586" y="3774352"/>
            <a:ext cx="4760014" cy="1761106"/>
          </a:xfrm>
          <a:prstGeom prst="rect">
            <a:avLst/>
          </a:prstGeom>
        </p:spPr>
      </p:pic>
      <p:pic>
        <p:nvPicPr>
          <p:cNvPr id="9" name="Picture 8" descr="A diagram of the muscles of the body&#10;&#10;Description automatically generated">
            <a:extLst>
              <a:ext uri="{FF2B5EF4-FFF2-40B4-BE49-F238E27FC236}">
                <a16:creationId xmlns:a16="http://schemas.microsoft.com/office/drawing/2014/main" id="{94F02A56-F8EE-3486-8D47-FF3841D95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08" y="3901254"/>
            <a:ext cx="5145236" cy="176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84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C480-5D06-753F-EF20-F84CA805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medulla </a:t>
            </a:r>
            <a:r>
              <a:rPr lang="en-GB" dirty="0" err="1"/>
              <a:t>oblungata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392202-9599-A41A-9AD3-7AE33513F8F6}"/>
              </a:ext>
            </a:extLst>
          </p:cNvPr>
          <p:cNvGrpSpPr/>
          <p:nvPr/>
        </p:nvGrpSpPr>
        <p:grpSpPr>
          <a:xfrm>
            <a:off x="148590" y="1263693"/>
            <a:ext cx="2880046" cy="2377570"/>
            <a:chOff x="1556001" y="2096809"/>
            <a:chExt cx="4138925" cy="3416815"/>
          </a:xfrm>
        </p:grpSpPr>
        <p:pic>
          <p:nvPicPr>
            <p:cNvPr id="5" name="Picture 4" descr="A drawing of a brain&#10;&#10;Description automatically generated">
              <a:extLst>
                <a:ext uri="{FF2B5EF4-FFF2-40B4-BE49-F238E27FC236}">
                  <a16:creationId xmlns:a16="http://schemas.microsoft.com/office/drawing/2014/main" id="{4A741263-A45B-D7CC-8C0E-B318AE6EF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6001" y="2096809"/>
              <a:ext cx="2983998" cy="341681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44A81C-672E-160E-9758-02EF1A1822EB}"/>
                </a:ext>
              </a:extLst>
            </p:cNvPr>
            <p:cNvSpPr txBox="1"/>
            <p:nvPr/>
          </p:nvSpPr>
          <p:spPr>
            <a:xfrm>
              <a:off x="4638675" y="2814638"/>
              <a:ext cx="1056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Midbrain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A40230-321C-3386-7FE8-A58F951D85E6}"/>
                </a:ext>
              </a:extLst>
            </p:cNvPr>
            <p:cNvSpPr txBox="1"/>
            <p:nvPr/>
          </p:nvSpPr>
          <p:spPr>
            <a:xfrm>
              <a:off x="4191000" y="3489365"/>
              <a:ext cx="674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Pons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EF59D4-43B2-BDDA-E830-598D1737CF33}"/>
                </a:ext>
              </a:extLst>
            </p:cNvPr>
            <p:cNvSpPr txBox="1"/>
            <p:nvPr/>
          </p:nvSpPr>
          <p:spPr>
            <a:xfrm>
              <a:off x="3577521" y="4278392"/>
              <a:ext cx="1226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Medulla</a:t>
              </a:r>
            </a:p>
            <a:p>
              <a:r>
                <a:rPr lang="en-GB" dirty="0" err="1"/>
                <a:t>Oblungata</a:t>
              </a:r>
              <a:endParaRPr lang="en-GB" dirty="0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C43DE3-DD73-55D8-E854-5C89DA30AD5D}"/>
              </a:ext>
            </a:extLst>
          </p:cNvPr>
          <p:cNvCxnSpPr>
            <a:cxnSpLocks/>
          </p:cNvCxnSpPr>
          <p:nvPr/>
        </p:nvCxnSpPr>
        <p:spPr>
          <a:xfrm>
            <a:off x="367717" y="2703765"/>
            <a:ext cx="1218789" cy="41687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03329FC-9933-A9C3-E258-1B87988D6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636" y="1878154"/>
            <a:ext cx="6988956" cy="35692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C3949-F454-7BD6-02A6-E2E6452F4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92" y="4009895"/>
            <a:ext cx="5254498" cy="245873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4F7158D-9F95-0935-AF0A-8470D471AE3E}"/>
              </a:ext>
            </a:extLst>
          </p:cNvPr>
          <p:cNvGrpSpPr/>
          <p:nvPr/>
        </p:nvGrpSpPr>
        <p:grpSpPr>
          <a:xfrm>
            <a:off x="9217834" y="6283963"/>
            <a:ext cx="2531514" cy="369332"/>
            <a:chOff x="6025953" y="5898082"/>
            <a:chExt cx="2531514" cy="3693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7763EDE-1BA5-8DF6-9FCB-187935DABD9C}"/>
                </a:ext>
              </a:extLst>
            </p:cNvPr>
            <p:cNvSpPr/>
            <p:nvPr/>
          </p:nvSpPr>
          <p:spPr>
            <a:xfrm>
              <a:off x="6025953" y="5957799"/>
              <a:ext cx="249898" cy="24989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9FD6BF-DC5A-C9D1-D0B2-B9AD623A4A8D}"/>
                </a:ext>
              </a:extLst>
            </p:cNvPr>
            <p:cNvSpPr txBox="1"/>
            <p:nvPr/>
          </p:nvSpPr>
          <p:spPr>
            <a:xfrm>
              <a:off x="6344005" y="5898082"/>
              <a:ext cx="986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Sensory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EFB8B4-383B-7411-13A6-47F719C78EF1}"/>
                </a:ext>
              </a:extLst>
            </p:cNvPr>
            <p:cNvSpPr/>
            <p:nvPr/>
          </p:nvSpPr>
          <p:spPr>
            <a:xfrm>
              <a:off x="7467601" y="5957799"/>
              <a:ext cx="249898" cy="249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8550A4-D5D8-B702-0B01-FE3E97D62F8C}"/>
                </a:ext>
              </a:extLst>
            </p:cNvPr>
            <p:cNvSpPr txBox="1"/>
            <p:nvPr/>
          </p:nvSpPr>
          <p:spPr>
            <a:xfrm>
              <a:off x="7785653" y="5898082"/>
              <a:ext cx="77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Motor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279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A18F5-9F5D-8286-926F-DD7178A89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8D4B-6E3B-D29C-7326-C0D3A021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medulla </a:t>
            </a:r>
            <a:r>
              <a:rPr lang="en-GB" dirty="0" err="1"/>
              <a:t>oblungata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8C13969-94B1-38D3-98FC-8D5CEB3E9D86}"/>
              </a:ext>
            </a:extLst>
          </p:cNvPr>
          <p:cNvGrpSpPr/>
          <p:nvPr/>
        </p:nvGrpSpPr>
        <p:grpSpPr>
          <a:xfrm>
            <a:off x="148590" y="1263693"/>
            <a:ext cx="2880046" cy="2377570"/>
            <a:chOff x="1556001" y="2096809"/>
            <a:chExt cx="4138925" cy="3416815"/>
          </a:xfrm>
        </p:grpSpPr>
        <p:pic>
          <p:nvPicPr>
            <p:cNvPr id="5" name="Picture 4" descr="A drawing of a brain&#10;&#10;Description automatically generated">
              <a:extLst>
                <a:ext uri="{FF2B5EF4-FFF2-40B4-BE49-F238E27FC236}">
                  <a16:creationId xmlns:a16="http://schemas.microsoft.com/office/drawing/2014/main" id="{6CA06861-A4F6-B880-C95A-8A3D4E194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6001" y="2096809"/>
              <a:ext cx="2983998" cy="341681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15C24D-0675-E50A-9983-00B469EFC1C7}"/>
                </a:ext>
              </a:extLst>
            </p:cNvPr>
            <p:cNvSpPr txBox="1"/>
            <p:nvPr/>
          </p:nvSpPr>
          <p:spPr>
            <a:xfrm>
              <a:off x="4638675" y="2814638"/>
              <a:ext cx="1056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Midbrain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DA1EB9-637C-4FB6-1718-09A8B0BF5D9C}"/>
                </a:ext>
              </a:extLst>
            </p:cNvPr>
            <p:cNvSpPr txBox="1"/>
            <p:nvPr/>
          </p:nvSpPr>
          <p:spPr>
            <a:xfrm>
              <a:off x="4191000" y="3489365"/>
              <a:ext cx="674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Pons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7F230A-D79A-CD3B-F88C-25BFDC8D1D09}"/>
                </a:ext>
              </a:extLst>
            </p:cNvPr>
            <p:cNvSpPr txBox="1"/>
            <p:nvPr/>
          </p:nvSpPr>
          <p:spPr>
            <a:xfrm>
              <a:off x="3577521" y="4278392"/>
              <a:ext cx="1226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Medulla</a:t>
              </a:r>
            </a:p>
            <a:p>
              <a:r>
                <a:rPr lang="en-GB" dirty="0" err="1"/>
                <a:t>Oblungata</a:t>
              </a:r>
              <a:endParaRPr lang="en-GB" dirty="0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8719D6-CF42-C9F2-579C-5993BC019222}"/>
              </a:ext>
            </a:extLst>
          </p:cNvPr>
          <p:cNvCxnSpPr>
            <a:cxnSpLocks/>
          </p:cNvCxnSpPr>
          <p:nvPr/>
        </p:nvCxnSpPr>
        <p:spPr>
          <a:xfrm>
            <a:off x="694686" y="2424575"/>
            <a:ext cx="1218789" cy="41687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61A0C53-1A03-4B51-DAA3-2F62A6423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525" y="862095"/>
            <a:ext cx="4936400" cy="55583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F46EED-E91A-BD79-2DC6-7E81D4858E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757"/>
          <a:stretch/>
        </p:blipFill>
        <p:spPr>
          <a:xfrm>
            <a:off x="1357189" y="3622648"/>
            <a:ext cx="5041072" cy="311313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CD9C983-9C0D-05E8-79B0-18BB313D7260}"/>
              </a:ext>
            </a:extLst>
          </p:cNvPr>
          <p:cNvGrpSpPr/>
          <p:nvPr/>
        </p:nvGrpSpPr>
        <p:grpSpPr>
          <a:xfrm>
            <a:off x="9217834" y="6283963"/>
            <a:ext cx="2531514" cy="369332"/>
            <a:chOff x="6025953" y="5898082"/>
            <a:chExt cx="2531514" cy="36933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D2DB12-9733-C4F8-7DA5-27587A2FF528}"/>
                </a:ext>
              </a:extLst>
            </p:cNvPr>
            <p:cNvSpPr/>
            <p:nvPr/>
          </p:nvSpPr>
          <p:spPr>
            <a:xfrm>
              <a:off x="6025953" y="5957799"/>
              <a:ext cx="249898" cy="24989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2FC1EC-846F-8E38-BAB4-AB33024BD57C}"/>
                </a:ext>
              </a:extLst>
            </p:cNvPr>
            <p:cNvSpPr txBox="1"/>
            <p:nvPr/>
          </p:nvSpPr>
          <p:spPr>
            <a:xfrm>
              <a:off x="6344005" y="5898082"/>
              <a:ext cx="986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Sensory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0F889A-29D2-DE55-8F25-D684FEC148FA}"/>
                </a:ext>
              </a:extLst>
            </p:cNvPr>
            <p:cNvSpPr/>
            <p:nvPr/>
          </p:nvSpPr>
          <p:spPr>
            <a:xfrm>
              <a:off x="7467601" y="5957799"/>
              <a:ext cx="249898" cy="249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0F8EBC-BA74-94FC-AB12-DF813163BA5C}"/>
                </a:ext>
              </a:extLst>
            </p:cNvPr>
            <p:cNvSpPr txBox="1"/>
            <p:nvPr/>
          </p:nvSpPr>
          <p:spPr>
            <a:xfrm>
              <a:off x="7785653" y="5898082"/>
              <a:ext cx="77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Motor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9460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F1E8-6A19-140B-164A-ED814A9A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A00A3-07DB-CA70-97A4-B6D3470B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Cranial nerves of the medulla </a:t>
            </a:r>
            <a:r>
              <a:rPr lang="en-GB" dirty="0" err="1"/>
              <a:t>oblungata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52FA64-792C-B706-0FFD-D758D8D20E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48195"/>
          <a:stretch/>
        </p:blipFill>
        <p:spPr>
          <a:xfrm>
            <a:off x="350179" y="1532918"/>
            <a:ext cx="5459628" cy="41689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8A0C2B-DB10-86C2-D35D-FB5154B9E5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51944" b="4143"/>
          <a:stretch/>
        </p:blipFill>
        <p:spPr>
          <a:xfrm>
            <a:off x="6382191" y="2047875"/>
            <a:ext cx="5459630" cy="3533775"/>
          </a:xfrm>
          <a:prstGeom prst="rect">
            <a:avLst/>
          </a:prstGeom>
        </p:spPr>
      </p:pic>
      <p:pic>
        <p:nvPicPr>
          <p:cNvPr id="6" name="Picture 5" descr="A diagram of the body&#10;&#10;Description automatically generated">
            <a:extLst>
              <a:ext uri="{FF2B5EF4-FFF2-40B4-BE49-F238E27FC236}">
                <a16:creationId xmlns:a16="http://schemas.microsoft.com/office/drawing/2014/main" id="{B7F718C6-ACB4-061F-E20E-2C70C17D8E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214" y="3777582"/>
            <a:ext cx="4781786" cy="1769160"/>
          </a:xfrm>
          <a:prstGeom prst="rect">
            <a:avLst/>
          </a:prstGeom>
        </p:spPr>
      </p:pic>
      <p:pic>
        <p:nvPicPr>
          <p:cNvPr id="9" name="Picture 8" descr="A diagram of the muscles of the body&#10;&#10;Description automatically generated">
            <a:extLst>
              <a:ext uri="{FF2B5EF4-FFF2-40B4-BE49-F238E27FC236}">
                <a16:creationId xmlns:a16="http://schemas.microsoft.com/office/drawing/2014/main" id="{143B0C49-84EF-695D-EF9A-9CE36EC34B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08" y="3901254"/>
            <a:ext cx="5145236" cy="176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928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F20E5-4215-0107-EBF1-AFA5690E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XII - Hypoglossal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40649-2EEB-AE1D-7BC8-9EE0F11AE4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300"/>
          <a:stretch/>
        </p:blipFill>
        <p:spPr>
          <a:xfrm>
            <a:off x="736886" y="1221093"/>
            <a:ext cx="5987822" cy="45507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843CE2-4717-FEFB-06EE-501D13BD11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925"/>
          <a:stretch/>
        </p:blipFill>
        <p:spPr>
          <a:xfrm>
            <a:off x="5280529" y="2311556"/>
            <a:ext cx="6740599" cy="130817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0E3B76A9-4C51-8FB9-09B1-95441326F11B}"/>
              </a:ext>
            </a:extLst>
          </p:cNvPr>
          <p:cNvSpPr/>
          <p:nvPr/>
        </p:nvSpPr>
        <p:spPr>
          <a:xfrm>
            <a:off x="7028413" y="2984977"/>
            <a:ext cx="164706" cy="63475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154B8-88D9-72A0-6E87-3D1A93E6E390}"/>
              </a:ext>
            </a:extLst>
          </p:cNvPr>
          <p:cNvSpPr txBox="1"/>
          <p:nvPr/>
        </p:nvSpPr>
        <p:spPr>
          <a:xfrm>
            <a:off x="7340757" y="1856806"/>
            <a:ext cx="1438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Exit from medulla:</a:t>
            </a:r>
          </a:p>
          <a:p>
            <a:r>
              <a:rPr lang="en-GB" sz="1200" dirty="0"/>
              <a:t>Pre-olivary sulcus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EC3F1A-E8B4-B6B5-E6F2-20E3ED6081EC}"/>
              </a:ext>
            </a:extLst>
          </p:cNvPr>
          <p:cNvCxnSpPr>
            <a:stCxn id="10" idx="0"/>
            <a:endCxn id="11" idx="1"/>
          </p:cNvCxnSpPr>
          <p:nvPr/>
        </p:nvCxnSpPr>
        <p:spPr>
          <a:xfrm flipV="1">
            <a:off x="7110766" y="2087639"/>
            <a:ext cx="229991" cy="8973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476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3B9E-7744-E5FD-FE39-76F5B71E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XI - Accessory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DDB0CF-C3DB-B1AF-4D43-F312CDD64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471" b="25137"/>
          <a:stretch/>
        </p:blipFill>
        <p:spPr>
          <a:xfrm>
            <a:off x="148590" y="1314468"/>
            <a:ext cx="5652641" cy="5245358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9D91DEF9-3096-BDAF-980C-58E0D4B475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973"/>
          <a:stretch/>
        </p:blipFill>
        <p:spPr>
          <a:xfrm>
            <a:off x="5687906" y="2363646"/>
            <a:ext cx="6109012" cy="161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934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C83D-FB1F-174B-901F-223E5F1DD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 -  </a:t>
            </a:r>
            <a:r>
              <a:rPr lang="en-GB" dirty="0" err="1"/>
              <a:t>Vagus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B0F298-680D-C29F-3BAD-323428AB0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7906"/>
          <a:stretch/>
        </p:blipFill>
        <p:spPr>
          <a:xfrm>
            <a:off x="47735" y="1170951"/>
            <a:ext cx="7000182" cy="4917792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EAE915B-0968-2348-4DB2-5BC2D1100BF6}"/>
              </a:ext>
            </a:extLst>
          </p:cNvPr>
          <p:cNvGrpSpPr/>
          <p:nvPr/>
        </p:nvGrpSpPr>
        <p:grpSpPr>
          <a:xfrm>
            <a:off x="6779196" y="2184297"/>
            <a:ext cx="5374704" cy="2745042"/>
            <a:chOff x="6779196" y="2212723"/>
            <a:chExt cx="5374704" cy="2745042"/>
          </a:xfrm>
        </p:grpSpPr>
        <p:pic>
          <p:nvPicPr>
            <p:cNvPr id="6" name="Content Placeholder 4">
              <a:extLst>
                <a:ext uri="{FF2B5EF4-FFF2-40B4-BE49-F238E27FC236}">
                  <a16:creationId xmlns:a16="http://schemas.microsoft.com/office/drawing/2014/main" id="{99E9F4AC-157E-7E12-7EDA-3367674BC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2824" r="4620"/>
            <a:stretch/>
          </p:blipFill>
          <p:spPr>
            <a:xfrm>
              <a:off x="6779196" y="2587625"/>
              <a:ext cx="5374704" cy="2370140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5BCBAA9-BDA6-A71A-24EE-FCEBA29608B5}"/>
                </a:ext>
              </a:extLst>
            </p:cNvPr>
            <p:cNvSpPr/>
            <p:nvPr/>
          </p:nvSpPr>
          <p:spPr>
            <a:xfrm>
              <a:off x="8331831" y="3340894"/>
              <a:ext cx="164706" cy="63475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3BEE46-F55C-173F-9299-1875EA451BEF}"/>
                </a:ext>
              </a:extLst>
            </p:cNvPr>
            <p:cNvSpPr txBox="1"/>
            <p:nvPr/>
          </p:nvSpPr>
          <p:spPr>
            <a:xfrm>
              <a:off x="8644175" y="2212723"/>
              <a:ext cx="14385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Exit from medulla:</a:t>
              </a:r>
            </a:p>
            <a:p>
              <a:r>
                <a:rPr lang="en-GB" sz="1200" dirty="0"/>
                <a:t>Post-olivary sulcus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B57000-E9F5-4341-99FB-C156C6028641}"/>
                </a:ext>
              </a:extLst>
            </p:cNvPr>
            <p:cNvCxnSpPr>
              <a:stCxn id="7" idx="0"/>
              <a:endCxn id="8" idx="1"/>
            </p:cNvCxnSpPr>
            <p:nvPr/>
          </p:nvCxnSpPr>
          <p:spPr>
            <a:xfrm flipV="1">
              <a:off x="8414184" y="2443556"/>
              <a:ext cx="229991" cy="8973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7237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7CEE1-7455-12D8-8014-0672A415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C824-539A-47CD-59C9-F00B5D6B4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 -  </a:t>
            </a:r>
            <a:r>
              <a:rPr lang="en-GB" dirty="0" err="1"/>
              <a:t>Vagus</a:t>
            </a:r>
            <a:endParaRPr lang="en-GB" dirty="0"/>
          </a:p>
        </p:txBody>
      </p:sp>
      <p:pic>
        <p:nvPicPr>
          <p:cNvPr id="4" name="Content Placeholder 17">
            <a:extLst>
              <a:ext uri="{FF2B5EF4-FFF2-40B4-BE49-F238E27FC236}">
                <a16:creationId xmlns:a16="http://schemas.microsoft.com/office/drawing/2014/main" id="{BA20D003-A715-A1E4-AB6D-B2DD93363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462" y="1052343"/>
            <a:ext cx="5112026" cy="5559802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973BA98F-05C8-5724-7DC8-4CF97E61C1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37906"/>
          <a:stretch/>
        </p:blipFill>
        <p:spPr>
          <a:xfrm>
            <a:off x="47735" y="1170951"/>
            <a:ext cx="7000182" cy="4917792"/>
          </a:xfrm>
        </p:spPr>
      </p:pic>
    </p:spTree>
    <p:extLst>
      <p:ext uri="{BB962C8B-B14F-4D97-AF65-F5344CB8AC3E}">
        <p14:creationId xmlns:p14="http://schemas.microsoft.com/office/powerpoint/2010/main" val="2368692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916A4-B436-2879-D81B-55952FB2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IX - Glossopharyngeal nerve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8BBCD1-52E1-5801-3061-5A23ADC9F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6754"/>
          <a:stretch/>
        </p:blipFill>
        <p:spPr>
          <a:xfrm>
            <a:off x="148590" y="1243032"/>
            <a:ext cx="6859466" cy="5004420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49AEABD-8392-C497-E7D5-8044F829AD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7" t="65095" r="8995"/>
          <a:stretch/>
        </p:blipFill>
        <p:spPr>
          <a:xfrm>
            <a:off x="7008056" y="2586849"/>
            <a:ext cx="4878693" cy="231678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9275AD7-B84B-BC47-91A3-57146DEEF45B}"/>
              </a:ext>
            </a:extLst>
          </p:cNvPr>
          <p:cNvSpPr/>
          <p:nvPr/>
        </p:nvSpPr>
        <p:spPr>
          <a:xfrm>
            <a:off x="8331831" y="3340894"/>
            <a:ext cx="164706" cy="63475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AA8EF-3C77-CCDA-68B0-06FAA2503DE1}"/>
              </a:ext>
            </a:extLst>
          </p:cNvPr>
          <p:cNvSpPr txBox="1"/>
          <p:nvPr/>
        </p:nvSpPr>
        <p:spPr>
          <a:xfrm>
            <a:off x="8644175" y="2212723"/>
            <a:ext cx="1438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Exit from medulla:</a:t>
            </a:r>
          </a:p>
          <a:p>
            <a:r>
              <a:rPr lang="en-GB" sz="1200" dirty="0"/>
              <a:t>Post-olivary sulcus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C6A656-B72B-7C2E-4255-DEA9EC36F743}"/>
              </a:ext>
            </a:extLst>
          </p:cNvPr>
          <p:cNvCxnSpPr>
            <a:stCxn id="7" idx="0"/>
            <a:endCxn id="8" idx="1"/>
          </p:cNvCxnSpPr>
          <p:nvPr/>
        </p:nvCxnSpPr>
        <p:spPr>
          <a:xfrm flipV="1">
            <a:off x="8414184" y="2443556"/>
            <a:ext cx="229991" cy="8973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239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5CF8-B18E-F92A-CBE6-1DA4540C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Cranial nerves of the medulla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E8E05B4-2AE2-1B72-A912-C606B9246522}"/>
              </a:ext>
            </a:extLst>
          </p:cNvPr>
          <p:cNvGraphicFramePr>
            <a:graphicFrameLocks noGrp="1"/>
          </p:cNvGraphicFramePr>
          <p:nvPr/>
        </p:nvGraphicFramePr>
        <p:xfrm>
          <a:off x="465719" y="1397160"/>
          <a:ext cx="10938723" cy="511769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67747">
                  <a:extLst>
                    <a:ext uri="{9D8B030D-6E8A-4147-A177-3AD203B41FA5}">
                      <a16:colId xmlns:a16="http://schemas.microsoft.com/office/drawing/2014/main" val="3880467983"/>
                    </a:ext>
                  </a:extLst>
                </a:gridCol>
                <a:gridCol w="2391071">
                  <a:extLst>
                    <a:ext uri="{9D8B030D-6E8A-4147-A177-3AD203B41FA5}">
                      <a16:colId xmlns:a16="http://schemas.microsoft.com/office/drawing/2014/main" val="1963411889"/>
                    </a:ext>
                  </a:extLst>
                </a:gridCol>
                <a:gridCol w="3061252">
                  <a:extLst>
                    <a:ext uri="{9D8B030D-6E8A-4147-A177-3AD203B41FA5}">
                      <a16:colId xmlns:a16="http://schemas.microsoft.com/office/drawing/2014/main" val="1299710248"/>
                    </a:ext>
                  </a:extLst>
                </a:gridCol>
                <a:gridCol w="4418653">
                  <a:extLst>
                    <a:ext uri="{9D8B030D-6E8A-4147-A177-3AD203B41FA5}">
                      <a16:colId xmlns:a16="http://schemas.microsoft.com/office/drawing/2014/main" val="2499284477"/>
                    </a:ext>
                  </a:extLst>
                </a:gridCol>
              </a:tblGrid>
              <a:tr h="385056">
                <a:tc>
                  <a:txBody>
                    <a:bodyPr/>
                    <a:lstStyle/>
                    <a:p>
                      <a:r>
                        <a:rPr lang="en-GB" sz="1600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Nuclei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Targets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276562"/>
                  </a:ext>
                </a:extLst>
              </a:tr>
              <a:tr h="374722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XII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Hypoglossal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Hypoglossal nucleus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Tongue muscles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667687"/>
                  </a:ext>
                </a:extLst>
              </a:tr>
              <a:tr h="353402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XI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Accessory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Spinal accessory nucleus (anterior horn cells of upper cervical nerves)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Trapezius and sternocleidomastoid muscles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388058"/>
                  </a:ext>
                </a:extLst>
              </a:tr>
              <a:tr h="1599003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Vagus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Spinal trigeminal nucleus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Nucleus solitarious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Nucleus Ambiguous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Dorsal motor nucleus of the </a:t>
                      </a:r>
                      <a:r>
                        <a:rPr lang="en-GB" sz="1400" dirty="0" err="1"/>
                        <a:t>vagus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General sensation in larynx, epiglottis and small portion of external auditory meatus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Taste from the epiglottis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Chemoreception from the carotid sinus and aortic arch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Diffuse visceral sensation from the thoracic and abdominal viscera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Muscles of the palate, pharynx, and larynx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Cardiac muscle of the heart and the smooth muscle of the respiratory system and digestive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478704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Glossopharyngeal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Spinal trigeminal nucleus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Nucleus solitarious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Nucleus Ambiguous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Inferior salivatory nucleus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Taste and general sensation in posterior 1/3 tongue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General sensation in nasal and oral pharynx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Chemoreception from the carotid body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rgbClr val="C00000"/>
                          </a:solidFill>
                        </a:rPr>
                        <a:t>Stylopharyngeus muscle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Parotid salivary gland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5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853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8DF2F-6FE4-F78A-AA7D-EE324FF82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F119-9778-816E-CD99-C9E5D4098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pons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92CED-E9BC-AA6C-FF75-696255101CF8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70000"/>
          </a:blip>
          <a:srcRect b="48195"/>
          <a:stretch/>
        </p:blipFill>
        <p:spPr>
          <a:xfrm>
            <a:off x="350183" y="1568377"/>
            <a:ext cx="5459628" cy="4168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4F9440-B625-22C1-E484-2F3086D1ED9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70000"/>
          </a:blip>
          <a:srcRect t="51944" b="4143"/>
          <a:stretch/>
        </p:blipFill>
        <p:spPr>
          <a:xfrm>
            <a:off x="6382191" y="2047875"/>
            <a:ext cx="5459630" cy="3533775"/>
          </a:xfrm>
          <a:prstGeom prst="rect">
            <a:avLst/>
          </a:prstGeom>
        </p:spPr>
      </p:pic>
      <p:pic>
        <p:nvPicPr>
          <p:cNvPr id="7" name="Picture 6" descr="A diagram of the muscles of the human body&#10;&#10;Description automatically generated">
            <a:extLst>
              <a:ext uri="{FF2B5EF4-FFF2-40B4-BE49-F238E27FC236}">
                <a16:creationId xmlns:a16="http://schemas.microsoft.com/office/drawing/2014/main" id="{C9911E65-F510-E82A-9FC9-DB9FA0571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950" y="2820414"/>
            <a:ext cx="4643698" cy="1515366"/>
          </a:xfrm>
          <a:prstGeom prst="rect">
            <a:avLst/>
          </a:prstGeom>
        </p:spPr>
      </p:pic>
      <p:pic>
        <p:nvPicPr>
          <p:cNvPr id="9" name="Picture 8" descr="A diagram of a human body&#10;&#10;Description automatically generated">
            <a:extLst>
              <a:ext uri="{FF2B5EF4-FFF2-40B4-BE49-F238E27FC236}">
                <a16:creationId xmlns:a16="http://schemas.microsoft.com/office/drawing/2014/main" id="{D621D88B-67CC-44D9-6C7A-E70DC702E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297" y="2813383"/>
            <a:ext cx="5490978" cy="144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51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47E76-8B12-6FBD-B761-C95A88C7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D3A09-7A70-62A2-28D1-FDAE14A12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35B38-DB00-FA94-4B47-051968CB2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585" y="1381062"/>
            <a:ext cx="7318589" cy="452040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0BA7804-A2A3-DEF4-9BEE-DB2A9AE17B57}"/>
              </a:ext>
            </a:extLst>
          </p:cNvPr>
          <p:cNvGrpSpPr/>
          <p:nvPr/>
        </p:nvGrpSpPr>
        <p:grpSpPr>
          <a:xfrm>
            <a:off x="148590" y="1263693"/>
            <a:ext cx="2880046" cy="2377570"/>
            <a:chOff x="1556001" y="2096809"/>
            <a:chExt cx="4138925" cy="3416815"/>
          </a:xfrm>
        </p:grpSpPr>
        <p:pic>
          <p:nvPicPr>
            <p:cNvPr id="4" name="Picture 3" descr="A drawing of a brain&#10;&#10;Description automatically generated">
              <a:extLst>
                <a:ext uri="{FF2B5EF4-FFF2-40B4-BE49-F238E27FC236}">
                  <a16:creationId xmlns:a16="http://schemas.microsoft.com/office/drawing/2014/main" id="{6BB6BF49-E6C4-BA82-7CCE-53AF1B23A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6001" y="2096809"/>
              <a:ext cx="2983998" cy="341681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3E8646-DECE-4C19-8609-5135E8FBF630}"/>
                </a:ext>
              </a:extLst>
            </p:cNvPr>
            <p:cNvSpPr txBox="1"/>
            <p:nvPr/>
          </p:nvSpPr>
          <p:spPr>
            <a:xfrm>
              <a:off x="4638675" y="2814638"/>
              <a:ext cx="1056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Midbrain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F6EB1E-9B6A-28D2-5DE5-130E80483BE1}"/>
                </a:ext>
              </a:extLst>
            </p:cNvPr>
            <p:cNvSpPr txBox="1"/>
            <p:nvPr/>
          </p:nvSpPr>
          <p:spPr>
            <a:xfrm>
              <a:off x="4191000" y="3489365"/>
              <a:ext cx="674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Pons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96A4A96-075E-6A55-A1B3-48846D7D6EE0}"/>
                </a:ext>
              </a:extLst>
            </p:cNvPr>
            <p:cNvSpPr txBox="1"/>
            <p:nvPr/>
          </p:nvSpPr>
          <p:spPr>
            <a:xfrm>
              <a:off x="3577521" y="4278392"/>
              <a:ext cx="1226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Medulla</a:t>
              </a:r>
            </a:p>
            <a:p>
              <a:r>
                <a:rPr lang="en-GB" dirty="0" err="1"/>
                <a:t>Oblungata</a:t>
              </a:r>
              <a:endParaRPr lang="en-GB" dirty="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C50B3D-784B-FECD-D8A0-C088A0F45E98}"/>
              </a:ext>
            </a:extLst>
          </p:cNvPr>
          <p:cNvCxnSpPr>
            <a:cxnSpLocks/>
          </p:cNvCxnSpPr>
          <p:nvPr/>
        </p:nvCxnSpPr>
        <p:spPr>
          <a:xfrm>
            <a:off x="715299" y="2281254"/>
            <a:ext cx="1218789" cy="41687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802CACF-BF7A-EA8C-04CE-992A70F20A68}"/>
              </a:ext>
            </a:extLst>
          </p:cNvPr>
          <p:cNvGrpSpPr/>
          <p:nvPr/>
        </p:nvGrpSpPr>
        <p:grpSpPr>
          <a:xfrm>
            <a:off x="9217834" y="6283963"/>
            <a:ext cx="2531514" cy="369332"/>
            <a:chOff x="6025953" y="5898082"/>
            <a:chExt cx="2531514" cy="36933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B9FE5E-4714-9609-717B-F1B7DC637951}"/>
                </a:ext>
              </a:extLst>
            </p:cNvPr>
            <p:cNvSpPr/>
            <p:nvPr/>
          </p:nvSpPr>
          <p:spPr>
            <a:xfrm>
              <a:off x="6025953" y="5957799"/>
              <a:ext cx="249898" cy="24989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67F454-642D-8E9B-CF24-FBC23F38FDCA}"/>
                </a:ext>
              </a:extLst>
            </p:cNvPr>
            <p:cNvSpPr txBox="1"/>
            <p:nvPr/>
          </p:nvSpPr>
          <p:spPr>
            <a:xfrm>
              <a:off x="6344005" y="5898082"/>
              <a:ext cx="986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Sensory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CC7B102-33C4-48FD-F99F-58C094C930E0}"/>
                </a:ext>
              </a:extLst>
            </p:cNvPr>
            <p:cNvSpPr/>
            <p:nvPr/>
          </p:nvSpPr>
          <p:spPr>
            <a:xfrm>
              <a:off x="7467601" y="5957799"/>
              <a:ext cx="249898" cy="249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7BA7F5-1886-54DC-888D-B31D709F30C4}"/>
                </a:ext>
              </a:extLst>
            </p:cNvPr>
            <p:cNvSpPr txBox="1"/>
            <p:nvPr/>
          </p:nvSpPr>
          <p:spPr>
            <a:xfrm>
              <a:off x="7785653" y="5898082"/>
              <a:ext cx="77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Motor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4281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0E16-56F0-307E-CD1E-F4432EB09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BAA3E-DA91-D380-A9B4-A0AFE188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A3215C-2EA9-2222-F313-D97B7DA80F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531"/>
          <a:stretch/>
        </p:blipFill>
        <p:spPr>
          <a:xfrm>
            <a:off x="6096000" y="4749521"/>
            <a:ext cx="4839602" cy="210309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5378F63-0AFA-150D-3139-53999E6320EA}"/>
              </a:ext>
            </a:extLst>
          </p:cNvPr>
          <p:cNvGrpSpPr/>
          <p:nvPr/>
        </p:nvGrpSpPr>
        <p:grpSpPr>
          <a:xfrm>
            <a:off x="148590" y="1263693"/>
            <a:ext cx="2880046" cy="2377570"/>
            <a:chOff x="1556001" y="2096809"/>
            <a:chExt cx="4138925" cy="3416815"/>
          </a:xfrm>
        </p:grpSpPr>
        <p:pic>
          <p:nvPicPr>
            <p:cNvPr id="4" name="Picture 3" descr="A drawing of a brain&#10;&#10;Description automatically generated">
              <a:extLst>
                <a:ext uri="{FF2B5EF4-FFF2-40B4-BE49-F238E27FC236}">
                  <a16:creationId xmlns:a16="http://schemas.microsoft.com/office/drawing/2014/main" id="{4A810B74-E50E-145C-753A-1DA329DBF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6001" y="2096809"/>
              <a:ext cx="2983998" cy="341681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A2D0D8-720B-BB27-0F60-F669F05DA93E}"/>
                </a:ext>
              </a:extLst>
            </p:cNvPr>
            <p:cNvSpPr txBox="1"/>
            <p:nvPr/>
          </p:nvSpPr>
          <p:spPr>
            <a:xfrm>
              <a:off x="4638675" y="2814638"/>
              <a:ext cx="1056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Midbrain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D05965-861E-84E3-3CF4-3E1272D9B92A}"/>
                </a:ext>
              </a:extLst>
            </p:cNvPr>
            <p:cNvSpPr txBox="1"/>
            <p:nvPr/>
          </p:nvSpPr>
          <p:spPr>
            <a:xfrm>
              <a:off x="4191000" y="3489365"/>
              <a:ext cx="674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Pons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92B12B-E364-BAFB-5E55-68CE29C960D4}"/>
                </a:ext>
              </a:extLst>
            </p:cNvPr>
            <p:cNvSpPr txBox="1"/>
            <p:nvPr/>
          </p:nvSpPr>
          <p:spPr>
            <a:xfrm>
              <a:off x="3577521" y="4278392"/>
              <a:ext cx="1226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Medulla</a:t>
              </a:r>
            </a:p>
            <a:p>
              <a:r>
                <a:rPr lang="en-GB" dirty="0" err="1"/>
                <a:t>Oblungata</a:t>
              </a:r>
              <a:endParaRPr lang="en-GB" dirty="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7FE2AC-0015-3892-BD6A-3192E07AB498}"/>
              </a:ext>
            </a:extLst>
          </p:cNvPr>
          <p:cNvCxnSpPr>
            <a:cxnSpLocks/>
          </p:cNvCxnSpPr>
          <p:nvPr/>
        </p:nvCxnSpPr>
        <p:spPr>
          <a:xfrm>
            <a:off x="858230" y="2149903"/>
            <a:ext cx="1218789" cy="41687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86BEDA3-FADE-9986-1C0C-AA0A99702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608" y="1263693"/>
            <a:ext cx="6985048" cy="348582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F40F9AD-E8B9-77D8-4E72-21FD54BFF105}"/>
              </a:ext>
            </a:extLst>
          </p:cNvPr>
          <p:cNvGrpSpPr/>
          <p:nvPr/>
        </p:nvGrpSpPr>
        <p:grpSpPr>
          <a:xfrm>
            <a:off x="289496" y="6283963"/>
            <a:ext cx="2531514" cy="369332"/>
            <a:chOff x="6025953" y="5898082"/>
            <a:chExt cx="2531514" cy="36933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597EC-6181-E971-4716-3F6388D80F33}"/>
                </a:ext>
              </a:extLst>
            </p:cNvPr>
            <p:cNvSpPr/>
            <p:nvPr/>
          </p:nvSpPr>
          <p:spPr>
            <a:xfrm>
              <a:off x="6025953" y="5957799"/>
              <a:ext cx="249898" cy="24989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64D3D67-7C05-BA09-EAA9-34955F5400D5}"/>
                </a:ext>
              </a:extLst>
            </p:cNvPr>
            <p:cNvSpPr txBox="1"/>
            <p:nvPr/>
          </p:nvSpPr>
          <p:spPr>
            <a:xfrm>
              <a:off x="6344005" y="5898082"/>
              <a:ext cx="986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Sensory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124FA31-6577-15D9-81BF-8218047A0328}"/>
                </a:ext>
              </a:extLst>
            </p:cNvPr>
            <p:cNvSpPr/>
            <p:nvPr/>
          </p:nvSpPr>
          <p:spPr>
            <a:xfrm>
              <a:off x="7467601" y="5957799"/>
              <a:ext cx="249898" cy="249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03EA59-E5B8-999C-1C66-67C4C1C86437}"/>
                </a:ext>
              </a:extLst>
            </p:cNvPr>
            <p:cNvSpPr txBox="1"/>
            <p:nvPr/>
          </p:nvSpPr>
          <p:spPr>
            <a:xfrm>
              <a:off x="7785653" y="5898082"/>
              <a:ext cx="77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Motor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3294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01032-BDDF-95D0-15E6-BE9503884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94C9C-8494-2FC7-BF65-ECC35B59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820AF3-3915-7CB5-A360-BFD98F556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636" y="2100001"/>
            <a:ext cx="8325164" cy="431213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4BE1C108-B996-1A39-F592-6F0F012D145D}"/>
              </a:ext>
            </a:extLst>
          </p:cNvPr>
          <p:cNvGrpSpPr/>
          <p:nvPr/>
        </p:nvGrpSpPr>
        <p:grpSpPr>
          <a:xfrm>
            <a:off x="148590" y="1263693"/>
            <a:ext cx="2880046" cy="2377570"/>
            <a:chOff x="1556001" y="2096809"/>
            <a:chExt cx="4138925" cy="3416815"/>
          </a:xfrm>
        </p:grpSpPr>
        <p:pic>
          <p:nvPicPr>
            <p:cNvPr id="27" name="Picture 26" descr="A drawing of a brain&#10;&#10;Description automatically generated">
              <a:extLst>
                <a:ext uri="{FF2B5EF4-FFF2-40B4-BE49-F238E27FC236}">
                  <a16:creationId xmlns:a16="http://schemas.microsoft.com/office/drawing/2014/main" id="{19B9DFC7-FBFC-9E70-D68E-4D8E8BE13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6001" y="2096809"/>
              <a:ext cx="2983998" cy="341681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CF160F2-1194-69CD-CF5A-CC52A64C134F}"/>
                </a:ext>
              </a:extLst>
            </p:cNvPr>
            <p:cNvSpPr txBox="1"/>
            <p:nvPr/>
          </p:nvSpPr>
          <p:spPr>
            <a:xfrm>
              <a:off x="4638675" y="2814638"/>
              <a:ext cx="1056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Midbrain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6BDF0E5-8BCE-CDCB-7D4B-473B50864C0F}"/>
                </a:ext>
              </a:extLst>
            </p:cNvPr>
            <p:cNvSpPr txBox="1"/>
            <p:nvPr/>
          </p:nvSpPr>
          <p:spPr>
            <a:xfrm>
              <a:off x="4191000" y="3489365"/>
              <a:ext cx="674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Pons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881A20-E875-498F-7BA1-D11CA6A5AA9A}"/>
                </a:ext>
              </a:extLst>
            </p:cNvPr>
            <p:cNvSpPr txBox="1"/>
            <p:nvPr/>
          </p:nvSpPr>
          <p:spPr>
            <a:xfrm>
              <a:off x="3577521" y="4278392"/>
              <a:ext cx="1226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Medulla</a:t>
              </a:r>
            </a:p>
            <a:p>
              <a:r>
                <a:rPr lang="en-GB" dirty="0" err="1"/>
                <a:t>Oblungata</a:t>
              </a:r>
              <a:endParaRPr lang="en-GB" dirty="0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5252CE-5E49-C70E-CA30-084DD48A150C}"/>
              </a:ext>
            </a:extLst>
          </p:cNvPr>
          <p:cNvCxnSpPr>
            <a:cxnSpLocks/>
          </p:cNvCxnSpPr>
          <p:nvPr/>
        </p:nvCxnSpPr>
        <p:spPr>
          <a:xfrm>
            <a:off x="945858" y="1948818"/>
            <a:ext cx="1030580" cy="360995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B97DA7B-CAF5-C314-E090-51A0842A79D4}"/>
              </a:ext>
            </a:extLst>
          </p:cNvPr>
          <p:cNvGrpSpPr/>
          <p:nvPr/>
        </p:nvGrpSpPr>
        <p:grpSpPr>
          <a:xfrm>
            <a:off x="289496" y="6283963"/>
            <a:ext cx="2531514" cy="369332"/>
            <a:chOff x="6025953" y="5898082"/>
            <a:chExt cx="2531514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F2D4F5E-1128-30DF-9C8B-3A8D2B8CF2C0}"/>
                </a:ext>
              </a:extLst>
            </p:cNvPr>
            <p:cNvSpPr/>
            <p:nvPr/>
          </p:nvSpPr>
          <p:spPr>
            <a:xfrm>
              <a:off x="6025953" y="5957799"/>
              <a:ext cx="249898" cy="24989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3E1651-1141-BDC9-9FB0-224E4725BE2D}"/>
                </a:ext>
              </a:extLst>
            </p:cNvPr>
            <p:cNvSpPr txBox="1"/>
            <p:nvPr/>
          </p:nvSpPr>
          <p:spPr>
            <a:xfrm>
              <a:off x="6344005" y="5898082"/>
              <a:ext cx="986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Sensory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B53F72-D860-0EB8-5DA4-E2A98C18D28B}"/>
                </a:ext>
              </a:extLst>
            </p:cNvPr>
            <p:cNvSpPr/>
            <p:nvPr/>
          </p:nvSpPr>
          <p:spPr>
            <a:xfrm>
              <a:off x="7467601" y="5957799"/>
              <a:ext cx="249898" cy="249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69CF99-DAE8-BD39-F9FB-F2C39EE3666B}"/>
                </a:ext>
              </a:extLst>
            </p:cNvPr>
            <p:cNvSpPr txBox="1"/>
            <p:nvPr/>
          </p:nvSpPr>
          <p:spPr>
            <a:xfrm>
              <a:off x="7785653" y="5898082"/>
              <a:ext cx="77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Motor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2335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E9A4-A630-9C28-22EC-F5073F194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919984-0815-9E36-F9BB-2AA77B2E9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911" y="2489692"/>
            <a:ext cx="8502352" cy="3675698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3CA5C6A-FC2A-E3BA-92D7-CC56F6BFE081}"/>
              </a:ext>
            </a:extLst>
          </p:cNvPr>
          <p:cNvGrpSpPr/>
          <p:nvPr/>
        </p:nvGrpSpPr>
        <p:grpSpPr>
          <a:xfrm>
            <a:off x="148590" y="1263693"/>
            <a:ext cx="2880046" cy="2377570"/>
            <a:chOff x="1556001" y="2096809"/>
            <a:chExt cx="4138925" cy="3416815"/>
          </a:xfrm>
        </p:grpSpPr>
        <p:pic>
          <p:nvPicPr>
            <p:cNvPr id="33" name="Picture 32" descr="A drawing of a brain&#10;&#10;Description automatically generated">
              <a:extLst>
                <a:ext uri="{FF2B5EF4-FFF2-40B4-BE49-F238E27FC236}">
                  <a16:creationId xmlns:a16="http://schemas.microsoft.com/office/drawing/2014/main" id="{B99D8599-E969-48A7-71F5-51C3D7A6E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6001" y="2096809"/>
              <a:ext cx="2983998" cy="3416815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71A6FF3-D282-9050-A11A-85DFF71CED62}"/>
                </a:ext>
              </a:extLst>
            </p:cNvPr>
            <p:cNvSpPr txBox="1"/>
            <p:nvPr/>
          </p:nvSpPr>
          <p:spPr>
            <a:xfrm>
              <a:off x="4638675" y="2814638"/>
              <a:ext cx="1056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Midbrain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4B4221E-72C4-EA81-4653-D122CF7E1BD2}"/>
                </a:ext>
              </a:extLst>
            </p:cNvPr>
            <p:cNvSpPr txBox="1"/>
            <p:nvPr/>
          </p:nvSpPr>
          <p:spPr>
            <a:xfrm>
              <a:off x="4191000" y="3489365"/>
              <a:ext cx="674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Pons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6D87246-F214-6795-B89A-D252DB0BB07C}"/>
                </a:ext>
              </a:extLst>
            </p:cNvPr>
            <p:cNvSpPr txBox="1"/>
            <p:nvPr/>
          </p:nvSpPr>
          <p:spPr>
            <a:xfrm>
              <a:off x="3577521" y="4278392"/>
              <a:ext cx="1226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Medulla</a:t>
              </a:r>
            </a:p>
            <a:p>
              <a:r>
                <a:rPr lang="en-GB" dirty="0" err="1"/>
                <a:t>Oblungata</a:t>
              </a:r>
              <a:endParaRPr lang="en-GB" dirty="0"/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19E1BC2-27A4-E2F3-4E23-37D076C609BD}"/>
              </a:ext>
            </a:extLst>
          </p:cNvPr>
          <p:cNvCxnSpPr>
            <a:cxnSpLocks/>
          </p:cNvCxnSpPr>
          <p:nvPr/>
        </p:nvCxnSpPr>
        <p:spPr>
          <a:xfrm>
            <a:off x="1006198" y="1694115"/>
            <a:ext cx="1218789" cy="41687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B237625-4A28-3C2A-EC99-6AAC4641E5CF}"/>
              </a:ext>
            </a:extLst>
          </p:cNvPr>
          <p:cNvGrpSpPr/>
          <p:nvPr/>
        </p:nvGrpSpPr>
        <p:grpSpPr>
          <a:xfrm>
            <a:off x="289496" y="6283963"/>
            <a:ext cx="2531514" cy="369332"/>
            <a:chOff x="6025953" y="5898082"/>
            <a:chExt cx="2531514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024E430-42AB-94AF-4101-F6BD258FD4BC}"/>
                </a:ext>
              </a:extLst>
            </p:cNvPr>
            <p:cNvSpPr/>
            <p:nvPr/>
          </p:nvSpPr>
          <p:spPr>
            <a:xfrm>
              <a:off x="6025953" y="5957799"/>
              <a:ext cx="249898" cy="24989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98874E-FAF6-9DC7-2CCC-183040D3160E}"/>
                </a:ext>
              </a:extLst>
            </p:cNvPr>
            <p:cNvSpPr txBox="1"/>
            <p:nvPr/>
          </p:nvSpPr>
          <p:spPr>
            <a:xfrm>
              <a:off x="6344005" y="5898082"/>
              <a:ext cx="986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Sensory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740DBAC-9F93-C89B-0EC8-227C03583CF6}"/>
                </a:ext>
              </a:extLst>
            </p:cNvPr>
            <p:cNvSpPr/>
            <p:nvPr/>
          </p:nvSpPr>
          <p:spPr>
            <a:xfrm>
              <a:off x="7467601" y="5957799"/>
              <a:ext cx="249898" cy="249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AAAFB1-720B-7D4E-8853-942065FC6008}"/>
                </a:ext>
              </a:extLst>
            </p:cNvPr>
            <p:cNvSpPr txBox="1"/>
            <p:nvPr/>
          </p:nvSpPr>
          <p:spPr>
            <a:xfrm>
              <a:off x="7785653" y="5898082"/>
              <a:ext cx="77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Motor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3857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256</Words>
  <Application>Microsoft Office PowerPoint</Application>
  <PresentationFormat>Widescreen</PresentationFormat>
  <Paragraphs>100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Brainstem and cranial nerves</vt:lpstr>
      <vt:lpstr>The CNS - Brain</vt:lpstr>
      <vt:lpstr>The brainstem</vt:lpstr>
      <vt:lpstr>The brainstem</vt:lpstr>
      <vt:lpstr>The medulla oblungata</vt:lpstr>
      <vt:lpstr>The medulla oblungata</vt:lpstr>
      <vt:lpstr>The medulla oblungata</vt:lpstr>
      <vt:lpstr>Cranial nerves of the medulla oblungata</vt:lpstr>
      <vt:lpstr>XII - Hypoglossal</vt:lpstr>
      <vt:lpstr>XI - Accessory</vt:lpstr>
      <vt:lpstr>X -  Vagus</vt:lpstr>
      <vt:lpstr>X -  Vagus</vt:lpstr>
      <vt:lpstr>IX - Glossopharyngeal nerve</vt:lpstr>
      <vt:lpstr>Cranial nerves of the medulla</vt:lpstr>
      <vt:lpstr>The pons</vt:lpstr>
      <vt:lpstr>The pons</vt:lpstr>
      <vt:lpstr>The pons</vt:lpstr>
      <vt:lpstr>The pons</vt:lpstr>
      <vt:lpstr>The pons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ELVIO MENDES</dc:creator>
  <cp:lastModifiedBy>Elvio Mendes</cp:lastModifiedBy>
  <cp:revision>4</cp:revision>
  <dcterms:created xsi:type="dcterms:W3CDTF">2025-11-18T11:45:33Z</dcterms:created>
  <dcterms:modified xsi:type="dcterms:W3CDTF">2025-11-18T11:55:16Z</dcterms:modified>
</cp:coreProperties>
</file>